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bold r:id="rId32"/>
    </p:embeddedFont>
    <p:embeddedFont>
      <p:font typeface="Cambria Math" panose="02040503050406030204"/>
      <p:regular r:id="rId33"/>
    </p:embeddedFont>
    <p:embeddedFont>
      <p:font typeface="Cambria Math" panose="02040503050406030204" charset="0"/>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5.fntdata"/><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3" Type="http://schemas.openxmlformats.org/officeDocument/2006/relationships/notesSlide" Target="../notesSlides/notesSlide10.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59.xml"/><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7.xml"/><Relationship Id="rId8" Type="http://schemas.openxmlformats.org/officeDocument/2006/relationships/tags" Target="../tags/tag66.xml"/><Relationship Id="rId7" Type="http://schemas.openxmlformats.org/officeDocument/2006/relationships/tags" Target="../tags/tag65.xml"/><Relationship Id="rId6" Type="http://schemas.openxmlformats.org/officeDocument/2006/relationships/tags" Target="../tags/tag64.xml"/><Relationship Id="rId5" Type="http://schemas.openxmlformats.org/officeDocument/2006/relationships/tags" Target="../tags/tag63.xml"/><Relationship Id="rId4" Type="http://schemas.openxmlformats.org/officeDocument/2006/relationships/tags" Target="../tags/tag62.xml"/><Relationship Id="rId3" Type="http://schemas.openxmlformats.org/officeDocument/2006/relationships/tags" Target="../tags/tag61.xml"/><Relationship Id="rId2" Type="http://schemas.openxmlformats.org/officeDocument/2006/relationships/tags" Target="../tags/tag60.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74.xml"/><Relationship Id="rId15" Type="http://schemas.openxmlformats.org/officeDocument/2006/relationships/tags" Target="../tags/tag73.xml"/><Relationship Id="rId14" Type="http://schemas.openxmlformats.org/officeDocument/2006/relationships/tags" Target="../tags/tag72.xml"/><Relationship Id="rId13" Type="http://schemas.openxmlformats.org/officeDocument/2006/relationships/tags" Target="../tags/tag71.xml"/><Relationship Id="rId12" Type="http://schemas.openxmlformats.org/officeDocument/2006/relationships/tags" Target="../tags/tag70.xml"/><Relationship Id="rId11" Type="http://schemas.openxmlformats.org/officeDocument/2006/relationships/tags" Target="../tags/tag69.xml"/><Relationship Id="rId10" Type="http://schemas.openxmlformats.org/officeDocument/2006/relationships/tags" Target="../tags/tag68.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75.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83.xml"/><Relationship Id="rId8" Type="http://schemas.openxmlformats.org/officeDocument/2006/relationships/tags" Target="../tags/tag82.xml"/><Relationship Id="rId7" Type="http://schemas.openxmlformats.org/officeDocument/2006/relationships/tags" Target="../tags/tag81.xml"/><Relationship Id="rId6" Type="http://schemas.openxmlformats.org/officeDocument/2006/relationships/tags" Target="../tags/tag80.xml"/><Relationship Id="rId5" Type="http://schemas.openxmlformats.org/officeDocument/2006/relationships/tags" Target="../tags/tag79.xml"/><Relationship Id="rId4" Type="http://schemas.openxmlformats.org/officeDocument/2006/relationships/tags" Target="../tags/tag78.xml"/><Relationship Id="rId3" Type="http://schemas.openxmlformats.org/officeDocument/2006/relationships/tags" Target="../tags/tag77.xml"/><Relationship Id="rId2" Type="http://schemas.openxmlformats.org/officeDocument/2006/relationships/tags" Target="../tags/tag76.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84.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58115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168910" y="2352675"/>
            <a:ext cx="5812790" cy="2886075"/>
          </a:xfrm>
          <a:prstGeom prst="rect">
            <a:avLst/>
          </a:prstGeom>
        </p:spPr>
      </p:pic>
      <p:sp>
        <p:nvSpPr>
          <p:cNvPr id="11" name="矩形 10"/>
          <p:cNvSpPr>
            <a:spLocks noGrp="1"/>
          </p:cNvSpPr>
          <p:nvPr/>
        </p:nvSpPr>
        <p:spPr>
          <a:xfrm>
            <a:off x="399415" y="5736590"/>
            <a:ext cx="5581650" cy="55308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58115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210935" y="5737225"/>
            <a:ext cx="5956300"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4" name="图片 3"/>
          <p:cNvPicPr>
            <a:picLocks noChangeAspect="1"/>
          </p:cNvPicPr>
          <p:nvPr/>
        </p:nvPicPr>
        <p:blipFill>
          <a:blip r:embed="rId4"/>
          <a:stretch>
            <a:fillRect/>
          </a:stretch>
        </p:blipFill>
        <p:spPr>
          <a:xfrm>
            <a:off x="6334125" y="1969135"/>
            <a:ext cx="5052695" cy="35991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custDataLst>
              <p:tags r:id="rId2"/>
            </p:custDataLst>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3"/>
            </p:custDataLst>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custDataLst>
              <p:tags r:id="rId4"/>
            </p:custDataLst>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custDataLst>
              <p:tags r:id="rId5"/>
            </p:custDataLst>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6"/>
            </p:custDataLst>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lang="zh-CN" altLang="en-US" sz="1650" b="1" i="0">
                <a:solidFill>
                  <a:srgbClr val="3577B8"/>
                </a:solidFill>
                <a:latin typeface="微软雅黑" panose="020B0503020204020204" charset="-122"/>
                <a:ea typeface="微软雅黑" panose="020B0503020204020204" charset="-122"/>
                <a:cs typeface="微软雅黑" panose="020B0503020204020204" charset="-122"/>
              </a:rPr>
              <a:t>异构特征蒸馏中的知识冲突</a:t>
            </a:r>
            <a:endParaRPr lang="zh-CN" altLang="en-US"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7"/>
            </p:custDataLst>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通过正交参数化约束投影矩阵，减少特征缩放和几何变形，缓解异构知识融合过程中的潜在冲突。</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8"/>
            </p:custDataLst>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9"/>
            </p:custDataLst>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0"/>
            </p:custDataLst>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5134610"/>
            <a:ext cx="10840085" cy="1205865"/>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2000"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提出</a:t>
            </a: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a:t>
            </a:r>
            <a:r>
              <a:rPr lang="zh-CN" sz="1650" b="0" i="0">
                <a:solidFill>
                  <a:srgbClr val="222222"/>
                </a:solidFill>
                <a:latin typeface="微软雅黑" panose="020B0503020204020204" charset="-122"/>
                <a:ea typeface="微软雅黑" panose="020B0503020204020204" charset="-122"/>
                <a:cs typeface="微软雅黑" panose="020B0503020204020204" charset="-122"/>
              </a:rPr>
              <a:t>的方法</a:t>
            </a:r>
            <a:r>
              <a:rPr sz="1650" b="0" i="0">
                <a:solidFill>
                  <a:srgbClr val="222222"/>
                </a:solidFill>
                <a:latin typeface="微软雅黑" panose="020B0503020204020204" charset="-122"/>
                <a:ea typeface="微软雅黑" panose="020B0503020204020204" charset="-122"/>
                <a:cs typeface="微软雅黑" panose="020B0503020204020204" charset="-122"/>
              </a:rPr>
              <a:t>，可</a:t>
            </a:r>
            <a:r>
              <a:rPr lang="zh-CN" sz="1650" b="0" i="0">
                <a:solidFill>
                  <a:srgbClr val="222222"/>
                </a:solidFill>
                <a:latin typeface="微软雅黑" panose="020B0503020204020204" charset="-122"/>
                <a:ea typeface="微软雅黑" panose="020B0503020204020204" charset="-122"/>
                <a:cs typeface="微软雅黑" panose="020B0503020204020204" charset="-122"/>
              </a:rPr>
              <a:t>以较</a:t>
            </a:r>
            <a:r>
              <a:rPr sz="1650" b="0" i="0">
                <a:solidFill>
                  <a:srgbClr val="222222"/>
                </a:solidFill>
                <a:latin typeface="微软雅黑" panose="020B0503020204020204" charset="-122"/>
                <a:ea typeface="微软雅黑" panose="020B0503020204020204" charset="-122"/>
                <a:cs typeface="微软雅黑" panose="020B0503020204020204" charset="-122"/>
              </a:rPr>
              <a:t>稳定</a:t>
            </a:r>
            <a:r>
              <a:rPr lang="zh-CN" sz="1650" b="0" i="0">
                <a:solidFill>
                  <a:srgbClr val="222222"/>
                </a:solidFill>
                <a:latin typeface="微软雅黑" panose="020B0503020204020204" charset="-122"/>
                <a:ea typeface="微软雅黑" panose="020B0503020204020204" charset="-122"/>
                <a:cs typeface="微软雅黑" panose="020B0503020204020204" charset="-122"/>
              </a:rPr>
              <a:t>的</a:t>
            </a:r>
            <a:r>
              <a:rPr sz="1650" b="0" i="0">
                <a:solidFill>
                  <a:srgbClr val="222222"/>
                </a:solidFill>
                <a:latin typeface="微软雅黑" panose="020B0503020204020204" charset="-122"/>
                <a:ea typeface="微软雅黑" panose="020B0503020204020204" charset="-122"/>
                <a:cs typeface="微软雅黑" panose="020B0503020204020204" charset="-122"/>
              </a:rPr>
              <a:t>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可以</a:t>
            </a: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182816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chemeClr val="tx1"/>
                </a:solidFill>
                <a:latin typeface="微软雅黑" panose="020B0503020204020204" charset="-122"/>
                <a:ea typeface="微软雅黑" panose="020B0503020204020204" charset="-122"/>
                <a:cs typeface="微软雅黑" panose="020B0503020204020204" charset="-122"/>
              </a:rPr>
              <a:t>作者对每组实验运行两次，并取每次运行最后十轮的准确率进行统计，可能不足以充分衡量随机性的影响；</a:t>
            </a:r>
            <a:endParaRPr lang="zh-CN" altLang="en-US" sz="1425" b="0" i="0">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CNN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和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16.75,&quot;left&quot;:57,&quot;top&quot;:223.5,&quot;width&quot;:775.5}"/>
</p:tagLst>
</file>

<file path=ppt/tags/tag52.xml><?xml version="1.0" encoding="utf-8"?>
<p:tagLst xmlns:p="http://schemas.openxmlformats.org/presentationml/2006/main">
  <p:tag name="KSO_WM_DIAGRAM_VIRTUALLY_FRAME" val="{&quot;height&quot;:216.75,&quot;left&quot;:57,&quot;top&quot;:223.5,&quot;width&quot;:775.5}"/>
</p:tagLst>
</file>

<file path=ppt/tags/tag53.xml><?xml version="1.0" encoding="utf-8"?>
<p:tagLst xmlns:p="http://schemas.openxmlformats.org/presentationml/2006/main">
  <p:tag name="KSO_WM_DIAGRAM_VIRTUALLY_FRAME" val="{&quot;height&quot;:216.75,&quot;left&quot;:57,&quot;top&quot;:223.5,&quot;width&quot;:775.5}"/>
</p:tagLst>
</file>

<file path=ppt/tags/tag54.xml><?xml version="1.0" encoding="utf-8"?>
<p:tagLst xmlns:p="http://schemas.openxmlformats.org/presentationml/2006/main">
  <p:tag name="KSO_WM_DIAGRAM_VIRTUALLY_FRAME" val="{&quot;height&quot;:216.75,&quot;left&quot;:57,&quot;top&quot;:223.5,&quot;width&quot;:775.5}"/>
</p:tagLst>
</file>

<file path=ppt/tags/tag55.xml><?xml version="1.0" encoding="utf-8"?>
<p:tagLst xmlns:p="http://schemas.openxmlformats.org/presentationml/2006/main">
  <p:tag name="KSO_WM_DIAGRAM_VIRTUALLY_FRAME" val="{&quot;height&quot;:216.75,&quot;left&quot;:57,&quot;top&quot;:223.5,&quot;width&quot;:775.5}"/>
</p:tagLst>
</file>

<file path=ppt/tags/tag56.xml><?xml version="1.0" encoding="utf-8"?>
<p:tagLst xmlns:p="http://schemas.openxmlformats.org/presentationml/2006/main">
  <p:tag name="KSO_WM_DIAGRAM_VIRTUALLY_FRAME" val="{&quot;height&quot;:216.75,&quot;left&quot;:57,&quot;top&quot;:223.5,&quot;width&quot;:775.5}"/>
</p:tagLst>
</file>

<file path=ppt/tags/tag57.xml><?xml version="1.0" encoding="utf-8"?>
<p:tagLst xmlns:p="http://schemas.openxmlformats.org/presentationml/2006/main">
  <p:tag name="KSO_WM_DIAGRAM_VIRTUALLY_FRAME" val="{&quot;height&quot;:216.75,&quot;left&quot;:57,&quot;top&quot;:223.5,&quot;width&quot;:775.5}"/>
</p:tagLst>
</file>

<file path=ppt/tags/tag58.xml><?xml version="1.0" encoding="utf-8"?>
<p:tagLst xmlns:p="http://schemas.openxmlformats.org/presentationml/2006/main">
  <p:tag name="KSO_WM_DIAGRAM_VIRTUALLY_FRAME" val="{&quot;height&quot;:216.75,&quot;left&quot;:57,&quot;top&quot;:223.5,&quot;width&quot;:775.5}"/>
</p:tagLst>
</file>

<file path=ppt/tags/tag59.xml><?xml version="1.0" encoding="utf-8"?>
<p:tagLst xmlns:p="http://schemas.openxmlformats.org/presentationml/2006/main">
  <p:tag name="KSO_WM_DIAGRAM_VIRTUALLY_FRAME" val="{&quot;height&quot;:216.75,&quot;left&quot;:57,&quot;top&quot;:223.5,&quot;width&quot;:775.5}"/>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262.5,&quot;left&quot;:52.5,&quot;top&quot;:138.75,&quot;width&quot;:870}"/>
</p:tagLst>
</file>

<file path=ppt/tags/tag67.xml><?xml version="1.0" encoding="utf-8"?>
<p:tagLst xmlns:p="http://schemas.openxmlformats.org/presentationml/2006/main">
  <p:tag name="KSO_WM_DIAGRAM_VIRTUALLY_FRAME" val="{&quot;height&quot;:262.5,&quot;left&quot;:52.5,&quot;top&quot;:138.75,&quot;width&quot;:870}"/>
</p:tagLst>
</file>

<file path=ppt/tags/tag68.xml><?xml version="1.0" encoding="utf-8"?>
<p:tagLst xmlns:p="http://schemas.openxmlformats.org/presentationml/2006/main">
  <p:tag name="KSO_WM_DIAGRAM_VIRTUALLY_FRAME" val="{&quot;height&quot;:262.5,&quot;left&quot;:52.5,&quot;top&quot;:138.75,&quot;width&quot;:870}"/>
</p:tagLst>
</file>

<file path=ppt/tags/tag69.xml><?xml version="1.0" encoding="utf-8"?>
<p:tagLst xmlns:p="http://schemas.openxmlformats.org/presentationml/2006/main">
  <p:tag name="KSO_WM_DIAGRAM_VIRTUALLY_FRAME" val="{&quot;height&quot;:262.5,&quot;left&quot;:52.5,&quot;top&quot;:138.75,&quot;width&quot;:870}"/>
</p:tagLst>
</file>

<file path=ppt/tags/tag70.xml><?xml version="1.0" encoding="utf-8"?>
<p:tagLst xmlns:p="http://schemas.openxmlformats.org/presentationml/2006/main">
  <p:tag name="KSO_WM_DIAGRAM_VIRTUALLY_FRAME" val="{&quot;height&quot;:262.5,&quot;left&quot;:52.5,&quot;top&quot;:138.75,&quot;width&quot;:870}"/>
</p:tagLst>
</file>

<file path=ppt/tags/tag71.xml><?xml version="1.0" encoding="utf-8"?>
<p:tagLst xmlns:p="http://schemas.openxmlformats.org/presentationml/2006/main">
  <p:tag name="KSO_WM_DIAGRAM_VIRTUALLY_FRAME" val="{&quot;height&quot;:262.5,&quot;left&quot;:52.5,&quot;top&quot;:138.75,&quot;width&quot;:870}"/>
</p:tagLst>
</file>

<file path=ppt/tags/tag72.xml><?xml version="1.0" encoding="utf-8"?>
<p:tagLst xmlns:p="http://schemas.openxmlformats.org/presentationml/2006/main">
  <p:tag name="KSO_WM_DIAGRAM_VIRTUALLY_FRAME" val="{&quot;height&quot;:262.5,&quot;left&quot;:52.5,&quot;top&quot;:138.75,&quot;width&quot;:870}"/>
</p:tagLst>
</file>

<file path=ppt/tags/tag73.xml><?xml version="1.0" encoding="utf-8"?>
<p:tagLst xmlns:p="http://schemas.openxmlformats.org/presentationml/2006/main">
  <p:tag name="KSO_WM_DIAGRAM_VIRTUALLY_FRAME" val="{&quot;height&quot;:262.5,&quot;left&quot;:52.5,&quot;top&quot;:138.75,&quot;width&quot;:870}"/>
</p:tagLst>
</file>

<file path=ppt/tags/tag74.xml><?xml version="1.0" encoding="utf-8"?>
<p:tagLst xmlns:p="http://schemas.openxmlformats.org/presentationml/2006/main">
  <p:tag name="KSO_WM_DIAGRAM_VIRTUALLY_FRAME" val="{&quot;height&quot;:262.5,&quot;left&quot;:52.5,&quot;top&quot;:138.75,&quot;width&quot;:870}"/>
</p:tagLst>
</file>

<file path=ppt/tags/tag75.xml><?xml version="1.0" encoding="utf-8"?>
<p:tagLst xmlns:p="http://schemas.openxmlformats.org/presentationml/2006/main">
  <p:tag name="KSO_WM_DIAGRAM_VIRTUALLY_FRAME" val="{&quot;height&quot;:147,&quot;left&quot;:43.5,&quot;top&quot;:169.5,&quot;width&quot;:874.5}"/>
</p:tagLst>
</file>

<file path=ppt/tags/tag76.xml><?xml version="1.0" encoding="utf-8"?>
<p:tagLst xmlns:p="http://schemas.openxmlformats.org/presentationml/2006/main">
  <p:tag name="KSO_WM_DIAGRAM_VIRTUALLY_FRAME" val="{&quot;height&quot;:153.75,&quot;left&quot;:58.5,&quot;top&quot;:173.25,&quot;width&quot;:805.5}"/>
</p:tagLst>
</file>

<file path=ppt/tags/tag77.xml><?xml version="1.0" encoding="utf-8"?>
<p:tagLst xmlns:p="http://schemas.openxmlformats.org/presentationml/2006/main">
  <p:tag name="KSO_WM_DIAGRAM_VIRTUALLY_FRAME" val="{&quot;height&quot;:153.75,&quot;left&quot;:58.5,&quot;top&quot;:173.25,&quot;width&quot;:805.5}"/>
</p:tagLst>
</file>

<file path=ppt/tags/tag78.xml><?xml version="1.0" encoding="utf-8"?>
<p:tagLst xmlns:p="http://schemas.openxmlformats.org/presentationml/2006/main">
  <p:tag name="KSO_WM_DIAGRAM_VIRTUALLY_FRAME" val="{&quot;height&quot;:153.75,&quot;left&quot;:58.5,&quot;top&quot;:173.25,&quot;width&quot;:805.5}"/>
</p:tagLst>
</file>

<file path=ppt/tags/tag79.xml><?xml version="1.0" encoding="utf-8"?>
<p:tagLst xmlns:p="http://schemas.openxmlformats.org/presentationml/2006/main">
  <p:tag name="KSO_WM_DIAGRAM_VIRTUALLY_FRAME" val="{&quot;height&quot;:153.75,&quot;left&quot;:58.5,&quot;top&quot;:173.25,&quot;width&quot;:805.5}"/>
</p:tagLst>
</file>

<file path=ppt/tags/tag80.xml><?xml version="1.0" encoding="utf-8"?>
<p:tagLst xmlns:p="http://schemas.openxmlformats.org/presentationml/2006/main">
  <p:tag name="KSO_WM_DIAGRAM_VIRTUALLY_FRAME" val="{&quot;height&quot;:153.75,&quot;left&quot;:58.5,&quot;top&quot;:173.25,&quot;width&quot;:805.5}"/>
</p:tagLst>
</file>

<file path=ppt/tags/tag81.xml><?xml version="1.0" encoding="utf-8"?>
<p:tagLst xmlns:p="http://schemas.openxmlformats.org/presentationml/2006/main">
  <p:tag name="KSO_WM_DIAGRAM_VIRTUALLY_FRAME" val="{&quot;height&quot;:153.75,&quot;left&quot;:58.5,&quot;top&quot;:173.25,&quot;width&quot;:805.5}"/>
</p:tagLst>
</file>

<file path=ppt/tags/tag82.xml><?xml version="1.0" encoding="utf-8"?>
<p:tagLst xmlns:p="http://schemas.openxmlformats.org/presentationml/2006/main">
  <p:tag name="KSO_WM_DIAGRAM_VIRTUALLY_FRAME" val="{&quot;height&quot;:153.75,&quot;left&quot;:58.5,&quot;top&quot;:173.25,&quot;width&quot;:805.5}"/>
</p:tagLst>
</file>

<file path=ppt/tags/tag83.xml><?xml version="1.0" encoding="utf-8"?>
<p:tagLst xmlns:p="http://schemas.openxmlformats.org/presentationml/2006/main">
  <p:tag name="KSO_WM_DIAGRAM_VIRTUALLY_FRAME" val="{&quot;height&quot;:153.75,&quot;left&quot;:58.5,&quot;top&quot;:173.25,&quot;width&quot;:805.5}"/>
</p:tagLst>
</file>

<file path=ppt/tags/tag84.xml><?xml version="1.0" encoding="utf-8"?>
<p:tagLst xmlns:p="http://schemas.openxmlformats.org/presentationml/2006/main">
  <p:tag name="KSO_WM_DIAGRAM_VIRTUALLY_FRAME" val="{&quot;height&quot;:153.75,&quot;left&quot;:58.5,&quot;top&quot;:173.25,&quot;width&quot;:805.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4726</Words>
  <Application>WPS 演示</Application>
  <PresentationFormat>Converted Presentation</PresentationFormat>
  <Paragraphs>648</Paragraphs>
  <Slides>24</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24</vt:i4>
      </vt:variant>
    </vt:vector>
  </HeadingPairs>
  <TitlesOfParts>
    <vt:vector size="50"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Alibaba Sans Medium</vt:lpstr>
      <vt:lpstr>书体坊安景臣钢笔行书</vt:lpstr>
      <vt:lpstr>思源宋体 CN Heavy</vt:lpstr>
      <vt:lpstr>思源黑体 CN Normal</vt:lpstr>
      <vt:lpstr>MS PGothic</vt:lpstr>
      <vt:lpstr>Wingdings</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54</cp:revision>
  <dcterms:created xsi:type="dcterms:W3CDTF">2026-10-18T10:32:00Z</dcterms:created>
  <dcterms:modified xsi:type="dcterms:W3CDTF">2026-10-27T08:10:04Z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