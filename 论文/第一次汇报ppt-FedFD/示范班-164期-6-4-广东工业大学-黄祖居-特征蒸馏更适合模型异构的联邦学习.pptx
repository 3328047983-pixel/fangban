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87" r:id="rId13"/>
    <p:sldId id="262" r:id="rId14"/>
    <p:sldId id="264" r:id="rId15"/>
    <p:sldId id="265" r:id="rId16"/>
    <p:sldId id="266" r:id="rId17"/>
    <p:sldId id="269" r:id="rId18"/>
    <p:sldId id="270" r:id="rId19"/>
    <p:sldId id="271" r:id="rId20"/>
    <p:sldId id="273" r:id="rId21"/>
    <p:sldId id="274" r:id="rId22"/>
    <p:sldId id="275" r:id="rId23"/>
    <p:sldId id="276" r:id="rId24"/>
    <p:sldId id="288" r:id="rId25"/>
    <p:sldId id="277" r:id="rId26"/>
    <p:sldId id="283" r:id="rId27"/>
  </p:sldIdLst>
  <p:sldSz cx="12192000" cy="6858000"/>
  <p:notesSz cx="6858000" cy="9144000"/>
  <p:embeddedFontLst>
    <p:embeddedFont>
      <p:font typeface="微软雅黑" panose="020B0503020204020204" charset="-122"/>
      <p:regular r:id="rId31"/>
    </p:embeddedFont>
    <p:embeddedFont>
      <p:font typeface="Cambria Math" panose="02040503050406030204"/>
      <p:regular r:id="rId32"/>
    </p:embeddedFont>
    <p:embeddedFont>
      <p:font typeface="Cambria Math" panose="02040503050406030204" charset="0"/>
      <p:regular r:id="rId33"/>
    </p:embeddedFont>
    <p:embeddedFont>
      <p:font typeface="楷体" panose="02010609060101010101" charset="-122"/>
      <p:regular r:id="rId34"/>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5121B"/>
    <a:srgbClr val="3577B8"/>
    <a:srgbClr val="1598A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分层特征对齐解决投影层数量和知识稀疏问题。正交投影解决跨架构特征冲突。</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7.xml"/><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notesSlide" Target="../notesSlides/notesSlide11.xml"/><Relationship Id="rId7" Type="http://schemas.openxmlformats.org/officeDocument/2006/relationships/slideLayout" Target="../slideLayouts/slideLayout7.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image" Target="../media/image5.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7" Type="http://schemas.openxmlformats.org/officeDocument/2006/relationships/notesSlide" Target="../notesSlides/notesSlide12.xml"/><Relationship Id="rId6" Type="http://schemas.openxmlformats.org/officeDocument/2006/relationships/slideLayout" Target="../slideLayouts/slideLayout7.xml"/><Relationship Id="rId5" Type="http://schemas.openxmlformats.org/officeDocument/2006/relationships/tags" Target="../tags/tag56.xml"/><Relationship Id="rId4" Type="http://schemas.openxmlformats.org/officeDocument/2006/relationships/tags" Target="../tags/tag55.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13.png"/><Relationship Id="rId7" Type="http://schemas.openxmlformats.org/officeDocument/2006/relationships/image" Target="../media/image12.png"/><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image" Target="../media/image5.png"/><Relationship Id="rId10" Type="http://schemas.openxmlformats.org/officeDocument/2006/relationships/notesSlide" Target="../notesSlides/notesSlide13.xml"/><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6" Type="http://schemas.openxmlformats.org/officeDocument/2006/relationships/notesSlide" Target="../notesSlides/notesSlide14.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1.xml"/><Relationship Id="rId8" Type="http://schemas.openxmlformats.org/officeDocument/2006/relationships/image" Target="../media/image21.png"/><Relationship Id="rId7" Type="http://schemas.openxmlformats.org/officeDocument/2006/relationships/image" Target="../media/image20.png"/><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5.png"/><Relationship Id="rId3" Type="http://schemas.openxmlformats.org/officeDocument/2006/relationships/image" Target="../media/image17.png"/><Relationship Id="rId2" Type="http://schemas.openxmlformats.org/officeDocument/2006/relationships/image" Target="../media/image16.png"/><Relationship Id="rId12" Type="http://schemas.openxmlformats.org/officeDocument/2006/relationships/notesSlide" Target="../notesSlides/notesSlide15.xml"/><Relationship Id="rId11" Type="http://schemas.openxmlformats.org/officeDocument/2006/relationships/slideLayout" Target="../slideLayouts/slideLayout7.xml"/><Relationship Id="rId10" Type="http://schemas.openxmlformats.org/officeDocument/2006/relationships/tags" Target="../tags/tag62.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6.png"/><Relationship Id="rId7" Type="http://schemas.openxmlformats.org/officeDocument/2006/relationships/tags" Target="../tags/tag63.xml"/><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png"/><Relationship Id="rId2" Type="http://schemas.openxmlformats.org/officeDocument/2006/relationships/image" Target="../media/image22.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7.xml"/><Relationship Id="rId3" Type="http://schemas.openxmlformats.org/officeDocument/2006/relationships/image" Target="../media/image27.jpeg"/><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6" Type="http://schemas.openxmlformats.org/officeDocument/2006/relationships/notesSlide" Target="../notesSlides/notesSlide20.xml"/><Relationship Id="rId5" Type="http://schemas.openxmlformats.org/officeDocument/2006/relationships/slideLayout" Target="../slideLayouts/slideLayout7.xml"/><Relationship Id="rId4" Type="http://schemas.openxmlformats.org/officeDocument/2006/relationships/image" Target="../media/image29.png"/><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5.pn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22.xml"/><Relationship Id="rId4" Type="http://schemas.openxmlformats.org/officeDocument/2006/relationships/slideLayout" Target="../slideLayouts/slideLayout7.xml"/><Relationship Id="rId3"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2.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a:t>
                      </a:r>
                      <a:r>
                        <a:rPr lang="zh-CN" sz="1275" b="0">
                          <a:solidFill>
                            <a:srgbClr val="222222"/>
                          </a:solidFill>
                          <a:latin typeface="微软雅黑" panose="020B0503020204020204" charset="-122"/>
                          <a:ea typeface="微软雅黑" panose="020B0503020204020204" charset="-122"/>
                          <a:cs typeface="微软雅黑" panose="020B0503020204020204" charset="-122"/>
                        </a:rPr>
                        <a:t>了</a:t>
                      </a:r>
                      <a:r>
                        <a:rPr sz="1275" b="0">
                          <a:solidFill>
                            <a:srgbClr val="222222"/>
                          </a:solidFill>
                          <a:latin typeface="微软雅黑" panose="020B0503020204020204" charset="-122"/>
                          <a:ea typeface="微软雅黑" panose="020B0503020204020204" charset="-122"/>
                          <a:cs typeface="微软雅黑" panose="020B0503020204020204" charset="-122"/>
                        </a:rPr>
                        <a:t>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logit 蒸馏</a:t>
            </a:r>
            <a:r>
              <a:rPr lang="zh-CN">
                <a:sym typeface="+mn-ea"/>
              </a:rPr>
              <a:t>不稳定</a:t>
            </a:r>
            <a:endParaRPr lang="zh-CN">
              <a:sym typeface="+mn-ea"/>
            </a:endParaRPr>
          </a:p>
        </p:txBody>
      </p:sp>
      <p:sp>
        <p:nvSpPr>
          <p:cNvPr id="9" name="矩形 8"/>
          <p:cNvSpPr>
            <a:spLocks noGrp="1"/>
          </p:cNvSpPr>
          <p:nvPr/>
        </p:nvSpPr>
        <p:spPr>
          <a:xfrm>
            <a:off x="685800" y="158115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168910" y="2352675"/>
            <a:ext cx="5812790" cy="2886075"/>
          </a:xfrm>
          <a:prstGeom prst="rect">
            <a:avLst/>
          </a:prstGeom>
        </p:spPr>
      </p:pic>
      <p:sp>
        <p:nvSpPr>
          <p:cNvPr id="11" name="矩形 10"/>
          <p:cNvSpPr>
            <a:spLocks noGrp="1"/>
          </p:cNvSpPr>
          <p:nvPr/>
        </p:nvSpPr>
        <p:spPr>
          <a:xfrm>
            <a:off x="399415" y="5736590"/>
            <a:ext cx="5581650" cy="55308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58115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210935" y="5737225"/>
            <a:ext cx="5956300"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4" name="图片 3"/>
          <p:cNvPicPr>
            <a:picLocks noChangeAspect="1"/>
          </p:cNvPicPr>
          <p:nvPr/>
        </p:nvPicPr>
        <p:blipFill>
          <a:blip r:embed="rId4"/>
          <a:stretch>
            <a:fillRect/>
          </a:stretch>
        </p:blipFill>
        <p:spPr>
          <a:xfrm>
            <a:off x="6334125" y="1969135"/>
            <a:ext cx="5052695" cy="35991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a:sym typeface="+mn-ea"/>
              </a:rPr>
              <a:t>投影</a:t>
            </a:r>
            <a:endParaRPr lang="zh-CN">
              <a:sym typeface="+mn-ea"/>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8" name="文本框 7"/>
          <p:cNvSpPr txBox="1"/>
          <p:nvPr/>
        </p:nvSpPr>
        <p:spPr>
          <a:xfrm>
            <a:off x="457200" y="1619250"/>
            <a:ext cx="10414000" cy="867410"/>
          </a:xfrm>
          <a:prstGeom prst="rect">
            <a:avLst/>
          </a:prstGeom>
          <a:noFill/>
        </p:spPr>
        <p:txBody>
          <a:bodyPr wrap="square" rtlCol="0">
            <a:noAutofit/>
          </a:bodyPr>
          <a:p>
            <a:r>
              <a:rPr lang="zh-CN" altLang="en-US">
                <a:solidFill>
                  <a:srgbClr val="3577B8"/>
                </a:solidFill>
                <a:latin typeface="微软雅黑" panose="020B0503020204020204" charset="-122"/>
                <a:ea typeface="微软雅黑" panose="020B0503020204020204" charset="-122"/>
                <a:cs typeface="微软雅黑" panose="020B0503020204020204" charset="-122"/>
              </a:rPr>
              <a:t>简单理解：将</a:t>
            </a:r>
            <a:r>
              <a:rPr lang="zh-CN" altLang="en-US" b="1">
                <a:solidFill>
                  <a:srgbClr val="3577B8"/>
                </a:solidFill>
                <a:latin typeface="微软雅黑" panose="020B0503020204020204" charset="-122"/>
                <a:ea typeface="微软雅黑" panose="020B0503020204020204" charset="-122"/>
                <a:cs typeface="微软雅黑" panose="020B0503020204020204" charset="-122"/>
              </a:rPr>
              <a:t>一种特征</a:t>
            </a:r>
            <a:r>
              <a:rPr lang="zh-CN" altLang="en-US">
                <a:solidFill>
                  <a:srgbClr val="3577B8"/>
                </a:solidFill>
                <a:latin typeface="微软雅黑" panose="020B0503020204020204" charset="-122"/>
                <a:ea typeface="微软雅黑" panose="020B0503020204020204" charset="-122"/>
                <a:cs typeface="微软雅黑" panose="020B0503020204020204" charset="-122"/>
              </a:rPr>
              <a:t>表示通过数学变换，映射到</a:t>
            </a:r>
            <a:r>
              <a:rPr lang="zh-CN" altLang="en-US" b="1">
                <a:solidFill>
                  <a:srgbClr val="3577B8"/>
                </a:solidFill>
                <a:latin typeface="微软雅黑" panose="020B0503020204020204" charset="-122"/>
                <a:ea typeface="微软雅黑" panose="020B0503020204020204" charset="-122"/>
                <a:cs typeface="微软雅黑" panose="020B0503020204020204" charset="-122"/>
              </a:rPr>
              <a:t>另一个特征空间</a:t>
            </a:r>
            <a:r>
              <a:rPr lang="zh-CN" altLang="en-US">
                <a:solidFill>
                  <a:srgbClr val="3577B8"/>
                </a:solidFill>
                <a:latin typeface="微软雅黑" panose="020B0503020204020204" charset="-122"/>
                <a:ea typeface="微软雅黑" panose="020B0503020204020204" charset="-122"/>
                <a:cs typeface="微软雅黑" panose="020B0503020204020204" charset="-122"/>
              </a:rPr>
              <a:t>，使其更适合后续的计算、比较或学习。</a:t>
            </a:r>
            <a:endParaRPr lang="zh-CN" altLang="en-US">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5467350" y="2353310"/>
            <a:ext cx="6724650" cy="2908300"/>
          </a:xfrm>
          <a:prstGeom prst="rect">
            <a:avLst/>
          </a:prstGeom>
        </p:spPr>
      </p:pic>
      <p:sp>
        <p:nvSpPr>
          <p:cNvPr id="19" name="文本框 18"/>
          <p:cNvSpPr txBox="1"/>
          <p:nvPr/>
        </p:nvSpPr>
        <p:spPr>
          <a:xfrm>
            <a:off x="6765925" y="5506720"/>
            <a:ext cx="3479800" cy="1198880"/>
          </a:xfrm>
          <a:prstGeom prst="rect">
            <a:avLst/>
          </a:prstGeom>
          <a:noFill/>
        </p:spPr>
        <p:txBody>
          <a:bodyPr wrap="square" rtlCol="0">
            <a:spAutoFit/>
          </a:bodyPr>
          <a:p>
            <a:r>
              <a:rPr lang="en-US" altLang="zh-CN"/>
              <a:t>f</a:t>
            </a:r>
            <a:r>
              <a:rPr lang="zh-CN" altLang="en-US">
                <a:ea typeface="宋体" panose="02010600030101010101" pitchFamily="2" charset="-122"/>
              </a:rPr>
              <a:t>：原始特征向量，</a:t>
            </a:r>
            <a:r>
              <a:rPr lang="en-US" altLang="zh-CN">
                <a:ea typeface="宋体" panose="02010600030101010101" pitchFamily="2" charset="-122"/>
              </a:rPr>
              <a:t>512</a:t>
            </a:r>
            <a:r>
              <a:rPr lang="zh-CN" altLang="en-US">
                <a:ea typeface="宋体" panose="02010600030101010101" pitchFamily="2" charset="-122"/>
              </a:rPr>
              <a:t>维</a:t>
            </a:r>
            <a:endParaRPr lang="zh-CN" altLang="en-US">
              <a:ea typeface="宋体" panose="02010600030101010101" pitchFamily="2" charset="-122"/>
            </a:endParaRPr>
          </a:p>
          <a:p>
            <a:r>
              <a:rPr lang="en-US" altLang="zh-CN">
                <a:ea typeface="宋体" panose="02010600030101010101" pitchFamily="2" charset="-122"/>
              </a:rPr>
              <a:t>W</a:t>
            </a:r>
            <a:r>
              <a:rPr lang="zh-CN" altLang="en-US">
                <a:ea typeface="宋体" panose="02010600030101010101" pitchFamily="2" charset="-122"/>
              </a:rPr>
              <a:t>：投影矩阵，大小为</a:t>
            </a:r>
            <a:r>
              <a:rPr lang="en-US" altLang="zh-CN">
                <a:ea typeface="宋体" panose="02010600030101010101" pitchFamily="2" charset="-122"/>
              </a:rPr>
              <a:t> 128</a:t>
            </a:r>
            <a:r>
              <a:rPr lang="zh-CN" altLang="en-US">
                <a:ea typeface="宋体" panose="02010600030101010101" pitchFamily="2" charset="-122"/>
              </a:rPr>
              <a:t>×</a:t>
            </a:r>
            <a:r>
              <a:rPr lang="en-US" altLang="zh-CN">
                <a:ea typeface="宋体" panose="02010600030101010101" pitchFamily="2" charset="-122"/>
              </a:rPr>
              <a:t>512</a:t>
            </a:r>
            <a:endParaRPr lang="en-US" altLang="zh-CN">
              <a:ea typeface="宋体" panose="02010600030101010101" pitchFamily="2" charset="-122"/>
            </a:endParaRPr>
          </a:p>
          <a:p>
            <a:r>
              <a:rPr lang="en-US" altLang="zh-CN">
                <a:ea typeface="宋体" panose="02010600030101010101" pitchFamily="2" charset="-122"/>
              </a:rPr>
              <a:t>b</a:t>
            </a:r>
            <a:r>
              <a:rPr lang="zh-CN" altLang="en-US">
                <a:ea typeface="宋体" panose="02010600030101010101" pitchFamily="2" charset="-122"/>
              </a:rPr>
              <a:t>：偏置向量，</a:t>
            </a:r>
            <a:r>
              <a:rPr lang="en-US" altLang="zh-CN">
                <a:ea typeface="宋体" panose="02010600030101010101" pitchFamily="2" charset="-122"/>
              </a:rPr>
              <a:t>128</a:t>
            </a:r>
            <a:r>
              <a:rPr lang="zh-CN" altLang="en-US">
                <a:ea typeface="宋体" panose="02010600030101010101" pitchFamily="2" charset="-122"/>
              </a:rPr>
              <a:t>维</a:t>
            </a:r>
            <a:endParaRPr lang="zh-CN" altLang="en-US">
              <a:ea typeface="宋体" panose="02010600030101010101" pitchFamily="2" charset="-122"/>
            </a:endParaRPr>
          </a:p>
          <a:p>
            <a:r>
              <a:rPr lang="en-US" altLang="zh-CN">
                <a:ea typeface="宋体" panose="02010600030101010101" pitchFamily="2" charset="-122"/>
              </a:rPr>
              <a:t>z</a:t>
            </a:r>
            <a:r>
              <a:rPr lang="zh-CN" altLang="en-US">
                <a:ea typeface="宋体" panose="02010600030101010101" pitchFamily="2" charset="-122"/>
              </a:rPr>
              <a:t>：投影后的特征向量，</a:t>
            </a:r>
            <a:r>
              <a:rPr lang="en-US" altLang="zh-CN">
                <a:ea typeface="宋体" panose="02010600030101010101" pitchFamily="2" charset="-122"/>
              </a:rPr>
              <a:t>128</a:t>
            </a:r>
            <a:r>
              <a:rPr lang="zh-CN" altLang="en-US">
                <a:ea typeface="宋体" panose="02010600030101010101" pitchFamily="2" charset="-122"/>
              </a:rPr>
              <a:t>维</a:t>
            </a:r>
            <a:endParaRPr lang="zh-CN" altLang="en-US">
              <a:ea typeface="宋体" panose="02010600030101010101" pitchFamily="2" charset="-122"/>
            </a:endParaRPr>
          </a:p>
        </p:txBody>
      </p:sp>
      <p:sp>
        <p:nvSpPr>
          <p:cNvPr id="21" name="文本框 20"/>
          <p:cNvSpPr txBox="1"/>
          <p:nvPr/>
        </p:nvSpPr>
        <p:spPr>
          <a:xfrm>
            <a:off x="399415" y="2819400"/>
            <a:ext cx="4743450" cy="3736340"/>
          </a:xfrm>
          <a:prstGeom prst="rect">
            <a:avLst/>
          </a:prstGeom>
          <a:noFill/>
        </p:spPr>
        <p:txBody>
          <a:bodyPr wrap="square" rtlCol="0">
            <a:noAutofit/>
          </a:bodyPr>
          <a:p>
            <a:pPr>
              <a:lnSpc>
                <a:spcPct val="160000"/>
              </a:lnSpc>
            </a:pPr>
            <a:r>
              <a:rPr lang="zh-CN" sz="2000" b="1">
                <a:solidFill>
                  <a:srgbClr val="1598A5"/>
                </a:solidFill>
                <a:latin typeface="微软雅黑" panose="020B0503020204020204" charset="-122"/>
                <a:ea typeface="微软雅黑" panose="020B0503020204020204" charset="-122"/>
                <a:cs typeface="微软雅黑" panose="020B0503020204020204" charset="-122"/>
              </a:rPr>
              <a:t>作用</a:t>
            </a:r>
            <a:r>
              <a:rPr sz="2000" b="1">
                <a:solidFill>
                  <a:srgbClr val="1598A5"/>
                </a:solidFill>
                <a:latin typeface="微软雅黑" panose="020B0503020204020204" charset="-122"/>
                <a:ea typeface="微软雅黑" panose="020B0503020204020204" charset="-122"/>
                <a:cs typeface="微软雅黑" panose="020B0503020204020204" charset="-122"/>
              </a:rPr>
              <a:t>：</a:t>
            </a:r>
            <a:r>
              <a:rPr lang="en-US" sz="2000" b="1">
                <a:solidFill>
                  <a:srgbClr val="1598A5"/>
                </a:solidFill>
                <a:latin typeface="微软雅黑" panose="020B0503020204020204" charset="-122"/>
                <a:ea typeface="微软雅黑" panose="020B0503020204020204" charset="-122"/>
                <a:cs typeface="微软雅黑" panose="020B0503020204020204" charset="-122"/>
              </a:rPr>
              <a:t> </a:t>
            </a:r>
            <a:endParaRPr 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sz="2000" b="1">
                <a:solidFill>
                  <a:srgbClr val="1598A5"/>
                </a:solidFill>
                <a:latin typeface="微软雅黑" panose="020B0503020204020204" charset="-122"/>
                <a:ea typeface="微软雅黑" panose="020B0503020204020204" charset="-122"/>
                <a:cs typeface="微软雅黑" panose="020B0503020204020204" charset="-122"/>
              </a:rPr>
              <a:t>维度变换：</a:t>
            </a: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将特征变成指定维度</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sz="2000" b="1">
                <a:solidFill>
                  <a:srgbClr val="1598A5"/>
                </a:solidFill>
                <a:latin typeface="微软雅黑" panose="020B0503020204020204" charset="-122"/>
                <a:ea typeface="微软雅黑" panose="020B0503020204020204" charset="-122"/>
                <a:cs typeface="微软雅黑" panose="020B0503020204020204" charset="-122"/>
              </a:rPr>
              <a:t>特征空间对齐：</a:t>
            </a: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让不同模型的特征进入可比较的空间</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特征表示学习：学习更适合特定任务的特征表达</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6350" y="0"/>
            <a:ext cx="12192000" cy="6858000"/>
          </a:xfrm>
          <a:prstGeom prst="rect">
            <a:avLst/>
          </a:prstGeom>
          <a:solidFill>
            <a:srgbClr val="FFFFFF"/>
          </a:solidFill>
          <a:ln w="0">
            <a:noFill/>
            <a:prstDash val="solid"/>
          </a:ln>
        </p:spPr>
        <p:txBody>
          <a:bodyPr/>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800" b="1">
                <a:solidFill>
                  <a:srgbClr val="1598A5"/>
                </a:solidFill>
                <a:latin typeface="微软雅黑" panose="020B0503020204020204" charset="-122"/>
                <a:ea typeface="微软雅黑" panose="020B0503020204020204" charset="-122"/>
                <a:cs typeface="微软雅黑" panose="020B0503020204020204" charset="-122"/>
                <a:sym typeface="+mn-ea"/>
              </a:rPr>
              <a:t>投影层数量随客户端增长</a:t>
            </a:r>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圆角矩形 3"/>
          <p:cNvSpPr/>
          <p:nvPr/>
        </p:nvSpPr>
        <p:spPr>
          <a:xfrm>
            <a:off x="882015" y="2260600"/>
            <a:ext cx="3256915" cy="1435100"/>
          </a:xfrm>
          <a:prstGeom prst="roundRect">
            <a:avLst/>
          </a:prstGeom>
          <a:noFill/>
          <a:ln w="19050">
            <a:solidFill>
              <a:srgbClr val="1598A5"/>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圆角矩形 7"/>
          <p:cNvSpPr>
            <a:spLocks noGrp="1"/>
          </p:cNvSpPr>
          <p:nvPr>
            <p:custDataLst>
              <p:tags r:id="rId3"/>
            </p:custDataLst>
          </p:nvPr>
        </p:nvSpPr>
        <p:spPr>
          <a:xfrm>
            <a:off x="1789430" y="23749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文本框 20"/>
          <p:cNvSpPr txBox="1"/>
          <p:nvPr/>
        </p:nvSpPr>
        <p:spPr>
          <a:xfrm>
            <a:off x="889000" y="3037205"/>
            <a:ext cx="3243580" cy="391795"/>
          </a:xfrm>
          <a:prstGeom prst="rect">
            <a:avLst/>
          </a:prstGeom>
          <a:noFill/>
        </p:spPr>
        <p:txBody>
          <a:bodyPr wrap="square" rtlCol="0">
            <a:noAutofit/>
          </a:bodyPr>
          <a:p>
            <a:pPr algn="ctr"/>
            <a:r>
              <a:rPr b="1">
                <a:solidFill>
                  <a:srgbClr val="1598A5"/>
                </a:solidFill>
                <a:latin typeface="微软雅黑" panose="020B0503020204020204" charset="-122"/>
                <a:ea typeface="微软雅黑" panose="020B0503020204020204" charset="-122"/>
                <a:cs typeface="微软雅黑" panose="020B0503020204020204" charset="-122"/>
                <a:sym typeface="+mn-ea"/>
              </a:rPr>
              <a:t>投影层数量随客户端</a:t>
            </a:r>
            <a:r>
              <a:rPr lang="zh-CN" b="1">
                <a:solidFill>
                  <a:srgbClr val="1598A5"/>
                </a:solidFill>
                <a:latin typeface="微软雅黑" panose="020B0503020204020204" charset="-122"/>
                <a:ea typeface="微软雅黑" panose="020B0503020204020204" charset="-122"/>
                <a:cs typeface="微软雅黑" panose="020B0503020204020204" charset="-122"/>
                <a:sym typeface="+mn-ea"/>
              </a:rPr>
              <a:t>数量</a:t>
            </a:r>
            <a:r>
              <a:rPr b="1">
                <a:solidFill>
                  <a:srgbClr val="1598A5"/>
                </a:solidFill>
                <a:latin typeface="微软雅黑" panose="020B0503020204020204" charset="-122"/>
                <a:ea typeface="微软雅黑" panose="020B0503020204020204" charset="-122"/>
                <a:cs typeface="微软雅黑" panose="020B0503020204020204" charset="-122"/>
                <a:sym typeface="+mn-ea"/>
              </a:rPr>
              <a:t>增长</a:t>
            </a:r>
            <a:endParaRPr b="1" i="0">
              <a:solidFill>
                <a:srgbClr val="1598A5"/>
              </a:solidFill>
              <a:latin typeface="微软雅黑" panose="020B0503020204020204" charset="-122"/>
              <a:ea typeface="微软雅黑" panose="020B0503020204020204" charset="-122"/>
              <a:cs typeface="微软雅黑" panose="020B0503020204020204" charset="-122"/>
            </a:endParaRPr>
          </a:p>
          <a:p>
            <a:endParaRPr lang="zh-CN" altLang="en-US"/>
          </a:p>
        </p:txBody>
      </p:sp>
      <p:sp>
        <p:nvSpPr>
          <p:cNvPr id="22" name="右箭头 21"/>
          <p:cNvSpPr/>
          <p:nvPr/>
        </p:nvSpPr>
        <p:spPr>
          <a:xfrm>
            <a:off x="4425315" y="2813050"/>
            <a:ext cx="1333500" cy="4826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3" name="圆角矩形 22"/>
          <p:cNvSpPr/>
          <p:nvPr/>
        </p:nvSpPr>
        <p:spPr>
          <a:xfrm>
            <a:off x="882015" y="4076700"/>
            <a:ext cx="3256915" cy="1473200"/>
          </a:xfrm>
          <a:prstGeom prst="roundRect">
            <a:avLst/>
          </a:prstGeom>
          <a:noFill/>
          <a:ln w="19050">
            <a:solidFill>
              <a:srgbClr val="3577B8"/>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5" name="文本框 24"/>
          <p:cNvSpPr txBox="1"/>
          <p:nvPr/>
        </p:nvSpPr>
        <p:spPr>
          <a:xfrm>
            <a:off x="882015" y="4885055"/>
            <a:ext cx="3243580" cy="391795"/>
          </a:xfrm>
          <a:prstGeom prst="rect">
            <a:avLst/>
          </a:prstGeom>
          <a:noFill/>
        </p:spPr>
        <p:txBody>
          <a:bodyPr wrap="square" rtlCol="0">
            <a:noAutofit/>
          </a:bodyPr>
          <a:p>
            <a:pPr algn="ctr"/>
            <a:r>
              <a:rPr lang="zh-CN" altLang="en-US" b="1">
                <a:solidFill>
                  <a:srgbClr val="3577B8"/>
                </a:solidFill>
                <a:latin typeface="微软雅黑" panose="020B0503020204020204" charset="-122"/>
                <a:ea typeface="微软雅黑" panose="020B0503020204020204" charset="-122"/>
                <a:cs typeface="微软雅黑" panose="020B0503020204020204" charset="-122"/>
                <a:sym typeface="+mn-ea"/>
              </a:rPr>
              <a:t>异构特征蒸馏中的知识冲突</a:t>
            </a:r>
            <a:endParaRPr lang="zh-CN" altLang="en-US"/>
          </a:p>
        </p:txBody>
      </p:sp>
      <p:sp>
        <p:nvSpPr>
          <p:cNvPr id="26" name="圆角矩形 25"/>
          <p:cNvSpPr>
            <a:spLocks noGrp="1"/>
          </p:cNvSpPr>
          <p:nvPr>
            <p:custDataLst>
              <p:tags r:id="rId4"/>
            </p:custDataLst>
          </p:nvPr>
        </p:nvSpPr>
        <p:spPr>
          <a:xfrm>
            <a:off x="1789430" y="4197350"/>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右箭头 26"/>
          <p:cNvSpPr/>
          <p:nvPr/>
        </p:nvSpPr>
        <p:spPr>
          <a:xfrm>
            <a:off x="4425315" y="4572000"/>
            <a:ext cx="1333500" cy="4826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圆角矩形 27"/>
          <p:cNvSpPr/>
          <p:nvPr/>
        </p:nvSpPr>
        <p:spPr>
          <a:xfrm>
            <a:off x="6285865" y="2260600"/>
            <a:ext cx="5440680" cy="1435100"/>
          </a:xfrm>
          <a:prstGeom prst="roundRect">
            <a:avLst/>
          </a:prstGeom>
          <a:noFill/>
          <a:ln w="19050">
            <a:solidFill>
              <a:srgbClr val="1598A5"/>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9" name="圆角矩形 28"/>
          <p:cNvSpPr>
            <a:spLocks noGrp="1"/>
          </p:cNvSpPr>
          <p:nvPr>
            <p:custDataLst>
              <p:tags r:id="rId5"/>
            </p:custDataLst>
          </p:nvPr>
        </p:nvSpPr>
        <p:spPr>
          <a:xfrm>
            <a:off x="8291830" y="23749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解决办法</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文本框 29"/>
          <p:cNvSpPr txBox="1"/>
          <p:nvPr/>
        </p:nvSpPr>
        <p:spPr>
          <a:xfrm>
            <a:off x="6285865" y="2908300"/>
            <a:ext cx="5441315" cy="638810"/>
          </a:xfrm>
          <a:prstGeom prst="rect">
            <a:avLst/>
          </a:prstGeom>
          <a:noFill/>
        </p:spPr>
        <p:txBody>
          <a:bodyPr wrap="square" rtlCol="0">
            <a:noAutofit/>
          </a:bodyPr>
          <a:p>
            <a:pPr algn="ctr"/>
            <a:r>
              <a:rPr lang="zh-CN" b="1">
                <a:solidFill>
                  <a:srgbClr val="1598A5"/>
                </a:solidFill>
                <a:latin typeface="微软雅黑" panose="020B0503020204020204" charset="-122"/>
                <a:ea typeface="微软雅黑" panose="020B0503020204020204" charset="-122"/>
                <a:cs typeface="微软雅黑" panose="020B0503020204020204" charset="-122"/>
              </a:rPr>
              <a:t>分层特征对齐，</a:t>
            </a:r>
            <a:r>
              <a:rPr b="1">
                <a:solidFill>
                  <a:srgbClr val="1598A5"/>
                </a:solidFill>
                <a:latin typeface="微软雅黑" panose="020B0503020204020204" charset="-122"/>
                <a:ea typeface="微软雅黑" panose="020B0503020204020204" charset="-122"/>
                <a:cs typeface="微软雅黑" panose="020B0503020204020204" charset="-122"/>
              </a:rPr>
              <a:t>按相同架构分</a:t>
            </a:r>
            <a:r>
              <a:rPr lang="en-US" b="1">
                <a:solidFill>
                  <a:srgbClr val="1598A5"/>
                </a:solidFill>
                <a:latin typeface="微软雅黑" panose="020B0503020204020204" charset="-122"/>
                <a:ea typeface="微软雅黑" panose="020B0503020204020204" charset="-122"/>
                <a:cs typeface="微软雅黑" panose="020B0503020204020204" charset="-122"/>
              </a:rPr>
              <a:t>m</a:t>
            </a:r>
            <a:r>
              <a:rPr b="1">
                <a:solidFill>
                  <a:srgbClr val="1598A5"/>
                </a:solidFill>
                <a:latin typeface="微软雅黑" panose="020B0503020204020204" charset="-122"/>
                <a:ea typeface="微软雅黑" panose="020B0503020204020204" charset="-122"/>
                <a:cs typeface="微软雅黑" panose="020B0503020204020204" charset="-122"/>
              </a:rPr>
              <a:t>组</a:t>
            </a:r>
            <a:r>
              <a:rPr lang="zh-CN" b="1">
                <a:solidFill>
                  <a:srgbClr val="1598A5"/>
                </a:solidFill>
                <a:latin typeface="微软雅黑" panose="020B0503020204020204" charset="-122"/>
                <a:ea typeface="微软雅黑" panose="020B0503020204020204" charset="-122"/>
                <a:cs typeface="微软雅黑" panose="020B0503020204020204" charset="-122"/>
              </a:rPr>
              <a:t>，组内</a:t>
            </a:r>
            <a:r>
              <a:rPr b="1">
                <a:solidFill>
                  <a:srgbClr val="1598A5"/>
                </a:solidFill>
                <a:latin typeface="微软雅黑" panose="020B0503020204020204" charset="-122"/>
                <a:ea typeface="微软雅黑" panose="020B0503020204020204" charset="-122"/>
                <a:cs typeface="微软雅黑" panose="020B0503020204020204" charset="-122"/>
              </a:rPr>
              <a:t>聚合特征，只维护 m−1 个投影层</a:t>
            </a:r>
            <a:endParaRPr lang="zh-CN" altLang="en-US"/>
          </a:p>
          <a:p>
            <a:pPr algn="ctr"/>
            <a:endParaRPr lang="zh-CN" altLang="en-US"/>
          </a:p>
        </p:txBody>
      </p:sp>
      <p:sp>
        <p:nvSpPr>
          <p:cNvPr id="32" name="圆角矩形 31"/>
          <p:cNvSpPr/>
          <p:nvPr/>
        </p:nvSpPr>
        <p:spPr>
          <a:xfrm>
            <a:off x="6285865" y="4076700"/>
            <a:ext cx="5440680" cy="1473200"/>
          </a:xfrm>
          <a:prstGeom prst="roundRect">
            <a:avLst/>
          </a:prstGeom>
          <a:noFill/>
          <a:ln w="19050">
            <a:solidFill>
              <a:srgbClr val="3577B8"/>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3" name="圆角矩形 32"/>
          <p:cNvSpPr>
            <a:spLocks noGrp="1"/>
          </p:cNvSpPr>
          <p:nvPr>
            <p:custDataLst>
              <p:tags r:id="rId6"/>
            </p:custDataLst>
          </p:nvPr>
        </p:nvSpPr>
        <p:spPr>
          <a:xfrm>
            <a:off x="8291830" y="4197350"/>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解决办法</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4" name="文本框 33"/>
          <p:cNvSpPr txBox="1"/>
          <p:nvPr/>
        </p:nvSpPr>
        <p:spPr>
          <a:xfrm>
            <a:off x="6285865" y="4732020"/>
            <a:ext cx="5441315" cy="708660"/>
          </a:xfrm>
          <a:prstGeom prst="rect">
            <a:avLst/>
          </a:prstGeom>
          <a:noFill/>
        </p:spPr>
        <p:txBody>
          <a:bodyPr wrap="square" rtlCol="0">
            <a:noAutofit/>
          </a:bodyPr>
          <a:p>
            <a:pPr algn="ctr"/>
            <a:r>
              <a:rPr lang="zh-CN" altLang="en-US" b="1">
                <a:solidFill>
                  <a:srgbClr val="3577B8"/>
                </a:solidFill>
                <a:latin typeface="微软雅黑" panose="020B0503020204020204" charset="-122"/>
                <a:ea typeface="微软雅黑" panose="020B0503020204020204" charset="-122"/>
                <a:cs typeface="微软雅黑" panose="020B0503020204020204" charset="-122"/>
                <a:sym typeface="+mn-ea"/>
              </a:rPr>
              <a:t>通过正交参数化约束投影矩阵，减少特征缩放和几何变形，缓解异构知识融合过程中的潜在冲突。</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260985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grpSp>
        <p:nvGrpSpPr>
          <p:cNvPr id="8" name="组合 7"/>
          <p:cNvGrpSpPr/>
          <p:nvPr/>
        </p:nvGrpSpPr>
        <p:grpSpPr>
          <a:xfrm>
            <a:off x="3803650" y="972185"/>
            <a:ext cx="1835150" cy="1142365"/>
            <a:chOff x="5990" y="1531"/>
            <a:chExt cx="2890" cy="1799"/>
          </a:xfrm>
        </p:grpSpPr>
        <p:sp>
          <p:nvSpPr>
            <p:cNvPr id="4" name="右箭头 3"/>
            <p:cNvSpPr/>
            <p:nvPr/>
          </p:nvSpPr>
          <p:spPr>
            <a:xfrm rot="5400000">
              <a:off x="6880" y="2471"/>
              <a:ext cx="1110" cy="609"/>
            </a:xfrm>
            <a:prstGeom prst="rightArrow">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2" name="圆角矩形 11"/>
            <p:cNvSpPr>
              <a:spLocks noGrp="1"/>
            </p:cNvSpPr>
            <p:nvPr>
              <p:custDataLst>
                <p:tags r:id="rId4"/>
              </p:custDataLst>
            </p:nvPr>
          </p:nvSpPr>
          <p:spPr>
            <a:xfrm>
              <a:off x="5990" y="1531"/>
              <a:ext cx="2890" cy="690"/>
            </a:xfrm>
            <a:prstGeom prst="roundRect">
              <a:avLst>
                <a:gd name="adj" fmla="val 17391"/>
              </a:avLst>
            </a:prstGeom>
            <a:solidFill>
              <a:schemeClr val="accent1"/>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分层特征</a:t>
              </a:r>
              <a:r>
                <a:rPr lang="zh-CN" sz="1500" b="1" i="0">
                  <a:solidFill>
                    <a:srgbClr val="FFFFFF"/>
                  </a:solidFill>
                  <a:latin typeface="微软雅黑" panose="020B0503020204020204" charset="-122"/>
                  <a:ea typeface="微软雅黑" panose="020B0503020204020204" charset="-122"/>
                  <a:cs typeface="微软雅黑" panose="020B0503020204020204" charset="-122"/>
                </a:rPr>
                <a:t>对齐</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grpSp>
      <p:grpSp>
        <p:nvGrpSpPr>
          <p:cNvPr id="15" name="组合 14"/>
          <p:cNvGrpSpPr/>
          <p:nvPr/>
        </p:nvGrpSpPr>
        <p:grpSpPr>
          <a:xfrm>
            <a:off x="6997700" y="972185"/>
            <a:ext cx="1835150" cy="1142365"/>
            <a:chOff x="11020" y="1531"/>
            <a:chExt cx="2890" cy="1799"/>
          </a:xfrm>
        </p:grpSpPr>
        <p:sp>
          <p:nvSpPr>
            <p:cNvPr id="13" name="右箭头 12"/>
            <p:cNvSpPr/>
            <p:nvPr/>
          </p:nvSpPr>
          <p:spPr>
            <a:xfrm rot="5400000">
              <a:off x="11910" y="2471"/>
              <a:ext cx="1110" cy="609"/>
            </a:xfrm>
            <a:prstGeom prst="rightArrow">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4" name="圆角矩形 13"/>
            <p:cNvSpPr>
              <a:spLocks noGrp="1"/>
            </p:cNvSpPr>
            <p:nvPr>
              <p:custDataLst>
                <p:tags r:id="rId5"/>
              </p:custDataLst>
            </p:nvPr>
          </p:nvSpPr>
          <p:spPr>
            <a:xfrm>
              <a:off x="11020" y="1531"/>
              <a:ext cx="2890" cy="690"/>
            </a:xfrm>
            <a:prstGeom prst="roundRect">
              <a:avLst>
                <a:gd name="adj" fmla="val 17391"/>
              </a:avLst>
            </a:prstGeom>
            <a:solidFill>
              <a:schemeClr val="accent1"/>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正交</a:t>
              </a:r>
              <a:r>
                <a:rPr lang="zh-CN" sz="1500" b="1" i="0">
                  <a:solidFill>
                    <a:srgbClr val="FFFFFF"/>
                  </a:solidFill>
                  <a:latin typeface="微软雅黑" panose="020B0503020204020204" charset="-122"/>
                  <a:ea typeface="微软雅黑" panose="020B0503020204020204" charset="-122"/>
                  <a:cs typeface="微软雅黑" panose="020B0503020204020204" charset="-122"/>
                </a:rPr>
                <a:t>投影</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服务器</a:t>
            </a:r>
            <a:r>
              <a:rPr sz="2550" b="1" i="0">
                <a:solidFill>
                  <a:srgbClr val="222222"/>
                </a:solidFill>
                <a:latin typeface="微软雅黑" panose="020B0503020204020204" charset="-122"/>
                <a:ea typeface="微软雅黑" panose="020B0503020204020204" charset="-122"/>
                <a:cs typeface="微软雅黑" panose="020B0503020204020204" charset="-122"/>
              </a:rPr>
              <a:t>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custDataLst>
              <p:tags r:id="rId3"/>
            </p:custDataLst>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4"/>
            </p:custDataLst>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5"/>
            </p:custDataLst>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lang="zh-CN" sz="1800" b="1" i="0">
                <a:solidFill>
                  <a:srgbClr val="B5121B"/>
                </a:solidFill>
                <a:latin typeface="微软雅黑" panose="020B0503020204020204" charset="-122"/>
                <a:ea typeface="微软雅黑" panose="020B0503020204020204" charset="-122"/>
                <a:cs typeface="微软雅黑" panose="020B0503020204020204" charset="-122"/>
              </a:rPr>
              <a:t>服务器</a:t>
            </a: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6"/>
            </p:custDataLst>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9" name="组合 8"/>
          <p:cNvGrpSpPr/>
          <p:nvPr/>
        </p:nvGrpSpPr>
        <p:grpSpPr>
          <a:xfrm>
            <a:off x="647065" y="5325110"/>
            <a:ext cx="10935970" cy="1007110"/>
            <a:chOff x="1019" y="8386"/>
            <a:chExt cx="17222" cy="1586"/>
          </a:xfrm>
        </p:grpSpPr>
        <mc:AlternateContent xmlns:mc="http://schemas.openxmlformats.org/markup-compatibility/2006">
          <mc:Choice xmlns:a14="http://schemas.microsoft.com/office/drawing/2010/main" Requires="a14">
            <p:sp>
              <p:nvSpPr>
                <p:cNvPr id="22" name="圆角矩形 21"/>
                <p:cNvSpPr>
                  <a:spLocks noGrp="1"/>
                </p:cNvSpPr>
                <p:nvPr/>
              </p:nvSpPr>
              <p:spPr>
                <a:xfrm>
                  <a:off x="1019" y="8386"/>
                  <a:ext cx="17222" cy="1587"/>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1019" y="8386"/>
                  <a:ext cx="17222" cy="1587"/>
                </a:xfrm>
                <a:prstGeom prst="roundRect">
                  <a:avLst>
                    <a:gd name="adj" fmla="val 16216"/>
                  </a:avLst>
                </a:prstGeom>
                <a:blipFill rotWithShape="1">
                  <a:blip r:embed="rId7"/>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7671" y="8981"/>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p:grpSp>
      <p:grpSp>
        <p:nvGrpSpPr>
          <p:cNvPr id="8" name="组合 7"/>
          <p:cNvGrpSpPr/>
          <p:nvPr/>
        </p:nvGrpSpPr>
        <p:grpSpPr>
          <a:xfrm>
            <a:off x="646430" y="3362960"/>
            <a:ext cx="10936605" cy="1775460"/>
            <a:chOff x="1018" y="5296"/>
            <a:chExt cx="17223" cy="2796"/>
          </a:xfrm>
        </p:grpSpPr>
        <mc:AlternateContent xmlns:mc="http://schemas.openxmlformats.org/markup-compatibility/2006">
          <mc:Choice xmlns:a14="http://schemas.microsoft.com/office/drawing/2010/main" Requires="a14">
            <p:sp>
              <p:nvSpPr>
                <p:cNvPr id="23" name="圆角矩形 22"/>
                <p:cNvSpPr>
                  <a:spLocks noGrp="1"/>
                </p:cNvSpPr>
                <p:nvPr/>
              </p:nvSpPr>
              <p:spPr>
                <a:xfrm>
                  <a:off x="1018" y="5296"/>
                  <a:ext cx="17223" cy="2796"/>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1018" y="5296"/>
                  <a:ext cx="17223" cy="2796"/>
                </a:xfrm>
                <a:prstGeom prst="roundRect">
                  <a:avLst>
                    <a:gd name="adj" fmla="val 9375"/>
                  </a:avLst>
                </a:prstGeom>
                <a:blipFill rotWithShape="1">
                  <a:blip r:embed="rId8"/>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7671" y="6529"/>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41" name="组合 40"/>
          <p:cNvGrpSpPr/>
          <p:nvPr/>
        </p:nvGrpSpPr>
        <p:grpSpPr>
          <a:xfrm>
            <a:off x="857250" y="1809750"/>
            <a:ext cx="4992370" cy="723900"/>
            <a:chOff x="1350" y="2850"/>
            <a:chExt cx="7862" cy="1140"/>
          </a:xfrm>
        </p:grpSpPr>
        <mc:AlternateContent xmlns:mc="http://schemas.openxmlformats.org/markup-compatibility/2006">
          <mc:Choice xmlns:a14="http://schemas.microsoft.com/office/drawing/2010/main" Requires="a14">
            <p:sp>
              <p:nvSpPr>
                <p:cNvPr id="9" name="圆角矩形 8"/>
                <p:cNvSpPr>
                  <a:spLocks noGrp="1"/>
                </p:cNvSpPr>
                <p:nvPr/>
              </p:nvSpPr>
              <p:spPr>
                <a:xfrm>
                  <a:off x="1350" y="2850"/>
                  <a:ext cx="7862" cy="114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350" y="2850"/>
                  <a:ext cx="7862" cy="1140"/>
                </a:xfrm>
                <a:prstGeom prst="roundRect">
                  <a:avLst>
                    <a:gd name="adj" fmla="val 15789"/>
                  </a:avLst>
                </a:prstGeom>
                <a:blipFill rotWithShape="1">
                  <a:blip r:embed="rId2"/>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8642" y="3323"/>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p:grpSp>
      <p:grpSp>
        <p:nvGrpSpPr>
          <p:cNvPr id="42" name="组合 41"/>
          <p:cNvGrpSpPr/>
          <p:nvPr/>
        </p:nvGrpSpPr>
        <p:grpSpPr>
          <a:xfrm>
            <a:off x="6330950" y="1714500"/>
            <a:ext cx="5442585" cy="980440"/>
            <a:chOff x="9970" y="2700"/>
            <a:chExt cx="8571" cy="1544"/>
          </a:xfrm>
        </p:grpSpPr>
        <mc:AlternateContent xmlns:mc="http://schemas.openxmlformats.org/markup-compatibility/2006">
          <mc:Choice xmlns:a14="http://schemas.microsoft.com/office/drawing/2010/main" Requires="a14">
            <p:sp>
              <p:nvSpPr>
                <p:cNvPr id="11" name="圆角矩形 10"/>
                <p:cNvSpPr>
                  <a:spLocks noGrp="1"/>
                </p:cNvSpPr>
                <p:nvPr/>
              </p:nvSpPr>
              <p:spPr>
                <a:xfrm>
                  <a:off x="9970" y="2700"/>
                  <a:ext cx="8571" cy="154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9970" y="2700"/>
                  <a:ext cx="8571" cy="1545"/>
                </a:xfrm>
                <a:prstGeom prst="roundRect">
                  <a:avLst>
                    <a:gd name="adj" fmla="val 15789"/>
                  </a:avLst>
                </a:prstGeom>
                <a:blipFill rotWithShape="1">
                  <a:blip r:embed="rId3"/>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7971" y="3308"/>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gr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lang="zh-CN" sz="1500" b="1" i="0">
                <a:solidFill>
                  <a:srgbClr val="3577B8"/>
                </a:solidFill>
                <a:latin typeface="微软雅黑" panose="020B0503020204020204" charset="-122"/>
                <a:ea typeface="微软雅黑" panose="020B0503020204020204" charset="-122"/>
                <a:cs typeface="微软雅黑" panose="020B0503020204020204" charset="-122"/>
              </a:rPr>
              <a:t>特征</a:t>
            </a: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t>
            </a:r>
            <a:r>
              <a:rPr lang="en-US" sz="1500" b="1" i="0">
                <a:solidFill>
                  <a:srgbClr val="3577B8"/>
                </a:solidFill>
                <a:latin typeface="微软雅黑" panose="020B0503020204020204" charset="-122"/>
                <a:ea typeface="微软雅黑" panose="020B0503020204020204" charset="-122"/>
                <a:cs typeface="微软雅黑" panose="020B0503020204020204" charset="-122"/>
              </a:rPr>
              <a:t>b</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lang="zh-CN" sz="1500" b="1" i="0">
                <a:solidFill>
                  <a:srgbClr val="3577B8"/>
                </a:solidFill>
                <a:latin typeface="微软雅黑" panose="020B0503020204020204" charset="-122"/>
                <a:ea typeface="微软雅黑" panose="020B0503020204020204" charset="-122"/>
                <a:cs typeface="微软雅黑" panose="020B0503020204020204" charset="-122"/>
              </a:rPr>
              <a:t>特征</a:t>
            </a: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lang="zh-CN" sz="1500" b="1" i="0">
                <a:solidFill>
                  <a:srgbClr val="1598A5"/>
                </a:solidFill>
                <a:latin typeface="微软雅黑" panose="020B0503020204020204" charset="-122"/>
                <a:ea typeface="微软雅黑" panose="020B0503020204020204" charset="-122"/>
                <a:cs typeface="微软雅黑" panose="020B0503020204020204" charset="-122"/>
              </a:rPr>
              <a:t>特征</a:t>
            </a: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a:t>
            </a:r>
            <a:r>
              <a:rPr lang="en-US" sz="1500" b="1" i="0">
                <a:solidFill>
                  <a:srgbClr val="1598A5"/>
                </a:solidFill>
                <a:latin typeface="微软雅黑" panose="020B0503020204020204" charset="-122"/>
                <a:ea typeface="微软雅黑" panose="020B0503020204020204" charset="-122"/>
                <a:cs typeface="微软雅黑" panose="020B0503020204020204" charset="-122"/>
              </a:rPr>
              <a:t>d</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lang="zh-CN" sz="1500" b="1" i="0">
                <a:solidFill>
                  <a:srgbClr val="1598A5"/>
                </a:solidFill>
                <a:latin typeface="微软雅黑" panose="020B0503020204020204" charset="-122"/>
                <a:ea typeface="微软雅黑" panose="020B0503020204020204" charset="-122"/>
                <a:cs typeface="微软雅黑" panose="020B0503020204020204" charset="-122"/>
              </a:rPr>
              <a:t>特征</a:t>
            </a: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81950" y="3405505"/>
            <a:ext cx="2857500" cy="514350"/>
          </a:xfrm>
          <a:prstGeom prst="roundRect">
            <a:avLst>
              <a:gd name="adj" fmla="val 16667"/>
            </a:avLst>
          </a:prstGeom>
          <a:solidFill>
            <a:srgbClr val="B5121B"/>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初始客户端级投影层：K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81950" y="4586605"/>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53325" y="5453380"/>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8" name="直接箭头连接符 7"/>
          <p:cNvCxnSpPr>
            <a:stCxn id="29" idx="2"/>
          </p:cNvCxnSpPr>
          <p:nvPr/>
        </p:nvCxnSpPr>
        <p:spPr>
          <a:xfrm>
            <a:off x="9410700" y="3919855"/>
            <a:ext cx="0" cy="666750"/>
          </a:xfrm>
          <a:prstGeom prst="straightConnector1">
            <a:avLst/>
          </a:prstGeom>
          <a:ln w="28575">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35" name="文本框 34"/>
          <p:cNvSpPr txBox="1"/>
          <p:nvPr/>
        </p:nvSpPr>
        <p:spPr>
          <a:xfrm>
            <a:off x="9534525" y="4069080"/>
            <a:ext cx="787400" cy="344805"/>
          </a:xfrm>
          <a:prstGeom prst="rect">
            <a:avLst/>
          </a:prstGeom>
          <a:noFill/>
        </p:spPr>
        <p:txBody>
          <a:bodyPr wrap="square" rtlCol="0">
            <a:spAutoFit/>
          </a:bodyPr>
          <a:p>
            <a:r>
              <a:rPr sz="1650" b="1">
                <a:solidFill>
                  <a:srgbClr val="3577B8"/>
                </a:solidFill>
                <a:latin typeface="微软雅黑" panose="020B0503020204020204" charset="-122"/>
                <a:ea typeface="微软雅黑" panose="020B0503020204020204" charset="-122"/>
                <a:cs typeface="微软雅黑" panose="020B0503020204020204" charset="-122"/>
              </a:rPr>
              <a:t>降低</a:t>
            </a:r>
            <a:endParaRPr lang="zh-CN" altLang="en-US"/>
          </a:p>
        </p:txBody>
      </p:sp>
      <p:sp>
        <p:nvSpPr>
          <p:cNvPr id="39" name="左大括号 38"/>
          <p:cNvSpPr/>
          <p:nvPr/>
        </p:nvSpPr>
        <p:spPr>
          <a:xfrm rot="16200000">
            <a:off x="3651250" y="2912745"/>
            <a:ext cx="412750" cy="6002020"/>
          </a:xfrm>
          <a:prstGeom prst="leftBrace">
            <a:avLst/>
          </a:prstGeom>
          <a:ln w="28575">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40" name="文本框 39"/>
          <p:cNvSpPr txBox="1"/>
          <p:nvPr/>
        </p:nvSpPr>
        <p:spPr>
          <a:xfrm>
            <a:off x="2513965" y="6278880"/>
            <a:ext cx="2630170" cy="368300"/>
          </a:xfrm>
          <a:prstGeom prst="rect">
            <a:avLst/>
          </a:prstGeom>
          <a:noFill/>
        </p:spPr>
        <p:txBody>
          <a:bodyPr wrap="square" rtlCol="0">
            <a:spAutoFit/>
          </a:bodyPr>
          <a:p>
            <a:pPr algn="ctr"/>
            <a:r>
              <a:rPr lang="en-US" altLang="zh-CN"/>
              <a:t>m</a:t>
            </a:r>
            <a:r>
              <a:rPr lang="zh-CN" altLang="en-US"/>
              <a:t>组教师</a:t>
            </a:r>
            <a:r>
              <a:rPr lang="zh-CN" altLang="en-US"/>
              <a:t>知识</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正交</a:t>
            </a:r>
            <a:r>
              <a:rPr lang="zh-CN" sz="2550" b="1" i="0">
                <a:solidFill>
                  <a:srgbClr val="222222"/>
                </a:solidFill>
                <a:latin typeface="微软雅黑" panose="020B0503020204020204" charset="-122"/>
                <a:ea typeface="微软雅黑" panose="020B0503020204020204" charset="-122"/>
                <a:cs typeface="微软雅黑" panose="020B0503020204020204" charset="-122"/>
              </a:rPr>
              <a:t>投影</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8" name="组合 7"/>
          <p:cNvGrpSpPr/>
          <p:nvPr/>
        </p:nvGrpSpPr>
        <p:grpSpPr>
          <a:xfrm>
            <a:off x="1046480" y="4531995"/>
            <a:ext cx="9954260" cy="1187450"/>
            <a:chOff x="1649" y="5607"/>
            <a:chExt cx="15676" cy="1870"/>
          </a:xfrm>
        </p:grpSpPr>
        <mc:AlternateContent xmlns:mc="http://schemas.openxmlformats.org/markup-compatibility/2006">
          <mc:Choice xmlns:a14="http://schemas.microsoft.com/office/drawing/2010/main" Requires="a14">
            <p:sp>
              <p:nvSpPr>
                <p:cNvPr id="10" name="圆角矩形 9"/>
                <p:cNvSpPr>
                  <a:spLocks noGrp="1"/>
                </p:cNvSpPr>
                <p:nvPr/>
              </p:nvSpPr>
              <p:spPr>
                <a:xfrm>
                  <a:off x="1649" y="5607"/>
                  <a:ext cx="15676" cy="187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649" y="5607"/>
                  <a:ext cx="15676" cy="1870"/>
                </a:xfrm>
                <a:prstGeom prst="roundRect">
                  <a:avLst>
                    <a:gd name="adj" fmla="val 12000"/>
                  </a:avLst>
                </a:prstGeom>
                <a:blipFill rotWithShape="1">
                  <a:blip r:embed="rId2"/>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6755" y="6377"/>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p:grpSp>
      <p:grpSp>
        <p:nvGrpSpPr>
          <p:cNvPr id="4" name="组合 3"/>
          <p:cNvGrpSpPr/>
          <p:nvPr/>
        </p:nvGrpSpPr>
        <p:grpSpPr>
          <a:xfrm>
            <a:off x="1047115" y="5913120"/>
            <a:ext cx="9952990" cy="800100"/>
            <a:chOff x="1650" y="7782"/>
            <a:chExt cx="15674" cy="1260"/>
          </a:xfrm>
        </p:grpSpPr>
        <mc:AlternateContent xmlns:mc="http://schemas.openxmlformats.org/markup-compatibility/2006">
          <mc:Choice xmlns:a14="http://schemas.microsoft.com/office/drawing/2010/main" Requires="a14">
            <p:sp>
              <p:nvSpPr>
                <p:cNvPr id="12" name="圆角矩形 11"/>
                <p:cNvSpPr>
                  <a:spLocks noGrp="1"/>
                </p:cNvSpPr>
                <p:nvPr/>
              </p:nvSpPr>
              <p:spPr>
                <a:xfrm>
                  <a:off x="1650" y="7782"/>
                  <a:ext cx="15675" cy="126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650" y="7782"/>
                  <a:ext cx="15675" cy="1260"/>
                </a:xfrm>
                <a:prstGeom prst="roundRect">
                  <a:avLst>
                    <a:gd name="adj" fmla="val 14286"/>
                  </a:avLst>
                </a:prstGeom>
                <a:blipFill rotWithShape="1">
                  <a:blip r:embed="rId3"/>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6693" y="8247"/>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gr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grpSp>
        <p:nvGrpSpPr>
          <p:cNvPr id="16" name="组合 15"/>
          <p:cNvGrpSpPr/>
          <p:nvPr/>
        </p:nvGrpSpPr>
        <p:grpSpPr>
          <a:xfrm>
            <a:off x="1222375" y="3225165"/>
            <a:ext cx="2590800" cy="923925"/>
            <a:chOff x="750" y="5166"/>
            <a:chExt cx="4080" cy="1455"/>
          </a:xfrm>
        </p:grpSpPr>
        <p:sp>
          <p:nvSpPr>
            <p:cNvPr id="28" name="圆角矩形 27"/>
            <p:cNvSpPr>
              <a:spLocks noGrp="1"/>
            </p:cNvSpPr>
            <p:nvPr/>
          </p:nvSpPr>
          <p:spPr>
            <a:xfrm>
              <a:off x="7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8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8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800" y="5751"/>
                  <a:ext cx="3030" cy="870"/>
                </a:xfrm>
                <a:prstGeom prst="rect">
                  <a:avLst/>
                </a:prstGeom>
                <a:blipFill rotWithShape="1">
                  <a:blip r:embed="rId5"/>
                </a:blipFill>
                <a:ln w="0">
                  <a:noFill/>
                  <a:prstDash val="solid"/>
                </a:ln>
              </p:spPr>
              <p:txBody>
                <a:bodyPr/>
                <a:lstStyle/>
                <a:p>
                  <a:r>
                    <a:rPr lang="zh-CN" altLang="en-US">
                      <a:noFill/>
                    </a:rPr>
                    <a:t> </a:t>
                  </a:r>
                </a:p>
              </p:txBody>
            </p:sp>
          </mc:Fallback>
        </mc:AlternateContent>
      </p:grpSp>
      <p:grpSp>
        <p:nvGrpSpPr>
          <p:cNvPr id="17" name="组合 16"/>
          <p:cNvGrpSpPr/>
          <p:nvPr/>
        </p:nvGrpSpPr>
        <p:grpSpPr>
          <a:xfrm>
            <a:off x="3333750" y="3280410"/>
            <a:ext cx="2590800" cy="923925"/>
            <a:chOff x="5250" y="5166"/>
            <a:chExt cx="4080" cy="1455"/>
          </a:xfrm>
        </p:grpSpPr>
        <p:sp>
          <p:nvSpPr>
            <p:cNvPr id="32" name="圆角矩形 31"/>
            <p:cNvSpPr>
              <a:spLocks noGrp="1"/>
            </p:cNvSpPr>
            <p:nvPr/>
          </p:nvSpPr>
          <p:spPr>
            <a:xfrm>
              <a:off x="52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63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63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6300" y="5751"/>
                  <a:ext cx="3030" cy="870"/>
                </a:xfrm>
                <a:prstGeom prst="rect">
                  <a:avLst/>
                </a:prstGeom>
                <a:blipFill rotWithShape="1">
                  <a:blip r:embed="rId6"/>
                </a:blipFill>
                <a:ln w="0">
                  <a:noFill/>
                  <a:prstDash val="solid"/>
                </a:ln>
              </p:spPr>
              <p:txBody>
                <a:bodyPr/>
                <a:lstStyle/>
                <a:p>
                  <a:r>
                    <a:rPr lang="zh-CN" altLang="en-US">
                      <a:noFill/>
                    </a:rPr>
                    <a:t> </a:t>
                  </a:r>
                </a:p>
              </p:txBody>
            </p:sp>
          </mc:Fallback>
        </mc:AlternateContent>
      </p:grpSp>
      <p:grpSp>
        <p:nvGrpSpPr>
          <p:cNvPr id="18" name="组合 17"/>
          <p:cNvGrpSpPr/>
          <p:nvPr/>
        </p:nvGrpSpPr>
        <p:grpSpPr>
          <a:xfrm>
            <a:off x="5445125" y="3225165"/>
            <a:ext cx="2590800" cy="923925"/>
            <a:chOff x="9750" y="5166"/>
            <a:chExt cx="4080" cy="1455"/>
          </a:xfrm>
        </p:grpSpPr>
        <p:sp>
          <p:nvSpPr>
            <p:cNvPr id="35" name="圆角矩形 34"/>
            <p:cNvSpPr>
              <a:spLocks noGrp="1"/>
            </p:cNvSpPr>
            <p:nvPr/>
          </p:nvSpPr>
          <p:spPr>
            <a:xfrm>
              <a:off x="9750" y="5196"/>
              <a:ext cx="870" cy="87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10800" y="5166"/>
              <a:ext cx="2700" cy="51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108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10800" y="5751"/>
                  <a:ext cx="3030" cy="870"/>
                </a:xfrm>
                <a:prstGeom prst="rect">
                  <a:avLst/>
                </a:prstGeom>
                <a:blipFill rotWithShape="1">
                  <a:blip r:embed="rId7"/>
                </a:blipFill>
                <a:ln w="0">
                  <a:noFill/>
                  <a:prstDash val="solid"/>
                </a:ln>
              </p:spPr>
              <p:txBody>
                <a:bodyPr/>
                <a:lstStyle/>
                <a:p>
                  <a:r>
                    <a:rPr lang="zh-CN" altLang="en-US">
                      <a:noFill/>
                    </a:rPr>
                    <a:t> </a:t>
                  </a:r>
                </a:p>
              </p:txBody>
            </p:sp>
          </mc:Fallback>
        </mc:AlternateContent>
      </p:grpSp>
      <p:grpSp>
        <p:nvGrpSpPr>
          <p:cNvPr id="19" name="组合 18"/>
          <p:cNvGrpSpPr/>
          <p:nvPr/>
        </p:nvGrpSpPr>
        <p:grpSpPr>
          <a:xfrm>
            <a:off x="7556500" y="3225165"/>
            <a:ext cx="2590800" cy="923925"/>
            <a:chOff x="14250" y="5166"/>
            <a:chExt cx="4080" cy="1455"/>
          </a:xfrm>
        </p:grpSpPr>
        <p:sp>
          <p:nvSpPr>
            <p:cNvPr id="38" name="圆角矩形 37"/>
            <p:cNvSpPr>
              <a:spLocks noGrp="1"/>
            </p:cNvSpPr>
            <p:nvPr/>
          </p:nvSpPr>
          <p:spPr>
            <a:xfrm>
              <a:off x="142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153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153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15300" y="5751"/>
                  <a:ext cx="3030" cy="870"/>
                </a:xfrm>
                <a:prstGeom prst="rect">
                  <a:avLst/>
                </a:prstGeom>
                <a:blipFill rotWithShape="1">
                  <a:blip r:embed="rId8"/>
                </a:blipFill>
                <a:ln w="0">
                  <a:noFill/>
                  <a:prstDash val="solid"/>
                </a:ln>
              </p:spPr>
              <p:txBody>
                <a:bodyPr/>
                <a:lstStyle/>
                <a:p>
                  <a:r>
                    <a:rPr lang="zh-CN" altLang="en-US">
                      <a:noFill/>
                    </a:rPr>
                    <a:t> </a:t>
                  </a:r>
                </a:p>
              </p:txBody>
            </p:sp>
          </mc:Fallback>
        </mc:AlternateContent>
      </p:grpSp>
      <p:sp>
        <p:nvSpPr>
          <p:cNvPr id="9" name="圆角矩形 8"/>
          <p:cNvSpPr>
            <a:spLocks noGrp="1"/>
          </p:cNvSpPr>
          <p:nvPr>
            <p:custDataLst>
              <p:tags r:id="rId9"/>
            </p:custDataLst>
          </p:nvPr>
        </p:nvSpPr>
        <p:spPr>
          <a:xfrm>
            <a:off x="457200" y="158115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500" b="1" i="0">
                <a:solidFill>
                  <a:srgbClr val="FFFFFF"/>
                </a:solidFill>
                <a:latin typeface="微软雅黑" panose="020B0503020204020204" charset="-122"/>
                <a:ea typeface="微软雅黑" panose="020B0503020204020204" charset="-122"/>
                <a:cs typeface="微软雅黑" panose="020B0503020204020204" charset="-122"/>
              </a:rPr>
              <a:t>正交约束</a:t>
            </a:r>
            <a:endParaRPr lang="zh-CN" altLang="en-US"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文本框 13"/>
          <p:cNvSpPr txBox="1"/>
          <p:nvPr/>
        </p:nvSpPr>
        <p:spPr>
          <a:xfrm>
            <a:off x="2184400" y="1581150"/>
            <a:ext cx="10006965" cy="729615"/>
          </a:xfrm>
          <a:prstGeom prst="rect">
            <a:avLst/>
          </a:prstGeom>
          <a:noFill/>
        </p:spPr>
        <p:txBody>
          <a:bodyPr wrap="square" rtlCol="0">
            <a:noAutofit/>
          </a:bodyPr>
          <a:p>
            <a:r>
              <a:rPr lang="zh-CN" altLang="en-US"/>
              <a:t>通过一定的数学方法，限制投影矩阵的结构，使其行向量或列向量相互正交，从而减少特征之间的冗余、控制变换的尺度，并在一定条件下保持特征的几何结构。</a:t>
            </a:r>
            <a:endParaRPr lang="zh-CN" altLang="en-US"/>
          </a:p>
        </p:txBody>
      </p:sp>
      <p:sp>
        <p:nvSpPr>
          <p:cNvPr id="15" name="圆角矩形 14"/>
          <p:cNvSpPr>
            <a:spLocks noGrp="1"/>
          </p:cNvSpPr>
          <p:nvPr>
            <p:custDataLst>
              <p:tags r:id="rId10"/>
            </p:custDataLst>
          </p:nvPr>
        </p:nvSpPr>
        <p:spPr>
          <a:xfrm>
            <a:off x="457200" y="249428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过程</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4914900"/>
            <a:ext cx="5481320" cy="179070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8E1119"/>
                </a:solidFill>
                <a:latin typeface="微软雅黑" panose="020B0503020204020204" charset="-122"/>
                <a:ea typeface="微软雅黑" panose="020B0503020204020204" charset="-122"/>
                <a:cs typeface="微软雅黑" panose="020B0503020204020204" charset="-122"/>
              </a:rPr>
              <a:t>层次化特征对齐技术对测试准确性的影响相对较小，但能够降低存储成本</a:t>
            </a:r>
            <a:endParaRPr lang="zh-CN" altLang="en-US" sz="1800" b="1" i="0">
              <a:solidFill>
                <a:srgbClr val="8E1119"/>
              </a:solidFill>
              <a:latin typeface="微软雅黑" panose="020B0503020204020204" charset="-122"/>
              <a:ea typeface="微软雅黑" panose="020B0503020204020204" charset="-122"/>
              <a:cs typeface="微软雅黑" panose="020B0503020204020204" charset="-122"/>
            </a:endParaRPr>
          </a:p>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sz="1800" b="1" i="0">
                <a:solidFill>
                  <a:srgbClr val="8E1119"/>
                </a:solidFill>
                <a:latin typeface="微软雅黑" panose="020B0503020204020204" charset="-122"/>
                <a:ea typeface="微软雅黑" panose="020B0503020204020204" charset="-122"/>
                <a:cs typeface="微软雅黑" panose="020B0503020204020204" charset="-122"/>
              </a:rPr>
              <a:t>移除正交投影的</a:t>
            </a:r>
            <a:r>
              <a:rPr lang="zh-CN" sz="1800" b="1" i="0">
                <a:solidFill>
                  <a:srgbClr val="8E1119"/>
                </a:solidFill>
                <a:latin typeface="微软雅黑" panose="020B0503020204020204" charset="-122"/>
                <a:ea typeface="微软雅黑" panose="020B0503020204020204" charset="-122"/>
                <a:cs typeface="微软雅黑" panose="020B0503020204020204" charset="-122"/>
              </a:rPr>
              <a:t>准确度</a:t>
            </a:r>
            <a:r>
              <a:rPr sz="1800" b="1" i="0">
                <a:solidFill>
                  <a:srgbClr val="8E1119"/>
                </a:solidFill>
                <a:latin typeface="微软雅黑" panose="020B0503020204020204" charset="-122"/>
                <a:ea typeface="微软雅黑" panose="020B0503020204020204" charset="-122"/>
                <a:cs typeface="微软雅黑" panose="020B0503020204020204" charset="-122"/>
              </a:rPr>
              <a:t>降幅更大；</a:t>
            </a:r>
            <a:endParaRPr sz="1800" b="1" i="0">
              <a:solidFill>
                <a:srgbClr val="8E1119"/>
              </a:solidFill>
              <a:latin typeface="微软雅黑" panose="020B0503020204020204" charset="-122"/>
              <a:ea typeface="微软雅黑" panose="020B0503020204020204" charset="-122"/>
              <a:cs typeface="微软雅黑" panose="020B0503020204020204" charset="-122"/>
            </a:endParaRPr>
          </a:p>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8E1119"/>
                </a:solidFill>
                <a:latin typeface="微软雅黑" panose="020B0503020204020204" charset="-122"/>
                <a:ea typeface="微软雅黑" panose="020B0503020204020204" charset="-122"/>
                <a:cs typeface="微软雅黑" panose="020B0503020204020204" charset="-122"/>
              </a:rPr>
              <a:t>同时移除这两个组件时，性能会显著下降。</a:t>
            </a:r>
            <a:endParaRPr lang="zh-CN" altLang="en-US" sz="1800" b="1" i="0">
              <a:solidFill>
                <a:srgbClr val="8E1119"/>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endParaRPr sz="18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
        <p:nvSpPr>
          <p:cNvPr id="4" name="文本框 3"/>
          <p:cNvSpPr txBox="1"/>
          <p:nvPr/>
        </p:nvSpPr>
        <p:spPr>
          <a:xfrm>
            <a:off x="6362700" y="5083175"/>
            <a:ext cx="5594350" cy="645160"/>
          </a:xfrm>
          <a:prstGeom prst="rect">
            <a:avLst/>
          </a:prstGeom>
          <a:noFill/>
        </p:spPr>
        <p:txBody>
          <a:bodyPr wrap="square" rtlCol="0">
            <a:spAutoFit/>
          </a:bodyPr>
          <a:p>
            <a:r>
              <a:rPr b="1">
                <a:solidFill>
                  <a:srgbClr val="8E1119"/>
                </a:solidFill>
                <a:latin typeface="微软雅黑" panose="020B0503020204020204" charset="-122"/>
                <a:ea typeface="微软雅黑" panose="020B0503020204020204" charset="-122"/>
                <a:cs typeface="微软雅黑" panose="020B0503020204020204" charset="-122"/>
              </a:rPr>
              <a:t>随着</a:t>
            </a:r>
            <a:r>
              <a:rPr lang="zh-CN" b="1">
                <a:solidFill>
                  <a:srgbClr val="8E1119"/>
                </a:solidFill>
                <a:latin typeface="微软雅黑" panose="020B0503020204020204" charset="-122"/>
                <a:ea typeface="微软雅黑" panose="020B0503020204020204" charset="-122"/>
                <a:cs typeface="微软雅黑" panose="020B0503020204020204" charset="-122"/>
              </a:rPr>
              <a:t>模型</a:t>
            </a:r>
            <a:r>
              <a:rPr b="1">
                <a:solidFill>
                  <a:srgbClr val="8E1119"/>
                </a:solidFill>
                <a:latin typeface="微软雅黑" panose="020B0503020204020204" charset="-122"/>
                <a:ea typeface="微软雅黑" panose="020B0503020204020204" charset="-122"/>
                <a:cs typeface="微软雅黑" panose="020B0503020204020204" charset="-122"/>
              </a:rPr>
              <a:t>异质性程度的增加，所有方法的性能均有所下降</a:t>
            </a:r>
            <a:r>
              <a:rPr lang="zh-CN" b="1">
                <a:solidFill>
                  <a:srgbClr val="8E1119"/>
                </a:solidFill>
                <a:latin typeface="微软雅黑" panose="020B0503020204020204" charset="-122"/>
                <a:ea typeface="微软雅黑" panose="020B0503020204020204" charset="-122"/>
                <a:cs typeface="微软雅黑" panose="020B0503020204020204" charset="-122"/>
              </a:rPr>
              <a:t>；</a:t>
            </a:r>
            <a:r>
              <a:rPr b="1">
                <a:solidFill>
                  <a:srgbClr val="8E1119"/>
                </a:solidFill>
                <a:latin typeface="微软雅黑" panose="020B0503020204020204" charset="-122"/>
                <a:ea typeface="微软雅黑" panose="020B0503020204020204" charset="-122"/>
                <a:cs typeface="微软雅黑" panose="020B0503020204020204" charset="-122"/>
              </a:rPr>
              <a:t>相比之下，FedFD 始终保持着更优的性能。</a:t>
            </a:r>
            <a:endParaRPr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可扩展性</a:t>
            </a:r>
            <a:r>
              <a:rPr lang="zh-CN" sz="2550" b="1" i="0">
                <a:solidFill>
                  <a:srgbClr val="222222"/>
                </a:solidFill>
                <a:latin typeface="微软雅黑" panose="020B0503020204020204" charset="-122"/>
                <a:ea typeface="微软雅黑" panose="020B0503020204020204" charset="-122"/>
                <a:cs typeface="微软雅黑" panose="020B0503020204020204" charset="-122"/>
              </a:rPr>
              <a:t>实验</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8" name="图片 7"/>
          <p:cNvPicPr>
            <a:picLocks noChangeAspect="1"/>
          </p:cNvPicPr>
          <p:nvPr/>
        </p:nvPicPr>
        <p:blipFill>
          <a:blip r:embed="rId3"/>
          <a:stretch>
            <a:fillRect/>
          </a:stretch>
        </p:blipFill>
        <p:spPr>
          <a:xfrm>
            <a:off x="400050" y="2124075"/>
            <a:ext cx="11283950" cy="1872615"/>
          </a:xfrm>
          <a:prstGeom prst="rect">
            <a:avLst/>
          </a:prstGeom>
        </p:spPr>
      </p:pic>
      <p:sp>
        <p:nvSpPr>
          <p:cNvPr id="10" name="文本框 9"/>
          <p:cNvSpPr txBox="1"/>
          <p:nvPr/>
        </p:nvSpPr>
        <p:spPr>
          <a:xfrm>
            <a:off x="374650" y="4562475"/>
            <a:ext cx="5543550" cy="1198880"/>
          </a:xfrm>
          <a:prstGeom prst="rect">
            <a:avLst/>
          </a:prstGeom>
          <a:noFill/>
        </p:spPr>
        <p:txBody>
          <a:bodyPr wrap="square" rtlCol="0">
            <a:spAutoFit/>
          </a:bodyPr>
          <a:p>
            <a:pPr marL="285750" indent="-285750">
              <a:buFont typeface="Arial" panose="020B0604020202020204" pitchFamily="34" charset="0"/>
              <a:buChar char="•"/>
            </a:pPr>
            <a:r>
              <a:rPr lang="zh-CN" altLang="en-US" b="1">
                <a:solidFill>
                  <a:srgbClr val="8E1119"/>
                </a:solidFill>
                <a:latin typeface="微软雅黑" panose="020B0503020204020204" charset="-122"/>
                <a:ea typeface="微软雅黑" panose="020B0503020204020204" charset="-122"/>
                <a:cs typeface="微软雅黑" panose="020B0503020204020204" charset="-122"/>
              </a:rPr>
              <a:t>所有方法在大规模实验中均表现出显著的性能下降，且迫使部分客户端持有的样本数量极少，但 FedFD 的表现仍优于其他基线方法，这证明了其鲁棒性和有效性</a:t>
            </a:r>
            <a:endParaRPr lang="zh-CN" altLang="en-US" b="1">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文本框 11"/>
          <p:cNvSpPr txBox="1"/>
          <p:nvPr/>
        </p:nvSpPr>
        <p:spPr>
          <a:xfrm>
            <a:off x="6369050" y="4581525"/>
            <a:ext cx="5270500" cy="1179830"/>
          </a:xfrm>
          <a:prstGeom prst="rect">
            <a:avLst/>
          </a:prstGeom>
          <a:noFill/>
        </p:spPr>
        <p:txBody>
          <a:bodyPr wrap="square" rtlCol="0">
            <a:noAutofit/>
          </a:bodyPr>
          <a:p>
            <a:pPr marL="285750" indent="-285750">
              <a:buFont typeface="Arial" panose="020B0604020202020204" pitchFamily="34" charset="0"/>
              <a:buChar char="•"/>
            </a:pPr>
            <a:r>
              <a:rPr lang="zh-CN" altLang="en-US" b="1">
                <a:solidFill>
                  <a:srgbClr val="8E1119"/>
                </a:solidFill>
                <a:latin typeface="微软雅黑" panose="020B0503020204020204" charset="-122"/>
                <a:ea typeface="微软雅黑" panose="020B0503020204020204" charset="-122"/>
                <a:cs typeface="微软雅黑" panose="020B0503020204020204" charset="-122"/>
              </a:rPr>
              <a:t>采用两种架构进行了实验，以减轻 HeteroFL 框架可能带来的潜在影响；证明了不依赖于特定的模型架构或参数聚合策略</a:t>
            </a:r>
            <a:endParaRPr lang="zh-CN" altLang="en-US"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提出</a:t>
            </a: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a:t>
            </a:r>
            <a:r>
              <a:rPr lang="zh-CN" sz="1650" b="0" i="0">
                <a:solidFill>
                  <a:srgbClr val="222222"/>
                </a:solidFill>
                <a:latin typeface="微软雅黑" panose="020B0503020204020204" charset="-122"/>
                <a:ea typeface="微软雅黑" panose="020B0503020204020204" charset="-122"/>
                <a:cs typeface="微软雅黑" panose="020B0503020204020204" charset="-122"/>
              </a:rPr>
              <a:t>的方法</a:t>
            </a:r>
            <a:r>
              <a:rPr sz="1650" b="0" i="0">
                <a:solidFill>
                  <a:srgbClr val="222222"/>
                </a:solidFill>
                <a:latin typeface="微软雅黑" panose="020B0503020204020204" charset="-122"/>
                <a:ea typeface="微软雅黑" panose="020B0503020204020204" charset="-122"/>
                <a:cs typeface="微软雅黑" panose="020B0503020204020204" charset="-122"/>
              </a:rPr>
              <a:t>，可</a:t>
            </a:r>
            <a:r>
              <a:rPr lang="zh-CN" sz="1650" b="0" i="0">
                <a:solidFill>
                  <a:srgbClr val="222222"/>
                </a:solidFill>
                <a:latin typeface="微软雅黑" panose="020B0503020204020204" charset="-122"/>
                <a:ea typeface="微软雅黑" panose="020B0503020204020204" charset="-122"/>
                <a:cs typeface="微软雅黑" panose="020B0503020204020204" charset="-122"/>
              </a:rPr>
              <a:t>以较</a:t>
            </a:r>
            <a:r>
              <a:rPr sz="1650" b="0" i="0">
                <a:solidFill>
                  <a:srgbClr val="222222"/>
                </a:solidFill>
                <a:latin typeface="微软雅黑" panose="020B0503020204020204" charset="-122"/>
                <a:ea typeface="微软雅黑" panose="020B0503020204020204" charset="-122"/>
                <a:cs typeface="微软雅黑" panose="020B0503020204020204" charset="-122"/>
              </a:rPr>
              <a:t>稳定</a:t>
            </a:r>
            <a:r>
              <a:rPr lang="zh-CN" sz="1650" b="0" i="0">
                <a:solidFill>
                  <a:srgbClr val="222222"/>
                </a:solidFill>
                <a:latin typeface="微软雅黑" panose="020B0503020204020204" charset="-122"/>
                <a:ea typeface="微软雅黑" panose="020B0503020204020204" charset="-122"/>
                <a:cs typeface="微软雅黑" panose="020B0503020204020204" charset="-122"/>
              </a:rPr>
              <a:t>的</a:t>
            </a:r>
            <a:r>
              <a:rPr sz="1650" b="0" i="0">
                <a:solidFill>
                  <a:srgbClr val="222222"/>
                </a:solidFill>
                <a:latin typeface="微软雅黑" panose="020B0503020204020204" charset="-122"/>
                <a:ea typeface="微软雅黑" panose="020B0503020204020204" charset="-122"/>
                <a:cs typeface="微软雅黑" panose="020B0503020204020204" charset="-122"/>
              </a:rPr>
              <a:t>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可以</a:t>
            </a: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205041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sz="1425" b="0" i="0">
                <a:solidFill>
                  <a:srgbClr val="222222"/>
                </a:solidFill>
                <a:latin typeface="微软雅黑" panose="020B0503020204020204" charset="-122"/>
                <a:ea typeface="微软雅黑" panose="020B0503020204020204" charset="-122"/>
                <a:cs typeface="微软雅黑" panose="020B0503020204020204" charset="-122"/>
              </a:rPr>
              <a:t>等</a:t>
            </a:r>
            <a:r>
              <a:rPr sz="1425" b="0" i="0">
                <a:solidFill>
                  <a:srgbClr val="222222"/>
                </a:solidFill>
                <a:latin typeface="微软雅黑" panose="020B0503020204020204" charset="-122"/>
                <a:ea typeface="微软雅黑" panose="020B0503020204020204" charset="-122"/>
                <a:cs typeface="微软雅黑" panose="020B0503020204020204" charset="-122"/>
              </a:rPr>
              <a:t>；</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其他的正交约束方法是否能够达到这样的效果或者更好的</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效果</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16.75,&quot;left&quot;:57,&quot;top&quot;:223.5,&quot;width&quot;:775.5}"/>
</p:tagLst>
</file>

<file path=ppt/tags/tag52.xml><?xml version="1.0" encoding="utf-8"?>
<p:tagLst xmlns:p="http://schemas.openxmlformats.org/presentationml/2006/main">
  <p:tag name="KSO_WM_DIAGRAM_VIRTUALLY_FRAME" val="{&quot;height&quot;:216.75,&quot;left&quot;:57,&quot;top&quot;:223.5,&quot;width&quot;:775.5}"/>
</p:tagLst>
</file>

<file path=ppt/tags/tag53.xml><?xml version="1.0" encoding="utf-8"?>
<p:tagLst xmlns:p="http://schemas.openxmlformats.org/presentationml/2006/main">
  <p:tag name="KSO_WM_DIAGRAM_VIRTUALLY_FRAME" val="{&quot;height&quot;:216.75,&quot;left&quot;:57,&quot;top&quot;:223.5,&quot;width&quot;:775.5}"/>
</p:tagLst>
</file>

<file path=ppt/tags/tag54.xml><?xml version="1.0" encoding="utf-8"?>
<p:tagLst xmlns:p="http://schemas.openxmlformats.org/presentationml/2006/main">
  <p:tag name="KSO_WM_DIAGRAM_VIRTUALLY_FRAME" val="{&quot;height&quot;:216.75,&quot;left&quot;:57,&quot;top&quot;:223.5,&quot;width&quot;:775.5}"/>
</p:tagLst>
</file>

<file path=ppt/tags/tag55.xml><?xml version="1.0" encoding="utf-8"?>
<p:tagLst xmlns:p="http://schemas.openxmlformats.org/presentationml/2006/main">
  <p:tag name="KSO_WM_DIAGRAM_VIRTUALLY_FRAME" val="{&quot;height&quot;:216.75,&quot;left&quot;:57,&quot;top&quot;:223.5,&quot;width&quot;:775.5}"/>
</p:tagLst>
</file>

<file path=ppt/tags/tag56.xml><?xml version="1.0" encoding="utf-8"?>
<p:tagLst xmlns:p="http://schemas.openxmlformats.org/presentationml/2006/main">
  <p:tag name="KSO_WM_DIAGRAM_VIRTUALLY_FRAME" val="{&quot;height&quot;:216.75,&quot;left&quot;:57,&quot;top&quot;:223.5,&quot;width&quot;:775.5}"/>
</p:tagLst>
</file>

<file path=ppt/tags/tag57.xml><?xml version="1.0" encoding="utf-8"?>
<p:tagLst xmlns:p="http://schemas.openxmlformats.org/presentationml/2006/main">
  <p:tag name="KSO_WM_DIAGRAM_VIRTUALLY_FRAME" val="{&quot;height&quot;:85.5,&quot;left&quot;:69,&quot;top&quot;:165.4,&quot;width&quot;:765}"/>
</p:tagLst>
</file>

<file path=ppt/tags/tag58.xml><?xml version="1.0" encoding="utf-8"?>
<p:tagLst xmlns:p="http://schemas.openxmlformats.org/presentationml/2006/main">
  <p:tag name="KSO_WM_DIAGRAM_VIRTUALLY_FRAME" val="{&quot;height&quot;:85.5,&quot;left&quot;:69,&quot;top&quot;:165.4,&quot;width&quot;:765}"/>
</p:tagLst>
</file>

<file path=ppt/tags/tag59.xml><?xml version="1.0" encoding="utf-8"?>
<p:tagLst xmlns:p="http://schemas.openxmlformats.org/presentationml/2006/main">
  <p:tag name="KSO_WM_DIAGRAM_VIRTUALLY_FRAME" val="{&quot;height&quot;:85.5,&quot;left&quot;:69,&quot;top&quot;:165.4,&quot;width&quot;:765}"/>
</p:tagLst>
</file>

<file path=ppt/tags/tag60.xml><?xml version="1.0" encoding="utf-8"?>
<p:tagLst xmlns:p="http://schemas.openxmlformats.org/presentationml/2006/main">
  <p:tag name="KSO_WM_DIAGRAM_VIRTUALLY_FRAME" val="{&quot;height&quot;:85.5,&quot;left&quot;:69,&quot;top&quot;:165.4,&quot;width&quot;:765}"/>
</p:tagLst>
</file>

<file path=ppt/tags/tag61.xml><?xml version="1.0" encoding="utf-8"?>
<p:tagLst xmlns:p="http://schemas.openxmlformats.org/presentationml/2006/main">
  <p:tag name="KSO_WM_DIAGRAM_VIRTUALLY_FRAME" val="{&quot;height&quot;:216.75,&quot;left&quot;:57,&quot;top&quot;:223.5,&quot;width&quot;:775.5}"/>
</p:tagLst>
</file>

<file path=ppt/tags/tag62.xml><?xml version="1.0" encoding="utf-8"?>
<p:tagLst xmlns:p="http://schemas.openxmlformats.org/presentationml/2006/main">
  <p:tag name="KSO_WM_DIAGRAM_VIRTUALLY_FRAME" val="{&quot;height&quot;:216.75,&quot;left&quot;:57,&quot;top&quot;:223.5,&quot;width&quot;:775.5}"/>
</p:tagLst>
</file>

<file path=ppt/tags/tag63.xml><?xml version="1.0" encoding="utf-8"?>
<p:tagLst xmlns:p="http://schemas.openxmlformats.org/presentationml/2006/main">
  <p:tag name="KSO_WM_DIAGRAM_VIRTUALLY_FRAME" val="{&quot;height&quot;:147,&quot;left&quot;:43.5,&quot;top&quot;:169.5,&quot;width&quot;:874.5}"/>
</p:tagLst>
</file>

<file path=ppt/tags/tag64.xml><?xml version="1.0" encoding="utf-8"?>
<p:tagLst xmlns:p="http://schemas.openxmlformats.org/presentationml/2006/main">
  <p:tag name="KSO_WM_DIAGRAM_VIRTUALLY_FRAME" val="{&quot;height&quot;:153.75,&quot;left&quot;:58.5,&quot;top&quot;:173.25,&quot;width&quot;:805.5}"/>
</p:tagLst>
</file>

<file path=ppt/tags/tag65.xml><?xml version="1.0" encoding="utf-8"?>
<p:tagLst xmlns:p="http://schemas.openxmlformats.org/presentationml/2006/main">
  <p:tag name="KSO_WM_DIAGRAM_VIRTUALLY_FRAME" val="{&quot;height&quot;:153.75,&quot;left&quot;:58.5,&quot;top&quot;:173.25,&quot;width&quot;:805.5}"/>
</p:tagLst>
</file>

<file path=ppt/tags/tag66.xml><?xml version="1.0" encoding="utf-8"?>
<p:tagLst xmlns:p="http://schemas.openxmlformats.org/presentationml/2006/main">
  <p:tag name="KSO_WM_DIAGRAM_VIRTUALLY_FRAME" val="{&quot;height&quot;:153.75,&quot;left&quot;:58.5,&quot;top&quot;:173.25,&quot;width&quot;:805.5}"/>
</p:tagLst>
</file>

<file path=ppt/tags/tag67.xml><?xml version="1.0" encoding="utf-8"?>
<p:tagLst xmlns:p="http://schemas.openxmlformats.org/presentationml/2006/main">
  <p:tag name="KSO_WM_DIAGRAM_VIRTUALLY_FRAME" val="{&quot;height&quot;:153.75,&quot;left&quot;:58.5,&quot;top&quot;:173.25,&quot;width&quot;:805.5}"/>
</p:tagLst>
</file>

<file path=ppt/tags/tag68.xml><?xml version="1.0" encoding="utf-8"?>
<p:tagLst xmlns:p="http://schemas.openxmlformats.org/presentationml/2006/main">
  <p:tag name="KSO_WM_DIAGRAM_VIRTUALLY_FRAME" val="{&quot;height&quot;:153.75,&quot;left&quot;:58.5,&quot;top&quot;:173.25,&quot;width&quot;:805.5}"/>
</p:tagLst>
</file>

<file path=ppt/tags/tag69.xml><?xml version="1.0" encoding="utf-8"?>
<p:tagLst xmlns:p="http://schemas.openxmlformats.org/presentationml/2006/main">
  <p:tag name="KSO_WM_DIAGRAM_VIRTUALLY_FRAME" val="{&quot;height&quot;:153.75,&quot;left&quot;:58.5,&quot;top&quot;:173.25,&quot;width&quot;:805.5}"/>
</p:tagLst>
</file>

<file path=ppt/tags/tag70.xml><?xml version="1.0" encoding="utf-8"?>
<p:tagLst xmlns:p="http://schemas.openxmlformats.org/presentationml/2006/main">
  <p:tag name="KSO_WM_DIAGRAM_VIRTUALLY_FRAME" val="{&quot;height&quot;:153.75,&quot;left&quot;:58.5,&quot;top&quot;:173.25,&quot;width&quot;:805.5}"/>
</p:tagLst>
</file>

<file path=ppt/tags/tag71.xml><?xml version="1.0" encoding="utf-8"?>
<p:tagLst xmlns:p="http://schemas.openxmlformats.org/presentationml/2006/main">
  <p:tag name="KSO_WM_DIAGRAM_VIRTUALLY_FRAME" val="{&quot;height&quot;:153.75,&quot;left&quot;:58.5,&quot;top&quot;:173.25,&quot;width&quot;:805.5}"/>
</p:tagLst>
</file>

<file path=ppt/tags/tag72.xml><?xml version="1.0" encoding="utf-8"?>
<p:tagLst xmlns:p="http://schemas.openxmlformats.org/presentationml/2006/main">
  <p:tag name="KSO_WM_DIAGRAM_VIRTUALLY_FRAME" val="{&quot;height&quot;:153.75,&quot;left&quot;:58.5,&quot;top&quot;:173.25,&quot;width&quot;:805.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4749</Words>
  <Application>WPS 演示</Application>
  <PresentationFormat>Converted Presentation</PresentationFormat>
  <Paragraphs>622</Paragraphs>
  <Slides>24</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24</vt:i4>
      </vt:variant>
    </vt:vector>
  </HeadingPairs>
  <TitlesOfParts>
    <vt:vector size="45" baseType="lpstr">
      <vt:lpstr>Arial</vt:lpstr>
      <vt:lpstr>宋体</vt:lpstr>
      <vt:lpstr>Wingdings</vt:lpstr>
      <vt:lpstr>Arial</vt:lpstr>
      <vt:lpstr>思源黑体 CN Normal</vt:lpstr>
      <vt:lpstr>黑体</vt:lpstr>
      <vt:lpstr>书体坊安景臣钢笔行书</vt:lpstr>
      <vt:lpstr>Courier Code</vt:lpstr>
      <vt:lpstr>思源宋体 CN Heavy</vt:lpstr>
      <vt:lpstr>Alibaba Sans Medium</vt:lpstr>
      <vt:lpstr>Times New Roman</vt:lpstr>
      <vt:lpstr>微软雅黑</vt:lpstr>
      <vt:lpstr>Arial Unicode MS</vt:lpstr>
      <vt:lpstr>Cambria Math</vt:lpstr>
      <vt:lpstr>Cambria Math</vt:lpstr>
      <vt:lpstr>MS Mincho</vt:lpstr>
      <vt:lpstr>Cambria Math</vt:lpstr>
      <vt:lpstr>Wingdings</vt:lpstr>
      <vt:lpstr>楷体</vt:lpstr>
      <vt:lpstr>Calibri</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79</cp:revision>
  <dcterms:created xsi:type="dcterms:W3CDTF">2026-10-18T10:32:00Z</dcterms:created>
  <dcterms:modified xsi:type="dcterms:W3CDTF">2026-10-29T03:22:53Z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2052-12.1.0.23542</vt:lpwstr>
  </property>
</Properties>
</file>