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2"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78" r:id="rId27"/>
    <p:sldId id="283" r:id="rId28"/>
  </p:sldIdLst>
  <p:sldSz cx="12192000" cy="6858000"/>
  <p:notesSz cx="6858000" cy="9144000"/>
  <p:embeddedFontLst>
    <p:embeddedFont>
      <p:font typeface="微软雅黑" panose="020B0503020204020204" charset="-122"/>
      <p:regular r:id="rId32"/>
      <p:bold r:id="rId33"/>
    </p:embeddedFont>
    <p:embeddedFont>
      <p:font typeface="Cambria Math" panose="02040503050406030204"/>
      <p:regular r:id="rId34"/>
    </p:embeddedFont>
    <p:embeddedFont>
      <p:font typeface="楷体" panose="02010609060101010101" charset="-122"/>
      <p:regular r:id="rId35"/>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4.fntdata"/><Relationship Id="rId34" Type="http://schemas.openxmlformats.org/officeDocument/2006/relationships/font" Target="fonts/font3.fntdata"/><Relationship Id="rId33" Type="http://schemas.openxmlformats.org/officeDocument/2006/relationships/font" Target="fonts/font2.fntdata"/><Relationship Id="rId32" Type="http://schemas.openxmlformats.org/officeDocument/2006/relationships/font" Target="fonts/font1.fntdata"/><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这页形成完整的问题链。请按照从左到右的因果关系讲，不要只罗列术语。</a:t>
            </a:r>
          </a:p>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名称：全局加权经验风险最小化。第一行 min_w L(w)=Σₖ(|Dₖ|/|D|)Lₖ(w) 定义整体优化目标，第二行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图中只展示四种代表性方法，完整结果见论文 Table 1。</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【准确率与提升幅度的口径】本页阅读 Table 1 的 Global 行和 α=0.1 列。CIFAR-10：FedFD 82.74%，最强其他方法 DaFKD-hetero 80.07%，差值为 2.67 个百分点。CIFAR-100：FedFD 59.24%，DaFKD-hetero 57.33%，差值为 1.91 个百分点。Tiny-ImageNet：FedFD 29.09%，FedGD 27.53%，差值为 1.56 个百分点。pp 表示 percentage points，即准确率直接相减，不能表述成相对增长百分比。所有提升均基于表中均值，不代表已通过显著性检验。原表中的 ± 项保留原样。来源：论文第 8 页 Table 1。</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作者结论是 FedFD 能提升模型异构联邦学习的准确率和稳定性，并可作为现有聚合框架的附加模块。</a:t>
            </a:r>
          </a:p>
          <a:p>
            <a:r>
              <a:t>我的评价要区分论文声称与实际证据。论文的主要优势是问题、模块和实验基本一一对应。</a:t>
            </a:r>
          </a:p>
          <a:p>
            <a:r>
              <a:t>局限包括实验仅运行两次，缺少服务器端计算成本，使用公共蒸馏数据，任务集中于视觉分类，并且没有新的收敛理论。</a:t>
            </a:r>
          </a:p>
          <a:p>
            <a:r>
              <a:t>未来可以研究无公共数据的特征蒸馏、矩阵指数近似效率，以及更复杂模型架构和真实端侧设备。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第一问检验数据假设：论文需要公共蒸馏数据，数据自由方案会引入新的不稳定性。</a:t>
            </a:r>
          </a:p>
          <a:p>
            <a:r>
              <a:t>第二问检验效率口径：通信轮数减少不代表总训练时间一定减少。</a:t>
            </a:r>
          </a:p>
          <a:p>
            <a:r>
              <a:t>第三问检验外推范围：CNN 图像特征与 Transformer token 特征的对齐难度不同。</a:t>
            </a:r>
          </a:p>
          <a:p>
            <a:r>
              <a:t>这三问都没有唯一答案，适合作为课堂提问和后续研究方向。</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6" Type="http://schemas.openxmlformats.org/officeDocument/2006/relationships/notesSlide" Target="../notesSlides/notesSlide2.xml"/><Relationship Id="rId15" Type="http://schemas.openxmlformats.org/officeDocument/2006/relationships/slideLayout" Target="../slideLayouts/slideLayout7.xml"/><Relationship Id="rId14" Type="http://schemas.openxmlformats.org/officeDocument/2006/relationships/image" Target="../media/image5.png"/><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30.xml"/><Relationship Id="rId13" Type="http://schemas.openxmlformats.org/officeDocument/2006/relationships/tags" Target="../tags/tag29.xml"/><Relationship Id="rId12" Type="http://schemas.openxmlformats.org/officeDocument/2006/relationships/tags" Target="../tags/tag28.xml"/><Relationship Id="rId11" Type="http://schemas.openxmlformats.org/officeDocument/2006/relationships/tags" Target="../tags/tag27.xml"/><Relationship Id="rId10" Type="http://schemas.openxmlformats.org/officeDocument/2006/relationships/tags" Target="../tags/tag26.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38.xml"/><Relationship Id="rId8" Type="http://schemas.openxmlformats.org/officeDocument/2006/relationships/tags" Target="../tags/tag37.xml"/><Relationship Id="rId7" Type="http://schemas.openxmlformats.org/officeDocument/2006/relationships/tags" Target="../tags/tag36.xml"/><Relationship Id="rId6" Type="http://schemas.openxmlformats.org/officeDocument/2006/relationships/tags" Target="../tags/tag35.xml"/><Relationship Id="rId5" Type="http://schemas.openxmlformats.org/officeDocument/2006/relationships/tags" Target="../tags/tag34.xml"/><Relationship Id="rId4" Type="http://schemas.openxmlformats.org/officeDocument/2006/relationships/tags" Target="../tags/tag33.xml"/><Relationship Id="rId3" Type="http://schemas.openxmlformats.org/officeDocument/2006/relationships/tags" Target="../tags/tag32.xml"/><Relationship Id="rId2" Type="http://schemas.openxmlformats.org/officeDocument/2006/relationships/tags" Target="../tags/tag31.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45.xml"/><Relationship Id="rId15" Type="http://schemas.openxmlformats.org/officeDocument/2006/relationships/tags" Target="../tags/tag44.xml"/><Relationship Id="rId14" Type="http://schemas.openxmlformats.org/officeDocument/2006/relationships/tags" Target="../tags/tag43.xml"/><Relationship Id="rId13" Type="http://schemas.openxmlformats.org/officeDocument/2006/relationships/tags" Target="../tags/tag42.xml"/><Relationship Id="rId12" Type="http://schemas.openxmlformats.org/officeDocument/2006/relationships/tags" Target="../tags/tag41.xml"/><Relationship Id="rId11" Type="http://schemas.openxmlformats.org/officeDocument/2006/relationships/tags" Target="../tags/tag40.xml"/><Relationship Id="rId10" Type="http://schemas.openxmlformats.org/officeDocument/2006/relationships/tags" Target="../tags/tag39.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image" Target="../media/image5.png"/><Relationship Id="rId8" Type="http://schemas.openxmlformats.org/officeDocument/2006/relationships/image" Target="../media/image21.png"/><Relationship Id="rId7" Type="http://schemas.openxmlformats.org/officeDocument/2006/relationships/image" Target="../media/image20.png"/><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1" Type="http://schemas.openxmlformats.org/officeDocument/2006/relationships/notesSlide" Target="../notesSlides/notesSlide16.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notesSlide" Target="../notesSlides/notesSlide17.xml"/><Relationship Id="rId8" Type="http://schemas.openxmlformats.org/officeDocument/2006/relationships/slideLayout" Target="../slideLayouts/slideLayout7.xml"/><Relationship Id="rId7" Type="http://schemas.openxmlformats.org/officeDocument/2006/relationships/image" Target="../media/image5.png"/><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 Type="http://schemas.openxmlformats.org/officeDocument/2006/relationships/tags" Target="../tags/tag46.xml"/><Relationship Id="rId14" Type="http://schemas.openxmlformats.org/officeDocument/2006/relationships/notesSlide" Target="../notesSlides/notesSlide20.xml"/><Relationship Id="rId13" Type="http://schemas.openxmlformats.org/officeDocument/2006/relationships/slideLayout" Target="../slideLayouts/slideLayout7.xml"/><Relationship Id="rId12" Type="http://schemas.openxmlformats.org/officeDocument/2006/relationships/image" Target="../media/image27.png"/><Relationship Id="rId11" Type="http://schemas.openxmlformats.org/officeDocument/2006/relationships/image" Target="../media/image5.png"/><Relationship Id="rId10" Type="http://schemas.openxmlformats.org/officeDocument/2006/relationships/tags" Target="../tags/tag54.xml"/><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9.png"/><Relationship Id="rId3" Type="http://schemas.openxmlformats.org/officeDocument/2006/relationships/image" Target="../media/image5.png"/><Relationship Id="rId2" Type="http://schemas.openxmlformats.org/officeDocument/2006/relationships/image" Target="../media/image28.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5.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193357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1809750" y="231457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联邦学习基础、模型异构与蒸馏问题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5"/>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6"/>
            </p:custDataLst>
          </p:nvPr>
        </p:nvSpPr>
        <p:spPr>
          <a:xfrm>
            <a:off x="1809750" y="29146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1809750" y="329565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分层特征对齐与正交投影</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8"/>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9"/>
            </p:custDataLst>
          </p:nvPr>
        </p:nvSpPr>
        <p:spPr>
          <a:xfrm>
            <a:off x="1809750" y="38957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0"/>
            </p:custDataLst>
          </p:nvPr>
        </p:nvSpPr>
        <p:spPr>
          <a:xfrm>
            <a:off x="1809750" y="427672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准确率、收敛效率与消融实验</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11"/>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12"/>
            </p:custDataLst>
          </p:nvPr>
        </p:nvSpPr>
        <p:spPr>
          <a:xfrm>
            <a:off x="1809750" y="48768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13"/>
            </p:custDataLst>
          </p:nvPr>
        </p:nvSpPr>
        <p:spPr>
          <a:xfrm>
            <a:off x="1809750" y="525780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贡献、局限和可继续研究的问题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传统机器学习：集中式训练及</a:t>
            </a:r>
            <a:r>
              <a:rPr lang="zh-CN" sz="2550" b="1" i="0">
                <a:solidFill>
                  <a:srgbClr val="222222"/>
                </a:solidFill>
                <a:latin typeface="微软雅黑" panose="020B0503020204020204" charset="-122"/>
                <a:ea typeface="微软雅黑" panose="020B0503020204020204" charset="-122"/>
                <a:cs typeface="微软雅黑" panose="020B0503020204020204" charset="-122"/>
              </a:rPr>
              <a:t>其</a:t>
            </a:r>
            <a:r>
              <a:rPr sz="2550" b="1" i="0">
                <a:solidFill>
                  <a:srgbClr val="222222"/>
                </a:solidFill>
                <a:latin typeface="微软雅黑" panose="020B0503020204020204" charset="-122"/>
                <a:ea typeface="微软雅黑" panose="020B0503020204020204" charset="-122"/>
                <a:cs typeface="微软雅黑" panose="020B0503020204020204" charset="-122"/>
              </a:rPr>
              <a:t>局限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以常见的集中式监督学习为例：将分散数据汇集到服务器，再统一训练模型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235585" y="1905000"/>
            <a:ext cx="10668000" cy="438150"/>
          </a:xfrm>
          <a:prstGeom prst="rect">
            <a:avLst/>
          </a:prstGeom>
          <a:noFill/>
          <a:ln w="0">
            <a:noFill/>
          </a:ln>
        </p:spPr>
        <p:txBody>
          <a:bodyPr anchor="ctr"/>
          <a:lstStyle>
            <a:defPPr>
              <a:defRPr sz="1875" b="1">
                <a:solidFill>
                  <a:srgbClr val="A7101D"/>
                </a:solidFill>
                <a:latin typeface="微软雅黑" panose="020B0503020204020204" charset="-122"/>
                <a:ea typeface="微软雅黑" panose="020B0503020204020204" charset="-122"/>
                <a:cs typeface="微软雅黑" panose="020B0503020204020204" charset="-122"/>
              </a:defRPr>
            </a:defPPr>
            <a:lvl1pPr>
              <a:defRPr sz="1875" b="1">
                <a:solidFill>
                  <a:srgbClr val="A7101D"/>
                </a:solidFill>
                <a:latin typeface="微软雅黑" panose="020B0503020204020204" charset="-122"/>
                <a:ea typeface="微软雅黑" panose="020B0503020204020204" charset="-122"/>
                <a:cs typeface="微软雅黑" panose="020B0503020204020204" charset="-122"/>
              </a:defRPr>
            </a:lvl1pPr>
            <a:lvl2pPr>
              <a:defRPr sz="1875" b="1">
                <a:solidFill>
                  <a:srgbClr val="A7101D"/>
                </a:solidFill>
                <a:latin typeface="微软雅黑" panose="020B0503020204020204" charset="-122"/>
                <a:ea typeface="微软雅黑" panose="020B0503020204020204" charset="-122"/>
                <a:cs typeface="微软雅黑" panose="020B0503020204020204" charset="-122"/>
              </a:defRPr>
            </a:lvl2pPr>
            <a:lvl3pPr>
              <a:defRPr sz="1875" b="1">
                <a:solidFill>
                  <a:srgbClr val="A7101D"/>
                </a:solidFill>
                <a:latin typeface="微软雅黑" panose="020B0503020204020204" charset="-122"/>
                <a:ea typeface="微软雅黑" panose="020B0503020204020204" charset="-122"/>
                <a:cs typeface="微软雅黑" panose="020B0503020204020204" charset="-122"/>
              </a:defRPr>
            </a:lvl3pPr>
            <a:lvl4pPr>
              <a:defRPr sz="1875" b="1">
                <a:solidFill>
                  <a:srgbClr val="A7101D"/>
                </a:solidFill>
                <a:latin typeface="微软雅黑" panose="020B0503020204020204" charset="-122"/>
                <a:ea typeface="微软雅黑" panose="020B0503020204020204" charset="-122"/>
                <a:cs typeface="微软雅黑" panose="020B0503020204020204" charset="-122"/>
              </a:defRPr>
            </a:lvl4pPr>
            <a:lvl5pPr>
              <a:defRPr sz="1875" b="1">
                <a:solidFill>
                  <a:srgbClr val="A7101D"/>
                </a:solidFill>
                <a:latin typeface="微软雅黑" panose="020B0503020204020204" charset="-122"/>
                <a:ea typeface="微软雅黑" panose="020B0503020204020204" charset="-122"/>
                <a:cs typeface="微软雅黑" panose="020B0503020204020204" charset="-122"/>
              </a:defRPr>
            </a:lvl5pPr>
            <a:lvl6pPr>
              <a:defRPr sz="1875" b="1">
                <a:solidFill>
                  <a:srgbClr val="A7101D"/>
                </a:solidFill>
                <a:latin typeface="微软雅黑" panose="020B0503020204020204" charset="-122"/>
                <a:ea typeface="微软雅黑" panose="020B0503020204020204" charset="-122"/>
                <a:cs typeface="微软雅黑" panose="020B0503020204020204" charset="-122"/>
              </a:defRPr>
            </a:lvl6pPr>
            <a:lvl7pPr>
              <a:defRPr sz="1875" b="1">
                <a:solidFill>
                  <a:srgbClr val="A7101D"/>
                </a:solidFill>
                <a:latin typeface="微软雅黑" panose="020B0503020204020204" charset="-122"/>
                <a:ea typeface="微软雅黑" panose="020B0503020204020204" charset="-122"/>
                <a:cs typeface="微软雅黑" panose="020B0503020204020204" charset="-122"/>
              </a:defRPr>
            </a:lvl7pPr>
            <a:lvl8pPr>
              <a:defRPr sz="1875" b="1">
                <a:solidFill>
                  <a:srgbClr val="A7101D"/>
                </a:solidFill>
                <a:latin typeface="微软雅黑" panose="020B0503020204020204" charset="-122"/>
                <a:ea typeface="微软雅黑" panose="020B0503020204020204" charset="-122"/>
                <a:cs typeface="微软雅黑" panose="020B0503020204020204" charset="-122"/>
              </a:defRPr>
            </a:lvl8pPr>
            <a:lvl9pPr>
              <a:defRPr sz="1875"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875" b="1">
                <a:solidFill>
                  <a:srgbClr val="A7101D"/>
                </a:solidFill>
                <a:latin typeface="微软雅黑" panose="020B0503020204020204" charset="-122"/>
                <a:ea typeface="微软雅黑" panose="020B0503020204020204" charset="-122"/>
                <a:cs typeface="微软雅黑" panose="020B0503020204020204" charset="-122"/>
              </a:defRPr>
            </a:pPr>
            <a:r>
              <a:rPr sz="1875" b="1">
                <a:solidFill>
                  <a:srgbClr val="A7101D"/>
                </a:solidFill>
                <a:latin typeface="微软雅黑" panose="020B0503020204020204" charset="-122"/>
                <a:ea typeface="微软雅黑" panose="020B0503020204020204" charset="-122"/>
                <a:cs typeface="微软雅黑" panose="020B0503020204020204" charset="-122"/>
              </a:rPr>
              <a:t>模型从带标签的历史样本中学习规律，再对新样本进行预测。</a:t>
            </a:r>
            <a:endParaRPr sz="1875"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process"/>
          <p:cNvSpPr>
            <a:spLocks noGrp="1"/>
          </p:cNvSpPr>
          <p:nvPr/>
        </p:nvSpPr>
        <p:spPr>
          <a:xfrm>
            <a:off x="235585" y="250507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254000" y="321024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72665" y="321056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212725" y="442896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72931" y="442896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212725" y="554798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72931" y="539812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联邦学习：数据留在本地的协同训练</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多个客户端共同学习模型，服务器协调训练并聚合更新</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联邦学习的出发点：原始数据留在本地，通过交换模型更新开展协作训练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数据分布、设备资源和模型结构的差异，会带来不同层面的困难</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challenge-0"/>
          <p:cNvSpPr>
            <a:spLocks noGrp="1"/>
          </p:cNvSpPr>
          <p:nvPr/>
        </p:nvSpPr>
        <p:spPr>
          <a:xfrm>
            <a:off x="762000" y="2047875"/>
            <a:ext cx="2714625" cy="400050"/>
          </a:xfrm>
          <a:prstGeom prst="rect">
            <a:avLst/>
          </a:prstGeom>
          <a:noFill/>
          <a:ln w="0">
            <a:noFill/>
          </a:ln>
        </p:spPr>
        <p:txBody>
          <a:bodyPr anchor="ctr"/>
          <a:lstStyle>
            <a:defPPr>
              <a:defRPr sz="2025" b="1">
                <a:solidFill>
                  <a:srgbClr val="2F75B5"/>
                </a:solidFill>
                <a:latin typeface="微软雅黑" panose="020B0503020204020204" charset="-122"/>
                <a:ea typeface="微软雅黑" panose="020B0503020204020204" charset="-122"/>
                <a:cs typeface="微软雅黑" panose="020B0503020204020204" charset="-122"/>
              </a:defRPr>
            </a:defPPr>
            <a:lvl1pPr>
              <a:defRPr sz="2025" b="1">
                <a:solidFill>
                  <a:srgbClr val="2F75B5"/>
                </a:solidFill>
                <a:latin typeface="微软雅黑" panose="020B0503020204020204" charset="-122"/>
                <a:ea typeface="微软雅黑" panose="020B0503020204020204" charset="-122"/>
                <a:cs typeface="微软雅黑" panose="020B0503020204020204" charset="-122"/>
              </a:defRPr>
            </a:lvl1pPr>
            <a:lvl2pPr>
              <a:defRPr sz="2025" b="1">
                <a:solidFill>
                  <a:srgbClr val="2F75B5"/>
                </a:solidFill>
                <a:latin typeface="微软雅黑" panose="020B0503020204020204" charset="-122"/>
                <a:ea typeface="微软雅黑" panose="020B0503020204020204" charset="-122"/>
                <a:cs typeface="微软雅黑" panose="020B0503020204020204" charset="-122"/>
              </a:defRPr>
            </a:lvl2pPr>
            <a:lvl3pPr>
              <a:defRPr sz="2025" b="1">
                <a:solidFill>
                  <a:srgbClr val="2F75B5"/>
                </a:solidFill>
                <a:latin typeface="微软雅黑" panose="020B0503020204020204" charset="-122"/>
                <a:ea typeface="微软雅黑" panose="020B0503020204020204" charset="-122"/>
                <a:cs typeface="微软雅黑" panose="020B0503020204020204" charset="-122"/>
              </a:defRPr>
            </a:lvl3pPr>
            <a:lvl4pPr>
              <a:defRPr sz="2025" b="1">
                <a:solidFill>
                  <a:srgbClr val="2F75B5"/>
                </a:solidFill>
                <a:latin typeface="微软雅黑" panose="020B0503020204020204" charset="-122"/>
                <a:ea typeface="微软雅黑" panose="020B0503020204020204" charset="-122"/>
                <a:cs typeface="微软雅黑" panose="020B0503020204020204" charset="-122"/>
              </a:defRPr>
            </a:lvl4pPr>
            <a:lvl5pPr>
              <a:defRPr sz="2025" b="1">
                <a:solidFill>
                  <a:srgbClr val="2F75B5"/>
                </a:solidFill>
                <a:latin typeface="微软雅黑" panose="020B0503020204020204" charset="-122"/>
                <a:ea typeface="微软雅黑" panose="020B0503020204020204" charset="-122"/>
                <a:cs typeface="微软雅黑" panose="020B0503020204020204" charset="-122"/>
              </a:defRPr>
            </a:lvl5pPr>
            <a:lvl6pPr>
              <a:defRPr sz="2025" b="1">
                <a:solidFill>
                  <a:srgbClr val="2F75B5"/>
                </a:solidFill>
                <a:latin typeface="微软雅黑" panose="020B0503020204020204" charset="-122"/>
                <a:ea typeface="微软雅黑" panose="020B0503020204020204" charset="-122"/>
                <a:cs typeface="微软雅黑" panose="020B0503020204020204" charset="-122"/>
              </a:defRPr>
            </a:lvl6pPr>
            <a:lvl7pPr>
              <a:defRPr sz="2025" b="1">
                <a:solidFill>
                  <a:srgbClr val="2F75B5"/>
                </a:solidFill>
                <a:latin typeface="微软雅黑" panose="020B0503020204020204" charset="-122"/>
                <a:ea typeface="微软雅黑" panose="020B0503020204020204" charset="-122"/>
                <a:cs typeface="微软雅黑" panose="020B0503020204020204" charset="-122"/>
              </a:defRPr>
            </a:lvl7pPr>
            <a:lvl8pPr>
              <a:defRPr sz="2025" b="1">
                <a:solidFill>
                  <a:srgbClr val="2F75B5"/>
                </a:solidFill>
                <a:latin typeface="微软雅黑" panose="020B0503020204020204" charset="-122"/>
                <a:ea typeface="微软雅黑" panose="020B0503020204020204" charset="-122"/>
                <a:cs typeface="微软雅黑" panose="020B0503020204020204" charset="-122"/>
              </a:defRPr>
            </a:lvl8pPr>
            <a:lvl9pPr>
              <a:defRPr sz="20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2025" b="1">
                <a:solidFill>
                  <a:srgbClr val="2F75B5"/>
                </a:solidFill>
                <a:latin typeface="微软雅黑" panose="020B0503020204020204" charset="-122"/>
                <a:ea typeface="微软雅黑" panose="020B0503020204020204" charset="-122"/>
                <a:cs typeface="微软雅黑" panose="020B0503020204020204" charset="-122"/>
              </a:defRPr>
            </a:pPr>
            <a:r>
              <a:rPr sz="2025" b="1">
                <a:solidFill>
                  <a:srgbClr val="2F75B5"/>
                </a:solidFill>
                <a:latin typeface="微软雅黑" panose="020B0503020204020204" charset="-122"/>
                <a:ea typeface="微软雅黑" panose="020B0503020204020204" charset="-122"/>
                <a:cs typeface="微软雅黑" panose="020B0503020204020204" charset="-122"/>
              </a:rPr>
              <a:t>数据异构</a:t>
            </a:r>
            <a:endParaRPr sz="20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3" name="what-0"/>
          <p:cNvSpPr>
            <a:spLocks noGrp="1"/>
          </p:cNvSpPr>
          <p:nvPr/>
        </p:nvSpPr>
        <p:spPr>
          <a:xfrm>
            <a:off x="3524250" y="2047875"/>
            <a:ext cx="7810500" cy="400050"/>
          </a:xfrm>
          <a:prstGeom prst="rect">
            <a:avLst/>
          </a:prstGeom>
          <a:noFill/>
          <a:ln w="0">
            <a:noFill/>
          </a:ln>
        </p:spPr>
        <p:txBody>
          <a:bodyPr anchor="ctr"/>
          <a:lstStyle>
            <a:defPPr>
              <a:defRPr sz="1725" b="1">
                <a:solidFill>
                  <a:srgbClr val="333333"/>
                </a:solidFill>
                <a:latin typeface="微软雅黑" panose="020B0503020204020204" charset="-122"/>
                <a:ea typeface="微软雅黑" panose="020B0503020204020204" charset="-122"/>
                <a:cs typeface="微软雅黑" panose="020B0503020204020204" charset="-122"/>
              </a:defRPr>
            </a:defPPr>
            <a:lvl1pPr>
              <a:defRPr sz="1725" b="1">
                <a:solidFill>
                  <a:srgbClr val="333333"/>
                </a:solidFill>
                <a:latin typeface="微软雅黑" panose="020B0503020204020204" charset="-122"/>
                <a:ea typeface="微软雅黑" panose="020B0503020204020204" charset="-122"/>
                <a:cs typeface="微软雅黑" panose="020B0503020204020204" charset="-122"/>
              </a:defRPr>
            </a:lvl1pPr>
            <a:lvl2pPr>
              <a:defRPr sz="1725" b="1">
                <a:solidFill>
                  <a:srgbClr val="333333"/>
                </a:solidFill>
                <a:latin typeface="微软雅黑" panose="020B0503020204020204" charset="-122"/>
                <a:ea typeface="微软雅黑" panose="020B0503020204020204" charset="-122"/>
                <a:cs typeface="微软雅黑" panose="020B0503020204020204" charset="-122"/>
              </a:defRPr>
            </a:lvl2pPr>
            <a:lvl3pPr>
              <a:defRPr sz="1725" b="1">
                <a:solidFill>
                  <a:srgbClr val="333333"/>
                </a:solidFill>
                <a:latin typeface="微软雅黑" panose="020B0503020204020204" charset="-122"/>
                <a:ea typeface="微软雅黑" panose="020B0503020204020204" charset="-122"/>
                <a:cs typeface="微软雅黑" panose="020B0503020204020204" charset="-122"/>
              </a:defRPr>
            </a:lvl3pPr>
            <a:lvl4pPr>
              <a:defRPr sz="1725" b="1">
                <a:solidFill>
                  <a:srgbClr val="333333"/>
                </a:solidFill>
                <a:latin typeface="微软雅黑" panose="020B0503020204020204" charset="-122"/>
                <a:ea typeface="微软雅黑" panose="020B0503020204020204" charset="-122"/>
                <a:cs typeface="微软雅黑" panose="020B0503020204020204" charset="-122"/>
              </a:defRPr>
            </a:lvl4pPr>
            <a:lvl5pPr>
              <a:defRPr sz="1725" b="1">
                <a:solidFill>
                  <a:srgbClr val="333333"/>
                </a:solidFill>
                <a:latin typeface="微软雅黑" panose="020B0503020204020204" charset="-122"/>
                <a:ea typeface="微软雅黑" panose="020B0503020204020204" charset="-122"/>
                <a:cs typeface="微软雅黑" panose="020B0503020204020204" charset="-122"/>
              </a:defRPr>
            </a:lvl5pPr>
            <a:lvl6pPr>
              <a:defRPr sz="1725" b="1">
                <a:solidFill>
                  <a:srgbClr val="333333"/>
                </a:solidFill>
                <a:latin typeface="微软雅黑" panose="020B0503020204020204" charset="-122"/>
                <a:ea typeface="微软雅黑" panose="020B0503020204020204" charset="-122"/>
                <a:cs typeface="微软雅黑" panose="020B0503020204020204" charset="-122"/>
              </a:defRPr>
            </a:lvl6pPr>
            <a:lvl7pPr>
              <a:defRPr sz="1725" b="1">
                <a:solidFill>
                  <a:srgbClr val="333333"/>
                </a:solidFill>
                <a:latin typeface="微软雅黑" panose="020B0503020204020204" charset="-122"/>
                <a:ea typeface="微软雅黑" panose="020B0503020204020204" charset="-122"/>
                <a:cs typeface="微软雅黑" panose="020B0503020204020204" charset="-122"/>
              </a:defRPr>
            </a:lvl7pPr>
            <a:lvl8pPr>
              <a:defRPr sz="1725" b="1">
                <a:solidFill>
                  <a:srgbClr val="333333"/>
                </a:solidFill>
                <a:latin typeface="微软雅黑" panose="020B0503020204020204" charset="-122"/>
                <a:ea typeface="微软雅黑" panose="020B0503020204020204" charset="-122"/>
                <a:cs typeface="微软雅黑" panose="020B0503020204020204" charset="-122"/>
              </a:defRPr>
            </a:lvl8pPr>
            <a:lvl9pPr>
              <a:defRPr sz="1725" b="1">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333333"/>
                </a:solidFill>
                <a:latin typeface="微软雅黑" panose="020B0503020204020204" charset="-122"/>
                <a:ea typeface="微软雅黑" panose="020B0503020204020204" charset="-122"/>
                <a:cs typeface="微软雅黑" panose="020B0503020204020204" charset="-122"/>
              </a:defRPr>
            </a:pPr>
            <a:r>
              <a:rPr sz="1725" b="1">
                <a:solidFill>
                  <a:srgbClr val="333333"/>
                </a:solidFill>
                <a:latin typeface="微软雅黑" panose="020B0503020204020204" charset="-122"/>
                <a:ea typeface="微软雅黑" panose="020B0503020204020204" charset="-122"/>
                <a:cs typeface="微软雅黑" panose="020B0503020204020204" charset="-122"/>
              </a:rPr>
              <a:t>不同客户端的标签比例和样本分布不同（Non-IID）</a:t>
            </a:r>
            <a:endParaRPr sz="1725" b="1">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4" name="effect-0"/>
          <p:cNvSpPr>
            <a:spLocks noGrp="1"/>
          </p:cNvSpPr>
          <p:nvPr/>
        </p:nvSpPr>
        <p:spPr>
          <a:xfrm>
            <a:off x="3524250" y="2495550"/>
            <a:ext cx="78105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本地优化方向不一致，可能影响收敛速度和全局准确率</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5" name="challenge-1"/>
          <p:cNvSpPr>
            <a:spLocks noGrp="1"/>
          </p:cNvSpPr>
          <p:nvPr/>
        </p:nvSpPr>
        <p:spPr>
          <a:xfrm>
            <a:off x="762000" y="3238500"/>
            <a:ext cx="2714625" cy="400050"/>
          </a:xfrm>
          <a:prstGeom prst="rect">
            <a:avLst/>
          </a:prstGeom>
          <a:noFill/>
          <a:ln w="0">
            <a:noFill/>
          </a:ln>
        </p:spPr>
        <p:txBody>
          <a:bodyPr anchor="ctr"/>
          <a:lstStyle>
            <a:defPPr>
              <a:defRPr sz="2025" b="1">
                <a:solidFill>
                  <a:srgbClr val="2F75B5"/>
                </a:solidFill>
                <a:latin typeface="微软雅黑" panose="020B0503020204020204" charset="-122"/>
                <a:ea typeface="微软雅黑" panose="020B0503020204020204" charset="-122"/>
                <a:cs typeface="微软雅黑" panose="020B0503020204020204" charset="-122"/>
              </a:defRPr>
            </a:defPPr>
            <a:lvl1pPr>
              <a:defRPr sz="2025" b="1">
                <a:solidFill>
                  <a:srgbClr val="2F75B5"/>
                </a:solidFill>
                <a:latin typeface="微软雅黑" panose="020B0503020204020204" charset="-122"/>
                <a:ea typeface="微软雅黑" panose="020B0503020204020204" charset="-122"/>
                <a:cs typeface="微软雅黑" panose="020B0503020204020204" charset="-122"/>
              </a:defRPr>
            </a:lvl1pPr>
            <a:lvl2pPr>
              <a:defRPr sz="2025" b="1">
                <a:solidFill>
                  <a:srgbClr val="2F75B5"/>
                </a:solidFill>
                <a:latin typeface="微软雅黑" panose="020B0503020204020204" charset="-122"/>
                <a:ea typeface="微软雅黑" panose="020B0503020204020204" charset="-122"/>
                <a:cs typeface="微软雅黑" panose="020B0503020204020204" charset="-122"/>
              </a:defRPr>
            </a:lvl2pPr>
            <a:lvl3pPr>
              <a:defRPr sz="2025" b="1">
                <a:solidFill>
                  <a:srgbClr val="2F75B5"/>
                </a:solidFill>
                <a:latin typeface="微软雅黑" panose="020B0503020204020204" charset="-122"/>
                <a:ea typeface="微软雅黑" panose="020B0503020204020204" charset="-122"/>
                <a:cs typeface="微软雅黑" panose="020B0503020204020204" charset="-122"/>
              </a:defRPr>
            </a:lvl3pPr>
            <a:lvl4pPr>
              <a:defRPr sz="2025" b="1">
                <a:solidFill>
                  <a:srgbClr val="2F75B5"/>
                </a:solidFill>
                <a:latin typeface="微软雅黑" panose="020B0503020204020204" charset="-122"/>
                <a:ea typeface="微软雅黑" panose="020B0503020204020204" charset="-122"/>
                <a:cs typeface="微软雅黑" panose="020B0503020204020204" charset="-122"/>
              </a:defRPr>
            </a:lvl4pPr>
            <a:lvl5pPr>
              <a:defRPr sz="2025" b="1">
                <a:solidFill>
                  <a:srgbClr val="2F75B5"/>
                </a:solidFill>
                <a:latin typeface="微软雅黑" panose="020B0503020204020204" charset="-122"/>
                <a:ea typeface="微软雅黑" panose="020B0503020204020204" charset="-122"/>
                <a:cs typeface="微软雅黑" panose="020B0503020204020204" charset="-122"/>
              </a:defRPr>
            </a:lvl5pPr>
            <a:lvl6pPr>
              <a:defRPr sz="2025" b="1">
                <a:solidFill>
                  <a:srgbClr val="2F75B5"/>
                </a:solidFill>
                <a:latin typeface="微软雅黑" panose="020B0503020204020204" charset="-122"/>
                <a:ea typeface="微软雅黑" panose="020B0503020204020204" charset="-122"/>
                <a:cs typeface="微软雅黑" panose="020B0503020204020204" charset="-122"/>
              </a:defRPr>
            </a:lvl6pPr>
            <a:lvl7pPr>
              <a:defRPr sz="2025" b="1">
                <a:solidFill>
                  <a:srgbClr val="2F75B5"/>
                </a:solidFill>
                <a:latin typeface="微软雅黑" panose="020B0503020204020204" charset="-122"/>
                <a:ea typeface="微软雅黑" panose="020B0503020204020204" charset="-122"/>
                <a:cs typeface="微软雅黑" panose="020B0503020204020204" charset="-122"/>
              </a:defRPr>
            </a:lvl7pPr>
            <a:lvl8pPr>
              <a:defRPr sz="2025" b="1">
                <a:solidFill>
                  <a:srgbClr val="2F75B5"/>
                </a:solidFill>
                <a:latin typeface="微软雅黑" panose="020B0503020204020204" charset="-122"/>
                <a:ea typeface="微软雅黑" panose="020B0503020204020204" charset="-122"/>
                <a:cs typeface="微软雅黑" panose="020B0503020204020204" charset="-122"/>
              </a:defRPr>
            </a:lvl8pPr>
            <a:lvl9pPr>
              <a:defRPr sz="20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2025" b="1">
                <a:solidFill>
                  <a:srgbClr val="2F75B5"/>
                </a:solidFill>
                <a:latin typeface="微软雅黑" panose="020B0503020204020204" charset="-122"/>
                <a:ea typeface="微软雅黑" panose="020B0503020204020204" charset="-122"/>
                <a:cs typeface="微软雅黑" panose="020B0503020204020204" charset="-122"/>
              </a:defRPr>
            </a:pPr>
            <a:r>
              <a:rPr sz="2025" b="1">
                <a:solidFill>
                  <a:srgbClr val="2F75B5"/>
                </a:solidFill>
                <a:latin typeface="微软雅黑" panose="020B0503020204020204" charset="-122"/>
                <a:ea typeface="微软雅黑" panose="020B0503020204020204" charset="-122"/>
                <a:cs typeface="微软雅黑" panose="020B0503020204020204" charset="-122"/>
              </a:rPr>
              <a:t>系统差异与通信开销</a:t>
            </a:r>
            <a:endParaRPr sz="20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what-1"/>
          <p:cNvSpPr>
            <a:spLocks noGrp="1"/>
          </p:cNvSpPr>
          <p:nvPr/>
        </p:nvSpPr>
        <p:spPr>
          <a:xfrm>
            <a:off x="3524250" y="3238500"/>
            <a:ext cx="7810500" cy="400050"/>
          </a:xfrm>
          <a:prstGeom prst="rect">
            <a:avLst/>
          </a:prstGeom>
          <a:noFill/>
          <a:ln w="0">
            <a:noFill/>
          </a:ln>
        </p:spPr>
        <p:txBody>
          <a:bodyPr anchor="ctr"/>
          <a:lstStyle>
            <a:defPPr>
              <a:defRPr sz="1725" b="1">
                <a:solidFill>
                  <a:srgbClr val="333333"/>
                </a:solidFill>
                <a:latin typeface="微软雅黑" panose="020B0503020204020204" charset="-122"/>
                <a:ea typeface="微软雅黑" panose="020B0503020204020204" charset="-122"/>
                <a:cs typeface="微软雅黑" panose="020B0503020204020204" charset="-122"/>
              </a:defRPr>
            </a:defPPr>
            <a:lvl1pPr>
              <a:defRPr sz="1725" b="1">
                <a:solidFill>
                  <a:srgbClr val="333333"/>
                </a:solidFill>
                <a:latin typeface="微软雅黑" panose="020B0503020204020204" charset="-122"/>
                <a:ea typeface="微软雅黑" panose="020B0503020204020204" charset="-122"/>
                <a:cs typeface="微软雅黑" panose="020B0503020204020204" charset="-122"/>
              </a:defRPr>
            </a:lvl1pPr>
            <a:lvl2pPr>
              <a:defRPr sz="1725" b="1">
                <a:solidFill>
                  <a:srgbClr val="333333"/>
                </a:solidFill>
                <a:latin typeface="微软雅黑" panose="020B0503020204020204" charset="-122"/>
                <a:ea typeface="微软雅黑" panose="020B0503020204020204" charset="-122"/>
                <a:cs typeface="微软雅黑" panose="020B0503020204020204" charset="-122"/>
              </a:defRPr>
            </a:lvl2pPr>
            <a:lvl3pPr>
              <a:defRPr sz="1725" b="1">
                <a:solidFill>
                  <a:srgbClr val="333333"/>
                </a:solidFill>
                <a:latin typeface="微软雅黑" panose="020B0503020204020204" charset="-122"/>
                <a:ea typeface="微软雅黑" panose="020B0503020204020204" charset="-122"/>
                <a:cs typeface="微软雅黑" panose="020B0503020204020204" charset="-122"/>
              </a:defRPr>
            </a:lvl3pPr>
            <a:lvl4pPr>
              <a:defRPr sz="1725" b="1">
                <a:solidFill>
                  <a:srgbClr val="333333"/>
                </a:solidFill>
                <a:latin typeface="微软雅黑" panose="020B0503020204020204" charset="-122"/>
                <a:ea typeface="微软雅黑" panose="020B0503020204020204" charset="-122"/>
                <a:cs typeface="微软雅黑" panose="020B0503020204020204" charset="-122"/>
              </a:defRPr>
            </a:lvl4pPr>
            <a:lvl5pPr>
              <a:defRPr sz="1725" b="1">
                <a:solidFill>
                  <a:srgbClr val="333333"/>
                </a:solidFill>
                <a:latin typeface="微软雅黑" panose="020B0503020204020204" charset="-122"/>
                <a:ea typeface="微软雅黑" panose="020B0503020204020204" charset="-122"/>
                <a:cs typeface="微软雅黑" panose="020B0503020204020204" charset="-122"/>
              </a:defRPr>
            </a:lvl5pPr>
            <a:lvl6pPr>
              <a:defRPr sz="1725" b="1">
                <a:solidFill>
                  <a:srgbClr val="333333"/>
                </a:solidFill>
                <a:latin typeface="微软雅黑" panose="020B0503020204020204" charset="-122"/>
                <a:ea typeface="微软雅黑" panose="020B0503020204020204" charset="-122"/>
                <a:cs typeface="微软雅黑" panose="020B0503020204020204" charset="-122"/>
              </a:defRPr>
            </a:lvl6pPr>
            <a:lvl7pPr>
              <a:defRPr sz="1725" b="1">
                <a:solidFill>
                  <a:srgbClr val="333333"/>
                </a:solidFill>
                <a:latin typeface="微软雅黑" panose="020B0503020204020204" charset="-122"/>
                <a:ea typeface="微软雅黑" panose="020B0503020204020204" charset="-122"/>
                <a:cs typeface="微软雅黑" panose="020B0503020204020204" charset="-122"/>
              </a:defRPr>
            </a:lvl7pPr>
            <a:lvl8pPr>
              <a:defRPr sz="1725" b="1">
                <a:solidFill>
                  <a:srgbClr val="333333"/>
                </a:solidFill>
                <a:latin typeface="微软雅黑" panose="020B0503020204020204" charset="-122"/>
                <a:ea typeface="微软雅黑" panose="020B0503020204020204" charset="-122"/>
                <a:cs typeface="微软雅黑" panose="020B0503020204020204" charset="-122"/>
              </a:defRPr>
            </a:lvl8pPr>
            <a:lvl9pPr>
              <a:defRPr sz="1725" b="1">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333333"/>
                </a:solidFill>
                <a:latin typeface="微软雅黑" panose="020B0503020204020204" charset="-122"/>
                <a:ea typeface="微软雅黑" panose="020B0503020204020204" charset="-122"/>
                <a:cs typeface="微软雅黑" panose="020B0503020204020204" charset="-122"/>
              </a:defRPr>
            </a:pPr>
            <a:r>
              <a:rPr sz="1725" b="1">
                <a:solidFill>
                  <a:srgbClr val="333333"/>
                </a:solidFill>
                <a:latin typeface="微软雅黑" panose="020B0503020204020204" charset="-122"/>
                <a:ea typeface="微软雅黑" panose="020B0503020204020204" charset="-122"/>
                <a:cs typeface="微软雅黑" panose="020B0503020204020204" charset="-122"/>
              </a:rPr>
              <a:t>设备算力、内存、带宽和在线状态各不相同</a:t>
            </a:r>
            <a:endParaRPr sz="1725" b="1">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effect-1"/>
          <p:cNvSpPr>
            <a:spLocks noGrp="1"/>
          </p:cNvSpPr>
          <p:nvPr/>
        </p:nvSpPr>
        <p:spPr>
          <a:xfrm>
            <a:off x="3524250" y="3686175"/>
            <a:ext cx="78105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统一训练配置难以适配，反复上传与下载也会带来成本</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8" name="challenge-2"/>
          <p:cNvSpPr>
            <a:spLocks noGrp="1"/>
          </p:cNvSpPr>
          <p:nvPr/>
        </p:nvSpPr>
        <p:spPr>
          <a:xfrm>
            <a:off x="762000" y="4429125"/>
            <a:ext cx="2714625" cy="400050"/>
          </a:xfrm>
          <a:prstGeom prst="rect">
            <a:avLst/>
          </a:prstGeom>
          <a:noFill/>
          <a:ln w="0">
            <a:noFill/>
          </a:ln>
        </p:spPr>
        <p:txBody>
          <a:bodyPr anchor="ctr"/>
          <a:lstStyle>
            <a:defPPr>
              <a:defRPr sz="2025" b="1">
                <a:solidFill>
                  <a:srgbClr val="B5091E"/>
                </a:solidFill>
                <a:latin typeface="微软雅黑" panose="020B0503020204020204" charset="-122"/>
                <a:ea typeface="微软雅黑" panose="020B0503020204020204" charset="-122"/>
                <a:cs typeface="微软雅黑" panose="020B0503020204020204" charset="-122"/>
              </a:defRPr>
            </a:defPPr>
            <a:lvl1pPr>
              <a:defRPr sz="2025" b="1">
                <a:solidFill>
                  <a:srgbClr val="B5091E"/>
                </a:solidFill>
                <a:latin typeface="微软雅黑" panose="020B0503020204020204" charset="-122"/>
                <a:ea typeface="微软雅黑" panose="020B0503020204020204" charset="-122"/>
                <a:cs typeface="微软雅黑" panose="020B0503020204020204" charset="-122"/>
              </a:defRPr>
            </a:lvl1pPr>
            <a:lvl2pPr>
              <a:defRPr sz="2025" b="1">
                <a:solidFill>
                  <a:srgbClr val="B5091E"/>
                </a:solidFill>
                <a:latin typeface="微软雅黑" panose="020B0503020204020204" charset="-122"/>
                <a:ea typeface="微软雅黑" panose="020B0503020204020204" charset="-122"/>
                <a:cs typeface="微软雅黑" panose="020B0503020204020204" charset="-122"/>
              </a:defRPr>
            </a:lvl2pPr>
            <a:lvl3pPr>
              <a:defRPr sz="2025" b="1">
                <a:solidFill>
                  <a:srgbClr val="B5091E"/>
                </a:solidFill>
                <a:latin typeface="微软雅黑" panose="020B0503020204020204" charset="-122"/>
                <a:ea typeface="微软雅黑" panose="020B0503020204020204" charset="-122"/>
                <a:cs typeface="微软雅黑" panose="020B0503020204020204" charset="-122"/>
              </a:defRPr>
            </a:lvl3pPr>
            <a:lvl4pPr>
              <a:defRPr sz="2025" b="1">
                <a:solidFill>
                  <a:srgbClr val="B5091E"/>
                </a:solidFill>
                <a:latin typeface="微软雅黑" panose="020B0503020204020204" charset="-122"/>
                <a:ea typeface="微软雅黑" panose="020B0503020204020204" charset="-122"/>
                <a:cs typeface="微软雅黑" panose="020B0503020204020204" charset="-122"/>
              </a:defRPr>
            </a:lvl4pPr>
            <a:lvl5pPr>
              <a:defRPr sz="2025" b="1">
                <a:solidFill>
                  <a:srgbClr val="B5091E"/>
                </a:solidFill>
                <a:latin typeface="微软雅黑" panose="020B0503020204020204" charset="-122"/>
                <a:ea typeface="微软雅黑" panose="020B0503020204020204" charset="-122"/>
                <a:cs typeface="微软雅黑" panose="020B0503020204020204" charset="-122"/>
              </a:defRPr>
            </a:lvl5pPr>
            <a:lvl6pPr>
              <a:defRPr sz="2025" b="1">
                <a:solidFill>
                  <a:srgbClr val="B5091E"/>
                </a:solidFill>
                <a:latin typeface="微软雅黑" panose="020B0503020204020204" charset="-122"/>
                <a:ea typeface="微软雅黑" panose="020B0503020204020204" charset="-122"/>
                <a:cs typeface="微软雅黑" panose="020B0503020204020204" charset="-122"/>
              </a:defRPr>
            </a:lvl6pPr>
            <a:lvl7pPr>
              <a:defRPr sz="2025" b="1">
                <a:solidFill>
                  <a:srgbClr val="B5091E"/>
                </a:solidFill>
                <a:latin typeface="微软雅黑" panose="020B0503020204020204" charset="-122"/>
                <a:ea typeface="微软雅黑" panose="020B0503020204020204" charset="-122"/>
                <a:cs typeface="微软雅黑" panose="020B0503020204020204" charset="-122"/>
              </a:defRPr>
            </a:lvl7pPr>
            <a:lvl8pPr>
              <a:defRPr sz="2025" b="1">
                <a:solidFill>
                  <a:srgbClr val="B5091E"/>
                </a:solidFill>
                <a:latin typeface="微软雅黑" panose="020B0503020204020204" charset="-122"/>
                <a:ea typeface="微软雅黑" panose="020B0503020204020204" charset="-122"/>
                <a:cs typeface="微软雅黑" panose="020B0503020204020204" charset="-122"/>
              </a:defRPr>
            </a:lvl8pPr>
            <a:lvl9pPr>
              <a:defRPr sz="2025"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2025" b="1">
                <a:solidFill>
                  <a:srgbClr val="B5091E"/>
                </a:solidFill>
                <a:latin typeface="微软雅黑" panose="020B0503020204020204" charset="-122"/>
                <a:ea typeface="微软雅黑" panose="020B0503020204020204" charset="-122"/>
                <a:cs typeface="微软雅黑" panose="020B0503020204020204" charset="-122"/>
              </a:defRPr>
            </a:pPr>
            <a:r>
              <a:rPr sz="2025" b="1">
                <a:solidFill>
                  <a:srgbClr val="B5091E"/>
                </a:solidFill>
                <a:latin typeface="微软雅黑" panose="020B0503020204020204" charset="-122"/>
                <a:ea typeface="微软雅黑" panose="020B0503020204020204" charset="-122"/>
                <a:cs typeface="微软雅黑" panose="020B0503020204020204" charset="-122"/>
              </a:rPr>
              <a:t>模型异构</a:t>
            </a:r>
            <a:endParaRPr sz="2025"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9" name="what-2"/>
          <p:cNvSpPr>
            <a:spLocks noGrp="1"/>
          </p:cNvSpPr>
          <p:nvPr/>
        </p:nvSpPr>
        <p:spPr>
          <a:xfrm>
            <a:off x="3524250" y="4429125"/>
            <a:ext cx="7810500" cy="400050"/>
          </a:xfrm>
          <a:prstGeom prst="rect">
            <a:avLst/>
          </a:prstGeom>
          <a:noFill/>
          <a:ln w="0">
            <a:noFill/>
          </a:ln>
        </p:spPr>
        <p:txBody>
          <a:bodyPr anchor="ctr"/>
          <a:lstStyle>
            <a:defPPr>
              <a:defRPr sz="1725" b="1">
                <a:solidFill>
                  <a:srgbClr val="333333"/>
                </a:solidFill>
                <a:latin typeface="微软雅黑" panose="020B0503020204020204" charset="-122"/>
                <a:ea typeface="微软雅黑" panose="020B0503020204020204" charset="-122"/>
                <a:cs typeface="微软雅黑" panose="020B0503020204020204" charset="-122"/>
              </a:defRPr>
            </a:defPPr>
            <a:lvl1pPr>
              <a:defRPr sz="1725" b="1">
                <a:solidFill>
                  <a:srgbClr val="333333"/>
                </a:solidFill>
                <a:latin typeface="微软雅黑" panose="020B0503020204020204" charset="-122"/>
                <a:ea typeface="微软雅黑" panose="020B0503020204020204" charset="-122"/>
                <a:cs typeface="微软雅黑" panose="020B0503020204020204" charset="-122"/>
              </a:defRPr>
            </a:lvl1pPr>
            <a:lvl2pPr>
              <a:defRPr sz="1725" b="1">
                <a:solidFill>
                  <a:srgbClr val="333333"/>
                </a:solidFill>
                <a:latin typeface="微软雅黑" panose="020B0503020204020204" charset="-122"/>
                <a:ea typeface="微软雅黑" panose="020B0503020204020204" charset="-122"/>
                <a:cs typeface="微软雅黑" panose="020B0503020204020204" charset="-122"/>
              </a:defRPr>
            </a:lvl2pPr>
            <a:lvl3pPr>
              <a:defRPr sz="1725" b="1">
                <a:solidFill>
                  <a:srgbClr val="333333"/>
                </a:solidFill>
                <a:latin typeface="微软雅黑" panose="020B0503020204020204" charset="-122"/>
                <a:ea typeface="微软雅黑" panose="020B0503020204020204" charset="-122"/>
                <a:cs typeface="微软雅黑" panose="020B0503020204020204" charset="-122"/>
              </a:defRPr>
            </a:lvl3pPr>
            <a:lvl4pPr>
              <a:defRPr sz="1725" b="1">
                <a:solidFill>
                  <a:srgbClr val="333333"/>
                </a:solidFill>
                <a:latin typeface="微软雅黑" panose="020B0503020204020204" charset="-122"/>
                <a:ea typeface="微软雅黑" panose="020B0503020204020204" charset="-122"/>
                <a:cs typeface="微软雅黑" panose="020B0503020204020204" charset="-122"/>
              </a:defRPr>
            </a:lvl4pPr>
            <a:lvl5pPr>
              <a:defRPr sz="1725" b="1">
                <a:solidFill>
                  <a:srgbClr val="333333"/>
                </a:solidFill>
                <a:latin typeface="微软雅黑" panose="020B0503020204020204" charset="-122"/>
                <a:ea typeface="微软雅黑" panose="020B0503020204020204" charset="-122"/>
                <a:cs typeface="微软雅黑" panose="020B0503020204020204" charset="-122"/>
              </a:defRPr>
            </a:lvl5pPr>
            <a:lvl6pPr>
              <a:defRPr sz="1725" b="1">
                <a:solidFill>
                  <a:srgbClr val="333333"/>
                </a:solidFill>
                <a:latin typeface="微软雅黑" panose="020B0503020204020204" charset="-122"/>
                <a:ea typeface="微软雅黑" panose="020B0503020204020204" charset="-122"/>
                <a:cs typeface="微软雅黑" panose="020B0503020204020204" charset="-122"/>
              </a:defRPr>
            </a:lvl6pPr>
            <a:lvl7pPr>
              <a:defRPr sz="1725" b="1">
                <a:solidFill>
                  <a:srgbClr val="333333"/>
                </a:solidFill>
                <a:latin typeface="微软雅黑" panose="020B0503020204020204" charset="-122"/>
                <a:ea typeface="微软雅黑" panose="020B0503020204020204" charset="-122"/>
                <a:cs typeface="微软雅黑" panose="020B0503020204020204" charset="-122"/>
              </a:defRPr>
            </a:lvl7pPr>
            <a:lvl8pPr>
              <a:defRPr sz="1725" b="1">
                <a:solidFill>
                  <a:srgbClr val="333333"/>
                </a:solidFill>
                <a:latin typeface="微软雅黑" panose="020B0503020204020204" charset="-122"/>
                <a:ea typeface="微软雅黑" panose="020B0503020204020204" charset="-122"/>
                <a:cs typeface="微软雅黑" panose="020B0503020204020204" charset="-122"/>
              </a:defRPr>
            </a:lvl8pPr>
            <a:lvl9pPr>
              <a:defRPr sz="1725" b="1">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333333"/>
                </a:solidFill>
                <a:latin typeface="微软雅黑" panose="020B0503020204020204" charset="-122"/>
                <a:ea typeface="微软雅黑" panose="020B0503020204020204" charset="-122"/>
                <a:cs typeface="微软雅黑" panose="020B0503020204020204" charset="-122"/>
              </a:defRPr>
            </a:pPr>
            <a:r>
              <a:rPr sz="1725" b="1">
                <a:solidFill>
                  <a:srgbClr val="333333"/>
                </a:solidFill>
                <a:latin typeface="微软雅黑" panose="020B0503020204020204" charset="-122"/>
                <a:ea typeface="微软雅黑" panose="020B0503020204020204" charset="-122"/>
                <a:cs typeface="微软雅黑" panose="020B0503020204020204" charset="-122"/>
              </a:rPr>
              <a:t>资源差异使各端采用不同宽度、深度或架构的模型</a:t>
            </a:r>
            <a:endParaRPr sz="1725" b="1">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effect-2"/>
          <p:cNvSpPr>
            <a:spLocks noGrp="1"/>
          </p:cNvSpPr>
          <p:nvPr/>
        </p:nvSpPr>
        <p:spPr>
          <a:xfrm>
            <a:off x="3524250" y="4876800"/>
            <a:ext cx="78105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参数形状无法直接对齐，跨模型的知识聚合成为关键问题</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762000" y="5886450"/>
            <a:ext cx="10763250" cy="476250"/>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A7101D"/>
                </a:solidFill>
                <a:latin typeface="微软雅黑" panose="020B0503020204020204" charset="-122"/>
                <a:ea typeface="微软雅黑" panose="020B0503020204020204" charset="-122"/>
                <a:cs typeface="微软雅黑" panose="020B0503020204020204" charset="-122"/>
              </a:defRPr>
            </a:pPr>
            <a:r>
              <a:rPr sz="1725"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1725"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终端算力不同，使客户端采用不同宽度、深度或架构的模型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三类知识聚合路径</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比较参数、logit 与特征三个层次</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 / 子网络</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353550" y="3248025"/>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nvCxnSpPr>
        <p:spPr>
          <a:xfrm>
            <a:off x="7048500" y="3248025"/>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nvCxnSpPr>
        <p:spPr>
          <a:xfrm>
            <a:off x="4743450" y="3248025"/>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nvCxnSpPr>
        <p:spPr>
          <a:xfrm>
            <a:off x="2438400" y="3248025"/>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问题：logit 蒸馏为何失效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模型结构差异最终表现为教师知识不稳定</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nvSpPr>
        <p:spPr>
          <a:xfrm>
            <a:off x="552450" y="2476500"/>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nvSpPr>
        <p:spPr>
          <a:xfrm>
            <a:off x="123825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8580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6953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nvSpPr>
        <p:spPr>
          <a:xfrm>
            <a:off x="2857500" y="2476500"/>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nvSpPr>
        <p:spPr>
          <a:xfrm>
            <a:off x="354330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99085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003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nvSpPr>
        <p:spPr>
          <a:xfrm>
            <a:off x="5162550" y="2476500"/>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nvSpPr>
        <p:spPr>
          <a:xfrm>
            <a:off x="584835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29590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3054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nvSpPr>
        <p:spPr>
          <a:xfrm>
            <a:off x="7467600" y="2476500"/>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nvSpPr>
        <p:spPr>
          <a:xfrm>
            <a:off x="815340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60095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6104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nvSpPr>
        <p:spPr>
          <a:xfrm>
            <a:off x="9772650" y="2476500"/>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nvSpPr>
        <p:spPr>
          <a:xfrm>
            <a:off x="10458450" y="2152650"/>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9906000" y="2781300"/>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99155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619250" y="5000625"/>
            <a:ext cx="8953500" cy="647700"/>
          </a:xfrm>
          <a:prstGeom prst="roundRect">
            <a:avLst>
              <a:gd name="adj" fmla="val 17647"/>
            </a:avLst>
          </a:prstGeom>
          <a:solidFill>
            <a:srgbClr val="8E1119"/>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FedFD 的核心目标：在蒸馏前先把跨架构特征变成可比较、低冲突的教师知识</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论文用表示可视化和学习曲线验证问题确实存在</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82880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552450" y="2543109"/>
            <a:ext cx="5429250" cy="2695708"/>
          </a:xfrm>
          <a:prstGeom prst="rect">
            <a:avLst/>
          </a:prstGeom>
        </p:spPr>
      </p:pic>
      <p:sp>
        <p:nvSpPr>
          <p:cNvPr id="11" name="矩形 10"/>
          <p:cNvSpPr>
            <a:spLocks noGrp="1"/>
          </p:cNvSpPr>
          <p:nvPr/>
        </p:nvSpPr>
        <p:spPr>
          <a:xfrm>
            <a:off x="714375" y="5619750"/>
            <a:ext cx="5143500" cy="42862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82880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6429375" y="2387112"/>
            <a:ext cx="5143500" cy="2769577"/>
          </a:xfrm>
          <a:prstGeom prst="rect">
            <a:avLst/>
          </a:prstGeom>
        </p:spPr>
      </p:pic>
      <p:sp>
        <p:nvSpPr>
          <p:cNvPr id="15" name="矩形 14"/>
          <p:cNvSpPr>
            <a:spLocks noGrp="1"/>
          </p:cNvSpPr>
          <p:nvPr/>
        </p:nvSpPr>
        <p:spPr>
          <a:xfrm>
            <a:off x="6477000" y="5381625"/>
            <a:ext cx="50958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把总问题拆成两个直接对应技术模块的子问题</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一次通信轮包含本地训练、异构聚合和服务器特征蒸馏</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步骤一：本地训练与异构聚合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先得到可广播的全局模型，再进行服务器端蒸馏</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00100" y="1847850"/>
                <a:ext cx="10572750" cy="1514475"/>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buNone/>
                  <a:defRPr sz="1600"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6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6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1600" b="0" i="0">
                          <a:solidFill>
                            <a:srgbClr val="222222"/>
                          </a:solidFill>
                          <a:latin typeface="Cambria Math" panose="02040503050406030204" charset="0"/>
                          <a:ea typeface="Cambria Math" panose="02040503050406030204"/>
                          <a:cs typeface="Cambria Math" panose="02040503050406030204" charset="0"/>
                        </a:rPr>
                        <m:t> </m:t>
                      </m:r>
                      <m:r>
                        <a:rPr lang="en-US" altLang="zh-CN" sz="1600" b="0" i="0">
                          <a:solidFill>
                            <a:srgbClr val="222222"/>
                          </a:solidFill>
                          <a:latin typeface="Cambria Math" panose="02040503050406030204" charset="0"/>
                          <a:ea typeface="Cambria Math" panose="02040503050406030204"/>
                          <a:cs typeface="Cambria Math" panose="02040503050406030204" charset="0"/>
                        </a:rPr>
                        <m:t>𝐿</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𝑤</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m:ctrlPr>
                        </m:naryPr>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1600" b="0" i="0">
                              <a:solidFill>
                                <a:srgbClr val="222222"/>
                              </a:solidFill>
                              <a:latin typeface="Cambria Math" panose="02040503050406030204" charset="0"/>
                              <a:ea typeface="Cambria Math" panose="02040503050406030204"/>
                              <a:cs typeface="Cambria Math" panose="02040503050406030204" charset="0"/>
                            </a:rPr>
                            <m:t>𝐾</m:t>
                          </m:r>
                        </m:sup>
                        <m:e>
                          <m:f>
                            <m:fPr>
                              <m:ctrlPr>
                                <a:rPr/>
                              </m:ctrlPr>
                            </m:fPr>
                            <m:num>
                              <m:r>
                                <a:rPr lang="en-US" altLang="zh-CN" sz="1600"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6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16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𝐷</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den>
                          </m:f>
                          <m:sSub>
                            <m:sSubPr>
                              <m:ctrlPr>
                                <a:rPr/>
                              </m:ctrlPr>
                            </m:sSubPr>
                            <m:e>
                              <m:r>
                                <a:rPr lang="en-US" altLang="zh-CN" sz="16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𝑤</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sz="1600" b="0" i="0">
                  <a:solidFill>
                    <a:srgbClr val="222222"/>
                  </a:solidFill>
                  <a:latin typeface="Cambria Math" panose="02040503050406030204"/>
                  <a:ea typeface="Cambria Math" panose="02040503050406030204"/>
                  <a:cs typeface="Cambria Math" panose="02040503050406030204"/>
                </a:endParaRPr>
              </a:p>
              <a:p>
                <a:pPr algn="ctr">
                  <a:buNone/>
                  <a:defRPr sz="1600"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sz="16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𝑤</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f>
                        <m:fPr>
                          <m:ctrlPr>
                            <a:rPr/>
                          </m:ctrlPr>
                        </m:fPr>
                        <m:num>
                          <m:r>
                            <a:rPr lang="en-US" altLang="zh-CN" sz="16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600"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6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16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m:ctrlPr>
                        </m:naryPr>
                        <m:sub>
                          <m:r>
                            <a:rPr lang="en-US" altLang="zh-CN" sz="1600" b="0" i="0">
                              <a:solidFill>
                                <a:srgbClr val="222222"/>
                              </a:solidFill>
                              <a:latin typeface="Cambria Math" panose="02040503050406030204" charset="0"/>
                              <a:ea typeface="Cambria Math" panose="02040503050406030204"/>
                              <a:cs typeface="Cambria Math" panose="02040503050406030204" charset="0"/>
                            </a:rPr>
                            <m:t>𝑖</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1600"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6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1600" b="0" i="0">
                              <a:solidFill>
                                <a:srgbClr val="222222"/>
                              </a:solidFill>
                              <a:latin typeface="Cambria Math" panose="02040503050406030204" charset="0"/>
                              <a:ea typeface="Cambria Math" panose="02040503050406030204"/>
                              <a:cs typeface="Cambria Math" panose="02040503050406030204" charset="0"/>
                            </a:rPr>
                            <m:t>|</m:t>
                          </m:r>
                        </m:sup>
                        <m:e>
                          <m:sSub>
                            <m:sSubPr>
                              <m:ctrlPr>
                                <a:rPr/>
                              </m:ctrlPr>
                            </m:sSubPr>
                            <m:e>
                              <m:r>
                                <a:rPr lang="en-US" altLang="zh-CN" sz="16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16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𝑤</m:t>
                          </m:r>
                          <m:r>
                            <a:rPr lang="en-US" altLang="zh-CN" sz="1600" b="0" i="0">
                              <a:solidFill>
                                <a:srgbClr val="222222"/>
                              </a:solidFill>
                              <a:latin typeface="Cambria Math" panose="02040503050406030204" charset="0"/>
                              <a:ea typeface="Cambria Math" panose="02040503050406030204"/>
                              <a:cs typeface="Cambria Math" panose="02040503050406030204" charset="0"/>
                            </a:rPr>
                            <m:t>; </m:t>
                          </m:r>
                          <m:sSubSup>
                            <m:sSubSupPr>
                              <m:ctrlPr>
                                <a:rPr/>
                              </m:ctrlPr>
                            </m:sSubSupPr>
                            <m:e>
                              <m:r>
                                <a:rPr lang="en-US" altLang="zh-CN" sz="16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𝑖</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1600" b="0" i="0">
                              <a:solidFill>
                                <a:srgbClr val="222222"/>
                              </a:solidFill>
                              <a:latin typeface="Cambria Math" panose="02040503050406030204" charset="0"/>
                              <a:ea typeface="Cambria Math" panose="02040503050406030204"/>
                              <a:cs typeface="Cambria Math" panose="02040503050406030204" charset="0"/>
                            </a:rPr>
                            <m:t>, </m:t>
                          </m:r>
                          <m:sSubSup>
                            <m:sSubSupPr>
                              <m:ctrlPr>
                                <a:rPr/>
                              </m:ctrlPr>
                            </m:sSubSupPr>
                            <m:e>
                              <m:r>
                                <a:rPr lang="en-US" altLang="zh-CN" sz="16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16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1600" b="0" i="0">
                                  <a:solidFill>
                                    <a:srgbClr val="222222"/>
                                  </a:solidFill>
                                  <a:latin typeface="Cambria Math" panose="02040503050406030204" charset="0"/>
                                  <a:ea typeface="Cambria Math" panose="02040503050406030204"/>
                                  <a:cs typeface="Cambria Math" panose="02040503050406030204" charset="0"/>
                                </a:rPr>
                                <m:t>(</m:t>
                              </m:r>
                              <m:r>
                                <a:rPr lang="en-US" altLang="zh-CN" sz="1600" b="0" i="0">
                                  <a:solidFill>
                                    <a:srgbClr val="222222"/>
                                  </a:solidFill>
                                  <a:latin typeface="Cambria Math" panose="02040503050406030204" charset="0"/>
                                  <a:ea typeface="Cambria Math" panose="02040503050406030204"/>
                                  <a:cs typeface="Cambria Math" panose="02040503050406030204" charset="0"/>
                                </a:rPr>
                                <m:t>𝑖</m:t>
                              </m:r>
                              <m:r>
                                <a:rPr lang="en-US" altLang="zh-CN" sz="16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1600"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6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00100" y="1847850"/>
                <a:ext cx="10572750" cy="1514475"/>
              </a:xfrm>
              <a:prstGeom prst="roundRect">
                <a:avLst>
                  <a:gd name="adj" fmla="val 9375"/>
                </a:avLst>
              </a:prstGeom>
              <a:blipFill rotWithShape="1">
                <a:blip r:embed="rId2"/>
                <a:stretch>
                  <a:fillRect l="-48" t="-335" r="-42" b="-29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934700" y="314325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
        <p:nvSpPr>
          <p:cNvPr id="11" name="矩形 10"/>
          <p:cNvSpPr>
            <a:spLocks noGrp="1"/>
          </p:cNvSpPr>
          <p:nvPr/>
        </p:nvSpPr>
        <p:spPr>
          <a:xfrm>
            <a:off x="857250" y="348615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762250" y="346710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857250" y="417195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2762250" y="415290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5" name="圆角矩形 14"/>
              <p:cNvSpPr>
                <a:spLocks noGrp="1"/>
              </p:cNvSpPr>
              <p:nvPr/>
            </p:nvSpPr>
            <p:spPr>
              <a:xfrm>
                <a:off x="2095500" y="4953000"/>
                <a:ext cx="7905750" cy="704850"/>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sz="1725" b="0" i="0">
                          <a:solidFill>
                            <a:srgbClr val="222222"/>
                          </a:solidFill>
                          <a:latin typeface="Cambria Math" panose="02040503050406030204" charset="0"/>
                          <a:ea typeface="Cambria Math" panose="02040503050406030204"/>
                          <a:cs typeface="Cambria Math" panose="02040503050406030204" charset="0"/>
                        </a:rPr>
                        <m:t>𝑤</m:t>
                      </m:r>
                      <m:r>
                        <a:rPr lang="en-US" sz="1725"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𝑤</m:t>
                          </m:r>
                        </m:e>
                        <m:sub>
                          <m:r>
                            <a:rPr lang="en-US" sz="1725" b="0" i="0">
                              <a:solidFill>
                                <a:srgbClr val="222222"/>
                              </a:solidFill>
                              <a:latin typeface="Cambria Math" panose="02040503050406030204" charset="0"/>
                              <a:ea typeface="Cambria Math" panose="02040503050406030204"/>
                              <a:cs typeface="Cambria Math" panose="02040503050406030204" charset="0"/>
                            </a:rPr>
                            <m:t>𝑝</m:t>
                          </m:r>
                        </m:sub>
                        <m:sup>
                          <m:r>
                            <a:rPr lang="en-US" sz="1725" b="0" i="0">
                              <a:solidFill>
                                <a:srgbClr val="222222"/>
                              </a:solidFill>
                              <a:latin typeface="Cambria Math" panose="02040503050406030204" charset="0"/>
                              <a:ea typeface="Cambria Math" panose="02040503050406030204"/>
                              <a:cs typeface="Cambria Math" panose="02040503050406030204" charset="0"/>
                            </a:rPr>
                            <m:t>𝑠</m:t>
                          </m:r>
                        </m:sup>
                      </m:sSubSup>
                      <m:r>
                        <a:rPr lang="en-US" sz="1725" b="0" i="0">
                          <a:solidFill>
                            <a:srgbClr val="222222"/>
                          </a:solidFill>
                          <a:latin typeface="Cambria Math" panose="02040503050406030204" charset="0"/>
                          <a:ea typeface="Cambria Math" panose="02040503050406030204"/>
                          <a:cs typeface="Cambria Math" panose="02040503050406030204" charset="0"/>
                        </a:rPr>
                        <m:t> ∪ </m:t>
                      </m:r>
                      <m:r>
                        <a:rPr lang="en-US" sz="1725"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𝑤</m:t>
                          </m:r>
                        </m:e>
                        <m:sub>
                          <m:r>
                            <a:rPr lang="en-US" sz="1725" b="0" i="0">
                              <a:solidFill>
                                <a:srgbClr val="222222"/>
                              </a:solidFill>
                              <a:latin typeface="Cambria Math" panose="02040503050406030204" charset="0"/>
                              <a:ea typeface="Cambria Math" panose="02040503050406030204"/>
                              <a:cs typeface="Cambria Math" panose="02040503050406030204" charset="0"/>
                            </a:rPr>
                            <m:t>𝑝</m:t>
                          </m:r>
                          <m:r>
                            <a:rPr lang="en-US" sz="1725" b="0" i="0">
                              <a:solidFill>
                                <a:srgbClr val="222222"/>
                              </a:solidFill>
                              <a:latin typeface="Cambria Math" panose="02040503050406030204" charset="0"/>
                              <a:ea typeface="Cambria Math" panose="02040503050406030204"/>
                              <a:cs typeface="Cambria Math" panose="02040503050406030204" charset="0"/>
                            </a:rPr>
                            <m:t>−</m:t>
                          </m:r>
                          <m:r>
                            <a:rPr lang="en-US" sz="1725" b="0" i="0">
                              <a:solidFill>
                                <a:srgbClr val="222222"/>
                              </a:solidFill>
                              <a:latin typeface="Cambria Math" panose="02040503050406030204" charset="0"/>
                              <a:ea typeface="Cambria Math" panose="02040503050406030204"/>
                              <a:cs typeface="Cambria Math" panose="02040503050406030204" charset="0"/>
                            </a:rPr>
                            <m:t>1</m:t>
                          </m:r>
                        </m:sub>
                        <m:sup>
                          <m:r>
                            <a:rPr lang="en-US" sz="1725" b="0" i="0">
                              <a:solidFill>
                                <a:srgbClr val="222222"/>
                              </a:solidFill>
                              <a:latin typeface="Cambria Math" panose="02040503050406030204" charset="0"/>
                              <a:ea typeface="Cambria Math" panose="02040503050406030204"/>
                              <a:cs typeface="Cambria Math" panose="02040503050406030204" charset="0"/>
                            </a:rPr>
                            <m:t>𝑠</m:t>
                          </m:r>
                        </m:sup>
                      </m:sSubSup>
                      <m:r>
                        <a:rPr lang="en-US" sz="1725" b="0" i="0">
                          <a:solidFill>
                            <a:srgbClr val="222222"/>
                          </a:solidFill>
                          <a:latin typeface="Cambria Math" panose="02040503050406030204" charset="0"/>
                          <a:ea typeface="Cambria Math" panose="02040503050406030204"/>
                          <a:cs typeface="Cambria Math" panose="02040503050406030204" charset="0"/>
                        </a:rPr>
                        <m:t> ∖ </m:t>
                      </m:r>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𝑤</m:t>
                          </m:r>
                        </m:e>
                        <m:sub>
                          <m:r>
                            <a:rPr lang="en-US" sz="1725" b="0" i="0">
                              <a:solidFill>
                                <a:srgbClr val="222222"/>
                              </a:solidFill>
                              <a:latin typeface="Cambria Math" panose="02040503050406030204" charset="0"/>
                              <a:ea typeface="Cambria Math" panose="02040503050406030204"/>
                              <a:cs typeface="Cambria Math" panose="02040503050406030204" charset="0"/>
                            </a:rPr>
                            <m:t>𝑝</m:t>
                          </m:r>
                        </m:sub>
                        <m:sup>
                          <m:r>
                            <a:rPr lang="en-US" sz="1725" b="0" i="0">
                              <a:solidFill>
                                <a:srgbClr val="222222"/>
                              </a:solidFill>
                              <a:latin typeface="Cambria Math" panose="02040503050406030204" charset="0"/>
                              <a:ea typeface="Cambria Math" panose="02040503050406030204"/>
                              <a:cs typeface="Cambria Math" panose="02040503050406030204" charset="0"/>
                            </a:rPr>
                            <m:t>𝑠</m:t>
                          </m:r>
                        </m:sup>
                      </m:sSubSup>
                      <m:r>
                        <a:rPr lang="en-US" sz="1725" b="0" i="0">
                          <a:solidFill>
                            <a:srgbClr val="222222"/>
                          </a:solidFill>
                          <a:latin typeface="Cambria Math" panose="02040503050406030204" charset="0"/>
                          <a:ea typeface="Cambria Math" panose="02040503050406030204"/>
                          <a:cs typeface="Cambria Math" panose="02040503050406030204" charset="0"/>
                        </a:rPr>
                        <m:t>)</m:t>
                      </m:r>
                      <m:r>
                        <a:rPr lang="en-US" sz="1725" b="0" i="0">
                          <a:solidFill>
                            <a:srgbClr val="222222"/>
                          </a:solidFill>
                          <a:latin typeface="Cambria Math" panose="02040503050406030204" charset="0"/>
                          <a:ea typeface="Cambria Math" panose="02040503050406030204"/>
                          <a:cs typeface="Cambria Math" panose="02040503050406030204" charset="0"/>
                        </a:rPr>
                        <m:t> ∪ ⋯ ∪ </m:t>
                      </m:r>
                      <m:r>
                        <a:rPr lang="en-US" sz="1725"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𝑤</m:t>
                          </m:r>
                        </m:e>
                        <m:sub>
                          <m:r>
                            <a:rPr lang="en-US" sz="1725" b="0" i="0">
                              <a:solidFill>
                                <a:srgbClr val="222222"/>
                              </a:solidFill>
                              <a:latin typeface="Cambria Math" panose="02040503050406030204" charset="0"/>
                              <a:ea typeface="Cambria Math" panose="02040503050406030204"/>
                              <a:cs typeface="Cambria Math" panose="02040503050406030204" charset="0"/>
                            </a:rPr>
                            <m:t>1</m:t>
                          </m:r>
                        </m:sub>
                        <m:sup>
                          <m:r>
                            <a:rPr lang="en-US" sz="1725" b="0" i="0">
                              <a:solidFill>
                                <a:srgbClr val="222222"/>
                              </a:solidFill>
                              <a:latin typeface="Cambria Math" panose="02040503050406030204" charset="0"/>
                              <a:ea typeface="Cambria Math" panose="02040503050406030204"/>
                              <a:cs typeface="Cambria Math" panose="02040503050406030204" charset="0"/>
                            </a:rPr>
                            <m:t>𝑠</m:t>
                          </m:r>
                        </m:sup>
                      </m:sSubSup>
                      <m:r>
                        <a:rPr lang="en-US" sz="1725" b="0" i="0">
                          <a:solidFill>
                            <a:srgbClr val="222222"/>
                          </a:solidFill>
                          <a:latin typeface="Cambria Math" panose="02040503050406030204" charset="0"/>
                          <a:ea typeface="Cambria Math" panose="02040503050406030204"/>
                          <a:cs typeface="Cambria Math" panose="02040503050406030204" charset="0"/>
                        </a:rPr>
                        <m:t> ∖ </m:t>
                      </m:r>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𝑤</m:t>
                          </m:r>
                        </m:e>
                        <m:sub>
                          <m:r>
                            <a:rPr lang="en-US" sz="1725" b="0" i="0">
                              <a:solidFill>
                                <a:srgbClr val="222222"/>
                              </a:solidFill>
                              <a:latin typeface="Cambria Math" panose="02040503050406030204" charset="0"/>
                              <a:ea typeface="Cambria Math" panose="02040503050406030204"/>
                              <a:cs typeface="Cambria Math" panose="02040503050406030204" charset="0"/>
                            </a:rPr>
                            <m:t>2</m:t>
                          </m:r>
                        </m:sub>
                        <m:sup>
                          <m:r>
                            <a:rPr lang="en-US" sz="1725" b="0" i="0">
                              <a:solidFill>
                                <a:srgbClr val="222222"/>
                              </a:solidFill>
                              <a:latin typeface="Cambria Math" panose="02040503050406030204" charset="0"/>
                              <a:ea typeface="Cambria Math" panose="02040503050406030204"/>
                              <a:cs typeface="Cambria Math" panose="02040503050406030204" charset="0"/>
                            </a:rPr>
                            <m:t>𝑠</m:t>
                          </m:r>
                        </m:sup>
                      </m:sSubSup>
                      <m:r>
                        <a:rPr lang="en-US" sz="1725" b="0" i="0">
                          <a:solidFill>
                            <a:srgbClr val="222222"/>
                          </a:solidFill>
                          <a:latin typeface="Cambria Math" panose="02040503050406030204" charset="0"/>
                          <a:ea typeface="Cambria Math" panose="02040503050406030204"/>
                          <a:cs typeface="Cambria Math" panose="02040503050406030204" charset="0"/>
                        </a:rPr>
                        <m:t>)</m:t>
                      </m:r>
                    </m:oMath>
                  </m:oMathPara>
                </a14:m>
                <a:endParaRPr sz="1725" b="0" i="0">
                  <a:solidFill>
                    <a:srgbClr val="222222"/>
                  </a:solidFill>
                  <a:latin typeface="Cambria Math" panose="02040503050406030204"/>
                  <a:ea typeface="Cambria Math" panose="02040503050406030204"/>
                  <a:cs typeface="Cambria Math" panose="02040503050406030204"/>
                </a:endParaRPr>
              </a:p>
            </p:txBody>
          </p:sp>
        </mc:Choice>
        <mc:Fallback>
          <p:sp>
            <p:nvSpPr>
              <p:cNvPr id="15" name="圆角矩形 14"/>
              <p:cNvSpPr>
                <a:spLocks noRot="1" noChangeAspect="1" noMove="1" noResize="1" noEditPoints="1" noAdjustHandles="1" noChangeArrowheads="1" noChangeShapeType="1" noTextEdit="1"/>
              </p:cNvSpPr>
              <p:nvPr/>
            </p:nvSpPr>
            <p:spPr>
              <a:xfrm>
                <a:off x="2095500" y="4953000"/>
                <a:ext cx="7905750" cy="704850"/>
              </a:xfrm>
              <a:prstGeom prst="roundRect">
                <a:avLst>
                  <a:gd name="adj" fmla="val 16216"/>
                </a:avLst>
              </a:prstGeom>
              <a:blipFill rotWithShape="1">
                <a:blip r:embed="rId3"/>
                <a:stretch>
                  <a:fillRect l="-64" t="-721" r="-56" b="-63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9563100" y="5334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p:sp>
        <p:nvSpPr>
          <p:cNvPr id="17" name="矩形 16"/>
          <p:cNvSpPr>
            <a:spLocks noGrp="1"/>
          </p:cNvSpPr>
          <p:nvPr/>
        </p:nvSpPr>
        <p:spPr>
          <a:xfrm>
            <a:off x="2381250" y="5829300"/>
            <a:ext cx="7429500" cy="381000"/>
          </a:xfrm>
          <a:prstGeom prst="rect">
            <a:avLst/>
          </a:prstGeom>
          <a:no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1500" b="1" i="0">
                <a:solidFill>
                  <a:srgbClr val="8E1119"/>
                </a:solidFill>
                <a:latin typeface="微软雅黑" panose="020B0503020204020204" charset="-122"/>
                <a:ea typeface="微软雅黑" panose="020B0503020204020204" charset="-122"/>
                <a:cs typeface="微软雅黑" panose="020B0503020204020204" charset="-122"/>
              </a:rPr>
              <a:t>这一步沿用 HeteroFL，FedFD 的新增部分从蒸馏特征开始</a:t>
            </a:r>
            <a:endParaRPr sz="15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0500" y="4938713"/>
            <a:ext cx="952500" cy="4763"/>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000" y="4938713"/>
            <a:ext cx="2667000" cy="4763"/>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0500" y="3605213"/>
            <a:ext cx="952500" cy="4763"/>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000" y="3605213"/>
            <a:ext cx="2667000" cy="4763"/>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步骤二：分层特征对齐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先按输出维度与模型结构分组，再聚合同组教师特征</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76250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𝑒</m:t>
                          </m:r>
                        </m:e>
                        <m:sub>
                          <m:r>
                            <a:rPr lang="en-US" sz="1725" b="0" i="0">
                              <a:solidFill>
                                <a:srgbClr val="222222"/>
                              </a:solidFill>
                              <a:latin typeface="Cambria Math" panose="02040503050406030204" charset="0"/>
                              <a:ea typeface="Cambria Math" panose="02040503050406030204"/>
                              <a:cs typeface="Cambria Math" panose="02040503050406030204" charset="0"/>
                            </a:rPr>
                            <m:t>𝑘</m:t>
                          </m:r>
                        </m:sub>
                        <m:sup>
                          <m:r>
                            <a:rPr lang="en-US" sz="1725" b="0" i="0">
                              <a:solidFill>
                                <a:srgbClr val="222222"/>
                              </a:solidFill>
                              <a:latin typeface="Cambria Math" panose="02040503050406030204" charset="0"/>
                              <a:ea typeface="Cambria Math" panose="02040503050406030204"/>
                              <a:cs typeface="Cambria Math" panose="02040503050406030204" charset="0"/>
                            </a:rPr>
                            <m:t>𝑑</m:t>
                          </m:r>
                        </m:sup>
                      </m:sSubSup>
                      <m:r>
                        <a:rPr lang="en-US" sz="1725" b="0" i="0">
                          <a:solidFill>
                            <a:srgbClr val="222222"/>
                          </a:solidFill>
                          <a:latin typeface="Cambria Math" panose="02040503050406030204" charset="0"/>
                          <a:ea typeface="Cambria Math" panose="02040503050406030204"/>
                          <a:cs typeface="Cambria Math" panose="02040503050406030204" charset="0"/>
                        </a:rPr>
                        <m:t>=</m:t>
                      </m:r>
                      <m:r>
                        <a:rPr lang="en-US" sz="1725" b="0" i="0">
                          <a:solidFill>
                            <a:srgbClr val="222222"/>
                          </a:solidFill>
                          <a:latin typeface="Cambria Math" panose="02040503050406030204" charset="0"/>
                          <a:ea typeface="Cambria Math" panose="02040503050406030204"/>
                          <a:cs typeface="Cambria Math" panose="02040503050406030204" charset="0"/>
                        </a:rPr>
                        <m:t>𝑓</m:t>
                      </m:r>
                      <m:r>
                        <a:rPr lang="en-US" sz="1725"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sz="1725" b="0" i="0">
                              <a:solidFill>
                                <a:srgbClr val="222222"/>
                              </a:solidFill>
                              <a:latin typeface="Cambria Math" panose="02040503050406030204" charset="0"/>
                              <a:ea typeface="Cambria Math" panose="02040503050406030204"/>
                              <a:cs typeface="Cambria Math" panose="02040503050406030204" charset="0"/>
                            </a:rPr>
                            <m:t>𝑤</m:t>
                          </m:r>
                        </m:e>
                        <m:sub>
                          <m:r>
                            <a:rPr lang="en-US" sz="1725" b="0" i="0">
                              <a:solidFill>
                                <a:srgbClr val="222222"/>
                              </a:solidFill>
                              <a:latin typeface="Cambria Math" panose="02040503050406030204" charset="0"/>
                              <a:ea typeface="Cambria Math" panose="02040503050406030204"/>
                              <a:cs typeface="Cambria Math" panose="02040503050406030204" charset="0"/>
                            </a:rPr>
                            <m:t>𝑘</m:t>
                          </m:r>
                        </m:sub>
                        <m:sup>
                          <m:r>
                            <a:rPr lang="en-US" sz="1725" b="0" i="0">
                              <a:solidFill>
                                <a:srgbClr val="222222"/>
                              </a:solidFill>
                              <a:latin typeface="Cambria Math" panose="02040503050406030204" charset="0"/>
                              <a:ea typeface="Cambria Math" panose="02040503050406030204"/>
                              <a:cs typeface="Cambria Math" panose="02040503050406030204" charset="0"/>
                            </a:rPr>
                            <m:t>𝑑</m:t>
                          </m:r>
                        </m:sup>
                      </m:sSubSup>
                      <m:r>
                        <a:rPr lang="en-US" sz="1725" b="0" i="0">
                          <a:solidFill>
                            <a:srgbClr val="222222"/>
                          </a:solidFill>
                          <a:latin typeface="Cambria Math" panose="02040503050406030204" charset="0"/>
                          <a:ea typeface="Cambria Math" panose="02040503050406030204"/>
                          <a:cs typeface="Cambria Math" panose="02040503050406030204" charset="0"/>
                        </a:rPr>
                        <m:t>; </m:t>
                      </m:r>
                      <m:r>
                        <a:rPr lang="en-US" sz="1725" b="0" i="0">
                          <a:solidFill>
                            <a:srgbClr val="222222"/>
                          </a:solidFill>
                          <a:latin typeface="Cambria Math" panose="02040503050406030204" charset="0"/>
                          <a:ea typeface="Cambria Math" panose="02040503050406030204"/>
                          <a:cs typeface="Cambria Math" panose="02040503050406030204" charset="0"/>
                        </a:rPr>
                        <m:t>𝑥</m:t>
                      </m:r>
                      <m:r>
                        <a:rPr lang="en-US" sz="1725" b="0" i="0">
                          <a:solidFill>
                            <a:srgbClr val="222222"/>
                          </a:solidFill>
                          <a:latin typeface="Cambria Math" panose="02040503050406030204" charset="0"/>
                          <a:ea typeface="Cambria Math" panose="02040503050406030204"/>
                          <a:cs typeface="Cambria Math" panose="02040503050406030204" charset="0"/>
                        </a:rPr>
                        <m:t>)</m:t>
                      </m:r>
                      <m:r>
                        <a:rPr lang="en-US" sz="1725" b="0" i="0">
                          <a:solidFill>
                            <a:srgbClr val="222222"/>
                          </a:solidFill>
                          <a:latin typeface="Cambria Math" panose="02040503050406030204" charset="0"/>
                          <a:ea typeface="Cambria Math" panose="02040503050406030204"/>
                          <a:cs typeface="Cambria Math" panose="02040503050406030204" charset="0"/>
                        </a:rPr>
                        <m:t>,  ∀</m:t>
                      </m:r>
                      <m:r>
                        <a:rPr lang="en-US" sz="1725" b="0" i="0">
                          <a:solidFill>
                            <a:srgbClr val="222222"/>
                          </a:solidFill>
                          <a:latin typeface="Cambria Math" panose="02040503050406030204" charset="0"/>
                          <a:ea typeface="Cambria Math" panose="02040503050406030204"/>
                          <a:cs typeface="Cambria Math" panose="02040503050406030204" charset="0"/>
                        </a:rPr>
                        <m:t>𝑘</m:t>
                      </m:r>
                      <m:r>
                        <a:rPr lang="en-US" sz="1725" b="0" i="0">
                          <a:solidFill>
                            <a:srgbClr val="222222"/>
                          </a:solidFill>
                          <a:latin typeface="Cambria Math" panose="02040503050406030204" charset="0"/>
                          <a:ea typeface="Cambria Math" panose="02040503050406030204"/>
                          <a:cs typeface="Cambria Math" panose="02040503050406030204" charset="0"/>
                        </a:rPr>
                        <m:t>∈{</m:t>
                      </m:r>
                      <m:r>
                        <a:rPr lang="en-US" sz="1725" b="0" i="0">
                          <a:solidFill>
                            <a:srgbClr val="222222"/>
                          </a:solidFill>
                          <a:latin typeface="Cambria Math" panose="02040503050406030204" charset="0"/>
                          <a:ea typeface="Cambria Math" panose="02040503050406030204"/>
                          <a:cs typeface="Cambria Math" panose="02040503050406030204" charset="0"/>
                        </a:rPr>
                        <m:t>1</m:t>
                      </m:r>
                      <m:r>
                        <a:rPr lang="en-US" sz="1725" b="0" i="0">
                          <a:solidFill>
                            <a:srgbClr val="222222"/>
                          </a:solidFill>
                          <a:latin typeface="Cambria Math" panose="02040503050406030204" charset="0"/>
                          <a:ea typeface="Cambria Math" panose="02040503050406030204"/>
                          <a:cs typeface="Cambria Math" panose="02040503050406030204" charset="0"/>
                        </a:rPr>
                        <m:t>,…,</m:t>
                      </m:r>
                      <m:r>
                        <a:rPr lang="en-US" sz="1725" b="0" i="0">
                          <a:solidFill>
                            <a:srgbClr val="222222"/>
                          </a:solidFill>
                          <a:latin typeface="Cambria Math" panose="02040503050406030204" charset="0"/>
                          <a:ea typeface="Cambria Math" panose="02040503050406030204"/>
                          <a:cs typeface="Cambria Math" panose="02040503050406030204" charset="0"/>
                        </a:rPr>
                        <m:t>𝐾</m:t>
                      </m:r>
                      <m:r>
                        <a:rPr lang="en-US" sz="1725" b="0" i="0">
                          <a:solidFill>
                            <a:srgbClr val="222222"/>
                          </a:solidFill>
                          <a:latin typeface="Cambria Math" panose="02040503050406030204" charset="0"/>
                          <a:ea typeface="Cambria Math" panose="02040503050406030204"/>
                          <a:cs typeface="Cambria Math" panose="02040503050406030204" charset="0"/>
                        </a:rPr>
                        <m:t>}</m:t>
                      </m:r>
                    </m:oMath>
                  </m:oMathPara>
                </a14:m>
                <a:endParaRPr sz="1725" b="0" i="0">
                  <a:solidFill>
                    <a:srgbClr val="222222"/>
                  </a:solidFill>
                  <a:latin typeface="Cambria Math" panose="02040503050406030204"/>
                  <a:ea typeface="Cambria Math" panose="02040503050406030204"/>
                  <a:cs typeface="Cambria Math" panose="02040503050406030204"/>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762500" cy="723900"/>
              </a:xfrm>
              <a:prstGeom prst="roundRect">
                <a:avLst>
                  <a:gd name="adj" fmla="val 15789"/>
                </a:avLst>
              </a:prstGeom>
              <a:blipFill rotWithShape="1">
                <a:blip r:embed="rId2"/>
                <a:stretch>
                  <a:fillRect l="-107" t="-702" r="-93"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181600" y="22098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572250" y="1714500"/>
                <a:ext cx="4762500"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acc>
                            <m:accPr>
                              <m:chr m:val="̅"/>
                              <m:ctrlPr>
                                <a:rPr/>
                              </m:ctrlPr>
                            </m:acc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f>
                        <m:fPr>
                          <m:ctrlPr>
                            <a:rPr/>
                          </m:ctrlPr>
                        </m:fPr>
                        <m:num>
                          <m:r>
                            <a:rPr lang="en-US" altLang="zh-CN" sz="1725"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p>
                            <m:sSupPr>
                              <m:ctrlPr>
                                <a:rPr/>
                              </m:ctrlPr>
                            </m:s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p>
                            <m:sSupPr>
                              <m:ctrlPr>
                                <a:rPr/>
                              </m:ctrlPr>
                            </m:s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572250" y="1714500"/>
                <a:ext cx="4762500" cy="981075"/>
              </a:xfrm>
              <a:prstGeom prst="roundRect">
                <a:avLst>
                  <a:gd name="adj" fmla="val 15789"/>
                </a:avLst>
              </a:prstGeom>
              <a:blipFill rotWithShape="1">
                <a:blip r:embed="rId3"/>
                <a:stretch>
                  <a:fillRect l="-107" t="-518" r="-93"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896600" y="246697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4875" y="3238500"/>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125" y="3305175"/>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19375" y="3238500"/>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4625" y="3305175"/>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000" y="3105150"/>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3500" y="3238500"/>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4875" y="4572000"/>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125" y="4638675"/>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19375" y="4572000"/>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4625" y="4638675"/>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000" y="4438650"/>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3500" y="4572000"/>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为什么投影层不能任意学习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任意线性变换可能缩放、扭曲并混合不同架构的知识</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762125" y="5619750"/>
            <a:ext cx="8667750" cy="476250"/>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列正交约束提供稳定的线性对齐空间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905000" y="5572125"/>
            <a:ext cx="8382000" cy="45720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1500" b="1" i="0">
                <a:solidFill>
                  <a:srgbClr val="8E1119"/>
                </a:solidFill>
                <a:latin typeface="微软雅黑" panose="020B0503020204020204" charset="-122"/>
                <a:ea typeface="微软雅黑" panose="020B0503020204020204" charset="-122"/>
                <a:cs typeface="微软雅黑" panose="020B0503020204020204" charset="-122"/>
              </a:rPr>
              <a:t>注意：这些性质解释了“为什么正交约束可能有效”，论文没有给出新的收敛定理</a:t>
            </a:r>
            <a:endParaRPr sz="15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步骤三：反对称矩阵参数化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随机初始化 W，再通过矩阵指数得到正交矩阵</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095375" y="1809750"/>
                <a:ext cx="3429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095375" y="1809750"/>
                <a:ext cx="3429000" cy="685800"/>
              </a:xfrm>
              <a:prstGeom prst="roundRect">
                <a:avLst>
                  <a:gd name="adj" fmla="val 16667"/>
                </a:avLst>
              </a:prstGeom>
              <a:blipFill rotWithShape="1">
                <a:blip r:embed="rId2"/>
                <a:stretch>
                  <a:fillRect l="-148" t="-741" r="-130" b="-648"/>
                </a:stretch>
              </a:blipFill>
              <a:ln w="9525">
                <a:solidFill>
                  <a:srgbClr val="D9DCE2"/>
                </a:solidFill>
                <a:prstDash val="soli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 name="圆角矩形 9"/>
              <p:cNvSpPr>
                <a:spLocks noGrp="1"/>
              </p:cNvSpPr>
              <p:nvPr/>
            </p:nvSpPr>
            <p:spPr>
              <a:xfrm>
                <a:off x="5191125" y="1714500"/>
                <a:ext cx="5905500" cy="95250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oMath>
                  </m:oMathPara>
                </a14:m>
                <a:endParaRPr sz="1725" b="0" i="0">
                  <a:solidFill>
                    <a:srgbClr val="222222"/>
                  </a:solidFill>
                  <a:latin typeface="Cambria Math" panose="02040503050406030204"/>
                  <a:ea typeface="Cambria Math" panose="02040503050406030204"/>
                  <a:cs typeface="Cambria Math" panose="02040503050406030204"/>
                </a:endParaRPr>
              </a:p>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5191125" y="1714500"/>
                <a:ext cx="5905500" cy="952500"/>
              </a:xfrm>
              <a:prstGeom prst="roundRect">
                <a:avLst>
                  <a:gd name="adj" fmla="val 12000"/>
                </a:avLst>
              </a:prstGeom>
              <a:blipFill rotWithShape="1">
                <a:blip r:embed="rId3"/>
                <a:stretch>
                  <a:fillRect l="-86" t="-533" r="-75" b="-467"/>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58475" y="234315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143000" y="3095625"/>
                <a:ext cx="9906000"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143000" y="3095625"/>
                <a:ext cx="9906000" cy="800100"/>
              </a:xfrm>
              <a:prstGeom prst="roundRect">
                <a:avLst>
                  <a:gd name="adj" fmla="val 14286"/>
                </a:avLst>
              </a:prstGeom>
              <a:blipFill rotWithShape="1">
                <a:blip r:embed="rId4"/>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10850" y="357187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sp>
        <p:nvSpPr>
          <p:cNvPr id="14" name="圆角矩形 13"/>
          <p:cNvSpPr>
            <a:spLocks noGrp="1"/>
          </p:cNvSpPr>
          <p:nvPr/>
        </p:nvSpPr>
        <p:spPr>
          <a:xfrm>
            <a:off x="695325" y="447675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1362075" y="445770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6" name="矩形 15"/>
              <p:cNvSpPr>
                <a:spLocks noGrp="1"/>
              </p:cNvSpPr>
              <p:nvPr/>
            </p:nvSpPr>
            <p:spPr>
              <a:xfrm>
                <a:off x="1362075" y="482917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16" name="矩形 15"/>
              <p:cNvSpPr>
                <a:spLocks noRot="1" noChangeAspect="1" noMove="1" noResize="1" noEditPoints="1" noAdjustHandles="1" noChangeArrowheads="1" noChangeShapeType="1" noTextEdit="1"/>
              </p:cNvSpPr>
              <p:nvPr/>
            </p:nvSpPr>
            <p:spPr>
              <a:xfrm>
                <a:off x="1362075" y="482917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17" name="圆角矩形 16"/>
          <p:cNvSpPr>
            <a:spLocks noGrp="1"/>
          </p:cNvSpPr>
          <p:nvPr/>
        </p:nvSpPr>
        <p:spPr>
          <a:xfrm>
            <a:off x="3552825" y="447675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219575" y="445770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9" name="矩形 18"/>
              <p:cNvSpPr>
                <a:spLocks noGrp="1"/>
              </p:cNvSpPr>
              <p:nvPr/>
            </p:nvSpPr>
            <p:spPr>
              <a:xfrm>
                <a:off x="4219575" y="482917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19" name="矩形 18"/>
              <p:cNvSpPr>
                <a:spLocks noRot="1" noChangeAspect="1" noMove="1" noResize="1" noEditPoints="1" noAdjustHandles="1" noChangeArrowheads="1" noChangeShapeType="1" noTextEdit="1"/>
              </p:cNvSpPr>
              <p:nvPr/>
            </p:nvSpPr>
            <p:spPr>
              <a:xfrm>
                <a:off x="4219575" y="482917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20" name="圆角矩形 19"/>
          <p:cNvSpPr>
            <a:spLocks noGrp="1"/>
          </p:cNvSpPr>
          <p:nvPr/>
        </p:nvSpPr>
        <p:spPr>
          <a:xfrm>
            <a:off x="6410325" y="447675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7077075" y="445770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矩形 21"/>
              <p:cNvSpPr>
                <a:spLocks noGrp="1"/>
              </p:cNvSpPr>
              <p:nvPr/>
            </p:nvSpPr>
            <p:spPr>
              <a:xfrm>
                <a:off x="7077075" y="482917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22" name="矩形 21"/>
              <p:cNvSpPr>
                <a:spLocks noRot="1" noChangeAspect="1" noMove="1" noResize="1" noEditPoints="1" noAdjustHandles="1" noChangeArrowheads="1" noChangeShapeType="1" noTextEdit="1"/>
              </p:cNvSpPr>
              <p:nvPr/>
            </p:nvSpPr>
            <p:spPr>
              <a:xfrm>
                <a:off x="7077075" y="482917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23" name="圆角矩形 22"/>
          <p:cNvSpPr>
            <a:spLocks noGrp="1"/>
          </p:cNvSpPr>
          <p:nvPr/>
        </p:nvSpPr>
        <p:spPr>
          <a:xfrm>
            <a:off x="9267825" y="447675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9934575" y="445770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5" name="矩形 24"/>
              <p:cNvSpPr>
                <a:spLocks noGrp="1"/>
              </p:cNvSpPr>
              <p:nvPr/>
            </p:nvSpPr>
            <p:spPr>
              <a:xfrm>
                <a:off x="9934575" y="482917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25" name="矩形 24"/>
              <p:cNvSpPr>
                <a:spLocks noRot="1" noChangeAspect="1" noMove="1" noResize="1" noEditPoints="1" noAdjustHandles="1" noChangeArrowheads="1" noChangeShapeType="1" noTextEdit="1"/>
              </p:cNvSpPr>
              <p:nvPr/>
            </p:nvSpPr>
            <p:spPr>
              <a:xfrm>
                <a:off x="9934575" y="482917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6429375" y="5048250"/>
            <a:ext cx="1476375"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3048000" y="5048250"/>
            <a:ext cx="1381125"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步骤四：多架构特征蒸馏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每个架构组分别提供教师特征，共同更新全局模型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10850" y="215265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10850" y="367665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95250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114300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4429125"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4619625"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M₂ … </a:t>
                </a:r>
                <a14:m>
                  <m:oMath xmlns:m="http://schemas.openxmlformats.org/officeDocument/2006/math">
                    <m:sSub>
                      <m:sSubPr>
                        <m:ctrlPr>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𝑚</m:t>
                        </m:r>
                      </m:sub>
                    </m:sSub>
                  </m:oMath>
                </a14:m>
                <a:endParaRPr lang="en-US"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4619625"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790575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8143875" y="4714875"/>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sz="1650" b="1" i="0">
                    <a:solidFill>
                      <a:srgbClr val="B5121B"/>
                    </a:solidFill>
                    <a:latin typeface="Cambria Math" panose="02040503050406030204"/>
                    <a:ea typeface="Cambria Math" panose="02040503050406030204"/>
                    <a:cs typeface="Cambria Math" panose="02040503050406030204"/>
                  </a:rPr>
                  <a:t>分组教师特征</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sz="1650" b="1" i="0">
                    <a:solidFill>
                      <a:srgbClr val="B5121B"/>
                    </a:solidFill>
                    <a:latin typeface="Cambria Math" panose="02040503050406030204"/>
                    <a:ea typeface="Cambria Math" panose="02040503050406030204"/>
                    <a:cs typeface="Cambria Math" panose="02040503050406030204"/>
                  </a:rPr>
                  <a:t>ē₂ … </a:t>
                </a:r>
                <a14:m>
                  <m:oMath xmlns:m="http://schemas.openxmlformats.org/officeDocument/2006/math">
                    <m:sSub>
                      <m:sSubPr>
                        <m:ctrlPr>
                          <a:rPr/>
                        </m:ctrlPr>
                      </m:sSubPr>
                      <m:e>
                        <m:acc>
                          <m:accPr>
                            <m:chr m:val="̅"/>
                            <m:ctrlPr>
                              <a:rPr/>
                            </m:ctrlPr>
                          </m:accPr>
                          <m:e>
                            <m:r>
                              <a:rPr lang="en-US" altLang="zh-CN" sz="1650" b="1" i="0">
                                <a:solidFill>
                                  <a:srgbClr val="B5121B"/>
                                </a:solidFill>
                                <a:latin typeface="Cambria Math" panose="02040503050406030204" charset="0"/>
                                <a:ea typeface="Cambria Math" panose="02040503050406030204"/>
                                <a:cs typeface="Cambria Math" panose="02040503050406030204" charset="0"/>
                              </a:rPr>
                              <m:t>𝑒</m:t>
                            </m:r>
                          </m:e>
                        </m:acc>
                      </m:e>
                      <m:sub>
                        <m:r>
                          <a:rPr lang="en-US" altLang="zh-CN" sz="1650" b="1" i="0">
                            <a:solidFill>
                              <a:srgbClr val="B5121B"/>
                            </a:solidFill>
                            <a:latin typeface="Cambria Math" panose="02040503050406030204" charset="0"/>
                            <a:ea typeface="Cambria Math" panose="02040503050406030204"/>
                            <a:cs typeface="Cambria Math" panose="02040503050406030204" charset="0"/>
                          </a:rPr>
                          <m:t>𝑚</m:t>
                        </m:r>
                      </m:sub>
                    </m:sSub>
                  </m:oMath>
                </a14:m>
                <a:endParaRPr lang="en-US"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8143875" y="4714875"/>
                <a:ext cx="1905000" cy="6667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1" name="矩形 20"/>
              <p:cNvSpPr>
                <a:spLocks noGrp="1"/>
              </p:cNvSpPr>
              <p:nvPr/>
            </p:nvSpPr>
            <p:spPr>
              <a:xfrm>
                <a:off x="3524250" y="5857875"/>
                <a:ext cx="5143500" cy="361950"/>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rgbClr val="8E1119"/>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m:ctrlPr>
                      </m:sSubPr>
                      <m:e>
                        <m:r>
                          <a:rPr lang="en-US" altLang="zh-CN" sz="1575" b="1" i="0">
                            <a:solidFill>
                              <a:srgbClr val="8E1119"/>
                            </a:solidFill>
                            <a:latin typeface="Cambria Math" panose="02040503050406030204" charset="0"/>
                            <a:ea typeface="Cambria Math" panose="02040503050406030204"/>
                            <a:cs typeface="Cambria Math" panose="02040503050406030204" charset="0"/>
                          </a:rPr>
                          <m:t>𝑀</m:t>
                        </m:r>
                      </m:e>
                      <m:sub>
                        <m:r>
                          <a:rPr lang="en-US" altLang="zh-CN" sz="1575" b="1" i="0">
                            <a:solidFill>
                              <a:srgbClr val="8E1119"/>
                            </a:solidFill>
                            <a:latin typeface="Cambria Math" panose="02040503050406030204" charset="0"/>
                            <a:ea typeface="Cambria Math" panose="02040503050406030204"/>
                            <a:cs typeface="Cambria Math" panose="02040503050406030204" charset="0"/>
                          </a:rPr>
                          <m:t>𝑖</m:t>
                        </m:r>
                      </m:sub>
                    </m:sSub>
                  </m:oMath>
                </a14:m>
                <a:r>
                  <a:rPr sz="1575" b="1" i="0">
                    <a:solidFill>
                      <a:srgbClr val="8E1119"/>
                    </a:solidFill>
                    <a:latin typeface="Cambria Math" panose="02040503050406030204"/>
                    <a:ea typeface="Cambria Math" panose="02040503050406030204"/>
                    <a:cs typeface="Cambria Math" panose="02040503050406030204"/>
                  </a:rPr>
                  <a:t>}</a:t>
                </a:r>
                <a:endParaRPr sz="1575" b="1" i="0">
                  <a:solidFill>
                    <a:srgbClr val="8E1119"/>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3524250" y="5857875"/>
                <a:ext cx="5143500" cy="3619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Algorithm 1 的九个动作可归纳为五个阶段</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三类数据集、十级模型宽度和不同 Non-IID 强度</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09625" y="5810250"/>
            <a:ext cx="10572750" cy="4381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强数据异构下的全局模型准确率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α = 0.1：FedFD 的全局准确率均领先，右侧为相对最强基线的提升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2"/>
            </p:custDataLst>
          </p:nvPr>
        </p:nvSpPr>
        <p:spPr>
          <a:xfrm>
            <a:off x="9599930" y="2601595"/>
            <a:ext cx="2381250" cy="304800"/>
          </a:xfrm>
          <a:prstGeom prst="rect">
            <a:avLst/>
          </a:prstGeom>
          <a:noFill/>
          <a:ln w="0">
            <a:noFill/>
            <a:prstDash val="solid"/>
          </a:ln>
        </p:spPr>
        <p:txBody>
          <a:bodyPr lIns="0" tIns="0" rIns="0" bIns="0" anchor="ctr"/>
          <a:lstStyle>
            <a:defPPr algn="ctr">
              <a:defRPr sz="1425" b="1"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1"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1"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1"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1"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1"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1"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1"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1"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1"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1" i="0">
                <a:solidFill>
                  <a:srgbClr val="5B5B5B"/>
                </a:solidFill>
                <a:latin typeface="微软雅黑" panose="020B0503020204020204" charset="-122"/>
                <a:ea typeface="微软雅黑" panose="020B0503020204020204" charset="-122"/>
                <a:cs typeface="微软雅黑" panose="020B0503020204020204" charset="-122"/>
              </a:defRPr>
            </a:pPr>
            <a:r>
              <a:rPr sz="1425" b="1" i="0">
                <a:solidFill>
                  <a:srgbClr val="5B5B5B"/>
                </a:solidFill>
                <a:latin typeface="微软雅黑" panose="020B0503020204020204" charset="-122"/>
                <a:ea typeface="微软雅黑" panose="020B0503020204020204" charset="-122"/>
                <a:cs typeface="微软雅黑" panose="020B0503020204020204" charset="-122"/>
              </a:rPr>
              <a:t>CIFAR-10</a:t>
            </a:r>
            <a:endParaRPr sz="1425" b="1"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3"/>
            </p:custDataLst>
          </p:nvPr>
        </p:nvSpPr>
        <p:spPr>
          <a:xfrm>
            <a:off x="9552305" y="2925445"/>
            <a:ext cx="2476500" cy="495300"/>
          </a:xfrm>
          <a:prstGeom prst="rect">
            <a:avLst/>
          </a:prstGeom>
          <a:noFill/>
          <a:ln w="0">
            <a:noFill/>
            <a:prstDash val="solid"/>
          </a:ln>
        </p:spPr>
        <p:txBody>
          <a:bodyPr lIns="0" tIns="0" rIns="0" bIns="0" anchor="ctr"/>
          <a:lstStyle>
            <a:defPPr algn="ctr">
              <a:defRPr sz="24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4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4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4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4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4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4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4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4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4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400" b="1" i="0">
                <a:solidFill>
                  <a:srgbClr val="B5121B"/>
                </a:solidFill>
                <a:latin typeface="微软雅黑" panose="020B0503020204020204" charset="-122"/>
                <a:ea typeface="微软雅黑" panose="020B0503020204020204" charset="-122"/>
                <a:cs typeface="微软雅黑" panose="020B0503020204020204" charset="-122"/>
              </a:defRPr>
            </a:pPr>
            <a:r>
              <a:rPr sz="2400" b="1" i="0">
                <a:solidFill>
                  <a:srgbClr val="B5121B"/>
                </a:solidFill>
                <a:latin typeface="微软雅黑" panose="020B0503020204020204" charset="-122"/>
                <a:ea typeface="微软雅黑" panose="020B0503020204020204" charset="-122"/>
                <a:cs typeface="微软雅黑" panose="020B0503020204020204" charset="-122"/>
              </a:rPr>
              <a:t>+2.67 pp</a:t>
            </a:r>
            <a:endParaRPr sz="24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9552305" y="3401695"/>
            <a:ext cx="2476500" cy="266700"/>
          </a:xfrm>
          <a:prstGeom prst="rect">
            <a:avLst/>
          </a:prstGeom>
          <a:noFill/>
          <a:ln w="0">
            <a:noFill/>
            <a:prstDash val="solid"/>
          </a:ln>
        </p:spPr>
        <p:txBody>
          <a:bodyPr lIns="0" tIns="0" rIns="0" bIns="0" anchor="ctr"/>
          <a:lstStyle>
            <a:defPPr algn="ctr">
              <a:defRPr sz="11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1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1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1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1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1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1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1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1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1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125" b="0" i="0">
                <a:solidFill>
                  <a:srgbClr val="5B5B5B"/>
                </a:solidFill>
                <a:latin typeface="微软雅黑" panose="020B0503020204020204" charset="-122"/>
                <a:ea typeface="微软雅黑" panose="020B0503020204020204" charset="-122"/>
                <a:cs typeface="微软雅黑" panose="020B0503020204020204" charset="-122"/>
              </a:defRPr>
            </a:pPr>
            <a:r>
              <a:rPr sz="1125" b="0" i="0">
                <a:solidFill>
                  <a:srgbClr val="5B5B5B"/>
                </a:solidFill>
                <a:latin typeface="微软雅黑" panose="020B0503020204020204" charset="-122"/>
                <a:ea typeface="微软雅黑" panose="020B0503020204020204" charset="-122"/>
                <a:cs typeface="微软雅黑" panose="020B0503020204020204" charset="-122"/>
              </a:rPr>
              <a:t>相对 DaFKD-hetero</a:t>
            </a:r>
            <a:endParaRPr sz="11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custDataLst>
              <p:tags r:id="rId5"/>
            </p:custDataLst>
          </p:nvPr>
        </p:nvSpPr>
        <p:spPr>
          <a:xfrm>
            <a:off x="9599930" y="3744595"/>
            <a:ext cx="2381250" cy="304800"/>
          </a:xfrm>
          <a:prstGeom prst="rect">
            <a:avLst/>
          </a:prstGeom>
          <a:noFill/>
          <a:ln w="0">
            <a:noFill/>
            <a:prstDash val="solid"/>
          </a:ln>
        </p:spPr>
        <p:txBody>
          <a:bodyPr lIns="0" tIns="0" rIns="0" bIns="0" anchor="ctr"/>
          <a:lstStyle>
            <a:defPPr algn="ctr">
              <a:defRPr sz="1425" b="1"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1"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1"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1"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1"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1"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1"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1"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1"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1"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1" i="0">
                <a:solidFill>
                  <a:srgbClr val="5B5B5B"/>
                </a:solidFill>
                <a:latin typeface="微软雅黑" panose="020B0503020204020204" charset="-122"/>
                <a:ea typeface="微软雅黑" panose="020B0503020204020204" charset="-122"/>
                <a:cs typeface="微软雅黑" panose="020B0503020204020204" charset="-122"/>
              </a:defRPr>
            </a:pPr>
            <a:r>
              <a:rPr sz="1425" b="1" i="0">
                <a:solidFill>
                  <a:srgbClr val="5B5B5B"/>
                </a:solidFill>
                <a:latin typeface="微软雅黑" panose="020B0503020204020204" charset="-122"/>
                <a:ea typeface="微软雅黑" panose="020B0503020204020204" charset="-122"/>
                <a:cs typeface="微软雅黑" panose="020B0503020204020204" charset="-122"/>
              </a:rPr>
              <a:t>CIFAR-100</a:t>
            </a:r>
            <a:endParaRPr sz="1425" b="1"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6"/>
            </p:custDataLst>
          </p:nvPr>
        </p:nvSpPr>
        <p:spPr>
          <a:xfrm>
            <a:off x="9552305" y="4068445"/>
            <a:ext cx="2476500" cy="495300"/>
          </a:xfrm>
          <a:prstGeom prst="rect">
            <a:avLst/>
          </a:prstGeom>
          <a:noFill/>
          <a:ln w="0">
            <a:noFill/>
            <a:prstDash val="solid"/>
          </a:ln>
        </p:spPr>
        <p:txBody>
          <a:bodyPr lIns="0" tIns="0" rIns="0" bIns="0" anchor="ctr"/>
          <a:lstStyle>
            <a:defPPr algn="ctr">
              <a:defRPr sz="24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4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4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4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4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4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4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4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4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4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400" b="1" i="0">
                <a:solidFill>
                  <a:srgbClr val="B5121B"/>
                </a:solidFill>
                <a:latin typeface="微软雅黑" panose="020B0503020204020204" charset="-122"/>
                <a:ea typeface="微软雅黑" panose="020B0503020204020204" charset="-122"/>
                <a:cs typeface="微软雅黑" panose="020B0503020204020204" charset="-122"/>
              </a:defRPr>
            </a:pPr>
            <a:r>
              <a:rPr sz="2400" b="1" i="0">
                <a:solidFill>
                  <a:srgbClr val="B5121B"/>
                </a:solidFill>
                <a:latin typeface="微软雅黑" panose="020B0503020204020204" charset="-122"/>
                <a:ea typeface="微软雅黑" panose="020B0503020204020204" charset="-122"/>
                <a:cs typeface="微软雅黑" panose="020B0503020204020204" charset="-122"/>
              </a:rPr>
              <a:t>+1.91 pp</a:t>
            </a:r>
            <a:endParaRPr sz="24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9552305" y="4544695"/>
            <a:ext cx="2476500" cy="266700"/>
          </a:xfrm>
          <a:prstGeom prst="rect">
            <a:avLst/>
          </a:prstGeom>
          <a:noFill/>
          <a:ln w="0">
            <a:noFill/>
            <a:prstDash val="solid"/>
          </a:ln>
        </p:spPr>
        <p:txBody>
          <a:bodyPr lIns="0" tIns="0" rIns="0" bIns="0" anchor="ctr"/>
          <a:lstStyle>
            <a:defPPr algn="ctr">
              <a:defRPr sz="11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1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1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1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1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1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1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1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1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1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125" b="0" i="0">
                <a:solidFill>
                  <a:srgbClr val="5B5B5B"/>
                </a:solidFill>
                <a:latin typeface="微软雅黑" panose="020B0503020204020204" charset="-122"/>
                <a:ea typeface="微软雅黑" panose="020B0503020204020204" charset="-122"/>
                <a:cs typeface="微软雅黑" panose="020B0503020204020204" charset="-122"/>
              </a:defRPr>
            </a:pPr>
            <a:r>
              <a:rPr sz="1125" b="0" i="0">
                <a:solidFill>
                  <a:srgbClr val="5B5B5B"/>
                </a:solidFill>
                <a:latin typeface="微软雅黑" panose="020B0503020204020204" charset="-122"/>
                <a:ea typeface="微软雅黑" panose="020B0503020204020204" charset="-122"/>
                <a:cs typeface="微软雅黑" panose="020B0503020204020204" charset="-122"/>
              </a:rPr>
              <a:t>相对 DaFKD-hetero</a:t>
            </a:r>
            <a:endParaRPr sz="11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8"/>
            </p:custDataLst>
          </p:nvPr>
        </p:nvSpPr>
        <p:spPr>
          <a:xfrm>
            <a:off x="9599930" y="4887595"/>
            <a:ext cx="2381250" cy="304800"/>
          </a:xfrm>
          <a:prstGeom prst="rect">
            <a:avLst/>
          </a:prstGeom>
          <a:noFill/>
          <a:ln w="0">
            <a:noFill/>
            <a:prstDash val="solid"/>
          </a:ln>
        </p:spPr>
        <p:txBody>
          <a:bodyPr lIns="0" tIns="0" rIns="0" bIns="0" anchor="ctr"/>
          <a:lstStyle>
            <a:defPPr algn="ctr">
              <a:defRPr sz="1425" b="1"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1"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1"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1"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1"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1"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1"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1"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1"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1"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1" i="0">
                <a:solidFill>
                  <a:srgbClr val="5B5B5B"/>
                </a:solidFill>
                <a:latin typeface="微软雅黑" panose="020B0503020204020204" charset="-122"/>
                <a:ea typeface="微软雅黑" panose="020B0503020204020204" charset="-122"/>
                <a:cs typeface="微软雅黑" panose="020B0503020204020204" charset="-122"/>
              </a:defRPr>
            </a:pPr>
            <a:r>
              <a:rPr sz="1425" b="1" i="0">
                <a:solidFill>
                  <a:srgbClr val="5B5B5B"/>
                </a:solidFill>
                <a:latin typeface="微软雅黑" panose="020B0503020204020204" charset="-122"/>
                <a:ea typeface="微软雅黑" panose="020B0503020204020204" charset="-122"/>
                <a:cs typeface="微软雅黑" panose="020B0503020204020204" charset="-122"/>
              </a:rPr>
              <a:t>Tiny-ImageNet</a:t>
            </a:r>
            <a:endParaRPr sz="1425" b="1"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custDataLst>
              <p:tags r:id="rId9"/>
            </p:custDataLst>
          </p:nvPr>
        </p:nvSpPr>
        <p:spPr>
          <a:xfrm>
            <a:off x="9552305" y="5211445"/>
            <a:ext cx="2476500" cy="495300"/>
          </a:xfrm>
          <a:prstGeom prst="rect">
            <a:avLst/>
          </a:prstGeom>
          <a:noFill/>
          <a:ln w="0">
            <a:noFill/>
            <a:prstDash val="solid"/>
          </a:ln>
        </p:spPr>
        <p:txBody>
          <a:bodyPr lIns="0" tIns="0" rIns="0" bIns="0" anchor="ctr"/>
          <a:lstStyle>
            <a:defPPr algn="ctr">
              <a:defRPr sz="24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4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4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4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4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4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4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4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4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4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400" b="1" i="0">
                <a:solidFill>
                  <a:srgbClr val="B5121B"/>
                </a:solidFill>
                <a:latin typeface="微软雅黑" panose="020B0503020204020204" charset="-122"/>
                <a:ea typeface="微软雅黑" panose="020B0503020204020204" charset="-122"/>
                <a:cs typeface="微软雅黑" panose="020B0503020204020204" charset="-122"/>
              </a:defRPr>
            </a:pPr>
            <a:r>
              <a:rPr sz="2400" b="1" i="0">
                <a:solidFill>
                  <a:srgbClr val="B5121B"/>
                </a:solidFill>
                <a:latin typeface="微软雅黑" panose="020B0503020204020204" charset="-122"/>
                <a:ea typeface="微软雅黑" panose="020B0503020204020204" charset="-122"/>
                <a:cs typeface="微软雅黑" panose="020B0503020204020204" charset="-122"/>
              </a:rPr>
              <a:t>+1.56 pp</a:t>
            </a:r>
            <a:endParaRPr sz="24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9552305" y="5687695"/>
            <a:ext cx="2476500" cy="266700"/>
          </a:xfrm>
          <a:prstGeom prst="rect">
            <a:avLst/>
          </a:prstGeom>
          <a:noFill/>
          <a:ln w="0">
            <a:noFill/>
            <a:prstDash val="solid"/>
          </a:ln>
        </p:spPr>
        <p:txBody>
          <a:bodyPr lIns="0" tIns="0" rIns="0" bIns="0" anchor="ctr"/>
          <a:lstStyle>
            <a:defPPr algn="ctr">
              <a:defRPr sz="11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1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1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1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1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1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1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1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1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1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125" b="0" i="0">
                <a:solidFill>
                  <a:srgbClr val="5B5B5B"/>
                </a:solidFill>
                <a:latin typeface="微软雅黑" panose="020B0503020204020204" charset="-122"/>
                <a:ea typeface="微软雅黑" panose="020B0503020204020204" charset="-122"/>
                <a:cs typeface="微软雅黑" panose="020B0503020204020204" charset="-122"/>
              </a:defRPr>
            </a:pPr>
            <a:r>
              <a:rPr sz="1125" b="0" i="0">
                <a:solidFill>
                  <a:srgbClr val="5B5B5B"/>
                </a:solidFill>
                <a:latin typeface="微软雅黑" panose="020B0503020204020204" charset="-122"/>
                <a:ea typeface="微软雅黑" panose="020B0503020204020204" charset="-122"/>
                <a:cs typeface="微软雅黑" panose="020B0503020204020204" charset="-122"/>
              </a:rPr>
              <a:t>相对 FedGD</a:t>
            </a:r>
            <a:endParaRPr sz="11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数据来源：论文 Table 1；pp 表示百分点，按 Global 行均值计算</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12"/>
          <a:stretch>
            <a:fillRect/>
          </a:stretch>
        </p:blipFill>
        <p:spPr>
          <a:xfrm>
            <a:off x="457200" y="1733550"/>
            <a:ext cx="9568180" cy="478028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FedFD 的曲线更平稳，并更早达到目标准确率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61912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1095375" y="5238750"/>
            <a:ext cx="4572000" cy="45720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FedFD 在两个数据集上保持更高且更稳定的轨迹</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α = 1.0；轮数越少越好，&gt;200 为未达标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两项组件均有贡献，FedFD 在四种模型组合下均保持最高准确率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190625" y="5476875"/>
            <a:ext cx="9810750" cy="590550"/>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1575"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157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a:t>
            </a:r>
            <a:r>
              <a:rPr sz="2550" b="1" i="0">
                <a:solidFill>
                  <a:srgbClr val="222222"/>
                </a:solidFill>
                <a:latin typeface="微软雅黑" panose="020B0503020204020204" charset="-122"/>
                <a:ea typeface="微软雅黑" panose="020B0503020204020204" charset="-122"/>
                <a:cs typeface="微软雅黑" panose="020B0503020204020204" charset="-122"/>
              </a:rPr>
              <a:t>、局限与未来工作</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论文完成了有针对性的工程设计，但证据范围仍有限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85800" y="1866900"/>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nvSpPr>
        <p:spPr>
          <a:xfrm>
            <a:off x="762000" y="2657475"/>
            <a:ext cx="95250" cy="95250"/>
          </a:xfrm>
          <a:prstGeom prst="ellipse">
            <a:avLst/>
          </a:prstGeom>
          <a:solidFill>
            <a:srgbClr val="B5121B"/>
          </a:solidFill>
          <a:ln w="0">
            <a:noFill/>
            <a:prstDash val="solid"/>
          </a:ln>
        </p:spPr>
      </p:sp>
      <p:sp>
        <p:nvSpPr>
          <p:cNvPr id="11" name="矩形 10"/>
          <p:cNvSpPr>
            <a:spLocks noGrp="1"/>
          </p:cNvSpPr>
          <p:nvPr/>
        </p:nvSpPr>
        <p:spPr>
          <a:xfrm>
            <a:off x="971550" y="2571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590800" y="2571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特征蒸馏配合正交投影，可稳定聚合异构模型知识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nvSpPr>
        <p:spPr>
          <a:xfrm>
            <a:off x="762000" y="3228975"/>
            <a:ext cx="95250" cy="95250"/>
          </a:xfrm>
          <a:prstGeom prst="ellipse">
            <a:avLst/>
          </a:prstGeom>
          <a:solidFill>
            <a:srgbClr val="B5121B"/>
          </a:solidFill>
          <a:ln w="0">
            <a:noFill/>
            <a:prstDash val="solid"/>
          </a:ln>
        </p:spPr>
      </p:sp>
      <p:sp>
        <p:nvSpPr>
          <p:cNvPr id="14" name="矩形 13"/>
          <p:cNvSpPr>
            <a:spLocks noGrp="1"/>
          </p:cNvSpPr>
          <p:nvPr/>
        </p:nvSpPr>
        <p:spPr>
          <a:xfrm>
            <a:off x="971550" y="31432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590800" y="31432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nvSpPr>
        <p:spPr>
          <a:xfrm>
            <a:off x="762000" y="3800475"/>
            <a:ext cx="95250" cy="95250"/>
          </a:xfrm>
          <a:prstGeom prst="ellipse">
            <a:avLst/>
          </a:prstGeom>
          <a:solidFill>
            <a:srgbClr val="B5121B"/>
          </a:solidFill>
          <a:ln w="0">
            <a:noFill/>
            <a:prstDash val="solid"/>
          </a:ln>
        </p:spPr>
      </p:sp>
      <p:sp>
        <p:nvSpPr>
          <p:cNvPr id="17" name="矩形 16"/>
          <p:cNvSpPr>
            <a:spLocks noGrp="1"/>
          </p:cNvSpPr>
          <p:nvPr/>
        </p:nvSpPr>
        <p:spPr>
          <a:xfrm>
            <a:off x="971550" y="3714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590800" y="3714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66750" y="4476750"/>
            <a:ext cx="10858500" cy="0"/>
          </a:xfrm>
          <a:prstGeom prst="line">
            <a:avLst/>
          </a:prstGeom>
          <a:noFill/>
          <a:ln w="19050">
            <a:solidFill>
              <a:srgbClr val="D9DCE2"/>
            </a:solidFill>
            <a:prstDash val="solid"/>
          </a:ln>
        </p:spPr>
      </p:sp>
      <p:sp>
        <p:nvSpPr>
          <p:cNvPr id="20" name="圆角矩形 19"/>
          <p:cNvSpPr>
            <a:spLocks noGrp="1"/>
          </p:cNvSpPr>
          <p:nvPr/>
        </p:nvSpPr>
        <p:spPr>
          <a:xfrm>
            <a:off x="685800" y="4762500"/>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评价</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857625" y="4762500"/>
            <a:ext cx="6667500" cy="361950"/>
          </a:xfrm>
          <a:prstGeom prst="rect">
            <a:avLst/>
          </a:prstGeom>
          <a:noFill/>
          <a:ln w="0">
            <a:noFill/>
            <a:prstDash val="solid"/>
          </a:ln>
        </p:spPr>
        <p:txBody>
          <a:bodyPr lIns="0" tIns="0" rIns="0" bIns="0" anchor="ctr"/>
          <a:lstStyle>
            <a:defPPr algn="l">
              <a:defRPr sz="157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57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1598A5"/>
                </a:solidFill>
                <a:latin typeface="微软雅黑" panose="020B0503020204020204" charset="-122"/>
                <a:ea typeface="微软雅黑" panose="020B0503020204020204" charset="-122"/>
                <a:cs typeface="微软雅黑" panose="020B0503020204020204" charset="-122"/>
              </a:defRPr>
            </a:pPr>
            <a:r>
              <a:rPr sz="1575" b="1" i="0">
                <a:solidFill>
                  <a:srgbClr val="1598A5"/>
                </a:solidFill>
                <a:latin typeface="微软雅黑" panose="020B0503020204020204" charset="-122"/>
                <a:ea typeface="微软雅黑" panose="020B0503020204020204" charset="-122"/>
                <a:cs typeface="微软雅黑" panose="020B0503020204020204" charset="-122"/>
              </a:rPr>
              <a:t>优势：问题与方法对应清晰，消融能解释模块作用</a:t>
            </a:r>
            <a:endParaRPr sz="157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914400" y="5334000"/>
            <a:ext cx="10191750" cy="7239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局限：仅两次运行；缺少墙钟时间、FLOPs 与显存开销；依赖公共蒸馏数据；未给收敛理论；任务集中于图像分类</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从方法假设、成本口径和迁移范围检验论文边界</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952625"/>
            <a:ext cx="819150" cy="685800"/>
          </a:xfrm>
          <a:prstGeom prst="roundRect">
            <a:avLst>
              <a:gd name="adj" fmla="val 16667"/>
            </a:avLst>
          </a:prstGeom>
          <a:solidFill>
            <a:srgbClr val="3577B8"/>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01</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1809750" y="1952625"/>
            <a:ext cx="8572500" cy="409575"/>
          </a:xfrm>
          <a:prstGeom prst="rect">
            <a:avLst/>
          </a:prstGeom>
          <a:noFill/>
          <a:ln w="0">
            <a:noFill/>
            <a:prstDash val="solid"/>
          </a:ln>
        </p:spPr>
        <p:txBody>
          <a:bodyPr lIns="0" tIns="0" rIns="0" bIns="0" anchor="ctr"/>
          <a:lstStyle>
            <a:defPPr algn="l">
              <a:defRPr sz="18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3577B8"/>
                </a:solidFill>
                <a:latin typeface="微软雅黑" panose="020B0503020204020204" charset="-122"/>
                <a:ea typeface="微软雅黑" panose="020B0503020204020204" charset="-122"/>
                <a:cs typeface="微软雅黑" panose="020B0503020204020204" charset="-122"/>
              </a:defRPr>
            </a:pPr>
            <a:r>
              <a:rPr sz="1875" b="1" i="0">
                <a:solidFill>
                  <a:srgbClr val="3577B8"/>
                </a:solidFill>
                <a:latin typeface="微软雅黑" panose="020B0503020204020204" charset="-122"/>
                <a:ea typeface="微软雅黑" panose="020B0503020204020204" charset="-122"/>
                <a:cs typeface="微软雅黑" panose="020B0503020204020204" charset="-122"/>
              </a:rPr>
              <a:t>没有公共蒸馏数据时怎么办？</a:t>
            </a:r>
            <a:endParaRPr sz="18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1809750" y="242887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可结合数据自由蒸馏，但生成器稳定性和隐私风险需要重新评估。</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666750" y="3305175"/>
            <a:ext cx="819150" cy="685800"/>
          </a:xfrm>
          <a:prstGeom prst="roundRect">
            <a:avLst>
              <a:gd name="adj" fmla="val 16667"/>
            </a:avLst>
          </a:prstGeom>
          <a:solidFill>
            <a:srgbClr val="B5121B"/>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02</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809750" y="3305175"/>
            <a:ext cx="8572500" cy="409575"/>
          </a:xfrm>
          <a:prstGeom prst="rect">
            <a:avLst/>
          </a:prstGeom>
          <a:noFill/>
          <a:ln w="0">
            <a:noFill/>
            <a:prstDash val="solid"/>
          </a:ln>
        </p:spPr>
        <p:txBody>
          <a:bodyPr lIns="0" tIns="0" rIns="0" bIns="0" anchor="ctr"/>
          <a:lstStyle>
            <a:defPPr algn="l">
              <a:defRPr sz="18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B5121B"/>
                </a:solidFill>
                <a:latin typeface="微软雅黑" panose="020B0503020204020204" charset="-122"/>
                <a:ea typeface="微软雅黑" panose="020B0503020204020204" charset="-122"/>
                <a:cs typeface="微软雅黑" panose="020B0503020204020204" charset="-122"/>
              </a:defRPr>
            </a:pPr>
            <a:r>
              <a:rPr sz="1875" b="1" i="0">
                <a:solidFill>
                  <a:srgbClr val="B5121B"/>
                </a:solidFill>
                <a:latin typeface="微软雅黑" panose="020B0503020204020204" charset="-122"/>
                <a:ea typeface="微软雅黑" panose="020B0503020204020204" charset="-122"/>
                <a:cs typeface="微软雅黑" panose="020B0503020204020204" charset="-122"/>
              </a:rPr>
              <a:t>正交投影的收益是否抵消计算成本？</a:t>
            </a:r>
            <a:endParaRPr sz="187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1809750" y="378142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需要报告截断阶数、服务器时延、显存和能耗，而不仅是通信轮数。</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圆角矩形 14"/>
          <p:cNvSpPr>
            <a:spLocks noGrp="1"/>
          </p:cNvSpPr>
          <p:nvPr/>
        </p:nvSpPr>
        <p:spPr>
          <a:xfrm>
            <a:off x="666750" y="4657725"/>
            <a:ext cx="819150" cy="685800"/>
          </a:xfrm>
          <a:prstGeom prst="roundRect">
            <a:avLst>
              <a:gd name="adj" fmla="val 16667"/>
            </a:avLst>
          </a:prstGeom>
          <a:solidFill>
            <a:srgbClr val="1598A5"/>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03</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1809750" y="4657725"/>
            <a:ext cx="8572500" cy="409575"/>
          </a:xfrm>
          <a:prstGeom prst="rect">
            <a:avLst/>
          </a:prstGeom>
          <a:noFill/>
          <a:ln w="0">
            <a:noFill/>
            <a:prstDash val="solid"/>
          </a:ln>
        </p:spPr>
        <p:txBody>
          <a:bodyPr lIns="0" tIns="0" rIns="0" bIns="0" anchor="ctr"/>
          <a:lstStyle>
            <a:defPPr algn="l">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87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能否迁移到 Transformer 或多模态模型？</a:t>
            </a:r>
            <a:endParaRPr sz="187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809750" y="513397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特征层选择、序列长度和跨模态空间对齐可能带来新的异构性。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恳请各位老师和同学批评指正！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87.25,&quot;left&quot;:69,&quot;top&quot;:152.25,&quot;width&quot;:688.5}"/>
</p:tagLst>
</file>

<file path=ppt/tags/tag10.xml><?xml version="1.0" encoding="utf-8"?>
<p:tagLst xmlns:p="http://schemas.openxmlformats.org/presentationml/2006/main">
  <p:tag name="KSO_WM_DIAGRAM_VIRTUALLY_FRAME" val="{&quot;height&quot;:287.25,&quot;left&quot;:69,&quot;top&quot;:152.25,&quot;width&quot;:688.5}"/>
</p:tagLst>
</file>

<file path=ppt/tags/tag11.xml><?xml version="1.0" encoding="utf-8"?>
<p:tagLst xmlns:p="http://schemas.openxmlformats.org/presentationml/2006/main">
  <p:tag name="KSO_WM_DIAGRAM_VIRTUALLY_FRAME" val="{&quot;height&quot;:287.25,&quot;left&quot;:69,&quot;top&quot;:152.25,&quot;width&quot;:688.5}"/>
</p:tagLst>
</file>

<file path=ppt/tags/tag12.xml><?xml version="1.0" encoding="utf-8"?>
<p:tagLst xmlns:p="http://schemas.openxmlformats.org/presentationml/2006/main">
  <p:tag name="KSO_WM_DIAGRAM_VIRTUALLY_FRAME" val="{&quot;height&quot;:287.25,&quot;left&quot;:69,&quot;top&quot;:152.25,&quot;width&quot;:688.5}"/>
</p:tagLst>
</file>

<file path=ppt/tags/tag13.xml><?xml version="1.0" encoding="utf-8"?>
<p:tagLst xmlns:p="http://schemas.openxmlformats.org/presentationml/2006/main">
  <p:tag name="KSO_WM_DIAGRAM_VIRTUALLY_FRAME" val="{&quot;height&quot;:246.15,&quot;left&quot;:16.750000000000007,&quot;top&quot;:249.25,&quot;width&quot;:584.5000000000005}"/>
</p:tagLst>
</file>

<file path=ppt/tags/tag14.xml><?xml version="1.0" encoding="utf-8"?>
<p:tagLst xmlns:p="http://schemas.openxmlformats.org/presentationml/2006/main">
  <p:tag name="KSO_WM_DIAGRAM_VIRTUALLY_FRAME" val="{&quot;height&quot;:246.15,&quot;left&quot;:16.750000000000007,&quot;top&quot;:249.25,&quot;width&quot;:584.5000000000005}"/>
</p:tagLst>
</file>

<file path=ppt/tags/tag15.xml><?xml version="1.0" encoding="utf-8"?>
<p:tagLst xmlns:p="http://schemas.openxmlformats.org/presentationml/2006/main">
  <p:tag name="KSO_WM_DIAGRAM_VIRTUALLY_FRAME" val="{&quot;height&quot;:246.15,&quot;left&quot;:16.750000000000007,&quot;top&quot;:249.25,&quot;width&quot;:584.5000000000005}"/>
</p:tagLst>
</file>

<file path=ppt/tags/tag16.xml><?xml version="1.0" encoding="utf-8"?>
<p:tagLst xmlns:p="http://schemas.openxmlformats.org/presentationml/2006/main">
  <p:tag name="KSO_WM_DIAGRAM_VIRTUALLY_FRAME" val="{&quot;height&quot;:246.15,&quot;left&quot;:16.750000000000007,&quot;top&quot;:249.25,&quot;width&quot;:584.5000000000005}"/>
</p:tagLst>
</file>

<file path=ppt/tags/tag17.xml><?xml version="1.0" encoding="utf-8"?>
<p:tagLst xmlns:p="http://schemas.openxmlformats.org/presentationml/2006/main">
  <p:tag name="KSO_WM_DIAGRAM_VIRTUALLY_FRAME" val="{&quot;height&quot;:246.15,&quot;left&quot;:16.750000000000007,&quot;top&quot;:249.25,&quot;width&quot;:584.5000000000005}"/>
</p:tagLst>
</file>

<file path=ppt/tags/tag18.xml><?xml version="1.0" encoding="utf-8"?>
<p:tagLst xmlns:p="http://schemas.openxmlformats.org/presentationml/2006/main">
  <p:tag name="KSO_WM_DIAGRAM_VIRTUALLY_FRAME" val="{&quot;height&quot;:246.15,&quot;left&quot;:16.750000000000007,&quot;top&quot;:249.25,&quot;width&quot;:584.500000000000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78.5,&quot;left&quot;:36.45,&quot;top&quot;:243.6,&quot;width&quot;:819.75}"/>
</p:tagLst>
</file>

<file path=ppt/tags/tag28.xml><?xml version="1.0" encoding="utf-8"?>
<p:tagLst xmlns:p="http://schemas.openxmlformats.org/presentationml/2006/main">
  <p:tag name="KSO_WM_DIAGRAM_VIRTUALLY_FRAME" val="{&quot;height&quot;:178.5,&quot;left&quot;:36.45,&quot;top&quot;:243.6,&quot;width&quot;:819.75}"/>
</p:tagLst>
</file>

<file path=ppt/tags/tag29.xml><?xml version="1.0" encoding="utf-8"?>
<p:tagLst xmlns:p="http://schemas.openxmlformats.org/presentationml/2006/main">
  <p:tag name="KSO_WM_DIAGRAM_VIRTUALLY_FRAME" val="{&quot;height&quot;:178.5,&quot;left&quot;:36.45,&quot;top&quot;:243.6,&quot;width&quot;:819.75}"/>
</p:tagLst>
</file>

<file path=ppt/tags/tag30.xml><?xml version="1.0" encoding="utf-8"?>
<p:tagLst xmlns:p="http://schemas.openxmlformats.org/presentationml/2006/main">
  <p:tag name="KSO_WM_DIAGRAM_VIRTUALLY_FRAME" val="{&quot;height&quot;:178.5,&quot;left&quot;:36.45,&quot;top&quot;:243.6,&quot;width&quot;:819.75}"/>
</p:tagLst>
</file>

<file path=ppt/tags/tag31.xml><?xml version="1.0" encoding="utf-8"?>
<p:tagLst xmlns:p="http://schemas.openxmlformats.org/presentationml/2006/main">
  <p:tag name="KSO_WM_DIAGRAM_VIRTUALLY_FRAME" val="{&quot;height&quot;:262.5,&quot;left&quot;:52.5,&quot;top&quot;:138.75,&quot;width&quot;:870}"/>
</p:tagLst>
</file>

<file path=ppt/tags/tag32.xml><?xml version="1.0" encoding="utf-8"?>
<p:tagLst xmlns:p="http://schemas.openxmlformats.org/presentationml/2006/main">
  <p:tag name="KSO_WM_DIAGRAM_VIRTUALLY_FRAME" val="{&quot;height&quot;:262.5,&quot;left&quot;:52.5,&quot;top&quot;:138.75,&quot;width&quot;:870}"/>
</p:tagLst>
</file>

<file path=ppt/tags/tag33.xml><?xml version="1.0" encoding="utf-8"?>
<p:tagLst xmlns:p="http://schemas.openxmlformats.org/presentationml/2006/main">
  <p:tag name="KSO_WM_DIAGRAM_VIRTUALLY_FRAME" val="{&quot;height&quot;:262.5,&quot;left&quot;:52.5,&quot;top&quot;:138.75,&quot;width&quot;:870}"/>
</p:tagLst>
</file>

<file path=ppt/tags/tag34.xml><?xml version="1.0" encoding="utf-8"?>
<p:tagLst xmlns:p="http://schemas.openxmlformats.org/presentationml/2006/main">
  <p:tag name="KSO_WM_DIAGRAM_VIRTUALLY_FRAME" val="{&quot;height&quot;:262.5,&quot;left&quot;:52.5,&quot;top&quot;:138.75,&quot;width&quot;:870}"/>
</p:tagLst>
</file>

<file path=ppt/tags/tag35.xml><?xml version="1.0" encoding="utf-8"?>
<p:tagLst xmlns:p="http://schemas.openxmlformats.org/presentationml/2006/main">
  <p:tag name="KSO_WM_DIAGRAM_VIRTUALLY_FRAME" val="{&quot;height&quot;:262.5,&quot;left&quot;:52.5,&quot;top&quot;:138.75,&quot;width&quot;:870}"/>
</p:tagLst>
</file>

<file path=ppt/tags/tag36.xml><?xml version="1.0" encoding="utf-8"?>
<p:tagLst xmlns:p="http://schemas.openxmlformats.org/presentationml/2006/main">
  <p:tag name="KSO_WM_DIAGRAM_VIRTUALLY_FRAME" val="{&quot;height&quot;:262.5,&quot;left&quot;:52.5,&quot;top&quot;:138.75,&quot;width&quot;:870}"/>
</p:tagLst>
</file>

<file path=ppt/tags/tag37.xml><?xml version="1.0" encoding="utf-8"?>
<p:tagLst xmlns:p="http://schemas.openxmlformats.org/presentationml/2006/main">
  <p:tag name="KSO_WM_DIAGRAM_VIRTUALLY_FRAME" val="{&quot;height&quot;:262.5,&quot;left&quot;:52.5,&quot;top&quot;:138.75,&quot;width&quot;:870}"/>
</p:tagLst>
</file>

<file path=ppt/tags/tag38.xml><?xml version="1.0" encoding="utf-8"?>
<p:tagLst xmlns:p="http://schemas.openxmlformats.org/presentationml/2006/main">
  <p:tag name="KSO_WM_DIAGRAM_VIRTUALLY_FRAME" val="{&quot;height&quot;:262.5,&quot;left&quot;:52.5,&quot;top&quot;:138.75,&quot;width&quot;:870}"/>
</p:tagLst>
</file>

<file path=ppt/tags/tag39.xml><?xml version="1.0" encoding="utf-8"?>
<p:tagLst xmlns:p="http://schemas.openxmlformats.org/presentationml/2006/main">
  <p:tag name="KSO_WM_DIAGRAM_VIRTUALLY_FRAME" val="{&quot;height&quot;:262.5,&quot;left&quot;:52.5,&quot;top&quot;:138.75,&quot;width&quot;:870}"/>
</p:tagLst>
</file>

<file path=ppt/tags/tag40.xml><?xml version="1.0" encoding="utf-8"?>
<p:tagLst xmlns:p="http://schemas.openxmlformats.org/presentationml/2006/main">
  <p:tag name="KSO_WM_DIAGRAM_VIRTUALLY_FRAME" val="{&quot;height&quot;:262.5,&quot;left&quot;:52.5,&quot;top&quot;:138.75,&quot;width&quot;:870}"/>
</p:tagLst>
</file>

<file path=ppt/tags/tag41.xml><?xml version="1.0" encoding="utf-8"?>
<p:tagLst xmlns:p="http://schemas.openxmlformats.org/presentationml/2006/main">
  <p:tag name="KSO_WM_DIAGRAM_VIRTUALLY_FRAME" val="{&quot;height&quot;:262.5,&quot;left&quot;:52.5,&quot;top&quot;:138.75,&quot;width&quot;:870}"/>
</p:tagLst>
</file>

<file path=ppt/tags/tag42.xml><?xml version="1.0" encoding="utf-8"?>
<p:tagLst xmlns:p="http://schemas.openxmlformats.org/presentationml/2006/main">
  <p:tag name="KSO_WM_DIAGRAM_VIRTUALLY_FRAME" val="{&quot;height&quot;:262.5,&quot;left&quot;:52.5,&quot;top&quot;:138.75,&quot;width&quot;:870}"/>
</p:tagLst>
</file>

<file path=ppt/tags/tag43.xml><?xml version="1.0" encoding="utf-8"?>
<p:tagLst xmlns:p="http://schemas.openxmlformats.org/presentationml/2006/main">
  <p:tag name="KSO_WM_DIAGRAM_VIRTUALLY_FRAME" val="{&quot;height&quot;:262.5,&quot;left&quot;:52.5,&quot;top&quot;:138.75,&quot;width&quot;:870}"/>
</p:tagLst>
</file>

<file path=ppt/tags/tag44.xml><?xml version="1.0" encoding="utf-8"?>
<p:tagLst xmlns:p="http://schemas.openxmlformats.org/presentationml/2006/main">
  <p:tag name="KSO_WM_DIAGRAM_VIRTUALLY_FRAME" val="{&quot;height&quot;:262.5,&quot;left&quot;:52.5,&quot;top&quot;:138.75,&quot;width&quot;:870}"/>
</p:tagLst>
</file>

<file path=ppt/tags/tag45.xml><?xml version="1.0" encoding="utf-8"?>
<p:tagLst xmlns:p="http://schemas.openxmlformats.org/presentationml/2006/main">
  <p:tag name="KSO_WM_DIAGRAM_VIRTUALLY_FRAME" val="{&quot;height&quot;:262.5,&quot;left&quot;:52.5,&quot;top&quot;:138.75,&quot;width&quot;:870}"/>
</p:tagLst>
</file>

<file path=ppt/tags/tag46.xml><?xml version="1.0" encoding="utf-8"?>
<p:tagLst xmlns:p="http://schemas.openxmlformats.org/presentationml/2006/main">
  <p:tag name="KSO_WM_DIAGRAM_VIRTUALLY_FRAME" val="{&quot;height&quot;:264,&quot;left&quot;:752.15,&quot;top&quot;:204.85,&quot;width&quot;:195}"/>
</p:tagLst>
</file>

<file path=ppt/tags/tag47.xml><?xml version="1.0" encoding="utf-8"?>
<p:tagLst xmlns:p="http://schemas.openxmlformats.org/presentationml/2006/main">
  <p:tag name="KSO_WM_DIAGRAM_VIRTUALLY_FRAME" val="{&quot;height&quot;:264,&quot;left&quot;:752.15,&quot;top&quot;:204.85,&quot;width&quot;:195}"/>
</p:tagLst>
</file>

<file path=ppt/tags/tag48.xml><?xml version="1.0" encoding="utf-8"?>
<p:tagLst xmlns:p="http://schemas.openxmlformats.org/presentationml/2006/main">
  <p:tag name="KSO_WM_DIAGRAM_VIRTUALLY_FRAME" val="{&quot;height&quot;:264,&quot;left&quot;:752.15,&quot;top&quot;:204.85,&quot;width&quot;:195}"/>
</p:tagLst>
</file>

<file path=ppt/tags/tag49.xml><?xml version="1.0" encoding="utf-8"?>
<p:tagLst xmlns:p="http://schemas.openxmlformats.org/presentationml/2006/main">
  <p:tag name="KSO_WM_DIAGRAM_VIRTUALLY_FRAME" val="{&quot;height&quot;:264,&quot;left&quot;:752.15,&quot;top&quot;:204.85,&quot;width&quot;:195}"/>
</p:tagLst>
</file>

<file path=ppt/tags/tag50.xml><?xml version="1.0" encoding="utf-8"?>
<p:tagLst xmlns:p="http://schemas.openxmlformats.org/presentationml/2006/main">
  <p:tag name="KSO_WM_DIAGRAM_VIRTUALLY_FRAME" val="{&quot;height&quot;:264,&quot;left&quot;:752.15,&quot;top&quot;:204.85,&quot;width&quot;:195}"/>
</p:tagLst>
</file>

<file path=ppt/tags/tag51.xml><?xml version="1.0" encoding="utf-8"?>
<p:tagLst xmlns:p="http://schemas.openxmlformats.org/presentationml/2006/main">
  <p:tag name="KSO_WM_DIAGRAM_VIRTUALLY_FRAME" val="{&quot;height&quot;:264,&quot;left&quot;:752.15,&quot;top&quot;:204.85,&quot;width&quot;:195}"/>
</p:tagLst>
</file>

<file path=ppt/tags/tag52.xml><?xml version="1.0" encoding="utf-8"?>
<p:tagLst xmlns:p="http://schemas.openxmlformats.org/presentationml/2006/main">
  <p:tag name="KSO_WM_DIAGRAM_VIRTUALLY_FRAME" val="{&quot;height&quot;:264,&quot;left&quot;:752.15,&quot;top&quot;:204.85,&quot;width&quot;:195}"/>
</p:tagLst>
</file>

<file path=ppt/tags/tag53.xml><?xml version="1.0" encoding="utf-8"?>
<p:tagLst xmlns:p="http://schemas.openxmlformats.org/presentationml/2006/main">
  <p:tag name="KSO_WM_DIAGRAM_VIRTUALLY_FRAME" val="{&quot;height&quot;:264,&quot;left&quot;:752.15,&quot;top&quot;:204.85,&quot;width&quot;:195}"/>
</p:tagLst>
</file>

<file path=ppt/tags/tag54.xml><?xml version="1.0" encoding="utf-8"?>
<p:tagLst xmlns:p="http://schemas.openxmlformats.org/presentationml/2006/main">
  <p:tag name="KSO_WM_DIAGRAM_VIRTUALLY_FRAME" val="{&quot;height&quot;:264,&quot;left&quot;:752.15,&quot;top&quot;:204.85,&quot;width&quot;:19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5500</Words>
  <Application>WPS 演示</Application>
  <PresentationFormat>Converted Presentation</PresentationFormat>
  <Paragraphs>734</Paragraphs>
  <Slides>25</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25</vt:i4>
      </vt:variant>
    </vt:vector>
  </HeadingPairs>
  <TitlesOfParts>
    <vt:vector size="44"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Cambria Math</vt:lpstr>
      <vt:lpstr>楷体</vt:lpstr>
      <vt:lpstr>Calibri</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30</cp:revision>
  <dcterms:created xsi:type="dcterms:W3CDTF">2026-10-18T10:32:00Z</dcterms:created>
  <dcterms:modified xsi:type="dcterms:W3CDTF">2026-10-21T06:55:13Z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