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62" r:id="rId13"/>
    <p:sldId id="264" r:id="rId14"/>
    <p:sldId id="265" r:id="rId15"/>
    <p:sldId id="266" r:id="rId16"/>
    <p:sldId id="267" r:id="rId17"/>
    <p:sldId id="268" r:id="rId18"/>
    <p:sldId id="269" r:id="rId19"/>
    <p:sldId id="270" r:id="rId20"/>
    <p:sldId id="271" r:id="rId21"/>
    <p:sldId id="273" r:id="rId22"/>
    <p:sldId id="274" r:id="rId23"/>
    <p:sldId id="275" r:id="rId24"/>
    <p:sldId id="276" r:id="rId25"/>
    <p:sldId id="277" r:id="rId26"/>
    <p:sldId id="278" r:id="rId27"/>
    <p:sldId id="283" r:id="rId28"/>
  </p:sldIdLst>
  <p:sldSz cx="12192000" cy="6858000"/>
  <p:notesSz cx="6858000" cy="9144000"/>
  <p:embeddedFontLst>
    <p:embeddedFont>
      <p:font typeface="微软雅黑" panose="020B0503020204020204" charset="-122"/>
      <p:regular r:id="rId32"/>
      <p:bold r:id="rId33"/>
    </p:embeddedFont>
    <p:embeddedFont>
      <p:font typeface="Cambria Math" panose="02040503050406030204"/>
      <p:regular r:id="rId34"/>
    </p:embeddedFont>
    <p:embeddedFont>
      <p:font typeface="Cambria Math" panose="02040503050406030204" charset="0"/>
      <p:regular r:id="rId35"/>
    </p:embeddedFont>
    <p:embeddedFont>
      <p:font typeface="楷体" panose="02010609060101010101" charset="-122"/>
      <p:regular r:id="rId36"/>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6" Type="http://schemas.openxmlformats.org/officeDocument/2006/relationships/font" Target="fonts/font5.fntdata"/><Relationship Id="rId35" Type="http://schemas.openxmlformats.org/officeDocument/2006/relationships/font" Target="fonts/font4.fntdata"/><Relationship Id="rId34" Type="http://schemas.openxmlformats.org/officeDocument/2006/relationships/font" Target="fonts/font3.fntdata"/><Relationship Id="rId33" Type="http://schemas.openxmlformats.org/officeDocument/2006/relationships/font" Target="fonts/font2.fntdata"/><Relationship Id="rId32" Type="http://schemas.openxmlformats.org/officeDocument/2006/relationships/font" Target="fonts/font1.fntdata"/><Relationship Id="rId31" Type="http://schemas.openxmlformats.org/officeDocument/2006/relationships/tableStyles" Target="tableStyles.xml"/><Relationship Id="rId30" Type="http://schemas.openxmlformats.org/officeDocument/2006/relationships/viewProps" Target="viewProps.xml"/><Relationship Id="rId3" Type="http://schemas.openxmlformats.org/officeDocument/2006/relationships/slide" Target="slides/slide1.xml"/><Relationship Id="rId29" Type="http://schemas.openxmlformats.org/officeDocument/2006/relationships/presProps" Target="presProps.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贡献不要按摘要逐字读。用两个子问题对应两个技术模块。</a:t>
            </a:r>
          </a:p>
          <a:p>
            <a:r>
              <a:t>分层特征对齐解决投影层数量和知识稀疏问题。正交投影解决跨架构特征冲突。</a:t>
            </a:r>
          </a:p>
          <a:p>
            <a:r>
              <a:t>实验验证不仅看最终准确率，还看收敛稳定性和通信轮数。</a:t>
            </a:r>
          </a:p>
          <a:p>
            <a:r>
              <a:t>来源：论文第 1 节贡献总结与第 3.3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普通投影层可以任意缩放和扭曲特征。多个投影层共同更新同一个全局特征提取器时，梯度方向可能互相冲突。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正交变换保持向量长度和夹角，相当于旋转或反射。它让不同架构的知识在相对稳定的几何结构中对齐。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严格来说，论文中的 M 可能是列正交的 Stiefel 矩阵，因为输入输出维度不一定相同。</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3.3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MᵀM=I：列正交约束】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名称：列向量标准正交约束。M 是投影映射矩阵，Mᵀ 是转置，I 为与列数一致的单位矩阵。该式表示各列范数为 1、不同列之间内积为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作用：约束单个映射的几何形状，避免自由线性变换任意缩放或剪切表示。若 M∈R^{n×d}、n≥d，且对 d 维列向量 z 使用 Mz，则 ‖Mz‖₂=‖z‖₂，内积也得到保持。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与 FedFD 的维度关系：论文让高维全局表示对齐低维客户端表示，并通过正交方阵截取列构造 Stiefel 矩阵。采用列向量降维写法时，应写 Mᵀz（等价于行向量写法 zᵀM）；任意高维向量在降维后通常不再完全保长。页面用于展示正交映射的几何直觉，不能把保长性质无条件推广到降维操作。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知识冲突解释：每个投影层各自满足正交约束，并不自动推出不同投影层之间 MᵢᵀMⱼ=0。页面的“分离方向”是方法动机与直觉，不能理解为论文已经证明所有教师空间彼此互相正交或完全没有冲突。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页，第 3.3 节对 Stiefel 矩阵和正交参数化的说明。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长度和夹角保持是正交变换最重要的几何性质。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当 M 是列正交矩阵时，它属于 Stiefel 流形，适合通过可微参数化参与训练。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这是一种方法直觉，不等于论文已经证明 FedFD 的收敛性。论文清单明确标记没有新定理。</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‖Mz‖₂=‖z‖₂：正交映射的长度保持】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名称：欧氏范数不变性。若 MᵀM=I，且 z 的维度等于 M 的列数，则 ‖Mz‖₂²=zᵀMᵀMz=zᵀz。取平方根可得页面公式。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符号：‖·‖₂ 是向量二范数，z 是待变换的特征列向量。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作用：说明符合条件的正交映射不会把同一个特征任意放大或缩小，减轻投影层额外引入的尺度失真。</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(Mz₁)ᵀ(Mz₂)=z₁ᵀz₂：内积保持及夹角保持】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名称：内积不变性。推导为 z₁ᵀMᵀMz₂=z₁ᵀz₂。结合上一条范数不变性，对于非零向量，余弦相似度和夹角也保持不变。</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符号：z₁、z₂ 是两个样本的特征，转置后的乘积表示内积。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作用：帮助理解正交约束为何有助于保留样本间的相似性结构。此性质不意味着分类精度必然提高，也不能替代实验或收敛理论。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M∈St(n,d)：Stiefel 流形约束】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名称：具有正交列的矩阵集合。St(n,d)={M∈R^{n×d}:MᵀM=I_d}，其中 n≥d。</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作用：规定可学习投影的可行空间。通过参数化而不是直接任意更新 M，可以让反向传播更新后仍满足相应的正交结构。可微性来自构造和运算，并非仅写出集合成员关系就完成了优化算法。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适用边界：上面两个恒等式对采用 Mz 的等距映射成立。FedFD 需要高维到低维对齐时，矩阵的行列约定与转置必须匹配，降维只保留投影子空间成分，不能保证所有高维输入的范数和夹角原样保留。单个投影的正交约束也不保证不同投影彼此正交。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页正交矩阵及 Stiefel 矩阵的讨论。本页两个几何恒等式是解释性推导，不是论文新增的收敛定理。</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图中只展示四种代表性方法，完整结果见论文 Table 1。</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【准确率与提升幅度的口径】本页阅读 Table 1 的 Global 行和 α=0.1 列。CIFAR-10：FedFD 82.74%，最强其他方法 DaFKD-hetero 80.07%，差值为 2.67 个百分点。CIFAR-100：FedFD 59.24%，DaFKD-hetero 57.33%，差值为 1.91 个百分点。Tiny-ImageNet：FedFD 29.09%，FedGD 27.53%，差值为 1.56 个百分点。pp 表示 percentage points，即准确率直接相减，不能表述成相对增长百分比。所有提升均基于表中均值，不代表已通过显著性检验。原表中的 ± 项保留原样。来源：论文第 8 页 Table 1。</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作者结论是 FedFD 能提升模型异构联邦学习的准确率和稳定性，并可作为现有聚合框架的附加模块。</a:t>
            </a:r>
          </a:p>
          <a:p>
            <a:r>
              <a:t>我的评价要区分论文声称与实际证据。论文的主要优势是问题、模块和实验基本一一对应。</a:t>
            </a:r>
          </a:p>
          <a:p>
            <a:r>
              <a:t>局限包括实验仅运行两次，缺少服务器端计算成本，使用公共蒸馏数据，任务集中于视觉分类，并且没有新的收敛理论。</a:t>
            </a:r>
          </a:p>
          <a:p>
            <a:r>
              <a:t>未来可以研究无公共数据的特征蒸馏、矩阵指数近似效率，以及更复杂模型架构和真实端侧设备。</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第一问检验数据假设：论文需要公共蒸馏数据，数据自由方案会引入新的不稳定性。</a:t>
            </a:r>
          </a:p>
          <a:p>
            <a:r>
              <a:t>第二问检验效率口径：通信轮数减少不代表总训练时间一定减少。</a:t>
            </a:r>
          </a:p>
          <a:p>
            <a:r>
              <a:t>第三问检验外推范围：CNN 图像特征与 Transformer token 特征的对齐难度不同。</a:t>
            </a:r>
          </a:p>
          <a:p>
            <a:r>
              <a:t>这三问都没有唯一答案，适合作为课堂提问和后续研究方向。</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6" Type="http://schemas.openxmlformats.org/officeDocument/2006/relationships/notesSlide" Target="../notesSlides/notesSlide2.xml"/><Relationship Id="rId15" Type="http://schemas.openxmlformats.org/officeDocument/2006/relationships/slideLayout" Target="../slideLayouts/slideLayout7.xml"/><Relationship Id="rId14" Type="http://schemas.openxmlformats.org/officeDocument/2006/relationships/image" Target="../media/image5.png"/><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8.xml"/><Relationship Id="rId7" Type="http://schemas.openxmlformats.org/officeDocument/2006/relationships/tags" Target="../tags/tag17.xml"/><Relationship Id="rId6" Type="http://schemas.openxmlformats.org/officeDocument/2006/relationships/tags" Target="../tags/tag16.xml"/><Relationship Id="rId5" Type="http://schemas.openxmlformats.org/officeDocument/2006/relationships/tags" Target="../tags/tag15.xml"/><Relationship Id="rId4" Type="http://schemas.openxmlformats.org/officeDocument/2006/relationships/tags" Target="../tags/tag14.xml"/><Relationship Id="rId3" Type="http://schemas.openxmlformats.org/officeDocument/2006/relationships/tags" Target="../tags/tag13.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5.xml"/><Relationship Id="rId8" Type="http://schemas.openxmlformats.org/officeDocument/2006/relationships/tags" Target="../tags/tag24.xml"/><Relationship Id="rId7" Type="http://schemas.openxmlformats.org/officeDocument/2006/relationships/tags" Target="../tags/tag23.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30.xml"/><Relationship Id="rId13" Type="http://schemas.openxmlformats.org/officeDocument/2006/relationships/tags" Target="../tags/tag29.xml"/><Relationship Id="rId12" Type="http://schemas.openxmlformats.org/officeDocument/2006/relationships/tags" Target="../tags/tag28.xml"/><Relationship Id="rId11" Type="http://schemas.openxmlformats.org/officeDocument/2006/relationships/tags" Target="../tags/tag27.xml"/><Relationship Id="rId10" Type="http://schemas.openxmlformats.org/officeDocument/2006/relationships/tags" Target="../tags/tag26.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8.xml"/><Relationship Id="rId8" Type="http://schemas.openxmlformats.org/officeDocument/2006/relationships/tags" Target="../tags/tag37.xml"/><Relationship Id="rId7" Type="http://schemas.openxmlformats.org/officeDocument/2006/relationships/tags" Target="../tags/tag36.xml"/><Relationship Id="rId6" Type="http://schemas.openxmlformats.org/officeDocument/2006/relationships/tags" Target="../tags/tag35.xml"/><Relationship Id="rId5" Type="http://schemas.openxmlformats.org/officeDocument/2006/relationships/image" Target="../media/image3.png"/><Relationship Id="rId4" Type="http://schemas.openxmlformats.org/officeDocument/2006/relationships/tags" Target="../tags/tag34.xml"/><Relationship Id="rId3" Type="http://schemas.openxmlformats.org/officeDocument/2006/relationships/tags" Target="../tags/tag33.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4.xml"/><Relationship Id="rId24" Type="http://schemas.openxmlformats.org/officeDocument/2006/relationships/tags" Target="../tags/tag53.xml"/><Relationship Id="rId23" Type="http://schemas.openxmlformats.org/officeDocument/2006/relationships/tags" Target="../tags/tag52.xml"/><Relationship Id="rId22" Type="http://schemas.openxmlformats.org/officeDocument/2006/relationships/tags" Target="../tags/tag51.xml"/><Relationship Id="rId21" Type="http://schemas.openxmlformats.org/officeDocument/2006/relationships/tags" Target="../tags/tag50.xml"/><Relationship Id="rId20" Type="http://schemas.openxmlformats.org/officeDocument/2006/relationships/tags" Target="../tags/tag49.xml"/><Relationship Id="rId2" Type="http://schemas.openxmlformats.org/officeDocument/2006/relationships/tags" Target="../tags/tag32.xml"/><Relationship Id="rId19" Type="http://schemas.openxmlformats.org/officeDocument/2006/relationships/tags" Target="../tags/tag48.xml"/><Relationship Id="rId18" Type="http://schemas.openxmlformats.org/officeDocument/2006/relationships/tags" Target="../tags/tag47.xml"/><Relationship Id="rId17" Type="http://schemas.openxmlformats.org/officeDocument/2006/relationships/tags" Target="../tags/tag46.xml"/><Relationship Id="rId16" Type="http://schemas.openxmlformats.org/officeDocument/2006/relationships/tags" Target="../tags/tag45.xml"/><Relationship Id="rId15" Type="http://schemas.openxmlformats.org/officeDocument/2006/relationships/tags" Target="../tags/tag44.xml"/><Relationship Id="rId14" Type="http://schemas.openxmlformats.org/officeDocument/2006/relationships/tags" Target="../tags/tag43.xml"/><Relationship Id="rId13" Type="http://schemas.openxmlformats.org/officeDocument/2006/relationships/tags" Target="../tags/tag42.xml"/><Relationship Id="rId12" Type="http://schemas.openxmlformats.org/officeDocument/2006/relationships/tags" Target="../tags/tag41.xml"/><Relationship Id="rId11" Type="http://schemas.openxmlformats.org/officeDocument/2006/relationships/tags" Target="../tags/tag40.xml"/><Relationship Id="rId10" Type="http://schemas.openxmlformats.org/officeDocument/2006/relationships/tags" Target="../tags/tag39.xml"/><Relationship Id="rId1" Type="http://schemas.openxmlformats.org/officeDocument/2006/relationships/tags" Target="../tags/tag31.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62.xml"/><Relationship Id="rId8" Type="http://schemas.openxmlformats.org/officeDocument/2006/relationships/tags" Target="../tags/tag61.xml"/><Relationship Id="rId7" Type="http://schemas.openxmlformats.org/officeDocument/2006/relationships/tags" Target="../tags/tag60.xml"/><Relationship Id="rId6" Type="http://schemas.openxmlformats.org/officeDocument/2006/relationships/tags" Target="../tags/tag59.xml"/><Relationship Id="rId5" Type="http://schemas.openxmlformats.org/officeDocument/2006/relationships/tags" Target="../tags/tag58.xml"/><Relationship Id="rId4" Type="http://schemas.openxmlformats.org/officeDocument/2006/relationships/tags" Target="../tags/tag57.xml"/><Relationship Id="rId3" Type="http://schemas.openxmlformats.org/officeDocument/2006/relationships/tags" Target="../tags/tag56.xml"/><Relationship Id="rId2" Type="http://schemas.openxmlformats.org/officeDocument/2006/relationships/tags" Target="../tags/tag55.xml"/><Relationship Id="rId19" Type="http://schemas.openxmlformats.org/officeDocument/2006/relationships/notesSlide" Target="../notesSlides/notesSlide15.xml"/><Relationship Id="rId18" Type="http://schemas.openxmlformats.org/officeDocument/2006/relationships/slideLayout" Target="../slideLayouts/slideLayout7.xml"/><Relationship Id="rId17" Type="http://schemas.openxmlformats.org/officeDocument/2006/relationships/image" Target="../media/image5.png"/><Relationship Id="rId16" Type="http://schemas.openxmlformats.org/officeDocument/2006/relationships/tags" Target="../tags/tag69.xml"/><Relationship Id="rId15" Type="http://schemas.openxmlformats.org/officeDocument/2006/relationships/tags" Target="../tags/tag68.xml"/><Relationship Id="rId14" Type="http://schemas.openxmlformats.org/officeDocument/2006/relationships/tags" Target="../tags/tag67.xml"/><Relationship Id="rId13" Type="http://schemas.openxmlformats.org/officeDocument/2006/relationships/tags" Target="../tags/tag66.xml"/><Relationship Id="rId12" Type="http://schemas.openxmlformats.org/officeDocument/2006/relationships/tags" Target="../tags/tag65.xml"/><Relationship Id="rId11" Type="http://schemas.openxmlformats.org/officeDocument/2006/relationships/tags" Target="../tags/tag64.xml"/><Relationship Id="rId10" Type="http://schemas.openxmlformats.org/officeDocument/2006/relationships/tags" Target="../tags/tag63.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0.png"/><Relationship Id="rId7" Type="http://schemas.openxmlformats.org/officeDocument/2006/relationships/image" Target="../media/image19.png"/><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5.png"/><Relationship Id="rId3" Type="http://schemas.openxmlformats.org/officeDocument/2006/relationships/image" Target="../media/image16.png"/><Relationship Id="rId2" Type="http://schemas.openxmlformats.org/officeDocument/2006/relationships/image" Target="../media/image15.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5.png"/><Relationship Id="rId7" Type="http://schemas.openxmlformats.org/officeDocument/2006/relationships/tags" Target="../tags/tag70.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0" Type="http://schemas.openxmlformats.org/officeDocument/2006/relationships/notesSlide" Target="../notesSlides/notesSlide17.xml"/><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9" Type="http://schemas.openxmlformats.org/officeDocument/2006/relationships/tags" Target="../tags/tag78.xml"/><Relationship Id="rId8" Type="http://schemas.openxmlformats.org/officeDocument/2006/relationships/tags" Target="../tags/tag77.xml"/><Relationship Id="rId7" Type="http://schemas.openxmlformats.org/officeDocument/2006/relationships/tags" Target="../tags/tag76.xml"/><Relationship Id="rId6" Type="http://schemas.openxmlformats.org/officeDocument/2006/relationships/tags" Target="../tags/tag75.xml"/><Relationship Id="rId5" Type="http://schemas.openxmlformats.org/officeDocument/2006/relationships/tags" Target="../tags/tag74.xml"/><Relationship Id="rId4" Type="http://schemas.openxmlformats.org/officeDocument/2006/relationships/tags" Target="../tags/tag73.xml"/><Relationship Id="rId3" Type="http://schemas.openxmlformats.org/officeDocument/2006/relationships/tags" Target="../tags/tag72.xml"/><Relationship Id="rId2" Type="http://schemas.openxmlformats.org/officeDocument/2006/relationships/tags" Target="../tags/tag71.xml"/><Relationship Id="rId14" Type="http://schemas.openxmlformats.org/officeDocument/2006/relationships/notesSlide" Target="../notesSlides/notesSlide20.xml"/><Relationship Id="rId13" Type="http://schemas.openxmlformats.org/officeDocument/2006/relationships/slideLayout" Target="../slideLayouts/slideLayout7.xml"/><Relationship Id="rId12" Type="http://schemas.openxmlformats.org/officeDocument/2006/relationships/image" Target="../media/image26.png"/><Relationship Id="rId11" Type="http://schemas.openxmlformats.org/officeDocument/2006/relationships/image" Target="../media/image5.png"/><Relationship Id="rId10" Type="http://schemas.openxmlformats.org/officeDocument/2006/relationships/tags" Target="../tags/tag79.xml"/><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28.png"/><Relationship Id="rId3" Type="http://schemas.openxmlformats.org/officeDocument/2006/relationships/image" Target="../media/image5.png"/><Relationship Id="rId2" Type="http://schemas.openxmlformats.org/officeDocument/2006/relationships/image" Target="../media/image27.jpe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7.xml"/><Relationship Id="rId4" Type="http://schemas.openxmlformats.org/officeDocument/2006/relationships/image" Target="../media/image30.png"/><Relationship Id="rId3"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5.xml.rels><?xml version="1.0" encoding="UTF-8" standalone="yes"?>
<Relationships xmlns="http://schemas.openxmlformats.org/package/2006/relationships"><Relationship Id="rId4" Type="http://schemas.openxmlformats.org/officeDocument/2006/relationships/notesSlide" Target="../notesSlides/notesSlide25.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1" name="灯片编号占位符 10"/>
          <p:cNvSpPr>
            <a:spLocks noGrp="1"/>
          </p:cNvSpPr>
          <p:nvPr>
            <p:ph type="sldNum" sz="quarter" idx="12"/>
          </p:nvPr>
        </p:nvSpPr>
        <p:spPr/>
        <p:txBody>
          <a:bodyPr/>
          <a:lstStyle/>
          <a:p>
            <a:fld id="{8650B7E4-3306-44C3-860F-DB78733C0FD3}" type="slidenum">
              <a:rPr lang="zh-CN" altLang="en-US" smtClean="0">
                <a:latin typeface="Times New Roman" panose="02020603050405020304" charset="0"/>
                <a:cs typeface="Times New Roman" panose="02020603050405020304" charset="0"/>
              </a:rPr>
            </a:fld>
            <a:endParaRPr lang="zh-CN" altLang="en-US" dirty="0">
              <a:latin typeface="Times New Roman" panose="02020603050405020304" charset="0"/>
              <a:cs typeface="Times New Roman" panose="02020603050405020304" charset="0"/>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193357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1809750" y="2314575"/>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联邦学习基础、模型异构与蒸馏问题</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5"/>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6"/>
            </p:custDataLst>
          </p:nvPr>
        </p:nvSpPr>
        <p:spPr>
          <a:xfrm>
            <a:off x="1809750" y="29146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1809750" y="3295650"/>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分层特征对齐与正交投影</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8"/>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9"/>
            </p:custDataLst>
          </p:nvPr>
        </p:nvSpPr>
        <p:spPr>
          <a:xfrm>
            <a:off x="1809750" y="38957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0"/>
            </p:custDataLst>
          </p:nvPr>
        </p:nvSpPr>
        <p:spPr>
          <a:xfrm>
            <a:off x="1809750" y="4276725"/>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准确率、收敛效率与消融实验</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11"/>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12"/>
            </p:custDataLst>
          </p:nvPr>
        </p:nvSpPr>
        <p:spPr>
          <a:xfrm>
            <a:off x="1809750" y="48768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13"/>
            </p:custDataLst>
          </p:nvPr>
        </p:nvSpPr>
        <p:spPr>
          <a:xfrm>
            <a:off x="1809750" y="5257800"/>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贡献、局限和可继续研究的问题</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传统机器学习：集中式训练及</a:t>
            </a:r>
            <a:r>
              <a:rPr lang="zh-CN" sz="2550" b="1" i="0">
                <a:solidFill>
                  <a:srgbClr val="222222"/>
                </a:solidFill>
                <a:latin typeface="微软雅黑" panose="020B0503020204020204" charset="-122"/>
                <a:ea typeface="微软雅黑" panose="020B0503020204020204" charset="-122"/>
                <a:cs typeface="微软雅黑" panose="020B0503020204020204" charset="-122"/>
              </a:rPr>
              <a:t>其</a:t>
            </a:r>
            <a:r>
              <a:rPr sz="2550" b="1" i="0">
                <a:solidFill>
                  <a:srgbClr val="222222"/>
                </a:solidFill>
                <a:latin typeface="微软雅黑" panose="020B0503020204020204" charset="-122"/>
                <a:ea typeface="微软雅黑" panose="020B0503020204020204" charset="-122"/>
                <a:cs typeface="微软雅黑" panose="020B0503020204020204" charset="-122"/>
              </a:rPr>
              <a:t>局限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以常见的集中式监督学习为例：将分散数据汇集到服务器，再统一训练模型</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联邦学习：数据留在本地的协同训练</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多个客户端共同学习模型，服务器协调训练并聚合更新</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3" name="intro"/>
          <p:cNvSpPr>
            <a:spLocks noGrp="1"/>
          </p:cNvSpPr>
          <p:nvPr/>
        </p:nvSpPr>
        <p:spPr>
          <a:xfrm>
            <a:off x="457200" y="2524125"/>
            <a:ext cx="106680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手机、医院或企业保留各自数据，服务器负责组织训练和聚合模型更新。</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联邦学习的出发点：原始数据留在本地，通过交换模型更新开展协作训练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04</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数据分布、设备资源和模型结构的差异，会带来不同层面的困难</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05</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终端算力不同，使客户端采用不同宽度、深度或架构的模型</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06</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三类知识聚合路径</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比较参数、logit 与特征三个层次</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53550" y="3248025"/>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48500" y="3248025"/>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43450" y="3248025"/>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38400" y="3248025"/>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07</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问题：logit 蒸馏为何失效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模型结构差异最终表现为教师知识不稳定</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52450" y="2476500"/>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3825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68580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6953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57500" y="2476500"/>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4330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299085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003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62550" y="2476500"/>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4835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29590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054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67600" y="2476500"/>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5340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0095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104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72650" y="2476500"/>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58450" y="2152650"/>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06000" y="2781300"/>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155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619250" y="5000625"/>
            <a:ext cx="8953500" cy="647700"/>
          </a:xfrm>
          <a:prstGeom prst="roundRect">
            <a:avLst>
              <a:gd name="adj" fmla="val 17647"/>
            </a:avLst>
          </a:prstGeom>
          <a:solidFill>
            <a:srgbClr val="8E1119"/>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FedFD 的核心目标：在蒸馏前先把跨架构特征变成可比较、低冲突的教师知识</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08</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边界模糊与训练波动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论文用表示可视化和学习曲线验证问题确实存在</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182880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552450" y="2543109"/>
            <a:ext cx="5429250" cy="2695708"/>
          </a:xfrm>
          <a:prstGeom prst="rect">
            <a:avLst/>
          </a:prstGeom>
        </p:spPr>
      </p:pic>
      <p:sp>
        <p:nvSpPr>
          <p:cNvPr id="11" name="矩形 10"/>
          <p:cNvSpPr>
            <a:spLocks noGrp="1"/>
          </p:cNvSpPr>
          <p:nvPr/>
        </p:nvSpPr>
        <p:spPr>
          <a:xfrm>
            <a:off x="714375" y="5619750"/>
            <a:ext cx="5143500" cy="42862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82880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pic>
        <p:nvPicPr>
          <p:cNvPr id="14" name="图片 13"/>
          <p:cNvPicPr>
            <a:picLocks noChangeAspect="1"/>
          </p:cNvPicPr>
          <p:nvPr/>
        </p:nvPicPr>
        <p:blipFill>
          <a:blip r:embed="rId3"/>
          <a:stretch>
            <a:fillRect/>
          </a:stretch>
        </p:blipFill>
        <p:spPr>
          <a:xfrm>
            <a:off x="6429375" y="2387112"/>
            <a:ext cx="5143500" cy="2769577"/>
          </a:xfrm>
          <a:prstGeom prst="rect">
            <a:avLst/>
          </a:prstGeom>
        </p:spPr>
      </p:pic>
      <p:sp>
        <p:nvSpPr>
          <p:cNvPr id="15" name="矩形 14"/>
          <p:cNvSpPr>
            <a:spLocks noGrp="1"/>
          </p:cNvSpPr>
          <p:nvPr/>
        </p:nvSpPr>
        <p:spPr>
          <a:xfrm>
            <a:off x="6477000" y="5381625"/>
            <a:ext cx="5095875"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1、Figure 3</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09</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把总问题拆成两个直接对应技术模块的子问题</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47700" y="1981200"/>
            <a:ext cx="1428750" cy="381000"/>
          </a:xfrm>
          <a:prstGeom prst="roundRect">
            <a:avLst>
              <a:gd name="adj" fmla="val 25000"/>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sz="1800" b="1" i="0">
                <a:solidFill>
                  <a:srgbClr val="FFFFFF"/>
                </a:solidFill>
                <a:latin typeface="微软雅黑" panose="020B0503020204020204" charset="-122"/>
                <a:ea typeface="微软雅黑" panose="020B0503020204020204" charset="-122"/>
                <a:cs typeface="微软雅黑" panose="020B0503020204020204" charset="-122"/>
              </a:rPr>
              <a:t>总问题</a:t>
            </a:r>
            <a:endParaRPr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2286000" y="1924050"/>
            <a:ext cx="8763000" cy="495300"/>
          </a:xfrm>
          <a:prstGeom prst="rect">
            <a:avLst/>
          </a:prstGeom>
          <a:noFill/>
          <a:ln w="0">
            <a:noFill/>
            <a:prstDash val="solid"/>
          </a:ln>
        </p:spPr>
        <p:txBody>
          <a:bodyPr lIns="0" tIns="0" rIns="0" bIns="0" anchor="ctr"/>
          <a:lstStyle>
            <a:defPPr algn="l">
              <a:defRPr sz="2025" b="1" i="0">
                <a:solidFill>
                  <a:srgbClr val="8E1119"/>
                </a:solidFill>
                <a:latin typeface="微软雅黑" panose="020B0503020204020204" charset="-122"/>
                <a:ea typeface="微软雅黑" panose="020B0503020204020204" charset="-122"/>
                <a:cs typeface="微软雅黑" panose="020B0503020204020204" charset="-122"/>
              </a:defRPr>
            </a:defPPr>
            <a:lvl1pPr algn="l">
              <a:defRPr sz="2025" b="1" i="0">
                <a:solidFill>
                  <a:srgbClr val="8E1119"/>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8E1119"/>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8E1119"/>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8E1119"/>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8E1119"/>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8E1119"/>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8E1119"/>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8E1119"/>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8E1119"/>
                </a:solidFill>
                <a:latin typeface="微软雅黑" panose="020B0503020204020204" charset="-122"/>
                <a:ea typeface="微软雅黑" panose="020B0503020204020204" charset="-122"/>
                <a:cs typeface="微软雅黑" panose="020B0503020204020204" charset="-122"/>
              </a:defRPr>
            </a:pPr>
            <a:r>
              <a:rPr sz="2025" b="1" i="0">
                <a:solidFill>
                  <a:srgbClr val="8E1119"/>
                </a:solidFill>
                <a:latin typeface="微软雅黑" panose="020B0503020204020204" charset="-122"/>
                <a:ea typeface="微软雅黑" panose="020B0503020204020204" charset="-122"/>
                <a:cs typeface="微软雅黑" panose="020B0503020204020204" charset="-122"/>
              </a:rPr>
              <a:t>如何稳定地把多个异构客户端的知识蒸馏到服务器全局模型？</a:t>
            </a:r>
            <a:endParaRPr sz="202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nvSpPr>
        <p:spPr>
          <a:xfrm>
            <a:off x="723900" y="28575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476500" y="2838450"/>
            <a:ext cx="3048000" cy="381000"/>
          </a:xfrm>
          <a:prstGeom prst="rect">
            <a:avLst/>
          </a:prstGeom>
          <a:noFill/>
          <a:ln w="0">
            <a:noFill/>
            <a:prstDash val="solid"/>
          </a:ln>
        </p:spPr>
        <p:txBody>
          <a:bodyPr lIns="0" tIns="0" rIns="0" bIns="0" anchor="ctr"/>
          <a:lstStyle>
            <a:defPPr algn="l">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投影层数量随客户端增长</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2476500" y="322897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按相同架构分组聚合特征，只维护 m−1 个投影层</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4" name="圆角矩形 13"/>
          <p:cNvSpPr>
            <a:spLocks noGrp="1"/>
          </p:cNvSpPr>
          <p:nvPr/>
        </p:nvSpPr>
        <p:spPr>
          <a:xfrm>
            <a:off x="723900" y="3838575"/>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476500" y="3819525"/>
            <a:ext cx="3048000" cy="3810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不同投影层产生知识冲突</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2476500" y="4210050"/>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用正交参数化限制投影变换，保持形状并分离特征空间</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723900" y="4819650"/>
            <a:ext cx="1428750" cy="438150"/>
          </a:xfrm>
          <a:prstGeom prst="roundRect">
            <a:avLst>
              <a:gd name="adj" fmla="val 17391"/>
            </a:avLst>
          </a:prstGeom>
          <a:solidFill>
            <a:srgbClr val="B5121B"/>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验证问题</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476500" y="4800600"/>
            <a:ext cx="3048000" cy="3810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方法是否真正有效且稳定</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476500" y="519112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比较准确率、通信轮数，并进行组件消融与异构敏感性分析</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10</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一次通信轮包含本地训练、异构聚合和服务器特征蒸馏</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sp>
        <p:nvSpPr>
          <p:cNvPr id="10" name="矩形 9"/>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2</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11</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先得到可广播的全局模型，再进行服务器端蒸馏</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2" name="圆角矩形 21"/>
              <p:cNvSpPr>
                <a:spLocks noGrp="1"/>
              </p:cNvSpPr>
              <p:nvPr/>
            </p:nvSpPr>
            <p:spPr>
              <a:xfrm>
                <a:off x="647065" y="5325110"/>
                <a:ext cx="10935970" cy="1007745"/>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647065" y="5325110"/>
                <a:ext cx="10935970" cy="1007745"/>
              </a:xfrm>
              <a:prstGeom prst="roundRect">
                <a:avLst>
                  <a:gd name="adj" fmla="val 16216"/>
                </a:avLst>
              </a:prstGeom>
              <a:blipFill rotWithShape="1">
                <a:blip r:embed="rId3"/>
                <a:stretch>
                  <a:fillRect l="-46" t="-504" r="-41" b="-441"/>
                </a:stretch>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1221085" y="570293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23" name="圆角矩形 22"/>
              <p:cNvSpPr>
                <a:spLocks noGrp="1"/>
              </p:cNvSpPr>
              <p:nvPr/>
            </p:nvSpPr>
            <p:spPr>
              <a:xfrm>
                <a:off x="646430" y="3362960"/>
                <a:ext cx="10936605" cy="1775460"/>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646430" y="3362960"/>
                <a:ext cx="10936605" cy="1775460"/>
              </a:xfrm>
              <a:prstGeom prst="roundRect">
                <a:avLst>
                  <a:gd name="adj" fmla="val 9375"/>
                </a:avLst>
              </a:prstGeom>
              <a:blipFill rotWithShape="1">
                <a:blip r:embed="rId4"/>
                <a:stretch>
                  <a:fillRect l="-46" t="-286" r="-41" b="-250"/>
                </a:stretch>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1221085" y="414591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先按输出维度与模型结构分组，再聚合同组教师特征</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57250" y="1809750"/>
                <a:ext cx="4992370" cy="72390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857250" y="1809750"/>
                <a:ext cx="4992370" cy="723900"/>
              </a:xfrm>
              <a:prstGeom prst="roundRect">
                <a:avLst>
                  <a:gd name="adj" fmla="val 15789"/>
                </a:avLst>
              </a:prstGeom>
              <a:blipFill rotWithShape="1">
                <a:blip r:embed="rId2"/>
                <a:stretch>
                  <a:fillRect l="-102" t="-702" r="-89" b="-61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5487670" y="211010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6330950" y="1714500"/>
                <a:ext cx="5442585" cy="98107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6330950" y="1714500"/>
                <a:ext cx="5442585" cy="981075"/>
              </a:xfrm>
              <a:prstGeom prst="roundRect">
                <a:avLst>
                  <a:gd name="adj" fmla="val 15789"/>
                </a:avLst>
              </a:prstGeom>
              <a:blipFill rotWithShape="1">
                <a:blip r:embed="rId3"/>
                <a:stretch>
                  <a:fillRect l="-93" t="-518" r="-82" b="-453"/>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1411585" y="210058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53375" y="3238500"/>
            <a:ext cx="2857500" cy="514350"/>
          </a:xfrm>
          <a:prstGeom prst="roundRect">
            <a:avLst>
              <a:gd name="adj" fmla="val 16667"/>
            </a:avLst>
          </a:prstGeom>
          <a:solidFill>
            <a:srgbClr val="F5F6F8"/>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650" b="0" i="0">
                <a:solidFill>
                  <a:srgbClr val="5B5B5B"/>
                </a:solidFill>
                <a:latin typeface="微软雅黑" panose="020B0503020204020204" charset="-122"/>
                <a:ea typeface="微软雅黑" panose="020B0503020204020204" charset="-122"/>
                <a:cs typeface="微软雅黑" panose="020B0503020204020204" charset="-122"/>
              </a:rPr>
              <a:t>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53375" y="4419600"/>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24750" y="5286375"/>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6"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投影层学习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任意线性变换可能缩放、扭曲并混合不同架构的知识</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952625"/>
            <a:ext cx="2857500" cy="36195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普通投影</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0" name="ordinary-projection"/>
          <p:cNvSpPr>
            <a:spLocks noGrp="1"/>
          </p:cNvSpPr>
          <p:nvPr/>
        </p:nvSpPr>
        <p:spPr>
          <a:xfrm>
            <a:off x="838200" y="2667000"/>
            <a:ext cx="1905000" cy="1524000"/>
          </a:xfrm>
          <a:prstGeom prst="roundRect">
            <a:avLst>
              <a:gd name="adj" fmla="val 5000"/>
            </a:avLst>
          </a:prstGeom>
          <a:solidFill>
            <a:srgbClr val="F6E4E6"/>
          </a:solidFill>
          <a:ln w="19050">
            <a:solidFill>
              <a:srgbClr val="B5121B"/>
            </a:solidFill>
            <a:prstDash val="solid"/>
          </a:ln>
        </p:spPr>
      </p:sp>
      <p:sp>
        <p:nvSpPr>
          <p:cNvPr id="11" name="矩形 10"/>
          <p:cNvSpPr>
            <a:spLocks noGrp="1"/>
          </p:cNvSpPr>
          <p:nvPr/>
        </p:nvSpPr>
        <p:spPr>
          <a:xfrm>
            <a:off x="1000125" y="2838450"/>
            <a:ext cx="1581150" cy="1143000"/>
          </a:xfrm>
          <a:prstGeom prst="rect">
            <a:avLst/>
          </a:prstGeom>
          <a:noFill/>
          <a:ln w="0">
            <a:noFill/>
            <a:prstDash val="solid"/>
          </a:ln>
        </p:spPr>
        <p:txBody>
          <a:bodyPr lIns="0" tIns="0" rIns="0" bIns="0" anchor="ctr"/>
          <a:lstStyle>
            <a:defPPr algn="ctr">
              <a:defRPr sz="1575" b="0"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M₁、M₂ 任意可训练</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缩放尺度不同</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方向相互重叠</a:t>
            </a:r>
            <a:endParaRPr sz="1575" b="0"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1123950" y="4495800"/>
            <a:ext cx="1333500" cy="400050"/>
          </a:xfrm>
          <a:prstGeom prst="roundRect">
            <a:avLst>
              <a:gd name="adj" fmla="val 19048"/>
            </a:avLst>
          </a:prstGeom>
          <a:solidFill>
            <a:srgbClr val="B5121B"/>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知识冲突</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3867150" y="2000250"/>
            <a:ext cx="0" cy="3429000"/>
          </a:xfrm>
          <a:prstGeom prst="line">
            <a:avLst/>
          </a:prstGeom>
          <a:noFill/>
          <a:ln w="19050">
            <a:solidFill>
              <a:srgbClr val="D9DCE2"/>
            </a:solidFill>
            <a:prstDash val="solid"/>
          </a:ln>
        </p:spPr>
      </p:sp>
      <p:sp>
        <p:nvSpPr>
          <p:cNvPr id="14" name="矩形 13"/>
          <p:cNvSpPr>
            <a:spLocks noGrp="1"/>
          </p:cNvSpPr>
          <p:nvPr/>
        </p:nvSpPr>
        <p:spPr>
          <a:xfrm>
            <a:off x="4524375" y="1952625"/>
            <a:ext cx="2857500" cy="361950"/>
          </a:xfrm>
          <a:prstGeom prst="rect">
            <a:avLst/>
          </a:prstGeom>
          <a:noFill/>
          <a:ln w="0">
            <a:noFill/>
            <a:prstDash val="solid"/>
          </a:ln>
        </p:spPr>
        <p:txBody>
          <a:bodyPr lIns="0" tIns="0" rIns="0" bIns="0" anchor="ctr"/>
          <a:lstStyle>
            <a:defPPr algn="ctr">
              <a:defRPr sz="18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1598A5"/>
                </a:solidFill>
                <a:latin typeface="微软雅黑" panose="020B0503020204020204" charset="-122"/>
                <a:ea typeface="微软雅黑" panose="020B0503020204020204" charset="-122"/>
                <a:cs typeface="微软雅黑" panose="020B0503020204020204" charset="-122"/>
              </a:defRPr>
            </a:pPr>
            <a:r>
              <a:rPr sz="1800" b="1" i="0">
                <a:solidFill>
                  <a:srgbClr val="1598A5"/>
                </a:solidFill>
                <a:latin typeface="微软雅黑" panose="020B0503020204020204" charset="-122"/>
                <a:ea typeface="微软雅黑" panose="020B0503020204020204" charset="-122"/>
                <a:cs typeface="微软雅黑" panose="020B0503020204020204" charset="-122"/>
              </a:rPr>
              <a:t>正交投影</a:t>
            </a:r>
            <a:endParaRPr sz="18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5" name="orthogonal-projection"/>
          <p:cNvSpPr>
            <a:spLocks noGrp="1"/>
          </p:cNvSpPr>
          <p:nvPr/>
        </p:nvSpPr>
        <p:spPr>
          <a:xfrm>
            <a:off x="4762500" y="2667000"/>
            <a:ext cx="1905000" cy="1524000"/>
          </a:xfrm>
          <a:prstGeom prst="roundRect">
            <a:avLst>
              <a:gd name="adj" fmla="val 5000"/>
            </a:avLst>
          </a:prstGeom>
          <a:solidFill>
            <a:srgbClr val="E1F2F3"/>
          </a:solidFill>
          <a:ln w="19050">
            <a:solidFill>
              <a:srgbClr val="1598A5"/>
            </a:solidFill>
            <a:prstDash val="solid"/>
          </a:ln>
        </p:spPr>
      </p:sp>
      <p:sp>
        <p:nvSpPr>
          <p:cNvPr id="16" name="矩形 15"/>
          <p:cNvSpPr>
            <a:spLocks noGrp="1"/>
          </p:cNvSpPr>
          <p:nvPr/>
        </p:nvSpPr>
        <p:spPr>
          <a:xfrm>
            <a:off x="4953000" y="2838450"/>
            <a:ext cx="1524000" cy="1143000"/>
          </a:xfrm>
          <a:prstGeom prst="rect">
            <a:avLst/>
          </a:prstGeom>
          <a:noFill/>
          <a:ln w="0">
            <a:noFill/>
            <a:prstDash val="solid"/>
          </a:ln>
        </p:spPr>
        <p:txBody>
          <a:bodyPr lIns="0" tIns="0" rIns="0" bIns="0" anchor="ctr"/>
          <a:lstStyle>
            <a:defPPr algn="ctr">
              <a:defRPr sz="1575" b="0" i="0">
                <a:solidFill>
                  <a:srgbClr val="08707A"/>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08707A"/>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08707A"/>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08707A"/>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08707A"/>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08707A"/>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08707A"/>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08707A"/>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08707A"/>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08707A"/>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MᵀM = I</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保持长度与夹角</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把知识映射到分离方向</a:t>
            </a:r>
            <a:endParaRPr sz="1575" b="0" i="0">
              <a:solidFill>
                <a:srgbClr val="08707A"/>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5048250" y="4495800"/>
            <a:ext cx="1333500" cy="400050"/>
          </a:xfrm>
          <a:prstGeom prst="roundRect">
            <a:avLst>
              <a:gd name="adj" fmla="val 19048"/>
            </a:avLst>
          </a:prstGeom>
          <a:solidFill>
            <a:srgbClr val="1598A5"/>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冲突减弱</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7715250" y="2000250"/>
            <a:ext cx="0" cy="3429000"/>
          </a:xfrm>
          <a:prstGeom prst="line">
            <a:avLst/>
          </a:prstGeom>
          <a:noFill/>
          <a:ln w="19050">
            <a:solidFill>
              <a:srgbClr val="D9DCE2"/>
            </a:solidFill>
            <a:prstDash val="solid"/>
          </a:ln>
        </p:spPr>
      </p:sp>
      <p:sp>
        <p:nvSpPr>
          <p:cNvPr id="19" name="矩形 18"/>
          <p:cNvSpPr>
            <a:spLocks noGrp="1"/>
          </p:cNvSpPr>
          <p:nvPr/>
        </p:nvSpPr>
        <p:spPr>
          <a:xfrm>
            <a:off x="8382000" y="1952625"/>
            <a:ext cx="2857500" cy="361950"/>
          </a:xfrm>
          <a:prstGeom prst="rect">
            <a:avLst/>
          </a:prstGeom>
          <a:noFill/>
          <a:ln w="0">
            <a:noFill/>
            <a:prstDash val="solid"/>
          </a:ln>
        </p:spPr>
        <p:txBody>
          <a:bodyPr lIns="0" tIns="0" rIns="0" bIns="0" anchor="ctr"/>
          <a:lstStyle>
            <a:defPPr algn="ctr">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几何直觉</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9696450" y="2762250"/>
            <a:ext cx="0" cy="1143000"/>
          </a:xfrm>
          <a:prstGeom prst="line">
            <a:avLst/>
          </a:prstGeom>
          <a:noFill/>
          <a:ln w="28575">
            <a:solidFill>
              <a:srgbClr val="222222"/>
            </a:solidFill>
            <a:prstDash val="solid"/>
          </a:ln>
        </p:spPr>
      </p:sp>
      <p:sp>
        <p:nvSpPr>
          <p:cNvPr id="21" name="直接连接符 20"/>
          <p:cNvSpPr>
            <a:spLocks noGrp="1"/>
          </p:cNvSpPr>
          <p:nvPr/>
        </p:nvSpPr>
        <p:spPr>
          <a:xfrm>
            <a:off x="9696450" y="3905250"/>
            <a:ext cx="1238250" cy="0"/>
          </a:xfrm>
          <a:prstGeom prst="line">
            <a:avLst/>
          </a:prstGeom>
          <a:noFill/>
          <a:ln w="28575">
            <a:solidFill>
              <a:srgbClr val="222222"/>
            </a:solidFill>
            <a:prstDash val="solid"/>
          </a:ln>
        </p:spPr>
      </p:sp>
      <p:sp>
        <p:nvSpPr>
          <p:cNvPr id="22" name="直接连接符 21"/>
          <p:cNvSpPr>
            <a:spLocks noGrp="1"/>
          </p:cNvSpPr>
          <p:nvPr/>
        </p:nvSpPr>
        <p:spPr>
          <a:xfrm flipV="1">
            <a:off x="9696450" y="3086100"/>
            <a:ext cx="857250" cy="819150"/>
          </a:xfrm>
          <a:prstGeom prst="line">
            <a:avLst/>
          </a:prstGeom>
          <a:noFill/>
          <a:ln w="47625">
            <a:solidFill>
              <a:srgbClr val="3577B8"/>
            </a:solidFill>
            <a:prstDash val="solid"/>
          </a:ln>
        </p:spPr>
      </p:sp>
      <p:sp>
        <p:nvSpPr>
          <p:cNvPr id="23" name="直接连接符 22"/>
          <p:cNvSpPr>
            <a:spLocks noGrp="1"/>
          </p:cNvSpPr>
          <p:nvPr/>
        </p:nvSpPr>
        <p:spPr>
          <a:xfrm>
            <a:off x="8972550" y="3028950"/>
            <a:ext cx="723900" cy="876300"/>
          </a:xfrm>
          <a:prstGeom prst="line">
            <a:avLst/>
          </a:prstGeom>
          <a:noFill/>
          <a:ln w="47625">
            <a:solidFill>
              <a:srgbClr val="1598A5"/>
            </a:solidFill>
            <a:prstDash val="solid"/>
          </a:ln>
        </p:spPr>
      </p:sp>
      <p:sp>
        <p:nvSpPr>
          <p:cNvPr id="24" name="矩形 23"/>
          <p:cNvSpPr>
            <a:spLocks noGrp="1"/>
          </p:cNvSpPr>
          <p:nvPr/>
        </p:nvSpPr>
        <p:spPr>
          <a:xfrm>
            <a:off x="8239125" y="4495800"/>
            <a:ext cx="3143250" cy="666750"/>
          </a:xfrm>
          <a:prstGeom prst="rect">
            <a:avLst/>
          </a:prstGeom>
          <a:noFill/>
          <a:ln w="0">
            <a:noFill/>
            <a:prstDash val="solid"/>
          </a:ln>
        </p:spPr>
        <p:txBody>
          <a:bodyPr lIns="0" tIns="0" rIns="0" bIns="0" anchor="ctr"/>
          <a:lstStyle>
            <a:defPPr algn="ctr">
              <a:defRPr sz="150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50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50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50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50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50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50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50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50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5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旋转 / 反射不改变</a:t>
            </a:r>
            <a:endParaRPr sz="15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特征之间的几何关系</a:t>
            </a:r>
            <a:endParaRPr sz="15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405255" y="5619750"/>
            <a:ext cx="9381490" cy="897255"/>
          </a:xfrm>
          <a:prstGeom prst="rect">
            <a:avLst/>
          </a:prstGeom>
          <a:noFill/>
          <a:ln w="0">
            <a:no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2400" b="1" i="0">
                <a:solidFill>
                  <a:srgbClr val="8E1119"/>
                </a:solidFill>
                <a:latin typeface="微软雅黑" panose="020B0503020204020204" charset="-122"/>
                <a:ea typeface="微软雅黑" panose="020B0503020204020204" charset="-122"/>
                <a:cs typeface="微软雅黑" panose="020B0503020204020204" charset="-122"/>
              </a:rPr>
              <a:t>论文用正交约束控制投影层，而不是让投影层自由扭曲特征空间</a:t>
            </a:r>
            <a:endParaRPr sz="24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14</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正交投影的性质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orth-prop-0"/>
          <p:cNvSpPr>
            <a:spLocks noGrp="1"/>
          </p:cNvSpPr>
          <p:nvPr>
            <p:custDataLst>
              <p:tags r:id="rId2"/>
            </p:custDataLst>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custDataLst>
              <p:tags r:id="rId3"/>
            </p:custDataLst>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保持长度</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5"/>
            </p:custDataLst>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‖Mz‖₂ = ‖z‖₂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3" name="矩形 12"/>
          <p:cNvSpPr>
            <a:spLocks noGrp="1"/>
          </p:cNvSpPr>
          <p:nvPr>
            <p:custDataLst>
              <p:tags r:id="rId6"/>
            </p:custDataLst>
          </p:nvPr>
        </p:nvSpPr>
        <p:spPr>
          <a:xfrm>
            <a:off x="10096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避免特征幅值被任意放大或缩小</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custDataLst>
              <p:tags r:id="rId7"/>
            </p:custDataLst>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custDataLst>
              <p:tags r:id="rId8"/>
            </p:custDataLst>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9"/>
            </p:custDataLst>
          </p:nvPr>
        </p:nvSpPr>
        <p:spPr>
          <a:xfrm>
            <a:off x="4781550" y="2571750"/>
            <a:ext cx="2819400" cy="476250"/>
          </a:xfrm>
          <a:prstGeom prst="rect">
            <a:avLst/>
          </a:prstGeom>
          <a:noFill/>
          <a:ln w="0">
            <a:noFill/>
            <a:prstDash val="solid"/>
          </a:ln>
        </p:spPr>
        <p:txBody>
          <a:bodyPr lIns="0" tIns="0" rIns="0" bIns="0" anchor="ctr"/>
          <a:lstStyle>
            <a:defPPr algn="ctr">
              <a:defRPr sz="20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1598A5"/>
                </a:solidFill>
                <a:latin typeface="微软雅黑" panose="020B0503020204020204" charset="-122"/>
                <a:ea typeface="微软雅黑" panose="020B0503020204020204" charset="-122"/>
                <a:cs typeface="微软雅黑" panose="020B0503020204020204" charset="-122"/>
              </a:defRPr>
            </a:pPr>
            <a:r>
              <a:rPr sz="2025" b="1" i="0">
                <a:solidFill>
                  <a:srgbClr val="1598A5"/>
                </a:solidFill>
                <a:latin typeface="微软雅黑" panose="020B0503020204020204" charset="-122"/>
                <a:ea typeface="微软雅黑" panose="020B0503020204020204" charset="-122"/>
                <a:cs typeface="微软雅黑" panose="020B0503020204020204" charset="-122"/>
              </a:rPr>
              <a:t>保持夹角</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10"/>
            </p:custDataLst>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(Mz₁)ᵀ(Mz₂) = z₁ᵀz₂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8" name="矩形 17"/>
          <p:cNvSpPr>
            <a:spLocks noGrp="1"/>
          </p:cNvSpPr>
          <p:nvPr>
            <p:custDataLst>
              <p:tags r:id="rId11"/>
            </p:custDataLst>
          </p:nvPr>
        </p:nvSpPr>
        <p:spPr>
          <a:xfrm>
            <a:off x="48577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保留样本间相似性与类别结构</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custDataLst>
              <p:tags r:id="rId12"/>
            </p:custDataLst>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custDataLst>
              <p:tags r:id="rId13"/>
            </p:custDataLst>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4"/>
            </p:custDataLst>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可梯度更新</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custDataLst>
              <p:tags r:id="rId15"/>
            </p:custDataLst>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 ∈ St(n,d)</a:t>
            </a:r>
            <a:endParaRPr sz="1800" b="0" i="0">
              <a:solidFill>
                <a:srgbClr val="222222"/>
              </a:solidFill>
              <a:latin typeface="Cambria Math" panose="02040503050406030204"/>
              <a:ea typeface="Cambria Math" panose="02040503050406030204"/>
              <a:cs typeface="Cambria Math" panose="02040503050406030204"/>
            </a:endParaRPr>
          </a:p>
        </p:txBody>
      </p:sp>
      <p:sp>
        <p:nvSpPr>
          <p:cNvPr id="23" name="矩形 22"/>
          <p:cNvSpPr>
            <a:spLocks noGrp="1"/>
          </p:cNvSpPr>
          <p:nvPr>
            <p:custDataLst>
              <p:tags r:id="rId16"/>
            </p:custDataLst>
          </p:nvPr>
        </p:nvSpPr>
        <p:spPr>
          <a:xfrm>
            <a:off x="87058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列正交矩阵位于 Stiefel 流形，可参与反向传播</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1252220" y="5467350"/>
            <a:ext cx="9687560" cy="880110"/>
          </a:xfrm>
          <a:prstGeom prst="roundRect">
            <a:avLst>
              <a:gd name="adj" fmla="val 16667"/>
            </a:avLst>
          </a:prstGeom>
          <a:solidFill>
            <a:srgbClr val="FFF7F7"/>
          </a:solid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这些性质解释了“为什么正交约束可能有效”</a:t>
            </a:r>
            <a:r>
              <a:rPr lang="zh-CN" sz="2000" b="1" i="0">
                <a:solidFill>
                  <a:srgbClr val="8E1119"/>
                </a:solidFill>
                <a:latin typeface="微软雅黑" panose="020B0503020204020204" charset="-122"/>
                <a:ea typeface="微软雅黑" panose="020B0503020204020204" charset="-122"/>
                <a:cs typeface="微软雅黑" panose="020B0503020204020204" charset="-122"/>
              </a:rPr>
              <a:t>➡</a:t>
            </a:r>
            <a:r>
              <a:rPr lang="en-US" altLang="zh-CN" sz="2000" b="1" i="0">
                <a:solidFill>
                  <a:srgbClr val="8E1119"/>
                </a:solidFill>
                <a:latin typeface="微软雅黑" panose="020B0503020204020204" charset="-122"/>
                <a:ea typeface="微软雅黑" panose="020B0503020204020204" charset="-122"/>
                <a:cs typeface="微软雅黑" panose="020B0503020204020204" charset="-122"/>
              </a:rPr>
              <a:t> </a:t>
            </a:r>
            <a:r>
              <a:rPr lang="zh-CN" altLang="en-US" sz="2000" b="1" i="0">
                <a:solidFill>
                  <a:srgbClr val="8E1119"/>
                </a:solidFill>
                <a:latin typeface="微软雅黑" panose="020B0503020204020204" charset="-122"/>
                <a:ea typeface="微软雅黑" panose="020B0503020204020204" charset="-122"/>
                <a:cs typeface="微软雅黑" panose="020B0503020204020204" charset="-122"/>
              </a:rPr>
              <a:t>提供稳定的线性对齐空间</a:t>
            </a:r>
            <a:endParaRPr lang="zh-CN" altLang="en-US" sz="20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15</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反对称矩阵参数化</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0" name="圆角矩形 9"/>
              <p:cNvSpPr>
                <a:spLocks noGrp="1"/>
              </p:cNvSpPr>
              <p:nvPr/>
            </p:nvSpPr>
            <p:spPr>
              <a:xfrm>
                <a:off x="1047115" y="3560445"/>
                <a:ext cx="9954260" cy="118745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047115" y="3560445"/>
                <a:ext cx="9954260" cy="1187450"/>
              </a:xfrm>
              <a:prstGeom prst="roundRect">
                <a:avLst>
                  <a:gd name="adj" fmla="val 12000"/>
                </a:avLst>
              </a:prstGeom>
              <a:blipFill rotWithShape="1">
                <a:blip r:embed="rId2"/>
                <a:stretch>
                  <a:fillRect l="-51" t="-428" r="-45" b="-374"/>
                </a:stretch>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0639425" y="404939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2" name="圆角矩形 11"/>
              <p:cNvSpPr>
                <a:spLocks noGrp="1"/>
              </p:cNvSpPr>
              <p:nvPr/>
            </p:nvSpPr>
            <p:spPr>
              <a:xfrm>
                <a:off x="1047750" y="4941570"/>
                <a:ext cx="9953625" cy="80010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047750" y="4941570"/>
                <a:ext cx="9953625" cy="800100"/>
              </a:xfrm>
              <a:prstGeom prst="roundRect">
                <a:avLst>
                  <a:gd name="adj" fmla="val 14286"/>
                </a:avLst>
              </a:prstGeom>
              <a:blipFill rotWithShape="1">
                <a:blip r:embed="rId3"/>
                <a:stretch>
                  <a:fillRect l="-51" t="-635" r="-45" b="-556"/>
                </a:stretch>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0600055" y="523684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8" name="圆角矩形 27"/>
          <p:cNvSpPr>
            <a:spLocks noGrp="1"/>
          </p:cNvSpPr>
          <p:nvPr/>
        </p:nvSpPr>
        <p:spPr>
          <a:xfrm>
            <a:off x="5810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2477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247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247775" y="2470785"/>
                <a:ext cx="1924050" cy="5524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p:sp>
        <p:nvSpPr>
          <p:cNvPr id="32" name="圆角矩形 31"/>
          <p:cNvSpPr>
            <a:spLocks noGrp="1"/>
          </p:cNvSpPr>
          <p:nvPr/>
        </p:nvSpPr>
        <p:spPr>
          <a:xfrm>
            <a:off x="3438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4105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4105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4105275" y="2470785"/>
                <a:ext cx="1924050" cy="5524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sp>
        <p:nvSpPr>
          <p:cNvPr id="35" name="圆角矩形 34"/>
          <p:cNvSpPr>
            <a:spLocks noGrp="1"/>
          </p:cNvSpPr>
          <p:nvPr/>
        </p:nvSpPr>
        <p:spPr>
          <a:xfrm>
            <a:off x="6296025" y="2118360"/>
            <a:ext cx="552450" cy="55245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6962775" y="2099310"/>
            <a:ext cx="1714500" cy="32385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6962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6962775" y="2470785"/>
                <a:ext cx="1924050" cy="552450"/>
              </a:xfrm>
              <a:prstGeom prst="rect">
                <a:avLst/>
              </a:prstGeom>
              <a:blipFill rotWithShape="1">
                <a:blip r:embed="rId7"/>
                <a:stretch>
                  <a:fillRect/>
                </a:stretch>
              </a:blipFill>
              <a:ln w="0">
                <a:noFill/>
                <a:prstDash val="solid"/>
              </a:ln>
            </p:spPr>
            <p:txBody>
              <a:bodyPr/>
              <a:lstStyle/>
              <a:p>
                <a:r>
                  <a:rPr lang="zh-CN" altLang="en-US">
                    <a:noFill/>
                  </a:rPr>
                  <a:t> </a:t>
                </a:r>
              </a:p>
            </p:txBody>
          </p:sp>
        </mc:Fallback>
      </mc:AlternateContent>
      <p:sp>
        <p:nvSpPr>
          <p:cNvPr id="38" name="圆角矩形 37"/>
          <p:cNvSpPr>
            <a:spLocks noGrp="1"/>
          </p:cNvSpPr>
          <p:nvPr/>
        </p:nvSpPr>
        <p:spPr>
          <a:xfrm>
            <a:off x="9153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9820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9820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9820275" y="2470785"/>
                <a:ext cx="1924050" cy="552450"/>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16</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每个架构组分别提供教师特征，共同更新全局模型</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2476" b="-12667"/>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17</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Algorithm 1 的九个动作可归纳为五个阶段</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714500" y="5143500"/>
            <a:ext cx="8763000" cy="609600"/>
          </a:xfrm>
          <a:prstGeom prst="roundRect">
            <a:avLst>
              <a:gd name="adj" fmla="val 15625"/>
            </a:avLst>
          </a:prstGeom>
          <a:solidFill>
            <a:srgbClr val="FFF7F7"/>
          </a:solidFill>
          <a:ln w="9525">
            <a:solidFill>
              <a:srgbClr val="E6BFC2"/>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通信量保持为模型上传/下载；额外成本主要发生在服务器端蒸馏与矩阵指数计算</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18</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三类数据集、十级模型宽度和不同 Non-IID 强度</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09625" y="5810250"/>
            <a:ext cx="10572750" cy="4381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19</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强数据异构下的全局模型准确率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α = 0.1：FedFD 的全局准确率均领先，右侧为相对最强基线的提升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2"/>
            </p:custDataLst>
          </p:nvPr>
        </p:nvSpPr>
        <p:spPr>
          <a:xfrm>
            <a:off x="9599930" y="2601595"/>
            <a:ext cx="2381250" cy="304800"/>
          </a:xfrm>
          <a:prstGeom prst="rect">
            <a:avLst/>
          </a:prstGeom>
          <a:noFill/>
          <a:ln w="0">
            <a:noFill/>
            <a:prstDash val="solid"/>
          </a:ln>
        </p:spPr>
        <p:txBody>
          <a:bodyPr lIns="0" tIns="0" rIns="0" bIns="0" anchor="ctr"/>
          <a:lstStyle>
            <a:defPPr algn="ctr">
              <a:defRPr sz="1425" b="1"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1"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1"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1"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1"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1"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1"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1"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1"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1"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1" i="0">
                <a:solidFill>
                  <a:srgbClr val="5B5B5B"/>
                </a:solidFill>
                <a:latin typeface="微软雅黑" panose="020B0503020204020204" charset="-122"/>
                <a:ea typeface="微软雅黑" panose="020B0503020204020204" charset="-122"/>
                <a:cs typeface="微软雅黑" panose="020B0503020204020204" charset="-122"/>
              </a:defRPr>
            </a:pPr>
            <a:r>
              <a:rPr sz="1425" b="1" i="0">
                <a:solidFill>
                  <a:srgbClr val="5B5B5B"/>
                </a:solidFill>
                <a:latin typeface="微软雅黑" panose="020B0503020204020204" charset="-122"/>
                <a:ea typeface="微软雅黑" panose="020B0503020204020204" charset="-122"/>
                <a:cs typeface="微软雅黑" panose="020B0503020204020204" charset="-122"/>
              </a:rPr>
              <a:t>CIFAR-10</a:t>
            </a:r>
            <a:endParaRPr sz="1425" b="1"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3"/>
            </p:custDataLst>
          </p:nvPr>
        </p:nvSpPr>
        <p:spPr>
          <a:xfrm>
            <a:off x="9552305" y="2925445"/>
            <a:ext cx="2476500" cy="495300"/>
          </a:xfrm>
          <a:prstGeom prst="rect">
            <a:avLst/>
          </a:prstGeom>
          <a:noFill/>
          <a:ln w="0">
            <a:noFill/>
            <a:prstDash val="solid"/>
          </a:ln>
        </p:spPr>
        <p:txBody>
          <a:bodyPr lIns="0" tIns="0" rIns="0" bIns="0" anchor="ctr"/>
          <a:lstStyle>
            <a:defPPr algn="ctr">
              <a:defRPr sz="24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4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4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4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4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4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4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4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4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4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400" b="1" i="0">
                <a:solidFill>
                  <a:srgbClr val="B5121B"/>
                </a:solidFill>
                <a:latin typeface="微软雅黑" panose="020B0503020204020204" charset="-122"/>
                <a:ea typeface="微软雅黑" panose="020B0503020204020204" charset="-122"/>
                <a:cs typeface="微软雅黑" panose="020B0503020204020204" charset="-122"/>
              </a:defRPr>
            </a:pPr>
            <a:r>
              <a:rPr sz="2400" b="1" i="0">
                <a:solidFill>
                  <a:srgbClr val="B5121B"/>
                </a:solidFill>
                <a:latin typeface="微软雅黑" panose="020B0503020204020204" charset="-122"/>
                <a:ea typeface="微软雅黑" panose="020B0503020204020204" charset="-122"/>
                <a:cs typeface="微软雅黑" panose="020B0503020204020204" charset="-122"/>
              </a:rPr>
              <a:t>+2.67 pp</a:t>
            </a:r>
            <a:endParaRPr sz="24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4"/>
            </p:custDataLst>
          </p:nvPr>
        </p:nvSpPr>
        <p:spPr>
          <a:xfrm>
            <a:off x="9552305" y="3401695"/>
            <a:ext cx="2476500" cy="266700"/>
          </a:xfrm>
          <a:prstGeom prst="rect">
            <a:avLst/>
          </a:prstGeom>
          <a:noFill/>
          <a:ln w="0">
            <a:noFill/>
            <a:prstDash val="solid"/>
          </a:ln>
        </p:spPr>
        <p:txBody>
          <a:bodyPr lIns="0" tIns="0" rIns="0" bIns="0" anchor="ctr"/>
          <a:lstStyle>
            <a:defPPr algn="ctr">
              <a:defRPr sz="11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1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1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1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1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1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1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1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1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1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125" b="0" i="0">
                <a:solidFill>
                  <a:srgbClr val="5B5B5B"/>
                </a:solidFill>
                <a:latin typeface="微软雅黑" panose="020B0503020204020204" charset="-122"/>
                <a:ea typeface="微软雅黑" panose="020B0503020204020204" charset="-122"/>
                <a:cs typeface="微软雅黑" panose="020B0503020204020204" charset="-122"/>
              </a:defRPr>
            </a:pPr>
            <a:r>
              <a:rPr sz="1125" b="0" i="0">
                <a:solidFill>
                  <a:srgbClr val="5B5B5B"/>
                </a:solidFill>
                <a:latin typeface="微软雅黑" panose="020B0503020204020204" charset="-122"/>
                <a:ea typeface="微软雅黑" panose="020B0503020204020204" charset="-122"/>
                <a:cs typeface="微软雅黑" panose="020B0503020204020204" charset="-122"/>
              </a:rPr>
              <a:t>相对 DaFKD-hetero</a:t>
            </a:r>
            <a:endParaRPr sz="11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custDataLst>
              <p:tags r:id="rId5"/>
            </p:custDataLst>
          </p:nvPr>
        </p:nvSpPr>
        <p:spPr>
          <a:xfrm>
            <a:off x="9599930" y="3744595"/>
            <a:ext cx="2381250" cy="304800"/>
          </a:xfrm>
          <a:prstGeom prst="rect">
            <a:avLst/>
          </a:prstGeom>
          <a:noFill/>
          <a:ln w="0">
            <a:noFill/>
            <a:prstDash val="solid"/>
          </a:ln>
        </p:spPr>
        <p:txBody>
          <a:bodyPr lIns="0" tIns="0" rIns="0" bIns="0" anchor="ctr"/>
          <a:lstStyle>
            <a:defPPr algn="ctr">
              <a:defRPr sz="1425" b="1"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1"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1"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1"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1"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1"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1"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1"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1"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1"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1" i="0">
                <a:solidFill>
                  <a:srgbClr val="5B5B5B"/>
                </a:solidFill>
                <a:latin typeface="微软雅黑" panose="020B0503020204020204" charset="-122"/>
                <a:ea typeface="微软雅黑" panose="020B0503020204020204" charset="-122"/>
                <a:cs typeface="微软雅黑" panose="020B0503020204020204" charset="-122"/>
              </a:defRPr>
            </a:pPr>
            <a:r>
              <a:rPr sz="1425" b="1" i="0">
                <a:solidFill>
                  <a:srgbClr val="5B5B5B"/>
                </a:solidFill>
                <a:latin typeface="微软雅黑" panose="020B0503020204020204" charset="-122"/>
                <a:ea typeface="微软雅黑" panose="020B0503020204020204" charset="-122"/>
                <a:cs typeface="微软雅黑" panose="020B0503020204020204" charset="-122"/>
              </a:rPr>
              <a:t>CIFAR-100</a:t>
            </a:r>
            <a:endParaRPr sz="1425" b="1"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6"/>
            </p:custDataLst>
          </p:nvPr>
        </p:nvSpPr>
        <p:spPr>
          <a:xfrm>
            <a:off x="9552305" y="4068445"/>
            <a:ext cx="2476500" cy="495300"/>
          </a:xfrm>
          <a:prstGeom prst="rect">
            <a:avLst/>
          </a:prstGeom>
          <a:noFill/>
          <a:ln w="0">
            <a:noFill/>
            <a:prstDash val="solid"/>
          </a:ln>
        </p:spPr>
        <p:txBody>
          <a:bodyPr lIns="0" tIns="0" rIns="0" bIns="0" anchor="ctr"/>
          <a:lstStyle>
            <a:defPPr algn="ctr">
              <a:defRPr sz="24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4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4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4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4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4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4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4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4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4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400" b="1" i="0">
                <a:solidFill>
                  <a:srgbClr val="B5121B"/>
                </a:solidFill>
                <a:latin typeface="微软雅黑" panose="020B0503020204020204" charset="-122"/>
                <a:ea typeface="微软雅黑" panose="020B0503020204020204" charset="-122"/>
                <a:cs typeface="微软雅黑" panose="020B0503020204020204" charset="-122"/>
              </a:defRPr>
            </a:pPr>
            <a:r>
              <a:rPr sz="2400" b="1" i="0">
                <a:solidFill>
                  <a:srgbClr val="B5121B"/>
                </a:solidFill>
                <a:latin typeface="微软雅黑" panose="020B0503020204020204" charset="-122"/>
                <a:ea typeface="微软雅黑" panose="020B0503020204020204" charset="-122"/>
                <a:cs typeface="微软雅黑" panose="020B0503020204020204" charset="-122"/>
              </a:rPr>
              <a:t>+1.91 pp</a:t>
            </a:r>
            <a:endParaRPr sz="24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9552305" y="4544695"/>
            <a:ext cx="2476500" cy="266700"/>
          </a:xfrm>
          <a:prstGeom prst="rect">
            <a:avLst/>
          </a:prstGeom>
          <a:noFill/>
          <a:ln w="0">
            <a:noFill/>
            <a:prstDash val="solid"/>
          </a:ln>
        </p:spPr>
        <p:txBody>
          <a:bodyPr lIns="0" tIns="0" rIns="0" bIns="0" anchor="ctr"/>
          <a:lstStyle>
            <a:defPPr algn="ctr">
              <a:defRPr sz="11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1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1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1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1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1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1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1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1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1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125" b="0" i="0">
                <a:solidFill>
                  <a:srgbClr val="5B5B5B"/>
                </a:solidFill>
                <a:latin typeface="微软雅黑" panose="020B0503020204020204" charset="-122"/>
                <a:ea typeface="微软雅黑" panose="020B0503020204020204" charset="-122"/>
                <a:cs typeface="微软雅黑" panose="020B0503020204020204" charset="-122"/>
              </a:defRPr>
            </a:pPr>
            <a:r>
              <a:rPr sz="1125" b="0" i="0">
                <a:solidFill>
                  <a:srgbClr val="5B5B5B"/>
                </a:solidFill>
                <a:latin typeface="微软雅黑" panose="020B0503020204020204" charset="-122"/>
                <a:ea typeface="微软雅黑" panose="020B0503020204020204" charset="-122"/>
                <a:cs typeface="微软雅黑" panose="020B0503020204020204" charset="-122"/>
              </a:rPr>
              <a:t>相对 DaFKD-hetero</a:t>
            </a:r>
            <a:endParaRPr sz="11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8"/>
            </p:custDataLst>
          </p:nvPr>
        </p:nvSpPr>
        <p:spPr>
          <a:xfrm>
            <a:off x="9599930" y="4887595"/>
            <a:ext cx="2381250" cy="304800"/>
          </a:xfrm>
          <a:prstGeom prst="rect">
            <a:avLst/>
          </a:prstGeom>
          <a:noFill/>
          <a:ln w="0">
            <a:noFill/>
            <a:prstDash val="solid"/>
          </a:ln>
        </p:spPr>
        <p:txBody>
          <a:bodyPr lIns="0" tIns="0" rIns="0" bIns="0" anchor="ctr"/>
          <a:lstStyle>
            <a:defPPr algn="ctr">
              <a:defRPr sz="1425" b="1"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1"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1"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1"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1"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1"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1"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1"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1"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1"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1" i="0">
                <a:solidFill>
                  <a:srgbClr val="5B5B5B"/>
                </a:solidFill>
                <a:latin typeface="微软雅黑" panose="020B0503020204020204" charset="-122"/>
                <a:ea typeface="微软雅黑" panose="020B0503020204020204" charset="-122"/>
                <a:cs typeface="微软雅黑" panose="020B0503020204020204" charset="-122"/>
              </a:defRPr>
            </a:pPr>
            <a:r>
              <a:rPr sz="1425" b="1" i="0">
                <a:solidFill>
                  <a:srgbClr val="5B5B5B"/>
                </a:solidFill>
                <a:latin typeface="微软雅黑" panose="020B0503020204020204" charset="-122"/>
                <a:ea typeface="微软雅黑" panose="020B0503020204020204" charset="-122"/>
                <a:cs typeface="微软雅黑" panose="020B0503020204020204" charset="-122"/>
              </a:rPr>
              <a:t>Tiny-ImageNet</a:t>
            </a:r>
            <a:endParaRPr sz="1425" b="1"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custDataLst>
              <p:tags r:id="rId9"/>
            </p:custDataLst>
          </p:nvPr>
        </p:nvSpPr>
        <p:spPr>
          <a:xfrm>
            <a:off x="9552305" y="5211445"/>
            <a:ext cx="2476500" cy="495300"/>
          </a:xfrm>
          <a:prstGeom prst="rect">
            <a:avLst/>
          </a:prstGeom>
          <a:noFill/>
          <a:ln w="0">
            <a:noFill/>
            <a:prstDash val="solid"/>
          </a:ln>
        </p:spPr>
        <p:txBody>
          <a:bodyPr lIns="0" tIns="0" rIns="0" bIns="0" anchor="ctr"/>
          <a:lstStyle>
            <a:defPPr algn="ctr">
              <a:defRPr sz="24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4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4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4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4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4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4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4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4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4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400" b="1" i="0">
                <a:solidFill>
                  <a:srgbClr val="B5121B"/>
                </a:solidFill>
                <a:latin typeface="微软雅黑" panose="020B0503020204020204" charset="-122"/>
                <a:ea typeface="微软雅黑" panose="020B0503020204020204" charset="-122"/>
                <a:cs typeface="微软雅黑" panose="020B0503020204020204" charset="-122"/>
              </a:defRPr>
            </a:pPr>
            <a:r>
              <a:rPr sz="2400" b="1" i="0">
                <a:solidFill>
                  <a:srgbClr val="B5121B"/>
                </a:solidFill>
                <a:latin typeface="微软雅黑" panose="020B0503020204020204" charset="-122"/>
                <a:ea typeface="微软雅黑" panose="020B0503020204020204" charset="-122"/>
                <a:cs typeface="微软雅黑" panose="020B0503020204020204" charset="-122"/>
              </a:rPr>
              <a:t>+1.56 pp</a:t>
            </a:r>
            <a:endParaRPr sz="24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0"/>
            </p:custDataLst>
          </p:nvPr>
        </p:nvSpPr>
        <p:spPr>
          <a:xfrm>
            <a:off x="9552305" y="5687695"/>
            <a:ext cx="2476500" cy="266700"/>
          </a:xfrm>
          <a:prstGeom prst="rect">
            <a:avLst/>
          </a:prstGeom>
          <a:noFill/>
          <a:ln w="0">
            <a:noFill/>
            <a:prstDash val="solid"/>
          </a:ln>
        </p:spPr>
        <p:txBody>
          <a:bodyPr lIns="0" tIns="0" rIns="0" bIns="0" anchor="ctr"/>
          <a:lstStyle>
            <a:defPPr algn="ctr">
              <a:defRPr sz="11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1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1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1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1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1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1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1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1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1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125" b="0" i="0">
                <a:solidFill>
                  <a:srgbClr val="5B5B5B"/>
                </a:solidFill>
                <a:latin typeface="微软雅黑" panose="020B0503020204020204" charset="-122"/>
                <a:ea typeface="微软雅黑" panose="020B0503020204020204" charset="-122"/>
                <a:cs typeface="微软雅黑" panose="020B0503020204020204" charset="-122"/>
              </a:defRPr>
            </a:pPr>
            <a:r>
              <a:rPr sz="1125" b="0" i="0">
                <a:solidFill>
                  <a:srgbClr val="5B5B5B"/>
                </a:solidFill>
                <a:latin typeface="微软雅黑" panose="020B0503020204020204" charset="-122"/>
                <a:ea typeface="微软雅黑" panose="020B0503020204020204" charset="-122"/>
                <a:cs typeface="微软雅黑" panose="020B0503020204020204" charset="-122"/>
              </a:rPr>
              <a:t>相对 FedGD</a:t>
            </a:r>
            <a:endParaRPr sz="11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数据来源：论文 Table 1；pp 表示百分点，按 Global 行均值计算</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12"/>
          <a:stretch>
            <a:fillRect/>
          </a:stretch>
        </p:blipFill>
        <p:spPr>
          <a:xfrm>
            <a:off x="457200" y="1733550"/>
            <a:ext cx="9568180" cy="478028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20</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FedFD 的曲线更平稳，并更早达到目标准确率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61912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1095375" y="5238750"/>
            <a:ext cx="4572000" cy="45720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FedFD 在两个数据集上保持更高且更稳定的轨迹</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α = 1.0；轮数越少越好，&gt;200 为未达标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4、Table 2（论文原表）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21</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两项组件均有贡献，FedFD 在四种模型组合下均保持最高准确率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190625" y="5476875"/>
            <a:ext cx="9810750" cy="590550"/>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r>
              <a:rPr sz="1575" b="1" i="0">
                <a:solidFill>
                  <a:srgbClr val="8E1119"/>
                </a:solidFill>
                <a:latin typeface="微软雅黑" panose="020B0503020204020204" charset="-122"/>
                <a:ea typeface="微软雅黑" panose="020B0503020204020204" charset="-122"/>
                <a:cs typeface="微软雅黑" panose="020B0503020204020204" charset="-122"/>
              </a:rPr>
              <a:t>移除正交投影的精度降幅更大；分层对齐同时减少投影层数量，FedFD 在各模型组合下均领先</a:t>
            </a:r>
            <a:endParaRPr sz="157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Table 3、Table 4（论文原表）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a:t>
            </a:r>
            <a:r>
              <a:rPr sz="2550" b="1" i="0">
                <a:solidFill>
                  <a:srgbClr val="222222"/>
                </a:solidFill>
                <a:latin typeface="微软雅黑" panose="020B0503020204020204" charset="-122"/>
                <a:ea typeface="微软雅黑" panose="020B0503020204020204" charset="-122"/>
                <a:cs typeface="微软雅黑" panose="020B0503020204020204" charset="-122"/>
              </a:rPr>
              <a:t>、局限与未来工作</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论文完成了有针对性的工程设计，但证据范围仍有限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85800" y="1866900"/>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nvSpPr>
        <p:spPr>
          <a:xfrm>
            <a:off x="762000" y="2657475"/>
            <a:ext cx="95250" cy="95250"/>
          </a:xfrm>
          <a:prstGeom prst="ellipse">
            <a:avLst/>
          </a:prstGeom>
          <a:solidFill>
            <a:srgbClr val="B5121B"/>
          </a:solidFill>
          <a:ln w="0">
            <a:noFill/>
            <a:prstDash val="solid"/>
          </a:ln>
        </p:spPr>
      </p:sp>
      <p:sp>
        <p:nvSpPr>
          <p:cNvPr id="11" name="矩形 10"/>
          <p:cNvSpPr>
            <a:spLocks noGrp="1"/>
          </p:cNvSpPr>
          <p:nvPr/>
        </p:nvSpPr>
        <p:spPr>
          <a:xfrm>
            <a:off x="971550" y="25717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590800" y="25717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特征蒸馏配合正交投影，可稳定聚合异构模型知识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nvSpPr>
        <p:spPr>
          <a:xfrm>
            <a:off x="762000" y="3228975"/>
            <a:ext cx="95250" cy="95250"/>
          </a:xfrm>
          <a:prstGeom prst="ellipse">
            <a:avLst/>
          </a:prstGeom>
          <a:solidFill>
            <a:srgbClr val="B5121B"/>
          </a:solidFill>
          <a:ln w="0">
            <a:noFill/>
            <a:prstDash val="solid"/>
          </a:ln>
        </p:spPr>
      </p:sp>
      <p:sp>
        <p:nvSpPr>
          <p:cNvPr id="14" name="矩形 13"/>
          <p:cNvSpPr>
            <a:spLocks noGrp="1"/>
          </p:cNvSpPr>
          <p:nvPr/>
        </p:nvSpPr>
        <p:spPr>
          <a:xfrm>
            <a:off x="971550" y="31432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590800" y="31432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nvSpPr>
        <p:spPr>
          <a:xfrm>
            <a:off x="762000" y="3800475"/>
            <a:ext cx="95250" cy="95250"/>
          </a:xfrm>
          <a:prstGeom prst="ellipse">
            <a:avLst/>
          </a:prstGeom>
          <a:solidFill>
            <a:srgbClr val="B5121B"/>
          </a:solidFill>
          <a:ln w="0">
            <a:noFill/>
            <a:prstDash val="solid"/>
          </a:ln>
        </p:spPr>
      </p:sp>
      <p:sp>
        <p:nvSpPr>
          <p:cNvPr id="17" name="矩形 16"/>
          <p:cNvSpPr>
            <a:spLocks noGrp="1"/>
          </p:cNvSpPr>
          <p:nvPr/>
        </p:nvSpPr>
        <p:spPr>
          <a:xfrm>
            <a:off x="971550" y="37147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590800" y="37147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66750" y="4476750"/>
            <a:ext cx="10858500" cy="0"/>
          </a:xfrm>
          <a:prstGeom prst="line">
            <a:avLst/>
          </a:prstGeom>
          <a:noFill/>
          <a:ln w="19050">
            <a:solidFill>
              <a:srgbClr val="D9DCE2"/>
            </a:solidFill>
            <a:prstDash val="solid"/>
          </a:ln>
        </p:spPr>
      </p:sp>
      <p:sp>
        <p:nvSpPr>
          <p:cNvPr id="20" name="圆角矩形 19"/>
          <p:cNvSpPr>
            <a:spLocks noGrp="1"/>
          </p:cNvSpPr>
          <p:nvPr/>
        </p:nvSpPr>
        <p:spPr>
          <a:xfrm>
            <a:off x="685800" y="4762500"/>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评价</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857625" y="4762500"/>
            <a:ext cx="6667500" cy="361950"/>
          </a:xfrm>
          <a:prstGeom prst="rect">
            <a:avLst/>
          </a:prstGeom>
          <a:noFill/>
          <a:ln w="0">
            <a:noFill/>
            <a:prstDash val="solid"/>
          </a:ln>
        </p:spPr>
        <p:txBody>
          <a:bodyPr lIns="0" tIns="0" rIns="0" bIns="0" anchor="ctr"/>
          <a:lstStyle>
            <a:defPPr algn="l">
              <a:defRPr sz="157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57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1598A5"/>
                </a:solidFill>
                <a:latin typeface="微软雅黑" panose="020B0503020204020204" charset="-122"/>
                <a:ea typeface="微软雅黑" panose="020B0503020204020204" charset="-122"/>
                <a:cs typeface="微软雅黑" panose="020B0503020204020204" charset="-122"/>
              </a:defRPr>
            </a:pPr>
            <a:r>
              <a:rPr sz="1575" b="1" i="0">
                <a:solidFill>
                  <a:srgbClr val="1598A5"/>
                </a:solidFill>
                <a:latin typeface="微软雅黑" panose="020B0503020204020204" charset="-122"/>
                <a:ea typeface="微软雅黑" panose="020B0503020204020204" charset="-122"/>
                <a:cs typeface="微软雅黑" panose="020B0503020204020204" charset="-122"/>
              </a:rPr>
              <a:t>优势：问题与方法对应清晰，消融能解释模块作用</a:t>
            </a:r>
            <a:endParaRPr sz="157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914400" y="5334000"/>
            <a:ext cx="10191750" cy="7239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局限：仅两次运行；缺少墙钟时间、FLOPs 与显存开销；依赖公共蒸馏数据；未给收敛理论；任务集中于图像分类</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从方法假设、成本口径和迁移范围检验论文边界</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952625"/>
            <a:ext cx="819150" cy="685800"/>
          </a:xfrm>
          <a:prstGeom prst="roundRect">
            <a:avLst>
              <a:gd name="adj" fmla="val 16667"/>
            </a:avLst>
          </a:prstGeom>
          <a:solidFill>
            <a:srgbClr val="3577B8"/>
          </a:solidFill>
          <a:ln w="0">
            <a:noFill/>
            <a:prstDash val="solid"/>
          </a:ln>
        </p:spPr>
        <p:txBody>
          <a:bodyPr lIns="0" tIns="0" rIns="0" bIns="0" anchor="ctr"/>
          <a:lstStyle>
            <a:defPPr algn="ctr">
              <a:defRPr sz="21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75" b="1" i="0">
                <a:solidFill>
                  <a:srgbClr val="FFFFFF"/>
                </a:solidFill>
                <a:latin typeface="微软雅黑" panose="020B0503020204020204" charset="-122"/>
                <a:ea typeface="微软雅黑" panose="020B0503020204020204" charset="-122"/>
                <a:cs typeface="微软雅黑" panose="020B0503020204020204" charset="-122"/>
              </a:defRPr>
            </a:pPr>
            <a:r>
              <a:rPr sz="2175" b="1" i="0">
                <a:solidFill>
                  <a:srgbClr val="FFFFFF"/>
                </a:solidFill>
                <a:latin typeface="微软雅黑" panose="020B0503020204020204" charset="-122"/>
                <a:ea typeface="微软雅黑" panose="020B0503020204020204" charset="-122"/>
                <a:cs typeface="微软雅黑" panose="020B0503020204020204" charset="-122"/>
              </a:rPr>
              <a:t>01</a:t>
            </a:r>
            <a:endParaRPr sz="217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1809750" y="1952625"/>
            <a:ext cx="8572500" cy="409575"/>
          </a:xfrm>
          <a:prstGeom prst="rect">
            <a:avLst/>
          </a:prstGeom>
          <a:noFill/>
          <a:ln w="0">
            <a:noFill/>
            <a:prstDash val="solid"/>
          </a:ln>
        </p:spPr>
        <p:txBody>
          <a:bodyPr lIns="0" tIns="0" rIns="0" bIns="0" anchor="ctr"/>
          <a:lstStyle>
            <a:defPPr algn="l">
              <a:defRPr sz="18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75" b="1" i="0">
                <a:solidFill>
                  <a:srgbClr val="3577B8"/>
                </a:solidFill>
                <a:latin typeface="微软雅黑" panose="020B0503020204020204" charset="-122"/>
                <a:ea typeface="微软雅黑" panose="020B0503020204020204" charset="-122"/>
                <a:cs typeface="微软雅黑" panose="020B0503020204020204" charset="-122"/>
              </a:defRPr>
            </a:pPr>
            <a:r>
              <a:rPr sz="1875" b="1" i="0">
                <a:solidFill>
                  <a:srgbClr val="3577B8"/>
                </a:solidFill>
                <a:latin typeface="微软雅黑" panose="020B0503020204020204" charset="-122"/>
                <a:ea typeface="微软雅黑" panose="020B0503020204020204" charset="-122"/>
                <a:cs typeface="微软雅黑" panose="020B0503020204020204" charset="-122"/>
              </a:rPr>
              <a:t>没有公共蒸馏数据时怎么办？</a:t>
            </a:r>
            <a:endParaRPr sz="18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1809750" y="2428875"/>
            <a:ext cx="9144000" cy="5334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可结合数据自由蒸馏，但生成器稳定性和隐私风险需要重新评估。</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666750" y="3305175"/>
            <a:ext cx="819150" cy="685800"/>
          </a:xfrm>
          <a:prstGeom prst="roundRect">
            <a:avLst>
              <a:gd name="adj" fmla="val 16667"/>
            </a:avLst>
          </a:prstGeom>
          <a:solidFill>
            <a:srgbClr val="B5121B"/>
          </a:solidFill>
          <a:ln w="0">
            <a:noFill/>
            <a:prstDash val="solid"/>
          </a:ln>
        </p:spPr>
        <p:txBody>
          <a:bodyPr lIns="0" tIns="0" rIns="0" bIns="0" anchor="ctr"/>
          <a:lstStyle>
            <a:defPPr algn="ctr">
              <a:defRPr sz="21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75" b="1" i="0">
                <a:solidFill>
                  <a:srgbClr val="FFFFFF"/>
                </a:solidFill>
                <a:latin typeface="微软雅黑" panose="020B0503020204020204" charset="-122"/>
                <a:ea typeface="微软雅黑" panose="020B0503020204020204" charset="-122"/>
                <a:cs typeface="微软雅黑" panose="020B0503020204020204" charset="-122"/>
              </a:defRPr>
            </a:pPr>
            <a:r>
              <a:rPr sz="2175" b="1" i="0">
                <a:solidFill>
                  <a:srgbClr val="FFFFFF"/>
                </a:solidFill>
                <a:latin typeface="微软雅黑" panose="020B0503020204020204" charset="-122"/>
                <a:ea typeface="微软雅黑" panose="020B0503020204020204" charset="-122"/>
                <a:cs typeface="微软雅黑" panose="020B0503020204020204" charset="-122"/>
              </a:rPr>
              <a:t>02</a:t>
            </a:r>
            <a:endParaRPr sz="217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809750" y="3305175"/>
            <a:ext cx="8572500" cy="409575"/>
          </a:xfrm>
          <a:prstGeom prst="rect">
            <a:avLst/>
          </a:prstGeom>
          <a:noFill/>
          <a:ln w="0">
            <a:noFill/>
            <a:prstDash val="solid"/>
          </a:ln>
        </p:spPr>
        <p:txBody>
          <a:bodyPr lIns="0" tIns="0" rIns="0" bIns="0" anchor="ctr"/>
          <a:lstStyle>
            <a:defPPr algn="l">
              <a:defRPr sz="18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75" b="1" i="0">
                <a:solidFill>
                  <a:srgbClr val="B5121B"/>
                </a:solidFill>
                <a:latin typeface="微软雅黑" panose="020B0503020204020204" charset="-122"/>
                <a:ea typeface="微软雅黑" panose="020B0503020204020204" charset="-122"/>
                <a:cs typeface="微软雅黑" panose="020B0503020204020204" charset="-122"/>
              </a:defRPr>
            </a:pPr>
            <a:r>
              <a:rPr sz="1875" b="1" i="0">
                <a:solidFill>
                  <a:srgbClr val="B5121B"/>
                </a:solidFill>
                <a:latin typeface="微软雅黑" panose="020B0503020204020204" charset="-122"/>
                <a:ea typeface="微软雅黑" panose="020B0503020204020204" charset="-122"/>
                <a:cs typeface="微软雅黑" panose="020B0503020204020204" charset="-122"/>
              </a:rPr>
              <a:t>正交投影的收益是否抵消计算成本？</a:t>
            </a:r>
            <a:endParaRPr sz="187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1809750" y="3781425"/>
            <a:ext cx="9144000" cy="5334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需要报告截断阶数、服务器时延、显存和能耗，而不仅是通信轮数。</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圆角矩形 14"/>
          <p:cNvSpPr>
            <a:spLocks noGrp="1"/>
          </p:cNvSpPr>
          <p:nvPr/>
        </p:nvSpPr>
        <p:spPr>
          <a:xfrm>
            <a:off x="666750" y="4657725"/>
            <a:ext cx="819150" cy="685800"/>
          </a:xfrm>
          <a:prstGeom prst="roundRect">
            <a:avLst>
              <a:gd name="adj" fmla="val 16667"/>
            </a:avLst>
          </a:prstGeom>
          <a:solidFill>
            <a:srgbClr val="1598A5"/>
          </a:solidFill>
          <a:ln w="0">
            <a:noFill/>
            <a:prstDash val="solid"/>
          </a:ln>
        </p:spPr>
        <p:txBody>
          <a:bodyPr lIns="0" tIns="0" rIns="0" bIns="0" anchor="ctr"/>
          <a:lstStyle>
            <a:defPPr algn="ctr">
              <a:defRPr sz="21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75" b="1" i="0">
                <a:solidFill>
                  <a:srgbClr val="FFFFFF"/>
                </a:solidFill>
                <a:latin typeface="微软雅黑" panose="020B0503020204020204" charset="-122"/>
                <a:ea typeface="微软雅黑" panose="020B0503020204020204" charset="-122"/>
                <a:cs typeface="微软雅黑" panose="020B0503020204020204" charset="-122"/>
              </a:defRPr>
            </a:pPr>
            <a:r>
              <a:rPr sz="2175" b="1" i="0">
                <a:solidFill>
                  <a:srgbClr val="FFFFFF"/>
                </a:solidFill>
                <a:latin typeface="微软雅黑" panose="020B0503020204020204" charset="-122"/>
                <a:ea typeface="微软雅黑" panose="020B0503020204020204" charset="-122"/>
                <a:cs typeface="微软雅黑" panose="020B0503020204020204" charset="-122"/>
              </a:rPr>
              <a:t>03</a:t>
            </a:r>
            <a:endParaRPr sz="217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1809750" y="4657725"/>
            <a:ext cx="8572500" cy="409575"/>
          </a:xfrm>
          <a:prstGeom prst="rect">
            <a:avLst/>
          </a:prstGeom>
          <a:noFill/>
          <a:ln w="0">
            <a:noFill/>
            <a:prstDash val="solid"/>
          </a:ln>
        </p:spPr>
        <p:txBody>
          <a:bodyPr lIns="0" tIns="0" rIns="0" bIns="0" anchor="ctr"/>
          <a:lstStyle>
            <a:defPPr algn="l">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87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87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87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87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87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87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87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87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87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能否迁移到 Transformer 或多模态模型？</a:t>
            </a:r>
            <a:endParaRPr sz="187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809750" y="5133975"/>
            <a:ext cx="9144000" cy="5334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特征层选择、序列长度和跨模态空间对齐可能带来新的异构性。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1" name="灯片编号占位符 10"/>
          <p:cNvSpPr>
            <a:spLocks noGrp="1"/>
          </p:cNvSpPr>
          <p:nvPr>
            <p:ph type="sldNum" sz="quarter" idx="12"/>
          </p:nvPr>
        </p:nvSpPr>
        <p:spPr/>
        <p:txBody>
          <a:bodyPr/>
          <a:lstStyle/>
          <a:p>
            <a:fld id="{8650B7E4-3306-44C3-860F-DB78733C0FD3}" type="slidenum">
              <a:rPr lang="zh-CN" altLang="en-US" smtClean="0">
                <a:latin typeface="Times New Roman" panose="02020603050405020304" charset="0"/>
                <a:cs typeface="Times New Roman" panose="02020603050405020304" charset="0"/>
              </a:rPr>
            </a:fld>
            <a:endParaRPr lang="zh-CN" altLang="en-US" dirty="0">
              <a:latin typeface="Times New Roman" panose="02020603050405020304" charset="0"/>
              <a:cs typeface="Times New Roman" panose="02020603050405020304" charset="0"/>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恳请各位老师和同学批评指正！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87.25,&quot;left&quot;:69,&quot;top&quot;:152.25,&quot;width&quot;:688.5}"/>
</p:tagLst>
</file>

<file path=ppt/tags/tag10.xml><?xml version="1.0" encoding="utf-8"?>
<p:tagLst xmlns:p="http://schemas.openxmlformats.org/presentationml/2006/main">
  <p:tag name="KSO_WM_DIAGRAM_VIRTUALLY_FRAME" val="{&quot;height&quot;:287.25,&quot;left&quot;:69,&quot;top&quot;:152.25,&quot;width&quot;:688.5}"/>
</p:tagLst>
</file>

<file path=ppt/tags/tag11.xml><?xml version="1.0" encoding="utf-8"?>
<p:tagLst xmlns:p="http://schemas.openxmlformats.org/presentationml/2006/main">
  <p:tag name="KSO_WM_DIAGRAM_VIRTUALLY_FRAME" val="{&quot;height&quot;:287.25,&quot;left&quot;:69,&quot;top&quot;:152.25,&quot;width&quot;:688.5}"/>
</p:tagLst>
</file>

<file path=ppt/tags/tag12.xml><?xml version="1.0" encoding="utf-8"?>
<p:tagLst xmlns:p="http://schemas.openxmlformats.org/presentationml/2006/main">
  <p:tag name="KSO_WM_DIAGRAM_VIRTUALLY_FRAME" val="{&quot;height&quot;:287.25,&quot;left&quot;:69,&quot;top&quot;:152.25,&quot;width&quot;:688.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246.15,&quot;left&quot;:11.850000000000005,&quot;top&quot;:217.95,&quot;width&quot;:584.5000000000005}"/>
</p:tagLst>
</file>

<file path=ppt/tags/tag16.xml><?xml version="1.0" encoding="utf-8"?>
<p:tagLst xmlns:p="http://schemas.openxmlformats.org/presentationml/2006/main">
  <p:tag name="KSO_WM_DIAGRAM_VIRTUALLY_FRAME" val="{&quot;height&quot;:246.15,&quot;left&quot;:11.850000000000005,&quot;top&quot;:217.95,&quot;width&quot;:584.5000000000005}"/>
</p:tagLst>
</file>

<file path=ppt/tags/tag17.xml><?xml version="1.0" encoding="utf-8"?>
<p:tagLst xmlns:p="http://schemas.openxmlformats.org/presentationml/2006/main">
  <p:tag name="KSO_WM_DIAGRAM_VIRTUALLY_FRAME" val="{&quot;height&quot;:246.15,&quot;left&quot;:11.850000000000005,&quot;top&quot;:217.95,&quot;width&quot;:584.5000000000005}"/>
</p:tagLst>
</file>

<file path=ppt/tags/tag18.xml><?xml version="1.0" encoding="utf-8"?>
<p:tagLst xmlns:p="http://schemas.openxmlformats.org/presentationml/2006/main">
  <p:tag name="KSO_WM_DIAGRAM_VIRTUALLY_FRAME" val="{&quot;height&quot;:246.15,&quot;left&quot;:11.850000000000005,&quot;top&quot;:217.95,&quot;width&quot;:584.500000000000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78.5,&quot;left&quot;:36.45,&quot;top&quot;:243.6,&quot;width&quot;:819.75}"/>
</p:tagLst>
</file>

<file path=ppt/tags/tag28.xml><?xml version="1.0" encoding="utf-8"?>
<p:tagLst xmlns:p="http://schemas.openxmlformats.org/presentationml/2006/main">
  <p:tag name="KSO_WM_DIAGRAM_VIRTUALLY_FRAME" val="{&quot;height&quot;:178.5,&quot;left&quot;:36.45,&quot;top&quot;:243.6,&quot;width&quot;:819.75}"/>
</p:tagLst>
</file>

<file path=ppt/tags/tag29.xml><?xml version="1.0" encoding="utf-8"?>
<p:tagLst xmlns:p="http://schemas.openxmlformats.org/presentationml/2006/main">
  <p:tag name="KSO_WM_DIAGRAM_VIRTUALLY_FRAME" val="{&quot;height&quot;:178.5,&quot;left&quot;:36.45,&quot;top&quot;:243.6,&quot;width&quot;:819.75}"/>
</p:tagLst>
</file>

<file path=ppt/tags/tag30.xml><?xml version="1.0" encoding="utf-8"?>
<p:tagLst xmlns:p="http://schemas.openxmlformats.org/presentationml/2006/main">
  <p:tag name="KSO_WM_DIAGRAM_VIRTUALLY_FRAME" val="{&quot;height&quot;:178.5,&quot;left&quot;:36.45,&quot;top&quot;:243.6,&quot;width&quot;:819.75}"/>
</p:tagLst>
</file>

<file path=ppt/tags/tag31.xml><?xml version="1.0" encoding="utf-8"?>
<p:tagLst xmlns:p="http://schemas.openxmlformats.org/presentationml/2006/main">
  <p:tag name="KSO_WM_DIAGRAM_VIRTUALLY_FRAME" val="{&quot;height&quot;:147,&quot;left&quot;:43.5,&quot;top&quot;:169.5,&quot;width&quot;:874.5}"/>
</p:tagLst>
</file>

<file path=ppt/tags/tag32.xml><?xml version="1.0" encoding="utf-8"?>
<p:tagLst xmlns:p="http://schemas.openxmlformats.org/presentationml/2006/main">
  <p:tag name="KSO_WM_DIAGRAM_VIRTUALLY_FRAME" val="{&quot;height&quot;:147,&quot;left&quot;:43.5,&quot;top&quot;:169.5,&quot;width&quot;:874.5}"/>
</p:tagLst>
</file>

<file path=ppt/tags/tag33.xml><?xml version="1.0" encoding="utf-8"?>
<p:tagLst xmlns:p="http://schemas.openxmlformats.org/presentationml/2006/main">
  <p:tag name="KSO_WM_DIAGRAM_VIRTUALLY_FRAME" val="{&quot;height&quot;:147,&quot;left&quot;:43.5,&quot;top&quot;:169.5,&quot;width&quot;:874.5}"/>
</p:tagLst>
</file>

<file path=ppt/tags/tag34.xml><?xml version="1.0" encoding="utf-8"?>
<p:tagLst xmlns:p="http://schemas.openxmlformats.org/presentationml/2006/main">
  <p:tag name="KSO_WM_DIAGRAM_VIRTUALLY_FRAME" val="{&quot;height&quot;:147,&quot;left&quot;:43.5,&quot;top&quot;:169.5,&quot;width&quot;:874.5}"/>
</p:tagLst>
</file>

<file path=ppt/tags/tag35.xml><?xml version="1.0" encoding="utf-8"?>
<p:tagLst xmlns:p="http://schemas.openxmlformats.org/presentationml/2006/main">
  <p:tag name="KSO_WM_DIAGRAM_VIRTUALLY_FRAME" val="{&quot;height&quot;:147,&quot;left&quot;:43.5,&quot;top&quot;:169.5,&quot;width&quot;:874.5}"/>
</p:tagLst>
</file>

<file path=ppt/tags/tag36.xml><?xml version="1.0" encoding="utf-8"?>
<p:tagLst xmlns:p="http://schemas.openxmlformats.org/presentationml/2006/main">
  <p:tag name="KSO_WM_DIAGRAM_VIRTUALLY_FRAME" val="{&quot;height&quot;:147,&quot;left&quot;:43.5,&quot;top&quot;:169.5,&quot;width&quot;:874.5}"/>
</p:tagLst>
</file>

<file path=ppt/tags/tag37.xml><?xml version="1.0" encoding="utf-8"?>
<p:tagLst xmlns:p="http://schemas.openxmlformats.org/presentationml/2006/main">
  <p:tag name="KSO_WM_DIAGRAM_VIRTUALLY_FRAME" val="{&quot;height&quot;:147,&quot;left&quot;:43.5,&quot;top&quot;:169.5,&quot;width&quot;:874.5}"/>
</p:tagLst>
</file>

<file path=ppt/tags/tag38.xml><?xml version="1.0" encoding="utf-8"?>
<p:tagLst xmlns:p="http://schemas.openxmlformats.org/presentationml/2006/main">
  <p:tag name="KSO_WM_DIAGRAM_VIRTUALLY_FRAME" val="{&quot;height&quot;:147,&quot;left&quot;:43.5,&quot;top&quot;:169.5,&quot;width&quot;:874.5}"/>
</p:tagLst>
</file>

<file path=ppt/tags/tag39.xml><?xml version="1.0" encoding="utf-8"?>
<p:tagLst xmlns:p="http://schemas.openxmlformats.org/presentationml/2006/main">
  <p:tag name="KSO_WM_DIAGRAM_VIRTUALLY_FRAME" val="{&quot;height&quot;:147,&quot;left&quot;:43.5,&quot;top&quot;:169.5,&quot;width&quot;:874.5}"/>
</p:tagLst>
</file>

<file path=ppt/tags/tag40.xml><?xml version="1.0" encoding="utf-8"?>
<p:tagLst xmlns:p="http://schemas.openxmlformats.org/presentationml/2006/main">
  <p:tag name="KSO_WM_DIAGRAM_VIRTUALLY_FRAME" val="{&quot;height&quot;:147,&quot;left&quot;:43.5,&quot;top&quot;:169.5,&quot;width&quot;:874.5}"/>
</p:tagLst>
</file>

<file path=ppt/tags/tag41.xml><?xml version="1.0" encoding="utf-8"?>
<p:tagLst xmlns:p="http://schemas.openxmlformats.org/presentationml/2006/main">
  <p:tag name="KSO_WM_DIAGRAM_VIRTUALLY_FRAME" val="{&quot;height&quot;:147,&quot;left&quot;:43.5,&quot;top&quot;:169.5,&quot;width&quot;:874.5}"/>
</p:tagLst>
</file>

<file path=ppt/tags/tag42.xml><?xml version="1.0" encoding="utf-8"?>
<p:tagLst xmlns:p="http://schemas.openxmlformats.org/presentationml/2006/main">
  <p:tag name="KSO_WM_DIAGRAM_VIRTUALLY_FRAME" val="{&quot;height&quot;:147,&quot;left&quot;:43.5,&quot;top&quot;:169.5,&quot;width&quot;:874.5}"/>
</p:tagLst>
</file>

<file path=ppt/tags/tag43.xml><?xml version="1.0" encoding="utf-8"?>
<p:tagLst xmlns:p="http://schemas.openxmlformats.org/presentationml/2006/main">
  <p:tag name="KSO_WM_DIAGRAM_VIRTUALLY_FRAME" val="{&quot;height&quot;:147,&quot;left&quot;:43.5,&quot;top&quot;:169.5,&quot;width&quot;:874.5}"/>
</p:tagLst>
</file>

<file path=ppt/tags/tag44.xml><?xml version="1.0" encoding="utf-8"?>
<p:tagLst xmlns:p="http://schemas.openxmlformats.org/presentationml/2006/main">
  <p:tag name="KSO_WM_DIAGRAM_VIRTUALLY_FRAME" val="{&quot;height&quot;:147,&quot;left&quot;:43.5,&quot;top&quot;:169.5,&quot;width&quot;:874.5}"/>
</p:tagLst>
</file>

<file path=ppt/tags/tag45.xml><?xml version="1.0" encoding="utf-8"?>
<p:tagLst xmlns:p="http://schemas.openxmlformats.org/presentationml/2006/main">
  <p:tag name="KSO_WM_DIAGRAM_VIRTUALLY_FRAME" val="{&quot;height&quot;:147,&quot;left&quot;:43.5,&quot;top&quot;:169.5,&quot;width&quot;:874.5}"/>
</p:tagLst>
</file>

<file path=ppt/tags/tag46.xml><?xml version="1.0" encoding="utf-8"?>
<p:tagLst xmlns:p="http://schemas.openxmlformats.org/presentationml/2006/main">
  <p:tag name="KSO_WM_DIAGRAM_VIRTUALLY_FRAME" val="{&quot;height&quot;:147,&quot;left&quot;:43.5,&quot;top&quot;:169.5,&quot;width&quot;:874.5}"/>
</p:tagLst>
</file>

<file path=ppt/tags/tag47.xml><?xml version="1.0" encoding="utf-8"?>
<p:tagLst xmlns:p="http://schemas.openxmlformats.org/presentationml/2006/main">
  <p:tag name="KSO_WM_DIAGRAM_VIRTUALLY_FRAME" val="{&quot;height&quot;:147,&quot;left&quot;:43.5,&quot;top&quot;:169.5,&quot;width&quot;:874.5}"/>
</p:tagLst>
</file>

<file path=ppt/tags/tag48.xml><?xml version="1.0" encoding="utf-8"?>
<p:tagLst xmlns:p="http://schemas.openxmlformats.org/presentationml/2006/main">
  <p:tag name="KSO_WM_DIAGRAM_VIRTUALLY_FRAME" val="{&quot;height&quot;:147,&quot;left&quot;:43.5,&quot;top&quot;:169.5,&quot;width&quot;:874.5}"/>
</p:tagLst>
</file>

<file path=ppt/tags/tag49.xml><?xml version="1.0" encoding="utf-8"?>
<p:tagLst xmlns:p="http://schemas.openxmlformats.org/presentationml/2006/main">
  <p:tag name="KSO_WM_DIAGRAM_VIRTUALLY_FRAME" val="{&quot;height&quot;:147,&quot;left&quot;:43.5,&quot;top&quot;:169.5,&quot;width&quot;:874.5}"/>
</p:tagLst>
</file>

<file path=ppt/tags/tag50.xml><?xml version="1.0" encoding="utf-8"?>
<p:tagLst xmlns:p="http://schemas.openxmlformats.org/presentationml/2006/main">
  <p:tag name="KSO_WM_DIAGRAM_VIRTUALLY_FRAME" val="{&quot;height&quot;:147,&quot;left&quot;:43.5,&quot;top&quot;:169.5,&quot;width&quot;:874.5}"/>
</p:tagLst>
</file>

<file path=ppt/tags/tag51.xml><?xml version="1.0" encoding="utf-8"?>
<p:tagLst xmlns:p="http://schemas.openxmlformats.org/presentationml/2006/main">
  <p:tag name="KSO_WM_DIAGRAM_VIRTUALLY_FRAME" val="{&quot;height&quot;:147,&quot;left&quot;:43.5,&quot;top&quot;:169.5,&quot;width&quot;:874.5}"/>
</p:tagLst>
</file>

<file path=ppt/tags/tag52.xml><?xml version="1.0" encoding="utf-8"?>
<p:tagLst xmlns:p="http://schemas.openxmlformats.org/presentationml/2006/main">
  <p:tag name="KSO_WM_DIAGRAM_VIRTUALLY_FRAME" val="{&quot;height&quot;:147,&quot;left&quot;:43.5,&quot;top&quot;:169.5,&quot;width&quot;:874.5}"/>
</p:tagLst>
</file>

<file path=ppt/tags/tag53.xml><?xml version="1.0" encoding="utf-8"?>
<p:tagLst xmlns:p="http://schemas.openxmlformats.org/presentationml/2006/main">
  <p:tag name="KSO_WM_DIAGRAM_VIRTUALLY_FRAME" val="{&quot;height&quot;:147,&quot;left&quot;:43.5,&quot;top&quot;:169.5,&quot;width&quot;:874.5}"/>
</p:tagLst>
</file>

<file path=ppt/tags/tag54.xml><?xml version="1.0" encoding="utf-8"?>
<p:tagLst xmlns:p="http://schemas.openxmlformats.org/presentationml/2006/main">
  <p:tag name="KSO_WM_DIAGRAM_VIRTUALLY_FRAME" val="{&quot;height&quot;:147,&quot;left&quot;:43.5,&quot;top&quot;:169.5,&quot;width&quot;:874.5}"/>
</p:tagLst>
</file>

<file path=ppt/tags/tag55.xml><?xml version="1.0" encoding="utf-8"?>
<p:tagLst xmlns:p="http://schemas.openxmlformats.org/presentationml/2006/main">
  <p:tag name="KSO_WM_DIAGRAM_VIRTUALLY_FRAME" val="{&quot;height&quot;:262.5,&quot;left&quot;:52.5,&quot;top&quot;:138.75,&quot;width&quot;:870}"/>
</p:tagLst>
</file>

<file path=ppt/tags/tag56.xml><?xml version="1.0" encoding="utf-8"?>
<p:tagLst xmlns:p="http://schemas.openxmlformats.org/presentationml/2006/main">
  <p:tag name="KSO_WM_DIAGRAM_VIRTUALLY_FRAME" val="{&quot;height&quot;:262.5,&quot;left&quot;:52.5,&quot;top&quot;:138.75,&quot;width&quot;:870}"/>
</p:tagLst>
</file>

<file path=ppt/tags/tag57.xml><?xml version="1.0" encoding="utf-8"?>
<p:tagLst xmlns:p="http://schemas.openxmlformats.org/presentationml/2006/main">
  <p:tag name="KSO_WM_DIAGRAM_VIRTUALLY_FRAME" val="{&quot;height&quot;:262.5,&quot;left&quot;:52.5,&quot;top&quot;:138.75,&quot;width&quot;:870}"/>
</p:tagLst>
</file>

<file path=ppt/tags/tag58.xml><?xml version="1.0" encoding="utf-8"?>
<p:tagLst xmlns:p="http://schemas.openxmlformats.org/presentationml/2006/main">
  <p:tag name="KSO_WM_DIAGRAM_VIRTUALLY_FRAME" val="{&quot;height&quot;:262.5,&quot;left&quot;:52.5,&quot;top&quot;:138.75,&quot;width&quot;:870}"/>
</p:tagLst>
</file>

<file path=ppt/tags/tag59.xml><?xml version="1.0" encoding="utf-8"?>
<p:tagLst xmlns:p="http://schemas.openxmlformats.org/presentationml/2006/main">
  <p:tag name="KSO_WM_DIAGRAM_VIRTUALLY_FRAME" val="{&quot;height&quot;:262.5,&quot;left&quot;:52.5,&quot;top&quot;:138.75,&quot;width&quot;:870}"/>
</p:tagLst>
</file>

<file path=ppt/tags/tag60.xml><?xml version="1.0" encoding="utf-8"?>
<p:tagLst xmlns:p="http://schemas.openxmlformats.org/presentationml/2006/main">
  <p:tag name="KSO_WM_DIAGRAM_VIRTUALLY_FRAME" val="{&quot;height&quot;:262.5,&quot;left&quot;:52.5,&quot;top&quot;:138.75,&quot;width&quot;:870}"/>
</p:tagLst>
</file>

<file path=ppt/tags/tag61.xml><?xml version="1.0" encoding="utf-8"?>
<p:tagLst xmlns:p="http://schemas.openxmlformats.org/presentationml/2006/main">
  <p:tag name="KSO_WM_DIAGRAM_VIRTUALLY_FRAME" val="{&quot;height&quot;:262.5,&quot;left&quot;:52.5,&quot;top&quot;:138.75,&quot;width&quot;:870}"/>
</p:tagLst>
</file>

<file path=ppt/tags/tag62.xml><?xml version="1.0" encoding="utf-8"?>
<p:tagLst xmlns:p="http://schemas.openxmlformats.org/presentationml/2006/main">
  <p:tag name="KSO_WM_DIAGRAM_VIRTUALLY_FRAME" val="{&quot;height&quot;:262.5,&quot;left&quot;:52.5,&quot;top&quot;:138.75,&quot;width&quot;:870}"/>
</p:tagLst>
</file>

<file path=ppt/tags/tag63.xml><?xml version="1.0" encoding="utf-8"?>
<p:tagLst xmlns:p="http://schemas.openxmlformats.org/presentationml/2006/main">
  <p:tag name="KSO_WM_DIAGRAM_VIRTUALLY_FRAME" val="{&quot;height&quot;:262.5,&quot;left&quot;:52.5,&quot;top&quot;:138.75,&quot;width&quot;:870}"/>
</p:tagLst>
</file>

<file path=ppt/tags/tag64.xml><?xml version="1.0" encoding="utf-8"?>
<p:tagLst xmlns:p="http://schemas.openxmlformats.org/presentationml/2006/main">
  <p:tag name="KSO_WM_DIAGRAM_VIRTUALLY_FRAME" val="{&quot;height&quot;:262.5,&quot;left&quot;:52.5,&quot;top&quot;:138.75,&quot;width&quot;:870}"/>
</p:tagLst>
</file>

<file path=ppt/tags/tag65.xml><?xml version="1.0" encoding="utf-8"?>
<p:tagLst xmlns:p="http://schemas.openxmlformats.org/presentationml/2006/main">
  <p:tag name="KSO_WM_DIAGRAM_VIRTUALLY_FRAME" val="{&quot;height&quot;:262.5,&quot;left&quot;:52.5,&quot;top&quot;:138.75,&quot;width&quot;:870}"/>
</p:tagLst>
</file>

<file path=ppt/tags/tag66.xml><?xml version="1.0" encoding="utf-8"?>
<p:tagLst xmlns:p="http://schemas.openxmlformats.org/presentationml/2006/main">
  <p:tag name="KSO_WM_DIAGRAM_VIRTUALLY_FRAME" val="{&quot;height&quot;:262.5,&quot;left&quot;:52.5,&quot;top&quot;:138.75,&quot;width&quot;:870}"/>
</p:tagLst>
</file>

<file path=ppt/tags/tag67.xml><?xml version="1.0" encoding="utf-8"?>
<p:tagLst xmlns:p="http://schemas.openxmlformats.org/presentationml/2006/main">
  <p:tag name="KSO_WM_DIAGRAM_VIRTUALLY_FRAME" val="{&quot;height&quot;:262.5,&quot;left&quot;:52.5,&quot;top&quot;:138.75,&quot;width&quot;:870}"/>
</p:tagLst>
</file>

<file path=ppt/tags/tag68.xml><?xml version="1.0" encoding="utf-8"?>
<p:tagLst xmlns:p="http://schemas.openxmlformats.org/presentationml/2006/main">
  <p:tag name="KSO_WM_DIAGRAM_VIRTUALLY_FRAME" val="{&quot;height&quot;:262.5,&quot;left&quot;:52.5,&quot;top&quot;:138.75,&quot;width&quot;:870}"/>
</p:tagLst>
</file>

<file path=ppt/tags/tag69.xml><?xml version="1.0" encoding="utf-8"?>
<p:tagLst xmlns:p="http://schemas.openxmlformats.org/presentationml/2006/main">
  <p:tag name="KSO_WM_DIAGRAM_VIRTUALLY_FRAME" val="{&quot;height&quot;:262.5,&quot;left&quot;:52.5,&quot;top&quot;:138.75,&quot;width&quot;:870}"/>
</p:tagLst>
</file>

<file path=ppt/tags/tag70.xml><?xml version="1.0" encoding="utf-8"?>
<p:tagLst xmlns:p="http://schemas.openxmlformats.org/presentationml/2006/main">
  <p:tag name="KSO_WM_DIAGRAM_VIRTUALLY_FRAME" val="{&quot;height&quot;:147,&quot;left&quot;:43.5,&quot;top&quot;:169.5,&quot;width&quot;:874.5}"/>
</p:tagLst>
</file>

<file path=ppt/tags/tag71.xml><?xml version="1.0" encoding="utf-8"?>
<p:tagLst xmlns:p="http://schemas.openxmlformats.org/presentationml/2006/main">
  <p:tag name="KSO_WM_DIAGRAM_VIRTUALLY_FRAME" val="{&quot;height&quot;:264,&quot;left&quot;:752.15,&quot;top&quot;:204.85,&quot;width&quot;:195}"/>
</p:tagLst>
</file>

<file path=ppt/tags/tag72.xml><?xml version="1.0" encoding="utf-8"?>
<p:tagLst xmlns:p="http://schemas.openxmlformats.org/presentationml/2006/main">
  <p:tag name="KSO_WM_DIAGRAM_VIRTUALLY_FRAME" val="{&quot;height&quot;:264,&quot;left&quot;:752.15,&quot;top&quot;:204.85,&quot;width&quot;:195}"/>
</p:tagLst>
</file>

<file path=ppt/tags/tag73.xml><?xml version="1.0" encoding="utf-8"?>
<p:tagLst xmlns:p="http://schemas.openxmlformats.org/presentationml/2006/main">
  <p:tag name="KSO_WM_DIAGRAM_VIRTUALLY_FRAME" val="{&quot;height&quot;:264,&quot;left&quot;:752.15,&quot;top&quot;:204.85,&quot;width&quot;:195}"/>
</p:tagLst>
</file>

<file path=ppt/tags/tag74.xml><?xml version="1.0" encoding="utf-8"?>
<p:tagLst xmlns:p="http://schemas.openxmlformats.org/presentationml/2006/main">
  <p:tag name="KSO_WM_DIAGRAM_VIRTUALLY_FRAME" val="{&quot;height&quot;:264,&quot;left&quot;:752.15,&quot;top&quot;:204.85,&quot;width&quot;:195}"/>
</p:tagLst>
</file>

<file path=ppt/tags/tag75.xml><?xml version="1.0" encoding="utf-8"?>
<p:tagLst xmlns:p="http://schemas.openxmlformats.org/presentationml/2006/main">
  <p:tag name="KSO_WM_DIAGRAM_VIRTUALLY_FRAME" val="{&quot;height&quot;:264,&quot;left&quot;:752.15,&quot;top&quot;:204.85,&quot;width&quot;:195}"/>
</p:tagLst>
</file>

<file path=ppt/tags/tag76.xml><?xml version="1.0" encoding="utf-8"?>
<p:tagLst xmlns:p="http://schemas.openxmlformats.org/presentationml/2006/main">
  <p:tag name="KSO_WM_DIAGRAM_VIRTUALLY_FRAME" val="{&quot;height&quot;:264,&quot;left&quot;:752.15,&quot;top&quot;:204.85,&quot;width&quot;:195}"/>
</p:tagLst>
</file>

<file path=ppt/tags/tag77.xml><?xml version="1.0" encoding="utf-8"?>
<p:tagLst xmlns:p="http://schemas.openxmlformats.org/presentationml/2006/main">
  <p:tag name="KSO_WM_DIAGRAM_VIRTUALLY_FRAME" val="{&quot;height&quot;:264,&quot;left&quot;:752.15,&quot;top&quot;:204.85,&quot;width&quot;:195}"/>
</p:tagLst>
</file>

<file path=ppt/tags/tag78.xml><?xml version="1.0" encoding="utf-8"?>
<p:tagLst xmlns:p="http://schemas.openxmlformats.org/presentationml/2006/main">
  <p:tag name="KSO_WM_DIAGRAM_VIRTUALLY_FRAME" val="{&quot;height&quot;:264,&quot;left&quot;:752.15,&quot;top&quot;:204.85,&quot;width&quot;:195}"/>
</p:tagLst>
</file>

<file path=ppt/tags/tag79.xml><?xml version="1.0" encoding="utf-8"?>
<p:tagLst xmlns:p="http://schemas.openxmlformats.org/presentationml/2006/main">
  <p:tag name="KSO_WM_DIAGRAM_VIRTUALLY_FRAME" val="{&quot;height&quot;:264,&quot;left&quot;:752.15,&quot;top&quot;:204.85,&quot;width&quot;:195}"/>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5447</Words>
  <Application>WPS 演示</Application>
  <PresentationFormat>Converted Presentation</PresentationFormat>
  <Paragraphs>740</Paragraphs>
  <Slides>25</Slides>
  <Notes>0</Notes>
  <HiddenSlides>0</HiddenSlides>
  <MMClips>0</MMClips>
  <ScaleCrop>false</ScaleCrop>
  <HeadingPairs>
    <vt:vector size="6" baseType="variant">
      <vt:variant>
        <vt:lpstr>已用的字体</vt:lpstr>
      </vt:variant>
      <vt:variant>
        <vt:i4>28</vt:i4>
      </vt:variant>
      <vt:variant>
        <vt:lpstr>主题</vt:lpstr>
      </vt:variant>
      <vt:variant>
        <vt:i4>1</vt:i4>
      </vt:variant>
      <vt:variant>
        <vt:lpstr>幻灯片标题</vt:lpstr>
      </vt:variant>
      <vt:variant>
        <vt:i4>25</vt:i4>
      </vt:variant>
    </vt:vector>
  </HeadingPairs>
  <TitlesOfParts>
    <vt:vector size="54" baseType="lpstr">
      <vt:lpstr>Arial</vt:lpstr>
      <vt:lpstr>宋体</vt:lpstr>
      <vt:lpstr>Wingdings</vt:lpstr>
      <vt:lpstr>Arial</vt:lpstr>
      <vt:lpstr>思源黑体 CN Normal</vt:lpstr>
      <vt:lpstr>黑体</vt:lpstr>
      <vt:lpstr>书体坊安景臣钢笔行书</vt:lpstr>
      <vt:lpstr>Segoe Print</vt:lpstr>
      <vt:lpstr>思源宋体 CN Heavy</vt:lpstr>
      <vt:lpstr>Alibaba Sans Medium</vt:lpstr>
      <vt:lpstr>Times New Roman</vt:lpstr>
      <vt:lpstr>微软雅黑</vt:lpstr>
      <vt:lpstr>Arial Unicode MS</vt:lpstr>
      <vt:lpstr>Cambria Math</vt:lpstr>
      <vt:lpstr>Cambria Math</vt:lpstr>
      <vt:lpstr>Cambria Math</vt:lpstr>
      <vt:lpstr>楷体</vt:lpstr>
      <vt:lpstr>Calibri</vt:lpstr>
      <vt:lpstr>MS PGothic</vt:lpstr>
      <vt:lpstr>Alibaba Sans Medium</vt:lpstr>
      <vt:lpstr>书体坊安景臣钢笔行书</vt:lpstr>
      <vt:lpstr>思源宋体 CN Heavy</vt:lpstr>
      <vt:lpstr>思源黑体 CN Normal</vt:lpstr>
      <vt:lpstr>方正大黑体_GBK</vt:lpstr>
      <vt:lpstr>Aa钢笔行书</vt:lpstr>
      <vt:lpstr>锦绣宋体</vt:lpstr>
      <vt:lpstr>Saturday Sans Regular</vt:lpstr>
      <vt:lpstr>MS Mincho</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38</cp:revision>
  <dcterms:created xsi:type="dcterms:W3CDTF">2026-10-18T10:32:00Z</dcterms:created>
  <dcterms:modified xsi:type="dcterms:W3CDTF">2026-10-23T08:17:13Z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2052-12.1.0.29158</vt:lpwstr>
  </property>
</Properties>
</file>