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Lst>
  <p:sldSz cx="12192000" cy="6858000"/>
  <p:notesSz cx="6858000" cy="9144000"/>
  <p:embeddedFontLst>
    <p:embeddedFont>
      <p:font typeface="黑体" panose="02010609060101010101" charset="-122"/>
      <p:regular r:id="rId36"/>
    </p:embeddedFont>
  </p:embeddedFontLst>
  <p:defaultTextStyle>
    <a:lvl1pPr marL="0" algn="l" defTabSz="914400">
      <a:buNone/>
      <a:defRPr sz="1800" kern="1200">
        <a:solidFill>
          <a:schemeClr val="tx1"/>
        </a:solidFill>
        <a:latin typeface="PingFang SC" panose="020B0400000000000000" charset="-122"/>
        <a:ea typeface="PingFang SC" panose="020B0400000000000000" charset="-122"/>
        <a:cs typeface="PingFang SC" panose="020B0400000000000000" charset="-122"/>
      </a:defRPr>
    </a:lvl1pPr>
    <a:lvl2pPr marL="457200" algn="l" defTabSz="914400">
      <a:buNone/>
      <a:defRPr sz="1800" kern="1200">
        <a:solidFill>
          <a:schemeClr val="tx1"/>
        </a:solidFill>
        <a:latin typeface="PingFang SC" panose="020B0400000000000000" charset="-122"/>
        <a:ea typeface="PingFang SC" panose="020B0400000000000000" charset="-122"/>
        <a:cs typeface="PingFang SC" panose="020B0400000000000000" charset="-122"/>
      </a:defRPr>
    </a:lvl2pPr>
    <a:lvl3pPr marL="914400" algn="l" defTabSz="914400">
      <a:buNone/>
      <a:defRPr sz="1800" kern="1200">
        <a:solidFill>
          <a:schemeClr val="tx1"/>
        </a:solidFill>
        <a:latin typeface="PingFang SC" panose="020B0400000000000000" charset="-122"/>
        <a:ea typeface="PingFang SC" panose="020B0400000000000000" charset="-122"/>
        <a:cs typeface="PingFang SC" panose="020B0400000000000000" charset="-122"/>
      </a:defRPr>
    </a:lvl3pPr>
    <a:lvl4pPr marL="1371600" algn="l" defTabSz="914400">
      <a:buNone/>
      <a:defRPr sz="1800" kern="1200">
        <a:solidFill>
          <a:schemeClr val="tx1"/>
        </a:solidFill>
        <a:latin typeface="PingFang SC" panose="020B0400000000000000" charset="-122"/>
        <a:ea typeface="PingFang SC" panose="020B0400000000000000" charset="-122"/>
        <a:cs typeface="PingFang SC" panose="020B0400000000000000" charset="-122"/>
      </a:defRPr>
    </a:lvl4pPr>
    <a:lvl5pPr marL="1828800" algn="l" defTabSz="914400">
      <a:buNone/>
      <a:defRPr sz="1800" kern="1200">
        <a:solidFill>
          <a:schemeClr val="tx1"/>
        </a:solidFill>
        <a:latin typeface="PingFang SC" panose="020B0400000000000000" charset="-122"/>
        <a:ea typeface="PingFang SC" panose="020B0400000000000000" charset="-122"/>
        <a:cs typeface="PingFang SC" panose="020B0400000000000000" charset="-122"/>
      </a:defRPr>
    </a:lvl5pPr>
    <a:lvl6pPr marL="2286000" algn="l" defTabSz="914400">
      <a:buNone/>
      <a:defRPr sz="1800" kern="1200">
        <a:solidFill>
          <a:schemeClr val="tx1"/>
        </a:solidFill>
        <a:latin typeface="PingFang SC" panose="020B0400000000000000" charset="-122"/>
        <a:ea typeface="PingFang SC" panose="020B0400000000000000" charset="-122"/>
        <a:cs typeface="PingFang SC" panose="020B0400000000000000" charset="-122"/>
      </a:defRPr>
    </a:lvl6pPr>
    <a:lvl7pPr marL="2743200" algn="l" defTabSz="914400">
      <a:buNone/>
      <a:defRPr sz="1800" kern="1200">
        <a:solidFill>
          <a:schemeClr val="tx1"/>
        </a:solidFill>
        <a:latin typeface="PingFang SC" panose="020B0400000000000000" charset="-122"/>
        <a:ea typeface="PingFang SC" panose="020B0400000000000000" charset="-122"/>
        <a:cs typeface="PingFang SC" panose="020B0400000000000000" charset="-122"/>
      </a:defRPr>
    </a:lvl7pPr>
    <a:lvl8pPr marL="3200400" algn="l" defTabSz="914400">
      <a:buNone/>
      <a:defRPr sz="1800" kern="1200">
        <a:solidFill>
          <a:schemeClr val="tx1"/>
        </a:solidFill>
        <a:latin typeface="PingFang SC" panose="020B0400000000000000" charset="-122"/>
        <a:ea typeface="PingFang SC" panose="020B0400000000000000" charset="-122"/>
        <a:cs typeface="PingFang SC" panose="020B0400000000000000" charset="-122"/>
      </a:defRPr>
    </a:lvl8pPr>
    <a:lvl9pPr marL="3657600" algn="l" defTabSz="914400">
      <a:buNone/>
      <a:defRPr sz="1800" kern="1200">
        <a:solidFill>
          <a:schemeClr val="tx1"/>
        </a:solidFill>
        <a:latin typeface="PingFang SC" panose="020B0400000000000000" charset="-122"/>
        <a:ea typeface="PingFang SC" panose="020B0400000000000000" charset="-122"/>
        <a:cs typeface="PingFang SC" panose="020B0400000000000000"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6" Type="http://schemas.openxmlformats.org/officeDocument/2006/relationships/font" Target="fonts/font1.fntdata"/><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各位老师、同学们大家好，我是来自四川大学的钱琦。今天我讲的论文是GeCo:具有泛化能力与可理解性的工业入侵检测。</a:t>
            </a:r>
            <a:r>
              <a:rPr lang="zh-CN"/>
              <a:t>他是</a:t>
            </a:r>
            <a:r>
              <a:rPr lang="en-US" altLang="zh-CN"/>
              <a:t>2025</a:t>
            </a:r>
            <a:r>
              <a:rPr lang="zh-CN"/>
              <a:t>发表在</a:t>
            </a:r>
            <a:r>
              <a:rPr lang="en-US" altLang="zh-CN"/>
              <a:t>usenix</a:t>
            </a:r>
            <a:r>
              <a:rPr lang="zh-CN" altLang="en-US"/>
              <a:t>上</a:t>
            </a:r>
            <a:r>
              <a:rPr lang="zh-CN" altLang="en-US"/>
              <a:t>的。</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今天，我主要从研究背景，方法设计，实验评估，总结与思考四个方面进行</a:t>
            </a:r>
            <a:r>
              <a:rPr lang="zh-CN"/>
              <a:t>展开</a:t>
            </a:r>
            <a:endParaRPr 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首先</a:t>
            </a:r>
            <a:r>
              <a:t>介绍</a:t>
            </a:r>
            <a:r>
              <a:rPr lang="zh-CN"/>
              <a:t>第一个部分研究背景</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本论文主要是在工业控制系统背景下，工业控制系统由主要由传感器、控制器和执行器等</a:t>
            </a:r>
            <a:r>
              <a:rPr lang="zh-CN"/>
              <a:t>设备</a:t>
            </a:r>
            <a:r>
              <a:t>组成。</a:t>
            </a:r>
            <a:r>
              <a:rPr lang="zh-CN"/>
              <a:t>请大家看图中的水箱子系统，其中就包括了传感器，可以测量进出水流量以及水位。可编程逻辑控制器根据测量值与控制目标决定阀门和泵的开关，阀门与泵负责改变物理过程。所以，在工业系统中的读数和控制动作是相互关联的，共同决定真实物理过程的变化。</a:t>
            </a:r>
          </a:p>
          <a:p/>
          <a:p/>
          <a:p>
            <a:endParaRPr>
              <a:sym typeface="+mn-ea"/>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从</a:t>
            </a:r>
            <a:r>
              <a:rPr lang="en-US" altLang="zh-CN"/>
              <a:t>ppt</a:t>
            </a:r>
            <a:r>
              <a:rPr lang="zh-CN" altLang="en-US"/>
              <a:t>中这个数字控制回路以及攻击位置图，我们可以看出，在工业控制系统中，控制器根据目标值和传感器的反馈，控制阀门、泵等设备，设备改变物理过程，传感器在把结果反馈给控制器，从而形成闭环。攻击者可能会伪造传感器的读数，例如纂改液位读数，让控制器误以为当前水位仍然很低，就可能导致持续进水。或者干预执行器信号，使执行器偏离预期动作。那么控制器就可能会依据错误状态决策，物理过程运行可能偏离预期轨迹。可能会造成设备的损坏，严重时危机人员和环境安全。例如在储水和供水系统中，液位异常升降可能导致供水中断或溢出。所以，在工业入侵检测中需要识别可疑行为，为操作人员保护物理过程提供告警依据，及时处理</a:t>
            </a:r>
            <a:r>
              <a:rPr lang="zh-CN" altLang="en-US"/>
              <a:t>告警</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工业入侵检测系统负责检测运行数据，识别可疑行为并向操作人员报警。按照输入数据划分可以分为网络流量、主机数据、物理过程数据三个。本论文关注的就是第三个，也叫做过程感知工业</a:t>
            </a:r>
            <a:r>
              <a:rPr lang="zh-CN" altLang="en-US"/>
              <a:t>入侵检测，观察传感器读数以及执行器状态，判断过程行为是否</a:t>
            </a:r>
            <a:r>
              <a:rPr lang="zh-CN" altLang="en-US"/>
              <a:t>异常</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该论文将已经有的方法大致分为</a:t>
            </a:r>
            <a:r>
              <a:rPr lang="zh-CN"/>
              <a:t>两类，一类是</a:t>
            </a:r>
            <a:r>
              <a:t>数据驱动</a:t>
            </a:r>
            <a:r>
              <a:rPr lang="zh-CN"/>
              <a:t>方法，</a:t>
            </a:r>
            <a:r>
              <a:t>从历史过程数据学习正常行为，通常采用机器学习等方法。</a:t>
            </a:r>
            <a:r>
              <a:rPr lang="zh-CN"/>
              <a:t>自动化程度高</a:t>
            </a:r>
            <a:r>
              <a:t>但是告警难理解</a:t>
            </a:r>
            <a:r>
              <a:t>，</a:t>
            </a:r>
            <a:r>
              <a:t>模型难验证</a:t>
            </a:r>
            <a:r>
              <a:t>。</a:t>
            </a:r>
          </a:p>
          <a:p>
            <a:r>
              <a:rPr lang="zh-CN"/>
              <a:t>另一类方法依赖</a:t>
            </a:r>
            <a:r>
              <a:t>专家提供物理规律、控制逻辑或数学模型，便于运维人员理解和核查告警。但建模和维护成本高，且向新领域迁移会受到限制。所以论文就识别到工人建模</a:t>
            </a:r>
            <a:r>
              <a:rPr lang="zh-CN"/>
              <a:t>成本高</a:t>
            </a:r>
            <a:r>
              <a:t>并且覆盖不完整，</a:t>
            </a:r>
            <a:r>
              <a:t>而自动学习模型的告警又可能难以理解。</a:t>
            </a:r>
            <a:r>
              <a:t>由此提出研究问题：</a:t>
            </a:r>
            <a:r>
              <a:t>能否在不依赖领域专家逐一建模的情况下，</a:t>
            </a:r>
            <a:r>
              <a:t>从历史过程中自动构建可理解的工业入侵检测模型，</a:t>
            </a:r>
            <a:r>
              <a:t>同时兼顾检测性能和跨工业场影的适用性</a:t>
            </a:r>
            <a:r>
              <a:rPr lang="zh-CN">
                <a:ea typeface="宋体" panose="02010600030101010101" pitchFamily="2" charset="-122"/>
              </a:rPr>
              <a:t>？</a:t>
            </a:r>
            <a:endParaRPr lang="zh-CN">
              <a:ea typeface="宋体" panose="02010600030101010101" pitchFamily="2" charset="-122"/>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
            <a:r>
              <a:t>工业入侵检测系统（IIDS）的总体目标，是在发生网络攻击时通知操作人员，同时避免产生过多</a:t>
            </a:r>
            <a:r>
              <a:rPr lang="zh-CN"/>
              <a:t>误报</a:t>
            </a:r>
            <a:r>
              <a:t>。因此，检测性能是大多数科学评估的主要对象。然而，另外两个因素同样重要，即泛化能力和可理解性。首先，在工业控制领域，</a:t>
            </a:r>
            <a:r>
              <a:rPr lang="zh-CN"/>
              <a:t>工业设施的硬件与协议各不相同，检测方法需要适用于不同工业应用，甚至不同领域。</a:t>
            </a:r>
            <a:r>
              <a:t>因此，IIDS 的泛化能力</a:t>
            </a:r>
            <a:r>
              <a:rPr lang="zh-CN"/>
              <a:t>也</a:t>
            </a:r>
            <a:r>
              <a:t>至关重要。其次，IIDS 应为操作人员提供指导，帮助他们理解告警、追查其原因，或排除误报</a:t>
            </a:r>
            <a:r>
              <a:rPr lang="zh-CN">
                <a:ea typeface="宋体" panose="02010600030101010101" pitchFamily="2" charset="-122"/>
              </a:rPr>
              <a:t>。由此论文提出</a:t>
            </a:r>
            <a:r>
              <a:rPr lang="en-US" altLang="zh-CN">
                <a:ea typeface="宋体" panose="02010600030101010101" pitchFamily="2" charset="-122"/>
              </a:rPr>
              <a:t>GeCo</a:t>
            </a:r>
            <a:r>
              <a:rPr lang="zh-CN" altLang="en-US">
                <a:ea typeface="宋体" panose="02010600030101010101" pitchFamily="2" charset="-122"/>
              </a:rPr>
              <a:t>，从正常运行数据中自动学习可理解的状态空间模型，通过检测实际观测与模型预测之间的偏离发现攻击迹象，减少人工建模，并为操作人员核查告警提供依据</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下面进行第二部分方法</a:t>
            </a:r>
            <a:r>
              <a:rPr lang="zh-CN"/>
              <a:t>设计</a:t>
            </a:r>
            <a:endParaRPr 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首先</a:t>
            </a:r>
            <a:r>
              <a:t>，</a:t>
            </a:r>
            <a:r>
              <a:t>我们来了解一下</a:t>
            </a:r>
            <a:r>
              <a:t>Geco</a:t>
            </a:r>
            <a:r>
              <a:t>的整体流程</a:t>
            </a:r>
            <a:r>
              <a:t>，</a:t>
            </a:r>
            <a:r>
              <a:t>分为离线训练和在线检测两个阶段</a:t>
            </a:r>
            <a:r>
              <a:t>。</a:t>
            </a:r>
          </a:p>
          <a:p>
            <a:r>
              <a:rPr lang="zh-CN"/>
              <a:t>离线阶段</a:t>
            </a:r>
            <a:r>
              <a:t>，利用历史正常运行数据和通用函数模版，自动学习描述系统正常行为的状态空间模型</a:t>
            </a:r>
            <a:r>
              <a:rPr lang="zh-CN">
                <a:ea typeface="宋体" panose="02010600030101010101" pitchFamily="2" charset="-122"/>
              </a:rPr>
              <a:t>。在线检测阶段首先</a:t>
            </a:r>
            <a:r>
              <a:t>，根据上一时刻的系统状态和控制输入预测当前状态，并与实际测量值比较</a:t>
            </a:r>
            <a:r>
              <a:rPr lang="zh-CN">
                <a:ea typeface="宋体" panose="02010600030101010101" pitchFamily="2" charset="-122"/>
              </a:rPr>
              <a:t>。然后</a:t>
            </a:r>
            <a:r>
              <a:t>，</a:t>
            </a:r>
            <a:r>
              <a:t>通过累计和机制累计预测偏差</a:t>
            </a:r>
            <a:r>
              <a:t>，</a:t>
            </a:r>
            <a:r>
              <a:t>当累积统计量达到阈值时出发异常告警</a:t>
            </a:r>
            <a:r>
              <a:t>。</a:t>
            </a:r>
          </a:p>
          <a:p>
            <a:r>
              <a:rPr lang="en-US"/>
              <a:t>  </a:t>
            </a:r>
            <a:endParaRPr 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GECO</a:t>
            </a:r>
            <a:r>
              <a:t>利用状态空间表示法对</a:t>
            </a:r>
            <a:r>
              <a:t>ICS</a:t>
            </a:r>
            <a:r>
              <a:t>的行为进行建模。状态空间表示是由自身状态与外部输入共同决定</a:t>
            </a:r>
            <a:r>
              <a:t>。</a:t>
            </a:r>
            <a:r>
              <a:t>其中</a:t>
            </a:r>
            <a:r>
              <a:t>，A</a:t>
            </a:r>
            <a:r>
              <a:t>是描述系统自身状态如何的</a:t>
            </a:r>
            <a:r>
              <a:t>。</a:t>
            </a:r>
            <a:r>
              <a:t>如在水箱系统中</a:t>
            </a:r>
            <a:r>
              <a:t>，</a:t>
            </a:r>
            <a:r>
              <a:t>若没有进水和出水</a:t>
            </a:r>
            <a:r>
              <a:t>，</a:t>
            </a:r>
            <a:r>
              <a:t>那么水箱水位保持不变</a:t>
            </a:r>
            <a:r>
              <a:t>，a=1</a:t>
            </a:r>
            <a:r>
              <a:t>。而在加热系统中</a:t>
            </a:r>
            <a:r>
              <a:t>，</a:t>
            </a:r>
            <a:r>
              <a:t>如果没有外部加热的情况</a:t>
            </a:r>
            <a:r>
              <a:t>，</a:t>
            </a:r>
            <a:r>
              <a:t>随时间的变化温度会损失</a:t>
            </a:r>
            <a:r>
              <a:t>。</a:t>
            </a:r>
            <a:r>
              <a:t>所以</a:t>
            </a:r>
            <a:r>
              <a:t>a&lt;1.B</a:t>
            </a:r>
            <a:r>
              <a:t>描述控制输入对系统的影响</a:t>
            </a:r>
          </a:p>
          <a:p/>
          <a:p>
            <a:r>
              <a:t>状态空间模型把下一状态分解为自身演化和控制输入作用。论文用对角形式简化A，使单个变量的自身变化由一个系数表示。B则通过候选函数表示输入的影响。实现中不要求专家事先划分状态量与控制输入，而是搜索过程变量组合。</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前一页给出了整体状态空间表示。GeCo</a:t>
            </a:r>
            <a:r>
              <a:t>并不是先给整个工厂建立一条大公式，而是依次把每个过程变量作为预测目标，为它学习一个状态转移函数。这个公式就是</a:t>
            </a:r>
            <a:r>
              <a:t>GeCo</a:t>
            </a:r>
            <a:r>
              <a:t>为第</a:t>
            </a:r>
            <a:r>
              <a:t>i</a:t>
            </a:r>
            <a:r>
              <a:t>个过程值分别学习状态转移函数。公式也是由上一时刻该变量自身状态以及候选控制输入造成的变化共同决定的。</a:t>
            </a:r>
          </a:p>
          <a:p>
            <a:r>
              <a:t>公式右侧第一项是上一时刻该变量自身状态的贡献，第二项B表示候选控制输入造成的变化。帽子表示预测值，上标i表示目标变量编号。逐变量建模并不等于忽略变量间关系，因为B仍可以包含多个相关过程变量。接下来介绍如何搜索模板、变量组合和参数，从正常数据中确定每个Fi。</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具体如何确定一条公式？</a:t>
            </a:r>
            <a:r>
              <a:rPr lang="en-US" altLang="zh-CN"/>
              <a:t>GeCo</a:t>
            </a:r>
            <a:r>
              <a:rPr lang="zh-CN" altLang="en-US"/>
              <a:t>先给出候选函数模板，默认包括加性关系和乘性关系，再为每个目标变量枚举候选输入组合。对于每个候选公式，通过最小二乘拟合参数，然后比较训练均方误差，选择误差最小的公式。</a:t>
            </a:r>
            <a:endParaRPr lang="zh-CN" altLang="en-US"/>
          </a:p>
          <a:p>
            <a:r>
              <a:rPr lang="zh-CN" altLang="en-US"/>
              <a:t>可以把这个过程理解为：系统在一个事先限定的函数空间中，自动寻找能够解释正常运行数据的关系。论文评估中将函数长度限制为不超过3，以控制候选输入数量和搜索成本。</a:t>
            </a:r>
            <a:endParaRPr lang="zh-CN" altLang="en-US"/>
          </a:p>
          <a:p>
            <a:r>
              <a:rPr lang="zh-CN" altLang="en-US"/>
              <a:t>在数据使用上，前80%的正常训练数据用于拟合模型，全部正常训练数据用于估计后续告警参数。这些数据都来自正常运行阶段。</a:t>
            </a:r>
            <a:endParaRPr lang="zh-CN" altLang="en-US"/>
          </a:p>
          <a:p>
            <a:r>
              <a:rPr lang="zh-CN" altLang="en-US"/>
              <a:t>这种设计减少了逐系统手工编写公式的工作，但模型能够表达哪些关系，仍然受到模板库的限制。如果领域关系超出默认模板，可以由专家扩展候选函数形式。下面用两个例子说明。</a:t>
            </a:r>
            <a:endParaRPr lang="zh-CN" altLang="en-US"/>
          </a:p>
          <a:p/>
          <a:p/>
          <a:p>
            <a:r>
              <a:t>对每个目标变量，GeCo枚举加性与乘性模板以及候选输入组合，使用SciPy curve_fit执行最小二乘拟合，并按训练均方误差选择最优函数。实现以前80%的正常训练数据拟合模型，再使用全部正常训练数据估计CUSUM参数。模板可扩展，但默认运行并不要求逐系统专家建模。</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下面进行两个案例说明，</a:t>
            </a:r>
            <a:r>
              <a:rPr lang="zh-CN" altLang="en-US"/>
              <a:t>这一页展示</a:t>
            </a:r>
            <a:r>
              <a:rPr lang="en-US" altLang="zh-CN"/>
              <a:t>GeCo</a:t>
            </a:r>
            <a:r>
              <a:rPr lang="zh-CN" altLang="en-US"/>
              <a:t>为液位</a:t>
            </a:r>
            <a:r>
              <a:rPr lang="en-US" altLang="zh-CN"/>
              <a:t>LIT101</a:t>
            </a:r>
            <a:r>
              <a:rPr lang="zh-CN" altLang="en-US"/>
              <a:t>学到的公式。我们按各项的物理含义来读：上一时刻液位前的系数是1，表示液位以原有状态为基础变化；进水流量</a:t>
            </a:r>
            <a:r>
              <a:rPr lang="en-US" altLang="zh-CN"/>
              <a:t>FIT101</a:t>
            </a:r>
            <a:r>
              <a:rPr lang="zh-CN" altLang="en-US"/>
              <a:t>的系数是正的0.192，表示进水会抬高液位；出水流量</a:t>
            </a:r>
            <a:r>
              <a:rPr lang="en-US" altLang="zh-CN"/>
              <a:t>FIT201</a:t>
            </a:r>
            <a:r>
              <a:rPr lang="zh-CN" altLang="en-US"/>
              <a:t>的系数是负的0.197，表示出水会降低液位。</a:t>
            </a:r>
            <a:endParaRPr lang="zh-CN" altLang="en-US"/>
          </a:p>
          <a:p>
            <a:r>
              <a:rPr lang="zh-CN" altLang="en-US"/>
              <a:t>最后还有一个较小的常数项0.009，用于校正拟合偏差。</a:t>
            </a:r>
            <a:endParaRPr lang="zh-CN" altLang="en-US"/>
          </a:p>
          <a:p/>
          <a:p/>
          <a:p>
            <a:r>
              <a:t>GeCo为LIT101学到的公式保留了上一时刻液位，加入进水流量的正贡献与出水流量的负贡献。0.192和负0.197由数据拟合，包含流量单位、时间步长和水箱尺度的综合影响。0.009是较小校正项。可理解性在于现场人员能检查变量选择和系数方向是否符合工艺。</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t>第二个例子</a:t>
            </a:r>
            <a:endParaRPr lang="zh-CN"/>
          </a:p>
          <a:p>
            <a:r>
              <a:t>温度例子展示的是模板扩展能力。作者加入两种流体混合的函数形式，GeCo在HAI中自动找到流量FT01Z、液位LIT01以及温度TIT01和TWIT04之间的关系。领域知识提供候选函数形式，具体变量和系数仍由数据确定。这个例子应与默认模板的自动建模区分开。</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前面我们已经为每个过程值学到一条状态转移公式，能够预测当前值。现在的问题是：预测值与实测值不一致，是否就应该告警？答案需要考虑正常噪声和建模误差，因此论文并不只看某一个时刻的残差，而是观察偏差随时间的累积。第一步，将当前实测值与预测值作差并取绝对值，得到该变量的残差。第二步，从零开始计算CUSUM，每一步加入残差、减去正常漂移δ，并将负值截断为零。δ由正常训练残差的均值加一个标准差确定。当残差持续超过δ时，分数逐步增长；当残差低于δ时，分数回落。第三步，用正常训练阶段的最大CUSUM乘以安全系数S确定每个变量自己的阈值。任一变量分数超过阈值时告警，回落到阈值以下后解除。另外，G将分数上限限制在T加G乘δ，避免极大偏差造成过长的告警恢复时间。下一页原图恰好对应这个流程：最上层是测量与预测，中间是残差，最下层是CUSUM与阈值。</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讲解要点：介绍本部分的主要问题及证据顺序。</a:t>
            </a:r>
            <a:endParaRPr b="1">
              <a:solidFill>
                <a:srgbClr val="007E78"/>
              </a:solidFill>
              <a:latin typeface="PingFang SC" panose="020B0400000000000000" charset="-122"/>
              <a:ea typeface="PingFang SC" panose="020B0400000000000000" charset="-122"/>
              <a:cs typeface="PingFang SC" panose="020B0400000000000000" charset="-122"/>
            </a:endParaRPr>
          </a:p>
          <a:p/>
          <a:p>
            <a:r>
              <a:t>衔接：围绕自动化、检测效果、可理解性和部署代价逐步展开。</a:t>
            </a:r>
          </a:p>
          <a:p/>
          <a:p>
            <a:r>
              <a:t>来源：Wolsing et al., GeCos Replacing Experts: Generalizable and Comprehensible Industrial Intrusion Detection, USENIX Security 2025, 全文结构。除明确标注的延伸思考外，事实与数字均依据论文原文。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sym typeface="+mn-ea"/>
              </a:rPr>
              <a:t>为了获得有意义的结果</a:t>
            </a:r>
            <a:r>
              <a:rPr lang="en-US" altLang="zh-CN">
                <a:sym typeface="+mn-ea"/>
              </a:rPr>
              <a:t>，</a:t>
            </a:r>
            <a:r>
              <a:rPr lang="zh-CN" altLang="en-US">
                <a:sym typeface="+mn-ea"/>
              </a:rPr>
              <a:t>我们将</a:t>
            </a:r>
            <a:r>
              <a:rPr lang="en-US" altLang="zh-CN">
                <a:sym typeface="+mn-ea"/>
              </a:rPr>
              <a:t>Geco</a:t>
            </a:r>
            <a:r>
              <a:rPr lang="zh-CN" altLang="en-US">
                <a:sym typeface="+mn-ea"/>
              </a:rPr>
              <a:t>应用在</a:t>
            </a:r>
            <a:r>
              <a:rPr lang="en-US" altLang="zh-CN">
                <a:sym typeface="+mn-ea"/>
              </a:rPr>
              <a:t>IIDS</a:t>
            </a:r>
            <a:r>
              <a:rPr lang="zh-CN" altLang="en-US">
                <a:sym typeface="+mn-ea"/>
              </a:rPr>
              <a:t>研究中四个不同的</a:t>
            </a:r>
            <a:r>
              <a:rPr lang="en-US" altLang="zh-CN">
                <a:sym typeface="+mn-ea"/>
              </a:rPr>
              <a:t>、</a:t>
            </a:r>
            <a:r>
              <a:rPr lang="zh-CN" altLang="en-US">
                <a:sym typeface="+mn-ea"/>
              </a:rPr>
              <a:t>可公开访问的</a:t>
            </a:r>
            <a:r>
              <a:rPr lang="en-US" altLang="zh-CN">
                <a:sym typeface="+mn-ea"/>
              </a:rPr>
              <a:t>、</a:t>
            </a:r>
            <a:r>
              <a:rPr lang="zh-CN" altLang="en-US">
                <a:sym typeface="+mn-ea"/>
              </a:rPr>
              <a:t>常用的数据集</a:t>
            </a:r>
            <a:r>
              <a:rPr lang="en-US" altLang="zh-CN">
                <a:sym typeface="+mn-ea"/>
              </a:rPr>
              <a:t>。</a:t>
            </a:r>
            <a:r>
              <a:rPr lang="zh-CN" altLang="en-US">
                <a:sym typeface="+mn-ea"/>
              </a:rPr>
              <a:t>使用了五种不同的对照方法</a:t>
            </a:r>
            <a:endParaRPr lang="en-US" altLang="zh-CN"/>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每个变量对应一条公式，公式依赖关系可以画成图。SWaT攻击8抬高DPIT301，DPIT301及附近LIT401触发异常，有助于缩小排查范围。进一步比较预测与观测才能分析原因。作者报告平均距离为0.5跳，计算排除了不连通节点，因此它是定位线索而非严格因果定位保证。</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赖图只能帮助确定排查范围，下一步仍要核对时间曲线。图中红色阴影是攻击区间，绿色曲线为测量值，紫红色为预测值。DPIT301被抬到40以上，预测与测量出现偏离。LIT401位于压力测量之后的水箱，也产生关联告警。操作人员还需结合工艺和现场检查判断来源，不能简单把每个告警点都视作被直接攻击的设备。</a:t>
            </a:r>
          </a:p>
          <a:p/>
          <a:p>
            <a:r>
              <a:t>来源：§6.2.1；图7(b)，SWaT攻击8。论文：Wolsing et al., GeCos Replacing Experts: Generalizable and Comprehensible Industrial Intrusion Detection, USENIX Security 2025, pp.7153–7172。</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作者对6名有OT经验的参与者开展结构化访谈，平均35分钟。每人解释3个真实攻击和1个误报，共18次真实攻击解读，其中17次正确。所有参与者均提出适当检查或缓解措施。对误报，3人明确识别为误报，另外2人表示找不到攻击。样本量有限，不能推广为所有工厂人员都能高效使用。</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讲解要点：介绍本部分的主要问题及证据顺序。</a:t>
            </a:r>
          </a:p>
          <a:p/>
          <a:p>
            <a:r>
              <a:t>衔接：围绕自动化、检测效果、可理解性和部署代价逐步展开。</a:t>
            </a:r>
          </a:p>
          <a:p/>
          <a:p>
            <a:r>
              <a:t>来源：Wolsing et al., GeCos Replacing Experts: Generalizable and Comprehensible Industrial Intrusion Detection, USENIX Security 2025, 全文结构。除明确标注的延伸思考外，事实与数字均依据论文原文。</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建议讲述约75秒。最后按照研究问题、方法、证据与边界来总结这篇论文。首先，GeCo关注的是如何减少工业入侵检测对逐系统人工建模的依赖，同时使操作人员能够理解模型和报警。其次，它从正常过程数据中搜索函数模板、输入变量与参数，学习逐变量的状态空间模型，并结合预测残差与CUSUM检测异常。实验方面，多个工业基准、化工新领域以及专家规则对照展示了检测竞争力；报警案例和初步从业者访谈则支持可理解性的潜力。需要限定的是，新领域实验仍要重新训练，访谈规模也有限。方法本身受到模板表达范围和组合搜索成本的约束，长期现场有效性还需要进一步验证。因此，论文的主要贡献是自动化部分模型构建工作，同时保留操作人员核查模型和理解报警的依据。下面进一步谈这些边界给我的启发。</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篇论文让我想到三个不局限于GeCo的问题。第一，数据与专家知识都可能出错。专家知识有助于约束学习，但可能不完整；数据能发现新关系，但也可能产生虚假关联。因此我更关心，模型与工艺知识冲突时，能否利用物理约束和现场证据相互检验，而不是预先认为某一方一定正确。第二，自动检测提高了效率，但也可能让人过度信任模型。面对设备更新或工况变化，系统能否暴露自身不确定性，并提示异常可能来自攻击，也可能来自模型不再适用？第三，可读不等于好用。公式容易看懂，不意味着调查更快或处置更安全。因此，除了检测指标，还应通过用户实验比较调查时间、判断正确率与误操作风险。上述都是进一步研究的问题，本文尚未证明这些能力。我希望探索的是，让系统既能发现异常，也能暴露自身局限，支持人员作出有依据的判断。</a:t>
            </a:r>
          </a:p>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我的汇报到这里。恳请各位专家批评指正。</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PingFang SC" panose="020B0400000000000000" charset="-122"/>
                <a:ea typeface="PingFang SC" panose="020B0400000000000000" charset="-122"/>
                <a:cs typeface="PingFang SC" panose="020B0400000000000000" charset="-122"/>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PingFang SC" panose="020B0400000000000000" charset="-122"/>
                <a:ea typeface="PingFang SC" panose="020B0400000000000000" charset="-122"/>
                <a:cs typeface="PingFang SC" panose="020B0400000000000000" charset="-122"/>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PingFang SC" panose="020B0400000000000000" charset="-122"/>
                <a:ea typeface="PingFang SC" panose="020B0400000000000000" charset="-122"/>
                <a:cs typeface="PingFang SC" panose="020B0400000000000000" charset="-122"/>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PingFang SC" panose="020B0400000000000000" charset="-122"/>
                <a:ea typeface="PingFang SC" panose="020B0400000000000000" charset="-122"/>
                <a:cs typeface="PingFang SC" panose="020B0400000000000000" charset="-122"/>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PingFang SC" panose="020B0400000000000000" charset="-122"/>
                <a:ea typeface="PingFang SC" panose="020B0400000000000000" charset="-122"/>
                <a:cs typeface="PingFang SC" panose="020B0400000000000000" charset="-122"/>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PingFang SC" panose="020B0400000000000000" charset="-122"/>
                <a:ea typeface="PingFang SC" panose="020B0400000000000000" charset="-122"/>
                <a:cs typeface="PingFang SC" panose="020B0400000000000000" charset="-122"/>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PingFang SC" panose="020B0400000000000000" charset="-122"/>
                <a:ea typeface="PingFang SC" panose="020B0400000000000000" charset="-122"/>
                <a:cs typeface="PingFang SC" panose="020B0400000000000000" charset="-122"/>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PingFang SC" panose="020B0400000000000000" charset="-122"/>
                <a:ea typeface="PingFang SC" panose="020B0400000000000000" charset="-122"/>
                <a:cs typeface="PingFang SC" panose="020B0400000000000000" charset="-122"/>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PingFang SC" panose="020B0400000000000000" charset="-122"/>
                <a:ea typeface="PingFang SC" panose="020B0400000000000000" charset="-122"/>
                <a:cs typeface="PingFang SC" panose="020B0400000000000000" charset="-122"/>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PingFang SC" panose="020B0400000000000000" charset="-122"/>
                <a:ea typeface="PingFang SC" panose="020B0400000000000000" charset="-122"/>
                <a:cs typeface="PingFang SC" panose="020B0400000000000000" charset="-122"/>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PingFang SC" panose="020B0400000000000000" charset="-122"/>
          <a:ea typeface="PingFang SC" panose="020B0400000000000000" charset="-122"/>
          <a:cs typeface="PingFang SC" panose="020B0400000000000000" charset="-122"/>
        </a:defRPr>
      </a:lvl1pPr>
    </p:titleStyle>
    <p:bodyStyle>
      <a:lvl1pPr marL="228600" indent="-228600" algn="l">
        <a:lnSpc>
          <a:spcPct val="90000"/>
        </a:lnSpc>
        <a:spcBef>
          <a:spcPts val="1000"/>
        </a:spcBef>
        <a:buChar char="•"/>
        <a:defRPr sz="2800">
          <a:solidFill>
            <a:schemeClr val="tx1"/>
          </a:solidFill>
          <a:latin typeface="PingFang SC" panose="020B0400000000000000" charset="-122"/>
          <a:ea typeface="PingFang SC" panose="020B0400000000000000" charset="-122"/>
          <a:cs typeface="PingFang SC" panose="020B0400000000000000" charset="-122"/>
        </a:defRPr>
      </a:lvl1pPr>
      <a:lvl2pPr marL="685800" indent="-228600" algn="l">
        <a:lnSpc>
          <a:spcPct val="90000"/>
        </a:lnSpc>
        <a:spcBef>
          <a:spcPts val="500"/>
        </a:spcBef>
        <a:buChar char="•"/>
        <a:defRPr sz="2400">
          <a:solidFill>
            <a:schemeClr val="tx1"/>
          </a:solidFill>
          <a:latin typeface="PingFang SC" panose="020B0400000000000000" charset="-122"/>
          <a:ea typeface="PingFang SC" panose="020B0400000000000000" charset="-122"/>
          <a:cs typeface="PingFang SC" panose="020B0400000000000000" charset="-122"/>
        </a:defRPr>
      </a:lvl2pPr>
      <a:lvl3pPr marL="1143000" indent="-228600" algn="l">
        <a:lnSpc>
          <a:spcPct val="90000"/>
        </a:lnSpc>
        <a:spcBef>
          <a:spcPts val="500"/>
        </a:spcBef>
        <a:buChar char="•"/>
        <a:defRPr sz="2000">
          <a:solidFill>
            <a:schemeClr val="tx1"/>
          </a:solidFill>
          <a:latin typeface="PingFang SC" panose="020B0400000000000000" charset="-122"/>
          <a:ea typeface="PingFang SC" panose="020B0400000000000000" charset="-122"/>
          <a:cs typeface="PingFang SC" panose="020B0400000000000000" charset="-122"/>
        </a:defRPr>
      </a:lvl3pPr>
      <a:lvl4pPr marL="1600200" indent="-228600" algn="l">
        <a:lnSpc>
          <a:spcPct val="90000"/>
        </a:lnSpc>
        <a:spcBef>
          <a:spcPts val="500"/>
        </a:spcBef>
        <a:buChar char="•"/>
        <a:defRPr sz="1800">
          <a:solidFill>
            <a:schemeClr val="tx1"/>
          </a:solidFill>
          <a:latin typeface="PingFang SC" panose="020B0400000000000000" charset="-122"/>
          <a:ea typeface="PingFang SC" panose="020B0400000000000000" charset="-122"/>
          <a:cs typeface="PingFang SC" panose="020B0400000000000000" charset="-122"/>
        </a:defRPr>
      </a:lvl4pPr>
      <a:lvl5pPr marL="2057400" indent="-228600" algn="l">
        <a:lnSpc>
          <a:spcPct val="90000"/>
        </a:lnSpc>
        <a:spcBef>
          <a:spcPts val="500"/>
        </a:spcBef>
        <a:buChar char="•"/>
        <a:defRPr sz="1800">
          <a:solidFill>
            <a:schemeClr val="tx1"/>
          </a:solidFill>
          <a:latin typeface="PingFang SC" panose="020B0400000000000000" charset="-122"/>
          <a:ea typeface="PingFang SC" panose="020B0400000000000000" charset="-122"/>
          <a:cs typeface="PingFang SC" panose="020B0400000000000000" charset="-122"/>
        </a:defRPr>
      </a:lvl5pPr>
      <a:lvl6pPr marL="2514600" indent="-228600" algn="l">
        <a:lnSpc>
          <a:spcPct val="90000"/>
        </a:lnSpc>
        <a:spcBef>
          <a:spcPts val="500"/>
        </a:spcBef>
        <a:buChar char="•"/>
        <a:defRPr sz="1800">
          <a:solidFill>
            <a:schemeClr val="tx1"/>
          </a:solidFill>
          <a:latin typeface="PingFang SC" panose="020B0400000000000000" charset="-122"/>
          <a:ea typeface="PingFang SC" panose="020B0400000000000000" charset="-122"/>
          <a:cs typeface="PingFang SC" panose="020B0400000000000000" charset="-122"/>
        </a:defRPr>
      </a:lvl6pPr>
      <a:lvl7pPr marL="2971800" indent="-228600" algn="l">
        <a:lnSpc>
          <a:spcPct val="90000"/>
        </a:lnSpc>
        <a:spcBef>
          <a:spcPts val="500"/>
        </a:spcBef>
        <a:buChar char="•"/>
        <a:defRPr sz="1800">
          <a:solidFill>
            <a:schemeClr val="tx1"/>
          </a:solidFill>
          <a:latin typeface="PingFang SC" panose="020B0400000000000000" charset="-122"/>
          <a:ea typeface="PingFang SC" panose="020B0400000000000000" charset="-122"/>
          <a:cs typeface="PingFang SC" panose="020B0400000000000000" charset="-122"/>
        </a:defRPr>
      </a:lvl7pPr>
      <a:lvl8pPr marL="3429000" indent="-228600" algn="l">
        <a:lnSpc>
          <a:spcPct val="90000"/>
        </a:lnSpc>
        <a:spcBef>
          <a:spcPts val="500"/>
        </a:spcBef>
        <a:buChar char="•"/>
        <a:defRPr sz="1800">
          <a:solidFill>
            <a:schemeClr val="tx1"/>
          </a:solidFill>
          <a:latin typeface="PingFang SC" panose="020B0400000000000000" charset="-122"/>
          <a:ea typeface="PingFang SC" panose="020B0400000000000000" charset="-122"/>
          <a:cs typeface="PingFang SC" panose="020B0400000000000000" charset="-122"/>
        </a:defRPr>
      </a:lvl8pPr>
      <a:lvl9pPr marL="3886200" indent="-228600" algn="l">
        <a:lnSpc>
          <a:spcPct val="90000"/>
        </a:lnSpc>
        <a:spcBef>
          <a:spcPts val="500"/>
        </a:spcBef>
        <a:buChar char="•"/>
        <a:defRPr sz="1800">
          <a:solidFill>
            <a:schemeClr val="tx1"/>
          </a:solidFill>
          <a:latin typeface="PingFang SC" panose="020B0400000000000000" charset="-122"/>
          <a:ea typeface="PingFang SC" panose="020B0400000000000000" charset="-122"/>
          <a:cs typeface="PingFang SC" panose="020B0400000000000000" charset="-122"/>
        </a:defRPr>
      </a:lvl9pPr>
    </p:bodyStyle>
    <p:otherStyle>
      <a:lvl1pPr marL="0" algn="l">
        <a:buNone/>
        <a:defRPr sz="1800">
          <a:solidFill>
            <a:schemeClr val="tx1"/>
          </a:solidFill>
          <a:latin typeface="PingFang SC" panose="020B0400000000000000" charset="-122"/>
          <a:ea typeface="PingFang SC" panose="020B0400000000000000" charset="-122"/>
          <a:cs typeface="PingFang SC" panose="020B0400000000000000" charset="-122"/>
        </a:defRPr>
      </a:lvl1pPr>
      <a:lvl2pPr marL="457200" algn="l">
        <a:buNone/>
        <a:defRPr sz="1800">
          <a:solidFill>
            <a:schemeClr val="tx1"/>
          </a:solidFill>
          <a:latin typeface="PingFang SC" panose="020B0400000000000000" charset="-122"/>
          <a:ea typeface="PingFang SC" panose="020B0400000000000000" charset="-122"/>
          <a:cs typeface="PingFang SC" panose="020B0400000000000000" charset="-122"/>
        </a:defRPr>
      </a:lvl2pPr>
      <a:lvl3pPr marL="914400" algn="l">
        <a:buNone/>
        <a:defRPr sz="1800">
          <a:solidFill>
            <a:schemeClr val="tx1"/>
          </a:solidFill>
          <a:latin typeface="PingFang SC" panose="020B0400000000000000" charset="-122"/>
          <a:ea typeface="PingFang SC" panose="020B0400000000000000" charset="-122"/>
          <a:cs typeface="PingFang SC" panose="020B0400000000000000" charset="-122"/>
        </a:defRPr>
      </a:lvl3pPr>
      <a:lvl4pPr marL="1371600" algn="l">
        <a:buNone/>
        <a:defRPr sz="1800">
          <a:solidFill>
            <a:schemeClr val="tx1"/>
          </a:solidFill>
          <a:latin typeface="PingFang SC" panose="020B0400000000000000" charset="-122"/>
          <a:ea typeface="PingFang SC" panose="020B0400000000000000" charset="-122"/>
          <a:cs typeface="PingFang SC" panose="020B0400000000000000" charset="-122"/>
        </a:defRPr>
      </a:lvl4pPr>
      <a:lvl5pPr marL="1828800" algn="l">
        <a:buNone/>
        <a:defRPr sz="1800">
          <a:solidFill>
            <a:schemeClr val="tx1"/>
          </a:solidFill>
          <a:latin typeface="PingFang SC" panose="020B0400000000000000" charset="-122"/>
          <a:ea typeface="PingFang SC" panose="020B0400000000000000" charset="-122"/>
          <a:cs typeface="PingFang SC" panose="020B0400000000000000" charset="-122"/>
        </a:defRPr>
      </a:lvl5pPr>
      <a:lvl6pPr marL="2286000" algn="l">
        <a:buNone/>
        <a:defRPr sz="1800">
          <a:solidFill>
            <a:schemeClr val="tx1"/>
          </a:solidFill>
          <a:latin typeface="PingFang SC" panose="020B0400000000000000" charset="-122"/>
          <a:ea typeface="PingFang SC" panose="020B0400000000000000" charset="-122"/>
          <a:cs typeface="PingFang SC" panose="020B0400000000000000" charset="-122"/>
        </a:defRPr>
      </a:lvl6pPr>
      <a:lvl7pPr marL="2743200" algn="l">
        <a:buNone/>
        <a:defRPr sz="1800">
          <a:solidFill>
            <a:schemeClr val="tx1"/>
          </a:solidFill>
          <a:latin typeface="PingFang SC" panose="020B0400000000000000" charset="-122"/>
          <a:ea typeface="PingFang SC" panose="020B0400000000000000" charset="-122"/>
          <a:cs typeface="PingFang SC" panose="020B0400000000000000" charset="-122"/>
        </a:defRPr>
      </a:lvl7pPr>
      <a:lvl8pPr marL="3200400" algn="l">
        <a:buNone/>
        <a:defRPr sz="1800">
          <a:solidFill>
            <a:schemeClr val="tx1"/>
          </a:solidFill>
          <a:latin typeface="PingFang SC" panose="020B0400000000000000" charset="-122"/>
          <a:ea typeface="PingFang SC" panose="020B0400000000000000" charset="-122"/>
          <a:cs typeface="PingFang SC" panose="020B0400000000000000" charset="-122"/>
        </a:defRPr>
      </a:lvl8pPr>
      <a:lvl9pPr marL="3657600" algn="l">
        <a:buNone/>
        <a:defRPr sz="1800">
          <a:solidFill>
            <a:schemeClr val="tx1"/>
          </a:solidFill>
          <a:latin typeface="PingFang SC" panose="020B0400000000000000" charset="-122"/>
          <a:ea typeface="PingFang SC" panose="020B0400000000000000" charset="-122"/>
          <a:cs typeface="PingFang SC" panose="020B0400000000000000" charset="-122"/>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6.png"/><Relationship Id="rId10" Type="http://schemas.openxmlformats.org/officeDocument/2006/relationships/notesSlide" Target="../notesSlides/notesSlide7.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9" Type="http://schemas.openxmlformats.org/officeDocument/2006/relationships/tags" Target="../tags/tag14.xml"/><Relationship Id="rId8" Type="http://schemas.openxmlformats.org/officeDocument/2006/relationships/tags" Target="../tags/tag13.xml"/><Relationship Id="rId7" Type="http://schemas.openxmlformats.org/officeDocument/2006/relationships/tags" Target="../tags/tag12.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5" Type="http://schemas.openxmlformats.org/officeDocument/2006/relationships/notesSlide" Target="../notesSlides/notesSlide8.xml"/><Relationship Id="rId14" Type="http://schemas.openxmlformats.org/officeDocument/2006/relationships/slideLayout" Target="../slideLayouts/slideLayout6.xml"/><Relationship Id="rId13" Type="http://schemas.openxmlformats.org/officeDocument/2006/relationships/tags" Target="../tags/tag18.xml"/><Relationship Id="rId12" Type="http://schemas.openxmlformats.org/officeDocument/2006/relationships/tags" Target="../tags/tag17.xml"/><Relationship Id="rId11" Type="http://schemas.openxmlformats.org/officeDocument/2006/relationships/tags" Target="../tags/tag16.xml"/><Relationship Id="rId10" Type="http://schemas.openxmlformats.org/officeDocument/2006/relationships/tags" Target="../tags/tag15.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6.xml"/><Relationship Id="rId2" Type="http://schemas.openxmlformats.org/officeDocument/2006/relationships/image" Target="../media/image7.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6.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12.xml"/><Relationship Id="rId8" Type="http://schemas.openxmlformats.org/officeDocument/2006/relationships/slideLayout" Target="../slideLayouts/slideLayout6.xml"/><Relationship Id="rId7" Type="http://schemas.openxmlformats.org/officeDocument/2006/relationships/image" Target="../media/image15.png"/><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6.xml"/><Relationship Id="rId2" Type="http://schemas.openxmlformats.org/officeDocument/2006/relationships/image" Target="../media/image16.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6.xml"/><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6.xml"/><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6.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6.xml"/><Relationship Id="rId2" Type="http://schemas.openxmlformats.org/officeDocument/2006/relationships/image" Target="../media/image22.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6.xml"/><Relationship Id="rId2" Type="http://schemas.openxmlformats.org/officeDocument/2006/relationships/image" Target="../media/image23.png"/><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6.xml"/><Relationship Id="rId2" Type="http://schemas.openxmlformats.org/officeDocument/2006/relationships/image" Target="../media/image24.png"/><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6.xml"/><Relationship Id="rId2" Type="http://schemas.openxmlformats.org/officeDocument/2006/relationships/image" Target="../media/image25.png"/><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6.xml"/><Relationship Id="rId2" Type="http://schemas.openxmlformats.org/officeDocument/2006/relationships/image" Target="../media/image26.png"/><Relationship Id="rId1" Type="http://schemas.openxmlformats.org/officeDocument/2006/relationships/image" Target="../media/image2.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6.xml"/><Relationship Id="rId2" Type="http://schemas.openxmlformats.org/officeDocument/2006/relationships/image" Target="../media/image27.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6.xml"/><Relationship Id="rId2" Type="http://schemas.openxmlformats.org/officeDocument/2006/relationships/image" Target="../media/image3.png"/><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6.xml"/><Relationship Id="rId1" Type="http://schemas.openxmlformats.org/officeDocument/2006/relationships/image" Target="../media/image2.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6.xml"/><Relationship Id="rId2" Type="http://schemas.openxmlformats.org/officeDocument/2006/relationships/image" Target="../media/image2.png"/><Relationship Id="rId1"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10" name="图片 9"/>
          <p:cNvPicPr>
            <a:picLocks noChangeAspect="1"/>
          </p:cNvPicPr>
          <p:nvPr/>
        </p:nvPicPr>
        <p:blipFill>
          <a:blip r:embed="rId1"/>
          <a:stretch>
            <a:fillRect/>
          </a:stretch>
        </p:blipFill>
        <p:spPr>
          <a:xfrm>
            <a:off x="2117" y="0"/>
            <a:ext cx="3329517" cy="6810375"/>
          </a:xfrm>
          <a:prstGeom prst="rect">
            <a:avLst/>
          </a:prstGeom>
        </p:spPr>
      </p:pic>
      <p:pic>
        <p:nvPicPr>
          <p:cNvPr id="2" name="图片 1"/>
          <p:cNvPicPr>
            <a:picLocks noChangeAspect="1"/>
          </p:cNvPicPr>
          <p:nvPr/>
        </p:nvPicPr>
        <p:blipFill>
          <a:blip r:embed="rId2"/>
          <a:stretch>
            <a:fillRect/>
          </a:stretch>
        </p:blipFill>
        <p:spPr>
          <a:xfrm>
            <a:off x="9620250" y="307201"/>
            <a:ext cx="2095500" cy="604799"/>
          </a:xfrm>
          <a:prstGeom prst="rect">
            <a:avLst/>
          </a:prstGeom>
        </p:spPr>
      </p:pic>
      <p:sp>
        <p:nvSpPr>
          <p:cNvPr id="3" name="矩形 2"/>
          <p:cNvSpPr>
            <a:spLocks noGrp="1"/>
          </p:cNvSpPr>
          <p:nvPr/>
        </p:nvSpPr>
        <p:spPr>
          <a:xfrm>
            <a:off x="3762375" y="1085850"/>
            <a:ext cx="7953375" cy="38100"/>
          </a:xfrm>
          <a:prstGeom prst="rect">
            <a:avLst/>
          </a:prstGeom>
          <a:solidFill>
            <a:srgbClr val="00AFA8"/>
          </a:solidFill>
          <a:ln w="0">
            <a:noFill/>
          </a:ln>
        </p:spPr>
      </p:sp>
      <p:sp>
        <p:nvSpPr>
          <p:cNvPr id="4" name="GeCo：具有泛化能力与&#10;可理解性的工业入侵检测"/>
          <p:cNvSpPr>
            <a:spLocks noGrp="1"/>
          </p:cNvSpPr>
          <p:nvPr/>
        </p:nvSpPr>
        <p:spPr>
          <a:xfrm>
            <a:off x="3762375" y="1657350"/>
            <a:ext cx="7719695" cy="1200150"/>
          </a:xfrm>
          <a:prstGeom prst="rect">
            <a:avLst/>
          </a:prstGeom>
          <a:noFill/>
          <a:ln w="0">
            <a:noFill/>
          </a:ln>
        </p:spPr>
        <p:txBody>
          <a:bodyPr wrap="square" lIns="0" tIns="0" rIns="0" bIns="0" anchor="t">
            <a:noAutofit/>
          </a:bodyPr>
          <a:lstStyle>
            <a:defPPr algn="l">
              <a:defRPr sz="33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3300" b="1">
                <a:solidFill>
                  <a:srgbClr val="173B6C"/>
                </a:solidFill>
                <a:latin typeface="PingFang SC" panose="020B0400000000000000" charset="-122"/>
                <a:ea typeface="PingFang SC" panose="020B0400000000000000" charset="-122"/>
                <a:cs typeface="PingFang SC" panose="020B0400000000000000" charset="-122"/>
              </a:defRPr>
            </a:pPr>
            <a:r>
              <a:rPr sz="3300">
                <a:solidFill>
                  <a:srgbClr val="173B6C"/>
                </a:solidFill>
                <a:latin typeface="Times New Roman" panose="02020603050405020304" charset="0"/>
                <a:ea typeface="黑体" panose="02010609060101010101" charset="-122"/>
                <a:cs typeface="Times New Roman" panose="02020603050405020304" charset="0"/>
              </a:rPr>
              <a:t>GeCo</a:t>
            </a:r>
            <a:r>
              <a:rPr sz="3300">
                <a:solidFill>
                  <a:srgbClr val="173B6C"/>
                </a:solidFill>
                <a:latin typeface="黑体" panose="02010609060101010101" charset="-122"/>
                <a:ea typeface="黑体" panose="02010609060101010101" charset="-122"/>
                <a:cs typeface="黑体" panose="02010609060101010101" charset="-122"/>
              </a:rPr>
              <a:t>替代</a:t>
            </a:r>
            <a:r>
              <a:rPr sz="3300" b="1">
                <a:solidFill>
                  <a:srgbClr val="173B6C"/>
                </a:solidFill>
                <a:latin typeface="黑体" panose="02010609060101010101" charset="-122"/>
                <a:ea typeface="黑体" panose="02010609060101010101" charset="-122"/>
                <a:cs typeface="黑体" panose="02010609060101010101" charset="-122"/>
              </a:rPr>
              <a:t>：</a:t>
            </a:r>
            <a:r>
              <a:rPr sz="3300" b="1">
                <a:solidFill>
                  <a:srgbClr val="173B6C"/>
                </a:solidFill>
                <a:latin typeface="黑体" panose="02010609060101010101" charset="-122"/>
                <a:ea typeface="黑体" panose="02010609060101010101" charset="-122"/>
                <a:cs typeface="黑体" panose="02010609060101010101" charset="-122"/>
              </a:rPr>
              <a:t>具有泛化能力与可理解性的工业入侵检测</a:t>
            </a:r>
            <a:endParaRPr sz="3300" b="1">
              <a:solidFill>
                <a:srgbClr val="173B6C"/>
              </a:solidFill>
              <a:latin typeface="黑体" panose="02010609060101010101" charset="-122"/>
              <a:ea typeface="黑体" panose="02010609060101010101" charset="-122"/>
              <a:cs typeface="黑体" panose="02010609060101010101" charset="-122"/>
            </a:endParaRPr>
          </a:p>
        </p:txBody>
      </p:sp>
      <p:sp>
        <p:nvSpPr>
          <p:cNvPr id="5" name="GeCos Replacing Experts: Generaliza"/>
          <p:cNvSpPr>
            <a:spLocks noGrp="1"/>
          </p:cNvSpPr>
          <p:nvPr/>
        </p:nvSpPr>
        <p:spPr>
          <a:xfrm>
            <a:off x="3781425" y="3048000"/>
            <a:ext cx="7620000" cy="857250"/>
          </a:xfrm>
          <a:prstGeom prst="rect">
            <a:avLst/>
          </a:prstGeom>
          <a:noFill/>
          <a:ln w="0">
            <a:noFill/>
          </a:ln>
        </p:spPr>
        <p:txBody>
          <a:bodyPr wrap="square" lIns="0" tIns="0" rIns="0" bIns="0" anchor="t">
            <a:noAutofit/>
          </a:bodyPr>
          <a:lstStyle>
            <a:defPPr algn="l">
              <a:defRPr sz="2100" b="0">
                <a:solidFill>
                  <a:srgbClr val="57697B"/>
                </a:solidFill>
                <a:latin typeface="PingFang SC" panose="020B0400000000000000" charset="-122"/>
                <a:ea typeface="PingFang SC" panose="020B0400000000000000" charset="-122"/>
                <a:cs typeface="PingFang SC" panose="020B0400000000000000" charset="-122"/>
              </a:defRPr>
            </a:defPPr>
          </a:lstStyle>
          <a:p>
            <a:pPr algn="ctr">
              <a:buNone/>
              <a:defRPr sz="2100" b="0">
                <a:solidFill>
                  <a:srgbClr val="57697B"/>
                </a:solidFill>
                <a:latin typeface="PingFang SC" panose="020B0400000000000000" charset="-122"/>
                <a:ea typeface="PingFang SC" panose="020B0400000000000000" charset="-122"/>
                <a:cs typeface="PingFang SC" panose="020B0400000000000000" charset="-122"/>
              </a:defRPr>
            </a:pPr>
            <a:r>
              <a:rPr sz="2100">
                <a:solidFill>
                  <a:srgbClr val="57697B"/>
                </a:solidFill>
                <a:latin typeface="Times New Roman" panose="02020603050405020304" charset="0"/>
                <a:ea typeface="PingFang SC" panose="020B0400000000000000" charset="-122"/>
                <a:cs typeface="Times New Roman" panose="02020603050405020304" charset="0"/>
              </a:rPr>
              <a:t>GeCos Replacing Experts: Generalizable and Comprehensible Industrial Intrusion Detection</a:t>
            </a:r>
            <a:endParaRPr sz="2100">
              <a:solidFill>
                <a:srgbClr val="57697B"/>
              </a:solidFill>
              <a:latin typeface="Times New Roman" panose="02020603050405020304" charset="0"/>
              <a:ea typeface="PingFang SC" panose="020B0400000000000000" charset="-122"/>
              <a:cs typeface="Times New Roman" panose="02020603050405020304" charset="0"/>
            </a:endParaRPr>
          </a:p>
        </p:txBody>
      </p:sp>
      <p:sp>
        <p:nvSpPr>
          <p:cNvPr id="6" name="Konrad Wolsing · Eric Wagner · Luis"/>
          <p:cNvSpPr>
            <a:spLocks noGrp="1"/>
          </p:cNvSpPr>
          <p:nvPr/>
        </p:nvSpPr>
        <p:spPr>
          <a:xfrm>
            <a:off x="3935730" y="3833495"/>
            <a:ext cx="7620000" cy="647700"/>
          </a:xfrm>
          <a:prstGeom prst="rect">
            <a:avLst/>
          </a:prstGeom>
          <a:noFill/>
          <a:ln w="0">
            <a:noFill/>
          </a:ln>
        </p:spPr>
        <p:txBody>
          <a:bodyPr wrap="square" lIns="0" tIns="0" rIns="0" bIns="0" anchor="t">
            <a:noAutofit/>
          </a:bodyPr>
          <a:lstStyle>
            <a:defPPr algn="l">
              <a:defRPr sz="1650" b="0">
                <a:solidFill>
                  <a:srgbClr val="57697B"/>
                </a:solidFill>
                <a:latin typeface="PingFang SC" panose="020B0400000000000000" charset="-122"/>
                <a:ea typeface="PingFang SC" panose="020B0400000000000000" charset="-122"/>
                <a:cs typeface="PingFang SC" panose="020B0400000000000000" charset="-122"/>
              </a:defRPr>
            </a:defPPr>
          </a:lstStyle>
          <a:p>
            <a:pPr algn="ctr">
              <a:buNone/>
              <a:defRPr sz="1650" b="0">
                <a:solidFill>
                  <a:srgbClr val="57697B"/>
                </a:solidFill>
                <a:latin typeface="PingFang SC" panose="020B0400000000000000" charset="-122"/>
                <a:ea typeface="PingFang SC" panose="020B0400000000000000" charset="-122"/>
                <a:cs typeface="PingFang SC" panose="020B0400000000000000" charset="-122"/>
              </a:defRPr>
            </a:pPr>
            <a:r>
              <a:rPr sz="1650" i="1">
                <a:solidFill>
                  <a:srgbClr val="57697B"/>
                </a:solidFill>
                <a:latin typeface="Times New Roman" panose="02020603050405020304" charset="0"/>
                <a:ea typeface="PingFang SC" panose="020B0400000000000000" charset="-122"/>
                <a:cs typeface="Times New Roman" panose="02020603050405020304" charset="0"/>
              </a:rPr>
              <a:t>Konrad Wolsing · Eric Wagner · Luisa Lux  Klaus Wehrle · Martin Henze</a:t>
            </a:r>
            <a:endParaRPr sz="1650" i="1">
              <a:solidFill>
                <a:srgbClr val="57697B"/>
              </a:solidFill>
              <a:latin typeface="Times New Roman" panose="02020603050405020304" charset="0"/>
              <a:ea typeface="PingFang SC" panose="020B0400000000000000" charset="-122"/>
              <a:cs typeface="Times New Roman" panose="02020603050405020304" charset="0"/>
            </a:endParaRPr>
          </a:p>
        </p:txBody>
      </p:sp>
      <p:sp>
        <p:nvSpPr>
          <p:cNvPr id="7" name="USENIX Security 2025  ·  论文研讨汇报"/>
          <p:cNvSpPr>
            <a:spLocks noGrp="1"/>
          </p:cNvSpPr>
          <p:nvPr/>
        </p:nvSpPr>
        <p:spPr>
          <a:xfrm>
            <a:off x="3863340" y="4429760"/>
            <a:ext cx="7360920" cy="605155"/>
          </a:xfrm>
          <a:prstGeom prst="rect">
            <a:avLst/>
          </a:prstGeom>
          <a:noFill/>
          <a:ln w="0">
            <a:noFill/>
          </a:ln>
        </p:spPr>
        <p:txBody>
          <a:bodyPr wrap="square" lIns="0" tIns="0" rIns="0" bIns="0" anchor="t">
            <a:noAutofit/>
          </a:bodyPr>
          <a:lstStyle>
            <a:defPPr algn="l">
              <a:defRPr sz="1875" b="1">
                <a:solidFill>
                  <a:srgbClr val="007E78"/>
                </a:solidFill>
                <a:latin typeface="PingFang SC" panose="020B0400000000000000" charset="-122"/>
                <a:ea typeface="PingFang SC" panose="020B0400000000000000" charset="-122"/>
                <a:cs typeface="PingFang SC" panose="020B0400000000000000" charset="-122"/>
              </a:defRPr>
            </a:defPPr>
          </a:lstStyle>
          <a:p>
            <a:pPr algn="ctr">
              <a:buNone/>
              <a:defRPr sz="1875" b="1">
                <a:solidFill>
                  <a:srgbClr val="007E78"/>
                </a:solidFill>
                <a:latin typeface="PingFang SC" panose="020B0400000000000000" charset="-122"/>
                <a:ea typeface="PingFang SC" panose="020B0400000000000000" charset="-122"/>
                <a:cs typeface="PingFang SC" panose="020B0400000000000000" charset="-122"/>
              </a:defRPr>
            </a:pPr>
            <a:r>
              <a:rPr sz="1875" b="0">
                <a:solidFill>
                  <a:srgbClr val="007E78"/>
                </a:solidFill>
                <a:latin typeface="Times New Roman" panose="02020603050405020304" charset="0"/>
                <a:ea typeface="PingFang SC" panose="020B0400000000000000" charset="-122"/>
                <a:cs typeface="Times New Roman" panose="02020603050405020304" charset="0"/>
              </a:rPr>
              <a:t>USENIX Security 2025 </a:t>
            </a:r>
            <a:r>
              <a:rPr sz="1875" b="0" i="1">
                <a:solidFill>
                  <a:srgbClr val="007E78"/>
                </a:solidFill>
                <a:latin typeface="PingFang SC" panose="020B0400000000000000" charset="-122"/>
                <a:ea typeface="PingFang SC" panose="020B0400000000000000" charset="-122"/>
                <a:cs typeface="PingFang SC" panose="020B0400000000000000" charset="-122"/>
              </a:rPr>
              <a:t> </a:t>
            </a:r>
            <a:endParaRPr sz="1875" b="0" i="1">
              <a:solidFill>
                <a:srgbClr val="007E78"/>
              </a:solidFill>
              <a:latin typeface="PingFang SC" panose="020B0400000000000000" charset="-122"/>
              <a:ea typeface="PingFang SC" panose="020B0400000000000000" charset="-122"/>
              <a:cs typeface="PingFang SC" panose="020B0400000000000000" charset="-122"/>
            </a:endParaRPr>
          </a:p>
        </p:txBody>
      </p:sp>
      <p:sp>
        <p:nvSpPr>
          <p:cNvPr id="8" name="汇报人：钱琦    指导老师：李贝贝&#10;四川大学    2026年10月"/>
          <p:cNvSpPr>
            <a:spLocks noGrp="1"/>
          </p:cNvSpPr>
          <p:nvPr/>
        </p:nvSpPr>
        <p:spPr>
          <a:xfrm>
            <a:off x="3762375" y="4869180"/>
            <a:ext cx="7620000" cy="1242695"/>
          </a:xfrm>
          <a:prstGeom prst="rect">
            <a:avLst/>
          </a:prstGeom>
          <a:noFill/>
          <a:ln w="0">
            <a:noFill/>
          </a:ln>
        </p:spPr>
        <p:txBody>
          <a:bodyPr wrap="square" lIns="0" tIns="0" rIns="0" bIns="0" anchor="t">
            <a:noAutofit/>
          </a:bodyPr>
          <a:lstStyle>
            <a:defPPr algn="l">
              <a:defRPr sz="1875" b="0">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75" b="0">
                <a:solidFill>
                  <a:srgbClr val="173B6C"/>
                </a:solidFill>
                <a:latin typeface="PingFang SC" panose="020B0400000000000000" charset="-122"/>
                <a:ea typeface="PingFang SC" panose="020B0400000000000000" charset="-122"/>
                <a:cs typeface="PingFang SC" panose="020B0400000000000000" charset="-122"/>
              </a:defRPr>
            </a:pPr>
            <a:r>
              <a:rPr sz="1875" b="0">
                <a:solidFill>
                  <a:srgbClr val="173B6C"/>
                </a:solidFill>
                <a:latin typeface="黑体" panose="02010609060101010101" charset="-122"/>
                <a:ea typeface="黑体" panose="02010609060101010101" charset="-122"/>
                <a:cs typeface="黑体" panose="02010609060101010101" charset="-122"/>
              </a:rPr>
              <a:t>学校</a:t>
            </a:r>
            <a:r>
              <a:rPr sz="1875" b="0">
                <a:solidFill>
                  <a:srgbClr val="173B6C"/>
                </a:solidFill>
                <a:latin typeface="黑体" panose="02010609060101010101" charset="-122"/>
                <a:ea typeface="黑体" panose="02010609060101010101" charset="-122"/>
                <a:cs typeface="黑体" panose="02010609060101010101" charset="-122"/>
              </a:rPr>
              <a:t>：四川大学</a:t>
            </a:r>
            <a:r>
              <a:rPr sz="1875" b="0">
                <a:solidFill>
                  <a:srgbClr val="173B6C"/>
                </a:solidFill>
                <a:latin typeface="黑体" panose="02010609060101010101" charset="-122"/>
                <a:ea typeface="黑体" panose="02010609060101010101" charset="-122"/>
                <a:cs typeface="黑体" panose="02010609060101010101" charset="-122"/>
              </a:rPr>
              <a:t> </a:t>
            </a:r>
            <a:endParaRPr sz="1875" b="0">
              <a:solidFill>
                <a:srgbClr val="173B6C"/>
              </a:solidFill>
              <a:latin typeface="黑体" panose="02010609060101010101" charset="-122"/>
              <a:ea typeface="黑体" panose="02010609060101010101" charset="-122"/>
              <a:cs typeface="黑体" panose="02010609060101010101" charset="-122"/>
            </a:endParaRPr>
          </a:p>
          <a:p>
            <a:pPr algn="ctr">
              <a:buNone/>
              <a:defRPr sz="1875" b="0">
                <a:solidFill>
                  <a:srgbClr val="173B6C"/>
                </a:solidFill>
                <a:latin typeface="PingFang SC" panose="020B0400000000000000" charset="-122"/>
                <a:ea typeface="PingFang SC" panose="020B0400000000000000" charset="-122"/>
                <a:cs typeface="PingFang SC" panose="020B0400000000000000" charset="-122"/>
              </a:defRPr>
            </a:pPr>
            <a:r>
              <a:rPr sz="1875" b="0">
                <a:solidFill>
                  <a:srgbClr val="173B6C"/>
                </a:solidFill>
                <a:latin typeface="黑体" panose="02010609060101010101" charset="-122"/>
                <a:ea typeface="黑体" panose="02010609060101010101" charset="-122"/>
                <a:cs typeface="黑体" panose="02010609060101010101" charset="-122"/>
              </a:rPr>
              <a:t>指导老师：李贝贝</a:t>
            </a:r>
            <a:endParaRPr sz="1875" b="0">
              <a:solidFill>
                <a:srgbClr val="173B6C"/>
              </a:solidFill>
              <a:latin typeface="黑体" panose="02010609060101010101" charset="-122"/>
              <a:ea typeface="黑体" panose="02010609060101010101" charset="-122"/>
              <a:cs typeface="黑体" panose="02010609060101010101" charset="-122"/>
            </a:endParaRPr>
          </a:p>
          <a:p>
            <a:pPr algn="ctr">
              <a:buNone/>
              <a:defRPr sz="1875" b="0">
                <a:solidFill>
                  <a:srgbClr val="173B6C"/>
                </a:solidFill>
                <a:latin typeface="PingFang SC" panose="020B0400000000000000" charset="-122"/>
                <a:ea typeface="PingFang SC" panose="020B0400000000000000" charset="-122"/>
                <a:cs typeface="PingFang SC" panose="020B0400000000000000" charset="-122"/>
              </a:defRPr>
            </a:pPr>
            <a:r>
              <a:rPr sz="1875" b="0">
                <a:solidFill>
                  <a:srgbClr val="173B6C"/>
                </a:solidFill>
                <a:latin typeface="黑体" panose="02010609060101010101" charset="-122"/>
                <a:ea typeface="黑体" panose="02010609060101010101" charset="-122"/>
                <a:cs typeface="黑体" panose="02010609060101010101" charset="-122"/>
              </a:rPr>
              <a:t>汇报人：</a:t>
            </a:r>
            <a:r>
              <a:rPr sz="1875" b="0">
                <a:solidFill>
                  <a:srgbClr val="173B6C"/>
                </a:solidFill>
                <a:latin typeface="黑体" panose="02010609060101010101" charset="-122"/>
                <a:ea typeface="黑体" panose="02010609060101010101" charset="-122"/>
                <a:cs typeface="黑体" panose="02010609060101010101" charset="-122"/>
              </a:rPr>
              <a:t>钱琦</a:t>
            </a:r>
            <a:endParaRPr sz="1875" b="0">
              <a:solidFill>
                <a:srgbClr val="173B6C"/>
              </a:solidFill>
              <a:latin typeface="黑体" panose="02010609060101010101" charset="-122"/>
              <a:ea typeface="黑体" panose="02010609060101010101" charset="-122"/>
              <a:cs typeface="黑体" panose="02010609060101010101" charset="-122"/>
            </a:endParaRPr>
          </a:p>
          <a:p>
            <a:pPr algn="ctr">
              <a:buNone/>
              <a:defRPr sz="1875" b="0">
                <a:solidFill>
                  <a:srgbClr val="173B6C"/>
                </a:solidFill>
                <a:latin typeface="PingFang SC" panose="020B0400000000000000" charset="-122"/>
                <a:ea typeface="PingFang SC" panose="020B0400000000000000" charset="-122"/>
                <a:cs typeface="PingFang SC" panose="020B0400000000000000" charset="-122"/>
              </a:defRPr>
            </a:pPr>
            <a:r>
              <a:rPr sz="1875" b="0">
                <a:solidFill>
                  <a:srgbClr val="173B6C"/>
                </a:solidFill>
                <a:latin typeface="黑体" panose="02010609060101010101" charset="-122"/>
                <a:ea typeface="黑体" panose="02010609060101010101" charset="-122"/>
                <a:cs typeface="黑体" panose="02010609060101010101" charset="-122"/>
              </a:rPr>
              <a:t>2026年10月18日</a:t>
            </a:r>
            <a:endParaRPr sz="1875" b="0">
              <a:solidFill>
                <a:srgbClr val="173B6C"/>
              </a:solidFill>
              <a:latin typeface="黑体" panose="02010609060101010101" charset="-122"/>
              <a:ea typeface="黑体" panose="02010609060101010101" charset="-122"/>
              <a:cs typeface="黑体" panose="02010609060101010101" charset="-122"/>
            </a:endParaRPr>
          </a:p>
        </p:txBody>
      </p:sp>
      <p:sp>
        <p:nvSpPr>
          <p:cNvPr id="11"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01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4" name="矩形 23"/>
          <p:cNvSpPr>
            <a:spLocks noGrp="1"/>
          </p:cNvSpPr>
          <p:nvPr/>
        </p:nvSpPr>
        <p:spPr>
          <a:xfrm>
            <a:off x="457200" y="209550"/>
            <a:ext cx="76200" cy="457200"/>
          </a:xfrm>
          <a:prstGeom prst="rect">
            <a:avLst/>
          </a:prstGeom>
          <a:solidFill>
            <a:srgbClr val="00AFA8"/>
          </a:solidFill>
          <a:ln w="0">
            <a:noFill/>
          </a:ln>
        </p:spPr>
      </p:sp>
      <p:sp>
        <p:nvSpPr>
          <p:cNvPr id="2" name="汇报框架"/>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PingFang SC" panose="020B0400000000000000" charset="-122"/>
              </a:rPr>
              <a:t>汇报框架</a:t>
            </a:r>
            <a:endParaRPr sz="3000" b="1">
              <a:solidFill>
                <a:srgbClr val="173B6C"/>
              </a:solidFill>
              <a:latin typeface="黑体" panose="02010609060101010101" charset="-122"/>
              <a:ea typeface="黑体" panose="02010609060101010101" charset="-122"/>
              <a:cs typeface="PingFang SC" panose="020B0400000000000000"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6" name="矩形 5"/>
          <p:cNvSpPr>
            <a:spLocks noGrp="1"/>
          </p:cNvSpPr>
          <p:nvPr/>
        </p:nvSpPr>
        <p:spPr>
          <a:xfrm>
            <a:off x="476250" y="1733550"/>
            <a:ext cx="11239500" cy="771525"/>
          </a:xfrm>
          <a:prstGeom prst="rect">
            <a:avLst/>
          </a:prstGeom>
          <a:solidFill>
            <a:srgbClr val="E8F7F6"/>
          </a:solidFill>
          <a:ln w="0">
            <a:noFill/>
          </a:ln>
        </p:spPr>
      </p:sp>
      <p:sp>
        <p:nvSpPr>
          <p:cNvPr id="7" name="01"/>
          <p:cNvSpPr>
            <a:spLocks noGrp="1"/>
          </p:cNvSpPr>
          <p:nvPr/>
        </p:nvSpPr>
        <p:spPr>
          <a:xfrm>
            <a:off x="723900" y="1847850"/>
            <a:ext cx="762000" cy="495300"/>
          </a:xfrm>
          <a:prstGeom prst="rect">
            <a:avLst/>
          </a:prstGeom>
          <a:noFill/>
          <a:ln w="0">
            <a:noFill/>
          </a:ln>
        </p:spPr>
        <p:txBody>
          <a:bodyPr wrap="square" lIns="0" tIns="0" rIns="0" bIns="0" anchor="t">
            <a:noAutofit/>
          </a:bodyPr>
          <a:lstStyle>
            <a:defPPr algn="l">
              <a:defRPr sz="270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700" b="1">
                <a:solidFill>
                  <a:srgbClr val="007E78"/>
                </a:solidFill>
                <a:latin typeface="PingFang SC" panose="020B0400000000000000" charset="-122"/>
                <a:ea typeface="PingFang SC" panose="020B0400000000000000" charset="-122"/>
                <a:cs typeface="PingFang SC" panose="020B0400000000000000" charset="-122"/>
              </a:defRPr>
            </a:pPr>
            <a:r>
              <a:rPr sz="2700" b="1">
                <a:solidFill>
                  <a:srgbClr val="007E78"/>
                </a:solidFill>
                <a:latin typeface="黑体" panose="02010609060101010101" charset="-122"/>
                <a:ea typeface="黑体" panose="02010609060101010101" charset="-122"/>
                <a:cs typeface="PingFang SC" panose="020B0400000000000000" charset="-122"/>
              </a:rPr>
              <a:t>01</a:t>
            </a:r>
            <a:endParaRPr sz="2700" b="1">
              <a:solidFill>
                <a:srgbClr val="007E78"/>
              </a:solidFill>
              <a:latin typeface="黑体" panose="02010609060101010101" charset="-122"/>
              <a:ea typeface="黑体" panose="02010609060101010101" charset="-122"/>
              <a:cs typeface="PingFang SC" panose="020B0400000000000000" charset="-122"/>
            </a:endParaRPr>
          </a:p>
        </p:txBody>
      </p:sp>
      <p:sp>
        <p:nvSpPr>
          <p:cNvPr id="8" name="研究背景"/>
          <p:cNvSpPr>
            <a:spLocks noGrp="1"/>
          </p:cNvSpPr>
          <p:nvPr/>
        </p:nvSpPr>
        <p:spPr>
          <a:xfrm>
            <a:off x="1714500" y="1847850"/>
            <a:ext cx="3333750" cy="495300"/>
          </a:xfrm>
          <a:prstGeom prst="rect">
            <a:avLst/>
          </a:prstGeom>
          <a:noFill/>
          <a:ln w="0">
            <a:noFill/>
          </a:ln>
        </p:spPr>
        <p:txBody>
          <a:bodyPr wrap="square" lIns="0" tIns="0" rIns="0" bIns="0" anchor="t">
            <a:noAutofit/>
          </a:bodyPr>
          <a:lstStyle>
            <a:defPPr algn="l">
              <a:defRPr sz="24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2400" b="1">
                <a:solidFill>
                  <a:srgbClr val="173B6C"/>
                </a:solidFill>
                <a:latin typeface="PingFang SC" panose="020B0400000000000000" charset="-122"/>
                <a:ea typeface="PingFang SC" panose="020B0400000000000000" charset="-122"/>
                <a:cs typeface="PingFang SC" panose="020B0400000000000000" charset="-122"/>
              </a:defRPr>
            </a:pPr>
            <a:r>
              <a:rPr sz="2400" b="1">
                <a:solidFill>
                  <a:srgbClr val="173B6C"/>
                </a:solidFill>
                <a:latin typeface="黑体" panose="02010609060101010101" charset="-122"/>
                <a:ea typeface="黑体" panose="02010609060101010101" charset="-122"/>
                <a:cs typeface="PingFang SC" panose="020B0400000000000000" charset="-122"/>
              </a:rPr>
              <a:t>研究背景</a:t>
            </a:r>
            <a:endParaRPr sz="2400" b="1">
              <a:solidFill>
                <a:srgbClr val="173B6C"/>
              </a:solidFill>
              <a:latin typeface="黑体" panose="02010609060101010101" charset="-122"/>
              <a:ea typeface="黑体" panose="02010609060101010101" charset="-122"/>
              <a:cs typeface="PingFang SC" panose="020B0400000000000000" charset="-122"/>
            </a:endParaRPr>
          </a:p>
        </p:txBody>
      </p:sp>
      <p:sp>
        <p:nvSpPr>
          <p:cNvPr id="9" name="工业入侵检测的对象、思路与研究挑战"/>
          <p:cNvSpPr>
            <a:spLocks noGrp="1"/>
          </p:cNvSpPr>
          <p:nvPr/>
        </p:nvSpPr>
        <p:spPr>
          <a:xfrm>
            <a:off x="5429250" y="1914525"/>
            <a:ext cx="6000750" cy="4572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工业控制回路、攻击风险与研究需求</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0" name="矩形 9"/>
          <p:cNvSpPr>
            <a:spLocks noGrp="1"/>
          </p:cNvSpPr>
          <p:nvPr/>
        </p:nvSpPr>
        <p:spPr>
          <a:xfrm>
            <a:off x="476250" y="2686050"/>
            <a:ext cx="11239500" cy="771525"/>
          </a:xfrm>
          <a:prstGeom prst="rect">
            <a:avLst/>
          </a:prstGeom>
          <a:solidFill>
            <a:srgbClr val="F4F7F9"/>
          </a:solidFill>
          <a:ln w="0">
            <a:noFill/>
          </a:ln>
        </p:spPr>
      </p:sp>
      <p:sp>
        <p:nvSpPr>
          <p:cNvPr id="11" name="02"/>
          <p:cNvSpPr>
            <a:spLocks noGrp="1"/>
          </p:cNvSpPr>
          <p:nvPr/>
        </p:nvSpPr>
        <p:spPr>
          <a:xfrm>
            <a:off x="723900" y="2800350"/>
            <a:ext cx="762000" cy="495300"/>
          </a:xfrm>
          <a:prstGeom prst="rect">
            <a:avLst/>
          </a:prstGeom>
          <a:noFill/>
          <a:ln w="0">
            <a:noFill/>
          </a:ln>
        </p:spPr>
        <p:txBody>
          <a:bodyPr wrap="square" lIns="0" tIns="0" rIns="0" bIns="0" anchor="t">
            <a:noAutofit/>
          </a:bodyPr>
          <a:lstStyle>
            <a:defPPr algn="l">
              <a:defRPr sz="27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700" b="1">
                <a:solidFill>
                  <a:srgbClr val="007E78"/>
                </a:solidFill>
                <a:latin typeface="PingFang SC" panose="020B0400000000000000" charset="-122"/>
                <a:ea typeface="PingFang SC" panose="020B0400000000000000" charset="-122"/>
                <a:cs typeface="PingFang SC" panose="020B0400000000000000" charset="-122"/>
              </a:defRPr>
            </a:pPr>
            <a:r>
              <a:rPr sz="2700" b="1">
                <a:solidFill>
                  <a:srgbClr val="007E78"/>
                </a:solidFill>
                <a:latin typeface="黑体" panose="02010609060101010101" charset="-122"/>
                <a:ea typeface="黑体" panose="02010609060101010101" charset="-122"/>
                <a:cs typeface="PingFang SC" panose="020B0400000000000000" charset="-122"/>
              </a:rPr>
              <a:t>02</a:t>
            </a:r>
            <a:endParaRPr sz="2700" b="1">
              <a:solidFill>
                <a:srgbClr val="007E78"/>
              </a:solidFill>
              <a:latin typeface="黑体" panose="02010609060101010101" charset="-122"/>
              <a:ea typeface="黑体" panose="02010609060101010101" charset="-122"/>
              <a:cs typeface="PingFang SC" panose="020B0400000000000000" charset="-122"/>
            </a:endParaRPr>
          </a:p>
        </p:txBody>
      </p:sp>
      <p:sp>
        <p:nvSpPr>
          <p:cNvPr id="12" name="GeCo方法设计"/>
          <p:cNvSpPr>
            <a:spLocks noGrp="1"/>
          </p:cNvSpPr>
          <p:nvPr/>
        </p:nvSpPr>
        <p:spPr>
          <a:xfrm>
            <a:off x="1714500" y="2800350"/>
            <a:ext cx="3333750" cy="495300"/>
          </a:xfrm>
          <a:prstGeom prst="rect">
            <a:avLst/>
          </a:prstGeom>
          <a:noFill/>
          <a:ln w="0">
            <a:noFill/>
          </a:ln>
        </p:spPr>
        <p:txBody>
          <a:bodyPr wrap="square" lIns="0" tIns="0" rIns="0" bIns="0" anchor="t">
            <a:noAutofit/>
          </a:bodyPr>
          <a:lstStyle>
            <a:defPPr algn="l">
              <a:defRPr sz="24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400" b="1">
                <a:solidFill>
                  <a:srgbClr val="173B6C"/>
                </a:solidFill>
                <a:latin typeface="PingFang SC" panose="020B0400000000000000" charset="-122"/>
                <a:ea typeface="PingFang SC" panose="020B0400000000000000" charset="-122"/>
                <a:cs typeface="PingFang SC" panose="020B0400000000000000" charset="-122"/>
              </a:defRPr>
            </a:pPr>
            <a:r>
              <a:rPr sz="2400" b="1">
                <a:solidFill>
                  <a:srgbClr val="173B6C"/>
                </a:solidFill>
                <a:latin typeface="黑体" panose="02010609060101010101" charset="-122"/>
                <a:ea typeface="黑体" panose="02010609060101010101" charset="-122"/>
                <a:cs typeface="PingFang SC" panose="020B0400000000000000" charset="-122"/>
              </a:rPr>
              <a:t>GeCo方法设计</a:t>
            </a:r>
            <a:endParaRPr sz="2400" b="1">
              <a:solidFill>
                <a:srgbClr val="173B6C"/>
              </a:solidFill>
              <a:latin typeface="黑体" panose="02010609060101010101" charset="-122"/>
              <a:ea typeface="黑体" panose="02010609060101010101" charset="-122"/>
              <a:cs typeface="PingFang SC" panose="020B0400000000000000" charset="-122"/>
            </a:endParaRPr>
          </a:p>
        </p:txBody>
      </p:sp>
      <p:sp>
        <p:nvSpPr>
          <p:cNvPr id="13" name="正常数据如何生成可核查的状态转移公式"/>
          <p:cNvSpPr>
            <a:spLocks noGrp="1"/>
          </p:cNvSpPr>
          <p:nvPr/>
        </p:nvSpPr>
        <p:spPr>
          <a:xfrm>
            <a:off x="5429250" y="2867025"/>
            <a:ext cx="6000750" cy="4572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状态转移公式学习与CUSUM异常检测</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4" name="矩形 13"/>
          <p:cNvSpPr>
            <a:spLocks noGrp="1"/>
          </p:cNvSpPr>
          <p:nvPr/>
        </p:nvSpPr>
        <p:spPr>
          <a:xfrm>
            <a:off x="476250" y="3638550"/>
            <a:ext cx="11239500" cy="771525"/>
          </a:xfrm>
          <a:prstGeom prst="rect">
            <a:avLst/>
          </a:prstGeom>
          <a:solidFill>
            <a:srgbClr val="E8F7F6"/>
          </a:solidFill>
          <a:ln w="0">
            <a:noFill/>
          </a:ln>
        </p:spPr>
      </p:sp>
      <p:sp>
        <p:nvSpPr>
          <p:cNvPr id="15" name="03"/>
          <p:cNvSpPr>
            <a:spLocks noGrp="1"/>
          </p:cNvSpPr>
          <p:nvPr/>
        </p:nvSpPr>
        <p:spPr>
          <a:xfrm>
            <a:off x="723900" y="3752850"/>
            <a:ext cx="762000" cy="495300"/>
          </a:xfrm>
          <a:prstGeom prst="rect">
            <a:avLst/>
          </a:prstGeom>
          <a:noFill/>
          <a:ln w="0">
            <a:noFill/>
          </a:ln>
        </p:spPr>
        <p:txBody>
          <a:bodyPr wrap="square" lIns="0" tIns="0" rIns="0" bIns="0" anchor="t">
            <a:noAutofit/>
          </a:bodyPr>
          <a:lstStyle>
            <a:defPPr algn="l">
              <a:defRPr sz="27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700" b="1">
                <a:solidFill>
                  <a:srgbClr val="007E78"/>
                </a:solidFill>
                <a:latin typeface="PingFang SC" panose="020B0400000000000000" charset="-122"/>
                <a:ea typeface="PingFang SC" panose="020B0400000000000000" charset="-122"/>
                <a:cs typeface="PingFang SC" panose="020B0400000000000000" charset="-122"/>
              </a:defRPr>
            </a:pPr>
            <a:r>
              <a:rPr sz="2700" b="1">
                <a:solidFill>
                  <a:srgbClr val="007E78"/>
                </a:solidFill>
                <a:latin typeface="黑体" panose="02010609060101010101" charset="-122"/>
                <a:ea typeface="黑体" panose="02010609060101010101" charset="-122"/>
                <a:cs typeface="PingFang SC" panose="020B0400000000000000" charset="-122"/>
              </a:rPr>
              <a:t>03</a:t>
            </a:r>
            <a:endParaRPr sz="2700" b="1">
              <a:solidFill>
                <a:srgbClr val="007E78"/>
              </a:solidFill>
              <a:latin typeface="黑体" panose="02010609060101010101" charset="-122"/>
              <a:ea typeface="黑体" panose="02010609060101010101" charset="-122"/>
              <a:cs typeface="PingFang SC" panose="020B0400000000000000" charset="-122"/>
            </a:endParaRPr>
          </a:p>
        </p:txBody>
      </p:sp>
      <p:sp>
        <p:nvSpPr>
          <p:cNvPr id="16" name="实验评估"/>
          <p:cNvSpPr>
            <a:spLocks noGrp="1"/>
          </p:cNvSpPr>
          <p:nvPr/>
        </p:nvSpPr>
        <p:spPr>
          <a:xfrm>
            <a:off x="1714500" y="3752850"/>
            <a:ext cx="3333750" cy="495300"/>
          </a:xfrm>
          <a:prstGeom prst="rect">
            <a:avLst/>
          </a:prstGeom>
          <a:noFill/>
          <a:ln w="0">
            <a:noFill/>
          </a:ln>
        </p:spPr>
        <p:txBody>
          <a:bodyPr wrap="square" lIns="0" tIns="0" rIns="0" bIns="0" anchor="t">
            <a:noAutofit/>
          </a:bodyPr>
          <a:lstStyle>
            <a:defPPr algn="l">
              <a:defRPr sz="24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400" b="1">
                <a:solidFill>
                  <a:srgbClr val="173B6C"/>
                </a:solidFill>
                <a:latin typeface="PingFang SC" panose="020B0400000000000000" charset="-122"/>
                <a:ea typeface="PingFang SC" panose="020B0400000000000000" charset="-122"/>
                <a:cs typeface="PingFang SC" panose="020B0400000000000000" charset="-122"/>
              </a:defRPr>
            </a:pPr>
            <a:r>
              <a:rPr sz="2400" b="1">
                <a:solidFill>
                  <a:srgbClr val="173B6C"/>
                </a:solidFill>
                <a:latin typeface="黑体" panose="02010609060101010101" charset="-122"/>
                <a:ea typeface="黑体" panose="02010609060101010101" charset="-122"/>
                <a:cs typeface="PingFang SC" panose="020B0400000000000000" charset="-122"/>
              </a:rPr>
              <a:t>实验评估</a:t>
            </a:r>
            <a:endParaRPr sz="2400" b="1">
              <a:solidFill>
                <a:srgbClr val="173B6C"/>
              </a:solidFill>
              <a:latin typeface="黑体" panose="02010609060101010101" charset="-122"/>
              <a:ea typeface="黑体" panose="02010609060101010101" charset="-122"/>
              <a:cs typeface="PingFang SC" panose="020B0400000000000000" charset="-122"/>
            </a:endParaRPr>
          </a:p>
        </p:txBody>
      </p:sp>
      <p:sp>
        <p:nvSpPr>
          <p:cNvPr id="17" name="检测性能与模型、报警的可理解性如何验证"/>
          <p:cNvSpPr>
            <a:spLocks noGrp="1"/>
          </p:cNvSpPr>
          <p:nvPr/>
        </p:nvSpPr>
        <p:spPr>
          <a:xfrm>
            <a:off x="5429250" y="3819525"/>
            <a:ext cx="6000750" cy="4572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检测性能、跨领域适用性与可理解性验证</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8" name="矩形 17"/>
          <p:cNvSpPr>
            <a:spLocks noGrp="1"/>
          </p:cNvSpPr>
          <p:nvPr/>
        </p:nvSpPr>
        <p:spPr>
          <a:xfrm>
            <a:off x="476250" y="4591050"/>
            <a:ext cx="11239500" cy="771525"/>
          </a:xfrm>
          <a:prstGeom prst="rect">
            <a:avLst/>
          </a:prstGeom>
          <a:solidFill>
            <a:srgbClr val="F4F7F9"/>
          </a:solidFill>
          <a:ln w="0">
            <a:noFill/>
          </a:ln>
        </p:spPr>
      </p:sp>
      <p:sp>
        <p:nvSpPr>
          <p:cNvPr id="19" name="04"/>
          <p:cNvSpPr>
            <a:spLocks noGrp="1"/>
          </p:cNvSpPr>
          <p:nvPr/>
        </p:nvSpPr>
        <p:spPr>
          <a:xfrm>
            <a:off x="723900" y="4705350"/>
            <a:ext cx="762000" cy="495300"/>
          </a:xfrm>
          <a:prstGeom prst="rect">
            <a:avLst/>
          </a:prstGeom>
          <a:noFill/>
          <a:ln w="0">
            <a:noFill/>
          </a:ln>
        </p:spPr>
        <p:txBody>
          <a:bodyPr wrap="square" lIns="0" tIns="0" rIns="0" bIns="0" anchor="t">
            <a:noAutofit/>
          </a:bodyPr>
          <a:lstStyle>
            <a:defPPr algn="l">
              <a:defRPr sz="27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700" b="1">
                <a:solidFill>
                  <a:srgbClr val="007E78"/>
                </a:solidFill>
                <a:latin typeface="PingFang SC" panose="020B0400000000000000" charset="-122"/>
                <a:ea typeface="PingFang SC" panose="020B0400000000000000" charset="-122"/>
                <a:cs typeface="PingFang SC" panose="020B0400000000000000" charset="-122"/>
              </a:defRPr>
            </a:pPr>
            <a:r>
              <a:rPr sz="2700" b="1">
                <a:solidFill>
                  <a:srgbClr val="007E78"/>
                </a:solidFill>
                <a:latin typeface="黑体" panose="02010609060101010101" charset="-122"/>
                <a:ea typeface="黑体" panose="02010609060101010101" charset="-122"/>
                <a:cs typeface="PingFang SC" panose="020B0400000000000000" charset="-122"/>
              </a:rPr>
              <a:t>04</a:t>
            </a:r>
            <a:endParaRPr sz="2700" b="1">
              <a:solidFill>
                <a:srgbClr val="007E78"/>
              </a:solidFill>
              <a:latin typeface="黑体" panose="02010609060101010101" charset="-122"/>
              <a:ea typeface="黑体" panose="02010609060101010101" charset="-122"/>
              <a:cs typeface="PingFang SC" panose="020B0400000000000000" charset="-122"/>
            </a:endParaRPr>
          </a:p>
        </p:txBody>
      </p:sp>
      <p:sp>
        <p:nvSpPr>
          <p:cNvPr id="20" name="总结与思考"/>
          <p:cNvSpPr>
            <a:spLocks noGrp="1"/>
          </p:cNvSpPr>
          <p:nvPr/>
        </p:nvSpPr>
        <p:spPr>
          <a:xfrm>
            <a:off x="1714500" y="4705350"/>
            <a:ext cx="3333750" cy="495300"/>
          </a:xfrm>
          <a:prstGeom prst="rect">
            <a:avLst/>
          </a:prstGeom>
          <a:noFill/>
          <a:ln w="0">
            <a:noFill/>
          </a:ln>
        </p:spPr>
        <p:txBody>
          <a:bodyPr wrap="square" lIns="0" tIns="0" rIns="0" bIns="0" anchor="t">
            <a:noAutofit/>
          </a:bodyPr>
          <a:lstStyle>
            <a:defPPr algn="l">
              <a:defRPr sz="24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400" b="1">
                <a:solidFill>
                  <a:srgbClr val="173B6C"/>
                </a:solidFill>
                <a:latin typeface="PingFang SC" panose="020B0400000000000000" charset="-122"/>
                <a:ea typeface="PingFang SC" panose="020B0400000000000000" charset="-122"/>
                <a:cs typeface="PingFang SC" panose="020B0400000000000000" charset="-122"/>
              </a:defRPr>
            </a:pPr>
            <a:r>
              <a:rPr sz="2400" b="1">
                <a:solidFill>
                  <a:srgbClr val="173B6C"/>
                </a:solidFill>
                <a:latin typeface="黑体" panose="02010609060101010101" charset="-122"/>
                <a:ea typeface="黑体" panose="02010609060101010101" charset="-122"/>
                <a:cs typeface="PingFang SC" panose="020B0400000000000000" charset="-122"/>
              </a:rPr>
              <a:t>总结与思考</a:t>
            </a:r>
            <a:endParaRPr sz="2400" b="1">
              <a:solidFill>
                <a:srgbClr val="173B6C"/>
              </a:solidFill>
              <a:latin typeface="黑体" panose="02010609060101010101" charset="-122"/>
              <a:ea typeface="黑体" panose="02010609060101010101" charset="-122"/>
              <a:cs typeface="PingFang SC" panose="020B0400000000000000" charset="-122"/>
            </a:endParaRPr>
          </a:p>
        </p:txBody>
      </p:sp>
      <p:sp>
        <p:nvSpPr>
          <p:cNvPr id="21" name="论文贡献、适用边界与后续研究方向"/>
          <p:cNvSpPr>
            <a:spLocks noGrp="1"/>
          </p:cNvSpPr>
          <p:nvPr/>
        </p:nvSpPr>
        <p:spPr>
          <a:xfrm>
            <a:off x="5429250" y="4772025"/>
            <a:ext cx="6000750" cy="4572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研究贡献与局限、可信人机协作的思考</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25"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02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1123950" y="2705100"/>
            <a:ext cx="1524000" cy="1524000"/>
          </a:xfrm>
          <a:prstGeom prst="rect">
            <a:avLst/>
          </a:prstGeom>
          <a:solidFill>
            <a:srgbClr val="173B6C"/>
          </a:solidFill>
          <a:ln w="0">
            <a:noFill/>
            <a:prstDash val="solid"/>
          </a:ln>
        </p:spPr>
        <p:txBody>
          <a:bodyPr/>
          <a:lstStyle/>
          <a:p/>
        </p:txBody>
      </p:sp>
      <p:sp>
        <p:nvSpPr>
          <p:cNvPr id="5" name="矩形 4"/>
          <p:cNvSpPr>
            <a:spLocks noGrp="1"/>
          </p:cNvSpPr>
          <p:nvPr/>
        </p:nvSpPr>
        <p:spPr>
          <a:xfrm>
            <a:off x="1123950" y="2781300"/>
            <a:ext cx="1524000" cy="1323975"/>
          </a:xfrm>
          <a:prstGeom prst="rect">
            <a:avLst/>
          </a:prstGeom>
          <a:noFill/>
          <a:ln w="0">
            <a:noFill/>
            <a:prstDash val="solid"/>
          </a:ln>
        </p:spPr>
        <p:txBody>
          <a:bodyPr lIns="0" tIns="0" rIns="0" bIns="0" anchor="ctr"/>
          <a:lstStyle>
            <a:defPPr algn="ctr">
              <a:defRPr sz="7050" b="1">
                <a:solidFill>
                  <a:srgbClr val="FFFFFF"/>
                </a:solidFill>
                <a:latin typeface="PingFang SC" panose="020B0400000000000000" charset="-122"/>
                <a:ea typeface="PingFang SC" panose="020B0400000000000000" charset="-122"/>
                <a:cs typeface="PingFang SC" panose="020B0400000000000000" charset="-122"/>
              </a:defRPr>
            </a:defPPr>
          </a:lstStyle>
          <a:p>
            <a:pPr algn="ctr">
              <a:buNone/>
              <a:defRPr sz="7050" b="1">
                <a:solidFill>
                  <a:srgbClr val="FFFFFF"/>
                </a:solidFill>
                <a:latin typeface="PingFang SC" panose="020B0400000000000000" charset="-122"/>
                <a:ea typeface="PingFang SC" panose="020B0400000000000000" charset="-122"/>
                <a:cs typeface="PingFang SC" panose="020B0400000000000000" charset="-122"/>
              </a:defRPr>
            </a:pPr>
            <a:r>
              <a:rPr sz="7050" b="1">
                <a:solidFill>
                  <a:srgbClr val="FFFFFF"/>
                </a:solidFill>
                <a:latin typeface="黑体" panose="02010609060101010101" charset="-122"/>
                <a:ea typeface="黑体" panose="02010609060101010101" charset="-122"/>
                <a:cs typeface="PingFang SC" panose="020B0400000000000000" charset="-122"/>
              </a:rPr>
              <a:t>1</a:t>
            </a:r>
            <a:endParaRPr sz="7050" b="1">
              <a:solidFill>
                <a:srgbClr val="FFFFFF"/>
              </a:solidFill>
              <a:latin typeface="黑体" panose="02010609060101010101" charset="-122"/>
              <a:ea typeface="黑体" panose="02010609060101010101" charset="-122"/>
              <a:cs typeface="PingFang SC" panose="020B0400000000000000" charset="-122"/>
            </a:endParaRPr>
          </a:p>
        </p:txBody>
      </p:sp>
      <p:pic>
        <p:nvPicPr>
          <p:cNvPr id="6" name="图片 5"/>
          <p:cNvPicPr>
            <a:picLocks noChangeAspect="1"/>
          </p:cNvPicPr>
          <p:nvPr/>
        </p:nvPicPr>
        <p:blipFill>
          <a:blip r:embed="rId2"/>
          <a:srcRect l="58106" t="50348" r="9587" b="42490"/>
          <a:stretch>
            <a:fillRect/>
          </a:stretch>
        </p:blipFill>
        <p:spPr>
          <a:xfrm>
            <a:off x="2838450" y="2705100"/>
            <a:ext cx="9353550" cy="1276350"/>
          </a:xfrm>
          <a:prstGeom prst="rect">
            <a:avLst/>
          </a:prstGeom>
        </p:spPr>
      </p:pic>
      <p:sp>
        <p:nvSpPr>
          <p:cNvPr id="7" name="矩形 6"/>
          <p:cNvSpPr>
            <a:spLocks noGrp="1"/>
          </p:cNvSpPr>
          <p:nvPr/>
        </p:nvSpPr>
        <p:spPr>
          <a:xfrm>
            <a:off x="2838450" y="2705100"/>
            <a:ext cx="9353550" cy="1276350"/>
          </a:xfrm>
          <a:prstGeom prst="rect">
            <a:avLst/>
          </a:prstGeom>
          <a:gradFill>
            <a:gsLst>
              <a:gs pos="0">
                <a:srgbClr val="173B6C"/>
              </a:gs>
              <a:gs pos="45000">
                <a:srgbClr val="173B6C">
                  <a:alpha val="92000"/>
                </a:srgbClr>
              </a:gs>
              <a:gs pos="100000">
                <a:srgbClr val="007E78">
                  <a:alpha val="76000"/>
                </a:srgbClr>
              </a:gs>
            </a:gsLst>
            <a:lin ang="0"/>
          </a:gradFill>
          <a:ln w="0">
            <a:noFill/>
            <a:prstDash val="solid"/>
          </a:ln>
        </p:spPr>
      </p:sp>
      <p:sp>
        <p:nvSpPr>
          <p:cNvPr id="8" name="矩形 7"/>
          <p:cNvSpPr>
            <a:spLocks noGrp="1"/>
          </p:cNvSpPr>
          <p:nvPr/>
        </p:nvSpPr>
        <p:spPr>
          <a:xfrm>
            <a:off x="3295650" y="2971800"/>
            <a:ext cx="7810500" cy="742950"/>
          </a:xfrm>
          <a:prstGeom prst="rect">
            <a:avLst/>
          </a:prstGeom>
          <a:noFill/>
          <a:ln w="0">
            <a:noFill/>
            <a:prstDash val="solid"/>
          </a:ln>
        </p:spPr>
        <p:txBody>
          <a:bodyPr lIns="0" tIns="0" rIns="0" bIns="0" anchor="ctr"/>
          <a:lstStyle>
            <a:defPPr>
              <a:defRPr sz="3150" b="1">
                <a:solidFill>
                  <a:srgbClr val="FFFFFF"/>
                </a:solidFill>
                <a:latin typeface="PingFang SC" panose="020B0400000000000000" charset="-122"/>
                <a:ea typeface="PingFang SC" panose="020B0400000000000000" charset="-122"/>
                <a:cs typeface="PingFang SC" panose="020B0400000000000000" charset="-122"/>
              </a:defRPr>
            </a:defPPr>
          </a:lstStyle>
          <a:p>
            <a:pPr>
              <a:buNone/>
              <a:defRPr sz="3150" b="1">
                <a:solidFill>
                  <a:srgbClr val="FFFFFF"/>
                </a:solidFill>
                <a:latin typeface="PingFang SC" panose="020B0400000000000000" charset="-122"/>
                <a:ea typeface="PingFang SC" panose="020B0400000000000000" charset="-122"/>
                <a:cs typeface="PingFang SC" panose="020B0400000000000000" charset="-122"/>
              </a:defRPr>
            </a:pPr>
            <a:r>
              <a:rPr sz="3150" b="1">
                <a:solidFill>
                  <a:srgbClr val="FFFFFF"/>
                </a:solidFill>
                <a:latin typeface="黑体" panose="02010609060101010101" charset="-122"/>
                <a:ea typeface="黑体" panose="02010609060101010101" charset="-122"/>
                <a:cs typeface="PingFang SC" panose="020B0400000000000000" charset="-122"/>
              </a:rPr>
              <a:t>研究背景</a:t>
            </a:r>
            <a:endParaRPr sz="3150" b="1">
              <a:solidFill>
                <a:srgbClr val="FFFFFF"/>
              </a:solidFill>
              <a:latin typeface="黑体" panose="02010609060101010101" charset="-122"/>
              <a:ea typeface="黑体" panose="02010609060101010101" charset="-122"/>
              <a:cs typeface="PingFang SC" panose="020B0400000000000000" charset="-122"/>
            </a:endParaRPr>
          </a:p>
        </p:txBody>
      </p:sp>
      <p:sp>
        <p:nvSpPr>
          <p:cNvPr id="9" name="矩形 8"/>
          <p:cNvSpPr>
            <a:spLocks noGrp="1"/>
          </p:cNvSpPr>
          <p:nvPr/>
        </p:nvSpPr>
        <p:spPr>
          <a:xfrm>
            <a:off x="2838450" y="4143375"/>
            <a:ext cx="8210550" cy="76200"/>
          </a:xfrm>
          <a:prstGeom prst="rect">
            <a:avLst/>
          </a:prstGeom>
          <a:solidFill>
            <a:srgbClr val="00AFA8"/>
          </a:solidFill>
          <a:ln w="0">
            <a:noFill/>
            <a:prstDash val="solid"/>
          </a:ln>
        </p:spPr>
      </p:sp>
      <p:sp>
        <p:nvSpPr>
          <p:cNvPr id="10" name="矩形 9"/>
          <p:cNvSpPr>
            <a:spLocks noGrp="1"/>
          </p:cNvSpPr>
          <p:nvPr/>
        </p:nvSpPr>
        <p:spPr>
          <a:xfrm>
            <a:off x="2838450" y="4476750"/>
            <a:ext cx="8572500" cy="885825"/>
          </a:xfrm>
          <a:prstGeom prst="rect">
            <a:avLst/>
          </a:prstGeom>
          <a:noFill/>
          <a:ln w="0">
            <a:noFill/>
            <a:prstDash val="solid"/>
          </a:ln>
        </p:spPr>
        <p:txBody>
          <a:bodyPr lIns="0" tIns="0" rIns="0" bIns="0" anchor="ctr"/>
          <a:lstStyle>
            <a:defPPr>
              <a:defRPr sz="18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sz="1875" b="0">
                <a:solidFill>
                  <a:srgbClr val="263B50"/>
                </a:solidFill>
                <a:latin typeface="宋体" panose="02010600030101010101" pitchFamily="2" charset="-122"/>
                <a:ea typeface="宋体" panose="02010600030101010101" pitchFamily="2" charset="-122"/>
                <a:cs typeface="PingFang SC" panose="020B0400000000000000" charset="-122"/>
              </a:rPr>
              <a:t>核心问题：如何兼顾工业入侵检测的自动建模与人工可理解性？</a:t>
            </a:r>
            <a:endParaRPr sz="18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11" name="Unified page number"/>
          <p:cNvSpPr>
            <a:spLocks noGrp="1"/>
          </p:cNvSpPr>
          <p:nvPr/>
        </p:nvSpPr>
        <p:spPr>
          <a:xfrm>
            <a:off x="10810875" y="6524625"/>
            <a:ext cx="914400" cy="24574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03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分区强调线"/>
          <p:cNvSpPr>
            <a:spLocks noGrp="1"/>
          </p:cNvSpPr>
          <p:nvPr/>
        </p:nvSpPr>
        <p:spPr>
          <a:xfrm>
            <a:off x="7391400" y="4419600"/>
            <a:ext cx="38100" cy="1038225"/>
          </a:xfrm>
          <a:prstGeom prst="rect">
            <a:avLst/>
          </a:prstGeom>
          <a:solidFill>
            <a:srgbClr val="007E78"/>
          </a:solidFill>
          <a:ln w="0">
            <a:noFill/>
            <a:prstDash val="solid"/>
          </a:ln>
        </p:spPr>
      </p:sp>
      <p:sp>
        <p:nvSpPr>
          <p:cNvPr id="3" name="学术分区"/>
          <p:cNvSpPr>
            <a:spLocks noGrp="1"/>
          </p:cNvSpPr>
          <p:nvPr/>
        </p:nvSpPr>
        <p:spPr>
          <a:xfrm>
            <a:off x="7381875" y="4276725"/>
            <a:ext cx="4333875" cy="1323975"/>
          </a:xfrm>
          <a:prstGeom prst="roundRect">
            <a:avLst>
              <a:gd name="adj" fmla="val 6475"/>
            </a:avLst>
          </a:prstGeom>
          <a:solidFill>
            <a:srgbClr val="F5FAFA"/>
          </a:solidFill>
          <a:ln w="9525">
            <a:solidFill>
              <a:srgbClr val="D7E5E9"/>
            </a:solidFill>
            <a:prstDash val="solid"/>
          </a:ln>
        </p:spPr>
      </p:sp>
      <p:sp>
        <p:nvSpPr>
          <p:cNvPr id="4" name="分区强调线"/>
          <p:cNvSpPr>
            <a:spLocks noGrp="1"/>
          </p:cNvSpPr>
          <p:nvPr/>
        </p:nvSpPr>
        <p:spPr>
          <a:xfrm>
            <a:off x="7391400" y="3095625"/>
            <a:ext cx="38100" cy="914400"/>
          </a:xfrm>
          <a:prstGeom prst="rect">
            <a:avLst/>
          </a:prstGeom>
          <a:solidFill>
            <a:srgbClr val="007E78"/>
          </a:solidFill>
          <a:ln w="0">
            <a:noFill/>
            <a:prstDash val="solid"/>
          </a:ln>
        </p:spPr>
      </p:sp>
      <p:sp>
        <p:nvSpPr>
          <p:cNvPr id="5" name="学术分区"/>
          <p:cNvSpPr>
            <a:spLocks noGrp="1"/>
          </p:cNvSpPr>
          <p:nvPr/>
        </p:nvSpPr>
        <p:spPr>
          <a:xfrm>
            <a:off x="7381875" y="2952750"/>
            <a:ext cx="4333875" cy="1200150"/>
          </a:xfrm>
          <a:prstGeom prst="roundRect">
            <a:avLst>
              <a:gd name="adj" fmla="val 7143"/>
            </a:avLst>
          </a:prstGeom>
          <a:solidFill>
            <a:srgbClr val="F5FAFA"/>
          </a:solidFill>
          <a:ln w="9525">
            <a:solidFill>
              <a:srgbClr val="D7E5E9"/>
            </a:solidFill>
            <a:prstDash val="solid"/>
          </a:ln>
        </p:spPr>
      </p:sp>
      <p:sp>
        <p:nvSpPr>
          <p:cNvPr id="6" name="分区强调线"/>
          <p:cNvSpPr>
            <a:spLocks noGrp="1"/>
          </p:cNvSpPr>
          <p:nvPr/>
        </p:nvSpPr>
        <p:spPr>
          <a:xfrm>
            <a:off x="7391400" y="1771650"/>
            <a:ext cx="38100" cy="914400"/>
          </a:xfrm>
          <a:prstGeom prst="rect">
            <a:avLst/>
          </a:prstGeom>
          <a:solidFill>
            <a:srgbClr val="007E78"/>
          </a:solidFill>
          <a:ln w="0">
            <a:noFill/>
            <a:prstDash val="solid"/>
          </a:ln>
        </p:spPr>
      </p:sp>
      <p:sp>
        <p:nvSpPr>
          <p:cNvPr id="7" name="学术分区"/>
          <p:cNvSpPr>
            <a:spLocks noGrp="1"/>
          </p:cNvSpPr>
          <p:nvPr/>
        </p:nvSpPr>
        <p:spPr>
          <a:xfrm>
            <a:off x="7381875" y="1628775"/>
            <a:ext cx="4333875" cy="1200150"/>
          </a:xfrm>
          <a:prstGeom prst="roundRect">
            <a:avLst>
              <a:gd name="adj" fmla="val 7143"/>
            </a:avLst>
          </a:prstGeom>
          <a:solidFill>
            <a:srgbClr val="F5FAFA"/>
          </a:solidFill>
          <a:ln w="9525">
            <a:solidFill>
              <a:srgbClr val="D7E5E9"/>
            </a:solidFill>
            <a:prstDash val="solid"/>
          </a:ln>
        </p:spPr>
      </p:sp>
      <p:sp>
        <p:nvSpPr>
          <p:cNvPr id="8" name="学术分区"/>
          <p:cNvSpPr>
            <a:spLocks noGrp="1"/>
          </p:cNvSpPr>
          <p:nvPr/>
        </p:nvSpPr>
        <p:spPr>
          <a:xfrm>
            <a:off x="476250" y="1628775"/>
            <a:ext cx="6667500" cy="3971925"/>
          </a:xfrm>
          <a:prstGeom prst="roundRect">
            <a:avLst>
              <a:gd name="adj" fmla="val 2158"/>
            </a:avLst>
          </a:prstGeom>
          <a:solidFill>
            <a:srgbClr val="FFFFFF"/>
          </a:solidFill>
          <a:ln w="9525">
            <a:solidFill>
              <a:srgbClr val="D7E5E9"/>
            </a:solidFill>
            <a:prstDash val="solid"/>
          </a:ln>
        </p:spPr>
      </p:sp>
      <p:sp>
        <p:nvSpPr>
          <p:cNvPr id="9" name="矩形 18"/>
          <p:cNvSpPr>
            <a:spLocks noGrp="1"/>
          </p:cNvSpPr>
          <p:nvPr/>
        </p:nvSpPr>
        <p:spPr>
          <a:xfrm>
            <a:off x="457200" y="209550"/>
            <a:ext cx="76200" cy="457200"/>
          </a:xfrm>
          <a:prstGeom prst="rect">
            <a:avLst/>
          </a:prstGeom>
          <a:solidFill>
            <a:srgbClr val="00AFA8"/>
          </a:solidFill>
          <a:ln w="0">
            <a:noFill/>
          </a:ln>
        </p:spPr>
      </p:sp>
      <p:sp>
        <p:nvSpPr>
          <p:cNvPr id="10" name="矩形 3"/>
          <p:cNvSpPr>
            <a:spLocks noGrp="1"/>
          </p:cNvSpPr>
          <p:nvPr/>
        </p:nvSpPr>
        <p:spPr>
          <a:xfrm>
            <a:off x="457200" y="819150"/>
            <a:ext cx="11277600" cy="19050"/>
          </a:xfrm>
          <a:prstGeom prst="rect">
            <a:avLst/>
          </a:prstGeom>
          <a:solidFill>
            <a:srgbClr val="173B6C"/>
          </a:solidFill>
          <a:ln w="0">
            <a:noFill/>
          </a:ln>
        </p:spPr>
      </p:sp>
      <p:sp>
        <p:nvSpPr>
          <p:cNvPr id="11" name="矩形 14"/>
          <p:cNvSpPr>
            <a:spLocks noGrp="1"/>
          </p:cNvSpPr>
          <p:nvPr/>
        </p:nvSpPr>
        <p:spPr>
          <a:xfrm>
            <a:off x="476250" y="5762625"/>
            <a:ext cx="11340000" cy="576000"/>
          </a:xfrm>
          <a:prstGeom prst="roundRect">
            <a:avLst>
              <a:gd name="adj" fmla="val 11321"/>
            </a:avLst>
          </a:prstGeom>
          <a:solidFill>
            <a:srgbClr val="E8F7F6"/>
          </a:solidFill>
          <a:ln w="0">
            <a:noFill/>
          </a:ln>
        </p:spPr>
      </p:sp>
      <p:sp>
        <p:nvSpPr>
          <p:cNvPr id="12" name="refine:back"/>
          <p:cNvSpPr>
            <a:spLocks noGrp="1"/>
          </p:cNvSpPr>
          <p:nvPr/>
        </p:nvSpPr>
        <p:spPr>
          <a:xfrm>
            <a:off x="704215" y="4600575"/>
            <a:ext cx="6182360" cy="835660"/>
          </a:xfrm>
          <a:prstGeom prst="roundRect">
            <a:avLst>
              <a:gd name="adj" fmla="val 8140"/>
            </a:avLst>
          </a:prstGeom>
          <a:solidFill>
            <a:srgbClr val="F4F8FA"/>
          </a:solidFill>
          <a:ln w="9525">
            <a:solidFill>
              <a:srgbClr val="D7E5E9"/>
            </a:solidFill>
            <a:prstDash val="solid"/>
          </a:ln>
        </p:spPr>
      </p:sp>
      <p:sp>
        <p:nvSpPr>
          <p:cNvPr id="13" name="01 研究背景"/>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27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01 研究背景</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14" name="图片 2"/>
          <p:cNvPicPr>
            <a:picLocks noChangeAspect="1"/>
          </p:cNvPicPr>
          <p:nvPr/>
        </p:nvPicPr>
        <p:blipFill>
          <a:blip r:embed="rId1"/>
          <a:stretch>
            <a:fillRect/>
          </a:stretch>
        </p:blipFill>
        <p:spPr>
          <a:xfrm>
            <a:off x="10001250" y="209782"/>
            <a:ext cx="1714500" cy="494835"/>
          </a:xfrm>
          <a:prstGeom prst="rect">
            <a:avLst/>
          </a:prstGeom>
        </p:spPr>
      </p:pic>
      <p:sp>
        <p:nvSpPr>
          <p:cNvPr id="15" name="工业控制系统：传感器、控制器与执行器协同运行"/>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工业控制系统组成</a:t>
            </a:r>
            <a:r>
              <a:rPr sz="2250" b="1">
                <a:solidFill>
                  <a:srgbClr val="007E78"/>
                </a:solidFill>
                <a:latin typeface="黑体" panose="02010609060101010101" charset="-122"/>
                <a:ea typeface="黑体" panose="02010609060101010101" charset="-122"/>
                <a:cs typeface="PingFang SC" panose="020B0400000000000000" charset="-122"/>
              </a:rPr>
              <a:t>：传感器、控制器与执行器协同运行</a:t>
            </a:r>
            <a:endParaRPr sz="2250" b="1">
              <a:solidFill>
                <a:srgbClr val="007E78"/>
              </a:solidFill>
              <a:latin typeface="黑体" panose="02010609060101010101" charset="-122"/>
              <a:ea typeface="黑体" panose="02010609060101010101" charset="-122"/>
              <a:cs typeface="PingFang SC" panose="020B0400000000000000" charset="-122"/>
            </a:endParaRPr>
          </a:p>
        </p:txBody>
      </p:sp>
      <p:pic>
        <p:nvPicPr>
          <p:cNvPr id="16" name="图片 5"/>
          <p:cNvPicPr>
            <a:picLocks noChangeAspect="1"/>
          </p:cNvPicPr>
          <p:nvPr/>
        </p:nvPicPr>
        <p:blipFill>
          <a:blip r:embed="rId2"/>
          <a:stretch>
            <a:fillRect/>
          </a:stretch>
        </p:blipFill>
        <p:spPr>
          <a:xfrm>
            <a:off x="695325" y="2533650"/>
            <a:ext cx="6191250" cy="1743075"/>
          </a:xfrm>
          <a:prstGeom prst="rect">
            <a:avLst/>
          </a:prstGeom>
        </p:spPr>
      </p:pic>
      <p:sp>
        <p:nvSpPr>
          <p:cNvPr id="17" name="SWaT水箱子系统（论文图1）"/>
          <p:cNvSpPr>
            <a:spLocks noGrp="1"/>
          </p:cNvSpPr>
          <p:nvPr/>
        </p:nvSpPr>
        <p:spPr>
          <a:xfrm>
            <a:off x="685800" y="1790700"/>
            <a:ext cx="6191250" cy="381000"/>
          </a:xfrm>
          <a:prstGeom prst="rect">
            <a:avLst/>
          </a:prstGeom>
          <a:noFill/>
          <a:ln w="0">
            <a:noFill/>
          </a:ln>
        </p:spPr>
        <p:txBody>
          <a:bodyPr wrap="square" lIns="0" tIns="0" rIns="0" bIns="0" anchor="t">
            <a:noAutofit/>
          </a:bodyPr>
          <a:lstStyle>
            <a:defPPr algn="l">
              <a:defRPr sz="21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2100" b="1">
                <a:solidFill>
                  <a:srgbClr val="173B6C"/>
                </a:solidFill>
                <a:latin typeface="PingFang SC" panose="020B0400000000000000" charset="-122"/>
                <a:ea typeface="PingFang SC" panose="020B0400000000000000" charset="-122"/>
                <a:cs typeface="PingFang SC" panose="020B0400000000000000" charset="-122"/>
              </a:defRPr>
            </a:pPr>
            <a:r>
              <a:rPr sz="2100" b="1">
                <a:solidFill>
                  <a:srgbClr val="173B6C"/>
                </a:solidFill>
                <a:latin typeface="黑体" panose="02010609060101010101" charset="-122"/>
                <a:ea typeface="黑体" panose="02010609060101010101" charset="-122"/>
                <a:cs typeface="黑体" panose="02010609060101010101" charset="-122"/>
              </a:rPr>
              <a:t>SWaT水箱子系统</a:t>
            </a:r>
            <a:endParaRPr sz="1650" b="0">
              <a:solidFill>
                <a:srgbClr val="57697B"/>
              </a:solidFill>
              <a:latin typeface="黑体" panose="02010609060101010101" charset="-122"/>
              <a:ea typeface="黑体" panose="02010609060101010101" charset="-122"/>
              <a:cs typeface="黑体" panose="02010609060101010101" charset="-122"/>
            </a:endParaRPr>
          </a:p>
        </p:txBody>
      </p:sp>
      <p:sp>
        <p:nvSpPr>
          <p:cNvPr id="18" name="传感器：感知状态"/>
          <p:cNvSpPr>
            <a:spLocks noGrp="1"/>
          </p:cNvSpPr>
          <p:nvPr/>
        </p:nvSpPr>
        <p:spPr>
          <a:xfrm>
            <a:off x="8096250" y="1762125"/>
            <a:ext cx="3381375" cy="361950"/>
          </a:xfrm>
          <a:prstGeom prst="rect">
            <a:avLst/>
          </a:prstGeom>
          <a:noFill/>
          <a:ln w="0">
            <a:noFill/>
          </a:ln>
        </p:spPr>
        <p:txBody>
          <a:bodyPr wrap="square" lIns="0" tIns="0" rIns="0" bIns="0" anchor="t">
            <a:noAutofit/>
          </a:bodyPr>
          <a:lstStyle>
            <a:defPPr algn="l">
              <a:defRPr sz="180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1800" b="1">
                <a:solidFill>
                  <a:srgbClr val="007E78"/>
                </a:solidFill>
                <a:latin typeface="PingFang SC" panose="020B0400000000000000" charset="-122"/>
                <a:ea typeface="PingFang SC" panose="020B0400000000000000" charset="-122"/>
                <a:cs typeface="PingFang SC" panose="020B0400000000000000" charset="-122"/>
              </a:defRPr>
            </a:pPr>
            <a:r>
              <a:rPr sz="1800" b="1">
                <a:solidFill>
                  <a:srgbClr val="007E78"/>
                </a:solidFill>
                <a:latin typeface="黑体" panose="02010609060101010101" charset="-122"/>
                <a:ea typeface="黑体" panose="02010609060101010101" charset="-122"/>
                <a:cs typeface="PingFang SC" panose="020B0400000000000000" charset="-122"/>
              </a:rPr>
              <a:t>传感器：感知状态</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19" name="测量进出水流量及水位。"/>
          <p:cNvSpPr>
            <a:spLocks noGrp="1"/>
          </p:cNvSpPr>
          <p:nvPr/>
        </p:nvSpPr>
        <p:spPr>
          <a:xfrm>
            <a:off x="8096250" y="2200275"/>
            <a:ext cx="3381375" cy="752475"/>
          </a:xfrm>
          <a:prstGeom prst="rect">
            <a:avLst/>
          </a:prstGeom>
          <a:noFill/>
          <a:ln w="0">
            <a:noFill/>
          </a:ln>
        </p:spPr>
        <p:txBody>
          <a:bodyPr wrap="square" lIns="0" tIns="0" rIns="0" bIns="0" anchor="t">
            <a:noAutofit/>
          </a:bodyPr>
          <a:lstStyle>
            <a:defPPr algn="l">
              <a:defRPr sz="165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650" b="0">
                <a:solidFill>
                  <a:srgbClr val="203040"/>
                </a:solidFill>
                <a:latin typeface="PingFang SC" panose="020B0400000000000000" charset="-122"/>
                <a:ea typeface="PingFang SC" panose="020B0400000000000000" charset="-122"/>
                <a:cs typeface="PingFang SC" panose="020B0400000000000000" charset="-122"/>
              </a:defRPr>
            </a:pPr>
            <a:r>
              <a:rPr sz="1650" b="0">
                <a:solidFill>
                  <a:srgbClr val="203040"/>
                </a:solidFill>
                <a:latin typeface="宋体" panose="02010600030101010101" pitchFamily="2" charset="-122"/>
                <a:ea typeface="宋体" panose="02010600030101010101" pitchFamily="2" charset="-122"/>
                <a:cs typeface="PingFang SC" panose="020B0400000000000000" charset="-122"/>
              </a:rPr>
              <a:t>测量进出水流量及水位</a:t>
            </a:r>
            <a:r>
              <a:rPr sz="1650" b="0">
                <a:solidFill>
                  <a:srgbClr val="203040"/>
                </a:solidFill>
                <a:latin typeface="PingFang SC" panose="020B0400000000000000" charset="-122"/>
                <a:ea typeface="PingFang SC" panose="020B0400000000000000" charset="-122"/>
                <a:cs typeface="PingFang SC" panose="020B0400000000000000" charset="-122"/>
              </a:rPr>
              <a:t>。</a:t>
            </a:r>
            <a:endParaRPr sz="1875" b="0">
              <a:solidFill>
                <a:srgbClr val="203040"/>
              </a:solidFill>
              <a:latin typeface="PingFang SC" panose="020B0400000000000000" charset="-122"/>
              <a:ea typeface="PingFang SC" panose="020B0400000000000000" charset="-122"/>
              <a:cs typeface="PingFang SC" panose="020B0400000000000000" charset="-122"/>
            </a:endParaRPr>
          </a:p>
        </p:txBody>
      </p:sp>
      <p:sp>
        <p:nvSpPr>
          <p:cNvPr id="20" name="PLC：执行控制逻辑"/>
          <p:cNvSpPr>
            <a:spLocks noGrp="1"/>
          </p:cNvSpPr>
          <p:nvPr/>
        </p:nvSpPr>
        <p:spPr>
          <a:xfrm>
            <a:off x="8096250" y="3086100"/>
            <a:ext cx="3381375" cy="361950"/>
          </a:xfrm>
          <a:prstGeom prst="rect">
            <a:avLst/>
          </a:prstGeom>
          <a:noFill/>
          <a:ln w="0">
            <a:noFill/>
          </a:ln>
        </p:spPr>
        <p:txBody>
          <a:bodyPr wrap="square" lIns="0" tIns="0" rIns="0" bIns="0" anchor="t">
            <a:noAutofit/>
          </a:bodyPr>
          <a:lstStyle>
            <a:defPPr algn="l">
              <a:defRPr sz="18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00" b="1">
                <a:solidFill>
                  <a:srgbClr val="007E78"/>
                </a:solidFill>
                <a:latin typeface="PingFang SC" panose="020B0400000000000000" charset="-122"/>
                <a:ea typeface="PingFang SC" panose="020B0400000000000000" charset="-122"/>
                <a:cs typeface="PingFang SC" panose="020B0400000000000000" charset="-122"/>
              </a:defRPr>
            </a:pPr>
            <a:r>
              <a:rPr sz="1800" b="1">
                <a:solidFill>
                  <a:srgbClr val="007E78"/>
                </a:solidFill>
                <a:latin typeface="黑体" panose="02010609060101010101" charset="-122"/>
                <a:ea typeface="黑体" panose="02010609060101010101" charset="-122"/>
                <a:cs typeface="黑体" panose="02010609060101010101" charset="-122"/>
              </a:rPr>
              <a:t>PLC：执行控制逻辑</a:t>
            </a:r>
            <a:endParaRPr sz="1800" b="1">
              <a:solidFill>
                <a:srgbClr val="007E78"/>
              </a:solidFill>
              <a:latin typeface="黑体" panose="02010609060101010101" charset="-122"/>
              <a:ea typeface="黑体" panose="02010609060101010101" charset="-122"/>
              <a:cs typeface="黑体" panose="02010609060101010101" charset="-122"/>
            </a:endParaRPr>
          </a:p>
        </p:txBody>
      </p:sp>
      <p:sp>
        <p:nvSpPr>
          <p:cNvPr id="21" name="根据测量值与控制目标，决定阀门和水泵的开关。"/>
          <p:cNvSpPr>
            <a:spLocks noGrp="1"/>
          </p:cNvSpPr>
          <p:nvPr/>
        </p:nvSpPr>
        <p:spPr>
          <a:xfrm>
            <a:off x="8096250" y="3524250"/>
            <a:ext cx="3381375" cy="752475"/>
          </a:xfrm>
          <a:prstGeom prst="rect">
            <a:avLst/>
          </a:prstGeom>
          <a:noFill/>
          <a:ln w="0">
            <a:noFill/>
          </a:ln>
        </p:spPr>
        <p:txBody>
          <a:bodyPr wrap="square" lIns="0" tIns="0" rIns="0" bIns="0" anchor="t">
            <a:noAutofit/>
          </a:bodyPr>
          <a:lstStyle>
            <a:defPPr algn="l">
              <a:defRPr sz="165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650" b="0">
                <a:solidFill>
                  <a:srgbClr val="203040"/>
                </a:solidFill>
                <a:latin typeface="PingFang SC" panose="020B0400000000000000" charset="-122"/>
                <a:ea typeface="PingFang SC" panose="020B0400000000000000" charset="-122"/>
                <a:cs typeface="PingFang SC" panose="020B0400000000000000" charset="-122"/>
              </a:defRPr>
            </a:pPr>
            <a:r>
              <a:rPr sz="1650" b="0">
                <a:solidFill>
                  <a:srgbClr val="203040"/>
                </a:solidFill>
                <a:latin typeface="宋体" panose="02010600030101010101" pitchFamily="2" charset="-122"/>
                <a:ea typeface="宋体" panose="02010600030101010101" pitchFamily="2" charset="-122"/>
                <a:cs typeface="PingFang SC" panose="020B0400000000000000" charset="-122"/>
              </a:rPr>
              <a:t>根据测量值与控制目标，决定阀门和水泵的开关。</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22" name="执行器：改变物理过程"/>
          <p:cNvSpPr>
            <a:spLocks noGrp="1"/>
          </p:cNvSpPr>
          <p:nvPr/>
        </p:nvSpPr>
        <p:spPr>
          <a:xfrm>
            <a:off x="8096250" y="4410075"/>
            <a:ext cx="3381375" cy="361950"/>
          </a:xfrm>
          <a:prstGeom prst="rect">
            <a:avLst/>
          </a:prstGeom>
          <a:noFill/>
          <a:ln w="0">
            <a:noFill/>
          </a:ln>
        </p:spPr>
        <p:txBody>
          <a:bodyPr wrap="square" lIns="0" tIns="0" rIns="0" bIns="0" anchor="t">
            <a:noAutofit/>
          </a:bodyPr>
          <a:lstStyle>
            <a:defPPr algn="l">
              <a:defRPr sz="18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00" b="1">
                <a:solidFill>
                  <a:srgbClr val="007E78"/>
                </a:solidFill>
                <a:latin typeface="PingFang SC" panose="020B0400000000000000" charset="-122"/>
                <a:ea typeface="PingFang SC" panose="020B0400000000000000" charset="-122"/>
                <a:cs typeface="PingFang SC" panose="020B0400000000000000" charset="-122"/>
              </a:defRPr>
            </a:pPr>
            <a:r>
              <a:rPr sz="1800" b="1">
                <a:solidFill>
                  <a:srgbClr val="007E78"/>
                </a:solidFill>
                <a:latin typeface="黑体" panose="02010609060101010101" charset="-122"/>
                <a:ea typeface="黑体" panose="02010609060101010101" charset="-122"/>
                <a:cs typeface="PingFang SC" panose="020B0400000000000000" charset="-122"/>
              </a:rPr>
              <a:t>执行器：改变物理过程</a:t>
            </a:r>
            <a:endParaRPr sz="1800" b="1">
              <a:solidFill>
                <a:srgbClr val="007E78"/>
              </a:solidFill>
              <a:latin typeface="黑体" panose="02010609060101010101" charset="-122"/>
              <a:ea typeface="黑体" panose="02010609060101010101" charset="-122"/>
              <a:cs typeface="PingFang SC" panose="020B0400000000000000" charset="-122"/>
            </a:endParaRPr>
          </a:p>
        </p:txBody>
      </p:sp>
      <p:sp>
        <p:nvSpPr>
          <p:cNvPr id="23" name="阀门控制进水，水泵输送出水，维持供水并防止溢出。"/>
          <p:cNvSpPr>
            <a:spLocks noGrp="1"/>
          </p:cNvSpPr>
          <p:nvPr/>
        </p:nvSpPr>
        <p:spPr>
          <a:xfrm>
            <a:off x="8096250" y="4848225"/>
            <a:ext cx="3381375" cy="752475"/>
          </a:xfrm>
          <a:prstGeom prst="rect">
            <a:avLst/>
          </a:prstGeom>
          <a:noFill/>
          <a:ln w="0">
            <a:noFill/>
          </a:ln>
        </p:spPr>
        <p:txBody>
          <a:bodyPr wrap="square" lIns="0" tIns="0" rIns="0" bIns="0" anchor="t">
            <a:noAutofit/>
          </a:bodyPr>
          <a:lstStyle>
            <a:defPPr algn="l">
              <a:defRPr sz="1650" b="0">
                <a:solidFill>
                  <a:srgbClr val="20304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650" b="0">
                <a:solidFill>
                  <a:srgbClr val="203040"/>
                </a:solidFill>
                <a:latin typeface="PingFang SC" panose="020B0400000000000000" charset="-122"/>
                <a:ea typeface="PingFang SC" panose="020B0400000000000000" charset="-122"/>
                <a:cs typeface="PingFang SC" panose="020B0400000000000000" charset="-122"/>
              </a:defRPr>
            </a:pPr>
            <a:r>
              <a:rPr sz="1650" b="0">
                <a:solidFill>
                  <a:srgbClr val="203040"/>
                </a:solidFill>
                <a:latin typeface="宋体" panose="02010600030101010101" pitchFamily="2" charset="-122"/>
                <a:ea typeface="宋体" panose="02010600030101010101" pitchFamily="2" charset="-122"/>
                <a:cs typeface="PingFang SC" panose="020B0400000000000000" charset="-122"/>
              </a:rPr>
              <a:t>阀门控制进水，水泵输送出水，维持供水并防止溢出。</a:t>
            </a:r>
            <a:endParaRPr sz="1650"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24" name="FIT101 / FIT201：进出水流量&#10;LIT101：液位；MV1"/>
          <p:cNvSpPr>
            <a:spLocks noGrp="1"/>
          </p:cNvSpPr>
          <p:nvPr/>
        </p:nvSpPr>
        <p:spPr>
          <a:xfrm>
            <a:off x="824865" y="4678045"/>
            <a:ext cx="6205855" cy="722630"/>
          </a:xfrm>
          <a:prstGeom prst="rect">
            <a:avLst/>
          </a:prstGeom>
          <a:noFill/>
          <a:ln w="0">
            <a:noFill/>
          </a:ln>
        </p:spPr>
        <p:txBody>
          <a:bodyPr wrap="square" lIns="0" tIns="0" rIns="0" bIns="0" anchor="t">
            <a:noAutofit/>
          </a:bodyPr>
          <a:lstStyle>
            <a:defPPr algn="l">
              <a:defRPr sz="172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00"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宋体" panose="02010600030101010101" pitchFamily="2" charset="-122"/>
              </a:rPr>
              <a:t>FIT101 / FIT201：进出水流量</a:t>
            </a:r>
            <a:endParaRPr sz="1800"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00"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宋体" panose="02010600030101010101" pitchFamily="2" charset="-122"/>
              </a:rPr>
              <a:t>LIT101：液位；MV101、P101 / P102：阀门与泵</a:t>
            </a:r>
            <a:endParaRPr sz="1800"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25" name="工业系统中的读数和控制动作相互关联，共同决定真实物理过程的变化"/>
          <p:cNvSpPr>
            <a:spLocks noGrp="1"/>
          </p:cNvSpPr>
          <p:nvPr/>
        </p:nvSpPr>
        <p:spPr>
          <a:xfrm>
            <a:off x="695325" y="5905500"/>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工业系统中的读数和控制动作相互关联，共同决定真实物理过程的变化</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28" name="refine:front"/>
          <p:cNvSpPr>
            <a:spLocks noGrp="1"/>
          </p:cNvSpPr>
          <p:nvPr/>
        </p:nvSpPr>
        <p:spPr>
          <a:xfrm>
            <a:off x="695325" y="2266950"/>
            <a:ext cx="6191250" cy="9525"/>
          </a:xfrm>
          <a:prstGeom prst="rect">
            <a:avLst/>
          </a:prstGeom>
          <a:solidFill>
            <a:srgbClr val="D7E5E9"/>
          </a:solidFill>
          <a:ln w="0">
            <a:noFill/>
            <a:prstDash val="solid"/>
          </a:ln>
        </p:spPr>
      </p:sp>
      <p:sp>
        <p:nvSpPr>
          <p:cNvPr id="29" name="refine:front"/>
          <p:cNvSpPr>
            <a:spLocks noGrp="1"/>
          </p:cNvSpPr>
          <p:nvPr/>
        </p:nvSpPr>
        <p:spPr>
          <a:xfrm>
            <a:off x="476250" y="1809750"/>
            <a:ext cx="38100" cy="342900"/>
          </a:xfrm>
          <a:prstGeom prst="rect">
            <a:avLst/>
          </a:prstGeom>
          <a:solidFill>
            <a:srgbClr val="007E78"/>
          </a:solidFill>
          <a:ln w="0">
            <a:noFill/>
            <a:prstDash val="solid"/>
          </a:ln>
        </p:spPr>
      </p:sp>
      <p:sp>
        <p:nvSpPr>
          <p:cNvPr id="30" name="refine:front"/>
          <p:cNvSpPr>
            <a:spLocks noGrp="1"/>
          </p:cNvSpPr>
          <p:nvPr/>
        </p:nvSpPr>
        <p:spPr>
          <a:xfrm>
            <a:off x="7562850" y="1790700"/>
            <a:ext cx="381000" cy="381000"/>
          </a:xfrm>
          <a:prstGeom prst="roundRect">
            <a:avLst>
              <a:gd name="adj" fmla="val 50000"/>
            </a:avLst>
          </a:prstGeom>
          <a:solidFill>
            <a:srgbClr val="EAF5F6"/>
          </a:solidFill>
          <a:ln w="9525">
            <a:solidFill>
              <a:srgbClr val="C6DFE3"/>
            </a:solidFill>
            <a:prstDash val="solid"/>
          </a:ln>
        </p:spPr>
        <p:txBody>
          <a:bodyPr lIns="0" tIns="0" rIns="0" bIns="0" anchor="ctr"/>
          <a:lstStyle>
            <a:defPPr algn="ctr">
              <a:defRPr sz="1500" b="1">
                <a:solidFill>
                  <a:srgbClr val="007E78"/>
                </a:solidFill>
                <a:latin typeface="PingFang SC" panose="020B0400000000000000" charset="-122"/>
                <a:ea typeface="PingFang SC" panose="020B0400000000000000" charset="-122"/>
                <a:cs typeface="PingFang SC" panose="020B0400000000000000" charset="-122"/>
              </a:defRPr>
            </a:defPPr>
          </a:lstStyle>
          <a:p>
            <a:pPr algn="ctr">
              <a:buNone/>
              <a:defRPr sz="1500" b="1">
                <a:solidFill>
                  <a:srgbClr val="007E78"/>
                </a:solidFill>
                <a:latin typeface="PingFang SC" panose="020B0400000000000000" charset="-122"/>
                <a:ea typeface="PingFang SC" panose="020B0400000000000000" charset="-122"/>
                <a:cs typeface="PingFang SC" panose="020B0400000000000000" charset="-122"/>
              </a:defRPr>
            </a:pPr>
            <a:r>
              <a:rPr sz="1500" b="1">
                <a:solidFill>
                  <a:srgbClr val="007E78"/>
                </a:solidFill>
                <a:latin typeface="黑体" panose="02010609060101010101" charset="-122"/>
                <a:ea typeface="黑体" panose="02010609060101010101" charset="-122"/>
                <a:cs typeface="PingFang SC" panose="020B0400000000000000" charset="-122"/>
              </a:rPr>
              <a:t>01</a:t>
            </a:r>
            <a:endParaRPr sz="1500" b="1">
              <a:solidFill>
                <a:srgbClr val="007E78"/>
              </a:solidFill>
              <a:latin typeface="黑体" panose="02010609060101010101" charset="-122"/>
              <a:ea typeface="黑体" panose="02010609060101010101" charset="-122"/>
              <a:cs typeface="PingFang SC" panose="020B0400000000000000" charset="-122"/>
            </a:endParaRPr>
          </a:p>
        </p:txBody>
      </p:sp>
      <p:sp>
        <p:nvSpPr>
          <p:cNvPr id="31" name="refine:front"/>
          <p:cNvSpPr>
            <a:spLocks noGrp="1"/>
          </p:cNvSpPr>
          <p:nvPr/>
        </p:nvSpPr>
        <p:spPr>
          <a:xfrm>
            <a:off x="8096250" y="2143125"/>
            <a:ext cx="3352800" cy="9525"/>
          </a:xfrm>
          <a:prstGeom prst="rect">
            <a:avLst/>
          </a:prstGeom>
          <a:solidFill>
            <a:srgbClr val="D7E5E9"/>
          </a:solidFill>
          <a:ln w="0">
            <a:noFill/>
            <a:prstDash val="solid"/>
          </a:ln>
        </p:spPr>
      </p:sp>
      <p:sp>
        <p:nvSpPr>
          <p:cNvPr id="32" name="refine:front"/>
          <p:cNvSpPr>
            <a:spLocks noGrp="1"/>
          </p:cNvSpPr>
          <p:nvPr/>
        </p:nvSpPr>
        <p:spPr>
          <a:xfrm>
            <a:off x="7562850" y="3114675"/>
            <a:ext cx="381000" cy="381000"/>
          </a:xfrm>
          <a:prstGeom prst="roundRect">
            <a:avLst>
              <a:gd name="adj" fmla="val 50000"/>
            </a:avLst>
          </a:prstGeom>
          <a:solidFill>
            <a:srgbClr val="EAF5F6"/>
          </a:solidFill>
          <a:ln w="9525">
            <a:solidFill>
              <a:srgbClr val="C6DFE3"/>
            </a:solidFill>
            <a:prstDash val="solid"/>
          </a:ln>
        </p:spPr>
        <p:txBody>
          <a:bodyPr lIns="0" tIns="0" rIns="0" bIns="0" anchor="ctr"/>
          <a:lstStyle>
            <a:defPPr algn="ctr">
              <a:defRPr sz="1500" b="1">
                <a:solidFill>
                  <a:srgbClr val="007E78"/>
                </a:solidFill>
                <a:latin typeface="PingFang SC" panose="020B0400000000000000" charset="-122"/>
                <a:ea typeface="PingFang SC" panose="020B0400000000000000" charset="-122"/>
                <a:cs typeface="PingFang SC" panose="020B0400000000000000" charset="-122"/>
              </a:defRPr>
            </a:defPPr>
          </a:lstStyle>
          <a:p>
            <a:pPr algn="ctr">
              <a:buNone/>
              <a:defRPr sz="1500" b="1">
                <a:solidFill>
                  <a:srgbClr val="007E78"/>
                </a:solidFill>
                <a:latin typeface="PingFang SC" panose="020B0400000000000000" charset="-122"/>
                <a:ea typeface="PingFang SC" panose="020B0400000000000000" charset="-122"/>
                <a:cs typeface="PingFang SC" panose="020B0400000000000000" charset="-122"/>
              </a:defRPr>
            </a:pPr>
            <a:r>
              <a:rPr sz="1500" b="1">
                <a:solidFill>
                  <a:srgbClr val="007E78"/>
                </a:solidFill>
                <a:latin typeface="黑体" panose="02010609060101010101" charset="-122"/>
                <a:ea typeface="黑体" panose="02010609060101010101" charset="-122"/>
                <a:cs typeface="PingFang SC" panose="020B0400000000000000" charset="-122"/>
              </a:rPr>
              <a:t>02</a:t>
            </a:r>
            <a:endParaRPr sz="1500" b="1">
              <a:solidFill>
                <a:srgbClr val="007E78"/>
              </a:solidFill>
              <a:latin typeface="黑体" panose="02010609060101010101" charset="-122"/>
              <a:ea typeface="黑体" panose="02010609060101010101" charset="-122"/>
              <a:cs typeface="PingFang SC" panose="020B0400000000000000" charset="-122"/>
            </a:endParaRPr>
          </a:p>
        </p:txBody>
      </p:sp>
      <p:sp>
        <p:nvSpPr>
          <p:cNvPr id="33" name="refine:front"/>
          <p:cNvSpPr>
            <a:spLocks noGrp="1"/>
          </p:cNvSpPr>
          <p:nvPr/>
        </p:nvSpPr>
        <p:spPr>
          <a:xfrm>
            <a:off x="8096250" y="3467100"/>
            <a:ext cx="3352800" cy="9525"/>
          </a:xfrm>
          <a:prstGeom prst="rect">
            <a:avLst/>
          </a:prstGeom>
          <a:solidFill>
            <a:srgbClr val="D7E5E9"/>
          </a:solidFill>
          <a:ln w="0">
            <a:noFill/>
            <a:prstDash val="solid"/>
          </a:ln>
        </p:spPr>
      </p:sp>
      <p:sp>
        <p:nvSpPr>
          <p:cNvPr id="34" name="refine:front"/>
          <p:cNvSpPr>
            <a:spLocks noGrp="1"/>
          </p:cNvSpPr>
          <p:nvPr/>
        </p:nvSpPr>
        <p:spPr>
          <a:xfrm>
            <a:off x="7562850" y="4438650"/>
            <a:ext cx="381000" cy="381000"/>
          </a:xfrm>
          <a:prstGeom prst="roundRect">
            <a:avLst>
              <a:gd name="adj" fmla="val 50000"/>
            </a:avLst>
          </a:prstGeom>
          <a:solidFill>
            <a:srgbClr val="EAF5F6"/>
          </a:solidFill>
          <a:ln w="9525">
            <a:solidFill>
              <a:srgbClr val="C6DFE3"/>
            </a:solidFill>
            <a:prstDash val="solid"/>
          </a:ln>
        </p:spPr>
        <p:txBody>
          <a:bodyPr lIns="0" tIns="0" rIns="0" bIns="0" anchor="ctr"/>
          <a:lstStyle>
            <a:defPPr algn="ctr">
              <a:defRPr sz="1500" b="1">
                <a:solidFill>
                  <a:srgbClr val="007E78"/>
                </a:solidFill>
                <a:latin typeface="PingFang SC" panose="020B0400000000000000" charset="-122"/>
                <a:ea typeface="PingFang SC" panose="020B0400000000000000" charset="-122"/>
                <a:cs typeface="PingFang SC" panose="020B0400000000000000" charset="-122"/>
              </a:defRPr>
            </a:defPPr>
          </a:lstStyle>
          <a:p>
            <a:pPr algn="ctr">
              <a:buNone/>
              <a:defRPr sz="1500" b="1">
                <a:solidFill>
                  <a:srgbClr val="007E78"/>
                </a:solidFill>
                <a:latin typeface="PingFang SC" panose="020B0400000000000000" charset="-122"/>
                <a:ea typeface="PingFang SC" panose="020B0400000000000000" charset="-122"/>
                <a:cs typeface="PingFang SC" panose="020B0400000000000000" charset="-122"/>
              </a:defRPr>
            </a:pPr>
            <a:r>
              <a:rPr sz="1500" b="1">
                <a:solidFill>
                  <a:srgbClr val="007E78"/>
                </a:solidFill>
                <a:latin typeface="黑体" panose="02010609060101010101" charset="-122"/>
                <a:ea typeface="黑体" panose="02010609060101010101" charset="-122"/>
                <a:cs typeface="PingFang SC" panose="020B0400000000000000" charset="-122"/>
              </a:rPr>
              <a:t>03</a:t>
            </a:r>
            <a:endParaRPr sz="1500" b="1">
              <a:solidFill>
                <a:srgbClr val="007E78"/>
              </a:solidFill>
              <a:latin typeface="黑体" panose="02010609060101010101" charset="-122"/>
              <a:ea typeface="黑体" panose="02010609060101010101" charset="-122"/>
              <a:cs typeface="PingFang SC" panose="020B0400000000000000" charset="-122"/>
            </a:endParaRPr>
          </a:p>
        </p:txBody>
      </p:sp>
      <p:sp>
        <p:nvSpPr>
          <p:cNvPr id="35" name="refine:front"/>
          <p:cNvSpPr>
            <a:spLocks noGrp="1"/>
          </p:cNvSpPr>
          <p:nvPr/>
        </p:nvSpPr>
        <p:spPr>
          <a:xfrm>
            <a:off x="8096250" y="4791075"/>
            <a:ext cx="3352800" cy="9525"/>
          </a:xfrm>
          <a:prstGeom prst="rect">
            <a:avLst/>
          </a:prstGeom>
          <a:solidFill>
            <a:srgbClr val="D7E5E9"/>
          </a:solidFill>
          <a:ln w="0">
            <a:noFill/>
            <a:prstDash val="solid"/>
          </a:ln>
        </p:spPr>
      </p:sp>
      <p:sp>
        <p:nvSpPr>
          <p:cNvPr id="36"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04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001250" y="209782"/>
            <a:ext cx="1714500" cy="494835"/>
          </a:xfrm>
          <a:prstGeom prst="rect">
            <a:avLst/>
          </a:prstGeom>
        </p:spPr>
      </p:pic>
      <p:pic>
        <p:nvPicPr>
          <p:cNvPr id="12" name="图片 11"/>
          <p:cNvPicPr>
            <a:picLocks noChangeAspect="1"/>
          </p:cNvPicPr>
          <p:nvPr/>
        </p:nvPicPr>
        <p:blipFill>
          <a:blip r:embed="rId2"/>
          <a:stretch>
            <a:fillRect/>
          </a:stretch>
        </p:blipFill>
        <p:spPr>
          <a:xfrm>
            <a:off x="6191250" y="2724150"/>
            <a:ext cx="5334000" cy="1590675"/>
          </a:xfrm>
          <a:prstGeom prst="rect">
            <a:avLst/>
          </a:prstGeom>
        </p:spPr>
      </p:pic>
      <p:sp>
        <p:nvSpPr>
          <p:cNvPr id="13" name="frame-53"/>
          <p:cNvSpPr>
            <a:spLocks noGrp="1"/>
          </p:cNvSpPr>
          <p:nvPr/>
        </p:nvSpPr>
        <p:spPr>
          <a:xfrm>
            <a:off x="457200" y="228600"/>
            <a:ext cx="66675" cy="438150"/>
          </a:xfrm>
          <a:prstGeom prst="rect">
            <a:avLst/>
          </a:prstGeom>
          <a:solidFill>
            <a:srgbClr val="00AFA8"/>
          </a:solidFill>
          <a:ln w="0">
            <a:noFill/>
            <a:prstDash val="solid"/>
          </a:ln>
        </p:spPr>
      </p:sp>
      <p:sp>
        <p:nvSpPr>
          <p:cNvPr id="14" name="text-54"/>
          <p:cNvSpPr>
            <a:spLocks noGrp="1"/>
          </p:cNvSpPr>
          <p:nvPr/>
        </p:nvSpPr>
        <p:spPr>
          <a:xfrm>
            <a:off x="666750" y="228600"/>
            <a:ext cx="8715375" cy="457200"/>
          </a:xfrm>
          <a:prstGeom prst="rect">
            <a:avLst/>
          </a:prstGeom>
          <a:noFill/>
          <a:ln w="0">
            <a:noFill/>
            <a:prstDash val="solid"/>
          </a:ln>
        </p:spPr>
        <p:txBody>
          <a:bodyPr lIns="0" tIns="0" rIns="0" bIns="0" anchor="ctr">
            <a:noAutofit/>
          </a:bodyPr>
          <a:lstStyle>
            <a:defPPr>
              <a:defRPr sz="255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01 研究背景</a:t>
            </a:r>
            <a:endParaRPr sz="3000" b="1">
              <a:solidFill>
                <a:srgbClr val="173B6C"/>
              </a:solidFill>
              <a:latin typeface="黑体" panose="02010609060101010101" charset="-122"/>
              <a:ea typeface="黑体" panose="02010609060101010101" charset="-122"/>
              <a:cs typeface="黑体" panose="02010609060101010101" charset="-122"/>
            </a:endParaRPr>
          </a:p>
        </p:txBody>
      </p:sp>
      <p:sp>
        <p:nvSpPr>
          <p:cNvPr id="15" name="frame-55"/>
          <p:cNvSpPr>
            <a:spLocks noGrp="1"/>
          </p:cNvSpPr>
          <p:nvPr/>
        </p:nvSpPr>
        <p:spPr>
          <a:xfrm>
            <a:off x="476250" y="800100"/>
            <a:ext cx="11239500" cy="11430"/>
          </a:xfrm>
          <a:prstGeom prst="rect">
            <a:avLst/>
          </a:prstGeom>
          <a:solidFill>
            <a:srgbClr val="173B6C"/>
          </a:solidFill>
          <a:ln w="0">
            <a:noFill/>
            <a:prstDash val="solid"/>
          </a:ln>
        </p:spPr>
      </p:sp>
      <p:sp>
        <p:nvSpPr>
          <p:cNvPr id="16" name="text-56"/>
          <p:cNvSpPr>
            <a:spLocks noGrp="1"/>
          </p:cNvSpPr>
          <p:nvPr/>
        </p:nvSpPr>
        <p:spPr>
          <a:xfrm>
            <a:off x="476250" y="981075"/>
            <a:ext cx="11239500" cy="495300"/>
          </a:xfrm>
          <a:prstGeom prst="rect">
            <a:avLst/>
          </a:prstGeom>
          <a:noFill/>
          <a:ln w="0">
            <a:noFill/>
            <a:prstDash val="solid"/>
          </a:ln>
        </p:spPr>
        <p:txBody>
          <a:bodyPr lIns="0" tIns="0" rIns="0" bIns="0" anchor="ctr">
            <a:noAutofit/>
          </a:bodyPr>
          <a:lstStyle>
            <a:defPPr>
              <a:defRPr sz="23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a:latin typeface="黑体" panose="02010609060101010101" charset="-122"/>
                <a:ea typeface="黑体" panose="02010609060101010101" charset="-122"/>
                <a:cs typeface="黑体" panose="02010609060101010101" charset="-122"/>
              </a:rPr>
              <a:t>ICS安全风险：网络攻击可通过控制回路影响物理过程</a:t>
            </a:r>
            <a:endParaRPr sz="2250" b="1">
              <a:solidFill>
                <a:srgbClr val="007E78"/>
              </a:solidFill>
              <a:latin typeface="黑体" panose="02010609060101010101" charset="-122"/>
              <a:ea typeface="黑体" panose="02010609060101010101" charset="-122"/>
              <a:cs typeface="黑体" panose="02010609060101010101" charset="-122"/>
            </a:endParaRPr>
          </a:p>
        </p:txBody>
      </p:sp>
      <p:sp>
        <p:nvSpPr>
          <p:cNvPr id="17" name="frame-57"/>
          <p:cNvSpPr>
            <a:spLocks noGrp="1"/>
          </p:cNvSpPr>
          <p:nvPr/>
        </p:nvSpPr>
        <p:spPr>
          <a:xfrm>
            <a:off x="523875" y="1704975"/>
            <a:ext cx="5238750" cy="1314450"/>
          </a:xfrm>
          <a:prstGeom prst="roundRect">
            <a:avLst>
              <a:gd name="adj" fmla="val 8696"/>
            </a:avLst>
          </a:prstGeom>
          <a:solidFill>
            <a:srgbClr val="F7FAFB"/>
          </a:solidFill>
          <a:ln w="9525">
            <a:solidFill>
              <a:srgbClr val="CCDCE5"/>
            </a:solidFill>
            <a:prstDash val="solid"/>
          </a:ln>
        </p:spPr>
      </p:sp>
      <p:sp>
        <p:nvSpPr>
          <p:cNvPr id="18" name="frame-58"/>
          <p:cNvSpPr>
            <a:spLocks noGrp="1"/>
          </p:cNvSpPr>
          <p:nvPr/>
        </p:nvSpPr>
        <p:spPr>
          <a:xfrm>
            <a:off x="523875" y="1857375"/>
            <a:ext cx="47625" cy="285750"/>
          </a:xfrm>
          <a:prstGeom prst="rect">
            <a:avLst/>
          </a:prstGeom>
          <a:solidFill>
            <a:srgbClr val="007E78"/>
          </a:solidFill>
          <a:ln w="0">
            <a:noFill/>
            <a:prstDash val="solid"/>
          </a:ln>
        </p:spPr>
      </p:sp>
      <p:sp>
        <p:nvSpPr>
          <p:cNvPr id="19" name="text-59"/>
          <p:cNvSpPr>
            <a:spLocks noGrp="1"/>
          </p:cNvSpPr>
          <p:nvPr/>
        </p:nvSpPr>
        <p:spPr>
          <a:xfrm>
            <a:off x="676275" y="1771650"/>
            <a:ext cx="4933950" cy="361950"/>
          </a:xfrm>
          <a:prstGeom prst="rect">
            <a:avLst/>
          </a:prstGeom>
          <a:noFill/>
          <a:ln w="0">
            <a:noFill/>
            <a:prstDash val="solid"/>
          </a:ln>
        </p:spPr>
        <p:txBody>
          <a:bodyPr lIns="0" tIns="0" rIns="0" bIns="0" anchor="ctr">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01  篡改测量或控制信号</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20" name="text-60"/>
          <p:cNvSpPr>
            <a:spLocks noGrp="1"/>
          </p:cNvSpPr>
          <p:nvPr/>
        </p:nvSpPr>
        <p:spPr>
          <a:xfrm>
            <a:off x="676275" y="2209800"/>
            <a:ext cx="4933950" cy="762000"/>
          </a:xfrm>
          <a:prstGeom prst="rect">
            <a:avLst/>
          </a:prstGeom>
          <a:noFill/>
          <a:ln w="0">
            <a:noFill/>
            <a:prstDash val="solid"/>
          </a:ln>
        </p:spPr>
        <p:txBody>
          <a:bodyPr lIns="0" tIns="0" rIns="0" bIns="0" anchor="ctr">
            <a:noAutofit/>
          </a:bodyPr>
          <a:lstStyle>
            <a:defPPr>
              <a:defRPr sz="18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sz="1875" b="0">
                <a:solidFill>
                  <a:srgbClr val="263B50"/>
                </a:solidFill>
                <a:latin typeface="宋体" panose="02010600030101010101" pitchFamily="2" charset="-122"/>
                <a:ea typeface="宋体" panose="02010600030101010101" pitchFamily="2" charset="-122"/>
                <a:cs typeface="PingFang SC" panose="020B0400000000000000" charset="-122"/>
              </a:rPr>
              <a:t>攻击者伪造传感器读数</a:t>
            </a:r>
            <a:r>
              <a:rPr lang="zh-CN" sz="1875" b="0">
                <a:solidFill>
                  <a:srgbClr val="263B50"/>
                </a:solidFill>
                <a:latin typeface="宋体" panose="02010600030101010101" pitchFamily="2" charset="-122"/>
                <a:ea typeface="宋体" panose="02010600030101010101" pitchFamily="2" charset="-122"/>
                <a:cs typeface="PingFang SC" panose="020B0400000000000000" charset="-122"/>
              </a:rPr>
              <a:t>例如攻击者纂改液位读数</a:t>
            </a:r>
            <a:r>
              <a:rPr sz="1875" b="0">
                <a:solidFill>
                  <a:srgbClr val="263B50"/>
                </a:solidFill>
                <a:latin typeface="宋体" panose="02010600030101010101" pitchFamily="2" charset="-122"/>
                <a:ea typeface="宋体" panose="02010600030101010101" pitchFamily="2" charset="-122"/>
                <a:cs typeface="PingFang SC" panose="020B0400000000000000" charset="-122"/>
              </a:rPr>
              <a:t>，或干预阀门、水泵的执行信号</a:t>
            </a:r>
            <a:r>
              <a:rPr lang="zh-CN" sz="1875" b="0">
                <a:solidFill>
                  <a:srgbClr val="263B50"/>
                </a:solidFill>
                <a:latin typeface="宋体" panose="02010600030101010101" pitchFamily="2" charset="-122"/>
                <a:ea typeface="宋体" panose="02010600030101010101" pitchFamily="2" charset="-122"/>
                <a:cs typeface="PingFang SC" panose="020B0400000000000000" charset="-122"/>
              </a:rPr>
              <a:t>，使执行器偏离预期动作</a:t>
            </a:r>
            <a:r>
              <a:rPr sz="1875" b="0">
                <a:solidFill>
                  <a:srgbClr val="263B50"/>
                </a:solidFill>
                <a:latin typeface="宋体" panose="02010600030101010101" pitchFamily="2" charset="-122"/>
                <a:ea typeface="宋体" panose="02010600030101010101" pitchFamily="2" charset="-122"/>
                <a:cs typeface="PingFang SC" panose="020B0400000000000000" charset="-122"/>
              </a:rPr>
              <a:t>。</a:t>
            </a:r>
            <a:endParaRPr sz="18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21" name="frame-61"/>
          <p:cNvSpPr>
            <a:spLocks noGrp="1"/>
          </p:cNvSpPr>
          <p:nvPr/>
        </p:nvSpPr>
        <p:spPr>
          <a:xfrm>
            <a:off x="523875" y="3009900"/>
            <a:ext cx="5238750" cy="1314450"/>
          </a:xfrm>
          <a:prstGeom prst="roundRect">
            <a:avLst>
              <a:gd name="adj" fmla="val 8696"/>
            </a:avLst>
          </a:prstGeom>
          <a:solidFill>
            <a:srgbClr val="F7FAFB"/>
          </a:solidFill>
          <a:ln w="9525">
            <a:solidFill>
              <a:srgbClr val="CCDCE5"/>
            </a:solidFill>
            <a:prstDash val="solid"/>
          </a:ln>
        </p:spPr>
      </p:sp>
      <p:sp>
        <p:nvSpPr>
          <p:cNvPr id="22" name="frame-62"/>
          <p:cNvSpPr>
            <a:spLocks noGrp="1"/>
          </p:cNvSpPr>
          <p:nvPr/>
        </p:nvSpPr>
        <p:spPr>
          <a:xfrm>
            <a:off x="523875" y="3162300"/>
            <a:ext cx="47625" cy="285750"/>
          </a:xfrm>
          <a:prstGeom prst="rect">
            <a:avLst/>
          </a:prstGeom>
          <a:solidFill>
            <a:srgbClr val="007E78"/>
          </a:solidFill>
          <a:ln w="0">
            <a:noFill/>
            <a:prstDash val="solid"/>
          </a:ln>
        </p:spPr>
      </p:sp>
      <p:sp>
        <p:nvSpPr>
          <p:cNvPr id="23" name="text-63"/>
          <p:cNvSpPr>
            <a:spLocks noGrp="1"/>
          </p:cNvSpPr>
          <p:nvPr/>
        </p:nvSpPr>
        <p:spPr>
          <a:xfrm>
            <a:off x="676275" y="3076575"/>
            <a:ext cx="4933950" cy="361950"/>
          </a:xfrm>
          <a:prstGeom prst="rect">
            <a:avLst/>
          </a:prstGeom>
          <a:noFill/>
          <a:ln w="0">
            <a:noFill/>
            <a:prstDash val="solid"/>
          </a:ln>
        </p:spPr>
        <p:txBody>
          <a:bodyPr lIns="0" tIns="0" rIns="0" bIns="0" anchor="ctr">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02  扰动控制回路</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24" name="text-64"/>
          <p:cNvSpPr>
            <a:spLocks noGrp="1"/>
          </p:cNvSpPr>
          <p:nvPr/>
        </p:nvSpPr>
        <p:spPr>
          <a:xfrm>
            <a:off x="676275" y="3514725"/>
            <a:ext cx="4933950" cy="762000"/>
          </a:xfrm>
          <a:prstGeom prst="rect">
            <a:avLst/>
          </a:prstGeom>
          <a:noFill/>
          <a:ln w="0">
            <a:noFill/>
            <a:prstDash val="solid"/>
          </a:ln>
        </p:spPr>
        <p:txBody>
          <a:bodyPr lIns="0" tIns="0" rIns="0" bIns="0" anchor="ctr">
            <a:noAutofit/>
          </a:bodyPr>
          <a:lstStyle>
            <a:defPPr>
              <a:defRPr sz="18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sz="1875" b="0">
                <a:solidFill>
                  <a:srgbClr val="263B50"/>
                </a:solidFill>
                <a:latin typeface="宋体" panose="02010600030101010101" pitchFamily="2" charset="-122"/>
                <a:ea typeface="宋体" panose="02010600030101010101" pitchFamily="2" charset="-122"/>
                <a:cs typeface="PingFang SC" panose="020B0400000000000000" charset="-122"/>
              </a:rPr>
              <a:t>控制器依据错误状态决策，</a:t>
            </a:r>
            <a:r>
              <a:rPr lang="zh-CN" sz="1875" b="0">
                <a:solidFill>
                  <a:srgbClr val="263B50"/>
                </a:solidFill>
                <a:latin typeface="宋体" panose="02010600030101010101" pitchFamily="2" charset="-122"/>
                <a:ea typeface="宋体" panose="02010600030101010101" pitchFamily="2" charset="-122"/>
                <a:cs typeface="PingFang SC" panose="020B0400000000000000" charset="-122"/>
              </a:rPr>
              <a:t>物理</a:t>
            </a:r>
            <a:r>
              <a:rPr sz="1875" b="0">
                <a:solidFill>
                  <a:srgbClr val="263B50"/>
                </a:solidFill>
                <a:latin typeface="宋体" panose="02010600030101010101" pitchFamily="2" charset="-122"/>
                <a:ea typeface="宋体" panose="02010600030101010101" pitchFamily="2" charset="-122"/>
                <a:cs typeface="PingFang SC" panose="020B0400000000000000" charset="-122"/>
              </a:rPr>
              <a:t>过程运行</a:t>
            </a:r>
            <a:r>
              <a:rPr lang="zh-CN" sz="1875" b="0">
                <a:solidFill>
                  <a:srgbClr val="263B50"/>
                </a:solidFill>
                <a:latin typeface="宋体" panose="02010600030101010101" pitchFamily="2" charset="-122"/>
                <a:ea typeface="宋体" panose="02010600030101010101" pitchFamily="2" charset="-122"/>
                <a:cs typeface="PingFang SC" panose="020B0400000000000000" charset="-122"/>
              </a:rPr>
              <a:t>可能</a:t>
            </a:r>
            <a:r>
              <a:rPr sz="1875" b="0">
                <a:solidFill>
                  <a:srgbClr val="263B50"/>
                </a:solidFill>
                <a:latin typeface="宋体" panose="02010600030101010101" pitchFamily="2" charset="-122"/>
                <a:ea typeface="宋体" panose="02010600030101010101" pitchFamily="2" charset="-122"/>
                <a:cs typeface="PingFang SC" panose="020B0400000000000000" charset="-122"/>
              </a:rPr>
              <a:t>偏离预期轨迹。</a:t>
            </a:r>
            <a:endParaRPr sz="18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25" name="frame-65"/>
          <p:cNvSpPr>
            <a:spLocks noGrp="1"/>
          </p:cNvSpPr>
          <p:nvPr/>
        </p:nvSpPr>
        <p:spPr>
          <a:xfrm>
            <a:off x="523875" y="4314825"/>
            <a:ext cx="5238750" cy="1314450"/>
          </a:xfrm>
          <a:prstGeom prst="roundRect">
            <a:avLst>
              <a:gd name="adj" fmla="val 8696"/>
            </a:avLst>
          </a:prstGeom>
          <a:solidFill>
            <a:srgbClr val="F7FAFB"/>
          </a:solidFill>
          <a:ln w="9525">
            <a:solidFill>
              <a:srgbClr val="CCDCE5"/>
            </a:solidFill>
            <a:prstDash val="solid"/>
          </a:ln>
        </p:spPr>
      </p:sp>
      <p:sp>
        <p:nvSpPr>
          <p:cNvPr id="26" name="frame-66"/>
          <p:cNvSpPr>
            <a:spLocks noGrp="1"/>
          </p:cNvSpPr>
          <p:nvPr/>
        </p:nvSpPr>
        <p:spPr>
          <a:xfrm>
            <a:off x="523875" y="4467225"/>
            <a:ext cx="47625" cy="285750"/>
          </a:xfrm>
          <a:prstGeom prst="rect">
            <a:avLst/>
          </a:prstGeom>
          <a:solidFill>
            <a:srgbClr val="007E78"/>
          </a:solidFill>
          <a:ln w="0">
            <a:noFill/>
            <a:prstDash val="solid"/>
          </a:ln>
        </p:spPr>
      </p:sp>
      <p:sp>
        <p:nvSpPr>
          <p:cNvPr id="27" name="text-67"/>
          <p:cNvSpPr>
            <a:spLocks noGrp="1"/>
          </p:cNvSpPr>
          <p:nvPr/>
        </p:nvSpPr>
        <p:spPr>
          <a:xfrm>
            <a:off x="676275" y="4381500"/>
            <a:ext cx="4933950" cy="361950"/>
          </a:xfrm>
          <a:prstGeom prst="rect">
            <a:avLst/>
          </a:prstGeom>
          <a:noFill/>
          <a:ln w="0">
            <a:noFill/>
            <a:prstDash val="solid"/>
          </a:ln>
        </p:spPr>
        <p:txBody>
          <a:bodyPr lIns="0" tIns="0" rIns="0" bIns="0" anchor="ctr">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03  形成物理安全风险</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28" name="text-68"/>
          <p:cNvSpPr>
            <a:spLocks noGrp="1"/>
          </p:cNvSpPr>
          <p:nvPr/>
        </p:nvSpPr>
        <p:spPr>
          <a:xfrm>
            <a:off x="676275" y="4819650"/>
            <a:ext cx="4933950" cy="762000"/>
          </a:xfrm>
          <a:prstGeom prst="rect">
            <a:avLst/>
          </a:prstGeom>
          <a:noFill/>
          <a:ln w="0">
            <a:noFill/>
            <a:prstDash val="solid"/>
          </a:ln>
        </p:spPr>
        <p:txBody>
          <a:bodyPr lIns="0" tIns="0" rIns="0" bIns="0" anchor="ctr">
            <a:noAutofit/>
          </a:bodyPr>
          <a:lstStyle>
            <a:defPPr>
              <a:defRPr sz="18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lang="zh-CN" sz="1875" b="0">
                <a:solidFill>
                  <a:srgbClr val="263B50"/>
                </a:solidFill>
                <a:latin typeface="宋体" panose="02010600030101010101" pitchFamily="2" charset="-122"/>
                <a:ea typeface="宋体" panose="02010600030101010101" pitchFamily="2" charset="-122"/>
                <a:cs typeface="PingFang SC" panose="020B0400000000000000" charset="-122"/>
              </a:rPr>
              <a:t>可能造成设备损坏，严重时危机人员和环境安全，例如在储水与供水系统中，</a:t>
            </a:r>
            <a:r>
              <a:rPr sz="1875" b="0">
                <a:solidFill>
                  <a:srgbClr val="263B50"/>
                </a:solidFill>
                <a:latin typeface="宋体" panose="02010600030101010101" pitchFamily="2" charset="-122"/>
                <a:ea typeface="宋体" panose="02010600030101010101" pitchFamily="2" charset="-122"/>
                <a:cs typeface="PingFang SC" panose="020B0400000000000000" charset="-122"/>
              </a:rPr>
              <a:t>液位异常升降可能导致供水中断或溢出，需要及时调查。</a:t>
            </a:r>
            <a:endParaRPr sz="18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29" name="frame-69"/>
          <p:cNvSpPr>
            <a:spLocks noGrp="1"/>
          </p:cNvSpPr>
          <p:nvPr/>
        </p:nvSpPr>
        <p:spPr>
          <a:xfrm>
            <a:off x="5953125" y="1762125"/>
            <a:ext cx="5762625" cy="3895725"/>
          </a:xfrm>
          <a:prstGeom prst="rect">
            <a:avLst/>
          </a:prstGeom>
          <a:noFill/>
          <a:ln w="9525">
            <a:solidFill>
              <a:srgbClr val="CCDCE5"/>
            </a:solidFill>
            <a:prstDash val="solid"/>
          </a:ln>
        </p:spPr>
      </p:sp>
      <p:sp>
        <p:nvSpPr>
          <p:cNvPr id="30" name="text-70"/>
          <p:cNvSpPr>
            <a:spLocks noGrp="1"/>
          </p:cNvSpPr>
          <p:nvPr/>
        </p:nvSpPr>
        <p:spPr>
          <a:xfrm>
            <a:off x="6219825" y="1981200"/>
            <a:ext cx="5238750" cy="390525"/>
          </a:xfrm>
          <a:prstGeom prst="rect">
            <a:avLst/>
          </a:prstGeom>
          <a:noFill/>
          <a:ln w="0">
            <a:noFill/>
            <a:prstDash val="solid"/>
          </a:ln>
        </p:spPr>
        <p:txBody>
          <a:bodyPr lIns="0" tIns="0" rIns="0" bIns="0" anchor="ctr">
            <a:noAutofit/>
          </a:bodyPr>
          <a:lstStyle>
            <a:defPPr>
              <a:defRPr sz="1950"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1950" b="1">
                <a:solidFill>
                  <a:srgbClr val="007E78"/>
                </a:solidFill>
                <a:latin typeface="PingFang SC" panose="020B0400000000000000" charset="-122"/>
                <a:ea typeface="PingFang SC" panose="020B0400000000000000" charset="-122"/>
                <a:cs typeface="PingFang SC" panose="020B0400000000000000" charset="-122"/>
              </a:defRPr>
            </a:pPr>
            <a:r>
              <a:rPr sz="1950" b="1">
                <a:solidFill>
                  <a:srgbClr val="007E78"/>
                </a:solidFill>
                <a:latin typeface="黑体" panose="02010609060101010101" charset="-122"/>
                <a:ea typeface="黑体" panose="02010609060101010101" charset="-122"/>
                <a:cs typeface="PingFang SC" panose="020B0400000000000000" charset="-122"/>
              </a:rPr>
              <a:t>数字控制回路及攻击位置</a:t>
            </a:r>
            <a:r>
              <a:rPr sz="1950" b="1">
                <a:solidFill>
                  <a:srgbClr val="007E78"/>
                </a:solidFill>
                <a:latin typeface="黑体" panose="02010609060101010101" charset="-122"/>
                <a:ea typeface="黑体" panose="02010609060101010101" charset="-122"/>
                <a:cs typeface="PingFang SC" panose="020B0400000000000000" charset="-122"/>
              </a:rPr>
              <a:t>图</a:t>
            </a:r>
            <a:endParaRPr sz="1950" b="1">
              <a:solidFill>
                <a:srgbClr val="007E78"/>
              </a:solidFill>
              <a:latin typeface="黑体" panose="02010609060101010101" charset="-122"/>
              <a:ea typeface="黑体" panose="02010609060101010101" charset="-122"/>
              <a:cs typeface="PingFang SC" panose="020B0400000000000000" charset="-122"/>
            </a:endParaRPr>
          </a:p>
        </p:txBody>
      </p:sp>
      <p:sp>
        <p:nvSpPr>
          <p:cNvPr id="31" name="text-71"/>
          <p:cNvSpPr>
            <a:spLocks noGrp="1"/>
          </p:cNvSpPr>
          <p:nvPr/>
        </p:nvSpPr>
        <p:spPr>
          <a:xfrm>
            <a:off x="6219825" y="4619625"/>
            <a:ext cx="5238750" cy="762000"/>
          </a:xfrm>
          <a:prstGeom prst="rect">
            <a:avLst/>
          </a:prstGeom>
          <a:noFill/>
          <a:ln w="0">
            <a:noFill/>
            <a:prstDash val="solid"/>
          </a:ln>
        </p:spPr>
        <p:txBody>
          <a:bodyPr lIns="0" tIns="0" rIns="0" bIns="0" anchor="ctr">
            <a:noAutofit/>
          </a:bodyPr>
          <a:lstStyle>
            <a:defPPr>
              <a:defRPr sz="18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sz="1875" b="0">
                <a:solidFill>
                  <a:srgbClr val="263B50"/>
                </a:solidFill>
                <a:latin typeface="宋体" panose="02010600030101010101" pitchFamily="2" charset="-122"/>
                <a:ea typeface="宋体" panose="02010600030101010101" pitchFamily="2" charset="-122"/>
                <a:cs typeface="PingFang SC" panose="020B0400000000000000" charset="-122"/>
              </a:rPr>
              <a:t>检测关注：控制动作与测量响应是否仍符合预期的过程关系</a:t>
            </a:r>
            <a:endParaRPr sz="18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2" name="文本框 1"/>
          <p:cNvSpPr>
            <a:spLocks noGrp="1"/>
          </p:cNvSpPr>
          <p:nvPr/>
        </p:nvSpPr>
        <p:spPr>
          <a:xfrm>
            <a:off x="332105" y="1942465"/>
            <a:ext cx="4064000" cy="368300"/>
          </a:xfrm>
          <a:prstGeom prst="rect">
            <a:avLst/>
          </a:prstGeom>
          <a:noFill/>
        </p:spPr>
        <p:txBody>
          <a:bodyPr wrap="square">
            <a:spAutoFit/>
          </a:bodyPr>
          <a:lstStyle/>
          <a:p/>
        </p:txBody>
      </p:sp>
      <p:sp>
        <p:nvSpPr>
          <p:cNvPr id="35"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05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
        <p:nvSpPr>
          <p:cNvPr id="4" name="矩形 13"/>
          <p:cNvSpPr>
            <a:spLocks noGrp="1"/>
          </p:cNvSpPr>
          <p:nvPr/>
        </p:nvSpPr>
        <p:spPr>
          <a:xfrm>
            <a:off x="485775" y="5949315"/>
            <a:ext cx="11340000" cy="576000"/>
          </a:xfrm>
          <a:prstGeom prst="roundRect">
            <a:avLst>
              <a:gd name="adj" fmla="val 11321"/>
            </a:avLst>
          </a:prstGeom>
          <a:solidFill>
            <a:srgbClr val="E8F7F6"/>
          </a:solidFill>
          <a:ln w="0">
            <a:noFill/>
          </a:ln>
        </p:spPr>
      </p:sp>
      <p:sp>
        <p:nvSpPr>
          <p:cNvPr id="5" name="工业入侵检测需要识别可疑行为，为操作人员保护物理过程提供告警依据"/>
          <p:cNvSpPr>
            <a:spLocks noGrp="1"/>
          </p:cNvSpPr>
          <p:nvPr/>
        </p:nvSpPr>
        <p:spPr>
          <a:xfrm>
            <a:off x="657225" y="604456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工业入侵检测需要识别可疑行为，为操作人员保护物理过程提供告警依据</a:t>
            </a:r>
            <a:r>
              <a:rPr lang="zh-CN" sz="1800" b="1">
                <a:solidFill>
                  <a:srgbClr val="173B6C"/>
                </a:solidFill>
                <a:latin typeface="宋体" panose="02010600030101010101" pitchFamily="2" charset="-122"/>
                <a:ea typeface="宋体" panose="02010600030101010101" pitchFamily="2" charset="-122"/>
                <a:cs typeface="PingFang SC" panose="020B0400000000000000" charset="-122"/>
              </a:rPr>
              <a:t>并及时处理</a:t>
            </a:r>
            <a:r>
              <a:rPr lang="zh-CN" sz="1800" b="1">
                <a:solidFill>
                  <a:srgbClr val="173B6C"/>
                </a:solidFill>
                <a:latin typeface="宋体" panose="02010600030101010101" pitchFamily="2" charset="-122"/>
                <a:ea typeface="宋体" panose="02010600030101010101" pitchFamily="2" charset="-122"/>
                <a:cs typeface="PingFang SC" panose="020B0400000000000000" charset="-122"/>
              </a:rPr>
              <a:t>告警</a:t>
            </a:r>
            <a:endParaRPr lang="zh-CN"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矩形 19"/>
          <p:cNvSpPr>
            <a:spLocks noGrp="1"/>
          </p:cNvSpPr>
          <p:nvPr/>
        </p:nvSpPr>
        <p:spPr>
          <a:xfrm>
            <a:off x="457200" y="209550"/>
            <a:ext cx="76200" cy="457200"/>
          </a:xfrm>
          <a:prstGeom prst="rect">
            <a:avLst/>
          </a:prstGeom>
          <a:solidFill>
            <a:srgbClr val="00AFA8"/>
          </a:solidFill>
          <a:ln w="0">
            <a:noFill/>
          </a:ln>
        </p:spPr>
      </p:sp>
      <p:sp>
        <p:nvSpPr>
          <p:cNvPr id="2" name="01 研究背景"/>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01 研究背景</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工业入侵检测：从运行数据中识别可疑行为"/>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工业入侵检测：从运行数据中识别可疑行为</a:t>
            </a:r>
            <a:endParaRPr sz="2250" b="1">
              <a:solidFill>
                <a:srgbClr val="007E78"/>
              </a:solidFill>
              <a:latin typeface="黑体" panose="02010609060101010101" charset="-122"/>
              <a:ea typeface="黑体" panose="02010609060101010101" charset="-122"/>
              <a:cs typeface="PingFang SC" panose="020B0400000000000000" charset="-122"/>
            </a:endParaRPr>
          </a:p>
        </p:txBody>
      </p:sp>
      <p:sp>
        <p:nvSpPr>
          <p:cNvPr id="6" name="工业入侵检测系统（IIDS）监测运行数据，识别可疑行为并向操作人员报警"/>
          <p:cNvSpPr>
            <a:spLocks noGrp="1"/>
          </p:cNvSpPr>
          <p:nvPr/>
        </p:nvSpPr>
        <p:spPr>
          <a:xfrm>
            <a:off x="457200" y="1628775"/>
            <a:ext cx="10953750" cy="762000"/>
          </a:xfrm>
          <a:prstGeom prst="rect">
            <a:avLst/>
          </a:prstGeom>
          <a:noFill/>
          <a:ln w="0">
            <a:noFill/>
          </a:ln>
        </p:spPr>
        <p:txBody>
          <a:bodyPr wrap="square" lIns="0" tIns="0" rIns="0" bIns="0" anchor="t">
            <a:noAutofit/>
          </a:bodyPr>
          <a:lstStyle>
            <a:defPPr algn="l">
              <a:defRPr sz="21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2100" b="1">
                <a:solidFill>
                  <a:srgbClr val="173B6C"/>
                </a:solidFill>
                <a:latin typeface="PingFang SC" panose="020B0400000000000000" charset="-122"/>
                <a:ea typeface="PingFang SC" panose="020B0400000000000000" charset="-122"/>
                <a:cs typeface="PingFang SC" panose="020B0400000000000000" charset="-122"/>
              </a:defRPr>
            </a:pPr>
            <a:r>
              <a:rPr sz="2100" b="1">
                <a:solidFill>
                  <a:srgbClr val="173B6C"/>
                </a:solidFill>
                <a:latin typeface="黑体" panose="02010609060101010101" charset="-122"/>
                <a:ea typeface="黑体" panose="02010609060101010101" charset="-122"/>
                <a:cs typeface="黑体" panose="02010609060101010101" charset="-122"/>
              </a:rPr>
              <a:t>工业入侵检测系统（IIDS）</a:t>
            </a:r>
            <a:r>
              <a:rPr lang="zh-CN" sz="2100" b="1">
                <a:solidFill>
                  <a:srgbClr val="173B6C"/>
                </a:solidFill>
                <a:latin typeface="黑体" panose="02010609060101010101" charset="-122"/>
                <a:ea typeface="黑体" panose="02010609060101010101" charset="-122"/>
                <a:cs typeface="黑体" panose="02010609060101010101" charset="-122"/>
              </a:rPr>
              <a:t>负责监测运行数据，识别可疑行为并向操作人员</a:t>
            </a:r>
            <a:r>
              <a:rPr lang="zh-CN" sz="2100" b="1">
                <a:solidFill>
                  <a:srgbClr val="173B6C"/>
                </a:solidFill>
                <a:latin typeface="黑体" panose="02010609060101010101" charset="-122"/>
                <a:ea typeface="黑体" panose="02010609060101010101" charset="-122"/>
                <a:cs typeface="黑体" panose="02010609060101010101" charset="-122"/>
              </a:rPr>
              <a:t>报警。</a:t>
            </a:r>
            <a:endParaRPr lang="zh-CN" sz="2100" b="1">
              <a:solidFill>
                <a:srgbClr val="173B6C"/>
              </a:solidFill>
              <a:latin typeface="黑体" panose="02010609060101010101" charset="-122"/>
              <a:ea typeface="黑体" panose="02010609060101010101" charset="-122"/>
              <a:cs typeface="黑体" panose="02010609060101010101" charset="-122"/>
            </a:endParaRPr>
          </a:p>
        </p:txBody>
      </p:sp>
      <p:sp>
        <p:nvSpPr>
          <p:cNvPr id="13" name="矩形 12"/>
          <p:cNvSpPr>
            <a:spLocks noGrp="1"/>
          </p:cNvSpPr>
          <p:nvPr/>
        </p:nvSpPr>
        <p:spPr>
          <a:xfrm>
            <a:off x="457200" y="4467860"/>
            <a:ext cx="10953750" cy="19050"/>
          </a:xfrm>
          <a:prstGeom prst="rect">
            <a:avLst/>
          </a:prstGeom>
          <a:solidFill>
            <a:srgbClr val="D7E5E9"/>
          </a:solidFill>
          <a:ln w="0">
            <a:noFill/>
          </a:ln>
        </p:spPr>
      </p:sp>
      <p:sp>
        <p:nvSpPr>
          <p:cNvPr id="14" name="本文关注：过程感知型工业入侵检测"/>
          <p:cNvSpPr>
            <a:spLocks noGrp="1"/>
          </p:cNvSpPr>
          <p:nvPr/>
        </p:nvSpPr>
        <p:spPr>
          <a:xfrm>
            <a:off x="457200" y="4734560"/>
            <a:ext cx="10858500" cy="447675"/>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本文关注：过程感知型工业入侵检测</a:t>
            </a:r>
            <a:endParaRPr sz="2250" b="1">
              <a:solidFill>
                <a:srgbClr val="007E78"/>
              </a:solidFill>
              <a:latin typeface="黑体" panose="02010609060101010101" charset="-122"/>
              <a:ea typeface="黑体" panose="02010609060101010101" charset="-122"/>
              <a:cs typeface="PingFang SC" panose="020B0400000000000000" charset="-122"/>
            </a:endParaRPr>
          </a:p>
        </p:txBody>
      </p:sp>
      <p:sp>
        <p:nvSpPr>
          <p:cNvPr id="15" name="以水箱为例，监测液位、流量和阀泵状态，检查它们是否符合正常过程关系。"/>
          <p:cNvSpPr>
            <a:spLocks noGrp="1"/>
          </p:cNvSpPr>
          <p:nvPr/>
        </p:nvSpPr>
        <p:spPr>
          <a:xfrm>
            <a:off x="457200" y="5239385"/>
            <a:ext cx="10858500" cy="4476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以水箱为例，监测液位、流量和阀泵状态，检查它们是否符合正常过程关系</a:t>
            </a:r>
            <a:r>
              <a:rPr sz="1875" b="0">
                <a:solidFill>
                  <a:srgbClr val="203040"/>
                </a:solidFill>
                <a:latin typeface="宋体" panose="02010600030101010101" pitchFamily="2" charset="-122"/>
                <a:ea typeface="宋体" panose="02010600030101010101" pitchFamily="2" charset="-122"/>
                <a:cs typeface="PingFang SC" panose="020B0400000000000000" charset="-122"/>
              </a:rPr>
              <a:t>。</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6" name="矩形 15"/>
          <p:cNvSpPr>
            <a:spLocks noGrp="1"/>
          </p:cNvSpPr>
          <p:nvPr/>
        </p:nvSpPr>
        <p:spPr>
          <a:xfrm>
            <a:off x="476250" y="5762625"/>
            <a:ext cx="11340000" cy="576000"/>
          </a:xfrm>
          <a:prstGeom prst="rect">
            <a:avLst/>
          </a:prstGeom>
          <a:solidFill>
            <a:srgbClr val="E8F7F6"/>
          </a:solidFill>
          <a:ln w="0">
            <a:noFill/>
          </a:ln>
        </p:spPr>
      </p:sp>
      <p:sp>
        <p:nvSpPr>
          <p:cNvPr id="17" name="监测对象从数字通信延伸到物理过程，检测依据是运行行为是否符合预期"/>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监测对象从数字通信延伸到物理过程，检测依据是运行行为是否符合预期</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38" name="frame-80"/>
          <p:cNvSpPr>
            <a:spLocks noGrp="1"/>
          </p:cNvSpPr>
          <p:nvPr/>
        </p:nvSpPr>
        <p:spPr>
          <a:xfrm>
            <a:off x="548005" y="2614930"/>
            <a:ext cx="3429000" cy="1543050"/>
          </a:xfrm>
          <a:prstGeom prst="roundRect">
            <a:avLst>
              <a:gd name="adj" fmla="val 7407"/>
            </a:avLst>
          </a:prstGeom>
          <a:solidFill>
            <a:srgbClr val="F7FAFB"/>
          </a:solidFill>
          <a:ln w="9525">
            <a:solidFill>
              <a:srgbClr val="CCDCE5"/>
            </a:solidFill>
            <a:prstDash val="solid"/>
          </a:ln>
        </p:spPr>
      </p:sp>
      <p:sp>
        <p:nvSpPr>
          <p:cNvPr id="39" name="text-82"/>
          <p:cNvSpPr>
            <a:spLocks noGrp="1"/>
          </p:cNvSpPr>
          <p:nvPr/>
        </p:nvSpPr>
        <p:spPr>
          <a:xfrm>
            <a:off x="700405" y="2681605"/>
            <a:ext cx="3124200" cy="361950"/>
          </a:xfrm>
          <a:prstGeom prst="rect">
            <a:avLst/>
          </a:prstGeom>
          <a:noFill/>
          <a:ln w="0">
            <a:noFill/>
            <a:prstDash val="solid"/>
          </a:ln>
        </p:spPr>
        <p:txBody>
          <a:bodyPr lIns="0" tIns="0" rIns="0" bIns="0" anchor="ctr">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网络流量</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40" name="text-83"/>
          <p:cNvSpPr>
            <a:spLocks noGrp="1"/>
          </p:cNvSpPr>
          <p:nvPr/>
        </p:nvSpPr>
        <p:spPr>
          <a:xfrm>
            <a:off x="700405" y="3119755"/>
            <a:ext cx="3124200" cy="990600"/>
          </a:xfrm>
          <a:prstGeom prst="rect">
            <a:avLst/>
          </a:prstGeom>
          <a:noFill/>
          <a:ln w="0">
            <a:noFill/>
            <a:prstDash val="solid"/>
          </a:ln>
        </p:spPr>
        <p:txBody>
          <a:bodyPr lIns="0" tIns="0" rIns="0" bIns="0" anchor="ctr">
            <a:noAutofit/>
          </a:bodyPr>
          <a:lstStyle>
            <a:defPPr>
              <a:defRPr sz="1800" b="0">
                <a:solidFill>
                  <a:srgbClr val="263B5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观察工业网络中的通信行为，</a:t>
            </a:r>
            <a:endParaRPr sz="1800"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从通信数据中寻找异常线索。</a:t>
            </a:r>
            <a:endParaRPr sz="1800"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41" name="frame-85"/>
          <p:cNvSpPr>
            <a:spLocks noGrp="1"/>
          </p:cNvSpPr>
          <p:nvPr/>
        </p:nvSpPr>
        <p:spPr>
          <a:xfrm>
            <a:off x="4358005" y="2614930"/>
            <a:ext cx="3429000" cy="1543050"/>
          </a:xfrm>
          <a:prstGeom prst="roundRect">
            <a:avLst>
              <a:gd name="adj" fmla="val 7407"/>
            </a:avLst>
          </a:prstGeom>
          <a:solidFill>
            <a:srgbClr val="F7FAFB"/>
          </a:solidFill>
          <a:ln w="9525">
            <a:solidFill>
              <a:srgbClr val="CCDCE5"/>
            </a:solidFill>
            <a:prstDash val="solid"/>
          </a:ln>
        </p:spPr>
      </p:sp>
      <p:sp>
        <p:nvSpPr>
          <p:cNvPr id="42" name="text-87"/>
          <p:cNvSpPr>
            <a:spLocks noGrp="1"/>
          </p:cNvSpPr>
          <p:nvPr/>
        </p:nvSpPr>
        <p:spPr>
          <a:xfrm>
            <a:off x="4510405" y="2681605"/>
            <a:ext cx="3124200" cy="361950"/>
          </a:xfrm>
          <a:prstGeom prst="rect">
            <a:avLst/>
          </a:prstGeom>
          <a:noFill/>
          <a:ln w="0">
            <a:noFill/>
            <a:prstDash val="solid"/>
          </a:ln>
        </p:spPr>
        <p:txBody>
          <a:bodyPr lIns="0" tIns="0" rIns="0" bIns="0" anchor="ctr">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主机数据</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43" name="text-88"/>
          <p:cNvSpPr>
            <a:spLocks noGrp="1"/>
          </p:cNvSpPr>
          <p:nvPr/>
        </p:nvSpPr>
        <p:spPr>
          <a:xfrm>
            <a:off x="4510405" y="3119755"/>
            <a:ext cx="3124200" cy="990600"/>
          </a:xfrm>
          <a:prstGeom prst="rect">
            <a:avLst/>
          </a:prstGeom>
          <a:noFill/>
          <a:ln w="0">
            <a:noFill/>
            <a:prstDash val="solid"/>
          </a:ln>
        </p:spPr>
        <p:txBody>
          <a:bodyPr lIns="0" tIns="0" rIns="0" bIns="0" anchor="ctr">
            <a:noAutofit/>
          </a:bodyPr>
          <a:lstStyle>
            <a:defPPr>
              <a:defRPr sz="1800" b="0">
                <a:solidFill>
                  <a:srgbClr val="263B5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观察主机或设备侧运行信息，</a:t>
            </a:r>
            <a:endParaRPr sz="1800"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从系统活动中寻找异常线索</a:t>
            </a:r>
            <a:r>
              <a:rPr sz="1800">
                <a:solidFill>
                  <a:srgbClr val="203040"/>
                </a:solidFill>
                <a:latin typeface="宋体" panose="02010600030101010101" pitchFamily="2" charset="-122"/>
                <a:ea typeface="宋体" panose="02010600030101010101" pitchFamily="2" charset="-122"/>
              </a:rPr>
              <a:t>。</a:t>
            </a:r>
            <a:endParaRPr sz="1800" b="0">
              <a:latin typeface="宋体" panose="02010600030101010101" pitchFamily="2" charset="-122"/>
              <a:ea typeface="宋体" panose="02010600030101010101" pitchFamily="2" charset="-122"/>
              <a:cs typeface="PingFang SC" panose="020B0400000000000000" charset="-122"/>
            </a:endParaRPr>
          </a:p>
        </p:txBody>
      </p:sp>
      <p:sp>
        <p:nvSpPr>
          <p:cNvPr id="44" name="frame-90"/>
          <p:cNvSpPr>
            <a:spLocks noGrp="1"/>
          </p:cNvSpPr>
          <p:nvPr/>
        </p:nvSpPr>
        <p:spPr>
          <a:xfrm>
            <a:off x="8168005" y="2614930"/>
            <a:ext cx="3429000" cy="1543050"/>
          </a:xfrm>
          <a:prstGeom prst="roundRect">
            <a:avLst>
              <a:gd name="adj" fmla="val 7407"/>
            </a:avLst>
          </a:prstGeom>
          <a:solidFill>
            <a:srgbClr val="F7FAFB"/>
          </a:solidFill>
          <a:ln w="9525">
            <a:solidFill>
              <a:srgbClr val="CCDCE5"/>
            </a:solidFill>
            <a:prstDash val="solid"/>
          </a:ln>
        </p:spPr>
      </p:sp>
      <p:sp>
        <p:nvSpPr>
          <p:cNvPr id="45" name="text-92"/>
          <p:cNvSpPr>
            <a:spLocks noGrp="1"/>
          </p:cNvSpPr>
          <p:nvPr/>
        </p:nvSpPr>
        <p:spPr>
          <a:xfrm>
            <a:off x="8320405" y="2681605"/>
            <a:ext cx="3124200" cy="352425"/>
          </a:xfrm>
          <a:prstGeom prst="rect">
            <a:avLst/>
          </a:prstGeom>
          <a:noFill/>
          <a:ln w="0">
            <a:noFill/>
            <a:prstDash val="solid"/>
          </a:ln>
        </p:spPr>
        <p:txBody>
          <a:bodyPr lIns="0" tIns="0" rIns="0" bIns="0" anchor="ctr">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物理过程数据</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46" name="text-93"/>
          <p:cNvSpPr>
            <a:spLocks noGrp="1"/>
          </p:cNvSpPr>
          <p:nvPr/>
        </p:nvSpPr>
        <p:spPr>
          <a:xfrm>
            <a:off x="8320405" y="3119755"/>
            <a:ext cx="3124200" cy="990600"/>
          </a:xfrm>
          <a:prstGeom prst="rect">
            <a:avLst/>
          </a:prstGeom>
          <a:noFill/>
          <a:ln w="0">
            <a:noFill/>
            <a:prstDash val="solid"/>
          </a:ln>
        </p:spPr>
        <p:txBody>
          <a:bodyPr lIns="0" tIns="0" rIns="0" bIns="0" anchor="ctr">
            <a:noAutofit/>
          </a:bodyPr>
          <a:lstStyle>
            <a:defPPr>
              <a:defRPr sz="1800" b="0">
                <a:solidFill>
                  <a:srgbClr val="263B5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观察传感器读数与执行器状态，</a:t>
            </a:r>
            <a:endParaRPr sz="1800"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判断过程行为是否异常。</a:t>
            </a:r>
            <a:endParaRPr sz="1800" b="0">
              <a:latin typeface="宋体" panose="02010600030101010101" pitchFamily="2" charset="-122"/>
              <a:ea typeface="宋体" panose="02010600030101010101" pitchFamily="2" charset="-122"/>
              <a:cs typeface="PingFang SC" panose="020B0400000000000000" charset="-122"/>
            </a:endParaRPr>
          </a:p>
        </p:txBody>
      </p:sp>
      <p:sp>
        <p:nvSpPr>
          <p:cNvPr id="47"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06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457200" y="209550"/>
            <a:ext cx="76200" cy="457200"/>
          </a:xfrm>
          <a:prstGeom prst="rect">
            <a:avLst/>
          </a:prstGeom>
          <a:solidFill>
            <a:srgbClr val="00AFA8"/>
          </a:solidFill>
          <a:ln w="0">
            <a:noFill/>
          </a:ln>
        </p:spPr>
      </p:sp>
      <p:sp>
        <p:nvSpPr>
          <p:cNvPr id="2" name="01 研究背景"/>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01 研究背景</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现有方法的矛盾：自动建模与人工可理解性如何兼顾"/>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现有方法的矛盾：自动建模与人工可理解性如何兼顾</a:t>
            </a:r>
            <a:endParaRPr sz="2250" b="1">
              <a:solidFill>
                <a:srgbClr val="007E78"/>
              </a:solidFill>
              <a:latin typeface="黑体" panose="02010609060101010101" charset="-122"/>
              <a:ea typeface="黑体" panose="02010609060101010101" charset="-122"/>
              <a:cs typeface="PingFang SC" panose="020B0400000000000000" charset="-122"/>
            </a:endParaRPr>
          </a:p>
        </p:txBody>
      </p:sp>
      <p:pic>
        <p:nvPicPr>
          <p:cNvPr id="6" name="图片 5"/>
          <p:cNvPicPr>
            <a:picLocks noChangeAspect="1"/>
          </p:cNvPicPr>
          <p:nvPr/>
        </p:nvPicPr>
        <p:blipFill>
          <a:blip r:embed="rId2"/>
          <a:stretch>
            <a:fillRect/>
          </a:stretch>
        </p:blipFill>
        <p:spPr>
          <a:xfrm>
            <a:off x="878340" y="1638300"/>
            <a:ext cx="4148821" cy="3905250"/>
          </a:xfrm>
          <a:prstGeom prst="rect">
            <a:avLst/>
          </a:prstGeom>
        </p:spPr>
      </p:pic>
      <p:sp>
        <p:nvSpPr>
          <p:cNvPr id="7" name="数据驱动方案"/>
          <p:cNvSpPr>
            <a:spLocks noGrp="1"/>
          </p:cNvSpPr>
          <p:nvPr>
            <p:custDataLst>
              <p:tags r:id="rId3"/>
            </p:custDataLst>
          </p:nvPr>
        </p:nvSpPr>
        <p:spPr>
          <a:xfrm>
            <a:off x="5810250" y="1762125"/>
            <a:ext cx="557212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数据驱动</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8" name="从历史过程数据学习正常行为，通常无需逐个工艺环节手工编写模型。"/>
          <p:cNvSpPr>
            <a:spLocks noGrp="1"/>
          </p:cNvSpPr>
          <p:nvPr>
            <p:custDataLst>
              <p:tags r:id="rId4"/>
            </p:custDataLst>
          </p:nvPr>
        </p:nvSpPr>
        <p:spPr>
          <a:xfrm>
            <a:off x="5810250" y="2181225"/>
            <a:ext cx="5572125" cy="97155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从历史过程数据</a:t>
            </a:r>
            <a:r>
              <a:rPr lang="zh-CN" sz="1875" b="0">
                <a:solidFill>
                  <a:srgbClr val="203040"/>
                </a:solidFill>
                <a:latin typeface="宋体" panose="02010600030101010101" pitchFamily="2" charset="-122"/>
                <a:ea typeface="宋体" panose="02010600030101010101" pitchFamily="2" charset="-122"/>
                <a:cs typeface="PingFang SC" panose="020B0400000000000000" charset="-122"/>
              </a:rPr>
              <a:t>自动</a:t>
            </a:r>
            <a:r>
              <a:rPr sz="1875" b="0">
                <a:solidFill>
                  <a:srgbClr val="203040"/>
                </a:solidFill>
                <a:latin typeface="宋体" panose="02010600030101010101" pitchFamily="2" charset="-122"/>
                <a:ea typeface="宋体" panose="02010600030101010101" pitchFamily="2" charset="-122"/>
                <a:cs typeface="PingFang SC" panose="020B0400000000000000" charset="-122"/>
              </a:rPr>
              <a:t>学习正常行为，通常采用机器学习等方法。</a:t>
            </a:r>
            <a:r>
              <a:rPr lang="zh-CN" sz="1875" b="0">
                <a:solidFill>
                  <a:srgbClr val="203040"/>
                </a:solidFill>
                <a:latin typeface="宋体" panose="02010600030101010101" pitchFamily="2" charset="-122"/>
                <a:ea typeface="宋体" panose="02010600030101010101" pitchFamily="2" charset="-122"/>
                <a:cs typeface="PingFang SC" panose="020B0400000000000000" charset="-122"/>
              </a:rPr>
              <a:t>自动化程度高</a:t>
            </a:r>
            <a:r>
              <a:rPr sz="1875" b="0">
                <a:solidFill>
                  <a:srgbClr val="203040"/>
                </a:solidFill>
                <a:latin typeface="宋体" panose="02010600030101010101" pitchFamily="2" charset="-122"/>
                <a:ea typeface="宋体" panose="02010600030101010101" pitchFamily="2" charset="-122"/>
                <a:cs typeface="PingFang SC" panose="020B0400000000000000" charset="-122"/>
              </a:rPr>
              <a:t>但告警难理解，模型难验证。</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9" name="依赖外部系统知识的方案"/>
          <p:cNvSpPr>
            <a:spLocks noGrp="1"/>
          </p:cNvSpPr>
          <p:nvPr>
            <p:custDataLst>
              <p:tags r:id="rId5"/>
            </p:custDataLst>
          </p:nvPr>
        </p:nvSpPr>
        <p:spPr>
          <a:xfrm>
            <a:off x="5810250" y="3143250"/>
            <a:ext cx="557212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基于专家知识</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10" name="输入包括过程不变量、状态空间模型或物理模型，部署需要较多领域知识。"/>
          <p:cNvSpPr>
            <a:spLocks noGrp="1"/>
          </p:cNvSpPr>
          <p:nvPr>
            <p:custDataLst>
              <p:tags r:id="rId6"/>
            </p:custDataLst>
          </p:nvPr>
        </p:nvSpPr>
        <p:spPr>
          <a:xfrm>
            <a:off x="5810250" y="3562350"/>
            <a:ext cx="5572125" cy="9810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75" b="0">
                <a:solidFill>
                  <a:srgbClr val="203040"/>
                </a:solidFill>
                <a:latin typeface="PingFang SC" panose="020B0400000000000000" charset="-122"/>
                <a:ea typeface="PingFang SC" panose="020B0400000000000000" charset="-122"/>
                <a:cs typeface="PingFang SC" panose="020B0400000000000000" charset="-122"/>
              </a:defRPr>
            </a:pPr>
            <a:r>
              <a:rPr>
                <a:latin typeface="宋体" panose="02010600030101010101" pitchFamily="2" charset="-122"/>
                <a:ea typeface="宋体" panose="02010600030101010101" pitchFamily="2" charset="-122"/>
                <a:cs typeface="PingFang SC" panose="020B0400000000000000" charset="-122"/>
              </a:rPr>
              <a:t>由专家提供物理规律、控制逻辑或数学模型，便于运维人员理解和核查告警。但建模和维护成本高，且向新领域迁移会受到限制</a:t>
            </a:r>
            <a:r>
              <a:rPr>
                <a:latin typeface="PingFang SC" panose="020B0400000000000000" charset="-122"/>
                <a:ea typeface="PingFang SC" panose="020B0400000000000000" charset="-122"/>
                <a:cs typeface="PingFang SC" panose="020B0400000000000000" charset="-122"/>
              </a:rPr>
              <a:t>。</a:t>
            </a:r>
            <a:endParaRPr sz="1875" b="0">
              <a:solidFill>
                <a:srgbClr val="203040"/>
              </a:solidFill>
              <a:latin typeface="PingFang SC" panose="020B0400000000000000" charset="-122"/>
              <a:ea typeface="PingFang SC" panose="020B0400000000000000" charset="-122"/>
              <a:cs typeface="PingFang SC" panose="020B0400000000000000" charset="-122"/>
            </a:endParaRPr>
          </a:p>
        </p:txBody>
      </p:sp>
      <p:sp>
        <p:nvSpPr>
          <p:cNvPr id="11" name="论文识别的缺口"/>
          <p:cNvSpPr>
            <a:spLocks noGrp="1"/>
          </p:cNvSpPr>
          <p:nvPr>
            <p:custDataLst>
              <p:tags r:id="rId7"/>
            </p:custDataLst>
          </p:nvPr>
        </p:nvSpPr>
        <p:spPr>
          <a:xfrm>
            <a:off x="5810250" y="4505325"/>
            <a:ext cx="557212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论文识别的缺口</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12" name="人工建模负担可能造成覆盖不完整，而自动学习模型的告警又可能难以解释。"/>
          <p:cNvSpPr>
            <a:spLocks noGrp="1"/>
          </p:cNvSpPr>
          <p:nvPr>
            <p:custDataLst>
              <p:tags r:id="rId8"/>
            </p:custDataLst>
          </p:nvPr>
        </p:nvSpPr>
        <p:spPr>
          <a:xfrm>
            <a:off x="5810250" y="4924425"/>
            <a:ext cx="5572125" cy="85725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人工建模</a:t>
            </a:r>
            <a:r>
              <a:rPr lang="zh-CN" sz="1875" b="0">
                <a:solidFill>
                  <a:srgbClr val="203040"/>
                </a:solidFill>
                <a:latin typeface="宋体" panose="02010600030101010101" pitchFamily="2" charset="-122"/>
                <a:ea typeface="宋体" panose="02010600030101010101" pitchFamily="2" charset="-122"/>
                <a:cs typeface="PingFang SC" panose="020B0400000000000000" charset="-122"/>
              </a:rPr>
              <a:t>成本高并且</a:t>
            </a:r>
            <a:r>
              <a:rPr sz="1875" b="0">
                <a:solidFill>
                  <a:srgbClr val="203040"/>
                </a:solidFill>
                <a:latin typeface="宋体" panose="02010600030101010101" pitchFamily="2" charset="-122"/>
                <a:ea typeface="宋体" panose="02010600030101010101" pitchFamily="2" charset="-122"/>
                <a:cs typeface="PingFang SC" panose="020B0400000000000000" charset="-122"/>
              </a:rPr>
              <a:t>可能造成覆盖不完整，而自动学习模型的告警又可能难以解释。</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3" name="矩形 12"/>
          <p:cNvSpPr>
            <a:spLocks noGrp="1"/>
          </p:cNvSpPr>
          <p:nvPr/>
        </p:nvSpPr>
        <p:spPr>
          <a:xfrm>
            <a:off x="476250" y="5762625"/>
            <a:ext cx="11362690" cy="744220"/>
          </a:xfrm>
          <a:prstGeom prst="rect">
            <a:avLst/>
          </a:prstGeom>
          <a:solidFill>
            <a:srgbClr val="E8F7F6"/>
          </a:solidFill>
          <a:ln w="0">
            <a:noFill/>
          </a:ln>
        </p:spPr>
      </p:sp>
      <p:sp>
        <p:nvSpPr>
          <p:cNvPr id="14" name="由此引出GeCo：自动学习过程模型，同时保留可供操作人员核查的检测依据"/>
          <p:cNvSpPr>
            <a:spLocks noGrp="1"/>
          </p:cNvSpPr>
          <p:nvPr/>
        </p:nvSpPr>
        <p:spPr>
          <a:xfrm>
            <a:off x="647700" y="5857875"/>
            <a:ext cx="10858500" cy="635000"/>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由此引出</a:t>
            </a:r>
            <a:r>
              <a:rPr sz="1800" b="1">
                <a:solidFill>
                  <a:srgbClr val="173B6C"/>
                </a:solidFill>
                <a:latin typeface="宋体" panose="02010600030101010101" pitchFamily="2" charset="-122"/>
                <a:ea typeface="宋体" panose="02010600030101010101" pitchFamily="2" charset="-122"/>
                <a:cs typeface="PingFang SC" panose="020B0400000000000000" charset="-122"/>
              </a:rPr>
              <a:t>研究问题：</a:t>
            </a:r>
            <a:r>
              <a:rPr sz="1800" b="1">
                <a:solidFill>
                  <a:srgbClr val="173B6C"/>
                </a:solidFill>
                <a:latin typeface="宋体" panose="02010600030101010101" pitchFamily="2" charset="-122"/>
                <a:ea typeface="宋体" panose="02010600030101010101" pitchFamily="2" charset="-122"/>
                <a:cs typeface="PingFang SC" panose="020B0400000000000000" charset="-122"/>
              </a:rPr>
              <a:t>能否在不依赖领域专家逐一手工建模的情况下，从历史过程数据中自动构建可理解的工业入侵检测模型，同时兼顾检测性能和跨工业场景的适用性？</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a:p>
            <a:pPr algn="l">
              <a:buNone/>
              <a:defRPr sz="1800" b="1">
                <a:solidFill>
                  <a:srgbClr val="173B6C"/>
                </a:solidFill>
                <a:latin typeface="PingFang SC" panose="020B0400000000000000" charset="-122"/>
                <a:ea typeface="PingFang SC" panose="020B0400000000000000" charset="-122"/>
                <a:cs typeface="PingFang SC" panose="020B0400000000000000" charset="-122"/>
              </a:defRPr>
            </a:pP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18" name="Unified page number"/>
          <p:cNvSpPr>
            <a:spLocks noGrp="1"/>
          </p:cNvSpPr>
          <p:nvPr/>
        </p:nvSpPr>
        <p:spPr>
          <a:xfrm>
            <a:off x="10810875" y="6524625"/>
            <a:ext cx="914400" cy="24574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07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矩形 15"/>
          <p:cNvSpPr>
            <a:spLocks noGrp="1"/>
          </p:cNvSpPr>
          <p:nvPr/>
        </p:nvSpPr>
        <p:spPr>
          <a:xfrm>
            <a:off x="457200" y="209550"/>
            <a:ext cx="76200" cy="457200"/>
          </a:xfrm>
          <a:prstGeom prst="rect">
            <a:avLst/>
          </a:prstGeom>
          <a:solidFill>
            <a:srgbClr val="00AFA8"/>
          </a:solidFill>
          <a:ln w="0">
            <a:noFill/>
          </a:ln>
        </p:spPr>
      </p:sp>
      <p:sp>
        <p:nvSpPr>
          <p:cNvPr id="3" name="矩形 3"/>
          <p:cNvSpPr>
            <a:spLocks noGrp="1"/>
          </p:cNvSpPr>
          <p:nvPr/>
        </p:nvSpPr>
        <p:spPr>
          <a:xfrm>
            <a:off x="457200" y="819150"/>
            <a:ext cx="11277600" cy="19050"/>
          </a:xfrm>
          <a:prstGeom prst="rect">
            <a:avLst/>
          </a:prstGeom>
          <a:solidFill>
            <a:srgbClr val="173B6C"/>
          </a:solidFill>
          <a:ln w="0">
            <a:noFill/>
          </a:ln>
        </p:spPr>
      </p:sp>
      <p:sp>
        <p:nvSpPr>
          <p:cNvPr id="4" name="01 研究背景"/>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27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01 研究背景</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5" name="图片 2"/>
          <p:cNvPicPr>
            <a:picLocks noChangeAspect="1"/>
          </p:cNvPicPr>
          <p:nvPr/>
        </p:nvPicPr>
        <p:blipFill>
          <a:blip r:embed="rId1"/>
          <a:stretch>
            <a:fillRect/>
          </a:stretch>
        </p:blipFill>
        <p:spPr>
          <a:xfrm>
            <a:off x="10001250" y="209782"/>
            <a:ext cx="1714500" cy="494835"/>
          </a:xfrm>
          <a:prstGeom prst="rect">
            <a:avLst/>
          </a:prstGeom>
        </p:spPr>
      </p:pic>
      <p:sp>
        <p:nvSpPr>
          <p:cNvPr id="7" name="page8:text"/>
          <p:cNvSpPr>
            <a:spLocks noGrp="1"/>
          </p:cNvSpPr>
          <p:nvPr/>
        </p:nvSpPr>
        <p:spPr>
          <a:xfrm>
            <a:off x="476250" y="990600"/>
            <a:ext cx="11239500" cy="495300"/>
          </a:xfrm>
          <a:prstGeom prst="rect">
            <a:avLst/>
          </a:prstGeom>
          <a:noFill/>
          <a:ln w="0">
            <a:noFill/>
          </a:ln>
        </p:spPr>
        <p:txBody>
          <a:bodyPr wrap="square" lIns="0" tIns="0" rIns="0" bIns="0">
            <a:noAutofit/>
          </a:bodyPr>
          <a:lstStyle>
            <a:defPPr>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研究需求：检测性能、泛化能力与可理解性</a:t>
            </a:r>
            <a:endParaRPr sz="2250" b="1">
              <a:solidFill>
                <a:srgbClr val="007E78"/>
              </a:solidFill>
              <a:latin typeface="黑体" panose="02010609060101010101" charset="-122"/>
              <a:ea typeface="黑体" panose="02010609060101010101" charset="-122"/>
              <a:cs typeface="PingFang SC" panose="020B0400000000000000" charset="-122"/>
            </a:endParaRPr>
          </a:p>
        </p:txBody>
      </p:sp>
      <p:sp>
        <p:nvSpPr>
          <p:cNvPr id="8" name="page8:text"/>
          <p:cNvSpPr>
            <a:spLocks noGrp="1"/>
          </p:cNvSpPr>
          <p:nvPr/>
        </p:nvSpPr>
        <p:spPr>
          <a:xfrm>
            <a:off x="619125" y="1581150"/>
            <a:ext cx="10953750" cy="400050"/>
          </a:xfrm>
          <a:prstGeom prst="rect">
            <a:avLst/>
          </a:prstGeom>
          <a:noFill/>
          <a:ln w="0">
            <a:noFill/>
          </a:ln>
        </p:spPr>
        <p:txBody>
          <a:bodyPr wrap="square" lIns="0" tIns="0" rIns="0" bIns="0">
            <a:noAutofit/>
          </a:bodyPr>
          <a:lstStyle>
            <a:defPPr>
              <a:defRPr sz="1950" b="1">
                <a:solidFill>
                  <a:srgbClr val="173B6C"/>
                </a:solidFill>
                <a:latin typeface="PingFang SC" panose="020B0400000000000000" charset="-122"/>
                <a:ea typeface="PingFang SC" panose="020B0400000000000000" charset="-122"/>
                <a:cs typeface="PingFang SC" panose="020B0400000000000000" charset="-122"/>
              </a:defRPr>
            </a:defPPr>
          </a:lstStyle>
          <a:p>
            <a:pPr>
              <a:buNone/>
              <a:defRPr sz="1950" b="1">
                <a:solidFill>
                  <a:srgbClr val="173B6C"/>
                </a:solidFill>
                <a:latin typeface="PingFang SC" panose="020B0400000000000000" charset="-122"/>
                <a:ea typeface="PingFang SC" panose="020B0400000000000000" charset="-122"/>
                <a:cs typeface="PingFang SC" panose="020B0400000000000000" charset="-122"/>
              </a:defRPr>
            </a:pPr>
            <a:r>
              <a:rPr lang="zh-CN" sz="1950" b="1">
                <a:solidFill>
                  <a:srgbClr val="173B6C"/>
                </a:solidFill>
                <a:latin typeface="黑体" panose="02010609060101010101" charset="-122"/>
                <a:ea typeface="黑体" panose="02010609060101010101" charset="-122"/>
                <a:cs typeface="黑体" panose="02010609060101010101" charset="-122"/>
              </a:rPr>
              <a:t>工业入侵检测</a:t>
            </a:r>
            <a:r>
              <a:rPr sz="1950" b="1">
                <a:solidFill>
                  <a:srgbClr val="173B6C"/>
                </a:solidFill>
                <a:latin typeface="黑体" panose="02010609060101010101" charset="-122"/>
                <a:ea typeface="黑体" panose="02010609060101010101" charset="-122"/>
                <a:cs typeface="黑体" panose="02010609060101010101" charset="-122"/>
              </a:rPr>
              <a:t>的总体目标：</a:t>
            </a:r>
            <a:r>
              <a:rPr lang="zh-CN" sz="1950" b="1">
                <a:solidFill>
                  <a:srgbClr val="173B6C"/>
                </a:solidFill>
                <a:latin typeface="黑体" panose="02010609060101010101" charset="-122"/>
                <a:ea typeface="黑体" panose="02010609060101010101" charset="-122"/>
                <a:cs typeface="黑体" panose="02010609060101010101" charset="-122"/>
              </a:rPr>
              <a:t>在发生网络攻击时</a:t>
            </a:r>
            <a:r>
              <a:rPr sz="1950" b="1">
                <a:solidFill>
                  <a:srgbClr val="173B6C"/>
                </a:solidFill>
                <a:latin typeface="黑体" panose="02010609060101010101" charset="-122"/>
                <a:ea typeface="黑体" panose="02010609060101010101" charset="-122"/>
                <a:cs typeface="黑体" panose="02010609060101010101" charset="-122"/>
              </a:rPr>
              <a:t>及时向操作人员报告网络攻击，同时避免过多误报。</a:t>
            </a:r>
            <a:endParaRPr sz="1950" b="1">
              <a:solidFill>
                <a:srgbClr val="173B6C"/>
              </a:solidFill>
              <a:latin typeface="黑体" panose="02010609060101010101" charset="-122"/>
              <a:ea typeface="黑体" panose="02010609060101010101" charset="-122"/>
              <a:cs typeface="黑体" panose="02010609060101010101" charset="-122"/>
            </a:endParaRPr>
          </a:p>
        </p:txBody>
      </p:sp>
      <p:sp>
        <p:nvSpPr>
          <p:cNvPr id="9" name="page8:panel"/>
          <p:cNvSpPr>
            <a:spLocks noGrp="1"/>
          </p:cNvSpPr>
          <p:nvPr>
            <p:custDataLst>
              <p:tags r:id="rId2"/>
            </p:custDataLst>
          </p:nvPr>
        </p:nvSpPr>
        <p:spPr>
          <a:xfrm>
            <a:off x="476250" y="2152650"/>
            <a:ext cx="3619500" cy="2600325"/>
          </a:xfrm>
          <a:prstGeom prst="roundRect">
            <a:avLst>
              <a:gd name="adj" fmla="val 2564"/>
            </a:avLst>
          </a:prstGeom>
          <a:solidFill>
            <a:srgbClr val="F5FAFA"/>
          </a:solidFill>
          <a:ln w="9525">
            <a:solidFill>
              <a:srgbClr val="D7E5E9"/>
            </a:solidFill>
          </a:ln>
        </p:spPr>
      </p:sp>
      <p:sp>
        <p:nvSpPr>
          <p:cNvPr id="10" name="page8:text"/>
          <p:cNvSpPr>
            <a:spLocks noGrp="1"/>
          </p:cNvSpPr>
          <p:nvPr>
            <p:custDataLst>
              <p:tags r:id="rId3"/>
            </p:custDataLst>
          </p:nvPr>
        </p:nvSpPr>
        <p:spPr>
          <a:xfrm>
            <a:off x="666750" y="2333625"/>
            <a:ext cx="3238500" cy="381000"/>
          </a:xfrm>
          <a:prstGeom prst="rect">
            <a:avLst/>
          </a:prstGeom>
          <a:noFill/>
          <a:ln w="0">
            <a:noFill/>
          </a:ln>
        </p:spPr>
        <p:txBody>
          <a:bodyPr wrap="square" lIns="0" tIns="0" rIns="0" bIns="0">
            <a:noAutofit/>
          </a:bodyPr>
          <a:lstStyle>
            <a:defPPr>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黑体" panose="02010609060101010101" charset="-122"/>
              </a:rPr>
              <a:t>01  检测性能</a:t>
            </a:r>
            <a:r>
              <a:rPr lang="zh-CN" sz="2100" b="1">
                <a:solidFill>
                  <a:srgbClr val="007E78"/>
                </a:solidFill>
                <a:latin typeface="黑体" panose="02010609060101010101" charset="-122"/>
                <a:ea typeface="黑体" panose="02010609060101010101" charset="-122"/>
                <a:cs typeface="黑体" panose="02010609060101010101" charset="-122"/>
              </a:rPr>
              <a:t>（主要</a:t>
            </a:r>
            <a:r>
              <a:rPr lang="zh-CN" sz="2100" b="1">
                <a:solidFill>
                  <a:srgbClr val="007E78"/>
                </a:solidFill>
                <a:latin typeface="黑体" panose="02010609060101010101" charset="-122"/>
                <a:ea typeface="黑体" panose="02010609060101010101" charset="-122"/>
                <a:cs typeface="黑体" panose="02010609060101010101" charset="-122"/>
              </a:rPr>
              <a:t>评估）</a:t>
            </a:r>
            <a:endParaRPr lang="zh-CN" sz="2100" b="1">
              <a:solidFill>
                <a:srgbClr val="007E78"/>
              </a:solidFill>
              <a:latin typeface="黑体" panose="02010609060101010101" charset="-122"/>
              <a:ea typeface="黑体" panose="02010609060101010101" charset="-122"/>
              <a:cs typeface="黑体" panose="02010609060101010101" charset="-122"/>
            </a:endParaRPr>
          </a:p>
        </p:txBody>
      </p:sp>
      <p:sp>
        <p:nvSpPr>
          <p:cNvPr id="11" name="page8:text"/>
          <p:cNvSpPr>
            <a:spLocks noGrp="1"/>
          </p:cNvSpPr>
          <p:nvPr>
            <p:custDataLst>
              <p:tags r:id="rId4"/>
            </p:custDataLst>
          </p:nvPr>
        </p:nvSpPr>
        <p:spPr>
          <a:xfrm>
            <a:off x="666750" y="2847975"/>
            <a:ext cx="3238500" cy="361950"/>
          </a:xfrm>
          <a:prstGeom prst="rect">
            <a:avLst/>
          </a:prstGeom>
          <a:noFill/>
          <a:ln w="0">
            <a:noFill/>
          </a:ln>
        </p:spPr>
        <p:txBody>
          <a:bodyPr wrap="square" lIns="0" tIns="0" rIns="0" bIns="0">
            <a:noAutofit/>
          </a:bodyPr>
          <a:lstStyle>
            <a:defPPr>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黑体" panose="02010609060101010101" charset="-122"/>
                <a:ea typeface="黑体" panose="02010609060101010101" charset="-122"/>
                <a:cs typeface="PingFang SC" panose="020B0400000000000000" charset="-122"/>
              </a:rPr>
              <a:t>能否有效发现攻击？</a:t>
            </a:r>
            <a:endParaRPr sz="1800" b="1">
              <a:solidFill>
                <a:srgbClr val="173B6C"/>
              </a:solidFill>
              <a:latin typeface="黑体" panose="02010609060101010101" charset="-122"/>
              <a:ea typeface="黑体" panose="02010609060101010101" charset="-122"/>
              <a:cs typeface="PingFang SC" panose="020B0400000000000000" charset="-122"/>
            </a:endParaRPr>
          </a:p>
        </p:txBody>
      </p:sp>
      <p:sp>
        <p:nvSpPr>
          <p:cNvPr id="12" name="page8:text"/>
          <p:cNvSpPr>
            <a:spLocks noGrp="1"/>
          </p:cNvSpPr>
          <p:nvPr>
            <p:custDataLst>
              <p:tags r:id="rId5"/>
            </p:custDataLst>
          </p:nvPr>
        </p:nvSpPr>
        <p:spPr>
          <a:xfrm>
            <a:off x="666750" y="3324225"/>
            <a:ext cx="3238500" cy="1333500"/>
          </a:xfrm>
          <a:prstGeom prst="rect">
            <a:avLst/>
          </a:prstGeom>
          <a:noFill/>
          <a:ln w="0">
            <a:noFill/>
          </a:ln>
        </p:spPr>
        <p:txBody>
          <a:bodyPr wrap="square" lIns="0" tIns="0" rIns="0" bIns="0">
            <a:noAutofit/>
          </a:bodyPr>
          <a:lstStyle>
            <a:defPPr>
              <a:defRPr sz="1725" b="0">
                <a:solidFill>
                  <a:srgbClr val="203040"/>
                </a:solidFill>
                <a:latin typeface="PingFang SC" panose="020B0400000000000000" charset="-122"/>
                <a:ea typeface="PingFang SC" panose="020B0400000000000000" charset="-122"/>
                <a:cs typeface="PingFang SC" panose="020B0400000000000000" charset="-122"/>
              </a:defRPr>
            </a:defPPr>
          </a:lstStyle>
          <a:p>
            <a:pPr>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多数研究主要评价检测性能，</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a:p>
            <a:pPr>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需兼顾攻击检出与误报控制。</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3" name="page8:panel"/>
          <p:cNvSpPr>
            <a:spLocks noGrp="1"/>
          </p:cNvSpPr>
          <p:nvPr>
            <p:custDataLst>
              <p:tags r:id="rId6"/>
            </p:custDataLst>
          </p:nvPr>
        </p:nvSpPr>
        <p:spPr>
          <a:xfrm>
            <a:off x="4286250" y="2152650"/>
            <a:ext cx="3619500" cy="2600325"/>
          </a:xfrm>
          <a:prstGeom prst="roundRect">
            <a:avLst>
              <a:gd name="adj" fmla="val 2564"/>
            </a:avLst>
          </a:prstGeom>
          <a:solidFill>
            <a:srgbClr val="F5FAFA"/>
          </a:solidFill>
          <a:ln w="9525">
            <a:solidFill>
              <a:srgbClr val="D7E5E9"/>
            </a:solidFill>
          </a:ln>
        </p:spPr>
      </p:sp>
      <p:sp>
        <p:nvSpPr>
          <p:cNvPr id="14" name="page8:text"/>
          <p:cNvSpPr>
            <a:spLocks noGrp="1"/>
          </p:cNvSpPr>
          <p:nvPr>
            <p:custDataLst>
              <p:tags r:id="rId7"/>
            </p:custDataLst>
          </p:nvPr>
        </p:nvSpPr>
        <p:spPr>
          <a:xfrm>
            <a:off x="4476750" y="2333625"/>
            <a:ext cx="3238500" cy="381000"/>
          </a:xfrm>
          <a:prstGeom prst="rect">
            <a:avLst/>
          </a:prstGeom>
          <a:noFill/>
          <a:ln w="0">
            <a:noFill/>
          </a:ln>
        </p:spPr>
        <p:txBody>
          <a:bodyPr wrap="square" lIns="0" tIns="0" rIns="0" bIns="0">
            <a:noAutofit/>
          </a:bodyPr>
          <a:lstStyle>
            <a:defPPr>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黑体" panose="02010609060101010101" charset="-122"/>
              </a:rPr>
              <a:t>02  泛化能力</a:t>
            </a:r>
            <a:endParaRPr sz="2100" b="1">
              <a:solidFill>
                <a:srgbClr val="007E78"/>
              </a:solidFill>
              <a:latin typeface="黑体" panose="02010609060101010101" charset="-122"/>
              <a:ea typeface="黑体" panose="02010609060101010101" charset="-122"/>
              <a:cs typeface="黑体" panose="02010609060101010101" charset="-122"/>
            </a:endParaRPr>
          </a:p>
        </p:txBody>
      </p:sp>
      <p:sp>
        <p:nvSpPr>
          <p:cNvPr id="15" name="page8:text"/>
          <p:cNvSpPr>
            <a:spLocks noGrp="1"/>
          </p:cNvSpPr>
          <p:nvPr>
            <p:custDataLst>
              <p:tags r:id="rId8"/>
            </p:custDataLst>
          </p:nvPr>
        </p:nvSpPr>
        <p:spPr>
          <a:xfrm>
            <a:off x="4476750" y="2847975"/>
            <a:ext cx="3238500" cy="361950"/>
          </a:xfrm>
          <a:prstGeom prst="rect">
            <a:avLst/>
          </a:prstGeom>
          <a:noFill/>
          <a:ln w="0">
            <a:noFill/>
          </a:ln>
        </p:spPr>
        <p:txBody>
          <a:bodyPr wrap="square" lIns="0" tIns="0" rIns="0" bIns="0">
            <a:noAutofit/>
          </a:bodyPr>
          <a:lstStyle>
            <a:defPPr>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黑体" panose="02010609060101010101" charset="-122"/>
                <a:ea typeface="黑体" panose="02010609060101010101" charset="-122"/>
                <a:cs typeface="PingFang SC" panose="020B0400000000000000" charset="-122"/>
              </a:rPr>
              <a:t>能否适用于不同工业系统？</a:t>
            </a:r>
            <a:endParaRPr sz="1800" b="1">
              <a:solidFill>
                <a:srgbClr val="173B6C"/>
              </a:solidFill>
              <a:latin typeface="黑体" panose="02010609060101010101" charset="-122"/>
              <a:ea typeface="黑体" panose="02010609060101010101" charset="-122"/>
              <a:cs typeface="PingFang SC" panose="020B0400000000000000" charset="-122"/>
            </a:endParaRPr>
          </a:p>
        </p:txBody>
      </p:sp>
      <p:sp>
        <p:nvSpPr>
          <p:cNvPr id="16" name="page8:text"/>
          <p:cNvSpPr>
            <a:spLocks noGrp="1"/>
          </p:cNvSpPr>
          <p:nvPr>
            <p:custDataLst>
              <p:tags r:id="rId9"/>
            </p:custDataLst>
          </p:nvPr>
        </p:nvSpPr>
        <p:spPr>
          <a:xfrm>
            <a:off x="4476750" y="3324225"/>
            <a:ext cx="3238500" cy="1333500"/>
          </a:xfrm>
          <a:prstGeom prst="rect">
            <a:avLst/>
          </a:prstGeom>
          <a:noFill/>
          <a:ln w="0">
            <a:noFill/>
          </a:ln>
        </p:spPr>
        <p:txBody>
          <a:bodyPr wrap="square" lIns="0" tIns="0" rIns="0" bIns="0">
            <a:noAutofit/>
          </a:bodyPr>
          <a:lstStyle>
            <a:defPPr>
              <a:defRPr sz="1725" b="0">
                <a:solidFill>
                  <a:srgbClr val="203040"/>
                </a:solidFill>
                <a:latin typeface="PingFang SC" panose="020B0400000000000000" charset="-122"/>
                <a:ea typeface="PingFang SC" panose="020B0400000000000000" charset="-122"/>
                <a:cs typeface="PingFang SC" panose="020B0400000000000000" charset="-122"/>
              </a:defRPr>
            </a:defPPr>
          </a:lstStyle>
          <a:p>
            <a:pPr>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工业设施的硬件与协议各异，</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a:p>
            <a:pPr>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检测方法需要适用于不同工业</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a:p>
            <a:pPr>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应用，乃至不同领域。</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7" name="page8:panel"/>
          <p:cNvSpPr>
            <a:spLocks noGrp="1"/>
          </p:cNvSpPr>
          <p:nvPr>
            <p:custDataLst>
              <p:tags r:id="rId10"/>
            </p:custDataLst>
          </p:nvPr>
        </p:nvSpPr>
        <p:spPr>
          <a:xfrm>
            <a:off x="8096250" y="2152650"/>
            <a:ext cx="3619500" cy="2600325"/>
          </a:xfrm>
          <a:prstGeom prst="roundRect">
            <a:avLst>
              <a:gd name="adj" fmla="val 2564"/>
            </a:avLst>
          </a:prstGeom>
          <a:solidFill>
            <a:srgbClr val="F5FAFA"/>
          </a:solidFill>
          <a:ln w="9525">
            <a:solidFill>
              <a:srgbClr val="D7E5E9"/>
            </a:solidFill>
          </a:ln>
        </p:spPr>
      </p:sp>
      <p:sp>
        <p:nvSpPr>
          <p:cNvPr id="18" name="page8:text"/>
          <p:cNvSpPr>
            <a:spLocks noGrp="1"/>
          </p:cNvSpPr>
          <p:nvPr>
            <p:custDataLst>
              <p:tags r:id="rId11"/>
            </p:custDataLst>
          </p:nvPr>
        </p:nvSpPr>
        <p:spPr>
          <a:xfrm>
            <a:off x="8286750" y="2333625"/>
            <a:ext cx="3238500" cy="381000"/>
          </a:xfrm>
          <a:prstGeom prst="rect">
            <a:avLst/>
          </a:prstGeom>
          <a:noFill/>
          <a:ln w="0">
            <a:noFill/>
          </a:ln>
        </p:spPr>
        <p:txBody>
          <a:bodyPr wrap="square" lIns="0" tIns="0" rIns="0" bIns="0">
            <a:noAutofit/>
          </a:bodyPr>
          <a:lstStyle>
            <a:defPPr>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黑体" panose="02010609060101010101" charset="-122"/>
              </a:rPr>
              <a:t>03  可理解性</a:t>
            </a:r>
            <a:endParaRPr sz="2100" b="1">
              <a:solidFill>
                <a:srgbClr val="007E78"/>
              </a:solidFill>
              <a:latin typeface="黑体" panose="02010609060101010101" charset="-122"/>
              <a:ea typeface="黑体" panose="02010609060101010101" charset="-122"/>
              <a:cs typeface="黑体" panose="02010609060101010101" charset="-122"/>
            </a:endParaRPr>
          </a:p>
        </p:txBody>
      </p:sp>
      <p:sp>
        <p:nvSpPr>
          <p:cNvPr id="19" name="page8:text"/>
          <p:cNvSpPr>
            <a:spLocks noGrp="1"/>
          </p:cNvSpPr>
          <p:nvPr>
            <p:custDataLst>
              <p:tags r:id="rId12"/>
            </p:custDataLst>
          </p:nvPr>
        </p:nvSpPr>
        <p:spPr>
          <a:xfrm>
            <a:off x="8286750" y="2847975"/>
            <a:ext cx="3238500" cy="361950"/>
          </a:xfrm>
          <a:prstGeom prst="rect">
            <a:avLst/>
          </a:prstGeom>
          <a:noFill/>
          <a:ln w="0">
            <a:noFill/>
          </a:ln>
        </p:spPr>
        <p:txBody>
          <a:bodyPr wrap="square" lIns="0" tIns="0" rIns="0" bIns="0">
            <a:noAutofit/>
          </a:bodyPr>
          <a:lstStyle>
            <a:defPPr>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黑体" panose="02010609060101010101" charset="-122"/>
                <a:ea typeface="黑体" panose="02010609060101010101" charset="-122"/>
                <a:cs typeface="PingFang SC" panose="020B0400000000000000" charset="-122"/>
              </a:rPr>
              <a:t>能否帮助操作人员理解告警？</a:t>
            </a:r>
            <a:endParaRPr sz="1800" b="1">
              <a:solidFill>
                <a:srgbClr val="173B6C"/>
              </a:solidFill>
              <a:latin typeface="黑体" panose="02010609060101010101" charset="-122"/>
              <a:ea typeface="黑体" panose="02010609060101010101" charset="-122"/>
              <a:cs typeface="PingFang SC" panose="020B0400000000000000" charset="-122"/>
            </a:endParaRPr>
          </a:p>
        </p:txBody>
      </p:sp>
      <p:sp>
        <p:nvSpPr>
          <p:cNvPr id="20" name="page8:text"/>
          <p:cNvSpPr>
            <a:spLocks noGrp="1"/>
          </p:cNvSpPr>
          <p:nvPr>
            <p:custDataLst>
              <p:tags r:id="rId13"/>
            </p:custDataLst>
          </p:nvPr>
        </p:nvSpPr>
        <p:spPr>
          <a:xfrm>
            <a:off x="8286750" y="3324225"/>
            <a:ext cx="3238500" cy="1333500"/>
          </a:xfrm>
          <a:prstGeom prst="rect">
            <a:avLst/>
          </a:prstGeom>
          <a:noFill/>
          <a:ln w="0">
            <a:noFill/>
          </a:ln>
        </p:spPr>
        <p:txBody>
          <a:bodyPr wrap="square" lIns="0" tIns="0" rIns="0" bIns="0">
            <a:noAutofit/>
          </a:bodyPr>
          <a:lstStyle>
            <a:defPPr>
              <a:defRPr sz="1725" b="0">
                <a:solidFill>
                  <a:srgbClr val="203040"/>
                </a:solidFill>
                <a:latin typeface="PingFang SC" panose="020B0400000000000000" charset="-122"/>
                <a:ea typeface="PingFang SC" panose="020B0400000000000000" charset="-122"/>
                <a:cs typeface="PingFang SC" panose="020B0400000000000000" charset="-122"/>
              </a:defRPr>
            </a:defPPr>
          </a:lstStyle>
          <a:p>
            <a:pPr>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告警应为操作人员提供依据，</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a:p>
            <a:pPr>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帮助其理解告警、追查原因，</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a:p>
            <a:pPr>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或排除误报。</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21" name="page8:text"/>
          <p:cNvSpPr>
            <a:spLocks noGrp="1"/>
          </p:cNvSpPr>
          <p:nvPr/>
        </p:nvSpPr>
        <p:spPr>
          <a:xfrm>
            <a:off x="619125" y="4981575"/>
            <a:ext cx="10763250" cy="361950"/>
          </a:xfrm>
          <a:prstGeom prst="rect">
            <a:avLst/>
          </a:prstGeom>
          <a:noFill/>
          <a:ln w="0">
            <a:noFill/>
          </a:ln>
        </p:spPr>
        <p:txBody>
          <a:bodyPr wrap="square" lIns="0" tIns="0" rIns="0" bIns="0">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GeCo 的研究目标</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22" name="page8:text"/>
          <p:cNvSpPr>
            <a:spLocks noGrp="1"/>
          </p:cNvSpPr>
          <p:nvPr/>
        </p:nvSpPr>
        <p:spPr>
          <a:xfrm>
            <a:off x="619125" y="5445125"/>
            <a:ext cx="10858500" cy="666750"/>
          </a:xfrm>
          <a:prstGeom prst="rect">
            <a:avLst/>
          </a:prstGeom>
          <a:noFill/>
          <a:ln w="0">
            <a:noFill/>
          </a:ln>
        </p:spPr>
        <p:txBody>
          <a:bodyPr wrap="square" lIns="0" tIns="0" rIns="0" bIns="0">
            <a:noAutofit/>
          </a:bodyPr>
          <a:lstStyle>
            <a:defPPr>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从正常运行数据中自动学习可理解的</a:t>
            </a:r>
            <a:r>
              <a:rPr lang="zh-CN" sz="1875" b="0">
                <a:solidFill>
                  <a:srgbClr val="203040"/>
                </a:solidFill>
                <a:latin typeface="宋体" panose="02010600030101010101" pitchFamily="2" charset="-122"/>
                <a:ea typeface="宋体" panose="02010600030101010101" pitchFamily="2" charset="-122"/>
                <a:cs typeface="PingFang SC" panose="020B0400000000000000" charset="-122"/>
              </a:rPr>
              <a:t>状态空间</a:t>
            </a:r>
            <a:r>
              <a:rPr sz="1875" b="0">
                <a:solidFill>
                  <a:srgbClr val="203040"/>
                </a:solidFill>
                <a:latin typeface="宋体" panose="02010600030101010101" pitchFamily="2" charset="-122"/>
                <a:ea typeface="宋体" panose="02010600030101010101" pitchFamily="2" charset="-122"/>
                <a:cs typeface="PingFang SC" panose="020B0400000000000000" charset="-122"/>
              </a:rPr>
              <a:t>模型，</a:t>
            </a:r>
            <a:r>
              <a:rPr lang="zh-CN" altLang="en-US" sz="1875" b="0">
                <a:solidFill>
                  <a:srgbClr val="203040"/>
                </a:solidFill>
                <a:latin typeface="宋体" panose="02010600030101010101" pitchFamily="2" charset="-122"/>
                <a:ea typeface="宋体" panose="02010600030101010101" pitchFamily="2" charset="-122"/>
                <a:cs typeface="PingFang SC" panose="020B0400000000000000" charset="-122"/>
              </a:rPr>
              <a:t>通过检测实际观测与模型预测之间的偏离发现攻击迹象，减少人工建模工作，并为操作人员核查告警提供依据。</a:t>
            </a:r>
            <a:endParaRPr lang="zh-CN" altLang="en-US"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23"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08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1123950" y="2705100"/>
            <a:ext cx="1524000" cy="1524000"/>
          </a:xfrm>
          <a:prstGeom prst="rect">
            <a:avLst/>
          </a:prstGeom>
          <a:solidFill>
            <a:srgbClr val="173B6C"/>
          </a:solidFill>
          <a:ln w="0">
            <a:noFill/>
            <a:prstDash val="solid"/>
          </a:ln>
        </p:spPr>
      </p:sp>
      <p:sp>
        <p:nvSpPr>
          <p:cNvPr id="5" name="矩形 4"/>
          <p:cNvSpPr>
            <a:spLocks noGrp="1"/>
          </p:cNvSpPr>
          <p:nvPr/>
        </p:nvSpPr>
        <p:spPr>
          <a:xfrm>
            <a:off x="1123950" y="2781300"/>
            <a:ext cx="1524000" cy="1323975"/>
          </a:xfrm>
          <a:prstGeom prst="rect">
            <a:avLst/>
          </a:prstGeom>
          <a:noFill/>
          <a:ln w="0">
            <a:noFill/>
            <a:prstDash val="solid"/>
          </a:ln>
        </p:spPr>
        <p:txBody>
          <a:bodyPr lIns="0" tIns="0" rIns="0" bIns="0" anchor="ctr"/>
          <a:lstStyle>
            <a:defPPr algn="ctr">
              <a:defRPr sz="7050" b="1">
                <a:solidFill>
                  <a:srgbClr val="FFFFFF"/>
                </a:solidFill>
                <a:latin typeface="PingFang SC" panose="020B0400000000000000" charset="-122"/>
                <a:ea typeface="PingFang SC" panose="020B0400000000000000" charset="-122"/>
                <a:cs typeface="PingFang SC" panose="020B0400000000000000" charset="-122"/>
              </a:defRPr>
            </a:defPPr>
          </a:lstStyle>
          <a:p>
            <a:pPr algn="ctr">
              <a:buNone/>
              <a:defRPr sz="7050" b="1">
                <a:solidFill>
                  <a:srgbClr val="FFFFFF"/>
                </a:solidFill>
                <a:latin typeface="PingFang SC" panose="020B0400000000000000" charset="-122"/>
                <a:ea typeface="PingFang SC" panose="020B0400000000000000" charset="-122"/>
                <a:cs typeface="PingFang SC" panose="020B0400000000000000" charset="-122"/>
              </a:defRPr>
            </a:pPr>
            <a:r>
              <a:rPr sz="7050" b="1">
                <a:solidFill>
                  <a:srgbClr val="FFFFFF"/>
                </a:solidFill>
                <a:latin typeface="黑体" panose="02010609060101010101" charset="-122"/>
                <a:ea typeface="黑体" panose="02010609060101010101" charset="-122"/>
                <a:cs typeface="PingFang SC" panose="020B0400000000000000" charset="-122"/>
              </a:rPr>
              <a:t>2</a:t>
            </a:r>
            <a:endParaRPr sz="7050" b="1">
              <a:solidFill>
                <a:srgbClr val="FFFFFF"/>
              </a:solidFill>
              <a:latin typeface="黑体" panose="02010609060101010101" charset="-122"/>
              <a:ea typeface="黑体" panose="02010609060101010101" charset="-122"/>
              <a:cs typeface="PingFang SC" panose="020B0400000000000000" charset="-122"/>
            </a:endParaRPr>
          </a:p>
        </p:txBody>
      </p:sp>
      <p:pic>
        <p:nvPicPr>
          <p:cNvPr id="6" name="图片 5"/>
          <p:cNvPicPr>
            <a:picLocks noChangeAspect="1"/>
          </p:cNvPicPr>
          <p:nvPr/>
        </p:nvPicPr>
        <p:blipFill>
          <a:blip r:embed="rId2"/>
          <a:srcRect l="58106" t="50348" r="9587" b="42490"/>
          <a:stretch>
            <a:fillRect/>
          </a:stretch>
        </p:blipFill>
        <p:spPr>
          <a:xfrm>
            <a:off x="2838450" y="2705100"/>
            <a:ext cx="9353550" cy="1276350"/>
          </a:xfrm>
          <a:prstGeom prst="rect">
            <a:avLst/>
          </a:prstGeom>
        </p:spPr>
      </p:pic>
      <p:sp>
        <p:nvSpPr>
          <p:cNvPr id="7" name="矩形 6"/>
          <p:cNvSpPr>
            <a:spLocks noGrp="1"/>
          </p:cNvSpPr>
          <p:nvPr/>
        </p:nvSpPr>
        <p:spPr>
          <a:xfrm>
            <a:off x="2838450" y="2705100"/>
            <a:ext cx="9353550" cy="1276350"/>
          </a:xfrm>
          <a:prstGeom prst="rect">
            <a:avLst/>
          </a:prstGeom>
          <a:gradFill>
            <a:gsLst>
              <a:gs pos="0">
                <a:srgbClr val="173B6C"/>
              </a:gs>
              <a:gs pos="45000">
                <a:srgbClr val="173B6C">
                  <a:alpha val="92000"/>
                </a:srgbClr>
              </a:gs>
              <a:gs pos="100000">
                <a:srgbClr val="007E78">
                  <a:alpha val="76000"/>
                </a:srgbClr>
              </a:gs>
            </a:gsLst>
            <a:lin ang="0"/>
          </a:gradFill>
          <a:ln w="0">
            <a:noFill/>
            <a:prstDash val="solid"/>
          </a:ln>
        </p:spPr>
      </p:sp>
      <p:sp>
        <p:nvSpPr>
          <p:cNvPr id="8" name="矩形 7"/>
          <p:cNvSpPr>
            <a:spLocks noGrp="1"/>
          </p:cNvSpPr>
          <p:nvPr/>
        </p:nvSpPr>
        <p:spPr>
          <a:xfrm>
            <a:off x="3295650" y="2971800"/>
            <a:ext cx="7810500" cy="742950"/>
          </a:xfrm>
          <a:prstGeom prst="rect">
            <a:avLst/>
          </a:prstGeom>
          <a:noFill/>
          <a:ln w="0">
            <a:noFill/>
            <a:prstDash val="solid"/>
          </a:ln>
        </p:spPr>
        <p:txBody>
          <a:bodyPr lIns="0" tIns="0" rIns="0" bIns="0" anchor="ctr"/>
          <a:lstStyle>
            <a:defPPr>
              <a:defRPr sz="3150" b="1">
                <a:solidFill>
                  <a:srgbClr val="FFFFFF"/>
                </a:solidFill>
                <a:latin typeface="PingFang SC" panose="020B0400000000000000" charset="-122"/>
                <a:ea typeface="PingFang SC" panose="020B0400000000000000" charset="-122"/>
                <a:cs typeface="PingFang SC" panose="020B0400000000000000" charset="-122"/>
              </a:defRPr>
            </a:defPPr>
          </a:lstStyle>
          <a:p>
            <a:pPr>
              <a:buNone/>
              <a:defRPr sz="3150" b="1">
                <a:solidFill>
                  <a:srgbClr val="FFFFFF"/>
                </a:solidFill>
                <a:latin typeface="PingFang SC" panose="020B0400000000000000" charset="-122"/>
                <a:ea typeface="PingFang SC" panose="020B0400000000000000" charset="-122"/>
                <a:cs typeface="PingFang SC" panose="020B0400000000000000" charset="-122"/>
              </a:defRPr>
            </a:pPr>
            <a:r>
              <a:rPr sz="3150" b="1">
                <a:solidFill>
                  <a:srgbClr val="FFFFFF"/>
                </a:solidFill>
                <a:latin typeface="黑体" panose="02010609060101010101" charset="-122"/>
                <a:ea typeface="黑体" panose="02010609060101010101" charset="-122"/>
                <a:cs typeface="黑体" panose="02010609060101010101" charset="-122"/>
              </a:rPr>
              <a:t>GeCo方法设计</a:t>
            </a:r>
            <a:endParaRPr sz="3150" b="1">
              <a:solidFill>
                <a:srgbClr val="FFFFFF"/>
              </a:solidFill>
              <a:latin typeface="黑体" panose="02010609060101010101" charset="-122"/>
              <a:ea typeface="黑体" panose="02010609060101010101" charset="-122"/>
              <a:cs typeface="黑体" panose="02010609060101010101" charset="-122"/>
            </a:endParaRPr>
          </a:p>
        </p:txBody>
      </p:sp>
      <p:sp>
        <p:nvSpPr>
          <p:cNvPr id="9" name="矩形 8"/>
          <p:cNvSpPr>
            <a:spLocks noGrp="1"/>
          </p:cNvSpPr>
          <p:nvPr/>
        </p:nvSpPr>
        <p:spPr>
          <a:xfrm>
            <a:off x="2838450" y="4143375"/>
            <a:ext cx="8210550" cy="76200"/>
          </a:xfrm>
          <a:prstGeom prst="rect">
            <a:avLst/>
          </a:prstGeom>
          <a:solidFill>
            <a:srgbClr val="00AFA8"/>
          </a:solidFill>
          <a:ln w="0">
            <a:noFill/>
            <a:prstDash val="solid"/>
          </a:ln>
        </p:spPr>
      </p:sp>
      <p:sp>
        <p:nvSpPr>
          <p:cNvPr id="10" name="矩形 9"/>
          <p:cNvSpPr>
            <a:spLocks noGrp="1"/>
          </p:cNvSpPr>
          <p:nvPr/>
        </p:nvSpPr>
        <p:spPr>
          <a:xfrm>
            <a:off x="2838450" y="4476750"/>
            <a:ext cx="8572500" cy="885825"/>
          </a:xfrm>
          <a:prstGeom prst="rect">
            <a:avLst/>
          </a:prstGeom>
          <a:noFill/>
          <a:ln w="0">
            <a:noFill/>
            <a:prstDash val="solid"/>
          </a:ln>
        </p:spPr>
        <p:txBody>
          <a:bodyPr lIns="0" tIns="0" rIns="0" bIns="0" anchor="ctr"/>
          <a:lstStyle>
            <a:defPPr>
              <a:defRPr sz="18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sz="1875" b="0">
                <a:solidFill>
                  <a:srgbClr val="263B50"/>
                </a:solidFill>
                <a:latin typeface="宋体" panose="02010600030101010101" pitchFamily="2" charset="-122"/>
                <a:ea typeface="宋体" panose="02010600030101010101" pitchFamily="2" charset="-122"/>
                <a:cs typeface="PingFang SC" panose="020B0400000000000000" charset="-122"/>
              </a:rPr>
              <a:t>核心问题：如何从正常过程数据学习公式，并将预测偏差转化为告警？</a:t>
            </a:r>
            <a:endParaRPr sz="18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11"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09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457200" y="209550"/>
            <a:ext cx="76200" cy="457200"/>
          </a:xfrm>
          <a:prstGeom prst="rect">
            <a:avLst/>
          </a:prstGeom>
          <a:solidFill>
            <a:srgbClr val="00AFA8"/>
          </a:solidFill>
          <a:ln w="0">
            <a:noFill/>
          </a:ln>
        </p:spPr>
      </p:sp>
      <p:sp>
        <p:nvSpPr>
          <p:cNvPr id="2" name="02 GeCo方法设计"/>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02 GeCo方法设计</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整体流程：学习公式、预测状态、累积偏差"/>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整体流程：学习公式、预测状态、累积偏差</a:t>
            </a:r>
            <a:endParaRPr sz="2250" b="1">
              <a:solidFill>
                <a:srgbClr val="007E78"/>
              </a:solidFill>
              <a:latin typeface="黑体" panose="02010609060101010101" charset="-122"/>
              <a:ea typeface="黑体" panose="02010609060101010101" charset="-122"/>
              <a:cs typeface="PingFang SC" panose="020B0400000000000000" charset="-122"/>
            </a:endParaRPr>
          </a:p>
        </p:txBody>
      </p:sp>
      <p:pic>
        <p:nvPicPr>
          <p:cNvPr id="6" name="图片 5"/>
          <p:cNvPicPr>
            <a:picLocks noChangeAspect="1"/>
          </p:cNvPicPr>
          <p:nvPr/>
        </p:nvPicPr>
        <p:blipFill>
          <a:blip r:embed="rId2"/>
          <a:stretch>
            <a:fillRect/>
          </a:stretch>
        </p:blipFill>
        <p:spPr>
          <a:xfrm>
            <a:off x="989975" y="1695450"/>
            <a:ext cx="10116799" cy="2952750"/>
          </a:xfrm>
          <a:prstGeom prst="rect">
            <a:avLst/>
          </a:prstGeom>
        </p:spPr>
      </p:pic>
      <p:sp>
        <p:nvSpPr>
          <p:cNvPr id="13" name="矩形 12"/>
          <p:cNvSpPr>
            <a:spLocks noGrp="1"/>
          </p:cNvSpPr>
          <p:nvPr/>
        </p:nvSpPr>
        <p:spPr>
          <a:xfrm>
            <a:off x="476250" y="6028690"/>
            <a:ext cx="11340000" cy="576000"/>
          </a:xfrm>
          <a:prstGeom prst="rect">
            <a:avLst/>
          </a:prstGeom>
          <a:solidFill>
            <a:srgbClr val="E8F7F6"/>
          </a:solidFill>
          <a:ln w="0">
            <a:noFill/>
          </a:ln>
        </p:spPr>
      </p:sp>
      <p:sp>
        <p:nvSpPr>
          <p:cNvPr id="14" name="每个变量对应一条公式，使检测依据能够回溯到具体过程关系"/>
          <p:cNvSpPr>
            <a:spLocks noGrp="1"/>
          </p:cNvSpPr>
          <p:nvPr/>
        </p:nvSpPr>
        <p:spPr>
          <a:xfrm>
            <a:off x="647700" y="6123940"/>
            <a:ext cx="10858500" cy="400050"/>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每个变量对应一条公式，使检测依据能够回溯到具体过程关系</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16" name="frame-148"/>
          <p:cNvSpPr>
            <a:spLocks noGrp="1"/>
          </p:cNvSpPr>
          <p:nvPr/>
        </p:nvSpPr>
        <p:spPr>
          <a:xfrm>
            <a:off x="523875" y="4552315"/>
            <a:ext cx="3524250" cy="1343025"/>
          </a:xfrm>
          <a:prstGeom prst="roundRect">
            <a:avLst>
              <a:gd name="adj" fmla="val 8511"/>
            </a:avLst>
          </a:prstGeom>
          <a:solidFill>
            <a:srgbClr val="F7FAFB"/>
          </a:solidFill>
          <a:ln w="9525">
            <a:solidFill>
              <a:srgbClr val="CCDCE5"/>
            </a:solidFill>
            <a:prstDash val="solid"/>
          </a:ln>
        </p:spPr>
      </p:sp>
      <p:sp>
        <p:nvSpPr>
          <p:cNvPr id="18" name="text-150"/>
          <p:cNvSpPr>
            <a:spLocks noGrp="1"/>
          </p:cNvSpPr>
          <p:nvPr/>
        </p:nvSpPr>
        <p:spPr>
          <a:xfrm>
            <a:off x="676275" y="4618990"/>
            <a:ext cx="3219450" cy="361950"/>
          </a:xfrm>
          <a:prstGeom prst="rect">
            <a:avLst/>
          </a:prstGeom>
          <a:noFill/>
          <a:ln w="0">
            <a:noFill/>
            <a:prstDash val="solid"/>
          </a:ln>
        </p:spPr>
        <p:txBody>
          <a:bodyPr lIns="0" tIns="0" rIns="0" bIns="0" anchor="ctr">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① 离线学习模型</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19" name="text-151"/>
          <p:cNvSpPr>
            <a:spLocks noGrp="1"/>
          </p:cNvSpPr>
          <p:nvPr/>
        </p:nvSpPr>
        <p:spPr>
          <a:xfrm>
            <a:off x="676275" y="5057140"/>
            <a:ext cx="3219450" cy="790575"/>
          </a:xfrm>
          <a:prstGeom prst="rect">
            <a:avLst/>
          </a:prstGeom>
          <a:noFill/>
          <a:ln w="0">
            <a:noFill/>
            <a:prstDash val="solid"/>
          </a:ln>
        </p:spPr>
        <p:txBody>
          <a:bodyPr lIns="0" tIns="0" rIns="0" bIns="0" anchor="ctr">
            <a:noAutofit/>
          </a:bodyPr>
          <a:lstStyle>
            <a:defPPr>
              <a:defRPr sz="1800" b="0">
                <a:solidFill>
                  <a:srgbClr val="263B5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搜索模板、输入与参数，</a:t>
            </a:r>
            <a:endParaRPr sz="1800"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选择训练误差最小的公式。</a:t>
            </a:r>
            <a:endParaRPr sz="1800"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20" name="frame-152"/>
          <p:cNvSpPr>
            <a:spLocks noGrp="1"/>
          </p:cNvSpPr>
          <p:nvPr/>
        </p:nvSpPr>
        <p:spPr>
          <a:xfrm>
            <a:off x="4257675" y="4552315"/>
            <a:ext cx="3524250" cy="1343025"/>
          </a:xfrm>
          <a:prstGeom prst="roundRect">
            <a:avLst>
              <a:gd name="adj" fmla="val 8511"/>
            </a:avLst>
          </a:prstGeom>
          <a:solidFill>
            <a:srgbClr val="F7FAFB"/>
          </a:solidFill>
          <a:ln w="9525">
            <a:solidFill>
              <a:srgbClr val="CCDCE5"/>
            </a:solidFill>
            <a:prstDash val="solid"/>
          </a:ln>
        </p:spPr>
      </p:sp>
      <p:sp>
        <p:nvSpPr>
          <p:cNvPr id="21" name="text-154"/>
          <p:cNvSpPr>
            <a:spLocks noGrp="1"/>
          </p:cNvSpPr>
          <p:nvPr/>
        </p:nvSpPr>
        <p:spPr>
          <a:xfrm>
            <a:off x="4486275" y="4618990"/>
            <a:ext cx="3219450" cy="361950"/>
          </a:xfrm>
          <a:prstGeom prst="rect">
            <a:avLst/>
          </a:prstGeom>
          <a:noFill/>
          <a:ln w="0">
            <a:noFill/>
            <a:prstDash val="solid"/>
          </a:ln>
        </p:spPr>
        <p:txBody>
          <a:bodyPr lIns="0" tIns="0" rIns="0" bIns="0" anchor="ctr">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② 在线计算残差</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22" name="text-155"/>
          <p:cNvSpPr>
            <a:spLocks noGrp="1"/>
          </p:cNvSpPr>
          <p:nvPr/>
        </p:nvSpPr>
        <p:spPr>
          <a:xfrm>
            <a:off x="4486275" y="5057140"/>
            <a:ext cx="3219450" cy="790575"/>
          </a:xfrm>
          <a:prstGeom prst="rect">
            <a:avLst/>
          </a:prstGeom>
          <a:noFill/>
          <a:ln w="0">
            <a:noFill/>
            <a:prstDash val="solid"/>
          </a:ln>
        </p:spPr>
        <p:txBody>
          <a:bodyPr lIns="0" tIns="0" rIns="0" bIns="0" anchor="ctr">
            <a:noAutofit/>
          </a:bodyPr>
          <a:lstStyle>
            <a:defPPr>
              <a:defRPr sz="1800"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00" b="0">
                <a:solidFill>
                  <a:srgbClr val="263B5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PingFang SC" panose="020B0400000000000000" charset="-122"/>
              </a:rPr>
              <a:t>以上一时刻观测预测当前值，</a:t>
            </a:r>
            <a:endParaRPr sz="1800" b="0">
              <a:solidFill>
                <a:srgbClr val="203040"/>
              </a:solidFill>
              <a:latin typeface="宋体" panose="02010600030101010101" pitchFamily="2" charset="-122"/>
              <a:ea typeface="宋体" panose="02010600030101010101" pitchFamily="2" charset="-122"/>
              <a:cs typeface="PingFang SC" panose="020B0400000000000000" charset="-122"/>
            </a:endParaRPr>
          </a:p>
          <a:p>
            <a:pPr>
              <a:buNone/>
              <a:defRPr sz="1800" b="0">
                <a:solidFill>
                  <a:srgbClr val="263B5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PingFang SC" panose="020B0400000000000000" charset="-122"/>
              </a:rPr>
              <a:t>比较预测值与实际测量值。</a:t>
            </a:r>
            <a:endParaRPr sz="1800"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23" name="frame-156"/>
          <p:cNvSpPr>
            <a:spLocks noGrp="1"/>
          </p:cNvSpPr>
          <p:nvPr/>
        </p:nvSpPr>
        <p:spPr>
          <a:xfrm>
            <a:off x="8143875" y="4552315"/>
            <a:ext cx="3524250" cy="1343025"/>
          </a:xfrm>
          <a:prstGeom prst="roundRect">
            <a:avLst>
              <a:gd name="adj" fmla="val 8511"/>
            </a:avLst>
          </a:prstGeom>
          <a:solidFill>
            <a:srgbClr val="F7FAFB"/>
          </a:solidFill>
          <a:ln w="9525">
            <a:solidFill>
              <a:srgbClr val="CCDCE5"/>
            </a:solidFill>
            <a:prstDash val="solid"/>
          </a:ln>
        </p:spPr>
      </p:sp>
      <p:sp>
        <p:nvSpPr>
          <p:cNvPr id="24" name="text-158"/>
          <p:cNvSpPr>
            <a:spLocks noGrp="1"/>
          </p:cNvSpPr>
          <p:nvPr/>
        </p:nvSpPr>
        <p:spPr>
          <a:xfrm>
            <a:off x="8296275" y="4618990"/>
            <a:ext cx="3219450" cy="361950"/>
          </a:xfrm>
          <a:prstGeom prst="rect">
            <a:avLst/>
          </a:prstGeom>
          <a:noFill/>
          <a:ln w="0">
            <a:noFill/>
            <a:prstDash val="solid"/>
          </a:ln>
        </p:spPr>
        <p:txBody>
          <a:bodyPr lIns="0" tIns="0" rIns="0" bIns="0" anchor="ctr">
            <a:noAutofit/>
          </a:bodyPr>
          <a:lstStyle>
            <a:defPPr>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③ 累积偏差并告警</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25" name="text-159"/>
          <p:cNvSpPr>
            <a:spLocks noGrp="1"/>
          </p:cNvSpPr>
          <p:nvPr/>
        </p:nvSpPr>
        <p:spPr>
          <a:xfrm>
            <a:off x="8296275" y="5057140"/>
            <a:ext cx="3219450" cy="790575"/>
          </a:xfrm>
          <a:prstGeom prst="rect">
            <a:avLst/>
          </a:prstGeom>
          <a:noFill/>
          <a:ln w="0">
            <a:noFill/>
            <a:prstDash val="solid"/>
          </a:ln>
        </p:spPr>
        <p:txBody>
          <a:bodyPr lIns="0" tIns="0" rIns="0" bIns="0" anchor="ctr">
            <a:noAutofit/>
          </a:bodyPr>
          <a:lstStyle>
            <a:defPPr>
              <a:defRPr sz="1800" b="0">
                <a:solidFill>
                  <a:srgbClr val="263B5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逐变量累积持续的偏差，</a:t>
            </a:r>
            <a:endParaRPr sz="1800"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a:solidFill>
                  <a:srgbClr val="203040"/>
                </a:solidFill>
                <a:latin typeface="宋体" panose="02010600030101010101" pitchFamily="2" charset="-122"/>
                <a:ea typeface="宋体" panose="02010600030101010101" pitchFamily="2" charset="-122"/>
                <a:cs typeface="PingFang SC" panose="020B0400000000000000" charset="-122"/>
              </a:rPr>
              <a:t>超过阈值时形成告警。</a:t>
            </a:r>
            <a:endParaRPr sz="1800" b="0">
              <a:latin typeface="宋体" panose="02010600030101010101" pitchFamily="2" charset="-122"/>
              <a:ea typeface="宋体" panose="02010600030101010101" pitchFamily="2" charset="-122"/>
              <a:cs typeface="PingFang SC" panose="020B0400000000000000" charset="-122"/>
            </a:endParaRPr>
          </a:p>
        </p:txBody>
      </p:sp>
      <p:sp>
        <p:nvSpPr>
          <p:cNvPr id="26"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10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 name="矩形 15"/>
          <p:cNvSpPr>
            <a:spLocks noGrp="1"/>
          </p:cNvSpPr>
          <p:nvPr/>
        </p:nvSpPr>
        <p:spPr>
          <a:xfrm>
            <a:off x="457200" y="209550"/>
            <a:ext cx="76200" cy="457200"/>
          </a:xfrm>
          <a:prstGeom prst="rect">
            <a:avLst/>
          </a:prstGeom>
          <a:solidFill>
            <a:srgbClr val="00AFA8"/>
          </a:solidFill>
          <a:ln w="0">
            <a:noFill/>
          </a:ln>
        </p:spPr>
      </p:sp>
      <p:sp>
        <p:nvSpPr>
          <p:cNvPr id="2" name="02 GeCo方法设计"/>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02 GeCo方法设计</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状态空间表示：自身状态与外部输入共同决定变化"/>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状态空间表示：自身状态与外部输入共同决定</a:t>
            </a:r>
            <a:endParaRPr sz="2250" b="1">
              <a:solidFill>
                <a:srgbClr val="007E78"/>
              </a:solidFill>
              <a:latin typeface="黑体" panose="02010609060101010101" charset="-122"/>
              <a:ea typeface="黑体" panose="02010609060101010101" charset="-122"/>
              <a:cs typeface="PingFang SC" panose="020B0400000000000000" charset="-122"/>
            </a:endParaRPr>
          </a:p>
        </p:txBody>
      </p:sp>
      <p:pic>
        <p:nvPicPr>
          <p:cNvPr id="6" name="图片 5"/>
          <p:cNvPicPr>
            <a:picLocks noChangeAspect="1"/>
          </p:cNvPicPr>
          <p:nvPr/>
        </p:nvPicPr>
        <p:blipFill>
          <a:blip r:embed="rId2"/>
          <a:stretch>
            <a:fillRect/>
          </a:stretch>
        </p:blipFill>
        <p:spPr>
          <a:xfrm>
            <a:off x="2938096" y="1828800"/>
            <a:ext cx="6172933" cy="952500"/>
          </a:xfrm>
          <a:prstGeom prst="rect">
            <a:avLst/>
          </a:prstGeom>
        </p:spPr>
      </p:pic>
      <p:sp>
        <p:nvSpPr>
          <p:cNvPr id="7" name="A：自身演化"/>
          <p:cNvSpPr>
            <a:spLocks noGrp="1"/>
          </p:cNvSpPr>
          <p:nvPr/>
        </p:nvSpPr>
        <p:spPr>
          <a:xfrm>
            <a:off x="619125" y="4076700"/>
            <a:ext cx="509587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PingFang SC" panose="020B0400000000000000" charset="-122"/>
                <a:ea typeface="PingFang SC" panose="020B0400000000000000" charset="-122"/>
                <a:cs typeface="PingFang SC" panose="020B0400000000000000" charset="-122"/>
              </a:rPr>
              <a:t>A：自身演化</a:t>
            </a:r>
            <a:endParaRPr sz="2025" b="1">
              <a:solidFill>
                <a:srgbClr val="007E78"/>
              </a:solidFill>
              <a:latin typeface="PingFang SC" panose="020B0400000000000000" charset="-122"/>
              <a:ea typeface="PingFang SC" panose="020B0400000000000000" charset="-122"/>
              <a:cs typeface="PingFang SC" panose="020B0400000000000000" charset="-122"/>
            </a:endParaRPr>
          </a:p>
        </p:txBody>
      </p:sp>
      <p:sp>
        <p:nvSpPr>
          <p:cNvPr id="8" name="将A简化为对角形式。系数为1时，自身状态保持；小于1时，可近似表示无外"/>
          <p:cNvSpPr>
            <a:spLocks noGrp="1"/>
          </p:cNvSpPr>
          <p:nvPr/>
        </p:nvSpPr>
        <p:spPr>
          <a:xfrm>
            <a:off x="619125" y="4495800"/>
            <a:ext cx="5095875" cy="161925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描述系统自身状态如何演变的。</a:t>
            </a:r>
            <a:r>
              <a:rPr lang="zh-CN" sz="1875" b="0">
                <a:solidFill>
                  <a:srgbClr val="203040"/>
                </a:solidFill>
                <a:latin typeface="宋体" panose="02010600030101010101" pitchFamily="2" charset="-122"/>
                <a:ea typeface="宋体" panose="02010600030101010101" pitchFamily="2" charset="-122"/>
                <a:cs typeface="宋体" panose="02010600030101010101" pitchFamily="2" charset="-122"/>
              </a:rPr>
              <a:t>如在水箱系统中，若没有进水和出水，那么水箱水位不变，</a:t>
            </a: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系数为1时，自身状态保持；小于1时，可近似表示无外部输入下的衰减。</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9" name="B：输入作用"/>
          <p:cNvSpPr>
            <a:spLocks noGrp="1"/>
          </p:cNvSpPr>
          <p:nvPr/>
        </p:nvSpPr>
        <p:spPr>
          <a:xfrm>
            <a:off x="6477000" y="4076700"/>
            <a:ext cx="509587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PingFang SC" panose="020B0400000000000000" charset="-122"/>
                <a:ea typeface="PingFang SC" panose="020B0400000000000000" charset="-122"/>
                <a:cs typeface="PingFang SC" panose="020B0400000000000000" charset="-122"/>
              </a:rPr>
              <a:t>B：输入作用</a:t>
            </a:r>
            <a:endParaRPr sz="2025" b="1">
              <a:solidFill>
                <a:srgbClr val="007E78"/>
              </a:solidFill>
              <a:latin typeface="PingFang SC" panose="020B0400000000000000" charset="-122"/>
              <a:ea typeface="PingFang SC" panose="020B0400000000000000" charset="-122"/>
              <a:cs typeface="PingFang SC" panose="020B0400000000000000" charset="-122"/>
            </a:endParaRPr>
          </a:p>
        </p:txBody>
      </p:sp>
      <p:sp>
        <p:nvSpPr>
          <p:cNvPr id="10" name="用函数模板描述其他过程变量对目标值的影响，并从数据拟合参数。实现中会测"/>
          <p:cNvSpPr>
            <a:spLocks noGrp="1"/>
          </p:cNvSpPr>
          <p:nvPr/>
        </p:nvSpPr>
        <p:spPr>
          <a:xfrm>
            <a:off x="6477000" y="4495800"/>
            <a:ext cx="5095875" cy="161925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描述控制输入对系统的影响,用函数模板描述其他过程变量对目标值的影响，并从数据拟合参数。实现中会测试变量组合。</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mc:AlternateContent xmlns:mc="http://schemas.openxmlformats.org/markup-compatibility/2006">
        <mc:Choice xmlns:a14="http://schemas.microsoft.com/office/drawing/2010/main" Requires="a14">
          <p:sp>
            <p:nvSpPr>
              <p:cNvPr id="11" name="x：过程状态    u：候选输入    t：等间隔采样时刻"/>
              <p:cNvSpPr>
                <a:spLocks noGrp="1"/>
              </p:cNvSpPr>
              <p:nvPr/>
            </p:nvSpPr>
            <p:spPr>
              <a:xfrm>
                <a:off x="457200" y="2853055"/>
                <a:ext cx="11115675" cy="963930"/>
              </a:xfrm>
              <a:prstGeom prst="rect">
                <a:avLst/>
              </a:prstGeom>
              <a:noFill/>
              <a:ln w="0">
                <a:noFill/>
              </a:ln>
            </p:spPr>
            <p:txBody>
              <a:bodyPr wrap="square" lIns="0" tIns="0" rIns="0" bIns="0" anchor="t">
                <a:noAutofit/>
              </a:bodyPr>
              <a:lstStyle>
                <a:defPPr algn="l">
                  <a:defRPr sz="1875" b="0">
                    <a:solidFill>
                      <a:srgbClr val="57697B"/>
                    </a:solidFill>
                    <a:latin typeface="PingFang SC" panose="020B0400000000000000" charset="-122"/>
                    <a:ea typeface="PingFang SC" panose="020B0400000000000000" charset="-122"/>
                    <a:cs typeface="PingFang SC" panose="020B0400000000000000" charset="-122"/>
                  </a:defRPr>
                </a:defPPr>
              </a:lstStyle>
              <a:p>
                <a:pPr algn="ctr">
                  <a:buNone/>
                  <a:defRPr sz="1875" b="0">
                    <a:solidFill>
                      <a:srgbClr val="57697B"/>
                    </a:solidFill>
                    <a:latin typeface="PingFang SC" panose="020B0400000000000000" charset="-122"/>
                    <a:ea typeface="PingFang SC" panose="020B0400000000000000" charset="-122"/>
                    <a:cs typeface="PingFang SC" panose="020B0400000000000000" charset="-122"/>
                  </a:defRPr>
                </a:pPr>
                <a:r>
                  <a:rPr sz="1875" b="0" i="1">
                    <a:solidFill>
                      <a:srgbClr val="57697B"/>
                    </a:solidFill>
                    <a:latin typeface="宋体" panose="02010600030101010101" pitchFamily="2" charset="-122"/>
                    <a:ea typeface="宋体" panose="02010600030101010101" pitchFamily="2" charset="-122"/>
                    <a:cs typeface="宋体" panose="02010600030101010101" pitchFamily="2" charset="-122"/>
                  </a:rPr>
                  <a:t>t</a:t>
                </a:r>
                <a:r>
                  <a:rPr sz="1875" b="0">
                    <a:solidFill>
                      <a:srgbClr val="57697B"/>
                    </a:solidFill>
                    <a:latin typeface="宋体" panose="02010600030101010101" pitchFamily="2" charset="-122"/>
                    <a:ea typeface="宋体" panose="02010600030101010101" pitchFamily="2" charset="-122"/>
                    <a:cs typeface="宋体" panose="02010600030101010101" pitchFamily="2" charset="-122"/>
                  </a:rPr>
                  <a:t> :当前时刻                                      </a:t>
                </a:r>
                <a14:m>
                  <m:oMath xmlns:m="http://schemas.openxmlformats.org/officeDocument/2006/math">
                    <m:sSub>
                      <m:sSubPr>
                        <m:ctrlPr>
                          <a:rPr>
                            <a:latin typeface="DejaVu Math TeX Gyre" panose="02000503000000000000" charset="0"/>
                            <a:ea typeface="宋体" panose="02010600030101010101" pitchFamily="2" charset="-122"/>
                            <a:cs typeface="DejaVu Math TeX Gyre" panose="02000503000000000000" charset="0"/>
                          </a:rPr>
                        </m:ctrlPr>
                      </m:sSubPr>
                      <m:e>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𝑥</m:t>
                        </m:r>
                      </m:e>
                      <m:sub>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𝑡</m:t>
                        </m:r>
                      </m:sub>
                    </m:sSub>
                  </m:oMath>
                </a14:m>
                <a:r>
                  <a:rPr sz="1875" b="0">
                    <a:solidFill>
                      <a:srgbClr val="57697B"/>
                    </a:solidFill>
                    <a:latin typeface="宋体" panose="02010600030101010101" pitchFamily="2" charset="-122"/>
                    <a:ea typeface="宋体" panose="02010600030101010101" pitchFamily="2" charset="-122"/>
                    <a:cs typeface="宋体" panose="02010600030101010101" pitchFamily="2" charset="-122"/>
                  </a:rPr>
                  <a:t>：</a:t>
                </a:r>
                <a:r>
                  <a:rPr sz="1875" b="0">
                    <a:solidFill>
                      <a:srgbClr val="57697B"/>
                    </a:solidFill>
                    <a:latin typeface="宋体" panose="02010600030101010101" pitchFamily="2" charset="-122"/>
                    <a:ea typeface="宋体" panose="02010600030101010101" pitchFamily="2" charset="-122"/>
                    <a:cs typeface="宋体" panose="02010600030101010101" pitchFamily="2" charset="-122"/>
                  </a:rPr>
                  <a:t>当前时刻的系统状态 </a:t>
                </a:r>
                <a:r>
                  <a:rPr sz="1875" b="0">
                    <a:solidFill>
                      <a:srgbClr val="57697B"/>
                    </a:solidFill>
                    <a:latin typeface="宋体" panose="02010600030101010101" pitchFamily="2" charset="-122"/>
                    <a:ea typeface="宋体" panose="02010600030101010101" pitchFamily="2" charset="-122"/>
                    <a:cs typeface="宋体" panose="02010600030101010101" pitchFamily="2" charset="-122"/>
                  </a:rPr>
                  <a:t>   </a:t>
                </a:r>
                <a:endParaRPr sz="1875" b="0">
                  <a:solidFill>
                    <a:srgbClr val="57697B"/>
                  </a:solidFill>
                  <a:latin typeface="宋体" panose="02010600030101010101" pitchFamily="2" charset="-122"/>
                  <a:ea typeface="宋体" panose="02010600030101010101" pitchFamily="2" charset="-122"/>
                  <a:cs typeface="宋体" panose="02010600030101010101" pitchFamily="2" charset="-122"/>
                </a:endParaRPr>
              </a:p>
              <a:p>
                <a:pPr algn="ctr">
                  <a:buNone/>
                  <a:defRPr sz="1875" b="0">
                    <a:solidFill>
                      <a:srgbClr val="57697B"/>
                    </a:solidFill>
                    <a:latin typeface="PingFang SC" panose="020B0400000000000000" charset="-122"/>
                    <a:ea typeface="PingFang SC" panose="020B0400000000000000" charset="-122"/>
                    <a:cs typeface="PingFang SC" panose="020B0400000000000000" charset="-122"/>
                  </a:defRPr>
                </a:pPr>
                <a14:m>
                  <m:oMath xmlns:m="http://schemas.openxmlformats.org/officeDocument/2006/math">
                    <m:sSub>
                      <m:sSubPr>
                        <m:ctrlPr>
                          <a:rPr>
                            <a:latin typeface="DejaVu Math TeX Gyre" panose="02000503000000000000" charset="0"/>
                            <a:ea typeface="宋体" panose="02010600030101010101" pitchFamily="2" charset="-122"/>
                            <a:cs typeface="DejaVu Math TeX Gyre" panose="02000503000000000000" charset="0"/>
                          </a:rPr>
                        </m:ctrlPr>
                      </m:sSubPr>
                      <m:e>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𝑥</m:t>
                        </m:r>
                      </m:e>
                      <m:sub>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𝑡</m:t>
                        </m:r>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m:t>
                        </m:r>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1</m:t>
                        </m:r>
                      </m:sub>
                    </m:sSub>
                  </m:oMath>
                </a14:m>
                <a:r>
                  <a:rPr sz="1875" b="0">
                    <a:solidFill>
                      <a:srgbClr val="57697B"/>
                    </a:solidFill>
                    <a:latin typeface="宋体" panose="02010600030101010101" pitchFamily="2" charset="-122"/>
                    <a:ea typeface="宋体" panose="02010600030101010101" pitchFamily="2" charset="-122"/>
                    <a:cs typeface="宋体" panose="02010600030101010101" pitchFamily="2" charset="-122"/>
                  </a:rPr>
                  <a:t>：上一时刻的系统状态               </a:t>
                </a:r>
                <a14:m>
                  <m:oMath xmlns:m="http://schemas.openxmlformats.org/officeDocument/2006/math">
                    <m:sSub>
                      <m:sSubPr>
                        <m:ctrlPr>
                          <a:rPr>
                            <a:latin typeface="DejaVu Math TeX Gyre" panose="02000503000000000000" charset="0"/>
                            <a:ea typeface="宋体" panose="02010600030101010101" pitchFamily="2" charset="-122"/>
                            <a:cs typeface="DejaVu Math TeX Gyre" panose="02000503000000000000" charset="0"/>
                          </a:rPr>
                        </m:ctrlPr>
                      </m:sSubPr>
                      <m:e>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𝑢</m:t>
                        </m:r>
                      </m:e>
                      <m:sub>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𝑡</m:t>
                        </m:r>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m:t>
                        </m:r>
                        <m:r>
                          <a:rPr lang="en-US" sz="1875" b="0" i="1">
                            <a:solidFill>
                              <a:srgbClr val="57697B"/>
                            </a:solidFill>
                            <a:latin typeface="DejaVu Math TeX Gyre" panose="02000503000000000000" charset="0"/>
                            <a:ea typeface="宋体" panose="02010600030101010101" pitchFamily="2" charset="-122"/>
                            <a:cs typeface="DejaVu Math TeX Gyre" panose="02000503000000000000" charset="0"/>
                          </a:rPr>
                          <m:t>1</m:t>
                        </m:r>
                      </m:sub>
                    </m:sSub>
                  </m:oMath>
                </a14:m>
                <a:r>
                  <a:rPr sz="1875" b="0">
                    <a:solidFill>
                      <a:srgbClr val="57697B"/>
                    </a:solidFill>
                    <a:latin typeface="宋体" panose="02010600030101010101" pitchFamily="2" charset="-122"/>
                    <a:ea typeface="宋体" panose="02010600030101010101" pitchFamily="2" charset="-122"/>
                    <a:cs typeface="宋体" panose="02010600030101010101" pitchFamily="2" charset="-122"/>
                  </a:rPr>
                  <a:t> ：上一时刻的控制输入</a:t>
                </a:r>
                <a:endParaRPr sz="1875" b="0">
                  <a:solidFill>
                    <a:srgbClr val="57697B"/>
                  </a:solidFill>
                  <a:latin typeface="PingFang SC" panose="020B0400000000000000" charset="-122"/>
                  <a:ea typeface="PingFang SC" panose="020B0400000000000000" charset="-122"/>
                  <a:cs typeface="PingFang SC" panose="020B0400000000000000" charset="-122"/>
                </a:endParaRPr>
              </a:p>
              <a:p>
                <a:pPr algn="l">
                  <a:buNone/>
                  <a:defRPr sz="1875" b="0">
                    <a:solidFill>
                      <a:srgbClr val="57697B"/>
                    </a:solidFill>
                    <a:latin typeface="PingFang SC" panose="020B0400000000000000" charset="-122"/>
                    <a:ea typeface="PingFang SC" panose="020B0400000000000000" charset="-122"/>
                    <a:cs typeface="PingFang SC" panose="020B0400000000000000" charset="-122"/>
                  </a:defRPr>
                </a:pPr>
                <a:endParaRPr sz="1875" b="0">
                  <a:solidFill>
                    <a:srgbClr val="57697B"/>
                  </a:solidFill>
                  <a:latin typeface="PingFang SC" panose="020B0400000000000000" charset="-122"/>
                  <a:ea typeface="PingFang SC" panose="020B0400000000000000" charset="-122"/>
                  <a:cs typeface="PingFang SC" panose="020B0400000000000000" charset="-122"/>
                </a:endParaRPr>
              </a:p>
              <a:p>
                <a:pPr algn="l">
                  <a:buNone/>
                  <a:defRPr sz="1875" b="0">
                    <a:solidFill>
                      <a:srgbClr val="57697B"/>
                    </a:solidFill>
                    <a:latin typeface="PingFang SC" panose="020B0400000000000000" charset="-122"/>
                    <a:ea typeface="PingFang SC" panose="020B0400000000000000" charset="-122"/>
                    <a:cs typeface="PingFang SC" panose="020B0400000000000000" charset="-122"/>
                  </a:defRPr>
                </a:pPr>
                <a:endParaRPr sz="1875" b="0">
                  <a:solidFill>
                    <a:srgbClr val="57697B"/>
                  </a:solidFill>
                  <a:latin typeface="PingFang SC" panose="020B0400000000000000" charset="-122"/>
                  <a:ea typeface="PingFang SC" panose="020B0400000000000000" charset="-122"/>
                  <a:cs typeface="PingFang SC" panose="020B0400000000000000" charset="-122"/>
                </a:endParaRPr>
              </a:p>
              <a:p>
                <a:pPr algn="l">
                  <a:buNone/>
                  <a:defRPr sz="1875" b="0">
                    <a:solidFill>
                      <a:srgbClr val="57697B"/>
                    </a:solidFill>
                    <a:latin typeface="PingFang SC" panose="020B0400000000000000" charset="-122"/>
                    <a:ea typeface="PingFang SC" panose="020B0400000000000000" charset="-122"/>
                    <a:cs typeface="PingFang SC" panose="020B0400000000000000" charset="-122"/>
                  </a:defRPr>
                </a:pPr>
                <a:endParaRPr sz="1875" b="0">
                  <a:solidFill>
                    <a:srgbClr val="57697B"/>
                  </a:solidFill>
                  <a:latin typeface="PingFang SC" panose="020B0400000000000000" charset="-122"/>
                  <a:ea typeface="PingFang SC" panose="020B0400000000000000" charset="-122"/>
                  <a:cs typeface="PingFang SC" panose="020B0400000000000000" charset="-122"/>
                </a:endParaRPr>
              </a:p>
              <a:p>
                <a:pPr algn="l">
                  <a:buNone/>
                  <a:defRPr sz="1875" b="0">
                    <a:solidFill>
                      <a:srgbClr val="57697B"/>
                    </a:solidFill>
                    <a:latin typeface="PingFang SC" panose="020B0400000000000000" charset="-122"/>
                    <a:ea typeface="PingFang SC" panose="020B0400000000000000" charset="-122"/>
                    <a:cs typeface="PingFang SC" panose="020B0400000000000000" charset="-122"/>
                  </a:defRPr>
                </a:pPr>
                <a:endParaRPr sz="1875" b="0">
                  <a:solidFill>
                    <a:srgbClr val="57697B"/>
                  </a:solidFill>
                  <a:latin typeface="PingFang SC" panose="020B0400000000000000" charset="-122"/>
                  <a:ea typeface="PingFang SC" panose="020B0400000000000000" charset="-122"/>
                  <a:cs typeface="PingFang SC" panose="020B0400000000000000" charset="-122"/>
                </a:endParaRPr>
              </a:p>
            </p:txBody>
          </p:sp>
        </mc:Choice>
        <mc:Fallback>
          <p:sp>
            <p:nvSpPr>
              <p:cNvPr id="11" name="x：过程状态    u：候选输入    t：等间隔采样时刻"/>
              <p:cNvSpPr>
                <a:spLocks noRot="1" noChangeAspect="1" noMove="1" noResize="1" noEditPoints="1" noAdjustHandles="1" noChangeArrowheads="1" noChangeShapeType="1" noTextEdit="1"/>
              </p:cNvSpPr>
              <p:nvPr/>
            </p:nvSpPr>
            <p:spPr>
              <a:xfrm>
                <a:off x="457200" y="2853055"/>
                <a:ext cx="11115675" cy="963930"/>
              </a:xfrm>
              <a:prstGeom prst="rect">
                <a:avLst/>
              </a:prstGeom>
              <a:blipFill rotWithShape="1">
                <a:blip r:embed="rId3"/>
                <a:stretch>
                  <a:fillRect b="-78393"/>
                </a:stretch>
              </a:blipFill>
              <a:ln w="0">
                <a:noFill/>
              </a:ln>
            </p:spPr>
            <p:txBody>
              <a:bodyPr/>
              <a:lstStyle/>
              <a:p>
                <a:r>
                  <a:rPr lang="zh-CN" altLang="en-US">
                    <a:noFill/>
                  </a:rPr>
                  <a:t> </a:t>
                </a:r>
              </a:p>
            </p:txBody>
          </p:sp>
        </mc:Fallback>
      </mc:AlternateContent>
      <p:sp>
        <p:nvSpPr>
          <p:cNvPr id="12" name="矩形 11"/>
          <p:cNvSpPr>
            <a:spLocks noGrp="1"/>
          </p:cNvSpPr>
          <p:nvPr/>
        </p:nvSpPr>
        <p:spPr>
          <a:xfrm>
            <a:off x="476250" y="5762625"/>
            <a:ext cx="11340000" cy="576000"/>
          </a:xfrm>
          <a:prstGeom prst="rect">
            <a:avLst/>
          </a:prstGeom>
          <a:solidFill>
            <a:srgbClr val="E8F7F6"/>
          </a:solidFill>
          <a:ln w="0">
            <a:noFill/>
          </a:ln>
        </p:spPr>
      </p:sp>
      <p:sp>
        <p:nvSpPr>
          <p:cNvPr id="13" name="GeCo学习短时间步的状态变化，不要求重建完整的高精度物理仿真"/>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当前系统状态</a:t>
            </a:r>
            <a:r>
              <a:rPr sz="1800" b="1">
                <a:solidFill>
                  <a:srgbClr val="173B6C"/>
                </a:solidFill>
                <a:latin typeface="宋体" panose="02010600030101010101" pitchFamily="2" charset="-122"/>
                <a:ea typeface="宋体" panose="02010600030101010101" pitchFamily="2" charset="-122"/>
                <a:cs typeface="PingFang SC" panose="020B0400000000000000" charset="-122"/>
              </a:rPr>
              <a:t>，由上一时刻状态的自然演变，加上控制</a:t>
            </a:r>
            <a:r>
              <a:rPr sz="1800" b="1">
                <a:solidFill>
                  <a:srgbClr val="173B6C"/>
                </a:solidFill>
                <a:latin typeface="宋体" panose="02010600030101010101" pitchFamily="2" charset="-122"/>
                <a:ea typeface="宋体" panose="02010600030101010101" pitchFamily="2" charset="-122"/>
                <a:cs typeface="PingFang SC" panose="020B0400000000000000" charset="-122"/>
              </a:rPr>
              <a:t>输入产生的影响共同决定</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17"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11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457200" y="209550"/>
            <a:ext cx="76200" cy="457200"/>
          </a:xfrm>
          <a:prstGeom prst="rect">
            <a:avLst/>
          </a:prstGeom>
          <a:solidFill>
            <a:srgbClr val="00AFA8"/>
          </a:solidFill>
          <a:ln w="0">
            <a:noFill/>
          </a:ln>
        </p:spPr>
      </p:sp>
      <p:sp>
        <p:nvSpPr>
          <p:cNvPr id="2" name="02 GeCo方法设计"/>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02 GeCo方法设计</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逐过程值建模：单个变量的状态转移公式"/>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PingFang SC" panose="020B0400000000000000" charset="-122"/>
                <a:ea typeface="PingFang SC" panose="020B0400000000000000" charset="-122"/>
                <a:cs typeface="PingFang SC" panose="020B0400000000000000" charset="-122"/>
              </a:rPr>
              <a:t>逐过程值建模：单个变量的状态转移公式</a:t>
            </a:r>
            <a:endParaRPr sz="2250" b="1">
              <a:solidFill>
                <a:srgbClr val="007E78"/>
              </a:solidFill>
              <a:latin typeface="PingFang SC" panose="020B0400000000000000" charset="-122"/>
              <a:ea typeface="PingFang SC" panose="020B0400000000000000" charset="-122"/>
              <a:cs typeface="PingFang SC" panose="020B0400000000000000" charset="-122"/>
            </a:endParaRPr>
          </a:p>
        </p:txBody>
      </p:sp>
      <p:pic>
        <p:nvPicPr>
          <p:cNvPr id="7" name="图片 6"/>
          <p:cNvPicPr>
            <a:picLocks noChangeAspect="1"/>
          </p:cNvPicPr>
          <p:nvPr/>
        </p:nvPicPr>
        <p:blipFill>
          <a:blip r:embed="rId2"/>
          <a:stretch>
            <a:fillRect/>
          </a:stretch>
        </p:blipFill>
        <p:spPr>
          <a:xfrm>
            <a:off x="1703705" y="1612250"/>
            <a:ext cx="8763000" cy="1214151"/>
          </a:xfrm>
          <a:prstGeom prst="rect">
            <a:avLst/>
          </a:prstGeom>
        </p:spPr>
      </p:pic>
      <mc:AlternateContent xmlns:mc="http://schemas.openxmlformats.org/markup-compatibility/2006">
        <mc:Choice xmlns:a14="http://schemas.microsoft.com/office/drawing/2010/main" Requires="a14">
          <p:sp>
            <p:nvSpPr>
              <p:cNvPr id="8" name="自身状态项：aᵢ · xᵢₜ₋₁"/>
              <p:cNvSpPr>
                <a:spLocks noGrp="1"/>
              </p:cNvSpPr>
              <p:nvPr/>
            </p:nvSpPr>
            <p:spPr>
              <a:xfrm>
                <a:off x="762000" y="3789045"/>
                <a:ext cx="5143500"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自身状态项：</a:t>
                </a:r>
                <a14:m>
                  <m:oMath xmlns:m="http://schemas.openxmlformats.org/officeDocument/2006/math">
                    <m:sSub>
                      <m:sSubPr>
                        <m:ctrlPr>
                          <a:rPr>
                            <a:latin typeface="DejaVu Math TeX Gyre" panose="02000503000000000000" charset="0"/>
                            <a:ea typeface="黑体" panose="02010609060101010101" charset="-122"/>
                            <a:cs typeface="DejaVu Math TeX Gyre" panose="02000503000000000000" charset="0"/>
                          </a:rPr>
                        </m:ctrlPr>
                      </m:sSubPr>
                      <m:e>
                        <m:r>
                          <a:rPr lang="en-US" sz="2025" b="1" i="1">
                            <a:solidFill>
                              <a:srgbClr val="007E78"/>
                            </a:solidFill>
                            <a:latin typeface="DejaVu Math TeX Gyre" panose="02000503000000000000" charset="0"/>
                            <a:ea typeface="黑体" panose="02010609060101010101" charset="-122"/>
                            <a:cs typeface="DejaVu Math TeX Gyre" panose="02000503000000000000" charset="0"/>
                          </a:rPr>
                          <m:t>𝒂</m:t>
                        </m:r>
                      </m:e>
                      <m:sub>
                        <m:r>
                          <a:rPr lang="en-US" sz="2025" b="1" i="1">
                            <a:solidFill>
                              <a:srgbClr val="007E78"/>
                            </a:solidFill>
                            <a:latin typeface="DejaVu Math TeX Gyre" panose="02000503000000000000" charset="0"/>
                            <a:ea typeface="黑体" panose="02010609060101010101" charset="-122"/>
                            <a:cs typeface="DejaVu Math TeX Gyre" panose="02000503000000000000" charset="0"/>
                          </a:rPr>
                          <m:t>𝒊</m:t>
                        </m:r>
                      </m:sub>
                    </m:sSub>
                  </m:oMath>
                </a14:m>
                <a:r>
                  <a:rPr sz="2025" b="1" i="1">
                    <a:solidFill>
                      <a:srgbClr val="007E78"/>
                    </a:solidFill>
                    <a:latin typeface="黑体" panose="02010609060101010101" charset="-122"/>
                    <a:ea typeface="黑体" panose="02010609060101010101" charset="-122"/>
                    <a:cs typeface="黑体" panose="02010609060101010101" charset="-122"/>
                  </a:rPr>
                  <a:t>∙</a:t>
                </a:r>
                <a14:m>
                  <m:oMath xmlns:m="http://schemas.openxmlformats.org/officeDocument/2006/math">
                    <m:sSubSup>
                      <m:sSubSupPr>
                        <m:ctrlPr>
                          <a:rPr>
                            <a:latin typeface="DejaVu Math TeX Gyre" panose="02000503000000000000" charset="0"/>
                            <a:ea typeface="黑体" panose="02010609060101010101" charset="-122"/>
                            <a:cs typeface="DejaVu Math TeX Gyre" panose="02000503000000000000" charset="0"/>
                          </a:rPr>
                        </m:ctrlPr>
                      </m:sSubSupPr>
                      <m:e>
                        <m:r>
                          <a:rPr lang="en-US" sz="2025" b="1" i="1">
                            <a:solidFill>
                              <a:srgbClr val="007E78"/>
                            </a:solidFill>
                            <a:latin typeface="DejaVu Math TeX Gyre" panose="02000503000000000000" charset="0"/>
                            <a:ea typeface="黑体" panose="02010609060101010101" charset="-122"/>
                            <a:cs typeface="DejaVu Math TeX Gyre" panose="02000503000000000000" charset="0"/>
                          </a:rPr>
                          <m:t>𝒙</m:t>
                        </m:r>
                      </m:e>
                      <m:sub>
                        <m:r>
                          <a:rPr lang="en-US" sz="2025" b="1" i="1">
                            <a:solidFill>
                              <a:srgbClr val="007E78"/>
                            </a:solidFill>
                            <a:latin typeface="DejaVu Math TeX Gyre" panose="02000503000000000000" charset="0"/>
                            <a:ea typeface="黑体" panose="02010609060101010101" charset="-122"/>
                            <a:cs typeface="DejaVu Math TeX Gyre" panose="02000503000000000000" charset="0"/>
                          </a:rPr>
                          <m:t>𝒕</m:t>
                        </m:r>
                        <m:r>
                          <a:rPr lang="en-US" sz="2025" b="1" i="1">
                            <a:solidFill>
                              <a:srgbClr val="007E78"/>
                            </a:solidFill>
                            <a:latin typeface="DejaVu Math TeX Gyre" panose="02000503000000000000" charset="0"/>
                            <a:ea typeface="宋体" panose="02010600030101010101" pitchFamily="2" charset="-122"/>
                            <a:cs typeface="DejaVu Math TeX Gyre" panose="02000503000000000000" charset="0"/>
                          </a:rPr>
                          <m:t>−</m:t>
                        </m:r>
                        <m:r>
                          <a:rPr lang="en-US" sz="2025" b="1" i="1">
                            <a:solidFill>
                              <a:srgbClr val="007E78"/>
                            </a:solidFill>
                            <a:latin typeface="DejaVu Math TeX Gyre" panose="02000503000000000000" charset="0"/>
                            <a:ea typeface="黑体" panose="02010609060101010101" charset="-122"/>
                            <a:cs typeface="DejaVu Math TeX Gyre" panose="02000503000000000000" charset="0"/>
                          </a:rPr>
                          <m:t>𝟏</m:t>
                        </m:r>
                      </m:sub>
                      <m:sup>
                        <m:r>
                          <a:rPr lang="en-US" sz="2025" b="1" i="1">
                            <a:solidFill>
                              <a:srgbClr val="007E78"/>
                            </a:solidFill>
                            <a:latin typeface="DejaVu Math TeX Gyre" panose="02000503000000000000" charset="0"/>
                            <a:ea typeface="黑体" panose="02010609060101010101" charset="-122"/>
                            <a:cs typeface="DejaVu Math TeX Gyre" panose="02000503000000000000" charset="0"/>
                          </a:rPr>
                          <m:t>𝒊</m:t>
                        </m:r>
                      </m:sup>
                    </m:sSubSup>
                  </m:oMath>
                </a14:m>
                <a:endParaRPr sz="2025" b="1" i="1">
                  <a:solidFill>
                    <a:srgbClr val="007E78"/>
                  </a:solidFill>
                  <a:latin typeface="黑体" panose="02010609060101010101" charset="-122"/>
                  <a:ea typeface="黑体" panose="02010609060101010101" charset="-122"/>
                  <a:cs typeface="黑体" panose="02010609060101010101" charset="-122"/>
                </a:endParaRPr>
              </a:p>
            </p:txBody>
          </p:sp>
        </mc:Choice>
        <mc:Fallback>
          <p:sp>
            <p:nvSpPr>
              <p:cNvPr id="8" name="自身状态项：aᵢ · xᵢₜ₋₁"/>
              <p:cNvSpPr>
                <a:spLocks noRot="1" noChangeAspect="1" noMove="1" noResize="1" noEditPoints="1" noAdjustHandles="1" noChangeArrowheads="1" noChangeShapeType="1" noTextEdit="1"/>
              </p:cNvSpPr>
              <p:nvPr/>
            </p:nvSpPr>
            <p:spPr>
              <a:xfrm>
                <a:off x="762000" y="3789045"/>
                <a:ext cx="5143500" cy="361950"/>
              </a:xfrm>
              <a:prstGeom prst="rect">
                <a:avLst/>
              </a:prstGeom>
              <a:blipFill rotWithShape="1">
                <a:blip r:embed="rId3"/>
                <a:stretch>
                  <a:fillRect/>
                </a:stretch>
              </a:blipFill>
              <a:ln w="0">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 name="xᵢₜ₋₁ 是该变量上一时刻的值。&#10;aᵢ 表示其自身状态的延续或变化，"/>
              <p:cNvSpPr>
                <a:spLocks noGrp="1"/>
              </p:cNvSpPr>
              <p:nvPr/>
            </p:nvSpPr>
            <p:spPr>
              <a:xfrm>
                <a:off x="762000" y="4208145"/>
                <a:ext cx="5143500" cy="13620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其中，</a:t>
                </a:r>
                <a14:m>
                  <m:oMath xmlns:m="http://schemas.openxmlformats.org/officeDocument/2006/math">
                    <m:sSub>
                      <m:sSubPr>
                        <m:ctrlPr>
                          <a:rPr>
                            <a:latin typeface="DejaVu Math TeX Gyre" panose="02000503000000000000" charset="0"/>
                            <a:ea typeface="宋体" panose="02010600030101010101" pitchFamily="2" charset="-122"/>
                            <a:cs typeface="DejaVu Math TeX Gyre" panose="02000503000000000000" charset="0"/>
                          </a:rPr>
                        </m:ctrlPr>
                      </m:sSubPr>
                      <m:e>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𝑥</m:t>
                        </m:r>
                      </m:e>
                      <m:sub>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𝑡</m:t>
                        </m:r>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m:t>
                        </m:r>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1</m:t>
                        </m:r>
                      </m:sub>
                    </m:sSub>
                  </m:oMath>
                </a14:m>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是该变量上一时刻的值</a:t>
                </a: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14:m>
                  <m:oMath xmlns:m="http://schemas.openxmlformats.org/officeDocument/2006/math">
                    <m:sSub>
                      <m:sSubPr>
                        <m:ctrlPr>
                          <a:rPr>
                            <a:latin typeface="DejaVu Math TeX Gyre" panose="02000503000000000000" charset="0"/>
                            <a:ea typeface="宋体" panose="02010600030101010101" pitchFamily="2" charset="-122"/>
                            <a:cs typeface="DejaVu Math TeX Gyre" panose="02000503000000000000" charset="0"/>
                          </a:rPr>
                        </m:ctrlPr>
                      </m:sSubPr>
                      <m:e>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𝑎</m:t>
                        </m:r>
                      </m:e>
                      <m:sub>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𝑖</m:t>
                        </m:r>
                      </m:sub>
                    </m:sSub>
                  </m:oMath>
                </a14:m>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表示其自身状态的延续或变化，</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由正常运行数据拟合得到。</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9" name="xᵢₜ₋₁ 是该变量上一时刻的值。&#10;aᵢ 表示其自身状态的延续或变化，"/>
              <p:cNvSpPr>
                <a:spLocks noRot="1" noChangeAspect="1" noMove="1" noResize="1" noEditPoints="1" noAdjustHandles="1" noChangeArrowheads="1" noChangeShapeType="1" noTextEdit="1"/>
              </p:cNvSpPr>
              <p:nvPr/>
            </p:nvSpPr>
            <p:spPr>
              <a:xfrm>
                <a:off x="762000" y="4208145"/>
                <a:ext cx="5143500" cy="1362075"/>
              </a:xfrm>
              <a:prstGeom prst="rect">
                <a:avLst/>
              </a:prstGeom>
              <a:blipFill rotWithShape="1">
                <a:blip r:embed="rId4"/>
                <a:stretch>
                  <a:fillRect/>
                </a:stretch>
              </a:blipFill>
              <a:ln w="0">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 name="输入作用项：B(uₜ₋₁)"/>
              <p:cNvSpPr>
                <a:spLocks noGrp="1"/>
              </p:cNvSpPr>
              <p:nvPr/>
            </p:nvSpPr>
            <p:spPr>
              <a:xfrm>
                <a:off x="6572250" y="3789045"/>
                <a:ext cx="5143500"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输入作用项：</a:t>
                </a:r>
                <a14:m>
                  <m:oMath xmlns:m="http://schemas.openxmlformats.org/officeDocument/2006/math">
                    <m:r>
                      <a:rPr lang="en-US" sz="2025" b="1" i="1">
                        <a:solidFill>
                          <a:srgbClr val="007E78"/>
                        </a:solidFill>
                        <a:latin typeface="DejaVu Math TeX Gyre" panose="02000503000000000000" charset="0"/>
                        <a:ea typeface="黑体" panose="02010609060101010101" charset="-122"/>
                        <a:cs typeface="DejaVu Math TeX Gyre" panose="02000503000000000000" charset="0"/>
                      </a:rPr>
                      <m:t>𝑩</m:t>
                    </m:r>
                    <m:d>
                      <m:dPr>
                        <m:grow m:val="off"/>
                        <m:ctrlPr>
                          <a:rPr>
                            <a:latin typeface="DejaVu Math TeX Gyre" panose="02000503000000000000" charset="0"/>
                            <a:ea typeface="黑体" panose="02010609060101010101" charset="-122"/>
                            <a:cs typeface="DejaVu Math TeX Gyre" panose="02000503000000000000" charset="0"/>
                          </a:rPr>
                        </m:ctrlPr>
                      </m:dPr>
                      <m:e>
                        <m:sSub>
                          <m:sSubPr>
                            <m:ctrlPr>
                              <a:rPr>
                                <a:latin typeface="DejaVu Math TeX Gyre" panose="02000503000000000000" charset="0"/>
                                <a:ea typeface="黑体" panose="02010609060101010101" charset="-122"/>
                                <a:cs typeface="DejaVu Math TeX Gyre" panose="02000503000000000000" charset="0"/>
                              </a:rPr>
                            </m:ctrlPr>
                          </m:sSubPr>
                          <m:e>
                            <m:r>
                              <a:rPr lang="en-US" sz="2025" b="1" i="1">
                                <a:solidFill>
                                  <a:srgbClr val="007E78"/>
                                </a:solidFill>
                                <a:latin typeface="DejaVu Math TeX Gyre" panose="02000503000000000000" charset="0"/>
                                <a:ea typeface="黑体" panose="02010609060101010101" charset="-122"/>
                                <a:cs typeface="DejaVu Math TeX Gyre" panose="02000503000000000000" charset="0"/>
                              </a:rPr>
                              <m:t>𝒖</m:t>
                            </m:r>
                          </m:e>
                          <m:sub>
                            <m:r>
                              <a:rPr lang="en-US" sz="2025" b="1" i="1">
                                <a:solidFill>
                                  <a:srgbClr val="007E78"/>
                                </a:solidFill>
                                <a:latin typeface="DejaVu Math TeX Gyre" panose="02000503000000000000" charset="0"/>
                                <a:ea typeface="黑体" panose="02010609060101010101" charset="-122"/>
                                <a:cs typeface="DejaVu Math TeX Gyre" panose="02000503000000000000" charset="0"/>
                              </a:rPr>
                              <m:t>𝒕</m:t>
                            </m:r>
                            <m:r>
                              <a:rPr lang="en-US" sz="2025" b="1" i="1">
                                <a:solidFill>
                                  <a:srgbClr val="007E78"/>
                                </a:solidFill>
                                <a:latin typeface="DejaVu Math TeX Gyre" panose="02000503000000000000" charset="0"/>
                                <a:ea typeface="宋体" panose="02010600030101010101" pitchFamily="2" charset="-122"/>
                                <a:cs typeface="DejaVu Math TeX Gyre" panose="02000503000000000000" charset="0"/>
                              </a:rPr>
                              <m:t>−</m:t>
                            </m:r>
                            <m:r>
                              <a:rPr lang="en-US" sz="2025" b="1" i="1">
                                <a:solidFill>
                                  <a:srgbClr val="007E78"/>
                                </a:solidFill>
                                <a:latin typeface="DejaVu Math TeX Gyre" panose="02000503000000000000" charset="0"/>
                                <a:ea typeface="黑体" panose="02010609060101010101" charset="-122"/>
                                <a:cs typeface="DejaVu Math TeX Gyre" panose="02000503000000000000" charset="0"/>
                              </a:rPr>
                              <m:t>𝟏</m:t>
                            </m:r>
                          </m:sub>
                        </m:sSub>
                      </m:e>
                    </m:d>
                  </m:oMath>
                </a14:m>
                <a:endParaRPr sz="2025" b="1">
                  <a:solidFill>
                    <a:srgbClr val="007E78"/>
                  </a:solidFill>
                  <a:latin typeface="黑体" panose="02010609060101010101" charset="-122"/>
                  <a:ea typeface="黑体" panose="02010609060101010101" charset="-122"/>
                  <a:cs typeface="黑体" panose="02010609060101010101" charset="-122"/>
                </a:endParaRPr>
              </a:p>
            </p:txBody>
          </p:sp>
        </mc:Choice>
        <mc:Fallback>
          <p:sp>
            <p:nvSpPr>
              <p:cNvPr id="10" name="输入作用项：B(uₜ₋₁)"/>
              <p:cNvSpPr>
                <a:spLocks noRot="1" noChangeAspect="1" noMove="1" noResize="1" noEditPoints="1" noAdjustHandles="1" noChangeArrowheads="1" noChangeShapeType="1" noTextEdit="1"/>
              </p:cNvSpPr>
              <p:nvPr/>
            </p:nvSpPr>
            <p:spPr>
              <a:xfrm>
                <a:off x="6572250" y="3789045"/>
                <a:ext cx="5143500" cy="361950"/>
              </a:xfrm>
              <a:prstGeom prst="rect">
                <a:avLst/>
              </a:prstGeom>
              <a:blipFill rotWithShape="1">
                <a:blip r:embed="rId5"/>
                <a:stretch>
                  <a:fillRect/>
                </a:stretch>
              </a:blipFill>
              <a:ln w="0">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uₜ₋₁ 是上一时刻的候选输入。&#10;B 描述输入对目标变量的影响，&#10;具体"/>
              <p:cNvSpPr>
                <a:spLocks noGrp="1"/>
              </p:cNvSpPr>
              <p:nvPr/>
            </p:nvSpPr>
            <p:spPr>
              <a:xfrm>
                <a:off x="6572250" y="4208145"/>
                <a:ext cx="5143500" cy="13620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由于</a:t>
                </a:r>
                <a:r>
                  <a:rPr lang="zh-CN" sz="1875" b="0">
                    <a:solidFill>
                      <a:srgbClr val="203040"/>
                    </a:solidFill>
                    <a:latin typeface="宋体" panose="02010600030101010101" pitchFamily="2" charset="-122"/>
                    <a:ea typeface="宋体" panose="02010600030101010101" pitchFamily="2" charset="-122"/>
                    <a:cs typeface="宋体" panose="02010600030101010101" pitchFamily="2" charset="-122"/>
                  </a:rPr>
                  <a:t>来自</a:t>
                </a: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控制输⼊的相互作用可能是各种物理效应的基础，所以进行了更精确的建模。为此，引用了⼀组灵活的函数模板，这些函数模板是具有任意数量的控制输⼊</a:t>
                </a:r>
                <a14:m>
                  <m:oMath xmlns:m="http://schemas.openxmlformats.org/officeDocument/2006/math">
                    <m:sSub>
                      <m:sSubPr>
                        <m:ctrlPr>
                          <a:rPr>
                            <a:latin typeface="DejaVu Math TeX Gyre" panose="02000503000000000000" charset="0"/>
                            <a:ea typeface="宋体" panose="02010600030101010101" pitchFamily="2" charset="-122"/>
                            <a:cs typeface="DejaVu Math TeX Gyre" panose="02000503000000000000" charset="0"/>
                          </a:rPr>
                        </m:ctrlPr>
                      </m:sSubPr>
                      <m:e>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𝑢</m:t>
                        </m:r>
                      </m:e>
                      <m:sub>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𝑡</m:t>
                        </m:r>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m:t>
                        </m:r>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1</m:t>
                        </m:r>
                      </m:sub>
                    </m:sSub>
                  </m:oMath>
                </a14:m>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和参数</a:t>
                </a:r>
                <a14:m>
                  <m:oMath xmlns:m="http://schemas.openxmlformats.org/officeDocument/2006/math">
                    <m:r>
                      <a:rPr lang="en-US" sz="1875" b="0" i="1">
                        <a:solidFill>
                          <a:srgbClr val="203040"/>
                        </a:solidFill>
                        <a:latin typeface="DejaVu Math TeX Gyre" panose="02000503000000000000" charset="0"/>
                        <a:ea typeface="宋体" panose="02010600030101010101" pitchFamily="2" charset="-122"/>
                        <a:cs typeface="DejaVu Math TeX Gyre" panose="02000503000000000000" charset="0"/>
                      </a:rPr>
                      <m:t>𝑏</m:t>
                    </m:r>
                  </m:oMath>
                </a14:m>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的多变量函数</a:t>
                </a:r>
                <a:r>
                  <a:rPr sz="1875" b="0">
                    <a:solidFill>
                      <a:srgbClr val="203040"/>
                    </a:solidFill>
                    <a:latin typeface="宋体" panose="02010600030101010101" pitchFamily="2" charset="-122"/>
                    <a:ea typeface="宋体" panose="02010600030101010101" pitchFamily="2" charset="-122"/>
                    <a:cs typeface="PingFang SC" panose="020B0400000000000000" charset="-122"/>
                  </a:rPr>
                  <a:t>。</a:t>
                </a:r>
                <a:endParaRPr sz="1875" b="0">
                  <a:solidFill>
                    <a:srgbClr val="203040"/>
                  </a:solidFill>
                  <a:latin typeface="PingFang SC" panose="020B0400000000000000" charset="-122"/>
                  <a:ea typeface="PingFang SC" panose="020B0400000000000000"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endParaRPr sz="1875" b="0">
                  <a:solidFill>
                    <a:srgbClr val="203040"/>
                  </a:solidFill>
                  <a:latin typeface="PingFang SC" panose="020B0400000000000000" charset="-122"/>
                  <a:ea typeface="PingFang SC" panose="020B0400000000000000"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endParaRPr sz="1875" b="0">
                  <a:solidFill>
                    <a:srgbClr val="203040"/>
                  </a:solidFill>
                  <a:latin typeface="PingFang SC" panose="020B0400000000000000" charset="-122"/>
                  <a:ea typeface="PingFang SC" panose="020B0400000000000000" charset="-122"/>
                  <a:cs typeface="PingFang SC" panose="020B0400000000000000" charset="-122"/>
                </a:endParaRPr>
              </a:p>
            </p:txBody>
          </p:sp>
        </mc:Choice>
        <mc:Fallback>
          <p:sp>
            <p:nvSpPr>
              <p:cNvPr id="11" name="uₜ₋₁ 是上一时刻的候选输入。&#10;B 描述输入对目标变量的影响，&#10;具体"/>
              <p:cNvSpPr>
                <a:spLocks noRot="1" noChangeAspect="1" noMove="1" noResize="1" noEditPoints="1" noAdjustHandles="1" noChangeArrowheads="1" noChangeShapeType="1" noTextEdit="1"/>
              </p:cNvSpPr>
              <p:nvPr/>
            </p:nvSpPr>
            <p:spPr>
              <a:xfrm>
                <a:off x="6572250" y="4208145"/>
                <a:ext cx="5143500" cy="1362075"/>
              </a:xfrm>
              <a:prstGeom prst="rect">
                <a:avLst/>
              </a:prstGeom>
              <a:blipFill rotWithShape="1">
                <a:blip r:embed="rId6"/>
                <a:stretch>
                  <a:fillRect r="-1642" b="-26200"/>
                </a:stretch>
              </a:blipFill>
              <a:ln w="0">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Fᵢ：第 i 个变量的状态转移函数    x̂ᵢₜ：该变量在 t 时刻"/>
              <p:cNvSpPr>
                <a:spLocks noGrp="1"/>
              </p:cNvSpPr>
              <p:nvPr/>
            </p:nvSpPr>
            <p:spPr>
              <a:xfrm>
                <a:off x="533400" y="2814320"/>
                <a:ext cx="10128885" cy="725805"/>
              </a:xfrm>
              <a:prstGeom prst="rect">
                <a:avLst/>
              </a:prstGeom>
              <a:noFill/>
              <a:ln w="0">
                <a:noFill/>
              </a:ln>
            </p:spPr>
            <p:txBody>
              <a:bodyPr wrap="square" lIns="0" tIns="0" rIns="0" bIns="0" anchor="t">
                <a:noAutofit/>
              </a:bodyPr>
              <a:lstStyle>
                <a:defPPr algn="l">
                  <a:defRPr sz="1800" b="0">
                    <a:solidFill>
                      <a:srgbClr val="57697B"/>
                    </a:solidFill>
                    <a:latin typeface="PingFang SC" panose="020B0400000000000000" charset="-122"/>
                    <a:ea typeface="PingFang SC" panose="020B0400000000000000" charset="-122"/>
                    <a:cs typeface="PingFang SC" panose="020B0400000000000000" charset="-122"/>
                  </a:defRPr>
                </a:defPPr>
              </a:lstStyle>
              <a:p>
                <a:pPr algn="ctr">
                  <a:buNone/>
                  <a:defRPr sz="1800" b="0">
                    <a:solidFill>
                      <a:srgbClr val="57697B"/>
                    </a:solidFill>
                    <a:latin typeface="PingFang SC" panose="020B0400000000000000" charset="-122"/>
                    <a:ea typeface="PingFang SC" panose="020B0400000000000000" charset="-122"/>
                    <a:cs typeface="PingFang SC" panose="020B0400000000000000" charset="-122"/>
                  </a:defRPr>
                </a:pPr>
                <a:r>
                  <a:rPr lang="zh-CN" sz="1800" b="0">
                    <a:solidFill>
                      <a:srgbClr val="57697B"/>
                    </a:solidFill>
                    <a:latin typeface="PingFang SC" panose="020B0400000000000000" charset="-122"/>
                    <a:ea typeface="PingFang SC" panose="020B0400000000000000" charset="-122"/>
                    <a:cs typeface="PingFang SC" panose="020B0400000000000000" charset="-122"/>
                  </a:rPr>
                  <a:t>当前时刻的预测值由上一时刻该变量自身状态以及候选控制输入造成变化共同决定</a:t>
                </a:r>
                <a:r>
                  <a:rPr sz="1800" b="0">
                    <a:solidFill>
                      <a:srgbClr val="57697B"/>
                    </a:solidFill>
                    <a:latin typeface="PingFang SC" panose="020B0400000000000000" charset="-122"/>
                    <a:ea typeface="PingFang SC" panose="020B0400000000000000" charset="-122"/>
                    <a:cs typeface="PingFang SC" panose="020B0400000000000000" charset="-122"/>
                  </a:rPr>
                  <a:t> </a:t>
                </a:r>
                <a:endParaRPr sz="1800" b="0">
                  <a:solidFill>
                    <a:srgbClr val="57697B"/>
                  </a:solidFill>
                  <a:latin typeface="PingFang SC" panose="020B0400000000000000" charset="-122"/>
                  <a:ea typeface="PingFang SC" panose="020B0400000000000000" charset="-122"/>
                  <a:cs typeface="PingFang SC" panose="020B0400000000000000" charset="-122"/>
                </a:endParaRPr>
              </a:p>
              <a:p>
                <a:pPr algn="ctr">
                  <a:buNone/>
                  <a:defRPr sz="1800" b="0">
                    <a:solidFill>
                      <a:srgbClr val="57697B"/>
                    </a:solidFill>
                    <a:latin typeface="PingFang SC" panose="020B0400000000000000" charset="-122"/>
                    <a:ea typeface="PingFang SC" panose="020B0400000000000000" charset="-122"/>
                    <a:cs typeface="PingFang SC" panose="020B0400000000000000" charset="-122"/>
                  </a:defRPr>
                </a:pPr>
                <a14:m>
                  <m:oMath xmlns:m="http://schemas.openxmlformats.org/officeDocument/2006/math">
                    <m:sSup>
                      <m:sSupPr>
                        <m:ctrlPr>
                          <a:rPr>
                            <a:latin typeface="DejaVu Math TeX Gyre" panose="02000503000000000000" charset="0"/>
                            <a:ea typeface="宋体" panose="02010600030101010101" pitchFamily="2" charset="-122"/>
                            <a:cs typeface="DejaVu Math TeX Gyre" panose="02000503000000000000" charset="0"/>
                          </a:rPr>
                        </m:ctrlPr>
                      </m:sSupPr>
                      <m:e>
                        <m:r>
                          <a:rPr lang="en-US" sz="1800" b="0" i="1">
                            <a:solidFill>
                              <a:srgbClr val="57697B"/>
                            </a:solidFill>
                            <a:latin typeface="DejaVu Math TeX Gyre" panose="02000503000000000000" charset="0"/>
                            <a:ea typeface="宋体" panose="02010600030101010101" pitchFamily="2" charset="-122"/>
                            <a:cs typeface="DejaVu Math TeX Gyre" panose="02000503000000000000" charset="0"/>
                          </a:rPr>
                          <m:t>𝐹</m:t>
                        </m:r>
                      </m:e>
                      <m:sup>
                        <m:r>
                          <a:rPr lang="en-US" sz="1800" b="0" i="1">
                            <a:solidFill>
                              <a:srgbClr val="57697B"/>
                            </a:solidFill>
                            <a:latin typeface="DejaVu Math TeX Gyre" panose="02000503000000000000" charset="0"/>
                            <a:ea typeface="宋体" panose="02010600030101010101" pitchFamily="2" charset="-122"/>
                            <a:cs typeface="DejaVu Math TeX Gyre" panose="02000503000000000000" charset="0"/>
                          </a:rPr>
                          <m:t>𝑖</m:t>
                        </m:r>
                      </m:sup>
                    </m:sSup>
                  </m:oMath>
                </a14:m>
                <a:r>
                  <a:rPr sz="1800" b="0">
                    <a:solidFill>
                      <a:srgbClr val="57697B"/>
                    </a:solidFill>
                    <a:latin typeface="宋体" panose="02010600030101010101" pitchFamily="2" charset="-122"/>
                    <a:ea typeface="宋体" panose="02010600030101010101" pitchFamily="2" charset="-122"/>
                    <a:cs typeface="宋体" panose="02010600030101010101" pitchFamily="2" charset="-122"/>
                  </a:rPr>
                  <a:t>：第 i 个变量的状态转移函数    </a:t>
                </a:r>
                <a14:m>
                  <m:oMath xmlns:m="http://schemas.openxmlformats.org/officeDocument/2006/math">
                    <m:sSub>
                      <m:sSubPr>
                        <m:ctrlPr>
                          <a:rPr>
                            <a:latin typeface="DejaVu Math TeX Gyre" panose="02000503000000000000" charset="0"/>
                            <a:ea typeface="宋体" panose="02010600030101010101" pitchFamily="2" charset="-122"/>
                            <a:cs typeface="DejaVu Math TeX Gyre" panose="02000503000000000000" charset="0"/>
                          </a:rPr>
                        </m:ctrlPr>
                      </m:sSubPr>
                      <m:e>
                        <m:acc>
                          <m:accPr>
                            <m:ctrlPr>
                              <a:rPr>
                                <a:latin typeface="DejaVu Math TeX Gyre" panose="02000503000000000000" charset="0"/>
                                <a:ea typeface="宋体" panose="02010600030101010101" pitchFamily="2" charset="-122"/>
                                <a:cs typeface="DejaVu Math TeX Gyre" panose="02000503000000000000" charset="0"/>
                              </a:rPr>
                            </m:ctrlPr>
                          </m:accPr>
                          <m:e>
                            <m:r>
                              <a:rPr lang="en-US" sz="1800" b="0" i="1">
                                <a:solidFill>
                                  <a:srgbClr val="57697B"/>
                                </a:solidFill>
                                <a:latin typeface="DejaVu Math TeX Gyre" panose="02000503000000000000" charset="0"/>
                                <a:ea typeface="宋体" panose="02010600030101010101" pitchFamily="2" charset="-122"/>
                                <a:cs typeface="DejaVu Math TeX Gyre" panose="02000503000000000000" charset="0"/>
                              </a:rPr>
                              <m:t>𝑥</m:t>
                            </m:r>
                          </m:e>
                        </m:acc>
                      </m:e>
                      <m:sub>
                        <m:r>
                          <a:rPr lang="en-US" sz="1800" b="0" i="1">
                            <a:solidFill>
                              <a:srgbClr val="57697B"/>
                            </a:solidFill>
                            <a:latin typeface="DejaVu Math TeX Gyre" panose="02000503000000000000" charset="0"/>
                            <a:ea typeface="宋体" panose="02010600030101010101" pitchFamily="2" charset="-122"/>
                            <a:cs typeface="DejaVu Math TeX Gyre" panose="02000503000000000000" charset="0"/>
                          </a:rPr>
                          <m:t>𝑖</m:t>
                        </m:r>
                      </m:sub>
                    </m:sSub>
                  </m:oMath>
                </a14:m>
                <a:r>
                  <a:rPr sz="1800" b="0">
                    <a:solidFill>
                      <a:srgbClr val="57697B"/>
                    </a:solidFill>
                    <a:latin typeface="宋体" panose="02010600030101010101" pitchFamily="2" charset="-122"/>
                    <a:ea typeface="宋体" panose="02010600030101010101" pitchFamily="2" charset="-122"/>
                    <a:cs typeface="宋体" panose="02010600030101010101" pitchFamily="2" charset="-122"/>
                  </a:rPr>
                  <a:t>：</a:t>
                </a:r>
                <a:r>
                  <a:rPr sz="1800" b="0">
                    <a:solidFill>
                      <a:srgbClr val="57697B"/>
                    </a:solidFill>
                    <a:latin typeface="宋体" panose="02010600030101010101" pitchFamily="2" charset="-122"/>
                    <a:ea typeface="宋体" panose="02010600030101010101" pitchFamily="2" charset="-122"/>
                    <a:cs typeface="宋体" panose="02010600030101010101" pitchFamily="2" charset="-122"/>
                  </a:rPr>
                  <a:t>该变量在 t 时刻的预测值</a:t>
                </a:r>
                <a:endParaRPr sz="1800" b="0">
                  <a:solidFill>
                    <a:srgbClr val="57697B"/>
                  </a:solidFill>
                  <a:latin typeface="宋体" panose="02010600030101010101" pitchFamily="2" charset="-122"/>
                  <a:ea typeface="宋体" panose="02010600030101010101" pitchFamily="2" charset="-122"/>
                  <a:cs typeface="宋体" panose="02010600030101010101" pitchFamily="2" charset="-122"/>
                </a:endParaRPr>
              </a:p>
            </p:txBody>
          </p:sp>
        </mc:Choice>
        <mc:Fallback>
          <p:sp>
            <p:nvSpPr>
              <p:cNvPr id="12" name="Fᵢ：第 i 个变量的状态转移函数    x̂ᵢₜ：该变量在 t 时刻"/>
              <p:cNvSpPr>
                <a:spLocks noRot="1" noChangeAspect="1" noMove="1" noResize="1" noEditPoints="1" noAdjustHandles="1" noChangeArrowheads="1" noChangeShapeType="1" noTextEdit="1"/>
              </p:cNvSpPr>
              <p:nvPr/>
            </p:nvSpPr>
            <p:spPr>
              <a:xfrm>
                <a:off x="533400" y="2814320"/>
                <a:ext cx="10128885" cy="725805"/>
              </a:xfrm>
              <a:prstGeom prst="rect">
                <a:avLst/>
              </a:prstGeom>
              <a:blipFill rotWithShape="1">
                <a:blip r:embed="rId7"/>
                <a:stretch>
                  <a:fillRect t="-3937"/>
                </a:stretch>
              </a:blipFill>
              <a:ln w="0">
                <a:noFill/>
              </a:ln>
            </p:spPr>
            <p:txBody>
              <a:bodyPr/>
              <a:lstStyle/>
              <a:p>
                <a:r>
                  <a:rPr lang="zh-CN" altLang="en-US">
                    <a:noFill/>
                  </a:rPr>
                  <a:t> </a:t>
                </a:r>
              </a:p>
            </p:txBody>
          </p:sp>
        </mc:Fallback>
      </mc:AlternateContent>
      <p:sp>
        <p:nvSpPr>
          <p:cNvPr id="13" name="矩形 12"/>
          <p:cNvSpPr>
            <a:spLocks noGrp="1"/>
          </p:cNvSpPr>
          <p:nvPr/>
        </p:nvSpPr>
        <p:spPr>
          <a:xfrm>
            <a:off x="476250" y="5762625"/>
            <a:ext cx="11340000" cy="576000"/>
          </a:xfrm>
          <a:prstGeom prst="rect">
            <a:avLst/>
          </a:prstGeom>
          <a:solidFill>
            <a:srgbClr val="E8F7F6"/>
          </a:solidFill>
          <a:ln w="0">
            <a:noFill/>
          </a:ln>
        </p:spPr>
      </p:sp>
      <p:sp>
        <p:nvSpPr>
          <p:cNvPr id="14" name="每个过程值分别学习一条预测公式，变量之间的影响通过输入函数 B 保留"/>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a:latin typeface="宋体" panose="02010600030101010101" pitchFamily="2" charset="-122"/>
                <a:ea typeface="宋体" panose="02010600030101010101" pitchFamily="2" charset="-122"/>
                <a:cs typeface="宋体" panose="02010600030101010101" pitchFamily="2" charset="-122"/>
                <a:sym typeface="+mn-ea"/>
              </a:rPr>
              <a:t>每个过程值分别学习一条预测公式，变量之间的影响通过输入函数 B 保留</a:t>
            </a:r>
            <a:endParaRPr sz="1800" b="1">
              <a:solidFill>
                <a:srgbClr val="173B6C"/>
              </a:solidFill>
              <a:latin typeface="宋体" panose="02010600030101010101" pitchFamily="2" charset="-122"/>
              <a:ea typeface="宋体" panose="02010600030101010101" pitchFamily="2" charset="-122"/>
              <a:cs typeface="宋体" panose="02010600030101010101" pitchFamily="2" charset="-122"/>
            </a:endParaRPr>
          </a:p>
        </p:txBody>
      </p:sp>
      <p:sp>
        <p:nvSpPr>
          <p:cNvPr id="18"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12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457200" y="209550"/>
            <a:ext cx="76200" cy="457200"/>
          </a:xfrm>
          <a:prstGeom prst="rect">
            <a:avLst/>
          </a:prstGeom>
          <a:solidFill>
            <a:srgbClr val="00AFA8"/>
          </a:solidFill>
          <a:ln w="0">
            <a:noFill/>
          </a:ln>
        </p:spPr>
      </p:sp>
      <p:sp>
        <p:nvSpPr>
          <p:cNvPr id="2" name="02 GeCo方法设计"/>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02 GeCo方法设计</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模型学习：搜索模板与变量组合，以最小均方误差选模"/>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PingFang SC" panose="020B0400000000000000" charset="-122"/>
                <a:ea typeface="PingFang SC" panose="020B0400000000000000" charset="-122"/>
                <a:cs typeface="PingFang SC" panose="020B0400000000000000" charset="-122"/>
              </a:rPr>
              <a:t>模型学习：搜索模板与变量组合，以最小均方误差选模</a:t>
            </a:r>
            <a:endParaRPr sz="2250" b="1">
              <a:solidFill>
                <a:srgbClr val="007E78"/>
              </a:solidFill>
              <a:latin typeface="PingFang SC" panose="020B0400000000000000" charset="-122"/>
              <a:ea typeface="PingFang SC" panose="020B0400000000000000" charset="-122"/>
              <a:cs typeface="PingFang SC" panose="020B0400000000000000" charset="-122"/>
            </a:endParaRPr>
          </a:p>
        </p:txBody>
      </p:sp>
      <p:pic>
        <p:nvPicPr>
          <p:cNvPr id="6" name="图片 5"/>
          <p:cNvPicPr>
            <a:picLocks noChangeAspect="1"/>
          </p:cNvPicPr>
          <p:nvPr/>
        </p:nvPicPr>
        <p:blipFill>
          <a:blip r:embed="rId2"/>
          <a:stretch>
            <a:fillRect/>
          </a:stretch>
        </p:blipFill>
        <p:spPr>
          <a:xfrm>
            <a:off x="666750" y="2044898"/>
            <a:ext cx="4857750" cy="1396603"/>
          </a:xfrm>
          <a:prstGeom prst="rect">
            <a:avLst/>
          </a:prstGeom>
        </p:spPr>
      </p:pic>
      <p:sp>
        <p:nvSpPr>
          <p:cNvPr id="7" name="默认模板：加性与乘性关系"/>
          <p:cNvSpPr>
            <a:spLocks noGrp="1"/>
          </p:cNvSpPr>
          <p:nvPr/>
        </p:nvSpPr>
        <p:spPr>
          <a:xfrm>
            <a:off x="762000" y="3886200"/>
            <a:ext cx="4857750" cy="400050"/>
          </a:xfrm>
          <a:prstGeom prst="rect">
            <a:avLst/>
          </a:prstGeom>
          <a:noFill/>
          <a:ln w="0">
            <a:noFill/>
          </a:ln>
        </p:spPr>
        <p:txBody>
          <a:bodyPr wrap="square" lIns="0" tIns="0" rIns="0" bIns="0" anchor="t">
            <a:noAutofit/>
          </a:bodyPr>
          <a:lstStyle>
            <a:defPPr algn="l">
              <a:defRPr sz="187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1875" b="1">
                <a:solidFill>
                  <a:srgbClr val="007E78"/>
                </a:solidFill>
                <a:latin typeface="PingFang SC" panose="020B0400000000000000" charset="-122"/>
                <a:ea typeface="PingFang SC" panose="020B0400000000000000" charset="-122"/>
                <a:cs typeface="PingFang SC" panose="020B0400000000000000" charset="-122"/>
              </a:defRPr>
            </a:pPr>
            <a:r>
              <a:rPr sz="1875" b="1">
                <a:solidFill>
                  <a:srgbClr val="007E78"/>
                </a:solidFill>
                <a:latin typeface="黑体" panose="02010609060101010101" charset="-122"/>
                <a:ea typeface="黑体" panose="02010609060101010101" charset="-122"/>
                <a:cs typeface="PingFang SC" panose="020B0400000000000000" charset="-122"/>
              </a:rPr>
              <a:t>默认模板：加性与乘性关系</a:t>
            </a:r>
            <a:endParaRPr sz="1875" b="1">
              <a:solidFill>
                <a:srgbClr val="007E78"/>
              </a:solidFill>
              <a:latin typeface="黑体" panose="02010609060101010101" charset="-122"/>
              <a:ea typeface="黑体" panose="02010609060101010101" charset="-122"/>
              <a:cs typeface="PingFang SC" panose="020B0400000000000000" charset="-122"/>
            </a:endParaRPr>
          </a:p>
        </p:txBody>
      </p:sp>
      <p:sp>
        <p:nvSpPr>
          <p:cNvPr id="8" name="最大函数长度限制候选输入数量。&#10;论文评估使用 k ≤ 3。&#10;前80%数"/>
          <p:cNvSpPr>
            <a:spLocks noGrp="1"/>
          </p:cNvSpPr>
          <p:nvPr/>
        </p:nvSpPr>
        <p:spPr>
          <a:xfrm>
            <a:off x="762000" y="4381500"/>
            <a:ext cx="4762500" cy="9525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最大函数长度限制候选输入数量。</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论文评估使用 k ≤ 3。</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前80%数据拟合模型，全部数据估计阈值。</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9" name="1. 为每个目标变量枚举候选输入组合"/>
          <p:cNvSpPr>
            <a:spLocks noGrp="1"/>
          </p:cNvSpPr>
          <p:nvPr/>
        </p:nvSpPr>
        <p:spPr>
          <a:xfrm>
            <a:off x="6191250" y="1790700"/>
            <a:ext cx="5238750" cy="781050"/>
          </a:xfrm>
          <a:prstGeom prst="rect">
            <a:avLst/>
          </a:prstGeom>
          <a:noFill/>
          <a:ln w="0">
            <a:noFill/>
          </a:ln>
        </p:spPr>
        <p:txBody>
          <a:bodyPr wrap="square" lIns="0" tIns="0" rIns="0" bIns="0" anchor="t">
            <a:noAutofit/>
          </a:bodyPr>
          <a:lstStyle>
            <a:defPPr algn="l">
              <a:defRPr sz="202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2025" b="0">
                <a:solidFill>
                  <a:srgbClr val="203040"/>
                </a:solidFill>
                <a:latin typeface="PingFang SC" panose="020B0400000000000000" charset="-122"/>
                <a:ea typeface="PingFang SC" panose="020B0400000000000000" charset="-122"/>
                <a:cs typeface="PingFang SC" panose="020B0400000000000000" charset="-122"/>
              </a:defRPr>
            </a:pPr>
            <a:r>
              <a:rPr sz="2025" b="0">
                <a:solidFill>
                  <a:srgbClr val="203040"/>
                </a:solidFill>
                <a:latin typeface="宋体" panose="02010600030101010101" pitchFamily="2" charset="-122"/>
                <a:ea typeface="宋体" panose="02010600030101010101" pitchFamily="2" charset="-122"/>
                <a:cs typeface="宋体" panose="02010600030101010101" pitchFamily="2" charset="-122"/>
              </a:rPr>
              <a:t>1. 为每个目标变量枚举候选输入组合</a:t>
            </a:r>
            <a:endParaRPr sz="202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2. 对候选模板做最小二乘参数拟合"/>
          <p:cNvSpPr>
            <a:spLocks noGrp="1"/>
          </p:cNvSpPr>
          <p:nvPr/>
        </p:nvSpPr>
        <p:spPr>
          <a:xfrm>
            <a:off x="6191250" y="2705100"/>
            <a:ext cx="5238750" cy="781050"/>
          </a:xfrm>
          <a:prstGeom prst="rect">
            <a:avLst/>
          </a:prstGeom>
          <a:noFill/>
          <a:ln w="0">
            <a:noFill/>
          </a:ln>
        </p:spPr>
        <p:txBody>
          <a:bodyPr wrap="square" lIns="0" tIns="0" rIns="0" bIns="0" anchor="t">
            <a:noAutofit/>
          </a:bodyPr>
          <a:lstStyle>
            <a:defPPr algn="l">
              <a:defRPr sz="2025" b="0">
                <a:solidFill>
                  <a:srgbClr val="20304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0">
                <a:solidFill>
                  <a:srgbClr val="203040"/>
                </a:solidFill>
                <a:latin typeface="PingFang SC" panose="020B0400000000000000" charset="-122"/>
                <a:ea typeface="PingFang SC" panose="020B0400000000000000" charset="-122"/>
                <a:cs typeface="PingFang SC" panose="020B0400000000000000" charset="-122"/>
              </a:defRPr>
            </a:pPr>
            <a:r>
              <a:rPr sz="2025" b="0">
                <a:solidFill>
                  <a:srgbClr val="203040"/>
                </a:solidFill>
                <a:latin typeface="宋体" panose="02010600030101010101" pitchFamily="2" charset="-122"/>
                <a:ea typeface="宋体" panose="02010600030101010101" pitchFamily="2" charset="-122"/>
                <a:cs typeface="宋体" panose="02010600030101010101" pitchFamily="2" charset="-122"/>
              </a:rPr>
              <a:t>2. 对候选模板做最小二乘参数拟合</a:t>
            </a:r>
            <a:endParaRPr sz="202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1" name="3. 比较训练均方误差，选择最佳公式"/>
          <p:cNvSpPr>
            <a:spLocks noGrp="1"/>
          </p:cNvSpPr>
          <p:nvPr/>
        </p:nvSpPr>
        <p:spPr>
          <a:xfrm>
            <a:off x="6191250" y="3619500"/>
            <a:ext cx="5238750" cy="781050"/>
          </a:xfrm>
          <a:prstGeom prst="rect">
            <a:avLst/>
          </a:prstGeom>
          <a:noFill/>
          <a:ln w="0">
            <a:noFill/>
          </a:ln>
        </p:spPr>
        <p:txBody>
          <a:bodyPr wrap="square" lIns="0" tIns="0" rIns="0" bIns="0" anchor="t">
            <a:noAutofit/>
          </a:bodyPr>
          <a:lstStyle>
            <a:defPPr algn="l">
              <a:defRPr sz="2025" b="0">
                <a:solidFill>
                  <a:srgbClr val="20304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0">
                <a:solidFill>
                  <a:srgbClr val="203040"/>
                </a:solidFill>
                <a:latin typeface="PingFang SC" panose="020B0400000000000000" charset="-122"/>
                <a:ea typeface="PingFang SC" panose="020B0400000000000000" charset="-122"/>
                <a:cs typeface="PingFang SC" panose="020B0400000000000000" charset="-122"/>
              </a:defRPr>
            </a:pPr>
            <a:r>
              <a:rPr sz="2025" b="0">
                <a:solidFill>
                  <a:srgbClr val="203040"/>
                </a:solidFill>
                <a:latin typeface="宋体" panose="02010600030101010101" pitchFamily="2" charset="-122"/>
                <a:ea typeface="宋体" panose="02010600030101010101" pitchFamily="2" charset="-122"/>
                <a:cs typeface="宋体" panose="02010600030101010101" pitchFamily="2" charset="-122"/>
              </a:rPr>
              <a:t>3. 比较训练均方误差，选择最佳公式</a:t>
            </a:r>
            <a:endParaRPr sz="202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4. 用正常数据估计CUSUM告警参数"/>
          <p:cNvSpPr>
            <a:spLocks noGrp="1"/>
          </p:cNvSpPr>
          <p:nvPr/>
        </p:nvSpPr>
        <p:spPr>
          <a:xfrm>
            <a:off x="6191250" y="4533900"/>
            <a:ext cx="5238750" cy="781050"/>
          </a:xfrm>
          <a:prstGeom prst="rect">
            <a:avLst/>
          </a:prstGeom>
          <a:noFill/>
          <a:ln w="0">
            <a:noFill/>
          </a:ln>
        </p:spPr>
        <p:txBody>
          <a:bodyPr wrap="square" lIns="0" tIns="0" rIns="0" bIns="0" anchor="t">
            <a:noAutofit/>
          </a:bodyPr>
          <a:lstStyle>
            <a:defPPr algn="l">
              <a:defRPr sz="2025" b="0">
                <a:solidFill>
                  <a:srgbClr val="20304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0">
                <a:solidFill>
                  <a:srgbClr val="203040"/>
                </a:solidFill>
                <a:latin typeface="PingFang SC" panose="020B0400000000000000" charset="-122"/>
                <a:ea typeface="PingFang SC" panose="020B0400000000000000" charset="-122"/>
                <a:cs typeface="PingFang SC" panose="020B0400000000000000" charset="-122"/>
              </a:defRPr>
            </a:pPr>
            <a:r>
              <a:rPr sz="2025" b="0">
                <a:solidFill>
                  <a:srgbClr val="203040"/>
                </a:solidFill>
                <a:latin typeface="宋体" panose="02010600030101010101" pitchFamily="2" charset="-122"/>
                <a:ea typeface="宋体" panose="02010600030101010101" pitchFamily="2" charset="-122"/>
                <a:cs typeface="宋体" panose="02010600030101010101" pitchFamily="2" charset="-122"/>
              </a:rPr>
              <a:t>4. 用正常数据估计CUSUM告警参数</a:t>
            </a:r>
            <a:endParaRPr sz="202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矩形 12"/>
          <p:cNvSpPr>
            <a:spLocks noGrp="1"/>
          </p:cNvSpPr>
          <p:nvPr/>
        </p:nvSpPr>
        <p:spPr>
          <a:xfrm>
            <a:off x="476250" y="5762625"/>
            <a:ext cx="11340000" cy="576000"/>
          </a:xfrm>
          <a:prstGeom prst="rect">
            <a:avLst/>
          </a:prstGeom>
          <a:solidFill>
            <a:srgbClr val="E8F7F6"/>
          </a:solidFill>
          <a:ln w="0">
            <a:noFill/>
          </a:ln>
        </p:spPr>
      </p:sp>
      <p:sp>
        <p:nvSpPr>
          <p:cNvPr id="14" name="专家可以扩展模板库，但标准学习流程无需逐个系统手工编写公式"/>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专家可以扩展模板库，但标准学习流程无需逐个系统手工编写公式</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18"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13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457200" y="209550"/>
            <a:ext cx="76200" cy="457200"/>
          </a:xfrm>
          <a:prstGeom prst="rect">
            <a:avLst/>
          </a:prstGeom>
          <a:solidFill>
            <a:srgbClr val="00AFA8"/>
          </a:solidFill>
          <a:ln w="0">
            <a:noFill/>
          </a:ln>
        </p:spPr>
      </p:sp>
      <p:sp>
        <p:nvSpPr>
          <p:cNvPr id="2" name="02 GeCo方法设计"/>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02 GeCo方法设计</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液位案例：自动恢复进水、出水与上一时刻液位的关系"/>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液位案例：自动恢复进水、出水与上一时刻液位的关系</a:t>
            </a:r>
            <a:endParaRPr sz="2250" b="1">
              <a:solidFill>
                <a:srgbClr val="007E78"/>
              </a:solidFill>
              <a:latin typeface="黑体" panose="02010609060101010101" charset="-122"/>
              <a:ea typeface="黑体" panose="02010609060101010101" charset="-122"/>
              <a:cs typeface="PingFang SC" panose="020B0400000000000000" charset="-122"/>
            </a:endParaRPr>
          </a:p>
        </p:txBody>
      </p:sp>
      <p:pic>
        <p:nvPicPr>
          <p:cNvPr id="6" name="图片 5"/>
          <p:cNvPicPr>
            <a:picLocks noChangeAspect="1"/>
          </p:cNvPicPr>
          <p:nvPr/>
        </p:nvPicPr>
        <p:blipFill>
          <a:blip r:embed="rId2"/>
          <a:stretch>
            <a:fillRect/>
          </a:stretch>
        </p:blipFill>
        <p:spPr>
          <a:xfrm>
            <a:off x="666750" y="1835320"/>
            <a:ext cx="5095875" cy="1434761"/>
          </a:xfrm>
          <a:prstGeom prst="rect">
            <a:avLst/>
          </a:prstGeom>
        </p:spPr>
      </p:pic>
      <p:pic>
        <p:nvPicPr>
          <p:cNvPr id="7" name="图片 6"/>
          <p:cNvPicPr>
            <a:picLocks noChangeAspect="1"/>
          </p:cNvPicPr>
          <p:nvPr/>
        </p:nvPicPr>
        <p:blipFill>
          <a:blip r:embed="rId3"/>
          <a:stretch>
            <a:fillRect/>
          </a:stretch>
        </p:blipFill>
        <p:spPr>
          <a:xfrm>
            <a:off x="5953125" y="2130399"/>
            <a:ext cx="5429250" cy="673152"/>
          </a:xfrm>
          <a:prstGeom prst="rect">
            <a:avLst/>
          </a:prstGeom>
        </p:spPr>
      </p:pic>
      <p:sp>
        <p:nvSpPr>
          <p:cNvPr id="14" name="矩形 13"/>
          <p:cNvSpPr>
            <a:spLocks noGrp="1"/>
          </p:cNvSpPr>
          <p:nvPr/>
        </p:nvSpPr>
        <p:spPr>
          <a:xfrm>
            <a:off x="476250" y="5762625"/>
            <a:ext cx="11340000" cy="576000"/>
          </a:xfrm>
          <a:prstGeom prst="rect">
            <a:avLst/>
          </a:prstGeom>
          <a:solidFill>
            <a:srgbClr val="E8F7F6"/>
          </a:solidFill>
          <a:ln w="0">
            <a:noFill/>
          </a:ln>
        </p:spPr>
      </p:sp>
      <p:sp>
        <p:nvSpPr>
          <p:cNvPr id="15" name="可理解性体现在变量与符号可以核查，不意味着参数天然具有因果保证"/>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可理解性体现在变量与符号可以核查，不意味着参数天然具有因果保证</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17" name="FIT101 / FIT201：进出水流量&#10;LIT101：液位；MV1"/>
          <p:cNvSpPr>
            <a:spLocks noGrp="1"/>
          </p:cNvSpPr>
          <p:nvPr/>
        </p:nvSpPr>
        <p:spPr>
          <a:xfrm>
            <a:off x="767080" y="3300730"/>
            <a:ext cx="6477000" cy="599440"/>
          </a:xfrm>
          <a:prstGeom prst="rect">
            <a:avLst/>
          </a:prstGeom>
          <a:noFill/>
          <a:ln w="0">
            <a:noFill/>
          </a:ln>
        </p:spPr>
        <p:txBody>
          <a:bodyPr wrap="square" lIns="0" tIns="0" rIns="0" bIns="0" anchor="t">
            <a:noAutofit/>
          </a:bodyPr>
          <a:lstStyle>
            <a:defPPr algn="l">
              <a:defRPr sz="180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00"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FIT101 / FIT201：进出水流量</a:t>
            </a:r>
            <a:endParaRPr sz="1800"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00"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LIT101：液位；MV101、P101 / P102：阀门与泵</a:t>
            </a:r>
            <a:endParaRPr sz="1800"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9" name="refine:back"/>
          <p:cNvSpPr>
            <a:spLocks noGrp="1"/>
          </p:cNvSpPr>
          <p:nvPr/>
        </p:nvSpPr>
        <p:spPr>
          <a:xfrm>
            <a:off x="476250" y="3852545"/>
            <a:ext cx="3476625" cy="1771650"/>
          </a:xfrm>
          <a:prstGeom prst="roundRect">
            <a:avLst>
              <a:gd name="adj" fmla="val 3763"/>
            </a:avLst>
          </a:prstGeom>
          <a:solidFill>
            <a:srgbClr val="F5FAFA"/>
          </a:solidFill>
          <a:ln w="9525">
            <a:solidFill>
              <a:srgbClr val="D7E5E9"/>
            </a:solidFill>
            <a:prstDash val="solid"/>
          </a:ln>
        </p:spPr>
      </p:sp>
      <p:sp>
        <p:nvSpPr>
          <p:cNvPr id="20" name="refine:back"/>
          <p:cNvSpPr>
            <a:spLocks noGrp="1"/>
          </p:cNvSpPr>
          <p:nvPr/>
        </p:nvSpPr>
        <p:spPr>
          <a:xfrm>
            <a:off x="4181475" y="3852545"/>
            <a:ext cx="3676650" cy="1771650"/>
          </a:xfrm>
          <a:prstGeom prst="roundRect">
            <a:avLst>
              <a:gd name="adj" fmla="val 3763"/>
            </a:avLst>
          </a:prstGeom>
          <a:solidFill>
            <a:srgbClr val="F5FAFA"/>
          </a:solidFill>
          <a:ln w="9525">
            <a:solidFill>
              <a:srgbClr val="D7E5E9"/>
            </a:solidFill>
            <a:prstDash val="solid"/>
          </a:ln>
        </p:spPr>
      </p:sp>
      <p:sp>
        <p:nvSpPr>
          <p:cNvPr id="21" name="refine:back"/>
          <p:cNvSpPr>
            <a:spLocks noGrp="1"/>
          </p:cNvSpPr>
          <p:nvPr/>
        </p:nvSpPr>
        <p:spPr>
          <a:xfrm>
            <a:off x="8058150" y="3852545"/>
            <a:ext cx="3657600" cy="1771650"/>
          </a:xfrm>
          <a:prstGeom prst="roundRect">
            <a:avLst>
              <a:gd name="adj" fmla="val 3763"/>
            </a:avLst>
          </a:prstGeom>
          <a:solidFill>
            <a:srgbClr val="F5FAFA"/>
          </a:solidFill>
          <a:ln w="9525">
            <a:solidFill>
              <a:srgbClr val="D7E5E9"/>
            </a:solidFill>
            <a:prstDash val="solid"/>
          </a:ln>
        </p:spPr>
      </p:sp>
      <p:sp>
        <p:nvSpPr>
          <p:cNvPr id="22" name="液位基准"/>
          <p:cNvSpPr>
            <a:spLocks noGrp="1"/>
          </p:cNvSpPr>
          <p:nvPr/>
        </p:nvSpPr>
        <p:spPr>
          <a:xfrm>
            <a:off x="619125" y="3947795"/>
            <a:ext cx="319087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液位基准</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23" name="1.0 × LIT101&#10;无进出水，液位近似不变。"/>
          <p:cNvSpPr>
            <a:spLocks noGrp="1"/>
          </p:cNvSpPr>
          <p:nvPr/>
        </p:nvSpPr>
        <p:spPr>
          <a:xfrm>
            <a:off x="619125" y="4357370"/>
            <a:ext cx="3190875" cy="1238250"/>
          </a:xfrm>
          <a:prstGeom prst="rect">
            <a:avLst/>
          </a:prstGeom>
          <a:noFill/>
          <a:ln w="0">
            <a:noFill/>
          </a:ln>
        </p:spPr>
        <p:txBody>
          <a:bodyPr wrap="square" lIns="0" tIns="0" rIns="0" bIns="0" anchor="t">
            <a:noAutofit/>
          </a:bodyPr>
          <a:lstStyle>
            <a:defPPr algn="l">
              <a:defRPr sz="180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1.0 × LIT101</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无进出水，液位近似不变。</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24" name="流量贡献"/>
          <p:cNvSpPr>
            <a:spLocks noGrp="1"/>
          </p:cNvSpPr>
          <p:nvPr/>
        </p:nvSpPr>
        <p:spPr>
          <a:xfrm>
            <a:off x="4324350" y="3947795"/>
            <a:ext cx="338137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流量贡献</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25" name="+0.192 × FIT101&#10;−0.197 × FIT201&#10;进水抬"/>
          <p:cNvSpPr>
            <a:spLocks noGrp="1"/>
          </p:cNvSpPr>
          <p:nvPr/>
        </p:nvSpPr>
        <p:spPr>
          <a:xfrm>
            <a:off x="4324350" y="4357370"/>
            <a:ext cx="3381375" cy="1238250"/>
          </a:xfrm>
          <a:prstGeom prst="rect">
            <a:avLst/>
          </a:prstGeom>
          <a:noFill/>
          <a:ln w="0">
            <a:noFill/>
          </a:ln>
        </p:spPr>
        <p:txBody>
          <a:bodyPr wrap="square" lIns="0" tIns="0" rIns="0" bIns="0" anchor="t">
            <a:noAutofit/>
          </a:bodyPr>
          <a:lstStyle>
            <a:defPPr algn="l">
              <a:defRPr sz="180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+0.192 × FIT101</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−0.197 × FIT201</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进水抬高液位，出水降低液位。</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26" name="参数含义"/>
          <p:cNvSpPr>
            <a:spLocks noGrp="1"/>
          </p:cNvSpPr>
          <p:nvPr/>
        </p:nvSpPr>
        <p:spPr>
          <a:xfrm>
            <a:off x="8201025" y="3947795"/>
            <a:ext cx="328612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参数含义</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27" name="系数由数据拟合。&#10;小常数0.009用于校正，可能&#10;反映训练数据的噪声与"/>
          <p:cNvSpPr>
            <a:spLocks noGrp="1"/>
          </p:cNvSpPr>
          <p:nvPr/>
        </p:nvSpPr>
        <p:spPr>
          <a:xfrm>
            <a:off x="8201025" y="4357370"/>
            <a:ext cx="3286125" cy="1238250"/>
          </a:xfrm>
          <a:prstGeom prst="rect">
            <a:avLst/>
          </a:prstGeom>
          <a:noFill/>
          <a:ln w="0">
            <a:noFill/>
          </a:ln>
        </p:spPr>
        <p:txBody>
          <a:bodyPr wrap="square" lIns="0" tIns="0" rIns="0" bIns="0" anchor="t">
            <a:noAutofit/>
          </a:bodyPr>
          <a:lstStyle>
            <a:defPPr algn="l">
              <a:defRPr sz="180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系数由数据拟合。</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小常数0.009用于校正，可能</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反映训练数据的噪声与误差。</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28"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14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457200" y="209550"/>
            <a:ext cx="76200" cy="457200"/>
          </a:xfrm>
          <a:prstGeom prst="rect">
            <a:avLst/>
          </a:prstGeom>
          <a:solidFill>
            <a:srgbClr val="00AFA8"/>
          </a:solidFill>
          <a:ln w="0">
            <a:noFill/>
          </a:ln>
        </p:spPr>
      </p:sp>
      <p:sp>
        <p:nvSpPr>
          <p:cNvPr id="2" name="02 GeCo方法设计"/>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02 GeCo方法设计</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温度案例：扩展混合模板后，自动选择输入与参数"/>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温度案例：扩展混合模板后，自动选择输入与参数</a:t>
            </a:r>
            <a:endParaRPr sz="2250" b="1">
              <a:solidFill>
                <a:srgbClr val="007E78"/>
              </a:solidFill>
              <a:latin typeface="黑体" panose="02010609060101010101" charset="-122"/>
              <a:ea typeface="黑体" panose="02010609060101010101" charset="-122"/>
              <a:cs typeface="PingFang SC" panose="020B0400000000000000" charset="-122"/>
            </a:endParaRPr>
          </a:p>
        </p:txBody>
      </p:sp>
      <p:sp>
        <p:nvSpPr>
          <p:cNvPr id="6" name="可扩展的混合温度模板"/>
          <p:cNvSpPr>
            <a:spLocks noGrp="1"/>
          </p:cNvSpPr>
          <p:nvPr/>
        </p:nvSpPr>
        <p:spPr>
          <a:xfrm>
            <a:off x="666750" y="1666875"/>
            <a:ext cx="10668000" cy="361950"/>
          </a:xfrm>
          <a:prstGeom prst="rect">
            <a:avLst/>
          </a:prstGeom>
          <a:noFill/>
          <a:ln w="0">
            <a:noFill/>
          </a:ln>
        </p:spPr>
        <p:txBody>
          <a:bodyPr wrap="square" lIns="0" tIns="0" rIns="0" bIns="0" anchor="t">
            <a:noAutofit/>
          </a:bodyPr>
          <a:lstStyle>
            <a:defPPr algn="l">
              <a:defRPr sz="19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1950" b="1">
                <a:solidFill>
                  <a:srgbClr val="007E78"/>
                </a:solidFill>
                <a:latin typeface="PingFang SC" panose="020B0400000000000000" charset="-122"/>
                <a:ea typeface="PingFang SC" panose="020B0400000000000000" charset="-122"/>
                <a:cs typeface="PingFang SC" panose="020B0400000000000000" charset="-122"/>
              </a:defRPr>
            </a:pPr>
            <a:r>
              <a:rPr sz="1950" b="1">
                <a:solidFill>
                  <a:srgbClr val="007E78"/>
                </a:solidFill>
                <a:latin typeface="黑体" panose="02010609060101010101" charset="-122"/>
                <a:ea typeface="黑体" panose="02010609060101010101" charset="-122"/>
                <a:cs typeface="PingFang SC" panose="020B0400000000000000" charset="-122"/>
              </a:rPr>
              <a:t>可扩展的</a:t>
            </a:r>
            <a:r>
              <a:rPr lang="zh-CN" sz="1950" b="1">
                <a:solidFill>
                  <a:srgbClr val="007E78"/>
                </a:solidFill>
                <a:latin typeface="黑体" panose="02010609060101010101" charset="-122"/>
                <a:ea typeface="黑体" panose="02010609060101010101" charset="-122"/>
                <a:cs typeface="PingFang SC" panose="020B0400000000000000" charset="-122"/>
              </a:rPr>
              <a:t>两种流体</a:t>
            </a:r>
            <a:r>
              <a:rPr sz="1950" b="1">
                <a:solidFill>
                  <a:srgbClr val="007E78"/>
                </a:solidFill>
                <a:latin typeface="黑体" panose="02010609060101010101" charset="-122"/>
                <a:ea typeface="黑体" panose="02010609060101010101" charset="-122"/>
                <a:cs typeface="PingFang SC" panose="020B0400000000000000" charset="-122"/>
              </a:rPr>
              <a:t>混合温度</a:t>
            </a:r>
            <a:r>
              <a:rPr lang="zh-CN" sz="1950" b="1">
                <a:solidFill>
                  <a:srgbClr val="007E78"/>
                </a:solidFill>
                <a:latin typeface="黑体" panose="02010609060101010101" charset="-122"/>
                <a:ea typeface="黑体" panose="02010609060101010101" charset="-122"/>
                <a:cs typeface="PingFang SC" panose="020B0400000000000000" charset="-122"/>
              </a:rPr>
              <a:t>变化</a:t>
            </a:r>
            <a:r>
              <a:rPr sz="1950" b="1">
                <a:solidFill>
                  <a:srgbClr val="007E78"/>
                </a:solidFill>
                <a:latin typeface="黑体" panose="02010609060101010101" charset="-122"/>
                <a:ea typeface="黑体" panose="02010609060101010101" charset="-122"/>
                <a:cs typeface="PingFang SC" panose="020B0400000000000000" charset="-122"/>
              </a:rPr>
              <a:t>模板</a:t>
            </a:r>
            <a:endParaRPr sz="1950" b="1">
              <a:solidFill>
                <a:srgbClr val="007E78"/>
              </a:solidFill>
              <a:latin typeface="黑体" panose="02010609060101010101" charset="-122"/>
              <a:ea typeface="黑体" panose="02010609060101010101" charset="-122"/>
              <a:cs typeface="PingFang SC" panose="020B0400000000000000" charset="-122"/>
            </a:endParaRPr>
          </a:p>
        </p:txBody>
      </p:sp>
      <p:pic>
        <p:nvPicPr>
          <p:cNvPr id="7" name="图片 6"/>
          <p:cNvPicPr>
            <a:picLocks noChangeAspect="1"/>
          </p:cNvPicPr>
          <p:nvPr/>
        </p:nvPicPr>
        <p:blipFill>
          <a:blip r:embed="rId2"/>
          <a:stretch>
            <a:fillRect/>
          </a:stretch>
        </p:blipFill>
        <p:spPr>
          <a:xfrm>
            <a:off x="3018367" y="2105025"/>
            <a:ext cx="6060017" cy="933450"/>
          </a:xfrm>
          <a:prstGeom prst="rect">
            <a:avLst/>
          </a:prstGeom>
        </p:spPr>
      </p:pic>
      <p:sp>
        <p:nvSpPr>
          <p:cNvPr id="8" name="GeCo在HAI中学习的TWIT04方程"/>
          <p:cNvSpPr>
            <a:spLocks noGrp="1"/>
          </p:cNvSpPr>
          <p:nvPr/>
        </p:nvSpPr>
        <p:spPr>
          <a:xfrm>
            <a:off x="666750" y="3209925"/>
            <a:ext cx="10668000" cy="361950"/>
          </a:xfrm>
          <a:prstGeom prst="rect">
            <a:avLst/>
          </a:prstGeom>
          <a:noFill/>
          <a:ln w="0">
            <a:noFill/>
          </a:ln>
        </p:spPr>
        <p:txBody>
          <a:bodyPr wrap="square" lIns="0" tIns="0" rIns="0" bIns="0" anchor="t">
            <a:noAutofit/>
          </a:bodyPr>
          <a:lstStyle>
            <a:defPPr algn="l">
              <a:defRPr sz="19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1950" b="1">
                <a:solidFill>
                  <a:srgbClr val="007E78"/>
                </a:solidFill>
                <a:latin typeface="PingFang SC" panose="020B0400000000000000" charset="-122"/>
                <a:ea typeface="PingFang SC" panose="020B0400000000000000" charset="-122"/>
                <a:cs typeface="PingFang SC" panose="020B0400000000000000" charset="-122"/>
              </a:defRPr>
            </a:pPr>
            <a:r>
              <a:rPr sz="1950" b="1">
                <a:solidFill>
                  <a:srgbClr val="007E78"/>
                </a:solidFill>
                <a:latin typeface="黑体" panose="02010609060101010101" charset="-122"/>
                <a:ea typeface="黑体" panose="02010609060101010101" charset="-122"/>
                <a:cs typeface="黑体" panose="02010609060101010101" charset="-122"/>
              </a:rPr>
              <a:t>GeCo在HAI中学习的TWIT04方程</a:t>
            </a:r>
            <a:r>
              <a:rPr lang="en-US" sz="1950" b="1">
                <a:solidFill>
                  <a:srgbClr val="007E78"/>
                </a:solidFill>
                <a:latin typeface="黑体" panose="02010609060101010101" charset="-122"/>
                <a:ea typeface="黑体" panose="02010609060101010101" charset="-122"/>
                <a:cs typeface="黑体" panose="02010609060101010101" charset="-122"/>
              </a:rPr>
              <a:t> </a:t>
            </a:r>
            <a:endParaRPr lang="en-US" sz="1950" b="1">
              <a:solidFill>
                <a:srgbClr val="007E78"/>
              </a:solidFill>
              <a:latin typeface="黑体" panose="02010609060101010101" charset="-122"/>
              <a:ea typeface="黑体" panose="02010609060101010101" charset="-122"/>
              <a:cs typeface="黑体" panose="02010609060101010101" charset="-122"/>
            </a:endParaRPr>
          </a:p>
        </p:txBody>
      </p:sp>
      <p:pic>
        <p:nvPicPr>
          <p:cNvPr id="9" name="图片 8"/>
          <p:cNvPicPr>
            <a:picLocks noChangeAspect="1"/>
          </p:cNvPicPr>
          <p:nvPr/>
        </p:nvPicPr>
        <p:blipFill>
          <a:blip r:embed="rId3"/>
          <a:stretch>
            <a:fillRect/>
          </a:stretch>
        </p:blipFill>
        <p:spPr>
          <a:xfrm>
            <a:off x="3145929" y="3648075"/>
            <a:ext cx="5804892" cy="933450"/>
          </a:xfrm>
          <a:prstGeom prst="rect">
            <a:avLst/>
          </a:prstGeom>
        </p:spPr>
      </p:pic>
      <p:sp>
        <p:nvSpPr>
          <p:cNvPr id="10" name="FT01Z：热水流量    LIT01：水箱液位    TIT01：进"/>
          <p:cNvSpPr>
            <a:spLocks noGrp="1"/>
          </p:cNvSpPr>
          <p:nvPr/>
        </p:nvSpPr>
        <p:spPr>
          <a:xfrm>
            <a:off x="590550" y="4895850"/>
            <a:ext cx="11144250" cy="438150"/>
          </a:xfrm>
          <a:prstGeom prst="rect">
            <a:avLst/>
          </a:prstGeom>
          <a:noFill/>
          <a:ln w="0">
            <a:noFill/>
          </a:ln>
        </p:spPr>
        <p:txBody>
          <a:bodyPr wrap="square" lIns="0" tIns="0" rIns="0" bIns="0" anchor="t">
            <a:noAutofit/>
          </a:bodyPr>
          <a:lstStyle>
            <a:defPPr algn="l">
              <a:defRPr sz="180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00"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FT01Z：热水流量    LIT01：水箱液位    TIT01：进水温度    TWIT04：箱内温度</a:t>
            </a:r>
            <a:endParaRPr sz="1800"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1" name="矩形 10"/>
          <p:cNvSpPr>
            <a:spLocks noGrp="1"/>
          </p:cNvSpPr>
          <p:nvPr/>
        </p:nvSpPr>
        <p:spPr>
          <a:xfrm>
            <a:off x="476250" y="5762625"/>
            <a:ext cx="11340000" cy="576000"/>
          </a:xfrm>
          <a:prstGeom prst="rect">
            <a:avLst/>
          </a:prstGeom>
          <a:solidFill>
            <a:srgbClr val="E8F7F6"/>
          </a:solidFill>
          <a:ln w="0">
            <a:noFill/>
          </a:ln>
        </p:spPr>
      </p:sp>
      <p:sp>
        <p:nvSpPr>
          <p:cNvPr id="12" name="领域知识决定可选函数形式，数据确定具体关系；模板扩展属于可选增强"/>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领域知识决定可选函数形式，数据确定具体关系；模板扩展属于可选增强</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16"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15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矩形 24"/>
          <p:cNvSpPr>
            <a:spLocks noGrp="1"/>
          </p:cNvSpPr>
          <p:nvPr/>
        </p:nvSpPr>
        <p:spPr>
          <a:xfrm>
            <a:off x="457200" y="209550"/>
            <a:ext cx="76200" cy="457200"/>
          </a:xfrm>
          <a:prstGeom prst="rect">
            <a:avLst/>
          </a:prstGeom>
          <a:solidFill>
            <a:srgbClr val="00AFA8"/>
          </a:solidFill>
          <a:ln w="0">
            <a:noFill/>
          </a:ln>
        </p:spPr>
      </p:sp>
      <p:sp>
        <p:nvSpPr>
          <p:cNvPr id="2" name="02 GeCo方法设计"/>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02 GeCo方法设计</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CUSUM检测：从模型预测误差到变量级告警"/>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黑体" panose="02010609060101010101" charset="-122"/>
              </a:rPr>
              <a:t>CUSUM检测：从模型预测误差到变量级告警</a:t>
            </a:r>
            <a:endParaRPr sz="2250" b="1">
              <a:solidFill>
                <a:srgbClr val="007E78"/>
              </a:solidFill>
              <a:latin typeface="黑体" panose="02010609060101010101" charset="-122"/>
              <a:ea typeface="黑体" panose="02010609060101010101" charset="-122"/>
              <a:cs typeface="黑体" panose="02010609060101010101" charset="-122"/>
            </a:endParaRPr>
          </a:p>
        </p:txBody>
      </p:sp>
      <p:sp>
        <p:nvSpPr>
          <p:cNvPr id="6" name="模型已能预测当前值，但正常噪声也会产生误差，需要观察偏差是否持续累积。"/>
          <p:cNvSpPr>
            <a:spLocks noGrp="1"/>
          </p:cNvSpPr>
          <p:nvPr/>
        </p:nvSpPr>
        <p:spPr>
          <a:xfrm>
            <a:off x="619125" y="1619250"/>
            <a:ext cx="10953750" cy="43815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模型已能预测当前值，</a:t>
            </a:r>
            <a:r>
              <a:rPr sz="1875" b="0">
                <a:solidFill>
                  <a:srgbClr val="203040"/>
                </a:solidFill>
                <a:latin typeface="宋体" panose="02010600030101010101" pitchFamily="2" charset="-122"/>
                <a:ea typeface="宋体" panose="02010600030101010101" pitchFamily="2" charset="-122"/>
                <a:cs typeface="PingFang SC" panose="020B0400000000000000" charset="-122"/>
              </a:rPr>
              <a:t>预测值与实测值不一致，</a:t>
            </a:r>
            <a:r>
              <a:rPr sz="1875" b="0">
                <a:solidFill>
                  <a:srgbClr val="203040"/>
                </a:solidFill>
                <a:latin typeface="宋体" panose="02010600030101010101" pitchFamily="2" charset="-122"/>
                <a:ea typeface="宋体" panose="02010600030101010101" pitchFamily="2" charset="-122"/>
                <a:cs typeface="PingFang SC" panose="020B0400000000000000" charset="-122"/>
              </a:rPr>
              <a:t>是否应该告警？</a:t>
            </a:r>
            <a:r>
              <a:rPr sz="1875" b="0">
                <a:solidFill>
                  <a:srgbClr val="203040"/>
                </a:solidFill>
                <a:latin typeface="宋体" panose="02010600030101010101" pitchFamily="2" charset="-122"/>
                <a:ea typeface="宋体" panose="02010600030101010101" pitchFamily="2" charset="-122"/>
                <a:cs typeface="PingFang SC" panose="020B0400000000000000" charset="-122"/>
              </a:rPr>
              <a:t>但正常噪声也会产生误差，需要观察偏差是否持续累积。</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7" name="矩形 6"/>
          <p:cNvSpPr>
            <a:spLocks noGrp="1"/>
          </p:cNvSpPr>
          <p:nvPr/>
        </p:nvSpPr>
        <p:spPr>
          <a:xfrm>
            <a:off x="619125" y="2219325"/>
            <a:ext cx="10953750" cy="19050"/>
          </a:xfrm>
          <a:prstGeom prst="rect">
            <a:avLst/>
          </a:prstGeom>
          <a:solidFill>
            <a:srgbClr val="D7E5E9"/>
          </a:solidFill>
          <a:ln w="0">
            <a:noFill/>
          </a:ln>
        </p:spPr>
      </p:sp>
      <p:sp>
        <p:nvSpPr>
          <p:cNvPr id="8" name="01  计算残差"/>
          <p:cNvSpPr>
            <a:spLocks noGrp="1"/>
          </p:cNvSpPr>
          <p:nvPr/>
        </p:nvSpPr>
        <p:spPr>
          <a:xfrm>
            <a:off x="619125" y="2324100"/>
            <a:ext cx="4524375" cy="371475"/>
          </a:xfrm>
          <a:prstGeom prst="rect">
            <a:avLst/>
          </a:prstGeom>
          <a:noFill/>
          <a:ln w="0">
            <a:noFill/>
          </a:ln>
        </p:spPr>
        <p:txBody>
          <a:bodyPr wrap="square" lIns="0" tIns="0" rIns="0" bIns="0" anchor="t">
            <a:noAutofit/>
          </a:bodyPr>
          <a:lstStyle>
            <a:defPPr algn="l">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黑体" panose="02010609060101010101" charset="-122"/>
              </a:rPr>
              <a:t>01  计算残差</a:t>
            </a:r>
            <a:endParaRPr sz="2100" b="1">
              <a:solidFill>
                <a:srgbClr val="007E78"/>
              </a:solidFill>
              <a:latin typeface="黑体" panose="02010609060101010101" charset="-122"/>
              <a:ea typeface="黑体" panose="02010609060101010101" charset="-122"/>
              <a:cs typeface="黑体" panose="02010609060101010101" charset="-122"/>
            </a:endParaRPr>
          </a:p>
        </p:txBody>
      </p:sp>
      <p:sp>
        <p:nvSpPr>
          <p:cNvPr id="9" name="比较当前实测值与模型预测值，&#10;取绝对差作为当前偏离程度。"/>
          <p:cNvSpPr>
            <a:spLocks noGrp="1"/>
          </p:cNvSpPr>
          <p:nvPr/>
        </p:nvSpPr>
        <p:spPr>
          <a:xfrm>
            <a:off x="619125" y="2762250"/>
            <a:ext cx="4810125" cy="7143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比较当前实测值与模型预测值，</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取绝对差作为当前偏离程度。</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0" name="当前残差 = |实测值 − 预测值|"/>
          <p:cNvSpPr>
            <a:spLocks noGrp="1"/>
          </p:cNvSpPr>
          <p:nvPr/>
        </p:nvSpPr>
        <p:spPr>
          <a:xfrm>
            <a:off x="6048375" y="2324100"/>
            <a:ext cx="5381625" cy="400050"/>
          </a:xfrm>
          <a:prstGeom prst="rect">
            <a:avLst/>
          </a:prstGeom>
          <a:noFill/>
          <a:ln w="0">
            <a:noFill/>
          </a:ln>
        </p:spPr>
        <p:txBody>
          <a:bodyPr wrap="square" lIns="0" tIns="0" rIns="0" bIns="0" anchor="t">
            <a:noAutofit/>
          </a:bodyPr>
          <a:lstStyle>
            <a:defPPr algn="l">
              <a:defRPr sz="21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2100" b="1">
                <a:solidFill>
                  <a:srgbClr val="173B6C"/>
                </a:solidFill>
                <a:latin typeface="PingFang SC" panose="020B0400000000000000" charset="-122"/>
                <a:ea typeface="PingFang SC" panose="020B0400000000000000" charset="-122"/>
                <a:cs typeface="PingFang SC" panose="020B0400000000000000" charset="-122"/>
              </a:defRPr>
            </a:pPr>
            <a:r>
              <a:rPr sz="2100" b="1">
                <a:solidFill>
                  <a:srgbClr val="173B6C"/>
                </a:solidFill>
                <a:latin typeface="黑体" panose="02010609060101010101" charset="-122"/>
                <a:ea typeface="黑体" panose="02010609060101010101" charset="-122"/>
                <a:cs typeface="黑体" panose="02010609060101010101" charset="-122"/>
              </a:rPr>
              <a:t>当前残差 = |实测值 − 预测值|</a:t>
            </a:r>
            <a:endParaRPr sz="2100" b="1">
              <a:solidFill>
                <a:srgbClr val="173B6C"/>
              </a:solidFill>
              <a:latin typeface="黑体" panose="02010609060101010101" charset="-122"/>
              <a:ea typeface="黑体" panose="02010609060101010101" charset="-122"/>
              <a:cs typeface="黑体" panose="02010609060101010101" charset="-122"/>
            </a:endParaRPr>
          </a:p>
        </p:txBody>
      </p:sp>
      <p:sp>
        <p:nvSpPr>
          <p:cNvPr id="11" name="每个过程变量分别计算，保留异常位置。"/>
          <p:cNvSpPr>
            <a:spLocks noGrp="1"/>
          </p:cNvSpPr>
          <p:nvPr/>
        </p:nvSpPr>
        <p:spPr>
          <a:xfrm>
            <a:off x="6048375" y="2790825"/>
            <a:ext cx="5381625" cy="352425"/>
          </a:xfrm>
          <a:prstGeom prst="rect">
            <a:avLst/>
          </a:prstGeom>
          <a:noFill/>
          <a:ln w="0">
            <a:noFill/>
          </a:ln>
        </p:spPr>
        <p:txBody>
          <a:bodyPr wrap="square" lIns="0" tIns="0" rIns="0" bIns="0" anchor="t">
            <a:noAutofit/>
          </a:bodyPr>
          <a:lstStyle>
            <a:defPPr algn="l">
              <a:defRPr sz="1800" b="0">
                <a:solidFill>
                  <a:srgbClr val="57697B"/>
                </a:solidFill>
                <a:latin typeface="PingFang SC" panose="020B0400000000000000" charset="-122"/>
                <a:ea typeface="PingFang SC" panose="020B0400000000000000" charset="-122"/>
                <a:cs typeface="PingFang SC" panose="020B0400000000000000" charset="-122"/>
              </a:defRPr>
            </a:defPPr>
          </a:lstStyle>
          <a:p>
            <a:pPr algn="l">
              <a:buNone/>
              <a:defRPr sz="1800" b="0">
                <a:solidFill>
                  <a:srgbClr val="57697B"/>
                </a:solidFill>
                <a:latin typeface="PingFang SC" panose="020B0400000000000000" charset="-122"/>
                <a:ea typeface="PingFang SC" panose="020B0400000000000000" charset="-122"/>
                <a:cs typeface="PingFang SC" panose="020B0400000000000000" charset="-122"/>
              </a:defRPr>
            </a:pPr>
            <a:r>
              <a:rPr sz="1800" b="0">
                <a:solidFill>
                  <a:srgbClr val="57697B"/>
                </a:solidFill>
                <a:latin typeface="黑体" panose="02010609060101010101" charset="-122"/>
                <a:ea typeface="黑体" panose="02010609060101010101" charset="-122"/>
                <a:cs typeface="PingFang SC" panose="020B0400000000000000" charset="-122"/>
              </a:rPr>
              <a:t>每个过程变量分别计算，保留异常位置。</a:t>
            </a:r>
            <a:endParaRPr sz="1800" b="0">
              <a:solidFill>
                <a:srgbClr val="57697B"/>
              </a:solidFill>
              <a:latin typeface="黑体" panose="02010609060101010101" charset="-122"/>
              <a:ea typeface="黑体" panose="02010609060101010101" charset="-122"/>
              <a:cs typeface="PingFang SC" panose="020B0400000000000000" charset="-122"/>
            </a:endParaRPr>
          </a:p>
        </p:txBody>
      </p:sp>
      <p:sp>
        <p:nvSpPr>
          <p:cNvPr id="12" name="02  累积偏差"/>
          <p:cNvSpPr>
            <a:spLocks noGrp="1"/>
          </p:cNvSpPr>
          <p:nvPr/>
        </p:nvSpPr>
        <p:spPr>
          <a:xfrm>
            <a:off x="619125" y="3619500"/>
            <a:ext cx="4524375" cy="371475"/>
          </a:xfrm>
          <a:prstGeom prst="rect">
            <a:avLst/>
          </a:prstGeom>
          <a:noFill/>
          <a:ln w="0">
            <a:noFill/>
          </a:ln>
        </p:spPr>
        <p:txBody>
          <a:bodyPr wrap="square" lIns="0" tIns="0" rIns="0" bIns="0" anchor="t">
            <a:noAutofit/>
          </a:bodyPr>
          <a:lstStyle>
            <a:defPPr algn="l">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黑体" panose="02010609060101010101" charset="-122"/>
              </a:rPr>
              <a:t>02  累积偏差</a:t>
            </a:r>
            <a:endParaRPr sz="2100" b="1">
              <a:solidFill>
                <a:srgbClr val="007E78"/>
              </a:solidFill>
              <a:latin typeface="黑体" panose="02010609060101010101" charset="-122"/>
              <a:ea typeface="黑体" panose="02010609060101010101" charset="-122"/>
              <a:cs typeface="黑体" panose="02010609060101010101" charset="-122"/>
            </a:endParaRPr>
          </a:p>
        </p:txBody>
      </p:sp>
      <p:sp>
        <p:nvSpPr>
          <p:cNvPr id="13" name="持续超过正常漂移 δ 的残差推动分数上升。&#10;残差低于 δ 时分数回落，"/>
          <p:cNvSpPr>
            <a:spLocks noGrp="1"/>
          </p:cNvSpPr>
          <p:nvPr/>
        </p:nvSpPr>
        <p:spPr>
          <a:xfrm>
            <a:off x="619125" y="4038600"/>
            <a:ext cx="5095875" cy="742950"/>
          </a:xfrm>
          <a:prstGeom prst="rect">
            <a:avLst/>
          </a:prstGeom>
          <a:noFill/>
          <a:ln w="0">
            <a:noFill/>
          </a:ln>
        </p:spPr>
        <p:txBody>
          <a:bodyPr wrap="square" lIns="0" tIns="0" rIns="0" bIns="0" anchor="t">
            <a:noAutofit/>
          </a:bodyPr>
          <a:lstStyle>
            <a:defPPr algn="l">
              <a:defRPr sz="180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00"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持续超过正常漂移 δ 的残差推动分数上升。</a:t>
            </a:r>
            <a:endParaRPr sz="1800"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00" b="0">
                <a:solidFill>
                  <a:srgbClr val="203040"/>
                </a:solidFill>
                <a:latin typeface="PingFang SC" panose="020B0400000000000000" charset="-122"/>
                <a:ea typeface="PingFang SC" panose="020B0400000000000000" charset="-122"/>
                <a:cs typeface="PingFang SC" panose="020B0400000000000000" charset="-122"/>
              </a:defRPr>
            </a:pPr>
            <a:r>
              <a:rPr sz="1800" b="0">
                <a:solidFill>
                  <a:srgbClr val="203040"/>
                </a:solidFill>
                <a:latin typeface="宋体" panose="02010600030101010101" pitchFamily="2" charset="-122"/>
                <a:ea typeface="宋体" panose="02010600030101010101" pitchFamily="2" charset="-122"/>
                <a:cs typeface="宋体" panose="02010600030101010101" pitchFamily="2" charset="-122"/>
              </a:rPr>
              <a:t>残差低于 δ 时分数回落，最低为 0。</a:t>
            </a:r>
            <a:endParaRPr sz="1800"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pic>
        <p:nvPicPr>
          <p:cNvPr id="14" name="图片 13"/>
          <p:cNvPicPr>
            <a:picLocks noChangeAspect="1"/>
          </p:cNvPicPr>
          <p:nvPr/>
        </p:nvPicPr>
        <p:blipFill>
          <a:blip r:embed="rId2"/>
          <a:stretch>
            <a:fillRect/>
          </a:stretch>
        </p:blipFill>
        <p:spPr>
          <a:xfrm>
            <a:off x="5953125" y="3277208"/>
            <a:ext cx="5619750" cy="836984"/>
          </a:xfrm>
          <a:prstGeom prst="rect">
            <a:avLst/>
          </a:prstGeom>
        </p:spPr>
      </p:pic>
      <p:sp>
        <p:nvSpPr>
          <p:cNvPr id="15" name="δ = 正常训练残差的均值 + 一个标准差"/>
          <p:cNvSpPr>
            <a:spLocks noGrp="1"/>
          </p:cNvSpPr>
          <p:nvPr/>
        </p:nvSpPr>
        <p:spPr>
          <a:xfrm>
            <a:off x="6048375" y="4229100"/>
            <a:ext cx="5381625" cy="361950"/>
          </a:xfrm>
          <a:prstGeom prst="rect">
            <a:avLst/>
          </a:prstGeom>
          <a:noFill/>
          <a:ln w="0">
            <a:noFill/>
          </a:ln>
        </p:spPr>
        <p:txBody>
          <a:bodyPr wrap="square" lIns="0" tIns="0" rIns="0" bIns="0" anchor="t">
            <a:noAutofit/>
          </a:bodyPr>
          <a:lstStyle>
            <a:defPPr algn="l">
              <a:defRPr sz="1725" b="0">
                <a:solidFill>
                  <a:srgbClr val="57697B"/>
                </a:solidFill>
                <a:latin typeface="PingFang SC" panose="020B0400000000000000" charset="-122"/>
                <a:ea typeface="PingFang SC" panose="020B0400000000000000" charset="-122"/>
                <a:cs typeface="PingFang SC" panose="020B0400000000000000" charset="-122"/>
              </a:defRPr>
            </a:defPPr>
          </a:lstStyle>
          <a:p>
            <a:pPr algn="l">
              <a:buNone/>
              <a:defRPr sz="1725" b="0">
                <a:solidFill>
                  <a:srgbClr val="57697B"/>
                </a:solidFill>
                <a:latin typeface="PingFang SC" panose="020B0400000000000000" charset="-122"/>
                <a:ea typeface="PingFang SC" panose="020B0400000000000000" charset="-122"/>
                <a:cs typeface="PingFang SC" panose="020B0400000000000000" charset="-122"/>
              </a:defRPr>
            </a:pPr>
            <a:r>
              <a:rPr sz="1725" b="0">
                <a:solidFill>
                  <a:srgbClr val="57697B"/>
                </a:solidFill>
                <a:latin typeface="黑体" panose="02010609060101010101" charset="-122"/>
                <a:ea typeface="黑体" panose="02010609060101010101" charset="-122"/>
                <a:cs typeface="黑体" panose="02010609060101010101" charset="-122"/>
              </a:rPr>
              <a:t>δ = 正常训练残差的均值 + 一个标准差</a:t>
            </a:r>
            <a:endParaRPr sz="1725" b="0">
              <a:solidFill>
                <a:srgbClr val="57697B"/>
              </a:solidFill>
              <a:latin typeface="黑体" panose="02010609060101010101" charset="-122"/>
              <a:ea typeface="黑体" panose="02010609060101010101" charset="-122"/>
              <a:cs typeface="黑体" panose="02010609060101010101" charset="-122"/>
            </a:endParaRPr>
          </a:p>
        </p:txBody>
      </p:sp>
      <p:sp>
        <p:nvSpPr>
          <p:cNvPr id="16" name="03  判定告警"/>
          <p:cNvSpPr>
            <a:spLocks noGrp="1"/>
          </p:cNvSpPr>
          <p:nvPr/>
        </p:nvSpPr>
        <p:spPr>
          <a:xfrm>
            <a:off x="619125" y="4972050"/>
            <a:ext cx="4524375" cy="371475"/>
          </a:xfrm>
          <a:prstGeom prst="rect">
            <a:avLst/>
          </a:prstGeom>
          <a:noFill/>
          <a:ln w="0">
            <a:noFill/>
          </a:ln>
        </p:spPr>
        <p:txBody>
          <a:bodyPr wrap="square" lIns="0" tIns="0" rIns="0" bIns="0" anchor="t">
            <a:noAutofit/>
          </a:bodyPr>
          <a:lstStyle>
            <a:defPPr algn="l">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黑体" panose="02010609060101010101" charset="-122"/>
              </a:rPr>
              <a:t>03  判定告警</a:t>
            </a:r>
            <a:endParaRPr sz="2100" b="1">
              <a:solidFill>
                <a:srgbClr val="007E78"/>
              </a:solidFill>
              <a:latin typeface="黑体" panose="02010609060101010101" charset="-122"/>
              <a:ea typeface="黑体" panose="02010609060101010101" charset="-122"/>
              <a:cs typeface="黑体" panose="02010609060101010101" charset="-122"/>
            </a:endParaRPr>
          </a:p>
        </p:txBody>
      </p:sp>
      <p:sp>
        <p:nvSpPr>
          <p:cNvPr id="17" name="超过本变量阈值 T 时告警，低于 T 后解除。"/>
          <p:cNvSpPr>
            <a:spLocks noGrp="1"/>
          </p:cNvSpPr>
          <p:nvPr/>
        </p:nvSpPr>
        <p:spPr>
          <a:xfrm>
            <a:off x="619125" y="5391150"/>
            <a:ext cx="5238750" cy="323850"/>
          </a:xfrm>
          <a:prstGeom prst="rect">
            <a:avLst/>
          </a:prstGeom>
          <a:noFill/>
          <a:ln w="0">
            <a:noFill/>
          </a:ln>
        </p:spPr>
        <p:txBody>
          <a:bodyPr wrap="square" lIns="0" tIns="0" rIns="0" bIns="0" anchor="t">
            <a:noAutofit/>
          </a:bodyPr>
          <a:lstStyle>
            <a:defPPr algn="l">
              <a:defRPr sz="172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宋体" panose="02010600030101010101" pitchFamily="2" charset="-122"/>
              </a:rPr>
              <a:t>超过本变量阈值 T 时告警，低于 T 后解除。</a:t>
            </a:r>
            <a:endParaRPr sz="172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pic>
        <p:nvPicPr>
          <p:cNvPr id="18" name="图片 17"/>
          <p:cNvPicPr>
            <a:picLocks noChangeAspect="1"/>
          </p:cNvPicPr>
          <p:nvPr/>
        </p:nvPicPr>
        <p:blipFill>
          <a:blip r:embed="rId3"/>
          <a:stretch>
            <a:fillRect/>
          </a:stretch>
        </p:blipFill>
        <p:spPr>
          <a:xfrm>
            <a:off x="6191250" y="4686844"/>
            <a:ext cx="5143500" cy="646611"/>
          </a:xfrm>
          <a:prstGeom prst="rect">
            <a:avLst/>
          </a:prstGeom>
        </p:spPr>
      </p:pic>
      <p:sp>
        <p:nvSpPr>
          <p:cNvPr id="19" name="最大值取自正常训练阶段，S 提供安全裕量。"/>
          <p:cNvSpPr>
            <a:spLocks noGrp="1"/>
          </p:cNvSpPr>
          <p:nvPr/>
        </p:nvSpPr>
        <p:spPr>
          <a:xfrm>
            <a:off x="6048375" y="5381625"/>
            <a:ext cx="5524500" cy="333375"/>
          </a:xfrm>
          <a:prstGeom prst="rect">
            <a:avLst/>
          </a:prstGeom>
          <a:noFill/>
          <a:ln w="0">
            <a:noFill/>
          </a:ln>
        </p:spPr>
        <p:txBody>
          <a:bodyPr wrap="square" lIns="0" tIns="0" rIns="0" bIns="0" anchor="t">
            <a:noAutofit/>
          </a:bodyPr>
          <a:lstStyle>
            <a:defPPr algn="l">
              <a:defRPr sz="1725" b="0">
                <a:solidFill>
                  <a:srgbClr val="57697B"/>
                </a:solidFill>
                <a:latin typeface="PingFang SC" panose="020B0400000000000000" charset="-122"/>
                <a:ea typeface="PingFang SC" panose="020B0400000000000000" charset="-122"/>
                <a:cs typeface="PingFang SC" panose="020B0400000000000000" charset="-122"/>
              </a:defRPr>
            </a:defPPr>
          </a:lstStyle>
          <a:p>
            <a:pPr algn="l">
              <a:buNone/>
              <a:defRPr sz="1725" b="0">
                <a:solidFill>
                  <a:srgbClr val="57697B"/>
                </a:solidFill>
                <a:latin typeface="PingFang SC" panose="020B0400000000000000" charset="-122"/>
                <a:ea typeface="PingFang SC" panose="020B0400000000000000" charset="-122"/>
                <a:cs typeface="PingFang SC" panose="020B0400000000000000" charset="-122"/>
              </a:defRPr>
            </a:pPr>
            <a:r>
              <a:rPr sz="1725" b="0">
                <a:solidFill>
                  <a:srgbClr val="57697B"/>
                </a:solidFill>
                <a:latin typeface="黑体" panose="02010609060101010101" charset="-122"/>
                <a:ea typeface="黑体" panose="02010609060101010101" charset="-122"/>
                <a:cs typeface="黑体" panose="02010609060101010101" charset="-122"/>
              </a:rPr>
              <a:t>最大值取自正常训练阶段，S 提供安全裕量。</a:t>
            </a:r>
            <a:endParaRPr sz="1725" b="0">
              <a:solidFill>
                <a:srgbClr val="57697B"/>
              </a:solidFill>
              <a:latin typeface="黑体" panose="02010609060101010101" charset="-122"/>
              <a:ea typeface="黑体" panose="02010609060101010101" charset="-122"/>
              <a:cs typeface="黑体" panose="02010609060101010101" charset="-122"/>
            </a:endParaRPr>
          </a:p>
        </p:txBody>
      </p:sp>
      <p:sp>
        <p:nvSpPr>
          <p:cNvPr id="22" name="G 限制分数上限为 T + G·δ，避免异常结束后告警恢复过慢。"/>
          <p:cNvSpPr>
            <a:spLocks noGrp="1"/>
          </p:cNvSpPr>
          <p:nvPr/>
        </p:nvSpPr>
        <p:spPr>
          <a:xfrm>
            <a:off x="551180" y="6005195"/>
            <a:ext cx="10858500" cy="228600"/>
          </a:xfrm>
          <a:prstGeom prst="rect">
            <a:avLst/>
          </a:prstGeom>
          <a:noFill/>
          <a:ln w="0">
            <a:noFill/>
          </a:ln>
        </p:spPr>
        <p:txBody>
          <a:bodyPr wrap="square" lIns="0" tIns="0" rIns="0" bIns="0" anchor="t">
            <a:noAutofit/>
          </a:bodyPr>
          <a:lstStyle>
            <a:defPPr algn="l">
              <a:defRPr sz="1350" b="0">
                <a:solidFill>
                  <a:srgbClr val="57697B"/>
                </a:solidFill>
                <a:latin typeface="PingFang SC" panose="020B0400000000000000" charset="-122"/>
                <a:ea typeface="PingFang SC" panose="020B0400000000000000" charset="-122"/>
                <a:cs typeface="PingFang SC" panose="020B0400000000000000" charset="-122"/>
              </a:defRPr>
            </a:defPPr>
          </a:lstStyle>
          <a:p>
            <a:pPr algn="l">
              <a:buNone/>
              <a:defRPr sz="1350" b="0">
                <a:solidFill>
                  <a:srgbClr val="57697B"/>
                </a:solidFill>
                <a:latin typeface="PingFang SC" panose="020B0400000000000000" charset="-122"/>
                <a:ea typeface="PingFang SC" panose="020B0400000000000000" charset="-122"/>
                <a:cs typeface="PingFang SC" panose="020B0400000000000000" charset="-122"/>
              </a:defRPr>
            </a:pPr>
            <a:r>
              <a:rPr sz="1350" b="0">
                <a:solidFill>
                  <a:srgbClr val="57697B"/>
                </a:solidFill>
                <a:latin typeface="宋体" panose="02010600030101010101" pitchFamily="2" charset="-122"/>
                <a:ea typeface="宋体" panose="02010600030101010101" pitchFamily="2" charset="-122"/>
                <a:cs typeface="宋体" panose="02010600030101010101" pitchFamily="2" charset="-122"/>
              </a:rPr>
              <a:t>G 限制分数上限为 T + G·δ，避免异常结束后告警恢复过慢。</a:t>
            </a:r>
            <a:endParaRPr sz="1350" b="0">
              <a:solidFill>
                <a:srgbClr val="57697B"/>
              </a:solidFill>
              <a:latin typeface="宋体" panose="02010600030101010101" pitchFamily="2" charset="-122"/>
              <a:ea typeface="宋体" panose="02010600030101010101" pitchFamily="2" charset="-122"/>
              <a:cs typeface="宋体" panose="02010600030101010101" pitchFamily="2" charset="-122"/>
            </a:endParaRPr>
          </a:p>
        </p:txBody>
      </p:sp>
      <p:sp>
        <p:nvSpPr>
          <p:cNvPr id="26"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16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1123950" y="2705100"/>
            <a:ext cx="1524000" cy="1524000"/>
          </a:xfrm>
          <a:prstGeom prst="rect">
            <a:avLst/>
          </a:prstGeom>
          <a:solidFill>
            <a:srgbClr val="173B6C"/>
          </a:solidFill>
          <a:ln w="0">
            <a:noFill/>
            <a:prstDash val="solid"/>
          </a:ln>
        </p:spPr>
      </p:sp>
      <p:sp>
        <p:nvSpPr>
          <p:cNvPr id="5" name="矩形 4"/>
          <p:cNvSpPr>
            <a:spLocks noGrp="1"/>
          </p:cNvSpPr>
          <p:nvPr/>
        </p:nvSpPr>
        <p:spPr>
          <a:xfrm>
            <a:off x="1123950" y="2781300"/>
            <a:ext cx="1524000" cy="1323975"/>
          </a:xfrm>
          <a:prstGeom prst="rect">
            <a:avLst/>
          </a:prstGeom>
          <a:noFill/>
          <a:ln w="0">
            <a:noFill/>
            <a:prstDash val="solid"/>
          </a:ln>
        </p:spPr>
        <p:txBody>
          <a:bodyPr lIns="0" tIns="0" rIns="0" bIns="0" anchor="ctr"/>
          <a:lstStyle>
            <a:defPPr algn="ctr">
              <a:defRPr sz="7050" b="1">
                <a:solidFill>
                  <a:srgbClr val="FFFFFF"/>
                </a:solidFill>
                <a:latin typeface="PingFang SC" panose="020B0400000000000000" charset="-122"/>
                <a:ea typeface="PingFang SC" panose="020B0400000000000000" charset="-122"/>
                <a:cs typeface="PingFang SC" panose="020B0400000000000000" charset="-122"/>
              </a:defRPr>
            </a:defPPr>
          </a:lstStyle>
          <a:p>
            <a:pPr algn="ctr">
              <a:buNone/>
              <a:defRPr sz="7050" b="1">
                <a:solidFill>
                  <a:srgbClr val="FFFFFF"/>
                </a:solidFill>
                <a:latin typeface="PingFang SC" panose="020B0400000000000000" charset="-122"/>
                <a:ea typeface="PingFang SC" panose="020B0400000000000000" charset="-122"/>
                <a:cs typeface="PingFang SC" panose="020B0400000000000000" charset="-122"/>
              </a:defRPr>
            </a:pPr>
            <a:r>
              <a:rPr sz="7050" b="1">
                <a:solidFill>
                  <a:srgbClr val="FFFFFF"/>
                </a:solidFill>
                <a:latin typeface="黑体" panose="02010609060101010101" charset="-122"/>
                <a:ea typeface="黑体" panose="02010609060101010101" charset="-122"/>
                <a:cs typeface="PingFang SC" panose="020B0400000000000000" charset="-122"/>
              </a:rPr>
              <a:t>3</a:t>
            </a:r>
            <a:endParaRPr sz="7050" b="1">
              <a:solidFill>
                <a:srgbClr val="FFFFFF"/>
              </a:solidFill>
              <a:latin typeface="黑体" panose="02010609060101010101" charset="-122"/>
              <a:ea typeface="黑体" panose="02010609060101010101" charset="-122"/>
              <a:cs typeface="PingFang SC" panose="020B0400000000000000" charset="-122"/>
            </a:endParaRPr>
          </a:p>
        </p:txBody>
      </p:sp>
      <p:pic>
        <p:nvPicPr>
          <p:cNvPr id="6" name="图片 5"/>
          <p:cNvPicPr>
            <a:picLocks noChangeAspect="1"/>
          </p:cNvPicPr>
          <p:nvPr/>
        </p:nvPicPr>
        <p:blipFill>
          <a:blip r:embed="rId2"/>
          <a:srcRect l="58106" t="50348" r="9587" b="42490"/>
          <a:stretch>
            <a:fillRect/>
          </a:stretch>
        </p:blipFill>
        <p:spPr>
          <a:xfrm>
            <a:off x="2838450" y="2705100"/>
            <a:ext cx="9353550" cy="1276350"/>
          </a:xfrm>
          <a:prstGeom prst="rect">
            <a:avLst/>
          </a:prstGeom>
        </p:spPr>
      </p:pic>
      <p:sp>
        <p:nvSpPr>
          <p:cNvPr id="7" name="矩形 6"/>
          <p:cNvSpPr>
            <a:spLocks noGrp="1"/>
          </p:cNvSpPr>
          <p:nvPr/>
        </p:nvSpPr>
        <p:spPr>
          <a:xfrm>
            <a:off x="2838450" y="2705100"/>
            <a:ext cx="9353550" cy="1276350"/>
          </a:xfrm>
          <a:prstGeom prst="rect">
            <a:avLst/>
          </a:prstGeom>
          <a:gradFill>
            <a:gsLst>
              <a:gs pos="0">
                <a:srgbClr val="173B6C"/>
              </a:gs>
              <a:gs pos="45000">
                <a:srgbClr val="173B6C">
                  <a:alpha val="92000"/>
                </a:srgbClr>
              </a:gs>
              <a:gs pos="100000">
                <a:srgbClr val="007E78">
                  <a:alpha val="76000"/>
                </a:srgbClr>
              </a:gs>
            </a:gsLst>
            <a:lin ang="0"/>
          </a:gradFill>
          <a:ln w="0">
            <a:noFill/>
            <a:prstDash val="solid"/>
          </a:ln>
        </p:spPr>
      </p:sp>
      <p:sp>
        <p:nvSpPr>
          <p:cNvPr id="8" name="矩形 7"/>
          <p:cNvSpPr>
            <a:spLocks noGrp="1"/>
          </p:cNvSpPr>
          <p:nvPr/>
        </p:nvSpPr>
        <p:spPr>
          <a:xfrm>
            <a:off x="3295650" y="2971800"/>
            <a:ext cx="7810500" cy="742950"/>
          </a:xfrm>
          <a:prstGeom prst="rect">
            <a:avLst/>
          </a:prstGeom>
          <a:noFill/>
          <a:ln w="0">
            <a:noFill/>
            <a:prstDash val="solid"/>
          </a:ln>
        </p:spPr>
        <p:txBody>
          <a:bodyPr lIns="0" tIns="0" rIns="0" bIns="0" anchor="ctr"/>
          <a:lstStyle>
            <a:defPPr>
              <a:defRPr sz="3150" b="1">
                <a:solidFill>
                  <a:srgbClr val="FFFFFF"/>
                </a:solidFill>
                <a:latin typeface="PingFang SC" panose="020B0400000000000000" charset="-122"/>
                <a:ea typeface="PingFang SC" panose="020B0400000000000000" charset="-122"/>
                <a:cs typeface="PingFang SC" panose="020B0400000000000000" charset="-122"/>
              </a:defRPr>
            </a:defPPr>
          </a:lstStyle>
          <a:p>
            <a:pPr>
              <a:buNone/>
              <a:defRPr sz="3150" b="1">
                <a:solidFill>
                  <a:srgbClr val="FFFFFF"/>
                </a:solidFill>
                <a:latin typeface="PingFang SC" panose="020B0400000000000000" charset="-122"/>
                <a:ea typeface="PingFang SC" panose="020B0400000000000000" charset="-122"/>
                <a:cs typeface="PingFang SC" panose="020B0400000000000000" charset="-122"/>
              </a:defRPr>
            </a:pPr>
            <a:r>
              <a:rPr sz="3150" b="1">
                <a:solidFill>
                  <a:srgbClr val="FFFFFF"/>
                </a:solidFill>
                <a:latin typeface="黑体" panose="02010609060101010101" charset="-122"/>
                <a:ea typeface="黑体" panose="02010609060101010101" charset="-122"/>
                <a:cs typeface="PingFang SC" panose="020B0400000000000000" charset="-122"/>
              </a:rPr>
              <a:t>实验评估</a:t>
            </a:r>
            <a:endParaRPr sz="3150" b="1">
              <a:solidFill>
                <a:srgbClr val="FFFFFF"/>
              </a:solidFill>
              <a:latin typeface="黑体" panose="02010609060101010101" charset="-122"/>
              <a:ea typeface="黑体" panose="02010609060101010101" charset="-122"/>
              <a:cs typeface="PingFang SC" panose="020B0400000000000000" charset="-122"/>
            </a:endParaRPr>
          </a:p>
        </p:txBody>
      </p:sp>
      <p:sp>
        <p:nvSpPr>
          <p:cNvPr id="9" name="矩形 8"/>
          <p:cNvSpPr>
            <a:spLocks noGrp="1"/>
          </p:cNvSpPr>
          <p:nvPr/>
        </p:nvSpPr>
        <p:spPr>
          <a:xfrm>
            <a:off x="2838450" y="4143375"/>
            <a:ext cx="8210550" cy="76200"/>
          </a:xfrm>
          <a:prstGeom prst="rect">
            <a:avLst/>
          </a:prstGeom>
          <a:solidFill>
            <a:srgbClr val="00AFA8"/>
          </a:solidFill>
          <a:ln w="0">
            <a:noFill/>
            <a:prstDash val="solid"/>
          </a:ln>
        </p:spPr>
      </p:sp>
      <p:sp>
        <p:nvSpPr>
          <p:cNvPr id="10" name="矩形 9"/>
          <p:cNvSpPr>
            <a:spLocks noGrp="1"/>
          </p:cNvSpPr>
          <p:nvPr/>
        </p:nvSpPr>
        <p:spPr>
          <a:xfrm>
            <a:off x="2838450" y="4476750"/>
            <a:ext cx="8572500" cy="885825"/>
          </a:xfrm>
          <a:prstGeom prst="rect">
            <a:avLst/>
          </a:prstGeom>
          <a:noFill/>
          <a:ln w="0">
            <a:noFill/>
            <a:prstDash val="solid"/>
          </a:ln>
        </p:spPr>
        <p:txBody>
          <a:bodyPr lIns="0" tIns="0" rIns="0" bIns="0" anchor="ctr"/>
          <a:lstStyle>
            <a:defPPr>
              <a:defRPr sz="18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sz="1875" b="0">
                <a:solidFill>
                  <a:srgbClr val="263B50"/>
                </a:solidFill>
                <a:latin typeface="宋体" panose="02010600030101010101" pitchFamily="2" charset="-122"/>
                <a:ea typeface="宋体" panose="02010600030101010101" pitchFamily="2" charset="-122"/>
                <a:cs typeface="PingFang SC" panose="020B0400000000000000" charset="-122"/>
              </a:rPr>
              <a:t>核心问题：检测效果、跨领域适用性与可理解性，分别有哪些证据？</a:t>
            </a:r>
            <a:endParaRPr sz="18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11"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17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5" name="矩形 4"/>
          <p:cNvSpPr>
            <a:spLocks noGrp="1"/>
          </p:cNvSpPr>
          <p:nvPr/>
        </p:nvSpPr>
        <p:spPr>
          <a:xfrm>
            <a:off x="476250" y="800100"/>
            <a:ext cx="11239500" cy="11430"/>
          </a:xfrm>
          <a:prstGeom prst="rect">
            <a:avLst/>
          </a:prstGeom>
          <a:solidFill>
            <a:srgbClr val="173B6C"/>
          </a:solidFill>
          <a:ln w="0">
            <a:noFill/>
            <a:prstDash val="solid"/>
          </a:ln>
        </p:spPr>
      </p:sp>
      <p:sp>
        <p:nvSpPr>
          <p:cNvPr id="6" name="矩形 5"/>
          <p:cNvSpPr>
            <a:spLocks noGrp="1"/>
          </p:cNvSpPr>
          <p:nvPr/>
        </p:nvSpPr>
        <p:spPr>
          <a:xfrm>
            <a:off x="476250" y="981075"/>
            <a:ext cx="11239500" cy="495300"/>
          </a:xfrm>
          <a:prstGeom prst="rect">
            <a:avLst/>
          </a:prstGeom>
          <a:noFill/>
          <a:ln w="0">
            <a:noFill/>
            <a:prstDash val="solid"/>
          </a:ln>
        </p:spPr>
        <p:txBody>
          <a:bodyPr lIns="0" tIns="0" rIns="0" bIns="0" anchor="ctr"/>
          <a:lstStyle>
            <a:defPPr>
              <a:defRPr sz="2475"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latin typeface="黑体" panose="02010609060101010101" charset="-122"/>
                <a:ea typeface="黑体" panose="02010609060101010101" charset="-122"/>
                <a:cs typeface="PingFang SC" panose="020B0400000000000000" charset="-122"/>
              </a:rPr>
              <a:t>实验设置：数据集、对照方法与评价指标</a:t>
            </a:r>
            <a:endParaRPr sz="2250" b="1">
              <a:latin typeface="黑体" panose="02010609060101010101" charset="-122"/>
              <a:ea typeface="黑体" panose="02010609060101010101" charset="-122"/>
              <a:cs typeface="PingFang SC" panose="020B0400000000000000" charset="-122"/>
            </a:endParaRPr>
          </a:p>
        </p:txBody>
      </p:sp>
      <p:sp>
        <p:nvSpPr>
          <p:cNvPr id="7" name="矩形 6"/>
          <p:cNvSpPr>
            <a:spLocks noGrp="1"/>
          </p:cNvSpPr>
          <p:nvPr/>
        </p:nvSpPr>
        <p:spPr>
          <a:xfrm>
            <a:off x="619125" y="1704975"/>
            <a:ext cx="5238750" cy="381000"/>
          </a:xfrm>
          <a:prstGeom prst="rect">
            <a:avLst/>
          </a:prstGeom>
          <a:noFill/>
          <a:ln w="0">
            <a:noFill/>
            <a:prstDash val="solid"/>
          </a:ln>
        </p:spPr>
        <p:txBody>
          <a:bodyPr lIns="0" tIns="0" rIns="0" bIns="0" anchor="ctr"/>
          <a:lstStyle>
            <a:defPPr>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PingFang SC" panose="020B0400000000000000" charset="-122"/>
              </a:rPr>
              <a:t>数据集与对照</a:t>
            </a:r>
            <a:endParaRPr sz="2100" b="1">
              <a:solidFill>
                <a:srgbClr val="007E78"/>
              </a:solidFill>
              <a:latin typeface="黑体" panose="02010609060101010101" charset="-122"/>
              <a:ea typeface="黑体" panose="02010609060101010101" charset="-122"/>
              <a:cs typeface="PingFang SC" panose="020B0400000000000000" charset="-122"/>
            </a:endParaRPr>
          </a:p>
        </p:txBody>
      </p:sp>
      <p:sp>
        <p:nvSpPr>
          <p:cNvPr id="8" name="矩形 7"/>
          <p:cNvSpPr>
            <a:spLocks noGrp="1"/>
          </p:cNvSpPr>
          <p:nvPr/>
        </p:nvSpPr>
        <p:spPr>
          <a:xfrm>
            <a:off x="6429375" y="1704975"/>
            <a:ext cx="5143500" cy="381000"/>
          </a:xfrm>
          <a:prstGeom prst="rect">
            <a:avLst/>
          </a:prstGeom>
          <a:noFill/>
          <a:ln w="0">
            <a:noFill/>
            <a:prstDash val="solid"/>
          </a:ln>
        </p:spPr>
        <p:txBody>
          <a:bodyPr lIns="0" tIns="0" rIns="0" bIns="0" anchor="ctr"/>
          <a:lstStyle>
            <a:defPPr>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PingFang SC" panose="020B0400000000000000" charset="-122"/>
              </a:rPr>
              <a:t>评价指标</a:t>
            </a:r>
            <a:endParaRPr sz="2100" b="1">
              <a:solidFill>
                <a:srgbClr val="007E78"/>
              </a:solidFill>
              <a:latin typeface="黑体" panose="02010609060101010101" charset="-122"/>
              <a:ea typeface="黑体" panose="02010609060101010101" charset="-122"/>
              <a:cs typeface="PingFang SC" panose="020B0400000000000000" charset="-122"/>
            </a:endParaRPr>
          </a:p>
        </p:txBody>
      </p:sp>
      <p:sp>
        <p:nvSpPr>
          <p:cNvPr id="9" name="矩形 8"/>
          <p:cNvSpPr>
            <a:spLocks noGrp="1"/>
          </p:cNvSpPr>
          <p:nvPr/>
        </p:nvSpPr>
        <p:spPr>
          <a:xfrm>
            <a:off x="6048375" y="1762125"/>
            <a:ext cx="11430" cy="3857625"/>
          </a:xfrm>
          <a:prstGeom prst="rect">
            <a:avLst/>
          </a:prstGeom>
          <a:solidFill>
            <a:srgbClr val="CCDCE5"/>
          </a:solidFill>
          <a:ln w="0">
            <a:noFill/>
            <a:prstDash val="solid"/>
          </a:ln>
        </p:spPr>
      </p:sp>
      <p:graphicFrame>
        <p:nvGraphicFramePr>
          <p:cNvPr id="10" name="表格 9"/>
          <p:cNvGraphicFramePr/>
          <p:nvPr/>
        </p:nvGraphicFramePr>
        <p:xfrm>
          <a:off x="571500" y="2266950"/>
          <a:ext cx="5191125" cy="2266950"/>
        </p:xfrm>
        <a:graphic>
          <a:graphicData uri="http://schemas.openxmlformats.org/drawingml/2006/table">
            <a:tbl>
              <a:tblPr/>
              <a:tblGrid>
                <a:gridCol w="2905125"/>
                <a:gridCol w="1143000"/>
                <a:gridCol w="1143000"/>
              </a:tblGrid>
              <a:tr h="453390">
                <a:tc>
                  <a:txBody>
                    <a:bodyPr/>
                    <a:lstStyle/>
                    <a:p>
                      <a:r>
                        <a:rPr sz="1650" b="1">
                          <a:solidFill>
                            <a:srgbClr val="FFFFFF"/>
                          </a:solidFill>
                          <a:latin typeface="PingFang SC" panose="020B0400000000000000" charset="-122"/>
                          <a:ea typeface="PingFang SC" panose="020B0400000000000000" charset="-122"/>
                          <a:cs typeface="PingFang SC" panose="020B0400000000000000" charset="-122"/>
                        </a:rPr>
                        <a:t>数据集 / 工业场景</a:t>
                      </a:r>
                      <a:endParaRPr sz="1650" b="1">
                        <a:solidFill>
                          <a:srgbClr val="FFFFFF"/>
                        </a:solidFill>
                        <a:latin typeface="PingFang SC" panose="020B0400000000000000" charset="-122"/>
                        <a:ea typeface="PingFang SC" panose="020B0400000000000000" charset="-122"/>
                        <a:cs typeface="PingFang SC" panose="020B0400000000000000" charset="-122"/>
                      </a:endParaRPr>
                    </a:p>
                  </a:txBody>
                  <a:tcPr>
                    <a:lnL w="9525">
                      <a:solidFill>
                        <a:srgbClr val="CCDCE5"/>
                      </a:solidFill>
                      <a:prstDash val="solid"/>
                    </a:lnL>
                    <a:lnR w="9525">
                      <a:solidFill>
                        <a:srgbClr val="CCDCE5"/>
                      </a:solidFill>
                      <a:prstDash val="solid"/>
                    </a:lnR>
                    <a:lnT w="9525">
                      <a:solidFill>
                        <a:srgbClr val="CCDCE5"/>
                      </a:solidFill>
                      <a:prstDash val="solid"/>
                    </a:lnT>
                    <a:lnB w="9525">
                      <a:solidFill>
                        <a:srgbClr val="CCDCE5"/>
                      </a:solidFill>
                      <a:prstDash val="solid"/>
                    </a:lnB>
                    <a:solidFill>
                      <a:srgbClr val="173B6C"/>
                    </a:solidFill>
                  </a:tcPr>
                </a:tc>
                <a:tc>
                  <a:txBody>
                    <a:bodyPr/>
                    <a:lstStyle/>
                    <a:p>
                      <a:r>
                        <a:rPr sz="1650" b="1">
                          <a:solidFill>
                            <a:srgbClr val="FFFFFF"/>
                          </a:solidFill>
                          <a:latin typeface="PingFang SC" panose="020B0400000000000000" charset="-122"/>
                          <a:ea typeface="PingFang SC" panose="020B0400000000000000" charset="-122"/>
                          <a:cs typeface="PingFang SC" panose="020B0400000000000000" charset="-122"/>
                        </a:rPr>
                        <a:t>过程值</a:t>
                      </a:r>
                      <a:endParaRPr sz="1650" b="1">
                        <a:solidFill>
                          <a:srgbClr val="FFFFFF"/>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T w="9525">
                      <a:solidFill>
                        <a:srgbClr val="CCDCE5"/>
                      </a:solidFill>
                      <a:prstDash val="solid"/>
                    </a:lnT>
                    <a:lnB w="9525">
                      <a:solidFill>
                        <a:srgbClr val="CCDCE5"/>
                      </a:solidFill>
                      <a:prstDash val="solid"/>
                    </a:lnB>
                    <a:solidFill>
                      <a:srgbClr val="173B6C"/>
                    </a:solidFill>
                  </a:tcPr>
                </a:tc>
                <a:tc>
                  <a:txBody>
                    <a:bodyPr/>
                    <a:lstStyle/>
                    <a:p>
                      <a:r>
                        <a:rPr sz="1650" b="1">
                          <a:solidFill>
                            <a:srgbClr val="FFFFFF"/>
                          </a:solidFill>
                          <a:latin typeface="PingFang SC" panose="020B0400000000000000" charset="-122"/>
                          <a:ea typeface="PingFang SC" panose="020B0400000000000000" charset="-122"/>
                          <a:cs typeface="PingFang SC" panose="020B0400000000000000" charset="-122"/>
                        </a:rPr>
                        <a:t>攻击次数</a:t>
                      </a:r>
                      <a:endParaRPr sz="1650" b="1">
                        <a:solidFill>
                          <a:srgbClr val="FFFFFF"/>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T w="9525">
                      <a:solidFill>
                        <a:srgbClr val="CCDCE5"/>
                      </a:solidFill>
                      <a:prstDash val="solid"/>
                    </a:lnT>
                    <a:lnB w="9525">
                      <a:solidFill>
                        <a:srgbClr val="CCDCE5"/>
                      </a:solidFill>
                      <a:prstDash val="solid"/>
                    </a:lnB>
                    <a:solidFill>
                      <a:srgbClr val="173B6C"/>
                    </a:solidFill>
                  </a:tcPr>
                </a:tc>
              </a:tr>
              <a:tr h="453390">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SWaT · 水处理</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L w="9525">
                      <a:solidFill>
                        <a:srgbClr val="CCDCE5"/>
                      </a:solidFill>
                      <a:prstDash val="solid"/>
                    </a:lnL>
                    <a:lnR w="9525">
                      <a:solidFill>
                        <a:srgbClr val="CCDCE5"/>
                      </a:solidFill>
                      <a:prstDash val="solid"/>
                    </a:lnR>
                    <a:lnB w="9525">
                      <a:solidFill>
                        <a:srgbClr val="CCDCE5"/>
                      </a:solidFill>
                      <a:prstDash val="solid"/>
                    </a:lnB>
                    <a:solidFill>
                      <a:srgbClr val="F4F7FA"/>
                    </a:solidFill>
                  </a:tcPr>
                </a:tc>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48</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B w="9525">
                      <a:solidFill>
                        <a:srgbClr val="CCDCE5"/>
                      </a:solidFill>
                      <a:prstDash val="solid"/>
                    </a:lnB>
                    <a:solidFill>
                      <a:srgbClr val="F4F7FA"/>
                    </a:solidFill>
                  </a:tcPr>
                </a:tc>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36</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B w="9525">
                      <a:solidFill>
                        <a:srgbClr val="CCDCE5"/>
                      </a:solidFill>
                      <a:prstDash val="solid"/>
                    </a:lnB>
                    <a:solidFill>
                      <a:srgbClr val="F4F7FA"/>
                    </a:solidFill>
                  </a:tcPr>
                </a:tc>
              </a:tr>
              <a:tr h="453390">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WADI · 供配水</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L w="9525">
                      <a:solidFill>
                        <a:srgbClr val="CCDCE5"/>
                      </a:solidFill>
                      <a:prstDash val="solid"/>
                    </a:lnL>
                    <a:lnR w="9525">
                      <a:solidFill>
                        <a:srgbClr val="CCDCE5"/>
                      </a:solidFill>
                      <a:prstDash val="solid"/>
                    </a:lnR>
                    <a:lnB w="9525">
                      <a:solidFill>
                        <a:srgbClr val="CCDCE5"/>
                      </a:solidFill>
                      <a:prstDash val="solid"/>
                    </a:lnB>
                    <a:solidFill>
                      <a:srgbClr val="E8F5F5"/>
                    </a:solidFill>
                  </a:tcPr>
                </a:tc>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122</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B w="9525">
                      <a:solidFill>
                        <a:srgbClr val="CCDCE5"/>
                      </a:solidFill>
                      <a:prstDash val="solid"/>
                    </a:lnB>
                    <a:solidFill>
                      <a:srgbClr val="E8F5F5"/>
                    </a:solidFill>
                  </a:tcPr>
                </a:tc>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14</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B w="9525">
                      <a:solidFill>
                        <a:srgbClr val="CCDCE5"/>
                      </a:solidFill>
                      <a:prstDash val="solid"/>
                    </a:lnB>
                    <a:solidFill>
                      <a:srgbClr val="E8F5F5"/>
                    </a:solidFill>
                  </a:tcPr>
                </a:tc>
              </a:tr>
              <a:tr h="453390">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HAI · 硬件在环</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L w="9525">
                      <a:solidFill>
                        <a:srgbClr val="CCDCE5"/>
                      </a:solidFill>
                      <a:prstDash val="solid"/>
                    </a:lnL>
                    <a:lnR w="9525">
                      <a:solidFill>
                        <a:srgbClr val="CCDCE5"/>
                      </a:solidFill>
                      <a:prstDash val="solid"/>
                    </a:lnR>
                    <a:lnB w="9525">
                      <a:solidFill>
                        <a:srgbClr val="CCDCE5"/>
                      </a:solidFill>
                      <a:prstDash val="solid"/>
                    </a:lnB>
                    <a:solidFill>
                      <a:srgbClr val="F4F7FA"/>
                    </a:solidFill>
                  </a:tcPr>
                </a:tc>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72</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B w="9525">
                      <a:solidFill>
                        <a:srgbClr val="CCDCE5"/>
                      </a:solidFill>
                      <a:prstDash val="solid"/>
                    </a:lnB>
                    <a:solidFill>
                      <a:srgbClr val="F4F7FA"/>
                    </a:solidFill>
                  </a:tcPr>
                </a:tc>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50</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B w="9525">
                      <a:solidFill>
                        <a:srgbClr val="CCDCE5"/>
                      </a:solidFill>
                      <a:prstDash val="solid"/>
                    </a:lnB>
                    <a:solidFill>
                      <a:srgbClr val="F4F7FA"/>
                    </a:solidFill>
                  </a:tcPr>
                </a:tc>
              </a:tr>
              <a:tr h="453390">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BATADAL · 供水网络</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L w="9525">
                      <a:solidFill>
                        <a:srgbClr val="CCDCE5"/>
                      </a:solidFill>
                      <a:prstDash val="solid"/>
                    </a:lnL>
                    <a:lnR w="9525">
                      <a:solidFill>
                        <a:srgbClr val="CCDCE5"/>
                      </a:solidFill>
                      <a:prstDash val="solid"/>
                    </a:lnR>
                    <a:lnB w="9525">
                      <a:solidFill>
                        <a:srgbClr val="CCDCE5"/>
                      </a:solidFill>
                      <a:prstDash val="solid"/>
                    </a:lnB>
                    <a:solidFill>
                      <a:srgbClr val="E8F5F5"/>
                    </a:solidFill>
                  </a:tcPr>
                </a:tc>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42</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B w="9525">
                      <a:solidFill>
                        <a:srgbClr val="CCDCE5"/>
                      </a:solidFill>
                      <a:prstDash val="solid"/>
                    </a:lnB>
                    <a:solidFill>
                      <a:srgbClr val="E8F5F5"/>
                    </a:solidFill>
                  </a:tcPr>
                </a:tc>
                <a:tc>
                  <a:txBody>
                    <a:bodyPr/>
                    <a:lstStyle/>
                    <a:p>
                      <a:r>
                        <a:rPr sz="1650" b="0">
                          <a:solidFill>
                            <a:srgbClr val="263B50"/>
                          </a:solidFill>
                          <a:latin typeface="PingFang SC" panose="020B0400000000000000" charset="-122"/>
                          <a:ea typeface="PingFang SC" panose="020B0400000000000000" charset="-122"/>
                          <a:cs typeface="PingFang SC" panose="020B0400000000000000" charset="-122"/>
                        </a:rPr>
                        <a:t>14</a:t>
                      </a:r>
                      <a:endParaRPr sz="1650" b="0">
                        <a:solidFill>
                          <a:srgbClr val="263B50"/>
                        </a:solidFill>
                        <a:latin typeface="PingFang SC" panose="020B0400000000000000" charset="-122"/>
                        <a:ea typeface="PingFang SC" panose="020B0400000000000000" charset="-122"/>
                        <a:cs typeface="PingFang SC" panose="020B0400000000000000" charset="-122"/>
                      </a:endParaRPr>
                    </a:p>
                  </a:txBody>
                  <a:tcPr>
                    <a:lnR w="9525">
                      <a:solidFill>
                        <a:srgbClr val="CCDCE5"/>
                      </a:solidFill>
                      <a:prstDash val="solid"/>
                    </a:lnR>
                    <a:lnB w="9525">
                      <a:solidFill>
                        <a:srgbClr val="CCDCE5"/>
                      </a:solidFill>
                      <a:prstDash val="solid"/>
                    </a:lnB>
                    <a:solidFill>
                      <a:srgbClr val="E8F5F5"/>
                    </a:solidFill>
                  </a:tcPr>
                </a:tc>
              </a:tr>
            </a:tbl>
          </a:graphicData>
        </a:graphic>
      </p:graphicFrame>
      <p:sp>
        <p:nvSpPr>
          <p:cNvPr id="11" name="矩形 10"/>
          <p:cNvSpPr>
            <a:spLocks noGrp="1"/>
          </p:cNvSpPr>
          <p:nvPr/>
        </p:nvSpPr>
        <p:spPr>
          <a:xfrm>
            <a:off x="619125" y="4705350"/>
            <a:ext cx="5143500" cy="323850"/>
          </a:xfrm>
          <a:prstGeom prst="rect">
            <a:avLst/>
          </a:prstGeom>
          <a:noFill/>
          <a:ln w="0">
            <a:noFill/>
            <a:prstDash val="solid"/>
          </a:ln>
        </p:spPr>
        <p:txBody>
          <a:bodyPr lIns="0" tIns="0" rIns="0" bIns="0" anchor="ctr"/>
          <a:lstStyle>
            <a:defPPr>
              <a:defRPr sz="187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1875" b="1">
                <a:solidFill>
                  <a:srgbClr val="007E78"/>
                </a:solidFill>
                <a:latin typeface="PingFang SC" panose="020B0400000000000000" charset="-122"/>
                <a:ea typeface="PingFang SC" panose="020B0400000000000000" charset="-122"/>
                <a:cs typeface="PingFang SC" panose="020B0400000000000000" charset="-122"/>
              </a:defRPr>
            </a:pPr>
            <a:r>
              <a:rPr sz="1875" b="1">
                <a:solidFill>
                  <a:srgbClr val="007E78"/>
                </a:solidFill>
                <a:latin typeface="黑体" panose="02010609060101010101" charset="-122"/>
                <a:ea typeface="黑体" panose="02010609060101010101" charset="-122"/>
                <a:cs typeface="黑体" panose="02010609060101010101" charset="-122"/>
              </a:rPr>
              <a:t>五种对照方法</a:t>
            </a:r>
            <a:endParaRPr sz="1875" b="1">
              <a:solidFill>
                <a:srgbClr val="007E78"/>
              </a:solidFill>
              <a:latin typeface="黑体" panose="02010609060101010101" charset="-122"/>
              <a:ea typeface="黑体" panose="02010609060101010101" charset="-122"/>
              <a:cs typeface="黑体" panose="02010609060101010101" charset="-122"/>
            </a:endParaRPr>
          </a:p>
        </p:txBody>
      </p:sp>
      <p:sp>
        <p:nvSpPr>
          <p:cNvPr id="12" name="矩形 11"/>
          <p:cNvSpPr>
            <a:spLocks noGrp="1"/>
          </p:cNvSpPr>
          <p:nvPr/>
        </p:nvSpPr>
        <p:spPr>
          <a:xfrm>
            <a:off x="619125" y="5114925"/>
            <a:ext cx="5143500" cy="619125"/>
          </a:xfrm>
          <a:prstGeom prst="rect">
            <a:avLst/>
          </a:prstGeom>
          <a:noFill/>
          <a:ln w="0">
            <a:noFill/>
            <a:prstDash val="solid"/>
          </a:ln>
        </p:spPr>
        <p:txBody>
          <a:bodyPr lIns="0" tIns="0" rIns="0" bIns="0" anchor="ctr"/>
          <a:lstStyle>
            <a:defPPr>
              <a:defRPr sz="18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sz="1875" b="0" i="1">
                <a:solidFill>
                  <a:srgbClr val="263B50"/>
                </a:solidFill>
                <a:latin typeface="Times New Roman" panose="02020603050405020304" charset="0"/>
                <a:ea typeface="PingFang SC" panose="020B0400000000000000" charset="-122"/>
                <a:cs typeface="Times New Roman" panose="02020603050405020304" charset="0"/>
              </a:rPr>
              <a:t>SIMPLE、TABOR、Invariant、</a:t>
            </a:r>
            <a:endParaRPr sz="1875" b="0" i="1">
              <a:solidFill>
                <a:srgbClr val="263B50"/>
              </a:solidFill>
              <a:latin typeface="Times New Roman" panose="02020603050405020304" charset="0"/>
              <a:ea typeface="PingFang SC" panose="020B0400000000000000" charset="-122"/>
              <a:cs typeface="Times New Roman" panose="02020603050405020304" charset="0"/>
            </a:endParaRPr>
          </a:p>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sz="1875" b="0" i="1">
                <a:solidFill>
                  <a:srgbClr val="263B50"/>
                </a:solidFill>
                <a:latin typeface="Times New Roman" panose="02020603050405020304" charset="0"/>
                <a:ea typeface="PingFang SC" panose="020B0400000000000000" charset="-122"/>
                <a:cs typeface="Times New Roman" panose="02020603050405020304" charset="0"/>
              </a:rPr>
              <a:t>Seq2SeqNN、PASAD</a:t>
            </a:r>
            <a:endParaRPr sz="1875" b="0" i="1">
              <a:solidFill>
                <a:srgbClr val="263B50"/>
              </a:solidFill>
              <a:latin typeface="Times New Roman" panose="02020603050405020304" charset="0"/>
              <a:ea typeface="PingFang SC" panose="020B0400000000000000" charset="-122"/>
              <a:cs typeface="Times New Roman" panose="02020603050405020304" charset="0"/>
            </a:endParaRPr>
          </a:p>
        </p:txBody>
      </p:sp>
      <p:sp>
        <p:nvSpPr>
          <p:cNvPr id="13" name="矩形 12"/>
          <p:cNvSpPr>
            <a:spLocks noGrp="1"/>
          </p:cNvSpPr>
          <p:nvPr/>
        </p:nvSpPr>
        <p:spPr>
          <a:xfrm>
            <a:off x="6429375" y="2209800"/>
            <a:ext cx="5143500" cy="333375"/>
          </a:xfrm>
          <a:prstGeom prst="rect">
            <a:avLst/>
          </a:prstGeom>
          <a:noFill/>
          <a:ln w="0">
            <a:noFill/>
            <a:prstDash val="solid"/>
          </a:ln>
        </p:spPr>
        <p:txBody>
          <a:bodyPr lIns="0" tIns="0" rIns="0" bIns="0" anchor="ctr"/>
          <a:lstStyle>
            <a:defPPr>
              <a:defRPr sz="187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1875" b="1">
                <a:solidFill>
                  <a:srgbClr val="007E78"/>
                </a:solidFill>
                <a:latin typeface="PingFang SC" panose="020B0400000000000000" charset="-122"/>
                <a:ea typeface="PingFang SC" panose="020B0400000000000000" charset="-122"/>
                <a:cs typeface="PingFang SC" panose="020B0400000000000000" charset="-122"/>
              </a:defRPr>
            </a:pPr>
            <a:r>
              <a:rPr sz="1875" b="1">
                <a:solidFill>
                  <a:srgbClr val="007E78"/>
                </a:solidFill>
                <a:latin typeface="黑体" panose="02010609060101010101" charset="-122"/>
                <a:ea typeface="黑体" panose="02010609060101010101" charset="-122"/>
                <a:cs typeface="PingFang SC" panose="020B0400000000000000" charset="-122"/>
              </a:rPr>
              <a:t>Precision / Recall / F1</a:t>
            </a:r>
            <a:endParaRPr sz="1875" b="1">
              <a:solidFill>
                <a:srgbClr val="007E78"/>
              </a:solidFill>
              <a:latin typeface="黑体" panose="02010609060101010101" charset="-122"/>
              <a:ea typeface="黑体" panose="02010609060101010101" charset="-122"/>
              <a:cs typeface="PingFang SC" panose="020B0400000000000000" charset="-122"/>
            </a:endParaRPr>
          </a:p>
        </p:txBody>
      </p:sp>
      <p:sp>
        <p:nvSpPr>
          <p:cNvPr id="14" name="矩形 13"/>
          <p:cNvSpPr>
            <a:spLocks noGrp="1"/>
          </p:cNvSpPr>
          <p:nvPr/>
        </p:nvSpPr>
        <p:spPr>
          <a:xfrm>
            <a:off x="6429375" y="2581275"/>
            <a:ext cx="5143500" cy="466725"/>
          </a:xfrm>
          <a:prstGeom prst="rect">
            <a:avLst/>
          </a:prstGeom>
          <a:noFill/>
          <a:ln w="0">
            <a:noFill/>
            <a:prstDash val="solid"/>
          </a:ln>
        </p:spPr>
        <p:txBody>
          <a:bodyPr lIns="0" tIns="0" rIns="0" bIns="0" anchor="ctr"/>
          <a:lstStyle>
            <a:defPPr>
              <a:defRPr sz="172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725" b="0">
                <a:solidFill>
                  <a:srgbClr val="263B50"/>
                </a:solidFill>
                <a:latin typeface="PingFang SC" panose="020B0400000000000000" charset="-122"/>
                <a:ea typeface="PingFang SC" panose="020B0400000000000000" charset="-122"/>
                <a:cs typeface="PingFang SC" panose="020B0400000000000000" charset="-122"/>
              </a:defRPr>
            </a:pPr>
            <a:r>
              <a:rPr lang="zh-CN" sz="1725" b="0">
                <a:solidFill>
                  <a:srgbClr val="263B50"/>
                </a:solidFill>
                <a:latin typeface="宋体" panose="02010600030101010101" pitchFamily="2" charset="-122"/>
                <a:ea typeface="宋体" panose="02010600030101010101" pitchFamily="2" charset="-122"/>
                <a:cs typeface="PingFang SC" panose="020B0400000000000000" charset="-122"/>
              </a:rPr>
              <a:t>最常用的指标</a:t>
            </a:r>
            <a:r>
              <a:rPr sz="1725" b="0">
                <a:solidFill>
                  <a:srgbClr val="263B50"/>
                </a:solidFill>
                <a:latin typeface="宋体" panose="02010600030101010101" pitchFamily="2" charset="-122"/>
                <a:ea typeface="宋体" panose="02010600030101010101" pitchFamily="2" charset="-122"/>
                <a:cs typeface="PingFang SC" panose="020B0400000000000000" charset="-122"/>
              </a:rPr>
              <a:t>，长攻击可能占较大权重</a:t>
            </a:r>
            <a:r>
              <a:rPr sz="1725" b="0">
                <a:solidFill>
                  <a:srgbClr val="263B50"/>
                </a:solidFill>
                <a:latin typeface="宋体" panose="02010600030101010101" pitchFamily="2" charset="-122"/>
                <a:ea typeface="宋体" panose="02010600030101010101" pitchFamily="2" charset="-122"/>
                <a:cs typeface="PingFang SC" panose="020B0400000000000000" charset="-122"/>
              </a:rPr>
              <a:t>。</a:t>
            </a:r>
            <a:endParaRPr sz="172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15" name="矩形 14"/>
          <p:cNvSpPr>
            <a:spLocks noGrp="1"/>
          </p:cNvSpPr>
          <p:nvPr/>
        </p:nvSpPr>
        <p:spPr>
          <a:xfrm>
            <a:off x="6429375" y="3038475"/>
            <a:ext cx="5143500" cy="9525"/>
          </a:xfrm>
          <a:prstGeom prst="rect">
            <a:avLst/>
          </a:prstGeom>
          <a:solidFill>
            <a:srgbClr val="CCDCE5"/>
          </a:solidFill>
          <a:ln w="0">
            <a:noFill/>
            <a:prstDash val="solid"/>
          </a:ln>
        </p:spPr>
      </p:sp>
      <p:sp>
        <p:nvSpPr>
          <p:cNvPr id="16" name="矩形 15"/>
          <p:cNvSpPr>
            <a:spLocks noGrp="1"/>
          </p:cNvSpPr>
          <p:nvPr/>
        </p:nvSpPr>
        <p:spPr>
          <a:xfrm>
            <a:off x="6429375" y="3076575"/>
            <a:ext cx="5143500" cy="333375"/>
          </a:xfrm>
          <a:prstGeom prst="rect">
            <a:avLst/>
          </a:prstGeom>
          <a:noFill/>
          <a:ln w="0">
            <a:noFill/>
            <a:prstDash val="solid"/>
          </a:ln>
        </p:spPr>
        <p:txBody>
          <a:bodyPr lIns="0" tIns="0" rIns="0" bIns="0" anchor="ctr"/>
          <a:lstStyle>
            <a:defPPr>
              <a:defRPr sz="187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1875" b="1">
                <a:solidFill>
                  <a:srgbClr val="007E78"/>
                </a:solidFill>
                <a:latin typeface="PingFang SC" panose="020B0400000000000000" charset="-122"/>
                <a:ea typeface="PingFang SC" panose="020B0400000000000000" charset="-122"/>
                <a:cs typeface="PingFang SC" panose="020B0400000000000000" charset="-122"/>
              </a:defRPr>
            </a:pPr>
            <a:r>
              <a:rPr sz="1875" b="1">
                <a:solidFill>
                  <a:srgbClr val="007E78"/>
                </a:solidFill>
                <a:latin typeface="黑体" panose="02010609060101010101" charset="-122"/>
                <a:ea typeface="黑体" panose="02010609060101010101" charset="-122"/>
                <a:cs typeface="PingFang SC" panose="020B0400000000000000" charset="-122"/>
              </a:rPr>
              <a:t>eTaP / eTaR / eTaF1</a:t>
            </a:r>
            <a:endParaRPr sz="1875" b="1">
              <a:solidFill>
                <a:srgbClr val="007E78"/>
              </a:solidFill>
              <a:latin typeface="黑体" panose="02010609060101010101" charset="-122"/>
              <a:ea typeface="黑体" panose="02010609060101010101" charset="-122"/>
              <a:cs typeface="PingFang SC" panose="020B0400000000000000" charset="-122"/>
            </a:endParaRPr>
          </a:p>
        </p:txBody>
      </p:sp>
      <p:sp>
        <p:nvSpPr>
          <p:cNvPr id="17" name="矩形 16"/>
          <p:cNvSpPr>
            <a:spLocks noGrp="1"/>
          </p:cNvSpPr>
          <p:nvPr/>
        </p:nvSpPr>
        <p:spPr>
          <a:xfrm>
            <a:off x="6429375" y="3448050"/>
            <a:ext cx="5143500" cy="466725"/>
          </a:xfrm>
          <a:prstGeom prst="rect">
            <a:avLst/>
          </a:prstGeom>
          <a:noFill/>
          <a:ln w="0">
            <a:noFill/>
            <a:prstDash val="solid"/>
          </a:ln>
        </p:spPr>
        <p:txBody>
          <a:bodyPr lIns="0" tIns="0" rIns="0" bIns="0" anchor="ctr"/>
          <a:lstStyle>
            <a:defPPr>
              <a:defRPr sz="172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725" b="0">
                <a:solidFill>
                  <a:srgbClr val="263B50"/>
                </a:solidFill>
                <a:latin typeface="PingFang SC" panose="020B0400000000000000" charset="-122"/>
                <a:ea typeface="PingFang SC" panose="020B0400000000000000" charset="-122"/>
                <a:cs typeface="PingFang SC" panose="020B0400000000000000" charset="-122"/>
              </a:defRPr>
            </a:pPr>
            <a:r>
              <a:rPr sz="1725" b="0">
                <a:solidFill>
                  <a:srgbClr val="263B50"/>
                </a:solidFill>
                <a:latin typeface="宋体" panose="02010600030101010101" pitchFamily="2" charset="-122"/>
                <a:ea typeface="宋体" panose="02010600030101010101" pitchFamily="2" charset="-122"/>
                <a:cs typeface="PingFang SC" panose="020B0400000000000000" charset="-122"/>
              </a:rPr>
              <a:t>时间感知评价，补充传统点级指标。</a:t>
            </a:r>
            <a:endParaRPr sz="172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18" name="矩形 17"/>
          <p:cNvSpPr>
            <a:spLocks noGrp="1"/>
          </p:cNvSpPr>
          <p:nvPr/>
        </p:nvSpPr>
        <p:spPr>
          <a:xfrm>
            <a:off x="6429375" y="3905250"/>
            <a:ext cx="5143500" cy="9525"/>
          </a:xfrm>
          <a:prstGeom prst="rect">
            <a:avLst/>
          </a:prstGeom>
          <a:solidFill>
            <a:srgbClr val="CCDCE5"/>
          </a:solidFill>
          <a:ln w="0">
            <a:noFill/>
            <a:prstDash val="solid"/>
          </a:ln>
        </p:spPr>
      </p:sp>
      <p:sp>
        <p:nvSpPr>
          <p:cNvPr id="19" name="矩形 18"/>
          <p:cNvSpPr>
            <a:spLocks noGrp="1"/>
          </p:cNvSpPr>
          <p:nvPr/>
        </p:nvSpPr>
        <p:spPr>
          <a:xfrm>
            <a:off x="6429375" y="3943350"/>
            <a:ext cx="5143500" cy="333375"/>
          </a:xfrm>
          <a:prstGeom prst="rect">
            <a:avLst/>
          </a:prstGeom>
          <a:noFill/>
          <a:ln w="0">
            <a:noFill/>
            <a:prstDash val="solid"/>
          </a:ln>
        </p:spPr>
        <p:txBody>
          <a:bodyPr lIns="0" tIns="0" rIns="0" bIns="0" anchor="ctr"/>
          <a:lstStyle>
            <a:defPPr>
              <a:defRPr sz="187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1875" b="1">
                <a:solidFill>
                  <a:srgbClr val="007E78"/>
                </a:solidFill>
                <a:latin typeface="PingFang SC" panose="020B0400000000000000" charset="-122"/>
                <a:ea typeface="PingFang SC" panose="020B0400000000000000" charset="-122"/>
                <a:cs typeface="PingFang SC" panose="020B0400000000000000" charset="-122"/>
              </a:defRPr>
            </a:pPr>
            <a:r>
              <a:rPr sz="1875" b="1">
                <a:solidFill>
                  <a:srgbClr val="007E78"/>
                </a:solidFill>
                <a:latin typeface="黑体" panose="02010609060101010101" charset="-122"/>
                <a:ea typeface="黑体" panose="02010609060101010101" charset="-122"/>
                <a:cs typeface="黑体" panose="02010609060101010101" charset="-122"/>
              </a:rPr>
              <a:t>Scen.：攻击场景覆盖率</a:t>
            </a:r>
            <a:endParaRPr sz="1875" b="1">
              <a:solidFill>
                <a:srgbClr val="007E78"/>
              </a:solidFill>
              <a:latin typeface="黑体" panose="02010609060101010101" charset="-122"/>
              <a:ea typeface="黑体" panose="02010609060101010101" charset="-122"/>
              <a:cs typeface="黑体" panose="02010609060101010101" charset="-122"/>
            </a:endParaRPr>
          </a:p>
        </p:txBody>
      </p:sp>
      <p:sp>
        <p:nvSpPr>
          <p:cNvPr id="20" name="矩形 19"/>
          <p:cNvSpPr>
            <a:spLocks noGrp="1"/>
          </p:cNvSpPr>
          <p:nvPr/>
        </p:nvSpPr>
        <p:spPr>
          <a:xfrm>
            <a:off x="6429375" y="4314825"/>
            <a:ext cx="5143500" cy="466725"/>
          </a:xfrm>
          <a:prstGeom prst="rect">
            <a:avLst/>
          </a:prstGeom>
          <a:noFill/>
          <a:ln w="0">
            <a:noFill/>
            <a:prstDash val="solid"/>
          </a:ln>
        </p:spPr>
        <p:txBody>
          <a:bodyPr lIns="0" tIns="0" rIns="0" bIns="0" anchor="ctr"/>
          <a:lstStyle>
            <a:defPPr>
              <a:defRPr sz="172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725" b="0">
                <a:solidFill>
                  <a:srgbClr val="263B50"/>
                </a:solidFill>
                <a:latin typeface="PingFang SC" panose="020B0400000000000000" charset="-122"/>
                <a:ea typeface="PingFang SC" panose="020B0400000000000000" charset="-122"/>
                <a:cs typeface="PingFang SC" panose="020B0400000000000000" charset="-122"/>
              </a:defRPr>
            </a:pPr>
            <a:r>
              <a:rPr sz="1725" b="0">
                <a:solidFill>
                  <a:srgbClr val="263B50"/>
                </a:solidFill>
                <a:latin typeface="宋体" panose="02010600030101010101" pitchFamily="2" charset="-122"/>
                <a:ea typeface="宋体" panose="02010600030101010101" pitchFamily="2" charset="-122"/>
                <a:cs typeface="PingFang SC" panose="020B0400000000000000" charset="-122"/>
              </a:rPr>
              <a:t>检出场景的比例，不代表覆盖全部攻击时刻。</a:t>
            </a:r>
            <a:endParaRPr sz="172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21" name="矩形 20"/>
          <p:cNvSpPr>
            <a:spLocks noGrp="1"/>
          </p:cNvSpPr>
          <p:nvPr/>
        </p:nvSpPr>
        <p:spPr>
          <a:xfrm>
            <a:off x="6429375" y="4772025"/>
            <a:ext cx="5143500" cy="9525"/>
          </a:xfrm>
          <a:prstGeom prst="rect">
            <a:avLst/>
          </a:prstGeom>
          <a:solidFill>
            <a:srgbClr val="CCDCE5"/>
          </a:solidFill>
          <a:ln w="0">
            <a:noFill/>
            <a:prstDash val="solid"/>
          </a:ln>
        </p:spPr>
      </p:sp>
      <p:sp>
        <p:nvSpPr>
          <p:cNvPr id="22" name="矩形 21"/>
          <p:cNvSpPr>
            <a:spLocks noGrp="1"/>
          </p:cNvSpPr>
          <p:nvPr/>
        </p:nvSpPr>
        <p:spPr>
          <a:xfrm>
            <a:off x="6429375" y="4810125"/>
            <a:ext cx="5143500" cy="333375"/>
          </a:xfrm>
          <a:prstGeom prst="rect">
            <a:avLst/>
          </a:prstGeom>
          <a:noFill/>
          <a:ln w="0">
            <a:noFill/>
            <a:prstDash val="solid"/>
          </a:ln>
        </p:spPr>
        <p:txBody>
          <a:bodyPr lIns="0" tIns="0" rIns="0" bIns="0" anchor="ctr"/>
          <a:lstStyle>
            <a:defPPr>
              <a:defRPr sz="187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75" b="1">
                <a:solidFill>
                  <a:srgbClr val="007E78"/>
                </a:solidFill>
                <a:latin typeface="PingFang SC" panose="020B0400000000000000" charset="-122"/>
                <a:ea typeface="PingFang SC" panose="020B0400000000000000" charset="-122"/>
                <a:cs typeface="PingFang SC" panose="020B0400000000000000" charset="-122"/>
              </a:defRPr>
            </a:pPr>
            <a:r>
              <a:rPr sz="1875" b="1">
                <a:solidFill>
                  <a:srgbClr val="007E78"/>
                </a:solidFill>
                <a:latin typeface="黑体" panose="02010609060101010101" charset="-122"/>
                <a:ea typeface="黑体" panose="02010609060101010101" charset="-122"/>
                <a:cs typeface="黑体" panose="02010609060101010101" charset="-122"/>
              </a:rPr>
              <a:t>FPA：连续误报告警次数</a:t>
            </a:r>
            <a:endParaRPr sz="1875" b="1">
              <a:solidFill>
                <a:srgbClr val="007E78"/>
              </a:solidFill>
              <a:latin typeface="黑体" panose="02010609060101010101" charset="-122"/>
              <a:ea typeface="黑体" panose="02010609060101010101" charset="-122"/>
              <a:cs typeface="黑体" panose="02010609060101010101" charset="-122"/>
            </a:endParaRPr>
          </a:p>
        </p:txBody>
      </p:sp>
      <p:sp>
        <p:nvSpPr>
          <p:cNvPr id="23" name="矩形 22"/>
          <p:cNvSpPr>
            <a:spLocks noGrp="1"/>
          </p:cNvSpPr>
          <p:nvPr/>
        </p:nvSpPr>
        <p:spPr>
          <a:xfrm>
            <a:off x="6429375" y="5181600"/>
            <a:ext cx="5143500" cy="466725"/>
          </a:xfrm>
          <a:prstGeom prst="rect">
            <a:avLst/>
          </a:prstGeom>
          <a:noFill/>
          <a:ln w="0">
            <a:noFill/>
            <a:prstDash val="solid"/>
          </a:ln>
        </p:spPr>
        <p:txBody>
          <a:bodyPr lIns="0" tIns="0" rIns="0" bIns="0" anchor="ctr"/>
          <a:lstStyle>
            <a:defPPr>
              <a:defRPr sz="172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725" b="0">
                <a:solidFill>
                  <a:srgbClr val="263B50"/>
                </a:solidFill>
                <a:latin typeface="PingFang SC" panose="020B0400000000000000" charset="-122"/>
                <a:ea typeface="PingFang SC" panose="020B0400000000000000" charset="-122"/>
                <a:cs typeface="PingFang SC" panose="020B0400000000000000" charset="-122"/>
              </a:defRPr>
            </a:pPr>
            <a:r>
              <a:rPr sz="1725" b="0">
                <a:solidFill>
                  <a:srgbClr val="263B50"/>
                </a:solidFill>
                <a:latin typeface="宋体" panose="02010600030101010101" pitchFamily="2" charset="-122"/>
                <a:ea typeface="宋体" panose="02010600030101010101" pitchFamily="2" charset="-122"/>
                <a:cs typeface="宋体" panose="02010600030101010101" pitchFamily="2" charset="-122"/>
              </a:rPr>
              <a:t>只计距攻击至少60秒的误报，区分残留影响。</a:t>
            </a:r>
            <a:endParaRPr sz="1725" b="0">
              <a:solidFill>
                <a:srgbClr val="263B50"/>
              </a:solidFill>
              <a:latin typeface="宋体" panose="02010600030101010101" pitchFamily="2" charset="-122"/>
              <a:ea typeface="宋体" panose="02010600030101010101" pitchFamily="2" charset="-122"/>
              <a:cs typeface="宋体" panose="02010600030101010101" pitchFamily="2" charset="-122"/>
            </a:endParaRPr>
          </a:p>
        </p:txBody>
      </p:sp>
      <p:sp>
        <p:nvSpPr>
          <p:cNvPr id="24" name="矩形 23"/>
          <p:cNvSpPr>
            <a:spLocks noGrp="1"/>
          </p:cNvSpPr>
          <p:nvPr/>
        </p:nvSpPr>
        <p:spPr>
          <a:xfrm>
            <a:off x="476250" y="5886450"/>
            <a:ext cx="11340000" cy="576000"/>
          </a:xfrm>
          <a:prstGeom prst="rect">
            <a:avLst/>
          </a:prstGeom>
          <a:solidFill>
            <a:srgbClr val="E8F5F5"/>
          </a:solidFill>
          <a:ln w="0">
            <a:noFill/>
            <a:prstDash val="solid"/>
          </a:ln>
        </p:spPr>
      </p:sp>
      <p:sp>
        <p:nvSpPr>
          <p:cNvPr id="25" name="矩形 24"/>
          <p:cNvSpPr>
            <a:spLocks noGrp="1"/>
          </p:cNvSpPr>
          <p:nvPr/>
        </p:nvSpPr>
        <p:spPr>
          <a:xfrm>
            <a:off x="647700" y="5953125"/>
            <a:ext cx="10906125" cy="323850"/>
          </a:xfrm>
          <a:prstGeom prst="rect">
            <a:avLst/>
          </a:prstGeom>
          <a:noFill/>
          <a:ln w="0">
            <a:noFill/>
            <a:prstDash val="solid"/>
          </a:ln>
        </p:spPr>
        <p:txBody>
          <a:bodyPr lIns="0" tIns="0" rIns="0" bIns="0" anchor="ctr"/>
          <a:lstStyle>
            <a:defPPr>
              <a:defRPr sz="1725"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725"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无攻击数据用于训练，含攻击数据用于测试；结合多种指标判断检出能力与误报负担。</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2" name="矩形 1"/>
          <p:cNvSpPr>
            <a:spLocks noGrp="1"/>
          </p:cNvSpPr>
          <p:nvPr/>
        </p:nvSpPr>
        <p:spPr>
          <a:xfrm>
            <a:off x="457200" y="209550"/>
            <a:ext cx="76200" cy="457200"/>
          </a:xfrm>
          <a:prstGeom prst="rect">
            <a:avLst/>
          </a:prstGeom>
          <a:solidFill>
            <a:srgbClr val="00AFA8"/>
          </a:solidFill>
          <a:ln w="0">
            <a:noFill/>
          </a:ln>
        </p:spPr>
      </p:sp>
      <p:sp>
        <p:nvSpPr>
          <p:cNvPr id="26" name="03 实验评估"/>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03 实验评估</a:t>
            </a:r>
            <a:endParaRPr sz="3000" b="1">
              <a:solidFill>
                <a:srgbClr val="173B6C"/>
              </a:solidFill>
              <a:latin typeface="黑体" panose="02010609060101010101" charset="-122"/>
              <a:ea typeface="黑体" panose="02010609060101010101" charset="-122"/>
              <a:cs typeface="黑体" panose="02010609060101010101" charset="-122"/>
            </a:endParaRPr>
          </a:p>
        </p:txBody>
      </p:sp>
      <p:sp>
        <p:nvSpPr>
          <p:cNvPr id="27"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18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457200" y="209550"/>
            <a:ext cx="76200" cy="457200"/>
          </a:xfrm>
          <a:prstGeom prst="rect">
            <a:avLst/>
          </a:prstGeom>
          <a:solidFill>
            <a:srgbClr val="00AFA8"/>
          </a:solidFill>
          <a:ln w="0">
            <a:noFill/>
          </a:ln>
        </p:spPr>
      </p:sp>
      <p:sp>
        <p:nvSpPr>
          <p:cNvPr id="2" name="03 实验评估"/>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03 实验评估</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3.1 检测性能：与相关工作比较（SWaT、WADI）"/>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检测性能：与相关工作比较</a:t>
            </a:r>
            <a:endParaRPr sz="2250" b="1">
              <a:solidFill>
                <a:srgbClr val="007E78"/>
              </a:solidFill>
              <a:latin typeface="黑体" panose="02010609060101010101" charset="-122"/>
              <a:ea typeface="黑体" panose="02010609060101010101" charset="-122"/>
              <a:cs typeface="PingFang SC" panose="020B0400000000000000" charset="-122"/>
            </a:endParaRPr>
          </a:p>
        </p:txBody>
      </p:sp>
      <p:sp>
        <p:nvSpPr>
          <p:cNvPr id="10" name="灰色为原文最佳值；括号内为相关方法原论文数值，横向比较看括号外的复现结"/>
          <p:cNvSpPr>
            <a:spLocks noGrp="1"/>
          </p:cNvSpPr>
          <p:nvPr/>
        </p:nvSpPr>
        <p:spPr>
          <a:xfrm>
            <a:off x="619125" y="5419725"/>
            <a:ext cx="10953750" cy="295275"/>
          </a:xfrm>
          <a:prstGeom prst="rect">
            <a:avLst/>
          </a:prstGeom>
          <a:noFill/>
          <a:ln w="0">
            <a:noFill/>
          </a:ln>
        </p:spPr>
        <p:txBody>
          <a:bodyPr wrap="square" lIns="0" tIns="0" rIns="0" bIns="0" anchor="t">
            <a:noAutofit/>
          </a:bodyPr>
          <a:lstStyle>
            <a:defPPr algn="l">
              <a:defRPr sz="1500" b="0">
                <a:solidFill>
                  <a:srgbClr val="57697B"/>
                </a:solidFill>
                <a:latin typeface="PingFang SC" panose="020B0400000000000000" charset="-122"/>
                <a:ea typeface="PingFang SC" panose="020B0400000000000000" charset="-122"/>
                <a:cs typeface="PingFang SC" panose="020B0400000000000000" charset="-122"/>
              </a:defRPr>
            </a:defPPr>
          </a:lstStyle>
          <a:p>
            <a:pPr algn="l">
              <a:buNone/>
              <a:defRPr sz="1500" b="0">
                <a:solidFill>
                  <a:srgbClr val="57697B"/>
                </a:solidFill>
                <a:latin typeface="PingFang SC" panose="020B0400000000000000" charset="-122"/>
                <a:ea typeface="PingFang SC" panose="020B0400000000000000" charset="-122"/>
                <a:cs typeface="PingFang SC" panose="020B0400000000000000" charset="-122"/>
              </a:defRPr>
            </a:pPr>
            <a:r>
              <a:rPr sz="1500" b="0">
                <a:solidFill>
                  <a:srgbClr val="57697B"/>
                </a:solidFill>
                <a:latin typeface="宋体" panose="02010600030101010101" pitchFamily="2" charset="-122"/>
                <a:ea typeface="宋体" panose="02010600030101010101" pitchFamily="2" charset="-122"/>
                <a:cs typeface="PingFang SC" panose="020B0400000000000000" charset="-122"/>
              </a:rPr>
              <a:t>与相关工作对比图，</a:t>
            </a:r>
            <a:r>
              <a:rPr sz="1500" b="0">
                <a:solidFill>
                  <a:srgbClr val="57697B"/>
                </a:solidFill>
                <a:latin typeface="宋体" panose="02010600030101010101" pitchFamily="2" charset="-122"/>
                <a:ea typeface="宋体" panose="02010600030101010101" pitchFamily="2" charset="-122"/>
                <a:cs typeface="PingFang SC" panose="020B0400000000000000" charset="-122"/>
              </a:rPr>
              <a:t>灰色为原文最佳值</a:t>
            </a:r>
            <a:endParaRPr sz="1500" b="0">
              <a:solidFill>
                <a:srgbClr val="57697B"/>
              </a:solidFill>
              <a:latin typeface="宋体" panose="02010600030101010101" pitchFamily="2" charset="-122"/>
              <a:ea typeface="宋体" panose="02010600030101010101" pitchFamily="2" charset="-122"/>
              <a:cs typeface="PingFang SC" panose="020B0400000000000000" charset="-122"/>
            </a:endParaRPr>
          </a:p>
        </p:txBody>
      </p:sp>
      <p:sp>
        <p:nvSpPr>
          <p:cNvPr id="11" name="矩形 10"/>
          <p:cNvSpPr>
            <a:spLocks noGrp="1"/>
          </p:cNvSpPr>
          <p:nvPr/>
        </p:nvSpPr>
        <p:spPr>
          <a:xfrm>
            <a:off x="476250" y="5762625"/>
            <a:ext cx="11340000" cy="576000"/>
          </a:xfrm>
          <a:prstGeom prst="rect">
            <a:avLst/>
          </a:prstGeom>
          <a:solidFill>
            <a:srgbClr val="E8F7F6"/>
          </a:solidFill>
          <a:ln w="0">
            <a:noFill/>
          </a:ln>
        </p:spPr>
      </p:sp>
      <p:sp>
        <p:nvSpPr>
          <p:cNvPr id="12" name="同一数据集的指标可能指向不同结论，GeCo并非在每个维度都领先"/>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宋体" panose="02010600030101010101" pitchFamily="2" charset="-122"/>
              </a:rPr>
              <a:t>GeCo </a:t>
            </a:r>
            <a:r>
              <a:rPr sz="1800" b="1">
                <a:solidFill>
                  <a:srgbClr val="173B6C"/>
                </a:solidFill>
                <a:latin typeface="宋体" panose="02010600030101010101" pitchFamily="2" charset="-122"/>
                <a:ea typeface="宋体" panose="02010600030101010101" pitchFamily="2" charset="-122"/>
                <a:cs typeface="宋体" panose="02010600030101010101" pitchFamily="2" charset="-122"/>
              </a:rPr>
              <a:t>的优势是多场景下较好的综合表现，并非所有指标均最优</a:t>
            </a:r>
            <a:endParaRPr sz="1800" b="1">
              <a:solidFill>
                <a:srgbClr val="173B6C"/>
              </a:solidFill>
              <a:latin typeface="宋体" panose="02010600030101010101" pitchFamily="2" charset="-122"/>
              <a:ea typeface="宋体" panose="02010600030101010101" pitchFamily="2" charset="-122"/>
              <a:cs typeface="宋体" panose="02010600030101010101" pitchFamily="2" charset="-122"/>
            </a:endParaRPr>
          </a:p>
        </p:txBody>
      </p:sp>
      <p:pic>
        <p:nvPicPr>
          <p:cNvPr id="16" name="图片 15"/>
          <p:cNvPicPr>
            <a:picLocks noChangeAspect="1"/>
          </p:cNvPicPr>
          <p:nvPr/>
        </p:nvPicPr>
        <p:blipFill>
          <a:blip r:embed="rId2"/>
          <a:stretch>
            <a:fillRect/>
          </a:stretch>
        </p:blipFill>
        <p:spPr>
          <a:xfrm>
            <a:off x="119380" y="1513840"/>
            <a:ext cx="8103870" cy="3858260"/>
          </a:xfrm>
          <a:prstGeom prst="rect">
            <a:avLst/>
          </a:prstGeom>
        </p:spPr>
      </p:pic>
      <p:sp>
        <p:nvSpPr>
          <p:cNvPr id="6" name="学术分区"/>
          <p:cNvSpPr>
            <a:spLocks noGrp="1"/>
          </p:cNvSpPr>
          <p:nvPr/>
        </p:nvSpPr>
        <p:spPr>
          <a:xfrm>
            <a:off x="8603615" y="1424305"/>
            <a:ext cx="2952750" cy="3924300"/>
          </a:xfrm>
          <a:prstGeom prst="roundRect">
            <a:avLst>
              <a:gd name="adj" fmla="val 2903"/>
            </a:avLst>
          </a:prstGeom>
          <a:solidFill>
            <a:srgbClr val="F5FAFA"/>
          </a:solidFill>
          <a:ln w="9525">
            <a:solidFill>
              <a:srgbClr val="D7E5E9"/>
            </a:solidFill>
            <a:prstDash val="solid"/>
          </a:ln>
        </p:spPr>
      </p:sp>
      <p:sp>
        <p:nvSpPr>
          <p:cNvPr id="7" name="矩形 17"/>
          <p:cNvSpPr>
            <a:spLocks noGrp="1"/>
          </p:cNvSpPr>
          <p:nvPr/>
        </p:nvSpPr>
        <p:spPr>
          <a:xfrm>
            <a:off x="8832215" y="1557655"/>
            <a:ext cx="2476500" cy="571500"/>
          </a:xfrm>
          <a:prstGeom prst="rect">
            <a:avLst/>
          </a:prstGeom>
          <a:noFill/>
          <a:ln w="0">
            <a:noFill/>
          </a:ln>
        </p:spPr>
        <p:txBody>
          <a:bodyPr wrap="square" lIns="0" tIns="0" rIns="0" bIns="0" anchor="t">
            <a:noAutofit/>
          </a:bodyPr>
          <a:lstStyle>
            <a:defPPr algn="ctr">
              <a:defRPr sz="3225" b="1">
                <a:solidFill>
                  <a:srgbClr val="007E78"/>
                </a:solidFill>
                <a:latin typeface="PingFang SC" panose="020B0400000000000000" charset="-122"/>
                <a:ea typeface="PingFang SC" panose="020B0400000000000000" charset="-122"/>
                <a:cs typeface="PingFang SC" panose="020B0400000000000000" charset="-122"/>
              </a:defRPr>
            </a:defPPr>
          </a:lstStyle>
          <a:p>
            <a:pPr algn="ctr">
              <a:lnSpc>
                <a:spcPct val="105000"/>
              </a:lnSpc>
              <a:buNone/>
              <a:defRPr sz="3150" b="1">
                <a:solidFill>
                  <a:srgbClr val="007E78"/>
                </a:solidFill>
                <a:latin typeface="PingFang SC" panose="020B0400000000000000" charset="-122"/>
                <a:ea typeface="PingFang SC" panose="020B0400000000000000" charset="-122"/>
                <a:cs typeface="PingFang SC" panose="020B0400000000000000" charset="-122"/>
              </a:defRPr>
            </a:pPr>
            <a:r>
              <a:rPr sz="3225" b="1">
                <a:solidFill>
                  <a:srgbClr val="007E78"/>
                </a:solidFill>
                <a:latin typeface="黑体" panose="02010609060101010101" charset="-122"/>
                <a:ea typeface="黑体" panose="02010609060101010101" charset="-122"/>
                <a:cs typeface="PingFang SC" panose="020B0400000000000000" charset="-122"/>
              </a:rPr>
              <a:t>23 / 32</a:t>
            </a:r>
            <a:endParaRPr sz="3225" b="1">
              <a:solidFill>
                <a:srgbClr val="007E78"/>
              </a:solidFill>
              <a:latin typeface="黑体" panose="02010609060101010101" charset="-122"/>
              <a:ea typeface="黑体" panose="02010609060101010101" charset="-122"/>
              <a:cs typeface="PingFang SC" panose="020B0400000000000000" charset="-122"/>
            </a:endParaRPr>
          </a:p>
        </p:txBody>
      </p:sp>
      <p:sp>
        <p:nvSpPr>
          <p:cNvPr id="14" name="矩形 18"/>
          <p:cNvSpPr>
            <a:spLocks noGrp="1"/>
          </p:cNvSpPr>
          <p:nvPr/>
        </p:nvSpPr>
        <p:spPr>
          <a:xfrm>
            <a:off x="8832215" y="2129155"/>
            <a:ext cx="2476500" cy="400050"/>
          </a:xfrm>
          <a:prstGeom prst="rect">
            <a:avLst/>
          </a:prstGeom>
          <a:noFill/>
          <a:ln w="0">
            <a:noFill/>
          </a:ln>
        </p:spPr>
        <p:txBody>
          <a:bodyPr wrap="square" lIns="0" tIns="0" rIns="0" bIns="0" anchor="t">
            <a:noAutofit/>
          </a:bodyPr>
          <a:lstStyle>
            <a:defPPr algn="ctr">
              <a:defRPr sz="1725">
                <a:solidFill>
                  <a:srgbClr val="203040"/>
                </a:solidFill>
                <a:latin typeface="PingFang SC" panose="020B0400000000000000" charset="-122"/>
                <a:ea typeface="PingFang SC" panose="020B0400000000000000" charset="-122"/>
                <a:cs typeface="PingFang SC" panose="020B0400000000000000" charset="-122"/>
              </a:defRPr>
            </a:defPPr>
          </a:lstStyle>
          <a:p>
            <a:pPr algn="ctr">
              <a:lnSpc>
                <a:spcPct val="105000"/>
              </a:lnSpc>
              <a:buNone/>
              <a:defRPr sz="1350"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PingFang SC" panose="020B0400000000000000" charset="-122"/>
                <a:ea typeface="PingFang SC" panose="020B0400000000000000" charset="-122"/>
                <a:cs typeface="PingFang SC" panose="020B0400000000000000" charset="-122"/>
              </a:rPr>
              <a:t>指标组合中最优（含并列）</a:t>
            </a:r>
            <a:endParaRPr sz="1350" b="0">
              <a:solidFill>
                <a:srgbClr val="203040"/>
              </a:solidFill>
              <a:latin typeface="PingFang SC" panose="020B0400000000000000" charset="-122"/>
              <a:ea typeface="PingFang SC" panose="020B0400000000000000" charset="-122"/>
              <a:cs typeface="PingFang SC" panose="020B0400000000000000" charset="-122"/>
            </a:endParaRPr>
          </a:p>
        </p:txBody>
      </p:sp>
      <p:sp>
        <p:nvSpPr>
          <p:cNvPr id="8" name="矩形 19"/>
          <p:cNvSpPr>
            <a:spLocks noGrp="1"/>
          </p:cNvSpPr>
          <p:nvPr/>
        </p:nvSpPr>
        <p:spPr>
          <a:xfrm>
            <a:off x="8832215" y="2729230"/>
            <a:ext cx="2476500" cy="361950"/>
          </a:xfrm>
          <a:prstGeom prst="rect">
            <a:avLst/>
          </a:prstGeom>
          <a:noFill/>
          <a:ln w="0">
            <a:noFill/>
          </a:ln>
        </p:spPr>
        <p:txBody>
          <a:bodyPr wrap="square" lIns="0" tIns="0" rIns="0" bIns="0" anchor="t">
            <a:noAutofit/>
          </a:bodyPr>
          <a:lstStyle>
            <a:defPPr algn="ctr">
              <a:defRPr sz="2100" b="1">
                <a:solidFill>
                  <a:srgbClr val="173B6C"/>
                </a:solidFill>
                <a:latin typeface="PingFang SC" panose="020B0400000000000000" charset="-122"/>
                <a:ea typeface="PingFang SC" panose="020B0400000000000000" charset="-122"/>
                <a:cs typeface="PingFang SC" panose="020B0400000000000000" charset="-122"/>
              </a:defRPr>
            </a:defPPr>
          </a:lstStyle>
          <a:p>
            <a:pPr algn="ctr">
              <a:lnSpc>
                <a:spcPct val="105000"/>
              </a:lnSpc>
              <a:buNone/>
              <a:defRPr sz="2025" b="1">
                <a:solidFill>
                  <a:srgbClr val="173B6C"/>
                </a:solidFill>
                <a:latin typeface="PingFang SC" panose="020B0400000000000000" charset="-122"/>
                <a:ea typeface="PingFang SC" panose="020B0400000000000000" charset="-122"/>
                <a:cs typeface="PingFang SC" panose="020B0400000000000000" charset="-122"/>
              </a:defRPr>
            </a:pPr>
            <a:r>
              <a:rPr sz="2100" b="1">
                <a:solidFill>
                  <a:srgbClr val="173B6C"/>
                </a:solidFill>
                <a:latin typeface="黑体" panose="02010609060101010101" charset="-122"/>
                <a:ea typeface="黑体" panose="02010609060101010101" charset="-122"/>
                <a:cs typeface="PingFang SC" panose="020B0400000000000000" charset="-122"/>
              </a:rPr>
              <a:t>WADI</a:t>
            </a:r>
            <a:endParaRPr sz="2100" b="1">
              <a:solidFill>
                <a:srgbClr val="173B6C"/>
              </a:solidFill>
              <a:latin typeface="黑体" panose="02010609060101010101" charset="-122"/>
              <a:ea typeface="黑体" panose="02010609060101010101" charset="-122"/>
              <a:cs typeface="PingFang SC" panose="020B0400000000000000" charset="-122"/>
            </a:endParaRPr>
          </a:p>
        </p:txBody>
      </p:sp>
      <p:sp>
        <p:nvSpPr>
          <p:cNvPr id="9" name="矩形 20"/>
          <p:cNvSpPr>
            <a:spLocks noGrp="1"/>
          </p:cNvSpPr>
          <p:nvPr/>
        </p:nvSpPr>
        <p:spPr>
          <a:xfrm>
            <a:off x="8832215" y="3157855"/>
            <a:ext cx="2476500" cy="857250"/>
          </a:xfrm>
          <a:prstGeom prst="rect">
            <a:avLst/>
          </a:prstGeom>
          <a:noFill/>
          <a:ln w="0">
            <a:noFill/>
          </a:ln>
        </p:spPr>
        <p:txBody>
          <a:bodyPr wrap="square" lIns="0" tIns="0" rIns="0" bIns="0" anchor="ctr">
            <a:noAutofit/>
          </a:bodyPr>
          <a:lstStyle>
            <a:defPPr algn="ctr">
              <a:defRPr sz="1725">
                <a:solidFill>
                  <a:srgbClr val="203040"/>
                </a:solidFill>
                <a:latin typeface="PingFang SC" panose="020B0400000000000000" charset="-122"/>
                <a:ea typeface="PingFang SC" panose="020B0400000000000000" charset="-122"/>
                <a:cs typeface="PingFang SC" panose="020B0400000000000000" charset="-122"/>
              </a:defRPr>
            </a:defPPr>
          </a:lstStyle>
          <a:p>
            <a:pPr algn="ctr">
              <a:lnSpc>
                <a:spcPct val="105000"/>
              </a:lnSpc>
              <a:buNone/>
              <a:defRPr sz="14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宋体" panose="02010600030101010101" pitchFamily="2" charset="-122"/>
              </a:rPr>
              <a:t>点级F1并非最高</a:t>
            </a:r>
            <a:endParaRPr sz="142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ctr">
              <a:lnSpc>
                <a:spcPct val="105000"/>
              </a:lnSpc>
              <a:buNone/>
              <a:defRPr sz="14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宋体" panose="02010600030101010101" pitchFamily="2" charset="-122"/>
              </a:rPr>
              <a:t>但eTaF1更高且FPA=0</a:t>
            </a:r>
            <a:endParaRPr sz="142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7" name="矩形 21"/>
          <p:cNvSpPr>
            <a:spLocks noGrp="1"/>
          </p:cNvSpPr>
          <p:nvPr/>
        </p:nvSpPr>
        <p:spPr>
          <a:xfrm>
            <a:off x="8832215" y="4300855"/>
            <a:ext cx="2476500" cy="361950"/>
          </a:xfrm>
          <a:prstGeom prst="rect">
            <a:avLst/>
          </a:prstGeom>
          <a:noFill/>
          <a:ln w="0">
            <a:noFill/>
          </a:ln>
        </p:spPr>
        <p:txBody>
          <a:bodyPr wrap="square" lIns="0" tIns="0" rIns="0" bIns="0" anchor="t">
            <a:noAutofit/>
          </a:bodyPr>
          <a:lstStyle>
            <a:defPPr algn="ctr">
              <a:defRPr sz="2100" b="1">
                <a:solidFill>
                  <a:srgbClr val="A62D2A"/>
                </a:solidFill>
                <a:latin typeface="PingFang SC" panose="020B0400000000000000" charset="-122"/>
                <a:ea typeface="PingFang SC" panose="020B0400000000000000" charset="-122"/>
                <a:cs typeface="PingFang SC" panose="020B0400000000000000" charset="-122"/>
              </a:defRPr>
            </a:defPPr>
          </a:lstStyle>
          <a:p>
            <a:pPr algn="ctr">
              <a:lnSpc>
                <a:spcPct val="105000"/>
              </a:lnSpc>
              <a:buNone/>
              <a:defRPr sz="1875" b="1">
                <a:solidFill>
                  <a:srgbClr val="A62D2A"/>
                </a:solidFill>
                <a:latin typeface="PingFang SC" panose="020B0400000000000000" charset="-122"/>
                <a:ea typeface="PingFang SC" panose="020B0400000000000000" charset="-122"/>
                <a:cs typeface="PingFang SC" panose="020B0400000000000000" charset="-122"/>
              </a:defRPr>
            </a:pPr>
            <a:r>
              <a:rPr sz="2100" b="1">
                <a:solidFill>
                  <a:srgbClr val="A62D2A"/>
                </a:solidFill>
                <a:latin typeface="黑体" panose="02010609060101010101" charset="-122"/>
                <a:ea typeface="黑体" panose="02010609060101010101" charset="-122"/>
                <a:cs typeface="PingFang SC" panose="020B0400000000000000" charset="-122"/>
              </a:rPr>
              <a:t>BATADAL</a:t>
            </a:r>
            <a:endParaRPr sz="1875" b="1">
              <a:solidFill>
                <a:srgbClr val="A62D2A"/>
              </a:solidFill>
              <a:latin typeface="黑体" panose="02010609060101010101" charset="-122"/>
              <a:ea typeface="黑体" panose="02010609060101010101" charset="-122"/>
              <a:cs typeface="PingFang SC" panose="020B0400000000000000" charset="-122"/>
            </a:endParaRPr>
          </a:p>
        </p:txBody>
      </p:sp>
      <p:sp>
        <p:nvSpPr>
          <p:cNvPr id="24" name="矩形 22"/>
          <p:cNvSpPr>
            <a:spLocks noGrp="1"/>
          </p:cNvSpPr>
          <p:nvPr/>
        </p:nvSpPr>
        <p:spPr>
          <a:xfrm>
            <a:off x="8832215" y="4758055"/>
            <a:ext cx="2476500" cy="371475"/>
          </a:xfrm>
          <a:prstGeom prst="rect">
            <a:avLst/>
          </a:prstGeom>
          <a:noFill/>
          <a:ln w="0">
            <a:noFill/>
          </a:ln>
        </p:spPr>
        <p:txBody>
          <a:bodyPr wrap="square" lIns="0" tIns="0" rIns="0" bIns="0" anchor="t">
            <a:noAutofit/>
          </a:bodyPr>
          <a:lstStyle>
            <a:defPPr algn="ctr">
              <a:defRPr sz="1800" b="1">
                <a:solidFill>
                  <a:srgbClr val="203040"/>
                </a:solidFill>
                <a:latin typeface="PingFang SC" panose="020B0400000000000000" charset="-122"/>
                <a:ea typeface="PingFang SC" panose="020B0400000000000000" charset="-122"/>
                <a:cs typeface="PingFang SC" panose="020B0400000000000000" charset="-122"/>
              </a:defRPr>
            </a:defPPr>
          </a:lstStyle>
          <a:p>
            <a:pPr algn="ctr">
              <a:lnSpc>
                <a:spcPct val="105000"/>
              </a:lnSpc>
              <a:buNone/>
              <a:defRPr sz="1650" b="1">
                <a:solidFill>
                  <a:srgbClr val="203040"/>
                </a:solidFill>
                <a:latin typeface="PingFang SC" panose="020B0400000000000000" charset="-122"/>
                <a:ea typeface="PingFang SC" panose="020B0400000000000000" charset="-122"/>
                <a:cs typeface="PingFang SC" panose="020B0400000000000000" charset="-122"/>
              </a:defRPr>
            </a:pPr>
            <a:r>
              <a:rPr sz="1800" b="1">
                <a:solidFill>
                  <a:srgbClr val="203040"/>
                </a:solidFill>
                <a:latin typeface="宋体" panose="02010600030101010101" pitchFamily="2" charset="-122"/>
                <a:ea typeface="宋体" panose="02010600030101010101" pitchFamily="2" charset="-122"/>
                <a:cs typeface="PingFang SC" panose="020B0400000000000000" charset="-122"/>
              </a:rPr>
              <a:t>Scen.=100%</a:t>
            </a:r>
            <a:endParaRPr sz="1650" b="1">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25"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19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 name="图片 2"/>
          <p:cNvPicPr>
            <a:picLocks noChangeAspect="1"/>
          </p:cNvPicPr>
          <p:nvPr/>
        </p:nvPicPr>
        <p:blipFill>
          <a:blip r:embed="rId1"/>
          <a:stretch>
            <a:fillRect/>
          </a:stretch>
        </p:blipFill>
        <p:spPr>
          <a:xfrm>
            <a:off x="10001250" y="209782"/>
            <a:ext cx="1714500" cy="494835"/>
          </a:xfrm>
          <a:prstGeom prst="rect">
            <a:avLst/>
          </a:prstGeom>
        </p:spPr>
      </p:pic>
      <p:pic>
        <p:nvPicPr>
          <p:cNvPr id="15" name="图片 14"/>
          <p:cNvPicPr>
            <a:picLocks noChangeAspect="1"/>
          </p:cNvPicPr>
          <p:nvPr/>
        </p:nvPicPr>
        <p:blipFill>
          <a:blip r:embed="rId2"/>
          <a:stretch>
            <a:fillRect/>
          </a:stretch>
        </p:blipFill>
        <p:spPr>
          <a:xfrm>
            <a:off x="149225" y="1979930"/>
            <a:ext cx="8328025" cy="3706495"/>
          </a:xfrm>
          <a:prstGeom prst="rect">
            <a:avLst/>
          </a:prstGeom>
        </p:spPr>
      </p:pic>
      <p:sp>
        <p:nvSpPr>
          <p:cNvPr id="16" name="矩形 15"/>
          <p:cNvSpPr>
            <a:spLocks noGrp="1"/>
          </p:cNvSpPr>
          <p:nvPr/>
        </p:nvSpPr>
        <p:spPr>
          <a:xfrm>
            <a:off x="457200" y="228600"/>
            <a:ext cx="66675" cy="438150"/>
          </a:xfrm>
          <a:prstGeom prst="rect">
            <a:avLst/>
          </a:prstGeom>
          <a:solidFill>
            <a:srgbClr val="00AFA8"/>
          </a:solidFill>
          <a:ln w="0">
            <a:noFill/>
          </a:ln>
        </p:spPr>
      </p:sp>
      <p:sp>
        <p:nvSpPr>
          <p:cNvPr id="17" name="矩形 16"/>
          <p:cNvSpPr>
            <a:spLocks noGrp="1"/>
          </p:cNvSpPr>
          <p:nvPr/>
        </p:nvSpPr>
        <p:spPr>
          <a:xfrm>
            <a:off x="666750" y="228600"/>
            <a:ext cx="8715375" cy="457200"/>
          </a:xfrm>
          <a:prstGeom prst="rect">
            <a:avLst/>
          </a:prstGeom>
          <a:noFill/>
          <a:ln w="0">
            <a:noFill/>
          </a:ln>
        </p:spPr>
        <p:txBody>
          <a:bodyPr lIns="0" tIns="0" rIns="0" bIns="0" anchor="ctr">
            <a:noAutofit/>
          </a:bodyPr>
          <a:lstStyle>
            <a:defPPr>
              <a:defRPr sz="255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03 实验评估</a:t>
            </a:r>
            <a:endParaRPr sz="3000" b="1">
              <a:solidFill>
                <a:srgbClr val="173B6C"/>
              </a:solidFill>
              <a:latin typeface="黑体" panose="02010609060101010101" charset="-122"/>
              <a:ea typeface="黑体" panose="02010609060101010101" charset="-122"/>
              <a:cs typeface="黑体" panose="02010609060101010101" charset="-122"/>
            </a:endParaRPr>
          </a:p>
        </p:txBody>
      </p:sp>
      <p:sp>
        <p:nvSpPr>
          <p:cNvPr id="18" name="矩形 17"/>
          <p:cNvSpPr>
            <a:spLocks noGrp="1"/>
          </p:cNvSpPr>
          <p:nvPr/>
        </p:nvSpPr>
        <p:spPr>
          <a:xfrm>
            <a:off x="476250" y="800100"/>
            <a:ext cx="11239500" cy="11430"/>
          </a:xfrm>
          <a:prstGeom prst="rect">
            <a:avLst/>
          </a:prstGeom>
          <a:solidFill>
            <a:srgbClr val="173B6C"/>
          </a:solidFill>
          <a:ln w="0">
            <a:noFill/>
          </a:ln>
        </p:spPr>
      </p:sp>
      <p:sp>
        <p:nvSpPr>
          <p:cNvPr id="19" name="矩形 18"/>
          <p:cNvSpPr>
            <a:spLocks noGrp="1"/>
          </p:cNvSpPr>
          <p:nvPr/>
        </p:nvSpPr>
        <p:spPr>
          <a:xfrm>
            <a:off x="476250" y="981075"/>
            <a:ext cx="11239500" cy="495300"/>
          </a:xfrm>
          <a:prstGeom prst="rect">
            <a:avLst/>
          </a:prstGeom>
          <a:noFill/>
          <a:ln w="0">
            <a:noFill/>
          </a:ln>
        </p:spPr>
        <p:txBody>
          <a:bodyPr lIns="0" tIns="0" rIns="0" bIns="0" anchor="ctr">
            <a:noAutofit/>
          </a:bodyPr>
          <a:lstStyle>
            <a:defPPr>
              <a:defRPr sz="2325"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2325" b="1">
                <a:solidFill>
                  <a:srgbClr val="007E78"/>
                </a:solidFill>
                <a:latin typeface="PingFang SC" panose="020B0400000000000000" charset="-122"/>
                <a:ea typeface="PingFang SC" panose="020B0400000000000000" charset="-122"/>
                <a:cs typeface="PingFang SC" panose="020B0400000000000000" charset="-122"/>
              </a:defRPr>
            </a:pPr>
            <a:r>
              <a:rPr sz="2325" b="1">
                <a:solidFill>
                  <a:srgbClr val="007E78"/>
                </a:solidFill>
                <a:latin typeface="黑体" panose="02010609060101010101" charset="-122"/>
                <a:ea typeface="黑体" panose="02010609060101010101" charset="-122"/>
                <a:cs typeface="PingFang SC" panose="020B0400000000000000" charset="-122"/>
              </a:rPr>
              <a:t>检测性能：告警时间线与攻击区间的对应关系</a:t>
            </a:r>
            <a:endParaRPr sz="2325" b="1">
              <a:solidFill>
                <a:srgbClr val="007E78"/>
              </a:solidFill>
              <a:latin typeface="黑体" panose="02010609060101010101" charset="-122"/>
              <a:ea typeface="黑体" panose="02010609060101010101" charset="-122"/>
              <a:cs typeface="PingFang SC" panose="020B0400000000000000" charset="-122"/>
            </a:endParaRPr>
          </a:p>
        </p:txBody>
      </p:sp>
      <p:sp>
        <p:nvSpPr>
          <p:cNvPr id="21" name="矩形 20"/>
          <p:cNvSpPr>
            <a:spLocks noGrp="1"/>
          </p:cNvSpPr>
          <p:nvPr/>
        </p:nvSpPr>
        <p:spPr>
          <a:xfrm>
            <a:off x="459740" y="1581150"/>
            <a:ext cx="8096250" cy="323850"/>
          </a:xfrm>
          <a:prstGeom prst="rect">
            <a:avLst/>
          </a:prstGeom>
          <a:noFill/>
          <a:ln w="0">
            <a:noFill/>
          </a:ln>
        </p:spPr>
        <p:txBody>
          <a:bodyPr lIns="0" tIns="0" rIns="0" bIns="0" anchor="ctr">
            <a:noAutofit/>
          </a:bodyPr>
          <a:lstStyle>
            <a:defPPr>
              <a:defRPr sz="1575"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575" b="0">
                <a:solidFill>
                  <a:srgbClr val="57697B"/>
                </a:solidFill>
                <a:latin typeface="PingFang SC" panose="020B0400000000000000" charset="-122"/>
                <a:ea typeface="PingFang SC" panose="020B0400000000000000" charset="-122"/>
                <a:cs typeface="PingFang SC" panose="020B0400000000000000" charset="-122"/>
              </a:defRPr>
            </a:pPr>
            <a:r>
              <a:rPr sz="1400" b="0">
                <a:solidFill>
                  <a:srgbClr val="57697B"/>
                </a:solidFill>
                <a:latin typeface="宋体" panose="02010600030101010101" pitchFamily="2" charset="-122"/>
                <a:ea typeface="宋体" panose="02010600030101010101" pitchFamily="2" charset="-122"/>
                <a:cs typeface="宋体" panose="02010600030101010101" pitchFamily="2" charset="-122"/>
              </a:rPr>
              <a:t>绿色：正确告警   橙色：漏检   红色：误报   深红顶条：攻击区间</a:t>
            </a:r>
            <a:endParaRPr sz="1400" b="0">
              <a:solidFill>
                <a:srgbClr val="57697B"/>
              </a:solidFill>
              <a:latin typeface="宋体" panose="02010600030101010101" pitchFamily="2" charset="-122"/>
              <a:ea typeface="宋体" panose="02010600030101010101" pitchFamily="2" charset="-122"/>
              <a:cs typeface="宋体" panose="02010600030101010101" pitchFamily="2" charset="-122"/>
            </a:endParaRPr>
          </a:p>
        </p:txBody>
      </p:sp>
      <p:sp>
        <p:nvSpPr>
          <p:cNvPr id="22" name="圆角矩形 21"/>
          <p:cNvSpPr>
            <a:spLocks noGrp="1"/>
          </p:cNvSpPr>
          <p:nvPr/>
        </p:nvSpPr>
        <p:spPr>
          <a:xfrm>
            <a:off x="8763000" y="1695450"/>
            <a:ext cx="2952750" cy="1228725"/>
          </a:xfrm>
          <a:prstGeom prst="roundRect">
            <a:avLst>
              <a:gd name="adj" fmla="val 7752"/>
            </a:avLst>
          </a:prstGeom>
          <a:solidFill>
            <a:srgbClr val="F7FAFB"/>
          </a:solidFill>
          <a:ln w="9525">
            <a:solidFill>
              <a:srgbClr val="CCDCE5"/>
            </a:solidFill>
          </a:ln>
        </p:spPr>
      </p:sp>
      <p:sp>
        <p:nvSpPr>
          <p:cNvPr id="23" name="矩形 22"/>
          <p:cNvSpPr>
            <a:spLocks noGrp="1"/>
          </p:cNvSpPr>
          <p:nvPr/>
        </p:nvSpPr>
        <p:spPr>
          <a:xfrm>
            <a:off x="8763000" y="1838325"/>
            <a:ext cx="38100" cy="266700"/>
          </a:xfrm>
          <a:prstGeom prst="rect">
            <a:avLst/>
          </a:prstGeom>
          <a:solidFill>
            <a:srgbClr val="007E78"/>
          </a:solidFill>
          <a:ln w="0">
            <a:noFill/>
          </a:ln>
        </p:spPr>
      </p:sp>
      <p:sp>
        <p:nvSpPr>
          <p:cNvPr id="24" name="矩形 23"/>
          <p:cNvSpPr>
            <a:spLocks noGrp="1"/>
          </p:cNvSpPr>
          <p:nvPr/>
        </p:nvSpPr>
        <p:spPr>
          <a:xfrm>
            <a:off x="8934450" y="1790700"/>
            <a:ext cx="2609850" cy="314325"/>
          </a:xfrm>
          <a:prstGeom prst="rect">
            <a:avLst/>
          </a:prstGeom>
          <a:noFill/>
          <a:ln w="0">
            <a:noFill/>
          </a:ln>
        </p:spPr>
        <p:txBody>
          <a:bodyPr lIns="0" tIns="0" rIns="0" bIns="0" anchor="ctr">
            <a:noAutofit/>
          </a:bodyPr>
          <a:lstStyle>
            <a:defPPr>
              <a:defRPr sz="1800" b="1">
                <a:solidFill>
                  <a:srgbClr val="007E78"/>
                </a:solidFill>
                <a:latin typeface="PingFang SC" panose="020B0400000000000000" charset="-122"/>
                <a:ea typeface="PingFang SC" panose="020B0400000000000000" charset="-122"/>
                <a:cs typeface="PingFang SC" panose="020B0400000000000000" charset="-122"/>
              </a:defRPr>
            </a:defPPr>
          </a:lstStyle>
          <a:p>
            <a:pPr>
              <a:buNone/>
              <a:defRPr sz="1800" b="1">
                <a:solidFill>
                  <a:srgbClr val="007E78"/>
                </a:solidFill>
                <a:latin typeface="PingFang SC" panose="020B0400000000000000" charset="-122"/>
                <a:ea typeface="PingFang SC" panose="020B0400000000000000" charset="-122"/>
                <a:cs typeface="PingFang SC" panose="020B0400000000000000" charset="-122"/>
              </a:defRPr>
            </a:pPr>
            <a:r>
              <a:rPr sz="1800" b="1">
                <a:solidFill>
                  <a:srgbClr val="007E78"/>
                </a:solidFill>
                <a:latin typeface="黑体" panose="02010609060101010101" charset="-122"/>
                <a:ea typeface="黑体" panose="02010609060101010101" charset="-122"/>
                <a:cs typeface="PingFang SC" panose="020B0400000000000000" charset="-122"/>
              </a:rPr>
              <a:t>读图方式</a:t>
            </a:r>
            <a:endParaRPr sz="1800" b="1">
              <a:solidFill>
                <a:srgbClr val="007E78"/>
              </a:solidFill>
              <a:latin typeface="黑体" panose="02010609060101010101" charset="-122"/>
              <a:ea typeface="黑体" panose="02010609060101010101" charset="-122"/>
              <a:cs typeface="PingFang SC" panose="020B0400000000000000" charset="-122"/>
            </a:endParaRPr>
          </a:p>
        </p:txBody>
      </p:sp>
      <p:sp>
        <p:nvSpPr>
          <p:cNvPr id="25" name="矩形 24"/>
          <p:cNvSpPr>
            <a:spLocks noGrp="1"/>
          </p:cNvSpPr>
          <p:nvPr/>
        </p:nvSpPr>
        <p:spPr>
          <a:xfrm>
            <a:off x="8934450" y="2162175"/>
            <a:ext cx="2609850" cy="685800"/>
          </a:xfrm>
          <a:prstGeom prst="rect">
            <a:avLst/>
          </a:prstGeom>
          <a:noFill/>
          <a:ln w="0">
            <a:noFill/>
          </a:ln>
        </p:spPr>
        <p:txBody>
          <a:bodyPr lIns="0" tIns="0" rIns="0" bIns="0" anchor="ctr">
            <a:noAutofit/>
          </a:bodyPr>
          <a:lstStyle>
            <a:defPPr>
              <a:defRPr sz="15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575" b="0">
                <a:solidFill>
                  <a:srgbClr val="263B50"/>
                </a:solidFill>
                <a:latin typeface="PingFang SC" panose="020B0400000000000000" charset="-122"/>
                <a:ea typeface="PingFang SC" panose="020B0400000000000000" charset="-122"/>
                <a:cs typeface="PingFang SC" panose="020B0400000000000000" charset="-122"/>
              </a:defRPr>
            </a:pPr>
            <a:r>
              <a:rPr sz="1575" b="0">
                <a:solidFill>
                  <a:srgbClr val="263B50"/>
                </a:solidFill>
                <a:latin typeface="宋体" panose="02010600030101010101" pitchFamily="2" charset="-122"/>
                <a:ea typeface="宋体" panose="02010600030101010101" pitchFamily="2" charset="-122"/>
                <a:cs typeface="PingFang SC" panose="020B0400000000000000" charset="-122"/>
              </a:rPr>
              <a:t>按数据集比较各方法，观察告警是否覆盖攻击区间，以及正常时段是否频繁告警。</a:t>
            </a:r>
            <a:endParaRPr sz="15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26" name="圆角矩形 25"/>
          <p:cNvSpPr>
            <a:spLocks noGrp="1"/>
          </p:cNvSpPr>
          <p:nvPr/>
        </p:nvSpPr>
        <p:spPr>
          <a:xfrm>
            <a:off x="8763000" y="3038475"/>
            <a:ext cx="2952750" cy="1228725"/>
          </a:xfrm>
          <a:prstGeom prst="roundRect">
            <a:avLst>
              <a:gd name="adj" fmla="val 7752"/>
            </a:avLst>
          </a:prstGeom>
          <a:solidFill>
            <a:srgbClr val="F7FAFB"/>
          </a:solidFill>
          <a:ln w="9525">
            <a:solidFill>
              <a:srgbClr val="CCDCE5"/>
            </a:solidFill>
          </a:ln>
        </p:spPr>
      </p:sp>
      <p:sp>
        <p:nvSpPr>
          <p:cNvPr id="27" name="矩形 26"/>
          <p:cNvSpPr>
            <a:spLocks noGrp="1"/>
          </p:cNvSpPr>
          <p:nvPr/>
        </p:nvSpPr>
        <p:spPr>
          <a:xfrm>
            <a:off x="8763000" y="3181350"/>
            <a:ext cx="38100" cy="266700"/>
          </a:xfrm>
          <a:prstGeom prst="rect">
            <a:avLst/>
          </a:prstGeom>
          <a:solidFill>
            <a:srgbClr val="007E78"/>
          </a:solidFill>
          <a:ln w="0">
            <a:noFill/>
          </a:ln>
        </p:spPr>
      </p:sp>
      <p:sp>
        <p:nvSpPr>
          <p:cNvPr id="28" name="矩形 27"/>
          <p:cNvSpPr>
            <a:spLocks noGrp="1"/>
          </p:cNvSpPr>
          <p:nvPr/>
        </p:nvSpPr>
        <p:spPr>
          <a:xfrm>
            <a:off x="8934450" y="3133725"/>
            <a:ext cx="2609850" cy="314325"/>
          </a:xfrm>
          <a:prstGeom prst="rect">
            <a:avLst/>
          </a:prstGeom>
          <a:noFill/>
          <a:ln w="0">
            <a:noFill/>
          </a:ln>
        </p:spPr>
        <p:txBody>
          <a:bodyPr lIns="0" tIns="0" rIns="0" bIns="0" anchor="ctr">
            <a:noAutofit/>
          </a:bodyPr>
          <a:lstStyle>
            <a:defPPr>
              <a:defRPr sz="18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00" b="1">
                <a:solidFill>
                  <a:srgbClr val="007E78"/>
                </a:solidFill>
                <a:latin typeface="PingFang SC" panose="020B0400000000000000" charset="-122"/>
                <a:ea typeface="PingFang SC" panose="020B0400000000000000" charset="-122"/>
                <a:cs typeface="PingFang SC" panose="020B0400000000000000" charset="-122"/>
              </a:defRPr>
            </a:pPr>
            <a:r>
              <a:rPr sz="1800" b="1">
                <a:solidFill>
                  <a:srgbClr val="007E78"/>
                </a:solidFill>
                <a:latin typeface="黑体" panose="02010609060101010101" charset="-122"/>
                <a:ea typeface="黑体" panose="02010609060101010101" charset="-122"/>
                <a:cs typeface="PingFang SC" panose="020B0400000000000000" charset="-122"/>
              </a:rPr>
              <a:t>主要观察</a:t>
            </a:r>
            <a:endParaRPr sz="1800" b="1">
              <a:solidFill>
                <a:srgbClr val="007E78"/>
              </a:solidFill>
              <a:latin typeface="黑体" panose="02010609060101010101" charset="-122"/>
              <a:ea typeface="黑体" panose="02010609060101010101" charset="-122"/>
              <a:cs typeface="PingFang SC" panose="020B0400000000000000" charset="-122"/>
            </a:endParaRPr>
          </a:p>
        </p:txBody>
      </p:sp>
      <p:sp>
        <p:nvSpPr>
          <p:cNvPr id="29" name="矩形 28"/>
          <p:cNvSpPr>
            <a:spLocks noGrp="1"/>
          </p:cNvSpPr>
          <p:nvPr/>
        </p:nvSpPr>
        <p:spPr>
          <a:xfrm>
            <a:off x="8934450" y="3505200"/>
            <a:ext cx="2609850" cy="685800"/>
          </a:xfrm>
          <a:prstGeom prst="rect">
            <a:avLst/>
          </a:prstGeom>
          <a:noFill/>
          <a:ln w="0">
            <a:noFill/>
          </a:ln>
        </p:spPr>
        <p:txBody>
          <a:bodyPr lIns="0" tIns="0" rIns="0" bIns="0" anchor="ctr">
            <a:noAutofit/>
          </a:bodyPr>
          <a:lstStyle>
            <a:defPPr>
              <a:defRPr sz="1575" b="0">
                <a:solidFill>
                  <a:srgbClr val="263B5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575" b="0">
                <a:solidFill>
                  <a:srgbClr val="263B50"/>
                </a:solidFill>
                <a:latin typeface="PingFang SC" panose="020B0400000000000000" charset="-122"/>
                <a:ea typeface="PingFang SC" panose="020B0400000000000000" charset="-122"/>
                <a:cs typeface="PingFang SC" panose="020B0400000000000000" charset="-122"/>
              </a:defRPr>
            </a:pPr>
            <a:r>
              <a:rPr sz="1575" b="0">
                <a:solidFill>
                  <a:srgbClr val="263B50"/>
                </a:solidFill>
                <a:latin typeface="宋体" panose="02010600030101010101" pitchFamily="2" charset="-122"/>
                <a:ea typeface="宋体" panose="02010600030101010101" pitchFamily="2" charset="-122"/>
                <a:cs typeface="PingFang SC" panose="020B0400000000000000" charset="-122"/>
              </a:rPr>
              <a:t>GeCo在图示片段中与攻击区间较一致，其他方法在不同数据集上的表现存在差异。</a:t>
            </a:r>
            <a:endParaRPr sz="15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30" name="圆角矩形 29"/>
          <p:cNvSpPr>
            <a:spLocks noGrp="1"/>
          </p:cNvSpPr>
          <p:nvPr/>
        </p:nvSpPr>
        <p:spPr>
          <a:xfrm>
            <a:off x="8763000" y="4381500"/>
            <a:ext cx="2952750" cy="1228725"/>
          </a:xfrm>
          <a:prstGeom prst="roundRect">
            <a:avLst>
              <a:gd name="adj" fmla="val 7752"/>
            </a:avLst>
          </a:prstGeom>
          <a:solidFill>
            <a:srgbClr val="F7FAFB"/>
          </a:solidFill>
          <a:ln w="9525">
            <a:solidFill>
              <a:srgbClr val="CCDCE5"/>
            </a:solidFill>
          </a:ln>
        </p:spPr>
      </p:sp>
      <p:sp>
        <p:nvSpPr>
          <p:cNvPr id="31" name="矩形 30"/>
          <p:cNvSpPr>
            <a:spLocks noGrp="1"/>
          </p:cNvSpPr>
          <p:nvPr/>
        </p:nvSpPr>
        <p:spPr>
          <a:xfrm>
            <a:off x="8763000" y="4524375"/>
            <a:ext cx="38100" cy="266700"/>
          </a:xfrm>
          <a:prstGeom prst="rect">
            <a:avLst/>
          </a:prstGeom>
          <a:solidFill>
            <a:srgbClr val="007E78"/>
          </a:solidFill>
          <a:ln w="0">
            <a:noFill/>
          </a:ln>
        </p:spPr>
      </p:sp>
      <p:sp>
        <p:nvSpPr>
          <p:cNvPr id="32" name="矩形 31"/>
          <p:cNvSpPr>
            <a:spLocks noGrp="1"/>
          </p:cNvSpPr>
          <p:nvPr/>
        </p:nvSpPr>
        <p:spPr>
          <a:xfrm>
            <a:off x="8934450" y="4476750"/>
            <a:ext cx="2609850" cy="314325"/>
          </a:xfrm>
          <a:prstGeom prst="rect">
            <a:avLst/>
          </a:prstGeom>
          <a:noFill/>
          <a:ln w="0">
            <a:noFill/>
          </a:ln>
        </p:spPr>
        <p:txBody>
          <a:bodyPr lIns="0" tIns="0" rIns="0" bIns="0" anchor="ctr">
            <a:noAutofit/>
          </a:bodyPr>
          <a:lstStyle>
            <a:defPPr>
              <a:defRPr sz="18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800" b="1">
                <a:solidFill>
                  <a:srgbClr val="007E78"/>
                </a:solidFill>
                <a:latin typeface="PingFang SC" panose="020B0400000000000000" charset="-122"/>
                <a:ea typeface="PingFang SC" panose="020B0400000000000000" charset="-122"/>
                <a:cs typeface="PingFang SC" panose="020B0400000000000000" charset="-122"/>
              </a:defRPr>
            </a:pPr>
            <a:r>
              <a:rPr sz="1800" b="1">
                <a:solidFill>
                  <a:srgbClr val="007E78"/>
                </a:solidFill>
                <a:latin typeface="黑体" panose="02010609060101010101" charset="-122"/>
                <a:ea typeface="黑体" panose="02010609060101010101" charset="-122"/>
                <a:cs typeface="PingFang SC" panose="020B0400000000000000" charset="-122"/>
              </a:rPr>
              <a:t>结论边界</a:t>
            </a:r>
            <a:endParaRPr sz="1800" b="1">
              <a:solidFill>
                <a:srgbClr val="007E78"/>
              </a:solidFill>
              <a:latin typeface="黑体" panose="02010609060101010101" charset="-122"/>
              <a:ea typeface="黑体" panose="02010609060101010101" charset="-122"/>
              <a:cs typeface="PingFang SC" panose="020B0400000000000000" charset="-122"/>
            </a:endParaRPr>
          </a:p>
        </p:txBody>
      </p:sp>
      <p:sp>
        <p:nvSpPr>
          <p:cNvPr id="33" name="矩形 32"/>
          <p:cNvSpPr>
            <a:spLocks noGrp="1"/>
          </p:cNvSpPr>
          <p:nvPr/>
        </p:nvSpPr>
        <p:spPr>
          <a:xfrm>
            <a:off x="8934450" y="4848225"/>
            <a:ext cx="2609850" cy="685800"/>
          </a:xfrm>
          <a:prstGeom prst="rect">
            <a:avLst/>
          </a:prstGeom>
          <a:noFill/>
          <a:ln w="0">
            <a:noFill/>
          </a:ln>
        </p:spPr>
        <p:txBody>
          <a:bodyPr lIns="0" tIns="0" rIns="0" bIns="0" anchor="ctr">
            <a:noAutofit/>
          </a:bodyPr>
          <a:lstStyle>
            <a:defPPr>
              <a:defRPr sz="1575" b="0">
                <a:solidFill>
                  <a:srgbClr val="263B50"/>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1575" b="0">
                <a:solidFill>
                  <a:srgbClr val="263B50"/>
                </a:solidFill>
                <a:latin typeface="PingFang SC" panose="020B0400000000000000" charset="-122"/>
                <a:ea typeface="PingFang SC" panose="020B0400000000000000" charset="-122"/>
                <a:cs typeface="PingFang SC" panose="020B0400000000000000" charset="-122"/>
              </a:defRPr>
            </a:pPr>
            <a:r>
              <a:rPr sz="1575" b="0">
                <a:solidFill>
                  <a:srgbClr val="263B50"/>
                </a:solidFill>
                <a:latin typeface="宋体" panose="02010600030101010101" pitchFamily="2" charset="-122"/>
                <a:ea typeface="宋体" panose="02010600030101010101" pitchFamily="2" charset="-122"/>
                <a:cs typeface="PingFang SC" panose="020B0400000000000000" charset="-122"/>
              </a:rPr>
              <a:t>攻击结束后的短暂告警可能与过程恢复有关</a:t>
            </a:r>
            <a:r>
              <a:rPr lang="en-US" sz="1575" b="0">
                <a:solidFill>
                  <a:srgbClr val="263B50"/>
                </a:solidFill>
                <a:latin typeface="宋体" panose="02010600030101010101" pitchFamily="2" charset="-122"/>
                <a:ea typeface="宋体" panose="02010600030101010101" pitchFamily="2" charset="-122"/>
                <a:cs typeface="PingFang SC" panose="020B0400000000000000" charset="-122"/>
              </a:rPr>
              <a:t>。</a:t>
            </a:r>
            <a:endParaRPr lang="en-US" sz="1575" b="0">
              <a:solidFill>
                <a:srgbClr val="263B50"/>
              </a:solidFill>
              <a:latin typeface="宋体" panose="02010600030101010101" pitchFamily="2" charset="-122"/>
              <a:ea typeface="宋体" panose="02010600030101010101" pitchFamily="2" charset="-122"/>
              <a:cs typeface="PingFang SC" panose="020B0400000000000000" charset="-122"/>
            </a:endParaRPr>
          </a:p>
        </p:txBody>
      </p:sp>
      <p:sp>
        <p:nvSpPr>
          <p:cNvPr id="37"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20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
        <p:nvSpPr>
          <p:cNvPr id="11" name="矩形 10"/>
          <p:cNvSpPr>
            <a:spLocks noGrp="1"/>
          </p:cNvSpPr>
          <p:nvPr/>
        </p:nvSpPr>
        <p:spPr>
          <a:xfrm>
            <a:off x="457200" y="5867400"/>
            <a:ext cx="11340000" cy="576000"/>
          </a:xfrm>
          <a:prstGeom prst="rect">
            <a:avLst/>
          </a:prstGeom>
          <a:solidFill>
            <a:srgbClr val="E8F7F6"/>
          </a:solidFill>
          <a:ln w="0">
            <a:noFill/>
          </a:ln>
        </p:spPr>
      </p:sp>
      <p:sp>
        <p:nvSpPr>
          <p:cNvPr id="12" name="同一数据集的指标可能指向不同结论，GeCo并非在每个维度都领先"/>
          <p:cNvSpPr>
            <a:spLocks noGrp="1"/>
          </p:cNvSpPr>
          <p:nvPr/>
        </p:nvSpPr>
        <p:spPr>
          <a:xfrm>
            <a:off x="628650" y="5962650"/>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a:latin typeface="宋体" panose="02010600030101010101" pitchFamily="2" charset="-122"/>
                <a:ea typeface="宋体" panose="02010600030101010101" pitchFamily="2" charset="-122"/>
                <a:cs typeface="宋体" panose="02010600030101010101" pitchFamily="2" charset="-122"/>
                <a:sym typeface="+mn-ea"/>
              </a:rPr>
              <a:t>GeCo精确指示了攻击，然而其他的IIDS很难推测出</a:t>
            </a:r>
            <a:r>
              <a:rPr lang="en-US">
                <a:latin typeface="宋体" panose="02010600030101010101" pitchFamily="2" charset="-122"/>
                <a:ea typeface="宋体" panose="02010600030101010101" pitchFamily="2" charset="-122"/>
                <a:cs typeface="宋体" panose="02010600030101010101" pitchFamily="2" charset="-122"/>
                <a:sym typeface="+mn-ea"/>
              </a:rPr>
              <a:t>。</a:t>
            </a:r>
            <a:endParaRPr lang="en-US" sz="1800" b="1">
              <a:solidFill>
                <a:srgbClr val="173B6C"/>
              </a:solidFill>
              <a:latin typeface="宋体" panose="02010600030101010101" pitchFamily="2" charset="-122"/>
              <a:ea typeface="宋体" panose="02010600030101010101" pitchFamily="2" charset="-122"/>
              <a:cs typeface="宋体" panose="02010600030101010101" pitchFamily="2"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 name="矩形 17"/>
          <p:cNvSpPr>
            <a:spLocks noGrp="1"/>
          </p:cNvSpPr>
          <p:nvPr/>
        </p:nvSpPr>
        <p:spPr>
          <a:xfrm>
            <a:off x="457200" y="209550"/>
            <a:ext cx="76200" cy="457200"/>
          </a:xfrm>
          <a:prstGeom prst="rect">
            <a:avLst/>
          </a:prstGeom>
          <a:solidFill>
            <a:srgbClr val="00AFA8"/>
          </a:solidFill>
          <a:ln w="0">
            <a:noFill/>
          </a:ln>
        </p:spPr>
      </p:sp>
      <p:sp>
        <p:nvSpPr>
          <p:cNvPr id="2" name="03 实验评估"/>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03 实验评估</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3.1 检测性能：泛化能力"/>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检测性能：</a:t>
            </a:r>
            <a:r>
              <a:rPr sz="2250" b="1">
                <a:solidFill>
                  <a:srgbClr val="007E78"/>
                </a:solidFill>
                <a:latin typeface="黑体" panose="02010609060101010101" charset="-122"/>
                <a:ea typeface="黑体" panose="02010609060101010101" charset="-122"/>
                <a:cs typeface="PingFang SC" panose="020B0400000000000000" charset="-122"/>
              </a:rPr>
              <a:t>跨领域检测能力</a:t>
            </a:r>
            <a:endParaRPr sz="2250" b="1">
              <a:solidFill>
                <a:srgbClr val="007E78"/>
              </a:solidFill>
              <a:latin typeface="黑体" panose="02010609060101010101" charset="-122"/>
              <a:ea typeface="黑体" panose="02010609060101010101" charset="-122"/>
              <a:cs typeface="PingFang SC" panose="020B0400000000000000" charset="-122"/>
            </a:endParaRPr>
          </a:p>
        </p:txBody>
      </p:sp>
      <p:sp>
        <p:nvSpPr>
          <p:cNvPr id="6" name="Tennessee Eastman：从水处理等基准扩展到化工过程"/>
          <p:cNvSpPr>
            <a:spLocks noGrp="1"/>
          </p:cNvSpPr>
          <p:nvPr/>
        </p:nvSpPr>
        <p:spPr>
          <a:xfrm>
            <a:off x="619125" y="1666875"/>
            <a:ext cx="10906125" cy="428625"/>
          </a:xfrm>
          <a:prstGeom prst="rect">
            <a:avLst/>
          </a:prstGeom>
          <a:noFill/>
          <a:ln w="0">
            <a:noFill/>
          </a:ln>
        </p:spPr>
        <p:txBody>
          <a:bodyPr wrap="square" lIns="0" tIns="0" rIns="0" bIns="0" anchor="t">
            <a:noAutofit/>
          </a:bodyPr>
          <a:lstStyle>
            <a:defPPr algn="l">
              <a:defRPr sz="21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2100" b="1">
                <a:solidFill>
                  <a:srgbClr val="173B6C"/>
                </a:solidFill>
                <a:latin typeface="PingFang SC" panose="020B0400000000000000" charset="-122"/>
                <a:ea typeface="PingFang SC" panose="020B0400000000000000" charset="-122"/>
                <a:cs typeface="PingFang SC" panose="020B0400000000000000" charset="-122"/>
              </a:defRPr>
            </a:pPr>
            <a:r>
              <a:rPr sz="2100" b="0" i="1">
                <a:solidFill>
                  <a:srgbClr val="173B6C"/>
                </a:solidFill>
                <a:latin typeface="Times New Roman" panose="02020603050405020304" charset="0"/>
                <a:ea typeface="PingFang SC" panose="020B0400000000000000" charset="-122"/>
                <a:cs typeface="Times New Roman" panose="02020603050405020304" charset="0"/>
              </a:rPr>
              <a:t>Tennessee Eastman</a:t>
            </a:r>
            <a:r>
              <a:rPr sz="2100" b="1">
                <a:solidFill>
                  <a:srgbClr val="173B6C"/>
                </a:solidFill>
                <a:latin typeface="PingFang SC" panose="020B0400000000000000" charset="-122"/>
                <a:ea typeface="PingFang SC" panose="020B0400000000000000" charset="-122"/>
                <a:cs typeface="PingFang SC" panose="020B0400000000000000" charset="-122"/>
              </a:rPr>
              <a:t>：</a:t>
            </a:r>
            <a:r>
              <a:rPr sz="2100" b="1">
                <a:solidFill>
                  <a:srgbClr val="173B6C"/>
                </a:solidFill>
                <a:latin typeface="黑体" panose="02010609060101010101" charset="-122"/>
                <a:ea typeface="黑体" panose="02010609060101010101" charset="-122"/>
                <a:cs typeface="PingFang SC" panose="020B0400000000000000" charset="-122"/>
              </a:rPr>
              <a:t>从水处理等基准扩展到化工过程</a:t>
            </a:r>
            <a:endParaRPr sz="2100" b="1">
              <a:solidFill>
                <a:srgbClr val="173B6C"/>
              </a:solidFill>
              <a:latin typeface="黑体" panose="02010609060101010101" charset="-122"/>
              <a:ea typeface="黑体" panose="02010609060101010101" charset="-122"/>
              <a:cs typeface="PingFang SC" panose="020B0400000000000000" charset="-122"/>
            </a:endParaRPr>
          </a:p>
        </p:txBody>
      </p:sp>
      <p:pic>
        <p:nvPicPr>
          <p:cNvPr id="7" name="图片 6"/>
          <p:cNvPicPr>
            <a:picLocks noChangeAspect="1"/>
          </p:cNvPicPr>
          <p:nvPr/>
        </p:nvPicPr>
        <p:blipFill>
          <a:blip r:embed="rId2"/>
          <a:stretch>
            <a:fillRect/>
          </a:stretch>
        </p:blipFill>
        <p:spPr>
          <a:xfrm>
            <a:off x="571500" y="2549298"/>
            <a:ext cx="7143750" cy="1768929"/>
          </a:xfrm>
          <a:prstGeom prst="rect">
            <a:avLst/>
          </a:prstGeom>
        </p:spPr>
      </p:pic>
      <p:sp>
        <p:nvSpPr>
          <p:cNvPr id="8" name="验证设置"/>
          <p:cNvSpPr>
            <a:spLocks noGrp="1"/>
          </p:cNvSpPr>
          <p:nvPr/>
        </p:nvSpPr>
        <p:spPr>
          <a:xfrm>
            <a:off x="8143875" y="2333625"/>
            <a:ext cx="347662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新领域是什么</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9" name="41个过程值&#10;5.5小时正常训练数据&#10;6.7小时测试，包含5次攻击"/>
          <p:cNvSpPr>
            <a:spLocks noGrp="1"/>
          </p:cNvSpPr>
          <p:nvPr/>
        </p:nvSpPr>
        <p:spPr>
          <a:xfrm>
            <a:off x="8143875" y="2752725"/>
            <a:ext cx="3476625" cy="130492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a:latin typeface="宋体" panose="02010600030101010101" pitchFamily="2" charset="-122"/>
                <a:ea typeface="宋体" panose="02010600030101010101" pitchFamily="2" charset="-122"/>
                <a:cs typeface="PingFang SC" panose="020B0400000000000000" charset="-122"/>
              </a:rPr>
              <a:t>化学反应过程，涉及物质混合、气体冷凝与产品合成。它与前述水处理和供水过程不同。</a:t>
            </a:r>
            <a:endParaRPr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0" name="5 / 5次攻击检出，0次误报"/>
          <p:cNvSpPr>
            <a:spLocks noGrp="1"/>
          </p:cNvSpPr>
          <p:nvPr/>
        </p:nvSpPr>
        <p:spPr>
          <a:xfrm>
            <a:off x="714375" y="4695825"/>
            <a:ext cx="7000875" cy="438150"/>
          </a:xfrm>
          <a:prstGeom prst="rect">
            <a:avLst/>
          </a:prstGeom>
          <a:noFill/>
          <a:ln w="0">
            <a:noFill/>
          </a:ln>
        </p:spPr>
        <p:txBody>
          <a:bodyPr wrap="square" lIns="0" tIns="0" rIns="0" bIns="0" anchor="t">
            <a:noAutofit/>
          </a:bodyPr>
          <a:lstStyle>
            <a:defPPr algn="l">
              <a:defRPr sz="23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325" b="1">
                <a:solidFill>
                  <a:srgbClr val="007E78"/>
                </a:solidFill>
                <a:latin typeface="PingFang SC" panose="020B0400000000000000" charset="-122"/>
                <a:ea typeface="PingFang SC" panose="020B0400000000000000" charset="-122"/>
                <a:cs typeface="PingFang SC" panose="020B0400000000000000" charset="-122"/>
              </a:defRPr>
            </a:pPr>
            <a:r>
              <a:rPr sz="2325" b="1">
                <a:solidFill>
                  <a:srgbClr val="007E78"/>
                </a:solidFill>
                <a:latin typeface="黑体" panose="02010609060101010101" charset="-122"/>
                <a:ea typeface="黑体" panose="02010609060101010101" charset="-122"/>
                <a:cs typeface="黑体" panose="02010609060101010101" charset="-122"/>
              </a:rPr>
              <a:t>5 / 5次攻击检出，0次误报</a:t>
            </a:r>
            <a:endParaRPr sz="2325" b="1">
              <a:solidFill>
                <a:srgbClr val="007E78"/>
              </a:solidFill>
              <a:latin typeface="黑体" panose="02010609060101010101" charset="-122"/>
              <a:ea typeface="黑体" panose="02010609060101010101" charset="-122"/>
              <a:cs typeface="黑体" panose="02010609060101010101" charset="-122"/>
            </a:endParaRPr>
          </a:p>
        </p:txBody>
      </p:sp>
      <p:sp>
        <p:nvSpPr>
          <p:cNvPr id="11" name="F1 = 96.0%     eTaF1 = 98.0%"/>
          <p:cNvSpPr>
            <a:spLocks noGrp="1"/>
          </p:cNvSpPr>
          <p:nvPr/>
        </p:nvSpPr>
        <p:spPr>
          <a:xfrm>
            <a:off x="714375" y="5219700"/>
            <a:ext cx="7000875" cy="390525"/>
          </a:xfrm>
          <a:prstGeom prst="rect">
            <a:avLst/>
          </a:prstGeom>
          <a:noFill/>
          <a:ln w="0">
            <a:noFill/>
          </a:ln>
        </p:spPr>
        <p:txBody>
          <a:bodyPr wrap="square" lIns="0" tIns="0" rIns="0" bIns="0" anchor="t">
            <a:noAutofit/>
          </a:bodyPr>
          <a:lstStyle>
            <a:defPPr algn="l">
              <a:defRPr sz="21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2100" b="1">
                <a:solidFill>
                  <a:srgbClr val="173B6C"/>
                </a:solidFill>
                <a:latin typeface="PingFang SC" panose="020B0400000000000000" charset="-122"/>
                <a:ea typeface="PingFang SC" panose="020B0400000000000000" charset="-122"/>
                <a:cs typeface="PingFang SC" panose="020B0400000000000000" charset="-122"/>
              </a:defRPr>
            </a:pPr>
            <a:r>
              <a:rPr sz="2100" b="1">
                <a:solidFill>
                  <a:srgbClr val="173B6C"/>
                </a:solidFill>
                <a:latin typeface="黑体" panose="02010609060101010101" charset="-122"/>
                <a:ea typeface="黑体" panose="02010609060101010101" charset="-122"/>
                <a:cs typeface="PingFang SC" panose="020B0400000000000000" charset="-122"/>
              </a:rPr>
              <a:t>F1 = 96.0%     eTaF1 = 98.0%</a:t>
            </a:r>
            <a:endParaRPr sz="2100" b="1">
              <a:solidFill>
                <a:srgbClr val="173B6C"/>
              </a:solidFill>
              <a:latin typeface="黑体" panose="02010609060101010101" charset="-122"/>
              <a:ea typeface="黑体" panose="02010609060101010101" charset="-122"/>
              <a:cs typeface="PingFang SC" panose="020B0400000000000000" charset="-122"/>
            </a:endParaRPr>
          </a:p>
        </p:txBody>
      </p:sp>
      <p:sp>
        <p:nvSpPr>
          <p:cNvPr id="12" name="迁移方式"/>
          <p:cNvSpPr>
            <a:spLocks noGrp="1"/>
          </p:cNvSpPr>
          <p:nvPr/>
        </p:nvSpPr>
        <p:spPr>
          <a:xfrm>
            <a:off x="8143875" y="4124325"/>
            <a:ext cx="347662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迁移方式</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13" name="模板不增加，采用默认参数。&#10;使用新领域正常数据重新训练。"/>
          <p:cNvSpPr>
            <a:spLocks noGrp="1"/>
          </p:cNvSpPr>
          <p:nvPr/>
        </p:nvSpPr>
        <p:spPr>
          <a:xfrm>
            <a:off x="8143875" y="4543425"/>
            <a:ext cx="3476625" cy="11334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模板不增加，采用默认参数。</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使用新领域正常数据重新训练。</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4" name="矩形 13"/>
          <p:cNvSpPr>
            <a:spLocks noGrp="1"/>
          </p:cNvSpPr>
          <p:nvPr/>
        </p:nvSpPr>
        <p:spPr>
          <a:xfrm>
            <a:off x="476250" y="5762625"/>
            <a:ext cx="11239500" cy="504825"/>
          </a:xfrm>
          <a:prstGeom prst="rect">
            <a:avLst/>
          </a:prstGeom>
          <a:solidFill>
            <a:srgbClr val="E8F7F6"/>
          </a:solidFill>
          <a:ln w="0">
            <a:noFill/>
          </a:ln>
        </p:spPr>
      </p:sp>
      <p:sp>
        <p:nvSpPr>
          <p:cNvPr id="15" name="证据支持方法跨领域适用性，实验中的模型仍需在新领域重新训练"/>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证据支持方法跨领域适用性，实验中的模型仍需在新领域重新训练</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19"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21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457200" y="209550"/>
            <a:ext cx="76200" cy="457200"/>
          </a:xfrm>
          <a:prstGeom prst="rect">
            <a:avLst/>
          </a:prstGeom>
          <a:solidFill>
            <a:srgbClr val="00AFA8"/>
          </a:solidFill>
          <a:ln w="0">
            <a:noFill/>
          </a:ln>
        </p:spPr>
      </p:sp>
      <p:sp>
        <p:nvSpPr>
          <p:cNvPr id="2" name="03 实验评估"/>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03 实验评估</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3.1 检测性能：基于专家知识的比较"/>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黑体" panose="02010609060101010101" charset="-122"/>
              </a:rPr>
              <a:t> 检测性能：基于专家知识的比较</a:t>
            </a:r>
            <a:endParaRPr sz="2250" b="1">
              <a:solidFill>
                <a:srgbClr val="007E78"/>
              </a:solidFill>
              <a:latin typeface="黑体" panose="02010609060101010101" charset="-122"/>
              <a:ea typeface="黑体" panose="02010609060101010101" charset="-122"/>
              <a:cs typeface="黑体" panose="02010609060101010101" charset="-122"/>
            </a:endParaRPr>
          </a:p>
        </p:txBody>
      </p:sp>
      <p:sp>
        <p:nvSpPr>
          <p:cNvPr id="6" name="比较对象：GeCo自动学习模型与SWaT的33条专家不变量规则"/>
          <p:cNvSpPr>
            <a:spLocks noGrp="1"/>
          </p:cNvSpPr>
          <p:nvPr/>
        </p:nvSpPr>
        <p:spPr>
          <a:xfrm>
            <a:off x="619125" y="1704975"/>
            <a:ext cx="10953750" cy="457200"/>
          </a:xfrm>
          <a:prstGeom prst="rect">
            <a:avLst/>
          </a:prstGeom>
          <a:noFill/>
          <a:ln w="0">
            <a:noFill/>
          </a:ln>
        </p:spPr>
        <p:txBody>
          <a:bodyPr wrap="square" lIns="0" tIns="0" rIns="0" bIns="0" anchor="t">
            <a:noAutofit/>
          </a:bodyPr>
          <a:lstStyle>
            <a:defPPr algn="l">
              <a:defRPr sz="21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2100" b="1">
                <a:solidFill>
                  <a:srgbClr val="173B6C"/>
                </a:solidFill>
                <a:latin typeface="PingFang SC" panose="020B0400000000000000" charset="-122"/>
                <a:ea typeface="PingFang SC" panose="020B0400000000000000" charset="-122"/>
                <a:cs typeface="PingFang SC" panose="020B0400000000000000" charset="-122"/>
              </a:defRPr>
            </a:pPr>
            <a:r>
              <a:rPr sz="2100" b="1">
                <a:solidFill>
                  <a:srgbClr val="173B6C"/>
                </a:solidFill>
                <a:latin typeface="黑体" panose="02010609060101010101" charset="-122"/>
                <a:ea typeface="黑体" panose="02010609060101010101" charset="-122"/>
                <a:cs typeface="黑体" panose="02010609060101010101" charset="-122"/>
              </a:rPr>
              <a:t>比较对象：GeCo自动学习模型与SWaT的33条专家不变量规则</a:t>
            </a:r>
            <a:endParaRPr sz="2100" b="1">
              <a:solidFill>
                <a:srgbClr val="173B6C"/>
              </a:solidFill>
              <a:latin typeface="黑体" panose="02010609060101010101" charset="-122"/>
              <a:ea typeface="黑体" panose="02010609060101010101" charset="-122"/>
              <a:cs typeface="黑体" panose="02010609060101010101" charset="-122"/>
            </a:endParaRPr>
          </a:p>
        </p:txBody>
      </p:sp>
      <p:sp>
        <p:nvSpPr>
          <p:cNvPr id="7" name="63条收集规则，剔除16条高误报规则及14条重复规则。"/>
          <p:cNvSpPr>
            <a:spLocks noGrp="1"/>
          </p:cNvSpPr>
          <p:nvPr/>
        </p:nvSpPr>
        <p:spPr>
          <a:xfrm>
            <a:off x="619125" y="2238375"/>
            <a:ext cx="10953750" cy="361950"/>
          </a:xfrm>
          <a:prstGeom prst="rect">
            <a:avLst/>
          </a:prstGeom>
          <a:noFill/>
          <a:ln w="0">
            <a:noFill/>
          </a:ln>
        </p:spPr>
        <p:txBody>
          <a:bodyPr wrap="square" lIns="0" tIns="0" rIns="0" bIns="0" anchor="t">
            <a:noAutofit/>
          </a:bodyPr>
          <a:lstStyle>
            <a:defPPr algn="l">
              <a:defRPr sz="1800" b="0">
                <a:solidFill>
                  <a:srgbClr val="57697B"/>
                </a:solidFill>
                <a:latin typeface="PingFang SC" panose="020B0400000000000000" charset="-122"/>
                <a:ea typeface="PingFang SC" panose="020B0400000000000000" charset="-122"/>
                <a:cs typeface="PingFang SC" panose="020B0400000000000000" charset="-122"/>
              </a:defRPr>
            </a:defPPr>
          </a:lstStyle>
          <a:p>
            <a:pPr algn="l">
              <a:buNone/>
              <a:defRPr sz="1800" b="0">
                <a:solidFill>
                  <a:srgbClr val="57697B"/>
                </a:solidFill>
                <a:latin typeface="PingFang SC" panose="020B0400000000000000" charset="-122"/>
                <a:ea typeface="PingFang SC" panose="020B0400000000000000" charset="-122"/>
                <a:cs typeface="PingFang SC" panose="020B0400000000000000" charset="-122"/>
              </a:defRPr>
            </a:pPr>
            <a:r>
              <a:rPr sz="1800" b="0">
                <a:solidFill>
                  <a:srgbClr val="57697B"/>
                </a:solidFill>
                <a:latin typeface="宋体" panose="02010600030101010101" pitchFamily="2" charset="-122"/>
                <a:ea typeface="宋体" panose="02010600030101010101" pitchFamily="2" charset="-122"/>
                <a:cs typeface="宋体" panose="02010600030101010101" pitchFamily="2" charset="-122"/>
              </a:rPr>
              <a:t>63条收集规则，剔除16条高误报规则及14条重复规则。</a:t>
            </a:r>
            <a:endParaRPr sz="1800" b="0">
              <a:solidFill>
                <a:srgbClr val="57697B"/>
              </a:solidFill>
              <a:latin typeface="宋体" panose="02010600030101010101" pitchFamily="2" charset="-122"/>
              <a:ea typeface="宋体" panose="02010600030101010101" pitchFamily="2" charset="-122"/>
              <a:cs typeface="宋体" panose="02010600030101010101" pitchFamily="2" charset="-122"/>
            </a:endParaRPr>
          </a:p>
        </p:txBody>
      </p:sp>
      <p:pic>
        <p:nvPicPr>
          <p:cNvPr id="8" name="图片 7"/>
          <p:cNvPicPr>
            <a:picLocks noChangeAspect="1"/>
          </p:cNvPicPr>
          <p:nvPr/>
        </p:nvPicPr>
        <p:blipFill>
          <a:blip r:embed="rId2"/>
          <a:stretch>
            <a:fillRect/>
          </a:stretch>
        </p:blipFill>
        <p:spPr>
          <a:xfrm>
            <a:off x="904875" y="2916474"/>
            <a:ext cx="10382250" cy="1634652"/>
          </a:xfrm>
          <a:prstGeom prst="rect">
            <a:avLst/>
          </a:prstGeom>
        </p:spPr>
      </p:pic>
      <p:sp>
        <p:nvSpPr>
          <p:cNvPr id="9" name="检测效果"/>
          <p:cNvSpPr>
            <a:spLocks noGrp="1"/>
          </p:cNvSpPr>
          <p:nvPr/>
        </p:nvSpPr>
        <p:spPr>
          <a:xfrm>
            <a:off x="619125" y="4667250"/>
            <a:ext cx="5143500"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检测效果</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10" name="F1：86.2 对 79.0&#10;eTaF1：70.2 对 41.6"/>
          <p:cNvSpPr>
            <a:spLocks noGrp="1"/>
          </p:cNvSpPr>
          <p:nvPr/>
        </p:nvSpPr>
        <p:spPr>
          <a:xfrm>
            <a:off x="619125" y="5086350"/>
            <a:ext cx="5143500" cy="8763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F1：86.2 vs</a:t>
            </a: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 79.0</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eTaF1：70.2 vs</a:t>
            </a: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 41.6</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1" name="误报负担"/>
          <p:cNvSpPr>
            <a:spLocks noGrp="1"/>
          </p:cNvSpPr>
          <p:nvPr/>
        </p:nvSpPr>
        <p:spPr>
          <a:xfrm>
            <a:off x="6429375" y="4667250"/>
            <a:ext cx="509587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误报负担</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12" name="FPA：GeCo为4，专家规则为3。&#10;检测提升仍需结合误报次数判断。"/>
          <p:cNvSpPr>
            <a:spLocks noGrp="1"/>
          </p:cNvSpPr>
          <p:nvPr/>
        </p:nvSpPr>
        <p:spPr>
          <a:xfrm>
            <a:off x="6429375" y="5086350"/>
            <a:ext cx="5095875" cy="8763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FPA：GeCo为4，专家规则为3。</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检测提升仍需结合误报次数判断。</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矩形 12"/>
          <p:cNvSpPr>
            <a:spLocks noGrp="1"/>
          </p:cNvSpPr>
          <p:nvPr/>
        </p:nvSpPr>
        <p:spPr>
          <a:xfrm>
            <a:off x="476250" y="5762625"/>
            <a:ext cx="11239500" cy="504825"/>
          </a:xfrm>
          <a:prstGeom prst="rect">
            <a:avLst/>
          </a:prstGeom>
          <a:solidFill>
            <a:srgbClr val="E8F7F6"/>
          </a:solidFill>
          <a:ln w="0">
            <a:noFill/>
          </a:ln>
        </p:spPr>
      </p:sp>
      <p:sp>
        <p:nvSpPr>
          <p:cNvPr id="14" name="这组对照支持自动建模的有效性，结论范围限定于所选专家规则与SWaT"/>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defRPr sz="1725" b="1">
                <a:solidFill>
                  <a:srgbClr val="173B6C"/>
                </a:solidFill>
                <a:latin typeface="PingFang SC" panose="020B0400000000000000" charset="-122"/>
                <a:ea typeface="PingFang SC" panose="020B0400000000000000" charset="-122"/>
                <a:cs typeface="PingFang SC" panose="020B0400000000000000" charset="-122"/>
              </a:defRPr>
            </a:pPr>
            <a:r>
              <a:rPr sz="1800">
                <a:latin typeface="宋体" panose="02010600030101010101" pitchFamily="2" charset="-122"/>
                <a:ea typeface="宋体" panose="02010600030101010101" pitchFamily="2" charset="-122"/>
                <a:cs typeface="宋体" panose="02010600030101010101" pitchFamily="2" charset="-122"/>
                <a:sym typeface="+mn-ea"/>
              </a:rPr>
              <a:t>结论限定于SWaT与所选规则集，不能推断自动模型普遍优于专家知识</a:t>
            </a:r>
            <a:endParaRPr sz="1800" b="1">
              <a:solidFill>
                <a:srgbClr val="173B6C"/>
              </a:solidFill>
              <a:latin typeface="宋体" panose="02010600030101010101" pitchFamily="2" charset="-122"/>
              <a:ea typeface="宋体" panose="02010600030101010101" pitchFamily="2" charset="-122"/>
              <a:cs typeface="宋体" panose="02010600030101010101" pitchFamily="2" charset="-122"/>
            </a:endParaRPr>
          </a:p>
        </p:txBody>
      </p:sp>
      <p:sp>
        <p:nvSpPr>
          <p:cNvPr id="18"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22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 name="矩形 14"/>
          <p:cNvSpPr>
            <a:spLocks noGrp="1"/>
          </p:cNvSpPr>
          <p:nvPr/>
        </p:nvSpPr>
        <p:spPr>
          <a:xfrm>
            <a:off x="457200" y="209550"/>
            <a:ext cx="76200" cy="457200"/>
          </a:xfrm>
          <a:prstGeom prst="rect">
            <a:avLst/>
          </a:prstGeom>
          <a:solidFill>
            <a:srgbClr val="00AFA8"/>
          </a:solidFill>
          <a:ln w="0">
            <a:noFill/>
          </a:ln>
        </p:spPr>
      </p:sp>
      <p:sp>
        <p:nvSpPr>
          <p:cNvPr id="2" name="03 实验评估"/>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03 实验评估</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3.2 模型可理解性：核查依赖关系与异常变量"/>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黑体" panose="02010609060101010101" charset="-122"/>
              </a:rPr>
              <a:t> </a:t>
            </a:r>
            <a:r>
              <a:rPr lang="zh-CN" sz="2250" b="1">
                <a:solidFill>
                  <a:srgbClr val="007E78"/>
                </a:solidFill>
                <a:latin typeface="黑体" panose="02010609060101010101" charset="-122"/>
                <a:ea typeface="黑体" panose="02010609060101010101" charset="-122"/>
                <a:cs typeface="黑体" panose="02010609060101010101" charset="-122"/>
              </a:rPr>
              <a:t>报警</a:t>
            </a:r>
            <a:r>
              <a:rPr sz="2250" b="1">
                <a:solidFill>
                  <a:srgbClr val="007E78"/>
                </a:solidFill>
                <a:latin typeface="黑体" panose="02010609060101010101" charset="-122"/>
                <a:ea typeface="黑体" panose="02010609060101010101" charset="-122"/>
                <a:cs typeface="黑体" panose="02010609060101010101" charset="-122"/>
              </a:rPr>
              <a:t>可理解性：</a:t>
            </a:r>
            <a:r>
              <a:rPr lang="zh-CN" sz="2250" b="1">
                <a:solidFill>
                  <a:srgbClr val="007E78"/>
                </a:solidFill>
                <a:latin typeface="黑体" panose="02010609060101010101" charset="-122"/>
                <a:ea typeface="黑体" panose="02010609060101010101" charset="-122"/>
                <a:cs typeface="黑体" panose="02010609060101010101" charset="-122"/>
              </a:rPr>
              <a:t>展示如何追踪</a:t>
            </a:r>
            <a:r>
              <a:rPr lang="zh-CN" sz="2250" b="1">
                <a:solidFill>
                  <a:srgbClr val="007E78"/>
                </a:solidFill>
                <a:latin typeface="黑体" panose="02010609060101010101" charset="-122"/>
                <a:ea typeface="黑体" panose="02010609060101010101" charset="-122"/>
                <a:cs typeface="黑体" panose="02010609060101010101" charset="-122"/>
              </a:rPr>
              <a:t>告警</a:t>
            </a:r>
            <a:endParaRPr lang="zh-CN" sz="2250" b="1">
              <a:solidFill>
                <a:srgbClr val="007E78"/>
              </a:solidFill>
              <a:latin typeface="黑体" panose="02010609060101010101" charset="-122"/>
              <a:ea typeface="黑体" panose="02010609060101010101" charset="-122"/>
              <a:cs typeface="黑体" panose="02010609060101010101" charset="-122"/>
            </a:endParaRPr>
          </a:p>
        </p:txBody>
      </p:sp>
      <p:pic>
        <p:nvPicPr>
          <p:cNvPr id="6" name="图片 5"/>
          <p:cNvPicPr>
            <a:picLocks noChangeAspect="1"/>
          </p:cNvPicPr>
          <p:nvPr/>
        </p:nvPicPr>
        <p:blipFill>
          <a:blip r:embed="rId2"/>
          <a:stretch>
            <a:fillRect/>
          </a:stretch>
        </p:blipFill>
        <p:spPr>
          <a:xfrm>
            <a:off x="623570" y="1938020"/>
            <a:ext cx="5297805" cy="3806825"/>
          </a:xfrm>
          <a:prstGeom prst="rect">
            <a:avLst/>
          </a:prstGeom>
        </p:spPr>
      </p:pic>
      <p:sp>
        <p:nvSpPr>
          <p:cNvPr id="10" name="告警变量通常靠近真实攻击点。&#10;图8排除不连通节点；依赖图用于&#10;缩小调查"/>
          <p:cNvSpPr>
            <a:spLocks noGrp="1"/>
          </p:cNvSpPr>
          <p:nvPr/>
        </p:nvSpPr>
        <p:spPr>
          <a:xfrm>
            <a:off x="6298565" y="4652645"/>
            <a:ext cx="5518150" cy="11811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1" name="矩形 10"/>
          <p:cNvSpPr>
            <a:spLocks noGrp="1"/>
          </p:cNvSpPr>
          <p:nvPr/>
        </p:nvSpPr>
        <p:spPr>
          <a:xfrm>
            <a:off x="476250" y="5997575"/>
            <a:ext cx="11239500" cy="504825"/>
          </a:xfrm>
          <a:prstGeom prst="rect">
            <a:avLst/>
          </a:prstGeom>
          <a:solidFill>
            <a:srgbClr val="E8F7F6"/>
          </a:solidFill>
          <a:ln w="0">
            <a:noFill/>
          </a:ln>
        </p:spPr>
      </p:sp>
      <p:sp>
        <p:nvSpPr>
          <p:cNvPr id="12" name="操作路径：查看异常变量，再沿依赖关系核对预测、测量与实际工况"/>
          <p:cNvSpPr>
            <a:spLocks noGrp="1"/>
          </p:cNvSpPr>
          <p:nvPr/>
        </p:nvSpPr>
        <p:spPr>
          <a:xfrm>
            <a:off x="647700" y="609282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操作路径：查看异常变量，再沿依赖关系核对预测、测量与实际工况</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16"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23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
        <p:nvSpPr>
          <p:cNvPr id="13" name="文本框 12"/>
          <p:cNvSpPr txBox="1"/>
          <p:nvPr/>
        </p:nvSpPr>
        <p:spPr>
          <a:xfrm>
            <a:off x="695325" y="1484630"/>
            <a:ext cx="8707120" cy="645160"/>
          </a:xfrm>
          <a:prstGeom prst="rect">
            <a:avLst/>
          </a:prstGeom>
          <a:noFill/>
        </p:spPr>
        <p:txBody>
          <a:bodyPr wrap="square" rtlCol="0">
            <a:spAutoFit/>
          </a:bodyPr>
          <a:p>
            <a:r>
              <a:rPr lang="zh-CN" altLang="en-US">
                <a:latin typeface="宋体" panose="02010600030101010101" pitchFamily="2" charset="-122"/>
                <a:ea typeface="宋体" panose="02010600030101010101" pitchFamily="2" charset="-122"/>
                <a:cs typeface="宋体" panose="02010600030101010101" pitchFamily="2" charset="-122"/>
              </a:rPr>
              <a:t>本次考虑</a:t>
            </a:r>
            <a:r>
              <a:rPr lang="en-US" altLang="zh-CN">
                <a:latin typeface="宋体" panose="02010600030101010101" pitchFamily="2" charset="-122"/>
                <a:ea typeface="宋体" panose="02010600030101010101" pitchFamily="2" charset="-122"/>
                <a:cs typeface="宋体" panose="02010600030101010101" pitchFamily="2" charset="-122"/>
              </a:rPr>
              <a:t>SWaT</a:t>
            </a:r>
            <a:r>
              <a:rPr lang="zh-CN" altLang="en-US">
                <a:latin typeface="宋体" panose="02010600030101010101" pitchFamily="2" charset="-122"/>
                <a:ea typeface="宋体" panose="02010600030101010101" pitchFamily="2" charset="-122"/>
                <a:cs typeface="宋体" panose="02010600030101010101" pitchFamily="2" charset="-122"/>
              </a:rPr>
              <a:t>数据集的第</a:t>
            </a:r>
            <a:r>
              <a:rPr lang="en-US" altLang="zh-CN">
                <a:latin typeface="宋体" panose="02010600030101010101" pitchFamily="2" charset="-122"/>
                <a:ea typeface="宋体" panose="02010600030101010101" pitchFamily="2" charset="-122"/>
                <a:cs typeface="宋体" panose="02010600030101010101" pitchFamily="2" charset="-122"/>
              </a:rPr>
              <a:t>8</a:t>
            </a:r>
            <a:r>
              <a:rPr lang="zh-CN" altLang="en-US">
                <a:latin typeface="宋体" panose="02010600030101010101" pitchFamily="2" charset="-122"/>
                <a:ea typeface="宋体" panose="02010600030101010101" pitchFamily="2" charset="-122"/>
                <a:cs typeface="宋体" panose="02010600030101010101" pitchFamily="2" charset="-122"/>
              </a:rPr>
              <a:t>次攻击</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攻击者对压力计</a:t>
            </a:r>
            <a:r>
              <a:rPr lang="en-US" altLang="zh-CN">
                <a:latin typeface="宋体" panose="02010600030101010101" pitchFamily="2" charset="-122"/>
                <a:ea typeface="宋体" panose="02010600030101010101" pitchFamily="2" charset="-122"/>
                <a:cs typeface="宋体" panose="02010600030101010101" pitchFamily="2" charset="-122"/>
              </a:rPr>
              <a:t>DPIT301</a:t>
            </a:r>
            <a:r>
              <a:rPr lang="zh-CN" altLang="en-US">
                <a:latin typeface="宋体" panose="02010600030101010101" pitchFamily="2" charset="-122"/>
                <a:ea typeface="宋体" panose="02010600030101010101" pitchFamily="2" charset="-122"/>
                <a:cs typeface="宋体" panose="02010600030101010101" pitchFamily="2" charset="-122"/>
              </a:rPr>
              <a:t>为目标</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将其设置为更高的值</a:t>
            </a:r>
            <a:r>
              <a:rPr lang="en-US" altLang="zh-CN">
                <a:latin typeface="宋体" panose="02010600030101010101" pitchFamily="2" charset="-122"/>
                <a:ea typeface="宋体" panose="02010600030101010101" pitchFamily="2" charset="-122"/>
                <a:cs typeface="宋体" panose="02010600030101010101" pitchFamily="2" charset="-122"/>
              </a:rPr>
              <a:t>。</a:t>
            </a:r>
            <a:endParaRPr lang="en-US" altLang="zh-CN">
              <a:latin typeface="宋体" panose="02010600030101010101" pitchFamily="2" charset="-122"/>
              <a:ea typeface="宋体" panose="02010600030101010101" pitchFamily="2" charset="-122"/>
              <a:cs typeface="宋体" panose="02010600030101010101" pitchFamily="2" charset="-122"/>
            </a:endParaRPr>
          </a:p>
        </p:txBody>
      </p:sp>
      <p:sp>
        <p:nvSpPr>
          <p:cNvPr id="18" name="文本框 17"/>
          <p:cNvSpPr txBox="1"/>
          <p:nvPr/>
        </p:nvSpPr>
        <p:spPr>
          <a:xfrm>
            <a:off x="6816090" y="2132965"/>
            <a:ext cx="4358640" cy="3476625"/>
          </a:xfrm>
          <a:prstGeom prst="rect">
            <a:avLst/>
          </a:prstGeom>
          <a:noFill/>
        </p:spPr>
        <p:txBody>
          <a:bodyPr wrap="square" rtlCol="0">
            <a:noAutofit/>
          </a:bodyPr>
          <a:p>
            <a:pPr algn="l">
              <a:buClrTx/>
              <a:buSzTx/>
              <a:buFontTx/>
              <a:defRPr sz="2025" b="1">
                <a:solidFill>
                  <a:srgbClr val="007E78"/>
                </a:solidFill>
                <a:latin typeface="PingFang SC" panose="020B0400000000000000" charset="-122"/>
                <a:ea typeface="PingFang SC" panose="020B0400000000000000" charset="-122"/>
                <a:cs typeface="PingFang SC" panose="020B0400000000000000" charset="-122"/>
              </a:defRPr>
            </a:pPr>
            <a:r>
              <a:rPr>
                <a:latin typeface="黑体" panose="02010609060101010101" charset="-122"/>
                <a:ea typeface="黑体" panose="02010609060101010101" charset="-122"/>
              </a:rPr>
              <a:t>① 识别告警变量</a:t>
            </a:r>
            <a:endParaRPr>
              <a:latin typeface="黑体" panose="02010609060101010101" charset="-122"/>
              <a:ea typeface="黑体" panose="02010609060101010101" charset="-122"/>
            </a:endParaRPr>
          </a:p>
          <a:p>
            <a:r>
              <a:rPr lang="en-US" altLang="zh-CN">
                <a:latin typeface="宋体" panose="02010600030101010101" pitchFamily="2" charset="-122"/>
                <a:ea typeface="宋体" panose="02010600030101010101" pitchFamily="2" charset="-122"/>
                <a:cs typeface="宋体" panose="02010600030101010101" pitchFamily="2" charset="-122"/>
              </a:rPr>
              <a:t>DPIT301 </a:t>
            </a:r>
            <a:r>
              <a:rPr lang="zh-CN" altLang="en-US">
                <a:latin typeface="宋体" panose="02010600030101010101" pitchFamily="2" charset="-122"/>
                <a:ea typeface="宋体" panose="02010600030101010101" pitchFamily="2" charset="-122"/>
                <a:cs typeface="宋体" panose="02010600030101010101" pitchFamily="2" charset="-122"/>
              </a:rPr>
              <a:t>与 </a:t>
            </a:r>
            <a:r>
              <a:rPr lang="en-US" altLang="zh-CN">
                <a:latin typeface="宋体" panose="02010600030101010101" pitchFamily="2" charset="-122"/>
                <a:ea typeface="宋体" panose="02010600030101010101" pitchFamily="2" charset="-122"/>
                <a:cs typeface="宋体" panose="02010600030101010101" pitchFamily="2" charset="-122"/>
              </a:rPr>
              <a:t>LIT401 </a:t>
            </a:r>
            <a:r>
              <a:rPr lang="zh-CN" altLang="en-US">
                <a:latin typeface="宋体" panose="02010600030101010101" pitchFamily="2" charset="-122"/>
                <a:ea typeface="宋体" panose="02010600030101010101" pitchFamily="2" charset="-122"/>
                <a:cs typeface="宋体" panose="02010600030101010101" pitchFamily="2" charset="-122"/>
              </a:rPr>
              <a:t>出现告警，为操作人员提供优先检查的对象。</a:t>
            </a:r>
            <a:endParaRPr lang="zh-CN" altLang="en-US">
              <a:latin typeface="宋体" panose="02010600030101010101" pitchFamily="2" charset="-122"/>
              <a:ea typeface="宋体" panose="02010600030101010101" pitchFamily="2" charset="-122"/>
              <a:cs typeface="宋体" panose="02010600030101010101" pitchFamily="2" charset="-122"/>
            </a:endParaRPr>
          </a:p>
          <a:p>
            <a:pPr algn="l">
              <a:buClrTx/>
              <a:buSzTx/>
              <a:buFontTx/>
              <a:defRPr sz="2025" b="1">
                <a:solidFill>
                  <a:srgbClr val="007E78"/>
                </a:solidFill>
                <a:latin typeface="PingFang SC" panose="020B0400000000000000" charset="-122"/>
                <a:ea typeface="PingFang SC" panose="020B0400000000000000" charset="-122"/>
                <a:cs typeface="PingFang SC" panose="020B0400000000000000" charset="-122"/>
              </a:defRPr>
            </a:pPr>
            <a:endParaRPr>
              <a:latin typeface="黑体" panose="02010609060101010101" charset="-122"/>
              <a:ea typeface="黑体" panose="02010609060101010101" charset="-122"/>
            </a:endParaRPr>
          </a:p>
          <a:p>
            <a:pPr algn="l">
              <a:buClrTx/>
              <a:buSzTx/>
              <a:buFontTx/>
              <a:defRPr sz="2025" b="1">
                <a:solidFill>
                  <a:srgbClr val="007E78"/>
                </a:solidFill>
                <a:latin typeface="PingFang SC" panose="020B0400000000000000" charset="-122"/>
                <a:ea typeface="PingFang SC" panose="020B0400000000000000" charset="-122"/>
                <a:cs typeface="PingFang SC" panose="020B0400000000000000" charset="-122"/>
              </a:defRPr>
            </a:pPr>
            <a:r>
              <a:rPr>
                <a:latin typeface="黑体" panose="02010609060101010101" charset="-122"/>
                <a:ea typeface="黑体" panose="02010609060101010101" charset="-122"/>
              </a:rPr>
              <a:t>② 查看关联关系</a:t>
            </a:r>
            <a:endParaRPr sz="2025" b="1">
              <a:solidFill>
                <a:srgbClr val="007E78"/>
              </a:solidFill>
              <a:latin typeface="黑体" panose="02010609060101010101" charset="-122"/>
              <a:ea typeface="黑体" panose="02010609060101010101" charset="-122"/>
            </a:endParaRPr>
          </a:p>
          <a:p>
            <a:r>
              <a:rPr lang="zh-CN" altLang="en-US">
                <a:latin typeface="宋体" panose="02010600030101010101" pitchFamily="2" charset="-122"/>
                <a:ea typeface="宋体" panose="02010600030101010101" pitchFamily="2" charset="-122"/>
              </a:rPr>
              <a:t>沿模型中的变量依赖关系，检查告警变量及其相邻变量，缩小需要核查</a:t>
            </a:r>
            <a:r>
              <a:rPr lang="zh-CN" altLang="en-US">
                <a:latin typeface="宋体" panose="02010600030101010101" pitchFamily="2" charset="-122"/>
                <a:ea typeface="宋体" panose="02010600030101010101" pitchFamily="2" charset="-122"/>
              </a:rPr>
              <a:t>的过程范围。</a:t>
            </a:r>
            <a:endParaRPr lang="zh-CN" altLang="en-US"/>
          </a:p>
          <a:p>
            <a:pPr algn="l">
              <a:buClrTx/>
              <a:buSzTx/>
              <a:buFontTx/>
              <a:defRPr sz="2025" b="1">
                <a:solidFill>
                  <a:srgbClr val="007E78"/>
                </a:solidFill>
                <a:latin typeface="PingFang SC" panose="020B0400000000000000" charset="-122"/>
                <a:ea typeface="PingFang SC" panose="020B0400000000000000" charset="-122"/>
                <a:cs typeface="PingFang SC" panose="020B0400000000000000" charset="-122"/>
              </a:defRPr>
            </a:pPr>
            <a:endParaRPr>
              <a:latin typeface="黑体" panose="02010609060101010101" charset="-122"/>
              <a:ea typeface="黑体" panose="02010609060101010101" charset="-122"/>
            </a:endParaRPr>
          </a:p>
          <a:p>
            <a:pPr algn="l">
              <a:buClrTx/>
              <a:buSzTx/>
              <a:buFontTx/>
              <a:defRPr sz="2025" b="1">
                <a:solidFill>
                  <a:srgbClr val="007E78"/>
                </a:solidFill>
                <a:latin typeface="PingFang SC" panose="020B0400000000000000" charset="-122"/>
                <a:ea typeface="PingFang SC" panose="020B0400000000000000" charset="-122"/>
                <a:cs typeface="PingFang SC" panose="020B0400000000000000" charset="-122"/>
              </a:defRPr>
            </a:pPr>
            <a:r>
              <a:rPr>
                <a:latin typeface="黑体" panose="02010609060101010101" charset="-122"/>
                <a:ea typeface="黑体" panose="02010609060101010101" charset="-122"/>
              </a:rPr>
              <a:t>③ 结合时序曲线核查</a:t>
            </a:r>
            <a:endParaRPr sz="2025" b="1">
              <a:solidFill>
                <a:srgbClr val="007E78"/>
              </a:solidFill>
              <a:latin typeface="黑体" panose="02010609060101010101" charset="-122"/>
              <a:ea typeface="黑体" panose="02010609060101010101" charset="-122"/>
            </a:endParaRPr>
          </a:p>
          <a:p>
            <a:r>
              <a:rPr lang="zh-CN" altLang="en-US">
                <a:latin typeface="宋体" panose="02010600030101010101" pitchFamily="2" charset="-122"/>
                <a:ea typeface="宋体" panose="02010600030101010101" pitchFamily="2" charset="-122"/>
              </a:rPr>
              <a:t>进一步比较实测值与预测值，并结合实际工况，分析异常来源</a:t>
            </a:r>
            <a:r>
              <a:rPr lang="en-US" altLang="zh-CN">
                <a:latin typeface="宋体" panose="02010600030101010101" pitchFamily="2" charset="-122"/>
                <a:ea typeface="宋体" panose="02010600030101010101" pitchFamily="2" charset="-122"/>
              </a:rPr>
              <a:t>。</a:t>
            </a:r>
            <a:endParaRPr lang="en-US" altLang="zh-CN">
              <a:latin typeface="宋体" panose="02010600030101010101" pitchFamily="2" charset="-122"/>
              <a:ea typeface="宋体" panose="02010600030101010101" pitchFamily="2" charset="-122"/>
            </a:endParaRPr>
          </a:p>
        </p:txBody>
      </p:sp>
      <p:sp>
        <p:nvSpPr>
          <p:cNvPr id="20" name="文本框 19"/>
          <p:cNvSpPr txBox="1"/>
          <p:nvPr/>
        </p:nvSpPr>
        <p:spPr>
          <a:xfrm>
            <a:off x="704850" y="5594350"/>
            <a:ext cx="2366645" cy="306705"/>
          </a:xfrm>
          <a:prstGeom prst="rect">
            <a:avLst/>
          </a:prstGeom>
          <a:noFill/>
        </p:spPr>
        <p:txBody>
          <a:bodyPr wrap="square" rtlCol="0">
            <a:spAutoFit/>
          </a:bodyPr>
          <a:p>
            <a:r>
              <a:rPr sz="1400">
                <a:solidFill>
                  <a:srgbClr val="57697B"/>
                </a:solidFill>
                <a:latin typeface="宋体" panose="02010600030101010101" pitchFamily="2" charset="-122"/>
                <a:ea typeface="宋体" panose="02010600030101010101" pitchFamily="2" charset="-122"/>
                <a:cs typeface="宋体" panose="02010600030101010101" pitchFamily="2" charset="-122"/>
              </a:rPr>
              <a:t>方程之间关系依赖图</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 name="矩形 15"/>
          <p:cNvSpPr>
            <a:spLocks noGrp="1"/>
          </p:cNvSpPr>
          <p:nvPr/>
        </p:nvSpPr>
        <p:spPr>
          <a:xfrm>
            <a:off x="457200" y="209550"/>
            <a:ext cx="76200" cy="457200"/>
          </a:xfrm>
          <a:prstGeom prst="rect">
            <a:avLst/>
          </a:prstGeom>
          <a:solidFill>
            <a:srgbClr val="00AFA8"/>
          </a:solidFill>
          <a:ln w="0">
            <a:noFill/>
          </a:ln>
        </p:spPr>
      </p:sp>
      <p:sp>
        <p:nvSpPr>
          <p:cNvPr id="2" name="03 实验评估"/>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03 实验评估</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3.2 报警可理解性：结合时间曲线理解原因"/>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报警可理解性：结合时间曲线理解原因</a:t>
            </a:r>
            <a:endParaRPr sz="2250" b="1">
              <a:solidFill>
                <a:srgbClr val="007E78"/>
              </a:solidFill>
              <a:latin typeface="黑体" panose="02010609060101010101" charset="-122"/>
              <a:ea typeface="黑体" panose="02010609060101010101" charset="-122"/>
              <a:cs typeface="PingFang SC" panose="020B0400000000000000" charset="-122"/>
            </a:endParaRPr>
          </a:p>
        </p:txBody>
      </p:sp>
      <p:pic>
        <p:nvPicPr>
          <p:cNvPr id="6" name="图片 5"/>
          <p:cNvPicPr>
            <a:picLocks noChangeAspect="1"/>
          </p:cNvPicPr>
          <p:nvPr/>
        </p:nvPicPr>
        <p:blipFill>
          <a:blip r:embed="rId2"/>
          <a:stretch>
            <a:fillRect/>
          </a:stretch>
        </p:blipFill>
        <p:spPr>
          <a:xfrm>
            <a:off x="523875" y="1913174"/>
            <a:ext cx="6953250" cy="2698276"/>
          </a:xfrm>
          <a:prstGeom prst="rect">
            <a:avLst/>
          </a:prstGeom>
        </p:spPr>
      </p:pic>
      <p:sp>
        <p:nvSpPr>
          <p:cNvPr id="7" name="DPIT301：直接攻击目标"/>
          <p:cNvSpPr>
            <a:spLocks noGrp="1"/>
          </p:cNvSpPr>
          <p:nvPr/>
        </p:nvSpPr>
        <p:spPr>
          <a:xfrm>
            <a:off x="7905750" y="1714500"/>
            <a:ext cx="366712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DPIT301：直接攻击目标</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8" name="攻击将压力测量值抬高到40以上。测量与预测的差异，为进一步调查提供线索"/>
          <p:cNvSpPr>
            <a:spLocks noGrp="1"/>
          </p:cNvSpPr>
          <p:nvPr/>
        </p:nvSpPr>
        <p:spPr>
          <a:xfrm>
            <a:off x="7905750" y="2133600"/>
            <a:ext cx="3667125" cy="14382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攻击将压力测量值抬高到40以上。测量与预测的差异，为进一步调查提供线索。</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9" name="LIT401：相邻关联变量"/>
          <p:cNvSpPr>
            <a:spLocks noGrp="1"/>
          </p:cNvSpPr>
          <p:nvPr/>
        </p:nvSpPr>
        <p:spPr>
          <a:xfrm>
            <a:off x="7905750" y="3771900"/>
            <a:ext cx="3667125"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LIT401：相邻关联变量</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10" name="位于压力测量之后的水箱，出现关联告警。告警位置与直接攻击位置需要区分。"/>
          <p:cNvSpPr>
            <a:spLocks noGrp="1"/>
          </p:cNvSpPr>
          <p:nvPr/>
        </p:nvSpPr>
        <p:spPr>
          <a:xfrm>
            <a:off x="7905750" y="4191000"/>
            <a:ext cx="3667125" cy="145732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位于压力测量之后的水箱，出现关联告警。告警位置与直接攻击位置需要区分。</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1" name="绿色：实际测量    紫红色：模型预测    红色阴影：攻击区间"/>
          <p:cNvSpPr>
            <a:spLocks noGrp="1"/>
          </p:cNvSpPr>
          <p:nvPr/>
        </p:nvSpPr>
        <p:spPr>
          <a:xfrm>
            <a:off x="619125" y="5095875"/>
            <a:ext cx="6953250" cy="495300"/>
          </a:xfrm>
          <a:prstGeom prst="rect">
            <a:avLst/>
          </a:prstGeom>
          <a:noFill/>
          <a:ln w="0">
            <a:noFill/>
          </a:ln>
        </p:spPr>
        <p:txBody>
          <a:bodyPr wrap="square" lIns="0" tIns="0" rIns="0" bIns="0" anchor="t">
            <a:noAutofit/>
          </a:bodyPr>
          <a:lstStyle>
            <a:defPPr algn="l">
              <a:defRPr sz="1725" b="0">
                <a:solidFill>
                  <a:srgbClr val="57697B"/>
                </a:solidFill>
                <a:latin typeface="PingFang SC" panose="020B0400000000000000" charset="-122"/>
                <a:ea typeface="PingFang SC" panose="020B0400000000000000" charset="-122"/>
                <a:cs typeface="PingFang SC" panose="020B0400000000000000" charset="-122"/>
              </a:defRPr>
            </a:defPPr>
          </a:lstStyle>
          <a:p>
            <a:pPr algn="l">
              <a:buNone/>
              <a:defRPr sz="1725" b="0">
                <a:solidFill>
                  <a:srgbClr val="57697B"/>
                </a:solidFill>
                <a:latin typeface="PingFang SC" panose="020B0400000000000000" charset="-122"/>
                <a:ea typeface="PingFang SC" panose="020B0400000000000000" charset="-122"/>
                <a:cs typeface="PingFang SC" panose="020B0400000000000000" charset="-122"/>
              </a:defRPr>
            </a:pPr>
            <a:r>
              <a:rPr sz="1725" b="0">
                <a:solidFill>
                  <a:srgbClr val="57697B"/>
                </a:solidFill>
                <a:latin typeface="宋体" panose="02010600030101010101" pitchFamily="2" charset="-122"/>
                <a:ea typeface="宋体" panose="02010600030101010101" pitchFamily="2" charset="-122"/>
                <a:cs typeface="宋体" panose="02010600030101010101" pitchFamily="2" charset="-122"/>
              </a:rPr>
              <a:t>绿色：实际测量    紫红色：模型预测    红色阴影：攻击区间</a:t>
            </a:r>
            <a:endParaRPr sz="1725" b="0">
              <a:solidFill>
                <a:srgbClr val="57697B"/>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矩形 11"/>
          <p:cNvSpPr>
            <a:spLocks noGrp="1"/>
          </p:cNvSpPr>
          <p:nvPr/>
        </p:nvSpPr>
        <p:spPr>
          <a:xfrm>
            <a:off x="476250" y="5762625"/>
            <a:ext cx="11239500" cy="504825"/>
          </a:xfrm>
          <a:prstGeom prst="rect">
            <a:avLst/>
          </a:prstGeom>
          <a:solidFill>
            <a:srgbClr val="E8F7F6"/>
          </a:solidFill>
          <a:ln w="0">
            <a:noFill/>
          </a:ln>
        </p:spPr>
      </p:sp>
      <p:sp>
        <p:nvSpPr>
          <p:cNvPr id="13" name="依赖关系缩小排查范围，时间曲线与现场知识共同支持告警核查"/>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黑体" panose="02010609060101010101" charset="-122"/>
                <a:ea typeface="黑体" panose="02010609060101010101" charset="-122"/>
                <a:cs typeface="PingFang SC" panose="020B0400000000000000" charset="-122"/>
              </a:rPr>
              <a:t>依赖关系缩小排查范围，时间曲线与现场知识共同支持告警核查</a:t>
            </a:r>
            <a:endParaRPr sz="1800" b="1">
              <a:solidFill>
                <a:srgbClr val="173B6C"/>
              </a:solidFill>
              <a:latin typeface="黑体" panose="02010609060101010101" charset="-122"/>
              <a:ea typeface="黑体" panose="02010609060101010101" charset="-122"/>
              <a:cs typeface="PingFang SC" panose="020B0400000000000000" charset="-122"/>
            </a:endParaRPr>
          </a:p>
        </p:txBody>
      </p:sp>
      <p:sp>
        <p:nvSpPr>
          <p:cNvPr id="17"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24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0" name="矩形 19"/>
          <p:cNvSpPr>
            <a:spLocks noGrp="1"/>
          </p:cNvSpPr>
          <p:nvPr/>
        </p:nvSpPr>
        <p:spPr>
          <a:xfrm>
            <a:off x="457200" y="209550"/>
            <a:ext cx="76200" cy="457200"/>
          </a:xfrm>
          <a:prstGeom prst="rect">
            <a:avLst/>
          </a:prstGeom>
          <a:solidFill>
            <a:srgbClr val="00AFA8"/>
          </a:solidFill>
          <a:ln w="0">
            <a:noFill/>
          </a:ln>
        </p:spPr>
      </p:sp>
      <p:sp>
        <p:nvSpPr>
          <p:cNvPr id="2" name="03 实验评估"/>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03 实验评估</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3.2 从业者验证：理解报警并提出调查措施"/>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从业者验证：理解报警并提出调查措施</a:t>
            </a:r>
            <a:endParaRPr sz="2250" b="1">
              <a:solidFill>
                <a:srgbClr val="007E78"/>
              </a:solidFill>
              <a:latin typeface="黑体" panose="02010609060101010101" charset="-122"/>
              <a:ea typeface="黑体" panose="02010609060101010101" charset="-122"/>
              <a:cs typeface="PingFang SC" panose="020B0400000000000000" charset="-122"/>
            </a:endParaRPr>
          </a:p>
        </p:txBody>
      </p:sp>
      <p:sp>
        <p:nvSpPr>
          <p:cNvPr id="6" name="研究设计"/>
          <p:cNvSpPr>
            <a:spLocks noGrp="1"/>
          </p:cNvSpPr>
          <p:nvPr/>
        </p:nvSpPr>
        <p:spPr>
          <a:xfrm>
            <a:off x="571500" y="1714500"/>
            <a:ext cx="5048250"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研究设计</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7" name="6名OT从业者各解读3个真实攻击及1个误报，共18次真实攻击解读，并非"/>
          <p:cNvSpPr>
            <a:spLocks noGrp="1"/>
          </p:cNvSpPr>
          <p:nvPr/>
        </p:nvSpPr>
        <p:spPr>
          <a:xfrm>
            <a:off x="571500" y="2133600"/>
            <a:ext cx="5048250" cy="14859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6名OT从业者各解读3个真实攻击及1个误报，共18次真实攻击解读，并非18种不同攻击。访谈平均35分钟</a:t>
            </a:r>
            <a:r>
              <a:rPr sz="1875" b="0">
                <a:solidFill>
                  <a:srgbClr val="203040"/>
                </a:solidFill>
                <a:latin typeface="PingFang SC" panose="020B0400000000000000" charset="-122"/>
                <a:ea typeface="PingFang SC" panose="020B0400000000000000" charset="-122"/>
                <a:cs typeface="PingFang SC" panose="020B0400000000000000" charset="-122"/>
              </a:rPr>
              <a:t>。</a:t>
            </a:r>
            <a:endParaRPr sz="1875" b="0">
              <a:solidFill>
                <a:srgbClr val="203040"/>
              </a:solidFill>
              <a:latin typeface="PingFang SC" panose="020B0400000000000000" charset="-122"/>
              <a:ea typeface="PingFang SC" panose="020B0400000000000000" charset="-122"/>
              <a:cs typeface="PingFang SC" panose="020B0400000000000000" charset="-122"/>
            </a:endParaRPr>
          </a:p>
        </p:txBody>
      </p:sp>
      <p:sp>
        <p:nvSpPr>
          <p:cNvPr id="8" name="误报识别并非完全一致"/>
          <p:cNvSpPr>
            <a:spLocks noGrp="1"/>
          </p:cNvSpPr>
          <p:nvPr/>
        </p:nvSpPr>
        <p:spPr>
          <a:xfrm>
            <a:off x="571500" y="3895725"/>
            <a:ext cx="5048250" cy="3619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PingFang SC" panose="020B0400000000000000" charset="-122"/>
              </a:rPr>
              <a:t>误报识别并非完全一致</a:t>
            </a:r>
            <a:endParaRPr sz="2025" b="1">
              <a:solidFill>
                <a:srgbClr val="007E78"/>
              </a:solidFill>
              <a:latin typeface="黑体" panose="02010609060101010101" charset="-122"/>
              <a:ea typeface="黑体" panose="02010609060101010101" charset="-122"/>
              <a:cs typeface="PingFang SC" panose="020B0400000000000000" charset="-122"/>
            </a:endParaRPr>
          </a:p>
        </p:txBody>
      </p:sp>
      <p:sp>
        <p:nvSpPr>
          <p:cNvPr id="9" name="3人明确识别误报，另有2人表示找不到攻击。模型上下文有帮助，但现场判断"/>
          <p:cNvSpPr>
            <a:spLocks noGrp="1"/>
          </p:cNvSpPr>
          <p:nvPr/>
        </p:nvSpPr>
        <p:spPr>
          <a:xfrm>
            <a:off x="571500" y="4314825"/>
            <a:ext cx="5048250" cy="1409700"/>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宋体" panose="02010600030101010101" pitchFamily="2" charset="-122"/>
              </a:rPr>
              <a:t>3人明确识别误报，另有2人表示找不到攻击。模型上下文有帮助，但现场判断仍需要工艺知识。</a:t>
            </a:r>
            <a:endParaRPr sz="1875" b="0">
              <a:solidFill>
                <a:srgbClr val="203040"/>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17 / 18"/>
          <p:cNvSpPr>
            <a:spLocks noGrp="1"/>
          </p:cNvSpPr>
          <p:nvPr/>
        </p:nvSpPr>
        <p:spPr>
          <a:xfrm>
            <a:off x="6524625" y="1733550"/>
            <a:ext cx="4905375" cy="600075"/>
          </a:xfrm>
          <a:prstGeom prst="rect">
            <a:avLst/>
          </a:prstGeom>
          <a:noFill/>
          <a:ln w="0">
            <a:noFill/>
          </a:ln>
        </p:spPr>
        <p:txBody>
          <a:bodyPr wrap="square" lIns="0" tIns="0" rIns="0" bIns="0" anchor="t">
            <a:noAutofit/>
          </a:bodyPr>
          <a:lstStyle>
            <a:defPPr algn="l">
              <a:defRPr sz="337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375" b="1">
                <a:solidFill>
                  <a:srgbClr val="007E78"/>
                </a:solidFill>
                <a:latin typeface="PingFang SC" panose="020B0400000000000000" charset="-122"/>
                <a:ea typeface="PingFang SC" panose="020B0400000000000000" charset="-122"/>
                <a:cs typeface="PingFang SC" panose="020B0400000000000000" charset="-122"/>
              </a:defRPr>
            </a:pPr>
            <a:r>
              <a:rPr sz="3375" b="1">
                <a:solidFill>
                  <a:srgbClr val="007E78"/>
                </a:solidFill>
                <a:latin typeface="黑体" panose="02010609060101010101" charset="-122"/>
                <a:ea typeface="黑体" panose="02010609060101010101" charset="-122"/>
                <a:cs typeface="PingFang SC" panose="020B0400000000000000" charset="-122"/>
              </a:rPr>
              <a:t>17 / 18</a:t>
            </a:r>
            <a:endParaRPr sz="3375" b="1">
              <a:solidFill>
                <a:srgbClr val="007E78"/>
              </a:solidFill>
              <a:latin typeface="黑体" panose="02010609060101010101" charset="-122"/>
              <a:ea typeface="黑体" panose="02010609060101010101" charset="-122"/>
              <a:cs typeface="PingFang SC" panose="020B0400000000000000" charset="-122"/>
            </a:endParaRPr>
          </a:p>
        </p:txBody>
      </p:sp>
      <p:sp>
        <p:nvSpPr>
          <p:cNvPr id="11" name="18次真实攻击解读中，17次正确"/>
          <p:cNvSpPr>
            <a:spLocks noGrp="1"/>
          </p:cNvSpPr>
          <p:nvPr/>
        </p:nvSpPr>
        <p:spPr>
          <a:xfrm>
            <a:off x="6572250" y="2343150"/>
            <a:ext cx="4857750" cy="447675"/>
          </a:xfrm>
          <a:prstGeom prst="rect">
            <a:avLst/>
          </a:prstGeom>
          <a:noFill/>
          <a:ln w="0">
            <a:noFill/>
          </a:ln>
        </p:spPr>
        <p:txBody>
          <a:bodyPr wrap="square" lIns="0" tIns="0" rIns="0" bIns="0" anchor="t">
            <a:noAutofit/>
          </a:bodyPr>
          <a:lstStyle>
            <a:defPPr algn="l">
              <a:defRPr sz="195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950" b="0">
                <a:solidFill>
                  <a:srgbClr val="203040"/>
                </a:solidFill>
                <a:latin typeface="PingFang SC" panose="020B0400000000000000" charset="-122"/>
                <a:ea typeface="PingFang SC" panose="020B0400000000000000" charset="-122"/>
                <a:cs typeface="PingFang SC" panose="020B0400000000000000" charset="-122"/>
              </a:defRPr>
            </a:pPr>
            <a:r>
              <a:rPr sz="1950" b="0">
                <a:solidFill>
                  <a:srgbClr val="203040"/>
                </a:solidFill>
                <a:latin typeface="PingFang SC" panose="020B0400000000000000" charset="-122"/>
                <a:ea typeface="PingFang SC" panose="020B0400000000000000" charset="-122"/>
                <a:cs typeface="PingFang SC" panose="020B0400000000000000" charset="-122"/>
              </a:rPr>
              <a:t>18次真实攻击解读中，17次正确</a:t>
            </a:r>
            <a:endParaRPr sz="1950" b="0">
              <a:solidFill>
                <a:srgbClr val="203040"/>
              </a:solidFill>
              <a:latin typeface="PingFang SC" panose="020B0400000000000000" charset="-122"/>
              <a:ea typeface="PingFang SC" panose="020B0400000000000000" charset="-122"/>
              <a:cs typeface="PingFang SC" panose="020B0400000000000000" charset="-122"/>
            </a:endParaRPr>
          </a:p>
        </p:txBody>
      </p:sp>
      <p:sp>
        <p:nvSpPr>
          <p:cNvPr id="12" name="6 / 6"/>
          <p:cNvSpPr>
            <a:spLocks noGrp="1"/>
          </p:cNvSpPr>
          <p:nvPr/>
        </p:nvSpPr>
        <p:spPr>
          <a:xfrm>
            <a:off x="6524625" y="3076575"/>
            <a:ext cx="4905375" cy="600075"/>
          </a:xfrm>
          <a:prstGeom prst="rect">
            <a:avLst/>
          </a:prstGeom>
          <a:noFill/>
          <a:ln w="0">
            <a:noFill/>
          </a:ln>
        </p:spPr>
        <p:txBody>
          <a:bodyPr wrap="square" lIns="0" tIns="0" rIns="0" bIns="0" anchor="t">
            <a:noAutofit/>
          </a:bodyPr>
          <a:lstStyle>
            <a:defPPr algn="l">
              <a:defRPr sz="337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3375" b="1">
                <a:solidFill>
                  <a:srgbClr val="007E78"/>
                </a:solidFill>
                <a:latin typeface="PingFang SC" panose="020B0400000000000000" charset="-122"/>
                <a:ea typeface="PingFang SC" panose="020B0400000000000000" charset="-122"/>
                <a:cs typeface="PingFang SC" panose="020B0400000000000000" charset="-122"/>
              </a:defRPr>
            </a:pPr>
            <a:r>
              <a:rPr sz="3375" b="1">
                <a:solidFill>
                  <a:srgbClr val="007E78"/>
                </a:solidFill>
                <a:latin typeface="黑体" panose="02010609060101010101" charset="-122"/>
                <a:ea typeface="黑体" panose="02010609060101010101" charset="-122"/>
                <a:cs typeface="PingFang SC" panose="020B0400000000000000" charset="-122"/>
              </a:rPr>
              <a:t>6 / 6</a:t>
            </a:r>
            <a:endParaRPr sz="3375" b="1">
              <a:solidFill>
                <a:srgbClr val="007E78"/>
              </a:solidFill>
              <a:latin typeface="黑体" panose="02010609060101010101" charset="-122"/>
              <a:ea typeface="黑体" panose="02010609060101010101" charset="-122"/>
              <a:cs typeface="PingFang SC" panose="020B0400000000000000" charset="-122"/>
            </a:endParaRPr>
          </a:p>
        </p:txBody>
      </p:sp>
      <p:sp>
        <p:nvSpPr>
          <p:cNvPr id="13" name="均提出调查或缓解措施"/>
          <p:cNvSpPr>
            <a:spLocks noGrp="1"/>
          </p:cNvSpPr>
          <p:nvPr/>
        </p:nvSpPr>
        <p:spPr>
          <a:xfrm>
            <a:off x="6572250" y="3686175"/>
            <a:ext cx="4857750" cy="447675"/>
          </a:xfrm>
          <a:prstGeom prst="rect">
            <a:avLst/>
          </a:prstGeom>
          <a:noFill/>
          <a:ln w="0">
            <a:noFill/>
          </a:ln>
        </p:spPr>
        <p:txBody>
          <a:bodyPr wrap="square" lIns="0" tIns="0" rIns="0" bIns="0" anchor="t">
            <a:noAutofit/>
          </a:bodyPr>
          <a:lstStyle>
            <a:defPPr algn="l">
              <a:defRPr sz="195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950" b="0">
                <a:solidFill>
                  <a:srgbClr val="203040"/>
                </a:solidFill>
                <a:latin typeface="PingFang SC" panose="020B0400000000000000" charset="-122"/>
                <a:ea typeface="PingFang SC" panose="020B0400000000000000" charset="-122"/>
                <a:cs typeface="PingFang SC" panose="020B0400000000000000" charset="-122"/>
              </a:defRPr>
            </a:pPr>
            <a:r>
              <a:rPr sz="1950" b="0">
                <a:solidFill>
                  <a:srgbClr val="203040"/>
                </a:solidFill>
                <a:latin typeface="PingFang SC" panose="020B0400000000000000" charset="-122"/>
                <a:ea typeface="PingFang SC" panose="020B0400000000000000" charset="-122"/>
                <a:cs typeface="PingFang SC" panose="020B0400000000000000" charset="-122"/>
              </a:rPr>
              <a:t>均提出调查或缓解措施</a:t>
            </a:r>
            <a:endParaRPr sz="1950" b="0">
              <a:solidFill>
                <a:srgbClr val="203040"/>
              </a:solidFill>
              <a:latin typeface="PingFang SC" panose="020B0400000000000000" charset="-122"/>
              <a:ea typeface="PingFang SC" panose="020B0400000000000000" charset="-122"/>
              <a:cs typeface="PingFang SC" panose="020B0400000000000000" charset="-122"/>
            </a:endParaRPr>
          </a:p>
        </p:txBody>
      </p:sp>
      <p:sp>
        <p:nvSpPr>
          <p:cNvPr id="14" name="3 / 6"/>
          <p:cNvSpPr>
            <a:spLocks noGrp="1"/>
          </p:cNvSpPr>
          <p:nvPr/>
        </p:nvSpPr>
        <p:spPr>
          <a:xfrm>
            <a:off x="6524625" y="4419600"/>
            <a:ext cx="4905375" cy="600075"/>
          </a:xfrm>
          <a:prstGeom prst="rect">
            <a:avLst/>
          </a:prstGeom>
          <a:noFill/>
          <a:ln w="0">
            <a:noFill/>
          </a:ln>
        </p:spPr>
        <p:txBody>
          <a:bodyPr wrap="square" lIns="0" tIns="0" rIns="0" bIns="0" anchor="t">
            <a:noAutofit/>
          </a:bodyPr>
          <a:lstStyle>
            <a:defPPr algn="l">
              <a:defRPr sz="337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3375" b="1">
                <a:solidFill>
                  <a:srgbClr val="007E78"/>
                </a:solidFill>
                <a:latin typeface="PingFang SC" panose="020B0400000000000000" charset="-122"/>
                <a:ea typeface="PingFang SC" panose="020B0400000000000000" charset="-122"/>
                <a:cs typeface="PingFang SC" panose="020B0400000000000000" charset="-122"/>
              </a:defRPr>
            </a:pPr>
            <a:r>
              <a:rPr sz="3375" b="1">
                <a:solidFill>
                  <a:srgbClr val="007E78"/>
                </a:solidFill>
                <a:latin typeface="黑体" panose="02010609060101010101" charset="-122"/>
                <a:ea typeface="黑体" panose="02010609060101010101" charset="-122"/>
                <a:cs typeface="PingFang SC" panose="020B0400000000000000" charset="-122"/>
              </a:rPr>
              <a:t>3 / 6</a:t>
            </a:r>
            <a:endParaRPr sz="3375" b="1">
              <a:solidFill>
                <a:srgbClr val="007E78"/>
              </a:solidFill>
              <a:latin typeface="黑体" panose="02010609060101010101" charset="-122"/>
              <a:ea typeface="黑体" panose="02010609060101010101" charset="-122"/>
              <a:cs typeface="PingFang SC" panose="020B0400000000000000" charset="-122"/>
            </a:endParaRPr>
          </a:p>
        </p:txBody>
      </p:sp>
      <p:sp>
        <p:nvSpPr>
          <p:cNvPr id="15" name="主动询问在实际OT环境中测试"/>
          <p:cNvSpPr>
            <a:spLocks noGrp="1"/>
          </p:cNvSpPr>
          <p:nvPr/>
        </p:nvSpPr>
        <p:spPr>
          <a:xfrm>
            <a:off x="6572250" y="5029200"/>
            <a:ext cx="4857750" cy="447675"/>
          </a:xfrm>
          <a:prstGeom prst="rect">
            <a:avLst/>
          </a:prstGeom>
          <a:noFill/>
          <a:ln w="0">
            <a:noFill/>
          </a:ln>
        </p:spPr>
        <p:txBody>
          <a:bodyPr wrap="square" lIns="0" tIns="0" rIns="0" bIns="0" anchor="t">
            <a:noAutofit/>
          </a:bodyPr>
          <a:lstStyle>
            <a:defPPr algn="l">
              <a:defRPr sz="1950"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950" b="0">
                <a:solidFill>
                  <a:srgbClr val="203040"/>
                </a:solidFill>
                <a:latin typeface="PingFang SC" panose="020B0400000000000000" charset="-122"/>
                <a:ea typeface="PingFang SC" panose="020B0400000000000000" charset="-122"/>
                <a:cs typeface="PingFang SC" panose="020B0400000000000000" charset="-122"/>
              </a:defRPr>
            </a:pPr>
            <a:r>
              <a:rPr sz="1950" b="0">
                <a:solidFill>
                  <a:srgbClr val="203040"/>
                </a:solidFill>
                <a:latin typeface="PingFang SC" panose="020B0400000000000000" charset="-122"/>
                <a:ea typeface="PingFang SC" panose="020B0400000000000000" charset="-122"/>
                <a:cs typeface="PingFang SC" panose="020B0400000000000000" charset="-122"/>
              </a:rPr>
              <a:t>主动询问在实际OT环境中测试</a:t>
            </a:r>
            <a:endParaRPr sz="1950" b="0">
              <a:solidFill>
                <a:srgbClr val="203040"/>
              </a:solidFill>
              <a:latin typeface="PingFang SC" panose="020B0400000000000000" charset="-122"/>
              <a:ea typeface="PingFang SC" panose="020B0400000000000000" charset="-122"/>
              <a:cs typeface="PingFang SC" panose="020B0400000000000000" charset="-122"/>
            </a:endParaRPr>
          </a:p>
        </p:txBody>
      </p:sp>
      <p:sp>
        <p:nvSpPr>
          <p:cNvPr id="16" name="矩形 15"/>
          <p:cNvSpPr>
            <a:spLocks noGrp="1"/>
          </p:cNvSpPr>
          <p:nvPr/>
        </p:nvSpPr>
        <p:spPr>
          <a:xfrm>
            <a:off x="476250" y="5762625"/>
            <a:ext cx="11340000" cy="576000"/>
          </a:xfrm>
          <a:prstGeom prst="rect">
            <a:avLst/>
          </a:prstGeom>
          <a:solidFill>
            <a:srgbClr val="E8F7F6"/>
          </a:solidFill>
          <a:ln w="0">
            <a:noFill/>
          </a:ln>
        </p:spPr>
      </p:sp>
      <p:sp>
        <p:nvSpPr>
          <p:cNvPr id="17" name="这是n=6的初步定性证据，支持可用性潜力，尚不能替代大规模现场验证"/>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宋体" panose="02010600030101010101" pitchFamily="2" charset="-122"/>
              </a:rPr>
              <a:t>这是n=6的初步定性证据，支持可用性潜力，尚不能替代大规模现场验证</a:t>
            </a:r>
            <a:endParaRPr sz="1800" b="1">
              <a:solidFill>
                <a:srgbClr val="173B6C"/>
              </a:solidFill>
              <a:latin typeface="宋体" panose="02010600030101010101" pitchFamily="2" charset="-122"/>
              <a:ea typeface="宋体" panose="02010600030101010101" pitchFamily="2" charset="-122"/>
              <a:cs typeface="宋体" panose="02010600030101010101" pitchFamily="2" charset="-122"/>
            </a:endParaRPr>
          </a:p>
        </p:txBody>
      </p:sp>
      <p:sp>
        <p:nvSpPr>
          <p:cNvPr id="21"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25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1123950" y="2705100"/>
            <a:ext cx="1524000" cy="1524000"/>
          </a:xfrm>
          <a:prstGeom prst="rect">
            <a:avLst/>
          </a:prstGeom>
          <a:solidFill>
            <a:srgbClr val="173B6C"/>
          </a:solidFill>
          <a:ln w="0">
            <a:noFill/>
            <a:prstDash val="solid"/>
          </a:ln>
        </p:spPr>
      </p:sp>
      <p:sp>
        <p:nvSpPr>
          <p:cNvPr id="5" name="矩形 4"/>
          <p:cNvSpPr>
            <a:spLocks noGrp="1"/>
          </p:cNvSpPr>
          <p:nvPr/>
        </p:nvSpPr>
        <p:spPr>
          <a:xfrm>
            <a:off x="1123950" y="2781300"/>
            <a:ext cx="1524000" cy="1323975"/>
          </a:xfrm>
          <a:prstGeom prst="rect">
            <a:avLst/>
          </a:prstGeom>
          <a:noFill/>
          <a:ln w="0">
            <a:noFill/>
            <a:prstDash val="solid"/>
          </a:ln>
        </p:spPr>
        <p:txBody>
          <a:bodyPr lIns="0" tIns="0" rIns="0" bIns="0" anchor="ctr"/>
          <a:lstStyle>
            <a:defPPr algn="ctr">
              <a:defRPr sz="7050" b="1">
                <a:solidFill>
                  <a:srgbClr val="FFFFFF"/>
                </a:solidFill>
                <a:latin typeface="PingFang SC" panose="020B0400000000000000" charset="-122"/>
                <a:ea typeface="PingFang SC" panose="020B0400000000000000" charset="-122"/>
                <a:cs typeface="PingFang SC" panose="020B0400000000000000" charset="-122"/>
              </a:defRPr>
            </a:defPPr>
          </a:lstStyle>
          <a:p>
            <a:pPr algn="ctr">
              <a:buNone/>
              <a:defRPr sz="7050" b="1">
                <a:solidFill>
                  <a:srgbClr val="FFFFFF"/>
                </a:solidFill>
                <a:latin typeface="PingFang SC" panose="020B0400000000000000" charset="-122"/>
                <a:ea typeface="PingFang SC" panose="020B0400000000000000" charset="-122"/>
                <a:cs typeface="PingFang SC" panose="020B0400000000000000" charset="-122"/>
              </a:defRPr>
            </a:pPr>
            <a:r>
              <a:rPr sz="7050" b="1">
                <a:solidFill>
                  <a:srgbClr val="FFFFFF"/>
                </a:solidFill>
                <a:latin typeface="黑体" panose="02010609060101010101" charset="-122"/>
                <a:ea typeface="黑体" panose="02010609060101010101" charset="-122"/>
                <a:cs typeface="PingFang SC" panose="020B0400000000000000" charset="-122"/>
              </a:rPr>
              <a:t>4</a:t>
            </a:r>
            <a:endParaRPr sz="7050" b="1">
              <a:solidFill>
                <a:srgbClr val="FFFFFF"/>
              </a:solidFill>
              <a:latin typeface="黑体" panose="02010609060101010101" charset="-122"/>
              <a:ea typeface="黑体" panose="02010609060101010101" charset="-122"/>
              <a:cs typeface="PingFang SC" panose="020B0400000000000000" charset="-122"/>
            </a:endParaRPr>
          </a:p>
        </p:txBody>
      </p:sp>
      <p:pic>
        <p:nvPicPr>
          <p:cNvPr id="6" name="图片 5"/>
          <p:cNvPicPr>
            <a:picLocks noChangeAspect="1"/>
          </p:cNvPicPr>
          <p:nvPr/>
        </p:nvPicPr>
        <p:blipFill>
          <a:blip r:embed="rId2"/>
          <a:srcRect l="58106" t="50348" r="9587" b="42490"/>
          <a:stretch>
            <a:fillRect/>
          </a:stretch>
        </p:blipFill>
        <p:spPr>
          <a:xfrm>
            <a:off x="2838450" y="2705100"/>
            <a:ext cx="9353550" cy="1276350"/>
          </a:xfrm>
          <a:prstGeom prst="rect">
            <a:avLst/>
          </a:prstGeom>
        </p:spPr>
      </p:pic>
      <p:sp>
        <p:nvSpPr>
          <p:cNvPr id="7" name="矩形 6"/>
          <p:cNvSpPr>
            <a:spLocks noGrp="1"/>
          </p:cNvSpPr>
          <p:nvPr/>
        </p:nvSpPr>
        <p:spPr>
          <a:xfrm>
            <a:off x="2838450" y="2705100"/>
            <a:ext cx="9353550" cy="1276350"/>
          </a:xfrm>
          <a:prstGeom prst="rect">
            <a:avLst/>
          </a:prstGeom>
          <a:gradFill>
            <a:gsLst>
              <a:gs pos="0">
                <a:srgbClr val="173B6C"/>
              </a:gs>
              <a:gs pos="45000">
                <a:srgbClr val="173B6C">
                  <a:alpha val="92000"/>
                </a:srgbClr>
              </a:gs>
              <a:gs pos="100000">
                <a:srgbClr val="007E78">
                  <a:alpha val="76000"/>
                </a:srgbClr>
              </a:gs>
            </a:gsLst>
            <a:lin ang="0"/>
          </a:gradFill>
          <a:ln w="0">
            <a:noFill/>
            <a:prstDash val="solid"/>
          </a:ln>
        </p:spPr>
      </p:sp>
      <p:sp>
        <p:nvSpPr>
          <p:cNvPr id="8" name="矩形 7"/>
          <p:cNvSpPr>
            <a:spLocks noGrp="1"/>
          </p:cNvSpPr>
          <p:nvPr/>
        </p:nvSpPr>
        <p:spPr>
          <a:xfrm>
            <a:off x="3295650" y="2971800"/>
            <a:ext cx="7810500" cy="742950"/>
          </a:xfrm>
          <a:prstGeom prst="rect">
            <a:avLst/>
          </a:prstGeom>
          <a:noFill/>
          <a:ln w="0">
            <a:noFill/>
            <a:prstDash val="solid"/>
          </a:ln>
        </p:spPr>
        <p:txBody>
          <a:bodyPr lIns="0" tIns="0" rIns="0" bIns="0" anchor="ctr"/>
          <a:lstStyle>
            <a:defPPr>
              <a:defRPr sz="3150" b="1">
                <a:solidFill>
                  <a:srgbClr val="FFFFFF"/>
                </a:solidFill>
                <a:latin typeface="PingFang SC" panose="020B0400000000000000" charset="-122"/>
                <a:ea typeface="PingFang SC" panose="020B0400000000000000" charset="-122"/>
                <a:cs typeface="PingFang SC" panose="020B0400000000000000" charset="-122"/>
              </a:defRPr>
            </a:defPPr>
          </a:lstStyle>
          <a:p>
            <a:pPr>
              <a:buNone/>
              <a:defRPr sz="3150" b="1">
                <a:solidFill>
                  <a:srgbClr val="FFFFFF"/>
                </a:solidFill>
                <a:latin typeface="PingFang SC" panose="020B0400000000000000" charset="-122"/>
                <a:ea typeface="PingFang SC" panose="020B0400000000000000" charset="-122"/>
                <a:cs typeface="PingFang SC" panose="020B0400000000000000" charset="-122"/>
              </a:defRPr>
            </a:pPr>
            <a:r>
              <a:rPr sz="3150" b="1">
                <a:solidFill>
                  <a:srgbClr val="FFFFFF"/>
                </a:solidFill>
                <a:latin typeface="黑体" panose="02010609060101010101" charset="-122"/>
                <a:ea typeface="黑体" panose="02010609060101010101" charset="-122"/>
                <a:cs typeface="PingFang SC" panose="020B0400000000000000" charset="-122"/>
              </a:rPr>
              <a:t>总结与思考</a:t>
            </a:r>
            <a:endParaRPr sz="3150" b="1">
              <a:solidFill>
                <a:srgbClr val="FFFFFF"/>
              </a:solidFill>
              <a:latin typeface="黑体" panose="02010609060101010101" charset="-122"/>
              <a:ea typeface="黑体" panose="02010609060101010101" charset="-122"/>
              <a:cs typeface="PingFang SC" panose="020B0400000000000000" charset="-122"/>
            </a:endParaRPr>
          </a:p>
        </p:txBody>
      </p:sp>
      <p:sp>
        <p:nvSpPr>
          <p:cNvPr id="9" name="矩形 8"/>
          <p:cNvSpPr>
            <a:spLocks noGrp="1"/>
          </p:cNvSpPr>
          <p:nvPr/>
        </p:nvSpPr>
        <p:spPr>
          <a:xfrm>
            <a:off x="2838450" y="4143375"/>
            <a:ext cx="8210550" cy="76200"/>
          </a:xfrm>
          <a:prstGeom prst="rect">
            <a:avLst/>
          </a:prstGeom>
          <a:solidFill>
            <a:srgbClr val="00AFA8"/>
          </a:solidFill>
          <a:ln w="0">
            <a:noFill/>
            <a:prstDash val="solid"/>
          </a:ln>
        </p:spPr>
      </p:sp>
      <p:sp>
        <p:nvSpPr>
          <p:cNvPr id="10" name="矩形 9"/>
          <p:cNvSpPr>
            <a:spLocks noGrp="1"/>
          </p:cNvSpPr>
          <p:nvPr/>
        </p:nvSpPr>
        <p:spPr>
          <a:xfrm>
            <a:off x="2838450" y="4476750"/>
            <a:ext cx="8572500" cy="885825"/>
          </a:xfrm>
          <a:prstGeom prst="rect">
            <a:avLst/>
          </a:prstGeom>
          <a:noFill/>
          <a:ln w="0">
            <a:noFill/>
            <a:prstDash val="solid"/>
          </a:ln>
        </p:spPr>
        <p:txBody>
          <a:bodyPr lIns="0" tIns="0" rIns="0" bIns="0" anchor="ctr"/>
          <a:lstStyle>
            <a:defPPr>
              <a:defRPr sz="1875" b="0">
                <a:solidFill>
                  <a:srgbClr val="263B50"/>
                </a:solidFill>
                <a:latin typeface="PingFang SC" panose="020B0400000000000000" charset="-122"/>
                <a:ea typeface="PingFang SC" panose="020B0400000000000000" charset="-122"/>
                <a:cs typeface="PingFang SC" panose="020B0400000000000000" charset="-122"/>
              </a:defRPr>
            </a:defPPr>
          </a:lstStyle>
          <a:p>
            <a:pPr>
              <a:buNone/>
              <a:defRPr sz="1875" b="0">
                <a:solidFill>
                  <a:srgbClr val="263B50"/>
                </a:solidFill>
                <a:latin typeface="PingFang SC" panose="020B0400000000000000" charset="-122"/>
                <a:ea typeface="PingFang SC" panose="020B0400000000000000" charset="-122"/>
                <a:cs typeface="PingFang SC" panose="020B0400000000000000" charset="-122"/>
              </a:defRPr>
            </a:pPr>
            <a:r>
              <a:rPr sz="1875" b="0">
                <a:solidFill>
                  <a:srgbClr val="263B50"/>
                </a:solidFill>
                <a:latin typeface="宋体" panose="02010600030101010101" pitchFamily="2" charset="-122"/>
                <a:ea typeface="宋体" panose="02010600030101010101" pitchFamily="2" charset="-122"/>
                <a:cs typeface="宋体" panose="02010600030101010101" pitchFamily="2" charset="-122"/>
              </a:rPr>
              <a:t>核心问题：GeCo解决了什么问题，还有哪些局限与值得研究的方向？</a:t>
            </a:r>
            <a:endParaRPr sz="1875" b="0">
              <a:solidFill>
                <a:srgbClr val="263B50"/>
              </a:solidFill>
              <a:latin typeface="宋体" panose="02010600030101010101" pitchFamily="2" charset="-122"/>
              <a:ea typeface="宋体" panose="02010600030101010101" pitchFamily="2" charset="-122"/>
              <a:cs typeface="宋体" panose="02010600030101010101" pitchFamily="2" charset="-122"/>
            </a:endParaRPr>
          </a:p>
        </p:txBody>
      </p:sp>
      <p:sp>
        <p:nvSpPr>
          <p:cNvPr id="11"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26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457200" y="209550"/>
            <a:ext cx="76200" cy="457200"/>
          </a:xfrm>
          <a:prstGeom prst="rect">
            <a:avLst/>
          </a:prstGeom>
          <a:solidFill>
            <a:srgbClr val="00AFA8"/>
          </a:solidFill>
          <a:ln w="0">
            <a:noFill/>
          </a:ln>
        </p:spPr>
      </p:sp>
      <p:sp>
        <p:nvSpPr>
          <p:cNvPr id="2" name="04 总结与思考"/>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04 总结与思考</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论文总结：自动建模与可理解检测的结合"/>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论文总结：自动建模与可理解检测的结合</a:t>
            </a:r>
            <a:endParaRPr sz="2250" b="1">
              <a:solidFill>
                <a:srgbClr val="007E78"/>
              </a:solidFill>
              <a:latin typeface="黑体" panose="02010609060101010101" charset="-122"/>
              <a:ea typeface="黑体" panose="02010609060101010101" charset="-122"/>
              <a:cs typeface="PingFang SC" panose="020B0400000000000000" charset="-122"/>
            </a:endParaRPr>
          </a:p>
        </p:txBody>
      </p:sp>
      <p:sp>
        <p:nvSpPr>
          <p:cNvPr id="6" name="01 研究问题"/>
          <p:cNvSpPr>
            <a:spLocks noGrp="1"/>
          </p:cNvSpPr>
          <p:nvPr/>
        </p:nvSpPr>
        <p:spPr>
          <a:xfrm>
            <a:off x="619125" y="1685925"/>
            <a:ext cx="2333625" cy="4000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01 研究问题</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7" name="降低工业入侵检测对逐系统人工建模的依赖，&#10;同时保留模型与报警的可理解性"/>
          <p:cNvSpPr>
            <a:spLocks noGrp="1"/>
          </p:cNvSpPr>
          <p:nvPr/>
        </p:nvSpPr>
        <p:spPr>
          <a:xfrm>
            <a:off x="3000375" y="1685925"/>
            <a:ext cx="8524875" cy="8286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降</a:t>
            </a:r>
            <a:r>
              <a:rPr sz="1875" b="0">
                <a:solidFill>
                  <a:srgbClr val="203040"/>
                </a:solidFill>
                <a:latin typeface="宋体" panose="02010600030101010101" pitchFamily="2" charset="-122"/>
                <a:ea typeface="宋体" panose="02010600030101010101" pitchFamily="2" charset="-122"/>
                <a:cs typeface="PingFang SC" panose="020B0400000000000000" charset="-122"/>
              </a:rPr>
              <a:t>低工业入侵检测对逐系统人工建模的依赖，</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同时保留模型与报警的可理解性。</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8" name="矩形 7"/>
          <p:cNvSpPr>
            <a:spLocks noGrp="1"/>
          </p:cNvSpPr>
          <p:nvPr/>
        </p:nvSpPr>
        <p:spPr>
          <a:xfrm>
            <a:off x="619125" y="2524125"/>
            <a:ext cx="10953750" cy="9525"/>
          </a:xfrm>
          <a:prstGeom prst="rect">
            <a:avLst/>
          </a:prstGeom>
          <a:solidFill>
            <a:srgbClr val="D7E5E9"/>
          </a:solidFill>
          <a:ln w="0">
            <a:noFill/>
          </a:ln>
        </p:spPr>
      </p:sp>
      <p:sp>
        <p:nvSpPr>
          <p:cNvPr id="9" name="02 核心方法"/>
          <p:cNvSpPr>
            <a:spLocks noGrp="1"/>
          </p:cNvSpPr>
          <p:nvPr/>
        </p:nvSpPr>
        <p:spPr>
          <a:xfrm>
            <a:off x="619125" y="2686050"/>
            <a:ext cx="2333625" cy="4000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02 核心方法</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10" name="从正常过程数据中搜索函数模板、输入变量与参数，学习逐变量状态空间模型；"/>
          <p:cNvSpPr>
            <a:spLocks noGrp="1"/>
          </p:cNvSpPr>
          <p:nvPr/>
        </p:nvSpPr>
        <p:spPr>
          <a:xfrm>
            <a:off x="3000375" y="2686050"/>
            <a:ext cx="8524875" cy="8286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从正常过程数据中搜索函数模板、输入变量与参数，学习逐变量状态空间模型；</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结合预测残差与CUSUM实现异常检测。</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1" name="矩形 10"/>
          <p:cNvSpPr>
            <a:spLocks noGrp="1"/>
          </p:cNvSpPr>
          <p:nvPr/>
        </p:nvSpPr>
        <p:spPr>
          <a:xfrm>
            <a:off x="619125" y="3524250"/>
            <a:ext cx="10953750" cy="9525"/>
          </a:xfrm>
          <a:prstGeom prst="rect">
            <a:avLst/>
          </a:prstGeom>
          <a:solidFill>
            <a:srgbClr val="D7E5E9"/>
          </a:solidFill>
          <a:ln w="0">
            <a:noFill/>
          </a:ln>
        </p:spPr>
      </p:sp>
      <p:sp>
        <p:nvSpPr>
          <p:cNvPr id="12" name="03 实验结论"/>
          <p:cNvSpPr>
            <a:spLocks noGrp="1"/>
          </p:cNvSpPr>
          <p:nvPr/>
        </p:nvSpPr>
        <p:spPr>
          <a:xfrm>
            <a:off x="619125" y="3686175"/>
            <a:ext cx="2333625" cy="4000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03 实验结论</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13" name="多个工业基准、新领域重新训练及专家规则对照展示了检测竞争力；&#10;报警分析"/>
          <p:cNvSpPr>
            <a:spLocks noGrp="1"/>
          </p:cNvSpPr>
          <p:nvPr/>
        </p:nvSpPr>
        <p:spPr>
          <a:xfrm>
            <a:off x="3000375" y="3686175"/>
            <a:ext cx="8524875" cy="8286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多个工业基准、新领域重新训练及专家规则对照展示了检测竞争力；</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报警分析案例与初步从业者访谈支持可理解性的潜力。</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4" name="矩形 13"/>
          <p:cNvSpPr>
            <a:spLocks noGrp="1"/>
          </p:cNvSpPr>
          <p:nvPr/>
        </p:nvSpPr>
        <p:spPr>
          <a:xfrm>
            <a:off x="619125" y="4524375"/>
            <a:ext cx="10953750" cy="9525"/>
          </a:xfrm>
          <a:prstGeom prst="rect">
            <a:avLst/>
          </a:prstGeom>
          <a:solidFill>
            <a:srgbClr val="D7E5E9"/>
          </a:solidFill>
          <a:ln w="0">
            <a:noFill/>
          </a:ln>
        </p:spPr>
      </p:sp>
      <p:sp>
        <p:nvSpPr>
          <p:cNvPr id="15" name="04 研究局限"/>
          <p:cNvSpPr>
            <a:spLocks noGrp="1"/>
          </p:cNvSpPr>
          <p:nvPr/>
        </p:nvSpPr>
        <p:spPr>
          <a:xfrm>
            <a:off x="619125" y="4686300"/>
            <a:ext cx="2333625" cy="400050"/>
          </a:xfrm>
          <a:prstGeom prst="rect">
            <a:avLst/>
          </a:prstGeom>
          <a:noFill/>
          <a:ln w="0">
            <a:noFill/>
          </a:ln>
        </p:spPr>
        <p:txBody>
          <a:bodyPr wrap="square" lIns="0" tIns="0" rIns="0" bIns="0" anchor="t">
            <a:noAutofit/>
          </a:bodyPr>
          <a:lstStyle>
            <a:defPPr algn="l">
              <a:defRPr sz="2025"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025" b="1">
                <a:solidFill>
                  <a:srgbClr val="007E78"/>
                </a:solidFill>
                <a:latin typeface="PingFang SC" panose="020B0400000000000000" charset="-122"/>
                <a:ea typeface="PingFang SC" panose="020B0400000000000000" charset="-122"/>
                <a:cs typeface="PingFang SC" panose="020B0400000000000000" charset="-122"/>
              </a:defRPr>
            </a:pPr>
            <a:r>
              <a:rPr sz="2025" b="1">
                <a:solidFill>
                  <a:srgbClr val="007E78"/>
                </a:solidFill>
                <a:latin typeface="黑体" panose="02010609060101010101" charset="-122"/>
                <a:ea typeface="黑体" panose="02010609060101010101" charset="-122"/>
                <a:cs typeface="黑体" panose="02010609060101010101" charset="-122"/>
              </a:rPr>
              <a:t>04 研究局限</a:t>
            </a:r>
            <a:endParaRPr sz="2025" b="1">
              <a:solidFill>
                <a:srgbClr val="007E78"/>
              </a:solidFill>
              <a:latin typeface="黑体" panose="02010609060101010101" charset="-122"/>
              <a:ea typeface="黑体" panose="02010609060101010101" charset="-122"/>
              <a:cs typeface="黑体" panose="02010609060101010101" charset="-122"/>
            </a:endParaRPr>
          </a:p>
        </p:txBody>
      </p:sp>
      <p:sp>
        <p:nvSpPr>
          <p:cNvPr id="16" name="模型学习受模板表达范围约束，组合搜索成本较高；&#10;长期现场有效性仍需更充"/>
          <p:cNvSpPr>
            <a:spLocks noGrp="1"/>
          </p:cNvSpPr>
          <p:nvPr/>
        </p:nvSpPr>
        <p:spPr>
          <a:xfrm>
            <a:off x="3000375" y="4686300"/>
            <a:ext cx="8524875" cy="828675"/>
          </a:xfrm>
          <a:prstGeom prst="rect">
            <a:avLst/>
          </a:prstGeom>
          <a:noFill/>
          <a:ln w="0">
            <a:noFill/>
          </a:ln>
        </p:spPr>
        <p:txBody>
          <a:bodyPr wrap="square" lIns="0" tIns="0" rIns="0" bIns="0" anchor="t">
            <a:noAutofit/>
          </a:bodyPr>
          <a:lstStyle>
            <a:defPPr algn="l">
              <a:defRPr sz="187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模型学习受模板表达范围约束，组合搜索成本较高；</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a:p>
            <a:pPr algn="l">
              <a:buNone/>
              <a:defRPr sz="1875" b="0">
                <a:solidFill>
                  <a:srgbClr val="203040"/>
                </a:solidFill>
                <a:latin typeface="PingFang SC" panose="020B0400000000000000" charset="-122"/>
                <a:ea typeface="PingFang SC" panose="020B0400000000000000" charset="-122"/>
                <a:cs typeface="PingFang SC" panose="020B0400000000000000" charset="-122"/>
              </a:defRPr>
            </a:pPr>
            <a:r>
              <a:rPr sz="1875" b="0">
                <a:solidFill>
                  <a:srgbClr val="203040"/>
                </a:solidFill>
                <a:latin typeface="宋体" panose="02010600030101010101" pitchFamily="2" charset="-122"/>
                <a:ea typeface="宋体" panose="02010600030101010101" pitchFamily="2" charset="-122"/>
                <a:cs typeface="PingFang SC" panose="020B0400000000000000" charset="-122"/>
              </a:rPr>
              <a:t>长期现场有效性仍需更充分的证据。</a:t>
            </a:r>
            <a:endParaRPr sz="187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7" name="矩形 16"/>
          <p:cNvSpPr>
            <a:spLocks noGrp="1"/>
          </p:cNvSpPr>
          <p:nvPr/>
        </p:nvSpPr>
        <p:spPr>
          <a:xfrm>
            <a:off x="476250" y="5762625"/>
            <a:ext cx="11239500" cy="504825"/>
          </a:xfrm>
          <a:prstGeom prst="rect">
            <a:avLst/>
          </a:prstGeom>
          <a:solidFill>
            <a:srgbClr val="E8F7F6"/>
          </a:solidFill>
          <a:ln w="0">
            <a:noFill/>
          </a:ln>
        </p:spPr>
      </p:sp>
      <p:sp>
        <p:nvSpPr>
          <p:cNvPr id="18" name="核心贡献：自动化部分模型构建工作，同时保留人员核查模型与理解报警的依据"/>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核心贡献：自动化部分模型构建工作，同时保留人员核查模型与理解报警的依据</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22"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27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矩形 18"/>
          <p:cNvSpPr>
            <a:spLocks noGrp="1"/>
          </p:cNvSpPr>
          <p:nvPr/>
        </p:nvSpPr>
        <p:spPr>
          <a:xfrm>
            <a:off x="457200" y="209550"/>
            <a:ext cx="76200" cy="457200"/>
          </a:xfrm>
          <a:prstGeom prst="rect">
            <a:avLst/>
          </a:prstGeom>
          <a:solidFill>
            <a:srgbClr val="00AFA8"/>
          </a:solidFill>
          <a:ln w="0">
            <a:noFill/>
          </a:ln>
        </p:spPr>
      </p:sp>
      <p:sp>
        <p:nvSpPr>
          <p:cNvPr id="2" name="04 总结与思考"/>
          <p:cNvSpPr>
            <a:spLocks noGrp="1"/>
          </p:cNvSpPr>
          <p:nvPr/>
        </p:nvSpPr>
        <p:spPr>
          <a:xfrm>
            <a:off x="704850" y="190500"/>
            <a:ext cx="8905875" cy="552450"/>
          </a:xfrm>
          <a:prstGeom prst="rect">
            <a:avLst/>
          </a:prstGeom>
          <a:noFill/>
          <a:ln w="0">
            <a:noFill/>
          </a:ln>
        </p:spPr>
        <p:txBody>
          <a:bodyPr wrap="square" lIns="0" tIns="0" rIns="0" bIns="0" anchor="t">
            <a:noAutofit/>
          </a:bodyPr>
          <a:lstStyle>
            <a:defPPr algn="l">
              <a:defRPr sz="30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3000" b="1">
                <a:solidFill>
                  <a:srgbClr val="173B6C"/>
                </a:solidFill>
                <a:latin typeface="PingFang SC" panose="020B0400000000000000" charset="-122"/>
                <a:ea typeface="PingFang SC" panose="020B0400000000000000" charset="-122"/>
                <a:cs typeface="PingFang SC" panose="020B0400000000000000" charset="-122"/>
              </a:defRPr>
            </a:pPr>
            <a:r>
              <a:rPr sz="3000" b="1">
                <a:solidFill>
                  <a:srgbClr val="173B6C"/>
                </a:solidFill>
                <a:latin typeface="黑体" panose="02010609060101010101" charset="-122"/>
                <a:ea typeface="黑体" panose="02010609060101010101" charset="-122"/>
                <a:cs typeface="黑体" panose="02010609060101010101" charset="-122"/>
              </a:rPr>
              <a:t>04 总结与思考</a:t>
            </a:r>
            <a:endParaRPr sz="3000" b="1">
              <a:solidFill>
                <a:srgbClr val="173B6C"/>
              </a:solidFill>
              <a:latin typeface="黑体" panose="02010609060101010101" charset="-122"/>
              <a:ea typeface="黑体" panose="02010609060101010101" charset="-122"/>
              <a:cs typeface="黑体" panose="02010609060101010101" charset="-122"/>
            </a:endParaRPr>
          </a:p>
        </p:txBody>
      </p:sp>
      <p:pic>
        <p:nvPicPr>
          <p:cNvPr id="3" name="图片 2"/>
          <p:cNvPicPr>
            <a:picLocks noChangeAspect="1"/>
          </p:cNvPicPr>
          <p:nvPr/>
        </p:nvPicPr>
        <p:blipFill>
          <a:blip r:embed="rId1"/>
          <a:stretch>
            <a:fillRect/>
          </a:stretch>
        </p:blipFill>
        <p:spPr>
          <a:xfrm>
            <a:off x="10001250" y="209782"/>
            <a:ext cx="1714500" cy="494835"/>
          </a:xfrm>
          <a:prstGeom prst="rect">
            <a:avLst/>
          </a:prstGeom>
        </p:spPr>
      </p:pic>
      <p:sp>
        <p:nvSpPr>
          <p:cNvPr id="4" name="矩形 3"/>
          <p:cNvSpPr>
            <a:spLocks noGrp="1"/>
          </p:cNvSpPr>
          <p:nvPr/>
        </p:nvSpPr>
        <p:spPr>
          <a:xfrm>
            <a:off x="457200" y="819150"/>
            <a:ext cx="11277600" cy="19050"/>
          </a:xfrm>
          <a:prstGeom prst="rect">
            <a:avLst/>
          </a:prstGeom>
          <a:solidFill>
            <a:srgbClr val="173B6C"/>
          </a:solidFill>
          <a:ln w="0">
            <a:noFill/>
          </a:ln>
        </p:spPr>
      </p:sp>
      <p:sp>
        <p:nvSpPr>
          <p:cNvPr id="5" name="延伸思考：从自动建模到可信的人机协作"/>
          <p:cNvSpPr>
            <a:spLocks noGrp="1"/>
          </p:cNvSpPr>
          <p:nvPr/>
        </p:nvSpPr>
        <p:spPr>
          <a:xfrm>
            <a:off x="476250" y="990600"/>
            <a:ext cx="11163300" cy="495300"/>
          </a:xfrm>
          <a:prstGeom prst="rect">
            <a:avLst/>
          </a:prstGeom>
          <a:noFill/>
          <a:ln w="0">
            <a:noFill/>
          </a:ln>
        </p:spPr>
        <p:txBody>
          <a:bodyPr wrap="square" lIns="0" tIns="0" rIns="0" bIns="0" anchor="t">
            <a:noAutofit/>
          </a:bodyPr>
          <a:lstStyle>
            <a:defPPr algn="l">
              <a:defRPr sz="225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250" b="1">
                <a:solidFill>
                  <a:srgbClr val="007E78"/>
                </a:solidFill>
                <a:latin typeface="PingFang SC" panose="020B0400000000000000" charset="-122"/>
                <a:ea typeface="PingFang SC" panose="020B0400000000000000" charset="-122"/>
                <a:cs typeface="PingFang SC" panose="020B0400000000000000" charset="-122"/>
              </a:defRPr>
            </a:pPr>
            <a:r>
              <a:rPr sz="2250" b="1">
                <a:solidFill>
                  <a:srgbClr val="007E78"/>
                </a:solidFill>
                <a:latin typeface="黑体" panose="02010609060101010101" charset="-122"/>
                <a:ea typeface="黑体" panose="02010609060101010101" charset="-122"/>
                <a:cs typeface="PingFang SC" panose="020B0400000000000000" charset="-122"/>
              </a:rPr>
              <a:t>思考：从自动建模到可信的人机协作</a:t>
            </a:r>
            <a:endParaRPr sz="2250" b="1">
              <a:solidFill>
                <a:srgbClr val="007E78"/>
              </a:solidFill>
              <a:latin typeface="黑体" panose="02010609060101010101" charset="-122"/>
              <a:ea typeface="黑体" panose="02010609060101010101" charset="-122"/>
              <a:cs typeface="PingFang SC" panose="020B0400000000000000" charset="-122"/>
            </a:endParaRPr>
          </a:p>
        </p:txBody>
      </p:sp>
      <p:sp>
        <p:nvSpPr>
          <p:cNvPr id="6" name="01  数据与知识：如何相互检验？"/>
          <p:cNvSpPr>
            <a:spLocks noGrp="1"/>
          </p:cNvSpPr>
          <p:nvPr/>
        </p:nvSpPr>
        <p:spPr>
          <a:xfrm>
            <a:off x="619125" y="1695450"/>
            <a:ext cx="10953750" cy="371475"/>
          </a:xfrm>
          <a:prstGeom prst="rect">
            <a:avLst/>
          </a:prstGeom>
          <a:noFill/>
          <a:ln w="0">
            <a:noFill/>
          </a:ln>
        </p:spPr>
        <p:txBody>
          <a:bodyPr wrap="square" lIns="0" tIns="0" rIns="0" bIns="0" anchor="t">
            <a:noAutofit/>
          </a:bodyPr>
          <a:lstStyle>
            <a:defPPr algn="l">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lgn="l">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黑体" panose="02010609060101010101" charset="-122"/>
              </a:rPr>
              <a:t>01  数据与知识：如何相互检验？</a:t>
            </a:r>
            <a:endParaRPr sz="2100" b="1">
              <a:solidFill>
                <a:srgbClr val="007E78"/>
              </a:solidFill>
              <a:latin typeface="黑体" panose="02010609060101010101" charset="-122"/>
              <a:ea typeface="黑体" panose="02010609060101010101" charset="-122"/>
              <a:cs typeface="黑体" panose="02010609060101010101" charset="-122"/>
            </a:endParaRPr>
          </a:p>
        </p:txBody>
      </p:sp>
      <p:sp>
        <p:nvSpPr>
          <p:cNvPr id="7" name="数据能够发现复杂关系，专家知识能够提供工艺约束，但两者都可能存在偏差。"/>
          <p:cNvSpPr>
            <a:spLocks noGrp="1"/>
          </p:cNvSpPr>
          <p:nvPr/>
        </p:nvSpPr>
        <p:spPr>
          <a:xfrm>
            <a:off x="619125" y="2124075"/>
            <a:ext cx="10953750" cy="361950"/>
          </a:xfrm>
          <a:prstGeom prst="rect">
            <a:avLst/>
          </a:prstGeom>
          <a:noFill/>
          <a:ln w="0">
            <a:noFill/>
          </a:ln>
        </p:spPr>
        <p:txBody>
          <a:bodyPr wrap="square" lIns="0" tIns="0" rIns="0" bIns="0" anchor="t">
            <a:noAutofit/>
          </a:bodyPr>
          <a:lstStyle>
            <a:defPPr algn="l">
              <a:defRPr sz="172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数据能够发现复杂关系，专家知识能够提供工艺约束，但两者都可能存在偏差。</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8" name="我的问题：模型与工艺知识冲突时，能否结合物理约束和现场证据相互验证？"/>
          <p:cNvSpPr>
            <a:spLocks noGrp="1"/>
          </p:cNvSpPr>
          <p:nvPr/>
        </p:nvSpPr>
        <p:spPr>
          <a:xfrm>
            <a:off x="619125" y="2495550"/>
            <a:ext cx="10953750" cy="40957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我的问题：模型与工艺知识冲突时，能否结合物理约束和现场证据相互验证？</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9" name="02  自动检测：能否识别自身失效？"/>
          <p:cNvSpPr>
            <a:spLocks noGrp="1"/>
          </p:cNvSpPr>
          <p:nvPr/>
        </p:nvSpPr>
        <p:spPr>
          <a:xfrm>
            <a:off x="619125" y="3028950"/>
            <a:ext cx="10953750" cy="371475"/>
          </a:xfrm>
          <a:prstGeom prst="rect">
            <a:avLst/>
          </a:prstGeom>
          <a:noFill/>
          <a:ln w="0">
            <a:noFill/>
          </a:ln>
        </p:spPr>
        <p:txBody>
          <a:bodyPr wrap="square" lIns="0" tIns="0" rIns="0" bIns="0" anchor="t">
            <a:noAutofit/>
          </a:bodyPr>
          <a:lstStyle>
            <a:defPPr algn="l">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黑体" panose="02010609060101010101" charset="-122"/>
              </a:rPr>
              <a:t>02  自动检测：能否识别自身失效？</a:t>
            </a:r>
            <a:endParaRPr sz="2100" b="1">
              <a:solidFill>
                <a:srgbClr val="007E78"/>
              </a:solidFill>
              <a:latin typeface="黑体" panose="02010609060101010101" charset="-122"/>
              <a:ea typeface="黑体" panose="02010609060101010101" charset="-122"/>
              <a:cs typeface="黑体" panose="02010609060101010101" charset="-122"/>
            </a:endParaRPr>
          </a:p>
        </p:txBody>
      </p:sp>
      <p:sp>
        <p:nvSpPr>
          <p:cNvPr id="10" name="自动化提高检测效率，但工况变化或设备更新可能使已有模型不再适用。"/>
          <p:cNvSpPr>
            <a:spLocks noGrp="1"/>
          </p:cNvSpPr>
          <p:nvPr/>
        </p:nvSpPr>
        <p:spPr>
          <a:xfrm>
            <a:off x="619125" y="3457575"/>
            <a:ext cx="10953750" cy="361950"/>
          </a:xfrm>
          <a:prstGeom prst="rect">
            <a:avLst/>
          </a:prstGeom>
          <a:noFill/>
          <a:ln w="0">
            <a:noFill/>
          </a:ln>
        </p:spPr>
        <p:txBody>
          <a:bodyPr wrap="square" lIns="0" tIns="0" rIns="0" bIns="0" anchor="t">
            <a:noAutofit/>
          </a:bodyPr>
          <a:lstStyle>
            <a:defPPr algn="l">
              <a:defRPr sz="172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自动化提高检测效率，但工况变化或设备更新可能使已有模型不再适用。</a:t>
            </a:r>
            <a:endParaRPr sz="1725" b="0">
              <a:solidFill>
                <a:srgbClr val="203040"/>
              </a:solidFill>
              <a:latin typeface="宋体" panose="02010600030101010101" pitchFamily="2" charset="-122"/>
              <a:ea typeface="宋体" panose="02010600030101010101" pitchFamily="2" charset="-122"/>
              <a:cs typeface="PingFang SC" panose="020B0400000000000000" charset="-122"/>
            </a:endParaRPr>
          </a:p>
        </p:txBody>
      </p:sp>
      <p:sp>
        <p:nvSpPr>
          <p:cNvPr id="11" name="我的问题：能否提示模型失效，并辅助区分“疑似攻击”与“需要重新建模”？"/>
          <p:cNvSpPr>
            <a:spLocks noGrp="1"/>
          </p:cNvSpPr>
          <p:nvPr/>
        </p:nvSpPr>
        <p:spPr>
          <a:xfrm>
            <a:off x="619125" y="3829050"/>
            <a:ext cx="10953750" cy="40957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宋体" panose="02010600030101010101" pitchFamily="2" charset="-122"/>
              </a:rPr>
              <a:t>我的问题：能否提示模型失效，并辅助区分“疑似攻击”与“需要重新建模”？</a:t>
            </a:r>
            <a:endParaRPr sz="1800" b="1">
              <a:solidFill>
                <a:srgbClr val="173B6C"/>
              </a:solidFill>
              <a:latin typeface="宋体" panose="02010600030101010101" pitchFamily="2" charset="-122"/>
              <a:ea typeface="宋体" panose="02010600030101010101" pitchFamily="2" charset="-122"/>
              <a:cs typeface="宋体" panose="02010600030101010101" pitchFamily="2" charset="-122"/>
            </a:endParaRPr>
          </a:p>
        </p:txBody>
      </p:sp>
      <p:sp>
        <p:nvSpPr>
          <p:cNvPr id="12" name="03  可理解性：能否产生实际使用价值？"/>
          <p:cNvSpPr>
            <a:spLocks noGrp="1"/>
          </p:cNvSpPr>
          <p:nvPr/>
        </p:nvSpPr>
        <p:spPr>
          <a:xfrm>
            <a:off x="619125" y="4362450"/>
            <a:ext cx="10953750" cy="371475"/>
          </a:xfrm>
          <a:prstGeom prst="rect">
            <a:avLst/>
          </a:prstGeom>
          <a:noFill/>
          <a:ln w="0">
            <a:noFill/>
          </a:ln>
        </p:spPr>
        <p:txBody>
          <a:bodyPr wrap="square" lIns="0" tIns="0" rIns="0" bIns="0" anchor="t">
            <a:noAutofit/>
          </a:bodyPr>
          <a:lstStyle>
            <a:defPPr algn="l">
              <a:defRPr sz="2100" b="1">
                <a:solidFill>
                  <a:srgbClr val="007E78"/>
                </a:solidFill>
                <a:latin typeface="PingFang SC" panose="020B0400000000000000" charset="-122"/>
                <a:ea typeface="PingFang SC" panose="020B0400000000000000" charset="-122"/>
                <a:cs typeface="PingFang SC" panose="020B0400000000000000" charset="-122"/>
              </a:defRPr>
            </a:defPPr>
          </a:lstStyle>
          <a:p>
            <a:pPr algn="l">
              <a:buClrTx/>
              <a:buSzTx/>
              <a:buFontTx/>
              <a:buNone/>
              <a:defRPr sz="2100" b="1">
                <a:solidFill>
                  <a:srgbClr val="007E78"/>
                </a:solidFill>
                <a:latin typeface="PingFang SC" panose="020B0400000000000000" charset="-122"/>
                <a:ea typeface="PingFang SC" panose="020B0400000000000000" charset="-122"/>
                <a:cs typeface="PingFang SC" panose="020B0400000000000000" charset="-122"/>
              </a:defRPr>
            </a:pPr>
            <a:r>
              <a:rPr sz="2100" b="1">
                <a:solidFill>
                  <a:srgbClr val="007E78"/>
                </a:solidFill>
                <a:latin typeface="黑体" panose="02010609060101010101" charset="-122"/>
                <a:ea typeface="黑体" panose="02010609060101010101" charset="-122"/>
                <a:cs typeface="黑体" panose="02010609060101010101" charset="-122"/>
              </a:rPr>
              <a:t>03  可理解性：能否产生实际使用价值？</a:t>
            </a:r>
            <a:endParaRPr sz="2100" b="1">
              <a:solidFill>
                <a:srgbClr val="007E78"/>
              </a:solidFill>
              <a:latin typeface="黑体" panose="02010609060101010101" charset="-122"/>
              <a:ea typeface="黑体" panose="02010609060101010101" charset="-122"/>
              <a:cs typeface="黑体" panose="02010609060101010101" charset="-122"/>
            </a:endParaRPr>
          </a:p>
        </p:txBody>
      </p:sp>
      <p:sp>
        <p:nvSpPr>
          <p:cNvPr id="13" name="可读公式便于核查，但不必然带来更快、更准确或更安全的处置。"/>
          <p:cNvSpPr>
            <a:spLocks noGrp="1"/>
          </p:cNvSpPr>
          <p:nvPr/>
        </p:nvSpPr>
        <p:spPr>
          <a:xfrm>
            <a:off x="619125" y="4791075"/>
            <a:ext cx="10953750" cy="361950"/>
          </a:xfrm>
          <a:prstGeom prst="rect">
            <a:avLst/>
          </a:prstGeom>
          <a:noFill/>
          <a:ln w="0">
            <a:noFill/>
          </a:ln>
        </p:spPr>
        <p:txBody>
          <a:bodyPr wrap="square" lIns="0" tIns="0" rIns="0" bIns="0" anchor="t">
            <a:noAutofit/>
          </a:bodyPr>
          <a:lstStyle>
            <a:defPPr algn="l">
              <a:defRPr sz="1725" b="0">
                <a:solidFill>
                  <a:srgbClr val="203040"/>
                </a:solidFill>
                <a:latin typeface="PingFang SC" panose="020B0400000000000000" charset="-122"/>
                <a:ea typeface="PingFang SC" panose="020B0400000000000000" charset="-122"/>
                <a:cs typeface="PingFang SC" panose="020B0400000000000000" charset="-122"/>
              </a:defRPr>
            </a:defPPr>
          </a:lstStyle>
          <a:p>
            <a:pPr algn="l">
              <a:buNone/>
              <a:defRPr sz="1725" b="0">
                <a:solidFill>
                  <a:srgbClr val="203040"/>
                </a:solidFill>
                <a:latin typeface="PingFang SC" panose="020B0400000000000000" charset="-122"/>
                <a:ea typeface="PingFang SC" panose="020B0400000000000000" charset="-122"/>
                <a:cs typeface="PingFang SC" panose="020B0400000000000000" charset="-122"/>
              </a:defRPr>
            </a:pPr>
            <a:r>
              <a:rPr sz="1725" b="0">
                <a:solidFill>
                  <a:srgbClr val="203040"/>
                </a:solidFill>
                <a:latin typeface="宋体" panose="02010600030101010101" pitchFamily="2" charset="-122"/>
                <a:ea typeface="宋体" panose="02010600030101010101" pitchFamily="2" charset="-122"/>
                <a:cs typeface="PingFang SC" panose="020B0400000000000000" charset="-122"/>
              </a:rPr>
              <a:t>可读公式便于核查，但不必然带来更快、更准确或更安全的处置</a:t>
            </a:r>
            <a:r>
              <a:rPr sz="1725" b="0">
                <a:solidFill>
                  <a:srgbClr val="203040"/>
                </a:solidFill>
                <a:latin typeface="PingFang SC" panose="020B0400000000000000" charset="-122"/>
                <a:ea typeface="PingFang SC" panose="020B0400000000000000" charset="-122"/>
                <a:cs typeface="PingFang SC" panose="020B0400000000000000" charset="-122"/>
              </a:rPr>
              <a:t>。</a:t>
            </a:r>
            <a:endParaRPr sz="1725" b="0">
              <a:solidFill>
                <a:srgbClr val="203040"/>
              </a:solidFill>
              <a:latin typeface="PingFang SC" panose="020B0400000000000000" charset="-122"/>
              <a:ea typeface="PingFang SC" panose="020B0400000000000000" charset="-122"/>
              <a:cs typeface="PingFang SC" panose="020B0400000000000000" charset="-122"/>
            </a:endParaRPr>
          </a:p>
        </p:txBody>
      </p:sp>
      <p:sp>
        <p:nvSpPr>
          <p:cNvPr id="14" name="我的问题：能否同时评价调查时间、判断正确率与误操作风险？"/>
          <p:cNvSpPr>
            <a:spLocks noGrp="1"/>
          </p:cNvSpPr>
          <p:nvPr/>
        </p:nvSpPr>
        <p:spPr>
          <a:xfrm>
            <a:off x="619125" y="5162550"/>
            <a:ext cx="10953750" cy="40957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l">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我的问题：能否同时评价调查时间、判断正确率与误操作风险？</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15" name="矩形 14"/>
          <p:cNvSpPr>
            <a:spLocks noGrp="1"/>
          </p:cNvSpPr>
          <p:nvPr/>
        </p:nvSpPr>
        <p:spPr>
          <a:xfrm>
            <a:off x="476250" y="5762625"/>
            <a:ext cx="11239500" cy="504825"/>
          </a:xfrm>
          <a:prstGeom prst="rect">
            <a:avLst/>
          </a:prstGeom>
          <a:solidFill>
            <a:srgbClr val="E8F7F6"/>
          </a:solidFill>
          <a:ln w="0">
            <a:noFill/>
          </a:ln>
        </p:spPr>
      </p:sp>
      <p:sp>
        <p:nvSpPr>
          <p:cNvPr id="16" name="研究愿景：让系统既能发现异常，也能暴露自身局限，支持人员作出有依据的判"/>
          <p:cNvSpPr>
            <a:spLocks noGrp="1"/>
          </p:cNvSpPr>
          <p:nvPr/>
        </p:nvSpPr>
        <p:spPr>
          <a:xfrm>
            <a:off x="647700" y="5857875"/>
            <a:ext cx="10858500" cy="352425"/>
          </a:xfrm>
          <a:prstGeom prst="rect">
            <a:avLst/>
          </a:prstGeom>
          <a:noFill/>
          <a:ln w="0">
            <a:noFill/>
          </a:ln>
        </p:spPr>
        <p:txBody>
          <a:bodyPr wrap="square" lIns="0" tIns="0" rIns="0" bIns="0" anchor="t">
            <a:noAutofit/>
          </a:bodyPr>
          <a:lstStyle>
            <a:defPPr algn="l">
              <a:defRPr sz="18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1800" b="1">
                <a:solidFill>
                  <a:srgbClr val="173B6C"/>
                </a:solidFill>
                <a:latin typeface="PingFang SC" panose="020B0400000000000000" charset="-122"/>
                <a:ea typeface="PingFang SC" panose="020B0400000000000000" charset="-122"/>
                <a:cs typeface="PingFang SC" panose="020B0400000000000000" charset="-122"/>
              </a:defRPr>
            </a:pPr>
            <a:r>
              <a:rPr sz="1800" b="1">
                <a:solidFill>
                  <a:srgbClr val="173B6C"/>
                </a:solidFill>
                <a:latin typeface="宋体" panose="02010600030101010101" pitchFamily="2" charset="-122"/>
                <a:ea typeface="宋体" panose="02010600030101010101" pitchFamily="2" charset="-122"/>
                <a:cs typeface="PingFang SC" panose="020B0400000000000000" charset="-122"/>
              </a:rPr>
              <a:t>研究愿景：让系统既能发现异常，也能暴露自身局限，支持人员作出有依据的判断</a:t>
            </a:r>
            <a:endParaRPr sz="1800" b="1">
              <a:solidFill>
                <a:srgbClr val="173B6C"/>
              </a:solidFill>
              <a:latin typeface="宋体" panose="02010600030101010101" pitchFamily="2" charset="-122"/>
              <a:ea typeface="宋体" panose="02010600030101010101" pitchFamily="2" charset="-122"/>
              <a:cs typeface="PingFang SC" panose="020B0400000000000000" charset="-122"/>
            </a:endParaRPr>
          </a:p>
        </p:txBody>
      </p:sp>
      <p:sp>
        <p:nvSpPr>
          <p:cNvPr id="20"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28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9" name="图片 8"/>
          <p:cNvPicPr>
            <a:picLocks noChangeAspect="1"/>
          </p:cNvPicPr>
          <p:nvPr/>
        </p:nvPicPr>
        <p:blipFill>
          <a:blip r:embed="rId1"/>
          <a:stretch>
            <a:fillRect/>
          </a:stretch>
        </p:blipFill>
        <p:spPr>
          <a:xfrm>
            <a:off x="0" y="867034"/>
            <a:ext cx="4143375" cy="5123932"/>
          </a:xfrm>
          <a:prstGeom prst="rect">
            <a:avLst/>
          </a:prstGeom>
        </p:spPr>
      </p:pic>
      <p:pic>
        <p:nvPicPr>
          <p:cNvPr id="2" name="图片 1"/>
          <p:cNvPicPr>
            <a:picLocks noChangeAspect="1"/>
          </p:cNvPicPr>
          <p:nvPr/>
        </p:nvPicPr>
        <p:blipFill>
          <a:blip r:embed="rId2"/>
          <a:stretch>
            <a:fillRect/>
          </a:stretch>
        </p:blipFill>
        <p:spPr>
          <a:xfrm>
            <a:off x="9525000" y="307743"/>
            <a:ext cx="2190750" cy="632290"/>
          </a:xfrm>
          <a:prstGeom prst="rect">
            <a:avLst/>
          </a:prstGeom>
        </p:spPr>
      </p:pic>
      <p:sp>
        <p:nvSpPr>
          <p:cNvPr id="3" name="矩形 2"/>
          <p:cNvSpPr>
            <a:spLocks noGrp="1"/>
          </p:cNvSpPr>
          <p:nvPr/>
        </p:nvSpPr>
        <p:spPr>
          <a:xfrm>
            <a:off x="4476750" y="1200150"/>
            <a:ext cx="7239000" cy="38100"/>
          </a:xfrm>
          <a:prstGeom prst="rect">
            <a:avLst/>
          </a:prstGeom>
          <a:solidFill>
            <a:srgbClr val="00AFA8"/>
          </a:solidFill>
          <a:ln w="0">
            <a:noFill/>
          </a:ln>
        </p:spPr>
      </p:sp>
      <p:sp>
        <p:nvSpPr>
          <p:cNvPr id="4" name="谢谢各位专家"/>
          <p:cNvSpPr>
            <a:spLocks noGrp="1"/>
          </p:cNvSpPr>
          <p:nvPr/>
        </p:nvSpPr>
        <p:spPr>
          <a:xfrm>
            <a:off x="4562475" y="2637155"/>
            <a:ext cx="7001510" cy="733425"/>
          </a:xfrm>
          <a:prstGeom prst="rect">
            <a:avLst/>
          </a:prstGeom>
          <a:noFill/>
          <a:ln w="0">
            <a:noFill/>
          </a:ln>
        </p:spPr>
        <p:txBody>
          <a:bodyPr wrap="square" lIns="0" tIns="0" rIns="0" bIns="0" anchor="t">
            <a:noAutofit/>
          </a:bodyPr>
          <a:lstStyle>
            <a:defPPr algn="l">
              <a:defRPr sz="3900" b="1">
                <a:solidFill>
                  <a:srgbClr val="173B6C"/>
                </a:solidFill>
                <a:latin typeface="PingFang SC" panose="020B0400000000000000" charset="-122"/>
                <a:ea typeface="PingFang SC" panose="020B0400000000000000" charset="-122"/>
                <a:cs typeface="PingFang SC" panose="020B0400000000000000" charset="-122"/>
              </a:defRPr>
            </a:defPPr>
          </a:lstStyle>
          <a:p>
            <a:pPr algn="ctr">
              <a:buNone/>
              <a:defRPr sz="3900" b="1">
                <a:solidFill>
                  <a:srgbClr val="173B6C"/>
                </a:solidFill>
                <a:latin typeface="PingFang SC" panose="020B0400000000000000" charset="-122"/>
                <a:ea typeface="PingFang SC" panose="020B0400000000000000" charset="-122"/>
                <a:cs typeface="PingFang SC" panose="020B0400000000000000" charset="-122"/>
              </a:defRPr>
            </a:pPr>
            <a:r>
              <a:rPr sz="3900" b="1">
                <a:solidFill>
                  <a:srgbClr val="173B6C"/>
                </a:solidFill>
                <a:latin typeface="黑体" panose="02010609060101010101" charset="-122"/>
                <a:ea typeface="黑体" panose="02010609060101010101" charset="-122"/>
                <a:cs typeface="PingFang SC" panose="020B0400000000000000" charset="-122"/>
              </a:rPr>
              <a:t>谢谢各位</a:t>
            </a:r>
            <a:r>
              <a:rPr sz="3900" b="1">
                <a:solidFill>
                  <a:srgbClr val="173B6C"/>
                </a:solidFill>
                <a:latin typeface="黑体" panose="02010609060101010101" charset="-122"/>
                <a:ea typeface="黑体" panose="02010609060101010101" charset="-122"/>
                <a:cs typeface="PingFang SC" panose="020B0400000000000000" charset="-122"/>
              </a:rPr>
              <a:t>老师、</a:t>
            </a:r>
            <a:r>
              <a:rPr sz="3900" b="1">
                <a:solidFill>
                  <a:srgbClr val="173B6C"/>
                </a:solidFill>
                <a:latin typeface="黑体" panose="02010609060101010101" charset="-122"/>
                <a:ea typeface="黑体" panose="02010609060101010101" charset="-122"/>
                <a:cs typeface="PingFang SC" panose="020B0400000000000000" charset="-122"/>
              </a:rPr>
              <a:t>同学</a:t>
            </a:r>
            <a:endParaRPr sz="3900" b="1">
              <a:solidFill>
                <a:srgbClr val="173B6C"/>
              </a:solidFill>
              <a:latin typeface="黑体" panose="02010609060101010101" charset="-122"/>
              <a:ea typeface="黑体" panose="02010609060101010101" charset="-122"/>
              <a:cs typeface="PingFang SC" panose="020B0400000000000000" charset="-122"/>
            </a:endParaRPr>
          </a:p>
        </p:txBody>
      </p:sp>
      <p:sp>
        <p:nvSpPr>
          <p:cNvPr id="5" name="敬请批评指正"/>
          <p:cNvSpPr>
            <a:spLocks noGrp="1"/>
          </p:cNvSpPr>
          <p:nvPr/>
        </p:nvSpPr>
        <p:spPr>
          <a:xfrm>
            <a:off x="4608830" y="3494405"/>
            <a:ext cx="7106285" cy="720090"/>
          </a:xfrm>
          <a:prstGeom prst="rect">
            <a:avLst/>
          </a:prstGeom>
          <a:noFill/>
          <a:ln w="0">
            <a:noFill/>
          </a:ln>
        </p:spPr>
        <p:txBody>
          <a:bodyPr wrap="square" lIns="0" tIns="0" rIns="0" bIns="0" anchor="t">
            <a:noAutofit/>
          </a:bodyPr>
          <a:lstStyle>
            <a:defPPr algn="l">
              <a:defRPr sz="2850" b="1">
                <a:solidFill>
                  <a:srgbClr val="007E78"/>
                </a:solidFill>
                <a:latin typeface="PingFang SC" panose="020B0400000000000000" charset="-122"/>
                <a:ea typeface="PingFang SC" panose="020B0400000000000000" charset="-122"/>
                <a:cs typeface="PingFang SC" panose="020B0400000000000000" charset="-122"/>
              </a:defRPr>
            </a:defPPr>
          </a:lstStyle>
          <a:p>
            <a:pPr algn="ctr">
              <a:buNone/>
              <a:defRPr sz="2850" b="1">
                <a:solidFill>
                  <a:srgbClr val="007E78"/>
                </a:solidFill>
                <a:latin typeface="PingFang SC" panose="020B0400000000000000" charset="-122"/>
                <a:ea typeface="PingFang SC" panose="020B0400000000000000" charset="-122"/>
                <a:cs typeface="PingFang SC" panose="020B0400000000000000" charset="-122"/>
              </a:defRPr>
            </a:pPr>
            <a:r>
              <a:rPr sz="2850" b="1">
                <a:solidFill>
                  <a:srgbClr val="007E78"/>
                </a:solidFill>
                <a:latin typeface="黑体" panose="02010609060101010101" charset="-122"/>
                <a:ea typeface="黑体" panose="02010609060101010101" charset="-122"/>
                <a:cs typeface="PingFang SC" panose="020B0400000000000000" charset="-122"/>
              </a:rPr>
              <a:t>敬请批评指正</a:t>
            </a:r>
            <a:endParaRPr sz="2850" b="1">
              <a:solidFill>
                <a:srgbClr val="007E78"/>
              </a:solidFill>
              <a:latin typeface="黑体" panose="02010609060101010101" charset="-122"/>
              <a:ea typeface="黑体" panose="02010609060101010101" charset="-122"/>
              <a:cs typeface="PingFang SC" panose="020B0400000000000000" charset="-122"/>
            </a:endParaRPr>
          </a:p>
        </p:txBody>
      </p:sp>
      <p:sp>
        <p:nvSpPr>
          <p:cNvPr id="7" name="汇报人：钱琦&#10;四川大学    2026年10月18日"/>
          <p:cNvSpPr>
            <a:spLocks noGrp="1"/>
          </p:cNvSpPr>
          <p:nvPr/>
        </p:nvSpPr>
        <p:spPr>
          <a:xfrm>
            <a:off x="4643755" y="5629275"/>
            <a:ext cx="6690995" cy="733425"/>
          </a:xfrm>
          <a:prstGeom prst="rect">
            <a:avLst/>
          </a:prstGeom>
          <a:noFill/>
          <a:ln w="0">
            <a:noFill/>
          </a:ln>
        </p:spPr>
        <p:txBody>
          <a:bodyPr wrap="square" lIns="0" tIns="0" rIns="0" bIns="0" anchor="t">
            <a:noAutofit/>
          </a:bodyPr>
          <a:lstStyle>
            <a:defPPr algn="l">
              <a:defRPr sz="1875" b="0">
                <a:solidFill>
                  <a:srgbClr val="57697B"/>
                </a:solidFill>
                <a:latin typeface="PingFang SC" panose="020B0400000000000000" charset="-122"/>
                <a:ea typeface="PingFang SC" panose="020B0400000000000000" charset="-122"/>
                <a:cs typeface="PingFang SC" panose="020B0400000000000000" charset="-122"/>
              </a:defRPr>
            </a:defPPr>
          </a:lstStyle>
          <a:p>
            <a:pPr algn="ctr">
              <a:buNone/>
              <a:defRPr sz="1875" b="0">
                <a:solidFill>
                  <a:srgbClr val="57697B"/>
                </a:solidFill>
                <a:latin typeface="PingFang SC" panose="020B0400000000000000" charset="-122"/>
                <a:ea typeface="PingFang SC" panose="020B0400000000000000" charset="-122"/>
                <a:cs typeface="PingFang SC" panose="020B0400000000000000" charset="-122"/>
              </a:defRPr>
            </a:pPr>
            <a:r>
              <a:rPr sz="1875" b="0">
                <a:solidFill>
                  <a:srgbClr val="57697B"/>
                </a:solidFill>
                <a:latin typeface="宋体" panose="02010600030101010101" pitchFamily="2" charset="-122"/>
                <a:ea typeface="宋体" panose="02010600030101010101" pitchFamily="2" charset="-122"/>
                <a:cs typeface="宋体" panose="02010600030101010101" pitchFamily="2" charset="-122"/>
              </a:rPr>
              <a:t>汇报人：钱琦</a:t>
            </a:r>
            <a:endParaRPr sz="1875" b="0">
              <a:solidFill>
                <a:srgbClr val="57697B"/>
              </a:solidFill>
              <a:latin typeface="宋体" panose="02010600030101010101" pitchFamily="2" charset="-122"/>
              <a:ea typeface="宋体" panose="02010600030101010101" pitchFamily="2" charset="-122"/>
              <a:cs typeface="宋体" panose="02010600030101010101" pitchFamily="2" charset="-122"/>
            </a:endParaRPr>
          </a:p>
          <a:p>
            <a:pPr algn="ctr">
              <a:buNone/>
              <a:defRPr sz="1875" b="0">
                <a:solidFill>
                  <a:srgbClr val="57697B"/>
                </a:solidFill>
                <a:latin typeface="PingFang SC" panose="020B0400000000000000" charset="-122"/>
                <a:ea typeface="PingFang SC" panose="020B0400000000000000" charset="-122"/>
                <a:cs typeface="PingFang SC" panose="020B0400000000000000" charset="-122"/>
              </a:defRPr>
            </a:pPr>
            <a:r>
              <a:rPr sz="1875" b="0">
                <a:solidFill>
                  <a:srgbClr val="57697B"/>
                </a:solidFill>
                <a:latin typeface="宋体" panose="02010600030101010101" pitchFamily="2" charset="-122"/>
                <a:ea typeface="宋体" panose="02010600030101010101" pitchFamily="2" charset="-122"/>
                <a:cs typeface="宋体" panose="02010600030101010101" pitchFamily="2" charset="-122"/>
              </a:rPr>
              <a:t> 2026年10月18日</a:t>
            </a:r>
            <a:endParaRPr sz="1875" b="0">
              <a:solidFill>
                <a:srgbClr val="57697B"/>
              </a:solidFill>
              <a:latin typeface="宋体" panose="02010600030101010101" pitchFamily="2" charset="-122"/>
              <a:ea typeface="宋体" panose="02010600030101010101" pitchFamily="2" charset="-122"/>
              <a:cs typeface="宋体" panose="02010600030101010101" pitchFamily="2" charset="-122"/>
            </a:endParaRPr>
          </a:p>
        </p:txBody>
      </p:sp>
      <p:sp>
        <p:nvSpPr>
          <p:cNvPr id="10" name="Unified page number"/>
          <p:cNvSpPr>
            <a:spLocks noGrp="1"/>
          </p:cNvSpPr>
          <p:nvPr/>
        </p:nvSpPr>
        <p:spPr>
          <a:xfrm>
            <a:off x="10810875" y="6524625"/>
            <a:ext cx="914400" cy="238125"/>
          </a:xfrm>
          <a:prstGeom prst="rect">
            <a:avLst/>
          </a:prstGeom>
          <a:noFill/>
          <a:ln w="0">
            <a:noFill/>
          </a:ln>
        </p:spPr>
        <p:txBody>
          <a:bodyPr lIns="0" tIns="0" rIns="0" bIns="0" anchor="ctr">
            <a:noAutofit/>
          </a:bodyPr>
          <a:lstStyle>
            <a:defPPr>
              <a:defRPr sz="1200" b="0">
                <a:solidFill>
                  <a:srgbClr val="57697B"/>
                </a:solidFill>
                <a:latin typeface="PingFang SC" panose="020B0400000000000000" charset="-122"/>
                <a:ea typeface="PingFang SC" panose="020B0400000000000000" charset="-122"/>
                <a:cs typeface="PingFang SC" panose="020B0400000000000000" charset="-122"/>
              </a:defRPr>
            </a:defPPr>
          </a:lstStyle>
          <a:p>
            <a:pPr>
              <a:buNone/>
              <a:defRPr sz="1200" b="0">
                <a:solidFill>
                  <a:srgbClr val="57697B"/>
                </a:solidFill>
                <a:latin typeface="PingFang SC" panose="020B0400000000000000" charset="-122"/>
                <a:ea typeface="PingFang SC" panose="020B0400000000000000" charset="-122"/>
                <a:cs typeface="PingFang SC" panose="020B0400000000000000" charset="-122"/>
              </a:defRPr>
            </a:pPr>
            <a:r>
              <a:rPr sz="1200" b="0">
                <a:solidFill>
                  <a:srgbClr val="57697B"/>
                </a:solidFill>
                <a:latin typeface="黑体" panose="02010609060101010101" charset="-122"/>
                <a:ea typeface="黑体" panose="02010609060101010101" charset="-122"/>
                <a:cs typeface="PingFang SC" panose="020B0400000000000000" charset="-122"/>
              </a:rPr>
              <a:t>29 / 29</a:t>
            </a:r>
            <a:endParaRPr sz="1200" b="0">
              <a:solidFill>
                <a:srgbClr val="57697B"/>
              </a:solidFill>
              <a:latin typeface="黑体" panose="02010609060101010101" charset="-122"/>
              <a:ea typeface="黑体" panose="02010609060101010101" charset="-122"/>
              <a:cs typeface="PingFang SC" panose="020B04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316.5,&quot;left&quot;:457.5,&quot;top&quot;:138.75,&quot;width&quot;:438.75}"/>
</p:tagLst>
</file>

<file path=ppt/tags/tag2.xml><?xml version="1.0" encoding="utf-8"?>
<p:tagLst xmlns:p="http://schemas.openxmlformats.org/presentationml/2006/main">
  <p:tag name="KSO_WM_DIAGRAM_VIRTUALLY_FRAME" val="{&quot;height&quot;:316.5,&quot;left&quot;:457.5,&quot;top&quot;:138.75,&quot;width&quot;:438.75}"/>
</p:tagLst>
</file>

<file path=ppt/tags/tag3.xml><?xml version="1.0" encoding="utf-8"?>
<p:tagLst xmlns:p="http://schemas.openxmlformats.org/presentationml/2006/main">
  <p:tag name="KSO_WM_DIAGRAM_VIRTUALLY_FRAME" val="{&quot;height&quot;:316.5,&quot;left&quot;:457.5,&quot;top&quot;:138.75,&quot;width&quot;:438.75}"/>
</p:tagLst>
</file>

<file path=ppt/tags/tag4.xml><?xml version="1.0" encoding="utf-8"?>
<p:tagLst xmlns:p="http://schemas.openxmlformats.org/presentationml/2006/main">
  <p:tag name="KSO_WM_DIAGRAM_VIRTUALLY_FRAME" val="{&quot;height&quot;:316.5,&quot;left&quot;:457.5,&quot;top&quot;:138.75,&quot;width&quot;:438.75}"/>
</p:tagLst>
</file>

<file path=ppt/tags/tag5.xml><?xml version="1.0" encoding="utf-8"?>
<p:tagLst xmlns:p="http://schemas.openxmlformats.org/presentationml/2006/main">
  <p:tag name="KSO_WM_DIAGRAM_VIRTUALLY_FRAME" val="{&quot;height&quot;:316.5,&quot;left&quot;:457.5,&quot;top&quot;:138.75,&quot;width&quot;:438.75}"/>
</p:tagLst>
</file>

<file path=ppt/tags/tag6.xml><?xml version="1.0" encoding="utf-8"?>
<p:tagLst xmlns:p="http://schemas.openxmlformats.org/presentationml/2006/main">
  <p:tag name="KSO_WM_DIAGRAM_VIRTUALLY_FRAME" val="{&quot;height&quot;:316.5,&quot;left&quot;:457.5,&quot;top&quot;:138.75,&quot;width&quot;:438.75}"/>
</p:tagLst>
</file>

<file path=ppt/tags/tag7.xml><?xml version="1.0" encoding="utf-8"?>
<p:tagLst xmlns:p="http://schemas.openxmlformats.org/presentationml/2006/main">
  <p:tag name="KSO_WM_DIAGRAM_VIRTUALLY_FRAME" val="{&quot;height&quot;:204.75,&quot;left&quot;:37.5,&quot;top&quot;:169.5,&quot;width&quot;:885}"/>
</p:tagLst>
</file>

<file path=ppt/tags/tag8.xml><?xml version="1.0" encoding="utf-8"?>
<p:tagLst xmlns:p="http://schemas.openxmlformats.org/presentationml/2006/main">
  <p:tag name="KSO_WM_DIAGRAM_VIRTUALLY_FRAME" val="{&quot;height&quot;:204.75,&quot;left&quot;:37.5,&quot;top&quot;:169.5,&quot;width&quot;:885}"/>
</p:tagLst>
</file>

<file path=ppt/tags/tag9.xml><?xml version="1.0" encoding="utf-8"?>
<p:tagLst xmlns:p="http://schemas.openxmlformats.org/presentationml/2006/main">
  <p:tag name="KSO_WM_DIAGRAM_VIRTUALLY_FRAME" val="{&quot;height&quot;:204.75,&quot;left&quot;:37.5,&quot;top&quot;:169.5,&quot;width&quot;:885}"/>
</p:tagLst>
</file>

<file path=ppt/tags/tag10.xml><?xml version="1.0" encoding="utf-8"?>
<p:tagLst xmlns:p="http://schemas.openxmlformats.org/presentationml/2006/main">
  <p:tag name="KSO_WM_DIAGRAM_VIRTUALLY_FRAME" val="{&quot;height&quot;:204.75,&quot;left&quot;:37.5,&quot;top&quot;:169.5,&quot;width&quot;:885}"/>
</p:tagLst>
</file>

<file path=ppt/tags/tag11.xml><?xml version="1.0" encoding="utf-8"?>
<p:tagLst xmlns:p="http://schemas.openxmlformats.org/presentationml/2006/main">
  <p:tag name="KSO_WM_DIAGRAM_VIRTUALLY_FRAME" val="{&quot;height&quot;:204.75,&quot;left&quot;:37.5,&quot;top&quot;:169.5,&quot;width&quot;:885}"/>
</p:tagLst>
</file>

<file path=ppt/tags/tag12.xml><?xml version="1.0" encoding="utf-8"?>
<p:tagLst xmlns:p="http://schemas.openxmlformats.org/presentationml/2006/main">
  <p:tag name="KSO_WM_DIAGRAM_VIRTUALLY_FRAME" val="{&quot;height&quot;:204.75,&quot;left&quot;:37.5,&quot;top&quot;:169.5,&quot;width&quot;:885}"/>
</p:tagLst>
</file>

<file path=ppt/tags/tag13.xml><?xml version="1.0" encoding="utf-8"?>
<p:tagLst xmlns:p="http://schemas.openxmlformats.org/presentationml/2006/main">
  <p:tag name="KSO_WM_DIAGRAM_VIRTUALLY_FRAME" val="{&quot;height&quot;:204.75,&quot;left&quot;:37.5,&quot;top&quot;:169.5,&quot;width&quot;:885}"/>
</p:tagLst>
</file>

<file path=ppt/tags/tag14.xml><?xml version="1.0" encoding="utf-8"?>
<p:tagLst xmlns:p="http://schemas.openxmlformats.org/presentationml/2006/main">
  <p:tag name="KSO_WM_DIAGRAM_VIRTUALLY_FRAME" val="{&quot;height&quot;:204.75,&quot;left&quot;:37.5,&quot;top&quot;:169.5,&quot;width&quot;:885}"/>
</p:tagLst>
</file>

<file path=ppt/tags/tag15.xml><?xml version="1.0" encoding="utf-8"?>
<p:tagLst xmlns:p="http://schemas.openxmlformats.org/presentationml/2006/main">
  <p:tag name="KSO_WM_DIAGRAM_VIRTUALLY_FRAME" val="{&quot;height&quot;:204.75,&quot;left&quot;:37.5,&quot;top&quot;:169.5,&quot;width&quot;:885}"/>
</p:tagLst>
</file>

<file path=ppt/tags/tag16.xml><?xml version="1.0" encoding="utf-8"?>
<p:tagLst xmlns:p="http://schemas.openxmlformats.org/presentationml/2006/main">
  <p:tag name="KSO_WM_DIAGRAM_VIRTUALLY_FRAME" val="{&quot;height&quot;:204.75,&quot;left&quot;:37.5,&quot;top&quot;:169.5,&quot;width&quot;:885}"/>
</p:tagLst>
</file>

<file path=ppt/tags/tag17.xml><?xml version="1.0" encoding="utf-8"?>
<p:tagLst xmlns:p="http://schemas.openxmlformats.org/presentationml/2006/main">
  <p:tag name="KSO_WM_DIAGRAM_VIRTUALLY_FRAME" val="{&quot;height&quot;:204.75,&quot;left&quot;:37.5,&quot;top&quot;:169.5,&quot;width&quot;:885}"/>
</p:tagLst>
</file>

<file path=ppt/tags/tag18.xml><?xml version="1.0" encoding="utf-8"?>
<p:tagLst xmlns:p="http://schemas.openxmlformats.org/presentationml/2006/main">
  <p:tag name="KSO_WM_DIAGRAM_VIRTUALLY_FRAME" val="{&quot;height&quot;:204.75,&quot;left&quot;:37.5,&quot;top&quot;:169.5,&quot;width&quot;:885}"/>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ingFang SC"/>
        <a:ea typeface="PingFang SC"/>
        <a:cs typeface="PingFang SC"/>
      </a:majorFont>
      <a:minorFont>
        <a:latin typeface="PingFang SC"/>
        <a:ea typeface="PingFang SC"/>
        <a:cs typeface="PingFang S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PingFang SC"/>
        <a:ea typeface="PingFang SC"/>
        <a:cs typeface="PingFang SC"/>
      </a:majorFont>
      <a:minorFont>
        <a:latin typeface="PingFang SC"/>
        <a:ea typeface="PingFang SC"/>
        <a:cs typeface="PingFang SC"/>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6002</Words>
  <Application>WPS 演示</Application>
  <PresentationFormat>Converted Presentation</PresentationFormat>
  <Paragraphs>666</Paragraphs>
  <Slides>29</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29</vt:i4>
      </vt:variant>
    </vt:vector>
  </HeadingPairs>
  <TitlesOfParts>
    <vt:vector size="45" baseType="lpstr">
      <vt:lpstr>Arial</vt:lpstr>
      <vt:lpstr>宋体</vt:lpstr>
      <vt:lpstr>Wingdings</vt:lpstr>
      <vt:lpstr>PingFang SC</vt:lpstr>
      <vt:lpstr>Times New Roman</vt:lpstr>
      <vt:lpstr>黑体</vt:lpstr>
      <vt:lpstr>KSOF18A6D046</vt:lpstr>
      <vt:lpstr>FFont-Family</vt:lpstr>
      <vt:lpstr>微软雅黑</vt:lpstr>
      <vt:lpstr>Arial Unicode MS</vt:lpstr>
      <vt:lpstr>DejaVu Math TeX Gyre</vt:lpstr>
      <vt:lpstr>MS PGothic</vt:lpstr>
      <vt:lpstr>KSOF18A5E788</vt:lpstr>
      <vt:lpstr>KSOF18A65BE7</vt:lpstr>
      <vt:lpstr>PingFang SC</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WPS_1679324192</cp:lastModifiedBy>
  <cp:revision>7</cp:revision>
  <dcterms:created xsi:type="dcterms:W3CDTF">2026-10-16T03:24:00Z</dcterms:created>
  <dcterms:modified xsi:type="dcterms:W3CDTF">2026-10-16T09:05:55Z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3925B8C5155E4CE78E86105E7E82762D_13</vt:lpwstr>
  </property>
</Properties>
</file>