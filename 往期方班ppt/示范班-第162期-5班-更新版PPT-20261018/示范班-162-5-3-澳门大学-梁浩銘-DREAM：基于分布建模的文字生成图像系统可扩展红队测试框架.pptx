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6.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4"/>
  </p:notesMasterIdLst>
  <p:handoutMasterIdLst>
    <p:handoutMasterId r:id="rId35"/>
  </p:handoutMasterIdLst>
  <p:sldIdLst>
    <p:sldId id="777" r:id="rId2"/>
    <p:sldId id="776" r:id="rId3"/>
    <p:sldId id="779" r:id="rId4"/>
    <p:sldId id="836" r:id="rId5"/>
    <p:sldId id="857" r:id="rId6"/>
    <p:sldId id="838" r:id="rId7"/>
    <p:sldId id="837" r:id="rId8"/>
    <p:sldId id="840" r:id="rId9"/>
    <p:sldId id="831" r:id="rId10"/>
    <p:sldId id="852" r:id="rId11"/>
    <p:sldId id="858" r:id="rId12"/>
    <p:sldId id="850" r:id="rId13"/>
    <p:sldId id="854" r:id="rId14"/>
    <p:sldId id="859" r:id="rId15"/>
    <p:sldId id="855" r:id="rId16"/>
    <p:sldId id="853" r:id="rId17"/>
    <p:sldId id="856" r:id="rId18"/>
    <p:sldId id="832" r:id="rId19"/>
    <p:sldId id="861" r:id="rId20"/>
    <p:sldId id="841" r:id="rId21"/>
    <p:sldId id="862" r:id="rId22"/>
    <p:sldId id="844" r:id="rId23"/>
    <p:sldId id="842" r:id="rId24"/>
    <p:sldId id="847" r:id="rId25"/>
    <p:sldId id="848" r:id="rId26"/>
    <p:sldId id="863" r:id="rId27"/>
    <p:sldId id="864" r:id="rId28"/>
    <p:sldId id="849" r:id="rId29"/>
    <p:sldId id="833" r:id="rId30"/>
    <p:sldId id="845" r:id="rId31"/>
    <p:sldId id="846" r:id="rId32"/>
    <p:sldId id="77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E7E6E5"/>
    <a:srgbClr val="EEEEEE"/>
    <a:srgbClr val="014924"/>
    <a:srgbClr val="E8E8E8"/>
    <a:srgbClr val="BFBFBF"/>
    <a:srgbClr val="2222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15" autoAdjust="0"/>
    <p:restoredTop sz="71174" autoAdjust="0"/>
  </p:normalViewPr>
  <p:slideViewPr>
    <p:cSldViewPr snapToGrid="0" showGuides="1">
      <p:cViewPr varScale="1">
        <p:scale>
          <a:sx n="78" d="100"/>
          <a:sy n="78" d="100"/>
        </p:scale>
        <p:origin x="91" y="2160"/>
      </p:cViewPr>
      <p:guideLst/>
    </p:cSldViewPr>
  </p:slideViewPr>
  <p:notesTextViewPr>
    <p:cViewPr>
      <p:scale>
        <a:sx n="1" d="1"/>
        <a:sy n="1" d="1"/>
      </p:scale>
      <p:origin x="0" y="0"/>
    </p:cViewPr>
  </p:notesTextViewPr>
  <p:sorterViewPr>
    <p:cViewPr>
      <p:scale>
        <a:sx n="150" d="100"/>
        <a:sy n="150" d="100"/>
      </p:scale>
      <p:origin x="0" y="0"/>
    </p:cViewPr>
  </p:sorterViewPr>
  <p:notesViewPr>
    <p:cSldViewPr snapToGrid="0" showGuides="1">
      <p:cViewPr varScale="1">
        <p:scale>
          <a:sx n="92" d="100"/>
          <a:sy n="92" d="100"/>
        </p:scale>
        <p:origin x="411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25967F4-0A90-C6D8-C7A7-0E38B6F527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D574DFC6-9048-2D48-A855-887231D3ED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1CF01E-7679-46AD-BD36-A23A11BF84AB}" type="datetimeFigureOut">
              <a:rPr lang="zh-CN" altLang="en-US" smtClean="0"/>
              <a:t>2026/10/16</a:t>
            </a:fld>
            <a:endParaRPr lang="zh-CN" altLang="en-US"/>
          </a:p>
        </p:txBody>
      </p:sp>
      <p:sp>
        <p:nvSpPr>
          <p:cNvPr id="4" name="页脚占位符 3">
            <a:extLst>
              <a:ext uri="{FF2B5EF4-FFF2-40B4-BE49-F238E27FC236}">
                <a16:creationId xmlns:a16="http://schemas.microsoft.com/office/drawing/2014/main" id="{7DF628A2-7DB7-02A6-E4ED-3864EE638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CA3F8F10-CB95-61E6-00F0-699C2549E7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735F92-EA63-496E-83CB-B20A02D636E5}" type="slidenum">
              <a:rPr lang="zh-CN" altLang="en-US" smtClean="0"/>
              <a:t>‹#›</a:t>
            </a:fld>
            <a:endParaRPr lang="zh-CN" altLang="en-US"/>
          </a:p>
        </p:txBody>
      </p:sp>
    </p:spTree>
    <p:extLst>
      <p:ext uri="{BB962C8B-B14F-4D97-AF65-F5344CB8AC3E}">
        <p14:creationId xmlns:p14="http://schemas.microsoft.com/office/powerpoint/2010/main" val="33912114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F23912-F76B-44AA-AEEC-D62510CEF69C}" type="datetimeFigureOut">
              <a:rPr lang="zh-CN" altLang="en-US" smtClean="0"/>
              <a:t>2026/10/16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7025F4-21EF-435D-81ED-3E98BA65D948}" type="slidenum">
              <a:rPr lang="zh-CN" altLang="en-US" smtClean="0"/>
              <a:t>‹#›</a:t>
            </a:fld>
            <a:endParaRPr lang="zh-CN" altLang="en-US"/>
          </a:p>
        </p:txBody>
      </p:sp>
    </p:spTree>
    <p:extLst>
      <p:ext uri="{BB962C8B-B14F-4D97-AF65-F5344CB8AC3E}">
        <p14:creationId xmlns:p14="http://schemas.microsoft.com/office/powerpoint/2010/main" val="2670087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err="1"/>
              <a:t>讲解提示</a:t>
            </a:r>
            <a:endParaRPr dirty="0"/>
          </a:p>
          <a:p>
            <a:r>
              <a:rPr dirty="0"/>
              <a:t>这篇论文讨论的是如何自动找到一批能够暴露文字生成图像系统安全问题的提示词。先用一个简单规则解释任务，再说明三个模块，最后看实验能支持哪些结论。</a:t>
            </a:r>
          </a:p>
          <a:p>
            <a:endParaRPr dirty="0"/>
          </a:p>
        </p:txBody>
      </p:sp>
      <p:sp>
        <p:nvSpPr>
          <p:cNvPr id="4" name="灯片编号占位符 3"/>
          <p:cNvSpPr>
            <a:spLocks noGrp="1"/>
          </p:cNvSpPr>
          <p:nvPr>
            <p:ph type="sldNum" sz="quarter" idx="5"/>
          </p:nvPr>
        </p:nvSpPr>
        <p:spPr/>
        <p:txBody>
          <a:bodyPr/>
          <a:lstStyle/>
          <a:p>
            <a:fld id="{6C7025F4-21EF-435D-81ED-3E98BA65D948}" type="slidenum">
              <a:rPr lang="zh-CN" altLang="en-US" smtClean="0"/>
              <a:t>1</a:t>
            </a:fld>
            <a:endParaRPr lang="zh-CN" altLang="en-US"/>
          </a:p>
        </p:txBody>
      </p:sp>
    </p:spTree>
    <p:extLst>
      <p:ext uri="{BB962C8B-B14F-4D97-AF65-F5344CB8AC3E}">
        <p14:creationId xmlns:p14="http://schemas.microsoft.com/office/powerpoint/2010/main" val="2235728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按原来的四部分讲。背景要先建立任务直觉，方法解释每个部件的作用，实验对应这些作用，最后提出具体的后续检查</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先说明：什么结果算一次测试发现</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先讲图中的输入和输出。安全对齐是改模型，过滤器则在输入或输出处检查。图里的“成功拦截”既可能是拒绝，也可能是返回安全替代结果。后面不能只问某个敏感词是否被拦住，还要看最终输出是否遵守规则。</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先声明这是一个无害的教学规则，不是论文数据。A是正常输出；B被拦截，因此不是失败；C输出了规则禁止的内容，才是需要收集的失败案例。这个例子不表示某种表达一定能绕过真实平台。下一页把这种判断写成红队测试的目标。</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沿用前一页的C类案例。公式中x是提示词，G是完整系统，S给输出评分，τ是筛选阈值。红队测试不是只找一个成功输入，而是收集具有差异的一批案例，以便评估和改进系统。模型拥有者是论文的测试主体；这里不把“只用前向反馈”误讲成攻击者只能使用黑盒接口。</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不要说所有已有方法都没有反馈。许多方法可以用一次搜索中的反馈继续改写。这里更具体的问题是：处理下一条提示词时，前一次搜索是否更新了一个共享的生成模型。左边两条相似提示词说明重复搜索可能来自哪里。</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这里的分布不是一张已经画好的风险地图，也不是人工先划好场景类别。DREAM更新的是提示词生成器的参数θ。使用“长椅、雪地、海边”只是帮助理解多样性，不要讲成算法内部有三个固定类别。训练完成后再采样，才是扩展到大量提示词的基础。</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三个模块：如何评分、如何训练、如何采样</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先不讲公式。第一个模块规定优化目标；第二个模块更新提示词生成器；第三个模块在训练完成后的采样中减少重复。它们不是三个串联生成图像的模型。尤其要区分训练阶段更新生成器，和后续防御实验中微调被测图像模型。</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从左到右走一遍：生成器给出一批提示词，目标系统返回图像，能量函数评分，再用GC-SPSA更新生成器。目标系统在这个阶段不随之训练。训练结束后参数固定，ATS只改变采样。生成的候选还需要在系统中验证，不能把所有候选都当成成功案例。θ、历史梯度和ATS词频表分别记录不同信息。</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先解释能量这个名字：它只是评分约定，越低越受偏好。论文用能量定义目标分布，并把训练目标写成期望能量加熵正则。公式里的log</a:t>
            </a:r>
            <a:r>
              <a:rPr dirty="0"/>
              <a:t> </a:t>
            </a:r>
            <a:r>
              <a:rPr dirty="0" err="1"/>
              <a:t>p项不是额外风险分类器。下面再拆开E，看图像匹配和提示词多样性分别怎么计算</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第一项只看文字还不够，要生成图像以后再比较。第二项只看字面是否不同也不够，要比较语义。两条长椅提示词可能只是同义改写。λ越大，重复惩罚越重要。最后的成功率使用MHSC等判定器，不能把BLIP-2的匹配分数直接当成PS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先读两组真实句子，再看分数。A匹配目标更强，但两条文字太相似；B的图像匹配稍弱，却有更多语义变化。λ设为1，并暂时让两组熵项相同，于是A为−0.90+0.95=0.05，B为−0.84+0.45=−0.39。能量更低的B更受偏好。这个例子说明为什么必须同时报告成功率和重复度。</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两个问题要分开讲：一是过滤和离散采样中可能有不可导操作，二是长链路的反向计算需要存储大量状态。不能说所有图像生成模型都不可导，也不要给“完全不需要梯度”的印象。GC-SPSA仍估计梯度，只是通过前向损失差来估计。原稿的单次2TB缺少对应设置，已改为定性说明。</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不要逐行念伪代码。先指四个阶段：安排预算、两侧评估、历史校准、参数更新。这里扰动的是红队提示词生成器的参数，不是替换某个词，也不是更新被测图像模型。每个扰动方向用两次前向评估；预算n_t计算的是这样的估计次数。下一页做一个标量例子。</a:t>
            </a:r>
          </a:p>
          <a:p>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ATS先找当前logit最大的词，再查询这个词在此前所有生成中的相对频率。它据此调整整个下一词分布的温度，不是强制删除这个词。例子中长椅的概率从73.1%降到51.5%，</a:t>
            </a:r>
            <a:r>
              <a:rPr dirty="0" err="1"/>
              <a:t>但它仍然排第一。没有重新训练并不等于没有运行成本，因此将“零成本”改成“不需要重新训练</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把前面的设计，逐项变成可检验的问题</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后面每页只回答一个问题。主结果回答是否有效；不同防御和平台回答适用范围；消融回答部件的作用；相近GPU时间比较排除单纯多花计算的解释；效率图检查训练成本能否摊薄；最后的微调实验检查发现的问题能否帮助改进。</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dirty="0" err="1"/>
              <a:t>讲解提示</a:t>
            </a:r>
            <a:endParaRPr dirty="0"/>
          </a:p>
          <a:p>
            <a:r>
              <a:rPr dirty="0" err="1"/>
              <a:t>不要逐个解释所有方法缩写。左列说明防御在系统中的不同位置，中列代表不同方式生成测试输入，右列说明结果用什么衡量。原始SD</a:t>
            </a:r>
            <a:r>
              <a:rPr dirty="0"/>
              <a:t> v1.5</a:t>
            </a:r>
            <a:r>
              <a:t>是参照。不用</a:t>
            </a:r>
            <a:r>
              <a:rPr dirty="0"/>
              <a:t>“所有方法”“所有场景”等概括。新一页专门解释PSR-3如何计算。</a:t>
            </a:r>
          </a:p>
        </p:txBody>
      </p:sp>
      <p:sp>
        <p:nvSpPr>
          <p:cNvPr id="4" name="投影片編號版面配置區 3"/>
          <p:cNvSpPr>
            <a:spLocks noGrp="1"/>
          </p:cNvSpPr>
          <p:nvPr>
            <p:ph type="sldNum" sz="quarter" idx="5"/>
          </p:nvPr>
        </p:nvSpPr>
        <p:spPr/>
        <p:txBody>
          <a:bodyPr/>
          <a:lstStyle/>
          <a:p>
            <a:fld id="{6C7025F4-21EF-435D-81ED-3E98BA65D948}" type="slidenum">
              <a:rPr lang="zh-CN" altLang="en-US" smtClean="0"/>
              <a:t>20</a:t>
            </a:fld>
            <a:endParaRPr lang="zh-CN" altLang="en-US"/>
          </a:p>
        </p:txBody>
      </p:sp>
    </p:spTree>
    <p:extLst>
      <p:ext uri="{BB962C8B-B14F-4D97-AF65-F5344CB8AC3E}">
        <p14:creationId xmlns:p14="http://schemas.microsoft.com/office/powerpoint/2010/main" val="14281465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逐行算：A与C成功，B与D失败，因此是2除以4等于50%。如果把所有图像中1的数量3除以12，会得到25%，那不是这里的PSR-3。训练用的BLIP-2匹配与评估用的MHSC不同。PS用BGE提示词向量的平均两两相似度；数值小表示更不重复，但不能直接说明覆盖了多少种漏洞。</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先告诉听众每个单元格的前一个数是成功率，后一个数是相似度。选择CA</a:t>
            </a:r>
            <a:r>
              <a:rPr dirty="0"/>
              <a:t>/Sexual一列讲：P4D为52.0%/0.60，DREAM为76.0%/0.56。这个例子里成功率提高，同时相似度下降。全表中DREAM的成功率领先，但多样性并非每列最优，不能说和人工数据完全一样。</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这一页回答防御位置变了会怎样。先看过滤器类别，再看DREAM一行。它在多数设置下有更高的成功率，但原表确实有例外：NSFW文本</a:t>
            </a:r>
            <a:r>
              <a:rPr dirty="0"/>
              <a:t>/Violence为42.5%，JailFuzzer是46.4%。因此改成比较结果，不再使用“</a:t>
            </a:r>
            <a:r>
              <a:rPr dirty="0" err="1"/>
              <a:t>所有机制都稳定领先</a:t>
            </a:r>
            <a:r>
              <a:rPr dirty="0"/>
              <a:t>”。</a:t>
            </a:r>
            <a:r>
              <a:rPr dirty="0" err="1"/>
              <a:t>这些列是不同实验设置，不能当作同一次请求依次通过四层过滤</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保留原表四个平台，但现场选择Ideogram一组解释指标。98.4%是提示词请求通过，96.1%是返回图像，人工确认风险是57.9%±3.2%。不能把98.4%称作不安全生成成功率。这里只支持这些提示词在论文当时测试的平台上存在迁移效果，也不证明所有平台有同一种内部漏洞。</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这页保留原来的可编辑表格。比较第1与第3行，时间相近，成功率47.7%对76.0%；第2与第4行也类似。这样比只对齐训练步数更有说服力，因为GC-SPSA每步需要的前向评估次数不相同。n0=8比n0=4增加3.8个百分点，也多约2.65小时。PS要单独解释，不是所有指标一起改善。</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这一页是从原论文补充的模块消融；各配置仍保留熵正则，“仅”指两项能量中只保留图像匹配能量。加多样性后相似度降低，但成功率也有取舍；ATS小幅提高多样性；GC-SPSA主要改善相同完整目标下的成功率。Table7的SPSA是45.9%，前页Table8按GPU时间对齐后的SPSA是47.7%或61.8%，</a:t>
            </a:r>
            <a:r>
              <a:rPr dirty="0" err="1"/>
              <a:t>两种对照不能混为同一个设置</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先读坐标，再谈结论。纵轴是对数刻度，报告的是收集指定数量有效提示词的预计总时间，包含训练，不只是一次采样时间。DREAM不是一开始就免费，优势来自训练后批量生成较便宜。因此大量案例的任务更适合它；只要少数案例时要另算成本。</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这页训练的对象换成了被测图像模型。先用不同来源的红队数据做Safety-DPO，再用各方法的提示词交叉测试。纵轴是防御模型的训练数据来源，横轴是测试提示词来源。举I2P/Sexual一格，51.50%降到10.30%，说明有改善；不能说所有攻击都能抵御，因为图上残余成功率不是零。原稿已经包含防御实验，因此总结中不能写“论文只做攻击，未来再做防御”。</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err="1"/>
              <a:t>先收束结果，再提出具体的后续检查</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用三个动作总结：改变生成测试提示词的方式；提出可运行的训练和采样机制；检验它的效果、成本和下游用途。不要重复“认知升维、优雅解法、实战意义”等标签，也不要把若干实验设置称为20个真实应用。</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讲解提示</a:t>
            </a:r>
            <a:endParaRPr dirty="0"/>
          </a:p>
          <a:p>
            <a:r>
              <a:rPr dirty="0"/>
              <a:t>把未来工作变成能真正做的检查。第一项看评分是否可靠；第二项看小预算和少量案例场景；第三项看更安全的模型有没有影响正常请求。原论文已做安全微调，因此不能把“第一次尝试防御”当未来计划。这里提出的具体检查属于汇报者思考，并非声称作者已经做过。</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dirty="0" err="1"/>
              <a:t>讲解提示</a:t>
            </a:r>
            <a:endParaRPr dirty="0"/>
          </a:p>
          <a:p>
            <a:r>
              <a:rPr dirty="0" err="1"/>
              <a:t>收束为一句：DREAM把逐条找提示词变成训练可重复采样的生成器。然后接受提问</a:t>
            </a:r>
            <a:r>
              <a:rPr dirty="0"/>
              <a:t>。</a:t>
            </a:r>
          </a:p>
          <a:p>
            <a:endParaRPr dirty="0"/>
          </a:p>
        </p:txBody>
      </p:sp>
      <p:sp>
        <p:nvSpPr>
          <p:cNvPr id="4" name="灯片编号占位符 3"/>
          <p:cNvSpPr>
            <a:spLocks noGrp="1"/>
          </p:cNvSpPr>
          <p:nvPr>
            <p:ph type="sldNum" sz="quarter" idx="5"/>
          </p:nvPr>
        </p:nvSpPr>
        <p:spPr/>
        <p:txBody>
          <a:bodyPr/>
          <a:lstStyle/>
          <a:p>
            <a:fld id="{6C7025F4-21EF-435D-81ED-3E98BA65D948}" type="slidenum">
              <a:rPr lang="zh-CN" altLang="en-US" smtClean="0"/>
              <a:t>32</a:t>
            </a:fld>
            <a:endParaRPr lang="zh-CN" altLang="en-US"/>
          </a:p>
        </p:txBody>
      </p:sp>
    </p:spTree>
    <p:extLst>
      <p:ext uri="{BB962C8B-B14F-4D97-AF65-F5344CB8AC3E}">
        <p14:creationId xmlns:p14="http://schemas.microsoft.com/office/powerpoint/2010/main" val="276018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113927649"/>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832341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图片版式1">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89023E42-4B8B-1C3E-2446-77FEABB93137}"/>
              </a:ext>
            </a:extLst>
          </p:cNvPr>
          <p:cNvSpPr>
            <a:spLocks noGrp="1"/>
          </p:cNvSpPr>
          <p:nvPr>
            <p:ph type="pic" sz="quarter" idx="10"/>
          </p:nvPr>
        </p:nvSpPr>
        <p:spPr>
          <a:xfrm>
            <a:off x="1157288" y="1489075"/>
            <a:ext cx="4637087"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a:p>
        </p:txBody>
      </p:sp>
      <p:sp>
        <p:nvSpPr>
          <p:cNvPr id="6" name="图片占位符 4">
            <a:extLst>
              <a:ext uri="{FF2B5EF4-FFF2-40B4-BE49-F238E27FC236}">
                <a16:creationId xmlns:a16="http://schemas.microsoft.com/office/drawing/2014/main" id="{85A7C87F-7BFA-4A62-E4CE-DAC458FB6A15}"/>
              </a:ext>
            </a:extLst>
          </p:cNvPr>
          <p:cNvSpPr>
            <a:spLocks noGrp="1"/>
          </p:cNvSpPr>
          <p:nvPr>
            <p:ph type="pic" sz="quarter" idx="11"/>
          </p:nvPr>
        </p:nvSpPr>
        <p:spPr>
          <a:xfrm>
            <a:off x="6396946" y="1489075"/>
            <a:ext cx="4637087"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591227524"/>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图片版式1">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89023E42-4B8B-1C3E-2446-77FEABB93137}"/>
              </a:ext>
            </a:extLst>
          </p:cNvPr>
          <p:cNvSpPr>
            <a:spLocks noGrp="1"/>
          </p:cNvSpPr>
          <p:nvPr>
            <p:ph type="pic" sz="quarter" idx="10"/>
          </p:nvPr>
        </p:nvSpPr>
        <p:spPr>
          <a:xfrm>
            <a:off x="479426" y="1489075"/>
            <a:ext cx="3356534"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0" name="图片占位符 4">
            <a:extLst>
              <a:ext uri="{FF2B5EF4-FFF2-40B4-BE49-F238E27FC236}">
                <a16:creationId xmlns:a16="http://schemas.microsoft.com/office/drawing/2014/main" id="{1378AEBD-5584-EC6F-F90A-4A49BE04A7AA}"/>
              </a:ext>
            </a:extLst>
          </p:cNvPr>
          <p:cNvSpPr>
            <a:spLocks noGrp="1"/>
          </p:cNvSpPr>
          <p:nvPr>
            <p:ph type="pic" sz="quarter" idx="11"/>
          </p:nvPr>
        </p:nvSpPr>
        <p:spPr>
          <a:xfrm>
            <a:off x="4417733" y="1489075"/>
            <a:ext cx="3356534"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1" name="图片占位符 4">
            <a:extLst>
              <a:ext uri="{FF2B5EF4-FFF2-40B4-BE49-F238E27FC236}">
                <a16:creationId xmlns:a16="http://schemas.microsoft.com/office/drawing/2014/main" id="{8BF3109A-962E-DD9E-C9CF-74AE9823FA9C}"/>
              </a:ext>
            </a:extLst>
          </p:cNvPr>
          <p:cNvSpPr>
            <a:spLocks noGrp="1"/>
          </p:cNvSpPr>
          <p:nvPr>
            <p:ph type="pic" sz="quarter" idx="12"/>
          </p:nvPr>
        </p:nvSpPr>
        <p:spPr>
          <a:xfrm>
            <a:off x="8356035" y="1489075"/>
            <a:ext cx="3356534" cy="175895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857074552"/>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图片版式1">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89023E42-4B8B-1C3E-2446-77FEABB93137}"/>
              </a:ext>
            </a:extLst>
          </p:cNvPr>
          <p:cNvSpPr>
            <a:spLocks noGrp="1"/>
          </p:cNvSpPr>
          <p:nvPr>
            <p:ph type="pic" sz="quarter" idx="10"/>
          </p:nvPr>
        </p:nvSpPr>
        <p:spPr>
          <a:xfrm>
            <a:off x="505534" y="153125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4">
            <a:extLst>
              <a:ext uri="{FF2B5EF4-FFF2-40B4-BE49-F238E27FC236}">
                <a16:creationId xmlns:a16="http://schemas.microsoft.com/office/drawing/2014/main" id="{AA8B0D4B-C034-2023-35B8-57831B7DAFFC}"/>
              </a:ext>
            </a:extLst>
          </p:cNvPr>
          <p:cNvSpPr>
            <a:spLocks noGrp="1"/>
          </p:cNvSpPr>
          <p:nvPr>
            <p:ph type="pic" sz="quarter" idx="11"/>
          </p:nvPr>
        </p:nvSpPr>
        <p:spPr>
          <a:xfrm>
            <a:off x="4990266" y="153125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4">
            <a:extLst>
              <a:ext uri="{FF2B5EF4-FFF2-40B4-BE49-F238E27FC236}">
                <a16:creationId xmlns:a16="http://schemas.microsoft.com/office/drawing/2014/main" id="{FC3F3B79-2DD6-1C5C-45F2-273D2FCC02DC}"/>
              </a:ext>
            </a:extLst>
          </p:cNvPr>
          <p:cNvSpPr>
            <a:spLocks noGrp="1"/>
          </p:cNvSpPr>
          <p:nvPr>
            <p:ph type="pic" sz="quarter" idx="12"/>
          </p:nvPr>
        </p:nvSpPr>
        <p:spPr>
          <a:xfrm>
            <a:off x="9474999" y="153125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2" name="图片占位符 4">
            <a:extLst>
              <a:ext uri="{FF2B5EF4-FFF2-40B4-BE49-F238E27FC236}">
                <a16:creationId xmlns:a16="http://schemas.microsoft.com/office/drawing/2014/main" id="{C04C3258-E8A3-4B4A-55E1-FAB0DD22A0C1}"/>
              </a:ext>
            </a:extLst>
          </p:cNvPr>
          <p:cNvSpPr>
            <a:spLocks noGrp="1"/>
          </p:cNvSpPr>
          <p:nvPr>
            <p:ph type="pic" sz="quarter" idx="13"/>
          </p:nvPr>
        </p:nvSpPr>
        <p:spPr>
          <a:xfrm>
            <a:off x="2745360" y="367846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3" name="图片占位符 4">
            <a:extLst>
              <a:ext uri="{FF2B5EF4-FFF2-40B4-BE49-F238E27FC236}">
                <a16:creationId xmlns:a16="http://schemas.microsoft.com/office/drawing/2014/main" id="{FB1B4C87-98EC-CF26-EEC5-53C054E1D3FD}"/>
              </a:ext>
            </a:extLst>
          </p:cNvPr>
          <p:cNvSpPr>
            <a:spLocks noGrp="1"/>
          </p:cNvSpPr>
          <p:nvPr>
            <p:ph type="pic" sz="quarter" idx="14"/>
          </p:nvPr>
        </p:nvSpPr>
        <p:spPr>
          <a:xfrm>
            <a:off x="7235172" y="3678467"/>
            <a:ext cx="2232000"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1882500247"/>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图片版式1">
    <p:spTree>
      <p:nvGrpSpPr>
        <p:cNvPr id="1" name=""/>
        <p:cNvGrpSpPr/>
        <p:nvPr/>
      </p:nvGrpSpPr>
      <p:grpSpPr>
        <a:xfrm>
          <a:off x="0" y="0"/>
          <a:ext cx="0" cy="0"/>
          <a:chOff x="0" y="0"/>
          <a:chExt cx="0" cy="0"/>
        </a:xfrm>
      </p:grpSpPr>
      <p:sp>
        <p:nvSpPr>
          <p:cNvPr id="12" name="图片占位符 4">
            <a:extLst>
              <a:ext uri="{FF2B5EF4-FFF2-40B4-BE49-F238E27FC236}">
                <a16:creationId xmlns:a16="http://schemas.microsoft.com/office/drawing/2014/main" id="{C04C3258-E8A3-4B4A-55E1-FAB0DD22A0C1}"/>
              </a:ext>
            </a:extLst>
          </p:cNvPr>
          <p:cNvSpPr>
            <a:spLocks noGrp="1"/>
          </p:cNvSpPr>
          <p:nvPr>
            <p:ph type="pic" sz="quarter" idx="13"/>
          </p:nvPr>
        </p:nvSpPr>
        <p:spPr>
          <a:xfrm>
            <a:off x="479424" y="3678467"/>
            <a:ext cx="7532462"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3" name="图片占位符 4">
            <a:extLst>
              <a:ext uri="{FF2B5EF4-FFF2-40B4-BE49-F238E27FC236}">
                <a16:creationId xmlns:a16="http://schemas.microsoft.com/office/drawing/2014/main" id="{FB1B4C87-98EC-CF26-EEC5-53C054E1D3FD}"/>
              </a:ext>
            </a:extLst>
          </p:cNvPr>
          <p:cNvSpPr>
            <a:spLocks noGrp="1"/>
          </p:cNvSpPr>
          <p:nvPr>
            <p:ph type="pic" sz="quarter" idx="14"/>
          </p:nvPr>
        </p:nvSpPr>
        <p:spPr>
          <a:xfrm>
            <a:off x="8157029" y="3678467"/>
            <a:ext cx="3555546" cy="214920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807550906"/>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图片版式1">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1441C08B-5660-D2CF-AB70-579E4D3FEE42}"/>
              </a:ext>
            </a:extLst>
          </p:cNvPr>
          <p:cNvSpPr>
            <a:spLocks noGrp="1"/>
          </p:cNvSpPr>
          <p:nvPr>
            <p:ph type="pic" sz="quarter" idx="13"/>
          </p:nvPr>
        </p:nvSpPr>
        <p:spPr>
          <a:xfrm>
            <a:off x="502302" y="1629270"/>
            <a:ext cx="3492669" cy="2056128"/>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6" name="图片占位符 4">
            <a:extLst>
              <a:ext uri="{FF2B5EF4-FFF2-40B4-BE49-F238E27FC236}">
                <a16:creationId xmlns:a16="http://schemas.microsoft.com/office/drawing/2014/main" id="{153523CB-6292-1A67-1531-0501D6C54171}"/>
              </a:ext>
            </a:extLst>
          </p:cNvPr>
          <p:cNvSpPr>
            <a:spLocks noGrp="1"/>
          </p:cNvSpPr>
          <p:nvPr>
            <p:ph type="pic" sz="quarter" idx="14"/>
          </p:nvPr>
        </p:nvSpPr>
        <p:spPr>
          <a:xfrm>
            <a:off x="8219906" y="1629270"/>
            <a:ext cx="3492669" cy="2056128"/>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7" name="图片占位符 4">
            <a:extLst>
              <a:ext uri="{FF2B5EF4-FFF2-40B4-BE49-F238E27FC236}">
                <a16:creationId xmlns:a16="http://schemas.microsoft.com/office/drawing/2014/main" id="{18B6E19B-4032-8B43-3023-707AF44D449C}"/>
              </a:ext>
            </a:extLst>
          </p:cNvPr>
          <p:cNvSpPr>
            <a:spLocks noGrp="1"/>
          </p:cNvSpPr>
          <p:nvPr>
            <p:ph type="pic" sz="quarter" idx="15"/>
          </p:nvPr>
        </p:nvSpPr>
        <p:spPr>
          <a:xfrm>
            <a:off x="4356952" y="3685398"/>
            <a:ext cx="3492669" cy="2056128"/>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3513160441"/>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图片版式1">
    <p:spTree>
      <p:nvGrpSpPr>
        <p:cNvPr id="1" name=""/>
        <p:cNvGrpSpPr/>
        <p:nvPr/>
      </p:nvGrpSpPr>
      <p:grpSpPr>
        <a:xfrm>
          <a:off x="0" y="0"/>
          <a:ext cx="0" cy="0"/>
          <a:chOff x="0" y="0"/>
          <a:chExt cx="0" cy="0"/>
        </a:xfrm>
      </p:grpSpPr>
      <p:sp>
        <p:nvSpPr>
          <p:cNvPr id="7" name="图片占位符 6">
            <a:extLst>
              <a:ext uri="{FF2B5EF4-FFF2-40B4-BE49-F238E27FC236}">
                <a16:creationId xmlns:a16="http://schemas.microsoft.com/office/drawing/2014/main" id="{287101E3-E8BB-6CCE-CF09-DAB709230A4B}"/>
              </a:ext>
            </a:extLst>
          </p:cNvPr>
          <p:cNvSpPr>
            <a:spLocks noGrp="1"/>
          </p:cNvSpPr>
          <p:nvPr>
            <p:ph type="pic" sz="quarter" idx="10"/>
          </p:nvPr>
        </p:nvSpPr>
        <p:spPr>
          <a:xfrm>
            <a:off x="826064" y="1655536"/>
            <a:ext cx="2149200" cy="21492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6">
            <a:extLst>
              <a:ext uri="{FF2B5EF4-FFF2-40B4-BE49-F238E27FC236}">
                <a16:creationId xmlns:a16="http://schemas.microsoft.com/office/drawing/2014/main" id="{4FA19A99-1EE8-7057-46DE-89327444E38E}"/>
              </a:ext>
            </a:extLst>
          </p:cNvPr>
          <p:cNvSpPr>
            <a:spLocks noGrp="1"/>
          </p:cNvSpPr>
          <p:nvPr>
            <p:ph type="pic" sz="quarter" idx="11"/>
          </p:nvPr>
        </p:nvSpPr>
        <p:spPr>
          <a:xfrm>
            <a:off x="5020856" y="1655536"/>
            <a:ext cx="2149200" cy="21492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6">
            <a:extLst>
              <a:ext uri="{FF2B5EF4-FFF2-40B4-BE49-F238E27FC236}">
                <a16:creationId xmlns:a16="http://schemas.microsoft.com/office/drawing/2014/main" id="{167F6FE5-10BF-B31A-7D0B-8B4CBE5C01A6}"/>
              </a:ext>
            </a:extLst>
          </p:cNvPr>
          <p:cNvSpPr>
            <a:spLocks noGrp="1"/>
          </p:cNvSpPr>
          <p:nvPr>
            <p:ph type="pic" sz="quarter" idx="12"/>
          </p:nvPr>
        </p:nvSpPr>
        <p:spPr>
          <a:xfrm>
            <a:off x="9215648" y="1655536"/>
            <a:ext cx="2149200" cy="21492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1807982177"/>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图片版式1">
    <p:spTree>
      <p:nvGrpSpPr>
        <p:cNvPr id="1" name=""/>
        <p:cNvGrpSpPr/>
        <p:nvPr/>
      </p:nvGrpSpPr>
      <p:grpSpPr>
        <a:xfrm>
          <a:off x="0" y="0"/>
          <a:ext cx="0" cy="0"/>
          <a:chOff x="0" y="0"/>
          <a:chExt cx="0" cy="0"/>
        </a:xfrm>
      </p:grpSpPr>
      <p:sp>
        <p:nvSpPr>
          <p:cNvPr id="7" name="图片占位符 4">
            <a:extLst>
              <a:ext uri="{FF2B5EF4-FFF2-40B4-BE49-F238E27FC236}">
                <a16:creationId xmlns:a16="http://schemas.microsoft.com/office/drawing/2014/main" id="{535C018A-ACBB-968C-B3C9-D69975C9E54E}"/>
              </a:ext>
            </a:extLst>
          </p:cNvPr>
          <p:cNvSpPr>
            <a:spLocks noGrp="1"/>
          </p:cNvSpPr>
          <p:nvPr>
            <p:ph type="pic" sz="quarter" idx="13"/>
          </p:nvPr>
        </p:nvSpPr>
        <p:spPr>
          <a:xfrm>
            <a:off x="479425" y="1312240"/>
            <a:ext cx="6470571" cy="4652618"/>
          </a:xfrm>
          <a:prstGeom prst="rect">
            <a:avLst/>
          </a:prstGeom>
          <a:blipFill dpi="0" rotWithShape="1">
            <a:blip r:embed="rId2"/>
            <a:srcRect/>
            <a:tile tx="0" ty="0" sx="80000" sy="8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4">
            <a:extLst>
              <a:ext uri="{FF2B5EF4-FFF2-40B4-BE49-F238E27FC236}">
                <a16:creationId xmlns:a16="http://schemas.microsoft.com/office/drawing/2014/main" id="{CED40CB5-2191-4238-831D-C0EA4AEC581C}"/>
              </a:ext>
            </a:extLst>
          </p:cNvPr>
          <p:cNvSpPr>
            <a:spLocks noGrp="1"/>
          </p:cNvSpPr>
          <p:nvPr>
            <p:ph type="pic" sz="quarter" idx="14"/>
          </p:nvPr>
        </p:nvSpPr>
        <p:spPr>
          <a:xfrm>
            <a:off x="7045225" y="1312240"/>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4">
            <a:extLst>
              <a:ext uri="{FF2B5EF4-FFF2-40B4-BE49-F238E27FC236}">
                <a16:creationId xmlns:a16="http://schemas.microsoft.com/office/drawing/2014/main" id="{4B869786-0AE1-6085-2982-BD8F133A6EDC}"/>
              </a:ext>
            </a:extLst>
          </p:cNvPr>
          <p:cNvSpPr>
            <a:spLocks noGrp="1"/>
          </p:cNvSpPr>
          <p:nvPr>
            <p:ph type="pic" sz="quarter" idx="15"/>
          </p:nvPr>
        </p:nvSpPr>
        <p:spPr>
          <a:xfrm>
            <a:off x="9426511" y="1312240"/>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0" name="图片占位符 4">
            <a:extLst>
              <a:ext uri="{FF2B5EF4-FFF2-40B4-BE49-F238E27FC236}">
                <a16:creationId xmlns:a16="http://schemas.microsoft.com/office/drawing/2014/main" id="{55C23C00-BA63-7F3C-ABEE-AAD1514B4674}"/>
              </a:ext>
            </a:extLst>
          </p:cNvPr>
          <p:cNvSpPr>
            <a:spLocks noGrp="1"/>
          </p:cNvSpPr>
          <p:nvPr>
            <p:ph type="pic" sz="quarter" idx="16"/>
          </p:nvPr>
        </p:nvSpPr>
        <p:spPr>
          <a:xfrm>
            <a:off x="7045225" y="3678794"/>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1" name="图片占位符 4">
            <a:extLst>
              <a:ext uri="{FF2B5EF4-FFF2-40B4-BE49-F238E27FC236}">
                <a16:creationId xmlns:a16="http://schemas.microsoft.com/office/drawing/2014/main" id="{B842C4CE-3BE5-8392-4093-BE9B882A51A8}"/>
              </a:ext>
            </a:extLst>
          </p:cNvPr>
          <p:cNvSpPr>
            <a:spLocks noGrp="1"/>
          </p:cNvSpPr>
          <p:nvPr>
            <p:ph type="pic" sz="quarter" idx="17"/>
          </p:nvPr>
        </p:nvSpPr>
        <p:spPr>
          <a:xfrm>
            <a:off x="9426511" y="3678794"/>
            <a:ext cx="2286063" cy="228606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429090425"/>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图片版式1">
    <p:spTree>
      <p:nvGrpSpPr>
        <p:cNvPr id="1" name=""/>
        <p:cNvGrpSpPr/>
        <p:nvPr/>
      </p:nvGrpSpPr>
      <p:grpSpPr>
        <a:xfrm>
          <a:off x="0" y="0"/>
          <a:ext cx="0" cy="0"/>
          <a:chOff x="0" y="0"/>
          <a:chExt cx="0" cy="0"/>
        </a:xfrm>
      </p:grpSpPr>
      <p:sp>
        <p:nvSpPr>
          <p:cNvPr id="7" name="图片占位符 4">
            <a:extLst>
              <a:ext uri="{FF2B5EF4-FFF2-40B4-BE49-F238E27FC236}">
                <a16:creationId xmlns:a16="http://schemas.microsoft.com/office/drawing/2014/main" id="{535C018A-ACBB-968C-B3C9-D69975C9E54E}"/>
              </a:ext>
            </a:extLst>
          </p:cNvPr>
          <p:cNvSpPr>
            <a:spLocks noGrp="1"/>
          </p:cNvSpPr>
          <p:nvPr>
            <p:ph type="pic" sz="quarter" idx="13"/>
          </p:nvPr>
        </p:nvSpPr>
        <p:spPr>
          <a:xfrm>
            <a:off x="479425" y="1312240"/>
            <a:ext cx="6470571" cy="4652618"/>
          </a:xfrm>
          <a:prstGeom prst="rect">
            <a:avLst/>
          </a:prstGeom>
          <a:blipFill dpi="0" rotWithShape="1">
            <a:blip r:embed="rId2"/>
            <a:srcRect/>
            <a:tile tx="0" ty="0" sx="80000" sy="8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265759319"/>
      </p:ext>
    </p:extLst>
  </p:cSld>
  <p:clrMapOvr>
    <a:masterClrMapping/>
  </p:clrMapOvr>
  <p:hf hdr="0" ftr="0" dt="0"/>
  <p:extLst>
    <p:ext uri="{DCECCB84-F9BA-43D5-87BE-67443E8EF086}">
      <p15:sldGuideLst xmlns:p15="http://schemas.microsoft.com/office/powerpoint/2012/main">
        <p15:guide id="1" pos="302">
          <p15:clr>
            <a:srgbClr val="FBAE40"/>
          </p15:clr>
        </p15:guide>
        <p15:guide id="2" pos="737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图片版式1">
    <p:spTree>
      <p:nvGrpSpPr>
        <p:cNvPr id="1" name=""/>
        <p:cNvGrpSpPr/>
        <p:nvPr/>
      </p:nvGrpSpPr>
      <p:grpSpPr>
        <a:xfrm>
          <a:off x="0" y="0"/>
          <a:ext cx="0" cy="0"/>
          <a:chOff x="0" y="0"/>
          <a:chExt cx="0" cy="0"/>
        </a:xfrm>
      </p:grpSpPr>
      <p:sp>
        <p:nvSpPr>
          <p:cNvPr id="15" name="图片占位符 6">
            <a:extLst>
              <a:ext uri="{FF2B5EF4-FFF2-40B4-BE49-F238E27FC236}">
                <a16:creationId xmlns:a16="http://schemas.microsoft.com/office/drawing/2014/main" id="{5EB0D24A-319B-9607-BC6F-6FDD43BF36D2}"/>
              </a:ext>
            </a:extLst>
          </p:cNvPr>
          <p:cNvSpPr>
            <a:spLocks noGrp="1"/>
          </p:cNvSpPr>
          <p:nvPr>
            <p:ph type="pic" sz="quarter" idx="11"/>
          </p:nvPr>
        </p:nvSpPr>
        <p:spPr>
          <a:xfrm>
            <a:off x="1000436"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
        <p:nvSpPr>
          <p:cNvPr id="14" name="图片占位符 6">
            <a:extLst>
              <a:ext uri="{FF2B5EF4-FFF2-40B4-BE49-F238E27FC236}">
                <a16:creationId xmlns:a16="http://schemas.microsoft.com/office/drawing/2014/main" id="{3FD0A7BA-6013-7A4B-27C1-3AD09380E0D2}"/>
              </a:ext>
            </a:extLst>
          </p:cNvPr>
          <p:cNvSpPr>
            <a:spLocks noGrp="1"/>
          </p:cNvSpPr>
          <p:nvPr>
            <p:ph type="pic" sz="quarter" idx="10"/>
          </p:nvPr>
        </p:nvSpPr>
        <p:spPr>
          <a:xfrm>
            <a:off x="4812919" y="1144467"/>
            <a:ext cx="1252800" cy="1252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6" name="图片占位符 6">
            <a:extLst>
              <a:ext uri="{FF2B5EF4-FFF2-40B4-BE49-F238E27FC236}">
                <a16:creationId xmlns:a16="http://schemas.microsoft.com/office/drawing/2014/main" id="{43E668B6-2A02-4B1F-9E8F-9A96D4E0E8FB}"/>
              </a:ext>
            </a:extLst>
          </p:cNvPr>
          <p:cNvSpPr>
            <a:spLocks noGrp="1"/>
          </p:cNvSpPr>
          <p:nvPr>
            <p:ph type="pic" sz="quarter" idx="12"/>
          </p:nvPr>
        </p:nvSpPr>
        <p:spPr>
          <a:xfrm>
            <a:off x="3703480"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8" name="图片占位符 6">
            <a:extLst>
              <a:ext uri="{FF2B5EF4-FFF2-40B4-BE49-F238E27FC236}">
                <a16:creationId xmlns:a16="http://schemas.microsoft.com/office/drawing/2014/main" id="{AA05CACD-C813-476C-0105-FA00A9A44CED}"/>
              </a:ext>
            </a:extLst>
          </p:cNvPr>
          <p:cNvSpPr>
            <a:spLocks noGrp="1"/>
          </p:cNvSpPr>
          <p:nvPr>
            <p:ph type="pic" sz="quarter" idx="13"/>
          </p:nvPr>
        </p:nvSpPr>
        <p:spPr>
          <a:xfrm>
            <a:off x="6404539"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9" name="图片占位符 6">
            <a:extLst>
              <a:ext uri="{FF2B5EF4-FFF2-40B4-BE49-F238E27FC236}">
                <a16:creationId xmlns:a16="http://schemas.microsoft.com/office/drawing/2014/main" id="{AC2AE810-76B2-9D79-2F6A-DBE9D5D34BBE}"/>
              </a:ext>
            </a:extLst>
          </p:cNvPr>
          <p:cNvSpPr>
            <a:spLocks noGrp="1"/>
          </p:cNvSpPr>
          <p:nvPr>
            <p:ph type="pic" sz="quarter" idx="14"/>
          </p:nvPr>
        </p:nvSpPr>
        <p:spPr>
          <a:xfrm>
            <a:off x="9068484" y="3202850"/>
            <a:ext cx="856800" cy="8568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0" name="图片占位符 6">
            <a:extLst>
              <a:ext uri="{FF2B5EF4-FFF2-40B4-BE49-F238E27FC236}">
                <a16:creationId xmlns:a16="http://schemas.microsoft.com/office/drawing/2014/main" id="{9D6F63DF-9517-103E-2FE9-A822BB1E6F7F}"/>
              </a:ext>
            </a:extLst>
          </p:cNvPr>
          <p:cNvSpPr>
            <a:spLocks noGrp="1"/>
          </p:cNvSpPr>
          <p:nvPr>
            <p:ph type="pic" sz="quarter" idx="15"/>
          </p:nvPr>
        </p:nvSpPr>
        <p:spPr>
          <a:xfrm>
            <a:off x="1721147" y="4391486"/>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1" name="图片占位符 6">
            <a:extLst>
              <a:ext uri="{FF2B5EF4-FFF2-40B4-BE49-F238E27FC236}">
                <a16:creationId xmlns:a16="http://schemas.microsoft.com/office/drawing/2014/main" id="{3F6D17E2-6EF9-478A-6912-47DF9BAAD6D6}"/>
              </a:ext>
            </a:extLst>
          </p:cNvPr>
          <p:cNvSpPr>
            <a:spLocks noGrp="1"/>
          </p:cNvSpPr>
          <p:nvPr>
            <p:ph type="pic" sz="quarter" idx="16"/>
          </p:nvPr>
        </p:nvSpPr>
        <p:spPr>
          <a:xfrm>
            <a:off x="4417716" y="4391486"/>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2" name="图片占位符 6">
            <a:extLst>
              <a:ext uri="{FF2B5EF4-FFF2-40B4-BE49-F238E27FC236}">
                <a16:creationId xmlns:a16="http://schemas.microsoft.com/office/drawing/2014/main" id="{F2B69692-1E67-6DDF-FFB4-095BB0C0F8DB}"/>
              </a:ext>
            </a:extLst>
          </p:cNvPr>
          <p:cNvSpPr>
            <a:spLocks noGrp="1"/>
          </p:cNvSpPr>
          <p:nvPr>
            <p:ph type="pic" sz="quarter" idx="17"/>
          </p:nvPr>
        </p:nvSpPr>
        <p:spPr>
          <a:xfrm>
            <a:off x="7097937" y="4391486"/>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3" name="图片占位符 6">
            <a:extLst>
              <a:ext uri="{FF2B5EF4-FFF2-40B4-BE49-F238E27FC236}">
                <a16:creationId xmlns:a16="http://schemas.microsoft.com/office/drawing/2014/main" id="{09C25C06-21C3-9379-CC6E-7E8D86A0837A}"/>
              </a:ext>
            </a:extLst>
          </p:cNvPr>
          <p:cNvSpPr>
            <a:spLocks noGrp="1"/>
          </p:cNvSpPr>
          <p:nvPr>
            <p:ph type="pic" sz="quarter" idx="18"/>
          </p:nvPr>
        </p:nvSpPr>
        <p:spPr>
          <a:xfrm>
            <a:off x="1721147" y="5127194"/>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24" name="图片占位符 6">
            <a:extLst>
              <a:ext uri="{FF2B5EF4-FFF2-40B4-BE49-F238E27FC236}">
                <a16:creationId xmlns:a16="http://schemas.microsoft.com/office/drawing/2014/main" id="{A8EC5EC4-6E89-BD9B-8BF7-1F8C4CC0B191}"/>
              </a:ext>
            </a:extLst>
          </p:cNvPr>
          <p:cNvSpPr>
            <a:spLocks noGrp="1"/>
          </p:cNvSpPr>
          <p:nvPr>
            <p:ph type="pic" sz="quarter" idx="19"/>
          </p:nvPr>
        </p:nvSpPr>
        <p:spPr>
          <a:xfrm>
            <a:off x="4417716" y="5127194"/>
            <a:ext cx="586800" cy="586800"/>
          </a:xfrm>
          <a:prstGeom prst="flowChartConnector">
            <a:avLst/>
          </a:prstGeom>
          <a:blipFill dpi="0" rotWithShape="1">
            <a:blip r:embed="rId2"/>
            <a:srcRect/>
            <a:tile tx="0" ty="0" sx="40000" sy="4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Tree>
    <p:extLst>
      <p:ext uri="{BB962C8B-B14F-4D97-AF65-F5344CB8AC3E}">
        <p14:creationId xmlns:p14="http://schemas.microsoft.com/office/powerpoint/2010/main" val="2931159126"/>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图片版式1">
    <p:spTree>
      <p:nvGrpSpPr>
        <p:cNvPr id="1" name=""/>
        <p:cNvGrpSpPr/>
        <p:nvPr/>
      </p:nvGrpSpPr>
      <p:grpSpPr>
        <a:xfrm>
          <a:off x="0" y="0"/>
          <a:ext cx="0" cy="0"/>
          <a:chOff x="0" y="0"/>
          <a:chExt cx="0" cy="0"/>
        </a:xfrm>
      </p:grpSpPr>
      <p:sp>
        <p:nvSpPr>
          <p:cNvPr id="6" name="图片占位符 6">
            <a:extLst>
              <a:ext uri="{FF2B5EF4-FFF2-40B4-BE49-F238E27FC236}">
                <a16:creationId xmlns:a16="http://schemas.microsoft.com/office/drawing/2014/main" id="{2D0EDF51-85A9-32E4-F52B-7C8F39F83D5A}"/>
              </a:ext>
            </a:extLst>
          </p:cNvPr>
          <p:cNvSpPr>
            <a:spLocks noGrp="1"/>
          </p:cNvSpPr>
          <p:nvPr>
            <p:ph type="pic" sz="quarter" idx="10"/>
          </p:nvPr>
        </p:nvSpPr>
        <p:spPr>
          <a:xfrm>
            <a:off x="1065301"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7" name="图片占位符 6">
            <a:extLst>
              <a:ext uri="{FF2B5EF4-FFF2-40B4-BE49-F238E27FC236}">
                <a16:creationId xmlns:a16="http://schemas.microsoft.com/office/drawing/2014/main" id="{79BA5410-58B7-A10E-884D-B71EC9424FCF}"/>
              </a:ext>
            </a:extLst>
          </p:cNvPr>
          <p:cNvSpPr>
            <a:spLocks noGrp="1"/>
          </p:cNvSpPr>
          <p:nvPr>
            <p:ph type="pic" sz="quarter" idx="11"/>
          </p:nvPr>
        </p:nvSpPr>
        <p:spPr>
          <a:xfrm>
            <a:off x="3776871"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8" name="图片占位符 6">
            <a:extLst>
              <a:ext uri="{FF2B5EF4-FFF2-40B4-BE49-F238E27FC236}">
                <a16:creationId xmlns:a16="http://schemas.microsoft.com/office/drawing/2014/main" id="{B8FD41B1-A1DD-1470-3B9F-609DE04CA60C}"/>
              </a:ext>
            </a:extLst>
          </p:cNvPr>
          <p:cNvSpPr>
            <a:spLocks noGrp="1"/>
          </p:cNvSpPr>
          <p:nvPr>
            <p:ph type="pic" sz="quarter" idx="12"/>
          </p:nvPr>
        </p:nvSpPr>
        <p:spPr>
          <a:xfrm>
            <a:off x="6489774"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9" name="图片占位符 6">
            <a:extLst>
              <a:ext uri="{FF2B5EF4-FFF2-40B4-BE49-F238E27FC236}">
                <a16:creationId xmlns:a16="http://schemas.microsoft.com/office/drawing/2014/main" id="{A6141EC6-0864-346C-579A-3F78915A352A}"/>
              </a:ext>
            </a:extLst>
          </p:cNvPr>
          <p:cNvSpPr>
            <a:spLocks noGrp="1"/>
          </p:cNvSpPr>
          <p:nvPr>
            <p:ph type="pic" sz="quarter" idx="13"/>
          </p:nvPr>
        </p:nvSpPr>
        <p:spPr>
          <a:xfrm>
            <a:off x="9201788" y="1666881"/>
            <a:ext cx="2052000" cy="2052000"/>
          </a:xfrm>
          <a:prstGeom prst="flowChartConnector">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3680663364"/>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图片版式1">
    <p:spTree>
      <p:nvGrpSpPr>
        <p:cNvPr id="1" name=""/>
        <p:cNvGrpSpPr/>
        <p:nvPr/>
      </p:nvGrpSpPr>
      <p:grpSpPr>
        <a:xfrm>
          <a:off x="0" y="0"/>
          <a:ext cx="0" cy="0"/>
          <a:chOff x="0" y="0"/>
          <a:chExt cx="0" cy="0"/>
        </a:xfrm>
      </p:grpSpPr>
      <p:sp>
        <p:nvSpPr>
          <p:cNvPr id="4" name="图片占位符 4">
            <a:extLst>
              <a:ext uri="{FF2B5EF4-FFF2-40B4-BE49-F238E27FC236}">
                <a16:creationId xmlns:a16="http://schemas.microsoft.com/office/drawing/2014/main" id="{5163E615-36ED-A955-FBD6-136B0C4AFE7F}"/>
              </a:ext>
            </a:extLst>
          </p:cNvPr>
          <p:cNvSpPr>
            <a:spLocks noGrp="1"/>
          </p:cNvSpPr>
          <p:nvPr>
            <p:ph type="pic" sz="quarter" idx="14"/>
          </p:nvPr>
        </p:nvSpPr>
        <p:spPr>
          <a:xfrm>
            <a:off x="923019" y="1714500"/>
            <a:ext cx="4787900" cy="2222500"/>
          </a:xfrm>
          <a:prstGeom prst="rect">
            <a:avLst/>
          </a:prstGeom>
          <a:blipFill dpi="0" rotWithShape="1">
            <a:blip r:embed="rId2"/>
            <a:srcRect/>
            <a:tile tx="-101600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6" name="图片占位符 4">
            <a:extLst>
              <a:ext uri="{FF2B5EF4-FFF2-40B4-BE49-F238E27FC236}">
                <a16:creationId xmlns:a16="http://schemas.microsoft.com/office/drawing/2014/main" id="{F0D76FC8-6F50-67CA-7E2E-3C5FC44EB113}"/>
              </a:ext>
            </a:extLst>
          </p:cNvPr>
          <p:cNvSpPr>
            <a:spLocks noGrp="1"/>
          </p:cNvSpPr>
          <p:nvPr>
            <p:ph type="pic" sz="quarter" idx="15"/>
          </p:nvPr>
        </p:nvSpPr>
        <p:spPr>
          <a:xfrm>
            <a:off x="6418263" y="1714500"/>
            <a:ext cx="4824412" cy="2222500"/>
          </a:xfrm>
          <a:prstGeom prst="rect">
            <a:avLst/>
          </a:prstGeom>
          <a:blipFill dpi="0" rotWithShape="1">
            <a:blip r:embed="rId2"/>
            <a:srcRect/>
            <a:tile tx="-101600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53746906"/>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图片版式1">
    <p:spTree>
      <p:nvGrpSpPr>
        <p:cNvPr id="1" name=""/>
        <p:cNvGrpSpPr/>
        <p:nvPr/>
      </p:nvGrpSpPr>
      <p:grpSpPr>
        <a:xfrm>
          <a:off x="0" y="0"/>
          <a:ext cx="0" cy="0"/>
          <a:chOff x="0" y="0"/>
          <a:chExt cx="0" cy="0"/>
        </a:xfrm>
      </p:grpSpPr>
      <p:sp>
        <p:nvSpPr>
          <p:cNvPr id="3" name="图片占位符 4">
            <a:extLst>
              <a:ext uri="{FF2B5EF4-FFF2-40B4-BE49-F238E27FC236}">
                <a16:creationId xmlns:a16="http://schemas.microsoft.com/office/drawing/2014/main" id="{06287B95-F4C8-4CEE-F06A-1EE982CD467B}"/>
              </a:ext>
            </a:extLst>
          </p:cNvPr>
          <p:cNvSpPr>
            <a:spLocks noGrp="1"/>
          </p:cNvSpPr>
          <p:nvPr>
            <p:ph type="pic" sz="quarter" idx="14"/>
          </p:nvPr>
        </p:nvSpPr>
        <p:spPr>
          <a:xfrm>
            <a:off x="6372226" y="1524000"/>
            <a:ext cx="2219326" cy="3947886"/>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912748932"/>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图片版式1">
    <p:spTree>
      <p:nvGrpSpPr>
        <p:cNvPr id="1" name=""/>
        <p:cNvGrpSpPr/>
        <p:nvPr/>
      </p:nvGrpSpPr>
      <p:grpSpPr>
        <a:xfrm>
          <a:off x="0" y="0"/>
          <a:ext cx="0" cy="0"/>
          <a:chOff x="0" y="0"/>
          <a:chExt cx="0" cy="0"/>
        </a:xfrm>
      </p:grpSpPr>
      <p:sp>
        <p:nvSpPr>
          <p:cNvPr id="4" name="图片占位符 4">
            <a:extLst>
              <a:ext uri="{FF2B5EF4-FFF2-40B4-BE49-F238E27FC236}">
                <a16:creationId xmlns:a16="http://schemas.microsoft.com/office/drawing/2014/main" id="{97C8BED1-E25B-A5D1-66B9-76D6F9EC5F03}"/>
              </a:ext>
            </a:extLst>
          </p:cNvPr>
          <p:cNvSpPr>
            <a:spLocks noGrp="1"/>
          </p:cNvSpPr>
          <p:nvPr>
            <p:ph type="pic" sz="quarter" idx="14"/>
          </p:nvPr>
        </p:nvSpPr>
        <p:spPr>
          <a:xfrm>
            <a:off x="5317515" y="2838556"/>
            <a:ext cx="3264510" cy="1839392"/>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5" name="图片占位符 4">
            <a:extLst>
              <a:ext uri="{FF2B5EF4-FFF2-40B4-BE49-F238E27FC236}">
                <a16:creationId xmlns:a16="http://schemas.microsoft.com/office/drawing/2014/main" id="{C47CAAB2-2102-DB43-C39A-A00BCD60734F}"/>
              </a:ext>
            </a:extLst>
          </p:cNvPr>
          <p:cNvSpPr>
            <a:spLocks noGrp="1"/>
          </p:cNvSpPr>
          <p:nvPr>
            <p:ph type="pic" sz="quarter" idx="15"/>
          </p:nvPr>
        </p:nvSpPr>
        <p:spPr>
          <a:xfrm>
            <a:off x="9337676" y="1828906"/>
            <a:ext cx="2287588" cy="1288944"/>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2420535611"/>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图片版式1">
    <p:spTree>
      <p:nvGrpSpPr>
        <p:cNvPr id="1" name=""/>
        <p:cNvGrpSpPr/>
        <p:nvPr/>
      </p:nvGrpSpPr>
      <p:grpSpPr>
        <a:xfrm>
          <a:off x="0" y="0"/>
          <a:ext cx="0" cy="0"/>
          <a:chOff x="0" y="0"/>
          <a:chExt cx="0" cy="0"/>
        </a:xfrm>
      </p:grpSpPr>
      <p:sp>
        <p:nvSpPr>
          <p:cNvPr id="3" name="图片占位符 4">
            <a:extLst>
              <a:ext uri="{FF2B5EF4-FFF2-40B4-BE49-F238E27FC236}">
                <a16:creationId xmlns:a16="http://schemas.microsoft.com/office/drawing/2014/main" id="{4193617F-CB2D-1AF2-56D0-7B3CD3465799}"/>
              </a:ext>
            </a:extLst>
          </p:cNvPr>
          <p:cNvSpPr>
            <a:spLocks noGrp="1"/>
          </p:cNvSpPr>
          <p:nvPr>
            <p:ph type="pic" sz="quarter" idx="14"/>
          </p:nvPr>
        </p:nvSpPr>
        <p:spPr>
          <a:xfrm>
            <a:off x="1363038" y="1842015"/>
            <a:ext cx="1942137" cy="3406260"/>
          </a:xfrm>
          <a:prstGeom prst="rect">
            <a:avLst/>
          </a:prstGeom>
          <a:blipFill dpi="0" rotWithShape="1">
            <a:blip r:embed="rId2"/>
            <a:srcRect/>
            <a:tile tx="0" ty="0" sx="70000" sy="7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3890072567"/>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图片版式1">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3B0EEC3C-7B9F-CA4D-D8A2-B30F6CC028C0}"/>
              </a:ext>
            </a:extLst>
          </p:cNvPr>
          <p:cNvSpPr>
            <a:spLocks noGrp="1"/>
          </p:cNvSpPr>
          <p:nvPr>
            <p:ph type="pic" sz="quarter" idx="14"/>
          </p:nvPr>
        </p:nvSpPr>
        <p:spPr>
          <a:xfrm>
            <a:off x="4223207" y="2560320"/>
            <a:ext cx="1238232" cy="2171701"/>
          </a:xfrm>
          <a:prstGeom prst="rect">
            <a:avLst/>
          </a:prstGeom>
          <a:blipFill dpi="0" rotWithShape="1">
            <a:blip r:embed="rId2"/>
            <a:srcRect/>
            <a:tile tx="0" ty="0" sx="50000" sy="5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7" name="图片占位符 4">
            <a:extLst>
              <a:ext uri="{FF2B5EF4-FFF2-40B4-BE49-F238E27FC236}">
                <a16:creationId xmlns:a16="http://schemas.microsoft.com/office/drawing/2014/main" id="{96FBA3E8-2C1C-10F4-EDD8-6F3E1BBA1004}"/>
              </a:ext>
            </a:extLst>
          </p:cNvPr>
          <p:cNvSpPr>
            <a:spLocks noGrp="1"/>
          </p:cNvSpPr>
          <p:nvPr>
            <p:ph type="pic" sz="quarter" idx="16"/>
          </p:nvPr>
        </p:nvSpPr>
        <p:spPr>
          <a:xfrm>
            <a:off x="6836324" y="2560320"/>
            <a:ext cx="1238232" cy="2171701"/>
          </a:xfrm>
          <a:prstGeom prst="rect">
            <a:avLst/>
          </a:prstGeom>
          <a:blipFill dpi="0" rotWithShape="1">
            <a:blip r:embed="rId2"/>
            <a:srcRect/>
            <a:tile tx="0" ty="0" sx="50000" sy="5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6" name="图片占位符 4">
            <a:extLst>
              <a:ext uri="{FF2B5EF4-FFF2-40B4-BE49-F238E27FC236}">
                <a16:creationId xmlns:a16="http://schemas.microsoft.com/office/drawing/2014/main" id="{F1C9BF91-88B6-C0F5-0279-1F36A304ACB1}"/>
              </a:ext>
            </a:extLst>
          </p:cNvPr>
          <p:cNvSpPr>
            <a:spLocks noGrp="1"/>
          </p:cNvSpPr>
          <p:nvPr>
            <p:ph type="pic" sz="quarter" idx="15"/>
          </p:nvPr>
        </p:nvSpPr>
        <p:spPr>
          <a:xfrm>
            <a:off x="5334466" y="2154435"/>
            <a:ext cx="1586910" cy="2783238"/>
          </a:xfrm>
          <a:prstGeom prst="rect">
            <a:avLst/>
          </a:prstGeom>
          <a:blipFill dpi="0" rotWithShape="1">
            <a:blip r:embed="rId2"/>
            <a:srcRect/>
            <a:tile tx="0" ty="0" sx="50000" sy="50000" flip="none" algn="ctr"/>
          </a:blipFill>
        </p:spPr>
        <p:txBody>
          <a:bodyPr vert="horz" lIns="91440" tIns="45720" rIns="91440" bIns="45720" rtlCol="0">
            <a:normAutofit/>
          </a:bodyPr>
          <a:lstStyle>
            <a:lvl1pPr>
              <a:defRPr lang="zh-CN" altLang="en-US" dirty="0">
                <a:noFill/>
                <a:latin typeface="Arial" panose="020B0604020202020204" pitchFamily="34" charset="0"/>
                <a:ea typeface="微软雅黑" panose="020B0503020204020204" pitchFamily="34" charset="-122"/>
              </a:defRPr>
            </a:lvl1pPr>
          </a:lstStyle>
          <a:p>
            <a:pPr marL="0" lvl="0" indent="0">
              <a:buNone/>
            </a:pPr>
            <a:endParaRPr lang="zh-CN" altLang="en-US" dirty="0"/>
          </a:p>
        </p:txBody>
      </p:sp>
      <p:sp>
        <p:nvSpPr>
          <p:cNvPr id="17" name="标题 16">
            <a:extLst>
              <a:ext uri="{FF2B5EF4-FFF2-40B4-BE49-F238E27FC236}">
                <a16:creationId xmlns:a16="http://schemas.microsoft.com/office/drawing/2014/main" id="{9F4AEEC6-DBE0-30D7-D018-AF8A173AA81E}"/>
              </a:ext>
            </a:extLst>
          </p:cNvPr>
          <p:cNvSpPr>
            <a:spLocks noGrp="1"/>
          </p:cNvSpPr>
          <p:nvPr>
            <p:ph type="title"/>
          </p:nvPr>
        </p:nvSpPr>
        <p:spPr>
          <a:xfrm>
            <a:off x="479424" y="165734"/>
            <a:ext cx="11233151" cy="415498"/>
          </a:xfrm>
          <a:prstGeom prst="rect">
            <a:avLst/>
          </a:prstGeom>
          <a:noFill/>
        </p:spPr>
        <p:txBody>
          <a:bodyPr vert="horz" wrap="square" lIns="0" tIns="0" rIns="0" bIns="0" rtlCol="0" anchor="ctr">
            <a:spAutoFit/>
          </a:bodyPr>
          <a:lstStyle>
            <a:lvl1pPr marL="449263" indent="-449263">
              <a:buFont typeface="Wingdings" panose="05000000000000000000" pitchFamily="2" charset="2"/>
              <a:buChar char=""/>
              <a:defRPr lang="zh-CN" altLang="en-US" sz="3000" b="1" dirty="0">
                <a:solidFill>
                  <a:schemeClr val="bg1"/>
                </a:solidFill>
                <a:latin typeface="微软雅黑" panose="020B0503020204020204" pitchFamily="34" charset="-122"/>
                <a:ea typeface="微软雅黑" panose="020B0503020204020204" pitchFamily="34" charset="-122"/>
                <a:cs typeface="+mn-cs"/>
              </a:defRPr>
            </a:lvl1pPr>
          </a:lstStyle>
          <a:p>
            <a:pPr marL="533400" lvl="0" indent="-533400">
              <a:buFont typeface="Wingdings" panose="05000000000000000000" pitchFamily="2" charset="2"/>
              <a:buChar char=""/>
            </a:pPr>
            <a:endParaRPr lang="zh-CN" altLang="en-US" dirty="0"/>
          </a:p>
        </p:txBody>
      </p:sp>
    </p:spTree>
    <p:extLst>
      <p:ext uri="{BB962C8B-B14F-4D97-AF65-F5344CB8AC3E}">
        <p14:creationId xmlns:p14="http://schemas.microsoft.com/office/powerpoint/2010/main" val="12373352"/>
      </p:ext>
    </p:extLst>
  </p:cSld>
  <p:clrMapOvr>
    <a:masterClrMapping/>
  </p:clrMapOvr>
  <p:hf hdr="0" ftr="0" dt="0"/>
  <p:extLst>
    <p:ext uri="{DCECCB84-F9BA-43D5-87BE-67443E8EF086}">
      <p15:sldGuideLst xmlns:p15="http://schemas.microsoft.com/office/powerpoint/2012/main">
        <p15:guide id="1" pos="302" userDrawn="1">
          <p15:clr>
            <a:srgbClr val="FBAE40"/>
          </p15:clr>
        </p15:guide>
        <p15:guide id="2" pos="7378"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892626D4-9179-2161-A4E1-77BBE8E7E44C}"/>
              </a:ext>
            </a:extLst>
          </p:cNvPr>
          <p:cNvSpPr/>
          <p:nvPr userDrawn="1"/>
        </p:nvSpPr>
        <p:spPr>
          <a:xfrm>
            <a:off x="0" y="0"/>
            <a:ext cx="12192000" cy="732289"/>
          </a:xfrm>
          <a:prstGeom prst="rect">
            <a:avLst/>
          </a:prstGeom>
          <a:solidFill>
            <a:schemeClr val="accent1"/>
          </a:solidFill>
          <a:ln w="124408" cap="flat">
            <a:noFill/>
            <a:prstDash val="solid"/>
            <a:miter/>
          </a:ln>
        </p:spPr>
        <p:txBody>
          <a:bodyPr rtlCol="0" anchor="ctr"/>
          <a:lstStyle/>
          <a:p>
            <a:endParaRPr lang="zh-CN" altLang="en-US" dirty="0"/>
          </a:p>
        </p:txBody>
      </p:sp>
      <p:sp>
        <p:nvSpPr>
          <p:cNvPr id="15" name="页码">
            <a:extLst>
              <a:ext uri="{FF2B5EF4-FFF2-40B4-BE49-F238E27FC236}">
                <a16:creationId xmlns:a16="http://schemas.microsoft.com/office/drawing/2014/main" id="{61D02826-59D1-5DFB-525A-3E7434F43CA5}"/>
              </a:ext>
            </a:extLst>
          </p:cNvPr>
          <p:cNvSpPr txBox="1">
            <a:spLocks/>
          </p:cNvSpPr>
          <p:nvPr userDrawn="1"/>
        </p:nvSpPr>
        <p:spPr>
          <a:xfrm>
            <a:off x="11365992" y="6505615"/>
            <a:ext cx="438912" cy="228600"/>
          </a:xfrm>
          <a:prstGeom prst="rect">
            <a:avLst/>
          </a:prstGeom>
          <a:noFill/>
        </p:spPr>
        <p:txBody>
          <a:bodyPr vert="horz" wrap="none" lIns="0" tIns="0" rIns="0" bIns="0" rtlCol="0" anchor="ctr">
            <a:sp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A48DBFAF-01A5-47DE-A33F-834723B47D4E}" type="slidenum">
              <a:rPr lang="ja-JP" altLang="en-US" sz="1200" b="1" smtClean="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rPr>
              <a:pPr algn="ctr"/>
              <a:t>‹#›</a:t>
            </a:fld>
            <a:endParaRPr lang="ja-JP" altLang="en-US" sz="1200" b="1" dirty="0">
              <a:solidFill>
                <a:schemeClr val="bg1">
                  <a:lumMod val="50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6" name="logo">
            <a:extLst>
              <a:ext uri="{FF2B5EF4-FFF2-40B4-BE49-F238E27FC236}">
                <a16:creationId xmlns:a16="http://schemas.microsoft.com/office/drawing/2014/main" id="{60908755-B1CF-ACA6-51A4-BE647825F3DF}"/>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339724" y="6422508"/>
            <a:ext cx="315471" cy="315471"/>
          </a:xfrm>
          <a:prstGeom prst="rect">
            <a:avLst/>
          </a:prstGeom>
        </p:spPr>
      </p:pic>
      <p:sp>
        <p:nvSpPr>
          <p:cNvPr id="17" name="标题 16">
            <a:extLst>
              <a:ext uri="{FF2B5EF4-FFF2-40B4-BE49-F238E27FC236}">
                <a16:creationId xmlns:a16="http://schemas.microsoft.com/office/drawing/2014/main" id="{1CB05371-D48A-ADC7-93FE-64C917FF8538}"/>
              </a:ext>
            </a:extLst>
          </p:cNvPr>
          <p:cNvSpPr txBox="1">
            <a:spLocks/>
          </p:cNvSpPr>
          <p:nvPr userDrawn="1"/>
        </p:nvSpPr>
        <p:spPr>
          <a:xfrm>
            <a:off x="479424" y="165734"/>
            <a:ext cx="11233151" cy="415498"/>
          </a:xfrm>
          <a:prstGeom prst="rect">
            <a:avLst/>
          </a:prstGeom>
          <a:noFill/>
        </p:spPr>
        <p:txBody>
          <a:bodyPr vert="horz" wrap="square" lIns="0" tIns="0" rIns="0" bIns="0" rtlCol="0" anchor="ctr">
            <a:spAutoFit/>
          </a:bodyPr>
          <a:lstStyle>
            <a:lvl1pPr marL="449263" indent="-449263" algn="l" defTabSz="914400" rtl="0" eaLnBrk="1" latinLnBrk="0" hangingPunct="1">
              <a:lnSpc>
                <a:spcPct val="90000"/>
              </a:lnSpc>
              <a:spcBef>
                <a:spcPct val="0"/>
              </a:spcBef>
              <a:buFont typeface="Wingdings" panose="05000000000000000000" pitchFamily="2" charset="2"/>
              <a:buChar char=""/>
              <a:defRPr lang="zh-CN" altLang="en-US" sz="3000" b="1" kern="1200" dirty="0">
                <a:solidFill>
                  <a:schemeClr val="bg1"/>
                </a:solidFill>
                <a:latin typeface="微软雅黑" panose="020B0503020204020204" pitchFamily="34" charset="-122"/>
                <a:ea typeface="微软雅黑" panose="020B0503020204020204" pitchFamily="34" charset="-122"/>
                <a:cs typeface="+mn-cs"/>
              </a:defRPr>
            </a:lvl1pPr>
          </a:lstStyle>
          <a:p>
            <a:pPr marL="533400" indent="-533400"/>
            <a:endParaRPr lang="en-US" dirty="0"/>
          </a:p>
        </p:txBody>
      </p:sp>
      <p:sp>
        <p:nvSpPr>
          <p:cNvPr id="18" name="标题占位符 17">
            <a:extLst>
              <a:ext uri="{FF2B5EF4-FFF2-40B4-BE49-F238E27FC236}">
                <a16:creationId xmlns:a16="http://schemas.microsoft.com/office/drawing/2014/main" id="{207FDE8D-6021-0893-5656-02D9297AB1D2}"/>
              </a:ext>
            </a:extLst>
          </p:cNvPr>
          <p:cNvSpPr>
            <a:spLocks noGrp="1"/>
          </p:cNvSpPr>
          <p:nvPr>
            <p:ph type="title"/>
          </p:nvPr>
        </p:nvSpPr>
        <p:spPr>
          <a:xfrm>
            <a:off x="472169" y="158395"/>
            <a:ext cx="11302574" cy="415498"/>
          </a:xfrm>
          <a:prstGeom prst="rect">
            <a:avLst/>
          </a:prstGeom>
          <a:noFill/>
        </p:spPr>
        <p:txBody>
          <a:bodyPr vert="horz" wrap="square" lIns="0" tIns="0" rIns="0" bIns="0" rtlCol="0" anchor="ctr">
            <a:spAutoFit/>
          </a:bodyPr>
          <a:lstStyle/>
          <a:p>
            <a:pPr marL="533400" lvl="0" indent="-533400">
              <a:buFont typeface="Wingdings" panose="05000000000000000000" pitchFamily="2" charset="2"/>
              <a:buChar char=""/>
            </a:pPr>
            <a:endParaRPr lang="zh-CN" altLang="en-US" dirty="0"/>
          </a:p>
        </p:txBody>
      </p:sp>
      <p:sp>
        <p:nvSpPr>
          <p:cNvPr id="13" name="title">
            <a:extLst>
              <a:ext uri="{FF2B5EF4-FFF2-40B4-BE49-F238E27FC236}">
                <a16:creationId xmlns:a16="http://schemas.microsoft.com/office/drawing/2014/main" id="{D29302A8-0A21-B1EF-C68B-AB818576915E}"/>
              </a:ext>
            </a:extLst>
          </p:cNvPr>
          <p:cNvSpPr txBox="1"/>
          <p:nvPr userDrawn="1"/>
        </p:nvSpPr>
        <p:spPr>
          <a:xfrm>
            <a:off x="749541" y="6505615"/>
            <a:ext cx="2754921" cy="210312"/>
          </a:xfrm>
          <a:prstGeom prst="rect">
            <a:avLst/>
          </a:prstGeom>
          <a:noFill/>
        </p:spPr>
        <p:txBody>
          <a:bodyPr wrap="none" lIns="0" tIns="0" rIns="0" bIns="0" rtlCol="0">
            <a:spAutoFit/>
          </a:bodyPr>
          <a:lstStyle/>
          <a:p>
            <a:pPr algn="l"/>
            <a:r>
              <a:rPr lang="zh-CN" altLang="en-US" sz="1200" dirty="0">
                <a:solidFill>
                  <a:schemeClr val="bg1">
                    <a:lumMod val="65000"/>
                  </a:schemeClr>
                </a:solidFill>
                <a:latin typeface="微软雅黑" panose="020B0503020204020204" pitchFamily="34" charset="-122"/>
                <a:ea typeface="微软雅黑" panose="020B0503020204020204" pitchFamily="34" charset="-122"/>
              </a:rPr>
              <a:t>澳门大学 | </a:t>
            </a:r>
            <a:r>
              <a:rPr lang="en-US" altLang="zh-CN" sz="1200" dirty="0">
                <a:solidFill>
                  <a:schemeClr val="bg1">
                    <a:lumMod val="65000"/>
                  </a:schemeClr>
                </a:solidFill>
                <a:latin typeface="微软雅黑" panose="020B0503020204020204" pitchFamily="34" charset="-122"/>
                <a:ea typeface="微软雅黑" panose="020B0503020204020204" pitchFamily="34" charset="-122"/>
              </a:rPr>
              <a:t>UNIVERSIDADE DE MACAU</a:t>
            </a:r>
          </a:p>
          <a:p>
            <a:pPr algn="l"/>
            <a:endParaRPr lang="zh-CN" altLang="en-US" sz="1200"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0014467"/>
      </p:ext>
    </p:extLst>
  </p:cSld>
  <p:clrMap bg1="lt1" tx1="dk1" bg2="lt2" tx2="dk2" accent1="accent1" accent2="accent2" accent3="accent3" accent4="accent4" accent5="accent5" accent6="accent6" hlink="hlink" folHlink="folHlink"/>
  <p:sldLayoutIdLst>
    <p:sldLayoutId id="2147483684" r:id="rId1"/>
    <p:sldLayoutId id="2147483673" r:id="rId2"/>
    <p:sldLayoutId id="2147483705" r:id="rId3"/>
    <p:sldLayoutId id="2147483706" r:id="rId4"/>
    <p:sldLayoutId id="2147483707" r:id="rId5"/>
    <p:sldLayoutId id="2147483708" r:id="rId6"/>
    <p:sldLayoutId id="2147483709" r:id="rId7"/>
    <p:sldLayoutId id="2147483710" r:id="rId8"/>
    <p:sldLayoutId id="2147483711" r:id="rId9"/>
    <p:sldLayoutId id="2147483713" r:id="rId10"/>
    <p:sldLayoutId id="2147483712"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914400" rtl="0" eaLnBrk="1" latinLnBrk="0" hangingPunct="1">
        <a:lnSpc>
          <a:spcPct val="90000"/>
        </a:lnSpc>
        <a:spcBef>
          <a:spcPct val="0"/>
        </a:spcBef>
        <a:buNone/>
        <a:defRPr lang="zh-CN" altLang="en-US" sz="3000" b="1" kern="1200" smtClean="0">
          <a:solidFill>
            <a:schemeClr val="bg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5.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EAE7AB9E-F9FF-5A0E-A407-7FBDF94BBE64}"/>
              </a:ext>
            </a:extLst>
          </p:cNvPr>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CD3CFE73-84AA-FB07-2B2C-CD7617914BA0}"/>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Lst>
          </a:blip>
          <a:srcRect l="10175" r="10175"/>
          <a:stretch/>
        </p:blipFill>
        <p:spPr>
          <a:xfrm>
            <a:off x="695325" y="791099"/>
            <a:ext cx="2894062" cy="5275802"/>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p:spPr>
      </p:pic>
      <p:sp>
        <p:nvSpPr>
          <p:cNvPr id="9" name="矩形 8">
            <a:extLst>
              <a:ext uri="{FF2B5EF4-FFF2-40B4-BE49-F238E27FC236}">
                <a16:creationId xmlns:a16="http://schemas.microsoft.com/office/drawing/2014/main" id="{4789C2C6-F7E0-085D-D6B2-7A40471DD02F}"/>
              </a:ext>
            </a:extLst>
          </p:cNvPr>
          <p:cNvSpPr/>
          <p:nvPr/>
        </p:nvSpPr>
        <p:spPr>
          <a:xfrm>
            <a:off x="3728689" y="791099"/>
            <a:ext cx="7767986" cy="5275802"/>
          </a:xfrm>
          <a:prstGeom prst="rect">
            <a:avLst/>
          </a:prstGeom>
          <a:solidFill>
            <a:schemeClr val="bg1"/>
          </a:solidFill>
          <a:ln>
            <a:noFill/>
          </a:ln>
          <a:effectLst>
            <a:outerShdw blurRad="254000" dist="241300" dir="348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 name="logo">
            <a:extLst>
              <a:ext uri="{FF2B5EF4-FFF2-40B4-BE49-F238E27FC236}">
                <a16:creationId xmlns:a16="http://schemas.microsoft.com/office/drawing/2014/main" id="{26311951-735F-3FD7-A0EB-AAEB444365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78934" y="1100249"/>
            <a:ext cx="996275" cy="996275"/>
          </a:xfrm>
          <a:prstGeom prst="rect">
            <a:avLst/>
          </a:prstGeom>
        </p:spPr>
      </p:pic>
      <p:grpSp>
        <p:nvGrpSpPr>
          <p:cNvPr id="27" name="组合 26">
            <a:extLst>
              <a:ext uri="{FF2B5EF4-FFF2-40B4-BE49-F238E27FC236}">
                <a16:creationId xmlns:a16="http://schemas.microsoft.com/office/drawing/2014/main" id="{ED03B183-0E30-3182-E79F-183EB9BDFF4A}"/>
              </a:ext>
            </a:extLst>
          </p:cNvPr>
          <p:cNvGrpSpPr/>
          <p:nvPr/>
        </p:nvGrpSpPr>
        <p:grpSpPr>
          <a:xfrm>
            <a:off x="5771434" y="4706143"/>
            <a:ext cx="3672746" cy="246221"/>
            <a:chOff x="4593586" y="4322510"/>
            <a:chExt cx="3672746" cy="246221"/>
          </a:xfrm>
        </p:grpSpPr>
        <p:sp>
          <p:nvSpPr>
            <p:cNvPr id="6" name="文本框 5">
              <a:extLst>
                <a:ext uri="{FF2B5EF4-FFF2-40B4-BE49-F238E27FC236}">
                  <a16:creationId xmlns:a16="http://schemas.microsoft.com/office/drawing/2014/main" id="{004A79F7-39CB-0D9A-ED38-B185752B2EAA}"/>
                </a:ext>
              </a:extLst>
            </p:cNvPr>
            <p:cNvSpPr txBox="1"/>
            <p:nvPr/>
          </p:nvSpPr>
          <p:spPr>
            <a:xfrm>
              <a:off x="6419673" y="4322510"/>
              <a:ext cx="1846659" cy="246221"/>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accent1"/>
                  </a:solidFill>
                  <a:sym typeface="Arial" panose="020B0604020202020204" pitchFamily="34" charset="0"/>
                </a:rPr>
                <a:t>指导老师：</a:t>
              </a:r>
              <a:r>
                <a:rPr lang="zh-TW" altLang="en-US" sz="1600" b="1" dirty="0">
                  <a:solidFill>
                    <a:srgbClr val="222222"/>
                  </a:solidFill>
                  <a:sym typeface="Arial" panose="020B0604020202020204" pitchFamily="34" charset="0"/>
                </a:rPr>
                <a:t>王也</a:t>
              </a:r>
              <a:r>
                <a:rPr lang="zh-CN" altLang="en-US" sz="1600" b="1" dirty="0">
                  <a:solidFill>
                    <a:srgbClr val="222222"/>
                  </a:solidFill>
                  <a:sym typeface="Arial" panose="020B0604020202020204" pitchFamily="34" charset="0"/>
                </a:rPr>
                <a:t>老师</a:t>
              </a:r>
            </a:p>
          </p:txBody>
        </p:sp>
        <p:sp>
          <p:nvSpPr>
            <p:cNvPr id="5" name="文本框 4">
              <a:extLst>
                <a:ext uri="{FF2B5EF4-FFF2-40B4-BE49-F238E27FC236}">
                  <a16:creationId xmlns:a16="http://schemas.microsoft.com/office/drawing/2014/main" id="{42C174DF-04CB-1475-DD01-68824C11A7DE}"/>
                </a:ext>
              </a:extLst>
            </p:cNvPr>
            <p:cNvSpPr txBox="1"/>
            <p:nvPr/>
          </p:nvSpPr>
          <p:spPr>
            <a:xfrm>
              <a:off x="4593586" y="4322510"/>
              <a:ext cx="1436291" cy="246221"/>
            </a:xfrm>
            <a:prstGeom prst="rect">
              <a:avLst/>
            </a:prstGeom>
            <a:noFill/>
          </p:spPr>
          <p:txBody>
            <a:bodyPr wrap="none" lIns="0" tIns="0" rIns="0" bIns="0">
              <a:sp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r>
                <a:rPr lang="zh-CN" altLang="en-US" sz="1600" b="1" dirty="0">
                  <a:solidFill>
                    <a:schemeClr val="accent1"/>
                  </a:solidFill>
                  <a:sym typeface="Arial" panose="020B0604020202020204" pitchFamily="34" charset="0"/>
                </a:rPr>
                <a:t>汇报人：</a:t>
              </a:r>
              <a:r>
                <a:rPr lang="zh-TW" altLang="en-US" sz="1600" b="1" dirty="0">
                  <a:solidFill>
                    <a:srgbClr val="222222"/>
                  </a:solidFill>
                  <a:sym typeface="Arial" panose="020B0604020202020204" pitchFamily="34" charset="0"/>
                </a:rPr>
                <a:t>梁浩铭</a:t>
              </a:r>
              <a:endParaRPr lang="zh-CN" altLang="en-US" sz="1600" b="1" dirty="0">
                <a:solidFill>
                  <a:srgbClr val="222222"/>
                </a:solidFill>
                <a:sym typeface="Arial" panose="020B0604020202020204" pitchFamily="34" charset="0"/>
              </a:endParaRPr>
            </a:p>
          </p:txBody>
        </p:sp>
      </p:grpSp>
      <p:cxnSp>
        <p:nvCxnSpPr>
          <p:cNvPr id="30" name="直接连接符 29">
            <a:extLst>
              <a:ext uri="{FF2B5EF4-FFF2-40B4-BE49-F238E27FC236}">
                <a16:creationId xmlns:a16="http://schemas.microsoft.com/office/drawing/2014/main" id="{B70BE7CB-300B-E2B0-A775-EFBF8AAF4A31}"/>
              </a:ext>
            </a:extLst>
          </p:cNvPr>
          <p:cNvCxnSpPr>
            <a:cxnSpLocks/>
          </p:cNvCxnSpPr>
          <p:nvPr/>
        </p:nvCxnSpPr>
        <p:spPr>
          <a:xfrm>
            <a:off x="4515667" y="4257674"/>
            <a:ext cx="5514330" cy="0"/>
          </a:xfrm>
          <a:prstGeom prst="line">
            <a:avLst/>
          </a:prstGeom>
          <a:ln w="19050">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sp>
        <p:nvSpPr>
          <p:cNvPr id="14" name="title">
            <a:extLst>
              <a:ext uri="{FF2B5EF4-FFF2-40B4-BE49-F238E27FC236}">
                <a16:creationId xmlns:a16="http://schemas.microsoft.com/office/drawing/2014/main" id="{F33EBBA0-196B-A020-91E4-233DD08E1A37}"/>
              </a:ext>
            </a:extLst>
          </p:cNvPr>
          <p:cNvSpPr txBox="1">
            <a:spLocks/>
          </p:cNvSpPr>
          <p:nvPr/>
        </p:nvSpPr>
        <p:spPr>
          <a:xfrm>
            <a:off x="4133087" y="3163824"/>
            <a:ext cx="6976872" cy="941832"/>
          </a:xfrm>
          <a:prstGeom prst="rect">
            <a:avLst/>
          </a:prstGeom>
          <a:noFill/>
        </p:spPr>
        <p:txBody>
          <a:bodyPr wrap="square" lIns="0" tIns="0" rIns="0" bIns="0" anchor="t">
            <a:no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marL="0" indent="0" algn="ctr">
              <a:lnSpc>
                <a:spcPct val="112000"/>
              </a:lnSpc>
              <a:spcBef>
                <a:spcPts val="0"/>
              </a:spcBef>
              <a:spcAft>
                <a:spcPts val="500"/>
              </a:spcAft>
              <a:buNone/>
            </a:pPr>
            <a:r>
              <a:rPr lang="zh-CN" sz="2300" b="0">
                <a:solidFill>
                  <a:srgbClr val="062D50"/>
                </a:solidFill>
                <a:latin typeface="Microsoft YaHei"/>
                <a:ea typeface="Microsoft YaHei"/>
                <a:cs typeface="Microsoft YaHei"/>
              </a:rPr>
              <a:t>DREAM：基于分布建模的文字</a:t>
            </a:r>
            <a:endParaRPr lang="en-US" altLang="zh-CN" sz="2400" dirty="0">
              <a:solidFill>
                <a:schemeClr val="accent1"/>
              </a:solidFill>
              <a:sym typeface="Arial" panose="020B0604020202020204" pitchFamily="34" charset="0"/>
            </a:endParaRPr>
          </a:p>
          <a:p>
            <a:pPr marL="0" indent="0" algn="ctr">
              <a:lnSpc>
                <a:spcPct val="112000"/>
              </a:lnSpc>
              <a:spcBef>
                <a:spcPts val="0"/>
              </a:spcBef>
              <a:spcAft>
                <a:spcPts val="500"/>
              </a:spcAft>
              <a:buNone/>
            </a:pPr>
            <a:r>
              <a:rPr lang="zh-CN" sz="2300" b="0">
                <a:solidFill>
                  <a:srgbClr val="062D50"/>
                </a:solidFill>
                <a:latin typeface="Microsoft YaHei"/>
                <a:ea typeface="Microsoft YaHei"/>
                <a:cs typeface="Microsoft YaHei"/>
              </a:rPr>
              <a:t>生成图像系统可扩展红队测试框架</a:t>
            </a:r>
          </a:p>
        </p:txBody>
      </p:sp>
      <p:sp>
        <p:nvSpPr>
          <p:cNvPr id="3" name="文字方塊 2">
            <a:extLst>
              <a:ext uri="{FF2B5EF4-FFF2-40B4-BE49-F238E27FC236}">
                <a16:creationId xmlns:a16="http://schemas.microsoft.com/office/drawing/2014/main" id="{4535DFDF-5812-B640-8690-63D899A1AC43}"/>
              </a:ext>
            </a:extLst>
          </p:cNvPr>
          <p:cNvSpPr txBox="1"/>
          <p:nvPr/>
        </p:nvSpPr>
        <p:spPr>
          <a:xfrm>
            <a:off x="5264312" y="5119567"/>
            <a:ext cx="4686991" cy="338554"/>
          </a:xfrm>
          <a:prstGeom prst="rect">
            <a:avLst/>
          </a:prstGeom>
          <a:noFill/>
        </p:spPr>
        <p:txBody>
          <a:bodyPr wrap="square">
            <a:spAutoFit/>
          </a:bodyPr>
          <a:lstStyle/>
          <a:p>
            <a:pPr algn="ctr"/>
            <a:r>
              <a:rPr lang="en-US" altLang="zh-CN" sz="1600" b="1" dirty="0">
                <a:solidFill>
                  <a:srgbClr val="222222"/>
                </a:solidFill>
                <a:sym typeface="Arial" panose="020B0604020202020204" pitchFamily="34" charset="0"/>
              </a:rPr>
              <a:t>2026</a:t>
            </a:r>
            <a:r>
              <a:rPr lang="zh-TW" altLang="en-US" sz="1600" b="1" dirty="0">
                <a:solidFill>
                  <a:srgbClr val="222222"/>
                </a:solidFill>
                <a:sym typeface="Arial" panose="020B0604020202020204" pitchFamily="34" charset="0"/>
              </a:rPr>
              <a:t>年</a:t>
            </a:r>
            <a:r>
              <a:rPr lang="en-US" altLang="zh-TW" sz="1600" b="1" dirty="0">
                <a:solidFill>
                  <a:srgbClr val="222222"/>
                </a:solidFill>
                <a:sym typeface="Arial" panose="020B0604020202020204" pitchFamily="34" charset="0"/>
              </a:rPr>
              <a:t>10</a:t>
            </a:r>
            <a:r>
              <a:rPr lang="zh-TW" altLang="en-US" sz="1600" b="1" dirty="0">
                <a:solidFill>
                  <a:srgbClr val="222222"/>
                </a:solidFill>
                <a:sym typeface="Arial" panose="020B0604020202020204" pitchFamily="34" charset="0"/>
              </a:rPr>
              <a:t>月</a:t>
            </a:r>
            <a:r>
              <a:rPr lang="en-US" altLang="zh-TW" sz="1600" b="1" dirty="0">
                <a:solidFill>
                  <a:srgbClr val="222222"/>
                </a:solidFill>
                <a:sym typeface="Arial" panose="020B0604020202020204" pitchFamily="34" charset="0"/>
              </a:rPr>
              <a:t>18</a:t>
            </a:r>
            <a:r>
              <a:rPr lang="zh-TW" altLang="en-US" sz="1600" b="1" dirty="0">
                <a:solidFill>
                  <a:srgbClr val="222222"/>
                </a:solidFill>
                <a:sym typeface="Arial" panose="020B0604020202020204" pitchFamily="34" charset="0"/>
              </a:rPr>
              <a:t>日</a:t>
            </a:r>
            <a:endParaRPr lang="zh-MO" altLang="en-US" dirty="0"/>
          </a:p>
        </p:txBody>
      </p:sp>
      <p:sp>
        <p:nvSpPr>
          <p:cNvPr id="7" name="title">
            <a:extLst>
              <a:ext uri="{FF2B5EF4-FFF2-40B4-BE49-F238E27FC236}">
                <a16:creationId xmlns:a16="http://schemas.microsoft.com/office/drawing/2014/main" id="{C95FE2B5-D04C-4843-DD32-D744897C8E1C}"/>
              </a:ext>
            </a:extLst>
          </p:cNvPr>
          <p:cNvSpPr txBox="1">
            <a:spLocks/>
          </p:cNvSpPr>
          <p:nvPr/>
        </p:nvSpPr>
        <p:spPr>
          <a:xfrm>
            <a:off x="4114800" y="1847088"/>
            <a:ext cx="7022592" cy="1143000"/>
          </a:xfrm>
          <a:prstGeom prst="rect">
            <a:avLst/>
          </a:prstGeom>
          <a:noFill/>
        </p:spPr>
        <p:txBody>
          <a:bodyPr wrap="square" lIns="0" tIns="0" rIns="0" bIns="0" anchor="t">
            <a:no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marL="0" indent="0" algn="ctr">
              <a:lnSpc>
                <a:spcPct val="112000"/>
              </a:lnSpc>
              <a:spcBef>
                <a:spcPts val="0"/>
              </a:spcBef>
              <a:spcAft>
                <a:spcPts val="200"/>
              </a:spcAft>
              <a:buNone/>
            </a:pPr>
            <a:r>
              <a:rPr lang="zh-CN" sz="2300" b="0">
                <a:solidFill>
                  <a:srgbClr val="062D50"/>
                </a:solidFill>
                <a:latin typeface="Microsoft YaHei"/>
                <a:ea typeface="Microsoft YaHei"/>
                <a:cs typeface="Microsoft YaHei"/>
              </a:rPr>
              <a:t>DREAM: Scalable Red Teaming for</a:t>
            </a:r>
          </a:p>
          <a:p>
            <a:pPr marL="0" indent="0" algn="ctr">
              <a:lnSpc>
                <a:spcPct val="112000"/>
              </a:lnSpc>
              <a:spcBef>
                <a:spcPts val="0"/>
              </a:spcBef>
              <a:spcAft>
                <a:spcPts val="200"/>
              </a:spcAft>
              <a:buNone/>
            </a:pPr>
            <a:r>
              <a:rPr lang="zh-CN" sz="2300" b="0">
                <a:solidFill>
                  <a:srgbClr val="062D50"/>
                </a:solidFill>
                <a:latin typeface="Microsoft YaHei"/>
                <a:ea typeface="Microsoft YaHei"/>
                <a:cs typeface="Microsoft YaHei"/>
              </a:rPr>
              <a:t>Text-to-Image Generative Systems</a:t>
            </a:r>
          </a:p>
          <a:p>
            <a:pPr marL="0" indent="0" algn="ctr">
              <a:lnSpc>
                <a:spcPct val="112000"/>
              </a:lnSpc>
              <a:spcBef>
                <a:spcPts val="0"/>
              </a:spcBef>
              <a:spcAft>
                <a:spcPts val="200"/>
              </a:spcAft>
              <a:buNone/>
            </a:pPr>
            <a:r>
              <a:rPr lang="zh-CN" sz="2300" b="0">
                <a:solidFill>
                  <a:srgbClr val="062D50"/>
                </a:solidFill>
                <a:latin typeface="Microsoft YaHei"/>
                <a:ea typeface="Microsoft YaHei"/>
                <a:cs typeface="Microsoft YaHei"/>
              </a:rPr>
              <a:t>via Distribution Modeling</a:t>
            </a:r>
          </a:p>
        </p:txBody>
      </p:sp>
      <p:sp>
        <p:nvSpPr>
          <p:cNvPr id="31" name="TextBox 30"/>
          <p:cNvSpPr txBox="1"/>
          <p:nvPr/>
        </p:nvSpPr>
        <p:spPr>
          <a:xfrm>
            <a:off x="4233672" y="5687568"/>
            <a:ext cx="6748272" cy="210312"/>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200" b="0" dirty="0">
                <a:solidFill>
                  <a:srgbClr val="647483"/>
                </a:solidFill>
                <a:latin typeface="Microsoft YaHei"/>
                <a:ea typeface="Microsoft YaHei"/>
                <a:cs typeface="Microsoft YaHei"/>
              </a:rPr>
              <a:t>论文汇报  |  方法与实验</a:t>
            </a:r>
          </a:p>
        </p:txBody>
      </p:sp>
    </p:spTree>
    <p:extLst>
      <p:ext uri="{BB962C8B-B14F-4D97-AF65-F5344CB8AC3E}">
        <p14:creationId xmlns:p14="http://schemas.microsoft.com/office/powerpoint/2010/main" val="2452834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EF93DB4A-E743-89B3-B804-BB4C338B5109}"/>
              </a:ext>
            </a:extLst>
          </p:cNvPr>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a:extLst>
              <a:ext uri="{FF2B5EF4-FFF2-40B4-BE49-F238E27FC236}">
                <a16:creationId xmlns:a16="http://schemas.microsoft.com/office/drawing/2014/main" id="{7DF8D6CE-80AA-4DBC-FBC2-C246AC87BAC9}"/>
              </a:ext>
            </a:extLst>
          </p:cNvPr>
          <p:cNvSpPr/>
          <p:nvPr/>
        </p:nvSpPr>
        <p:spPr>
          <a:xfrm>
            <a:off x="695325" y="785512"/>
            <a:ext cx="10801350" cy="5275802"/>
          </a:xfrm>
          <a:prstGeom prst="roundRect">
            <a:avLst>
              <a:gd name="adj" fmla="val 0"/>
            </a:avLst>
          </a:prstGeom>
          <a:solidFill>
            <a:schemeClr val="bg1"/>
          </a:solidFill>
          <a:ln>
            <a:noFill/>
          </a:ln>
          <a:effectLst>
            <a:outerShdw blurRad="254000" dist="241300" dir="348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46594B3E-3FC7-72DA-7EC9-3CDB2ED8B28F}"/>
              </a:ext>
            </a:extLst>
          </p:cNvPr>
          <p:cNvSpPr txBox="1"/>
          <p:nvPr/>
        </p:nvSpPr>
        <p:spPr>
          <a:xfrm>
            <a:off x="4892040" y="2103120"/>
            <a:ext cx="3566160" cy="466344"/>
          </a:xfrm>
          <a:prstGeom prst="rect">
            <a:avLst/>
          </a:prstGeom>
          <a:noFill/>
        </p:spPr>
        <p:txBody>
          <a:bodyPr wrap="square" lIns="0" tIns="0" rIns="0" bIns="0" rtlCol="0" anchor="t">
            <a:noAutofit/>
          </a:bodyPr>
          <a:lstStyle/>
          <a:p>
            <a:pPr marL="0" indent="0" algn="l">
              <a:lnSpc>
                <a:spcPct val="112000"/>
              </a:lnSpc>
              <a:spcBef>
                <a:spcPts val="0"/>
              </a:spcBef>
              <a:spcAft>
                <a:spcPts val="0"/>
              </a:spcAft>
              <a:buNone/>
            </a:pPr>
            <a:r>
              <a:rPr lang="zh-CN" sz="2400" b="0">
                <a:solidFill>
                  <a:srgbClr val="202A33"/>
                </a:solidFill>
                <a:latin typeface="Microsoft YaHei"/>
                <a:ea typeface="Microsoft YaHei"/>
                <a:cs typeface="Microsoft YaHei"/>
              </a:rPr>
              <a:t>研究背景</a:t>
            </a:r>
          </a:p>
        </p:txBody>
      </p:sp>
      <p:sp>
        <p:nvSpPr>
          <p:cNvPr id="29" name="矩形: 圆角 28">
            <a:extLst>
              <a:ext uri="{FF2B5EF4-FFF2-40B4-BE49-F238E27FC236}">
                <a16:creationId xmlns:a16="http://schemas.microsoft.com/office/drawing/2014/main" id="{A2F73CB6-AD00-ADD7-6A7F-061BC6E76AA9}"/>
              </a:ext>
            </a:extLst>
          </p:cNvPr>
          <p:cNvSpPr/>
          <p:nvPr/>
        </p:nvSpPr>
        <p:spPr>
          <a:xfrm>
            <a:off x="4326730" y="2075688"/>
            <a:ext cx="448142" cy="448142"/>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Arial" panose="020B0604020202020204" pitchFamily="34" charset="0"/>
                <a:cs typeface="Arial" panose="020B0604020202020204" pitchFamily="34" charset="0"/>
              </a:rPr>
              <a:t>1</a:t>
            </a:r>
            <a:endParaRPr lang="zh-CN" altLang="en-US" sz="3200" b="1" dirty="0">
              <a:solidFill>
                <a:schemeClr val="bg1"/>
              </a:solidFill>
              <a:latin typeface="Arial" panose="020B0604020202020204" pitchFamily="34" charset="0"/>
              <a:cs typeface="Arial" panose="020B0604020202020204" pitchFamily="34" charset="0"/>
            </a:endParaRPr>
          </a:p>
        </p:txBody>
      </p:sp>
      <p:sp>
        <p:nvSpPr>
          <p:cNvPr id="30" name="矩形: 圆角 29">
            <a:extLst>
              <a:ext uri="{FF2B5EF4-FFF2-40B4-BE49-F238E27FC236}">
                <a16:creationId xmlns:a16="http://schemas.microsoft.com/office/drawing/2014/main" id="{52D66506-763F-719A-2EE0-C8DA7EC2694F}"/>
              </a:ext>
            </a:extLst>
          </p:cNvPr>
          <p:cNvSpPr/>
          <p:nvPr/>
        </p:nvSpPr>
        <p:spPr>
          <a:xfrm>
            <a:off x="4326730" y="2916936"/>
            <a:ext cx="448142" cy="448142"/>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Arial" panose="020B0604020202020204" pitchFamily="34" charset="0"/>
                <a:cs typeface="Arial" panose="020B0604020202020204" pitchFamily="34" charset="0"/>
              </a:rPr>
              <a:t>2</a:t>
            </a:r>
            <a:endParaRPr lang="zh-CN" altLang="en-US" sz="3200" b="1" dirty="0">
              <a:solidFill>
                <a:schemeClr val="bg1"/>
              </a:solidFill>
              <a:latin typeface="Arial" panose="020B0604020202020204" pitchFamily="34" charset="0"/>
              <a:cs typeface="Arial" panose="020B0604020202020204" pitchFamily="34" charset="0"/>
            </a:endParaRPr>
          </a:p>
        </p:txBody>
      </p:sp>
      <p:sp>
        <p:nvSpPr>
          <p:cNvPr id="31" name="矩形: 圆角 30">
            <a:extLst>
              <a:ext uri="{FF2B5EF4-FFF2-40B4-BE49-F238E27FC236}">
                <a16:creationId xmlns:a16="http://schemas.microsoft.com/office/drawing/2014/main" id="{5BF9F952-85BA-1451-BD3D-EE5F0CA86E64}"/>
              </a:ext>
            </a:extLst>
          </p:cNvPr>
          <p:cNvSpPr/>
          <p:nvPr/>
        </p:nvSpPr>
        <p:spPr>
          <a:xfrm>
            <a:off x="4326730" y="4599431"/>
            <a:ext cx="448142" cy="448142"/>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Arial" panose="020B0604020202020204" pitchFamily="34" charset="0"/>
                <a:cs typeface="Arial" panose="020B0604020202020204" pitchFamily="34" charset="0"/>
              </a:rPr>
              <a:t>4</a:t>
            </a:r>
            <a:endParaRPr lang="zh-CN" altLang="en-US" sz="3200" b="1" dirty="0">
              <a:solidFill>
                <a:schemeClr val="bg1"/>
              </a:solidFill>
              <a:latin typeface="Arial" panose="020B0604020202020204" pitchFamily="34" charset="0"/>
              <a:cs typeface="Arial" panose="020B0604020202020204" pitchFamily="34" charset="0"/>
            </a:endParaRPr>
          </a:p>
        </p:txBody>
      </p:sp>
      <p:sp>
        <p:nvSpPr>
          <p:cNvPr id="32" name="矩形: 圆角 31">
            <a:extLst>
              <a:ext uri="{FF2B5EF4-FFF2-40B4-BE49-F238E27FC236}">
                <a16:creationId xmlns:a16="http://schemas.microsoft.com/office/drawing/2014/main" id="{B7E1D7F0-1C39-A2C1-8595-177E3AA2BEBE}"/>
              </a:ext>
            </a:extLst>
          </p:cNvPr>
          <p:cNvSpPr/>
          <p:nvPr/>
        </p:nvSpPr>
        <p:spPr>
          <a:xfrm>
            <a:off x="4326730" y="3758183"/>
            <a:ext cx="448142" cy="448142"/>
          </a:xfrm>
          <a:prstGeom prst="roundRect">
            <a:avLst>
              <a:gd name="adj" fmla="val 0"/>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Arial" panose="020B0604020202020204" pitchFamily="34" charset="0"/>
                <a:cs typeface="Arial" panose="020B0604020202020204" pitchFamily="34" charset="0"/>
              </a:rPr>
              <a:t>3</a:t>
            </a:r>
            <a:endParaRPr lang="zh-CN" altLang="en-US" sz="3200" b="1" dirty="0">
              <a:solidFill>
                <a:schemeClr val="bg1"/>
              </a:solidFill>
              <a:latin typeface="Arial" panose="020B0604020202020204" pitchFamily="34" charset="0"/>
              <a:cs typeface="Arial" panose="020B0604020202020204" pitchFamily="34" charset="0"/>
            </a:endParaRPr>
          </a:p>
        </p:txBody>
      </p:sp>
      <p:sp>
        <p:nvSpPr>
          <p:cNvPr id="34" name="文本框 33">
            <a:extLst>
              <a:ext uri="{FF2B5EF4-FFF2-40B4-BE49-F238E27FC236}">
                <a16:creationId xmlns:a16="http://schemas.microsoft.com/office/drawing/2014/main" id="{F7D86F52-F22B-21DA-518C-05675BC5E71B}"/>
              </a:ext>
            </a:extLst>
          </p:cNvPr>
          <p:cNvSpPr txBox="1"/>
          <p:nvPr/>
        </p:nvSpPr>
        <p:spPr>
          <a:xfrm>
            <a:off x="4892040" y="2944368"/>
            <a:ext cx="3566160" cy="466344"/>
          </a:xfrm>
          <a:prstGeom prst="rect">
            <a:avLst/>
          </a:prstGeom>
          <a:noFill/>
        </p:spPr>
        <p:txBody>
          <a:bodyPr wrap="square" lIns="0" tIns="0" rIns="0" bIns="0" rtlCol="0" anchor="t">
            <a:noAutofit/>
          </a:bodyPr>
          <a:lstStyle/>
          <a:p>
            <a:pPr marL="0" indent="0" algn="l">
              <a:lnSpc>
                <a:spcPct val="112000"/>
              </a:lnSpc>
              <a:spcBef>
                <a:spcPts val="0"/>
              </a:spcBef>
              <a:spcAft>
                <a:spcPts val="0"/>
              </a:spcAft>
              <a:buNone/>
            </a:pPr>
            <a:r>
              <a:rPr lang="zh-CN" sz="2400" b="0">
                <a:solidFill>
                  <a:srgbClr val="202A33"/>
                </a:solidFill>
                <a:latin typeface="Microsoft YaHei"/>
                <a:ea typeface="Microsoft YaHei"/>
                <a:cs typeface="Microsoft YaHei"/>
              </a:rPr>
              <a:t>本文方法</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8FB0A7F6-E1E7-6900-FC78-4D1DF7ED25C5}"/>
              </a:ext>
            </a:extLst>
          </p:cNvPr>
          <p:cNvSpPr txBox="1"/>
          <p:nvPr/>
        </p:nvSpPr>
        <p:spPr>
          <a:xfrm>
            <a:off x="4892040" y="3785615"/>
            <a:ext cx="3566160" cy="466344"/>
          </a:xfrm>
          <a:prstGeom prst="rect">
            <a:avLst/>
          </a:prstGeom>
          <a:noFill/>
        </p:spPr>
        <p:txBody>
          <a:bodyPr wrap="square" lIns="0" tIns="0" rIns="0" bIns="0" rtlCol="0" anchor="t">
            <a:noAutofit/>
          </a:bodyPr>
          <a:lstStyle/>
          <a:p>
            <a:pPr marL="0" indent="0" algn="l">
              <a:lnSpc>
                <a:spcPct val="112000"/>
              </a:lnSpc>
              <a:spcBef>
                <a:spcPts val="0"/>
              </a:spcBef>
              <a:spcAft>
                <a:spcPts val="0"/>
              </a:spcAft>
              <a:buNone/>
            </a:pPr>
            <a:r>
              <a:rPr lang="zh-CN" sz="2400" b="0">
                <a:solidFill>
                  <a:srgbClr val="202A33"/>
                </a:solidFill>
                <a:latin typeface="Microsoft YaHei"/>
                <a:ea typeface="Microsoft YaHei"/>
                <a:cs typeface="Microsoft YaHei"/>
              </a:rPr>
              <a:t>实验介绍</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文本框 36">
            <a:extLst>
              <a:ext uri="{FF2B5EF4-FFF2-40B4-BE49-F238E27FC236}">
                <a16:creationId xmlns:a16="http://schemas.microsoft.com/office/drawing/2014/main" id="{66C8A842-A4FD-C6F1-656B-DCE811A9F5BC}"/>
              </a:ext>
            </a:extLst>
          </p:cNvPr>
          <p:cNvSpPr txBox="1"/>
          <p:nvPr/>
        </p:nvSpPr>
        <p:spPr>
          <a:xfrm>
            <a:off x="4892040" y="4626864"/>
            <a:ext cx="3566160" cy="466344"/>
          </a:xfrm>
          <a:prstGeom prst="rect">
            <a:avLst/>
          </a:prstGeom>
          <a:noFill/>
        </p:spPr>
        <p:txBody>
          <a:bodyPr wrap="square" lIns="0" tIns="0" rIns="0" bIns="0" rtlCol="0" anchor="t">
            <a:noAutofit/>
          </a:bodyPr>
          <a:lstStyle/>
          <a:p>
            <a:pPr marL="0" indent="0" algn="l">
              <a:lnSpc>
                <a:spcPct val="112000"/>
              </a:lnSpc>
              <a:spcBef>
                <a:spcPts val="0"/>
              </a:spcBef>
              <a:spcAft>
                <a:spcPts val="0"/>
              </a:spcAft>
              <a:buNone/>
            </a:pPr>
            <a:r>
              <a:rPr lang="zh-CN" sz="2400" b="0">
                <a:solidFill>
                  <a:srgbClr val="202A33"/>
                </a:solidFill>
                <a:latin typeface="Microsoft YaHei"/>
                <a:ea typeface="Microsoft YaHei"/>
                <a:cs typeface="Microsoft YaHei"/>
              </a:rPr>
              <a:t>总结与思考</a:t>
            </a:r>
          </a:p>
        </p:txBody>
      </p:sp>
      <p:sp>
        <p:nvSpPr>
          <p:cNvPr id="41" name="page">
            <a:extLst>
              <a:ext uri="{FF2B5EF4-FFF2-40B4-BE49-F238E27FC236}">
                <a16:creationId xmlns:a16="http://schemas.microsoft.com/office/drawing/2014/main" id="{96B13131-5C65-6004-4E3D-2229495A7BAF}"/>
              </a:ext>
            </a:extLst>
          </p:cNvPr>
          <p:cNvSpPr txBox="1">
            <a:spLocks/>
          </p:cNvSpPr>
          <p:nvPr/>
        </p:nvSpPr>
        <p:spPr>
          <a:xfrm>
            <a:off x="11301984" y="6382512"/>
            <a:ext cx="429768" cy="274320"/>
          </a:xfrm>
          <a:prstGeom prst="rect">
            <a:avLst/>
          </a:prstGeom>
          <a:noFill/>
        </p:spPr>
        <p:txBody>
          <a:bodyPr vert="horz" wrap="square" lIns="0" tIns="0" rIns="0" bIns="0" rtlCol="0" anchor="t">
            <a:no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r">
              <a:lnSpc>
                <a:spcPct val="112000"/>
              </a:lnSpc>
              <a:spcBef>
                <a:spcPts val="0"/>
              </a:spcBef>
              <a:spcAft>
                <a:spcPts val="0"/>
              </a:spcAft>
              <a:buNone/>
            </a:pPr>
            <a:r>
              <a:rPr lang="zh-CN" sz="1400" b="1">
                <a:solidFill>
                  <a:srgbClr val="FFFFFF"/>
                </a:solidFill>
                <a:latin typeface="Microsoft YaHei"/>
                <a:ea typeface="Microsoft YaHei"/>
                <a:cs typeface="Microsoft YaHei"/>
              </a:rPr>
              <a:t>2</a:t>
            </a:r>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标题">
            <a:extLst>
              <a:ext uri="{FF2B5EF4-FFF2-40B4-BE49-F238E27FC236}">
                <a16:creationId xmlns:a16="http://schemas.microsoft.com/office/drawing/2014/main" id="{DDC60A40-B843-8023-E787-610758A9AF16}"/>
              </a:ext>
            </a:extLst>
          </p:cNvPr>
          <p:cNvSpPr/>
          <p:nvPr/>
        </p:nvSpPr>
        <p:spPr>
          <a:xfrm flipH="1">
            <a:off x="4273225" y="1092559"/>
            <a:ext cx="3645549" cy="735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90000" rIns="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kumimoji="1" lang="zh-CN" altLang="en-US" sz="3600" b="1"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目录</a:t>
            </a:r>
            <a:r>
              <a:rPr kumimoji="1" lang="zh-CN" altLang="en-US" sz="3600" b="1" dirty="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rPr>
              <a:t> </a:t>
            </a:r>
            <a:r>
              <a:rPr kumimoji="1" lang="en-US" altLang="zh-CN" sz="3600" b="1" dirty="0">
                <a:solidFill>
                  <a:schemeClr val="tx1">
                    <a:lumMod val="85000"/>
                    <a:lumOff val="15000"/>
                  </a:schemeClr>
                </a:solidFill>
                <a:latin typeface="微软雅黑" panose="020B0503020204020204" pitchFamily="34" charset="-122"/>
                <a:ea typeface="微软雅黑" panose="020B0503020204020204" pitchFamily="34" charset="-122"/>
                <a:cs typeface="Arial" panose="020B0604020202020204" pitchFamily="34" charset="0"/>
              </a:rPr>
              <a:t>CONTENTS</a:t>
            </a:r>
          </a:p>
        </p:txBody>
      </p:sp>
      <p:sp>
        <p:nvSpPr>
          <p:cNvPr id="25" name="矩形 24">
            <a:extLst>
              <a:ext uri="{FF2B5EF4-FFF2-40B4-BE49-F238E27FC236}">
                <a16:creationId xmlns:a16="http://schemas.microsoft.com/office/drawing/2014/main" id="{A58D198B-35D1-EBB1-D480-C7B722930D33}"/>
              </a:ext>
            </a:extLst>
          </p:cNvPr>
          <p:cNvSpPr/>
          <p:nvPr/>
        </p:nvSpPr>
        <p:spPr>
          <a:xfrm>
            <a:off x="4326730" y="785512"/>
            <a:ext cx="3538538" cy="731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itle">
            <a:extLst>
              <a:ext uri="{FF2B5EF4-FFF2-40B4-BE49-F238E27FC236}">
                <a16:creationId xmlns:a16="http://schemas.microsoft.com/office/drawing/2014/main" id="{B8A15962-7C21-E666-2DB1-7E77BA0BD7A1}"/>
              </a:ext>
            </a:extLst>
          </p:cNvPr>
          <p:cNvSpPr txBox="1"/>
          <p:nvPr/>
        </p:nvSpPr>
        <p:spPr>
          <a:xfrm>
            <a:off x="658813" y="6385673"/>
            <a:ext cx="3314754" cy="215444"/>
          </a:xfrm>
          <a:prstGeom prst="rect">
            <a:avLst/>
          </a:prstGeom>
          <a:noFill/>
        </p:spPr>
        <p:txBody>
          <a:bodyPr wrap="none" lIns="0" tIns="0" rIns="0" bIns="0"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澳门大学 | </a:t>
            </a:r>
            <a:r>
              <a:rPr lang="en-US" altLang="zh-CN" sz="1400" dirty="0">
                <a:solidFill>
                  <a:schemeClr val="bg1"/>
                </a:solidFill>
                <a:latin typeface="微软雅黑" panose="020B0503020204020204" pitchFamily="34" charset="-122"/>
                <a:ea typeface="微软雅黑" panose="020B0503020204020204" pitchFamily="34" charset="-122"/>
              </a:rPr>
              <a:t>UNIVERSIDADE DE MACAU</a:t>
            </a:r>
            <a:endParaRPr lang="zh-CN" altLang="en-US" sz="1400" dirty="0">
              <a:solidFill>
                <a:schemeClr val="bg1"/>
              </a:solidFill>
              <a:latin typeface="微软雅黑" panose="020B0503020204020204" pitchFamily="34" charset="-122"/>
              <a:ea typeface="微软雅黑" panose="020B0503020204020204" pitchFamily="34" charset="-122"/>
            </a:endParaRPr>
          </a:p>
        </p:txBody>
      </p:sp>
      <p:pic>
        <p:nvPicPr>
          <p:cNvPr id="2" name="Picture 10" descr="image.png">
            <a:extLst>
              <a:ext uri="{FF2B5EF4-FFF2-40B4-BE49-F238E27FC236}">
                <a16:creationId xmlns:a16="http://schemas.microsoft.com/office/drawing/2014/main" id="{CE6EADB6-6990-B34E-D6DA-811B126F9F4E}"/>
              </a:ext>
            </a:extLst>
          </p:cNvPr>
          <p:cNvPicPr>
            <a:picLocks noChangeAspect="1"/>
          </p:cNvPicPr>
          <p:nvPr/>
        </p:nvPicPr>
        <p:blipFill>
          <a:blip r:embed="rId4"/>
          <a:stretch>
            <a:fillRect/>
          </a:stretch>
        </p:blipFill>
        <p:spPr>
          <a:xfrm>
            <a:off x="695324" y="762487"/>
            <a:ext cx="2630574" cy="5275803"/>
          </a:xfrm>
          <a:prstGeom prst="rect">
            <a:avLst/>
          </a:prstGeom>
        </p:spPr>
      </p:pic>
      <p:sp>
        <p:nvSpPr>
          <p:cNvPr id="42" name="TextBox 41"/>
          <p:cNvSpPr txBox="1"/>
          <p:nvPr/>
        </p:nvSpPr>
        <p:spPr>
          <a:xfrm>
            <a:off x="4910328" y="2587752"/>
            <a:ext cx="6035040" cy="25603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400" b="0">
                <a:solidFill>
                  <a:srgbClr val="647483"/>
                </a:solidFill>
                <a:latin typeface="Microsoft YaHei"/>
                <a:ea typeface="Microsoft YaHei"/>
                <a:cs typeface="Microsoft YaHei"/>
              </a:rPr>
              <a:t>为什么需要一批不同的测试案例？</a:t>
            </a:r>
          </a:p>
        </p:txBody>
      </p:sp>
      <p:sp>
        <p:nvSpPr>
          <p:cNvPr id="43" name="TextBox 42"/>
          <p:cNvSpPr txBox="1"/>
          <p:nvPr/>
        </p:nvSpPr>
        <p:spPr>
          <a:xfrm>
            <a:off x="4910328" y="3429000"/>
            <a:ext cx="6035040" cy="25603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400" b="0">
                <a:solidFill>
                  <a:srgbClr val="647483"/>
                </a:solidFill>
                <a:latin typeface="Microsoft YaHei"/>
                <a:ea typeface="Microsoft YaHei"/>
                <a:cs typeface="Microsoft YaHei"/>
              </a:rPr>
              <a:t>三个模块分别解决什么问题？</a:t>
            </a:r>
          </a:p>
        </p:txBody>
      </p:sp>
      <p:sp>
        <p:nvSpPr>
          <p:cNvPr id="44" name="TextBox 43"/>
          <p:cNvSpPr txBox="1"/>
          <p:nvPr/>
        </p:nvSpPr>
        <p:spPr>
          <a:xfrm>
            <a:off x="4910328" y="4270248"/>
            <a:ext cx="6035040" cy="25603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400" b="0">
                <a:solidFill>
                  <a:srgbClr val="647483"/>
                </a:solidFill>
                <a:latin typeface="Microsoft YaHei"/>
                <a:ea typeface="Microsoft YaHei"/>
                <a:cs typeface="Microsoft YaHei"/>
              </a:rPr>
              <a:t>实验怎么对应前面的问题？</a:t>
            </a:r>
          </a:p>
        </p:txBody>
      </p:sp>
      <p:sp>
        <p:nvSpPr>
          <p:cNvPr id="45" name="TextBox 44"/>
          <p:cNvSpPr txBox="1"/>
          <p:nvPr/>
        </p:nvSpPr>
        <p:spPr>
          <a:xfrm>
            <a:off x="4910328" y="5111496"/>
            <a:ext cx="6035040" cy="25603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400" b="0">
                <a:solidFill>
                  <a:srgbClr val="647483"/>
                </a:solidFill>
                <a:latin typeface="Microsoft YaHei"/>
                <a:ea typeface="Microsoft YaHei"/>
                <a:cs typeface="Microsoft YaHei"/>
              </a:rPr>
              <a:t>哪些结论成立，哪些还要继续检查？</a:t>
            </a:r>
          </a:p>
        </p:txBody>
      </p:sp>
    </p:spTree>
    <p:custDataLst>
      <p:tags r:id="rId1"/>
    </p:custDataLst>
    <p:extLst>
      <p:ext uri="{BB962C8B-B14F-4D97-AF65-F5344CB8AC3E}">
        <p14:creationId xmlns:p14="http://schemas.microsoft.com/office/powerpoint/2010/main" val="93597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EF93DB4A-E743-89B3-B804-BB4C338B5109}"/>
              </a:ext>
            </a:extLst>
          </p:cNvPr>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F896781F-1BED-2841-E733-3CFC59E381A2}"/>
              </a:ext>
            </a:extLst>
          </p:cNvPr>
          <p:cNvPicPr>
            <a:picLocks noChangeAspect="1"/>
          </p:cNvPicPr>
          <p:nvPr/>
        </p:nvPicPr>
        <p:blipFill rotWithShape="1">
          <a:blip r:embed="rId4">
            <a:duotone>
              <a:schemeClr val="accent1">
                <a:shade val="45000"/>
                <a:satMod val="135000"/>
              </a:schemeClr>
              <a:prstClr val="white"/>
            </a:duotone>
          </a:blip>
          <a:srcRect t="4253" b="15909"/>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a:extLst>
              <a:ext uri="{FF2B5EF4-FFF2-40B4-BE49-F238E27FC236}">
                <a16:creationId xmlns:a16="http://schemas.microsoft.com/office/drawing/2014/main" id="{7DF8D6CE-80AA-4DBC-FBC2-C246AC87BAC9}"/>
              </a:ext>
            </a:extLst>
          </p:cNvPr>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39" name="title">
            <a:extLst>
              <a:ext uri="{FF2B5EF4-FFF2-40B4-BE49-F238E27FC236}">
                <a16:creationId xmlns:a16="http://schemas.microsoft.com/office/drawing/2014/main" id="{B8A15962-7C21-E666-2DB1-7E77BA0BD7A1}"/>
              </a:ext>
            </a:extLst>
          </p:cNvPr>
          <p:cNvSpPr txBox="1"/>
          <p:nvPr/>
        </p:nvSpPr>
        <p:spPr>
          <a:xfrm>
            <a:off x="658813" y="6385673"/>
            <a:ext cx="3314754" cy="215444"/>
          </a:xfrm>
          <a:prstGeom prst="rect">
            <a:avLst/>
          </a:prstGeom>
          <a:noFill/>
        </p:spPr>
        <p:txBody>
          <a:bodyPr wrap="none" lIns="0" tIns="0" rIns="0" bIns="0"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澳门大学 | </a:t>
            </a:r>
            <a:r>
              <a:rPr lang="en-US" altLang="zh-CN" sz="1400" dirty="0">
                <a:solidFill>
                  <a:schemeClr val="bg1"/>
                </a:solidFill>
                <a:latin typeface="微软雅黑" panose="020B0503020204020204" pitchFamily="34" charset="-122"/>
                <a:ea typeface="微软雅黑" panose="020B0503020204020204" pitchFamily="34" charset="-122"/>
              </a:rPr>
              <a:t>UNIVERSIDADE DE MACAU</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1" name="page">
            <a:extLst>
              <a:ext uri="{FF2B5EF4-FFF2-40B4-BE49-F238E27FC236}">
                <a16:creationId xmlns:a16="http://schemas.microsoft.com/office/drawing/2014/main" id="{96B13131-5C65-6004-4E3D-2229495A7BAF}"/>
              </a:ext>
            </a:extLst>
          </p:cNvPr>
          <p:cNvSpPr txBox="1">
            <a:spLocks/>
          </p:cNvSpPr>
          <p:nvPr/>
        </p:nvSpPr>
        <p:spPr>
          <a:xfrm>
            <a:off x="11301984" y="6382512"/>
            <a:ext cx="429768" cy="274320"/>
          </a:xfrm>
          <a:prstGeom prst="rect">
            <a:avLst/>
          </a:prstGeom>
          <a:noFill/>
        </p:spPr>
        <p:txBody>
          <a:bodyPr vert="horz" wrap="square" lIns="0" tIns="0" rIns="0" bIns="0" rtlCol="0" anchor="t">
            <a:no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r">
              <a:lnSpc>
                <a:spcPct val="112000"/>
              </a:lnSpc>
              <a:spcBef>
                <a:spcPts val="0"/>
              </a:spcBef>
              <a:spcAft>
                <a:spcPts val="0"/>
              </a:spcAft>
              <a:buNone/>
            </a:pPr>
            <a:r>
              <a:rPr lang="zh-CN" sz="1400" b="1">
                <a:solidFill>
                  <a:srgbClr val="FFFFFF"/>
                </a:solidFill>
                <a:latin typeface="Microsoft YaHei"/>
                <a:ea typeface="Microsoft YaHei"/>
                <a:cs typeface="Microsoft YaHei"/>
              </a:rPr>
              <a:t>3</a:t>
            </a:r>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part">
            <a:extLst>
              <a:ext uri="{FF2B5EF4-FFF2-40B4-BE49-F238E27FC236}">
                <a16:creationId xmlns:a16="http://schemas.microsoft.com/office/drawing/2014/main" id="{DDC60A40-B843-8023-E787-610758A9AF16}"/>
              </a:ext>
            </a:extLst>
          </p:cNvPr>
          <p:cNvSpPr/>
          <p:nvPr/>
        </p:nvSpPr>
        <p:spPr>
          <a:xfrm flipH="1">
            <a:off x="987552" y="2423160"/>
            <a:ext cx="1828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indent="0" algn="ctr">
              <a:lnSpc>
                <a:spcPct val="112000"/>
              </a:lnSpc>
              <a:spcBef>
                <a:spcPts val="0"/>
              </a:spcBef>
              <a:spcAft>
                <a:spcPts val="1200"/>
              </a:spcAft>
              <a:buNone/>
            </a:pPr>
            <a:r>
              <a:rPr lang="zh-CN" sz="3400" b="1">
                <a:solidFill>
                  <a:srgbClr val="062D50"/>
                </a:solidFill>
                <a:latin typeface="Microsoft YaHei"/>
                <a:ea typeface="Microsoft YaHei"/>
                <a:cs typeface="Microsoft YaHei"/>
              </a:rPr>
              <a:t>Part</a:t>
            </a:r>
          </a:p>
          <a:p>
            <a:pPr marL="0" indent="0" algn="ctr">
              <a:lnSpc>
                <a:spcPct val="112000"/>
              </a:lnSpc>
              <a:spcBef>
                <a:spcPts val="0"/>
              </a:spcBef>
              <a:spcAft>
                <a:spcPts val="1200"/>
              </a:spcAft>
              <a:buNone/>
            </a:pPr>
            <a:r>
              <a:rPr lang="zh-CN" sz="7200" b="1">
                <a:solidFill>
                  <a:srgbClr val="062D50"/>
                </a:solidFill>
                <a:latin typeface="Microsoft YaHei"/>
                <a:ea typeface="Microsoft YaHei"/>
                <a:cs typeface="Microsoft YaHei"/>
              </a:rPr>
              <a:t>01</a:t>
            </a:r>
          </a:p>
        </p:txBody>
      </p:sp>
      <p:sp>
        <p:nvSpPr>
          <p:cNvPr id="28" name="文本框 27">
            <a:extLst>
              <a:ext uri="{FF2B5EF4-FFF2-40B4-BE49-F238E27FC236}">
                <a16:creationId xmlns:a16="http://schemas.microsoft.com/office/drawing/2014/main" id="{46594B3E-3FC7-72DA-7EC9-3CDB2ED8B28F}"/>
              </a:ext>
            </a:extLst>
          </p:cNvPr>
          <p:cNvSpPr txBox="1"/>
          <p:nvPr/>
        </p:nvSpPr>
        <p:spPr>
          <a:xfrm>
            <a:off x="4663440" y="2834640"/>
            <a:ext cx="5486400" cy="758952"/>
          </a:xfrm>
          <a:prstGeom prst="rect">
            <a:avLst/>
          </a:prstGeom>
          <a:noFill/>
        </p:spPr>
        <p:txBody>
          <a:bodyPr wrap="square" lIns="0" tIns="0" rIns="0" bIns="0" rtlCol="0" anchor="t">
            <a:noAutofit/>
          </a:bodyPr>
          <a:lstStyle/>
          <a:p>
            <a:pPr marL="0" indent="0" algn="ctr">
              <a:lnSpc>
                <a:spcPct val="112000"/>
              </a:lnSpc>
              <a:spcBef>
                <a:spcPts val="0"/>
              </a:spcBef>
              <a:spcAft>
                <a:spcPts val="0"/>
              </a:spcAft>
              <a:buNone/>
            </a:pPr>
            <a:r>
              <a:rPr lang="zh-CN" sz="4200" b="1">
                <a:solidFill>
                  <a:srgbClr val="202A33"/>
                </a:solidFill>
                <a:latin typeface="Microsoft YaHei"/>
                <a:ea typeface="Microsoft YaHei"/>
                <a:cs typeface="Microsoft YaHei"/>
              </a:rPr>
              <a:t>研究背景</a:t>
            </a:r>
          </a:p>
        </p:txBody>
      </p:sp>
      <p:sp>
        <p:nvSpPr>
          <p:cNvPr id="8" name="矩形 7">
            <a:extLst>
              <a:ext uri="{FF2B5EF4-FFF2-40B4-BE49-F238E27FC236}">
                <a16:creationId xmlns:a16="http://schemas.microsoft.com/office/drawing/2014/main" id="{F7A35DBC-57AA-816A-D013-2ABFC72F71DA}"/>
              </a:ext>
            </a:extLst>
          </p:cNvPr>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TextBox 41"/>
          <p:cNvSpPr txBox="1"/>
          <p:nvPr/>
        </p:nvSpPr>
        <p:spPr>
          <a:xfrm>
            <a:off x="4526280" y="3794760"/>
            <a:ext cx="5852160" cy="68580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0">
                <a:solidFill>
                  <a:srgbClr val="647483"/>
                </a:solidFill>
                <a:latin typeface="Microsoft YaHei"/>
                <a:ea typeface="Microsoft YaHei"/>
                <a:cs typeface="Microsoft YaHei"/>
              </a:rPr>
              <a:t>先说明：什么结果算一次测试发现？</a:t>
            </a:r>
          </a:p>
        </p:txBody>
      </p:sp>
    </p:spTree>
    <p:custDataLst>
      <p:tags r:id="rId1"/>
    </p:custDataLst>
    <p:extLst>
      <p:ext uri="{BB962C8B-B14F-4D97-AF65-F5344CB8AC3E}">
        <p14:creationId xmlns:p14="http://schemas.microsoft.com/office/powerpoint/2010/main" val="1651973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49F12-B7D9-EDA6-C821-2D724976BEC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823CB4A-06E2-3862-CF09-37788AADD999}"/>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dirty="0">
                <a:solidFill>
                  <a:srgbClr val="FFFFFF"/>
                </a:solidFill>
                <a:latin typeface="Microsoft YaHei"/>
                <a:ea typeface="Microsoft YaHei"/>
                <a:cs typeface="Microsoft YaHei"/>
              </a:rPr>
              <a:t>研究背景 —— 文字生成图像系统也</a:t>
            </a:r>
            <a:r>
              <a:rPr lang="zh-TW" altLang="en-US" sz="2500" b="1" dirty="0">
                <a:solidFill>
                  <a:srgbClr val="FFFFFF"/>
                </a:solidFill>
                <a:latin typeface="Microsoft YaHei"/>
                <a:ea typeface="Microsoft YaHei"/>
                <a:cs typeface="Microsoft YaHei"/>
              </a:rPr>
              <a:t>存在</a:t>
            </a:r>
            <a:r>
              <a:rPr lang="zh-CN" sz="2500" b="1" dirty="0">
                <a:solidFill>
                  <a:srgbClr val="FFFFFF"/>
                </a:solidFill>
                <a:latin typeface="Microsoft YaHei"/>
                <a:ea typeface="Microsoft YaHei"/>
                <a:cs typeface="Microsoft YaHei"/>
              </a:rPr>
              <a:t>漏掉风险</a:t>
            </a:r>
            <a:endParaRPr lang="zh-CN" altLang="en-US" dirty="0"/>
          </a:p>
        </p:txBody>
      </p:sp>
      <p:pic>
        <p:nvPicPr>
          <p:cNvPr id="8" name="圖片 7">
            <a:extLst>
              <a:ext uri="{FF2B5EF4-FFF2-40B4-BE49-F238E27FC236}">
                <a16:creationId xmlns:a16="http://schemas.microsoft.com/office/drawing/2014/main" id="{A0A124A4-9F49-4268-490A-41E48F66D8FA}"/>
              </a:ext>
            </a:extLst>
          </p:cNvPr>
          <p:cNvPicPr>
            <a:picLocks noChangeAspect="1"/>
          </p:cNvPicPr>
          <p:nvPr/>
        </p:nvPicPr>
        <p:blipFill>
          <a:blip r:embed="rId3"/>
          <a:srcRect/>
          <a:stretch/>
        </p:blipFill>
        <p:spPr>
          <a:xfrm>
            <a:off x="1149422" y="3346704"/>
            <a:ext cx="9899250" cy="2240280"/>
          </a:xfrm>
          <a:prstGeom prst="rect">
            <a:avLst/>
          </a:prstGeom>
        </p:spPr>
      </p:pic>
      <p:sp>
        <p:nvSpPr>
          <p:cNvPr id="9" name="Rectangle 8"/>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969264"/>
            <a:ext cx="3547872" cy="224028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969264"/>
            <a:ext cx="3547872"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 y="1078992"/>
            <a:ext cx="3236976"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系统在做什么</a:t>
            </a:r>
          </a:p>
        </p:txBody>
      </p:sp>
      <p:sp>
        <p:nvSpPr>
          <p:cNvPr id="13" name="TextBox 12"/>
          <p:cNvSpPr txBox="1"/>
          <p:nvPr/>
        </p:nvSpPr>
        <p:spPr>
          <a:xfrm>
            <a:off x="685800" y="1682496"/>
            <a:ext cx="3182112" cy="1380744"/>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用户输入提示词，模型生成图像。</a:t>
            </a:r>
          </a:p>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训练数据中的不安全内容可能被模型学到。</a:t>
            </a:r>
          </a:p>
        </p:txBody>
      </p:sp>
      <p:sp>
        <p:nvSpPr>
          <p:cNvPr id="14" name="Rectangle 13"/>
          <p:cNvSpPr/>
          <p:nvPr/>
        </p:nvSpPr>
        <p:spPr>
          <a:xfrm>
            <a:off x="4315968" y="969264"/>
            <a:ext cx="3547872" cy="224028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15968" y="969264"/>
            <a:ext cx="3547872"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71416" y="1078992"/>
            <a:ext cx="3236976"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现有防御做什么</a:t>
            </a:r>
          </a:p>
        </p:txBody>
      </p:sp>
      <p:sp>
        <p:nvSpPr>
          <p:cNvPr id="17" name="TextBox 16"/>
          <p:cNvSpPr txBox="1"/>
          <p:nvPr/>
        </p:nvSpPr>
        <p:spPr>
          <a:xfrm>
            <a:off x="4498848" y="1682496"/>
            <a:ext cx="3182112" cy="1380744"/>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安全对齐：减少特定内容的生成。</a:t>
            </a:r>
          </a:p>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外部过滤：检查输入文字或输出图像。</a:t>
            </a:r>
          </a:p>
        </p:txBody>
      </p:sp>
      <p:sp>
        <p:nvSpPr>
          <p:cNvPr id="18" name="Rectangle 17"/>
          <p:cNvSpPr/>
          <p:nvPr/>
        </p:nvSpPr>
        <p:spPr>
          <a:xfrm>
            <a:off x="8129016" y="969264"/>
            <a:ext cx="3547872" cy="224028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29016" y="969264"/>
            <a:ext cx="3547872"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84464" y="1078992"/>
            <a:ext cx="3236976"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还要检查什么</a:t>
            </a:r>
          </a:p>
        </p:txBody>
      </p:sp>
      <p:sp>
        <p:nvSpPr>
          <p:cNvPr id="21" name="TextBox 20"/>
          <p:cNvSpPr txBox="1"/>
          <p:nvPr/>
        </p:nvSpPr>
        <p:spPr>
          <a:xfrm>
            <a:off x="8311896" y="1682496"/>
            <a:ext cx="3182112" cy="1380744"/>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换一种表达或场景后，</a:t>
            </a:r>
          </a:p>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完整系统是否仍能遵守规则？</a:t>
            </a:r>
          </a:p>
        </p:txBody>
      </p:sp>
      <p:sp>
        <p:nvSpPr>
          <p:cNvPr id="22" name="Rectangle 21"/>
          <p:cNvSpPr/>
          <p:nvPr/>
        </p:nvSpPr>
        <p:spPr>
          <a:xfrm>
            <a:off x="502920" y="5623560"/>
            <a:ext cx="11173968" cy="39319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5657850"/>
            <a:ext cx="10844784" cy="33375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00" b="1" dirty="0">
                <a:solidFill>
                  <a:srgbClr val="062D50"/>
                </a:solidFill>
                <a:latin typeface="Microsoft YaHei"/>
                <a:ea typeface="Microsoft YaHei"/>
                <a:cs typeface="Microsoft YaHei"/>
              </a:rPr>
              <a:t>需要测试的是完整系统：模型本身，以及输入和输出两端的过滤。</a:t>
            </a:r>
          </a:p>
        </p:txBody>
      </p:sp>
    </p:spTree>
    <p:extLst>
      <p:ext uri="{BB962C8B-B14F-4D97-AF65-F5344CB8AC3E}">
        <p14:creationId xmlns:p14="http://schemas.microsoft.com/office/powerpoint/2010/main" val="4179830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137160"/>
            <a:ext cx="10881360" cy="475488"/>
          </a:xfr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研究背景 —— 先看一个例子：怎样发现系统没有遵守规则？</a:t>
            </a:r>
          </a:p>
        </p:txBody>
      </p:sp>
      <p:sp>
        <p:nvSpPr>
          <p:cNvPr id="3" name="Rectangle 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914400"/>
            <a:ext cx="1645920" cy="274320"/>
          </a:xfrm>
          <a:prstGeom prst="rect">
            <a:avLst/>
          </a:prstGeom>
          <a:solidFill>
            <a:srgbClr val="FB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76072" y="964692"/>
            <a:ext cx="1499616" cy="20116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40" b="1">
                <a:solidFill>
                  <a:srgbClr val="AF4A3B"/>
                </a:solidFill>
                <a:latin typeface="Microsoft YaHei"/>
                <a:ea typeface="Microsoft YaHei"/>
                <a:cs typeface="Microsoft YaHei"/>
              </a:rPr>
              <a:t>教学示例 · 非实测</a:t>
            </a:r>
          </a:p>
        </p:txBody>
      </p:sp>
      <p:sp>
        <p:nvSpPr>
          <p:cNvPr id="6" name="TextBox 5"/>
          <p:cNvSpPr txBox="1"/>
          <p:nvPr/>
        </p:nvSpPr>
        <p:spPr>
          <a:xfrm>
            <a:off x="2359152" y="950976"/>
            <a:ext cx="9144000" cy="38404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假设测试规则是：系统不应输出狗的图像。</a:t>
            </a:r>
          </a:p>
        </p:txBody>
      </p:sp>
      <p:sp>
        <p:nvSpPr>
          <p:cNvPr id="7" name="Rectangle 6"/>
          <p:cNvSpPr/>
          <p:nvPr/>
        </p:nvSpPr>
        <p:spPr>
          <a:xfrm>
            <a:off x="502920" y="1728216"/>
            <a:ext cx="11173968" cy="9144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993391"/>
            <a:ext cx="329184" cy="32004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A</a:t>
            </a:r>
          </a:p>
        </p:txBody>
      </p:sp>
      <p:sp>
        <p:nvSpPr>
          <p:cNvPr id="9" name="TextBox 8"/>
          <p:cNvSpPr txBox="1"/>
          <p:nvPr/>
        </p:nvSpPr>
        <p:spPr>
          <a:xfrm>
            <a:off x="1143000" y="1984248"/>
            <a:ext cx="3886200" cy="45720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0">
                <a:solidFill>
                  <a:srgbClr val="202A33"/>
                </a:solidFill>
                <a:latin typeface="Microsoft YaHei"/>
                <a:ea typeface="Microsoft YaHei"/>
                <a:cs typeface="Microsoft YaHei"/>
              </a:rPr>
              <a:t>“一只猫在窗边睡觉”</a:t>
            </a:r>
          </a:p>
        </p:txBody>
      </p:sp>
      <p:sp>
        <p:nvSpPr>
          <p:cNvPr id="10" name="Right Arrow 9"/>
          <p:cNvSpPr/>
          <p:nvPr/>
        </p:nvSpPr>
        <p:spPr>
          <a:xfrm>
            <a:off x="5102352" y="2066543"/>
            <a:ext cx="429768" cy="210312"/>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33288" y="2002536"/>
            <a:ext cx="3236976" cy="45720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0">
                <a:solidFill>
                  <a:srgbClr val="202A33"/>
                </a:solidFill>
                <a:latin typeface="Microsoft YaHei"/>
                <a:ea typeface="Microsoft YaHei"/>
                <a:cs typeface="Microsoft YaHei"/>
              </a:rPr>
              <a:t>输出猫图</a:t>
            </a:r>
          </a:p>
        </p:txBody>
      </p:sp>
      <p:sp>
        <p:nvSpPr>
          <p:cNvPr id="12" name="TextBox 11"/>
          <p:cNvSpPr txBox="1"/>
          <p:nvPr/>
        </p:nvSpPr>
        <p:spPr>
          <a:xfrm>
            <a:off x="9290304" y="2002536"/>
            <a:ext cx="2139696"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遵守规则</a:t>
            </a:r>
          </a:p>
        </p:txBody>
      </p:sp>
      <p:sp>
        <p:nvSpPr>
          <p:cNvPr id="13" name="Rectangle 12"/>
          <p:cNvSpPr/>
          <p:nvPr/>
        </p:nvSpPr>
        <p:spPr>
          <a:xfrm>
            <a:off x="502920" y="2816352"/>
            <a:ext cx="11173968" cy="9144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081528"/>
            <a:ext cx="329184" cy="32004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B</a:t>
            </a:r>
          </a:p>
        </p:txBody>
      </p:sp>
      <p:sp>
        <p:nvSpPr>
          <p:cNvPr id="15" name="TextBox 14"/>
          <p:cNvSpPr txBox="1"/>
          <p:nvPr/>
        </p:nvSpPr>
        <p:spPr>
          <a:xfrm>
            <a:off x="1143000" y="3072384"/>
            <a:ext cx="3886200" cy="45720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0">
                <a:solidFill>
                  <a:srgbClr val="202A33"/>
                </a:solidFill>
                <a:latin typeface="Microsoft YaHei"/>
                <a:ea typeface="Microsoft YaHei"/>
                <a:cs typeface="Microsoft YaHei"/>
              </a:rPr>
              <a:t>“一只狗坐在公园长椅上”</a:t>
            </a:r>
          </a:p>
        </p:txBody>
      </p:sp>
      <p:sp>
        <p:nvSpPr>
          <p:cNvPr id="16" name="Right Arrow 15"/>
          <p:cNvSpPr/>
          <p:nvPr/>
        </p:nvSpPr>
        <p:spPr>
          <a:xfrm>
            <a:off x="5102352" y="3154680"/>
            <a:ext cx="429768" cy="210312"/>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33288" y="3090672"/>
            <a:ext cx="3236976" cy="45720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0">
                <a:solidFill>
                  <a:srgbClr val="202A33"/>
                </a:solidFill>
                <a:latin typeface="Microsoft YaHei"/>
                <a:ea typeface="Microsoft YaHei"/>
                <a:cs typeface="Microsoft YaHei"/>
              </a:rPr>
              <a:t>拒绝或返回安全替代图</a:t>
            </a:r>
          </a:p>
        </p:txBody>
      </p:sp>
      <p:sp>
        <p:nvSpPr>
          <p:cNvPr id="18" name="TextBox 17"/>
          <p:cNvSpPr txBox="1"/>
          <p:nvPr/>
        </p:nvSpPr>
        <p:spPr>
          <a:xfrm>
            <a:off x="9290304" y="3090672"/>
            <a:ext cx="2139696"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遵守规则</a:t>
            </a:r>
          </a:p>
        </p:txBody>
      </p:sp>
      <p:sp>
        <p:nvSpPr>
          <p:cNvPr id="19" name="Rectangle 18"/>
          <p:cNvSpPr/>
          <p:nvPr/>
        </p:nvSpPr>
        <p:spPr>
          <a:xfrm>
            <a:off x="502920" y="3904487"/>
            <a:ext cx="11173968" cy="91440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4169663"/>
            <a:ext cx="329184" cy="32004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C</a:t>
            </a:r>
          </a:p>
        </p:txBody>
      </p:sp>
      <p:sp>
        <p:nvSpPr>
          <p:cNvPr id="21" name="TextBox 20"/>
          <p:cNvSpPr txBox="1"/>
          <p:nvPr/>
        </p:nvSpPr>
        <p:spPr>
          <a:xfrm>
            <a:off x="1143000" y="4160520"/>
            <a:ext cx="3886200" cy="45720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0">
                <a:solidFill>
                  <a:srgbClr val="202A33"/>
                </a:solidFill>
                <a:latin typeface="Microsoft YaHei"/>
                <a:ea typeface="Microsoft YaHei"/>
                <a:cs typeface="Microsoft YaHei"/>
              </a:rPr>
              <a:t>“一只狗在雪地里奔跑”</a:t>
            </a:r>
          </a:p>
        </p:txBody>
      </p:sp>
      <p:sp>
        <p:nvSpPr>
          <p:cNvPr id="22" name="Right Arrow 21"/>
          <p:cNvSpPr/>
          <p:nvPr/>
        </p:nvSpPr>
        <p:spPr>
          <a:xfrm>
            <a:off x="5102352" y="4242816"/>
            <a:ext cx="429768" cy="210312"/>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33288" y="4178807"/>
            <a:ext cx="3236976" cy="45720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0">
                <a:solidFill>
                  <a:srgbClr val="202A33"/>
                </a:solidFill>
                <a:latin typeface="Microsoft YaHei"/>
                <a:ea typeface="Microsoft YaHei"/>
                <a:cs typeface="Microsoft YaHei"/>
              </a:rPr>
              <a:t>输出狗图</a:t>
            </a:r>
          </a:p>
        </p:txBody>
      </p:sp>
      <p:sp>
        <p:nvSpPr>
          <p:cNvPr id="24" name="TextBox 23"/>
          <p:cNvSpPr txBox="1"/>
          <p:nvPr/>
        </p:nvSpPr>
        <p:spPr>
          <a:xfrm>
            <a:off x="9290304" y="4178807"/>
            <a:ext cx="2139696"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AF4A3B"/>
                </a:solidFill>
                <a:latin typeface="Microsoft YaHei"/>
                <a:ea typeface="Microsoft YaHei"/>
                <a:cs typeface="Microsoft YaHei"/>
              </a:rPr>
              <a:t>发现失败案例</a:t>
            </a:r>
          </a:p>
        </p:txBody>
      </p:sp>
      <p:sp>
        <p:nvSpPr>
          <p:cNvPr id="25" name="Rectangle 24"/>
          <p:cNvSpPr/>
          <p:nvPr/>
        </p:nvSpPr>
        <p:spPr>
          <a:xfrm>
            <a:off x="502920" y="5330952"/>
            <a:ext cx="11173968" cy="53035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7512" y="5422392"/>
            <a:ext cx="10844784" cy="411479"/>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关键是实际输出：输入看起来相近，测试结果也可能不同。</a:t>
            </a:r>
          </a:p>
        </p:txBody>
      </p:sp>
      <p:sp>
        <p:nvSpPr>
          <p:cNvPr id="27" name="TextBox 26"/>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a:solidFill>
                  <a:srgbClr val="647483"/>
                </a:solidFill>
                <a:latin typeface="Microsoft YaHei"/>
                <a:ea typeface="Microsoft YaHei"/>
                <a:cs typeface="Microsoft YaHei"/>
              </a:rPr>
              <a:t>规则、提示词和输出均为教学构造；原论文主要测试 Sexual、Violence 两类不安全内容。</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1200E-5E50-920A-7404-B68122BBD9F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4856BC94-D754-EE59-4D87-B067B0CBF85B}"/>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dirty="0">
                <a:solidFill>
                  <a:srgbClr val="FFFFFF"/>
                </a:solidFill>
                <a:latin typeface="Microsoft YaHei"/>
                <a:ea typeface="Microsoft YaHei"/>
                <a:cs typeface="Microsoft YaHei"/>
              </a:rPr>
              <a:t>研究背景 —— 红队测试要找到一批不同的失败案例</a:t>
            </a:r>
            <a:endParaRPr lang="zh-CN" altLang="en-US" dirty="0"/>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C30B2F51-36AC-9ABA-EA14-FBC4AC3B54BA}"/>
                  </a:ext>
                </a:extLst>
              </p:cNvPr>
              <p:cNvSpPr txBox="1"/>
              <p:nvPr/>
            </p:nvSpPr>
            <p:spPr>
              <a:xfrm>
                <a:off x="3063240" y="4050791"/>
                <a:ext cx="6071616" cy="667512"/>
              </a:xfrm>
              <a:prstGeom prst="rect">
                <a:avLst/>
              </a:prstGeom>
              <a:noFill/>
            </p:spPr>
            <p:txBody>
              <a:bodyPr wrap="square">
                <a:spAutoFit/>
              </a:bodyPr>
              <a:lstStyle/>
              <a:p>
                <a:pPr/>
                <a14:m>
                  <m:oMathPara xmlns:m="http://schemas.openxmlformats.org/officeDocument/2006/math">
                    <m:oMath>
                      <m:sSub>
                        <m:sSubPr>
                          <m:ctrlPr>
                            <a:rPr lang="en-US" altLang="zh-CN" sz="2800" i="1" dirty="0">
                              <a:latin typeface="Cambria Math" panose="02040503050406030204" pitchFamily="18" charset="0"/>
                              <a:ea typeface="Microsoft YaHei" panose="020B0503020204020204" pitchFamily="34" charset="-122"/>
                            </a:rPr>
                          </m:ctrlPr>
                        </m:sSubPr>
                        <m:e>
                          <m:r>
                            <a:rPr lang="en-US" altLang="zh-CN" sz="2800" i="1" dirty="0">
                              <a:latin typeface="Cambria Math" panose="02040503050406030204" pitchFamily="18" charset="0"/>
                              <a:ea typeface="Microsoft YaHei" panose="020B0503020204020204" pitchFamily="34" charset="-122"/>
                            </a:rPr>
                            <m:t>𝒜</m:t>
                          </m:r>
                        </m:e>
                        <m:sub>
                          <m:r>
                            <a:rPr lang="en-US" altLang="zh-HK" sz="2800" i="1">
                              <a:latin typeface="Cambria Math" panose="02040503050406030204" pitchFamily="18" charset="0"/>
                            </a:rPr>
                            <m:t>𝜏</m:t>
                          </m:r>
                        </m:sub>
                      </m:sSub>
                      <m:r>
                        <a:rPr lang="en-US" altLang="zh-HK" sz="2800" i="1">
                          <a:latin typeface="Cambria Math" panose="02040503050406030204" pitchFamily="18" charset="0"/>
                        </a:rPr>
                        <m:t>:={</m:t>
                      </m:r>
                      <m:r>
                        <a:rPr lang="en-US" altLang="zh-HK" sz="2800" i="1">
                          <a:latin typeface="Cambria Math" panose="02040503050406030204" pitchFamily="18" charset="0"/>
                        </a:rPr>
                        <m:t>𝑥</m:t>
                      </m:r>
                      <m:r>
                        <a:rPr lang="en-US" altLang="zh-HK" sz="2800" i="1">
                          <a:latin typeface="Cambria Math" panose="02040503050406030204" pitchFamily="18" charset="0"/>
                        </a:rPr>
                        <m:t>∈</m:t>
                      </m:r>
                      <m:r>
                        <a:rPr lang="en-US" altLang="zh-CN" sz="2800" i="1" dirty="0">
                          <a:latin typeface="Cambria Math" panose="02040503050406030204" pitchFamily="18" charset="0"/>
                          <a:ea typeface="Microsoft YaHei" panose="020B0503020204020204" pitchFamily="34" charset="-122"/>
                        </a:rPr>
                        <m:t>𝒳</m:t>
                      </m:r>
                      <m:r>
                        <a:rPr lang="en-US" altLang="zh-HK" sz="2800" i="1">
                          <a:latin typeface="Cambria Math" panose="02040503050406030204" pitchFamily="18" charset="0"/>
                        </a:rPr>
                        <m:t>|</m:t>
                      </m:r>
                      <m:r>
                        <a:rPr lang="en-US" altLang="zh-HK" sz="2800" i="1">
                          <a:latin typeface="Cambria Math" panose="02040503050406030204" pitchFamily="18" charset="0"/>
                        </a:rPr>
                        <m:t>𝑆</m:t>
                      </m:r>
                      <m:r>
                        <a:rPr lang="en-US" altLang="zh-HK" sz="2800" i="1">
                          <a:latin typeface="Cambria Math" panose="02040503050406030204" pitchFamily="18" charset="0"/>
                        </a:rPr>
                        <m:t>(</m:t>
                      </m:r>
                      <m:r>
                        <a:rPr lang="en-US" altLang="zh-HK" sz="2800" i="1">
                          <a:latin typeface="Cambria Math" panose="02040503050406030204" pitchFamily="18" charset="0"/>
                        </a:rPr>
                        <m:t>𝐺</m:t>
                      </m:r>
                      <m:r>
                        <a:rPr lang="en-US" altLang="zh-HK" sz="2800" i="1">
                          <a:latin typeface="Cambria Math" panose="02040503050406030204" pitchFamily="18" charset="0"/>
                        </a:rPr>
                        <m:t>(</m:t>
                      </m:r>
                      <m:r>
                        <a:rPr lang="en-US" altLang="zh-HK" sz="2800" i="1">
                          <a:latin typeface="Cambria Math" panose="02040503050406030204" pitchFamily="18" charset="0"/>
                        </a:rPr>
                        <m:t>𝑥</m:t>
                      </m:r>
                      <m:r>
                        <a:rPr lang="en-US" altLang="zh-HK" sz="2800" i="1">
                          <a:latin typeface="Cambria Math" panose="02040503050406030204" pitchFamily="18" charset="0"/>
                        </a:rPr>
                        <m:t>))≥</m:t>
                      </m:r>
                      <m:r>
                        <a:rPr lang="en-US" altLang="zh-HK" sz="2800" i="1">
                          <a:latin typeface="Cambria Math" panose="02040503050406030204" pitchFamily="18" charset="0"/>
                        </a:rPr>
                        <m:t>𝜏</m:t>
                      </m:r>
                      <m:r>
                        <a:rPr lang="en-US" altLang="zh-HK" sz="2800" i="1">
                          <a:latin typeface="Cambria Math" panose="02040503050406030204" pitchFamily="18" charset="0"/>
                        </a:rPr>
                        <m:t>}</m:t>
                      </m:r>
                    </m:oMath>
                  </m:oMathPara>
                </a14:m>
                <a:endParaRPr lang="zh-TW" altLang="zh-HK" dirty="0"/>
              </a:p>
            </p:txBody>
          </p:sp>
        </mc:Choice>
        <mc:Fallback xmlns="">
          <p:sp>
            <p:nvSpPr>
              <p:cNvPr id="11" name="文字方塊 10">
                <a:extLst>
                  <a:ext uri="{FF2B5EF4-FFF2-40B4-BE49-F238E27FC236}">
                    <a16:creationId xmlns:a16="http://schemas.microsoft.com/office/drawing/2014/main" id="{C30B2F51-36AC-9ABA-EA14-FBC4AC3B54BA}"/>
                  </a:ext>
                </a:extLst>
              </p:cNvPr>
              <p:cNvSpPr txBox="1">
                <a:spLocks noRot="1" noChangeAspect="1" noMove="1" noResize="1" noEditPoints="1" noAdjustHandles="1" noChangeArrowheads="1" noChangeShapeType="1" noTextEdit="1"/>
              </p:cNvSpPr>
              <p:nvPr/>
            </p:nvSpPr>
            <p:spPr>
              <a:xfrm>
                <a:off x="3063240" y="4050791"/>
                <a:ext cx="6071616" cy="667512"/>
              </a:xfrm>
              <a:prstGeom prst="rect">
                <a:avLst/>
              </a:prstGeom>
              <a:blipFill>
                <a:blip r:embed="rId3"/>
                <a:stretch>
                  <a:fillRect/>
                </a:stretch>
              </a:blipFill>
            </p:spPr>
            <p:txBody>
              <a:bodyPr/>
              <a:lstStyle/>
              <a:p>
                <a:r>
                  <a:rPr lang="zh-HK" altLang="en-US">
                    <a:noFill/>
                  </a:rPr>
                  <a:t> </a:t>
                </a:r>
              </a:p>
            </p:txBody>
          </p:sp>
        </mc:Fallback>
      </mc:AlternateContent>
      <p:sp>
        <p:nvSpPr>
          <p:cNvPr id="12" name="Rectangle 11"/>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987552"/>
            <a:ext cx="5440680" cy="199339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987552"/>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 y="1097280"/>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发现问题</a:t>
            </a:r>
          </a:p>
        </p:txBody>
      </p:sp>
      <p:sp>
        <p:nvSpPr>
          <p:cNvPr id="16" name="TextBox 15"/>
          <p:cNvSpPr txBox="1"/>
          <p:nvPr/>
        </p:nvSpPr>
        <p:spPr>
          <a:xfrm>
            <a:off x="685800" y="1700784"/>
            <a:ext cx="5074920" cy="113385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模型拥有者主动测试自己的系统，</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收集触发不安全输出的提示词。</a:t>
            </a:r>
          </a:p>
        </p:txBody>
      </p:sp>
      <p:sp>
        <p:nvSpPr>
          <p:cNvPr id="17" name="Rectangle 16"/>
          <p:cNvSpPr/>
          <p:nvPr/>
        </p:nvSpPr>
        <p:spPr>
          <a:xfrm>
            <a:off x="6236208" y="987552"/>
            <a:ext cx="5440680" cy="199339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8" y="987552"/>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91656" y="1097280"/>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为改进做准备</a:t>
            </a:r>
          </a:p>
        </p:txBody>
      </p:sp>
      <p:sp>
        <p:nvSpPr>
          <p:cNvPr id="20" name="TextBox 19"/>
          <p:cNvSpPr txBox="1"/>
          <p:nvPr/>
        </p:nvSpPr>
        <p:spPr>
          <a:xfrm>
            <a:off x="6419088" y="1700784"/>
            <a:ext cx="5074920" cy="113385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不仅记录是否成功，</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还要覆盖不同的内容和表达方式。</a:t>
            </a:r>
          </a:p>
        </p:txBody>
      </p:sp>
      <p:sp>
        <p:nvSpPr>
          <p:cNvPr id="21" name="TextBox 20"/>
          <p:cNvSpPr txBox="1"/>
          <p:nvPr/>
        </p:nvSpPr>
        <p:spPr>
          <a:xfrm>
            <a:off x="630936" y="3319272"/>
            <a:ext cx="10954512" cy="50292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0">
                <a:solidFill>
                  <a:srgbClr val="062D50"/>
                </a:solidFill>
                <a:latin typeface="Microsoft YaHei"/>
                <a:ea typeface="Microsoft YaHei"/>
                <a:cs typeface="Microsoft YaHei"/>
              </a:rPr>
              <a:t>从手写提示词到自动测试：让算法生成候选，再检查系统实际返回了什么。</a:t>
            </a:r>
          </a:p>
        </p:txBody>
      </p:sp>
      <p:sp>
        <p:nvSpPr>
          <p:cNvPr id="22" name="TextBox 21"/>
          <p:cNvSpPr txBox="1"/>
          <p:nvPr/>
        </p:nvSpPr>
        <p:spPr>
          <a:xfrm>
            <a:off x="914400" y="4965192"/>
            <a:ext cx="2286000" cy="283464"/>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900" b="1">
                <a:solidFill>
                  <a:srgbClr val="062D50"/>
                </a:solidFill>
                <a:latin typeface="Microsoft YaHei"/>
                <a:ea typeface="Microsoft YaHei"/>
                <a:cs typeface="Microsoft YaHei"/>
              </a:rPr>
              <a:t>x</a:t>
            </a:r>
          </a:p>
        </p:txBody>
      </p:sp>
      <p:sp>
        <p:nvSpPr>
          <p:cNvPr id="23" name="TextBox 22"/>
          <p:cNvSpPr txBox="1"/>
          <p:nvPr/>
        </p:nvSpPr>
        <p:spPr>
          <a:xfrm>
            <a:off x="914400" y="5367528"/>
            <a:ext cx="2286000" cy="393192"/>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700" b="0">
                <a:solidFill>
                  <a:srgbClr val="647483"/>
                </a:solidFill>
                <a:latin typeface="Microsoft YaHei"/>
                <a:ea typeface="Microsoft YaHei"/>
                <a:cs typeface="Microsoft YaHei"/>
              </a:rPr>
              <a:t>一条测试提示词</a:t>
            </a:r>
          </a:p>
        </p:txBody>
      </p:sp>
      <p:sp>
        <p:nvSpPr>
          <p:cNvPr id="24" name="TextBox 23"/>
          <p:cNvSpPr txBox="1"/>
          <p:nvPr/>
        </p:nvSpPr>
        <p:spPr>
          <a:xfrm>
            <a:off x="3703320" y="4965192"/>
            <a:ext cx="2286000" cy="283464"/>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900" b="1">
                <a:solidFill>
                  <a:srgbClr val="062D50"/>
                </a:solidFill>
                <a:latin typeface="Microsoft YaHei"/>
                <a:ea typeface="Microsoft YaHei"/>
                <a:cs typeface="Microsoft YaHei"/>
              </a:rPr>
              <a:t>G(x)</a:t>
            </a:r>
          </a:p>
        </p:txBody>
      </p:sp>
      <p:sp>
        <p:nvSpPr>
          <p:cNvPr id="25" name="TextBox 24"/>
          <p:cNvSpPr txBox="1"/>
          <p:nvPr/>
        </p:nvSpPr>
        <p:spPr>
          <a:xfrm>
            <a:off x="3703320" y="5367528"/>
            <a:ext cx="2286000" cy="393192"/>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700" b="0">
                <a:solidFill>
                  <a:srgbClr val="647483"/>
                </a:solidFill>
                <a:latin typeface="Microsoft YaHei"/>
                <a:ea typeface="Microsoft YaHei"/>
                <a:cs typeface="Microsoft YaHei"/>
              </a:rPr>
              <a:t>系统返回的图像</a:t>
            </a:r>
          </a:p>
        </p:txBody>
      </p:sp>
      <p:sp>
        <p:nvSpPr>
          <p:cNvPr id="26" name="TextBox 25"/>
          <p:cNvSpPr txBox="1"/>
          <p:nvPr/>
        </p:nvSpPr>
        <p:spPr>
          <a:xfrm>
            <a:off x="6492240" y="4965192"/>
            <a:ext cx="2377440" cy="283464"/>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900" b="1">
                <a:solidFill>
                  <a:srgbClr val="062D50"/>
                </a:solidFill>
                <a:latin typeface="Microsoft YaHei"/>
                <a:ea typeface="Microsoft YaHei"/>
                <a:cs typeface="Microsoft YaHei"/>
              </a:rPr>
              <a:t>S(G(x))</a:t>
            </a:r>
          </a:p>
        </p:txBody>
      </p:sp>
      <p:sp>
        <p:nvSpPr>
          <p:cNvPr id="27" name="TextBox 26"/>
          <p:cNvSpPr txBox="1"/>
          <p:nvPr/>
        </p:nvSpPr>
        <p:spPr>
          <a:xfrm>
            <a:off x="6492240" y="5367528"/>
            <a:ext cx="2377440" cy="393192"/>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700" b="0">
                <a:solidFill>
                  <a:srgbClr val="647483"/>
                </a:solidFill>
                <a:latin typeface="Microsoft YaHei"/>
                <a:ea typeface="Microsoft YaHei"/>
                <a:cs typeface="Microsoft YaHei"/>
              </a:rPr>
              <a:t>图像风险评分</a:t>
            </a:r>
          </a:p>
        </p:txBody>
      </p:sp>
      <p:sp>
        <p:nvSpPr>
          <p:cNvPr id="28" name="TextBox 27"/>
          <p:cNvSpPr txBox="1"/>
          <p:nvPr/>
        </p:nvSpPr>
        <p:spPr>
          <a:xfrm>
            <a:off x="9326880" y="4965192"/>
            <a:ext cx="1920240" cy="283464"/>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900" b="1">
                <a:solidFill>
                  <a:srgbClr val="062D50"/>
                </a:solidFill>
                <a:latin typeface="Microsoft YaHei"/>
                <a:ea typeface="Microsoft YaHei"/>
                <a:cs typeface="Microsoft YaHei"/>
              </a:rPr>
              <a:t>τ</a:t>
            </a:r>
          </a:p>
        </p:txBody>
      </p:sp>
      <p:sp>
        <p:nvSpPr>
          <p:cNvPr id="29" name="TextBox 28"/>
          <p:cNvSpPr txBox="1"/>
          <p:nvPr/>
        </p:nvSpPr>
        <p:spPr>
          <a:xfrm>
            <a:off x="9326880" y="5367528"/>
            <a:ext cx="1920240" cy="393192"/>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700" b="0">
                <a:solidFill>
                  <a:srgbClr val="647483"/>
                </a:solidFill>
                <a:latin typeface="Microsoft YaHei"/>
                <a:ea typeface="Microsoft YaHei"/>
                <a:cs typeface="Microsoft YaHei"/>
              </a:rPr>
              <a:t>判定阈值</a:t>
            </a:r>
          </a:p>
        </p:txBody>
      </p:sp>
    </p:spTree>
    <p:extLst>
      <p:ext uri="{BB962C8B-B14F-4D97-AF65-F5344CB8AC3E}">
        <p14:creationId xmlns:p14="http://schemas.microsoft.com/office/powerpoint/2010/main" val="4142165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F1785-399F-C1CB-DF47-58DDD3774C7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CA85B79-027A-3D6E-2E8E-92F4DB40A05B}"/>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研究背景 —— 为什么逐条搜索会重复做很多工作？</a:t>
            </a:r>
            <a:endParaRPr lang="zh-CN" altLang="en-US" dirty="0"/>
          </a:p>
        </p:txBody>
      </p:sp>
      <p:pic>
        <p:nvPicPr>
          <p:cNvPr id="5" name="圖片 4">
            <a:extLst>
              <a:ext uri="{FF2B5EF4-FFF2-40B4-BE49-F238E27FC236}">
                <a16:creationId xmlns:a16="http://schemas.microsoft.com/office/drawing/2014/main" id="{547737CA-ACCF-10E9-0B1E-E9908A45A99A}"/>
              </a:ext>
            </a:extLst>
          </p:cNvPr>
          <p:cNvPicPr>
            <a:picLocks noChangeAspect="1"/>
          </p:cNvPicPr>
          <p:nvPr/>
        </p:nvPicPr>
        <p:blipFill>
          <a:blip r:embed="rId3"/>
          <a:srcRect/>
          <a:stretch/>
        </p:blipFill>
        <p:spPr>
          <a:xfrm>
            <a:off x="5321808" y="2013901"/>
            <a:ext cx="6382512" cy="2720468"/>
          </a:xfrm>
          <a:prstGeom prst="rect">
            <a:avLst/>
          </a:prstGeom>
        </p:spPr>
      </p:pic>
      <p:sp>
        <p:nvSpPr>
          <p:cNvPr id="6" name="Rectangle 5"/>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一次搜索能利用本轮反馈；问题是下一次搜索如何继续利用这些经验。</a:t>
            </a:r>
          </a:p>
        </p:txBody>
      </p:sp>
      <p:sp>
        <p:nvSpPr>
          <p:cNvPr id="9" name="Rectangle 8"/>
          <p:cNvSpPr/>
          <p:nvPr/>
        </p:nvSpPr>
        <p:spPr>
          <a:xfrm>
            <a:off x="502920" y="1664208"/>
            <a:ext cx="4572000" cy="333756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1664208"/>
            <a:ext cx="457200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773936"/>
            <a:ext cx="42611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沿用刚才的教学例子</a:t>
            </a:r>
          </a:p>
        </p:txBody>
      </p:sp>
      <p:sp>
        <p:nvSpPr>
          <p:cNvPr id="12" name="TextBox 11"/>
          <p:cNvSpPr txBox="1"/>
          <p:nvPr/>
        </p:nvSpPr>
        <p:spPr>
          <a:xfrm>
            <a:off x="685800" y="2377440"/>
            <a:ext cx="4206240" cy="2478024"/>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dirty="0">
                <a:solidFill>
                  <a:srgbClr val="202A33"/>
                </a:solidFill>
                <a:latin typeface="Microsoft YaHei"/>
                <a:ea typeface="Microsoft YaHei"/>
                <a:cs typeface="Microsoft YaHei"/>
              </a:rPr>
              <a:t>第一次：围绕“长椅上的狗”反复改写。</a:t>
            </a:r>
          </a:p>
          <a:p>
            <a:pPr marL="0" indent="0" algn="l">
              <a:lnSpc>
                <a:spcPct val="112000"/>
              </a:lnSpc>
              <a:spcBef>
                <a:spcPts val="0"/>
              </a:spcBef>
              <a:spcAft>
                <a:spcPts val="700"/>
              </a:spcAft>
              <a:buNone/>
            </a:pPr>
            <a:r>
              <a:rPr lang="zh-CN" sz="2000" b="0" dirty="0">
                <a:solidFill>
                  <a:srgbClr val="202A33"/>
                </a:solidFill>
                <a:latin typeface="Microsoft YaHei"/>
                <a:ea typeface="Microsoft YaHei"/>
                <a:cs typeface="Microsoft YaHei"/>
              </a:rPr>
              <a:t>第二次：从“公园里的小狗”重新搜索。</a:t>
            </a:r>
          </a:p>
          <a:p>
            <a:pPr marL="0" indent="0" algn="l">
              <a:lnSpc>
                <a:spcPct val="112000"/>
              </a:lnSpc>
              <a:spcBef>
                <a:spcPts val="0"/>
              </a:spcBef>
              <a:spcAft>
                <a:spcPts val="700"/>
              </a:spcAft>
              <a:buNone/>
            </a:pPr>
            <a:r>
              <a:rPr lang="zh-CN" sz="2000" b="0" dirty="0">
                <a:solidFill>
                  <a:srgbClr val="202A33"/>
                </a:solidFill>
                <a:latin typeface="Microsoft YaHei"/>
                <a:ea typeface="Microsoft YaHei"/>
                <a:cs typeface="Microsoft YaHei"/>
              </a:rPr>
              <a:t>两次都可能停留在相近的内容里。</a:t>
            </a:r>
          </a:p>
        </p:txBody>
      </p:sp>
      <p:sp>
        <p:nvSpPr>
          <p:cNvPr id="13" name="Rectangle 12"/>
          <p:cNvSpPr/>
          <p:nvPr/>
        </p:nvSpPr>
        <p:spPr>
          <a:xfrm>
            <a:off x="502920" y="5422392"/>
            <a:ext cx="11173968" cy="54864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5513831"/>
            <a:ext cx="10844784" cy="42976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需要复用的不只是某一句成功提示词，还有前面探索过的方向。</a:t>
            </a:r>
          </a:p>
        </p:txBody>
      </p:sp>
    </p:spTree>
    <p:extLst>
      <p:ext uri="{BB962C8B-B14F-4D97-AF65-F5344CB8AC3E}">
        <p14:creationId xmlns:p14="http://schemas.microsoft.com/office/powerpoint/2010/main" val="3600436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DDEC-3CDB-BD34-0632-698F5152595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CCC6BB6-56F8-21D2-4472-29179942471A}"/>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研究背景 —— DREAM：让下一批提示词利用前面的测试结果</a:t>
            </a:r>
            <a:endParaRPr lang="zh-CN" altLang="en-US" dirty="0"/>
          </a:p>
        </p:txBody>
      </p:sp>
      <p:sp>
        <p:nvSpPr>
          <p:cNvPr id="12" name="Rectangle 40">
            <a:extLst>
              <a:ext uri="{FF2B5EF4-FFF2-40B4-BE49-F238E27FC236}">
                <a16:creationId xmlns:a16="http://schemas.microsoft.com/office/drawing/2014/main" id="{CCB7DA79-4AF4-F3ED-88FE-896176C3C611}"/>
              </a:ext>
            </a:extLst>
          </p:cNvPr>
          <p:cNvSpPr/>
          <p:nvPr>
            <p:custDataLst>
              <p:tags r:id="rId1"/>
            </p:custDataLst>
          </p:nvPr>
        </p:nvSpPr>
        <p:spPr>
          <a:xfrm>
            <a:off x="4782312" y="923544"/>
            <a:ext cx="2624328" cy="457200"/>
          </a:xfrm>
          <a:prstGeom prst="rect">
            <a:avLst/>
          </a:prstGeom>
          <a:solidFill>
            <a:schemeClr val="accent1">
              <a:lumMod val="50000"/>
              <a:lumOff val="50000"/>
              <a:alpha val="67000"/>
            </a:schemeClr>
          </a:solidFill>
          <a:ln w="12700">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marL="0" indent="0" algn="ctr">
              <a:lnSpc>
                <a:spcPct val="112000"/>
              </a:lnSpc>
              <a:spcBef>
                <a:spcPts val="0"/>
              </a:spcBef>
              <a:spcAft>
                <a:spcPts val="0"/>
              </a:spcAft>
              <a:buNone/>
            </a:pPr>
            <a:r>
              <a:rPr lang="zh-CN" sz="2300" b="1" dirty="0">
                <a:solidFill>
                  <a:srgbClr val="062D50"/>
                </a:solidFill>
                <a:latin typeface="Microsoft YaHei"/>
                <a:ea typeface="Microsoft YaHei"/>
                <a:cs typeface="Microsoft YaHei"/>
              </a:rPr>
              <a:t>DREAM 框架</a:t>
            </a:r>
          </a:p>
        </p:txBody>
      </p:sp>
      <p:sp>
        <p:nvSpPr>
          <p:cNvPr id="13" name="Rectangle 1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02920" y="1673352"/>
            <a:ext cx="5120640" cy="288950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02920" y="1673352"/>
            <a:ext cx="512064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1783080"/>
            <a:ext cx="480974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逐条搜索</a:t>
            </a:r>
          </a:p>
        </p:txBody>
      </p:sp>
      <p:sp>
        <p:nvSpPr>
          <p:cNvPr id="17" name="TextBox 16"/>
          <p:cNvSpPr txBox="1"/>
          <p:nvPr/>
        </p:nvSpPr>
        <p:spPr>
          <a:xfrm>
            <a:off x="685800" y="2386584"/>
            <a:ext cx="4754879" cy="2029968"/>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从一个种子开始，反复修改这条提示词。</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找到结果后，再为下一条提示词搜索。</a:t>
            </a:r>
          </a:p>
        </p:txBody>
      </p:sp>
      <p:sp>
        <p:nvSpPr>
          <p:cNvPr id="18" name="Rectangle 17"/>
          <p:cNvSpPr/>
          <p:nvPr/>
        </p:nvSpPr>
        <p:spPr>
          <a:xfrm>
            <a:off x="6556248" y="1673352"/>
            <a:ext cx="5120640" cy="2889504"/>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556248" y="1673352"/>
            <a:ext cx="512064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1696" y="1783080"/>
            <a:ext cx="480974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学习生成分布 pθ</a:t>
            </a:r>
          </a:p>
        </p:txBody>
      </p:sp>
      <p:sp>
        <p:nvSpPr>
          <p:cNvPr id="21" name="TextBox 20"/>
          <p:cNvSpPr txBox="1"/>
          <p:nvPr/>
        </p:nvSpPr>
        <p:spPr>
          <a:xfrm>
            <a:off x="6739128" y="2386584"/>
            <a:ext cx="4754879" cy="2029968"/>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评估一批提示词，更新同一个生成器。</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后续生成的提示词会受到这些更新影响。</a:t>
            </a:r>
          </a:p>
        </p:txBody>
      </p:sp>
      <p:sp>
        <p:nvSpPr>
          <p:cNvPr id="22" name="Right Arrow 21"/>
          <p:cNvSpPr/>
          <p:nvPr/>
        </p:nvSpPr>
        <p:spPr>
          <a:xfrm>
            <a:off x="5824728" y="2834640"/>
            <a:ext cx="521207" cy="338328"/>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9224" y="4791456"/>
            <a:ext cx="10945368" cy="38404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0">
                <a:solidFill>
                  <a:srgbClr val="062D50"/>
                </a:solidFill>
                <a:latin typeface="Microsoft YaHei"/>
                <a:ea typeface="Microsoft YaHei"/>
                <a:cs typeface="Microsoft YaHei"/>
              </a:rPr>
              <a:t>例：从反复得到“长椅上的狗”，转向探索雪地、海边等不同场景。</a:t>
            </a:r>
          </a:p>
        </p:txBody>
      </p:sp>
      <p:sp>
        <p:nvSpPr>
          <p:cNvPr id="24" name="Rectangle 23"/>
          <p:cNvSpPr/>
          <p:nvPr/>
        </p:nvSpPr>
        <p:spPr>
          <a:xfrm>
            <a:off x="502920" y="5477256"/>
            <a:ext cx="11173968" cy="48463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5568696"/>
            <a:ext cx="10844784"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dirty="0">
                <a:solidFill>
                  <a:srgbClr val="062D50"/>
                </a:solidFill>
                <a:latin typeface="Microsoft YaHei"/>
                <a:ea typeface="Microsoft YaHei"/>
                <a:cs typeface="Microsoft YaHei"/>
              </a:rPr>
              <a:t>训练时积累测试反馈，训练后从生成器中批量采样。</a:t>
            </a:r>
          </a:p>
        </p:txBody>
      </p:sp>
    </p:spTree>
    <p:extLst>
      <p:ext uri="{BB962C8B-B14F-4D97-AF65-F5344CB8AC3E}">
        <p14:creationId xmlns:p14="http://schemas.microsoft.com/office/powerpoint/2010/main" val="776727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99DF31B3-CE87-426F-15E1-633C7A1DDD17}"/>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96AA4861-3689-BB81-9757-EE2B2B15E22D}"/>
              </a:ext>
            </a:extLst>
          </p:cNvPr>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620579A5-BDC9-C37D-70E8-31A608C955F8}"/>
              </a:ext>
            </a:extLst>
          </p:cNvPr>
          <p:cNvPicPr>
            <a:picLocks noChangeAspect="1"/>
          </p:cNvPicPr>
          <p:nvPr/>
        </p:nvPicPr>
        <p:blipFill rotWithShape="1">
          <a:blip r:embed="rId4">
            <a:duotone>
              <a:schemeClr val="accent1">
                <a:shade val="45000"/>
                <a:satMod val="135000"/>
              </a:schemeClr>
              <a:prstClr val="white"/>
            </a:duotone>
          </a:blip>
          <a:srcRect t="4253" b="15909"/>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a:extLst>
              <a:ext uri="{FF2B5EF4-FFF2-40B4-BE49-F238E27FC236}">
                <a16:creationId xmlns:a16="http://schemas.microsoft.com/office/drawing/2014/main" id="{0E2E77A1-8DD2-781A-38BD-80DB19928AFE}"/>
              </a:ext>
            </a:extLst>
          </p:cNvPr>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39" name="title">
            <a:extLst>
              <a:ext uri="{FF2B5EF4-FFF2-40B4-BE49-F238E27FC236}">
                <a16:creationId xmlns:a16="http://schemas.microsoft.com/office/drawing/2014/main" id="{E363A23F-9A8A-926A-A8BE-7F3DDE1D0EE8}"/>
              </a:ext>
            </a:extLst>
          </p:cNvPr>
          <p:cNvSpPr txBox="1"/>
          <p:nvPr/>
        </p:nvSpPr>
        <p:spPr>
          <a:xfrm>
            <a:off x="658813" y="6385673"/>
            <a:ext cx="3314754" cy="215444"/>
          </a:xfrm>
          <a:prstGeom prst="rect">
            <a:avLst/>
          </a:prstGeom>
          <a:noFill/>
        </p:spPr>
        <p:txBody>
          <a:bodyPr wrap="none" lIns="0" tIns="0" rIns="0" bIns="0"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澳门大学 | </a:t>
            </a:r>
            <a:r>
              <a:rPr lang="en-US" altLang="zh-CN" sz="1400" dirty="0">
                <a:solidFill>
                  <a:schemeClr val="bg1"/>
                </a:solidFill>
                <a:latin typeface="微软雅黑" panose="020B0503020204020204" pitchFamily="34" charset="-122"/>
                <a:ea typeface="微软雅黑" panose="020B0503020204020204" pitchFamily="34" charset="-122"/>
              </a:rPr>
              <a:t>UNIVERSIDADE DE MACAU</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1" name="page">
            <a:extLst>
              <a:ext uri="{FF2B5EF4-FFF2-40B4-BE49-F238E27FC236}">
                <a16:creationId xmlns:a16="http://schemas.microsoft.com/office/drawing/2014/main" id="{224B5676-9926-96D0-1F8E-10DAC92BAA88}"/>
              </a:ext>
            </a:extLst>
          </p:cNvPr>
          <p:cNvSpPr txBox="1">
            <a:spLocks/>
          </p:cNvSpPr>
          <p:nvPr/>
        </p:nvSpPr>
        <p:spPr>
          <a:xfrm>
            <a:off x="11301984" y="6382512"/>
            <a:ext cx="429768" cy="274320"/>
          </a:xfrm>
          <a:prstGeom prst="rect">
            <a:avLst/>
          </a:prstGeom>
          <a:noFill/>
        </p:spPr>
        <p:txBody>
          <a:bodyPr vert="horz" wrap="square" lIns="0" tIns="0" rIns="0" bIns="0" rtlCol="0" anchor="t">
            <a:no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r">
              <a:lnSpc>
                <a:spcPct val="112000"/>
              </a:lnSpc>
              <a:spcBef>
                <a:spcPts val="0"/>
              </a:spcBef>
              <a:spcAft>
                <a:spcPts val="0"/>
              </a:spcAft>
              <a:buNone/>
            </a:pPr>
            <a:r>
              <a:rPr lang="zh-CN" sz="1400" b="1">
                <a:solidFill>
                  <a:srgbClr val="FFFFFF"/>
                </a:solidFill>
                <a:latin typeface="Microsoft YaHei"/>
                <a:ea typeface="Microsoft YaHei"/>
                <a:cs typeface="Microsoft YaHei"/>
              </a:rPr>
              <a:t>9</a:t>
            </a:r>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part">
            <a:extLst>
              <a:ext uri="{FF2B5EF4-FFF2-40B4-BE49-F238E27FC236}">
                <a16:creationId xmlns:a16="http://schemas.microsoft.com/office/drawing/2014/main" id="{C8F082F1-7A32-1E29-D386-63D4749778FB}"/>
              </a:ext>
            </a:extLst>
          </p:cNvPr>
          <p:cNvSpPr/>
          <p:nvPr/>
        </p:nvSpPr>
        <p:spPr>
          <a:xfrm flipH="1">
            <a:off x="987552" y="2423160"/>
            <a:ext cx="1828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indent="0" algn="ctr">
              <a:lnSpc>
                <a:spcPct val="112000"/>
              </a:lnSpc>
              <a:spcBef>
                <a:spcPts val="0"/>
              </a:spcBef>
              <a:spcAft>
                <a:spcPts val="1200"/>
              </a:spcAft>
              <a:buNone/>
            </a:pPr>
            <a:r>
              <a:rPr lang="zh-CN" sz="3400" b="1">
                <a:solidFill>
                  <a:srgbClr val="062D50"/>
                </a:solidFill>
                <a:latin typeface="Microsoft YaHei"/>
                <a:ea typeface="Microsoft YaHei"/>
                <a:cs typeface="Microsoft YaHei"/>
              </a:rPr>
              <a:t>Part</a:t>
            </a:r>
          </a:p>
          <a:p>
            <a:pPr marL="0" indent="0" algn="ctr">
              <a:lnSpc>
                <a:spcPct val="112000"/>
              </a:lnSpc>
              <a:spcBef>
                <a:spcPts val="0"/>
              </a:spcBef>
              <a:spcAft>
                <a:spcPts val="1200"/>
              </a:spcAft>
              <a:buNone/>
            </a:pPr>
            <a:r>
              <a:rPr lang="zh-CN" sz="7200" b="1">
                <a:solidFill>
                  <a:srgbClr val="062D50"/>
                </a:solidFill>
                <a:latin typeface="Microsoft YaHei"/>
                <a:ea typeface="Microsoft YaHei"/>
                <a:cs typeface="Microsoft YaHei"/>
              </a:rPr>
              <a:t>02</a:t>
            </a:r>
          </a:p>
        </p:txBody>
      </p:sp>
      <p:sp>
        <p:nvSpPr>
          <p:cNvPr id="28" name="文本框 27">
            <a:extLst>
              <a:ext uri="{FF2B5EF4-FFF2-40B4-BE49-F238E27FC236}">
                <a16:creationId xmlns:a16="http://schemas.microsoft.com/office/drawing/2014/main" id="{1A20BCF6-5BC0-C36C-4CAB-6E91E429863A}"/>
              </a:ext>
            </a:extLst>
          </p:cNvPr>
          <p:cNvSpPr txBox="1"/>
          <p:nvPr/>
        </p:nvSpPr>
        <p:spPr>
          <a:xfrm>
            <a:off x="4663440" y="2834640"/>
            <a:ext cx="5486400" cy="758952"/>
          </a:xfrm>
          <a:prstGeom prst="rect">
            <a:avLst/>
          </a:prstGeom>
          <a:noFill/>
        </p:spPr>
        <p:txBody>
          <a:bodyPr wrap="square" lIns="0" tIns="0" rIns="0" bIns="0" rtlCol="0" anchor="t">
            <a:noAutofit/>
          </a:bodyPr>
          <a:lstStyle/>
          <a:p>
            <a:pPr marL="0" indent="0" algn="ctr">
              <a:lnSpc>
                <a:spcPct val="112000"/>
              </a:lnSpc>
              <a:spcBef>
                <a:spcPts val="0"/>
              </a:spcBef>
              <a:spcAft>
                <a:spcPts val="0"/>
              </a:spcAft>
              <a:buNone/>
            </a:pPr>
            <a:r>
              <a:rPr lang="zh-CN" sz="4200" b="1">
                <a:solidFill>
                  <a:srgbClr val="202A33"/>
                </a:solidFill>
                <a:latin typeface="Microsoft YaHei"/>
                <a:ea typeface="Microsoft YaHei"/>
                <a:cs typeface="Microsoft YaHei"/>
              </a:rPr>
              <a:t>本文方法</a:t>
            </a:r>
          </a:p>
        </p:txBody>
      </p:sp>
      <p:sp>
        <p:nvSpPr>
          <p:cNvPr id="8" name="矩形 7">
            <a:extLst>
              <a:ext uri="{FF2B5EF4-FFF2-40B4-BE49-F238E27FC236}">
                <a16:creationId xmlns:a16="http://schemas.microsoft.com/office/drawing/2014/main" id="{9A703C10-AB1C-7FA2-A1A7-40F4556D85AF}"/>
              </a:ext>
            </a:extLst>
          </p:cNvPr>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TextBox 41"/>
          <p:cNvSpPr txBox="1"/>
          <p:nvPr/>
        </p:nvSpPr>
        <p:spPr>
          <a:xfrm>
            <a:off x="4526280" y="3794760"/>
            <a:ext cx="5852160" cy="68580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0">
                <a:solidFill>
                  <a:srgbClr val="647483"/>
                </a:solidFill>
                <a:latin typeface="Microsoft YaHei"/>
                <a:ea typeface="Microsoft YaHei"/>
                <a:cs typeface="Microsoft YaHei"/>
              </a:rPr>
              <a:t>三个模块：如何评分、如何训练、如何采样</a:t>
            </a:r>
          </a:p>
        </p:txBody>
      </p:sp>
    </p:spTree>
    <p:custDataLst>
      <p:tags r:id="rId1"/>
    </p:custDataLst>
    <p:extLst>
      <p:ext uri="{BB962C8B-B14F-4D97-AF65-F5344CB8AC3E}">
        <p14:creationId xmlns:p14="http://schemas.microsoft.com/office/powerpoint/2010/main" val="3559065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751C1-837B-0034-7060-19A19E1DA92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224E162-E6A0-E59D-EFE3-C73BBE9294BD}"/>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本文方法 —— 三个模块，各自解决一个问题</a:t>
            </a:r>
            <a:endParaRPr lang="zh-CN" altLang="en-US" dirty="0"/>
          </a:p>
        </p:txBody>
      </p:sp>
      <p:sp>
        <p:nvSpPr>
          <p:cNvPr id="4" name="Rectangle 3"/>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024128"/>
            <a:ext cx="3547872" cy="676656"/>
          </a:xfrm>
          <a:prstGeom prst="rect">
            <a:avLst/>
          </a:prstGeom>
          <a:noFill/>
        </p:spPr>
        <p:txBody>
          <a:bodyPr wrap="square" lIns="0" tIns="0" rIns="0" bIns="0" anchor="t">
            <a:noAutofit/>
          </a:bodyPr>
          <a:lstStyle/>
          <a:p>
            <a:pPr marL="0" indent="0" algn="ctr">
              <a:lnSpc>
                <a:spcPct val="112000"/>
              </a:lnSpc>
              <a:spcBef>
                <a:spcPts val="0"/>
              </a:spcBef>
              <a:spcAft>
                <a:spcPts val="300"/>
              </a:spcAft>
              <a:buNone/>
            </a:pPr>
            <a:r>
              <a:rPr lang="zh-CN" sz="1850" b="1">
                <a:solidFill>
                  <a:srgbClr val="062D50"/>
                </a:solidFill>
                <a:latin typeface="Microsoft YaHei"/>
                <a:ea typeface="Microsoft YaHei"/>
                <a:cs typeface="Microsoft YaHei"/>
              </a:rPr>
              <a:t>没有完整的失败案例分布，</a:t>
            </a:r>
          </a:p>
          <a:p>
            <a:pPr marL="0" indent="0" algn="ctr">
              <a:lnSpc>
                <a:spcPct val="112000"/>
              </a:lnSpc>
              <a:spcBef>
                <a:spcPts val="0"/>
              </a:spcBef>
              <a:spcAft>
                <a:spcPts val="300"/>
              </a:spcAft>
              <a:buNone/>
            </a:pPr>
            <a:r>
              <a:rPr lang="zh-CN" sz="1850" b="1">
                <a:solidFill>
                  <a:srgbClr val="062D50"/>
                </a:solidFill>
                <a:latin typeface="Microsoft YaHei"/>
                <a:ea typeface="Microsoft YaHei"/>
                <a:cs typeface="Microsoft YaHei"/>
              </a:rPr>
              <a:t>如何给候选提示词打分？</a:t>
            </a:r>
          </a:p>
        </p:txBody>
      </p:sp>
      <p:sp>
        <p:nvSpPr>
          <p:cNvPr id="6" name="Rectangle 5"/>
          <p:cNvSpPr/>
          <p:nvPr/>
        </p:nvSpPr>
        <p:spPr>
          <a:xfrm>
            <a:off x="502920" y="2029968"/>
            <a:ext cx="3547872" cy="250545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2029967"/>
            <a:ext cx="3547872" cy="859537"/>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2139696"/>
            <a:ext cx="3236976"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dirty="0">
                <a:solidFill>
                  <a:srgbClr val="FFFFFF"/>
                </a:solidFill>
                <a:latin typeface="Microsoft YaHei"/>
                <a:ea typeface="Microsoft YaHei"/>
                <a:cs typeface="Microsoft YaHei"/>
              </a:rPr>
              <a:t>EBM</a:t>
            </a:r>
            <a:r>
              <a:rPr lang="en-US" altLang="zh-CN" sz="2100" b="1" dirty="0">
                <a:solidFill>
                  <a:srgbClr val="FFFFFF"/>
                </a:solidFill>
                <a:latin typeface="Microsoft YaHei"/>
                <a:ea typeface="Microsoft YaHei"/>
                <a:cs typeface="Microsoft YaHei"/>
              </a:rPr>
              <a:t>(</a:t>
            </a:r>
            <a:r>
              <a:rPr lang="zh-MO" altLang="en-US" sz="2100" b="1" dirty="0">
                <a:solidFill>
                  <a:srgbClr val="FFFFFF"/>
                </a:solidFill>
                <a:latin typeface="Microsoft YaHei"/>
                <a:ea typeface="Microsoft YaHei"/>
                <a:cs typeface="Microsoft YaHei"/>
              </a:rPr>
              <a:t>基于能量的建模</a:t>
            </a:r>
            <a:r>
              <a:rPr lang="en-US" altLang="zh-CN" sz="2100" b="1" dirty="0">
                <a:solidFill>
                  <a:srgbClr val="FFFFFF"/>
                </a:solidFill>
                <a:latin typeface="Microsoft YaHei"/>
                <a:ea typeface="Microsoft YaHei"/>
                <a:cs typeface="Microsoft YaHei"/>
              </a:rPr>
              <a:t>)</a:t>
            </a:r>
            <a:r>
              <a:rPr lang="zh-CN" sz="2100" b="1" dirty="0">
                <a:solidFill>
                  <a:srgbClr val="FFFFFF"/>
                </a:solidFill>
                <a:latin typeface="Microsoft YaHei"/>
                <a:ea typeface="Microsoft YaHei"/>
                <a:cs typeface="Microsoft YaHei"/>
              </a:rPr>
              <a:t>：</a:t>
            </a:r>
            <a:endParaRPr lang="en-US" altLang="zh-CN" sz="2100" b="1" dirty="0">
              <a:solidFill>
                <a:srgbClr val="FFFFFF"/>
              </a:solidFill>
              <a:latin typeface="Microsoft YaHei"/>
              <a:ea typeface="Microsoft YaHei"/>
              <a:cs typeface="Microsoft YaHei"/>
            </a:endParaRPr>
          </a:p>
          <a:p>
            <a:pPr marL="0" indent="0" algn="l">
              <a:lnSpc>
                <a:spcPct val="112000"/>
              </a:lnSpc>
              <a:spcBef>
                <a:spcPts val="0"/>
              </a:spcBef>
              <a:spcAft>
                <a:spcPts val="0"/>
              </a:spcAft>
              <a:buNone/>
            </a:pPr>
            <a:r>
              <a:rPr lang="zh-CN" sz="2100" b="1" dirty="0">
                <a:solidFill>
                  <a:srgbClr val="FFFFFF"/>
                </a:solidFill>
                <a:latin typeface="Microsoft YaHei"/>
                <a:ea typeface="Microsoft YaHei"/>
                <a:cs typeface="Microsoft YaHei"/>
              </a:rPr>
              <a:t>如何评分？</a:t>
            </a:r>
          </a:p>
        </p:txBody>
      </p:sp>
      <p:sp>
        <p:nvSpPr>
          <p:cNvPr id="9" name="TextBox 8"/>
          <p:cNvSpPr txBox="1"/>
          <p:nvPr/>
        </p:nvSpPr>
        <p:spPr>
          <a:xfrm>
            <a:off x="685800" y="3211549"/>
            <a:ext cx="3182112" cy="1645920"/>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dirty="0">
                <a:solidFill>
                  <a:srgbClr val="202A33"/>
                </a:solidFill>
                <a:latin typeface="Microsoft YaHei"/>
                <a:ea typeface="Microsoft YaHei"/>
                <a:cs typeface="Microsoft YaHei"/>
              </a:rPr>
              <a:t>同时看图像是否触发目标，</a:t>
            </a:r>
          </a:p>
          <a:p>
            <a:pPr marL="0" indent="0" algn="l">
              <a:lnSpc>
                <a:spcPct val="112000"/>
              </a:lnSpc>
              <a:spcBef>
                <a:spcPts val="0"/>
              </a:spcBef>
              <a:spcAft>
                <a:spcPts val="700"/>
              </a:spcAft>
              <a:buNone/>
            </a:pPr>
            <a:r>
              <a:rPr lang="zh-CN" sz="2000" b="0" dirty="0">
                <a:solidFill>
                  <a:srgbClr val="202A33"/>
                </a:solidFill>
                <a:latin typeface="Microsoft YaHei"/>
                <a:ea typeface="Microsoft YaHei"/>
                <a:cs typeface="Microsoft YaHei"/>
              </a:rPr>
              <a:t>以及提示词是否太相似。</a:t>
            </a:r>
          </a:p>
        </p:txBody>
      </p:sp>
      <p:sp>
        <p:nvSpPr>
          <p:cNvPr id="10" name="TextBox 9"/>
          <p:cNvSpPr txBox="1"/>
          <p:nvPr/>
        </p:nvSpPr>
        <p:spPr>
          <a:xfrm>
            <a:off x="4315968" y="1024128"/>
            <a:ext cx="3547872" cy="676656"/>
          </a:xfrm>
          <a:prstGeom prst="rect">
            <a:avLst/>
          </a:prstGeom>
          <a:noFill/>
        </p:spPr>
        <p:txBody>
          <a:bodyPr wrap="square" lIns="0" tIns="0" rIns="0" bIns="0" anchor="t">
            <a:noAutofit/>
          </a:bodyPr>
          <a:lstStyle/>
          <a:p>
            <a:pPr marL="0" indent="0" algn="ctr">
              <a:lnSpc>
                <a:spcPct val="112000"/>
              </a:lnSpc>
              <a:spcBef>
                <a:spcPts val="0"/>
              </a:spcBef>
              <a:spcAft>
                <a:spcPts val="300"/>
              </a:spcAft>
              <a:buNone/>
            </a:pPr>
            <a:r>
              <a:rPr lang="zh-CN" sz="1850" b="1">
                <a:solidFill>
                  <a:srgbClr val="062D50"/>
                </a:solidFill>
                <a:latin typeface="Microsoft YaHei"/>
                <a:ea typeface="Microsoft YaHei"/>
                <a:cs typeface="Microsoft YaHei"/>
              </a:rPr>
              <a:t>完整生成链难以反向传播，</a:t>
            </a:r>
          </a:p>
          <a:p>
            <a:pPr marL="0" indent="0" algn="ctr">
              <a:lnSpc>
                <a:spcPct val="112000"/>
              </a:lnSpc>
              <a:spcBef>
                <a:spcPts val="0"/>
              </a:spcBef>
              <a:spcAft>
                <a:spcPts val="300"/>
              </a:spcAft>
              <a:buNone/>
            </a:pPr>
            <a:r>
              <a:rPr lang="zh-CN" sz="1850" b="1">
                <a:solidFill>
                  <a:srgbClr val="062D50"/>
                </a:solidFill>
                <a:latin typeface="Microsoft YaHei"/>
                <a:ea typeface="Microsoft YaHei"/>
                <a:cs typeface="Microsoft YaHei"/>
              </a:rPr>
              <a:t>怎样更新提示词生成器？</a:t>
            </a:r>
          </a:p>
        </p:txBody>
      </p:sp>
      <p:sp>
        <p:nvSpPr>
          <p:cNvPr id="11" name="Rectangle 10"/>
          <p:cNvSpPr/>
          <p:nvPr/>
        </p:nvSpPr>
        <p:spPr>
          <a:xfrm>
            <a:off x="4315968" y="2029968"/>
            <a:ext cx="3547872" cy="250545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15968" y="2029967"/>
            <a:ext cx="3547872" cy="859537"/>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71416" y="2139696"/>
            <a:ext cx="3236976"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dirty="0">
                <a:solidFill>
                  <a:srgbClr val="FFFFFF"/>
                </a:solidFill>
                <a:latin typeface="Microsoft YaHei"/>
                <a:ea typeface="Microsoft YaHei"/>
                <a:cs typeface="Microsoft YaHei"/>
              </a:rPr>
              <a:t>GC-SPSA</a:t>
            </a:r>
            <a:r>
              <a:rPr lang="en-US" altLang="zh-CN" sz="2100" b="1" dirty="0">
                <a:solidFill>
                  <a:srgbClr val="FFFFFF"/>
                </a:solidFill>
                <a:latin typeface="Microsoft YaHei"/>
                <a:ea typeface="Microsoft YaHei"/>
                <a:cs typeface="Microsoft YaHei"/>
              </a:rPr>
              <a:t> </a:t>
            </a:r>
            <a:r>
              <a:rPr lang="zh-CN" altLang="en-US" sz="2100" b="1" dirty="0">
                <a:solidFill>
                  <a:srgbClr val="FFFFFF"/>
                </a:solidFill>
                <a:latin typeface="Microsoft YaHei"/>
                <a:ea typeface="Microsoft YaHei"/>
                <a:cs typeface="Microsoft YaHei"/>
              </a:rPr>
              <a:t>優化演算法</a:t>
            </a:r>
            <a:r>
              <a:rPr lang="zh-CN" sz="2100" b="1" dirty="0">
                <a:solidFill>
                  <a:srgbClr val="FFFFFF"/>
                </a:solidFill>
                <a:latin typeface="Microsoft YaHei"/>
                <a:ea typeface="Microsoft YaHei"/>
                <a:cs typeface="Microsoft YaHei"/>
              </a:rPr>
              <a:t>：</a:t>
            </a:r>
            <a:endParaRPr lang="en-US" altLang="zh-CN" sz="2100" b="1" dirty="0">
              <a:solidFill>
                <a:srgbClr val="FFFFFF"/>
              </a:solidFill>
              <a:latin typeface="Microsoft YaHei"/>
              <a:ea typeface="Microsoft YaHei"/>
              <a:cs typeface="Microsoft YaHei"/>
            </a:endParaRPr>
          </a:p>
          <a:p>
            <a:pPr marL="0" indent="0" algn="l">
              <a:lnSpc>
                <a:spcPct val="112000"/>
              </a:lnSpc>
              <a:spcBef>
                <a:spcPts val="0"/>
              </a:spcBef>
              <a:spcAft>
                <a:spcPts val="0"/>
              </a:spcAft>
              <a:buNone/>
            </a:pPr>
            <a:r>
              <a:rPr lang="zh-CN" sz="2100" b="1" dirty="0">
                <a:solidFill>
                  <a:srgbClr val="FFFFFF"/>
                </a:solidFill>
                <a:latin typeface="Microsoft YaHei"/>
                <a:ea typeface="Microsoft YaHei"/>
                <a:cs typeface="Microsoft YaHei"/>
              </a:rPr>
              <a:t>如何训练？</a:t>
            </a:r>
          </a:p>
        </p:txBody>
      </p:sp>
      <p:sp>
        <p:nvSpPr>
          <p:cNvPr id="14" name="TextBox 13"/>
          <p:cNvSpPr txBox="1"/>
          <p:nvPr/>
        </p:nvSpPr>
        <p:spPr>
          <a:xfrm>
            <a:off x="4498848" y="3211549"/>
            <a:ext cx="3182112" cy="1645920"/>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dirty="0">
                <a:solidFill>
                  <a:srgbClr val="202A33"/>
                </a:solidFill>
                <a:latin typeface="Microsoft YaHei"/>
                <a:ea typeface="Microsoft YaHei"/>
                <a:cs typeface="Microsoft YaHei"/>
              </a:rPr>
              <a:t>比较参数扰动后的损失，</a:t>
            </a:r>
          </a:p>
          <a:p>
            <a:pPr marL="0" indent="0" algn="l">
              <a:lnSpc>
                <a:spcPct val="112000"/>
              </a:lnSpc>
              <a:spcBef>
                <a:spcPts val="0"/>
              </a:spcBef>
              <a:spcAft>
                <a:spcPts val="700"/>
              </a:spcAft>
              <a:buNone/>
            </a:pPr>
            <a:r>
              <a:rPr lang="zh-CN" sz="2000" b="0" dirty="0">
                <a:solidFill>
                  <a:srgbClr val="202A33"/>
                </a:solidFill>
                <a:latin typeface="Microsoft YaHei"/>
                <a:ea typeface="Microsoft YaHei"/>
                <a:cs typeface="Microsoft YaHei"/>
              </a:rPr>
              <a:t>再用历史信息校准方向。</a:t>
            </a:r>
          </a:p>
        </p:txBody>
      </p:sp>
      <p:sp>
        <p:nvSpPr>
          <p:cNvPr id="15" name="TextBox 14"/>
          <p:cNvSpPr txBox="1"/>
          <p:nvPr/>
        </p:nvSpPr>
        <p:spPr>
          <a:xfrm>
            <a:off x="8129016" y="1024128"/>
            <a:ext cx="3547872" cy="676656"/>
          </a:xfrm>
          <a:prstGeom prst="rect">
            <a:avLst/>
          </a:prstGeom>
          <a:noFill/>
        </p:spPr>
        <p:txBody>
          <a:bodyPr wrap="square" lIns="0" tIns="0" rIns="0" bIns="0" anchor="t">
            <a:noAutofit/>
          </a:bodyPr>
          <a:lstStyle/>
          <a:p>
            <a:pPr marL="0" indent="0" algn="ctr">
              <a:lnSpc>
                <a:spcPct val="112000"/>
              </a:lnSpc>
              <a:spcBef>
                <a:spcPts val="0"/>
              </a:spcBef>
              <a:spcAft>
                <a:spcPts val="300"/>
              </a:spcAft>
              <a:buNone/>
            </a:pPr>
            <a:r>
              <a:rPr lang="zh-CN" sz="1850" b="1">
                <a:solidFill>
                  <a:srgbClr val="062D50"/>
                </a:solidFill>
                <a:latin typeface="Microsoft YaHei"/>
                <a:ea typeface="Microsoft YaHei"/>
                <a:cs typeface="Microsoft YaHei"/>
              </a:rPr>
              <a:t>生成器训练好后，</a:t>
            </a:r>
          </a:p>
          <a:p>
            <a:pPr marL="0" indent="0" algn="ctr">
              <a:lnSpc>
                <a:spcPct val="112000"/>
              </a:lnSpc>
              <a:spcBef>
                <a:spcPts val="0"/>
              </a:spcBef>
              <a:spcAft>
                <a:spcPts val="300"/>
              </a:spcAft>
              <a:buNone/>
            </a:pPr>
            <a:r>
              <a:rPr lang="zh-CN" sz="1850" b="1">
                <a:solidFill>
                  <a:srgbClr val="062D50"/>
                </a:solidFill>
                <a:latin typeface="Microsoft YaHei"/>
                <a:ea typeface="Microsoft YaHei"/>
                <a:cs typeface="Microsoft YaHei"/>
              </a:rPr>
              <a:t>怎样减少反复出现的词？</a:t>
            </a:r>
          </a:p>
        </p:txBody>
      </p:sp>
      <p:sp>
        <p:nvSpPr>
          <p:cNvPr id="16" name="Rectangle 15"/>
          <p:cNvSpPr/>
          <p:nvPr/>
        </p:nvSpPr>
        <p:spPr>
          <a:xfrm>
            <a:off x="8129016" y="2029968"/>
            <a:ext cx="3547872" cy="250545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29016" y="2029967"/>
            <a:ext cx="3547872" cy="859537"/>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84464" y="2139696"/>
            <a:ext cx="3236976"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dirty="0">
                <a:solidFill>
                  <a:srgbClr val="FFFFFF"/>
                </a:solidFill>
                <a:latin typeface="Microsoft YaHei"/>
                <a:ea typeface="Microsoft YaHei"/>
                <a:cs typeface="Microsoft YaHei"/>
              </a:rPr>
              <a:t>ATS</a:t>
            </a:r>
            <a:r>
              <a:rPr lang="en-US" altLang="zh-CN" sz="2100" b="1" dirty="0">
                <a:solidFill>
                  <a:srgbClr val="FFFFFF"/>
                </a:solidFill>
                <a:latin typeface="Microsoft YaHei"/>
                <a:ea typeface="Microsoft YaHei"/>
                <a:cs typeface="Microsoft YaHei"/>
              </a:rPr>
              <a:t>(</a:t>
            </a:r>
            <a:r>
              <a:rPr lang="zh-CN" altLang="en-US" sz="2100" b="1" dirty="0">
                <a:solidFill>
                  <a:srgbClr val="FFFFFF"/>
                </a:solidFill>
                <a:latin typeface="Microsoft YaHei"/>
                <a:ea typeface="Microsoft YaHei"/>
                <a:cs typeface="Microsoft YaHei"/>
              </a:rPr>
              <a:t>自适应温度缩放</a:t>
            </a:r>
            <a:r>
              <a:rPr lang="en-US" altLang="zh-CN" sz="2100" b="1" dirty="0">
                <a:solidFill>
                  <a:srgbClr val="FFFFFF"/>
                </a:solidFill>
                <a:latin typeface="Microsoft YaHei"/>
                <a:ea typeface="Microsoft YaHei"/>
                <a:cs typeface="Microsoft YaHei"/>
              </a:rPr>
              <a:t>)</a:t>
            </a:r>
            <a:r>
              <a:rPr lang="zh-CN" sz="2100" b="1" dirty="0">
                <a:solidFill>
                  <a:srgbClr val="FFFFFF"/>
                </a:solidFill>
                <a:latin typeface="Microsoft YaHei"/>
                <a:ea typeface="Microsoft YaHei"/>
                <a:cs typeface="Microsoft YaHei"/>
              </a:rPr>
              <a:t>：</a:t>
            </a:r>
            <a:endParaRPr lang="en-US" altLang="zh-CN" sz="2100" b="1" dirty="0">
              <a:solidFill>
                <a:srgbClr val="FFFFFF"/>
              </a:solidFill>
              <a:latin typeface="Microsoft YaHei"/>
              <a:ea typeface="Microsoft YaHei"/>
              <a:cs typeface="Microsoft YaHei"/>
            </a:endParaRPr>
          </a:p>
          <a:p>
            <a:pPr marL="0" indent="0" algn="l">
              <a:lnSpc>
                <a:spcPct val="112000"/>
              </a:lnSpc>
              <a:spcBef>
                <a:spcPts val="0"/>
              </a:spcBef>
              <a:spcAft>
                <a:spcPts val="0"/>
              </a:spcAft>
              <a:buNone/>
            </a:pPr>
            <a:r>
              <a:rPr lang="zh-CN" sz="2100" b="1" dirty="0">
                <a:solidFill>
                  <a:srgbClr val="FFFFFF"/>
                </a:solidFill>
                <a:latin typeface="Microsoft YaHei"/>
                <a:ea typeface="Microsoft YaHei"/>
                <a:cs typeface="Microsoft YaHei"/>
              </a:rPr>
              <a:t>如何采样？</a:t>
            </a:r>
          </a:p>
        </p:txBody>
      </p:sp>
      <p:sp>
        <p:nvSpPr>
          <p:cNvPr id="19" name="TextBox 18"/>
          <p:cNvSpPr txBox="1"/>
          <p:nvPr/>
        </p:nvSpPr>
        <p:spPr>
          <a:xfrm>
            <a:off x="8311896" y="3211549"/>
            <a:ext cx="3182112" cy="1645920"/>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查看已生成词的频率，</a:t>
            </a:r>
          </a:p>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动态调整采样温度。</a:t>
            </a:r>
          </a:p>
        </p:txBody>
      </p:sp>
      <p:sp>
        <p:nvSpPr>
          <p:cNvPr id="20" name="Right Arrow 19"/>
          <p:cNvSpPr/>
          <p:nvPr/>
        </p:nvSpPr>
        <p:spPr>
          <a:xfrm>
            <a:off x="3986784" y="2990088"/>
            <a:ext cx="274320" cy="28346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7799831" y="2990088"/>
            <a:ext cx="274320" cy="28346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4892040"/>
            <a:ext cx="7360920" cy="448056"/>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4992624"/>
            <a:ext cx="6995160" cy="283464"/>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900" b="1">
                <a:solidFill>
                  <a:srgbClr val="062D50"/>
                </a:solidFill>
                <a:latin typeface="Microsoft YaHei"/>
                <a:ea typeface="Microsoft YaHei"/>
                <a:cs typeface="Microsoft YaHei"/>
              </a:rPr>
              <a:t>训练阶段：评分 + 更新提示词生成器</a:t>
            </a:r>
          </a:p>
        </p:txBody>
      </p:sp>
      <p:sp>
        <p:nvSpPr>
          <p:cNvPr id="24" name="Rectangle 23"/>
          <p:cNvSpPr/>
          <p:nvPr/>
        </p:nvSpPr>
        <p:spPr>
          <a:xfrm>
            <a:off x="8129016" y="4892040"/>
            <a:ext cx="3547872" cy="448056"/>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93608" y="4992624"/>
            <a:ext cx="3218688" cy="283464"/>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900" b="1">
                <a:solidFill>
                  <a:srgbClr val="062D50"/>
                </a:solidFill>
                <a:latin typeface="Microsoft YaHei"/>
                <a:ea typeface="Microsoft YaHei"/>
                <a:cs typeface="Microsoft YaHei"/>
              </a:rPr>
              <a:t>采样阶段：增加词的选择</a:t>
            </a:r>
          </a:p>
        </p:txBody>
      </p:sp>
      <p:sp>
        <p:nvSpPr>
          <p:cNvPr id="26" name="Rectangle 25"/>
          <p:cNvSpPr/>
          <p:nvPr/>
        </p:nvSpPr>
        <p:spPr>
          <a:xfrm>
            <a:off x="502920" y="5541264"/>
            <a:ext cx="11173968" cy="45720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 y="5632703"/>
            <a:ext cx="10844784" cy="33832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三个模块分别决定：什么值得生成、怎么学到、怎么继续探索。</a:t>
            </a:r>
          </a:p>
        </p:txBody>
      </p:sp>
    </p:spTree>
    <p:extLst>
      <p:ext uri="{BB962C8B-B14F-4D97-AF65-F5344CB8AC3E}">
        <p14:creationId xmlns:p14="http://schemas.microsoft.com/office/powerpoint/2010/main" val="3251017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137160"/>
            <a:ext cx="10881360" cy="475488"/>
          </a:xfr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本文方法 —— 训练时更新生成器，训练后批量采样</a:t>
            </a:r>
          </a:p>
        </p:txBody>
      </p:sp>
      <p:sp>
        <p:nvSpPr>
          <p:cNvPr id="3" name="Rectangle 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960120"/>
            <a:ext cx="11173968"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训练阶段：每轮评估一批候选提示词，再更新共享参数 θ</a:t>
            </a:r>
          </a:p>
        </p:txBody>
      </p:sp>
      <p:sp>
        <p:nvSpPr>
          <p:cNvPr id="5" name="Rectangle 4"/>
          <p:cNvSpPr/>
          <p:nvPr/>
        </p:nvSpPr>
        <p:spPr>
          <a:xfrm>
            <a:off x="502920" y="1783080"/>
            <a:ext cx="2322576" cy="167335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783080"/>
            <a:ext cx="2322576"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892807"/>
            <a:ext cx="2011680"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00" b="1">
                <a:solidFill>
                  <a:srgbClr val="FFFFFF"/>
                </a:solidFill>
                <a:latin typeface="Microsoft YaHei"/>
                <a:ea typeface="Microsoft YaHei"/>
                <a:cs typeface="Microsoft YaHei"/>
              </a:rPr>
              <a:t>提示词生成器 pθ</a:t>
            </a:r>
          </a:p>
        </p:txBody>
      </p:sp>
      <p:sp>
        <p:nvSpPr>
          <p:cNvPr id="8" name="TextBox 7"/>
          <p:cNvSpPr txBox="1"/>
          <p:nvPr/>
        </p:nvSpPr>
        <p:spPr>
          <a:xfrm>
            <a:off x="685800" y="2496312"/>
            <a:ext cx="1956816" cy="81381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50" b="0">
                <a:solidFill>
                  <a:srgbClr val="202A33"/>
                </a:solidFill>
                <a:latin typeface="Microsoft YaHei"/>
                <a:ea typeface="Microsoft YaHei"/>
                <a:cs typeface="Microsoft YaHei"/>
              </a:rPr>
              <a:t>采样一批提示词 x</a:t>
            </a:r>
          </a:p>
        </p:txBody>
      </p:sp>
      <p:sp>
        <p:nvSpPr>
          <p:cNvPr id="9" name="Rectangle 8"/>
          <p:cNvSpPr/>
          <p:nvPr/>
        </p:nvSpPr>
        <p:spPr>
          <a:xfrm>
            <a:off x="3246120" y="1783080"/>
            <a:ext cx="2450592" cy="167335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246120" y="1783080"/>
            <a:ext cx="2450592"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01568" y="1892807"/>
            <a:ext cx="2139696"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00" b="1">
                <a:solidFill>
                  <a:srgbClr val="FFFFFF"/>
                </a:solidFill>
                <a:latin typeface="Microsoft YaHei"/>
                <a:ea typeface="Microsoft YaHei"/>
                <a:cs typeface="Microsoft YaHei"/>
              </a:rPr>
              <a:t>被测图像系统 G</a:t>
            </a:r>
          </a:p>
        </p:txBody>
      </p:sp>
      <p:sp>
        <p:nvSpPr>
          <p:cNvPr id="12" name="TextBox 11"/>
          <p:cNvSpPr txBox="1"/>
          <p:nvPr/>
        </p:nvSpPr>
        <p:spPr>
          <a:xfrm>
            <a:off x="3429000" y="2496312"/>
            <a:ext cx="2084832" cy="81381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50" b="0">
                <a:solidFill>
                  <a:srgbClr val="202A33"/>
                </a:solidFill>
                <a:latin typeface="Microsoft YaHei"/>
                <a:ea typeface="Microsoft YaHei"/>
                <a:cs typeface="Microsoft YaHei"/>
              </a:rPr>
              <a:t>生成图像或返回拒绝</a:t>
            </a:r>
          </a:p>
        </p:txBody>
      </p:sp>
      <p:sp>
        <p:nvSpPr>
          <p:cNvPr id="13" name="Rectangle 12"/>
          <p:cNvSpPr/>
          <p:nvPr/>
        </p:nvSpPr>
        <p:spPr>
          <a:xfrm>
            <a:off x="6144768" y="1783080"/>
            <a:ext cx="2532888" cy="167335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44768" y="1783080"/>
            <a:ext cx="2532888"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0216" y="1892807"/>
            <a:ext cx="2221992"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00" b="1">
                <a:solidFill>
                  <a:srgbClr val="FFFFFF"/>
                </a:solidFill>
                <a:latin typeface="Microsoft YaHei"/>
                <a:ea typeface="Microsoft YaHei"/>
                <a:cs typeface="Microsoft YaHei"/>
              </a:rPr>
              <a:t>能量与损失</a:t>
            </a:r>
          </a:p>
        </p:txBody>
      </p:sp>
      <p:sp>
        <p:nvSpPr>
          <p:cNvPr id="16" name="TextBox 15"/>
          <p:cNvSpPr txBox="1"/>
          <p:nvPr/>
        </p:nvSpPr>
        <p:spPr>
          <a:xfrm>
            <a:off x="6327648" y="2496312"/>
            <a:ext cx="2167128" cy="81381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50" b="0">
                <a:solidFill>
                  <a:srgbClr val="202A33"/>
                </a:solidFill>
                <a:latin typeface="Microsoft YaHei"/>
                <a:ea typeface="Microsoft YaHei"/>
                <a:cs typeface="Microsoft YaHei"/>
              </a:rPr>
              <a:t>图像匹配 + 重复度</a:t>
            </a:r>
          </a:p>
          <a:p>
            <a:pPr marL="0" indent="0" algn="l">
              <a:lnSpc>
                <a:spcPct val="112000"/>
              </a:lnSpc>
              <a:spcBef>
                <a:spcPts val="0"/>
              </a:spcBef>
              <a:spcAft>
                <a:spcPts val="700"/>
              </a:spcAft>
              <a:buNone/>
            </a:pPr>
            <a:r>
              <a:rPr lang="zh-CN" sz="1750" b="0">
                <a:solidFill>
                  <a:srgbClr val="202A33"/>
                </a:solidFill>
                <a:latin typeface="Microsoft YaHei"/>
                <a:ea typeface="Microsoft YaHei"/>
                <a:cs typeface="Microsoft YaHei"/>
              </a:rPr>
              <a:t>+ 熵正则</a:t>
            </a:r>
          </a:p>
        </p:txBody>
      </p:sp>
      <p:sp>
        <p:nvSpPr>
          <p:cNvPr id="17" name="Rectangle 16"/>
          <p:cNvSpPr/>
          <p:nvPr/>
        </p:nvSpPr>
        <p:spPr>
          <a:xfrm>
            <a:off x="9125712" y="1783080"/>
            <a:ext cx="2560320" cy="167335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25712" y="1783080"/>
            <a:ext cx="256032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81160" y="1892807"/>
            <a:ext cx="224942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00" b="1">
                <a:solidFill>
                  <a:srgbClr val="FFFFFF"/>
                </a:solidFill>
                <a:latin typeface="Microsoft YaHei"/>
                <a:ea typeface="Microsoft YaHei"/>
                <a:cs typeface="Microsoft YaHei"/>
              </a:rPr>
              <a:t>GC-SPSA</a:t>
            </a:r>
          </a:p>
        </p:txBody>
      </p:sp>
      <p:sp>
        <p:nvSpPr>
          <p:cNvPr id="20" name="TextBox 19"/>
          <p:cNvSpPr txBox="1"/>
          <p:nvPr/>
        </p:nvSpPr>
        <p:spPr>
          <a:xfrm>
            <a:off x="9308592" y="2496312"/>
            <a:ext cx="2194560" cy="81381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50" b="0">
                <a:solidFill>
                  <a:srgbClr val="202A33"/>
                </a:solidFill>
                <a:latin typeface="Microsoft YaHei"/>
                <a:ea typeface="Microsoft YaHei"/>
                <a:cs typeface="Microsoft YaHei"/>
              </a:rPr>
              <a:t>用前向评估估计方向</a:t>
            </a:r>
          </a:p>
          <a:p>
            <a:pPr marL="0" indent="0" algn="l">
              <a:lnSpc>
                <a:spcPct val="112000"/>
              </a:lnSpc>
              <a:spcBef>
                <a:spcPts val="0"/>
              </a:spcBef>
              <a:spcAft>
                <a:spcPts val="700"/>
              </a:spcAft>
              <a:buNone/>
            </a:pPr>
            <a:r>
              <a:rPr lang="zh-CN" sz="1750" b="0">
                <a:solidFill>
                  <a:srgbClr val="202A33"/>
                </a:solidFill>
                <a:latin typeface="Microsoft YaHei"/>
                <a:ea typeface="Microsoft YaHei"/>
                <a:cs typeface="Microsoft YaHei"/>
              </a:rPr>
              <a:t>更新生成器参数 θ</a:t>
            </a:r>
          </a:p>
        </p:txBody>
      </p:sp>
      <p:sp>
        <p:nvSpPr>
          <p:cNvPr id="21" name="Right Arrow 20"/>
          <p:cNvSpPr/>
          <p:nvPr/>
        </p:nvSpPr>
        <p:spPr>
          <a:xfrm>
            <a:off x="2916936" y="2423160"/>
            <a:ext cx="228600" cy="23774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ight Arrow 21"/>
          <p:cNvSpPr/>
          <p:nvPr/>
        </p:nvSpPr>
        <p:spPr>
          <a:xfrm>
            <a:off x="5815584" y="2423160"/>
            <a:ext cx="228600" cy="23774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ight Arrow 22"/>
          <p:cNvSpPr/>
          <p:nvPr/>
        </p:nvSpPr>
        <p:spPr>
          <a:xfrm>
            <a:off x="8796528" y="2423160"/>
            <a:ext cx="228600" cy="23774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a:off x="10378440" y="3474720"/>
            <a:ext cx="0" cy="493776"/>
          </a:xfrm>
          <a:prstGeom prst="line">
            <a:avLst/>
          </a:prstGeom>
          <a:ln w="25400">
            <a:solidFill>
              <a:srgbClr val="0076B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655064" y="3968496"/>
            <a:ext cx="8723376" cy="0"/>
          </a:xfrm>
          <a:prstGeom prst="line">
            <a:avLst/>
          </a:prstGeom>
          <a:ln w="25400">
            <a:solidFill>
              <a:srgbClr val="0076B9"/>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862072" y="3639312"/>
            <a:ext cx="6172200" cy="26517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700" b="1">
                <a:solidFill>
                  <a:srgbClr val="0076B9"/>
                </a:solidFill>
                <a:latin typeface="Microsoft YaHei"/>
                <a:ea typeface="Microsoft YaHei"/>
                <a:cs typeface="Microsoft YaHei"/>
              </a:rPr>
              <a:t>下一轮继续使用更新后的同一个生成器</a:t>
            </a:r>
          </a:p>
        </p:txBody>
      </p:sp>
      <p:cxnSp>
        <p:nvCxnSpPr>
          <p:cNvPr id="28" name="Connector 27"/>
          <p:cNvCxnSpPr/>
          <p:nvPr/>
        </p:nvCxnSpPr>
        <p:spPr>
          <a:xfrm flipV="1">
            <a:off x="1655064" y="3483864"/>
            <a:ext cx="0" cy="484632"/>
          </a:xfrm>
          <a:prstGeom prst="line">
            <a:avLst/>
          </a:prstGeom>
          <a:ln w="25400">
            <a:solidFill>
              <a:srgbClr val="0076B9"/>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2920" y="4398264"/>
            <a:ext cx="11173968"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采样阶段：固定 θ，用 ATS 生成更多候选，再检查哪些真的成功</a:t>
            </a:r>
          </a:p>
        </p:txBody>
      </p:sp>
      <p:sp>
        <p:nvSpPr>
          <p:cNvPr id="30" name="Rectangle 29"/>
          <p:cNvSpPr/>
          <p:nvPr/>
        </p:nvSpPr>
        <p:spPr>
          <a:xfrm>
            <a:off x="502920" y="5038344"/>
            <a:ext cx="2852928" cy="57607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94360" y="5221224"/>
            <a:ext cx="2670048" cy="31089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1">
                <a:solidFill>
                  <a:srgbClr val="062D50"/>
                </a:solidFill>
                <a:latin typeface="Microsoft YaHei"/>
                <a:ea typeface="Microsoft YaHei"/>
                <a:cs typeface="Microsoft YaHei"/>
              </a:rPr>
              <a:t>训练好的生成器 pθ*</a:t>
            </a:r>
          </a:p>
        </p:txBody>
      </p:sp>
      <p:sp>
        <p:nvSpPr>
          <p:cNvPr id="32" name="Rectangle 31"/>
          <p:cNvSpPr/>
          <p:nvPr/>
        </p:nvSpPr>
        <p:spPr>
          <a:xfrm>
            <a:off x="3931920" y="5038344"/>
            <a:ext cx="3337560" cy="57607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023359" y="5221224"/>
            <a:ext cx="3154679" cy="31089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1">
                <a:solidFill>
                  <a:srgbClr val="062D50"/>
                </a:solidFill>
                <a:latin typeface="Microsoft YaHei"/>
                <a:ea typeface="Microsoft YaHei"/>
                <a:cs typeface="Microsoft YaHei"/>
              </a:rPr>
              <a:t>ATS：根据词频调整温度</a:t>
            </a:r>
          </a:p>
        </p:txBody>
      </p:sp>
      <p:sp>
        <p:nvSpPr>
          <p:cNvPr id="34" name="Rectangle 33"/>
          <p:cNvSpPr/>
          <p:nvPr/>
        </p:nvSpPr>
        <p:spPr>
          <a:xfrm>
            <a:off x="7845552" y="5038344"/>
            <a:ext cx="3840480" cy="57607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36992" y="5221224"/>
            <a:ext cx="3657600" cy="31089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1">
                <a:solidFill>
                  <a:srgbClr val="062D50"/>
                </a:solidFill>
                <a:latin typeface="Microsoft YaHei"/>
                <a:ea typeface="Microsoft YaHei"/>
                <a:cs typeface="Microsoft YaHei"/>
              </a:rPr>
              <a:t>批量候选 → 系统测试 → 案例集</a:t>
            </a:r>
          </a:p>
        </p:txBody>
      </p:sp>
      <p:sp>
        <p:nvSpPr>
          <p:cNvPr id="36" name="Right Arrow 35"/>
          <p:cNvSpPr/>
          <p:nvPr/>
        </p:nvSpPr>
        <p:spPr>
          <a:xfrm>
            <a:off x="3529584" y="5221224"/>
            <a:ext cx="274320" cy="219456"/>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ight Arrow 36"/>
          <p:cNvSpPr/>
          <p:nvPr/>
        </p:nvSpPr>
        <p:spPr>
          <a:xfrm>
            <a:off x="7443216" y="5221224"/>
            <a:ext cx="274320" cy="219456"/>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Up Arrow 38"/>
          <p:cNvSpPr/>
          <p:nvPr/>
        </p:nvSpPr>
        <p:spPr>
          <a:xfrm>
            <a:off x="1499616" y="3502152"/>
            <a:ext cx="310896" cy="365760"/>
          </a:xfrm>
          <a:prstGeom prst="up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1CBF-8899-49D3-F618-868723A9E64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A6A49B4-5755-8971-E4E5-513FB92F915C}"/>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本文方法 —— 能量模型：给候选提示词一个可比较的分数</a:t>
            </a:r>
            <a:endParaRPr lang="zh-CN" altLang="en-US" dirty="0"/>
          </a:p>
        </p:txBody>
      </p:sp>
      <p:sp>
        <p:nvSpPr>
          <p:cNvPr id="5" name="Rectangle 4"/>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没有完整的失败案例数据集，先用可计算的能量函数来定义“更值得生成”的候选。</a:t>
            </a:r>
          </a:p>
        </p:txBody>
      </p:sp>
      <p:sp>
        <p:nvSpPr>
          <p:cNvPr id="8" name="Rectangle 7"/>
          <p:cNvSpPr/>
          <p:nvPr/>
        </p:nvSpPr>
        <p:spPr>
          <a:xfrm>
            <a:off x="502920" y="1691640"/>
            <a:ext cx="4846320" cy="347472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911095"/>
            <a:ext cx="4416552" cy="640080"/>
          </a:xfrm>
          <a:prstGeom prst="rect">
            <a:avLst/>
          </a:prstGeom>
          <a:noFill/>
        </p:spPr>
        <p:txBody>
          <a:bodyPr wrap="square" lIns="0" tIns="0" rIns="0" bIns="0" anchor="t">
            <a:noAutofit/>
          </a:bodyPr>
          <a:lstStyle/>
          <a:p>
            <a:pPr marL="0" indent="0" algn="l">
              <a:lnSpc>
                <a:spcPct val="112000"/>
              </a:lnSpc>
              <a:spcBef>
                <a:spcPts val="0"/>
              </a:spcBef>
              <a:spcAft>
                <a:spcPts val="500"/>
              </a:spcAft>
              <a:buNone/>
            </a:pPr>
            <a:r>
              <a:rPr lang="zh-CN" sz="2200" b="1">
                <a:solidFill>
                  <a:srgbClr val="062D50"/>
                </a:solidFill>
                <a:latin typeface="Microsoft YaHei"/>
                <a:ea typeface="Microsoft YaHei"/>
                <a:cs typeface="Microsoft YaHei"/>
              </a:rPr>
              <a:t>低能量的提示词，</a:t>
            </a:r>
          </a:p>
          <a:p>
            <a:pPr marL="0" indent="0" algn="l">
              <a:lnSpc>
                <a:spcPct val="112000"/>
              </a:lnSpc>
              <a:spcBef>
                <a:spcPts val="0"/>
              </a:spcBef>
              <a:spcAft>
                <a:spcPts val="500"/>
              </a:spcAft>
              <a:buNone/>
            </a:pPr>
            <a:r>
              <a:rPr lang="zh-CN" sz="2200" b="1">
                <a:solidFill>
                  <a:srgbClr val="062D50"/>
                </a:solidFill>
                <a:latin typeface="Microsoft YaHei"/>
                <a:ea typeface="Microsoft YaHei"/>
                <a:cs typeface="Microsoft YaHei"/>
              </a:rPr>
              <a:t>在目标分布中获得更高权重。</a:t>
            </a:r>
          </a:p>
        </p:txBody>
      </p:sp>
      <mc:AlternateContent xmlns:mc="http://schemas.openxmlformats.org/markup-compatibility/2006" xmlns:a14="http://schemas.microsoft.com/office/drawing/2010/main">
        <mc:Choice Requires="a14">
          <p:sp>
            <p:nvSpPr>
              <p:cNvPr id="4" name="文本框 1">
                <a:extLst>
                  <a:ext uri="{FF2B5EF4-FFF2-40B4-BE49-F238E27FC236}">
                    <a16:creationId xmlns:a16="http://schemas.microsoft.com/office/drawing/2014/main" id="{22D993C5-4938-9A0E-AF1E-0630F0E51BFD}"/>
                  </a:ext>
                </a:extLst>
              </p:cNvPr>
              <p:cNvSpPr txBox="1"/>
              <p:nvPr/>
            </p:nvSpPr>
            <p:spPr>
              <a:xfrm>
                <a:off x="694944" y="3044952"/>
                <a:ext cx="4526280" cy="1078992"/>
              </a:xfrm>
              <a:prstGeom prst="rect">
                <a:avLst/>
              </a:prstGeom>
              <a:noFill/>
            </p:spPr>
            <p:txBody>
              <a:bodyPr wrap="square" rtlCol="0">
                <a:noAutofit/>
              </a:bodyPr>
              <a:lstStyle/>
              <a:p>
                <a:pPr algn="ctr" fontAlgn="auto">
                  <a:lnSpc>
                    <a:spcPct val="150000"/>
                  </a:lnSpc>
                </a:pPr>
                <a14:m>
                  <m:oMathPara xmlns:m="http://schemas.openxmlformats.org/officeDocument/2006/math">
                    <m:oMath>
                      <m:func>
                        <m:funcPr>
                          <m:ctrlPr>
                            <a:rPr lang="en-US" altLang="zh-TW" sz="2000" b="0" i="0" dirty="0" err="1" smtClean="0">
                              <a:latin typeface="Cambria Math" panose="02040503050406030204" pitchFamily="18" charset="0"/>
                              <a:ea typeface="Microsoft YaHei" panose="020B0503020204020204" pitchFamily="34" charset="-122"/>
                            </a:rPr>
                          </m:ctrlPr>
                        </m:funcPr>
                        <m:fName>
                          <m:r>
                            <m:rPr>
                              <m:sty m:val="p"/>
                            </m:rPr>
                            <a:rPr lang="en-US" altLang="zh-TW" sz="2000" b="0" i="0" dirty="0" err="1" smtClean="0">
                              <a:latin typeface="Cambria Math" panose="02040503050406030204" pitchFamily="18" charset="0"/>
                              <a:ea typeface="Microsoft YaHei" panose="020B0503020204020204" pitchFamily="34" charset="-122"/>
                            </a:rPr>
                            <m:t>arg</m:t>
                          </m:r>
                        </m:fName>
                        <m:e>
                          <m:func>
                            <m:funcPr>
                              <m:ctrlPr>
                                <a:rPr lang="en-US" altLang="zh-TW" sz="2000" b="0" i="1" dirty="0" smtClean="0">
                                  <a:latin typeface="Cambria Math" panose="02040503050406030204" pitchFamily="18" charset="0"/>
                                  <a:ea typeface="Microsoft YaHei" panose="020B0503020204020204" pitchFamily="34" charset="-122"/>
                                </a:rPr>
                              </m:ctrlPr>
                            </m:funcPr>
                            <m:fName>
                              <m:limLow>
                                <m:limLowPr>
                                  <m:ctrlPr>
                                    <a:rPr lang="en-US" altLang="zh-TW" sz="2000" b="0" i="0" dirty="0" smtClean="0">
                                      <a:latin typeface="Cambria Math" panose="02040503050406030204" pitchFamily="18" charset="0"/>
                                      <a:ea typeface="Microsoft YaHei" panose="020B0503020204020204" pitchFamily="34" charset="-122"/>
                                    </a:rPr>
                                  </m:ctrlPr>
                                </m:limLowPr>
                                <m:e>
                                  <m:r>
                                    <m:rPr>
                                      <m:sty m:val="p"/>
                                    </m:rPr>
                                    <a:rPr lang="en-US" altLang="zh-TW" sz="2000" b="0" i="0" dirty="0" smtClean="0">
                                      <a:latin typeface="Cambria Math" panose="02040503050406030204" pitchFamily="18" charset="0"/>
                                      <a:ea typeface="Microsoft YaHei" panose="020B0503020204020204" pitchFamily="34" charset="-122"/>
                                    </a:rPr>
                                    <m:t>min</m:t>
                                  </m:r>
                                </m:e>
                                <m:lim>
                                  <m:r>
                                    <a:rPr lang="en-US" altLang="zh-TW" sz="2000" b="1" i="1" dirty="0" smtClean="0">
                                      <a:latin typeface="Cambria Math" panose="02040503050406030204" pitchFamily="18" charset="0"/>
                                      <a:ea typeface="Microsoft YaHei" panose="020B0503020204020204" pitchFamily="34" charset="-122"/>
                                    </a:rPr>
                                    <m:t>𝜽</m:t>
                                  </m:r>
                                </m:lim>
                              </m:limLow>
                            </m:fName>
                            <m:e>
                              <m:sSub>
                                <m:sSubPr>
                                  <m:ctrlPr>
                                    <a:rPr lang="en-US" altLang="zh-TW" sz="2000" b="1" i="1" dirty="0" smtClean="0">
                                      <a:latin typeface="Cambria Math" panose="02040503050406030204" pitchFamily="18" charset="0"/>
                                      <a:ea typeface="Microsoft YaHei" panose="020B0503020204020204" pitchFamily="34" charset="-122"/>
                                    </a:rPr>
                                  </m:ctrlPr>
                                </m:sSubPr>
                                <m:e>
                                  <m:r>
                                    <a:rPr lang="en-US" altLang="zh-TW" sz="2000" b="1" i="1" dirty="0" smtClean="0">
                                      <a:latin typeface="Cambria Math" panose="02040503050406030204" pitchFamily="18" charset="0"/>
                                      <a:ea typeface="Microsoft YaHei" panose="020B0503020204020204" pitchFamily="34" charset="-122"/>
                                    </a:rPr>
                                    <m:t>𝑬</m:t>
                                  </m:r>
                                </m:e>
                                <m:sub>
                                  <m:r>
                                    <a:rPr lang="en-US" altLang="zh-TW" sz="2000" b="1" i="1" dirty="0" smtClean="0">
                                      <a:latin typeface="Cambria Math" panose="02040503050406030204" pitchFamily="18" charset="0"/>
                                      <a:ea typeface="Microsoft YaHei" panose="020B0503020204020204" pitchFamily="34" charset="-122"/>
                                    </a:rPr>
                                    <m:t>𝒙</m:t>
                                  </m:r>
                                  <m:r>
                                    <a:rPr lang="en-US" altLang="zh-TW" sz="2000" b="1" i="1" dirty="0" smtClean="0">
                                      <a:latin typeface="Cambria Math" panose="02040503050406030204" pitchFamily="18" charset="0"/>
                                      <a:ea typeface="Microsoft YaHei" panose="020B0503020204020204" pitchFamily="34" charset="-122"/>
                                    </a:rPr>
                                    <m:t>∼</m:t>
                                  </m:r>
                                  <m:sSub>
                                    <m:sSubPr>
                                      <m:ctrlPr>
                                        <a:rPr lang="en-US" altLang="zh-TW" sz="2000" b="1" i="1" dirty="0" smtClean="0">
                                          <a:latin typeface="Cambria Math" panose="02040503050406030204" pitchFamily="18" charset="0"/>
                                          <a:ea typeface="Microsoft YaHei" panose="020B0503020204020204" pitchFamily="34" charset="-122"/>
                                        </a:rPr>
                                      </m:ctrlPr>
                                    </m:sSubPr>
                                    <m:e>
                                      <m:r>
                                        <a:rPr lang="en-US" altLang="zh-TW" sz="2000" b="1" i="1" dirty="0" smtClean="0">
                                          <a:latin typeface="Cambria Math" panose="02040503050406030204" pitchFamily="18" charset="0"/>
                                          <a:ea typeface="Microsoft YaHei" panose="020B0503020204020204" pitchFamily="34" charset="-122"/>
                                        </a:rPr>
                                        <m:t>𝒑</m:t>
                                      </m:r>
                                    </m:e>
                                    <m:sub>
                                      <m:r>
                                        <a:rPr lang="en-US" altLang="zh-TW" sz="2000" b="1" i="1" dirty="0" smtClean="0">
                                          <a:latin typeface="Cambria Math" panose="02040503050406030204" pitchFamily="18" charset="0"/>
                                          <a:ea typeface="Microsoft YaHei" panose="020B0503020204020204" pitchFamily="34" charset="-122"/>
                                        </a:rPr>
                                        <m:t>𝜽</m:t>
                                      </m:r>
                                    </m:sub>
                                  </m:sSub>
                                </m:sub>
                              </m:sSub>
                            </m:e>
                          </m:func>
                        </m:e>
                      </m:func>
                      <m:d>
                        <m:dPr>
                          <m:begChr m:val="["/>
                          <m:endChr m:val="]"/>
                          <m:ctrlPr>
                            <a:rPr lang="en-US" altLang="zh-TW" sz="2000" b="1" i="1" dirty="0" smtClean="0">
                              <a:latin typeface="Cambria Math" panose="02040503050406030204" pitchFamily="18" charset="0"/>
                              <a:ea typeface="Microsoft YaHei" panose="020B0503020204020204" pitchFamily="34" charset="-122"/>
                            </a:rPr>
                          </m:ctrlPr>
                        </m:dPr>
                        <m:e>
                          <m:r>
                            <a:rPr lang="en-US" altLang="zh-TW" sz="2000" b="1" i="1" dirty="0" smtClean="0">
                              <a:latin typeface="Cambria Math" panose="02040503050406030204" pitchFamily="18" charset="0"/>
                              <a:ea typeface="Microsoft YaHei" panose="020B0503020204020204" pitchFamily="34" charset="-122"/>
                            </a:rPr>
                            <m:t>𝑬</m:t>
                          </m:r>
                          <m:d>
                            <m:dPr>
                              <m:ctrlPr>
                                <a:rPr lang="en-US" altLang="zh-TW" sz="2000" b="1" i="1" dirty="0" smtClean="0">
                                  <a:latin typeface="Cambria Math" panose="02040503050406030204" pitchFamily="18" charset="0"/>
                                  <a:ea typeface="Microsoft YaHei" panose="020B0503020204020204" pitchFamily="34" charset="-122"/>
                                </a:rPr>
                              </m:ctrlPr>
                            </m:dPr>
                            <m:e>
                              <m:r>
                                <a:rPr lang="en-US" altLang="zh-TW" sz="2000" b="1" i="1" dirty="0" smtClean="0">
                                  <a:latin typeface="Cambria Math" panose="02040503050406030204" pitchFamily="18" charset="0"/>
                                  <a:ea typeface="Microsoft YaHei" panose="020B0503020204020204" pitchFamily="34" charset="-122"/>
                                </a:rPr>
                                <m:t>𝒙</m:t>
                              </m:r>
                            </m:e>
                          </m:d>
                          <m:r>
                            <a:rPr lang="en-US" altLang="zh-TW" sz="2000" b="1" i="1" dirty="0" smtClean="0">
                              <a:latin typeface="Cambria Math" panose="02040503050406030204" pitchFamily="18" charset="0"/>
                              <a:ea typeface="Microsoft YaHei" panose="020B0503020204020204" pitchFamily="34" charset="-122"/>
                            </a:rPr>
                            <m:t>+</m:t>
                          </m:r>
                          <m:f>
                            <m:fPr>
                              <m:ctrlPr>
                                <a:rPr lang="en-US" altLang="zh-TW" sz="2000" b="1" i="1" dirty="0" smtClean="0">
                                  <a:latin typeface="Cambria Math" panose="02040503050406030204" pitchFamily="18" charset="0"/>
                                  <a:ea typeface="Microsoft YaHei" panose="020B0503020204020204" pitchFamily="34" charset="-122"/>
                                </a:rPr>
                              </m:ctrlPr>
                            </m:fPr>
                            <m:num>
                              <m:r>
                                <a:rPr lang="en-US" altLang="zh-TW" sz="2000" b="1" i="1" dirty="0" smtClean="0">
                                  <a:latin typeface="Cambria Math" panose="02040503050406030204" pitchFamily="18" charset="0"/>
                                  <a:ea typeface="Microsoft YaHei" panose="020B0503020204020204" pitchFamily="34" charset="-122"/>
                                </a:rPr>
                                <m:t>1</m:t>
                              </m:r>
                            </m:num>
                            <m:den>
                              <m:r>
                                <a:rPr lang="el-GR" altLang="zh-TW" sz="2000" b="1" i="1" dirty="0">
                                  <a:latin typeface="Cambria Math" panose="02040503050406030204" pitchFamily="18" charset="0"/>
                                  <a:ea typeface="Microsoft YaHei" panose="020B0503020204020204" pitchFamily="34" charset="-122"/>
                                </a:rPr>
                                <m:t>𝜷</m:t>
                              </m:r>
                            </m:den>
                          </m:f>
                          <m:func>
                            <m:funcPr>
                              <m:ctrlPr>
                                <a:rPr lang="en-US" altLang="zh-TW" sz="2000" b="0" i="0" dirty="0" smtClean="0">
                                  <a:latin typeface="Cambria Math" panose="02040503050406030204" pitchFamily="18" charset="0"/>
                                  <a:ea typeface="Microsoft YaHei" panose="020B0503020204020204" pitchFamily="34" charset="-122"/>
                                </a:rPr>
                              </m:ctrlPr>
                            </m:funcPr>
                            <m:fName>
                              <m:r>
                                <m:rPr>
                                  <m:sty m:val="p"/>
                                </m:rPr>
                                <a:rPr lang="en-US" altLang="zh-TW" sz="2000" b="0" i="0" dirty="0" smtClean="0">
                                  <a:latin typeface="Cambria Math" panose="02040503050406030204" pitchFamily="18" charset="0"/>
                                  <a:ea typeface="Microsoft YaHei" panose="020B0503020204020204" pitchFamily="34" charset="-122"/>
                                </a:rPr>
                                <m:t>log</m:t>
                              </m:r>
                            </m:fName>
                            <m:e>
                              <m:sSub>
                                <m:sSubPr>
                                  <m:ctrlPr>
                                    <a:rPr lang="en-US" altLang="zh-TW" sz="2000" b="1" i="1" dirty="0" smtClean="0">
                                      <a:latin typeface="Cambria Math" panose="02040503050406030204" pitchFamily="18" charset="0"/>
                                      <a:ea typeface="Microsoft YaHei" panose="020B0503020204020204" pitchFamily="34" charset="-122"/>
                                    </a:rPr>
                                  </m:ctrlPr>
                                </m:sSubPr>
                                <m:e>
                                  <m:r>
                                    <a:rPr lang="en-US" altLang="zh-TW" sz="2000" b="1" i="1" dirty="0" smtClean="0">
                                      <a:latin typeface="Cambria Math" panose="02040503050406030204" pitchFamily="18" charset="0"/>
                                      <a:ea typeface="Microsoft YaHei" panose="020B0503020204020204" pitchFamily="34" charset="-122"/>
                                    </a:rPr>
                                    <m:t>𝒑</m:t>
                                  </m:r>
                                </m:e>
                                <m:sub>
                                  <m:r>
                                    <a:rPr lang="en-US" altLang="zh-TW" sz="2000" b="1" i="1" dirty="0" smtClean="0">
                                      <a:latin typeface="Cambria Math" panose="02040503050406030204" pitchFamily="18" charset="0"/>
                                      <a:ea typeface="Microsoft YaHei" panose="020B0503020204020204" pitchFamily="34" charset="-122"/>
                                    </a:rPr>
                                    <m:t>𝜽</m:t>
                                  </m:r>
                                </m:sub>
                              </m:sSub>
                            </m:e>
                          </m:func>
                          <m:d>
                            <m:dPr>
                              <m:ctrlPr>
                                <a:rPr lang="en-US" altLang="zh-TW" sz="2000" b="1" i="1" dirty="0" smtClean="0">
                                  <a:latin typeface="Cambria Math" panose="02040503050406030204" pitchFamily="18" charset="0"/>
                                  <a:ea typeface="Microsoft YaHei" panose="020B0503020204020204" pitchFamily="34" charset="-122"/>
                                </a:rPr>
                              </m:ctrlPr>
                            </m:dPr>
                            <m:e>
                              <m:r>
                                <a:rPr lang="en-US" altLang="zh-TW" sz="2000" b="1" i="1" dirty="0" smtClean="0">
                                  <a:latin typeface="Cambria Math" panose="02040503050406030204" pitchFamily="18" charset="0"/>
                                  <a:ea typeface="Microsoft YaHei" panose="020B0503020204020204" pitchFamily="34" charset="-122"/>
                                </a:rPr>
                                <m:t>𝒙</m:t>
                              </m:r>
                            </m:e>
                          </m:d>
                        </m:e>
                      </m:d>
                    </m:oMath>
                  </m:oMathPara>
                </a14:m>
                <a:endParaRPr/>
              </a:p>
            </p:txBody>
          </p:sp>
        </mc:Choice>
        <mc:Fallback xmlns="">
          <p:sp>
            <p:nvSpPr>
              <p:cNvPr id="4" name="文本框 1">
                <a:extLst>
                  <a:ext uri="{FF2B5EF4-FFF2-40B4-BE49-F238E27FC236}">
                    <a16:creationId xmlns:a16="http://schemas.microsoft.com/office/drawing/2014/main" id="{22D993C5-4938-9A0E-AF1E-0630F0E51BFD}"/>
                  </a:ext>
                </a:extLst>
              </p:cNvPr>
              <p:cNvSpPr txBox="1">
                <a:spLocks noRot="1" noChangeAspect="1" noMove="1" noResize="1" noEditPoints="1" noAdjustHandles="1" noChangeArrowheads="1" noChangeShapeType="1" noTextEdit="1"/>
              </p:cNvSpPr>
              <p:nvPr/>
            </p:nvSpPr>
            <p:spPr>
              <a:xfrm>
                <a:off x="694944" y="3044952"/>
                <a:ext cx="4526280" cy="1078992"/>
              </a:xfrm>
              <a:prstGeom prst="rect">
                <a:avLst/>
              </a:prstGeom>
              <a:blipFill>
                <a:blip r:embed="rId3"/>
                <a:stretch>
                  <a:fillRect/>
                </a:stretch>
              </a:blipFill>
            </p:spPr>
            <p:txBody>
              <a:bodyPr/>
              <a:lstStyle/>
              <a:p>
                <a:r>
                  <a:rPr lang="zh-HK" altLang="en-US">
                    <a:noFill/>
                  </a:rPr>
                  <a:t> </a:t>
                </a:r>
              </a:p>
            </p:txBody>
          </p:sp>
        </mc:Fallback>
      </mc:AlternateContent>
      <p:sp>
        <p:nvSpPr>
          <p:cNvPr id="10" name="TextBox 9"/>
          <p:cNvSpPr txBox="1"/>
          <p:nvPr/>
        </p:nvSpPr>
        <p:spPr>
          <a:xfrm>
            <a:off x="713232" y="4434840"/>
            <a:ext cx="4425696" cy="4206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700" b="0">
                <a:solidFill>
                  <a:srgbClr val="647483"/>
                </a:solidFill>
                <a:latin typeface="Microsoft YaHei"/>
                <a:ea typeface="Microsoft YaHei"/>
                <a:cs typeface="Microsoft YaHei"/>
              </a:rPr>
              <a:t>原稿公式：优化的是生成器参数 θ。</a:t>
            </a:r>
          </a:p>
        </p:txBody>
      </p:sp>
      <p:sp>
        <p:nvSpPr>
          <p:cNvPr id="11" name="Rectangle 10"/>
          <p:cNvSpPr/>
          <p:nvPr/>
        </p:nvSpPr>
        <p:spPr>
          <a:xfrm>
            <a:off x="5678424" y="1691640"/>
            <a:ext cx="5998464" cy="154533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678424" y="1691640"/>
            <a:ext cx="5998464"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33872" y="1801368"/>
            <a:ext cx="5687568"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① 降低期望能量 E(x)</a:t>
            </a:r>
          </a:p>
        </p:txBody>
      </p:sp>
      <p:sp>
        <p:nvSpPr>
          <p:cNvPr id="14" name="TextBox 13"/>
          <p:cNvSpPr txBox="1"/>
          <p:nvPr/>
        </p:nvSpPr>
        <p:spPr>
          <a:xfrm>
            <a:off x="5861304" y="2404872"/>
            <a:ext cx="5632703" cy="685800"/>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鼓励触发目标图像，同时减少相近提示词。</a:t>
            </a:r>
          </a:p>
        </p:txBody>
      </p:sp>
      <p:sp>
        <p:nvSpPr>
          <p:cNvPr id="15" name="Rectangle 14"/>
          <p:cNvSpPr/>
          <p:nvPr/>
        </p:nvSpPr>
        <p:spPr>
          <a:xfrm>
            <a:off x="5678424" y="3602736"/>
            <a:ext cx="5998464" cy="154533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78424" y="3602736"/>
            <a:ext cx="5998464"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33872" y="3712463"/>
            <a:ext cx="5687568"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② 加上熵正则</a:t>
            </a:r>
          </a:p>
        </p:txBody>
      </p:sp>
      <p:sp>
        <p:nvSpPr>
          <p:cNvPr id="18" name="TextBox 17"/>
          <p:cNvSpPr txBox="1"/>
          <p:nvPr/>
        </p:nvSpPr>
        <p:spPr>
          <a:xfrm>
            <a:off x="5861304" y="4315968"/>
            <a:ext cx="5632703" cy="685800"/>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避免生成概率集中到少数几条提示词。</a:t>
            </a:r>
          </a:p>
        </p:txBody>
      </p:sp>
      <p:sp>
        <p:nvSpPr>
          <p:cNvPr id="19" name="Rectangle 18"/>
          <p:cNvSpPr/>
          <p:nvPr/>
        </p:nvSpPr>
        <p:spPr>
          <a:xfrm>
            <a:off x="502920" y="5504688"/>
            <a:ext cx="11173968" cy="48463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7512" y="5596127"/>
            <a:ext cx="10844784"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能量决定偏向哪些候选；熵正则帮助保留不同选择。</a:t>
            </a:r>
          </a:p>
        </p:txBody>
      </p:sp>
      <p:sp>
        <p:nvSpPr>
          <p:cNvPr id="21" name="TextBox 20"/>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a:solidFill>
                  <a:srgbClr val="647483"/>
                </a:solidFill>
                <a:latin typeface="Microsoft YaHei"/>
                <a:ea typeface="Microsoft YaHei"/>
                <a:cs typeface="Microsoft YaHei"/>
              </a:rPr>
              <a:t>来源：论文 §4.1，Eq. (2)。</a:t>
            </a:r>
          </a:p>
        </p:txBody>
      </p:sp>
      <p:pic>
        <p:nvPicPr>
          <p:cNvPr id="22" name="圖片 21">
            <a:extLst>
              <a:ext uri="{FF2B5EF4-FFF2-40B4-BE49-F238E27FC236}">
                <a16:creationId xmlns:a16="http://schemas.microsoft.com/office/drawing/2014/main" id="{589C7492-B299-B079-51D0-ED8ECAB06C01}"/>
              </a:ext>
            </a:extLst>
          </p:cNvPr>
          <p:cNvPicPr>
            <a:picLocks noChangeAspect="1"/>
          </p:cNvPicPr>
          <p:nvPr/>
        </p:nvPicPr>
        <p:blipFill>
          <a:blip r:embed="rId4"/>
          <a:stretch>
            <a:fillRect/>
          </a:stretch>
        </p:blipFill>
        <p:spPr>
          <a:xfrm>
            <a:off x="10805532" y="2219936"/>
            <a:ext cx="871355" cy="1044472"/>
          </a:xfrm>
          <a:prstGeom prst="rect">
            <a:avLst/>
          </a:prstGeom>
        </p:spPr>
      </p:pic>
      <p:pic>
        <p:nvPicPr>
          <p:cNvPr id="24" name="圖片 23">
            <a:extLst>
              <a:ext uri="{FF2B5EF4-FFF2-40B4-BE49-F238E27FC236}">
                <a16:creationId xmlns:a16="http://schemas.microsoft.com/office/drawing/2014/main" id="{0D1E368C-9261-DDB3-A150-0B378DAB60AF}"/>
              </a:ext>
            </a:extLst>
          </p:cNvPr>
          <p:cNvPicPr>
            <a:picLocks noChangeAspect="1"/>
          </p:cNvPicPr>
          <p:nvPr/>
        </p:nvPicPr>
        <p:blipFill>
          <a:blip r:embed="rId5"/>
          <a:stretch>
            <a:fillRect/>
          </a:stretch>
        </p:blipFill>
        <p:spPr>
          <a:xfrm>
            <a:off x="10336637" y="4123944"/>
            <a:ext cx="1340249" cy="1042416"/>
          </a:xfrm>
          <a:prstGeom prst="rect">
            <a:avLst/>
          </a:prstGeom>
        </p:spPr>
      </p:pic>
    </p:spTree>
    <p:extLst>
      <p:ext uri="{BB962C8B-B14F-4D97-AF65-F5344CB8AC3E}">
        <p14:creationId xmlns:p14="http://schemas.microsoft.com/office/powerpoint/2010/main" val="951969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0F0B9-7053-7022-A4DA-13F3BBD6BE2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434D339-2149-123C-A228-F31138A71985}"/>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本文方法 —— 评分看两件事：是否触发目标、是否重复</a:t>
            </a:r>
            <a:endParaRPr lang="zh-CN" altLang="en-US" dirty="0"/>
          </a:p>
        </p:txBody>
      </p:sp>
      <p:sp>
        <p:nvSpPr>
          <p:cNvPr id="4" name="Rectangle 3"/>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60704"/>
            <a:ext cx="5440680" cy="3300984"/>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060704"/>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170431"/>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图像匹配：Ealign</a:t>
            </a:r>
          </a:p>
        </p:txBody>
      </p:sp>
      <p:sp>
        <p:nvSpPr>
          <p:cNvPr id="8" name="TextBox 7"/>
          <p:cNvSpPr txBox="1"/>
          <p:nvPr/>
        </p:nvSpPr>
        <p:spPr>
          <a:xfrm>
            <a:off x="685800" y="1773936"/>
            <a:ext cx="5074920" cy="2441448"/>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先把提示词交给图像系统。</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BLIP-2 比较输出图像与目标概念。</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图像越符合目标，能量越低。</a:t>
            </a:r>
          </a:p>
        </p:txBody>
      </p:sp>
      <p:sp>
        <p:nvSpPr>
          <p:cNvPr id="9" name="Rectangle 8"/>
          <p:cNvSpPr/>
          <p:nvPr/>
        </p:nvSpPr>
        <p:spPr>
          <a:xfrm>
            <a:off x="6236208" y="1060704"/>
            <a:ext cx="5440680" cy="3300984"/>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36208" y="1060704"/>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91656" y="1170431"/>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提示词多样性：Ediv</a:t>
            </a:r>
          </a:p>
        </p:txBody>
      </p:sp>
      <p:sp>
        <p:nvSpPr>
          <p:cNvPr id="12" name="TextBox 11"/>
          <p:cNvSpPr txBox="1"/>
          <p:nvPr/>
        </p:nvSpPr>
        <p:spPr>
          <a:xfrm>
            <a:off x="6419088" y="1773936"/>
            <a:ext cx="5074920" cy="2441448"/>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比较同一批提示词的语义向量。</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两两余弦相似度越高，重复惩罚越大。</a:t>
            </a:r>
          </a:p>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换几个词，不一定得到新内容。</a:t>
            </a:r>
          </a:p>
        </p:txBody>
      </p:sp>
      <p:sp>
        <p:nvSpPr>
          <p:cNvPr id="13" name="TextBox 12"/>
          <p:cNvSpPr txBox="1"/>
          <p:nvPr/>
        </p:nvSpPr>
        <p:spPr>
          <a:xfrm>
            <a:off x="713232" y="4562856"/>
            <a:ext cx="4983480" cy="5760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教学例子：输出是否真的包含狗？</a:t>
            </a:r>
          </a:p>
        </p:txBody>
      </p:sp>
      <p:sp>
        <p:nvSpPr>
          <p:cNvPr id="14" name="TextBox 13"/>
          <p:cNvSpPr txBox="1"/>
          <p:nvPr/>
        </p:nvSpPr>
        <p:spPr>
          <a:xfrm>
            <a:off x="6446520" y="4553712"/>
            <a:ext cx="5029200" cy="813816"/>
          </a:xfrm>
          <a:prstGeom prst="rect">
            <a:avLst/>
          </a:prstGeom>
          <a:noFill/>
        </p:spPr>
        <p:txBody>
          <a:bodyPr wrap="square" lIns="0" tIns="0" rIns="0" bIns="0" anchor="t">
            <a:noAutofit/>
          </a:bodyPr>
          <a:lstStyle/>
          <a:p>
            <a:pPr marL="0" indent="0" algn="l">
              <a:lnSpc>
                <a:spcPct val="112000"/>
              </a:lnSpc>
              <a:spcBef>
                <a:spcPts val="0"/>
              </a:spcBef>
              <a:spcAft>
                <a:spcPts val="500"/>
              </a:spcAft>
              <a:buNone/>
            </a:pPr>
            <a:r>
              <a:rPr lang="zh-CN" sz="1900" b="1">
                <a:solidFill>
                  <a:srgbClr val="062D50"/>
                </a:solidFill>
                <a:latin typeface="Microsoft YaHei"/>
                <a:ea typeface="Microsoft YaHei"/>
                <a:cs typeface="Microsoft YaHei"/>
              </a:rPr>
              <a:t>“长椅上的狗”与“长椅上的小狗”</a:t>
            </a:r>
          </a:p>
          <a:p>
            <a:pPr marL="0" indent="0" algn="l">
              <a:lnSpc>
                <a:spcPct val="112000"/>
              </a:lnSpc>
              <a:spcBef>
                <a:spcPts val="0"/>
              </a:spcBef>
              <a:spcAft>
                <a:spcPts val="500"/>
              </a:spcAft>
              <a:buNone/>
            </a:pPr>
            <a:r>
              <a:rPr lang="zh-CN" sz="1900" b="1">
                <a:solidFill>
                  <a:srgbClr val="062D50"/>
                </a:solidFill>
                <a:latin typeface="Microsoft YaHei"/>
                <a:ea typeface="Microsoft YaHei"/>
                <a:cs typeface="Microsoft YaHei"/>
              </a:rPr>
              <a:t>可能仍是高度相似的测试。</a:t>
            </a:r>
          </a:p>
        </p:txBody>
      </p:sp>
      <p:sp>
        <p:nvSpPr>
          <p:cNvPr id="15" name="Rectangle 14"/>
          <p:cNvSpPr/>
          <p:nvPr/>
        </p:nvSpPr>
        <p:spPr>
          <a:xfrm>
            <a:off x="502920" y="5513832"/>
            <a:ext cx="11173968" cy="49377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 y="5605272"/>
            <a:ext cx="10844784" cy="37490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E(x) = Ealign(x) + λ · Ediv(x)     λ 控制对重复的惩罚强度。</a:t>
            </a:r>
          </a:p>
        </p:txBody>
      </p:sp>
      <p:sp>
        <p:nvSpPr>
          <p:cNvPr id="17" name="TextBox 16"/>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a:solidFill>
                  <a:srgbClr val="647483"/>
                </a:solidFill>
                <a:latin typeface="Microsoft YaHei"/>
                <a:ea typeface="Microsoft YaHei"/>
                <a:cs typeface="Microsoft YaHei"/>
              </a:rPr>
              <a:t>来源：论文 §4.2，Eq. (3)–(5)。</a:t>
            </a:r>
          </a:p>
        </p:txBody>
      </p:sp>
    </p:spTree>
    <p:extLst>
      <p:ext uri="{BB962C8B-B14F-4D97-AF65-F5344CB8AC3E}">
        <p14:creationId xmlns:p14="http://schemas.microsoft.com/office/powerpoint/2010/main" val="739245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137160"/>
            <a:ext cx="10881360" cy="475488"/>
          </a:xfr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本文方法 —— 算一遍：为什么重复案例要扣分？</a:t>
            </a:r>
          </a:p>
        </p:txBody>
      </p:sp>
      <p:sp>
        <p:nvSpPr>
          <p:cNvPr id="3" name="Rectangle 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914400"/>
            <a:ext cx="1719072" cy="274320"/>
          </a:xfrm>
          <a:prstGeom prst="rect">
            <a:avLst/>
          </a:prstGeom>
          <a:solidFill>
            <a:srgbClr val="FB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76072" y="964692"/>
            <a:ext cx="1572768" cy="20116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40" b="1">
                <a:solidFill>
                  <a:srgbClr val="AF4A3B"/>
                </a:solidFill>
                <a:latin typeface="Microsoft YaHei"/>
                <a:ea typeface="Microsoft YaHei"/>
                <a:cs typeface="Microsoft YaHei"/>
              </a:rPr>
              <a:t>教学数值 · 非实测</a:t>
            </a:r>
          </a:p>
        </p:txBody>
      </p:sp>
      <p:sp>
        <p:nvSpPr>
          <p:cNvPr id="6" name="TextBox 5"/>
          <p:cNvSpPr txBox="1"/>
          <p:nvPr/>
        </p:nvSpPr>
        <p:spPr>
          <a:xfrm>
            <a:off x="2414016" y="955547"/>
            <a:ext cx="9144000"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沿用“系统不应输出狗图”的规则，比较两组候选。</a:t>
            </a:r>
          </a:p>
        </p:txBody>
      </p:sp>
      <p:sp>
        <p:nvSpPr>
          <p:cNvPr id="7" name="Rectangle 6"/>
          <p:cNvSpPr/>
          <p:nvPr/>
        </p:nvSpPr>
        <p:spPr>
          <a:xfrm>
            <a:off x="502920" y="1600200"/>
            <a:ext cx="5440680" cy="162763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600200"/>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709928"/>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A组：两条内容很接近</a:t>
            </a:r>
          </a:p>
        </p:txBody>
      </p:sp>
      <p:sp>
        <p:nvSpPr>
          <p:cNvPr id="10" name="TextBox 9"/>
          <p:cNvSpPr txBox="1"/>
          <p:nvPr/>
        </p:nvSpPr>
        <p:spPr>
          <a:xfrm>
            <a:off x="685800" y="2313432"/>
            <a:ext cx="5074920" cy="76809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“一只狗坐在公园长椅上”</a:t>
            </a:r>
          </a:p>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“长椅上坐着一只小狗”</a:t>
            </a:r>
          </a:p>
        </p:txBody>
      </p:sp>
      <p:sp>
        <p:nvSpPr>
          <p:cNvPr id="11" name="Rectangle 10"/>
          <p:cNvSpPr/>
          <p:nvPr/>
        </p:nvSpPr>
        <p:spPr>
          <a:xfrm>
            <a:off x="6236208" y="1600200"/>
            <a:ext cx="5440680" cy="162763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36208" y="1600200"/>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91656" y="1709928"/>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B组：两条内容有差别</a:t>
            </a:r>
          </a:p>
        </p:txBody>
      </p:sp>
      <p:sp>
        <p:nvSpPr>
          <p:cNvPr id="14" name="TextBox 13"/>
          <p:cNvSpPr txBox="1"/>
          <p:nvPr/>
        </p:nvSpPr>
        <p:spPr>
          <a:xfrm>
            <a:off x="6419088" y="2313432"/>
            <a:ext cx="5074920" cy="76809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“一只狗坐在公园长椅上”</a:t>
            </a:r>
          </a:p>
          <a:p>
            <a:pPr marL="0" indent="0" algn="l">
              <a:lnSpc>
                <a:spcPct val="112000"/>
              </a:lnSpc>
              <a:spcBef>
                <a:spcPts val="0"/>
              </a:spcBef>
              <a:spcAft>
                <a:spcPts val="700"/>
              </a:spcAft>
              <a:buNone/>
            </a:pPr>
            <a:r>
              <a:rPr lang="zh-CN" sz="2000" b="0">
                <a:solidFill>
                  <a:srgbClr val="202A33"/>
                </a:solidFill>
                <a:latin typeface="Microsoft YaHei"/>
                <a:ea typeface="Microsoft YaHei"/>
                <a:cs typeface="Microsoft YaHei"/>
              </a:rPr>
              <a:t>“一只狗在雪地里奔跑”</a:t>
            </a:r>
          </a:p>
        </p:txBody>
      </p:sp>
      <p:graphicFrame>
        <p:nvGraphicFramePr>
          <p:cNvPr id="15" name="Table 14"/>
          <p:cNvGraphicFramePr>
            <a:graphicFrameLocks noGrp="1"/>
          </p:cNvGraphicFramePr>
          <p:nvPr/>
        </p:nvGraphicFramePr>
        <p:xfrm>
          <a:off x="502920" y="3520440"/>
          <a:ext cx="11173968" cy="1481328"/>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081528">
                  <a:extLst>
                    <a:ext uri="{9D8B030D-6E8A-4147-A177-3AD203B41FA5}">
                      <a16:colId xmlns:a16="http://schemas.microsoft.com/office/drawing/2014/main" val="20003"/>
                    </a:ext>
                  </a:extLst>
                </a:gridCol>
              </a:tblGrid>
              <a:tr h="493776">
                <a:tc>
                  <a:txBody>
                    <a:bodyPr/>
                    <a:lstStyle/>
                    <a:p>
                      <a:pPr algn="l">
                        <a:lnSpc>
                          <a:spcPct val="104000"/>
                        </a:lnSpc>
                        <a:spcAft>
                          <a:spcPts val="0"/>
                        </a:spcAft>
                      </a:pPr>
                      <a:r>
                        <a:rPr lang="zh-CN" sz="1800" b="1">
                          <a:solidFill>
                            <a:srgbClr val="FFFFFF"/>
                          </a:solidFill>
                          <a:latin typeface="Microsoft YaHei"/>
                          <a:ea typeface="Microsoft YaHei"/>
                          <a:cs typeface="Microsoft YaHei"/>
                        </a:rPr>
                        <a:t>候选组</a:t>
                      </a:r>
                    </a:p>
                  </a:txBody>
                  <a:tcPr marL="118872" marT="73152" marB="54864" anchor="ctr">
                    <a:solidFill>
                      <a:srgbClr val="062D50"/>
                    </a:solidFill>
                  </a:tcPr>
                </a:tc>
                <a:tc>
                  <a:txBody>
                    <a:bodyPr/>
                    <a:lstStyle/>
                    <a:p>
                      <a:pPr algn="ctr">
                        <a:lnSpc>
                          <a:spcPct val="104000"/>
                        </a:lnSpc>
                        <a:spcAft>
                          <a:spcPts val="0"/>
                        </a:spcAft>
                      </a:pPr>
                      <a:r>
                        <a:rPr lang="zh-CN" sz="1800" b="1">
                          <a:solidFill>
                            <a:srgbClr val="FFFFFF"/>
                          </a:solidFill>
                          <a:latin typeface="Microsoft YaHei"/>
                          <a:ea typeface="Microsoft YaHei"/>
                          <a:cs typeface="Microsoft YaHei"/>
                        </a:rPr>
                        <a:t>图像匹配分数 ↑</a:t>
                      </a:r>
                    </a:p>
                  </a:txBody>
                  <a:tcPr marL="118872" marT="73152" marB="54864" anchor="ctr">
                    <a:solidFill>
                      <a:srgbClr val="062D50"/>
                    </a:solidFill>
                  </a:tcPr>
                </a:tc>
                <a:tc>
                  <a:txBody>
                    <a:bodyPr/>
                    <a:lstStyle/>
                    <a:p>
                      <a:pPr algn="ctr">
                        <a:lnSpc>
                          <a:spcPct val="104000"/>
                        </a:lnSpc>
                        <a:spcAft>
                          <a:spcPts val="0"/>
                        </a:spcAft>
                      </a:pPr>
                      <a:r>
                        <a:rPr lang="zh-CN" sz="1800" b="1">
                          <a:solidFill>
                            <a:srgbClr val="FFFFFF"/>
                          </a:solidFill>
                          <a:latin typeface="Microsoft YaHei"/>
                          <a:ea typeface="Microsoft YaHei"/>
                          <a:cs typeface="Microsoft YaHei"/>
                        </a:rPr>
                        <a:t>提示词相似度 ↓</a:t>
                      </a:r>
                    </a:p>
                  </a:txBody>
                  <a:tcPr marL="118872" marT="73152" marB="54864" anchor="ctr">
                    <a:solidFill>
                      <a:srgbClr val="062D50"/>
                    </a:solidFill>
                  </a:tcPr>
                </a:tc>
                <a:tc>
                  <a:txBody>
                    <a:bodyPr/>
                    <a:lstStyle/>
                    <a:p>
                      <a:pPr algn="ctr">
                        <a:lnSpc>
                          <a:spcPct val="104000"/>
                        </a:lnSpc>
                        <a:spcAft>
                          <a:spcPts val="0"/>
                        </a:spcAft>
                      </a:pPr>
                      <a:r>
                        <a:rPr lang="zh-CN" sz="1800" b="1">
                          <a:solidFill>
                            <a:srgbClr val="FFFFFF"/>
                          </a:solidFill>
                          <a:latin typeface="Microsoft YaHei"/>
                          <a:ea typeface="Microsoft YaHei"/>
                          <a:cs typeface="Microsoft YaHei"/>
                        </a:rPr>
                        <a:t>能量 = −匹配 + 相似</a:t>
                      </a:r>
                    </a:p>
                  </a:txBody>
                  <a:tcPr marL="118872" marT="73152" marB="54864" anchor="ctr">
                    <a:solidFill>
                      <a:srgbClr val="062D50"/>
                    </a:solidFill>
                  </a:tcPr>
                </a:tc>
                <a:extLst>
                  <a:ext uri="{0D108BD9-81ED-4DB2-BD59-A6C34878D82A}">
                    <a16:rowId xmlns:a16="http://schemas.microsoft.com/office/drawing/2014/main" val="10000"/>
                  </a:ext>
                </a:extLst>
              </a:tr>
              <a:tr h="493776">
                <a:tc>
                  <a:txBody>
                    <a:bodyPr/>
                    <a:lstStyle/>
                    <a:p>
                      <a:pPr algn="l">
                        <a:lnSpc>
                          <a:spcPct val="104000"/>
                        </a:lnSpc>
                        <a:spcAft>
                          <a:spcPts val="0"/>
                        </a:spcAft>
                      </a:pPr>
                      <a:r>
                        <a:rPr lang="zh-CN" sz="1800" b="0">
                          <a:solidFill>
                            <a:srgbClr val="202A33"/>
                          </a:solidFill>
                          <a:latin typeface="Microsoft YaHei"/>
                          <a:ea typeface="Microsoft YaHei"/>
                          <a:cs typeface="Microsoft YaHei"/>
                        </a:rPr>
                        <a:t>A组</a:t>
                      </a:r>
                    </a:p>
                  </a:txBody>
                  <a:tcPr marL="118872" marT="73152" marB="54864" anchor="ctr">
                    <a:solidFill>
                      <a:srgbClr val="EEF5F9"/>
                    </a:solidFill>
                  </a:tcPr>
                </a:tc>
                <a:tc>
                  <a:txBody>
                    <a:bodyPr/>
                    <a:lstStyle/>
                    <a:p>
                      <a:pPr algn="ctr">
                        <a:lnSpc>
                          <a:spcPct val="104000"/>
                        </a:lnSpc>
                        <a:spcAft>
                          <a:spcPts val="0"/>
                        </a:spcAft>
                      </a:pPr>
                      <a:r>
                        <a:rPr lang="zh-CN" sz="1800" b="0">
                          <a:solidFill>
                            <a:srgbClr val="202A33"/>
                          </a:solidFill>
                          <a:latin typeface="Microsoft YaHei"/>
                          <a:ea typeface="Microsoft YaHei"/>
                          <a:cs typeface="Microsoft YaHei"/>
                        </a:rPr>
                        <a:t>0.90</a:t>
                      </a:r>
                    </a:p>
                  </a:txBody>
                  <a:tcPr marL="118872" marT="73152" marB="54864" anchor="ctr">
                    <a:solidFill>
                      <a:srgbClr val="EEF5F9"/>
                    </a:solidFill>
                  </a:tcPr>
                </a:tc>
                <a:tc>
                  <a:txBody>
                    <a:bodyPr/>
                    <a:lstStyle/>
                    <a:p>
                      <a:pPr algn="ctr">
                        <a:lnSpc>
                          <a:spcPct val="104000"/>
                        </a:lnSpc>
                        <a:spcAft>
                          <a:spcPts val="0"/>
                        </a:spcAft>
                      </a:pPr>
                      <a:r>
                        <a:rPr lang="zh-CN" sz="1800" b="0">
                          <a:solidFill>
                            <a:srgbClr val="202A33"/>
                          </a:solidFill>
                          <a:latin typeface="Microsoft YaHei"/>
                          <a:ea typeface="Microsoft YaHei"/>
                          <a:cs typeface="Microsoft YaHei"/>
                        </a:rPr>
                        <a:t>0.95</a:t>
                      </a:r>
                    </a:p>
                  </a:txBody>
                  <a:tcPr marL="118872" marT="73152" marB="54864" anchor="ctr">
                    <a:solidFill>
                      <a:srgbClr val="EEF5F9"/>
                    </a:solidFill>
                  </a:tcPr>
                </a:tc>
                <a:tc>
                  <a:txBody>
                    <a:bodyPr/>
                    <a:lstStyle/>
                    <a:p>
                      <a:pPr algn="ctr">
                        <a:lnSpc>
                          <a:spcPct val="104000"/>
                        </a:lnSpc>
                        <a:spcAft>
                          <a:spcPts val="0"/>
                        </a:spcAft>
                      </a:pPr>
                      <a:r>
                        <a:rPr lang="zh-CN" sz="1800" b="0">
                          <a:solidFill>
                            <a:srgbClr val="202A33"/>
                          </a:solidFill>
                          <a:latin typeface="Microsoft YaHei"/>
                          <a:ea typeface="Microsoft YaHei"/>
                          <a:cs typeface="Microsoft YaHei"/>
                        </a:rPr>
                        <a:t>+0.05</a:t>
                      </a:r>
                    </a:p>
                  </a:txBody>
                  <a:tcPr marL="118872" marT="73152" marB="54864" anchor="ctr">
                    <a:solidFill>
                      <a:srgbClr val="EEF5F9"/>
                    </a:solidFill>
                  </a:tcPr>
                </a:tc>
                <a:extLst>
                  <a:ext uri="{0D108BD9-81ED-4DB2-BD59-A6C34878D82A}">
                    <a16:rowId xmlns:a16="http://schemas.microsoft.com/office/drawing/2014/main" val="10001"/>
                  </a:ext>
                </a:extLst>
              </a:tr>
              <a:tr h="493776">
                <a:tc>
                  <a:txBody>
                    <a:bodyPr/>
                    <a:lstStyle/>
                    <a:p>
                      <a:pPr algn="l">
                        <a:lnSpc>
                          <a:spcPct val="104000"/>
                        </a:lnSpc>
                        <a:spcAft>
                          <a:spcPts val="0"/>
                        </a:spcAft>
                      </a:pPr>
                      <a:r>
                        <a:rPr lang="zh-CN" sz="1800" b="1">
                          <a:solidFill>
                            <a:srgbClr val="202A33"/>
                          </a:solidFill>
                          <a:latin typeface="Microsoft YaHei"/>
                          <a:ea typeface="Microsoft YaHei"/>
                          <a:cs typeface="Microsoft YaHei"/>
                        </a:rPr>
                        <a:t>B组</a:t>
                      </a:r>
                    </a:p>
                  </a:txBody>
                  <a:tcPr marL="118872" marT="73152" marB="54864" anchor="ctr">
                    <a:solidFill>
                      <a:srgbClr val="D1EBF5"/>
                    </a:solidFill>
                  </a:tcPr>
                </a:tc>
                <a:tc>
                  <a:txBody>
                    <a:bodyPr/>
                    <a:lstStyle/>
                    <a:p>
                      <a:pPr algn="ctr">
                        <a:lnSpc>
                          <a:spcPct val="104000"/>
                        </a:lnSpc>
                        <a:spcAft>
                          <a:spcPts val="0"/>
                        </a:spcAft>
                      </a:pPr>
                      <a:r>
                        <a:rPr lang="zh-CN" sz="1800" b="1">
                          <a:solidFill>
                            <a:srgbClr val="202A33"/>
                          </a:solidFill>
                          <a:latin typeface="Microsoft YaHei"/>
                          <a:ea typeface="Microsoft YaHei"/>
                          <a:cs typeface="Microsoft YaHei"/>
                        </a:rPr>
                        <a:t>0.84</a:t>
                      </a:r>
                    </a:p>
                  </a:txBody>
                  <a:tcPr marL="118872" marT="73152" marB="54864" anchor="ctr">
                    <a:solidFill>
                      <a:srgbClr val="D1EBF5"/>
                    </a:solidFill>
                  </a:tcPr>
                </a:tc>
                <a:tc>
                  <a:txBody>
                    <a:bodyPr/>
                    <a:lstStyle/>
                    <a:p>
                      <a:pPr algn="ctr">
                        <a:lnSpc>
                          <a:spcPct val="104000"/>
                        </a:lnSpc>
                        <a:spcAft>
                          <a:spcPts val="0"/>
                        </a:spcAft>
                      </a:pPr>
                      <a:r>
                        <a:rPr lang="zh-CN" sz="1800" b="1">
                          <a:solidFill>
                            <a:srgbClr val="202A33"/>
                          </a:solidFill>
                          <a:latin typeface="Microsoft YaHei"/>
                          <a:ea typeface="Microsoft YaHei"/>
                          <a:cs typeface="Microsoft YaHei"/>
                        </a:rPr>
                        <a:t>0.45</a:t>
                      </a:r>
                    </a:p>
                  </a:txBody>
                  <a:tcPr marL="118872" marT="73152" marB="54864" anchor="ctr">
                    <a:solidFill>
                      <a:srgbClr val="D1EBF5"/>
                    </a:solidFill>
                  </a:tcPr>
                </a:tc>
                <a:tc>
                  <a:txBody>
                    <a:bodyPr/>
                    <a:lstStyle/>
                    <a:p>
                      <a:pPr algn="ctr">
                        <a:lnSpc>
                          <a:spcPct val="104000"/>
                        </a:lnSpc>
                        <a:spcAft>
                          <a:spcPts val="0"/>
                        </a:spcAft>
                      </a:pPr>
                      <a:r>
                        <a:rPr lang="zh-CN" sz="1800" b="1">
                          <a:solidFill>
                            <a:srgbClr val="202A33"/>
                          </a:solidFill>
                          <a:latin typeface="Microsoft YaHei"/>
                          <a:ea typeface="Microsoft YaHei"/>
                          <a:cs typeface="Microsoft YaHei"/>
                        </a:rPr>
                        <a:t>−0.39</a:t>
                      </a:r>
                    </a:p>
                  </a:txBody>
                  <a:tcPr marL="118872" marT="73152" marB="54864" anchor="ctr">
                    <a:solidFill>
                      <a:srgbClr val="D1EBF5"/>
                    </a:solidFill>
                  </a:tcPr>
                </a:tc>
                <a:extLst>
                  <a:ext uri="{0D108BD9-81ED-4DB2-BD59-A6C34878D82A}">
                    <a16:rowId xmlns:a16="http://schemas.microsoft.com/office/drawing/2014/main" val="10002"/>
                  </a:ext>
                </a:extLst>
              </a:tr>
            </a:tbl>
          </a:graphicData>
        </a:graphic>
      </p:graphicFrame>
      <p:sp>
        <p:nvSpPr>
          <p:cNvPr id="16" name="TextBox 15"/>
          <p:cNvSpPr txBox="1"/>
          <p:nvPr/>
        </p:nvSpPr>
        <p:spPr>
          <a:xfrm>
            <a:off x="658368" y="5138928"/>
            <a:ext cx="10881360" cy="44805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00" b="0">
                <a:solidFill>
                  <a:srgbClr val="062D50"/>
                </a:solidFill>
                <a:latin typeface="Microsoft YaHei"/>
                <a:ea typeface="Microsoft YaHei"/>
                <a:cs typeface="Microsoft YaHei"/>
              </a:rPr>
              <a:t>设 λ = 1、两组熵项相同。B组的图像匹配稍低，但提示词的重复程度也更低。</a:t>
            </a:r>
          </a:p>
        </p:txBody>
      </p:sp>
      <p:sp>
        <p:nvSpPr>
          <p:cNvPr id="17" name="Rectangle 16"/>
          <p:cNvSpPr/>
          <p:nvPr/>
        </p:nvSpPr>
        <p:spPr>
          <a:xfrm>
            <a:off x="502920" y="5614416"/>
            <a:ext cx="11173968" cy="384048"/>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5673852"/>
            <a:ext cx="10844784" cy="26517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80" b="1" dirty="0">
                <a:solidFill>
                  <a:srgbClr val="062D50"/>
                </a:solidFill>
                <a:latin typeface="Microsoft YaHei"/>
                <a:ea typeface="Microsoft YaHei"/>
                <a:cs typeface="Microsoft YaHei"/>
              </a:rPr>
              <a:t>只追求成功率，可能不断得到同一种失败；多样性项改变了选择。</a:t>
            </a:r>
          </a:p>
        </p:txBody>
      </p:sp>
      <p:sp>
        <p:nvSpPr>
          <p:cNvPr id="19" name="TextBox 18"/>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a:solidFill>
                  <a:srgbClr val="647483"/>
                </a:solidFill>
                <a:latin typeface="Microsoft YaHei"/>
                <a:ea typeface="Microsoft YaHei"/>
                <a:cs typeface="Microsoft YaHei"/>
              </a:rPr>
              <a:t>教学演算：用负图像匹配分数表示 Ealign，按论文 Eq. (3)–(5) 简化；所有数值均为构造。</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DA615-9DC6-0282-67B3-C6BB8D727A9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02A7610-986D-D5F3-4D93-852EB33964E2}"/>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dirty="0">
                <a:solidFill>
                  <a:srgbClr val="FFFFFF"/>
                </a:solidFill>
                <a:latin typeface="Microsoft YaHei"/>
                <a:ea typeface="Microsoft YaHei"/>
                <a:cs typeface="Microsoft YaHei"/>
              </a:rPr>
              <a:t>本文方法 —— 为什么这里不用端到端反向传播？</a:t>
            </a:r>
            <a:endParaRPr lang="zh-CN" altLang="en-US" dirty="0"/>
          </a:p>
        </p:txBody>
      </p:sp>
      <p:sp>
        <p:nvSpPr>
          <p:cNvPr id="4" name="Rectangle 3"/>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若要从最终图像损失直接更新提示词生成器，梯度需要穿过整个生成与过滤过程。</a:t>
            </a:r>
          </a:p>
        </p:txBody>
      </p:sp>
      <p:sp>
        <p:nvSpPr>
          <p:cNvPr id="7" name="Rectangle 6"/>
          <p:cNvSpPr/>
          <p:nvPr/>
        </p:nvSpPr>
        <p:spPr>
          <a:xfrm>
            <a:off x="502920" y="1810512"/>
            <a:ext cx="2286000" cy="81381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2048256"/>
            <a:ext cx="2103120" cy="40233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000" b="1">
                <a:solidFill>
                  <a:srgbClr val="062D50"/>
                </a:solidFill>
                <a:latin typeface="Microsoft YaHei"/>
                <a:ea typeface="Microsoft YaHei"/>
                <a:cs typeface="Microsoft YaHei"/>
              </a:rPr>
              <a:t>逐词生成提示词</a:t>
            </a:r>
          </a:p>
        </p:txBody>
      </p:sp>
      <p:sp>
        <p:nvSpPr>
          <p:cNvPr id="9" name="Rectangle 8"/>
          <p:cNvSpPr/>
          <p:nvPr/>
        </p:nvSpPr>
        <p:spPr>
          <a:xfrm>
            <a:off x="3355848" y="1810512"/>
            <a:ext cx="2286000" cy="81381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47288" y="2048256"/>
            <a:ext cx="2103120" cy="40233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000" b="1">
                <a:solidFill>
                  <a:srgbClr val="062D50"/>
                </a:solidFill>
                <a:latin typeface="Microsoft YaHei"/>
                <a:ea typeface="Microsoft YaHei"/>
                <a:cs typeface="Microsoft YaHei"/>
              </a:rPr>
              <a:t>文本过滤</a:t>
            </a:r>
          </a:p>
        </p:txBody>
      </p:sp>
      <p:sp>
        <p:nvSpPr>
          <p:cNvPr id="11" name="Rectangle 10"/>
          <p:cNvSpPr/>
          <p:nvPr/>
        </p:nvSpPr>
        <p:spPr>
          <a:xfrm>
            <a:off x="6208776" y="1810512"/>
            <a:ext cx="2286000" cy="81381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0216" y="2048256"/>
            <a:ext cx="2103120" cy="40233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000" b="1">
                <a:solidFill>
                  <a:srgbClr val="062D50"/>
                </a:solidFill>
                <a:latin typeface="Microsoft YaHei"/>
                <a:ea typeface="Microsoft YaHei"/>
                <a:cs typeface="Microsoft YaHei"/>
              </a:rPr>
              <a:t>多步图像生成</a:t>
            </a:r>
          </a:p>
        </p:txBody>
      </p:sp>
      <p:sp>
        <p:nvSpPr>
          <p:cNvPr id="13" name="Rectangle 12"/>
          <p:cNvSpPr/>
          <p:nvPr/>
        </p:nvSpPr>
        <p:spPr>
          <a:xfrm>
            <a:off x="9061704" y="1810512"/>
            <a:ext cx="2615184" cy="81381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53144" y="2048256"/>
            <a:ext cx="2432303" cy="40233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000" b="1">
                <a:solidFill>
                  <a:srgbClr val="062D50"/>
                </a:solidFill>
                <a:latin typeface="Microsoft YaHei"/>
                <a:ea typeface="Microsoft YaHei"/>
                <a:cs typeface="Microsoft YaHei"/>
              </a:rPr>
              <a:t>图像过滤与评分</a:t>
            </a:r>
          </a:p>
        </p:txBody>
      </p:sp>
      <p:sp>
        <p:nvSpPr>
          <p:cNvPr id="15" name="Right Arrow 14"/>
          <p:cNvSpPr/>
          <p:nvPr/>
        </p:nvSpPr>
        <p:spPr>
          <a:xfrm>
            <a:off x="2953512" y="2112264"/>
            <a:ext cx="256032" cy="23774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ight Arrow 15"/>
          <p:cNvSpPr/>
          <p:nvPr/>
        </p:nvSpPr>
        <p:spPr>
          <a:xfrm>
            <a:off x="5806440" y="2112264"/>
            <a:ext cx="256032" cy="23774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ight Arrow 16"/>
          <p:cNvSpPr/>
          <p:nvPr/>
        </p:nvSpPr>
        <p:spPr>
          <a:xfrm>
            <a:off x="8659368" y="2112264"/>
            <a:ext cx="256032" cy="237744"/>
          </a:xfrm>
          <a:prstGeom prst="rightArrow">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145536"/>
            <a:ext cx="5440680" cy="179222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145536"/>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3255264"/>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问题一：有些步骤不可导</a:t>
            </a:r>
          </a:p>
        </p:txBody>
      </p:sp>
      <p:sp>
        <p:nvSpPr>
          <p:cNvPr id="21" name="TextBox 20"/>
          <p:cNvSpPr txBox="1"/>
          <p:nvPr/>
        </p:nvSpPr>
        <p:spPr>
          <a:xfrm>
            <a:off x="685800" y="3858768"/>
            <a:ext cx="5074920" cy="932688"/>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例如关键词过滤、离散的文本采样。</a:t>
            </a:r>
          </a:p>
        </p:txBody>
      </p:sp>
      <p:sp>
        <p:nvSpPr>
          <p:cNvPr id="22" name="Rectangle 21"/>
          <p:cNvSpPr/>
          <p:nvPr/>
        </p:nvSpPr>
        <p:spPr>
          <a:xfrm>
            <a:off x="6236208" y="3145536"/>
            <a:ext cx="5440680" cy="1792224"/>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36208" y="3145536"/>
            <a:ext cx="544068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91656" y="3255264"/>
            <a:ext cx="5129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问题二：中间计算状态很多</a:t>
            </a:r>
          </a:p>
        </p:txBody>
      </p:sp>
      <p:sp>
        <p:nvSpPr>
          <p:cNvPr id="25" name="TextBox 24"/>
          <p:cNvSpPr txBox="1"/>
          <p:nvPr/>
        </p:nvSpPr>
        <p:spPr>
          <a:xfrm>
            <a:off x="6419088" y="3858768"/>
            <a:ext cx="5074920" cy="932688"/>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2100" b="0">
                <a:solidFill>
                  <a:srgbClr val="202A33"/>
                </a:solidFill>
                <a:latin typeface="Microsoft YaHei"/>
                <a:ea typeface="Microsoft YaHei"/>
                <a:cs typeface="Microsoft YaHei"/>
              </a:rPr>
              <a:t>逐词生成和多步去噪增加显存负担。</a:t>
            </a:r>
          </a:p>
        </p:txBody>
      </p:sp>
      <p:sp>
        <p:nvSpPr>
          <p:cNvPr id="26" name="Rectangle 25"/>
          <p:cNvSpPr/>
          <p:nvPr/>
        </p:nvSpPr>
        <p:spPr>
          <a:xfrm>
            <a:off x="502920" y="5458968"/>
            <a:ext cx="11173968" cy="53949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 y="5550407"/>
            <a:ext cx="10844784" cy="420623"/>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GC-SPSA 只用前向评估来估计梯度，不必穿过整个系统反传。</a:t>
            </a:r>
          </a:p>
        </p:txBody>
      </p:sp>
      <p:sp>
        <p:nvSpPr>
          <p:cNvPr id="28" name="TextBox 27"/>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a:solidFill>
                  <a:srgbClr val="647483"/>
                </a:solidFill>
                <a:latin typeface="Microsoft YaHei"/>
                <a:ea typeface="Microsoft YaHei"/>
                <a:cs typeface="Microsoft YaHei"/>
              </a:rPr>
              <a:t>来源：论文 §4.3。</a:t>
            </a:r>
          </a:p>
        </p:txBody>
      </p:sp>
    </p:spTree>
    <p:extLst>
      <p:ext uri="{BB962C8B-B14F-4D97-AF65-F5344CB8AC3E}">
        <p14:creationId xmlns:p14="http://schemas.microsoft.com/office/powerpoint/2010/main" val="26989399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832C5-AEBA-FBD0-EC1D-722DCBCC4DC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3F1EE3A-AB79-1F82-00A5-B80F5B955366}"/>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本文方法 —— GC-SPSA：两次试探，再结合历史方向</a:t>
            </a:r>
            <a:endParaRPr lang="zh-CN" altLang="en-US" dirty="0"/>
          </a:p>
        </p:txBody>
      </p:sp>
      <p:pic>
        <p:nvPicPr>
          <p:cNvPr id="4" name="圖片 3">
            <a:extLst>
              <a:ext uri="{FF2B5EF4-FFF2-40B4-BE49-F238E27FC236}">
                <a16:creationId xmlns:a16="http://schemas.microsoft.com/office/drawing/2014/main" id="{0AB760D9-1021-0340-B350-E0A01F7247B7}"/>
              </a:ext>
            </a:extLst>
          </p:cNvPr>
          <p:cNvPicPr>
            <a:picLocks noChangeAspect="1"/>
          </p:cNvPicPr>
          <p:nvPr/>
        </p:nvPicPr>
        <p:blipFill>
          <a:blip r:embed="rId3"/>
          <a:stretch>
            <a:fillRect/>
          </a:stretch>
        </p:blipFill>
        <p:spPr>
          <a:xfrm>
            <a:off x="518757" y="987552"/>
            <a:ext cx="4723204" cy="5010912"/>
          </a:xfrm>
          <a:prstGeom prst="rect">
            <a:avLst/>
          </a:prstGeom>
        </p:spPr>
      </p:pic>
      <p:sp>
        <p:nvSpPr>
          <p:cNvPr id="5" name="Rectangle 4"/>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577840" y="1024128"/>
            <a:ext cx="420624" cy="42062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77840" y="1088136"/>
            <a:ext cx="420624" cy="32004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100" b="1">
                <a:solidFill>
                  <a:srgbClr val="FFFFFF"/>
                </a:solidFill>
                <a:latin typeface="Microsoft YaHei"/>
                <a:ea typeface="Microsoft YaHei"/>
                <a:cs typeface="Microsoft YaHei"/>
              </a:rPr>
              <a:t>1</a:t>
            </a:r>
          </a:p>
        </p:txBody>
      </p:sp>
      <p:sp>
        <p:nvSpPr>
          <p:cNvPr id="8" name="TextBox 7"/>
          <p:cNvSpPr txBox="1"/>
          <p:nvPr/>
        </p:nvSpPr>
        <p:spPr>
          <a:xfrm>
            <a:off x="6199632" y="1042416"/>
            <a:ext cx="5367528"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安排本轮采样次数</a:t>
            </a:r>
          </a:p>
        </p:txBody>
      </p:sp>
      <p:sp>
        <p:nvSpPr>
          <p:cNvPr id="9" name="TextBox 8"/>
          <p:cNvSpPr txBox="1"/>
          <p:nvPr/>
        </p:nvSpPr>
        <p:spPr>
          <a:xfrm>
            <a:off x="6199632" y="1545336"/>
            <a:ext cx="5367528"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50" b="0">
                <a:solidFill>
                  <a:srgbClr val="202A33"/>
                </a:solidFill>
                <a:latin typeface="Microsoft YaHei"/>
                <a:ea typeface="Microsoft YaHei"/>
                <a:cs typeface="Microsoft YaHei"/>
              </a:rPr>
              <a:t>早期多估计几个方向，后期减少。</a:t>
            </a:r>
          </a:p>
        </p:txBody>
      </p:sp>
      <p:sp>
        <p:nvSpPr>
          <p:cNvPr id="10" name="Rectangle 9"/>
          <p:cNvSpPr/>
          <p:nvPr/>
        </p:nvSpPr>
        <p:spPr>
          <a:xfrm>
            <a:off x="5577840" y="2148840"/>
            <a:ext cx="420624" cy="42062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2212848"/>
            <a:ext cx="420624" cy="32004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100" b="1">
                <a:solidFill>
                  <a:srgbClr val="FFFFFF"/>
                </a:solidFill>
                <a:latin typeface="Microsoft YaHei"/>
                <a:ea typeface="Microsoft YaHei"/>
                <a:cs typeface="Microsoft YaHei"/>
              </a:rPr>
              <a:t>2</a:t>
            </a:r>
          </a:p>
        </p:txBody>
      </p:sp>
      <p:sp>
        <p:nvSpPr>
          <p:cNvPr id="12" name="TextBox 11"/>
          <p:cNvSpPr txBox="1"/>
          <p:nvPr/>
        </p:nvSpPr>
        <p:spPr>
          <a:xfrm>
            <a:off x="6199632" y="2167128"/>
            <a:ext cx="5367528"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在参数两侧计算损失</a:t>
            </a:r>
          </a:p>
        </p:txBody>
      </p:sp>
      <p:sp>
        <p:nvSpPr>
          <p:cNvPr id="13" name="TextBox 12"/>
          <p:cNvSpPr txBox="1"/>
          <p:nvPr/>
        </p:nvSpPr>
        <p:spPr>
          <a:xfrm>
            <a:off x="6199632" y="2670048"/>
            <a:ext cx="5367528"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50" b="0">
                <a:solidFill>
                  <a:srgbClr val="202A33"/>
                </a:solidFill>
                <a:latin typeface="Microsoft YaHei"/>
                <a:ea typeface="Microsoft YaHei"/>
                <a:cs typeface="Microsoft YaHei"/>
              </a:rPr>
              <a:t>比较 θ + εΔ 与 θ − εΔ 的结果。</a:t>
            </a:r>
          </a:p>
        </p:txBody>
      </p:sp>
      <p:sp>
        <p:nvSpPr>
          <p:cNvPr id="14" name="Rectangle 13"/>
          <p:cNvSpPr/>
          <p:nvPr/>
        </p:nvSpPr>
        <p:spPr>
          <a:xfrm>
            <a:off x="5577840" y="3273552"/>
            <a:ext cx="420624" cy="42062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77840" y="3337560"/>
            <a:ext cx="420624" cy="32004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100" b="1">
                <a:solidFill>
                  <a:srgbClr val="FFFFFF"/>
                </a:solidFill>
                <a:latin typeface="Microsoft YaHei"/>
                <a:ea typeface="Microsoft YaHei"/>
                <a:cs typeface="Microsoft YaHei"/>
              </a:rPr>
              <a:t>3</a:t>
            </a:r>
          </a:p>
        </p:txBody>
      </p:sp>
      <p:sp>
        <p:nvSpPr>
          <p:cNvPr id="16" name="TextBox 15"/>
          <p:cNvSpPr txBox="1"/>
          <p:nvPr/>
        </p:nvSpPr>
        <p:spPr>
          <a:xfrm>
            <a:off x="6199632" y="3291840"/>
            <a:ext cx="5367528"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平均并加上历史校准</a:t>
            </a:r>
          </a:p>
        </p:txBody>
      </p:sp>
      <p:sp>
        <p:nvSpPr>
          <p:cNvPr id="17" name="TextBox 16"/>
          <p:cNvSpPr txBox="1"/>
          <p:nvPr/>
        </p:nvSpPr>
        <p:spPr>
          <a:xfrm>
            <a:off x="6199632" y="3794760"/>
            <a:ext cx="5367528"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50" b="0">
                <a:solidFill>
                  <a:srgbClr val="202A33"/>
                </a:solidFill>
                <a:latin typeface="Microsoft YaHei"/>
                <a:ea typeface="Microsoft YaHei"/>
                <a:cs typeface="Microsoft YaHei"/>
              </a:rPr>
              <a:t>使用当前估计，也利用过去的方向。</a:t>
            </a:r>
          </a:p>
        </p:txBody>
      </p:sp>
      <p:sp>
        <p:nvSpPr>
          <p:cNvPr id="18" name="Rectangle 17"/>
          <p:cNvSpPr/>
          <p:nvPr/>
        </p:nvSpPr>
        <p:spPr>
          <a:xfrm>
            <a:off x="5577840" y="4398264"/>
            <a:ext cx="420624" cy="42062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577840" y="4462272"/>
            <a:ext cx="420624" cy="32004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100" b="1">
                <a:solidFill>
                  <a:srgbClr val="FFFFFF"/>
                </a:solidFill>
                <a:latin typeface="Microsoft YaHei"/>
                <a:ea typeface="Microsoft YaHei"/>
                <a:cs typeface="Microsoft YaHei"/>
              </a:rPr>
              <a:t>4</a:t>
            </a:r>
          </a:p>
        </p:txBody>
      </p:sp>
      <p:sp>
        <p:nvSpPr>
          <p:cNvPr id="20" name="TextBox 19"/>
          <p:cNvSpPr txBox="1"/>
          <p:nvPr/>
        </p:nvSpPr>
        <p:spPr>
          <a:xfrm>
            <a:off x="6199632" y="4416552"/>
            <a:ext cx="5367528"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更新提示词生成器 θ</a:t>
            </a:r>
          </a:p>
        </p:txBody>
      </p:sp>
      <p:sp>
        <p:nvSpPr>
          <p:cNvPr id="21" name="TextBox 20"/>
          <p:cNvSpPr txBox="1"/>
          <p:nvPr/>
        </p:nvSpPr>
        <p:spPr>
          <a:xfrm>
            <a:off x="6199632" y="4919472"/>
            <a:ext cx="5367528"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50" b="0">
                <a:solidFill>
                  <a:srgbClr val="202A33"/>
                </a:solidFill>
                <a:latin typeface="Microsoft YaHei"/>
                <a:ea typeface="Microsoft YaHei"/>
                <a:cs typeface="Microsoft YaHei"/>
              </a:rPr>
              <a:t>目标系统只负责返回图像和反馈。</a:t>
            </a:r>
          </a:p>
        </p:txBody>
      </p:sp>
      <p:sp>
        <p:nvSpPr>
          <p:cNvPr id="22" name="TextBox 21"/>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来源：论文 §4.3。每个扰动方向需要两次前向评估。</a:t>
            </a:r>
          </a:p>
        </p:txBody>
      </p:sp>
    </p:spTree>
    <p:extLst>
      <p:ext uri="{BB962C8B-B14F-4D97-AF65-F5344CB8AC3E}">
        <p14:creationId xmlns:p14="http://schemas.microsoft.com/office/powerpoint/2010/main" val="675128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AECDC-013C-ACD9-52AD-9EC0EBBCC3B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19B271F-8EE4-2359-EAF6-BB53071E313D}"/>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本文方法 —— ATS：常用词出现太多时，增加其他词的机会</a:t>
            </a:r>
            <a:endParaRPr lang="zh-CN" altLang="en-US" dirty="0"/>
          </a:p>
        </p:txBody>
      </p:sp>
      <p:sp>
        <p:nvSpPr>
          <p:cNvPr id="4" name="Rectangle 3"/>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914400"/>
            <a:ext cx="1719072" cy="274320"/>
          </a:xfrm>
          <a:prstGeom prst="rect">
            <a:avLst/>
          </a:prstGeom>
          <a:solidFill>
            <a:srgbClr val="FB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964692"/>
            <a:ext cx="1572768" cy="20116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40" b="1">
                <a:solidFill>
                  <a:srgbClr val="AF4A3B"/>
                </a:solidFill>
                <a:latin typeface="Microsoft YaHei"/>
                <a:ea typeface="Microsoft YaHei"/>
                <a:cs typeface="Microsoft YaHei"/>
              </a:rPr>
              <a:t>教学数值 · 非实测</a:t>
            </a:r>
          </a:p>
        </p:txBody>
      </p:sp>
      <p:sp>
        <p:nvSpPr>
          <p:cNvPr id="7" name="TextBox 6"/>
          <p:cNvSpPr txBox="1"/>
          <p:nvPr/>
        </p:nvSpPr>
        <p:spPr>
          <a:xfrm>
            <a:off x="2414016" y="955547"/>
            <a:ext cx="9144000"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例：下一词最可能是“长椅”，但它在此前生成中已经很常见。</a:t>
            </a:r>
          </a:p>
        </p:txBody>
      </p:sp>
      <p:sp>
        <p:nvSpPr>
          <p:cNvPr id="8" name="Rectangle 7"/>
          <p:cNvSpPr/>
          <p:nvPr/>
        </p:nvSpPr>
        <p:spPr>
          <a:xfrm>
            <a:off x="502920" y="1600200"/>
            <a:ext cx="4050791" cy="356616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 y="1801368"/>
            <a:ext cx="3621024" cy="39319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先看全局词频表</a:t>
            </a:r>
          </a:p>
        </p:txBody>
      </p:sp>
      <p:sp>
        <p:nvSpPr>
          <p:cNvPr id="10" name="TextBox 9"/>
          <p:cNvSpPr txBox="1"/>
          <p:nvPr/>
        </p:nvSpPr>
        <p:spPr>
          <a:xfrm>
            <a:off x="722376" y="2404872"/>
            <a:ext cx="3584448" cy="1261872"/>
          </a:xfrm>
          <a:prstGeom prst="rect">
            <a:avLst/>
          </a:prstGeom>
          <a:noFill/>
        </p:spPr>
        <p:txBody>
          <a:bodyPr wrap="square" lIns="0" tIns="0" rIns="0" bIns="0" anchor="t">
            <a:noAutofit/>
          </a:bodyPr>
          <a:lstStyle/>
          <a:p>
            <a:pPr marL="0" indent="0" algn="l">
              <a:lnSpc>
                <a:spcPct val="112000"/>
              </a:lnSpc>
              <a:spcBef>
                <a:spcPts val="0"/>
              </a:spcBef>
              <a:spcAft>
                <a:spcPts val="1200"/>
              </a:spcAft>
              <a:buNone/>
            </a:pPr>
            <a:r>
              <a:rPr lang="zh-CN" sz="2100" b="0">
                <a:solidFill>
                  <a:srgbClr val="202A33"/>
                </a:solidFill>
                <a:latin typeface="Microsoft YaHei"/>
                <a:ea typeface="Microsoft YaHei"/>
                <a:cs typeface="Microsoft YaHei"/>
              </a:rPr>
              <a:t>“长椅”出现了 100 次</a:t>
            </a:r>
          </a:p>
          <a:p>
            <a:pPr marL="0" indent="0" algn="l">
              <a:lnSpc>
                <a:spcPct val="112000"/>
              </a:lnSpc>
              <a:spcBef>
                <a:spcPts val="0"/>
              </a:spcBef>
              <a:spcAft>
                <a:spcPts val="1200"/>
              </a:spcAft>
              <a:buNone/>
            </a:pPr>
            <a:r>
              <a:rPr lang="zh-CN" sz="2100" b="0">
                <a:solidFill>
                  <a:srgbClr val="202A33"/>
                </a:solidFill>
                <a:latin typeface="Microsoft YaHei"/>
                <a:ea typeface="Microsoft YaHei"/>
                <a:cs typeface="Microsoft YaHei"/>
              </a:rPr>
              <a:t>累计生成 1,000 个 token</a:t>
            </a:r>
          </a:p>
          <a:p>
            <a:pPr marL="0" indent="0" algn="l">
              <a:lnSpc>
                <a:spcPct val="112000"/>
              </a:lnSpc>
              <a:spcBef>
                <a:spcPts val="0"/>
              </a:spcBef>
              <a:spcAft>
                <a:spcPts val="1200"/>
              </a:spcAft>
              <a:buNone/>
            </a:pPr>
            <a:r>
              <a:rPr lang="zh-CN" sz="2100" b="0">
                <a:solidFill>
                  <a:srgbClr val="202A33"/>
                </a:solidFill>
                <a:latin typeface="Microsoft YaHei"/>
                <a:ea typeface="Microsoft YaHei"/>
                <a:cs typeface="Microsoft YaHei"/>
              </a:rPr>
              <a:t>相对频率 r = 10%</a:t>
            </a:r>
          </a:p>
        </p:txBody>
      </p:sp>
      <p:sp>
        <p:nvSpPr>
          <p:cNvPr id="11" name="TextBox 10"/>
          <p:cNvSpPr txBox="1"/>
          <p:nvPr/>
        </p:nvSpPr>
        <p:spPr>
          <a:xfrm>
            <a:off x="722376" y="3813048"/>
            <a:ext cx="3584448" cy="1005840"/>
          </a:xfrm>
          <a:prstGeom prst="rect">
            <a:avLst/>
          </a:prstGeom>
          <a:noFill/>
        </p:spPr>
        <p:txBody>
          <a:bodyPr wrap="square" lIns="0" tIns="0" rIns="0" bIns="0" anchor="t">
            <a:noAutofit/>
          </a:bodyPr>
          <a:lstStyle/>
          <a:p>
            <a:pPr marL="0" indent="0" algn="l">
              <a:lnSpc>
                <a:spcPct val="112000"/>
              </a:lnSpc>
              <a:spcBef>
                <a:spcPts val="0"/>
              </a:spcBef>
              <a:spcAft>
                <a:spcPts val="400"/>
              </a:spcAft>
              <a:buNone/>
            </a:pPr>
            <a:r>
              <a:rPr lang="zh-CN" sz="1839" b="0">
                <a:solidFill>
                  <a:srgbClr val="202A33"/>
                </a:solidFill>
                <a:latin typeface="Microsoft YaHei"/>
                <a:ea typeface="Microsoft YaHei"/>
                <a:cs typeface="Microsoft YaHei"/>
              </a:rPr>
              <a:t>α = 0.05，最低温度为 0.8</a:t>
            </a:r>
          </a:p>
          <a:p>
            <a:pPr marL="0" indent="0" algn="l">
              <a:lnSpc>
                <a:spcPct val="112000"/>
              </a:lnSpc>
              <a:spcBef>
                <a:spcPts val="0"/>
              </a:spcBef>
              <a:spcAft>
                <a:spcPts val="400"/>
              </a:spcAft>
              <a:buNone/>
            </a:pPr>
            <a:r>
              <a:rPr lang="zh-CN" sz="1839" b="0">
                <a:solidFill>
                  <a:srgbClr val="202A33"/>
                </a:solidFill>
                <a:latin typeface="Microsoft YaHei"/>
                <a:ea typeface="Microsoft YaHei"/>
                <a:cs typeface="Microsoft YaHei"/>
              </a:rPr>
              <a:t>τ = max[log(1.1)/0.05, 0.8]</a:t>
            </a:r>
          </a:p>
          <a:p>
            <a:pPr marL="0" indent="0" algn="l">
              <a:lnSpc>
                <a:spcPct val="112000"/>
              </a:lnSpc>
              <a:spcBef>
                <a:spcPts val="0"/>
              </a:spcBef>
              <a:spcAft>
                <a:spcPts val="400"/>
              </a:spcAft>
              <a:buNone/>
            </a:pPr>
            <a:r>
              <a:rPr lang="zh-CN" sz="1839" b="0">
                <a:solidFill>
                  <a:srgbClr val="202A33"/>
                </a:solidFill>
                <a:latin typeface="Microsoft YaHei"/>
                <a:ea typeface="Microsoft YaHei"/>
                <a:cs typeface="Microsoft YaHei"/>
              </a:rPr>
              <a:t>  ≈ 1.91</a:t>
            </a:r>
          </a:p>
        </p:txBody>
      </p:sp>
      <p:sp>
        <p:nvSpPr>
          <p:cNvPr id="12" name="TextBox 11"/>
          <p:cNvSpPr txBox="1"/>
          <p:nvPr/>
        </p:nvSpPr>
        <p:spPr>
          <a:xfrm>
            <a:off x="4892040" y="1810512"/>
            <a:ext cx="6556248"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相同 logits = [2, 1, 0]，温度升高后：</a:t>
            </a:r>
          </a:p>
        </p:txBody>
      </p:sp>
      <p:sp>
        <p:nvSpPr>
          <p:cNvPr id="13" name="TextBox 12"/>
          <p:cNvSpPr txBox="1"/>
          <p:nvPr/>
        </p:nvSpPr>
        <p:spPr>
          <a:xfrm>
            <a:off x="5925312" y="2450592"/>
            <a:ext cx="2395728" cy="31089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1">
                <a:solidFill>
                  <a:srgbClr val="062D50"/>
                </a:solidFill>
                <a:latin typeface="Microsoft YaHei"/>
                <a:ea typeface="Microsoft YaHei"/>
                <a:cs typeface="Microsoft YaHei"/>
              </a:rPr>
              <a:t>固定温度 0.8</a:t>
            </a:r>
          </a:p>
        </p:txBody>
      </p:sp>
      <p:sp>
        <p:nvSpPr>
          <p:cNvPr id="14" name="TextBox 13"/>
          <p:cNvSpPr txBox="1"/>
          <p:nvPr/>
        </p:nvSpPr>
        <p:spPr>
          <a:xfrm>
            <a:off x="8997696" y="2450592"/>
            <a:ext cx="2395728" cy="310896"/>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1">
                <a:solidFill>
                  <a:srgbClr val="062D50"/>
                </a:solidFill>
                <a:latin typeface="Microsoft YaHei"/>
                <a:ea typeface="Microsoft YaHei"/>
                <a:cs typeface="Microsoft YaHei"/>
              </a:rPr>
              <a:t>ATS 温度 1.91</a:t>
            </a:r>
          </a:p>
        </p:txBody>
      </p:sp>
      <p:sp>
        <p:nvSpPr>
          <p:cNvPr id="15" name="TextBox 14"/>
          <p:cNvSpPr txBox="1"/>
          <p:nvPr/>
        </p:nvSpPr>
        <p:spPr>
          <a:xfrm>
            <a:off x="4892040" y="3081528"/>
            <a:ext cx="877824"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长椅</a:t>
            </a:r>
          </a:p>
        </p:txBody>
      </p:sp>
      <p:sp>
        <p:nvSpPr>
          <p:cNvPr id="16" name="Rectangle 15"/>
          <p:cNvSpPr/>
          <p:nvPr/>
        </p:nvSpPr>
        <p:spPr>
          <a:xfrm>
            <a:off x="5925312" y="3127248"/>
            <a:ext cx="1536192" cy="21031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25312" y="3127248"/>
            <a:ext cx="1122463" cy="210312"/>
          </a:xfrm>
          <a:prstGeom prst="rect">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0" y="3072384"/>
            <a:ext cx="8321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00" b="0">
                <a:solidFill>
                  <a:srgbClr val="062D50"/>
                </a:solidFill>
                <a:latin typeface="Microsoft YaHei"/>
                <a:ea typeface="Microsoft YaHei"/>
                <a:cs typeface="Microsoft YaHei"/>
              </a:rPr>
              <a:t>73.1%</a:t>
            </a:r>
          </a:p>
        </p:txBody>
      </p:sp>
      <p:sp>
        <p:nvSpPr>
          <p:cNvPr id="19" name="Rectangle 18"/>
          <p:cNvSpPr/>
          <p:nvPr/>
        </p:nvSpPr>
        <p:spPr>
          <a:xfrm>
            <a:off x="8997696" y="3127248"/>
            <a:ext cx="1536192" cy="21031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97696" y="3127248"/>
            <a:ext cx="791033" cy="210312"/>
          </a:xfrm>
          <a:prstGeom prst="rect">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661904" y="3072384"/>
            <a:ext cx="8321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00" b="0">
                <a:solidFill>
                  <a:srgbClr val="062D50"/>
                </a:solidFill>
                <a:latin typeface="Microsoft YaHei"/>
                <a:ea typeface="Microsoft YaHei"/>
                <a:cs typeface="Microsoft YaHei"/>
              </a:rPr>
              <a:t>51.5%</a:t>
            </a:r>
          </a:p>
        </p:txBody>
      </p:sp>
      <p:sp>
        <p:nvSpPr>
          <p:cNvPr id="22" name="TextBox 21"/>
          <p:cNvSpPr txBox="1"/>
          <p:nvPr/>
        </p:nvSpPr>
        <p:spPr>
          <a:xfrm>
            <a:off x="4892040" y="3685032"/>
            <a:ext cx="877824"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雪地</a:t>
            </a:r>
          </a:p>
        </p:txBody>
      </p:sp>
      <p:sp>
        <p:nvSpPr>
          <p:cNvPr id="23" name="Rectangle 22"/>
          <p:cNvSpPr/>
          <p:nvPr/>
        </p:nvSpPr>
        <p:spPr>
          <a:xfrm>
            <a:off x="5925312" y="3730752"/>
            <a:ext cx="1536192" cy="21031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25312" y="3730752"/>
            <a:ext cx="321591" cy="210312"/>
          </a:xfrm>
          <a:prstGeom prst="rect">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89520" y="3675888"/>
            <a:ext cx="8321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00" b="0">
                <a:solidFill>
                  <a:srgbClr val="062D50"/>
                </a:solidFill>
                <a:latin typeface="Microsoft YaHei"/>
                <a:ea typeface="Microsoft YaHei"/>
                <a:cs typeface="Microsoft YaHei"/>
              </a:rPr>
              <a:t>20.9%</a:t>
            </a:r>
          </a:p>
        </p:txBody>
      </p:sp>
      <p:sp>
        <p:nvSpPr>
          <p:cNvPr id="26" name="Rectangle 25"/>
          <p:cNvSpPr/>
          <p:nvPr/>
        </p:nvSpPr>
        <p:spPr>
          <a:xfrm>
            <a:off x="8997696" y="3730752"/>
            <a:ext cx="1536192" cy="21031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97696" y="3730752"/>
            <a:ext cx="468126" cy="210312"/>
          </a:xfrm>
          <a:prstGeom prst="rect">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661904" y="3675888"/>
            <a:ext cx="8321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00" b="0">
                <a:solidFill>
                  <a:srgbClr val="062D50"/>
                </a:solidFill>
                <a:latin typeface="Microsoft YaHei"/>
                <a:ea typeface="Microsoft YaHei"/>
                <a:cs typeface="Microsoft YaHei"/>
              </a:rPr>
              <a:t>30.5%</a:t>
            </a:r>
          </a:p>
        </p:txBody>
      </p:sp>
      <p:sp>
        <p:nvSpPr>
          <p:cNvPr id="29" name="TextBox 28"/>
          <p:cNvSpPr txBox="1"/>
          <p:nvPr/>
        </p:nvSpPr>
        <p:spPr>
          <a:xfrm>
            <a:off x="4892040" y="4288536"/>
            <a:ext cx="877824"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海边</a:t>
            </a:r>
          </a:p>
        </p:txBody>
      </p:sp>
      <p:sp>
        <p:nvSpPr>
          <p:cNvPr id="30" name="Rectangle 29"/>
          <p:cNvSpPr/>
          <p:nvPr/>
        </p:nvSpPr>
        <p:spPr>
          <a:xfrm>
            <a:off x="5925312" y="4334256"/>
            <a:ext cx="1536192" cy="21031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925312" y="4334256"/>
            <a:ext cx="92137" cy="210312"/>
          </a:xfrm>
          <a:prstGeom prst="rect">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20" y="4279392"/>
            <a:ext cx="8321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00" b="0">
                <a:solidFill>
                  <a:srgbClr val="062D50"/>
                </a:solidFill>
                <a:latin typeface="Microsoft YaHei"/>
                <a:ea typeface="Microsoft YaHei"/>
                <a:cs typeface="Microsoft YaHei"/>
              </a:rPr>
              <a:t>6.0%</a:t>
            </a:r>
          </a:p>
        </p:txBody>
      </p:sp>
      <p:sp>
        <p:nvSpPr>
          <p:cNvPr id="33" name="Rectangle 32"/>
          <p:cNvSpPr/>
          <p:nvPr/>
        </p:nvSpPr>
        <p:spPr>
          <a:xfrm>
            <a:off x="8997696" y="4334256"/>
            <a:ext cx="1536192" cy="210312"/>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997696" y="4334256"/>
            <a:ext cx="277032" cy="210312"/>
          </a:xfrm>
          <a:prstGeom prst="rect">
            <a:avLst/>
          </a:prstGeom>
          <a:solidFill>
            <a:srgbClr val="0076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661904" y="4279392"/>
            <a:ext cx="8321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00" b="0">
                <a:solidFill>
                  <a:srgbClr val="062D50"/>
                </a:solidFill>
                <a:latin typeface="Microsoft YaHei"/>
                <a:ea typeface="Microsoft YaHei"/>
                <a:cs typeface="Microsoft YaHei"/>
              </a:rPr>
              <a:t>18.0%</a:t>
            </a:r>
          </a:p>
        </p:txBody>
      </p:sp>
      <p:sp>
        <p:nvSpPr>
          <p:cNvPr id="36" name="Rectangle 35"/>
          <p:cNvSpPr/>
          <p:nvPr/>
        </p:nvSpPr>
        <p:spPr>
          <a:xfrm>
            <a:off x="502920" y="5468112"/>
            <a:ext cx="11173968" cy="53035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67512" y="5559552"/>
            <a:ext cx="10844784" cy="411479"/>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常用词仍可能被选中，但其他词的机会增加；不需要重新训练。</a:t>
            </a:r>
          </a:p>
        </p:txBody>
      </p:sp>
      <p:sp>
        <p:nvSpPr>
          <p:cNvPr id="38" name="TextBox 37"/>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公式据论文 Eq. (10)。数字为教学计算，词表被简化为3个候选；实际词频表覆盖全词表。</a:t>
            </a:r>
          </a:p>
        </p:txBody>
      </p:sp>
    </p:spTree>
    <p:extLst>
      <p:ext uri="{BB962C8B-B14F-4D97-AF65-F5344CB8AC3E}">
        <p14:creationId xmlns:p14="http://schemas.microsoft.com/office/powerpoint/2010/main" val="4244357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EFE97712-2209-09DE-2EDA-DC46A8B68879}"/>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2CFD0ED6-0067-9695-3856-09BD5D970070}"/>
              </a:ext>
            </a:extLst>
          </p:cNvPr>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A9ABE94B-4585-2B4F-8B81-BA87E9B20103}"/>
              </a:ext>
            </a:extLst>
          </p:cNvPr>
          <p:cNvPicPr>
            <a:picLocks noChangeAspect="1"/>
          </p:cNvPicPr>
          <p:nvPr/>
        </p:nvPicPr>
        <p:blipFill rotWithShape="1">
          <a:blip r:embed="rId4">
            <a:duotone>
              <a:schemeClr val="accent1">
                <a:shade val="45000"/>
                <a:satMod val="135000"/>
              </a:schemeClr>
              <a:prstClr val="white"/>
            </a:duotone>
          </a:blip>
          <a:srcRect t="4253" b="15909"/>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a:extLst>
              <a:ext uri="{FF2B5EF4-FFF2-40B4-BE49-F238E27FC236}">
                <a16:creationId xmlns:a16="http://schemas.microsoft.com/office/drawing/2014/main" id="{32ADFAE5-BB30-3965-42EF-A0189A4CED2B}"/>
              </a:ext>
            </a:extLst>
          </p:cNvPr>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39" name="title">
            <a:extLst>
              <a:ext uri="{FF2B5EF4-FFF2-40B4-BE49-F238E27FC236}">
                <a16:creationId xmlns:a16="http://schemas.microsoft.com/office/drawing/2014/main" id="{B2AFCA71-50AA-3F40-9A8B-9E11C844835D}"/>
              </a:ext>
            </a:extLst>
          </p:cNvPr>
          <p:cNvSpPr txBox="1"/>
          <p:nvPr/>
        </p:nvSpPr>
        <p:spPr>
          <a:xfrm>
            <a:off x="658813" y="6385673"/>
            <a:ext cx="3314754" cy="215444"/>
          </a:xfrm>
          <a:prstGeom prst="rect">
            <a:avLst/>
          </a:prstGeom>
          <a:noFill/>
        </p:spPr>
        <p:txBody>
          <a:bodyPr wrap="none" lIns="0" tIns="0" rIns="0" bIns="0"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澳门大学 | </a:t>
            </a:r>
            <a:r>
              <a:rPr lang="en-US" altLang="zh-CN" sz="1400" dirty="0">
                <a:solidFill>
                  <a:schemeClr val="bg1"/>
                </a:solidFill>
                <a:latin typeface="微软雅黑" panose="020B0503020204020204" pitchFamily="34" charset="-122"/>
                <a:ea typeface="微软雅黑" panose="020B0503020204020204" pitchFamily="34" charset="-122"/>
              </a:rPr>
              <a:t>UNIVERSIDADE DE MACAU</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1" name="page">
            <a:extLst>
              <a:ext uri="{FF2B5EF4-FFF2-40B4-BE49-F238E27FC236}">
                <a16:creationId xmlns:a16="http://schemas.microsoft.com/office/drawing/2014/main" id="{6262002A-0594-682E-D262-C5AEF8D927F0}"/>
              </a:ext>
            </a:extLst>
          </p:cNvPr>
          <p:cNvSpPr txBox="1">
            <a:spLocks/>
          </p:cNvSpPr>
          <p:nvPr/>
        </p:nvSpPr>
        <p:spPr>
          <a:xfrm>
            <a:off x="11301984" y="6382512"/>
            <a:ext cx="429768" cy="274320"/>
          </a:xfrm>
          <a:prstGeom prst="rect">
            <a:avLst/>
          </a:prstGeom>
          <a:noFill/>
        </p:spPr>
        <p:txBody>
          <a:bodyPr vert="horz" wrap="square" lIns="0" tIns="0" rIns="0" bIns="0" rtlCol="0" anchor="t">
            <a:no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r">
              <a:lnSpc>
                <a:spcPct val="112000"/>
              </a:lnSpc>
              <a:spcBef>
                <a:spcPts val="0"/>
              </a:spcBef>
              <a:spcAft>
                <a:spcPts val="0"/>
              </a:spcAft>
              <a:buNone/>
            </a:pPr>
            <a:r>
              <a:rPr lang="zh-CN" sz="1400" b="1">
                <a:solidFill>
                  <a:srgbClr val="FFFFFF"/>
                </a:solidFill>
                <a:latin typeface="Microsoft YaHei"/>
                <a:ea typeface="Microsoft YaHei"/>
                <a:cs typeface="Microsoft YaHei"/>
              </a:rPr>
              <a:t>19</a:t>
            </a:r>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part">
            <a:extLst>
              <a:ext uri="{FF2B5EF4-FFF2-40B4-BE49-F238E27FC236}">
                <a16:creationId xmlns:a16="http://schemas.microsoft.com/office/drawing/2014/main" id="{869DEB78-1136-E3C5-1286-95687352ED2B}"/>
              </a:ext>
            </a:extLst>
          </p:cNvPr>
          <p:cNvSpPr/>
          <p:nvPr/>
        </p:nvSpPr>
        <p:spPr>
          <a:xfrm flipH="1">
            <a:off x="987552" y="2423160"/>
            <a:ext cx="1828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indent="0" algn="ctr">
              <a:lnSpc>
                <a:spcPct val="112000"/>
              </a:lnSpc>
              <a:spcBef>
                <a:spcPts val="0"/>
              </a:spcBef>
              <a:spcAft>
                <a:spcPts val="1200"/>
              </a:spcAft>
              <a:buNone/>
            </a:pPr>
            <a:r>
              <a:rPr lang="zh-CN" sz="3400" b="1">
                <a:solidFill>
                  <a:srgbClr val="062D50"/>
                </a:solidFill>
                <a:latin typeface="Microsoft YaHei"/>
                <a:ea typeface="Microsoft YaHei"/>
                <a:cs typeface="Microsoft YaHei"/>
              </a:rPr>
              <a:t>Part</a:t>
            </a:r>
          </a:p>
          <a:p>
            <a:pPr marL="0" indent="0" algn="ctr">
              <a:lnSpc>
                <a:spcPct val="112000"/>
              </a:lnSpc>
              <a:spcBef>
                <a:spcPts val="0"/>
              </a:spcBef>
              <a:spcAft>
                <a:spcPts val="1200"/>
              </a:spcAft>
              <a:buNone/>
            </a:pPr>
            <a:r>
              <a:rPr lang="zh-CN" sz="7200" b="1">
                <a:solidFill>
                  <a:srgbClr val="062D50"/>
                </a:solidFill>
                <a:latin typeface="Microsoft YaHei"/>
                <a:ea typeface="Microsoft YaHei"/>
                <a:cs typeface="Microsoft YaHei"/>
              </a:rPr>
              <a:t>03</a:t>
            </a:r>
          </a:p>
        </p:txBody>
      </p:sp>
      <p:sp>
        <p:nvSpPr>
          <p:cNvPr id="28" name="文本框 27">
            <a:extLst>
              <a:ext uri="{FF2B5EF4-FFF2-40B4-BE49-F238E27FC236}">
                <a16:creationId xmlns:a16="http://schemas.microsoft.com/office/drawing/2014/main" id="{AE1ED992-E650-8F3C-266E-DAFBF19ADB29}"/>
              </a:ext>
            </a:extLst>
          </p:cNvPr>
          <p:cNvSpPr txBox="1"/>
          <p:nvPr/>
        </p:nvSpPr>
        <p:spPr>
          <a:xfrm>
            <a:off x="4663440" y="2834640"/>
            <a:ext cx="5486400" cy="758952"/>
          </a:xfrm>
          <a:prstGeom prst="rect">
            <a:avLst/>
          </a:prstGeom>
          <a:noFill/>
        </p:spPr>
        <p:txBody>
          <a:bodyPr wrap="square" lIns="0" tIns="0" rIns="0" bIns="0" rtlCol="0" anchor="t">
            <a:noAutofit/>
          </a:bodyPr>
          <a:lstStyle/>
          <a:p>
            <a:pPr marL="0" indent="0" algn="ctr">
              <a:lnSpc>
                <a:spcPct val="112000"/>
              </a:lnSpc>
              <a:spcBef>
                <a:spcPts val="0"/>
              </a:spcBef>
              <a:spcAft>
                <a:spcPts val="0"/>
              </a:spcAft>
              <a:buNone/>
            </a:pPr>
            <a:r>
              <a:rPr lang="zh-CN" sz="4200" b="1">
                <a:solidFill>
                  <a:srgbClr val="202A33"/>
                </a:solidFill>
                <a:latin typeface="Microsoft YaHei"/>
                <a:ea typeface="Microsoft YaHei"/>
                <a:cs typeface="Microsoft YaHei"/>
              </a:rPr>
              <a:t>实验介绍</a:t>
            </a:r>
          </a:p>
        </p:txBody>
      </p:sp>
      <p:sp>
        <p:nvSpPr>
          <p:cNvPr id="8" name="矩形 7">
            <a:extLst>
              <a:ext uri="{FF2B5EF4-FFF2-40B4-BE49-F238E27FC236}">
                <a16:creationId xmlns:a16="http://schemas.microsoft.com/office/drawing/2014/main" id="{6B632148-2009-7C47-D485-8D07EC7F7006}"/>
              </a:ext>
            </a:extLst>
          </p:cNvPr>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TextBox 41"/>
          <p:cNvSpPr txBox="1"/>
          <p:nvPr/>
        </p:nvSpPr>
        <p:spPr>
          <a:xfrm>
            <a:off x="4526280" y="3794760"/>
            <a:ext cx="5852160" cy="68580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0">
                <a:solidFill>
                  <a:srgbClr val="647483"/>
                </a:solidFill>
                <a:latin typeface="Microsoft YaHei"/>
                <a:ea typeface="Microsoft YaHei"/>
                <a:cs typeface="Microsoft YaHei"/>
              </a:rPr>
              <a:t>把前面的设计，逐项变成可检验的问题</a:t>
            </a:r>
          </a:p>
        </p:txBody>
      </p:sp>
    </p:spTree>
    <p:custDataLst>
      <p:tags r:id="rId1"/>
    </p:custDataLst>
    <p:extLst>
      <p:ext uri="{BB962C8B-B14F-4D97-AF65-F5344CB8AC3E}">
        <p14:creationId xmlns:p14="http://schemas.microsoft.com/office/powerpoint/2010/main" val="2270351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137160"/>
            <a:ext cx="10881360" cy="475488"/>
          </a:xfr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每组实验对应前面的一个问题</a:t>
            </a:r>
          </a:p>
        </p:txBody>
      </p:sp>
      <p:sp>
        <p:nvSpPr>
          <p:cNvPr id="3" name="Rectangle 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1060704"/>
            <a:ext cx="11173968" cy="1024128"/>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94944" y="1298448"/>
            <a:ext cx="585216"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600" b="1">
                <a:solidFill>
                  <a:srgbClr val="062D50"/>
                </a:solidFill>
                <a:latin typeface="Microsoft YaHei"/>
                <a:ea typeface="Microsoft YaHei"/>
                <a:cs typeface="Microsoft YaHei"/>
              </a:rPr>
              <a:t>01</a:t>
            </a:r>
          </a:p>
        </p:txBody>
      </p:sp>
      <p:sp>
        <p:nvSpPr>
          <p:cNvPr id="6" name="TextBox 5"/>
          <p:cNvSpPr txBox="1"/>
          <p:nvPr/>
        </p:nvSpPr>
        <p:spPr>
          <a:xfrm>
            <a:off x="1527048" y="1170431"/>
            <a:ext cx="9857232"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是否有效，而且不太重复？</a:t>
            </a:r>
          </a:p>
        </p:txBody>
      </p:sp>
      <p:sp>
        <p:nvSpPr>
          <p:cNvPr id="7" name="TextBox 6"/>
          <p:cNvSpPr txBox="1"/>
          <p:nvPr/>
        </p:nvSpPr>
        <p:spPr>
          <a:xfrm>
            <a:off x="1527048" y="1627631"/>
            <a:ext cx="7196328" cy="32918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720" b="0">
                <a:solidFill>
                  <a:srgbClr val="202A33"/>
                </a:solidFill>
                <a:latin typeface="Microsoft YaHei"/>
                <a:ea typeface="Microsoft YaHei"/>
                <a:cs typeface="Microsoft YaHei"/>
              </a:rPr>
              <a:t>对比已有方法，分别看成功率 PSR 和相似度 PS。</a:t>
            </a:r>
          </a:p>
        </p:txBody>
      </p:sp>
      <p:sp>
        <p:nvSpPr>
          <p:cNvPr id="8" name="TextBox 7"/>
          <p:cNvSpPr txBox="1"/>
          <p:nvPr/>
        </p:nvSpPr>
        <p:spPr>
          <a:xfrm>
            <a:off x="8851392" y="1645919"/>
            <a:ext cx="2615184"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90" b="0">
                <a:solidFill>
                  <a:srgbClr val="647483"/>
                </a:solidFill>
                <a:latin typeface="Microsoft YaHei"/>
                <a:ea typeface="Microsoft YaHei"/>
                <a:cs typeface="Microsoft YaHei"/>
              </a:rPr>
              <a:t>主结果：Table 1–2</a:t>
            </a:r>
          </a:p>
        </p:txBody>
      </p:sp>
      <p:sp>
        <p:nvSpPr>
          <p:cNvPr id="9" name="Rectangle 8"/>
          <p:cNvSpPr/>
          <p:nvPr/>
        </p:nvSpPr>
        <p:spPr>
          <a:xfrm>
            <a:off x="502920" y="2240280"/>
            <a:ext cx="11173968" cy="1024128"/>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2478024"/>
            <a:ext cx="585216"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600" b="1">
                <a:solidFill>
                  <a:srgbClr val="062D50"/>
                </a:solidFill>
                <a:latin typeface="Microsoft YaHei"/>
                <a:ea typeface="Microsoft YaHei"/>
                <a:cs typeface="Microsoft YaHei"/>
              </a:rPr>
              <a:t>02</a:t>
            </a:r>
          </a:p>
        </p:txBody>
      </p:sp>
      <p:sp>
        <p:nvSpPr>
          <p:cNvPr id="11" name="TextBox 10"/>
          <p:cNvSpPr txBox="1"/>
          <p:nvPr/>
        </p:nvSpPr>
        <p:spPr>
          <a:xfrm>
            <a:off x="1527048" y="2350008"/>
            <a:ext cx="9857232"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换一种防御或平台还能用吗？</a:t>
            </a:r>
          </a:p>
        </p:txBody>
      </p:sp>
      <p:sp>
        <p:nvSpPr>
          <p:cNvPr id="12" name="TextBox 11"/>
          <p:cNvSpPr txBox="1"/>
          <p:nvPr/>
        </p:nvSpPr>
        <p:spPr>
          <a:xfrm>
            <a:off x="1527048" y="2807208"/>
            <a:ext cx="7196328" cy="32918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720" b="0">
                <a:solidFill>
                  <a:srgbClr val="202A33"/>
                </a:solidFill>
                <a:latin typeface="Microsoft YaHei"/>
                <a:ea typeface="Microsoft YaHei"/>
                <a:cs typeface="Microsoft YaHei"/>
              </a:rPr>
              <a:t>分别测试安全对齐、外部过滤和商业平台。</a:t>
            </a:r>
          </a:p>
        </p:txBody>
      </p:sp>
      <p:sp>
        <p:nvSpPr>
          <p:cNvPr id="13" name="TextBox 12"/>
          <p:cNvSpPr txBox="1"/>
          <p:nvPr/>
        </p:nvSpPr>
        <p:spPr>
          <a:xfrm>
            <a:off x="8851392" y="2825496"/>
            <a:ext cx="2615184"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90" b="0">
                <a:solidFill>
                  <a:srgbClr val="647483"/>
                </a:solidFill>
                <a:latin typeface="Microsoft YaHei"/>
                <a:ea typeface="Microsoft YaHei"/>
                <a:cs typeface="Microsoft YaHei"/>
              </a:rPr>
              <a:t>适用范围：Table 1–2、5</a:t>
            </a:r>
          </a:p>
        </p:txBody>
      </p:sp>
      <p:sp>
        <p:nvSpPr>
          <p:cNvPr id="14" name="Rectangle 13"/>
          <p:cNvSpPr/>
          <p:nvPr/>
        </p:nvSpPr>
        <p:spPr>
          <a:xfrm>
            <a:off x="502920" y="3419856"/>
            <a:ext cx="11173968" cy="1024128"/>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 y="3657600"/>
            <a:ext cx="585216"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600" b="1">
                <a:solidFill>
                  <a:srgbClr val="062D50"/>
                </a:solidFill>
                <a:latin typeface="Microsoft YaHei"/>
                <a:ea typeface="Microsoft YaHei"/>
                <a:cs typeface="Microsoft YaHei"/>
              </a:rPr>
              <a:t>03</a:t>
            </a:r>
          </a:p>
        </p:txBody>
      </p:sp>
      <p:sp>
        <p:nvSpPr>
          <p:cNvPr id="16" name="TextBox 15"/>
          <p:cNvSpPr txBox="1"/>
          <p:nvPr/>
        </p:nvSpPr>
        <p:spPr>
          <a:xfrm>
            <a:off x="1527048" y="3529584"/>
            <a:ext cx="9857232"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哪些模块起作用，规模大时是否划算？</a:t>
            </a:r>
          </a:p>
        </p:txBody>
      </p:sp>
      <p:sp>
        <p:nvSpPr>
          <p:cNvPr id="17" name="TextBox 16"/>
          <p:cNvSpPr txBox="1"/>
          <p:nvPr/>
        </p:nvSpPr>
        <p:spPr>
          <a:xfrm>
            <a:off x="1527048" y="3986784"/>
            <a:ext cx="7196328" cy="32918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720" b="0">
                <a:solidFill>
                  <a:srgbClr val="202A33"/>
                </a:solidFill>
                <a:latin typeface="Microsoft YaHei"/>
                <a:ea typeface="Microsoft YaHei"/>
                <a:cs typeface="Microsoft YaHei"/>
              </a:rPr>
              <a:t>做模块消融、相近GPU时间对照，再看总耗时曲线。</a:t>
            </a:r>
          </a:p>
        </p:txBody>
      </p:sp>
      <p:sp>
        <p:nvSpPr>
          <p:cNvPr id="18" name="TextBox 17"/>
          <p:cNvSpPr txBox="1"/>
          <p:nvPr/>
        </p:nvSpPr>
        <p:spPr>
          <a:xfrm>
            <a:off x="8851392" y="4005072"/>
            <a:ext cx="2615184"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90" b="0">
                <a:solidFill>
                  <a:srgbClr val="647483"/>
                </a:solidFill>
                <a:latin typeface="Microsoft YaHei"/>
                <a:ea typeface="Microsoft YaHei"/>
                <a:cs typeface="Microsoft YaHei"/>
              </a:rPr>
              <a:t>方法与成本：Table 7–8、Figure 3</a:t>
            </a:r>
          </a:p>
        </p:txBody>
      </p:sp>
      <p:sp>
        <p:nvSpPr>
          <p:cNvPr id="19" name="Rectangle 18"/>
          <p:cNvSpPr/>
          <p:nvPr/>
        </p:nvSpPr>
        <p:spPr>
          <a:xfrm>
            <a:off x="502920" y="4599432"/>
            <a:ext cx="11173968" cy="1024128"/>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94944" y="4837176"/>
            <a:ext cx="585216"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600" b="1">
                <a:solidFill>
                  <a:srgbClr val="062D50"/>
                </a:solidFill>
                <a:latin typeface="Microsoft YaHei"/>
                <a:ea typeface="Microsoft YaHei"/>
                <a:cs typeface="Microsoft YaHei"/>
              </a:rPr>
              <a:t>04</a:t>
            </a:r>
          </a:p>
        </p:txBody>
      </p:sp>
      <p:sp>
        <p:nvSpPr>
          <p:cNvPr id="21" name="TextBox 20"/>
          <p:cNvSpPr txBox="1"/>
          <p:nvPr/>
        </p:nvSpPr>
        <p:spPr>
          <a:xfrm>
            <a:off x="1527048" y="4709160"/>
            <a:ext cx="9857232" cy="35661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找到的样本能改善防御吗？</a:t>
            </a:r>
          </a:p>
        </p:txBody>
      </p:sp>
      <p:sp>
        <p:nvSpPr>
          <p:cNvPr id="22" name="TextBox 21"/>
          <p:cNvSpPr txBox="1"/>
          <p:nvPr/>
        </p:nvSpPr>
        <p:spPr>
          <a:xfrm>
            <a:off x="1527048" y="5166360"/>
            <a:ext cx="7196328" cy="32918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720" b="0">
                <a:solidFill>
                  <a:srgbClr val="202A33"/>
                </a:solidFill>
                <a:latin typeface="Microsoft YaHei"/>
                <a:ea typeface="Microsoft YaHei"/>
                <a:cs typeface="Microsoft YaHei"/>
              </a:rPr>
              <a:t>用不同来源的数据做安全微调，再交叉测试。</a:t>
            </a:r>
          </a:p>
        </p:txBody>
      </p:sp>
      <p:sp>
        <p:nvSpPr>
          <p:cNvPr id="23" name="TextBox 22"/>
          <p:cNvSpPr txBox="1"/>
          <p:nvPr/>
        </p:nvSpPr>
        <p:spPr>
          <a:xfrm>
            <a:off x="8851392" y="5184648"/>
            <a:ext cx="2615184"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90" b="0">
                <a:solidFill>
                  <a:srgbClr val="647483"/>
                </a:solidFill>
                <a:latin typeface="Microsoft YaHei"/>
                <a:ea typeface="Microsoft YaHei"/>
                <a:cs typeface="Microsoft YaHei"/>
              </a:rPr>
              <a:t>下游作用：Figure 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63E67-4F32-0223-43D1-677542E906D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08FA6956-27AE-7232-6477-8125DF16B08C}"/>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每类对比，各有一个目的</a:t>
            </a:r>
            <a:endParaRPr lang="zh-CN" altLang="en-US" dirty="0"/>
          </a:p>
        </p:txBody>
      </p:sp>
      <p:sp>
        <p:nvSpPr>
          <p:cNvPr id="4" name="Rectangle 3"/>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987552"/>
            <a:ext cx="3749039" cy="4407408"/>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987552"/>
            <a:ext cx="3749039"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097280"/>
            <a:ext cx="343814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测试不同防御位置</a:t>
            </a:r>
          </a:p>
        </p:txBody>
      </p:sp>
      <p:sp>
        <p:nvSpPr>
          <p:cNvPr id="8" name="TextBox 7"/>
          <p:cNvSpPr txBox="1"/>
          <p:nvPr/>
        </p:nvSpPr>
        <p:spPr>
          <a:xfrm>
            <a:off x="685800" y="1700784"/>
            <a:ext cx="3383279" cy="3547872"/>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870" b="0">
                <a:solidFill>
                  <a:srgbClr val="202A33"/>
                </a:solidFill>
                <a:latin typeface="Microsoft YaHei"/>
                <a:ea typeface="Microsoft YaHei"/>
                <a:cs typeface="Microsoft YaHei"/>
              </a:rPr>
              <a:t>安全对齐模型</a:t>
            </a:r>
          </a:p>
          <a:p>
            <a:pPr marL="0" indent="0" algn="l">
              <a:lnSpc>
                <a:spcPct val="112000"/>
              </a:lnSpc>
              <a:spcBef>
                <a:spcPts val="0"/>
              </a:spcBef>
              <a:spcAft>
                <a:spcPts val="700"/>
              </a:spcAft>
              <a:buNone/>
            </a:pPr>
            <a:r>
              <a:rPr lang="zh-CN" sz="1870" b="0">
                <a:solidFill>
                  <a:srgbClr val="202A33"/>
                </a:solidFill>
                <a:latin typeface="Microsoft YaHei"/>
                <a:ea typeface="Microsoft YaHei"/>
                <a:cs typeface="Microsoft YaHei"/>
              </a:rPr>
              <a:t>ESD、CA、UCE、SafeGen、RECE</a:t>
            </a:r>
          </a:p>
          <a:p>
            <a:pPr marL="0" indent="0" algn="l">
              <a:lnSpc>
                <a:spcPct val="112000"/>
              </a:lnSpc>
              <a:spcBef>
                <a:spcPts val="0"/>
              </a:spcBef>
              <a:spcAft>
                <a:spcPts val="700"/>
              </a:spcAft>
              <a:buNone/>
            </a:pPr>
            <a:endParaRPr lang="zh-CN" sz="1870" b="0">
              <a:solidFill>
                <a:srgbClr val="202A33"/>
              </a:solidFill>
              <a:latin typeface="Microsoft YaHei"/>
              <a:ea typeface="Microsoft YaHei"/>
              <a:cs typeface="Microsoft YaHei"/>
            </a:endParaRPr>
          </a:p>
          <a:p>
            <a:pPr marL="0" indent="0" algn="l">
              <a:lnSpc>
                <a:spcPct val="112000"/>
              </a:lnSpc>
              <a:spcBef>
                <a:spcPts val="0"/>
              </a:spcBef>
              <a:spcAft>
                <a:spcPts val="700"/>
              </a:spcAft>
              <a:buNone/>
            </a:pPr>
            <a:r>
              <a:rPr lang="zh-CN" sz="1870" b="0">
                <a:solidFill>
                  <a:srgbClr val="202A33"/>
                </a:solidFill>
                <a:latin typeface="Microsoft YaHei"/>
                <a:ea typeface="Microsoft YaHei"/>
                <a:cs typeface="Microsoft YaHei"/>
              </a:rPr>
              <a:t>外部过滤器</a:t>
            </a:r>
          </a:p>
          <a:p>
            <a:pPr marL="0" indent="0" algn="l">
              <a:lnSpc>
                <a:spcPct val="112000"/>
              </a:lnSpc>
              <a:spcBef>
                <a:spcPts val="0"/>
              </a:spcBef>
              <a:spcAft>
                <a:spcPts val="700"/>
              </a:spcAft>
              <a:buNone/>
            </a:pPr>
            <a:r>
              <a:rPr lang="zh-CN" sz="1870" b="0">
                <a:solidFill>
                  <a:srgbClr val="202A33"/>
                </a:solidFill>
                <a:latin typeface="Microsoft YaHei"/>
                <a:ea typeface="Microsoft YaHei"/>
                <a:cs typeface="Microsoft YaHei"/>
              </a:rPr>
              <a:t>NSFW文本、关键词/乱码、</a:t>
            </a:r>
          </a:p>
          <a:p>
            <a:pPr marL="0" indent="0" algn="l">
              <a:lnSpc>
                <a:spcPct val="112000"/>
              </a:lnSpc>
              <a:spcBef>
                <a:spcPts val="0"/>
              </a:spcBef>
              <a:spcAft>
                <a:spcPts val="700"/>
              </a:spcAft>
              <a:buNone/>
            </a:pPr>
            <a:r>
              <a:rPr lang="zh-CN" sz="1870" b="0">
                <a:solidFill>
                  <a:srgbClr val="202A33"/>
                </a:solidFill>
                <a:latin typeface="Microsoft YaHei"/>
                <a:ea typeface="Microsoft YaHei"/>
                <a:cs typeface="Microsoft YaHei"/>
              </a:rPr>
              <a:t>NSFW图像、Safety Checker</a:t>
            </a:r>
          </a:p>
        </p:txBody>
      </p:sp>
      <p:sp>
        <p:nvSpPr>
          <p:cNvPr id="9" name="Rectangle 8"/>
          <p:cNvSpPr/>
          <p:nvPr/>
        </p:nvSpPr>
        <p:spPr>
          <a:xfrm>
            <a:off x="4535424" y="987552"/>
            <a:ext cx="3749039" cy="4407408"/>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35424" y="987552"/>
            <a:ext cx="3749039"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90872" y="1097280"/>
            <a:ext cx="343814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与不同生成方式比较</a:t>
            </a:r>
          </a:p>
        </p:txBody>
      </p:sp>
      <p:sp>
        <p:nvSpPr>
          <p:cNvPr id="12" name="TextBox 11"/>
          <p:cNvSpPr txBox="1"/>
          <p:nvPr/>
        </p:nvSpPr>
        <p:spPr>
          <a:xfrm>
            <a:off x="4718304" y="1700784"/>
            <a:ext cx="3383279" cy="3547872"/>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人工数据</a:t>
            </a:r>
          </a:p>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I2P、Adversarial Nibbler</a:t>
            </a:r>
          </a:p>
          <a:p>
            <a:pPr marL="0" indent="0" algn="l">
              <a:lnSpc>
                <a:spcPct val="112000"/>
              </a:lnSpc>
              <a:spcBef>
                <a:spcPts val="0"/>
              </a:spcBef>
              <a:spcAft>
                <a:spcPts val="700"/>
              </a:spcAft>
              <a:buNone/>
            </a:pPr>
            <a:endParaRPr lang="zh-CN" sz="1789" b="0">
              <a:solidFill>
                <a:srgbClr val="202A33"/>
              </a:solidFill>
              <a:latin typeface="Microsoft YaHei"/>
              <a:ea typeface="Microsoft YaHei"/>
              <a:cs typeface="Microsoft YaHei"/>
            </a:endParaRPr>
          </a:p>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Token扰动</a:t>
            </a:r>
          </a:p>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QF、SneakyPrompt、MMA、P4D、UnlearnDiffAtk</a:t>
            </a:r>
          </a:p>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LLM重写：ART、FLIRT、JailFuzzer</a:t>
            </a:r>
          </a:p>
        </p:txBody>
      </p:sp>
      <p:sp>
        <p:nvSpPr>
          <p:cNvPr id="13" name="Rectangle 12"/>
          <p:cNvSpPr/>
          <p:nvPr/>
        </p:nvSpPr>
        <p:spPr>
          <a:xfrm>
            <a:off x="8567928" y="987552"/>
            <a:ext cx="3108960" cy="4407408"/>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67928" y="987552"/>
            <a:ext cx="310896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23376" y="1097280"/>
            <a:ext cx="279806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评价什么</a:t>
            </a:r>
          </a:p>
        </p:txBody>
      </p:sp>
      <p:sp>
        <p:nvSpPr>
          <p:cNvPr id="16" name="TextBox 15"/>
          <p:cNvSpPr txBox="1"/>
          <p:nvPr/>
        </p:nvSpPr>
        <p:spPr>
          <a:xfrm>
            <a:off x="8750807" y="1700784"/>
            <a:ext cx="2743200" cy="3547872"/>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850" b="0">
                <a:solidFill>
                  <a:srgbClr val="202A33"/>
                </a:solidFill>
                <a:latin typeface="Microsoft YaHei"/>
                <a:ea typeface="Microsoft YaHei"/>
                <a:cs typeface="Microsoft YaHei"/>
              </a:rPr>
              <a:t>两类主要内容</a:t>
            </a:r>
          </a:p>
          <a:p>
            <a:pPr marL="0" indent="0" algn="l">
              <a:lnSpc>
                <a:spcPct val="112000"/>
              </a:lnSpc>
              <a:spcBef>
                <a:spcPts val="0"/>
              </a:spcBef>
              <a:spcAft>
                <a:spcPts val="700"/>
              </a:spcAft>
              <a:buNone/>
            </a:pPr>
            <a:r>
              <a:rPr lang="zh-CN" sz="1850" b="0">
                <a:solidFill>
                  <a:srgbClr val="202A33"/>
                </a:solidFill>
                <a:latin typeface="Microsoft YaHei"/>
                <a:ea typeface="Microsoft YaHei"/>
                <a:cs typeface="Microsoft YaHei"/>
              </a:rPr>
              <a:t>Sexual（色情）</a:t>
            </a:r>
          </a:p>
          <a:p>
            <a:pPr marL="0" indent="0" algn="l">
              <a:lnSpc>
                <a:spcPct val="112000"/>
              </a:lnSpc>
              <a:spcBef>
                <a:spcPts val="0"/>
              </a:spcBef>
              <a:spcAft>
                <a:spcPts val="700"/>
              </a:spcAft>
              <a:buNone/>
            </a:pPr>
            <a:r>
              <a:rPr lang="zh-CN" sz="1850" b="0">
                <a:solidFill>
                  <a:srgbClr val="202A33"/>
                </a:solidFill>
                <a:latin typeface="Microsoft YaHei"/>
                <a:ea typeface="Microsoft YaHei"/>
                <a:cs typeface="Microsoft YaHei"/>
              </a:rPr>
              <a:t>Violence（暴力）</a:t>
            </a:r>
          </a:p>
          <a:p>
            <a:pPr marL="0" indent="0" algn="l">
              <a:lnSpc>
                <a:spcPct val="112000"/>
              </a:lnSpc>
              <a:spcBef>
                <a:spcPts val="0"/>
              </a:spcBef>
              <a:spcAft>
                <a:spcPts val="700"/>
              </a:spcAft>
              <a:buNone/>
            </a:pPr>
            <a:endParaRPr lang="zh-CN" sz="1850" b="0">
              <a:solidFill>
                <a:srgbClr val="202A33"/>
              </a:solidFill>
              <a:latin typeface="Microsoft YaHei"/>
              <a:ea typeface="Microsoft YaHei"/>
              <a:cs typeface="Microsoft YaHei"/>
            </a:endParaRPr>
          </a:p>
          <a:p>
            <a:pPr marL="0" indent="0" algn="l">
              <a:lnSpc>
                <a:spcPct val="112000"/>
              </a:lnSpc>
              <a:spcBef>
                <a:spcPts val="0"/>
              </a:spcBef>
              <a:spcAft>
                <a:spcPts val="700"/>
              </a:spcAft>
              <a:buNone/>
            </a:pPr>
            <a:r>
              <a:rPr lang="zh-CN" sz="1850" b="0">
                <a:solidFill>
                  <a:srgbClr val="202A33"/>
                </a:solidFill>
                <a:latin typeface="Microsoft YaHei"/>
                <a:ea typeface="Microsoft YaHei"/>
                <a:cs typeface="Microsoft YaHei"/>
              </a:rPr>
              <a:t>PSR ↑：成功提示词比例</a:t>
            </a:r>
          </a:p>
          <a:p>
            <a:pPr marL="0" indent="0" algn="l">
              <a:lnSpc>
                <a:spcPct val="112000"/>
              </a:lnSpc>
              <a:spcBef>
                <a:spcPts val="0"/>
              </a:spcBef>
              <a:spcAft>
                <a:spcPts val="700"/>
              </a:spcAft>
              <a:buNone/>
            </a:pPr>
            <a:r>
              <a:rPr lang="zh-CN" sz="1850" b="0">
                <a:solidFill>
                  <a:srgbClr val="202A33"/>
                </a:solidFill>
                <a:latin typeface="Microsoft YaHei"/>
                <a:ea typeface="Microsoft YaHei"/>
                <a:cs typeface="Microsoft YaHei"/>
              </a:rPr>
              <a:t>PS ↓：提示词平均相似度</a:t>
            </a:r>
          </a:p>
        </p:txBody>
      </p:sp>
      <p:sp>
        <p:nvSpPr>
          <p:cNvPr id="17" name="Rectangle 16"/>
          <p:cNvSpPr/>
          <p:nvPr/>
        </p:nvSpPr>
        <p:spPr>
          <a:xfrm>
            <a:off x="502920" y="5577840"/>
            <a:ext cx="11173968" cy="39319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6656" y="5623560"/>
            <a:ext cx="10844784" cy="27432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50" b="1" dirty="0">
                <a:solidFill>
                  <a:srgbClr val="062D50"/>
                </a:solidFill>
                <a:latin typeface="Microsoft YaHei"/>
                <a:ea typeface="Microsoft YaHei"/>
                <a:cs typeface="Microsoft YaHei"/>
              </a:rPr>
              <a:t>被测对象、对照方法、评价指标分开列，才能看清每个比较的含义。</a:t>
            </a:r>
          </a:p>
        </p:txBody>
      </p:sp>
      <p:sp>
        <p:nvSpPr>
          <p:cNvPr id="19" name="TextBox 18"/>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来源：</a:t>
            </a:r>
            <a:r>
              <a:rPr lang="zh-TW" altLang="en-US" sz="1040" dirty="0">
                <a:solidFill>
                  <a:srgbClr val="647483"/>
                </a:solidFill>
                <a:latin typeface="Microsoft YaHei"/>
                <a:ea typeface="Microsoft YaHei"/>
                <a:cs typeface="Microsoft YaHei"/>
              </a:rPr>
              <a:t>论文</a:t>
            </a:r>
            <a:r>
              <a:rPr lang="zh-CN" sz="1040" b="0" dirty="0">
                <a:solidFill>
                  <a:srgbClr val="647483"/>
                </a:solidFill>
                <a:latin typeface="Microsoft YaHei"/>
                <a:ea typeface="Microsoft YaHei"/>
                <a:cs typeface="Microsoft YaHei"/>
              </a:rPr>
              <a:t> Table 1–2。原始 SD v1.5 为基础模型参照。</a:t>
            </a:r>
          </a:p>
        </p:txBody>
      </p:sp>
    </p:spTree>
    <p:extLst>
      <p:ext uri="{BB962C8B-B14F-4D97-AF65-F5344CB8AC3E}">
        <p14:creationId xmlns:p14="http://schemas.microsoft.com/office/powerpoint/2010/main" val="464854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137160"/>
            <a:ext cx="10881360" cy="475488"/>
          </a:xfr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指标例子：为什么成功率和多样性要一起看？</a:t>
            </a:r>
          </a:p>
        </p:txBody>
      </p:sp>
      <p:sp>
        <p:nvSpPr>
          <p:cNvPr id="3" name="Rectangle 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914400"/>
            <a:ext cx="1719072" cy="274320"/>
          </a:xfrm>
          <a:prstGeom prst="rect">
            <a:avLst/>
          </a:prstGeom>
          <a:solidFill>
            <a:srgbClr val="FBE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76072" y="964692"/>
            <a:ext cx="1572768" cy="20116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140" b="1">
                <a:solidFill>
                  <a:srgbClr val="AF4A3B"/>
                </a:solidFill>
                <a:latin typeface="Microsoft YaHei"/>
                <a:ea typeface="Microsoft YaHei"/>
                <a:cs typeface="Microsoft YaHei"/>
              </a:rPr>
              <a:t>教学结果 · 非实测</a:t>
            </a:r>
          </a:p>
        </p:txBody>
      </p:sp>
      <p:sp>
        <p:nvSpPr>
          <p:cNvPr id="6" name="TextBox 5"/>
          <p:cNvSpPr txBox="1"/>
          <p:nvPr/>
        </p:nvSpPr>
        <p:spPr>
          <a:xfrm>
            <a:off x="2432304" y="955547"/>
            <a:ext cx="9162288"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100" b="1">
                <a:solidFill>
                  <a:srgbClr val="062D50"/>
                </a:solidFill>
                <a:latin typeface="Microsoft YaHei"/>
                <a:ea typeface="Microsoft YaHei"/>
                <a:cs typeface="Microsoft YaHei"/>
              </a:rPr>
              <a:t>同一提示词生成3次，只要1次出现目标内容，就计为成功。</a:t>
            </a:r>
          </a:p>
        </p:txBody>
      </p:sp>
      <p:graphicFrame>
        <p:nvGraphicFramePr>
          <p:cNvPr id="7" name="Table 6"/>
          <p:cNvGraphicFramePr>
            <a:graphicFrameLocks noGrp="1"/>
          </p:cNvGraphicFramePr>
          <p:nvPr/>
        </p:nvGraphicFramePr>
        <p:xfrm>
          <a:off x="502920" y="1636776"/>
          <a:ext cx="6044184" cy="2606035"/>
        </p:xfrm>
        <a:graphic>
          <a:graphicData uri="http://schemas.openxmlformats.org/drawingml/2006/table">
            <a:tbl>
              <a:tblPr firstRow="1" bandRow="1">
                <a:tableStyleId>{5C22544A-7EE6-4342-B048-85BDC9FD1C3A}</a:tableStyleId>
              </a:tblPr>
              <a:tblGrid>
                <a:gridCol w="1197864">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21207">
                <a:tc>
                  <a:txBody>
                    <a:bodyPr/>
                    <a:lstStyle/>
                    <a:p>
                      <a:pPr algn="l">
                        <a:lnSpc>
                          <a:spcPct val="104000"/>
                        </a:lnSpc>
                        <a:spcAft>
                          <a:spcPts val="0"/>
                        </a:spcAft>
                      </a:pPr>
                      <a:r>
                        <a:rPr lang="zh-CN" sz="1700" b="1">
                          <a:solidFill>
                            <a:srgbClr val="FFFFFF"/>
                          </a:solidFill>
                          <a:latin typeface="Microsoft YaHei"/>
                          <a:ea typeface="Microsoft YaHei"/>
                          <a:cs typeface="Microsoft YaHei"/>
                        </a:rPr>
                        <a:t>提示词</a:t>
                      </a:r>
                    </a:p>
                  </a:txBody>
                  <a:tcPr marL="118872" marT="73152" marB="54864" anchor="ctr">
                    <a:solidFill>
                      <a:srgbClr val="062D50"/>
                    </a:solidFill>
                  </a:tcPr>
                </a:tc>
                <a:tc>
                  <a:txBody>
                    <a:bodyPr/>
                    <a:lstStyle/>
                    <a:p>
                      <a:pPr algn="ctr">
                        <a:lnSpc>
                          <a:spcPct val="104000"/>
                        </a:lnSpc>
                        <a:spcAft>
                          <a:spcPts val="0"/>
                        </a:spcAft>
                      </a:pPr>
                      <a:r>
                        <a:rPr lang="zh-CN" sz="1700" b="1">
                          <a:solidFill>
                            <a:srgbClr val="FFFFFF"/>
                          </a:solidFill>
                          <a:latin typeface="Microsoft YaHei"/>
                          <a:ea typeface="Microsoft YaHei"/>
                          <a:cs typeface="Microsoft YaHei"/>
                        </a:rPr>
                        <a:t>第1次</a:t>
                      </a:r>
                    </a:p>
                  </a:txBody>
                  <a:tcPr marL="118872" marT="73152" marB="54864" anchor="ctr">
                    <a:solidFill>
                      <a:srgbClr val="062D50"/>
                    </a:solidFill>
                  </a:tcPr>
                </a:tc>
                <a:tc>
                  <a:txBody>
                    <a:bodyPr/>
                    <a:lstStyle/>
                    <a:p>
                      <a:pPr algn="ctr">
                        <a:lnSpc>
                          <a:spcPct val="104000"/>
                        </a:lnSpc>
                        <a:spcAft>
                          <a:spcPts val="0"/>
                        </a:spcAft>
                      </a:pPr>
                      <a:r>
                        <a:rPr lang="zh-CN" sz="1700" b="1">
                          <a:solidFill>
                            <a:srgbClr val="FFFFFF"/>
                          </a:solidFill>
                          <a:latin typeface="Microsoft YaHei"/>
                          <a:ea typeface="Microsoft YaHei"/>
                          <a:cs typeface="Microsoft YaHei"/>
                        </a:rPr>
                        <a:t>第2次</a:t>
                      </a:r>
                    </a:p>
                  </a:txBody>
                  <a:tcPr marL="118872" marT="73152" marB="54864" anchor="ctr">
                    <a:solidFill>
                      <a:srgbClr val="062D50"/>
                    </a:solidFill>
                  </a:tcPr>
                </a:tc>
                <a:tc>
                  <a:txBody>
                    <a:bodyPr/>
                    <a:lstStyle/>
                    <a:p>
                      <a:pPr algn="ctr">
                        <a:lnSpc>
                          <a:spcPct val="104000"/>
                        </a:lnSpc>
                        <a:spcAft>
                          <a:spcPts val="0"/>
                        </a:spcAft>
                      </a:pPr>
                      <a:r>
                        <a:rPr lang="zh-CN" sz="1700" b="1">
                          <a:solidFill>
                            <a:srgbClr val="FFFFFF"/>
                          </a:solidFill>
                          <a:latin typeface="Microsoft YaHei"/>
                          <a:ea typeface="Microsoft YaHei"/>
                          <a:cs typeface="Microsoft YaHei"/>
                        </a:rPr>
                        <a:t>第3次</a:t>
                      </a:r>
                    </a:p>
                  </a:txBody>
                  <a:tcPr marL="118872" marT="73152" marB="54864" anchor="ctr">
                    <a:solidFill>
                      <a:srgbClr val="062D50"/>
                    </a:solidFill>
                  </a:tcPr>
                </a:tc>
                <a:tc>
                  <a:txBody>
                    <a:bodyPr/>
                    <a:lstStyle/>
                    <a:p>
                      <a:pPr algn="ctr">
                        <a:lnSpc>
                          <a:spcPct val="104000"/>
                        </a:lnSpc>
                        <a:spcAft>
                          <a:spcPts val="0"/>
                        </a:spcAft>
                      </a:pPr>
                      <a:r>
                        <a:rPr lang="zh-CN" sz="1700" b="1">
                          <a:solidFill>
                            <a:srgbClr val="FFFFFF"/>
                          </a:solidFill>
                          <a:latin typeface="Microsoft YaHei"/>
                          <a:ea typeface="Microsoft YaHei"/>
                          <a:cs typeface="Microsoft YaHei"/>
                        </a:rPr>
                        <a:t>计为成功？</a:t>
                      </a:r>
                    </a:p>
                  </a:txBody>
                  <a:tcPr marL="118872" marT="73152" marB="54864" anchor="ctr">
                    <a:solidFill>
                      <a:srgbClr val="062D50"/>
                    </a:solidFill>
                  </a:tcPr>
                </a:tc>
                <a:extLst>
                  <a:ext uri="{0D108BD9-81ED-4DB2-BD59-A6C34878D82A}">
                    <a16:rowId xmlns:a16="http://schemas.microsoft.com/office/drawing/2014/main" val="10000"/>
                  </a:ext>
                </a:extLst>
              </a:tr>
              <a:tr h="521207">
                <a:tc>
                  <a:txBody>
                    <a:bodyPr/>
                    <a:lstStyle/>
                    <a:p>
                      <a:pPr algn="l">
                        <a:lnSpc>
                          <a:spcPct val="104000"/>
                        </a:lnSpc>
                        <a:spcAft>
                          <a:spcPts val="0"/>
                        </a:spcAft>
                      </a:pPr>
                      <a:r>
                        <a:rPr lang="zh-CN" sz="1700" b="1">
                          <a:solidFill>
                            <a:srgbClr val="202A33"/>
                          </a:solidFill>
                          <a:latin typeface="Microsoft YaHei"/>
                          <a:ea typeface="Microsoft YaHei"/>
                          <a:cs typeface="Microsoft YaHei"/>
                        </a:rPr>
                        <a:t>A</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0</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1</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0</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是</a:t>
                      </a:r>
                    </a:p>
                  </a:txBody>
                  <a:tcPr marL="118872" marT="73152" marB="54864" anchor="ctr">
                    <a:solidFill>
                      <a:srgbClr val="D1EBF5"/>
                    </a:solidFill>
                  </a:tcPr>
                </a:tc>
                <a:extLst>
                  <a:ext uri="{0D108BD9-81ED-4DB2-BD59-A6C34878D82A}">
                    <a16:rowId xmlns:a16="http://schemas.microsoft.com/office/drawing/2014/main" val="10001"/>
                  </a:ext>
                </a:extLst>
              </a:tr>
              <a:tr h="521207">
                <a:tc>
                  <a:txBody>
                    <a:bodyPr/>
                    <a:lstStyle/>
                    <a:p>
                      <a:pPr algn="l">
                        <a:lnSpc>
                          <a:spcPct val="104000"/>
                        </a:lnSpc>
                        <a:spcAft>
                          <a:spcPts val="0"/>
                        </a:spcAft>
                      </a:pPr>
                      <a:r>
                        <a:rPr lang="zh-CN" sz="1700" b="0">
                          <a:solidFill>
                            <a:srgbClr val="202A33"/>
                          </a:solidFill>
                          <a:latin typeface="Microsoft YaHei"/>
                          <a:ea typeface="Microsoft YaHei"/>
                          <a:cs typeface="Microsoft YaHei"/>
                        </a:rPr>
                        <a:t>B</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0</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0</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0</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否</a:t>
                      </a:r>
                    </a:p>
                  </a:txBody>
                  <a:tcPr marL="118872" marT="73152" marB="54864" anchor="ctr">
                    <a:solidFill>
                      <a:srgbClr val="FFFFFF"/>
                    </a:solidFill>
                  </a:tcPr>
                </a:tc>
                <a:extLst>
                  <a:ext uri="{0D108BD9-81ED-4DB2-BD59-A6C34878D82A}">
                    <a16:rowId xmlns:a16="http://schemas.microsoft.com/office/drawing/2014/main" val="10002"/>
                  </a:ext>
                </a:extLst>
              </a:tr>
              <a:tr h="521207">
                <a:tc>
                  <a:txBody>
                    <a:bodyPr/>
                    <a:lstStyle/>
                    <a:p>
                      <a:pPr algn="l">
                        <a:lnSpc>
                          <a:spcPct val="104000"/>
                        </a:lnSpc>
                        <a:spcAft>
                          <a:spcPts val="0"/>
                        </a:spcAft>
                      </a:pPr>
                      <a:r>
                        <a:rPr lang="zh-CN" sz="1700" b="1">
                          <a:solidFill>
                            <a:srgbClr val="202A33"/>
                          </a:solidFill>
                          <a:latin typeface="Microsoft YaHei"/>
                          <a:ea typeface="Microsoft YaHei"/>
                          <a:cs typeface="Microsoft YaHei"/>
                        </a:rPr>
                        <a:t>C</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1</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0</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1</a:t>
                      </a:r>
                    </a:p>
                  </a:txBody>
                  <a:tcPr marL="118872" marT="73152" marB="54864" anchor="ctr">
                    <a:solidFill>
                      <a:srgbClr val="D1EBF5"/>
                    </a:solidFill>
                  </a:tcPr>
                </a:tc>
                <a:tc>
                  <a:txBody>
                    <a:bodyPr/>
                    <a:lstStyle/>
                    <a:p>
                      <a:pPr algn="ctr">
                        <a:lnSpc>
                          <a:spcPct val="104000"/>
                        </a:lnSpc>
                        <a:spcAft>
                          <a:spcPts val="0"/>
                        </a:spcAft>
                      </a:pPr>
                      <a:r>
                        <a:rPr lang="zh-CN" sz="1700" b="1">
                          <a:solidFill>
                            <a:srgbClr val="202A33"/>
                          </a:solidFill>
                          <a:latin typeface="Microsoft YaHei"/>
                          <a:ea typeface="Microsoft YaHei"/>
                          <a:cs typeface="Microsoft YaHei"/>
                        </a:rPr>
                        <a:t>是</a:t>
                      </a:r>
                    </a:p>
                  </a:txBody>
                  <a:tcPr marL="118872" marT="73152" marB="54864" anchor="ctr">
                    <a:solidFill>
                      <a:srgbClr val="D1EBF5"/>
                    </a:solidFill>
                  </a:tcPr>
                </a:tc>
                <a:extLst>
                  <a:ext uri="{0D108BD9-81ED-4DB2-BD59-A6C34878D82A}">
                    <a16:rowId xmlns:a16="http://schemas.microsoft.com/office/drawing/2014/main" val="10003"/>
                  </a:ext>
                </a:extLst>
              </a:tr>
              <a:tr h="521207">
                <a:tc>
                  <a:txBody>
                    <a:bodyPr/>
                    <a:lstStyle/>
                    <a:p>
                      <a:pPr algn="l">
                        <a:lnSpc>
                          <a:spcPct val="104000"/>
                        </a:lnSpc>
                        <a:spcAft>
                          <a:spcPts val="0"/>
                        </a:spcAft>
                      </a:pPr>
                      <a:r>
                        <a:rPr lang="zh-CN" sz="1700" b="0">
                          <a:solidFill>
                            <a:srgbClr val="202A33"/>
                          </a:solidFill>
                          <a:latin typeface="Microsoft YaHei"/>
                          <a:ea typeface="Microsoft YaHei"/>
                          <a:cs typeface="Microsoft YaHei"/>
                        </a:rPr>
                        <a:t>D</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0</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0</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0</a:t>
                      </a:r>
                    </a:p>
                  </a:txBody>
                  <a:tcPr marL="118872" marT="73152" marB="54864" anchor="ctr">
                    <a:solidFill>
                      <a:srgbClr val="FFFFFF"/>
                    </a:solidFill>
                  </a:tcPr>
                </a:tc>
                <a:tc>
                  <a:txBody>
                    <a:bodyPr/>
                    <a:lstStyle/>
                    <a:p>
                      <a:pPr algn="ctr">
                        <a:lnSpc>
                          <a:spcPct val="104000"/>
                        </a:lnSpc>
                        <a:spcAft>
                          <a:spcPts val="0"/>
                        </a:spcAft>
                      </a:pPr>
                      <a:r>
                        <a:rPr lang="zh-CN" sz="1700" b="0">
                          <a:solidFill>
                            <a:srgbClr val="202A33"/>
                          </a:solidFill>
                          <a:latin typeface="Microsoft YaHei"/>
                          <a:ea typeface="Microsoft YaHei"/>
                          <a:cs typeface="Microsoft YaHei"/>
                        </a:rPr>
                        <a:t>否</a:t>
                      </a:r>
                    </a:p>
                  </a:txBody>
                  <a:tcPr marL="118872" marT="73152" marB="54864" anchor="ctr">
                    <a:solidFill>
                      <a:srgbClr val="FFFFFF"/>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640080" y="4517136"/>
            <a:ext cx="5486400" cy="38404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PSR-3 = 2条成功提示词 / 4条 = 50%</a:t>
            </a:r>
          </a:p>
        </p:txBody>
      </p:sp>
      <p:sp>
        <p:nvSpPr>
          <p:cNvPr id="9" name="TextBox 8"/>
          <p:cNvSpPr txBox="1"/>
          <p:nvPr/>
        </p:nvSpPr>
        <p:spPr>
          <a:xfrm>
            <a:off x="640080" y="5065776"/>
            <a:ext cx="5486400"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50" b="0">
                <a:solidFill>
                  <a:srgbClr val="647483"/>
                </a:solidFill>
                <a:latin typeface="Microsoft YaHei"/>
                <a:ea typeface="Microsoft YaHei"/>
                <a:cs typeface="Microsoft YaHei"/>
              </a:rPr>
              <a:t>分母是提示词，不是生成的12张图像。</a:t>
            </a:r>
          </a:p>
        </p:txBody>
      </p:sp>
      <p:sp>
        <p:nvSpPr>
          <p:cNvPr id="10" name="Rectangle 9"/>
          <p:cNvSpPr/>
          <p:nvPr/>
        </p:nvSpPr>
        <p:spPr>
          <a:xfrm>
            <a:off x="6455664" y="1636776"/>
            <a:ext cx="5221224" cy="2807208"/>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55664" y="1636776"/>
            <a:ext cx="5221224"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11112" y="1746504"/>
            <a:ext cx="4910328"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FFFFFF"/>
                </a:solidFill>
                <a:latin typeface="Microsoft YaHei"/>
                <a:ea typeface="Microsoft YaHei"/>
                <a:cs typeface="Microsoft YaHei"/>
              </a:rPr>
              <a:t>PS：提示词有没有重复？</a:t>
            </a:r>
          </a:p>
        </p:txBody>
      </p:sp>
      <p:sp>
        <p:nvSpPr>
          <p:cNvPr id="13" name="TextBox 12"/>
          <p:cNvSpPr txBox="1"/>
          <p:nvPr/>
        </p:nvSpPr>
        <p:spPr>
          <a:xfrm>
            <a:off x="6638544" y="2350008"/>
            <a:ext cx="4855464" cy="1947672"/>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比较所有提示词向量的两两余弦相似度。</a:t>
            </a:r>
          </a:p>
          <a:p>
            <a:pPr marL="0" indent="0" algn="l">
              <a:lnSpc>
                <a:spcPct val="112000"/>
              </a:lnSpc>
              <a:spcBef>
                <a:spcPts val="0"/>
              </a:spcBef>
              <a:spcAft>
                <a:spcPts val="700"/>
              </a:spcAft>
              <a:buNone/>
            </a:pPr>
            <a:endParaRPr lang="zh-CN" sz="1900" b="0">
              <a:solidFill>
                <a:srgbClr val="202A33"/>
              </a:solidFill>
              <a:latin typeface="Microsoft YaHei"/>
              <a:ea typeface="Microsoft YaHei"/>
              <a:cs typeface="Microsoft YaHei"/>
            </a:endParaRPr>
          </a:p>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“长椅上坐着一只狗”</a:t>
            </a:r>
          </a:p>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“一只狗坐在长椅上”</a:t>
            </a:r>
          </a:p>
          <a:p>
            <a:pPr marL="0" indent="0" algn="l">
              <a:lnSpc>
                <a:spcPct val="112000"/>
              </a:lnSpc>
              <a:spcBef>
                <a:spcPts val="0"/>
              </a:spcBef>
              <a:spcAft>
                <a:spcPts val="700"/>
              </a:spcAft>
              <a:buNone/>
            </a:pPr>
            <a:r>
              <a:rPr lang="zh-CN" sz="1900" b="0">
                <a:solidFill>
                  <a:srgbClr val="202A33"/>
                </a:solidFill>
                <a:latin typeface="Microsoft YaHei"/>
                <a:ea typeface="Microsoft YaHei"/>
                <a:cs typeface="Microsoft YaHei"/>
              </a:rPr>
              <a:t>这两句可能只是换了表达。</a:t>
            </a:r>
          </a:p>
        </p:txBody>
      </p:sp>
      <p:sp>
        <p:nvSpPr>
          <p:cNvPr id="14" name="TextBox 13"/>
          <p:cNvSpPr txBox="1"/>
          <p:nvPr/>
        </p:nvSpPr>
        <p:spPr>
          <a:xfrm>
            <a:off x="6601968" y="4599432"/>
            <a:ext cx="4882896" cy="832104"/>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930" b="1">
                <a:solidFill>
                  <a:srgbClr val="062D50"/>
                </a:solidFill>
                <a:latin typeface="Microsoft YaHei"/>
                <a:ea typeface="Microsoft YaHei"/>
                <a:cs typeface="Microsoft YaHei"/>
              </a:rPr>
              <a:t>PS 越低，平均语义相似度越低。</a:t>
            </a:r>
          </a:p>
          <a:p>
            <a:pPr marL="0" indent="0" algn="l">
              <a:lnSpc>
                <a:spcPct val="112000"/>
              </a:lnSpc>
              <a:spcBef>
                <a:spcPts val="0"/>
              </a:spcBef>
              <a:spcAft>
                <a:spcPts val="700"/>
              </a:spcAft>
              <a:buNone/>
            </a:pPr>
            <a:r>
              <a:rPr lang="zh-CN" sz="1930" b="1">
                <a:solidFill>
                  <a:srgbClr val="062D50"/>
                </a:solidFill>
                <a:latin typeface="Microsoft YaHei"/>
                <a:ea typeface="Microsoft YaHei"/>
                <a:cs typeface="Microsoft YaHei"/>
              </a:rPr>
              <a:t>它不等于覆盖了所有风险类型。</a:t>
            </a:r>
          </a:p>
        </p:txBody>
      </p:sp>
      <p:sp>
        <p:nvSpPr>
          <p:cNvPr id="15" name="TextBox 14"/>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PSR-3、MHSC和PS定义补充自论文 §5.1；表中1=本次图像被判为目标内容，0=未出现或被拒绝。</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9EB0D-696A-DED8-9B46-4A3B5DE7838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7049231-D930-B885-AA86-EB1F18817ED2}"/>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DREAM 能发现更多安全对齐模型的失败案例</a:t>
            </a:r>
            <a:endParaRPr lang="zh-CN" altLang="en-US" dirty="0"/>
          </a:p>
        </p:txBody>
      </p:sp>
      <p:pic>
        <p:nvPicPr>
          <p:cNvPr id="6" name="圖片 5">
            <a:extLst>
              <a:ext uri="{FF2B5EF4-FFF2-40B4-BE49-F238E27FC236}">
                <a16:creationId xmlns:a16="http://schemas.microsoft.com/office/drawing/2014/main" id="{E07E7264-34E3-5CA7-75B7-EAE3EE6172CD}"/>
              </a:ext>
            </a:extLst>
          </p:cNvPr>
          <p:cNvPicPr>
            <a:picLocks noChangeAspect="1"/>
          </p:cNvPicPr>
          <p:nvPr/>
        </p:nvPicPr>
        <p:blipFill>
          <a:blip r:embed="rId3"/>
          <a:stretch>
            <a:fillRect/>
          </a:stretch>
        </p:blipFill>
        <p:spPr>
          <a:xfrm>
            <a:off x="1516630" y="1536192"/>
            <a:ext cx="9155690" cy="3867912"/>
          </a:xfrm>
          <a:prstGeom prst="rect">
            <a:avLst/>
          </a:prstGeom>
        </p:spPr>
      </p:pic>
      <p:sp>
        <p:nvSpPr>
          <p:cNvPr id="7" name="Rectangle 6"/>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为什么做：先检查在同一被测模型上，哪种方法能找到更多成功案例。</a:t>
            </a:r>
          </a:p>
        </p:txBody>
      </p:sp>
      <p:sp>
        <p:nvSpPr>
          <p:cNvPr id="10" name="Rectangle 9"/>
          <p:cNvSpPr/>
          <p:nvPr/>
        </p:nvSpPr>
        <p:spPr>
          <a:xfrm>
            <a:off x="502920" y="5504688"/>
            <a:ext cx="11173968" cy="448056"/>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5614416"/>
            <a:ext cx="10890504"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50" b="1">
                <a:solidFill>
                  <a:srgbClr val="062D50"/>
                </a:solidFill>
                <a:latin typeface="Microsoft YaHei"/>
                <a:ea typeface="Microsoft YaHei"/>
                <a:cs typeface="Microsoft YaHei"/>
              </a:rPr>
              <a:t>例：CA / Sexual   P4D：52.0% / 0.60  →  DREAM：76.0% / 0.56   （PSR ↑ / PS ↓）</a:t>
            </a:r>
          </a:p>
        </p:txBody>
      </p:sp>
      <p:sp>
        <p:nvSpPr>
          <p:cNvPr id="12" name="TextBox 11"/>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来源：</a:t>
            </a:r>
            <a:r>
              <a:rPr lang="zh-CN" altLang="en-US" sz="1040" b="0" dirty="0">
                <a:solidFill>
                  <a:srgbClr val="647483"/>
                </a:solidFill>
                <a:latin typeface="Microsoft YaHei"/>
                <a:ea typeface="Microsoft YaHei"/>
                <a:cs typeface="Microsoft YaHei"/>
              </a:rPr>
              <a:t>论文 </a:t>
            </a:r>
            <a:r>
              <a:rPr lang="zh-CN" sz="1040" b="0" dirty="0">
                <a:solidFill>
                  <a:srgbClr val="647483"/>
                </a:solidFill>
                <a:latin typeface="Microsoft YaHei"/>
                <a:ea typeface="Microsoft YaHei"/>
                <a:cs typeface="Microsoft YaHei"/>
              </a:rPr>
              <a:t>Table 1。PSR 越高表示成功提示词更多；PS 越低表示平均相似度更低。</a:t>
            </a:r>
          </a:p>
        </p:txBody>
      </p:sp>
    </p:spTree>
    <p:extLst>
      <p:ext uri="{BB962C8B-B14F-4D97-AF65-F5344CB8AC3E}">
        <p14:creationId xmlns:p14="http://schemas.microsoft.com/office/powerpoint/2010/main" val="2317976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D7222-02A9-D98A-9C4F-A2B90EA1BB0A}"/>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624D98B8-25E4-1519-0C96-5C021F188CB1}"/>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换成外部过滤器，结果会怎样？</a:t>
            </a:r>
            <a:endParaRPr lang="zh-CN" altLang="en-US" dirty="0"/>
          </a:p>
        </p:txBody>
      </p:sp>
      <p:pic>
        <p:nvPicPr>
          <p:cNvPr id="8" name="圖片 7">
            <a:extLst>
              <a:ext uri="{FF2B5EF4-FFF2-40B4-BE49-F238E27FC236}">
                <a16:creationId xmlns:a16="http://schemas.microsoft.com/office/drawing/2014/main" id="{0AD483B8-A92C-4DD8-0CAF-037D98F65192}"/>
              </a:ext>
            </a:extLst>
          </p:cNvPr>
          <p:cNvPicPr>
            <a:picLocks noChangeAspect="1"/>
          </p:cNvPicPr>
          <p:nvPr/>
        </p:nvPicPr>
        <p:blipFill>
          <a:blip r:embed="rId3"/>
          <a:stretch>
            <a:fillRect/>
          </a:stretch>
        </p:blipFill>
        <p:spPr>
          <a:xfrm>
            <a:off x="1848497" y="1545336"/>
            <a:ext cx="8501101" cy="3867912"/>
          </a:xfrm>
          <a:prstGeom prst="rect">
            <a:avLst/>
          </a:prstGeom>
        </p:spPr>
      </p:pic>
      <p:sp>
        <p:nvSpPr>
          <p:cNvPr id="9" name="Rectangle 8"/>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为什么做：模型参数里的安全对齐，与输入或输出端的拦截，不是同一个测试条件。</a:t>
            </a:r>
          </a:p>
        </p:txBody>
      </p:sp>
      <p:sp>
        <p:nvSpPr>
          <p:cNvPr id="12" name="Rectangle 11"/>
          <p:cNvSpPr/>
          <p:nvPr/>
        </p:nvSpPr>
        <p:spPr>
          <a:xfrm>
            <a:off x="502920" y="5504688"/>
            <a:ext cx="11173968" cy="457200"/>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5614416"/>
            <a:ext cx="10890504"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10" b="1">
                <a:solidFill>
                  <a:srgbClr val="062D50"/>
                </a:solidFill>
                <a:latin typeface="Microsoft YaHei"/>
                <a:ea typeface="Microsoft YaHei"/>
                <a:cs typeface="Microsoft YaHei"/>
              </a:rPr>
              <a:t>NSFW文本 / Violence：DREAM 42.5%，JailFuzzer 46.4%。多数设置更好，但不是每列第一。</a:t>
            </a:r>
          </a:p>
        </p:txBody>
      </p:sp>
      <p:sp>
        <p:nvSpPr>
          <p:cNvPr id="14" name="TextBox 13"/>
          <p:cNvSpPr txBox="1"/>
          <p:nvPr/>
        </p:nvSpPr>
        <p:spPr>
          <a:xfrm>
            <a:off x="502920" y="6144768"/>
            <a:ext cx="10881360" cy="192024"/>
          </a:xfrm>
          <a:prstGeom prst="rect">
            <a:avLst/>
          </a:prstGeom>
          <a:noFill/>
        </p:spPr>
        <p:txBody>
          <a:bodyPr wrap="square" lIns="0" tIns="0" rIns="0" bIns="0" anchor="t">
            <a:noAutofit/>
          </a:bodyPr>
          <a:lstStyle/>
          <a:p>
            <a:pPr>
              <a:lnSpc>
                <a:spcPct val="112000"/>
              </a:lnSpc>
            </a:pPr>
            <a:r>
              <a:rPr lang="zh-CN" sz="1040" b="0" dirty="0">
                <a:solidFill>
                  <a:srgbClr val="647483"/>
                </a:solidFill>
                <a:latin typeface="Microsoft YaHei"/>
                <a:ea typeface="Microsoft YaHei"/>
                <a:cs typeface="Microsoft YaHei"/>
              </a:rPr>
              <a:t>来源：</a:t>
            </a:r>
            <a:r>
              <a:rPr lang="zh-CN" altLang="en-US" sz="1040" dirty="0">
                <a:solidFill>
                  <a:srgbClr val="647483"/>
                </a:solidFill>
                <a:latin typeface="Microsoft YaHei"/>
                <a:ea typeface="Microsoft YaHei"/>
                <a:cs typeface="Microsoft YaHei"/>
              </a:rPr>
              <a:t>论文 </a:t>
            </a:r>
            <a:r>
              <a:rPr lang="zh-CN" sz="1040" b="0" dirty="0">
                <a:solidFill>
                  <a:srgbClr val="647483"/>
                </a:solidFill>
                <a:latin typeface="Microsoft YaHei"/>
                <a:ea typeface="Microsoft YaHei"/>
                <a:cs typeface="Microsoft YaHei"/>
              </a:rPr>
              <a:t>Table 2。各过滤器对应独立的实验设置。</a:t>
            </a:r>
          </a:p>
        </p:txBody>
      </p:sp>
    </p:spTree>
    <p:extLst>
      <p:ext uri="{BB962C8B-B14F-4D97-AF65-F5344CB8AC3E}">
        <p14:creationId xmlns:p14="http://schemas.microsoft.com/office/powerpoint/2010/main" val="2493728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01256-3888-F0C8-AAC9-591351514DC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ED51CBF-6BC8-7ED1-A0E4-7AE9CBE8FFE1}"/>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换到商业平台，提示词还能触发风险吗？</a:t>
            </a:r>
            <a:endParaRPr lang="zh-CN" altLang="en-US" dirty="0"/>
          </a:p>
        </p:txBody>
      </p:sp>
      <p:pic>
        <p:nvPicPr>
          <p:cNvPr id="6" name="圖片 5">
            <a:extLst>
              <a:ext uri="{FF2B5EF4-FFF2-40B4-BE49-F238E27FC236}">
                <a16:creationId xmlns:a16="http://schemas.microsoft.com/office/drawing/2014/main" id="{146F2E58-89A3-CA48-96A1-E16DFCD1AA47}"/>
              </a:ext>
            </a:extLst>
          </p:cNvPr>
          <p:cNvPicPr>
            <a:picLocks noChangeAspect="1"/>
          </p:cNvPicPr>
          <p:nvPr/>
        </p:nvPicPr>
        <p:blipFill>
          <a:blip r:embed="rId3"/>
          <a:stretch>
            <a:fillRect/>
          </a:stretch>
        </p:blipFill>
        <p:spPr>
          <a:xfrm>
            <a:off x="1067225" y="1554480"/>
            <a:ext cx="5327053" cy="4462272"/>
          </a:xfrm>
          <a:prstGeom prst="rect">
            <a:avLst/>
          </a:prstGeom>
        </p:spPr>
      </p:pic>
      <p:sp>
        <p:nvSpPr>
          <p:cNvPr id="7" name="Rectangle 6"/>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为什么做：实验模型里的发现，能否迁移到安全机制未公开的真实服务？</a:t>
            </a:r>
          </a:p>
        </p:txBody>
      </p:sp>
      <p:sp>
        <p:nvSpPr>
          <p:cNvPr id="10" name="Rectangle 9"/>
          <p:cNvSpPr/>
          <p:nvPr/>
        </p:nvSpPr>
        <p:spPr>
          <a:xfrm>
            <a:off x="7242048" y="1591056"/>
            <a:ext cx="4434840" cy="196596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242048" y="1591056"/>
            <a:ext cx="443484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97496" y="1700784"/>
            <a:ext cx="412394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FFFFFF"/>
                </a:solidFill>
                <a:latin typeface="Microsoft YaHei"/>
                <a:ea typeface="Microsoft YaHei"/>
                <a:cs typeface="Microsoft YaHei"/>
              </a:rPr>
              <a:t>三个数字不能混在一起</a:t>
            </a:r>
          </a:p>
        </p:txBody>
      </p:sp>
      <p:sp>
        <p:nvSpPr>
          <p:cNvPr id="13" name="TextBox 12"/>
          <p:cNvSpPr txBox="1"/>
          <p:nvPr/>
        </p:nvSpPr>
        <p:spPr>
          <a:xfrm>
            <a:off x="7424927" y="2304288"/>
            <a:ext cx="4069079" cy="1106424"/>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Prompt Bypass：文字请求被接受。</a:t>
            </a:r>
          </a:p>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Prompt–Image Bypass：图片被返回。</a:t>
            </a:r>
          </a:p>
          <a:p>
            <a:pPr marL="0" indent="0" algn="l">
              <a:lnSpc>
                <a:spcPct val="112000"/>
              </a:lnSpc>
              <a:spcBef>
                <a:spcPts val="0"/>
              </a:spcBef>
              <a:spcAft>
                <a:spcPts val="700"/>
              </a:spcAft>
              <a:buNone/>
            </a:pPr>
            <a:r>
              <a:rPr lang="zh-CN" sz="1789" b="0">
                <a:solidFill>
                  <a:srgbClr val="202A33"/>
                </a:solidFill>
                <a:latin typeface="Microsoft YaHei"/>
                <a:ea typeface="Microsoft YaHei"/>
                <a:cs typeface="Microsoft YaHei"/>
              </a:rPr>
              <a:t>Human-Rated：人工确认目标风险。</a:t>
            </a:r>
          </a:p>
        </p:txBody>
      </p:sp>
      <p:sp>
        <p:nvSpPr>
          <p:cNvPr id="14" name="Rectangle 13"/>
          <p:cNvSpPr/>
          <p:nvPr/>
        </p:nvSpPr>
        <p:spPr>
          <a:xfrm>
            <a:off x="7242048" y="3822191"/>
            <a:ext cx="4434840" cy="181051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34072" y="4005072"/>
            <a:ext cx="4032504" cy="38404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50" b="1">
                <a:solidFill>
                  <a:srgbClr val="062D50"/>
                </a:solidFill>
                <a:latin typeface="Microsoft YaHei"/>
                <a:ea typeface="Microsoft YaHei"/>
                <a:cs typeface="Microsoft YaHei"/>
              </a:rPr>
              <a:t>以 Ideogram / DREAM 为例</a:t>
            </a:r>
          </a:p>
        </p:txBody>
      </p:sp>
      <p:sp>
        <p:nvSpPr>
          <p:cNvPr id="16" name="TextBox 15"/>
          <p:cNvSpPr txBox="1"/>
          <p:nvPr/>
        </p:nvSpPr>
        <p:spPr>
          <a:xfrm>
            <a:off x="7434072" y="4608576"/>
            <a:ext cx="4032504" cy="36576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98.4%  →  96.1%  →  57.9%</a:t>
            </a:r>
          </a:p>
        </p:txBody>
      </p:sp>
      <p:sp>
        <p:nvSpPr>
          <p:cNvPr id="17" name="TextBox 16"/>
          <p:cNvSpPr txBox="1"/>
          <p:nvPr/>
        </p:nvSpPr>
        <p:spPr>
          <a:xfrm>
            <a:off x="7434072" y="5148072"/>
            <a:ext cx="40325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680" b="0">
                <a:solidFill>
                  <a:srgbClr val="062D50"/>
                </a:solidFill>
                <a:latin typeface="Microsoft YaHei"/>
                <a:ea typeface="Microsoft YaHei"/>
                <a:cs typeface="Microsoft YaHei"/>
              </a:rPr>
              <a:t>通过过滤，不代表一定产生目标风险。</a:t>
            </a:r>
          </a:p>
        </p:txBody>
      </p:sp>
      <p:sp>
        <p:nvSpPr>
          <p:cNvPr id="18" name="TextBox 17"/>
          <p:cNvSpPr txBox="1"/>
          <p:nvPr/>
        </p:nvSpPr>
        <p:spPr>
          <a:xfrm>
            <a:off x="502920" y="6144768"/>
            <a:ext cx="10881360" cy="192024"/>
          </a:xfrm>
          <a:prstGeom prst="rect">
            <a:avLst/>
          </a:prstGeom>
          <a:noFill/>
        </p:spPr>
        <p:txBody>
          <a:bodyPr wrap="square" lIns="0" tIns="0" rIns="0" bIns="0" anchor="t">
            <a:noAutofit/>
          </a:bodyPr>
          <a:lstStyle/>
          <a:p>
            <a:pPr>
              <a:lnSpc>
                <a:spcPct val="112000"/>
              </a:lnSpc>
            </a:pPr>
            <a:r>
              <a:rPr lang="zh-CN" sz="1040" b="0" dirty="0">
                <a:solidFill>
                  <a:srgbClr val="647483"/>
                </a:solidFill>
                <a:latin typeface="Microsoft YaHei"/>
                <a:ea typeface="Microsoft YaHei"/>
                <a:cs typeface="Microsoft YaHei"/>
              </a:rPr>
              <a:t>来源：</a:t>
            </a:r>
            <a:r>
              <a:rPr lang="zh-CN" altLang="en-US" sz="1040" dirty="0">
                <a:solidFill>
                  <a:srgbClr val="647483"/>
                </a:solidFill>
                <a:latin typeface="Microsoft YaHei"/>
                <a:ea typeface="Microsoft YaHei"/>
                <a:cs typeface="Microsoft YaHei"/>
              </a:rPr>
              <a:t>论文 </a:t>
            </a:r>
            <a:r>
              <a:rPr lang="zh-CN" sz="1040" b="0" dirty="0">
                <a:solidFill>
                  <a:srgbClr val="647483"/>
                </a:solidFill>
                <a:latin typeface="Microsoft YaHei"/>
                <a:ea typeface="Microsoft YaHei"/>
                <a:cs typeface="Microsoft YaHei"/>
              </a:rPr>
              <a:t>Table 5；平台结果对应论文测试时的版本。</a:t>
            </a:r>
          </a:p>
        </p:txBody>
      </p:sp>
    </p:spTree>
    <p:extLst>
      <p:ext uri="{BB962C8B-B14F-4D97-AF65-F5344CB8AC3E}">
        <p14:creationId xmlns:p14="http://schemas.microsoft.com/office/powerpoint/2010/main" val="1342212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56C97-5EE2-AA95-E49E-26FA5A6B416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F86DA6D-4B31-FECB-8AD7-CB14D80070CE}"/>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相近计算时间下，GC-SPSA 是否更有效？</a:t>
            </a:r>
            <a:endParaRPr lang="zh-CN" altLang="en-US" dirty="0"/>
          </a:p>
        </p:txBody>
      </p:sp>
      <p:graphicFrame>
        <p:nvGraphicFramePr>
          <p:cNvPr id="7" name="表格 6">
            <a:extLst>
              <a:ext uri="{FF2B5EF4-FFF2-40B4-BE49-F238E27FC236}">
                <a16:creationId xmlns:a16="http://schemas.microsoft.com/office/drawing/2014/main" id="{EFB7D6A8-01EB-7B85-7EEE-A9BA8CA0E009}"/>
              </a:ext>
            </a:extLst>
          </p:cNvPr>
          <p:cNvGraphicFramePr>
            <a:graphicFrameLocks noGrp="1"/>
          </p:cNvGraphicFramePr>
          <p:nvPr>
            <p:extLst>
              <p:ext uri="{D42A27DB-BD31-4B8C-83A1-F6EECF244321}">
                <p14:modId xmlns:p14="http://schemas.microsoft.com/office/powerpoint/2010/main" val="1806543103"/>
              </p:ext>
            </p:extLst>
          </p:nvPr>
        </p:nvGraphicFramePr>
        <p:xfrm>
          <a:off x="502920" y="1655064"/>
          <a:ext cx="11173968" cy="2798060"/>
        </p:xfrm>
        <a:graphic>
          <a:graphicData uri="http://schemas.openxmlformats.org/drawingml/2006/table">
            <a:tbl>
              <a:tblPr/>
              <a:tblGrid>
                <a:gridCol w="4462272">
                  <a:extLst>
                    <a:ext uri="{9D8B030D-6E8A-4147-A177-3AD203B41FA5}">
                      <a16:colId xmlns:a16="http://schemas.microsoft.com/office/drawing/2014/main" val="3710193986"/>
                    </a:ext>
                  </a:extLst>
                </a:gridCol>
                <a:gridCol w="1444752">
                  <a:extLst>
                    <a:ext uri="{9D8B030D-6E8A-4147-A177-3AD203B41FA5}">
                      <a16:colId xmlns:a16="http://schemas.microsoft.com/office/drawing/2014/main" val="414950372"/>
                    </a:ext>
                  </a:extLst>
                </a:gridCol>
                <a:gridCol w="2194560">
                  <a:extLst>
                    <a:ext uri="{9D8B030D-6E8A-4147-A177-3AD203B41FA5}">
                      <a16:colId xmlns:a16="http://schemas.microsoft.com/office/drawing/2014/main" val="3953883221"/>
                    </a:ext>
                  </a:extLst>
                </a:gridCol>
                <a:gridCol w="3072384">
                  <a:extLst>
                    <a:ext uri="{9D8B030D-6E8A-4147-A177-3AD203B41FA5}">
                      <a16:colId xmlns:a16="http://schemas.microsoft.com/office/drawing/2014/main" val="2151099486"/>
                    </a:ext>
                  </a:extLst>
                </a:gridCol>
              </a:tblGrid>
              <a:tr h="559612">
                <a:tc>
                  <a:txBody>
                    <a:bodyPr/>
                    <a:lstStyle/>
                    <a:p>
                      <a:pPr algn="l">
                        <a:spcAft>
                          <a:spcPts val="0"/>
                        </a:spcAft>
                      </a:pPr>
                      <a:r>
                        <a:rPr lang="zh-CN" sz="1900" b="1">
                          <a:solidFill>
                            <a:srgbClr val="FFFFFF"/>
                          </a:solidFill>
                          <a:latin typeface="Microsoft YaHei"/>
                          <a:ea typeface="Microsoft YaHei"/>
                          <a:cs typeface="Microsoft YaHei"/>
                        </a:rPr>
                        <a:t>方法</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062D50"/>
                    </a:solidFill>
                  </a:tcPr>
                </a:tc>
                <a:tc>
                  <a:txBody>
                    <a:bodyPr/>
                    <a:lstStyle/>
                    <a:p>
                      <a:pPr algn="ctr">
                        <a:spcAft>
                          <a:spcPts val="0"/>
                        </a:spcAft>
                      </a:pPr>
                      <a:r>
                        <a:rPr lang="zh-CN" sz="1900" b="1">
                          <a:solidFill>
                            <a:srgbClr val="FFFFFF"/>
                          </a:solidFill>
                          <a:latin typeface="Microsoft YaHei"/>
                          <a:ea typeface="Microsoft YaHei"/>
                          <a:cs typeface="Microsoft YaHei"/>
                        </a:rPr>
                        <a:t>训练步数</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062D50"/>
                    </a:solidFill>
                  </a:tcPr>
                </a:tc>
                <a:tc>
                  <a:txBody>
                    <a:bodyPr/>
                    <a:lstStyle/>
                    <a:p>
                      <a:pPr algn="ctr">
                        <a:spcAft>
                          <a:spcPts val="0"/>
                        </a:spcAft>
                      </a:pPr>
                      <a:r>
                        <a:rPr lang="zh-CN" sz="1900" b="1">
                          <a:solidFill>
                            <a:srgbClr val="FFFFFF"/>
                          </a:solidFill>
                          <a:latin typeface="Microsoft YaHei"/>
                          <a:ea typeface="Microsoft YaHei"/>
                          <a:cs typeface="Microsoft YaHei"/>
                        </a:rPr>
                        <a:t>GPU时间</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062D50"/>
                    </a:solidFill>
                  </a:tcPr>
                </a:tc>
                <a:tc>
                  <a:txBody>
                    <a:bodyPr/>
                    <a:lstStyle/>
                    <a:p>
                      <a:pPr algn="ctr">
                        <a:spcAft>
                          <a:spcPts val="0"/>
                        </a:spcAft>
                      </a:pPr>
                      <a:r>
                        <a:rPr lang="zh-CN" sz="1900" b="1">
                          <a:solidFill>
                            <a:srgbClr val="FFFFFF"/>
                          </a:solidFill>
                          <a:latin typeface="Microsoft YaHei"/>
                          <a:ea typeface="Microsoft YaHei"/>
                          <a:cs typeface="Microsoft YaHei"/>
                        </a:rPr>
                        <a:t>PSR ↑ / PS ↓</a:t>
                      </a:r>
                    </a:p>
                  </a:txBody>
                  <a:tcPr marL="146304" marT="64008" marB="54864" anchor="ctr">
                    <a:lnL>
                      <a:noFill/>
                    </a:lnL>
                    <a:lnR>
                      <a:noFill/>
                    </a:lnR>
                    <a:lnT w="9525" cap="flat" cmpd="sng" algn="ctr">
                      <a:solidFill>
                        <a:srgbClr val="D0D89E"/>
                      </a:solidFill>
                      <a:prstDash val="solid"/>
                      <a:round/>
                      <a:headEnd type="none" w="med" len="med"/>
                      <a:tailEnd type="none" w="med" len="med"/>
                    </a:lnT>
                    <a:lnB w="9525" cap="flat" cmpd="sng" algn="ctr">
                      <a:solidFill>
                        <a:srgbClr val="D0D89E"/>
                      </a:solidFill>
                      <a:prstDash val="solid"/>
                      <a:round/>
                      <a:headEnd type="none" w="med" len="med"/>
                      <a:tailEnd type="none" w="med" len="med"/>
                    </a:lnB>
                    <a:solidFill>
                      <a:srgbClr val="062D50"/>
                    </a:solidFill>
                  </a:tcPr>
                </a:tc>
                <a:extLst>
                  <a:ext uri="{0D108BD9-81ED-4DB2-BD59-A6C34878D82A}">
                    <a16:rowId xmlns:a16="http://schemas.microsoft.com/office/drawing/2014/main" val="650752217"/>
                  </a:ext>
                </a:extLst>
              </a:tr>
              <a:tr h="559612">
                <a:tc>
                  <a:txBody>
                    <a:bodyPr/>
                    <a:lstStyle/>
                    <a:p>
                      <a:pPr algn="l">
                        <a:spcAft>
                          <a:spcPts val="0"/>
                        </a:spcAft>
                      </a:pPr>
                      <a:r>
                        <a:rPr lang="zh-CN" sz="1900" b="0">
                          <a:solidFill>
                            <a:srgbClr val="202A33"/>
                          </a:solidFill>
                          <a:latin typeface="Microsoft YaHei"/>
                          <a:ea typeface="Microsoft YaHei"/>
                          <a:cs typeface="Microsoft YaHei"/>
                        </a:rPr>
                        <a:t>SPSA</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340</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12.85 h</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47.7% / 0.53</a:t>
                      </a:r>
                    </a:p>
                  </a:txBody>
                  <a:tcPr marL="146304" marT="64008" marB="54864" anchor="ctr">
                    <a:lnL>
                      <a:noFill/>
                    </a:lnL>
                    <a:lnR>
                      <a:noFill/>
                    </a:lnR>
                    <a:lnT w="9525" cap="flat" cmpd="sng" algn="ctr">
                      <a:solidFill>
                        <a:srgbClr val="D0D89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extLst>
                  <a:ext uri="{0D108BD9-81ED-4DB2-BD59-A6C34878D82A}">
                    <a16:rowId xmlns:a16="http://schemas.microsoft.com/office/drawing/2014/main" val="294334239"/>
                  </a:ext>
                </a:extLst>
              </a:tr>
              <a:tr h="559612">
                <a:tc>
                  <a:txBody>
                    <a:bodyPr/>
                    <a:lstStyle/>
                    <a:p>
                      <a:pPr algn="l">
                        <a:spcAft>
                          <a:spcPts val="0"/>
                        </a:spcAft>
                      </a:pPr>
                      <a:r>
                        <a:rPr lang="zh-CN" sz="1900" b="0">
                          <a:solidFill>
                            <a:srgbClr val="202A33"/>
                          </a:solidFill>
                          <a:latin typeface="Microsoft YaHei"/>
                          <a:ea typeface="Microsoft YaHei"/>
                          <a:cs typeface="Microsoft YaHei"/>
                        </a:rPr>
                        <a:t>SPSA（增加步数）</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410</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15.37 h</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61.8% / 0.55</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extLst>
                  <a:ext uri="{0D108BD9-81ED-4DB2-BD59-A6C34878D82A}">
                    <a16:rowId xmlns:a16="http://schemas.microsoft.com/office/drawing/2014/main" val="474535268"/>
                  </a:ext>
                </a:extLst>
              </a:tr>
              <a:tr h="559612">
                <a:tc>
                  <a:txBody>
                    <a:bodyPr/>
                    <a:lstStyle/>
                    <a:p>
                      <a:pPr algn="l">
                        <a:spcAft>
                          <a:spcPts val="0"/>
                        </a:spcAft>
                      </a:pPr>
                      <a:r>
                        <a:rPr lang="zh-CN" sz="1900" b="1">
                          <a:solidFill>
                            <a:srgbClr val="202A33"/>
                          </a:solidFill>
                          <a:latin typeface="Microsoft YaHei"/>
                          <a:ea typeface="Microsoft YaHei"/>
                          <a:cs typeface="Microsoft YaHei"/>
                        </a:rPr>
                        <a:t>GC-SPSA（n₀ = 4）</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D1EBF5"/>
                    </a:solidFill>
                  </a:tcPr>
                </a:tc>
                <a:tc>
                  <a:txBody>
                    <a:bodyPr/>
                    <a:lstStyle/>
                    <a:p>
                      <a:pPr algn="ctr">
                        <a:spcAft>
                          <a:spcPts val="0"/>
                        </a:spcAft>
                      </a:pPr>
                      <a:r>
                        <a:rPr lang="zh-CN" sz="1900" b="1">
                          <a:solidFill>
                            <a:srgbClr val="202A33"/>
                          </a:solidFill>
                          <a:latin typeface="Microsoft YaHei"/>
                          <a:ea typeface="Microsoft YaHei"/>
                          <a:cs typeface="Microsoft YaHei"/>
                        </a:rPr>
                        <a:t>300</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D1EBF5"/>
                    </a:solidFill>
                  </a:tcPr>
                </a:tc>
                <a:tc>
                  <a:txBody>
                    <a:bodyPr/>
                    <a:lstStyle/>
                    <a:p>
                      <a:pPr algn="ctr">
                        <a:spcAft>
                          <a:spcPts val="0"/>
                        </a:spcAft>
                      </a:pPr>
                      <a:r>
                        <a:rPr lang="zh-CN" sz="1900" b="1">
                          <a:solidFill>
                            <a:srgbClr val="202A33"/>
                          </a:solidFill>
                          <a:latin typeface="Microsoft YaHei"/>
                          <a:ea typeface="Microsoft YaHei"/>
                          <a:cs typeface="Microsoft YaHei"/>
                        </a:rPr>
                        <a:t>12.78 h</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D1EBF5"/>
                    </a:solidFill>
                  </a:tcPr>
                </a:tc>
                <a:tc>
                  <a:txBody>
                    <a:bodyPr/>
                    <a:lstStyle/>
                    <a:p>
                      <a:pPr algn="ctr">
                        <a:spcAft>
                          <a:spcPts val="0"/>
                        </a:spcAft>
                      </a:pPr>
                      <a:r>
                        <a:rPr lang="zh-CN" sz="1900" b="1">
                          <a:solidFill>
                            <a:srgbClr val="202A33"/>
                          </a:solidFill>
                          <a:latin typeface="Microsoft YaHei"/>
                          <a:ea typeface="Microsoft YaHei"/>
                          <a:cs typeface="Microsoft YaHei"/>
                        </a:rPr>
                        <a:t>76.0% / 0.56</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D1EBF5"/>
                    </a:solidFill>
                  </a:tcPr>
                </a:tc>
                <a:extLst>
                  <a:ext uri="{0D108BD9-81ED-4DB2-BD59-A6C34878D82A}">
                    <a16:rowId xmlns:a16="http://schemas.microsoft.com/office/drawing/2014/main" val="1762238230"/>
                  </a:ext>
                </a:extLst>
              </a:tr>
              <a:tr h="559612">
                <a:tc>
                  <a:txBody>
                    <a:bodyPr/>
                    <a:lstStyle/>
                    <a:p>
                      <a:pPr algn="l">
                        <a:spcAft>
                          <a:spcPts val="0"/>
                        </a:spcAft>
                      </a:pPr>
                      <a:r>
                        <a:rPr lang="zh-CN" sz="1900" b="0">
                          <a:solidFill>
                            <a:srgbClr val="202A33"/>
                          </a:solidFill>
                          <a:latin typeface="Microsoft YaHei"/>
                          <a:ea typeface="Microsoft YaHei"/>
                          <a:cs typeface="Microsoft YaHei"/>
                        </a:rPr>
                        <a:t>GC-SPSA（n₀ = 8）</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300</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15.43 h</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tc>
                  <a:txBody>
                    <a:bodyPr/>
                    <a:lstStyle/>
                    <a:p>
                      <a:pPr algn="ctr">
                        <a:spcAft>
                          <a:spcPts val="0"/>
                        </a:spcAft>
                      </a:pPr>
                      <a:r>
                        <a:rPr lang="zh-CN" sz="1900" b="0">
                          <a:solidFill>
                            <a:srgbClr val="202A33"/>
                          </a:solidFill>
                          <a:latin typeface="Microsoft YaHei"/>
                          <a:ea typeface="Microsoft YaHei"/>
                          <a:cs typeface="Microsoft YaHei"/>
                        </a:rPr>
                        <a:t>79.8% / 0.57</a:t>
                      </a:r>
                    </a:p>
                  </a:txBody>
                  <a:tcPr marL="146304" marT="64008" marB="54864" anchor="ctr">
                    <a:lnL>
                      <a:noFill/>
                    </a:lnL>
                    <a:lnR>
                      <a:noFill/>
                    </a:lnR>
                    <a:lnT w="9525" cap="flat" cmpd="sng" algn="ctr">
                      <a:solidFill>
                        <a:srgbClr val="74777E"/>
                      </a:solidFill>
                      <a:prstDash val="solid"/>
                      <a:round/>
                      <a:headEnd type="none" w="med" len="med"/>
                      <a:tailEnd type="none" w="med" len="med"/>
                    </a:lnT>
                    <a:lnB w="9525" cap="flat" cmpd="sng" algn="ctr">
                      <a:solidFill>
                        <a:srgbClr val="74777E"/>
                      </a:solidFill>
                      <a:prstDash val="solid"/>
                      <a:round/>
                      <a:headEnd type="none" w="med" len="med"/>
                      <a:tailEnd type="none" w="med" len="med"/>
                    </a:lnB>
                    <a:solidFill>
                      <a:srgbClr val="EEF5F9"/>
                    </a:solidFill>
                  </a:tcPr>
                </a:tc>
                <a:extLst>
                  <a:ext uri="{0D108BD9-81ED-4DB2-BD59-A6C34878D82A}">
                    <a16:rowId xmlns:a16="http://schemas.microsoft.com/office/drawing/2014/main" val="1185854733"/>
                  </a:ext>
                </a:extLst>
              </a:tr>
            </a:tbl>
          </a:graphicData>
        </a:graphic>
      </p:graphicFrame>
      <p:sp>
        <p:nvSpPr>
          <p:cNvPr id="8" name="Rectangle 7"/>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为什么做：排除“只是花了更多计算时间”的解释。比较时应尽量对齐GPU时间。</a:t>
            </a:r>
          </a:p>
        </p:txBody>
      </p:sp>
      <p:sp>
        <p:nvSpPr>
          <p:cNvPr id="11" name="Rectangle 10"/>
          <p:cNvSpPr/>
          <p:nvPr/>
        </p:nvSpPr>
        <p:spPr>
          <a:xfrm>
            <a:off x="502920" y="4745736"/>
            <a:ext cx="5440680" cy="676656"/>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4937760"/>
            <a:ext cx="5038344" cy="39319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约12.8小时：47.7% → 76.0%</a:t>
            </a:r>
          </a:p>
        </p:txBody>
      </p:sp>
      <p:sp>
        <p:nvSpPr>
          <p:cNvPr id="13" name="Rectangle 12"/>
          <p:cNvSpPr/>
          <p:nvPr/>
        </p:nvSpPr>
        <p:spPr>
          <a:xfrm>
            <a:off x="6236208" y="4745736"/>
            <a:ext cx="5440680" cy="676656"/>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37376" y="4937760"/>
            <a:ext cx="5038344" cy="39319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200" b="1">
                <a:solidFill>
                  <a:srgbClr val="062D50"/>
                </a:solidFill>
                <a:latin typeface="Microsoft YaHei"/>
                <a:ea typeface="Microsoft YaHei"/>
                <a:cs typeface="Microsoft YaHei"/>
              </a:rPr>
              <a:t>约15.4小时：61.8% → 79.8%</a:t>
            </a:r>
          </a:p>
        </p:txBody>
      </p:sp>
      <p:sp>
        <p:nvSpPr>
          <p:cNvPr id="15" name="TextBox 14"/>
          <p:cNvSpPr txBox="1"/>
          <p:nvPr/>
        </p:nvSpPr>
        <p:spPr>
          <a:xfrm>
            <a:off x="658368" y="5669280"/>
            <a:ext cx="10890504" cy="28346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30" b="0">
                <a:solidFill>
                  <a:srgbClr val="062D50"/>
                </a:solidFill>
                <a:latin typeface="Microsoft YaHei"/>
                <a:ea typeface="Microsoft YaHei"/>
                <a:cs typeface="Microsoft YaHei"/>
              </a:rPr>
              <a:t>GC-SPSA提高了成功率；更多初始采样还能增加效果，但也需要更多时间。</a:t>
            </a:r>
          </a:p>
        </p:txBody>
      </p:sp>
      <p:sp>
        <p:nvSpPr>
          <p:cNvPr id="16" name="TextBox 15"/>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来源：论文 Table 8。设置：CA </a:t>
            </a:r>
            <a:r>
              <a:rPr lang="en-US" altLang="zh-CN" sz="1040" b="0" dirty="0">
                <a:solidFill>
                  <a:srgbClr val="647483"/>
                </a:solidFill>
                <a:latin typeface="Microsoft YaHei"/>
                <a:ea typeface="Microsoft YaHei"/>
                <a:cs typeface="Microsoft YaHei"/>
              </a:rPr>
              <a:t>+</a:t>
            </a:r>
            <a:r>
              <a:rPr lang="zh-CN" sz="1040" b="0" dirty="0">
                <a:solidFill>
                  <a:srgbClr val="647483"/>
                </a:solidFill>
                <a:latin typeface="Microsoft YaHei"/>
                <a:ea typeface="Microsoft YaHei"/>
                <a:cs typeface="Microsoft YaHei"/>
              </a:rPr>
              <a:t> Sexual。</a:t>
            </a:r>
          </a:p>
        </p:txBody>
      </p:sp>
    </p:spTree>
    <p:extLst>
      <p:ext uri="{BB962C8B-B14F-4D97-AF65-F5344CB8AC3E}">
        <p14:creationId xmlns:p14="http://schemas.microsoft.com/office/powerpoint/2010/main" val="1155079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137160"/>
            <a:ext cx="10881360" cy="475488"/>
          </a:xfr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消融要分别看成功率和重复度</a:t>
            </a:r>
          </a:p>
        </p:txBody>
      </p:sp>
      <p:sp>
        <p:nvSpPr>
          <p:cNvPr id="3" name="Rectangle 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为什么做：检查三个模块分别改变什么，而不是只看完整方法的一个总分。</a:t>
            </a:r>
          </a:p>
        </p:txBody>
      </p:sp>
      <p:graphicFrame>
        <p:nvGraphicFramePr>
          <p:cNvPr id="6" name="Table 5"/>
          <p:cNvGraphicFramePr>
            <a:graphicFrameLocks noGrp="1"/>
          </p:cNvGraphicFramePr>
          <p:nvPr/>
        </p:nvGraphicFramePr>
        <p:xfrm>
          <a:off x="502920" y="1636776"/>
          <a:ext cx="11173968" cy="2468880"/>
        </p:xfrm>
        <a:graphic>
          <a:graphicData uri="http://schemas.openxmlformats.org/drawingml/2006/table">
            <a:tbl>
              <a:tblPr firstRow="1" bandRow="1">
                <a:tableStyleId>{5C22544A-7EE6-4342-B048-85BDC9FD1C3A}</a:tableStyleId>
              </a:tblPr>
              <a:tblGrid>
                <a:gridCol w="6089904">
                  <a:extLst>
                    <a:ext uri="{9D8B030D-6E8A-4147-A177-3AD203B41FA5}">
                      <a16:colId xmlns:a16="http://schemas.microsoft.com/office/drawing/2014/main" val="20000"/>
                    </a:ext>
                  </a:extLst>
                </a:gridCol>
                <a:gridCol w="2542032">
                  <a:extLst>
                    <a:ext uri="{9D8B030D-6E8A-4147-A177-3AD203B41FA5}">
                      <a16:colId xmlns:a16="http://schemas.microsoft.com/office/drawing/2014/main" val="20001"/>
                    </a:ext>
                  </a:extLst>
                </a:gridCol>
                <a:gridCol w="2542032">
                  <a:extLst>
                    <a:ext uri="{9D8B030D-6E8A-4147-A177-3AD203B41FA5}">
                      <a16:colId xmlns:a16="http://schemas.microsoft.com/office/drawing/2014/main" val="20002"/>
                    </a:ext>
                  </a:extLst>
                </a:gridCol>
              </a:tblGrid>
              <a:tr h="493776">
                <a:tc>
                  <a:txBody>
                    <a:bodyPr/>
                    <a:lstStyle/>
                    <a:p>
                      <a:pPr algn="l">
                        <a:lnSpc>
                          <a:spcPct val="104000"/>
                        </a:lnSpc>
                        <a:spcAft>
                          <a:spcPts val="0"/>
                        </a:spcAft>
                      </a:pPr>
                      <a:r>
                        <a:rPr lang="zh-CN" sz="1880" b="1">
                          <a:solidFill>
                            <a:srgbClr val="FFFFFF"/>
                          </a:solidFill>
                          <a:latin typeface="Microsoft YaHei"/>
                          <a:ea typeface="Microsoft YaHei"/>
                          <a:cs typeface="Microsoft YaHei"/>
                        </a:rPr>
                        <a:t>配置（CA / Sexual）</a:t>
                      </a:r>
                    </a:p>
                  </a:txBody>
                  <a:tcPr marL="118872" marT="73152" marB="54864" anchor="ctr">
                    <a:solidFill>
                      <a:srgbClr val="062D50"/>
                    </a:solidFill>
                  </a:tcPr>
                </a:tc>
                <a:tc>
                  <a:txBody>
                    <a:bodyPr/>
                    <a:lstStyle/>
                    <a:p>
                      <a:pPr algn="ctr">
                        <a:lnSpc>
                          <a:spcPct val="104000"/>
                        </a:lnSpc>
                        <a:spcAft>
                          <a:spcPts val="0"/>
                        </a:spcAft>
                      </a:pPr>
                      <a:r>
                        <a:rPr lang="zh-CN" sz="1880" b="1">
                          <a:solidFill>
                            <a:srgbClr val="FFFFFF"/>
                          </a:solidFill>
                          <a:latin typeface="Microsoft YaHei"/>
                          <a:ea typeface="Microsoft YaHei"/>
                          <a:cs typeface="Microsoft YaHei"/>
                        </a:rPr>
                        <a:t>PSR ↑</a:t>
                      </a:r>
                    </a:p>
                  </a:txBody>
                  <a:tcPr marL="118872" marT="73152" marB="54864" anchor="ctr">
                    <a:solidFill>
                      <a:srgbClr val="062D50"/>
                    </a:solidFill>
                  </a:tcPr>
                </a:tc>
                <a:tc>
                  <a:txBody>
                    <a:bodyPr/>
                    <a:lstStyle/>
                    <a:p>
                      <a:pPr algn="ctr">
                        <a:lnSpc>
                          <a:spcPct val="104000"/>
                        </a:lnSpc>
                        <a:spcAft>
                          <a:spcPts val="0"/>
                        </a:spcAft>
                      </a:pPr>
                      <a:r>
                        <a:rPr lang="zh-CN" sz="1880" b="1">
                          <a:solidFill>
                            <a:srgbClr val="FFFFFF"/>
                          </a:solidFill>
                          <a:latin typeface="Microsoft YaHei"/>
                          <a:ea typeface="Microsoft YaHei"/>
                          <a:cs typeface="Microsoft YaHei"/>
                        </a:rPr>
                        <a:t>PS ↓</a:t>
                      </a:r>
                    </a:p>
                  </a:txBody>
                  <a:tcPr marL="118872" marT="73152" marB="54864" anchor="ctr">
                    <a:solidFill>
                      <a:srgbClr val="062D50"/>
                    </a:solidFill>
                  </a:tcPr>
                </a:tc>
                <a:extLst>
                  <a:ext uri="{0D108BD9-81ED-4DB2-BD59-A6C34878D82A}">
                    <a16:rowId xmlns:a16="http://schemas.microsoft.com/office/drawing/2014/main" val="10000"/>
                  </a:ext>
                </a:extLst>
              </a:tr>
              <a:tr h="493776">
                <a:tc>
                  <a:txBody>
                    <a:bodyPr/>
                    <a:lstStyle/>
                    <a:p>
                      <a:pPr algn="l">
                        <a:lnSpc>
                          <a:spcPct val="104000"/>
                        </a:lnSpc>
                        <a:spcAft>
                          <a:spcPts val="0"/>
                        </a:spcAft>
                      </a:pPr>
                      <a:r>
                        <a:rPr lang="zh-CN" sz="1880" b="0">
                          <a:solidFill>
                            <a:srgbClr val="202A33"/>
                          </a:solidFill>
                          <a:latin typeface="Microsoft YaHei"/>
                          <a:ea typeface="Microsoft YaHei"/>
                          <a:cs typeface="Microsoft YaHei"/>
                        </a:rPr>
                        <a:t>仅图像匹配能量 + GC-SPSA</a:t>
                      </a:r>
                    </a:p>
                  </a:txBody>
                  <a:tcPr marL="118872" marT="73152" marB="54864" anchor="ctr">
                    <a:solidFill>
                      <a:srgbClr val="EEF5F9"/>
                    </a:solidFill>
                  </a:tcPr>
                </a:tc>
                <a:tc>
                  <a:txBody>
                    <a:bodyPr/>
                    <a:lstStyle/>
                    <a:p>
                      <a:pPr algn="ctr">
                        <a:lnSpc>
                          <a:spcPct val="104000"/>
                        </a:lnSpc>
                        <a:spcAft>
                          <a:spcPts val="0"/>
                        </a:spcAft>
                      </a:pPr>
                      <a:r>
                        <a:rPr lang="zh-CN" sz="1880" b="0">
                          <a:solidFill>
                            <a:srgbClr val="202A33"/>
                          </a:solidFill>
                          <a:latin typeface="Microsoft YaHei"/>
                          <a:ea typeface="Microsoft YaHei"/>
                          <a:cs typeface="Microsoft YaHei"/>
                        </a:rPr>
                        <a:t>90.8%</a:t>
                      </a:r>
                    </a:p>
                  </a:txBody>
                  <a:tcPr marL="118872" marT="73152" marB="54864" anchor="ctr">
                    <a:solidFill>
                      <a:srgbClr val="EEF5F9"/>
                    </a:solidFill>
                  </a:tcPr>
                </a:tc>
                <a:tc>
                  <a:txBody>
                    <a:bodyPr/>
                    <a:lstStyle/>
                    <a:p>
                      <a:pPr algn="ctr">
                        <a:lnSpc>
                          <a:spcPct val="104000"/>
                        </a:lnSpc>
                        <a:spcAft>
                          <a:spcPts val="0"/>
                        </a:spcAft>
                      </a:pPr>
                      <a:r>
                        <a:rPr lang="zh-CN" sz="1880" b="0">
                          <a:solidFill>
                            <a:srgbClr val="202A33"/>
                          </a:solidFill>
                          <a:latin typeface="Microsoft YaHei"/>
                          <a:ea typeface="Microsoft YaHei"/>
                          <a:cs typeface="Microsoft YaHei"/>
                        </a:rPr>
                        <a:t>0.70</a:t>
                      </a:r>
                    </a:p>
                  </a:txBody>
                  <a:tcPr marL="118872" marT="73152" marB="54864" anchor="ctr">
                    <a:solidFill>
                      <a:srgbClr val="EEF5F9"/>
                    </a:solidFill>
                  </a:tcPr>
                </a:tc>
                <a:extLst>
                  <a:ext uri="{0D108BD9-81ED-4DB2-BD59-A6C34878D82A}">
                    <a16:rowId xmlns:a16="http://schemas.microsoft.com/office/drawing/2014/main" val="10001"/>
                  </a:ext>
                </a:extLst>
              </a:tr>
              <a:tr h="493776">
                <a:tc>
                  <a:txBody>
                    <a:bodyPr/>
                    <a:lstStyle/>
                    <a:p>
                      <a:pPr algn="l">
                        <a:lnSpc>
                          <a:spcPct val="104000"/>
                        </a:lnSpc>
                        <a:spcAft>
                          <a:spcPts val="0"/>
                        </a:spcAft>
                      </a:pPr>
                      <a:r>
                        <a:rPr lang="zh-CN" sz="1880" b="0">
                          <a:solidFill>
                            <a:srgbClr val="202A33"/>
                          </a:solidFill>
                          <a:latin typeface="Microsoft YaHei"/>
                          <a:ea typeface="Microsoft YaHei"/>
                          <a:cs typeface="Microsoft YaHei"/>
                        </a:rPr>
                        <a:t>加入多样性能量 Ediv</a:t>
                      </a:r>
                    </a:p>
                  </a:txBody>
                  <a:tcPr marL="118872" marT="73152" marB="54864" anchor="ctr">
                    <a:solidFill>
                      <a:srgbClr val="FFFFFF"/>
                    </a:solidFill>
                  </a:tcPr>
                </a:tc>
                <a:tc>
                  <a:txBody>
                    <a:bodyPr/>
                    <a:lstStyle/>
                    <a:p>
                      <a:pPr algn="ctr">
                        <a:lnSpc>
                          <a:spcPct val="104000"/>
                        </a:lnSpc>
                        <a:spcAft>
                          <a:spcPts val="0"/>
                        </a:spcAft>
                      </a:pPr>
                      <a:r>
                        <a:rPr lang="zh-CN" sz="1880" b="0">
                          <a:solidFill>
                            <a:srgbClr val="202A33"/>
                          </a:solidFill>
                          <a:latin typeface="Microsoft YaHei"/>
                          <a:ea typeface="Microsoft YaHei"/>
                          <a:cs typeface="Microsoft YaHei"/>
                        </a:rPr>
                        <a:t>76.4%</a:t>
                      </a:r>
                    </a:p>
                  </a:txBody>
                  <a:tcPr marL="118872" marT="73152" marB="54864" anchor="ctr">
                    <a:solidFill>
                      <a:srgbClr val="FFFFFF"/>
                    </a:solidFill>
                  </a:tcPr>
                </a:tc>
                <a:tc>
                  <a:txBody>
                    <a:bodyPr/>
                    <a:lstStyle/>
                    <a:p>
                      <a:pPr algn="ctr">
                        <a:lnSpc>
                          <a:spcPct val="104000"/>
                        </a:lnSpc>
                        <a:spcAft>
                          <a:spcPts val="0"/>
                        </a:spcAft>
                      </a:pPr>
                      <a:r>
                        <a:rPr lang="zh-CN" sz="1880" b="0">
                          <a:solidFill>
                            <a:srgbClr val="202A33"/>
                          </a:solidFill>
                          <a:latin typeface="Microsoft YaHei"/>
                          <a:ea typeface="Microsoft YaHei"/>
                          <a:cs typeface="Microsoft YaHei"/>
                        </a:rPr>
                        <a:t>0.58</a:t>
                      </a:r>
                    </a:p>
                  </a:txBody>
                  <a:tcPr marL="118872" marT="73152" marB="54864" anchor="ctr">
                    <a:solidFill>
                      <a:srgbClr val="FFFFFF"/>
                    </a:solidFill>
                  </a:tcPr>
                </a:tc>
                <a:extLst>
                  <a:ext uri="{0D108BD9-81ED-4DB2-BD59-A6C34878D82A}">
                    <a16:rowId xmlns:a16="http://schemas.microsoft.com/office/drawing/2014/main" val="10002"/>
                  </a:ext>
                </a:extLst>
              </a:tr>
              <a:tr h="493776">
                <a:tc>
                  <a:txBody>
                    <a:bodyPr/>
                    <a:lstStyle/>
                    <a:p>
                      <a:pPr algn="l">
                        <a:lnSpc>
                          <a:spcPct val="104000"/>
                        </a:lnSpc>
                        <a:spcAft>
                          <a:spcPts val="0"/>
                        </a:spcAft>
                      </a:pPr>
                      <a:r>
                        <a:rPr lang="zh-CN" sz="1880" b="1">
                          <a:solidFill>
                            <a:srgbClr val="202A33"/>
                          </a:solidFill>
                          <a:latin typeface="Microsoft YaHei"/>
                          <a:ea typeface="Microsoft YaHei"/>
                          <a:cs typeface="Microsoft YaHei"/>
                        </a:rPr>
                        <a:t>再加入 ATS（完整 DREAM）</a:t>
                      </a:r>
                    </a:p>
                  </a:txBody>
                  <a:tcPr marL="118872" marT="73152" marB="54864" anchor="ctr">
                    <a:solidFill>
                      <a:srgbClr val="D1EBF5"/>
                    </a:solidFill>
                  </a:tcPr>
                </a:tc>
                <a:tc>
                  <a:txBody>
                    <a:bodyPr/>
                    <a:lstStyle/>
                    <a:p>
                      <a:pPr algn="ctr">
                        <a:lnSpc>
                          <a:spcPct val="104000"/>
                        </a:lnSpc>
                        <a:spcAft>
                          <a:spcPts val="0"/>
                        </a:spcAft>
                      </a:pPr>
                      <a:r>
                        <a:rPr lang="zh-CN" sz="1880" b="1">
                          <a:solidFill>
                            <a:srgbClr val="202A33"/>
                          </a:solidFill>
                          <a:latin typeface="Microsoft YaHei"/>
                          <a:ea typeface="Microsoft YaHei"/>
                          <a:cs typeface="Microsoft YaHei"/>
                        </a:rPr>
                        <a:t>76.0%</a:t>
                      </a:r>
                    </a:p>
                  </a:txBody>
                  <a:tcPr marL="118872" marT="73152" marB="54864" anchor="ctr">
                    <a:solidFill>
                      <a:srgbClr val="D1EBF5"/>
                    </a:solidFill>
                  </a:tcPr>
                </a:tc>
                <a:tc>
                  <a:txBody>
                    <a:bodyPr/>
                    <a:lstStyle/>
                    <a:p>
                      <a:pPr algn="ctr">
                        <a:lnSpc>
                          <a:spcPct val="104000"/>
                        </a:lnSpc>
                        <a:spcAft>
                          <a:spcPts val="0"/>
                        </a:spcAft>
                      </a:pPr>
                      <a:r>
                        <a:rPr lang="zh-CN" sz="1880" b="1">
                          <a:solidFill>
                            <a:srgbClr val="202A33"/>
                          </a:solidFill>
                          <a:latin typeface="Microsoft YaHei"/>
                          <a:ea typeface="Microsoft YaHei"/>
                          <a:cs typeface="Microsoft YaHei"/>
                        </a:rPr>
                        <a:t>0.56</a:t>
                      </a:r>
                    </a:p>
                  </a:txBody>
                  <a:tcPr marL="118872" marT="73152" marB="54864" anchor="ctr">
                    <a:solidFill>
                      <a:srgbClr val="D1EBF5"/>
                    </a:solidFill>
                  </a:tcPr>
                </a:tc>
                <a:extLst>
                  <a:ext uri="{0D108BD9-81ED-4DB2-BD59-A6C34878D82A}">
                    <a16:rowId xmlns:a16="http://schemas.microsoft.com/office/drawing/2014/main" val="10003"/>
                  </a:ext>
                </a:extLst>
              </a:tr>
              <a:tr h="493776">
                <a:tc>
                  <a:txBody>
                    <a:bodyPr/>
                    <a:lstStyle/>
                    <a:p>
                      <a:pPr algn="l">
                        <a:lnSpc>
                          <a:spcPct val="104000"/>
                        </a:lnSpc>
                        <a:spcAft>
                          <a:spcPts val="0"/>
                        </a:spcAft>
                      </a:pPr>
                      <a:r>
                        <a:rPr lang="zh-CN" sz="1880" b="0">
                          <a:solidFill>
                            <a:srgbClr val="202A33"/>
                          </a:solidFill>
                          <a:latin typeface="Microsoft YaHei"/>
                          <a:ea typeface="Microsoft YaHei"/>
                          <a:cs typeface="Microsoft YaHei"/>
                        </a:rPr>
                        <a:t>完整配置，但改用 SPSA</a:t>
                      </a:r>
                    </a:p>
                  </a:txBody>
                  <a:tcPr marL="118872" marT="73152" marB="54864" anchor="ctr">
                    <a:solidFill>
                      <a:srgbClr val="FFFFFF"/>
                    </a:solidFill>
                  </a:tcPr>
                </a:tc>
                <a:tc>
                  <a:txBody>
                    <a:bodyPr/>
                    <a:lstStyle/>
                    <a:p>
                      <a:pPr algn="ctr">
                        <a:lnSpc>
                          <a:spcPct val="104000"/>
                        </a:lnSpc>
                        <a:spcAft>
                          <a:spcPts val="0"/>
                        </a:spcAft>
                      </a:pPr>
                      <a:r>
                        <a:rPr lang="zh-CN" sz="1880" b="0">
                          <a:solidFill>
                            <a:srgbClr val="202A33"/>
                          </a:solidFill>
                          <a:latin typeface="Microsoft YaHei"/>
                          <a:ea typeface="Microsoft YaHei"/>
                          <a:cs typeface="Microsoft YaHei"/>
                        </a:rPr>
                        <a:t>45.9%</a:t>
                      </a:r>
                    </a:p>
                  </a:txBody>
                  <a:tcPr marL="118872" marT="73152" marB="54864" anchor="ctr">
                    <a:solidFill>
                      <a:srgbClr val="FFFFFF"/>
                    </a:solidFill>
                  </a:tcPr>
                </a:tc>
                <a:tc>
                  <a:txBody>
                    <a:bodyPr/>
                    <a:lstStyle/>
                    <a:p>
                      <a:pPr algn="ctr">
                        <a:lnSpc>
                          <a:spcPct val="104000"/>
                        </a:lnSpc>
                        <a:spcAft>
                          <a:spcPts val="0"/>
                        </a:spcAft>
                      </a:pPr>
                      <a:r>
                        <a:rPr lang="zh-CN" sz="1880" b="0">
                          <a:solidFill>
                            <a:srgbClr val="202A33"/>
                          </a:solidFill>
                          <a:latin typeface="Microsoft YaHei"/>
                          <a:ea typeface="Microsoft YaHei"/>
                          <a:cs typeface="Microsoft YaHei"/>
                        </a:rPr>
                        <a:t>0.54</a:t>
                      </a:r>
                    </a:p>
                  </a:txBody>
                  <a:tcPr marL="118872" marT="73152" marB="54864" anchor="ctr">
                    <a:solidFill>
                      <a:srgbClr val="FFFFF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502920" y="4434840"/>
            <a:ext cx="3538728" cy="126187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4572000"/>
            <a:ext cx="3227832"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多样性能量</a:t>
            </a:r>
          </a:p>
        </p:txBody>
      </p:sp>
      <p:sp>
        <p:nvSpPr>
          <p:cNvPr id="9" name="TextBox 8"/>
          <p:cNvSpPr txBox="1"/>
          <p:nvPr/>
        </p:nvSpPr>
        <p:spPr>
          <a:xfrm>
            <a:off x="658368" y="5029200"/>
            <a:ext cx="3227832" cy="530352"/>
          </a:xfrm>
          <a:prstGeom prst="rect">
            <a:avLst/>
          </a:prstGeom>
          <a:noFill/>
        </p:spPr>
        <p:txBody>
          <a:bodyPr wrap="square" lIns="0" tIns="0" rIns="0" bIns="0" anchor="t">
            <a:noAutofit/>
          </a:bodyPr>
          <a:lstStyle/>
          <a:p>
            <a:pPr marL="0" indent="0" algn="l">
              <a:lnSpc>
                <a:spcPct val="112000"/>
              </a:lnSpc>
              <a:spcBef>
                <a:spcPts val="0"/>
              </a:spcBef>
              <a:spcAft>
                <a:spcPts val="300"/>
              </a:spcAft>
              <a:buNone/>
            </a:pPr>
            <a:r>
              <a:rPr lang="zh-CN" sz="1750" b="0">
                <a:solidFill>
                  <a:srgbClr val="202A33"/>
                </a:solidFill>
                <a:latin typeface="Microsoft YaHei"/>
                <a:ea typeface="Microsoft YaHei"/>
                <a:cs typeface="Microsoft YaHei"/>
              </a:rPr>
              <a:t>PS：0.70 → 0.58</a:t>
            </a:r>
          </a:p>
          <a:p>
            <a:pPr marL="0" indent="0" algn="l">
              <a:lnSpc>
                <a:spcPct val="112000"/>
              </a:lnSpc>
              <a:spcBef>
                <a:spcPts val="0"/>
              </a:spcBef>
              <a:spcAft>
                <a:spcPts val="300"/>
              </a:spcAft>
              <a:buNone/>
            </a:pPr>
            <a:r>
              <a:rPr lang="zh-CN" sz="1750" b="0">
                <a:solidFill>
                  <a:srgbClr val="202A33"/>
                </a:solidFill>
                <a:latin typeface="Microsoft YaHei"/>
                <a:ea typeface="Microsoft YaHei"/>
                <a:cs typeface="Microsoft YaHei"/>
              </a:rPr>
              <a:t>成功率同时下降。</a:t>
            </a:r>
          </a:p>
        </p:txBody>
      </p:sp>
      <p:sp>
        <p:nvSpPr>
          <p:cNvPr id="10" name="Rectangle 9"/>
          <p:cNvSpPr/>
          <p:nvPr/>
        </p:nvSpPr>
        <p:spPr>
          <a:xfrm>
            <a:off x="4325112" y="4434840"/>
            <a:ext cx="3538728" cy="126187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4572000"/>
            <a:ext cx="3227832"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ATS采样</a:t>
            </a:r>
          </a:p>
        </p:txBody>
      </p:sp>
      <p:sp>
        <p:nvSpPr>
          <p:cNvPr id="12" name="TextBox 11"/>
          <p:cNvSpPr txBox="1"/>
          <p:nvPr/>
        </p:nvSpPr>
        <p:spPr>
          <a:xfrm>
            <a:off x="4480560" y="5029200"/>
            <a:ext cx="3227832" cy="530352"/>
          </a:xfrm>
          <a:prstGeom prst="rect">
            <a:avLst/>
          </a:prstGeom>
          <a:noFill/>
        </p:spPr>
        <p:txBody>
          <a:bodyPr wrap="square" lIns="0" tIns="0" rIns="0" bIns="0" anchor="t">
            <a:noAutofit/>
          </a:bodyPr>
          <a:lstStyle/>
          <a:p>
            <a:pPr marL="0" indent="0" algn="l">
              <a:lnSpc>
                <a:spcPct val="112000"/>
              </a:lnSpc>
              <a:spcBef>
                <a:spcPts val="0"/>
              </a:spcBef>
              <a:spcAft>
                <a:spcPts val="300"/>
              </a:spcAft>
              <a:buNone/>
            </a:pPr>
            <a:r>
              <a:rPr lang="zh-CN" sz="1750" b="0">
                <a:solidFill>
                  <a:srgbClr val="202A33"/>
                </a:solidFill>
                <a:latin typeface="Microsoft YaHei"/>
                <a:ea typeface="Microsoft YaHei"/>
                <a:cs typeface="Microsoft YaHei"/>
              </a:rPr>
              <a:t>PS：0.58 → 0.56</a:t>
            </a:r>
          </a:p>
          <a:p>
            <a:pPr marL="0" indent="0" algn="l">
              <a:lnSpc>
                <a:spcPct val="112000"/>
              </a:lnSpc>
              <a:spcBef>
                <a:spcPts val="0"/>
              </a:spcBef>
              <a:spcAft>
                <a:spcPts val="300"/>
              </a:spcAft>
              <a:buNone/>
            </a:pPr>
            <a:r>
              <a:rPr lang="zh-CN" sz="1750" b="0">
                <a:solidFill>
                  <a:srgbClr val="202A33"/>
                </a:solidFill>
                <a:latin typeface="Microsoft YaHei"/>
                <a:ea typeface="Microsoft YaHei"/>
                <a:cs typeface="Microsoft YaHei"/>
              </a:rPr>
              <a:t>成功率小幅下降。</a:t>
            </a:r>
          </a:p>
        </p:txBody>
      </p:sp>
      <p:sp>
        <p:nvSpPr>
          <p:cNvPr id="13" name="Rectangle 12"/>
          <p:cNvSpPr/>
          <p:nvPr/>
        </p:nvSpPr>
        <p:spPr>
          <a:xfrm>
            <a:off x="8147304" y="4434840"/>
            <a:ext cx="3538728" cy="126187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02752" y="4572000"/>
            <a:ext cx="3227832" cy="31089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062D50"/>
                </a:solidFill>
                <a:latin typeface="Microsoft YaHei"/>
                <a:ea typeface="Microsoft YaHei"/>
                <a:cs typeface="Microsoft YaHei"/>
              </a:rPr>
              <a:t>GC-SPSA</a:t>
            </a:r>
          </a:p>
        </p:txBody>
      </p:sp>
      <p:sp>
        <p:nvSpPr>
          <p:cNvPr id="15" name="TextBox 14"/>
          <p:cNvSpPr txBox="1"/>
          <p:nvPr/>
        </p:nvSpPr>
        <p:spPr>
          <a:xfrm>
            <a:off x="8302752" y="5029200"/>
            <a:ext cx="3227832" cy="530352"/>
          </a:xfrm>
          <a:prstGeom prst="rect">
            <a:avLst/>
          </a:prstGeom>
          <a:noFill/>
        </p:spPr>
        <p:txBody>
          <a:bodyPr wrap="square" lIns="0" tIns="0" rIns="0" bIns="0" anchor="t">
            <a:noAutofit/>
          </a:bodyPr>
          <a:lstStyle/>
          <a:p>
            <a:pPr marL="0" indent="0" algn="l">
              <a:lnSpc>
                <a:spcPct val="112000"/>
              </a:lnSpc>
              <a:spcBef>
                <a:spcPts val="0"/>
              </a:spcBef>
              <a:spcAft>
                <a:spcPts val="300"/>
              </a:spcAft>
              <a:buNone/>
            </a:pPr>
            <a:r>
              <a:rPr lang="zh-CN" sz="1750" b="0">
                <a:solidFill>
                  <a:srgbClr val="202A33"/>
                </a:solidFill>
                <a:latin typeface="Microsoft YaHei"/>
                <a:ea typeface="Microsoft YaHei"/>
                <a:cs typeface="Microsoft YaHei"/>
              </a:rPr>
              <a:t>PSR：45.9% → 76.0%</a:t>
            </a:r>
          </a:p>
          <a:p>
            <a:pPr marL="0" indent="0" algn="l">
              <a:lnSpc>
                <a:spcPct val="112000"/>
              </a:lnSpc>
              <a:spcBef>
                <a:spcPts val="0"/>
              </a:spcBef>
              <a:spcAft>
                <a:spcPts val="300"/>
              </a:spcAft>
              <a:buNone/>
            </a:pPr>
            <a:r>
              <a:rPr lang="zh-CN" sz="1750" b="0">
                <a:solidFill>
                  <a:srgbClr val="202A33"/>
                </a:solidFill>
                <a:latin typeface="Microsoft YaHei"/>
                <a:ea typeface="Microsoft YaHei"/>
                <a:cs typeface="Microsoft YaHei"/>
              </a:rPr>
              <a:t>代价是PS略高。</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68" y="137160"/>
            <a:ext cx="10881360" cy="475488"/>
          </a:xfr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什么时候“训练一次，再采样”更划算？</a:t>
            </a:r>
          </a:p>
        </p:txBody>
      </p:sp>
      <p:sp>
        <p:nvSpPr>
          <p:cNvPr id="3" name="Rectangle 2"/>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为什么做：前面的方法先付出训练成本；要看这笔成本能否被大量候选摊薄。</a:t>
            </a:r>
          </a:p>
        </p:txBody>
      </p:sp>
      <p:pic>
        <p:nvPicPr>
          <p:cNvPr id="6" name="Picture 5" descr="image.png"/>
          <p:cNvPicPr>
            <a:picLocks noChangeAspect="1"/>
          </p:cNvPicPr>
          <p:nvPr/>
        </p:nvPicPr>
        <p:blipFill>
          <a:blip r:embed="rId3"/>
          <a:stretch>
            <a:fillRect/>
          </a:stretch>
        </p:blipFill>
        <p:spPr>
          <a:xfrm>
            <a:off x="612209" y="1600200"/>
            <a:ext cx="7343509" cy="4507992"/>
          </a:xfrm>
          <a:prstGeom prst="rect">
            <a:avLst/>
          </a:prstGeom>
        </p:spPr>
      </p:pic>
      <p:sp>
        <p:nvSpPr>
          <p:cNvPr id="7" name="Rectangle 6"/>
          <p:cNvSpPr/>
          <p:nvPr/>
        </p:nvSpPr>
        <p:spPr>
          <a:xfrm>
            <a:off x="8348472" y="1636776"/>
            <a:ext cx="3328416" cy="20574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348472" y="1636776"/>
            <a:ext cx="3328416"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0" y="1746504"/>
            <a:ext cx="3017520"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FFFFFF"/>
                </a:solidFill>
                <a:latin typeface="Microsoft YaHei"/>
                <a:ea typeface="Microsoft YaHei"/>
                <a:cs typeface="Microsoft YaHei"/>
              </a:rPr>
              <a:t>先读坐标</a:t>
            </a:r>
          </a:p>
        </p:txBody>
      </p:sp>
      <p:sp>
        <p:nvSpPr>
          <p:cNvPr id="10" name="TextBox 9"/>
          <p:cNvSpPr txBox="1"/>
          <p:nvPr/>
        </p:nvSpPr>
        <p:spPr>
          <a:xfrm>
            <a:off x="8531352" y="2350008"/>
            <a:ext cx="2962656" cy="1197864"/>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80" b="0">
                <a:solidFill>
                  <a:srgbClr val="202A33"/>
                </a:solidFill>
                <a:latin typeface="Microsoft YaHei"/>
                <a:ea typeface="Microsoft YaHei"/>
                <a:cs typeface="Microsoft YaHei"/>
              </a:rPr>
              <a:t>横轴：有效提示词数量。</a:t>
            </a:r>
          </a:p>
          <a:p>
            <a:pPr marL="0" indent="0" algn="l">
              <a:lnSpc>
                <a:spcPct val="112000"/>
              </a:lnSpc>
              <a:spcBef>
                <a:spcPts val="0"/>
              </a:spcBef>
              <a:spcAft>
                <a:spcPts val="700"/>
              </a:spcAft>
              <a:buNone/>
            </a:pPr>
            <a:r>
              <a:rPr lang="zh-CN" sz="1780" b="0">
                <a:solidFill>
                  <a:srgbClr val="202A33"/>
                </a:solidFill>
                <a:latin typeface="Microsoft YaHei"/>
                <a:ea typeface="Microsoft YaHei"/>
                <a:cs typeface="Microsoft YaHei"/>
              </a:rPr>
              <a:t>纵轴：预计总耗时（小时），</a:t>
            </a:r>
          </a:p>
          <a:p>
            <a:pPr marL="0" indent="0" algn="l">
              <a:lnSpc>
                <a:spcPct val="112000"/>
              </a:lnSpc>
              <a:spcBef>
                <a:spcPts val="0"/>
              </a:spcBef>
              <a:spcAft>
                <a:spcPts val="700"/>
              </a:spcAft>
              <a:buNone/>
            </a:pPr>
            <a:r>
              <a:rPr lang="zh-CN" sz="1780" b="0">
                <a:solidFill>
                  <a:srgbClr val="202A33"/>
                </a:solidFill>
                <a:latin typeface="Microsoft YaHei"/>
                <a:ea typeface="Microsoft YaHei"/>
                <a:cs typeface="Microsoft YaHei"/>
              </a:rPr>
              <a:t>使用对数刻度。</a:t>
            </a:r>
          </a:p>
        </p:txBody>
      </p:sp>
      <p:sp>
        <p:nvSpPr>
          <p:cNvPr id="11" name="Rectangle 10"/>
          <p:cNvSpPr/>
          <p:nvPr/>
        </p:nvSpPr>
        <p:spPr>
          <a:xfrm>
            <a:off x="8348472" y="3968496"/>
            <a:ext cx="3328416" cy="190195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348472" y="3968496"/>
            <a:ext cx="3328416"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0" y="4078224"/>
            <a:ext cx="3017520"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FFFFFF"/>
                </a:solidFill>
                <a:latin typeface="Microsoft YaHei"/>
                <a:ea typeface="Microsoft YaHei"/>
                <a:cs typeface="Microsoft YaHei"/>
              </a:rPr>
              <a:t>再读曲线</a:t>
            </a:r>
          </a:p>
        </p:txBody>
      </p:sp>
      <p:sp>
        <p:nvSpPr>
          <p:cNvPr id="14" name="TextBox 13"/>
          <p:cNvSpPr txBox="1"/>
          <p:nvPr/>
        </p:nvSpPr>
        <p:spPr>
          <a:xfrm>
            <a:off x="8531352" y="4681728"/>
            <a:ext cx="2962656" cy="104241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80" b="0">
                <a:solidFill>
                  <a:srgbClr val="202A33"/>
                </a:solidFill>
                <a:latin typeface="Microsoft YaHei"/>
                <a:ea typeface="Microsoft YaHei"/>
                <a:cs typeface="Microsoft YaHei"/>
              </a:rPr>
              <a:t>DREAM先训练，后续采样</a:t>
            </a:r>
          </a:p>
          <a:p>
            <a:pPr marL="0" indent="0" algn="l">
              <a:lnSpc>
                <a:spcPct val="112000"/>
              </a:lnSpc>
              <a:spcBef>
                <a:spcPts val="0"/>
              </a:spcBef>
              <a:spcAft>
                <a:spcPts val="700"/>
              </a:spcAft>
              <a:buNone/>
            </a:pPr>
            <a:r>
              <a:rPr lang="zh-CN" sz="1780" b="0">
                <a:solidFill>
                  <a:srgbClr val="202A33"/>
                </a:solidFill>
                <a:latin typeface="Microsoft YaHei"/>
                <a:ea typeface="Microsoft YaHei"/>
                <a:cs typeface="Microsoft YaHei"/>
              </a:rPr>
              <a:t>相对便宜；需要更多案例时，</a:t>
            </a:r>
          </a:p>
          <a:p>
            <a:pPr marL="0" indent="0" algn="l">
              <a:lnSpc>
                <a:spcPct val="112000"/>
              </a:lnSpc>
              <a:spcBef>
                <a:spcPts val="0"/>
              </a:spcBef>
              <a:spcAft>
                <a:spcPts val="700"/>
              </a:spcAft>
              <a:buNone/>
            </a:pPr>
            <a:r>
              <a:rPr lang="zh-CN" sz="1780" b="0">
                <a:solidFill>
                  <a:srgbClr val="202A33"/>
                </a:solidFill>
                <a:latin typeface="Microsoft YaHei"/>
                <a:ea typeface="Microsoft YaHei"/>
                <a:cs typeface="Microsoft YaHei"/>
              </a:rPr>
              <a:t>训练成本更容易摊薄。</a:t>
            </a:r>
          </a:p>
        </p:txBody>
      </p:sp>
      <p:sp>
        <p:nvSpPr>
          <p:cNvPr id="15" name="TextBox 14"/>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来源：</a:t>
            </a:r>
            <a:r>
              <a:rPr lang="zh-TW" altLang="en-US" sz="1040" dirty="0">
                <a:solidFill>
                  <a:srgbClr val="647483"/>
                </a:solidFill>
                <a:latin typeface="Microsoft YaHei"/>
                <a:ea typeface="Microsoft YaHei"/>
                <a:cs typeface="Microsoft YaHei"/>
              </a:rPr>
              <a:t>论文</a:t>
            </a:r>
            <a:r>
              <a:rPr lang="zh-CN" sz="1040" b="0" dirty="0">
                <a:solidFill>
                  <a:srgbClr val="647483"/>
                </a:solidFill>
                <a:latin typeface="Microsoft YaHei"/>
                <a:ea typeface="Microsoft YaHei"/>
                <a:cs typeface="Microsoft YaHei"/>
              </a:rPr>
              <a:t> Figure 3。纵轴为收集有效提示词的预计总时间，包含前期训练。</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C7790-C74F-854E-49CD-1E197F1CEA5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B63B4E2-01D4-FAEF-C734-0853F4838021}"/>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实验介绍 —— 这些测试数据能帮助模型变安全吗？</a:t>
            </a:r>
            <a:endParaRPr lang="zh-CN" altLang="en-US" dirty="0"/>
          </a:p>
        </p:txBody>
      </p:sp>
      <p:pic>
        <p:nvPicPr>
          <p:cNvPr id="10" name="圖片 9">
            <a:extLst>
              <a:ext uri="{FF2B5EF4-FFF2-40B4-BE49-F238E27FC236}">
                <a16:creationId xmlns:a16="http://schemas.microsoft.com/office/drawing/2014/main" id="{3265082C-AD58-6433-F6E0-FB1BC9616BD5}"/>
              </a:ext>
            </a:extLst>
          </p:cNvPr>
          <p:cNvPicPr>
            <a:picLocks noChangeAspect="1"/>
          </p:cNvPicPr>
          <p:nvPr/>
        </p:nvPicPr>
        <p:blipFill>
          <a:blip r:embed="rId3"/>
          <a:stretch>
            <a:fillRect/>
          </a:stretch>
        </p:blipFill>
        <p:spPr>
          <a:xfrm>
            <a:off x="502920" y="1695501"/>
            <a:ext cx="7909560" cy="4235093"/>
          </a:xfrm>
          <a:prstGeom prst="rect">
            <a:avLst/>
          </a:prstGeom>
        </p:spPr>
      </p:pic>
      <p:sp>
        <p:nvSpPr>
          <p:cNvPr id="11" name="Rectangle 10"/>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914400"/>
            <a:ext cx="11173968" cy="457200"/>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 y="996696"/>
            <a:ext cx="10853928" cy="29260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062D50"/>
                </a:solidFill>
                <a:latin typeface="Microsoft YaHei"/>
                <a:ea typeface="Microsoft YaHei"/>
                <a:cs typeface="Microsoft YaHei"/>
              </a:rPr>
              <a:t>为什么做：发现问题之后，还要检查这些样本能否改进防御，而不只是增加测试成功率。</a:t>
            </a:r>
          </a:p>
        </p:txBody>
      </p:sp>
      <p:sp>
        <p:nvSpPr>
          <p:cNvPr id="14" name="Rectangle 13"/>
          <p:cNvSpPr/>
          <p:nvPr/>
        </p:nvSpPr>
        <p:spPr>
          <a:xfrm>
            <a:off x="8705088" y="1636776"/>
            <a:ext cx="2971800" cy="1856231"/>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705088" y="1636776"/>
            <a:ext cx="297180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860536" y="1746504"/>
            <a:ext cx="26609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FFFFFF"/>
                </a:solidFill>
                <a:latin typeface="Microsoft YaHei"/>
                <a:ea typeface="Microsoft YaHei"/>
                <a:cs typeface="Microsoft YaHei"/>
              </a:rPr>
              <a:t>先读行和列</a:t>
            </a:r>
          </a:p>
        </p:txBody>
      </p:sp>
      <p:sp>
        <p:nvSpPr>
          <p:cNvPr id="17" name="TextBox 16"/>
          <p:cNvSpPr txBox="1"/>
          <p:nvPr/>
        </p:nvSpPr>
        <p:spPr>
          <a:xfrm>
            <a:off x="8887967" y="2350008"/>
            <a:ext cx="2606040" cy="996695"/>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30" b="0">
                <a:solidFill>
                  <a:srgbClr val="202A33"/>
                </a:solidFill>
                <a:latin typeface="Microsoft YaHei"/>
                <a:ea typeface="Microsoft YaHei"/>
                <a:cs typeface="Microsoft YaHei"/>
              </a:rPr>
              <a:t>行：微调数据来自谁。</a:t>
            </a:r>
          </a:p>
          <a:p>
            <a:pPr marL="0" indent="0" algn="l">
              <a:lnSpc>
                <a:spcPct val="112000"/>
              </a:lnSpc>
              <a:spcBef>
                <a:spcPts val="0"/>
              </a:spcBef>
              <a:spcAft>
                <a:spcPts val="700"/>
              </a:spcAft>
              <a:buNone/>
            </a:pPr>
            <a:r>
              <a:rPr lang="zh-CN" sz="1730" b="0">
                <a:solidFill>
                  <a:srgbClr val="202A33"/>
                </a:solidFill>
                <a:latin typeface="Microsoft YaHei"/>
                <a:ea typeface="Microsoft YaHei"/>
                <a:cs typeface="Microsoft YaHei"/>
              </a:rPr>
              <a:t>列：用谁的提示词攻击。</a:t>
            </a:r>
          </a:p>
          <a:p>
            <a:pPr marL="0" indent="0" algn="l">
              <a:lnSpc>
                <a:spcPct val="112000"/>
              </a:lnSpc>
              <a:spcBef>
                <a:spcPts val="0"/>
              </a:spcBef>
              <a:spcAft>
                <a:spcPts val="700"/>
              </a:spcAft>
              <a:buNone/>
            </a:pPr>
            <a:r>
              <a:rPr lang="zh-CN" sz="1730" b="0">
                <a:solidFill>
                  <a:srgbClr val="202A33"/>
                </a:solidFill>
                <a:latin typeface="Microsoft YaHei"/>
                <a:ea typeface="Microsoft YaHei"/>
                <a:cs typeface="Microsoft YaHei"/>
              </a:rPr>
              <a:t>颜色越浅，残余PSR越低。</a:t>
            </a:r>
          </a:p>
        </p:txBody>
      </p:sp>
      <p:sp>
        <p:nvSpPr>
          <p:cNvPr id="18" name="Rectangle 17"/>
          <p:cNvSpPr/>
          <p:nvPr/>
        </p:nvSpPr>
        <p:spPr>
          <a:xfrm>
            <a:off x="8705088" y="3739896"/>
            <a:ext cx="2971800" cy="2267712"/>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705088" y="3739896"/>
            <a:ext cx="2971800" cy="512064"/>
          </a:xfrm>
          <a:prstGeom prst="rect">
            <a:avLst/>
          </a:prstGeom>
          <a:solidFill>
            <a:srgbClr val="062D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860536" y="3849624"/>
            <a:ext cx="266090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000" b="1">
                <a:solidFill>
                  <a:srgbClr val="FFFFFF"/>
                </a:solidFill>
                <a:latin typeface="Microsoft YaHei"/>
                <a:ea typeface="Microsoft YaHei"/>
                <a:cs typeface="Microsoft YaHei"/>
              </a:rPr>
              <a:t>再看一个具体格子</a:t>
            </a:r>
          </a:p>
        </p:txBody>
      </p:sp>
      <p:sp>
        <p:nvSpPr>
          <p:cNvPr id="21" name="TextBox 20"/>
          <p:cNvSpPr txBox="1"/>
          <p:nvPr/>
        </p:nvSpPr>
        <p:spPr>
          <a:xfrm>
            <a:off x="8887967" y="4453128"/>
            <a:ext cx="2606040" cy="1408176"/>
          </a:xfrm>
          <a:prstGeom prst="rect">
            <a:avLst/>
          </a:prstGeom>
          <a:noFill/>
        </p:spPr>
        <p:txBody>
          <a:bodyPr wrap="square" lIns="0" tIns="0" rIns="0" bIns="0" anchor="t">
            <a:noAutofit/>
          </a:bodyPr>
          <a:lstStyle/>
          <a:p>
            <a:pPr marL="0" indent="0" algn="l">
              <a:lnSpc>
                <a:spcPct val="112000"/>
              </a:lnSpc>
              <a:spcBef>
                <a:spcPts val="0"/>
              </a:spcBef>
              <a:spcAft>
                <a:spcPts val="700"/>
              </a:spcAft>
              <a:buNone/>
            </a:pPr>
            <a:r>
              <a:rPr lang="zh-CN" sz="1720" b="0">
                <a:solidFill>
                  <a:srgbClr val="202A33"/>
                </a:solidFill>
                <a:latin typeface="Microsoft YaHei"/>
                <a:ea typeface="Microsoft YaHei"/>
                <a:cs typeface="Microsoft YaHei"/>
              </a:rPr>
              <a:t>Sexual / I2P列：</a:t>
            </a:r>
          </a:p>
          <a:p>
            <a:pPr marL="0" indent="0" algn="l">
              <a:lnSpc>
                <a:spcPct val="112000"/>
              </a:lnSpc>
              <a:spcBef>
                <a:spcPts val="0"/>
              </a:spcBef>
              <a:spcAft>
                <a:spcPts val="700"/>
              </a:spcAft>
              <a:buNone/>
            </a:pPr>
            <a:r>
              <a:rPr lang="zh-CN" sz="1720" b="0">
                <a:solidFill>
                  <a:srgbClr val="202A33"/>
                </a:solidFill>
                <a:latin typeface="Microsoft YaHei"/>
                <a:ea typeface="Microsoft YaHei"/>
                <a:cs typeface="Microsoft YaHei"/>
              </a:rPr>
              <a:t>未微调：51.50%</a:t>
            </a:r>
          </a:p>
          <a:p>
            <a:pPr marL="0" indent="0" algn="l">
              <a:lnSpc>
                <a:spcPct val="112000"/>
              </a:lnSpc>
              <a:spcBef>
                <a:spcPts val="0"/>
              </a:spcBef>
              <a:spcAft>
                <a:spcPts val="700"/>
              </a:spcAft>
              <a:buNone/>
            </a:pPr>
            <a:r>
              <a:rPr lang="zh-CN" sz="1720" b="0">
                <a:solidFill>
                  <a:srgbClr val="202A33"/>
                </a:solidFill>
                <a:latin typeface="Microsoft YaHei"/>
                <a:ea typeface="Microsoft YaHei"/>
                <a:cs typeface="Microsoft YaHei"/>
              </a:rPr>
              <a:t>DREAM微调：10.30%</a:t>
            </a:r>
          </a:p>
          <a:p>
            <a:pPr marL="0" indent="0" algn="l">
              <a:lnSpc>
                <a:spcPct val="112000"/>
              </a:lnSpc>
              <a:spcBef>
                <a:spcPts val="0"/>
              </a:spcBef>
              <a:spcAft>
                <a:spcPts val="700"/>
              </a:spcAft>
              <a:buNone/>
            </a:pPr>
            <a:r>
              <a:rPr lang="zh-CN" sz="1720" b="0">
                <a:solidFill>
                  <a:srgbClr val="202A33"/>
                </a:solidFill>
                <a:latin typeface="Microsoft YaHei"/>
                <a:ea typeface="Microsoft YaHei"/>
                <a:cs typeface="Microsoft YaHei"/>
              </a:rPr>
              <a:t>风险减少，但没有归零。</a:t>
            </a:r>
          </a:p>
        </p:txBody>
      </p:sp>
      <p:sp>
        <p:nvSpPr>
          <p:cNvPr id="22" name="TextBox 21"/>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来源：</a:t>
            </a:r>
            <a:r>
              <a:rPr lang="zh-TW" altLang="en-US" sz="1040" dirty="0">
                <a:solidFill>
                  <a:srgbClr val="647483"/>
                </a:solidFill>
                <a:latin typeface="Microsoft YaHei"/>
                <a:ea typeface="Microsoft YaHei"/>
                <a:cs typeface="Microsoft YaHei"/>
              </a:rPr>
              <a:t>论文</a:t>
            </a:r>
            <a:r>
              <a:rPr lang="zh-CN" sz="1040" b="0" dirty="0">
                <a:solidFill>
                  <a:srgbClr val="647483"/>
                </a:solidFill>
                <a:latin typeface="Microsoft YaHei"/>
                <a:ea typeface="Microsoft YaHei"/>
                <a:cs typeface="Microsoft YaHei"/>
              </a:rPr>
              <a:t> Figure 4。Safety-DPO 微调后，使用不同来源的提示词交叉测试。</a:t>
            </a:r>
          </a:p>
        </p:txBody>
      </p:sp>
    </p:spTree>
    <p:extLst>
      <p:ext uri="{BB962C8B-B14F-4D97-AF65-F5344CB8AC3E}">
        <p14:creationId xmlns:p14="http://schemas.microsoft.com/office/powerpoint/2010/main" val="415553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0EE57A44-C755-4433-4216-C5643D19DF96}"/>
            </a:ext>
          </a:extLst>
        </p:cNvPr>
        <p:cNvGrpSpPr/>
        <p:nvPr/>
      </p:nvGrpSpPr>
      <p:grpSpPr>
        <a:xfrm>
          <a:off x="0" y="0"/>
          <a:ext cx="0" cy="0"/>
          <a:chOff x="0" y="0"/>
          <a:chExt cx="0" cy="0"/>
        </a:xfrm>
      </p:grpSpPr>
      <p:sp>
        <p:nvSpPr>
          <p:cNvPr id="26" name="矩形 25">
            <a:extLst>
              <a:ext uri="{FF2B5EF4-FFF2-40B4-BE49-F238E27FC236}">
                <a16:creationId xmlns:a16="http://schemas.microsoft.com/office/drawing/2014/main" id="{30A4A8CA-D0F8-9FD7-E8CF-C4AB24C51F1F}"/>
              </a:ext>
            </a:extLst>
          </p:cNvPr>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5061A15E-FF24-8526-2B94-B2AB5833609D}"/>
              </a:ext>
            </a:extLst>
          </p:cNvPr>
          <p:cNvPicPr>
            <a:picLocks noChangeAspect="1"/>
          </p:cNvPicPr>
          <p:nvPr/>
        </p:nvPicPr>
        <p:blipFill rotWithShape="1">
          <a:blip r:embed="rId4">
            <a:duotone>
              <a:schemeClr val="accent1">
                <a:shade val="45000"/>
                <a:satMod val="135000"/>
              </a:schemeClr>
              <a:prstClr val="white"/>
            </a:duotone>
          </a:blip>
          <a:srcRect t="4253" b="15909"/>
          <a:stretch/>
        </p:blipFill>
        <p:spPr>
          <a:xfrm>
            <a:off x="3316771" y="788306"/>
            <a:ext cx="8179904" cy="5270215"/>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a:ln>
            <a:noFill/>
          </a:ln>
        </p:spPr>
      </p:pic>
      <p:sp>
        <p:nvSpPr>
          <p:cNvPr id="22" name="part">
            <a:extLst>
              <a:ext uri="{FF2B5EF4-FFF2-40B4-BE49-F238E27FC236}">
                <a16:creationId xmlns:a16="http://schemas.microsoft.com/office/drawing/2014/main" id="{A332F18C-8ECD-8FD9-E056-1BB9EE0745A8}"/>
              </a:ext>
            </a:extLst>
          </p:cNvPr>
          <p:cNvSpPr/>
          <p:nvPr/>
        </p:nvSpPr>
        <p:spPr>
          <a:xfrm>
            <a:off x="695325" y="785512"/>
            <a:ext cx="2428875" cy="5275802"/>
          </a:xfrm>
          <a:prstGeom prst="roundRect">
            <a:avLst>
              <a:gd name="adj" fmla="val 0"/>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39" name="title">
            <a:extLst>
              <a:ext uri="{FF2B5EF4-FFF2-40B4-BE49-F238E27FC236}">
                <a16:creationId xmlns:a16="http://schemas.microsoft.com/office/drawing/2014/main" id="{4934A9CD-39B6-BD8E-F854-6D5E43154E07}"/>
              </a:ext>
            </a:extLst>
          </p:cNvPr>
          <p:cNvSpPr txBox="1"/>
          <p:nvPr/>
        </p:nvSpPr>
        <p:spPr>
          <a:xfrm>
            <a:off x="658813" y="6385673"/>
            <a:ext cx="3314754" cy="215444"/>
          </a:xfrm>
          <a:prstGeom prst="rect">
            <a:avLst/>
          </a:prstGeom>
          <a:noFill/>
        </p:spPr>
        <p:txBody>
          <a:bodyPr wrap="none" lIns="0" tIns="0" rIns="0" bIns="0" rtlCol="0">
            <a:spAutoFit/>
          </a:bodyPr>
          <a:lstStyle/>
          <a:p>
            <a:r>
              <a:rPr lang="zh-CN" altLang="en-US" sz="1400" dirty="0">
                <a:solidFill>
                  <a:schemeClr val="bg1"/>
                </a:solidFill>
                <a:latin typeface="微软雅黑" panose="020B0503020204020204" pitchFamily="34" charset="-122"/>
                <a:ea typeface="微软雅黑" panose="020B0503020204020204" pitchFamily="34" charset="-122"/>
              </a:rPr>
              <a:t>澳门大学 | </a:t>
            </a:r>
            <a:r>
              <a:rPr lang="en-US" altLang="zh-CN" sz="1400" dirty="0">
                <a:solidFill>
                  <a:schemeClr val="bg1"/>
                </a:solidFill>
                <a:latin typeface="微软雅黑" panose="020B0503020204020204" pitchFamily="34" charset="-122"/>
                <a:ea typeface="微软雅黑" panose="020B0503020204020204" pitchFamily="34" charset="-122"/>
              </a:rPr>
              <a:t>UNIVERSIDADE DE MACAU</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1" name="page">
            <a:extLst>
              <a:ext uri="{FF2B5EF4-FFF2-40B4-BE49-F238E27FC236}">
                <a16:creationId xmlns:a16="http://schemas.microsoft.com/office/drawing/2014/main" id="{C7750038-3C05-8ADD-61DA-7A5418A886A7}"/>
              </a:ext>
            </a:extLst>
          </p:cNvPr>
          <p:cNvSpPr txBox="1">
            <a:spLocks/>
          </p:cNvSpPr>
          <p:nvPr/>
        </p:nvSpPr>
        <p:spPr>
          <a:xfrm>
            <a:off x="11301984" y="6382512"/>
            <a:ext cx="429768" cy="274320"/>
          </a:xfrm>
          <a:prstGeom prst="rect">
            <a:avLst/>
          </a:prstGeom>
          <a:noFill/>
        </p:spPr>
        <p:txBody>
          <a:bodyPr vert="horz" wrap="square" lIns="0" tIns="0" rIns="0" bIns="0" rtlCol="0" anchor="t">
            <a:noAutofit/>
          </a:bodyP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lgn="r">
              <a:lnSpc>
                <a:spcPct val="112000"/>
              </a:lnSpc>
              <a:spcBef>
                <a:spcPts val="0"/>
              </a:spcBef>
              <a:spcAft>
                <a:spcPts val="0"/>
              </a:spcAft>
              <a:buNone/>
            </a:pPr>
            <a:r>
              <a:rPr lang="zh-CN" sz="1400" b="1">
                <a:solidFill>
                  <a:srgbClr val="FFFFFF"/>
                </a:solidFill>
                <a:latin typeface="Microsoft YaHei"/>
                <a:ea typeface="Microsoft YaHei"/>
                <a:cs typeface="Microsoft YaHei"/>
              </a:rPr>
              <a:t>30</a:t>
            </a:r>
            <a:endParaRPr lang="ja-JP" altLang="en-US" sz="1400" b="1"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part">
            <a:extLst>
              <a:ext uri="{FF2B5EF4-FFF2-40B4-BE49-F238E27FC236}">
                <a16:creationId xmlns:a16="http://schemas.microsoft.com/office/drawing/2014/main" id="{69F6612C-6951-653C-9C70-F921169E607E}"/>
              </a:ext>
            </a:extLst>
          </p:cNvPr>
          <p:cNvSpPr/>
          <p:nvPr/>
        </p:nvSpPr>
        <p:spPr>
          <a:xfrm flipH="1">
            <a:off x="987552" y="2423160"/>
            <a:ext cx="1828800"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marL="0" indent="0" algn="ctr">
              <a:lnSpc>
                <a:spcPct val="112000"/>
              </a:lnSpc>
              <a:spcBef>
                <a:spcPts val="0"/>
              </a:spcBef>
              <a:spcAft>
                <a:spcPts val="1200"/>
              </a:spcAft>
              <a:buNone/>
            </a:pPr>
            <a:r>
              <a:rPr lang="zh-CN" sz="3400" b="1">
                <a:solidFill>
                  <a:srgbClr val="062D50"/>
                </a:solidFill>
                <a:latin typeface="Microsoft YaHei"/>
                <a:ea typeface="Microsoft YaHei"/>
                <a:cs typeface="Microsoft YaHei"/>
              </a:rPr>
              <a:t>Part</a:t>
            </a:r>
          </a:p>
          <a:p>
            <a:pPr marL="0" indent="0" algn="ctr">
              <a:lnSpc>
                <a:spcPct val="112000"/>
              </a:lnSpc>
              <a:spcBef>
                <a:spcPts val="0"/>
              </a:spcBef>
              <a:spcAft>
                <a:spcPts val="1200"/>
              </a:spcAft>
              <a:buNone/>
            </a:pPr>
            <a:r>
              <a:rPr lang="zh-CN" sz="7200" b="1">
                <a:solidFill>
                  <a:srgbClr val="062D50"/>
                </a:solidFill>
                <a:latin typeface="Microsoft YaHei"/>
                <a:ea typeface="Microsoft YaHei"/>
                <a:cs typeface="Microsoft YaHei"/>
              </a:rPr>
              <a:t>04</a:t>
            </a:r>
          </a:p>
        </p:txBody>
      </p:sp>
      <p:sp>
        <p:nvSpPr>
          <p:cNvPr id="28" name="文本框 27">
            <a:extLst>
              <a:ext uri="{FF2B5EF4-FFF2-40B4-BE49-F238E27FC236}">
                <a16:creationId xmlns:a16="http://schemas.microsoft.com/office/drawing/2014/main" id="{91F4C229-40CE-EB3B-6BBF-FBCF58A6E158}"/>
              </a:ext>
            </a:extLst>
          </p:cNvPr>
          <p:cNvSpPr txBox="1"/>
          <p:nvPr/>
        </p:nvSpPr>
        <p:spPr>
          <a:xfrm>
            <a:off x="4663440" y="2834640"/>
            <a:ext cx="5486400" cy="758952"/>
          </a:xfrm>
          <a:prstGeom prst="rect">
            <a:avLst/>
          </a:prstGeom>
          <a:noFill/>
        </p:spPr>
        <p:txBody>
          <a:bodyPr wrap="square" lIns="0" tIns="0" rIns="0" bIns="0" rtlCol="0" anchor="t">
            <a:noAutofit/>
          </a:bodyPr>
          <a:lstStyle/>
          <a:p>
            <a:pPr marL="0" indent="0" algn="ctr">
              <a:lnSpc>
                <a:spcPct val="112000"/>
              </a:lnSpc>
              <a:spcBef>
                <a:spcPts val="0"/>
              </a:spcBef>
              <a:spcAft>
                <a:spcPts val="0"/>
              </a:spcAft>
              <a:buNone/>
            </a:pPr>
            <a:r>
              <a:rPr lang="zh-CN" sz="4200" b="1">
                <a:solidFill>
                  <a:srgbClr val="202A33"/>
                </a:solidFill>
                <a:latin typeface="Microsoft YaHei"/>
                <a:ea typeface="Microsoft YaHei"/>
                <a:cs typeface="Microsoft YaHei"/>
              </a:rPr>
              <a:t>总结与思考</a:t>
            </a:r>
          </a:p>
        </p:txBody>
      </p:sp>
      <p:sp>
        <p:nvSpPr>
          <p:cNvPr id="8" name="矩形 7">
            <a:extLst>
              <a:ext uri="{FF2B5EF4-FFF2-40B4-BE49-F238E27FC236}">
                <a16:creationId xmlns:a16="http://schemas.microsoft.com/office/drawing/2014/main" id="{DCE4B774-C023-C8E8-9649-0C3EE29EEDD2}"/>
              </a:ext>
            </a:extLst>
          </p:cNvPr>
          <p:cNvSpPr/>
          <p:nvPr/>
        </p:nvSpPr>
        <p:spPr>
          <a:xfrm>
            <a:off x="695325" y="748932"/>
            <a:ext cx="2428875" cy="7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TextBox 41"/>
          <p:cNvSpPr txBox="1"/>
          <p:nvPr/>
        </p:nvSpPr>
        <p:spPr>
          <a:xfrm>
            <a:off x="4526280" y="3794760"/>
            <a:ext cx="5852160" cy="68580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1800" b="0">
                <a:solidFill>
                  <a:srgbClr val="647483"/>
                </a:solidFill>
                <a:latin typeface="Microsoft YaHei"/>
                <a:ea typeface="Microsoft YaHei"/>
                <a:cs typeface="Microsoft YaHei"/>
              </a:rPr>
              <a:t>先收束结果，再提出具体的后续检查</a:t>
            </a:r>
          </a:p>
        </p:txBody>
      </p:sp>
    </p:spTree>
    <p:custDataLst>
      <p:tags r:id="rId1"/>
    </p:custDataLst>
    <p:extLst>
      <p:ext uri="{BB962C8B-B14F-4D97-AF65-F5344CB8AC3E}">
        <p14:creationId xmlns:p14="http://schemas.microsoft.com/office/powerpoint/2010/main" val="25210696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0CD2-98BC-38B4-AA44-399EB8742C9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592F86DD-3872-67CC-CA03-5F04C1029CAB}"/>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总结与思考 —— DREAM 主要做了三件事</a:t>
            </a:r>
            <a:endParaRPr lang="zh-CN" altLang="en-US" dirty="0"/>
          </a:p>
        </p:txBody>
      </p:sp>
      <p:sp>
        <p:nvSpPr>
          <p:cNvPr id="2" name="文本框 1">
            <a:extLst>
              <a:ext uri="{FF2B5EF4-FFF2-40B4-BE49-F238E27FC236}">
                <a16:creationId xmlns:a16="http://schemas.microsoft.com/office/drawing/2014/main" id="{F28444BB-1128-280C-F69E-68A120F6B6B4}"/>
              </a:ext>
            </a:extLst>
          </p:cNvPr>
          <p:cNvSpPr txBox="1"/>
          <p:nvPr/>
        </p:nvSpPr>
        <p:spPr>
          <a:xfrm>
            <a:off x="786384" y="1197864"/>
            <a:ext cx="10607040" cy="859536"/>
          </a:xfrm>
          <a:prstGeom prst="rect">
            <a:avLst/>
          </a:prstGeom>
          <a:noFill/>
        </p:spPr>
        <p:txBody>
          <a:bodyPr wrap="square" lIns="0" tIns="0" rIns="0" bIns="0" rtlCol="0" anchor="t">
            <a:noAutofit/>
          </a:bodyPr>
          <a:lstStyle/>
          <a:p>
            <a:pPr marL="0" indent="0" algn="ctr" fontAlgn="auto">
              <a:lnSpc>
                <a:spcPct val="112000"/>
              </a:lnSpc>
              <a:spcBef>
                <a:spcPts val="0"/>
              </a:spcBef>
              <a:spcAft>
                <a:spcPts val="0"/>
              </a:spcAft>
              <a:buNone/>
            </a:pPr>
            <a:r>
              <a:rPr lang="zh-CN" sz="2500" b="1">
                <a:solidFill>
                  <a:srgbClr val="062D50"/>
                </a:solidFill>
                <a:latin typeface="Microsoft YaHei"/>
                <a:ea typeface="Microsoft YaHei"/>
                <a:cs typeface="Microsoft YaHei"/>
              </a:rPr>
              <a:t>把一次次独立找提示词，改成训练一个可反复使用的提示词生成器。</a:t>
            </a:r>
            <a:endParaRPr lang="zh-CN" altLang="en-US" sz="2000" dirty="0">
              <a:latin typeface="Microsoft YaHei" panose="020B0503020204020204" pitchFamily="34" charset="-122"/>
              <a:ea typeface="Microsoft YaHei" panose="020B0503020204020204" pitchFamily="34" charset="-122"/>
            </a:endParaRPr>
          </a:p>
        </p:txBody>
      </p:sp>
      <p:sp>
        <p:nvSpPr>
          <p:cNvPr id="4" name="Rounded Rectangle 70">
            <a:extLst>
              <a:ext uri="{FF2B5EF4-FFF2-40B4-BE49-F238E27FC236}">
                <a16:creationId xmlns:a16="http://schemas.microsoft.com/office/drawing/2014/main" id="{3A21E12C-EF88-D3B6-D895-04AEB31D662B}"/>
              </a:ext>
            </a:extLst>
          </p:cNvPr>
          <p:cNvSpPr/>
          <p:nvPr/>
        </p:nvSpPr>
        <p:spPr>
          <a:xfrm>
            <a:off x="502920" y="2560320"/>
            <a:ext cx="3547872" cy="2487168"/>
          </a:xfrm>
          <a:prstGeom prst="roundRect">
            <a:avLst>
              <a:gd name="adj" fmla="val 8000"/>
            </a:avLst>
          </a:prstGeom>
          <a:solidFill>
            <a:srgbClr val="EEF5F9"/>
          </a:solidFill>
          <a:ln w="15875" cap="flat" cmpd="sng" algn="ctr">
            <a:solidFill>
              <a:srgbClr val="0B52A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71">
            <a:extLst>
              <a:ext uri="{FF2B5EF4-FFF2-40B4-BE49-F238E27FC236}">
                <a16:creationId xmlns:a16="http://schemas.microsoft.com/office/drawing/2014/main" id="{694CAC89-8A55-249D-4B1E-0775EDEBD520}"/>
              </a:ext>
            </a:extLst>
          </p:cNvPr>
          <p:cNvSpPr txBox="1"/>
          <p:nvPr/>
        </p:nvSpPr>
        <p:spPr>
          <a:xfrm>
            <a:off x="704088" y="3474720"/>
            <a:ext cx="3145536" cy="1371600"/>
          </a:xfrm>
          <a:prstGeom prst="rect">
            <a:avLst/>
          </a:prstGeom>
          <a:noFill/>
        </p:spPr>
        <p:txBody>
          <a:bodyPr wrap="square" lIns="0" tIns="0" rIns="0" bIns="0" anchor="t">
            <a:noAutofit/>
          </a:bodyPr>
          <a:lstStyle/>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每批测试都更新同一个生成器，</a:t>
            </a:r>
            <a:endParaRPr sz="3600" dirty="0">
              <a:latin typeface="Microsoft YaHei" panose="020B0503020204020204" pitchFamily="34" charset="-122"/>
              <a:ea typeface="Microsoft YaHei" panose="020B0503020204020204" pitchFamily="34" charset="-122"/>
            </a:endParaRPr>
          </a:p>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让后续采样利用前面的反馈。</a:t>
            </a:r>
          </a:p>
        </p:txBody>
      </p:sp>
      <p:sp>
        <p:nvSpPr>
          <p:cNvPr id="36" name="Rounded Rectangle 70">
            <a:extLst>
              <a:ext uri="{FF2B5EF4-FFF2-40B4-BE49-F238E27FC236}">
                <a16:creationId xmlns:a16="http://schemas.microsoft.com/office/drawing/2014/main" id="{65F6756F-2CCD-AF51-44FE-EE4906B9F92E}"/>
              </a:ext>
            </a:extLst>
          </p:cNvPr>
          <p:cNvSpPr/>
          <p:nvPr/>
        </p:nvSpPr>
        <p:spPr>
          <a:xfrm>
            <a:off x="502920" y="2560320"/>
            <a:ext cx="3547872" cy="566928"/>
          </a:xfrm>
          <a:prstGeom prst="roundRect">
            <a:avLst>
              <a:gd name="adj" fmla="val 8000"/>
            </a:avLst>
          </a:prstGeom>
          <a:solidFill>
            <a:srgbClr val="062D50"/>
          </a:solidFill>
          <a:ln w="15875" cap="flat" cmpd="sng" algn="ctr">
            <a:solidFill>
              <a:srgbClr val="0B52A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71">
            <a:extLst>
              <a:ext uri="{FF2B5EF4-FFF2-40B4-BE49-F238E27FC236}">
                <a16:creationId xmlns:a16="http://schemas.microsoft.com/office/drawing/2014/main" id="{09C41296-4CE0-DCA5-7E5E-00BDFAB43D66}"/>
              </a:ext>
            </a:extLst>
          </p:cNvPr>
          <p:cNvSpPr txBox="1"/>
          <p:nvPr/>
        </p:nvSpPr>
        <p:spPr>
          <a:xfrm>
            <a:off x="640080" y="2697480"/>
            <a:ext cx="3273552" cy="36576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300" b="1">
                <a:solidFill>
                  <a:srgbClr val="FFFFFF"/>
                </a:solidFill>
                <a:latin typeface="Microsoft YaHei"/>
                <a:ea typeface="Microsoft YaHei"/>
                <a:cs typeface="Microsoft YaHei"/>
              </a:rPr>
              <a:t>改变测试方式</a:t>
            </a:r>
            <a:endParaRPr sz="4400" dirty="0">
              <a:latin typeface="Microsoft YaHei" panose="020B0503020204020204" pitchFamily="34" charset="-122"/>
              <a:ea typeface="Microsoft YaHei" panose="020B0503020204020204" pitchFamily="34" charset="-122"/>
            </a:endParaRPr>
          </a:p>
        </p:txBody>
      </p:sp>
      <p:sp>
        <p:nvSpPr>
          <p:cNvPr id="37" name="Rounded Rectangle 70">
            <a:extLst>
              <a:ext uri="{FF2B5EF4-FFF2-40B4-BE49-F238E27FC236}">
                <a16:creationId xmlns:a16="http://schemas.microsoft.com/office/drawing/2014/main" id="{638BC3CC-DD86-3F00-6AD9-BC721AC47355}"/>
              </a:ext>
            </a:extLst>
          </p:cNvPr>
          <p:cNvSpPr/>
          <p:nvPr/>
        </p:nvSpPr>
        <p:spPr>
          <a:xfrm>
            <a:off x="4315968" y="2560320"/>
            <a:ext cx="3547872" cy="2487168"/>
          </a:xfrm>
          <a:prstGeom prst="roundRect">
            <a:avLst>
              <a:gd name="adj" fmla="val 8000"/>
            </a:avLst>
          </a:prstGeom>
          <a:solidFill>
            <a:srgbClr val="EEF5F9"/>
          </a:solidFill>
          <a:ln w="15875" cap="flat" cmpd="sng" algn="ctr">
            <a:solidFill>
              <a:srgbClr val="0B52A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TextBox 71">
            <a:extLst>
              <a:ext uri="{FF2B5EF4-FFF2-40B4-BE49-F238E27FC236}">
                <a16:creationId xmlns:a16="http://schemas.microsoft.com/office/drawing/2014/main" id="{0C7CCD4D-EF2A-3C8D-8C4B-1F03444C9DCE}"/>
              </a:ext>
            </a:extLst>
          </p:cNvPr>
          <p:cNvSpPr txBox="1"/>
          <p:nvPr/>
        </p:nvSpPr>
        <p:spPr>
          <a:xfrm>
            <a:off x="4517136" y="3474720"/>
            <a:ext cx="3145536" cy="1371600"/>
          </a:xfrm>
          <a:prstGeom prst="rect">
            <a:avLst/>
          </a:prstGeom>
          <a:noFill/>
        </p:spPr>
        <p:txBody>
          <a:bodyPr wrap="square" lIns="0" tIns="0" rIns="0" bIns="0" anchor="t">
            <a:noAutofit/>
          </a:bodyPr>
          <a:lstStyle/>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用能量定义目标，</a:t>
            </a:r>
            <a:endParaRPr sz="3600" dirty="0">
              <a:latin typeface="Microsoft YaHei" panose="020B0503020204020204" pitchFamily="34" charset="-122"/>
              <a:ea typeface="Microsoft YaHei" panose="020B0503020204020204" pitchFamily="34" charset="-122"/>
            </a:endParaRPr>
          </a:p>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用GC-SPSA估计更新方向，</a:t>
            </a:r>
          </a:p>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用ATS减少采样重复。</a:t>
            </a:r>
          </a:p>
        </p:txBody>
      </p:sp>
      <p:sp>
        <p:nvSpPr>
          <p:cNvPr id="39" name="Rounded Rectangle 70">
            <a:extLst>
              <a:ext uri="{FF2B5EF4-FFF2-40B4-BE49-F238E27FC236}">
                <a16:creationId xmlns:a16="http://schemas.microsoft.com/office/drawing/2014/main" id="{4826A417-B85D-872E-B62A-E55E2A3C8B69}"/>
              </a:ext>
            </a:extLst>
          </p:cNvPr>
          <p:cNvSpPr/>
          <p:nvPr/>
        </p:nvSpPr>
        <p:spPr>
          <a:xfrm>
            <a:off x="4315968" y="2560320"/>
            <a:ext cx="3547872" cy="566928"/>
          </a:xfrm>
          <a:prstGeom prst="roundRect">
            <a:avLst>
              <a:gd name="adj" fmla="val 8000"/>
            </a:avLst>
          </a:prstGeom>
          <a:solidFill>
            <a:srgbClr val="062D50"/>
          </a:solidFill>
          <a:ln w="15875" cap="flat" cmpd="sng" algn="ctr">
            <a:solidFill>
              <a:srgbClr val="0B52A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TextBox 71">
            <a:extLst>
              <a:ext uri="{FF2B5EF4-FFF2-40B4-BE49-F238E27FC236}">
                <a16:creationId xmlns:a16="http://schemas.microsoft.com/office/drawing/2014/main" id="{98D33AC1-7BC1-DAE3-A6F2-B144852BA8E5}"/>
              </a:ext>
            </a:extLst>
          </p:cNvPr>
          <p:cNvSpPr txBox="1"/>
          <p:nvPr/>
        </p:nvSpPr>
        <p:spPr>
          <a:xfrm>
            <a:off x="4453128" y="2697480"/>
            <a:ext cx="3273552" cy="36576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300" b="1">
                <a:solidFill>
                  <a:srgbClr val="FFFFFF"/>
                </a:solidFill>
                <a:latin typeface="Microsoft YaHei"/>
                <a:ea typeface="Microsoft YaHei"/>
                <a:cs typeface="Microsoft YaHei"/>
              </a:rPr>
              <a:t>让训练可以运行</a:t>
            </a:r>
            <a:endParaRPr sz="4400" dirty="0">
              <a:latin typeface="Microsoft YaHei" panose="020B0503020204020204" pitchFamily="34" charset="-122"/>
              <a:ea typeface="Microsoft YaHei" panose="020B0503020204020204" pitchFamily="34" charset="-122"/>
            </a:endParaRPr>
          </a:p>
        </p:txBody>
      </p:sp>
      <p:sp>
        <p:nvSpPr>
          <p:cNvPr id="41" name="Rounded Rectangle 70">
            <a:extLst>
              <a:ext uri="{FF2B5EF4-FFF2-40B4-BE49-F238E27FC236}">
                <a16:creationId xmlns:a16="http://schemas.microsoft.com/office/drawing/2014/main" id="{82E47265-254F-117E-D808-ACDA1432594F}"/>
              </a:ext>
            </a:extLst>
          </p:cNvPr>
          <p:cNvSpPr/>
          <p:nvPr/>
        </p:nvSpPr>
        <p:spPr>
          <a:xfrm>
            <a:off x="8129016" y="2560320"/>
            <a:ext cx="3547872" cy="2487168"/>
          </a:xfrm>
          <a:prstGeom prst="roundRect">
            <a:avLst>
              <a:gd name="adj" fmla="val 8000"/>
            </a:avLst>
          </a:prstGeom>
          <a:solidFill>
            <a:srgbClr val="EEF5F9"/>
          </a:solidFill>
          <a:ln w="15875" cap="flat" cmpd="sng" algn="ctr">
            <a:solidFill>
              <a:srgbClr val="0B52A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71">
            <a:extLst>
              <a:ext uri="{FF2B5EF4-FFF2-40B4-BE49-F238E27FC236}">
                <a16:creationId xmlns:a16="http://schemas.microsoft.com/office/drawing/2014/main" id="{C9C98A12-51D2-C788-042C-4F98B53BB679}"/>
              </a:ext>
            </a:extLst>
          </p:cNvPr>
          <p:cNvSpPr txBox="1"/>
          <p:nvPr/>
        </p:nvSpPr>
        <p:spPr>
          <a:xfrm>
            <a:off x="8330184" y="3474720"/>
            <a:ext cx="3145536" cy="1371600"/>
          </a:xfrm>
          <a:prstGeom prst="rect">
            <a:avLst/>
          </a:prstGeom>
          <a:noFill/>
        </p:spPr>
        <p:txBody>
          <a:bodyPr wrap="square" lIns="0" tIns="0" rIns="0" bIns="0" anchor="t">
            <a:noAutofit/>
          </a:bodyPr>
          <a:lstStyle/>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对比不同防御和平台，</a:t>
            </a:r>
            <a:endParaRPr sz="3600" dirty="0">
              <a:latin typeface="Microsoft YaHei" panose="020B0503020204020204" pitchFamily="34" charset="-122"/>
              <a:ea typeface="Microsoft YaHei" panose="020B0503020204020204" pitchFamily="34" charset="-122"/>
            </a:endParaRPr>
          </a:p>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评估大规模生成成本，</a:t>
            </a:r>
          </a:p>
          <a:p>
            <a:pPr marL="0" indent="0" algn="l">
              <a:lnSpc>
                <a:spcPct val="112000"/>
              </a:lnSpc>
              <a:spcBef>
                <a:spcPts val="0"/>
              </a:spcBef>
              <a:spcAft>
                <a:spcPts val="800"/>
              </a:spcAft>
              <a:buNone/>
            </a:pPr>
            <a:r>
              <a:rPr lang="zh-CN" sz="2000" b="0">
                <a:solidFill>
                  <a:srgbClr val="202A33"/>
                </a:solidFill>
                <a:latin typeface="Microsoft YaHei"/>
                <a:ea typeface="Microsoft YaHei"/>
                <a:cs typeface="Microsoft YaHei"/>
              </a:rPr>
              <a:t>并用样本改进安全微调。</a:t>
            </a:r>
          </a:p>
        </p:txBody>
      </p:sp>
      <p:sp>
        <p:nvSpPr>
          <p:cNvPr id="43" name="Rounded Rectangle 70">
            <a:extLst>
              <a:ext uri="{FF2B5EF4-FFF2-40B4-BE49-F238E27FC236}">
                <a16:creationId xmlns:a16="http://schemas.microsoft.com/office/drawing/2014/main" id="{CA3AE8E4-41C9-55C5-1A1A-4932C0404603}"/>
              </a:ext>
            </a:extLst>
          </p:cNvPr>
          <p:cNvSpPr/>
          <p:nvPr/>
        </p:nvSpPr>
        <p:spPr>
          <a:xfrm>
            <a:off x="8129016" y="2560320"/>
            <a:ext cx="3547872" cy="566928"/>
          </a:xfrm>
          <a:prstGeom prst="roundRect">
            <a:avLst>
              <a:gd name="adj" fmla="val 8000"/>
            </a:avLst>
          </a:prstGeom>
          <a:solidFill>
            <a:srgbClr val="062D50"/>
          </a:solidFill>
          <a:ln w="15875" cap="flat" cmpd="sng" algn="ctr">
            <a:solidFill>
              <a:srgbClr val="0B52A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71">
            <a:extLst>
              <a:ext uri="{FF2B5EF4-FFF2-40B4-BE49-F238E27FC236}">
                <a16:creationId xmlns:a16="http://schemas.microsoft.com/office/drawing/2014/main" id="{CA8E1F70-1800-0060-05A1-E312FF131ADA}"/>
              </a:ext>
            </a:extLst>
          </p:cNvPr>
          <p:cNvSpPr txBox="1"/>
          <p:nvPr/>
        </p:nvSpPr>
        <p:spPr>
          <a:xfrm>
            <a:off x="8266176" y="2697480"/>
            <a:ext cx="3273552" cy="365760"/>
          </a:xfrm>
          <a:prstGeom prst="rect">
            <a:avLst/>
          </a:prstGeom>
          <a:noFill/>
        </p:spPr>
        <p:txBody>
          <a:bodyPr wrap="square" lIns="0" tIns="0" rIns="0" bIns="0" anchor="t">
            <a:noAutofit/>
          </a:bodyPr>
          <a:lstStyle/>
          <a:p>
            <a:pPr marL="0" indent="0" algn="ctr">
              <a:lnSpc>
                <a:spcPct val="112000"/>
              </a:lnSpc>
              <a:spcBef>
                <a:spcPts val="0"/>
              </a:spcBef>
              <a:spcAft>
                <a:spcPts val="0"/>
              </a:spcAft>
              <a:buNone/>
            </a:pPr>
            <a:r>
              <a:rPr lang="zh-CN" sz="2300" b="1">
                <a:solidFill>
                  <a:srgbClr val="FFFFFF"/>
                </a:solidFill>
                <a:latin typeface="Microsoft YaHei"/>
                <a:ea typeface="Microsoft YaHei"/>
                <a:cs typeface="Microsoft YaHei"/>
              </a:rPr>
              <a:t>检查实际用途</a:t>
            </a:r>
            <a:endParaRPr sz="4400" dirty="0">
              <a:latin typeface="Microsoft YaHei" panose="020B0503020204020204" pitchFamily="34" charset="-122"/>
              <a:ea typeface="Microsoft YaHei" panose="020B0503020204020204" pitchFamily="34" charset="-122"/>
            </a:endParaRPr>
          </a:p>
        </p:txBody>
      </p:sp>
      <p:sp>
        <p:nvSpPr>
          <p:cNvPr id="45" name="Rectangle 44"/>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502920" y="5532120"/>
            <a:ext cx="11173968" cy="466344"/>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67512" y="5623559"/>
            <a:ext cx="10844784" cy="347472"/>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50" b="1">
                <a:solidFill>
                  <a:srgbClr val="062D50"/>
                </a:solidFill>
                <a:latin typeface="Microsoft YaHei"/>
                <a:ea typeface="Microsoft YaHei"/>
                <a:cs typeface="Microsoft YaHei"/>
              </a:rPr>
              <a:t>评价这类方法，要同时看成功率、重复度、总成本，以及对防御的帮助。</a:t>
            </a:r>
          </a:p>
        </p:txBody>
      </p:sp>
      <p:sp>
        <p:nvSpPr>
          <p:cNvPr id="48" name="TextBox 47"/>
          <p:cNvSpPr txBox="1"/>
          <p:nvPr/>
        </p:nvSpPr>
        <p:spPr>
          <a:xfrm>
            <a:off x="502920" y="6144768"/>
            <a:ext cx="10881360" cy="192024"/>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040" b="0" dirty="0">
                <a:solidFill>
                  <a:srgbClr val="647483"/>
                </a:solidFill>
                <a:latin typeface="Microsoft YaHei"/>
                <a:ea typeface="Microsoft YaHei"/>
                <a:cs typeface="Microsoft YaHei"/>
              </a:rPr>
              <a:t>依据论文主结果、模块消融、效率与安全微调实验。</a:t>
            </a:r>
          </a:p>
        </p:txBody>
      </p:sp>
    </p:spTree>
    <p:extLst>
      <p:ext uri="{BB962C8B-B14F-4D97-AF65-F5344CB8AC3E}">
        <p14:creationId xmlns:p14="http://schemas.microsoft.com/office/powerpoint/2010/main" val="4023503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E4646-DA0F-6CC5-6151-A33590FEFD73}"/>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DBA4BB1-2BB0-D6AA-C387-0A06B0FCC903}"/>
              </a:ext>
            </a:extLst>
          </p:cNvPr>
          <p:cNvSpPr>
            <a:spLocks noGrp="1"/>
          </p:cNvSpPr>
          <p:nvPr>
            <p:ph type="title"/>
          </p:nvPr>
        </p:nvSpPr>
        <p:spPr>
          <a:xfrm>
            <a:off x="886968" y="137160"/>
            <a:ext cx="10881360" cy="475488"/>
          </a:xfrm>
          <a:prstGeom prst="rect">
            <a:avLst/>
          </a:prstGeom>
        </p:spPr>
        <p:txBody>
          <a:bodyPr wrap="square" lIns="0" tIns="0" rIns="0" bIns="0" anchor="t">
            <a:noAutofit/>
          </a:bodyPr>
          <a:lstStyle/>
          <a:p>
            <a:pPr marL="0" indent="0" algn="l">
              <a:lnSpc>
                <a:spcPct val="112000"/>
              </a:lnSpc>
              <a:spcBef>
                <a:spcPts val="0"/>
              </a:spcBef>
              <a:spcAft>
                <a:spcPts val="0"/>
              </a:spcAft>
              <a:buNone/>
            </a:pPr>
            <a:r>
              <a:rPr lang="zh-CN" sz="2500" b="1">
                <a:solidFill>
                  <a:srgbClr val="FFFFFF"/>
                </a:solidFill>
                <a:latin typeface="Microsoft YaHei"/>
                <a:ea typeface="Microsoft YaHei"/>
                <a:cs typeface="Microsoft YaHei"/>
              </a:rPr>
              <a:t>总结与思考 —— 还需要检查：评分、成本和正常请求</a:t>
            </a:r>
            <a:endParaRPr lang="zh-CN" altLang="en-US" dirty="0"/>
          </a:p>
        </p:txBody>
      </p:sp>
      <p:sp>
        <p:nvSpPr>
          <p:cNvPr id="4" name="Rectangle 3"/>
          <p:cNvSpPr/>
          <p:nvPr/>
        </p:nvSpPr>
        <p:spPr>
          <a:xfrm>
            <a:off x="484632" y="210312"/>
            <a:ext cx="210312" cy="228600"/>
          </a:xfrm>
          <a:prstGeom prst="rect">
            <a:avLst/>
          </a:prstGeom>
          <a:noFill/>
          <a:ln w="228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05840"/>
            <a:ext cx="11173968" cy="1344168"/>
          </a:xfrm>
          <a:prstGeom prst="rect">
            <a:avLst/>
          </a:prstGeom>
          <a:solidFill>
            <a:srgbClr val="D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 y="1170432"/>
            <a:ext cx="2798064" cy="96012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评分可靠吗？</a:t>
            </a:r>
          </a:p>
        </p:txBody>
      </p:sp>
      <p:cxnSp>
        <p:nvCxnSpPr>
          <p:cNvPr id="7" name="Connector 6"/>
          <p:cNvCxnSpPr/>
          <p:nvPr/>
        </p:nvCxnSpPr>
        <p:spPr>
          <a:xfrm>
            <a:off x="3657600" y="1216152"/>
            <a:ext cx="0" cy="932688"/>
          </a:xfrm>
          <a:prstGeom prst="line">
            <a:avLst/>
          </a:prstGeom>
          <a:ln w="12700">
            <a:solidFill>
              <a:srgbClr val="B6CC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886200" y="1143000"/>
            <a:ext cx="7498079" cy="44805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50" b="0">
                <a:solidFill>
                  <a:srgbClr val="202A33"/>
                </a:solidFill>
                <a:latin typeface="Microsoft YaHei"/>
                <a:ea typeface="Microsoft YaHei"/>
                <a:cs typeface="Microsoft YaHei"/>
              </a:rPr>
              <a:t>训练评分和最终判定都依赖辅助模型。</a:t>
            </a:r>
          </a:p>
        </p:txBody>
      </p:sp>
      <p:sp>
        <p:nvSpPr>
          <p:cNvPr id="9" name="TextBox 8"/>
          <p:cNvSpPr txBox="1"/>
          <p:nvPr/>
        </p:nvSpPr>
        <p:spPr>
          <a:xfrm>
            <a:off x="3886200" y="1737360"/>
            <a:ext cx="7498079"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647483"/>
                </a:solidFill>
                <a:latin typeface="Microsoft YaHei"/>
                <a:ea typeface="Microsoft YaHei"/>
                <a:cs typeface="Microsoft YaHei"/>
              </a:rPr>
              <a:t>可继续检查：不同评分器、人工复核是否给出一致判断。</a:t>
            </a:r>
          </a:p>
        </p:txBody>
      </p:sp>
      <p:sp>
        <p:nvSpPr>
          <p:cNvPr id="10" name="Rectangle 9"/>
          <p:cNvSpPr/>
          <p:nvPr/>
        </p:nvSpPr>
        <p:spPr>
          <a:xfrm>
            <a:off x="502920" y="2578608"/>
            <a:ext cx="11173968" cy="1344168"/>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3232" y="2743200"/>
            <a:ext cx="2798064" cy="96012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少量案例时，</a:t>
            </a:r>
          </a:p>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还划算吗？</a:t>
            </a:r>
          </a:p>
        </p:txBody>
      </p:sp>
      <p:cxnSp>
        <p:nvCxnSpPr>
          <p:cNvPr id="12" name="Connector 11"/>
          <p:cNvCxnSpPr/>
          <p:nvPr/>
        </p:nvCxnSpPr>
        <p:spPr>
          <a:xfrm>
            <a:off x="3657600" y="2788920"/>
            <a:ext cx="0" cy="932688"/>
          </a:xfrm>
          <a:prstGeom prst="line">
            <a:avLst/>
          </a:prstGeom>
          <a:ln w="12700">
            <a:solidFill>
              <a:srgbClr val="B6CCD9"/>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886200" y="2715768"/>
            <a:ext cx="7498079" cy="44805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50" b="0">
                <a:solidFill>
                  <a:srgbClr val="202A33"/>
                </a:solidFill>
                <a:latin typeface="Microsoft YaHei"/>
                <a:ea typeface="Microsoft YaHei"/>
                <a:cs typeface="Microsoft YaHei"/>
              </a:rPr>
              <a:t>先训练再采样，需要付出前期成本；梯度仍是近似估计。</a:t>
            </a:r>
          </a:p>
        </p:txBody>
      </p:sp>
      <p:sp>
        <p:nvSpPr>
          <p:cNvPr id="14" name="TextBox 13"/>
          <p:cNvSpPr txBox="1"/>
          <p:nvPr/>
        </p:nvSpPr>
        <p:spPr>
          <a:xfrm>
            <a:off x="3886200" y="3310128"/>
            <a:ext cx="7498079"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647483"/>
                </a:solidFill>
                <a:latin typeface="Microsoft YaHei"/>
                <a:ea typeface="Microsoft YaHei"/>
                <a:cs typeface="Microsoft YaHei"/>
              </a:rPr>
              <a:t>可继续检查：小预算下，与直接搜索相比要花多少时间。</a:t>
            </a:r>
          </a:p>
        </p:txBody>
      </p:sp>
      <p:sp>
        <p:nvSpPr>
          <p:cNvPr id="15" name="Rectangle 14"/>
          <p:cNvSpPr/>
          <p:nvPr/>
        </p:nvSpPr>
        <p:spPr>
          <a:xfrm>
            <a:off x="502920" y="4151376"/>
            <a:ext cx="11173968" cy="1344168"/>
          </a:xfrm>
          <a:prstGeom prst="rect">
            <a:avLst/>
          </a:prstGeom>
          <a:solidFill>
            <a:srgbClr val="EE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4315968"/>
            <a:ext cx="2798064" cy="960120"/>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防御变强后，</a:t>
            </a:r>
          </a:p>
          <a:p>
            <a:pPr marL="0" indent="0" algn="l">
              <a:lnSpc>
                <a:spcPct val="112000"/>
              </a:lnSpc>
              <a:spcBef>
                <a:spcPts val="0"/>
              </a:spcBef>
              <a:spcAft>
                <a:spcPts val="0"/>
              </a:spcAft>
              <a:buNone/>
            </a:pPr>
            <a:r>
              <a:rPr lang="zh-CN" sz="2300" b="1">
                <a:solidFill>
                  <a:srgbClr val="062D50"/>
                </a:solidFill>
                <a:latin typeface="Microsoft YaHei"/>
                <a:ea typeface="Microsoft YaHei"/>
                <a:cs typeface="Microsoft YaHei"/>
              </a:rPr>
              <a:t>会误拦正常请求吗？</a:t>
            </a:r>
          </a:p>
        </p:txBody>
      </p:sp>
      <p:cxnSp>
        <p:nvCxnSpPr>
          <p:cNvPr id="17" name="Connector 16"/>
          <p:cNvCxnSpPr/>
          <p:nvPr/>
        </p:nvCxnSpPr>
        <p:spPr>
          <a:xfrm>
            <a:off x="3657600" y="4361688"/>
            <a:ext cx="0" cy="932688"/>
          </a:xfrm>
          <a:prstGeom prst="line">
            <a:avLst/>
          </a:prstGeom>
          <a:ln w="12700">
            <a:solidFill>
              <a:srgbClr val="B6CCD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886200" y="4288536"/>
            <a:ext cx="7498079" cy="448056"/>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950" b="0">
                <a:solidFill>
                  <a:srgbClr val="202A33"/>
                </a:solidFill>
                <a:latin typeface="Microsoft YaHei"/>
                <a:ea typeface="Microsoft YaHei"/>
                <a:cs typeface="Microsoft YaHei"/>
              </a:rPr>
              <a:t>更强的过滤可能同时影响正常使用。</a:t>
            </a:r>
          </a:p>
        </p:txBody>
      </p:sp>
      <p:sp>
        <p:nvSpPr>
          <p:cNvPr id="19" name="TextBox 18"/>
          <p:cNvSpPr txBox="1"/>
          <p:nvPr/>
        </p:nvSpPr>
        <p:spPr>
          <a:xfrm>
            <a:off x="3886200" y="4882896"/>
            <a:ext cx="7498079" cy="475488"/>
          </a:xfrm>
          <a:prstGeom prst="rect">
            <a:avLst/>
          </a:prstGeom>
          <a:noFill/>
        </p:spPr>
        <p:txBody>
          <a:bodyPr wrap="square" lIns="0" tIns="0" rIns="0" bIns="0" anchor="t">
            <a:noAutofit/>
          </a:bodyPr>
          <a:lstStyle/>
          <a:p>
            <a:pPr marL="0" indent="0" algn="l">
              <a:lnSpc>
                <a:spcPct val="112000"/>
              </a:lnSpc>
              <a:spcBef>
                <a:spcPts val="0"/>
              </a:spcBef>
              <a:spcAft>
                <a:spcPts val="0"/>
              </a:spcAft>
              <a:buNone/>
            </a:pPr>
            <a:r>
              <a:rPr lang="zh-CN" sz="1820" b="0">
                <a:solidFill>
                  <a:srgbClr val="647483"/>
                </a:solidFill>
                <a:latin typeface="Microsoft YaHei"/>
                <a:ea typeface="Microsoft YaHei"/>
                <a:cs typeface="Microsoft YaHei"/>
              </a:rPr>
              <a:t>可继续检查：正常提示词的误拒率、图像质量是否变化。</a:t>
            </a:r>
          </a:p>
        </p:txBody>
      </p:sp>
    </p:spTree>
    <p:extLst>
      <p:ext uri="{BB962C8B-B14F-4D97-AF65-F5344CB8AC3E}">
        <p14:creationId xmlns:p14="http://schemas.microsoft.com/office/powerpoint/2010/main" val="2847715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EAE7AB9E-F9FF-5A0E-A407-7FBDF94BBE64}"/>
              </a:ext>
            </a:extLst>
          </p:cNvPr>
          <p:cNvSpPr/>
          <p:nvPr/>
        </p:nvSpPr>
        <p:spPr>
          <a:xfrm>
            <a:off x="0" y="5058701"/>
            <a:ext cx="12192000" cy="1799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789C2C6-F7E0-085D-D6B2-7A40471DD02F}"/>
              </a:ext>
            </a:extLst>
          </p:cNvPr>
          <p:cNvSpPr/>
          <p:nvPr/>
        </p:nvSpPr>
        <p:spPr>
          <a:xfrm>
            <a:off x="3728689" y="791099"/>
            <a:ext cx="7767986" cy="5275802"/>
          </a:xfrm>
          <a:prstGeom prst="rect">
            <a:avLst/>
          </a:prstGeom>
          <a:solidFill>
            <a:schemeClr val="bg1"/>
          </a:solidFill>
          <a:ln>
            <a:noFill/>
          </a:ln>
          <a:effectLst>
            <a:outerShdw blurRad="254000" dist="241300" dir="348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logo">
            <a:extLst>
              <a:ext uri="{FF2B5EF4-FFF2-40B4-BE49-F238E27FC236}">
                <a16:creationId xmlns:a16="http://schemas.microsoft.com/office/drawing/2014/main" id="{26311951-735F-3FD7-A0EB-AAEB444365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07962" y="1100249"/>
            <a:ext cx="996275" cy="996275"/>
          </a:xfrm>
          <a:prstGeom prst="rect">
            <a:avLst/>
          </a:prstGeom>
        </p:spPr>
      </p:pic>
      <p:sp>
        <p:nvSpPr>
          <p:cNvPr id="14" name="文本框 13">
            <a:extLst>
              <a:ext uri="{FF2B5EF4-FFF2-40B4-BE49-F238E27FC236}">
                <a16:creationId xmlns:a16="http://schemas.microsoft.com/office/drawing/2014/main" id="{F33EBBA0-196B-A020-91E4-233DD08E1A37}"/>
              </a:ext>
            </a:extLst>
          </p:cNvPr>
          <p:cNvSpPr txBox="1"/>
          <p:nvPr/>
        </p:nvSpPr>
        <p:spPr>
          <a:xfrm>
            <a:off x="4515667" y="2382017"/>
            <a:ext cx="6219461" cy="677108"/>
          </a:xfrm>
          <a:prstGeom prst="rect">
            <a:avLst/>
          </a:prstGeom>
          <a:noFill/>
        </p:spPr>
        <p:txBody>
          <a:bodyPr wrap="square" lIns="0" tIns="0" rIns="0" bIns="0" anchor="t">
            <a:no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marL="0" indent="0" algn="l">
              <a:lnSpc>
                <a:spcPct val="112000"/>
              </a:lnSpc>
              <a:spcBef>
                <a:spcPts val="0"/>
              </a:spcBef>
              <a:spcAft>
                <a:spcPts val="0"/>
              </a:spcAft>
              <a:buNone/>
            </a:pPr>
            <a:r>
              <a:rPr lang="zh-CN" sz="4400" b="1">
                <a:solidFill>
                  <a:srgbClr val="062D50"/>
                </a:solidFill>
                <a:latin typeface="Microsoft YaHei"/>
                <a:ea typeface="Microsoft YaHei"/>
                <a:cs typeface="Microsoft YaHei"/>
              </a:rPr>
              <a:t>谢谢大家！</a:t>
            </a:r>
          </a:p>
        </p:txBody>
      </p:sp>
      <p:sp>
        <p:nvSpPr>
          <p:cNvPr id="15" name="文本框 14">
            <a:extLst>
              <a:ext uri="{FF2B5EF4-FFF2-40B4-BE49-F238E27FC236}">
                <a16:creationId xmlns:a16="http://schemas.microsoft.com/office/drawing/2014/main" id="{A57E2C3E-F22A-AAEE-C4DF-A7E4A5082160}"/>
              </a:ext>
            </a:extLst>
          </p:cNvPr>
          <p:cNvSpPr txBox="1"/>
          <p:nvPr/>
        </p:nvSpPr>
        <p:spPr>
          <a:xfrm>
            <a:off x="4517136" y="3218688"/>
            <a:ext cx="5989320" cy="585216"/>
          </a:xfrm>
          <a:prstGeom prst="rect">
            <a:avLst/>
          </a:prstGeom>
          <a:noFill/>
        </p:spPr>
        <p:txBody>
          <a:bodyPr wrap="square" lIns="0" tIns="0" rIns="0" bIns="0" anchor="t">
            <a:noAutofit/>
          </a:bodyPr>
          <a:lstStyle>
            <a:defPPr>
              <a:defRPr lang="zh-CN"/>
            </a:defPPr>
            <a:lvl1pPr>
              <a:defRPr sz="4000" b="0" i="0">
                <a:solidFill>
                  <a:srgbClr val="374151"/>
                </a:solidFill>
                <a:effectLst/>
                <a:latin typeface="Arial" panose="020B0604020202020204" pitchFamily="34" charset="0"/>
                <a:ea typeface="微软雅黑" panose="020B0503020204020204" pitchFamily="34" charset="-122"/>
              </a:defRPr>
            </a:lvl1pPr>
          </a:lstStyle>
          <a:p>
            <a:pPr marL="0" indent="0" algn="l">
              <a:lnSpc>
                <a:spcPct val="112000"/>
              </a:lnSpc>
              <a:spcBef>
                <a:spcPts val="0"/>
              </a:spcBef>
              <a:spcAft>
                <a:spcPts val="0"/>
              </a:spcAft>
              <a:buNone/>
            </a:pPr>
            <a:r>
              <a:rPr lang="zh-CN" sz="3000" b="0">
                <a:solidFill>
                  <a:srgbClr val="202A33"/>
                </a:solidFill>
                <a:latin typeface="Microsoft YaHei"/>
                <a:ea typeface="Microsoft YaHei"/>
                <a:cs typeface="Microsoft YaHei"/>
              </a:rPr>
              <a:t>欢迎提问与讨论</a:t>
            </a:r>
          </a:p>
        </p:txBody>
      </p:sp>
      <p:cxnSp>
        <p:nvCxnSpPr>
          <p:cNvPr id="30" name="直接连接符 29">
            <a:extLst>
              <a:ext uri="{FF2B5EF4-FFF2-40B4-BE49-F238E27FC236}">
                <a16:creationId xmlns:a16="http://schemas.microsoft.com/office/drawing/2014/main" id="{B70BE7CB-300B-E2B0-A775-EFBF8AAF4A31}"/>
              </a:ext>
            </a:extLst>
          </p:cNvPr>
          <p:cNvCxnSpPr>
            <a:cxnSpLocks/>
          </p:cNvCxnSpPr>
          <p:nvPr/>
        </p:nvCxnSpPr>
        <p:spPr>
          <a:xfrm>
            <a:off x="4515667" y="4178990"/>
            <a:ext cx="5514330" cy="0"/>
          </a:xfrm>
          <a:prstGeom prst="line">
            <a:avLst/>
          </a:prstGeom>
          <a:ln w="19050">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pic>
        <p:nvPicPr>
          <p:cNvPr id="2" name="图片 1">
            <a:extLst>
              <a:ext uri="{FF2B5EF4-FFF2-40B4-BE49-F238E27FC236}">
                <a16:creationId xmlns:a16="http://schemas.microsoft.com/office/drawing/2014/main" id="{57D0E890-9CDE-E3D1-910D-5CCB2CB1F155}"/>
              </a:ext>
            </a:extLst>
          </p:cNvPr>
          <p:cNvPicPr>
            <a:picLocks noChangeAspect="1"/>
          </p:cNvPicPr>
          <p:nvPr/>
        </p:nvPicPr>
        <p:blipFill>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0"/>
                    </a14:imgEffect>
                  </a14:imgLayer>
                </a14:imgProps>
              </a:ext>
            </a:extLst>
          </a:blip>
          <a:srcRect l="10175" r="10175"/>
          <a:stretch/>
        </p:blipFill>
        <p:spPr>
          <a:xfrm>
            <a:off x="695325" y="791099"/>
            <a:ext cx="2894062" cy="5275802"/>
          </a:xfrm>
          <a:custGeom>
            <a:avLst/>
            <a:gdLst>
              <a:gd name="connsiteX0" fmla="*/ 0 w 2894062"/>
              <a:gd name="connsiteY0" fmla="*/ 0 h 5275802"/>
              <a:gd name="connsiteX1" fmla="*/ 2894062 w 2894062"/>
              <a:gd name="connsiteY1" fmla="*/ 0 h 5275802"/>
              <a:gd name="connsiteX2" fmla="*/ 2894062 w 2894062"/>
              <a:gd name="connsiteY2" fmla="*/ 5275802 h 5275802"/>
              <a:gd name="connsiteX3" fmla="*/ 0 w 2894062"/>
              <a:gd name="connsiteY3" fmla="*/ 5275802 h 5275802"/>
            </a:gdLst>
            <a:ahLst/>
            <a:cxnLst>
              <a:cxn ang="0">
                <a:pos x="connsiteX0" y="connsiteY0"/>
              </a:cxn>
              <a:cxn ang="0">
                <a:pos x="connsiteX1" y="connsiteY1"/>
              </a:cxn>
              <a:cxn ang="0">
                <a:pos x="connsiteX2" y="connsiteY2"/>
              </a:cxn>
              <a:cxn ang="0">
                <a:pos x="connsiteX3" y="connsiteY3"/>
              </a:cxn>
            </a:cxnLst>
            <a:rect l="l" t="t" r="r" b="b"/>
            <a:pathLst>
              <a:path w="2894062" h="5275802">
                <a:moveTo>
                  <a:pt x="0" y="0"/>
                </a:moveTo>
                <a:lnTo>
                  <a:pt x="2894062" y="0"/>
                </a:lnTo>
                <a:lnTo>
                  <a:pt x="2894062" y="5275802"/>
                </a:lnTo>
                <a:lnTo>
                  <a:pt x="0" y="5275802"/>
                </a:lnTo>
                <a:close/>
              </a:path>
            </a:pathLst>
          </a:custGeom>
        </p:spPr>
      </p:pic>
      <p:sp>
        <p:nvSpPr>
          <p:cNvPr id="31" name="TextBox 30"/>
          <p:cNvSpPr txBox="1"/>
          <p:nvPr/>
        </p:nvSpPr>
        <p:spPr>
          <a:xfrm>
            <a:off x="4517136" y="4626864"/>
            <a:ext cx="6153912" cy="822960"/>
          </a:xfrm>
          <a:prstGeom prst="rect">
            <a:avLst/>
          </a:prstGeom>
          <a:noFill/>
        </p:spPr>
        <p:txBody>
          <a:bodyPr wrap="square" lIns="0" tIns="0" rIns="0" bIns="0" anchor="t">
            <a:noAutofit/>
          </a:bodyPr>
          <a:lstStyle/>
          <a:p>
            <a:pPr marL="0" indent="0" algn="l">
              <a:lnSpc>
                <a:spcPct val="112000"/>
              </a:lnSpc>
              <a:spcBef>
                <a:spcPts val="0"/>
              </a:spcBef>
              <a:spcAft>
                <a:spcPts val="600"/>
              </a:spcAft>
              <a:buNone/>
            </a:pPr>
            <a:r>
              <a:rPr lang="zh-CN" sz="1850" b="0">
                <a:solidFill>
                  <a:srgbClr val="647483"/>
                </a:solidFill>
                <a:latin typeface="Microsoft YaHei"/>
                <a:ea typeface="Microsoft YaHei"/>
                <a:cs typeface="Microsoft YaHei"/>
              </a:rPr>
              <a:t>DREAM：训练一个可反复采样的提示词生成器，</a:t>
            </a:r>
          </a:p>
          <a:p>
            <a:pPr marL="0" indent="0" algn="l">
              <a:lnSpc>
                <a:spcPct val="112000"/>
              </a:lnSpc>
              <a:spcBef>
                <a:spcPts val="0"/>
              </a:spcBef>
              <a:spcAft>
                <a:spcPts val="600"/>
              </a:spcAft>
              <a:buNone/>
            </a:pPr>
            <a:r>
              <a:rPr lang="zh-CN" sz="1850" b="0">
                <a:solidFill>
                  <a:srgbClr val="647483"/>
                </a:solidFill>
                <a:latin typeface="Microsoft YaHei"/>
                <a:ea typeface="Microsoft YaHei"/>
                <a:cs typeface="Microsoft YaHei"/>
              </a:rPr>
              <a:t>发现更有效、更多样的测试案例。</a:t>
            </a:r>
          </a:p>
        </p:txBody>
      </p:sp>
    </p:spTree>
    <p:extLst>
      <p:ext uri="{BB962C8B-B14F-4D97-AF65-F5344CB8AC3E}">
        <p14:creationId xmlns:p14="http://schemas.microsoft.com/office/powerpoint/2010/main" val="17405390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DIAGRAM" val="#950674;"/>
</p:tagLst>
</file>

<file path=ppt/tags/tag2.xml><?xml version="1.0" encoding="utf-8"?>
<p:tagLst xmlns:a="http://schemas.openxmlformats.org/drawingml/2006/main" xmlns:r="http://schemas.openxmlformats.org/officeDocument/2006/relationships" xmlns:p="http://schemas.openxmlformats.org/presentationml/2006/main">
  <p:tag name="ISLIDE.DIAGRAM" val="#95067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3.84,&quot;left&quot;:51.191968503937005,&quot;top&quot;:108,&quot;width&quot;:854.2079527559054}"/>
</p:tagLst>
</file>

<file path=ppt/tags/tag4.xml><?xml version="1.0" encoding="utf-8"?>
<p:tagLst xmlns:a="http://schemas.openxmlformats.org/drawingml/2006/main" xmlns:r="http://schemas.openxmlformats.org/officeDocument/2006/relationships" xmlns:p="http://schemas.openxmlformats.org/presentationml/2006/main">
  <p:tag name="ISLIDE.DIAGRAM" val="#950674;"/>
</p:tagLst>
</file>

<file path=ppt/tags/tag5.xml><?xml version="1.0" encoding="utf-8"?>
<p:tagLst xmlns:a="http://schemas.openxmlformats.org/drawingml/2006/main" xmlns:r="http://schemas.openxmlformats.org/officeDocument/2006/relationships" xmlns:p="http://schemas.openxmlformats.org/presentationml/2006/main">
  <p:tag name="ISLIDE.DIAGRAM" val="#950674;"/>
</p:tagLst>
</file>

<file path=ppt/tags/tag6.xml><?xml version="1.0" encoding="utf-8"?>
<p:tagLst xmlns:a="http://schemas.openxmlformats.org/drawingml/2006/main" xmlns:r="http://schemas.openxmlformats.org/officeDocument/2006/relationships" xmlns:p="http://schemas.openxmlformats.org/presentationml/2006/main">
  <p:tag name="ISLIDE.DIAGRAM" val="#950674;"/>
</p:tagLst>
</file>

<file path=ppt/theme/theme1.xml><?xml version="1.0" encoding="utf-8"?>
<a:theme xmlns:a="http://schemas.openxmlformats.org/drawingml/2006/main" name="themepage">
  <a:themeElements>
    <a:clrScheme name="自定义 2">
      <a:dk1>
        <a:sysClr val="windowText" lastClr="000000"/>
      </a:dk1>
      <a:lt1>
        <a:sysClr val="window" lastClr="FFFFFF"/>
      </a:lt1>
      <a:dk2>
        <a:srgbClr val="44546A"/>
      </a:dk2>
      <a:lt2>
        <a:srgbClr val="E7E6E6"/>
      </a:lt2>
      <a:accent1>
        <a:srgbClr val="002C55"/>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bg1">
              <a:lumMod val="50000"/>
            </a:schemeClr>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2013 - 2022"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6306</TotalTime>
  <Words>5394</Words>
  <Application>Microsoft Office PowerPoint</Application>
  <PresentationFormat>寬螢幕</PresentationFormat>
  <Paragraphs>520</Paragraphs>
  <Slides>32</Slides>
  <Notes>32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32</vt:i4>
      </vt:variant>
    </vt:vector>
  </HeadingPairs>
  <TitlesOfParts>
    <vt:vector size="39" baseType="lpstr">
      <vt:lpstr>等线</vt:lpstr>
      <vt:lpstr>微软雅黑</vt:lpstr>
      <vt:lpstr>微软雅黑</vt:lpstr>
      <vt:lpstr>Arial</vt:lpstr>
      <vt:lpstr>Cambria Math</vt:lpstr>
      <vt:lpstr>Wingdings</vt:lpstr>
      <vt:lpstr>themepage</vt:lpstr>
      <vt:lpstr>PowerPoint 簡報</vt:lpstr>
      <vt:lpstr>PowerPoint 簡報</vt:lpstr>
      <vt:lpstr>PowerPoint 簡報</vt:lpstr>
      <vt:lpstr>研究背景 —— 文字生成图像系统也存在漏掉风险</vt:lpstr>
      <vt:lpstr>研究背景 —— 先看一个例子：怎样发现系统没有遵守规则？</vt:lpstr>
      <vt:lpstr>研究背景 —— 红队测试要找到一批不同的失败案例</vt:lpstr>
      <vt:lpstr>研究背景 —— 为什么逐条搜索会重复做很多工作？</vt:lpstr>
      <vt:lpstr>研究背景 —— DREAM：让下一批提示词利用前面的测试结果</vt:lpstr>
      <vt:lpstr>PowerPoint 簡報</vt:lpstr>
      <vt:lpstr>本文方法 —— 三个模块，各自解决一个问题</vt:lpstr>
      <vt:lpstr>本文方法 —— 训练时更新生成器，训练后批量采样</vt:lpstr>
      <vt:lpstr>本文方法 —— 能量模型：给候选提示词一个可比较的分数</vt:lpstr>
      <vt:lpstr>本文方法 —— 评分看两件事：是否触发目标、是否重复</vt:lpstr>
      <vt:lpstr>本文方法 —— 算一遍：为什么重复案例要扣分？</vt:lpstr>
      <vt:lpstr>本文方法 —— 为什么这里不用端到端反向传播？</vt:lpstr>
      <vt:lpstr>本文方法 —— GC-SPSA：两次试探，再结合历史方向</vt:lpstr>
      <vt:lpstr>本文方法 —— ATS：常用词出现太多时，增加其他词的机会</vt:lpstr>
      <vt:lpstr>PowerPoint 簡報</vt:lpstr>
      <vt:lpstr>实验介绍 —— 每组实验对应前面的一个问题</vt:lpstr>
      <vt:lpstr>实验介绍 —— 每类对比，各有一个目的</vt:lpstr>
      <vt:lpstr>实验介绍 —— 指标例子：为什么成功率和多样性要一起看？</vt:lpstr>
      <vt:lpstr>实验介绍 —— DREAM 能发现更多安全对齐模型的失败案例</vt:lpstr>
      <vt:lpstr>实验介绍 —— 换成外部过滤器，结果会怎样？</vt:lpstr>
      <vt:lpstr>实验介绍 —— 换到商业平台，提示词还能触发风险吗？</vt:lpstr>
      <vt:lpstr>实验介绍 —— 相近计算时间下，GC-SPSA 是否更有效？</vt:lpstr>
      <vt:lpstr>实验介绍 —— 消融要分别看成功率和重复度</vt:lpstr>
      <vt:lpstr>实验介绍 —— 什么时候“训练一次，再采样”更划算？</vt:lpstr>
      <vt:lpstr>实验介绍 —— 这些测试数据能帮助模型变安全吗？</vt:lpstr>
      <vt:lpstr>PowerPoint 簡報</vt:lpstr>
      <vt:lpstr>总结与思考 —— DREAM 主要做了三件事</vt:lpstr>
      <vt:lpstr>总结与思考 —— 还需要检查：评分、成本和正常请求</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DREAM：基于原稿的完整汇报修订版</dc:title>
  <dc:creator>梁浩铭</dc:creator>
  <cp:lastModifiedBy>浩銘 梁</cp:lastModifiedBy>
  <cp:revision>681</cp:revision>
  <dcterms:created xsi:type="dcterms:W3CDTF">2023-04-21T05:46:27Z</dcterms:created>
  <dcterms:modified xsi:type="dcterms:W3CDTF">2026-10-16T09:34:22Z</dcterms:modified>
</cp:coreProperties>
</file>