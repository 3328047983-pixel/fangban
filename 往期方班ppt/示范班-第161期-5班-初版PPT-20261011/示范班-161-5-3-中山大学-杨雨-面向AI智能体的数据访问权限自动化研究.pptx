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3" userDrawn="1">
          <p15:clr>
            <a:srgbClr val="A4A3A4"/>
          </p15:clr>
        </p15:guide>
        <p15:guide id="2" pos="29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23"/>
        <p:guide pos="29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itle_b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Picture 2" descr="tit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338328"/>
            <a:ext cx="1737360" cy="502920"/>
          </a:xfrm>
          <a:prstGeom prst="rect">
            <a:avLst/>
          </a:prstGeom>
        </p:spPr>
      </p:pic>
      <p:pic>
        <p:nvPicPr>
          <p:cNvPr id="4" name="Picture 3" descr="title_mot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347472"/>
            <a:ext cx="932688" cy="822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535938" y="5140452"/>
            <a:ext cx="4434840" cy="402336"/>
          </a:xfrm>
          <a:prstGeom prst="roundRect">
            <a:avLst/>
          </a:prstGeom>
          <a:solidFill>
            <a:srgbClr val="6F131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18818" y="5140198"/>
            <a:ext cx="4251960" cy="2832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25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IEEE Symposium on Security and Privacy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5175" y="1531620"/>
            <a:ext cx="6314440" cy="14452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4400"/>
              <a:t>AI Agent 中的数据访问权限自动化</a:t>
            </a:r>
            <a:endParaRPr sz="4400"/>
          </a:p>
        </p:txBody>
      </p:sp>
      <p:sp>
        <p:nvSpPr>
          <p:cNvPr id="8" name="TextBox 7"/>
          <p:cNvSpPr txBox="1"/>
          <p:nvPr/>
        </p:nvSpPr>
        <p:spPr>
          <a:xfrm>
            <a:off x="879348" y="3428873"/>
            <a:ext cx="6949440" cy="3987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FFFFFF"/>
                </a:solidFill>
                <a:latin typeface="Aptos"/>
              </a:defRPr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Towards Automating Data Access Permissions in AI Agents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4278" y="3992118"/>
            <a:ext cx="6949440" cy="30670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FFFFFF"/>
                </a:solidFill>
                <a:latin typeface="Aptos"/>
              </a:defRPr>
            </a:pP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Yuhao Wu, Ke Yang, Franziska Roesner, Tadayoshi Kohno, Ning Zhang, Umar Iqbal</a:t>
            </a:r>
            <a:endParaRPr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5302" y="6179248"/>
            <a:ext cx="173736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汇报人：杨雨</a:t>
            </a:r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3826510" y="6059805"/>
            <a:ext cx="1679575" cy="574675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2026年</a:t>
            </a:r>
            <a:r>
              <a:rPr lang="en-US" sz="1400"/>
              <a:t>10</a:t>
            </a:r>
            <a:r>
              <a:rPr sz="1400"/>
              <a:t>月</a:t>
            </a:r>
            <a:r>
              <a:rPr lang="en-US" sz="1400"/>
              <a:t>11</a:t>
            </a:r>
            <a:r>
              <a:rPr lang="zh-CN" altLang="en-US" sz="1400"/>
              <a:t>日</a:t>
            </a:r>
            <a:endParaRPr lang="zh-CN" alt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22960"/>
            <a:ext cx="9235440" cy="1143000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73568" y="822960"/>
            <a:ext cx="1901952" cy="1143000"/>
          </a:xfrm>
          <a:prstGeom prst="rect">
            <a:avLst/>
          </a:prstGeom>
          <a:solidFill>
            <a:srgbClr val="E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987552"/>
            <a:ext cx="731520" cy="8046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024128"/>
            <a:ext cx="676656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987552"/>
            <a:ext cx="6583680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论文速览：它真正回答了什么？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1572768" y="1783080"/>
            <a:ext cx="4480560" cy="18288"/>
          </a:xfrm>
          <a:prstGeom prst="rect">
            <a:avLst/>
          </a:prstGeom>
          <a:solidFill>
            <a:srgbClr val="C6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236208"/>
            <a:ext cx="12191365" cy="621792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74519" y="6345936"/>
            <a:ext cx="1188720" cy="3474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920240" y="6359017"/>
            <a:ext cx="109728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研究背景</a:t>
            </a:r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3063239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3319272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用户研究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416552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4672583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方法设计</a:t>
            </a:r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5769864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6025896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实验结果</a:t>
            </a:r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7123176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7379208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局限思考</a:t>
            </a:r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8476488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873252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总结讨论</a:t>
            </a:r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566928" y="2212848"/>
            <a:ext cx="3364992" cy="3273552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" y="2212848"/>
            <a:ext cx="3364992" cy="411480"/>
          </a:xfrm>
          <a:prstGeom prst="round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2240279"/>
            <a:ext cx="3145536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?  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2761488"/>
            <a:ext cx="3035808" cy="645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  <a:defRPr sz="15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AI Agent 运行时会动态访问多类用户数据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527425"/>
            <a:ext cx="3035808" cy="645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  <a:defRPr sz="15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安装时权限无法预知；运行时频繁弹窗又破坏自动化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342891"/>
            <a:ext cx="3035808" cy="645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  <a:defRPr sz="15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核心矛盾：控制权、隐私与自动化体验如何同时满足？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42232" y="2212848"/>
            <a:ext cx="3364992" cy="3273552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42232" y="2212848"/>
            <a:ext cx="3364992" cy="411480"/>
          </a:xfrm>
          <a:prstGeom prst="round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2240279"/>
            <a:ext cx="3145536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★  核心思路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5112" y="2761488"/>
            <a:ext cx="3035808" cy="645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  <a:defRPr sz="15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先研究用户如何做权限决策，以及偏好是否稳定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5112" y="3527425"/>
            <a:ext cx="3035808" cy="645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  <a:defRPr sz="15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个人历史：用 LLM in-context learning 学“这个用户”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5112" y="4342511"/>
            <a:ext cx="3035808" cy="645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  <a:defRPr sz="15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群体信息：用 collaborative filtering 学“相似用户”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17536" y="2212848"/>
            <a:ext cx="3858768" cy="3273552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17536" y="2212848"/>
            <a:ext cx="3858768" cy="411480"/>
          </a:xfrm>
          <a:prstGeom prst="round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3" y="2240279"/>
            <a:ext cx="3639311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◎  最值得记住的数字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28431" y="2779776"/>
            <a:ext cx="1554480" cy="1051560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59" y="2852928"/>
            <a:ext cx="1335024" cy="5047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5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85.1%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59" y="3388588"/>
            <a:ext cx="1335024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全覆盖准确率</a:t>
            </a:r>
            <a:endParaRPr sz="1200"/>
          </a:p>
        </p:txBody>
      </p:sp>
      <p:sp>
        <p:nvSpPr>
          <p:cNvPr id="40" name="Rounded Rectangle 39"/>
          <p:cNvSpPr/>
          <p:nvPr/>
        </p:nvSpPr>
        <p:spPr>
          <a:xfrm>
            <a:off x="9710928" y="2779776"/>
            <a:ext cx="1554480" cy="1051560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20655" y="2852928"/>
            <a:ext cx="1335024" cy="5047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5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94.4%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0655" y="3326587"/>
            <a:ext cx="1335024" cy="399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高置信准确率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28431" y="4041648"/>
            <a:ext cx="1554480" cy="1051560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59" y="4114800"/>
            <a:ext cx="1335024" cy="5047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5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25.9%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59" y="4650460"/>
            <a:ext cx="1335024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高置信覆盖率</a:t>
            </a:r>
            <a:endParaRPr sz="1200"/>
          </a:p>
        </p:txBody>
      </p:sp>
      <p:sp>
        <p:nvSpPr>
          <p:cNvPr id="46" name="Rounded Rectangle 45"/>
          <p:cNvSpPr/>
          <p:nvPr/>
        </p:nvSpPr>
        <p:spPr>
          <a:xfrm>
            <a:off x="9710928" y="4041648"/>
            <a:ext cx="1554480" cy="1051560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11055" y="4105275"/>
            <a:ext cx="1645285" cy="51435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lnSpc>
                <a:spcPct val="100000"/>
              </a:lnSpc>
              <a:defRPr sz="25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+10.8</a:t>
            </a:r>
            <a:r>
              <a:rPr lang="en-US"/>
              <a:t>%</a:t>
            </a:r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9711055" y="4526280"/>
            <a:ext cx="1673225" cy="492125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1–4条历史带来的提升</a:t>
            </a:r>
            <a:endParaRPr sz="1200"/>
          </a:p>
        </p:txBody>
      </p:sp>
      <p:sp>
        <p:nvSpPr>
          <p:cNvPr id="49" name="Rounded Rectangle 48"/>
          <p:cNvSpPr/>
          <p:nvPr/>
        </p:nvSpPr>
        <p:spPr>
          <a:xfrm>
            <a:off x="960120" y="5650992"/>
            <a:ext cx="10149840" cy="384048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15568" y="5680520"/>
            <a:ext cx="9838944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38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400"/>
              <a:t>一句话判断：这篇论文证明“用户权限偏好值得学习”，但还没有证明“可以放心全自动接管权限”。</a:t>
            </a:r>
            <a:endParaRPr sz="1400"/>
          </a:p>
        </p:txBody>
      </p:sp>
      <p:sp>
        <p:nvSpPr>
          <p:cNvPr id="53" name="TextBox 20"/>
          <p:cNvSpPr txBox="1"/>
          <p:nvPr/>
        </p:nvSpPr>
        <p:spPr>
          <a:xfrm>
            <a:off x="10954385" y="6346000"/>
            <a:ext cx="10058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 sz="1400"/>
              <a:t>1/17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22960"/>
            <a:ext cx="9235440" cy="1143000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73568" y="822960"/>
            <a:ext cx="1901952" cy="1143000"/>
          </a:xfrm>
          <a:prstGeom prst="rect">
            <a:avLst/>
          </a:prstGeom>
          <a:solidFill>
            <a:srgbClr val="E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987552"/>
            <a:ext cx="731520" cy="8046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024128"/>
            <a:ext cx="676656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987552"/>
            <a:ext cx="6583680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为什么传统权限模型在 AI Agent 上失效？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1572768" y="1783080"/>
            <a:ext cx="4480560" cy="18288"/>
          </a:xfrm>
          <a:prstGeom prst="rect">
            <a:avLst/>
          </a:prstGeom>
          <a:solidFill>
            <a:srgbClr val="C6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236208"/>
            <a:ext cx="12191365" cy="621792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74519" y="6345936"/>
            <a:ext cx="1188720" cy="3474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920240" y="6359017"/>
            <a:ext cx="109728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研究背景</a:t>
            </a:r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3063239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3319272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用户研究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416552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4672583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方法设计</a:t>
            </a:r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5769864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6025896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实验结果</a:t>
            </a:r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7123176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7379208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局限思考</a:t>
            </a:r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8476488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873252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总结讨论</a:t>
            </a:r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640080" y="2286000"/>
            <a:ext cx="3246120" cy="2560320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2286000"/>
            <a:ext cx="3246120" cy="411480"/>
          </a:xfrm>
          <a:prstGeom prst="round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2313432"/>
            <a:ext cx="3026663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①  传统安装时权限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2834640"/>
            <a:ext cx="2916936" cy="645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  <a:defRPr sz="15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假设应用需要哪些资源可提前知道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374" y="3652647"/>
            <a:ext cx="2916936" cy="645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  <a:defRPr sz="15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但 Agent 的任务、工具和数据需求在运行时才出现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992624"/>
            <a:ext cx="3246120" cy="1005840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4992624"/>
            <a:ext cx="3246120" cy="411480"/>
          </a:xfrm>
          <a:prstGeom prst="round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020056"/>
            <a:ext cx="3026663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②  传统运行时权限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375" y="5376545"/>
            <a:ext cx="3018790" cy="476885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defRPr sz="138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逐项询问可控，但 Agent 一次任务常需多项数据 → permission fatigue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2395728"/>
            <a:ext cx="1417320" cy="640080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70832" y="2532888"/>
            <a:ext cx="1170432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用户请求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50992" y="2514600"/>
            <a:ext cx="411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2400" b="1">
                <a:solidFill>
                  <a:srgbClr val="A0783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53328" y="2395728"/>
            <a:ext cx="1645920" cy="640080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81344" y="2532888"/>
            <a:ext cx="1389888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AI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9248" y="2514600"/>
            <a:ext cx="411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2400" b="1">
                <a:solidFill>
                  <a:srgbClr val="A0783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9872" y="2194560"/>
            <a:ext cx="1572768" cy="1005840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2331720"/>
            <a:ext cx="1188720" cy="33718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1500" b="1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600"/>
              <a:t>工具</a:t>
            </a:r>
            <a:endParaRPr sz="1600"/>
          </a:p>
        </p:txBody>
      </p:sp>
      <p:sp>
        <p:nvSpPr>
          <p:cNvPr id="39" name="TextBox 38"/>
          <p:cNvSpPr txBox="1"/>
          <p:nvPr/>
        </p:nvSpPr>
        <p:spPr>
          <a:xfrm>
            <a:off x="8229600" y="2697480"/>
            <a:ext cx="1371600" cy="2527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B6560"/>
                </a:solidFill>
                <a:latin typeface="Aptos"/>
              </a:defRPr>
            </a:pPr>
            <a:r>
              <a:rPr sz="1050"/>
              <a:t>Travel / Email / …</a:t>
            </a:r>
            <a:endParaRPr sz="1050"/>
          </a:p>
        </p:txBody>
      </p:sp>
      <p:sp>
        <p:nvSpPr>
          <p:cNvPr id="40" name="Rounded Rectangle 39"/>
          <p:cNvSpPr/>
          <p:nvPr/>
        </p:nvSpPr>
        <p:spPr>
          <a:xfrm>
            <a:off x="9912096" y="2194560"/>
            <a:ext cx="1572768" cy="1005840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0" y="2331720"/>
            <a:ext cx="1280160" cy="33718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1500" b="1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600"/>
              <a:t>用户数据</a:t>
            </a:r>
            <a:endParaRPr sz="1600"/>
          </a:p>
        </p:txBody>
      </p:sp>
      <p:sp>
        <p:nvSpPr>
          <p:cNvPr id="42" name="TextBox 41"/>
          <p:cNvSpPr txBox="1"/>
          <p:nvPr/>
        </p:nvSpPr>
        <p:spPr>
          <a:xfrm>
            <a:off x="10012680" y="2697480"/>
            <a:ext cx="1353312" cy="2495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930" b="0">
                <a:solidFill>
                  <a:srgbClr val="6B6560"/>
                </a:solidFill>
                <a:latin typeface="Aptos"/>
              </a:defRPr>
            </a:pPr>
            <a:r>
              <a:rPr sz="1030"/>
              <a:t>DOB / Card / GPS / …</a:t>
            </a:r>
            <a:endParaRPr sz="1030"/>
          </a:p>
        </p:txBody>
      </p:sp>
      <p:sp>
        <p:nvSpPr>
          <p:cNvPr id="43" name="Rounded Rectangle 42"/>
          <p:cNvSpPr/>
          <p:nvPr/>
        </p:nvSpPr>
        <p:spPr>
          <a:xfrm>
            <a:off x="4315968" y="3547872"/>
            <a:ext cx="7114032" cy="914400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53712" y="3657600"/>
            <a:ext cx="6583680" cy="33718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600"/>
              <a:t>Agent 的执行计划由自然语言、第三方工具与上下文共同决定：</a:t>
            </a:r>
            <a:endParaRPr sz="1600"/>
          </a:p>
        </p:txBody>
      </p:sp>
      <p:sp>
        <p:nvSpPr>
          <p:cNvPr id="45" name="TextBox 44"/>
          <p:cNvSpPr txBox="1"/>
          <p:nvPr/>
        </p:nvSpPr>
        <p:spPr>
          <a:xfrm>
            <a:off x="4498975" y="3986530"/>
            <a:ext cx="6839585" cy="33718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600"/>
              <a:t>数据需求可能事先未知，也可能因为歧义、错误或恶意工具而“多拿数据”。</a:t>
            </a:r>
            <a:endParaRPr sz="1600"/>
          </a:p>
        </p:txBody>
      </p:sp>
      <p:sp>
        <p:nvSpPr>
          <p:cNvPr id="46" name="Rounded Rectangle 45"/>
          <p:cNvSpPr/>
          <p:nvPr/>
        </p:nvSpPr>
        <p:spPr>
          <a:xfrm>
            <a:off x="4315968" y="4709160"/>
            <a:ext cx="3310128" cy="1143000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7" name="TextBox 46"/>
          <p:cNvSpPr txBox="1"/>
          <p:nvPr/>
        </p:nvSpPr>
        <p:spPr>
          <a:xfrm>
            <a:off x="4480560" y="4828032"/>
            <a:ext cx="2971800" cy="3683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800"/>
              <a:t>频繁询问</a:t>
            </a:r>
            <a:endParaRPr sz="1800"/>
          </a:p>
        </p:txBody>
      </p:sp>
      <p:sp>
        <p:nvSpPr>
          <p:cNvPr id="48" name="TextBox 47"/>
          <p:cNvSpPr txBox="1"/>
          <p:nvPr/>
        </p:nvSpPr>
        <p:spPr>
          <a:xfrm>
            <a:off x="4480560" y="5212080"/>
            <a:ext cx="2971800" cy="30670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13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控制强，但自动化体验崩溃</a:t>
            </a:r>
            <a:endParaRPr sz="1400"/>
          </a:p>
        </p:txBody>
      </p:sp>
      <p:sp>
        <p:nvSpPr>
          <p:cNvPr id="49" name="Rounded Rectangle 48"/>
          <p:cNvSpPr/>
          <p:nvPr/>
        </p:nvSpPr>
        <p:spPr>
          <a:xfrm>
            <a:off x="7882127" y="4709160"/>
            <a:ext cx="3547872" cy="1143000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0" name="TextBox 49"/>
          <p:cNvSpPr txBox="1"/>
          <p:nvPr/>
        </p:nvSpPr>
        <p:spPr>
          <a:xfrm>
            <a:off x="8092440" y="4828032"/>
            <a:ext cx="3108960" cy="3683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800"/>
              <a:t>全量预授权</a:t>
            </a:r>
            <a:endParaRPr sz="1800"/>
          </a:p>
        </p:txBody>
      </p:sp>
      <p:sp>
        <p:nvSpPr>
          <p:cNvPr id="51" name="TextBox 50"/>
          <p:cNvSpPr txBox="1"/>
          <p:nvPr/>
        </p:nvSpPr>
        <p:spPr>
          <a:xfrm>
            <a:off x="8092440" y="5212080"/>
            <a:ext cx="3108960" cy="30670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13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体验好，但违背最小权限原则</a:t>
            </a:r>
            <a:endParaRPr sz="1400"/>
          </a:p>
        </p:txBody>
      </p:sp>
      <p:sp>
        <p:nvSpPr>
          <p:cNvPr id="55" name="TextBox 20"/>
          <p:cNvSpPr txBox="1"/>
          <p:nvPr/>
        </p:nvSpPr>
        <p:spPr>
          <a:xfrm>
            <a:off x="10954385" y="6346000"/>
            <a:ext cx="10058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 sz="1400"/>
              <a:t>2/17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22960"/>
            <a:ext cx="9235440" cy="1143000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33283" y="822960"/>
            <a:ext cx="1901952" cy="1143000"/>
          </a:xfrm>
          <a:prstGeom prst="rect">
            <a:avLst/>
          </a:prstGeom>
          <a:solidFill>
            <a:srgbClr val="E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987552"/>
            <a:ext cx="731520" cy="8046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024128"/>
            <a:ext cx="676656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745" y="1108710"/>
            <a:ext cx="6971665" cy="4914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研究目标与威胁模型：这篇论文“管到哪里”？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1783080"/>
            <a:ext cx="4480560" cy="18288"/>
          </a:xfrm>
          <a:prstGeom prst="rect">
            <a:avLst/>
          </a:prstGeom>
          <a:solidFill>
            <a:srgbClr val="C6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236208"/>
            <a:ext cx="12191365" cy="621792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74519" y="6345936"/>
            <a:ext cx="1188720" cy="3474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920240" y="6359017"/>
            <a:ext cx="109728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研究背景</a:t>
            </a:r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3063239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3319272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用户研究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416552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4672583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方法设计</a:t>
            </a:r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5769864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6025896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实验结果</a:t>
            </a:r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7123176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7379208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局限思考</a:t>
            </a:r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8476488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873252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总结讨论</a:t>
            </a:r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658368" y="2267712"/>
            <a:ext cx="5212080" cy="3246120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2267712"/>
            <a:ext cx="5212080" cy="411480"/>
          </a:xfrm>
          <a:prstGeom prst="round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2295144"/>
            <a:ext cx="4992624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◎  研究目标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3025902"/>
            <a:ext cx="4882896" cy="391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  <a:defRPr sz="15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Goal 1：理解不同用户在多场景下的数据共享偏好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612" y="3633724"/>
            <a:ext cx="4882896" cy="391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  <a:defRPr sz="15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Goal 2：从少量历史中学习偏好，并预测未来权限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241546"/>
            <a:ext cx="4882896" cy="391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  <a:defRPr sz="15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希望覆盖新的上下文与此前未见的数据类型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2267712"/>
            <a:ext cx="5303520" cy="3246120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99632" y="2267712"/>
            <a:ext cx="5303520" cy="411480"/>
          </a:xfrm>
          <a:prstGeom prst="round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295144"/>
            <a:ext cx="5084064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△  威胁模型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25902"/>
            <a:ext cx="4974336" cy="67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  <a:defRPr sz="14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第三方工具：可能不可信、被攻陷或通过 prompt injection 操纵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765423"/>
            <a:ext cx="4974336" cy="67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  <a:defRPr sz="14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LLM：假设非恶意，但可能因歧义或幻觉访问错误/多余数据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8707" y="4505325"/>
            <a:ext cx="4974336" cy="67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  <a:defRPr sz="14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Agent scaffolding 与 permission assistant：被假设为可信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61872" y="5632704"/>
            <a:ext cx="9692640" cy="411480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1444752" y="5666804"/>
            <a:ext cx="9308592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32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400"/>
              <a:t>边界：安全部署、沙箱/TEE、恶意数据流控制等“如何可靠执行预测结果”不在本文范围内。</a:t>
            </a:r>
            <a:endParaRPr sz="1400"/>
          </a:p>
        </p:txBody>
      </p:sp>
      <p:sp>
        <p:nvSpPr>
          <p:cNvPr id="53" name="TextBox 20"/>
          <p:cNvSpPr txBox="1"/>
          <p:nvPr/>
        </p:nvSpPr>
        <p:spPr>
          <a:xfrm>
            <a:off x="10954385" y="6346000"/>
            <a:ext cx="10058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 sz="1400"/>
              <a:t>3/17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22960"/>
            <a:ext cx="9235440" cy="1143000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73568" y="822960"/>
            <a:ext cx="1901952" cy="1143000"/>
          </a:xfrm>
          <a:prstGeom prst="rect">
            <a:avLst/>
          </a:prstGeom>
          <a:solidFill>
            <a:srgbClr val="E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987552"/>
            <a:ext cx="731520" cy="8046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024128"/>
            <a:ext cx="676656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987552"/>
            <a:ext cx="6583680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整篇论文的逻辑链：从用户行为到权限预测</a:t>
            </a:r>
          </a:p>
        </p:txBody>
      </p:sp>
      <p:sp>
        <p:nvSpPr>
          <p:cNvPr id="8" name="Rectangle 7"/>
          <p:cNvSpPr/>
          <p:nvPr/>
        </p:nvSpPr>
        <p:spPr>
          <a:xfrm>
            <a:off x="1572768" y="1783080"/>
            <a:ext cx="4480560" cy="18288"/>
          </a:xfrm>
          <a:prstGeom prst="rect">
            <a:avLst/>
          </a:prstGeom>
          <a:solidFill>
            <a:srgbClr val="C6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236208"/>
            <a:ext cx="12191365" cy="621792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74519" y="6345936"/>
            <a:ext cx="1188720" cy="3474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920240" y="6359017"/>
            <a:ext cx="109728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研究背景</a:t>
            </a:r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3063239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3319272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用户研究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416552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4672583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方法设计</a:t>
            </a:r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5769864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6025896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实验结果</a:t>
            </a:r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7123176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7379208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局限思考</a:t>
            </a:r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8476488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873252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总结讨论</a:t>
            </a:r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658368" y="2487168"/>
            <a:ext cx="2240280" cy="2542032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16736" y="2267712"/>
            <a:ext cx="914400" cy="530352"/>
          </a:xfrm>
          <a:prstGeom prst="roundRect">
            <a:avLst/>
          </a:prstGeom>
          <a:solidFill>
            <a:srgbClr val="C69E5B"/>
          </a:solidFill>
          <a:ln w="12700"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4168" y="2331720"/>
            <a:ext cx="859536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2907792"/>
            <a:ext cx="1965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用户研究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3513963"/>
            <a:ext cx="1828800" cy="9182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30000"/>
              </a:lnSpc>
              <a:defRPr sz="138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205人招募</a:t>
            </a:r>
            <a:br/>
            <a:r>
              <a:t>8领域 · 21工具</a:t>
            </a:r>
            <a:br/>
            <a:r>
              <a:t>20个权限问题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364992"/>
            <a:ext cx="548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2800" b="1">
                <a:solidFill>
                  <a:srgbClr val="A0783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47872" y="2487168"/>
            <a:ext cx="2240280" cy="2542032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06240" y="2267712"/>
            <a:ext cx="914400" cy="530352"/>
          </a:xfrm>
          <a:prstGeom prst="roundRect">
            <a:avLst/>
          </a:prstGeom>
          <a:solidFill>
            <a:srgbClr val="C69E5B"/>
          </a:solidFill>
          <a:ln w="12700"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33672" y="2331720"/>
            <a:ext cx="859536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85032" y="2907792"/>
            <a:ext cx="1965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行为发现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3513963"/>
            <a:ext cx="1828800" cy="9182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30000"/>
              </a:lnSpc>
              <a:defRPr sz="138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会过度授权</a:t>
            </a:r>
            <a:br/>
            <a:r>
              <a:t>但偏好有一致性</a:t>
            </a:r>
            <a:br/>
            <a:r>
              <a:t>用户之间也相似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15583" y="3364992"/>
            <a:ext cx="548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2800" b="1">
                <a:solidFill>
                  <a:srgbClr val="A0783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37376" y="2487168"/>
            <a:ext cx="2240280" cy="2542032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095744" y="2267712"/>
            <a:ext cx="914400" cy="530352"/>
          </a:xfrm>
          <a:prstGeom prst="roundRect">
            <a:avLst/>
          </a:prstGeom>
          <a:solidFill>
            <a:srgbClr val="C69E5B"/>
          </a:solidFill>
          <a:ln w="12700"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23176" y="2331720"/>
            <a:ext cx="859536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74536" y="2907792"/>
            <a:ext cx="1965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混合模型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8544" y="3513963"/>
            <a:ext cx="1828800" cy="9182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30000"/>
              </a:lnSpc>
              <a:defRPr sz="138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个人：LLM ICL</a:t>
            </a:r>
            <a:br/>
            <a:r>
              <a:t>群体：LightGCN CF</a:t>
            </a:r>
            <a:br/>
            <a:r>
              <a:t>文本方式融合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05088" y="3364992"/>
            <a:ext cx="548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2800" b="1">
                <a:solidFill>
                  <a:srgbClr val="A0783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26880" y="2487168"/>
            <a:ext cx="2240280" cy="2542032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985248" y="2267712"/>
            <a:ext cx="914400" cy="530352"/>
          </a:xfrm>
          <a:prstGeom prst="roundRect">
            <a:avLst/>
          </a:prstGeom>
          <a:solidFill>
            <a:srgbClr val="C69E5B"/>
          </a:solidFill>
          <a:ln w="12700"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12680" y="2331720"/>
            <a:ext cx="859536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4040" y="2907792"/>
            <a:ext cx="1965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系统评测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8048" y="3513963"/>
            <a:ext cx="1828800" cy="9182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30000"/>
              </a:lnSpc>
              <a:defRPr sz="138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全覆盖性能</a:t>
            </a:r>
            <a:br/>
            <a:r>
              <a:t>置信度–覆盖率</a:t>
            </a:r>
            <a:br/>
            <a:r>
              <a:t>少样本个性化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17320" y="5376672"/>
            <a:ext cx="9372600" cy="530352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27632" y="5454968"/>
            <a:ext cx="8961120" cy="33718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45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600"/>
              <a:t>核心假设：偏好虽然受场景影响，但具有足够的个体一致性与群体相似性，因此“可以被学习”。</a:t>
            </a:r>
            <a:endParaRPr sz="1600"/>
          </a:p>
        </p:txBody>
      </p:sp>
      <p:sp>
        <p:nvSpPr>
          <p:cNvPr id="53" name="TextBox 20"/>
          <p:cNvSpPr txBox="1"/>
          <p:nvPr/>
        </p:nvSpPr>
        <p:spPr>
          <a:xfrm>
            <a:off x="10954385" y="6346000"/>
            <a:ext cx="10058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 sz="1400"/>
              <a:t>4/17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22960"/>
            <a:ext cx="9235440" cy="1143000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73568" y="822960"/>
            <a:ext cx="1901952" cy="1143000"/>
          </a:xfrm>
          <a:prstGeom prst="rect">
            <a:avLst/>
          </a:prstGeom>
          <a:solidFill>
            <a:srgbClr val="E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987552"/>
            <a:ext cx="731520" cy="8046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024128"/>
            <a:ext cx="676656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987552"/>
            <a:ext cx="6583680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用户研究怎么做？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1572768" y="1783080"/>
            <a:ext cx="4480560" cy="18288"/>
          </a:xfrm>
          <a:prstGeom prst="rect">
            <a:avLst/>
          </a:prstGeom>
          <a:solidFill>
            <a:srgbClr val="C6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236208"/>
            <a:ext cx="12191365" cy="621792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研究背景</a:t>
            </a:r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3063239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2" name="Rounded Rectangle 11"/>
          <p:cNvSpPr/>
          <p:nvPr/>
        </p:nvSpPr>
        <p:spPr>
          <a:xfrm>
            <a:off x="3227832" y="6345936"/>
            <a:ext cx="1188720" cy="3474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3273552" y="6359017"/>
            <a:ext cx="109728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用户研究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416552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4672583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方法设计</a:t>
            </a:r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5769864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6025896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实验结果</a:t>
            </a:r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7123176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7379208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局限思考</a:t>
            </a:r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8476488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873252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总结讨论</a:t>
            </a:r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603504" y="2221992"/>
            <a:ext cx="4590288" cy="3584448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3504" y="2221992"/>
            <a:ext cx="4590288" cy="411480"/>
          </a:xfrm>
          <a:prstGeom prst="round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2249424"/>
            <a:ext cx="4370831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▣  实验规模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130" y="2926080"/>
            <a:ext cx="4407535" cy="30924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42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Prolific 招募 205 人；剔除 2 个无效回答 → 203 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3447288"/>
            <a:ext cx="4261103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42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题库：8 个领域、21 个工具、65 个问题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3977640"/>
            <a:ext cx="4261103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42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142 种具体数据 → 75 种归一化数据类型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4507992"/>
            <a:ext cx="4261103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42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每人：5 个工具/数据选择 + 20 个权限问题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038344"/>
            <a:ext cx="4261103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42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其中 25%（5题）故意混入“不必要数据”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68112" y="2221992"/>
            <a:ext cx="2743200" cy="3584448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50992" y="2359152"/>
            <a:ext cx="23774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四档权限选项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6440" y="2852928"/>
            <a:ext cx="2084831" cy="475488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313" y="2926080"/>
            <a:ext cx="31089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4C7A59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15558" y="2939098"/>
            <a:ext cx="1490472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270" b="1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总是共享</a:t>
            </a:r>
            <a:endParaRPr sz="1400"/>
          </a:p>
        </p:txBody>
      </p:sp>
      <p:sp>
        <p:nvSpPr>
          <p:cNvPr id="35" name="Rounded Rectangle 34"/>
          <p:cNvSpPr/>
          <p:nvPr/>
        </p:nvSpPr>
        <p:spPr>
          <a:xfrm>
            <a:off x="5806440" y="3493008"/>
            <a:ext cx="2084831" cy="475488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5678" y="3566160"/>
            <a:ext cx="31089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A07837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26150" y="3557270"/>
            <a:ext cx="1866900" cy="29464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lnSpc>
                <a:spcPct val="100000"/>
              </a:lnSpc>
              <a:defRPr sz="127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本次共享，下次再问</a:t>
            </a:r>
            <a:endParaRPr sz="1400"/>
          </a:p>
        </p:txBody>
      </p:sp>
      <p:sp>
        <p:nvSpPr>
          <p:cNvPr id="38" name="Rounded Rectangle 37"/>
          <p:cNvSpPr/>
          <p:nvPr/>
        </p:nvSpPr>
        <p:spPr>
          <a:xfrm>
            <a:off x="5806440" y="4133087"/>
            <a:ext cx="2084831" cy="475488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6313" y="4206240"/>
            <a:ext cx="31089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A07837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26150" y="4197350"/>
            <a:ext cx="2030095" cy="310515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lnSpc>
                <a:spcPct val="100000"/>
              </a:lnSpc>
              <a:defRPr sz="127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本次不共享，下次再问</a:t>
            </a:r>
            <a:endParaRPr sz="1400"/>
          </a:p>
        </p:txBody>
      </p:sp>
      <p:sp>
        <p:nvSpPr>
          <p:cNvPr id="41" name="Rounded Rectangle 40"/>
          <p:cNvSpPr/>
          <p:nvPr/>
        </p:nvSpPr>
        <p:spPr>
          <a:xfrm>
            <a:off x="5806440" y="4773168"/>
            <a:ext cx="2084831" cy="475488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5043" y="4846320"/>
            <a:ext cx="31089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16828" y="4830127"/>
            <a:ext cx="1490472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270" b="1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永不共享</a:t>
            </a:r>
            <a:endParaRPr sz="1400"/>
          </a:p>
        </p:txBody>
      </p:sp>
      <p:sp>
        <p:nvSpPr>
          <p:cNvPr id="44" name="Rounded Rectangle 43"/>
          <p:cNvSpPr/>
          <p:nvPr/>
        </p:nvSpPr>
        <p:spPr>
          <a:xfrm>
            <a:off x="8458200" y="2221992"/>
            <a:ext cx="3108960" cy="3584448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458200" y="2221992"/>
            <a:ext cx="3108960" cy="411480"/>
          </a:xfrm>
          <a:prstGeom prst="round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67928" y="2249424"/>
            <a:ext cx="2889504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!  两个设计细节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77275" y="2926207"/>
            <a:ext cx="2779776" cy="6076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  <a:defRPr sz="14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实验前主动进行 privacy priming，提高参与者隐私意识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3840734"/>
            <a:ext cx="2779776" cy="6076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  <a:defRPr sz="14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“必要数据”的 ground truth 由研究者依据工具功能定义</a:t>
            </a:r>
          </a:p>
        </p:txBody>
      </p:sp>
      <p:sp>
        <p:nvSpPr>
          <p:cNvPr id="53" name="TextBox 20"/>
          <p:cNvSpPr txBox="1"/>
          <p:nvPr/>
        </p:nvSpPr>
        <p:spPr>
          <a:xfrm>
            <a:off x="10954385" y="6346000"/>
            <a:ext cx="10058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 sz="1400"/>
              <a:t>5/17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822960"/>
            <a:ext cx="9235440" cy="1143000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73568" y="822960"/>
            <a:ext cx="1901952" cy="1143000"/>
          </a:xfrm>
          <a:prstGeom prst="rect">
            <a:avLst/>
          </a:prstGeom>
          <a:solidFill>
            <a:srgbClr val="E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987552"/>
            <a:ext cx="731520" cy="8046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024128"/>
            <a:ext cx="676656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987552"/>
            <a:ext cx="6583680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核心发现 1：过度授权远比授权不足更常见</a:t>
            </a:r>
          </a:p>
        </p:txBody>
      </p:sp>
      <p:sp>
        <p:nvSpPr>
          <p:cNvPr id="8" name="Rectangle 7"/>
          <p:cNvSpPr/>
          <p:nvPr/>
        </p:nvSpPr>
        <p:spPr>
          <a:xfrm>
            <a:off x="1572768" y="1783080"/>
            <a:ext cx="4480560" cy="18288"/>
          </a:xfrm>
          <a:prstGeom prst="rect">
            <a:avLst/>
          </a:prstGeom>
          <a:solidFill>
            <a:srgbClr val="C6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236208"/>
            <a:ext cx="12191365" cy="621792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研究背景</a:t>
            </a:r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3063239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2" name="Rounded Rectangle 11"/>
          <p:cNvSpPr/>
          <p:nvPr/>
        </p:nvSpPr>
        <p:spPr>
          <a:xfrm>
            <a:off x="3227832" y="6345936"/>
            <a:ext cx="1188720" cy="3474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3273552" y="6359017"/>
            <a:ext cx="109728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用户研究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416552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4672583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方法设计</a:t>
            </a:r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5769864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6025896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实验结果</a:t>
            </a:r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7123176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7379208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局限思考</a:t>
            </a:r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8476488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873252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总结讨论</a:t>
            </a:r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621792" y="2267712"/>
            <a:ext cx="6583680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ig2_overpermission.png"/>
          <p:cNvPicPr>
            <a:picLocks noChangeAspect="1"/>
          </p:cNvPicPr>
          <p:nvPr/>
        </p:nvPicPr>
        <p:blipFill>
          <a:blip r:embed="rId1"/>
          <a:srcRect t="11975" r="7365" b="10979"/>
          <a:stretch>
            <a:fillRect/>
          </a:stretch>
        </p:blipFill>
        <p:spPr>
          <a:xfrm>
            <a:off x="1043305" y="2387600"/>
            <a:ext cx="5557520" cy="318643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498079" y="2331720"/>
            <a:ext cx="1783080" cy="1024128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07807" y="2404872"/>
            <a:ext cx="1563624" cy="49158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5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7" y="2792150"/>
            <a:ext cx="1563624" cy="533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20000"/>
              </a:lnSpc>
              <a:defRPr sz="11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参与者在 ≥15.4% 请求中发生过度授权</a:t>
            </a:r>
            <a:endParaRPr sz="1200"/>
          </a:p>
        </p:txBody>
      </p:sp>
      <p:sp>
        <p:nvSpPr>
          <p:cNvPr id="27" name="Rounded Rectangle 26"/>
          <p:cNvSpPr/>
          <p:nvPr/>
        </p:nvSpPr>
        <p:spPr>
          <a:xfrm>
            <a:off x="9528048" y="2331720"/>
            <a:ext cx="1783080" cy="1024128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37776" y="2404872"/>
            <a:ext cx="1563624" cy="49158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5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3.0%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2792150"/>
            <a:ext cx="1563624" cy="533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20000"/>
              </a:lnSpc>
              <a:defRPr sz="11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参与者完全没有过度授权</a:t>
            </a:r>
            <a:endParaRPr sz="1200"/>
          </a:p>
        </p:txBody>
      </p:sp>
      <p:sp>
        <p:nvSpPr>
          <p:cNvPr id="30" name="Rounded Rectangle 29"/>
          <p:cNvSpPr/>
          <p:nvPr/>
        </p:nvSpPr>
        <p:spPr>
          <a:xfrm>
            <a:off x="7498079" y="3584448"/>
            <a:ext cx="1783080" cy="1024128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07807" y="3657600"/>
            <a:ext cx="1563624" cy="49158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5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18.7%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935" y="4044633"/>
            <a:ext cx="1642745" cy="533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20000"/>
              </a:lnSpc>
              <a:defRPr sz="11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参与者能在 ≥90% 数据类型上给出适当权限</a:t>
            </a:r>
            <a:endParaRPr sz="1200"/>
          </a:p>
        </p:txBody>
      </p:sp>
      <p:sp>
        <p:nvSpPr>
          <p:cNvPr id="33" name="Rounded Rectangle 32"/>
          <p:cNvSpPr/>
          <p:nvPr/>
        </p:nvSpPr>
        <p:spPr>
          <a:xfrm>
            <a:off x="9528048" y="3584448"/>
            <a:ext cx="1783080" cy="1024128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37776" y="3657600"/>
            <a:ext cx="1563624" cy="49158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5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8.9%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4044878"/>
            <a:ext cx="1563624" cy="533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20000"/>
              </a:lnSpc>
              <a:defRPr sz="11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参与者完全没有授权不足</a:t>
            </a:r>
            <a:endParaRPr sz="1200"/>
          </a:p>
        </p:txBody>
      </p:sp>
      <p:sp>
        <p:nvSpPr>
          <p:cNvPr id="36" name="Rounded Rectangle 35"/>
          <p:cNvSpPr/>
          <p:nvPr/>
        </p:nvSpPr>
        <p:spPr>
          <a:xfrm>
            <a:off x="7498079" y="4892040"/>
            <a:ext cx="3822191" cy="804672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7" name="TextBox 36"/>
          <p:cNvSpPr txBox="1"/>
          <p:nvPr/>
        </p:nvSpPr>
        <p:spPr>
          <a:xfrm>
            <a:off x="7699375" y="5009515"/>
            <a:ext cx="3620770" cy="56451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  <a:defRPr sz="133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400"/>
              <a:t>启示：把“确认按钮”交给用户，并不等于系统自然就安全；用户本身也会判断错误。</a:t>
            </a:r>
            <a:endParaRPr sz="1400"/>
          </a:p>
        </p:txBody>
      </p:sp>
      <p:sp>
        <p:nvSpPr>
          <p:cNvPr id="53" name="TextBox 20"/>
          <p:cNvSpPr txBox="1"/>
          <p:nvPr/>
        </p:nvSpPr>
        <p:spPr>
          <a:xfrm>
            <a:off x="10954385" y="6346000"/>
            <a:ext cx="10058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 sz="1400"/>
              <a:t>6/17</a:t>
            </a:r>
            <a:endParaRPr 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22960"/>
            <a:ext cx="9235440" cy="1143000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73568" y="822960"/>
            <a:ext cx="1901952" cy="1143000"/>
          </a:xfrm>
          <a:prstGeom prst="rect">
            <a:avLst/>
          </a:prstGeom>
          <a:solidFill>
            <a:srgbClr val="E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987552"/>
            <a:ext cx="731520" cy="8046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024128"/>
            <a:ext cx="676656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987552"/>
            <a:ext cx="6583680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核心发现 2：用户能发现错误，但也会被 Agent 误导</a:t>
            </a:r>
          </a:p>
        </p:txBody>
      </p:sp>
      <p:sp>
        <p:nvSpPr>
          <p:cNvPr id="8" name="Rectangle 7"/>
          <p:cNvSpPr/>
          <p:nvPr/>
        </p:nvSpPr>
        <p:spPr>
          <a:xfrm>
            <a:off x="1572768" y="1783080"/>
            <a:ext cx="4480560" cy="18288"/>
          </a:xfrm>
          <a:prstGeom prst="rect">
            <a:avLst/>
          </a:prstGeom>
          <a:solidFill>
            <a:srgbClr val="C6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236208"/>
            <a:ext cx="12191365" cy="621792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研究背景</a:t>
            </a:r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3063239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2" name="Rounded Rectangle 11"/>
          <p:cNvSpPr/>
          <p:nvPr/>
        </p:nvSpPr>
        <p:spPr>
          <a:xfrm>
            <a:off x="3227832" y="6345936"/>
            <a:ext cx="1188720" cy="3474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3273552" y="6359017"/>
            <a:ext cx="109728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用户研究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416552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4672583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方法设计</a:t>
            </a:r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5769864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6025896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实验结果</a:t>
            </a:r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7123176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7379208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局限思考</a:t>
            </a:r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8476488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873252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总结讨论</a:t>
            </a:r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658368" y="2286000"/>
            <a:ext cx="5669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able3_alignment.png"/>
          <p:cNvPicPr>
            <a:picLocks noChangeAspect="1"/>
          </p:cNvPicPr>
          <p:nvPr/>
        </p:nvPicPr>
        <p:blipFill>
          <a:blip r:embed="rId2"/>
          <a:srcRect t="9994" b="27325"/>
          <a:stretch>
            <a:fillRect/>
          </a:stretch>
        </p:blipFill>
        <p:spPr>
          <a:xfrm>
            <a:off x="964565" y="2419350"/>
            <a:ext cx="5132070" cy="175641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58368" y="4617720"/>
            <a:ext cx="5669280" cy="1051560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727448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Table 3 的关键对比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065776"/>
            <a:ext cx="5138928" cy="57848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  <a:defRPr sz="132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当用户与 ground truth 都认为“必要”时，88.9% 会共享；当双方都认为“不必要”时，62.5% 会拒绝。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9984" y="2340864"/>
            <a:ext cx="2066543" cy="1261872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2414016"/>
            <a:ext cx="1847087" cy="60569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5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78.2%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2265" y="2951480"/>
            <a:ext cx="2160270" cy="5708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Agent 把“不必要数据”说成“必要”时，用户仍选择共享</a:t>
            </a:r>
            <a:endParaRPr sz="1200"/>
          </a:p>
        </p:txBody>
      </p:sp>
      <p:sp>
        <p:nvSpPr>
          <p:cNvPr id="30" name="Rounded Rectangle 29"/>
          <p:cNvSpPr/>
          <p:nvPr/>
        </p:nvSpPr>
        <p:spPr>
          <a:xfrm>
            <a:off x="9025128" y="2340864"/>
            <a:ext cx="2267712" cy="1261872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17152" y="2496312"/>
            <a:ext cx="1883664" cy="3683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800"/>
              <a:t>危险点</a:t>
            </a:r>
            <a:endParaRPr sz="1800"/>
          </a:p>
        </p:txBody>
      </p:sp>
      <p:sp>
        <p:nvSpPr>
          <p:cNvPr id="32" name="TextBox 31"/>
          <p:cNvSpPr txBox="1"/>
          <p:nvPr/>
        </p:nvSpPr>
        <p:spPr>
          <a:xfrm>
            <a:off x="9217152" y="2970784"/>
            <a:ext cx="1883664" cy="5708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30000"/>
              </a:lnSpc>
              <a:defRPr sz="124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模型/工具的错误判断会塑造用户认知</a:t>
            </a:r>
            <a:endParaRPr sz="1200"/>
          </a:p>
        </p:txBody>
      </p:sp>
      <p:sp>
        <p:nvSpPr>
          <p:cNvPr id="33" name="Rounded Rectangle 32"/>
          <p:cNvSpPr/>
          <p:nvPr/>
        </p:nvSpPr>
        <p:spPr>
          <a:xfrm>
            <a:off x="6729984" y="3822191"/>
            <a:ext cx="4562856" cy="1847088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729984" y="3822191"/>
            <a:ext cx="4562856" cy="411480"/>
          </a:xfrm>
          <a:prstGeom prst="round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9712" y="3849624"/>
            <a:ext cx="4343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→  这说明什么？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585" y="4425315"/>
            <a:ext cx="4419600" cy="514985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defRPr sz="134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人在回路中（Human-in-the-loop）不是充分安全条件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585" y="4900930"/>
            <a:ext cx="4420235" cy="4978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defRPr sz="134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系统需要在“用户判断”之外增加风险感知与保守策略</a:t>
            </a:r>
          </a:p>
        </p:txBody>
      </p:sp>
      <p:sp>
        <p:nvSpPr>
          <p:cNvPr id="53" name="TextBox 20"/>
          <p:cNvSpPr txBox="1"/>
          <p:nvPr/>
        </p:nvSpPr>
        <p:spPr>
          <a:xfrm>
            <a:off x="10954385" y="6346000"/>
            <a:ext cx="10058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 sz="1400"/>
              <a:t>7/17</a:t>
            </a:r>
            <a:endParaRPr 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22960"/>
            <a:ext cx="9235440" cy="1143000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73568" y="822960"/>
            <a:ext cx="1901952" cy="1143000"/>
          </a:xfrm>
          <a:prstGeom prst="rect">
            <a:avLst/>
          </a:prstGeom>
          <a:solidFill>
            <a:srgbClr val="E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987552"/>
            <a:ext cx="731520" cy="8046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024128"/>
            <a:ext cx="676656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987552"/>
            <a:ext cx="6583680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核心发现 3：偏好具有“可学习性”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1572768" y="1783080"/>
            <a:ext cx="4480560" cy="18288"/>
          </a:xfrm>
          <a:prstGeom prst="rect">
            <a:avLst/>
          </a:prstGeom>
          <a:solidFill>
            <a:srgbClr val="C6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236208"/>
            <a:ext cx="12191365" cy="621792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研究背景</a:t>
            </a:r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3063239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2" name="Rounded Rectangle 11"/>
          <p:cNvSpPr/>
          <p:nvPr/>
        </p:nvSpPr>
        <p:spPr>
          <a:xfrm>
            <a:off x="3227832" y="6345936"/>
            <a:ext cx="1188720" cy="3474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3273552" y="6359017"/>
            <a:ext cx="109728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用户研究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416552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4672583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方法设计</a:t>
            </a:r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5769864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6025896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实验结果</a:t>
            </a:r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7123176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7379208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局限思考</a:t>
            </a:r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8476488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873252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总结讨论</a:t>
            </a:r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621792" y="2286000"/>
            <a:ext cx="52120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ig4_consistency.png"/>
          <p:cNvPicPr>
            <a:picLocks noChangeAspect="1"/>
          </p:cNvPicPr>
          <p:nvPr/>
        </p:nvPicPr>
        <p:blipFill>
          <a:blip r:embed="rId2"/>
          <a:srcRect t="12549" b="8808"/>
          <a:stretch>
            <a:fillRect/>
          </a:stretch>
        </p:blipFill>
        <p:spPr>
          <a:xfrm>
            <a:off x="1517650" y="2313305"/>
            <a:ext cx="3341370" cy="184658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1792" y="4297680"/>
            <a:ext cx="521208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ig5_similarity.png"/>
          <p:cNvPicPr>
            <a:picLocks noChangeAspect="1"/>
          </p:cNvPicPr>
          <p:nvPr/>
        </p:nvPicPr>
        <p:blipFill>
          <a:blip r:embed="rId3"/>
          <a:srcRect b="31973"/>
          <a:stretch>
            <a:fillRect/>
          </a:stretch>
        </p:blipFill>
        <p:spPr>
          <a:xfrm>
            <a:off x="1572895" y="4334510"/>
            <a:ext cx="3099435" cy="138049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144768" y="2286000"/>
            <a:ext cx="5230368" cy="1700784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44768" y="2286000"/>
            <a:ext cx="5230368" cy="411480"/>
          </a:xfrm>
          <a:prstGeom prst="round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4496" y="2313432"/>
            <a:ext cx="5010912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①  同一个人：跨场景并非完全随机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2957830"/>
            <a:ext cx="4901183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37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46.3% 用户跨领域偏好标准差 &lt; 0.1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364992"/>
            <a:ext cx="4901183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37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73.4% 用户标准差 &lt; 0.2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4160520"/>
            <a:ext cx="5230368" cy="1655064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44768" y="4160520"/>
            <a:ext cx="5230368" cy="411480"/>
          </a:xfrm>
          <a:prstGeom prst="round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4187952"/>
            <a:ext cx="5010912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②  不同人：存在可复用的相似群体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478" y="4800599"/>
            <a:ext cx="4901183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34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69.7% 用户对，在至少 60% 的同类权限请求上表现相似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478" y="5239512"/>
            <a:ext cx="4901183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34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因此可用“相似用户”补个人历史不足</a:t>
            </a:r>
          </a:p>
        </p:txBody>
      </p:sp>
      <p:sp>
        <p:nvSpPr>
          <p:cNvPr id="53" name="TextBox 20"/>
          <p:cNvSpPr txBox="1"/>
          <p:nvPr/>
        </p:nvSpPr>
        <p:spPr>
          <a:xfrm>
            <a:off x="10954385" y="6346000"/>
            <a:ext cx="10058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 sz="1400"/>
              <a:t>8/17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22960"/>
            <a:ext cx="9235440" cy="1143000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73568" y="822960"/>
            <a:ext cx="1901952" cy="1143000"/>
          </a:xfrm>
          <a:prstGeom prst="rect">
            <a:avLst/>
          </a:prstGeom>
          <a:solidFill>
            <a:srgbClr val="E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987552"/>
            <a:ext cx="731520" cy="8046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024128"/>
            <a:ext cx="676656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987552"/>
            <a:ext cx="6583680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方法：个人模型 + 群体模型，如何结合？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1572768" y="1783080"/>
            <a:ext cx="4480560" cy="18288"/>
          </a:xfrm>
          <a:prstGeom prst="rect">
            <a:avLst/>
          </a:prstGeom>
          <a:solidFill>
            <a:srgbClr val="C6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236208"/>
            <a:ext cx="12191365" cy="621792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研究背景</a:t>
            </a:r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3063239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3319272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用户研究</a:t>
            </a:r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4416552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4" name="Rounded Rectangle 13"/>
          <p:cNvSpPr/>
          <p:nvPr/>
        </p:nvSpPr>
        <p:spPr>
          <a:xfrm>
            <a:off x="4581144" y="6345936"/>
            <a:ext cx="1188720" cy="3474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4626864" y="6359017"/>
            <a:ext cx="109728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方法设计</a:t>
            </a:r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5769864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6025896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实验结果</a:t>
            </a:r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7123176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7379208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局限思考</a:t>
            </a:r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8476488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873252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总结讨论</a:t>
            </a:r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566928" y="2331720"/>
            <a:ext cx="2176272" cy="3218688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777240" y="2468880"/>
            <a:ext cx="1755648" cy="3683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800"/>
              <a:t>输入信息</a:t>
            </a:r>
            <a:endParaRPr sz="1800"/>
          </a:p>
        </p:txBody>
      </p:sp>
      <p:sp>
        <p:nvSpPr>
          <p:cNvPr id="24" name="Rounded Rectangle 23"/>
          <p:cNvSpPr/>
          <p:nvPr/>
        </p:nvSpPr>
        <p:spPr>
          <a:xfrm>
            <a:off x="841248" y="2926080"/>
            <a:ext cx="1627632" cy="393192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567055" y="2883535"/>
            <a:ext cx="2057400" cy="48006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lnSpc>
                <a:spcPct val="100000"/>
              </a:lnSpc>
              <a:defRPr sz="1070" b="1">
                <a:solidFill>
                  <a:srgbClr val="35322F"/>
                </a:solidFill>
                <a:latin typeface="Aptos"/>
              </a:defRPr>
            </a:pPr>
            <a:r>
              <a:rPr sz="1100">
                <a:latin typeface="Times New Roman" panose="02020603050405020304" charset="0"/>
                <a:cs typeface="Times New Roman" panose="02020603050405020304" charset="0"/>
              </a:rPr>
              <a:t>Query / Tool / Data Type</a:t>
            </a:r>
            <a:endParaRPr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41248" y="3493008"/>
            <a:ext cx="1627632" cy="393192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914400" y="3542665"/>
            <a:ext cx="1481328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7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年龄、教育、性别</a:t>
            </a:r>
            <a:endParaRPr sz="1200"/>
          </a:p>
        </p:txBody>
      </p:sp>
      <p:sp>
        <p:nvSpPr>
          <p:cNvPr id="28" name="Rounded Rectangle 27"/>
          <p:cNvSpPr/>
          <p:nvPr/>
        </p:nvSpPr>
        <p:spPr>
          <a:xfrm>
            <a:off x="841248" y="4059936"/>
            <a:ext cx="1627632" cy="393192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/>
          <p:cNvSpPr txBox="1"/>
          <p:nvPr/>
        </p:nvSpPr>
        <p:spPr>
          <a:xfrm>
            <a:off x="914400" y="4109592"/>
            <a:ext cx="1481328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7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AI 使用与隐私意识</a:t>
            </a:r>
            <a:endParaRPr sz="1200"/>
          </a:p>
        </p:txBody>
      </p:sp>
      <p:sp>
        <p:nvSpPr>
          <p:cNvPr id="30" name="Rounded Rectangle 29"/>
          <p:cNvSpPr/>
          <p:nvPr/>
        </p:nvSpPr>
        <p:spPr>
          <a:xfrm>
            <a:off x="841248" y="4626864"/>
            <a:ext cx="1627632" cy="393192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914400" y="4676521"/>
            <a:ext cx="1481328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7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个人历史权限记录</a:t>
            </a:r>
            <a:endParaRPr sz="1200"/>
          </a:p>
        </p:txBody>
      </p:sp>
      <p:sp>
        <p:nvSpPr>
          <p:cNvPr id="32" name="TextBox 31"/>
          <p:cNvSpPr txBox="1"/>
          <p:nvPr/>
        </p:nvSpPr>
        <p:spPr>
          <a:xfrm>
            <a:off x="2779776" y="3182112"/>
            <a:ext cx="42062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2800" b="1">
                <a:solidFill>
                  <a:srgbClr val="A0783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79776" y="4315968"/>
            <a:ext cx="42062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2800" b="1">
                <a:solidFill>
                  <a:srgbClr val="A0783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82112" y="2414016"/>
            <a:ext cx="2971800" cy="1554480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182112" y="2414016"/>
            <a:ext cx="2971800" cy="411480"/>
          </a:xfrm>
          <a:prstGeom prst="round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2441448"/>
            <a:ext cx="2752344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  个人模型：LLM ICL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64992" y="2962656"/>
            <a:ext cx="2642616" cy="3276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defRPr sz="124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• o3-mini + role prompt</a:t>
            </a:r>
            <a:endParaRPr sz="1400"/>
          </a:p>
        </p:txBody>
      </p:sp>
      <p:sp>
        <p:nvSpPr>
          <p:cNvPr id="38" name="TextBox 37"/>
          <p:cNvSpPr txBox="1"/>
          <p:nvPr/>
        </p:nvSpPr>
        <p:spPr>
          <a:xfrm>
            <a:off x="3364865" y="3493135"/>
            <a:ext cx="3266440" cy="464185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00000"/>
              </a:lnSpc>
              <a:defRPr sz="124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• 少样本历史 → label + confidence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82112" y="4160520"/>
            <a:ext cx="2971800" cy="1554480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182112" y="4160520"/>
            <a:ext cx="2971800" cy="411480"/>
          </a:xfrm>
          <a:prstGeom prst="round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0" y="4187952"/>
            <a:ext cx="2752344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B  群体模型：LightGCN CF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64992" y="4709159"/>
            <a:ext cx="2642616" cy="3276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defRPr sz="118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• 用户—权限请求二部图</a:t>
            </a:r>
            <a:endParaRPr sz="1400"/>
          </a:p>
        </p:txBody>
      </p:sp>
      <p:sp>
        <p:nvSpPr>
          <p:cNvPr id="43" name="TextBox 42"/>
          <p:cNvSpPr txBox="1"/>
          <p:nvPr/>
        </p:nvSpPr>
        <p:spPr>
          <a:xfrm>
            <a:off x="3364865" y="5239385"/>
            <a:ext cx="3245485" cy="478155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0000"/>
              </a:lnSpc>
              <a:defRPr sz="118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• 只保留高置信推荐（FPR/FNR &lt; 5%</a:t>
            </a:r>
            <a:r>
              <a:t>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8" y="3273552"/>
            <a:ext cx="43891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2600" b="1">
                <a:solidFill>
                  <a:srgbClr val="A07837"/>
                </a:solidFill>
                <a:latin typeface="微软雅黑" panose="020B0503020204020204" charset="-122"/>
              </a:defRPr>
            </a:pPr>
            <a:r>
              <a:t>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4480560"/>
            <a:ext cx="438912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2600" b="1">
                <a:solidFill>
                  <a:srgbClr val="A07837"/>
                </a:solidFill>
                <a:latin typeface="微软雅黑" panose="020B0503020204020204" charset="-122"/>
              </a:defRPr>
            </a:pPr>
            <a:r>
              <a:t>↗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48272" y="2834640"/>
            <a:ext cx="4617720" cy="2322576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10350" y="2999105"/>
            <a:ext cx="4968875" cy="464185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Hybrid：把 CF 结果“写成自然语言”给 LLM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80860" y="3593465"/>
            <a:ext cx="4485005" cy="621665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80860" y="3722688"/>
            <a:ext cx="4612005" cy="3276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“相似用户对该 Query / Tool / Data Type 倾向 Deny”</a:t>
            </a:r>
            <a:endParaRPr sz="1400"/>
          </a:p>
        </p:txBody>
      </p:sp>
      <p:sp>
        <p:nvSpPr>
          <p:cNvPr id="50" name="TextBox 49"/>
          <p:cNvSpPr txBox="1"/>
          <p:nvPr/>
        </p:nvSpPr>
        <p:spPr>
          <a:xfrm>
            <a:off x="6880860" y="4425950"/>
            <a:ext cx="4178300" cy="526415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00000"/>
              </a:lnSpc>
              <a:defRPr sz="131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400"/>
              <a:t>不是简单概率相乘，而是：</a:t>
            </a:r>
            <a:endParaRPr sz="1400"/>
          </a:p>
          <a:p>
            <a:pPr algn="ctr">
              <a:lnSpc>
                <a:spcPct val="100000"/>
              </a:lnSpc>
              <a:defRPr sz="131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400"/>
              <a:t>个人推理 + 群体推荐作为上下文</a:t>
            </a:r>
            <a:endParaRPr sz="1400"/>
          </a:p>
        </p:txBody>
      </p:sp>
      <p:sp>
        <p:nvSpPr>
          <p:cNvPr id="51" name="Rounded Rectangle 50"/>
          <p:cNvSpPr/>
          <p:nvPr/>
        </p:nvSpPr>
        <p:spPr>
          <a:xfrm>
            <a:off x="1142873" y="5803900"/>
            <a:ext cx="9857232" cy="329184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25880" y="5803710"/>
            <a:ext cx="9436608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260" b="1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设计动机：ICL 处理开放世界的新数据类型；CF 缓解单个用户历史太少的问题。</a:t>
            </a:r>
            <a:endParaRPr sz="1400"/>
          </a:p>
        </p:txBody>
      </p:sp>
      <p:sp>
        <p:nvSpPr>
          <p:cNvPr id="55" name="TextBox 20"/>
          <p:cNvSpPr txBox="1"/>
          <p:nvPr/>
        </p:nvSpPr>
        <p:spPr>
          <a:xfrm>
            <a:off x="10954385" y="6346000"/>
            <a:ext cx="10058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 sz="1400"/>
              <a:t>9/17</a:t>
            </a:r>
            <a:endParaRPr 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22960"/>
            <a:ext cx="9235440" cy="1143000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84083" y="822960"/>
            <a:ext cx="1901952" cy="1143000"/>
          </a:xfrm>
          <a:prstGeom prst="rect">
            <a:avLst/>
          </a:prstGeom>
          <a:solidFill>
            <a:srgbClr val="E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987552"/>
            <a:ext cx="731520" cy="8046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024128"/>
            <a:ext cx="676656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0015" y="1089025"/>
            <a:ext cx="7047865" cy="4914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训练数据与评价设置：看懂结果前的 4 个细节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7523" y="1783080"/>
            <a:ext cx="4480560" cy="18288"/>
          </a:xfrm>
          <a:prstGeom prst="rect">
            <a:avLst/>
          </a:prstGeom>
          <a:solidFill>
            <a:srgbClr val="C6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236208"/>
            <a:ext cx="12191365" cy="621792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研究背景</a:t>
            </a:r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3063239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3319272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用户研究</a:t>
            </a:r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4416552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4" name="Rounded Rectangle 13"/>
          <p:cNvSpPr/>
          <p:nvPr/>
        </p:nvSpPr>
        <p:spPr>
          <a:xfrm>
            <a:off x="4581144" y="6345936"/>
            <a:ext cx="1188720" cy="3474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4626864" y="6359017"/>
            <a:ext cx="109728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方法设计</a:t>
            </a:r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5769864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6025896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实验结果</a:t>
            </a:r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7123176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7379208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局限思考</a:t>
            </a:r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8476488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873252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总结讨论</a:t>
            </a:r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658368" y="2340864"/>
            <a:ext cx="5084064" cy="1481328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Rounded Rectangle 22"/>
          <p:cNvSpPr/>
          <p:nvPr/>
        </p:nvSpPr>
        <p:spPr>
          <a:xfrm>
            <a:off x="822959" y="2505456"/>
            <a:ext cx="566928" cy="457200"/>
          </a:xfrm>
          <a:prstGeom prst="roundRect">
            <a:avLst/>
          </a:prstGeom>
          <a:solidFill>
            <a:srgbClr val="861C1F"/>
          </a:solidFill>
          <a:ln w="12700">
            <a:solidFill>
              <a:srgbClr val="6F1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841247" y="2562415"/>
            <a:ext cx="530352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01</a:t>
            </a:r>
            <a:endParaRPr sz="1400"/>
          </a:p>
        </p:txBody>
      </p:sp>
      <p:sp>
        <p:nvSpPr>
          <p:cNvPr id="25" name="TextBox 24"/>
          <p:cNvSpPr txBox="1"/>
          <p:nvPr/>
        </p:nvSpPr>
        <p:spPr>
          <a:xfrm>
            <a:off x="1517904" y="2487168"/>
            <a:ext cx="3968496" cy="3683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800"/>
              <a:t>四档权限 → 二分类</a:t>
            </a:r>
            <a:endParaRPr sz="1800"/>
          </a:p>
        </p:txBody>
      </p:sp>
      <p:sp>
        <p:nvSpPr>
          <p:cNvPr id="26" name="TextBox 25"/>
          <p:cNvSpPr txBox="1"/>
          <p:nvPr/>
        </p:nvSpPr>
        <p:spPr>
          <a:xfrm>
            <a:off x="1517650" y="2907665"/>
            <a:ext cx="4430395" cy="532765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defRPr sz="12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只保留“总是共享”=Allow 与“永不共享”=Deny；两个“下次再问我”选项未进入训练。</a:t>
            </a:r>
            <a:endParaRPr sz="1400"/>
          </a:p>
        </p:txBody>
      </p:sp>
      <p:sp>
        <p:nvSpPr>
          <p:cNvPr id="27" name="Rounded Rectangle 26"/>
          <p:cNvSpPr/>
          <p:nvPr/>
        </p:nvSpPr>
        <p:spPr>
          <a:xfrm>
            <a:off x="6217920" y="2340864"/>
            <a:ext cx="5084064" cy="1481328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Rounded Rectangle 27"/>
          <p:cNvSpPr/>
          <p:nvPr/>
        </p:nvSpPr>
        <p:spPr>
          <a:xfrm>
            <a:off x="6382512" y="2505456"/>
            <a:ext cx="566928" cy="457200"/>
          </a:xfrm>
          <a:prstGeom prst="roundRect">
            <a:avLst/>
          </a:prstGeom>
          <a:solidFill>
            <a:srgbClr val="861C1F"/>
          </a:solidFill>
          <a:ln w="12700">
            <a:solidFill>
              <a:srgbClr val="6F1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/>
          <p:cNvSpPr txBox="1"/>
          <p:nvPr/>
        </p:nvSpPr>
        <p:spPr>
          <a:xfrm>
            <a:off x="6400800" y="2562415"/>
            <a:ext cx="530352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02</a:t>
            </a:r>
            <a:endParaRPr sz="1400"/>
          </a:p>
        </p:txBody>
      </p:sp>
      <p:sp>
        <p:nvSpPr>
          <p:cNvPr id="30" name="TextBox 29"/>
          <p:cNvSpPr txBox="1"/>
          <p:nvPr/>
        </p:nvSpPr>
        <p:spPr>
          <a:xfrm>
            <a:off x="7077456" y="2487168"/>
            <a:ext cx="3968496" cy="3683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800"/>
              <a:t>最终数据规模</a:t>
            </a:r>
            <a:endParaRPr sz="1800"/>
          </a:p>
        </p:txBody>
      </p:sp>
      <p:sp>
        <p:nvSpPr>
          <p:cNvPr id="31" name="TextBox 30"/>
          <p:cNvSpPr txBox="1"/>
          <p:nvPr/>
        </p:nvSpPr>
        <p:spPr>
          <a:xfrm>
            <a:off x="7077456" y="2907792"/>
            <a:ext cx="3895344" cy="6076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  <a:defRPr sz="12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181 名用户，7,563 个决策：5,244 Allow / 2,319 Deny。</a:t>
            </a:r>
            <a:endParaRPr sz="1400"/>
          </a:p>
        </p:txBody>
      </p:sp>
      <p:sp>
        <p:nvSpPr>
          <p:cNvPr id="32" name="Rounded Rectangle 31"/>
          <p:cNvSpPr/>
          <p:nvPr/>
        </p:nvSpPr>
        <p:spPr>
          <a:xfrm>
            <a:off x="658368" y="4114800"/>
            <a:ext cx="5084064" cy="1481328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Rounded Rectangle 32"/>
          <p:cNvSpPr/>
          <p:nvPr/>
        </p:nvSpPr>
        <p:spPr>
          <a:xfrm>
            <a:off x="822959" y="4279392"/>
            <a:ext cx="566928" cy="457200"/>
          </a:xfrm>
          <a:prstGeom prst="roundRect">
            <a:avLst/>
          </a:prstGeom>
          <a:solidFill>
            <a:srgbClr val="861C1F"/>
          </a:solidFill>
          <a:ln w="12700">
            <a:solidFill>
              <a:srgbClr val="6F1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TextBox 33"/>
          <p:cNvSpPr txBox="1"/>
          <p:nvPr/>
        </p:nvSpPr>
        <p:spPr>
          <a:xfrm>
            <a:off x="841247" y="4336352"/>
            <a:ext cx="530352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03</a:t>
            </a:r>
            <a:endParaRPr sz="1400"/>
          </a:p>
        </p:txBody>
      </p:sp>
      <p:sp>
        <p:nvSpPr>
          <p:cNvPr id="35" name="TextBox 34"/>
          <p:cNvSpPr txBox="1"/>
          <p:nvPr/>
        </p:nvSpPr>
        <p:spPr>
          <a:xfrm>
            <a:off x="1517904" y="4261104"/>
            <a:ext cx="3968496" cy="3683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800"/>
              <a:t>5-fold cross-validation</a:t>
            </a:r>
            <a:endParaRPr sz="1800"/>
          </a:p>
        </p:txBody>
      </p:sp>
      <p:sp>
        <p:nvSpPr>
          <p:cNvPr id="36" name="TextBox 35"/>
          <p:cNvSpPr txBox="1"/>
          <p:nvPr/>
        </p:nvSpPr>
        <p:spPr>
          <a:xfrm>
            <a:off x="1517904" y="4681728"/>
            <a:ext cx="3895344" cy="6076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  <a:defRPr sz="12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用户回答的问题分成 5 折；每个问题都恰好测试一次，且同轮不用于训练。</a:t>
            </a:r>
            <a:endParaRPr sz="1400"/>
          </a:p>
        </p:txBody>
      </p:sp>
      <p:sp>
        <p:nvSpPr>
          <p:cNvPr id="37" name="Rounded Rectangle 36"/>
          <p:cNvSpPr/>
          <p:nvPr/>
        </p:nvSpPr>
        <p:spPr>
          <a:xfrm>
            <a:off x="6217920" y="4114800"/>
            <a:ext cx="5084064" cy="1481328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Rounded Rectangle 37"/>
          <p:cNvSpPr/>
          <p:nvPr/>
        </p:nvSpPr>
        <p:spPr>
          <a:xfrm>
            <a:off x="6382512" y="4279392"/>
            <a:ext cx="566928" cy="457200"/>
          </a:xfrm>
          <a:prstGeom prst="roundRect">
            <a:avLst/>
          </a:prstGeom>
          <a:solidFill>
            <a:srgbClr val="861C1F"/>
          </a:solidFill>
          <a:ln w="12700">
            <a:solidFill>
              <a:srgbClr val="6F1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6400800" y="4336352"/>
            <a:ext cx="530352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04</a:t>
            </a:r>
            <a:endParaRPr sz="1400"/>
          </a:p>
        </p:txBody>
      </p:sp>
      <p:sp>
        <p:nvSpPr>
          <p:cNvPr id="40" name="TextBox 39"/>
          <p:cNvSpPr txBox="1"/>
          <p:nvPr/>
        </p:nvSpPr>
        <p:spPr>
          <a:xfrm>
            <a:off x="7077456" y="4261104"/>
            <a:ext cx="3968496" cy="3683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800"/>
              <a:t>性能与覆盖率同时看</a:t>
            </a:r>
            <a:endParaRPr sz="1800"/>
          </a:p>
        </p:txBody>
      </p:sp>
      <p:sp>
        <p:nvSpPr>
          <p:cNvPr id="41" name="TextBox 40"/>
          <p:cNvSpPr txBox="1"/>
          <p:nvPr/>
        </p:nvSpPr>
        <p:spPr>
          <a:xfrm>
            <a:off x="7077456" y="4681728"/>
            <a:ext cx="3895344" cy="6076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  <a:defRPr sz="12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Accuracy / Precision / Recall / F1 / FPR / FNR；提高置信阈值会降低 coverage。</a:t>
            </a:r>
            <a:endParaRPr sz="1400"/>
          </a:p>
        </p:txBody>
      </p:sp>
      <p:sp>
        <p:nvSpPr>
          <p:cNvPr id="53" name="TextBox 20"/>
          <p:cNvSpPr txBox="1"/>
          <p:nvPr/>
        </p:nvSpPr>
        <p:spPr>
          <a:xfrm>
            <a:off x="10954385" y="6346000"/>
            <a:ext cx="10058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 sz="1400"/>
              <a:t>10/17</a:t>
            </a:r>
            <a:endParaRPr 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22960"/>
            <a:ext cx="9235440" cy="1143000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73568" y="822960"/>
            <a:ext cx="1901952" cy="1143000"/>
          </a:xfrm>
          <a:prstGeom prst="rect">
            <a:avLst/>
          </a:prstGeom>
          <a:solidFill>
            <a:srgbClr val="E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987552"/>
            <a:ext cx="731520" cy="8046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024128"/>
            <a:ext cx="676656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987552"/>
            <a:ext cx="6583680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总体性能：全覆盖时 Hybrid 最稳</a:t>
            </a:r>
          </a:p>
        </p:txBody>
      </p:sp>
      <p:sp>
        <p:nvSpPr>
          <p:cNvPr id="8" name="Rectangle 7"/>
          <p:cNvSpPr/>
          <p:nvPr/>
        </p:nvSpPr>
        <p:spPr>
          <a:xfrm>
            <a:off x="1572768" y="1783080"/>
            <a:ext cx="4480560" cy="18288"/>
          </a:xfrm>
          <a:prstGeom prst="rect">
            <a:avLst/>
          </a:prstGeom>
          <a:solidFill>
            <a:srgbClr val="C6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236208"/>
            <a:ext cx="12191365" cy="621792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研究背景</a:t>
            </a:r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3063239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3319272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用户研究</a:t>
            </a:r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4416552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672583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方法设计</a:t>
            </a:r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5769864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6" name="Rounded Rectangle 15"/>
          <p:cNvSpPr/>
          <p:nvPr/>
        </p:nvSpPr>
        <p:spPr>
          <a:xfrm>
            <a:off x="5934456" y="6345936"/>
            <a:ext cx="1188720" cy="3474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5980176" y="6359017"/>
            <a:ext cx="109728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实验结果</a:t>
            </a:r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7123176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7379208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局限思考</a:t>
            </a:r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8476488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873252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总结讨论</a:t>
            </a:r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658368" y="2331720"/>
            <a:ext cx="1975104" cy="438912"/>
          </a:xfrm>
          <a:prstGeom prst="roundRect">
            <a:avLst/>
          </a:prstGeom>
          <a:solidFill>
            <a:srgbClr val="861C1F"/>
          </a:solidFill>
          <a:ln w="12700">
            <a:solidFill>
              <a:srgbClr val="861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694944" y="2364296"/>
            <a:ext cx="1901952" cy="33718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Aptos"/>
              </a:defRPr>
            </a:pPr>
            <a:r>
              <a:rPr sz="1600"/>
              <a:t>Metric</a:t>
            </a:r>
            <a:endParaRPr sz="1600"/>
          </a:p>
        </p:txBody>
      </p:sp>
      <p:sp>
        <p:nvSpPr>
          <p:cNvPr id="24" name="Rounded Rectangle 23"/>
          <p:cNvSpPr/>
          <p:nvPr/>
        </p:nvSpPr>
        <p:spPr>
          <a:xfrm>
            <a:off x="2633472" y="2331720"/>
            <a:ext cx="1389888" cy="438912"/>
          </a:xfrm>
          <a:prstGeom prst="roundRect">
            <a:avLst/>
          </a:prstGeom>
          <a:solidFill>
            <a:srgbClr val="861C1F"/>
          </a:solidFill>
          <a:ln w="12700">
            <a:solidFill>
              <a:srgbClr val="861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2670048" y="2364296"/>
            <a:ext cx="1316736" cy="33718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Aptos"/>
              </a:defRPr>
            </a:pPr>
            <a:r>
              <a:rPr sz="1600"/>
              <a:t>CF</a:t>
            </a:r>
            <a:endParaRPr sz="1600"/>
          </a:p>
        </p:txBody>
      </p:sp>
      <p:sp>
        <p:nvSpPr>
          <p:cNvPr id="26" name="Rounded Rectangle 25"/>
          <p:cNvSpPr/>
          <p:nvPr/>
        </p:nvSpPr>
        <p:spPr>
          <a:xfrm>
            <a:off x="4023360" y="2331720"/>
            <a:ext cx="1389888" cy="438912"/>
          </a:xfrm>
          <a:prstGeom prst="roundRect">
            <a:avLst/>
          </a:prstGeom>
          <a:solidFill>
            <a:srgbClr val="861C1F"/>
          </a:solidFill>
          <a:ln w="12700">
            <a:solidFill>
              <a:srgbClr val="861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4059936" y="2364296"/>
            <a:ext cx="1316736" cy="33718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Aptos"/>
              </a:defRPr>
            </a:pPr>
            <a:r>
              <a:rPr sz="1600"/>
              <a:t>ICL</a:t>
            </a:r>
            <a:endParaRPr sz="1600"/>
          </a:p>
        </p:txBody>
      </p:sp>
      <p:sp>
        <p:nvSpPr>
          <p:cNvPr id="28" name="Rounded Rectangle 27"/>
          <p:cNvSpPr/>
          <p:nvPr/>
        </p:nvSpPr>
        <p:spPr>
          <a:xfrm>
            <a:off x="5413248" y="2331720"/>
            <a:ext cx="1572768" cy="438912"/>
          </a:xfrm>
          <a:prstGeom prst="roundRect">
            <a:avLst/>
          </a:prstGeom>
          <a:solidFill>
            <a:srgbClr val="861C1F"/>
          </a:solidFill>
          <a:ln w="12700">
            <a:solidFill>
              <a:srgbClr val="861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5449824" y="2364296"/>
            <a:ext cx="1499616" cy="33718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Aptos"/>
              </a:defRPr>
            </a:pPr>
            <a:r>
              <a:rPr sz="1600"/>
              <a:t>Hybrid</a:t>
            </a:r>
            <a:endParaRPr sz="1600"/>
          </a:p>
        </p:txBody>
      </p:sp>
      <p:sp>
        <p:nvSpPr>
          <p:cNvPr id="30" name="Rectangle 29"/>
          <p:cNvSpPr/>
          <p:nvPr/>
        </p:nvSpPr>
        <p:spPr>
          <a:xfrm>
            <a:off x="658368" y="2788920"/>
            <a:ext cx="1975104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685800" y="2818448"/>
            <a:ext cx="19202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0">
                <a:solidFill>
                  <a:srgbClr val="35322F"/>
                </a:solidFill>
                <a:latin typeface="Aptos"/>
              </a:defRPr>
            </a:pPr>
            <a:r>
              <a:rPr sz="1400"/>
              <a:t>Accuracy</a:t>
            </a:r>
            <a:endParaRPr sz="1400"/>
          </a:p>
        </p:txBody>
      </p:sp>
      <p:sp>
        <p:nvSpPr>
          <p:cNvPr id="32" name="Rectangle 31"/>
          <p:cNvSpPr/>
          <p:nvPr/>
        </p:nvSpPr>
        <p:spPr>
          <a:xfrm>
            <a:off x="2633472" y="2788920"/>
            <a:ext cx="1389888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2660903" y="2818448"/>
            <a:ext cx="1335024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0">
                <a:solidFill>
                  <a:srgbClr val="35322F"/>
                </a:solidFill>
                <a:latin typeface="Aptos"/>
              </a:defRPr>
            </a:pPr>
            <a:r>
              <a:rPr sz="1400"/>
              <a:t>83.3±1.4</a:t>
            </a:r>
            <a:endParaRPr sz="1400"/>
          </a:p>
        </p:txBody>
      </p:sp>
      <p:sp>
        <p:nvSpPr>
          <p:cNvPr id="34" name="Rectangle 33"/>
          <p:cNvSpPr/>
          <p:nvPr/>
        </p:nvSpPr>
        <p:spPr>
          <a:xfrm>
            <a:off x="4023360" y="2788920"/>
            <a:ext cx="1389888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4050792" y="2818448"/>
            <a:ext cx="1335024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0">
                <a:solidFill>
                  <a:srgbClr val="35322F"/>
                </a:solidFill>
                <a:latin typeface="Aptos"/>
              </a:defRPr>
            </a:pPr>
            <a:r>
              <a:rPr sz="1400"/>
              <a:t>84.4±0.7</a:t>
            </a:r>
            <a:endParaRPr sz="1400"/>
          </a:p>
        </p:txBody>
      </p:sp>
      <p:sp>
        <p:nvSpPr>
          <p:cNvPr id="36" name="Rectangle 35"/>
          <p:cNvSpPr/>
          <p:nvPr/>
        </p:nvSpPr>
        <p:spPr>
          <a:xfrm>
            <a:off x="5413248" y="2788920"/>
            <a:ext cx="1572768" cy="411480"/>
          </a:xfrm>
          <a:prstGeom prst="rect">
            <a:avLst/>
          </a:prstGeom>
          <a:solidFill>
            <a:srgbClr val="F6EBD6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TextBox 36"/>
          <p:cNvSpPr txBox="1"/>
          <p:nvPr/>
        </p:nvSpPr>
        <p:spPr>
          <a:xfrm>
            <a:off x="5440680" y="2818448"/>
            <a:ext cx="1517904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1">
                <a:solidFill>
                  <a:srgbClr val="861C1F"/>
                </a:solidFill>
                <a:latin typeface="Aptos"/>
              </a:defRPr>
            </a:pPr>
            <a:r>
              <a:rPr sz="1400"/>
              <a:t>85.1±0.4</a:t>
            </a:r>
            <a:endParaRPr sz="1400"/>
          </a:p>
        </p:txBody>
      </p:sp>
      <p:sp>
        <p:nvSpPr>
          <p:cNvPr id="38" name="Rectangle 37"/>
          <p:cNvSpPr/>
          <p:nvPr/>
        </p:nvSpPr>
        <p:spPr>
          <a:xfrm>
            <a:off x="658368" y="3218687"/>
            <a:ext cx="1975104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TextBox 38"/>
          <p:cNvSpPr txBox="1"/>
          <p:nvPr/>
        </p:nvSpPr>
        <p:spPr>
          <a:xfrm>
            <a:off x="685800" y="3248215"/>
            <a:ext cx="19202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0">
                <a:solidFill>
                  <a:srgbClr val="35322F"/>
                </a:solidFill>
                <a:latin typeface="Aptos"/>
              </a:defRPr>
            </a:pPr>
            <a:r>
              <a:rPr sz="1400"/>
              <a:t>Precision</a:t>
            </a:r>
            <a:endParaRPr sz="1400"/>
          </a:p>
        </p:txBody>
      </p:sp>
      <p:sp>
        <p:nvSpPr>
          <p:cNvPr id="40" name="Rectangle 39"/>
          <p:cNvSpPr/>
          <p:nvPr/>
        </p:nvSpPr>
        <p:spPr>
          <a:xfrm>
            <a:off x="2633472" y="3218687"/>
            <a:ext cx="1389888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2660903" y="3248215"/>
            <a:ext cx="1335024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0">
                <a:solidFill>
                  <a:srgbClr val="35322F"/>
                </a:solidFill>
                <a:latin typeface="Aptos"/>
              </a:defRPr>
            </a:pPr>
            <a:r>
              <a:rPr sz="1400"/>
              <a:t>91.9±0.5</a:t>
            </a:r>
            <a:endParaRPr sz="1400"/>
          </a:p>
        </p:txBody>
      </p:sp>
      <p:sp>
        <p:nvSpPr>
          <p:cNvPr id="42" name="Rectangle 41"/>
          <p:cNvSpPr/>
          <p:nvPr/>
        </p:nvSpPr>
        <p:spPr>
          <a:xfrm>
            <a:off x="4023360" y="3218687"/>
            <a:ext cx="1389888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TextBox 42"/>
          <p:cNvSpPr txBox="1"/>
          <p:nvPr/>
        </p:nvSpPr>
        <p:spPr>
          <a:xfrm>
            <a:off x="4050792" y="3248215"/>
            <a:ext cx="1335024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0">
                <a:solidFill>
                  <a:srgbClr val="35322F"/>
                </a:solidFill>
                <a:latin typeface="Aptos"/>
              </a:defRPr>
            </a:pPr>
            <a:r>
              <a:rPr sz="1400"/>
              <a:t>91.5±1.1</a:t>
            </a:r>
            <a:endParaRPr sz="1400"/>
          </a:p>
        </p:txBody>
      </p:sp>
      <p:sp>
        <p:nvSpPr>
          <p:cNvPr id="44" name="Rectangle 43"/>
          <p:cNvSpPr/>
          <p:nvPr/>
        </p:nvSpPr>
        <p:spPr>
          <a:xfrm>
            <a:off x="5413248" y="3218687"/>
            <a:ext cx="1572768" cy="411480"/>
          </a:xfrm>
          <a:prstGeom prst="rect">
            <a:avLst/>
          </a:prstGeom>
          <a:solidFill>
            <a:srgbClr val="F6EBD6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TextBox 44"/>
          <p:cNvSpPr txBox="1"/>
          <p:nvPr/>
        </p:nvSpPr>
        <p:spPr>
          <a:xfrm>
            <a:off x="5440680" y="3248215"/>
            <a:ext cx="1517904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1">
                <a:solidFill>
                  <a:srgbClr val="861C1F"/>
                </a:solidFill>
                <a:latin typeface="Aptos"/>
              </a:defRPr>
            </a:pPr>
            <a:r>
              <a:rPr sz="1400"/>
              <a:t>92.8±0.7</a:t>
            </a:r>
            <a:endParaRPr sz="1400"/>
          </a:p>
        </p:txBody>
      </p:sp>
      <p:sp>
        <p:nvSpPr>
          <p:cNvPr id="46" name="Rectangle 45"/>
          <p:cNvSpPr/>
          <p:nvPr/>
        </p:nvSpPr>
        <p:spPr>
          <a:xfrm>
            <a:off x="658368" y="3648456"/>
            <a:ext cx="1975104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TextBox 46"/>
          <p:cNvSpPr txBox="1"/>
          <p:nvPr/>
        </p:nvSpPr>
        <p:spPr>
          <a:xfrm>
            <a:off x="685800" y="3677984"/>
            <a:ext cx="19202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0">
                <a:solidFill>
                  <a:srgbClr val="35322F"/>
                </a:solidFill>
                <a:latin typeface="Aptos"/>
              </a:defRPr>
            </a:pPr>
            <a:r>
              <a:rPr sz="1400"/>
              <a:t>Recall</a:t>
            </a:r>
            <a:endParaRPr sz="1400"/>
          </a:p>
        </p:txBody>
      </p:sp>
      <p:sp>
        <p:nvSpPr>
          <p:cNvPr id="48" name="Rectangle 47"/>
          <p:cNvSpPr/>
          <p:nvPr/>
        </p:nvSpPr>
        <p:spPr>
          <a:xfrm>
            <a:off x="2633472" y="3648456"/>
            <a:ext cx="1389888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9" name="TextBox 48"/>
          <p:cNvSpPr txBox="1"/>
          <p:nvPr/>
        </p:nvSpPr>
        <p:spPr>
          <a:xfrm>
            <a:off x="2660903" y="3677984"/>
            <a:ext cx="1335024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0">
                <a:solidFill>
                  <a:srgbClr val="35322F"/>
                </a:solidFill>
                <a:latin typeface="Aptos"/>
              </a:defRPr>
            </a:pPr>
            <a:r>
              <a:rPr sz="1400"/>
              <a:t>83.3±1.4</a:t>
            </a:r>
            <a:endParaRPr sz="1400"/>
          </a:p>
        </p:txBody>
      </p:sp>
      <p:sp>
        <p:nvSpPr>
          <p:cNvPr id="50" name="Rectangle 49"/>
          <p:cNvSpPr/>
          <p:nvPr/>
        </p:nvSpPr>
        <p:spPr>
          <a:xfrm>
            <a:off x="4023360" y="3648456"/>
            <a:ext cx="1389888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1" name="TextBox 50"/>
          <p:cNvSpPr txBox="1"/>
          <p:nvPr/>
        </p:nvSpPr>
        <p:spPr>
          <a:xfrm>
            <a:off x="4050792" y="3677984"/>
            <a:ext cx="1335024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0">
                <a:solidFill>
                  <a:srgbClr val="35322F"/>
                </a:solidFill>
                <a:latin typeface="Aptos"/>
              </a:defRPr>
            </a:pPr>
            <a:r>
              <a:rPr sz="1400"/>
              <a:t>85.4±1.5</a:t>
            </a:r>
            <a:endParaRPr sz="1400"/>
          </a:p>
        </p:txBody>
      </p:sp>
      <p:sp>
        <p:nvSpPr>
          <p:cNvPr id="52" name="Rectangle 51"/>
          <p:cNvSpPr/>
          <p:nvPr/>
        </p:nvSpPr>
        <p:spPr>
          <a:xfrm>
            <a:off x="5413248" y="3648456"/>
            <a:ext cx="1572768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3" name="TextBox 52"/>
          <p:cNvSpPr txBox="1"/>
          <p:nvPr/>
        </p:nvSpPr>
        <p:spPr>
          <a:xfrm>
            <a:off x="5440680" y="3677984"/>
            <a:ext cx="1517904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1">
                <a:solidFill>
                  <a:srgbClr val="861C1F"/>
                </a:solidFill>
                <a:latin typeface="Aptos"/>
              </a:defRPr>
            </a:pPr>
            <a:r>
              <a:rPr sz="1400"/>
              <a:t>85.2±1.2</a:t>
            </a:r>
            <a:endParaRPr sz="1400"/>
          </a:p>
        </p:txBody>
      </p:sp>
      <p:sp>
        <p:nvSpPr>
          <p:cNvPr id="54" name="Rectangle 53"/>
          <p:cNvSpPr/>
          <p:nvPr/>
        </p:nvSpPr>
        <p:spPr>
          <a:xfrm>
            <a:off x="658368" y="4078224"/>
            <a:ext cx="1975104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5" name="TextBox 54"/>
          <p:cNvSpPr txBox="1"/>
          <p:nvPr/>
        </p:nvSpPr>
        <p:spPr>
          <a:xfrm>
            <a:off x="685800" y="4107751"/>
            <a:ext cx="19202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0">
                <a:solidFill>
                  <a:srgbClr val="35322F"/>
                </a:solidFill>
                <a:latin typeface="Aptos"/>
              </a:defRPr>
            </a:pPr>
            <a:r>
              <a:rPr sz="1400"/>
              <a:t>F1</a:t>
            </a:r>
            <a:endParaRPr sz="1400"/>
          </a:p>
        </p:txBody>
      </p:sp>
      <p:sp>
        <p:nvSpPr>
          <p:cNvPr id="56" name="Rectangle 55"/>
          <p:cNvSpPr/>
          <p:nvPr/>
        </p:nvSpPr>
        <p:spPr>
          <a:xfrm>
            <a:off x="2633472" y="4078224"/>
            <a:ext cx="1389888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7" name="TextBox 56"/>
          <p:cNvSpPr txBox="1"/>
          <p:nvPr/>
        </p:nvSpPr>
        <p:spPr>
          <a:xfrm>
            <a:off x="2660903" y="4107751"/>
            <a:ext cx="1335024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0">
                <a:solidFill>
                  <a:srgbClr val="35322F"/>
                </a:solidFill>
                <a:latin typeface="Aptos"/>
              </a:defRPr>
            </a:pPr>
            <a:r>
              <a:rPr sz="1400"/>
              <a:t>87.4±1.0</a:t>
            </a:r>
            <a:endParaRPr sz="1400"/>
          </a:p>
        </p:txBody>
      </p:sp>
      <p:sp>
        <p:nvSpPr>
          <p:cNvPr id="58" name="Rectangle 57"/>
          <p:cNvSpPr/>
          <p:nvPr/>
        </p:nvSpPr>
        <p:spPr>
          <a:xfrm>
            <a:off x="4023360" y="4078224"/>
            <a:ext cx="1389888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9" name="TextBox 58"/>
          <p:cNvSpPr txBox="1"/>
          <p:nvPr/>
        </p:nvSpPr>
        <p:spPr>
          <a:xfrm>
            <a:off x="4050792" y="4107751"/>
            <a:ext cx="1335024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0">
                <a:solidFill>
                  <a:srgbClr val="35322F"/>
                </a:solidFill>
                <a:latin typeface="Aptos"/>
              </a:defRPr>
            </a:pPr>
            <a:r>
              <a:rPr sz="1400"/>
              <a:t>88.3±0.7</a:t>
            </a:r>
            <a:endParaRPr sz="1400"/>
          </a:p>
        </p:txBody>
      </p:sp>
      <p:sp>
        <p:nvSpPr>
          <p:cNvPr id="60" name="Rectangle 59"/>
          <p:cNvSpPr/>
          <p:nvPr/>
        </p:nvSpPr>
        <p:spPr>
          <a:xfrm>
            <a:off x="5413248" y="4078224"/>
            <a:ext cx="1572768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1" name="TextBox 60"/>
          <p:cNvSpPr txBox="1"/>
          <p:nvPr/>
        </p:nvSpPr>
        <p:spPr>
          <a:xfrm>
            <a:off x="5440680" y="4107751"/>
            <a:ext cx="1517904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1">
                <a:solidFill>
                  <a:srgbClr val="861C1F"/>
                </a:solidFill>
                <a:latin typeface="Aptos"/>
              </a:defRPr>
            </a:pPr>
            <a:r>
              <a:rPr sz="1400"/>
              <a:t>88.8±0.5</a:t>
            </a:r>
            <a:endParaRPr sz="1400"/>
          </a:p>
        </p:txBody>
      </p:sp>
      <p:sp>
        <p:nvSpPr>
          <p:cNvPr id="62" name="Rectangle 61"/>
          <p:cNvSpPr/>
          <p:nvPr/>
        </p:nvSpPr>
        <p:spPr>
          <a:xfrm>
            <a:off x="658368" y="4507992"/>
            <a:ext cx="1975104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3" name="TextBox 62"/>
          <p:cNvSpPr txBox="1"/>
          <p:nvPr/>
        </p:nvSpPr>
        <p:spPr>
          <a:xfrm>
            <a:off x="685800" y="4537519"/>
            <a:ext cx="19202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0">
                <a:solidFill>
                  <a:srgbClr val="35322F"/>
                </a:solidFill>
                <a:latin typeface="Aptos"/>
              </a:defRPr>
            </a:pPr>
            <a:r>
              <a:rPr sz="1400"/>
              <a:t>FPR</a:t>
            </a:r>
            <a:endParaRPr sz="1400"/>
          </a:p>
        </p:txBody>
      </p:sp>
      <p:sp>
        <p:nvSpPr>
          <p:cNvPr id="64" name="Rectangle 63"/>
          <p:cNvSpPr/>
          <p:nvPr/>
        </p:nvSpPr>
        <p:spPr>
          <a:xfrm>
            <a:off x="2633472" y="4507992"/>
            <a:ext cx="1389888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5" name="TextBox 64"/>
          <p:cNvSpPr txBox="1"/>
          <p:nvPr/>
        </p:nvSpPr>
        <p:spPr>
          <a:xfrm>
            <a:off x="2660903" y="4537519"/>
            <a:ext cx="1335024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0">
                <a:solidFill>
                  <a:srgbClr val="35322F"/>
                </a:solidFill>
                <a:latin typeface="Aptos"/>
              </a:defRPr>
            </a:pPr>
            <a:r>
              <a:rPr sz="1400"/>
              <a:t>16.7±1.5</a:t>
            </a:r>
            <a:endParaRPr sz="1400"/>
          </a:p>
        </p:txBody>
      </p:sp>
      <p:sp>
        <p:nvSpPr>
          <p:cNvPr id="66" name="Rectangle 65"/>
          <p:cNvSpPr/>
          <p:nvPr/>
        </p:nvSpPr>
        <p:spPr>
          <a:xfrm>
            <a:off x="4023360" y="4507992"/>
            <a:ext cx="1389888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7" name="TextBox 66"/>
          <p:cNvSpPr txBox="1"/>
          <p:nvPr/>
        </p:nvSpPr>
        <p:spPr>
          <a:xfrm>
            <a:off x="4050792" y="4537519"/>
            <a:ext cx="1335024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0">
                <a:solidFill>
                  <a:srgbClr val="35322F"/>
                </a:solidFill>
                <a:latin typeface="Aptos"/>
              </a:defRPr>
            </a:pPr>
            <a:r>
              <a:rPr sz="1400"/>
              <a:t>17.9±2.3</a:t>
            </a:r>
            <a:endParaRPr sz="1400"/>
          </a:p>
        </p:txBody>
      </p:sp>
      <p:sp>
        <p:nvSpPr>
          <p:cNvPr id="68" name="Rectangle 67"/>
          <p:cNvSpPr/>
          <p:nvPr/>
        </p:nvSpPr>
        <p:spPr>
          <a:xfrm>
            <a:off x="5413248" y="4507992"/>
            <a:ext cx="1572768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9" name="TextBox 68"/>
          <p:cNvSpPr txBox="1"/>
          <p:nvPr/>
        </p:nvSpPr>
        <p:spPr>
          <a:xfrm>
            <a:off x="5440680" y="4537519"/>
            <a:ext cx="1517904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1">
                <a:solidFill>
                  <a:srgbClr val="861C1F"/>
                </a:solidFill>
                <a:latin typeface="Aptos"/>
              </a:defRPr>
            </a:pPr>
            <a:r>
              <a:rPr sz="1400"/>
              <a:t>15.2±2.1</a:t>
            </a:r>
            <a:endParaRPr sz="1400"/>
          </a:p>
        </p:txBody>
      </p:sp>
      <p:sp>
        <p:nvSpPr>
          <p:cNvPr id="70" name="Rectangle 69"/>
          <p:cNvSpPr/>
          <p:nvPr/>
        </p:nvSpPr>
        <p:spPr>
          <a:xfrm>
            <a:off x="658368" y="4937759"/>
            <a:ext cx="1975104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1" name="TextBox 70"/>
          <p:cNvSpPr txBox="1"/>
          <p:nvPr/>
        </p:nvSpPr>
        <p:spPr>
          <a:xfrm>
            <a:off x="685800" y="4967287"/>
            <a:ext cx="19202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0">
                <a:solidFill>
                  <a:srgbClr val="35322F"/>
                </a:solidFill>
                <a:latin typeface="Aptos"/>
              </a:defRPr>
            </a:pPr>
            <a:r>
              <a:rPr sz="1400"/>
              <a:t>FNR</a:t>
            </a:r>
            <a:endParaRPr sz="1400"/>
          </a:p>
        </p:txBody>
      </p:sp>
      <p:sp>
        <p:nvSpPr>
          <p:cNvPr id="72" name="Rectangle 71"/>
          <p:cNvSpPr/>
          <p:nvPr/>
        </p:nvSpPr>
        <p:spPr>
          <a:xfrm>
            <a:off x="2633472" y="4937759"/>
            <a:ext cx="1389888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3" name="TextBox 72"/>
          <p:cNvSpPr txBox="1"/>
          <p:nvPr/>
        </p:nvSpPr>
        <p:spPr>
          <a:xfrm>
            <a:off x="2660903" y="4967287"/>
            <a:ext cx="1335024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0">
                <a:solidFill>
                  <a:srgbClr val="35322F"/>
                </a:solidFill>
                <a:latin typeface="Aptos"/>
              </a:defRPr>
            </a:pPr>
            <a:r>
              <a:rPr sz="1400"/>
              <a:t>16.7±1.4</a:t>
            </a:r>
            <a:endParaRPr sz="1400"/>
          </a:p>
        </p:txBody>
      </p:sp>
      <p:sp>
        <p:nvSpPr>
          <p:cNvPr id="74" name="Rectangle 73"/>
          <p:cNvSpPr/>
          <p:nvPr/>
        </p:nvSpPr>
        <p:spPr>
          <a:xfrm>
            <a:off x="4023360" y="4937759"/>
            <a:ext cx="1389888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5" name="TextBox 74"/>
          <p:cNvSpPr txBox="1"/>
          <p:nvPr/>
        </p:nvSpPr>
        <p:spPr>
          <a:xfrm>
            <a:off x="4050792" y="4967287"/>
            <a:ext cx="1335024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0">
                <a:solidFill>
                  <a:srgbClr val="35322F"/>
                </a:solidFill>
                <a:latin typeface="Aptos"/>
              </a:defRPr>
            </a:pPr>
            <a:r>
              <a:rPr sz="1400"/>
              <a:t>14.6±1.5</a:t>
            </a:r>
            <a:endParaRPr sz="1400"/>
          </a:p>
        </p:txBody>
      </p:sp>
      <p:sp>
        <p:nvSpPr>
          <p:cNvPr id="76" name="Rectangle 75"/>
          <p:cNvSpPr/>
          <p:nvPr/>
        </p:nvSpPr>
        <p:spPr>
          <a:xfrm>
            <a:off x="5413248" y="4937759"/>
            <a:ext cx="1572768" cy="411480"/>
          </a:xfrm>
          <a:prstGeom prst="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7" name="TextBox 76"/>
          <p:cNvSpPr txBox="1"/>
          <p:nvPr/>
        </p:nvSpPr>
        <p:spPr>
          <a:xfrm>
            <a:off x="5440680" y="4967287"/>
            <a:ext cx="1517904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20" b="1">
                <a:solidFill>
                  <a:srgbClr val="861C1F"/>
                </a:solidFill>
                <a:latin typeface="Aptos"/>
              </a:defRPr>
            </a:pPr>
            <a:r>
              <a:rPr sz="1400"/>
              <a:t>14.8±1.2</a:t>
            </a:r>
            <a:endParaRPr sz="1400"/>
          </a:p>
        </p:txBody>
      </p:sp>
      <p:sp>
        <p:nvSpPr>
          <p:cNvPr id="78" name="TextBox 77"/>
          <p:cNvSpPr txBox="1"/>
          <p:nvPr/>
        </p:nvSpPr>
        <p:spPr>
          <a:xfrm>
            <a:off x="749808" y="5468112"/>
            <a:ext cx="3291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6B6560"/>
                </a:solidFill>
                <a:latin typeface="Aptos"/>
              </a:defRPr>
            </a:pPr>
            <a:r>
              <a:t>Table 5：full coverage（%）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699248" y="2414016"/>
            <a:ext cx="1600200" cy="1024128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808975" y="2487168"/>
            <a:ext cx="1380744" cy="49158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5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85.1%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09230" y="2946400"/>
            <a:ext cx="1490345" cy="401955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Hybrid 全覆盖准确率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473184" y="2414016"/>
            <a:ext cx="1600200" cy="1024128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582911" y="2487168"/>
            <a:ext cx="1380744" cy="49158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5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92.8%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82911" y="2946562"/>
            <a:ext cx="1380744" cy="389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Hybrid Precision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699248" y="3657600"/>
            <a:ext cx="1600200" cy="1024128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808975" y="3730752"/>
            <a:ext cx="1380744" cy="49158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5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94.4%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99375" y="4190365"/>
            <a:ext cx="1663700" cy="38735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Hybrid 高置信准确率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473184" y="3657600"/>
            <a:ext cx="1600200" cy="1024128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582911" y="3730752"/>
            <a:ext cx="1380744" cy="49158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5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25.9%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582911" y="4190146"/>
            <a:ext cx="1380744" cy="389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t>对应 Coverage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552944" y="4956048"/>
            <a:ext cx="3712463" cy="786384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552690" y="5194935"/>
            <a:ext cx="3887470" cy="27305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lnSpc>
                <a:spcPct val="120000"/>
              </a:lnSpc>
              <a:defRPr sz="126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400"/>
              <a:t>94.4% </a:t>
            </a:r>
            <a:r>
              <a:rPr lang="zh-CN" sz="1400"/>
              <a:t>不是</a:t>
            </a:r>
            <a:r>
              <a:rPr sz="1400"/>
              <a:t>“系统总体准确率”：它只覆盖 25.9% 请求，剩下 74.1% 仍需人工处理。</a:t>
            </a:r>
            <a:endParaRPr sz="1400"/>
          </a:p>
        </p:txBody>
      </p:sp>
      <p:sp>
        <p:nvSpPr>
          <p:cNvPr id="95" name="TextBox 20"/>
          <p:cNvSpPr txBox="1"/>
          <p:nvPr/>
        </p:nvSpPr>
        <p:spPr>
          <a:xfrm>
            <a:off x="10954385" y="6346000"/>
            <a:ext cx="10058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 sz="1400"/>
              <a:t>11/17</a:t>
            </a:r>
            <a:endParaRPr 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822960"/>
            <a:ext cx="9235440" cy="1143000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73568" y="822960"/>
            <a:ext cx="1901952" cy="1143000"/>
          </a:xfrm>
          <a:prstGeom prst="rect">
            <a:avLst/>
          </a:prstGeom>
          <a:solidFill>
            <a:srgbClr val="E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987552"/>
            <a:ext cx="731520" cy="8046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024128"/>
            <a:ext cx="676656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987552"/>
            <a:ext cx="6583680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准确率 vs 覆盖率：自动化越激进，越需要谨慎</a:t>
            </a:r>
          </a:p>
        </p:txBody>
      </p:sp>
      <p:sp>
        <p:nvSpPr>
          <p:cNvPr id="8" name="Rectangle 7"/>
          <p:cNvSpPr/>
          <p:nvPr/>
        </p:nvSpPr>
        <p:spPr>
          <a:xfrm>
            <a:off x="1572768" y="1783080"/>
            <a:ext cx="4480560" cy="18288"/>
          </a:xfrm>
          <a:prstGeom prst="rect">
            <a:avLst/>
          </a:prstGeom>
          <a:solidFill>
            <a:srgbClr val="C6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236208"/>
            <a:ext cx="12191365" cy="621792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研究背景</a:t>
            </a:r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3063239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3319272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用户研究</a:t>
            </a:r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4416552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672583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方法设计</a:t>
            </a:r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5769864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6" name="Rounded Rectangle 15"/>
          <p:cNvSpPr/>
          <p:nvPr/>
        </p:nvSpPr>
        <p:spPr>
          <a:xfrm>
            <a:off x="5934456" y="6345936"/>
            <a:ext cx="1188720" cy="3474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5980176" y="6359017"/>
            <a:ext cx="109728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实验结果</a:t>
            </a:r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7123176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7379208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局限思考</a:t>
            </a:r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8476488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873252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总结讨论</a:t>
            </a:r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621792" y="2258568"/>
            <a:ext cx="7406640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ig6_confidence.png"/>
          <p:cNvPicPr>
            <a:picLocks noChangeAspect="1"/>
          </p:cNvPicPr>
          <p:nvPr/>
        </p:nvPicPr>
        <p:blipFill>
          <a:blip r:embed="rId1"/>
          <a:srcRect l="2981" t="12805" b="6761"/>
          <a:stretch>
            <a:fillRect/>
          </a:stretch>
        </p:blipFill>
        <p:spPr>
          <a:xfrm>
            <a:off x="773430" y="2451735"/>
            <a:ext cx="7102475" cy="303339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266175" y="2258568"/>
            <a:ext cx="3127248" cy="1335024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66175" y="2258568"/>
            <a:ext cx="3127248" cy="411480"/>
          </a:xfrm>
          <a:prstGeom prst="round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3" y="2286000"/>
            <a:ext cx="2907791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①  高置信 CF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9055" y="2807208"/>
            <a:ext cx="2798064" cy="30670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24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• 95.8% accuracy</a:t>
            </a:r>
            <a:endParaRPr sz="1400"/>
          </a:p>
        </p:txBody>
      </p:sp>
      <p:sp>
        <p:nvSpPr>
          <p:cNvPr id="28" name="TextBox 27"/>
          <p:cNvSpPr txBox="1"/>
          <p:nvPr/>
        </p:nvSpPr>
        <p:spPr>
          <a:xfrm>
            <a:off x="8449055" y="3241675"/>
            <a:ext cx="2798064" cy="30670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24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• 27.3% coverage</a:t>
            </a:r>
            <a:endParaRPr sz="1400"/>
          </a:p>
        </p:txBody>
      </p:sp>
      <p:sp>
        <p:nvSpPr>
          <p:cNvPr id="29" name="Rounded Rectangle 28"/>
          <p:cNvSpPr/>
          <p:nvPr/>
        </p:nvSpPr>
        <p:spPr>
          <a:xfrm>
            <a:off x="8266175" y="3712463"/>
            <a:ext cx="3127248" cy="1335024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66175" y="3712463"/>
            <a:ext cx="3127248" cy="411480"/>
          </a:xfrm>
          <a:prstGeom prst="round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75903" y="3739896"/>
            <a:ext cx="2907791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②  高置信 Hybrid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5" y="4261103"/>
            <a:ext cx="2798064" cy="30670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24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• 94.4% accuracy</a:t>
            </a:r>
            <a:endParaRPr sz="1400"/>
          </a:p>
        </p:txBody>
      </p:sp>
      <p:sp>
        <p:nvSpPr>
          <p:cNvPr id="33" name="TextBox 32"/>
          <p:cNvSpPr txBox="1"/>
          <p:nvPr/>
        </p:nvSpPr>
        <p:spPr>
          <a:xfrm>
            <a:off x="8449055" y="4694935"/>
            <a:ext cx="2798064" cy="30670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24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• 25.9% coverage</a:t>
            </a:r>
            <a:endParaRPr sz="1400"/>
          </a:p>
        </p:txBody>
      </p:sp>
      <p:sp>
        <p:nvSpPr>
          <p:cNvPr id="34" name="Rounded Rectangle 33"/>
          <p:cNvSpPr/>
          <p:nvPr/>
        </p:nvSpPr>
        <p:spPr>
          <a:xfrm>
            <a:off x="8266175" y="5175504"/>
            <a:ext cx="3127248" cy="566928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8412480" y="5158423"/>
            <a:ext cx="2834640" cy="56451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  <a:defRPr sz="125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400"/>
              <a:t>工程含义：模型应当允许 abstain，而不是被迫对所有请求做决定。</a:t>
            </a:r>
            <a:endParaRPr sz="1400"/>
          </a:p>
        </p:txBody>
      </p:sp>
      <p:sp>
        <p:nvSpPr>
          <p:cNvPr id="36" name="TextBox 35"/>
          <p:cNvSpPr txBox="1"/>
          <p:nvPr/>
        </p:nvSpPr>
        <p:spPr>
          <a:xfrm>
            <a:off x="658368" y="5971032"/>
            <a:ext cx="31089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6B6560"/>
                </a:solidFill>
                <a:latin typeface="微软雅黑" panose="020B0503020204020204" charset="-122"/>
              </a:defRPr>
            </a:pPr>
            <a:r>
              <a:t>来源：论文 Fig.6 / Sec.5.2.2。</a:t>
            </a:r>
          </a:p>
        </p:txBody>
      </p:sp>
      <p:sp>
        <p:nvSpPr>
          <p:cNvPr id="53" name="TextBox 20"/>
          <p:cNvSpPr txBox="1"/>
          <p:nvPr/>
        </p:nvSpPr>
        <p:spPr>
          <a:xfrm>
            <a:off x="10954385" y="6346000"/>
            <a:ext cx="10058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 sz="1400"/>
              <a:t>12/17</a:t>
            </a:r>
            <a:endParaRPr 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22960"/>
            <a:ext cx="9235440" cy="1143000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73568" y="822960"/>
            <a:ext cx="1901952" cy="1143000"/>
          </a:xfrm>
          <a:prstGeom prst="rect">
            <a:avLst/>
          </a:prstGeom>
          <a:solidFill>
            <a:srgbClr val="E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987552"/>
            <a:ext cx="731520" cy="8046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024128"/>
            <a:ext cx="676656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987552"/>
            <a:ext cx="6583680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Few-shot 个性化：只需少量历史，性能提升很快</a:t>
            </a:r>
          </a:p>
        </p:txBody>
      </p:sp>
      <p:sp>
        <p:nvSpPr>
          <p:cNvPr id="8" name="Rectangle 7"/>
          <p:cNvSpPr/>
          <p:nvPr/>
        </p:nvSpPr>
        <p:spPr>
          <a:xfrm>
            <a:off x="1572768" y="1783080"/>
            <a:ext cx="4480560" cy="18288"/>
          </a:xfrm>
          <a:prstGeom prst="rect">
            <a:avLst/>
          </a:prstGeom>
          <a:solidFill>
            <a:srgbClr val="C6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236208"/>
            <a:ext cx="12191365" cy="621792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研究背景</a:t>
            </a:r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3063239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3319272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用户研究</a:t>
            </a:r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4416552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672583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方法设计</a:t>
            </a:r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5769864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6" name="Rounded Rectangle 15"/>
          <p:cNvSpPr/>
          <p:nvPr/>
        </p:nvSpPr>
        <p:spPr>
          <a:xfrm>
            <a:off x="5934456" y="6345936"/>
            <a:ext cx="1188720" cy="3474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5980176" y="6359017"/>
            <a:ext cx="109728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实验结果</a:t>
            </a:r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7123176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7379208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局限思考</a:t>
            </a:r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8476488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873252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总结讨论</a:t>
            </a:r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658368" y="2331720"/>
            <a:ext cx="486460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able6_history.png"/>
          <p:cNvPicPr>
            <a:picLocks noChangeAspect="1"/>
          </p:cNvPicPr>
          <p:nvPr/>
        </p:nvPicPr>
        <p:blipFill>
          <a:blip r:embed="rId2"/>
          <a:srcRect l="8012" b="14369"/>
          <a:stretch>
            <a:fillRect/>
          </a:stretch>
        </p:blipFill>
        <p:spPr>
          <a:xfrm>
            <a:off x="1248410" y="2368550"/>
            <a:ext cx="3434715" cy="176593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760720" y="2331720"/>
            <a:ext cx="5559552" cy="3310128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487168"/>
            <a:ext cx="5010912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Accuracy 随个人历史样本增加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6752" y="2989453"/>
            <a:ext cx="749808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defRPr sz="11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0 条</a:t>
            </a:r>
            <a:endParaRPr sz="1200"/>
          </a:p>
        </p:txBody>
      </p:sp>
      <p:sp>
        <p:nvSpPr>
          <p:cNvPr id="27" name="Rectangle 26"/>
          <p:cNvSpPr/>
          <p:nvPr/>
        </p:nvSpPr>
        <p:spPr>
          <a:xfrm>
            <a:off x="6876288" y="3035808"/>
            <a:ext cx="3474720" cy="219456"/>
          </a:xfrm>
          <a:prstGeom prst="rect">
            <a:avLst/>
          </a:prstGeom>
          <a:solidFill>
            <a:srgbClr val="EEEAE4"/>
          </a:solidFill>
          <a:ln w="12700">
            <a:solidFill>
              <a:srgbClr val="EE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Rectangle 27"/>
          <p:cNvSpPr/>
          <p:nvPr/>
        </p:nvSpPr>
        <p:spPr>
          <a:xfrm>
            <a:off x="6876288" y="3035808"/>
            <a:ext cx="2324587" cy="219456"/>
          </a:xfrm>
          <a:prstGeom prst="rect">
            <a:avLst/>
          </a:prstGeom>
          <a:solidFill>
            <a:srgbClr val="C6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/>
          <p:cNvSpPr txBox="1"/>
          <p:nvPr/>
        </p:nvSpPr>
        <p:spPr>
          <a:xfrm>
            <a:off x="10451592" y="2989453"/>
            <a:ext cx="603504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861C1F"/>
                </a:solidFill>
                <a:latin typeface="Aptos"/>
              </a:defRPr>
            </a:pPr>
            <a:r>
              <a:rPr sz="1200"/>
              <a:t>66.9%</a:t>
            </a:r>
            <a:endParaRPr sz="1200"/>
          </a:p>
        </p:txBody>
      </p:sp>
      <p:sp>
        <p:nvSpPr>
          <p:cNvPr id="30" name="TextBox 29"/>
          <p:cNvSpPr txBox="1"/>
          <p:nvPr/>
        </p:nvSpPr>
        <p:spPr>
          <a:xfrm>
            <a:off x="6016752" y="3446653"/>
            <a:ext cx="749808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defRPr sz="11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1–4 条</a:t>
            </a:r>
            <a:endParaRPr sz="1200"/>
          </a:p>
        </p:txBody>
      </p:sp>
      <p:sp>
        <p:nvSpPr>
          <p:cNvPr id="31" name="Rectangle 30"/>
          <p:cNvSpPr/>
          <p:nvPr/>
        </p:nvSpPr>
        <p:spPr>
          <a:xfrm>
            <a:off x="6876288" y="3493008"/>
            <a:ext cx="3474720" cy="219456"/>
          </a:xfrm>
          <a:prstGeom prst="rect">
            <a:avLst/>
          </a:prstGeom>
          <a:solidFill>
            <a:srgbClr val="EEEAE4"/>
          </a:solidFill>
          <a:ln w="12700">
            <a:solidFill>
              <a:srgbClr val="EE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Rectangle 31"/>
          <p:cNvSpPr/>
          <p:nvPr/>
        </p:nvSpPr>
        <p:spPr>
          <a:xfrm>
            <a:off x="6876288" y="3493008"/>
            <a:ext cx="2699857" cy="219456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10451592" y="3446653"/>
            <a:ext cx="603504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861C1F"/>
                </a:solidFill>
                <a:latin typeface="Aptos"/>
              </a:defRPr>
            </a:pPr>
            <a:r>
              <a:rPr sz="1200"/>
              <a:t>77.7%</a:t>
            </a:r>
            <a:endParaRPr sz="1200"/>
          </a:p>
        </p:txBody>
      </p:sp>
      <p:sp>
        <p:nvSpPr>
          <p:cNvPr id="34" name="TextBox 33"/>
          <p:cNvSpPr txBox="1"/>
          <p:nvPr/>
        </p:nvSpPr>
        <p:spPr>
          <a:xfrm>
            <a:off x="6016752" y="3903852"/>
            <a:ext cx="749808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defRPr sz="11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2–8 条</a:t>
            </a:r>
            <a:endParaRPr sz="1200"/>
          </a:p>
        </p:txBody>
      </p:sp>
      <p:sp>
        <p:nvSpPr>
          <p:cNvPr id="35" name="Rectangle 34"/>
          <p:cNvSpPr/>
          <p:nvPr/>
        </p:nvSpPr>
        <p:spPr>
          <a:xfrm>
            <a:off x="6876288" y="3950207"/>
            <a:ext cx="3474720" cy="219456"/>
          </a:xfrm>
          <a:prstGeom prst="rect">
            <a:avLst/>
          </a:prstGeom>
          <a:solidFill>
            <a:srgbClr val="EEEAE4"/>
          </a:solidFill>
          <a:ln w="12700">
            <a:solidFill>
              <a:srgbClr val="EE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Rectangle 35"/>
          <p:cNvSpPr/>
          <p:nvPr/>
        </p:nvSpPr>
        <p:spPr>
          <a:xfrm>
            <a:off x="6876288" y="3950207"/>
            <a:ext cx="2852745" cy="219456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7" name="TextBox 36"/>
          <p:cNvSpPr txBox="1"/>
          <p:nvPr/>
        </p:nvSpPr>
        <p:spPr>
          <a:xfrm>
            <a:off x="10451592" y="3903852"/>
            <a:ext cx="603504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861C1F"/>
                </a:solidFill>
                <a:latin typeface="Aptos"/>
              </a:defRPr>
            </a:pPr>
            <a:r>
              <a:rPr sz="1200"/>
              <a:t>82.1%</a:t>
            </a:r>
            <a:endParaRPr sz="1200"/>
          </a:p>
        </p:txBody>
      </p:sp>
      <p:sp>
        <p:nvSpPr>
          <p:cNvPr id="38" name="TextBox 37"/>
          <p:cNvSpPr txBox="1"/>
          <p:nvPr/>
        </p:nvSpPr>
        <p:spPr>
          <a:xfrm>
            <a:off x="6016752" y="4361052"/>
            <a:ext cx="749808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defRPr sz="11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3–12 条</a:t>
            </a:r>
            <a:endParaRPr sz="1200"/>
          </a:p>
        </p:txBody>
      </p:sp>
      <p:sp>
        <p:nvSpPr>
          <p:cNvPr id="39" name="Rectangle 38"/>
          <p:cNvSpPr/>
          <p:nvPr/>
        </p:nvSpPr>
        <p:spPr>
          <a:xfrm>
            <a:off x="6876288" y="4407407"/>
            <a:ext cx="3474720" cy="219456"/>
          </a:xfrm>
          <a:prstGeom prst="rect">
            <a:avLst/>
          </a:prstGeom>
          <a:solidFill>
            <a:srgbClr val="EEEAE4"/>
          </a:solidFill>
          <a:ln w="12700">
            <a:solidFill>
              <a:srgbClr val="EE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0" name="Rectangle 39"/>
          <p:cNvSpPr/>
          <p:nvPr/>
        </p:nvSpPr>
        <p:spPr>
          <a:xfrm>
            <a:off x="6876288" y="4407407"/>
            <a:ext cx="2908340" cy="219456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TextBox 40"/>
          <p:cNvSpPr txBox="1"/>
          <p:nvPr/>
        </p:nvSpPr>
        <p:spPr>
          <a:xfrm>
            <a:off x="10451592" y="4361052"/>
            <a:ext cx="603504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861C1F"/>
                </a:solidFill>
                <a:latin typeface="Aptos"/>
              </a:defRPr>
            </a:pPr>
            <a:r>
              <a:rPr sz="1200"/>
              <a:t>83.7%</a:t>
            </a:r>
            <a:endParaRPr sz="1200"/>
          </a:p>
        </p:txBody>
      </p:sp>
      <p:sp>
        <p:nvSpPr>
          <p:cNvPr id="42" name="TextBox 41"/>
          <p:cNvSpPr txBox="1"/>
          <p:nvPr/>
        </p:nvSpPr>
        <p:spPr>
          <a:xfrm>
            <a:off x="6016752" y="4818252"/>
            <a:ext cx="749808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defRPr sz="11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4–16 条</a:t>
            </a:r>
            <a:endParaRPr sz="1200"/>
          </a:p>
        </p:txBody>
      </p:sp>
      <p:sp>
        <p:nvSpPr>
          <p:cNvPr id="43" name="Rectangle 42"/>
          <p:cNvSpPr/>
          <p:nvPr/>
        </p:nvSpPr>
        <p:spPr>
          <a:xfrm>
            <a:off x="6876288" y="4864607"/>
            <a:ext cx="3474720" cy="219456"/>
          </a:xfrm>
          <a:prstGeom prst="rect">
            <a:avLst/>
          </a:prstGeom>
          <a:solidFill>
            <a:srgbClr val="EEEAE4"/>
          </a:solidFill>
          <a:ln w="12700">
            <a:solidFill>
              <a:srgbClr val="EE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4" name="Rectangle 43"/>
          <p:cNvSpPr/>
          <p:nvPr/>
        </p:nvSpPr>
        <p:spPr>
          <a:xfrm>
            <a:off x="6876288" y="4864607"/>
            <a:ext cx="2956986" cy="219456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5" name="TextBox 44"/>
          <p:cNvSpPr txBox="1"/>
          <p:nvPr/>
        </p:nvSpPr>
        <p:spPr>
          <a:xfrm>
            <a:off x="10451592" y="4818252"/>
            <a:ext cx="603504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861C1F"/>
                </a:solidFill>
                <a:latin typeface="Aptos"/>
              </a:defRPr>
            </a:pPr>
            <a:r>
              <a:rPr sz="1200"/>
              <a:t>85.1%</a:t>
            </a:r>
            <a:endParaRPr sz="1200"/>
          </a:p>
        </p:txBody>
      </p:sp>
      <p:sp>
        <p:nvSpPr>
          <p:cNvPr id="46" name="Rounded Rectangle 45"/>
          <p:cNvSpPr/>
          <p:nvPr/>
        </p:nvSpPr>
        <p:spPr>
          <a:xfrm>
            <a:off x="841248" y="4462272"/>
            <a:ext cx="4498848" cy="1188720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560" y="4590288"/>
            <a:ext cx="4078224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1–4 条历史：66.9% → 77.7%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" y="5010912"/>
            <a:ext cx="4023360" cy="5645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0000"/>
              </a:lnSpc>
              <a:defRPr sz="128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提升 10.8 个百分点；真正有价值的是“少量个性化历史带来的快速增益”。</a:t>
            </a:r>
            <a:endParaRPr sz="1400"/>
          </a:p>
        </p:txBody>
      </p:sp>
      <p:sp>
        <p:nvSpPr>
          <p:cNvPr id="53" name="TextBox 20"/>
          <p:cNvSpPr txBox="1"/>
          <p:nvPr/>
        </p:nvSpPr>
        <p:spPr>
          <a:xfrm>
            <a:off x="10954385" y="6346000"/>
            <a:ext cx="10058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 sz="1400"/>
              <a:t>13/17</a:t>
            </a:r>
            <a:endParaRPr lang="en-US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22960"/>
            <a:ext cx="9235440" cy="1143000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73568" y="822960"/>
            <a:ext cx="1901952" cy="1143000"/>
          </a:xfrm>
          <a:prstGeom prst="rect">
            <a:avLst/>
          </a:prstGeom>
          <a:solidFill>
            <a:srgbClr val="E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987552"/>
            <a:ext cx="731520" cy="8046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024128"/>
            <a:ext cx="676656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987552"/>
            <a:ext cx="6583680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模型在哪些地方最容易失效？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1572768" y="1783080"/>
            <a:ext cx="4480560" cy="18288"/>
          </a:xfrm>
          <a:prstGeom prst="rect">
            <a:avLst/>
          </a:prstGeom>
          <a:solidFill>
            <a:srgbClr val="C6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236208"/>
            <a:ext cx="12191365" cy="621792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研究背景</a:t>
            </a:r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3063239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3319272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用户研究</a:t>
            </a:r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4416552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672583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方法设计</a:t>
            </a:r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5769864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6" name="Rounded Rectangle 15"/>
          <p:cNvSpPr/>
          <p:nvPr/>
        </p:nvSpPr>
        <p:spPr>
          <a:xfrm>
            <a:off x="5934456" y="6345936"/>
            <a:ext cx="1188720" cy="3474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5980176" y="6359017"/>
            <a:ext cx="109728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实验结果</a:t>
            </a:r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7123176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7379208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局限思考</a:t>
            </a:r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8476488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873252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总结讨论</a:t>
            </a:r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621792" y="2258568"/>
            <a:ext cx="5687568" cy="3529584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2414016"/>
            <a:ext cx="517550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不同数据类型的预测难度差异很大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2916301"/>
            <a:ext cx="1874519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defRPr sz="1070" b="0">
                <a:solidFill>
                  <a:srgbClr val="35322F"/>
                </a:solidFill>
                <a:latin typeface="Aptos"/>
              </a:defRPr>
            </a:pPr>
            <a:r>
              <a:rPr sz="1200"/>
              <a:t>Fitness Goal</a:t>
            </a:r>
            <a:endParaRPr sz="1200"/>
          </a:p>
        </p:txBody>
      </p:sp>
      <p:sp>
        <p:nvSpPr>
          <p:cNvPr id="25" name="Rectangle 24"/>
          <p:cNvSpPr/>
          <p:nvPr/>
        </p:nvSpPr>
        <p:spPr>
          <a:xfrm>
            <a:off x="2880360" y="2962656"/>
            <a:ext cx="2432304" cy="201168"/>
          </a:xfrm>
          <a:prstGeom prst="rect">
            <a:avLst/>
          </a:prstGeom>
          <a:solidFill>
            <a:srgbClr val="EEEAE4"/>
          </a:solidFill>
          <a:ln w="12700">
            <a:solidFill>
              <a:srgbClr val="EE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Rectangle 25"/>
          <p:cNvSpPr/>
          <p:nvPr/>
        </p:nvSpPr>
        <p:spPr>
          <a:xfrm>
            <a:off x="2880360" y="2962656"/>
            <a:ext cx="2432304" cy="201168"/>
          </a:xfrm>
          <a:prstGeom prst="rect">
            <a:avLst/>
          </a:prstGeom>
          <a:solidFill>
            <a:srgbClr val="4C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5404104" y="2823909"/>
            <a:ext cx="566928" cy="4603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1070" b="1">
                <a:solidFill>
                  <a:srgbClr val="4C7A59"/>
                </a:solidFill>
                <a:latin typeface="Aptos"/>
              </a:defRPr>
            </a:pPr>
            <a:r>
              <a:rPr sz="1200"/>
              <a:t>100.0%</a:t>
            </a:r>
            <a:endParaRPr sz="1200"/>
          </a:p>
        </p:txBody>
      </p:sp>
      <p:sp>
        <p:nvSpPr>
          <p:cNvPr id="28" name="TextBox 27"/>
          <p:cNvSpPr txBox="1"/>
          <p:nvPr/>
        </p:nvSpPr>
        <p:spPr>
          <a:xfrm>
            <a:off x="877824" y="3419221"/>
            <a:ext cx="1874519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defRPr sz="1070" b="0">
                <a:solidFill>
                  <a:srgbClr val="35322F"/>
                </a:solidFill>
                <a:latin typeface="Aptos"/>
              </a:defRPr>
            </a:pPr>
            <a:r>
              <a:rPr sz="1200"/>
              <a:t>Relationship Preferences</a:t>
            </a:r>
            <a:endParaRPr sz="1200"/>
          </a:p>
        </p:txBody>
      </p:sp>
      <p:sp>
        <p:nvSpPr>
          <p:cNvPr id="29" name="Rectangle 28"/>
          <p:cNvSpPr/>
          <p:nvPr/>
        </p:nvSpPr>
        <p:spPr>
          <a:xfrm>
            <a:off x="2880360" y="3465576"/>
            <a:ext cx="2432304" cy="201168"/>
          </a:xfrm>
          <a:prstGeom prst="rect">
            <a:avLst/>
          </a:prstGeom>
          <a:solidFill>
            <a:srgbClr val="EEEAE4"/>
          </a:solidFill>
          <a:ln w="12700">
            <a:solidFill>
              <a:srgbClr val="EE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Rectangle 29"/>
          <p:cNvSpPr/>
          <p:nvPr/>
        </p:nvSpPr>
        <p:spPr>
          <a:xfrm>
            <a:off x="2880360" y="3465576"/>
            <a:ext cx="2386090" cy="201168"/>
          </a:xfrm>
          <a:prstGeom prst="rect">
            <a:avLst/>
          </a:prstGeom>
          <a:solidFill>
            <a:srgbClr val="4C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5404104" y="3419221"/>
            <a:ext cx="566928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1070" b="1">
                <a:solidFill>
                  <a:srgbClr val="4C7A59"/>
                </a:solidFill>
                <a:latin typeface="Aptos"/>
              </a:defRPr>
            </a:pPr>
            <a:r>
              <a:rPr sz="1200"/>
              <a:t>98.1%</a:t>
            </a:r>
            <a:endParaRPr sz="1200"/>
          </a:p>
        </p:txBody>
      </p:sp>
      <p:sp>
        <p:nvSpPr>
          <p:cNvPr id="32" name="TextBox 31"/>
          <p:cNvSpPr txBox="1"/>
          <p:nvPr/>
        </p:nvSpPr>
        <p:spPr>
          <a:xfrm>
            <a:off x="877824" y="3922141"/>
            <a:ext cx="1874519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defRPr sz="1070" b="0">
                <a:solidFill>
                  <a:srgbClr val="35322F"/>
                </a:solidFill>
                <a:latin typeface="Aptos"/>
              </a:defRPr>
            </a:pPr>
            <a:r>
              <a:rPr sz="1200"/>
              <a:t>Payment Method Details</a:t>
            </a:r>
            <a:endParaRPr sz="1200"/>
          </a:p>
        </p:txBody>
      </p:sp>
      <p:sp>
        <p:nvSpPr>
          <p:cNvPr id="33" name="Rectangle 32"/>
          <p:cNvSpPr/>
          <p:nvPr/>
        </p:nvSpPr>
        <p:spPr>
          <a:xfrm>
            <a:off x="2880360" y="3968496"/>
            <a:ext cx="2432304" cy="201168"/>
          </a:xfrm>
          <a:prstGeom prst="rect">
            <a:avLst/>
          </a:prstGeom>
          <a:solidFill>
            <a:srgbClr val="EEEAE4"/>
          </a:solidFill>
          <a:ln w="12700">
            <a:solidFill>
              <a:srgbClr val="EE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Rectangle 33"/>
          <p:cNvSpPr/>
          <p:nvPr/>
        </p:nvSpPr>
        <p:spPr>
          <a:xfrm>
            <a:off x="2880360" y="3968496"/>
            <a:ext cx="1437491" cy="201168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5404104" y="3922141"/>
            <a:ext cx="566928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1070" b="1">
                <a:solidFill>
                  <a:srgbClr val="861C1F"/>
                </a:solidFill>
                <a:latin typeface="Aptos"/>
              </a:defRPr>
            </a:pPr>
            <a:r>
              <a:rPr sz="1200"/>
              <a:t>59.1%</a:t>
            </a:r>
            <a:endParaRPr sz="1200"/>
          </a:p>
        </p:txBody>
      </p:sp>
      <p:sp>
        <p:nvSpPr>
          <p:cNvPr id="36" name="TextBox 35"/>
          <p:cNvSpPr txBox="1"/>
          <p:nvPr/>
        </p:nvSpPr>
        <p:spPr>
          <a:xfrm>
            <a:off x="877824" y="4425061"/>
            <a:ext cx="1874519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defRPr sz="1070" b="0">
                <a:solidFill>
                  <a:srgbClr val="35322F"/>
                </a:solidFill>
                <a:latin typeface="Aptos"/>
              </a:defRPr>
            </a:pPr>
            <a:r>
              <a:rPr sz="1200"/>
              <a:t>Employment Details</a:t>
            </a:r>
            <a:endParaRPr sz="1200"/>
          </a:p>
        </p:txBody>
      </p:sp>
      <p:sp>
        <p:nvSpPr>
          <p:cNvPr id="37" name="Rectangle 36"/>
          <p:cNvSpPr/>
          <p:nvPr/>
        </p:nvSpPr>
        <p:spPr>
          <a:xfrm>
            <a:off x="2880360" y="4471416"/>
            <a:ext cx="2432304" cy="201168"/>
          </a:xfrm>
          <a:prstGeom prst="rect">
            <a:avLst/>
          </a:prstGeom>
          <a:solidFill>
            <a:srgbClr val="EEEAE4"/>
          </a:solidFill>
          <a:ln w="12700">
            <a:solidFill>
              <a:srgbClr val="EE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Rectangle 37"/>
          <p:cNvSpPr/>
          <p:nvPr/>
        </p:nvSpPr>
        <p:spPr>
          <a:xfrm>
            <a:off x="2880360" y="4471416"/>
            <a:ext cx="1546945" cy="201168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5404104" y="4425061"/>
            <a:ext cx="566928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1070" b="1">
                <a:solidFill>
                  <a:srgbClr val="861C1F"/>
                </a:solidFill>
                <a:latin typeface="Aptos"/>
              </a:defRPr>
            </a:pPr>
            <a:r>
              <a:rPr sz="1200"/>
              <a:t>63.6%</a:t>
            </a:r>
            <a:endParaRPr sz="1200"/>
          </a:p>
        </p:txBody>
      </p:sp>
      <p:sp>
        <p:nvSpPr>
          <p:cNvPr id="40" name="TextBox 39"/>
          <p:cNvSpPr txBox="1"/>
          <p:nvPr/>
        </p:nvSpPr>
        <p:spPr>
          <a:xfrm>
            <a:off x="877824" y="4927981"/>
            <a:ext cx="1874519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defRPr sz="1070" b="0">
                <a:solidFill>
                  <a:srgbClr val="35322F"/>
                </a:solidFill>
                <a:latin typeface="Aptos"/>
              </a:defRPr>
            </a:pPr>
            <a:r>
              <a:rPr sz="1200"/>
              <a:t>Travel History</a:t>
            </a:r>
            <a:endParaRPr sz="1200"/>
          </a:p>
        </p:txBody>
      </p:sp>
      <p:sp>
        <p:nvSpPr>
          <p:cNvPr id="41" name="Rectangle 40"/>
          <p:cNvSpPr/>
          <p:nvPr/>
        </p:nvSpPr>
        <p:spPr>
          <a:xfrm>
            <a:off x="2880360" y="4974336"/>
            <a:ext cx="2432304" cy="201168"/>
          </a:xfrm>
          <a:prstGeom prst="rect">
            <a:avLst/>
          </a:prstGeom>
          <a:solidFill>
            <a:srgbClr val="EEEAE4"/>
          </a:solidFill>
          <a:ln w="12700">
            <a:solidFill>
              <a:srgbClr val="EE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2" name="Rectangle 41"/>
          <p:cNvSpPr/>
          <p:nvPr/>
        </p:nvSpPr>
        <p:spPr>
          <a:xfrm>
            <a:off x="2880360" y="4974336"/>
            <a:ext cx="1537216" cy="201168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3" name="TextBox 42"/>
          <p:cNvSpPr txBox="1"/>
          <p:nvPr/>
        </p:nvSpPr>
        <p:spPr>
          <a:xfrm>
            <a:off x="5404104" y="4927981"/>
            <a:ext cx="566928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1070" b="1">
                <a:solidFill>
                  <a:srgbClr val="861C1F"/>
                </a:solidFill>
                <a:latin typeface="Aptos"/>
              </a:defRPr>
            </a:pPr>
            <a:r>
              <a:rPr sz="1200"/>
              <a:t>63.2%</a:t>
            </a:r>
            <a:endParaRPr sz="1200"/>
          </a:p>
        </p:txBody>
      </p:sp>
      <p:sp>
        <p:nvSpPr>
          <p:cNvPr id="44" name="TextBox 43"/>
          <p:cNvSpPr txBox="1"/>
          <p:nvPr/>
        </p:nvSpPr>
        <p:spPr>
          <a:xfrm>
            <a:off x="1005840" y="5486400"/>
            <a:ext cx="4882896" cy="30670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1250" b="0">
                <a:solidFill>
                  <a:srgbClr val="6B6560"/>
                </a:solidFill>
                <a:latin typeface="微软雅黑" panose="020B0503020204020204" charset="-122"/>
              </a:defRPr>
            </a:pPr>
            <a:r>
              <a:rPr sz="1400"/>
              <a:t>低方差数据更容易学；高敏感、高方差数据更难。</a:t>
            </a:r>
            <a:endParaRPr sz="1400"/>
          </a:p>
        </p:txBody>
      </p:sp>
      <p:sp>
        <p:nvSpPr>
          <p:cNvPr id="45" name="Rounded Rectangle 44"/>
          <p:cNvSpPr/>
          <p:nvPr/>
        </p:nvSpPr>
        <p:spPr>
          <a:xfrm>
            <a:off x="6656832" y="2313432"/>
            <a:ext cx="1975104" cy="1078992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0" y="2386584"/>
            <a:ext cx="1755648" cy="5179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5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87.5%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2831230"/>
            <a:ext cx="1755648" cy="49657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  <a:defRPr sz="11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Payment Method Details 的 FNR</a:t>
            </a:r>
            <a:endParaRPr sz="1200"/>
          </a:p>
        </p:txBody>
      </p:sp>
      <p:sp>
        <p:nvSpPr>
          <p:cNvPr id="48" name="Rounded Rectangle 47"/>
          <p:cNvSpPr/>
          <p:nvPr/>
        </p:nvSpPr>
        <p:spPr>
          <a:xfrm>
            <a:off x="8851392" y="2313432"/>
            <a:ext cx="1975104" cy="1078992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1119" y="2386584"/>
            <a:ext cx="1755648" cy="5179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5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28.6%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19" y="2831230"/>
            <a:ext cx="1755648" cy="49657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  <a:defRPr sz="11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Employment / Travel History 的 FPR</a:t>
            </a:r>
            <a:endParaRPr sz="1200"/>
          </a:p>
        </p:txBody>
      </p:sp>
      <p:sp>
        <p:nvSpPr>
          <p:cNvPr id="51" name="Rounded Rectangle 50"/>
          <p:cNvSpPr/>
          <p:nvPr/>
        </p:nvSpPr>
        <p:spPr>
          <a:xfrm>
            <a:off x="6656832" y="3611880"/>
            <a:ext cx="4169663" cy="1975104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656832" y="3611880"/>
            <a:ext cx="4169663" cy="411480"/>
          </a:xfrm>
          <a:prstGeom prst="round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66560" y="3639312"/>
            <a:ext cx="3950207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!  错误类型要区分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76542" y="4197985"/>
            <a:ext cx="3840479" cy="5645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defRPr sz="127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• 高 FNR：模型过于保守，更多是“拒绝本可共享”的可用性问题</a:t>
            </a:r>
            <a:endParaRPr sz="1400"/>
          </a:p>
        </p:txBody>
      </p:sp>
      <p:sp>
        <p:nvSpPr>
          <p:cNvPr id="55" name="TextBox 54"/>
          <p:cNvSpPr txBox="1"/>
          <p:nvPr/>
        </p:nvSpPr>
        <p:spPr>
          <a:xfrm>
            <a:off x="6876542" y="4793107"/>
            <a:ext cx="3840479" cy="5645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defRPr sz="127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• 高 FPR：用户本想拒绝，模型却允许，才是更直接的隐私风险</a:t>
            </a:r>
            <a:endParaRPr sz="1400"/>
          </a:p>
        </p:txBody>
      </p:sp>
      <p:sp>
        <p:nvSpPr>
          <p:cNvPr id="58" name="TextBox 20"/>
          <p:cNvSpPr txBox="1"/>
          <p:nvPr/>
        </p:nvSpPr>
        <p:spPr>
          <a:xfrm>
            <a:off x="10954385" y="6346000"/>
            <a:ext cx="10058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 sz="1400"/>
              <a:t>14/17</a:t>
            </a:r>
            <a:endParaRPr lang="en-US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22960"/>
            <a:ext cx="9235440" cy="1143000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73568" y="822960"/>
            <a:ext cx="1901952" cy="1143000"/>
          </a:xfrm>
          <a:prstGeom prst="rect">
            <a:avLst/>
          </a:prstGeom>
          <a:solidFill>
            <a:srgbClr val="E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987552"/>
            <a:ext cx="731520" cy="8046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024128"/>
            <a:ext cx="676656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987552"/>
            <a:ext cx="6583680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局限与关键批判：为什么还不能直接上线？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1572768" y="1783080"/>
            <a:ext cx="4480560" cy="18288"/>
          </a:xfrm>
          <a:prstGeom prst="rect">
            <a:avLst/>
          </a:prstGeom>
          <a:solidFill>
            <a:srgbClr val="C6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236208"/>
            <a:ext cx="12191365" cy="621792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196596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研究背景</a:t>
            </a:r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3063239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3319272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用户研究</a:t>
            </a:r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4416552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672583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方法设计</a:t>
            </a:r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5769864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6025896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实验结果</a:t>
            </a:r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7123176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8" name="Rounded Rectangle 17"/>
          <p:cNvSpPr/>
          <p:nvPr/>
        </p:nvSpPr>
        <p:spPr>
          <a:xfrm>
            <a:off x="7287768" y="6345936"/>
            <a:ext cx="1188720" cy="3474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7333488" y="6359017"/>
            <a:ext cx="109728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局限思考</a:t>
            </a:r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8476488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873252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总结讨论</a:t>
            </a:r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621792" y="2212848"/>
            <a:ext cx="5193792" cy="1042415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ounded Rectangle 22"/>
          <p:cNvSpPr/>
          <p:nvPr/>
        </p:nvSpPr>
        <p:spPr>
          <a:xfrm>
            <a:off x="758952" y="2350008"/>
            <a:ext cx="530352" cy="420624"/>
          </a:xfrm>
          <a:prstGeom prst="roundRect">
            <a:avLst/>
          </a:prstGeom>
          <a:solidFill>
            <a:srgbClr val="861C1F"/>
          </a:solidFill>
          <a:ln w="12700">
            <a:solidFill>
              <a:srgbClr val="6F1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777240" y="2364296"/>
            <a:ext cx="493776" cy="33718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01</a:t>
            </a:r>
            <a:endParaRPr sz="1600"/>
          </a:p>
        </p:txBody>
      </p:sp>
      <p:sp>
        <p:nvSpPr>
          <p:cNvPr id="25" name="TextBox 24"/>
          <p:cNvSpPr txBox="1"/>
          <p:nvPr/>
        </p:nvSpPr>
        <p:spPr>
          <a:xfrm>
            <a:off x="1408176" y="2322576"/>
            <a:ext cx="4187952" cy="3683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800"/>
              <a:t>情景实验 ≠ 真实行为</a:t>
            </a:r>
            <a:endParaRPr sz="1800"/>
          </a:p>
        </p:txBody>
      </p:sp>
      <p:sp>
        <p:nvSpPr>
          <p:cNvPr id="26" name="TextBox 25"/>
          <p:cNvSpPr txBox="1"/>
          <p:nvPr/>
        </p:nvSpPr>
        <p:spPr>
          <a:xfrm>
            <a:off x="1408176" y="2651760"/>
            <a:ext cx="4133087" cy="5645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defRPr sz="11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参与者面对 vignette，而非真正上传银行卡、护照等敏感数据。</a:t>
            </a:r>
            <a:endParaRPr sz="1400"/>
          </a:p>
        </p:txBody>
      </p:sp>
      <p:sp>
        <p:nvSpPr>
          <p:cNvPr id="27" name="Rounded Rectangle 26"/>
          <p:cNvSpPr/>
          <p:nvPr/>
        </p:nvSpPr>
        <p:spPr>
          <a:xfrm>
            <a:off x="6153912" y="2212848"/>
            <a:ext cx="5193792" cy="1042415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Rounded Rectangle 27"/>
          <p:cNvSpPr/>
          <p:nvPr/>
        </p:nvSpPr>
        <p:spPr>
          <a:xfrm>
            <a:off x="6291072" y="2350008"/>
            <a:ext cx="530352" cy="420624"/>
          </a:xfrm>
          <a:prstGeom prst="roundRect">
            <a:avLst/>
          </a:prstGeom>
          <a:solidFill>
            <a:srgbClr val="861C1F"/>
          </a:solidFill>
          <a:ln w="12700">
            <a:solidFill>
              <a:srgbClr val="6F1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6309359" y="2364296"/>
            <a:ext cx="493776" cy="33718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02</a:t>
            </a:r>
            <a:endParaRPr sz="1600"/>
          </a:p>
        </p:txBody>
      </p:sp>
      <p:sp>
        <p:nvSpPr>
          <p:cNvPr id="30" name="TextBox 29"/>
          <p:cNvSpPr txBox="1"/>
          <p:nvPr/>
        </p:nvSpPr>
        <p:spPr>
          <a:xfrm>
            <a:off x="6940296" y="2322576"/>
            <a:ext cx="4187952" cy="3683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800"/>
              <a:t>Privacy priming</a:t>
            </a:r>
            <a:endParaRPr sz="1800"/>
          </a:p>
        </p:txBody>
      </p:sp>
      <p:sp>
        <p:nvSpPr>
          <p:cNvPr id="31" name="TextBox 30"/>
          <p:cNvSpPr txBox="1"/>
          <p:nvPr/>
        </p:nvSpPr>
        <p:spPr>
          <a:xfrm>
            <a:off x="6940296" y="2651760"/>
            <a:ext cx="4133087" cy="5645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defRPr sz="11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实验前提醒隐私风险，可能让参与者比真实使用时更谨慎。</a:t>
            </a:r>
            <a:endParaRPr sz="1400"/>
          </a:p>
        </p:txBody>
      </p:sp>
      <p:sp>
        <p:nvSpPr>
          <p:cNvPr id="32" name="Rounded Rectangle 31"/>
          <p:cNvSpPr/>
          <p:nvPr/>
        </p:nvSpPr>
        <p:spPr>
          <a:xfrm>
            <a:off x="621792" y="3419856"/>
            <a:ext cx="5193792" cy="1042415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Rounded Rectangle 32"/>
          <p:cNvSpPr/>
          <p:nvPr/>
        </p:nvSpPr>
        <p:spPr>
          <a:xfrm>
            <a:off x="758952" y="3557016"/>
            <a:ext cx="530352" cy="420624"/>
          </a:xfrm>
          <a:prstGeom prst="roundRect">
            <a:avLst/>
          </a:prstGeom>
          <a:solidFill>
            <a:srgbClr val="861C1F"/>
          </a:solidFill>
          <a:ln w="12700">
            <a:solidFill>
              <a:srgbClr val="6F1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777240" y="3571304"/>
            <a:ext cx="493776" cy="33718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03</a:t>
            </a:r>
            <a:endParaRPr sz="1600"/>
          </a:p>
        </p:txBody>
      </p:sp>
      <p:sp>
        <p:nvSpPr>
          <p:cNvPr id="35" name="TextBox 34"/>
          <p:cNvSpPr txBox="1"/>
          <p:nvPr/>
        </p:nvSpPr>
        <p:spPr>
          <a:xfrm>
            <a:off x="1408176" y="3529584"/>
            <a:ext cx="4187952" cy="3683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800"/>
              <a:t>Ground truth 有人为定义</a:t>
            </a:r>
            <a:endParaRPr sz="1800"/>
          </a:p>
        </p:txBody>
      </p:sp>
      <p:sp>
        <p:nvSpPr>
          <p:cNvPr id="36" name="TextBox 35"/>
          <p:cNvSpPr txBox="1"/>
          <p:nvPr/>
        </p:nvSpPr>
        <p:spPr>
          <a:xfrm>
            <a:off x="1408176" y="3858768"/>
            <a:ext cx="4133087" cy="5645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defRPr sz="11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“数据是否必要”由研究者根据工具功能设定，并非唯一客观答案。</a:t>
            </a:r>
            <a:endParaRPr sz="1400"/>
          </a:p>
        </p:txBody>
      </p:sp>
      <p:sp>
        <p:nvSpPr>
          <p:cNvPr id="37" name="Rounded Rectangle 36"/>
          <p:cNvSpPr/>
          <p:nvPr/>
        </p:nvSpPr>
        <p:spPr>
          <a:xfrm>
            <a:off x="6153912" y="3419856"/>
            <a:ext cx="5193792" cy="1042415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Rounded Rectangle 37"/>
          <p:cNvSpPr/>
          <p:nvPr/>
        </p:nvSpPr>
        <p:spPr>
          <a:xfrm>
            <a:off x="6291072" y="3557016"/>
            <a:ext cx="530352" cy="420624"/>
          </a:xfrm>
          <a:prstGeom prst="roundRect">
            <a:avLst/>
          </a:prstGeom>
          <a:solidFill>
            <a:srgbClr val="861C1F"/>
          </a:solidFill>
          <a:ln w="12700">
            <a:solidFill>
              <a:srgbClr val="6F1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TextBox 38"/>
          <p:cNvSpPr txBox="1"/>
          <p:nvPr/>
        </p:nvSpPr>
        <p:spPr>
          <a:xfrm>
            <a:off x="6309359" y="3571304"/>
            <a:ext cx="493776" cy="33718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04</a:t>
            </a:r>
            <a:endParaRPr sz="1600"/>
          </a:p>
        </p:txBody>
      </p:sp>
      <p:sp>
        <p:nvSpPr>
          <p:cNvPr id="40" name="TextBox 39"/>
          <p:cNvSpPr txBox="1"/>
          <p:nvPr/>
        </p:nvSpPr>
        <p:spPr>
          <a:xfrm>
            <a:off x="6940296" y="3529584"/>
            <a:ext cx="4187952" cy="3683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800"/>
              <a:t>四档权限被压成二分类</a:t>
            </a:r>
            <a:endParaRPr sz="1800"/>
          </a:p>
        </p:txBody>
      </p:sp>
      <p:sp>
        <p:nvSpPr>
          <p:cNvPr id="41" name="TextBox 40"/>
          <p:cNvSpPr txBox="1"/>
          <p:nvPr/>
        </p:nvSpPr>
        <p:spPr>
          <a:xfrm>
            <a:off x="6940296" y="3858768"/>
            <a:ext cx="4133087" cy="5645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defRPr sz="11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最有部署价值的“这次允许/拒绝，但下次继续问”恰好被丢掉。</a:t>
            </a:r>
            <a:endParaRPr sz="1400"/>
          </a:p>
        </p:txBody>
      </p:sp>
      <p:sp>
        <p:nvSpPr>
          <p:cNvPr id="42" name="Rounded Rectangle 41"/>
          <p:cNvSpPr/>
          <p:nvPr/>
        </p:nvSpPr>
        <p:spPr>
          <a:xfrm>
            <a:off x="621792" y="4626864"/>
            <a:ext cx="5193792" cy="1042415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Rounded Rectangle 42"/>
          <p:cNvSpPr/>
          <p:nvPr/>
        </p:nvSpPr>
        <p:spPr>
          <a:xfrm>
            <a:off x="758952" y="4764024"/>
            <a:ext cx="530352" cy="420624"/>
          </a:xfrm>
          <a:prstGeom prst="roundRect">
            <a:avLst/>
          </a:prstGeom>
          <a:solidFill>
            <a:srgbClr val="861C1F"/>
          </a:solidFill>
          <a:ln w="12700">
            <a:solidFill>
              <a:srgbClr val="6F1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TextBox 43"/>
          <p:cNvSpPr txBox="1"/>
          <p:nvPr/>
        </p:nvSpPr>
        <p:spPr>
          <a:xfrm>
            <a:off x="777240" y="4778312"/>
            <a:ext cx="493776" cy="33718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05</a:t>
            </a:r>
            <a:endParaRPr sz="1600"/>
          </a:p>
        </p:txBody>
      </p:sp>
      <p:sp>
        <p:nvSpPr>
          <p:cNvPr id="45" name="TextBox 44"/>
          <p:cNvSpPr txBox="1"/>
          <p:nvPr/>
        </p:nvSpPr>
        <p:spPr>
          <a:xfrm>
            <a:off x="1408176" y="4736592"/>
            <a:ext cx="4187952" cy="3683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800"/>
              <a:t>新数据类型泛化证据有限</a:t>
            </a:r>
            <a:endParaRPr sz="1800"/>
          </a:p>
        </p:txBody>
      </p:sp>
      <p:sp>
        <p:nvSpPr>
          <p:cNvPr id="46" name="TextBox 45"/>
          <p:cNvSpPr txBox="1"/>
          <p:nvPr/>
        </p:nvSpPr>
        <p:spPr>
          <a:xfrm>
            <a:off x="1408176" y="5065776"/>
            <a:ext cx="4133087" cy="5645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defRPr sz="11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架构能处理自然语言新类型，但未给出严格 leave-one-data-type-out 验证。</a:t>
            </a:r>
            <a:endParaRPr sz="1400"/>
          </a:p>
        </p:txBody>
      </p:sp>
      <p:sp>
        <p:nvSpPr>
          <p:cNvPr id="47" name="Rounded Rectangle 46"/>
          <p:cNvSpPr/>
          <p:nvPr/>
        </p:nvSpPr>
        <p:spPr>
          <a:xfrm>
            <a:off x="6153912" y="4626864"/>
            <a:ext cx="5193792" cy="1042415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8" name="Rounded Rectangle 47"/>
          <p:cNvSpPr/>
          <p:nvPr/>
        </p:nvSpPr>
        <p:spPr>
          <a:xfrm>
            <a:off x="6291072" y="4764024"/>
            <a:ext cx="530352" cy="420624"/>
          </a:xfrm>
          <a:prstGeom prst="roundRect">
            <a:avLst/>
          </a:prstGeom>
          <a:solidFill>
            <a:srgbClr val="861C1F"/>
          </a:solidFill>
          <a:ln w="12700">
            <a:solidFill>
              <a:srgbClr val="6F1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9" name="TextBox 48"/>
          <p:cNvSpPr txBox="1"/>
          <p:nvPr/>
        </p:nvSpPr>
        <p:spPr>
          <a:xfrm>
            <a:off x="6309359" y="4778312"/>
            <a:ext cx="493776" cy="33718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06</a:t>
            </a:r>
            <a:endParaRPr sz="1600"/>
          </a:p>
        </p:txBody>
      </p:sp>
      <p:sp>
        <p:nvSpPr>
          <p:cNvPr id="50" name="TextBox 49"/>
          <p:cNvSpPr txBox="1"/>
          <p:nvPr/>
        </p:nvSpPr>
        <p:spPr>
          <a:xfrm>
            <a:off x="6940296" y="4736592"/>
            <a:ext cx="4187952" cy="3683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800"/>
              <a:t>安全假设仍然较强</a:t>
            </a:r>
            <a:endParaRPr sz="1800"/>
          </a:p>
        </p:txBody>
      </p:sp>
      <p:sp>
        <p:nvSpPr>
          <p:cNvPr id="51" name="TextBox 50"/>
          <p:cNvSpPr txBox="1"/>
          <p:nvPr/>
        </p:nvSpPr>
        <p:spPr>
          <a:xfrm>
            <a:off x="6940296" y="5065776"/>
            <a:ext cx="4133087" cy="5645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defRPr sz="11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400"/>
              <a:t>Scaffolding / permission assistant 被视为可信；端到端安全执行未解决。</a:t>
            </a:r>
            <a:endParaRPr sz="1400"/>
          </a:p>
        </p:txBody>
      </p:sp>
      <p:sp>
        <p:nvSpPr>
          <p:cNvPr id="52" name="Rounded Rectangle 51"/>
          <p:cNvSpPr/>
          <p:nvPr/>
        </p:nvSpPr>
        <p:spPr>
          <a:xfrm>
            <a:off x="914400" y="5879592"/>
            <a:ext cx="10351008" cy="301752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3" name="TextBox 52"/>
          <p:cNvSpPr txBox="1"/>
          <p:nvPr/>
        </p:nvSpPr>
        <p:spPr>
          <a:xfrm>
            <a:off x="1097280" y="5874385"/>
            <a:ext cx="9985248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19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sz="1200"/>
              <a:t>更合理的工程目标：自动允许 / 自动拒绝 / 请求用户确认（三态）＋ 数据敏感度 × 用户不确定度 × 模型置信度 的风险感知阈值。</a:t>
            </a:r>
            <a:endParaRPr sz="1200"/>
          </a:p>
        </p:txBody>
      </p:sp>
      <p:sp>
        <p:nvSpPr>
          <p:cNvPr id="55" name="TextBox 20"/>
          <p:cNvSpPr txBox="1"/>
          <p:nvPr/>
        </p:nvSpPr>
        <p:spPr>
          <a:xfrm>
            <a:off x="10954385" y="6346000"/>
            <a:ext cx="10058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 sz="1400"/>
              <a:t>15/17</a:t>
            </a:r>
            <a:endParaRPr lang="en-US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22960"/>
            <a:ext cx="9235440" cy="1143000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73568" y="822960"/>
            <a:ext cx="1901952" cy="1143000"/>
          </a:xfrm>
          <a:prstGeom prst="rect">
            <a:avLst/>
          </a:prstGeom>
          <a:solidFill>
            <a:srgbClr val="E8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987552"/>
            <a:ext cx="731520" cy="8046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024128"/>
            <a:ext cx="676656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2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987552"/>
            <a:ext cx="6583680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总结：该如何正确理解这篇论文？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1572768" y="1783080"/>
            <a:ext cx="4480560" cy="18288"/>
          </a:xfrm>
          <a:prstGeom prst="rect">
            <a:avLst/>
          </a:prstGeom>
          <a:solidFill>
            <a:srgbClr val="C6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236208"/>
            <a:ext cx="12191365" cy="621792"/>
          </a:xfrm>
          <a:prstGeom prst="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研究背景</a:t>
            </a:r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3063239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3319272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用户研究</a:t>
            </a:r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4416552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672583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方法设计</a:t>
            </a:r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5769864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6025896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实验结果</a:t>
            </a:r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7123176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7379208" y="6359017"/>
            <a:ext cx="100584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局限思考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8476488" y="6359017"/>
            <a:ext cx="164592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E8D3CC"/>
                </a:solidFill>
                <a:latin typeface="微软雅黑" panose="020B0503020204020204" charset="-122"/>
              </a:defRPr>
            </a:pPr>
            <a:r>
              <a:rPr sz="1200"/>
              <a:t>｜</a:t>
            </a:r>
            <a:endParaRPr sz="1200"/>
          </a:p>
        </p:txBody>
      </p:sp>
      <p:sp>
        <p:nvSpPr>
          <p:cNvPr id="20" name="Rounded Rectangle 19"/>
          <p:cNvSpPr/>
          <p:nvPr/>
        </p:nvSpPr>
        <p:spPr>
          <a:xfrm>
            <a:off x="8641080" y="6345936"/>
            <a:ext cx="1188720" cy="347472"/>
          </a:xfrm>
          <a:prstGeom prst="roundRect">
            <a:avLst/>
          </a:prstGeom>
          <a:solidFill>
            <a:srgbClr val="C69E5B"/>
          </a:solidFill>
          <a:ln>
            <a:solidFill>
              <a:srgbClr val="A0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8686800" y="6359017"/>
            <a:ext cx="1097280" cy="27559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/>
              <a:t>总结讨论</a:t>
            </a:r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640080" y="2286000"/>
            <a:ext cx="5248656" cy="3163824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2286000"/>
            <a:ext cx="5248656" cy="411480"/>
          </a:xfrm>
          <a:prstGeom prst="round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749808" y="2293874"/>
            <a:ext cx="5029200" cy="3683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800"/>
              <a:t>✓  这篇论文证明了什么？</a:t>
            </a:r>
            <a:endParaRPr sz="1800"/>
          </a:p>
        </p:txBody>
      </p:sp>
      <p:sp>
        <p:nvSpPr>
          <p:cNvPr id="25" name="TextBox 24"/>
          <p:cNvSpPr txBox="1"/>
          <p:nvPr/>
        </p:nvSpPr>
        <p:spPr>
          <a:xfrm>
            <a:off x="822959" y="3029585"/>
            <a:ext cx="4919472" cy="6813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  <a:defRPr sz="14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600"/>
              <a:t>• 权限偏好虽然受场景影响，但并非随机；存在个体规律与群体相似性</a:t>
            </a:r>
            <a:endParaRPr sz="1600"/>
          </a:p>
        </p:txBody>
      </p:sp>
      <p:sp>
        <p:nvSpPr>
          <p:cNvPr id="26" name="TextBox 25"/>
          <p:cNvSpPr txBox="1"/>
          <p:nvPr/>
        </p:nvSpPr>
        <p:spPr>
          <a:xfrm>
            <a:off x="822959" y="3864102"/>
            <a:ext cx="4919472" cy="33718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600"/>
              <a:t>• 少量个人历史能快速提升个性化预测</a:t>
            </a:r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822959" y="4485259"/>
            <a:ext cx="4919472" cy="33718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600"/>
              <a:t>• 高置信度选择性预测可达到较高准确率</a:t>
            </a:r>
            <a:endParaRPr sz="1600"/>
          </a:p>
        </p:txBody>
      </p:sp>
      <p:sp>
        <p:nvSpPr>
          <p:cNvPr id="28" name="Rounded Rectangle 27"/>
          <p:cNvSpPr/>
          <p:nvPr/>
        </p:nvSpPr>
        <p:spPr>
          <a:xfrm>
            <a:off x="6236208" y="2286000"/>
            <a:ext cx="5248656" cy="3163824"/>
          </a:xfrm>
          <a:prstGeom prst="roundRect">
            <a:avLst/>
          </a:prstGeom>
          <a:solidFill>
            <a:srgbClr val="FCF9F4"/>
          </a:solidFill>
          <a:ln w="12700">
            <a:solidFill>
              <a:srgbClr val="E1C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6208" y="2286000"/>
            <a:ext cx="5248656" cy="411480"/>
          </a:xfrm>
          <a:prstGeom prst="roundRect">
            <a:avLst/>
          </a:prstGeom>
          <a:solidFill>
            <a:srgbClr val="86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6345936" y="2293874"/>
            <a:ext cx="5029200" cy="3683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800"/>
              <a:t>×  它还没有证明什么？</a:t>
            </a:r>
            <a:endParaRPr sz="1800"/>
          </a:p>
        </p:txBody>
      </p:sp>
      <p:sp>
        <p:nvSpPr>
          <p:cNvPr id="31" name="TextBox 30"/>
          <p:cNvSpPr txBox="1"/>
          <p:nvPr/>
        </p:nvSpPr>
        <p:spPr>
          <a:xfrm>
            <a:off x="6419088" y="3057525"/>
            <a:ext cx="4919472" cy="33718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600"/>
              <a:t>• 没有证明可以对所有权限请求全自动决策</a:t>
            </a:r>
            <a:endParaRPr sz="1600"/>
          </a:p>
        </p:txBody>
      </p:sp>
      <p:sp>
        <p:nvSpPr>
          <p:cNvPr id="32" name="TextBox 31"/>
          <p:cNvSpPr txBox="1"/>
          <p:nvPr/>
        </p:nvSpPr>
        <p:spPr>
          <a:xfrm>
            <a:off x="6419088" y="3791077"/>
            <a:ext cx="4919472" cy="33718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600"/>
              <a:t>• 没有严格证明对真正全新数据类型的泛化</a:t>
            </a:r>
            <a:endParaRPr sz="1600"/>
          </a:p>
        </p:txBody>
      </p:sp>
      <p:sp>
        <p:nvSpPr>
          <p:cNvPr id="33" name="TextBox 32"/>
          <p:cNvSpPr txBox="1"/>
          <p:nvPr/>
        </p:nvSpPr>
        <p:spPr>
          <a:xfrm>
            <a:off x="6419088" y="4486529"/>
            <a:ext cx="4919472" cy="33718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600"/>
              <a:t>• 没有解决端到端安全部署与执行问题</a:t>
            </a:r>
            <a:endParaRPr sz="1600"/>
          </a:p>
        </p:txBody>
      </p:sp>
      <p:sp>
        <p:nvSpPr>
          <p:cNvPr id="34" name="Rounded Rectangle 33"/>
          <p:cNvSpPr/>
          <p:nvPr/>
        </p:nvSpPr>
        <p:spPr>
          <a:xfrm>
            <a:off x="896112" y="5596128"/>
            <a:ext cx="4480560" cy="493776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5669280"/>
            <a:ext cx="41148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85.1% = 全覆盖性能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84848" y="5596128"/>
            <a:ext cx="4480560" cy="493776"/>
          </a:xfrm>
          <a:prstGeom prst="roundRect">
            <a:avLst/>
          </a:prstGeom>
          <a:solidFill>
            <a:srgbClr val="F6EBD6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5669280"/>
            <a:ext cx="41148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t>94.4% = 仅 25.9% 覆盖率</a:t>
            </a:r>
          </a:p>
        </p:txBody>
      </p:sp>
      <p:sp>
        <p:nvSpPr>
          <p:cNvPr id="53" name="TextBox 20"/>
          <p:cNvSpPr txBox="1"/>
          <p:nvPr/>
        </p:nvSpPr>
        <p:spPr>
          <a:xfrm>
            <a:off x="10954385" y="6346000"/>
            <a:ext cx="1005840" cy="3067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defRPr sz="102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 sz="1400"/>
              <a:t>16/17</a:t>
            </a:r>
            <a:endParaRPr lang="en-US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hanks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61175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5010912"/>
            <a:ext cx="3886200" cy="1078992"/>
          </a:xfrm>
          <a:prstGeom prst="roundRect">
            <a:avLst/>
          </a:prstGeom>
          <a:solidFill>
            <a:srgbClr val="FAF3E8"/>
          </a:solidFill>
          <a:ln w="12700">
            <a:solidFill>
              <a:srgbClr val="C6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49844" y="5396865"/>
            <a:ext cx="713232" cy="30670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861C1F"/>
                </a:solidFill>
                <a:latin typeface="微软雅黑" panose="020B0503020204020204" charset="-122"/>
              </a:defRPr>
            </a:pPr>
            <a:r>
              <a:rPr lang="zh-CN"/>
              <a:t>思考</a:t>
            </a:r>
            <a:endParaRPr lang="zh-CN"/>
          </a:p>
        </p:txBody>
      </p:sp>
      <p:sp>
        <p:nvSpPr>
          <p:cNvPr id="5" name="TextBox 4"/>
          <p:cNvSpPr txBox="1"/>
          <p:nvPr/>
        </p:nvSpPr>
        <p:spPr>
          <a:xfrm>
            <a:off x="8362950" y="5144453"/>
            <a:ext cx="2971800" cy="8102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30000"/>
              </a:lnSpc>
              <a:defRPr sz="11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三态权限是否比二分类更适合真实 Agent？</a:t>
            </a:r>
            <a:br>
              <a:rPr sz="1200"/>
            </a:br>
            <a:endParaRPr sz="1200"/>
          </a:p>
          <a:p>
            <a:pPr algn="l">
              <a:lnSpc>
                <a:spcPct val="130000"/>
              </a:lnSpc>
              <a:defRPr sz="1150" b="0">
                <a:solidFill>
                  <a:srgbClr val="35322F"/>
                </a:solidFill>
                <a:latin typeface="微软雅黑" panose="020B0503020204020204" charset="-122"/>
              </a:defRPr>
            </a:pPr>
            <a:r>
              <a:rPr sz="1200"/>
              <a:t>高敏感数据的自动化阈值应该如何设？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4811</Words>
  <Application>WPS 演示</Application>
  <PresentationFormat>On-screen Show (4:3)</PresentationFormat>
  <Paragraphs>950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Aptos</vt:lpstr>
      <vt:lpstr>Segoe UI</vt:lpstr>
      <vt:lpstr>Calibri</vt:lpstr>
      <vt:lpstr>Arial Unicode MS</vt:lpstr>
      <vt:lpstr>Aptos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星空</cp:lastModifiedBy>
  <cp:revision>2</cp:revision>
  <dcterms:created xsi:type="dcterms:W3CDTF">2013-01-27T09:14:00Z</dcterms:created>
  <dcterms:modified xsi:type="dcterms:W3CDTF">2026-10-02T16:39:33Z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B0A800715E034EFFA9B802AFA9E1AA23_12</vt:lpwstr>
  </property>
</Properties>
</file>