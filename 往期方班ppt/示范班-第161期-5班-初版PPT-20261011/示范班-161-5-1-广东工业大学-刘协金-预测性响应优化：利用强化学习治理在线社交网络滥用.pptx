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5"/>
  </p:notesMasterIdLst>
  <p:handoutMasterIdLst>
    <p:handoutMasterId r:id="rId31"/>
  </p:handoutMasterIdLst>
  <p:sldIdLst>
    <p:sldId id="256" r:id="rId3"/>
    <p:sldId id="281" r:id="rId4"/>
    <p:sldId id="282" r:id="rId6"/>
    <p:sldId id="259" r:id="rId7"/>
    <p:sldId id="260" r:id="rId8"/>
    <p:sldId id="261" r:id="rId9"/>
    <p:sldId id="262" r:id="rId10"/>
    <p:sldId id="263" r:id="rId11"/>
    <p:sldId id="264" r:id="rId12"/>
    <p:sldId id="283" r:id="rId13"/>
    <p:sldId id="266" r:id="rId14"/>
    <p:sldId id="267" r:id="rId15"/>
    <p:sldId id="268" r:id="rId16"/>
    <p:sldId id="269" r:id="rId17"/>
    <p:sldId id="270" r:id="rId18"/>
    <p:sldId id="286" r:id="rId19"/>
    <p:sldId id="272" r:id="rId20"/>
    <p:sldId id="273" r:id="rId21"/>
    <p:sldId id="274" r:id="rId22"/>
    <p:sldId id="275" r:id="rId23"/>
    <p:sldId id="287" r:id="rId24"/>
    <p:sldId id="288" r:id="rId25"/>
    <p:sldId id="285" r:id="rId26"/>
    <p:sldId id="277" r:id="rId27"/>
    <p:sldId id="279" r:id="rId28"/>
    <p:sldId id="289" r:id="rId29"/>
    <p:sldId id="284" r:id="rId30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1F1C"/>
    <a:srgbClr val="AD3413"/>
    <a:srgbClr val="002570"/>
    <a:srgbClr val="44546A"/>
    <a:srgbClr val="F0F0F0"/>
    <a:srgbClr val="F2F2F2"/>
    <a:srgbClr val="E4E4E4"/>
    <a:srgbClr val="002060"/>
    <a:srgbClr val="2F5597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2498" autoAdjust="0"/>
  </p:normalViewPr>
  <p:slideViewPr>
    <p:cSldViewPr snapToGrid="0">
      <p:cViewPr varScale="1">
        <p:scale>
          <a:sx n="102" d="100"/>
          <a:sy n="102" d="100"/>
        </p:scale>
        <p:origin x="10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5" Type="http://schemas.openxmlformats.org/officeDocument/2006/relationships/tags" Target="tags/tag34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F1CC5D-9AB1-4794-B91A-520A948044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82F2F-7A6E-461E-8274-899D124248C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82F2F-7A6E-461E-8274-899D124248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82F2F-7A6E-461E-8274-899D124248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82F2F-7A6E-461E-8274-899D124248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82F2F-7A6E-461E-8274-899D124248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82F2F-7A6E-461E-8274-899D124248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82F2F-7A6E-461E-8274-899D124248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 userDrawn="1"/>
        </p:nvSpPr>
        <p:spPr>
          <a:xfrm>
            <a:off x="356398" y="-766976"/>
            <a:ext cx="481802" cy="481802"/>
          </a:xfrm>
          <a:prstGeom prst="roundRect">
            <a:avLst>
              <a:gd name="adj" fmla="val 4167"/>
            </a:avLst>
          </a:prstGeom>
          <a:solidFill>
            <a:srgbClr val="0025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1</a:t>
            </a:r>
            <a:endParaRPr lang="zh-CN" altLang="en-US" sz="2800" dirty="0"/>
          </a:p>
        </p:txBody>
      </p:sp>
      <p:sp>
        <p:nvSpPr>
          <p:cNvPr id="8" name="矩形: 圆角 7"/>
          <p:cNvSpPr/>
          <p:nvPr userDrawn="1"/>
        </p:nvSpPr>
        <p:spPr>
          <a:xfrm>
            <a:off x="1042198" y="-782632"/>
            <a:ext cx="481802" cy="481802"/>
          </a:xfrm>
          <a:prstGeom prst="roundRect">
            <a:avLst>
              <a:gd name="adj" fmla="val 4167"/>
            </a:avLst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4</a:t>
            </a:r>
            <a:endParaRPr lang="zh-CN" altLang="en-US" sz="2800" dirty="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0" y="6781240"/>
            <a:ext cx="12192000" cy="85725"/>
            <a:chOff x="0" y="6781240"/>
            <a:chExt cx="12192000" cy="85725"/>
          </a:xfrm>
        </p:grpSpPr>
        <p:sp>
          <p:nvSpPr>
            <p:cNvPr id="11" name="矩形 10"/>
            <p:cNvSpPr/>
            <p:nvPr/>
          </p:nvSpPr>
          <p:spPr>
            <a:xfrm>
              <a:off x="0" y="6781240"/>
              <a:ext cx="12192000" cy="85725"/>
            </a:xfrm>
            <a:prstGeom prst="rect">
              <a:avLst/>
            </a:prstGeom>
            <a:solidFill>
              <a:srgbClr val="0025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3306186" y="6781240"/>
              <a:ext cx="8885814" cy="85725"/>
            </a:xfrm>
            <a:prstGeom prst="rect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EFF49-F539-4AE7-A61E-FA95F14E01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06040"/>
            <a:ext cx="12191695" cy="2569464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2953512" cy="7040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8794" y="2724912"/>
            <a:ext cx="10625328" cy="774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 i="0">
                <a:solidFill>
                  <a:srgbClr val="F3C8C8"/>
                </a:solidFill>
                <a:latin typeface="微软雅黑" panose="020B0503020204020204" charset="-122"/>
                <a:ea typeface="微软雅黑" panose="020B0503020204020204" charset="-122"/>
              </a:rPr>
              <a:t>Predictive Response OptimizationUsing Reinforcement Learning to Fight Online Social Network Abuse</a:t>
            </a:r>
            <a:endParaRPr lang="en-US" altLang="zh-CN" sz="2400" b="0" i="0">
              <a:solidFill>
                <a:srgbClr val="F3C8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3979" y="3498850"/>
            <a:ext cx="10744200" cy="52768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预测性响应优化：利用强化学习治理在线社交网络滥用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1805" y="4211320"/>
            <a:ext cx="11585575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Garrett Wilson, Geoffrey Goh, Yan Jiang, Ajay Gupta,Jiaxuan Wang, David Freeman, Francesco Dinuzzo（Meta）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187" y="4668774"/>
            <a:ext cx="10222992" cy="342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34th USENIX Security Symposium 2025 · Seattle, WA, USA</a:t>
            </a:r>
            <a:endParaRPr sz="20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40280" y="5440680"/>
            <a:ext cx="7772400" cy="342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汇报人：刘协金        指导老师：吴晓鸰        时间：2026.10.11</a:t>
            </a:r>
            <a:endParaRPr sz="200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Freeform 5"/>
          <p:cNvSpPr>
            <a:spLocks noEditPoints="1"/>
          </p:cNvSpPr>
          <p:nvPr/>
        </p:nvSpPr>
        <p:spPr bwMode="auto">
          <a:xfrm>
            <a:off x="4652645" y="397193"/>
            <a:ext cx="2736850" cy="1590675"/>
          </a:xfrm>
          <a:custGeom>
            <a:avLst/>
            <a:gdLst>
              <a:gd name="T0" fmla="*/ 135 w 139"/>
              <a:gd name="T1" fmla="*/ 61 h 81"/>
              <a:gd name="T2" fmla="*/ 131 w 139"/>
              <a:gd name="T3" fmla="*/ 56 h 81"/>
              <a:gd name="T4" fmla="*/ 131 w 139"/>
              <a:gd name="T5" fmla="*/ 27 h 81"/>
              <a:gd name="T6" fmla="*/ 139 w 139"/>
              <a:gd name="T7" fmla="*/ 24 h 81"/>
              <a:gd name="T8" fmla="*/ 70 w 139"/>
              <a:gd name="T9" fmla="*/ 0 h 81"/>
              <a:gd name="T10" fmla="*/ 0 w 139"/>
              <a:gd name="T11" fmla="*/ 24 h 81"/>
              <a:gd name="T12" fmla="*/ 70 w 139"/>
              <a:gd name="T13" fmla="*/ 48 h 81"/>
              <a:gd name="T14" fmla="*/ 127 w 139"/>
              <a:gd name="T15" fmla="*/ 28 h 81"/>
              <a:gd name="T16" fmla="*/ 127 w 139"/>
              <a:gd name="T17" fmla="*/ 56 h 81"/>
              <a:gd name="T18" fmla="*/ 123 w 139"/>
              <a:gd name="T19" fmla="*/ 61 h 81"/>
              <a:gd name="T20" fmla="*/ 126 w 139"/>
              <a:gd name="T21" fmla="*/ 64 h 81"/>
              <a:gd name="T22" fmla="*/ 123 w 139"/>
              <a:gd name="T23" fmla="*/ 81 h 81"/>
              <a:gd name="T24" fmla="*/ 135 w 139"/>
              <a:gd name="T25" fmla="*/ 81 h 81"/>
              <a:gd name="T26" fmla="*/ 132 w 139"/>
              <a:gd name="T27" fmla="*/ 64 h 81"/>
              <a:gd name="T28" fmla="*/ 135 w 139"/>
              <a:gd name="T29" fmla="*/ 61 h 81"/>
              <a:gd name="T30" fmla="*/ 28 w 139"/>
              <a:gd name="T31" fmla="*/ 42 h 81"/>
              <a:gd name="T32" fmla="*/ 28 w 139"/>
              <a:gd name="T33" fmla="*/ 69 h 81"/>
              <a:gd name="T34" fmla="*/ 70 w 139"/>
              <a:gd name="T35" fmla="*/ 81 h 81"/>
              <a:gd name="T36" fmla="*/ 111 w 139"/>
              <a:gd name="T37" fmla="*/ 69 h 81"/>
              <a:gd name="T38" fmla="*/ 111 w 139"/>
              <a:gd name="T39" fmla="*/ 42 h 81"/>
              <a:gd name="T40" fmla="*/ 70 w 139"/>
              <a:gd name="T41" fmla="*/ 56 h 81"/>
              <a:gd name="T42" fmla="*/ 28 w 139"/>
              <a:gd name="T43" fmla="*/ 42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39" h="81">
                <a:moveTo>
                  <a:pt x="135" y="61"/>
                </a:moveTo>
                <a:cubicBezTo>
                  <a:pt x="135" y="58"/>
                  <a:pt x="134" y="56"/>
                  <a:pt x="131" y="56"/>
                </a:cubicBezTo>
                <a:cubicBezTo>
                  <a:pt x="131" y="27"/>
                  <a:pt x="131" y="27"/>
                  <a:pt x="131" y="27"/>
                </a:cubicBezTo>
                <a:cubicBezTo>
                  <a:pt x="139" y="24"/>
                  <a:pt x="139" y="24"/>
                  <a:pt x="139" y="24"/>
                </a:cubicBezTo>
                <a:cubicBezTo>
                  <a:pt x="70" y="0"/>
                  <a:pt x="70" y="0"/>
                  <a:pt x="70" y="0"/>
                </a:cubicBezTo>
                <a:cubicBezTo>
                  <a:pt x="0" y="24"/>
                  <a:pt x="0" y="24"/>
                  <a:pt x="0" y="24"/>
                </a:cubicBezTo>
                <a:cubicBezTo>
                  <a:pt x="70" y="48"/>
                  <a:pt x="70" y="48"/>
                  <a:pt x="70" y="48"/>
                </a:cubicBezTo>
                <a:cubicBezTo>
                  <a:pt x="127" y="28"/>
                  <a:pt x="127" y="28"/>
                  <a:pt x="127" y="28"/>
                </a:cubicBezTo>
                <a:cubicBezTo>
                  <a:pt x="127" y="56"/>
                  <a:pt x="127" y="56"/>
                  <a:pt x="127" y="56"/>
                </a:cubicBezTo>
                <a:cubicBezTo>
                  <a:pt x="125" y="56"/>
                  <a:pt x="123" y="58"/>
                  <a:pt x="123" y="61"/>
                </a:cubicBezTo>
                <a:cubicBezTo>
                  <a:pt x="123" y="63"/>
                  <a:pt x="125" y="64"/>
                  <a:pt x="126" y="64"/>
                </a:cubicBezTo>
                <a:cubicBezTo>
                  <a:pt x="123" y="81"/>
                  <a:pt x="123" y="81"/>
                  <a:pt x="123" y="81"/>
                </a:cubicBezTo>
                <a:cubicBezTo>
                  <a:pt x="135" y="81"/>
                  <a:pt x="135" y="81"/>
                  <a:pt x="135" y="81"/>
                </a:cubicBezTo>
                <a:cubicBezTo>
                  <a:pt x="132" y="64"/>
                  <a:pt x="132" y="64"/>
                  <a:pt x="132" y="64"/>
                </a:cubicBezTo>
                <a:cubicBezTo>
                  <a:pt x="134" y="64"/>
                  <a:pt x="135" y="63"/>
                  <a:pt x="135" y="61"/>
                </a:cubicBezTo>
                <a:close/>
                <a:moveTo>
                  <a:pt x="28" y="42"/>
                </a:moveTo>
                <a:cubicBezTo>
                  <a:pt x="28" y="69"/>
                  <a:pt x="28" y="69"/>
                  <a:pt x="28" y="69"/>
                </a:cubicBezTo>
                <a:cubicBezTo>
                  <a:pt x="28" y="76"/>
                  <a:pt x="47" y="81"/>
                  <a:pt x="70" y="81"/>
                </a:cubicBezTo>
                <a:cubicBezTo>
                  <a:pt x="92" y="81"/>
                  <a:pt x="111" y="76"/>
                  <a:pt x="111" y="69"/>
                </a:cubicBezTo>
                <a:cubicBezTo>
                  <a:pt x="111" y="42"/>
                  <a:pt x="111" y="42"/>
                  <a:pt x="111" y="42"/>
                </a:cubicBezTo>
                <a:cubicBezTo>
                  <a:pt x="70" y="56"/>
                  <a:pt x="70" y="56"/>
                  <a:pt x="70" y="56"/>
                </a:cubicBezTo>
                <a:lnTo>
                  <a:pt x="28" y="42"/>
                </a:lnTo>
                <a:close/>
              </a:path>
            </a:pathLst>
          </a:custGeom>
          <a:solidFill>
            <a:srgbClr val="A41F1C"/>
          </a:soli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lt1"/>
              </a:solidFill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6200000">
            <a:off x="5061478" y="-5074154"/>
            <a:ext cx="2069045" cy="1219200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Freeform 23"/>
          <p:cNvSpPr>
            <a:spLocks noEditPoints="1"/>
          </p:cNvSpPr>
          <p:nvPr/>
        </p:nvSpPr>
        <p:spPr bwMode="auto">
          <a:xfrm>
            <a:off x="10064890" y="572858"/>
            <a:ext cx="1132652" cy="1014904"/>
          </a:xfrm>
          <a:custGeom>
            <a:avLst/>
            <a:gdLst>
              <a:gd name="T0" fmla="*/ 13 w 152"/>
              <a:gd name="T1" fmla="*/ 48 h 137"/>
              <a:gd name="T2" fmla="*/ 8 w 152"/>
              <a:gd name="T3" fmla="*/ 62 h 137"/>
              <a:gd name="T4" fmla="*/ 25 w 152"/>
              <a:gd name="T5" fmla="*/ 60 h 137"/>
              <a:gd name="T6" fmla="*/ 30 w 152"/>
              <a:gd name="T7" fmla="*/ 54 h 137"/>
              <a:gd name="T8" fmla="*/ 23 w 152"/>
              <a:gd name="T9" fmla="*/ 78 h 137"/>
              <a:gd name="T10" fmla="*/ 7 w 152"/>
              <a:gd name="T11" fmla="*/ 72 h 137"/>
              <a:gd name="T12" fmla="*/ 3 w 152"/>
              <a:gd name="T13" fmla="*/ 134 h 137"/>
              <a:gd name="T14" fmla="*/ 21 w 152"/>
              <a:gd name="T15" fmla="*/ 133 h 137"/>
              <a:gd name="T16" fmla="*/ 20 w 152"/>
              <a:gd name="T17" fmla="*/ 126 h 137"/>
              <a:gd name="T18" fmla="*/ 1 w 152"/>
              <a:gd name="T19" fmla="*/ 122 h 137"/>
              <a:gd name="T20" fmla="*/ 20 w 152"/>
              <a:gd name="T21" fmla="*/ 122 h 137"/>
              <a:gd name="T22" fmla="*/ 27 w 152"/>
              <a:gd name="T23" fmla="*/ 75 h 137"/>
              <a:gd name="T24" fmla="*/ 8 w 152"/>
              <a:gd name="T25" fmla="*/ 62 h 137"/>
              <a:gd name="T26" fmla="*/ 7 w 152"/>
              <a:gd name="T27" fmla="*/ 72 h 137"/>
              <a:gd name="T28" fmla="*/ 8 w 152"/>
              <a:gd name="T29" fmla="*/ 62 h 137"/>
              <a:gd name="T30" fmla="*/ 29 w 152"/>
              <a:gd name="T31" fmla="*/ 64 h 137"/>
              <a:gd name="T32" fmla="*/ 27 w 152"/>
              <a:gd name="T33" fmla="*/ 75 h 137"/>
              <a:gd name="T34" fmla="*/ 127 w 152"/>
              <a:gd name="T35" fmla="*/ 44 h 137"/>
              <a:gd name="T36" fmla="*/ 127 w 152"/>
              <a:gd name="T37" fmla="*/ 36 h 137"/>
              <a:gd name="T38" fmla="*/ 110 w 152"/>
              <a:gd name="T39" fmla="*/ 37 h 137"/>
              <a:gd name="T40" fmla="*/ 109 w 152"/>
              <a:gd name="T41" fmla="*/ 52 h 137"/>
              <a:gd name="T42" fmla="*/ 127 w 152"/>
              <a:gd name="T43" fmla="*/ 44 h 137"/>
              <a:gd name="T44" fmla="*/ 67 w 152"/>
              <a:gd name="T45" fmla="*/ 101 h 137"/>
              <a:gd name="T46" fmla="*/ 99 w 152"/>
              <a:gd name="T47" fmla="*/ 19 h 137"/>
              <a:gd name="T48" fmla="*/ 67 w 152"/>
              <a:gd name="T49" fmla="*/ 105 h 137"/>
              <a:gd name="T50" fmla="*/ 99 w 152"/>
              <a:gd name="T51" fmla="*/ 114 h 137"/>
              <a:gd name="T52" fmla="*/ 67 w 152"/>
              <a:gd name="T53" fmla="*/ 105 h 137"/>
              <a:gd name="T54" fmla="*/ 70 w 152"/>
              <a:gd name="T55" fmla="*/ 0 h 137"/>
              <a:gd name="T56" fmla="*/ 67 w 152"/>
              <a:gd name="T57" fmla="*/ 14 h 137"/>
              <a:gd name="T58" fmla="*/ 99 w 152"/>
              <a:gd name="T59" fmla="*/ 4 h 137"/>
              <a:gd name="T60" fmla="*/ 67 w 152"/>
              <a:gd name="T61" fmla="*/ 126 h 137"/>
              <a:gd name="T62" fmla="*/ 70 w 152"/>
              <a:gd name="T63" fmla="*/ 136 h 137"/>
              <a:gd name="T64" fmla="*/ 99 w 152"/>
              <a:gd name="T65" fmla="*/ 132 h 137"/>
              <a:gd name="T66" fmla="*/ 67 w 152"/>
              <a:gd name="T67" fmla="*/ 126 h 137"/>
              <a:gd name="T68" fmla="*/ 41 w 152"/>
              <a:gd name="T69" fmla="*/ 17 h 137"/>
              <a:gd name="T70" fmla="*/ 38 w 152"/>
              <a:gd name="T71" fmla="*/ 132 h 137"/>
              <a:gd name="T72" fmla="*/ 55 w 152"/>
              <a:gd name="T73" fmla="*/ 136 h 137"/>
              <a:gd name="T74" fmla="*/ 58 w 152"/>
              <a:gd name="T75" fmla="*/ 21 h 137"/>
              <a:gd name="T76" fmla="*/ 53 w 152"/>
              <a:gd name="T77" fmla="*/ 123 h 137"/>
              <a:gd name="T78" fmla="*/ 41 w 152"/>
              <a:gd name="T79" fmla="*/ 121 h 137"/>
              <a:gd name="T80" fmla="*/ 53 w 152"/>
              <a:gd name="T81" fmla="*/ 119 h 137"/>
              <a:gd name="T82" fmla="*/ 53 w 152"/>
              <a:gd name="T83" fmla="*/ 123 h 137"/>
              <a:gd name="T84" fmla="*/ 45 w 152"/>
              <a:gd name="T85" fmla="*/ 33 h 137"/>
              <a:gd name="T86" fmla="*/ 45 w 152"/>
              <a:gd name="T87" fmla="*/ 25 h 137"/>
              <a:gd name="T88" fmla="*/ 55 w 152"/>
              <a:gd name="T89" fmla="*/ 29 h 137"/>
              <a:gd name="T90" fmla="*/ 129 w 152"/>
              <a:gd name="T91" fmla="*/ 46 h 137"/>
              <a:gd name="T92" fmla="*/ 112 w 152"/>
              <a:gd name="T93" fmla="*/ 52 h 137"/>
              <a:gd name="T94" fmla="*/ 131 w 152"/>
              <a:gd name="T95" fmla="*/ 133 h 137"/>
              <a:gd name="T96" fmla="*/ 148 w 152"/>
              <a:gd name="T97" fmla="*/ 133 h 137"/>
              <a:gd name="T98" fmla="*/ 129 w 152"/>
              <a:gd name="T99" fmla="*/ 46 h 137"/>
              <a:gd name="T100" fmla="*/ 115 w 152"/>
              <a:gd name="T101" fmla="*/ 56 h 137"/>
              <a:gd name="T102" fmla="*/ 131 w 152"/>
              <a:gd name="T103" fmla="*/ 69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52" h="137">
                <a:moveTo>
                  <a:pt x="27" y="50"/>
                </a:moveTo>
                <a:cubicBezTo>
                  <a:pt x="13" y="48"/>
                  <a:pt x="13" y="48"/>
                  <a:pt x="13" y="48"/>
                </a:cubicBezTo>
                <a:cubicBezTo>
                  <a:pt x="11" y="48"/>
                  <a:pt x="9" y="50"/>
                  <a:pt x="9" y="52"/>
                </a:cubicBezTo>
                <a:cubicBezTo>
                  <a:pt x="8" y="62"/>
                  <a:pt x="8" y="62"/>
                  <a:pt x="8" y="62"/>
                </a:cubicBezTo>
                <a:cubicBezTo>
                  <a:pt x="8" y="60"/>
                  <a:pt x="10" y="59"/>
                  <a:pt x="12" y="59"/>
                </a:cubicBezTo>
                <a:cubicBezTo>
                  <a:pt x="25" y="60"/>
                  <a:pt x="25" y="60"/>
                  <a:pt x="25" y="60"/>
                </a:cubicBezTo>
                <a:cubicBezTo>
                  <a:pt x="27" y="61"/>
                  <a:pt x="29" y="62"/>
                  <a:pt x="29" y="64"/>
                </a:cubicBezTo>
                <a:cubicBezTo>
                  <a:pt x="30" y="54"/>
                  <a:pt x="30" y="54"/>
                  <a:pt x="30" y="54"/>
                </a:cubicBezTo>
                <a:cubicBezTo>
                  <a:pt x="30" y="52"/>
                  <a:pt x="29" y="50"/>
                  <a:pt x="27" y="50"/>
                </a:cubicBezTo>
                <a:close/>
                <a:moveTo>
                  <a:pt x="23" y="78"/>
                </a:moveTo>
                <a:cubicBezTo>
                  <a:pt x="10" y="76"/>
                  <a:pt x="10" y="76"/>
                  <a:pt x="10" y="76"/>
                </a:cubicBezTo>
                <a:cubicBezTo>
                  <a:pt x="8" y="76"/>
                  <a:pt x="7" y="74"/>
                  <a:pt x="7" y="72"/>
                </a:cubicBezTo>
                <a:cubicBezTo>
                  <a:pt x="0" y="131"/>
                  <a:pt x="0" y="131"/>
                  <a:pt x="0" y="131"/>
                </a:cubicBezTo>
                <a:cubicBezTo>
                  <a:pt x="0" y="133"/>
                  <a:pt x="1" y="134"/>
                  <a:pt x="3" y="134"/>
                </a:cubicBezTo>
                <a:cubicBezTo>
                  <a:pt x="17" y="136"/>
                  <a:pt x="17" y="136"/>
                  <a:pt x="17" y="136"/>
                </a:cubicBezTo>
                <a:cubicBezTo>
                  <a:pt x="19" y="136"/>
                  <a:pt x="20" y="135"/>
                  <a:pt x="21" y="133"/>
                </a:cubicBezTo>
                <a:cubicBezTo>
                  <a:pt x="22" y="124"/>
                  <a:pt x="22" y="124"/>
                  <a:pt x="22" y="124"/>
                </a:cubicBezTo>
                <a:cubicBezTo>
                  <a:pt x="21" y="125"/>
                  <a:pt x="21" y="126"/>
                  <a:pt x="20" y="126"/>
                </a:cubicBezTo>
                <a:cubicBezTo>
                  <a:pt x="2" y="124"/>
                  <a:pt x="2" y="124"/>
                  <a:pt x="2" y="124"/>
                </a:cubicBezTo>
                <a:cubicBezTo>
                  <a:pt x="2" y="124"/>
                  <a:pt x="1" y="123"/>
                  <a:pt x="1" y="122"/>
                </a:cubicBezTo>
                <a:cubicBezTo>
                  <a:pt x="1" y="121"/>
                  <a:pt x="2" y="120"/>
                  <a:pt x="3" y="121"/>
                </a:cubicBezTo>
                <a:cubicBezTo>
                  <a:pt x="20" y="122"/>
                  <a:pt x="20" y="122"/>
                  <a:pt x="20" y="122"/>
                </a:cubicBezTo>
                <a:cubicBezTo>
                  <a:pt x="21" y="123"/>
                  <a:pt x="22" y="123"/>
                  <a:pt x="22" y="124"/>
                </a:cubicBezTo>
                <a:cubicBezTo>
                  <a:pt x="27" y="75"/>
                  <a:pt x="27" y="75"/>
                  <a:pt x="27" y="75"/>
                </a:cubicBezTo>
                <a:cubicBezTo>
                  <a:pt x="27" y="76"/>
                  <a:pt x="25" y="78"/>
                  <a:pt x="23" y="78"/>
                </a:cubicBezTo>
                <a:close/>
                <a:moveTo>
                  <a:pt x="8" y="62"/>
                </a:moveTo>
                <a:cubicBezTo>
                  <a:pt x="7" y="72"/>
                  <a:pt x="7" y="72"/>
                  <a:pt x="7" y="72"/>
                </a:cubicBezTo>
                <a:cubicBezTo>
                  <a:pt x="7" y="72"/>
                  <a:pt x="7" y="72"/>
                  <a:pt x="7" y="72"/>
                </a:cubicBezTo>
                <a:cubicBezTo>
                  <a:pt x="8" y="62"/>
                  <a:pt x="8" y="62"/>
                  <a:pt x="8" y="62"/>
                </a:cubicBezTo>
                <a:cubicBezTo>
                  <a:pt x="8" y="62"/>
                  <a:pt x="8" y="62"/>
                  <a:pt x="8" y="62"/>
                </a:cubicBezTo>
                <a:close/>
                <a:moveTo>
                  <a:pt x="27" y="75"/>
                </a:moveTo>
                <a:cubicBezTo>
                  <a:pt x="29" y="64"/>
                  <a:pt x="29" y="64"/>
                  <a:pt x="29" y="64"/>
                </a:cubicBezTo>
                <a:cubicBezTo>
                  <a:pt x="29" y="64"/>
                  <a:pt x="29" y="64"/>
                  <a:pt x="29" y="64"/>
                </a:cubicBezTo>
                <a:cubicBezTo>
                  <a:pt x="27" y="75"/>
                  <a:pt x="27" y="75"/>
                  <a:pt x="27" y="75"/>
                </a:cubicBezTo>
                <a:cubicBezTo>
                  <a:pt x="27" y="75"/>
                  <a:pt x="27" y="75"/>
                  <a:pt x="27" y="75"/>
                </a:cubicBezTo>
                <a:close/>
                <a:moveTo>
                  <a:pt x="127" y="44"/>
                </a:moveTo>
                <a:cubicBezTo>
                  <a:pt x="128" y="44"/>
                  <a:pt x="129" y="45"/>
                  <a:pt x="129" y="46"/>
                </a:cubicBezTo>
                <a:cubicBezTo>
                  <a:pt x="127" y="36"/>
                  <a:pt x="127" y="36"/>
                  <a:pt x="127" y="36"/>
                </a:cubicBezTo>
                <a:cubicBezTo>
                  <a:pt x="126" y="34"/>
                  <a:pt x="124" y="33"/>
                  <a:pt x="122" y="33"/>
                </a:cubicBezTo>
                <a:cubicBezTo>
                  <a:pt x="110" y="37"/>
                  <a:pt x="110" y="37"/>
                  <a:pt x="110" y="37"/>
                </a:cubicBezTo>
                <a:cubicBezTo>
                  <a:pt x="108" y="37"/>
                  <a:pt x="106" y="39"/>
                  <a:pt x="107" y="42"/>
                </a:cubicBezTo>
                <a:cubicBezTo>
                  <a:pt x="109" y="52"/>
                  <a:pt x="109" y="52"/>
                  <a:pt x="109" y="52"/>
                </a:cubicBezTo>
                <a:cubicBezTo>
                  <a:pt x="109" y="50"/>
                  <a:pt x="110" y="49"/>
                  <a:pt x="111" y="48"/>
                </a:cubicBezTo>
                <a:cubicBezTo>
                  <a:pt x="116" y="46"/>
                  <a:pt x="121" y="44"/>
                  <a:pt x="127" y="44"/>
                </a:cubicBezTo>
                <a:close/>
                <a:moveTo>
                  <a:pt x="67" y="19"/>
                </a:moveTo>
                <a:cubicBezTo>
                  <a:pt x="67" y="101"/>
                  <a:pt x="67" y="101"/>
                  <a:pt x="67" y="101"/>
                </a:cubicBezTo>
                <a:cubicBezTo>
                  <a:pt x="77" y="104"/>
                  <a:pt x="89" y="104"/>
                  <a:pt x="99" y="101"/>
                </a:cubicBezTo>
                <a:cubicBezTo>
                  <a:pt x="99" y="19"/>
                  <a:pt x="99" y="19"/>
                  <a:pt x="99" y="19"/>
                </a:cubicBezTo>
                <a:cubicBezTo>
                  <a:pt x="92" y="15"/>
                  <a:pt x="74" y="15"/>
                  <a:pt x="67" y="19"/>
                </a:cubicBezTo>
                <a:close/>
                <a:moveTo>
                  <a:pt x="67" y="105"/>
                </a:moveTo>
                <a:cubicBezTo>
                  <a:pt x="67" y="114"/>
                  <a:pt x="67" y="114"/>
                  <a:pt x="67" y="114"/>
                </a:cubicBezTo>
                <a:cubicBezTo>
                  <a:pt x="73" y="117"/>
                  <a:pt x="93" y="117"/>
                  <a:pt x="99" y="114"/>
                </a:cubicBezTo>
                <a:cubicBezTo>
                  <a:pt x="99" y="105"/>
                  <a:pt x="99" y="105"/>
                  <a:pt x="99" y="105"/>
                </a:cubicBezTo>
                <a:cubicBezTo>
                  <a:pt x="89" y="108"/>
                  <a:pt x="77" y="108"/>
                  <a:pt x="67" y="105"/>
                </a:cubicBezTo>
                <a:close/>
                <a:moveTo>
                  <a:pt x="96" y="0"/>
                </a:moveTo>
                <a:cubicBezTo>
                  <a:pt x="70" y="0"/>
                  <a:pt x="70" y="0"/>
                  <a:pt x="70" y="0"/>
                </a:cubicBezTo>
                <a:cubicBezTo>
                  <a:pt x="68" y="0"/>
                  <a:pt x="67" y="2"/>
                  <a:pt x="67" y="4"/>
                </a:cubicBezTo>
                <a:cubicBezTo>
                  <a:pt x="67" y="14"/>
                  <a:pt x="67" y="14"/>
                  <a:pt x="67" y="14"/>
                </a:cubicBezTo>
                <a:cubicBezTo>
                  <a:pt x="73" y="11"/>
                  <a:pt x="93" y="11"/>
                  <a:pt x="99" y="14"/>
                </a:cubicBezTo>
                <a:cubicBezTo>
                  <a:pt x="99" y="4"/>
                  <a:pt x="99" y="4"/>
                  <a:pt x="99" y="4"/>
                </a:cubicBezTo>
                <a:cubicBezTo>
                  <a:pt x="99" y="2"/>
                  <a:pt x="98" y="0"/>
                  <a:pt x="96" y="0"/>
                </a:cubicBezTo>
                <a:close/>
                <a:moveTo>
                  <a:pt x="67" y="126"/>
                </a:moveTo>
                <a:cubicBezTo>
                  <a:pt x="67" y="132"/>
                  <a:pt x="67" y="132"/>
                  <a:pt x="67" y="132"/>
                </a:cubicBezTo>
                <a:cubicBezTo>
                  <a:pt x="67" y="134"/>
                  <a:pt x="68" y="136"/>
                  <a:pt x="70" y="136"/>
                </a:cubicBezTo>
                <a:cubicBezTo>
                  <a:pt x="96" y="136"/>
                  <a:pt x="96" y="136"/>
                  <a:pt x="96" y="136"/>
                </a:cubicBezTo>
                <a:cubicBezTo>
                  <a:pt x="98" y="136"/>
                  <a:pt x="99" y="134"/>
                  <a:pt x="99" y="132"/>
                </a:cubicBezTo>
                <a:cubicBezTo>
                  <a:pt x="99" y="126"/>
                  <a:pt x="99" y="126"/>
                  <a:pt x="99" y="126"/>
                </a:cubicBezTo>
                <a:cubicBezTo>
                  <a:pt x="96" y="128"/>
                  <a:pt x="70" y="128"/>
                  <a:pt x="67" y="126"/>
                </a:cubicBezTo>
                <a:close/>
                <a:moveTo>
                  <a:pt x="55" y="17"/>
                </a:moveTo>
                <a:cubicBezTo>
                  <a:pt x="41" y="17"/>
                  <a:pt x="41" y="17"/>
                  <a:pt x="41" y="17"/>
                </a:cubicBezTo>
                <a:cubicBezTo>
                  <a:pt x="39" y="17"/>
                  <a:pt x="38" y="18"/>
                  <a:pt x="38" y="21"/>
                </a:cubicBezTo>
                <a:cubicBezTo>
                  <a:pt x="38" y="132"/>
                  <a:pt x="38" y="132"/>
                  <a:pt x="38" y="132"/>
                </a:cubicBezTo>
                <a:cubicBezTo>
                  <a:pt x="38" y="134"/>
                  <a:pt x="39" y="136"/>
                  <a:pt x="41" y="136"/>
                </a:cubicBezTo>
                <a:cubicBezTo>
                  <a:pt x="55" y="136"/>
                  <a:pt x="55" y="136"/>
                  <a:pt x="55" y="136"/>
                </a:cubicBezTo>
                <a:cubicBezTo>
                  <a:pt x="57" y="136"/>
                  <a:pt x="58" y="134"/>
                  <a:pt x="58" y="132"/>
                </a:cubicBezTo>
                <a:cubicBezTo>
                  <a:pt x="58" y="21"/>
                  <a:pt x="58" y="21"/>
                  <a:pt x="58" y="21"/>
                </a:cubicBezTo>
                <a:cubicBezTo>
                  <a:pt x="58" y="18"/>
                  <a:pt x="57" y="17"/>
                  <a:pt x="55" y="17"/>
                </a:cubicBezTo>
                <a:close/>
                <a:moveTo>
                  <a:pt x="53" y="123"/>
                </a:moveTo>
                <a:cubicBezTo>
                  <a:pt x="43" y="123"/>
                  <a:pt x="43" y="123"/>
                  <a:pt x="43" y="123"/>
                </a:cubicBezTo>
                <a:cubicBezTo>
                  <a:pt x="42" y="123"/>
                  <a:pt x="41" y="123"/>
                  <a:pt x="41" y="121"/>
                </a:cubicBezTo>
                <a:cubicBezTo>
                  <a:pt x="41" y="120"/>
                  <a:pt x="42" y="119"/>
                  <a:pt x="43" y="119"/>
                </a:cubicBezTo>
                <a:cubicBezTo>
                  <a:pt x="53" y="119"/>
                  <a:pt x="53" y="119"/>
                  <a:pt x="53" y="119"/>
                </a:cubicBezTo>
                <a:cubicBezTo>
                  <a:pt x="54" y="119"/>
                  <a:pt x="55" y="120"/>
                  <a:pt x="55" y="121"/>
                </a:cubicBezTo>
                <a:cubicBezTo>
                  <a:pt x="55" y="123"/>
                  <a:pt x="54" y="123"/>
                  <a:pt x="53" y="123"/>
                </a:cubicBezTo>
                <a:close/>
                <a:moveTo>
                  <a:pt x="51" y="33"/>
                </a:moveTo>
                <a:cubicBezTo>
                  <a:pt x="45" y="33"/>
                  <a:pt x="45" y="33"/>
                  <a:pt x="45" y="33"/>
                </a:cubicBezTo>
                <a:cubicBezTo>
                  <a:pt x="43" y="33"/>
                  <a:pt x="41" y="31"/>
                  <a:pt x="41" y="29"/>
                </a:cubicBezTo>
                <a:cubicBezTo>
                  <a:pt x="41" y="27"/>
                  <a:pt x="43" y="25"/>
                  <a:pt x="45" y="25"/>
                </a:cubicBezTo>
                <a:cubicBezTo>
                  <a:pt x="51" y="25"/>
                  <a:pt x="51" y="25"/>
                  <a:pt x="51" y="25"/>
                </a:cubicBezTo>
                <a:cubicBezTo>
                  <a:pt x="53" y="25"/>
                  <a:pt x="55" y="27"/>
                  <a:pt x="55" y="29"/>
                </a:cubicBezTo>
                <a:cubicBezTo>
                  <a:pt x="55" y="31"/>
                  <a:pt x="53" y="33"/>
                  <a:pt x="51" y="33"/>
                </a:cubicBezTo>
                <a:close/>
                <a:moveTo>
                  <a:pt x="129" y="46"/>
                </a:moveTo>
                <a:cubicBezTo>
                  <a:pt x="130" y="47"/>
                  <a:pt x="129" y="48"/>
                  <a:pt x="128" y="48"/>
                </a:cubicBezTo>
                <a:cubicBezTo>
                  <a:pt x="122" y="48"/>
                  <a:pt x="117" y="50"/>
                  <a:pt x="112" y="52"/>
                </a:cubicBezTo>
                <a:cubicBezTo>
                  <a:pt x="111" y="53"/>
                  <a:pt x="110" y="53"/>
                  <a:pt x="109" y="52"/>
                </a:cubicBezTo>
                <a:cubicBezTo>
                  <a:pt x="131" y="133"/>
                  <a:pt x="131" y="133"/>
                  <a:pt x="131" y="133"/>
                </a:cubicBezTo>
                <a:cubicBezTo>
                  <a:pt x="132" y="135"/>
                  <a:pt x="134" y="137"/>
                  <a:pt x="136" y="136"/>
                </a:cubicBezTo>
                <a:cubicBezTo>
                  <a:pt x="148" y="133"/>
                  <a:pt x="148" y="133"/>
                  <a:pt x="148" y="133"/>
                </a:cubicBezTo>
                <a:cubicBezTo>
                  <a:pt x="150" y="132"/>
                  <a:pt x="152" y="130"/>
                  <a:pt x="151" y="128"/>
                </a:cubicBezTo>
                <a:lnTo>
                  <a:pt x="129" y="46"/>
                </a:lnTo>
                <a:close/>
                <a:moveTo>
                  <a:pt x="119" y="72"/>
                </a:moveTo>
                <a:cubicBezTo>
                  <a:pt x="115" y="56"/>
                  <a:pt x="115" y="56"/>
                  <a:pt x="115" y="56"/>
                </a:cubicBezTo>
                <a:cubicBezTo>
                  <a:pt x="127" y="53"/>
                  <a:pt x="127" y="53"/>
                  <a:pt x="127" y="53"/>
                </a:cubicBezTo>
                <a:cubicBezTo>
                  <a:pt x="131" y="69"/>
                  <a:pt x="131" y="69"/>
                  <a:pt x="131" y="69"/>
                </a:cubicBezTo>
                <a:lnTo>
                  <a:pt x="119" y="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972169" y="572858"/>
            <a:ext cx="4061404" cy="923330"/>
            <a:chOff x="4776262" y="1155489"/>
            <a:chExt cx="4061404" cy="923330"/>
          </a:xfrm>
        </p:grpSpPr>
        <p:sp>
          <p:nvSpPr>
            <p:cNvPr id="8" name="文本框 7"/>
            <p:cNvSpPr txBox="1"/>
            <p:nvPr/>
          </p:nvSpPr>
          <p:spPr>
            <a:xfrm>
              <a:off x="5290782" y="115548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5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录</a:t>
              </a:r>
              <a:endParaRPr lang="zh-CN" altLang="en-US" sz="5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PA-文本框 39"/>
            <p:cNvSpPr txBox="1"/>
            <p:nvPr>
              <p:custDataLst>
                <p:tags r:id="rId1"/>
              </p:custDataLst>
            </p:nvPr>
          </p:nvSpPr>
          <p:spPr>
            <a:xfrm>
              <a:off x="4776262" y="1330438"/>
              <a:ext cx="484882" cy="620167"/>
            </a:xfrm>
            <a:custGeom>
              <a:avLst/>
              <a:gdLst/>
              <a:ahLst/>
              <a:cxnLst/>
              <a:rect l="l" t="t" r="r" b="b"/>
              <a:pathLst>
                <a:path w="484882" h="620167">
                  <a:moveTo>
                    <a:pt x="56927" y="393800"/>
                  </a:moveTo>
                  <a:lnTo>
                    <a:pt x="56927" y="520378"/>
                  </a:lnTo>
                  <a:lnTo>
                    <a:pt x="427955" y="520378"/>
                  </a:lnTo>
                  <a:lnTo>
                    <a:pt x="427955" y="393800"/>
                  </a:lnTo>
                  <a:close/>
                  <a:moveTo>
                    <a:pt x="56927" y="221680"/>
                  </a:moveTo>
                  <a:lnTo>
                    <a:pt x="56927" y="346919"/>
                  </a:lnTo>
                  <a:lnTo>
                    <a:pt x="427955" y="346919"/>
                  </a:lnTo>
                  <a:lnTo>
                    <a:pt x="427955" y="221680"/>
                  </a:lnTo>
                  <a:close/>
                  <a:moveTo>
                    <a:pt x="56927" y="49560"/>
                  </a:moveTo>
                  <a:lnTo>
                    <a:pt x="56927" y="174799"/>
                  </a:lnTo>
                  <a:lnTo>
                    <a:pt x="427955" y="174799"/>
                  </a:lnTo>
                  <a:lnTo>
                    <a:pt x="427955" y="49560"/>
                  </a:lnTo>
                  <a:close/>
                  <a:moveTo>
                    <a:pt x="0" y="0"/>
                  </a:moveTo>
                  <a:lnTo>
                    <a:pt x="484882" y="0"/>
                  </a:lnTo>
                  <a:lnTo>
                    <a:pt x="484882" y="620167"/>
                  </a:lnTo>
                  <a:lnTo>
                    <a:pt x="427955" y="620167"/>
                  </a:lnTo>
                  <a:lnTo>
                    <a:pt x="427955" y="569938"/>
                  </a:lnTo>
                  <a:lnTo>
                    <a:pt x="56927" y="569938"/>
                  </a:lnTo>
                  <a:lnTo>
                    <a:pt x="56927" y="620167"/>
                  </a:lnTo>
                  <a:lnTo>
                    <a:pt x="0" y="62016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zh-CN" altLang="en-US" sz="5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PA-文本框 40"/>
            <p:cNvSpPr txBox="1"/>
            <p:nvPr>
              <p:custDataLst>
                <p:tags r:id="rId2"/>
              </p:custDataLst>
            </p:nvPr>
          </p:nvSpPr>
          <p:spPr>
            <a:xfrm>
              <a:off x="6227221" y="1418915"/>
              <a:ext cx="2610445" cy="396479"/>
            </a:xfrm>
            <a:custGeom>
              <a:avLst/>
              <a:gdLst/>
              <a:ahLst/>
              <a:cxnLst/>
              <a:rect l="l" t="t" r="r" b="b"/>
              <a:pathLst>
                <a:path w="2610445" h="396479">
                  <a:moveTo>
                    <a:pt x="488007" y="43756"/>
                  </a:moveTo>
                  <a:cubicBezTo>
                    <a:pt x="465810" y="43756"/>
                    <a:pt x="447180" y="47923"/>
                    <a:pt x="432118" y="56257"/>
                  </a:cubicBezTo>
                  <a:cubicBezTo>
                    <a:pt x="417055" y="64592"/>
                    <a:pt x="404817" y="75704"/>
                    <a:pt x="395404" y="89595"/>
                  </a:cubicBezTo>
                  <a:cubicBezTo>
                    <a:pt x="385990" y="103486"/>
                    <a:pt x="379252" y="119708"/>
                    <a:pt x="375189" y="138262"/>
                  </a:cubicBezTo>
                  <a:cubicBezTo>
                    <a:pt x="371125" y="156816"/>
                    <a:pt x="369094" y="176312"/>
                    <a:pt x="369094" y="196751"/>
                  </a:cubicBezTo>
                  <a:cubicBezTo>
                    <a:pt x="369094" y="219373"/>
                    <a:pt x="370977" y="240209"/>
                    <a:pt x="374742" y="259259"/>
                  </a:cubicBezTo>
                  <a:cubicBezTo>
                    <a:pt x="378508" y="278309"/>
                    <a:pt x="384850" y="294730"/>
                    <a:pt x="393769" y="308521"/>
                  </a:cubicBezTo>
                  <a:cubicBezTo>
                    <a:pt x="402688" y="322313"/>
                    <a:pt x="414629" y="333028"/>
                    <a:pt x="429592" y="340668"/>
                  </a:cubicBezTo>
                  <a:cubicBezTo>
                    <a:pt x="444556" y="348308"/>
                    <a:pt x="463333" y="352128"/>
                    <a:pt x="485924" y="352128"/>
                  </a:cubicBezTo>
                  <a:cubicBezTo>
                    <a:pt x="508319" y="352128"/>
                    <a:pt x="527148" y="347961"/>
                    <a:pt x="542409" y="339626"/>
                  </a:cubicBezTo>
                  <a:cubicBezTo>
                    <a:pt x="557670" y="331292"/>
                    <a:pt x="569957" y="320031"/>
                    <a:pt x="579272" y="305842"/>
                  </a:cubicBezTo>
                  <a:cubicBezTo>
                    <a:pt x="588586" y="291654"/>
                    <a:pt x="595225" y="275233"/>
                    <a:pt x="599189" y="256580"/>
                  </a:cubicBezTo>
                  <a:cubicBezTo>
                    <a:pt x="603153" y="237927"/>
                    <a:pt x="605135" y="218182"/>
                    <a:pt x="605135" y="197347"/>
                  </a:cubicBezTo>
                  <a:cubicBezTo>
                    <a:pt x="605135" y="175518"/>
                    <a:pt x="603203" y="155228"/>
                    <a:pt x="599338" y="136476"/>
                  </a:cubicBezTo>
                  <a:cubicBezTo>
                    <a:pt x="595473" y="117723"/>
                    <a:pt x="589031" y="101452"/>
                    <a:pt x="580013" y="87660"/>
                  </a:cubicBezTo>
                  <a:cubicBezTo>
                    <a:pt x="570995" y="73869"/>
                    <a:pt x="558956" y="63104"/>
                    <a:pt x="543895" y="55364"/>
                  </a:cubicBezTo>
                  <a:cubicBezTo>
                    <a:pt x="528834" y="47625"/>
                    <a:pt x="510204" y="43756"/>
                    <a:pt x="488007" y="43756"/>
                  </a:cubicBezTo>
                  <a:close/>
                  <a:moveTo>
                    <a:pt x="2071687" y="5656"/>
                  </a:moveTo>
                  <a:lnTo>
                    <a:pt x="2339578" y="5656"/>
                  </a:lnTo>
                  <a:cubicBezTo>
                    <a:pt x="2341165" y="5656"/>
                    <a:pt x="2342604" y="6053"/>
                    <a:pt x="2343894" y="6847"/>
                  </a:cubicBezTo>
                  <a:cubicBezTo>
                    <a:pt x="2345183" y="7640"/>
                    <a:pt x="2346275" y="8930"/>
                    <a:pt x="2347168" y="10716"/>
                  </a:cubicBezTo>
                  <a:cubicBezTo>
                    <a:pt x="2348061" y="12502"/>
                    <a:pt x="2348706" y="14834"/>
                    <a:pt x="2349103" y="17711"/>
                  </a:cubicBezTo>
                  <a:cubicBezTo>
                    <a:pt x="2349499" y="20588"/>
                    <a:pt x="2349698" y="23912"/>
                    <a:pt x="2349698" y="27682"/>
                  </a:cubicBezTo>
                  <a:cubicBezTo>
                    <a:pt x="2349698" y="31453"/>
                    <a:pt x="2349499" y="34727"/>
                    <a:pt x="2349103" y="37505"/>
                  </a:cubicBezTo>
                  <a:cubicBezTo>
                    <a:pt x="2348706" y="40283"/>
                    <a:pt x="2348061" y="42516"/>
                    <a:pt x="2347168" y="44202"/>
                  </a:cubicBezTo>
                  <a:cubicBezTo>
                    <a:pt x="2346275" y="45889"/>
                    <a:pt x="2345183" y="47129"/>
                    <a:pt x="2343894" y="47923"/>
                  </a:cubicBezTo>
                  <a:cubicBezTo>
                    <a:pt x="2342604" y="48717"/>
                    <a:pt x="2341165" y="49114"/>
                    <a:pt x="2339578" y="49114"/>
                  </a:cubicBezTo>
                  <a:lnTo>
                    <a:pt x="2231231" y="49114"/>
                  </a:lnTo>
                  <a:lnTo>
                    <a:pt x="2231231" y="383084"/>
                  </a:lnTo>
                  <a:cubicBezTo>
                    <a:pt x="2231231" y="384672"/>
                    <a:pt x="2230834" y="386061"/>
                    <a:pt x="2230040" y="387251"/>
                  </a:cubicBezTo>
                  <a:cubicBezTo>
                    <a:pt x="2229247" y="388442"/>
                    <a:pt x="2227857" y="389384"/>
                    <a:pt x="2225873" y="390079"/>
                  </a:cubicBezTo>
                  <a:cubicBezTo>
                    <a:pt x="2223889" y="390774"/>
                    <a:pt x="2221259" y="391369"/>
                    <a:pt x="2217985" y="391865"/>
                  </a:cubicBezTo>
                  <a:cubicBezTo>
                    <a:pt x="2214711" y="392361"/>
                    <a:pt x="2210593" y="392609"/>
                    <a:pt x="2205633" y="392609"/>
                  </a:cubicBezTo>
                  <a:cubicBezTo>
                    <a:pt x="2200870" y="392609"/>
                    <a:pt x="2196802" y="392361"/>
                    <a:pt x="2193429" y="391865"/>
                  </a:cubicBezTo>
                  <a:cubicBezTo>
                    <a:pt x="2190055" y="391369"/>
                    <a:pt x="2187376" y="390774"/>
                    <a:pt x="2185392" y="390079"/>
                  </a:cubicBezTo>
                  <a:cubicBezTo>
                    <a:pt x="2183407" y="389384"/>
                    <a:pt x="2182019" y="388442"/>
                    <a:pt x="2181225" y="387251"/>
                  </a:cubicBezTo>
                  <a:cubicBezTo>
                    <a:pt x="2180431" y="386061"/>
                    <a:pt x="2180034" y="384672"/>
                    <a:pt x="2180034" y="383084"/>
                  </a:cubicBezTo>
                  <a:lnTo>
                    <a:pt x="2180034" y="49114"/>
                  </a:lnTo>
                  <a:lnTo>
                    <a:pt x="2071687" y="49114"/>
                  </a:lnTo>
                  <a:cubicBezTo>
                    <a:pt x="2070100" y="49114"/>
                    <a:pt x="2068661" y="48717"/>
                    <a:pt x="2067371" y="47923"/>
                  </a:cubicBezTo>
                  <a:cubicBezTo>
                    <a:pt x="2066081" y="47129"/>
                    <a:pt x="2065039" y="45889"/>
                    <a:pt x="2064246" y="44202"/>
                  </a:cubicBezTo>
                  <a:cubicBezTo>
                    <a:pt x="2063452" y="42516"/>
                    <a:pt x="2062807" y="40283"/>
                    <a:pt x="2062311" y="37505"/>
                  </a:cubicBezTo>
                  <a:cubicBezTo>
                    <a:pt x="2061815" y="34727"/>
                    <a:pt x="2061567" y="31453"/>
                    <a:pt x="2061567" y="27682"/>
                  </a:cubicBezTo>
                  <a:cubicBezTo>
                    <a:pt x="2061567" y="23912"/>
                    <a:pt x="2061815" y="20588"/>
                    <a:pt x="2062311" y="17711"/>
                  </a:cubicBezTo>
                  <a:cubicBezTo>
                    <a:pt x="2062807" y="14834"/>
                    <a:pt x="2063452" y="12502"/>
                    <a:pt x="2064246" y="10716"/>
                  </a:cubicBezTo>
                  <a:cubicBezTo>
                    <a:pt x="2065039" y="8930"/>
                    <a:pt x="2066081" y="7640"/>
                    <a:pt x="2067371" y="6847"/>
                  </a:cubicBezTo>
                  <a:cubicBezTo>
                    <a:pt x="2068661" y="6053"/>
                    <a:pt x="2070100" y="5656"/>
                    <a:pt x="2071687" y="5656"/>
                  </a:cubicBezTo>
                  <a:close/>
                  <a:moveTo>
                    <a:pt x="1441549" y="5656"/>
                  </a:moveTo>
                  <a:lnTo>
                    <a:pt x="1624310" y="5656"/>
                  </a:lnTo>
                  <a:cubicBezTo>
                    <a:pt x="1625898" y="5656"/>
                    <a:pt x="1627336" y="6053"/>
                    <a:pt x="1628626" y="6847"/>
                  </a:cubicBezTo>
                  <a:cubicBezTo>
                    <a:pt x="1629916" y="7640"/>
                    <a:pt x="1630958" y="8930"/>
                    <a:pt x="1631751" y="10716"/>
                  </a:cubicBezTo>
                  <a:cubicBezTo>
                    <a:pt x="1632545" y="12502"/>
                    <a:pt x="1633190" y="14734"/>
                    <a:pt x="1633686" y="17413"/>
                  </a:cubicBezTo>
                  <a:cubicBezTo>
                    <a:pt x="1634182" y="20092"/>
                    <a:pt x="1634430" y="23416"/>
                    <a:pt x="1634430" y="27385"/>
                  </a:cubicBezTo>
                  <a:cubicBezTo>
                    <a:pt x="1634430" y="30957"/>
                    <a:pt x="1634182" y="34082"/>
                    <a:pt x="1633686" y="36761"/>
                  </a:cubicBezTo>
                  <a:cubicBezTo>
                    <a:pt x="1633190" y="39440"/>
                    <a:pt x="1632545" y="41623"/>
                    <a:pt x="1631751" y="43309"/>
                  </a:cubicBezTo>
                  <a:cubicBezTo>
                    <a:pt x="1630958" y="44996"/>
                    <a:pt x="1629916" y="46236"/>
                    <a:pt x="1628626" y="47030"/>
                  </a:cubicBezTo>
                  <a:cubicBezTo>
                    <a:pt x="1627336" y="47824"/>
                    <a:pt x="1625898" y="48221"/>
                    <a:pt x="1624310" y="48221"/>
                  </a:cubicBezTo>
                  <a:lnTo>
                    <a:pt x="1473696" y="48221"/>
                  </a:lnTo>
                  <a:lnTo>
                    <a:pt x="1473696" y="169069"/>
                  </a:lnTo>
                  <a:lnTo>
                    <a:pt x="1602879" y="169069"/>
                  </a:lnTo>
                  <a:cubicBezTo>
                    <a:pt x="1604466" y="169069"/>
                    <a:pt x="1605905" y="169516"/>
                    <a:pt x="1607195" y="170409"/>
                  </a:cubicBezTo>
                  <a:cubicBezTo>
                    <a:pt x="1608485" y="171302"/>
                    <a:pt x="1609576" y="172542"/>
                    <a:pt x="1610469" y="174129"/>
                  </a:cubicBezTo>
                  <a:cubicBezTo>
                    <a:pt x="1611362" y="175717"/>
                    <a:pt x="1612007" y="177900"/>
                    <a:pt x="1612404" y="180678"/>
                  </a:cubicBezTo>
                  <a:cubicBezTo>
                    <a:pt x="1612801" y="183456"/>
                    <a:pt x="1612999" y="186730"/>
                    <a:pt x="1612999" y="190500"/>
                  </a:cubicBezTo>
                  <a:cubicBezTo>
                    <a:pt x="1612999" y="194072"/>
                    <a:pt x="1612801" y="197148"/>
                    <a:pt x="1612404" y="199728"/>
                  </a:cubicBezTo>
                  <a:cubicBezTo>
                    <a:pt x="1612007" y="202307"/>
                    <a:pt x="1611362" y="204391"/>
                    <a:pt x="1610469" y="205979"/>
                  </a:cubicBezTo>
                  <a:cubicBezTo>
                    <a:pt x="1609576" y="207566"/>
                    <a:pt x="1608485" y="208707"/>
                    <a:pt x="1607195" y="209402"/>
                  </a:cubicBezTo>
                  <a:cubicBezTo>
                    <a:pt x="1605905" y="210096"/>
                    <a:pt x="1604466" y="210443"/>
                    <a:pt x="1602879" y="210443"/>
                  </a:cubicBezTo>
                  <a:lnTo>
                    <a:pt x="1473696" y="210443"/>
                  </a:lnTo>
                  <a:lnTo>
                    <a:pt x="1473696" y="348258"/>
                  </a:lnTo>
                  <a:lnTo>
                    <a:pt x="1626394" y="348258"/>
                  </a:lnTo>
                  <a:cubicBezTo>
                    <a:pt x="1627981" y="348258"/>
                    <a:pt x="1629420" y="348655"/>
                    <a:pt x="1630710" y="349449"/>
                  </a:cubicBezTo>
                  <a:cubicBezTo>
                    <a:pt x="1632000" y="350243"/>
                    <a:pt x="1633140" y="351483"/>
                    <a:pt x="1634133" y="353170"/>
                  </a:cubicBezTo>
                  <a:cubicBezTo>
                    <a:pt x="1635125" y="354856"/>
                    <a:pt x="1635819" y="357039"/>
                    <a:pt x="1636216" y="359718"/>
                  </a:cubicBezTo>
                  <a:cubicBezTo>
                    <a:pt x="1636613" y="362397"/>
                    <a:pt x="1636812" y="365721"/>
                    <a:pt x="1636812" y="369690"/>
                  </a:cubicBezTo>
                  <a:cubicBezTo>
                    <a:pt x="1636812" y="373261"/>
                    <a:pt x="1636613" y="376387"/>
                    <a:pt x="1636216" y="379066"/>
                  </a:cubicBezTo>
                  <a:cubicBezTo>
                    <a:pt x="1635819" y="381745"/>
                    <a:pt x="1635125" y="383977"/>
                    <a:pt x="1634133" y="385763"/>
                  </a:cubicBezTo>
                  <a:cubicBezTo>
                    <a:pt x="1633140" y="387549"/>
                    <a:pt x="1632000" y="388839"/>
                    <a:pt x="1630710" y="389633"/>
                  </a:cubicBezTo>
                  <a:cubicBezTo>
                    <a:pt x="1629420" y="390426"/>
                    <a:pt x="1627981" y="390823"/>
                    <a:pt x="1626394" y="390823"/>
                  </a:cubicBezTo>
                  <a:lnTo>
                    <a:pt x="1441549" y="390823"/>
                  </a:lnTo>
                  <a:cubicBezTo>
                    <a:pt x="1436985" y="390823"/>
                    <a:pt x="1432669" y="389285"/>
                    <a:pt x="1428601" y="386210"/>
                  </a:cubicBezTo>
                  <a:cubicBezTo>
                    <a:pt x="1424533" y="383134"/>
                    <a:pt x="1422499" y="377726"/>
                    <a:pt x="1422499" y="369987"/>
                  </a:cubicBezTo>
                  <a:lnTo>
                    <a:pt x="1422499" y="26492"/>
                  </a:lnTo>
                  <a:cubicBezTo>
                    <a:pt x="1422499" y="18753"/>
                    <a:pt x="1424533" y="13345"/>
                    <a:pt x="1428601" y="10270"/>
                  </a:cubicBezTo>
                  <a:cubicBezTo>
                    <a:pt x="1432669" y="7194"/>
                    <a:pt x="1436985" y="5656"/>
                    <a:pt x="1441549" y="5656"/>
                  </a:cubicBezTo>
                  <a:close/>
                  <a:moveTo>
                    <a:pt x="1090612" y="5656"/>
                  </a:moveTo>
                  <a:lnTo>
                    <a:pt x="1358503" y="5656"/>
                  </a:lnTo>
                  <a:cubicBezTo>
                    <a:pt x="1360091" y="5656"/>
                    <a:pt x="1361529" y="6053"/>
                    <a:pt x="1362819" y="6847"/>
                  </a:cubicBezTo>
                  <a:cubicBezTo>
                    <a:pt x="1364109" y="7640"/>
                    <a:pt x="1365200" y="8930"/>
                    <a:pt x="1366093" y="10716"/>
                  </a:cubicBezTo>
                  <a:cubicBezTo>
                    <a:pt x="1366986" y="12502"/>
                    <a:pt x="1367631" y="14834"/>
                    <a:pt x="1368028" y="17711"/>
                  </a:cubicBezTo>
                  <a:cubicBezTo>
                    <a:pt x="1368425" y="20588"/>
                    <a:pt x="1368623" y="23912"/>
                    <a:pt x="1368623" y="27682"/>
                  </a:cubicBezTo>
                  <a:cubicBezTo>
                    <a:pt x="1368623" y="31453"/>
                    <a:pt x="1368425" y="34727"/>
                    <a:pt x="1368028" y="37505"/>
                  </a:cubicBezTo>
                  <a:cubicBezTo>
                    <a:pt x="1367631" y="40283"/>
                    <a:pt x="1366986" y="42516"/>
                    <a:pt x="1366093" y="44202"/>
                  </a:cubicBezTo>
                  <a:cubicBezTo>
                    <a:pt x="1365200" y="45889"/>
                    <a:pt x="1364109" y="47129"/>
                    <a:pt x="1362819" y="47923"/>
                  </a:cubicBezTo>
                  <a:cubicBezTo>
                    <a:pt x="1361529" y="48717"/>
                    <a:pt x="1360091" y="49114"/>
                    <a:pt x="1358503" y="49114"/>
                  </a:cubicBezTo>
                  <a:lnTo>
                    <a:pt x="1250156" y="49114"/>
                  </a:lnTo>
                  <a:lnTo>
                    <a:pt x="1250156" y="383084"/>
                  </a:lnTo>
                  <a:cubicBezTo>
                    <a:pt x="1250156" y="384672"/>
                    <a:pt x="1249759" y="386061"/>
                    <a:pt x="1248966" y="387251"/>
                  </a:cubicBezTo>
                  <a:cubicBezTo>
                    <a:pt x="1248172" y="388442"/>
                    <a:pt x="1246783" y="389384"/>
                    <a:pt x="1244798" y="390079"/>
                  </a:cubicBezTo>
                  <a:cubicBezTo>
                    <a:pt x="1242814" y="390774"/>
                    <a:pt x="1240185" y="391369"/>
                    <a:pt x="1236910" y="391865"/>
                  </a:cubicBezTo>
                  <a:cubicBezTo>
                    <a:pt x="1233636" y="392361"/>
                    <a:pt x="1229519" y="392609"/>
                    <a:pt x="1224558" y="392609"/>
                  </a:cubicBezTo>
                  <a:cubicBezTo>
                    <a:pt x="1219795" y="392609"/>
                    <a:pt x="1215727" y="392361"/>
                    <a:pt x="1212354" y="391865"/>
                  </a:cubicBezTo>
                  <a:cubicBezTo>
                    <a:pt x="1208980" y="391369"/>
                    <a:pt x="1206301" y="390774"/>
                    <a:pt x="1204317" y="390079"/>
                  </a:cubicBezTo>
                  <a:cubicBezTo>
                    <a:pt x="1202333" y="389384"/>
                    <a:pt x="1200944" y="388442"/>
                    <a:pt x="1200150" y="387251"/>
                  </a:cubicBezTo>
                  <a:cubicBezTo>
                    <a:pt x="1199356" y="386061"/>
                    <a:pt x="1198959" y="384672"/>
                    <a:pt x="1198959" y="383084"/>
                  </a:cubicBezTo>
                  <a:lnTo>
                    <a:pt x="1198959" y="49114"/>
                  </a:lnTo>
                  <a:lnTo>
                    <a:pt x="1090612" y="49114"/>
                  </a:lnTo>
                  <a:cubicBezTo>
                    <a:pt x="1089025" y="49114"/>
                    <a:pt x="1087586" y="48717"/>
                    <a:pt x="1086296" y="47923"/>
                  </a:cubicBezTo>
                  <a:cubicBezTo>
                    <a:pt x="1085007" y="47129"/>
                    <a:pt x="1083965" y="45889"/>
                    <a:pt x="1083171" y="44202"/>
                  </a:cubicBezTo>
                  <a:cubicBezTo>
                    <a:pt x="1082377" y="42516"/>
                    <a:pt x="1081732" y="40283"/>
                    <a:pt x="1081236" y="37505"/>
                  </a:cubicBezTo>
                  <a:cubicBezTo>
                    <a:pt x="1080740" y="34727"/>
                    <a:pt x="1080492" y="31453"/>
                    <a:pt x="1080492" y="27682"/>
                  </a:cubicBezTo>
                  <a:cubicBezTo>
                    <a:pt x="1080492" y="23912"/>
                    <a:pt x="1080740" y="20588"/>
                    <a:pt x="1081236" y="17711"/>
                  </a:cubicBezTo>
                  <a:cubicBezTo>
                    <a:pt x="1081732" y="14834"/>
                    <a:pt x="1082377" y="12502"/>
                    <a:pt x="1083171" y="10716"/>
                  </a:cubicBezTo>
                  <a:cubicBezTo>
                    <a:pt x="1083965" y="8930"/>
                    <a:pt x="1085007" y="7640"/>
                    <a:pt x="1086296" y="6847"/>
                  </a:cubicBezTo>
                  <a:cubicBezTo>
                    <a:pt x="1087586" y="6053"/>
                    <a:pt x="1089025" y="5656"/>
                    <a:pt x="1090612" y="5656"/>
                  </a:cubicBezTo>
                  <a:close/>
                  <a:moveTo>
                    <a:pt x="1983753" y="4763"/>
                  </a:moveTo>
                  <a:cubicBezTo>
                    <a:pt x="1988361" y="4763"/>
                    <a:pt x="1992339" y="4961"/>
                    <a:pt x="1995690" y="5358"/>
                  </a:cubicBezTo>
                  <a:cubicBezTo>
                    <a:pt x="1999040" y="5755"/>
                    <a:pt x="2001657" y="6400"/>
                    <a:pt x="2003543" y="7293"/>
                  </a:cubicBezTo>
                  <a:cubicBezTo>
                    <a:pt x="2005428" y="8186"/>
                    <a:pt x="2006789" y="9228"/>
                    <a:pt x="2007626" y="10418"/>
                  </a:cubicBezTo>
                  <a:cubicBezTo>
                    <a:pt x="2008463" y="11609"/>
                    <a:pt x="2008882" y="12899"/>
                    <a:pt x="2008882" y="14288"/>
                  </a:cubicBezTo>
                  <a:lnTo>
                    <a:pt x="2008882" y="369690"/>
                  </a:lnTo>
                  <a:cubicBezTo>
                    <a:pt x="2008882" y="373658"/>
                    <a:pt x="2008215" y="377032"/>
                    <a:pt x="2006882" y="379810"/>
                  </a:cubicBezTo>
                  <a:cubicBezTo>
                    <a:pt x="2005549" y="382588"/>
                    <a:pt x="2003805" y="384870"/>
                    <a:pt x="2001650" y="386656"/>
                  </a:cubicBezTo>
                  <a:cubicBezTo>
                    <a:pt x="1999495" y="388442"/>
                    <a:pt x="1997083" y="389732"/>
                    <a:pt x="1994415" y="390526"/>
                  </a:cubicBezTo>
                  <a:cubicBezTo>
                    <a:pt x="1991747" y="391319"/>
                    <a:pt x="1989078" y="391716"/>
                    <a:pt x="1986409" y="391716"/>
                  </a:cubicBezTo>
                  <a:lnTo>
                    <a:pt x="1969480" y="391716"/>
                  </a:lnTo>
                  <a:cubicBezTo>
                    <a:pt x="1964144" y="391716"/>
                    <a:pt x="1959474" y="391170"/>
                    <a:pt x="1955471" y="390079"/>
                  </a:cubicBezTo>
                  <a:cubicBezTo>
                    <a:pt x="1951468" y="388988"/>
                    <a:pt x="1947672" y="387003"/>
                    <a:pt x="1944081" y="384126"/>
                  </a:cubicBezTo>
                  <a:cubicBezTo>
                    <a:pt x="1940491" y="381249"/>
                    <a:pt x="1936900" y="377329"/>
                    <a:pt x="1933307" y="372368"/>
                  </a:cubicBezTo>
                  <a:cubicBezTo>
                    <a:pt x="1929715" y="367408"/>
                    <a:pt x="1925904" y="361058"/>
                    <a:pt x="1921873" y="353318"/>
                  </a:cubicBezTo>
                  <a:lnTo>
                    <a:pt x="1804373" y="134243"/>
                  </a:lnTo>
                  <a:cubicBezTo>
                    <a:pt x="1798231" y="122932"/>
                    <a:pt x="1792040" y="111076"/>
                    <a:pt x="1785800" y="98673"/>
                  </a:cubicBezTo>
                  <a:cubicBezTo>
                    <a:pt x="1779560" y="86271"/>
                    <a:pt x="1773752" y="74216"/>
                    <a:pt x="1768376" y="62508"/>
                  </a:cubicBezTo>
                  <a:lnTo>
                    <a:pt x="1767780" y="62508"/>
                  </a:lnTo>
                  <a:cubicBezTo>
                    <a:pt x="1768177" y="76796"/>
                    <a:pt x="1768475" y="91381"/>
                    <a:pt x="1768673" y="106264"/>
                  </a:cubicBezTo>
                  <a:cubicBezTo>
                    <a:pt x="1768872" y="121147"/>
                    <a:pt x="1768971" y="135930"/>
                    <a:pt x="1768971" y="150614"/>
                  </a:cubicBezTo>
                  <a:lnTo>
                    <a:pt x="1768971" y="383084"/>
                  </a:lnTo>
                  <a:cubicBezTo>
                    <a:pt x="1768971" y="384473"/>
                    <a:pt x="1768552" y="385813"/>
                    <a:pt x="1767715" y="387102"/>
                  </a:cubicBezTo>
                  <a:cubicBezTo>
                    <a:pt x="1766878" y="388392"/>
                    <a:pt x="1765465" y="389384"/>
                    <a:pt x="1763476" y="390079"/>
                  </a:cubicBezTo>
                  <a:cubicBezTo>
                    <a:pt x="1761487" y="390774"/>
                    <a:pt x="1758869" y="391369"/>
                    <a:pt x="1755623" y="391865"/>
                  </a:cubicBezTo>
                  <a:cubicBezTo>
                    <a:pt x="1752377" y="392361"/>
                    <a:pt x="1748240" y="392609"/>
                    <a:pt x="1743214" y="392609"/>
                  </a:cubicBezTo>
                  <a:cubicBezTo>
                    <a:pt x="1738188" y="392609"/>
                    <a:pt x="1734053" y="392361"/>
                    <a:pt x="1730808" y="391865"/>
                  </a:cubicBezTo>
                  <a:cubicBezTo>
                    <a:pt x="1727563" y="391369"/>
                    <a:pt x="1724999" y="390774"/>
                    <a:pt x="1723113" y="390079"/>
                  </a:cubicBezTo>
                  <a:cubicBezTo>
                    <a:pt x="1721228" y="389384"/>
                    <a:pt x="1719867" y="388392"/>
                    <a:pt x="1719030" y="387102"/>
                  </a:cubicBezTo>
                  <a:cubicBezTo>
                    <a:pt x="1718193" y="385813"/>
                    <a:pt x="1717774" y="384473"/>
                    <a:pt x="1717774" y="383084"/>
                  </a:cubicBezTo>
                  <a:lnTo>
                    <a:pt x="1717774" y="27682"/>
                  </a:lnTo>
                  <a:cubicBezTo>
                    <a:pt x="1717774" y="19745"/>
                    <a:pt x="1720027" y="14089"/>
                    <a:pt x="1724534" y="10716"/>
                  </a:cubicBezTo>
                  <a:cubicBezTo>
                    <a:pt x="1729041" y="7343"/>
                    <a:pt x="1733956" y="5656"/>
                    <a:pt x="1739280" y="5656"/>
                  </a:cubicBezTo>
                  <a:lnTo>
                    <a:pt x="1764474" y="5656"/>
                  </a:lnTo>
                  <a:cubicBezTo>
                    <a:pt x="1770411" y="5656"/>
                    <a:pt x="1775378" y="6152"/>
                    <a:pt x="1779373" y="7144"/>
                  </a:cubicBezTo>
                  <a:cubicBezTo>
                    <a:pt x="1783368" y="8136"/>
                    <a:pt x="1786952" y="9773"/>
                    <a:pt x="1790126" y="12055"/>
                  </a:cubicBezTo>
                  <a:cubicBezTo>
                    <a:pt x="1793299" y="14338"/>
                    <a:pt x="1796371" y="17513"/>
                    <a:pt x="1799341" y="21580"/>
                  </a:cubicBezTo>
                  <a:cubicBezTo>
                    <a:pt x="1802312" y="25648"/>
                    <a:pt x="1805428" y="30758"/>
                    <a:pt x="1808690" y="36910"/>
                  </a:cubicBezTo>
                  <a:lnTo>
                    <a:pt x="1899019" y="205979"/>
                  </a:lnTo>
                  <a:cubicBezTo>
                    <a:pt x="1904581" y="216297"/>
                    <a:pt x="1909951" y="226368"/>
                    <a:pt x="1915130" y="236191"/>
                  </a:cubicBezTo>
                  <a:cubicBezTo>
                    <a:pt x="1920308" y="246013"/>
                    <a:pt x="1925294" y="255687"/>
                    <a:pt x="1930089" y="265212"/>
                  </a:cubicBezTo>
                  <a:cubicBezTo>
                    <a:pt x="1934884" y="274737"/>
                    <a:pt x="1939630" y="284113"/>
                    <a:pt x="1944328" y="293341"/>
                  </a:cubicBezTo>
                  <a:cubicBezTo>
                    <a:pt x="1949025" y="302568"/>
                    <a:pt x="1953676" y="311845"/>
                    <a:pt x="1958280" y="321172"/>
                  </a:cubicBezTo>
                  <a:lnTo>
                    <a:pt x="1958578" y="321172"/>
                  </a:lnTo>
                  <a:cubicBezTo>
                    <a:pt x="1958181" y="305495"/>
                    <a:pt x="1957933" y="289174"/>
                    <a:pt x="1957834" y="272207"/>
                  </a:cubicBezTo>
                  <a:cubicBezTo>
                    <a:pt x="1957735" y="255241"/>
                    <a:pt x="1957685" y="238919"/>
                    <a:pt x="1957685" y="223243"/>
                  </a:cubicBezTo>
                  <a:lnTo>
                    <a:pt x="1957685" y="14288"/>
                  </a:lnTo>
                  <a:cubicBezTo>
                    <a:pt x="1957685" y="12899"/>
                    <a:pt x="1958104" y="11609"/>
                    <a:pt x="1958941" y="10418"/>
                  </a:cubicBezTo>
                  <a:cubicBezTo>
                    <a:pt x="1959778" y="9228"/>
                    <a:pt x="1961191" y="8186"/>
                    <a:pt x="1963180" y="7293"/>
                  </a:cubicBezTo>
                  <a:cubicBezTo>
                    <a:pt x="1965169" y="6400"/>
                    <a:pt x="1967787" y="5755"/>
                    <a:pt x="1971033" y="5358"/>
                  </a:cubicBezTo>
                  <a:cubicBezTo>
                    <a:pt x="1974279" y="4961"/>
                    <a:pt x="1978519" y="4763"/>
                    <a:pt x="1983753" y="4763"/>
                  </a:cubicBezTo>
                  <a:close/>
                  <a:moveTo>
                    <a:pt x="1002678" y="4763"/>
                  </a:moveTo>
                  <a:cubicBezTo>
                    <a:pt x="1007286" y="4763"/>
                    <a:pt x="1011264" y="4961"/>
                    <a:pt x="1014615" y="5358"/>
                  </a:cubicBezTo>
                  <a:cubicBezTo>
                    <a:pt x="1017965" y="5755"/>
                    <a:pt x="1020583" y="6400"/>
                    <a:pt x="1022468" y="7293"/>
                  </a:cubicBezTo>
                  <a:cubicBezTo>
                    <a:pt x="1024353" y="8186"/>
                    <a:pt x="1025714" y="9228"/>
                    <a:pt x="1026551" y="10418"/>
                  </a:cubicBezTo>
                  <a:cubicBezTo>
                    <a:pt x="1027388" y="11609"/>
                    <a:pt x="1027807" y="12899"/>
                    <a:pt x="1027807" y="14288"/>
                  </a:cubicBezTo>
                  <a:lnTo>
                    <a:pt x="1027807" y="369690"/>
                  </a:lnTo>
                  <a:cubicBezTo>
                    <a:pt x="1027807" y="373658"/>
                    <a:pt x="1027140" y="377032"/>
                    <a:pt x="1025807" y="379810"/>
                  </a:cubicBezTo>
                  <a:cubicBezTo>
                    <a:pt x="1024474" y="382588"/>
                    <a:pt x="1022730" y="384870"/>
                    <a:pt x="1020575" y="386656"/>
                  </a:cubicBezTo>
                  <a:cubicBezTo>
                    <a:pt x="1018420" y="388442"/>
                    <a:pt x="1016008" y="389732"/>
                    <a:pt x="1013340" y="390526"/>
                  </a:cubicBezTo>
                  <a:cubicBezTo>
                    <a:pt x="1010672" y="391319"/>
                    <a:pt x="1008003" y="391716"/>
                    <a:pt x="1005334" y="391716"/>
                  </a:cubicBezTo>
                  <a:lnTo>
                    <a:pt x="988405" y="391716"/>
                  </a:lnTo>
                  <a:cubicBezTo>
                    <a:pt x="983069" y="391716"/>
                    <a:pt x="978399" y="391170"/>
                    <a:pt x="974396" y="390079"/>
                  </a:cubicBezTo>
                  <a:cubicBezTo>
                    <a:pt x="970393" y="388988"/>
                    <a:pt x="966597" y="387003"/>
                    <a:pt x="963006" y="384126"/>
                  </a:cubicBezTo>
                  <a:cubicBezTo>
                    <a:pt x="959416" y="381249"/>
                    <a:pt x="955824" y="377329"/>
                    <a:pt x="952232" y="372368"/>
                  </a:cubicBezTo>
                  <a:cubicBezTo>
                    <a:pt x="948640" y="367408"/>
                    <a:pt x="944829" y="361058"/>
                    <a:pt x="940798" y="353318"/>
                  </a:cubicBezTo>
                  <a:lnTo>
                    <a:pt x="823299" y="134243"/>
                  </a:lnTo>
                  <a:cubicBezTo>
                    <a:pt x="817156" y="122932"/>
                    <a:pt x="810965" y="111076"/>
                    <a:pt x="804725" y="98673"/>
                  </a:cubicBezTo>
                  <a:cubicBezTo>
                    <a:pt x="798485" y="86271"/>
                    <a:pt x="792677" y="74216"/>
                    <a:pt x="787301" y="62508"/>
                  </a:cubicBezTo>
                  <a:lnTo>
                    <a:pt x="786705" y="62508"/>
                  </a:lnTo>
                  <a:cubicBezTo>
                    <a:pt x="787102" y="76796"/>
                    <a:pt x="787400" y="91381"/>
                    <a:pt x="787598" y="106264"/>
                  </a:cubicBezTo>
                  <a:cubicBezTo>
                    <a:pt x="787797" y="121147"/>
                    <a:pt x="787896" y="135930"/>
                    <a:pt x="787896" y="150614"/>
                  </a:cubicBezTo>
                  <a:lnTo>
                    <a:pt x="787896" y="383084"/>
                  </a:lnTo>
                  <a:cubicBezTo>
                    <a:pt x="787896" y="384473"/>
                    <a:pt x="787477" y="385813"/>
                    <a:pt x="786640" y="387102"/>
                  </a:cubicBezTo>
                  <a:cubicBezTo>
                    <a:pt x="785803" y="388392"/>
                    <a:pt x="784390" y="389384"/>
                    <a:pt x="782401" y="390079"/>
                  </a:cubicBezTo>
                  <a:cubicBezTo>
                    <a:pt x="780412" y="390774"/>
                    <a:pt x="777794" y="391369"/>
                    <a:pt x="774548" y="391865"/>
                  </a:cubicBezTo>
                  <a:cubicBezTo>
                    <a:pt x="771302" y="392361"/>
                    <a:pt x="767166" y="392609"/>
                    <a:pt x="762139" y="392609"/>
                  </a:cubicBezTo>
                  <a:cubicBezTo>
                    <a:pt x="757113" y="392609"/>
                    <a:pt x="752978" y="392361"/>
                    <a:pt x="749733" y="391865"/>
                  </a:cubicBezTo>
                  <a:cubicBezTo>
                    <a:pt x="746488" y="391369"/>
                    <a:pt x="743923" y="390774"/>
                    <a:pt x="742038" y="390079"/>
                  </a:cubicBezTo>
                  <a:cubicBezTo>
                    <a:pt x="740153" y="389384"/>
                    <a:pt x="738792" y="388392"/>
                    <a:pt x="737955" y="387102"/>
                  </a:cubicBezTo>
                  <a:cubicBezTo>
                    <a:pt x="737118" y="385813"/>
                    <a:pt x="736699" y="384473"/>
                    <a:pt x="736699" y="383084"/>
                  </a:cubicBezTo>
                  <a:lnTo>
                    <a:pt x="736699" y="27682"/>
                  </a:lnTo>
                  <a:cubicBezTo>
                    <a:pt x="736699" y="19745"/>
                    <a:pt x="738952" y="14089"/>
                    <a:pt x="743459" y="10716"/>
                  </a:cubicBezTo>
                  <a:cubicBezTo>
                    <a:pt x="747966" y="7343"/>
                    <a:pt x="752881" y="5656"/>
                    <a:pt x="758205" y="5656"/>
                  </a:cubicBezTo>
                  <a:lnTo>
                    <a:pt x="783399" y="5656"/>
                  </a:lnTo>
                  <a:cubicBezTo>
                    <a:pt x="789336" y="5656"/>
                    <a:pt x="794303" y="6152"/>
                    <a:pt x="798298" y="7144"/>
                  </a:cubicBezTo>
                  <a:cubicBezTo>
                    <a:pt x="802293" y="8136"/>
                    <a:pt x="805877" y="9773"/>
                    <a:pt x="809051" y="12055"/>
                  </a:cubicBezTo>
                  <a:cubicBezTo>
                    <a:pt x="812224" y="14338"/>
                    <a:pt x="815296" y="17513"/>
                    <a:pt x="818266" y="21580"/>
                  </a:cubicBezTo>
                  <a:cubicBezTo>
                    <a:pt x="821237" y="25648"/>
                    <a:pt x="824353" y="30758"/>
                    <a:pt x="827614" y="36910"/>
                  </a:cubicBezTo>
                  <a:lnTo>
                    <a:pt x="917944" y="205979"/>
                  </a:lnTo>
                  <a:cubicBezTo>
                    <a:pt x="923506" y="216297"/>
                    <a:pt x="928876" y="226368"/>
                    <a:pt x="934054" y="236191"/>
                  </a:cubicBezTo>
                  <a:cubicBezTo>
                    <a:pt x="939232" y="246013"/>
                    <a:pt x="944219" y="255687"/>
                    <a:pt x="949014" y="265212"/>
                  </a:cubicBezTo>
                  <a:cubicBezTo>
                    <a:pt x="953809" y="274737"/>
                    <a:pt x="958555" y="284113"/>
                    <a:pt x="963253" y="293341"/>
                  </a:cubicBezTo>
                  <a:cubicBezTo>
                    <a:pt x="967950" y="302568"/>
                    <a:pt x="972601" y="311845"/>
                    <a:pt x="977205" y="321172"/>
                  </a:cubicBezTo>
                  <a:lnTo>
                    <a:pt x="977503" y="321172"/>
                  </a:lnTo>
                  <a:cubicBezTo>
                    <a:pt x="977106" y="305495"/>
                    <a:pt x="976858" y="289174"/>
                    <a:pt x="976759" y="272207"/>
                  </a:cubicBezTo>
                  <a:cubicBezTo>
                    <a:pt x="976660" y="255241"/>
                    <a:pt x="976610" y="238919"/>
                    <a:pt x="976610" y="223243"/>
                  </a:cubicBezTo>
                  <a:lnTo>
                    <a:pt x="976610" y="14288"/>
                  </a:lnTo>
                  <a:cubicBezTo>
                    <a:pt x="976610" y="12899"/>
                    <a:pt x="977029" y="11609"/>
                    <a:pt x="977866" y="10418"/>
                  </a:cubicBezTo>
                  <a:cubicBezTo>
                    <a:pt x="978703" y="9228"/>
                    <a:pt x="980116" y="8186"/>
                    <a:pt x="982105" y="7293"/>
                  </a:cubicBezTo>
                  <a:cubicBezTo>
                    <a:pt x="984094" y="6400"/>
                    <a:pt x="986712" y="5755"/>
                    <a:pt x="989958" y="5358"/>
                  </a:cubicBezTo>
                  <a:cubicBezTo>
                    <a:pt x="993204" y="4961"/>
                    <a:pt x="997444" y="4763"/>
                    <a:pt x="1002678" y="4763"/>
                  </a:cubicBezTo>
                  <a:close/>
                  <a:moveTo>
                    <a:pt x="169366" y="893"/>
                  </a:moveTo>
                  <a:cubicBezTo>
                    <a:pt x="180479" y="893"/>
                    <a:pt x="191294" y="1935"/>
                    <a:pt x="201811" y="4019"/>
                  </a:cubicBezTo>
                  <a:cubicBezTo>
                    <a:pt x="212328" y="6102"/>
                    <a:pt x="222051" y="8732"/>
                    <a:pt x="230981" y="11907"/>
                  </a:cubicBezTo>
                  <a:cubicBezTo>
                    <a:pt x="239911" y="15082"/>
                    <a:pt x="247848" y="18753"/>
                    <a:pt x="254794" y="22920"/>
                  </a:cubicBezTo>
                  <a:cubicBezTo>
                    <a:pt x="261739" y="27087"/>
                    <a:pt x="266551" y="30510"/>
                    <a:pt x="269230" y="33189"/>
                  </a:cubicBezTo>
                  <a:cubicBezTo>
                    <a:pt x="271909" y="35868"/>
                    <a:pt x="273645" y="37902"/>
                    <a:pt x="274439" y="39291"/>
                  </a:cubicBezTo>
                  <a:cubicBezTo>
                    <a:pt x="275233" y="40680"/>
                    <a:pt x="275878" y="42317"/>
                    <a:pt x="276374" y="44202"/>
                  </a:cubicBezTo>
                  <a:cubicBezTo>
                    <a:pt x="276870" y="46088"/>
                    <a:pt x="277267" y="48320"/>
                    <a:pt x="277564" y="50900"/>
                  </a:cubicBezTo>
                  <a:cubicBezTo>
                    <a:pt x="277862" y="53479"/>
                    <a:pt x="278011" y="56555"/>
                    <a:pt x="278011" y="60127"/>
                  </a:cubicBezTo>
                  <a:cubicBezTo>
                    <a:pt x="278011" y="64096"/>
                    <a:pt x="277812" y="67469"/>
                    <a:pt x="277413" y="70247"/>
                  </a:cubicBezTo>
                  <a:cubicBezTo>
                    <a:pt x="277015" y="73025"/>
                    <a:pt x="276416" y="75357"/>
                    <a:pt x="275618" y="77242"/>
                  </a:cubicBezTo>
                  <a:cubicBezTo>
                    <a:pt x="274820" y="79127"/>
                    <a:pt x="273872" y="80516"/>
                    <a:pt x="272774" y="81409"/>
                  </a:cubicBezTo>
                  <a:cubicBezTo>
                    <a:pt x="271676" y="82302"/>
                    <a:pt x="270329" y="82749"/>
                    <a:pt x="268732" y="82749"/>
                  </a:cubicBezTo>
                  <a:cubicBezTo>
                    <a:pt x="265942" y="82749"/>
                    <a:pt x="262052" y="80814"/>
                    <a:pt x="257063" y="76945"/>
                  </a:cubicBezTo>
                  <a:cubicBezTo>
                    <a:pt x="252074" y="73075"/>
                    <a:pt x="245640" y="68809"/>
                    <a:pt x="237760" y="64145"/>
                  </a:cubicBezTo>
                  <a:cubicBezTo>
                    <a:pt x="229880" y="59482"/>
                    <a:pt x="220304" y="55216"/>
                    <a:pt x="209034" y="51346"/>
                  </a:cubicBezTo>
                  <a:cubicBezTo>
                    <a:pt x="197763" y="47477"/>
                    <a:pt x="184248" y="45542"/>
                    <a:pt x="168487" y="45542"/>
                  </a:cubicBezTo>
                  <a:cubicBezTo>
                    <a:pt x="151329" y="45542"/>
                    <a:pt x="135717" y="48965"/>
                    <a:pt x="121653" y="55811"/>
                  </a:cubicBezTo>
                  <a:cubicBezTo>
                    <a:pt x="107589" y="62657"/>
                    <a:pt x="95569" y="72728"/>
                    <a:pt x="85595" y="86023"/>
                  </a:cubicBezTo>
                  <a:cubicBezTo>
                    <a:pt x="75620" y="99318"/>
                    <a:pt x="67890" y="115541"/>
                    <a:pt x="62403" y="134690"/>
                  </a:cubicBezTo>
                  <a:cubicBezTo>
                    <a:pt x="56917" y="153839"/>
                    <a:pt x="54173" y="175717"/>
                    <a:pt x="54173" y="200323"/>
                  </a:cubicBezTo>
                  <a:cubicBezTo>
                    <a:pt x="54173" y="224731"/>
                    <a:pt x="56817" y="246311"/>
                    <a:pt x="62103" y="265063"/>
                  </a:cubicBezTo>
                  <a:cubicBezTo>
                    <a:pt x="67390" y="283816"/>
                    <a:pt x="74971" y="299492"/>
                    <a:pt x="84846" y="312093"/>
                  </a:cubicBezTo>
                  <a:cubicBezTo>
                    <a:pt x="94721" y="324694"/>
                    <a:pt x="106841" y="334219"/>
                    <a:pt x="121204" y="340668"/>
                  </a:cubicBezTo>
                  <a:cubicBezTo>
                    <a:pt x="135568" y="347117"/>
                    <a:pt x="151826" y="350342"/>
                    <a:pt x="169980" y="350342"/>
                  </a:cubicBezTo>
                  <a:cubicBezTo>
                    <a:pt x="185341" y="350342"/>
                    <a:pt x="198756" y="348457"/>
                    <a:pt x="210227" y="344686"/>
                  </a:cubicBezTo>
                  <a:cubicBezTo>
                    <a:pt x="221697" y="340916"/>
                    <a:pt x="231472" y="336699"/>
                    <a:pt x="239550" y="332036"/>
                  </a:cubicBezTo>
                  <a:cubicBezTo>
                    <a:pt x="247629" y="327373"/>
                    <a:pt x="254262" y="323156"/>
                    <a:pt x="259449" y="319386"/>
                  </a:cubicBezTo>
                  <a:cubicBezTo>
                    <a:pt x="264636" y="315615"/>
                    <a:pt x="268726" y="313730"/>
                    <a:pt x="271718" y="313730"/>
                  </a:cubicBezTo>
                  <a:cubicBezTo>
                    <a:pt x="273117" y="313730"/>
                    <a:pt x="274314" y="314028"/>
                    <a:pt x="275311" y="314623"/>
                  </a:cubicBezTo>
                  <a:cubicBezTo>
                    <a:pt x="276308" y="315218"/>
                    <a:pt x="277105" y="316359"/>
                    <a:pt x="277704" y="318046"/>
                  </a:cubicBezTo>
                  <a:cubicBezTo>
                    <a:pt x="278302" y="319733"/>
                    <a:pt x="278751" y="322065"/>
                    <a:pt x="279050" y="325041"/>
                  </a:cubicBezTo>
                  <a:cubicBezTo>
                    <a:pt x="279350" y="328018"/>
                    <a:pt x="279499" y="331788"/>
                    <a:pt x="279499" y="336352"/>
                  </a:cubicBezTo>
                  <a:cubicBezTo>
                    <a:pt x="279499" y="339527"/>
                    <a:pt x="279400" y="342305"/>
                    <a:pt x="279201" y="344686"/>
                  </a:cubicBezTo>
                  <a:cubicBezTo>
                    <a:pt x="279003" y="347068"/>
                    <a:pt x="278656" y="349151"/>
                    <a:pt x="278160" y="350937"/>
                  </a:cubicBezTo>
                  <a:cubicBezTo>
                    <a:pt x="277664" y="352723"/>
                    <a:pt x="277019" y="354311"/>
                    <a:pt x="276225" y="355700"/>
                  </a:cubicBezTo>
                  <a:cubicBezTo>
                    <a:pt x="275431" y="357089"/>
                    <a:pt x="274042" y="358776"/>
                    <a:pt x="272058" y="360760"/>
                  </a:cubicBezTo>
                  <a:cubicBezTo>
                    <a:pt x="270073" y="362744"/>
                    <a:pt x="265906" y="365770"/>
                    <a:pt x="259556" y="369838"/>
                  </a:cubicBezTo>
                  <a:cubicBezTo>
                    <a:pt x="253206" y="373906"/>
                    <a:pt x="245318" y="377875"/>
                    <a:pt x="235893" y="381745"/>
                  </a:cubicBezTo>
                  <a:cubicBezTo>
                    <a:pt x="226467" y="385614"/>
                    <a:pt x="215652" y="388888"/>
                    <a:pt x="203448" y="391567"/>
                  </a:cubicBezTo>
                  <a:cubicBezTo>
                    <a:pt x="191244" y="394246"/>
                    <a:pt x="177899" y="395586"/>
                    <a:pt x="163413" y="395586"/>
                  </a:cubicBezTo>
                  <a:cubicBezTo>
                    <a:pt x="138410" y="395586"/>
                    <a:pt x="115838" y="391418"/>
                    <a:pt x="95696" y="383084"/>
                  </a:cubicBezTo>
                  <a:cubicBezTo>
                    <a:pt x="75555" y="374750"/>
                    <a:pt x="58390" y="362447"/>
                    <a:pt x="44202" y="346175"/>
                  </a:cubicBezTo>
                  <a:cubicBezTo>
                    <a:pt x="30014" y="329903"/>
                    <a:pt x="19100" y="309811"/>
                    <a:pt x="11460" y="285899"/>
                  </a:cubicBezTo>
                  <a:cubicBezTo>
                    <a:pt x="3820" y="261988"/>
                    <a:pt x="0" y="234454"/>
                    <a:pt x="0" y="203300"/>
                  </a:cubicBezTo>
                  <a:cubicBezTo>
                    <a:pt x="0" y="171351"/>
                    <a:pt x="4118" y="142875"/>
                    <a:pt x="12353" y="117872"/>
                  </a:cubicBezTo>
                  <a:cubicBezTo>
                    <a:pt x="20588" y="92869"/>
                    <a:pt x="32147" y="71686"/>
                    <a:pt x="47030" y="54323"/>
                  </a:cubicBezTo>
                  <a:cubicBezTo>
                    <a:pt x="61912" y="36959"/>
                    <a:pt x="79722" y="23714"/>
                    <a:pt x="100459" y="14586"/>
                  </a:cubicBezTo>
                  <a:cubicBezTo>
                    <a:pt x="121196" y="5457"/>
                    <a:pt x="144165" y="893"/>
                    <a:pt x="169366" y="893"/>
                  </a:cubicBezTo>
                  <a:close/>
                  <a:moveTo>
                    <a:pt x="2500015" y="0"/>
                  </a:moveTo>
                  <a:cubicBezTo>
                    <a:pt x="2508547" y="0"/>
                    <a:pt x="2517130" y="745"/>
                    <a:pt x="2525762" y="2233"/>
                  </a:cubicBezTo>
                  <a:cubicBezTo>
                    <a:pt x="2534394" y="3721"/>
                    <a:pt x="2542530" y="5705"/>
                    <a:pt x="2550170" y="8186"/>
                  </a:cubicBezTo>
                  <a:cubicBezTo>
                    <a:pt x="2557809" y="10666"/>
                    <a:pt x="2564606" y="13445"/>
                    <a:pt x="2570559" y="16520"/>
                  </a:cubicBezTo>
                  <a:cubicBezTo>
                    <a:pt x="2576512" y="19596"/>
                    <a:pt x="2580431" y="22077"/>
                    <a:pt x="2582317" y="23962"/>
                  </a:cubicBezTo>
                  <a:cubicBezTo>
                    <a:pt x="2584201" y="25847"/>
                    <a:pt x="2585442" y="27335"/>
                    <a:pt x="2586037" y="28427"/>
                  </a:cubicBezTo>
                  <a:cubicBezTo>
                    <a:pt x="2586633" y="29518"/>
                    <a:pt x="2587129" y="30907"/>
                    <a:pt x="2587525" y="32594"/>
                  </a:cubicBezTo>
                  <a:cubicBezTo>
                    <a:pt x="2587922" y="34280"/>
                    <a:pt x="2588220" y="36314"/>
                    <a:pt x="2588419" y="38696"/>
                  </a:cubicBezTo>
                  <a:cubicBezTo>
                    <a:pt x="2588617" y="41077"/>
                    <a:pt x="2588716" y="44153"/>
                    <a:pt x="2588716" y="47923"/>
                  </a:cubicBezTo>
                  <a:cubicBezTo>
                    <a:pt x="2588716" y="51495"/>
                    <a:pt x="2588567" y="54670"/>
                    <a:pt x="2588270" y="57448"/>
                  </a:cubicBezTo>
                  <a:cubicBezTo>
                    <a:pt x="2587972" y="60226"/>
                    <a:pt x="2587525" y="62558"/>
                    <a:pt x="2586930" y="64443"/>
                  </a:cubicBezTo>
                  <a:cubicBezTo>
                    <a:pt x="2586335" y="66328"/>
                    <a:pt x="2585491" y="67717"/>
                    <a:pt x="2584400" y="68610"/>
                  </a:cubicBezTo>
                  <a:cubicBezTo>
                    <a:pt x="2583309" y="69503"/>
                    <a:pt x="2582069" y="69950"/>
                    <a:pt x="2580679" y="69950"/>
                  </a:cubicBezTo>
                  <a:cubicBezTo>
                    <a:pt x="2578497" y="69950"/>
                    <a:pt x="2575074" y="68561"/>
                    <a:pt x="2570410" y="65782"/>
                  </a:cubicBezTo>
                  <a:cubicBezTo>
                    <a:pt x="2565747" y="63004"/>
                    <a:pt x="2560042" y="59879"/>
                    <a:pt x="2553295" y="56406"/>
                  </a:cubicBezTo>
                  <a:cubicBezTo>
                    <a:pt x="2546548" y="52934"/>
                    <a:pt x="2538561" y="49759"/>
                    <a:pt x="2529334" y="46881"/>
                  </a:cubicBezTo>
                  <a:cubicBezTo>
                    <a:pt x="2520106" y="44004"/>
                    <a:pt x="2509738" y="42565"/>
                    <a:pt x="2498229" y="42565"/>
                  </a:cubicBezTo>
                  <a:cubicBezTo>
                    <a:pt x="2487513" y="42565"/>
                    <a:pt x="2478187" y="44004"/>
                    <a:pt x="2470249" y="46881"/>
                  </a:cubicBezTo>
                  <a:cubicBezTo>
                    <a:pt x="2462311" y="49759"/>
                    <a:pt x="2455763" y="53579"/>
                    <a:pt x="2450603" y="58341"/>
                  </a:cubicBezTo>
                  <a:cubicBezTo>
                    <a:pt x="2445444" y="63104"/>
                    <a:pt x="2441575" y="68759"/>
                    <a:pt x="2438995" y="75307"/>
                  </a:cubicBezTo>
                  <a:cubicBezTo>
                    <a:pt x="2436415" y="81856"/>
                    <a:pt x="2435125" y="88801"/>
                    <a:pt x="2435125" y="96143"/>
                  </a:cubicBezTo>
                  <a:cubicBezTo>
                    <a:pt x="2435125" y="106859"/>
                    <a:pt x="2437606" y="116086"/>
                    <a:pt x="2442567" y="123825"/>
                  </a:cubicBezTo>
                  <a:cubicBezTo>
                    <a:pt x="2447528" y="131564"/>
                    <a:pt x="2454126" y="138411"/>
                    <a:pt x="2462361" y="144364"/>
                  </a:cubicBezTo>
                  <a:cubicBezTo>
                    <a:pt x="2470596" y="150317"/>
                    <a:pt x="2479973" y="155774"/>
                    <a:pt x="2490489" y="160735"/>
                  </a:cubicBezTo>
                  <a:cubicBezTo>
                    <a:pt x="2501007" y="165696"/>
                    <a:pt x="2511722" y="170706"/>
                    <a:pt x="2522637" y="175766"/>
                  </a:cubicBezTo>
                  <a:cubicBezTo>
                    <a:pt x="2533551" y="180827"/>
                    <a:pt x="2544266" y="186383"/>
                    <a:pt x="2554783" y="192435"/>
                  </a:cubicBezTo>
                  <a:cubicBezTo>
                    <a:pt x="2565301" y="198488"/>
                    <a:pt x="2574677" y="205631"/>
                    <a:pt x="2582912" y="213866"/>
                  </a:cubicBezTo>
                  <a:cubicBezTo>
                    <a:pt x="2591147" y="222102"/>
                    <a:pt x="2597795" y="231825"/>
                    <a:pt x="2602855" y="243037"/>
                  </a:cubicBezTo>
                  <a:cubicBezTo>
                    <a:pt x="2607915" y="254249"/>
                    <a:pt x="2610445" y="267494"/>
                    <a:pt x="2610445" y="282774"/>
                  </a:cubicBezTo>
                  <a:cubicBezTo>
                    <a:pt x="2610445" y="300832"/>
                    <a:pt x="2607121" y="316905"/>
                    <a:pt x="2600473" y="330994"/>
                  </a:cubicBezTo>
                  <a:cubicBezTo>
                    <a:pt x="2593826" y="345083"/>
                    <a:pt x="2584599" y="357039"/>
                    <a:pt x="2572791" y="366862"/>
                  </a:cubicBezTo>
                  <a:cubicBezTo>
                    <a:pt x="2560985" y="376684"/>
                    <a:pt x="2547094" y="384076"/>
                    <a:pt x="2531120" y="389037"/>
                  </a:cubicBezTo>
                  <a:cubicBezTo>
                    <a:pt x="2515145" y="393998"/>
                    <a:pt x="2497931" y="396479"/>
                    <a:pt x="2479476" y="396479"/>
                  </a:cubicBezTo>
                  <a:cubicBezTo>
                    <a:pt x="2466578" y="396479"/>
                    <a:pt x="2454622" y="395387"/>
                    <a:pt x="2443609" y="393204"/>
                  </a:cubicBezTo>
                  <a:cubicBezTo>
                    <a:pt x="2432595" y="391022"/>
                    <a:pt x="2422773" y="388343"/>
                    <a:pt x="2414141" y="385168"/>
                  </a:cubicBezTo>
                  <a:cubicBezTo>
                    <a:pt x="2405509" y="381993"/>
                    <a:pt x="2398265" y="378718"/>
                    <a:pt x="2392412" y="375345"/>
                  </a:cubicBezTo>
                  <a:cubicBezTo>
                    <a:pt x="2386558" y="371972"/>
                    <a:pt x="2382490" y="369094"/>
                    <a:pt x="2380208" y="366713"/>
                  </a:cubicBezTo>
                  <a:cubicBezTo>
                    <a:pt x="2377926" y="364332"/>
                    <a:pt x="2376239" y="361306"/>
                    <a:pt x="2375148" y="357634"/>
                  </a:cubicBezTo>
                  <a:cubicBezTo>
                    <a:pt x="2374056" y="353963"/>
                    <a:pt x="2373511" y="349052"/>
                    <a:pt x="2373511" y="342900"/>
                  </a:cubicBezTo>
                  <a:cubicBezTo>
                    <a:pt x="2373511" y="338535"/>
                    <a:pt x="2373709" y="334913"/>
                    <a:pt x="2374106" y="332036"/>
                  </a:cubicBezTo>
                  <a:cubicBezTo>
                    <a:pt x="2374503" y="329159"/>
                    <a:pt x="2375098" y="326827"/>
                    <a:pt x="2375892" y="325041"/>
                  </a:cubicBezTo>
                  <a:cubicBezTo>
                    <a:pt x="2376685" y="323255"/>
                    <a:pt x="2377678" y="322015"/>
                    <a:pt x="2378869" y="321320"/>
                  </a:cubicBezTo>
                  <a:cubicBezTo>
                    <a:pt x="2380059" y="320626"/>
                    <a:pt x="2381448" y="320279"/>
                    <a:pt x="2383036" y="320279"/>
                  </a:cubicBezTo>
                  <a:cubicBezTo>
                    <a:pt x="2385814" y="320279"/>
                    <a:pt x="2389733" y="321965"/>
                    <a:pt x="2394793" y="325339"/>
                  </a:cubicBezTo>
                  <a:cubicBezTo>
                    <a:pt x="2399853" y="328712"/>
                    <a:pt x="2406352" y="332383"/>
                    <a:pt x="2414289" y="336352"/>
                  </a:cubicBezTo>
                  <a:cubicBezTo>
                    <a:pt x="2422227" y="340321"/>
                    <a:pt x="2431801" y="344042"/>
                    <a:pt x="2443013" y="347514"/>
                  </a:cubicBezTo>
                  <a:cubicBezTo>
                    <a:pt x="2454225" y="350987"/>
                    <a:pt x="2467173" y="352723"/>
                    <a:pt x="2481857" y="352723"/>
                  </a:cubicBezTo>
                  <a:cubicBezTo>
                    <a:pt x="2492970" y="352723"/>
                    <a:pt x="2503140" y="351235"/>
                    <a:pt x="2512367" y="348258"/>
                  </a:cubicBezTo>
                  <a:cubicBezTo>
                    <a:pt x="2521595" y="345282"/>
                    <a:pt x="2529532" y="341065"/>
                    <a:pt x="2536180" y="335608"/>
                  </a:cubicBezTo>
                  <a:cubicBezTo>
                    <a:pt x="2542827" y="330151"/>
                    <a:pt x="2547937" y="323454"/>
                    <a:pt x="2551509" y="315516"/>
                  </a:cubicBezTo>
                  <a:cubicBezTo>
                    <a:pt x="2555081" y="307579"/>
                    <a:pt x="2556867" y="298550"/>
                    <a:pt x="2556867" y="288429"/>
                  </a:cubicBezTo>
                  <a:cubicBezTo>
                    <a:pt x="2556867" y="277515"/>
                    <a:pt x="2554387" y="268189"/>
                    <a:pt x="2549425" y="260450"/>
                  </a:cubicBezTo>
                  <a:cubicBezTo>
                    <a:pt x="2544465" y="252711"/>
                    <a:pt x="2537916" y="245914"/>
                    <a:pt x="2529780" y="240060"/>
                  </a:cubicBezTo>
                  <a:cubicBezTo>
                    <a:pt x="2521644" y="234206"/>
                    <a:pt x="2512367" y="228849"/>
                    <a:pt x="2501949" y="223987"/>
                  </a:cubicBezTo>
                  <a:cubicBezTo>
                    <a:pt x="2491531" y="219125"/>
                    <a:pt x="2480865" y="214164"/>
                    <a:pt x="2469951" y="209104"/>
                  </a:cubicBezTo>
                  <a:cubicBezTo>
                    <a:pt x="2459037" y="204044"/>
                    <a:pt x="2448421" y="198438"/>
                    <a:pt x="2438102" y="192286"/>
                  </a:cubicBezTo>
                  <a:cubicBezTo>
                    <a:pt x="2427783" y="186135"/>
                    <a:pt x="2418556" y="178892"/>
                    <a:pt x="2410420" y="170557"/>
                  </a:cubicBezTo>
                  <a:cubicBezTo>
                    <a:pt x="2402284" y="162223"/>
                    <a:pt x="2395686" y="152450"/>
                    <a:pt x="2390626" y="141238"/>
                  </a:cubicBezTo>
                  <a:cubicBezTo>
                    <a:pt x="2385566" y="130027"/>
                    <a:pt x="2383036" y="116582"/>
                    <a:pt x="2383036" y="100906"/>
                  </a:cubicBezTo>
                  <a:cubicBezTo>
                    <a:pt x="2383036" y="84832"/>
                    <a:pt x="2385963" y="70495"/>
                    <a:pt x="2391817" y="57895"/>
                  </a:cubicBezTo>
                  <a:cubicBezTo>
                    <a:pt x="2397670" y="45294"/>
                    <a:pt x="2405806" y="34727"/>
                    <a:pt x="2416224" y="26194"/>
                  </a:cubicBezTo>
                  <a:cubicBezTo>
                    <a:pt x="2426642" y="17661"/>
                    <a:pt x="2439045" y="11163"/>
                    <a:pt x="2453431" y="6698"/>
                  </a:cubicBezTo>
                  <a:cubicBezTo>
                    <a:pt x="2467818" y="2233"/>
                    <a:pt x="2483346" y="0"/>
                    <a:pt x="2500015" y="0"/>
                  </a:cubicBezTo>
                  <a:close/>
                  <a:moveTo>
                    <a:pt x="491133" y="0"/>
                  </a:moveTo>
                  <a:cubicBezTo>
                    <a:pt x="519509" y="0"/>
                    <a:pt x="544215" y="4267"/>
                    <a:pt x="565249" y="12800"/>
                  </a:cubicBezTo>
                  <a:cubicBezTo>
                    <a:pt x="586283" y="21332"/>
                    <a:pt x="603796" y="33784"/>
                    <a:pt x="617785" y="50155"/>
                  </a:cubicBezTo>
                  <a:cubicBezTo>
                    <a:pt x="631775" y="66527"/>
                    <a:pt x="642193" y="86767"/>
                    <a:pt x="649039" y="110877"/>
                  </a:cubicBezTo>
                  <a:cubicBezTo>
                    <a:pt x="655885" y="134988"/>
                    <a:pt x="659308" y="162620"/>
                    <a:pt x="659308" y="193775"/>
                  </a:cubicBezTo>
                  <a:cubicBezTo>
                    <a:pt x="659308" y="224929"/>
                    <a:pt x="655637" y="253008"/>
                    <a:pt x="648295" y="278011"/>
                  </a:cubicBezTo>
                  <a:cubicBezTo>
                    <a:pt x="640953" y="303015"/>
                    <a:pt x="629989" y="324297"/>
                    <a:pt x="615404" y="341859"/>
                  </a:cubicBezTo>
                  <a:cubicBezTo>
                    <a:pt x="600819" y="359420"/>
                    <a:pt x="582513" y="372914"/>
                    <a:pt x="560487" y="382340"/>
                  </a:cubicBezTo>
                  <a:cubicBezTo>
                    <a:pt x="538460" y="391766"/>
                    <a:pt x="512762" y="396479"/>
                    <a:pt x="483394" y="396479"/>
                  </a:cubicBezTo>
                  <a:cubicBezTo>
                    <a:pt x="454422" y="396479"/>
                    <a:pt x="429369" y="392163"/>
                    <a:pt x="408235" y="383531"/>
                  </a:cubicBezTo>
                  <a:cubicBezTo>
                    <a:pt x="387102" y="374899"/>
                    <a:pt x="369639" y="362347"/>
                    <a:pt x="355848" y="345877"/>
                  </a:cubicBezTo>
                  <a:cubicBezTo>
                    <a:pt x="342057" y="329407"/>
                    <a:pt x="331787" y="308968"/>
                    <a:pt x="325041" y="284560"/>
                  </a:cubicBezTo>
                  <a:cubicBezTo>
                    <a:pt x="318294" y="260152"/>
                    <a:pt x="314920" y="232073"/>
                    <a:pt x="314920" y="200323"/>
                  </a:cubicBezTo>
                  <a:cubicBezTo>
                    <a:pt x="314920" y="169962"/>
                    <a:pt x="318591" y="142379"/>
                    <a:pt x="325934" y="117575"/>
                  </a:cubicBezTo>
                  <a:cubicBezTo>
                    <a:pt x="333276" y="92770"/>
                    <a:pt x="344289" y="71686"/>
                    <a:pt x="358973" y="54323"/>
                  </a:cubicBezTo>
                  <a:cubicBezTo>
                    <a:pt x="373658" y="36959"/>
                    <a:pt x="392013" y="23565"/>
                    <a:pt x="414040" y="14139"/>
                  </a:cubicBezTo>
                  <a:cubicBezTo>
                    <a:pt x="436066" y="4713"/>
                    <a:pt x="461764" y="0"/>
                    <a:pt x="4911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zh-CN" altLang="en-US" sz="4800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grpSp>
        <p:nvGrpSpPr>
          <p:cNvPr id="37" name="组合 36"/>
          <p:cNvGrpSpPr/>
          <p:nvPr>
            <p:custDataLst>
              <p:tags r:id="rId3"/>
            </p:custDataLst>
          </p:nvPr>
        </p:nvGrpSpPr>
        <p:grpSpPr>
          <a:xfrm>
            <a:off x="1718310" y="2887980"/>
            <a:ext cx="3712210" cy="2561590"/>
            <a:chOff x="3087" y="4548"/>
            <a:chExt cx="5846" cy="4034"/>
          </a:xfrm>
        </p:grpSpPr>
        <p:grpSp>
          <p:nvGrpSpPr>
            <p:cNvPr id="4" name="组合 3"/>
            <p:cNvGrpSpPr/>
            <p:nvPr/>
          </p:nvGrpSpPr>
          <p:grpSpPr>
            <a:xfrm>
              <a:off x="3087" y="4548"/>
              <a:ext cx="4861" cy="1550"/>
              <a:chOff x="3087" y="4548"/>
              <a:chExt cx="4861" cy="1550"/>
            </a:xfrm>
          </p:grpSpPr>
          <p:sp>
            <p:nvSpPr>
              <p:cNvPr id="9" name="矩形: 圆角 8"/>
              <p:cNvSpPr/>
              <p:nvPr>
                <p:custDataLst>
                  <p:tags r:id="rId4"/>
                </p:custDataLst>
              </p:nvPr>
            </p:nvSpPr>
            <p:spPr>
              <a:xfrm>
                <a:off x="3087" y="4704"/>
                <a:ext cx="839" cy="895"/>
              </a:xfrm>
              <a:prstGeom prst="roundRect">
                <a:avLst>
                  <a:gd name="adj" fmla="val 4167"/>
                </a:avLst>
              </a:prstGeom>
              <a:solidFill>
                <a:srgbClr val="A41F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/>
                  <a:t>1</a:t>
                </a:r>
                <a:endParaRPr lang="zh-CN" altLang="en-US" sz="2800" dirty="0"/>
              </a:p>
            </p:txBody>
          </p:sp>
          <p:sp>
            <p:nvSpPr>
              <p:cNvPr id="27" name="文本框 2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142" y="4548"/>
                <a:ext cx="3806" cy="1208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/>
              <a:p>
                <a:r>
                  <a:rPr lang="zh-CN" altLang="en-US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研究背景</a:t>
                </a:r>
                <a:endParaRPr lang="zh-CN" altLang="en-US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3" name="矩形 32"/>
              <p:cNvSpPr/>
              <p:nvPr>
                <p:custDataLst>
                  <p:tags r:id="rId6"/>
                </p:custDataLst>
              </p:nvPr>
            </p:nvSpPr>
            <p:spPr>
              <a:xfrm>
                <a:off x="4245" y="5666"/>
                <a:ext cx="3600" cy="432"/>
              </a:xfrm>
              <a:prstGeom prst="rect">
                <a:avLst/>
              </a:prstGeom>
            </p:spPr>
            <p:txBody>
              <a:bodyPr wrap="none" lIns="91436" tIns="45718" rIns="91436" bIns="45718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RESEARCH BACKGROUNDS</a:t>
                </a:r>
                <a:endPara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22" name="矩形: 圆角 8"/>
            <p:cNvSpPr/>
            <p:nvPr>
              <p:custDataLst>
                <p:tags r:id="rId7"/>
              </p:custDataLst>
            </p:nvPr>
          </p:nvSpPr>
          <p:spPr>
            <a:xfrm>
              <a:off x="3087" y="7201"/>
              <a:ext cx="839" cy="896"/>
            </a:xfrm>
            <a:prstGeom prst="roundRect">
              <a:avLst>
                <a:gd name="adj" fmla="val 4167"/>
              </a:avLst>
            </a:prstGeom>
            <a:solidFill>
              <a:srgbClr val="A41F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/>
                <a:t>3</a:t>
              </a:r>
              <a:endParaRPr lang="zh-CN" altLang="en-US" sz="2800" dirty="0"/>
            </a:p>
          </p:txBody>
        </p:sp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4142" y="7045"/>
              <a:ext cx="4791" cy="1208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实验与分析</a:t>
              </a:r>
              <a:endParaRPr lang="zh-CN" alt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9"/>
              </p:custDataLst>
            </p:nvPr>
          </p:nvSpPr>
          <p:spPr>
            <a:xfrm>
              <a:off x="4219" y="8150"/>
              <a:ext cx="4321" cy="432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EXPERIMENT AND ANALYSIS</a:t>
              </a:r>
              <a:endPara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8" name="组合 37"/>
          <p:cNvGrpSpPr/>
          <p:nvPr>
            <p:custDataLst>
              <p:tags r:id="rId10"/>
            </p:custDataLst>
          </p:nvPr>
        </p:nvGrpSpPr>
        <p:grpSpPr>
          <a:xfrm>
            <a:off x="6761482" y="2885548"/>
            <a:ext cx="3111500" cy="2580640"/>
            <a:chOff x="9985" y="4548"/>
            <a:chExt cx="4900" cy="4064"/>
          </a:xfrm>
        </p:grpSpPr>
        <p:sp>
          <p:nvSpPr>
            <p:cNvPr id="7" name="矩形: 圆角 8"/>
            <p:cNvSpPr/>
            <p:nvPr>
              <p:custDataLst>
                <p:tags r:id="rId11"/>
              </p:custDataLst>
            </p:nvPr>
          </p:nvSpPr>
          <p:spPr>
            <a:xfrm>
              <a:off x="9985" y="4704"/>
              <a:ext cx="839" cy="895"/>
            </a:xfrm>
            <a:prstGeom prst="roundRect">
              <a:avLst>
                <a:gd name="adj" fmla="val 4167"/>
              </a:avLst>
            </a:prstGeom>
            <a:solidFill>
              <a:srgbClr val="A41F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/>
                <a:t>2</a:t>
              </a:r>
              <a:endParaRPr lang="en-US" altLang="zh-CN" sz="2800" dirty="0"/>
            </a:p>
          </p:txBody>
        </p:sp>
        <p:sp>
          <p:nvSpPr>
            <p:cNvPr id="12" name="文本框 11"/>
            <p:cNvSpPr txBox="1"/>
            <p:nvPr>
              <p:custDataLst>
                <p:tags r:id="rId12"/>
              </p:custDataLst>
            </p:nvPr>
          </p:nvSpPr>
          <p:spPr>
            <a:xfrm>
              <a:off x="11040" y="4548"/>
              <a:ext cx="3806" cy="1208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方法原理</a:t>
              </a:r>
              <a:endParaRPr lang="zh-CN" alt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13"/>
              </p:custDataLst>
            </p:nvPr>
          </p:nvSpPr>
          <p:spPr>
            <a:xfrm>
              <a:off x="11368" y="5674"/>
              <a:ext cx="3197" cy="449"/>
            </a:xfrm>
            <a:prstGeom prst="rect">
              <a:avLst/>
            </a:prstGeom>
          </p:spPr>
          <p:txBody>
            <a:bodyPr wrap="square" lIns="91436" tIns="45718" rIns="91436" bIns="45718">
              <a:noAutofit/>
            </a:bodyPr>
            <a:lstStyle/>
            <a:p>
              <a:pPr algn="ctr"/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METHOD PRINCIPLE</a:t>
              </a:r>
              <a:endPara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9985" y="7062"/>
              <a:ext cx="4900" cy="1550"/>
              <a:chOff x="3087" y="4548"/>
              <a:chExt cx="4900" cy="1550"/>
            </a:xfrm>
          </p:grpSpPr>
          <p:sp>
            <p:nvSpPr>
              <p:cNvPr id="26" name="矩形: 圆角 8"/>
              <p:cNvSpPr/>
              <p:nvPr>
                <p:custDataLst>
                  <p:tags r:id="rId14"/>
                </p:custDataLst>
              </p:nvPr>
            </p:nvSpPr>
            <p:spPr>
              <a:xfrm>
                <a:off x="3087" y="4704"/>
                <a:ext cx="839" cy="895"/>
              </a:xfrm>
              <a:prstGeom prst="roundRect">
                <a:avLst>
                  <a:gd name="adj" fmla="val 4167"/>
                </a:avLst>
              </a:prstGeom>
              <a:solidFill>
                <a:srgbClr val="A41F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/>
                  <a:t>4</a:t>
                </a:r>
                <a:endParaRPr lang="en-US" altLang="zh-CN" sz="2800" dirty="0"/>
              </a:p>
            </p:txBody>
          </p:sp>
          <p:sp>
            <p:nvSpPr>
              <p:cNvPr id="30" name="文本框 29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4142" y="4548"/>
                <a:ext cx="3845" cy="1212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/>
              <a:p>
                <a:r>
                  <a:rPr lang="zh-CN" altLang="en-US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总结思考</a:t>
                </a:r>
                <a:endParaRPr lang="zh-CN" altLang="en-US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矩形 31"/>
              <p:cNvSpPr/>
              <p:nvPr>
                <p:custDataLst>
                  <p:tags r:id="rId16"/>
                </p:custDataLst>
              </p:nvPr>
            </p:nvSpPr>
            <p:spPr>
              <a:xfrm>
                <a:off x="4225" y="5666"/>
                <a:ext cx="3660" cy="432"/>
              </a:xfrm>
              <a:prstGeom prst="rect">
                <a:avLst/>
              </a:prstGeom>
            </p:spPr>
            <p:txBody>
              <a:bodyPr wrap="none" lIns="91436" tIns="45718" rIns="91436" bIns="45718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SUMMARY AND REFLECTION</a:t>
                </a:r>
                <a:endPara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11" name="矩形 10"/>
          <p:cNvSpPr/>
          <p:nvPr/>
        </p:nvSpPr>
        <p:spPr>
          <a:xfrm>
            <a:off x="-12065" y="6282690"/>
            <a:ext cx="12204000" cy="1165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1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6200000">
            <a:off x="2669251" y="-2664749"/>
            <a:ext cx="6853497" cy="1219200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5" name="PA-矩形 14"/>
          <p:cNvSpPr/>
          <p:nvPr>
            <p:custDataLst>
              <p:tags r:id="rId1"/>
            </p:custDataLst>
          </p:nvPr>
        </p:nvSpPr>
        <p:spPr>
          <a:xfrm>
            <a:off x="0" y="1660961"/>
            <a:ext cx="12192000" cy="3785438"/>
          </a:xfrm>
          <a:prstGeom prst="rect">
            <a:avLst/>
          </a:prstGeom>
          <a:pattFill prst="dkDnDiag">
            <a:fgClr>
              <a:srgbClr val="F0F0F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PA-文本框 8"/>
          <p:cNvSpPr txBox="1"/>
          <p:nvPr>
            <p:custDataLst>
              <p:tags r:id="rId2"/>
            </p:custDataLst>
          </p:nvPr>
        </p:nvSpPr>
        <p:spPr>
          <a:xfrm>
            <a:off x="3568700" y="3343396"/>
            <a:ext cx="5054600" cy="120032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endParaRPr lang="zh-CN" altLang="en-US" sz="7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PA-矩形 9"/>
          <p:cNvSpPr/>
          <p:nvPr>
            <p:custDataLst>
              <p:tags r:id="rId3"/>
            </p:custDataLst>
          </p:nvPr>
        </p:nvSpPr>
        <p:spPr>
          <a:xfrm>
            <a:off x="3956457" y="4438680"/>
            <a:ext cx="4279087" cy="369328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RESEARCH BACKGROUNDS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PA-任意多边形 23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5529673" y="2223737"/>
            <a:ext cx="1132652" cy="1014904"/>
          </a:xfrm>
          <a:custGeom>
            <a:avLst/>
            <a:gdLst>
              <a:gd name="T0" fmla="*/ 13 w 152"/>
              <a:gd name="T1" fmla="*/ 48 h 137"/>
              <a:gd name="T2" fmla="*/ 8 w 152"/>
              <a:gd name="T3" fmla="*/ 62 h 137"/>
              <a:gd name="T4" fmla="*/ 25 w 152"/>
              <a:gd name="T5" fmla="*/ 60 h 137"/>
              <a:gd name="T6" fmla="*/ 30 w 152"/>
              <a:gd name="T7" fmla="*/ 54 h 137"/>
              <a:gd name="T8" fmla="*/ 23 w 152"/>
              <a:gd name="T9" fmla="*/ 78 h 137"/>
              <a:gd name="T10" fmla="*/ 7 w 152"/>
              <a:gd name="T11" fmla="*/ 72 h 137"/>
              <a:gd name="T12" fmla="*/ 3 w 152"/>
              <a:gd name="T13" fmla="*/ 134 h 137"/>
              <a:gd name="T14" fmla="*/ 21 w 152"/>
              <a:gd name="T15" fmla="*/ 133 h 137"/>
              <a:gd name="T16" fmla="*/ 20 w 152"/>
              <a:gd name="T17" fmla="*/ 126 h 137"/>
              <a:gd name="T18" fmla="*/ 1 w 152"/>
              <a:gd name="T19" fmla="*/ 122 h 137"/>
              <a:gd name="T20" fmla="*/ 20 w 152"/>
              <a:gd name="T21" fmla="*/ 122 h 137"/>
              <a:gd name="T22" fmla="*/ 27 w 152"/>
              <a:gd name="T23" fmla="*/ 75 h 137"/>
              <a:gd name="T24" fmla="*/ 8 w 152"/>
              <a:gd name="T25" fmla="*/ 62 h 137"/>
              <a:gd name="T26" fmla="*/ 7 w 152"/>
              <a:gd name="T27" fmla="*/ 72 h 137"/>
              <a:gd name="T28" fmla="*/ 8 w 152"/>
              <a:gd name="T29" fmla="*/ 62 h 137"/>
              <a:gd name="T30" fmla="*/ 29 w 152"/>
              <a:gd name="T31" fmla="*/ 64 h 137"/>
              <a:gd name="T32" fmla="*/ 27 w 152"/>
              <a:gd name="T33" fmla="*/ 75 h 137"/>
              <a:gd name="T34" fmla="*/ 127 w 152"/>
              <a:gd name="T35" fmla="*/ 44 h 137"/>
              <a:gd name="T36" fmla="*/ 127 w 152"/>
              <a:gd name="T37" fmla="*/ 36 h 137"/>
              <a:gd name="T38" fmla="*/ 110 w 152"/>
              <a:gd name="T39" fmla="*/ 37 h 137"/>
              <a:gd name="T40" fmla="*/ 109 w 152"/>
              <a:gd name="T41" fmla="*/ 52 h 137"/>
              <a:gd name="T42" fmla="*/ 127 w 152"/>
              <a:gd name="T43" fmla="*/ 44 h 137"/>
              <a:gd name="T44" fmla="*/ 67 w 152"/>
              <a:gd name="T45" fmla="*/ 101 h 137"/>
              <a:gd name="T46" fmla="*/ 99 w 152"/>
              <a:gd name="T47" fmla="*/ 19 h 137"/>
              <a:gd name="T48" fmla="*/ 67 w 152"/>
              <a:gd name="T49" fmla="*/ 105 h 137"/>
              <a:gd name="T50" fmla="*/ 99 w 152"/>
              <a:gd name="T51" fmla="*/ 114 h 137"/>
              <a:gd name="T52" fmla="*/ 67 w 152"/>
              <a:gd name="T53" fmla="*/ 105 h 137"/>
              <a:gd name="T54" fmla="*/ 70 w 152"/>
              <a:gd name="T55" fmla="*/ 0 h 137"/>
              <a:gd name="T56" fmla="*/ 67 w 152"/>
              <a:gd name="T57" fmla="*/ 14 h 137"/>
              <a:gd name="T58" fmla="*/ 99 w 152"/>
              <a:gd name="T59" fmla="*/ 4 h 137"/>
              <a:gd name="T60" fmla="*/ 67 w 152"/>
              <a:gd name="T61" fmla="*/ 126 h 137"/>
              <a:gd name="T62" fmla="*/ 70 w 152"/>
              <a:gd name="T63" fmla="*/ 136 h 137"/>
              <a:gd name="T64" fmla="*/ 99 w 152"/>
              <a:gd name="T65" fmla="*/ 132 h 137"/>
              <a:gd name="T66" fmla="*/ 67 w 152"/>
              <a:gd name="T67" fmla="*/ 126 h 137"/>
              <a:gd name="T68" fmla="*/ 41 w 152"/>
              <a:gd name="T69" fmla="*/ 17 h 137"/>
              <a:gd name="T70" fmla="*/ 38 w 152"/>
              <a:gd name="T71" fmla="*/ 132 h 137"/>
              <a:gd name="T72" fmla="*/ 55 w 152"/>
              <a:gd name="T73" fmla="*/ 136 h 137"/>
              <a:gd name="T74" fmla="*/ 58 w 152"/>
              <a:gd name="T75" fmla="*/ 21 h 137"/>
              <a:gd name="T76" fmla="*/ 53 w 152"/>
              <a:gd name="T77" fmla="*/ 123 h 137"/>
              <a:gd name="T78" fmla="*/ 41 w 152"/>
              <a:gd name="T79" fmla="*/ 121 h 137"/>
              <a:gd name="T80" fmla="*/ 53 w 152"/>
              <a:gd name="T81" fmla="*/ 119 h 137"/>
              <a:gd name="T82" fmla="*/ 53 w 152"/>
              <a:gd name="T83" fmla="*/ 123 h 137"/>
              <a:gd name="T84" fmla="*/ 45 w 152"/>
              <a:gd name="T85" fmla="*/ 33 h 137"/>
              <a:gd name="T86" fmla="*/ 45 w 152"/>
              <a:gd name="T87" fmla="*/ 25 h 137"/>
              <a:gd name="T88" fmla="*/ 55 w 152"/>
              <a:gd name="T89" fmla="*/ 29 h 137"/>
              <a:gd name="T90" fmla="*/ 129 w 152"/>
              <a:gd name="T91" fmla="*/ 46 h 137"/>
              <a:gd name="T92" fmla="*/ 112 w 152"/>
              <a:gd name="T93" fmla="*/ 52 h 137"/>
              <a:gd name="T94" fmla="*/ 131 w 152"/>
              <a:gd name="T95" fmla="*/ 133 h 137"/>
              <a:gd name="T96" fmla="*/ 148 w 152"/>
              <a:gd name="T97" fmla="*/ 133 h 137"/>
              <a:gd name="T98" fmla="*/ 129 w 152"/>
              <a:gd name="T99" fmla="*/ 46 h 137"/>
              <a:gd name="T100" fmla="*/ 115 w 152"/>
              <a:gd name="T101" fmla="*/ 56 h 137"/>
              <a:gd name="T102" fmla="*/ 131 w 152"/>
              <a:gd name="T103" fmla="*/ 69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52" h="137">
                <a:moveTo>
                  <a:pt x="27" y="50"/>
                </a:moveTo>
                <a:cubicBezTo>
                  <a:pt x="13" y="48"/>
                  <a:pt x="13" y="48"/>
                  <a:pt x="13" y="48"/>
                </a:cubicBezTo>
                <a:cubicBezTo>
                  <a:pt x="11" y="48"/>
                  <a:pt x="9" y="50"/>
                  <a:pt x="9" y="52"/>
                </a:cubicBezTo>
                <a:cubicBezTo>
                  <a:pt x="8" y="62"/>
                  <a:pt x="8" y="62"/>
                  <a:pt x="8" y="62"/>
                </a:cubicBezTo>
                <a:cubicBezTo>
                  <a:pt x="8" y="60"/>
                  <a:pt x="10" y="59"/>
                  <a:pt x="12" y="59"/>
                </a:cubicBezTo>
                <a:cubicBezTo>
                  <a:pt x="25" y="60"/>
                  <a:pt x="25" y="60"/>
                  <a:pt x="25" y="60"/>
                </a:cubicBezTo>
                <a:cubicBezTo>
                  <a:pt x="27" y="61"/>
                  <a:pt x="29" y="62"/>
                  <a:pt x="29" y="64"/>
                </a:cubicBezTo>
                <a:cubicBezTo>
                  <a:pt x="30" y="54"/>
                  <a:pt x="30" y="54"/>
                  <a:pt x="30" y="54"/>
                </a:cubicBezTo>
                <a:cubicBezTo>
                  <a:pt x="30" y="52"/>
                  <a:pt x="29" y="50"/>
                  <a:pt x="27" y="50"/>
                </a:cubicBezTo>
                <a:close/>
                <a:moveTo>
                  <a:pt x="23" y="78"/>
                </a:moveTo>
                <a:cubicBezTo>
                  <a:pt x="10" y="76"/>
                  <a:pt x="10" y="76"/>
                  <a:pt x="10" y="76"/>
                </a:cubicBezTo>
                <a:cubicBezTo>
                  <a:pt x="8" y="76"/>
                  <a:pt x="7" y="74"/>
                  <a:pt x="7" y="72"/>
                </a:cubicBezTo>
                <a:cubicBezTo>
                  <a:pt x="0" y="131"/>
                  <a:pt x="0" y="131"/>
                  <a:pt x="0" y="131"/>
                </a:cubicBezTo>
                <a:cubicBezTo>
                  <a:pt x="0" y="133"/>
                  <a:pt x="1" y="134"/>
                  <a:pt x="3" y="134"/>
                </a:cubicBezTo>
                <a:cubicBezTo>
                  <a:pt x="17" y="136"/>
                  <a:pt x="17" y="136"/>
                  <a:pt x="17" y="136"/>
                </a:cubicBezTo>
                <a:cubicBezTo>
                  <a:pt x="19" y="136"/>
                  <a:pt x="20" y="135"/>
                  <a:pt x="21" y="133"/>
                </a:cubicBezTo>
                <a:cubicBezTo>
                  <a:pt x="22" y="124"/>
                  <a:pt x="22" y="124"/>
                  <a:pt x="22" y="124"/>
                </a:cubicBezTo>
                <a:cubicBezTo>
                  <a:pt x="21" y="125"/>
                  <a:pt x="21" y="126"/>
                  <a:pt x="20" y="126"/>
                </a:cubicBezTo>
                <a:cubicBezTo>
                  <a:pt x="2" y="124"/>
                  <a:pt x="2" y="124"/>
                  <a:pt x="2" y="124"/>
                </a:cubicBezTo>
                <a:cubicBezTo>
                  <a:pt x="2" y="124"/>
                  <a:pt x="1" y="123"/>
                  <a:pt x="1" y="122"/>
                </a:cubicBezTo>
                <a:cubicBezTo>
                  <a:pt x="1" y="121"/>
                  <a:pt x="2" y="120"/>
                  <a:pt x="3" y="121"/>
                </a:cubicBezTo>
                <a:cubicBezTo>
                  <a:pt x="20" y="122"/>
                  <a:pt x="20" y="122"/>
                  <a:pt x="20" y="122"/>
                </a:cubicBezTo>
                <a:cubicBezTo>
                  <a:pt x="21" y="123"/>
                  <a:pt x="22" y="123"/>
                  <a:pt x="22" y="124"/>
                </a:cubicBezTo>
                <a:cubicBezTo>
                  <a:pt x="27" y="75"/>
                  <a:pt x="27" y="75"/>
                  <a:pt x="27" y="75"/>
                </a:cubicBezTo>
                <a:cubicBezTo>
                  <a:pt x="27" y="76"/>
                  <a:pt x="25" y="78"/>
                  <a:pt x="23" y="78"/>
                </a:cubicBezTo>
                <a:close/>
                <a:moveTo>
                  <a:pt x="8" y="62"/>
                </a:moveTo>
                <a:cubicBezTo>
                  <a:pt x="7" y="72"/>
                  <a:pt x="7" y="72"/>
                  <a:pt x="7" y="72"/>
                </a:cubicBezTo>
                <a:cubicBezTo>
                  <a:pt x="7" y="72"/>
                  <a:pt x="7" y="72"/>
                  <a:pt x="7" y="72"/>
                </a:cubicBezTo>
                <a:cubicBezTo>
                  <a:pt x="8" y="62"/>
                  <a:pt x="8" y="62"/>
                  <a:pt x="8" y="62"/>
                </a:cubicBezTo>
                <a:cubicBezTo>
                  <a:pt x="8" y="62"/>
                  <a:pt x="8" y="62"/>
                  <a:pt x="8" y="62"/>
                </a:cubicBezTo>
                <a:close/>
                <a:moveTo>
                  <a:pt x="27" y="75"/>
                </a:moveTo>
                <a:cubicBezTo>
                  <a:pt x="29" y="64"/>
                  <a:pt x="29" y="64"/>
                  <a:pt x="29" y="64"/>
                </a:cubicBezTo>
                <a:cubicBezTo>
                  <a:pt x="29" y="64"/>
                  <a:pt x="29" y="64"/>
                  <a:pt x="29" y="64"/>
                </a:cubicBezTo>
                <a:cubicBezTo>
                  <a:pt x="27" y="75"/>
                  <a:pt x="27" y="75"/>
                  <a:pt x="27" y="75"/>
                </a:cubicBezTo>
                <a:cubicBezTo>
                  <a:pt x="27" y="75"/>
                  <a:pt x="27" y="75"/>
                  <a:pt x="27" y="75"/>
                </a:cubicBezTo>
                <a:close/>
                <a:moveTo>
                  <a:pt x="127" y="44"/>
                </a:moveTo>
                <a:cubicBezTo>
                  <a:pt x="128" y="44"/>
                  <a:pt x="129" y="45"/>
                  <a:pt x="129" y="46"/>
                </a:cubicBezTo>
                <a:cubicBezTo>
                  <a:pt x="127" y="36"/>
                  <a:pt x="127" y="36"/>
                  <a:pt x="127" y="36"/>
                </a:cubicBezTo>
                <a:cubicBezTo>
                  <a:pt x="126" y="34"/>
                  <a:pt x="124" y="33"/>
                  <a:pt x="122" y="33"/>
                </a:cubicBezTo>
                <a:cubicBezTo>
                  <a:pt x="110" y="37"/>
                  <a:pt x="110" y="37"/>
                  <a:pt x="110" y="37"/>
                </a:cubicBezTo>
                <a:cubicBezTo>
                  <a:pt x="108" y="37"/>
                  <a:pt x="106" y="39"/>
                  <a:pt x="107" y="42"/>
                </a:cubicBezTo>
                <a:cubicBezTo>
                  <a:pt x="109" y="52"/>
                  <a:pt x="109" y="52"/>
                  <a:pt x="109" y="52"/>
                </a:cubicBezTo>
                <a:cubicBezTo>
                  <a:pt x="109" y="50"/>
                  <a:pt x="110" y="49"/>
                  <a:pt x="111" y="48"/>
                </a:cubicBezTo>
                <a:cubicBezTo>
                  <a:pt x="116" y="46"/>
                  <a:pt x="121" y="44"/>
                  <a:pt x="127" y="44"/>
                </a:cubicBezTo>
                <a:close/>
                <a:moveTo>
                  <a:pt x="67" y="19"/>
                </a:moveTo>
                <a:cubicBezTo>
                  <a:pt x="67" y="101"/>
                  <a:pt x="67" y="101"/>
                  <a:pt x="67" y="101"/>
                </a:cubicBezTo>
                <a:cubicBezTo>
                  <a:pt x="77" y="104"/>
                  <a:pt x="89" y="104"/>
                  <a:pt x="99" y="101"/>
                </a:cubicBezTo>
                <a:cubicBezTo>
                  <a:pt x="99" y="19"/>
                  <a:pt x="99" y="19"/>
                  <a:pt x="99" y="19"/>
                </a:cubicBezTo>
                <a:cubicBezTo>
                  <a:pt x="92" y="15"/>
                  <a:pt x="74" y="15"/>
                  <a:pt x="67" y="19"/>
                </a:cubicBezTo>
                <a:close/>
                <a:moveTo>
                  <a:pt x="67" y="105"/>
                </a:moveTo>
                <a:cubicBezTo>
                  <a:pt x="67" y="114"/>
                  <a:pt x="67" y="114"/>
                  <a:pt x="67" y="114"/>
                </a:cubicBezTo>
                <a:cubicBezTo>
                  <a:pt x="73" y="117"/>
                  <a:pt x="93" y="117"/>
                  <a:pt x="99" y="114"/>
                </a:cubicBezTo>
                <a:cubicBezTo>
                  <a:pt x="99" y="105"/>
                  <a:pt x="99" y="105"/>
                  <a:pt x="99" y="105"/>
                </a:cubicBezTo>
                <a:cubicBezTo>
                  <a:pt x="89" y="108"/>
                  <a:pt x="77" y="108"/>
                  <a:pt x="67" y="105"/>
                </a:cubicBezTo>
                <a:close/>
                <a:moveTo>
                  <a:pt x="96" y="0"/>
                </a:moveTo>
                <a:cubicBezTo>
                  <a:pt x="70" y="0"/>
                  <a:pt x="70" y="0"/>
                  <a:pt x="70" y="0"/>
                </a:cubicBezTo>
                <a:cubicBezTo>
                  <a:pt x="68" y="0"/>
                  <a:pt x="67" y="2"/>
                  <a:pt x="67" y="4"/>
                </a:cubicBezTo>
                <a:cubicBezTo>
                  <a:pt x="67" y="14"/>
                  <a:pt x="67" y="14"/>
                  <a:pt x="67" y="14"/>
                </a:cubicBezTo>
                <a:cubicBezTo>
                  <a:pt x="73" y="11"/>
                  <a:pt x="93" y="11"/>
                  <a:pt x="99" y="14"/>
                </a:cubicBezTo>
                <a:cubicBezTo>
                  <a:pt x="99" y="4"/>
                  <a:pt x="99" y="4"/>
                  <a:pt x="99" y="4"/>
                </a:cubicBezTo>
                <a:cubicBezTo>
                  <a:pt x="99" y="2"/>
                  <a:pt x="98" y="0"/>
                  <a:pt x="96" y="0"/>
                </a:cubicBezTo>
                <a:close/>
                <a:moveTo>
                  <a:pt x="67" y="126"/>
                </a:moveTo>
                <a:cubicBezTo>
                  <a:pt x="67" y="132"/>
                  <a:pt x="67" y="132"/>
                  <a:pt x="67" y="132"/>
                </a:cubicBezTo>
                <a:cubicBezTo>
                  <a:pt x="67" y="134"/>
                  <a:pt x="68" y="136"/>
                  <a:pt x="70" y="136"/>
                </a:cubicBezTo>
                <a:cubicBezTo>
                  <a:pt x="96" y="136"/>
                  <a:pt x="96" y="136"/>
                  <a:pt x="96" y="136"/>
                </a:cubicBezTo>
                <a:cubicBezTo>
                  <a:pt x="98" y="136"/>
                  <a:pt x="99" y="134"/>
                  <a:pt x="99" y="132"/>
                </a:cubicBezTo>
                <a:cubicBezTo>
                  <a:pt x="99" y="126"/>
                  <a:pt x="99" y="126"/>
                  <a:pt x="99" y="126"/>
                </a:cubicBezTo>
                <a:cubicBezTo>
                  <a:pt x="96" y="128"/>
                  <a:pt x="70" y="128"/>
                  <a:pt x="67" y="126"/>
                </a:cubicBezTo>
                <a:close/>
                <a:moveTo>
                  <a:pt x="55" y="17"/>
                </a:moveTo>
                <a:cubicBezTo>
                  <a:pt x="41" y="17"/>
                  <a:pt x="41" y="17"/>
                  <a:pt x="41" y="17"/>
                </a:cubicBezTo>
                <a:cubicBezTo>
                  <a:pt x="39" y="17"/>
                  <a:pt x="38" y="18"/>
                  <a:pt x="38" y="21"/>
                </a:cubicBezTo>
                <a:cubicBezTo>
                  <a:pt x="38" y="132"/>
                  <a:pt x="38" y="132"/>
                  <a:pt x="38" y="132"/>
                </a:cubicBezTo>
                <a:cubicBezTo>
                  <a:pt x="38" y="134"/>
                  <a:pt x="39" y="136"/>
                  <a:pt x="41" y="136"/>
                </a:cubicBezTo>
                <a:cubicBezTo>
                  <a:pt x="55" y="136"/>
                  <a:pt x="55" y="136"/>
                  <a:pt x="55" y="136"/>
                </a:cubicBezTo>
                <a:cubicBezTo>
                  <a:pt x="57" y="136"/>
                  <a:pt x="58" y="134"/>
                  <a:pt x="58" y="132"/>
                </a:cubicBezTo>
                <a:cubicBezTo>
                  <a:pt x="58" y="21"/>
                  <a:pt x="58" y="21"/>
                  <a:pt x="58" y="21"/>
                </a:cubicBezTo>
                <a:cubicBezTo>
                  <a:pt x="58" y="18"/>
                  <a:pt x="57" y="17"/>
                  <a:pt x="55" y="17"/>
                </a:cubicBezTo>
                <a:close/>
                <a:moveTo>
                  <a:pt x="53" y="123"/>
                </a:moveTo>
                <a:cubicBezTo>
                  <a:pt x="43" y="123"/>
                  <a:pt x="43" y="123"/>
                  <a:pt x="43" y="123"/>
                </a:cubicBezTo>
                <a:cubicBezTo>
                  <a:pt x="42" y="123"/>
                  <a:pt x="41" y="123"/>
                  <a:pt x="41" y="121"/>
                </a:cubicBezTo>
                <a:cubicBezTo>
                  <a:pt x="41" y="120"/>
                  <a:pt x="42" y="119"/>
                  <a:pt x="43" y="119"/>
                </a:cubicBezTo>
                <a:cubicBezTo>
                  <a:pt x="53" y="119"/>
                  <a:pt x="53" y="119"/>
                  <a:pt x="53" y="119"/>
                </a:cubicBezTo>
                <a:cubicBezTo>
                  <a:pt x="54" y="119"/>
                  <a:pt x="55" y="120"/>
                  <a:pt x="55" y="121"/>
                </a:cubicBezTo>
                <a:cubicBezTo>
                  <a:pt x="55" y="123"/>
                  <a:pt x="54" y="123"/>
                  <a:pt x="53" y="123"/>
                </a:cubicBezTo>
                <a:close/>
                <a:moveTo>
                  <a:pt x="51" y="33"/>
                </a:moveTo>
                <a:cubicBezTo>
                  <a:pt x="45" y="33"/>
                  <a:pt x="45" y="33"/>
                  <a:pt x="45" y="33"/>
                </a:cubicBezTo>
                <a:cubicBezTo>
                  <a:pt x="43" y="33"/>
                  <a:pt x="41" y="31"/>
                  <a:pt x="41" y="29"/>
                </a:cubicBezTo>
                <a:cubicBezTo>
                  <a:pt x="41" y="27"/>
                  <a:pt x="43" y="25"/>
                  <a:pt x="45" y="25"/>
                </a:cubicBezTo>
                <a:cubicBezTo>
                  <a:pt x="51" y="25"/>
                  <a:pt x="51" y="25"/>
                  <a:pt x="51" y="25"/>
                </a:cubicBezTo>
                <a:cubicBezTo>
                  <a:pt x="53" y="25"/>
                  <a:pt x="55" y="27"/>
                  <a:pt x="55" y="29"/>
                </a:cubicBezTo>
                <a:cubicBezTo>
                  <a:pt x="55" y="31"/>
                  <a:pt x="53" y="33"/>
                  <a:pt x="51" y="33"/>
                </a:cubicBezTo>
                <a:close/>
                <a:moveTo>
                  <a:pt x="129" y="46"/>
                </a:moveTo>
                <a:cubicBezTo>
                  <a:pt x="130" y="47"/>
                  <a:pt x="129" y="48"/>
                  <a:pt x="128" y="48"/>
                </a:cubicBezTo>
                <a:cubicBezTo>
                  <a:pt x="122" y="48"/>
                  <a:pt x="117" y="50"/>
                  <a:pt x="112" y="52"/>
                </a:cubicBezTo>
                <a:cubicBezTo>
                  <a:pt x="111" y="53"/>
                  <a:pt x="110" y="53"/>
                  <a:pt x="109" y="52"/>
                </a:cubicBezTo>
                <a:cubicBezTo>
                  <a:pt x="131" y="133"/>
                  <a:pt x="131" y="133"/>
                  <a:pt x="131" y="133"/>
                </a:cubicBezTo>
                <a:cubicBezTo>
                  <a:pt x="132" y="135"/>
                  <a:pt x="134" y="137"/>
                  <a:pt x="136" y="136"/>
                </a:cubicBezTo>
                <a:cubicBezTo>
                  <a:pt x="148" y="133"/>
                  <a:pt x="148" y="133"/>
                  <a:pt x="148" y="133"/>
                </a:cubicBezTo>
                <a:cubicBezTo>
                  <a:pt x="150" y="132"/>
                  <a:pt x="152" y="130"/>
                  <a:pt x="151" y="128"/>
                </a:cubicBezTo>
                <a:lnTo>
                  <a:pt x="129" y="46"/>
                </a:lnTo>
                <a:close/>
                <a:moveTo>
                  <a:pt x="119" y="72"/>
                </a:moveTo>
                <a:cubicBezTo>
                  <a:pt x="115" y="56"/>
                  <a:pt x="115" y="56"/>
                  <a:pt x="115" y="56"/>
                </a:cubicBezTo>
                <a:cubicBezTo>
                  <a:pt x="127" y="53"/>
                  <a:pt x="127" y="53"/>
                  <a:pt x="127" y="53"/>
                </a:cubicBezTo>
                <a:cubicBezTo>
                  <a:pt x="131" y="69"/>
                  <a:pt x="131" y="69"/>
                  <a:pt x="131" y="69"/>
                </a:cubicBezTo>
                <a:lnTo>
                  <a:pt x="119" y="72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1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研究背景</a:t>
            </a:r>
            <a:endParaRPr sz="2400" b="1" i="0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99232" y="896112"/>
            <a:ext cx="1399032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方法原理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实验与分析</a:t>
            </a:r>
            <a:endParaRPr lang="zh-CN"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543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总结思考</a:t>
            </a:r>
            <a:endParaRPr lang="zh-CN"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研究背景：在线社交网络滥用</a:t>
            </a:r>
            <a:endParaRPr sz="2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1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11064240" cy="50984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研究场景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在线社交网络（OSN）连接全球数十亿用户，承载分享、交流、购物、求职等正当活动。</a:t>
            </a:r>
            <a:endParaRPr sz="2400"/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滥用类型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垃圾信息、网络钓鱼、虚假互动、滥用账号、数据抓取——由恶意行为</a:t>
            </a:r>
            <a:endParaRPr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者驱动，通常为经济利益。</a:t>
            </a:r>
            <a:endParaRPr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传统应对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训练二元分类器判断良性 / 恶意，再对判定为恶意的对象统一封禁或删除。</a:t>
            </a:r>
            <a:endParaRPr sz="2400"/>
          </a:p>
          <a:p>
            <a:pPr indent="0" defTabSz="1202690" fontAlgn="auto">
              <a:lnSpc>
                <a:spcPts val="45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问题规模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平台体量达数十亿账号，反滥用系统必须高频、在线运行，任何误判都会被放大。</a:t>
            </a:r>
            <a:endParaRPr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endParaRPr sz="24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研究背景</a:t>
            </a:r>
            <a:endParaRPr sz="2400" b="1" i="0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99232" y="896112"/>
            <a:ext cx="1399032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方法原理</a:t>
            </a:r>
            <a:endParaRPr sz="1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实验与分析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543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总结思考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三个难以两全的痛点</a:t>
            </a:r>
            <a:endParaRPr sz="2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1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292350"/>
            <a:ext cx="11064240" cy="360045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41F1C"/>
                </a:solidFill>
                <a:latin typeface="Arial" panose="020B0604020202020204" pitchFamily="34" charset="0"/>
                <a:ea typeface="微软雅黑" panose="020B0503020204020204" charset="-122"/>
              </a:rPr>
              <a:t>●</a:t>
            </a:r>
            <a:r>
              <a:rPr lang="en-US" sz="2400" b="1">
                <a:solidFill>
                  <a:srgbClr val="A41F1C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误判不可避免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分类器不可能 100% 精确，良性内容可能被误删，用户会抱怨。</a:t>
            </a:r>
            <a:endParaRPr sz="2400"/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41F1C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sz="2400" b="1">
                <a:solidFill>
                  <a:srgbClr val="A41F1C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动作太单一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检测出来之后，往往只能删除内容或封禁账号，没有更细腻的应对。</a:t>
            </a:r>
            <a:endParaRPr lang="zh-CN" altLang="en-US"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41F1C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sz="2400" b="1">
                <a:solidFill>
                  <a:srgbClr val="A41F1C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只有一个旋钮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调高阈值→少误伤但漏报多；调低阈值→多拦截但误伤多，此消彼长，很难两全。</a:t>
            </a:r>
            <a:endParaRPr sz="2400"/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关键结论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分类只是中间步骤，平台最终必须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真正动手处理（封禁、弹验证码等）</a:t>
            </a:r>
            <a:r>
              <a:rPr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4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800"/>
              </a:spcAft>
            </a:pP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研究背景</a:t>
            </a:r>
            <a:endParaRPr sz="2400" b="1" i="0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99232" y="896112"/>
            <a:ext cx="1399032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方法原理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实验与分析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543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总结思考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一个例子：软性措施改变权衡</a:t>
            </a:r>
            <a:endParaRPr sz="2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1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1819910"/>
            <a:ext cx="5669280" cy="50215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现实例子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登录页放行一部分、拦截一部分，对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拿不准的请求弹验证码或短信验证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400"/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软性措施的价值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验证码、短信验证对良性用户干扰小，又能阻碍可疑用户，降低误伤成本。</a:t>
            </a:r>
            <a:endParaRPr sz="2400"/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启示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把动作从要么放行、要么封禁扩展为一整套手段，就能在不伤用户前提下挡更多滥用</a:t>
            </a:r>
            <a:r>
              <a:rPr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4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endParaRPr sz="240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760" y="2042160"/>
            <a:ext cx="5727065" cy="4210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研究背景</a:t>
            </a:r>
            <a:endParaRPr sz="2400" b="1" i="0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99232" y="896112"/>
            <a:ext cx="1399032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方法原理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实验与分析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543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总结思考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已有研究只做检测，不管行动</a:t>
            </a:r>
            <a:endParaRPr sz="2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11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48640" y="1828800"/>
          <a:ext cx="11064240" cy="357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200400"/>
                <a:gridCol w="3017520"/>
                <a:gridCol w="3108960"/>
              </a:tblGrid>
              <a:tr h="71501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方法类别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A41F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代表工作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A41F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优点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A41F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不足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A41F1C"/>
                    </a:solidFill>
                  </a:tcPr>
                </a:tc>
              </a:tr>
              <a:tr h="71501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监督学习分类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kNN / 随机森林 / 神经网络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有标注数据时精度高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依赖标注数据，难扩展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71501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无监督 / 图方法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聚类、图分析、Sybil 检测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无需标注，能发现串通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只检测，不处理后果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501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执行与验证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CAPTCHA、MFA、分级警告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提供柔性应对手段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靠人工规则，无法全局优化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71501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本文 PRO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强化学习 + 模型预测控制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自动选行动、全局权衡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只验证了抓取场景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93395" y="5690870"/>
            <a:ext cx="11064240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已有工作都聚焦分类是否更准，却忽略检测之后采取什么行动。</a:t>
            </a:r>
            <a:endParaRPr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研究背景</a:t>
            </a:r>
            <a:endParaRPr sz="2400" b="1" i="0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99232" y="896112"/>
            <a:ext cx="1399032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方法原理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实验与分析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543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总结思考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研究挑战与研究目标</a:t>
            </a:r>
            <a:endParaRPr sz="2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11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3880" y="2380615"/>
            <a:ext cx="11064240" cy="386715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研究挑战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如何在亿级、高频、对抗性的真实环境中，自动选择最优行动，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平衡减少恶意行为与不误伤正常用户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400"/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研究目标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把动作选择形式化为强化学习问题：在滥用数量与误伤成本之间求最优权衡。</a:t>
            </a:r>
            <a:endParaRPr sz="2400"/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衡量尺度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引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入两类可量化的目标——衡量危害的指标（垃圾请求数）和衡量误伤的指标（被误伤的正常使用）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研究背景</a:t>
            </a:r>
            <a:endParaRPr sz="2400" b="1" i="0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99232" y="896112"/>
            <a:ext cx="1399032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方法原理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实验与分析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543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总结思考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方案贡献：</a:t>
            </a:r>
            <a:endParaRPr sz="2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sz="11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8785" y="2123440"/>
            <a:ext cx="6130925" cy="44443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观点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反滥用系统的真正目标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是决定采取哪种措施，而不是简单判断好坏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400"/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形式化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把动作选择形式化为强化学习问题。</a:t>
            </a:r>
            <a:endParaRPr sz="2400"/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系统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设计并落地 PRO（预测性响应优化）系统。</a:t>
            </a:r>
            <a:endParaRPr sz="2400"/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效果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Instagram滥用−59</a:t>
            </a:r>
            <a:r>
              <a:rPr lang="en-US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.2</a:t>
            </a:r>
            <a:r>
              <a:rPr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%、Facebook </a:t>
            </a:r>
            <a:r>
              <a:rPr lang="zh-CN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滥用</a:t>
            </a:r>
            <a:r>
              <a:rPr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−4.5</a:t>
            </a:r>
            <a:r>
              <a:rPr lang="en-US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%，</a:t>
            </a:r>
            <a:r>
              <a:rPr lang="zh-CN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且</a:t>
            </a:r>
            <a:r>
              <a:rPr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不伤害正常用户。</a:t>
            </a:r>
            <a:endParaRPr sz="24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endParaRPr sz="2400"/>
          </a:p>
        </p:txBody>
      </p:sp>
      <p:pic>
        <p:nvPicPr>
          <p:cNvPr id="14" name="Picture 13" descr="download1.png"/>
          <p:cNvPicPr>
            <a:picLocks noChangeAspect="1"/>
          </p:cNvPicPr>
          <p:nvPr/>
        </p:nvPicPr>
        <p:blipFill>
          <a:blip r:embed="rId2"/>
          <a:srcRect l="5580" t="2300" r="3770" b="4211"/>
          <a:stretch>
            <a:fillRect/>
          </a:stretch>
        </p:blipFill>
        <p:spPr>
          <a:xfrm>
            <a:off x="6526530" y="2187575"/>
            <a:ext cx="5083810" cy="40144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6200000">
            <a:off x="2669251" y="-2664749"/>
            <a:ext cx="6853497" cy="1219200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PA-矩形 14"/>
          <p:cNvSpPr/>
          <p:nvPr>
            <p:custDataLst>
              <p:tags r:id="rId1"/>
            </p:custDataLst>
          </p:nvPr>
        </p:nvSpPr>
        <p:spPr>
          <a:xfrm>
            <a:off x="0" y="1660961"/>
            <a:ext cx="12192000" cy="3785438"/>
          </a:xfrm>
          <a:prstGeom prst="rect">
            <a:avLst/>
          </a:prstGeom>
          <a:pattFill prst="dkDnDiag">
            <a:fgClr>
              <a:srgbClr val="F0F0F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PA-文本框 8"/>
          <p:cNvSpPr txBox="1"/>
          <p:nvPr>
            <p:custDataLst>
              <p:tags r:id="rId2"/>
            </p:custDataLst>
          </p:nvPr>
        </p:nvSpPr>
        <p:spPr>
          <a:xfrm>
            <a:off x="3568700" y="3343396"/>
            <a:ext cx="5054600" cy="119761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方法原理</a:t>
            </a:r>
            <a:endParaRPr lang="zh-CN" altLang="en-US" sz="7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PA-矩形 9"/>
          <p:cNvSpPr/>
          <p:nvPr>
            <p:custDataLst>
              <p:tags r:id="rId3"/>
            </p:custDataLst>
          </p:nvPr>
        </p:nvSpPr>
        <p:spPr>
          <a:xfrm>
            <a:off x="3956457" y="4438680"/>
            <a:ext cx="4279087" cy="36703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Method Principle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PA-任意多边形 23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5529673" y="2223737"/>
            <a:ext cx="1132652" cy="1014904"/>
          </a:xfrm>
          <a:custGeom>
            <a:avLst/>
            <a:gdLst>
              <a:gd name="T0" fmla="*/ 13 w 152"/>
              <a:gd name="T1" fmla="*/ 48 h 137"/>
              <a:gd name="T2" fmla="*/ 8 w 152"/>
              <a:gd name="T3" fmla="*/ 62 h 137"/>
              <a:gd name="T4" fmla="*/ 25 w 152"/>
              <a:gd name="T5" fmla="*/ 60 h 137"/>
              <a:gd name="T6" fmla="*/ 30 w 152"/>
              <a:gd name="T7" fmla="*/ 54 h 137"/>
              <a:gd name="T8" fmla="*/ 23 w 152"/>
              <a:gd name="T9" fmla="*/ 78 h 137"/>
              <a:gd name="T10" fmla="*/ 7 w 152"/>
              <a:gd name="T11" fmla="*/ 72 h 137"/>
              <a:gd name="T12" fmla="*/ 3 w 152"/>
              <a:gd name="T13" fmla="*/ 134 h 137"/>
              <a:gd name="T14" fmla="*/ 21 w 152"/>
              <a:gd name="T15" fmla="*/ 133 h 137"/>
              <a:gd name="T16" fmla="*/ 20 w 152"/>
              <a:gd name="T17" fmla="*/ 126 h 137"/>
              <a:gd name="T18" fmla="*/ 1 w 152"/>
              <a:gd name="T19" fmla="*/ 122 h 137"/>
              <a:gd name="T20" fmla="*/ 20 w 152"/>
              <a:gd name="T21" fmla="*/ 122 h 137"/>
              <a:gd name="T22" fmla="*/ 27 w 152"/>
              <a:gd name="T23" fmla="*/ 75 h 137"/>
              <a:gd name="T24" fmla="*/ 8 w 152"/>
              <a:gd name="T25" fmla="*/ 62 h 137"/>
              <a:gd name="T26" fmla="*/ 7 w 152"/>
              <a:gd name="T27" fmla="*/ 72 h 137"/>
              <a:gd name="T28" fmla="*/ 8 w 152"/>
              <a:gd name="T29" fmla="*/ 62 h 137"/>
              <a:gd name="T30" fmla="*/ 29 w 152"/>
              <a:gd name="T31" fmla="*/ 64 h 137"/>
              <a:gd name="T32" fmla="*/ 27 w 152"/>
              <a:gd name="T33" fmla="*/ 75 h 137"/>
              <a:gd name="T34" fmla="*/ 127 w 152"/>
              <a:gd name="T35" fmla="*/ 44 h 137"/>
              <a:gd name="T36" fmla="*/ 127 w 152"/>
              <a:gd name="T37" fmla="*/ 36 h 137"/>
              <a:gd name="T38" fmla="*/ 110 w 152"/>
              <a:gd name="T39" fmla="*/ 37 h 137"/>
              <a:gd name="T40" fmla="*/ 109 w 152"/>
              <a:gd name="T41" fmla="*/ 52 h 137"/>
              <a:gd name="T42" fmla="*/ 127 w 152"/>
              <a:gd name="T43" fmla="*/ 44 h 137"/>
              <a:gd name="T44" fmla="*/ 67 w 152"/>
              <a:gd name="T45" fmla="*/ 101 h 137"/>
              <a:gd name="T46" fmla="*/ 99 w 152"/>
              <a:gd name="T47" fmla="*/ 19 h 137"/>
              <a:gd name="T48" fmla="*/ 67 w 152"/>
              <a:gd name="T49" fmla="*/ 105 h 137"/>
              <a:gd name="T50" fmla="*/ 99 w 152"/>
              <a:gd name="T51" fmla="*/ 114 h 137"/>
              <a:gd name="T52" fmla="*/ 67 w 152"/>
              <a:gd name="T53" fmla="*/ 105 h 137"/>
              <a:gd name="T54" fmla="*/ 70 w 152"/>
              <a:gd name="T55" fmla="*/ 0 h 137"/>
              <a:gd name="T56" fmla="*/ 67 w 152"/>
              <a:gd name="T57" fmla="*/ 14 h 137"/>
              <a:gd name="T58" fmla="*/ 99 w 152"/>
              <a:gd name="T59" fmla="*/ 4 h 137"/>
              <a:gd name="T60" fmla="*/ 67 w 152"/>
              <a:gd name="T61" fmla="*/ 126 h 137"/>
              <a:gd name="T62" fmla="*/ 70 w 152"/>
              <a:gd name="T63" fmla="*/ 136 h 137"/>
              <a:gd name="T64" fmla="*/ 99 w 152"/>
              <a:gd name="T65" fmla="*/ 132 h 137"/>
              <a:gd name="T66" fmla="*/ 67 w 152"/>
              <a:gd name="T67" fmla="*/ 126 h 137"/>
              <a:gd name="T68" fmla="*/ 41 w 152"/>
              <a:gd name="T69" fmla="*/ 17 h 137"/>
              <a:gd name="T70" fmla="*/ 38 w 152"/>
              <a:gd name="T71" fmla="*/ 132 h 137"/>
              <a:gd name="T72" fmla="*/ 55 w 152"/>
              <a:gd name="T73" fmla="*/ 136 h 137"/>
              <a:gd name="T74" fmla="*/ 58 w 152"/>
              <a:gd name="T75" fmla="*/ 21 h 137"/>
              <a:gd name="T76" fmla="*/ 53 w 152"/>
              <a:gd name="T77" fmla="*/ 123 h 137"/>
              <a:gd name="T78" fmla="*/ 41 w 152"/>
              <a:gd name="T79" fmla="*/ 121 h 137"/>
              <a:gd name="T80" fmla="*/ 53 w 152"/>
              <a:gd name="T81" fmla="*/ 119 h 137"/>
              <a:gd name="T82" fmla="*/ 53 w 152"/>
              <a:gd name="T83" fmla="*/ 123 h 137"/>
              <a:gd name="T84" fmla="*/ 45 w 152"/>
              <a:gd name="T85" fmla="*/ 33 h 137"/>
              <a:gd name="T86" fmla="*/ 45 w 152"/>
              <a:gd name="T87" fmla="*/ 25 h 137"/>
              <a:gd name="T88" fmla="*/ 55 w 152"/>
              <a:gd name="T89" fmla="*/ 29 h 137"/>
              <a:gd name="T90" fmla="*/ 129 w 152"/>
              <a:gd name="T91" fmla="*/ 46 h 137"/>
              <a:gd name="T92" fmla="*/ 112 w 152"/>
              <a:gd name="T93" fmla="*/ 52 h 137"/>
              <a:gd name="T94" fmla="*/ 131 w 152"/>
              <a:gd name="T95" fmla="*/ 133 h 137"/>
              <a:gd name="T96" fmla="*/ 148 w 152"/>
              <a:gd name="T97" fmla="*/ 133 h 137"/>
              <a:gd name="T98" fmla="*/ 129 w 152"/>
              <a:gd name="T99" fmla="*/ 46 h 137"/>
              <a:gd name="T100" fmla="*/ 115 w 152"/>
              <a:gd name="T101" fmla="*/ 56 h 137"/>
              <a:gd name="T102" fmla="*/ 131 w 152"/>
              <a:gd name="T103" fmla="*/ 69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52" h="137">
                <a:moveTo>
                  <a:pt x="27" y="50"/>
                </a:moveTo>
                <a:cubicBezTo>
                  <a:pt x="13" y="48"/>
                  <a:pt x="13" y="48"/>
                  <a:pt x="13" y="48"/>
                </a:cubicBezTo>
                <a:cubicBezTo>
                  <a:pt x="11" y="48"/>
                  <a:pt x="9" y="50"/>
                  <a:pt x="9" y="52"/>
                </a:cubicBezTo>
                <a:cubicBezTo>
                  <a:pt x="8" y="62"/>
                  <a:pt x="8" y="62"/>
                  <a:pt x="8" y="62"/>
                </a:cubicBezTo>
                <a:cubicBezTo>
                  <a:pt x="8" y="60"/>
                  <a:pt x="10" y="59"/>
                  <a:pt x="12" y="59"/>
                </a:cubicBezTo>
                <a:cubicBezTo>
                  <a:pt x="25" y="60"/>
                  <a:pt x="25" y="60"/>
                  <a:pt x="25" y="60"/>
                </a:cubicBezTo>
                <a:cubicBezTo>
                  <a:pt x="27" y="61"/>
                  <a:pt x="29" y="62"/>
                  <a:pt x="29" y="64"/>
                </a:cubicBezTo>
                <a:cubicBezTo>
                  <a:pt x="30" y="54"/>
                  <a:pt x="30" y="54"/>
                  <a:pt x="30" y="54"/>
                </a:cubicBezTo>
                <a:cubicBezTo>
                  <a:pt x="30" y="52"/>
                  <a:pt x="29" y="50"/>
                  <a:pt x="27" y="50"/>
                </a:cubicBezTo>
                <a:close/>
                <a:moveTo>
                  <a:pt x="23" y="78"/>
                </a:moveTo>
                <a:cubicBezTo>
                  <a:pt x="10" y="76"/>
                  <a:pt x="10" y="76"/>
                  <a:pt x="10" y="76"/>
                </a:cubicBezTo>
                <a:cubicBezTo>
                  <a:pt x="8" y="76"/>
                  <a:pt x="7" y="74"/>
                  <a:pt x="7" y="72"/>
                </a:cubicBezTo>
                <a:cubicBezTo>
                  <a:pt x="0" y="131"/>
                  <a:pt x="0" y="131"/>
                  <a:pt x="0" y="131"/>
                </a:cubicBezTo>
                <a:cubicBezTo>
                  <a:pt x="0" y="133"/>
                  <a:pt x="1" y="134"/>
                  <a:pt x="3" y="134"/>
                </a:cubicBezTo>
                <a:cubicBezTo>
                  <a:pt x="17" y="136"/>
                  <a:pt x="17" y="136"/>
                  <a:pt x="17" y="136"/>
                </a:cubicBezTo>
                <a:cubicBezTo>
                  <a:pt x="19" y="136"/>
                  <a:pt x="20" y="135"/>
                  <a:pt x="21" y="133"/>
                </a:cubicBezTo>
                <a:cubicBezTo>
                  <a:pt x="22" y="124"/>
                  <a:pt x="22" y="124"/>
                  <a:pt x="22" y="124"/>
                </a:cubicBezTo>
                <a:cubicBezTo>
                  <a:pt x="21" y="125"/>
                  <a:pt x="21" y="126"/>
                  <a:pt x="20" y="126"/>
                </a:cubicBezTo>
                <a:cubicBezTo>
                  <a:pt x="2" y="124"/>
                  <a:pt x="2" y="124"/>
                  <a:pt x="2" y="124"/>
                </a:cubicBezTo>
                <a:cubicBezTo>
                  <a:pt x="2" y="124"/>
                  <a:pt x="1" y="123"/>
                  <a:pt x="1" y="122"/>
                </a:cubicBezTo>
                <a:cubicBezTo>
                  <a:pt x="1" y="121"/>
                  <a:pt x="2" y="120"/>
                  <a:pt x="3" y="121"/>
                </a:cubicBezTo>
                <a:cubicBezTo>
                  <a:pt x="20" y="122"/>
                  <a:pt x="20" y="122"/>
                  <a:pt x="20" y="122"/>
                </a:cubicBezTo>
                <a:cubicBezTo>
                  <a:pt x="21" y="123"/>
                  <a:pt x="22" y="123"/>
                  <a:pt x="22" y="124"/>
                </a:cubicBezTo>
                <a:cubicBezTo>
                  <a:pt x="27" y="75"/>
                  <a:pt x="27" y="75"/>
                  <a:pt x="27" y="75"/>
                </a:cubicBezTo>
                <a:cubicBezTo>
                  <a:pt x="27" y="76"/>
                  <a:pt x="25" y="78"/>
                  <a:pt x="23" y="78"/>
                </a:cubicBezTo>
                <a:close/>
                <a:moveTo>
                  <a:pt x="8" y="62"/>
                </a:moveTo>
                <a:cubicBezTo>
                  <a:pt x="7" y="72"/>
                  <a:pt x="7" y="72"/>
                  <a:pt x="7" y="72"/>
                </a:cubicBezTo>
                <a:cubicBezTo>
                  <a:pt x="7" y="72"/>
                  <a:pt x="7" y="72"/>
                  <a:pt x="7" y="72"/>
                </a:cubicBezTo>
                <a:cubicBezTo>
                  <a:pt x="8" y="62"/>
                  <a:pt x="8" y="62"/>
                  <a:pt x="8" y="62"/>
                </a:cubicBezTo>
                <a:cubicBezTo>
                  <a:pt x="8" y="62"/>
                  <a:pt x="8" y="62"/>
                  <a:pt x="8" y="62"/>
                </a:cubicBezTo>
                <a:close/>
                <a:moveTo>
                  <a:pt x="27" y="75"/>
                </a:moveTo>
                <a:cubicBezTo>
                  <a:pt x="29" y="64"/>
                  <a:pt x="29" y="64"/>
                  <a:pt x="29" y="64"/>
                </a:cubicBezTo>
                <a:cubicBezTo>
                  <a:pt x="29" y="64"/>
                  <a:pt x="29" y="64"/>
                  <a:pt x="29" y="64"/>
                </a:cubicBezTo>
                <a:cubicBezTo>
                  <a:pt x="27" y="75"/>
                  <a:pt x="27" y="75"/>
                  <a:pt x="27" y="75"/>
                </a:cubicBezTo>
                <a:cubicBezTo>
                  <a:pt x="27" y="75"/>
                  <a:pt x="27" y="75"/>
                  <a:pt x="27" y="75"/>
                </a:cubicBezTo>
                <a:close/>
                <a:moveTo>
                  <a:pt x="127" y="44"/>
                </a:moveTo>
                <a:cubicBezTo>
                  <a:pt x="128" y="44"/>
                  <a:pt x="129" y="45"/>
                  <a:pt x="129" y="46"/>
                </a:cubicBezTo>
                <a:cubicBezTo>
                  <a:pt x="127" y="36"/>
                  <a:pt x="127" y="36"/>
                  <a:pt x="127" y="36"/>
                </a:cubicBezTo>
                <a:cubicBezTo>
                  <a:pt x="126" y="34"/>
                  <a:pt x="124" y="33"/>
                  <a:pt x="122" y="33"/>
                </a:cubicBezTo>
                <a:cubicBezTo>
                  <a:pt x="110" y="37"/>
                  <a:pt x="110" y="37"/>
                  <a:pt x="110" y="37"/>
                </a:cubicBezTo>
                <a:cubicBezTo>
                  <a:pt x="108" y="37"/>
                  <a:pt x="106" y="39"/>
                  <a:pt x="107" y="42"/>
                </a:cubicBezTo>
                <a:cubicBezTo>
                  <a:pt x="109" y="52"/>
                  <a:pt x="109" y="52"/>
                  <a:pt x="109" y="52"/>
                </a:cubicBezTo>
                <a:cubicBezTo>
                  <a:pt x="109" y="50"/>
                  <a:pt x="110" y="49"/>
                  <a:pt x="111" y="48"/>
                </a:cubicBezTo>
                <a:cubicBezTo>
                  <a:pt x="116" y="46"/>
                  <a:pt x="121" y="44"/>
                  <a:pt x="127" y="44"/>
                </a:cubicBezTo>
                <a:close/>
                <a:moveTo>
                  <a:pt x="67" y="19"/>
                </a:moveTo>
                <a:cubicBezTo>
                  <a:pt x="67" y="101"/>
                  <a:pt x="67" y="101"/>
                  <a:pt x="67" y="101"/>
                </a:cubicBezTo>
                <a:cubicBezTo>
                  <a:pt x="77" y="104"/>
                  <a:pt x="89" y="104"/>
                  <a:pt x="99" y="101"/>
                </a:cubicBezTo>
                <a:cubicBezTo>
                  <a:pt x="99" y="19"/>
                  <a:pt x="99" y="19"/>
                  <a:pt x="99" y="19"/>
                </a:cubicBezTo>
                <a:cubicBezTo>
                  <a:pt x="92" y="15"/>
                  <a:pt x="74" y="15"/>
                  <a:pt x="67" y="19"/>
                </a:cubicBezTo>
                <a:close/>
                <a:moveTo>
                  <a:pt x="67" y="105"/>
                </a:moveTo>
                <a:cubicBezTo>
                  <a:pt x="67" y="114"/>
                  <a:pt x="67" y="114"/>
                  <a:pt x="67" y="114"/>
                </a:cubicBezTo>
                <a:cubicBezTo>
                  <a:pt x="73" y="117"/>
                  <a:pt x="93" y="117"/>
                  <a:pt x="99" y="114"/>
                </a:cubicBezTo>
                <a:cubicBezTo>
                  <a:pt x="99" y="105"/>
                  <a:pt x="99" y="105"/>
                  <a:pt x="99" y="105"/>
                </a:cubicBezTo>
                <a:cubicBezTo>
                  <a:pt x="89" y="108"/>
                  <a:pt x="77" y="108"/>
                  <a:pt x="67" y="105"/>
                </a:cubicBezTo>
                <a:close/>
                <a:moveTo>
                  <a:pt x="96" y="0"/>
                </a:moveTo>
                <a:cubicBezTo>
                  <a:pt x="70" y="0"/>
                  <a:pt x="70" y="0"/>
                  <a:pt x="70" y="0"/>
                </a:cubicBezTo>
                <a:cubicBezTo>
                  <a:pt x="68" y="0"/>
                  <a:pt x="67" y="2"/>
                  <a:pt x="67" y="4"/>
                </a:cubicBezTo>
                <a:cubicBezTo>
                  <a:pt x="67" y="14"/>
                  <a:pt x="67" y="14"/>
                  <a:pt x="67" y="14"/>
                </a:cubicBezTo>
                <a:cubicBezTo>
                  <a:pt x="73" y="11"/>
                  <a:pt x="93" y="11"/>
                  <a:pt x="99" y="14"/>
                </a:cubicBezTo>
                <a:cubicBezTo>
                  <a:pt x="99" y="4"/>
                  <a:pt x="99" y="4"/>
                  <a:pt x="99" y="4"/>
                </a:cubicBezTo>
                <a:cubicBezTo>
                  <a:pt x="99" y="2"/>
                  <a:pt x="98" y="0"/>
                  <a:pt x="96" y="0"/>
                </a:cubicBezTo>
                <a:close/>
                <a:moveTo>
                  <a:pt x="67" y="126"/>
                </a:moveTo>
                <a:cubicBezTo>
                  <a:pt x="67" y="132"/>
                  <a:pt x="67" y="132"/>
                  <a:pt x="67" y="132"/>
                </a:cubicBezTo>
                <a:cubicBezTo>
                  <a:pt x="67" y="134"/>
                  <a:pt x="68" y="136"/>
                  <a:pt x="70" y="136"/>
                </a:cubicBezTo>
                <a:cubicBezTo>
                  <a:pt x="96" y="136"/>
                  <a:pt x="96" y="136"/>
                  <a:pt x="96" y="136"/>
                </a:cubicBezTo>
                <a:cubicBezTo>
                  <a:pt x="98" y="136"/>
                  <a:pt x="99" y="134"/>
                  <a:pt x="99" y="132"/>
                </a:cubicBezTo>
                <a:cubicBezTo>
                  <a:pt x="99" y="126"/>
                  <a:pt x="99" y="126"/>
                  <a:pt x="99" y="126"/>
                </a:cubicBezTo>
                <a:cubicBezTo>
                  <a:pt x="96" y="128"/>
                  <a:pt x="70" y="128"/>
                  <a:pt x="67" y="126"/>
                </a:cubicBezTo>
                <a:close/>
                <a:moveTo>
                  <a:pt x="55" y="17"/>
                </a:moveTo>
                <a:cubicBezTo>
                  <a:pt x="41" y="17"/>
                  <a:pt x="41" y="17"/>
                  <a:pt x="41" y="17"/>
                </a:cubicBezTo>
                <a:cubicBezTo>
                  <a:pt x="39" y="17"/>
                  <a:pt x="38" y="18"/>
                  <a:pt x="38" y="21"/>
                </a:cubicBezTo>
                <a:cubicBezTo>
                  <a:pt x="38" y="132"/>
                  <a:pt x="38" y="132"/>
                  <a:pt x="38" y="132"/>
                </a:cubicBezTo>
                <a:cubicBezTo>
                  <a:pt x="38" y="134"/>
                  <a:pt x="39" y="136"/>
                  <a:pt x="41" y="136"/>
                </a:cubicBezTo>
                <a:cubicBezTo>
                  <a:pt x="55" y="136"/>
                  <a:pt x="55" y="136"/>
                  <a:pt x="55" y="136"/>
                </a:cubicBezTo>
                <a:cubicBezTo>
                  <a:pt x="57" y="136"/>
                  <a:pt x="58" y="134"/>
                  <a:pt x="58" y="132"/>
                </a:cubicBezTo>
                <a:cubicBezTo>
                  <a:pt x="58" y="21"/>
                  <a:pt x="58" y="21"/>
                  <a:pt x="58" y="21"/>
                </a:cubicBezTo>
                <a:cubicBezTo>
                  <a:pt x="58" y="18"/>
                  <a:pt x="57" y="17"/>
                  <a:pt x="55" y="17"/>
                </a:cubicBezTo>
                <a:close/>
                <a:moveTo>
                  <a:pt x="53" y="123"/>
                </a:moveTo>
                <a:cubicBezTo>
                  <a:pt x="43" y="123"/>
                  <a:pt x="43" y="123"/>
                  <a:pt x="43" y="123"/>
                </a:cubicBezTo>
                <a:cubicBezTo>
                  <a:pt x="42" y="123"/>
                  <a:pt x="41" y="123"/>
                  <a:pt x="41" y="121"/>
                </a:cubicBezTo>
                <a:cubicBezTo>
                  <a:pt x="41" y="120"/>
                  <a:pt x="42" y="119"/>
                  <a:pt x="43" y="119"/>
                </a:cubicBezTo>
                <a:cubicBezTo>
                  <a:pt x="53" y="119"/>
                  <a:pt x="53" y="119"/>
                  <a:pt x="53" y="119"/>
                </a:cubicBezTo>
                <a:cubicBezTo>
                  <a:pt x="54" y="119"/>
                  <a:pt x="55" y="120"/>
                  <a:pt x="55" y="121"/>
                </a:cubicBezTo>
                <a:cubicBezTo>
                  <a:pt x="55" y="123"/>
                  <a:pt x="54" y="123"/>
                  <a:pt x="53" y="123"/>
                </a:cubicBezTo>
                <a:close/>
                <a:moveTo>
                  <a:pt x="51" y="33"/>
                </a:moveTo>
                <a:cubicBezTo>
                  <a:pt x="45" y="33"/>
                  <a:pt x="45" y="33"/>
                  <a:pt x="45" y="33"/>
                </a:cubicBezTo>
                <a:cubicBezTo>
                  <a:pt x="43" y="33"/>
                  <a:pt x="41" y="31"/>
                  <a:pt x="41" y="29"/>
                </a:cubicBezTo>
                <a:cubicBezTo>
                  <a:pt x="41" y="27"/>
                  <a:pt x="43" y="25"/>
                  <a:pt x="45" y="25"/>
                </a:cubicBezTo>
                <a:cubicBezTo>
                  <a:pt x="51" y="25"/>
                  <a:pt x="51" y="25"/>
                  <a:pt x="51" y="25"/>
                </a:cubicBezTo>
                <a:cubicBezTo>
                  <a:pt x="53" y="25"/>
                  <a:pt x="55" y="27"/>
                  <a:pt x="55" y="29"/>
                </a:cubicBezTo>
                <a:cubicBezTo>
                  <a:pt x="55" y="31"/>
                  <a:pt x="53" y="33"/>
                  <a:pt x="51" y="33"/>
                </a:cubicBezTo>
                <a:close/>
                <a:moveTo>
                  <a:pt x="129" y="46"/>
                </a:moveTo>
                <a:cubicBezTo>
                  <a:pt x="130" y="47"/>
                  <a:pt x="129" y="48"/>
                  <a:pt x="128" y="48"/>
                </a:cubicBezTo>
                <a:cubicBezTo>
                  <a:pt x="122" y="48"/>
                  <a:pt x="117" y="50"/>
                  <a:pt x="112" y="52"/>
                </a:cubicBezTo>
                <a:cubicBezTo>
                  <a:pt x="111" y="53"/>
                  <a:pt x="110" y="53"/>
                  <a:pt x="109" y="52"/>
                </a:cubicBezTo>
                <a:cubicBezTo>
                  <a:pt x="131" y="133"/>
                  <a:pt x="131" y="133"/>
                  <a:pt x="131" y="133"/>
                </a:cubicBezTo>
                <a:cubicBezTo>
                  <a:pt x="132" y="135"/>
                  <a:pt x="134" y="137"/>
                  <a:pt x="136" y="136"/>
                </a:cubicBezTo>
                <a:cubicBezTo>
                  <a:pt x="148" y="133"/>
                  <a:pt x="148" y="133"/>
                  <a:pt x="148" y="133"/>
                </a:cubicBezTo>
                <a:cubicBezTo>
                  <a:pt x="150" y="132"/>
                  <a:pt x="152" y="130"/>
                  <a:pt x="151" y="128"/>
                </a:cubicBezTo>
                <a:lnTo>
                  <a:pt x="129" y="46"/>
                </a:lnTo>
                <a:close/>
                <a:moveTo>
                  <a:pt x="119" y="72"/>
                </a:moveTo>
                <a:cubicBezTo>
                  <a:pt x="115" y="56"/>
                  <a:pt x="115" y="56"/>
                  <a:pt x="115" y="56"/>
                </a:cubicBezTo>
                <a:cubicBezTo>
                  <a:pt x="127" y="53"/>
                  <a:pt x="127" y="53"/>
                  <a:pt x="127" y="53"/>
                </a:cubicBezTo>
                <a:cubicBezTo>
                  <a:pt x="131" y="69"/>
                  <a:pt x="131" y="69"/>
                  <a:pt x="131" y="69"/>
                </a:cubicBezTo>
                <a:lnTo>
                  <a:pt x="119" y="72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1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研究背景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方法原理</a:t>
            </a:r>
            <a:endParaRPr sz="2400" b="1" i="0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10912" y="896112"/>
            <a:ext cx="1399032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实验与分析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543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总结思考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PRO 系统框架：两层设计</a:t>
            </a:r>
            <a:endParaRPr sz="2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sz="11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85850" y="4972685"/>
            <a:ext cx="10332720" cy="17665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indent="0" algn="ctr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上层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策略更新闭环（数据采集→奖励模型更新→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MPC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预算控制）</a:t>
            </a:r>
            <a:endParaRPr lang="zh-CN" altLang="en-US" sz="24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下层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: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实体动作执行（按账号选动作→作用于环境→行为数据回流）</a:t>
            </a:r>
            <a:endParaRPr lang="zh-CN" altLang="en-US" sz="24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整体 = 强化学习选动作 + 模型预测控制守预算</a:t>
            </a:r>
            <a:endParaRPr lang="zh-CN" altLang="en-US" sz="24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869440"/>
            <a:ext cx="10093325" cy="31184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研究背景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方法原理</a:t>
            </a:r>
            <a:endParaRPr sz="2400" b="1" i="0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10912" y="896112"/>
            <a:ext cx="1399032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实验与分析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543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总结思考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组件① 问题形式化：在预算内尽量少滥用</a:t>
            </a:r>
            <a:endParaRPr sz="2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sz="11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9275" y="2593975"/>
            <a:ext cx="5435600" cy="2346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indent="0" algn="l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目标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 </a:t>
            </a:r>
            <a:r>
              <a: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最小化全平台总滥用</a:t>
            </a:r>
            <a:r>
              <a:rPr 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约束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 </a:t>
            </a:r>
            <a:r>
              <a: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每种成本指标不超过预算</a:t>
            </a:r>
            <a:r>
              <a:rPr 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奖励：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把滥用和成本按权重加权求和、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取负号，变成追求分数越高越好。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3880" y="4964430"/>
            <a:ext cx="4700905" cy="17665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indent="0" algn="l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每个账号的状态 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x（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也就是它的特征）包括年龄、请求频率、打分、历史动作、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IP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统计等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4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 descr="e167a570-dec4-488f-bdee-082ae246bc1e"/>
          <p:cNvPicPr>
            <a:picLocks noChangeAspect="1"/>
          </p:cNvPicPr>
          <p:nvPr/>
        </p:nvPicPr>
        <p:blipFill>
          <a:blip r:embed="rId2"/>
          <a:srcRect l="16542" t="7056"/>
          <a:stretch>
            <a:fillRect/>
          </a:stretch>
        </p:blipFill>
        <p:spPr>
          <a:xfrm>
            <a:off x="7468235" y="2131060"/>
            <a:ext cx="4603750" cy="1062355"/>
          </a:xfrm>
          <a:prstGeom prst="rect">
            <a:avLst/>
          </a:prstGeom>
        </p:spPr>
      </p:pic>
      <p:pic>
        <p:nvPicPr>
          <p:cNvPr id="10" name="图片 9" descr="6a30fdc4-4e9b-4ff8-89bc-8d3d3eac88a6"/>
          <p:cNvPicPr>
            <a:picLocks noChangeAspect="1"/>
          </p:cNvPicPr>
          <p:nvPr/>
        </p:nvPicPr>
        <p:blipFill>
          <a:blip r:embed="rId3"/>
          <a:srcRect l="7745" t="17985" r="-3005" b="-5462"/>
          <a:stretch>
            <a:fillRect/>
          </a:stretch>
        </p:blipFill>
        <p:spPr>
          <a:xfrm>
            <a:off x="7372985" y="3628390"/>
            <a:ext cx="4514215" cy="872490"/>
          </a:xfrm>
          <a:prstGeom prst="rect">
            <a:avLst/>
          </a:prstGeom>
        </p:spPr>
      </p:pic>
      <p:pic>
        <p:nvPicPr>
          <p:cNvPr id="11" name="图片 10" descr="256cc828-8ddc-49d6-a18c-665e621a36c8"/>
          <p:cNvPicPr>
            <a:picLocks noChangeAspect="1"/>
          </p:cNvPicPr>
          <p:nvPr/>
        </p:nvPicPr>
        <p:blipFill>
          <a:blip r:embed="rId4"/>
          <a:srcRect r="6121" b="-8702"/>
          <a:stretch>
            <a:fillRect/>
          </a:stretch>
        </p:blipFill>
        <p:spPr>
          <a:xfrm>
            <a:off x="7372985" y="4929505"/>
            <a:ext cx="4864100" cy="101790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94030" y="1936750"/>
            <a:ext cx="5631815" cy="657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把反滥用写成一道带约束的优化题。</a:t>
            </a:r>
            <a:endParaRPr lang="zh-CN" altLang="en-US"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854700" y="23723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目标函数：</a:t>
            </a:r>
            <a:endParaRPr lang="zh-CN" altLang="en-US"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854700" y="37153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约束条件：</a:t>
            </a:r>
            <a:endParaRPr lang="zh-CN" altLang="en-US"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920740" y="52044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奖励函数：</a:t>
            </a:r>
            <a:endParaRPr lang="zh-CN" altLang="en-US"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920740" y="3134995"/>
            <a:ext cx="6151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Abuse_j(e|a)：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在方案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下，账号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造成的第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种滥用量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84875" y="4530725"/>
            <a:ext cx="5686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Cost_j(e|a)：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在方案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下，账号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造成的第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种成本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052820" y="56965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r(x,a)：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这个动作方案得到的总奖励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052820" y="6062345"/>
            <a:ext cx="54197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m_j(e|x_e,a_e)：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已知账号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特征为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x_e、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对它做动作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a_e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时，指标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的预测值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研究背景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方法原理</a:t>
            </a:r>
            <a:endParaRPr sz="2400" b="1" i="0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10912" y="896112"/>
            <a:ext cx="1399032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实验与分析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543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总结思考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组件② 实体级动作选择：挑最划算的动作</a:t>
            </a:r>
            <a:endParaRPr sz="2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sz="11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6095" y="2063750"/>
            <a:ext cx="11064240" cy="35801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zh-CN" alt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系统为每个账号挑动作，分三步：</a:t>
            </a:r>
            <a:endParaRPr lang="zh-CN" altLang="en-US"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zh-CN" altLang="en-US"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① 看状态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读取账号特征 x（年龄、频率、打分、历史、IP……）。</a:t>
            </a:r>
            <a:endParaRPr sz="2400"/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② 预测后果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对每个候选动作，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分别预测会带来多少危害、会误伤多少正常用户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400"/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③ 选最高奖励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奖励 = 各指标加权和，选最大者执行；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用汤普森采样（带随机地猜奖励）平衡探索与利用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endParaRPr sz="2400"/>
          </a:p>
        </p:txBody>
      </p:sp>
      <p:pic>
        <p:nvPicPr>
          <p:cNvPr id="9" name="图片 8" descr="069f98e3-67fd-4bca-95ff-c92e4ac23c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5365750"/>
            <a:ext cx="5894705" cy="98552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113905" y="5584190"/>
            <a:ext cx="279019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（汤普森采样公式）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76375" y="6370955"/>
            <a:ext cx="615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π(R|x,z)：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在状态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下做动作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会得多少奖励的概率估计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研究背景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方法原理</a:t>
            </a:r>
            <a:endParaRPr sz="2400" b="1" i="0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10912" y="896112"/>
            <a:ext cx="1399032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实验与分析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543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总结思考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组件③ 奖励模型：预测后果 + 把握度</a:t>
            </a:r>
            <a:endParaRPr sz="2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sz="11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4150" y="2008505"/>
            <a:ext cx="7816215" cy="473075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用什么预测每个动作的后果？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高斯过程回归。</a:t>
            </a:r>
            <a:endParaRPr lang="zh-CN" altLang="en-US"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300"/>
              </a:spcAft>
            </a:pPr>
            <a:endParaRPr lang="zh-CN" altLang="en-US"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Aft>
                <a:spcPts val="0"/>
              </a:spcAft>
            </a:pPr>
            <a:r>
              <a:rPr lang="en-US" altLang="zh-CN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charset="-122"/>
              </a:rPr>
              <a:t>●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高斯过程：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既给出预测值，又给出表示把握大小的方差。</a:t>
            </a:r>
            <a:endParaRPr lang="zh-CN" altLang="en-US"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Aft>
                <a:spcPts val="0"/>
              </a:spcAft>
            </a:pPr>
            <a:r>
              <a:rPr lang="en-US" altLang="zh-CN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核函数：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只有采取同一种动作的样本才互相比较。</a:t>
            </a:r>
            <a:endParaRPr lang="zh-CN" altLang="en-US"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Aft>
                <a:spcPts val="0"/>
              </a:spcAft>
            </a:pPr>
            <a:endParaRPr lang="zh-CN" altLang="en-US"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Aft>
                <a:spcPts val="0"/>
              </a:spcAft>
            </a:pPr>
            <a:r>
              <a:rPr lang="en-US" altLang="zh-CN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岭回归：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算出每一种指标与动作组合模型的参数 </a:t>
            </a:r>
            <a:r>
              <a:rPr lang="en-US" altLang="zh-CN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θ 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和 </a:t>
            </a:r>
            <a:r>
              <a:rPr lang="en-US" altLang="zh-CN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Σ</a:t>
            </a:r>
            <a:r>
              <a:rPr lang="zh-CN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Aft>
                <a:spcPts val="0"/>
              </a:spcAft>
            </a:pPr>
            <a:endParaRPr lang="zh-CN" altLang="en-US"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 descr="cf9319c9-f8dc-461b-b9db-2582138ded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415" y="3978910"/>
            <a:ext cx="6838950" cy="733425"/>
          </a:xfrm>
          <a:prstGeom prst="rect">
            <a:avLst/>
          </a:prstGeom>
        </p:spPr>
      </p:pic>
      <p:pic>
        <p:nvPicPr>
          <p:cNvPr id="10" name="图片 9" descr="ad82780d-99e9-4354-a66b-a522c87765b3"/>
          <p:cNvPicPr>
            <a:picLocks noChangeAspect="1"/>
          </p:cNvPicPr>
          <p:nvPr/>
        </p:nvPicPr>
        <p:blipFill>
          <a:blip r:embed="rId3"/>
          <a:srcRect t="21853"/>
          <a:stretch>
            <a:fillRect/>
          </a:stretch>
        </p:blipFill>
        <p:spPr>
          <a:xfrm>
            <a:off x="847090" y="5227320"/>
            <a:ext cx="6838950" cy="97155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84150" y="6198870"/>
            <a:ext cx="917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每天重训一次，以应对对抗环境下的「概念漂移」。</a:t>
            </a:r>
            <a:endParaRPr lang="zh-CN" altLang="en-US"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080375" y="2174240"/>
            <a:ext cx="3935095" cy="971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K_j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，）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两个「状态+动作」样本的相似度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080375" y="315404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φ_j(x)</a:t>
            </a:r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ᵀ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φ_j(x')：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两个特征向量的内积（越大表示越像）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080375" y="422846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Σ_jk：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模型的不确定度矩阵（后验协方差）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080375" y="52412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θ_jk：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学出来的模型权重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128000" y="59772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λ_jk：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防止过拟合的正则化系数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研究背景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方法原理</a:t>
            </a:r>
            <a:endParaRPr sz="2400" b="1" i="0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10912" y="896112"/>
            <a:ext cx="1399032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实验与分析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543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总结思考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组件④ 全局预算控制：自动调权重守预算</a:t>
            </a:r>
            <a:endParaRPr sz="2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sz="11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1819910"/>
            <a:ext cx="11064240" cy="2921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indent="0" fontAlgn="auto">
              <a:lnSpc>
                <a:spcPts val="4500"/>
              </a:lnSpc>
              <a:spcAft>
                <a:spcPts val="0"/>
              </a:spcAft>
            </a:pPr>
            <a:r>
              <a:rPr lang="zh-CN" alt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第二层像主管，自动守住预算。</a:t>
            </a:r>
            <a:endParaRPr lang="zh-CN" altLang="en-US"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业务约束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如误伤正常用户数不能超过 </a:t>
            </a:r>
            <a:r>
              <a:rPr lang="en-US" altLang="zh-CN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X 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个、短信支出不能超过 </a:t>
            </a:r>
            <a:r>
              <a:rPr lang="en-US" altLang="zh-CN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Y 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元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做法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每天用前一天的数据做小范围搜索，自动微调各指标权重 w（模型预测控制 MPC）。</a:t>
            </a:r>
            <a:endParaRPr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好处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改权重无需重新训练模型，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能快速应对误伤过多或预算没用足的情况。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 descr="592dd3ed-fc0e-4618-a3ba-270802bfca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35" y="5060950"/>
            <a:ext cx="6611620" cy="146558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681595" y="50609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E[·]：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期望值（平均会是多少）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81595" y="5508625"/>
            <a:ext cx="4511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w_j · m_j(e|a)：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个指标乘上它的权重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681595" y="595630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 = N_A+1, …, N：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只对成本指标加约束（滥用指标是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j=1…N_A，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不设预算）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6200000">
            <a:off x="2669251" y="-2664749"/>
            <a:ext cx="6853497" cy="1219200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5" name="PA-矩形 14"/>
          <p:cNvSpPr/>
          <p:nvPr>
            <p:custDataLst>
              <p:tags r:id="rId1"/>
            </p:custDataLst>
          </p:nvPr>
        </p:nvSpPr>
        <p:spPr>
          <a:xfrm>
            <a:off x="0" y="1660961"/>
            <a:ext cx="12192000" cy="3785438"/>
          </a:xfrm>
          <a:prstGeom prst="rect">
            <a:avLst/>
          </a:prstGeom>
          <a:pattFill prst="dkDnDiag">
            <a:fgClr>
              <a:srgbClr val="F0F0F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PA-文本框 8"/>
          <p:cNvSpPr txBox="1"/>
          <p:nvPr>
            <p:custDataLst>
              <p:tags r:id="rId2"/>
            </p:custDataLst>
          </p:nvPr>
        </p:nvSpPr>
        <p:spPr>
          <a:xfrm>
            <a:off x="3568700" y="3343396"/>
            <a:ext cx="5054600" cy="120032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实验与分析</a:t>
            </a:r>
            <a:endParaRPr lang="zh-CN" altLang="en-US" sz="7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PA-矩形 9"/>
          <p:cNvSpPr/>
          <p:nvPr>
            <p:custDataLst>
              <p:tags r:id="rId3"/>
            </p:custDataLst>
          </p:nvPr>
        </p:nvSpPr>
        <p:spPr>
          <a:xfrm>
            <a:off x="3956457" y="4438680"/>
            <a:ext cx="4279087" cy="369328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Experiment and Analysis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PA-任意多边形 23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5529673" y="2223737"/>
            <a:ext cx="1132652" cy="1014904"/>
          </a:xfrm>
          <a:custGeom>
            <a:avLst/>
            <a:gdLst>
              <a:gd name="T0" fmla="*/ 13 w 152"/>
              <a:gd name="T1" fmla="*/ 48 h 137"/>
              <a:gd name="T2" fmla="*/ 8 w 152"/>
              <a:gd name="T3" fmla="*/ 62 h 137"/>
              <a:gd name="T4" fmla="*/ 25 w 152"/>
              <a:gd name="T5" fmla="*/ 60 h 137"/>
              <a:gd name="T6" fmla="*/ 30 w 152"/>
              <a:gd name="T7" fmla="*/ 54 h 137"/>
              <a:gd name="T8" fmla="*/ 23 w 152"/>
              <a:gd name="T9" fmla="*/ 78 h 137"/>
              <a:gd name="T10" fmla="*/ 7 w 152"/>
              <a:gd name="T11" fmla="*/ 72 h 137"/>
              <a:gd name="T12" fmla="*/ 3 w 152"/>
              <a:gd name="T13" fmla="*/ 134 h 137"/>
              <a:gd name="T14" fmla="*/ 21 w 152"/>
              <a:gd name="T15" fmla="*/ 133 h 137"/>
              <a:gd name="T16" fmla="*/ 20 w 152"/>
              <a:gd name="T17" fmla="*/ 126 h 137"/>
              <a:gd name="T18" fmla="*/ 1 w 152"/>
              <a:gd name="T19" fmla="*/ 122 h 137"/>
              <a:gd name="T20" fmla="*/ 20 w 152"/>
              <a:gd name="T21" fmla="*/ 122 h 137"/>
              <a:gd name="T22" fmla="*/ 27 w 152"/>
              <a:gd name="T23" fmla="*/ 75 h 137"/>
              <a:gd name="T24" fmla="*/ 8 w 152"/>
              <a:gd name="T25" fmla="*/ 62 h 137"/>
              <a:gd name="T26" fmla="*/ 7 w 152"/>
              <a:gd name="T27" fmla="*/ 72 h 137"/>
              <a:gd name="T28" fmla="*/ 8 w 152"/>
              <a:gd name="T29" fmla="*/ 62 h 137"/>
              <a:gd name="T30" fmla="*/ 29 w 152"/>
              <a:gd name="T31" fmla="*/ 64 h 137"/>
              <a:gd name="T32" fmla="*/ 27 w 152"/>
              <a:gd name="T33" fmla="*/ 75 h 137"/>
              <a:gd name="T34" fmla="*/ 127 w 152"/>
              <a:gd name="T35" fmla="*/ 44 h 137"/>
              <a:gd name="T36" fmla="*/ 127 w 152"/>
              <a:gd name="T37" fmla="*/ 36 h 137"/>
              <a:gd name="T38" fmla="*/ 110 w 152"/>
              <a:gd name="T39" fmla="*/ 37 h 137"/>
              <a:gd name="T40" fmla="*/ 109 w 152"/>
              <a:gd name="T41" fmla="*/ 52 h 137"/>
              <a:gd name="T42" fmla="*/ 127 w 152"/>
              <a:gd name="T43" fmla="*/ 44 h 137"/>
              <a:gd name="T44" fmla="*/ 67 w 152"/>
              <a:gd name="T45" fmla="*/ 101 h 137"/>
              <a:gd name="T46" fmla="*/ 99 w 152"/>
              <a:gd name="T47" fmla="*/ 19 h 137"/>
              <a:gd name="T48" fmla="*/ 67 w 152"/>
              <a:gd name="T49" fmla="*/ 105 h 137"/>
              <a:gd name="T50" fmla="*/ 99 w 152"/>
              <a:gd name="T51" fmla="*/ 114 h 137"/>
              <a:gd name="T52" fmla="*/ 67 w 152"/>
              <a:gd name="T53" fmla="*/ 105 h 137"/>
              <a:gd name="T54" fmla="*/ 70 w 152"/>
              <a:gd name="T55" fmla="*/ 0 h 137"/>
              <a:gd name="T56" fmla="*/ 67 w 152"/>
              <a:gd name="T57" fmla="*/ 14 h 137"/>
              <a:gd name="T58" fmla="*/ 99 w 152"/>
              <a:gd name="T59" fmla="*/ 4 h 137"/>
              <a:gd name="T60" fmla="*/ 67 w 152"/>
              <a:gd name="T61" fmla="*/ 126 h 137"/>
              <a:gd name="T62" fmla="*/ 70 w 152"/>
              <a:gd name="T63" fmla="*/ 136 h 137"/>
              <a:gd name="T64" fmla="*/ 99 w 152"/>
              <a:gd name="T65" fmla="*/ 132 h 137"/>
              <a:gd name="T66" fmla="*/ 67 w 152"/>
              <a:gd name="T67" fmla="*/ 126 h 137"/>
              <a:gd name="T68" fmla="*/ 41 w 152"/>
              <a:gd name="T69" fmla="*/ 17 h 137"/>
              <a:gd name="T70" fmla="*/ 38 w 152"/>
              <a:gd name="T71" fmla="*/ 132 h 137"/>
              <a:gd name="T72" fmla="*/ 55 w 152"/>
              <a:gd name="T73" fmla="*/ 136 h 137"/>
              <a:gd name="T74" fmla="*/ 58 w 152"/>
              <a:gd name="T75" fmla="*/ 21 h 137"/>
              <a:gd name="T76" fmla="*/ 53 w 152"/>
              <a:gd name="T77" fmla="*/ 123 h 137"/>
              <a:gd name="T78" fmla="*/ 41 w 152"/>
              <a:gd name="T79" fmla="*/ 121 h 137"/>
              <a:gd name="T80" fmla="*/ 53 w 152"/>
              <a:gd name="T81" fmla="*/ 119 h 137"/>
              <a:gd name="T82" fmla="*/ 53 w 152"/>
              <a:gd name="T83" fmla="*/ 123 h 137"/>
              <a:gd name="T84" fmla="*/ 45 w 152"/>
              <a:gd name="T85" fmla="*/ 33 h 137"/>
              <a:gd name="T86" fmla="*/ 45 w 152"/>
              <a:gd name="T87" fmla="*/ 25 h 137"/>
              <a:gd name="T88" fmla="*/ 55 w 152"/>
              <a:gd name="T89" fmla="*/ 29 h 137"/>
              <a:gd name="T90" fmla="*/ 129 w 152"/>
              <a:gd name="T91" fmla="*/ 46 h 137"/>
              <a:gd name="T92" fmla="*/ 112 w 152"/>
              <a:gd name="T93" fmla="*/ 52 h 137"/>
              <a:gd name="T94" fmla="*/ 131 w 152"/>
              <a:gd name="T95" fmla="*/ 133 h 137"/>
              <a:gd name="T96" fmla="*/ 148 w 152"/>
              <a:gd name="T97" fmla="*/ 133 h 137"/>
              <a:gd name="T98" fmla="*/ 129 w 152"/>
              <a:gd name="T99" fmla="*/ 46 h 137"/>
              <a:gd name="T100" fmla="*/ 115 w 152"/>
              <a:gd name="T101" fmla="*/ 56 h 137"/>
              <a:gd name="T102" fmla="*/ 131 w 152"/>
              <a:gd name="T103" fmla="*/ 69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52" h="137">
                <a:moveTo>
                  <a:pt x="27" y="50"/>
                </a:moveTo>
                <a:cubicBezTo>
                  <a:pt x="13" y="48"/>
                  <a:pt x="13" y="48"/>
                  <a:pt x="13" y="48"/>
                </a:cubicBezTo>
                <a:cubicBezTo>
                  <a:pt x="11" y="48"/>
                  <a:pt x="9" y="50"/>
                  <a:pt x="9" y="52"/>
                </a:cubicBezTo>
                <a:cubicBezTo>
                  <a:pt x="8" y="62"/>
                  <a:pt x="8" y="62"/>
                  <a:pt x="8" y="62"/>
                </a:cubicBezTo>
                <a:cubicBezTo>
                  <a:pt x="8" y="60"/>
                  <a:pt x="10" y="59"/>
                  <a:pt x="12" y="59"/>
                </a:cubicBezTo>
                <a:cubicBezTo>
                  <a:pt x="25" y="60"/>
                  <a:pt x="25" y="60"/>
                  <a:pt x="25" y="60"/>
                </a:cubicBezTo>
                <a:cubicBezTo>
                  <a:pt x="27" y="61"/>
                  <a:pt x="29" y="62"/>
                  <a:pt x="29" y="64"/>
                </a:cubicBezTo>
                <a:cubicBezTo>
                  <a:pt x="30" y="54"/>
                  <a:pt x="30" y="54"/>
                  <a:pt x="30" y="54"/>
                </a:cubicBezTo>
                <a:cubicBezTo>
                  <a:pt x="30" y="52"/>
                  <a:pt x="29" y="50"/>
                  <a:pt x="27" y="50"/>
                </a:cubicBezTo>
                <a:close/>
                <a:moveTo>
                  <a:pt x="23" y="78"/>
                </a:moveTo>
                <a:cubicBezTo>
                  <a:pt x="10" y="76"/>
                  <a:pt x="10" y="76"/>
                  <a:pt x="10" y="76"/>
                </a:cubicBezTo>
                <a:cubicBezTo>
                  <a:pt x="8" y="76"/>
                  <a:pt x="7" y="74"/>
                  <a:pt x="7" y="72"/>
                </a:cubicBezTo>
                <a:cubicBezTo>
                  <a:pt x="0" y="131"/>
                  <a:pt x="0" y="131"/>
                  <a:pt x="0" y="131"/>
                </a:cubicBezTo>
                <a:cubicBezTo>
                  <a:pt x="0" y="133"/>
                  <a:pt x="1" y="134"/>
                  <a:pt x="3" y="134"/>
                </a:cubicBezTo>
                <a:cubicBezTo>
                  <a:pt x="17" y="136"/>
                  <a:pt x="17" y="136"/>
                  <a:pt x="17" y="136"/>
                </a:cubicBezTo>
                <a:cubicBezTo>
                  <a:pt x="19" y="136"/>
                  <a:pt x="20" y="135"/>
                  <a:pt x="21" y="133"/>
                </a:cubicBezTo>
                <a:cubicBezTo>
                  <a:pt x="22" y="124"/>
                  <a:pt x="22" y="124"/>
                  <a:pt x="22" y="124"/>
                </a:cubicBezTo>
                <a:cubicBezTo>
                  <a:pt x="21" y="125"/>
                  <a:pt x="21" y="126"/>
                  <a:pt x="20" y="126"/>
                </a:cubicBezTo>
                <a:cubicBezTo>
                  <a:pt x="2" y="124"/>
                  <a:pt x="2" y="124"/>
                  <a:pt x="2" y="124"/>
                </a:cubicBezTo>
                <a:cubicBezTo>
                  <a:pt x="2" y="124"/>
                  <a:pt x="1" y="123"/>
                  <a:pt x="1" y="122"/>
                </a:cubicBezTo>
                <a:cubicBezTo>
                  <a:pt x="1" y="121"/>
                  <a:pt x="2" y="120"/>
                  <a:pt x="3" y="121"/>
                </a:cubicBezTo>
                <a:cubicBezTo>
                  <a:pt x="20" y="122"/>
                  <a:pt x="20" y="122"/>
                  <a:pt x="20" y="122"/>
                </a:cubicBezTo>
                <a:cubicBezTo>
                  <a:pt x="21" y="123"/>
                  <a:pt x="22" y="123"/>
                  <a:pt x="22" y="124"/>
                </a:cubicBezTo>
                <a:cubicBezTo>
                  <a:pt x="27" y="75"/>
                  <a:pt x="27" y="75"/>
                  <a:pt x="27" y="75"/>
                </a:cubicBezTo>
                <a:cubicBezTo>
                  <a:pt x="27" y="76"/>
                  <a:pt x="25" y="78"/>
                  <a:pt x="23" y="78"/>
                </a:cubicBezTo>
                <a:close/>
                <a:moveTo>
                  <a:pt x="8" y="62"/>
                </a:moveTo>
                <a:cubicBezTo>
                  <a:pt x="7" y="72"/>
                  <a:pt x="7" y="72"/>
                  <a:pt x="7" y="72"/>
                </a:cubicBezTo>
                <a:cubicBezTo>
                  <a:pt x="7" y="72"/>
                  <a:pt x="7" y="72"/>
                  <a:pt x="7" y="72"/>
                </a:cubicBezTo>
                <a:cubicBezTo>
                  <a:pt x="8" y="62"/>
                  <a:pt x="8" y="62"/>
                  <a:pt x="8" y="62"/>
                </a:cubicBezTo>
                <a:cubicBezTo>
                  <a:pt x="8" y="62"/>
                  <a:pt x="8" y="62"/>
                  <a:pt x="8" y="62"/>
                </a:cubicBezTo>
                <a:close/>
                <a:moveTo>
                  <a:pt x="27" y="75"/>
                </a:moveTo>
                <a:cubicBezTo>
                  <a:pt x="29" y="64"/>
                  <a:pt x="29" y="64"/>
                  <a:pt x="29" y="64"/>
                </a:cubicBezTo>
                <a:cubicBezTo>
                  <a:pt x="29" y="64"/>
                  <a:pt x="29" y="64"/>
                  <a:pt x="29" y="64"/>
                </a:cubicBezTo>
                <a:cubicBezTo>
                  <a:pt x="27" y="75"/>
                  <a:pt x="27" y="75"/>
                  <a:pt x="27" y="75"/>
                </a:cubicBezTo>
                <a:cubicBezTo>
                  <a:pt x="27" y="75"/>
                  <a:pt x="27" y="75"/>
                  <a:pt x="27" y="75"/>
                </a:cubicBezTo>
                <a:close/>
                <a:moveTo>
                  <a:pt x="127" y="44"/>
                </a:moveTo>
                <a:cubicBezTo>
                  <a:pt x="128" y="44"/>
                  <a:pt x="129" y="45"/>
                  <a:pt x="129" y="46"/>
                </a:cubicBezTo>
                <a:cubicBezTo>
                  <a:pt x="127" y="36"/>
                  <a:pt x="127" y="36"/>
                  <a:pt x="127" y="36"/>
                </a:cubicBezTo>
                <a:cubicBezTo>
                  <a:pt x="126" y="34"/>
                  <a:pt x="124" y="33"/>
                  <a:pt x="122" y="33"/>
                </a:cubicBezTo>
                <a:cubicBezTo>
                  <a:pt x="110" y="37"/>
                  <a:pt x="110" y="37"/>
                  <a:pt x="110" y="37"/>
                </a:cubicBezTo>
                <a:cubicBezTo>
                  <a:pt x="108" y="37"/>
                  <a:pt x="106" y="39"/>
                  <a:pt x="107" y="42"/>
                </a:cubicBezTo>
                <a:cubicBezTo>
                  <a:pt x="109" y="52"/>
                  <a:pt x="109" y="52"/>
                  <a:pt x="109" y="52"/>
                </a:cubicBezTo>
                <a:cubicBezTo>
                  <a:pt x="109" y="50"/>
                  <a:pt x="110" y="49"/>
                  <a:pt x="111" y="48"/>
                </a:cubicBezTo>
                <a:cubicBezTo>
                  <a:pt x="116" y="46"/>
                  <a:pt x="121" y="44"/>
                  <a:pt x="127" y="44"/>
                </a:cubicBezTo>
                <a:close/>
                <a:moveTo>
                  <a:pt x="67" y="19"/>
                </a:moveTo>
                <a:cubicBezTo>
                  <a:pt x="67" y="101"/>
                  <a:pt x="67" y="101"/>
                  <a:pt x="67" y="101"/>
                </a:cubicBezTo>
                <a:cubicBezTo>
                  <a:pt x="77" y="104"/>
                  <a:pt x="89" y="104"/>
                  <a:pt x="99" y="101"/>
                </a:cubicBezTo>
                <a:cubicBezTo>
                  <a:pt x="99" y="19"/>
                  <a:pt x="99" y="19"/>
                  <a:pt x="99" y="19"/>
                </a:cubicBezTo>
                <a:cubicBezTo>
                  <a:pt x="92" y="15"/>
                  <a:pt x="74" y="15"/>
                  <a:pt x="67" y="19"/>
                </a:cubicBezTo>
                <a:close/>
                <a:moveTo>
                  <a:pt x="67" y="105"/>
                </a:moveTo>
                <a:cubicBezTo>
                  <a:pt x="67" y="114"/>
                  <a:pt x="67" y="114"/>
                  <a:pt x="67" y="114"/>
                </a:cubicBezTo>
                <a:cubicBezTo>
                  <a:pt x="73" y="117"/>
                  <a:pt x="93" y="117"/>
                  <a:pt x="99" y="114"/>
                </a:cubicBezTo>
                <a:cubicBezTo>
                  <a:pt x="99" y="105"/>
                  <a:pt x="99" y="105"/>
                  <a:pt x="99" y="105"/>
                </a:cubicBezTo>
                <a:cubicBezTo>
                  <a:pt x="89" y="108"/>
                  <a:pt x="77" y="108"/>
                  <a:pt x="67" y="105"/>
                </a:cubicBezTo>
                <a:close/>
                <a:moveTo>
                  <a:pt x="96" y="0"/>
                </a:moveTo>
                <a:cubicBezTo>
                  <a:pt x="70" y="0"/>
                  <a:pt x="70" y="0"/>
                  <a:pt x="70" y="0"/>
                </a:cubicBezTo>
                <a:cubicBezTo>
                  <a:pt x="68" y="0"/>
                  <a:pt x="67" y="2"/>
                  <a:pt x="67" y="4"/>
                </a:cubicBezTo>
                <a:cubicBezTo>
                  <a:pt x="67" y="14"/>
                  <a:pt x="67" y="14"/>
                  <a:pt x="67" y="14"/>
                </a:cubicBezTo>
                <a:cubicBezTo>
                  <a:pt x="73" y="11"/>
                  <a:pt x="93" y="11"/>
                  <a:pt x="99" y="14"/>
                </a:cubicBezTo>
                <a:cubicBezTo>
                  <a:pt x="99" y="4"/>
                  <a:pt x="99" y="4"/>
                  <a:pt x="99" y="4"/>
                </a:cubicBezTo>
                <a:cubicBezTo>
                  <a:pt x="99" y="2"/>
                  <a:pt x="98" y="0"/>
                  <a:pt x="96" y="0"/>
                </a:cubicBezTo>
                <a:close/>
                <a:moveTo>
                  <a:pt x="67" y="126"/>
                </a:moveTo>
                <a:cubicBezTo>
                  <a:pt x="67" y="132"/>
                  <a:pt x="67" y="132"/>
                  <a:pt x="67" y="132"/>
                </a:cubicBezTo>
                <a:cubicBezTo>
                  <a:pt x="67" y="134"/>
                  <a:pt x="68" y="136"/>
                  <a:pt x="70" y="136"/>
                </a:cubicBezTo>
                <a:cubicBezTo>
                  <a:pt x="96" y="136"/>
                  <a:pt x="96" y="136"/>
                  <a:pt x="96" y="136"/>
                </a:cubicBezTo>
                <a:cubicBezTo>
                  <a:pt x="98" y="136"/>
                  <a:pt x="99" y="134"/>
                  <a:pt x="99" y="132"/>
                </a:cubicBezTo>
                <a:cubicBezTo>
                  <a:pt x="99" y="126"/>
                  <a:pt x="99" y="126"/>
                  <a:pt x="99" y="126"/>
                </a:cubicBezTo>
                <a:cubicBezTo>
                  <a:pt x="96" y="128"/>
                  <a:pt x="70" y="128"/>
                  <a:pt x="67" y="126"/>
                </a:cubicBezTo>
                <a:close/>
                <a:moveTo>
                  <a:pt x="55" y="17"/>
                </a:moveTo>
                <a:cubicBezTo>
                  <a:pt x="41" y="17"/>
                  <a:pt x="41" y="17"/>
                  <a:pt x="41" y="17"/>
                </a:cubicBezTo>
                <a:cubicBezTo>
                  <a:pt x="39" y="17"/>
                  <a:pt x="38" y="18"/>
                  <a:pt x="38" y="21"/>
                </a:cubicBezTo>
                <a:cubicBezTo>
                  <a:pt x="38" y="132"/>
                  <a:pt x="38" y="132"/>
                  <a:pt x="38" y="132"/>
                </a:cubicBezTo>
                <a:cubicBezTo>
                  <a:pt x="38" y="134"/>
                  <a:pt x="39" y="136"/>
                  <a:pt x="41" y="136"/>
                </a:cubicBezTo>
                <a:cubicBezTo>
                  <a:pt x="55" y="136"/>
                  <a:pt x="55" y="136"/>
                  <a:pt x="55" y="136"/>
                </a:cubicBezTo>
                <a:cubicBezTo>
                  <a:pt x="57" y="136"/>
                  <a:pt x="58" y="134"/>
                  <a:pt x="58" y="132"/>
                </a:cubicBezTo>
                <a:cubicBezTo>
                  <a:pt x="58" y="21"/>
                  <a:pt x="58" y="21"/>
                  <a:pt x="58" y="21"/>
                </a:cubicBezTo>
                <a:cubicBezTo>
                  <a:pt x="58" y="18"/>
                  <a:pt x="57" y="17"/>
                  <a:pt x="55" y="17"/>
                </a:cubicBezTo>
                <a:close/>
                <a:moveTo>
                  <a:pt x="53" y="123"/>
                </a:moveTo>
                <a:cubicBezTo>
                  <a:pt x="43" y="123"/>
                  <a:pt x="43" y="123"/>
                  <a:pt x="43" y="123"/>
                </a:cubicBezTo>
                <a:cubicBezTo>
                  <a:pt x="42" y="123"/>
                  <a:pt x="41" y="123"/>
                  <a:pt x="41" y="121"/>
                </a:cubicBezTo>
                <a:cubicBezTo>
                  <a:pt x="41" y="120"/>
                  <a:pt x="42" y="119"/>
                  <a:pt x="43" y="119"/>
                </a:cubicBezTo>
                <a:cubicBezTo>
                  <a:pt x="53" y="119"/>
                  <a:pt x="53" y="119"/>
                  <a:pt x="53" y="119"/>
                </a:cubicBezTo>
                <a:cubicBezTo>
                  <a:pt x="54" y="119"/>
                  <a:pt x="55" y="120"/>
                  <a:pt x="55" y="121"/>
                </a:cubicBezTo>
                <a:cubicBezTo>
                  <a:pt x="55" y="123"/>
                  <a:pt x="54" y="123"/>
                  <a:pt x="53" y="123"/>
                </a:cubicBezTo>
                <a:close/>
                <a:moveTo>
                  <a:pt x="51" y="33"/>
                </a:moveTo>
                <a:cubicBezTo>
                  <a:pt x="45" y="33"/>
                  <a:pt x="45" y="33"/>
                  <a:pt x="45" y="33"/>
                </a:cubicBezTo>
                <a:cubicBezTo>
                  <a:pt x="43" y="33"/>
                  <a:pt x="41" y="31"/>
                  <a:pt x="41" y="29"/>
                </a:cubicBezTo>
                <a:cubicBezTo>
                  <a:pt x="41" y="27"/>
                  <a:pt x="43" y="25"/>
                  <a:pt x="45" y="25"/>
                </a:cubicBezTo>
                <a:cubicBezTo>
                  <a:pt x="51" y="25"/>
                  <a:pt x="51" y="25"/>
                  <a:pt x="51" y="25"/>
                </a:cubicBezTo>
                <a:cubicBezTo>
                  <a:pt x="53" y="25"/>
                  <a:pt x="55" y="27"/>
                  <a:pt x="55" y="29"/>
                </a:cubicBezTo>
                <a:cubicBezTo>
                  <a:pt x="55" y="31"/>
                  <a:pt x="53" y="33"/>
                  <a:pt x="51" y="33"/>
                </a:cubicBezTo>
                <a:close/>
                <a:moveTo>
                  <a:pt x="129" y="46"/>
                </a:moveTo>
                <a:cubicBezTo>
                  <a:pt x="130" y="47"/>
                  <a:pt x="129" y="48"/>
                  <a:pt x="128" y="48"/>
                </a:cubicBezTo>
                <a:cubicBezTo>
                  <a:pt x="122" y="48"/>
                  <a:pt x="117" y="50"/>
                  <a:pt x="112" y="52"/>
                </a:cubicBezTo>
                <a:cubicBezTo>
                  <a:pt x="111" y="53"/>
                  <a:pt x="110" y="53"/>
                  <a:pt x="109" y="52"/>
                </a:cubicBezTo>
                <a:cubicBezTo>
                  <a:pt x="131" y="133"/>
                  <a:pt x="131" y="133"/>
                  <a:pt x="131" y="133"/>
                </a:cubicBezTo>
                <a:cubicBezTo>
                  <a:pt x="132" y="135"/>
                  <a:pt x="134" y="137"/>
                  <a:pt x="136" y="136"/>
                </a:cubicBezTo>
                <a:cubicBezTo>
                  <a:pt x="148" y="133"/>
                  <a:pt x="148" y="133"/>
                  <a:pt x="148" y="133"/>
                </a:cubicBezTo>
                <a:cubicBezTo>
                  <a:pt x="150" y="132"/>
                  <a:pt x="152" y="130"/>
                  <a:pt x="151" y="128"/>
                </a:cubicBezTo>
                <a:lnTo>
                  <a:pt x="129" y="46"/>
                </a:lnTo>
                <a:close/>
                <a:moveTo>
                  <a:pt x="119" y="72"/>
                </a:moveTo>
                <a:cubicBezTo>
                  <a:pt x="115" y="56"/>
                  <a:pt x="115" y="56"/>
                  <a:pt x="115" y="56"/>
                </a:cubicBezTo>
                <a:cubicBezTo>
                  <a:pt x="127" y="53"/>
                  <a:pt x="127" y="53"/>
                  <a:pt x="127" y="53"/>
                </a:cubicBezTo>
                <a:cubicBezTo>
                  <a:pt x="131" y="69"/>
                  <a:pt x="131" y="69"/>
                  <a:pt x="131" y="69"/>
                </a:cubicBezTo>
                <a:lnTo>
                  <a:pt x="119" y="72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sz="11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研究背景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方法原理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实验与分析</a:t>
            </a:r>
            <a:endParaRPr lang="zh-CN" sz="2400" b="1" i="0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1736" y="896112"/>
            <a:ext cx="1709928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43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总结思考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实验设置与评价指标</a:t>
            </a:r>
            <a:endParaRPr sz="2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17</a:t>
            </a:r>
            <a:endParaRPr sz="11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783080"/>
          <a:ext cx="11064240" cy="3059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434840"/>
                <a:gridCol w="4434840"/>
              </a:tblGrid>
              <a:tr h="509905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  <a:endParaRPr sz="2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A41F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Instagram</a:t>
                      </a:r>
                      <a:endParaRPr sz="2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A41F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Facebook</a:t>
                      </a:r>
                      <a:endParaRPr sz="2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A41F1C"/>
                    </a:solidFill>
                  </a:tcPr>
                </a:tc>
              </a:tr>
              <a:tr h="50990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网络类型</a:t>
                      </a:r>
                      <a:endParaRPr sz="2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有向社交网络</a:t>
                      </a:r>
                      <a:endParaRPr sz="2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无向社交网络</a:t>
                      </a:r>
                      <a:endParaRPr sz="2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50990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滥用指标</a:t>
                      </a:r>
                      <a:endParaRPr sz="2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加权抓取请求</a:t>
                      </a:r>
                      <a:endParaRPr sz="2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加权抓取请求</a:t>
                      </a:r>
                      <a:endParaRPr sz="2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990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成本指标</a:t>
                      </a:r>
                      <a:endParaRPr sz="2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活跃天数、反馈事件</a:t>
                      </a:r>
                      <a:endParaRPr sz="2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活跃天数、反馈事件</a:t>
                      </a:r>
                      <a:endParaRPr sz="2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50990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实验时长</a:t>
                      </a:r>
                      <a:endParaRPr sz="2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 天</a:t>
                      </a:r>
                      <a:endParaRPr sz="2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58 天</a:t>
                      </a:r>
                      <a:endParaRPr sz="2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990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账户规模</a:t>
                      </a:r>
                      <a:endParaRPr sz="2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约 54.6 万 / 组</a:t>
                      </a:r>
                      <a:endParaRPr sz="2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约 49.5 万 / 组</a:t>
                      </a:r>
                      <a:endParaRPr sz="2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4923155"/>
            <a:ext cx="11064240" cy="17792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indent="0" algn="l" fontAlgn="auto">
              <a:lnSpc>
                <a:spcPts val="4500"/>
              </a:lnSpc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实验设计</a:t>
            </a:r>
            <a:endParaRPr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随机对照 A/B：对照组＝人工规则基线，测试组＝PRO；分类器两边共享，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以隔离</a:t>
            </a:r>
            <a:r>
              <a:rPr sz="2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人工规</a:t>
            </a:r>
            <a:r>
              <a:rPr lang="zh-CN" sz="2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则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PRO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两种方法的差异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研究背景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方法原理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实验与分析</a:t>
            </a:r>
            <a:endParaRPr lang="zh-CN"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1736" y="896112"/>
            <a:ext cx="1709928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43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总结思考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RQ1：能否显著减少滥用？</a:t>
            </a:r>
            <a:endParaRPr sz="2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18</a:t>
            </a:r>
            <a:endParaRPr sz="11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4331335"/>
            <a:ext cx="11064240" cy="2407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indent="0" algn="l" fontAlgn="auto">
              <a:lnSpc>
                <a:spcPts val="4500"/>
              </a:lnSpc>
              <a:spcAft>
                <a:spcPts val="200"/>
              </a:spcAft>
            </a:pPr>
            <a:r>
              <a: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Instagram</a:t>
            </a:r>
            <a:r>
              <a:rPr 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: </a:t>
            </a:r>
            <a:r>
              <a: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加权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抓取请求下降 59.2%，</a:t>
            </a:r>
            <a:r>
              <a: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成本指标无负面影响</a:t>
            </a:r>
            <a:endParaRPr sz="2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 fontAlgn="auto">
              <a:lnSpc>
                <a:spcPts val="4500"/>
              </a:lnSpc>
              <a:spcAft>
                <a:spcPts val="200"/>
              </a:spcAft>
            </a:pPr>
            <a:r>
              <a: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Facebook</a:t>
            </a:r>
            <a:r>
              <a:rPr 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: </a:t>
            </a:r>
            <a:r>
              <a: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加权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抓取请求下降 4.51%，</a:t>
            </a:r>
            <a:r>
              <a: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成本指标无统计显著变化</a:t>
            </a:r>
            <a:endParaRPr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 fontAlgn="auto">
              <a:lnSpc>
                <a:spcPts val="4500"/>
              </a:lnSpc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两个平台上 PRO 都显著减少滥用，且不伤害正常用户——RQ1 得到肯定回答。</a:t>
            </a:r>
            <a:endParaRPr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 descr="download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8990"/>
            <a:ext cx="5260340" cy="2317115"/>
          </a:xfrm>
          <a:prstGeom prst="rect">
            <a:avLst/>
          </a:prstGeom>
        </p:spPr>
      </p:pic>
      <p:pic>
        <p:nvPicPr>
          <p:cNvPr id="10" name="图片 9" descr="download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145" y="2115820"/>
            <a:ext cx="5191760" cy="22802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研究背景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方法原理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实验与分析</a:t>
            </a:r>
            <a:endParaRPr lang="zh-CN" sz="2400" b="1" i="0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1736" y="896112"/>
            <a:ext cx="1709928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43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总结思考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讨论：两平台差异为何这么大</a:t>
            </a:r>
            <a:endParaRPr sz="2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endParaRPr sz="11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18760" y="4071620"/>
            <a:ext cx="6802755" cy="241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indent="0" fontAlgn="auto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原因一 · 基线成熟度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Facebook 当时已有更成熟的规则基线，起点更高，可提升空间更小。</a:t>
            </a:r>
            <a:endParaRPr sz="2400"/>
          </a:p>
          <a:p>
            <a:pPr indent="0" fontAlgn="auto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原因二 · 优化投入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团队主要精力放在Instagram 上，Facebook 版本只是简单移植。</a:t>
            </a:r>
            <a:endParaRPr sz="2400"/>
          </a:p>
          <a:p>
            <a:pPr indent="0" fontAlgn="auto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说明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差距来自基线是否成熟与优化投入多少，而非方法在 </a:t>
            </a: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Facebook </a:t>
            </a:r>
            <a:r>
              <a:rPr lang="zh-CN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上失效</a:t>
            </a:r>
            <a:r>
              <a:rPr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4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endParaRPr sz="2400"/>
          </a:p>
        </p:txBody>
      </p:sp>
      <p:pic>
        <p:nvPicPr>
          <p:cNvPr id="9" name="图片 8" descr="download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2050415"/>
            <a:ext cx="4533900" cy="1800860"/>
          </a:xfrm>
          <a:prstGeom prst="rect">
            <a:avLst/>
          </a:prstGeom>
        </p:spPr>
      </p:pic>
      <p:pic>
        <p:nvPicPr>
          <p:cNvPr id="13" name="图片 12" descr="download4"/>
          <p:cNvPicPr>
            <a:picLocks noChangeAspect="1"/>
          </p:cNvPicPr>
          <p:nvPr/>
        </p:nvPicPr>
        <p:blipFill>
          <a:blip r:embed="rId3"/>
          <a:srcRect t="7308" r="-497" b="5770"/>
          <a:stretch>
            <a:fillRect/>
          </a:stretch>
        </p:blipFill>
        <p:spPr>
          <a:xfrm>
            <a:off x="5809615" y="1811020"/>
            <a:ext cx="5010150" cy="226695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86105" y="4005580"/>
            <a:ext cx="4495165" cy="2413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ts val="3500"/>
              </a:lnSpc>
            </a:pPr>
            <a:r>
              <a:rPr lang="en-US" altLang="zh-CN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Instagram </a:t>
            </a:r>
            <a:r>
              <a:rPr lang="zh-CN" alt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基线：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仅一个阈值，超过直接封号，规则极简。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3500"/>
              </a:lnSpc>
            </a:pPr>
            <a:r>
              <a:rPr lang="en-US" altLang="zh-CN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Facebook </a:t>
            </a:r>
            <a:r>
              <a:rPr lang="zh-CN" alt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基线：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多层判断，结合滥用分、注册时间、被盗恢复记录，规则更精细。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研究背景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方法原理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实验与分析</a:t>
            </a:r>
            <a:endParaRPr lang="zh-CN" sz="2400" b="1" i="0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1736" y="896112"/>
            <a:ext cx="1709928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43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总结思考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RQ2：能否自动适应业务变化？</a:t>
            </a:r>
            <a:endParaRPr sz="2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sz="11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5140" y="1993900"/>
            <a:ext cx="4150995" cy="456565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案例 1 减少过度执法</a:t>
            </a:r>
            <a:endParaRPr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新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增一项成本指标：移动网页活跃天数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结果：活跃天数 +68%，抓取 −12%。</a:t>
            </a:r>
            <a:endParaRPr sz="24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案例 2 降低短信支出</a:t>
            </a:r>
            <a:endParaRPr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新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增一项成本指标：短信支出金额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结果：短信支出 −80%，抓取无显著变化。</a:t>
            </a:r>
            <a:endParaRPr sz="24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35880" y="4300855"/>
            <a:ext cx="5394960" cy="16884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回答 RQ2</a:t>
            </a:r>
            <a:endParaRPr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PRO 能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通过增加新的成本指标快速纳入新业务约束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，无需重写系统。</a:t>
            </a:r>
            <a:endParaRPr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四步做法</a:t>
            </a:r>
            <a:endParaRPr sz="24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记录指标归因 → 关联日志 → 训练新预测模型 → 重解权重并更新奖励函数。</a:t>
            </a:r>
            <a:endParaRPr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430" y="2085975"/>
            <a:ext cx="3688080" cy="20104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510" y="2085975"/>
            <a:ext cx="3234690" cy="20097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研究背景</a:t>
            </a:r>
            <a:endParaRPr sz="2400" b="0">
              <a:solidFill>
                <a:srgbClr val="60606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方法原理</a:t>
            </a:r>
            <a:endParaRPr sz="2400" b="0">
              <a:solidFill>
                <a:srgbClr val="606060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实验与分析</a:t>
            </a:r>
            <a:endParaRPr sz="2400" b="1">
              <a:solidFill>
                <a:srgbClr val="A41F1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1736" y="896112"/>
            <a:ext cx="1709928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43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总结思考</a:t>
            </a:r>
            <a:endParaRPr sz="2400" b="0">
              <a:solidFill>
                <a:srgbClr val="606060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RQ3：能否自动适应系统与对抗变化？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0" cy="524192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indent="0" fontAlgn="auto">
              <a:lnSpc>
                <a:spcPts val="4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案例 3 上线新执法手段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强制重登录 + 单设备会话：自动化请求 −3.0%，用户时长无显著下降。</a:t>
            </a:r>
            <a:endParaRPr sz="2400"/>
          </a:p>
          <a:p>
            <a:pPr indent="0" fontAlgn="auto">
              <a:lnSpc>
                <a:spcPts val="4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案例 4 自动应对程序 bug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验证挑战出 bug 后，系统两天内自动停用该动作，无需人工改配置。</a:t>
            </a:r>
            <a:endParaRPr sz="2400"/>
          </a:p>
          <a:p>
            <a:pPr indent="0" fontAlgn="auto">
              <a:lnSpc>
                <a:spcPts val="4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案例 5 应对攻击者绕行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警告挑战被部分绕过，系统自动降用率 13%→4%，14 天滚动抓取仍 −24%。</a:t>
            </a:r>
            <a:endParaRPr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ts val="4000"/>
              </a:lnSpc>
              <a:spcBef>
                <a:spcPts val="0"/>
              </a:spcBef>
              <a:spcAft>
                <a:spcPts val="800"/>
              </a:spcAft>
            </a:pPr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6172200" y="5071745"/>
            <a:ext cx="5486400" cy="15741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indent="0" algn="l" fontAlgn="auto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回答 RQ3</a:t>
            </a:r>
            <a:r>
              <a: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：靠</a:t>
            </a:r>
            <a:r>
              <a:rPr lang="zh-CN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不断尝试 + 每天重训</a:t>
            </a:r>
            <a:r>
              <a: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，系统能自动适应系统错误与攻击者的对抗性适应。</a:t>
            </a:r>
            <a:endParaRPr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21</a:t>
            </a:r>
            <a:endParaRPr sz="11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图片 12" descr="download7"/>
          <p:cNvPicPr>
            <a:picLocks noChangeAspect="1"/>
          </p:cNvPicPr>
          <p:nvPr/>
        </p:nvPicPr>
        <p:blipFill>
          <a:blip r:embed="rId2"/>
          <a:srcRect t="11036"/>
          <a:stretch>
            <a:fillRect/>
          </a:stretch>
        </p:blipFill>
        <p:spPr>
          <a:xfrm>
            <a:off x="5950585" y="1882775"/>
            <a:ext cx="5868035" cy="31883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研究背景</a:t>
            </a:r>
            <a:endParaRPr sz="2400" b="0">
              <a:solidFill>
                <a:srgbClr val="60606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方法原理</a:t>
            </a:r>
            <a:endParaRPr sz="2400" b="0">
              <a:solidFill>
                <a:srgbClr val="606060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实验与分析</a:t>
            </a:r>
            <a:endParaRPr sz="2400" b="1">
              <a:solidFill>
                <a:srgbClr val="A41F1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1736" y="896112"/>
            <a:ext cx="1709928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43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总结思考</a:t>
            </a:r>
            <a:endParaRPr sz="2400" b="0">
              <a:solidFill>
                <a:srgbClr val="606060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实验结论汇总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280285"/>
            <a:ext cx="11064240" cy="4156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RQ1 · 效果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Instagram 滥用 −59</a:t>
            </a:r>
            <a:r>
              <a:rPr 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.2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%、Facebook −4.5</a:t>
            </a:r>
            <a:r>
              <a:rPr 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%，且不伤害正常用户。</a:t>
            </a:r>
            <a:endParaRPr sz="2400"/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RQ2 · 业务适应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新增成本指标即可纳入新约束（活跃天数 +68%、短信 −80%）。</a:t>
            </a:r>
            <a:endParaRPr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RQ3 · 系统与对抗适应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自动停用坏动作、应对攻击者绕行，14 天滚动抓取仍 −24%。</a:t>
            </a:r>
            <a:endParaRPr sz="2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endParaRPr sz="2400"/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zh-CN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总结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PRO 是强化学习在反滥用领域的首次落地，效果显著且能自适应。</a:t>
            </a:r>
            <a:endParaRPr sz="24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endParaRPr sz="11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6200000">
            <a:off x="2669251" y="-2664749"/>
            <a:ext cx="6853497" cy="1219200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5" name="PA-矩形 14"/>
          <p:cNvSpPr/>
          <p:nvPr>
            <p:custDataLst>
              <p:tags r:id="rId1"/>
            </p:custDataLst>
          </p:nvPr>
        </p:nvSpPr>
        <p:spPr>
          <a:xfrm>
            <a:off x="0" y="1660961"/>
            <a:ext cx="12192000" cy="3785438"/>
          </a:xfrm>
          <a:prstGeom prst="rect">
            <a:avLst/>
          </a:prstGeom>
          <a:pattFill prst="dkDnDiag">
            <a:fgClr>
              <a:srgbClr val="F0F0F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PA-文本框 8"/>
          <p:cNvSpPr txBox="1"/>
          <p:nvPr>
            <p:custDataLst>
              <p:tags r:id="rId2"/>
            </p:custDataLst>
          </p:nvPr>
        </p:nvSpPr>
        <p:spPr>
          <a:xfrm>
            <a:off x="3568700" y="3343396"/>
            <a:ext cx="5054600" cy="119761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总结思考</a:t>
            </a:r>
            <a:endParaRPr lang="zh-CN" altLang="en-US" sz="7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PA-矩形 9"/>
          <p:cNvSpPr/>
          <p:nvPr>
            <p:custDataLst>
              <p:tags r:id="rId3"/>
            </p:custDataLst>
          </p:nvPr>
        </p:nvSpPr>
        <p:spPr>
          <a:xfrm>
            <a:off x="3956457" y="4438680"/>
            <a:ext cx="4279087" cy="369328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Summary and Reflection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PA-任意多边形 23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5529673" y="2223737"/>
            <a:ext cx="1132652" cy="1014904"/>
          </a:xfrm>
          <a:custGeom>
            <a:avLst/>
            <a:gdLst>
              <a:gd name="T0" fmla="*/ 13 w 152"/>
              <a:gd name="T1" fmla="*/ 48 h 137"/>
              <a:gd name="T2" fmla="*/ 8 w 152"/>
              <a:gd name="T3" fmla="*/ 62 h 137"/>
              <a:gd name="T4" fmla="*/ 25 w 152"/>
              <a:gd name="T5" fmla="*/ 60 h 137"/>
              <a:gd name="T6" fmla="*/ 30 w 152"/>
              <a:gd name="T7" fmla="*/ 54 h 137"/>
              <a:gd name="T8" fmla="*/ 23 w 152"/>
              <a:gd name="T9" fmla="*/ 78 h 137"/>
              <a:gd name="T10" fmla="*/ 7 w 152"/>
              <a:gd name="T11" fmla="*/ 72 h 137"/>
              <a:gd name="T12" fmla="*/ 3 w 152"/>
              <a:gd name="T13" fmla="*/ 134 h 137"/>
              <a:gd name="T14" fmla="*/ 21 w 152"/>
              <a:gd name="T15" fmla="*/ 133 h 137"/>
              <a:gd name="T16" fmla="*/ 20 w 152"/>
              <a:gd name="T17" fmla="*/ 126 h 137"/>
              <a:gd name="T18" fmla="*/ 1 w 152"/>
              <a:gd name="T19" fmla="*/ 122 h 137"/>
              <a:gd name="T20" fmla="*/ 20 w 152"/>
              <a:gd name="T21" fmla="*/ 122 h 137"/>
              <a:gd name="T22" fmla="*/ 27 w 152"/>
              <a:gd name="T23" fmla="*/ 75 h 137"/>
              <a:gd name="T24" fmla="*/ 8 w 152"/>
              <a:gd name="T25" fmla="*/ 62 h 137"/>
              <a:gd name="T26" fmla="*/ 7 w 152"/>
              <a:gd name="T27" fmla="*/ 72 h 137"/>
              <a:gd name="T28" fmla="*/ 8 w 152"/>
              <a:gd name="T29" fmla="*/ 62 h 137"/>
              <a:gd name="T30" fmla="*/ 29 w 152"/>
              <a:gd name="T31" fmla="*/ 64 h 137"/>
              <a:gd name="T32" fmla="*/ 27 w 152"/>
              <a:gd name="T33" fmla="*/ 75 h 137"/>
              <a:gd name="T34" fmla="*/ 127 w 152"/>
              <a:gd name="T35" fmla="*/ 44 h 137"/>
              <a:gd name="T36" fmla="*/ 127 w 152"/>
              <a:gd name="T37" fmla="*/ 36 h 137"/>
              <a:gd name="T38" fmla="*/ 110 w 152"/>
              <a:gd name="T39" fmla="*/ 37 h 137"/>
              <a:gd name="T40" fmla="*/ 109 w 152"/>
              <a:gd name="T41" fmla="*/ 52 h 137"/>
              <a:gd name="T42" fmla="*/ 127 w 152"/>
              <a:gd name="T43" fmla="*/ 44 h 137"/>
              <a:gd name="T44" fmla="*/ 67 w 152"/>
              <a:gd name="T45" fmla="*/ 101 h 137"/>
              <a:gd name="T46" fmla="*/ 99 w 152"/>
              <a:gd name="T47" fmla="*/ 19 h 137"/>
              <a:gd name="T48" fmla="*/ 67 w 152"/>
              <a:gd name="T49" fmla="*/ 105 h 137"/>
              <a:gd name="T50" fmla="*/ 99 w 152"/>
              <a:gd name="T51" fmla="*/ 114 h 137"/>
              <a:gd name="T52" fmla="*/ 67 w 152"/>
              <a:gd name="T53" fmla="*/ 105 h 137"/>
              <a:gd name="T54" fmla="*/ 70 w 152"/>
              <a:gd name="T55" fmla="*/ 0 h 137"/>
              <a:gd name="T56" fmla="*/ 67 w 152"/>
              <a:gd name="T57" fmla="*/ 14 h 137"/>
              <a:gd name="T58" fmla="*/ 99 w 152"/>
              <a:gd name="T59" fmla="*/ 4 h 137"/>
              <a:gd name="T60" fmla="*/ 67 w 152"/>
              <a:gd name="T61" fmla="*/ 126 h 137"/>
              <a:gd name="T62" fmla="*/ 70 w 152"/>
              <a:gd name="T63" fmla="*/ 136 h 137"/>
              <a:gd name="T64" fmla="*/ 99 w 152"/>
              <a:gd name="T65" fmla="*/ 132 h 137"/>
              <a:gd name="T66" fmla="*/ 67 w 152"/>
              <a:gd name="T67" fmla="*/ 126 h 137"/>
              <a:gd name="T68" fmla="*/ 41 w 152"/>
              <a:gd name="T69" fmla="*/ 17 h 137"/>
              <a:gd name="T70" fmla="*/ 38 w 152"/>
              <a:gd name="T71" fmla="*/ 132 h 137"/>
              <a:gd name="T72" fmla="*/ 55 w 152"/>
              <a:gd name="T73" fmla="*/ 136 h 137"/>
              <a:gd name="T74" fmla="*/ 58 w 152"/>
              <a:gd name="T75" fmla="*/ 21 h 137"/>
              <a:gd name="T76" fmla="*/ 53 w 152"/>
              <a:gd name="T77" fmla="*/ 123 h 137"/>
              <a:gd name="T78" fmla="*/ 41 w 152"/>
              <a:gd name="T79" fmla="*/ 121 h 137"/>
              <a:gd name="T80" fmla="*/ 53 w 152"/>
              <a:gd name="T81" fmla="*/ 119 h 137"/>
              <a:gd name="T82" fmla="*/ 53 w 152"/>
              <a:gd name="T83" fmla="*/ 123 h 137"/>
              <a:gd name="T84" fmla="*/ 45 w 152"/>
              <a:gd name="T85" fmla="*/ 33 h 137"/>
              <a:gd name="T86" fmla="*/ 45 w 152"/>
              <a:gd name="T87" fmla="*/ 25 h 137"/>
              <a:gd name="T88" fmla="*/ 55 w 152"/>
              <a:gd name="T89" fmla="*/ 29 h 137"/>
              <a:gd name="T90" fmla="*/ 129 w 152"/>
              <a:gd name="T91" fmla="*/ 46 h 137"/>
              <a:gd name="T92" fmla="*/ 112 w 152"/>
              <a:gd name="T93" fmla="*/ 52 h 137"/>
              <a:gd name="T94" fmla="*/ 131 w 152"/>
              <a:gd name="T95" fmla="*/ 133 h 137"/>
              <a:gd name="T96" fmla="*/ 148 w 152"/>
              <a:gd name="T97" fmla="*/ 133 h 137"/>
              <a:gd name="T98" fmla="*/ 129 w 152"/>
              <a:gd name="T99" fmla="*/ 46 h 137"/>
              <a:gd name="T100" fmla="*/ 115 w 152"/>
              <a:gd name="T101" fmla="*/ 56 h 137"/>
              <a:gd name="T102" fmla="*/ 131 w 152"/>
              <a:gd name="T103" fmla="*/ 69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52" h="137">
                <a:moveTo>
                  <a:pt x="27" y="50"/>
                </a:moveTo>
                <a:cubicBezTo>
                  <a:pt x="13" y="48"/>
                  <a:pt x="13" y="48"/>
                  <a:pt x="13" y="48"/>
                </a:cubicBezTo>
                <a:cubicBezTo>
                  <a:pt x="11" y="48"/>
                  <a:pt x="9" y="50"/>
                  <a:pt x="9" y="52"/>
                </a:cubicBezTo>
                <a:cubicBezTo>
                  <a:pt x="8" y="62"/>
                  <a:pt x="8" y="62"/>
                  <a:pt x="8" y="62"/>
                </a:cubicBezTo>
                <a:cubicBezTo>
                  <a:pt x="8" y="60"/>
                  <a:pt x="10" y="59"/>
                  <a:pt x="12" y="59"/>
                </a:cubicBezTo>
                <a:cubicBezTo>
                  <a:pt x="25" y="60"/>
                  <a:pt x="25" y="60"/>
                  <a:pt x="25" y="60"/>
                </a:cubicBezTo>
                <a:cubicBezTo>
                  <a:pt x="27" y="61"/>
                  <a:pt x="29" y="62"/>
                  <a:pt x="29" y="64"/>
                </a:cubicBezTo>
                <a:cubicBezTo>
                  <a:pt x="30" y="54"/>
                  <a:pt x="30" y="54"/>
                  <a:pt x="30" y="54"/>
                </a:cubicBezTo>
                <a:cubicBezTo>
                  <a:pt x="30" y="52"/>
                  <a:pt x="29" y="50"/>
                  <a:pt x="27" y="50"/>
                </a:cubicBezTo>
                <a:close/>
                <a:moveTo>
                  <a:pt x="23" y="78"/>
                </a:moveTo>
                <a:cubicBezTo>
                  <a:pt x="10" y="76"/>
                  <a:pt x="10" y="76"/>
                  <a:pt x="10" y="76"/>
                </a:cubicBezTo>
                <a:cubicBezTo>
                  <a:pt x="8" y="76"/>
                  <a:pt x="7" y="74"/>
                  <a:pt x="7" y="72"/>
                </a:cubicBezTo>
                <a:cubicBezTo>
                  <a:pt x="0" y="131"/>
                  <a:pt x="0" y="131"/>
                  <a:pt x="0" y="131"/>
                </a:cubicBezTo>
                <a:cubicBezTo>
                  <a:pt x="0" y="133"/>
                  <a:pt x="1" y="134"/>
                  <a:pt x="3" y="134"/>
                </a:cubicBezTo>
                <a:cubicBezTo>
                  <a:pt x="17" y="136"/>
                  <a:pt x="17" y="136"/>
                  <a:pt x="17" y="136"/>
                </a:cubicBezTo>
                <a:cubicBezTo>
                  <a:pt x="19" y="136"/>
                  <a:pt x="20" y="135"/>
                  <a:pt x="21" y="133"/>
                </a:cubicBezTo>
                <a:cubicBezTo>
                  <a:pt x="22" y="124"/>
                  <a:pt x="22" y="124"/>
                  <a:pt x="22" y="124"/>
                </a:cubicBezTo>
                <a:cubicBezTo>
                  <a:pt x="21" y="125"/>
                  <a:pt x="21" y="126"/>
                  <a:pt x="20" y="126"/>
                </a:cubicBezTo>
                <a:cubicBezTo>
                  <a:pt x="2" y="124"/>
                  <a:pt x="2" y="124"/>
                  <a:pt x="2" y="124"/>
                </a:cubicBezTo>
                <a:cubicBezTo>
                  <a:pt x="2" y="124"/>
                  <a:pt x="1" y="123"/>
                  <a:pt x="1" y="122"/>
                </a:cubicBezTo>
                <a:cubicBezTo>
                  <a:pt x="1" y="121"/>
                  <a:pt x="2" y="120"/>
                  <a:pt x="3" y="121"/>
                </a:cubicBezTo>
                <a:cubicBezTo>
                  <a:pt x="20" y="122"/>
                  <a:pt x="20" y="122"/>
                  <a:pt x="20" y="122"/>
                </a:cubicBezTo>
                <a:cubicBezTo>
                  <a:pt x="21" y="123"/>
                  <a:pt x="22" y="123"/>
                  <a:pt x="22" y="124"/>
                </a:cubicBezTo>
                <a:cubicBezTo>
                  <a:pt x="27" y="75"/>
                  <a:pt x="27" y="75"/>
                  <a:pt x="27" y="75"/>
                </a:cubicBezTo>
                <a:cubicBezTo>
                  <a:pt x="27" y="76"/>
                  <a:pt x="25" y="78"/>
                  <a:pt x="23" y="78"/>
                </a:cubicBezTo>
                <a:close/>
                <a:moveTo>
                  <a:pt x="8" y="62"/>
                </a:moveTo>
                <a:cubicBezTo>
                  <a:pt x="7" y="72"/>
                  <a:pt x="7" y="72"/>
                  <a:pt x="7" y="72"/>
                </a:cubicBezTo>
                <a:cubicBezTo>
                  <a:pt x="7" y="72"/>
                  <a:pt x="7" y="72"/>
                  <a:pt x="7" y="72"/>
                </a:cubicBezTo>
                <a:cubicBezTo>
                  <a:pt x="8" y="62"/>
                  <a:pt x="8" y="62"/>
                  <a:pt x="8" y="62"/>
                </a:cubicBezTo>
                <a:cubicBezTo>
                  <a:pt x="8" y="62"/>
                  <a:pt x="8" y="62"/>
                  <a:pt x="8" y="62"/>
                </a:cubicBezTo>
                <a:close/>
                <a:moveTo>
                  <a:pt x="27" y="75"/>
                </a:moveTo>
                <a:cubicBezTo>
                  <a:pt x="29" y="64"/>
                  <a:pt x="29" y="64"/>
                  <a:pt x="29" y="64"/>
                </a:cubicBezTo>
                <a:cubicBezTo>
                  <a:pt x="29" y="64"/>
                  <a:pt x="29" y="64"/>
                  <a:pt x="29" y="64"/>
                </a:cubicBezTo>
                <a:cubicBezTo>
                  <a:pt x="27" y="75"/>
                  <a:pt x="27" y="75"/>
                  <a:pt x="27" y="75"/>
                </a:cubicBezTo>
                <a:cubicBezTo>
                  <a:pt x="27" y="75"/>
                  <a:pt x="27" y="75"/>
                  <a:pt x="27" y="75"/>
                </a:cubicBezTo>
                <a:close/>
                <a:moveTo>
                  <a:pt x="127" y="44"/>
                </a:moveTo>
                <a:cubicBezTo>
                  <a:pt x="128" y="44"/>
                  <a:pt x="129" y="45"/>
                  <a:pt x="129" y="46"/>
                </a:cubicBezTo>
                <a:cubicBezTo>
                  <a:pt x="127" y="36"/>
                  <a:pt x="127" y="36"/>
                  <a:pt x="127" y="36"/>
                </a:cubicBezTo>
                <a:cubicBezTo>
                  <a:pt x="126" y="34"/>
                  <a:pt x="124" y="33"/>
                  <a:pt x="122" y="33"/>
                </a:cubicBezTo>
                <a:cubicBezTo>
                  <a:pt x="110" y="37"/>
                  <a:pt x="110" y="37"/>
                  <a:pt x="110" y="37"/>
                </a:cubicBezTo>
                <a:cubicBezTo>
                  <a:pt x="108" y="37"/>
                  <a:pt x="106" y="39"/>
                  <a:pt x="107" y="42"/>
                </a:cubicBezTo>
                <a:cubicBezTo>
                  <a:pt x="109" y="52"/>
                  <a:pt x="109" y="52"/>
                  <a:pt x="109" y="52"/>
                </a:cubicBezTo>
                <a:cubicBezTo>
                  <a:pt x="109" y="50"/>
                  <a:pt x="110" y="49"/>
                  <a:pt x="111" y="48"/>
                </a:cubicBezTo>
                <a:cubicBezTo>
                  <a:pt x="116" y="46"/>
                  <a:pt x="121" y="44"/>
                  <a:pt x="127" y="44"/>
                </a:cubicBezTo>
                <a:close/>
                <a:moveTo>
                  <a:pt x="67" y="19"/>
                </a:moveTo>
                <a:cubicBezTo>
                  <a:pt x="67" y="101"/>
                  <a:pt x="67" y="101"/>
                  <a:pt x="67" y="101"/>
                </a:cubicBezTo>
                <a:cubicBezTo>
                  <a:pt x="77" y="104"/>
                  <a:pt x="89" y="104"/>
                  <a:pt x="99" y="101"/>
                </a:cubicBezTo>
                <a:cubicBezTo>
                  <a:pt x="99" y="19"/>
                  <a:pt x="99" y="19"/>
                  <a:pt x="99" y="19"/>
                </a:cubicBezTo>
                <a:cubicBezTo>
                  <a:pt x="92" y="15"/>
                  <a:pt x="74" y="15"/>
                  <a:pt x="67" y="19"/>
                </a:cubicBezTo>
                <a:close/>
                <a:moveTo>
                  <a:pt x="67" y="105"/>
                </a:moveTo>
                <a:cubicBezTo>
                  <a:pt x="67" y="114"/>
                  <a:pt x="67" y="114"/>
                  <a:pt x="67" y="114"/>
                </a:cubicBezTo>
                <a:cubicBezTo>
                  <a:pt x="73" y="117"/>
                  <a:pt x="93" y="117"/>
                  <a:pt x="99" y="114"/>
                </a:cubicBezTo>
                <a:cubicBezTo>
                  <a:pt x="99" y="105"/>
                  <a:pt x="99" y="105"/>
                  <a:pt x="99" y="105"/>
                </a:cubicBezTo>
                <a:cubicBezTo>
                  <a:pt x="89" y="108"/>
                  <a:pt x="77" y="108"/>
                  <a:pt x="67" y="105"/>
                </a:cubicBezTo>
                <a:close/>
                <a:moveTo>
                  <a:pt x="96" y="0"/>
                </a:moveTo>
                <a:cubicBezTo>
                  <a:pt x="70" y="0"/>
                  <a:pt x="70" y="0"/>
                  <a:pt x="70" y="0"/>
                </a:cubicBezTo>
                <a:cubicBezTo>
                  <a:pt x="68" y="0"/>
                  <a:pt x="67" y="2"/>
                  <a:pt x="67" y="4"/>
                </a:cubicBezTo>
                <a:cubicBezTo>
                  <a:pt x="67" y="14"/>
                  <a:pt x="67" y="14"/>
                  <a:pt x="67" y="14"/>
                </a:cubicBezTo>
                <a:cubicBezTo>
                  <a:pt x="73" y="11"/>
                  <a:pt x="93" y="11"/>
                  <a:pt x="99" y="14"/>
                </a:cubicBezTo>
                <a:cubicBezTo>
                  <a:pt x="99" y="4"/>
                  <a:pt x="99" y="4"/>
                  <a:pt x="99" y="4"/>
                </a:cubicBezTo>
                <a:cubicBezTo>
                  <a:pt x="99" y="2"/>
                  <a:pt x="98" y="0"/>
                  <a:pt x="96" y="0"/>
                </a:cubicBezTo>
                <a:close/>
                <a:moveTo>
                  <a:pt x="67" y="126"/>
                </a:moveTo>
                <a:cubicBezTo>
                  <a:pt x="67" y="132"/>
                  <a:pt x="67" y="132"/>
                  <a:pt x="67" y="132"/>
                </a:cubicBezTo>
                <a:cubicBezTo>
                  <a:pt x="67" y="134"/>
                  <a:pt x="68" y="136"/>
                  <a:pt x="70" y="136"/>
                </a:cubicBezTo>
                <a:cubicBezTo>
                  <a:pt x="96" y="136"/>
                  <a:pt x="96" y="136"/>
                  <a:pt x="96" y="136"/>
                </a:cubicBezTo>
                <a:cubicBezTo>
                  <a:pt x="98" y="136"/>
                  <a:pt x="99" y="134"/>
                  <a:pt x="99" y="132"/>
                </a:cubicBezTo>
                <a:cubicBezTo>
                  <a:pt x="99" y="126"/>
                  <a:pt x="99" y="126"/>
                  <a:pt x="99" y="126"/>
                </a:cubicBezTo>
                <a:cubicBezTo>
                  <a:pt x="96" y="128"/>
                  <a:pt x="70" y="128"/>
                  <a:pt x="67" y="126"/>
                </a:cubicBezTo>
                <a:close/>
                <a:moveTo>
                  <a:pt x="55" y="17"/>
                </a:moveTo>
                <a:cubicBezTo>
                  <a:pt x="41" y="17"/>
                  <a:pt x="41" y="17"/>
                  <a:pt x="41" y="17"/>
                </a:cubicBezTo>
                <a:cubicBezTo>
                  <a:pt x="39" y="17"/>
                  <a:pt x="38" y="18"/>
                  <a:pt x="38" y="21"/>
                </a:cubicBezTo>
                <a:cubicBezTo>
                  <a:pt x="38" y="132"/>
                  <a:pt x="38" y="132"/>
                  <a:pt x="38" y="132"/>
                </a:cubicBezTo>
                <a:cubicBezTo>
                  <a:pt x="38" y="134"/>
                  <a:pt x="39" y="136"/>
                  <a:pt x="41" y="136"/>
                </a:cubicBezTo>
                <a:cubicBezTo>
                  <a:pt x="55" y="136"/>
                  <a:pt x="55" y="136"/>
                  <a:pt x="55" y="136"/>
                </a:cubicBezTo>
                <a:cubicBezTo>
                  <a:pt x="57" y="136"/>
                  <a:pt x="58" y="134"/>
                  <a:pt x="58" y="132"/>
                </a:cubicBezTo>
                <a:cubicBezTo>
                  <a:pt x="58" y="21"/>
                  <a:pt x="58" y="21"/>
                  <a:pt x="58" y="21"/>
                </a:cubicBezTo>
                <a:cubicBezTo>
                  <a:pt x="58" y="18"/>
                  <a:pt x="57" y="17"/>
                  <a:pt x="55" y="17"/>
                </a:cubicBezTo>
                <a:close/>
                <a:moveTo>
                  <a:pt x="53" y="123"/>
                </a:moveTo>
                <a:cubicBezTo>
                  <a:pt x="43" y="123"/>
                  <a:pt x="43" y="123"/>
                  <a:pt x="43" y="123"/>
                </a:cubicBezTo>
                <a:cubicBezTo>
                  <a:pt x="42" y="123"/>
                  <a:pt x="41" y="123"/>
                  <a:pt x="41" y="121"/>
                </a:cubicBezTo>
                <a:cubicBezTo>
                  <a:pt x="41" y="120"/>
                  <a:pt x="42" y="119"/>
                  <a:pt x="43" y="119"/>
                </a:cubicBezTo>
                <a:cubicBezTo>
                  <a:pt x="53" y="119"/>
                  <a:pt x="53" y="119"/>
                  <a:pt x="53" y="119"/>
                </a:cubicBezTo>
                <a:cubicBezTo>
                  <a:pt x="54" y="119"/>
                  <a:pt x="55" y="120"/>
                  <a:pt x="55" y="121"/>
                </a:cubicBezTo>
                <a:cubicBezTo>
                  <a:pt x="55" y="123"/>
                  <a:pt x="54" y="123"/>
                  <a:pt x="53" y="123"/>
                </a:cubicBezTo>
                <a:close/>
                <a:moveTo>
                  <a:pt x="51" y="33"/>
                </a:moveTo>
                <a:cubicBezTo>
                  <a:pt x="45" y="33"/>
                  <a:pt x="45" y="33"/>
                  <a:pt x="45" y="33"/>
                </a:cubicBezTo>
                <a:cubicBezTo>
                  <a:pt x="43" y="33"/>
                  <a:pt x="41" y="31"/>
                  <a:pt x="41" y="29"/>
                </a:cubicBezTo>
                <a:cubicBezTo>
                  <a:pt x="41" y="27"/>
                  <a:pt x="43" y="25"/>
                  <a:pt x="45" y="25"/>
                </a:cubicBezTo>
                <a:cubicBezTo>
                  <a:pt x="51" y="25"/>
                  <a:pt x="51" y="25"/>
                  <a:pt x="51" y="25"/>
                </a:cubicBezTo>
                <a:cubicBezTo>
                  <a:pt x="53" y="25"/>
                  <a:pt x="55" y="27"/>
                  <a:pt x="55" y="29"/>
                </a:cubicBezTo>
                <a:cubicBezTo>
                  <a:pt x="55" y="31"/>
                  <a:pt x="53" y="33"/>
                  <a:pt x="51" y="33"/>
                </a:cubicBezTo>
                <a:close/>
                <a:moveTo>
                  <a:pt x="129" y="46"/>
                </a:moveTo>
                <a:cubicBezTo>
                  <a:pt x="130" y="47"/>
                  <a:pt x="129" y="48"/>
                  <a:pt x="128" y="48"/>
                </a:cubicBezTo>
                <a:cubicBezTo>
                  <a:pt x="122" y="48"/>
                  <a:pt x="117" y="50"/>
                  <a:pt x="112" y="52"/>
                </a:cubicBezTo>
                <a:cubicBezTo>
                  <a:pt x="111" y="53"/>
                  <a:pt x="110" y="53"/>
                  <a:pt x="109" y="52"/>
                </a:cubicBezTo>
                <a:cubicBezTo>
                  <a:pt x="131" y="133"/>
                  <a:pt x="131" y="133"/>
                  <a:pt x="131" y="133"/>
                </a:cubicBezTo>
                <a:cubicBezTo>
                  <a:pt x="132" y="135"/>
                  <a:pt x="134" y="137"/>
                  <a:pt x="136" y="136"/>
                </a:cubicBezTo>
                <a:cubicBezTo>
                  <a:pt x="148" y="133"/>
                  <a:pt x="148" y="133"/>
                  <a:pt x="148" y="133"/>
                </a:cubicBezTo>
                <a:cubicBezTo>
                  <a:pt x="150" y="132"/>
                  <a:pt x="152" y="130"/>
                  <a:pt x="151" y="128"/>
                </a:cubicBezTo>
                <a:lnTo>
                  <a:pt x="129" y="46"/>
                </a:lnTo>
                <a:close/>
                <a:moveTo>
                  <a:pt x="119" y="72"/>
                </a:moveTo>
                <a:cubicBezTo>
                  <a:pt x="115" y="56"/>
                  <a:pt x="115" y="56"/>
                  <a:pt x="115" y="56"/>
                </a:cubicBezTo>
                <a:cubicBezTo>
                  <a:pt x="127" y="53"/>
                  <a:pt x="127" y="53"/>
                  <a:pt x="127" y="53"/>
                </a:cubicBezTo>
                <a:cubicBezTo>
                  <a:pt x="131" y="69"/>
                  <a:pt x="131" y="69"/>
                  <a:pt x="131" y="69"/>
                </a:cubicBezTo>
                <a:lnTo>
                  <a:pt x="119" y="72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23</a:t>
            </a:r>
            <a:endParaRPr sz="11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研究背景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方法原理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实验与分析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54185" y="412115"/>
            <a:ext cx="1398905" cy="3822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总结思考</a:t>
            </a:r>
            <a:endParaRPr lang="zh-CN" sz="2400" b="1" i="0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354312" y="896112"/>
            <a:ext cx="1399032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论文</a:t>
            </a: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贡献</a:t>
            </a:r>
            <a:endParaRPr lang="zh-CN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endParaRPr sz="11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2076450"/>
            <a:ext cx="11064240" cy="360045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2000" b="1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●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提出新观点：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在线社交网络反滥用的真正目标是选择行动，而不是做二元分类。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2000" b="1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形式化问题：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把动作选择形式化为一个强化学习问题，在滥用数量与误伤成本之间求最优权衡。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2000" b="1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设计并落地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一个大规模强化学习系统，是强化学习在反滥用领域的首次应用。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2000" b="1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真实平台验证：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Instagram、Facebook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上部署，显著减少抓取（−59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.2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 / −4.5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%），且不伤害正常用户。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2000" b="1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案例研究：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5 个真实案例证明系统能在最小人工干预下自动适应业务、系统和对抗变化。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研究背景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方法原理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实验与分析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543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总结思考</a:t>
            </a:r>
            <a:endParaRPr lang="zh-CN" sz="2400" b="1" i="0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354312" y="896112"/>
            <a:ext cx="1399032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思考</a:t>
            </a:r>
            <a:endParaRPr sz="2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26</a:t>
            </a:r>
            <a:endParaRPr sz="11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1993265"/>
            <a:ext cx="11064240" cy="46520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阅读收获 </a:t>
            </a:r>
            <a:r>
              <a:rPr 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优</a:t>
            </a:r>
            <a:r>
              <a:rPr lang="zh-CN" altLang="en-US"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化怎么做比优化怎么判更贴近真实业务目标；手段更多样、选择更聪明，比一味提高分类器更有效</a:t>
            </a:r>
            <a:r>
              <a:rPr sz="2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400"/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局限：</a:t>
            </a:r>
            <a:endParaRPr lang="zh-CN" altLang="en-US"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■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只优化短时间窗内的奖励，没有考虑长期影响。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■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只验证了数据抓取一种滥用，能否推广到垃圾信息、诈骗、虚假账号等仍是开放问题。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■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假设各账号相互独立（解耦建模），忽略了账号之间的相互影响。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■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探索策略的效果还缺乏系统评估。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0896"/>
            <a:ext cx="2249424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923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研究背景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109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方法原理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31736" y="411480"/>
            <a:ext cx="1709928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</a:rPr>
              <a:t>实验与分析</a:t>
            </a:r>
            <a:endParaRPr sz="24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54312" y="411480"/>
            <a:ext cx="1399032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41F1C"/>
                </a:solidFill>
                <a:latin typeface="微软雅黑" panose="020B0503020204020204" charset="-122"/>
              </a:rPr>
              <a:t>总结思考</a:t>
            </a:r>
            <a:endParaRPr lang="zh-CN" sz="2400" b="1" i="0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354312" y="896112"/>
            <a:ext cx="1399032" cy="45720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42415"/>
            <a:ext cx="12191695" cy="667512"/>
          </a:xfrm>
          <a:prstGeom prst="rect">
            <a:avLst/>
          </a:prstGeom>
          <a:solidFill>
            <a:srgbClr val="A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8912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思考</a:t>
            </a:r>
            <a:endParaRPr sz="2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09960" y="6419088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</a:rPr>
              <a:t>26</a:t>
            </a:r>
            <a:endParaRPr sz="1100" b="0" i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47470" y="2087245"/>
            <a:ext cx="9497695" cy="34975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可尝试</a:t>
            </a:r>
            <a:r>
              <a:rPr lang="zh-CN" altLang="en-US" sz="2400" b="1">
                <a:solidFill>
                  <a:srgbClr val="A41F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改进：</a:t>
            </a:r>
            <a:endParaRPr lang="zh-CN" altLang="en-US" sz="2400" b="1">
              <a:solidFill>
                <a:srgbClr val="A41F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把有限时间窗换成长期奖励（无限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horizon + Q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学习）。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▲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推广到更多滥用类型（垃圾、诈骗、刷量等）。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▲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对实体间交互建模（比如封掉一个账号对其他账号的影响）。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▲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用公开数据做一个小规模复现实验，验证扩大动作集合移动帕累托前沿这一核心结论。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2605331"/>
            <a:ext cx="12192000" cy="2332980"/>
          </a:xfrm>
          <a:prstGeom prst="rect">
            <a:avLst/>
          </a:prstGeom>
          <a:solidFill>
            <a:srgbClr val="A41F1C"/>
          </a:soli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Freeform 5"/>
          <p:cNvSpPr>
            <a:spLocks noEditPoints="1"/>
          </p:cNvSpPr>
          <p:nvPr/>
        </p:nvSpPr>
        <p:spPr bwMode="auto">
          <a:xfrm>
            <a:off x="4727575" y="536094"/>
            <a:ext cx="2736850" cy="1590675"/>
          </a:xfrm>
          <a:custGeom>
            <a:avLst/>
            <a:gdLst>
              <a:gd name="T0" fmla="*/ 135 w 139"/>
              <a:gd name="T1" fmla="*/ 61 h 81"/>
              <a:gd name="T2" fmla="*/ 131 w 139"/>
              <a:gd name="T3" fmla="*/ 56 h 81"/>
              <a:gd name="T4" fmla="*/ 131 w 139"/>
              <a:gd name="T5" fmla="*/ 27 h 81"/>
              <a:gd name="T6" fmla="*/ 139 w 139"/>
              <a:gd name="T7" fmla="*/ 24 h 81"/>
              <a:gd name="T8" fmla="*/ 70 w 139"/>
              <a:gd name="T9" fmla="*/ 0 h 81"/>
              <a:gd name="T10" fmla="*/ 0 w 139"/>
              <a:gd name="T11" fmla="*/ 24 h 81"/>
              <a:gd name="T12" fmla="*/ 70 w 139"/>
              <a:gd name="T13" fmla="*/ 48 h 81"/>
              <a:gd name="T14" fmla="*/ 127 w 139"/>
              <a:gd name="T15" fmla="*/ 28 h 81"/>
              <a:gd name="T16" fmla="*/ 127 w 139"/>
              <a:gd name="T17" fmla="*/ 56 h 81"/>
              <a:gd name="T18" fmla="*/ 123 w 139"/>
              <a:gd name="T19" fmla="*/ 61 h 81"/>
              <a:gd name="T20" fmla="*/ 126 w 139"/>
              <a:gd name="T21" fmla="*/ 64 h 81"/>
              <a:gd name="T22" fmla="*/ 123 w 139"/>
              <a:gd name="T23" fmla="*/ 81 h 81"/>
              <a:gd name="T24" fmla="*/ 135 w 139"/>
              <a:gd name="T25" fmla="*/ 81 h 81"/>
              <a:gd name="T26" fmla="*/ 132 w 139"/>
              <a:gd name="T27" fmla="*/ 64 h 81"/>
              <a:gd name="T28" fmla="*/ 135 w 139"/>
              <a:gd name="T29" fmla="*/ 61 h 81"/>
              <a:gd name="T30" fmla="*/ 28 w 139"/>
              <a:gd name="T31" fmla="*/ 42 h 81"/>
              <a:gd name="T32" fmla="*/ 28 w 139"/>
              <a:gd name="T33" fmla="*/ 69 h 81"/>
              <a:gd name="T34" fmla="*/ 70 w 139"/>
              <a:gd name="T35" fmla="*/ 81 h 81"/>
              <a:gd name="T36" fmla="*/ 111 w 139"/>
              <a:gd name="T37" fmla="*/ 69 h 81"/>
              <a:gd name="T38" fmla="*/ 111 w 139"/>
              <a:gd name="T39" fmla="*/ 42 h 81"/>
              <a:gd name="T40" fmla="*/ 70 w 139"/>
              <a:gd name="T41" fmla="*/ 56 h 81"/>
              <a:gd name="T42" fmla="*/ 28 w 139"/>
              <a:gd name="T43" fmla="*/ 42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39" h="81">
                <a:moveTo>
                  <a:pt x="135" y="61"/>
                </a:moveTo>
                <a:cubicBezTo>
                  <a:pt x="135" y="58"/>
                  <a:pt x="134" y="56"/>
                  <a:pt x="131" y="56"/>
                </a:cubicBezTo>
                <a:cubicBezTo>
                  <a:pt x="131" y="27"/>
                  <a:pt x="131" y="27"/>
                  <a:pt x="131" y="27"/>
                </a:cubicBezTo>
                <a:cubicBezTo>
                  <a:pt x="139" y="24"/>
                  <a:pt x="139" y="24"/>
                  <a:pt x="139" y="24"/>
                </a:cubicBezTo>
                <a:cubicBezTo>
                  <a:pt x="70" y="0"/>
                  <a:pt x="70" y="0"/>
                  <a:pt x="70" y="0"/>
                </a:cubicBezTo>
                <a:cubicBezTo>
                  <a:pt x="0" y="24"/>
                  <a:pt x="0" y="24"/>
                  <a:pt x="0" y="24"/>
                </a:cubicBezTo>
                <a:cubicBezTo>
                  <a:pt x="70" y="48"/>
                  <a:pt x="70" y="48"/>
                  <a:pt x="70" y="48"/>
                </a:cubicBezTo>
                <a:cubicBezTo>
                  <a:pt x="127" y="28"/>
                  <a:pt x="127" y="28"/>
                  <a:pt x="127" y="28"/>
                </a:cubicBezTo>
                <a:cubicBezTo>
                  <a:pt x="127" y="56"/>
                  <a:pt x="127" y="56"/>
                  <a:pt x="127" y="56"/>
                </a:cubicBezTo>
                <a:cubicBezTo>
                  <a:pt x="125" y="56"/>
                  <a:pt x="123" y="58"/>
                  <a:pt x="123" y="61"/>
                </a:cubicBezTo>
                <a:cubicBezTo>
                  <a:pt x="123" y="63"/>
                  <a:pt x="125" y="64"/>
                  <a:pt x="126" y="64"/>
                </a:cubicBezTo>
                <a:cubicBezTo>
                  <a:pt x="123" y="81"/>
                  <a:pt x="123" y="81"/>
                  <a:pt x="123" y="81"/>
                </a:cubicBezTo>
                <a:cubicBezTo>
                  <a:pt x="135" y="81"/>
                  <a:pt x="135" y="81"/>
                  <a:pt x="135" y="81"/>
                </a:cubicBezTo>
                <a:cubicBezTo>
                  <a:pt x="132" y="64"/>
                  <a:pt x="132" y="64"/>
                  <a:pt x="132" y="64"/>
                </a:cubicBezTo>
                <a:cubicBezTo>
                  <a:pt x="134" y="64"/>
                  <a:pt x="135" y="63"/>
                  <a:pt x="135" y="61"/>
                </a:cubicBezTo>
                <a:close/>
                <a:moveTo>
                  <a:pt x="28" y="42"/>
                </a:moveTo>
                <a:cubicBezTo>
                  <a:pt x="28" y="69"/>
                  <a:pt x="28" y="69"/>
                  <a:pt x="28" y="69"/>
                </a:cubicBezTo>
                <a:cubicBezTo>
                  <a:pt x="28" y="76"/>
                  <a:pt x="47" y="81"/>
                  <a:pt x="70" y="81"/>
                </a:cubicBezTo>
                <a:cubicBezTo>
                  <a:pt x="92" y="81"/>
                  <a:pt x="111" y="76"/>
                  <a:pt x="111" y="69"/>
                </a:cubicBezTo>
                <a:cubicBezTo>
                  <a:pt x="111" y="42"/>
                  <a:pt x="111" y="42"/>
                  <a:pt x="111" y="42"/>
                </a:cubicBezTo>
                <a:cubicBezTo>
                  <a:pt x="70" y="56"/>
                  <a:pt x="70" y="56"/>
                  <a:pt x="70" y="56"/>
                </a:cubicBezTo>
                <a:lnTo>
                  <a:pt x="28" y="42"/>
                </a:lnTo>
                <a:close/>
              </a:path>
            </a:pathLst>
          </a:custGeom>
          <a:solidFill>
            <a:srgbClr val="A41F1C"/>
          </a:soli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 dirty="0">
              <a:solidFill>
                <a:schemeClr val="lt1"/>
              </a:solidFill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08885" y="5339133"/>
            <a:ext cx="11150818" cy="423053"/>
            <a:chOff x="6679107" y="5791368"/>
            <a:chExt cx="5222941" cy="426516"/>
          </a:xfrm>
        </p:grpSpPr>
        <p:sp>
          <p:nvSpPr>
            <p:cNvPr id="5" name="文本框 4"/>
            <p:cNvSpPr txBox="1"/>
            <p:nvPr/>
          </p:nvSpPr>
          <p:spPr>
            <a:xfrm>
              <a:off x="6679107" y="5814560"/>
              <a:ext cx="3538503" cy="40332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汇报人：</a:t>
              </a:r>
              <a:r>
                <a: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刘协金      </a:t>
              </a:r>
              <a:r>
                <a:rPr lang="en-US" altLang="zh-C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指导老师：吴</a:t>
              </a:r>
              <a:r>
                <a: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晓鸰  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时间：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2026.10.11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r"/>
              <a:endPara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r"/>
              <a:endPara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1717318" y="5791368"/>
              <a:ext cx="184730" cy="4033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endPara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1019218" y="3310156"/>
            <a:ext cx="99936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dist" rtl="0" eaLnBrk="1" latinLnBrk="0" hangingPunct="1">
              <a:buNone/>
            </a:pPr>
            <a:r>
              <a:rPr lang="zh-CN" altLang="zh-CN" sz="5400" kern="1200" dirty="0"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恳请各位老师同学批评指正</a:t>
            </a:r>
            <a:endParaRPr lang="zh-CN" altLang="zh-CN" sz="5400" dirty="0">
              <a:effectLst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715" y="179705"/>
            <a:ext cx="2950720" cy="70110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4.3.1"/>
</p:tagLst>
</file>

<file path=ppt/tags/tag2.xml><?xml version="1.0" encoding="utf-8"?>
<p:tagLst xmlns:p="http://schemas.openxmlformats.org/presentationml/2006/main">
  <p:tag name="PA" val="v4.3.1"/>
</p:tagLst>
</file>

<file path=ppt/tags/tag3.xml><?xml version="1.0" encoding="utf-8"?>
<p:tagLst xmlns:p="http://schemas.openxmlformats.org/presentationml/2006/main">
  <p:tag name="KSO_WM_DIAGRAM_VIRTUALLY_FRAME" val="{&quot;height&quot;:240.89999999999995,&quot;left&quot;:135.3,&quot;top&quot;:227.2085039370079,&quot;width&quot;:746.4001574803149}"/>
</p:tagLst>
</file>

<file path=ppt/tags/tag4.xml><?xml version="1.0" encoding="utf-8"?>
<p:tagLst xmlns:p="http://schemas.openxmlformats.org/presentationml/2006/main">
  <p:tag name="KSO_WM_DIAGRAM_VIRTUALLY_FRAME" val="{&quot;height&quot;:240.89999999999995,&quot;left&quot;:135.3,&quot;top&quot;:227.2085039370079,&quot;width&quot;:746.4001574803149}"/>
</p:tagLst>
</file>

<file path=ppt/tags/tag5.xml><?xml version="1.0" encoding="utf-8"?>
<p:tagLst xmlns:p="http://schemas.openxmlformats.org/presentationml/2006/main">
  <p:tag name="KSO_WM_DIAGRAM_VIRTUALLY_FRAME" val="{&quot;height&quot;:240.89999999999995,&quot;left&quot;:135.3,&quot;top&quot;:227.2085039370079,&quot;width&quot;:746.4001574803149}"/>
</p:tagLst>
</file>

<file path=ppt/tags/tag6.xml><?xml version="1.0" encoding="utf-8"?>
<p:tagLst xmlns:p="http://schemas.openxmlformats.org/presentationml/2006/main">
  <p:tag name="KSO_WM_DIAGRAM_VIRTUALLY_FRAME" val="{&quot;height&quot;:240.89999999999995,&quot;left&quot;:135.3,&quot;top&quot;:227.2085039370079,&quot;width&quot;:746.4001574803149}"/>
</p:tagLst>
</file>

<file path=ppt/tags/tag7.xml><?xml version="1.0" encoding="utf-8"?>
<p:tagLst xmlns:p="http://schemas.openxmlformats.org/presentationml/2006/main">
  <p:tag name="KSO_WM_DIAGRAM_VIRTUALLY_FRAME" val="{&quot;height&quot;:240.89999999999995,&quot;left&quot;:135.3,&quot;top&quot;:227.2085039370079,&quot;width&quot;:746.4001574803149}"/>
</p:tagLst>
</file>

<file path=ppt/tags/tag8.xml><?xml version="1.0" encoding="utf-8"?>
<p:tagLst xmlns:p="http://schemas.openxmlformats.org/presentationml/2006/main">
  <p:tag name="KSO_WM_DIAGRAM_VIRTUALLY_FRAME" val="{&quot;height&quot;:240.89999999999995,&quot;left&quot;:135.3,&quot;top&quot;:227.2085039370079,&quot;width&quot;:746.4001574803149}"/>
</p:tagLst>
</file>

<file path=ppt/tags/tag9.xml><?xml version="1.0" encoding="utf-8"?>
<p:tagLst xmlns:p="http://schemas.openxmlformats.org/presentationml/2006/main">
  <p:tag name="KSO_WM_DIAGRAM_VIRTUALLY_FRAME" val="{&quot;height&quot;:240.89999999999995,&quot;left&quot;:135.3,&quot;top&quot;:227.2085039370079,&quot;width&quot;:746.4001574803149}"/>
</p:tagLst>
</file>

<file path=ppt/tags/tag10.xml><?xml version="1.0" encoding="utf-8"?>
<p:tagLst xmlns:p="http://schemas.openxmlformats.org/presentationml/2006/main">
  <p:tag name="KSO_WM_DIAGRAM_VIRTUALLY_FRAME" val="{&quot;height&quot;:240.89999999999995,&quot;left&quot;:135.3,&quot;top&quot;:227.2085039370079,&quot;width&quot;:746.4001574803149}"/>
</p:tagLst>
</file>

<file path=ppt/tags/tag11.xml><?xml version="1.0" encoding="utf-8"?>
<p:tagLst xmlns:p="http://schemas.openxmlformats.org/presentationml/2006/main">
  <p:tag name="KSO_WM_DIAGRAM_VIRTUALLY_FRAME" val="{&quot;height&quot;:240.89999999999995,&quot;left&quot;:135.3,&quot;top&quot;:227.2085039370079,&quot;width&quot;:746.4001574803149}"/>
</p:tagLst>
</file>

<file path=ppt/tags/tag12.xml><?xml version="1.0" encoding="utf-8"?>
<p:tagLst xmlns:p="http://schemas.openxmlformats.org/presentationml/2006/main">
  <p:tag name="KSO_WM_DIAGRAM_VIRTUALLY_FRAME" val="{&quot;height&quot;:240.89999999999995,&quot;left&quot;:135.3,&quot;top&quot;:227.2085039370079,&quot;width&quot;:746.4001574803149}"/>
</p:tagLst>
</file>

<file path=ppt/tags/tag13.xml><?xml version="1.0" encoding="utf-8"?>
<p:tagLst xmlns:p="http://schemas.openxmlformats.org/presentationml/2006/main">
  <p:tag name="KSO_WM_DIAGRAM_VIRTUALLY_FRAME" val="{&quot;height&quot;:240.89999999999995,&quot;left&quot;:135.3,&quot;top&quot;:227.2085039370079,&quot;width&quot;:746.4001574803149}"/>
</p:tagLst>
</file>

<file path=ppt/tags/tag14.xml><?xml version="1.0" encoding="utf-8"?>
<p:tagLst xmlns:p="http://schemas.openxmlformats.org/presentationml/2006/main">
  <p:tag name="KSO_WM_DIAGRAM_VIRTUALLY_FRAME" val="{&quot;height&quot;:240.89999999999995,&quot;left&quot;:135.3,&quot;top&quot;:227.2085039370079,&quot;width&quot;:746.4001574803149}"/>
</p:tagLst>
</file>

<file path=ppt/tags/tag15.xml><?xml version="1.0" encoding="utf-8"?>
<p:tagLst xmlns:p="http://schemas.openxmlformats.org/presentationml/2006/main">
  <p:tag name="KSO_WM_DIAGRAM_VIRTUALLY_FRAME" val="{&quot;height&quot;:240.89999999999995,&quot;left&quot;:135.3,&quot;top&quot;:227.2085039370079,&quot;width&quot;:746.4001574803149}"/>
</p:tagLst>
</file>

<file path=ppt/tags/tag16.xml><?xml version="1.0" encoding="utf-8"?>
<p:tagLst xmlns:p="http://schemas.openxmlformats.org/presentationml/2006/main">
  <p:tag name="KSO_WM_DIAGRAM_VIRTUALLY_FRAME" val="{&quot;height&quot;:240.89999999999995,&quot;left&quot;:135.3,&quot;top&quot;:227.2085039370079,&quot;width&quot;:746.4001574803149}"/>
</p:tagLst>
</file>

<file path=ppt/tags/tag17.xml><?xml version="1.0" encoding="utf-8"?>
<p:tagLst xmlns:p="http://schemas.openxmlformats.org/presentationml/2006/main">
  <p:tag name="PA" val="v4.3.1"/>
</p:tagLst>
</file>

<file path=ppt/tags/tag18.xml><?xml version="1.0" encoding="utf-8"?>
<p:tagLst xmlns:p="http://schemas.openxmlformats.org/presentationml/2006/main">
  <p:tag name="PA" val="v4.3.1"/>
</p:tagLst>
</file>

<file path=ppt/tags/tag19.xml><?xml version="1.0" encoding="utf-8"?>
<p:tagLst xmlns:p="http://schemas.openxmlformats.org/presentationml/2006/main">
  <p:tag name="PA" val="v4.3.1"/>
</p:tagLst>
</file>

<file path=ppt/tags/tag20.xml><?xml version="1.0" encoding="utf-8"?>
<p:tagLst xmlns:p="http://schemas.openxmlformats.org/presentationml/2006/main">
  <p:tag name="PA" val="v4.3.1"/>
</p:tagLst>
</file>

<file path=ppt/tags/tag21.xml><?xml version="1.0" encoding="utf-8"?>
<p:tagLst xmlns:p="http://schemas.openxmlformats.org/presentationml/2006/main">
  <p:tag name="TABLE_ENDDRAG_ORIGIN_RECT" val="871*281"/>
  <p:tag name="TABLE_ENDDRAG_RECT" val="43*144*871*281"/>
</p:tagLst>
</file>

<file path=ppt/tags/tag22.xml><?xml version="1.0" encoding="utf-8"?>
<p:tagLst xmlns:p="http://schemas.openxmlformats.org/presentationml/2006/main">
  <p:tag name="PA" val="v4.3.1"/>
</p:tagLst>
</file>

<file path=ppt/tags/tag23.xml><?xml version="1.0" encoding="utf-8"?>
<p:tagLst xmlns:p="http://schemas.openxmlformats.org/presentationml/2006/main">
  <p:tag name="PA" val="v4.3.1"/>
</p:tagLst>
</file>

<file path=ppt/tags/tag24.xml><?xml version="1.0" encoding="utf-8"?>
<p:tagLst xmlns:p="http://schemas.openxmlformats.org/presentationml/2006/main">
  <p:tag name="PA" val="v4.3.1"/>
</p:tagLst>
</file>

<file path=ppt/tags/tag25.xml><?xml version="1.0" encoding="utf-8"?>
<p:tagLst xmlns:p="http://schemas.openxmlformats.org/presentationml/2006/main">
  <p:tag name="PA" val="v4.3.1"/>
</p:tagLst>
</file>

<file path=ppt/tags/tag26.xml><?xml version="1.0" encoding="utf-8"?>
<p:tagLst xmlns:p="http://schemas.openxmlformats.org/presentationml/2006/main">
  <p:tag name="PA" val="v4.3.1"/>
</p:tagLst>
</file>

<file path=ppt/tags/tag27.xml><?xml version="1.0" encoding="utf-8"?>
<p:tagLst xmlns:p="http://schemas.openxmlformats.org/presentationml/2006/main">
  <p:tag name="PA" val="v4.3.1"/>
</p:tagLst>
</file>

<file path=ppt/tags/tag28.xml><?xml version="1.0" encoding="utf-8"?>
<p:tagLst xmlns:p="http://schemas.openxmlformats.org/presentationml/2006/main">
  <p:tag name="PA" val="v4.3.1"/>
</p:tagLst>
</file>

<file path=ppt/tags/tag29.xml><?xml version="1.0" encoding="utf-8"?>
<p:tagLst xmlns:p="http://schemas.openxmlformats.org/presentationml/2006/main">
  <p:tag name="PA" val="v4.3.1"/>
</p:tagLst>
</file>

<file path=ppt/tags/tag30.xml><?xml version="1.0" encoding="utf-8"?>
<p:tagLst xmlns:p="http://schemas.openxmlformats.org/presentationml/2006/main">
  <p:tag name="PA" val="v4.3.1"/>
</p:tagLst>
</file>

<file path=ppt/tags/tag31.xml><?xml version="1.0" encoding="utf-8"?>
<p:tagLst xmlns:p="http://schemas.openxmlformats.org/presentationml/2006/main">
  <p:tag name="PA" val="v4.3.1"/>
</p:tagLst>
</file>

<file path=ppt/tags/tag32.xml><?xml version="1.0" encoding="utf-8"?>
<p:tagLst xmlns:p="http://schemas.openxmlformats.org/presentationml/2006/main">
  <p:tag name="PA" val="v4.3.1"/>
</p:tagLst>
</file>

<file path=ppt/tags/tag33.xml><?xml version="1.0" encoding="utf-8"?>
<p:tagLst xmlns:p="http://schemas.openxmlformats.org/presentationml/2006/main">
  <p:tag name="PA" val="v4.3.1"/>
</p:tagLst>
</file>

<file path=ppt/tags/tag34.xml><?xml version="1.0" encoding="utf-8"?>
<p:tagLst xmlns:p="http://schemas.openxmlformats.org/presentationml/2006/main">
  <p:tag name="RESOURCE_RECORD_KEY" val="{&quot;10&quot;:[21565017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4780</Words>
  <Application>WPS 演示</Application>
  <PresentationFormat>宽屏</PresentationFormat>
  <Paragraphs>555</Paragraphs>
  <Slides>27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Calibri</vt:lpstr>
      <vt:lpstr>Arial Unicode MS</vt:lpstr>
      <vt:lpstr>等线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AIERXUAN</dc:creator>
  <cp:lastModifiedBy>沐川</cp:lastModifiedBy>
  <cp:revision>305</cp:revision>
  <dcterms:created xsi:type="dcterms:W3CDTF">2025-12-19T08:44:00Z</dcterms:created>
  <dcterms:modified xsi:type="dcterms:W3CDTF">2026-10-02T04:49:21Z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KSOTemplateUUID">
    <vt:lpwstr>v1.0_mb_JphsL9IaX3xhU7Ai+oU30Q==</vt:lpwstr>
  </property>
  <property fmtid="{D5CDD505-2E9C-101B-9397-08002B2CF9AE}" pid="4" name="ICV">
    <vt:lpwstr>08902F55F07A86B95110456920FF4C84_43</vt:lpwstr>
  </property>
</Properties>
</file>