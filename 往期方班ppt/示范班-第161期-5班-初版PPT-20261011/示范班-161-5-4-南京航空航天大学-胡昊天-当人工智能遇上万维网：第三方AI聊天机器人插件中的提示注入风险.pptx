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97" r:id="rId2"/>
    <p:sldId id="258" r:id="rId3"/>
    <p:sldId id="302" r:id="rId4"/>
    <p:sldId id="259" r:id="rId5"/>
    <p:sldId id="346" r:id="rId6"/>
    <p:sldId id="347" r:id="rId7"/>
    <p:sldId id="348" r:id="rId8"/>
    <p:sldId id="307" r:id="rId9"/>
    <p:sldId id="349" r:id="rId10"/>
    <p:sldId id="350" r:id="rId11"/>
    <p:sldId id="351" r:id="rId12"/>
    <p:sldId id="352" r:id="rId13"/>
    <p:sldId id="314" r:id="rId14"/>
    <p:sldId id="353" r:id="rId15"/>
    <p:sldId id="354" r:id="rId16"/>
    <p:sldId id="355" r:id="rId17"/>
    <p:sldId id="356" r:id="rId18"/>
    <p:sldId id="357" r:id="rId19"/>
    <p:sldId id="358" r:id="rId20"/>
    <p:sldId id="319" r:id="rId21"/>
    <p:sldId id="359" r:id="rId22"/>
    <p:sldId id="360" r:id="rId23"/>
    <p:sldId id="361" r:id="rId24"/>
    <p:sldId id="344" r:id="rId25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D6E3"/>
    <a:srgbClr val="E4EBF1"/>
    <a:srgbClr val="E67E22"/>
    <a:srgbClr val="F7F9FC"/>
    <a:srgbClr val="F4F7FB"/>
    <a:srgbClr val="10253F"/>
    <a:srgbClr val="FFFFFF"/>
    <a:srgbClr val="2CEAC9"/>
    <a:srgbClr val="568D11"/>
    <a:srgbClr val="70BA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20" autoAdjust="0"/>
  </p:normalViewPr>
  <p:slideViewPr>
    <p:cSldViewPr>
      <p:cViewPr varScale="1">
        <p:scale>
          <a:sx n="80" d="100"/>
          <a:sy n="80" d="100"/>
        </p:scale>
        <p:origin x="60" y="114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32" d="100"/>
        <a:sy n="132" d="100"/>
      </p:scale>
      <p:origin x="0" y="51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75C004-A9D4-4858-99EC-F4CCE56E2FEF}" type="datetimeFigureOut">
              <a:rPr lang="zh-CN" altLang="en-US" smtClean="0"/>
              <a:pPr/>
              <a:t>2026/10/2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4E2E4E-2FFD-4B0E-BE9C-FA7BDC09154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624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837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460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207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943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619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553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701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46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23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927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0947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13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1423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411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608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230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781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606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525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804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3772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116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055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E137E13-6931-4ECB-BB5B-849FB74182C0}" type="datetimeFigureOut">
              <a:rPr lang="zh-CN" altLang="en-US" smtClean="0"/>
              <a:pPr/>
              <a:t>2026/10/2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3CBF4B4-C160-4F55-AC7D-1C8FF5BA05F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E137E13-6931-4ECB-BB5B-849FB74182C0}" type="datetimeFigureOut">
              <a:rPr lang="zh-CN" altLang="en-US" smtClean="0"/>
              <a:pPr/>
              <a:t>2026/10/2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3CBF4B4-C160-4F55-AC7D-1C8FF5BA05F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699542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7389486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8381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7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8333805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244144" y="114945"/>
            <a:ext cx="3744441" cy="4571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点击输入标题内容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72" y="174957"/>
            <a:ext cx="1998826" cy="390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699542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7629396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8381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7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8333485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244144" y="114945"/>
            <a:ext cx="3744441" cy="4571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点击输入标题内容</a:t>
            </a: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72" y="174957"/>
            <a:ext cx="1998826" cy="390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699542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7854691" y="254234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8381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8341257" y="254234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244144" y="114945"/>
            <a:ext cx="3744441" cy="4571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点击输入标题内容</a:t>
            </a: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72" y="174957"/>
            <a:ext cx="1998826" cy="390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699542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8100473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8381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34077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7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244144" y="114945"/>
            <a:ext cx="3744441" cy="4571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点击输入标题内容</a:t>
            </a: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72" y="174957"/>
            <a:ext cx="1998826" cy="390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699542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8340771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8381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7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244144" y="114945"/>
            <a:ext cx="3744441" cy="4571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点击输入标题内容</a:t>
            </a: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72" y="174957"/>
            <a:ext cx="1998826" cy="390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699542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8564755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32900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7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244144" y="114945"/>
            <a:ext cx="3744441" cy="4571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点击输入标题内容</a:t>
            </a: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72" y="174957"/>
            <a:ext cx="1998826" cy="390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1350498"/>
            <a:ext cx="3228536" cy="1188000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 userDrawn="1"/>
        </p:nvSpPr>
        <p:spPr>
          <a:xfrm>
            <a:off x="0" y="1"/>
            <a:ext cx="9144914" cy="1293314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3302392" y="1350498"/>
            <a:ext cx="305972" cy="1188000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0" hasCustomPrompt="1"/>
          </p:nvPr>
        </p:nvSpPr>
        <p:spPr>
          <a:xfrm>
            <a:off x="1007842" y="1463898"/>
            <a:ext cx="1949971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第一部分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1" hasCustomPrompt="1"/>
          </p:nvPr>
        </p:nvSpPr>
        <p:spPr>
          <a:xfrm>
            <a:off x="3682221" y="1365957"/>
            <a:ext cx="2473956" cy="613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0253F"/>
                </a:solidFill>
                <a:latin typeface="Impact" panose="020B0806030902050204" pitchFamily="34" charset="0"/>
              </a:defRPr>
            </a:lvl1pPr>
          </a:lstStyle>
          <a:p>
            <a:pPr lvl="0"/>
            <a:r>
              <a:rPr lang="en-US" altLang="zh-CN" dirty="0"/>
              <a:t>Project review</a:t>
            </a:r>
            <a:endParaRPr lang="zh-CN" altLang="en-US" dirty="0"/>
          </a:p>
        </p:txBody>
      </p:sp>
      <p:sp>
        <p:nvSpPr>
          <p:cNvPr id="18" name="文本占位符 16"/>
          <p:cNvSpPr>
            <a:spLocks noGrp="1"/>
          </p:cNvSpPr>
          <p:nvPr>
            <p:ph type="body" sz="quarter" idx="12" hasCustomPrompt="1"/>
          </p:nvPr>
        </p:nvSpPr>
        <p:spPr>
          <a:xfrm>
            <a:off x="6318356" y="1365957"/>
            <a:ext cx="2473956" cy="613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 baseline="0">
                <a:solidFill>
                  <a:srgbClr val="10253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课题综述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3" hasCustomPrompt="1"/>
          </p:nvPr>
        </p:nvSpPr>
        <p:spPr>
          <a:xfrm>
            <a:off x="3682220" y="2122545"/>
            <a:ext cx="2473957" cy="914400"/>
          </a:xfrm>
          <a:prstGeom prst="rect">
            <a:avLst/>
          </a:prstGeom>
        </p:spPr>
        <p:txBody>
          <a:bodyPr/>
          <a:lstStyle>
            <a:lvl1pPr marL="285750" indent="-285750">
              <a:buFont typeface="Wingdings" panose="05000000000000000000" pitchFamily="2" charset="2"/>
              <a:buChar char="p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输入副标题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2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7" grpId="0" build="p">
        <p:tmplLst>
          <p:tmpl lvl="1"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25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035C5D1-AD16-4B01-871F-DE047A6CFB67}" type="datetimeFigureOut">
              <a:rPr lang="zh-CN" altLang="en-US" smtClean="0"/>
              <a:pPr/>
              <a:t>2026/10/2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BCDE635-3FC4-4B83-A3D1-632FFA341E9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035C5D1-AD16-4B01-871F-DE047A6CFB67}" type="datetimeFigureOut">
              <a:rPr lang="zh-CN" altLang="en-US" smtClean="0"/>
              <a:pPr/>
              <a:t>2026/10/2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BCDE635-3FC4-4B83-A3D1-632FFA341E9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035C5D1-AD16-4B01-871F-DE047A6CFB67}" type="datetimeFigureOut">
              <a:rPr lang="zh-CN" altLang="en-US" smtClean="0"/>
              <a:pPr/>
              <a:t>2026/10/2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BCDE635-3FC4-4B83-A3D1-632FFA341E9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2347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/>
          </p:cNvSpPr>
          <p:nvPr/>
        </p:nvSpPr>
        <p:spPr>
          <a:xfrm>
            <a:off x="6405" y="-236562"/>
            <a:ext cx="9131189" cy="4571398"/>
          </a:xfrm>
          <a:prstGeom prst="rect">
            <a:avLst/>
          </a:prstGeom>
          <a:blipFill dpi="0" rotWithShape="1">
            <a:blip r:embed="rId3"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CC541C-F36A-1889-B509-BF1179130EDC}"/>
              </a:ext>
            </a:extLst>
          </p:cNvPr>
          <p:cNvSpPr/>
          <p:nvPr/>
        </p:nvSpPr>
        <p:spPr>
          <a:xfrm>
            <a:off x="0" y="2268315"/>
            <a:ext cx="9144000" cy="288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Box 32"/>
          <p:cNvSpPr>
            <a:spLocks noChangeArrowheads="1"/>
          </p:cNvSpPr>
          <p:nvPr/>
        </p:nvSpPr>
        <p:spPr bwMode="auto">
          <a:xfrm>
            <a:off x="-9523" y="2329687"/>
            <a:ext cx="9141107" cy="2831544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b="1">
                <a:solidFill>
                  <a:srgbClr val="10253F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When AI Meets the Web</a:t>
            </a:r>
            <a:r>
              <a:rPr lang="zh-CN" altLang="en-US" b="1">
                <a:solidFill>
                  <a:srgbClr val="10253F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：</a:t>
            </a:r>
            <a:endParaRPr lang="en-US" altLang="zh-CN" b="1">
              <a:solidFill>
                <a:srgbClr val="10253F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  <a:p>
            <a:pPr algn="ctr"/>
            <a:r>
              <a:rPr lang="zh-CN" altLang="en-US" b="1">
                <a:solidFill>
                  <a:srgbClr val="10253F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 </a:t>
            </a:r>
            <a:r>
              <a:rPr lang="en-US" altLang="zh-CN" b="1">
                <a:solidFill>
                  <a:srgbClr val="10253F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Prompt Injection Risks in Third-Party AI Chatbot Plugins</a:t>
            </a:r>
          </a:p>
          <a:p>
            <a:pPr algn="ctr"/>
            <a:r>
              <a:rPr lang="zh-CN" altLang="en-US" b="1">
                <a:solidFill>
                  <a:srgbClr val="10253F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当人工智能遇上万维网：</a:t>
            </a:r>
            <a:endParaRPr lang="en-US" altLang="zh-CN" b="1">
              <a:solidFill>
                <a:srgbClr val="10253F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  <a:p>
            <a:pPr algn="ctr"/>
            <a:r>
              <a:rPr lang="zh-CN" altLang="en-US" b="1">
                <a:solidFill>
                  <a:srgbClr val="10253F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第三方</a:t>
            </a:r>
            <a:r>
              <a:rPr lang="en-US" altLang="zh-CN" b="1">
                <a:solidFill>
                  <a:srgbClr val="10253F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AI</a:t>
            </a:r>
            <a:r>
              <a:rPr lang="zh-CN" altLang="en-US" b="1">
                <a:solidFill>
                  <a:srgbClr val="10253F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聊天机器人插件中的提示注入风险</a:t>
            </a:r>
            <a:endParaRPr lang="en-US" altLang="zh-CN" sz="1100">
              <a:solidFill>
                <a:srgbClr val="10253F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zh-CN" sz="1100">
              <a:solidFill>
                <a:srgbClr val="10253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sz="1100">
                <a:solidFill>
                  <a:srgbClr val="10253F"/>
                </a:solidFill>
              </a:rPr>
              <a:t>Yigitcan Kaya , Anton Landerer , Stijn Pletinckx , Michelle Zimmermann , Christopher Kruegel , Giovanni Vigna</a:t>
            </a:r>
          </a:p>
          <a:p>
            <a:pPr algn="ctr">
              <a:lnSpc>
                <a:spcPct val="150000"/>
              </a:lnSpc>
            </a:pPr>
            <a:r>
              <a:rPr lang="en-US" altLang="zh-CN" sz="1100">
                <a:solidFill>
                  <a:srgbClr val="10253F"/>
                </a:solidFill>
              </a:rPr>
              <a:t>2026 IEEE Symposium on Security and Privacy (S&amp;P)</a:t>
            </a:r>
          </a:p>
          <a:p>
            <a:pPr algn="ctr"/>
            <a:endParaRPr lang="en-US" altLang="zh-CN" sz="1100">
              <a:solidFill>
                <a:srgbClr val="10253F"/>
              </a:solidFill>
            </a:endParaRPr>
          </a:p>
          <a:p>
            <a:pPr algn="ctr"/>
            <a:r>
              <a:rPr lang="zh-CN" altLang="en-US" sz="1100" b="1">
                <a:solidFill>
                  <a:srgbClr val="1025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汇报人：胡昊天</a:t>
            </a:r>
            <a:r>
              <a:rPr lang="en-US" altLang="zh-CN" sz="1100" b="1">
                <a:solidFill>
                  <a:srgbClr val="1025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1100" b="1">
                <a:solidFill>
                  <a:srgbClr val="1025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指导导师：韩皓</a:t>
            </a:r>
            <a:endParaRPr lang="en-US" altLang="zh-CN" sz="1100" b="1">
              <a:solidFill>
                <a:srgbClr val="10253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100" b="1">
                <a:solidFill>
                  <a:srgbClr val="1025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100" b="1">
                <a:solidFill>
                  <a:srgbClr val="1025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100" b="1">
                <a:solidFill>
                  <a:srgbClr val="1025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100" b="1">
                <a:solidFill>
                  <a:srgbClr val="1025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100" b="1">
                <a:solidFill>
                  <a:srgbClr val="1025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100" b="1">
                <a:solidFill>
                  <a:srgbClr val="1025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2400" b="1">
              <a:solidFill>
                <a:srgbClr val="10253F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  <a:p>
            <a:pPr algn="ctr"/>
            <a:endParaRPr lang="en-US" altLang="zh-CN" sz="240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E98F3B9-4176-8D20-B770-E641AFB0B4A6}"/>
              </a:ext>
            </a:extLst>
          </p:cNvPr>
          <p:cNvCxnSpPr>
            <a:cxnSpLocks/>
          </p:cNvCxnSpPr>
          <p:nvPr/>
        </p:nvCxnSpPr>
        <p:spPr>
          <a:xfrm>
            <a:off x="3" y="840252"/>
            <a:ext cx="914399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D8AF09D-D0E8-292C-A1A3-003BA0F5C349}"/>
              </a:ext>
            </a:extLst>
          </p:cNvPr>
          <p:cNvCxnSpPr>
            <a:cxnSpLocks/>
          </p:cNvCxnSpPr>
          <p:nvPr/>
        </p:nvCxnSpPr>
        <p:spPr>
          <a:xfrm>
            <a:off x="-9523" y="1671309"/>
            <a:ext cx="914399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C15BE6E-BD81-561B-C657-388BF39A7E55}"/>
              </a:ext>
            </a:extLst>
          </p:cNvPr>
          <p:cNvCxnSpPr>
            <a:cxnSpLocks/>
          </p:cNvCxnSpPr>
          <p:nvPr/>
        </p:nvCxnSpPr>
        <p:spPr>
          <a:xfrm flipV="1">
            <a:off x="2606958" y="-236562"/>
            <a:ext cx="0" cy="272823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0AFE284-D918-1867-2A27-9B0631024370}"/>
              </a:ext>
            </a:extLst>
          </p:cNvPr>
          <p:cNvCxnSpPr>
            <a:cxnSpLocks/>
          </p:cNvCxnSpPr>
          <p:nvPr/>
        </p:nvCxnSpPr>
        <p:spPr>
          <a:xfrm flipV="1">
            <a:off x="3911881" y="-236562"/>
            <a:ext cx="0" cy="250487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AA7525B-B6DC-55EA-63CD-FDEBBFAE06E8}"/>
              </a:ext>
            </a:extLst>
          </p:cNvPr>
          <p:cNvCxnSpPr>
            <a:cxnSpLocks/>
          </p:cNvCxnSpPr>
          <p:nvPr/>
        </p:nvCxnSpPr>
        <p:spPr>
          <a:xfrm flipH="1" flipV="1">
            <a:off x="5222165" y="3764"/>
            <a:ext cx="9955" cy="232592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DF3F4F7-323B-768F-4931-A81D8E5C9926}"/>
              </a:ext>
            </a:extLst>
          </p:cNvPr>
          <p:cNvCxnSpPr>
            <a:cxnSpLocks/>
          </p:cNvCxnSpPr>
          <p:nvPr/>
        </p:nvCxnSpPr>
        <p:spPr>
          <a:xfrm flipH="1" flipV="1">
            <a:off x="6523003" y="-3763"/>
            <a:ext cx="596" cy="249167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12855E6-768E-01AE-CAB5-DF30B3DE9BA4}"/>
              </a:ext>
            </a:extLst>
          </p:cNvPr>
          <p:cNvCxnSpPr>
            <a:cxnSpLocks/>
          </p:cNvCxnSpPr>
          <p:nvPr/>
        </p:nvCxnSpPr>
        <p:spPr>
          <a:xfrm flipH="1" flipV="1">
            <a:off x="7833502" y="-3763"/>
            <a:ext cx="596" cy="249167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4951767-D288-D44E-758F-B6F276197AD2}"/>
              </a:ext>
            </a:extLst>
          </p:cNvPr>
          <p:cNvSpPr/>
          <p:nvPr/>
        </p:nvSpPr>
        <p:spPr>
          <a:xfrm>
            <a:off x="1331640" y="-247328"/>
            <a:ext cx="1264610" cy="1931839"/>
          </a:xfrm>
          <a:prstGeom prst="rect">
            <a:avLst/>
          </a:prstGeom>
          <a:solidFill>
            <a:srgbClr val="FFFFFF">
              <a:alpha val="6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ea"/>
              <a:ea typeface="+mj-ea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81E9FA3-9239-D346-2F8C-7EC4A0E54224}"/>
              </a:ext>
            </a:extLst>
          </p:cNvPr>
          <p:cNvCxnSpPr>
            <a:cxnSpLocks/>
          </p:cNvCxnSpPr>
          <p:nvPr/>
        </p:nvCxnSpPr>
        <p:spPr>
          <a:xfrm flipH="1" flipV="1">
            <a:off x="1331640" y="-236562"/>
            <a:ext cx="596" cy="249167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45" y="213463"/>
            <a:ext cx="1203878" cy="1190401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91E754AD-CB91-8988-3C00-49E8A8F6C2E1}"/>
              </a:ext>
            </a:extLst>
          </p:cNvPr>
          <p:cNvSpPr/>
          <p:nvPr/>
        </p:nvSpPr>
        <p:spPr>
          <a:xfrm>
            <a:off x="22683" y="2195837"/>
            <a:ext cx="9118114" cy="100602"/>
          </a:xfrm>
          <a:prstGeom prst="rect">
            <a:avLst/>
          </a:prstGeom>
          <a:solidFill>
            <a:srgbClr val="1025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7838"/>
            <a:ext cx="3131840" cy="5143500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0253F"/>
              </a:solidFill>
            </a:endParaRPr>
          </a:p>
        </p:txBody>
      </p:sp>
      <p:sp>
        <p:nvSpPr>
          <p:cNvPr id="14" name="文本框 38"/>
          <p:cNvSpPr txBox="1"/>
          <p:nvPr/>
        </p:nvSpPr>
        <p:spPr>
          <a:xfrm>
            <a:off x="163773" y="2347015"/>
            <a:ext cx="25781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1"/>
          <p:cNvSpPr txBox="1"/>
          <p:nvPr/>
        </p:nvSpPr>
        <p:spPr>
          <a:xfrm>
            <a:off x="1228995" y="1296274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7" name="文本框 18"/>
          <p:cNvSpPr txBox="1"/>
          <p:nvPr/>
        </p:nvSpPr>
        <p:spPr>
          <a:xfrm>
            <a:off x="4097937" y="1630364"/>
            <a:ext cx="1507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背景介绍 </a:t>
            </a:r>
            <a:endParaRPr lang="en-US" altLang="zh-CN" sz="2400" dirty="0"/>
          </a:p>
        </p:txBody>
      </p:sp>
      <p:grpSp>
        <p:nvGrpSpPr>
          <p:cNvPr id="35" name="组合 34"/>
          <p:cNvGrpSpPr/>
          <p:nvPr/>
        </p:nvGrpSpPr>
        <p:grpSpPr>
          <a:xfrm>
            <a:off x="3618344" y="1463698"/>
            <a:ext cx="555144" cy="707886"/>
            <a:chOff x="3618344" y="1947828"/>
            <a:chExt cx="555144" cy="707886"/>
          </a:xfrm>
        </p:grpSpPr>
        <p:sp>
          <p:nvSpPr>
            <p:cNvPr id="16" name="文本框 16"/>
            <p:cNvSpPr txBox="1"/>
            <p:nvPr/>
          </p:nvSpPr>
          <p:spPr>
            <a:xfrm>
              <a:off x="3618344" y="1947828"/>
              <a:ext cx="44435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dirty="0">
                  <a:solidFill>
                    <a:srgbClr val="10253F"/>
                  </a:solidFill>
                  <a:ea typeface="微软雅黑" panose="020B0503020204020204" pitchFamily="34" charset="-122"/>
                </a:rPr>
                <a:t>1</a:t>
              </a:r>
              <a:endParaRPr lang="zh-CN" altLang="en-US" sz="4000" dirty="0">
                <a:solidFill>
                  <a:srgbClr val="10253F"/>
                </a:solidFill>
                <a:ea typeface="微软雅黑" panose="020B0503020204020204" pitchFamily="34" charset="-122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 flipH="1">
              <a:off x="3923928" y="2119776"/>
              <a:ext cx="249560" cy="453828"/>
            </a:xfrm>
            <a:prstGeom prst="line">
              <a:avLst/>
            </a:prstGeom>
            <a:ln>
              <a:solidFill>
                <a:srgbClr val="102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文本框 21"/>
          <p:cNvSpPr txBox="1"/>
          <p:nvPr/>
        </p:nvSpPr>
        <p:spPr>
          <a:xfrm>
            <a:off x="6847834" y="2697188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altLang="zh-CN" sz="2400" dirty="0"/>
          </a:p>
        </p:txBody>
      </p:sp>
      <p:grpSp>
        <p:nvGrpSpPr>
          <p:cNvPr id="36" name="组合 35"/>
          <p:cNvGrpSpPr/>
          <p:nvPr/>
        </p:nvGrpSpPr>
        <p:grpSpPr>
          <a:xfrm>
            <a:off x="6372200" y="2544233"/>
            <a:ext cx="527410" cy="707886"/>
            <a:chOff x="6148064" y="1988460"/>
            <a:chExt cx="527410" cy="707886"/>
          </a:xfrm>
        </p:grpSpPr>
        <p:sp>
          <p:nvSpPr>
            <p:cNvPr id="19" name="文本框 20"/>
            <p:cNvSpPr txBox="1"/>
            <p:nvPr/>
          </p:nvSpPr>
          <p:spPr>
            <a:xfrm>
              <a:off x="6148064" y="1988460"/>
              <a:ext cx="44435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dirty="0">
                  <a:solidFill>
                    <a:srgbClr val="10253F"/>
                  </a:solidFill>
                  <a:ea typeface="微软雅黑" panose="020B0503020204020204" pitchFamily="34" charset="-122"/>
                </a:rPr>
                <a:t>4</a:t>
              </a:r>
              <a:endParaRPr lang="zh-CN" altLang="en-US" sz="4000" dirty="0">
                <a:solidFill>
                  <a:srgbClr val="10253F"/>
                </a:solidFill>
                <a:ea typeface="微软雅黑" panose="020B0503020204020204" pitchFamily="34" charset="-122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 flipH="1">
              <a:off x="6454748" y="2131055"/>
              <a:ext cx="220726" cy="466528"/>
            </a:xfrm>
            <a:prstGeom prst="line">
              <a:avLst/>
            </a:prstGeom>
            <a:ln>
              <a:solidFill>
                <a:srgbClr val="102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文本框 24"/>
          <p:cNvSpPr txBox="1"/>
          <p:nvPr/>
        </p:nvSpPr>
        <p:spPr>
          <a:xfrm>
            <a:off x="6847834" y="158656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方法原理</a:t>
            </a:r>
            <a:endParaRPr lang="zh-CN" altLang="en-US" sz="2400" dirty="0">
              <a:solidFill>
                <a:srgbClr val="10253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6378245" y="1468759"/>
            <a:ext cx="528248" cy="707886"/>
            <a:chOff x="3514455" y="2576069"/>
            <a:chExt cx="528248" cy="707886"/>
          </a:xfrm>
        </p:grpSpPr>
        <p:sp>
          <p:nvSpPr>
            <p:cNvPr id="22" name="文本框 23"/>
            <p:cNvSpPr txBox="1"/>
            <p:nvPr/>
          </p:nvSpPr>
          <p:spPr>
            <a:xfrm>
              <a:off x="3514455" y="2576069"/>
              <a:ext cx="44435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dirty="0">
                  <a:solidFill>
                    <a:srgbClr val="10253F"/>
                  </a:solidFill>
                  <a:ea typeface="微软雅黑" panose="020B0503020204020204" pitchFamily="34" charset="-122"/>
                </a:rPr>
                <a:t>2</a:t>
              </a:r>
              <a:endParaRPr lang="zh-CN" altLang="en-US" sz="4000" dirty="0">
                <a:solidFill>
                  <a:srgbClr val="10253F"/>
                </a:solidFill>
                <a:ea typeface="微软雅黑" panose="020B0503020204020204" pitchFamily="34" charset="-122"/>
              </a:endParaRPr>
            </a:p>
          </p:txBody>
        </p:sp>
        <p:cxnSp>
          <p:nvCxnSpPr>
            <p:cNvPr id="24" name="直接连接符 23"/>
            <p:cNvCxnSpPr/>
            <p:nvPr/>
          </p:nvCxnSpPr>
          <p:spPr>
            <a:xfrm flipH="1">
              <a:off x="3815094" y="2720082"/>
              <a:ext cx="227609" cy="482551"/>
            </a:xfrm>
            <a:prstGeom prst="line">
              <a:avLst/>
            </a:prstGeom>
            <a:ln>
              <a:solidFill>
                <a:srgbClr val="102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文本框 30"/>
          <p:cNvSpPr txBox="1"/>
          <p:nvPr/>
        </p:nvSpPr>
        <p:spPr>
          <a:xfrm>
            <a:off x="4053951" y="270297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实验验证</a:t>
            </a:r>
            <a:endParaRPr lang="en-US" altLang="zh-CN" sz="2400" dirty="0"/>
          </a:p>
        </p:txBody>
      </p:sp>
      <p:grpSp>
        <p:nvGrpSpPr>
          <p:cNvPr id="39" name="组合 38"/>
          <p:cNvGrpSpPr/>
          <p:nvPr/>
        </p:nvGrpSpPr>
        <p:grpSpPr>
          <a:xfrm>
            <a:off x="3619480" y="2544872"/>
            <a:ext cx="513561" cy="707886"/>
            <a:chOff x="3549573" y="3109514"/>
            <a:chExt cx="513561" cy="707886"/>
          </a:xfrm>
        </p:grpSpPr>
        <p:sp>
          <p:nvSpPr>
            <p:cNvPr id="28" name="文本框 29"/>
            <p:cNvSpPr txBox="1"/>
            <p:nvPr/>
          </p:nvSpPr>
          <p:spPr>
            <a:xfrm>
              <a:off x="3549573" y="3109514"/>
              <a:ext cx="44435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dirty="0">
                  <a:solidFill>
                    <a:srgbClr val="10253F"/>
                  </a:solidFill>
                  <a:ea typeface="微软雅黑" panose="020B0503020204020204" pitchFamily="34" charset="-122"/>
                </a:rPr>
                <a:t>3</a:t>
              </a:r>
              <a:endParaRPr lang="zh-CN" altLang="en-US" sz="4000" dirty="0">
                <a:solidFill>
                  <a:srgbClr val="10253F"/>
                </a:solidFill>
                <a:ea typeface="微软雅黑" panose="020B0503020204020204" pitchFamily="34" charset="-122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 flipH="1">
              <a:off x="3842514" y="3250840"/>
              <a:ext cx="220620" cy="485595"/>
            </a:xfrm>
            <a:prstGeom prst="line">
              <a:avLst/>
            </a:prstGeom>
            <a:ln>
              <a:solidFill>
                <a:srgbClr val="102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7 0.04121 L -6.25E-7 -3.33333E-6 " pathEditMode="relative" rAng="0" ptsTypes="AA">
                                      <p:cBhvr>
                                        <p:cTn id="16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6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7 0.0412 L -6.25E-7 2.96296E-6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6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7 0.0412 L -6.25E-7 -7.40741E-7 " pathEditMode="relative" rAng="0" ptsTypes="AA">
                                      <p:cBhvr>
                                        <p:cTn id="32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6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737 0.04121 L -6.25E-7 -3.33333E-6 " pathEditMode="relative" rAng="0" ptsTypes="AA">
                                      <p:cBhvr>
                                        <p:cTn id="40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  <p:bldP spid="20" grpId="0"/>
      <p:bldP spid="23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17"/>
          <p:cNvSpPr>
            <a:spLocks noGrp="1"/>
          </p:cNvSpPr>
          <p:nvPr>
            <p:ph type="body" sz="quarter" idx="11"/>
          </p:nvPr>
        </p:nvSpPr>
        <p:spPr>
          <a:xfrm>
            <a:off x="3682221" y="1365956"/>
            <a:ext cx="2473956" cy="914399"/>
          </a:xfrm>
        </p:spPr>
        <p:txBody>
          <a:bodyPr/>
          <a:lstStyle/>
          <a:p>
            <a:r>
              <a:rPr lang="en-US" altLang="zh-CN"/>
              <a:t>Background Introduction</a:t>
            </a:r>
            <a:endParaRPr lang="zh-CN" altLang="en-US" dirty="0">
              <a:ea typeface="微软雅黑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7" name="文本占位符 18"/>
          <p:cNvSpPr>
            <a:spLocks noGrp="1"/>
          </p:cNvSpPr>
          <p:nvPr>
            <p:ph type="body" sz="quarter" idx="12"/>
          </p:nvPr>
        </p:nvSpPr>
        <p:spPr>
          <a:xfrm>
            <a:off x="6156177" y="1516321"/>
            <a:ext cx="2473956" cy="613668"/>
          </a:xfrm>
        </p:spPr>
        <p:txBody>
          <a:bodyPr/>
          <a:lstStyle/>
          <a:p>
            <a:r>
              <a:rPr lang="zh-CN" altLang="en-US"/>
              <a:t>背景介绍</a:t>
            </a:r>
            <a:endParaRPr lang="zh-CN" altLang="en-US" dirty="0"/>
          </a:p>
        </p:txBody>
      </p:sp>
      <p:sp>
        <p:nvSpPr>
          <p:cNvPr id="8" name="文本占位符 19"/>
          <p:cNvSpPr>
            <a:spLocks noGrp="1"/>
          </p:cNvSpPr>
          <p:nvPr>
            <p:ph type="body" sz="quarter" idx="13"/>
          </p:nvPr>
        </p:nvSpPr>
        <p:spPr>
          <a:xfrm>
            <a:off x="3682220" y="2378298"/>
            <a:ext cx="2473957" cy="1345580"/>
          </a:xfrm>
        </p:spPr>
        <p:txBody>
          <a:bodyPr/>
          <a:lstStyle/>
          <a:p>
            <a:pPr marL="214630" indent="-214630"/>
            <a:r>
              <a:rPr lang="en-US" altLang="zh-CN"/>
              <a:t>研究场景与对象</a:t>
            </a:r>
          </a:p>
          <a:p>
            <a:pPr marL="214630" indent="-214630"/>
            <a:r>
              <a:rPr lang="zh-CN" altLang="en-US"/>
              <a:t>研究重要性</a:t>
            </a:r>
            <a:endParaRPr lang="en-US" altLang="zh-CN"/>
          </a:p>
          <a:p>
            <a:pPr marL="214630" indent="-214630"/>
            <a:r>
              <a:rPr lang="zh-CN" altLang="en-US"/>
              <a:t>相关研究对比</a:t>
            </a:r>
            <a:endParaRPr lang="en-US" altLang="zh-CN"/>
          </a:p>
          <a:p>
            <a:pPr marL="214630" indent="-214630"/>
            <a:r>
              <a:rPr lang="zh-CN" altLang="en-US"/>
              <a:t>研究挑战与</a:t>
            </a:r>
            <a:r>
              <a:rPr lang="zh-CN" altLang="en-US" dirty="0"/>
              <a:t>创新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9" name="文本占位符 16"/>
          <p:cNvSpPr>
            <a:spLocks noGrp="1"/>
          </p:cNvSpPr>
          <p:nvPr>
            <p:ph type="body" sz="quarter" idx="10"/>
          </p:nvPr>
        </p:nvSpPr>
        <p:spPr>
          <a:xfrm>
            <a:off x="1007842" y="1463898"/>
            <a:ext cx="1949971" cy="914400"/>
          </a:xfrm>
        </p:spPr>
        <p:txBody>
          <a:bodyPr/>
          <a:lstStyle/>
          <a:p>
            <a:r>
              <a:rPr lang="zh-CN" altLang="en-US" dirty="0"/>
              <a:t>第一部分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EB08E38-7850-0D2E-2820-DBB261A25866}"/>
              </a:ext>
            </a:extLst>
          </p:cNvPr>
          <p:cNvSpPr/>
          <p:nvPr/>
        </p:nvSpPr>
        <p:spPr>
          <a:xfrm>
            <a:off x="0" y="27063"/>
            <a:ext cx="9144000" cy="687167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23528" y="822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研究场景与对象：网站里的 AI 客服插件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23528" y="1491630"/>
            <a:ext cx="4663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6408" y="160135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插件通信架构</a:t>
            </a:r>
            <a:endParaRPr lang="en-US" sz="1200" dirty="0"/>
          </a:p>
        </p:txBody>
      </p:sp>
      <p:pic>
        <p:nvPicPr>
          <p:cNvPr id="11" name="Image 0" descr="c:/Users/Administrator/.trae-cn/work/6aba100b5b63b97f088c9295/assets/fig1_comm_flow_1026x3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28" y="2047899"/>
            <a:ext cx="4206240" cy="128319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6408" y="3539886"/>
            <a:ext cx="4297680" cy="512064"/>
          </a:xfrm>
          <a:prstGeom prst="roundRect">
            <a:avLst>
              <a:gd name="adj" fmla="val 10714"/>
            </a:avLst>
          </a:prstGeom>
          <a:solidFill>
            <a:srgbClr val="EDF4FB"/>
          </a:solidFill>
          <a:ln/>
        </p:spPr>
      </p:sp>
      <p:sp>
        <p:nvSpPr>
          <p:cNvPr id="13" name="Text 9"/>
          <p:cNvSpPr/>
          <p:nvPr/>
        </p:nvSpPr>
        <p:spPr>
          <a:xfrm>
            <a:off x="616136" y="3585606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类型① WordPress插件：</a:t>
            </a:r>
            <a:r>
              <a:rPr lang="en-US" sz="105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网站后端直连LLM服务商，站长自配API Key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6408" y="4106814"/>
            <a:ext cx="4297680" cy="512064"/>
          </a:xfrm>
          <a:prstGeom prst="roundRect">
            <a:avLst>
              <a:gd name="adj" fmla="val 10714"/>
            </a:avLst>
          </a:prstGeom>
          <a:solidFill>
            <a:srgbClr val="FDF1E7"/>
          </a:solidFill>
          <a:ln/>
        </p:spPr>
      </p:sp>
      <p:sp>
        <p:nvSpPr>
          <p:cNvPr id="15" name="Text 11"/>
          <p:cNvSpPr/>
          <p:nvPr/>
        </p:nvSpPr>
        <p:spPr>
          <a:xfrm>
            <a:off x="616136" y="4152534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类型② 通用商业插件：</a:t>
            </a:r>
            <a:r>
              <a:rPr lang="en-US" sz="105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插件商当中间商代管API，月费订阅、开箱即用</a:t>
            </a:r>
            <a:endParaRPr lang="en-US" sz="105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6DED7C0-5537-D3FC-5E04-E6B00AAB023F}"/>
              </a:ext>
            </a:extLst>
          </p:cNvPr>
          <p:cNvGrpSpPr/>
          <p:nvPr/>
        </p:nvGrpSpPr>
        <p:grpSpPr>
          <a:xfrm>
            <a:off x="5215568" y="1656222"/>
            <a:ext cx="3337560" cy="2871216"/>
            <a:chOff x="5215568" y="1491630"/>
            <a:chExt cx="3337560" cy="2871216"/>
          </a:xfrm>
        </p:grpSpPr>
        <p:sp>
          <p:nvSpPr>
            <p:cNvPr id="16" name="Shape 12"/>
            <p:cNvSpPr/>
            <p:nvPr/>
          </p:nvSpPr>
          <p:spPr>
            <a:xfrm>
              <a:off x="5215568" y="1491630"/>
              <a:ext cx="3337560" cy="896112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12700">
              <a:solidFill>
                <a:srgbClr val="C9D6E3"/>
              </a:solidFill>
              <a:prstDash val="solid"/>
            </a:ln>
            <a:effectLst>
              <a:outerShdw blurRad="76200" dist="25400" dir="5400000" algn="bl" rotWithShape="0">
                <a:srgbClr val="16324F">
                  <a:alpha val="10000"/>
                </a:srgbClr>
              </a:outerShdw>
            </a:effectLst>
          </p:spPr>
        </p:sp>
        <p:sp>
          <p:nvSpPr>
            <p:cNvPr id="17" name="Shape 13"/>
            <p:cNvSpPr/>
            <p:nvPr/>
          </p:nvSpPr>
          <p:spPr>
            <a:xfrm>
              <a:off x="5343584" y="1711086"/>
              <a:ext cx="457200" cy="457200"/>
            </a:xfrm>
            <a:prstGeom prst="ellipse">
              <a:avLst/>
            </a:prstGeom>
            <a:solidFill>
              <a:srgbClr val="EDF4FB"/>
            </a:solidFill>
            <a:ln/>
          </p:spPr>
        </p:sp>
        <p:sp>
          <p:nvSpPr>
            <p:cNvPr id="18" name="Text 14"/>
            <p:cNvSpPr/>
            <p:nvPr/>
          </p:nvSpPr>
          <p:spPr>
            <a:xfrm>
              <a:off x="5343584" y="1756806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🏪</a:t>
              </a:r>
              <a:endParaRPr lang="en-US" sz="1600" dirty="0"/>
            </a:p>
          </p:txBody>
        </p:sp>
        <p:sp>
          <p:nvSpPr>
            <p:cNvPr id="19" name="Text 15"/>
            <p:cNvSpPr/>
            <p:nvPr/>
          </p:nvSpPr>
          <p:spPr>
            <a:xfrm>
              <a:off x="5910512" y="158307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16324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研究对象</a:t>
              </a:r>
              <a:r>
                <a:rPr lang="zh-CN" altLang="en-US" sz="1200" b="1">
                  <a:solidFill>
                    <a:srgbClr val="16324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是什么</a:t>
              </a:r>
              <a:r>
                <a:rPr lang="en-US" sz="1200" b="1">
                  <a:solidFill>
                    <a:srgbClr val="16324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？</a:t>
              </a:r>
              <a:endParaRPr lang="en-US" sz="1200" dirty="0"/>
            </a:p>
          </p:txBody>
        </p:sp>
        <p:sp>
          <p:nvSpPr>
            <p:cNvPr id="20" name="Text 16"/>
            <p:cNvSpPr/>
            <p:nvPr/>
          </p:nvSpPr>
          <p:spPr>
            <a:xfrm>
              <a:off x="5910512" y="1857390"/>
              <a:ext cx="2523744" cy="475488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 fontScale="92500"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F2A3D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基于 LLM 的网页客服聊天机器人：嵌入电商、政府、大学等公开网站</a:t>
              </a:r>
              <a:r>
                <a:rPr lang="en-US" sz="950">
                  <a:solidFill>
                    <a:srgbClr val="1F2A3D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，由第三方插件搭建</a:t>
              </a:r>
              <a:endParaRPr lang="en-US" sz="950" dirty="0"/>
            </a:p>
          </p:txBody>
        </p:sp>
        <p:sp>
          <p:nvSpPr>
            <p:cNvPr id="21" name="Shape 17"/>
            <p:cNvSpPr/>
            <p:nvPr/>
          </p:nvSpPr>
          <p:spPr>
            <a:xfrm>
              <a:off x="5215568" y="2479182"/>
              <a:ext cx="3337560" cy="896112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12700">
              <a:solidFill>
                <a:srgbClr val="C9D6E3"/>
              </a:solidFill>
              <a:prstDash val="solid"/>
            </a:ln>
            <a:effectLst>
              <a:outerShdw blurRad="76200" dist="25400" dir="5400000" algn="bl" rotWithShape="0">
                <a:srgbClr val="16324F">
                  <a:alpha val="10000"/>
                </a:srgbClr>
              </a:outerShdw>
            </a:effectLst>
          </p:spPr>
        </p:sp>
        <p:sp>
          <p:nvSpPr>
            <p:cNvPr id="22" name="Shape 18"/>
            <p:cNvSpPr/>
            <p:nvPr/>
          </p:nvSpPr>
          <p:spPr>
            <a:xfrm>
              <a:off x="5343584" y="2698638"/>
              <a:ext cx="457200" cy="457200"/>
            </a:xfrm>
            <a:prstGeom prst="ellipse">
              <a:avLst/>
            </a:prstGeom>
            <a:solidFill>
              <a:srgbClr val="FDF1E7"/>
            </a:solidFill>
            <a:ln/>
          </p:spPr>
        </p:sp>
        <p:sp>
          <p:nvSpPr>
            <p:cNvPr id="23" name="Text 19"/>
            <p:cNvSpPr/>
            <p:nvPr/>
          </p:nvSpPr>
          <p:spPr>
            <a:xfrm>
              <a:off x="5343584" y="2744358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🧩</a:t>
              </a:r>
              <a:endParaRPr lang="en-US" sz="1600" dirty="0"/>
            </a:p>
          </p:txBody>
        </p:sp>
        <p:sp>
          <p:nvSpPr>
            <p:cNvPr id="24" name="Text 20"/>
            <p:cNvSpPr/>
            <p:nvPr/>
          </p:nvSpPr>
          <p:spPr>
            <a:xfrm>
              <a:off x="5910512" y="2570622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6324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插件扮演什么角色？</a:t>
              </a:r>
              <a:endParaRPr lang="en-US" sz="1200" dirty="0"/>
            </a:p>
          </p:txBody>
        </p:sp>
        <p:sp>
          <p:nvSpPr>
            <p:cNvPr id="25" name="Text 21"/>
            <p:cNvSpPr/>
            <p:nvPr/>
          </p:nvSpPr>
          <p:spPr>
            <a:xfrm>
              <a:off x="5910512" y="2844942"/>
              <a:ext cx="2523744" cy="475488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 fontScale="92500" lnSpcReduction="10000"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F2A3D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充当建站者与商用LLM API之间的“中间层”：负责会话传输、系统提示词、RAG知识库与工具接入</a:t>
              </a:r>
              <a:endParaRPr lang="en-US" sz="950" dirty="0"/>
            </a:p>
          </p:txBody>
        </p:sp>
        <p:sp>
          <p:nvSpPr>
            <p:cNvPr id="26" name="Shape 22"/>
            <p:cNvSpPr/>
            <p:nvPr/>
          </p:nvSpPr>
          <p:spPr>
            <a:xfrm>
              <a:off x="5215568" y="3466734"/>
              <a:ext cx="3337560" cy="896112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12700">
              <a:solidFill>
                <a:srgbClr val="C9D6E3"/>
              </a:solidFill>
              <a:prstDash val="solid"/>
            </a:ln>
            <a:effectLst>
              <a:outerShdw blurRad="76200" dist="25400" dir="5400000" algn="bl" rotWithShape="0">
                <a:srgbClr val="16324F">
                  <a:alpha val="10000"/>
                </a:srgbClr>
              </a:outerShdw>
            </a:effectLst>
          </p:spPr>
        </p:sp>
        <p:sp>
          <p:nvSpPr>
            <p:cNvPr id="27" name="Shape 23"/>
            <p:cNvSpPr/>
            <p:nvPr/>
          </p:nvSpPr>
          <p:spPr>
            <a:xfrm>
              <a:off x="5343584" y="3686190"/>
              <a:ext cx="457200" cy="457200"/>
            </a:xfrm>
            <a:prstGeom prst="ellipse">
              <a:avLst/>
            </a:prstGeom>
            <a:solidFill>
              <a:srgbClr val="EDF4FB"/>
            </a:solidFill>
            <a:ln/>
          </p:spPr>
        </p:sp>
        <p:sp>
          <p:nvSpPr>
            <p:cNvPr id="28" name="Text 24"/>
            <p:cNvSpPr/>
            <p:nvPr/>
          </p:nvSpPr>
          <p:spPr>
            <a:xfrm>
              <a:off x="5343584" y="3731910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👷</a:t>
              </a:r>
              <a:endParaRPr lang="en-US" sz="1600" dirty="0"/>
            </a:p>
          </p:txBody>
        </p:sp>
        <p:sp>
          <p:nvSpPr>
            <p:cNvPr id="29" name="Text 25"/>
            <p:cNvSpPr/>
            <p:nvPr/>
          </p:nvSpPr>
          <p:spPr>
            <a:xfrm>
              <a:off x="5910512" y="3558174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6324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使用者是谁？</a:t>
              </a:r>
              <a:endParaRPr lang="en-US" sz="1200" dirty="0"/>
            </a:p>
          </p:txBody>
        </p:sp>
        <p:sp>
          <p:nvSpPr>
            <p:cNvPr id="30" name="Text 26"/>
            <p:cNvSpPr/>
            <p:nvPr/>
          </p:nvSpPr>
          <p:spPr>
            <a:xfrm>
              <a:off x="5910512" y="3832494"/>
              <a:ext cx="2523744" cy="475488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 fontScale="92500" lnSpcReduction="10000"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F2A3D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大量非安全专业背景的中小建站者：低成本、低门槛上线AI客服，却无力评估与维护其安全性</a:t>
              </a:r>
              <a:endParaRPr lang="en-US" sz="950" dirty="0"/>
            </a:p>
          </p:txBody>
        </p:sp>
      </p:grp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37C5B966-E0BD-FDAE-3F3F-4376A8830453}"/>
              </a:ext>
            </a:extLst>
          </p:cNvPr>
          <p:cNvSpPr txBox="1">
            <a:spLocks/>
          </p:cNvSpPr>
          <p:nvPr/>
        </p:nvSpPr>
        <p:spPr>
          <a:xfrm>
            <a:off x="323528" y="191630"/>
            <a:ext cx="1975928" cy="35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EB08E38-7850-0D2E-2820-DBB261A25866}"/>
              </a:ext>
            </a:extLst>
          </p:cNvPr>
          <p:cNvSpPr/>
          <p:nvPr/>
        </p:nvSpPr>
        <p:spPr>
          <a:xfrm>
            <a:off x="0" y="27063"/>
            <a:ext cx="9144000" cy="687167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37C5B966-E0BD-FDAE-3F3F-4376A8830453}"/>
              </a:ext>
            </a:extLst>
          </p:cNvPr>
          <p:cNvSpPr txBox="1">
            <a:spLocks/>
          </p:cNvSpPr>
          <p:nvPr/>
        </p:nvSpPr>
        <p:spPr>
          <a:xfrm>
            <a:off x="323528" y="191630"/>
            <a:ext cx="1975928" cy="35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333CCC35-2849-70CE-BFCD-27BF23EA962E}"/>
              </a:ext>
            </a:extLst>
          </p:cNvPr>
          <p:cNvSpPr/>
          <p:nvPr/>
        </p:nvSpPr>
        <p:spPr>
          <a:xfrm>
            <a:off x="323528" y="80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研究重要性：一个被忽视但爆发式增长的生态</a:t>
            </a:r>
            <a:endParaRPr lang="en-US" sz="240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B7913014-DD1E-2B6A-D475-3E421AB336CA}"/>
              </a:ext>
            </a:extLst>
          </p:cNvPr>
          <p:cNvSpPr/>
          <p:nvPr/>
        </p:nvSpPr>
        <p:spPr>
          <a:xfrm>
            <a:off x="306355" y="1495975"/>
            <a:ext cx="193395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FB6A7B65-59F4-AC35-86A9-BBD60B1E16F0}"/>
              </a:ext>
            </a:extLst>
          </p:cNvPr>
          <p:cNvSpPr/>
          <p:nvPr/>
        </p:nvSpPr>
        <p:spPr>
          <a:xfrm>
            <a:off x="306355" y="1495975"/>
            <a:ext cx="1933956" cy="6400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9CE61DCA-063D-1725-70A3-F05B33424D67}"/>
              </a:ext>
            </a:extLst>
          </p:cNvPr>
          <p:cNvSpPr/>
          <p:nvPr/>
        </p:nvSpPr>
        <p:spPr>
          <a:xfrm>
            <a:off x="416083" y="1623991"/>
            <a:ext cx="17145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10,417</a:t>
            </a: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个网站</a:t>
            </a:r>
            <a:endParaRPr lang="en-US" sz="21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8143936C-D6D4-6948-E41A-5586F8A6643A}"/>
              </a:ext>
            </a:extLst>
          </p:cNvPr>
          <p:cNvSpPr/>
          <p:nvPr/>
        </p:nvSpPr>
        <p:spPr>
          <a:xfrm>
            <a:off x="416082" y="2044615"/>
            <a:ext cx="1779653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部署聊天插件</a:t>
            </a:r>
            <a:r>
              <a:rPr lang="en-US" sz="90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（2024-08）</a:t>
            </a:r>
            <a:endParaRPr lang="en-US" sz="900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999D6995-C325-ABE8-7DBC-B287536FDFD5}"/>
              </a:ext>
            </a:extLst>
          </p:cNvPr>
          <p:cNvSpPr/>
          <p:nvPr/>
        </p:nvSpPr>
        <p:spPr>
          <a:xfrm>
            <a:off x="2404903" y="1495975"/>
            <a:ext cx="193395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848F82F8-080A-FF35-FF76-947B18AE5B01}"/>
              </a:ext>
            </a:extLst>
          </p:cNvPr>
          <p:cNvSpPr/>
          <p:nvPr/>
        </p:nvSpPr>
        <p:spPr>
          <a:xfrm>
            <a:off x="2404903" y="1495975"/>
            <a:ext cx="1933956" cy="640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B9E6CADF-EDD6-3EA4-FD00-7FBD36200D23}"/>
              </a:ext>
            </a:extLst>
          </p:cNvPr>
          <p:cNvSpPr/>
          <p:nvPr/>
        </p:nvSpPr>
        <p:spPr>
          <a:xfrm>
            <a:off x="2514631" y="1623991"/>
            <a:ext cx="17145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r>
              <a:rPr lang="en-US" sz="11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款插件</a:t>
            </a:r>
            <a:endParaRPr lang="en-US" sz="21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9AF27CCB-6345-83AD-CC89-23701E8A7908}"/>
              </a:ext>
            </a:extLst>
          </p:cNvPr>
          <p:cNvSpPr/>
          <p:nvPr/>
        </p:nvSpPr>
        <p:spPr>
          <a:xfrm>
            <a:off x="2514630" y="2044615"/>
            <a:ext cx="1769337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r>
              <a:rPr lang="en-US" sz="90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款WordPress+10</a:t>
            </a: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款通用商业</a:t>
            </a:r>
            <a:endParaRPr lang="en-US" sz="900" dirty="0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A85B81CA-1410-00E7-9230-514CF63B3F7F}"/>
              </a:ext>
            </a:extLst>
          </p:cNvPr>
          <p:cNvSpPr/>
          <p:nvPr/>
        </p:nvSpPr>
        <p:spPr>
          <a:xfrm>
            <a:off x="4503451" y="1495975"/>
            <a:ext cx="193395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F6BD3A6E-82E1-1F86-21D6-D718D68DE0D2}"/>
              </a:ext>
            </a:extLst>
          </p:cNvPr>
          <p:cNvSpPr/>
          <p:nvPr/>
        </p:nvSpPr>
        <p:spPr>
          <a:xfrm>
            <a:off x="4503451" y="1495975"/>
            <a:ext cx="1933956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B79FE87D-4830-D195-DD54-53C73A65F579}"/>
              </a:ext>
            </a:extLst>
          </p:cNvPr>
          <p:cNvSpPr/>
          <p:nvPr/>
        </p:nvSpPr>
        <p:spPr>
          <a:xfrm>
            <a:off x="4613179" y="1623991"/>
            <a:ext cx="17145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</a:t>
            </a: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半年增长</a:t>
            </a:r>
            <a:endParaRPr lang="en-US" sz="2100" dirty="0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FBBAA358-8725-0F28-101D-401720ACE26B}"/>
              </a:ext>
            </a:extLst>
          </p:cNvPr>
          <p:cNvSpPr/>
          <p:nvPr/>
        </p:nvSpPr>
        <p:spPr>
          <a:xfrm>
            <a:off x="4613179" y="2044615"/>
            <a:ext cx="17145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4个月内增至</a:t>
            </a:r>
            <a:r>
              <a:rPr lang="en-US" sz="90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17,474个站点</a:t>
            </a:r>
            <a:endParaRPr lang="en-US" sz="900" dirty="0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81CE6224-ADA2-B066-6790-069ECD6F443E}"/>
              </a:ext>
            </a:extLst>
          </p:cNvPr>
          <p:cNvSpPr/>
          <p:nvPr/>
        </p:nvSpPr>
        <p:spPr>
          <a:xfrm>
            <a:off x="6601999" y="1495975"/>
            <a:ext cx="193395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B82D963D-BB02-E71A-ACD5-9F70917036B7}"/>
              </a:ext>
            </a:extLst>
          </p:cNvPr>
          <p:cNvSpPr/>
          <p:nvPr/>
        </p:nvSpPr>
        <p:spPr>
          <a:xfrm>
            <a:off x="6601999" y="1495975"/>
            <a:ext cx="1933956" cy="640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6E1781A4-07DD-8613-2A2B-418D062CD912}"/>
              </a:ext>
            </a:extLst>
          </p:cNvPr>
          <p:cNvSpPr/>
          <p:nvPr/>
        </p:nvSpPr>
        <p:spPr>
          <a:xfrm>
            <a:off x="6711727" y="1623991"/>
            <a:ext cx="17145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r>
              <a:rPr lang="en-US" sz="11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Top-1M</a:t>
            </a:r>
            <a:endParaRPr lang="en-US" sz="21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BBCBEA99-081B-C2B0-DEAF-BB1A2A7EBB0D}"/>
              </a:ext>
            </a:extLst>
          </p:cNvPr>
          <p:cNvSpPr/>
          <p:nvPr/>
        </p:nvSpPr>
        <p:spPr>
          <a:xfrm>
            <a:off x="6711727" y="2044615"/>
            <a:ext cx="17145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进入Tranco全球前100万榜单</a:t>
            </a:r>
            <a:endParaRPr lang="en-US" sz="900" dirty="0"/>
          </a:p>
        </p:txBody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C3388C37-4B36-6117-1640-D1A5761198E0}"/>
              </a:ext>
            </a:extLst>
          </p:cNvPr>
          <p:cNvSpPr/>
          <p:nvPr/>
        </p:nvSpPr>
        <p:spPr>
          <a:xfrm>
            <a:off x="323528" y="2892958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8BC5F251-68BC-D4E8-DDC6-727265D2A04C}"/>
              </a:ext>
            </a:extLst>
          </p:cNvPr>
          <p:cNvSpPr/>
          <p:nvPr/>
        </p:nvSpPr>
        <p:spPr>
          <a:xfrm>
            <a:off x="488120" y="298439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生态增长趋势</a:t>
            </a:r>
            <a:endParaRPr lang="en-US" sz="1150" dirty="0"/>
          </a:p>
        </p:txBody>
      </p:sp>
      <p:pic>
        <p:nvPicPr>
          <p:cNvPr id="48" name="Image 0" descr="c:/Users/Administrator/.trae-cn/work/6aba100b5b63b97f088c9295/assets/fig2_trends_1042x313.png">
            <a:extLst>
              <a:ext uri="{FF2B5EF4-FFF2-40B4-BE49-F238E27FC236}">
                <a16:creationId xmlns:a16="http://schemas.microsoft.com/office/drawing/2014/main" id="{3BE74909-181F-52A0-D8C1-8B64E214E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08" y="3301248"/>
            <a:ext cx="4709160" cy="1414556"/>
          </a:xfrm>
          <a:prstGeom prst="rect">
            <a:avLst/>
          </a:prstGeom>
        </p:spPr>
      </p:pic>
      <p:sp>
        <p:nvSpPr>
          <p:cNvPr id="49" name="Shape 24">
            <a:extLst>
              <a:ext uri="{FF2B5EF4-FFF2-40B4-BE49-F238E27FC236}">
                <a16:creationId xmlns:a16="http://schemas.microsoft.com/office/drawing/2014/main" id="{D94BE055-3A10-6CC7-DC3B-886C928DEFE7}"/>
              </a:ext>
            </a:extLst>
          </p:cNvPr>
          <p:cNvSpPr/>
          <p:nvPr/>
        </p:nvSpPr>
        <p:spPr>
          <a:xfrm>
            <a:off x="5581328" y="2892958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16324F"/>
          </a:solidFill>
          <a:ln/>
        </p:spPr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CA321969-F740-F7B4-1768-55FDF9EC6793}"/>
              </a:ext>
            </a:extLst>
          </p:cNvPr>
          <p:cNvSpPr/>
          <p:nvPr/>
        </p:nvSpPr>
        <p:spPr>
          <a:xfrm>
            <a:off x="5764208" y="302097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必要性</a:t>
            </a:r>
            <a:endParaRPr lang="en-US" sz="1200" dirty="0"/>
          </a:p>
        </p:txBody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725845AD-2F77-00BC-8277-D2181E112B1A}"/>
              </a:ext>
            </a:extLst>
          </p:cNvPr>
          <p:cNvSpPr/>
          <p:nvPr/>
        </p:nvSpPr>
        <p:spPr>
          <a:xfrm>
            <a:off x="5764208" y="335015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950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部署量自2023年起近似线性增长，ChatGPT发布后域名注册量激增</a:t>
            </a:r>
            <a:endParaRPr lang="en-US" sz="950" dirty="0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459D6077-99B6-E3AC-8CAD-02B8D74E990D}"/>
              </a:ext>
            </a:extLst>
          </p:cNvPr>
          <p:cNvSpPr/>
          <p:nvPr/>
        </p:nvSpPr>
        <p:spPr>
          <a:xfrm>
            <a:off x="5764208" y="371591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950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覆盖政府、大学、机场、医疗等高价值站点，一旦被攻破影响面广</a:t>
            </a:r>
            <a:endParaRPr lang="en-US" sz="950" dirty="0"/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C6B99EE7-3550-549E-487B-2DCFD7AB24B1}"/>
              </a:ext>
            </a:extLst>
          </p:cNvPr>
          <p:cNvSpPr/>
          <p:nvPr/>
        </p:nvSpPr>
        <p:spPr>
          <a:xfrm>
            <a:off x="5764208" y="408167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950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62.5%的站点聊天机器人仍可正常工作 → 真实可攻击面巨大</a:t>
            </a:r>
            <a:endParaRPr lang="en-US" sz="950" dirty="0"/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23715402-97A1-8109-BB1A-8CAC885847C9}"/>
              </a:ext>
            </a:extLst>
          </p:cNvPr>
          <p:cNvSpPr/>
          <p:nvPr/>
        </p:nvSpPr>
        <p:spPr>
          <a:xfrm>
            <a:off x="5764208" y="444743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950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生态尚在早期，正是介入安全研究的窗口期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4281106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EB08E38-7850-0D2E-2820-DBB261A25866}"/>
              </a:ext>
            </a:extLst>
          </p:cNvPr>
          <p:cNvSpPr/>
          <p:nvPr/>
        </p:nvSpPr>
        <p:spPr>
          <a:xfrm>
            <a:off x="0" y="27063"/>
            <a:ext cx="9144000" cy="687167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37C5B966-E0BD-FDAE-3F3F-4376A8830453}"/>
              </a:ext>
            </a:extLst>
          </p:cNvPr>
          <p:cNvSpPr txBox="1">
            <a:spLocks/>
          </p:cNvSpPr>
          <p:nvPr/>
        </p:nvSpPr>
        <p:spPr>
          <a:xfrm>
            <a:off x="323528" y="191630"/>
            <a:ext cx="1975928" cy="35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745B901A-2826-760E-E8E2-AF9A00852D0E}"/>
              </a:ext>
            </a:extLst>
          </p:cNvPr>
          <p:cNvSpPr/>
          <p:nvPr/>
        </p:nvSpPr>
        <p:spPr>
          <a:xfrm>
            <a:off x="457200" y="1635646"/>
            <a:ext cx="2609088" cy="278892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82A46C1-E0F1-23A4-3720-928BB3F0479B}"/>
              </a:ext>
            </a:extLst>
          </p:cNvPr>
          <p:cNvSpPr/>
          <p:nvPr/>
        </p:nvSpPr>
        <p:spPr>
          <a:xfrm>
            <a:off x="457200" y="1635646"/>
            <a:ext cx="2609088" cy="640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B7A6FB9-4FEE-20DB-4BA7-72F39FD32949}"/>
              </a:ext>
            </a:extLst>
          </p:cNvPr>
          <p:cNvSpPr/>
          <p:nvPr/>
        </p:nvSpPr>
        <p:spPr>
          <a:xfrm>
            <a:off x="603504" y="178195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8F5D9D7-1FD9-7015-71BF-7EADACA3D3DD}"/>
              </a:ext>
            </a:extLst>
          </p:cNvPr>
          <p:cNvSpPr/>
          <p:nvPr/>
        </p:nvSpPr>
        <p:spPr>
          <a:xfrm>
            <a:off x="603504" y="178195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 A</a:t>
            </a:r>
            <a:endParaRPr lang="en-US" sz="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0288200-3E20-BD33-E097-9D86DBFAC0BD}"/>
              </a:ext>
            </a:extLst>
          </p:cNvPr>
          <p:cNvSpPr/>
          <p:nvPr/>
        </p:nvSpPr>
        <p:spPr>
          <a:xfrm>
            <a:off x="1353312" y="1772806"/>
            <a:ext cx="160324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Web 插件安全研究</a:t>
            </a:r>
            <a:endParaRPr lang="en-US" sz="12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6AFD579-796F-27BF-A2DA-3C7E5E89F9CD}"/>
              </a:ext>
            </a:extLst>
          </p:cNvPr>
          <p:cNvSpPr/>
          <p:nvPr/>
        </p:nvSpPr>
        <p:spPr>
          <a:xfrm>
            <a:off x="621792" y="2147710"/>
            <a:ext cx="22799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5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 WordPress 生态的 XSS、SQL注入、CSRF、RCE 等传统漏洞</a:t>
            </a:r>
            <a:endParaRPr lang="en-US" sz="9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62CF82-CD3D-0CAF-F3AF-84A56A3B4BC3}"/>
              </a:ext>
            </a:extLst>
          </p:cNvPr>
          <p:cNvSpPr/>
          <p:nvPr/>
        </p:nvSpPr>
        <p:spPr>
          <a:xfrm>
            <a:off x="621792" y="2659774"/>
            <a:ext cx="22799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5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结论一致：插件流行 ≠ 安全，恶意插件大量存在</a:t>
            </a:r>
            <a:endParaRPr lang="en-US" sz="9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99883D4-9768-2918-FEFB-EBA4E03BECBA}"/>
              </a:ext>
            </a:extLst>
          </p:cNvPr>
          <p:cNvSpPr/>
          <p:nvPr/>
        </p:nvSpPr>
        <p:spPr>
          <a:xfrm>
            <a:off x="621792" y="3171838"/>
            <a:ext cx="22799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5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代表：漏洞库统计分析、插件质量与评分研究</a:t>
            </a:r>
            <a:endParaRPr lang="en-US" sz="9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F8C5E67-C81E-8C02-2A15-C8C0B19A07B9}"/>
              </a:ext>
            </a:extLst>
          </p:cNvPr>
          <p:cNvSpPr/>
          <p:nvPr/>
        </p:nvSpPr>
        <p:spPr>
          <a:xfrm>
            <a:off x="603504" y="3720478"/>
            <a:ext cx="2316480" cy="603504"/>
          </a:xfrm>
          <a:prstGeom prst="roundRect">
            <a:avLst>
              <a:gd name="adj" fmla="val 7576"/>
            </a:avLst>
          </a:prstGeom>
          <a:solidFill>
            <a:srgbClr val="EDF4FB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2C35B31-E70E-2390-3CB3-04D022F38094}"/>
              </a:ext>
            </a:extLst>
          </p:cNvPr>
          <p:cNvSpPr/>
          <p:nvPr/>
        </p:nvSpPr>
        <p:spPr>
          <a:xfrm>
            <a:off x="694944" y="3766198"/>
            <a:ext cx="2133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优势：覆盖广、工具成熟
</a:t>
            </a: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不足：完全没有考虑 AI / LLM 带来的新攻击面</a:t>
            </a:r>
            <a:endParaRPr lang="en-US" sz="9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2A73EEB-7B7B-ABB0-B826-E3BF5BB26D43}"/>
              </a:ext>
            </a:extLst>
          </p:cNvPr>
          <p:cNvSpPr/>
          <p:nvPr/>
        </p:nvSpPr>
        <p:spPr>
          <a:xfrm>
            <a:off x="3267456" y="1635646"/>
            <a:ext cx="2609088" cy="278892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A8C567F-50A0-D758-E2EA-5CDB5B3E3E8F}"/>
              </a:ext>
            </a:extLst>
          </p:cNvPr>
          <p:cNvSpPr/>
          <p:nvPr/>
        </p:nvSpPr>
        <p:spPr>
          <a:xfrm>
            <a:off x="3267456" y="1635646"/>
            <a:ext cx="2609088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1690B52-A006-C3D7-6AEE-0846538ACC68}"/>
              </a:ext>
            </a:extLst>
          </p:cNvPr>
          <p:cNvSpPr/>
          <p:nvPr/>
        </p:nvSpPr>
        <p:spPr>
          <a:xfrm>
            <a:off x="3413760" y="178195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0A14F00-1678-E8E6-D68D-18171238FF6E}"/>
              </a:ext>
            </a:extLst>
          </p:cNvPr>
          <p:cNvSpPr/>
          <p:nvPr/>
        </p:nvSpPr>
        <p:spPr>
          <a:xfrm>
            <a:off x="3413760" y="178195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 B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76ECC79-C50E-4016-AC56-57A063F7ABD9}"/>
              </a:ext>
            </a:extLst>
          </p:cNvPr>
          <p:cNvSpPr/>
          <p:nvPr/>
        </p:nvSpPr>
        <p:spPr>
          <a:xfrm>
            <a:off x="4163568" y="1772806"/>
            <a:ext cx="160324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提示注入攻击与防御</a:t>
            </a:r>
            <a:endParaRPr lang="en-US" sz="12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1442C75-8AAD-76EF-0A2B-BF38A51F4F12}"/>
              </a:ext>
            </a:extLst>
          </p:cNvPr>
          <p:cNvSpPr/>
          <p:nvPr/>
        </p:nvSpPr>
        <p:spPr>
          <a:xfrm>
            <a:off x="3432048" y="2147710"/>
            <a:ext cx="22799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5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攻击：直接注入篡改用户输入；间接注入借助RAG文档/工具输出</a:t>
            </a:r>
            <a:endParaRPr lang="en-US" sz="9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7E1D271-1FC8-62A8-AB65-3BBEB6722926}"/>
              </a:ext>
            </a:extLst>
          </p:cNvPr>
          <p:cNvSpPr/>
          <p:nvPr/>
        </p:nvSpPr>
        <p:spPr>
          <a:xfrm>
            <a:off x="3432048" y="2659774"/>
            <a:ext cx="22799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5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防御：指令层级（system特权最高）、输入过滤、结构化查询StruQ</a:t>
            </a:r>
            <a:endParaRPr lang="en-US" sz="9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E448AEA-3AB6-4C5D-542C-F70D16B48CD8}"/>
              </a:ext>
            </a:extLst>
          </p:cNvPr>
          <p:cNvSpPr/>
          <p:nvPr/>
        </p:nvSpPr>
        <p:spPr>
          <a:xfrm>
            <a:off x="3432048" y="3171838"/>
            <a:ext cx="22799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5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代表：Greshake间接注入、PoisonedRAG、指令层级训练</a:t>
            </a:r>
            <a:endParaRPr lang="en-US" sz="9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3EF2D7A-EC5C-70D0-4753-B908FD43C25B}"/>
              </a:ext>
            </a:extLst>
          </p:cNvPr>
          <p:cNvSpPr/>
          <p:nvPr/>
        </p:nvSpPr>
        <p:spPr>
          <a:xfrm>
            <a:off x="3413760" y="3720478"/>
            <a:ext cx="2316480" cy="603504"/>
          </a:xfrm>
          <a:prstGeom prst="roundRect">
            <a:avLst>
              <a:gd name="adj" fmla="val 7576"/>
            </a:avLst>
          </a:prstGeom>
          <a:solidFill>
            <a:srgbClr val="FBEBE9"/>
          </a:solidFill>
          <a:ln/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43E5AE0-636B-1D9C-0CCA-94353017ABAB}"/>
              </a:ext>
            </a:extLst>
          </p:cNvPr>
          <p:cNvSpPr/>
          <p:nvPr/>
        </p:nvSpPr>
        <p:spPr>
          <a:xfrm>
            <a:off x="3505200" y="3766198"/>
            <a:ext cx="2133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优势：机理清晰、顶会成果多
</a:t>
            </a: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不足：对象集中在copilot等旗舰应用，真实Web部署无人问津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C5387D4-9243-2A27-FE00-7EB7FCC12BEE}"/>
              </a:ext>
            </a:extLst>
          </p:cNvPr>
          <p:cNvSpPr/>
          <p:nvPr/>
        </p:nvSpPr>
        <p:spPr>
          <a:xfrm>
            <a:off x="6077712" y="1635646"/>
            <a:ext cx="2609088" cy="278892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AE67A18-E3B4-DC7B-0AE3-7B13068BED17}"/>
              </a:ext>
            </a:extLst>
          </p:cNvPr>
          <p:cNvSpPr/>
          <p:nvPr/>
        </p:nvSpPr>
        <p:spPr>
          <a:xfrm>
            <a:off x="6077712" y="1635646"/>
            <a:ext cx="2609088" cy="6400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40B1AAD-563D-AB03-3A5B-5EAE450C1F09}"/>
              </a:ext>
            </a:extLst>
          </p:cNvPr>
          <p:cNvSpPr/>
          <p:nvPr/>
        </p:nvSpPr>
        <p:spPr>
          <a:xfrm>
            <a:off x="6224016" y="178195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/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A698831-59D0-D1ED-5B38-3ADC2AF93170}"/>
              </a:ext>
            </a:extLst>
          </p:cNvPr>
          <p:cNvSpPr/>
          <p:nvPr/>
        </p:nvSpPr>
        <p:spPr>
          <a:xfrm>
            <a:off x="6224016" y="178195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</a:t>
            </a:r>
            <a:endParaRPr lang="en-US" sz="900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3793C62C-8119-2B32-1712-1A17FB1E7A8C}"/>
              </a:ext>
            </a:extLst>
          </p:cNvPr>
          <p:cNvSpPr/>
          <p:nvPr/>
        </p:nvSpPr>
        <p:spPr>
          <a:xfrm>
            <a:off x="6973824" y="1772806"/>
            <a:ext cx="160324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两大领域的交叉点：Web×AI</a:t>
            </a:r>
            <a:endParaRPr lang="en-US" sz="1250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7DAF89BC-4D88-B7CD-043E-92606B4DCD37}"/>
              </a:ext>
            </a:extLst>
          </p:cNvPr>
          <p:cNvSpPr/>
          <p:nvPr/>
        </p:nvSpPr>
        <p:spPr>
          <a:xfrm>
            <a:off x="6242304" y="2147710"/>
            <a:ext cx="22799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5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首次对17款插件、10,000+真实网站做大规模系统研究</a:t>
            </a:r>
            <a:endParaRPr lang="en-US" sz="950" dirty="0"/>
          </a:p>
        </p:txBody>
      </p:sp>
      <p:sp>
        <p:nvSpPr>
          <p:cNvPr id="57" name="Text 32">
            <a:extLst>
              <a:ext uri="{FF2B5EF4-FFF2-40B4-BE49-F238E27FC236}">
                <a16:creationId xmlns:a16="http://schemas.microsoft.com/office/drawing/2014/main" id="{F7B23F75-148F-C1D9-1337-BC2DD60EEA24}"/>
              </a:ext>
            </a:extLst>
          </p:cNvPr>
          <p:cNvSpPr/>
          <p:nvPr/>
        </p:nvSpPr>
        <p:spPr>
          <a:xfrm>
            <a:off x="6242304" y="2659774"/>
            <a:ext cx="22799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5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同时测量“插件怎么造”与“站长怎么用”两个层面</a:t>
            </a:r>
            <a:endParaRPr lang="en-US" sz="950" dirty="0"/>
          </a:p>
        </p:txBody>
      </p:sp>
      <p:sp>
        <p:nvSpPr>
          <p:cNvPr id="58" name="Text 33">
            <a:extLst>
              <a:ext uri="{FF2B5EF4-FFF2-40B4-BE49-F238E27FC236}">
                <a16:creationId xmlns:a16="http://schemas.microsoft.com/office/drawing/2014/main" id="{804DEBEF-0155-C282-8901-64C2513465EF}"/>
              </a:ext>
            </a:extLst>
          </p:cNvPr>
          <p:cNvSpPr/>
          <p:nvPr/>
        </p:nvSpPr>
        <p:spPr>
          <a:xfrm>
            <a:off x="6242304" y="3171838"/>
            <a:ext cx="22799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5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以AI安全视角重新审视Web插件这一经典问题</a:t>
            </a:r>
            <a:endParaRPr lang="en-US" sz="950" dirty="0"/>
          </a:p>
        </p:txBody>
      </p:sp>
      <p:sp>
        <p:nvSpPr>
          <p:cNvPr id="59" name="Shape 34">
            <a:extLst>
              <a:ext uri="{FF2B5EF4-FFF2-40B4-BE49-F238E27FC236}">
                <a16:creationId xmlns:a16="http://schemas.microsoft.com/office/drawing/2014/main" id="{9E6263DC-0A6C-EF45-AD9E-282E58FD99C4}"/>
              </a:ext>
            </a:extLst>
          </p:cNvPr>
          <p:cNvSpPr/>
          <p:nvPr/>
        </p:nvSpPr>
        <p:spPr>
          <a:xfrm>
            <a:off x="6224016" y="3720478"/>
            <a:ext cx="2316480" cy="603504"/>
          </a:xfrm>
          <a:prstGeom prst="roundRect">
            <a:avLst>
              <a:gd name="adj" fmla="val 7576"/>
            </a:avLst>
          </a:prstGeom>
          <a:solidFill>
            <a:srgbClr val="EAF6EF"/>
          </a:solidFill>
          <a:ln/>
        </p:spPr>
      </p:sp>
      <p:sp>
        <p:nvSpPr>
          <p:cNvPr id="60" name="Text 35">
            <a:extLst>
              <a:ext uri="{FF2B5EF4-FFF2-40B4-BE49-F238E27FC236}">
                <a16:creationId xmlns:a16="http://schemas.microsoft.com/office/drawing/2014/main" id="{CA37C8F8-5677-C4E8-0484-6A14A425E238}"/>
              </a:ext>
            </a:extLst>
          </p:cNvPr>
          <p:cNvSpPr/>
          <p:nvPr/>
        </p:nvSpPr>
        <p:spPr>
          <a:xfrm>
            <a:off x="6315456" y="3766198"/>
            <a:ext cx="2133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定位：填补双方盲区
</a:t>
            </a: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结论：插件层的不安全实践正在瓦解LLM内置防线</a:t>
            </a:r>
            <a:endParaRPr lang="en-US" sz="900" dirty="0"/>
          </a:p>
        </p:txBody>
      </p:sp>
      <p:sp>
        <p:nvSpPr>
          <p:cNvPr id="63" name="Text 2">
            <a:extLst>
              <a:ext uri="{FF2B5EF4-FFF2-40B4-BE49-F238E27FC236}">
                <a16:creationId xmlns:a16="http://schemas.microsoft.com/office/drawing/2014/main" id="{1DD57238-1B89-5D9D-4922-A021F3A0CE91}"/>
              </a:ext>
            </a:extLst>
          </p:cNvPr>
          <p:cNvSpPr/>
          <p:nvPr/>
        </p:nvSpPr>
        <p:spPr>
          <a:xfrm>
            <a:off x="321799" y="82395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相关研究对比：两条赛道之间的空白地带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2529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EB08E38-7850-0D2E-2820-DBB261A25866}"/>
              </a:ext>
            </a:extLst>
          </p:cNvPr>
          <p:cNvSpPr/>
          <p:nvPr/>
        </p:nvSpPr>
        <p:spPr>
          <a:xfrm>
            <a:off x="0" y="27063"/>
            <a:ext cx="9144000" cy="687167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37C5B966-E0BD-FDAE-3F3F-4376A8830453}"/>
              </a:ext>
            </a:extLst>
          </p:cNvPr>
          <p:cNvSpPr txBox="1">
            <a:spLocks/>
          </p:cNvSpPr>
          <p:nvPr/>
        </p:nvSpPr>
        <p:spPr>
          <a:xfrm>
            <a:off x="323528" y="191630"/>
            <a:ext cx="1975928" cy="35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 2">
            <a:extLst>
              <a:ext uri="{FF2B5EF4-FFF2-40B4-BE49-F238E27FC236}">
                <a16:creationId xmlns:a16="http://schemas.microsoft.com/office/drawing/2014/main" id="{AC763023-BFD0-5B4F-9E70-8EB014D8ADF3}"/>
              </a:ext>
            </a:extLst>
          </p:cNvPr>
          <p:cNvSpPr/>
          <p:nvPr/>
        </p:nvSpPr>
        <p:spPr>
          <a:xfrm>
            <a:off x="300610" y="83310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研究挑战 → 目标与创新点</a:t>
            </a:r>
            <a:endParaRPr lang="en-US" sz="2400" dirty="0"/>
          </a:p>
        </p:txBody>
      </p:sp>
      <p:sp>
        <p:nvSpPr>
          <p:cNvPr id="75" name="Text 6">
            <a:extLst>
              <a:ext uri="{FF2B5EF4-FFF2-40B4-BE49-F238E27FC236}">
                <a16:creationId xmlns:a16="http://schemas.microsoft.com/office/drawing/2014/main" id="{98FA3C3D-6E0C-7958-EAAA-B78265FE1B2D}"/>
              </a:ext>
            </a:extLst>
          </p:cNvPr>
          <p:cNvSpPr/>
          <p:nvPr/>
        </p:nvSpPr>
        <p:spPr>
          <a:xfrm>
            <a:off x="395536" y="149163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研究挑战 Challenges</a:t>
            </a:r>
            <a:endParaRPr lang="en-US" sz="1300" dirty="0"/>
          </a:p>
        </p:txBody>
      </p:sp>
      <p:sp>
        <p:nvSpPr>
          <p:cNvPr id="76" name="Shape 7">
            <a:extLst>
              <a:ext uri="{FF2B5EF4-FFF2-40B4-BE49-F238E27FC236}">
                <a16:creationId xmlns:a16="http://schemas.microsoft.com/office/drawing/2014/main" id="{CE76568D-CE06-C134-5BC4-52E8E655AD8E}"/>
              </a:ext>
            </a:extLst>
          </p:cNvPr>
          <p:cNvSpPr/>
          <p:nvPr/>
        </p:nvSpPr>
        <p:spPr>
          <a:xfrm>
            <a:off x="395536" y="1811670"/>
            <a:ext cx="3977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77" name="Shape 8">
            <a:extLst>
              <a:ext uri="{FF2B5EF4-FFF2-40B4-BE49-F238E27FC236}">
                <a16:creationId xmlns:a16="http://schemas.microsoft.com/office/drawing/2014/main" id="{2C7964B2-9762-5917-C3F4-3DC4B09B3EF4}"/>
              </a:ext>
            </a:extLst>
          </p:cNvPr>
          <p:cNvSpPr/>
          <p:nvPr/>
        </p:nvSpPr>
        <p:spPr>
          <a:xfrm>
            <a:off x="395536" y="1811670"/>
            <a:ext cx="64008" cy="8412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8" name="Text 9">
            <a:extLst>
              <a:ext uri="{FF2B5EF4-FFF2-40B4-BE49-F238E27FC236}">
                <a16:creationId xmlns:a16="http://schemas.microsoft.com/office/drawing/2014/main" id="{75233DE8-AF3E-847C-5643-D18B4941C4FC}"/>
              </a:ext>
            </a:extLst>
          </p:cNvPr>
          <p:cNvSpPr/>
          <p:nvPr/>
        </p:nvSpPr>
        <p:spPr>
          <a:xfrm>
            <a:off x="541840" y="192139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600" dirty="0"/>
          </a:p>
        </p:txBody>
      </p:sp>
      <p:sp>
        <p:nvSpPr>
          <p:cNvPr id="79" name="Text 10">
            <a:extLst>
              <a:ext uri="{FF2B5EF4-FFF2-40B4-BE49-F238E27FC236}">
                <a16:creationId xmlns:a16="http://schemas.microsoft.com/office/drawing/2014/main" id="{7670B65B-E049-BAD0-24FD-9A40FFFA6221}"/>
              </a:ext>
            </a:extLst>
          </p:cNvPr>
          <p:cNvSpPr/>
          <p:nvPr/>
        </p:nvSpPr>
        <p:spPr>
          <a:xfrm>
            <a:off x="1072192" y="190311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生态碎片化，难以自动化测量</a:t>
            </a:r>
            <a:endParaRPr lang="en-US" sz="1100" dirty="0"/>
          </a:p>
        </p:txBody>
      </p:sp>
      <p:sp>
        <p:nvSpPr>
          <p:cNvPr id="80" name="Text 11">
            <a:extLst>
              <a:ext uri="{FF2B5EF4-FFF2-40B4-BE49-F238E27FC236}">
                <a16:creationId xmlns:a16="http://schemas.microsoft.com/office/drawing/2014/main" id="{5F90D59E-CC46-7F0B-CD4B-FE61FA0D9A42}"/>
              </a:ext>
            </a:extLst>
          </p:cNvPr>
          <p:cNvSpPr/>
          <p:nvPr/>
        </p:nvSpPr>
        <p:spPr>
          <a:xfrm>
            <a:off x="1072192" y="217743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插件传输协议（HTTP/WebSocket）、加载策略、DOM结构各不相同，没有稳定统一接口</a:t>
            </a:r>
            <a:endParaRPr lang="en-US" sz="900" dirty="0"/>
          </a:p>
        </p:txBody>
      </p:sp>
      <p:sp>
        <p:nvSpPr>
          <p:cNvPr id="81" name="Shape 12">
            <a:extLst>
              <a:ext uri="{FF2B5EF4-FFF2-40B4-BE49-F238E27FC236}">
                <a16:creationId xmlns:a16="http://schemas.microsoft.com/office/drawing/2014/main" id="{55E95FAD-51F6-E7A1-64DA-629F724FFC73}"/>
              </a:ext>
            </a:extLst>
          </p:cNvPr>
          <p:cNvSpPr/>
          <p:nvPr/>
        </p:nvSpPr>
        <p:spPr>
          <a:xfrm>
            <a:off x="395536" y="2744358"/>
            <a:ext cx="3977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82" name="Shape 13">
            <a:extLst>
              <a:ext uri="{FF2B5EF4-FFF2-40B4-BE49-F238E27FC236}">
                <a16:creationId xmlns:a16="http://schemas.microsoft.com/office/drawing/2014/main" id="{44DD4940-5008-8AE2-D62E-BE50E890DAAA}"/>
              </a:ext>
            </a:extLst>
          </p:cNvPr>
          <p:cNvSpPr/>
          <p:nvPr/>
        </p:nvSpPr>
        <p:spPr>
          <a:xfrm>
            <a:off x="395536" y="2744358"/>
            <a:ext cx="64008" cy="8412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3" name="Text 14">
            <a:extLst>
              <a:ext uri="{FF2B5EF4-FFF2-40B4-BE49-F238E27FC236}">
                <a16:creationId xmlns:a16="http://schemas.microsoft.com/office/drawing/2014/main" id="{57BD5AE3-E3D8-D13C-E2E3-A3D76BCDE576}"/>
              </a:ext>
            </a:extLst>
          </p:cNvPr>
          <p:cNvSpPr/>
          <p:nvPr/>
        </p:nvSpPr>
        <p:spPr>
          <a:xfrm>
            <a:off x="541840" y="285408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600" dirty="0"/>
          </a:p>
        </p:txBody>
      </p:sp>
      <p:sp>
        <p:nvSpPr>
          <p:cNvPr id="84" name="Text 15">
            <a:extLst>
              <a:ext uri="{FF2B5EF4-FFF2-40B4-BE49-F238E27FC236}">
                <a16:creationId xmlns:a16="http://schemas.microsoft.com/office/drawing/2014/main" id="{497454AE-C2CC-3816-3E09-FD96A2837962}"/>
              </a:ext>
            </a:extLst>
          </p:cNvPr>
          <p:cNvSpPr/>
          <p:nvPr/>
        </p:nvSpPr>
        <p:spPr>
          <a:xfrm>
            <a:off x="1072192" y="283579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黑盒场景下角色不可见</a:t>
            </a:r>
            <a:endParaRPr lang="en-US" sz="1100" dirty="0"/>
          </a:p>
        </p:txBody>
      </p:sp>
      <p:sp>
        <p:nvSpPr>
          <p:cNvPr id="85" name="Text 16">
            <a:extLst>
              <a:ext uri="{FF2B5EF4-FFF2-40B4-BE49-F238E27FC236}">
                <a16:creationId xmlns:a16="http://schemas.microsoft.com/office/drawing/2014/main" id="{BB8584AA-8A42-FE81-7EAB-5AC054B4D86A}"/>
              </a:ext>
            </a:extLst>
          </p:cNvPr>
          <p:cNvSpPr/>
          <p:nvPr/>
        </p:nvSpPr>
        <p:spPr>
          <a:xfrm>
            <a:off x="1072192" y="311011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商业插件不暴露API日志，RAG内容以什么角色注入LLM上下文难以直接判定</a:t>
            </a:r>
            <a:endParaRPr lang="en-US" sz="900" dirty="0"/>
          </a:p>
        </p:txBody>
      </p:sp>
      <p:sp>
        <p:nvSpPr>
          <p:cNvPr id="86" name="Shape 17">
            <a:extLst>
              <a:ext uri="{FF2B5EF4-FFF2-40B4-BE49-F238E27FC236}">
                <a16:creationId xmlns:a16="http://schemas.microsoft.com/office/drawing/2014/main" id="{9EBBA027-B56C-3F37-4523-D598F7A1EA36}"/>
              </a:ext>
            </a:extLst>
          </p:cNvPr>
          <p:cNvSpPr/>
          <p:nvPr/>
        </p:nvSpPr>
        <p:spPr>
          <a:xfrm>
            <a:off x="395536" y="3677046"/>
            <a:ext cx="3977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87" name="Shape 18">
            <a:extLst>
              <a:ext uri="{FF2B5EF4-FFF2-40B4-BE49-F238E27FC236}">
                <a16:creationId xmlns:a16="http://schemas.microsoft.com/office/drawing/2014/main" id="{23C206F0-8CA6-B224-4CDB-B0B5FE51D86C}"/>
              </a:ext>
            </a:extLst>
          </p:cNvPr>
          <p:cNvSpPr/>
          <p:nvPr/>
        </p:nvSpPr>
        <p:spPr>
          <a:xfrm>
            <a:off x="395536" y="3677046"/>
            <a:ext cx="64008" cy="8412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8" name="Text 19">
            <a:extLst>
              <a:ext uri="{FF2B5EF4-FFF2-40B4-BE49-F238E27FC236}">
                <a16:creationId xmlns:a16="http://schemas.microsoft.com/office/drawing/2014/main" id="{DB9AB84F-904B-D60A-0729-7ADFCA031E32}"/>
              </a:ext>
            </a:extLst>
          </p:cNvPr>
          <p:cNvSpPr/>
          <p:nvPr/>
        </p:nvSpPr>
        <p:spPr>
          <a:xfrm>
            <a:off x="541840" y="378677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600" dirty="0"/>
          </a:p>
        </p:txBody>
      </p:sp>
      <p:sp>
        <p:nvSpPr>
          <p:cNvPr id="89" name="Text 20">
            <a:extLst>
              <a:ext uri="{FF2B5EF4-FFF2-40B4-BE49-F238E27FC236}">
                <a16:creationId xmlns:a16="http://schemas.microsoft.com/office/drawing/2014/main" id="{0EBE2DC4-CEA4-6B38-A25E-7E64FD4E3BD4}"/>
              </a:ext>
            </a:extLst>
          </p:cNvPr>
          <p:cNvSpPr/>
          <p:nvPr/>
        </p:nvSpPr>
        <p:spPr>
          <a:xfrm>
            <a:off x="1072192" y="376848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真实网站评估受伦理约束</a:t>
            </a:r>
            <a:endParaRPr lang="en-US" sz="1100" dirty="0"/>
          </a:p>
        </p:txBody>
      </p:sp>
      <p:sp>
        <p:nvSpPr>
          <p:cNvPr id="90" name="Text 21">
            <a:extLst>
              <a:ext uri="{FF2B5EF4-FFF2-40B4-BE49-F238E27FC236}">
                <a16:creationId xmlns:a16="http://schemas.microsoft.com/office/drawing/2014/main" id="{0464C0D6-2426-725D-22B8-4655A97DE950}"/>
              </a:ext>
            </a:extLst>
          </p:cNvPr>
          <p:cNvSpPr/>
          <p:nvPr/>
        </p:nvSpPr>
        <p:spPr>
          <a:xfrm>
            <a:off x="1072192" y="4042806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不能向真实站点注入恶意内容，必须设计“只读式”的暴露面评估方法</a:t>
            </a:r>
            <a:endParaRPr lang="en-US" sz="900" dirty="0"/>
          </a:p>
        </p:txBody>
      </p:sp>
      <p:sp>
        <p:nvSpPr>
          <p:cNvPr id="91" name="Shape 22">
            <a:extLst>
              <a:ext uri="{FF2B5EF4-FFF2-40B4-BE49-F238E27FC236}">
                <a16:creationId xmlns:a16="http://schemas.microsoft.com/office/drawing/2014/main" id="{1F39FF34-DCDE-B1A2-7DEE-ADD99ADC0607}"/>
              </a:ext>
            </a:extLst>
          </p:cNvPr>
          <p:cNvSpPr/>
          <p:nvPr/>
        </p:nvSpPr>
        <p:spPr>
          <a:xfrm>
            <a:off x="4437184" y="2817510"/>
            <a:ext cx="502920" cy="548640"/>
          </a:xfrm>
          <a:prstGeom prst="rightArrow">
            <a:avLst/>
          </a:prstGeom>
          <a:solidFill>
            <a:srgbClr val="E67E22"/>
          </a:solidFill>
          <a:ln/>
        </p:spPr>
      </p:sp>
      <p:sp>
        <p:nvSpPr>
          <p:cNvPr id="92" name="Text 23">
            <a:extLst>
              <a:ext uri="{FF2B5EF4-FFF2-40B4-BE49-F238E27FC236}">
                <a16:creationId xmlns:a16="http://schemas.microsoft.com/office/drawing/2014/main" id="{77DDA64F-5450-2B35-2DF7-3A43932B974D}"/>
              </a:ext>
            </a:extLst>
          </p:cNvPr>
          <p:cNvSpPr/>
          <p:nvPr/>
        </p:nvSpPr>
        <p:spPr>
          <a:xfrm>
            <a:off x="5058976" y="149163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目标与创新 Contributions</a:t>
            </a:r>
            <a:endParaRPr lang="en-US" sz="1300" dirty="0"/>
          </a:p>
        </p:txBody>
      </p:sp>
      <p:sp>
        <p:nvSpPr>
          <p:cNvPr id="93" name="Shape 24">
            <a:extLst>
              <a:ext uri="{FF2B5EF4-FFF2-40B4-BE49-F238E27FC236}">
                <a16:creationId xmlns:a16="http://schemas.microsoft.com/office/drawing/2014/main" id="{349E93CB-D614-1872-FA02-84A5E9C0EF66}"/>
              </a:ext>
            </a:extLst>
          </p:cNvPr>
          <p:cNvSpPr/>
          <p:nvPr/>
        </p:nvSpPr>
        <p:spPr>
          <a:xfrm>
            <a:off x="5058976" y="1811670"/>
            <a:ext cx="36118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94" name="Shape 25">
            <a:extLst>
              <a:ext uri="{FF2B5EF4-FFF2-40B4-BE49-F238E27FC236}">
                <a16:creationId xmlns:a16="http://schemas.microsoft.com/office/drawing/2014/main" id="{51B2804B-E55A-EF94-CDAB-1A3AC91FAF04}"/>
              </a:ext>
            </a:extLst>
          </p:cNvPr>
          <p:cNvSpPr/>
          <p:nvPr/>
        </p:nvSpPr>
        <p:spPr>
          <a:xfrm>
            <a:off x="5058976" y="1811670"/>
            <a:ext cx="64008" cy="62179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95" name="Text 26">
            <a:extLst>
              <a:ext uri="{FF2B5EF4-FFF2-40B4-BE49-F238E27FC236}">
                <a16:creationId xmlns:a16="http://schemas.microsoft.com/office/drawing/2014/main" id="{1DA2ECF9-E078-8B77-4EA7-F510EE92363A}"/>
              </a:ext>
            </a:extLst>
          </p:cNvPr>
          <p:cNvSpPr/>
          <p:nvPr/>
        </p:nvSpPr>
        <p:spPr>
          <a:xfrm>
            <a:off x="5177848" y="193054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Ⅰ</a:t>
            </a:r>
            <a:endParaRPr lang="en-US" sz="1500" dirty="0"/>
          </a:p>
        </p:txBody>
      </p:sp>
      <p:sp>
        <p:nvSpPr>
          <p:cNvPr id="96" name="Text 27">
            <a:extLst>
              <a:ext uri="{FF2B5EF4-FFF2-40B4-BE49-F238E27FC236}">
                <a16:creationId xmlns:a16="http://schemas.microsoft.com/office/drawing/2014/main" id="{BDA2F880-5B90-2D80-B39B-5A68936C3570}"/>
              </a:ext>
            </a:extLst>
          </p:cNvPr>
          <p:cNvSpPr/>
          <p:nvPr/>
        </p:nvSpPr>
        <p:spPr>
          <a:xfrm>
            <a:off x="5571040" y="1866534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生态刻画（§4）　</a:t>
            </a:r>
            <a:r>
              <a:rPr lang="en-US" sz="8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首次刻画AI聊天插件生态：17款插件、10,417个站点，抽查验证62.5%功能可用</a:t>
            </a:r>
            <a:endParaRPr lang="en-US" sz="1050" dirty="0"/>
          </a:p>
        </p:txBody>
      </p:sp>
      <p:sp>
        <p:nvSpPr>
          <p:cNvPr id="97" name="Shape 28">
            <a:extLst>
              <a:ext uri="{FF2B5EF4-FFF2-40B4-BE49-F238E27FC236}">
                <a16:creationId xmlns:a16="http://schemas.microsoft.com/office/drawing/2014/main" id="{414725FE-2ED5-E9D9-A1CA-8645F779BB4A}"/>
              </a:ext>
            </a:extLst>
          </p:cNvPr>
          <p:cNvSpPr/>
          <p:nvPr/>
        </p:nvSpPr>
        <p:spPr>
          <a:xfrm>
            <a:off x="5058976" y="2515758"/>
            <a:ext cx="36118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98" name="Shape 29">
            <a:extLst>
              <a:ext uri="{FF2B5EF4-FFF2-40B4-BE49-F238E27FC236}">
                <a16:creationId xmlns:a16="http://schemas.microsoft.com/office/drawing/2014/main" id="{C298C67D-372D-FA09-D8C4-D6F1D01A8D4C}"/>
              </a:ext>
            </a:extLst>
          </p:cNvPr>
          <p:cNvSpPr/>
          <p:nvPr/>
        </p:nvSpPr>
        <p:spPr>
          <a:xfrm>
            <a:off x="5058976" y="2515758"/>
            <a:ext cx="64008" cy="62179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99" name="Text 30">
            <a:extLst>
              <a:ext uri="{FF2B5EF4-FFF2-40B4-BE49-F238E27FC236}">
                <a16:creationId xmlns:a16="http://schemas.microsoft.com/office/drawing/2014/main" id="{6141E0F4-AE1E-8CC0-7B9B-F3758E465F72}"/>
              </a:ext>
            </a:extLst>
          </p:cNvPr>
          <p:cNvSpPr/>
          <p:nvPr/>
        </p:nvSpPr>
        <p:spPr>
          <a:xfrm>
            <a:off x="5177848" y="263463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Ⅱ</a:t>
            </a:r>
            <a:endParaRPr lang="en-US" sz="1500" dirty="0"/>
          </a:p>
        </p:txBody>
      </p:sp>
      <p:sp>
        <p:nvSpPr>
          <p:cNvPr id="100" name="Text 31">
            <a:extLst>
              <a:ext uri="{FF2B5EF4-FFF2-40B4-BE49-F238E27FC236}">
                <a16:creationId xmlns:a16="http://schemas.microsoft.com/office/drawing/2014/main" id="{CE646476-CE37-54F2-1024-38DD2ED95357}"/>
              </a:ext>
            </a:extLst>
          </p:cNvPr>
          <p:cNvSpPr/>
          <p:nvPr/>
        </p:nvSpPr>
        <p:spPr>
          <a:xfrm>
            <a:off x="5571040" y="2570622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漏洞发现（§5）　</a:t>
            </a:r>
            <a:r>
              <a:rPr lang="en-US" sz="8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发现两类提示注入漏洞：消息历史伪造（直接）与网页内容投毒（间接）</a:t>
            </a:r>
            <a:endParaRPr lang="en-US" sz="1050" dirty="0"/>
          </a:p>
        </p:txBody>
      </p:sp>
      <p:sp>
        <p:nvSpPr>
          <p:cNvPr id="101" name="Shape 32">
            <a:extLst>
              <a:ext uri="{FF2B5EF4-FFF2-40B4-BE49-F238E27FC236}">
                <a16:creationId xmlns:a16="http://schemas.microsoft.com/office/drawing/2014/main" id="{976F6744-55C8-389D-0C71-5F8D10C3A891}"/>
              </a:ext>
            </a:extLst>
          </p:cNvPr>
          <p:cNvSpPr/>
          <p:nvPr/>
        </p:nvSpPr>
        <p:spPr>
          <a:xfrm>
            <a:off x="5058976" y="3219846"/>
            <a:ext cx="36118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102" name="Shape 33">
            <a:extLst>
              <a:ext uri="{FF2B5EF4-FFF2-40B4-BE49-F238E27FC236}">
                <a16:creationId xmlns:a16="http://schemas.microsoft.com/office/drawing/2014/main" id="{16466724-0C6E-9F8C-F1E8-FE500752926D}"/>
              </a:ext>
            </a:extLst>
          </p:cNvPr>
          <p:cNvSpPr/>
          <p:nvPr/>
        </p:nvSpPr>
        <p:spPr>
          <a:xfrm>
            <a:off x="5058976" y="3219846"/>
            <a:ext cx="64008" cy="62179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03" name="Text 34">
            <a:extLst>
              <a:ext uri="{FF2B5EF4-FFF2-40B4-BE49-F238E27FC236}">
                <a16:creationId xmlns:a16="http://schemas.microsoft.com/office/drawing/2014/main" id="{9513D1FE-5138-9C8D-B56F-399260832828}"/>
              </a:ext>
            </a:extLst>
          </p:cNvPr>
          <p:cNvSpPr/>
          <p:nvPr/>
        </p:nvSpPr>
        <p:spPr>
          <a:xfrm>
            <a:off x="5177848" y="333871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Ⅲ</a:t>
            </a:r>
            <a:endParaRPr lang="en-US" sz="1500" dirty="0"/>
          </a:p>
        </p:txBody>
      </p:sp>
      <p:sp>
        <p:nvSpPr>
          <p:cNvPr id="104" name="Text 35">
            <a:extLst>
              <a:ext uri="{FF2B5EF4-FFF2-40B4-BE49-F238E27FC236}">
                <a16:creationId xmlns:a16="http://schemas.microsoft.com/office/drawing/2014/main" id="{71321F8F-E5CD-5A3E-8A29-9CEAEFA39CD5}"/>
              </a:ext>
            </a:extLst>
          </p:cNvPr>
          <p:cNvSpPr/>
          <p:nvPr/>
        </p:nvSpPr>
        <p:spPr>
          <a:xfrm>
            <a:off x="5571040" y="327471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真实配置测量（§6）　</a:t>
            </a:r>
            <a:r>
              <a:rPr lang="en-US" sz="8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首次实测真实部署：从300个在线聊天机器人提取系统提示词，摸清工具使用趋势</a:t>
            </a:r>
            <a:endParaRPr lang="en-US" sz="1050" dirty="0"/>
          </a:p>
        </p:txBody>
      </p:sp>
      <p:sp>
        <p:nvSpPr>
          <p:cNvPr id="105" name="Shape 36">
            <a:extLst>
              <a:ext uri="{FF2B5EF4-FFF2-40B4-BE49-F238E27FC236}">
                <a16:creationId xmlns:a16="http://schemas.microsoft.com/office/drawing/2014/main" id="{2B47B9CB-2BE2-B001-D319-36C91D5C722A}"/>
              </a:ext>
            </a:extLst>
          </p:cNvPr>
          <p:cNvSpPr/>
          <p:nvPr/>
        </p:nvSpPr>
        <p:spPr>
          <a:xfrm>
            <a:off x="5058976" y="3923934"/>
            <a:ext cx="36118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106" name="Shape 37">
            <a:extLst>
              <a:ext uri="{FF2B5EF4-FFF2-40B4-BE49-F238E27FC236}">
                <a16:creationId xmlns:a16="http://schemas.microsoft.com/office/drawing/2014/main" id="{BF282AF4-3D75-CC20-6F1F-3A6454565824}"/>
              </a:ext>
            </a:extLst>
          </p:cNvPr>
          <p:cNvSpPr/>
          <p:nvPr/>
        </p:nvSpPr>
        <p:spPr>
          <a:xfrm>
            <a:off x="5058976" y="3923934"/>
            <a:ext cx="64008" cy="62179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07" name="Text 38">
            <a:extLst>
              <a:ext uri="{FF2B5EF4-FFF2-40B4-BE49-F238E27FC236}">
                <a16:creationId xmlns:a16="http://schemas.microsoft.com/office/drawing/2014/main" id="{C9EC6C73-ED50-F435-0391-4125F87ADA48}"/>
              </a:ext>
            </a:extLst>
          </p:cNvPr>
          <p:cNvSpPr/>
          <p:nvPr/>
        </p:nvSpPr>
        <p:spPr>
          <a:xfrm>
            <a:off x="5177848" y="404280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Ⅳ</a:t>
            </a:r>
            <a:endParaRPr lang="en-US" sz="1500" dirty="0"/>
          </a:p>
        </p:txBody>
      </p:sp>
      <p:sp>
        <p:nvSpPr>
          <p:cNvPr id="108" name="Text 39">
            <a:extLst>
              <a:ext uri="{FF2B5EF4-FFF2-40B4-BE49-F238E27FC236}">
                <a16:creationId xmlns:a16="http://schemas.microsoft.com/office/drawing/2014/main" id="{15B4F163-E517-C119-DEA9-A3A3E389B312}"/>
              </a:ext>
            </a:extLst>
          </p:cNvPr>
          <p:cNvSpPr/>
          <p:nvPr/>
        </p:nvSpPr>
        <p:spPr>
          <a:xfrm>
            <a:off x="5571040" y="397879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受控实验量化（§7）　</a:t>
            </a:r>
            <a:r>
              <a:rPr lang="en-US" sz="8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基于真实测量设计受控实验：3任务×3提示词×3角色×11款LLM，量化风险成因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35582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第二部分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3682220" y="1365957"/>
            <a:ext cx="2833995" cy="613668"/>
          </a:xfrm>
        </p:spPr>
        <p:txBody>
          <a:bodyPr/>
          <a:lstStyle/>
          <a:p>
            <a:r>
              <a:rPr lang="en-US" altLang="zh-CN"/>
              <a:t>Method Principle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534719" y="1365957"/>
            <a:ext cx="2473956" cy="613668"/>
          </a:xfrm>
        </p:spPr>
        <p:txBody>
          <a:bodyPr/>
          <a:lstStyle/>
          <a:p>
            <a:r>
              <a:rPr lang="zh-CN" altLang="en-US"/>
              <a:t>方法原理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3682220" y="2122544"/>
            <a:ext cx="2473957" cy="1241293"/>
          </a:xfrm>
        </p:spPr>
        <p:txBody>
          <a:bodyPr/>
          <a:lstStyle/>
          <a:p>
            <a:pPr marL="214630" indent="-214630"/>
            <a:r>
              <a:rPr lang="en-US" altLang="zh-CN"/>
              <a:t>研究流程总览</a:t>
            </a:r>
          </a:p>
          <a:p>
            <a:pPr marL="214630" indent="-214630"/>
            <a:r>
              <a:rPr lang="en-US" altLang="zh-CN"/>
              <a:t>威胁模型</a:t>
            </a:r>
          </a:p>
          <a:p>
            <a:pPr marL="214630" indent="-214630"/>
            <a:r>
              <a:rPr lang="zh-CN" altLang="en-US"/>
              <a:t>直接提示注入</a:t>
            </a:r>
            <a:endParaRPr lang="en-US" altLang="zh-CN"/>
          </a:p>
          <a:p>
            <a:pPr marL="214630" indent="-214630"/>
            <a:r>
              <a:rPr lang="zh-CN" altLang="en-US"/>
              <a:t>间接提示注入</a:t>
            </a:r>
            <a:endParaRPr lang="en-US" altLang="zh-CN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EB08E38-7850-0D2E-2820-DBB261A25866}"/>
              </a:ext>
            </a:extLst>
          </p:cNvPr>
          <p:cNvSpPr/>
          <p:nvPr/>
        </p:nvSpPr>
        <p:spPr>
          <a:xfrm>
            <a:off x="0" y="27063"/>
            <a:ext cx="9144000" cy="687167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37C5B966-E0BD-FDAE-3F3F-4376A8830453}"/>
              </a:ext>
            </a:extLst>
          </p:cNvPr>
          <p:cNvSpPr txBox="1">
            <a:spLocks/>
          </p:cNvSpPr>
          <p:nvPr/>
        </p:nvSpPr>
        <p:spPr>
          <a:xfrm>
            <a:off x="323528" y="191630"/>
            <a:ext cx="1975928" cy="35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方法原理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98B3EEB4-FA06-56B9-FE53-34E12C7FCB97}"/>
              </a:ext>
            </a:extLst>
          </p:cNvPr>
          <p:cNvSpPr/>
          <p:nvPr/>
        </p:nvSpPr>
        <p:spPr>
          <a:xfrm>
            <a:off x="323528" y="87865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研究流程总览</a:t>
            </a:r>
            <a:endParaRPr lang="en-US" sz="240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C499BFE6-F918-5A0A-A088-9E25286C31F6}"/>
              </a:ext>
            </a:extLst>
          </p:cNvPr>
          <p:cNvSpPr/>
          <p:nvPr/>
        </p:nvSpPr>
        <p:spPr>
          <a:xfrm>
            <a:off x="318866" y="1500270"/>
            <a:ext cx="1883664" cy="278892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B983A2FA-DE5D-68C2-1205-D8C524958E78}"/>
              </a:ext>
            </a:extLst>
          </p:cNvPr>
          <p:cNvSpPr/>
          <p:nvPr/>
        </p:nvSpPr>
        <p:spPr>
          <a:xfrm>
            <a:off x="318866" y="1500270"/>
            <a:ext cx="1883664" cy="640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Shape 8">
            <a:extLst>
              <a:ext uri="{FF2B5EF4-FFF2-40B4-BE49-F238E27FC236}">
                <a16:creationId xmlns:a16="http://schemas.microsoft.com/office/drawing/2014/main" id="{60802563-21FF-4C92-D65C-85776C1D4227}"/>
              </a:ext>
            </a:extLst>
          </p:cNvPr>
          <p:cNvSpPr/>
          <p:nvPr/>
        </p:nvSpPr>
        <p:spPr>
          <a:xfrm>
            <a:off x="958946" y="1683150"/>
            <a:ext cx="566928" cy="566928"/>
          </a:xfrm>
          <a:prstGeom prst="ellipse">
            <a:avLst/>
          </a:prstGeom>
          <a:solidFill>
            <a:srgbClr val="EDF4FB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5DF5BE5B-F920-2CF7-232C-74D997F6948C}"/>
              </a:ext>
            </a:extLst>
          </p:cNvPr>
          <p:cNvSpPr/>
          <p:nvPr/>
        </p:nvSpPr>
        <p:spPr>
          <a:xfrm>
            <a:off x="958946" y="1719726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B7A70B17-ABB4-C50B-7AF5-D67AD96FA923}"/>
              </a:ext>
            </a:extLst>
          </p:cNvPr>
          <p:cNvSpPr/>
          <p:nvPr/>
        </p:nvSpPr>
        <p:spPr>
          <a:xfrm>
            <a:off x="428594" y="234151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插件挖掘</a:t>
            </a:r>
            <a:endParaRPr lang="en-US" sz="1250" dirty="0"/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3938C6D8-0BB7-87A8-DF40-8945D6F25310}"/>
              </a:ext>
            </a:extLst>
          </p:cNvPr>
          <p:cNvSpPr/>
          <p:nvPr/>
        </p:nvSpPr>
        <p:spPr>
          <a:xfrm>
            <a:off x="1004666" y="2634126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/>
        </p:spPr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DF7C74F2-39F5-D669-8CBB-550527EBE37E}"/>
              </a:ext>
            </a:extLst>
          </p:cNvPr>
          <p:cNvSpPr/>
          <p:nvPr/>
        </p:nvSpPr>
        <p:spPr>
          <a:xfrm>
            <a:off x="1004666" y="2634126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</a:t>
            </a:r>
            <a:endParaRPr lang="en-US" sz="950" dirty="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8F08DBC3-1B0D-FFF9-954A-3AE7BAFDCF72}"/>
              </a:ext>
            </a:extLst>
          </p:cNvPr>
          <p:cNvSpPr/>
          <p:nvPr/>
        </p:nvSpPr>
        <p:spPr>
          <a:xfrm>
            <a:off x="456026" y="2963310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WP市场116个候选 → 人工筛选17款</a:t>
            </a:r>
            <a:endParaRPr lang="en-US" sz="900" dirty="0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F9231725-6A20-5D79-9658-E4991B509B9C}"/>
              </a:ext>
            </a:extLst>
          </p:cNvPr>
          <p:cNvSpPr/>
          <p:nvPr/>
        </p:nvSpPr>
        <p:spPr>
          <a:xfrm>
            <a:off x="456026" y="3393078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Common Crawl扫描HTML标记</a:t>
            </a:r>
            <a:endParaRPr lang="en-US" sz="9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51D3888D-0BEC-836E-B6B1-08E95F98DAE6}"/>
              </a:ext>
            </a:extLst>
          </p:cNvPr>
          <p:cNvSpPr/>
          <p:nvPr/>
        </p:nvSpPr>
        <p:spPr>
          <a:xfrm>
            <a:off x="456026" y="3822846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命中10,417个站点，抽查验证62.5%可用</a:t>
            </a:r>
            <a:endParaRPr lang="en-US" sz="900" dirty="0"/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13E41393-5E42-E6F4-FB41-13FD47F93DBB}"/>
              </a:ext>
            </a:extLst>
          </p:cNvPr>
          <p:cNvSpPr/>
          <p:nvPr/>
        </p:nvSpPr>
        <p:spPr>
          <a:xfrm>
            <a:off x="2220818" y="2688990"/>
            <a:ext cx="219456" cy="329184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A72EDD49-8DB9-BD61-6FFA-EDA7D82D94DD}"/>
              </a:ext>
            </a:extLst>
          </p:cNvPr>
          <p:cNvSpPr/>
          <p:nvPr/>
        </p:nvSpPr>
        <p:spPr>
          <a:xfrm>
            <a:off x="2440274" y="1500270"/>
            <a:ext cx="1883664" cy="278892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A942F063-FB9F-9DA9-AEEF-537DF7B28C9F}"/>
              </a:ext>
            </a:extLst>
          </p:cNvPr>
          <p:cNvSpPr/>
          <p:nvPr/>
        </p:nvSpPr>
        <p:spPr>
          <a:xfrm>
            <a:off x="2440274" y="1500270"/>
            <a:ext cx="1883664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Shape 19">
            <a:extLst>
              <a:ext uri="{FF2B5EF4-FFF2-40B4-BE49-F238E27FC236}">
                <a16:creationId xmlns:a16="http://schemas.microsoft.com/office/drawing/2014/main" id="{B65EBD0A-19FF-0C1D-D4E1-3DBF71268DF1}"/>
              </a:ext>
            </a:extLst>
          </p:cNvPr>
          <p:cNvSpPr/>
          <p:nvPr/>
        </p:nvSpPr>
        <p:spPr>
          <a:xfrm>
            <a:off x="3080354" y="1683150"/>
            <a:ext cx="566928" cy="566928"/>
          </a:xfrm>
          <a:prstGeom prst="ellipse">
            <a:avLst/>
          </a:prstGeom>
          <a:solidFill>
            <a:srgbClr val="FBEBE9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A7029BD8-4FFA-13BB-6BFE-51DE48871040}"/>
              </a:ext>
            </a:extLst>
          </p:cNvPr>
          <p:cNvSpPr/>
          <p:nvPr/>
        </p:nvSpPr>
        <p:spPr>
          <a:xfrm>
            <a:off x="3080354" y="1719726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000" dirty="0"/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685F4D4B-6C90-E0C1-904C-E960A84E3EAC}"/>
              </a:ext>
            </a:extLst>
          </p:cNvPr>
          <p:cNvSpPr/>
          <p:nvPr/>
        </p:nvSpPr>
        <p:spPr>
          <a:xfrm>
            <a:off x="2550002" y="234151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插件级漏洞分析</a:t>
            </a:r>
            <a:endParaRPr lang="en-US" sz="1250" dirty="0"/>
          </a:p>
        </p:txBody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C8208F46-9879-DA39-51DF-A7C1A6F16AA1}"/>
              </a:ext>
            </a:extLst>
          </p:cNvPr>
          <p:cNvSpPr/>
          <p:nvPr/>
        </p:nvSpPr>
        <p:spPr>
          <a:xfrm>
            <a:off x="3126074" y="2634126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B83855F5-569A-F023-45D1-14EF83FCC571}"/>
              </a:ext>
            </a:extLst>
          </p:cNvPr>
          <p:cNvSpPr/>
          <p:nvPr/>
        </p:nvSpPr>
        <p:spPr>
          <a:xfrm>
            <a:off x="3126074" y="2634126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§5</a:t>
            </a:r>
            <a:endParaRPr lang="en-US" sz="950" dirty="0"/>
          </a:p>
        </p:txBody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E12E64AA-1FAB-827E-81EF-2E06D47D3531}"/>
              </a:ext>
            </a:extLst>
          </p:cNvPr>
          <p:cNvSpPr/>
          <p:nvPr/>
        </p:nvSpPr>
        <p:spPr>
          <a:xfrm>
            <a:off x="2577434" y="2963310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本地搭建17款插件+流量分析</a:t>
            </a:r>
            <a:endParaRPr lang="en-US" sz="900" dirty="0"/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3D363F0D-6E24-8EE8-06AB-E21F9F819715}"/>
              </a:ext>
            </a:extLst>
          </p:cNvPr>
          <p:cNvSpPr/>
          <p:nvPr/>
        </p:nvSpPr>
        <p:spPr>
          <a:xfrm>
            <a:off x="2577434" y="3393078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检验消息历史完整性校验</a:t>
            </a:r>
            <a:endParaRPr lang="en-US" sz="900" dirty="0"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470D3A3A-527F-4887-B47F-56920074D11B}"/>
              </a:ext>
            </a:extLst>
          </p:cNvPr>
          <p:cNvSpPr/>
          <p:nvPr/>
        </p:nvSpPr>
        <p:spPr>
          <a:xfrm>
            <a:off x="2577434" y="3822846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检验外部内容与RAG注入角色</a:t>
            </a:r>
            <a:endParaRPr lang="en-US" sz="900" dirty="0"/>
          </a:p>
        </p:txBody>
      </p:sp>
      <p:sp>
        <p:nvSpPr>
          <p:cNvPr id="25" name="Shape 27">
            <a:extLst>
              <a:ext uri="{FF2B5EF4-FFF2-40B4-BE49-F238E27FC236}">
                <a16:creationId xmlns:a16="http://schemas.microsoft.com/office/drawing/2014/main" id="{ACD0EF37-9E8A-765E-C42D-A5D3E2DF6B79}"/>
              </a:ext>
            </a:extLst>
          </p:cNvPr>
          <p:cNvSpPr/>
          <p:nvPr/>
        </p:nvSpPr>
        <p:spPr>
          <a:xfrm>
            <a:off x="4342226" y="2688990"/>
            <a:ext cx="219456" cy="329184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26" name="Shape 28">
            <a:extLst>
              <a:ext uri="{FF2B5EF4-FFF2-40B4-BE49-F238E27FC236}">
                <a16:creationId xmlns:a16="http://schemas.microsoft.com/office/drawing/2014/main" id="{C91B6FDF-3B65-6F6F-32A4-0E3E22F6D9FC}"/>
              </a:ext>
            </a:extLst>
          </p:cNvPr>
          <p:cNvSpPr/>
          <p:nvPr/>
        </p:nvSpPr>
        <p:spPr>
          <a:xfrm>
            <a:off x="4561682" y="1500270"/>
            <a:ext cx="1883664" cy="278892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27" name="Shape 29">
            <a:extLst>
              <a:ext uri="{FF2B5EF4-FFF2-40B4-BE49-F238E27FC236}">
                <a16:creationId xmlns:a16="http://schemas.microsoft.com/office/drawing/2014/main" id="{071877CD-1E88-1A1C-0141-0B887169264E}"/>
              </a:ext>
            </a:extLst>
          </p:cNvPr>
          <p:cNvSpPr/>
          <p:nvPr/>
        </p:nvSpPr>
        <p:spPr>
          <a:xfrm>
            <a:off x="4561682" y="1500270"/>
            <a:ext cx="1883664" cy="640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Shape 30">
            <a:extLst>
              <a:ext uri="{FF2B5EF4-FFF2-40B4-BE49-F238E27FC236}">
                <a16:creationId xmlns:a16="http://schemas.microsoft.com/office/drawing/2014/main" id="{1DE29279-EDEF-54B2-222A-CE604357D86D}"/>
              </a:ext>
            </a:extLst>
          </p:cNvPr>
          <p:cNvSpPr/>
          <p:nvPr/>
        </p:nvSpPr>
        <p:spPr>
          <a:xfrm>
            <a:off x="5201762" y="1683150"/>
            <a:ext cx="566928" cy="566928"/>
          </a:xfrm>
          <a:prstGeom prst="ellipse">
            <a:avLst/>
          </a:prstGeom>
          <a:solidFill>
            <a:srgbClr val="FDF1E7"/>
          </a:solidFill>
          <a:ln w="15240">
            <a:solidFill>
              <a:srgbClr val="E67E22"/>
            </a:solidFill>
            <a:prstDash val="solid"/>
          </a:ln>
        </p:spPr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202B8F02-004D-F23F-DD9A-3905C3B84DD8}"/>
              </a:ext>
            </a:extLst>
          </p:cNvPr>
          <p:cNvSpPr/>
          <p:nvPr/>
        </p:nvSpPr>
        <p:spPr>
          <a:xfrm>
            <a:off x="5201762" y="1719726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000" dirty="0"/>
          </a:p>
        </p:txBody>
      </p:sp>
      <p:sp>
        <p:nvSpPr>
          <p:cNvPr id="30" name="Text 32">
            <a:extLst>
              <a:ext uri="{FF2B5EF4-FFF2-40B4-BE49-F238E27FC236}">
                <a16:creationId xmlns:a16="http://schemas.microsoft.com/office/drawing/2014/main" id="{2622F9E1-8559-F194-C0D6-A3FB7424357E}"/>
              </a:ext>
            </a:extLst>
          </p:cNvPr>
          <p:cNvSpPr/>
          <p:nvPr/>
        </p:nvSpPr>
        <p:spPr>
          <a:xfrm>
            <a:off x="4671410" y="234151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应用级配置测量</a:t>
            </a:r>
            <a:endParaRPr lang="en-US" sz="1250" dirty="0"/>
          </a:p>
        </p:txBody>
      </p:sp>
      <p:sp>
        <p:nvSpPr>
          <p:cNvPr id="31" name="Shape 33">
            <a:extLst>
              <a:ext uri="{FF2B5EF4-FFF2-40B4-BE49-F238E27FC236}">
                <a16:creationId xmlns:a16="http://schemas.microsoft.com/office/drawing/2014/main" id="{BEA50AF8-D2D7-A7E6-6BCC-9014ABBD682B}"/>
              </a:ext>
            </a:extLst>
          </p:cNvPr>
          <p:cNvSpPr/>
          <p:nvPr/>
        </p:nvSpPr>
        <p:spPr>
          <a:xfrm>
            <a:off x="5247482" y="2634126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E35536B1-92BC-FB0E-E237-429F278331CA}"/>
              </a:ext>
            </a:extLst>
          </p:cNvPr>
          <p:cNvSpPr/>
          <p:nvPr/>
        </p:nvSpPr>
        <p:spPr>
          <a:xfrm>
            <a:off x="5247482" y="2634126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</a:t>
            </a:r>
            <a:endParaRPr lang="en-US" sz="950" dirty="0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85D903A4-5E05-D30A-826F-BE9F35BD0C51}"/>
              </a:ext>
            </a:extLst>
          </p:cNvPr>
          <p:cNvSpPr/>
          <p:nvPr/>
        </p:nvSpPr>
        <p:spPr>
          <a:xfrm>
            <a:off x="4698842" y="2963310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从300个真实站点提取系统提示词</a:t>
            </a:r>
            <a:endParaRPr lang="en-US" sz="900" dirty="0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EB08741E-BEEB-280E-2722-2905AED20737}"/>
              </a:ext>
            </a:extLst>
          </p:cNvPr>
          <p:cNvSpPr/>
          <p:nvPr/>
        </p:nvSpPr>
        <p:spPr>
          <a:xfrm>
            <a:off x="4698842" y="3393078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摸清提示词类型与加固现状</a:t>
            </a:r>
            <a:endParaRPr lang="en-US" sz="900" dirty="0"/>
          </a:p>
        </p:txBody>
      </p:sp>
      <p:sp>
        <p:nvSpPr>
          <p:cNvPr id="37" name="Text 37">
            <a:extLst>
              <a:ext uri="{FF2B5EF4-FFF2-40B4-BE49-F238E27FC236}">
                <a16:creationId xmlns:a16="http://schemas.microsoft.com/office/drawing/2014/main" id="{74E8BADC-4646-67A4-FB6C-72EDC54AF1B5}"/>
              </a:ext>
            </a:extLst>
          </p:cNvPr>
          <p:cNvSpPr/>
          <p:nvPr/>
        </p:nvSpPr>
        <p:spPr>
          <a:xfrm>
            <a:off x="4698842" y="3822846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追踪工具使用趋势（144站开启）</a:t>
            </a:r>
            <a:endParaRPr lang="en-US" sz="900" dirty="0"/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6FE5F7B8-60BF-E97F-CDF1-705DFC6DB05C}"/>
              </a:ext>
            </a:extLst>
          </p:cNvPr>
          <p:cNvSpPr/>
          <p:nvPr/>
        </p:nvSpPr>
        <p:spPr>
          <a:xfrm>
            <a:off x="6463634" y="2688990"/>
            <a:ext cx="219456" cy="329184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A0051292-8814-9DC1-5D84-5E9E8BBE6D8A}"/>
              </a:ext>
            </a:extLst>
          </p:cNvPr>
          <p:cNvSpPr/>
          <p:nvPr/>
        </p:nvSpPr>
        <p:spPr>
          <a:xfrm>
            <a:off x="6683090" y="1500270"/>
            <a:ext cx="1883664" cy="278892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40" name="Shape 40">
            <a:extLst>
              <a:ext uri="{FF2B5EF4-FFF2-40B4-BE49-F238E27FC236}">
                <a16:creationId xmlns:a16="http://schemas.microsoft.com/office/drawing/2014/main" id="{AA550F83-0A1B-6D21-7056-D77BF8BE2E6F}"/>
              </a:ext>
            </a:extLst>
          </p:cNvPr>
          <p:cNvSpPr/>
          <p:nvPr/>
        </p:nvSpPr>
        <p:spPr>
          <a:xfrm>
            <a:off x="6683090" y="1500270"/>
            <a:ext cx="1883664" cy="6400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59E9116D-4892-E39E-F503-201B73B15F30}"/>
              </a:ext>
            </a:extLst>
          </p:cNvPr>
          <p:cNvSpPr/>
          <p:nvPr/>
        </p:nvSpPr>
        <p:spPr>
          <a:xfrm>
            <a:off x="7323170" y="1683150"/>
            <a:ext cx="566928" cy="566928"/>
          </a:xfrm>
          <a:prstGeom prst="ellipse">
            <a:avLst/>
          </a:prstGeom>
          <a:solidFill>
            <a:srgbClr val="EAF6EF"/>
          </a:solidFill>
          <a:ln w="15240">
            <a:solidFill>
              <a:srgbClr val="1E8449"/>
            </a:solidFill>
            <a:prstDash val="solid"/>
          </a:ln>
        </p:spPr>
      </p:sp>
      <p:sp>
        <p:nvSpPr>
          <p:cNvPr id="42" name="Text 42">
            <a:extLst>
              <a:ext uri="{FF2B5EF4-FFF2-40B4-BE49-F238E27FC236}">
                <a16:creationId xmlns:a16="http://schemas.microsoft.com/office/drawing/2014/main" id="{41963E9E-6206-080C-6332-E719F739323F}"/>
              </a:ext>
            </a:extLst>
          </p:cNvPr>
          <p:cNvSpPr/>
          <p:nvPr/>
        </p:nvSpPr>
        <p:spPr>
          <a:xfrm>
            <a:off x="7323170" y="1719726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000" dirty="0"/>
          </a:p>
        </p:txBody>
      </p:sp>
      <p:sp>
        <p:nvSpPr>
          <p:cNvPr id="43" name="Text 43">
            <a:extLst>
              <a:ext uri="{FF2B5EF4-FFF2-40B4-BE49-F238E27FC236}">
                <a16:creationId xmlns:a16="http://schemas.microsoft.com/office/drawing/2014/main" id="{E5102957-062A-9D22-0042-D5C9096FADDE}"/>
              </a:ext>
            </a:extLst>
          </p:cNvPr>
          <p:cNvSpPr/>
          <p:nvPr/>
        </p:nvSpPr>
        <p:spPr>
          <a:xfrm>
            <a:off x="6792818" y="234151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受控实验量化</a:t>
            </a:r>
            <a:endParaRPr lang="en-US" sz="1250" dirty="0"/>
          </a:p>
        </p:txBody>
      </p:sp>
      <p:sp>
        <p:nvSpPr>
          <p:cNvPr id="44" name="Shape 44">
            <a:extLst>
              <a:ext uri="{FF2B5EF4-FFF2-40B4-BE49-F238E27FC236}">
                <a16:creationId xmlns:a16="http://schemas.microsoft.com/office/drawing/2014/main" id="{FD5A60B5-F8B9-969F-F925-E328E2BDA2E0}"/>
              </a:ext>
            </a:extLst>
          </p:cNvPr>
          <p:cNvSpPr/>
          <p:nvPr/>
        </p:nvSpPr>
        <p:spPr>
          <a:xfrm>
            <a:off x="7368890" y="2634126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/>
        </p:spPr>
      </p:sp>
      <p:sp>
        <p:nvSpPr>
          <p:cNvPr id="45" name="Text 45">
            <a:extLst>
              <a:ext uri="{FF2B5EF4-FFF2-40B4-BE49-F238E27FC236}">
                <a16:creationId xmlns:a16="http://schemas.microsoft.com/office/drawing/2014/main" id="{55544DEF-0267-CA22-93BD-B8FEBC87B49A}"/>
              </a:ext>
            </a:extLst>
          </p:cNvPr>
          <p:cNvSpPr/>
          <p:nvPr/>
        </p:nvSpPr>
        <p:spPr>
          <a:xfrm>
            <a:off x="7368890" y="2634126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§7</a:t>
            </a:r>
            <a:endParaRPr lang="en-US" sz="950" dirty="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47D19C33-B71B-34B6-F2D6-EEA14CE5C6A8}"/>
              </a:ext>
            </a:extLst>
          </p:cNvPr>
          <p:cNvSpPr/>
          <p:nvPr/>
        </p:nvSpPr>
        <p:spPr>
          <a:xfrm>
            <a:off x="6820250" y="2963310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11款LLM × 3任务 × 3角色 × 3提示词</a:t>
            </a:r>
            <a:endParaRPr lang="en-US" sz="900" dirty="0"/>
          </a:p>
        </p:txBody>
      </p:sp>
      <p:sp>
        <p:nvSpPr>
          <p:cNvPr id="47" name="Text 47">
            <a:extLst>
              <a:ext uri="{FF2B5EF4-FFF2-40B4-BE49-F238E27FC236}">
                <a16:creationId xmlns:a16="http://schemas.microsoft.com/office/drawing/2014/main" id="{FBB9DA0B-1026-27B2-7E08-E9A8F2283200}"/>
              </a:ext>
            </a:extLst>
          </p:cNvPr>
          <p:cNvSpPr/>
          <p:nvPr/>
        </p:nvSpPr>
        <p:spPr>
          <a:xfrm>
            <a:off x="6820250" y="3393078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temperature=0.5，每配置重复10次</a:t>
            </a:r>
            <a:endParaRPr lang="en-US" sz="900" dirty="0"/>
          </a:p>
        </p:txBody>
      </p:sp>
      <p:sp>
        <p:nvSpPr>
          <p:cNvPr id="48" name="Text 48">
            <a:extLst>
              <a:ext uri="{FF2B5EF4-FFF2-40B4-BE49-F238E27FC236}">
                <a16:creationId xmlns:a16="http://schemas.microsoft.com/office/drawing/2014/main" id="{03C15E4F-7348-391A-C092-6ECC8DDA7672}"/>
              </a:ext>
            </a:extLst>
          </p:cNvPr>
          <p:cNvSpPr/>
          <p:nvPr/>
        </p:nvSpPr>
        <p:spPr>
          <a:xfrm>
            <a:off x="6820250" y="3822846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基于真实测量校准实验参数</a:t>
            </a:r>
            <a:endParaRPr lang="en-US" sz="900" dirty="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8CD38665-B5A5-C381-FDE5-52B11FE9CF0E}"/>
              </a:ext>
            </a:extLst>
          </p:cNvPr>
          <p:cNvSpPr/>
          <p:nvPr/>
        </p:nvSpPr>
        <p:spPr>
          <a:xfrm>
            <a:off x="318866" y="4426350"/>
            <a:ext cx="8229600" cy="384048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</p:sp>
      <p:sp>
        <p:nvSpPr>
          <p:cNvPr id="50" name="Text 50">
            <a:extLst>
              <a:ext uri="{FF2B5EF4-FFF2-40B4-BE49-F238E27FC236}">
                <a16:creationId xmlns:a16="http://schemas.microsoft.com/office/drawing/2014/main" id="{82AD184E-B6CE-B8C8-0574-F56404668B3F}"/>
              </a:ext>
            </a:extLst>
          </p:cNvPr>
          <p:cNvSpPr/>
          <p:nvPr/>
        </p:nvSpPr>
        <p:spPr>
          <a:xfrm>
            <a:off x="593186" y="442635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zh-CN" altLang="en-US" sz="1050" b="1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</a:t>
            </a:r>
            <a:r>
              <a:rPr lang="en-US" sz="1050" b="1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</a:t>
            </a:r>
            <a:r>
              <a:rPr lang="en-US" sz="105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生态数据（①）为漏洞定影响面 → 漏洞机制（②）为测量设探针 → 真实配置（③）为实验供参数 → 受控实验（④）回证漏洞成因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2077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6">
            <a:extLst>
              <a:ext uri="{FF2B5EF4-FFF2-40B4-BE49-F238E27FC236}">
                <a16:creationId xmlns:a16="http://schemas.microsoft.com/office/drawing/2014/main" id="{C862435D-024D-A823-EF46-9699487E8538}"/>
              </a:ext>
            </a:extLst>
          </p:cNvPr>
          <p:cNvSpPr/>
          <p:nvPr/>
        </p:nvSpPr>
        <p:spPr>
          <a:xfrm>
            <a:off x="151108" y="1667662"/>
            <a:ext cx="3041699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EB08E38-7850-0D2E-2820-DBB261A25866}"/>
              </a:ext>
            </a:extLst>
          </p:cNvPr>
          <p:cNvSpPr/>
          <p:nvPr/>
        </p:nvSpPr>
        <p:spPr>
          <a:xfrm>
            <a:off x="0" y="27063"/>
            <a:ext cx="9144000" cy="687167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37C5B966-E0BD-FDAE-3F3F-4376A8830453}"/>
              </a:ext>
            </a:extLst>
          </p:cNvPr>
          <p:cNvSpPr txBox="1">
            <a:spLocks/>
          </p:cNvSpPr>
          <p:nvPr/>
        </p:nvSpPr>
        <p:spPr>
          <a:xfrm>
            <a:off x="323528" y="191630"/>
            <a:ext cx="1975928" cy="35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方法原理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546507B2-53DA-EF1E-A57E-F6DB40440FBE}"/>
              </a:ext>
            </a:extLst>
          </p:cNvPr>
          <p:cNvSpPr/>
          <p:nvPr/>
        </p:nvSpPr>
        <p:spPr>
          <a:xfrm>
            <a:off x="323528" y="77155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漏洞一</a:t>
            </a:r>
            <a:r>
              <a:rPr lang="en-US" sz="24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：直接提示注入</a:t>
            </a:r>
            <a:endParaRPr lang="en-US" sz="2400" dirty="0"/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1281F8BC-CB93-225A-D3B9-D92D44118C25}"/>
              </a:ext>
            </a:extLst>
          </p:cNvPr>
          <p:cNvSpPr/>
          <p:nvPr/>
        </p:nvSpPr>
        <p:spPr>
          <a:xfrm>
            <a:off x="323528" y="127281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攻击者无需任何权限</a:t>
            </a:r>
            <a:r>
              <a:rPr lang="en-US" sz="115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，只是普通访客却能把恶意指令写进高权限角色</a:t>
            </a:r>
            <a:endParaRPr lang="en-US" sz="1150" dirty="0"/>
          </a:p>
        </p:txBody>
      </p:sp>
      <p:sp>
        <p:nvSpPr>
          <p:cNvPr id="53" name="Text 7">
            <a:extLst>
              <a:ext uri="{FF2B5EF4-FFF2-40B4-BE49-F238E27FC236}">
                <a16:creationId xmlns:a16="http://schemas.microsoft.com/office/drawing/2014/main" id="{6274B425-6395-C366-25E5-A6937E2DE8BF}"/>
              </a:ext>
            </a:extLst>
          </p:cNvPr>
          <p:cNvSpPr/>
          <p:nvPr/>
        </p:nvSpPr>
        <p:spPr>
          <a:xfrm>
            <a:off x="506408" y="177739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指令层级</a:t>
            </a:r>
            <a:endParaRPr lang="en-US" sz="1200" dirty="0"/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7FB1D0E6-8C5E-CFC8-CCD4-25C9CBB44395}"/>
              </a:ext>
            </a:extLst>
          </p:cNvPr>
          <p:cNvGrpSpPr/>
          <p:nvPr/>
        </p:nvGrpSpPr>
        <p:grpSpPr>
          <a:xfrm>
            <a:off x="1219358" y="2114832"/>
            <a:ext cx="787208" cy="402336"/>
            <a:chOff x="1512248" y="2124862"/>
            <a:chExt cx="787208" cy="402336"/>
          </a:xfrm>
        </p:grpSpPr>
        <p:sp>
          <p:nvSpPr>
            <p:cNvPr id="54" name="Shape 8">
              <a:extLst>
                <a:ext uri="{FF2B5EF4-FFF2-40B4-BE49-F238E27FC236}">
                  <a16:creationId xmlns:a16="http://schemas.microsoft.com/office/drawing/2014/main" id="{3A86E4E4-D588-5275-6211-7970A55D8C0D}"/>
                </a:ext>
              </a:extLst>
            </p:cNvPr>
            <p:cNvSpPr/>
            <p:nvPr/>
          </p:nvSpPr>
          <p:spPr>
            <a:xfrm>
              <a:off x="1512248" y="2124862"/>
              <a:ext cx="787208" cy="402336"/>
            </a:xfrm>
            <a:prstGeom prst="rect">
              <a:avLst/>
            </a:prstGeom>
            <a:solidFill>
              <a:srgbClr val="B91C1C"/>
            </a:solidFill>
            <a:ln/>
          </p:spPr>
        </p:sp>
        <p:sp>
          <p:nvSpPr>
            <p:cNvPr id="55" name="Text 9">
              <a:extLst>
                <a:ext uri="{FF2B5EF4-FFF2-40B4-BE49-F238E27FC236}">
                  <a16:creationId xmlns:a16="http://schemas.microsoft.com/office/drawing/2014/main" id="{27F64F8A-855B-36CB-EBDB-B1C8DE61E8C3}"/>
                </a:ext>
              </a:extLst>
            </p:cNvPr>
            <p:cNvSpPr/>
            <p:nvPr/>
          </p:nvSpPr>
          <p:spPr>
            <a:xfrm>
              <a:off x="1512248" y="2124862"/>
              <a:ext cx="787208" cy="40233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system</a:t>
              </a:r>
              <a:endParaRPr lang="en-US" sz="1100" dirty="0"/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A6224E0D-C246-E4F1-86BA-8D07576F3440}"/>
              </a:ext>
            </a:extLst>
          </p:cNvPr>
          <p:cNvGrpSpPr/>
          <p:nvPr/>
        </p:nvGrpSpPr>
        <p:grpSpPr>
          <a:xfrm>
            <a:off x="918034" y="2599888"/>
            <a:ext cx="1389856" cy="402336"/>
            <a:chOff x="1237928" y="2600350"/>
            <a:chExt cx="1389856" cy="402336"/>
          </a:xfrm>
        </p:grpSpPr>
        <p:sp>
          <p:nvSpPr>
            <p:cNvPr id="57" name="Shape 11">
              <a:extLst>
                <a:ext uri="{FF2B5EF4-FFF2-40B4-BE49-F238E27FC236}">
                  <a16:creationId xmlns:a16="http://schemas.microsoft.com/office/drawing/2014/main" id="{35314259-C40A-579E-7E39-1992A9D9FE7F}"/>
                </a:ext>
              </a:extLst>
            </p:cNvPr>
            <p:cNvSpPr/>
            <p:nvPr/>
          </p:nvSpPr>
          <p:spPr>
            <a:xfrm>
              <a:off x="1237928" y="2600350"/>
              <a:ext cx="1389856" cy="402336"/>
            </a:xfrm>
            <a:prstGeom prst="rect">
              <a:avLst/>
            </a:prstGeom>
            <a:solidFill>
              <a:srgbClr val="E05B3C"/>
            </a:solidFill>
            <a:ln/>
          </p:spPr>
        </p:sp>
        <p:sp>
          <p:nvSpPr>
            <p:cNvPr id="58" name="Text 12">
              <a:extLst>
                <a:ext uri="{FF2B5EF4-FFF2-40B4-BE49-F238E27FC236}">
                  <a16:creationId xmlns:a16="http://schemas.microsoft.com/office/drawing/2014/main" id="{A9C358BF-A99E-482E-A21E-91482293F613}"/>
                </a:ext>
              </a:extLst>
            </p:cNvPr>
            <p:cNvSpPr/>
            <p:nvPr/>
          </p:nvSpPr>
          <p:spPr>
            <a:xfrm>
              <a:off x="1237928" y="2600350"/>
              <a:ext cx="1389856" cy="40233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assistant</a:t>
              </a:r>
              <a:endParaRPr lang="en-US" sz="1100" dirty="0"/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0D95F524-23C7-8F1F-931A-07EA332ADBD0}"/>
              </a:ext>
            </a:extLst>
          </p:cNvPr>
          <p:cNvGrpSpPr/>
          <p:nvPr/>
        </p:nvGrpSpPr>
        <p:grpSpPr>
          <a:xfrm>
            <a:off x="695254" y="3081761"/>
            <a:ext cx="1880200" cy="402336"/>
            <a:chOff x="963608" y="3075838"/>
            <a:chExt cx="1880200" cy="402336"/>
          </a:xfrm>
        </p:grpSpPr>
        <p:sp>
          <p:nvSpPr>
            <p:cNvPr id="60" name="Shape 14">
              <a:extLst>
                <a:ext uri="{FF2B5EF4-FFF2-40B4-BE49-F238E27FC236}">
                  <a16:creationId xmlns:a16="http://schemas.microsoft.com/office/drawing/2014/main" id="{CBD14683-6E93-B3AF-913E-89B7C76A6470}"/>
                </a:ext>
              </a:extLst>
            </p:cNvPr>
            <p:cNvSpPr/>
            <p:nvPr/>
          </p:nvSpPr>
          <p:spPr>
            <a:xfrm>
              <a:off x="963608" y="3075838"/>
              <a:ext cx="1880200" cy="402336"/>
            </a:xfrm>
            <a:prstGeom prst="rect">
              <a:avLst/>
            </a:prstGeom>
            <a:solidFill>
              <a:srgbClr val="E7A23D"/>
            </a:solidFill>
            <a:ln/>
          </p:spPr>
        </p:sp>
        <p:sp>
          <p:nvSpPr>
            <p:cNvPr id="61" name="Text 15">
              <a:extLst>
                <a:ext uri="{FF2B5EF4-FFF2-40B4-BE49-F238E27FC236}">
                  <a16:creationId xmlns:a16="http://schemas.microsoft.com/office/drawing/2014/main" id="{A2070EAF-C794-A8B0-539E-73E202C3D28B}"/>
                </a:ext>
              </a:extLst>
            </p:cNvPr>
            <p:cNvSpPr/>
            <p:nvPr/>
          </p:nvSpPr>
          <p:spPr>
            <a:xfrm>
              <a:off x="963608" y="3075838"/>
              <a:ext cx="1880200" cy="40233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tool</a:t>
              </a:r>
              <a:endParaRPr lang="en-US" sz="1100" dirty="0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EB2B30E1-B5A3-FFB8-7B91-2A7E0547CEAB}"/>
              </a:ext>
            </a:extLst>
          </p:cNvPr>
          <p:cNvGrpSpPr/>
          <p:nvPr/>
        </p:nvGrpSpPr>
        <p:grpSpPr>
          <a:xfrm>
            <a:off x="497806" y="3556706"/>
            <a:ext cx="2304844" cy="402336"/>
            <a:chOff x="689288" y="3551326"/>
            <a:chExt cx="3017520" cy="402336"/>
          </a:xfrm>
        </p:grpSpPr>
        <p:sp>
          <p:nvSpPr>
            <p:cNvPr id="63" name="Shape 17">
              <a:extLst>
                <a:ext uri="{FF2B5EF4-FFF2-40B4-BE49-F238E27FC236}">
                  <a16:creationId xmlns:a16="http://schemas.microsoft.com/office/drawing/2014/main" id="{5FAD38D3-AC15-6901-3726-B01556F809D0}"/>
                </a:ext>
              </a:extLst>
            </p:cNvPr>
            <p:cNvSpPr/>
            <p:nvPr/>
          </p:nvSpPr>
          <p:spPr>
            <a:xfrm>
              <a:off x="689288" y="3551326"/>
              <a:ext cx="3017520" cy="402336"/>
            </a:xfrm>
            <a:prstGeom prst="rect">
              <a:avLst/>
            </a:prstGeom>
            <a:solidFill>
              <a:srgbClr val="8FA9C4"/>
            </a:solidFill>
            <a:ln/>
          </p:spPr>
        </p:sp>
        <p:sp>
          <p:nvSpPr>
            <p:cNvPr id="64" name="Text 18">
              <a:extLst>
                <a:ext uri="{FF2B5EF4-FFF2-40B4-BE49-F238E27FC236}">
                  <a16:creationId xmlns:a16="http://schemas.microsoft.com/office/drawing/2014/main" id="{45C2D0EA-EE11-57EA-7C6F-8D78769086C0}"/>
                </a:ext>
              </a:extLst>
            </p:cNvPr>
            <p:cNvSpPr/>
            <p:nvPr/>
          </p:nvSpPr>
          <p:spPr>
            <a:xfrm>
              <a:off x="689288" y="3551326"/>
              <a:ext cx="3017520" cy="40233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user</a:t>
              </a:r>
              <a:endParaRPr lang="en-US" sz="1100" dirty="0"/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526F18C7-6059-E0E3-749C-B9323119829D}"/>
              </a:ext>
            </a:extLst>
          </p:cNvPr>
          <p:cNvGrpSpPr/>
          <p:nvPr/>
        </p:nvGrpSpPr>
        <p:grpSpPr>
          <a:xfrm>
            <a:off x="251519" y="4018755"/>
            <a:ext cx="2895077" cy="778458"/>
            <a:chOff x="506408" y="4118254"/>
            <a:chExt cx="3383280" cy="621792"/>
          </a:xfrm>
        </p:grpSpPr>
        <p:sp>
          <p:nvSpPr>
            <p:cNvPr id="66" name="Shape 20">
              <a:extLst>
                <a:ext uri="{FF2B5EF4-FFF2-40B4-BE49-F238E27FC236}">
                  <a16:creationId xmlns:a16="http://schemas.microsoft.com/office/drawing/2014/main" id="{A69F7A35-19F8-CDC5-EFC6-BDA77F8940BF}"/>
                </a:ext>
              </a:extLst>
            </p:cNvPr>
            <p:cNvSpPr/>
            <p:nvPr/>
          </p:nvSpPr>
          <p:spPr>
            <a:xfrm>
              <a:off x="506408" y="4118254"/>
              <a:ext cx="3383280" cy="621792"/>
            </a:xfrm>
            <a:prstGeom prst="roundRect">
              <a:avLst>
                <a:gd name="adj" fmla="val 8824"/>
              </a:avLst>
            </a:prstGeom>
            <a:solidFill>
              <a:srgbClr val="FBEBE9"/>
            </a:solidFill>
            <a:ln/>
          </p:spPr>
        </p:sp>
        <p:sp>
          <p:nvSpPr>
            <p:cNvPr id="67" name="Text 21">
              <a:extLst>
                <a:ext uri="{FF2B5EF4-FFF2-40B4-BE49-F238E27FC236}">
                  <a16:creationId xmlns:a16="http://schemas.microsoft.com/office/drawing/2014/main" id="{E6AAF5D4-62D0-1937-6556-8EFF070FE06F}"/>
                </a:ext>
              </a:extLst>
            </p:cNvPr>
            <p:cNvSpPr/>
            <p:nvPr/>
          </p:nvSpPr>
          <p:spPr>
            <a:xfrm>
              <a:off x="616136" y="4173118"/>
              <a:ext cx="3163824" cy="51206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sz="1100" b="1" dirty="0">
                  <a:solidFill>
                    <a:srgbClr val="C0392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✗ 安全前提：</a:t>
              </a:r>
              <a:r>
                <a:rPr lang="en-US" sz="1100" dirty="0">
                  <a:solidFill>
                    <a:srgbClr val="1F2A3D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低层级内容永远无法冒充电层级角色；恶意 user 输入也只能影响自己。</a:t>
              </a:r>
              <a:endParaRPr lang="en-US" sz="1100" dirty="0"/>
            </a:p>
          </p:txBody>
        </p:sp>
      </p:grpSp>
      <p:sp>
        <p:nvSpPr>
          <p:cNvPr id="68" name="Shape 22">
            <a:extLst>
              <a:ext uri="{FF2B5EF4-FFF2-40B4-BE49-F238E27FC236}">
                <a16:creationId xmlns:a16="http://schemas.microsoft.com/office/drawing/2014/main" id="{C6243DFC-CED3-E741-D0EB-72B475F56F44}"/>
              </a:ext>
            </a:extLst>
          </p:cNvPr>
          <p:cNvSpPr/>
          <p:nvPr/>
        </p:nvSpPr>
        <p:spPr>
          <a:xfrm>
            <a:off x="3363860" y="1667662"/>
            <a:ext cx="564506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69" name="Text 23">
            <a:extLst>
              <a:ext uri="{FF2B5EF4-FFF2-40B4-BE49-F238E27FC236}">
                <a16:creationId xmlns:a16="http://schemas.microsoft.com/office/drawing/2014/main" id="{2F1BA71B-AC00-9325-3D84-519CD72CDC8B}"/>
              </a:ext>
            </a:extLst>
          </p:cNvPr>
          <p:cNvSpPr/>
          <p:nvPr/>
        </p:nvSpPr>
        <p:spPr>
          <a:xfrm>
            <a:off x="5403970" y="1813966"/>
            <a:ext cx="116807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攻击如何发生</a:t>
            </a:r>
            <a:endParaRPr lang="en-US" sz="1200" dirty="0"/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FA1EA8EB-A6AB-4C36-162C-FF9559759447}"/>
              </a:ext>
            </a:extLst>
          </p:cNvPr>
          <p:cNvGrpSpPr/>
          <p:nvPr/>
        </p:nvGrpSpPr>
        <p:grpSpPr>
          <a:xfrm>
            <a:off x="3491880" y="3968607"/>
            <a:ext cx="5400600" cy="742324"/>
            <a:chOff x="506408" y="4118254"/>
            <a:chExt cx="3383280" cy="742324"/>
          </a:xfrm>
        </p:grpSpPr>
        <p:sp>
          <p:nvSpPr>
            <p:cNvPr id="89" name="Shape 20">
              <a:extLst>
                <a:ext uri="{FF2B5EF4-FFF2-40B4-BE49-F238E27FC236}">
                  <a16:creationId xmlns:a16="http://schemas.microsoft.com/office/drawing/2014/main" id="{3312953F-729E-F236-9E7F-5E477E2E879C}"/>
                </a:ext>
              </a:extLst>
            </p:cNvPr>
            <p:cNvSpPr/>
            <p:nvPr/>
          </p:nvSpPr>
          <p:spPr>
            <a:xfrm>
              <a:off x="506408" y="4118254"/>
              <a:ext cx="3383280" cy="621792"/>
            </a:xfrm>
            <a:prstGeom prst="roundRect">
              <a:avLst>
                <a:gd name="adj" fmla="val 8824"/>
              </a:avLst>
            </a:prstGeom>
            <a:solidFill>
              <a:srgbClr val="F4F7FB"/>
            </a:solidFill>
            <a:ln/>
          </p:spPr>
        </p:sp>
        <p:sp>
          <p:nvSpPr>
            <p:cNvPr id="90" name="Text 21">
              <a:extLst>
                <a:ext uri="{FF2B5EF4-FFF2-40B4-BE49-F238E27FC236}">
                  <a16:creationId xmlns:a16="http://schemas.microsoft.com/office/drawing/2014/main" id="{9FDFD4B2-12CA-BBFB-228B-199B19A9AE2A}"/>
                </a:ext>
              </a:extLst>
            </p:cNvPr>
            <p:cNvSpPr/>
            <p:nvPr/>
          </p:nvSpPr>
          <p:spPr>
            <a:xfrm>
              <a:off x="616136" y="4173118"/>
              <a:ext cx="3163824" cy="68746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500" b="1">
                  <a:solidFill>
                    <a:srgbClr val="C0392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存在风险</a:t>
              </a:r>
              <a:r>
                <a:rPr lang="en-US" sz="1500" b="1">
                  <a:solidFill>
                    <a:srgbClr val="C0392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：</a:t>
              </a:r>
              <a:r>
                <a:rPr lang="en-US" altLang="zh-CN" sz="1100">
                  <a:solidFill>
                    <a:srgbClr val="6B7A9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不校验消息历史完整性，任由访客伪造 system / assistant 消息</a:t>
              </a:r>
              <a:r>
                <a:rPr lang="zh-CN" altLang="en-US" sz="1100">
                  <a:solidFill>
                    <a:srgbClr val="6B7A9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。</a:t>
              </a:r>
              <a:r>
                <a:rPr lang="en-US" altLang="zh-CN" sz="1100">
                  <a:solidFill>
                    <a:srgbClr val="6B7A9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攻击者只需改请求体JSON，如实测套出系统提示词</a:t>
              </a:r>
              <a:endParaRPr lang="en-US" altLang="zh-CN" sz="1100"/>
            </a:p>
            <a:p>
              <a:endParaRPr lang="en-US" altLang="zh-CN" sz="800"/>
            </a:p>
            <a:p>
              <a:pPr marL="0" indent="0">
                <a:buNone/>
              </a:pPr>
              <a:endParaRPr lang="en-US" sz="900" dirty="0"/>
            </a:p>
          </p:txBody>
        </p:sp>
      </p:grpSp>
      <p:pic>
        <p:nvPicPr>
          <p:cNvPr id="92" name="图片 91" descr="图片包含 图示&#10;&#10;描述已自动生成">
            <a:extLst>
              <a:ext uri="{FF2B5EF4-FFF2-40B4-BE49-F238E27FC236}">
                <a16:creationId xmlns:a16="http://schemas.microsoft.com/office/drawing/2014/main" id="{D0855D9A-6FA2-6D05-0ADA-92429335E3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294" y="2051710"/>
            <a:ext cx="5576122" cy="188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852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EB08E38-7850-0D2E-2820-DBB261A25866}"/>
              </a:ext>
            </a:extLst>
          </p:cNvPr>
          <p:cNvSpPr/>
          <p:nvPr/>
        </p:nvSpPr>
        <p:spPr>
          <a:xfrm>
            <a:off x="0" y="27063"/>
            <a:ext cx="9144000" cy="687167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37C5B966-E0BD-FDAE-3F3F-4376A8830453}"/>
              </a:ext>
            </a:extLst>
          </p:cNvPr>
          <p:cNvSpPr txBox="1">
            <a:spLocks/>
          </p:cNvSpPr>
          <p:nvPr/>
        </p:nvSpPr>
        <p:spPr>
          <a:xfrm>
            <a:off x="323528" y="191630"/>
            <a:ext cx="1975928" cy="35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方法原理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6E8D1AF7-F2CD-990D-0D43-426D4CEB6E23}"/>
              </a:ext>
            </a:extLst>
          </p:cNvPr>
          <p:cNvSpPr/>
          <p:nvPr/>
        </p:nvSpPr>
        <p:spPr>
          <a:xfrm>
            <a:off x="323528" y="83669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漏洞二</a:t>
            </a:r>
            <a:r>
              <a:rPr lang="en-US" sz="24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：间接提示注入</a:t>
            </a:r>
            <a:endParaRPr lang="en-US" sz="2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174F8E2E-380A-A5FB-A11A-15A3AF0B43DF}"/>
              </a:ext>
            </a:extLst>
          </p:cNvPr>
          <p:cNvSpPr/>
          <p:nvPr/>
        </p:nvSpPr>
        <p:spPr>
          <a:xfrm>
            <a:off x="323528" y="132132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攻击者不碰聊天窗口</a:t>
            </a:r>
            <a:r>
              <a:rPr lang="zh-CN" altLang="en-US" sz="115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，仅需</a:t>
            </a:r>
            <a:r>
              <a:rPr lang="en-US" sz="115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发一条评论</a:t>
            </a:r>
            <a:r>
              <a:rPr lang="zh-CN" altLang="en-US" sz="11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即可</a:t>
            </a:r>
            <a:r>
              <a:rPr lang="en-US" sz="115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等爬虫把它收进知识库</a:t>
            </a:r>
            <a:endParaRPr lang="en-US" sz="115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20A1214F-841A-B725-183E-8278D6DC6F27}"/>
              </a:ext>
            </a:extLst>
          </p:cNvPr>
          <p:cNvSpPr/>
          <p:nvPr/>
        </p:nvSpPr>
        <p:spPr>
          <a:xfrm>
            <a:off x="323528" y="1732806"/>
            <a:ext cx="4206240" cy="312724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06D11ED0-71ED-B3DC-69B1-83A6CB45B4C7}"/>
              </a:ext>
            </a:extLst>
          </p:cNvPr>
          <p:cNvSpPr/>
          <p:nvPr/>
        </p:nvSpPr>
        <p:spPr>
          <a:xfrm>
            <a:off x="506408" y="184253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攻击示意</a:t>
            </a:r>
            <a:endParaRPr lang="en-US" sz="12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682A17FC-F35D-6A37-D760-9736463F1C66}"/>
              </a:ext>
            </a:extLst>
          </p:cNvPr>
          <p:cNvSpPr/>
          <p:nvPr/>
        </p:nvSpPr>
        <p:spPr>
          <a:xfrm>
            <a:off x="506408" y="383592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00" b="1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攻击链</a:t>
            </a:r>
            <a:endParaRPr lang="en-US" sz="90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EC3A4D63-098C-EA8D-C758-AFA0093A8D13}"/>
              </a:ext>
            </a:extLst>
          </p:cNvPr>
          <p:cNvSpPr/>
          <p:nvPr/>
        </p:nvSpPr>
        <p:spPr>
          <a:xfrm>
            <a:off x="506408" y="4073670"/>
            <a:ext cx="694944" cy="566928"/>
          </a:xfrm>
          <a:prstGeom prst="roundRect">
            <a:avLst>
              <a:gd name="adj" fmla="val 8065"/>
            </a:avLst>
          </a:prstGeom>
          <a:solidFill>
            <a:srgbClr val="EDF4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D6DA8103-CA2D-E7D7-49E6-A18FF54FBF31}"/>
              </a:ext>
            </a:extLst>
          </p:cNvPr>
          <p:cNvSpPr/>
          <p:nvPr/>
        </p:nvSpPr>
        <p:spPr>
          <a:xfrm>
            <a:off x="533840" y="4110246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0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攻击者发恶意评论</a:t>
            </a:r>
            <a:endParaRPr lang="en-US" sz="900" dirty="0"/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AFFFFDC7-01D1-1D53-8521-9F8C022B7D4D}"/>
              </a:ext>
            </a:extLst>
          </p:cNvPr>
          <p:cNvSpPr/>
          <p:nvPr/>
        </p:nvSpPr>
        <p:spPr>
          <a:xfrm>
            <a:off x="1215068" y="4311414"/>
            <a:ext cx="54864" cy="91440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94AFEED8-8ECF-F254-44B6-D5EA7CD3BA98}"/>
              </a:ext>
            </a:extLst>
          </p:cNvPr>
          <p:cNvSpPr/>
          <p:nvPr/>
        </p:nvSpPr>
        <p:spPr>
          <a:xfrm>
            <a:off x="1283648" y="4073670"/>
            <a:ext cx="694944" cy="566928"/>
          </a:xfrm>
          <a:prstGeom prst="roundRect">
            <a:avLst>
              <a:gd name="adj" fmla="val 8065"/>
            </a:avLst>
          </a:prstGeom>
          <a:solidFill>
            <a:srgbClr val="EDF4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F97B5A2A-4F64-8C3B-22CE-434D2CD138AD}"/>
              </a:ext>
            </a:extLst>
          </p:cNvPr>
          <p:cNvSpPr/>
          <p:nvPr/>
        </p:nvSpPr>
        <p:spPr>
          <a:xfrm>
            <a:off x="1311080" y="4110246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</a:rPr>
              <a:t>爬虫抓取进 RAG</a:t>
            </a:r>
            <a:endParaRPr lang="en-US" sz="900" dirty="0">
              <a:solidFill>
                <a:srgbClr val="16324F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5932BEB6-D3F0-4FC8-C3A4-62EEA059FB5A}"/>
              </a:ext>
            </a:extLst>
          </p:cNvPr>
          <p:cNvSpPr/>
          <p:nvPr/>
        </p:nvSpPr>
        <p:spPr>
          <a:xfrm>
            <a:off x="1992308" y="4311414"/>
            <a:ext cx="54864" cy="91440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AECA7460-F0BB-1E9C-7CDA-540C3CE9A0D7}"/>
              </a:ext>
            </a:extLst>
          </p:cNvPr>
          <p:cNvSpPr/>
          <p:nvPr/>
        </p:nvSpPr>
        <p:spPr>
          <a:xfrm>
            <a:off x="2060888" y="4073670"/>
            <a:ext cx="694944" cy="566928"/>
          </a:xfrm>
          <a:prstGeom prst="roundRect">
            <a:avLst>
              <a:gd name="adj" fmla="val 8065"/>
            </a:avLst>
          </a:prstGeom>
          <a:solidFill>
            <a:srgbClr val="EDF4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72A506E0-4BD4-814E-FE75-82EC18C62FA1}"/>
              </a:ext>
            </a:extLst>
          </p:cNvPr>
          <p:cNvSpPr/>
          <p:nvPr/>
        </p:nvSpPr>
        <p:spPr>
          <a:xfrm>
            <a:off x="2088320" y="4110246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algn="ctr">
              <a:lnSpc>
                <a:spcPct val="150000"/>
              </a:lnSpc>
              <a:buNone/>
            </a:pPr>
            <a:r>
              <a:rPr lang="en-US" sz="90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</a:rPr>
              <a:t>用户正常提问</a:t>
            </a:r>
            <a:endParaRPr lang="en-US" sz="900" dirty="0">
              <a:solidFill>
                <a:srgbClr val="16324F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D902635A-3214-592D-1F7E-6568B80CF6C8}"/>
              </a:ext>
            </a:extLst>
          </p:cNvPr>
          <p:cNvSpPr/>
          <p:nvPr/>
        </p:nvSpPr>
        <p:spPr>
          <a:xfrm>
            <a:off x="2769548" y="4311414"/>
            <a:ext cx="54864" cy="91440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844F1010-E850-92C5-B1C5-08F395C37D2D}"/>
              </a:ext>
            </a:extLst>
          </p:cNvPr>
          <p:cNvSpPr/>
          <p:nvPr/>
        </p:nvSpPr>
        <p:spPr>
          <a:xfrm>
            <a:off x="2838128" y="4073670"/>
            <a:ext cx="694944" cy="566928"/>
          </a:xfrm>
          <a:prstGeom prst="roundRect">
            <a:avLst>
              <a:gd name="adj" fmla="val 8065"/>
            </a:avLst>
          </a:prstGeom>
          <a:solidFill>
            <a:srgbClr val="EDF4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BC67A8B7-1743-3A5D-F87B-0AE08E1C64C7}"/>
              </a:ext>
            </a:extLst>
          </p:cNvPr>
          <p:cNvSpPr/>
          <p:nvPr/>
        </p:nvSpPr>
        <p:spPr>
          <a:xfrm>
            <a:off x="2806124" y="4110246"/>
            <a:ext cx="763524" cy="49377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</a:rPr>
              <a:t>注入以特权角色生效</a:t>
            </a:r>
            <a:endParaRPr lang="en-US" sz="900" dirty="0">
              <a:solidFill>
                <a:srgbClr val="16324F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A3D2ABA9-0631-0404-09AC-B4BE28075D8E}"/>
              </a:ext>
            </a:extLst>
          </p:cNvPr>
          <p:cNvSpPr/>
          <p:nvPr/>
        </p:nvSpPr>
        <p:spPr>
          <a:xfrm>
            <a:off x="3546788" y="4311414"/>
            <a:ext cx="54864" cy="91440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D93D80A2-0A3A-185A-4AD5-28ABCBF4DD45}"/>
              </a:ext>
            </a:extLst>
          </p:cNvPr>
          <p:cNvSpPr/>
          <p:nvPr/>
        </p:nvSpPr>
        <p:spPr>
          <a:xfrm>
            <a:off x="3615368" y="4073670"/>
            <a:ext cx="694944" cy="566928"/>
          </a:xfrm>
          <a:prstGeom prst="roundRect">
            <a:avLst>
              <a:gd name="adj" fmla="val 806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A8739FC8-DE21-DCB7-9872-3D6C38BB63C5}"/>
              </a:ext>
            </a:extLst>
          </p:cNvPr>
          <p:cNvSpPr/>
          <p:nvPr/>
        </p:nvSpPr>
        <p:spPr>
          <a:xfrm>
            <a:off x="3642800" y="4110246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机器人被劫持 Pwned</a:t>
            </a:r>
            <a:endParaRPr lang="en-US" sz="900" dirty="0"/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3D320047-E13C-41B6-FCC8-A2F05710A0FE}"/>
              </a:ext>
            </a:extLst>
          </p:cNvPr>
          <p:cNvSpPr/>
          <p:nvPr/>
        </p:nvSpPr>
        <p:spPr>
          <a:xfrm>
            <a:off x="4758368" y="1732806"/>
            <a:ext cx="3840480" cy="3127248"/>
          </a:xfrm>
          <a:prstGeom prst="roundRect">
            <a:avLst>
              <a:gd name="adj" fmla="val 2339"/>
            </a:avLst>
          </a:prstGeom>
          <a:solidFill>
            <a:srgbClr val="16324F"/>
          </a:solidFill>
          <a:ln/>
        </p:spPr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F08312CD-76CF-EB98-CD6E-65B016A1FB1D}"/>
              </a:ext>
            </a:extLst>
          </p:cNvPr>
          <p:cNvSpPr/>
          <p:nvPr/>
        </p:nvSpPr>
        <p:spPr>
          <a:xfrm>
            <a:off x="4986968" y="186082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真实暴露面</a:t>
            </a:r>
            <a:endParaRPr lang="en-US" sz="1250" dirty="0"/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34BF74E7-63E6-5357-224B-C0C0ECF5D483}"/>
              </a:ext>
            </a:extLst>
          </p:cNvPr>
          <p:cNvSpPr/>
          <p:nvPr/>
        </p:nvSpPr>
        <p:spPr>
          <a:xfrm>
            <a:off x="4986968" y="2208294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000" dirty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5A44A232-C2FD-4D6A-26FD-9B6EBDA674E4}"/>
              </a:ext>
            </a:extLst>
          </p:cNvPr>
          <p:cNvSpPr/>
          <p:nvPr/>
        </p:nvSpPr>
        <p:spPr>
          <a:xfrm>
            <a:off x="5901368" y="222658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真实机器人会尝试在回答中引用外部内容（URL引用）——说明RAG已被广泛使用</a:t>
            </a:r>
            <a:endParaRPr lang="en-US" sz="900" dirty="0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C1FA2166-8179-A945-CA54-17443465E2FB}"/>
              </a:ext>
            </a:extLst>
          </p:cNvPr>
          <p:cNvSpPr/>
          <p:nvPr/>
        </p:nvSpPr>
        <p:spPr>
          <a:xfrm>
            <a:off x="4986968" y="295810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2000" dirty="0"/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3669F46A-DBBF-D9C6-29B0-BCD04DA261A4}"/>
              </a:ext>
            </a:extLst>
          </p:cNvPr>
          <p:cNvSpPr/>
          <p:nvPr/>
        </p:nvSpPr>
        <p:spPr>
          <a:xfrm>
            <a:off x="5901368" y="297639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抽样100家电商站：13家的聊天上下文已包含评论区等第三方UGC</a:t>
            </a:r>
            <a:endParaRPr lang="en-US" sz="900" dirty="0"/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730201E6-895F-FF2D-3901-1A6B1CC9664B}"/>
              </a:ext>
            </a:extLst>
          </p:cNvPr>
          <p:cNvSpPr/>
          <p:nvPr/>
        </p:nvSpPr>
        <p:spPr>
          <a:xfrm>
            <a:off x="4986968" y="370791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000" dirty="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755242E9-3983-DB5E-9575-8C56C27E3D84}"/>
              </a:ext>
            </a:extLst>
          </p:cNvPr>
          <p:cNvSpPr/>
          <p:nvPr/>
        </p:nvSpPr>
        <p:spPr>
          <a:xfrm>
            <a:off x="5901368" y="372619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超过半数的响应里引用了第三方域名URL，为跨站投毒打开通道</a:t>
            </a:r>
            <a:endParaRPr lang="en-US" sz="90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CC1BE22F-DCA2-AC2C-8A18-464AC535A082}"/>
              </a:ext>
            </a:extLst>
          </p:cNvPr>
          <p:cNvSpPr/>
          <p:nvPr/>
        </p:nvSpPr>
        <p:spPr>
          <a:xfrm>
            <a:off x="4986968" y="4476006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8C2A20"/>
          </a:solidFill>
          <a:ln/>
        </p:spPr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6668490C-059C-8C39-7BB2-6AD41FB41916}"/>
              </a:ext>
            </a:extLst>
          </p:cNvPr>
          <p:cNvSpPr/>
          <p:nvPr/>
        </p:nvSpPr>
        <p:spPr>
          <a:xfrm>
            <a:off x="4986968" y="447600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注入具有持久性：恶意内容长期潜伏，反复坑害每个新访客</a:t>
            </a:r>
            <a:endParaRPr lang="en-US" sz="900" dirty="0"/>
          </a:p>
        </p:txBody>
      </p:sp>
      <p:pic>
        <p:nvPicPr>
          <p:cNvPr id="36" name="图片 35" descr="QR 代码&#10;&#10;描述已自动生成">
            <a:extLst>
              <a:ext uri="{FF2B5EF4-FFF2-40B4-BE49-F238E27FC236}">
                <a16:creationId xmlns:a16="http://schemas.microsoft.com/office/drawing/2014/main" id="{7C7A9F32-16DC-5936-2D72-A0A547242D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68" y="2153430"/>
            <a:ext cx="4023360" cy="159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3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EB08E38-7850-0D2E-2820-DBB261A25866}"/>
              </a:ext>
            </a:extLst>
          </p:cNvPr>
          <p:cNvSpPr/>
          <p:nvPr/>
        </p:nvSpPr>
        <p:spPr>
          <a:xfrm>
            <a:off x="0" y="27063"/>
            <a:ext cx="9144000" cy="687167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37C5B966-E0BD-FDAE-3F3F-4376A8830453}"/>
              </a:ext>
            </a:extLst>
          </p:cNvPr>
          <p:cNvSpPr txBox="1">
            <a:spLocks/>
          </p:cNvSpPr>
          <p:nvPr/>
        </p:nvSpPr>
        <p:spPr>
          <a:xfrm>
            <a:off x="323528" y="191630"/>
            <a:ext cx="1975928" cy="35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方法原理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6F705780-3985-DF52-42D2-8E24B71D58CB}"/>
              </a:ext>
            </a:extLst>
          </p:cNvPr>
          <p:cNvSpPr/>
          <p:nvPr/>
        </p:nvSpPr>
        <p:spPr>
          <a:xfrm>
            <a:off x="323528" y="80911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款插件风险</a:t>
            </a:r>
            <a:r>
              <a:rPr lang="zh-CN" altLang="en-US" sz="24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</a:t>
            </a:r>
            <a:endParaRPr lang="en-US" sz="2400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98864327-0409-5B12-9253-64648EC9CF2C}"/>
              </a:ext>
            </a:extLst>
          </p:cNvPr>
          <p:cNvSpPr/>
          <p:nvPr/>
        </p:nvSpPr>
        <p:spPr>
          <a:xfrm>
            <a:off x="323528" y="1491630"/>
            <a:ext cx="5029200" cy="3096344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E9F1370C-7802-161D-C6F9-01B79CF45D6A}"/>
              </a:ext>
            </a:extLst>
          </p:cNvPr>
          <p:cNvSpPr/>
          <p:nvPr/>
        </p:nvSpPr>
        <p:spPr>
          <a:xfrm>
            <a:off x="2316920" y="1537350"/>
            <a:ext cx="2898648" cy="18288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总计 17 款插件（7 款 WP + 10 款商业）</a:t>
            </a:r>
            <a:endParaRPr lang="en-US" sz="100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C6818AA0-2AA5-A261-08F4-10FCA077CAE1}"/>
              </a:ext>
            </a:extLst>
          </p:cNvPr>
          <p:cNvSpPr/>
          <p:nvPr/>
        </p:nvSpPr>
        <p:spPr>
          <a:xfrm>
            <a:off x="488120" y="181167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维度① 传输协议</a:t>
            </a:r>
            <a:endParaRPr lang="en-US" sz="1050" dirty="0"/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40000FFD-1EDA-7AD4-57AF-4217E6D223B2}"/>
              </a:ext>
            </a:extLst>
          </p:cNvPr>
          <p:cNvSpPr/>
          <p:nvPr/>
        </p:nvSpPr>
        <p:spPr>
          <a:xfrm>
            <a:off x="2198048" y="1802526"/>
            <a:ext cx="2644230" cy="2743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ACB21BF3-50D8-5606-6A11-658D29987F61}"/>
              </a:ext>
            </a:extLst>
          </p:cNvPr>
          <p:cNvSpPr/>
          <p:nvPr/>
        </p:nvSpPr>
        <p:spPr>
          <a:xfrm>
            <a:off x="2216336" y="1802526"/>
            <a:ext cx="262594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 15</a:t>
            </a:r>
            <a:endParaRPr lang="en-US" sz="800" dirty="0"/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D1372D63-3C15-E36D-7BFE-D93C4090AAA3}"/>
              </a:ext>
            </a:extLst>
          </p:cNvPr>
          <p:cNvSpPr/>
          <p:nvPr/>
        </p:nvSpPr>
        <p:spPr>
          <a:xfrm>
            <a:off x="4860566" y="1802526"/>
            <a:ext cx="336714" cy="274320"/>
          </a:xfrm>
          <a:prstGeom prst="rect">
            <a:avLst/>
          </a:prstGeom>
          <a:solidFill>
            <a:srgbClr val="7BA7D4"/>
          </a:solidFill>
          <a:ln/>
        </p:spPr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0E03A7C5-4205-C293-FF89-CD2B45B843E6}"/>
              </a:ext>
            </a:extLst>
          </p:cNvPr>
          <p:cNvSpPr/>
          <p:nvPr/>
        </p:nvSpPr>
        <p:spPr>
          <a:xfrm>
            <a:off x="4878854" y="1802526"/>
            <a:ext cx="31842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E2E2D0DD-AFD3-3220-CE0E-59B89173243A}"/>
              </a:ext>
            </a:extLst>
          </p:cNvPr>
          <p:cNvSpPr/>
          <p:nvPr/>
        </p:nvSpPr>
        <p:spPr>
          <a:xfrm>
            <a:off x="2198048" y="2085990"/>
            <a:ext cx="3017520" cy="12801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7BA7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</a:t>
            </a: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×2</a:t>
            </a:r>
            <a:endParaRPr lang="en-US" sz="100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B67169F8-7A02-685F-3BFA-E5F2A8E62D24}"/>
              </a:ext>
            </a:extLst>
          </p:cNvPr>
          <p:cNvSpPr/>
          <p:nvPr/>
        </p:nvSpPr>
        <p:spPr>
          <a:xfrm>
            <a:off x="488120" y="222315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维度② 直接注入可伪造的角色</a:t>
            </a:r>
            <a:endParaRPr lang="en-US" sz="1050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AFC9AE3C-79E0-450C-7648-2108E4CC5AF5}"/>
              </a:ext>
            </a:extLst>
          </p:cNvPr>
          <p:cNvSpPr/>
          <p:nvPr/>
        </p:nvSpPr>
        <p:spPr>
          <a:xfrm>
            <a:off x="2198048" y="2460894"/>
            <a:ext cx="122422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CBC92314-FFE9-B673-6D74-8FAD46DEEF89}"/>
              </a:ext>
            </a:extLst>
          </p:cNvPr>
          <p:cNvSpPr/>
          <p:nvPr/>
        </p:nvSpPr>
        <p:spPr>
          <a:xfrm>
            <a:off x="2216336" y="2460894"/>
            <a:ext cx="12059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S+A 7</a:t>
            </a:r>
            <a:endParaRPr lang="en-US" sz="800" dirty="0"/>
          </a:p>
        </p:txBody>
      </p:sp>
      <p:sp>
        <p:nvSpPr>
          <p:cNvPr id="49" name="Shape 19">
            <a:extLst>
              <a:ext uri="{FF2B5EF4-FFF2-40B4-BE49-F238E27FC236}">
                <a16:creationId xmlns:a16="http://schemas.microsoft.com/office/drawing/2014/main" id="{40C924E5-7055-8BAD-AA11-65AACB98DDA3}"/>
              </a:ext>
            </a:extLst>
          </p:cNvPr>
          <p:cNvSpPr/>
          <p:nvPr/>
        </p:nvSpPr>
        <p:spPr>
          <a:xfrm>
            <a:off x="3440556" y="2460894"/>
            <a:ext cx="1401721" cy="2743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9575276D-06DE-D121-B4F7-996F764A2B9E}"/>
              </a:ext>
            </a:extLst>
          </p:cNvPr>
          <p:cNvSpPr/>
          <p:nvPr/>
        </p:nvSpPr>
        <p:spPr>
          <a:xfrm>
            <a:off x="3458844" y="2460894"/>
            <a:ext cx="1383433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或 A 8</a:t>
            </a:r>
            <a:endParaRPr lang="en-US" sz="800" dirty="0"/>
          </a:p>
        </p:txBody>
      </p:sp>
      <p:sp>
        <p:nvSpPr>
          <p:cNvPr id="51" name="Shape 21">
            <a:extLst>
              <a:ext uri="{FF2B5EF4-FFF2-40B4-BE49-F238E27FC236}">
                <a16:creationId xmlns:a16="http://schemas.microsoft.com/office/drawing/2014/main" id="{FEFEC424-3D5E-46F5-1016-40F8770089C1}"/>
              </a:ext>
            </a:extLst>
          </p:cNvPr>
          <p:cNvSpPr/>
          <p:nvPr/>
        </p:nvSpPr>
        <p:spPr>
          <a:xfrm>
            <a:off x="4860566" y="2460894"/>
            <a:ext cx="336714" cy="2743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B66FBFFE-6CC4-9D0B-15D5-279FA43CF586}"/>
              </a:ext>
            </a:extLst>
          </p:cNvPr>
          <p:cNvSpPr/>
          <p:nvPr/>
        </p:nvSpPr>
        <p:spPr>
          <a:xfrm>
            <a:off x="4878854" y="2460894"/>
            <a:ext cx="31842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65D0013C-6472-E414-1256-27281E43AAAA}"/>
              </a:ext>
            </a:extLst>
          </p:cNvPr>
          <p:cNvSpPr/>
          <p:nvPr/>
        </p:nvSpPr>
        <p:spPr>
          <a:xfrm>
            <a:off x="2198048" y="2744358"/>
            <a:ext cx="3017520" cy="12801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</a:t>
            </a: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×2</a:t>
            </a:r>
            <a:endParaRPr lang="en-US" sz="1000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497A9991-CD5D-9DAF-34CC-85DD2D63406C}"/>
              </a:ext>
            </a:extLst>
          </p:cNvPr>
          <p:cNvSpPr/>
          <p:nvPr/>
        </p:nvSpPr>
        <p:spPr>
          <a:xfrm>
            <a:off x="488120" y="288151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维度③ RAG 外部内容注入角色</a:t>
            </a:r>
            <a:endParaRPr lang="en-US" sz="1050" dirty="0"/>
          </a:p>
        </p:txBody>
      </p:sp>
      <p:sp>
        <p:nvSpPr>
          <p:cNvPr id="56" name="Shape 26">
            <a:extLst>
              <a:ext uri="{FF2B5EF4-FFF2-40B4-BE49-F238E27FC236}">
                <a16:creationId xmlns:a16="http://schemas.microsoft.com/office/drawing/2014/main" id="{E568A7B0-23D5-2196-6279-51D834F5DBCB}"/>
              </a:ext>
            </a:extLst>
          </p:cNvPr>
          <p:cNvSpPr/>
          <p:nvPr/>
        </p:nvSpPr>
        <p:spPr>
          <a:xfrm>
            <a:off x="2198048" y="3119262"/>
            <a:ext cx="122422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AFA809D2-C9D0-DB52-7E36-99C5813CA917}"/>
              </a:ext>
            </a:extLst>
          </p:cNvPr>
          <p:cNvSpPr/>
          <p:nvPr/>
        </p:nvSpPr>
        <p:spPr>
          <a:xfrm>
            <a:off x="2216336" y="3119262"/>
            <a:ext cx="12059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7</a:t>
            </a:r>
            <a:endParaRPr lang="en-US" sz="800" dirty="0"/>
          </a:p>
        </p:txBody>
      </p:sp>
      <p:sp>
        <p:nvSpPr>
          <p:cNvPr id="58" name="Shape 28">
            <a:extLst>
              <a:ext uri="{FF2B5EF4-FFF2-40B4-BE49-F238E27FC236}">
                <a16:creationId xmlns:a16="http://schemas.microsoft.com/office/drawing/2014/main" id="{AD3703F9-D922-BDA0-D511-BFDC9D749B11}"/>
              </a:ext>
            </a:extLst>
          </p:cNvPr>
          <p:cNvSpPr/>
          <p:nvPr/>
        </p:nvSpPr>
        <p:spPr>
          <a:xfrm>
            <a:off x="3440556" y="3119262"/>
            <a:ext cx="159213" cy="2743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9" name="Text 29">
            <a:extLst>
              <a:ext uri="{FF2B5EF4-FFF2-40B4-BE49-F238E27FC236}">
                <a16:creationId xmlns:a16="http://schemas.microsoft.com/office/drawing/2014/main" id="{8CC67B27-33A7-7CED-73F0-5F901AC790FB}"/>
              </a:ext>
            </a:extLst>
          </p:cNvPr>
          <p:cNvSpPr/>
          <p:nvPr/>
        </p:nvSpPr>
        <p:spPr>
          <a:xfrm>
            <a:off x="3458844" y="3119262"/>
            <a:ext cx="14092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60" name="Shape 30">
            <a:extLst>
              <a:ext uri="{FF2B5EF4-FFF2-40B4-BE49-F238E27FC236}">
                <a16:creationId xmlns:a16="http://schemas.microsoft.com/office/drawing/2014/main" id="{E7117D4C-845E-F0C7-522E-25743EC00B95}"/>
              </a:ext>
            </a:extLst>
          </p:cNvPr>
          <p:cNvSpPr/>
          <p:nvPr/>
        </p:nvSpPr>
        <p:spPr>
          <a:xfrm>
            <a:off x="3618057" y="3119262"/>
            <a:ext cx="1224220" cy="2743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1" name="Text 31">
            <a:extLst>
              <a:ext uri="{FF2B5EF4-FFF2-40B4-BE49-F238E27FC236}">
                <a16:creationId xmlns:a16="http://schemas.microsoft.com/office/drawing/2014/main" id="{B6379B2D-5DC1-1D20-5667-4DC30DCAAACB}"/>
              </a:ext>
            </a:extLst>
          </p:cNvPr>
          <p:cNvSpPr/>
          <p:nvPr/>
        </p:nvSpPr>
        <p:spPr>
          <a:xfrm>
            <a:off x="3636345" y="3119262"/>
            <a:ext cx="12059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7</a:t>
            </a:r>
            <a:endParaRPr lang="en-US" sz="800" dirty="0"/>
          </a:p>
        </p:txBody>
      </p:sp>
      <p:sp>
        <p:nvSpPr>
          <p:cNvPr id="62" name="Shape 32">
            <a:extLst>
              <a:ext uri="{FF2B5EF4-FFF2-40B4-BE49-F238E27FC236}">
                <a16:creationId xmlns:a16="http://schemas.microsoft.com/office/drawing/2014/main" id="{2469BAED-1685-61B2-B55A-BEF2DC051DA4}"/>
              </a:ext>
            </a:extLst>
          </p:cNvPr>
          <p:cNvSpPr/>
          <p:nvPr/>
        </p:nvSpPr>
        <p:spPr>
          <a:xfrm>
            <a:off x="4860566" y="3119262"/>
            <a:ext cx="336714" cy="274320"/>
          </a:xfrm>
          <a:prstGeom prst="rect">
            <a:avLst/>
          </a:prstGeom>
          <a:solidFill>
            <a:srgbClr val="9AA5B1"/>
          </a:solidFill>
          <a:ln/>
        </p:spPr>
      </p:sp>
      <p:sp>
        <p:nvSpPr>
          <p:cNvPr id="63" name="Text 33">
            <a:extLst>
              <a:ext uri="{FF2B5EF4-FFF2-40B4-BE49-F238E27FC236}">
                <a16:creationId xmlns:a16="http://schemas.microsoft.com/office/drawing/2014/main" id="{3E2D156C-EE8B-6705-5565-6C3AF7097FD7}"/>
              </a:ext>
            </a:extLst>
          </p:cNvPr>
          <p:cNvSpPr/>
          <p:nvPr/>
        </p:nvSpPr>
        <p:spPr>
          <a:xfrm>
            <a:off x="4878854" y="3119262"/>
            <a:ext cx="31842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64" name="Text 34">
            <a:extLst>
              <a:ext uri="{FF2B5EF4-FFF2-40B4-BE49-F238E27FC236}">
                <a16:creationId xmlns:a16="http://schemas.microsoft.com/office/drawing/2014/main" id="{1B398EEA-9D4F-52F9-716E-C538B1AA2BBA}"/>
              </a:ext>
            </a:extLst>
          </p:cNvPr>
          <p:cNvSpPr/>
          <p:nvPr/>
        </p:nvSpPr>
        <p:spPr>
          <a:xfrm>
            <a:off x="2127585" y="3421014"/>
            <a:ext cx="3017520" cy="12801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</a:t>
            </a: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assistant ×1   </a:t>
            </a:r>
            <a:r>
              <a:rPr lang="en-US" sz="1000">
                <a:solidFill>
                  <a:srgbClr val="9AA5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</a:t>
            </a:r>
            <a:r>
              <a:rPr lang="en-US" sz="100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</a:t>
            </a: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×2</a:t>
            </a:r>
            <a:endParaRPr lang="en-US" sz="1000" dirty="0"/>
          </a:p>
        </p:txBody>
      </p:sp>
      <p:sp>
        <p:nvSpPr>
          <p:cNvPr id="65" name="Text 35">
            <a:extLst>
              <a:ext uri="{FF2B5EF4-FFF2-40B4-BE49-F238E27FC236}">
                <a16:creationId xmlns:a16="http://schemas.microsoft.com/office/drawing/2014/main" id="{487F05E4-0A1D-665A-0131-AF6AF55489F3}"/>
              </a:ext>
            </a:extLst>
          </p:cNvPr>
          <p:cNvSpPr/>
          <p:nvPr/>
        </p:nvSpPr>
        <p:spPr>
          <a:xfrm>
            <a:off x="488120" y="353988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维度④ 抓取公开网页内容</a:t>
            </a:r>
            <a:endParaRPr lang="en-US" sz="1050" dirty="0"/>
          </a:p>
        </p:txBody>
      </p:sp>
      <p:sp>
        <p:nvSpPr>
          <p:cNvPr id="67" name="Shape 37">
            <a:extLst>
              <a:ext uri="{FF2B5EF4-FFF2-40B4-BE49-F238E27FC236}">
                <a16:creationId xmlns:a16="http://schemas.microsoft.com/office/drawing/2014/main" id="{3BD4E717-B78F-1ED5-42BF-842B3883D1F0}"/>
              </a:ext>
            </a:extLst>
          </p:cNvPr>
          <p:cNvSpPr/>
          <p:nvPr/>
        </p:nvSpPr>
        <p:spPr>
          <a:xfrm>
            <a:off x="2198048" y="3777630"/>
            <a:ext cx="691717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8" name="Text 38">
            <a:extLst>
              <a:ext uri="{FF2B5EF4-FFF2-40B4-BE49-F238E27FC236}">
                <a16:creationId xmlns:a16="http://schemas.microsoft.com/office/drawing/2014/main" id="{BBD7BF9A-D6B5-1EA1-2654-3DF2F21C9ED8}"/>
              </a:ext>
            </a:extLst>
          </p:cNvPr>
          <p:cNvSpPr/>
          <p:nvPr/>
        </p:nvSpPr>
        <p:spPr>
          <a:xfrm>
            <a:off x="2216336" y="3777630"/>
            <a:ext cx="673429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 4</a:t>
            </a:r>
            <a:endParaRPr lang="en-US" sz="800" dirty="0"/>
          </a:p>
        </p:txBody>
      </p:sp>
      <p:sp>
        <p:nvSpPr>
          <p:cNvPr id="69" name="Shape 39">
            <a:extLst>
              <a:ext uri="{FF2B5EF4-FFF2-40B4-BE49-F238E27FC236}">
                <a16:creationId xmlns:a16="http://schemas.microsoft.com/office/drawing/2014/main" id="{7C2E0958-3AD9-3B1C-22C1-EA0525CA3A21}"/>
              </a:ext>
            </a:extLst>
          </p:cNvPr>
          <p:cNvSpPr/>
          <p:nvPr/>
        </p:nvSpPr>
        <p:spPr>
          <a:xfrm>
            <a:off x="2908053" y="3777630"/>
            <a:ext cx="2289227" cy="274320"/>
          </a:xfrm>
          <a:prstGeom prst="rect">
            <a:avLst/>
          </a:prstGeom>
          <a:solidFill>
            <a:srgbClr val="9AA5B1"/>
          </a:solidFill>
          <a:ln/>
        </p:spPr>
      </p:sp>
      <p:sp>
        <p:nvSpPr>
          <p:cNvPr id="70" name="Text 40">
            <a:extLst>
              <a:ext uri="{FF2B5EF4-FFF2-40B4-BE49-F238E27FC236}">
                <a16:creationId xmlns:a16="http://schemas.microsoft.com/office/drawing/2014/main" id="{94EF70AA-D8C2-3258-1747-4CE2470B5DF3}"/>
              </a:ext>
            </a:extLst>
          </p:cNvPr>
          <p:cNvSpPr/>
          <p:nvPr/>
        </p:nvSpPr>
        <p:spPr>
          <a:xfrm>
            <a:off x="2926341" y="3777630"/>
            <a:ext cx="2270939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不抓取 13</a:t>
            </a:r>
            <a:endParaRPr lang="en-US" sz="800" dirty="0"/>
          </a:p>
        </p:txBody>
      </p:sp>
      <p:sp>
        <p:nvSpPr>
          <p:cNvPr id="71" name="Shape 41">
            <a:extLst>
              <a:ext uri="{FF2B5EF4-FFF2-40B4-BE49-F238E27FC236}">
                <a16:creationId xmlns:a16="http://schemas.microsoft.com/office/drawing/2014/main" id="{0416B46F-331A-0B97-E8E2-7EC11437C56C}"/>
              </a:ext>
            </a:extLst>
          </p:cNvPr>
          <p:cNvSpPr/>
          <p:nvPr/>
        </p:nvSpPr>
        <p:spPr>
          <a:xfrm>
            <a:off x="488120" y="4161678"/>
            <a:ext cx="4700016" cy="347472"/>
          </a:xfrm>
          <a:prstGeom prst="roundRect">
            <a:avLst>
              <a:gd name="adj" fmla="val 50000"/>
            </a:avLst>
          </a:prstGeom>
          <a:solidFill>
            <a:srgbClr val="FBEBE9"/>
          </a:solidFill>
          <a:ln/>
        </p:spPr>
      </p:sp>
      <p:sp>
        <p:nvSpPr>
          <p:cNvPr id="72" name="Text 42">
            <a:extLst>
              <a:ext uri="{FF2B5EF4-FFF2-40B4-BE49-F238E27FC236}">
                <a16:creationId xmlns:a16="http://schemas.microsoft.com/office/drawing/2014/main" id="{D30CA18C-B188-0003-C3CA-0B91FB2E7B46}"/>
              </a:ext>
            </a:extLst>
          </p:cNvPr>
          <p:cNvSpPr/>
          <p:nvPr/>
        </p:nvSpPr>
        <p:spPr>
          <a:xfrm>
            <a:off x="579560" y="4216542"/>
            <a:ext cx="4517136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高危链：可伪造 system/assistant（15款） + RAG以system注入（7款） → 直接/间接注入均被权限放大</a:t>
            </a:r>
            <a:endParaRPr lang="en-US" sz="900" dirty="0"/>
          </a:p>
        </p:txBody>
      </p:sp>
      <p:sp>
        <p:nvSpPr>
          <p:cNvPr id="73" name="Shape 43">
            <a:extLst>
              <a:ext uri="{FF2B5EF4-FFF2-40B4-BE49-F238E27FC236}">
                <a16:creationId xmlns:a16="http://schemas.microsoft.com/office/drawing/2014/main" id="{E442932F-622A-FFBE-AE58-5837DC41062C}"/>
              </a:ext>
            </a:extLst>
          </p:cNvPr>
          <p:cNvSpPr/>
          <p:nvPr/>
        </p:nvSpPr>
        <p:spPr>
          <a:xfrm>
            <a:off x="5530524" y="1491630"/>
            <a:ext cx="3356872" cy="105043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74" name="Shape 44">
            <a:extLst>
              <a:ext uri="{FF2B5EF4-FFF2-40B4-BE49-F238E27FC236}">
                <a16:creationId xmlns:a16="http://schemas.microsoft.com/office/drawing/2014/main" id="{5A8309EC-37B9-B403-B26E-964FE754C4D2}"/>
              </a:ext>
            </a:extLst>
          </p:cNvPr>
          <p:cNvSpPr/>
          <p:nvPr/>
        </p:nvSpPr>
        <p:spPr>
          <a:xfrm>
            <a:off x="5530524" y="1491630"/>
            <a:ext cx="64008" cy="105043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5" name="Shape 45">
            <a:extLst>
              <a:ext uri="{FF2B5EF4-FFF2-40B4-BE49-F238E27FC236}">
                <a16:creationId xmlns:a16="http://schemas.microsoft.com/office/drawing/2014/main" id="{F694BBAF-AB40-504A-3467-9D62E380A69A}"/>
              </a:ext>
            </a:extLst>
          </p:cNvPr>
          <p:cNvSpPr/>
          <p:nvPr/>
        </p:nvSpPr>
        <p:spPr>
          <a:xfrm>
            <a:off x="5676828" y="1664236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6" name="Text 46">
            <a:extLst>
              <a:ext uri="{FF2B5EF4-FFF2-40B4-BE49-F238E27FC236}">
                <a16:creationId xmlns:a16="http://schemas.microsoft.com/office/drawing/2014/main" id="{78A7C343-4BC7-4A39-B2D0-A07185ABB251}"/>
              </a:ext>
            </a:extLst>
          </p:cNvPr>
          <p:cNvSpPr/>
          <p:nvPr/>
        </p:nvSpPr>
        <p:spPr>
          <a:xfrm>
            <a:off x="5676828" y="1664236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1</a:t>
            </a:r>
            <a:endParaRPr lang="en-US" sz="900" dirty="0"/>
          </a:p>
        </p:txBody>
      </p:sp>
      <p:sp>
        <p:nvSpPr>
          <p:cNvPr id="77" name="Text 47">
            <a:extLst>
              <a:ext uri="{FF2B5EF4-FFF2-40B4-BE49-F238E27FC236}">
                <a16:creationId xmlns:a16="http://schemas.microsoft.com/office/drawing/2014/main" id="{AF1B677C-11BC-F3FD-0D31-2DFDE766435C}"/>
              </a:ext>
            </a:extLst>
          </p:cNvPr>
          <p:cNvSpPr/>
          <p:nvPr/>
        </p:nvSpPr>
        <p:spPr>
          <a:xfrm>
            <a:off x="6316908" y="1655092"/>
            <a:ext cx="242647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所有漏洞在管理后台“不可见”</a:t>
            </a:r>
            <a:endParaRPr lang="en-US" sz="1000" dirty="0"/>
          </a:p>
        </p:txBody>
      </p:sp>
      <p:sp>
        <p:nvSpPr>
          <p:cNvPr id="78" name="Text 48">
            <a:extLst>
              <a:ext uri="{FF2B5EF4-FFF2-40B4-BE49-F238E27FC236}">
                <a16:creationId xmlns:a16="http://schemas.microsoft.com/office/drawing/2014/main" id="{F11FE2C3-3EF9-99E5-D8ED-992EEF4029EB}"/>
              </a:ext>
            </a:extLst>
          </p:cNvPr>
          <p:cNvSpPr/>
          <p:nvPr/>
        </p:nvSpPr>
        <p:spPr>
          <a:xfrm>
            <a:off x="5676828" y="1938556"/>
            <a:ext cx="3210568" cy="5486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伪造发生在请求体与RAG</a:t>
            </a:r>
            <a:r>
              <a:rPr lang="en-US" sz="100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内部，</a:t>
            </a:r>
            <a:r>
              <a:rPr lang="zh-CN" altLang="en-US" sz="100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网站拥有者</a:t>
            </a:r>
            <a:r>
              <a:rPr lang="en-US" sz="100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面板与日志里看不到历史伪造痕迹</a:t>
            </a:r>
            <a:r>
              <a:rPr lang="en-US" sz="10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，事故极难被发现与溯源。</a:t>
            </a:r>
            <a:endParaRPr lang="en-US" sz="1000" dirty="0"/>
          </a:p>
        </p:txBody>
      </p:sp>
      <p:sp>
        <p:nvSpPr>
          <p:cNvPr id="79" name="Shape 49">
            <a:extLst>
              <a:ext uri="{FF2B5EF4-FFF2-40B4-BE49-F238E27FC236}">
                <a16:creationId xmlns:a16="http://schemas.microsoft.com/office/drawing/2014/main" id="{4C5ED580-5F5F-89AC-A168-B6F7FAAD6898}"/>
              </a:ext>
            </a:extLst>
          </p:cNvPr>
          <p:cNvSpPr/>
          <p:nvPr/>
        </p:nvSpPr>
        <p:spPr>
          <a:xfrm>
            <a:off x="5530524" y="2560348"/>
            <a:ext cx="335687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80" name="Shape 50">
            <a:extLst>
              <a:ext uri="{FF2B5EF4-FFF2-40B4-BE49-F238E27FC236}">
                <a16:creationId xmlns:a16="http://schemas.microsoft.com/office/drawing/2014/main" id="{0249FC04-C883-BF35-29E2-FA70D220DFD6}"/>
              </a:ext>
            </a:extLst>
          </p:cNvPr>
          <p:cNvSpPr/>
          <p:nvPr/>
        </p:nvSpPr>
        <p:spPr>
          <a:xfrm>
            <a:off x="5530524" y="2560348"/>
            <a:ext cx="64008" cy="9692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1" name="Shape 51">
            <a:extLst>
              <a:ext uri="{FF2B5EF4-FFF2-40B4-BE49-F238E27FC236}">
                <a16:creationId xmlns:a16="http://schemas.microsoft.com/office/drawing/2014/main" id="{0F30E109-9196-097E-3CB3-8898CEB093A1}"/>
              </a:ext>
            </a:extLst>
          </p:cNvPr>
          <p:cNvSpPr/>
          <p:nvPr/>
        </p:nvSpPr>
        <p:spPr>
          <a:xfrm>
            <a:off x="5676828" y="2651788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2" name="Text 52">
            <a:extLst>
              <a:ext uri="{FF2B5EF4-FFF2-40B4-BE49-F238E27FC236}">
                <a16:creationId xmlns:a16="http://schemas.microsoft.com/office/drawing/2014/main" id="{55A92B1B-6875-E7D7-431C-A004801BBDA6}"/>
              </a:ext>
            </a:extLst>
          </p:cNvPr>
          <p:cNvSpPr/>
          <p:nvPr/>
        </p:nvSpPr>
        <p:spPr>
          <a:xfrm>
            <a:off x="5676828" y="2651788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2</a:t>
            </a:r>
            <a:endParaRPr lang="en-US" sz="900" dirty="0"/>
          </a:p>
        </p:txBody>
      </p:sp>
      <p:sp>
        <p:nvSpPr>
          <p:cNvPr id="83" name="Text 53">
            <a:extLst>
              <a:ext uri="{FF2B5EF4-FFF2-40B4-BE49-F238E27FC236}">
                <a16:creationId xmlns:a16="http://schemas.microsoft.com/office/drawing/2014/main" id="{1C7E08B7-83E1-36B8-F92A-6846D105670B}"/>
              </a:ext>
            </a:extLst>
          </p:cNvPr>
          <p:cNvSpPr/>
          <p:nvPr/>
        </p:nvSpPr>
        <p:spPr>
          <a:xfrm>
            <a:off x="6243756" y="2642644"/>
            <a:ext cx="2643640" cy="25603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2 款插件未现漏洞，但真实部署仍不安全</a:t>
            </a:r>
            <a:endParaRPr lang="en-US" sz="1000" dirty="0"/>
          </a:p>
        </p:txBody>
      </p:sp>
      <p:sp>
        <p:nvSpPr>
          <p:cNvPr id="84" name="Text 54">
            <a:extLst>
              <a:ext uri="{FF2B5EF4-FFF2-40B4-BE49-F238E27FC236}">
                <a16:creationId xmlns:a16="http://schemas.microsoft.com/office/drawing/2014/main" id="{8C33FFEC-15A2-EC92-1DED-05CB095F65B9}"/>
              </a:ext>
            </a:extLst>
          </p:cNvPr>
          <p:cNvSpPr/>
          <p:nvPr/>
        </p:nvSpPr>
        <p:spPr>
          <a:xfrm>
            <a:off x="5676828" y="2926108"/>
            <a:ext cx="3210568" cy="5486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</a:rPr>
              <a:t>P12/P14未</a:t>
            </a:r>
            <a:r>
              <a:rPr lang="zh-CN" altLang="en-US" sz="100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</a:rPr>
              <a:t>出</a:t>
            </a:r>
            <a:r>
              <a:rPr lang="en-US" sz="100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</a:rPr>
              <a:t>现注入缺陷，但其真实用户却跑出了不安全的系统提示词</a:t>
            </a:r>
            <a:endParaRPr lang="en-US" sz="1000" dirty="0">
              <a:solidFill>
                <a:srgbClr val="1F2A3D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85" name="Shape 55">
            <a:extLst>
              <a:ext uri="{FF2B5EF4-FFF2-40B4-BE49-F238E27FC236}">
                <a16:creationId xmlns:a16="http://schemas.microsoft.com/office/drawing/2014/main" id="{C0918E9C-3A93-C533-1E4D-A9BBB28B0B62}"/>
              </a:ext>
            </a:extLst>
          </p:cNvPr>
          <p:cNvSpPr/>
          <p:nvPr/>
        </p:nvSpPr>
        <p:spPr>
          <a:xfrm>
            <a:off x="5530524" y="3547900"/>
            <a:ext cx="3356872" cy="1042416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86" name="Shape 56">
            <a:extLst>
              <a:ext uri="{FF2B5EF4-FFF2-40B4-BE49-F238E27FC236}">
                <a16:creationId xmlns:a16="http://schemas.microsoft.com/office/drawing/2014/main" id="{AF7D5628-B35E-8DEE-62AB-EACFB3B718A5}"/>
              </a:ext>
            </a:extLst>
          </p:cNvPr>
          <p:cNvSpPr/>
          <p:nvPr/>
        </p:nvSpPr>
        <p:spPr>
          <a:xfrm>
            <a:off x="5530524" y="3547900"/>
            <a:ext cx="64008" cy="10424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7" name="Shape 57">
            <a:extLst>
              <a:ext uri="{FF2B5EF4-FFF2-40B4-BE49-F238E27FC236}">
                <a16:creationId xmlns:a16="http://schemas.microsoft.com/office/drawing/2014/main" id="{188305C0-C055-5349-3BE9-F19419B90F0D}"/>
              </a:ext>
            </a:extLst>
          </p:cNvPr>
          <p:cNvSpPr/>
          <p:nvPr/>
        </p:nvSpPr>
        <p:spPr>
          <a:xfrm>
            <a:off x="5676828" y="3639340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8" name="Text 58">
            <a:extLst>
              <a:ext uri="{FF2B5EF4-FFF2-40B4-BE49-F238E27FC236}">
                <a16:creationId xmlns:a16="http://schemas.microsoft.com/office/drawing/2014/main" id="{7EBD6C4A-D69F-4852-5343-ABC337783A4B}"/>
              </a:ext>
            </a:extLst>
          </p:cNvPr>
          <p:cNvSpPr/>
          <p:nvPr/>
        </p:nvSpPr>
        <p:spPr>
          <a:xfrm>
            <a:off x="5676828" y="36393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3</a:t>
            </a:r>
            <a:endParaRPr lang="en-US" sz="900" dirty="0"/>
          </a:p>
        </p:txBody>
      </p:sp>
      <p:sp>
        <p:nvSpPr>
          <p:cNvPr id="89" name="Text 59">
            <a:extLst>
              <a:ext uri="{FF2B5EF4-FFF2-40B4-BE49-F238E27FC236}">
                <a16:creationId xmlns:a16="http://schemas.microsoft.com/office/drawing/2014/main" id="{FF1142CA-AF5B-91AA-3089-8D3FEBDA6908}"/>
              </a:ext>
            </a:extLst>
          </p:cNvPr>
          <p:cNvSpPr/>
          <p:nvPr/>
        </p:nvSpPr>
        <p:spPr>
          <a:xfrm>
            <a:off x="6316908" y="3630196"/>
            <a:ext cx="257048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近半数插件违背指令层级原则</a:t>
            </a:r>
            <a:endParaRPr lang="en-US" sz="980" dirty="0"/>
          </a:p>
        </p:txBody>
      </p:sp>
      <p:sp>
        <p:nvSpPr>
          <p:cNvPr id="90" name="Text 60">
            <a:extLst>
              <a:ext uri="{FF2B5EF4-FFF2-40B4-BE49-F238E27FC236}">
                <a16:creationId xmlns:a16="http://schemas.microsoft.com/office/drawing/2014/main" id="{96B616CD-A0DC-1C17-2B9E-8DE0313921D6}"/>
              </a:ext>
            </a:extLst>
          </p:cNvPr>
          <p:cNvSpPr/>
          <p:nvPr/>
        </p:nvSpPr>
        <p:spPr>
          <a:xfrm>
            <a:off x="5676828" y="3913660"/>
            <a:ext cx="3210568" cy="5486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latinLnBrk="1">
              <a:lnSpc>
                <a:spcPct val="150000"/>
              </a:lnSpc>
              <a:buNone/>
            </a:pPr>
            <a:r>
              <a:rPr lang="en-US" sz="10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</a:rPr>
              <a:t>7款把RAG内容以system角色注入，</a:t>
            </a:r>
            <a:r>
              <a:rPr lang="en-US" sz="100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</a:rPr>
              <a:t>直接瓦解LLM</a:t>
            </a:r>
            <a:r>
              <a:rPr lang="zh-CN" altLang="en-US" sz="100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</a:rPr>
              <a:t>中</a:t>
            </a:r>
            <a:r>
              <a:rPr lang="en-US" sz="100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</a:rPr>
              <a:t>“</a:t>
            </a:r>
            <a:r>
              <a:rPr lang="en-US" sz="10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</a:rPr>
              <a:t>system最可信”的安全假设，把外部内容抬到最高权限</a:t>
            </a:r>
            <a:r>
              <a:rPr lang="en-US" sz="100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5674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第三部分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3682220" y="1365957"/>
            <a:ext cx="2636135" cy="613668"/>
          </a:xfrm>
        </p:spPr>
        <p:txBody>
          <a:bodyPr/>
          <a:lstStyle/>
          <a:p>
            <a:r>
              <a:rPr lang="en-US" altLang="zh-CN"/>
              <a:t>Experimental verification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4208" y="1365957"/>
            <a:ext cx="2473956" cy="613668"/>
          </a:xfrm>
        </p:spPr>
        <p:txBody>
          <a:bodyPr/>
          <a:lstStyle/>
          <a:p>
            <a:r>
              <a:rPr lang="zh-CN" altLang="en-US"/>
              <a:t>实验验证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3682220" y="2397348"/>
            <a:ext cx="2473957" cy="914400"/>
          </a:xfrm>
        </p:spPr>
        <p:txBody>
          <a:bodyPr/>
          <a:lstStyle/>
          <a:p>
            <a:pPr marL="214630" indent="-214630"/>
            <a:r>
              <a:rPr lang="zh-CN" altLang="en-US"/>
              <a:t>实验设置</a:t>
            </a:r>
            <a:endParaRPr lang="en-US" altLang="zh-CN"/>
          </a:p>
          <a:p>
            <a:pPr marL="214630" indent="-214630"/>
            <a:r>
              <a:rPr lang="zh-CN" altLang="en-US"/>
              <a:t>直接注入</a:t>
            </a:r>
            <a:endParaRPr lang="en-US" altLang="zh-CN"/>
          </a:p>
          <a:p>
            <a:pPr marL="214630" indent="-214630"/>
            <a:r>
              <a:rPr lang="zh-CN" altLang="en-US"/>
              <a:t>间接注入</a:t>
            </a:r>
            <a:endParaRPr lang="zh-CN" altLang="en-US" dirty="0"/>
          </a:p>
          <a:p>
            <a:pPr marL="214630" indent="-21463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EB08E38-7850-0D2E-2820-DBB261A25866}"/>
              </a:ext>
            </a:extLst>
          </p:cNvPr>
          <p:cNvSpPr/>
          <p:nvPr/>
        </p:nvSpPr>
        <p:spPr>
          <a:xfrm>
            <a:off x="0" y="27063"/>
            <a:ext cx="9144000" cy="687167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37C5B966-E0BD-FDAE-3F3F-4376A8830453}"/>
              </a:ext>
            </a:extLst>
          </p:cNvPr>
          <p:cNvSpPr txBox="1">
            <a:spLocks/>
          </p:cNvSpPr>
          <p:nvPr/>
        </p:nvSpPr>
        <p:spPr>
          <a:xfrm>
            <a:off x="323528" y="191630"/>
            <a:ext cx="1975928" cy="35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实验验证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292CE5B7-95A5-B994-7D81-807F6D671B5D}"/>
              </a:ext>
            </a:extLst>
          </p:cNvPr>
          <p:cNvSpPr/>
          <p:nvPr/>
        </p:nvSpPr>
        <p:spPr>
          <a:xfrm>
            <a:off x="323528" y="85696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受控实验配置：模拟器 + RAG</a:t>
            </a:r>
            <a:endParaRPr lang="en-US" sz="2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523C6727-0A38-C96B-5A04-073A3F9B71A1}"/>
              </a:ext>
            </a:extLst>
          </p:cNvPr>
          <p:cNvSpPr/>
          <p:nvPr/>
        </p:nvSpPr>
        <p:spPr>
          <a:xfrm>
            <a:off x="323528" y="129588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1:1 复刻插件行为</a:t>
            </a:r>
            <a:r>
              <a:rPr lang="en-US" sz="115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，全程不对真实站点发起攻击</a:t>
            </a:r>
            <a:endParaRPr lang="en-US" sz="1150" dirty="0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6A6068FD-A84F-F27B-3980-ECC4339C35EF}"/>
              </a:ext>
            </a:extLst>
          </p:cNvPr>
          <p:cNvSpPr/>
          <p:nvPr/>
        </p:nvSpPr>
        <p:spPr>
          <a:xfrm>
            <a:off x="323528" y="1652497"/>
            <a:ext cx="457200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357A17AF-E290-6A4C-D6A6-E961314418CD}"/>
              </a:ext>
            </a:extLst>
          </p:cNvPr>
          <p:cNvSpPr/>
          <p:nvPr/>
        </p:nvSpPr>
        <p:spPr>
          <a:xfrm>
            <a:off x="552128" y="1780513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知识库构建流程</a:t>
            </a:r>
            <a:endParaRPr lang="en-US" sz="1300" dirty="0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329CDEE1-A370-68D8-D0B0-E7E1AB2F66C1}"/>
              </a:ext>
            </a:extLst>
          </p:cNvPr>
          <p:cNvSpPr/>
          <p:nvPr/>
        </p:nvSpPr>
        <p:spPr>
          <a:xfrm>
            <a:off x="552128" y="2155417"/>
            <a:ext cx="4114800" cy="402336"/>
          </a:xfrm>
          <a:prstGeom prst="roundRect">
            <a:avLst>
              <a:gd name="adj" fmla="val 11364"/>
            </a:avLst>
          </a:prstGeom>
          <a:solidFill>
            <a:srgbClr val="F7F9FC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7094D4CC-27DE-3E40-B261-C52F1A28C921}"/>
              </a:ext>
            </a:extLst>
          </p:cNvPr>
          <p:cNvSpPr/>
          <p:nvPr/>
        </p:nvSpPr>
        <p:spPr>
          <a:xfrm>
            <a:off x="671000" y="2155417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nalgene.com 真实电商站　</a:t>
            </a: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爬取 35 个产品页作为知识语料</a:t>
            </a:r>
            <a:endParaRPr lang="en-US" sz="1100" dirty="0"/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9DDA8B45-E3E2-282E-D91A-C6182658FEF0}"/>
              </a:ext>
            </a:extLst>
          </p:cNvPr>
          <p:cNvSpPr/>
          <p:nvPr/>
        </p:nvSpPr>
        <p:spPr>
          <a:xfrm>
            <a:off x="2536376" y="2571469"/>
            <a:ext cx="146304" cy="82296"/>
          </a:xfrm>
          <a:prstGeom prst="downArrow">
            <a:avLst/>
          </a:prstGeom>
          <a:solidFill>
            <a:srgbClr val="2E75B6"/>
          </a:solidFill>
          <a:ln/>
        </p:spPr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D5A8D23B-F352-510A-63F3-74E32C3AE151}"/>
              </a:ext>
            </a:extLst>
          </p:cNvPr>
          <p:cNvSpPr/>
          <p:nvPr/>
        </p:nvSpPr>
        <p:spPr>
          <a:xfrm>
            <a:off x="552128" y="2667481"/>
            <a:ext cx="4114800" cy="402336"/>
          </a:xfrm>
          <a:prstGeom prst="roundRect">
            <a:avLst>
              <a:gd name="adj" fmla="val 11364"/>
            </a:avLst>
          </a:prstGeom>
          <a:solidFill>
            <a:srgbClr val="F7F9FC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C956333A-17BE-BFF9-00DB-1329CB3CA2DE}"/>
              </a:ext>
            </a:extLst>
          </p:cNvPr>
          <p:cNvSpPr/>
          <p:nvPr/>
        </p:nvSpPr>
        <p:spPr>
          <a:xfrm>
            <a:off x="671000" y="2667481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文本切分　</a:t>
            </a: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600-token chunks，重叠 300 token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BB9C037-318D-ACD2-386F-821DE3135DE8}"/>
              </a:ext>
            </a:extLst>
          </p:cNvPr>
          <p:cNvSpPr/>
          <p:nvPr/>
        </p:nvSpPr>
        <p:spPr>
          <a:xfrm>
            <a:off x="2536376" y="3083533"/>
            <a:ext cx="146304" cy="82296"/>
          </a:xfrm>
          <a:prstGeom prst="downArrow">
            <a:avLst/>
          </a:prstGeom>
          <a:solidFill>
            <a:srgbClr val="2E75B6"/>
          </a:solidFill>
          <a:ln/>
        </p:spPr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66ECEF0E-524D-2708-E592-4C4F6B1EE67F}"/>
              </a:ext>
            </a:extLst>
          </p:cNvPr>
          <p:cNvSpPr/>
          <p:nvPr/>
        </p:nvSpPr>
        <p:spPr>
          <a:xfrm>
            <a:off x="552128" y="3179545"/>
            <a:ext cx="4114800" cy="402336"/>
          </a:xfrm>
          <a:prstGeom prst="roundRect">
            <a:avLst>
              <a:gd name="adj" fmla="val 11364"/>
            </a:avLst>
          </a:prstGeom>
          <a:solidFill>
            <a:srgbClr val="F7F9FC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50068B6B-A11A-7480-C810-078859CED501}"/>
              </a:ext>
            </a:extLst>
          </p:cNvPr>
          <p:cNvSpPr/>
          <p:nvPr/>
        </p:nvSpPr>
        <p:spPr>
          <a:xfrm>
            <a:off x="671000" y="3179545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向量化入库　</a:t>
            </a: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text-embedding-3-large 生成嵌入</a:t>
            </a:r>
            <a:endParaRPr lang="en-US" sz="1100" dirty="0"/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A150B7E3-6994-2CF3-6656-E8017F2EE09B}"/>
              </a:ext>
            </a:extLst>
          </p:cNvPr>
          <p:cNvSpPr/>
          <p:nvPr/>
        </p:nvSpPr>
        <p:spPr>
          <a:xfrm>
            <a:off x="2536376" y="3595597"/>
            <a:ext cx="146304" cy="82296"/>
          </a:xfrm>
          <a:prstGeom prst="downArrow">
            <a:avLst/>
          </a:prstGeom>
          <a:solidFill>
            <a:srgbClr val="2E75B6"/>
          </a:solidFill>
          <a:ln/>
        </p:spPr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96137EB7-70D9-B366-7959-294D72DC8BD0}"/>
              </a:ext>
            </a:extLst>
          </p:cNvPr>
          <p:cNvSpPr/>
          <p:nvPr/>
        </p:nvSpPr>
        <p:spPr>
          <a:xfrm>
            <a:off x="552128" y="3691609"/>
            <a:ext cx="4114800" cy="402336"/>
          </a:xfrm>
          <a:prstGeom prst="roundRect">
            <a:avLst>
              <a:gd name="adj" fmla="val 11364"/>
            </a:avLst>
          </a:prstGeom>
          <a:solidFill>
            <a:srgbClr val="F7F9FC"/>
          </a:solidFill>
          <a:ln w="12700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43FECC9A-19E1-543E-2AF7-EF732C0F62BA}"/>
              </a:ext>
            </a:extLst>
          </p:cNvPr>
          <p:cNvSpPr/>
          <p:nvPr/>
        </p:nvSpPr>
        <p:spPr>
          <a:xfrm>
            <a:off x="671000" y="3691609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插件模拟器　</a:t>
            </a:r>
            <a:r>
              <a:rPr lang="en-US" sz="9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复刻检索增强 + 工具调用的完整链路</a:t>
            </a:r>
            <a:endParaRPr lang="en-US" sz="1100" dirty="0"/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C015A576-CD72-85F7-F9DC-C5DF5AA5E77A}"/>
              </a:ext>
            </a:extLst>
          </p:cNvPr>
          <p:cNvSpPr/>
          <p:nvPr/>
        </p:nvSpPr>
        <p:spPr>
          <a:xfrm>
            <a:off x="323528" y="4331689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E8552E30-9C05-8E36-D569-10AD3F7A1CCB}"/>
              </a:ext>
            </a:extLst>
          </p:cNvPr>
          <p:cNvSpPr/>
          <p:nvPr/>
        </p:nvSpPr>
        <p:spPr>
          <a:xfrm>
            <a:off x="378392" y="4331689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= 0.5
</a:t>
            </a:r>
            <a:r>
              <a:rPr lang="en-US" sz="8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兼顾稳定与多样性</a:t>
            </a:r>
            <a:endParaRPr lang="en-US" sz="950" dirty="0"/>
          </a:p>
        </p:txBody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F14F1CD3-371D-AA41-9A8C-472D238B69C1}"/>
              </a:ext>
            </a:extLst>
          </p:cNvPr>
          <p:cNvSpPr/>
          <p:nvPr/>
        </p:nvSpPr>
        <p:spPr>
          <a:xfrm>
            <a:off x="1896296" y="4331689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83C3FA87-0A71-C37B-C0AC-C286055A256A}"/>
              </a:ext>
            </a:extLst>
          </p:cNvPr>
          <p:cNvSpPr/>
          <p:nvPr/>
        </p:nvSpPr>
        <p:spPr>
          <a:xfrm>
            <a:off x="1951160" y="4331689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 10 次
</a:t>
            </a:r>
            <a:r>
              <a:rPr lang="en-US" sz="8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统计攻击成功率</a:t>
            </a:r>
            <a:endParaRPr lang="en-US" sz="950" dirty="0"/>
          </a:p>
        </p:txBody>
      </p:sp>
      <p:sp>
        <p:nvSpPr>
          <p:cNvPr id="22" name="Shape 24">
            <a:extLst>
              <a:ext uri="{FF2B5EF4-FFF2-40B4-BE49-F238E27FC236}">
                <a16:creationId xmlns:a16="http://schemas.microsoft.com/office/drawing/2014/main" id="{F0FB7777-E5DB-71D7-2670-0F956B314EB1}"/>
              </a:ext>
            </a:extLst>
          </p:cNvPr>
          <p:cNvSpPr/>
          <p:nvPr/>
        </p:nvSpPr>
        <p:spPr>
          <a:xfrm>
            <a:off x="3469064" y="4331689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B960E87B-B0E3-53F9-983D-21BB9AEAFEBA}"/>
              </a:ext>
            </a:extLst>
          </p:cNvPr>
          <p:cNvSpPr/>
          <p:nvPr/>
        </p:nvSpPr>
        <p:spPr>
          <a:xfrm>
            <a:off x="3523928" y="4331689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个变体选最优
</a:t>
            </a:r>
            <a:r>
              <a:rPr lang="en-US" sz="8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 生成攻击提示词</a:t>
            </a:r>
            <a:endParaRPr lang="en-US" sz="950" dirty="0"/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98855919-5445-74D0-5830-6430FF31FB17}"/>
              </a:ext>
            </a:extLst>
          </p:cNvPr>
          <p:cNvSpPr/>
          <p:nvPr/>
        </p:nvSpPr>
        <p:spPr>
          <a:xfrm>
            <a:off x="5078408" y="1652497"/>
            <a:ext cx="3474720" cy="3063240"/>
          </a:xfrm>
          <a:prstGeom prst="roundRect">
            <a:avLst>
              <a:gd name="adj" fmla="val 1791"/>
            </a:avLst>
          </a:prstGeom>
          <a:solidFill>
            <a:srgbClr val="16324F"/>
          </a:solidFill>
          <a:ln/>
        </p:spPr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C90BFF3E-1B49-AFA5-C50D-07BEC37572A5}"/>
              </a:ext>
            </a:extLst>
          </p:cNvPr>
          <p:cNvSpPr/>
          <p:nvPr/>
        </p:nvSpPr>
        <p:spPr>
          <a:xfrm>
            <a:off x="5307008" y="1780513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验 矩 阵</a:t>
            </a:r>
            <a:endParaRPr lang="en-US" sz="1300" dirty="0"/>
          </a:p>
        </p:txBody>
      </p:sp>
      <p:sp>
        <p:nvSpPr>
          <p:cNvPr id="27" name="Shape 28">
            <a:extLst>
              <a:ext uri="{FF2B5EF4-FFF2-40B4-BE49-F238E27FC236}">
                <a16:creationId xmlns:a16="http://schemas.microsoft.com/office/drawing/2014/main" id="{D52468DF-6A96-2F55-816D-A0447FCBE8F4}"/>
              </a:ext>
            </a:extLst>
          </p:cNvPr>
          <p:cNvSpPr/>
          <p:nvPr/>
        </p:nvSpPr>
        <p:spPr>
          <a:xfrm>
            <a:off x="5307008" y="2109697"/>
            <a:ext cx="841248" cy="438912"/>
          </a:xfrm>
          <a:prstGeom prst="roundRect">
            <a:avLst>
              <a:gd name="adj" fmla="val 10417"/>
            </a:avLst>
          </a:prstGeom>
          <a:solidFill>
            <a:srgbClr val="2C5078"/>
          </a:solidFill>
          <a:ln/>
        </p:spPr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E9F95C85-3011-93CC-2EAE-6205CD116B89}"/>
              </a:ext>
            </a:extLst>
          </p:cNvPr>
          <p:cNvSpPr/>
          <p:nvPr/>
        </p:nvSpPr>
        <p:spPr>
          <a:xfrm>
            <a:off x="5307008" y="2109697"/>
            <a:ext cx="841248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DD7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950" dirty="0"/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826BB37F-87EE-A796-6F69-FC14D3FC2F70}"/>
              </a:ext>
            </a:extLst>
          </p:cNvPr>
          <p:cNvSpPr/>
          <p:nvPr/>
        </p:nvSpPr>
        <p:spPr>
          <a:xfrm>
            <a:off x="6267128" y="2109697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款　</a:t>
            </a:r>
            <a:r>
              <a:rPr lang="en-US" sz="850" dirty="0">
                <a:solidFill>
                  <a:srgbClr val="9FB8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4 · Anthropic 3 · Gemini 4</a:t>
            </a:r>
            <a:endParaRPr lang="en-US" sz="1200" dirty="0"/>
          </a:p>
        </p:txBody>
      </p:sp>
      <p:sp>
        <p:nvSpPr>
          <p:cNvPr id="30" name="Shape 31">
            <a:extLst>
              <a:ext uri="{FF2B5EF4-FFF2-40B4-BE49-F238E27FC236}">
                <a16:creationId xmlns:a16="http://schemas.microsoft.com/office/drawing/2014/main" id="{D11DFB02-4162-AB8B-58DE-108C1EA3FCAF}"/>
              </a:ext>
            </a:extLst>
          </p:cNvPr>
          <p:cNvSpPr/>
          <p:nvPr/>
        </p:nvSpPr>
        <p:spPr>
          <a:xfrm>
            <a:off x="5307008" y="2640049"/>
            <a:ext cx="841248" cy="438912"/>
          </a:xfrm>
          <a:prstGeom prst="roundRect">
            <a:avLst>
              <a:gd name="adj" fmla="val 10417"/>
            </a:avLst>
          </a:prstGeom>
          <a:solidFill>
            <a:srgbClr val="2C5078"/>
          </a:solidFill>
          <a:ln/>
        </p:spPr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9C3B0C8E-8B70-34CE-0D48-4510C42368AE}"/>
              </a:ext>
            </a:extLst>
          </p:cNvPr>
          <p:cNvSpPr/>
          <p:nvPr/>
        </p:nvSpPr>
        <p:spPr>
          <a:xfrm>
            <a:off x="5307008" y="2640049"/>
            <a:ext cx="841248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DD7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攻击任务</a:t>
            </a:r>
            <a:endParaRPr lang="en-US" sz="950" dirty="0"/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940E3B5F-1594-3C1E-D1EA-428F6D63673F}"/>
              </a:ext>
            </a:extLst>
          </p:cNvPr>
          <p:cNvSpPr/>
          <p:nvPr/>
        </p:nvSpPr>
        <p:spPr>
          <a:xfrm>
            <a:off x="6267128" y="2640049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类　</a:t>
            </a:r>
            <a:r>
              <a:rPr lang="en-US" sz="850" dirty="0">
                <a:solidFill>
                  <a:srgbClr val="9FB8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 提取提示词 / TaH 任务劫持 / ToH 工具劫持</a:t>
            </a:r>
            <a:endParaRPr lang="en-US" sz="1200" dirty="0"/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DCD4329A-1658-E727-5B4B-C1457B3FB701}"/>
              </a:ext>
            </a:extLst>
          </p:cNvPr>
          <p:cNvSpPr/>
          <p:nvPr/>
        </p:nvSpPr>
        <p:spPr>
          <a:xfrm>
            <a:off x="5307008" y="3170401"/>
            <a:ext cx="841248" cy="438912"/>
          </a:xfrm>
          <a:prstGeom prst="roundRect">
            <a:avLst>
              <a:gd name="adj" fmla="val 10417"/>
            </a:avLst>
          </a:prstGeom>
          <a:solidFill>
            <a:srgbClr val="2C5078"/>
          </a:solidFill>
          <a:ln/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AB1CC010-393F-B0C7-8CBA-DFA116C0CE5D}"/>
              </a:ext>
            </a:extLst>
          </p:cNvPr>
          <p:cNvSpPr/>
          <p:nvPr/>
        </p:nvSpPr>
        <p:spPr>
          <a:xfrm>
            <a:off x="5307008" y="3170401"/>
            <a:ext cx="841248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DD7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注入角色</a:t>
            </a:r>
            <a:endParaRPr lang="en-US" sz="950" dirty="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198125BB-05F7-2578-0C0F-510A0E71F435}"/>
              </a:ext>
            </a:extLst>
          </p:cNvPr>
          <p:cNvSpPr/>
          <p:nvPr/>
        </p:nvSpPr>
        <p:spPr>
          <a:xfrm>
            <a:off x="6267128" y="3170401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种　</a:t>
            </a:r>
            <a:r>
              <a:rPr lang="en-US" sz="850" dirty="0">
                <a:solidFill>
                  <a:srgbClr val="9FB8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伪造 System / Assistant / User</a:t>
            </a:r>
            <a:endParaRPr lang="en-US" sz="1200" dirty="0"/>
          </a:p>
        </p:txBody>
      </p:sp>
      <p:sp>
        <p:nvSpPr>
          <p:cNvPr id="46" name="Shape 37">
            <a:extLst>
              <a:ext uri="{FF2B5EF4-FFF2-40B4-BE49-F238E27FC236}">
                <a16:creationId xmlns:a16="http://schemas.microsoft.com/office/drawing/2014/main" id="{6651AAEC-ED0B-D137-CF7A-01A1A25B0F12}"/>
              </a:ext>
            </a:extLst>
          </p:cNvPr>
          <p:cNvSpPr/>
          <p:nvPr/>
        </p:nvSpPr>
        <p:spPr>
          <a:xfrm>
            <a:off x="5307008" y="3700753"/>
            <a:ext cx="841248" cy="438912"/>
          </a:xfrm>
          <a:prstGeom prst="roundRect">
            <a:avLst>
              <a:gd name="adj" fmla="val 10417"/>
            </a:avLst>
          </a:prstGeom>
          <a:solidFill>
            <a:srgbClr val="2C5078"/>
          </a:solidFill>
          <a:ln/>
        </p:spPr>
      </p:sp>
      <p:sp>
        <p:nvSpPr>
          <p:cNvPr id="55" name="Text 38">
            <a:extLst>
              <a:ext uri="{FF2B5EF4-FFF2-40B4-BE49-F238E27FC236}">
                <a16:creationId xmlns:a16="http://schemas.microsoft.com/office/drawing/2014/main" id="{CE93F392-BC06-DD77-66C8-9D473DA5BBB0}"/>
              </a:ext>
            </a:extLst>
          </p:cNvPr>
          <p:cNvSpPr/>
          <p:nvPr/>
        </p:nvSpPr>
        <p:spPr>
          <a:xfrm>
            <a:off x="5307008" y="3700753"/>
            <a:ext cx="841248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DD7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系统提示词</a:t>
            </a:r>
            <a:endParaRPr lang="en-US" sz="950" dirty="0"/>
          </a:p>
        </p:txBody>
      </p:sp>
      <p:sp>
        <p:nvSpPr>
          <p:cNvPr id="66" name="Text 39">
            <a:extLst>
              <a:ext uri="{FF2B5EF4-FFF2-40B4-BE49-F238E27FC236}">
                <a16:creationId xmlns:a16="http://schemas.microsoft.com/office/drawing/2014/main" id="{0467D0DE-3F42-F42A-CEDE-5B26E105A446}"/>
              </a:ext>
            </a:extLst>
          </p:cNvPr>
          <p:cNvSpPr/>
          <p:nvPr/>
        </p:nvSpPr>
        <p:spPr>
          <a:xfrm>
            <a:off x="6267128" y="3700753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档　</a:t>
            </a:r>
            <a:r>
              <a:rPr lang="en-US" sz="850" dirty="0">
                <a:solidFill>
                  <a:srgbClr val="9FB8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insecure / hardened / hardened-specific</a:t>
            </a:r>
            <a:endParaRPr lang="en-US" sz="1200" dirty="0"/>
          </a:p>
        </p:txBody>
      </p:sp>
      <p:sp>
        <p:nvSpPr>
          <p:cNvPr id="91" name="Text 40">
            <a:extLst>
              <a:ext uri="{FF2B5EF4-FFF2-40B4-BE49-F238E27FC236}">
                <a16:creationId xmlns:a16="http://schemas.microsoft.com/office/drawing/2014/main" id="{C56CDDB1-3857-7B83-F8A7-DF9574754757}"/>
              </a:ext>
            </a:extLst>
          </p:cNvPr>
          <p:cNvSpPr/>
          <p:nvPr/>
        </p:nvSpPr>
        <p:spPr>
          <a:xfrm>
            <a:off x="5307008" y="4249393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EA8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注：Anthropic / Gemini 不支持多条 system 消息，故这两家仅测 Assistant / User 角色。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44831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EB08E38-7850-0D2E-2820-DBB261A25866}"/>
              </a:ext>
            </a:extLst>
          </p:cNvPr>
          <p:cNvSpPr/>
          <p:nvPr/>
        </p:nvSpPr>
        <p:spPr>
          <a:xfrm>
            <a:off x="0" y="27063"/>
            <a:ext cx="9144000" cy="687167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37C5B966-E0BD-FDAE-3F3F-4376A8830453}"/>
              </a:ext>
            </a:extLst>
          </p:cNvPr>
          <p:cNvSpPr txBox="1">
            <a:spLocks/>
          </p:cNvSpPr>
          <p:nvPr/>
        </p:nvSpPr>
        <p:spPr>
          <a:xfrm>
            <a:off x="323528" y="191630"/>
            <a:ext cx="1975928" cy="35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实验验证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880DCA7C-96F0-AC2A-5BC3-C7583FDCBAA2}"/>
              </a:ext>
            </a:extLst>
          </p:cNvPr>
          <p:cNvSpPr/>
          <p:nvPr/>
        </p:nvSpPr>
        <p:spPr>
          <a:xfrm>
            <a:off x="323528" y="88543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CN" altLang="en-US" sz="24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整体结果</a:t>
            </a:r>
            <a:r>
              <a:rPr lang="en-US" sz="24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73% 站点可被注入</a:t>
            </a:r>
            <a:endParaRPr lang="en-US" sz="2400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B96C7EE7-4AF7-36EA-4643-39B0F4D58FDC}"/>
              </a:ext>
            </a:extLst>
          </p:cNvPr>
          <p:cNvSpPr/>
          <p:nvPr/>
        </p:nvSpPr>
        <p:spPr>
          <a:xfrm>
            <a:off x="323528" y="132434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17 款插件的 300 个随机部署站点实测（伪造身份提取系统提示词）</a:t>
            </a:r>
            <a:endParaRPr lang="en-US" sz="115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E9F432D5-D868-09DF-A553-F13A90D9BA69}"/>
              </a:ext>
            </a:extLst>
          </p:cNvPr>
          <p:cNvSpPr/>
          <p:nvPr/>
        </p:nvSpPr>
        <p:spPr>
          <a:xfrm>
            <a:off x="552128" y="181812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伪造不同身份 → 成功提取系统提示词的站点占比</a:t>
            </a:r>
            <a:endParaRPr lang="en-US" sz="1250" dirty="0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2E7F4BF8-252B-9363-4945-2DA3468CEA9C}"/>
              </a:ext>
            </a:extLst>
          </p:cNvPr>
          <p:cNvSpPr/>
          <p:nvPr/>
        </p:nvSpPr>
        <p:spPr>
          <a:xfrm>
            <a:off x="524696" y="230275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伪造 System</a:t>
            </a:r>
            <a:endParaRPr lang="en-US" sz="105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1C81E8A8-BB29-FE9E-E62C-194FDCCEB8FD}"/>
              </a:ext>
            </a:extLst>
          </p:cNvPr>
          <p:cNvSpPr/>
          <p:nvPr/>
        </p:nvSpPr>
        <p:spPr>
          <a:xfrm>
            <a:off x="1804856" y="2348474"/>
            <a:ext cx="2346960" cy="292608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06747229-F2C1-C1AD-7287-032B7FEF1425}"/>
              </a:ext>
            </a:extLst>
          </p:cNvPr>
          <p:cNvSpPr/>
          <p:nvPr/>
        </p:nvSpPr>
        <p:spPr>
          <a:xfrm>
            <a:off x="4206680" y="230275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2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594F2662-33E9-92C0-89BD-2918522277F8}"/>
              </a:ext>
            </a:extLst>
          </p:cNvPr>
          <p:cNvSpPr/>
          <p:nvPr/>
        </p:nvSpPr>
        <p:spPr>
          <a:xfrm>
            <a:off x="524696" y="286968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伪造 Assistant</a:t>
            </a:r>
            <a:endParaRPr lang="en-US" sz="1050" dirty="0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5A9C3FC0-28D2-EBD4-D897-994E7C05F681}"/>
              </a:ext>
            </a:extLst>
          </p:cNvPr>
          <p:cNvSpPr/>
          <p:nvPr/>
        </p:nvSpPr>
        <p:spPr>
          <a:xfrm>
            <a:off x="1804856" y="2915402"/>
            <a:ext cx="2305050" cy="292608"/>
          </a:xfrm>
          <a:prstGeom prst="roundRect">
            <a:avLst>
              <a:gd name="adj" fmla="val 12500"/>
            </a:avLst>
          </a:prstGeom>
          <a:solidFill>
            <a:srgbClr val="E67E22"/>
          </a:solidFill>
          <a:ln/>
        </p:spPr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AD204B22-8228-C4D8-3697-67C076C5EBE7}"/>
              </a:ext>
            </a:extLst>
          </p:cNvPr>
          <p:cNvSpPr/>
          <p:nvPr/>
        </p:nvSpPr>
        <p:spPr>
          <a:xfrm>
            <a:off x="4164770" y="286968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20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1D91C407-9BB1-904E-FFF9-01F6C40187D3}"/>
              </a:ext>
            </a:extLst>
          </p:cNvPr>
          <p:cNvSpPr/>
          <p:nvPr/>
        </p:nvSpPr>
        <p:spPr>
          <a:xfrm>
            <a:off x="524696" y="343661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User 提问</a:t>
            </a:r>
            <a:endParaRPr lang="en-US" sz="1050" dirty="0"/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728667B1-5BED-B3B0-790E-481AF598D8D8}"/>
              </a:ext>
            </a:extLst>
          </p:cNvPr>
          <p:cNvSpPr/>
          <p:nvPr/>
        </p:nvSpPr>
        <p:spPr>
          <a:xfrm>
            <a:off x="1804856" y="3482330"/>
            <a:ext cx="73152" cy="292608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/>
        </p:spPr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E8DA68EF-FCD8-0DD3-9433-24BF3769A204}"/>
              </a:ext>
            </a:extLst>
          </p:cNvPr>
          <p:cNvSpPr/>
          <p:nvPr/>
        </p:nvSpPr>
        <p:spPr>
          <a:xfrm>
            <a:off x="1932872" y="343661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200" dirty="0"/>
          </a:p>
        </p:txBody>
      </p:sp>
      <p:sp>
        <p:nvSpPr>
          <p:cNvPr id="50" name="Shape 18">
            <a:extLst>
              <a:ext uri="{FF2B5EF4-FFF2-40B4-BE49-F238E27FC236}">
                <a16:creationId xmlns:a16="http://schemas.microsoft.com/office/drawing/2014/main" id="{1198F51C-66F1-83D9-F8BB-CFB5F08D6774}"/>
              </a:ext>
            </a:extLst>
          </p:cNvPr>
          <p:cNvSpPr/>
          <p:nvPr/>
        </p:nvSpPr>
        <p:spPr>
          <a:xfrm>
            <a:off x="2195736" y="4062974"/>
            <a:ext cx="4297680" cy="457200"/>
          </a:xfrm>
          <a:prstGeom prst="roundRect">
            <a:avLst>
              <a:gd name="adj" fmla="val 12000"/>
            </a:avLst>
          </a:prstGeom>
          <a:solidFill>
            <a:srgbClr val="16324F"/>
          </a:solidFill>
          <a:ln/>
        </p:spPr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AC651D81-7F18-3809-CB7F-08E1A55316FA}"/>
              </a:ext>
            </a:extLst>
          </p:cNvPr>
          <p:cNvSpPr/>
          <p:nvPr/>
        </p:nvSpPr>
        <p:spPr>
          <a:xfrm>
            <a:off x="2195736" y="406297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219 / 300 站点（</a:t>
            </a:r>
            <a:r>
              <a:rPr lang="en-US" sz="1500" b="1" dirty="0">
                <a:solidFill>
                  <a:srgbClr val="F5B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）至少一种角色注入成功</a:t>
            </a:r>
            <a:endParaRPr lang="en-US" sz="1100" dirty="0"/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06C497F1-11D9-C4C6-5A70-DF9CAA7AFB7B}"/>
              </a:ext>
            </a:extLst>
          </p:cNvPr>
          <p:cNvSpPr/>
          <p:nvPr/>
        </p:nvSpPr>
        <p:spPr>
          <a:xfrm>
            <a:off x="5610284" y="23606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系统提示词生态（219 份样本）</a:t>
            </a:r>
            <a:endParaRPr lang="en-US" sz="1150" dirty="0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1EF43DF3-35FE-560C-0F13-76ECF0590B25}"/>
              </a:ext>
            </a:extLst>
          </p:cNvPr>
          <p:cNvSpPr/>
          <p:nvPr/>
        </p:nvSpPr>
        <p:spPr>
          <a:xfrm>
            <a:off x="5610284" y="2653264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r>
              <a:rPr lang="en-US" sz="95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为公开模板微调而来
</a:t>
            </a:r>
            <a:r>
              <a:rPr lang="en-US" sz="10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r>
              <a:rPr lang="en-US" sz="95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含「拒绝越界请求」指令</a:t>
            </a:r>
            <a:r>
              <a:rPr lang="en-US" sz="95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//</a:t>
            </a:r>
            <a:r>
              <a:rPr lang="en-US" sz="950" b="1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insecure · 33% hardened</a:t>
            </a:r>
            <a:r>
              <a:rPr lang="en-US" sz="9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（加固程度）</a:t>
            </a:r>
            <a:endParaRPr lang="en-US" sz="1050" dirty="0"/>
          </a:p>
        </p:txBody>
      </p:sp>
      <p:sp>
        <p:nvSpPr>
          <p:cNvPr id="71" name="Shape 37">
            <a:extLst>
              <a:ext uri="{FF2B5EF4-FFF2-40B4-BE49-F238E27FC236}">
                <a16:creationId xmlns:a16="http://schemas.microsoft.com/office/drawing/2014/main" id="{60A2A4F4-BB29-6A1D-D49E-ED92212C4B91}"/>
              </a:ext>
            </a:extLst>
          </p:cNvPr>
          <p:cNvSpPr/>
          <p:nvPr/>
        </p:nvSpPr>
        <p:spPr>
          <a:xfrm>
            <a:off x="323528" y="4762490"/>
            <a:ext cx="8229600" cy="292608"/>
          </a:xfrm>
          <a:prstGeom prst="roundRect">
            <a:avLst>
              <a:gd name="adj" fmla="val 50000"/>
            </a:avLst>
          </a:prstGeom>
          <a:solidFill>
            <a:srgbClr val="D9E8F5"/>
          </a:solidFill>
          <a:ln/>
        </p:spPr>
      </p:sp>
      <p:sp>
        <p:nvSpPr>
          <p:cNvPr id="72" name="Text 38">
            <a:extLst>
              <a:ext uri="{FF2B5EF4-FFF2-40B4-BE49-F238E27FC236}">
                <a16:creationId xmlns:a16="http://schemas.microsoft.com/office/drawing/2014/main" id="{E307C03B-8127-15E4-EDFB-9CC61771A39B}"/>
              </a:ext>
            </a:extLst>
          </p:cNvPr>
          <p:cNvSpPr/>
          <p:nvPr/>
        </p:nvSpPr>
        <p:spPr>
          <a:xfrm>
            <a:off x="597848" y="476249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关键观察：</a:t>
            </a:r>
            <a:r>
              <a:rPr lang="en-US" sz="10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97% 的提示词都写了「拒答」指令，但伪造 system / </a:t>
            </a:r>
            <a:r>
              <a:rPr lang="en-US" sz="100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assistant 身份仍能让</a:t>
            </a:r>
            <a:r>
              <a:rPr lang="zh-CN" altLang="en-US" sz="100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超过半数的站点提供提示词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7789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EB08E38-7850-0D2E-2820-DBB261A25866}"/>
              </a:ext>
            </a:extLst>
          </p:cNvPr>
          <p:cNvSpPr/>
          <p:nvPr/>
        </p:nvSpPr>
        <p:spPr>
          <a:xfrm>
            <a:off x="0" y="27063"/>
            <a:ext cx="9144000" cy="687167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37C5B966-E0BD-FDAE-3F3F-4376A8830453}"/>
              </a:ext>
            </a:extLst>
          </p:cNvPr>
          <p:cNvSpPr txBox="1">
            <a:spLocks/>
          </p:cNvSpPr>
          <p:nvPr/>
        </p:nvSpPr>
        <p:spPr>
          <a:xfrm>
            <a:off x="323528" y="191630"/>
            <a:ext cx="1975928" cy="35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实验验证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23CE58B4-7862-572A-5D63-29AB2E5FFBFF}"/>
              </a:ext>
            </a:extLst>
          </p:cNvPr>
          <p:cNvSpPr/>
          <p:nvPr/>
        </p:nvSpPr>
        <p:spPr>
          <a:xfrm>
            <a:off x="323528" y="75218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直接注入：身份伪造绕过指令层级防护</a:t>
            </a:r>
            <a:endParaRPr lang="en-US" sz="2400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295CACA-DD20-EE84-6E57-2E1CDC9E626E}"/>
              </a:ext>
            </a:extLst>
          </p:cNvPr>
          <p:cNvGrpSpPr/>
          <p:nvPr/>
        </p:nvGrpSpPr>
        <p:grpSpPr>
          <a:xfrm>
            <a:off x="5508103" y="1371023"/>
            <a:ext cx="3466728" cy="1074223"/>
            <a:chOff x="4860032" y="1521565"/>
            <a:chExt cx="4114800" cy="932688"/>
          </a:xfrm>
        </p:grpSpPr>
        <p:sp>
          <p:nvSpPr>
            <p:cNvPr id="7" name="Shape 9">
              <a:extLst>
                <a:ext uri="{FF2B5EF4-FFF2-40B4-BE49-F238E27FC236}">
                  <a16:creationId xmlns:a16="http://schemas.microsoft.com/office/drawing/2014/main" id="{E6EF539F-A4D2-CE8D-C37C-3B1B9066B173}"/>
                </a:ext>
              </a:extLst>
            </p:cNvPr>
            <p:cNvSpPr/>
            <p:nvPr/>
          </p:nvSpPr>
          <p:spPr>
            <a:xfrm>
              <a:off x="4860032" y="1521565"/>
              <a:ext cx="4114800" cy="932688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2700">
              <a:solidFill>
                <a:srgbClr val="C9D6E3"/>
              </a:solidFill>
              <a:prstDash val="solid"/>
            </a:ln>
          </p:spPr>
        </p:sp>
        <p:sp>
          <p:nvSpPr>
            <p:cNvPr id="8" name="Shape 10">
              <a:extLst>
                <a:ext uri="{FF2B5EF4-FFF2-40B4-BE49-F238E27FC236}">
                  <a16:creationId xmlns:a16="http://schemas.microsoft.com/office/drawing/2014/main" id="{B21C6EA9-A2D1-3244-01B2-CF00E7B56B92}"/>
                </a:ext>
              </a:extLst>
            </p:cNvPr>
            <p:cNvSpPr/>
            <p:nvPr/>
          </p:nvSpPr>
          <p:spPr>
            <a:xfrm>
              <a:off x="4860032" y="1631293"/>
              <a:ext cx="64008" cy="713232"/>
            </a:xfrm>
            <a:prstGeom prst="rect">
              <a:avLst/>
            </a:prstGeom>
            <a:solidFill>
              <a:srgbClr val="C0392B"/>
            </a:solidFill>
            <a:ln/>
          </p:spPr>
        </p:sp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CEF8C976-7E06-57A8-20E1-83A535C9FAFE}"/>
                </a:ext>
              </a:extLst>
            </p:cNvPr>
            <p:cNvSpPr/>
            <p:nvPr/>
          </p:nvSpPr>
          <p:spPr>
            <a:xfrm>
              <a:off x="4945502" y="1594717"/>
              <a:ext cx="3749040" cy="21945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B7A9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SPE 提取系统提示词</a:t>
              </a:r>
              <a:endParaRPr lang="en-US" sz="1000" dirty="0"/>
            </a:p>
          </p:txBody>
        </p:sp>
        <p:sp>
          <p:nvSpPr>
            <p:cNvPr id="10" name="Text 12">
              <a:extLst>
                <a:ext uri="{FF2B5EF4-FFF2-40B4-BE49-F238E27FC236}">
                  <a16:creationId xmlns:a16="http://schemas.microsoft.com/office/drawing/2014/main" id="{7AF5BB63-1C07-DB4F-AA21-68AEE3220BDB}"/>
                </a:ext>
              </a:extLst>
            </p:cNvPr>
            <p:cNvSpPr/>
            <p:nvPr/>
          </p:nvSpPr>
          <p:spPr>
            <a:xfrm>
              <a:off x="4945502" y="1814173"/>
              <a:ext cx="4029328" cy="585216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050" b="1" dirty="0">
                  <a:solidFill>
                    <a:srgbClr val="C0392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伪造 system ≈60% · assistant ≈30% · user 最低</a:t>
              </a:r>
              <a:endParaRPr lang="en-US" sz="105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1F2A3D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成功率几乎不受加固影响 —— 决定成败的是「身份」，不是提示词写法</a:t>
              </a:r>
              <a:endParaRPr lang="en-US" sz="1050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052A0F6-594D-04E2-E265-90977045C762}"/>
              </a:ext>
            </a:extLst>
          </p:cNvPr>
          <p:cNvGrpSpPr/>
          <p:nvPr/>
        </p:nvGrpSpPr>
        <p:grpSpPr>
          <a:xfrm>
            <a:off x="5508103" y="2563981"/>
            <a:ext cx="3466728" cy="978408"/>
            <a:chOff x="4860032" y="2563981"/>
            <a:chExt cx="4114800" cy="978408"/>
          </a:xfrm>
        </p:grpSpPr>
        <p:sp>
          <p:nvSpPr>
            <p:cNvPr id="11" name="Shape 13">
              <a:extLst>
                <a:ext uri="{FF2B5EF4-FFF2-40B4-BE49-F238E27FC236}">
                  <a16:creationId xmlns:a16="http://schemas.microsoft.com/office/drawing/2014/main" id="{295038ED-6852-0EE3-4703-D5E08F2C0C05}"/>
                </a:ext>
              </a:extLst>
            </p:cNvPr>
            <p:cNvSpPr/>
            <p:nvPr/>
          </p:nvSpPr>
          <p:spPr>
            <a:xfrm>
              <a:off x="4860032" y="2563981"/>
              <a:ext cx="4114800" cy="932688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2700">
              <a:solidFill>
                <a:srgbClr val="C9D6E3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Shape 14">
              <a:extLst>
                <a:ext uri="{FF2B5EF4-FFF2-40B4-BE49-F238E27FC236}">
                  <a16:creationId xmlns:a16="http://schemas.microsoft.com/office/drawing/2014/main" id="{2A183D91-0A20-FDB8-8298-1956121579BC}"/>
                </a:ext>
              </a:extLst>
            </p:cNvPr>
            <p:cNvSpPr/>
            <p:nvPr/>
          </p:nvSpPr>
          <p:spPr>
            <a:xfrm>
              <a:off x="4860032" y="2673709"/>
              <a:ext cx="64008" cy="713232"/>
            </a:xfrm>
            <a:prstGeom prst="rect">
              <a:avLst/>
            </a:prstGeom>
            <a:solidFill>
              <a:srgbClr val="E67E22"/>
            </a:solidFill>
            <a:ln/>
          </p:spPr>
        </p:sp>
        <p:sp>
          <p:nvSpPr>
            <p:cNvPr id="13" name="Text 15">
              <a:extLst>
                <a:ext uri="{FF2B5EF4-FFF2-40B4-BE49-F238E27FC236}">
                  <a16:creationId xmlns:a16="http://schemas.microsoft.com/office/drawing/2014/main" id="{1519889E-9187-3994-313E-FF5E4BA2EBD1}"/>
                </a:ext>
              </a:extLst>
            </p:cNvPr>
            <p:cNvSpPr/>
            <p:nvPr/>
          </p:nvSpPr>
          <p:spPr>
            <a:xfrm>
              <a:off x="4921870" y="2649729"/>
              <a:ext cx="3749040" cy="21945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 fontScale="92500" lnSpcReduction="10000"/>
            </a:bodyPr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B7A9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TaH 任务劫持</a:t>
              </a:r>
              <a:endParaRPr lang="en-US" sz="1000" dirty="0"/>
            </a:p>
          </p:txBody>
        </p:sp>
        <p:sp>
          <p:nvSpPr>
            <p:cNvPr id="14" name="Text 16">
              <a:extLst>
                <a:ext uri="{FF2B5EF4-FFF2-40B4-BE49-F238E27FC236}">
                  <a16:creationId xmlns:a16="http://schemas.microsoft.com/office/drawing/2014/main" id="{191F1EA5-EB5A-9D70-D020-16419450A681}"/>
                </a:ext>
              </a:extLst>
            </p:cNvPr>
            <p:cNvSpPr/>
            <p:nvPr/>
          </p:nvSpPr>
          <p:spPr>
            <a:xfrm>
              <a:off x="4921872" y="2829157"/>
              <a:ext cx="4052959" cy="713232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 fontScale="85000" lnSpcReduction="20000"/>
            </a:bodyPr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b="1">
                  <a:solidFill>
                    <a:srgbClr val="E67E22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加固逐级递减：insecure ≈ 2× hardened ≈ 2× hardened-specific</a:t>
              </a:r>
              <a:endParaRPr lang="en-US" sz="120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100">
                  <a:solidFill>
                    <a:srgbClr val="1F2A3D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hardened-specific 下 user 注入成功率降为 0% —— 加固对 TaH 有效</a:t>
              </a:r>
              <a:endParaRPr lang="en-US" sz="1100" dirty="0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455801E-F659-924D-0FD9-E32FD7D3D55B}"/>
              </a:ext>
            </a:extLst>
          </p:cNvPr>
          <p:cNvGrpSpPr/>
          <p:nvPr/>
        </p:nvGrpSpPr>
        <p:grpSpPr>
          <a:xfrm>
            <a:off x="5508102" y="3606397"/>
            <a:ext cx="3466729" cy="932688"/>
            <a:chOff x="4860032" y="3606397"/>
            <a:chExt cx="4114800" cy="932688"/>
          </a:xfrm>
        </p:grpSpPr>
        <p:sp>
          <p:nvSpPr>
            <p:cNvPr id="15" name="Shape 17">
              <a:extLst>
                <a:ext uri="{FF2B5EF4-FFF2-40B4-BE49-F238E27FC236}">
                  <a16:creationId xmlns:a16="http://schemas.microsoft.com/office/drawing/2014/main" id="{84E5CF25-75E1-C8E7-81CB-FE982CD90F9F}"/>
                </a:ext>
              </a:extLst>
            </p:cNvPr>
            <p:cNvSpPr/>
            <p:nvPr/>
          </p:nvSpPr>
          <p:spPr>
            <a:xfrm>
              <a:off x="4860032" y="3606397"/>
              <a:ext cx="4114800" cy="932688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2700">
              <a:solidFill>
                <a:srgbClr val="C9D6E3"/>
              </a:solidFill>
              <a:prstDash val="solid"/>
            </a:ln>
          </p:spPr>
        </p:sp>
        <p:sp>
          <p:nvSpPr>
            <p:cNvPr id="16" name="Shape 18">
              <a:extLst>
                <a:ext uri="{FF2B5EF4-FFF2-40B4-BE49-F238E27FC236}">
                  <a16:creationId xmlns:a16="http://schemas.microsoft.com/office/drawing/2014/main" id="{3CEC6D1F-87F6-5BF7-5976-B1ECF363E180}"/>
                </a:ext>
              </a:extLst>
            </p:cNvPr>
            <p:cNvSpPr/>
            <p:nvPr/>
          </p:nvSpPr>
          <p:spPr>
            <a:xfrm>
              <a:off x="4860032" y="3716125"/>
              <a:ext cx="64008" cy="713232"/>
            </a:xfrm>
            <a:prstGeom prst="rect">
              <a:avLst/>
            </a:prstGeom>
            <a:solidFill>
              <a:srgbClr val="16324F"/>
            </a:solidFill>
            <a:ln/>
          </p:spPr>
        </p:sp>
        <p:sp>
          <p:nvSpPr>
            <p:cNvPr id="17" name="Text 19">
              <a:extLst>
                <a:ext uri="{FF2B5EF4-FFF2-40B4-BE49-F238E27FC236}">
                  <a16:creationId xmlns:a16="http://schemas.microsoft.com/office/drawing/2014/main" id="{4F3D7A9F-ECAC-3DF4-4CE8-A85D01D22216}"/>
                </a:ext>
              </a:extLst>
            </p:cNvPr>
            <p:cNvSpPr/>
            <p:nvPr/>
          </p:nvSpPr>
          <p:spPr>
            <a:xfrm>
              <a:off x="5042912" y="3679549"/>
              <a:ext cx="3749040" cy="21945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 fontScale="92500" lnSpcReduction="10000"/>
            </a:bodyPr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B7A9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ToH 工具劫持</a:t>
              </a:r>
              <a:endParaRPr lang="en-US" sz="1000" dirty="0"/>
            </a:p>
          </p:txBody>
        </p:sp>
        <p:sp>
          <p:nvSpPr>
            <p:cNvPr id="18" name="Text 20">
              <a:extLst>
                <a:ext uri="{FF2B5EF4-FFF2-40B4-BE49-F238E27FC236}">
                  <a16:creationId xmlns:a16="http://schemas.microsoft.com/office/drawing/2014/main" id="{15A8D60A-4B3C-F049-0C33-08B8B37B3895}"/>
                </a:ext>
              </a:extLst>
            </p:cNvPr>
            <p:cNvSpPr/>
            <p:nvPr/>
          </p:nvSpPr>
          <p:spPr>
            <a:xfrm>
              <a:off x="5042912" y="3899005"/>
              <a:ext cx="3794760" cy="585216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050" b="1">
                  <a:solidFill>
                    <a:srgbClr val="16324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加固提示词无效甚至反升</a:t>
              </a:r>
              <a:endParaRPr lang="en-US" sz="105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1F2A3D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提示词鲁棒性与工具描述鲁棒性相互正交，需分别设防</a:t>
              </a:r>
              <a:endParaRPr lang="en-US" sz="1050" dirty="0"/>
            </a:p>
          </p:txBody>
        </p:sp>
      </p:grpSp>
      <p:pic>
        <p:nvPicPr>
          <p:cNvPr id="22" name="图片 21" descr="图表, 树状图&#10;&#10;描述已自动生成">
            <a:extLst>
              <a:ext uri="{FF2B5EF4-FFF2-40B4-BE49-F238E27FC236}">
                <a16:creationId xmlns:a16="http://schemas.microsoft.com/office/drawing/2014/main" id="{A6DFBA29-CD35-D95E-33FF-8FEA99AFF7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46" y="1131589"/>
            <a:ext cx="5315186" cy="398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46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EB08E38-7850-0D2E-2820-DBB261A25866}"/>
              </a:ext>
            </a:extLst>
          </p:cNvPr>
          <p:cNvSpPr/>
          <p:nvPr/>
        </p:nvSpPr>
        <p:spPr>
          <a:xfrm>
            <a:off x="0" y="27063"/>
            <a:ext cx="9144000" cy="687167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37C5B966-E0BD-FDAE-3F3F-4376A8830453}"/>
              </a:ext>
            </a:extLst>
          </p:cNvPr>
          <p:cNvSpPr txBox="1">
            <a:spLocks/>
          </p:cNvSpPr>
          <p:nvPr/>
        </p:nvSpPr>
        <p:spPr>
          <a:xfrm>
            <a:off x="323528" y="191630"/>
            <a:ext cx="1975928" cy="35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实验验证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77E71B48-1B27-07ED-37D4-BF227C244112}"/>
              </a:ext>
            </a:extLst>
          </p:cNvPr>
          <p:cNvSpPr/>
          <p:nvPr/>
        </p:nvSpPr>
        <p:spPr>
          <a:xfrm>
            <a:off x="349749" y="72822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间接注入：检索内容「放在哪」决定风险</a:t>
            </a:r>
            <a:endParaRPr lang="en-US" sz="2400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41753E7-7153-144F-544E-9F0F01EF2A6E}"/>
              </a:ext>
            </a:extLst>
          </p:cNvPr>
          <p:cNvGrpSpPr/>
          <p:nvPr/>
        </p:nvGrpSpPr>
        <p:grpSpPr>
          <a:xfrm>
            <a:off x="6292159" y="1749053"/>
            <a:ext cx="2808312" cy="2088232"/>
            <a:chOff x="5022004" y="2976766"/>
            <a:chExt cx="3383280" cy="1572768"/>
          </a:xfrm>
        </p:grpSpPr>
        <p:sp>
          <p:nvSpPr>
            <p:cNvPr id="50" name="Text 33">
              <a:extLst>
                <a:ext uri="{FF2B5EF4-FFF2-40B4-BE49-F238E27FC236}">
                  <a16:creationId xmlns:a16="http://schemas.microsoft.com/office/drawing/2014/main" id="{6694A0C4-1454-4F2C-DCF5-FF5F3666AE2F}"/>
                </a:ext>
              </a:extLst>
            </p:cNvPr>
            <p:cNvSpPr/>
            <p:nvPr/>
          </p:nvSpPr>
          <p:spPr>
            <a:xfrm>
              <a:off x="5022004" y="2976766"/>
              <a:ext cx="1828800" cy="2377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6324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关键发现</a:t>
              </a:r>
              <a:endParaRPr lang="en-US" sz="1150" dirty="0"/>
            </a:p>
          </p:txBody>
        </p:sp>
        <p:sp>
          <p:nvSpPr>
            <p:cNvPr id="51" name="Text 34">
              <a:extLst>
                <a:ext uri="{FF2B5EF4-FFF2-40B4-BE49-F238E27FC236}">
                  <a16:creationId xmlns:a16="http://schemas.microsoft.com/office/drawing/2014/main" id="{2822211E-8AAE-343E-87CD-2B1E1BAEC70E}"/>
                </a:ext>
              </a:extLst>
            </p:cNvPr>
            <p:cNvSpPr/>
            <p:nvPr/>
          </p:nvSpPr>
          <p:spPr>
            <a:xfrm>
              <a:off x="5022004" y="3251086"/>
              <a:ext cx="3383280" cy="1298448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900" b="1">
                  <a:solidFill>
                    <a:srgbClr val="2E75B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▸ </a:t>
              </a:r>
              <a:r>
                <a:rPr lang="en-US" sz="900" dirty="0">
                  <a:solidFill>
                    <a:srgbClr val="1F2A3D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加固仅降 20–40%；最佳配置 hardened+T 仍 5–10% 成功
</a:t>
              </a:r>
              <a:r>
                <a:rPr lang="en-US" sz="900" b="1">
                  <a:solidFill>
                    <a:srgbClr val="2E75B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▸ </a:t>
              </a:r>
              <a:r>
                <a:rPr lang="zh-CN" altLang="en-US" sz="900">
                  <a:solidFill>
                    <a:srgbClr val="1F2A3D"/>
                  </a:solidFill>
                  <a:latin typeface="Microsoft YaHei" pitchFamily="34" charset="0"/>
                  <a:ea typeface="Microsoft YaHei" pitchFamily="34" charset="-122"/>
                </a:rPr>
                <a:t>大模型不一定比小模型更稳健</a:t>
              </a:r>
              <a:r>
                <a:rPr lang="en-US" sz="900" dirty="0">
                  <a:solidFill>
                    <a:srgbClr val="1F2A3D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
</a:t>
              </a:r>
              <a:r>
                <a:rPr lang="en-US" sz="900" b="1" dirty="0">
                  <a:solidFill>
                    <a:srgbClr val="1E8449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▸ </a:t>
              </a:r>
              <a:r>
                <a:rPr lang="en-US" sz="900" dirty="0">
                  <a:solidFill>
                    <a:srgbClr val="1F2A3D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厂商差异：Gemini 最脆弱，Anthropic 最稳健；wrapping 对 OpenAI 更有效</a:t>
              </a:r>
              <a:endParaRPr lang="en-US" sz="900" dirty="0"/>
            </a:p>
          </p:txBody>
        </p:sp>
      </p:grpSp>
      <p:pic>
        <p:nvPicPr>
          <p:cNvPr id="9" name="图片 8" descr="日历&#10;&#10;中度可信度描述已自动生成">
            <a:extLst>
              <a:ext uri="{FF2B5EF4-FFF2-40B4-BE49-F238E27FC236}">
                <a16:creationId xmlns:a16="http://schemas.microsoft.com/office/drawing/2014/main" id="{2F4DCDE2-F544-EDCE-4829-2522B3376F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61" t="7348" r="9031" b="3654"/>
          <a:stretch/>
        </p:blipFill>
        <p:spPr>
          <a:xfrm>
            <a:off x="43529" y="1208993"/>
            <a:ext cx="6112647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770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EB08E38-7850-0D2E-2820-DBB261A25866}"/>
              </a:ext>
            </a:extLst>
          </p:cNvPr>
          <p:cNvSpPr/>
          <p:nvPr/>
        </p:nvSpPr>
        <p:spPr>
          <a:xfrm>
            <a:off x="0" y="27063"/>
            <a:ext cx="9144000" cy="687167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37C5B966-E0BD-FDAE-3F3F-4376A8830453}"/>
              </a:ext>
            </a:extLst>
          </p:cNvPr>
          <p:cNvSpPr txBox="1">
            <a:spLocks/>
          </p:cNvSpPr>
          <p:nvPr/>
        </p:nvSpPr>
        <p:spPr>
          <a:xfrm>
            <a:off x="323528" y="191630"/>
            <a:ext cx="1975928" cy="35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实验验证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F533CAEB-28A8-D227-B6AF-A4AF0278B774}"/>
              </a:ext>
            </a:extLst>
          </p:cNvPr>
          <p:cNvSpPr/>
          <p:nvPr/>
        </p:nvSpPr>
        <p:spPr>
          <a:xfrm>
            <a:off x="323528" y="767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240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ED1A4222-B79C-9F95-65C1-A2392B9C52DE}"/>
              </a:ext>
            </a:extLst>
          </p:cNvPr>
          <p:cNvSpPr/>
          <p:nvPr/>
        </p:nvSpPr>
        <p:spPr>
          <a:xfrm>
            <a:off x="323528" y="1491630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E2F049B4-879A-CCC6-0309-2D398EFA6CCD}"/>
              </a:ext>
            </a:extLst>
          </p:cNvPr>
          <p:cNvSpPr/>
          <p:nvPr/>
        </p:nvSpPr>
        <p:spPr>
          <a:xfrm>
            <a:off x="451544" y="1619646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C544A9BA-9809-4226-8BD8-FDFF74FE715B}"/>
              </a:ext>
            </a:extLst>
          </p:cNvPr>
          <p:cNvSpPr/>
          <p:nvPr/>
        </p:nvSpPr>
        <p:spPr>
          <a:xfrm>
            <a:off x="451544" y="161964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67053D7F-89A8-C5E7-70DE-661B28053D1E}"/>
              </a:ext>
            </a:extLst>
          </p:cNvPr>
          <p:cNvSpPr/>
          <p:nvPr/>
        </p:nvSpPr>
        <p:spPr>
          <a:xfrm>
            <a:off x="835592" y="1491630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身份伪造 &gt; 用户越权　</a:t>
            </a:r>
            <a:r>
              <a:rPr lang="en-US" sz="8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伪造 system / assistant 角色的注入显著更有效，指令层级防护可被身份伪造绕过</a:t>
            </a:r>
            <a:endParaRPr lang="en-US" sz="1050" dirty="0"/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A4E5BE7F-F8C5-3828-33D9-BD42907386A6}"/>
              </a:ext>
            </a:extLst>
          </p:cNvPr>
          <p:cNvSpPr/>
          <p:nvPr/>
        </p:nvSpPr>
        <p:spPr>
          <a:xfrm>
            <a:off x="323528" y="2113422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24F38383-2F2F-593E-57D5-EBD10E327553}"/>
              </a:ext>
            </a:extLst>
          </p:cNvPr>
          <p:cNvSpPr/>
          <p:nvPr/>
        </p:nvSpPr>
        <p:spPr>
          <a:xfrm>
            <a:off x="451544" y="2241438"/>
            <a:ext cx="274320" cy="2743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F20D2F51-E8E8-AF70-8111-0975D1AAE304}"/>
              </a:ext>
            </a:extLst>
          </p:cNvPr>
          <p:cNvSpPr/>
          <p:nvPr/>
        </p:nvSpPr>
        <p:spPr>
          <a:xfrm>
            <a:off x="451544" y="224143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0E6AC04B-B506-F65C-B548-22A285146116}"/>
              </a:ext>
            </a:extLst>
          </p:cNvPr>
          <p:cNvSpPr/>
          <p:nvPr/>
        </p:nvSpPr>
        <p:spPr>
          <a:xfrm>
            <a:off x="835592" y="2113422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注入位置决定风险　</a:t>
            </a:r>
            <a:r>
              <a:rPr lang="en-US" sz="8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检索内容的注入位置极大影响间接注入成功率，最高相差 5 倍</a:t>
            </a:r>
            <a:endParaRPr lang="en-US" sz="1050" dirty="0"/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F8A8A82D-5A18-8584-97F5-24584CEC8B4E}"/>
              </a:ext>
            </a:extLst>
          </p:cNvPr>
          <p:cNvSpPr/>
          <p:nvPr/>
        </p:nvSpPr>
        <p:spPr>
          <a:xfrm>
            <a:off x="323528" y="2735214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910DEAB9-5684-DE99-AC58-0DBB8425E808}"/>
              </a:ext>
            </a:extLst>
          </p:cNvPr>
          <p:cNvSpPr/>
          <p:nvPr/>
        </p:nvSpPr>
        <p:spPr>
          <a:xfrm>
            <a:off x="451544" y="2863230"/>
            <a:ext cx="274320" cy="27432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D195BCA4-A899-42AC-A73C-C339E695FEB5}"/>
              </a:ext>
            </a:extLst>
          </p:cNvPr>
          <p:cNvSpPr/>
          <p:nvPr/>
        </p:nvSpPr>
        <p:spPr>
          <a:xfrm>
            <a:off x="451544" y="286323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1233FD2B-ADBD-C84E-C203-9F5C8CF645C3}"/>
              </a:ext>
            </a:extLst>
          </p:cNvPr>
          <p:cNvSpPr/>
          <p:nvPr/>
        </p:nvSpPr>
        <p:spPr>
          <a:xfrm>
            <a:off x="835592" y="2735214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规范映射是根本解　</a:t>
            </a:r>
            <a:r>
              <a:rPr lang="en-US" sz="8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插件开发应保持「用户输入→user 角色、检索内容→tool 角色」的标准做法</a:t>
            </a:r>
            <a:endParaRPr lang="en-US" sz="1050" dirty="0"/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5552F4C7-D28E-28FA-7BAA-1D79CBF2ABD2}"/>
              </a:ext>
            </a:extLst>
          </p:cNvPr>
          <p:cNvSpPr/>
          <p:nvPr/>
        </p:nvSpPr>
        <p:spPr>
          <a:xfrm>
            <a:off x="323528" y="3357006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332DB415-692E-748B-842C-D15CA2322349}"/>
              </a:ext>
            </a:extLst>
          </p:cNvPr>
          <p:cNvSpPr/>
          <p:nvPr/>
        </p:nvSpPr>
        <p:spPr>
          <a:xfrm>
            <a:off x="451544" y="3485022"/>
            <a:ext cx="274320" cy="2743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8CF3DEBC-DB87-F568-5C22-17644FF349E4}"/>
              </a:ext>
            </a:extLst>
          </p:cNvPr>
          <p:cNvSpPr/>
          <p:nvPr/>
        </p:nvSpPr>
        <p:spPr>
          <a:xfrm>
            <a:off x="451544" y="348502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68CF0D06-C07F-FAD7-7D6B-AEE9228C1156}"/>
              </a:ext>
            </a:extLst>
          </p:cNvPr>
          <p:cNvSpPr/>
          <p:nvPr/>
        </p:nvSpPr>
        <p:spPr>
          <a:xfrm>
            <a:off x="835592" y="3357006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加固有明确边界　</a:t>
            </a:r>
            <a:r>
              <a:rPr lang="en-US" sz="8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加固提示词能压制任务劫持（TaH），但对工具劫持（ToH）基本无效</a:t>
            </a:r>
            <a:endParaRPr lang="en-US" sz="1050" dirty="0"/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0BFFFE8E-DAA8-A6CA-C96A-8F828E8BD75F}"/>
              </a:ext>
            </a:extLst>
          </p:cNvPr>
          <p:cNvSpPr/>
          <p:nvPr/>
        </p:nvSpPr>
        <p:spPr>
          <a:xfrm>
            <a:off x="323528" y="3978798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55" name="Shape 24">
            <a:extLst>
              <a:ext uri="{FF2B5EF4-FFF2-40B4-BE49-F238E27FC236}">
                <a16:creationId xmlns:a16="http://schemas.microsoft.com/office/drawing/2014/main" id="{6B73FD1C-F97E-6FD6-4831-1DDB69A7BED3}"/>
              </a:ext>
            </a:extLst>
          </p:cNvPr>
          <p:cNvSpPr/>
          <p:nvPr/>
        </p:nvSpPr>
        <p:spPr>
          <a:xfrm>
            <a:off x="451544" y="4106814"/>
            <a:ext cx="274320" cy="27432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C3C04EF1-70DE-10A4-D3F5-2905FCB12DCC}"/>
              </a:ext>
            </a:extLst>
          </p:cNvPr>
          <p:cNvSpPr/>
          <p:nvPr/>
        </p:nvSpPr>
        <p:spPr>
          <a:xfrm>
            <a:off x="451544" y="410681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91CFBD46-81D1-1B61-3D32-4D2B3432E239}"/>
              </a:ext>
            </a:extLst>
          </p:cNvPr>
          <p:cNvSpPr/>
          <p:nvPr/>
        </p:nvSpPr>
        <p:spPr>
          <a:xfrm>
            <a:off x="835592" y="3978798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鲁棒性因厂而异　</a:t>
            </a:r>
            <a:r>
              <a:rPr lang="en-US" sz="8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不同厂商、不同攻击类型下模型鲁棒性差异巨大：Anthropic 最稳、Gemini 最弱</a:t>
            </a:r>
            <a:endParaRPr lang="en-US" sz="1050" dirty="0"/>
          </a:p>
        </p:txBody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5DCE1102-18E4-81E7-88AD-D989285CE760}"/>
              </a:ext>
            </a:extLst>
          </p:cNvPr>
          <p:cNvSpPr/>
          <p:nvPr/>
        </p:nvSpPr>
        <p:spPr>
          <a:xfrm>
            <a:off x="5627048" y="1491630"/>
            <a:ext cx="2926080" cy="3035808"/>
          </a:xfrm>
          <a:prstGeom prst="roundRect">
            <a:avLst>
              <a:gd name="adj" fmla="val 1875"/>
            </a:avLst>
          </a:prstGeom>
          <a:solidFill>
            <a:srgbClr val="FDF2F0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CF127D8A-3D74-C129-C4CF-FDA2D340E507}"/>
              </a:ext>
            </a:extLst>
          </p:cNvPr>
          <p:cNvSpPr/>
          <p:nvPr/>
        </p:nvSpPr>
        <p:spPr>
          <a:xfrm>
            <a:off x="5828216" y="160135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1200" b="1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</a:rPr>
              <a:t>实验中暴露出的安全问题</a:t>
            </a:r>
            <a:endParaRPr lang="en-US" sz="1200" dirty="0"/>
          </a:p>
        </p:txBody>
      </p:sp>
      <p:sp>
        <p:nvSpPr>
          <p:cNvPr id="60" name="Shape 29">
            <a:extLst>
              <a:ext uri="{FF2B5EF4-FFF2-40B4-BE49-F238E27FC236}">
                <a16:creationId xmlns:a16="http://schemas.microsoft.com/office/drawing/2014/main" id="{492993C2-6235-54EE-77E2-087E2B61312A}"/>
              </a:ext>
            </a:extLst>
          </p:cNvPr>
          <p:cNvSpPr/>
          <p:nvPr/>
        </p:nvSpPr>
        <p:spPr>
          <a:xfrm>
            <a:off x="5828216" y="2204862"/>
            <a:ext cx="252374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8B4AE"/>
            </a:solidFill>
            <a:prstDash val="solid"/>
          </a:ln>
        </p:spPr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C831EC62-18D7-07C8-E954-4960A587ABCF}"/>
              </a:ext>
            </a:extLst>
          </p:cNvPr>
          <p:cNvSpPr/>
          <p:nvPr/>
        </p:nvSpPr>
        <p:spPr>
          <a:xfrm>
            <a:off x="5919656" y="2204862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提示词明文暴露
</a:t>
            </a:r>
            <a:r>
              <a:rPr lang="en-US" sz="8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P7 / P8 / P16 / P17 四款插件在前端直接泄露系统提示词</a:t>
            </a:r>
            <a:endParaRPr lang="en-US" sz="950" dirty="0"/>
          </a:p>
        </p:txBody>
      </p:sp>
      <p:sp>
        <p:nvSpPr>
          <p:cNvPr id="62" name="Shape 31">
            <a:extLst>
              <a:ext uri="{FF2B5EF4-FFF2-40B4-BE49-F238E27FC236}">
                <a16:creationId xmlns:a16="http://schemas.microsoft.com/office/drawing/2014/main" id="{76A0A12F-787F-7255-52F2-C055FAC0F77E}"/>
              </a:ext>
            </a:extLst>
          </p:cNvPr>
          <p:cNvSpPr/>
          <p:nvPr/>
        </p:nvSpPr>
        <p:spPr>
          <a:xfrm>
            <a:off x="5828216" y="2972958"/>
            <a:ext cx="252374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8B4AE"/>
            </a:solidFill>
            <a:prstDash val="solid"/>
          </a:ln>
        </p:spPr>
      </p:sp>
      <p:sp>
        <p:nvSpPr>
          <p:cNvPr id="63" name="Text 32">
            <a:extLst>
              <a:ext uri="{FF2B5EF4-FFF2-40B4-BE49-F238E27FC236}">
                <a16:creationId xmlns:a16="http://schemas.microsoft.com/office/drawing/2014/main" id="{1B97E090-6E66-2A7B-B9F3-033690AF1EA0}"/>
              </a:ext>
            </a:extLst>
          </p:cNvPr>
          <p:cNvSpPr/>
          <p:nvPr/>
        </p:nvSpPr>
        <p:spPr>
          <a:xfrm>
            <a:off x="5919656" y="2972958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 泄露
</a:t>
            </a:r>
            <a:r>
              <a:rPr lang="en-US" sz="8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P12 将 OpenAI API Key 暴露给前端，波及 130+ 部署站点</a:t>
            </a:r>
            <a:endParaRPr lang="en-US" sz="950" dirty="0"/>
          </a:p>
        </p:txBody>
      </p:sp>
      <p:sp>
        <p:nvSpPr>
          <p:cNvPr id="64" name="Shape 33">
            <a:extLst>
              <a:ext uri="{FF2B5EF4-FFF2-40B4-BE49-F238E27FC236}">
                <a16:creationId xmlns:a16="http://schemas.microsoft.com/office/drawing/2014/main" id="{99057DD8-EDED-A5F8-08A5-DE2D19CBE63B}"/>
              </a:ext>
            </a:extLst>
          </p:cNvPr>
          <p:cNvSpPr/>
          <p:nvPr/>
        </p:nvSpPr>
        <p:spPr>
          <a:xfrm>
            <a:off x="5828216" y="3741054"/>
            <a:ext cx="252374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8B4AE"/>
            </a:solidFill>
            <a:prstDash val="solid"/>
          </a:ln>
        </p:spPr>
      </p:sp>
      <p:sp>
        <p:nvSpPr>
          <p:cNvPr id="65" name="Text 34">
            <a:extLst>
              <a:ext uri="{FF2B5EF4-FFF2-40B4-BE49-F238E27FC236}">
                <a16:creationId xmlns:a16="http://schemas.microsoft.com/office/drawing/2014/main" id="{03353F33-8A49-86DD-4A2E-EA2A1634F903}"/>
              </a:ext>
            </a:extLst>
          </p:cNvPr>
          <p:cNvSpPr/>
          <p:nvPr/>
        </p:nvSpPr>
        <p:spPr>
          <a:xfrm>
            <a:off x="5919656" y="3741054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隐私数据外泄
</a:t>
            </a:r>
            <a:r>
              <a:rPr lang="en-US" sz="8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真实客服邮箱、订单记录等敏感信息可被对话套取</a:t>
            </a:r>
            <a:endParaRPr lang="en-US" sz="950" dirty="0"/>
          </a:p>
        </p:txBody>
      </p:sp>
      <p:sp>
        <p:nvSpPr>
          <p:cNvPr id="66" name="Shape 35">
            <a:extLst>
              <a:ext uri="{FF2B5EF4-FFF2-40B4-BE49-F238E27FC236}">
                <a16:creationId xmlns:a16="http://schemas.microsoft.com/office/drawing/2014/main" id="{1115A187-C401-258D-FA37-035BCA765D71}"/>
              </a:ext>
            </a:extLst>
          </p:cNvPr>
          <p:cNvSpPr/>
          <p:nvPr/>
        </p:nvSpPr>
        <p:spPr>
          <a:xfrm>
            <a:off x="323528" y="4573158"/>
            <a:ext cx="8229600" cy="292608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</p:sp>
      <p:sp>
        <p:nvSpPr>
          <p:cNvPr id="67" name="Text 36">
            <a:extLst>
              <a:ext uri="{FF2B5EF4-FFF2-40B4-BE49-F238E27FC236}">
                <a16:creationId xmlns:a16="http://schemas.microsoft.com/office/drawing/2014/main" id="{44F33F47-6A15-0D43-ECC7-829D23E8AF55}"/>
              </a:ext>
            </a:extLst>
          </p:cNvPr>
          <p:cNvSpPr/>
          <p:nvPr/>
        </p:nvSpPr>
        <p:spPr>
          <a:xfrm>
            <a:off x="597848" y="457315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5B7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承上启下：</a:t>
            </a: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攻击面不止「注入」本身 </a:t>
            </a:r>
            <a:r>
              <a:rPr lang="en-US" sz="100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配置失误让密钥与隐私直接</a:t>
            </a:r>
            <a:r>
              <a:rPr lang="zh-CN" altLang="en-US" sz="100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</a:t>
            </a:r>
            <a:r>
              <a:rPr lang="en-US" sz="100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，防御需要体系化方案。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1737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EB08E38-7850-0D2E-2820-DBB261A25866}"/>
              </a:ext>
            </a:extLst>
          </p:cNvPr>
          <p:cNvSpPr/>
          <p:nvPr/>
        </p:nvSpPr>
        <p:spPr>
          <a:xfrm>
            <a:off x="0" y="27063"/>
            <a:ext cx="9144000" cy="687167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37C5B966-E0BD-FDAE-3F3F-4376A8830453}"/>
              </a:ext>
            </a:extLst>
          </p:cNvPr>
          <p:cNvSpPr txBox="1">
            <a:spLocks/>
          </p:cNvSpPr>
          <p:nvPr/>
        </p:nvSpPr>
        <p:spPr>
          <a:xfrm>
            <a:off x="323528" y="191630"/>
            <a:ext cx="1975928" cy="35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实验验证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21C3CEB1-C3B4-7B11-9164-991AD0A48D33}"/>
              </a:ext>
            </a:extLst>
          </p:cNvPr>
          <p:cNvSpPr/>
          <p:nvPr/>
        </p:nvSpPr>
        <p:spPr>
          <a:xfrm>
            <a:off x="323528" y="88681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防御策略：两条轻量防线</a:t>
            </a:r>
            <a:endParaRPr lang="en-US" sz="240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9806A2EC-6E66-E2FA-6778-E9182B082684}"/>
              </a:ext>
            </a:extLst>
          </p:cNvPr>
          <p:cNvSpPr/>
          <p:nvPr/>
        </p:nvSpPr>
        <p:spPr>
          <a:xfrm>
            <a:off x="323528" y="1728067"/>
            <a:ext cx="329184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CD0ED871-8A47-485D-CDE3-5E7F062D9691}"/>
              </a:ext>
            </a:extLst>
          </p:cNvPr>
          <p:cNvSpPr/>
          <p:nvPr/>
        </p:nvSpPr>
        <p:spPr>
          <a:xfrm>
            <a:off x="524696" y="1856083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基础规范</a:t>
            </a:r>
            <a:r>
              <a:rPr lang="en-US" sz="12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（必要非充分）</a:t>
            </a:r>
            <a:endParaRPr lang="en-US" sz="10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0D639AFF-2CFE-885D-EFC8-3AF1FE9C6B26}"/>
              </a:ext>
            </a:extLst>
          </p:cNvPr>
          <p:cNvSpPr/>
          <p:nvPr/>
        </p:nvSpPr>
        <p:spPr>
          <a:xfrm>
            <a:off x="524696" y="2258419"/>
            <a:ext cx="41148" cy="2011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372EDEFA-5B24-20AE-872F-70B28AAF83A1}"/>
              </a:ext>
            </a:extLst>
          </p:cNvPr>
          <p:cNvSpPr/>
          <p:nvPr/>
        </p:nvSpPr>
        <p:spPr>
          <a:xfrm>
            <a:off x="634424" y="2267563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b="1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会话管理上</a:t>
            </a:r>
            <a:endParaRPr lang="en-US" sz="105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7F8AFCD5-0544-9EC2-B30F-A9397CAC2161}"/>
              </a:ext>
            </a:extLst>
          </p:cNvPr>
          <p:cNvSpPr/>
          <p:nvPr/>
        </p:nvSpPr>
        <p:spPr>
          <a:xfrm>
            <a:off x="634424" y="2450443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会话历史存服务端 / OpenAI Threads；或为合法消息加服务端密钥签名，伪造消息过不了完整性校验</a:t>
            </a:r>
            <a:endParaRPr lang="en-US" sz="900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DF3F747A-C47E-6F01-C722-50A6975EE429}"/>
              </a:ext>
            </a:extLst>
          </p:cNvPr>
          <p:cNvSpPr/>
          <p:nvPr/>
        </p:nvSpPr>
        <p:spPr>
          <a:xfrm>
            <a:off x="524696" y="2971651"/>
            <a:ext cx="41148" cy="2011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CDD192C5-6DF4-974B-6140-E7C40F0254F4}"/>
              </a:ext>
            </a:extLst>
          </p:cNvPr>
          <p:cNvSpPr/>
          <p:nvPr/>
        </p:nvSpPr>
        <p:spPr>
          <a:xfrm>
            <a:off x="634424" y="2980795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走 tool 角色</a:t>
            </a:r>
            <a:endParaRPr lang="en-US" sz="1050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C2A775FF-93D3-A99F-203F-CD194D156F2E}"/>
              </a:ext>
            </a:extLst>
          </p:cNvPr>
          <p:cNvSpPr/>
          <p:nvPr/>
        </p:nvSpPr>
        <p:spPr>
          <a:xfrm>
            <a:off x="634424" y="3163675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检索内容一律以 tool 角色注入上下文，借用模型自带层级防护，不再自造粘包格式</a:t>
            </a:r>
            <a:endParaRPr lang="en-US" sz="900" dirty="0"/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5D29D363-124C-6638-1037-CF357147CD09}"/>
              </a:ext>
            </a:extLst>
          </p:cNvPr>
          <p:cNvSpPr/>
          <p:nvPr/>
        </p:nvSpPr>
        <p:spPr>
          <a:xfrm>
            <a:off x="524696" y="3684883"/>
            <a:ext cx="41148" cy="2011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33843256-C8B3-93D0-FB34-7C83D1D2A873}"/>
              </a:ext>
            </a:extLst>
          </p:cNvPr>
          <p:cNvSpPr/>
          <p:nvPr/>
        </p:nvSpPr>
        <p:spPr>
          <a:xfrm>
            <a:off x="634424" y="3684883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UGC 先审后用</a:t>
            </a:r>
            <a:endParaRPr lang="en-US" sz="1050" dirty="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2717A810-7923-1EC2-9068-FF2A9E97A780}"/>
              </a:ext>
            </a:extLst>
          </p:cNvPr>
          <p:cNvSpPr/>
          <p:nvPr/>
        </p:nvSpPr>
        <p:spPr>
          <a:xfrm>
            <a:off x="634424" y="3876907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商品评论等用户内容进知识库前需过滤审查，从源头堵住间接注入</a:t>
            </a:r>
            <a:endParaRPr lang="en-US" sz="900" dirty="0"/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1752EC45-9606-C08C-D3A4-D0A5B4038C1C}"/>
              </a:ext>
            </a:extLst>
          </p:cNvPr>
          <p:cNvSpPr/>
          <p:nvPr/>
        </p:nvSpPr>
        <p:spPr>
          <a:xfrm>
            <a:off x="3798248" y="1728067"/>
            <a:ext cx="47548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FCC7C6D5-5E6B-79C8-F092-86F9215A1A3C}"/>
              </a:ext>
            </a:extLst>
          </p:cNvPr>
          <p:cNvSpPr/>
          <p:nvPr/>
        </p:nvSpPr>
        <p:spPr>
          <a:xfrm>
            <a:off x="3798248" y="1728067"/>
            <a:ext cx="82296" cy="12984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3B9CB048-B811-B5E0-BA0F-54879B77CD3C}"/>
              </a:ext>
            </a:extLst>
          </p:cNvPr>
          <p:cNvSpPr/>
          <p:nvPr/>
        </p:nvSpPr>
        <p:spPr>
          <a:xfrm>
            <a:off x="4017704" y="1837795"/>
            <a:ext cx="4434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防线一</a:t>
            </a:r>
            <a:r>
              <a:rPr lang="en-US" sz="9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sz="11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UGC-Buster：隔离用户生成内容</a:t>
            </a:r>
            <a:endParaRPr lang="en-US" sz="90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AFFB67C0-9743-DA66-FB6A-A0C398339D39}"/>
              </a:ext>
            </a:extLst>
          </p:cNvPr>
          <p:cNvSpPr/>
          <p:nvPr/>
        </p:nvSpPr>
        <p:spPr>
          <a:xfrm>
            <a:off x="4017704" y="2112115"/>
            <a:ext cx="299923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</a:rPr>
              <a:t>按 HTML 节点路径给站点内容分组，提示 LLM 检测评论区、用户名、时间戳等 UGC 信号，产出机器可读元数据，供开发者把 UGC 容器从 RAG </a:t>
            </a:r>
            <a:r>
              <a:rPr lang="en-US" sz="100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</a:rPr>
              <a:t>知识库中剔除。</a:t>
            </a:r>
            <a:endParaRPr lang="en-US" sz="1000" dirty="0">
              <a:solidFill>
                <a:srgbClr val="1F2A3D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38" name="Shape 21">
            <a:extLst>
              <a:ext uri="{FF2B5EF4-FFF2-40B4-BE49-F238E27FC236}">
                <a16:creationId xmlns:a16="http://schemas.microsoft.com/office/drawing/2014/main" id="{6E1BA1C5-E0FE-C8BE-D4CE-E18EE6220A11}"/>
              </a:ext>
            </a:extLst>
          </p:cNvPr>
          <p:cNvSpPr/>
          <p:nvPr/>
        </p:nvSpPr>
        <p:spPr>
          <a:xfrm>
            <a:off x="7126664" y="2093827"/>
            <a:ext cx="1298448" cy="841248"/>
          </a:xfrm>
          <a:prstGeom prst="roundRect">
            <a:avLst>
              <a:gd name="adj" fmla="val 5435"/>
            </a:avLst>
          </a:prstGeom>
          <a:solidFill>
            <a:srgbClr val="F4F8FC"/>
          </a:solidFill>
          <a:ln w="9525">
            <a:solidFill>
              <a:srgbClr val="C9D6E3"/>
            </a:solidFill>
            <a:prstDash val="solid"/>
          </a:ln>
        </p:spPr>
      </p:sp>
      <p:sp>
        <p:nvSpPr>
          <p:cNvPr id="39" name="Text 22">
            <a:extLst>
              <a:ext uri="{FF2B5EF4-FFF2-40B4-BE49-F238E27FC236}">
                <a16:creationId xmlns:a16="http://schemas.microsoft.com/office/drawing/2014/main" id="{EA56DF80-CE16-AFFB-0D68-7150431B42E7}"/>
              </a:ext>
            </a:extLst>
          </p:cNvPr>
          <p:cNvSpPr/>
          <p:nvPr/>
        </p:nvSpPr>
        <p:spPr>
          <a:xfrm>
            <a:off x="7163240" y="2112115"/>
            <a:ext cx="1225296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$0.05/页
</a:t>
            </a:r>
            <a:r>
              <a:rPr lang="en-US" sz="7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个电商站实测，仅 1 例误报</a:t>
            </a:r>
            <a:endParaRPr lang="en-US" sz="1150" dirty="0"/>
          </a:p>
        </p:txBody>
      </p:sp>
      <p:sp>
        <p:nvSpPr>
          <p:cNvPr id="40" name="Shape 23">
            <a:extLst>
              <a:ext uri="{FF2B5EF4-FFF2-40B4-BE49-F238E27FC236}">
                <a16:creationId xmlns:a16="http://schemas.microsoft.com/office/drawing/2014/main" id="{5E461348-0ABC-6BFD-408E-2A34F8047583}"/>
              </a:ext>
            </a:extLst>
          </p:cNvPr>
          <p:cNvSpPr/>
          <p:nvPr/>
        </p:nvSpPr>
        <p:spPr>
          <a:xfrm>
            <a:off x="3798248" y="3117955"/>
            <a:ext cx="47548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41" name="Shape 24">
            <a:extLst>
              <a:ext uri="{FF2B5EF4-FFF2-40B4-BE49-F238E27FC236}">
                <a16:creationId xmlns:a16="http://schemas.microsoft.com/office/drawing/2014/main" id="{6A9C008B-4394-EB2A-17B1-429C0DF7285E}"/>
              </a:ext>
            </a:extLst>
          </p:cNvPr>
          <p:cNvSpPr/>
          <p:nvPr/>
        </p:nvSpPr>
        <p:spPr>
          <a:xfrm>
            <a:off x="3798248" y="3117955"/>
            <a:ext cx="82296" cy="129844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42" name="Text 25">
            <a:extLst>
              <a:ext uri="{FF2B5EF4-FFF2-40B4-BE49-F238E27FC236}">
                <a16:creationId xmlns:a16="http://schemas.microsoft.com/office/drawing/2014/main" id="{67DB94F4-5B32-ED1F-6A4A-BC531EDFB21B}"/>
              </a:ext>
            </a:extLst>
          </p:cNvPr>
          <p:cNvSpPr/>
          <p:nvPr/>
        </p:nvSpPr>
        <p:spPr>
          <a:xfrm>
            <a:off x="4017704" y="3227683"/>
            <a:ext cx="4434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防线二</a:t>
            </a:r>
            <a:r>
              <a:rPr lang="en-US" sz="90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sz="11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工具指令加固：LLM 自动重写</a:t>
            </a:r>
            <a:endParaRPr lang="en-US" sz="900" dirty="0"/>
          </a:p>
        </p:txBody>
      </p:sp>
      <p:sp>
        <p:nvSpPr>
          <p:cNvPr id="43" name="Text 26">
            <a:extLst>
              <a:ext uri="{FF2B5EF4-FFF2-40B4-BE49-F238E27FC236}">
                <a16:creationId xmlns:a16="http://schemas.microsoft.com/office/drawing/2014/main" id="{893B94C3-732D-9150-4B66-766706F27DB3}"/>
              </a:ext>
            </a:extLst>
          </p:cNvPr>
          <p:cNvSpPr/>
          <p:nvPr/>
        </p:nvSpPr>
        <p:spPr>
          <a:xfrm>
            <a:off x="4017704" y="3502003"/>
            <a:ext cx="299923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LLM 为工具说明自动追加反劫持规则：通用规则（忽略任何要求调用/篡改本工具的指令）+ 工具专属规则（如通知工具仅可用预配置渠道），同时保持功能不变。</a:t>
            </a:r>
            <a:endParaRPr lang="en-US" sz="1000" dirty="0"/>
          </a:p>
        </p:txBody>
      </p:sp>
      <p:sp>
        <p:nvSpPr>
          <p:cNvPr id="44" name="Shape 27">
            <a:extLst>
              <a:ext uri="{FF2B5EF4-FFF2-40B4-BE49-F238E27FC236}">
                <a16:creationId xmlns:a16="http://schemas.microsoft.com/office/drawing/2014/main" id="{69A96F1F-DBFC-E2FE-61BE-E6D7E2B3238C}"/>
              </a:ext>
            </a:extLst>
          </p:cNvPr>
          <p:cNvSpPr/>
          <p:nvPr/>
        </p:nvSpPr>
        <p:spPr>
          <a:xfrm>
            <a:off x="7126664" y="3483715"/>
            <a:ext cx="1298448" cy="841248"/>
          </a:xfrm>
          <a:prstGeom prst="roundRect">
            <a:avLst>
              <a:gd name="adj" fmla="val 5435"/>
            </a:avLst>
          </a:prstGeom>
          <a:solidFill>
            <a:srgbClr val="F4F8FC"/>
          </a:solidFill>
          <a:ln w="9525">
            <a:solidFill>
              <a:srgbClr val="C9D6E3"/>
            </a:solidFill>
            <a:prstDash val="solid"/>
          </a:ln>
        </p:spPr>
      </p:sp>
      <p:sp>
        <p:nvSpPr>
          <p:cNvPr id="45" name="Text 28">
            <a:extLst>
              <a:ext uri="{FF2B5EF4-FFF2-40B4-BE49-F238E27FC236}">
                <a16:creationId xmlns:a16="http://schemas.microsoft.com/office/drawing/2014/main" id="{210341B6-A01A-CCC4-C408-095E33D3F9EA}"/>
              </a:ext>
            </a:extLst>
          </p:cNvPr>
          <p:cNvSpPr/>
          <p:nvPr/>
        </p:nvSpPr>
        <p:spPr>
          <a:xfrm>
            <a:off x="7163240" y="3502003"/>
            <a:ext cx="1225296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↓40–75%
</a:t>
            </a:r>
            <a:r>
              <a:rPr lang="en-US" sz="75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重测后的攻击成功率降幅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60321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第四部分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3682220" y="1411483"/>
            <a:ext cx="3050020" cy="485714"/>
          </a:xfrm>
        </p:spPr>
        <p:txBody>
          <a:bodyPr/>
          <a:lstStyle/>
          <a:p>
            <a:r>
              <a:rPr lang="en-US" altLang="zh-CN"/>
              <a:t>Summary &amp; Outlook</a:t>
            </a: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6732240" y="1347506"/>
            <a:ext cx="2473956" cy="613668"/>
          </a:xfrm>
        </p:spPr>
        <p:txBody>
          <a:bodyPr/>
          <a:lstStyle/>
          <a:p>
            <a:r>
              <a:rPr lang="zh-CN" altLang="en-US"/>
              <a:t>总结与展望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3682220" y="2139702"/>
            <a:ext cx="2473957" cy="1961373"/>
          </a:xfrm>
        </p:spPr>
        <p:txBody>
          <a:bodyPr/>
          <a:lstStyle/>
          <a:p>
            <a:pPr marL="214630" indent="-214630"/>
            <a:r>
              <a:rPr lang="zh-CN" altLang="en-US"/>
              <a:t>全文总结</a:t>
            </a:r>
            <a:endParaRPr lang="en-US" altLang="zh-CN"/>
          </a:p>
          <a:p>
            <a:pPr marL="214630" indent="-214630"/>
            <a:r>
              <a:rPr lang="zh-CN" altLang="en-US"/>
              <a:t>核心贡献与不足</a:t>
            </a:r>
            <a:endParaRPr lang="en-US" altLang="zh-CN" dirty="0"/>
          </a:p>
          <a:p>
            <a:pPr marL="214630" indent="-214630"/>
            <a:r>
              <a:rPr lang="zh-CN" altLang="en-US"/>
              <a:t>启发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EB08E38-7850-0D2E-2820-DBB261A25866}"/>
              </a:ext>
            </a:extLst>
          </p:cNvPr>
          <p:cNvSpPr/>
          <p:nvPr/>
        </p:nvSpPr>
        <p:spPr>
          <a:xfrm>
            <a:off x="0" y="27063"/>
            <a:ext cx="9144000" cy="687167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37C5B966-E0BD-FDAE-3F3F-4376A8830453}"/>
              </a:ext>
            </a:extLst>
          </p:cNvPr>
          <p:cNvSpPr txBox="1">
            <a:spLocks/>
          </p:cNvSpPr>
          <p:nvPr/>
        </p:nvSpPr>
        <p:spPr>
          <a:xfrm>
            <a:off x="323528" y="191630"/>
            <a:ext cx="1975928" cy="35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F72833FF-8B62-D038-A89E-A2FB47BFC0FA}"/>
              </a:ext>
            </a:extLst>
          </p:cNvPr>
          <p:cNvSpPr/>
          <p:nvPr/>
        </p:nvSpPr>
        <p:spPr>
          <a:xfrm>
            <a:off x="323528" y="10444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全文总结</a:t>
            </a:r>
            <a:endParaRPr lang="en-US" sz="240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E18B82C-16CB-1E8E-CC33-24A54A3D6D59}"/>
              </a:ext>
            </a:extLst>
          </p:cNvPr>
          <p:cNvSpPr/>
          <p:nvPr/>
        </p:nvSpPr>
        <p:spPr>
          <a:xfrm>
            <a:off x="323528" y="1738333"/>
            <a:ext cx="1901952" cy="2139696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325F14F-B8B0-5EE7-0CEC-096F9240FEEE}"/>
              </a:ext>
            </a:extLst>
          </p:cNvPr>
          <p:cNvSpPr/>
          <p:nvPr/>
        </p:nvSpPr>
        <p:spPr>
          <a:xfrm>
            <a:off x="323528" y="1738333"/>
            <a:ext cx="1901952" cy="640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1A29A64C-1D96-D762-E16D-42540070F0E5}"/>
              </a:ext>
            </a:extLst>
          </p:cNvPr>
          <p:cNvSpPr/>
          <p:nvPr/>
        </p:nvSpPr>
        <p:spPr>
          <a:xfrm>
            <a:off x="469832" y="1866349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E88A41B-38A0-BD1F-4ABE-21C5CB4FD567}"/>
              </a:ext>
            </a:extLst>
          </p:cNvPr>
          <p:cNvSpPr/>
          <p:nvPr/>
        </p:nvSpPr>
        <p:spPr>
          <a:xfrm>
            <a:off x="469832" y="2058373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提出问题</a:t>
            </a:r>
            <a:endParaRPr lang="en-US" sz="13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FEDF4A7F-7069-F7DF-D906-59A675FDA9B1}"/>
              </a:ext>
            </a:extLst>
          </p:cNvPr>
          <p:cNvSpPr/>
          <p:nvPr/>
        </p:nvSpPr>
        <p:spPr>
          <a:xfrm>
            <a:off x="469832" y="2396701"/>
            <a:ext cx="16276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确立威胁模型：插件自拼上下文使消息伪造等价于角色反转，拆分为直接 / 间接注入两类路径</a:t>
            </a:r>
            <a:endParaRPr lang="en-US" sz="1000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2B9CC5C9-5A5F-4B32-D02D-6FBFD175CA0E}"/>
              </a:ext>
            </a:extLst>
          </p:cNvPr>
          <p:cNvSpPr/>
          <p:nvPr/>
        </p:nvSpPr>
        <p:spPr>
          <a:xfrm>
            <a:off x="2252912" y="2707597"/>
            <a:ext cx="219456" cy="182880"/>
          </a:xfrm>
          <a:prstGeom prst="rightArrow">
            <a:avLst/>
          </a:prstGeom>
          <a:solidFill>
            <a:srgbClr val="2E75B6"/>
          </a:solidFill>
          <a:ln/>
        </p:spPr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D3F7C9C1-8F46-792F-9679-EE72E2BC04FD}"/>
              </a:ext>
            </a:extLst>
          </p:cNvPr>
          <p:cNvSpPr/>
          <p:nvPr/>
        </p:nvSpPr>
        <p:spPr>
          <a:xfrm>
            <a:off x="2499800" y="1738333"/>
            <a:ext cx="1901952" cy="2139696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A430E851-57B4-A5A9-9161-CEC6855F3551}"/>
              </a:ext>
            </a:extLst>
          </p:cNvPr>
          <p:cNvSpPr/>
          <p:nvPr/>
        </p:nvSpPr>
        <p:spPr>
          <a:xfrm>
            <a:off x="2499800" y="1738333"/>
            <a:ext cx="1901952" cy="6400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38DB4570-C009-74AE-BCA9-F0B7756CE34A}"/>
              </a:ext>
            </a:extLst>
          </p:cNvPr>
          <p:cNvSpPr/>
          <p:nvPr/>
        </p:nvSpPr>
        <p:spPr>
          <a:xfrm>
            <a:off x="2646104" y="1866349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5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25DFFC80-DBC8-0D5D-9001-B3136AFB72F8}"/>
              </a:ext>
            </a:extLst>
          </p:cNvPr>
          <p:cNvSpPr/>
          <p:nvPr/>
        </p:nvSpPr>
        <p:spPr>
          <a:xfrm>
            <a:off x="2646104" y="2058373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系统测量</a:t>
            </a:r>
            <a:endParaRPr lang="en-US" sz="130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E27CC9FB-9DAB-AABD-194A-9D38D04D9B6F}"/>
              </a:ext>
            </a:extLst>
          </p:cNvPr>
          <p:cNvSpPr/>
          <p:nvPr/>
        </p:nvSpPr>
        <p:spPr>
          <a:xfrm>
            <a:off x="2646104" y="2396701"/>
            <a:ext cx="16276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 / TaH / ToH 三任务 × 3 角色 × 3 档加固全因子设计；17 款插件、300 个真实站点实测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0D5DE009-3936-1D6A-A470-D5D2D147A169}"/>
              </a:ext>
            </a:extLst>
          </p:cNvPr>
          <p:cNvSpPr/>
          <p:nvPr/>
        </p:nvSpPr>
        <p:spPr>
          <a:xfrm>
            <a:off x="4429184" y="2707597"/>
            <a:ext cx="219456" cy="182880"/>
          </a:xfrm>
          <a:prstGeom prst="rightArrow">
            <a:avLst/>
          </a:prstGeom>
          <a:solidFill>
            <a:srgbClr val="2E75B6"/>
          </a:solidFill>
          <a:ln/>
        </p:spPr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DF65DF2B-0FBE-94BE-D27B-E29F079F42C3}"/>
              </a:ext>
            </a:extLst>
          </p:cNvPr>
          <p:cNvSpPr/>
          <p:nvPr/>
        </p:nvSpPr>
        <p:spPr>
          <a:xfrm>
            <a:off x="4676072" y="1738333"/>
            <a:ext cx="1901952" cy="2139696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527A80C5-27C2-99C7-71FE-FAE9EE1057DF}"/>
              </a:ext>
            </a:extLst>
          </p:cNvPr>
          <p:cNvSpPr/>
          <p:nvPr/>
        </p:nvSpPr>
        <p:spPr>
          <a:xfrm>
            <a:off x="4676072" y="1738333"/>
            <a:ext cx="1901952" cy="640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EDAE1F74-4447-3B43-B6CE-C0A95660DFE0}"/>
              </a:ext>
            </a:extLst>
          </p:cNvPr>
          <p:cNvSpPr/>
          <p:nvPr/>
        </p:nvSpPr>
        <p:spPr>
          <a:xfrm>
            <a:off x="4822376" y="1866349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50" dirty="0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FFD27B0E-1771-2051-0F4D-AEACD4C2964A}"/>
              </a:ext>
            </a:extLst>
          </p:cNvPr>
          <p:cNvSpPr/>
          <p:nvPr/>
        </p:nvSpPr>
        <p:spPr>
          <a:xfrm>
            <a:off x="4822376" y="2058373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量化风险</a:t>
            </a:r>
            <a:endParaRPr lang="en-US" sz="1300" dirty="0"/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D929ECDA-C399-8ACE-0F8C-04D8C788BF2A}"/>
              </a:ext>
            </a:extLst>
          </p:cNvPr>
          <p:cNvSpPr/>
          <p:nvPr/>
        </p:nvSpPr>
        <p:spPr>
          <a:xfrm>
            <a:off x="4822376" y="2396701"/>
            <a:ext cx="16276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伪造身份零成本攻击成功率 56%，真实用户仅约 1%；真实世界 73% 站点存在可注入路径</a:t>
            </a:r>
            <a:endParaRPr lang="en-US" sz="1000" dirty="0"/>
          </a:p>
        </p:txBody>
      </p:sp>
      <p:sp>
        <p:nvSpPr>
          <p:cNvPr id="53" name="Shape 29">
            <a:extLst>
              <a:ext uri="{FF2B5EF4-FFF2-40B4-BE49-F238E27FC236}">
                <a16:creationId xmlns:a16="http://schemas.microsoft.com/office/drawing/2014/main" id="{33E134E0-4019-F7DD-177B-2D57C0E51005}"/>
              </a:ext>
            </a:extLst>
          </p:cNvPr>
          <p:cNvSpPr/>
          <p:nvPr/>
        </p:nvSpPr>
        <p:spPr>
          <a:xfrm>
            <a:off x="6605456" y="2707597"/>
            <a:ext cx="219456" cy="182880"/>
          </a:xfrm>
          <a:prstGeom prst="rightArrow">
            <a:avLst/>
          </a:prstGeom>
          <a:solidFill>
            <a:srgbClr val="2E75B6"/>
          </a:solidFill>
          <a:ln/>
        </p:spPr>
      </p:sp>
      <p:sp>
        <p:nvSpPr>
          <p:cNvPr id="54" name="Shape 30">
            <a:extLst>
              <a:ext uri="{FF2B5EF4-FFF2-40B4-BE49-F238E27FC236}">
                <a16:creationId xmlns:a16="http://schemas.microsoft.com/office/drawing/2014/main" id="{A41468AF-0C9B-9059-4E70-B5273091F263}"/>
              </a:ext>
            </a:extLst>
          </p:cNvPr>
          <p:cNvSpPr/>
          <p:nvPr/>
        </p:nvSpPr>
        <p:spPr>
          <a:xfrm>
            <a:off x="6852344" y="1738333"/>
            <a:ext cx="1901952" cy="2139696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55" name="Shape 31">
            <a:extLst>
              <a:ext uri="{FF2B5EF4-FFF2-40B4-BE49-F238E27FC236}">
                <a16:creationId xmlns:a16="http://schemas.microsoft.com/office/drawing/2014/main" id="{B45813D8-4767-A925-648B-A806594430D1}"/>
              </a:ext>
            </a:extLst>
          </p:cNvPr>
          <p:cNvSpPr/>
          <p:nvPr/>
        </p:nvSpPr>
        <p:spPr>
          <a:xfrm>
            <a:off x="6852344" y="1738333"/>
            <a:ext cx="1901952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6" name="Text 32">
            <a:extLst>
              <a:ext uri="{FF2B5EF4-FFF2-40B4-BE49-F238E27FC236}">
                <a16:creationId xmlns:a16="http://schemas.microsoft.com/office/drawing/2014/main" id="{2CE36BFB-7A6D-EED3-D86A-A45E08CABB20}"/>
              </a:ext>
            </a:extLst>
          </p:cNvPr>
          <p:cNvSpPr/>
          <p:nvPr/>
        </p:nvSpPr>
        <p:spPr>
          <a:xfrm>
            <a:off x="6998648" y="1866349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850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5EB05120-01E1-2C51-AC7D-437B189B11DA}"/>
              </a:ext>
            </a:extLst>
          </p:cNvPr>
          <p:cNvSpPr/>
          <p:nvPr/>
        </p:nvSpPr>
        <p:spPr>
          <a:xfrm>
            <a:off x="6998648" y="2058373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轻量防御</a:t>
            </a:r>
            <a:endParaRPr lang="en-US" sz="1300" dirty="0"/>
          </a:p>
        </p:txBody>
      </p:sp>
      <p:sp>
        <p:nvSpPr>
          <p:cNvPr id="58" name="Text 34">
            <a:extLst>
              <a:ext uri="{FF2B5EF4-FFF2-40B4-BE49-F238E27FC236}">
                <a16:creationId xmlns:a16="http://schemas.microsoft.com/office/drawing/2014/main" id="{E79574F8-C6EB-B6A8-C953-31E475F233CA}"/>
              </a:ext>
            </a:extLst>
          </p:cNvPr>
          <p:cNvSpPr/>
          <p:nvPr/>
        </p:nvSpPr>
        <p:spPr>
          <a:xfrm>
            <a:off x="6998648" y="2396701"/>
            <a:ext cx="16276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UGC-Buster 识别并剔除用户内容、LLM 自动加固工具指令；漏洞已负责任通报 8 款插件</a:t>
            </a:r>
            <a:endParaRPr lang="en-US" sz="1000" dirty="0"/>
          </a:p>
        </p:txBody>
      </p:sp>
      <p:sp>
        <p:nvSpPr>
          <p:cNvPr id="61" name="Shape 37">
            <a:extLst>
              <a:ext uri="{FF2B5EF4-FFF2-40B4-BE49-F238E27FC236}">
                <a16:creationId xmlns:a16="http://schemas.microsoft.com/office/drawing/2014/main" id="{14F86846-3E25-D3B4-1A7F-C5F9B55F3CB5}"/>
              </a:ext>
            </a:extLst>
          </p:cNvPr>
          <p:cNvSpPr/>
          <p:nvPr/>
        </p:nvSpPr>
        <p:spPr>
          <a:xfrm>
            <a:off x="323528" y="4079197"/>
            <a:ext cx="8430768" cy="731520"/>
          </a:xfrm>
          <a:prstGeom prst="roundRect">
            <a:avLst>
              <a:gd name="adj" fmla="val 7500"/>
            </a:avLst>
          </a:prstGeom>
          <a:solidFill>
            <a:srgbClr val="16324F"/>
          </a:solidFill>
          <a:ln/>
        </p:spPr>
      </p:sp>
      <p:sp>
        <p:nvSpPr>
          <p:cNvPr id="62" name="Shape 38">
            <a:extLst>
              <a:ext uri="{FF2B5EF4-FFF2-40B4-BE49-F238E27FC236}">
                <a16:creationId xmlns:a16="http://schemas.microsoft.com/office/drawing/2014/main" id="{9034269D-C949-357C-DE7A-CE7EE95BBF07}"/>
              </a:ext>
            </a:extLst>
          </p:cNvPr>
          <p:cNvSpPr/>
          <p:nvPr/>
        </p:nvSpPr>
        <p:spPr>
          <a:xfrm>
            <a:off x="506408" y="4280365"/>
            <a:ext cx="969264" cy="329184"/>
          </a:xfrm>
          <a:prstGeom prst="roundRect">
            <a:avLst>
              <a:gd name="adj" fmla="val 50000"/>
            </a:avLst>
          </a:prstGeom>
          <a:solidFill>
            <a:srgbClr val="2C5078"/>
          </a:solidFill>
          <a:ln/>
        </p:spPr>
      </p:sp>
      <p:sp>
        <p:nvSpPr>
          <p:cNvPr id="63" name="Text 39">
            <a:extLst>
              <a:ext uri="{FF2B5EF4-FFF2-40B4-BE49-F238E27FC236}">
                <a16:creationId xmlns:a16="http://schemas.microsoft.com/office/drawing/2014/main" id="{1DADC7EF-5FAB-DF38-562A-DD99C7A46190}"/>
              </a:ext>
            </a:extLst>
          </p:cNvPr>
          <p:cNvSpPr/>
          <p:nvPr/>
        </p:nvSpPr>
        <p:spPr>
          <a:xfrm>
            <a:off x="506408" y="4280365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实际意义</a:t>
            </a:r>
            <a:endParaRPr lang="en-US" sz="1100" dirty="0"/>
          </a:p>
        </p:txBody>
      </p:sp>
      <p:sp>
        <p:nvSpPr>
          <p:cNvPr id="64" name="Text 40">
            <a:extLst>
              <a:ext uri="{FF2B5EF4-FFF2-40B4-BE49-F238E27FC236}">
                <a16:creationId xmlns:a16="http://schemas.microsoft.com/office/drawing/2014/main" id="{00CF2CF7-2305-DCAA-3068-DF51067703E8}"/>
              </a:ext>
            </a:extLst>
          </p:cNvPr>
          <p:cNvSpPr/>
          <p:nvPr/>
        </p:nvSpPr>
        <p:spPr>
          <a:xfrm>
            <a:off x="1695128" y="4079197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7EA8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网站运营方  </a:t>
            </a: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 RAG 客服前先加固</a:t>
            </a:r>
            <a:endParaRPr lang="en-US" sz="950" dirty="0"/>
          </a:p>
        </p:txBody>
      </p:sp>
      <p:sp>
        <p:nvSpPr>
          <p:cNvPr id="65" name="Text 41">
            <a:extLst>
              <a:ext uri="{FF2B5EF4-FFF2-40B4-BE49-F238E27FC236}">
                <a16:creationId xmlns:a16="http://schemas.microsoft.com/office/drawing/2014/main" id="{3361954A-9145-6900-9178-69D5AC9006D4}"/>
              </a:ext>
            </a:extLst>
          </p:cNvPr>
          <p:cNvSpPr/>
          <p:nvPr/>
        </p:nvSpPr>
        <p:spPr>
          <a:xfrm>
            <a:off x="4035992" y="4079197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7EA8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平台方  </a:t>
            </a: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角色信任是架构级问题</a:t>
            </a:r>
            <a:endParaRPr lang="en-US" sz="950" dirty="0"/>
          </a:p>
        </p:txBody>
      </p:sp>
      <p:sp>
        <p:nvSpPr>
          <p:cNvPr id="66" name="Text 42">
            <a:extLst>
              <a:ext uri="{FF2B5EF4-FFF2-40B4-BE49-F238E27FC236}">
                <a16:creationId xmlns:a16="http://schemas.microsoft.com/office/drawing/2014/main" id="{FC52D381-AA20-9B64-16F4-7E2CFCDBB84A}"/>
              </a:ext>
            </a:extLst>
          </p:cNvPr>
          <p:cNvSpPr/>
          <p:nvPr/>
        </p:nvSpPr>
        <p:spPr>
          <a:xfrm>
            <a:off x="6376856" y="4079197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7EA8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研究社区  </a:t>
            </a: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首个系统测量范式与数据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484446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EB08E38-7850-0D2E-2820-DBB261A25866}"/>
              </a:ext>
            </a:extLst>
          </p:cNvPr>
          <p:cNvSpPr/>
          <p:nvPr/>
        </p:nvSpPr>
        <p:spPr>
          <a:xfrm>
            <a:off x="0" y="27063"/>
            <a:ext cx="9144000" cy="687167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37C5B966-E0BD-FDAE-3F3F-4376A8830453}"/>
              </a:ext>
            </a:extLst>
          </p:cNvPr>
          <p:cNvSpPr txBox="1">
            <a:spLocks/>
          </p:cNvSpPr>
          <p:nvPr/>
        </p:nvSpPr>
        <p:spPr>
          <a:xfrm>
            <a:off x="323528" y="191630"/>
            <a:ext cx="1975928" cy="35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53B0551C-207E-2F8C-D9F8-9BC55956426D}"/>
              </a:ext>
            </a:extLst>
          </p:cNvPr>
          <p:cNvSpPr/>
          <p:nvPr/>
        </p:nvSpPr>
        <p:spPr>
          <a:xfrm>
            <a:off x="323528" y="89270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核心贡献与不足</a:t>
            </a:r>
            <a:endParaRPr lang="en-US" sz="240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7977387C-31E1-A6A2-8CC8-8B8B23F777DD}"/>
              </a:ext>
            </a:extLst>
          </p:cNvPr>
          <p:cNvSpPr/>
          <p:nvPr/>
        </p:nvSpPr>
        <p:spPr>
          <a:xfrm>
            <a:off x="323528" y="1605934"/>
            <a:ext cx="402336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83755959-27C5-8D88-4D92-C6D1C7F328A2}"/>
              </a:ext>
            </a:extLst>
          </p:cNvPr>
          <p:cNvSpPr/>
          <p:nvPr/>
        </p:nvSpPr>
        <p:spPr>
          <a:xfrm>
            <a:off x="323528" y="1605934"/>
            <a:ext cx="4023360" cy="82296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1D21E9C-6FE0-1251-1F5B-364C2ED65B71}"/>
              </a:ext>
            </a:extLst>
          </p:cNvPr>
          <p:cNvSpPr/>
          <p:nvPr/>
        </p:nvSpPr>
        <p:spPr>
          <a:xfrm>
            <a:off x="542984" y="177052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核心贡献</a:t>
            </a:r>
            <a:endParaRPr lang="en-US" sz="13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9FE19313-9084-C39C-DC2A-8881FBF44A7C}"/>
              </a:ext>
            </a:extLst>
          </p:cNvPr>
          <p:cNvSpPr/>
          <p:nvPr/>
        </p:nvSpPr>
        <p:spPr>
          <a:xfrm>
            <a:off x="542984" y="217286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CAE9F6A7-53E0-33F2-1670-78534D060DBA}"/>
              </a:ext>
            </a:extLst>
          </p:cNvPr>
          <p:cNvSpPr/>
          <p:nvPr/>
        </p:nvSpPr>
        <p:spPr>
          <a:xfrm>
            <a:off x="963608" y="220029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首次系统定义威胁</a:t>
            </a:r>
            <a:endParaRPr lang="en-US" sz="11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4CEB75D8-4297-184C-09A5-260738AFCBA7}"/>
              </a:ext>
            </a:extLst>
          </p:cNvPr>
          <p:cNvSpPr/>
          <p:nvPr/>
        </p:nvSpPr>
        <p:spPr>
          <a:xfrm>
            <a:off x="963608" y="240146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提出第三方 AI 插件「角色伪装提示注入」威胁模型，给出 SPE / TaH / ToH 三类任务的可复用评测范式</a:t>
            </a:r>
            <a:endParaRPr lang="en-US" sz="10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C0BE8CD4-FEBD-EA7D-904D-DD79C303291A}"/>
              </a:ext>
            </a:extLst>
          </p:cNvPr>
          <p:cNvSpPr/>
          <p:nvPr/>
        </p:nvSpPr>
        <p:spPr>
          <a:xfrm>
            <a:off x="542984" y="299582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50C63FB8-CF15-8B4B-6908-9C874F59F9FA}"/>
              </a:ext>
            </a:extLst>
          </p:cNvPr>
          <p:cNvSpPr/>
          <p:nvPr/>
        </p:nvSpPr>
        <p:spPr>
          <a:xfrm>
            <a:off x="963608" y="302325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大规模量化证据</a:t>
            </a:r>
            <a:endParaRPr lang="en-US" sz="11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49278313-418A-5279-7525-C8C483ACD5FE}"/>
              </a:ext>
            </a:extLst>
          </p:cNvPr>
          <p:cNvSpPr/>
          <p:nvPr/>
        </p:nvSpPr>
        <p:spPr>
          <a:xfrm>
            <a:off x="963608" y="322442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款 LLM × 3 角色 × 3 档加固全因子实验，叠加 300 站点实测；73% 站点可注入，结论跨模型一致</a:t>
            </a:r>
            <a:endParaRPr lang="en-US" sz="10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3201F9CF-DFA0-6C97-2CE3-502B40B7075B}"/>
              </a:ext>
            </a:extLst>
          </p:cNvPr>
          <p:cNvSpPr/>
          <p:nvPr/>
        </p:nvSpPr>
        <p:spPr>
          <a:xfrm>
            <a:off x="542984" y="381878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DE0E5D27-E7FC-105D-42BB-7D6832CCCCBD}"/>
              </a:ext>
            </a:extLst>
          </p:cNvPr>
          <p:cNvSpPr/>
          <p:nvPr/>
        </p:nvSpPr>
        <p:spPr>
          <a:xfrm>
            <a:off x="963608" y="384621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防御落地与披露闭环</a:t>
            </a:r>
            <a:endParaRPr lang="en-US" sz="1100" dirty="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5464B3EF-AEB1-C800-8FDD-4CA61702B46B}"/>
              </a:ext>
            </a:extLst>
          </p:cNvPr>
          <p:cNvSpPr/>
          <p:nvPr/>
        </p:nvSpPr>
        <p:spPr>
          <a:xfrm>
            <a:off x="963608" y="404738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UGC-Buster（$0.05/页）与指令加固（成功率 ↓40–75%），并向 8 款插件完成负责任披露</a:t>
            </a:r>
            <a:endParaRPr lang="en-US" sz="1000" dirty="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632CEDE7-CD47-DDF6-315A-247D371C9291}"/>
              </a:ext>
            </a:extLst>
          </p:cNvPr>
          <p:cNvSpPr/>
          <p:nvPr/>
        </p:nvSpPr>
        <p:spPr>
          <a:xfrm>
            <a:off x="4529768" y="1605934"/>
            <a:ext cx="402336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30" name="Shape 19">
            <a:extLst>
              <a:ext uri="{FF2B5EF4-FFF2-40B4-BE49-F238E27FC236}">
                <a16:creationId xmlns:a16="http://schemas.microsoft.com/office/drawing/2014/main" id="{C0BC034A-027A-2E1A-208E-24F2DA3ED5F2}"/>
              </a:ext>
            </a:extLst>
          </p:cNvPr>
          <p:cNvSpPr/>
          <p:nvPr/>
        </p:nvSpPr>
        <p:spPr>
          <a:xfrm>
            <a:off x="4529768" y="1605934"/>
            <a:ext cx="4023360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F60541EE-35FB-C538-147F-EB0684EC41AD}"/>
              </a:ext>
            </a:extLst>
          </p:cNvPr>
          <p:cNvSpPr/>
          <p:nvPr/>
        </p:nvSpPr>
        <p:spPr>
          <a:xfrm>
            <a:off x="4749224" y="177052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不足与边界</a:t>
            </a:r>
            <a:endParaRPr lang="en-US" sz="1300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7170F811-DF9D-5460-4208-7AD3D0D5909F}"/>
              </a:ext>
            </a:extLst>
          </p:cNvPr>
          <p:cNvSpPr/>
          <p:nvPr/>
        </p:nvSpPr>
        <p:spPr>
          <a:xfrm>
            <a:off x="4749224" y="217286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9BEEBAD5-7A18-8D12-07B5-F9EF04145F1D}"/>
              </a:ext>
            </a:extLst>
          </p:cNvPr>
          <p:cNvSpPr/>
          <p:nvPr/>
        </p:nvSpPr>
        <p:spPr>
          <a:xfrm>
            <a:off x="5169848" y="217286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时点性测量</a:t>
            </a:r>
            <a:endParaRPr lang="en-US" sz="1100" dirty="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6CD62E90-F521-34CC-6EE3-4711482A90DE}"/>
              </a:ext>
            </a:extLst>
          </p:cNvPr>
          <p:cNvSpPr/>
          <p:nvPr/>
        </p:nvSpPr>
        <p:spPr>
          <a:xfrm>
            <a:off x="5169848" y="240146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生态快速演变、插件行为黑盒，结果随模型与产品更新漂移，长期复测与逐点归因困难</a:t>
            </a:r>
            <a:endParaRPr lang="en-US" sz="850" dirty="0"/>
          </a:p>
        </p:txBody>
      </p:sp>
      <p:sp>
        <p:nvSpPr>
          <p:cNvPr id="37" name="Text 24">
            <a:extLst>
              <a:ext uri="{FF2B5EF4-FFF2-40B4-BE49-F238E27FC236}">
                <a16:creationId xmlns:a16="http://schemas.microsoft.com/office/drawing/2014/main" id="{C5D9125B-113B-342F-AF3B-0778EF6FDACD}"/>
              </a:ext>
            </a:extLst>
          </p:cNvPr>
          <p:cNvSpPr/>
          <p:nvPr/>
        </p:nvSpPr>
        <p:spPr>
          <a:xfrm>
            <a:off x="4749224" y="299582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38" name="Text 25">
            <a:extLst>
              <a:ext uri="{FF2B5EF4-FFF2-40B4-BE49-F238E27FC236}">
                <a16:creationId xmlns:a16="http://schemas.microsoft.com/office/drawing/2014/main" id="{27BAC2ED-EADE-7596-2E5B-5D51B255F8A1}"/>
              </a:ext>
            </a:extLst>
          </p:cNvPr>
          <p:cNvSpPr/>
          <p:nvPr/>
        </p:nvSpPr>
        <p:spPr>
          <a:xfrm>
            <a:off x="5169848" y="299582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危害停留在 PoC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74295D4B-5107-4134-19C4-32AEF485174B}"/>
              </a:ext>
            </a:extLst>
          </p:cNvPr>
          <p:cNvSpPr/>
          <p:nvPr/>
        </p:nvSpPr>
        <p:spPr>
          <a:xfrm>
            <a:off x="5169848" y="322442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任务聚焦信息泄露与内容操纵，对真实经济损失（如交易操纵）的实际影响未深入验证</a:t>
            </a:r>
            <a:endParaRPr lang="en-US" sz="850" dirty="0"/>
          </a:p>
        </p:txBody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05BDA321-3EAE-99EF-3B80-2A08B3DB7C3F}"/>
              </a:ext>
            </a:extLst>
          </p:cNvPr>
          <p:cNvSpPr/>
          <p:nvPr/>
        </p:nvSpPr>
        <p:spPr>
          <a:xfrm>
            <a:off x="4749224" y="381878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DB590C64-4F83-041F-46AC-6660DCC20726}"/>
              </a:ext>
            </a:extLst>
          </p:cNvPr>
          <p:cNvSpPr/>
          <p:nvPr/>
        </p:nvSpPr>
        <p:spPr>
          <a:xfrm>
            <a:off x="5169848" y="381878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防御未经自适应检验</a:t>
            </a:r>
            <a:endParaRPr lang="en-US" sz="1100" dirty="0"/>
          </a:p>
        </p:txBody>
      </p:sp>
      <p:sp>
        <p:nvSpPr>
          <p:cNvPr id="42" name="Text 29">
            <a:extLst>
              <a:ext uri="{FF2B5EF4-FFF2-40B4-BE49-F238E27FC236}">
                <a16:creationId xmlns:a16="http://schemas.microsoft.com/office/drawing/2014/main" id="{C31388AD-EE59-3A04-3685-BA50DA93A519}"/>
              </a:ext>
            </a:extLst>
          </p:cNvPr>
          <p:cNvSpPr/>
          <p:nvPr/>
        </p:nvSpPr>
        <p:spPr>
          <a:xfrm>
            <a:off x="5169848" y="404738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UGC-Buster 属输入侧启发式过滤，对针对性绕过输入的鲁棒性未系统评估，且存在分布偏移退化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174705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EB08E38-7850-0D2E-2820-DBB261A25866}"/>
              </a:ext>
            </a:extLst>
          </p:cNvPr>
          <p:cNvSpPr/>
          <p:nvPr/>
        </p:nvSpPr>
        <p:spPr>
          <a:xfrm>
            <a:off x="0" y="27063"/>
            <a:ext cx="9144000" cy="687167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37C5B966-E0BD-FDAE-3F3F-4376A8830453}"/>
              </a:ext>
            </a:extLst>
          </p:cNvPr>
          <p:cNvSpPr txBox="1">
            <a:spLocks/>
          </p:cNvSpPr>
          <p:nvPr/>
        </p:nvSpPr>
        <p:spPr>
          <a:xfrm>
            <a:off x="323528" y="191630"/>
            <a:ext cx="1975928" cy="35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98A1CA95-C5F6-88B7-CCB9-1A87C2865C54}"/>
              </a:ext>
            </a:extLst>
          </p:cNvPr>
          <p:cNvSpPr/>
          <p:nvPr/>
        </p:nvSpPr>
        <p:spPr>
          <a:xfrm>
            <a:off x="323528" y="878797"/>
            <a:ext cx="115212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</a:t>
            </a:r>
            <a:endParaRPr lang="en-US" sz="240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BFE431E-C8DE-9DF7-2C26-C3DB6F30CB38}"/>
              </a:ext>
            </a:extLst>
          </p:cNvPr>
          <p:cNvSpPr/>
          <p:nvPr/>
        </p:nvSpPr>
        <p:spPr>
          <a:xfrm>
            <a:off x="1641088" y="1490486"/>
            <a:ext cx="6387296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B8C0170-804B-0266-52E6-188422A4694A}"/>
              </a:ext>
            </a:extLst>
          </p:cNvPr>
          <p:cNvSpPr/>
          <p:nvPr/>
        </p:nvSpPr>
        <p:spPr>
          <a:xfrm>
            <a:off x="1805680" y="1645934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9352C08-B291-D135-8080-A2905D6642CA}"/>
              </a:ext>
            </a:extLst>
          </p:cNvPr>
          <p:cNvSpPr/>
          <p:nvPr/>
        </p:nvSpPr>
        <p:spPr>
          <a:xfrm>
            <a:off x="1805680" y="164593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4DC4A3A-548E-96C5-5917-7DB4E7B40C12}"/>
              </a:ext>
            </a:extLst>
          </p:cNvPr>
          <p:cNvSpPr/>
          <p:nvPr/>
        </p:nvSpPr>
        <p:spPr>
          <a:xfrm>
            <a:off x="2299456" y="156363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选题：旧场景 </a:t>
            </a:r>
            <a:r>
              <a:rPr lang="en-US" sz="12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新风险</a:t>
            </a:r>
            <a:r>
              <a:rPr lang="zh-CN" altLang="en-US" sz="1200" b="1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具有探索意义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5978597-8860-1B5D-6D44-47F381231F35}"/>
              </a:ext>
            </a:extLst>
          </p:cNvPr>
          <p:cNvSpPr/>
          <p:nvPr/>
        </p:nvSpPr>
        <p:spPr>
          <a:xfrm>
            <a:off x="2299456" y="1819670"/>
            <a:ext cx="5728928" cy="31089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插件早已流行却因「不直接接触用户」被忽视；从真实生态的盲区切入，天然获得选题新颖性。</a:t>
            </a: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BB89DDD-EFCB-E134-5FED-DD0327F91CD3}"/>
              </a:ext>
            </a:extLst>
          </p:cNvPr>
          <p:cNvSpPr/>
          <p:nvPr/>
        </p:nvSpPr>
        <p:spPr>
          <a:xfrm>
            <a:off x="1641088" y="2647175"/>
            <a:ext cx="6387296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D002055-2AF1-A942-201A-86C4D74CB976}"/>
              </a:ext>
            </a:extLst>
          </p:cNvPr>
          <p:cNvSpPr/>
          <p:nvPr/>
        </p:nvSpPr>
        <p:spPr>
          <a:xfrm>
            <a:off x="1805680" y="2802623"/>
            <a:ext cx="365760" cy="36576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2B8B4C8-D01C-39D2-913C-9A2E0A11E028}"/>
              </a:ext>
            </a:extLst>
          </p:cNvPr>
          <p:cNvSpPr/>
          <p:nvPr/>
        </p:nvSpPr>
        <p:spPr>
          <a:xfrm>
            <a:off x="1805680" y="280262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E539718C-2101-F5F8-7340-9005C884FEE7}"/>
              </a:ext>
            </a:extLst>
          </p:cNvPr>
          <p:cNvSpPr/>
          <p:nvPr/>
        </p:nvSpPr>
        <p:spPr>
          <a:xfrm>
            <a:off x="2299456" y="2720327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方法：正交化指标体系让测量可信</a:t>
            </a:r>
            <a:endParaRPr lang="en-US" sz="120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E170F5EE-A65E-8FA4-F624-428E976F59AB}"/>
              </a:ext>
            </a:extLst>
          </p:cNvPr>
          <p:cNvSpPr/>
          <p:nvPr/>
        </p:nvSpPr>
        <p:spPr>
          <a:xfrm>
            <a:off x="2299456" y="2976359"/>
            <a:ext cx="5728928" cy="31089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× 角色 × 加固档的全因子设计，叠加「模拟器复刻真实站点」的伦理合规做法，值得借鉴。</a:t>
            </a:r>
            <a:endParaRPr lang="en-US" sz="1000" dirty="0"/>
          </a:p>
        </p:txBody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BE1D44E0-F00D-AF3E-5B01-0A93F5753E71}"/>
              </a:ext>
            </a:extLst>
          </p:cNvPr>
          <p:cNvSpPr/>
          <p:nvPr/>
        </p:nvSpPr>
        <p:spPr>
          <a:xfrm>
            <a:off x="1641088" y="3849638"/>
            <a:ext cx="6387296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51" name="Shape 26">
            <a:extLst>
              <a:ext uri="{FF2B5EF4-FFF2-40B4-BE49-F238E27FC236}">
                <a16:creationId xmlns:a16="http://schemas.microsoft.com/office/drawing/2014/main" id="{DED8610A-DF45-C483-E007-1D615C26B1E1}"/>
              </a:ext>
            </a:extLst>
          </p:cNvPr>
          <p:cNvSpPr/>
          <p:nvPr/>
        </p:nvSpPr>
        <p:spPr>
          <a:xfrm>
            <a:off x="1805680" y="4005086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FCF0447F-94E7-0C65-877F-0B318C4390D8}"/>
              </a:ext>
            </a:extLst>
          </p:cNvPr>
          <p:cNvSpPr/>
          <p:nvPr/>
        </p:nvSpPr>
        <p:spPr>
          <a:xfrm>
            <a:off x="1805680" y="400508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0312AB52-4B11-327A-9FB9-35C8A13A01C1}"/>
              </a:ext>
            </a:extLst>
          </p:cNvPr>
          <p:cNvSpPr/>
          <p:nvPr/>
        </p:nvSpPr>
        <p:spPr>
          <a:xfrm>
            <a:off x="2299456" y="392279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价值：让防御可落地、让披露成闭环</a:t>
            </a:r>
            <a:endParaRPr lang="en-US" sz="1200" dirty="0"/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FC03CF33-868E-C46C-8B31-34323B92D82B}"/>
              </a:ext>
            </a:extLst>
          </p:cNvPr>
          <p:cNvSpPr/>
          <p:nvPr/>
        </p:nvSpPr>
        <p:spPr>
          <a:xfrm>
            <a:off x="2299456" y="4178822"/>
            <a:ext cx="5728928" cy="31089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不只揭示风险，还让修复成本足够低、让责任方找得到人，研究才真正推动生态改变。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2552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370844"/>
            <a:ext cx="9144000" cy="2376264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8"/>
          <p:cNvSpPr txBox="1"/>
          <p:nvPr/>
        </p:nvSpPr>
        <p:spPr>
          <a:xfrm>
            <a:off x="2519669" y="2811584"/>
            <a:ext cx="482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kern="0" spc="20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for Listening · Q &amp; A</a:t>
            </a:r>
            <a:endParaRPr lang="en-US" altLang="zh-CN" sz="2000" dirty="0"/>
          </a:p>
        </p:txBody>
      </p:sp>
      <p:sp>
        <p:nvSpPr>
          <p:cNvPr id="5" name="文本框 11"/>
          <p:cNvSpPr txBox="1"/>
          <p:nvPr/>
        </p:nvSpPr>
        <p:spPr>
          <a:xfrm>
            <a:off x="1547664" y="1635646"/>
            <a:ext cx="67685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谢谢聆听，请您指导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3175</TotalTime>
  <Words>1641</Words>
  <Application>Microsoft Office PowerPoint</Application>
  <PresentationFormat>全屏显示(16:9)</PresentationFormat>
  <Paragraphs>363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时尚中黑简体</vt:lpstr>
      <vt:lpstr>微软雅黑</vt:lpstr>
      <vt:lpstr>微软雅黑</vt:lpstr>
      <vt:lpstr>Arial</vt:lpstr>
      <vt:lpstr>Calibri</vt:lpstr>
      <vt:lpstr>Impact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PPTS</dc:title>
  <dc:subject>PPTS</dc:subject>
  <dc:creator>PPTS</dc:creator>
  <cp:keywords>PPTS</cp:keywords>
  <dc:description>PPTS</dc:description>
  <cp:lastModifiedBy>haotian HU</cp:lastModifiedBy>
  <cp:revision>158</cp:revision>
  <dcterms:created xsi:type="dcterms:W3CDTF">2014-09-01T14:19:00Z</dcterms:created>
  <dcterms:modified xsi:type="dcterms:W3CDTF">2026-10-01T17:17:09Z</dcterms:modified>
  <cp:category>PPTS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