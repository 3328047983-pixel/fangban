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124" r:id="rId3"/>
    <p:sldId id="1127" r:id="rId5"/>
    <p:sldId id="1126" r:id="rId6"/>
    <p:sldId id="1128" r:id="rId7"/>
    <p:sldId id="1129" r:id="rId8"/>
    <p:sldId id="1130" r:id="rId9"/>
    <p:sldId id="1131" r:id="rId10"/>
    <p:sldId id="1132" r:id="rId11"/>
    <p:sldId id="1134" r:id="rId12"/>
    <p:sldId id="1133" r:id="rId13"/>
    <p:sldId id="1135" r:id="rId14"/>
    <p:sldId id="1136" r:id="rId15"/>
    <p:sldId id="1138" r:id="rId16"/>
    <p:sldId id="1137" r:id="rId17"/>
    <p:sldId id="1140" r:id="rId18"/>
    <p:sldId id="1141" r:id="rId19"/>
    <p:sldId id="1142" r:id="rId20"/>
    <p:sldId id="1144" r:id="rId21"/>
    <p:sldId id="1143" r:id="rId22"/>
    <p:sldId id="1145" r:id="rId23"/>
    <p:sldId id="1146" r:id="rId24"/>
    <p:sldId id="1147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000000"/>
    <a:srgbClr val="FFFFFF"/>
    <a:srgbClr val="8B0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666" autoAdjust="0"/>
  </p:normalViewPr>
  <p:slideViewPr>
    <p:cSldViewPr snapToGrid="0" showGuides="1">
      <p:cViewPr varScale="1">
        <p:scale>
          <a:sx n="134" d="100"/>
          <a:sy n="134" d="100"/>
        </p:scale>
        <p:origin x="1300" y="100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EBDE8-BFE2-4300-BB10-C6855E085E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59B3F-F21B-4FC9-BBA9-431A978F65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更新的逻辑暂时跳过，要是缺时长再</a:t>
            </a:r>
            <a:r>
              <a:rPr lang="zh-CN" altLang="en-US"/>
              <a:t>补上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53841"/>
          </a:xfrm>
        </p:spPr>
        <p:txBody>
          <a:bodyPr anchor="b">
            <a:normAutofit/>
          </a:bodyPr>
          <a:lstStyle>
            <a:lvl1pPr algn="ctr">
              <a:defRPr sz="54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059084"/>
            <a:ext cx="9144000" cy="2198716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3845-A28E-4286-ADD0-6B6E5039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8778-6878-4E7F-8804-30B4CC44672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169" y="269380"/>
            <a:ext cx="2156048" cy="6074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022466" cy="8290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4" cstate="hqprint"/>
          <a:srcRect/>
          <a:stretch>
            <a:fillRect/>
          </a:stretch>
        </p:blipFill>
        <p:spPr>
          <a:xfrm rot="10800000">
            <a:off x="11353799" y="6220524"/>
            <a:ext cx="838200" cy="637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7664" y="297312"/>
            <a:ext cx="11416672" cy="1021358"/>
          </a:xfrm>
        </p:spPr>
        <p:txBody>
          <a:bodyPr>
            <a:normAutofit/>
          </a:bodyPr>
          <a:lstStyle>
            <a:lvl1pPr>
              <a:defRPr sz="4000" b="1" baseline="0">
                <a:latin typeface="Garamond" panose="02020404030301010803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7664" y="1307306"/>
            <a:ext cx="11416672" cy="4869657"/>
          </a:xfrm>
        </p:spPr>
        <p:txBody>
          <a:bodyPr/>
          <a:lstStyle>
            <a:lvl1pPr>
              <a:defRPr baseline="0">
                <a:latin typeface="Garamond" panose="02020404030301010803" pitchFamily="18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ea typeface="+mn-ea"/>
              </a:defRPr>
            </a:lvl3pPr>
            <a:lvl4pPr>
              <a:defRPr baseline="0"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r>
              <a:rPr lang="en-US" altLang="zh-CN" dirty="0"/>
              <a:t>Subtitle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Second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Third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r>
              <a:rPr lang="en-US" altLang="zh-CN" dirty="0"/>
              <a:t>Fourth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r>
              <a:rPr lang="en-US" altLang="zh-CN" dirty="0"/>
              <a:t>Fifth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3845-A28E-4286-ADD0-6B6E5039545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8778-6878-4E7F-8804-30B4CC446728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37277" y="1168321"/>
            <a:ext cx="11345731" cy="45719"/>
          </a:xfrm>
          <a:prstGeom prst="rect">
            <a:avLst/>
          </a:prstGeom>
          <a:gradFill flip="none" rotWithShape="1">
            <a:gsLst>
              <a:gs pos="0">
                <a:srgbClr val="8B0012">
                  <a:lumMod val="100000"/>
                  <a:alpha val="40000"/>
                </a:srgbClr>
              </a:gs>
              <a:gs pos="100000">
                <a:srgbClr val="8B0012"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0926459" y="385926"/>
            <a:ext cx="854684" cy="844130"/>
            <a:chOff x="10803799" y="316407"/>
            <a:chExt cx="999209" cy="999209"/>
          </a:xfrm>
        </p:grpSpPr>
        <p:sp>
          <p:nvSpPr>
            <p:cNvPr id="9" name="椭圆 8"/>
            <p:cNvSpPr/>
            <p:nvPr userDrawn="1"/>
          </p:nvSpPr>
          <p:spPr>
            <a:xfrm>
              <a:off x="10803799" y="316407"/>
              <a:ext cx="999209" cy="99920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31793" y="353732"/>
              <a:ext cx="940329" cy="940329"/>
            </a:xfrm>
            <a:prstGeom prst="rect">
              <a:avLst/>
            </a:prstGeom>
            <a:noFill/>
          </p:spPr>
        </p:pic>
      </p:grpSp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hqprint"/>
          <a:srcRect/>
          <a:stretch>
            <a:fillRect/>
          </a:stretch>
        </p:blipFill>
        <p:spPr>
          <a:xfrm>
            <a:off x="1" y="1"/>
            <a:ext cx="756458" cy="61338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4" cstate="hqprint"/>
          <a:srcRect/>
          <a:stretch>
            <a:fillRect/>
          </a:stretch>
        </p:blipFill>
        <p:spPr>
          <a:xfrm rot="10800000">
            <a:off x="11435544" y="6287261"/>
            <a:ext cx="756456" cy="5753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7664" y="1318670"/>
            <a:ext cx="5632136" cy="4858293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99" y="1318670"/>
            <a:ext cx="5632135" cy="485829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3845-A28E-4286-ADD0-6B6E5039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8778-6878-4E7F-8804-30B4CC446728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387664" y="297312"/>
            <a:ext cx="11416672" cy="1021358"/>
          </a:xfrm>
        </p:spPr>
        <p:txBody>
          <a:bodyPr>
            <a:normAutofit/>
          </a:bodyPr>
          <a:lstStyle>
            <a:lvl1pPr>
              <a:defRPr sz="4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437277" y="1168321"/>
            <a:ext cx="11345731" cy="45719"/>
          </a:xfrm>
          <a:prstGeom prst="rect">
            <a:avLst/>
          </a:prstGeom>
          <a:gradFill flip="none" rotWithShape="1">
            <a:gsLst>
              <a:gs pos="0">
                <a:srgbClr val="8B0012">
                  <a:lumMod val="100000"/>
                  <a:alpha val="40000"/>
                </a:srgbClr>
              </a:gs>
              <a:gs pos="100000">
                <a:srgbClr val="8B0012"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10926459" y="385926"/>
            <a:ext cx="854684" cy="844130"/>
            <a:chOff x="10803799" y="316407"/>
            <a:chExt cx="999209" cy="999209"/>
          </a:xfrm>
        </p:grpSpPr>
        <p:sp>
          <p:nvSpPr>
            <p:cNvPr id="11" name="椭圆 10"/>
            <p:cNvSpPr/>
            <p:nvPr userDrawn="1"/>
          </p:nvSpPr>
          <p:spPr>
            <a:xfrm>
              <a:off x="10803799" y="316407"/>
              <a:ext cx="999209" cy="99920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31793" y="353732"/>
              <a:ext cx="940329" cy="940329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3845-A28E-4286-ADD0-6B6E5039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8778-6878-4E7F-8804-30B4CC4467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3845-A28E-4286-ADD0-6B6E5039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8778-6878-4E7F-8804-30B4CC446728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44193"/>
            <a:ext cx="10515600" cy="1044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543576"/>
            <a:ext cx="10515600" cy="4633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63845-A28E-4286-ADD0-6B6E5039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A8778-6878-4E7F-8804-30B4CC4467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Ø"/>
        <a:defRPr sz="32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u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e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32523"/>
            <a:ext cx="9144000" cy="1753841"/>
          </a:xfrm>
        </p:spPr>
        <p:txBody>
          <a:bodyPr>
            <a:normAutofit/>
          </a:bodyPr>
          <a:p>
            <a:pPr algn="l"/>
            <a:r>
              <a:rPr lang="en-US" altLang="zh-CN"/>
              <a:t>The Last-Level Branch Predictor Revisited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57484"/>
            <a:ext cx="9144000" cy="2198716"/>
          </a:xfrm>
        </p:spPr>
        <p:txBody>
          <a:bodyPr/>
          <a:p>
            <a:pPr algn="l"/>
            <a:r>
              <a:rPr lang="zh-CN" altLang="en-US">
                <a:sym typeface="+mn-ea"/>
              </a:rPr>
              <a:t>再探末级分支预测器</a:t>
            </a:r>
            <a:endParaRPr lang="zh-CN" altLang="en-US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4000" y="4548505"/>
            <a:ext cx="4401820" cy="1410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24000" y="3626485"/>
            <a:ext cx="60960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David Schall,Maria Dura ckova,Boris Grot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HPCA,2026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报告人：丁竹涵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指导老师：刘先华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2026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月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日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387664" y="1897790"/>
            <a:ext cx="5632136" cy="4858293"/>
          </a:xfrm>
        </p:spPr>
        <p:txBody>
          <a:bodyPr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01 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研究背景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02 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发展脉络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03  LLBP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6172199" y="1897790"/>
            <a:ext cx="5632135" cy="4858293"/>
          </a:xfrm>
        </p:spPr>
        <p:txBody>
          <a:bodyPr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04  LLBP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性能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瓶颈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05  LLBP-X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06 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总结与展望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目录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研究背景</a:t>
            </a:r>
            <a:r>
              <a:rPr lang="en-US" altLang="zh-CN"/>
              <a:t>——</a:t>
            </a:r>
            <a:r>
              <a:rPr lang="zh-CN" altLang="en-US"/>
              <a:t>分支预测的作用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/>
              <a:t>·</a:t>
            </a:r>
            <a:r>
              <a:rPr lang="zh-CN" altLang="en-US" sz="2400"/>
              <a:t>分支预测器的重要性</a:t>
            </a: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现代高性能处理器：乱序超标量，超长流水线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一次预测错误（</a:t>
            </a:r>
            <a:r>
              <a:rPr lang="en-US" altLang="zh-CN" sz="2400"/>
              <a:t>mispredicton</a:t>
            </a:r>
            <a:r>
              <a:rPr lang="zh-CN" altLang="en-US" sz="2400"/>
              <a:t>）会导致流水线清空，浪费数十个周期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r>
              <a:rPr lang="en-US" altLang="zh-CN" sz="2400"/>
              <a:t>·</a:t>
            </a:r>
            <a:r>
              <a:rPr lang="zh-CN" altLang="en-US" sz="2400"/>
              <a:t>服务器负载下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指令工作集快速增长</a:t>
            </a:r>
            <a:r>
              <a:rPr lang="en-US" altLang="zh-CN" sz="2400"/>
              <a:t> → </a:t>
            </a:r>
            <a:r>
              <a:rPr lang="zh-CN" altLang="en-US" sz="2400"/>
              <a:t>分支工作集同步增长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分支预测的正确率下降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130" y="3157220"/>
            <a:ext cx="5303520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研究背景</a:t>
            </a:r>
            <a:r>
              <a:rPr lang="en-US" altLang="zh-CN"/>
              <a:t>——</a:t>
            </a:r>
            <a:r>
              <a:rPr lang="zh-CN" altLang="en-US"/>
              <a:t>容量</a:t>
            </a:r>
            <a:r>
              <a:rPr lang="en-US" altLang="zh-CN"/>
              <a:t> vs </a:t>
            </a:r>
            <a:r>
              <a:rPr lang="zh-CN" altLang="en-US"/>
              <a:t>延迟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做大分支预测器？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·64KB TAGE-SC-L → 512KB</a:t>
            </a:r>
            <a:r>
              <a:rPr lang="zh-CN" altLang="en-US"/>
              <a:t>，</a:t>
            </a:r>
            <a:r>
              <a:rPr lang="en-US" altLang="zh-CN"/>
              <a:t>MPKI </a:t>
            </a:r>
            <a:r>
              <a:rPr lang="zh-CN" altLang="en-US"/>
              <a:t>下降</a:t>
            </a:r>
            <a:r>
              <a:rPr lang="en-US" altLang="zh-CN"/>
              <a:t> 27.5%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·</a:t>
            </a:r>
            <a:r>
              <a:rPr lang="zh-CN" altLang="en-US"/>
              <a:t>延迟</a:t>
            </a:r>
            <a:r>
              <a:rPr lang="en-US" altLang="zh-CN"/>
              <a:t> 2.5 </a:t>
            </a:r>
            <a:r>
              <a:rPr lang="zh-CN" altLang="en-US"/>
              <a:t>倍，能耗</a:t>
            </a:r>
            <a:r>
              <a:rPr lang="en-US" altLang="zh-CN"/>
              <a:t> 4.5 </a:t>
            </a:r>
            <a:r>
              <a:rPr lang="zh-CN" altLang="en-US"/>
              <a:t>倍，不实际！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研究表明，当容量超过阈值时：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延迟惩罚</a:t>
            </a:r>
            <a:r>
              <a:rPr lang="en-US" altLang="zh-CN"/>
              <a:t> &gt; </a:t>
            </a:r>
            <a:r>
              <a:rPr lang="zh-CN" altLang="en-US"/>
              <a:t>分支预测准确率收益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发展脉络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 algn="ctr">
              <a:buNone/>
            </a:pPr>
            <a:r>
              <a:rPr lang="en-US" altLang="zh-CN" b="1"/>
              <a:t>2005 cbp1.5</a:t>
            </a:r>
            <a:endParaRPr lang="en-US" altLang="zh-CN" b="1"/>
          </a:p>
          <a:p>
            <a:pPr marL="0" indent="0" algn="ctr">
              <a:buNone/>
            </a:pPr>
            <a:r>
              <a:rPr lang="en-US" altLang="zh-CN" b="1"/>
              <a:t>↓</a:t>
            </a:r>
            <a:endParaRPr lang="en-US" altLang="zh-CN" b="1"/>
          </a:p>
          <a:p>
            <a:pPr marL="0" indent="0" algn="ctr">
              <a:buNone/>
            </a:pPr>
            <a:r>
              <a:rPr lang="en-US" altLang="zh-CN" b="1"/>
              <a:t>2006 TAGE</a:t>
            </a:r>
            <a:endParaRPr lang="en-US" altLang="zh-CN" b="1"/>
          </a:p>
          <a:p>
            <a:pPr marL="0" indent="0" algn="ctr">
              <a:buNone/>
            </a:pPr>
            <a:r>
              <a:rPr lang="en-US" altLang="zh-CN" b="1"/>
              <a:t>↓</a:t>
            </a:r>
            <a:endParaRPr lang="en-US" altLang="zh-CN" b="1"/>
          </a:p>
          <a:p>
            <a:pPr marL="0" indent="0" algn="ctr">
              <a:buNone/>
            </a:pPr>
            <a:r>
              <a:rPr lang="en-US" altLang="zh-CN" b="1"/>
              <a:t>2016 TAGE-SC-L</a:t>
            </a:r>
            <a:endParaRPr lang="en-US" altLang="zh-CN" b="1"/>
          </a:p>
          <a:p>
            <a:pPr marL="0" indent="0" algn="ctr">
              <a:buNone/>
            </a:pPr>
            <a:r>
              <a:rPr lang="en-US" altLang="zh-CN" b="1"/>
              <a:t>↓</a:t>
            </a:r>
            <a:endParaRPr lang="en-US" altLang="zh-CN" b="1"/>
          </a:p>
          <a:p>
            <a:pPr marL="0" indent="0" algn="ctr">
              <a:buNone/>
            </a:pPr>
            <a:r>
              <a:rPr lang="en-US" altLang="zh-CN" b="1"/>
              <a:t>2024 LLBP</a:t>
            </a:r>
            <a:endParaRPr lang="en-US" altLang="zh-CN" b="1"/>
          </a:p>
          <a:p>
            <a:pPr marL="0" indent="0" algn="ctr">
              <a:buNone/>
            </a:pPr>
            <a:r>
              <a:rPr lang="en-US" altLang="zh-CN" b="1"/>
              <a:t>↓</a:t>
            </a:r>
            <a:endParaRPr lang="en-US" altLang="zh-CN" b="1"/>
          </a:p>
          <a:p>
            <a:pPr marL="0" indent="0" algn="ctr">
              <a:buNone/>
            </a:pPr>
            <a:r>
              <a:rPr lang="en-US" altLang="zh-CN" b="1"/>
              <a:t>2026 LLBP-X</a:t>
            </a:r>
            <a:endParaRPr lang="en-US" altLang="zh-CN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发展脉络</a:t>
            </a:r>
            <a:r>
              <a:rPr lang="en-US" altLang="zh-CN"/>
              <a:t>——cbp1.5</a:t>
            </a:r>
            <a:r>
              <a:rPr lang="zh-CN" altLang="en-US"/>
              <a:t>（</a:t>
            </a:r>
            <a:r>
              <a:rPr lang="en-US" altLang="zh-CN"/>
              <a:t>2005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将分支历史视为序列，类比</a:t>
            </a:r>
            <a:r>
              <a:rPr lang="en-US" altLang="zh-CN"/>
              <a:t>PPM</a:t>
            </a:r>
            <a:r>
              <a:rPr lang="zh-CN" altLang="en-US"/>
              <a:t>（</a:t>
            </a:r>
            <a:r>
              <a:rPr lang="en-US" altLang="zh-CN"/>
              <a:t>PPM-like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 bimodal predictor </a:t>
            </a:r>
            <a:r>
              <a:rPr lang="zh-CN" altLang="en-US"/>
              <a:t>作为</a:t>
            </a:r>
            <a:r>
              <a:rPr lang="en-US" altLang="zh-CN"/>
              <a:t> fallback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 tagged predictor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预测：并行查找，取最长历史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mispred </a:t>
            </a:r>
            <a:r>
              <a:rPr lang="zh-CN" altLang="en-US"/>
              <a:t>处理：在更长历史的</a:t>
            </a:r>
            <a:r>
              <a:rPr lang="en-US" altLang="zh-CN"/>
              <a:t>bank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中分配条目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命中：更新</a:t>
            </a:r>
            <a:r>
              <a:rPr lang="en-US" altLang="zh-CN"/>
              <a:t> ctr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3030" y="2235835"/>
            <a:ext cx="501269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发展脉络</a:t>
            </a:r>
            <a:r>
              <a:rPr lang="en-US" altLang="zh-CN"/>
              <a:t>——TAGE</a:t>
            </a:r>
            <a:r>
              <a:rPr lang="zh-CN" altLang="en-US"/>
              <a:t>（</a:t>
            </a:r>
            <a:r>
              <a:rPr lang="en-US" altLang="zh-CN"/>
              <a:t>2006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86855" y="2241550"/>
            <a:ext cx="4850765" cy="3434715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387664" y="1307306"/>
            <a:ext cx="11416672" cy="48696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 kern="1200" baseline="0">
                <a:solidFill>
                  <a:schemeClr val="tx1"/>
                </a:solidFill>
                <a:latin typeface="Garamond" panose="02020404030301010803" pitchFamily="18" charset="0"/>
                <a:ea typeface="黑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2800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ym typeface="+mn-ea"/>
              </a:rPr>
              <a:t>GE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geometric</a:t>
            </a:r>
            <a:r>
              <a:rPr lang="zh-CN" altLang="en-US">
                <a:sym typeface="+mn-ea"/>
              </a:rPr>
              <a:t>，短历史</a:t>
            </a:r>
            <a:r>
              <a:rPr lang="en-US" altLang="zh-CN">
                <a:sym typeface="+mn-ea"/>
              </a:rPr>
              <a:t> bank </a:t>
            </a:r>
            <a:r>
              <a:rPr lang="zh-CN" altLang="en-US">
                <a:sym typeface="+mn-ea"/>
              </a:rPr>
              <a:t>更多、更细（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16...</a:t>
            </a:r>
            <a:r>
              <a:rPr lang="zh-CN" altLang="en-US">
                <a:sym typeface="+mn-ea"/>
              </a:rPr>
              <a:t>）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u bits </a:t>
            </a:r>
            <a:r>
              <a:rPr lang="zh-CN" altLang="en-US">
                <a:sym typeface="+mn-ea"/>
              </a:rPr>
              <a:t>更新：</a:t>
            </a:r>
            <a:r>
              <a:rPr lang="en-US" altLang="zh-CN">
                <a:sym typeface="+mn-ea"/>
              </a:rPr>
              <a:t>provider &amp; altpred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u bits </a:t>
            </a:r>
            <a:r>
              <a:rPr lang="zh-CN" altLang="en-US">
                <a:sym typeface="+mn-ea"/>
              </a:rPr>
              <a:t>老化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ym typeface="+mn-ea"/>
              </a:rPr>
              <a:t>mispred </a:t>
            </a:r>
            <a:r>
              <a:rPr lang="zh-CN" altLang="en-US">
                <a:sym typeface="+mn-ea"/>
              </a:rPr>
              <a:t>处理：选择更长历史</a:t>
            </a:r>
            <a:r>
              <a:rPr lang="en-US" altLang="zh-CN">
                <a:sym typeface="+mn-ea"/>
              </a:rPr>
              <a:t> bank 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中</a:t>
            </a:r>
            <a:r>
              <a:rPr lang="en-US" altLang="zh-CN">
                <a:sym typeface="+mn-ea"/>
              </a:rPr>
              <a:t> u=0 </a:t>
            </a:r>
            <a:r>
              <a:rPr lang="zh-CN" altLang="en-US">
                <a:sym typeface="+mn-ea"/>
              </a:rPr>
              <a:t>的进行替换，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最多分配一个（可能不分配）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业界标配：</a:t>
            </a:r>
            <a:r>
              <a:rPr lang="en-US" altLang="zh-CN">
                <a:sym typeface="+mn-ea"/>
              </a:rPr>
              <a:t>Intel 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Skylake</a:t>
            </a:r>
            <a:r>
              <a:rPr lang="zh-CN" altLang="en-US">
                <a:sym typeface="+mn-ea"/>
              </a:rPr>
              <a:t>、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ym typeface="+mn-ea"/>
              </a:rPr>
              <a:t>ARM Neoverse V2、IBM Z15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发展脉络</a:t>
            </a:r>
            <a:r>
              <a:rPr lang="en-US" altLang="zh-CN"/>
              <a:t>——TAGE-SC-L</a:t>
            </a:r>
            <a:r>
              <a:rPr lang="zh-CN" altLang="en-US"/>
              <a:t>（</a:t>
            </a:r>
            <a:r>
              <a:rPr lang="en-US" altLang="zh-CN"/>
              <a:t>2016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63335" y="1504950"/>
            <a:ext cx="5288280" cy="381000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387664" y="1307306"/>
            <a:ext cx="11416672" cy="48696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 kern="1200" baseline="0">
                <a:solidFill>
                  <a:schemeClr val="tx1"/>
                </a:solidFill>
                <a:latin typeface="Garamond" panose="02020404030301010803" pitchFamily="18" charset="0"/>
                <a:ea typeface="黑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2800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ym typeface="+mn-ea"/>
              </a:rPr>
              <a:t>TAGE </a:t>
            </a:r>
            <a:r>
              <a:rPr lang="zh-CN" altLang="en-US">
                <a:sym typeface="+mn-ea"/>
              </a:rPr>
              <a:t>：主预测器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statistical corrector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弱历史</a:t>
            </a:r>
            <a:r>
              <a:rPr lang="zh-CN" altLang="en-US">
                <a:sym typeface="+mn-ea"/>
              </a:rPr>
              <a:t>相关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多个表投票表决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loop predictor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同一循环连续执行</a:t>
            </a:r>
            <a:r>
              <a:rPr lang="en-US" altLang="zh-CN">
                <a:sym typeface="+mn-ea"/>
              </a:rPr>
              <a:t>7</a:t>
            </a:r>
            <a:r>
              <a:rPr lang="zh-CN" altLang="en-US">
                <a:sym typeface="+mn-ea"/>
              </a:rPr>
              <a:t>次</a:t>
            </a:r>
            <a:r>
              <a:rPr lang="zh-CN" altLang="en-US">
                <a:sym typeface="+mn-ea"/>
              </a:rPr>
              <a:t>以上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LLBP——</a:t>
            </a:r>
            <a:r>
              <a:rPr lang="zh-CN" altLang="en-US"/>
              <a:t>容量</a:t>
            </a:r>
            <a:r>
              <a:rPr lang="zh-CN" altLang="en-US"/>
              <a:t>实验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TAGE </a:t>
            </a:r>
            <a:r>
              <a:rPr lang="zh-CN" altLang="en-US"/>
              <a:t>差在哪里？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64K TSL </a:t>
            </a:r>
            <a:r>
              <a:rPr lang="en-US" altLang="zh-CN"/>
              <a:t>v.s. Inf TAGE v.s. Inf TAGE-SC-L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Inf TAGE </a:t>
            </a:r>
            <a:r>
              <a:rPr lang="zh-CN" altLang="en-US"/>
              <a:t>取得了</a:t>
            </a:r>
            <a:r>
              <a:rPr lang="en-US" altLang="zh-CN"/>
              <a:t> Inf TSL </a:t>
            </a:r>
            <a:r>
              <a:rPr lang="zh-CN" altLang="en-US"/>
              <a:t>性能提升的</a:t>
            </a:r>
            <a:r>
              <a:rPr lang="en-US" altLang="zh-CN"/>
              <a:t>87%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→</a:t>
            </a:r>
            <a:r>
              <a:rPr lang="zh-CN" altLang="en-US"/>
              <a:t>容量仍然是限制分支预测准确率的最大因素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505" y="2538730"/>
            <a:ext cx="1157351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LLBP——</a:t>
            </a:r>
            <a:r>
              <a:rPr lang="zh-CN" altLang="en-US"/>
              <a:t>容量问题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800"/>
              <a:t>大容量</a:t>
            </a:r>
            <a:r>
              <a:rPr lang="en-US" altLang="zh-CN" sz="2800"/>
              <a:t>——</a:t>
            </a:r>
            <a:r>
              <a:rPr lang="zh-CN" altLang="en-US" sz="2800"/>
              <a:t>高延迟、高能耗，如何解决？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分层？</a:t>
            </a:r>
            <a:endParaRPr lang="zh-CN" altLang="en-US" sz="2800"/>
          </a:p>
          <a:p>
            <a:pPr marL="0" indent="0">
              <a:buNone/>
            </a:pPr>
            <a:endParaRPr lang="zh-CN" altLang="en-US" sz="2800"/>
          </a:p>
          <a:p>
            <a:pPr marL="0" indent="0">
              <a:buNone/>
            </a:pPr>
            <a:r>
              <a:rPr lang="en-US" altLang="zh-CN" sz="2800"/>
              <a:t>1</a:t>
            </a:r>
            <a:r>
              <a:rPr lang="zh-CN" altLang="en-US" sz="2800"/>
              <a:t>）低层仍然面临高延迟、高功耗的问题</a:t>
            </a:r>
            <a:endParaRPr lang="zh-CN" altLang="en-US" sz="2800"/>
          </a:p>
          <a:p>
            <a:pPr marL="0" indent="0">
              <a:buNone/>
            </a:pPr>
            <a:r>
              <a:rPr lang="en-US" altLang="zh-CN" sz="2800"/>
              <a:t>2</a:t>
            </a:r>
            <a:r>
              <a:rPr lang="zh-CN" altLang="en-US" sz="2800"/>
              <a:t>）基于预测历史的</a:t>
            </a:r>
            <a:r>
              <a:rPr lang="en-US" altLang="zh-CN" sz="2800"/>
              <a:t> hash </a:t>
            </a:r>
            <a:r>
              <a:rPr lang="zh-CN" altLang="en-US" sz="2800"/>
              <a:t>打破了空间局部性</a:t>
            </a:r>
            <a:endParaRPr lang="zh-CN" altLang="en-US" sz="2800"/>
          </a:p>
          <a:p>
            <a:pPr marL="0" indent="0">
              <a:buNone/>
            </a:pPr>
            <a:r>
              <a:rPr lang="en-US" altLang="zh-CN" sz="2800"/>
              <a:t>→</a:t>
            </a:r>
            <a:r>
              <a:rPr lang="zh-CN" altLang="en-US" sz="2800"/>
              <a:t>取出的块不会被访问</a:t>
            </a:r>
            <a:endParaRPr lang="en-US" altLang="zh-CN" sz="2800"/>
          </a:p>
          <a:p>
            <a:pPr marL="0" indent="0">
              <a:buNone/>
            </a:pPr>
            <a:r>
              <a:rPr lang="en-US" altLang="zh-CN" sz="2800"/>
              <a:t>→</a:t>
            </a:r>
            <a:r>
              <a:rPr lang="zh-CN" altLang="en-US" sz="2800"/>
              <a:t>预取困难</a:t>
            </a:r>
            <a:endParaRPr lang="zh-CN" altLang="en-US" sz="2800"/>
          </a:p>
        </p:txBody>
      </p:sp>
      <p:pic>
        <p:nvPicPr>
          <p:cNvPr id="6" name="图片 5" descr="无标题"/>
          <p:cNvPicPr>
            <a:picLocks noChangeAspect="1"/>
          </p:cNvPicPr>
          <p:nvPr/>
        </p:nvPicPr>
        <p:blipFill>
          <a:blip r:embed="rId1"/>
          <a:srcRect l="2275" r="35510"/>
          <a:stretch>
            <a:fillRect/>
          </a:stretch>
        </p:blipFill>
        <p:spPr>
          <a:xfrm>
            <a:off x="7184390" y="2200910"/>
            <a:ext cx="4620260" cy="2797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LLBP——context</a:t>
            </a:r>
            <a:r>
              <a:rPr lang="en-US" altLang="zh-CN"/>
              <a:t> locality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context</a:t>
            </a:r>
            <a:r>
              <a:rPr lang="zh-CN" altLang="en-US"/>
              <a:t>：</a:t>
            </a:r>
            <a:r>
              <a:rPr lang="en-US" altLang="zh-CN"/>
              <a:t>a sequence of UB instructions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e.g. jumps, calls, returns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上下文十分具有</a:t>
            </a:r>
            <a:r>
              <a:rPr lang="en-US" altLang="zh-CN"/>
              <a:t>“</a:t>
            </a:r>
            <a:r>
              <a:rPr lang="zh-CN" altLang="en-US"/>
              <a:t>表达力</a:t>
            </a:r>
            <a:r>
              <a:rPr lang="en-US" altLang="zh-CN"/>
              <a:t>”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越长记录的信息越丰富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根据</a:t>
            </a:r>
            <a:r>
              <a:rPr lang="zh-CN" altLang="en-US"/>
              <a:t>上下文将</a:t>
            </a:r>
            <a:r>
              <a:rPr lang="zh-CN" altLang="en-US"/>
              <a:t>模式拆散进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一个个模式集（</a:t>
            </a:r>
            <a:r>
              <a:rPr lang="en-US" altLang="zh-CN"/>
              <a:t>pattern set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915" y="1913890"/>
            <a:ext cx="5955665" cy="2038985"/>
          </a:xfrm>
          <a:prstGeom prst="rect">
            <a:avLst/>
          </a:prstGeom>
        </p:spPr>
      </p:pic>
      <p:pic>
        <p:nvPicPr>
          <p:cNvPr id="10" name="图片 9" descr="无标题"/>
          <p:cNvPicPr>
            <a:picLocks noChangeAspect="1"/>
          </p:cNvPicPr>
          <p:nvPr/>
        </p:nvPicPr>
        <p:blipFill>
          <a:blip r:embed="rId2"/>
          <a:srcRect l="18203" t="2327" r="30339" b="72165"/>
          <a:stretch>
            <a:fillRect/>
          </a:stretch>
        </p:blipFill>
        <p:spPr>
          <a:xfrm>
            <a:off x="5351780" y="4733925"/>
            <a:ext cx="6273800" cy="869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LLBP——</a:t>
            </a:r>
            <a:r>
              <a:rPr lang="zh-CN" altLang="en-US"/>
              <a:t>整体</a:t>
            </a:r>
            <a:r>
              <a:rPr lang="zh-CN" altLang="en-US"/>
              <a:t>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TAGE</a:t>
            </a:r>
            <a:r>
              <a:rPr lang="zh-CN" altLang="en-US"/>
              <a:t>，</a:t>
            </a:r>
            <a:r>
              <a:rPr lang="en-US" altLang="zh-CN"/>
              <a:t>64KB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LLBP</a:t>
            </a:r>
            <a:r>
              <a:rPr lang="zh-CN" altLang="en-US"/>
              <a:t>，</a:t>
            </a:r>
            <a:r>
              <a:rPr lang="en-US" altLang="zh-CN"/>
              <a:t>512KB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PB</a:t>
            </a:r>
            <a:r>
              <a:rPr lang="zh-CN" altLang="en-US"/>
              <a:t>，</a:t>
            </a:r>
            <a:r>
              <a:rPr lang="en-US" altLang="zh-CN"/>
              <a:t>pattern buffer</a:t>
            </a:r>
            <a:r>
              <a:rPr lang="zh-CN" altLang="en-US"/>
              <a:t>，用</a:t>
            </a:r>
            <a:r>
              <a:rPr lang="en-US" altLang="zh-CN"/>
              <a:t> CID </a:t>
            </a:r>
            <a:r>
              <a:rPr lang="zh-CN" altLang="en-US"/>
              <a:t>索引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RCR</a:t>
            </a:r>
            <a:r>
              <a:rPr lang="zh-CN" altLang="en-US"/>
              <a:t>，计算</a:t>
            </a:r>
            <a:r>
              <a:rPr lang="en-US" altLang="zh-CN"/>
              <a:t> Current CID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CD</a:t>
            </a:r>
            <a:r>
              <a:rPr lang="zh-CN" altLang="en-US"/>
              <a:t>，记录各个</a:t>
            </a:r>
            <a:r>
              <a:rPr lang="en-US" altLang="zh-CN"/>
              <a:t> CID </a:t>
            </a:r>
            <a:r>
              <a:rPr lang="zh-CN" altLang="en-US"/>
              <a:t>保存在</a:t>
            </a:r>
            <a:r>
              <a:rPr lang="en-US" altLang="zh-CN"/>
              <a:t>LLBP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中哪个</a:t>
            </a:r>
            <a:r>
              <a:rPr lang="zh-CN" altLang="en-US"/>
              <a:t>位置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无标题"/>
          <p:cNvPicPr>
            <a:picLocks noChangeAspect="1"/>
          </p:cNvPicPr>
          <p:nvPr/>
        </p:nvPicPr>
        <p:blipFill>
          <a:blip r:embed="rId1"/>
          <a:srcRect t="3205" r="45307"/>
          <a:stretch>
            <a:fillRect/>
          </a:stretch>
        </p:blipFill>
        <p:spPr>
          <a:xfrm>
            <a:off x="6477000" y="1541145"/>
            <a:ext cx="5073015" cy="3470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无标题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365" y="2085340"/>
            <a:ext cx="5709285" cy="30175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LLBP——</a:t>
            </a:r>
            <a:r>
              <a:rPr lang="zh-CN" altLang="en-US"/>
              <a:t>访问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·PB </a:t>
            </a:r>
            <a:r>
              <a:rPr lang="zh-CN" altLang="en-US"/>
              <a:t>与</a:t>
            </a:r>
            <a:r>
              <a:rPr lang="en-US" altLang="zh-CN"/>
              <a:t> TAGE </a:t>
            </a:r>
            <a:r>
              <a:rPr lang="zh-CN" altLang="en-US"/>
              <a:t>并行</a:t>
            </a:r>
            <a:r>
              <a:rPr lang="zh-CN" altLang="en-US"/>
              <a:t>访问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·his-len </a:t>
            </a:r>
            <a:r>
              <a:rPr lang="zh-CN" altLang="en-US"/>
              <a:t>选出用于比较的</a:t>
            </a:r>
            <a:r>
              <a:rPr lang="zh-CN" altLang="en-US"/>
              <a:t>哈希值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·</a:t>
            </a:r>
            <a:r>
              <a:rPr lang="zh-CN" altLang="en-US"/>
              <a:t>预测结果取</a:t>
            </a:r>
            <a:r>
              <a:rPr lang="en-US" altLang="zh-CN"/>
              <a:t> prediction counter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的</a:t>
            </a:r>
            <a:r>
              <a:rPr lang="zh-CN" altLang="en-US"/>
              <a:t>最高位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·</a:t>
            </a:r>
            <a:r>
              <a:rPr lang="zh-CN" altLang="en-US"/>
              <a:t>根据命中模式的历史长度</a:t>
            </a:r>
            <a:r>
              <a:rPr lang="zh-CN" altLang="en-US"/>
              <a:t>判断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是否</a:t>
            </a:r>
            <a:r>
              <a:rPr lang="en-US" altLang="zh-CN"/>
              <a:t> override TAGE </a:t>
            </a:r>
            <a:r>
              <a:rPr lang="zh-CN" altLang="en-US"/>
              <a:t>的预测</a:t>
            </a:r>
            <a:r>
              <a:rPr lang="zh-CN" altLang="en-US"/>
              <a:t>结果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·</a:t>
            </a:r>
            <a:r>
              <a:rPr lang="zh-CN" altLang="en-US"/>
              <a:t>选择模式集</a:t>
            </a:r>
            <a:r>
              <a:rPr lang="en-US" altLang="zh-CN"/>
              <a:t>&amp;</a:t>
            </a:r>
            <a:r>
              <a:rPr lang="zh-CN" altLang="en-US"/>
              <a:t>哈希值可从</a:t>
            </a:r>
            <a:r>
              <a:rPr lang="zh-CN" altLang="en-US"/>
              <a:t>关键路径上</a:t>
            </a:r>
            <a:r>
              <a:rPr lang="zh-CN" altLang="en-US"/>
              <a:t>剔除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995" y="2098675"/>
            <a:ext cx="6256655" cy="21234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LLBP——</a:t>
            </a:r>
            <a:r>
              <a:rPr lang="zh-CN" altLang="en-US"/>
              <a:t>预取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访问</a:t>
            </a:r>
            <a:r>
              <a:rPr lang="en-US" altLang="zh-CN"/>
              <a:t> LLBP </a:t>
            </a:r>
            <a:r>
              <a:rPr lang="zh-CN" altLang="en-US"/>
              <a:t>的延迟如何</a:t>
            </a:r>
            <a:r>
              <a:rPr lang="zh-CN" altLang="en-US"/>
              <a:t>解决？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设置一个长度为</a:t>
            </a:r>
            <a:r>
              <a:rPr lang="en-US" altLang="zh-CN"/>
              <a:t> D </a:t>
            </a:r>
            <a:r>
              <a:rPr lang="zh-CN" altLang="en-US"/>
              <a:t>的</a:t>
            </a:r>
            <a:r>
              <a:rPr lang="zh-CN" altLang="en-US"/>
              <a:t>窗口：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·“</a:t>
            </a:r>
            <a:r>
              <a:rPr lang="zh-CN" altLang="en-US"/>
              <a:t>隐藏</a:t>
            </a:r>
            <a:r>
              <a:rPr lang="en-US" altLang="zh-CN"/>
              <a:t>”</a:t>
            </a:r>
            <a:r>
              <a:rPr lang="zh-CN" altLang="en-US"/>
              <a:t>对</a:t>
            </a:r>
            <a:r>
              <a:rPr lang="en-US" altLang="zh-CN"/>
              <a:t> LLBP </a:t>
            </a:r>
            <a:r>
              <a:rPr lang="zh-CN" altLang="en-US"/>
              <a:t>的</a:t>
            </a:r>
            <a:r>
              <a:rPr lang="zh-CN" altLang="en-US"/>
              <a:t>访问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·CCID </a:t>
            </a:r>
            <a:r>
              <a:rPr lang="zh-CN" altLang="en-US"/>
              <a:t>用于对</a:t>
            </a:r>
            <a:r>
              <a:rPr lang="en-US" altLang="zh-CN"/>
              <a:t> PB </a:t>
            </a:r>
            <a:r>
              <a:rPr lang="zh-CN" altLang="en-US"/>
              <a:t>的</a:t>
            </a:r>
            <a:r>
              <a:rPr lang="zh-CN" altLang="en-US"/>
              <a:t>访问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·Prefetch CID </a:t>
            </a:r>
            <a:r>
              <a:rPr lang="zh-CN" altLang="en-US"/>
              <a:t>用于对</a:t>
            </a:r>
            <a:r>
              <a:rPr lang="en-US" altLang="zh-CN"/>
              <a:t> LLBP </a:t>
            </a:r>
            <a:r>
              <a:rPr lang="zh-CN" altLang="en-US"/>
              <a:t>的</a:t>
            </a:r>
            <a:r>
              <a:rPr lang="zh-CN" altLang="en-US"/>
              <a:t>访问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→</a:t>
            </a:r>
            <a:r>
              <a:rPr lang="zh-CN" altLang="en-US"/>
              <a:t>提前</a:t>
            </a:r>
            <a:r>
              <a:rPr lang="en-US" altLang="zh-CN"/>
              <a:t> D </a:t>
            </a:r>
            <a:r>
              <a:rPr lang="zh-CN" altLang="en-US"/>
              <a:t>个</a:t>
            </a:r>
            <a:r>
              <a:rPr lang="en-US" altLang="zh-CN"/>
              <a:t> UB </a:t>
            </a:r>
            <a:r>
              <a:rPr lang="zh-CN" altLang="en-US"/>
              <a:t>就能取到未来可能要用的</a:t>
            </a:r>
            <a:r>
              <a:rPr lang="zh-CN" altLang="en-US"/>
              <a:t>模式集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LLBP</a:t>
            </a:r>
            <a:r>
              <a:rPr lang="zh-CN" altLang="en-US"/>
              <a:t>性能</a:t>
            </a:r>
            <a:r>
              <a:rPr lang="zh-CN" altLang="en-US"/>
              <a:t>瓶颈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LLBP </a:t>
            </a:r>
            <a:r>
              <a:rPr lang="en-US" altLang="zh-CN"/>
              <a:t>v.s. </a:t>
            </a:r>
            <a:r>
              <a:rPr lang="en-US"/>
              <a:t>512K TSL </a:t>
            </a:r>
            <a:endParaRPr lang="en-US"/>
          </a:p>
          <a:p>
            <a:pPr marL="0" indent="0">
              <a:buNone/>
            </a:pPr>
            <a:r>
              <a:rPr lang="en-US"/>
              <a:t>·</a:t>
            </a:r>
            <a:r>
              <a:rPr lang="zh-CN" altLang="en-US"/>
              <a:t>容量相当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·</a:t>
            </a:r>
            <a:r>
              <a:rPr lang="zh-CN" altLang="en-US"/>
              <a:t>预测准确率差距</a:t>
            </a:r>
            <a:r>
              <a:rPr lang="zh-CN" altLang="en-US"/>
              <a:t>明显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→LLBP </a:t>
            </a:r>
            <a:r>
              <a:rPr lang="zh-CN" altLang="en-US"/>
              <a:t>效率</a:t>
            </a:r>
            <a:r>
              <a:rPr lang="zh-CN" altLang="en-US"/>
              <a:t>低下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LLBP </a:t>
            </a:r>
            <a:r>
              <a:rPr lang="zh-CN" altLang="en-US"/>
              <a:t>性能瓶颈</a:t>
            </a:r>
            <a:r>
              <a:rPr lang="zh-CN" altLang="en-US"/>
              <a:t>在哪？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逐步移除</a:t>
            </a:r>
            <a:r>
              <a:rPr lang="en-US" altLang="zh-CN"/>
              <a:t> LLBP </a:t>
            </a:r>
            <a:r>
              <a:rPr lang="zh-CN" altLang="en-US"/>
              <a:t>结构限制</a:t>
            </a:r>
            <a:r>
              <a:rPr lang="en-US" altLang="zh-CN"/>
              <a:t>→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0245" y="1318895"/>
            <a:ext cx="6034405" cy="2149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710" y="3883025"/>
            <a:ext cx="6377940" cy="17513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LLBP</a:t>
            </a:r>
            <a:r>
              <a:rPr lang="zh-CN" altLang="en-US"/>
              <a:t>性能瓶颈</a:t>
            </a:r>
            <a:r>
              <a:rPr lang="en-US" altLang="zh-CN"/>
              <a:t>——</a:t>
            </a:r>
            <a:r>
              <a:rPr lang="zh-CN" altLang="en-US"/>
              <a:t>模式分布</a:t>
            </a:r>
            <a:r>
              <a:rPr lang="zh-CN" altLang="en-US"/>
              <a:t>不均匀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Inf Patterns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推测：</a:t>
            </a:r>
            <a:r>
              <a:rPr lang="zh-CN" altLang="en-US"/>
              <a:t>模式</a:t>
            </a:r>
            <a:r>
              <a:rPr lang="zh-CN" altLang="en-US"/>
              <a:t>的分布</a:t>
            </a:r>
            <a:r>
              <a:rPr lang="zh-CN" altLang="en-US"/>
              <a:t>不均匀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对于一个</a:t>
            </a:r>
            <a:r>
              <a:rPr lang="en-US" altLang="zh-CN"/>
              <a:t>H2P</a:t>
            </a:r>
            <a:r>
              <a:rPr lang="zh-CN" altLang="en-US"/>
              <a:t>，</a:t>
            </a:r>
            <a:r>
              <a:rPr lang="en-US" altLang="zh-CN"/>
              <a:t>16</a:t>
            </a:r>
            <a:r>
              <a:rPr lang="zh-CN" altLang="en-US"/>
              <a:t>个</a:t>
            </a:r>
            <a:r>
              <a:rPr lang="en-US" altLang="zh-CN"/>
              <a:t> pattern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远远不够，模式集中发生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大量</a:t>
            </a:r>
            <a:r>
              <a:rPr lang="en-US" altLang="zh-CN"/>
              <a:t>“</a:t>
            </a:r>
            <a:r>
              <a:rPr lang="zh-CN" altLang="en-US"/>
              <a:t>冲突</a:t>
            </a:r>
            <a:r>
              <a:rPr lang="en-US" altLang="zh-CN"/>
              <a:t>”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7810" y="2290445"/>
            <a:ext cx="6466840" cy="19373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LLBP</a:t>
            </a:r>
            <a:r>
              <a:rPr lang="zh-CN" altLang="en-US">
                <a:sym typeface="+mn-ea"/>
              </a:rPr>
              <a:t>性能瓶颈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模式重复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No Contextualization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上下文化会导致容易预测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的分支存在大量重复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W </a:t>
            </a:r>
            <a:r>
              <a:rPr lang="zh-CN" altLang="en-US"/>
              <a:t>越大，重复</a:t>
            </a:r>
            <a:r>
              <a:rPr lang="zh-CN" altLang="en-US"/>
              <a:t>越多，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浪费的模式集条目</a:t>
            </a:r>
            <a:r>
              <a:rPr lang="zh-CN" altLang="en-US"/>
              <a:t>越多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565" y="1491615"/>
            <a:ext cx="5688330" cy="18319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945" y="3674745"/>
            <a:ext cx="6021705" cy="2042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387664" y="1318670"/>
            <a:ext cx="5632136" cy="4858293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zh-CN" altLang="en-US">
                <a:latin typeface="Garamond" panose="02020404030301010803" pitchFamily="18" charset="0"/>
                <a:sym typeface="+mn-ea"/>
              </a:rPr>
              <a:t>较小的 W：</a:t>
            </a:r>
            <a:endParaRPr lang="zh-CN" altLang="en-US">
              <a:latin typeface="Garamond" panose="02020404030301010803" pitchFamily="18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Garamond" panose="02020404030301010803" pitchFamily="18" charset="0"/>
                <a:sym typeface="+mn-ea"/>
              </a:rPr>
              <a:t>短历史模式重复少</a:t>
            </a:r>
            <a:endParaRPr lang="zh-CN" altLang="en-US">
              <a:latin typeface="Garamond" panose="02020404030301010803" pitchFamily="18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Garamond" panose="02020404030301010803" pitchFamily="18" charset="0"/>
                <a:sym typeface="+mn-ea"/>
              </a:rPr>
              <a:t>长历史模式冲突多</a:t>
            </a:r>
            <a:endParaRPr lang="zh-CN" altLang="en-US">
              <a:latin typeface="Garamond" panose="02020404030301010803" pitchFamily="18" charset="0"/>
              <a:sym typeface="+mn-ea"/>
            </a:endParaRPr>
          </a:p>
          <a:p>
            <a:pPr marL="0" indent="0">
              <a:buNone/>
            </a:pPr>
            <a:endParaRPr lang="zh-CN" altLang="en-US"/>
          </a:p>
          <a:p>
            <a:pPr marL="0" algn="l">
              <a:buClrTx/>
              <a:buSzTx/>
              <a:buNone/>
            </a:pPr>
            <a:r>
              <a:rPr lang="zh-CN" altLang="en-US">
                <a:latin typeface="Garamond" panose="02020404030301010803" pitchFamily="18" charset="0"/>
                <a:sym typeface="+mn-ea"/>
              </a:rPr>
              <a:t>较大的 W</a:t>
            </a:r>
            <a:r>
              <a:rPr lang="zh-CN" altLang="en-US">
                <a:latin typeface="Garamond" panose="02020404030301010803" pitchFamily="18" charset="0"/>
                <a:sym typeface="+mn-ea"/>
              </a:rPr>
              <a:t>：</a:t>
            </a:r>
            <a:endParaRPr lang="zh-CN" altLang="en-US">
              <a:latin typeface="Garamond" panose="02020404030301010803" pitchFamily="18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Garamond" panose="02020404030301010803" pitchFamily="18" charset="0"/>
                <a:sym typeface="+mn-ea"/>
              </a:rPr>
              <a:t>长历史模式被分散到</a:t>
            </a:r>
            <a:endParaRPr lang="zh-CN" altLang="en-US">
              <a:latin typeface="Garamond" panose="02020404030301010803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Garamond" panose="02020404030301010803" pitchFamily="18" charset="0"/>
                <a:sym typeface="+mn-ea"/>
              </a:rPr>
              <a:t>不同上下文</a:t>
            </a:r>
            <a:endParaRPr lang="zh-CN" altLang="en-US">
              <a:latin typeface="Garamond" panose="02020404030301010803" pitchFamily="18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Garamond" panose="02020404030301010803" pitchFamily="18" charset="0"/>
                <a:sym typeface="+mn-ea"/>
              </a:rPr>
              <a:t>短历史模式重复多</a:t>
            </a:r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5918200" y="1318895"/>
            <a:ext cx="5029835" cy="4858385"/>
          </a:xfrm>
        </p:spPr>
        <p:txBody>
          <a:bodyPr/>
          <a:p>
            <a:pPr marL="0" indent="0">
              <a:buNone/>
            </a:pPr>
            <a:endParaRPr lang="zh-CN" altLang="en-US">
              <a:sym typeface="+mn-ea"/>
            </a:endParaRPr>
          </a:p>
          <a:p>
            <a:pPr marL="0" indent="0">
              <a:buNone/>
            </a:pPr>
            <a:endParaRPr lang="zh-CN" altLang="en-US"/>
          </a:p>
          <a:p>
            <a:pPr marL="0" algn="l">
              <a:buClrTx/>
              <a:buSzTx/>
              <a:buNone/>
            </a:pPr>
            <a:r>
              <a:rPr lang="zh-CN" altLang="en-US">
                <a:latin typeface="Garamond" panose="02020404030301010803" pitchFamily="18" charset="0"/>
                <a:sym typeface="+mn-ea"/>
              </a:rPr>
              <a:t> </a:t>
            </a:r>
            <a:r>
              <a:rPr lang="en-US" altLang="zh-CN">
                <a:latin typeface="Garamond" panose="02020404030301010803" pitchFamily="18" charset="0"/>
                <a:sym typeface="+mn-ea"/>
              </a:rPr>
              <a:t> </a:t>
            </a:r>
            <a:r>
              <a:rPr lang="zh-CN" altLang="en-US">
                <a:latin typeface="Garamond" panose="02020404030301010803" pitchFamily="18" charset="0"/>
                <a:sym typeface="+mn-ea"/>
              </a:rPr>
              <a:t>动态上下文：</a:t>
            </a:r>
            <a:endParaRPr lang="zh-CN" altLang="en-US">
              <a:latin typeface="Garamond" panose="02020404030301010803" pitchFamily="18" charset="0"/>
              <a:ea typeface="黑体" panose="02010609060101010101" pitchFamily="49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Garamond" panose="02020404030301010803" pitchFamily="18" charset="0"/>
                <a:sym typeface="+mn-ea"/>
              </a:rPr>
              <a:t> </a:t>
            </a:r>
            <a:r>
              <a:rPr lang="en-US" altLang="zh-CN">
                <a:latin typeface="Garamond" panose="02020404030301010803" pitchFamily="18" charset="0"/>
                <a:sym typeface="+mn-ea"/>
              </a:rPr>
              <a:t> </a:t>
            </a:r>
            <a:r>
              <a:rPr lang="zh-CN" altLang="en-US">
                <a:latin typeface="Garamond" panose="02020404030301010803" pitchFamily="18" charset="0"/>
                <a:sym typeface="+mn-ea"/>
              </a:rPr>
              <a:t>短历史模式使用浅上下文</a:t>
            </a:r>
            <a:endParaRPr lang="zh-CN" altLang="en-US">
              <a:latin typeface="Garamond" panose="02020404030301010803" pitchFamily="18" charset="0"/>
              <a:ea typeface="黑体" panose="02010609060101010101" pitchFamily="49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Garamond" panose="02020404030301010803" pitchFamily="18" charset="0"/>
                <a:sym typeface="+mn-ea"/>
              </a:rPr>
              <a:t> </a:t>
            </a:r>
            <a:r>
              <a:rPr lang="en-US" altLang="zh-CN">
                <a:latin typeface="Garamond" panose="02020404030301010803" pitchFamily="18" charset="0"/>
                <a:sym typeface="+mn-ea"/>
              </a:rPr>
              <a:t> </a:t>
            </a:r>
            <a:r>
              <a:rPr lang="zh-CN" altLang="en-US">
                <a:latin typeface="Garamond" panose="02020404030301010803" pitchFamily="18" charset="0"/>
                <a:sym typeface="+mn-ea"/>
              </a:rPr>
              <a:t>长历史模式使用深上下文</a:t>
            </a:r>
            <a:endParaRPr lang="zh-CN" altLang="en-US">
              <a:latin typeface="Garamond" panose="02020404030301010803" pitchFamily="18" charset="0"/>
              <a:ea typeface="黑体" panose="02010609060101010101" pitchFamily="49" charset="-122"/>
              <a:sym typeface="+mn-ea"/>
            </a:endParaRP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Garamond" panose="02020404030301010803" pitchFamily="18" charset="0"/>
                <a:sym typeface="+mn-ea"/>
              </a:rPr>
              <a:t>LLBP-X——</a:t>
            </a:r>
            <a:r>
              <a:rPr lang="zh-CN" altLang="en-US">
                <a:sym typeface="+mn-ea"/>
              </a:rPr>
              <a:t>动</a:t>
            </a:r>
            <a:r>
              <a:rPr lang="en-US" altLang="zh-CN">
                <a:latin typeface="Garamond" panose="02020404030301010803" pitchFamily="18" charset="0"/>
                <a:sym typeface="+mn-ea"/>
              </a:rPr>
              <a:t>态上下</a:t>
            </a:r>
            <a:r>
              <a:rPr lang="zh-CN" altLang="en-US">
                <a:sym typeface="+mn-ea"/>
              </a:rPr>
              <a:t>文自适应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01260" y="3137535"/>
            <a:ext cx="640715" cy="582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→</a:t>
            </a:r>
            <a:endParaRPr lang="zh-CN" altLang="en-US" sz="320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LLBP-X——</a:t>
            </a:r>
            <a:r>
              <a:rPr lang="zh-CN" altLang="en-US"/>
              <a:t>动态上下文</a:t>
            </a:r>
            <a:r>
              <a:rPr lang="zh-CN" altLang="en-US"/>
              <a:t>自适应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默认情况下，</a:t>
            </a:r>
            <a:r>
              <a:rPr lang="en-US" altLang="zh-CN"/>
              <a:t>W = 2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对于一个</a:t>
            </a:r>
            <a:r>
              <a:rPr lang="en-US" altLang="zh-CN"/>
              <a:t> pattern set</a:t>
            </a:r>
            <a:r>
              <a:rPr lang="zh-CN" altLang="en-US"/>
              <a:t>，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当高置信度的模式数</a:t>
            </a:r>
            <a:r>
              <a:rPr lang="en-US" altLang="zh-CN"/>
              <a:t> &gt; Tmax </a:t>
            </a:r>
            <a:r>
              <a:rPr lang="zh-CN" altLang="en-US"/>
              <a:t>时：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在</a:t>
            </a:r>
            <a:r>
              <a:rPr lang="en-US" altLang="zh-CN"/>
              <a:t> CTT </a:t>
            </a:r>
            <a:r>
              <a:rPr lang="zh-CN" altLang="en-US"/>
              <a:t>内建立</a:t>
            </a:r>
            <a:r>
              <a:rPr lang="zh-CN" altLang="en-US"/>
              <a:t>表项，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跟踪该</a:t>
            </a:r>
            <a:r>
              <a:rPr lang="en-US" altLang="zh-CN"/>
              <a:t> set </a:t>
            </a:r>
            <a:r>
              <a:rPr lang="zh-CN" altLang="en-US"/>
              <a:t>内各模式的历史</a:t>
            </a:r>
            <a:r>
              <a:rPr lang="zh-CN" altLang="en-US"/>
              <a:t>长度；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当平均历史长度</a:t>
            </a:r>
            <a:r>
              <a:rPr lang="en-US" altLang="zh-CN"/>
              <a:t> &gt; Hth </a:t>
            </a:r>
            <a:r>
              <a:rPr lang="zh-CN" altLang="en-US"/>
              <a:t>时：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将该</a:t>
            </a:r>
            <a:r>
              <a:rPr lang="en-US" altLang="zh-CN"/>
              <a:t> context </a:t>
            </a:r>
            <a:r>
              <a:rPr lang="zh-CN" altLang="en-US"/>
              <a:t>深度调整为</a:t>
            </a:r>
            <a:r>
              <a:rPr lang="en-US" altLang="zh-CN"/>
              <a:t>64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8555" y="1833880"/>
            <a:ext cx="5586095" cy="31908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LLBP-X——</a:t>
            </a:r>
            <a:r>
              <a:rPr lang="zh-CN" altLang="en-US"/>
              <a:t>性能</a:t>
            </a:r>
            <a:r>
              <a:rPr lang="zh-CN" altLang="en-US"/>
              <a:t>评估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14 </a:t>
            </a:r>
            <a:r>
              <a:rPr lang="zh-CN" altLang="en-US"/>
              <a:t>个工作负载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·7</a:t>
            </a:r>
            <a:r>
              <a:rPr lang="zh-CN" altLang="en-US"/>
              <a:t>个</a:t>
            </a:r>
            <a:r>
              <a:rPr lang="en-US" altLang="zh-CN"/>
              <a:t> Java benchmark workloads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·2</a:t>
            </a:r>
            <a:r>
              <a:rPr lang="zh-CN" altLang="en-US"/>
              <a:t>个</a:t>
            </a:r>
            <a:r>
              <a:rPr lang="en-US" altLang="zh-CN"/>
              <a:t> web </a:t>
            </a:r>
            <a:r>
              <a:rPr lang="zh-CN" altLang="en-US"/>
              <a:t>服务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·4</a:t>
            </a:r>
            <a:r>
              <a:rPr lang="zh-CN" altLang="en-US"/>
              <a:t>个</a:t>
            </a:r>
            <a:r>
              <a:rPr lang="en-US" altLang="zh-CN"/>
              <a:t> Google data center workloads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15" y="4221480"/>
            <a:ext cx="11417935" cy="161798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6369685" y="1307465"/>
            <a:ext cx="5603875" cy="4869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 kern="1200" baseline="0">
                <a:solidFill>
                  <a:schemeClr val="tx1"/>
                </a:solidFill>
                <a:latin typeface="Garamond" panose="02020404030301010803" pitchFamily="18" charset="0"/>
                <a:ea typeface="黑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2800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相对</a:t>
            </a:r>
            <a:r>
              <a:rPr lang="en-US" altLang="zh-CN"/>
              <a:t> 64K TSL</a:t>
            </a:r>
            <a:r>
              <a:rPr lang="zh-CN" altLang="en-US"/>
              <a:t>，减少</a:t>
            </a:r>
            <a:r>
              <a:rPr lang="en-US" altLang="zh-CN"/>
              <a:t> 12.1%</a:t>
            </a:r>
            <a:r>
              <a:rPr lang="zh-CN" altLang="en-US"/>
              <a:t>（</a:t>
            </a:r>
            <a:r>
              <a:rPr lang="en-US" altLang="zh-CN"/>
              <a:t>LLBP </a:t>
            </a:r>
            <a:r>
              <a:rPr lang="zh-CN" altLang="en-US"/>
              <a:t>减少</a:t>
            </a:r>
            <a:r>
              <a:rPr lang="en-US" altLang="zh-CN"/>
              <a:t> 8.8%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相对</a:t>
            </a:r>
            <a:r>
              <a:rPr lang="en-US" altLang="zh-CN"/>
              <a:t> LLBP </a:t>
            </a:r>
            <a:r>
              <a:rPr lang="zh-CN" altLang="en-US"/>
              <a:t>准确率提升</a:t>
            </a:r>
            <a:r>
              <a:rPr lang="en-US" altLang="zh-CN"/>
              <a:t> 3.6%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总结与展望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2300" y="1870710"/>
            <a:ext cx="1958975" cy="3783965"/>
          </a:xfrm>
        </p:spPr>
        <p:txBody>
          <a:bodyPr/>
          <a:p>
            <a:pPr marL="0" indent="0">
              <a:buNone/>
            </a:pPr>
            <a:r>
              <a:rPr lang="en-US" altLang="zh-CN"/>
              <a:t>LLBP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LLBP-X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1486535" y="1318895"/>
            <a:ext cx="6268720" cy="48698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 kern="1200" baseline="0">
                <a:solidFill>
                  <a:schemeClr val="tx1"/>
                </a:solidFill>
                <a:latin typeface="Garamond" panose="02020404030301010803" pitchFamily="18" charset="0"/>
                <a:ea typeface="黑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2800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/>
              <a:t>抓住问题本质</a:t>
            </a:r>
            <a:endParaRPr lang="zh-CN" altLang="en-US"/>
          </a:p>
          <a:p>
            <a:pPr marL="0" indent="0" algn="ctr">
              <a:buNone/>
            </a:pPr>
            <a:r>
              <a:rPr lang="en-US" altLang="zh-CN"/>
              <a:t>↓</a:t>
            </a:r>
            <a:endParaRPr lang="zh-CN" altLang="en-US"/>
          </a:p>
          <a:p>
            <a:pPr marL="0" indent="0" algn="ctr">
              <a:buNone/>
            </a:pPr>
            <a:r>
              <a:rPr lang="zh-CN" altLang="en-US"/>
              <a:t>分支历史打破了</a:t>
            </a:r>
            <a:r>
              <a:rPr lang="zh-CN" altLang="en-US"/>
              <a:t>空间局部性</a:t>
            </a:r>
            <a:endParaRPr lang="zh-CN" altLang="en-US"/>
          </a:p>
          <a:p>
            <a:pPr marL="0" indent="0" algn="ctr">
              <a:buNone/>
            </a:pPr>
            <a:endParaRPr lang="zh-CN" altLang="en-US"/>
          </a:p>
          <a:p>
            <a:pPr marL="0" indent="0" algn="ctr">
              <a:buNone/>
            </a:pPr>
            <a:r>
              <a:rPr lang="zh-CN" altLang="en-US"/>
              <a:t>多维度</a:t>
            </a:r>
            <a:r>
              <a:rPr lang="zh-CN" altLang="en-US"/>
              <a:t>分步逼近</a:t>
            </a:r>
            <a:r>
              <a:rPr lang="zh-CN" altLang="en-US"/>
              <a:t>最优解</a:t>
            </a:r>
            <a:endParaRPr lang="zh-CN" altLang="en-US"/>
          </a:p>
          <a:p>
            <a:pPr marL="0" indent="0" algn="ctr">
              <a:buNone/>
            </a:pPr>
            <a:r>
              <a:rPr lang="en-US" altLang="zh-CN">
                <a:sym typeface="+mn-ea"/>
              </a:rPr>
              <a:t>↓</a:t>
            </a:r>
            <a:endParaRPr lang="zh-CN" altLang="en-US"/>
          </a:p>
          <a:p>
            <a:pPr marL="0" indent="0" algn="ctr">
              <a:buNone/>
            </a:pPr>
            <a:r>
              <a:rPr lang="zh-CN" altLang="en-US"/>
              <a:t>找出关键</a:t>
            </a:r>
            <a:r>
              <a:rPr lang="zh-CN" altLang="en-US"/>
              <a:t>因素</a:t>
            </a:r>
            <a:endParaRPr lang="zh-CN" altLang="en-US"/>
          </a:p>
          <a:p>
            <a:pPr marL="0" indent="0" algn="ctr">
              <a:buNone/>
            </a:pPr>
            <a:r>
              <a:rPr lang="zh-CN" altLang="en-US"/>
              <a:t>模式分布不均匀</a:t>
            </a:r>
            <a:r>
              <a:rPr lang="en-US" altLang="zh-CN"/>
              <a:t> &amp; </a:t>
            </a:r>
            <a:r>
              <a:rPr lang="zh-CN" altLang="en-US"/>
              <a:t>模式</a:t>
            </a:r>
            <a:r>
              <a:rPr lang="zh-CN" altLang="en-US"/>
              <a:t>重复</a:t>
            </a:r>
            <a:endParaRPr lang="zh-CN" altLang="en-US"/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525260" y="1189355"/>
          <a:ext cx="5183505" cy="4055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" imgW="1648460" imgH="1217295" progId="Visio.Drawing.15">
                  <p:embed/>
                </p:oleObj>
              </mc:Choice>
              <mc:Fallback>
                <p:oleObj name="" r:id="rId1" imgW="1648460" imgH="1217295" progId="Visio.Drawing.15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25260" y="1189355"/>
                        <a:ext cx="5183505" cy="4055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总结</a:t>
            </a:r>
            <a:r>
              <a:rPr lang="zh-CN" altLang="en-US"/>
              <a:t>与展望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W </a:t>
            </a:r>
            <a:r>
              <a:rPr lang="zh-CN" altLang="en-US"/>
              <a:t>如何调整才能</a:t>
            </a:r>
            <a:r>
              <a:rPr lang="zh-CN" altLang="en-US"/>
              <a:t>更好地利用</a:t>
            </a:r>
            <a:r>
              <a:rPr lang="zh-CN" altLang="en-US"/>
              <a:t>存储空间？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其它限制条件能否优化？如何</a:t>
            </a:r>
            <a:r>
              <a:rPr lang="zh-CN" altLang="en-US"/>
              <a:t>优化？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上下文的思想能否直接用于</a:t>
            </a:r>
            <a:r>
              <a:rPr lang="en-US" altLang="zh-CN"/>
              <a:t> TAGE </a:t>
            </a:r>
            <a:r>
              <a:rPr lang="zh-CN" altLang="en-US"/>
              <a:t>中？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slide_0e3763c640ea4c61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heme/theme1.xml><?xml version="1.0" encoding="utf-8"?>
<a:theme xmlns:a="http://schemas.openxmlformats.org/drawingml/2006/main" name="Office 主题​​">
  <a:themeElements>
    <a:clrScheme name="论文多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8D9DA"/>
      </a:accent1>
      <a:accent2>
        <a:srgbClr val="ECB884"/>
      </a:accent2>
      <a:accent3>
        <a:srgbClr val="E4E45F"/>
      </a:accent3>
      <a:accent4>
        <a:srgbClr val="4758A2"/>
      </a:accent4>
      <a:accent5>
        <a:srgbClr val="E08D8A"/>
      </a:accent5>
      <a:accent6>
        <a:srgbClr val="AF8CBB"/>
      </a:accent6>
      <a:hlink>
        <a:srgbClr val="0563C1"/>
      </a:hlink>
      <a:folHlink>
        <a:srgbClr val="7030A0"/>
      </a:folHlink>
    </a:clrScheme>
    <a:fontScheme name="黑体+Garamond">
      <a:majorFont>
        <a:latin typeface="Garamond"/>
        <a:ea typeface="黑体"/>
        <a:cs typeface=""/>
      </a:majorFont>
      <a:minorFont>
        <a:latin typeface="Garamond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2292</Words>
  <Application>WPS 演示</Application>
  <PresentationFormat>宽屏</PresentationFormat>
  <Paragraphs>249</Paragraphs>
  <Slides>22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0" baseType="lpstr">
      <vt:lpstr>Arial</vt:lpstr>
      <vt:lpstr>宋体</vt:lpstr>
      <vt:lpstr>Wingdings</vt:lpstr>
      <vt:lpstr>黑体</vt:lpstr>
      <vt:lpstr>Garamond</vt:lpstr>
      <vt:lpstr>PMingLiU-ExtB</vt:lpstr>
      <vt:lpstr>Times New Roman</vt:lpstr>
      <vt:lpstr>仿宋</vt:lpstr>
      <vt:lpstr>楷体</vt:lpstr>
      <vt:lpstr>微软雅黑</vt:lpstr>
      <vt:lpstr>Arial Unicode MS</vt:lpstr>
      <vt:lpstr>KSOF4F86F2D2</vt:lpstr>
      <vt:lpstr>Segoe Print</vt:lpstr>
      <vt:lpstr>等线</vt:lpstr>
      <vt:lpstr>KSOFA9625D13</vt:lpstr>
      <vt:lpstr>Calibri</vt:lpstr>
      <vt:lpstr>Office 主题​​</vt:lpstr>
      <vt:lpstr>Visio.Drawing.15</vt:lpstr>
      <vt:lpstr> The Last-Level Branch Predictor Revisited</vt:lpstr>
      <vt:lpstr>目录</vt:lpstr>
      <vt:lpstr>研究背景——分支预测的作用</vt:lpstr>
      <vt:lpstr>研究背景——容量 vs 延迟</vt:lpstr>
      <vt:lpstr>发展脉络</vt:lpstr>
      <vt:lpstr>发展脉络——cbp1.5（2005）</vt:lpstr>
      <vt:lpstr>发展脉络——TAGE（2006）</vt:lpstr>
      <vt:lpstr>发展脉络——TAGE-SC-L（2016）</vt:lpstr>
      <vt:lpstr>LLBP——容量实验</vt:lpstr>
      <vt:lpstr>LLBP——容量问题</vt:lpstr>
      <vt:lpstr>LLBP——context locality</vt:lpstr>
      <vt:lpstr>LLBP——整体结构</vt:lpstr>
      <vt:lpstr>LLBP——访问</vt:lpstr>
      <vt:lpstr>LLBP——预取</vt:lpstr>
      <vt:lpstr>LLBP性能瓶颈</vt:lpstr>
      <vt:lpstr>LLBP性能瓶颈——模式分布不均匀</vt:lpstr>
      <vt:lpstr>LLBP性能瓶颈——模式重复</vt:lpstr>
      <vt:lpstr>LLBP-X——动态上下文自适应</vt:lpstr>
      <vt:lpstr>LLBP-X——动态上下文自适应</vt:lpstr>
      <vt:lpstr>LLBP-X——性能评估</vt:lpstr>
      <vt:lpstr>总结与展望</vt:lpstr>
      <vt:lpstr>总结与展望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杨春</dc:creator>
  <cp:lastModifiedBy>也许</cp:lastModifiedBy>
  <cp:revision>261</cp:revision>
  <dcterms:created xsi:type="dcterms:W3CDTF">2023-09-25T01:34:00Z</dcterms:created>
  <dcterms:modified xsi:type="dcterms:W3CDTF">2026-10-03T04:19:16Z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1BB66B0E031E4729A765C4782913212C_12</vt:lpwstr>
  </property>
</Properties>
</file>