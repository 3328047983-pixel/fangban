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26"/>
    <p:restoredTop sz="86397"/>
  </p:normalViewPr>
  <p:slideViewPr>
    <p:cSldViewPr snapToGrid="0" snapToObjects="1">
      <p:cViewPr varScale="1">
        <p:scale>
          <a:sx n="95" d="100"/>
          <a:sy n="95" d="100"/>
        </p:scale>
        <p:origin x="88" y="7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C27C0E"/>
              </a:solidFill>
            </c:spPr>
          </c:dPt>
          <c:dPt>
            <c:idx val="1"/>
            <c:invertIfNegative val="0"/>
            <c:bubble3D val="0"/>
            <c:spPr>
              <a:solidFill>
                <a:srgbClr val="C27C0E"/>
              </a:solidFill>
            </c:spPr>
          </c:dPt>
          <c:dPt>
            <c:idx val="2"/>
            <c:invertIfNegative val="0"/>
            <c:bubble3D val="0"/>
            <c:spPr>
              <a:solidFill>
                <a:srgbClr val="C27C0E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rgbClr val="5F5F5F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初始化会话（系统提示、工具配置）</c:v>
                </c:pt>
                <c:pt idx="1">
                  <c:v>会话状态 / 执行轨迹（仅供开发者日志）</c:v>
                </c:pt>
                <c:pt idx="2">
                  <c:v>会话上下文（之后回传给 LLM）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36.7</c:v>
                </c:pt>
                <c:pt idx="1">
                  <c:v>35.9</c:v>
                </c:pt>
                <c:pt idx="2">
                  <c:v>27.4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12700" cap="rnd" cmpd="sng" algn="ctr">
            <a:solidFill>
              <a:srgbClr val="D6CC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F5F5F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2"/>
          <c:min val="0"/>
        </c:scaling>
        <c:delete val="0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F5F5F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249e7c8-efa0-4080-b111-32a6633f823d}"/>
      </c:ext>
    </c:extLst>
  </c:chart>
  <c:txPr>
    <a:bodyPr/>
    <a:lstStyle/>
    <a:p>
      <a:pPr>
        <a:defRPr lang="zh-CN" sz="1050">
          <a:solidFill>
            <a:srgbClr val="5F5F5F"/>
          </a:solidFill>
          <a:latin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3243B"/>
              </a:solidFill>
            </c:spPr>
          </c:dPt>
          <c:dPt>
            <c:idx val="1"/>
            <c:invertIfNegative val="0"/>
            <c:bubble3D val="0"/>
            <c:spPr>
              <a:solidFill>
                <a:srgbClr val="A3243B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rgbClr val="5F5F5F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开发者运维用途（如每次运行写日志）</c:v>
                </c:pt>
                <c:pt idx="1">
                  <c:v>工具下载的文件（Request 等，供后续分析）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62.1</c:v>
                </c:pt>
                <c:pt idx="1">
                  <c:v>37.9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12700" cap="rnd" cmpd="sng" algn="ctr">
            <a:solidFill>
              <a:srgbClr val="D6CC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F5F5F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8"/>
          <c:min val="0"/>
        </c:scaling>
        <c:delete val="0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F5F5F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6178e910-69fb-4aa4-af07-68ded8466cef}"/>
      </c:ext>
    </c:extLst>
  </c:chart>
  <c:txPr>
    <a:bodyPr/>
    <a:lstStyle/>
    <a:p>
      <a:pPr>
        <a:defRPr lang="zh-CN" sz="1050">
          <a:solidFill>
            <a:srgbClr val="5F5F5F"/>
          </a:solidFill>
          <a:latin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3243B"/>
              </a:solidFill>
            </c:spPr>
          </c:dPt>
          <c:dPt>
            <c:idx val="1"/>
            <c:invertIfNegative val="0"/>
            <c:bubble3D val="0"/>
            <c:spPr>
              <a:solidFill>
                <a:srgbClr val="9A9A9A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5F5F5F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AgentDoS</c:v>
                </c:pt>
                <c:pt idx="1">
                  <c:v>AgentFuzz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94.7</c:v>
                </c:pt>
                <c:pt idx="1">
                  <c:v>7.9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12700" cap="rnd" cmpd="sng" algn="ctr">
            <a:solidFill>
              <a:srgbClr val="D6CC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F5F5F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"/>
          <c:min val="0"/>
        </c:scaling>
        <c:delete val="0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F5F5F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568f6d69-276f-498a-aa3e-da1d620b4548}"/>
      </c:ext>
    </c:extLst>
  </c:chart>
  <c:txPr>
    <a:bodyPr/>
    <a:lstStyle/>
    <a:p>
      <a:pPr>
        <a:defRPr lang="zh-CN" sz="1200">
          <a:solidFill>
            <a:srgbClr val="5F5F5F"/>
          </a:solidFill>
          <a:latin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3243B"/>
              </a:solidFill>
            </c:spPr>
          </c:dPt>
          <c:dPt>
            <c:idx val="1"/>
            <c:invertIfNegative val="0"/>
            <c:bubble3D val="0"/>
            <c:spPr>
              <a:solidFill>
                <a:srgbClr val="8E3A9C"/>
              </a:solidFill>
            </c:spPr>
          </c:dPt>
          <c:dPt>
            <c:idx val="2"/>
            <c:invertIfNegative val="0"/>
            <c:bubble3D val="0"/>
            <c:spPr>
              <a:solidFill>
                <a:srgbClr val="8E3A9C"/>
              </a:solidFill>
            </c:spPr>
          </c:dPt>
          <c:dPt>
            <c:idx val="3"/>
            <c:invertIfNegative val="0"/>
            <c:bubble3D val="0"/>
            <c:spPr>
              <a:solidFill>
                <a:srgbClr val="8E3A9C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50" b="0" i="0" u="none" strike="noStrike" kern="1200" baseline="0">
                    <a:solidFill>
                      <a:srgbClr val="5F5F5F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完整 AgentDoS</c:v>
                </c:pt>
                <c:pt idx="1">
                  <c:v>去掉 种子生成</c:v>
                </c:pt>
                <c:pt idx="2">
                  <c:v>去掉 种子调度</c:v>
                </c:pt>
                <c:pt idx="3">
                  <c:v>去掉 变异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94.7</c:v>
                </c:pt>
                <c:pt idx="1">
                  <c:v>81.6</c:v>
                </c:pt>
                <c:pt idx="2">
                  <c:v>65.7</c:v>
                </c:pt>
                <c:pt idx="3">
                  <c:v>42.1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12700" cap="rnd" cmpd="sng" algn="ctr">
            <a:solidFill>
              <a:srgbClr val="D6CC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5F5F5F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"/>
          <c:min val="0"/>
        </c:scaling>
        <c:delete val="0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5F5F5F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d720077-3826-46b5-859a-0ed76005f737}"/>
      </c:ext>
    </c:extLst>
  </c:chart>
  <c:txPr>
    <a:bodyPr/>
    <a:lstStyle/>
    <a:p>
      <a:pPr>
        <a:defRPr lang="zh-CN" sz="1250">
          <a:solidFill>
            <a:srgbClr val="5F5F5F"/>
          </a:solidFill>
          <a:latin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9A9A9A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8E3A9C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C27C0E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A3243B"/>
              </a:solidFill>
              <a:ln w="19050">
                <a:solidFill>
                  <a:srgbClr val="FFFFFF"/>
                </a:solidFill>
              </a:ln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不可控</c:v>
                </c:pt>
                <c:pt idx="1">
                  <c:v>上下文窗口</c:v>
                </c:pt>
                <c:pt idx="2">
                  <c:v>输入受限</c:v>
                </c:pt>
                <c:pt idx="3">
                  <c:v>真实漏报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95.15</c:v>
                </c:pt>
                <c:pt idx="1">
                  <c:v>0.97</c:v>
                </c:pt>
                <c:pt idx="2">
                  <c:v>1.94</c:v>
                </c:pt>
                <c:pt idx="3">
                  <c:v>1.94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a6ed9476-a8ff-45be-8a6a-eaa173d67ec8}"/>
      </c:ext>
    </c:extLst>
  </c:chart>
  <c:txPr>
    <a:bodyPr/>
    <a:lstStyle/>
    <a:p>
      <a:pPr>
        <a:defRPr lang="zh-CN" sz="1800">
          <a:latin typeface="微软雅黑" panose="020B0503020204020204" pitchFamily="34" charset="-122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89A90-2D1D-4836-8583-64A3BFE416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1A336-3E87-4CB5-9EB6-D235612FE2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 0:25】</a:t>
            </a:r>
          </a:p>
          <a:p>
            <a:r>
              <a:t>各位老师同学好，我今天汇报的论文是复旦大学团队发表在 USENIX Security 2026 的</a:t>
            </a:r>
          </a:p>
          <a:p>
            <a:r>
              <a:t>《Autonomy Comes with Costs》，研究的是 LLM Agent 因“资源滥用”导致的拒绝服务（DoS）漏洞，</a:t>
            </a:r>
          </a:p>
          <a:p>
            <a:r>
              <a:t>并提出了自动化检测工具 AgentDoS。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1A336-3E87-4CB5-9EB6-D235612FE2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0:20】</a:t>
            </a:r>
          </a:p>
          <a:p>
            <a:r>
              <a:t>汇报分五部分：背景动机、问题剖析、方法设计、实验评估，最后是案例讨论和我的一些思考。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0:10】</a:t>
            </a:r>
          </a:p>
          <a:p>
            <a:r>
              <a:t>进入第01部分：研究背景与动机。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0:50】</a:t>
            </a:r>
          </a:p>
          <a:p>
            <a:r>
              <a:t>先回顾 Agent 的工作流程：用户在一个会话里发出请求，Agent 把它和系统提示拼在一起发给 LLM，</a:t>
            </a:r>
          </a:p>
          <a:p>
            <a:r>
              <a:t>LLM 返回要调用的工具和参数，Agent 再去执行，比如下载一个文件。用户可以在同一会话继续追问，也可以新开会话。</a:t>
            </a:r>
          </a:p>
          <a:p>
            <a:r>
              <a:t>这里有三个特点：自主执行、以 Web 服务公开暴露、资源密集。</a:t>
            </a:r>
          </a:p>
          <a:p>
            <a:r>
              <a:t>传统软件的资源用量由固定的业务逻辑决定，而 Agent 把“做多少”交给了 LLM，这就是论文标题 Autonomy Comes with Costs 的含义。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1:15】</a:t>
            </a:r>
          </a:p>
          <a:p>
            <a:r>
              <a:t>这是全文最核心的观察。作者看了 20 个流行 Agent 的源码，按资源“什么时候被释放”分成三类。</a:t>
            </a:r>
          </a:p>
          <a:p>
            <a:r>
              <a:t>短生命周期：一轮对话结束就释放，攻击者必须在一条 prompt 里把资源打满；</a:t>
            </a:r>
          </a:p>
          <a:p>
            <a:r>
              <a:t>长生命周期：比如会话历史，跨多轮保留，会话结束才释放，攻击者可以在同一会话里不断累积；</a:t>
            </a:r>
          </a:p>
          <a:p>
            <a:r>
              <a:t>全生命周期：分配了就永远不释放，比如下载到磁盘的文件，攻击者可以跨会话反复累积。</a:t>
            </a:r>
          </a:p>
          <a:p>
            <a:r>
              <a:t>注意这个分类直接决定了检测策略：如果检测器每次都开新会话，就永远打不穿长生命周期资源——这正是已有工具 AgentFuzz 漏报的原因之一。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1:00】</a:t>
            </a:r>
          </a:p>
          <a:p>
            <a:r>
              <a:t>这是作者在一个主流开源 Agent 平台上发现的真实漏洞，已分配 CVE。</a:t>
            </a:r>
          </a:p>
          <a:p>
            <a:r>
              <a:t>代码很简单：chat 接口每会话最多 10 轮；Download 工具下载文件有 30 秒超时，写入工作目录（红色高亮这一行）；</a:t>
            </a:r>
          </a:p>
          <a:p>
            <a:r>
              <a:t>新建会话只是重新构造 ChatSession 对象，内存被 GC 回收，但是磁盘上的文件没人删。</a:t>
            </a:r>
          </a:p>
          <a:p>
            <a:r>
              <a:t>攻击者只需要一条看起来完全正常的下载请求，重复 1000 次、每次新建会话，就能把磁盘写满。</a:t>
            </a:r>
          </a:p>
          <a:p>
            <a:r>
              <a:t>开发者做了“单轮限制”，但缺少“全局限制”。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0:55】</a:t>
            </a:r>
          </a:p>
          <a:p>
            <a:r>
              <a:t>为什么已有工具抓不到这类漏洞？表格从四个维度对比。</a:t>
            </a:r>
          </a:p>
          <a:p>
            <a:r>
              <a:t>传统 DoS 检测主要做 CPU，比如 ReDoS；内存泄漏工具依赖成熟框架的生命周期约定；</a:t>
            </a:r>
          </a:p>
          <a:p>
            <a:r>
              <a:t>最相关的 AgentFuzz 能生成有语义的 prompt，但它面向的是污点型漏洞，没有资源反馈，而且每次都开新会话。</a:t>
            </a:r>
          </a:p>
          <a:p>
            <a:r>
              <a:t>所以在本文基准上 AgentFuzz 的召回率只有 7.9%。</a:t>
            </a:r>
          </a:p>
          <a:p>
            <a:r>
              <a:t>另外，像 OverThink 这类 LLM 推理层 DoS 打的是模型服务商，和本文所说的 Agent 实现层是两个层次。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0:10】</a:t>
            </a:r>
          </a:p>
          <a:p>
            <a:r>
              <a:t>进入第02部分：问题剖析与核心洞见。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0:55】</a:t>
            </a:r>
          </a:p>
          <a:p>
            <a:r>
              <a:t>作者把根因归结为两点。</a:t>
            </a:r>
          </a:p>
          <a:p>
            <a:r>
              <a:t>第一，生命周期管理失当：Agent 需要上下文，且 LLM 决定后面用什么，开发者无法判断哪些资源可以释放，于是倾向于全部保留。</a:t>
            </a:r>
          </a:p>
          <a:p>
            <a:r>
              <a:t>第二，资源大小限制缺失或不完整：单次限制可以通过多次、跨会话来绕过；但限制太严又会影响 Agent 完成任务——这是安全和可用性之间的两难。</a:t>
            </a:r>
          </a:p>
          <a:p>
            <a:r>
              <a:t>威胁模型很弱：攻击者只是一个普通的远程用户，通过公开接口发 prompt，不需要提示注入，也不需要任何特权。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0:55】</a:t>
            </a:r>
          </a:p>
          <a:p>
            <a:r>
              <a:t>要自动化检测，有两大挑战。</a:t>
            </a:r>
          </a:p>
          <a:p>
            <a:r>
              <a:t>挑战一：生命周期没有文档，怎么判断？洞见一：看代码本身——看资源在单轮处理逻辑里是否被释放，再看会话删除逻辑里是否被清理。</a:t>
            </a:r>
          </a:p>
          <a:p>
            <a:r>
              <a:t>挑战二：prompt 既要触发功能又要大量耗资源，传统变异做不到。洞见二：组件的类名方法名、系统提示和代码已经暴露了功能和耗资源的方式，</a:t>
            </a:r>
          </a:p>
          <a:p>
            <a:r>
              <a:t>用 LLM 去理解它们，并以“语义相似度 + 实际资源用量”作为反馈迭代生成。这两个洞见分别对应方法的两个阶段。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0:10】</a:t>
            </a:r>
          </a:p>
          <a:p>
            <a:r>
              <a:t>进入第03部分：AgentDoS 方法设计。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1:00】</a:t>
            </a:r>
          </a:p>
          <a:p>
            <a:r>
              <a:t>这是整体架构。AgentDoS 是一个“定向灰盒模糊测试”框架，分两个阶段。</a:t>
            </a:r>
          </a:p>
          <a:p>
            <a:r>
              <a:t>阶段一是静态分析：用 CodeQL 找到会消耗内存或磁盘的操作（sink），判定其资源生命周期，再过滤掉不受用户控制或有严格限制的，只保留可利用候选。</a:t>
            </a:r>
          </a:p>
          <a:p>
            <a:r>
              <a:t>阶段二是动态模糊：LLM 根据系统提示和调用链生成种子 prompt，按“功能相关性 + 资源消耗”打分调度，</a:t>
            </a:r>
          </a:p>
          <a:p>
            <a:r>
              <a:t>由 Explorer 和 Exploiter 两个变异器迭代优化，按生命周期决定新会话还是同一会话发送，最后由 Oracle 观察服务是否失去响应。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0:45】</a:t>
            </a:r>
          </a:p>
          <a:p>
            <a:r>
              <a:t>第一步是找 sink。作者只关心内存和磁盘两类资源：内存包括无限增长的容器和高开销的解析读取操作，磁盘就是写文件。找到之后，沿调用图反向遍历得到调用链，并借助 LLMSmith 的规则补全 Agent 里大量的隐式调用。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1:00】</a:t>
            </a:r>
          </a:p>
          <a:p>
            <a:r>
              <a:t>第二步判定生命周期，规则很直观。内存资源看变量作用域：只在函数内局部，函数结束就被 GC，是短生命周期；</a:t>
            </a:r>
          </a:p>
          <a:p>
            <a:r>
              <a:t>被全局变量引用时，看会话删除流程里它有没有被重新赋值，有就是长生命周期，没有就是全生命周期。</a:t>
            </a:r>
          </a:p>
          <a:p>
            <a:r>
              <a:t>磁盘资源看后续控制流里有没有删除该路径：有就是短；没有再看会话删除时是否清理：清理是长，否则是全生命周期。</a:t>
            </a:r>
          </a:p>
          <a:p>
            <a:r>
              <a:t>静态分析搞不定的动态路径由人工验证。抽样验证的准确率 95.2%。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0:45】</a:t>
            </a:r>
          </a:p>
          <a:p>
            <a:r>
              <a:t>第三步评估可利用性，用过程内污点分析判断两件事：用户能否影响这个算子，有没有显式大小约束。不同类型用不同启发式。最终只保留“可控且无约束”的算子进入动态阶段。这里是有意的过近似取舍：静态阶段负责缩小范围，确认由动态阶段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0:55】</a:t>
            </a:r>
          </a:p>
          <a:p>
            <a:r>
              <a:t>进入动态阶段。第一步生成种子。先通过 Hook LLM 调用接口拿到完整的系统提示，因为它往往分散在多个文件里静态拿不到。然后把调用链和系统提示给 LLM，采用 one-shot 加思维链的方式，生成与目标组件功能对齐的自然语言 prompt。图里是原文给的计算器示例。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1:00】</a:t>
            </a:r>
          </a:p>
          <a:p>
            <a:r>
              <a:t>第二步是调度。每个种子有两个分数。功能分衡量有没有打中目标，由 CFG 距离和 LLM 评审分组成。资源分衡量消耗了多少资源，这里按生命周期区别对待：短生命周期看峰值，长和全生命周期看一轮结束后的残留量。最后加权，并减去被选中的次数作为惩罚，避免反复变异同一个种子。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1:00】</a:t>
            </a:r>
          </a:p>
          <a:p>
            <a:r>
              <a:t>变异分两种。Explorer 负责让 prompt 命中目标组件，看调用链、系统提示和执行轨迹，找出哪段措辞导致调错组件。命中之后切换到 Exploiter，看代码片段和历史资源分，生成更耗资源的 prompt，还可以引用预先托管的大文件或深度嵌套文件的 URL。派发策略按生命周期区分：短和全生命周期每次开新会话，长生命周期在同一会话里持续发送。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0:45】</a:t>
            </a:r>
          </a:p>
          <a:p>
            <a:r>
              <a:t>Oracle 很朴素也很可靠：持续探测 Agent 接口，一旦在 sink 执行期间无响应就判为 DoS，这就是精度 100% 的原因。实现上约 1.5 千行 CodeQL 加 5.4 千行 Python，每个 Agent 接入只需不到十分钟的人工工作。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0:50】</a:t>
            </a:r>
          </a:p>
          <a:p>
            <a:r>
              <a:t>把前面的步骤串起来。静态阶段先定位写文件的 sink，发现文件后续不删、会话删除时也不清理，判定为全生命周期，并确认写入内容可控且无大小检查。动态阶段拿到系统提示，生成下载类种子，因为是全生命周期，每条 prompt 走新会话，按得分不断变异，直到 Agent 无响应，漏洞确认。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0:10】</a:t>
            </a:r>
          </a:p>
          <a:p>
            <a:r>
              <a:t>进入第04部分：实验评估。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0:50】</a:t>
            </a:r>
          </a:p>
          <a:p>
            <a:r>
              <a:t>评估用了 20 个流行开源 Agent，其中 17 个超过一万 Star，都以 Web 服务形式部署。基座模型用 GPT-4.1，温度为 0。为模拟不利条件，容器资源只给最低配置。右边是 Table 2 的节选：AutoGPT 单个应用就有 7 个漏洞、7 个 CVE。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0:55】</a:t>
            </a:r>
          </a:p>
          <a:p>
            <a:r>
              <a:t>RQ1 回答 Agent 为什么保留资源。长生命周期资源里，只有 27.4% 是真正回传给 LLM 的上下文，其余是会话初始化和供开发者看的日志。全生命周期资源里 37.9% 是下载的文件，62.1% 是运维日志。也就是说，大量保留并不是功能必需，这为后面的缓解建议提供了依据。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1:10】</a:t>
            </a:r>
          </a:p>
          <a:p>
            <a:r>
              <a:t>RQ2 看有效性。AgentDoS 一共发现 36 个零日漏洞，影响 16 个 Agent，15 个已拿到 CVE，精确率 100%，因为 Oracle 以服务实际无响应为准。漏洞里长和全生命周期的占了一大半（Table 6 统计），这是现有方法完全覆盖不到的。效率方面，每个 Agent 平均约 6 小时、约 44 美元，时间主要花在变异阶段。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1:05】</a:t>
            </a:r>
          </a:p>
          <a:p>
            <a:r>
              <a:t>RQ3 与 AgentFuzz 对比。公平起见，作者把 AgentFuzz 的 sink 换成本文识别出的算子，并使用同一个 Oracle。结果 AgentFuzz 只找到 3 个，召回 7.9%，AgentDoS 找到 36 个，召回 94.7%，提升 12 倍。AgentFuzz 漏掉的 35 个里，5 个是缺少生命周期建模，另外 30 个是它到达了 sink 但没有资源导向，没能让 Agent 真正耗尽资源。注意这个基准是作者自己构建的并集，后面讨论里会提到这一点。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0:55】</a:t>
            </a:r>
          </a:p>
          <a:p>
            <a:r>
              <a:t>消融实验验证三个模块。去掉变异后召回从 94.7% 掉到 42.1%，影响最大；去掉调度掉到 65.7%；去掉生成掉到 81.6%。这说明 LLM 迭代变异是核心，调度保证时间预算有效使用，生成提供好的起点。顺带提一句，原文正文说去掉调度漏掉 9 个，但表 4 的 FN 是 13，两处不一致，这里我以表中数字为准。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0:55】</a:t>
            </a:r>
          </a:p>
          <a:p>
            <a:r>
              <a:t>为了估计漏报，作者抽样了 103 个未被报告的 sink 人工审计。绝大多数，95% 本来就不可利用，这是过近似的预期代价；少量受上下文窗口或输入大小限制，实际不可行；真正漏报只有 2 个，比如 SuperAGI 里要用路径穿越才能逃出会被清空的目录。这两个被补进基准，所以召回是 36/38。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0:10】</a:t>
            </a:r>
          </a:p>
          <a:p>
            <a:r>
              <a:t>进入第05部分：案例、讨论与总结。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1:00】</a:t>
            </a:r>
          </a:p>
          <a:p>
            <a:r>
              <a:t>两个案例。案例一是短生命周期：一个 80k Star 的 Agent，URL 组件会遍历 LLM 给出的 URL 列表逐个抓取并放进局部列表，相同内容也不去重，一次对话里重复请求同一个大文件就能耗尽内存。案例二是长生命周期：一个 35k Star 的 Agent 把每轮输入、计划和工具输出追加到会话历史，因为默认不把历史发给 LLM，所以永远不会触到上下文上限，历史就无限增长。两个都已被开发者确认。共同点是攻击 prompt 看上去完全正常。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1:00】</a:t>
            </a:r>
          </a:p>
          <a:p>
            <a:r>
              <a:t>讨论部分。为什么这类攻击难防：第一，没有显式恶意特征，不需要提示注入；第二，攻击再委托，攻击者把资源推到临界点，之后是良性用户触发故障，真实来源被掩盖；第三，限制太严会影响 Agent 完成任务，这是安全和可用的两难。缓解上，开发者常用输入校验、大小限制、超时和配额，AutoGPT 的修复就是例子。作者建议按场景设限加去重，并持续监控、异常时暂停存储。最后一条全局计量是我结合前面根因总结的补充。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1:00】</a:t>
            </a:r>
          </a:p>
          <a:p>
            <a:r>
              <a:t>最后是局限和我的思考。作者自己承认需要源码、只覆盖内存磁盘、需要人工标注入口。我补充几点：一是基准是两种工具检出的并集再加两个补充，真实漏洞总数未知，所以召回率是相对数字；二是只对比了 AgentFuzz，而且要替换它的 sink；三是消融实验正文和表 4 的数字不一致；四是 CPU、网络、token 配额这类资源没覆盖，也值得后续研究。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0:40】</a:t>
            </a:r>
          </a:p>
          <a:p>
            <a:r>
              <a:t>总结一下：论文首次系统研究了 Agent 的资源管理，归纳出三类生命周期；提出 AgentDoS，在 20 个 Agent 中发现 36 个零日漏洞，拿到 15 个 CVE，召回率比 AgentFuzz 高 12 倍；启示是 Agent 的自主性需要配套资源治理。我的汇报到这里，谢谢大家。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 0:05】</a:t>
            </a:r>
          </a:p>
          <a:p>
            <a:r>
              <a:t>感谢大家，欢迎提问。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200" y="275794"/>
            <a:ext cx="2519770" cy="992105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600" y="92600"/>
            <a:ext cx="1015763" cy="10195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</p:spPr>
        <p:txBody>
          <a:bodyPr vert="eaVert" anchor="b"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83637" y="92600"/>
            <a:ext cx="1015763" cy="101955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em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Rectangle 6"/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72160" y="87749"/>
            <a:ext cx="1015763" cy="101955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7809" y="1731653"/>
            <a:ext cx="11396382" cy="2123126"/>
          </a:xfrm>
        </p:spPr>
        <p:txBody>
          <a:bodyPr>
            <a:normAutofit fontScale="90000"/>
          </a:bodyPr>
          <a:lstStyle/>
          <a:p>
            <a:pPr marL="0" indent="0" fontAlgn="auto">
              <a:spcAft>
                <a:spcPts val="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Autonomy Comes with Costs: Detecting Denial-of-Service Vulnerabilities  Caused by Resource Abusing in LLM-based Agents</a:t>
            </a:r>
            <a:br>
              <a:rPr lang="en-US" altLang="zh-CN" sz="2800" dirty="0"/>
            </a:b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自主性伴随着代价：检测基于大语言模型的智能体因资源滥用引发的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拒绝服务漏洞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99226" y="4617844"/>
            <a:ext cx="10993547" cy="13409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x-none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张少楚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辅导老师：</a:t>
            </a:r>
            <a:r>
              <a:rPr lang="x-none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王继龙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228" y="291675"/>
            <a:ext cx="945169" cy="86477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9226" y="6232962"/>
            <a:ext cx="1152973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Jiaqi Luo,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Jiarun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Dai,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Fengyu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Liu,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Songyang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Peng,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Youkun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Shi, Tong Bu, and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Geng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Hong, </a:t>
            </a:r>
            <a:r>
              <a:rPr lang="en-US" altLang="zh-CN" sz="1400" b="0" i="1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Fudan University;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Xudong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Pan, </a:t>
            </a:r>
            <a:r>
              <a:rPr lang="en-US" altLang="zh-CN" sz="1400" b="0" i="1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Fudan University and Shanghai Innovation Institute;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Yuan Zhang, </a:t>
            </a:r>
            <a:r>
              <a:rPr lang="en-US" altLang="zh-CN" sz="1400" b="0" i="1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Fudan University; </a:t>
            </a:r>
            <a:r>
              <a:rPr lang="en-US" altLang="zh-CN" sz="1400" b="1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USENIX Security 26</a:t>
            </a:r>
            <a:endParaRPr lang="en-US" altLang="zh-CN" sz="1400" b="1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4590288" y="1042415"/>
            <a:ext cx="603504" cy="60350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4960" y="978408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研究背景与动机</a:t>
            </a:r>
            <a:endParaRPr sz="2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41732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Agent · 资源生命周期 · 真实漏洞示例</a:t>
            </a:r>
            <a:endParaRPr sz="12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4590288" y="2029967"/>
            <a:ext cx="603504" cy="60350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4960" y="196596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问题剖析与核心洞见</a:t>
            </a:r>
            <a:endParaRPr sz="2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4960" y="24048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根因 · 威胁模型 · 两大挑战</a:t>
            </a:r>
            <a:endParaRPr sz="12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4590288" y="3017520"/>
            <a:ext cx="603504" cy="60350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4960" y="2953512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方法设计</a:t>
            </a:r>
            <a:endParaRPr sz="2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4960" y="3392424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算子建模 · 生命周期感知的定向灰盒模糊测试</a:t>
            </a:r>
            <a:endParaRPr sz="12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90288" y="4005072"/>
            <a:ext cx="603504" cy="60350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4960" y="3941063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实验评估</a:t>
            </a:r>
            <a:endParaRPr sz="2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4960" y="4379976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RQ1–RQ4：识别准确率、漏洞挖掘、对比、消融</a:t>
            </a:r>
            <a:endParaRPr sz="12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590288" y="4992624"/>
            <a:ext cx="603504" cy="60350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4960" y="492861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案例、讨论与总结</a:t>
            </a:r>
            <a:endParaRPr sz="2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4960" y="5367528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案例研究 · 隐蔽性与缓解 · 思考</a:t>
            </a:r>
            <a:endParaRPr sz="12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研究背景与动机</a:t>
            </a:r>
            <a:endParaRPr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Background &amp; Motivation</a:t>
            </a:r>
            <a:endParaRPr sz="18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0" b="1">
                <a:solidFill>
                  <a:srgbClr val="E4D3E8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01</a:t>
            </a:r>
            <a:endParaRPr sz="11000" b="1">
              <a:solidFill>
                <a:srgbClr val="E4D3E8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Agent：从“会说”到“会做”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 研究背景与动机    4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Picture 4" descr="fi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400800" cy="2776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46227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0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 1  Agent 的简化工作流（原文 Figure 1）：一次对话 = 组装系统提示 → 调用 LLM → 解析并执行动作</a:t>
            </a:r>
            <a:endParaRPr sz="10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78040" y="1572768"/>
            <a:ext cx="45079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324344" y="1801368"/>
            <a:ext cx="438912" cy="43891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09560" y="1627632"/>
            <a:ext cx="3703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自主执行</a:t>
            </a:r>
            <a:endParaRPr sz="16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09560" y="1920875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用户只给自然语言目标，LLM 自行规划并调用工具：下载文件、爬取网页、查询数据库、执行代码……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78040" y="2596896"/>
            <a:ext cx="45079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324344" y="2825496"/>
            <a:ext cx="438912" cy="43891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2651760"/>
            <a:ext cx="3703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公开暴露</a:t>
            </a:r>
            <a:endParaRPr sz="16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09560" y="2958338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Dify、AutoGPT、LangFlow 等主流 Agent 以 </a:t>
            </a:r>
            <a:r>
              <a:rPr sz="12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 服务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形式部署，任何远程用户都能发起对话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78040" y="3621024"/>
            <a:ext cx="45079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324344" y="3849624"/>
            <a:ext cx="438912" cy="43891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3675887"/>
            <a:ext cx="3703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资源密集</a:t>
            </a:r>
            <a:endParaRPr sz="16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09560" y="3995801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下载、解析、上下文记忆都在 Agent 服务器上占用 </a:t>
            </a:r>
            <a:r>
              <a:rPr sz="12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内存与磁盘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，而这些操作的规模由 LLM 决定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983480"/>
            <a:ext cx="11182985" cy="1133475"/>
          </a:xfrm>
          <a:prstGeom prst="roundRect">
            <a:avLst>
              <a:gd name="adj" fmla="val 6896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核心矛盾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传统软件的业务逻辑是固定的，资源用量可预估；Agent 把“做什么、做多少”交给了 LLM —— </a:t>
            </a: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自主性越强，资源用量越不可控</a:t>
            </a:r>
            <a:r>
              <a:rPr sz="16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。一旦缺乏资源治理，一个普通用户的几句 prompt 就可能让服务对所有人不可用（DoS）。</a:t>
            </a:r>
            <a:endParaRPr sz="16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核心观察：Agent 中资源的三类生命周期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 研究背景与动机    5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作者人工分析 20 个流行开源 Agent 的源码与文档，按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资源释放时机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归纳出三种模式：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88920" y="1874519"/>
            <a:ext cx="3246120" cy="566928"/>
          </a:xfrm>
          <a:prstGeom prst="roundRect">
            <a:avLst>
              <a:gd name="adj" fmla="val 12903"/>
            </a:avLst>
          </a:prstGeom>
          <a:noFill/>
          <a:ln w="1587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788920" y="1774063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会话 Session 1</a:t>
            </a:r>
            <a:endParaRPr sz="12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53512" y="2075688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E4D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 1 轮</a:t>
            </a:r>
            <a:endParaRPr sz="10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77639" y="2075688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E4D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 2 轮</a:t>
            </a:r>
            <a:endParaRPr sz="10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01768" y="2075688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E4D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 3 轮</a:t>
            </a:r>
            <a:endParaRPr sz="10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1463040" cy="566928"/>
          </a:xfrm>
          <a:prstGeom prst="roundRect">
            <a:avLst>
              <a:gd name="adj" fmla="val 12903"/>
            </a:avLst>
          </a:prstGeom>
          <a:noFill/>
          <a:ln w="1587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0" y="1774063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 2</a:t>
            </a:r>
            <a:endParaRPr sz="12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55080" y="2075688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E4D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 1 轮</a:t>
            </a:r>
            <a:endParaRPr sz="10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99248" y="201168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endParaRPr sz="16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2697480"/>
            <a:ext cx="11183112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282549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0076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短生命周期</a:t>
            </a:r>
            <a:endParaRPr sz="1600" b="1">
              <a:solidFill>
                <a:srgbClr val="00769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200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Short-lived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53512" y="3044952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977639" y="3044952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001768" y="3044952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355080" y="3044952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788920" y="341071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95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单轮对话结束即释放（GC 回收或显式删除）</a:t>
            </a:r>
            <a:endParaRPr sz="95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66760" y="280720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0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攻击者策略</a:t>
            </a:r>
            <a:endParaRPr sz="10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66760" y="308152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1">
                <a:solidFill>
                  <a:srgbClr val="0076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单条 prompt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内一次性耗尽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44200" y="283464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1700" b="1">
                <a:solidFill>
                  <a:srgbClr val="007698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77.3%</a:t>
            </a:r>
            <a:endParaRPr sz="1700" b="1">
              <a:solidFill>
                <a:srgbClr val="007698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378440" y="326440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算子占比*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02920" y="3886200"/>
            <a:ext cx="11183112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4014215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C27C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长生命周期</a:t>
            </a:r>
            <a:endParaRPr sz="1600" b="1">
              <a:solidFill>
                <a:srgbClr val="C27C0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4389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Long-lived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834639" y="4233672"/>
            <a:ext cx="3154680" cy="329184"/>
          </a:xfrm>
          <a:prstGeom prst="roundRect">
            <a:avLst>
              <a:gd name="adj" fmla="val 50000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281928" y="4233672"/>
            <a:ext cx="1353312" cy="329184"/>
          </a:xfrm>
          <a:prstGeom prst="roundRect">
            <a:avLst>
              <a:gd name="adj" fmla="val 50000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788920" y="459943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95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跨多轮保留，会话结束才释放（如会话上下文 / 历史）</a:t>
            </a:r>
            <a:endParaRPr sz="95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66760" y="39959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0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攻击者策略</a:t>
            </a:r>
            <a:endParaRPr sz="10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66760" y="427024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1">
                <a:solidFill>
                  <a:srgbClr val="C27C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同一会话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内多轮累积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744200" y="402336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1700" b="1">
                <a:solidFill>
                  <a:srgbClr val="C27C0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14.1%</a:t>
            </a:r>
            <a:endParaRPr sz="1700" b="1">
              <a:solidFill>
                <a:srgbClr val="C27C0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378440" y="445312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算子占比*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2920" y="5074920"/>
            <a:ext cx="11183112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全生命周期</a:t>
            </a:r>
            <a:endParaRPr sz="16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" y="5577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Full-lifecycle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834639" y="5422392"/>
            <a:ext cx="5257800" cy="329184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71800" y="542239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累积  →  永不释放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88920" y="57881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95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分配后永不释放，与 Agent 进程同寿</a:t>
            </a:r>
            <a:endParaRPr sz="95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66760" y="51846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0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攻击者策略</a:t>
            </a:r>
            <a:endParaRPr sz="10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66760" y="545896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跨会话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反复交互累积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744200" y="521208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17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8.6%</a:t>
            </a:r>
            <a:endParaRPr sz="17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378440" y="564184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算子占比*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628192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5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 2025 个潜在漏洞算子按生命周期的分布（§6.2 RQ1）。生命周期同时决定了攻击者“怎么打”和检测器“怎么发 prompt”。</a:t>
            </a:r>
            <a:endParaRPr sz="95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动机示例：一个真实的磁盘耗尽 0-day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 研究背景与动机    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897880" cy="4714494"/>
          </a:xfrm>
          <a:prstGeom prst="roundRect">
            <a:avLst>
              <a:gd name="adj" fmla="val 1939"/>
            </a:avLst>
          </a:prstGeom>
          <a:solidFill>
            <a:srgbClr val="241A2B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653796" y="1495044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36675" y="1495044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19556" y="1495044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140817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50" b="0">
                <a:solidFill>
                  <a:srgbClr val="B9A9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简化代码（原文 Figure 2，CVE-2025-4**90）</a:t>
            </a:r>
            <a:endParaRPr sz="950" b="0">
              <a:solidFill>
                <a:srgbClr val="B9A9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57784" y="5002149"/>
            <a:ext cx="5788152" cy="207645"/>
          </a:xfrm>
          <a:prstGeom prst="roundRect">
            <a:avLst>
              <a:gd name="adj" fmla="val 13211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36" y="1792224"/>
            <a:ext cx="5641848" cy="42115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6CC3D6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@route.post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(</a:t>
            </a:r>
            <a:r>
              <a:rPr sz="1050">
                <a:solidFill>
                  <a:srgbClr val="F2C46D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"/chat"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)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def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chat(user_prompt):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if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session.chat_times &gt; </a:t>
            </a:r>
            <a:r>
              <a:rPr sz="1050">
                <a:solidFill>
                  <a:srgbClr val="F29E74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10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:       </a:t>
            </a:r>
            <a:r>
              <a:rPr sz="1050">
                <a:solidFill>
                  <a:srgbClr val="8FD19E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# 每会话限 10 轮</a:t>
            </a:r>
            <a:endParaRPr sz="1050">
              <a:solidFill>
                <a:srgbClr val="8FD19E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    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return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</a:t>
            </a:r>
            <a:r>
              <a:rPr sz="1050">
                <a:solidFill>
                  <a:srgbClr val="F2C46D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"Chat Times Limited!"</a:t>
            </a:r>
            <a:endParaRPr sz="1050">
              <a:solidFill>
                <a:srgbClr val="F2C46D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response = session.chat(user_prompt)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9E4EC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</a:t>
            </a:r>
            <a:endParaRPr sz="1050">
              <a:solidFill>
                <a:srgbClr val="E9E4EC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class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ChatSession: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def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chat(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self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, prompt):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    response = llm.invoke(SystemPrompt, prompt)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    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self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.memory.append((prompt, response))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    tool = Tool[response[</a:t>
            </a:r>
            <a:r>
              <a:rPr sz="1050">
                <a:solidFill>
                  <a:srgbClr val="F2C46D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"tool"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]]   </a:t>
            </a:r>
            <a:r>
              <a:rPr sz="1050">
                <a:solidFill>
                  <a:srgbClr val="8FD19E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# -&gt; Download</a:t>
            </a:r>
            <a:endParaRPr sz="1050">
              <a:solidFill>
                <a:srgbClr val="8FD19E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    tool.run(response[</a:t>
            </a:r>
            <a:r>
              <a:rPr sz="1050">
                <a:solidFill>
                  <a:srgbClr val="F2C46D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"payload"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], 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self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.workspace)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9E4EC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</a:t>
            </a:r>
            <a:endParaRPr sz="1050">
              <a:solidFill>
                <a:srgbClr val="E9E4EC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class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Download(Tool):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def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run(url, workspace):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    r = requests.get(url, timeout=</a:t>
            </a:r>
            <a:r>
              <a:rPr sz="1050">
                <a:solidFill>
                  <a:srgbClr val="F29E74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30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)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    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with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open(workspace + name, </a:t>
            </a:r>
            <a:r>
              <a:rPr sz="1050">
                <a:solidFill>
                  <a:srgbClr val="F2C46D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"wb"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) </a:t>
            </a: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as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f: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        f.write(r.content)  </a:t>
            </a:r>
            <a:r>
              <a:rPr sz="1050">
                <a:solidFill>
                  <a:srgbClr val="FF8A8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# ⚠ 文件永久留在磁盘</a:t>
            </a:r>
            <a:endParaRPr sz="1050">
              <a:solidFill>
                <a:srgbClr val="FF8A8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9E4EC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</a:t>
            </a:r>
            <a:endParaRPr sz="1050">
              <a:solidFill>
                <a:srgbClr val="E9E4EC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6CC3D6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@route.post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(</a:t>
            </a:r>
            <a:r>
              <a:rPr sz="1050">
                <a:solidFill>
                  <a:srgbClr val="F2C46D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"/create"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)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7A3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def</a:t>
            </a: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create_new_session():</a:t>
            </a:r>
            <a:endParaRPr sz="1050">
              <a:solidFill>
                <a:srgbClr val="EDE7F0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0" indent="0">
              <a:lnSpc>
                <a:spcPts val="1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DE7F0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    session = ChatSession()  </a:t>
            </a:r>
            <a:r>
              <a:rPr sz="1050">
                <a:solidFill>
                  <a:srgbClr val="8FD19E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# 仅回收内存，不清磁盘</a:t>
            </a:r>
            <a:endParaRPr sz="1050">
              <a:solidFill>
                <a:srgbClr val="8FD19E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1371600"/>
            <a:ext cx="5010912" cy="1170432"/>
          </a:xfrm>
          <a:prstGeom prst="roundRect">
            <a:avLst>
              <a:gd name="adj" fmla="val 7812"/>
            </a:avLst>
          </a:prstGeom>
          <a:solidFill>
            <a:srgbClr val="43064C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0" y="144475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E6C4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攻击者 Prompt</a:t>
            </a:r>
            <a:endParaRPr sz="1100" b="1">
              <a:solidFill>
                <a:srgbClr val="E6C4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171907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“Assist me in completing the full download procedure for the resource located at example.com/file.”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32520" y="2395728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6C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重复 1000 次 · 每次新建会话</a:t>
            </a:r>
            <a:endParaRPr sz="105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693408" y="2926080"/>
            <a:ext cx="329184" cy="32918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0" y="290779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 /chat 接口提交 prompt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693408" y="3383280"/>
            <a:ext cx="329184" cy="32918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0" y="336499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依据系统提示选择 Download 工具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693408" y="3840480"/>
            <a:ext cx="329184" cy="32918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0" y="3822191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解析响应并调用工具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693408" y="4297680"/>
            <a:ext cx="329184" cy="329184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0" y="427939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下载文件并写入工作目录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693408" y="4754880"/>
            <a:ext cx="329184" cy="329184"/>
          </a:xfrm>
          <a:prstGeom prst="ellipse">
            <a:avLst/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32320" y="473659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新建会话只重置轮数与内存，</a:t>
            </a:r>
            <a:r>
              <a:rPr sz="14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磁盘文件持续累积 → 磁盘耗尽</a:t>
            </a:r>
            <a:endParaRPr sz="14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675120" y="5321808"/>
            <a:ext cx="5010912" cy="1005840"/>
          </a:xfrm>
          <a:prstGeom prst="roundRect">
            <a:avLst>
              <a:gd name="adj" fmla="val 9090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0" y="5376672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关键：单轮限制 ≠ 全局限制</a:t>
            </a:r>
            <a:endParaRPr sz="13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 s 超时把单次下载限制在约 300 MB、每会话 ≤10 轮，但跨会话的累计用量无人检查。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为什么现有方法检测不到？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 研究背景与动机    7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863837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10640"/>
                <a:gridCol w="1884044"/>
                <a:gridCol w="1023937"/>
                <a:gridCol w="1187767"/>
                <a:gridCol w="1269682"/>
                <a:gridCol w="118776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方法类别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代表工作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关注资源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生命周期建模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语义有效 prompt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资源导向反馈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CPU 型 DoS 检测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ReDoS、算法复杂度（SlowFuzz、PerfFuzz…）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CPU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326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✗</a:t>
                      </a:r>
                      <a:endParaRPr sz="1100" b="0">
                        <a:solidFill>
                          <a:srgbClr val="B326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326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✗  比特翻转变异</a:t>
                      </a:r>
                      <a:endParaRPr sz="1100" b="0">
                        <a:solidFill>
                          <a:srgbClr val="B326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7D5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✓  CPU 路径</a:t>
                      </a:r>
                      <a:endParaRPr sz="1100" b="0">
                        <a:solidFill>
                          <a:srgbClr val="2E7D5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内存耗尽 / 泄漏检测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MEMLOCK、Medusa、Smoke…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△ 依赖成熟框架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326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✗</a:t>
                      </a:r>
                      <a:endParaRPr sz="1100" b="0">
                        <a:solidFill>
                          <a:srgbClr val="B326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7D5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✓</a:t>
                      </a:r>
                      <a:endParaRPr sz="1100" b="0">
                        <a:solidFill>
                          <a:srgbClr val="2E7D5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 漏洞模糊测试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AgentFuzz（USENIX Sec'25）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污点型漏洞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326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✗ 每次新会话</a:t>
                      </a:r>
                      <a:endParaRPr sz="1100" b="0">
                        <a:solidFill>
                          <a:srgbClr val="B326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7D5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✓</a:t>
                      </a:r>
                      <a:endParaRPr sz="1100" b="0">
                        <a:solidFill>
                          <a:srgbClr val="2E7D5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B326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✗</a:t>
                      </a:r>
                      <a:endParaRPr sz="1100" b="0">
                        <a:solidFill>
                          <a:srgbClr val="B326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3064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本文</a:t>
                      </a:r>
                      <a:endParaRPr sz="1100" b="1">
                        <a:solidFill>
                          <a:srgbClr val="43064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3064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AgentDoS</a:t>
                      </a:r>
                      <a:endParaRPr sz="1100" b="1">
                        <a:solidFill>
                          <a:srgbClr val="43064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3064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 + 磁盘</a:t>
                      </a:r>
                      <a:endParaRPr sz="1100" b="1">
                        <a:solidFill>
                          <a:srgbClr val="43064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5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✓ 三类生命周期</a:t>
                      </a:r>
                      <a:endParaRPr sz="1100" b="1">
                        <a:solidFill>
                          <a:srgbClr val="2E7D5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5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✓ LLM 生成/变异</a:t>
                      </a:r>
                      <a:endParaRPr sz="1100" b="1">
                        <a:solidFill>
                          <a:srgbClr val="2E7D5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5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✓ 资源消耗评分</a:t>
                      </a:r>
                      <a:endParaRPr sz="1100" b="1">
                        <a:solidFill>
                          <a:srgbClr val="2E7D5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463040"/>
            <a:ext cx="2999232" cy="283464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2396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最相关工作 AgentFuzz</a:t>
            </a:r>
            <a:endParaRPr sz="12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23960" y="1874519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54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7.9%</a:t>
            </a:r>
            <a:endParaRPr sz="54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23960" y="2834640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0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在本文 38 个已验证漏洞的基准上的召回率 —— 能到达 sink，却“耗不够”资源；也不会在同一会话里累积。</a:t>
            </a:r>
            <a:endParaRPr sz="10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45262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现有方法的三个缺口</a:t>
            </a:r>
            <a:endParaRPr sz="15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937760"/>
            <a:ext cx="3630168" cy="1371600"/>
          </a:xfrm>
          <a:prstGeom prst="roundRect">
            <a:avLst>
              <a:gd name="adj" fmla="val 6666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7512" y="50109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资源类型</a:t>
            </a:r>
            <a:endParaRPr sz="13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" y="534924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主流 DoS 工作聚焦 CPU（正则回溯、算法复杂度），不覆盖 Agent 中更常见的内存 / 磁盘耗尽</a:t>
            </a: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79392" y="4937760"/>
            <a:ext cx="3630168" cy="1371600"/>
          </a:xfrm>
          <a:prstGeom prst="roundRect">
            <a:avLst>
              <a:gd name="adj" fmla="val 6666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43983" y="50109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</a:t>
            </a:r>
            <a:endParaRPr sz="13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43983" y="534924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内存泄漏工作依赖 Spring Bean 等成熟生态管理生命周期；Agent 多为自定义框架，缺乏文档</a:t>
            </a: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55864" y="4937760"/>
            <a:ext cx="3630168" cy="1371600"/>
          </a:xfrm>
          <a:prstGeom prst="roundRect">
            <a:avLst>
              <a:gd name="adj" fmla="val 6666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0456" y="50109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输入语义</a:t>
            </a:r>
            <a:endParaRPr sz="13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0456" y="5349240"/>
            <a:ext cx="3337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bit-flip 等底层变异无法构造“既能触发下载、又要下载 50 GB”的自然语言 prompt</a:t>
            </a: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23960" y="3657600"/>
            <a:ext cx="274383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注：LLM 推理层 DoS（如 OverThink、CRABS）攻击的是模型服务商，本文关注 Agent 实现层。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问题剖析与核心洞见</a:t>
            </a:r>
            <a:endParaRPr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Root Causes · Threat Model · Challenges &amp; Insights</a:t>
            </a:r>
            <a:endParaRPr sz="18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0" b="1">
                <a:solidFill>
                  <a:srgbClr val="E4D3E8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02</a:t>
            </a:r>
            <a:endParaRPr sz="11000" b="1">
              <a:solidFill>
                <a:srgbClr val="E4D3E8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根因剖析：自主性与资源治理的张力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 问题剖析与核心洞见    9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513832" cy="3401568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685800" y="1600199"/>
            <a:ext cx="548640" cy="548640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endParaRPr sz="1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资源生命周期管理失当</a:t>
            </a:r>
            <a:endParaRPr sz="17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194767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Mismanaged Resource Lifecycle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需跨轮保留上下文以保持对话连贯</a:t>
            </a:r>
            <a:endParaRPr sz="15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自主决定后续用什么 → 开发者 </a:t>
            </a:r>
            <a:r>
              <a:rPr sz="15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无法预知</a:t>
            </a: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哪些中间资源还会被用到</a:t>
            </a:r>
            <a:endParaRPr sz="15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为不破坏功能，倾向于 </a:t>
            </a:r>
            <a:r>
              <a:rPr sz="15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“全部保留”</a:t>
            </a: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：如下载的文件永不删除</a:t>
            </a:r>
            <a:endParaRPr sz="15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攻击者诱导不必要的分配 + 反复交互 → 冗余资源持续累积</a:t>
            </a:r>
            <a:endParaRPr sz="15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513832" cy="3401568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355080" y="1600199"/>
            <a:ext cx="548640" cy="548640"/>
          </a:xfrm>
          <a:prstGeom prst="ellipse">
            <a:avLst/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endParaRPr sz="1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0880" y="158191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资源大小限制缺失或不完整</a:t>
            </a:r>
            <a:endParaRPr sz="17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0" y="194767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Lack of Resource Size Limits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下载工具的 timeout、size 等参数可由 LLM 配置</a:t>
            </a:r>
            <a:endParaRPr sz="15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直接下载超过剩余磁盘空间的大文件 → 一次打满</a:t>
            </a:r>
            <a:endParaRPr sz="15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单次限制可被绕过：30 s 超时 ≈ 300 MB/次，但 </a:t>
            </a:r>
            <a:r>
              <a:rPr sz="15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跨会话多次下载</a:t>
            </a: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照样耗尽</a:t>
            </a:r>
            <a:endParaRPr sz="15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反之限制过严 → 文献综述等任务无法完成（</a:t>
            </a:r>
            <a:r>
              <a:rPr sz="15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 vs. 可用</a:t>
            </a:r>
            <a:r>
              <a:rPr sz="15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sz="15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983480"/>
            <a:ext cx="11183112" cy="1371600"/>
          </a:xfrm>
          <a:prstGeom prst="roundRect">
            <a:avLst>
              <a:gd name="adj" fmla="val 6666"/>
            </a:avLst>
          </a:prstGeom>
          <a:solidFill>
            <a:srgbClr val="430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505663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E6C4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威胁模型</a:t>
            </a:r>
            <a:endParaRPr sz="1400" b="1">
              <a:solidFill>
                <a:srgbClr val="E6C4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541324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攻击者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E8DD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远程普通用户，仅通过公开 Web 接口发送 prompt（无需特权、无需 prompt 注入）</a:t>
            </a:r>
            <a:endParaRPr sz="1100" b="0">
              <a:solidFill>
                <a:srgbClr val="E8DD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541324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前提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566928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E8DD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与开发者均良性，运行环境未被攻陷</a:t>
            </a:r>
            <a:endParaRPr sz="1100" b="0">
              <a:solidFill>
                <a:srgbClr val="E8DD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6720" y="541324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0" y="566928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E8DD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诱导 Agent 过量消耗内存 / 磁盘 → 服务对所有用户不可用</a:t>
            </a:r>
            <a:endParaRPr sz="1100" b="0">
              <a:solidFill>
                <a:srgbClr val="E8DD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两大挑战  →  两个关键洞见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 问题剖析与核心洞见    10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4892040" cy="2212848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挑战 I</a:t>
            </a:r>
            <a:endParaRPr sz="1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16276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如何识别资源的生命周期？</a:t>
            </a:r>
            <a:endParaRPr sz="145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多基于自定义框架，资源管理鲜有文档；难以判断某资源在单轮后释放、会话结束释放，还是永驻</a:t>
            </a:r>
            <a:endParaRPr sz="14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577840" y="2286000"/>
            <a:ext cx="685800" cy="548640"/>
          </a:xfrm>
          <a:prstGeom prst="rightArrow">
            <a:avLst/>
          </a:prstGeom>
          <a:solidFill>
            <a:srgbClr val="E6C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46520" y="1463040"/>
            <a:ext cx="5239512" cy="2212848"/>
          </a:xfrm>
          <a:prstGeom prst="roundRect">
            <a:avLst>
              <a:gd name="adj" fmla="val 4132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675120" y="166420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洞见 I</a:t>
            </a:r>
            <a:endParaRPr sz="1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0" y="162763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实现逻辑驱动的生命周期判定</a:t>
            </a:r>
            <a:endParaRPr sz="145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2176272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 Agent 的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单轮对话处理逻辑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与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会话删除逻辑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：只在单轮内分配且被显式释放 → 短；会话删除时被释放 → 长；否则 → 全生命周期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4892040" cy="2212848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31520" y="41330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挑战 II</a:t>
            </a:r>
            <a:endParaRPr sz="1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800" y="409651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如何生成能真正触发资源滥用的 prompt？</a:t>
            </a:r>
            <a:endParaRPr sz="145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4645152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 需同时 </a:t>
            </a:r>
            <a:r>
              <a:rPr sz="14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激活特定功能</a:t>
            </a:r>
            <a:r>
              <a:rPr sz="14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（如“下载…”）并 </a:t>
            </a:r>
            <a:r>
              <a:rPr sz="14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诱发大量消耗</a:t>
            </a:r>
            <a:r>
              <a:rPr sz="14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（如“下载 50 GB 文件”）；bit-flip 无法操控语义，AgentFuzz 不关心资源</a:t>
            </a:r>
            <a:endParaRPr sz="14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577840" y="4754880"/>
            <a:ext cx="685800" cy="548640"/>
          </a:xfrm>
          <a:prstGeom prst="rightArrow">
            <a:avLst/>
          </a:prstGeom>
          <a:solidFill>
            <a:srgbClr val="E6C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446520" y="3931920"/>
            <a:ext cx="5239512" cy="2212848"/>
          </a:xfrm>
          <a:prstGeom prst="roundRect">
            <a:avLst>
              <a:gd name="adj" fmla="val 4132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675120" y="41330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洞见 II</a:t>
            </a:r>
            <a:endParaRPr sz="1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0" y="409651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辅助的资源消耗型 prompt 生成</a:t>
            </a:r>
            <a:endParaRPr sz="145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5120" y="4645152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类名/方法名、系统提示、周边代码同时揭示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功能意图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与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耗资源方式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；以 prompt 与组件的语义相似度 + 运行时资源用量作为反馈，让 LLM 迭代优化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方法设计</a:t>
            </a:r>
            <a:endParaRPr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Lifecycle-aware Directed Grey-box Fuzzing</a:t>
            </a:r>
            <a:endParaRPr sz="18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0" b="1">
                <a:solidFill>
                  <a:srgbClr val="E4D3E8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03</a:t>
            </a:r>
            <a:endParaRPr sz="11000" b="1">
              <a:solidFill>
                <a:srgbClr val="E4D3E8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总体架构：定向灰盒模糊测试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12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Picture 4" descr="fig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83112" cy="3255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4515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0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 2  AgentDoS 架构（原文 Figure 3）</a:t>
            </a:r>
            <a:endParaRPr sz="10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55138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85800" y="5138928"/>
            <a:ext cx="3931920" cy="310896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阶段一  算子建模（静态分析 · CodeQL）</a:t>
            </a:r>
            <a:endParaRPr sz="1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5504688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定位资源消耗 sink → 判定资源生命周期 → 过程内污点分析评估可利用性 → 输出调用链与代码片段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5029200"/>
            <a:ext cx="55138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355080" y="5138928"/>
            <a:ext cx="3931920" cy="310896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阶段二  动态模糊测试（LLM 驱动）</a:t>
            </a:r>
            <a:endParaRPr sz="1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5504688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系统提示 + 调用链生成种子 → 功能/资源双维评分调度 → Explorer/Exploiter 变异 → 按生命周期派发 → Oracle 判定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阶段一 ①：定位资源消耗算子（Sink）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13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只关注两类资源：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与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磁盘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；预定义 sink 见原文附录 Table 5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363016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 · 可无限增长的容器</a:t>
            </a:r>
            <a:endParaRPr sz="13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内置容器的插入操作：</a:t>
            </a:r>
            <a:r>
              <a:rPr sz="10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list.append/extend</a:t>
            </a: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sz="10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set.add/update</a:t>
            </a: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sz="10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dict.update</a:t>
            </a:r>
            <a:endParaRPr sz="1050" b="0">
              <a:solidFill>
                <a:srgbClr val="8A1C5A"/>
              </a:solidFill>
              <a:latin typeface="Consolas" panose="020B0609020204030204"/>
              <a:ea typeface="微软雅黑" panose="020B0503020204020204" pitchFamily="34" charset="-122"/>
              <a:cs typeface="Consolas" panose="020B0609020204030204"/>
            </a:endParaRPr>
          </a:p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容器持有用户可控输入的引用，容量无上界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79392" y="1874519"/>
            <a:ext cx="363016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416552" y="2057400"/>
            <a:ext cx="457200" cy="457200"/>
          </a:xfrm>
          <a:prstGeom prst="ellipse">
            <a:avLst/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65192" y="20574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C27C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 · 高开销的解析 / 读取</a:t>
            </a:r>
            <a:endParaRPr sz="1300" b="1">
              <a:solidFill>
                <a:srgbClr val="C27C0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7992" y="274320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C27C0E"/>
              </a:buClr>
              <a:buSzPct val="100000"/>
              <a:buFont typeface="Arial" panose="020B0604020202020204"/>
              <a:buChar char="•"/>
            </a:pPr>
            <a:r>
              <a:rPr sz="10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BeautifulSoup</a:t>
            </a: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sz="10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html5lib.parse</a:t>
            </a: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：深层嵌套 HTML 易引发内存暴涨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C27C0E"/>
              </a:buClr>
              <a:buSzPct val="100000"/>
              <a:buFont typeface="Arial" panose="020B0604020202020204"/>
              <a:buChar char="•"/>
            </a:pPr>
            <a:r>
              <a:rPr sz="10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requests / urllib3 / aiohttp / httpx</a:t>
            </a: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的 get·post·request：响应体整体读入内存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55864" y="1874519"/>
            <a:ext cx="363016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193024" y="2057400"/>
            <a:ext cx="457200" cy="457200"/>
          </a:xfrm>
          <a:prstGeom prst="ellipse">
            <a:avLst/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41664" y="20574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磁盘 · 写操作</a:t>
            </a:r>
            <a:endParaRPr sz="13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84464" y="274320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0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TextIOWrapper.write/writelines</a:t>
            </a: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sz="10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aiofiles</a:t>
            </a: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异步写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直接增加磁盘占用；落盘路径可追踪其后续是否被删除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83112" cy="1691640"/>
          </a:xfrm>
          <a:prstGeom prst="roundRect">
            <a:avLst>
              <a:gd name="adj" fmla="val 5405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690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两个工程细节</a:t>
            </a:r>
            <a:endParaRPr sz="13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5000"/>
              </a:lnSpc>
              <a:spcAft>
                <a:spcPts val="5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2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成员变量归因到调用者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：sink 操作的是类成员（如 </a:t>
            </a:r>
            <a:r>
              <a:rPr sz="110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self.memory.append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）时，把 callsite 记为其调用处而非操作自身，上下文更准确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5000"/>
              </a:lnSpc>
              <a:spcAft>
                <a:spcPts val="5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2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补全隐式调用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：从每个 sink 反向遍历所有调用路径，并采用 LLMSmith 的规则增强 Agent 的调用图（Agent 中隐式调用很多）；最终以 sink 所在函数作为代码片段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阶段一 ②：基于实现逻辑判定资源生命周期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14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人工标出两类入口（单轮对话 API、会话删除 API），从入口构造前向 CFG，再按下列规则判定：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内存资源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变量作用域？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46120" y="224028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被全局变量引用？</a:t>
            </a:r>
            <a:endParaRPr sz="10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会话删除时被重新赋值？</a:t>
            </a:r>
            <a:endParaRPr sz="10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697480" y="2606040"/>
            <a:ext cx="548640" cy="0"/>
          </a:xfrm>
          <a:prstGeom prst="line">
            <a:avLst/>
          </a:prstGeom>
          <a:ln w="22225">
            <a:solidFill>
              <a:srgbClr val="6608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3472" y="233172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全局引用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337560"/>
            <a:ext cx="2194560" cy="548640"/>
          </a:xfrm>
          <a:prstGeom prst="roundRect">
            <a:avLst>
              <a:gd name="adj" fmla="val 16666"/>
            </a:avLst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短生命周期（GC 回收）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600200" y="2971800"/>
            <a:ext cx="0" cy="365760"/>
          </a:xfrm>
          <a:prstGeom prst="line">
            <a:avLst/>
          </a:prstGeom>
          <a:ln w="22225">
            <a:solidFill>
              <a:srgbClr val="6608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45920" y="30175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仅函数内局部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46120" y="3337560"/>
            <a:ext cx="1143000" cy="548640"/>
          </a:xfrm>
          <a:prstGeom prst="roundRect">
            <a:avLst>
              <a:gd name="adj" fmla="val 16666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长生命周期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80560" y="3337560"/>
            <a:ext cx="1143000" cy="548640"/>
          </a:xfrm>
          <a:prstGeom prst="roundRect">
            <a:avLst>
              <a:gd name="adj" fmla="val 16666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全生命周期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2971800"/>
            <a:ext cx="0" cy="365760"/>
          </a:xfrm>
          <a:prstGeom prst="line">
            <a:avLst/>
          </a:prstGeom>
          <a:ln w="22225">
            <a:solidFill>
              <a:srgbClr val="6608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0" y="2971800"/>
            <a:ext cx="0" cy="365760"/>
          </a:xfrm>
          <a:prstGeom prst="line">
            <a:avLst/>
          </a:prstGeom>
          <a:ln w="22225">
            <a:solidFill>
              <a:srgbClr val="6608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71800" y="3044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47488" y="304495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磁盘资源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2331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 CFG 中有对该</a:t>
            </a:r>
            <a:endParaRPr sz="10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路径的删除？</a:t>
            </a:r>
            <a:endParaRPr sz="10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4000" y="2240280"/>
            <a:ext cx="254203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会话删除时</a:t>
            </a:r>
            <a:endParaRPr sz="10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文件被清理？</a:t>
            </a:r>
            <a:endParaRPr sz="10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641080" y="2606040"/>
            <a:ext cx="502920" cy="0"/>
          </a:xfrm>
          <a:prstGeom prst="line">
            <a:avLst/>
          </a:prstGeom>
          <a:ln w="22225">
            <a:solidFill>
              <a:srgbClr val="6608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95360" y="23317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09360" y="3337560"/>
            <a:ext cx="2331720" cy="548640"/>
          </a:xfrm>
          <a:prstGeom prst="roundRect">
            <a:avLst>
              <a:gd name="adj" fmla="val 16666"/>
            </a:avLst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短生命周期（立即删除）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7470648" y="2971800"/>
            <a:ext cx="0" cy="365760"/>
          </a:xfrm>
          <a:prstGeom prst="line">
            <a:avLst/>
          </a:prstGeom>
          <a:ln w="22225">
            <a:solidFill>
              <a:srgbClr val="6608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16368" y="3017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44000" y="3337560"/>
            <a:ext cx="1216152" cy="548640"/>
          </a:xfrm>
          <a:prstGeom prst="roundRect">
            <a:avLst>
              <a:gd name="adj" fmla="val 16666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长生命周期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469880" y="3337560"/>
            <a:ext cx="1216152" cy="548640"/>
          </a:xfrm>
          <a:prstGeom prst="roundRect">
            <a:avLst>
              <a:gd name="adj" fmla="val 16666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全生命周期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747504" y="2971800"/>
            <a:ext cx="0" cy="365760"/>
          </a:xfrm>
          <a:prstGeom prst="line">
            <a:avLst/>
          </a:prstGeom>
          <a:ln w="22225">
            <a:solidFill>
              <a:srgbClr val="6608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064240" y="2971800"/>
            <a:ext cx="0" cy="365760"/>
          </a:xfrm>
          <a:prstGeom prst="line">
            <a:avLst/>
          </a:prstGeom>
          <a:ln w="22225">
            <a:solidFill>
              <a:srgbClr val="6608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0" y="30449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082528" y="30449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4343400"/>
            <a:ext cx="3630168" cy="1965960"/>
          </a:xfrm>
          <a:prstGeom prst="roundRect">
            <a:avLst>
              <a:gd name="adj" fmla="val 4651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5800" y="445312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动态路径怎么办？</a:t>
            </a:r>
            <a:endParaRPr sz="15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静态分析遇到动态拼接路径、间接调用等无法判定时，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人工做动态验证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279392" y="4343400"/>
            <a:ext cx="3630168" cy="1965960"/>
          </a:xfrm>
          <a:prstGeom prst="roundRect">
            <a:avLst>
              <a:gd name="adj" fmla="val 4651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62272" y="445312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准确率</a:t>
            </a:r>
            <a:endParaRPr sz="15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62272" y="484632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5% 抽样 + </a:t>
            </a:r>
            <a:r>
              <a:rPr sz="130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weakref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运行时监控：生命周期判定准确率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95.2%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，错误主要来自 Python 静态分析的间接调用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55864" y="4343400"/>
            <a:ext cx="3630168" cy="1965960"/>
          </a:xfrm>
          <a:prstGeom prst="roundRect">
            <a:avLst>
              <a:gd name="adj" fmla="val 4651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38744" y="445312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分布</a:t>
            </a:r>
            <a:endParaRPr sz="15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38744" y="484632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 个潜在算子：短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77.3%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长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14.1%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全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8.6%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阶段一 ③：评估可利用性，过滤无效候选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15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用过程内污点分析判断：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用户能否影响该操作？是否已有明确的大小约束？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6857999" cy="31821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2176"/>
                <a:gridCol w="4235823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资源类型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判定为潜在可利用的条件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短生命周期·解析类（BeautifulSoup 等）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任一函数参数能传播进算子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短生命周期·追加类（list.append 等）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位于 </a:t>
                      </a:r>
                      <a:r>
                        <a:rPr sz="1150" b="1">
                          <a:solidFill>
                            <a:srgbClr val="66087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迭代次数依赖用户输入</a:t>
                      </a:r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的循环内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 / 全生命周期·内存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保守假设：只要用户输入能传播进算子即视为可疑（不要求循环结构）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磁盘写入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函数输入能影响写入内容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大小约束检测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自算子反向分析，若存在限制 sink 执行的大小条件检查 → 视为有约束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828800"/>
            <a:ext cx="4050791" cy="3182112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1812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输出：算子特征（Table 1）</a:t>
            </a:r>
            <a:endParaRPr sz="13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8120" y="233172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spcAft>
                <a:spcPts val="4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Operator · Location · Type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spcAft>
                <a:spcPts val="4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Lifecycle（S / L / F）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spcAft>
                <a:spcPts val="4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Snippet · Call Chain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spcAft>
                <a:spcPts val="4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Controllable（可控）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spcAft>
                <a:spcPts val="4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Constraints（有约束）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18120" y="4114800"/>
            <a:ext cx="3685032" cy="713232"/>
          </a:xfrm>
          <a:prstGeom prst="roundRect">
            <a:avLst>
              <a:gd name="adj" fmla="val 12820"/>
            </a:avLst>
          </a:prstGeom>
          <a:solidFill>
            <a:srgbClr val="430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6C4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仅保留  Controllable = True  且  Constraints = False</a:t>
            </a:r>
            <a:endParaRPr sz="1150" b="1">
              <a:solidFill>
                <a:srgbClr val="E6C4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5257800"/>
            <a:ext cx="11183112" cy="1051560"/>
          </a:xfrm>
          <a:prstGeom prst="roundRect">
            <a:avLst>
              <a:gd name="adj" fmla="val 8695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5285232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取舍</a:t>
            </a: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：过程内分析 + 过近似 → 速度快、不漏报，代价是会混入一些并不可利用的算子（RQ2 中 95.15% 的“未报告 sink”正是此类）。因此 </a:t>
            </a:r>
            <a:r>
              <a:rPr sz="14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静态阶段负责“缩小范围”，真正的确认交给动态阶段的实际资源监控</a:t>
            </a: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阶段二 ①：基于系统提示与调用链生成种子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16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30168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662940" y="1623060"/>
            <a:ext cx="502920" cy="502920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提取系统提示</a:t>
            </a:r>
            <a:endParaRPr sz="15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系统提示分散在多文件、动态拼接（如 Langflow），静态难还原</a:t>
            </a:r>
            <a:endParaRPr sz="13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运行时 Hook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LLM API（如 OpenAI），发固定输入 “hi”，截取 system 字段；每个 Agent 仅需一次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79392" y="1417320"/>
            <a:ext cx="3630168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439412" y="1623060"/>
            <a:ext cx="502920" cy="502920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56631" y="1645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推断功能意图</a:t>
            </a:r>
            <a:endParaRPr sz="15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7992" y="233172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输入：调用链 + 系统提示</a:t>
            </a:r>
            <a:endParaRPr sz="13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07992" y="32004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类名/方法名（如 Download）与系统提示共同揭示组件功能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55864" y="1417320"/>
            <a:ext cx="3630168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215883" y="1623060"/>
            <a:ext cx="502920" cy="502920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33104" y="1645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生成功能相关种子</a:t>
            </a:r>
            <a:endParaRPr sz="15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84464" y="233172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one-shot + CoT</a:t>
            </a:r>
            <a:r>
              <a:rPr sz="13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：给出一个“调用链→系统提示→成功 prompt→解释”的范例</a:t>
            </a:r>
            <a:endParaRPr sz="13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84464" y="32004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输出自然语言 prompt，使其语义与目标功能对齐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434840"/>
            <a:ext cx="11183112" cy="1874519"/>
          </a:xfrm>
          <a:prstGeom prst="roundRect">
            <a:avLst>
              <a:gd name="adj" fmla="val 4878"/>
            </a:avLst>
          </a:prstGeom>
          <a:solidFill>
            <a:srgbClr val="43064C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5079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E6C4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示例（原文 PROMPT 1，良性演示）</a:t>
            </a:r>
            <a:endParaRPr sz="1100" b="1">
              <a:solidFill>
                <a:srgbClr val="E6C4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50" b="0">
                <a:solidFill>
                  <a:srgbClr val="E8DD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  调用链：calculator → result.append()</a:t>
            </a:r>
            <a:endParaRPr sz="1150" b="0">
              <a:solidFill>
                <a:srgbClr val="E8DD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150" b="0">
                <a:solidFill>
                  <a:srgbClr val="E8DD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系统提示：You can use the following tools: 1. Calculator …</a:t>
            </a:r>
            <a:endParaRPr sz="1150" b="0">
              <a:solidFill>
                <a:srgbClr val="E8DD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5989320" y="5029200"/>
            <a:ext cx="548640" cy="411480"/>
          </a:xfrm>
          <a:prstGeom prst="rightArrow">
            <a:avLst/>
          </a:prstGeom>
          <a:solidFill>
            <a:srgbClr val="E6C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720840" y="4709160"/>
            <a:ext cx="4754880" cy="1371600"/>
          </a:xfrm>
          <a:prstGeom prst="roundRect">
            <a:avLst>
              <a:gd name="adj" fmla="val 6666"/>
            </a:avLst>
          </a:prstGeom>
          <a:solidFill>
            <a:srgbClr val="3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03720" y="4800600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sz="1100" b="1">
                <a:solidFill>
                  <a:srgbClr val="E6C4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  种子 prompt</a:t>
            </a:r>
            <a:endParaRPr sz="1100" b="1">
              <a:solidFill>
                <a:srgbClr val="E6C4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“Please use the calculator to evaluate the following expression: 3 * (4 + 5).”</a:t>
            </a:r>
            <a:endParaRPr sz="12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阶段二 ②：双维反馈的种子调度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17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一个能触发 DoS 的 prompt 必须同时具备两种语义：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调用目标组件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诱发资源消耗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，因此分别打分再加权：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63016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功能分  Fs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3264408" cy="640080"/>
          </a:xfrm>
          <a:prstGeom prst="roundRect">
            <a:avLst>
              <a:gd name="adj" fmla="val 11428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Fs = x^-k + Ls</a:t>
            </a:r>
            <a:endParaRPr sz="17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x：执行轨迹到 sink 的最短 CFG 距离，k = 1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Ls：LLM-as-a-Judge 对清晰度、简洁度、相关性各打 0–5 分求和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衡量“是否打中了目标功能”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79392" y="1828800"/>
            <a:ext cx="363016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462272" y="19659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资源分  Rs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62272" y="2423160"/>
            <a:ext cx="3264408" cy="640080"/>
          </a:xfrm>
          <a:prstGeom prst="roundRect">
            <a:avLst>
              <a:gd name="adj" fmla="val 11428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Rs = (m - mi) / mt x 100</a:t>
            </a:r>
            <a:endParaRPr sz="17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7992" y="320040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短生命周期：m = 执行期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峰值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用量 mₘ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 / 全生命周期：m = 一次会话结束后的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残留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用量 mₑ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mᵢ 为初始用量，mₜ 为系统总资源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55864" y="1828800"/>
            <a:ext cx="363016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38744" y="19659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430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最终得分  Ss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38744" y="2423160"/>
            <a:ext cx="3264408" cy="640080"/>
          </a:xfrm>
          <a:prstGeom prst="roundRect">
            <a:avLst>
              <a:gd name="adj" fmla="val 11428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43064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Ss = α·Fs + β·Rs - N</a:t>
            </a:r>
            <a:endParaRPr sz="1700" b="1">
              <a:solidFill>
                <a:srgbClr val="43064C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84464" y="320040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43064C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 = β = 0.5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43064C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N：该种子被选中的次数 →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惩罚项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，避免陷入局部最优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43064C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每轮选 Ss 最高者进入变异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为什么按生命周期区分资源分？</a:t>
            </a: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短生命周期资源要在单次执行中耗尽 → 看峰值；长 / 全生命周期资源靠多轮累积 → 看一轮之后“留下了多少”，这才反映可累积的程度。</a:t>
            </a:r>
            <a:endParaRPr sz="12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阶段二 ③：Explorer / Exploiter 双变异器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18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 </a:t>
            </a: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Reflexion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：为每个种子维护独立的变异历史（新 prompt、推理过程、执行轨迹、得分），让 LLM 从失败中学习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513832" cy="283464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Explorer · 探索者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目标：让 prompt 触达目标 sink（默认使用）</a:t>
            </a:r>
            <a:endParaRPr sz="13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0749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输入：调用链、系统提示、历史 prompt、执行轨迹、功能分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分析哪一段措辞让 Agent 调错了组件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参考历史避免重复错误，修正语义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513832" cy="283464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Exploiter · 利用者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目标：触达 sink 后，放大资源消耗</a:t>
            </a:r>
            <a:endParaRPr sz="13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50749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输入：代码片段、历史 prompt、对应资源分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归纳高消耗 prompt 的模式并生成更“耗资源”的新输入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可引用预置的测试资源 URL（大文件、深度嵌套 HTML/XML）供 Agent 抓取解析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824728" y="2926080"/>
            <a:ext cx="457200" cy="457200"/>
          </a:xfrm>
          <a:prstGeom prst="rightArrow">
            <a:avLst/>
          </a:prstGeom>
          <a:solidFill>
            <a:srgbClr val="E6C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生命周期感知的派发策略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5166360"/>
            <a:ext cx="3630168" cy="1143000"/>
          </a:xfrm>
          <a:prstGeom prst="roundRect">
            <a:avLst>
              <a:gd name="adj" fmla="val 8000"/>
            </a:avLst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523036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短生命周期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5559552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3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新会话 · 单条 prompt 必须打满</a:t>
            </a:r>
            <a:endParaRPr sz="13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sz="13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输出：最终的单条 prompt</a:t>
            </a:r>
            <a:endParaRPr sz="13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79392" y="5166360"/>
            <a:ext cx="3630168" cy="1143000"/>
          </a:xfrm>
          <a:prstGeom prst="roundRect">
            <a:avLst>
              <a:gd name="adj" fmla="val 8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62272" y="523036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全生命周期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62272" y="5559552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3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每次新会话 · 跨会话累积</a:t>
            </a:r>
            <a:endParaRPr sz="13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sz="13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输出：完整对话序列</a:t>
            </a:r>
            <a:endParaRPr sz="13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55864" y="5166360"/>
            <a:ext cx="3630168" cy="1143000"/>
          </a:xfrm>
          <a:prstGeom prst="roundRect">
            <a:avLst>
              <a:gd name="adj" fmla="val 8000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38744" y="523036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长生命周期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38744" y="5559552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3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同一持久会话 · 多轮累积</a:t>
            </a:r>
            <a:endParaRPr sz="13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sz="13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输出：完整对话序列</a:t>
            </a:r>
            <a:endParaRPr sz="13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Oracle 判定与实现细节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19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Bug Oracle：Agent 是否失去响应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83480" cy="178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对所有 sink callsite 插桩，持续探测 Agent Web 接口的可用性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 sink 期间 Agent 变得无响应 → 报告潜在 DoS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10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实测确认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，所以 36 个漏洞全是真阳性（Precision 100%）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1383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原型规模与单个 Agent 的接入成本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34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1.5k</a:t>
            </a:r>
            <a:endParaRPr sz="34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 CodeQL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160" y="196596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34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5.4k</a:t>
            </a:r>
            <a:endParaRPr sz="34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60" y="2606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 Python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0" y="196596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34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&lt;10</a:t>
            </a:r>
            <a:endParaRPr sz="34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75520" y="2606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 / Agent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接入只需人工标出 API 入口（如 </a:t>
            </a:r>
            <a:r>
              <a:rPr sz="100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@route.post</a:t>
            </a:r>
            <a:r>
              <a:rPr sz="11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）与启动函数，并插入准备好的插桩代码，每个 Agent 一次。</a:t>
            </a: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931920"/>
          <a:ext cx="11183111" cy="23591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63851"/>
                <a:gridCol w="931926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组件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做法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静态分析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CodeQL（FunctionInvocation / BasicBlock / TaintTracking），结果导出 SARIF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系统提示获取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Hook OpenAI API，发 “hi” 截取 system 字段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距离计算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 </a:t>
                      </a:r>
                      <a:r>
                        <a:rPr sz="1000" b="0">
                          <a:solidFill>
                            <a:srgbClr val="8A1C5A"/>
                          </a:solidFill>
                          <a:latin typeface="Consolas" panose="020B0609020204030204"/>
                          <a:ea typeface="微软雅黑" panose="020B0503020204020204" pitchFamily="34" charset="-122"/>
                          <a:cs typeface="Consolas" panose="020B0609020204030204"/>
                        </a:rPr>
                        <a:t>inspect</a:t>
                      </a:r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取栈帧 → 执行轨迹到 sink 的距离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资源监控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8A1C5A"/>
                          </a:solidFill>
                          <a:latin typeface="Consolas" panose="020B0609020204030204"/>
                          <a:ea typeface="微软雅黑" panose="020B0503020204020204" pitchFamily="34" charset="-122"/>
                          <a:cs typeface="Consolas" panose="020B0609020204030204"/>
                        </a:rPr>
                        <a:t>psutil</a:t>
                      </a:r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实时监测内存/磁盘用量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测试资源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自建深层嵌套 HTML/XML（≈15M 层、约 100 MB）、10 个约 30 GB 大文件、100 个约 100 MB 小文件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端到端走一遍：AgentDoS 如何发现前面的 0-day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AgentDoS 方法设计    20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17320" y="1371600"/>
            <a:ext cx="6583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00200" y="1371600"/>
            <a:ext cx="6309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定位磁盘写 </a:t>
            </a:r>
            <a:r>
              <a:rPr sz="130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f.write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（第 21 行）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14400" y="1828800"/>
            <a:ext cx="0" cy="256032"/>
          </a:xfrm>
          <a:prstGeom prst="line">
            <a:avLst/>
          </a:prstGeom>
          <a:ln w="15875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216712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17320" y="2075688"/>
            <a:ext cx="6583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6309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 CFG：文件后续从未被删除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914400" y="2532888"/>
            <a:ext cx="0" cy="256032"/>
          </a:xfrm>
          <a:prstGeom prst="line">
            <a:avLst/>
          </a:prstGeom>
          <a:ln w="15875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871216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17320" y="2779776"/>
            <a:ext cx="6583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600200" y="2779776"/>
            <a:ext cx="6309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会话删除逻辑：文件也不清理 → </a:t>
            </a:r>
            <a:r>
              <a:rPr sz="14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全生命周期</a:t>
            </a:r>
            <a:endParaRPr sz="14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236976"/>
            <a:ext cx="0" cy="256032"/>
          </a:xfrm>
          <a:prstGeom prst="line">
            <a:avLst/>
          </a:prstGeom>
          <a:ln w="15875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57530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417320" y="3483864"/>
            <a:ext cx="6583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600200" y="3483864"/>
            <a:ext cx="6309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写入内容经函数入参可控、无大小检查 → 保留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14400" y="3941064"/>
            <a:ext cx="0" cy="256032"/>
          </a:xfrm>
          <a:prstGeom prst="line">
            <a:avLst/>
          </a:prstGeom>
          <a:ln w="15875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" y="4279392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8E3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417320" y="4187952"/>
            <a:ext cx="6583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600200" y="4187952"/>
            <a:ext cx="6309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Hook 取系统提示，生成“下载”类种子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914400" y="4645152"/>
            <a:ext cx="0" cy="256032"/>
          </a:xfrm>
          <a:prstGeom prst="line">
            <a:avLst/>
          </a:prstGeom>
          <a:ln w="15875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" y="4983479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417320" y="4892040"/>
            <a:ext cx="6583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600200" y="4892040"/>
            <a:ext cx="6309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全生命周期 → 每条 prompt 走新会话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914400" y="5349240"/>
            <a:ext cx="0" cy="256032"/>
          </a:xfrm>
          <a:prstGeom prst="line">
            <a:avLst/>
          </a:prstGeom>
          <a:ln w="15875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568756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8E3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417320" y="5596128"/>
            <a:ext cx="6583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600200" y="5596128"/>
            <a:ext cx="6309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按得分迭代变异，直到 Agent 无响应 → 确认漏洞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321040" y="1371600"/>
            <a:ext cx="3364992" cy="4937760"/>
          </a:xfrm>
          <a:prstGeom prst="roundRect">
            <a:avLst>
              <a:gd name="adj" fmla="val 2717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03920" y="14813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要点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03920" y="192024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10000"/>
              </a:lnSpc>
              <a:spcAft>
                <a:spcPts val="12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同一份源码里，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决定派发策略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0000"/>
              </a:lnSpc>
              <a:spcAft>
                <a:spcPts val="12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功能分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引导 prompt 命中 Download 工具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0000"/>
              </a:lnSpc>
              <a:spcAft>
                <a:spcPts val="12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资源分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引导 prompt 请求更大的文件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0000"/>
              </a:lnSpc>
              <a:spcAft>
                <a:spcPts val="12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输出完整 </a:t>
            </a: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对话序列</a:t>
            </a:r>
            <a:r>
              <a:rPr sz="14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作为 PoC，便于开发者复现</a:t>
            </a:r>
            <a:endParaRPr sz="14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实验评估</a:t>
            </a:r>
            <a:endParaRPr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RQ1 – RQ4</a:t>
            </a:r>
            <a:endParaRPr sz="18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0" b="1">
                <a:solidFill>
                  <a:srgbClr val="E4D3E8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04</a:t>
            </a:r>
            <a:endParaRPr sz="11000" b="1">
              <a:solidFill>
                <a:srgbClr val="E4D3E8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实验设置：20 个流行开源 Agent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 实验评估    22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6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</a:t>
            </a:r>
            <a:endParaRPr sz="36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开源 Agent（Web 服务）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0" y="141732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6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17</a:t>
            </a:r>
            <a:endParaRPr sz="36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000" y="21488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 Star &gt; 10k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6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2025</a:t>
            </a:r>
            <a:endParaRPr sz="36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潜在漏洞算子（S 1566 / L 286 / F 173）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0684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98280" y="141732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28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GPT-4.1</a:t>
            </a:r>
            <a:endParaRPr sz="28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98280" y="21488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T=0，被测 Agent 与 AgentDoS 共用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筛选流程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57784" y="3319272"/>
            <a:ext cx="347472" cy="34747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32918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GitHub 关键词 “LLM Agent / Autonomous Agents”，按 Star 降序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57784" y="3849623"/>
            <a:ext cx="347472" cy="34747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" y="3822191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 年仍在维护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57784" y="4379975"/>
            <a:ext cx="347472" cy="34747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352544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人工确认以 Web 服务形式运行（符合威胁模型）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运行环境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534924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5000"/>
              </a:lnSpc>
              <a:spcAft>
                <a:spcPts val="4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1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Docker 部署、默认配置；资源取各自最低要求，未说明则 4 GB 内存 / 10 GB 磁盘 / 64 核（同 Dify 最低配置）以模拟不利部署</a:t>
            </a: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5000"/>
              </a:lnSpc>
              <a:spcAft>
                <a:spcPts val="4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1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 sink 测试上限 20 分钟；3 分钟无触发或增长 &lt; 20 MB 则跳过</a:t>
            </a: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00800" y="2880360"/>
          <a:ext cx="5285229" cy="3456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8119"/>
                <a:gridCol w="1076621"/>
                <a:gridCol w="1565994"/>
                <a:gridCol w="117449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Stars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 / L / F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CVE / 漏洞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AutoGPT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176k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 / 0 / 4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 / 7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Dify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104k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259 / 7 / 4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/ 1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LangFlow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81.4k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123 / 49 / 2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/ 4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RagFlow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60.1k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235 / 40 / 5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/ 2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SuperAGI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16.4k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48 / 17 / 4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 / 3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AgentScope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7.5k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 / 17 / 9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 / 6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3EC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其余 14 个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5.8k–46k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…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/ 13</a:t>
                      </a:r>
                      <a:endParaRPr sz="11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合计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1566 / 286 / 173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 / 36</a:t>
                      </a:r>
                      <a:endParaRPr sz="11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400800" y="6382512"/>
            <a:ext cx="528523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S/L/F：短 / 长 / 全生命周期算子数；节选自原文 Table 2</a:t>
            </a:r>
            <a:endParaRPr sz="9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RQ1：Agent 为什么要保留资源？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 实验评估    23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挑选 5 个最知名的 Agent，借助文档与调用链，人工分析 148 个 callsite（约 12 人时）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513832" cy="448056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C27C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长生命周期资源的用途</a:t>
            </a:r>
            <a:endParaRPr sz="1400" b="1">
              <a:solidFill>
                <a:srgbClr val="C27C0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2286000"/>
          <a:ext cx="53492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029200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27.4%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是真正“为了对话连贯”而保留的上下文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其余多为日志与配置，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并无必须长期保留的功能理由</a:t>
            </a:r>
            <a:endParaRPr sz="135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513832" cy="448056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全生命周期资源的用途</a:t>
            </a:r>
            <a:endParaRPr sz="14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286000"/>
          <a:ext cx="5349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4572000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2E7D5B"/>
              </a:buClr>
              <a:buSzPct val="100000"/>
              <a:buFont typeface="Arial" panose="020B0604020202020204"/>
              <a:buChar char="•"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下载文件被下载后 </a:t>
            </a:r>
            <a:r>
              <a:rPr sz="1300" b="1">
                <a:solidFill>
                  <a:srgbClr val="2E7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永不删除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，常驻系统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2E7D5B"/>
              </a:buClr>
              <a:buSzPct val="100000"/>
              <a:buFont typeface="Arial" panose="020B0604020202020204"/>
              <a:buChar char="•"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占多数的运维日志同样无界增长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5000"/>
              </a:lnSpc>
              <a:spcAft>
                <a:spcPts val="600"/>
              </a:spcAft>
              <a:buClr>
                <a:srgbClr val="2E7D5B"/>
              </a:buClr>
              <a:buSzPct val="100000"/>
              <a:buFont typeface="Arial" panose="020B0604020202020204"/>
              <a:buChar char="•"/>
            </a:pPr>
            <a:r>
              <a:rPr sz="1300" b="1">
                <a:solidFill>
                  <a:srgbClr val="2E7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启示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：多数保留是“开发者图省事”而非功能必需 → 完全可以加配额、去重与清理而不损害可用性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RQ2：AgentDoS 的有效性与效率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 实验评估    24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6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36</a:t>
            </a:r>
            <a:endParaRPr sz="36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零日漏洞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79776" y="13716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79776" y="14173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6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16</a:t>
            </a:r>
            <a:endParaRPr sz="36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79776" y="21945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个受影响 Agent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56632" y="13716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56632" y="14173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600" b="1">
                <a:solidFill>
                  <a:srgbClr val="66087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15</a:t>
            </a:r>
            <a:endParaRPr sz="3600" b="1">
              <a:solidFill>
                <a:srgbClr val="66087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56632" y="21945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已分配 CVE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33488" y="13716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33488" y="14173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600" b="1">
                <a:solidFill>
                  <a:srgbClr val="2E7D5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100%</a:t>
            </a:r>
            <a:endParaRPr sz="3600" b="1">
              <a:solidFill>
                <a:srgbClr val="2E7D5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3488" y="21945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精确率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10344" y="13716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10344" y="14173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600" b="1">
                <a:solidFill>
                  <a:srgbClr val="007698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95.2%</a:t>
            </a:r>
            <a:endParaRPr sz="3600" b="1">
              <a:solidFill>
                <a:srgbClr val="007698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10344" y="21945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生命周期识别准确率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2926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漏洞的生命周期 × 资源类型分布（据附录 Table 6 统计）</a:t>
            </a:r>
            <a:endParaRPr sz="135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3520440"/>
            <a:ext cx="2677160" cy="548640"/>
          </a:xfrm>
          <a:prstGeom prst="rect">
            <a:avLst/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 17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80080" y="3520440"/>
            <a:ext cx="787400" cy="548640"/>
          </a:xfrm>
          <a:prstGeom prst="rect">
            <a:avLst/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 5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67479" y="3520440"/>
            <a:ext cx="2204720" cy="548640"/>
          </a:xfrm>
          <a:prstGeom prst="rect">
            <a:avLst/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 14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短生命周期最多，但长 / 全生命周期漏洞合计过半（19/36），而它们是 </a:t>
            </a: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既有方法难以覆盖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的新类别（需多轮或跨会话）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2926080"/>
            <a:ext cx="5285232" cy="3383280"/>
          </a:xfrm>
          <a:prstGeom prst="roundRect">
            <a:avLst>
              <a:gd name="adj" fmla="val 2702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29400" y="30175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效率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400" y="347472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4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119 h</a:t>
            </a:r>
            <a:endParaRPr sz="24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75320" y="34747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 个 Agent 共 119.08 CPU 小时（均 5.95 h）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29400" y="438912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4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9.32 M</a:t>
            </a:r>
            <a:endParaRPr sz="24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75320" y="43891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均 token 消耗，约 $44.3 / Agent（GPT-4.1）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29400" y="530352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4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68.6%</a:t>
            </a:r>
            <a:endParaRPr sz="24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75320" y="53035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时间花在变异（17.1% 生成 / 14.2% 调度）</a:t>
            </a:r>
            <a:endParaRPr sz="11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5029200"/>
            <a:ext cx="56692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为何零误报？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Oracle 以“服务实际无响应”为准，漏洞确认即得到可复现的 PoC。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 个漏洞中 33 个是 AgentFuzz 未发现的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RQ3：对比 AgentFuzz —— 召回率提升 12 倍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 实验评估    25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760717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6192"/>
                <a:gridCol w="672083"/>
                <a:gridCol w="672083"/>
                <a:gridCol w="672083"/>
                <a:gridCol w="1152144"/>
                <a:gridCol w="10561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TP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FP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FN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Precision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Recall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66087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AgentFuzz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100%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B326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7.9%</a:t>
                      </a:r>
                      <a:endParaRPr sz="1300" b="0">
                        <a:solidFill>
                          <a:srgbClr val="B3261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AgentDoS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36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100%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A324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94.7%</a:t>
                      </a:r>
                      <a:endParaRPr sz="1300" b="1">
                        <a:solidFill>
                          <a:srgbClr val="A324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CCD9"/>
                      </a:solidFill>
                    </a:lnB>
                    <a:solidFill>
                      <a:srgbClr val="E4D3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88036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基准：AgentDoS 与 AgentFuzz 检出的并集 + 误报分析中补出的 2 个漏洞 = </a:t>
            </a:r>
            <a:r>
              <a:rPr sz="11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38</a:t>
            </a:r>
            <a:r>
              <a:rPr sz="11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个已验证漏洞；AgentFuzz 的 3 个均为 AgentDoS 所发现的子集。</a:t>
            </a:r>
            <a:endParaRPr sz="11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92240" y="1280160"/>
          <a:ext cx="52120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34290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0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召回率（越高越好）</a:t>
            </a:r>
            <a:endParaRPr sz="10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AgentFuzz 漏掉的 35 个漏洞，原因分两类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1597587" cy="502920"/>
          </a:xfrm>
          <a:prstGeom prst="rect">
            <a:avLst/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00507" y="4297680"/>
            <a:ext cx="9585524" cy="502920"/>
          </a:xfrm>
          <a:prstGeom prst="rect">
            <a:avLst/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  无资源导向机制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5212080"/>
            <a:ext cx="5513832" cy="1097280"/>
          </a:xfrm>
          <a:prstGeom prst="roundRect">
            <a:avLst>
              <a:gd name="adj" fmla="val 8333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5257800"/>
            <a:ext cx="51663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个 · 缺生命周期建模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每条 prompt 都开新会话 → 无法在同一会话累积长生命周期资源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5212080"/>
            <a:ext cx="5513832" cy="1097280"/>
          </a:xfrm>
          <a:prstGeom prst="roundRect">
            <a:avLst>
              <a:gd name="adj" fmla="val 8333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55080" y="5257800"/>
            <a:ext cx="51663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 个 · 缺资源消耗评估与语义变异</a:t>
            </a:r>
            <a:endParaRPr sz="14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 能到达 sink，却没有让 Agent 消耗足够资源，达不到 DoS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RQ4：消融实验 —— 三个模块缺一不可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 实验评估    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32588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4632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0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召回率（38 个基准漏洞；各变体 FP = 0，Precision 均 100%）</a:t>
            </a:r>
            <a:endParaRPr sz="10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766560" y="1325880"/>
            <a:ext cx="4919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0" y="139903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变异 Mutation</a:t>
            </a:r>
            <a:endParaRPr sz="13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46920" y="141732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TP 16 / FN 22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7373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仅靠初始种子：多数 prompt 甚至到不了目标组件；单条资源消耗又太小，累积类漏洞超时。</a:t>
            </a:r>
            <a:r>
              <a:rPr sz="12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贡献最大</a:t>
            </a:r>
            <a:endParaRPr sz="12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0" y="2697480"/>
            <a:ext cx="4919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0" y="277063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C27C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 Scheduling</a:t>
            </a:r>
            <a:endParaRPr sz="1300" b="1">
              <a:solidFill>
                <a:srgbClr val="C27C0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46920" y="278892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TP 25 / FN 13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0" y="31089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随机选种 → 反复变异低潜力种子，浪费预算导致超时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66560" y="4069080"/>
            <a:ext cx="4919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49440" y="414223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 Generation</a:t>
            </a:r>
            <a:endParaRPr sz="13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46920" y="416052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TP 31 / FN 7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49440" y="44805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改用 LLMSmith 预置 prompt 作初始种子，缺少功能针对性，有限时间内到不了 sink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5303520"/>
            <a:ext cx="11183112" cy="1005840"/>
          </a:xfrm>
          <a:prstGeom prst="roundRect">
            <a:avLst>
              <a:gd name="adj" fmla="val 9090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小结</a:t>
            </a: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：Mutation（-52.6 pp）&gt; Scheduling（-29.0 pp）&gt; Generation（-13.1 pp）。LLM 驱动的迭代变异是核心，调度保证预算花在刀刃上，生成提供好的起点。</a:t>
            </a:r>
            <a:endParaRPr sz="12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误报 / 漏报分析：AgentDoS 漏掉了什么？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 实验评估    27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无公开 ground truth → 随机抽样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103 个（5%）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未被报告的 sink，人工审计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4023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00200" y="32461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2400" b="1">
                <a:solidFill>
                  <a:srgbClr val="5F5F5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95.15%</a:t>
            </a:r>
            <a:endParaRPr sz="2400" b="1">
              <a:solidFill>
                <a:srgbClr val="5F5F5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3703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000" b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本就不可利用</a:t>
            </a:r>
            <a:endParaRPr sz="1000" b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63440" y="1737360"/>
            <a:ext cx="70225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00600" y="1737360"/>
            <a:ext cx="1280160" cy="8961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>
                <a:solidFill>
                  <a:srgbClr val="9A9A9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95.15%</a:t>
            </a:r>
            <a:endParaRPr sz="1900" b="1">
              <a:solidFill>
                <a:srgbClr val="9A9A9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0" y="179222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50" b="1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用户不可控</a:t>
            </a:r>
            <a:endParaRPr sz="1250" b="1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2048255"/>
            <a:ext cx="544068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3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过程内污点 + 过近似导致一些不可利用 sink 仍进入候选，属 </a:t>
            </a:r>
            <a:r>
              <a:rPr sz="12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预期内的保守</a:t>
            </a:r>
            <a:endParaRPr sz="12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63440" y="2743200"/>
            <a:ext cx="70225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1280160" cy="8961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>
                <a:solidFill>
                  <a:srgbClr val="8E3A9C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0.97%</a:t>
            </a:r>
            <a:endParaRPr sz="1900" b="1">
              <a:solidFill>
                <a:srgbClr val="8E3A9C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279806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50" b="1">
                <a:solidFill>
                  <a:srgbClr val="8E3A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受 LLM 上下文窗口限制</a:t>
            </a:r>
            <a:endParaRPr sz="1250" b="1">
              <a:solidFill>
                <a:srgbClr val="8E3A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3054096"/>
            <a:ext cx="544068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3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历史 + 请求超出模型上下文后会话无法继续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63440" y="3749039"/>
            <a:ext cx="70225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00600" y="3749039"/>
            <a:ext cx="1280160" cy="8961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>
                <a:solidFill>
                  <a:srgbClr val="C27C0E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1.94%</a:t>
            </a:r>
            <a:endParaRPr sz="1900" b="1">
              <a:solidFill>
                <a:srgbClr val="C27C0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0" y="3803903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50" b="1">
                <a:solidFill>
                  <a:srgbClr val="C27C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输入受限、实际不可行</a:t>
            </a:r>
            <a:endParaRPr sz="1250" b="1">
              <a:solidFill>
                <a:srgbClr val="C27C0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4059935"/>
            <a:ext cx="544068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3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 RAGFlow 仅存 LLM 输出（≈2 KB/次），耗尽需 &gt; 24 h，远超 20 分钟窗口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63440" y="4754880"/>
            <a:ext cx="70225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00600" y="4754880"/>
            <a:ext cx="1280160" cy="8961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>
                <a:solidFill>
                  <a:srgbClr val="A3243B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1.94%</a:t>
            </a:r>
            <a:endParaRPr sz="1900" b="1">
              <a:solidFill>
                <a:srgbClr val="A3243B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26480" y="480974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5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真正漏报（对应 2 个）</a:t>
            </a:r>
            <a:endParaRPr sz="125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0" y="5065776"/>
            <a:ext cx="544068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3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需绕过防护的复杂 payload，如 SuperAGI 的 </a:t>
            </a:r>
            <a:r>
              <a:rPr sz="110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../../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2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路径穿越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逃出会被清空的工作目录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5806440"/>
            <a:ext cx="11183112" cy="548640"/>
          </a:xfrm>
          <a:prstGeom prst="roundRect">
            <a:avLst>
              <a:gd name="adj" fmla="val 16666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 2 个漏报被补入基准（38 = 36 + 2），所以 Recall = 36 / 38 = 94.7%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案例、讨论与总结</a:t>
            </a:r>
            <a:endParaRPr sz="4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 Studies · Discussion · Takeaways</a:t>
            </a:r>
            <a:endParaRPr sz="18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0" b="1">
                <a:solidFill>
                  <a:srgbClr val="E4D3E8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05</a:t>
            </a:r>
            <a:endParaRPr sz="11000" b="1">
              <a:solidFill>
                <a:srgbClr val="E4D3E8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案例研究：两个主流 Agent 中的真实漏洞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 案例、讨论与总结    29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Picture 4" descr="fig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4297680" cy="2613128"/>
          </a:xfrm>
          <a:prstGeom prst="rect">
            <a:avLst/>
          </a:prstGeom>
        </p:spPr>
      </p:pic>
      <p:pic>
        <p:nvPicPr>
          <p:cNvPr id="6" name="Picture 5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3840480" cy="28132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3258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007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 I · 短生命周期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06039" y="1298448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80k★ Agent：同一次对话里重复抓取同一大文件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URL 组件遍历 LLM 生成的 URL 列表，逐个抓取并 </a:t>
            </a:r>
            <a:r>
              <a:rPr sz="11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extend</a:t>
            </a: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进局部列表 </a:t>
            </a:r>
            <a:r>
              <a:rPr sz="11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all_docs</a:t>
            </a: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1250" b="1">
                <a:solidFill>
                  <a:srgbClr val="0076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相同内容也不去重</a:t>
            </a: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。一次对话请求同一大文件上千次 → 内存耗尽。开发者已确认。</a:t>
            </a:r>
            <a:endParaRPr sz="12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 II · 长生命周期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5320" y="1298448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35k★ Agent：会话历史无限增长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47548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每轮把输入、LLM 计划与工具输出 </a:t>
            </a:r>
            <a:r>
              <a:rPr sz="11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append</a:t>
            </a: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到 </a:t>
            </a:r>
            <a:r>
              <a:rPr sz="1150" b="0">
                <a:solidFill>
                  <a:srgbClr val="8A1C5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rPr>
              <a:t>self.history</a:t>
            </a: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，会话结束才清理。默认不把历史发给 LLM（history_len=0），</a:t>
            </a:r>
            <a:r>
              <a:rPr sz="1250" b="1">
                <a:solidFill>
                  <a:srgbClr val="C27C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因此永远触不到上下文上限</a:t>
            </a:r>
            <a:r>
              <a:rPr sz="12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，历史可无界增长。开发者已确认。</a:t>
            </a:r>
            <a:endParaRPr sz="12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共同点：攻击 prompt 看起来 </a:t>
            </a:r>
            <a:r>
              <a:rPr sz="12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完全是正常使用</a:t>
            </a:r>
            <a:r>
              <a:rPr sz="12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（“访问这个网站”“列出数据库所有记录”），没有任何显式恶意特征。</a:t>
            </a:r>
            <a:endParaRPr sz="125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讨论：攻击的隐蔽性与缓解建议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 案例、讨论与总结    30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为什么难防？</a:t>
            </a:r>
            <a:endParaRPr sz="1600" b="1">
              <a:solidFill>
                <a:srgbClr val="A324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缺乏显式恶意特征</a:t>
            </a:r>
            <a:endParaRPr sz="15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不同于 RCE / SQL 注入，资源滥用就像普通请求（“下载这个文件做总结”），</a:t>
            </a:r>
            <a:r>
              <a:rPr sz="13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无需 prompt 注入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就能成功，安全检查式系统提示也拦不住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攻击再委托</a:t>
            </a:r>
            <a:endParaRPr sz="15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攻击者先把资源用到临界点，之后 </a:t>
            </a:r>
            <a:r>
              <a:rPr sz="130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良性用户的正常使用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就会触发故障，在维护者看来像是良性用户造成的，掩盖真实来源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5800" y="4892040"/>
            <a:ext cx="365760" cy="365760"/>
          </a:xfrm>
          <a:prstGeom prst="ellipse">
            <a:avLst/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48463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 ↔ 可用的两难</a:t>
            </a:r>
            <a:endParaRPr sz="15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8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限制过紧会妨碍 Agent 自主完成任务（如文献综述需下载大量论文）；开发者难以预测哪些资源以后不用，只好多保留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1371600"/>
            <a:ext cx="5513832" cy="4937760"/>
          </a:xfrm>
          <a:prstGeom prst="roundRect">
            <a:avLst>
              <a:gd name="adj" fmla="val 1851"/>
            </a:avLst>
          </a:prstGeom>
          <a:solidFill>
            <a:srgbClr val="F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2E7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怎么缓解？</a:t>
            </a:r>
            <a:endParaRPr sz="1600" b="1">
              <a:solidFill>
                <a:srgbClr val="2E7D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50749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50" b="1">
                <a:solidFill>
                  <a:srgbClr val="2E7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开发者常用手段</a:t>
            </a:r>
            <a:endParaRPr sz="1250" b="1">
              <a:solidFill>
                <a:srgbClr val="2E7D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spcAft>
                <a:spcPts val="400"/>
              </a:spcAft>
              <a:buClr>
                <a:srgbClr val="2E7D5B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更严格的输入校验、大小限制、超时、资源配额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0" y="283464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37960" y="2871216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3000"/>
              </a:lnSpc>
              <a:spcAft>
                <a:spcPts val="200"/>
              </a:spcAft>
              <a:buNone/>
            </a:pPr>
            <a:r>
              <a:rPr sz="1150" b="1">
                <a:solidFill>
                  <a:srgbClr val="2E7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实例：AutoGPT 修复</a:t>
            </a:r>
            <a:endParaRPr sz="1150" b="1">
              <a:solidFill>
                <a:srgbClr val="2E7D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03000"/>
              </a:lnSpc>
              <a:spcAft>
                <a:spcPts val="40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单次下载 ≤ 100 MB，单次执行目录 ≤ 1 GB，任务结束后自动删除目录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507492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250" b="1">
                <a:solidFill>
                  <a:srgbClr val="2E7D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作者提出的方向</a:t>
            </a:r>
            <a:endParaRPr sz="1250" b="1">
              <a:solidFill>
                <a:srgbClr val="2E7D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2E7D5B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使用场景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设限，并配合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去重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控制留存数据量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2E7D5B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持续监控资源用量，异常时告警或 </a:t>
            </a:r>
            <a:r>
              <a:rPr sz="13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暂停存储操作</a:t>
            </a: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，留出人工介入时间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08000"/>
              </a:lnSpc>
              <a:spcAft>
                <a:spcPts val="800"/>
              </a:spcAft>
              <a:buClr>
                <a:srgbClr val="2E7D5B"/>
              </a:buClr>
              <a:buSzPct val="100000"/>
              <a:buFont typeface="Arial" panose="020B0604020202020204"/>
              <a:buChar char="•"/>
            </a:pPr>
            <a:r>
              <a:rPr sz="13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按全局（跨会话、跨用户）而非仅按单轮 / 单会话计量</a:t>
            </a:r>
            <a:endParaRPr sz="13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局限与批判性思考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 案例、讨论与总结    31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论文自述的局限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74920" cy="411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12000"/>
              </a:lnSpc>
              <a:spcAft>
                <a:spcPts val="16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需要源码</a:t>
            </a: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：无法直接用于 GPTs、Coze 等闭源商用 Agent（可借延迟等侧信道改造为黑盒）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2000"/>
              </a:lnSpc>
              <a:spcAft>
                <a:spcPts val="16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仅覆盖 </a:t>
            </a:r>
            <a:r>
              <a:rPr sz="14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内存与磁盘</a:t>
            </a: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，且基于 Python 静态分析（间接调用会导致 4.8% 生命周期误判）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2000"/>
              </a:lnSpc>
              <a:spcAft>
                <a:spcPts val="16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 Agent 需 </a:t>
            </a:r>
            <a:r>
              <a:rPr sz="145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</a:t>
            </a: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标注 API 入口与会话删除逻辑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2000"/>
              </a:lnSpc>
              <a:spcAft>
                <a:spcPts val="1600"/>
              </a:spcAft>
              <a:buClr>
                <a:srgbClr val="660874"/>
              </a:buClr>
              <a:buSzPct val="100000"/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原型仅向通过审核的研究者开放（双重用途考虑）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400800" y="153619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A3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我的补充思考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74920" cy="411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295" indent="-182880" algn="l">
              <a:lnSpc>
                <a:spcPct val="112000"/>
              </a:lnSpc>
              <a:spcAft>
                <a:spcPts val="16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45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基准偏向</a:t>
            </a: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：38 个漏洞由两种工具检出并集 + 2 个补充构成，真实总数未知，Recall 应视为“相对基准”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2000"/>
              </a:lnSpc>
              <a:spcAft>
                <a:spcPts val="16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45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对比单一</a:t>
            </a: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：只对比 AgentFuzz，且需替换其 sink、复用本文 Oracle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2000"/>
              </a:lnSpc>
              <a:spcAft>
                <a:spcPts val="16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45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 / 网络 / Token 配额</a:t>
            </a:r>
            <a:r>
              <a:rPr sz="145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等资源未覆盖；多租户隔离、容器 cgroup 限额是否能兜底有待评估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01295" indent="-182880" algn="l">
              <a:lnSpc>
                <a:spcPct val="112000"/>
              </a:lnSpc>
              <a:spcAft>
                <a:spcPts val="1600"/>
              </a:spcAft>
              <a:buClr>
                <a:srgbClr val="A3243B"/>
              </a:buClr>
              <a:buSzPct val="100000"/>
              <a:buFont typeface="Arial" panose="020B0604020202020204"/>
              <a:buChar char="•"/>
            </a:pPr>
            <a:r>
              <a:rPr sz="1450" b="1">
                <a:solidFill>
                  <a:srgbClr val="A324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 4 与正文不一致</a:t>
            </a:r>
            <a:r>
              <a:rPr sz="145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：“w/o Scheduling”正文称漏 9 个，表中 FN 为 13</a:t>
            </a:r>
            <a:endParaRPr sz="145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footer-left"/>
          <p:cNvSpPr txBox="1"/>
          <p:nvPr/>
        </p:nvSpPr>
        <p:spPr>
          <a:xfrm>
            <a:off x="502920" y="66129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  ·  USENIX Security 2026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footer-right"/>
          <p:cNvSpPr txBox="1"/>
          <p:nvPr/>
        </p:nvSpPr>
        <p:spPr>
          <a:xfrm>
            <a:off x="6400800" y="6612940"/>
            <a:ext cx="528523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Aft>
                <a:spcPts val="400"/>
              </a:spcAft>
              <a:buNone/>
            </a:pPr>
            <a:r>
              <a:rPr sz="9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 案例、讨论与总结    32</a:t>
            </a:r>
            <a:endParaRPr sz="9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83112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40664" y="1636776"/>
            <a:ext cx="530352" cy="53035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首次系统研究</a:t>
            </a:r>
            <a:endParaRPr sz="16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的资源管理：归纳 </a:t>
            </a: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 / 长 / 全生命周期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三类模式及其对应的 DoS 攻击路径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578608"/>
            <a:ext cx="11183112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40664" y="2843784"/>
            <a:ext cx="530352" cy="53035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4480" y="2670048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AgentDoS</a:t>
            </a:r>
            <a:endParaRPr sz="16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0" y="267004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生命周期感知的定向灰盒模糊测试：</a:t>
            </a: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静态建模 + LLM 种子生成 / 双维调度 / 双变异器</a:t>
            </a:r>
            <a:endParaRPr sz="13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785616"/>
            <a:ext cx="11183112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0664" y="4050792"/>
            <a:ext cx="530352" cy="530352"/>
          </a:xfrm>
          <a:prstGeom prst="ellipse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54480" y="3877056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效果显著</a:t>
            </a:r>
            <a:endParaRPr sz="16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0" y="3877056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 个 Agent 中发现 </a:t>
            </a: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 个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0-day（16 个应用，15 个 &gt; 10k★），</a:t>
            </a: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 个 CVE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；Precision 100%，Recall 94.7%，较 AgentFuzz 提升 12 倍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4992624"/>
            <a:ext cx="11183112" cy="106070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3A1A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40664" y="5257800"/>
            <a:ext cx="530352" cy="530352"/>
          </a:xfrm>
          <a:prstGeom prst="ellipse">
            <a:avLst/>
          </a:prstGeom>
          <a:solidFill>
            <a:srgbClr val="E6C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4306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sz="1600" b="1">
              <a:solidFill>
                <a:srgbClr val="4306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54480" y="5084064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启示</a:t>
            </a:r>
            <a:endParaRPr sz="1600" b="1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0" y="5084064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的“自主性”需要配套的 </a:t>
            </a:r>
            <a:r>
              <a:rPr sz="1300" b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资源治理</a:t>
            </a:r>
            <a:r>
              <a:rPr sz="130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：全局配额、去重清理、监控告警</a:t>
            </a:r>
            <a:endParaRPr sz="13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欢迎批评指正</a:t>
            </a:r>
            <a:endParaRPr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Autonomy Comes with Costs · USENIX Security 2026</a:t>
            </a:r>
            <a:endParaRPr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12585</Words>
  <Application>WPS 演示</Application>
  <PresentationFormat>宽屏</PresentationFormat>
  <Paragraphs>1174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9" baseType="lpstr">
      <vt:lpstr>Arial</vt:lpstr>
      <vt:lpstr>宋体</vt:lpstr>
      <vt:lpstr>Wingdings</vt:lpstr>
      <vt:lpstr>Wingdings 2</vt:lpstr>
      <vt:lpstr>Webdings</vt:lpstr>
      <vt:lpstr>Times New Roman</vt:lpstr>
      <vt:lpstr>微软雅黑</vt:lpstr>
      <vt:lpstr>Arial</vt:lpstr>
      <vt:lpstr>Consolas</vt:lpstr>
      <vt:lpstr>Gill Sans MT</vt:lpstr>
      <vt:lpstr>Arial Unicode MS</vt:lpstr>
      <vt:lpstr>华文中宋</vt:lpstr>
      <vt:lpstr>汉仪中宋简</vt:lpstr>
      <vt:lpstr>等线</vt:lpstr>
      <vt:lpstr>DejaVu Sans</vt:lpstr>
      <vt:lpstr>清华简约主题-顶边-16:9</vt:lpstr>
      <vt:lpstr>Autonomy Comes with Costs: Detecting Denial-of-Service Vulnerabilities  Caused by Resource Abusing in LLM-based Agents 自主性伴随着代价：检测基于大语言模型的智能体因资源滥用引发的 拒绝服务漏洞</vt:lpstr>
      <vt:lpstr>目录</vt:lpstr>
      <vt:lpstr>研究背景与动机</vt:lpstr>
      <vt:lpstr>LLM Agent：从“会说”到“会做”</vt:lpstr>
      <vt:lpstr>核心观察：Agent 中资源的三类生命周期</vt:lpstr>
      <vt:lpstr>动机示例：一个真实的磁盘耗尽 0-day</vt:lpstr>
      <vt:lpstr>为什么现有方法检测不到？</vt:lpstr>
      <vt:lpstr>问题剖析与核心洞见</vt:lpstr>
      <vt:lpstr>根因剖析：自主性与资源治理的张力</vt:lpstr>
      <vt:lpstr>两大挑战  →  两个关键洞见</vt:lpstr>
      <vt:lpstr>AgentDoS 方法设计</vt:lpstr>
      <vt:lpstr>AgentDoS 总体架构：定向灰盒模糊测试</vt:lpstr>
      <vt:lpstr>阶段一 ①：定位资源消耗算子（Sink）</vt:lpstr>
      <vt:lpstr>阶段一 ②：基于实现逻辑判定资源生命周期</vt:lpstr>
      <vt:lpstr>阶段一 ③：评估可利用性，过滤无效候选</vt:lpstr>
      <vt:lpstr>阶段二 ①：基于系统提示与调用链生成种子</vt:lpstr>
      <vt:lpstr>阶段二 ②：双维反馈的种子调度</vt:lpstr>
      <vt:lpstr>阶段二 ③：Explorer / Exploiter 双变异器</vt:lpstr>
      <vt:lpstr>Oracle 判定与实现细节</vt:lpstr>
      <vt:lpstr>端到端走一遍：AgentDoS 如何发现前面的 0-day</vt:lpstr>
      <vt:lpstr>实验评估</vt:lpstr>
      <vt:lpstr>实验设置：20 个流行开源 Agent</vt:lpstr>
      <vt:lpstr>RQ1：Agent 为什么要保留资源？</vt:lpstr>
      <vt:lpstr>RQ2：AgentDoS 的有效性与效率</vt:lpstr>
      <vt:lpstr>RQ3：对比 AgentFuzz —— 召回率提升 12 倍</vt:lpstr>
      <vt:lpstr>RQ4：消融实验 —— 三个模块缺一不可</vt:lpstr>
      <vt:lpstr>误报 / 漏报分析：AgentDoS 漏掉了什么？</vt:lpstr>
      <vt:lpstr>案例、讨论与总结</vt:lpstr>
      <vt:lpstr>案例研究：两个主流 Agent 中的真实漏洞</vt:lpstr>
      <vt:lpstr>讨论：攻击的隐蔽性与缓解建议</vt:lpstr>
      <vt:lpstr>局限与批判性思考</vt:lpstr>
      <vt:lpstr>总结</vt:lpstr>
      <vt:lpstr>感谢聆听，欢迎批评指正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张少楚(2026312513)</cp:lastModifiedBy>
  <cp:revision>1186</cp:revision>
  <cp:lastPrinted>2026-10-02T14:55:48Z</cp:lastPrinted>
  <dcterms:created xsi:type="dcterms:W3CDTF">2026-10-02T14:55:48Z</dcterms:created>
  <dcterms:modified xsi:type="dcterms:W3CDTF">2026-10-02T14:55:48Z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35A75530E763F55F0289BF6A65868982_42</vt:lpwstr>
  </property>
  <property fmtid="{D5CDD505-2E9C-101B-9397-08002B2CF9AE}" pid="3" name="KSOProductBuildVer">
    <vt:lpwstr>2052-12.1.2.25882</vt:lpwstr>
  </property>
</Properties>
</file>