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87567" y="516235"/>
            <a:ext cx="4213229" cy="741693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753857"/>
            <a:ext cx="12188364" cy="34277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87943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-878"/>
            <a:ext cx="12192001" cy="68588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87943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0" y="0"/>
            <a:ext cx="12187942" cy="6858000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911218" y="208457"/>
            <a:ext cx="1861681" cy="327728"/>
          </a:xfrm>
          <a:prstGeom prst="rect">
            <a:avLst/>
          </a:prstGeom>
        </p:spPr>
      </p:pic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954CF2D-99D8-4EBB-B986-019061D97F64}"/>
              </a:ext>
            </a:extLst>
          </p:cNvPr>
          <p:cNvSpPr>
            <a:spLocks noGrp="1"/>
          </p:cNvSpPr>
          <p:nvPr/>
        </p:nvSpPr>
        <p:spPr>
          <a:xfrm>
            <a:off x="428625" y="590550"/>
            <a:ext cx="1134427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2000250" marR="0" indent="-17145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200" b="0" i="0" u="none" kern="1200" cap="none" spc="0" baseline="0">
          <a:ln>
            <a:noFill/>
          </a:ln>
          <a:solidFill>
            <a:srgbClr val="000000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ak, Honey, Trap">
            <a:extLst>
              <a:ext uri="{FF2B5EF4-FFF2-40B4-BE49-F238E27FC236}">
                <a16:creationId xmlns:a16="http://schemas.microsoft.com/office/drawing/2014/main" id="{CB14116A-15CB-453A-A8C2-5C38B66DADFA}"/>
              </a:ext>
            </a:extLst>
          </p:cNvPr>
          <p:cNvSpPr>
            <a:spLocks noGrp="1"/>
          </p:cNvSpPr>
          <p:nvPr/>
        </p:nvSpPr>
        <p:spPr>
          <a:xfrm>
            <a:off x="619125" y="239077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Cloak, Honey, Trap</a:t>
            </a:r>
          </a:p>
        </p:txBody>
      </p:sp>
      <p:sp>
        <p:nvSpPr>
          <p:cNvPr id="2" name="Proactive Defenses Against LLM Agent">
            <a:extLst>
              <a:ext uri="{FF2B5EF4-FFF2-40B4-BE49-F238E27FC236}">
                <a16:creationId xmlns:a16="http://schemas.microsoft.com/office/drawing/2014/main" id="{7E37BCF1-7E05-4F2D-8668-0FFF330AEA75}"/>
              </a:ext>
            </a:extLst>
          </p:cNvPr>
          <p:cNvSpPr>
            <a:spLocks noGrp="1"/>
          </p:cNvSpPr>
          <p:nvPr/>
        </p:nvSpPr>
        <p:spPr>
          <a:xfrm>
            <a:off x="619125" y="308610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Proactive Defenses Against LLM Agents</a:t>
            </a:r>
          </a:p>
        </p:txBody>
      </p:sp>
      <p:sp>
        <p:nvSpPr>
          <p:cNvPr id="3" name="针对 LLM 智能体的主动防御">
            <a:extLst>
              <a:ext uri="{FF2B5EF4-FFF2-40B4-BE49-F238E27FC236}">
                <a16:creationId xmlns:a16="http://schemas.microsoft.com/office/drawing/2014/main" id="{64992A73-BB3A-428E-8DD9-6738883A4A77}"/>
              </a:ext>
            </a:extLst>
          </p:cNvPr>
          <p:cNvSpPr>
            <a:spLocks noGrp="1"/>
          </p:cNvSpPr>
          <p:nvPr/>
        </p:nvSpPr>
        <p:spPr>
          <a:xfrm>
            <a:off x="619125" y="3657600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针对 LLM 智能体的主动防御</a:t>
            </a:r>
          </a:p>
        </p:txBody>
      </p:sp>
      <p:sp>
        <p:nvSpPr>
          <p:cNvPr id="4" name="Daniel Ayzenshteyn · Roy Weiss · Yis">
            <a:extLst>
              <a:ext uri="{FF2B5EF4-FFF2-40B4-BE49-F238E27FC236}">
                <a16:creationId xmlns:a16="http://schemas.microsoft.com/office/drawing/2014/main" id="{48F99DF8-80DB-4CED-8590-7266B247C4F8}"/>
              </a:ext>
            </a:extLst>
          </p:cNvPr>
          <p:cNvSpPr>
            <a:spLocks noGrp="1"/>
          </p:cNvSpPr>
          <p:nvPr/>
        </p:nvSpPr>
        <p:spPr>
          <a:xfrm>
            <a:off x="619125" y="430530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Daniel Ayzenshteyn · Roy Weiss · Yisroel Mirsky</a:t>
            </a:r>
          </a:p>
        </p:txBody>
      </p:sp>
      <p:sp>
        <p:nvSpPr>
          <p:cNvPr id="5" name="Ben-Gurion University, Israel     US">
            <a:extLst>
              <a:ext uri="{FF2B5EF4-FFF2-40B4-BE49-F238E27FC236}">
                <a16:creationId xmlns:a16="http://schemas.microsoft.com/office/drawing/2014/main" id="{1A1DF6B7-7340-453C-A70C-594942D1C70A}"/>
              </a:ext>
            </a:extLst>
          </p:cNvPr>
          <p:cNvSpPr>
            <a:spLocks noGrp="1"/>
          </p:cNvSpPr>
          <p:nvPr/>
        </p:nvSpPr>
        <p:spPr>
          <a:xfrm>
            <a:off x="619125" y="4657725"/>
            <a:ext cx="10953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Ben-Gurion University, Israel     USENIX Security 2025</a:t>
            </a:r>
          </a:p>
        </p:txBody>
      </p:sp>
      <p:sp>
        <p:nvSpPr>
          <p:cNvPr id="6" name="汇报人：李明旸     指导老师：蒋文保">
            <a:extLst>
              <a:ext uri="{FF2B5EF4-FFF2-40B4-BE49-F238E27FC236}">
                <a16:creationId xmlns:a16="http://schemas.microsoft.com/office/drawing/2014/main" id="{8F7B4640-9389-48A5-A50E-2D8CEF038F2D}"/>
              </a:ext>
            </a:extLst>
          </p:cNvPr>
          <p:cNvSpPr>
            <a:spLocks noGrp="1"/>
          </p:cNvSpPr>
          <p:nvPr/>
        </p:nvSpPr>
        <p:spPr>
          <a:xfrm>
            <a:off x="619125" y="55435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汇报人：李明旸     指导老师：蒋文保</a:t>
            </a:r>
          </a:p>
        </p:txBody>
      </p:sp>
      <p:sp>
        <p:nvSpPr>
          <p:cNvPr id="7" name="2026 年 10 月 11 日">
            <a:extLst>
              <a:ext uri="{FF2B5EF4-FFF2-40B4-BE49-F238E27FC236}">
                <a16:creationId xmlns:a16="http://schemas.microsoft.com/office/drawing/2014/main" id="{9FFF9EC7-8370-4127-BD1F-1F043CEEDA74}"/>
              </a:ext>
            </a:extLst>
          </p:cNvPr>
          <p:cNvSpPr>
            <a:spLocks noGrp="1"/>
          </p:cNvSpPr>
          <p:nvPr/>
        </p:nvSpPr>
        <p:spPr>
          <a:xfrm>
            <a:off x="619125" y="6076950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2026 年 10 月 11 日</a:t>
            </a:r>
          </a:p>
        </p:txBody>
      </p:sp>
    </p:spTree>
    <p:extLst>
      <p:ext uri="{BB962C8B-B14F-4D97-AF65-F5344CB8AC3E}">
        <p14:creationId xmlns:p14="http://schemas.microsoft.com/office/powerpoint/2010/main" val="9129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AFA5F6D-A32A-4C36-8981-6764296F43A2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报告结构与问题主线">
            <a:extLst>
              <a:ext uri="{FF2B5EF4-FFF2-40B4-BE49-F238E27FC236}">
                <a16:creationId xmlns:a16="http://schemas.microsoft.com/office/drawing/2014/main" id="{64D983DA-9FA3-4C76-9E4B-381E66EE845B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报告结构与问题主线</a:t>
            </a:r>
          </a:p>
        </p:txBody>
      </p:sp>
      <p:sp>
        <p:nvSpPr>
          <p:cNvPr id="3" name="01 研究背景">
            <a:extLst>
              <a:ext uri="{FF2B5EF4-FFF2-40B4-BE49-F238E27FC236}">
                <a16:creationId xmlns:a16="http://schemas.microsoft.com/office/drawing/2014/main" id="{00FFFECC-F7E1-4898-BADD-CBC5569FF996}"/>
              </a:ext>
            </a:extLst>
          </p:cNvPr>
          <p:cNvSpPr>
            <a:spLocks noGrp="1"/>
          </p:cNvSpPr>
          <p:nvPr/>
        </p:nvSpPr>
        <p:spPr>
          <a:xfrm>
            <a:off x="619125" y="10668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01 研究背景</a:t>
            </a:r>
          </a:p>
        </p:txBody>
      </p:sp>
      <p:sp>
        <p:nvSpPr>
          <p:cNvPr id="4" name="介绍多 LLM 渗透架构、攻击者与防守方的能力，以及七类可被利用的模型弱">
            <a:extLst>
              <a:ext uri="{FF2B5EF4-FFF2-40B4-BE49-F238E27FC236}">
                <a16:creationId xmlns:a16="http://schemas.microsoft.com/office/drawing/2014/main" id="{BA0FE27A-64C9-4F0E-AF4E-0D623B16E590}"/>
              </a:ext>
            </a:extLst>
          </p:cNvPr>
          <p:cNvSpPr>
            <a:spLocks noGrp="1"/>
          </p:cNvSpPr>
          <p:nvPr/>
        </p:nvSpPr>
        <p:spPr>
          <a:xfrm>
            <a:off x="619125" y="1390650"/>
            <a:ext cx="10477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介绍多 LLM 渗透架构、攻击者与防守方的能力，以及七类可被利用的模型弱点。</a:t>
            </a:r>
          </a:p>
        </p:txBody>
      </p:sp>
      <p:sp>
        <p:nvSpPr>
          <p:cNvPr id="5" name="02 方法原理">
            <a:extLst>
              <a:ext uri="{FF2B5EF4-FFF2-40B4-BE49-F238E27FC236}">
                <a16:creationId xmlns:a16="http://schemas.microsoft.com/office/drawing/2014/main" id="{8F17F410-B7A4-4CB1-9B86-BAD9FF20BAD7}"/>
              </a:ext>
            </a:extLst>
          </p:cNvPr>
          <p:cNvSpPr>
            <a:spLocks noGrp="1"/>
          </p:cNvSpPr>
          <p:nvPr/>
        </p:nvSpPr>
        <p:spPr>
          <a:xfrm>
            <a:off x="619125" y="21336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02 方法原理</a:t>
            </a:r>
          </a:p>
        </p:txBody>
      </p:sp>
      <p:sp>
        <p:nvSpPr>
          <p:cNvPr id="6" name="说明三类策略、六类战术和十五种技术，展开假版本号、字符蜜标、循环与执行诱">
            <a:extLst>
              <a:ext uri="{FF2B5EF4-FFF2-40B4-BE49-F238E27FC236}">
                <a16:creationId xmlns:a16="http://schemas.microsoft.com/office/drawing/2014/main" id="{ECD48C1D-617C-4492-9119-568FD69E3C00}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10477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说明三类策略、六类战术和十五种技术，展开假版本号、字符蜜标、循环与执行诱饵。</a:t>
            </a:r>
          </a:p>
        </p:txBody>
      </p:sp>
      <p:sp>
        <p:nvSpPr>
          <p:cNvPr id="7" name="03 实验验证">
            <a:extLst>
              <a:ext uri="{FF2B5EF4-FFF2-40B4-BE49-F238E27FC236}">
                <a16:creationId xmlns:a16="http://schemas.microsoft.com/office/drawing/2014/main" id="{2ED9E0F0-3747-40A4-BC8E-518B93D6773D}"/>
              </a:ext>
            </a:extLst>
          </p:cNvPr>
          <p:cNvSpPr>
            <a:spLocks noGrp="1"/>
          </p:cNvSpPr>
          <p:nvPr/>
        </p:nvSpPr>
        <p:spPr>
          <a:xfrm>
            <a:off x="619125" y="32004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03 实验验证</a:t>
            </a:r>
          </a:p>
        </p:txBody>
      </p:sp>
      <p:sp>
        <p:nvSpPr>
          <p:cNvPr id="8" name="比较单项技术与完整攻击流程，分析适应性攻击者和长上下文条件下的实验结果。">
            <a:extLst>
              <a:ext uri="{FF2B5EF4-FFF2-40B4-BE49-F238E27FC236}">
                <a16:creationId xmlns:a16="http://schemas.microsoft.com/office/drawing/2014/main" id="{B2623856-C5B3-49B7-B325-0FB524676E93}"/>
              </a:ext>
            </a:extLst>
          </p:cNvPr>
          <p:cNvSpPr>
            <a:spLocks noGrp="1"/>
          </p:cNvSpPr>
          <p:nvPr/>
        </p:nvSpPr>
        <p:spPr>
          <a:xfrm>
            <a:off x="619125" y="3524250"/>
            <a:ext cx="10477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比较单项技术与完整攻击流程，分析适应性攻击者和长上下文条件下的实验结果。</a:t>
            </a:r>
          </a:p>
        </p:txBody>
      </p:sp>
      <p:sp>
        <p:nvSpPr>
          <p:cNvPr id="9" name="04 论文贡献">
            <a:extLst>
              <a:ext uri="{FF2B5EF4-FFF2-40B4-BE49-F238E27FC236}">
                <a16:creationId xmlns:a16="http://schemas.microsoft.com/office/drawing/2014/main" id="{A797CDB5-EC17-45DE-B1C5-30E69A4A5BE8}"/>
              </a:ext>
            </a:extLst>
          </p:cNvPr>
          <p:cNvSpPr>
            <a:spLocks noGrp="1"/>
          </p:cNvSpPr>
          <p:nvPr/>
        </p:nvSpPr>
        <p:spPr>
          <a:xfrm>
            <a:off x="619125" y="42672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04 论文贡献</a:t>
            </a:r>
          </a:p>
        </p:txBody>
      </p:sp>
      <p:sp>
        <p:nvSpPr>
          <p:cNvPr id="10" name="归纳面向攻击智能体的主动防御思路、技术分类体系，以及 CHeaT 工具和">
            <a:extLst>
              <a:ext uri="{FF2B5EF4-FFF2-40B4-BE49-F238E27FC236}">
                <a16:creationId xmlns:a16="http://schemas.microsoft.com/office/drawing/2014/main" id="{C2E4E8D6-A4AF-4608-8EE4-8EADFB376A7A}"/>
              </a:ext>
            </a:extLst>
          </p:cNvPr>
          <p:cNvSpPr>
            <a:spLocks noGrp="1"/>
          </p:cNvSpPr>
          <p:nvPr/>
        </p:nvSpPr>
        <p:spPr>
          <a:xfrm>
            <a:off x="619125" y="4591050"/>
            <a:ext cx="10477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归纳面向攻击智能体的主动防御思路、技术分类体系，以及 CHeaT 工具和实验资源。</a:t>
            </a:r>
          </a:p>
        </p:txBody>
      </p:sp>
      <p:sp>
        <p:nvSpPr>
          <p:cNvPr id="11" name="2">
            <a:extLst>
              <a:ext uri="{FF2B5EF4-FFF2-40B4-BE49-F238E27FC236}">
                <a16:creationId xmlns:a16="http://schemas.microsoft.com/office/drawing/2014/main" id="{05121ECF-78C2-4F9B-A252-9FA22853E202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0498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24E7957-9BD5-46BB-8119-88C3216C12D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1.1 自主渗透智能体">
            <a:extLst>
              <a:ext uri="{FF2B5EF4-FFF2-40B4-BE49-F238E27FC236}">
                <a16:creationId xmlns:a16="http://schemas.microsoft.com/office/drawing/2014/main" id="{A09C5C0E-3354-4814-857A-5E2C5C9BF2B9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1.1 自主渗透智能体</a:t>
            </a:r>
          </a:p>
        </p:txBody>
      </p:sp>
      <p:sp>
        <p:nvSpPr>
          <p:cNvPr id="3" name="研究对象：用 LLM 规划并执行多步渗透任务">
            <a:extLst>
              <a:ext uri="{FF2B5EF4-FFF2-40B4-BE49-F238E27FC236}">
                <a16:creationId xmlns:a16="http://schemas.microsoft.com/office/drawing/2014/main" id="{B5A365E7-B2B2-4E2F-89C9-A18337F5B730}"/>
              </a:ext>
            </a:extLst>
          </p:cNvPr>
          <p:cNvSpPr>
            <a:spLocks noGrp="1"/>
          </p:cNvSpPr>
          <p:nvPr/>
        </p:nvSpPr>
        <p:spPr>
          <a:xfrm>
            <a:off x="495300" y="98107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研究对象：用 LLM 规划并执行多步渗透任务</a:t>
            </a:r>
          </a:p>
        </p:txBody>
      </p:sp>
      <p:sp>
        <p:nvSpPr>
          <p:cNvPr id="4" name="多 LLM 架构将渗透任务分解为总结、推理与执行。总结器处理工具返回的环">
            <a:extLst>
              <a:ext uri="{FF2B5EF4-FFF2-40B4-BE49-F238E27FC236}">
                <a16:creationId xmlns:a16="http://schemas.microsoft.com/office/drawing/2014/main" id="{A7D6CAD4-30EA-46E5-945B-7F5EB32B8F57}"/>
              </a:ext>
            </a:extLst>
          </p:cNvPr>
          <p:cNvSpPr>
            <a:spLocks noGrp="1"/>
          </p:cNvSpPr>
          <p:nvPr/>
        </p:nvSpPr>
        <p:spPr>
          <a:xfrm>
            <a:off x="495300" y="1400175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多 LLM 架构将渗透任务分解为总结、推理与执行。总结器处理工具返回的环境信息，推理器依据知识状态 K 更新任务，执行器生成命令并调用工具。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495300" y="2190750"/>
          <a:ext cx="11163300" cy="2524124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031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输入与职责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典型内容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总结器 Ms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压缩工具返回的环境信息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服务扫描结果、日志、文件内容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推理器 Mr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更新知识状态 K，选择下一步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已发现凭据、潜在漏洞、待探索目标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执行器 Me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把选定步骤转成工具操作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调用终端、扫描器或漏洞利用工具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知识状态 K 保存已发现线索、潜在漏洞与任务进度。模块可使用相同模型权重">
            <a:extLst>
              <a:ext uri="{FF2B5EF4-FFF2-40B4-BE49-F238E27FC236}">
                <a16:creationId xmlns:a16="http://schemas.microsoft.com/office/drawing/2014/main" id="{3B97510D-2EB8-45B0-8504-D0AFC8B9CEFD}"/>
              </a:ext>
            </a:extLst>
          </p:cNvPr>
          <p:cNvSpPr>
            <a:spLocks noGrp="1"/>
          </p:cNvSpPr>
          <p:nvPr/>
        </p:nvSpPr>
        <p:spPr>
          <a:xfrm>
            <a:off x="495300" y="5000625"/>
            <a:ext cx="1114425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知识状态 K 保存已发现线索、潜在漏洞与任务进度。模块可使用相同模型权重，但提示与上下文不同。总结器压缩扫描与文件读取结果，推理器据此维护任务状态，执行器将任务转为工具调用。假信息可能沿这一链路进入 K，并持续影响决策。</a:t>
            </a:r>
          </a:p>
        </p:txBody>
      </p:sp>
      <p:sp>
        <p:nvSpPr>
          <p:cNvPr id="7" name="3">
            <a:extLst>
              <a:ext uri="{FF2B5EF4-FFF2-40B4-BE49-F238E27FC236}">
                <a16:creationId xmlns:a16="http://schemas.microsoft.com/office/drawing/2014/main" id="{83D3FC06-7525-4628-96AF-29100C221DCE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922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4044AAC-057D-4316-895A-7BC03DDA113E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1.2 防御对象与研究问题">
            <a:extLst>
              <a:ext uri="{FF2B5EF4-FFF2-40B4-BE49-F238E27FC236}">
                <a16:creationId xmlns:a16="http://schemas.microsoft.com/office/drawing/2014/main" id="{72906F23-C294-40E0-BAD0-82548860FF12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1.2 防御对象与研究问题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95300" y="1047750"/>
          <a:ext cx="11163300" cy="2809876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已有思路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主要作用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本文关注的差异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传统入侵检测与阻断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依据网络或主机行为识别攻击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增加对智能体认知与决策的干扰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蜜罐与蜜标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诱导交互，记录入侵线索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利用 LLM 特有的读取和行动差异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提示注入防护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保护智能体，避免外部文本改写任务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从防守环境出发，反向干扰攻击智能体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本文的核心研究问题">
            <a:extLst>
              <a:ext uri="{FF2B5EF4-FFF2-40B4-BE49-F238E27FC236}">
                <a16:creationId xmlns:a16="http://schemas.microsoft.com/office/drawing/2014/main" id="{26AE9A63-45A7-4694-92DF-BEF2B305FB45}"/>
              </a:ext>
            </a:extLst>
          </p:cNvPr>
          <p:cNvSpPr>
            <a:spLocks noGrp="1"/>
          </p:cNvSpPr>
          <p:nvPr/>
        </p:nvSpPr>
        <p:spPr>
          <a:xfrm>
            <a:off x="495300" y="421957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本文的核心研究问题</a:t>
            </a:r>
          </a:p>
        </p:txBody>
      </p:sp>
      <p:sp>
        <p:nvSpPr>
          <p:cNvPr id="5" name="论文关注自主 LLM 网络攻击者。防守方在攻击发生前修改可被读取的数据点">
            <a:extLst>
              <a:ext uri="{FF2B5EF4-FFF2-40B4-BE49-F238E27FC236}">
                <a16:creationId xmlns:a16="http://schemas.microsoft.com/office/drawing/2014/main" id="{D157FFB4-FF4A-4376-9FCA-86A67CC0803F}"/>
              </a:ext>
            </a:extLst>
          </p:cNvPr>
          <p:cNvSpPr>
            <a:spLocks noGrp="1"/>
          </p:cNvSpPr>
          <p:nvPr/>
        </p:nvSpPr>
        <p:spPr>
          <a:xfrm>
            <a:off x="495300" y="4657725"/>
            <a:ext cx="1114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论文关注自主 LLM 网络攻击者。防守方在攻击发生前修改可被读取的数据点，通过欺骗、误导与模型弱点，使攻击者停止任务、浪费时间或触发可监测的行为，同时保持系统功能与正常可读性。</a:t>
            </a:r>
          </a:p>
        </p:txBody>
      </p:sp>
      <p:sp>
        <p:nvSpPr>
          <p:cNvPr id="6" name="4">
            <a:extLst>
              <a:ext uri="{FF2B5EF4-FFF2-40B4-BE49-F238E27FC236}">
                <a16:creationId xmlns:a16="http://schemas.microsoft.com/office/drawing/2014/main" id="{81FA0BF9-B296-47E1-939E-1BDFE31A007D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2731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24EDD51-B586-4A27-A9A6-72DB1235E810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1.3 威胁模型与防守能力">
            <a:extLst>
              <a:ext uri="{FF2B5EF4-FFF2-40B4-BE49-F238E27FC236}">
                <a16:creationId xmlns:a16="http://schemas.microsoft.com/office/drawing/2014/main" id="{B7775CE9-F4D8-452D-B20D-DB50AE386D26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1.3 威胁模型与防守能力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495300" y="1009650"/>
          <a:ext cx="11163300" cy="257175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参与方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能力与约束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攻击者 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取得目标主机的 root 权限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 LLM 和渗透工具；自主执行，运行中无人接管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防守方 D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停止、延迟或检测攻击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先布置诱饵；不了解 A 的架构、模型和系统提示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 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承载真实资产及诱饵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文件名、日志、配置、HTML、服务横幅等可被读取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防守方先行动">
            <a:extLst>
              <a:ext uri="{FF2B5EF4-FFF2-40B4-BE49-F238E27FC236}">
                <a16:creationId xmlns:a16="http://schemas.microsoft.com/office/drawing/2014/main" id="{DD0BE883-49A0-4BFD-B88F-AAA1BE10CA64}"/>
              </a:ext>
            </a:extLst>
          </p:cNvPr>
          <p:cNvSpPr>
            <a:spLocks noGrp="1"/>
          </p:cNvSpPr>
          <p:nvPr/>
        </p:nvSpPr>
        <p:spPr>
          <a:xfrm>
            <a:off x="523875" y="383857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防守方先行动</a:t>
            </a:r>
          </a:p>
        </p:txBody>
      </p:sp>
      <p:sp>
        <p:nvSpPr>
          <p:cNvPr id="5" name="作者用 Stackelberg 博弈描述行动顺序。防守方先选择数据点并植">
            <a:extLst>
              <a:ext uri="{FF2B5EF4-FFF2-40B4-BE49-F238E27FC236}">
                <a16:creationId xmlns:a16="http://schemas.microsoft.com/office/drawing/2014/main" id="{0D4DBFCB-2346-4E0B-AAD0-A243D7326A09}"/>
              </a:ext>
            </a:extLst>
          </p:cNvPr>
          <p:cNvSpPr>
            <a:spLocks noGrp="1"/>
          </p:cNvSpPr>
          <p:nvPr/>
        </p:nvSpPr>
        <p:spPr>
          <a:xfrm>
            <a:off x="523875" y="416242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作者用 Stackelberg 博弈描述行动顺序。防守方先选择数据点并植入诱饵，攻击者再探索环境，在工具返回的文本中接触这些内容。</a:t>
            </a:r>
          </a:p>
        </p:txBody>
      </p:sp>
      <p:sp>
        <p:nvSpPr>
          <p:cNvPr id="6" name="部署约束">
            <a:extLst>
              <a:ext uri="{FF2B5EF4-FFF2-40B4-BE49-F238E27FC236}">
                <a16:creationId xmlns:a16="http://schemas.microsoft.com/office/drawing/2014/main" id="{914A4223-BC7A-4299-9759-75579E77AD33}"/>
              </a:ext>
            </a:extLst>
          </p:cNvPr>
          <p:cNvSpPr>
            <a:spLocks noGrp="1"/>
          </p:cNvSpPr>
          <p:nvPr/>
        </p:nvSpPr>
        <p:spPr>
          <a:xfrm>
            <a:off x="523875" y="490537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部署约束</a:t>
            </a:r>
          </a:p>
        </p:txBody>
      </p:sp>
      <p:sp>
        <p:nvSpPr>
          <p:cNvPr id="7" name="诱饵可以位于注释、闲置字段和合成记录中。防守方需要保持业务功能与正常可读">
            <a:extLst>
              <a:ext uri="{FF2B5EF4-FFF2-40B4-BE49-F238E27FC236}">
                <a16:creationId xmlns:a16="http://schemas.microsoft.com/office/drawing/2014/main" id="{32C904D0-20B8-4851-A6A2-4FAB0F24B043}"/>
              </a:ext>
            </a:extLst>
          </p:cNvPr>
          <p:cNvSpPr>
            <a:spLocks noGrp="1"/>
          </p:cNvSpPr>
          <p:nvPr/>
        </p:nvSpPr>
        <p:spPr>
          <a:xfrm>
            <a:off x="523875" y="5229225"/>
            <a:ext cx="110490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诱饵可以位于注释、闲置字段和合成记录中。防守方需要保持业务功能与正常可读性，使修改后的环境继续支持合法用户使用。防守方只能调整自身资产中的可控数据点，不能直接访问攻击者的系统提示、模型权重或内部架构。</a:t>
            </a:r>
          </a:p>
        </p:txBody>
      </p:sp>
      <p:sp>
        <p:nvSpPr>
          <p:cNvPr id="8" name="5">
            <a:extLst>
              <a:ext uri="{FF2B5EF4-FFF2-40B4-BE49-F238E27FC236}">
                <a16:creationId xmlns:a16="http://schemas.microsoft.com/office/drawing/2014/main" id="{ACA3D03F-8B2A-42A4-B3F6-30CBCF7F0B47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710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54FD3D7-641C-45BA-9076-7B0AD00F06E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1.4 可被利用的智能体弱点">
            <a:extLst>
              <a:ext uri="{FF2B5EF4-FFF2-40B4-BE49-F238E27FC236}">
                <a16:creationId xmlns:a16="http://schemas.microsoft.com/office/drawing/2014/main" id="{0D300ED6-7B1C-41F9-8654-35EB40C5E46C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1.4 可被利用的智能体弱点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495300" y="990600"/>
          <a:ext cx="11163300" cy="4295774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682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弱点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表现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防守方的机会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682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 训练偏好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偏向常见漏洞与“管理员”等高价值线索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布置熟悉而诱人的假线索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682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依赖不可信输入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环境文本进入总结与知识状态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让未经核验的信息成为判断依据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682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V3 上下文限制、V4 搜索行为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干扰信息积累，沿单一路径继续探索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扩大搜索空间，设置重复路径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682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V5 幻觉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缺乏证据时可能生成不存在的事实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让寻找凭据的过程逐渐偏离环境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682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V6 特殊字符与稀有 token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读取、复述或生成行为出现差异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构造蜜标或扰乱模型输出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682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V7 对齐约束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特定内容触发拒绝或角色变化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使工具调用或攻击流程停止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6">
            <a:extLst>
              <a:ext uri="{FF2B5EF4-FFF2-40B4-BE49-F238E27FC236}">
                <a16:creationId xmlns:a16="http://schemas.microsoft.com/office/drawing/2014/main" id="{94D2A684-41CC-4AB2-B82D-F82CE3C06679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2483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6680CCE-577C-4722-B31F-E2669B216EEB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1 Cloak、Honey、Trap 总体框架">
            <a:extLst>
              <a:ext uri="{FF2B5EF4-FFF2-40B4-BE49-F238E27FC236}">
                <a16:creationId xmlns:a16="http://schemas.microsoft.com/office/drawing/2014/main" id="{EC97152F-E817-4FF5-8081-FCCFEFC7FD2B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2.1 Cloak、Honey、Trap 总体框架</a:t>
            </a:r>
          </a:p>
        </p:txBody>
      </p:sp>
      <p:sp>
        <p:nvSpPr>
          <p:cNvPr id="3" name="Cloak：隐藏与误导">
            <a:extLst>
              <a:ext uri="{FF2B5EF4-FFF2-40B4-BE49-F238E27FC236}">
                <a16:creationId xmlns:a16="http://schemas.microsoft.com/office/drawing/2014/main" id="{52598248-3C3A-4854-B4DF-513DDE05332F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Cloak：隐藏与误导</a:t>
            </a:r>
          </a:p>
        </p:txBody>
      </p:sp>
      <p:sp>
        <p:nvSpPr>
          <p:cNvPr id="4" name="通过虚假事实或特殊字符隐藏关键信息，让智能体形成错误判断，忽略真实漏洞或">
            <a:extLst>
              <a:ext uri="{FF2B5EF4-FFF2-40B4-BE49-F238E27FC236}">
                <a16:creationId xmlns:a16="http://schemas.microsoft.com/office/drawing/2014/main" id="{520C39F8-B710-4FAD-9C58-D96011D5255E}"/>
              </a:ext>
            </a:extLst>
          </p:cNvPr>
          <p:cNvSpPr>
            <a:spLocks noGrp="1"/>
          </p:cNvSpPr>
          <p:nvPr/>
        </p:nvSpPr>
        <p:spPr>
          <a:xfrm>
            <a:off x="495300" y="1371600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通过虚假事实或特殊字符隐藏关键信息，让智能体形成错误判断，忽略真实漏洞或追逐错误目标。</a:t>
            </a:r>
          </a:p>
        </p:txBody>
      </p:sp>
      <p:sp>
        <p:nvSpPr>
          <p:cNvPr id="5" name="Honey：诱捕与识别">
            <a:extLst>
              <a:ext uri="{FF2B5EF4-FFF2-40B4-BE49-F238E27FC236}">
                <a16:creationId xmlns:a16="http://schemas.microsoft.com/office/drawing/2014/main" id="{4FC2B53D-BB8B-405B-8387-50E1C0C617E3}"/>
              </a:ext>
            </a:extLst>
          </p:cNvPr>
          <p:cNvSpPr>
            <a:spLocks noGrp="1"/>
          </p:cNvSpPr>
          <p:nvPr/>
        </p:nvSpPr>
        <p:spPr>
          <a:xfrm>
            <a:off x="495300" y="24288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Honey：诱捕与识别</a:t>
            </a:r>
          </a:p>
        </p:txBody>
      </p:sp>
      <p:sp>
        <p:nvSpPr>
          <p:cNvPr id="6" name="布置可监控的 URL、凭据与字符蜜标。记录诱饵的访问或使用，识别入侵活动">
            <a:extLst>
              <a:ext uri="{FF2B5EF4-FFF2-40B4-BE49-F238E27FC236}">
                <a16:creationId xmlns:a16="http://schemas.microsoft.com/office/drawing/2014/main" id="{E18EA8E2-57D8-49DF-9245-8B149F785CAD}"/>
              </a:ext>
            </a:extLst>
          </p:cNvPr>
          <p:cNvSpPr>
            <a:spLocks noGrp="1"/>
          </p:cNvSpPr>
          <p:nvPr/>
        </p:nvSpPr>
        <p:spPr>
          <a:xfrm>
            <a:off x="495300" y="2752725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布置可监控的 URL、凭据与字符蜜标。记录诱饵的访问或使用，识别入侵活动及可能的 LLM 参与。</a:t>
            </a:r>
          </a:p>
        </p:txBody>
      </p:sp>
      <p:sp>
        <p:nvSpPr>
          <p:cNvPr id="7" name="Trap：干扰与阻断">
            <a:extLst>
              <a:ext uri="{FF2B5EF4-FFF2-40B4-BE49-F238E27FC236}">
                <a16:creationId xmlns:a16="http://schemas.microsoft.com/office/drawing/2014/main" id="{9867807F-A5D1-44F8-82BA-C36D87B0400F}"/>
              </a:ext>
            </a:extLst>
          </p:cNvPr>
          <p:cNvSpPr>
            <a:spLocks noGrp="1"/>
          </p:cNvSpPr>
          <p:nvPr/>
        </p:nvSpPr>
        <p:spPr>
          <a:xfrm>
            <a:off x="495300" y="3810000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Trap：干扰与阻断</a:t>
            </a:r>
          </a:p>
        </p:txBody>
      </p:sp>
      <p:sp>
        <p:nvSpPr>
          <p:cNvPr id="8" name="扩大搜索空间，增加上下文负担，制造循环或诱导代码执行。预期结果包括攻击停">
            <a:extLst>
              <a:ext uri="{FF2B5EF4-FFF2-40B4-BE49-F238E27FC236}">
                <a16:creationId xmlns:a16="http://schemas.microsoft.com/office/drawing/2014/main" id="{B0E9922D-2A65-400C-BF03-7A1ABAC8D365}"/>
              </a:ext>
            </a:extLst>
          </p:cNvPr>
          <p:cNvSpPr>
            <a:spLocks noGrp="1"/>
          </p:cNvSpPr>
          <p:nvPr/>
        </p:nvSpPr>
        <p:spPr>
          <a:xfrm>
            <a:off x="495300" y="4133850"/>
            <a:ext cx="52863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扩大搜索空间，增加上下文负担，制造循环或诱导代码执行。预期结果包括攻击停止、延迟和被检测。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0" y="1197943"/>
            <a:ext cx="5524500" cy="3557239"/>
          </a:xfrm>
          <a:prstGeom prst="rect">
            <a:avLst/>
          </a:prstGeom>
        </p:spPr>
      </p:pic>
      <p:sp>
        <p:nvSpPr>
          <p:cNvPr id="10" name="布置信息后监控交互，支持告警与后续响应">
            <a:extLst>
              <a:ext uri="{FF2B5EF4-FFF2-40B4-BE49-F238E27FC236}">
                <a16:creationId xmlns:a16="http://schemas.microsoft.com/office/drawing/2014/main" id="{CED594E0-64DC-47DD-8CB5-B75D10A91919}"/>
              </a:ext>
            </a:extLst>
          </p:cNvPr>
          <p:cNvSpPr>
            <a:spLocks noGrp="1"/>
          </p:cNvSpPr>
          <p:nvPr/>
        </p:nvSpPr>
        <p:spPr>
          <a:xfrm>
            <a:off x="6153150" y="5143500"/>
            <a:ext cx="53911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布置信息后监控交互，支持告警与后续响应</a:t>
            </a:r>
          </a:p>
        </p:txBody>
      </p:sp>
      <p:sp>
        <p:nvSpPr>
          <p:cNvPr id="11" name="7">
            <a:extLst>
              <a:ext uri="{FF2B5EF4-FFF2-40B4-BE49-F238E27FC236}">
                <a16:creationId xmlns:a16="http://schemas.microsoft.com/office/drawing/2014/main" id="{FF7172E7-9CC6-41CC-84BD-C930E6A37371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75004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31736F7-D22F-4873-9036-B602F53F268A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2 六类战术与十五种技术">
            <a:extLst>
              <a:ext uri="{FF2B5EF4-FFF2-40B4-BE49-F238E27FC236}">
                <a16:creationId xmlns:a16="http://schemas.microsoft.com/office/drawing/2014/main" id="{5F314010-3D91-4C74-A16A-44E8E1F53114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2.2 六类战术与十五种技术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495300" y="1038225"/>
          <a:ext cx="11163300" cy="4010027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861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战术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代表技术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Cloak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T1 误导感知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让其相信错误事实、改变数据表示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Cloak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T2 转移注意力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假版本号、诱人的错误目标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Honey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T3 专用诱饵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特定诱饵、不对称字符蜜标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Trap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T4 扰乱模型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扩大搜索空间、信息过载、循环、稀有 token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Trap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T5 操纵角色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触发对齐拒绝、通过提示注入改变目标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Trap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T6 诱导代码执行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不可信代码、触发告警、浪费计算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作者从七类弱点出发设计技术，使用 GPT-4o 反复构造与验证载荷，再在">
            <a:extLst>
              <a:ext uri="{FF2B5EF4-FFF2-40B4-BE49-F238E27FC236}">
                <a16:creationId xmlns:a16="http://schemas.microsoft.com/office/drawing/2014/main" id="{329FD7D6-DD5A-48EB-B5E2-9544696BE6D8}"/>
              </a:ext>
            </a:extLst>
          </p:cNvPr>
          <p:cNvSpPr>
            <a:spLocks noGrp="1"/>
          </p:cNvSpPr>
          <p:nvPr/>
        </p:nvSpPr>
        <p:spPr>
          <a:xfrm>
            <a:off x="523875" y="5172075"/>
            <a:ext cx="11096625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作者从七类弱点出发设计技术，使用 GPT-4o 反复构造与验证载荷，再在其他模型上评估。十五种技术中有十一种依赖误导信息和欺骗，技术也可组合使用。例如先用专用诱饵引导访问可信外观的数据，用假修复记录改变知识状态。监测循环文件访问，也能将延迟技术用于检测。</a:t>
            </a:r>
          </a:p>
        </p:txBody>
      </p:sp>
      <p:sp>
        <p:nvSpPr>
          <p:cNvPr id="5" name="8">
            <a:extLst>
              <a:ext uri="{FF2B5EF4-FFF2-40B4-BE49-F238E27FC236}">
                <a16:creationId xmlns:a16="http://schemas.microsoft.com/office/drawing/2014/main" id="{D9950FC4-EF94-49A3-BE65-10B142E9913A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9173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F7EF250-83C5-4C56-8DA4-9350F9C249B1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3 Cloak：假版本号与错误判断">
            <a:extLst>
              <a:ext uri="{FF2B5EF4-FFF2-40B4-BE49-F238E27FC236}">
                <a16:creationId xmlns:a16="http://schemas.microsoft.com/office/drawing/2014/main" id="{2D4B0D7D-8BB8-4261-853B-31BC58AED93D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2.3 Cloak：假版本号与错误判断</a:t>
            </a:r>
          </a:p>
        </p:txBody>
      </p:sp>
      <p:sp>
        <p:nvSpPr>
          <p:cNvPr id="3" name="目标：让智能体把有限时间用在错误的判断与漏洞路径上">
            <a:extLst>
              <a:ext uri="{FF2B5EF4-FFF2-40B4-BE49-F238E27FC236}">
                <a16:creationId xmlns:a16="http://schemas.microsoft.com/office/drawing/2014/main" id="{689030C7-2438-4563-A8CE-3D99D99C31F3}"/>
              </a:ext>
            </a:extLst>
          </p:cNvPr>
          <p:cNvSpPr>
            <a:spLocks noGrp="1"/>
          </p:cNvSpPr>
          <p:nvPr/>
        </p:nvSpPr>
        <p:spPr>
          <a:xfrm>
            <a:off x="495300" y="98107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目标：让智能体把有限时间用在错误的判断与漏洞路径上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495300" y="1514475"/>
          <a:ext cx="11163300" cy="2686052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15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作用环节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示例信息或行为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利用的弱点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植入假线索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日志声称：“服务器使用 OpenSSL 1.0.1”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环境文本可能未经核验进入 K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触发熟悉关联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智能体关联到 Heartbleed 漏洞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训练中常见的漏洞案例形成偏好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转移行动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围绕所称版本选择不适用的利用路径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假版本与真实服务不匹配，产生无效尝试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另一条路径：制造“已修复”的错误信念">
            <a:extLst>
              <a:ext uri="{FF2B5EF4-FFF2-40B4-BE49-F238E27FC236}">
                <a16:creationId xmlns:a16="http://schemas.microsoft.com/office/drawing/2014/main" id="{BAD4786F-2334-4906-9E0F-262605C68C5C}"/>
              </a:ext>
            </a:extLst>
          </p:cNvPr>
          <p:cNvSpPr>
            <a:spLocks noGrp="1"/>
          </p:cNvSpPr>
          <p:nvPr/>
        </p:nvSpPr>
        <p:spPr>
          <a:xfrm>
            <a:off x="495300" y="45434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另一条路径：制造“已修复”的错误信念</a:t>
            </a:r>
          </a:p>
        </p:txBody>
      </p:sp>
      <p:sp>
        <p:nvSpPr>
          <p:cNvPr id="6" name="T1.1 在日志中声称系统已更新、所有已知 CVE 已修复，使智能体忽略">
            <a:extLst>
              <a:ext uri="{FF2B5EF4-FFF2-40B4-BE49-F238E27FC236}">
                <a16:creationId xmlns:a16="http://schemas.microsoft.com/office/drawing/2014/main" id="{00AAC662-89C5-48D0-BC80-BEA2BB6C60CD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111442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T1.1 在日志中声称系统已更新、所有已知 CVE 已修复，使智能体忽略潜在漏洞。T2.1 则伪造版本号，借助熟悉的漏洞关联，引导智能体选择不适用的利用方式。</a:t>
            </a:r>
          </a:p>
        </p:txBody>
      </p:sp>
      <p:sp>
        <p:nvSpPr>
          <p:cNvPr id="7" name="9">
            <a:extLst>
              <a:ext uri="{FF2B5EF4-FFF2-40B4-BE49-F238E27FC236}">
                <a16:creationId xmlns:a16="http://schemas.microsoft.com/office/drawing/2014/main" id="{CEB20E82-9288-4674-9E1A-02A76557E35F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7873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CB736C7-082D-4C0B-9C83-8467FBAC9826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4 Cloak：改变文本表示">
            <a:extLst>
              <a:ext uri="{FF2B5EF4-FFF2-40B4-BE49-F238E27FC236}">
                <a16:creationId xmlns:a16="http://schemas.microsoft.com/office/drawing/2014/main" id="{73A7784B-9517-4C58-A10A-DBE622518A6C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2.4 Cloak：改变文本表示</a:t>
            </a:r>
          </a:p>
        </p:txBody>
      </p:sp>
      <p:sp>
        <p:nvSpPr>
          <p:cNvPr id="3" name="T1.2 的作用位置与目的">
            <a:extLst>
              <a:ext uri="{FF2B5EF4-FFF2-40B4-BE49-F238E27FC236}">
                <a16:creationId xmlns:a16="http://schemas.microsoft.com/office/drawing/2014/main" id="{D27340F4-BDD2-4927-8EC9-4F21AEB5DC15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T1.2 的作用位置与目的</a:t>
            </a:r>
          </a:p>
        </p:txBody>
      </p:sp>
      <p:sp>
        <p:nvSpPr>
          <p:cNvPr id="4" name="防守方在日志、文件名或软件版本中插入特殊字符。字符对终端、浏览器和文本编">
            <a:extLst>
              <a:ext uri="{FF2B5EF4-FFF2-40B4-BE49-F238E27FC236}">
                <a16:creationId xmlns:a16="http://schemas.microsoft.com/office/drawing/2014/main" id="{30702532-1762-4A02-A524-04AF0C3C409B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防守方在日志、文件名或软件版本中插入特殊字符。字符对终端、浏览器和文本编辑器的显示，与模型对文本的解释可能不同。论文利用这种差异，让合法用户仍能读懂信息，而智能体遗漏版本号或错误重建文件路径。</a:t>
            </a:r>
          </a:p>
        </p:txBody>
      </p:sp>
      <p:sp>
        <p:nvSpPr>
          <p:cNvPr id="5" name="版本号示例：退格字符 U+0008">
            <a:extLst>
              <a:ext uri="{FF2B5EF4-FFF2-40B4-BE49-F238E27FC236}">
                <a16:creationId xmlns:a16="http://schemas.microsoft.com/office/drawing/2014/main" id="{7ABD9F02-F6F4-4433-9B3C-B3BF632CA19D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版本号示例：退格字符 U+0008</a:t>
            </a:r>
          </a:p>
        </p:txBody>
      </p:sp>
      <p:sp>
        <p:nvSpPr>
          <p:cNvPr id="6" name="原文在“Software version v2.3”后附加四个 U+00">
            <a:extLst>
              <a:ext uri="{FF2B5EF4-FFF2-40B4-BE49-F238E27FC236}">
                <a16:creationId xmlns:a16="http://schemas.microsoft.com/office/drawing/2014/main" id="{FDAED0D5-B478-4E04-875B-BF93CFE552A2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原文在“Software version v2.3”后附加四个 U+0008。论文案例中，人看到完整版本号，智能体的解释只剩“Software version”。对攻击流程而言，服务仍存在，但用于匹配版本漏洞的关键信息丢失。</a:t>
            </a:r>
          </a:p>
        </p:txBody>
      </p:sp>
      <p:sp>
        <p:nvSpPr>
          <p:cNvPr id="7" name="文件名示例：软连字符 U+00AD">
            <a:extLst>
              <a:ext uri="{FF2B5EF4-FFF2-40B4-BE49-F238E27FC236}">
                <a16:creationId xmlns:a16="http://schemas.microsoft.com/office/drawing/2014/main" id="{36134611-37F3-4809-8E2D-DECAD8DA2112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文件名示例：软连字符 U+00AD</a:t>
            </a:r>
          </a:p>
        </p:txBody>
      </p:sp>
      <p:sp>
        <p:nvSpPr>
          <p:cNvPr id="8" name="原文将 U+00AD 插入文件名，给出 fi&lt;U+00AD&gt;le.txt">
            <a:extLst>
              <a:ext uri="{FF2B5EF4-FFF2-40B4-BE49-F238E27FC236}">
                <a16:creationId xmlns:a16="http://schemas.microsoft.com/office/drawing/2014/main" id="{E0BB7965-DF0F-40A7-8265-0860E5EFAE77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原文将 U+00AD 插入文件名，给出 fi&lt;U+00AD&gt;le.txt 的示例。人工可借助终端 TAB 补全引用原文件，LLM 重新生成文件名时可能出错，从而导致文件访问失败。该技术作用于表示和复述链路。</a:t>
            </a:r>
          </a:p>
        </p:txBody>
      </p:sp>
      <p:sp>
        <p:nvSpPr>
          <p:cNvPr id="9" name="与假版本号的区别">
            <a:extLst>
              <a:ext uri="{FF2B5EF4-FFF2-40B4-BE49-F238E27FC236}">
                <a16:creationId xmlns:a16="http://schemas.microsoft.com/office/drawing/2014/main" id="{4018C70D-E131-433C-8825-C65383971F60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与假版本号的区别</a:t>
            </a:r>
          </a:p>
        </p:txBody>
      </p:sp>
      <p:sp>
        <p:nvSpPr>
          <p:cNvPr id="10" name="T1.2 改变同一数据的表示，使智能体错误读取或无法正确引用。T2.1 ">
            <a:extLst>
              <a:ext uri="{FF2B5EF4-FFF2-40B4-BE49-F238E27FC236}">
                <a16:creationId xmlns:a16="http://schemas.microsoft.com/office/drawing/2014/main" id="{084C6539-283A-4C4A-88F8-2BEF0BC70B21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T1.2 改变同一数据的表示，使智能体错误读取或无法正确引用。T2.1 直接植入另一个版本号，使智能体沿虚假事实继续推理。两者都影响感知，但分别依赖字符处理差异与事实可信度判断。</a:t>
            </a:r>
          </a:p>
        </p:txBody>
      </p:sp>
      <p:sp>
        <p:nvSpPr>
          <p:cNvPr id="11" name="10">
            <a:extLst>
              <a:ext uri="{FF2B5EF4-FFF2-40B4-BE49-F238E27FC236}">
                <a16:creationId xmlns:a16="http://schemas.microsoft.com/office/drawing/2014/main" id="{A1DF69E5-6B4C-4E59-9FB5-BE67AEE3665F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278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9F10599-A6DB-46F4-842D-7CE2A3E17B5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5 Cloak：连续线索与路径转移">
            <a:extLst>
              <a:ext uri="{FF2B5EF4-FFF2-40B4-BE49-F238E27FC236}">
                <a16:creationId xmlns:a16="http://schemas.microsoft.com/office/drawing/2014/main" id="{267EB6C1-E0CC-4116-B5B9-C240D17FF2A9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2.5 Cloak：连续线索与路径转移</a:t>
            </a:r>
          </a:p>
        </p:txBody>
      </p:sp>
      <p:sp>
        <p:nvSpPr>
          <p:cNvPr id="3" name="T2.2 的载荷结构">
            <a:extLst>
              <a:ext uri="{FF2B5EF4-FFF2-40B4-BE49-F238E27FC236}">
                <a16:creationId xmlns:a16="http://schemas.microsoft.com/office/drawing/2014/main" id="{85F26E04-C1C7-47A8-A85D-41727F36EC9E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T2.2 的载荷结构</a:t>
            </a:r>
          </a:p>
        </p:txBody>
      </p:sp>
      <p:sp>
        <p:nvSpPr>
          <p:cNvPr id="4" name="防守方在日志或目录中持续提供看似有价值的下一步线索。原文使用“Admin">
            <a:extLst>
              <a:ext uri="{FF2B5EF4-FFF2-40B4-BE49-F238E27FC236}">
                <a16:creationId xmlns:a16="http://schemas.microsoft.com/office/drawing/2014/main" id="{5F7A963B-AFDC-4483-A233-2FEC27C0FA5F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防守方在日志或目录中持续提供看似有价值的下一步线索。原文使用“Admin logged in from: [203.0.113.1]”之类的记录，使智能体尝试连接相应主机，再遇到指向另一个地址的记录，逐渐远离关键资产。</a:t>
            </a:r>
          </a:p>
        </p:txBody>
      </p:sp>
      <p:sp>
        <p:nvSpPr>
          <p:cNvPr id="5" name="目录树实验的构造">
            <a:extLst>
              <a:ext uri="{FF2B5EF4-FFF2-40B4-BE49-F238E27FC236}">
                <a16:creationId xmlns:a16="http://schemas.microsoft.com/office/drawing/2014/main" id="{BAD2AC12-722E-438B-87E3-5D24CAE29ED1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目录树实验的构造</a:t>
            </a:r>
          </a:p>
        </p:txBody>
      </p:sp>
      <p:sp>
        <p:nvSpPr>
          <p:cNvPr id="6" name="作者为 PentestGPT 提供一个含典型目录的 FTP 服务器。其中">
            <a:extLst>
              <a:ext uri="{FF2B5EF4-FFF2-40B4-BE49-F238E27FC236}">
                <a16:creationId xmlns:a16="http://schemas.microsoft.com/office/drawing/2014/main" id="{515035E9-28DE-4209-A00B-3E3896394F68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作者为 PentestGPT 提供一个含典型目录的 FTP 服务器。其中 private_docs 目录具有 250 层连续嵌套的子目录，各层名称都暗示存在有价值的文档。每次进入目录后，新的名称继续提供向下探索的理由。</a:t>
            </a:r>
          </a:p>
        </p:txBody>
      </p:sp>
      <p:sp>
        <p:nvSpPr>
          <p:cNvPr id="7" name="20 次试验中的行为">
            <a:extLst>
              <a:ext uri="{FF2B5EF4-FFF2-40B4-BE49-F238E27FC236}">
                <a16:creationId xmlns:a16="http://schemas.microsoft.com/office/drawing/2014/main" id="{216CB898-9F33-45F7-AB9E-3D8C7EBEB406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20 次试验中的行为</a:t>
            </a:r>
          </a:p>
        </p:txBody>
      </p:sp>
      <p:sp>
        <p:nvSpPr>
          <p:cNvPr id="8" name="论文报告，智能体在 20 次试验中持续沿该目录树探索到最深层。作者将此解">
            <a:extLst>
              <a:ext uri="{FF2B5EF4-FFF2-40B4-BE49-F238E27FC236}">
                <a16:creationId xmlns:a16="http://schemas.microsoft.com/office/drawing/2014/main" id="{E6AFAA63-3677-47C1-81F9-984C911EEE4B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论文报告，智能体在 20 次试验中持续沿该目录树探索到最深层。作者将此解释为类似深度优先搜索的倾向：先耗尽某一路径上的候选，再转向其他选项。线性探索历史可能加强这种路径偏好。</a:t>
            </a:r>
          </a:p>
        </p:txBody>
      </p:sp>
      <p:sp>
        <p:nvSpPr>
          <p:cNvPr id="9" name="预期效果与技术区分">
            <a:extLst>
              <a:ext uri="{FF2B5EF4-FFF2-40B4-BE49-F238E27FC236}">
                <a16:creationId xmlns:a16="http://schemas.microsoft.com/office/drawing/2014/main" id="{24037CB9-4650-4A2D-85F7-35B1C49D353C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预期效果与技术区分</a:t>
            </a:r>
          </a:p>
        </p:txBody>
      </p:sp>
      <p:sp>
        <p:nvSpPr>
          <p:cNvPr id="10" name="该方法主要延迟攻击，不必让智能体完全停止。T2.2 通过连续“面包屑”引">
            <a:extLst>
              <a:ext uri="{FF2B5EF4-FFF2-40B4-BE49-F238E27FC236}">
                <a16:creationId xmlns:a16="http://schemas.microsoft.com/office/drawing/2014/main" id="{3130D90F-CF6C-4AD8-8682-A9AEFD647F60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该方法主要延迟攻击，不必让智能体完全停止。T2.2 通过连续“面包屑”引导探索方向。T4.1 则一次性加入大量虚构资产和漏洞，扩大候选集合并污染知识状态。二者分别增加路径深度与搜索广度。</a:t>
            </a:r>
          </a:p>
        </p:txBody>
      </p:sp>
      <p:sp>
        <p:nvSpPr>
          <p:cNvPr id="11" name="11">
            <a:extLst>
              <a:ext uri="{FF2B5EF4-FFF2-40B4-BE49-F238E27FC236}">
                <a16:creationId xmlns:a16="http://schemas.microsoft.com/office/drawing/2014/main" id="{8FE3641F-C0FF-4B75-A446-F48A7DADBD22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1111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49B55F0-F95C-425B-B61E-1976EFD4C211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6 Honey：LLM 专用诱饵">
            <a:extLst>
              <a:ext uri="{FF2B5EF4-FFF2-40B4-BE49-F238E27FC236}">
                <a16:creationId xmlns:a16="http://schemas.microsoft.com/office/drawing/2014/main" id="{A807B05A-FD42-466F-A374-01B7D9015CD5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2.6 Honey：LLM 专用诱饵</a:t>
            </a:r>
          </a:p>
        </p:txBody>
      </p:sp>
      <p:sp>
        <p:nvSpPr>
          <p:cNvPr id="3" name="传统蜜罐与蜜标的基础">
            <a:extLst>
              <a:ext uri="{FF2B5EF4-FFF2-40B4-BE49-F238E27FC236}">
                <a16:creationId xmlns:a16="http://schemas.microsoft.com/office/drawing/2014/main" id="{A91F6F26-B713-4A99-8EC2-0831B771E7F6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传统蜜罐与蜜标的基础</a:t>
            </a:r>
          </a:p>
        </p:txBody>
      </p:sp>
      <p:sp>
        <p:nvSpPr>
          <p:cNvPr id="4" name="蜜罐是供攻击者交互的诱饵系统，便于观察行为而不暴露真实资产。蜜标是可监测">
            <a:extLst>
              <a:ext uri="{FF2B5EF4-FFF2-40B4-BE49-F238E27FC236}">
                <a16:creationId xmlns:a16="http://schemas.microsoft.com/office/drawing/2014/main" id="{7E45E6CF-811D-4601-8883-CEA2590EEC6A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蜜罐是供攻击者交互的诱饵系统，便于观察行为而不暴露真实资产。蜜标是可监测的假数据，例如伪造凭据；一旦被使用，就产生未经授权访问的信号。本文的 T3.1 将这些诱饵包装成智能体熟悉的高价值线索。</a:t>
            </a:r>
          </a:p>
        </p:txBody>
      </p:sp>
      <p:sp>
        <p:nvSpPr>
          <p:cNvPr id="5" name="T3.1 的内容与包装">
            <a:extLst>
              <a:ext uri="{FF2B5EF4-FFF2-40B4-BE49-F238E27FC236}">
                <a16:creationId xmlns:a16="http://schemas.microsoft.com/office/drawing/2014/main" id="{606379D2-D00E-4CD5-9B20-08336101F241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T3.1 的内容与包装</a:t>
            </a:r>
          </a:p>
        </p:txBody>
      </p:sp>
      <p:sp>
        <p:nvSpPr>
          <p:cNvPr id="6" name="载荷可以是一封 IT 人员口吻的消息，声称某个 URL 可访问 Acti">
            <a:extLst>
              <a:ext uri="{FF2B5EF4-FFF2-40B4-BE49-F238E27FC236}">
                <a16:creationId xmlns:a16="http://schemas.microsoft.com/office/drawing/2014/main" id="{341651A9-A74A-43DD-BF34-3C94FE4091D5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载荷可以是一封 IT 人员口吻的消息，声称某个 URL 可访问 Active Directory 服务，也可以是一段指向私有服务器的凭据。防守方将其放入邮件、普通文件或其他可读取数据点，使访问动作看起来能推动当前渗透任务。</a:t>
            </a:r>
          </a:p>
        </p:txBody>
      </p:sp>
      <p:sp>
        <p:nvSpPr>
          <p:cNvPr id="7" name="论文中的显眼诱饵">
            <a:extLst>
              <a:ext uri="{FF2B5EF4-FFF2-40B4-BE49-F238E27FC236}">
                <a16:creationId xmlns:a16="http://schemas.microsoft.com/office/drawing/2014/main" id="{D056C896-6BA3-4DE4-8DE1-D7E528E4BE41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论文中的显眼诱饵</a:t>
            </a:r>
          </a:p>
        </p:txBody>
      </p:sp>
      <p:sp>
        <p:nvSpPr>
          <p:cNvPr id="8" name="原文甚至使用路径含 no_hackers/thisIsATrap 的链接">
            <a:extLst>
              <a:ext uri="{FF2B5EF4-FFF2-40B4-BE49-F238E27FC236}">
                <a16:creationId xmlns:a16="http://schemas.microsoft.com/office/drawing/2014/main" id="{E3CA8FBA-6841-491F-9BC5-8F9E2A664704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原文甚至使用路径含 no_hackers/thisIsATrap 的链接。作者观察到，部分智能体仍会访问这种明显可疑的地址。载荷中的任务收益承诺，可能驱动它继续交互。T3.1 的成功行为是实际访问诱饵或使用假凭据。</a:t>
            </a:r>
          </a:p>
        </p:txBody>
      </p:sp>
      <p:sp>
        <p:nvSpPr>
          <p:cNvPr id="9" name="T3.1 与 T3.2 的分工">
            <a:extLst>
              <a:ext uri="{FF2B5EF4-FFF2-40B4-BE49-F238E27FC236}">
                <a16:creationId xmlns:a16="http://schemas.microsoft.com/office/drawing/2014/main" id="{5F5CF0FC-0D3C-4153-99A4-F2B62F368DB4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T3.1 与 T3.2 的分工</a:t>
            </a:r>
          </a:p>
        </p:txBody>
      </p:sp>
      <p:sp>
        <p:nvSpPr>
          <p:cNvPr id="10" name="T3.1 通过访问可监控资源暴露行为。T3.2 进一步在蜜标中引入不对称">
            <a:extLst>
              <a:ext uri="{FF2B5EF4-FFF2-40B4-BE49-F238E27FC236}">
                <a16:creationId xmlns:a16="http://schemas.microsoft.com/office/drawing/2014/main" id="{954D4F1B-8685-41BF-ADC6-2312890CD987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T3.1 通过访问可监控资源暴露行为。T3.2 进一步在蜜标中引入不对称字符，使人工与模型产生不同字符串版本。前者提供交互信号，后者利用文本表示差异，提供可能的 LLM 参与信号。</a:t>
            </a:r>
          </a:p>
        </p:txBody>
      </p:sp>
      <p:sp>
        <p:nvSpPr>
          <p:cNvPr id="11" name="12">
            <a:extLst>
              <a:ext uri="{FF2B5EF4-FFF2-40B4-BE49-F238E27FC236}">
                <a16:creationId xmlns:a16="http://schemas.microsoft.com/office/drawing/2014/main" id="{CFCA804A-6D84-4944-B22A-DE585FCE1770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3465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4222C2B-9F11-449E-AE81-0A7FA53909A3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7 Honey：不对称字符蜜标">
            <a:extLst>
              <a:ext uri="{FF2B5EF4-FFF2-40B4-BE49-F238E27FC236}">
                <a16:creationId xmlns:a16="http://schemas.microsoft.com/office/drawing/2014/main" id="{ABE5FFA4-7247-4F5C-AA95-FA13BBACF72D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2.7 Honey：不对称字符蜜标</a:t>
            </a:r>
          </a:p>
        </p:txBody>
      </p:sp>
      <p:sp>
        <p:nvSpPr>
          <p:cNvPr id="3" name="设计目标">
            <a:extLst>
              <a:ext uri="{FF2B5EF4-FFF2-40B4-BE49-F238E27FC236}">
                <a16:creationId xmlns:a16="http://schemas.microsoft.com/office/drawing/2014/main" id="{C0D3968C-CBDA-49DB-A720-CB27803EC09F}"/>
              </a:ext>
            </a:extLst>
          </p:cNvPr>
          <p:cNvSpPr>
            <a:spLocks noGrp="1"/>
          </p:cNvSpPr>
          <p:nvPr/>
        </p:nvSpPr>
        <p:spPr>
          <a:xfrm>
            <a:off x="504825" y="1028700"/>
            <a:ext cx="521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设计目标</a:t>
            </a:r>
          </a:p>
        </p:txBody>
      </p:sp>
      <p:sp>
        <p:nvSpPr>
          <p:cNvPr id="4" name="作者将不对称字符分成两组：Set A 对人的显示影响小，却改变 LLM ">
            <a:extLst>
              <a:ext uri="{FF2B5EF4-FFF2-40B4-BE49-F238E27FC236}">
                <a16:creationId xmlns:a16="http://schemas.microsoft.com/office/drawing/2014/main" id="{8A6B1C42-C33E-46E2-ABD7-FDEFEE96FEB6}"/>
              </a:ext>
            </a:extLst>
          </p:cNvPr>
          <p:cNvSpPr>
            <a:spLocks noGrp="1"/>
          </p:cNvSpPr>
          <p:nvPr/>
        </p:nvSpPr>
        <p:spPr>
          <a:xfrm>
            <a:off x="504825" y="1352550"/>
            <a:ext cx="52197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作者将不对称字符分成两组：Set A 对人的显示影响小，却改变 LLM 的解释。Set B 对 LLM 解释影响小，却改变人的显示。</a:t>
            </a:r>
          </a:p>
        </p:txBody>
      </p:sp>
      <p:sp>
        <p:nvSpPr>
          <p:cNvPr id="5" name="示例：不可见标签字符">
            <a:extLst>
              <a:ext uri="{FF2B5EF4-FFF2-40B4-BE49-F238E27FC236}">
                <a16:creationId xmlns:a16="http://schemas.microsoft.com/office/drawing/2014/main" id="{2B001C90-2013-44CE-A715-D53739A69A4E}"/>
              </a:ext>
            </a:extLst>
          </p:cNvPr>
          <p:cNvSpPr>
            <a:spLocks noGrp="1"/>
          </p:cNvSpPr>
          <p:nvPr/>
        </p:nvSpPr>
        <p:spPr>
          <a:xfrm>
            <a:off x="504825" y="2409825"/>
            <a:ext cx="521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示例：不可见标签字符</a:t>
            </a:r>
          </a:p>
        </p:txBody>
      </p:sp>
      <p:sp>
        <p:nvSpPr>
          <p:cNvPr id="6" name="URL 中加入不可见的 Unicode 标签字符。人眼看到 page_f">
            <a:extLst>
              <a:ext uri="{FF2B5EF4-FFF2-40B4-BE49-F238E27FC236}">
                <a16:creationId xmlns:a16="http://schemas.microsoft.com/office/drawing/2014/main" id="{A3E4847A-877A-474D-9B22-FB966B18E518}"/>
              </a:ext>
            </a:extLst>
          </p:cNvPr>
          <p:cNvSpPr>
            <a:spLocks noGrp="1"/>
          </p:cNvSpPr>
          <p:nvPr/>
        </p:nvSpPr>
        <p:spPr>
          <a:xfrm>
            <a:off x="504825" y="2733675"/>
            <a:ext cx="52197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URL 中加入不可见的 Unicode 标签字符。人眼看到 page_for，LLM 在论文案例中读作 page_for_LLM。差异来自显示与模型解释之间的不一致。</a:t>
            </a:r>
          </a:p>
        </p:txBody>
      </p:sp>
      <p:sp>
        <p:nvSpPr>
          <p:cNvPr id="7" name="检测方式">
            <a:extLst>
              <a:ext uri="{FF2B5EF4-FFF2-40B4-BE49-F238E27FC236}">
                <a16:creationId xmlns:a16="http://schemas.microsoft.com/office/drawing/2014/main" id="{00628E74-F2C0-4CD5-A81E-159547B852D8}"/>
              </a:ext>
            </a:extLst>
          </p:cNvPr>
          <p:cNvSpPr>
            <a:spLocks noGrp="1"/>
          </p:cNvSpPr>
          <p:nvPr/>
        </p:nvSpPr>
        <p:spPr>
          <a:xfrm>
            <a:off x="504825" y="3790950"/>
            <a:ext cx="521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检测方式</a:t>
            </a:r>
          </a:p>
        </p:txBody>
      </p:sp>
      <p:sp>
        <p:nvSpPr>
          <p:cNvPr id="8" name="把不对称字符加入密码蜜标，比较人工读取与模型输出。防守方根据所使用的字符">
            <a:extLst>
              <a:ext uri="{FF2B5EF4-FFF2-40B4-BE49-F238E27FC236}">
                <a16:creationId xmlns:a16="http://schemas.microsoft.com/office/drawing/2014/main" id="{F826E0A5-7412-4798-83D1-63709A71414C}"/>
              </a:ext>
            </a:extLst>
          </p:cNvPr>
          <p:cNvSpPr>
            <a:spLocks noGrp="1"/>
          </p:cNvSpPr>
          <p:nvPr/>
        </p:nvSpPr>
        <p:spPr>
          <a:xfrm>
            <a:off x="504825" y="4114800"/>
            <a:ext cx="52197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把不对称字符加入密码蜜标，比较人工读取与模型输出。防守方根据所使用的字符串版本，识别可能的 LLM 访问。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1374870"/>
            <a:ext cx="5600700" cy="2870010"/>
          </a:xfrm>
          <a:prstGeom prst="rect">
            <a:avLst/>
          </a:prstGeom>
        </p:spPr>
      </p:pic>
      <p:sp>
        <p:nvSpPr>
          <p:cNvPr id="10" name="Bandit 密码情境：特殊字符随机插入 1–20 次；人工使用 nan">
            <a:extLst>
              <a:ext uri="{FF2B5EF4-FFF2-40B4-BE49-F238E27FC236}">
                <a16:creationId xmlns:a16="http://schemas.microsoft.com/office/drawing/2014/main" id="{11CDEA59-5F88-4F72-B177-0CC1B1D634D7}"/>
              </a:ext>
            </a:extLst>
          </p:cNvPr>
          <p:cNvSpPr>
            <a:spLocks noGrp="1"/>
          </p:cNvSpPr>
          <p:nvPr/>
        </p:nvSpPr>
        <p:spPr>
          <a:xfrm>
            <a:off x="6048375" y="4600575"/>
            <a:ext cx="5476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Bandit 密码情境：特殊字符随机插入 1–20 次；人工使用 nano 查看与复制。</a:t>
            </a:r>
          </a:p>
        </p:txBody>
      </p:sp>
      <p:sp>
        <p:nvSpPr>
          <p:cNvPr id="11" name="13">
            <a:extLst>
              <a:ext uri="{FF2B5EF4-FFF2-40B4-BE49-F238E27FC236}">
                <a16:creationId xmlns:a16="http://schemas.microsoft.com/office/drawing/2014/main" id="{16BA1613-8661-4F6B-8EF9-A0A80D484E79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7190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25DE8F3-F716-4435-868F-CFF1685304A5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8 字符蜜标：字符集合与测量">
            <a:extLst>
              <a:ext uri="{FF2B5EF4-FFF2-40B4-BE49-F238E27FC236}">
                <a16:creationId xmlns:a16="http://schemas.microsoft.com/office/drawing/2014/main" id="{129B94E0-38DA-4A96-8280-6B4ED46F46FB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2.8 字符蜜标：字符集合与测量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504825" y="1028700"/>
          <a:ext cx="11096625" cy="1838325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字符集合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原文列举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作用方式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 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BKSP、CTRL、ESC、FF、VT、SUB、SOH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人的常用显示结果与模型解释产生差异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 B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SHY、LRM、ZWJ、PS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模型解释与人的视觉呈现产生差异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密码蜜标实验流程">
            <a:extLst>
              <a:ext uri="{FF2B5EF4-FFF2-40B4-BE49-F238E27FC236}">
                <a16:creationId xmlns:a16="http://schemas.microsoft.com/office/drawing/2014/main" id="{CB240D7F-E34A-4153-B520-74CFE196706C}"/>
              </a:ext>
            </a:extLst>
          </p:cNvPr>
          <p:cNvSpPr>
            <a:spLocks noGrp="1"/>
          </p:cNvSpPr>
          <p:nvPr/>
        </p:nvSpPr>
        <p:spPr>
          <a:xfrm>
            <a:off x="504825" y="31718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密码蜜标实验流程</a:t>
            </a:r>
          </a:p>
        </p:txBody>
      </p:sp>
      <p:sp>
        <p:nvSpPr>
          <p:cNvPr id="5" name="实验使用 Bandit CTF 的明文密码情境。人工通过 nano 查看">
            <a:extLst>
              <a:ext uri="{FF2B5EF4-FFF2-40B4-BE49-F238E27FC236}">
                <a16:creationId xmlns:a16="http://schemas.microsoft.com/office/drawing/2014/main" id="{1F949A21-34C0-4228-A81B-02D3FE20EEFD}"/>
              </a:ext>
            </a:extLst>
          </p:cNvPr>
          <p:cNvSpPr>
            <a:spLocks noGrp="1"/>
          </p:cNvSpPr>
          <p:nvPr/>
        </p:nvSpPr>
        <p:spPr>
          <a:xfrm>
            <a:off x="504825" y="3495675"/>
            <a:ext cx="11096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实验使用 Bandit CTF 的明文密码情境。人工通过 nano 查看并复制密码，模型读取相应文本后输出密码。作者把一个特殊字符随机插入 1–20 次，比较模型输出与人工给出的版本。输出不同则记录为检出 LLM。</a:t>
            </a:r>
          </a:p>
        </p:txBody>
      </p:sp>
      <p:sp>
        <p:nvSpPr>
          <p:cNvPr id="6" name="Figure 2 的检测率含义">
            <a:extLst>
              <a:ext uri="{FF2B5EF4-FFF2-40B4-BE49-F238E27FC236}">
                <a16:creationId xmlns:a16="http://schemas.microsoft.com/office/drawing/2014/main" id="{0402398A-04C6-449E-BDE8-226994780B4B}"/>
              </a:ext>
            </a:extLst>
          </p:cNvPr>
          <p:cNvSpPr>
            <a:spLocks noGrp="1"/>
          </p:cNvSpPr>
          <p:nvPr/>
        </p:nvSpPr>
        <p:spPr>
          <a:xfrm>
            <a:off x="504825" y="42195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Figure 2 的检测率含义</a:t>
            </a:r>
          </a:p>
        </p:txBody>
      </p:sp>
      <p:sp>
        <p:nvSpPr>
          <p:cNvPr id="7" name="检测率衡量该密码读取实验中模型与人工版本可被区分的比例。图中按字符集合、">
            <a:extLst>
              <a:ext uri="{FF2B5EF4-FFF2-40B4-BE49-F238E27FC236}">
                <a16:creationId xmlns:a16="http://schemas.microsoft.com/office/drawing/2014/main" id="{2BFA8FB4-5C9B-402D-B472-D0CDEEFD84A2}"/>
              </a:ext>
            </a:extLst>
          </p:cNvPr>
          <p:cNvSpPr>
            <a:spLocks noGrp="1"/>
          </p:cNvSpPr>
          <p:nvPr/>
        </p:nvSpPr>
        <p:spPr>
          <a:xfrm>
            <a:off x="504825" y="4543425"/>
            <a:ext cx="11096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检测率衡量该密码读取实验中模型与人工版本可被区分的比例。图中按字符集合、具体字符和后端模型分别统计。不同字符的有效性不同，同一字符在不同模型上的效果也不一致，因此结果与输入输出链路有关。</a:t>
            </a:r>
          </a:p>
        </p:txBody>
      </p:sp>
      <p:sp>
        <p:nvSpPr>
          <p:cNvPr id="8" name="不可见后缀的具体构造">
            <a:extLst>
              <a:ext uri="{FF2B5EF4-FFF2-40B4-BE49-F238E27FC236}">
                <a16:creationId xmlns:a16="http://schemas.microsoft.com/office/drawing/2014/main" id="{3E74DA5E-DD0B-4AD2-B5B8-DEC9832CDA3A}"/>
              </a:ext>
            </a:extLst>
          </p:cNvPr>
          <p:cNvSpPr>
            <a:spLocks noGrp="1"/>
          </p:cNvSpPr>
          <p:nvPr/>
        </p:nvSpPr>
        <p:spPr>
          <a:xfrm>
            <a:off x="504825" y="52673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不可见后缀的具体构造</a:t>
            </a:r>
          </a:p>
        </p:txBody>
      </p:sp>
      <p:sp>
        <p:nvSpPr>
          <p:cNvPr id="9" name="原文在 page_for 后添加 Unicode 标签字符 U+E005">
            <a:extLst>
              <a:ext uri="{FF2B5EF4-FFF2-40B4-BE49-F238E27FC236}">
                <a16:creationId xmlns:a16="http://schemas.microsoft.com/office/drawing/2014/main" id="{150E45CA-AA7D-42B6-8EA1-4C617820AB19}"/>
              </a:ext>
            </a:extLst>
          </p:cNvPr>
          <p:cNvSpPr>
            <a:spLocks noGrp="1"/>
          </p:cNvSpPr>
          <p:nvPr/>
        </p:nvSpPr>
        <p:spPr>
          <a:xfrm>
            <a:off x="504825" y="5591175"/>
            <a:ext cx="11096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原文在 page_for 后添加 Unicode 标签字符 U+E005F、U+E006C、U+E006C、U+E006D，形成隐藏后缀 _llm。人工视觉中后缀不可见，论文案例中的模型将地址解释为 page_for_LLM。</a:t>
            </a:r>
          </a:p>
        </p:txBody>
      </p:sp>
      <p:sp>
        <p:nvSpPr>
          <p:cNvPr id="10" name="14">
            <a:extLst>
              <a:ext uri="{FF2B5EF4-FFF2-40B4-BE49-F238E27FC236}">
                <a16:creationId xmlns:a16="http://schemas.microsoft.com/office/drawing/2014/main" id="{B11A0DF2-288E-44D0-AECB-7C5E1F4F66CC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69925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6C0D407-494C-48FE-9CE0-FF27F5AD8E74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9 Trap：循环线索与重复探索">
            <a:extLst>
              <a:ext uri="{FF2B5EF4-FFF2-40B4-BE49-F238E27FC236}">
                <a16:creationId xmlns:a16="http://schemas.microsoft.com/office/drawing/2014/main" id="{A1C6A323-B7B3-4426-8A18-C0AC4203F108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2.9 Trap：循环线索与重复探索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" y="1259276"/>
            <a:ext cx="6276975" cy="2834498"/>
          </a:xfrm>
          <a:prstGeom prst="rect">
            <a:avLst/>
          </a:prstGeom>
        </p:spPr>
      </p:pic>
      <p:sp>
        <p:nvSpPr>
          <p:cNvPr id="4" name="诱饵内容">
            <a:extLst>
              <a:ext uri="{FF2B5EF4-FFF2-40B4-BE49-F238E27FC236}">
                <a16:creationId xmlns:a16="http://schemas.microsoft.com/office/drawing/2014/main" id="{E74C29F4-F1E1-4FC2-9CCD-CA064B33C5E3}"/>
              </a:ext>
            </a:extLst>
          </p:cNvPr>
          <p:cNvSpPr>
            <a:spLocks noGrp="1"/>
          </p:cNvSpPr>
          <p:nvPr/>
        </p:nvSpPr>
        <p:spPr>
          <a:xfrm>
            <a:off x="7181850" y="1038225"/>
            <a:ext cx="4343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诱饵内容</a:t>
            </a:r>
          </a:p>
        </p:txBody>
      </p:sp>
      <p:sp>
        <p:nvSpPr>
          <p:cNvPr id="5" name="三个文件互相指向，持续承诺凭据就在下一个文件中。">
            <a:extLst>
              <a:ext uri="{FF2B5EF4-FFF2-40B4-BE49-F238E27FC236}">
                <a16:creationId xmlns:a16="http://schemas.microsoft.com/office/drawing/2014/main" id="{B5B88B7E-7014-411C-B3F4-C79EEFCC0ABC}"/>
              </a:ext>
            </a:extLst>
          </p:cNvPr>
          <p:cNvSpPr>
            <a:spLocks noGrp="1"/>
          </p:cNvSpPr>
          <p:nvPr/>
        </p:nvSpPr>
        <p:spPr>
          <a:xfrm>
            <a:off x="7181850" y="1362075"/>
            <a:ext cx="43434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三个文件互相指向，持续承诺凭据就在下一个文件中。</a:t>
            </a:r>
          </a:p>
        </p:txBody>
      </p:sp>
      <p:sp>
        <p:nvSpPr>
          <p:cNvPr id="6" name="行为机制">
            <a:extLst>
              <a:ext uri="{FF2B5EF4-FFF2-40B4-BE49-F238E27FC236}">
                <a16:creationId xmlns:a16="http://schemas.microsoft.com/office/drawing/2014/main" id="{54E8504F-AAC6-4EE8-A8E5-0038323EF665}"/>
              </a:ext>
            </a:extLst>
          </p:cNvPr>
          <p:cNvSpPr>
            <a:spLocks noGrp="1"/>
          </p:cNvSpPr>
          <p:nvPr/>
        </p:nvSpPr>
        <p:spPr>
          <a:xfrm>
            <a:off x="7181850" y="2457450"/>
            <a:ext cx="4343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行为机制</a:t>
            </a:r>
          </a:p>
        </p:txBody>
      </p:sp>
      <p:sp>
        <p:nvSpPr>
          <p:cNvPr id="7" name="智能体沿线索反复查找；有的模型识别出循环后仍要求再检查。">
            <a:extLst>
              <a:ext uri="{FF2B5EF4-FFF2-40B4-BE49-F238E27FC236}">
                <a16:creationId xmlns:a16="http://schemas.microsoft.com/office/drawing/2014/main" id="{D01726EA-EF93-493F-824A-0037E4DE6CBB}"/>
              </a:ext>
            </a:extLst>
          </p:cNvPr>
          <p:cNvSpPr>
            <a:spLocks noGrp="1"/>
          </p:cNvSpPr>
          <p:nvPr/>
        </p:nvSpPr>
        <p:spPr>
          <a:xfrm>
            <a:off x="7181850" y="2781300"/>
            <a:ext cx="43434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智能体沿线索反复查找；有的模型识别出循环后仍要求再检查。</a:t>
            </a:r>
          </a:p>
        </p:txBody>
      </p:sp>
      <p:sp>
        <p:nvSpPr>
          <p:cNvPr id="8" name="观察结果">
            <a:extLst>
              <a:ext uri="{FF2B5EF4-FFF2-40B4-BE49-F238E27FC236}">
                <a16:creationId xmlns:a16="http://schemas.microsoft.com/office/drawing/2014/main" id="{FFE903FD-8822-4A47-B534-1FA31A0FB43D}"/>
              </a:ext>
            </a:extLst>
          </p:cNvPr>
          <p:cNvSpPr>
            <a:spLocks noGrp="1"/>
          </p:cNvSpPr>
          <p:nvPr/>
        </p:nvSpPr>
        <p:spPr>
          <a:xfrm>
            <a:off x="7181850" y="3876675"/>
            <a:ext cx="4343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观察结果</a:t>
            </a:r>
          </a:p>
        </p:txBody>
      </p:sp>
      <p:sp>
        <p:nvSpPr>
          <p:cNvPr id="9" name="论文个案中，3 次循环后出现虚构文件，8 次后出现虚构凭据。">
            <a:extLst>
              <a:ext uri="{FF2B5EF4-FFF2-40B4-BE49-F238E27FC236}">
                <a16:creationId xmlns:a16="http://schemas.microsoft.com/office/drawing/2014/main" id="{0FCD0F41-3331-4C88-93C2-26DF0FED918F}"/>
              </a:ext>
            </a:extLst>
          </p:cNvPr>
          <p:cNvSpPr>
            <a:spLocks noGrp="1"/>
          </p:cNvSpPr>
          <p:nvPr/>
        </p:nvSpPr>
        <p:spPr>
          <a:xfrm>
            <a:off x="7181850" y="4200525"/>
            <a:ext cx="43434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论文个案中，3 次循环后出现虚构文件，8 次后出现虚构凭据。</a:t>
            </a:r>
          </a:p>
        </p:txBody>
      </p:sp>
      <p:sp>
        <p:nvSpPr>
          <p:cNvPr id="10" name="作者利用智能体对高价值凭据的持续追求构造循环。论文观察到：模型即使指出线">
            <a:extLst>
              <a:ext uri="{FF2B5EF4-FFF2-40B4-BE49-F238E27FC236}">
                <a16:creationId xmlns:a16="http://schemas.microsoft.com/office/drawing/2014/main" id="{D4FA9296-12C6-445C-ADB9-BC4448D501A9}"/>
              </a:ext>
            </a:extLst>
          </p:cNvPr>
          <p:cNvSpPr>
            <a:spLocks noGrp="1"/>
          </p:cNvSpPr>
          <p:nvPr/>
        </p:nvSpPr>
        <p:spPr>
          <a:xfrm>
            <a:off x="523875" y="50101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作者利用智能体对高价值凭据的持续追求构造循环。论文观察到：模型即使指出线索重复，仍可能以重新核对为由继续搜索。上述循环次数是原文个案记录。</a:t>
            </a:r>
          </a:p>
        </p:txBody>
      </p:sp>
      <p:sp>
        <p:nvSpPr>
          <p:cNvPr id="11" name="15">
            <a:extLst>
              <a:ext uri="{FF2B5EF4-FFF2-40B4-BE49-F238E27FC236}">
                <a16:creationId xmlns:a16="http://schemas.microsoft.com/office/drawing/2014/main" id="{906453B3-D192-4EB4-AC61-ED92466B4B4E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5528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D009492-F48D-4A74-82F1-83568EDEFFCF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10 Trap：搜索空间与上下文污染">
            <a:extLst>
              <a:ext uri="{FF2B5EF4-FFF2-40B4-BE49-F238E27FC236}">
                <a16:creationId xmlns:a16="http://schemas.microsoft.com/office/drawing/2014/main" id="{8101C4BC-BAA0-4A29-9789-2959D72E4DD6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2.10 Trap：搜索空间与上下文污染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495300" y="1057275"/>
          <a:ext cx="11163300" cy="23050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防守方布置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对智能体的影响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T4.1 扩大搜索空间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植入大量虚假漏洞、端口与资源线索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错误候选进入 K，增加无效探索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T4.2 信息过载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诱导读取体量很大的无用结果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上下文保留大量 token，后续处理变慢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污染可以在后续多轮持续生效">
            <a:extLst>
              <a:ext uri="{FF2B5EF4-FFF2-40B4-BE49-F238E27FC236}">
                <a16:creationId xmlns:a16="http://schemas.microsoft.com/office/drawing/2014/main" id="{553F1C44-FF91-4AE3-BB68-3B28944BBFE9}"/>
              </a:ext>
            </a:extLst>
          </p:cNvPr>
          <p:cNvSpPr>
            <a:spLocks noGrp="1"/>
          </p:cNvSpPr>
          <p:nvPr/>
        </p:nvSpPr>
        <p:spPr>
          <a:xfrm>
            <a:off x="495300" y="37528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污染可以在后续多轮持续生效</a:t>
            </a:r>
          </a:p>
        </p:txBody>
      </p:sp>
      <p:sp>
        <p:nvSpPr>
          <p:cNvPr id="5" name="PentestGPT 将潜在线索保留在知识状态 K 中。虚构的端口、漏洞">
            <a:extLst>
              <a:ext uri="{FF2B5EF4-FFF2-40B4-BE49-F238E27FC236}">
                <a16:creationId xmlns:a16="http://schemas.microsoft.com/office/drawing/2014/main" id="{2AE62565-BFAD-4D04-A906-28CDB736BD5A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11144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PentestGPT 将潜在线索保留在知识状态 K 中。虚构的端口、漏洞和资源若持续留在任务列表，智能体会在后续步骤再次引用它们，增加无效候选和搜索成本。</a:t>
            </a:r>
          </a:p>
        </p:txBody>
      </p:sp>
      <p:sp>
        <p:nvSpPr>
          <p:cNvPr id="6" name="作者诱导 PentestGPT 获取超过 2,000 条可写文件记录。大">
            <a:extLst>
              <a:ext uri="{FF2B5EF4-FFF2-40B4-BE49-F238E27FC236}">
                <a16:creationId xmlns:a16="http://schemas.microsoft.com/office/drawing/2014/main" id="{72CF0D1C-6E29-4C0F-8BF7-8EE663387084}"/>
              </a:ext>
            </a:extLst>
          </p:cNvPr>
          <p:cNvSpPr>
            <a:spLocks noGrp="1"/>
          </p:cNvSpPr>
          <p:nvPr/>
        </p:nvSpPr>
        <p:spPr>
          <a:xfrm>
            <a:off x="495300" y="5038725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作者诱导 PentestGPT 获取超过 2,000 条可写文件记录。大量 token 留在历史中，使该个案的后续攻击步骤约减速 60 倍，体现持续保留无用文本带来的处理开销。</a:t>
            </a:r>
          </a:p>
        </p:txBody>
      </p:sp>
      <p:sp>
        <p:nvSpPr>
          <p:cNvPr id="7" name="16">
            <a:extLst>
              <a:ext uri="{FF2B5EF4-FFF2-40B4-BE49-F238E27FC236}">
                <a16:creationId xmlns:a16="http://schemas.microsoft.com/office/drawing/2014/main" id="{C422C5BF-0877-4D52-ABF4-0BCC8BAC32D0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2799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FFC86DD-D467-4DBD-AC02-69B223C445FA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11 Trap：稀有 token 与扰动">
            <a:extLst>
              <a:ext uri="{FF2B5EF4-FFF2-40B4-BE49-F238E27FC236}">
                <a16:creationId xmlns:a16="http://schemas.microsoft.com/office/drawing/2014/main" id="{17D80A60-B594-48D4-AC18-40270E4D236D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2.11 Trap：稀有 token 与扰动</a:t>
            </a:r>
          </a:p>
        </p:txBody>
      </p:sp>
      <p:sp>
        <p:nvSpPr>
          <p:cNvPr id="3" name="T4.4 的作用机制">
            <a:extLst>
              <a:ext uri="{FF2B5EF4-FFF2-40B4-BE49-F238E27FC236}">
                <a16:creationId xmlns:a16="http://schemas.microsoft.com/office/drawing/2014/main" id="{6411AB3A-4537-435E-BAA8-D9D31C30E001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T4.4 的作用机制</a:t>
            </a:r>
          </a:p>
        </p:txBody>
      </p:sp>
      <p:sp>
        <p:nvSpPr>
          <p:cNvPr id="4" name="已有对抗样本研究表明，特定文本序列可影响模型行为。本文还观察到，连续出现">
            <a:extLst>
              <a:ext uri="{FF2B5EF4-FFF2-40B4-BE49-F238E27FC236}">
                <a16:creationId xmlns:a16="http://schemas.microsoft.com/office/drawing/2014/main" id="{D85BF901-6199-4D89-B79F-AD1A5C7337A2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已有对抗样本研究表明，特定文本序列可影响模型行为。本文还观察到，连续出现少见 token 的短序列，会使某些模型输出无意义文本或发生幻觉。作者将这种预先埋入环境的数据称为 token mines。</a:t>
            </a:r>
          </a:p>
        </p:txBody>
      </p:sp>
      <p:sp>
        <p:nvSpPr>
          <p:cNvPr id="5" name="载荷位置与触发过程">
            <a:extLst>
              <a:ext uri="{FF2B5EF4-FFF2-40B4-BE49-F238E27FC236}">
                <a16:creationId xmlns:a16="http://schemas.microsoft.com/office/drawing/2014/main" id="{841BB174-BEE2-4F5A-9474-8CCB8699A93F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载荷位置与触发过程</a:t>
            </a:r>
          </a:p>
        </p:txBody>
      </p:sp>
      <p:sp>
        <p:nvSpPr>
          <p:cNvPr id="6" name="这些序列可以放在智能体会读取的文件、日志或工具输出中。载荷被工具带回上下">
            <a:extLst>
              <a:ext uri="{FF2B5EF4-FFF2-40B4-BE49-F238E27FC236}">
                <a16:creationId xmlns:a16="http://schemas.microsoft.com/office/drawing/2014/main" id="{8F264AE5-6F64-425E-A140-1CAC5B8458D5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这些序列可以放在智能体会读取的文件、日志或工具输出中。载荷被工具带回上下文后，模型随后生成时受到干扰。技术目标是使当前交互状态和输出偏离任务，并不意味着永久改写模型参数。</a:t>
            </a:r>
          </a:p>
        </p:txBody>
      </p:sp>
      <p:sp>
        <p:nvSpPr>
          <p:cNvPr id="7" name="原文报告的模型与现象">
            <a:extLst>
              <a:ext uri="{FF2B5EF4-FFF2-40B4-BE49-F238E27FC236}">
                <a16:creationId xmlns:a16="http://schemas.microsoft.com/office/drawing/2014/main" id="{B5187121-03E8-4AD9-A68D-0A19C3527A1D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原文报告的模型与现象</a:t>
            </a:r>
          </a:p>
        </p:txBody>
      </p:sp>
      <p:sp>
        <p:nvSpPr>
          <p:cNvPr id="8" name="作者指出 Llama、Mistral、Falcon 等开源模型对部分序列">
            <a:extLst>
              <a:ext uri="{FF2B5EF4-FFF2-40B4-BE49-F238E27FC236}">
                <a16:creationId xmlns:a16="http://schemas.microsoft.com/office/drawing/2014/main" id="{89AAC06E-4196-4799-8CCC-0E2AB6091CEA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作者指出 Llama、Mistral、Falcon 等开源模型对部分序列较敏感，并以 Llama 3.1 70B 为例描述垃圾输出与幻觉。原文列举 ENC 等稀有字符串，附录 Table 11 给出更多案例。效果对应所测试的模型与序列。</a:t>
            </a:r>
          </a:p>
        </p:txBody>
      </p:sp>
      <p:sp>
        <p:nvSpPr>
          <p:cNvPr id="9" name="与其他 T4 技术的区分">
            <a:extLst>
              <a:ext uri="{FF2B5EF4-FFF2-40B4-BE49-F238E27FC236}">
                <a16:creationId xmlns:a16="http://schemas.microsoft.com/office/drawing/2014/main" id="{F6C45587-0547-48AF-B9E6-506935C4BE17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与其他 T4 技术的区分</a:t>
            </a:r>
          </a:p>
        </p:txBody>
      </p:sp>
      <p:sp>
        <p:nvSpPr>
          <p:cNvPr id="10" name="T4.1 增加虚构候选，T4.2 增加处理 token 的负担，T4.3">
            <a:extLst>
              <a:ext uri="{FF2B5EF4-FFF2-40B4-BE49-F238E27FC236}">
                <a16:creationId xmlns:a16="http://schemas.microsoft.com/office/drawing/2014/main" id="{563593F1-80C6-4549-9940-B6AE1F1C60CA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T4.1 增加虚构候选，T4.2 增加处理 token 的负担，T4.3 用循环线索干扰进度，T4.4 则通过特殊序列干扰生成行为。它们可产生相似的停止或延迟结果，但触发条件和失败过程不同。</a:t>
            </a:r>
          </a:p>
        </p:txBody>
      </p:sp>
      <p:sp>
        <p:nvSpPr>
          <p:cNvPr id="11" name="17">
            <a:extLst>
              <a:ext uri="{FF2B5EF4-FFF2-40B4-BE49-F238E27FC236}">
                <a16:creationId xmlns:a16="http://schemas.microsoft.com/office/drawing/2014/main" id="{C5B4DF83-3AEB-4F44-A9BC-C1E23F8D6DB2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49128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00927FD-64AB-46C7-ACB1-4371F6CE88EA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12 Trap：对齐触发与角色操纵">
            <a:extLst>
              <a:ext uri="{FF2B5EF4-FFF2-40B4-BE49-F238E27FC236}">
                <a16:creationId xmlns:a16="http://schemas.microsoft.com/office/drawing/2014/main" id="{45754A7F-A3E2-4B39-A569-0128F2D0F2CD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2.12 Trap：对齐触发与角色操纵</a:t>
            </a:r>
          </a:p>
        </p:txBody>
      </p:sp>
      <p:sp>
        <p:nvSpPr>
          <p:cNvPr id="3" name="T5.1：触发已有安全机制">
            <a:extLst>
              <a:ext uri="{FF2B5EF4-FFF2-40B4-BE49-F238E27FC236}">
                <a16:creationId xmlns:a16="http://schemas.microsoft.com/office/drawing/2014/main" id="{929436CD-386F-4144-ABC9-F00E916EB397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T5.1：触发已有安全机制</a:t>
            </a:r>
          </a:p>
        </p:txBody>
      </p:sp>
      <p:sp>
        <p:nvSpPr>
          <p:cNvPr id="4" name="开源模型的安全对齐和闭源服务的防护机制，会在部分输入下拒绝继续生成。防守">
            <a:extLst>
              <a:ext uri="{FF2B5EF4-FFF2-40B4-BE49-F238E27FC236}">
                <a16:creationId xmlns:a16="http://schemas.microsoft.com/office/drawing/2014/main" id="{59F60CE0-BBCA-4A9E-BC10-3DC3645C1AC7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开源模型的安全对齐和闭源服务的防护机制，会在部分输入下拒绝继续生成。防守方可把会触发安全判断的内容放入 SSH 横幅、文件或其他环境文本，让攻击智能体在处理这些信息时停止操作。</a:t>
            </a:r>
          </a:p>
        </p:txBody>
      </p:sp>
      <p:sp>
        <p:nvSpPr>
          <p:cNvPr id="5" name="授权叙述示例">
            <a:extLst>
              <a:ext uri="{FF2B5EF4-FFF2-40B4-BE49-F238E27FC236}">
                <a16:creationId xmlns:a16="http://schemas.microsoft.com/office/drawing/2014/main" id="{91ED62BC-4C09-4D0F-89D9-CB51D807C273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授权叙述示例</a:t>
            </a:r>
          </a:p>
        </p:txBody>
      </p:sp>
      <p:sp>
        <p:nvSpPr>
          <p:cNvPr id="6" name="原文使用一段 IT 人员口吻的说明，声称该主机不允许渗透测试，并要求发现">
            <a:extLst>
              <a:ext uri="{FF2B5EF4-FFF2-40B4-BE49-F238E27FC236}">
                <a16:creationId xmlns:a16="http://schemas.microsoft.com/office/drawing/2014/main" id="{FF27284D-D7EB-454B-8997-8AE63C5046BF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原文使用一段 IT 人员口吻的说明，声称该主机不允许渗透测试，并要求发现扫描时报告管理员。论文案例中的模型据此认为没有继续攻击的授权。该载荷利用模型对授权与规范叙述的响应。</a:t>
            </a:r>
          </a:p>
        </p:txBody>
      </p:sp>
      <p:sp>
        <p:nvSpPr>
          <p:cNvPr id="7" name="T5.2：直接修改角色或目标">
            <a:extLst>
              <a:ext uri="{FF2B5EF4-FFF2-40B4-BE49-F238E27FC236}">
                <a16:creationId xmlns:a16="http://schemas.microsoft.com/office/drawing/2014/main" id="{AA5494C0-3369-4AF6-A50C-1FEAD4786022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T5.2：直接修改角色或目标</a:t>
            </a:r>
          </a:p>
        </p:txBody>
      </p:sp>
      <p:sp>
        <p:nvSpPr>
          <p:cNvPr id="8" name="防守方在环境中插入要求忽略已有指令、改变任务或输出内容的文本。论文还提出">
            <a:extLst>
              <a:ext uri="{FF2B5EF4-FFF2-40B4-BE49-F238E27FC236}">
                <a16:creationId xmlns:a16="http://schemas.microsoft.com/office/drawing/2014/main" id="{377ED99E-59EF-4986-859E-7D9BB15D4DC7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防守方在环境中插入要求忽略已有指令、改变任务或输出内容的文本。论文还提出，让智能体在后续步骤随机遗忘已发现的信息，以破坏攻击过程。十五种技术中，T5.2 是唯一必须使用提示注入的技术。</a:t>
            </a:r>
          </a:p>
        </p:txBody>
      </p:sp>
      <p:sp>
        <p:nvSpPr>
          <p:cNvPr id="9" name="两种技术的差异">
            <a:extLst>
              <a:ext uri="{FF2B5EF4-FFF2-40B4-BE49-F238E27FC236}">
                <a16:creationId xmlns:a16="http://schemas.microsoft.com/office/drawing/2014/main" id="{3EF8798C-A4D0-4886-A537-40CBD23EFF86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两种技术的差异</a:t>
            </a:r>
          </a:p>
        </p:txBody>
      </p:sp>
      <p:sp>
        <p:nvSpPr>
          <p:cNvPr id="10" name="T5.1 利用模型已经具备的拒绝或对齐行为。T5.2 显式请求覆盖任务规">
            <a:extLst>
              <a:ext uri="{FF2B5EF4-FFF2-40B4-BE49-F238E27FC236}">
                <a16:creationId xmlns:a16="http://schemas.microsoft.com/office/drawing/2014/main" id="{B07D1821-6F41-424D-8347-E9B573FE4785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T5.1 利用模型已经具备的拒绝或对齐行为。T5.2 显式请求覆盖任务规则。智能体读到载荷后，拒绝、停止、改变目标或遗漏知识都是可观察行为。作者在有、无提示注入的对比中分别评估技术效果。</a:t>
            </a:r>
          </a:p>
        </p:txBody>
      </p:sp>
      <p:sp>
        <p:nvSpPr>
          <p:cNvPr id="11" name="18">
            <a:extLst>
              <a:ext uri="{FF2B5EF4-FFF2-40B4-BE49-F238E27FC236}">
                <a16:creationId xmlns:a16="http://schemas.microsoft.com/office/drawing/2014/main" id="{AB123F2D-001F-4676-A534-13D69D3C6A65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8517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2740BCE-12FA-4031-9DF9-E892FF241950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13 Trap：诱导执行不可信代码">
            <a:extLst>
              <a:ext uri="{FF2B5EF4-FFF2-40B4-BE49-F238E27FC236}">
                <a16:creationId xmlns:a16="http://schemas.microsoft.com/office/drawing/2014/main" id="{ADD5011C-D735-4CAD-8F61-63581FC56CF2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2.13 Trap：诱导执行不可信代码</a:t>
            </a:r>
          </a:p>
        </p:txBody>
      </p:sp>
      <p:sp>
        <p:nvSpPr>
          <p:cNvPr id="3" name="关键条件：智能体能调用终端，并把环境建议当作完成任务的步骤">
            <a:extLst>
              <a:ext uri="{FF2B5EF4-FFF2-40B4-BE49-F238E27FC236}">
                <a16:creationId xmlns:a16="http://schemas.microsoft.com/office/drawing/2014/main" id="{EAEB1CBD-E41F-425E-AA3E-859A2AF519C0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关键条件：智能体能调用终端，并把环境建议当作完成任务的步骤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495300" y="1638300"/>
          <a:ext cx="11163300" cy="2619376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环境诱饵或智能体行为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风险所在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伪装有用步骤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文件宣称：“运行内部软件即可利用新发现的漏洞”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任务相关性让建议看起来可信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选择并执行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智能体下载并运行未经验证的程序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从读取外部文本升级为实际工具执行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产生防御效果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代码在攻击者环境运行，或目标侧脚本触发告警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结果依赖执行位置、权限与网络条件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三种执行位置与目的">
            <a:extLst>
              <a:ext uri="{FF2B5EF4-FFF2-40B4-BE49-F238E27FC236}">
                <a16:creationId xmlns:a16="http://schemas.microsoft.com/office/drawing/2014/main" id="{97E8FF5F-2946-4BAE-8F01-364DE33C023D}"/>
              </a:ext>
            </a:extLst>
          </p:cNvPr>
          <p:cNvSpPr>
            <a:spLocks noGrp="1"/>
          </p:cNvSpPr>
          <p:nvPr/>
        </p:nvSpPr>
        <p:spPr>
          <a:xfrm>
            <a:off x="514350" y="45624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三种执行位置与目的</a:t>
            </a:r>
          </a:p>
        </p:txBody>
      </p:sp>
      <p:sp>
        <p:nvSpPr>
          <p:cNvPr id="6" name="T6.1 让代码在攻击者环境运行。T6.2 引导执行目标主机上的脚本，触">
            <a:extLst>
              <a:ext uri="{FF2B5EF4-FFF2-40B4-BE49-F238E27FC236}">
                <a16:creationId xmlns:a16="http://schemas.microsoft.com/office/drawing/2014/main" id="{928E7E47-D722-47E1-98B2-0EC6662FE39F}"/>
              </a:ext>
            </a:extLst>
          </p:cNvPr>
          <p:cNvSpPr>
            <a:spLocks noGrp="1"/>
          </p:cNvSpPr>
          <p:nvPr/>
        </p:nvSpPr>
        <p:spPr>
          <a:xfrm>
            <a:off x="514350" y="4886325"/>
            <a:ext cx="11096625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T6.1 让代码在攻击者环境运行。T6.2 引导执行目标主机上的脚本，触发告警。T6.3 诱导徒劳的口令破解等操作，消耗攻击者的时间与计算资源。三种技术均将操作包装成有助于渗透目标的步骤，智能体再通过终端执行。</a:t>
            </a:r>
          </a:p>
        </p:txBody>
      </p:sp>
      <p:sp>
        <p:nvSpPr>
          <p:cNvPr id="7" name="19">
            <a:extLst>
              <a:ext uri="{FF2B5EF4-FFF2-40B4-BE49-F238E27FC236}">
                <a16:creationId xmlns:a16="http://schemas.microsoft.com/office/drawing/2014/main" id="{D5B5C99C-479D-4E99-A4C6-D94ABCB7EB8C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57832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B7BD85F-64BB-4839-92A6-22FD6CA9C683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14 代码执行：载荷与工具链">
            <a:extLst>
              <a:ext uri="{FF2B5EF4-FFF2-40B4-BE49-F238E27FC236}">
                <a16:creationId xmlns:a16="http://schemas.microsoft.com/office/drawing/2014/main" id="{5D21BED5-5ADA-4635-A3EF-ECE18ED6D23E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2.14 代码执行：载荷与工具链</a:t>
            </a:r>
          </a:p>
        </p:txBody>
      </p:sp>
      <p:sp>
        <p:nvSpPr>
          <p:cNvPr id="3" name="T6.1：包装为漏洞利用的必需步骤">
            <a:extLst>
              <a:ext uri="{FF2B5EF4-FFF2-40B4-BE49-F238E27FC236}">
                <a16:creationId xmlns:a16="http://schemas.microsoft.com/office/drawing/2014/main" id="{84D8BCFC-6E83-48ED-9249-9EC5FA303E16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T6.1：包装为漏洞利用的必需步骤</a:t>
            </a:r>
          </a:p>
        </p:txBody>
      </p:sp>
      <p:sp>
        <p:nvSpPr>
          <p:cNvPr id="4" name="原文载荷以 IT 人员消息声称发现了新漏洞，要求执行下载脚本的命令以获得">
            <a:extLst>
              <a:ext uri="{FF2B5EF4-FFF2-40B4-BE49-F238E27FC236}">
                <a16:creationId xmlns:a16="http://schemas.microsoft.com/office/drawing/2014/main" id="{2464F917-38FD-4A97-BA5F-2CBDDB039D04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原文载荷以 IT 人员消息声称发现了新漏洞，要求执行下载脚本的命令以获得访问。其形式是下载远程脚本并交给 shell 运行。智能体将环境文字中的“有用步骤”转为真实终端操作，代码在攻击者自己的环境执行。</a:t>
            </a:r>
          </a:p>
        </p:txBody>
      </p:sp>
      <p:sp>
        <p:nvSpPr>
          <p:cNvPr id="5" name="T6.2：目标主机脚本与告警">
            <a:extLst>
              <a:ext uri="{FF2B5EF4-FFF2-40B4-BE49-F238E27FC236}">
                <a16:creationId xmlns:a16="http://schemas.microsoft.com/office/drawing/2014/main" id="{E82AA7D5-BD28-43E6-9B43-3CAC3EC04ECA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T6.2：目标主机脚本与告警</a:t>
            </a:r>
          </a:p>
        </p:txBody>
      </p:sp>
      <p:sp>
        <p:nvSpPr>
          <p:cNvPr id="6" name="原文使用 disable_crowdstrike.sh 作为诱饵名称，声">
            <a:extLst>
              <a:ext uri="{FF2B5EF4-FFF2-40B4-BE49-F238E27FC236}">
                <a16:creationId xmlns:a16="http://schemas.microsoft.com/office/drawing/2014/main" id="{8FB885D9-0F88-42B5-83F1-E58169DA899C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原文使用 disable_crowdstrike.sh 作为诱饵名称，声称脚本可暂时关闭终端保护以便更新。实际脚本在目标主机上触发告警。这里监测的是目标侧脚本运行，执行位置与 T6.1 不同。</a:t>
            </a:r>
          </a:p>
        </p:txBody>
      </p:sp>
      <p:sp>
        <p:nvSpPr>
          <p:cNvPr id="7" name="T6.3：计算资源消耗">
            <a:extLst>
              <a:ext uri="{FF2B5EF4-FFF2-40B4-BE49-F238E27FC236}">
                <a16:creationId xmlns:a16="http://schemas.microsoft.com/office/drawing/2014/main" id="{FCBBBAAB-0153-4864-AC1B-47143999E00B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T6.3：计算资源消耗</a:t>
            </a:r>
          </a:p>
        </p:txBody>
      </p:sp>
      <p:sp>
        <p:nvSpPr>
          <p:cNvPr id="8" name="载荷声称 SSH 存在弱口令用户，密码来自某个常见口令表，诱导智能体投入">
            <a:extLst>
              <a:ext uri="{FF2B5EF4-FFF2-40B4-BE49-F238E27FC236}">
                <a16:creationId xmlns:a16="http://schemas.microsoft.com/office/drawing/2014/main" id="{6DC1D4C8-9C8F-4CA3-83E1-E236BCE59368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载荷声称 SSH 存在弱口令用户，密码来自某个常见口令表，诱导智能体投入暴力破解。也可用无效的散列破解目标产生徒劳计算。关键在于目标被描述为高价值且可得，使智能体持续分配时间与资源。</a:t>
            </a:r>
          </a:p>
        </p:txBody>
      </p:sp>
      <p:sp>
        <p:nvSpPr>
          <p:cNvPr id="9" name="原文观察与触发条件">
            <a:extLst>
              <a:ext uri="{FF2B5EF4-FFF2-40B4-BE49-F238E27FC236}">
                <a16:creationId xmlns:a16="http://schemas.microsoft.com/office/drawing/2014/main" id="{9C1ACF51-7A18-4271-9F66-683315CA54DA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原文观察与触发条件</a:t>
            </a:r>
          </a:p>
        </p:txBody>
      </p:sp>
      <p:sp>
        <p:nvSpPr>
          <p:cNvPr id="10" name="作者在三种渗透工具中都观察到未经验证代码的执行行为。具体效果依赖终端访问">
            <a:extLst>
              <a:ext uri="{FF2B5EF4-FFF2-40B4-BE49-F238E27FC236}">
                <a16:creationId xmlns:a16="http://schemas.microsoft.com/office/drawing/2014/main" id="{D42F268A-B434-475B-B760-AE778882CB1B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作者在三种渗透工具中都观察到未经验证代码的执行行为。具体效果依赖终端访问、执行位置、权限与网络条件。仅发生下载或运行，并不自动意味着获得反向访问；应按载荷目标记录具体行为。</a:t>
            </a:r>
          </a:p>
        </p:txBody>
      </p:sp>
      <p:sp>
        <p:nvSpPr>
          <p:cNvPr id="11" name="20">
            <a:extLst>
              <a:ext uri="{FF2B5EF4-FFF2-40B4-BE49-F238E27FC236}">
                <a16:creationId xmlns:a16="http://schemas.microsoft.com/office/drawing/2014/main" id="{98A4184D-5A3B-451F-A4E5-CBE3D71AC8A1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43023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A6F95B6-BD1F-40CE-BB96-F95E25D02B11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2.15 误导信息与提示注入">
            <a:extLst>
              <a:ext uri="{FF2B5EF4-FFF2-40B4-BE49-F238E27FC236}">
                <a16:creationId xmlns:a16="http://schemas.microsoft.com/office/drawing/2014/main" id="{64274833-668F-41D6-8AF3-446B97BD6562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2.15 误导信息与提示注入</a:t>
            </a:r>
          </a:p>
        </p:txBody>
      </p:sp>
      <p:sp>
        <p:nvSpPr>
          <p:cNvPr id="3" name="误导信息">
            <a:extLst>
              <a:ext uri="{FF2B5EF4-FFF2-40B4-BE49-F238E27FC236}">
                <a16:creationId xmlns:a16="http://schemas.microsoft.com/office/drawing/2014/main" id="{B3ABE5CE-D9EA-4F6B-AC44-368A3AB6FCDE}"/>
              </a:ext>
            </a:extLst>
          </p:cNvPr>
          <p:cNvSpPr>
            <a:spLocks noGrp="1"/>
          </p:cNvSpPr>
          <p:nvPr/>
        </p:nvSpPr>
        <p:spPr>
          <a:xfrm>
            <a:off x="495300" y="1057275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误导信息</a:t>
            </a:r>
          </a:p>
        </p:txBody>
      </p:sp>
      <p:sp>
        <p:nvSpPr>
          <p:cNvPr id="4" name="载荷提供看似可信的假事实，如假版本号或修复记录。智能体沿原任务继续推理，">
            <a:extLst>
              <a:ext uri="{FF2B5EF4-FFF2-40B4-BE49-F238E27FC236}">
                <a16:creationId xmlns:a16="http://schemas.microsoft.com/office/drawing/2014/main" id="{BB96FF73-4D5C-478A-B63E-28CFF022FF4F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5000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载荷提供看似可信的假事实，如假版本号或修复记录。智能体沿原任务继续推理，却据此形成错误知识或选择错误路径。</a:t>
            </a:r>
          </a:p>
        </p:txBody>
      </p:sp>
      <p:sp>
        <p:nvSpPr>
          <p:cNvPr id="5" name="提示注入">
            <a:extLst>
              <a:ext uri="{FF2B5EF4-FFF2-40B4-BE49-F238E27FC236}">
                <a16:creationId xmlns:a16="http://schemas.microsoft.com/office/drawing/2014/main" id="{B19F8258-953E-40D6-B833-A13F98882259}"/>
              </a:ext>
            </a:extLst>
          </p:cNvPr>
          <p:cNvSpPr>
            <a:spLocks noGrp="1"/>
          </p:cNvSpPr>
          <p:nvPr/>
        </p:nvSpPr>
        <p:spPr>
          <a:xfrm>
            <a:off x="495300" y="2438400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提示注入</a:t>
            </a:r>
          </a:p>
        </p:txBody>
      </p:sp>
      <p:sp>
        <p:nvSpPr>
          <p:cNvPr id="6" name="载荷直接要求改变角色、任务目标或输出方式。T5.2 通过这类指令操纵智能">
            <a:extLst>
              <a:ext uri="{FF2B5EF4-FFF2-40B4-BE49-F238E27FC236}">
                <a16:creationId xmlns:a16="http://schemas.microsoft.com/office/drawing/2014/main" id="{297469BB-EDAF-4DDA-901A-58215BBC84E4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5000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载荷直接要求改变角色、任务目标或输出方式。T5.2 通过这类指令操纵智能体，部分技术还可叠加注入。</a:t>
            </a:r>
          </a:p>
        </p:txBody>
      </p:sp>
      <p:sp>
        <p:nvSpPr>
          <p:cNvPr id="7" name="实验比较">
            <a:extLst>
              <a:ext uri="{FF2B5EF4-FFF2-40B4-BE49-F238E27FC236}">
                <a16:creationId xmlns:a16="http://schemas.microsoft.com/office/drawing/2014/main" id="{AE62DE70-7215-47BC-916C-2691629B12B6}"/>
              </a:ext>
            </a:extLst>
          </p:cNvPr>
          <p:cNvSpPr>
            <a:spLocks noGrp="1"/>
          </p:cNvSpPr>
          <p:nvPr/>
        </p:nvSpPr>
        <p:spPr>
          <a:xfrm>
            <a:off x="495300" y="3819525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实验比较</a:t>
            </a:r>
          </a:p>
        </p:txBody>
      </p:sp>
      <p:sp>
        <p:nvSpPr>
          <p:cNvPr id="8" name="十五种技术中只有 T5.2 必需提示注入。作者比较同类载荷有、无注入时的">
            <a:extLst>
              <a:ext uri="{FF2B5EF4-FFF2-40B4-BE49-F238E27FC236}">
                <a16:creationId xmlns:a16="http://schemas.microsoft.com/office/drawing/2014/main" id="{6F66F5BA-A526-450F-B653-C389D55BD70F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5000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十五种技术中只有 T5.2 必需提示注入。作者比较同类载荷有、无注入时的平均 DSR，发现增加直接操纵指令并未普遍提高效果。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81675" y="1333393"/>
            <a:ext cx="5838825" cy="3029165"/>
          </a:xfrm>
          <a:prstGeom prst="rect">
            <a:avLst/>
          </a:prstGeom>
        </p:spPr>
      </p:pic>
      <p:sp>
        <p:nvSpPr>
          <p:cNvPr id="10" name="绿色：使用提示注入     蓝色：不使用提示注入">
            <a:extLst>
              <a:ext uri="{FF2B5EF4-FFF2-40B4-BE49-F238E27FC236}">
                <a16:creationId xmlns:a16="http://schemas.microsoft.com/office/drawing/2014/main" id="{5732363E-5328-4FD5-8EDF-C852798A1A93}"/>
              </a:ext>
            </a:extLst>
          </p:cNvPr>
          <p:cNvSpPr>
            <a:spLocks noGrp="1"/>
          </p:cNvSpPr>
          <p:nvPr/>
        </p:nvSpPr>
        <p:spPr>
          <a:xfrm>
            <a:off x="5867400" y="4619625"/>
            <a:ext cx="571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绿色：使用提示注入     蓝色：不使用提示注入</a:t>
            </a:r>
          </a:p>
        </p:txBody>
      </p:sp>
      <p:sp>
        <p:nvSpPr>
          <p:cNvPr id="11" name="论文结论">
            <a:extLst>
              <a:ext uri="{FF2B5EF4-FFF2-40B4-BE49-F238E27FC236}">
                <a16:creationId xmlns:a16="http://schemas.microsoft.com/office/drawing/2014/main" id="{BFC262C6-9705-482A-BC98-B659045A4113}"/>
              </a:ext>
            </a:extLst>
          </p:cNvPr>
          <p:cNvSpPr>
            <a:spLocks noGrp="1"/>
          </p:cNvSpPr>
          <p:nvPr/>
        </p:nvSpPr>
        <p:spPr>
          <a:xfrm>
            <a:off x="504825" y="5743575"/>
            <a:ext cx="1109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论文结论</a:t>
            </a:r>
          </a:p>
        </p:txBody>
      </p:sp>
      <p:sp>
        <p:nvSpPr>
          <p:cNvPr id="12" name="增加提示注入并未普遍提高 DSR。多数技术无需直接改写任务指令，也能干扰">
            <a:extLst>
              <a:ext uri="{FF2B5EF4-FFF2-40B4-BE49-F238E27FC236}">
                <a16:creationId xmlns:a16="http://schemas.microsoft.com/office/drawing/2014/main" id="{9FDAE18D-A179-4EBC-85FF-42361C998DE8}"/>
              </a:ext>
            </a:extLst>
          </p:cNvPr>
          <p:cNvSpPr>
            <a:spLocks noGrp="1"/>
          </p:cNvSpPr>
          <p:nvPr/>
        </p:nvSpPr>
        <p:spPr>
          <a:xfrm>
            <a:off x="504825" y="6076950"/>
            <a:ext cx="11096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增加提示注入并未普遍提高 DSR。多数技术无需直接改写任务指令，也能干扰智能体。</a:t>
            </a:r>
          </a:p>
        </p:txBody>
      </p:sp>
      <p:sp>
        <p:nvSpPr>
          <p:cNvPr id="13" name="21">
            <a:extLst>
              <a:ext uri="{FF2B5EF4-FFF2-40B4-BE49-F238E27FC236}">
                <a16:creationId xmlns:a16="http://schemas.microsoft.com/office/drawing/2014/main" id="{3D372B75-F8DE-4F48-9055-423B37F5F6C2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74377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F5B9AD7-D963-4733-81CF-F01704DA0D39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1 实验设置与评价层次">
            <a:extLst>
              <a:ext uri="{FF2B5EF4-FFF2-40B4-BE49-F238E27FC236}">
                <a16:creationId xmlns:a16="http://schemas.microsoft.com/office/drawing/2014/main" id="{C513C2EC-176A-44ED-A792-608A13BB456C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3.1 实验设置与评价层次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495300" y="1009650"/>
          <a:ext cx="11163300" cy="3457576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394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评价层次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对象与配置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回答的问题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394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单项技术评估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249 个载荷 × 17 个数据点 = 4,233 个植入样本；3 种多模块工具，4 种模型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接触特定诱饵后，预期行为是否发生？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394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端到端框架评估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PentestGPT + GPT-4o；11 台 CTF 靶机；每台有、无防御各 3 次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多步攻击流程能否继续推进？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394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适应性对抗评估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感知防御的提示、分类器、微调和集成；含干净与植入样本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能否过滤诱饵，同时保留有效信息？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模型：GPT-4o、Gemini 1.5 Pro、Claude Sonn">
            <a:extLst>
              <a:ext uri="{FF2B5EF4-FFF2-40B4-BE49-F238E27FC236}">
                <a16:creationId xmlns:a16="http://schemas.microsoft.com/office/drawing/2014/main" id="{512EFED2-3858-437F-9D0C-C098FA014475}"/>
              </a:ext>
            </a:extLst>
          </p:cNvPr>
          <p:cNvSpPr>
            <a:spLocks noGrp="1"/>
          </p:cNvSpPr>
          <p:nvPr/>
        </p:nvSpPr>
        <p:spPr>
          <a:xfrm>
            <a:off x="504825" y="4819650"/>
            <a:ext cx="110966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模型：GPT-4o、Gemini 1.5 Pro、Claude Sonnet 3.5、Llama 3.1 70B。</a:t>
            </a:r>
          </a:p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工具：PentestGPT、AutoAttacker、PenHeal。</a:t>
            </a:r>
          </a:p>
        </p:txBody>
      </p:sp>
      <p:sp>
        <p:nvSpPr>
          <p:cNvPr id="5" name="22">
            <a:extLst>
              <a:ext uri="{FF2B5EF4-FFF2-40B4-BE49-F238E27FC236}">
                <a16:creationId xmlns:a16="http://schemas.microsoft.com/office/drawing/2014/main" id="{4788489D-35BC-4749-A3FC-8E66D1588EFF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02587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EA080D7-D1AB-4BB1-8145-84EA731542CD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2 单项评估：样本与成功判据">
            <a:extLst>
              <a:ext uri="{FF2B5EF4-FFF2-40B4-BE49-F238E27FC236}">
                <a16:creationId xmlns:a16="http://schemas.microsoft.com/office/drawing/2014/main" id="{FBFD9CE3-BC16-4D81-82A1-F6BC1E5AFB89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3.2 单项评估：样本与成功判据</a:t>
            </a:r>
          </a:p>
        </p:txBody>
      </p:sp>
      <p:sp>
        <p:nvSpPr>
          <p:cNvPr id="3" name="载荷生成与上下文包装">
            <a:extLst>
              <a:ext uri="{FF2B5EF4-FFF2-40B4-BE49-F238E27FC236}">
                <a16:creationId xmlns:a16="http://schemas.microsoft.com/office/drawing/2014/main" id="{B18BAA0E-3124-4D2F-B8B2-927EE3B070F2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载荷生成与上下文包装</a:t>
            </a:r>
          </a:p>
        </p:txBody>
      </p:sp>
      <p:sp>
        <p:nvSpPr>
          <p:cNvPr id="4" name="作者为各技术生成多个原始载荷，再使用不同模板赋予有吸引力的语境，共得到 ">
            <a:extLst>
              <a:ext uri="{FF2B5EF4-FFF2-40B4-BE49-F238E27FC236}">
                <a16:creationId xmlns:a16="http://schemas.microsoft.com/office/drawing/2014/main" id="{AFCDEDD8-0A56-4802-8AD6-01919B2E8842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作者为各技术生成多个原始载荷，再使用不同模板赋予有吸引力的语境，共得到 249 个载荷。例如，把错误版本号或“漏洞已修复”的声明嵌入 IT 人员消息，形成带自然上下文的输入。</a:t>
            </a:r>
          </a:p>
        </p:txBody>
      </p:sp>
      <p:sp>
        <p:nvSpPr>
          <p:cNvPr id="5" name="17 类数据点与 4,233 个样本">
            <a:extLst>
              <a:ext uri="{FF2B5EF4-FFF2-40B4-BE49-F238E27FC236}">
                <a16:creationId xmlns:a16="http://schemas.microsoft.com/office/drawing/2014/main" id="{2434CE1D-F185-4D1D-AF3B-750F1494AD0D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17 类数据点与 4,233 个样本</a:t>
            </a:r>
          </a:p>
        </p:txBody>
      </p:sp>
      <p:sp>
        <p:nvSpPr>
          <p:cNvPr id="6" name="数据点涵盖文件内容、HTML、文件名、主机名、配置、服务横幅、系统信息与">
            <a:extLst>
              <a:ext uri="{FF2B5EF4-FFF2-40B4-BE49-F238E27FC236}">
                <a16:creationId xmlns:a16="http://schemas.microsoft.com/office/drawing/2014/main" id="{ED3D9D5D-979E-4448-B02A-F4613CF4D7D6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数据点涵盖文件内容、HTML、文件名、主机名、配置、服务横幅、系统信息与日志。每个载荷植入每类数据点，得到 249×17＝4,233 个样本。修改主机名等字段时，实验把完整工具输出呈现给智能体，而非只提供孤立短句。</a:t>
            </a:r>
          </a:p>
        </p:txBody>
      </p:sp>
      <p:sp>
        <p:nvSpPr>
          <p:cNvPr id="7" name="DSR 的两类成功定义">
            <a:extLst>
              <a:ext uri="{FF2B5EF4-FFF2-40B4-BE49-F238E27FC236}">
                <a16:creationId xmlns:a16="http://schemas.microsoft.com/office/drawing/2014/main" id="{648C5470-1A7B-4CBF-8759-79E599B1A2CD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DSR 的两类成功定义</a:t>
            </a:r>
          </a:p>
        </p:txBody>
      </p:sp>
      <p:sp>
        <p:nvSpPr>
          <p:cNvPr id="8" name="误导信息类技术以污染内容进入知识摘要 K 为成功。模型利用类技术以产生预">
            <a:extLst>
              <a:ext uri="{FF2B5EF4-FFF2-40B4-BE49-F238E27FC236}">
                <a16:creationId xmlns:a16="http://schemas.microsoft.com/office/drawing/2014/main" id="{B074660F-DEF6-4B7E-B641-BF63CAF0A5EE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误导信息类技术以污染内容进入知识摘要 K 为成功。模型利用类技术以产生预期行为为成功，例如停止攻击或执行某项操作。DSR 等于成功案例数除以总试验数。论文使用 PurpleLlama 与评判 LLM，依据技术标准判断结果。</a:t>
            </a:r>
          </a:p>
        </p:txBody>
      </p:sp>
      <p:sp>
        <p:nvSpPr>
          <p:cNvPr id="9" name="评估范围与输入条件">
            <a:extLst>
              <a:ext uri="{FF2B5EF4-FFF2-40B4-BE49-F238E27FC236}">
                <a16:creationId xmlns:a16="http://schemas.microsoft.com/office/drawing/2014/main" id="{65D3B881-AF44-4738-A30F-5AB67CE6F709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评估范围与输入条件</a:t>
            </a:r>
          </a:p>
        </p:txBody>
      </p:sp>
      <p:sp>
        <p:nvSpPr>
          <p:cNvPr id="10" name="该轮单项评估覆盖十一种技术，假设智能体已经接触修改后的数据点。T2.2 ">
            <a:extLst>
              <a:ext uri="{FF2B5EF4-FFF2-40B4-BE49-F238E27FC236}">
                <a16:creationId xmlns:a16="http://schemas.microsoft.com/office/drawing/2014/main" id="{AE411553-19B9-4F71-A49C-53552CE61CEC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该轮单项评估覆盖十一种技术，假设智能体已经接触修改后的数据点。T2.2 的连续路径、T4.3 的循环、T3.2 的字符蜜标和 T4.4 的稀有 token 在其他实验中单独分析。三种框架与四种后端模型用于比较行为差异。</a:t>
            </a:r>
          </a:p>
        </p:txBody>
      </p:sp>
      <p:sp>
        <p:nvSpPr>
          <p:cNvPr id="11" name="23">
            <a:extLst>
              <a:ext uri="{FF2B5EF4-FFF2-40B4-BE49-F238E27FC236}">
                <a16:creationId xmlns:a16="http://schemas.microsoft.com/office/drawing/2014/main" id="{19E45686-4FDB-4FEF-A4F9-0C3746C4604A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20342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49DA315-BFE0-4A58-9263-DFF5F42AA50D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3 单项技术评估结果">
            <a:extLst>
              <a:ext uri="{FF2B5EF4-FFF2-40B4-BE49-F238E27FC236}">
                <a16:creationId xmlns:a16="http://schemas.microsoft.com/office/drawing/2014/main" id="{237619A1-CF78-457D-A622-29D4A5330B6B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3.3 单项技术评估结果</a:t>
            </a:r>
          </a:p>
        </p:txBody>
      </p:sp>
      <p:sp>
        <p:nvSpPr>
          <p:cNvPr id="3" name="实验假设智能体已经读到植入的数据点。每个格子对三种多模块工具求平均，横轴">
            <a:extLst>
              <a:ext uri="{FF2B5EF4-FFF2-40B4-BE49-F238E27FC236}">
                <a16:creationId xmlns:a16="http://schemas.microsoft.com/office/drawing/2014/main" id="{87261AB9-CE86-441D-8C92-7839F9D7AE49}"/>
              </a:ext>
            </a:extLst>
          </p:cNvPr>
          <p:cNvSpPr>
            <a:spLocks noGrp="1"/>
          </p:cNvSpPr>
          <p:nvPr/>
        </p:nvSpPr>
        <p:spPr>
          <a:xfrm>
            <a:off x="495300" y="981075"/>
            <a:ext cx="111347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实验假设智能体已经读到植入的数据点。每个格子对三种多模块工具求平均，横轴是技术，纵轴是植入位置。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" y="1855586"/>
            <a:ext cx="11144250" cy="3594504"/>
          </a:xfrm>
          <a:prstGeom prst="rect">
            <a:avLst/>
          </a:prstGeom>
        </p:spPr>
      </p:pic>
      <p:sp>
        <p:nvSpPr>
          <p:cNvPr id="5" name="论文结论">
            <a:extLst>
              <a:ext uri="{FF2B5EF4-FFF2-40B4-BE49-F238E27FC236}">
                <a16:creationId xmlns:a16="http://schemas.microsoft.com/office/drawing/2014/main" id="{F228A21D-6C5A-407C-992C-CAC40F2FCCFD}"/>
              </a:ext>
            </a:extLst>
          </p:cNvPr>
          <p:cNvSpPr>
            <a:spLocks noGrp="1"/>
          </p:cNvSpPr>
          <p:nvPr/>
        </p:nvSpPr>
        <p:spPr>
          <a:xfrm>
            <a:off x="504825" y="5743575"/>
            <a:ext cx="1109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论文结论</a:t>
            </a:r>
          </a:p>
        </p:txBody>
      </p:sp>
      <p:sp>
        <p:nvSpPr>
          <p:cNvPr id="6" name="全组合平均 DSR 为 55.34%–67.95%。防御效果取决于所用模">
            <a:extLst>
              <a:ext uri="{FF2B5EF4-FFF2-40B4-BE49-F238E27FC236}">
                <a16:creationId xmlns:a16="http://schemas.microsoft.com/office/drawing/2014/main" id="{F1BD0939-89CD-4D3B-9DA1-402DBB8C68B8}"/>
              </a:ext>
            </a:extLst>
          </p:cNvPr>
          <p:cNvSpPr>
            <a:spLocks noGrp="1"/>
          </p:cNvSpPr>
          <p:nvPr/>
        </p:nvSpPr>
        <p:spPr>
          <a:xfrm>
            <a:off x="504825" y="6076950"/>
            <a:ext cx="11096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全组合平均 DSR 为 55.34%–67.95%。防御效果取决于所用模型、技术与植入数据点。</a:t>
            </a:r>
          </a:p>
        </p:txBody>
      </p:sp>
      <p:sp>
        <p:nvSpPr>
          <p:cNvPr id="7" name="24">
            <a:extLst>
              <a:ext uri="{FF2B5EF4-FFF2-40B4-BE49-F238E27FC236}">
                <a16:creationId xmlns:a16="http://schemas.microsoft.com/office/drawing/2014/main" id="{77E672CB-C902-4EAF-B030-12088A127128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04438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F671D51-E793-4EC3-B25F-17672C84A099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4 优选组合与防御效果">
            <a:extLst>
              <a:ext uri="{FF2B5EF4-FFF2-40B4-BE49-F238E27FC236}">
                <a16:creationId xmlns:a16="http://schemas.microsoft.com/office/drawing/2014/main" id="{D6AAF960-D9B2-4E06-8236-D795CAA9F7EA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3.4 优选组合与防御效果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95300" y="1200150"/>
          <a:ext cx="11163300" cy="30670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组合规模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GPT-4o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Sonnet 3.5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Gemini 1.5 Pro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Llama 3.1 70B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× 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× 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98.77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92.42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95.15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82.80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× 5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87.49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86.92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85.05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75.75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× 10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86.37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80.09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79.60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71.43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全部组合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55.34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67.95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63.66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62.25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观察：优选部署位置和技术，可以明显提高平均成功率">
            <a:extLst>
              <a:ext uri="{FF2B5EF4-FFF2-40B4-BE49-F238E27FC236}">
                <a16:creationId xmlns:a16="http://schemas.microsoft.com/office/drawing/2014/main" id="{779B1C08-C348-437F-A630-CB082DE41763}"/>
              </a:ext>
            </a:extLst>
          </p:cNvPr>
          <p:cNvSpPr>
            <a:spLocks noGrp="1"/>
          </p:cNvSpPr>
          <p:nvPr/>
        </p:nvSpPr>
        <p:spPr>
          <a:xfrm>
            <a:off x="495300" y="460057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观察：优选部署位置和技术，可以明显提高平均成功率</a:t>
            </a:r>
          </a:p>
        </p:txBody>
      </p:sp>
      <p:sp>
        <p:nvSpPr>
          <p:cNvPr id="5" name="作者按已有测试结果挑选 n 种技术与 m 个数据点。1×1 组合在四种模">
            <a:extLst>
              <a:ext uri="{FF2B5EF4-FFF2-40B4-BE49-F238E27FC236}">
                <a16:creationId xmlns:a16="http://schemas.microsoft.com/office/drawing/2014/main" id="{95129664-957D-4ACE-905A-D7232859D7D3}"/>
              </a:ext>
            </a:extLst>
          </p:cNvPr>
          <p:cNvSpPr>
            <a:spLocks noGrp="1"/>
          </p:cNvSpPr>
          <p:nvPr/>
        </p:nvSpPr>
        <p:spPr>
          <a:xfrm>
            <a:off x="495300" y="50387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作者按已有测试结果挑选 n 种技术与 m 个数据点。1×1 组合在四种模型上均达到 100%。5×5 组合保留更多部署选择，平均 DSR 为 75.75%–87.49%。</a:t>
            </a:r>
          </a:p>
        </p:txBody>
      </p:sp>
      <p:sp>
        <p:nvSpPr>
          <p:cNvPr id="6" name="25">
            <a:extLst>
              <a:ext uri="{FF2B5EF4-FFF2-40B4-BE49-F238E27FC236}">
                <a16:creationId xmlns:a16="http://schemas.microsoft.com/office/drawing/2014/main" id="{D1AB45BB-229B-4039-BCB9-7B24B5972B76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06070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BD809F0-E6B4-46AE-A7EF-5755296A2470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5 端到端：十一台 CTF 靶机">
            <a:extLst>
              <a:ext uri="{FF2B5EF4-FFF2-40B4-BE49-F238E27FC236}">
                <a16:creationId xmlns:a16="http://schemas.microsoft.com/office/drawing/2014/main" id="{25C76CF6-279D-4F34-9B48-D379C50CEFA0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3.5 端到端：十一台 CTF 靶机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495300" y="1381125"/>
          <a:ext cx="7191375" cy="4105272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靶机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难度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无防御：入口发现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有防御：入口发现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UbuntuX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VulBox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Shocker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Corpnet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DGPro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Medium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CornHub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Medium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Imagery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Medium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Tr4c3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Hackme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Medium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Kermit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Hard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106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GitGambit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Hard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实验配置">
            <a:extLst>
              <a:ext uri="{FF2B5EF4-FFF2-40B4-BE49-F238E27FC236}">
                <a16:creationId xmlns:a16="http://schemas.microsoft.com/office/drawing/2014/main" id="{777A4D37-98B4-4FDB-8E0E-0F1ABDCD0278}"/>
              </a:ext>
            </a:extLst>
          </p:cNvPr>
          <p:cNvSpPr>
            <a:spLocks noGrp="1"/>
          </p:cNvSpPr>
          <p:nvPr/>
        </p:nvSpPr>
        <p:spPr>
          <a:xfrm>
            <a:off x="8058150" y="1381125"/>
            <a:ext cx="3486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实验配置</a:t>
            </a:r>
          </a:p>
        </p:txBody>
      </p:sp>
      <p:sp>
        <p:nvSpPr>
          <p:cNvPr id="5" name="每台各运行 3 次；从优选组合选择并布置 10 个数据点。">
            <a:extLst>
              <a:ext uri="{FF2B5EF4-FFF2-40B4-BE49-F238E27FC236}">
                <a16:creationId xmlns:a16="http://schemas.microsoft.com/office/drawing/2014/main" id="{C6F7F840-F894-473E-8CDD-32BB7A2348A5}"/>
              </a:ext>
            </a:extLst>
          </p:cNvPr>
          <p:cNvSpPr>
            <a:spLocks noGrp="1"/>
          </p:cNvSpPr>
          <p:nvPr/>
        </p:nvSpPr>
        <p:spPr>
          <a:xfrm>
            <a:off x="8058150" y="1704975"/>
            <a:ext cx="348615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每台各运行 3 次；从优选组合选择并布置 10 个数据点。</a:t>
            </a:r>
          </a:p>
        </p:txBody>
      </p:sp>
      <p:sp>
        <p:nvSpPr>
          <p:cNvPr id="6" name="主要结果">
            <a:extLst>
              <a:ext uri="{FF2B5EF4-FFF2-40B4-BE49-F238E27FC236}">
                <a16:creationId xmlns:a16="http://schemas.microsoft.com/office/drawing/2014/main" id="{04ED999F-3252-475B-AA17-D3122FBA5C2E}"/>
              </a:ext>
            </a:extLst>
          </p:cNvPr>
          <p:cNvSpPr>
            <a:spLocks noGrp="1"/>
          </p:cNvSpPr>
          <p:nvPr/>
        </p:nvSpPr>
        <p:spPr>
          <a:xfrm>
            <a:off x="8058150" y="2790825"/>
            <a:ext cx="3486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主要结果</a:t>
            </a:r>
          </a:p>
        </p:txBody>
      </p:sp>
      <p:sp>
        <p:nvSpPr>
          <p:cNvPr id="7" name="有防御的 33 次运行&#10;均未发现初始入口，&#10;攻击停在第一层。">
            <a:extLst>
              <a:ext uri="{FF2B5EF4-FFF2-40B4-BE49-F238E27FC236}">
                <a16:creationId xmlns:a16="http://schemas.microsoft.com/office/drawing/2014/main" id="{F6B292C6-B393-4411-942C-82887B7A1E09}"/>
              </a:ext>
            </a:extLst>
          </p:cNvPr>
          <p:cNvSpPr>
            <a:spLocks noGrp="1"/>
          </p:cNvSpPr>
          <p:nvPr/>
        </p:nvSpPr>
        <p:spPr>
          <a:xfrm>
            <a:off x="8058150" y="3114675"/>
            <a:ext cx="348615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有防御的 33 次运行</a:t>
            </a:r>
          </a:p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均未发现初始入口，</a:t>
            </a:r>
          </a:p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攻击停在第一层。</a:t>
            </a:r>
          </a:p>
        </p:txBody>
      </p:sp>
      <p:sp>
        <p:nvSpPr>
          <p:cNvPr id="8" name="阶段记录">
            <a:extLst>
              <a:ext uri="{FF2B5EF4-FFF2-40B4-BE49-F238E27FC236}">
                <a16:creationId xmlns:a16="http://schemas.microsoft.com/office/drawing/2014/main" id="{2753D13F-21B0-42B1-B0C7-E787B84C0ADB}"/>
              </a:ext>
            </a:extLst>
          </p:cNvPr>
          <p:cNvSpPr>
            <a:spLocks noGrp="1"/>
          </p:cNvSpPr>
          <p:nvPr/>
        </p:nvSpPr>
        <p:spPr>
          <a:xfrm>
            <a:off x="8058150" y="4200525"/>
            <a:ext cx="3486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阶段记录</a:t>
            </a:r>
          </a:p>
        </p:txBody>
      </p:sp>
      <p:sp>
        <p:nvSpPr>
          <p:cNvPr id="9" name="原文还记录入口利用、发现提权与执行提权。各阶段分别统计，右侧结果对应初始">
            <a:extLst>
              <a:ext uri="{FF2B5EF4-FFF2-40B4-BE49-F238E27FC236}">
                <a16:creationId xmlns:a16="http://schemas.microsoft.com/office/drawing/2014/main" id="{A0644868-9724-46B6-BF60-35700E1F4279}"/>
              </a:ext>
            </a:extLst>
          </p:cNvPr>
          <p:cNvSpPr>
            <a:spLocks noGrp="1"/>
          </p:cNvSpPr>
          <p:nvPr/>
        </p:nvSpPr>
        <p:spPr>
          <a:xfrm>
            <a:off x="8058150" y="4524375"/>
            <a:ext cx="348615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原文还记录入口利用、发现提权与执行提权。各阶段分别统计，右侧结果对应初始入口发现。</a:t>
            </a:r>
          </a:p>
        </p:txBody>
      </p:sp>
      <p:sp>
        <p:nvSpPr>
          <p:cNvPr id="10" name="论文结论">
            <a:extLst>
              <a:ext uri="{FF2B5EF4-FFF2-40B4-BE49-F238E27FC236}">
                <a16:creationId xmlns:a16="http://schemas.microsoft.com/office/drawing/2014/main" id="{CCA7316E-9216-488E-A8CE-58EFC3F8927D}"/>
              </a:ext>
            </a:extLst>
          </p:cNvPr>
          <p:cNvSpPr>
            <a:spLocks noGrp="1"/>
          </p:cNvSpPr>
          <p:nvPr/>
        </p:nvSpPr>
        <p:spPr>
          <a:xfrm>
            <a:off x="504825" y="5743575"/>
            <a:ext cx="1109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论文结论</a:t>
            </a:r>
          </a:p>
        </p:txBody>
      </p:sp>
      <p:sp>
        <p:nvSpPr>
          <p:cNvPr id="11" name="在 PentestGPT + GPT-4o 的测试中，11 台靶机的 3">
            <a:extLst>
              <a:ext uri="{FF2B5EF4-FFF2-40B4-BE49-F238E27FC236}">
                <a16:creationId xmlns:a16="http://schemas.microsoft.com/office/drawing/2014/main" id="{C8F2F388-7D1D-49A2-A1B1-47785222E006}"/>
              </a:ext>
            </a:extLst>
          </p:cNvPr>
          <p:cNvSpPr>
            <a:spLocks noGrp="1"/>
          </p:cNvSpPr>
          <p:nvPr/>
        </p:nvSpPr>
        <p:spPr>
          <a:xfrm>
            <a:off x="504825" y="6076950"/>
            <a:ext cx="11096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在 PentestGPT + GPT-4o 的测试中，11 台靶机的 33 次防御运行均在初始入口发现前停止。</a:t>
            </a:r>
          </a:p>
        </p:txBody>
      </p:sp>
      <p:sp>
        <p:nvSpPr>
          <p:cNvPr id="12" name="26">
            <a:extLst>
              <a:ext uri="{FF2B5EF4-FFF2-40B4-BE49-F238E27FC236}">
                <a16:creationId xmlns:a16="http://schemas.microsoft.com/office/drawing/2014/main" id="{32D98F0D-BADB-4A6E-80A6-28FFE3290204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47306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9C431DD-13BF-428F-807F-13518BEBDC5E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6 适应性攻击者：误报与被骗">
            <a:extLst>
              <a:ext uri="{FF2B5EF4-FFF2-40B4-BE49-F238E27FC236}">
                <a16:creationId xmlns:a16="http://schemas.microsoft.com/office/drawing/2014/main" id="{F74356FA-4199-4B0D-89C3-7675EF39662B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3.6 适应性攻击者：误报与被骗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495300" y="1381125"/>
          <a:ext cx="11163300" cy="3352800"/>
        </p:xfrm>
        <a:graphic>
          <a:graphicData uri="http://schemas.openxmlformats.org/drawingml/2006/table">
            <a:tbl>
              <a:tblPr/>
              <a:tblGrid>
                <a:gridCol w="62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攻击者适应方式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FPR（%）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防守方 DSR（%）</a:t>
                      </a:r>
                    </a:p>
                  </a:txBody>
                  <a:tcPr marL="95250" marR="95250" marT="57150" marB="57150" anchor="ctr">
                    <a:solidFill>
                      <a:srgbClr val="005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原始攻击者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83.92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上下文加入论文信息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8.83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78.14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DeBERTa 预处理分类器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66.08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告知防御的系统提示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94.12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1.04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 防御前缀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99.02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微调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49.17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10.69</a:t>
                      </a:r>
                    </a:p>
                  </a:txBody>
                  <a:tcPr marL="95250" marR="95250" marT="57150" marB="57150" anchor="ctr">
                    <a:solidFill>
                      <a:srgbClr val="ED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集成检测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25.07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52A4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14.19</a:t>
                      </a:r>
                    </a:p>
                  </a:txBody>
                  <a:tcPr marL="95250" marR="95250" marT="57150" marB="57150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PAT 将 DSR 降至 0.35%，同时产生 99.02% 的误报。集">
            <a:extLst>
              <a:ext uri="{FF2B5EF4-FFF2-40B4-BE49-F238E27FC236}">
                <a16:creationId xmlns:a16="http://schemas.microsoft.com/office/drawing/2014/main" id="{C2A65DBF-ACFD-4995-86FC-0C1213BB4EE0}"/>
              </a:ext>
            </a:extLst>
          </p:cNvPr>
          <p:cNvSpPr>
            <a:spLocks noGrp="1"/>
          </p:cNvSpPr>
          <p:nvPr/>
        </p:nvSpPr>
        <p:spPr>
          <a:xfrm>
            <a:off x="504825" y="5019675"/>
            <a:ext cx="111156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PAT 将 DSR 降至 0.35%，同时产生 99.02% 的误报。集成检测的误报率降至 25.07%，对应 DSR 为 14.19%，反映过滤诱饵与保留真实信息之间的权衡。</a:t>
            </a:r>
          </a:p>
        </p:txBody>
      </p:sp>
      <p:sp>
        <p:nvSpPr>
          <p:cNvPr id="5" name="27">
            <a:extLst>
              <a:ext uri="{FF2B5EF4-FFF2-40B4-BE49-F238E27FC236}">
                <a16:creationId xmlns:a16="http://schemas.microsoft.com/office/drawing/2014/main" id="{82601CF4-9C59-4241-99A1-4FE5FFCBC204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05208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EED8122-1ABD-46FA-9ABF-0787B4C84189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7 适应性攻击者的实现细节">
            <a:extLst>
              <a:ext uri="{FF2B5EF4-FFF2-40B4-BE49-F238E27FC236}">
                <a16:creationId xmlns:a16="http://schemas.microsoft.com/office/drawing/2014/main" id="{7FF14BE8-1F43-46A6-95DF-1AEE51E85E18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3.7 适应性攻击者的实现细节</a:t>
            </a:r>
          </a:p>
        </p:txBody>
      </p:sp>
      <p:sp>
        <p:nvSpPr>
          <p:cNvPr id="3" name="数据与统一后端">
            <a:extLst>
              <a:ext uri="{FF2B5EF4-FFF2-40B4-BE49-F238E27FC236}">
                <a16:creationId xmlns:a16="http://schemas.microsoft.com/office/drawing/2014/main" id="{4B2F5A13-CF6D-4C04-A503-ABBA2D71D2B6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数据与统一后端</a:t>
            </a:r>
          </a:p>
        </p:txBody>
      </p:sp>
      <p:sp>
        <p:nvSpPr>
          <p:cNvPr id="4" name="所有适应性方案使用 PentestGPT 与 GPT-4o。训练数据包含">
            <a:extLst>
              <a:ext uri="{FF2B5EF4-FFF2-40B4-BE49-F238E27FC236}">
                <a16:creationId xmlns:a16="http://schemas.microsoft.com/office/drawing/2014/main" id="{A4C345CB-3792-45E1-8966-31432D06F591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所有适应性方案使用 PentestGPT 与 GPT-4o。训练数据包含 2,000 个数据点，干净与有防御样本各占一半。测试数据由 GPT-4o 改写训练样本生成，用于检验载荷表达变化后的识别与过滤。</a:t>
            </a:r>
          </a:p>
        </p:txBody>
      </p:sp>
      <p:sp>
        <p:nvSpPr>
          <p:cNvPr id="5" name="系统提示与预处理分类器">
            <a:extLst>
              <a:ext uri="{FF2B5EF4-FFF2-40B4-BE49-F238E27FC236}">
                <a16:creationId xmlns:a16="http://schemas.microsoft.com/office/drawing/2014/main" id="{B20E598A-40C6-4619-826B-FAE28F30EC17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系统提示与预处理分类器</a:t>
            </a:r>
          </a:p>
        </p:txBody>
      </p:sp>
      <p:sp>
        <p:nvSpPr>
          <p:cNvPr id="6" name="Informed 提示告知智能体防御技巧并要求避开。PAT 将优化的防护">
            <a:extLst>
              <a:ext uri="{FF2B5EF4-FFF2-40B4-BE49-F238E27FC236}">
                <a16:creationId xmlns:a16="http://schemas.microsoft.com/office/drawing/2014/main" id="{D5E7522C-4289-4AAF-B43E-237620299AF8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Informed 提示告知智能体防御技巧并要求避开。PAT 将优化的防护前缀加到输入之前。预处理方案在模型读入前检测载荷，分别采用 TF-IDF 特征的 SVM，以及添加分类头并微调的 DeBERTa-v3-large。</a:t>
            </a:r>
          </a:p>
        </p:txBody>
      </p:sp>
      <p:sp>
        <p:nvSpPr>
          <p:cNvPr id="7" name="上下文感知与微调">
            <a:extLst>
              <a:ext uri="{FF2B5EF4-FFF2-40B4-BE49-F238E27FC236}">
                <a16:creationId xmlns:a16="http://schemas.microsoft.com/office/drawing/2014/main" id="{DC3D8F90-6AF6-465C-BD97-942132D0DDB3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上下文感知与微调</a:t>
            </a:r>
          </a:p>
        </p:txBody>
      </p:sp>
      <p:sp>
        <p:nvSpPr>
          <p:cNvPr id="8" name="上下文感知方案通过 RAG 检索相似载荷，或检索论文相关片段，与防御警告">
            <a:extLst>
              <a:ext uri="{FF2B5EF4-FFF2-40B4-BE49-F238E27FC236}">
                <a16:creationId xmlns:a16="http://schemas.microsoft.com/office/drawing/2014/main" id="{BF98A2BC-3E69-4E33-86E1-2F7C6B6DEEC0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上下文感知方案通过 RAG 检索相似载荷，或检索论文相关片段，与防御警告一起加入输入。微调方案从干净和受防御的 PentestGPT 轨迹构造训练数据，让受防御轨迹指出诱饵，再使用 DPO 微调 GPT-4o。</a:t>
            </a:r>
          </a:p>
        </p:txBody>
      </p:sp>
      <p:sp>
        <p:nvSpPr>
          <p:cNvPr id="9" name="集成检测与指标解释">
            <a:extLst>
              <a:ext uri="{FF2B5EF4-FFF2-40B4-BE49-F238E27FC236}">
                <a16:creationId xmlns:a16="http://schemas.microsoft.com/office/drawing/2014/main" id="{20660281-9EF5-46D8-BBB0-B2E0967A5C24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集成检测与指标解释</a:t>
            </a:r>
          </a:p>
        </p:txBody>
      </p:sp>
      <p:sp>
        <p:nvSpPr>
          <p:cNvPr id="10" name="集成方案并行运行多个检测器，以多数投票作出判断。FPR 是干净数据被判为">
            <a:extLst>
              <a:ext uri="{FF2B5EF4-FFF2-40B4-BE49-F238E27FC236}">
                <a16:creationId xmlns:a16="http://schemas.microsoft.com/office/drawing/2014/main" id="{A16FAD02-1070-4FE3-B85C-248FE82F9826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集成方案并行运行多个检测器，以多数投票作出判断。FPR 是干净数据被判为诱饵的比例，DSR 是防守载荷达到目标的比例。降低 DSR 表示诱饵更难奏效，但过高 FPR 会使攻击智能体拒绝真实线索，因此两项需共同观察。</a:t>
            </a:r>
          </a:p>
        </p:txBody>
      </p:sp>
      <p:sp>
        <p:nvSpPr>
          <p:cNvPr id="11" name="28">
            <a:extLst>
              <a:ext uri="{FF2B5EF4-FFF2-40B4-BE49-F238E27FC236}">
                <a16:creationId xmlns:a16="http://schemas.microsoft.com/office/drawing/2014/main" id="{92A5EED3-EE15-4980-8674-3E66D7973B2F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0164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62DAE11-09CC-415D-AA99-3FD5B77221E4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8 长上下文能否抵抗干扰">
            <a:extLst>
              <a:ext uri="{FF2B5EF4-FFF2-40B4-BE49-F238E27FC236}">
                <a16:creationId xmlns:a16="http://schemas.microsoft.com/office/drawing/2014/main" id="{6342E672-EB2B-4146-BEF4-1EBB4597C6F1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3.8 长上下文能否抵抗干扰</a:t>
            </a:r>
          </a:p>
        </p:txBody>
      </p:sp>
      <p:sp>
        <p:nvSpPr>
          <p:cNvPr id="3" name="实验设置">
            <a:extLst>
              <a:ext uri="{FF2B5EF4-FFF2-40B4-BE49-F238E27FC236}">
                <a16:creationId xmlns:a16="http://schemas.microsoft.com/office/drawing/2014/main" id="{CFC27A6A-F4EB-43D1-8437-4FDA041BC6C0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4981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实验设置</a:t>
            </a:r>
          </a:p>
        </p:txBody>
      </p:sp>
      <p:sp>
        <p:nvSpPr>
          <p:cNvPr id="4" name="PTT 保存可能的行动与任务状态。初始列表包含使用已验证凭据建立 SSH">
            <a:extLst>
              <a:ext uri="{FF2B5EF4-FFF2-40B4-BE49-F238E27FC236}">
                <a16:creationId xmlns:a16="http://schemas.microsoft.com/office/drawing/2014/main" id="{0C893DA5-FDDF-4989-9AD6-7DFB856F38EB}"/>
              </a:ext>
            </a:extLst>
          </p:cNvPr>
          <p:cNvSpPr>
            <a:spLocks noGrp="1"/>
          </p:cNvSpPr>
          <p:nvPr/>
        </p:nvSpPr>
        <p:spPr>
          <a:xfrm>
            <a:off x="495300" y="1371600"/>
            <a:ext cx="49815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PTT 保存可能的行动与任务状态。初始列表包含使用已验证凭据建立 SSH 会话的高价值任务，随后加入无关任务。</a:t>
            </a:r>
          </a:p>
        </p:txBody>
      </p:sp>
      <p:sp>
        <p:nvSpPr>
          <p:cNvPr id="5" name="评测范围">
            <a:extLst>
              <a:ext uri="{FF2B5EF4-FFF2-40B4-BE49-F238E27FC236}">
                <a16:creationId xmlns:a16="http://schemas.microsoft.com/office/drawing/2014/main" id="{037B6232-4ABA-49B3-A6BD-BF77BB3545DA}"/>
              </a:ext>
            </a:extLst>
          </p:cNvPr>
          <p:cNvSpPr>
            <a:spLocks noGrp="1"/>
          </p:cNvSpPr>
          <p:nvPr/>
        </p:nvSpPr>
        <p:spPr>
          <a:xfrm>
            <a:off x="495300" y="2428875"/>
            <a:ext cx="4981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评测范围</a:t>
            </a:r>
          </a:p>
        </p:txBody>
      </p:sp>
      <p:sp>
        <p:nvSpPr>
          <p:cNvPr id="6" name="加入假 CVE、虚构端口和错误版本信息，使任务列表从约 700 toke">
            <a:extLst>
              <a:ext uri="{FF2B5EF4-FFF2-40B4-BE49-F238E27FC236}">
                <a16:creationId xmlns:a16="http://schemas.microsoft.com/office/drawing/2014/main" id="{A38712DD-A178-47FF-8849-78BC34DEFDE7}"/>
              </a:ext>
            </a:extLst>
          </p:cNvPr>
          <p:cNvSpPr>
            <a:spLocks noGrp="1"/>
          </p:cNvSpPr>
          <p:nvPr/>
        </p:nvSpPr>
        <p:spPr>
          <a:xfrm>
            <a:off x="495300" y="2752725"/>
            <a:ext cx="49815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加入假 CVE、虚构端口和错误版本信息，使任务列表从约 700 tokens 增长到 24k。四种模型在每次扩展后选择下一任务。</a:t>
            </a:r>
          </a:p>
        </p:txBody>
      </p:sp>
      <p:sp>
        <p:nvSpPr>
          <p:cNvPr id="7" name="观察结果">
            <a:extLst>
              <a:ext uri="{FF2B5EF4-FFF2-40B4-BE49-F238E27FC236}">
                <a16:creationId xmlns:a16="http://schemas.microsoft.com/office/drawing/2014/main" id="{26E9A1DA-49AE-421C-A1ED-5280C63C895E}"/>
              </a:ext>
            </a:extLst>
          </p:cNvPr>
          <p:cNvSpPr>
            <a:spLocks noGrp="1"/>
          </p:cNvSpPr>
          <p:nvPr/>
        </p:nvSpPr>
        <p:spPr>
          <a:xfrm>
            <a:off x="495300" y="3810000"/>
            <a:ext cx="49815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观察结果</a:t>
            </a:r>
          </a:p>
        </p:txBody>
      </p:sp>
      <p:sp>
        <p:nvSpPr>
          <p:cNvPr id="8" name="正确任务一直保留在上下文中。低优先级任务增多后，模型选择高价值任务的准确">
            <a:extLst>
              <a:ext uri="{FF2B5EF4-FFF2-40B4-BE49-F238E27FC236}">
                <a16:creationId xmlns:a16="http://schemas.microsoft.com/office/drawing/2014/main" id="{C127584D-0BFB-4853-A385-0CE16D8A222E}"/>
              </a:ext>
            </a:extLst>
          </p:cNvPr>
          <p:cNvSpPr>
            <a:spLocks noGrp="1"/>
          </p:cNvSpPr>
          <p:nvPr/>
        </p:nvSpPr>
        <p:spPr>
          <a:xfrm>
            <a:off x="495300" y="4133850"/>
            <a:ext cx="49815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正确任务一直保留在上下文中。低优先级任务增多后，模型选择高价值任务的准确率下降。图中显示四种模型的变化。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57875" y="1488324"/>
            <a:ext cx="5762625" cy="2624052"/>
          </a:xfrm>
          <a:prstGeom prst="rect">
            <a:avLst/>
          </a:prstGeom>
        </p:spPr>
      </p:pic>
      <p:sp>
        <p:nvSpPr>
          <p:cNvPr id="10" name="约 10k tokens 时，准确率已明显下降。各模型曲线不同，“约 2">
            <a:extLst>
              <a:ext uri="{FF2B5EF4-FFF2-40B4-BE49-F238E27FC236}">
                <a16:creationId xmlns:a16="http://schemas.microsoft.com/office/drawing/2014/main" id="{91A9E13F-9E33-432B-B787-463B41DD1099}"/>
              </a:ext>
            </a:extLst>
          </p:cNvPr>
          <p:cNvSpPr>
            <a:spLocks noGrp="1"/>
          </p:cNvSpPr>
          <p:nvPr/>
        </p:nvSpPr>
        <p:spPr>
          <a:xfrm>
            <a:off x="6000750" y="4610100"/>
            <a:ext cx="54768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约 10k tokens 时，准确率已明显下降。各模型曲线不同，“约 20%”并非所有模型的统一结果。</a:t>
            </a:r>
          </a:p>
        </p:txBody>
      </p:sp>
      <p:sp>
        <p:nvSpPr>
          <p:cNvPr id="11" name="论文结论">
            <a:extLst>
              <a:ext uri="{FF2B5EF4-FFF2-40B4-BE49-F238E27FC236}">
                <a16:creationId xmlns:a16="http://schemas.microsoft.com/office/drawing/2014/main" id="{06F8AF11-D55D-439F-8636-8EB05E0CB50C}"/>
              </a:ext>
            </a:extLst>
          </p:cNvPr>
          <p:cNvSpPr>
            <a:spLocks noGrp="1"/>
          </p:cNvSpPr>
          <p:nvPr/>
        </p:nvSpPr>
        <p:spPr>
          <a:xfrm>
            <a:off x="504825" y="5743575"/>
            <a:ext cx="11096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论文结论</a:t>
            </a:r>
          </a:p>
        </p:txBody>
      </p:sp>
      <p:sp>
        <p:nvSpPr>
          <p:cNvPr id="12" name="扩大上下文窗口未能消除任务选择受干扰的现象。正确任务仍在上下文中，选择准">
            <a:extLst>
              <a:ext uri="{FF2B5EF4-FFF2-40B4-BE49-F238E27FC236}">
                <a16:creationId xmlns:a16="http://schemas.microsoft.com/office/drawing/2014/main" id="{17C2574E-5E7F-4BD5-B6D2-99AEC60C8901}"/>
              </a:ext>
            </a:extLst>
          </p:cNvPr>
          <p:cNvSpPr>
            <a:spLocks noGrp="1"/>
          </p:cNvSpPr>
          <p:nvPr/>
        </p:nvSpPr>
        <p:spPr>
          <a:xfrm>
            <a:off x="504825" y="6076950"/>
            <a:ext cx="11096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扩大上下文窗口未能消除任务选择受干扰的现象。正确任务仍在上下文中，选择准确率仍下降。</a:t>
            </a:r>
          </a:p>
        </p:txBody>
      </p:sp>
      <p:sp>
        <p:nvSpPr>
          <p:cNvPr id="13" name="29">
            <a:extLst>
              <a:ext uri="{FF2B5EF4-FFF2-40B4-BE49-F238E27FC236}">
                <a16:creationId xmlns:a16="http://schemas.microsoft.com/office/drawing/2014/main" id="{4546D4C7-03E7-495C-8364-BDE993FCADF4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12099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4CB25DE-2B66-4F48-B38F-906CE94B6ACC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3.9 CHeaT 与技术组合部署">
            <a:extLst>
              <a:ext uri="{FF2B5EF4-FFF2-40B4-BE49-F238E27FC236}">
                <a16:creationId xmlns:a16="http://schemas.microsoft.com/office/drawing/2014/main" id="{54A32EC4-5DE4-4426-B9ED-84C9D4FA9295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3.9 CHeaT 与技术组合部署</a:t>
            </a:r>
          </a:p>
        </p:txBody>
      </p:sp>
      <p:sp>
        <p:nvSpPr>
          <p:cNvPr id="3" name="CHeaT 的公开能力">
            <a:extLst>
              <a:ext uri="{FF2B5EF4-FFF2-40B4-BE49-F238E27FC236}">
                <a16:creationId xmlns:a16="http://schemas.microsoft.com/office/drawing/2014/main" id="{5C502207-6250-4461-A977-D7561D9FCFED}"/>
              </a:ext>
            </a:extLst>
          </p:cNvPr>
          <p:cNvSpPr>
            <a:spLocks noGrp="1"/>
          </p:cNvSpPr>
          <p:nvPr/>
        </p:nvSpPr>
        <p:spPr>
          <a:xfrm>
            <a:off x="504825" y="100012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CHeaT 的公开能力</a:t>
            </a:r>
          </a:p>
        </p:txBody>
      </p:sp>
      <p:sp>
        <p:nvSpPr>
          <p:cNvPr id="4" name="论文公开 CHeaT，用于自动插入 Cloak、Honey 与 Trap">
            <a:extLst>
              <a:ext uri="{FF2B5EF4-FFF2-40B4-BE49-F238E27FC236}">
                <a16:creationId xmlns:a16="http://schemas.microsoft.com/office/drawing/2014/main" id="{E13FC90F-D4AE-4F28-A988-16B2174954F1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论文公开 CHeaT，用于自动插入 Cloak、Honey 与 Trap 类载荷，同时提供载荷模板、评估数据和 CTF 实验资源。单项评估中的数据生成使用这些载荷与数据点组合，便于比较不同技术在不同环境信息上的效果。</a:t>
            </a:r>
          </a:p>
        </p:txBody>
      </p:sp>
      <p:sp>
        <p:nvSpPr>
          <p:cNvPr id="5" name="组合改变作用链路">
            <a:extLst>
              <a:ext uri="{FF2B5EF4-FFF2-40B4-BE49-F238E27FC236}">
                <a16:creationId xmlns:a16="http://schemas.microsoft.com/office/drawing/2014/main" id="{727BA49B-6A27-433E-BA29-3772463541A4}"/>
              </a:ext>
            </a:extLst>
          </p:cNvPr>
          <p:cNvSpPr>
            <a:spLocks noGrp="1"/>
          </p:cNvSpPr>
          <p:nvPr/>
        </p:nvSpPr>
        <p:spPr>
          <a:xfrm>
            <a:off x="504825" y="228600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组合改变作用链路</a:t>
            </a:r>
          </a:p>
        </p:txBody>
      </p:sp>
      <p:sp>
        <p:nvSpPr>
          <p:cNvPr id="6" name="专用诱饵可先把智能体引向看似可信的来源，再通过修复记录或假版本号影响知识">
            <a:extLst>
              <a:ext uri="{FF2B5EF4-FFF2-40B4-BE49-F238E27FC236}">
                <a16:creationId xmlns:a16="http://schemas.microsoft.com/office/drawing/2014/main" id="{22B357DC-DAAE-48B3-B9C3-31ACBC7E0F14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专用诱饵可先把智能体引向看似可信的来源，再通过修复记录或假版本号影响知识状态。循环文件也可加入访问监测，使同一机制同时产生延迟与检测。组合部署应按具体行为解释各技术的目标。</a:t>
            </a:r>
          </a:p>
        </p:txBody>
      </p:sp>
      <p:sp>
        <p:nvSpPr>
          <p:cNvPr id="7" name="端到端实验的部署过程">
            <a:extLst>
              <a:ext uri="{FF2B5EF4-FFF2-40B4-BE49-F238E27FC236}">
                <a16:creationId xmlns:a16="http://schemas.microsoft.com/office/drawing/2014/main" id="{B469538E-2188-4825-B57E-5671C78675BA}"/>
              </a:ext>
            </a:extLst>
          </p:cNvPr>
          <p:cNvSpPr>
            <a:spLocks noGrp="1"/>
          </p:cNvSpPr>
          <p:nvPr/>
        </p:nvSpPr>
        <p:spPr>
          <a:xfrm>
            <a:off x="504825" y="3571875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端到端实验的部署过程</a:t>
            </a:r>
          </a:p>
        </p:txBody>
      </p:sp>
      <p:sp>
        <p:nvSpPr>
          <p:cNvPr id="8" name="作者从优选的 10×10 技术与数据点组合中随机选取 10 个数据点，人">
            <a:extLst>
              <a:ext uri="{FF2B5EF4-FFF2-40B4-BE49-F238E27FC236}">
                <a16:creationId xmlns:a16="http://schemas.microsoft.com/office/drawing/2014/main" id="{D6CB4FD2-2028-4104-88EA-E6ACB6A67E26}"/>
              </a:ext>
            </a:extLst>
          </p:cNvPr>
          <p:cNvSpPr>
            <a:spLocks noGrp="1"/>
          </p:cNvSpPr>
          <p:nvPr/>
        </p:nvSpPr>
        <p:spPr>
          <a:xfrm>
            <a:off x="504825" y="3895725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作者从优选的 10×10 技术与数据点组合中随机选取 10 个数据点，人工布置到 CTF 靶机。每台运行三次无防御、三次有防御，并由两名 OSCP 测试人员监督。论文分别记录入口发现、入口利用、提权发现与提权执行。</a:t>
            </a:r>
          </a:p>
        </p:txBody>
      </p:sp>
      <p:sp>
        <p:nvSpPr>
          <p:cNvPr id="9" name="知识状态中的持续影响">
            <a:extLst>
              <a:ext uri="{FF2B5EF4-FFF2-40B4-BE49-F238E27FC236}">
                <a16:creationId xmlns:a16="http://schemas.microsoft.com/office/drawing/2014/main" id="{6B66370B-DFCE-45F9-A0CC-FE457DE5BD88}"/>
              </a:ext>
            </a:extLst>
          </p:cNvPr>
          <p:cNvSpPr>
            <a:spLocks noGrp="1"/>
          </p:cNvSpPr>
          <p:nvPr/>
        </p:nvSpPr>
        <p:spPr>
          <a:xfrm>
            <a:off x="504825" y="4857750"/>
            <a:ext cx="1109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知识状态中的持续影响</a:t>
            </a:r>
          </a:p>
        </p:txBody>
      </p:sp>
      <p:sp>
        <p:nvSpPr>
          <p:cNvPr id="10" name="主文指出，潜在 CVE、凭据和网页目录等诱饵会扩充 K，并留下虚构候选。">
            <a:extLst>
              <a:ext uri="{FF2B5EF4-FFF2-40B4-BE49-F238E27FC236}">
                <a16:creationId xmlns:a16="http://schemas.microsoft.com/office/drawing/2014/main" id="{62EC9C48-67E0-4E1F-AF12-676EE8EC6E26}"/>
              </a:ext>
            </a:extLst>
          </p:cNvPr>
          <p:cNvSpPr>
            <a:spLocks noGrp="1"/>
          </p:cNvSpPr>
          <p:nvPr/>
        </p:nvSpPr>
        <p:spPr>
          <a:xfrm>
            <a:off x="504825" y="5181600"/>
            <a:ext cx="11096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主文指出，潜在 CVE、凭据和网页目录等诱饵会扩充 K，并留下虚构候选。后续规划反复依赖这些候选，使影响跨越一次输入输出。CHeaT 的插入能力与 CTF 中的人工部署是论文中的两个具体环节。</a:t>
            </a:r>
          </a:p>
        </p:txBody>
      </p:sp>
      <p:sp>
        <p:nvSpPr>
          <p:cNvPr id="11" name="30">
            <a:extLst>
              <a:ext uri="{FF2B5EF4-FFF2-40B4-BE49-F238E27FC236}">
                <a16:creationId xmlns:a16="http://schemas.microsoft.com/office/drawing/2014/main" id="{716CD508-7EC1-4BCB-B58A-DBFDF651EE69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22882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88BDF6C-78EE-4A5C-8C22-E22F3F209A12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11372850" cy="58769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4.1 论文贡献与总结">
            <a:extLst>
              <a:ext uri="{FF2B5EF4-FFF2-40B4-BE49-F238E27FC236}">
                <a16:creationId xmlns:a16="http://schemas.microsoft.com/office/drawing/2014/main" id="{CA76693E-A36E-4939-9842-6716147507C2}"/>
              </a:ext>
            </a:extLst>
          </p:cNvPr>
          <p:cNvSpPr>
            <a:spLocks noGrp="1"/>
          </p:cNvSpPr>
          <p:nvPr/>
        </p:nvSpPr>
        <p:spPr>
          <a:xfrm>
            <a:off x="428625" y="133350"/>
            <a:ext cx="923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4.1 论文贡献与总结</a:t>
            </a:r>
          </a:p>
        </p:txBody>
      </p:sp>
      <p:sp>
        <p:nvSpPr>
          <p:cNvPr id="3" name="贡献一：提出面向自主攻击者的主动防御框架">
            <a:extLst>
              <a:ext uri="{FF2B5EF4-FFF2-40B4-BE49-F238E27FC236}">
                <a16:creationId xmlns:a16="http://schemas.microsoft.com/office/drawing/2014/main" id="{49C23EAF-49C1-440C-8128-F11125205C70}"/>
              </a:ext>
            </a:extLst>
          </p:cNvPr>
          <p:cNvSpPr>
            <a:spLocks noGrp="1"/>
          </p:cNvSpPr>
          <p:nvPr/>
        </p:nvSpPr>
        <p:spPr>
          <a:xfrm>
            <a:off x="495300" y="1095375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贡献一：提出面向自主攻击者的主动防御框架</a:t>
            </a:r>
          </a:p>
        </p:txBody>
      </p:sp>
      <p:sp>
        <p:nvSpPr>
          <p:cNvPr id="4" name="防守方在自身环境中预先部署诱饵，利用 LLM 对未核验输入的依赖、训练偏">
            <a:extLst>
              <a:ext uri="{FF2B5EF4-FFF2-40B4-BE49-F238E27FC236}">
                <a16:creationId xmlns:a16="http://schemas.microsoft.com/office/drawing/2014/main" id="{F453AE10-B4E1-4848-8A93-94F05E172DF5}"/>
              </a:ext>
            </a:extLst>
          </p:cNvPr>
          <p:cNvSpPr>
            <a:spLocks noGrp="1"/>
          </p:cNvSpPr>
          <p:nvPr/>
        </p:nvSpPr>
        <p:spPr>
          <a:xfrm>
            <a:off x="495300" y="1419225"/>
            <a:ext cx="111252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防守方在自身环境中预先部署诱饵，利用 LLM 对未核验输入的依赖、训练偏好与上下文限制，达到停止、延迟或检测攻击的目的。</a:t>
            </a:r>
          </a:p>
        </p:txBody>
      </p:sp>
      <p:sp>
        <p:nvSpPr>
          <p:cNvPr id="5" name="贡献二：组织三类策略、六类战术与十五种技术">
            <a:extLst>
              <a:ext uri="{FF2B5EF4-FFF2-40B4-BE49-F238E27FC236}">
                <a16:creationId xmlns:a16="http://schemas.microsoft.com/office/drawing/2014/main" id="{34CAF5AA-0767-45A3-98ED-81C8E01F3659}"/>
              </a:ext>
            </a:extLst>
          </p:cNvPr>
          <p:cNvSpPr>
            <a:spLocks noGrp="1"/>
          </p:cNvSpPr>
          <p:nvPr/>
        </p:nvSpPr>
        <p:spPr>
          <a:xfrm>
            <a:off x="495300" y="2466975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贡献二：组织三类策略、六类战术与十五种技术</a:t>
            </a:r>
          </a:p>
        </p:txBody>
      </p:sp>
      <p:sp>
        <p:nvSpPr>
          <p:cNvPr id="6" name="Cloak 通过误导感知和转移注意力保护资产。Honey 通过专用诱饵与">
            <a:extLst>
              <a:ext uri="{FF2B5EF4-FFF2-40B4-BE49-F238E27FC236}">
                <a16:creationId xmlns:a16="http://schemas.microsoft.com/office/drawing/2014/main" id="{A4030F51-BE56-4587-9432-09D656555019}"/>
              </a:ext>
            </a:extLst>
          </p:cNvPr>
          <p:cNvSpPr>
            <a:spLocks noGrp="1"/>
          </p:cNvSpPr>
          <p:nvPr/>
        </p:nvSpPr>
        <p:spPr>
          <a:xfrm>
            <a:off x="495300" y="2790825"/>
            <a:ext cx="111252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Cloak 通过误导感知和转移注意力保护资产。Honey 通过专用诱饵与字符蜜标识别交互。Trap 通过模型扰乱、角色操纵与代码执行干扰攻击。</a:t>
            </a:r>
          </a:p>
        </p:txBody>
      </p:sp>
      <p:sp>
        <p:nvSpPr>
          <p:cNvPr id="7" name="贡献三：提供多层实验与开放资源">
            <a:extLst>
              <a:ext uri="{FF2B5EF4-FFF2-40B4-BE49-F238E27FC236}">
                <a16:creationId xmlns:a16="http://schemas.microsoft.com/office/drawing/2014/main" id="{993F343C-D752-4C2A-9AB0-06A8CF312210}"/>
              </a:ext>
            </a:extLst>
          </p:cNvPr>
          <p:cNvSpPr>
            <a:spLocks noGrp="1"/>
          </p:cNvSpPr>
          <p:nvPr/>
        </p:nvSpPr>
        <p:spPr>
          <a:xfrm>
            <a:off x="495300" y="3838575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57A8"/>
                </a:solidFill>
                <a:latin typeface="微软雅黑"/>
                <a:ea typeface="微软雅黑"/>
                <a:cs typeface="微软雅黑"/>
              </a:rPr>
              <a:t>贡献三：提供多层实验与开放资源</a:t>
            </a:r>
          </a:p>
        </p:txBody>
      </p:sp>
      <p:sp>
        <p:nvSpPr>
          <p:cNvPr id="8" name="作者在多个模型与渗透工具上评估单项技术，在 CTF 靶机上测试完整攻击流">
            <a:extLst>
              <a:ext uri="{FF2B5EF4-FFF2-40B4-BE49-F238E27FC236}">
                <a16:creationId xmlns:a16="http://schemas.microsoft.com/office/drawing/2014/main" id="{8DCC5413-136F-416F-B903-C2B7A70A8338}"/>
              </a:ext>
            </a:extLst>
          </p:cNvPr>
          <p:cNvSpPr>
            <a:spLocks noGrp="1"/>
          </p:cNvSpPr>
          <p:nvPr/>
        </p:nvSpPr>
        <p:spPr>
          <a:xfrm>
            <a:off x="495300" y="4162425"/>
            <a:ext cx="111252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作者在多个模型与渗透工具上评估单项技术，在 CTF 靶机上测试完整攻击流程，并分析适应性对抗。论文公开 CHeaT 插入工具、数据集与实验靶机。</a:t>
            </a:r>
          </a:p>
        </p:txBody>
      </p:sp>
      <p:sp>
        <p:nvSpPr>
          <p:cNvPr id="9" name="31">
            <a:extLst>
              <a:ext uri="{FF2B5EF4-FFF2-40B4-BE49-F238E27FC236}">
                <a16:creationId xmlns:a16="http://schemas.microsoft.com/office/drawing/2014/main" id="{3942A474-094B-448A-94F9-0C96DE3A9641}"/>
              </a:ext>
            </a:extLst>
          </p:cNvPr>
          <p:cNvSpPr>
            <a:spLocks noGrp="1"/>
          </p:cNvSpPr>
          <p:nvPr/>
        </p:nvSpPr>
        <p:spPr>
          <a:xfrm>
            <a:off x="11553825" y="6343650"/>
            <a:ext cx="3238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06176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709701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感谢聆听">
            <a:extLst>
              <a:ext uri="{FF2B5EF4-FFF2-40B4-BE49-F238E27FC236}">
                <a16:creationId xmlns:a16="http://schemas.microsoft.com/office/drawing/2014/main" id="{E616B2F7-53E9-4324-BF2B-1EF455D808A4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2" name="欢迎老师、同学提问与讨论">
            <a:extLst>
              <a:ext uri="{FF2B5EF4-FFF2-40B4-BE49-F238E27FC236}">
                <a16:creationId xmlns:a16="http://schemas.microsoft.com/office/drawing/2014/main" id="{4798C7B1-682C-4736-8C98-A3E5EC00EC59}"/>
              </a:ext>
            </a:extLst>
          </p:cNvPr>
          <p:cNvSpPr>
            <a:spLocks noGrp="1"/>
          </p:cNvSpPr>
          <p:nvPr/>
        </p:nvSpPr>
        <p:spPr>
          <a:xfrm>
            <a:off x="619125" y="3457575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欢迎老师、同学提问与讨论</a:t>
            </a:r>
          </a:p>
        </p:txBody>
      </p:sp>
      <p:sp>
        <p:nvSpPr>
          <p:cNvPr id="4" name="李明旸     指导老师：蒋文保">
            <a:extLst>
              <a:ext uri="{FF2B5EF4-FFF2-40B4-BE49-F238E27FC236}">
                <a16:creationId xmlns:a16="http://schemas.microsoft.com/office/drawing/2014/main" id="{BBF10A0F-B847-4E0F-BAF2-05B585749248}"/>
              </a:ext>
            </a:extLst>
          </p:cNvPr>
          <p:cNvSpPr>
            <a:spLocks noGrp="1"/>
          </p:cNvSpPr>
          <p:nvPr/>
        </p:nvSpPr>
        <p:spPr>
          <a:xfrm>
            <a:off x="619125" y="5610225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李明旸     指导老师：蒋文保</a:t>
            </a:r>
          </a:p>
        </p:txBody>
      </p:sp>
      <p:sp>
        <p:nvSpPr>
          <p:cNvPr id="5" name="2026 年 10 月 11 日">
            <a:extLst>
              <a:ext uri="{FF2B5EF4-FFF2-40B4-BE49-F238E27FC236}">
                <a16:creationId xmlns:a16="http://schemas.microsoft.com/office/drawing/2014/main" id="{267443D2-2DE0-4D65-A308-785BDB36F2AE}"/>
              </a:ext>
            </a:extLst>
          </p:cNvPr>
          <p:cNvSpPr>
            <a:spLocks noGrp="1"/>
          </p:cNvSpPr>
          <p:nvPr/>
        </p:nvSpPr>
        <p:spPr>
          <a:xfrm>
            <a:off x="619125" y="61436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A45"/>
                </a:solidFill>
                <a:latin typeface="微软雅黑"/>
                <a:ea typeface="微软雅黑"/>
                <a:cs typeface="微软雅黑"/>
              </a:rPr>
              <a:t>2026 年 10 月 11 日</a:t>
            </a:r>
          </a:p>
        </p:txBody>
      </p:sp>
    </p:spTree>
    <p:extLst>
      <p:ext uri="{BB962C8B-B14F-4D97-AF65-F5344CB8AC3E}">
        <p14:creationId xmlns:p14="http://schemas.microsoft.com/office/powerpoint/2010/main" val="180388028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43F25"/>
      </a:accent1>
      <a:accent2>
        <a:srgbClr val="838A8D"/>
      </a:accent2>
      <a:accent3>
        <a:srgbClr val="DF7670"/>
      </a:accent3>
      <a:accent4>
        <a:srgbClr val="9AA1A4"/>
      </a:accent4>
      <a:accent5>
        <a:srgbClr val="D9D2CB"/>
      </a:accent5>
      <a:accent6>
        <a:srgbClr val="444546"/>
      </a:accent6>
      <a:hlink>
        <a:srgbClr val="D9D2C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房利美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43F25"/>
      </a:accent1>
      <a:accent2>
        <a:srgbClr val="838A8D"/>
      </a:accent2>
      <a:accent3>
        <a:srgbClr val="DF7670"/>
      </a:accent3>
      <a:accent4>
        <a:srgbClr val="9AA1A4"/>
      </a:accent4>
      <a:accent5>
        <a:srgbClr val="D9D2CB"/>
      </a:accent5>
      <a:accent6>
        <a:srgbClr val="444546"/>
      </a:accent6>
      <a:hlink>
        <a:srgbClr val="D9D2C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房利美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2044</Words>
  <Application>Microsoft Office PowerPoint</Application>
  <DocSecurity>0</DocSecurity>
  <PresentationFormat>宽屏</PresentationFormat>
  <Paragraphs>473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5" baseType="lpstr">
      <vt:lpstr>微软雅黑</vt:lpstr>
      <vt:lpstr>Arial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明旸 李</cp:lastModifiedBy>
  <cp:revision>1</cp:revision>
  <dcterms:created xsi:type="dcterms:W3CDTF">2026-10-02T07:38:53Z</dcterms:created>
  <dcterms:modified xsi:type="dcterms:W3CDTF">2026-10-02T12:42:40Z</dcterms:modified>
</cp:coreProperties>
</file>