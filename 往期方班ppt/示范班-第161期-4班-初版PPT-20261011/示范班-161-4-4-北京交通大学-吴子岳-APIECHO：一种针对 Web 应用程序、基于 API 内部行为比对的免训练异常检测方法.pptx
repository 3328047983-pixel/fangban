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73" r:id="rId5"/>
    <p:sldId id="260" r:id="rId6"/>
    <p:sldId id="262" r:id="rId7"/>
    <p:sldId id="261" r:id="rId8"/>
    <p:sldId id="271" r:id="rId9"/>
    <p:sldId id="263" r:id="rId10"/>
    <p:sldId id="274" r:id="rId11"/>
    <p:sldId id="275" r:id="rId12"/>
    <p:sldId id="276" r:id="rId13"/>
    <p:sldId id="278" r:id="rId14"/>
    <p:sldId id="279" r:id="rId15"/>
    <p:sldId id="280" r:id="rId16"/>
    <p:sldId id="282" r:id="rId17"/>
    <p:sldId id="283" r:id="rId18"/>
    <p:sldId id="264" r:id="rId19"/>
    <p:sldId id="265" r:id="rId20"/>
    <p:sldId id="266" r:id="rId21"/>
    <p:sldId id="284" r:id="rId22"/>
    <p:sldId id="268" r:id="rId23"/>
    <p:sldId id="267" r:id="rId24"/>
    <p:sldId id="285" r:id="rId25"/>
    <p:sldId id="270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1653" y="8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6858000"/>
            <a:chOff x="0" y="0"/>
            <a:chExt cx="2833290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33290" cy="1593725"/>
            </a:xfrm>
            <a:custGeom>
              <a:avLst/>
              <a:gdLst/>
              <a:ahLst/>
              <a:cxnLst/>
              <a:rect l="l" t="t" r="r" b="b"/>
              <a:pathLst>
                <a:path w="2833290" h="1593725">
                  <a:moveTo>
                    <a:pt x="0" y="0"/>
                  </a:moveTo>
                  <a:lnTo>
                    <a:pt x="2833290" y="0"/>
                  </a:lnTo>
                  <a:lnTo>
                    <a:pt x="2833290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3407" b="-3407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" y="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23263054" h="14237132">
                <a:moveTo>
                  <a:pt x="0" y="0"/>
                </a:moveTo>
                <a:lnTo>
                  <a:pt x="23263054" y="0"/>
                </a:lnTo>
                <a:lnTo>
                  <a:pt x="23263054" y="14237132"/>
                </a:lnTo>
                <a:lnTo>
                  <a:pt x="0" y="142371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2" t="-34720" r="-33384" b="-22966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-2" y="-96441"/>
            <a:ext cx="12439652" cy="6954441"/>
            <a:chOff x="0" y="-38100"/>
            <a:chExt cx="4545659" cy="27474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45659" cy="2709333"/>
            </a:xfrm>
            <a:custGeom>
              <a:avLst/>
              <a:gdLst/>
              <a:ahLst/>
              <a:cxnLst/>
              <a:rect l="l" t="t" r="r" b="b"/>
              <a:pathLst>
                <a:path w="4545659" h="2709333">
                  <a:moveTo>
                    <a:pt x="0" y="0"/>
                  </a:moveTo>
                  <a:lnTo>
                    <a:pt x="4545659" y="0"/>
                  </a:lnTo>
                  <a:lnTo>
                    <a:pt x="4545659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23690">
                    <a:alpha val="100000"/>
                  </a:srgbClr>
                </a:gs>
                <a:gs pos="33333">
                  <a:srgbClr val="0246A5">
                    <a:alpha val="96500"/>
                  </a:srgbClr>
                </a:gs>
                <a:gs pos="66667">
                  <a:srgbClr val="0246A5">
                    <a:alpha val="69500"/>
                  </a:srgbClr>
                </a:gs>
                <a:gs pos="100000">
                  <a:srgbClr val="0246A5">
                    <a:alpha val="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545659" cy="274743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10" name="Freeform 10"/>
          <p:cNvSpPr/>
          <p:nvPr/>
        </p:nvSpPr>
        <p:spPr>
          <a:xfrm>
            <a:off x="348476" y="316398"/>
            <a:ext cx="2013877" cy="506826"/>
          </a:xfrm>
          <a:custGeom>
            <a:avLst/>
            <a:gdLst/>
            <a:ahLst/>
            <a:cxnLst/>
            <a:rect l="l" t="t" r="r" b="b"/>
            <a:pathLst>
              <a:path w="3020816" h="760239">
                <a:moveTo>
                  <a:pt x="0" y="0"/>
                </a:moveTo>
                <a:lnTo>
                  <a:pt x="3020816" y="0"/>
                </a:lnTo>
                <a:lnTo>
                  <a:pt x="3020816" y="760239"/>
                </a:lnTo>
                <a:lnTo>
                  <a:pt x="0" y="7602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50598" y="1258108"/>
            <a:ext cx="8989993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zh-CN" sz="3600" b="1" dirty="0">
                <a:solidFill>
                  <a:srgbClr val="FFFFFF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+mn-ea"/>
                <a:cs typeface="思源黑体 1 Bold" panose="020B0800000000000000" charset="-122"/>
                <a:sym typeface="思源黑体 1 Bold" panose="020B0800000000000000" charset="-122"/>
              </a:rPr>
              <a:t>APIECHO</a:t>
            </a:r>
            <a:r>
              <a:rPr lang="zh-CN" altLang="en-US" sz="3600" b="1" dirty="0">
                <a:solidFill>
                  <a:srgbClr val="FFFFFF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+mn-ea"/>
                <a:cs typeface="思源黑体 1 Bold" panose="020B0800000000000000" charset="-122"/>
                <a:sym typeface="思源黑体 1 Bold" panose="020B0800000000000000" charset="-122"/>
              </a:rPr>
              <a:t>：基于 </a:t>
            </a:r>
            <a:r>
              <a:rPr lang="en-US" altLang="zh-CN" sz="3600" b="1" dirty="0">
                <a:solidFill>
                  <a:srgbClr val="FFFFFF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+mn-ea"/>
                <a:cs typeface="思源黑体 1 Bold" panose="020B0800000000000000" charset="-122"/>
                <a:sym typeface="思源黑体 1 Bold" panose="020B0800000000000000" charset="-122"/>
              </a:rPr>
              <a:t>API </a:t>
            </a:r>
            <a:r>
              <a:rPr lang="zh-CN" altLang="en-US" sz="3600" b="1" dirty="0">
                <a:solidFill>
                  <a:srgbClr val="FFFFFF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+mn-ea"/>
                <a:cs typeface="思源黑体 1 Bold" panose="020B0800000000000000" charset="-122"/>
                <a:sym typeface="思源黑体 1 Bold" panose="020B0800000000000000" charset="-122"/>
              </a:rPr>
              <a:t>内行为比较的免训练 </a:t>
            </a:r>
            <a:r>
              <a:rPr lang="en-US" altLang="zh-CN" sz="3600" b="1" dirty="0">
                <a:solidFill>
                  <a:srgbClr val="FFFFFF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+mn-ea"/>
                <a:cs typeface="思源黑体 1 Bold" panose="020B0800000000000000" charset="-122"/>
                <a:sym typeface="思源黑体 1 Bold" panose="020B0800000000000000" charset="-122"/>
              </a:rPr>
              <a:t>Web </a:t>
            </a:r>
            <a:r>
              <a:rPr lang="zh-CN" altLang="en-US" sz="3600" b="1" dirty="0">
                <a:solidFill>
                  <a:srgbClr val="FFFFFF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+mn-ea"/>
                <a:cs typeface="思源黑体 1 Bold" panose="020B0800000000000000" charset="-122"/>
                <a:sym typeface="思源黑体 1 Bold" panose="020B0800000000000000" charset="-122"/>
              </a:rPr>
              <a:t>应用异常检测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0598" y="2949892"/>
            <a:ext cx="9425516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800" b="1" dirty="0">
                <a:solidFill>
                  <a:srgbClr val="FFFFFF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+mn-ea"/>
                <a:cs typeface="思源黑体 1 Medium" panose="020B0600000000000000" charset="-122"/>
                <a:sym typeface="思源黑体 1 Medium" panose="020B0600000000000000" charset="-122"/>
              </a:rPr>
              <a:t>APIECHO Training-less Anomaly Detection via Intra-API Behavioral Comparison for Web Applications</a:t>
            </a:r>
            <a:endParaRPr lang="zh-CN" altLang="en-US" sz="2800" b="1" dirty="0">
              <a:solidFill>
                <a:srgbClr val="FFFFFF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+mn-ea"/>
              <a:cs typeface="思源黑体 1 Medium" panose="020B0600000000000000" charset="-122"/>
              <a:sym typeface="思源黑体 1 Medium" panose="020B06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595926C-96CC-1F6B-B2F0-9E303DDB0D07}"/>
              </a:ext>
            </a:extLst>
          </p:cNvPr>
          <p:cNvSpPr txBox="1"/>
          <p:nvPr/>
        </p:nvSpPr>
        <p:spPr>
          <a:xfrm>
            <a:off x="798285" y="5158888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+mn-ea"/>
              </a:rPr>
              <a:t>汇报人：吴子岳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5D72843-1209-7A74-95EE-6E0092D0601E}"/>
              </a:ext>
            </a:extLst>
          </p:cNvPr>
          <p:cNvSpPr txBox="1"/>
          <p:nvPr/>
        </p:nvSpPr>
        <p:spPr>
          <a:xfrm>
            <a:off x="798285" y="5911758"/>
            <a:ext cx="2557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+mn-ea"/>
              </a:rPr>
              <a:t>2026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+mn-ea"/>
              </a:rPr>
              <a:t>年</a:t>
            </a:r>
            <a:r>
              <a:rPr lang="en-US" altLang="zh-CN" sz="2400" dirty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+mn-ea"/>
              </a:rPr>
              <a:t>10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+mn-ea"/>
              </a:rPr>
              <a:t>月</a:t>
            </a:r>
            <a:r>
              <a:rPr lang="en-US" altLang="zh-CN" sz="2400" dirty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+mn-ea"/>
              </a:rPr>
              <a:t>11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+mn-ea"/>
              </a:rPr>
              <a:t>日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956DA187-F552-746A-87B9-69226A0496A4}"/>
              </a:ext>
            </a:extLst>
          </p:cNvPr>
          <p:cNvCxnSpPr>
            <a:cxnSpLocks/>
          </p:cNvCxnSpPr>
          <p:nvPr/>
        </p:nvCxnSpPr>
        <p:spPr>
          <a:xfrm>
            <a:off x="798285" y="2611484"/>
            <a:ext cx="947782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E186C695-8916-A605-E520-FB2C89D399C8}"/>
              </a:ext>
            </a:extLst>
          </p:cNvPr>
          <p:cNvSpPr txBox="1"/>
          <p:nvPr/>
        </p:nvSpPr>
        <p:spPr>
          <a:xfrm>
            <a:off x="798284" y="4412701"/>
            <a:ext cx="34542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论文来源：</a:t>
            </a:r>
            <a:r>
              <a:rPr lang="en-US" altLang="zh-CN" sz="2800" dirty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S&amp;P 2026</a:t>
            </a:r>
            <a:endParaRPr lang="zh-CN" altLang="en-US" sz="2800" dirty="0">
              <a:solidFill>
                <a:schemeClr val="bg1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791329" y="0"/>
            <a:ext cx="2400671" cy="6858000"/>
            <a:chOff x="0" y="0"/>
            <a:chExt cx="3271100" cy="93445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71100" cy="9344557"/>
            </a:xfrm>
            <a:custGeom>
              <a:avLst/>
              <a:gdLst/>
              <a:ahLst/>
              <a:cxnLst/>
              <a:rect l="l" t="t" r="r" b="b"/>
              <a:pathLst>
                <a:path w="3271100" h="9344557">
                  <a:moveTo>
                    <a:pt x="0" y="0"/>
                  </a:moveTo>
                  <a:lnTo>
                    <a:pt x="3271100" y="0"/>
                  </a:lnTo>
                  <a:lnTo>
                    <a:pt x="3271100" y="9344557"/>
                  </a:lnTo>
                  <a:lnTo>
                    <a:pt x="0" y="9344557"/>
                  </a:lnTo>
                  <a:close/>
                </a:path>
              </a:pathLst>
            </a:custGeom>
            <a:solidFill>
              <a:srgbClr val="0246A5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3271100" cy="934455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90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53325" y="2852842"/>
            <a:ext cx="631784" cy="1098041"/>
            <a:chOff x="0" y="0"/>
            <a:chExt cx="249594" cy="43379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9594" cy="433794"/>
            </a:xfrm>
            <a:custGeom>
              <a:avLst/>
              <a:gdLst/>
              <a:ahLst/>
              <a:cxnLst/>
              <a:rect l="l" t="t" r="r" b="b"/>
              <a:pathLst>
                <a:path w="249594" h="433794">
                  <a:moveTo>
                    <a:pt x="0" y="0"/>
                  </a:moveTo>
                  <a:lnTo>
                    <a:pt x="249594" y="0"/>
                  </a:lnTo>
                  <a:lnTo>
                    <a:pt x="249594" y="433794"/>
                  </a:lnTo>
                  <a:lnTo>
                    <a:pt x="0" y="433794"/>
                  </a:lnTo>
                  <a:close/>
                </a:path>
              </a:pathLst>
            </a:custGeom>
            <a:solidFill>
              <a:srgbClr val="0246A5"/>
            </a:solidFill>
            <a:ln w="9525" cap="sq">
              <a:solidFill>
                <a:srgbClr val="0246A5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49594" cy="46236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071650" y="3176438"/>
            <a:ext cx="2677660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20"/>
              </a:lnSpc>
            </a:pPr>
            <a:r>
              <a:rPr lang="zh-CN" altLang="en-US" sz="2933" b="1" dirty="0">
                <a:solidFill>
                  <a:srgbClr val="1E1E1E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研究背景</a:t>
            </a:r>
            <a:endParaRPr lang="en-US" sz="2933" b="1" dirty="0">
              <a:solidFill>
                <a:srgbClr val="1E1E1E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88232" y="3079520"/>
            <a:ext cx="561971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40"/>
              </a:lnSpc>
            </a:pPr>
            <a:r>
              <a:rPr lang="en-US" sz="3534" b="1">
                <a:solidFill>
                  <a:srgbClr val="FFFFFF"/>
                </a:solidFill>
                <a:latin typeface="Akzidenz-Grotesk Bold" panose="02000803050000020004"/>
                <a:ea typeface="Akzidenz-Grotesk Bold" panose="02000803050000020004"/>
                <a:cs typeface="Akzidenz-Grotesk Bold" panose="02000803050000020004"/>
                <a:sym typeface="Akzidenz-Grotesk Bold" panose="02000803050000020004"/>
              </a:rPr>
              <a:t>01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5497819" y="2852842"/>
            <a:ext cx="631787" cy="1098041"/>
            <a:chOff x="0" y="0"/>
            <a:chExt cx="249595" cy="43379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9595" cy="433794"/>
            </a:xfrm>
            <a:custGeom>
              <a:avLst/>
              <a:gdLst/>
              <a:ahLst/>
              <a:cxnLst/>
              <a:rect l="l" t="t" r="r" b="b"/>
              <a:pathLst>
                <a:path w="249595" h="433794">
                  <a:moveTo>
                    <a:pt x="0" y="0"/>
                  </a:moveTo>
                  <a:lnTo>
                    <a:pt x="249595" y="0"/>
                  </a:lnTo>
                  <a:lnTo>
                    <a:pt x="249595" y="433794"/>
                  </a:lnTo>
                  <a:lnTo>
                    <a:pt x="0" y="433794"/>
                  </a:lnTo>
                  <a:close/>
                </a:path>
              </a:pathLst>
            </a:custGeom>
            <a:solidFill>
              <a:srgbClr val="0246A5"/>
            </a:solidFill>
            <a:ln w="9525" cap="sq">
              <a:solidFill>
                <a:srgbClr val="0246A5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249595" cy="46236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316143" y="3176438"/>
            <a:ext cx="2677660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20"/>
              </a:lnSpc>
            </a:pPr>
            <a:r>
              <a:rPr lang="zh-CN" altLang="en-US" sz="2933" b="1" dirty="0">
                <a:solidFill>
                  <a:srgbClr val="1E1E1E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研究内容</a:t>
            </a:r>
            <a:endParaRPr lang="en-US" sz="2933" b="1" dirty="0">
              <a:solidFill>
                <a:srgbClr val="1E1E1E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532727" y="3100238"/>
            <a:ext cx="561971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40"/>
              </a:lnSpc>
            </a:pPr>
            <a:r>
              <a:rPr lang="en-US" sz="3534" b="1">
                <a:solidFill>
                  <a:srgbClr val="FFFFFF"/>
                </a:solidFill>
                <a:latin typeface="Akzidenz-Grotesk Bold" panose="02000803050000020004"/>
                <a:ea typeface="Akzidenz-Grotesk Bold" panose="02000803050000020004"/>
                <a:cs typeface="Akzidenz-Grotesk Bold" panose="02000803050000020004"/>
                <a:sym typeface="Akzidenz-Grotesk Bold" panose="02000803050000020004"/>
              </a:rPr>
              <a:t>02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53325" y="4277675"/>
            <a:ext cx="631784" cy="1098041"/>
            <a:chOff x="0" y="0"/>
            <a:chExt cx="249594" cy="43379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9594" cy="433794"/>
            </a:xfrm>
            <a:custGeom>
              <a:avLst/>
              <a:gdLst/>
              <a:ahLst/>
              <a:cxnLst/>
              <a:rect l="l" t="t" r="r" b="b"/>
              <a:pathLst>
                <a:path w="249594" h="433794">
                  <a:moveTo>
                    <a:pt x="0" y="0"/>
                  </a:moveTo>
                  <a:lnTo>
                    <a:pt x="249594" y="0"/>
                  </a:lnTo>
                  <a:lnTo>
                    <a:pt x="249594" y="433794"/>
                  </a:lnTo>
                  <a:lnTo>
                    <a:pt x="0" y="433794"/>
                  </a:lnTo>
                  <a:close/>
                </a:path>
              </a:pathLst>
            </a:custGeom>
            <a:solidFill>
              <a:srgbClr val="0246A5"/>
            </a:solidFill>
            <a:ln w="9525" cap="sq">
              <a:solidFill>
                <a:srgbClr val="0246A5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249594" cy="46236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071650" y="4603812"/>
            <a:ext cx="2677660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20"/>
              </a:lnSpc>
            </a:pPr>
            <a:r>
              <a:rPr lang="zh-CN" altLang="en-US" sz="2933" b="1" dirty="0">
                <a:solidFill>
                  <a:srgbClr val="1E1E1E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研究结果</a:t>
            </a:r>
            <a:endParaRPr lang="en-US" sz="2933" b="1" dirty="0">
              <a:solidFill>
                <a:srgbClr val="1E1E1E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288232" y="4504352"/>
            <a:ext cx="561971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40"/>
              </a:lnSpc>
              <a:spcBef>
                <a:spcPct val="0"/>
              </a:spcBef>
            </a:pPr>
            <a:r>
              <a:rPr lang="en-US" sz="3534" b="1">
                <a:solidFill>
                  <a:srgbClr val="FFFFFF"/>
                </a:solidFill>
                <a:latin typeface="Akzidenz-Grotesk Bold" panose="02000803050000020004"/>
                <a:ea typeface="Akzidenz-Grotesk Bold" panose="02000803050000020004"/>
                <a:cs typeface="Akzidenz-Grotesk Bold" panose="02000803050000020004"/>
                <a:sym typeface="Akzidenz-Grotesk Bold" panose="02000803050000020004"/>
              </a:rPr>
              <a:t>03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5497819" y="4277675"/>
            <a:ext cx="631787" cy="1098041"/>
            <a:chOff x="0" y="0"/>
            <a:chExt cx="249595" cy="43379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49595" cy="433794"/>
            </a:xfrm>
            <a:custGeom>
              <a:avLst/>
              <a:gdLst/>
              <a:ahLst/>
              <a:cxnLst/>
              <a:rect l="l" t="t" r="r" b="b"/>
              <a:pathLst>
                <a:path w="249595" h="433794">
                  <a:moveTo>
                    <a:pt x="0" y="0"/>
                  </a:moveTo>
                  <a:lnTo>
                    <a:pt x="249595" y="0"/>
                  </a:lnTo>
                  <a:lnTo>
                    <a:pt x="249595" y="433794"/>
                  </a:lnTo>
                  <a:lnTo>
                    <a:pt x="0" y="433794"/>
                  </a:lnTo>
                  <a:close/>
                </a:path>
              </a:pathLst>
            </a:custGeom>
            <a:solidFill>
              <a:srgbClr val="0246A5"/>
            </a:solidFill>
            <a:ln w="9525" cap="sq">
              <a:solidFill>
                <a:srgbClr val="0246A5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249595" cy="46236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6316143" y="4603812"/>
            <a:ext cx="2677660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20"/>
              </a:lnSpc>
            </a:pPr>
            <a:r>
              <a:rPr lang="zh-CN" altLang="en-US" sz="2933" b="1" dirty="0">
                <a:solidFill>
                  <a:srgbClr val="1E1E1E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总结与思考</a:t>
            </a:r>
            <a:endParaRPr lang="en-US" sz="2933" b="1" dirty="0">
              <a:solidFill>
                <a:srgbClr val="1E1E1E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5532727" y="4525070"/>
            <a:ext cx="561971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40"/>
              </a:lnSpc>
            </a:pPr>
            <a:r>
              <a:rPr lang="en-US" sz="3534" b="1">
                <a:solidFill>
                  <a:srgbClr val="FFFFFF"/>
                </a:solidFill>
                <a:latin typeface="Akzidenz-Grotesk Bold" panose="02000803050000020004"/>
                <a:ea typeface="Akzidenz-Grotesk Bold" panose="02000803050000020004"/>
                <a:cs typeface="Akzidenz-Grotesk Bold" panose="02000803050000020004"/>
                <a:sym typeface="Akzidenz-Grotesk Bold" panose="02000803050000020004"/>
              </a:rPr>
              <a:t>04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471707" y="967473"/>
            <a:ext cx="3203515" cy="1320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44"/>
              </a:lnSpc>
            </a:pPr>
            <a:r>
              <a:rPr lang="en-US" sz="8620" b="1">
                <a:solidFill>
                  <a:srgbClr val="1E1E1E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目录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337615" y="148693"/>
            <a:ext cx="1308100" cy="6873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67"/>
              </a:lnSpc>
            </a:pPr>
            <a:r>
              <a:rPr lang="en-US" sz="5867" b="1" dirty="0">
                <a:solidFill>
                  <a:srgbClr val="FFFFFF"/>
                </a:solidFill>
                <a:latin typeface="Akzidenz-Grotesk Medium" panose="02000603030000020004"/>
                <a:ea typeface="Akzidenz-Grotesk Medium" panose="02000603030000020004"/>
                <a:cs typeface="Akzidenz-Grotesk Medium" panose="02000603030000020004"/>
                <a:sym typeface="Akzidenz-Grotesk Medium" panose="02000603030000020004"/>
              </a:rPr>
              <a:t>C</a:t>
            </a:r>
          </a:p>
          <a:p>
            <a:pPr algn="ctr">
              <a:lnSpc>
                <a:spcPts val="6667"/>
              </a:lnSpc>
            </a:pPr>
            <a:r>
              <a:rPr lang="en-US" sz="5867" b="1" dirty="0">
                <a:solidFill>
                  <a:srgbClr val="FFFFFF"/>
                </a:solidFill>
                <a:latin typeface="Akzidenz-Grotesk Medium" panose="02000603030000020004"/>
                <a:ea typeface="Akzidenz-Grotesk Medium" panose="02000603030000020004"/>
                <a:cs typeface="Akzidenz-Grotesk Medium" panose="02000603030000020004"/>
                <a:sym typeface="Akzidenz-Grotesk Medium" panose="02000603030000020004"/>
              </a:rPr>
              <a:t>O</a:t>
            </a:r>
          </a:p>
          <a:p>
            <a:pPr algn="ctr">
              <a:lnSpc>
                <a:spcPts val="6667"/>
              </a:lnSpc>
            </a:pPr>
            <a:r>
              <a:rPr lang="en-US" sz="5867" b="1" dirty="0">
                <a:solidFill>
                  <a:srgbClr val="FFFFFF"/>
                </a:solidFill>
                <a:latin typeface="Akzidenz-Grotesk Medium" panose="02000603030000020004"/>
                <a:ea typeface="Akzidenz-Grotesk Medium" panose="02000603030000020004"/>
                <a:cs typeface="Akzidenz-Grotesk Medium" panose="02000603030000020004"/>
                <a:sym typeface="Akzidenz-Grotesk Medium" panose="02000603030000020004"/>
              </a:rPr>
              <a:t>N</a:t>
            </a:r>
          </a:p>
          <a:p>
            <a:pPr algn="ctr">
              <a:lnSpc>
                <a:spcPts val="6667"/>
              </a:lnSpc>
            </a:pPr>
            <a:r>
              <a:rPr lang="en-US" sz="5867" b="1" dirty="0">
                <a:solidFill>
                  <a:srgbClr val="FFFFFF"/>
                </a:solidFill>
                <a:latin typeface="Akzidenz-Grotesk Medium" panose="02000603030000020004"/>
                <a:ea typeface="Akzidenz-Grotesk Medium" panose="02000603030000020004"/>
                <a:cs typeface="Akzidenz-Grotesk Medium" panose="02000603030000020004"/>
                <a:sym typeface="Akzidenz-Grotesk Medium" panose="02000603030000020004"/>
              </a:rPr>
              <a:t>T</a:t>
            </a:r>
          </a:p>
          <a:p>
            <a:pPr algn="ctr">
              <a:lnSpc>
                <a:spcPts val="6667"/>
              </a:lnSpc>
            </a:pPr>
            <a:r>
              <a:rPr lang="en-US" sz="5867" b="1" dirty="0">
                <a:solidFill>
                  <a:srgbClr val="FFFFFF"/>
                </a:solidFill>
                <a:latin typeface="Akzidenz-Grotesk Medium" panose="02000603030000020004"/>
                <a:ea typeface="Akzidenz-Grotesk Medium" panose="02000603030000020004"/>
                <a:cs typeface="Akzidenz-Grotesk Medium" panose="02000603030000020004"/>
                <a:sym typeface="Akzidenz-Grotesk Medium" panose="02000603030000020004"/>
              </a:rPr>
              <a:t>E</a:t>
            </a:r>
          </a:p>
          <a:p>
            <a:pPr algn="ctr">
              <a:lnSpc>
                <a:spcPts val="6667"/>
              </a:lnSpc>
            </a:pPr>
            <a:r>
              <a:rPr lang="en-US" sz="5867" b="1" dirty="0">
                <a:solidFill>
                  <a:srgbClr val="FFFFFF"/>
                </a:solidFill>
                <a:latin typeface="Akzidenz-Grotesk Medium" panose="02000603030000020004"/>
                <a:ea typeface="Akzidenz-Grotesk Medium" panose="02000603030000020004"/>
                <a:cs typeface="Akzidenz-Grotesk Medium" panose="02000603030000020004"/>
                <a:sym typeface="Akzidenz-Grotesk Medium" panose="02000603030000020004"/>
              </a:rPr>
              <a:t>N</a:t>
            </a:r>
          </a:p>
          <a:p>
            <a:pPr algn="ctr">
              <a:lnSpc>
                <a:spcPts val="6667"/>
              </a:lnSpc>
            </a:pPr>
            <a:r>
              <a:rPr lang="en-US" sz="5867" b="1" dirty="0">
                <a:solidFill>
                  <a:srgbClr val="FFFFFF"/>
                </a:solidFill>
                <a:latin typeface="Akzidenz-Grotesk Medium" panose="02000603030000020004"/>
                <a:ea typeface="Akzidenz-Grotesk Medium" panose="02000603030000020004"/>
                <a:cs typeface="Akzidenz-Grotesk Medium" panose="02000603030000020004"/>
                <a:sym typeface="Akzidenz-Grotesk Medium" panose="02000603030000020004"/>
              </a:rPr>
              <a:t>T</a:t>
            </a:r>
          </a:p>
          <a:p>
            <a:pPr algn="ctr">
              <a:lnSpc>
                <a:spcPts val="6667"/>
              </a:lnSpc>
            </a:pPr>
            <a:r>
              <a:rPr lang="en-US" sz="5867" b="1" dirty="0">
                <a:solidFill>
                  <a:srgbClr val="FFFFFF"/>
                </a:solidFill>
                <a:latin typeface="Akzidenz-Grotesk Medium" panose="02000603030000020004"/>
                <a:ea typeface="Akzidenz-Grotesk Medium" panose="02000603030000020004"/>
                <a:cs typeface="Akzidenz-Grotesk Medium" panose="02000603030000020004"/>
                <a:sym typeface="Akzidenz-Grotesk Medium" panose="02000603030000020004"/>
              </a:rPr>
              <a:t>S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0" y="0"/>
            <a:ext cx="295554" cy="6858000"/>
            <a:chOff x="0" y="0"/>
            <a:chExt cx="402716" cy="934455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02716" cy="9344557"/>
            </a:xfrm>
            <a:custGeom>
              <a:avLst/>
              <a:gdLst/>
              <a:ahLst/>
              <a:cxnLst/>
              <a:rect l="l" t="t" r="r" b="b"/>
              <a:pathLst>
                <a:path w="402716" h="9344557">
                  <a:moveTo>
                    <a:pt x="0" y="0"/>
                  </a:moveTo>
                  <a:lnTo>
                    <a:pt x="402716" y="0"/>
                  </a:lnTo>
                  <a:lnTo>
                    <a:pt x="402716" y="9344557"/>
                  </a:lnTo>
                  <a:lnTo>
                    <a:pt x="0" y="9344557"/>
                  </a:lnTo>
                  <a:close/>
                </a:path>
              </a:pathLst>
            </a:custGeom>
            <a:solidFill>
              <a:srgbClr val="0246A5"/>
            </a:solidFill>
            <a:ln cap="sq">
              <a:noFill/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402716" cy="934455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90"/>
                </a:lnSpc>
                <a:spcBef>
                  <a:spcPct val="0"/>
                </a:spcBef>
              </a:pPr>
              <a:endParaRPr sz="120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714604" y="0"/>
            <a:ext cx="5477397" cy="6858001"/>
            <a:chOff x="0" y="0"/>
            <a:chExt cx="1272888" cy="15937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72888" cy="1593726"/>
            </a:xfrm>
            <a:custGeom>
              <a:avLst/>
              <a:gdLst/>
              <a:ahLst/>
              <a:cxnLst/>
              <a:rect l="l" t="t" r="r" b="b"/>
              <a:pathLst>
                <a:path w="1272888" h="1713909">
                  <a:moveTo>
                    <a:pt x="0" y="0"/>
                  </a:moveTo>
                  <a:lnTo>
                    <a:pt x="1272888" y="0"/>
                  </a:lnTo>
                  <a:lnTo>
                    <a:pt x="1272888" y="1713909"/>
                  </a:lnTo>
                  <a:lnTo>
                    <a:pt x="0" y="1713909"/>
                  </a:lnTo>
                  <a:close/>
                </a:path>
              </a:pathLst>
            </a:custGeom>
            <a:blipFill>
              <a:blip r:embed="rId2"/>
              <a:stretch>
                <a:fillRect l="-3770" t="-21377" r="-3770" b="-754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714604" y="0"/>
            <a:ext cx="5044161" cy="6858000"/>
            <a:chOff x="0" y="0"/>
            <a:chExt cx="1992755" cy="27093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92755" cy="2709333"/>
            </a:xfrm>
            <a:custGeom>
              <a:avLst/>
              <a:gdLst/>
              <a:ahLst/>
              <a:cxnLst/>
              <a:rect l="l" t="t" r="r" b="b"/>
              <a:pathLst>
                <a:path w="1992755" h="2709333">
                  <a:moveTo>
                    <a:pt x="0" y="0"/>
                  </a:moveTo>
                  <a:lnTo>
                    <a:pt x="1992755" y="0"/>
                  </a:lnTo>
                  <a:lnTo>
                    <a:pt x="1992755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246A5">
                    <a:alpha val="100000"/>
                  </a:srgbClr>
                </a:gs>
                <a:gs pos="50000">
                  <a:srgbClr val="0246A5">
                    <a:alpha val="69500"/>
                  </a:srgbClr>
                </a:gs>
                <a:gs pos="100000">
                  <a:srgbClr val="0246A5">
                    <a:alpha val="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992755" cy="274743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62434" y="2221948"/>
            <a:ext cx="1862537" cy="459202"/>
            <a:chOff x="0" y="0"/>
            <a:chExt cx="812800" cy="2003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200393"/>
            </a:xfrm>
            <a:custGeom>
              <a:avLst/>
              <a:gdLst/>
              <a:ahLst/>
              <a:cxnLst/>
              <a:rect l="l" t="t" r="r" b="b"/>
              <a:pathLst>
                <a:path w="812800" h="200393">
                  <a:moveTo>
                    <a:pt x="0" y="0"/>
                  </a:moveTo>
                  <a:lnTo>
                    <a:pt x="812800" y="0"/>
                  </a:lnTo>
                  <a:lnTo>
                    <a:pt x="812800" y="200393"/>
                  </a:lnTo>
                  <a:lnTo>
                    <a:pt x="0" y="200393"/>
                  </a:lnTo>
                  <a:close/>
                </a:path>
              </a:pathLst>
            </a:custGeom>
            <a:solidFill>
              <a:srgbClr val="0246A5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812800" cy="24801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70"/>
                </a:lnSpc>
              </a:pPr>
              <a:endParaRPr sz="1200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62434" y="2734913"/>
            <a:ext cx="5095855" cy="847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27"/>
              </a:lnSpc>
              <a:spcBef>
                <a:spcPct val="0"/>
              </a:spcBef>
            </a:pPr>
            <a:r>
              <a:rPr lang="zh-CN" altLang="en-US" sz="5400" b="1" dirty="0">
                <a:solidFill>
                  <a:srgbClr val="1E1E1E"/>
                </a:solidFill>
                <a:latin typeface="思源黑体 1 Heavy" panose="020B0A00000000000000" charset="-122"/>
                <a:ea typeface="思源黑体 1 Heavy" panose="020B0A00000000000000" charset="-122"/>
                <a:cs typeface="思源黑体 1 Heavy" panose="020B0A00000000000000" charset="-122"/>
                <a:sym typeface="思源黑体 1 Heavy" panose="020B0A00000000000000" charset="-122"/>
              </a:rPr>
              <a:t>研究背景</a:t>
            </a:r>
            <a:endParaRPr lang="en-US" sz="5400" b="1" dirty="0">
              <a:solidFill>
                <a:srgbClr val="1E1E1E"/>
              </a:solidFill>
              <a:latin typeface="思源黑体 1 Heavy" panose="020B0A00000000000000" charset="-122"/>
              <a:ea typeface="思源黑体 1 Heavy" panose="020B0A00000000000000" charset="-122"/>
              <a:cs typeface="思源黑体 1 Heavy" panose="020B0A00000000000000" charset="-122"/>
              <a:sym typeface="思源黑体 1 Heavy" panose="020B0A00000000000000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84598" y="2245520"/>
            <a:ext cx="1618210" cy="346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3"/>
              </a:lnSpc>
              <a:spcBef>
                <a:spcPct val="0"/>
              </a:spcBef>
            </a:pPr>
            <a:r>
              <a:rPr lang="en-US" sz="2200" b="1">
                <a:solidFill>
                  <a:srgbClr val="FFFFFF"/>
                </a:solidFill>
                <a:latin typeface="思源黑体 1 Medium" panose="020B0600000000000000" charset="-122"/>
                <a:ea typeface="思源黑体 1 Medium" panose="020B0600000000000000" charset="-122"/>
                <a:cs typeface="思源黑体 1 Medium" panose="020B0600000000000000" charset="-122"/>
                <a:sym typeface="思源黑体 1 Medium" panose="020B0600000000000000" charset="-122"/>
              </a:rPr>
              <a:t>第一章节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631647" y="1444276"/>
            <a:ext cx="3643311" cy="3420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8"/>
              </a:lnSpc>
            </a:pPr>
            <a:r>
              <a:rPr lang="en-US" sz="22908" b="1" dirty="0">
                <a:solidFill>
                  <a:srgbClr val="FFFFFF"/>
                </a:solidFill>
                <a:latin typeface="Akzidenz-Grotesk Bold" panose="02000803050000020004"/>
                <a:ea typeface="Akzidenz-Grotesk Bold" panose="02000803050000020004"/>
                <a:cs typeface="Akzidenz-Grotesk Bold" panose="02000803050000020004"/>
                <a:sym typeface="Akzidenz-Grotesk Bold" panose="02000803050000020004"/>
              </a:rPr>
              <a:t>01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/>
          <p:nvPr/>
        </p:nvSpPr>
        <p:spPr>
          <a:xfrm>
            <a:off x="0" y="4232205"/>
            <a:ext cx="12192000" cy="0"/>
          </a:xfrm>
          <a:prstGeom prst="line">
            <a:avLst/>
          </a:prstGeom>
          <a:ln w="19050" cap="flat">
            <a:solidFill>
              <a:srgbClr val="0246A5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2256885" y="4136955"/>
            <a:ext cx="190500" cy="19050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246A5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>
                <a:latin typeface="+mn-ea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00750" y="4136955"/>
            <a:ext cx="190500" cy="19050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246A5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>
                <a:latin typeface="+mn-ea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744615" y="4136955"/>
            <a:ext cx="190500" cy="190500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246A5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>
                <a:latin typeface="+mn-ea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0" y="2449573"/>
            <a:ext cx="12219274" cy="978791"/>
            <a:chOff x="0" y="0"/>
            <a:chExt cx="4827368" cy="38668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27368" cy="386683"/>
            </a:xfrm>
            <a:custGeom>
              <a:avLst/>
              <a:gdLst/>
              <a:ahLst/>
              <a:cxnLst/>
              <a:rect l="l" t="t" r="r" b="b"/>
              <a:pathLst>
                <a:path w="4827368" h="386683">
                  <a:moveTo>
                    <a:pt x="0" y="0"/>
                  </a:moveTo>
                  <a:lnTo>
                    <a:pt x="4827368" y="0"/>
                  </a:lnTo>
                  <a:lnTo>
                    <a:pt x="4827368" y="386683"/>
                  </a:lnTo>
                  <a:lnTo>
                    <a:pt x="0" y="386683"/>
                  </a:lnTo>
                  <a:close/>
                </a:path>
              </a:pathLst>
            </a:custGeom>
            <a:solidFill>
              <a:srgbClr val="0246A5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4827368" cy="42478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>
                <a:latin typeface="+mn-ea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103105" y="0"/>
            <a:ext cx="88895" cy="6858000"/>
            <a:chOff x="0" y="0"/>
            <a:chExt cx="121127" cy="934455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1127" cy="9344557"/>
            </a:xfrm>
            <a:custGeom>
              <a:avLst/>
              <a:gdLst/>
              <a:ahLst/>
              <a:cxnLst/>
              <a:rect l="l" t="t" r="r" b="b"/>
              <a:pathLst>
                <a:path w="121127" h="9344557">
                  <a:moveTo>
                    <a:pt x="0" y="0"/>
                  </a:moveTo>
                  <a:lnTo>
                    <a:pt x="121127" y="0"/>
                  </a:lnTo>
                  <a:lnTo>
                    <a:pt x="121127" y="9344557"/>
                  </a:lnTo>
                  <a:lnTo>
                    <a:pt x="0" y="9344557"/>
                  </a:lnTo>
                  <a:close/>
                </a:path>
              </a:pathLst>
            </a:custGeom>
            <a:solidFill>
              <a:srgbClr val="0246A5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121127" cy="934455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90"/>
                </a:lnSpc>
                <a:spcBef>
                  <a:spcPct val="0"/>
                </a:spcBef>
              </a:pPr>
              <a:endParaRPr sz="1200">
                <a:latin typeface="+mn-ea"/>
              </a:endParaRP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490601" y="570133"/>
            <a:ext cx="4978537" cy="509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60"/>
              </a:lnSpc>
              <a:spcBef>
                <a:spcPct val="0"/>
              </a:spcBef>
            </a:pPr>
            <a:r>
              <a:rPr lang="zh-CN" altLang="en-US" sz="3467" b="1" dirty="0">
                <a:solidFill>
                  <a:srgbClr val="100F0D"/>
                </a:solidFill>
                <a:latin typeface="+mn-ea"/>
                <a:cs typeface="思源黑体 2 Heavy" panose="020B0A00000000000000" charset="-122"/>
                <a:sym typeface="思源黑体 2 Heavy" panose="020B0A00000000000000" charset="-122"/>
              </a:rPr>
              <a:t>相关术语介绍</a:t>
            </a:r>
            <a:endParaRPr lang="en-US" sz="3467" b="1" dirty="0">
              <a:solidFill>
                <a:srgbClr val="100F0D"/>
              </a:solidFill>
              <a:latin typeface="+mn-ea"/>
              <a:cs typeface="思源黑体 2 Heavy" panose="020B0A00000000000000" charset="-122"/>
              <a:sym typeface="思源黑体 2 Heavy" panose="020B0A00000000000000" charset="-122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890564" y="4879926"/>
            <a:ext cx="2923143" cy="462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3"/>
              </a:lnSpc>
              <a:spcBef>
                <a:spcPct val="0"/>
              </a:spcBef>
            </a:pPr>
            <a:r>
              <a:rPr lang="zh-CN" altLang="en-US" sz="1200" b="0" i="0" dirty="0">
                <a:solidFill>
                  <a:srgbClr val="17324D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浏览器向服务器发送 </a:t>
            </a:r>
            <a:r>
              <a:rPr lang="en-US" altLang="zh-CN" sz="1200" b="0" i="0" dirty="0">
                <a:solidFill>
                  <a:srgbClr val="17324D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URL</a:t>
            </a:r>
            <a:r>
              <a:rPr lang="zh-CN" altLang="en-US" sz="1200" b="0" i="0" dirty="0">
                <a:solidFill>
                  <a:srgbClr val="17324D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、参数与方法；服务器执行后产生系统调用。</a:t>
            </a:r>
            <a:endParaRPr lang="en-US" sz="1133" dirty="0">
              <a:solidFill>
                <a:srgbClr val="1E1E1E"/>
              </a:solidFill>
              <a:latin typeface="+mn-ea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389116" y="4487057"/>
            <a:ext cx="1926039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altLang="zh-CN" sz="2000" b="1" i="0" dirty="0">
                <a:solidFill>
                  <a:srgbClr val="103B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Web </a:t>
            </a:r>
            <a:r>
              <a:rPr lang="zh-CN" altLang="en-US" sz="2000" b="1" i="0" dirty="0">
                <a:solidFill>
                  <a:srgbClr val="103B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请求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643957" y="4946315"/>
            <a:ext cx="2923143" cy="462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3"/>
              </a:lnSpc>
              <a:spcBef>
                <a:spcPct val="0"/>
              </a:spcBef>
            </a:pPr>
            <a:r>
              <a:rPr lang="zh-CN" altLang="en-US" sz="1200" b="0" i="0" dirty="0">
                <a:solidFill>
                  <a:srgbClr val="17324D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操作系统记录进程、文件、网络等底层行为；攻击通常会留下异常系统行为。</a:t>
            </a:r>
            <a:endParaRPr lang="en-US" sz="1133" dirty="0">
              <a:solidFill>
                <a:srgbClr val="1E1E1E"/>
              </a:solidFill>
              <a:latin typeface="+mn-ea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5132981" y="4487057"/>
            <a:ext cx="1926039" cy="339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  <a:spcBef>
                <a:spcPct val="0"/>
              </a:spcBef>
            </a:pPr>
            <a:r>
              <a:rPr lang="zh-CN" altLang="en-US" sz="2000" b="1" i="0" dirty="0">
                <a:solidFill>
                  <a:srgbClr val="103B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审计日志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78294" y="4879926"/>
            <a:ext cx="2923143" cy="704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3"/>
              </a:lnSpc>
              <a:spcBef>
                <a:spcPct val="0"/>
              </a:spcBef>
            </a:pPr>
            <a:r>
              <a:rPr lang="zh-CN" altLang="en-US" sz="1200" dirty="0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思源黑体 2" panose="020B0500000000000000" charset="-122"/>
              </a:rPr>
              <a:t>具有相同业务语义的一类请求，如 </a:t>
            </a:r>
            <a:r>
              <a:rPr lang="en-US" altLang="zh-CN" sz="1200" dirty="0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思源黑体 2" panose="020B0500000000000000" charset="-122"/>
              </a:rPr>
              <a:t>/</a:t>
            </a:r>
            <a:r>
              <a:rPr lang="en-US" altLang="zh-CN" sz="1200" dirty="0" err="1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思源黑体 2" panose="020B0500000000000000" charset="-122"/>
              </a:rPr>
              <a:t>api</a:t>
            </a:r>
            <a:r>
              <a:rPr lang="en-US" altLang="zh-CN" sz="1200" dirty="0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思源黑体 2" panose="020B0500000000000000" charset="-122"/>
              </a:rPr>
              <a:t>/user/&lt;id&gt;</a:t>
            </a:r>
            <a:r>
              <a:rPr lang="zh-CN" altLang="en-US" sz="1200" dirty="0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思源黑体 2" panose="020B0500000000000000" charset="-122"/>
              </a:rPr>
              <a:t>。</a:t>
            </a:r>
            <a:r>
              <a:rPr lang="en-US" altLang="zh-CN" sz="1200" dirty="0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思源黑体 2" panose="020B0500000000000000" charset="-122"/>
              </a:rPr>
              <a:t>APIECHO </a:t>
            </a:r>
            <a:r>
              <a:rPr lang="zh-CN" altLang="en-US" sz="1200" dirty="0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思源黑体 2" panose="020B0500000000000000" charset="-122"/>
              </a:rPr>
              <a:t>在同一 </a:t>
            </a:r>
            <a:r>
              <a:rPr lang="en-US" altLang="zh-CN" sz="1200" dirty="0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思源黑体 2" panose="020B0500000000000000" charset="-122"/>
              </a:rPr>
              <a:t>API </a:t>
            </a:r>
            <a:r>
              <a:rPr lang="zh-CN" altLang="en-US" sz="1200" dirty="0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思源黑体 2" panose="020B0500000000000000" charset="-122"/>
              </a:rPr>
              <a:t>内比较请求行为。</a:t>
            </a:r>
            <a:endParaRPr lang="en-US" sz="1200" dirty="0">
              <a:solidFill>
                <a:srgbClr val="17324D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思源黑体 2" panose="020B0500000000000000" charset="-122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8876846" y="4487057"/>
            <a:ext cx="1926039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altLang="zh-CN" sz="2000" b="1" i="0" dirty="0">
                <a:solidFill>
                  <a:srgbClr val="103B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API </a:t>
            </a:r>
            <a:r>
              <a:rPr lang="zh-CN" altLang="en-US" sz="2000" b="1" i="0" dirty="0">
                <a:solidFill>
                  <a:srgbClr val="103B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端点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3B35623-555D-EE83-A309-1B25C8CBE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455" y="1902163"/>
            <a:ext cx="2950417" cy="1951476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3AC0DBD1-2AAC-E326-A213-D6C17F961485}"/>
              </a:ext>
            </a:extLst>
          </p:cNvPr>
          <p:cNvSpPr/>
          <p:nvPr/>
        </p:nvSpPr>
        <p:spPr>
          <a:xfrm>
            <a:off x="3440113" y="3757613"/>
            <a:ext cx="468312" cy="1217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8FA07603-1CF4-CA01-2075-AB168AC19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6588" y="1882655"/>
            <a:ext cx="2648792" cy="1990492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2482BCB2-68F0-54BA-1C01-6293749E52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2641" y="1902163"/>
            <a:ext cx="3295278" cy="1855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606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8"/>
          <p:cNvGrpSpPr/>
          <p:nvPr/>
        </p:nvGrpSpPr>
        <p:grpSpPr>
          <a:xfrm>
            <a:off x="12103105" y="0"/>
            <a:ext cx="88895" cy="6858000"/>
            <a:chOff x="0" y="0"/>
            <a:chExt cx="121127" cy="934455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1127" cy="9344557"/>
            </a:xfrm>
            <a:custGeom>
              <a:avLst/>
              <a:gdLst/>
              <a:ahLst/>
              <a:cxnLst/>
              <a:rect l="l" t="t" r="r" b="b"/>
              <a:pathLst>
                <a:path w="121127" h="9344557">
                  <a:moveTo>
                    <a:pt x="0" y="0"/>
                  </a:moveTo>
                  <a:lnTo>
                    <a:pt x="121127" y="0"/>
                  </a:lnTo>
                  <a:lnTo>
                    <a:pt x="121127" y="9344557"/>
                  </a:lnTo>
                  <a:lnTo>
                    <a:pt x="0" y="9344557"/>
                  </a:lnTo>
                  <a:close/>
                </a:path>
              </a:pathLst>
            </a:custGeom>
            <a:solidFill>
              <a:srgbClr val="0246A5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121127" cy="934455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90"/>
                </a:lnSpc>
                <a:spcBef>
                  <a:spcPct val="0"/>
                </a:spcBef>
              </a:pPr>
              <a:endParaRPr sz="1200">
                <a:latin typeface="+mn-ea"/>
              </a:endParaRP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490601" y="570133"/>
            <a:ext cx="4978537" cy="509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60"/>
              </a:lnSpc>
              <a:spcBef>
                <a:spcPct val="0"/>
              </a:spcBef>
            </a:pPr>
            <a:r>
              <a:rPr lang="zh-CN" altLang="en-US" sz="3467" b="1" dirty="0">
                <a:solidFill>
                  <a:srgbClr val="100F0D"/>
                </a:solidFill>
                <a:latin typeface="+mn-ea"/>
                <a:cs typeface="思源黑体 2 Heavy" panose="020B0A00000000000000" charset="-122"/>
                <a:sym typeface="思源黑体 2 Heavy" panose="020B0A00000000000000" charset="-122"/>
              </a:rPr>
              <a:t>现有研究存在的问题</a:t>
            </a:r>
            <a:endParaRPr lang="en-US" sz="3467" b="1" dirty="0">
              <a:solidFill>
                <a:srgbClr val="100F0D"/>
              </a:solidFill>
              <a:latin typeface="+mn-ea"/>
              <a:cs typeface="思源黑体 2 Heavy" panose="020B0A00000000000000" charset="-122"/>
              <a:sym typeface="思源黑体 2 Heavy" panose="020B0A00000000000000" charset="-122"/>
            </a:endParaRPr>
          </a:p>
        </p:txBody>
      </p:sp>
      <p:grpSp>
        <p:nvGrpSpPr>
          <p:cNvPr id="35" name="Group 10">
            <a:extLst>
              <a:ext uri="{FF2B5EF4-FFF2-40B4-BE49-F238E27FC236}">
                <a16:creationId xmlns:a16="http://schemas.microsoft.com/office/drawing/2014/main" id="{896D727F-7CA4-2DCA-E7AA-76ED2F7479AC}"/>
              </a:ext>
            </a:extLst>
          </p:cNvPr>
          <p:cNvGrpSpPr/>
          <p:nvPr/>
        </p:nvGrpSpPr>
        <p:grpSpPr>
          <a:xfrm>
            <a:off x="490601" y="1772431"/>
            <a:ext cx="3017386" cy="1554969"/>
            <a:chOff x="0" y="0"/>
            <a:chExt cx="948928" cy="827174"/>
          </a:xfrm>
        </p:grpSpPr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A1B2B086-1034-ECD7-3038-9A8738757B9B}"/>
                </a:ext>
              </a:extLst>
            </p:cNvPr>
            <p:cNvSpPr/>
            <p:nvPr/>
          </p:nvSpPr>
          <p:spPr>
            <a:xfrm>
              <a:off x="0" y="0"/>
              <a:ext cx="948928" cy="827174"/>
            </a:xfrm>
            <a:custGeom>
              <a:avLst/>
              <a:gdLst/>
              <a:ahLst/>
              <a:cxnLst/>
              <a:rect l="l" t="t" r="r" b="b"/>
              <a:pathLst>
                <a:path w="948928" h="827174">
                  <a:moveTo>
                    <a:pt x="55868" y="0"/>
                  </a:moveTo>
                  <a:lnTo>
                    <a:pt x="893060" y="0"/>
                  </a:lnTo>
                  <a:cubicBezTo>
                    <a:pt x="923915" y="0"/>
                    <a:pt x="948928" y="25013"/>
                    <a:pt x="948928" y="55868"/>
                  </a:cubicBezTo>
                  <a:lnTo>
                    <a:pt x="948928" y="771306"/>
                  </a:lnTo>
                  <a:cubicBezTo>
                    <a:pt x="948928" y="802161"/>
                    <a:pt x="923915" y="827174"/>
                    <a:pt x="893060" y="827174"/>
                  </a:cubicBezTo>
                  <a:lnTo>
                    <a:pt x="55868" y="827174"/>
                  </a:lnTo>
                  <a:cubicBezTo>
                    <a:pt x="25013" y="827174"/>
                    <a:pt x="0" y="802161"/>
                    <a:pt x="0" y="771306"/>
                  </a:cubicBezTo>
                  <a:lnTo>
                    <a:pt x="0" y="55868"/>
                  </a:lnTo>
                  <a:cubicBezTo>
                    <a:pt x="0" y="25013"/>
                    <a:pt x="25013" y="0"/>
                    <a:pt x="55868" y="0"/>
                  </a:cubicBezTo>
                  <a:close/>
                </a:path>
              </a:pathLst>
            </a:custGeom>
            <a:solidFill>
              <a:srgbClr val="0246A5">
                <a:alpha val="6667"/>
              </a:srgbClr>
            </a:solidFill>
          </p:spPr>
        </p:sp>
        <p:sp>
          <p:nvSpPr>
            <p:cNvPr id="37" name="TextBox 12">
              <a:extLst>
                <a:ext uri="{FF2B5EF4-FFF2-40B4-BE49-F238E27FC236}">
                  <a16:creationId xmlns:a16="http://schemas.microsoft.com/office/drawing/2014/main" id="{267F0E4C-1359-DC22-7D44-D3593739C2AC}"/>
                </a:ext>
              </a:extLst>
            </p:cNvPr>
            <p:cNvSpPr txBox="1"/>
            <p:nvPr/>
          </p:nvSpPr>
          <p:spPr>
            <a:xfrm>
              <a:off x="0" y="-28575"/>
              <a:ext cx="948928" cy="85574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grpSp>
        <p:nvGrpSpPr>
          <p:cNvPr id="38" name="Group 13">
            <a:extLst>
              <a:ext uri="{FF2B5EF4-FFF2-40B4-BE49-F238E27FC236}">
                <a16:creationId xmlns:a16="http://schemas.microsoft.com/office/drawing/2014/main" id="{F443EC1B-E8E4-FCEC-41EB-F055DA17991C}"/>
              </a:ext>
            </a:extLst>
          </p:cNvPr>
          <p:cNvGrpSpPr/>
          <p:nvPr/>
        </p:nvGrpSpPr>
        <p:grpSpPr>
          <a:xfrm>
            <a:off x="490601" y="1385274"/>
            <a:ext cx="3017386" cy="469953"/>
            <a:chOff x="0" y="0"/>
            <a:chExt cx="948928" cy="185660"/>
          </a:xfrm>
        </p:grpSpPr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60C5C215-564E-EA72-9E38-21E28447880D}"/>
                </a:ext>
              </a:extLst>
            </p:cNvPr>
            <p:cNvSpPr/>
            <p:nvPr/>
          </p:nvSpPr>
          <p:spPr>
            <a:xfrm>
              <a:off x="0" y="0"/>
              <a:ext cx="948928" cy="185660"/>
            </a:xfrm>
            <a:custGeom>
              <a:avLst/>
              <a:gdLst/>
              <a:ahLst/>
              <a:cxnLst/>
              <a:rect l="l" t="t" r="r" b="b"/>
              <a:pathLst>
                <a:path w="948928" h="185660">
                  <a:moveTo>
                    <a:pt x="0" y="0"/>
                  </a:moveTo>
                  <a:lnTo>
                    <a:pt x="948928" y="0"/>
                  </a:lnTo>
                  <a:lnTo>
                    <a:pt x="948928" y="185660"/>
                  </a:lnTo>
                  <a:lnTo>
                    <a:pt x="0" y="185660"/>
                  </a:lnTo>
                  <a:close/>
                </a:path>
              </a:pathLst>
            </a:custGeom>
            <a:solidFill>
              <a:srgbClr val="0246A5"/>
            </a:solidFill>
          </p:spPr>
        </p:sp>
        <p:sp>
          <p:nvSpPr>
            <p:cNvPr id="40" name="TextBox 15">
              <a:extLst>
                <a:ext uri="{FF2B5EF4-FFF2-40B4-BE49-F238E27FC236}">
                  <a16:creationId xmlns:a16="http://schemas.microsoft.com/office/drawing/2014/main" id="{286EF8E3-90BD-9365-E7A7-C38B799EA4A2}"/>
                </a:ext>
              </a:extLst>
            </p:cNvPr>
            <p:cNvSpPr txBox="1"/>
            <p:nvPr/>
          </p:nvSpPr>
          <p:spPr>
            <a:xfrm>
              <a:off x="0" y="-28575"/>
              <a:ext cx="948928" cy="21423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41" name="TextBox 16">
            <a:extLst>
              <a:ext uri="{FF2B5EF4-FFF2-40B4-BE49-F238E27FC236}">
                <a16:creationId xmlns:a16="http://schemas.microsoft.com/office/drawing/2014/main" id="{97CB9171-C676-5152-25A9-4F55E1F57BD7}"/>
              </a:ext>
            </a:extLst>
          </p:cNvPr>
          <p:cNvSpPr txBox="1"/>
          <p:nvPr/>
        </p:nvSpPr>
        <p:spPr>
          <a:xfrm>
            <a:off x="728569" y="1402573"/>
            <a:ext cx="2607968" cy="335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</a:pPr>
            <a:r>
              <a:rPr lang="zh-CN" altLang="en-US" sz="1867" b="1" dirty="0">
                <a:solidFill>
                  <a:srgbClr val="FFFFFF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规则检测</a:t>
            </a:r>
            <a:endParaRPr lang="en-US" sz="1867" b="1" dirty="0">
              <a:solidFill>
                <a:srgbClr val="FFFFFF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42" name="TextBox 17">
            <a:extLst>
              <a:ext uri="{FF2B5EF4-FFF2-40B4-BE49-F238E27FC236}">
                <a16:creationId xmlns:a16="http://schemas.microsoft.com/office/drawing/2014/main" id="{D5908FDE-E2CC-0C1F-6E23-AC816EC9FE37}"/>
              </a:ext>
            </a:extLst>
          </p:cNvPr>
          <p:cNvSpPr txBox="1"/>
          <p:nvPr/>
        </p:nvSpPr>
        <p:spPr>
          <a:xfrm>
            <a:off x="728569" y="2166318"/>
            <a:ext cx="2420372" cy="4609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903"/>
              </a:lnSpc>
            </a:pPr>
            <a:r>
              <a:rPr lang="zh-CN" altLang="en-US" sz="1133" dirty="0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依赖预定义安全策略，难以发现未知攻击。</a:t>
            </a:r>
            <a:endParaRPr lang="en-US" sz="1133" dirty="0">
              <a:solidFill>
                <a:srgbClr val="1E1E1E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grpSp>
        <p:nvGrpSpPr>
          <p:cNvPr id="43" name="Group 10">
            <a:extLst>
              <a:ext uri="{FF2B5EF4-FFF2-40B4-BE49-F238E27FC236}">
                <a16:creationId xmlns:a16="http://schemas.microsoft.com/office/drawing/2014/main" id="{89B59223-067B-D773-DA47-BB190201DEEA}"/>
              </a:ext>
            </a:extLst>
          </p:cNvPr>
          <p:cNvGrpSpPr/>
          <p:nvPr/>
        </p:nvGrpSpPr>
        <p:grpSpPr>
          <a:xfrm>
            <a:off x="3806494" y="1802431"/>
            <a:ext cx="3017386" cy="1554969"/>
            <a:chOff x="0" y="0"/>
            <a:chExt cx="948928" cy="827174"/>
          </a:xfrm>
        </p:grpSpPr>
        <p:sp>
          <p:nvSpPr>
            <p:cNvPr id="44" name="Freeform 11">
              <a:extLst>
                <a:ext uri="{FF2B5EF4-FFF2-40B4-BE49-F238E27FC236}">
                  <a16:creationId xmlns:a16="http://schemas.microsoft.com/office/drawing/2014/main" id="{3A9EEA88-4A35-922B-764A-424E586143A5}"/>
                </a:ext>
              </a:extLst>
            </p:cNvPr>
            <p:cNvSpPr/>
            <p:nvPr/>
          </p:nvSpPr>
          <p:spPr>
            <a:xfrm>
              <a:off x="0" y="0"/>
              <a:ext cx="948928" cy="827174"/>
            </a:xfrm>
            <a:custGeom>
              <a:avLst/>
              <a:gdLst/>
              <a:ahLst/>
              <a:cxnLst/>
              <a:rect l="l" t="t" r="r" b="b"/>
              <a:pathLst>
                <a:path w="948928" h="827174">
                  <a:moveTo>
                    <a:pt x="55868" y="0"/>
                  </a:moveTo>
                  <a:lnTo>
                    <a:pt x="893060" y="0"/>
                  </a:lnTo>
                  <a:cubicBezTo>
                    <a:pt x="923915" y="0"/>
                    <a:pt x="948928" y="25013"/>
                    <a:pt x="948928" y="55868"/>
                  </a:cubicBezTo>
                  <a:lnTo>
                    <a:pt x="948928" y="771306"/>
                  </a:lnTo>
                  <a:cubicBezTo>
                    <a:pt x="948928" y="802161"/>
                    <a:pt x="923915" y="827174"/>
                    <a:pt x="893060" y="827174"/>
                  </a:cubicBezTo>
                  <a:lnTo>
                    <a:pt x="55868" y="827174"/>
                  </a:lnTo>
                  <a:cubicBezTo>
                    <a:pt x="25013" y="827174"/>
                    <a:pt x="0" y="802161"/>
                    <a:pt x="0" y="771306"/>
                  </a:cubicBezTo>
                  <a:lnTo>
                    <a:pt x="0" y="55868"/>
                  </a:lnTo>
                  <a:cubicBezTo>
                    <a:pt x="0" y="25013"/>
                    <a:pt x="25013" y="0"/>
                    <a:pt x="55868" y="0"/>
                  </a:cubicBezTo>
                  <a:close/>
                </a:path>
              </a:pathLst>
            </a:custGeom>
            <a:solidFill>
              <a:srgbClr val="0246A5">
                <a:alpha val="6667"/>
              </a:srgbClr>
            </a:solidFill>
          </p:spPr>
        </p:sp>
        <p:sp>
          <p:nvSpPr>
            <p:cNvPr id="45" name="TextBox 12">
              <a:extLst>
                <a:ext uri="{FF2B5EF4-FFF2-40B4-BE49-F238E27FC236}">
                  <a16:creationId xmlns:a16="http://schemas.microsoft.com/office/drawing/2014/main" id="{09257AE5-B5CF-85AD-16D5-C619F0491864}"/>
                </a:ext>
              </a:extLst>
            </p:cNvPr>
            <p:cNvSpPr txBox="1"/>
            <p:nvPr/>
          </p:nvSpPr>
          <p:spPr>
            <a:xfrm>
              <a:off x="0" y="-28575"/>
              <a:ext cx="948928" cy="85574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grpSp>
        <p:nvGrpSpPr>
          <p:cNvPr id="46" name="Group 13">
            <a:extLst>
              <a:ext uri="{FF2B5EF4-FFF2-40B4-BE49-F238E27FC236}">
                <a16:creationId xmlns:a16="http://schemas.microsoft.com/office/drawing/2014/main" id="{D2E25401-FD54-036E-FC7E-EE19AFAE8A0D}"/>
              </a:ext>
            </a:extLst>
          </p:cNvPr>
          <p:cNvGrpSpPr/>
          <p:nvPr/>
        </p:nvGrpSpPr>
        <p:grpSpPr>
          <a:xfrm>
            <a:off x="3806494" y="1415274"/>
            <a:ext cx="3017386" cy="469953"/>
            <a:chOff x="0" y="0"/>
            <a:chExt cx="948928" cy="185660"/>
          </a:xfrm>
        </p:grpSpPr>
        <p:sp>
          <p:nvSpPr>
            <p:cNvPr id="47" name="Freeform 14">
              <a:extLst>
                <a:ext uri="{FF2B5EF4-FFF2-40B4-BE49-F238E27FC236}">
                  <a16:creationId xmlns:a16="http://schemas.microsoft.com/office/drawing/2014/main" id="{4C412FBF-8905-55B2-4DF3-9192381B3471}"/>
                </a:ext>
              </a:extLst>
            </p:cNvPr>
            <p:cNvSpPr/>
            <p:nvPr/>
          </p:nvSpPr>
          <p:spPr>
            <a:xfrm>
              <a:off x="0" y="0"/>
              <a:ext cx="948928" cy="185660"/>
            </a:xfrm>
            <a:custGeom>
              <a:avLst/>
              <a:gdLst/>
              <a:ahLst/>
              <a:cxnLst/>
              <a:rect l="l" t="t" r="r" b="b"/>
              <a:pathLst>
                <a:path w="948928" h="185660">
                  <a:moveTo>
                    <a:pt x="0" y="0"/>
                  </a:moveTo>
                  <a:lnTo>
                    <a:pt x="948928" y="0"/>
                  </a:lnTo>
                  <a:lnTo>
                    <a:pt x="948928" y="185660"/>
                  </a:lnTo>
                  <a:lnTo>
                    <a:pt x="0" y="185660"/>
                  </a:lnTo>
                  <a:close/>
                </a:path>
              </a:pathLst>
            </a:custGeom>
            <a:solidFill>
              <a:srgbClr val="0246A5"/>
            </a:solidFill>
          </p:spPr>
        </p:sp>
        <p:sp>
          <p:nvSpPr>
            <p:cNvPr id="48" name="TextBox 15">
              <a:extLst>
                <a:ext uri="{FF2B5EF4-FFF2-40B4-BE49-F238E27FC236}">
                  <a16:creationId xmlns:a16="http://schemas.microsoft.com/office/drawing/2014/main" id="{C08B5830-CAB2-E2B5-5BBD-A5FBE824439C}"/>
                </a:ext>
              </a:extLst>
            </p:cNvPr>
            <p:cNvSpPr txBox="1"/>
            <p:nvPr/>
          </p:nvSpPr>
          <p:spPr>
            <a:xfrm>
              <a:off x="0" y="-28575"/>
              <a:ext cx="948928" cy="21423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49" name="TextBox 16">
            <a:extLst>
              <a:ext uri="{FF2B5EF4-FFF2-40B4-BE49-F238E27FC236}">
                <a16:creationId xmlns:a16="http://schemas.microsoft.com/office/drawing/2014/main" id="{4F232270-B82D-B0C2-5D0E-578FB7654F77}"/>
              </a:ext>
            </a:extLst>
          </p:cNvPr>
          <p:cNvSpPr txBox="1"/>
          <p:nvPr/>
        </p:nvSpPr>
        <p:spPr>
          <a:xfrm>
            <a:off x="4044462" y="1432573"/>
            <a:ext cx="2607968" cy="335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</a:pPr>
            <a:r>
              <a:rPr lang="zh-CN" altLang="en-US" sz="1867" b="1" dirty="0">
                <a:solidFill>
                  <a:srgbClr val="FFFFFF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学习式检测</a:t>
            </a:r>
            <a:endParaRPr lang="en-US" sz="1867" b="1" dirty="0">
              <a:solidFill>
                <a:srgbClr val="FFFFFF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50" name="TextBox 17">
            <a:extLst>
              <a:ext uri="{FF2B5EF4-FFF2-40B4-BE49-F238E27FC236}">
                <a16:creationId xmlns:a16="http://schemas.microsoft.com/office/drawing/2014/main" id="{9EE135E6-AA36-AA41-CA8E-2844F956CC12}"/>
              </a:ext>
            </a:extLst>
          </p:cNvPr>
          <p:cNvSpPr txBox="1"/>
          <p:nvPr/>
        </p:nvSpPr>
        <p:spPr>
          <a:xfrm>
            <a:off x="4138260" y="2218667"/>
            <a:ext cx="2420372" cy="4630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903"/>
              </a:lnSpc>
            </a:pPr>
            <a:r>
              <a:rPr lang="zh-CN" altLang="en-US" sz="1200" b="0" i="0" dirty="0">
                <a:solidFill>
                  <a:srgbClr val="17324D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应用更新会改变“正常行为”，需要重新收集干净数据并重训练。</a:t>
            </a:r>
            <a:endParaRPr lang="en-US" sz="1133" dirty="0">
              <a:solidFill>
                <a:srgbClr val="1E1E1E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grpSp>
        <p:nvGrpSpPr>
          <p:cNvPr id="51" name="Group 10">
            <a:extLst>
              <a:ext uri="{FF2B5EF4-FFF2-40B4-BE49-F238E27FC236}">
                <a16:creationId xmlns:a16="http://schemas.microsoft.com/office/drawing/2014/main" id="{C47B0B3D-C6E8-B2FE-A795-94CA57B16F79}"/>
              </a:ext>
            </a:extLst>
          </p:cNvPr>
          <p:cNvGrpSpPr/>
          <p:nvPr/>
        </p:nvGrpSpPr>
        <p:grpSpPr>
          <a:xfrm>
            <a:off x="490601" y="4225289"/>
            <a:ext cx="3017386" cy="1554969"/>
            <a:chOff x="0" y="0"/>
            <a:chExt cx="948928" cy="827174"/>
          </a:xfrm>
        </p:grpSpPr>
        <p:sp>
          <p:nvSpPr>
            <p:cNvPr id="52" name="Freeform 11">
              <a:extLst>
                <a:ext uri="{FF2B5EF4-FFF2-40B4-BE49-F238E27FC236}">
                  <a16:creationId xmlns:a16="http://schemas.microsoft.com/office/drawing/2014/main" id="{AE987B69-7655-1BF1-0489-5425C65384FA}"/>
                </a:ext>
              </a:extLst>
            </p:cNvPr>
            <p:cNvSpPr/>
            <p:nvPr/>
          </p:nvSpPr>
          <p:spPr>
            <a:xfrm>
              <a:off x="0" y="0"/>
              <a:ext cx="948928" cy="827174"/>
            </a:xfrm>
            <a:custGeom>
              <a:avLst/>
              <a:gdLst/>
              <a:ahLst/>
              <a:cxnLst/>
              <a:rect l="l" t="t" r="r" b="b"/>
              <a:pathLst>
                <a:path w="948928" h="827174">
                  <a:moveTo>
                    <a:pt x="55868" y="0"/>
                  </a:moveTo>
                  <a:lnTo>
                    <a:pt x="893060" y="0"/>
                  </a:lnTo>
                  <a:cubicBezTo>
                    <a:pt x="923915" y="0"/>
                    <a:pt x="948928" y="25013"/>
                    <a:pt x="948928" y="55868"/>
                  </a:cubicBezTo>
                  <a:lnTo>
                    <a:pt x="948928" y="771306"/>
                  </a:lnTo>
                  <a:cubicBezTo>
                    <a:pt x="948928" y="802161"/>
                    <a:pt x="923915" y="827174"/>
                    <a:pt x="893060" y="827174"/>
                  </a:cubicBezTo>
                  <a:lnTo>
                    <a:pt x="55868" y="827174"/>
                  </a:lnTo>
                  <a:cubicBezTo>
                    <a:pt x="25013" y="827174"/>
                    <a:pt x="0" y="802161"/>
                    <a:pt x="0" y="771306"/>
                  </a:cubicBezTo>
                  <a:lnTo>
                    <a:pt x="0" y="55868"/>
                  </a:lnTo>
                  <a:cubicBezTo>
                    <a:pt x="0" y="25013"/>
                    <a:pt x="25013" y="0"/>
                    <a:pt x="55868" y="0"/>
                  </a:cubicBezTo>
                  <a:close/>
                </a:path>
              </a:pathLst>
            </a:custGeom>
            <a:solidFill>
              <a:srgbClr val="0246A5">
                <a:alpha val="6667"/>
              </a:srgbClr>
            </a:solidFill>
          </p:spPr>
        </p:sp>
        <p:sp>
          <p:nvSpPr>
            <p:cNvPr id="53" name="TextBox 12">
              <a:extLst>
                <a:ext uri="{FF2B5EF4-FFF2-40B4-BE49-F238E27FC236}">
                  <a16:creationId xmlns:a16="http://schemas.microsoft.com/office/drawing/2014/main" id="{1C45050C-E37B-FC36-6E4C-0DA3C53BDEA1}"/>
                </a:ext>
              </a:extLst>
            </p:cNvPr>
            <p:cNvSpPr txBox="1"/>
            <p:nvPr/>
          </p:nvSpPr>
          <p:spPr>
            <a:xfrm>
              <a:off x="0" y="-28575"/>
              <a:ext cx="948928" cy="85574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grpSp>
        <p:nvGrpSpPr>
          <p:cNvPr id="54" name="Group 13">
            <a:extLst>
              <a:ext uri="{FF2B5EF4-FFF2-40B4-BE49-F238E27FC236}">
                <a16:creationId xmlns:a16="http://schemas.microsoft.com/office/drawing/2014/main" id="{A25A875B-8677-3619-A921-D7156318784F}"/>
              </a:ext>
            </a:extLst>
          </p:cNvPr>
          <p:cNvGrpSpPr/>
          <p:nvPr/>
        </p:nvGrpSpPr>
        <p:grpSpPr>
          <a:xfrm>
            <a:off x="490601" y="3838132"/>
            <a:ext cx="3017386" cy="469953"/>
            <a:chOff x="0" y="0"/>
            <a:chExt cx="948928" cy="185660"/>
          </a:xfrm>
        </p:grpSpPr>
        <p:sp>
          <p:nvSpPr>
            <p:cNvPr id="55" name="Freeform 14">
              <a:extLst>
                <a:ext uri="{FF2B5EF4-FFF2-40B4-BE49-F238E27FC236}">
                  <a16:creationId xmlns:a16="http://schemas.microsoft.com/office/drawing/2014/main" id="{B9F227E5-4C12-785C-4611-EE05E5877DB6}"/>
                </a:ext>
              </a:extLst>
            </p:cNvPr>
            <p:cNvSpPr/>
            <p:nvPr/>
          </p:nvSpPr>
          <p:spPr>
            <a:xfrm>
              <a:off x="0" y="0"/>
              <a:ext cx="948928" cy="185660"/>
            </a:xfrm>
            <a:custGeom>
              <a:avLst/>
              <a:gdLst/>
              <a:ahLst/>
              <a:cxnLst/>
              <a:rect l="l" t="t" r="r" b="b"/>
              <a:pathLst>
                <a:path w="948928" h="185660">
                  <a:moveTo>
                    <a:pt x="0" y="0"/>
                  </a:moveTo>
                  <a:lnTo>
                    <a:pt x="948928" y="0"/>
                  </a:lnTo>
                  <a:lnTo>
                    <a:pt x="948928" y="185660"/>
                  </a:lnTo>
                  <a:lnTo>
                    <a:pt x="0" y="185660"/>
                  </a:lnTo>
                  <a:close/>
                </a:path>
              </a:pathLst>
            </a:custGeom>
            <a:solidFill>
              <a:srgbClr val="0246A5"/>
            </a:solidFill>
          </p:spPr>
        </p:sp>
        <p:sp>
          <p:nvSpPr>
            <p:cNvPr id="56" name="TextBox 15">
              <a:extLst>
                <a:ext uri="{FF2B5EF4-FFF2-40B4-BE49-F238E27FC236}">
                  <a16:creationId xmlns:a16="http://schemas.microsoft.com/office/drawing/2014/main" id="{A0FFCC46-8973-1B95-4834-D43839ADEC4F}"/>
                </a:ext>
              </a:extLst>
            </p:cNvPr>
            <p:cNvSpPr txBox="1"/>
            <p:nvPr/>
          </p:nvSpPr>
          <p:spPr>
            <a:xfrm>
              <a:off x="0" y="-28575"/>
              <a:ext cx="948928" cy="21423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7" name="TextBox 16">
            <a:extLst>
              <a:ext uri="{FF2B5EF4-FFF2-40B4-BE49-F238E27FC236}">
                <a16:creationId xmlns:a16="http://schemas.microsoft.com/office/drawing/2014/main" id="{08A6577B-2979-856F-7BA7-E4FBECF6635B}"/>
              </a:ext>
            </a:extLst>
          </p:cNvPr>
          <p:cNvSpPr txBox="1"/>
          <p:nvPr/>
        </p:nvSpPr>
        <p:spPr>
          <a:xfrm>
            <a:off x="728569" y="3855431"/>
            <a:ext cx="2607968" cy="335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</a:pPr>
            <a:r>
              <a:rPr lang="zh-CN" altLang="en-US" sz="1867" b="1">
                <a:solidFill>
                  <a:srgbClr val="FFFFFF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副本自比较</a:t>
            </a:r>
            <a:endParaRPr lang="en-US" sz="1867" b="1" dirty="0">
              <a:solidFill>
                <a:srgbClr val="FFFFFF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58" name="TextBox 17">
            <a:extLst>
              <a:ext uri="{FF2B5EF4-FFF2-40B4-BE49-F238E27FC236}">
                <a16:creationId xmlns:a16="http://schemas.microsoft.com/office/drawing/2014/main" id="{A6CD7F9C-8A78-9573-1B98-294E04900022}"/>
              </a:ext>
            </a:extLst>
          </p:cNvPr>
          <p:cNvSpPr txBox="1"/>
          <p:nvPr/>
        </p:nvSpPr>
        <p:spPr>
          <a:xfrm>
            <a:off x="789108" y="4733151"/>
            <a:ext cx="2420372" cy="4630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903"/>
              </a:lnSpc>
            </a:pPr>
            <a:r>
              <a:rPr lang="zh-CN" altLang="en-US" sz="1200" b="0" i="0" dirty="0">
                <a:solidFill>
                  <a:srgbClr val="17324D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单体应用的不同副本可能处理不同功能，正常行为也会差异很大。</a:t>
            </a:r>
            <a:endParaRPr lang="en-US" sz="1133" dirty="0">
              <a:solidFill>
                <a:srgbClr val="1E1E1E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grpSp>
        <p:nvGrpSpPr>
          <p:cNvPr id="59" name="Group 10">
            <a:extLst>
              <a:ext uri="{FF2B5EF4-FFF2-40B4-BE49-F238E27FC236}">
                <a16:creationId xmlns:a16="http://schemas.microsoft.com/office/drawing/2014/main" id="{1EF1EE3F-1FE5-AE89-3343-70824C6D6E11}"/>
              </a:ext>
            </a:extLst>
          </p:cNvPr>
          <p:cNvGrpSpPr/>
          <p:nvPr/>
        </p:nvGrpSpPr>
        <p:grpSpPr>
          <a:xfrm>
            <a:off x="3806494" y="4225289"/>
            <a:ext cx="3017386" cy="1554969"/>
            <a:chOff x="0" y="0"/>
            <a:chExt cx="948928" cy="827174"/>
          </a:xfrm>
        </p:grpSpPr>
        <p:sp>
          <p:nvSpPr>
            <p:cNvPr id="60" name="Freeform 11">
              <a:extLst>
                <a:ext uri="{FF2B5EF4-FFF2-40B4-BE49-F238E27FC236}">
                  <a16:creationId xmlns:a16="http://schemas.microsoft.com/office/drawing/2014/main" id="{0492E31E-CB14-A5F0-5992-18A3108F7BF8}"/>
                </a:ext>
              </a:extLst>
            </p:cNvPr>
            <p:cNvSpPr/>
            <p:nvPr/>
          </p:nvSpPr>
          <p:spPr>
            <a:xfrm>
              <a:off x="0" y="0"/>
              <a:ext cx="948928" cy="827174"/>
            </a:xfrm>
            <a:custGeom>
              <a:avLst/>
              <a:gdLst/>
              <a:ahLst/>
              <a:cxnLst/>
              <a:rect l="l" t="t" r="r" b="b"/>
              <a:pathLst>
                <a:path w="948928" h="827174">
                  <a:moveTo>
                    <a:pt x="55868" y="0"/>
                  </a:moveTo>
                  <a:lnTo>
                    <a:pt x="893060" y="0"/>
                  </a:lnTo>
                  <a:cubicBezTo>
                    <a:pt x="923915" y="0"/>
                    <a:pt x="948928" y="25013"/>
                    <a:pt x="948928" y="55868"/>
                  </a:cubicBezTo>
                  <a:lnTo>
                    <a:pt x="948928" y="771306"/>
                  </a:lnTo>
                  <a:cubicBezTo>
                    <a:pt x="948928" y="802161"/>
                    <a:pt x="923915" y="827174"/>
                    <a:pt x="893060" y="827174"/>
                  </a:cubicBezTo>
                  <a:lnTo>
                    <a:pt x="55868" y="827174"/>
                  </a:lnTo>
                  <a:cubicBezTo>
                    <a:pt x="25013" y="827174"/>
                    <a:pt x="0" y="802161"/>
                    <a:pt x="0" y="771306"/>
                  </a:cubicBezTo>
                  <a:lnTo>
                    <a:pt x="0" y="55868"/>
                  </a:lnTo>
                  <a:cubicBezTo>
                    <a:pt x="0" y="25013"/>
                    <a:pt x="25013" y="0"/>
                    <a:pt x="55868" y="0"/>
                  </a:cubicBezTo>
                  <a:close/>
                </a:path>
              </a:pathLst>
            </a:custGeom>
            <a:solidFill>
              <a:srgbClr val="0246A5">
                <a:alpha val="6667"/>
              </a:srgbClr>
            </a:solidFill>
          </p:spPr>
        </p:sp>
        <p:sp>
          <p:nvSpPr>
            <p:cNvPr id="61" name="TextBox 12">
              <a:extLst>
                <a:ext uri="{FF2B5EF4-FFF2-40B4-BE49-F238E27FC236}">
                  <a16:creationId xmlns:a16="http://schemas.microsoft.com/office/drawing/2014/main" id="{0FBE492A-0F6A-9C6B-91D6-DA224B7C67F0}"/>
                </a:ext>
              </a:extLst>
            </p:cNvPr>
            <p:cNvSpPr txBox="1"/>
            <p:nvPr/>
          </p:nvSpPr>
          <p:spPr>
            <a:xfrm>
              <a:off x="0" y="-28575"/>
              <a:ext cx="948928" cy="85574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grpSp>
        <p:nvGrpSpPr>
          <p:cNvPr id="62" name="Group 13">
            <a:extLst>
              <a:ext uri="{FF2B5EF4-FFF2-40B4-BE49-F238E27FC236}">
                <a16:creationId xmlns:a16="http://schemas.microsoft.com/office/drawing/2014/main" id="{13E748B9-81D2-C8C0-B2B5-F38069B659D6}"/>
              </a:ext>
            </a:extLst>
          </p:cNvPr>
          <p:cNvGrpSpPr/>
          <p:nvPr/>
        </p:nvGrpSpPr>
        <p:grpSpPr>
          <a:xfrm>
            <a:off x="3806494" y="3838132"/>
            <a:ext cx="3017386" cy="469953"/>
            <a:chOff x="0" y="0"/>
            <a:chExt cx="948928" cy="185660"/>
          </a:xfrm>
        </p:grpSpPr>
        <p:sp>
          <p:nvSpPr>
            <p:cNvPr id="63" name="Freeform 14">
              <a:extLst>
                <a:ext uri="{FF2B5EF4-FFF2-40B4-BE49-F238E27FC236}">
                  <a16:creationId xmlns:a16="http://schemas.microsoft.com/office/drawing/2014/main" id="{D71E073D-3A03-454D-E4A9-2A519E18F253}"/>
                </a:ext>
              </a:extLst>
            </p:cNvPr>
            <p:cNvSpPr/>
            <p:nvPr/>
          </p:nvSpPr>
          <p:spPr>
            <a:xfrm>
              <a:off x="0" y="0"/>
              <a:ext cx="948928" cy="185660"/>
            </a:xfrm>
            <a:custGeom>
              <a:avLst/>
              <a:gdLst/>
              <a:ahLst/>
              <a:cxnLst/>
              <a:rect l="l" t="t" r="r" b="b"/>
              <a:pathLst>
                <a:path w="948928" h="185660">
                  <a:moveTo>
                    <a:pt x="0" y="0"/>
                  </a:moveTo>
                  <a:lnTo>
                    <a:pt x="948928" y="0"/>
                  </a:lnTo>
                  <a:lnTo>
                    <a:pt x="948928" y="185660"/>
                  </a:lnTo>
                  <a:lnTo>
                    <a:pt x="0" y="185660"/>
                  </a:lnTo>
                  <a:close/>
                </a:path>
              </a:pathLst>
            </a:custGeom>
            <a:solidFill>
              <a:srgbClr val="0246A5"/>
            </a:solidFill>
          </p:spPr>
        </p:sp>
        <p:sp>
          <p:nvSpPr>
            <p:cNvPr id="64" name="TextBox 15">
              <a:extLst>
                <a:ext uri="{FF2B5EF4-FFF2-40B4-BE49-F238E27FC236}">
                  <a16:creationId xmlns:a16="http://schemas.microsoft.com/office/drawing/2014/main" id="{27B991B2-7B64-5B82-B8D9-BF6E31F292FE}"/>
                </a:ext>
              </a:extLst>
            </p:cNvPr>
            <p:cNvSpPr txBox="1"/>
            <p:nvPr/>
          </p:nvSpPr>
          <p:spPr>
            <a:xfrm>
              <a:off x="0" y="-28575"/>
              <a:ext cx="948928" cy="21423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65" name="TextBox 16">
            <a:extLst>
              <a:ext uri="{FF2B5EF4-FFF2-40B4-BE49-F238E27FC236}">
                <a16:creationId xmlns:a16="http://schemas.microsoft.com/office/drawing/2014/main" id="{2468132D-D9AD-335C-B727-89BF1D2A7E10}"/>
              </a:ext>
            </a:extLst>
          </p:cNvPr>
          <p:cNvSpPr txBox="1"/>
          <p:nvPr/>
        </p:nvSpPr>
        <p:spPr>
          <a:xfrm>
            <a:off x="4044462" y="3855431"/>
            <a:ext cx="2607968" cy="335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</a:pPr>
            <a:r>
              <a:rPr lang="zh-CN" altLang="en-US" sz="1867" b="1" dirty="0">
                <a:solidFill>
                  <a:srgbClr val="FFFFFF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粗粒度与投毒</a:t>
            </a:r>
            <a:endParaRPr lang="en-US" sz="1867" b="1" dirty="0">
              <a:solidFill>
                <a:srgbClr val="FFFFFF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66" name="TextBox 17">
            <a:extLst>
              <a:ext uri="{FF2B5EF4-FFF2-40B4-BE49-F238E27FC236}">
                <a16:creationId xmlns:a16="http://schemas.microsoft.com/office/drawing/2014/main" id="{C88BC44B-28BE-9C88-419B-921C94CB02AB}"/>
              </a:ext>
            </a:extLst>
          </p:cNvPr>
          <p:cNvSpPr txBox="1"/>
          <p:nvPr/>
        </p:nvSpPr>
        <p:spPr>
          <a:xfrm>
            <a:off x="4105001" y="4771267"/>
            <a:ext cx="2420372" cy="4630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903"/>
              </a:lnSpc>
            </a:pPr>
            <a:r>
              <a:rPr lang="zh-CN" altLang="en-US" sz="1200" b="0" i="0" dirty="0">
                <a:solidFill>
                  <a:srgbClr val="17324D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时间窗口级告警难定位恶意请求；协同攻击可能让副本间差异消失。</a:t>
            </a:r>
            <a:endParaRPr lang="en-US" sz="1133" dirty="0">
              <a:solidFill>
                <a:srgbClr val="1E1E1E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pic>
        <p:nvPicPr>
          <p:cNvPr id="67" name="图片 66">
            <a:extLst>
              <a:ext uri="{FF2B5EF4-FFF2-40B4-BE49-F238E27FC236}">
                <a16:creationId xmlns:a16="http://schemas.microsoft.com/office/drawing/2014/main" id="{8904E22E-6C28-1BFC-783C-B0EDAE000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2453" y="1525573"/>
            <a:ext cx="3790978" cy="3933854"/>
          </a:xfrm>
          <a:prstGeom prst="rect">
            <a:avLst/>
          </a:prstGeom>
        </p:spPr>
      </p:pic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97435391-E8DC-9481-1EDF-E0799311A1DF}"/>
              </a:ext>
            </a:extLst>
          </p:cNvPr>
          <p:cNvCxnSpPr/>
          <p:nvPr/>
        </p:nvCxnSpPr>
        <p:spPr>
          <a:xfrm>
            <a:off x="7296150" y="1037782"/>
            <a:ext cx="0" cy="56007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6015" y="527770"/>
            <a:ext cx="4978537" cy="509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60"/>
              </a:lnSpc>
              <a:spcBef>
                <a:spcPct val="0"/>
              </a:spcBef>
            </a:pPr>
            <a:r>
              <a:rPr lang="zh-CN" altLang="en-US" sz="3467" b="1" dirty="0">
                <a:solidFill>
                  <a:srgbClr val="100F0D"/>
                </a:solidFill>
                <a:latin typeface="思源黑体 2 Heavy" panose="020B0A00000000000000" charset="-122"/>
                <a:ea typeface="思源黑体 2 Heavy" panose="020B0A00000000000000" charset="-122"/>
                <a:cs typeface="思源黑体 2 Heavy" panose="020B0A00000000000000" charset="-122"/>
                <a:sym typeface="思源黑体 2 Heavy" panose="020B0A00000000000000" charset="-122"/>
              </a:rPr>
              <a:t>解决方式：</a:t>
            </a:r>
            <a:r>
              <a:rPr lang="en-US" altLang="zh-CN" sz="3467" b="1" dirty="0">
                <a:solidFill>
                  <a:srgbClr val="100F0D"/>
                </a:solidFill>
                <a:latin typeface="思源黑体 2 Heavy" panose="020B0A00000000000000" charset="-122"/>
                <a:ea typeface="思源黑体 2 Heavy" panose="020B0A00000000000000" charset="-122"/>
                <a:cs typeface="思源黑体 2 Heavy" panose="020B0A00000000000000" charset="-122"/>
                <a:sym typeface="思源黑体 2 Heavy" panose="020B0A00000000000000" charset="-122"/>
              </a:rPr>
              <a:t>APIECHO</a:t>
            </a:r>
            <a:endParaRPr lang="en-US" sz="3467" b="1" dirty="0">
              <a:solidFill>
                <a:srgbClr val="100F0D"/>
              </a:solidFill>
              <a:latin typeface="思源黑体 2 Heavy" panose="020B0A00000000000000" charset="-122"/>
              <a:ea typeface="思源黑体 2 Heavy" panose="020B0A00000000000000" charset="-122"/>
              <a:cs typeface="思源黑体 2 Heavy" panose="020B0A00000000000000" charset="-122"/>
              <a:sym typeface="思源黑体 2 Heavy" panose="020B0A00000000000000" charset="-122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2103105" y="0"/>
            <a:ext cx="88895" cy="6858000"/>
            <a:chOff x="0" y="0"/>
            <a:chExt cx="121127" cy="934455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1127" cy="9344557"/>
            </a:xfrm>
            <a:custGeom>
              <a:avLst/>
              <a:gdLst/>
              <a:ahLst/>
              <a:cxnLst/>
              <a:rect l="l" t="t" r="r" b="b"/>
              <a:pathLst>
                <a:path w="121127" h="9344557">
                  <a:moveTo>
                    <a:pt x="0" y="0"/>
                  </a:moveTo>
                  <a:lnTo>
                    <a:pt x="121127" y="0"/>
                  </a:lnTo>
                  <a:lnTo>
                    <a:pt x="121127" y="9344557"/>
                  </a:lnTo>
                  <a:lnTo>
                    <a:pt x="0" y="9344557"/>
                  </a:lnTo>
                  <a:close/>
                </a:path>
              </a:pathLst>
            </a:custGeom>
            <a:solidFill>
              <a:srgbClr val="0246A5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21127" cy="934455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90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95814" y="3785381"/>
            <a:ext cx="2401974" cy="2093785"/>
            <a:chOff x="0" y="0"/>
            <a:chExt cx="948928" cy="82717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48928" cy="827174"/>
            </a:xfrm>
            <a:custGeom>
              <a:avLst/>
              <a:gdLst/>
              <a:ahLst/>
              <a:cxnLst/>
              <a:rect l="l" t="t" r="r" b="b"/>
              <a:pathLst>
                <a:path w="948928" h="827174">
                  <a:moveTo>
                    <a:pt x="55868" y="0"/>
                  </a:moveTo>
                  <a:lnTo>
                    <a:pt x="893060" y="0"/>
                  </a:lnTo>
                  <a:cubicBezTo>
                    <a:pt x="923915" y="0"/>
                    <a:pt x="948928" y="25013"/>
                    <a:pt x="948928" y="55868"/>
                  </a:cubicBezTo>
                  <a:lnTo>
                    <a:pt x="948928" y="771306"/>
                  </a:lnTo>
                  <a:cubicBezTo>
                    <a:pt x="948928" y="802161"/>
                    <a:pt x="923915" y="827174"/>
                    <a:pt x="893060" y="827174"/>
                  </a:cubicBezTo>
                  <a:lnTo>
                    <a:pt x="55868" y="827174"/>
                  </a:lnTo>
                  <a:cubicBezTo>
                    <a:pt x="25013" y="827174"/>
                    <a:pt x="0" y="802161"/>
                    <a:pt x="0" y="771306"/>
                  </a:cubicBezTo>
                  <a:lnTo>
                    <a:pt x="0" y="55868"/>
                  </a:lnTo>
                  <a:cubicBezTo>
                    <a:pt x="0" y="25013"/>
                    <a:pt x="25013" y="0"/>
                    <a:pt x="55868" y="0"/>
                  </a:cubicBezTo>
                  <a:close/>
                </a:path>
              </a:pathLst>
            </a:custGeom>
            <a:solidFill>
              <a:srgbClr val="0246A5">
                <a:alpha val="6667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948928" cy="85574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95814" y="3398224"/>
            <a:ext cx="2401974" cy="469953"/>
            <a:chOff x="0" y="0"/>
            <a:chExt cx="948928" cy="18566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48928" cy="185660"/>
            </a:xfrm>
            <a:custGeom>
              <a:avLst/>
              <a:gdLst/>
              <a:ahLst/>
              <a:cxnLst/>
              <a:rect l="l" t="t" r="r" b="b"/>
              <a:pathLst>
                <a:path w="948928" h="185660">
                  <a:moveTo>
                    <a:pt x="0" y="0"/>
                  </a:moveTo>
                  <a:lnTo>
                    <a:pt x="948928" y="0"/>
                  </a:lnTo>
                  <a:lnTo>
                    <a:pt x="948928" y="185660"/>
                  </a:lnTo>
                  <a:lnTo>
                    <a:pt x="0" y="185660"/>
                  </a:lnTo>
                  <a:close/>
                </a:path>
              </a:pathLst>
            </a:custGeom>
            <a:solidFill>
              <a:srgbClr val="0246A5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948928" cy="21423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233782" y="3415523"/>
            <a:ext cx="1926039" cy="335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</a:pPr>
            <a:r>
              <a:rPr lang="zh-CN" altLang="en-US" sz="1867" b="1" dirty="0">
                <a:solidFill>
                  <a:srgbClr val="FFFFFF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应用频繁更新</a:t>
            </a:r>
            <a:endParaRPr lang="en-US" sz="1867" b="1" dirty="0">
              <a:solidFill>
                <a:srgbClr val="FFFFFF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62628" y="4111839"/>
            <a:ext cx="1868347" cy="217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03"/>
              </a:lnSpc>
            </a:pPr>
            <a:r>
              <a:rPr lang="zh-CN" altLang="en-US" sz="1133" dirty="0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无需大规模预训练</a:t>
            </a:r>
            <a:endParaRPr lang="en-US" sz="1133" dirty="0">
              <a:solidFill>
                <a:srgbClr val="1E1E1E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3595280" y="3785381"/>
            <a:ext cx="2401974" cy="2093785"/>
            <a:chOff x="0" y="0"/>
            <a:chExt cx="948928" cy="82717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48928" cy="827174"/>
            </a:xfrm>
            <a:custGeom>
              <a:avLst/>
              <a:gdLst/>
              <a:ahLst/>
              <a:cxnLst/>
              <a:rect l="l" t="t" r="r" b="b"/>
              <a:pathLst>
                <a:path w="948928" h="827174">
                  <a:moveTo>
                    <a:pt x="55868" y="0"/>
                  </a:moveTo>
                  <a:lnTo>
                    <a:pt x="893060" y="0"/>
                  </a:lnTo>
                  <a:cubicBezTo>
                    <a:pt x="923915" y="0"/>
                    <a:pt x="948928" y="25013"/>
                    <a:pt x="948928" y="55868"/>
                  </a:cubicBezTo>
                  <a:lnTo>
                    <a:pt x="948928" y="771306"/>
                  </a:lnTo>
                  <a:cubicBezTo>
                    <a:pt x="948928" y="802161"/>
                    <a:pt x="923915" y="827174"/>
                    <a:pt x="893060" y="827174"/>
                  </a:cubicBezTo>
                  <a:lnTo>
                    <a:pt x="55868" y="827174"/>
                  </a:lnTo>
                  <a:cubicBezTo>
                    <a:pt x="25013" y="827174"/>
                    <a:pt x="0" y="802161"/>
                    <a:pt x="0" y="771306"/>
                  </a:cubicBezTo>
                  <a:lnTo>
                    <a:pt x="0" y="55868"/>
                  </a:lnTo>
                  <a:cubicBezTo>
                    <a:pt x="0" y="25013"/>
                    <a:pt x="25013" y="0"/>
                    <a:pt x="55868" y="0"/>
                  </a:cubicBezTo>
                  <a:close/>
                </a:path>
              </a:pathLst>
            </a:custGeom>
            <a:solidFill>
              <a:srgbClr val="0246A5">
                <a:alpha val="6667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948928" cy="85574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595280" y="3398224"/>
            <a:ext cx="2401974" cy="469953"/>
            <a:chOff x="0" y="0"/>
            <a:chExt cx="948928" cy="18566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48928" cy="185660"/>
            </a:xfrm>
            <a:custGeom>
              <a:avLst/>
              <a:gdLst/>
              <a:ahLst/>
              <a:cxnLst/>
              <a:rect l="l" t="t" r="r" b="b"/>
              <a:pathLst>
                <a:path w="948928" h="185660">
                  <a:moveTo>
                    <a:pt x="0" y="0"/>
                  </a:moveTo>
                  <a:lnTo>
                    <a:pt x="948928" y="0"/>
                  </a:lnTo>
                  <a:lnTo>
                    <a:pt x="948928" y="185660"/>
                  </a:lnTo>
                  <a:lnTo>
                    <a:pt x="0" y="185660"/>
                  </a:lnTo>
                  <a:close/>
                </a:path>
              </a:pathLst>
            </a:custGeom>
            <a:solidFill>
              <a:srgbClr val="1762CB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948928" cy="21423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3833248" y="3415523"/>
            <a:ext cx="1926039" cy="335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</a:pPr>
            <a:r>
              <a:rPr lang="zh-CN" altLang="en-US" sz="1867" b="1" dirty="0">
                <a:solidFill>
                  <a:srgbClr val="FFFFFF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难以定位攻击</a:t>
            </a:r>
            <a:endParaRPr lang="en-US" sz="1867" b="1" dirty="0">
              <a:solidFill>
                <a:srgbClr val="FFFFFF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3862094" y="4111839"/>
            <a:ext cx="1868347" cy="217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03"/>
              </a:lnSpc>
            </a:pPr>
            <a:r>
              <a:rPr lang="zh-CN" altLang="en-US" sz="1133" dirty="0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按请求划分审计日志</a:t>
            </a:r>
            <a:endParaRPr lang="en-US" sz="1133" dirty="0">
              <a:solidFill>
                <a:srgbClr val="1E1E1E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6194746" y="3785381"/>
            <a:ext cx="2401974" cy="2093785"/>
            <a:chOff x="0" y="0"/>
            <a:chExt cx="948928" cy="82717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48928" cy="827174"/>
            </a:xfrm>
            <a:custGeom>
              <a:avLst/>
              <a:gdLst/>
              <a:ahLst/>
              <a:cxnLst/>
              <a:rect l="l" t="t" r="r" b="b"/>
              <a:pathLst>
                <a:path w="948928" h="827174">
                  <a:moveTo>
                    <a:pt x="55868" y="0"/>
                  </a:moveTo>
                  <a:lnTo>
                    <a:pt x="893060" y="0"/>
                  </a:lnTo>
                  <a:cubicBezTo>
                    <a:pt x="923915" y="0"/>
                    <a:pt x="948928" y="25013"/>
                    <a:pt x="948928" y="55868"/>
                  </a:cubicBezTo>
                  <a:lnTo>
                    <a:pt x="948928" y="771306"/>
                  </a:lnTo>
                  <a:cubicBezTo>
                    <a:pt x="948928" y="802161"/>
                    <a:pt x="923915" y="827174"/>
                    <a:pt x="893060" y="827174"/>
                  </a:cubicBezTo>
                  <a:lnTo>
                    <a:pt x="55868" y="827174"/>
                  </a:lnTo>
                  <a:cubicBezTo>
                    <a:pt x="25013" y="827174"/>
                    <a:pt x="0" y="802161"/>
                    <a:pt x="0" y="771306"/>
                  </a:cubicBezTo>
                  <a:lnTo>
                    <a:pt x="0" y="55868"/>
                  </a:lnTo>
                  <a:cubicBezTo>
                    <a:pt x="0" y="25013"/>
                    <a:pt x="25013" y="0"/>
                    <a:pt x="55868" y="0"/>
                  </a:cubicBezTo>
                  <a:close/>
                </a:path>
              </a:pathLst>
            </a:custGeom>
            <a:solidFill>
              <a:srgbClr val="0246A5">
                <a:alpha val="6667"/>
              </a:srgbClr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948928" cy="85574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194746" y="3398224"/>
            <a:ext cx="2401974" cy="469953"/>
            <a:chOff x="0" y="0"/>
            <a:chExt cx="948928" cy="18566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48928" cy="185660"/>
            </a:xfrm>
            <a:custGeom>
              <a:avLst/>
              <a:gdLst/>
              <a:ahLst/>
              <a:cxnLst/>
              <a:rect l="l" t="t" r="r" b="b"/>
              <a:pathLst>
                <a:path w="948928" h="185660">
                  <a:moveTo>
                    <a:pt x="0" y="0"/>
                  </a:moveTo>
                  <a:lnTo>
                    <a:pt x="948928" y="0"/>
                  </a:lnTo>
                  <a:lnTo>
                    <a:pt x="948928" y="185660"/>
                  </a:lnTo>
                  <a:lnTo>
                    <a:pt x="0" y="185660"/>
                  </a:lnTo>
                  <a:close/>
                </a:path>
              </a:pathLst>
            </a:custGeom>
            <a:solidFill>
              <a:srgbClr val="0246A5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28575"/>
              <a:ext cx="948928" cy="21423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6432714" y="3415523"/>
            <a:ext cx="1926039" cy="335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</a:pPr>
            <a:r>
              <a:rPr lang="en-US" sz="1867" b="1" dirty="0">
                <a:solidFill>
                  <a:srgbClr val="FFFFFF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API </a:t>
            </a:r>
            <a:r>
              <a:rPr lang="zh-CN" altLang="en-US" sz="1867" b="1" dirty="0">
                <a:solidFill>
                  <a:srgbClr val="FFFFFF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行为差异大</a:t>
            </a:r>
            <a:endParaRPr lang="en-US" sz="1867" b="1" dirty="0">
              <a:solidFill>
                <a:srgbClr val="FFFFFF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6461560" y="4111839"/>
            <a:ext cx="1868347" cy="217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03"/>
              </a:lnSpc>
            </a:pPr>
            <a:r>
              <a:rPr lang="en-US" altLang="zh-CN" sz="1133" dirty="0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API </a:t>
            </a:r>
            <a:r>
              <a:rPr lang="zh-CN" altLang="en-US" sz="1133" dirty="0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内归一化比较</a:t>
            </a:r>
            <a:endParaRPr lang="en-US" sz="1133" dirty="0">
              <a:solidFill>
                <a:srgbClr val="1E1E1E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grpSp>
        <p:nvGrpSpPr>
          <p:cNvPr id="34" name="Group 34"/>
          <p:cNvGrpSpPr/>
          <p:nvPr/>
        </p:nvGrpSpPr>
        <p:grpSpPr>
          <a:xfrm>
            <a:off x="8794212" y="3785381"/>
            <a:ext cx="2401974" cy="2093785"/>
            <a:chOff x="0" y="0"/>
            <a:chExt cx="948928" cy="82717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48928" cy="827174"/>
            </a:xfrm>
            <a:custGeom>
              <a:avLst/>
              <a:gdLst/>
              <a:ahLst/>
              <a:cxnLst/>
              <a:rect l="l" t="t" r="r" b="b"/>
              <a:pathLst>
                <a:path w="948928" h="827174">
                  <a:moveTo>
                    <a:pt x="55868" y="0"/>
                  </a:moveTo>
                  <a:lnTo>
                    <a:pt x="893060" y="0"/>
                  </a:lnTo>
                  <a:cubicBezTo>
                    <a:pt x="923915" y="0"/>
                    <a:pt x="948928" y="25013"/>
                    <a:pt x="948928" y="55868"/>
                  </a:cubicBezTo>
                  <a:lnTo>
                    <a:pt x="948928" y="771306"/>
                  </a:lnTo>
                  <a:cubicBezTo>
                    <a:pt x="948928" y="802161"/>
                    <a:pt x="923915" y="827174"/>
                    <a:pt x="893060" y="827174"/>
                  </a:cubicBezTo>
                  <a:lnTo>
                    <a:pt x="55868" y="827174"/>
                  </a:lnTo>
                  <a:cubicBezTo>
                    <a:pt x="25013" y="827174"/>
                    <a:pt x="0" y="802161"/>
                    <a:pt x="0" y="771306"/>
                  </a:cubicBezTo>
                  <a:lnTo>
                    <a:pt x="0" y="55868"/>
                  </a:lnTo>
                  <a:cubicBezTo>
                    <a:pt x="0" y="25013"/>
                    <a:pt x="25013" y="0"/>
                    <a:pt x="55868" y="0"/>
                  </a:cubicBezTo>
                  <a:close/>
                </a:path>
              </a:pathLst>
            </a:custGeom>
            <a:solidFill>
              <a:srgbClr val="0246A5">
                <a:alpha val="6667"/>
              </a:srgbClr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28575"/>
              <a:ext cx="948928" cy="85574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794212" y="3398224"/>
            <a:ext cx="2401974" cy="469953"/>
            <a:chOff x="0" y="0"/>
            <a:chExt cx="948928" cy="18566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48928" cy="185660"/>
            </a:xfrm>
            <a:custGeom>
              <a:avLst/>
              <a:gdLst/>
              <a:ahLst/>
              <a:cxnLst/>
              <a:rect l="l" t="t" r="r" b="b"/>
              <a:pathLst>
                <a:path w="948928" h="185660">
                  <a:moveTo>
                    <a:pt x="0" y="0"/>
                  </a:moveTo>
                  <a:lnTo>
                    <a:pt x="948928" y="0"/>
                  </a:lnTo>
                  <a:lnTo>
                    <a:pt x="948928" y="185660"/>
                  </a:lnTo>
                  <a:lnTo>
                    <a:pt x="0" y="185660"/>
                  </a:lnTo>
                  <a:close/>
                </a:path>
              </a:pathLst>
            </a:custGeom>
            <a:solidFill>
              <a:srgbClr val="1762CB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28575"/>
              <a:ext cx="948928" cy="21423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9032180" y="3415523"/>
            <a:ext cx="1926039" cy="335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</a:pPr>
            <a:r>
              <a:rPr lang="zh-CN" altLang="en-US" sz="1867" b="1" dirty="0">
                <a:solidFill>
                  <a:srgbClr val="FFFFFF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恶意行为污染基线</a:t>
            </a:r>
            <a:endParaRPr lang="en-US" sz="1867" b="1" dirty="0">
              <a:solidFill>
                <a:srgbClr val="FFFFFF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9061026" y="4111839"/>
            <a:ext cx="1868347" cy="217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03"/>
              </a:lnSpc>
            </a:pPr>
            <a:r>
              <a:rPr lang="zh-CN" altLang="en-US" sz="1133" dirty="0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异常请求剔除</a:t>
            </a:r>
            <a:endParaRPr lang="en-US" sz="1133" dirty="0">
              <a:solidFill>
                <a:srgbClr val="1E1E1E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grpSp>
        <p:nvGrpSpPr>
          <p:cNvPr id="42" name="Group 42"/>
          <p:cNvGrpSpPr/>
          <p:nvPr/>
        </p:nvGrpSpPr>
        <p:grpSpPr>
          <a:xfrm>
            <a:off x="995814" y="1809983"/>
            <a:ext cx="10200372" cy="1340591"/>
            <a:chOff x="0" y="0"/>
            <a:chExt cx="4029776" cy="52961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4029777" cy="529616"/>
            </a:xfrm>
            <a:custGeom>
              <a:avLst/>
              <a:gdLst/>
              <a:ahLst/>
              <a:cxnLst/>
              <a:rect l="l" t="t" r="r" b="b"/>
              <a:pathLst>
                <a:path w="4029777" h="529616">
                  <a:moveTo>
                    <a:pt x="0" y="0"/>
                  </a:moveTo>
                  <a:lnTo>
                    <a:pt x="4029777" y="0"/>
                  </a:lnTo>
                  <a:lnTo>
                    <a:pt x="4029777" y="529616"/>
                  </a:lnTo>
                  <a:lnTo>
                    <a:pt x="0" y="5296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246A5"/>
              </a:solidFill>
              <a:prstDash val="solid"/>
              <a:miter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0" y="-28575"/>
              <a:ext cx="4029776" cy="558191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301936" y="2279150"/>
            <a:ext cx="9588128" cy="21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3"/>
              </a:lnSpc>
            </a:pPr>
            <a:r>
              <a:rPr lang="zh-CN" altLang="en-US" sz="1200" b="0" i="0" dirty="0">
                <a:solidFill>
                  <a:srgbClr val="0D4F8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同一个 </a:t>
            </a:r>
            <a:r>
              <a:rPr lang="en-US" altLang="zh-CN" sz="1200" b="0" i="0" dirty="0">
                <a:solidFill>
                  <a:srgbClr val="0D4F8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API </a:t>
            </a:r>
            <a:r>
              <a:rPr lang="zh-CN" altLang="en-US" sz="1200" b="0" i="0" dirty="0">
                <a:solidFill>
                  <a:srgbClr val="0D4F8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的合法请求，通常具有高度相似的底层行为模式。</a:t>
            </a:r>
            <a:endParaRPr lang="en-US" sz="1133" dirty="0">
              <a:solidFill>
                <a:srgbClr val="1E1E1E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grpSp>
        <p:nvGrpSpPr>
          <p:cNvPr id="46" name="Group 46"/>
          <p:cNvGrpSpPr/>
          <p:nvPr/>
        </p:nvGrpSpPr>
        <p:grpSpPr>
          <a:xfrm>
            <a:off x="4424526" y="1545964"/>
            <a:ext cx="3342948" cy="528037"/>
            <a:chOff x="0" y="0"/>
            <a:chExt cx="1320671" cy="208607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320671" cy="208607"/>
            </a:xfrm>
            <a:custGeom>
              <a:avLst/>
              <a:gdLst/>
              <a:ahLst/>
              <a:cxnLst/>
              <a:rect l="l" t="t" r="r" b="b"/>
              <a:pathLst>
                <a:path w="1320671" h="208607">
                  <a:moveTo>
                    <a:pt x="0" y="0"/>
                  </a:moveTo>
                  <a:lnTo>
                    <a:pt x="1320671" y="0"/>
                  </a:lnTo>
                  <a:lnTo>
                    <a:pt x="1320671" y="208607"/>
                  </a:lnTo>
                  <a:lnTo>
                    <a:pt x="0" y="208607"/>
                  </a:lnTo>
                  <a:close/>
                </a:path>
              </a:pathLst>
            </a:custGeom>
            <a:solidFill>
              <a:srgbClr val="0246A5"/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0" y="-28575"/>
              <a:ext cx="1320671" cy="23718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4964624" y="1592306"/>
            <a:ext cx="2262753" cy="335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</a:pPr>
            <a:r>
              <a:rPr lang="en-US" sz="1867" b="1">
                <a:solidFill>
                  <a:srgbClr val="FFFFFF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整体研究思路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058480CB-32B1-A105-7FA5-B0561F2E64CC}"/>
              </a:ext>
            </a:extLst>
          </p:cNvPr>
          <p:cNvSpPr txBox="1"/>
          <p:nvPr/>
        </p:nvSpPr>
        <p:spPr>
          <a:xfrm>
            <a:off x="2262165" y="2640754"/>
            <a:ext cx="80877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617184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因此，比较粒度从“不同服务器副本”转为“同一 </a:t>
            </a:r>
            <a:r>
              <a:rPr lang="en-US" altLang="zh-CN" b="0" i="0" dirty="0">
                <a:solidFill>
                  <a:srgbClr val="617184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API </a:t>
            </a:r>
            <a:r>
              <a:rPr lang="zh-CN" altLang="en-US" b="0" i="0" dirty="0">
                <a:solidFill>
                  <a:srgbClr val="617184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内的不同请求”。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714604" y="0"/>
            <a:ext cx="5477397" cy="6858001"/>
            <a:chOff x="0" y="0"/>
            <a:chExt cx="1272888" cy="15937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72888" cy="1593726"/>
            </a:xfrm>
            <a:custGeom>
              <a:avLst/>
              <a:gdLst/>
              <a:ahLst/>
              <a:cxnLst/>
              <a:rect l="l" t="t" r="r" b="b"/>
              <a:pathLst>
                <a:path w="1272888" h="1713909">
                  <a:moveTo>
                    <a:pt x="0" y="0"/>
                  </a:moveTo>
                  <a:lnTo>
                    <a:pt x="1272888" y="0"/>
                  </a:lnTo>
                  <a:lnTo>
                    <a:pt x="1272888" y="1713909"/>
                  </a:lnTo>
                  <a:lnTo>
                    <a:pt x="0" y="1713909"/>
                  </a:lnTo>
                  <a:close/>
                </a:path>
              </a:pathLst>
            </a:custGeom>
            <a:blipFill>
              <a:blip r:embed="rId2"/>
              <a:stretch>
                <a:fillRect l="-3770" t="-21377" r="-3770" b="-754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714604" y="0"/>
            <a:ext cx="5044161" cy="6858000"/>
            <a:chOff x="0" y="0"/>
            <a:chExt cx="1992755" cy="27093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92755" cy="2709333"/>
            </a:xfrm>
            <a:custGeom>
              <a:avLst/>
              <a:gdLst/>
              <a:ahLst/>
              <a:cxnLst/>
              <a:rect l="l" t="t" r="r" b="b"/>
              <a:pathLst>
                <a:path w="1992755" h="2709333">
                  <a:moveTo>
                    <a:pt x="0" y="0"/>
                  </a:moveTo>
                  <a:lnTo>
                    <a:pt x="1992755" y="0"/>
                  </a:lnTo>
                  <a:lnTo>
                    <a:pt x="1992755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246A5">
                    <a:alpha val="100000"/>
                  </a:srgbClr>
                </a:gs>
                <a:gs pos="50000">
                  <a:srgbClr val="0246A5">
                    <a:alpha val="69500"/>
                  </a:srgbClr>
                </a:gs>
                <a:gs pos="100000">
                  <a:srgbClr val="0246A5">
                    <a:alpha val="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992755" cy="274743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62434" y="2221948"/>
            <a:ext cx="1862537" cy="459202"/>
            <a:chOff x="0" y="0"/>
            <a:chExt cx="812800" cy="2003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200393"/>
            </a:xfrm>
            <a:custGeom>
              <a:avLst/>
              <a:gdLst/>
              <a:ahLst/>
              <a:cxnLst/>
              <a:rect l="l" t="t" r="r" b="b"/>
              <a:pathLst>
                <a:path w="812800" h="200393">
                  <a:moveTo>
                    <a:pt x="0" y="0"/>
                  </a:moveTo>
                  <a:lnTo>
                    <a:pt x="812800" y="0"/>
                  </a:lnTo>
                  <a:lnTo>
                    <a:pt x="812800" y="200393"/>
                  </a:lnTo>
                  <a:lnTo>
                    <a:pt x="0" y="200393"/>
                  </a:lnTo>
                  <a:close/>
                </a:path>
              </a:pathLst>
            </a:custGeom>
            <a:solidFill>
              <a:srgbClr val="0246A5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812800" cy="24801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70"/>
                </a:lnSpc>
              </a:pPr>
              <a:endParaRPr sz="1200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62434" y="2734913"/>
            <a:ext cx="5095855" cy="847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27"/>
              </a:lnSpc>
              <a:spcBef>
                <a:spcPct val="0"/>
              </a:spcBef>
            </a:pPr>
            <a:r>
              <a:rPr lang="zh-CN" altLang="en-US" sz="5400" b="1" dirty="0">
                <a:solidFill>
                  <a:srgbClr val="1E1E1E"/>
                </a:solidFill>
                <a:latin typeface="思源黑体 1 Heavy" panose="020B0A00000000000000" charset="-122"/>
                <a:ea typeface="思源黑体 1 Heavy" panose="020B0A00000000000000" charset="-122"/>
                <a:cs typeface="思源黑体 1 Heavy" panose="020B0A00000000000000" charset="-122"/>
                <a:sym typeface="思源黑体 1 Heavy" panose="020B0A00000000000000" charset="-122"/>
              </a:rPr>
              <a:t>研究内容</a:t>
            </a:r>
            <a:endParaRPr lang="en-US" sz="5400" b="1" dirty="0">
              <a:solidFill>
                <a:srgbClr val="1E1E1E"/>
              </a:solidFill>
              <a:latin typeface="思源黑体 1 Heavy" panose="020B0A00000000000000" charset="-122"/>
              <a:ea typeface="思源黑体 1 Heavy" panose="020B0A00000000000000" charset="-122"/>
              <a:cs typeface="思源黑体 1 Heavy" panose="020B0A00000000000000" charset="-122"/>
              <a:sym typeface="思源黑体 1 Heavy" panose="020B0A00000000000000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84598" y="2245520"/>
            <a:ext cx="1618210" cy="346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3"/>
              </a:lnSpc>
              <a:spcBef>
                <a:spcPct val="0"/>
              </a:spcBef>
            </a:pPr>
            <a:r>
              <a:rPr lang="en-US" sz="2200" b="1">
                <a:solidFill>
                  <a:srgbClr val="FFFFFF"/>
                </a:solidFill>
                <a:latin typeface="思源黑体 1 Medium" panose="020B0600000000000000" charset="-122"/>
                <a:ea typeface="思源黑体 1 Medium" panose="020B0600000000000000" charset="-122"/>
                <a:cs typeface="思源黑体 1 Medium" panose="020B0600000000000000" charset="-122"/>
                <a:sym typeface="思源黑体 1 Medium" panose="020B0600000000000000" charset="-122"/>
              </a:rPr>
              <a:t>第二章节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631647" y="1444276"/>
            <a:ext cx="3643311" cy="3420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8"/>
              </a:lnSpc>
            </a:pPr>
            <a:r>
              <a:rPr lang="en-US" sz="22908" b="1">
                <a:solidFill>
                  <a:srgbClr val="FFFFFF"/>
                </a:solidFill>
                <a:latin typeface="Akzidenz-Grotesk Bold" panose="02000803050000020004"/>
                <a:ea typeface="Akzidenz-Grotesk Bold" panose="02000803050000020004"/>
                <a:cs typeface="Akzidenz-Grotesk Bold" panose="02000803050000020004"/>
                <a:sym typeface="Akzidenz-Grotesk Bold" panose="02000803050000020004"/>
              </a:rP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/>
          <p:nvPr/>
        </p:nvSpPr>
        <p:spPr>
          <a:xfrm>
            <a:off x="0" y="6050569"/>
            <a:ext cx="12192000" cy="0"/>
          </a:xfrm>
          <a:prstGeom prst="line">
            <a:avLst/>
          </a:prstGeom>
          <a:ln w="19050" cap="flat">
            <a:solidFill>
              <a:srgbClr val="0246A5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2256885" y="5955319"/>
            <a:ext cx="190500" cy="19050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246A5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>
                <a:latin typeface="+mn-ea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00750" y="5955319"/>
            <a:ext cx="190500" cy="19050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246A5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>
                <a:latin typeface="+mn-ea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744615" y="5955319"/>
            <a:ext cx="190500" cy="190500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246A5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>
                <a:latin typeface="+mn-ea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103105" y="0"/>
            <a:ext cx="88895" cy="6858000"/>
            <a:chOff x="0" y="0"/>
            <a:chExt cx="121127" cy="934455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1127" cy="9344557"/>
            </a:xfrm>
            <a:custGeom>
              <a:avLst/>
              <a:gdLst/>
              <a:ahLst/>
              <a:cxnLst/>
              <a:rect l="l" t="t" r="r" b="b"/>
              <a:pathLst>
                <a:path w="121127" h="9344557">
                  <a:moveTo>
                    <a:pt x="0" y="0"/>
                  </a:moveTo>
                  <a:lnTo>
                    <a:pt x="121127" y="0"/>
                  </a:lnTo>
                  <a:lnTo>
                    <a:pt x="121127" y="9344557"/>
                  </a:lnTo>
                  <a:lnTo>
                    <a:pt x="0" y="9344557"/>
                  </a:lnTo>
                  <a:close/>
                </a:path>
              </a:pathLst>
            </a:custGeom>
            <a:solidFill>
              <a:srgbClr val="0246A5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121127" cy="934455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90"/>
                </a:lnSpc>
                <a:spcBef>
                  <a:spcPct val="0"/>
                </a:spcBef>
              </a:pPr>
              <a:endParaRPr sz="1200">
                <a:latin typeface="+mn-ea"/>
              </a:endParaRP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490601" y="360355"/>
            <a:ext cx="4978537" cy="509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60"/>
              </a:lnSpc>
              <a:spcBef>
                <a:spcPct val="0"/>
              </a:spcBef>
            </a:pPr>
            <a:r>
              <a:rPr lang="en-US" altLang="zh-CN" sz="3467" b="1" dirty="0">
                <a:solidFill>
                  <a:srgbClr val="100F0D"/>
                </a:solidFill>
                <a:latin typeface="思源黑体 2 Heavy" panose="020B0A00000000000000" charset="-122"/>
                <a:ea typeface="思源黑体 2 Heavy" panose="020B0A00000000000000" charset="-122"/>
                <a:cs typeface="思源黑体 2 Heavy" panose="020B0A00000000000000" charset="-122"/>
                <a:sym typeface="思源黑体 2 Heavy" panose="020B0A00000000000000" charset="-122"/>
              </a:rPr>
              <a:t>2-1 APIECHO </a:t>
            </a:r>
            <a:r>
              <a:rPr lang="zh-CN" altLang="en-US" sz="3467" b="1" dirty="0">
                <a:solidFill>
                  <a:srgbClr val="100F0D"/>
                </a:solidFill>
                <a:latin typeface="思源黑体 2 Heavy" panose="020B0A00000000000000" charset="-122"/>
                <a:ea typeface="思源黑体 2 Heavy" panose="020B0A00000000000000" charset="-122"/>
                <a:cs typeface="思源黑体 2 Heavy" panose="020B0A00000000000000" charset="-122"/>
                <a:sym typeface="思源黑体 2 Heavy" panose="020B0A00000000000000" charset="-122"/>
              </a:rPr>
              <a:t>整体框架</a:t>
            </a:r>
            <a:endParaRPr lang="en-US" sz="3467" b="1" dirty="0">
              <a:solidFill>
                <a:srgbClr val="100F0D"/>
              </a:solidFill>
              <a:latin typeface="+mn-ea"/>
              <a:cs typeface="思源黑体 2 Heavy" panose="020B0A00000000000000" charset="-122"/>
              <a:sym typeface="思源黑体 2 Heavy" panose="020B0A00000000000000" charset="-122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251595" y="6305420"/>
            <a:ext cx="2154184" cy="335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  <a:spcBef>
                <a:spcPct val="0"/>
              </a:spcBef>
            </a:pPr>
            <a:r>
              <a:rPr lang="zh-CN" altLang="en-US" sz="1867" b="1" dirty="0">
                <a:solidFill>
                  <a:srgbClr val="1E1E1E"/>
                </a:solidFill>
                <a:latin typeface="+mn-ea"/>
                <a:cs typeface="思源黑体 2 Bold" panose="020B0800000000000000" charset="-122"/>
                <a:sym typeface="思源黑体 2 Bold" panose="020B0800000000000000" charset="-122"/>
              </a:rPr>
              <a:t>请求划分与</a:t>
            </a:r>
            <a:r>
              <a:rPr lang="en-US" altLang="zh-CN" sz="1867" b="1" dirty="0">
                <a:solidFill>
                  <a:srgbClr val="1E1E1E"/>
                </a:solidFill>
                <a:latin typeface="+mn-ea"/>
                <a:cs typeface="思源黑体 2 Bold" panose="020B0800000000000000" charset="-122"/>
                <a:sym typeface="思源黑体 2 Bold" panose="020B0800000000000000" charset="-122"/>
              </a:rPr>
              <a:t>API</a:t>
            </a:r>
            <a:r>
              <a:rPr lang="zh-CN" altLang="en-US" sz="1867" b="1" dirty="0">
                <a:solidFill>
                  <a:srgbClr val="1E1E1E"/>
                </a:solidFill>
                <a:latin typeface="+mn-ea"/>
                <a:cs typeface="思源黑体 2 Bold" panose="020B0800000000000000" charset="-122"/>
                <a:sym typeface="思源黑体 2 Bold" panose="020B0800000000000000" charset="-122"/>
              </a:rPr>
              <a:t>分类</a:t>
            </a:r>
            <a:endParaRPr lang="en-US" altLang="zh-CN" sz="1867" b="1" dirty="0">
              <a:solidFill>
                <a:srgbClr val="1E1E1E"/>
              </a:solidFill>
              <a:latin typeface="+mn-ea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5132981" y="6305421"/>
            <a:ext cx="1926039" cy="335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  <a:spcBef>
                <a:spcPct val="0"/>
              </a:spcBef>
            </a:pPr>
            <a:r>
              <a:rPr lang="en-US" altLang="zh-CN" sz="1867" b="1" dirty="0">
                <a:solidFill>
                  <a:srgbClr val="1E1E1E"/>
                </a:solidFill>
                <a:latin typeface="+mn-ea"/>
                <a:cs typeface="思源黑体 2 Bold" panose="020B0800000000000000" charset="-122"/>
                <a:sym typeface="思源黑体 2 Bold" panose="020B0800000000000000" charset="-122"/>
              </a:rPr>
              <a:t>API </a:t>
            </a:r>
            <a:r>
              <a:rPr lang="zh-CN" altLang="en-US" sz="1867" b="1" dirty="0">
                <a:solidFill>
                  <a:srgbClr val="1E1E1E"/>
                </a:solidFill>
                <a:latin typeface="+mn-ea"/>
                <a:cs typeface="思源黑体 2 Bold" panose="020B0800000000000000" charset="-122"/>
                <a:sym typeface="思源黑体 2 Bold" panose="020B0800000000000000" charset="-122"/>
              </a:rPr>
              <a:t>内部异常检测</a:t>
            </a:r>
            <a:endParaRPr lang="en-US" sz="1867" b="1" dirty="0">
              <a:solidFill>
                <a:srgbClr val="1E1E1E"/>
              </a:solidFill>
              <a:latin typeface="+mn-ea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8786222" y="6305421"/>
            <a:ext cx="2154183" cy="3354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  <a:spcBef>
                <a:spcPct val="0"/>
              </a:spcBef>
            </a:pPr>
            <a:r>
              <a:rPr lang="zh-CN" altLang="en-US" sz="1867" b="1" dirty="0">
                <a:solidFill>
                  <a:srgbClr val="1E1E1E"/>
                </a:solidFill>
                <a:latin typeface="+mn-ea"/>
                <a:cs typeface="思源黑体 2 Bold" panose="020B0800000000000000" charset="-122"/>
                <a:sym typeface="思源黑体 2 Bold" panose="020B0800000000000000" charset="-122"/>
              </a:rPr>
              <a:t>窗口管理与基线适应</a:t>
            </a:r>
            <a:endParaRPr lang="en-US" sz="1867" b="1" dirty="0">
              <a:solidFill>
                <a:srgbClr val="1E1E1E"/>
              </a:solidFill>
              <a:latin typeface="+mn-ea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9A163AF-A88E-8904-1EFD-F73459746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226" y="1070832"/>
            <a:ext cx="8218765" cy="4768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456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1174750"/>
            <a:ext cx="3142484" cy="5213350"/>
            <a:chOff x="0" y="0"/>
            <a:chExt cx="1241475" cy="158079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41475" cy="1580791"/>
            </a:xfrm>
            <a:custGeom>
              <a:avLst/>
              <a:gdLst/>
              <a:ahLst/>
              <a:cxnLst/>
              <a:rect l="l" t="t" r="r" b="b"/>
              <a:pathLst>
                <a:path w="1241475" h="1580791">
                  <a:moveTo>
                    <a:pt x="0" y="0"/>
                  </a:moveTo>
                  <a:lnTo>
                    <a:pt x="1241475" y="0"/>
                  </a:lnTo>
                  <a:lnTo>
                    <a:pt x="1241475" y="1580791"/>
                  </a:lnTo>
                  <a:lnTo>
                    <a:pt x="0" y="1580791"/>
                  </a:lnTo>
                  <a:close/>
                </a:path>
              </a:pathLst>
            </a:custGeom>
            <a:solidFill>
              <a:srgbClr val="0246A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241475" cy="16284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70"/>
                </a:lnSpc>
              </a:pPr>
              <a:endParaRPr sz="1200"/>
            </a:p>
          </p:txBody>
        </p:sp>
      </p:grpSp>
      <p:pic>
        <p:nvPicPr>
          <p:cNvPr id="25" name="图片 24">
            <a:extLst>
              <a:ext uri="{FF2B5EF4-FFF2-40B4-BE49-F238E27FC236}">
                <a16:creationId xmlns:a16="http://schemas.microsoft.com/office/drawing/2014/main" id="{0409D5BF-BC87-C888-A3C9-4F28C4CFF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71" y="1633839"/>
            <a:ext cx="4786115" cy="2328876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12103105" y="0"/>
            <a:ext cx="88895" cy="6858000"/>
            <a:chOff x="0" y="0"/>
            <a:chExt cx="121127" cy="93445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1127" cy="9344557"/>
            </a:xfrm>
            <a:custGeom>
              <a:avLst/>
              <a:gdLst/>
              <a:ahLst/>
              <a:cxnLst/>
              <a:rect l="l" t="t" r="r" b="b"/>
              <a:pathLst>
                <a:path w="121127" h="9344557">
                  <a:moveTo>
                    <a:pt x="0" y="0"/>
                  </a:moveTo>
                  <a:lnTo>
                    <a:pt x="121127" y="0"/>
                  </a:lnTo>
                  <a:lnTo>
                    <a:pt x="121127" y="9344557"/>
                  </a:lnTo>
                  <a:lnTo>
                    <a:pt x="0" y="9344557"/>
                  </a:lnTo>
                  <a:close/>
                </a:path>
              </a:pathLst>
            </a:custGeom>
            <a:solidFill>
              <a:srgbClr val="0246A5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21127" cy="934455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90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13" name="Group 13"/>
          <p:cNvGrpSpPr/>
          <p:nvPr/>
        </p:nvGrpSpPr>
        <p:grpSpPr>
          <a:xfrm rot="-10800000">
            <a:off x="4883150" y="1774399"/>
            <a:ext cx="7099300" cy="4014052"/>
            <a:chOff x="0" y="0"/>
            <a:chExt cx="1827466" cy="107482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827466" cy="1074821"/>
            </a:xfrm>
            <a:custGeom>
              <a:avLst/>
              <a:gdLst/>
              <a:ahLst/>
              <a:cxnLst/>
              <a:rect l="l" t="t" r="r" b="b"/>
              <a:pathLst>
                <a:path w="1827466" h="1074821">
                  <a:moveTo>
                    <a:pt x="0" y="0"/>
                  </a:moveTo>
                  <a:lnTo>
                    <a:pt x="1827466" y="0"/>
                  </a:lnTo>
                  <a:lnTo>
                    <a:pt x="1827466" y="1074821"/>
                  </a:lnTo>
                  <a:lnTo>
                    <a:pt x="0" y="1074821"/>
                  </a:lnTo>
                  <a:close/>
                </a:path>
              </a:pathLst>
            </a:custGeom>
            <a:solidFill>
              <a:srgbClr val="0246A5">
                <a:alpha val="666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1827466" cy="110339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ct val="150000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087341" y="1969309"/>
            <a:ext cx="2584429" cy="455596"/>
            <a:chOff x="0" y="0"/>
            <a:chExt cx="857409" cy="17998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57409" cy="179989"/>
            </a:xfrm>
            <a:custGeom>
              <a:avLst/>
              <a:gdLst/>
              <a:ahLst/>
              <a:cxnLst/>
              <a:rect l="l" t="t" r="r" b="b"/>
              <a:pathLst>
                <a:path w="857409" h="179989">
                  <a:moveTo>
                    <a:pt x="0" y="0"/>
                  </a:moveTo>
                  <a:lnTo>
                    <a:pt x="857409" y="0"/>
                  </a:lnTo>
                  <a:lnTo>
                    <a:pt x="857409" y="179989"/>
                  </a:lnTo>
                  <a:lnTo>
                    <a:pt x="0" y="179989"/>
                  </a:lnTo>
                  <a:close/>
                </a:path>
              </a:pathLst>
            </a:custGeom>
            <a:solidFill>
              <a:srgbClr val="0246A5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857409" cy="22761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70"/>
                </a:lnSpc>
              </a:pPr>
              <a:endParaRPr sz="1200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5087341" y="2619815"/>
            <a:ext cx="6690918" cy="28591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en-US" altLang="zh-CN" dirty="0">
                <a:solidFill>
                  <a:srgbClr val="1E1E1E"/>
                </a:solidFill>
                <a:latin typeface="+mn-ea"/>
                <a:cs typeface="思源黑体 2" panose="020B0500000000000000" charset="-122"/>
                <a:sym typeface="思源黑体 2" panose="020B0500000000000000" charset="-122"/>
              </a:rPr>
              <a:t>Web </a:t>
            </a:r>
            <a:r>
              <a:rPr lang="zh-CN" altLang="en-US" dirty="0">
                <a:solidFill>
                  <a:srgbClr val="1E1E1E"/>
                </a:solidFill>
                <a:latin typeface="+mn-ea"/>
                <a:cs typeface="思源黑体 2" panose="020B0500000000000000" charset="-122"/>
                <a:sym typeface="思源黑体 2" panose="020B0500000000000000" charset="-122"/>
              </a:rPr>
              <a:t>服务器并发处理请求，不同请求产生的系统调用会交错。</a:t>
            </a:r>
            <a:r>
              <a:rPr lang="en-US" altLang="zh-CN" dirty="0">
                <a:solidFill>
                  <a:srgbClr val="1E1E1E"/>
                </a:solidFill>
                <a:latin typeface="+mn-ea"/>
                <a:cs typeface="思源黑体 2" panose="020B0500000000000000" charset="-122"/>
                <a:sym typeface="思源黑体 2" panose="020B0500000000000000" charset="-122"/>
              </a:rPr>
              <a:t>APIECHO </a:t>
            </a:r>
            <a:r>
              <a:rPr lang="zh-CN" altLang="en-US" dirty="0">
                <a:solidFill>
                  <a:srgbClr val="1E1E1E"/>
                </a:solidFill>
                <a:latin typeface="+mn-ea"/>
                <a:cs typeface="思源黑体 2" panose="020B0500000000000000" charset="-122"/>
                <a:sym typeface="思源黑体 2" panose="020B0500000000000000" charset="-122"/>
              </a:rPr>
              <a:t>需要先把审计日志切分成“一个请求一个行为单元”。</a:t>
            </a:r>
          </a:p>
          <a:p>
            <a:pPr marL="285750" indent="-28575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rgbClr val="1E1E1E"/>
                </a:solidFill>
                <a:latin typeface="+mn-ea"/>
                <a:cs typeface="思源黑体 2" panose="020B0500000000000000" charset="-122"/>
                <a:sym typeface="思源黑体 2" panose="020B0500000000000000" charset="-122"/>
              </a:rPr>
              <a:t>多进程</a:t>
            </a:r>
            <a:r>
              <a:rPr lang="en-US" altLang="zh-CN" dirty="0">
                <a:solidFill>
                  <a:srgbClr val="1E1E1E"/>
                </a:solidFill>
                <a:latin typeface="+mn-ea"/>
                <a:cs typeface="思源黑体 2" panose="020B0500000000000000" charset="-122"/>
                <a:sym typeface="思源黑体 2" panose="020B0500000000000000" charset="-122"/>
              </a:rPr>
              <a:t>/</a:t>
            </a:r>
            <a:r>
              <a:rPr lang="zh-CN" altLang="en-US" dirty="0">
                <a:solidFill>
                  <a:srgbClr val="1E1E1E"/>
                </a:solidFill>
                <a:latin typeface="+mn-ea"/>
                <a:cs typeface="思源黑体 2" panose="020B0500000000000000" charset="-122"/>
                <a:sym typeface="思源黑体 2" panose="020B0500000000000000" charset="-122"/>
              </a:rPr>
              <a:t>多线程：利用 </a:t>
            </a:r>
            <a:r>
              <a:rPr lang="en-US" altLang="zh-CN" dirty="0">
                <a:solidFill>
                  <a:srgbClr val="1E1E1E"/>
                </a:solidFill>
                <a:latin typeface="+mn-ea"/>
                <a:cs typeface="思源黑体 2" panose="020B0500000000000000" charset="-122"/>
                <a:sym typeface="思源黑体 2" panose="020B0500000000000000" charset="-122"/>
              </a:rPr>
              <a:t>PID/TID </a:t>
            </a:r>
            <a:r>
              <a:rPr lang="zh-CN" altLang="en-US" dirty="0">
                <a:solidFill>
                  <a:srgbClr val="1E1E1E"/>
                </a:solidFill>
                <a:latin typeface="+mn-ea"/>
                <a:cs typeface="思源黑体 2" panose="020B0500000000000000" charset="-122"/>
                <a:sym typeface="思源黑体 2" panose="020B0500000000000000" charset="-122"/>
              </a:rPr>
              <a:t>与 </a:t>
            </a:r>
            <a:r>
              <a:rPr lang="en-US" altLang="zh-CN" dirty="0">
                <a:solidFill>
                  <a:srgbClr val="1E1E1E"/>
                </a:solidFill>
                <a:latin typeface="+mn-ea"/>
                <a:cs typeface="思源黑体 2" panose="020B0500000000000000" charset="-122"/>
                <a:sym typeface="思源黑体 2" panose="020B0500000000000000" charset="-122"/>
              </a:rPr>
              <a:t>delimiter-log </a:t>
            </a:r>
            <a:r>
              <a:rPr lang="zh-CN" altLang="en-US" dirty="0">
                <a:solidFill>
                  <a:srgbClr val="1E1E1E"/>
                </a:solidFill>
                <a:latin typeface="+mn-ea"/>
                <a:cs typeface="思源黑体 2" panose="020B0500000000000000" charset="-122"/>
                <a:sym typeface="思源黑体 2" panose="020B0500000000000000" charset="-122"/>
              </a:rPr>
              <a:t>找到最近的请求标识。</a:t>
            </a:r>
          </a:p>
          <a:p>
            <a:pPr marL="285750" indent="-28575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rgbClr val="1E1E1E"/>
                </a:solidFill>
                <a:latin typeface="+mn-ea"/>
                <a:cs typeface="思源黑体 2" panose="020B0500000000000000" charset="-122"/>
                <a:sym typeface="思源黑体 2" panose="020B0500000000000000" charset="-122"/>
              </a:rPr>
              <a:t>协程：在协程切换处插入 </a:t>
            </a:r>
            <a:r>
              <a:rPr lang="en-US" altLang="zh-CN" dirty="0">
                <a:solidFill>
                  <a:srgbClr val="1E1E1E"/>
                </a:solidFill>
                <a:latin typeface="+mn-ea"/>
                <a:cs typeface="思源黑体 2" panose="020B0500000000000000" charset="-122"/>
                <a:sym typeface="思源黑体 2" panose="020B0500000000000000" charset="-122"/>
              </a:rPr>
              <a:t>delimiter-log</a:t>
            </a:r>
            <a:r>
              <a:rPr lang="zh-CN" altLang="en-US" dirty="0">
                <a:solidFill>
                  <a:srgbClr val="1E1E1E"/>
                </a:solidFill>
                <a:latin typeface="+mn-ea"/>
                <a:cs typeface="思源黑体 2" panose="020B0500000000000000" charset="-122"/>
                <a:sym typeface="思源黑体 2" panose="020B0500000000000000" charset="-122"/>
              </a:rPr>
              <a:t>，弥补审计日志不可见的用户态切换。</a:t>
            </a:r>
          </a:p>
          <a:p>
            <a:pPr marL="285750" indent="-28575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rgbClr val="1E1E1E"/>
                </a:solidFill>
                <a:latin typeface="+mn-ea"/>
                <a:cs typeface="思源黑体 2" panose="020B0500000000000000" charset="-122"/>
                <a:sym typeface="思源黑体 2" panose="020B0500000000000000" charset="-122"/>
              </a:rPr>
              <a:t>结果：将混合审计日志还原为按请求归属的 </a:t>
            </a:r>
            <a:r>
              <a:rPr lang="en-US" altLang="zh-CN" dirty="0">
                <a:solidFill>
                  <a:srgbClr val="1E1E1E"/>
                </a:solidFill>
                <a:latin typeface="+mn-ea"/>
                <a:cs typeface="思源黑体 2" panose="020B0500000000000000" charset="-122"/>
                <a:sym typeface="思源黑体 2" panose="020B0500000000000000" charset="-122"/>
              </a:rPr>
              <a:t>syscall </a:t>
            </a:r>
            <a:r>
              <a:rPr lang="zh-CN" altLang="en-US" dirty="0">
                <a:solidFill>
                  <a:srgbClr val="1E1E1E"/>
                </a:solidFill>
                <a:latin typeface="+mn-ea"/>
                <a:cs typeface="思源黑体 2" panose="020B0500000000000000" charset="-122"/>
                <a:sym typeface="思源黑体 2" panose="020B0500000000000000" charset="-122"/>
              </a:rPr>
              <a:t>序列。</a:t>
            </a:r>
            <a:endParaRPr lang="en-US" dirty="0">
              <a:solidFill>
                <a:srgbClr val="1E1E1E"/>
              </a:solidFill>
              <a:latin typeface="+mn-ea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5192253" y="2004076"/>
            <a:ext cx="2479517" cy="335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  <a:spcBef>
                <a:spcPct val="0"/>
              </a:spcBef>
            </a:pPr>
            <a:r>
              <a:rPr lang="zh-CN" altLang="en-US" sz="1867" b="1" dirty="0">
                <a:solidFill>
                  <a:srgbClr val="FFFFFF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为什么需要 </a:t>
            </a:r>
            <a:r>
              <a:rPr lang="en-US" sz="1867" b="1" dirty="0">
                <a:solidFill>
                  <a:srgbClr val="FFFFFF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TeSec？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31187159-002A-4DB8-417B-253D857BA37E}"/>
              </a:ext>
            </a:extLst>
          </p:cNvPr>
          <p:cNvSpPr txBox="1"/>
          <p:nvPr/>
        </p:nvSpPr>
        <p:spPr>
          <a:xfrm>
            <a:off x="490601" y="360355"/>
            <a:ext cx="4978537" cy="509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60"/>
              </a:lnSpc>
              <a:spcBef>
                <a:spcPct val="0"/>
              </a:spcBef>
            </a:pPr>
            <a:r>
              <a:rPr lang="en-US" altLang="zh-CN" sz="3467" b="1" dirty="0">
                <a:solidFill>
                  <a:srgbClr val="100F0D"/>
                </a:solidFill>
                <a:latin typeface="思源黑体 2 Heavy" panose="020B0A00000000000000" charset="-122"/>
                <a:ea typeface="思源黑体 2 Heavy" panose="020B0A00000000000000" charset="-122"/>
                <a:cs typeface="思源黑体 2 Heavy" panose="020B0A00000000000000" charset="-122"/>
                <a:sym typeface="思源黑体 2 Heavy" panose="020B0A00000000000000" charset="-122"/>
              </a:rPr>
              <a:t>2-2 </a:t>
            </a:r>
            <a:r>
              <a:rPr lang="zh-CN" altLang="en-US" sz="3467" b="1" dirty="0">
                <a:solidFill>
                  <a:srgbClr val="100F0D"/>
                </a:solidFill>
                <a:latin typeface="思源黑体 2 Heavy" panose="020B0A00000000000000" charset="-122"/>
                <a:ea typeface="思源黑体 2 Heavy" panose="020B0A00000000000000" charset="-122"/>
                <a:cs typeface="思源黑体 2 Heavy" panose="020B0A00000000000000" charset="-122"/>
                <a:sym typeface="思源黑体 2 Heavy" panose="020B0A00000000000000" charset="-122"/>
              </a:rPr>
              <a:t>请求划分：</a:t>
            </a:r>
            <a:r>
              <a:rPr lang="en-US" altLang="zh-CN" sz="3467" b="1" dirty="0">
                <a:solidFill>
                  <a:srgbClr val="100F0D"/>
                </a:solidFill>
                <a:latin typeface="思源黑体 2 Heavy" panose="020B0A00000000000000" charset="-122"/>
                <a:ea typeface="思源黑体 2 Heavy" panose="020B0A00000000000000" charset="-122"/>
                <a:cs typeface="思源黑体 2 Heavy" panose="020B0A00000000000000" charset="-122"/>
                <a:sym typeface="思源黑体 2 Heavy" panose="020B0A00000000000000" charset="-122"/>
              </a:rPr>
              <a:t>TeSec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FFD299D5-8724-F71C-7E8A-9ABEF2E39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571" y="3980908"/>
            <a:ext cx="4711700" cy="18594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 rot="-10800000">
            <a:off x="6037098" y="1774399"/>
            <a:ext cx="5945351" cy="4014052"/>
            <a:chOff x="0" y="0"/>
            <a:chExt cx="1827466" cy="107482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827466" cy="1074821"/>
            </a:xfrm>
            <a:custGeom>
              <a:avLst/>
              <a:gdLst/>
              <a:ahLst/>
              <a:cxnLst/>
              <a:rect l="l" t="t" r="r" b="b"/>
              <a:pathLst>
                <a:path w="1827466" h="1074821">
                  <a:moveTo>
                    <a:pt x="0" y="0"/>
                  </a:moveTo>
                  <a:lnTo>
                    <a:pt x="1827466" y="0"/>
                  </a:lnTo>
                  <a:lnTo>
                    <a:pt x="1827466" y="1074821"/>
                  </a:lnTo>
                  <a:lnTo>
                    <a:pt x="0" y="1074821"/>
                  </a:lnTo>
                  <a:close/>
                </a:path>
              </a:pathLst>
            </a:custGeom>
            <a:solidFill>
              <a:srgbClr val="0246A5">
                <a:alpha val="666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1827466" cy="110339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ct val="150000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1174750"/>
            <a:ext cx="3142484" cy="5213350"/>
            <a:chOff x="0" y="0"/>
            <a:chExt cx="1241475" cy="158079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41475" cy="1580791"/>
            </a:xfrm>
            <a:custGeom>
              <a:avLst/>
              <a:gdLst/>
              <a:ahLst/>
              <a:cxnLst/>
              <a:rect l="l" t="t" r="r" b="b"/>
              <a:pathLst>
                <a:path w="1241475" h="1580791">
                  <a:moveTo>
                    <a:pt x="0" y="0"/>
                  </a:moveTo>
                  <a:lnTo>
                    <a:pt x="1241475" y="0"/>
                  </a:lnTo>
                  <a:lnTo>
                    <a:pt x="1241475" y="1580791"/>
                  </a:lnTo>
                  <a:lnTo>
                    <a:pt x="0" y="1580791"/>
                  </a:lnTo>
                  <a:close/>
                </a:path>
              </a:pathLst>
            </a:custGeom>
            <a:solidFill>
              <a:srgbClr val="0246A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241475" cy="16284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70"/>
                </a:lnSpc>
              </a:pPr>
              <a:endParaRPr sz="12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103105" y="0"/>
            <a:ext cx="88895" cy="6858000"/>
            <a:chOff x="0" y="0"/>
            <a:chExt cx="121127" cy="93445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1127" cy="9344557"/>
            </a:xfrm>
            <a:custGeom>
              <a:avLst/>
              <a:gdLst/>
              <a:ahLst/>
              <a:cxnLst/>
              <a:rect l="l" t="t" r="r" b="b"/>
              <a:pathLst>
                <a:path w="121127" h="9344557">
                  <a:moveTo>
                    <a:pt x="0" y="0"/>
                  </a:moveTo>
                  <a:lnTo>
                    <a:pt x="121127" y="0"/>
                  </a:lnTo>
                  <a:lnTo>
                    <a:pt x="121127" y="9344557"/>
                  </a:lnTo>
                  <a:lnTo>
                    <a:pt x="0" y="9344557"/>
                  </a:lnTo>
                  <a:close/>
                </a:path>
              </a:pathLst>
            </a:custGeom>
            <a:solidFill>
              <a:srgbClr val="0246A5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21127" cy="934455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90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201692" y="1975780"/>
            <a:ext cx="4098008" cy="455596"/>
            <a:chOff x="0" y="0"/>
            <a:chExt cx="857409" cy="17998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57409" cy="179989"/>
            </a:xfrm>
            <a:custGeom>
              <a:avLst/>
              <a:gdLst/>
              <a:ahLst/>
              <a:cxnLst/>
              <a:rect l="l" t="t" r="r" b="b"/>
              <a:pathLst>
                <a:path w="857409" h="179989">
                  <a:moveTo>
                    <a:pt x="0" y="0"/>
                  </a:moveTo>
                  <a:lnTo>
                    <a:pt x="857409" y="0"/>
                  </a:lnTo>
                  <a:lnTo>
                    <a:pt x="857409" y="179989"/>
                  </a:lnTo>
                  <a:lnTo>
                    <a:pt x="0" y="179989"/>
                  </a:lnTo>
                  <a:close/>
                </a:path>
              </a:pathLst>
            </a:custGeom>
            <a:solidFill>
              <a:srgbClr val="0246A5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857409" cy="22761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70"/>
                </a:lnSpc>
              </a:pPr>
              <a:endParaRPr sz="1200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472626" y="3107814"/>
            <a:ext cx="5509823" cy="16126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rgbClr val="1E1E1E"/>
                </a:solidFill>
                <a:latin typeface="+mn-ea"/>
                <a:cs typeface="思源黑体 2" panose="020B0500000000000000" charset="-122"/>
                <a:sym typeface="思源黑体 2" panose="020B0500000000000000" charset="-122"/>
              </a:rPr>
              <a:t>使用 </a:t>
            </a:r>
            <a:r>
              <a:rPr lang="en-US" altLang="zh-CN" dirty="0" err="1">
                <a:solidFill>
                  <a:srgbClr val="1E1E1E"/>
                </a:solidFill>
                <a:latin typeface="+mn-ea"/>
                <a:cs typeface="思源黑体 2" panose="020B0500000000000000" charset="-122"/>
                <a:sym typeface="思源黑体 2" panose="020B0500000000000000" charset="-122"/>
              </a:rPr>
              <a:t>Trie</a:t>
            </a:r>
            <a:r>
              <a:rPr lang="en-US" altLang="zh-CN" dirty="0">
                <a:solidFill>
                  <a:srgbClr val="1E1E1E"/>
                </a:solidFill>
                <a:latin typeface="+mn-ea"/>
                <a:cs typeface="思源黑体 2" panose="020B0500000000000000" charset="-122"/>
                <a:sym typeface="思源黑体 2" panose="020B0500000000000000" charset="-122"/>
              </a:rPr>
              <a:t> </a:t>
            </a:r>
            <a:r>
              <a:rPr lang="zh-CN" altLang="en-US" dirty="0">
                <a:solidFill>
                  <a:srgbClr val="1E1E1E"/>
                </a:solidFill>
                <a:latin typeface="+mn-ea"/>
                <a:cs typeface="思源黑体 2" panose="020B0500000000000000" charset="-122"/>
                <a:sym typeface="思源黑体 2" panose="020B0500000000000000" charset="-122"/>
              </a:rPr>
              <a:t>维护 </a:t>
            </a:r>
            <a:r>
              <a:rPr lang="en-US" altLang="zh-CN" dirty="0">
                <a:solidFill>
                  <a:srgbClr val="1E1E1E"/>
                </a:solidFill>
                <a:latin typeface="+mn-ea"/>
                <a:cs typeface="思源黑体 2" panose="020B0500000000000000" charset="-122"/>
                <a:sym typeface="思源黑体 2" panose="020B0500000000000000" charset="-122"/>
              </a:rPr>
              <a:t>API Catalog</a:t>
            </a:r>
            <a:r>
              <a:rPr lang="zh-CN" altLang="en-US" dirty="0">
                <a:solidFill>
                  <a:srgbClr val="1E1E1E"/>
                </a:solidFill>
                <a:latin typeface="+mn-ea"/>
                <a:cs typeface="思源黑体 2" panose="020B0500000000000000" charset="-122"/>
                <a:sym typeface="思源黑体 2" panose="020B0500000000000000" charset="-122"/>
              </a:rPr>
              <a:t>。</a:t>
            </a:r>
          </a:p>
          <a:p>
            <a:pPr marL="285750" indent="-28575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rgbClr val="1E1E1E"/>
                </a:solidFill>
                <a:latin typeface="+mn-ea"/>
                <a:cs typeface="思源黑体 2" panose="020B0500000000000000" charset="-122"/>
                <a:sym typeface="思源黑体 2" panose="020B0500000000000000" charset="-122"/>
              </a:rPr>
              <a:t>未匹配 </a:t>
            </a:r>
            <a:r>
              <a:rPr lang="en-US" altLang="zh-CN" dirty="0">
                <a:solidFill>
                  <a:srgbClr val="1E1E1E"/>
                </a:solidFill>
                <a:latin typeface="+mn-ea"/>
                <a:cs typeface="思源黑体 2" panose="020B0500000000000000" charset="-122"/>
                <a:sym typeface="思源黑体 2" panose="020B0500000000000000" charset="-122"/>
              </a:rPr>
              <a:t>URL </a:t>
            </a:r>
            <a:r>
              <a:rPr lang="zh-CN" altLang="en-US" dirty="0">
                <a:solidFill>
                  <a:srgbClr val="1E1E1E"/>
                </a:solidFill>
                <a:latin typeface="+mn-ea"/>
                <a:cs typeface="思源黑体 2" panose="020B0500000000000000" charset="-122"/>
                <a:sym typeface="思源黑体 2" panose="020B0500000000000000" charset="-122"/>
              </a:rPr>
              <a:t>先作为 </a:t>
            </a:r>
            <a:r>
              <a:rPr lang="en-US" altLang="zh-CN" dirty="0">
                <a:solidFill>
                  <a:srgbClr val="1E1E1E"/>
                </a:solidFill>
                <a:latin typeface="+mn-ea"/>
                <a:cs typeface="思源黑体 2" panose="020B0500000000000000" charset="-122"/>
                <a:sym typeface="思源黑体 2" panose="020B0500000000000000" charset="-122"/>
              </a:rPr>
              <a:t>static key </a:t>
            </a:r>
            <a:r>
              <a:rPr lang="zh-CN" altLang="en-US" dirty="0">
                <a:solidFill>
                  <a:srgbClr val="1E1E1E"/>
                </a:solidFill>
                <a:latin typeface="+mn-ea"/>
                <a:cs typeface="思源黑体 2" panose="020B0500000000000000" charset="-122"/>
                <a:sym typeface="思源黑体 2" panose="020B0500000000000000" charset="-122"/>
              </a:rPr>
              <a:t>暂存。</a:t>
            </a:r>
          </a:p>
          <a:p>
            <a:pPr marL="285750" indent="-28575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rgbClr val="1E1E1E"/>
                </a:solidFill>
                <a:latin typeface="+mn-ea"/>
                <a:cs typeface="思源黑体 2" panose="020B0500000000000000" charset="-122"/>
                <a:sym typeface="思源黑体 2" panose="020B0500000000000000" charset="-122"/>
              </a:rPr>
              <a:t>根据数字、</a:t>
            </a:r>
            <a:r>
              <a:rPr lang="en-US" altLang="zh-CN" dirty="0">
                <a:solidFill>
                  <a:srgbClr val="1E1E1E"/>
                </a:solidFill>
                <a:latin typeface="+mn-ea"/>
                <a:cs typeface="思源黑体 2" panose="020B0500000000000000" charset="-122"/>
                <a:sym typeface="思源黑体 2" panose="020B0500000000000000" charset="-122"/>
              </a:rPr>
              <a:t>UUID</a:t>
            </a:r>
            <a:r>
              <a:rPr lang="zh-CN" altLang="en-US" dirty="0">
                <a:solidFill>
                  <a:srgbClr val="1E1E1E"/>
                </a:solidFill>
                <a:latin typeface="+mn-ea"/>
                <a:cs typeface="思源黑体 2" panose="020B0500000000000000" charset="-122"/>
                <a:sym typeface="思源黑体 2" panose="020B0500000000000000" charset="-122"/>
              </a:rPr>
              <a:t>、文件扩展名等规则泛化模板。</a:t>
            </a:r>
          </a:p>
          <a:p>
            <a:pPr marL="285750" indent="-28575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rgbClr val="1E1E1E"/>
                </a:solidFill>
                <a:latin typeface="+mn-ea"/>
                <a:cs typeface="思源黑体 2" panose="020B0500000000000000" charset="-122"/>
                <a:sym typeface="思源黑体 2" panose="020B0500000000000000" charset="-122"/>
              </a:rPr>
              <a:t>当参数表现为固定路径时，支持动态拆分。</a:t>
            </a:r>
            <a:endParaRPr lang="en-US" dirty="0">
              <a:solidFill>
                <a:srgbClr val="1E1E1E"/>
              </a:solidFill>
              <a:latin typeface="+mn-ea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306604" y="2010547"/>
            <a:ext cx="3859746" cy="335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  <a:spcBef>
                <a:spcPct val="0"/>
              </a:spcBef>
            </a:pPr>
            <a:r>
              <a:rPr lang="zh-CN" altLang="en-US" sz="1867" b="1" dirty="0">
                <a:solidFill>
                  <a:srgbClr val="FFFFFF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目标：把 </a:t>
            </a:r>
            <a:r>
              <a:rPr lang="en-US" altLang="zh-CN" sz="1867" b="1" dirty="0">
                <a:solidFill>
                  <a:srgbClr val="FFFFFF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URL </a:t>
            </a:r>
            <a:r>
              <a:rPr lang="zh-CN" altLang="en-US" sz="1867" b="1" dirty="0">
                <a:solidFill>
                  <a:srgbClr val="FFFFFF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映射到可比较的 </a:t>
            </a:r>
            <a:r>
              <a:rPr lang="en-US" altLang="zh-CN" sz="1867" b="1" dirty="0">
                <a:solidFill>
                  <a:srgbClr val="FFFFFF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API</a:t>
            </a:r>
            <a:endParaRPr lang="en-US" sz="1867" b="1" dirty="0">
              <a:solidFill>
                <a:srgbClr val="FFFFFF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31187159-002A-4DB8-417B-253D857BA37E}"/>
              </a:ext>
            </a:extLst>
          </p:cNvPr>
          <p:cNvSpPr txBox="1"/>
          <p:nvPr/>
        </p:nvSpPr>
        <p:spPr>
          <a:xfrm>
            <a:off x="490601" y="360355"/>
            <a:ext cx="4978537" cy="509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60"/>
              </a:lnSpc>
              <a:spcBef>
                <a:spcPct val="0"/>
              </a:spcBef>
            </a:pPr>
            <a:r>
              <a:rPr lang="en-US" altLang="zh-CN" sz="3467" b="1" dirty="0">
                <a:solidFill>
                  <a:srgbClr val="100F0D"/>
                </a:solidFill>
                <a:latin typeface="思源黑体 2 Heavy" panose="020B0A00000000000000" charset="-122"/>
                <a:ea typeface="思源黑体 2 Heavy" panose="020B0A00000000000000" charset="-122"/>
                <a:cs typeface="思源黑体 2 Heavy" panose="020B0A00000000000000" charset="-122"/>
                <a:sym typeface="思源黑体 2 Heavy" panose="020B0A00000000000000" charset="-122"/>
              </a:rPr>
              <a:t>2-3 </a:t>
            </a:r>
            <a:r>
              <a:rPr lang="zh-CN" altLang="en-US" sz="3467" b="1" dirty="0">
                <a:solidFill>
                  <a:srgbClr val="100F0D"/>
                </a:solidFill>
                <a:latin typeface="思源黑体 2 Heavy" panose="020B0A00000000000000" charset="-122"/>
                <a:ea typeface="思源黑体 2 Heavy" panose="020B0A00000000000000" charset="-122"/>
                <a:cs typeface="思源黑体 2 Heavy" panose="020B0A00000000000000" charset="-122"/>
                <a:sym typeface="思源黑体 2 Heavy" panose="020B0A00000000000000" charset="-122"/>
              </a:rPr>
              <a:t>动态 </a:t>
            </a:r>
            <a:r>
              <a:rPr lang="en-US" altLang="zh-CN" sz="3467" b="1" dirty="0">
                <a:solidFill>
                  <a:srgbClr val="100F0D"/>
                </a:solidFill>
                <a:latin typeface="思源黑体 2 Heavy" panose="020B0A00000000000000" charset="-122"/>
                <a:ea typeface="思源黑体 2 Heavy" panose="020B0A00000000000000" charset="-122"/>
                <a:cs typeface="思源黑体 2 Heavy" panose="020B0A00000000000000" charset="-122"/>
                <a:sym typeface="思源黑体 2 Heavy" panose="020B0A00000000000000" charset="-122"/>
              </a:rPr>
              <a:t>API </a:t>
            </a:r>
            <a:r>
              <a:rPr lang="zh-CN" altLang="en-US" sz="3467" b="1" dirty="0">
                <a:solidFill>
                  <a:srgbClr val="100F0D"/>
                </a:solidFill>
                <a:latin typeface="思源黑体 2 Heavy" panose="020B0A00000000000000" charset="-122"/>
                <a:ea typeface="思源黑体 2 Heavy" panose="020B0A00000000000000" charset="-122"/>
                <a:cs typeface="思源黑体 2 Heavy" panose="020B0A00000000000000" charset="-122"/>
                <a:sym typeface="思源黑体 2 Heavy" panose="020B0A00000000000000" charset="-122"/>
              </a:rPr>
              <a:t>分类</a:t>
            </a:r>
            <a:endParaRPr lang="en-US" altLang="zh-CN" sz="3467" b="1" dirty="0">
              <a:solidFill>
                <a:srgbClr val="100F0D"/>
              </a:solidFill>
              <a:latin typeface="思源黑体 2 Heavy" panose="020B0A00000000000000" charset="-122"/>
              <a:ea typeface="思源黑体 2 Heavy" panose="020B0A00000000000000" charset="-122"/>
              <a:cs typeface="思源黑体 2 Heavy" panose="020B0A00000000000000" charset="-122"/>
              <a:sym typeface="思源黑体 2 Heavy" panose="020B0A00000000000000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97A2872-B3DF-6FD6-B410-5728447B2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27" y="1599124"/>
            <a:ext cx="5807513" cy="270870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5198FDE-6F05-B568-9016-AC07C0EF5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727" y="4307824"/>
            <a:ext cx="5798371" cy="1346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974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2103105" y="0"/>
            <a:ext cx="88895" cy="6858000"/>
            <a:chOff x="0" y="0"/>
            <a:chExt cx="121127" cy="93445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1127" cy="9344557"/>
            </a:xfrm>
            <a:custGeom>
              <a:avLst/>
              <a:gdLst/>
              <a:ahLst/>
              <a:cxnLst/>
              <a:rect l="l" t="t" r="r" b="b"/>
              <a:pathLst>
                <a:path w="121127" h="9344557">
                  <a:moveTo>
                    <a:pt x="0" y="0"/>
                  </a:moveTo>
                  <a:lnTo>
                    <a:pt x="121127" y="0"/>
                  </a:lnTo>
                  <a:lnTo>
                    <a:pt x="121127" y="9344557"/>
                  </a:lnTo>
                  <a:lnTo>
                    <a:pt x="0" y="9344557"/>
                  </a:lnTo>
                  <a:close/>
                </a:path>
              </a:pathLst>
            </a:custGeom>
            <a:solidFill>
              <a:srgbClr val="0246A5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21127" cy="934455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9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23" name="TextBox 23">
            <a:extLst>
              <a:ext uri="{FF2B5EF4-FFF2-40B4-BE49-F238E27FC236}">
                <a16:creationId xmlns:a16="http://schemas.microsoft.com/office/drawing/2014/main" id="{31187159-002A-4DB8-417B-253D857BA37E}"/>
              </a:ext>
            </a:extLst>
          </p:cNvPr>
          <p:cNvSpPr txBox="1"/>
          <p:nvPr/>
        </p:nvSpPr>
        <p:spPr>
          <a:xfrm>
            <a:off x="490601" y="360355"/>
            <a:ext cx="5982025" cy="509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160"/>
              </a:lnSpc>
              <a:spcBef>
                <a:spcPct val="0"/>
              </a:spcBef>
            </a:pPr>
            <a:r>
              <a:rPr lang="en-US" altLang="zh-CN" sz="3467" b="1" dirty="0">
                <a:solidFill>
                  <a:srgbClr val="100F0D"/>
                </a:solidFill>
                <a:latin typeface="思源黑体 2 Heavy" panose="020B0A00000000000000" charset="-122"/>
                <a:ea typeface="思源黑体 2 Heavy" panose="020B0A00000000000000" charset="-122"/>
                <a:cs typeface="思源黑体 2 Heavy" panose="020B0A00000000000000" charset="-122"/>
                <a:sym typeface="思源黑体 2 Heavy" panose="020B0A00000000000000" charset="-122"/>
              </a:rPr>
              <a:t>2-4 </a:t>
            </a:r>
            <a:r>
              <a:rPr lang="zh-CN" altLang="en-US" sz="3467" b="1" dirty="0">
                <a:solidFill>
                  <a:srgbClr val="100F0D"/>
                </a:solidFill>
                <a:latin typeface="思源黑体 2 Heavy" panose="020B0A00000000000000" charset="-122"/>
                <a:ea typeface="思源黑体 2 Heavy" panose="020B0A00000000000000" charset="-122"/>
                <a:cs typeface="思源黑体 2 Heavy" panose="020B0A00000000000000" charset="-122"/>
                <a:sym typeface="思源黑体 2 Heavy" panose="020B0A00000000000000" charset="-122"/>
              </a:rPr>
              <a:t>多维请求行为特征提取</a:t>
            </a:r>
            <a:endParaRPr lang="en-US" altLang="zh-CN" sz="3467" b="1" dirty="0">
              <a:solidFill>
                <a:srgbClr val="100F0D"/>
              </a:solidFill>
              <a:latin typeface="思源黑体 2 Heavy" panose="020B0A00000000000000" charset="-122"/>
              <a:ea typeface="思源黑体 2 Heavy" panose="020B0A00000000000000" charset="-122"/>
              <a:cs typeface="思源黑体 2 Heavy" panose="020B0A00000000000000" charset="-122"/>
              <a:sym typeface="思源黑体 2 Heavy" panose="020B0A00000000000000" charset="-122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3F766B22-9F53-8FC1-D15E-E5ABE19099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268075"/>
              </p:ext>
            </p:extLst>
          </p:nvPr>
        </p:nvGraphicFramePr>
        <p:xfrm>
          <a:off x="366259" y="1239405"/>
          <a:ext cx="11459481" cy="2034544"/>
        </p:xfrm>
        <a:graphic>
          <a:graphicData uri="http://schemas.openxmlformats.org/drawingml/2006/table">
            <a:tbl>
              <a:tblPr/>
              <a:tblGrid>
                <a:gridCol w="1535112">
                  <a:extLst>
                    <a:ext uri="{9D8B030D-6E8A-4147-A177-3AD203B41FA5}">
                      <a16:colId xmlns:a16="http://schemas.microsoft.com/office/drawing/2014/main" val="2875874230"/>
                    </a:ext>
                  </a:extLst>
                </a:gridCol>
                <a:gridCol w="5617029">
                  <a:extLst>
                    <a:ext uri="{9D8B030D-6E8A-4147-A177-3AD203B41FA5}">
                      <a16:colId xmlns:a16="http://schemas.microsoft.com/office/drawing/2014/main" val="2138920419"/>
                    </a:ext>
                  </a:extLst>
                </a:gridCol>
                <a:gridCol w="4307340">
                  <a:extLst>
                    <a:ext uri="{9D8B030D-6E8A-4147-A177-3AD203B41FA5}">
                      <a16:colId xmlns:a16="http://schemas.microsoft.com/office/drawing/2014/main" val="29988319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特征类型</a:t>
                      </a:r>
                    </a:p>
                  </a:txBody>
                  <a:tcPr marL="71438" marR="71438" marT="71438" marB="71438" anchor="ctr">
                    <a:lnL w="4763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典型内容</a:t>
                      </a:r>
                    </a:p>
                  </a:txBody>
                  <a:tcPr marL="71438" marR="71438" marT="71438" marB="71438" anchor="ctr">
                    <a:lnL w="4763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描述的行为</a:t>
                      </a:r>
                    </a:p>
                  </a:txBody>
                  <a:tcPr marL="71438" marR="71438" marT="71438" marB="71438" anchor="ctr">
                    <a:lnL w="4763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7937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rgbClr val="0D4F8B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集合特征</a:t>
                      </a:r>
                    </a:p>
                  </a:txBody>
                  <a:tcPr marL="71438" marR="71438" marT="71438" marB="71438" anchor="ctr">
                    <a:lnL w="4763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syscall </a:t>
                      </a:r>
                      <a:r>
                        <a:rPr lang="zh-CN" altLang="en-US" sz="240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集合、</a:t>
                      </a:r>
                      <a:r>
                        <a:rPr lang="en-US" sz="240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syscall </a:t>
                      </a:r>
                      <a:r>
                        <a:rPr lang="zh-CN" altLang="en-US" sz="240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类别、访问目录</a:t>
                      </a:r>
                    </a:p>
                  </a:txBody>
                  <a:tcPr marL="71438" marR="71438" marT="71438" marB="71438" anchor="ctr">
                    <a:lnL w="4763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请求做的操作、访问的资源</a:t>
                      </a:r>
                    </a:p>
                  </a:txBody>
                  <a:tcPr marL="71438" marR="71438" marT="71438" marB="71438" anchor="ctr">
                    <a:lnL w="4763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1672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rgbClr val="0D4F8B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序列特征</a:t>
                      </a:r>
                    </a:p>
                  </a:txBody>
                  <a:tcPr marL="71438" marR="71438" marT="71438" marB="71438" anchor="ctr">
                    <a:lnL w="4763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系统调用序列、</a:t>
                      </a:r>
                      <a:r>
                        <a:rPr lang="en-US" sz="240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n-gram </a:t>
                      </a:r>
                      <a:r>
                        <a:rPr lang="zh-CN" altLang="en-US" sz="240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片段</a:t>
                      </a:r>
                    </a:p>
                  </a:txBody>
                  <a:tcPr marL="71438" marR="71438" marT="71438" marB="71438" anchor="ctr">
                    <a:lnL w="4763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请求执行顺序与局部操作模式</a:t>
                      </a:r>
                    </a:p>
                  </a:txBody>
                  <a:tcPr marL="71438" marR="71438" marT="71438" marB="71438" anchor="ctr">
                    <a:lnL w="4763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80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rgbClr val="0D4F8B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数值特征</a:t>
                      </a:r>
                    </a:p>
                  </a:txBody>
                  <a:tcPr marL="71438" marR="71438" marT="71438" marB="71438" anchor="ctr">
                    <a:lnL w="4763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不同 </a:t>
                      </a:r>
                      <a:r>
                        <a:rPr lang="en-US" altLang="zh-CN" sz="240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IP </a:t>
                      </a:r>
                      <a:r>
                        <a:rPr lang="zh-CN" altLang="en-US" sz="240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数量、端口数量</a:t>
                      </a:r>
                    </a:p>
                  </a:txBody>
                  <a:tcPr marL="71438" marR="71438" marT="71438" marB="71438" anchor="ctr">
                    <a:lnL w="4763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网络交互规模与统计偏离</a:t>
                      </a:r>
                    </a:p>
                  </a:txBody>
                  <a:tcPr marL="71438" marR="71438" marT="71438" marB="71438" anchor="ctr">
                    <a:lnL w="4763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3367074"/>
                  </a:ext>
                </a:extLst>
              </a:tr>
            </a:tbl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35E7A58D-EE04-8573-DD33-CE50C3E89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59" y="3643243"/>
            <a:ext cx="11549355" cy="848927"/>
          </a:xfrm>
          <a:prstGeom prst="rect">
            <a:avLst/>
          </a:prstGeom>
        </p:spPr>
      </p:pic>
      <p:grpSp>
        <p:nvGrpSpPr>
          <p:cNvPr id="19" name="Group 13">
            <a:extLst>
              <a:ext uri="{FF2B5EF4-FFF2-40B4-BE49-F238E27FC236}">
                <a16:creationId xmlns:a16="http://schemas.microsoft.com/office/drawing/2014/main" id="{5BA63DED-17CE-03C5-9DC0-868BFED15CA5}"/>
              </a:ext>
            </a:extLst>
          </p:cNvPr>
          <p:cNvGrpSpPr/>
          <p:nvPr/>
        </p:nvGrpSpPr>
        <p:grpSpPr>
          <a:xfrm rot="-10800000">
            <a:off x="1171799" y="4956628"/>
            <a:ext cx="10040483" cy="1074057"/>
            <a:chOff x="0" y="0"/>
            <a:chExt cx="1827466" cy="1074821"/>
          </a:xfrm>
        </p:grpSpPr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CCA0A19B-22DE-BB12-8FFA-33CE347802F9}"/>
                </a:ext>
              </a:extLst>
            </p:cNvPr>
            <p:cNvSpPr/>
            <p:nvPr/>
          </p:nvSpPr>
          <p:spPr>
            <a:xfrm>
              <a:off x="0" y="0"/>
              <a:ext cx="1827466" cy="1074821"/>
            </a:xfrm>
            <a:custGeom>
              <a:avLst/>
              <a:gdLst/>
              <a:ahLst/>
              <a:cxnLst/>
              <a:rect l="l" t="t" r="r" b="b"/>
              <a:pathLst>
                <a:path w="1827466" h="1074821">
                  <a:moveTo>
                    <a:pt x="0" y="0"/>
                  </a:moveTo>
                  <a:lnTo>
                    <a:pt x="1827466" y="0"/>
                  </a:lnTo>
                  <a:lnTo>
                    <a:pt x="1827466" y="1074821"/>
                  </a:lnTo>
                  <a:lnTo>
                    <a:pt x="0" y="1074821"/>
                  </a:lnTo>
                  <a:close/>
                </a:path>
              </a:pathLst>
            </a:custGeom>
            <a:solidFill>
              <a:srgbClr val="0246A5">
                <a:alpha val="666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24" name="TextBox 15">
              <a:extLst>
                <a:ext uri="{FF2B5EF4-FFF2-40B4-BE49-F238E27FC236}">
                  <a16:creationId xmlns:a16="http://schemas.microsoft.com/office/drawing/2014/main" id="{E492D6AF-0E2B-FC70-9858-546EBFF0E627}"/>
                </a:ext>
              </a:extLst>
            </p:cNvPr>
            <p:cNvSpPr txBox="1"/>
            <p:nvPr/>
          </p:nvSpPr>
          <p:spPr>
            <a:xfrm>
              <a:off x="0" y="-28575"/>
              <a:ext cx="1827466" cy="110339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ct val="150000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25" name="Group 16">
            <a:extLst>
              <a:ext uri="{FF2B5EF4-FFF2-40B4-BE49-F238E27FC236}">
                <a16:creationId xmlns:a16="http://schemas.microsoft.com/office/drawing/2014/main" id="{B4FDCE01-0E17-83B5-043A-35139832AB89}"/>
              </a:ext>
            </a:extLst>
          </p:cNvPr>
          <p:cNvGrpSpPr/>
          <p:nvPr/>
        </p:nvGrpSpPr>
        <p:grpSpPr>
          <a:xfrm>
            <a:off x="1673234" y="5260168"/>
            <a:ext cx="8864137" cy="455596"/>
            <a:chOff x="0" y="0"/>
            <a:chExt cx="857409" cy="179989"/>
          </a:xfrm>
        </p:grpSpPr>
        <p:sp>
          <p:nvSpPr>
            <p:cNvPr id="26" name="Freeform 17">
              <a:extLst>
                <a:ext uri="{FF2B5EF4-FFF2-40B4-BE49-F238E27FC236}">
                  <a16:creationId xmlns:a16="http://schemas.microsoft.com/office/drawing/2014/main" id="{F045BEE2-6722-4337-5AA1-484A8C6944DA}"/>
                </a:ext>
              </a:extLst>
            </p:cNvPr>
            <p:cNvSpPr/>
            <p:nvPr/>
          </p:nvSpPr>
          <p:spPr>
            <a:xfrm>
              <a:off x="0" y="0"/>
              <a:ext cx="857409" cy="179989"/>
            </a:xfrm>
            <a:custGeom>
              <a:avLst/>
              <a:gdLst/>
              <a:ahLst/>
              <a:cxnLst/>
              <a:rect l="l" t="t" r="r" b="b"/>
              <a:pathLst>
                <a:path w="857409" h="179989">
                  <a:moveTo>
                    <a:pt x="0" y="0"/>
                  </a:moveTo>
                  <a:lnTo>
                    <a:pt x="857409" y="0"/>
                  </a:lnTo>
                  <a:lnTo>
                    <a:pt x="857409" y="179989"/>
                  </a:lnTo>
                  <a:lnTo>
                    <a:pt x="0" y="179989"/>
                  </a:lnTo>
                  <a:close/>
                </a:path>
              </a:pathLst>
            </a:custGeom>
            <a:solidFill>
              <a:srgbClr val="0246A5"/>
            </a:solidFill>
          </p:spPr>
        </p:sp>
        <p:sp>
          <p:nvSpPr>
            <p:cNvPr id="27" name="TextBox 18">
              <a:extLst>
                <a:ext uri="{FF2B5EF4-FFF2-40B4-BE49-F238E27FC236}">
                  <a16:creationId xmlns:a16="http://schemas.microsoft.com/office/drawing/2014/main" id="{FAE5266A-D05D-06B8-C303-5B508E1AA409}"/>
                </a:ext>
              </a:extLst>
            </p:cNvPr>
            <p:cNvSpPr txBox="1"/>
            <p:nvPr/>
          </p:nvSpPr>
          <p:spPr>
            <a:xfrm>
              <a:off x="0" y="-47625"/>
              <a:ext cx="857409" cy="22761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70"/>
                </a:lnSpc>
              </a:pPr>
              <a:endParaRPr sz="1200"/>
            </a:p>
          </p:txBody>
        </p:sp>
      </p:grpSp>
      <p:sp>
        <p:nvSpPr>
          <p:cNvPr id="29" name="TextBox 22">
            <a:extLst>
              <a:ext uri="{FF2B5EF4-FFF2-40B4-BE49-F238E27FC236}">
                <a16:creationId xmlns:a16="http://schemas.microsoft.com/office/drawing/2014/main" id="{FEFC35FD-6920-771D-1CF4-C5E43B7DD8EF}"/>
              </a:ext>
            </a:extLst>
          </p:cNvPr>
          <p:cNvSpPr txBox="1"/>
          <p:nvPr/>
        </p:nvSpPr>
        <p:spPr>
          <a:xfrm>
            <a:off x="1778146" y="5294935"/>
            <a:ext cx="9434139" cy="335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  <a:spcBef>
                <a:spcPct val="0"/>
              </a:spcBef>
            </a:pPr>
            <a:r>
              <a:rPr lang="zh-CN" altLang="en-US" sz="1867" b="1" dirty="0">
                <a:solidFill>
                  <a:srgbClr val="FFFFFF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集合特征回答“出现了什么”，序列特征回答“以什么顺序出现”。</a:t>
            </a:r>
            <a:endParaRPr lang="en-US" sz="1867" b="1" dirty="0">
              <a:solidFill>
                <a:srgbClr val="FFFFFF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1324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2103105" y="0"/>
            <a:ext cx="88895" cy="6858000"/>
            <a:chOff x="0" y="0"/>
            <a:chExt cx="121127" cy="93445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1127" cy="9344557"/>
            </a:xfrm>
            <a:custGeom>
              <a:avLst/>
              <a:gdLst/>
              <a:ahLst/>
              <a:cxnLst/>
              <a:rect l="l" t="t" r="r" b="b"/>
              <a:pathLst>
                <a:path w="121127" h="9344557">
                  <a:moveTo>
                    <a:pt x="0" y="0"/>
                  </a:moveTo>
                  <a:lnTo>
                    <a:pt x="121127" y="0"/>
                  </a:lnTo>
                  <a:lnTo>
                    <a:pt x="121127" y="9344557"/>
                  </a:lnTo>
                  <a:lnTo>
                    <a:pt x="0" y="9344557"/>
                  </a:lnTo>
                  <a:close/>
                </a:path>
              </a:pathLst>
            </a:custGeom>
            <a:solidFill>
              <a:srgbClr val="0246A5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21127" cy="934455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9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23" name="TextBox 23">
            <a:extLst>
              <a:ext uri="{FF2B5EF4-FFF2-40B4-BE49-F238E27FC236}">
                <a16:creationId xmlns:a16="http://schemas.microsoft.com/office/drawing/2014/main" id="{31187159-002A-4DB8-417B-253D857BA37E}"/>
              </a:ext>
            </a:extLst>
          </p:cNvPr>
          <p:cNvSpPr txBox="1"/>
          <p:nvPr/>
        </p:nvSpPr>
        <p:spPr>
          <a:xfrm>
            <a:off x="490601" y="360355"/>
            <a:ext cx="6715742" cy="509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160"/>
              </a:lnSpc>
              <a:spcBef>
                <a:spcPct val="0"/>
              </a:spcBef>
            </a:pPr>
            <a:r>
              <a:rPr lang="en-US" altLang="zh-CN" sz="3467" b="1" dirty="0">
                <a:solidFill>
                  <a:srgbClr val="100F0D"/>
                </a:solidFill>
                <a:latin typeface="思源黑体 2 Heavy" panose="020B0A00000000000000" charset="-122"/>
                <a:ea typeface="思源黑体 2 Heavy" panose="020B0A00000000000000" charset="-122"/>
                <a:cs typeface="思源黑体 2 Heavy" panose="020B0A00000000000000" charset="-122"/>
                <a:sym typeface="思源黑体 2 Heavy" panose="020B0A00000000000000" charset="-122"/>
              </a:rPr>
              <a:t>2-5 </a:t>
            </a:r>
            <a:r>
              <a:rPr lang="zh-CN" altLang="en-US" sz="3467" b="1" dirty="0">
                <a:solidFill>
                  <a:srgbClr val="100F0D"/>
                </a:solidFill>
                <a:latin typeface="思源黑体 2 Heavy" panose="020B0A00000000000000" charset="-122"/>
                <a:ea typeface="思源黑体 2 Heavy" panose="020B0A00000000000000" charset="-122"/>
                <a:cs typeface="思源黑体 2 Heavy" panose="020B0A00000000000000" charset="-122"/>
                <a:sym typeface="思源黑体 2 Heavy" panose="020B0A00000000000000" charset="-122"/>
              </a:rPr>
              <a:t>请求之间的行为相似度计算</a:t>
            </a:r>
            <a:endParaRPr lang="en-US" altLang="zh-CN" sz="3467" b="1" dirty="0">
              <a:solidFill>
                <a:srgbClr val="100F0D"/>
              </a:solidFill>
              <a:latin typeface="思源黑体 2 Heavy" panose="020B0A00000000000000" charset="-122"/>
              <a:ea typeface="思源黑体 2 Heavy" panose="020B0A00000000000000" charset="-122"/>
              <a:cs typeface="思源黑体 2 Heavy" panose="020B0A00000000000000" charset="-122"/>
              <a:sym typeface="思源黑体 2 Heavy" panose="020B0A00000000000000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9D6EDD8-EEB5-1AB9-D59D-D141F8F87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863" y="1041390"/>
            <a:ext cx="11512816" cy="283392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07A0D41-8E29-17E5-1318-8126FB3A9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863" y="4217760"/>
            <a:ext cx="11512816" cy="2032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513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 rot="-10800000">
            <a:off x="6037097" y="1774399"/>
            <a:ext cx="5945351" cy="3911298"/>
            <a:chOff x="0" y="0"/>
            <a:chExt cx="1827466" cy="107482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827466" cy="1074821"/>
            </a:xfrm>
            <a:custGeom>
              <a:avLst/>
              <a:gdLst/>
              <a:ahLst/>
              <a:cxnLst/>
              <a:rect l="l" t="t" r="r" b="b"/>
              <a:pathLst>
                <a:path w="1827466" h="1074821">
                  <a:moveTo>
                    <a:pt x="0" y="0"/>
                  </a:moveTo>
                  <a:lnTo>
                    <a:pt x="1827466" y="0"/>
                  </a:lnTo>
                  <a:lnTo>
                    <a:pt x="1827466" y="1074821"/>
                  </a:lnTo>
                  <a:lnTo>
                    <a:pt x="0" y="1074821"/>
                  </a:lnTo>
                  <a:close/>
                </a:path>
              </a:pathLst>
            </a:custGeom>
            <a:solidFill>
              <a:srgbClr val="0246A5">
                <a:alpha val="666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1827466" cy="110339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ct val="150000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1451429"/>
            <a:ext cx="3142484" cy="4731658"/>
            <a:chOff x="0" y="0"/>
            <a:chExt cx="1241475" cy="158079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41475" cy="1580791"/>
            </a:xfrm>
            <a:custGeom>
              <a:avLst/>
              <a:gdLst/>
              <a:ahLst/>
              <a:cxnLst/>
              <a:rect l="l" t="t" r="r" b="b"/>
              <a:pathLst>
                <a:path w="1241475" h="1580791">
                  <a:moveTo>
                    <a:pt x="0" y="0"/>
                  </a:moveTo>
                  <a:lnTo>
                    <a:pt x="1241475" y="0"/>
                  </a:lnTo>
                  <a:lnTo>
                    <a:pt x="1241475" y="1580791"/>
                  </a:lnTo>
                  <a:lnTo>
                    <a:pt x="0" y="1580791"/>
                  </a:lnTo>
                  <a:close/>
                </a:path>
              </a:pathLst>
            </a:custGeom>
            <a:solidFill>
              <a:srgbClr val="0246A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241475" cy="16284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70"/>
                </a:lnSpc>
              </a:pPr>
              <a:endParaRPr sz="12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103105" y="0"/>
            <a:ext cx="88895" cy="6858000"/>
            <a:chOff x="0" y="0"/>
            <a:chExt cx="121127" cy="93445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1127" cy="9344557"/>
            </a:xfrm>
            <a:custGeom>
              <a:avLst/>
              <a:gdLst/>
              <a:ahLst/>
              <a:cxnLst/>
              <a:rect l="l" t="t" r="r" b="b"/>
              <a:pathLst>
                <a:path w="121127" h="9344557">
                  <a:moveTo>
                    <a:pt x="0" y="0"/>
                  </a:moveTo>
                  <a:lnTo>
                    <a:pt x="121127" y="0"/>
                  </a:lnTo>
                  <a:lnTo>
                    <a:pt x="121127" y="9344557"/>
                  </a:lnTo>
                  <a:lnTo>
                    <a:pt x="0" y="9344557"/>
                  </a:lnTo>
                  <a:close/>
                </a:path>
              </a:pathLst>
            </a:custGeom>
            <a:solidFill>
              <a:srgbClr val="0246A5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21127" cy="934455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90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201692" y="1975780"/>
            <a:ext cx="3232594" cy="455596"/>
            <a:chOff x="0" y="0"/>
            <a:chExt cx="857409" cy="17998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57409" cy="179989"/>
            </a:xfrm>
            <a:custGeom>
              <a:avLst/>
              <a:gdLst/>
              <a:ahLst/>
              <a:cxnLst/>
              <a:rect l="l" t="t" r="r" b="b"/>
              <a:pathLst>
                <a:path w="857409" h="179989">
                  <a:moveTo>
                    <a:pt x="0" y="0"/>
                  </a:moveTo>
                  <a:lnTo>
                    <a:pt x="857409" y="0"/>
                  </a:lnTo>
                  <a:lnTo>
                    <a:pt x="857409" y="179989"/>
                  </a:lnTo>
                  <a:lnTo>
                    <a:pt x="0" y="179989"/>
                  </a:lnTo>
                  <a:close/>
                </a:path>
              </a:pathLst>
            </a:custGeom>
            <a:solidFill>
              <a:srgbClr val="0246A5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857409" cy="22761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70"/>
                </a:lnSpc>
              </a:pPr>
              <a:endParaRPr sz="1200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306604" y="3828063"/>
            <a:ext cx="5509823" cy="11971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rgbClr val="1E1E1E"/>
                </a:solidFill>
                <a:latin typeface="+mn-ea"/>
                <a:cs typeface="思源黑体 2" panose="020B0500000000000000" charset="-122"/>
                <a:sym typeface="思源黑体 2" panose="020B0500000000000000" charset="-122"/>
              </a:rPr>
              <a:t>若某请求与窗口内其他请求越不相似，则该特征上的异常分数越高。</a:t>
            </a:r>
          </a:p>
          <a:p>
            <a:pPr marL="285750" indent="-28575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rgbClr val="1E1E1E"/>
                </a:solidFill>
                <a:latin typeface="+mn-ea"/>
                <a:cs typeface="思源黑体 2" panose="020B0500000000000000" charset="-122"/>
                <a:sym typeface="思源黑体 2" panose="020B0500000000000000" charset="-122"/>
              </a:rPr>
              <a:t>所有特征的异常分数拼接为多维异常向量。</a:t>
            </a:r>
            <a:endParaRPr lang="en-US" dirty="0">
              <a:solidFill>
                <a:srgbClr val="1E1E1E"/>
              </a:solidFill>
              <a:latin typeface="+mn-ea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306604" y="2010547"/>
            <a:ext cx="2837396" cy="335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  <a:spcBef>
                <a:spcPct val="0"/>
              </a:spcBef>
            </a:pPr>
            <a:r>
              <a:rPr lang="zh-CN" altLang="en-US" sz="1867" b="1" dirty="0">
                <a:solidFill>
                  <a:srgbClr val="FFFFFF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从相似度到异常分数</a:t>
            </a:r>
            <a:endParaRPr lang="en-US" sz="1867" b="1" dirty="0">
              <a:solidFill>
                <a:srgbClr val="FFFFFF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31187159-002A-4DB8-417B-253D857BA37E}"/>
              </a:ext>
            </a:extLst>
          </p:cNvPr>
          <p:cNvSpPr txBox="1"/>
          <p:nvPr/>
        </p:nvSpPr>
        <p:spPr>
          <a:xfrm>
            <a:off x="490601" y="360355"/>
            <a:ext cx="4978537" cy="509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60"/>
              </a:lnSpc>
              <a:spcBef>
                <a:spcPct val="0"/>
              </a:spcBef>
            </a:pPr>
            <a:r>
              <a:rPr lang="en-US" altLang="zh-CN" sz="3467" b="1" dirty="0">
                <a:solidFill>
                  <a:srgbClr val="100F0D"/>
                </a:solidFill>
                <a:latin typeface="思源黑体 2 Heavy" panose="020B0A00000000000000" charset="-122"/>
                <a:ea typeface="思源黑体 2 Heavy" panose="020B0A00000000000000" charset="-122"/>
                <a:cs typeface="思源黑体 2 Heavy" panose="020B0A00000000000000" charset="-122"/>
                <a:sym typeface="思源黑体 2 Heavy" panose="020B0A00000000000000" charset="-122"/>
              </a:rPr>
              <a:t>2-6 </a:t>
            </a:r>
            <a:r>
              <a:rPr lang="zh-CN" altLang="en-US" sz="3467" b="1" dirty="0">
                <a:solidFill>
                  <a:srgbClr val="100F0D"/>
                </a:solidFill>
                <a:latin typeface="思源黑体 2 Heavy" panose="020B0A00000000000000" charset="-122"/>
                <a:ea typeface="思源黑体 2 Heavy" panose="020B0A00000000000000" charset="-122"/>
                <a:cs typeface="思源黑体 2 Heavy" panose="020B0A00000000000000" charset="-122"/>
                <a:sym typeface="思源黑体 2 Heavy" panose="020B0A00000000000000" charset="-122"/>
              </a:rPr>
              <a:t>异常向量构建</a:t>
            </a:r>
            <a:endParaRPr lang="en-US" altLang="zh-CN" sz="3467" b="1" dirty="0">
              <a:solidFill>
                <a:srgbClr val="100F0D"/>
              </a:solidFill>
              <a:latin typeface="思源黑体 2 Heavy" panose="020B0A00000000000000" charset="-122"/>
              <a:ea typeface="思源黑体 2 Heavy" panose="020B0A00000000000000" charset="-122"/>
              <a:cs typeface="思源黑体 2 Heavy" panose="020B0A00000000000000" charset="-122"/>
              <a:sym typeface="思源黑体 2 Heavy" panose="020B0A00000000000000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D579591-2886-A147-1B58-081F16BDE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83" y="1877152"/>
            <a:ext cx="5571759" cy="380854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552A02C-5601-DF31-C5CB-EE056EB23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9383" y="2795704"/>
            <a:ext cx="5547514" cy="71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888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 rot="-10800000">
            <a:off x="5417969" y="1513506"/>
            <a:ext cx="5945351" cy="4484665"/>
            <a:chOff x="0" y="0"/>
            <a:chExt cx="1827466" cy="107482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827466" cy="1074821"/>
            </a:xfrm>
            <a:custGeom>
              <a:avLst/>
              <a:gdLst/>
              <a:ahLst/>
              <a:cxnLst/>
              <a:rect l="l" t="t" r="r" b="b"/>
              <a:pathLst>
                <a:path w="1827466" h="1074821">
                  <a:moveTo>
                    <a:pt x="0" y="0"/>
                  </a:moveTo>
                  <a:lnTo>
                    <a:pt x="1827466" y="0"/>
                  </a:lnTo>
                  <a:lnTo>
                    <a:pt x="1827466" y="1074821"/>
                  </a:lnTo>
                  <a:lnTo>
                    <a:pt x="0" y="1074821"/>
                  </a:lnTo>
                  <a:close/>
                </a:path>
              </a:pathLst>
            </a:custGeom>
            <a:solidFill>
              <a:srgbClr val="0246A5">
                <a:alpha val="666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1827466" cy="110339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ct val="150000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1145688"/>
            <a:ext cx="3142484" cy="5491779"/>
            <a:chOff x="0" y="0"/>
            <a:chExt cx="1241475" cy="158079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41475" cy="1580791"/>
            </a:xfrm>
            <a:custGeom>
              <a:avLst/>
              <a:gdLst/>
              <a:ahLst/>
              <a:cxnLst/>
              <a:rect l="l" t="t" r="r" b="b"/>
              <a:pathLst>
                <a:path w="1241475" h="1580791">
                  <a:moveTo>
                    <a:pt x="0" y="0"/>
                  </a:moveTo>
                  <a:lnTo>
                    <a:pt x="1241475" y="0"/>
                  </a:lnTo>
                  <a:lnTo>
                    <a:pt x="1241475" y="1580791"/>
                  </a:lnTo>
                  <a:lnTo>
                    <a:pt x="0" y="1580791"/>
                  </a:lnTo>
                  <a:close/>
                </a:path>
              </a:pathLst>
            </a:custGeom>
            <a:solidFill>
              <a:srgbClr val="0246A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241475" cy="162841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70"/>
                </a:lnSpc>
              </a:pPr>
              <a:endParaRPr sz="12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103105" y="0"/>
            <a:ext cx="88895" cy="6858000"/>
            <a:chOff x="0" y="0"/>
            <a:chExt cx="121127" cy="93445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1127" cy="9344557"/>
            </a:xfrm>
            <a:custGeom>
              <a:avLst/>
              <a:gdLst/>
              <a:ahLst/>
              <a:cxnLst/>
              <a:rect l="l" t="t" r="r" b="b"/>
              <a:pathLst>
                <a:path w="121127" h="9344557">
                  <a:moveTo>
                    <a:pt x="0" y="0"/>
                  </a:moveTo>
                  <a:lnTo>
                    <a:pt x="121127" y="0"/>
                  </a:lnTo>
                  <a:lnTo>
                    <a:pt x="121127" y="9344557"/>
                  </a:lnTo>
                  <a:lnTo>
                    <a:pt x="0" y="9344557"/>
                  </a:lnTo>
                  <a:close/>
                </a:path>
              </a:pathLst>
            </a:custGeom>
            <a:solidFill>
              <a:srgbClr val="0246A5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21127" cy="934455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90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582567" y="1928155"/>
            <a:ext cx="3232594" cy="455596"/>
            <a:chOff x="0" y="0"/>
            <a:chExt cx="857409" cy="17998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57409" cy="179989"/>
            </a:xfrm>
            <a:custGeom>
              <a:avLst/>
              <a:gdLst/>
              <a:ahLst/>
              <a:cxnLst/>
              <a:rect l="l" t="t" r="r" b="b"/>
              <a:pathLst>
                <a:path w="857409" h="179989">
                  <a:moveTo>
                    <a:pt x="0" y="0"/>
                  </a:moveTo>
                  <a:lnTo>
                    <a:pt x="857409" y="0"/>
                  </a:lnTo>
                  <a:lnTo>
                    <a:pt x="857409" y="179989"/>
                  </a:lnTo>
                  <a:lnTo>
                    <a:pt x="0" y="179989"/>
                  </a:lnTo>
                  <a:close/>
                </a:path>
              </a:pathLst>
            </a:custGeom>
            <a:solidFill>
              <a:srgbClr val="0246A5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857409" cy="22761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70"/>
                </a:lnSpc>
              </a:pPr>
              <a:endParaRPr sz="1200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5687479" y="3636622"/>
            <a:ext cx="5509823" cy="16126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b="0" i="0" dirty="0">
                <a:solidFill>
                  <a:srgbClr val="17324D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不同 </a:t>
            </a:r>
            <a:r>
              <a:rPr lang="en-US" altLang="zh-CN" b="0" i="0" dirty="0">
                <a:solidFill>
                  <a:srgbClr val="17324D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API </a:t>
            </a:r>
            <a:r>
              <a:rPr lang="zh-CN" altLang="en-US" b="0" i="0" dirty="0">
                <a:solidFill>
                  <a:srgbClr val="17324D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的正常波动范围不同。文件上传 </a:t>
            </a:r>
            <a:r>
              <a:rPr lang="en-US" altLang="zh-CN" b="0" i="0" dirty="0">
                <a:solidFill>
                  <a:srgbClr val="17324D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API </a:t>
            </a:r>
            <a:r>
              <a:rPr lang="zh-CN" altLang="en-US" b="0" i="0" dirty="0">
                <a:solidFill>
                  <a:srgbClr val="17324D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的正常行为差异可能远大于状态查询 </a:t>
            </a:r>
            <a:r>
              <a:rPr lang="en-US" altLang="zh-CN" b="0" i="0" dirty="0">
                <a:solidFill>
                  <a:srgbClr val="17324D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API</a:t>
            </a:r>
            <a:r>
              <a:rPr lang="zh-CN" altLang="en-US" b="0" i="0" dirty="0">
                <a:solidFill>
                  <a:srgbClr val="17324D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b="0" i="0" dirty="0">
              <a:solidFill>
                <a:srgbClr val="17324D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en-US" altLang="zh-CN" b="1" i="0" dirty="0">
                <a:solidFill>
                  <a:srgbClr val="17324D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D</a:t>
            </a:r>
            <a:r>
              <a:rPr lang="en-US" altLang="zh-CN" b="1" i="0" baseline="-25000" dirty="0">
                <a:solidFill>
                  <a:srgbClr val="17324D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i</a:t>
            </a:r>
            <a:r>
              <a:rPr lang="zh-CN" altLang="en-US" b="1" i="0" dirty="0">
                <a:solidFill>
                  <a:srgbClr val="17324D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b="1" i="0" dirty="0">
                <a:solidFill>
                  <a:srgbClr val="17324D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&gt; Θ</a:t>
            </a:r>
            <a:r>
              <a:rPr lang="zh-CN" altLang="en-US" b="0" i="0" dirty="0">
                <a:solidFill>
                  <a:srgbClr val="17324D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时判为异常。通过 </a:t>
            </a:r>
            <a:r>
              <a:rPr lang="en-US" altLang="zh-CN" b="0" i="0" dirty="0">
                <a:solidFill>
                  <a:srgbClr val="17324D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API </a:t>
            </a:r>
            <a:r>
              <a:rPr lang="zh-CN" altLang="en-US" b="0" i="0" dirty="0">
                <a:solidFill>
                  <a:srgbClr val="17324D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内归一化，不同 </a:t>
            </a:r>
            <a:r>
              <a:rPr lang="en-US" altLang="zh-CN" b="0" i="0" dirty="0">
                <a:solidFill>
                  <a:srgbClr val="17324D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API </a:t>
            </a:r>
            <a:r>
              <a:rPr lang="zh-CN" altLang="en-US" b="0" i="0" dirty="0">
                <a:solidFill>
                  <a:srgbClr val="17324D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可共享一个全局阈值。</a:t>
            </a:r>
            <a:endParaRPr lang="en-US" dirty="0">
              <a:solidFill>
                <a:srgbClr val="1E1E1E"/>
              </a:solidFill>
              <a:latin typeface="+mn-ea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5687479" y="1962922"/>
            <a:ext cx="2837396" cy="335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  <a:spcBef>
                <a:spcPct val="0"/>
              </a:spcBef>
            </a:pPr>
            <a:r>
              <a:rPr lang="zh-CN" altLang="en-US" sz="1867" b="1" dirty="0">
                <a:solidFill>
                  <a:srgbClr val="FFFFFF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为什么需要归一化？</a:t>
            </a:r>
            <a:endParaRPr lang="en-US" sz="1867" b="1" dirty="0">
              <a:solidFill>
                <a:srgbClr val="FFFFFF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31187159-002A-4DB8-417B-253D857BA37E}"/>
              </a:ext>
            </a:extLst>
          </p:cNvPr>
          <p:cNvSpPr txBox="1"/>
          <p:nvPr/>
        </p:nvSpPr>
        <p:spPr>
          <a:xfrm>
            <a:off x="490601" y="360355"/>
            <a:ext cx="6148324" cy="509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160"/>
              </a:lnSpc>
              <a:spcBef>
                <a:spcPct val="0"/>
              </a:spcBef>
            </a:pPr>
            <a:r>
              <a:rPr lang="en-US" altLang="zh-CN" sz="3467" b="1" dirty="0">
                <a:solidFill>
                  <a:srgbClr val="100F0D"/>
                </a:solidFill>
                <a:latin typeface="思源黑体 2 Heavy" panose="020B0A00000000000000" charset="-122"/>
                <a:ea typeface="思源黑体 2 Heavy" panose="020B0A00000000000000" charset="-122"/>
                <a:cs typeface="思源黑体 2 Heavy" panose="020B0A00000000000000" charset="-122"/>
                <a:sym typeface="思源黑体 2 Heavy" panose="020B0A00000000000000" charset="-122"/>
              </a:rPr>
              <a:t>2-7 </a:t>
            </a:r>
            <a:r>
              <a:rPr lang="zh-CN" altLang="en-US" sz="3467" b="1" dirty="0">
                <a:solidFill>
                  <a:srgbClr val="100F0D"/>
                </a:solidFill>
                <a:latin typeface="思源黑体 2 Heavy" panose="020B0A00000000000000" charset="-122"/>
                <a:ea typeface="思源黑体 2 Heavy" panose="020B0A00000000000000" charset="-122"/>
                <a:cs typeface="思源黑体 2 Heavy" panose="020B0A00000000000000" charset="-122"/>
                <a:sym typeface="思源黑体 2 Heavy" panose="020B0A00000000000000" charset="-122"/>
              </a:rPr>
              <a:t>自适应归一化与异常判定</a:t>
            </a:r>
            <a:endParaRPr lang="en-US" altLang="zh-CN" sz="3467" b="1" dirty="0">
              <a:solidFill>
                <a:srgbClr val="100F0D"/>
              </a:solidFill>
              <a:latin typeface="思源黑体 2 Heavy" panose="020B0A00000000000000" charset="-122"/>
              <a:ea typeface="思源黑体 2 Heavy" panose="020B0A00000000000000" charset="-122"/>
              <a:cs typeface="思源黑体 2 Heavy" panose="020B0A00000000000000" charset="-122"/>
              <a:sym typeface="思源黑体 2 Heavy" panose="020B0A00000000000000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E2D30CA-86BE-0B7F-AB2B-64091FEF8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016" y="2772529"/>
            <a:ext cx="2733695" cy="61913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D783FB5-28E1-35E5-033D-8E34EA6BC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9783" y="2778048"/>
            <a:ext cx="1914539" cy="65723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402BD24-27C9-34F2-0827-6835A1730A8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596" r="2218"/>
          <a:stretch/>
        </p:blipFill>
        <p:spPr>
          <a:xfrm>
            <a:off x="708120" y="3870797"/>
            <a:ext cx="4543831" cy="2466993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FB8457F4-1478-A4E4-5DB5-9C801B5A037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39" r="49596"/>
          <a:stretch/>
        </p:blipFill>
        <p:spPr>
          <a:xfrm>
            <a:off x="708120" y="1403804"/>
            <a:ext cx="4523052" cy="2466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529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2103105" y="0"/>
            <a:ext cx="88895" cy="6858000"/>
            <a:chOff x="0" y="0"/>
            <a:chExt cx="121127" cy="93445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1127" cy="9344557"/>
            </a:xfrm>
            <a:custGeom>
              <a:avLst/>
              <a:gdLst/>
              <a:ahLst/>
              <a:cxnLst/>
              <a:rect l="l" t="t" r="r" b="b"/>
              <a:pathLst>
                <a:path w="121127" h="9344557">
                  <a:moveTo>
                    <a:pt x="0" y="0"/>
                  </a:moveTo>
                  <a:lnTo>
                    <a:pt x="121127" y="0"/>
                  </a:lnTo>
                  <a:lnTo>
                    <a:pt x="121127" y="9344557"/>
                  </a:lnTo>
                  <a:lnTo>
                    <a:pt x="0" y="9344557"/>
                  </a:lnTo>
                  <a:close/>
                </a:path>
              </a:pathLst>
            </a:custGeom>
            <a:solidFill>
              <a:srgbClr val="0246A5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21127" cy="934455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9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23" name="TextBox 23">
            <a:extLst>
              <a:ext uri="{FF2B5EF4-FFF2-40B4-BE49-F238E27FC236}">
                <a16:creationId xmlns:a16="http://schemas.microsoft.com/office/drawing/2014/main" id="{31187159-002A-4DB8-417B-253D857BA37E}"/>
              </a:ext>
            </a:extLst>
          </p:cNvPr>
          <p:cNvSpPr txBox="1"/>
          <p:nvPr/>
        </p:nvSpPr>
        <p:spPr>
          <a:xfrm>
            <a:off x="490601" y="360355"/>
            <a:ext cx="6148324" cy="509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160"/>
              </a:lnSpc>
              <a:spcBef>
                <a:spcPct val="0"/>
              </a:spcBef>
            </a:pPr>
            <a:r>
              <a:rPr lang="en-US" altLang="zh-CN" sz="3467" b="1" dirty="0">
                <a:solidFill>
                  <a:srgbClr val="100F0D"/>
                </a:solidFill>
                <a:latin typeface="思源黑体 2 Heavy" panose="020B0A00000000000000" charset="-122"/>
                <a:ea typeface="思源黑体 2 Heavy" panose="020B0A00000000000000" charset="-122"/>
                <a:cs typeface="思源黑体 2 Heavy" panose="020B0A00000000000000" charset="-122"/>
                <a:sym typeface="思源黑体 2 Heavy" panose="020B0A00000000000000" charset="-122"/>
              </a:rPr>
              <a:t>2-8 </a:t>
            </a:r>
            <a:r>
              <a:rPr lang="zh-CN" altLang="en-US" sz="3467" b="1" dirty="0">
                <a:solidFill>
                  <a:srgbClr val="100F0D"/>
                </a:solidFill>
                <a:latin typeface="思源黑体 2 Heavy" panose="020B0A00000000000000" charset="-122"/>
                <a:ea typeface="思源黑体 2 Heavy" panose="020B0A00000000000000" charset="-122"/>
                <a:cs typeface="思源黑体 2 Heavy" panose="020B0A00000000000000" charset="-122"/>
                <a:sym typeface="思源黑体 2 Heavy" panose="020B0A00000000000000" charset="-122"/>
              </a:rPr>
              <a:t>滑动窗口管理与抗投毒机制</a:t>
            </a:r>
            <a:endParaRPr lang="en-US" altLang="zh-CN" sz="3467" b="1" dirty="0">
              <a:solidFill>
                <a:srgbClr val="100F0D"/>
              </a:solidFill>
              <a:latin typeface="思源黑体 2 Heavy" panose="020B0A00000000000000" charset="-122"/>
              <a:ea typeface="思源黑体 2 Heavy" panose="020B0A00000000000000" charset="-122"/>
              <a:cs typeface="思源黑体 2 Heavy" panose="020B0A00000000000000" charset="-122"/>
              <a:sym typeface="思源黑体 2 Heavy" panose="020B0A00000000000000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38C54C5-C500-8634-6708-DC0FF0BAC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18" y="1576549"/>
            <a:ext cx="10095218" cy="129540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6626DBA-7F8B-FD9A-49D5-43E178E50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47" y="3100380"/>
            <a:ext cx="11020506" cy="1952639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5269E7A8-1131-1A02-4F85-67CE2B11B07A}"/>
              </a:ext>
            </a:extLst>
          </p:cNvPr>
          <p:cNvSpPr txBox="1"/>
          <p:nvPr/>
        </p:nvSpPr>
        <p:spPr>
          <a:xfrm>
            <a:off x="1328737" y="5600836"/>
            <a:ext cx="95345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i="0" dirty="0">
                <a:solidFill>
                  <a:srgbClr val="143E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抗投毒的关键：只有通过当前基线验证的请求，才会成为下一轮参考。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307276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2103105" y="0"/>
            <a:ext cx="88895" cy="6858000"/>
            <a:chOff x="0" y="0"/>
            <a:chExt cx="121127" cy="93445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1127" cy="9344557"/>
            </a:xfrm>
            <a:custGeom>
              <a:avLst/>
              <a:gdLst/>
              <a:ahLst/>
              <a:cxnLst/>
              <a:rect l="l" t="t" r="r" b="b"/>
              <a:pathLst>
                <a:path w="121127" h="9344557">
                  <a:moveTo>
                    <a:pt x="0" y="0"/>
                  </a:moveTo>
                  <a:lnTo>
                    <a:pt x="121127" y="0"/>
                  </a:lnTo>
                  <a:lnTo>
                    <a:pt x="121127" y="9344557"/>
                  </a:lnTo>
                  <a:lnTo>
                    <a:pt x="0" y="9344557"/>
                  </a:lnTo>
                  <a:close/>
                </a:path>
              </a:pathLst>
            </a:custGeom>
            <a:solidFill>
              <a:srgbClr val="0246A5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21127" cy="934455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9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23" name="TextBox 23">
            <a:extLst>
              <a:ext uri="{FF2B5EF4-FFF2-40B4-BE49-F238E27FC236}">
                <a16:creationId xmlns:a16="http://schemas.microsoft.com/office/drawing/2014/main" id="{31187159-002A-4DB8-417B-253D857BA37E}"/>
              </a:ext>
            </a:extLst>
          </p:cNvPr>
          <p:cNvSpPr txBox="1"/>
          <p:nvPr/>
        </p:nvSpPr>
        <p:spPr>
          <a:xfrm>
            <a:off x="490601" y="360355"/>
            <a:ext cx="6148324" cy="509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160"/>
              </a:lnSpc>
              <a:spcBef>
                <a:spcPct val="0"/>
              </a:spcBef>
            </a:pPr>
            <a:r>
              <a:rPr lang="en-US" altLang="zh-CN" sz="3467" b="1" dirty="0">
                <a:solidFill>
                  <a:srgbClr val="100F0D"/>
                </a:solidFill>
                <a:latin typeface="思源黑体 2 Heavy" panose="020B0A00000000000000" charset="-122"/>
                <a:ea typeface="思源黑体 2 Heavy" panose="020B0A00000000000000" charset="-122"/>
                <a:cs typeface="思源黑体 2 Heavy" panose="020B0A00000000000000" charset="-122"/>
                <a:sym typeface="思源黑体 2 Heavy" panose="020B0A00000000000000" charset="-122"/>
              </a:rPr>
              <a:t>2-9 </a:t>
            </a:r>
            <a:r>
              <a:rPr lang="zh-CN" altLang="en-US" sz="3467" b="1" dirty="0">
                <a:solidFill>
                  <a:srgbClr val="100F0D"/>
                </a:solidFill>
                <a:latin typeface="思源黑体 2 Heavy" panose="020B0A00000000000000" charset="-122"/>
                <a:ea typeface="思源黑体 2 Heavy" panose="020B0A00000000000000" charset="-122"/>
                <a:cs typeface="思源黑体 2 Heavy" panose="020B0A00000000000000" charset="-122"/>
                <a:sym typeface="思源黑体 2 Heavy" panose="020B0A00000000000000" charset="-122"/>
              </a:rPr>
              <a:t>增量相似度计算与性能优化</a:t>
            </a:r>
            <a:endParaRPr lang="en-US" altLang="zh-CN" sz="3467" b="1" dirty="0">
              <a:solidFill>
                <a:srgbClr val="100F0D"/>
              </a:solidFill>
              <a:latin typeface="思源黑体 2 Heavy" panose="020B0A00000000000000" charset="-122"/>
              <a:ea typeface="思源黑体 2 Heavy" panose="020B0A00000000000000" charset="-122"/>
              <a:cs typeface="思源黑体 2 Heavy" panose="020B0A00000000000000" charset="-122"/>
              <a:sym typeface="思源黑体 2 Heavy" panose="020B0A00000000000000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205E284-4341-B3FF-7598-1F9891942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01" y="1290626"/>
            <a:ext cx="11068131" cy="320994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E9D8F29-6878-CD6C-5190-977D1657B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701" y="4921090"/>
            <a:ext cx="11030031" cy="1009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854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2103105" y="0"/>
            <a:ext cx="88895" cy="6858000"/>
            <a:chOff x="0" y="0"/>
            <a:chExt cx="121127" cy="93445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1127" cy="9344557"/>
            </a:xfrm>
            <a:custGeom>
              <a:avLst/>
              <a:gdLst/>
              <a:ahLst/>
              <a:cxnLst/>
              <a:rect l="l" t="t" r="r" b="b"/>
              <a:pathLst>
                <a:path w="121127" h="9344557">
                  <a:moveTo>
                    <a:pt x="0" y="0"/>
                  </a:moveTo>
                  <a:lnTo>
                    <a:pt x="121127" y="0"/>
                  </a:lnTo>
                  <a:lnTo>
                    <a:pt x="121127" y="9344557"/>
                  </a:lnTo>
                  <a:lnTo>
                    <a:pt x="0" y="9344557"/>
                  </a:lnTo>
                  <a:close/>
                </a:path>
              </a:pathLst>
            </a:custGeom>
            <a:solidFill>
              <a:srgbClr val="0246A5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21127" cy="934455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9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23" name="TextBox 23">
            <a:extLst>
              <a:ext uri="{FF2B5EF4-FFF2-40B4-BE49-F238E27FC236}">
                <a16:creationId xmlns:a16="http://schemas.microsoft.com/office/drawing/2014/main" id="{31187159-002A-4DB8-417B-253D857BA37E}"/>
              </a:ext>
            </a:extLst>
          </p:cNvPr>
          <p:cNvSpPr txBox="1"/>
          <p:nvPr/>
        </p:nvSpPr>
        <p:spPr>
          <a:xfrm>
            <a:off x="490600" y="360355"/>
            <a:ext cx="6862699" cy="509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160"/>
              </a:lnSpc>
              <a:spcBef>
                <a:spcPct val="0"/>
              </a:spcBef>
            </a:pPr>
            <a:r>
              <a:rPr lang="en-US" altLang="zh-CN" sz="3467" b="1" dirty="0">
                <a:solidFill>
                  <a:srgbClr val="100F0D"/>
                </a:solidFill>
                <a:latin typeface="思源黑体 2 Heavy" panose="020B0A00000000000000" charset="-122"/>
                <a:ea typeface="思源黑体 2 Heavy" panose="020B0A00000000000000" charset="-122"/>
                <a:cs typeface="思源黑体 2 Heavy" panose="020B0A00000000000000" charset="-122"/>
                <a:sym typeface="思源黑体 2 Heavy" panose="020B0A00000000000000" charset="-122"/>
              </a:rPr>
              <a:t>2-10 </a:t>
            </a:r>
            <a:r>
              <a:rPr lang="zh-CN" altLang="en-US" sz="3467" b="1" dirty="0">
                <a:solidFill>
                  <a:srgbClr val="100F0D"/>
                </a:solidFill>
                <a:latin typeface="思源黑体 2 Heavy" panose="020B0A00000000000000" charset="-122"/>
                <a:ea typeface="思源黑体 2 Heavy" panose="020B0A00000000000000" charset="-122"/>
                <a:cs typeface="思源黑体 2 Heavy" panose="020B0A00000000000000" charset="-122"/>
                <a:sym typeface="思源黑体 2 Heavy" panose="020B0A00000000000000" charset="-122"/>
              </a:rPr>
              <a:t>应用更新后的基线适应机制</a:t>
            </a:r>
            <a:endParaRPr lang="en-US" altLang="zh-CN" sz="3467" b="1" dirty="0">
              <a:solidFill>
                <a:srgbClr val="100F0D"/>
              </a:solidFill>
              <a:latin typeface="思源黑体 2 Heavy" panose="020B0A00000000000000" charset="-122"/>
              <a:ea typeface="思源黑体 2 Heavy" panose="020B0A00000000000000" charset="-122"/>
              <a:cs typeface="思源黑体 2 Heavy" panose="020B0A00000000000000" charset="-122"/>
              <a:sym typeface="思源黑体 2 Heavy" panose="020B0A00000000000000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C7594E9-9D46-1599-B4E2-796B5F543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09" y="1838313"/>
            <a:ext cx="11239582" cy="318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888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714604" y="0"/>
            <a:ext cx="5477397" cy="6858001"/>
            <a:chOff x="0" y="0"/>
            <a:chExt cx="1272888" cy="15937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72888" cy="1593726"/>
            </a:xfrm>
            <a:custGeom>
              <a:avLst/>
              <a:gdLst/>
              <a:ahLst/>
              <a:cxnLst/>
              <a:rect l="l" t="t" r="r" b="b"/>
              <a:pathLst>
                <a:path w="1272888" h="1713909">
                  <a:moveTo>
                    <a:pt x="0" y="0"/>
                  </a:moveTo>
                  <a:lnTo>
                    <a:pt x="1272888" y="0"/>
                  </a:lnTo>
                  <a:lnTo>
                    <a:pt x="1272888" y="1713909"/>
                  </a:lnTo>
                  <a:lnTo>
                    <a:pt x="0" y="1713909"/>
                  </a:lnTo>
                  <a:close/>
                </a:path>
              </a:pathLst>
            </a:custGeom>
            <a:blipFill>
              <a:blip r:embed="rId2"/>
              <a:stretch>
                <a:fillRect l="-3770" t="-21377" r="-3770" b="-754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714604" y="0"/>
            <a:ext cx="5044161" cy="6858000"/>
            <a:chOff x="0" y="0"/>
            <a:chExt cx="1992755" cy="27093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92755" cy="2709333"/>
            </a:xfrm>
            <a:custGeom>
              <a:avLst/>
              <a:gdLst/>
              <a:ahLst/>
              <a:cxnLst/>
              <a:rect l="l" t="t" r="r" b="b"/>
              <a:pathLst>
                <a:path w="1992755" h="2709333">
                  <a:moveTo>
                    <a:pt x="0" y="0"/>
                  </a:moveTo>
                  <a:lnTo>
                    <a:pt x="1992755" y="0"/>
                  </a:lnTo>
                  <a:lnTo>
                    <a:pt x="1992755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246A5">
                    <a:alpha val="100000"/>
                  </a:srgbClr>
                </a:gs>
                <a:gs pos="50000">
                  <a:srgbClr val="0246A5">
                    <a:alpha val="69500"/>
                  </a:srgbClr>
                </a:gs>
                <a:gs pos="100000">
                  <a:srgbClr val="0246A5">
                    <a:alpha val="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992755" cy="274743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62434" y="2221948"/>
            <a:ext cx="1862537" cy="459202"/>
            <a:chOff x="0" y="0"/>
            <a:chExt cx="812800" cy="2003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200393"/>
            </a:xfrm>
            <a:custGeom>
              <a:avLst/>
              <a:gdLst/>
              <a:ahLst/>
              <a:cxnLst/>
              <a:rect l="l" t="t" r="r" b="b"/>
              <a:pathLst>
                <a:path w="812800" h="200393">
                  <a:moveTo>
                    <a:pt x="0" y="0"/>
                  </a:moveTo>
                  <a:lnTo>
                    <a:pt x="812800" y="0"/>
                  </a:lnTo>
                  <a:lnTo>
                    <a:pt x="812800" y="200393"/>
                  </a:lnTo>
                  <a:lnTo>
                    <a:pt x="0" y="200393"/>
                  </a:lnTo>
                  <a:close/>
                </a:path>
              </a:pathLst>
            </a:custGeom>
            <a:solidFill>
              <a:srgbClr val="0246A5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812800" cy="24801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70"/>
                </a:lnSpc>
              </a:pPr>
              <a:endParaRPr sz="1200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62434" y="2734913"/>
            <a:ext cx="5095855" cy="847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27"/>
              </a:lnSpc>
              <a:spcBef>
                <a:spcPct val="0"/>
              </a:spcBef>
            </a:pPr>
            <a:r>
              <a:rPr lang="zh-CN" altLang="en-US" sz="5400" b="1" dirty="0">
                <a:solidFill>
                  <a:srgbClr val="1E1E1E"/>
                </a:solidFill>
                <a:latin typeface="思源黑体 1 Heavy" panose="020B0A00000000000000" charset="-122"/>
                <a:ea typeface="思源黑体 1 Heavy" panose="020B0A00000000000000" charset="-122"/>
                <a:cs typeface="思源黑体 1 Heavy" panose="020B0A00000000000000" charset="-122"/>
                <a:sym typeface="思源黑体 1 Heavy" panose="020B0A00000000000000" charset="-122"/>
              </a:rPr>
              <a:t>研究结果</a:t>
            </a:r>
            <a:endParaRPr lang="en-US" sz="5400" b="1" dirty="0">
              <a:solidFill>
                <a:srgbClr val="1E1E1E"/>
              </a:solidFill>
              <a:latin typeface="思源黑体 1 Heavy" panose="020B0A00000000000000" charset="-122"/>
              <a:ea typeface="思源黑体 1 Heavy" panose="020B0A00000000000000" charset="-122"/>
              <a:cs typeface="思源黑体 1 Heavy" panose="020B0A00000000000000" charset="-122"/>
              <a:sym typeface="思源黑体 1 Heavy" panose="020B0A00000000000000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84598" y="2245520"/>
            <a:ext cx="1618210" cy="346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3"/>
              </a:lnSpc>
              <a:spcBef>
                <a:spcPct val="0"/>
              </a:spcBef>
            </a:pPr>
            <a:r>
              <a:rPr lang="en-US" sz="2200" b="1">
                <a:solidFill>
                  <a:srgbClr val="FFFFFF"/>
                </a:solidFill>
                <a:latin typeface="思源黑体 1 Medium" panose="020B0600000000000000" charset="-122"/>
                <a:ea typeface="思源黑体 1 Medium" panose="020B0600000000000000" charset="-122"/>
                <a:cs typeface="思源黑体 1 Medium" panose="020B0600000000000000" charset="-122"/>
                <a:sym typeface="思源黑体 1 Medium" panose="020B0600000000000000" charset="-122"/>
              </a:rPr>
              <a:t>第三章节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631647" y="1444276"/>
            <a:ext cx="3643311" cy="3420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8"/>
              </a:lnSpc>
            </a:pPr>
            <a:r>
              <a:rPr lang="en-US" sz="22908" b="1">
                <a:solidFill>
                  <a:srgbClr val="FFFFFF"/>
                </a:solidFill>
                <a:latin typeface="Akzidenz-Grotesk Bold" panose="02000803050000020004"/>
                <a:ea typeface="Akzidenz-Grotesk Bold" panose="02000803050000020004"/>
                <a:cs typeface="Akzidenz-Grotesk Bold" panose="02000803050000020004"/>
                <a:sym typeface="Akzidenz-Grotesk Bold" panose="02000803050000020004"/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22300" y="841998"/>
            <a:ext cx="4978537" cy="509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60"/>
              </a:lnSpc>
              <a:spcBef>
                <a:spcPct val="0"/>
              </a:spcBef>
            </a:pPr>
            <a:r>
              <a:rPr lang="zh-CN" altLang="en-US" sz="3467" b="1" dirty="0">
                <a:solidFill>
                  <a:srgbClr val="100F0D"/>
                </a:solidFill>
                <a:latin typeface="思源黑体 2 Heavy" panose="020B0A00000000000000" charset="-122"/>
                <a:ea typeface="思源黑体 2 Heavy" panose="020B0A00000000000000" charset="-122"/>
                <a:cs typeface="思源黑体 2 Heavy" panose="020B0A00000000000000" charset="-122"/>
                <a:sym typeface="思源黑体 2 Heavy" panose="020B0A00000000000000" charset="-122"/>
              </a:rPr>
              <a:t>研究结果</a:t>
            </a:r>
            <a:endParaRPr lang="en-US" sz="3467" b="1" dirty="0">
              <a:solidFill>
                <a:srgbClr val="100F0D"/>
              </a:solidFill>
              <a:latin typeface="思源黑体 2 Heavy" panose="020B0A00000000000000" charset="-122"/>
              <a:ea typeface="思源黑体 2 Heavy" panose="020B0A00000000000000" charset="-122"/>
              <a:cs typeface="思源黑体 2 Heavy" panose="020B0A00000000000000" charset="-122"/>
              <a:sym typeface="思源黑体 2 Heavy" panose="020B0A00000000000000" charset="-122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622301" y="481800"/>
            <a:ext cx="1290099" cy="290158"/>
            <a:chOff x="0" y="0"/>
            <a:chExt cx="579837" cy="13041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79837" cy="130412"/>
            </a:xfrm>
            <a:custGeom>
              <a:avLst/>
              <a:gdLst/>
              <a:ahLst/>
              <a:cxnLst/>
              <a:rect l="l" t="t" r="r" b="b"/>
              <a:pathLst>
                <a:path w="579837" h="130412">
                  <a:moveTo>
                    <a:pt x="0" y="0"/>
                  </a:moveTo>
                  <a:lnTo>
                    <a:pt x="579837" y="0"/>
                  </a:lnTo>
                  <a:lnTo>
                    <a:pt x="579837" y="130412"/>
                  </a:lnTo>
                  <a:lnTo>
                    <a:pt x="0" y="130412"/>
                  </a:lnTo>
                  <a:close/>
                </a:path>
              </a:pathLst>
            </a:custGeom>
            <a:solidFill>
              <a:srgbClr val="0246A5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79837" cy="17803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70"/>
                </a:lnSpc>
              </a:pPr>
              <a:endParaRPr sz="120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37265" y="512198"/>
            <a:ext cx="1060171" cy="19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83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第三章节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2103105" y="0"/>
            <a:ext cx="88895" cy="6858000"/>
            <a:chOff x="0" y="0"/>
            <a:chExt cx="121127" cy="934455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1127" cy="9344557"/>
            </a:xfrm>
            <a:custGeom>
              <a:avLst/>
              <a:gdLst/>
              <a:ahLst/>
              <a:cxnLst/>
              <a:rect l="l" t="t" r="r" b="b"/>
              <a:pathLst>
                <a:path w="121127" h="9344557">
                  <a:moveTo>
                    <a:pt x="0" y="0"/>
                  </a:moveTo>
                  <a:lnTo>
                    <a:pt x="121127" y="0"/>
                  </a:lnTo>
                  <a:lnTo>
                    <a:pt x="121127" y="9344557"/>
                  </a:lnTo>
                  <a:lnTo>
                    <a:pt x="0" y="9344557"/>
                  </a:lnTo>
                  <a:close/>
                </a:path>
              </a:pathLst>
            </a:custGeom>
            <a:solidFill>
              <a:srgbClr val="0246A5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21127" cy="934455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90"/>
                </a:lnSpc>
                <a:spcBef>
                  <a:spcPct val="0"/>
                </a:spcBef>
              </a:pPr>
              <a:endParaRPr sz="1200"/>
            </a:p>
          </p:txBody>
        </p:sp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666" y="1993812"/>
            <a:ext cx="2013955" cy="2013955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1479705" y="2407851"/>
            <a:ext cx="1185875" cy="1185875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62CB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813"/>
                </a:lnSpc>
              </a:pPr>
              <a:endParaRPr sz="120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614701" y="2752928"/>
            <a:ext cx="915883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3"/>
              </a:lnSpc>
            </a:pPr>
            <a:r>
              <a:rPr lang="en-US" sz="2753" b="1">
                <a:solidFill>
                  <a:srgbClr val="FFFFFF"/>
                </a:solidFill>
                <a:latin typeface="Akzidenz-Grotesk Bold" panose="02000803050000020004"/>
                <a:ea typeface="Akzidenz-Grotesk Bold" panose="02000803050000020004"/>
                <a:cs typeface="Akzidenz-Grotesk Bold" panose="02000803050000020004"/>
                <a:sym typeface="Akzidenz-Grotesk Bold" panose="02000803050000020004"/>
              </a:rPr>
              <a:t>70%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79941" y="2419515"/>
            <a:ext cx="2618938" cy="335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13"/>
              </a:lnSpc>
              <a:spcBef>
                <a:spcPct val="0"/>
              </a:spcBef>
            </a:pPr>
            <a:r>
              <a:rPr lang="zh-CN" altLang="en-US" sz="1867" b="1" dirty="0">
                <a:solidFill>
                  <a:srgbClr val="1E1E1E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数据集</a:t>
            </a:r>
            <a:endParaRPr lang="en-US" sz="1867" b="1" dirty="0">
              <a:solidFill>
                <a:srgbClr val="1E1E1E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3179941" y="2812950"/>
            <a:ext cx="2618938" cy="460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03"/>
              </a:lnSpc>
            </a:pPr>
            <a:r>
              <a:rPr lang="en-US" altLang="zh-CN" sz="1133" dirty="0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16 </a:t>
            </a:r>
            <a:r>
              <a:rPr lang="zh-CN" altLang="en-US" sz="1133" dirty="0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个实验场景，覆盖 </a:t>
            </a:r>
            <a:r>
              <a:rPr lang="en-US" altLang="zh-CN" sz="1133" dirty="0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8 </a:t>
            </a:r>
            <a:r>
              <a:rPr lang="zh-CN" altLang="en-US" sz="1133" dirty="0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种 </a:t>
            </a:r>
            <a:r>
              <a:rPr lang="en-US" altLang="zh-CN" sz="1133" dirty="0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Web </a:t>
            </a:r>
            <a:r>
              <a:rPr lang="zh-CN" altLang="en-US" sz="1133" dirty="0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应用、</a:t>
            </a:r>
            <a:r>
              <a:rPr lang="en-US" altLang="zh-CN" sz="1133" dirty="0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10 </a:t>
            </a:r>
            <a:r>
              <a:rPr lang="zh-CN" altLang="en-US" sz="1133" dirty="0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个真实 </a:t>
            </a:r>
            <a:r>
              <a:rPr lang="en-US" altLang="zh-CN" sz="1133" dirty="0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CVE</a:t>
            </a:r>
            <a:r>
              <a:rPr lang="zh-CN" altLang="en-US" sz="1133" dirty="0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、</a:t>
            </a:r>
            <a:r>
              <a:rPr lang="en-US" altLang="zh-CN" sz="1133" dirty="0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4 </a:t>
            </a:r>
            <a:r>
              <a:rPr lang="zh-CN" altLang="en-US" sz="1133" dirty="0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种语言。</a:t>
            </a:r>
            <a:endParaRPr lang="en-US" sz="1133" dirty="0">
              <a:solidFill>
                <a:srgbClr val="1E1E1E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2593" y="1993812"/>
            <a:ext cx="2013955" cy="2013955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>
            <a:off x="6626631" y="2407851"/>
            <a:ext cx="1185875" cy="1185875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46A5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813"/>
                </a:lnSpc>
              </a:pPr>
              <a:endParaRPr sz="1200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761628" y="2752928"/>
            <a:ext cx="915883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3"/>
              </a:lnSpc>
            </a:pPr>
            <a:r>
              <a:rPr lang="en-US" sz="2753" b="1">
                <a:solidFill>
                  <a:srgbClr val="FFFFFF"/>
                </a:solidFill>
                <a:latin typeface="Akzidenz-Grotesk Bold" panose="02000803050000020004"/>
                <a:ea typeface="Akzidenz-Grotesk Bold" panose="02000803050000020004"/>
                <a:cs typeface="Akzidenz-Grotesk Bold" panose="02000803050000020004"/>
                <a:sym typeface="Akzidenz-Grotesk Bold" panose="02000803050000020004"/>
              </a:rPr>
              <a:t>77%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326868" y="2419515"/>
            <a:ext cx="2618938" cy="335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13"/>
              </a:lnSpc>
              <a:spcBef>
                <a:spcPct val="0"/>
              </a:spcBef>
            </a:pPr>
            <a:r>
              <a:rPr lang="zh-CN" altLang="en-US" sz="1867" b="1" dirty="0">
                <a:solidFill>
                  <a:srgbClr val="1E1E1E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对比方法</a:t>
            </a:r>
            <a:endParaRPr lang="en-US" sz="1867" b="1" dirty="0">
              <a:solidFill>
                <a:srgbClr val="1E1E1E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8337724" y="2892200"/>
            <a:ext cx="2855482" cy="2171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903"/>
              </a:lnSpc>
            </a:pPr>
            <a:r>
              <a:rPr lang="en-US" sz="1133" dirty="0">
                <a:solidFill>
                  <a:srgbClr val="1E1E1E"/>
                </a:solidFill>
                <a:latin typeface="Times New Roman" panose="02020603050405020304" pitchFamily="18" charset="0"/>
                <a:ea typeface="思源黑体 2" panose="020B0500000000000000" charset="-122"/>
                <a:cs typeface="Times New Roman" panose="02020603050405020304" pitchFamily="18" charset="0"/>
                <a:sym typeface="思源黑体 2" panose="020B0500000000000000" charset="-122"/>
              </a:rPr>
              <a:t>ReplicaWatcher、KAIROS、ProvDetector。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666" y="3933930"/>
            <a:ext cx="2013955" cy="2013955"/>
          </a:xfrm>
          <a:prstGeom prst="rect">
            <a:avLst/>
          </a:prstGeom>
        </p:spPr>
      </p:pic>
      <p:grpSp>
        <p:nvGrpSpPr>
          <p:cNvPr id="25" name="Group 25"/>
          <p:cNvGrpSpPr/>
          <p:nvPr/>
        </p:nvGrpSpPr>
        <p:grpSpPr>
          <a:xfrm>
            <a:off x="1479705" y="4347969"/>
            <a:ext cx="1185875" cy="1185875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46A5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813"/>
                </a:lnSpc>
              </a:pPr>
              <a:endParaRPr sz="1200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614701" y="4693046"/>
            <a:ext cx="915883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3"/>
              </a:lnSpc>
            </a:pPr>
            <a:r>
              <a:rPr lang="en-US" sz="2753" b="1">
                <a:solidFill>
                  <a:srgbClr val="FFFFFF"/>
                </a:solidFill>
                <a:latin typeface="Akzidenz-Grotesk Bold" panose="02000803050000020004"/>
                <a:ea typeface="Akzidenz-Grotesk Bold" panose="02000803050000020004"/>
                <a:cs typeface="Akzidenz-Grotesk Bold" panose="02000803050000020004"/>
                <a:sym typeface="Akzidenz-Grotesk Bold" panose="02000803050000020004"/>
              </a:rPr>
              <a:t>68%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179941" y="4359633"/>
            <a:ext cx="2618938" cy="335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13"/>
              </a:lnSpc>
              <a:spcBef>
                <a:spcPct val="0"/>
              </a:spcBef>
            </a:pPr>
            <a:r>
              <a:rPr lang="zh-CN" altLang="en-US" sz="1867" b="1" dirty="0">
                <a:solidFill>
                  <a:srgbClr val="1E1E1E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评价指标</a:t>
            </a:r>
            <a:endParaRPr lang="en-US" sz="1867" b="1" dirty="0">
              <a:solidFill>
                <a:srgbClr val="1E1E1E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3179613" y="4940906"/>
            <a:ext cx="2618938" cy="460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03"/>
              </a:lnSpc>
            </a:pPr>
            <a:r>
              <a:rPr lang="en-US" sz="1133" dirty="0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Attack </a:t>
            </a:r>
            <a:r>
              <a:rPr lang="en-US" sz="1133" dirty="0" err="1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Recall、Benign</a:t>
            </a:r>
            <a:r>
              <a:rPr lang="en-US" sz="1133" dirty="0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Accuracy，</a:t>
            </a:r>
            <a:r>
              <a:rPr lang="zh-CN" altLang="en-US" sz="1133" dirty="0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以及二者调和平均 </a:t>
            </a:r>
            <a:r>
              <a:rPr lang="en-US" sz="1133" dirty="0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Score。</a:t>
            </a: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2593" y="3933930"/>
            <a:ext cx="2013955" cy="2013955"/>
          </a:xfrm>
          <a:prstGeom prst="rect">
            <a:avLst/>
          </a:prstGeom>
        </p:spPr>
      </p:pic>
      <p:grpSp>
        <p:nvGrpSpPr>
          <p:cNvPr id="32" name="Group 32"/>
          <p:cNvGrpSpPr/>
          <p:nvPr/>
        </p:nvGrpSpPr>
        <p:grpSpPr>
          <a:xfrm>
            <a:off x="6626631" y="4347969"/>
            <a:ext cx="1185875" cy="1185875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62CB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813"/>
                </a:lnSpc>
              </a:pPr>
              <a:endParaRPr sz="1200"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6761628" y="4693046"/>
            <a:ext cx="915883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3"/>
              </a:lnSpc>
            </a:pPr>
            <a:r>
              <a:rPr lang="en-US" sz="2753" b="1">
                <a:solidFill>
                  <a:srgbClr val="FFFFFF"/>
                </a:solidFill>
                <a:latin typeface="Akzidenz-Grotesk Bold" panose="02000803050000020004"/>
                <a:ea typeface="Akzidenz-Grotesk Bold" panose="02000803050000020004"/>
                <a:cs typeface="Akzidenz-Grotesk Bold" panose="02000803050000020004"/>
                <a:sym typeface="Akzidenz-Grotesk Bold" panose="02000803050000020004"/>
              </a:rPr>
              <a:t>34%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26868" y="4359633"/>
            <a:ext cx="2618938" cy="335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13"/>
              </a:lnSpc>
              <a:spcBef>
                <a:spcPct val="0"/>
              </a:spcBef>
            </a:pPr>
            <a:r>
              <a:rPr lang="zh-CN" altLang="en-US" sz="1867" b="1" dirty="0">
                <a:solidFill>
                  <a:srgbClr val="1E1E1E"/>
                </a:solidFill>
                <a:latin typeface="思源黑体 2 Bold" panose="020B0800000000000000" charset="-122"/>
                <a:ea typeface="思源黑体 2 Bold" panose="020B0800000000000000" charset="-122"/>
                <a:cs typeface="思源黑体 2 Bold" panose="020B0800000000000000" charset="-122"/>
                <a:sym typeface="思源黑体 2 Bold" panose="020B0800000000000000" charset="-122"/>
              </a:rPr>
              <a:t>硬件</a:t>
            </a:r>
            <a:endParaRPr lang="en-US" sz="1867" b="1" dirty="0">
              <a:solidFill>
                <a:srgbClr val="1E1E1E"/>
              </a:solidFill>
              <a:latin typeface="思源黑体 2 Bold" panose="020B0800000000000000" charset="-122"/>
              <a:ea typeface="思源黑体 2 Bold" panose="020B0800000000000000" charset="-122"/>
              <a:cs typeface="思源黑体 2 Bold" panose="020B0800000000000000" charset="-122"/>
              <a:sym typeface="思源黑体 2 Bold" panose="020B0800000000000000" charset="-122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8337724" y="4848318"/>
            <a:ext cx="2618938" cy="460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03"/>
              </a:lnSpc>
            </a:pPr>
            <a:r>
              <a:rPr lang="zh-CN" altLang="en-US" sz="1133" dirty="0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主实验使用 </a:t>
            </a:r>
            <a:r>
              <a:rPr lang="en-US" altLang="zh-CN" sz="1133" dirty="0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Linux </a:t>
            </a:r>
            <a:r>
              <a:rPr lang="zh-CN" altLang="en-US" sz="1133" dirty="0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服务器；</a:t>
            </a:r>
            <a:r>
              <a:rPr lang="en-US" altLang="zh-CN" sz="1133" dirty="0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KAIROS </a:t>
            </a:r>
            <a:r>
              <a:rPr lang="zh-CN" altLang="en-US" sz="1133" dirty="0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训练另使用 </a:t>
            </a:r>
            <a:r>
              <a:rPr lang="en-US" altLang="zh-CN" sz="1133" dirty="0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GPU </a:t>
            </a:r>
            <a:r>
              <a:rPr lang="zh-CN" altLang="en-US" sz="1133" dirty="0">
                <a:solidFill>
                  <a:srgbClr val="1E1E1E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服务器。</a:t>
            </a:r>
            <a:endParaRPr lang="en-US" sz="1133" dirty="0">
              <a:solidFill>
                <a:srgbClr val="1E1E1E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2301" y="481800"/>
            <a:ext cx="1290099" cy="290158"/>
            <a:chOff x="0" y="0"/>
            <a:chExt cx="579837" cy="1304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9837" cy="130412"/>
            </a:xfrm>
            <a:custGeom>
              <a:avLst/>
              <a:gdLst/>
              <a:ahLst/>
              <a:cxnLst/>
              <a:rect l="l" t="t" r="r" b="b"/>
              <a:pathLst>
                <a:path w="579837" h="130412">
                  <a:moveTo>
                    <a:pt x="0" y="0"/>
                  </a:moveTo>
                  <a:lnTo>
                    <a:pt x="579837" y="0"/>
                  </a:lnTo>
                  <a:lnTo>
                    <a:pt x="579837" y="130412"/>
                  </a:lnTo>
                  <a:lnTo>
                    <a:pt x="0" y="130412"/>
                  </a:lnTo>
                  <a:close/>
                </a:path>
              </a:pathLst>
            </a:custGeom>
            <a:solidFill>
              <a:srgbClr val="0246A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79837" cy="17803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70"/>
                </a:lnSpc>
              </a:pPr>
              <a:endParaRPr sz="12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103105" y="0"/>
            <a:ext cx="88895" cy="6858000"/>
            <a:chOff x="0" y="0"/>
            <a:chExt cx="121127" cy="93445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1127" cy="9344557"/>
            </a:xfrm>
            <a:custGeom>
              <a:avLst/>
              <a:gdLst/>
              <a:ahLst/>
              <a:cxnLst/>
              <a:rect l="l" t="t" r="r" b="b"/>
              <a:pathLst>
                <a:path w="121127" h="9344557">
                  <a:moveTo>
                    <a:pt x="0" y="0"/>
                  </a:moveTo>
                  <a:lnTo>
                    <a:pt x="121127" y="0"/>
                  </a:lnTo>
                  <a:lnTo>
                    <a:pt x="121127" y="9344557"/>
                  </a:lnTo>
                  <a:lnTo>
                    <a:pt x="0" y="9344557"/>
                  </a:lnTo>
                  <a:close/>
                </a:path>
              </a:pathLst>
            </a:custGeom>
            <a:solidFill>
              <a:srgbClr val="0246A5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21127" cy="934455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9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22300" y="841998"/>
            <a:ext cx="4978537" cy="509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60"/>
              </a:lnSpc>
              <a:spcBef>
                <a:spcPct val="0"/>
              </a:spcBef>
            </a:pPr>
            <a:r>
              <a:rPr lang="zh-CN" altLang="en-US" sz="3467" b="1" dirty="0">
                <a:solidFill>
                  <a:srgbClr val="100F0D"/>
                </a:solidFill>
                <a:latin typeface="思源黑体 2 Heavy" panose="020B0A00000000000000" charset="-122"/>
                <a:ea typeface="思源黑体 2 Heavy" panose="020B0A00000000000000" charset="-122"/>
                <a:cs typeface="思源黑体 2 Heavy" panose="020B0A00000000000000" charset="-122"/>
                <a:sym typeface="思源黑体 2 Heavy" panose="020B0A00000000000000" charset="-122"/>
              </a:rPr>
              <a:t>对比实验</a:t>
            </a:r>
            <a:endParaRPr lang="en-US" sz="3467" b="1" dirty="0">
              <a:solidFill>
                <a:srgbClr val="100F0D"/>
              </a:solidFill>
              <a:latin typeface="思源黑体 2 Heavy" panose="020B0A00000000000000" charset="-122"/>
              <a:ea typeface="思源黑体 2 Heavy" panose="020B0A00000000000000" charset="-122"/>
              <a:cs typeface="思源黑体 2 Heavy" panose="020B0A00000000000000" charset="-122"/>
              <a:sym typeface="思源黑体 2 Heavy" panose="020B0A00000000000000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737265" y="512198"/>
            <a:ext cx="1060171" cy="19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83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第三章节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7C460AF6-A6D0-9ABA-795D-28F5E000C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191" y="1835818"/>
            <a:ext cx="9782247" cy="3476650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67CF49DD-C726-34C6-16E0-FD38613C1FA8}"/>
              </a:ext>
            </a:extLst>
          </p:cNvPr>
          <p:cNvSpPr txBox="1"/>
          <p:nvPr/>
        </p:nvSpPr>
        <p:spPr>
          <a:xfrm>
            <a:off x="899980" y="5566005"/>
            <a:ext cx="103920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143E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APIECHO </a:t>
            </a:r>
            <a:r>
              <a:rPr lang="zh-CN" altLang="en-US" b="1" i="0" dirty="0">
                <a:solidFill>
                  <a:srgbClr val="143E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在 </a:t>
            </a:r>
            <a:r>
              <a:rPr lang="en-US" altLang="zh-CN" b="1" i="0" dirty="0">
                <a:solidFill>
                  <a:srgbClr val="143E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8 </a:t>
            </a:r>
            <a:r>
              <a:rPr lang="zh-CN" altLang="en-US" b="1" i="0" dirty="0">
                <a:solidFill>
                  <a:srgbClr val="143E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组应用平均结果中同时保持高召回与高良性检测准确率，且不需要大规模预训练。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2301" y="481800"/>
            <a:ext cx="1290099" cy="290158"/>
            <a:chOff x="0" y="0"/>
            <a:chExt cx="579837" cy="1304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9837" cy="130412"/>
            </a:xfrm>
            <a:custGeom>
              <a:avLst/>
              <a:gdLst/>
              <a:ahLst/>
              <a:cxnLst/>
              <a:rect l="l" t="t" r="r" b="b"/>
              <a:pathLst>
                <a:path w="579837" h="130412">
                  <a:moveTo>
                    <a:pt x="0" y="0"/>
                  </a:moveTo>
                  <a:lnTo>
                    <a:pt x="579837" y="0"/>
                  </a:lnTo>
                  <a:lnTo>
                    <a:pt x="579837" y="130412"/>
                  </a:lnTo>
                  <a:lnTo>
                    <a:pt x="0" y="130412"/>
                  </a:lnTo>
                  <a:close/>
                </a:path>
              </a:pathLst>
            </a:custGeom>
            <a:solidFill>
              <a:srgbClr val="0246A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79837" cy="17803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70"/>
                </a:lnSpc>
              </a:pPr>
              <a:endParaRPr sz="12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103105" y="0"/>
            <a:ext cx="88895" cy="6858000"/>
            <a:chOff x="0" y="0"/>
            <a:chExt cx="121127" cy="93445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1127" cy="9344557"/>
            </a:xfrm>
            <a:custGeom>
              <a:avLst/>
              <a:gdLst/>
              <a:ahLst/>
              <a:cxnLst/>
              <a:rect l="l" t="t" r="r" b="b"/>
              <a:pathLst>
                <a:path w="121127" h="9344557">
                  <a:moveTo>
                    <a:pt x="0" y="0"/>
                  </a:moveTo>
                  <a:lnTo>
                    <a:pt x="121127" y="0"/>
                  </a:lnTo>
                  <a:lnTo>
                    <a:pt x="121127" y="9344557"/>
                  </a:lnTo>
                  <a:lnTo>
                    <a:pt x="0" y="9344557"/>
                  </a:lnTo>
                  <a:close/>
                </a:path>
              </a:pathLst>
            </a:custGeom>
            <a:solidFill>
              <a:srgbClr val="0246A5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21127" cy="934455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9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22301" y="877920"/>
            <a:ext cx="6409871" cy="509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160"/>
              </a:lnSpc>
              <a:spcBef>
                <a:spcPct val="0"/>
              </a:spcBef>
            </a:pPr>
            <a:r>
              <a:rPr lang="zh-CN" altLang="en-US" sz="3467" b="1" dirty="0">
                <a:solidFill>
                  <a:srgbClr val="100F0D"/>
                </a:solidFill>
                <a:latin typeface="思源黑体 2 Heavy" panose="020B0A00000000000000" charset="-122"/>
                <a:ea typeface="思源黑体 2 Heavy" panose="020B0A00000000000000" charset="-122"/>
                <a:cs typeface="思源黑体 2 Heavy" panose="020B0A00000000000000" charset="-122"/>
                <a:sym typeface="思源黑体 2 Heavy" panose="020B0A00000000000000" charset="-122"/>
              </a:rPr>
              <a:t>抗投毒能力与应用更新适应性</a:t>
            </a:r>
            <a:endParaRPr lang="en-US" sz="3467" b="1" dirty="0">
              <a:solidFill>
                <a:srgbClr val="100F0D"/>
              </a:solidFill>
              <a:latin typeface="思源黑体 2 Heavy" panose="020B0A00000000000000" charset="-122"/>
              <a:ea typeface="思源黑体 2 Heavy" panose="020B0A00000000000000" charset="-122"/>
              <a:cs typeface="思源黑体 2 Heavy" panose="020B0A00000000000000" charset="-122"/>
              <a:sym typeface="思源黑体 2 Heavy" panose="020B0A00000000000000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737265" y="512198"/>
            <a:ext cx="1060171" cy="19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83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第三章节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506E3F14-53DD-B42A-2B0D-DD8D4B35E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172" y="1691351"/>
            <a:ext cx="11077656" cy="4476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631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2301" y="481800"/>
            <a:ext cx="1290099" cy="290158"/>
            <a:chOff x="0" y="0"/>
            <a:chExt cx="579837" cy="1304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9837" cy="130412"/>
            </a:xfrm>
            <a:custGeom>
              <a:avLst/>
              <a:gdLst/>
              <a:ahLst/>
              <a:cxnLst/>
              <a:rect l="l" t="t" r="r" b="b"/>
              <a:pathLst>
                <a:path w="579837" h="130412">
                  <a:moveTo>
                    <a:pt x="0" y="0"/>
                  </a:moveTo>
                  <a:lnTo>
                    <a:pt x="579837" y="0"/>
                  </a:lnTo>
                  <a:lnTo>
                    <a:pt x="579837" y="130412"/>
                  </a:lnTo>
                  <a:lnTo>
                    <a:pt x="0" y="130412"/>
                  </a:lnTo>
                  <a:close/>
                </a:path>
              </a:pathLst>
            </a:custGeom>
            <a:solidFill>
              <a:srgbClr val="0246A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79837" cy="17803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70"/>
                </a:lnSpc>
              </a:pPr>
              <a:endParaRPr sz="12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103105" y="0"/>
            <a:ext cx="88895" cy="6858000"/>
            <a:chOff x="0" y="0"/>
            <a:chExt cx="121127" cy="93445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1127" cy="9344557"/>
            </a:xfrm>
            <a:custGeom>
              <a:avLst/>
              <a:gdLst/>
              <a:ahLst/>
              <a:cxnLst/>
              <a:rect l="l" t="t" r="r" b="b"/>
              <a:pathLst>
                <a:path w="121127" h="9344557">
                  <a:moveTo>
                    <a:pt x="0" y="0"/>
                  </a:moveTo>
                  <a:lnTo>
                    <a:pt x="121127" y="0"/>
                  </a:lnTo>
                  <a:lnTo>
                    <a:pt x="121127" y="9344557"/>
                  </a:lnTo>
                  <a:lnTo>
                    <a:pt x="0" y="9344557"/>
                  </a:lnTo>
                  <a:close/>
                </a:path>
              </a:pathLst>
            </a:custGeom>
            <a:solidFill>
              <a:srgbClr val="0246A5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21127" cy="934455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9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22300" y="841998"/>
            <a:ext cx="4978537" cy="509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60"/>
              </a:lnSpc>
              <a:spcBef>
                <a:spcPct val="0"/>
              </a:spcBef>
            </a:pPr>
            <a:r>
              <a:rPr lang="zh-CN" altLang="en-US" sz="3467" b="1" dirty="0">
                <a:solidFill>
                  <a:srgbClr val="100F0D"/>
                </a:solidFill>
                <a:latin typeface="思源黑体 2 Heavy" panose="020B0A00000000000000" charset="-122"/>
                <a:ea typeface="思源黑体 2 Heavy" panose="020B0A00000000000000" charset="-122"/>
                <a:cs typeface="思源黑体 2 Heavy" panose="020B0A00000000000000" charset="-122"/>
                <a:sym typeface="思源黑体 2 Heavy" panose="020B0A00000000000000" charset="-122"/>
              </a:rPr>
              <a:t>消融实验与系统开销</a:t>
            </a:r>
            <a:endParaRPr lang="en-US" sz="3467" b="1" dirty="0">
              <a:solidFill>
                <a:srgbClr val="100F0D"/>
              </a:solidFill>
              <a:latin typeface="思源黑体 2 Heavy" panose="020B0A00000000000000" charset="-122"/>
              <a:ea typeface="思源黑体 2 Heavy" panose="020B0A00000000000000" charset="-122"/>
              <a:cs typeface="思源黑体 2 Heavy" panose="020B0A00000000000000" charset="-122"/>
              <a:sym typeface="思源黑体 2 Heavy" panose="020B0A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37265" y="512198"/>
            <a:ext cx="1060171" cy="19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83"/>
              </a:lnSpc>
              <a:spcBef>
                <a:spcPct val="0"/>
              </a:spcBef>
            </a:pPr>
            <a:r>
              <a:rPr lang="en-US" sz="1200" dirty="0">
                <a:solidFill>
                  <a:srgbClr val="FFFFFF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第</a:t>
            </a:r>
            <a:r>
              <a:rPr lang="zh-CN" altLang="en-US" sz="1200" dirty="0">
                <a:solidFill>
                  <a:srgbClr val="FFFFFF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三</a:t>
            </a:r>
            <a:r>
              <a:rPr lang="en-US" sz="1200" dirty="0" err="1">
                <a:solidFill>
                  <a:srgbClr val="FFFFFF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章节</a:t>
            </a:r>
            <a:endParaRPr lang="en-US" sz="1200" dirty="0">
              <a:solidFill>
                <a:srgbClr val="FFFFFF"/>
              </a:solidFill>
              <a:latin typeface="思源黑体 3" panose="020B0500000000000000" charset="-122"/>
              <a:ea typeface="思源黑体 3" panose="020B0500000000000000" charset="-122"/>
              <a:cs typeface="思源黑体 3" panose="020B0500000000000000" charset="-122"/>
              <a:sym typeface="思源黑体 3" panose="020B0500000000000000" charset="-122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E44D873D-8704-7A3E-EAF7-C4368A658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172" y="1729904"/>
            <a:ext cx="11077656" cy="44577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714604" y="0"/>
            <a:ext cx="5477397" cy="7375163"/>
            <a:chOff x="0" y="0"/>
            <a:chExt cx="1272888" cy="17139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72888" cy="1713909"/>
            </a:xfrm>
            <a:custGeom>
              <a:avLst/>
              <a:gdLst/>
              <a:ahLst/>
              <a:cxnLst/>
              <a:rect l="l" t="t" r="r" b="b"/>
              <a:pathLst>
                <a:path w="1272888" h="1713909">
                  <a:moveTo>
                    <a:pt x="0" y="0"/>
                  </a:moveTo>
                  <a:lnTo>
                    <a:pt x="1272888" y="0"/>
                  </a:lnTo>
                  <a:lnTo>
                    <a:pt x="1272888" y="1713909"/>
                  </a:lnTo>
                  <a:lnTo>
                    <a:pt x="0" y="1713909"/>
                  </a:lnTo>
                  <a:close/>
                </a:path>
              </a:pathLst>
            </a:custGeom>
            <a:blipFill>
              <a:blip r:embed="rId2"/>
              <a:stretch>
                <a:fillRect l="-3770" t="-19878" r="-3770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714604" y="0"/>
            <a:ext cx="5044161" cy="6858000"/>
            <a:chOff x="0" y="0"/>
            <a:chExt cx="1992755" cy="27093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92755" cy="2709333"/>
            </a:xfrm>
            <a:custGeom>
              <a:avLst/>
              <a:gdLst/>
              <a:ahLst/>
              <a:cxnLst/>
              <a:rect l="l" t="t" r="r" b="b"/>
              <a:pathLst>
                <a:path w="1992755" h="2709333">
                  <a:moveTo>
                    <a:pt x="0" y="0"/>
                  </a:moveTo>
                  <a:lnTo>
                    <a:pt x="1992755" y="0"/>
                  </a:lnTo>
                  <a:lnTo>
                    <a:pt x="1992755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246A5">
                    <a:alpha val="100000"/>
                  </a:srgbClr>
                </a:gs>
                <a:gs pos="50000">
                  <a:srgbClr val="0246A5">
                    <a:alpha val="69500"/>
                  </a:srgbClr>
                </a:gs>
                <a:gs pos="100000">
                  <a:srgbClr val="0246A5">
                    <a:alpha val="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992755" cy="274743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62434" y="2221948"/>
            <a:ext cx="1862537" cy="459202"/>
            <a:chOff x="0" y="0"/>
            <a:chExt cx="812800" cy="2003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200393"/>
            </a:xfrm>
            <a:custGeom>
              <a:avLst/>
              <a:gdLst/>
              <a:ahLst/>
              <a:cxnLst/>
              <a:rect l="l" t="t" r="r" b="b"/>
              <a:pathLst>
                <a:path w="812800" h="200393">
                  <a:moveTo>
                    <a:pt x="0" y="0"/>
                  </a:moveTo>
                  <a:lnTo>
                    <a:pt x="812800" y="0"/>
                  </a:lnTo>
                  <a:lnTo>
                    <a:pt x="812800" y="200393"/>
                  </a:lnTo>
                  <a:lnTo>
                    <a:pt x="0" y="200393"/>
                  </a:lnTo>
                  <a:close/>
                </a:path>
              </a:pathLst>
            </a:custGeom>
            <a:solidFill>
              <a:srgbClr val="0246A5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812800" cy="24801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70"/>
                </a:lnSpc>
              </a:pPr>
              <a:endParaRPr sz="1200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62434" y="2734913"/>
            <a:ext cx="5095855" cy="847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27"/>
              </a:lnSpc>
              <a:spcBef>
                <a:spcPct val="0"/>
              </a:spcBef>
            </a:pPr>
            <a:r>
              <a:rPr lang="zh-CN" altLang="en-US" sz="5400" b="1" dirty="0">
                <a:solidFill>
                  <a:srgbClr val="1E1E1E"/>
                </a:solidFill>
                <a:latin typeface="思源黑体 1 Heavy" panose="020B0A00000000000000" charset="-122"/>
                <a:ea typeface="思源黑体 1 Heavy" panose="020B0A00000000000000" charset="-122"/>
                <a:cs typeface="思源黑体 1 Heavy" panose="020B0A00000000000000" charset="-122"/>
                <a:sym typeface="思源黑体 1 Heavy" panose="020B0A00000000000000" charset="-122"/>
              </a:rPr>
              <a:t>总结与思考</a:t>
            </a:r>
            <a:endParaRPr lang="en-US" sz="5400" b="1" dirty="0">
              <a:solidFill>
                <a:srgbClr val="1E1E1E"/>
              </a:solidFill>
              <a:latin typeface="思源黑体 1 Heavy" panose="020B0A00000000000000" charset="-122"/>
              <a:ea typeface="思源黑体 1 Heavy" panose="020B0A00000000000000" charset="-122"/>
              <a:cs typeface="思源黑体 1 Heavy" panose="020B0A00000000000000" charset="-122"/>
              <a:sym typeface="思源黑体 1 Heavy" panose="020B0A00000000000000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84598" y="2245520"/>
            <a:ext cx="1618210" cy="346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3"/>
              </a:lnSpc>
              <a:spcBef>
                <a:spcPct val="0"/>
              </a:spcBef>
            </a:pPr>
            <a:r>
              <a:rPr lang="en-US" sz="2200" b="1">
                <a:solidFill>
                  <a:srgbClr val="FFFFFF"/>
                </a:solidFill>
                <a:latin typeface="思源黑体 1 Medium" panose="020B0600000000000000" charset="-122"/>
                <a:ea typeface="思源黑体 1 Medium" panose="020B0600000000000000" charset="-122"/>
                <a:cs typeface="思源黑体 1 Medium" panose="020B0600000000000000" charset="-122"/>
                <a:sym typeface="思源黑体 1 Medium" panose="020B0600000000000000" charset="-122"/>
              </a:rPr>
              <a:t>第四章节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631647" y="1444276"/>
            <a:ext cx="3643311" cy="3420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8"/>
              </a:lnSpc>
            </a:pPr>
            <a:r>
              <a:rPr lang="en-US" sz="22908" b="1" dirty="0">
                <a:solidFill>
                  <a:srgbClr val="FFFFFF"/>
                </a:solidFill>
                <a:latin typeface="Akzidenz-Grotesk Bold" panose="02000803050000020004"/>
                <a:ea typeface="Akzidenz-Grotesk Bold" panose="02000803050000020004"/>
                <a:cs typeface="Akzidenz-Grotesk Bold" panose="02000803050000020004"/>
                <a:sym typeface="Akzidenz-Grotesk Bold" panose="02000803050000020004"/>
              </a:rP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2301" y="481800"/>
            <a:ext cx="1290099" cy="290158"/>
            <a:chOff x="0" y="0"/>
            <a:chExt cx="579837" cy="1304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9837" cy="130412"/>
            </a:xfrm>
            <a:custGeom>
              <a:avLst/>
              <a:gdLst/>
              <a:ahLst/>
              <a:cxnLst/>
              <a:rect l="l" t="t" r="r" b="b"/>
              <a:pathLst>
                <a:path w="579837" h="130412">
                  <a:moveTo>
                    <a:pt x="0" y="0"/>
                  </a:moveTo>
                  <a:lnTo>
                    <a:pt x="579837" y="0"/>
                  </a:lnTo>
                  <a:lnTo>
                    <a:pt x="579837" y="130412"/>
                  </a:lnTo>
                  <a:lnTo>
                    <a:pt x="0" y="130412"/>
                  </a:lnTo>
                  <a:close/>
                </a:path>
              </a:pathLst>
            </a:custGeom>
            <a:solidFill>
              <a:srgbClr val="0246A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79837" cy="17803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70"/>
                </a:lnSpc>
              </a:pPr>
              <a:endParaRPr sz="12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103105" y="0"/>
            <a:ext cx="88895" cy="6858000"/>
            <a:chOff x="0" y="0"/>
            <a:chExt cx="121127" cy="93445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1127" cy="9344557"/>
            </a:xfrm>
            <a:custGeom>
              <a:avLst/>
              <a:gdLst/>
              <a:ahLst/>
              <a:cxnLst/>
              <a:rect l="l" t="t" r="r" b="b"/>
              <a:pathLst>
                <a:path w="121127" h="9344557">
                  <a:moveTo>
                    <a:pt x="0" y="0"/>
                  </a:moveTo>
                  <a:lnTo>
                    <a:pt x="121127" y="0"/>
                  </a:lnTo>
                  <a:lnTo>
                    <a:pt x="121127" y="9344557"/>
                  </a:lnTo>
                  <a:lnTo>
                    <a:pt x="0" y="9344557"/>
                  </a:lnTo>
                  <a:close/>
                </a:path>
              </a:pathLst>
            </a:custGeom>
            <a:solidFill>
              <a:srgbClr val="0246A5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21127" cy="934455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9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22300" y="841998"/>
            <a:ext cx="4978537" cy="509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60"/>
              </a:lnSpc>
              <a:spcBef>
                <a:spcPct val="0"/>
              </a:spcBef>
            </a:pPr>
            <a:r>
              <a:rPr lang="zh-CN" altLang="en-US" sz="3467" b="1" dirty="0">
                <a:solidFill>
                  <a:srgbClr val="100F0D"/>
                </a:solidFill>
                <a:latin typeface="思源黑体 2 Heavy" panose="020B0A00000000000000" charset="-122"/>
                <a:ea typeface="思源黑体 2 Heavy" panose="020B0A00000000000000" charset="-122"/>
                <a:cs typeface="思源黑体 2 Heavy" panose="020B0A00000000000000" charset="-122"/>
                <a:sym typeface="思源黑体 2 Heavy" panose="020B0A00000000000000" charset="-122"/>
              </a:rPr>
              <a:t>总结与思考</a:t>
            </a:r>
            <a:endParaRPr lang="en-US" sz="3467" b="1" dirty="0">
              <a:solidFill>
                <a:srgbClr val="100F0D"/>
              </a:solidFill>
              <a:latin typeface="思源黑体 2 Heavy" panose="020B0A00000000000000" charset="-122"/>
              <a:ea typeface="思源黑体 2 Heavy" panose="020B0A00000000000000" charset="-122"/>
              <a:cs typeface="思源黑体 2 Heavy" panose="020B0A00000000000000" charset="-122"/>
              <a:sym typeface="思源黑体 2 Heavy" panose="020B0A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37265" y="512198"/>
            <a:ext cx="1060171" cy="19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83"/>
              </a:lnSpc>
              <a:spcBef>
                <a:spcPct val="0"/>
              </a:spcBef>
            </a:pPr>
            <a:r>
              <a:rPr lang="zh-CN" altLang="en-US" sz="1200" dirty="0">
                <a:solidFill>
                  <a:srgbClr val="FFFFFF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第四章节</a:t>
            </a:r>
            <a:endParaRPr lang="en-US" sz="1200" dirty="0">
              <a:solidFill>
                <a:srgbClr val="FFFFFF"/>
              </a:solidFill>
              <a:latin typeface="思源黑体 3" panose="020B0500000000000000" charset="-122"/>
              <a:ea typeface="思源黑体 3" panose="020B0500000000000000" charset="-122"/>
              <a:cs typeface="思源黑体 3" panose="020B0500000000000000" charset="-122"/>
              <a:sym typeface="思源黑体 3" panose="020B0500000000000000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9F9FD2E-6009-198D-01F2-1D5B0D99E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97" y="1701145"/>
            <a:ext cx="11134806" cy="4314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10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6858000"/>
            <a:chOff x="0" y="0"/>
            <a:chExt cx="2833290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33290" cy="1593725"/>
            </a:xfrm>
            <a:custGeom>
              <a:avLst/>
              <a:gdLst/>
              <a:ahLst/>
              <a:cxnLst/>
              <a:rect l="l" t="t" r="r" b="b"/>
              <a:pathLst>
                <a:path w="2833290" h="1593725">
                  <a:moveTo>
                    <a:pt x="0" y="0"/>
                  </a:moveTo>
                  <a:lnTo>
                    <a:pt x="2833290" y="0"/>
                  </a:lnTo>
                  <a:lnTo>
                    <a:pt x="2833290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908" t="-8303" r="-1190" b="-12400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5400000">
            <a:off x="763301" y="-6729093"/>
            <a:ext cx="11506200" cy="17189633"/>
            <a:chOff x="0" y="0"/>
            <a:chExt cx="4545659" cy="67909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545659" cy="6790966"/>
            </a:xfrm>
            <a:custGeom>
              <a:avLst/>
              <a:gdLst/>
              <a:ahLst/>
              <a:cxnLst/>
              <a:rect l="l" t="t" r="r" b="b"/>
              <a:pathLst>
                <a:path w="4545659" h="6790966">
                  <a:moveTo>
                    <a:pt x="0" y="0"/>
                  </a:moveTo>
                  <a:lnTo>
                    <a:pt x="4545659" y="0"/>
                  </a:lnTo>
                  <a:lnTo>
                    <a:pt x="4545659" y="6790966"/>
                  </a:lnTo>
                  <a:lnTo>
                    <a:pt x="0" y="6790966"/>
                  </a:lnTo>
                  <a:close/>
                </a:path>
              </a:pathLst>
            </a:custGeom>
            <a:gradFill rotWithShape="1">
              <a:gsLst>
                <a:gs pos="0">
                  <a:srgbClr val="023690">
                    <a:alpha val="100000"/>
                  </a:srgbClr>
                </a:gs>
                <a:gs pos="33333">
                  <a:srgbClr val="0246A5">
                    <a:alpha val="96500"/>
                  </a:srgbClr>
                </a:gs>
                <a:gs pos="66667">
                  <a:srgbClr val="0246A5">
                    <a:alpha val="69500"/>
                  </a:srgbClr>
                </a:gs>
                <a:gs pos="100000">
                  <a:srgbClr val="0246A5">
                    <a:alpha val="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545659" cy="682906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712406" y="2806760"/>
            <a:ext cx="9607992" cy="1120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US" sz="7090" b="1" spc="319">
                <a:solidFill>
                  <a:srgbClr val="FFFFFF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请各位老师批评指正！</a:t>
            </a:r>
          </a:p>
        </p:txBody>
      </p:sp>
      <p:sp>
        <p:nvSpPr>
          <p:cNvPr id="8" name="Freeform 8"/>
          <p:cNvSpPr/>
          <p:nvPr/>
        </p:nvSpPr>
        <p:spPr>
          <a:xfrm>
            <a:off x="348476" y="316398"/>
            <a:ext cx="2013877" cy="506826"/>
          </a:xfrm>
          <a:custGeom>
            <a:avLst/>
            <a:gdLst/>
            <a:ahLst/>
            <a:cxnLst/>
            <a:rect l="l" t="t" r="r" b="b"/>
            <a:pathLst>
              <a:path w="3020816" h="760239">
                <a:moveTo>
                  <a:pt x="0" y="0"/>
                </a:moveTo>
                <a:lnTo>
                  <a:pt x="3020816" y="0"/>
                </a:lnTo>
                <a:lnTo>
                  <a:pt x="3020816" y="760239"/>
                </a:lnTo>
                <a:lnTo>
                  <a:pt x="0" y="760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801</Words>
  <Application>Microsoft Office PowerPoint</Application>
  <PresentationFormat>宽屏</PresentationFormat>
  <Paragraphs>129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0" baseType="lpstr">
      <vt:lpstr>Akzidenz-Grotesk Bold</vt:lpstr>
      <vt:lpstr>Akzidenz-Grotesk Medium</vt:lpstr>
      <vt:lpstr>思源黑体 1 Bold</vt:lpstr>
      <vt:lpstr>思源黑体 1 Heavy</vt:lpstr>
      <vt:lpstr>思源黑体 1 Medium</vt:lpstr>
      <vt:lpstr>思源黑体 2</vt:lpstr>
      <vt:lpstr>思源黑体 2 Bold</vt:lpstr>
      <vt:lpstr>思源黑体 2 Heavy</vt:lpstr>
      <vt:lpstr>思源黑体 3</vt:lpstr>
      <vt:lpstr>微软雅黑</vt:lpstr>
      <vt:lpstr>Arial</vt:lpstr>
      <vt:lpstr>Calibri</vt:lpstr>
      <vt:lpstr>Times New Roman</vt:lpstr>
      <vt:lpstr>Wingdings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xintian wu</dc:creator>
  <cp:lastModifiedBy>xintian wu</cp:lastModifiedBy>
  <cp:revision>67</cp:revision>
  <dcterms:created xsi:type="dcterms:W3CDTF">2023-08-09T12:44:00Z</dcterms:created>
  <dcterms:modified xsi:type="dcterms:W3CDTF">2026-10-01T11:55:31Z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