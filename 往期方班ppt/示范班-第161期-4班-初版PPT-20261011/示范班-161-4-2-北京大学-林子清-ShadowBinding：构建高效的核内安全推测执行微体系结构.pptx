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1123" r:id="rId2"/>
    <p:sldId id="1124" r:id="rId3"/>
    <p:sldId id="1168" r:id="rId4"/>
    <p:sldId id="1143" r:id="rId5"/>
    <p:sldId id="1146" r:id="rId6"/>
    <p:sldId id="1148" r:id="rId7"/>
    <p:sldId id="1149" r:id="rId8"/>
    <p:sldId id="1127" r:id="rId9"/>
    <p:sldId id="1172" r:id="rId10"/>
    <p:sldId id="1150" r:id="rId11"/>
    <p:sldId id="1125" r:id="rId12"/>
    <p:sldId id="1126" r:id="rId13"/>
    <p:sldId id="1128" r:id="rId14"/>
    <p:sldId id="1170" r:id="rId15"/>
    <p:sldId id="1167" r:id="rId16"/>
    <p:sldId id="1165" r:id="rId17"/>
    <p:sldId id="1180" r:id="rId18"/>
    <p:sldId id="1166" r:id="rId19"/>
    <p:sldId id="1130" r:id="rId20"/>
    <p:sldId id="1151" r:id="rId21"/>
    <p:sldId id="1171" r:id="rId22"/>
    <p:sldId id="1131" r:id="rId23"/>
    <p:sldId id="1153" r:id="rId24"/>
    <p:sldId id="1169" r:id="rId25"/>
    <p:sldId id="1173" r:id="rId26"/>
    <p:sldId id="1133" r:id="rId27"/>
    <p:sldId id="1154" r:id="rId28"/>
    <p:sldId id="1155" r:id="rId29"/>
    <p:sldId id="1174" r:id="rId30"/>
    <p:sldId id="1156" r:id="rId31"/>
    <p:sldId id="1157" r:id="rId32"/>
    <p:sldId id="1135" r:id="rId33"/>
    <p:sldId id="1136" r:id="rId34"/>
    <p:sldId id="1161" r:id="rId35"/>
    <p:sldId id="1159" r:id="rId36"/>
    <p:sldId id="1176" r:id="rId37"/>
    <p:sldId id="1177" r:id="rId38"/>
    <p:sldId id="1175" r:id="rId39"/>
    <p:sldId id="1162" r:id="rId40"/>
    <p:sldId id="1160" r:id="rId41"/>
    <p:sldId id="1139" r:id="rId42"/>
    <p:sldId id="1163" r:id="rId43"/>
    <p:sldId id="1164" r:id="rId44"/>
    <p:sldId id="1140" r:id="rId45"/>
    <p:sldId id="1141" r:id="rId46"/>
    <p:sldId id="1142" r:id="rId47"/>
    <p:sldId id="1179" r:id="rId48"/>
    <p:sldId id="1145"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000000"/>
    <a:srgbClr val="FFFFFF"/>
    <a:srgbClr val="8B00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26" autoAdjust="0"/>
    <p:restoredTop sz="83666" autoAdjust="0"/>
  </p:normalViewPr>
  <p:slideViewPr>
    <p:cSldViewPr snapToGrid="0">
      <p:cViewPr varScale="1">
        <p:scale>
          <a:sx n="62" d="100"/>
          <a:sy n="62" d="100"/>
        </p:scale>
        <p:origin x="64" y="1112"/>
      </p:cViewPr>
      <p:guideLst>
        <p:guide orient="horz" pos="2160"/>
        <p:guide pos="3840"/>
      </p:guideLst>
    </p:cSldViewPr>
  </p:slideViewPr>
  <p:notesTextViewPr>
    <p:cViewPr>
      <p:scale>
        <a:sx n="1" d="1"/>
        <a:sy n="1" d="1"/>
      </p:scale>
      <p:origin x="0" y="0"/>
    </p:cViewPr>
  </p:notesTextViewPr>
  <p:sorterViewPr>
    <p:cViewPr>
      <p:scale>
        <a:sx n="100" d="100"/>
        <a:sy n="100" d="100"/>
      </p:scale>
      <p:origin x="0" y="-61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5EBDE8-BFE2-4300-BB10-C6855E085E80}" type="datetimeFigureOut">
              <a:rPr lang="zh-CN" altLang="en-US" smtClean="0"/>
              <a:t>2026/9/29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59B3F-F21B-4FC9-BBA9-431A978F65E3}" type="slidenum">
              <a:rPr lang="zh-CN" altLang="en-US" smtClean="0"/>
              <a:t>‹#›</a:t>
            </a:fld>
            <a:endParaRPr lang="zh-CN" altLang="en-US"/>
          </a:p>
        </p:txBody>
      </p:sp>
    </p:spTree>
    <p:extLst>
      <p:ext uri="{BB962C8B-B14F-4D97-AF65-F5344CB8AC3E}">
        <p14:creationId xmlns:p14="http://schemas.microsoft.com/office/powerpoint/2010/main" val="398972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a:t>
            </a:fld>
            <a:endParaRPr lang="zh-CN" altLang="en-US"/>
          </a:p>
        </p:txBody>
      </p:sp>
    </p:spTree>
    <p:extLst>
      <p:ext uri="{BB962C8B-B14F-4D97-AF65-F5344CB8AC3E}">
        <p14:creationId xmlns:p14="http://schemas.microsoft.com/office/powerpoint/2010/main" val="3810793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a:t>
            </a:fld>
            <a:endParaRPr lang="zh-CN" altLang="en-US"/>
          </a:p>
        </p:txBody>
      </p:sp>
    </p:spTree>
    <p:extLst>
      <p:ext uri="{BB962C8B-B14F-4D97-AF65-F5344CB8AC3E}">
        <p14:creationId xmlns:p14="http://schemas.microsoft.com/office/powerpoint/2010/main" val="3032597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a:t>
            </a:fld>
            <a:endParaRPr lang="zh-CN" altLang="en-US"/>
          </a:p>
        </p:txBody>
      </p:sp>
    </p:spTree>
    <p:extLst>
      <p:ext uri="{BB962C8B-B14F-4D97-AF65-F5344CB8AC3E}">
        <p14:creationId xmlns:p14="http://schemas.microsoft.com/office/powerpoint/2010/main" val="3212928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a:t>
            </a:fld>
            <a:endParaRPr lang="zh-CN" altLang="en-US"/>
          </a:p>
        </p:txBody>
      </p:sp>
    </p:spTree>
    <p:extLst>
      <p:ext uri="{BB962C8B-B14F-4D97-AF65-F5344CB8AC3E}">
        <p14:creationId xmlns:p14="http://schemas.microsoft.com/office/powerpoint/2010/main" val="1751120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5</a:t>
            </a:fld>
            <a:endParaRPr lang="zh-CN" altLang="en-US"/>
          </a:p>
        </p:txBody>
      </p:sp>
    </p:spTree>
    <p:extLst>
      <p:ext uri="{BB962C8B-B14F-4D97-AF65-F5344CB8AC3E}">
        <p14:creationId xmlns:p14="http://schemas.microsoft.com/office/powerpoint/2010/main" val="2443298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6</a:t>
            </a:fld>
            <a:endParaRPr lang="zh-CN" altLang="en-US"/>
          </a:p>
        </p:txBody>
      </p:sp>
    </p:spTree>
    <p:extLst>
      <p:ext uri="{BB962C8B-B14F-4D97-AF65-F5344CB8AC3E}">
        <p14:creationId xmlns:p14="http://schemas.microsoft.com/office/powerpoint/2010/main" val="2951352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7</a:t>
            </a:fld>
            <a:endParaRPr lang="zh-CN" altLang="en-US"/>
          </a:p>
        </p:txBody>
      </p:sp>
    </p:spTree>
    <p:extLst>
      <p:ext uri="{BB962C8B-B14F-4D97-AF65-F5344CB8AC3E}">
        <p14:creationId xmlns:p14="http://schemas.microsoft.com/office/powerpoint/2010/main" val="441457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8</a:t>
            </a:fld>
            <a:endParaRPr lang="zh-CN" altLang="en-US"/>
          </a:p>
        </p:txBody>
      </p:sp>
    </p:spTree>
    <p:extLst>
      <p:ext uri="{BB962C8B-B14F-4D97-AF65-F5344CB8AC3E}">
        <p14:creationId xmlns:p14="http://schemas.microsoft.com/office/powerpoint/2010/main" val="1253597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9</a:t>
            </a:fld>
            <a:endParaRPr lang="zh-CN" altLang="en-US"/>
          </a:p>
        </p:txBody>
      </p:sp>
    </p:spTree>
    <p:extLst>
      <p:ext uri="{BB962C8B-B14F-4D97-AF65-F5344CB8AC3E}">
        <p14:creationId xmlns:p14="http://schemas.microsoft.com/office/powerpoint/2010/main" val="3409308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10</a:t>
            </a:fld>
            <a:endParaRPr lang="zh-CN" altLang="en-US"/>
          </a:p>
        </p:txBody>
      </p:sp>
    </p:spTree>
    <p:extLst>
      <p:ext uri="{BB962C8B-B14F-4D97-AF65-F5344CB8AC3E}">
        <p14:creationId xmlns:p14="http://schemas.microsoft.com/office/powerpoint/2010/main" val="3393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11</a:t>
            </a:fld>
            <a:endParaRPr lang="zh-CN" altLang="en-US"/>
          </a:p>
        </p:txBody>
      </p:sp>
    </p:spTree>
    <p:extLst>
      <p:ext uri="{BB962C8B-B14F-4D97-AF65-F5344CB8AC3E}">
        <p14:creationId xmlns:p14="http://schemas.microsoft.com/office/powerpoint/2010/main" val="2660793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12</a:t>
            </a:fld>
            <a:endParaRPr lang="zh-CN" altLang="en-US"/>
          </a:p>
        </p:txBody>
      </p:sp>
    </p:spTree>
    <p:extLst>
      <p:ext uri="{BB962C8B-B14F-4D97-AF65-F5344CB8AC3E}">
        <p14:creationId xmlns:p14="http://schemas.microsoft.com/office/powerpoint/2010/main" val="981807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13</a:t>
            </a:fld>
            <a:endParaRPr lang="zh-CN" altLang="en-US"/>
          </a:p>
        </p:txBody>
      </p:sp>
    </p:spTree>
    <p:extLst>
      <p:ext uri="{BB962C8B-B14F-4D97-AF65-F5344CB8AC3E}">
        <p14:creationId xmlns:p14="http://schemas.microsoft.com/office/powerpoint/2010/main" val="1330378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14</a:t>
            </a:fld>
            <a:endParaRPr lang="zh-CN" altLang="en-US"/>
          </a:p>
        </p:txBody>
      </p:sp>
    </p:spTree>
    <p:extLst>
      <p:ext uri="{BB962C8B-B14F-4D97-AF65-F5344CB8AC3E}">
        <p14:creationId xmlns:p14="http://schemas.microsoft.com/office/powerpoint/2010/main" val="1767081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15</a:t>
            </a:fld>
            <a:endParaRPr lang="zh-CN" altLang="en-US"/>
          </a:p>
        </p:txBody>
      </p:sp>
    </p:spTree>
    <p:extLst>
      <p:ext uri="{BB962C8B-B14F-4D97-AF65-F5344CB8AC3E}">
        <p14:creationId xmlns:p14="http://schemas.microsoft.com/office/powerpoint/2010/main" val="1666733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en-US" sz="1200" kern="1200" dirty="0">
                <a:solidFill>
                  <a:schemeClr val="tx1"/>
                </a:solidFill>
                <a:effectLst/>
                <a:latin typeface="+mn-lt"/>
                <a:ea typeface="+mn-ea"/>
                <a:cs typeface="+mn-cs"/>
              </a:rPr>
              <a:t>图片重新使用</a:t>
            </a:r>
            <a:r>
              <a:rPr lang="en-US" altLang="zh-CN" sz="1200" kern="1200" dirty="0" err="1">
                <a:solidFill>
                  <a:schemeClr val="tx1"/>
                </a:solidFill>
                <a:effectLst/>
                <a:latin typeface="+mn-lt"/>
                <a:ea typeface="+mn-ea"/>
                <a:cs typeface="+mn-cs"/>
              </a:rPr>
              <a:t>visio</a:t>
            </a:r>
            <a:r>
              <a:rPr lang="zh-CN" altLang="en-US" sz="1200" kern="1200" dirty="0">
                <a:solidFill>
                  <a:schemeClr val="tx1"/>
                </a:solidFill>
                <a:effectLst/>
                <a:latin typeface="+mn-lt"/>
                <a:ea typeface="+mn-ea"/>
                <a:cs typeface="+mn-cs"/>
              </a:rPr>
              <a:t>绘制</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16</a:t>
            </a:fld>
            <a:endParaRPr lang="zh-CN" altLang="en-US"/>
          </a:p>
        </p:txBody>
      </p:sp>
    </p:spTree>
    <p:extLst>
      <p:ext uri="{BB962C8B-B14F-4D97-AF65-F5344CB8AC3E}">
        <p14:creationId xmlns:p14="http://schemas.microsoft.com/office/powerpoint/2010/main" val="3830756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17</a:t>
            </a:fld>
            <a:endParaRPr lang="zh-CN" altLang="en-US"/>
          </a:p>
        </p:txBody>
      </p:sp>
    </p:spTree>
    <p:extLst>
      <p:ext uri="{BB962C8B-B14F-4D97-AF65-F5344CB8AC3E}">
        <p14:creationId xmlns:p14="http://schemas.microsoft.com/office/powerpoint/2010/main" val="670441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18</a:t>
            </a:fld>
            <a:endParaRPr lang="zh-CN" altLang="en-US"/>
          </a:p>
        </p:txBody>
      </p:sp>
    </p:spTree>
    <p:extLst>
      <p:ext uri="{BB962C8B-B14F-4D97-AF65-F5344CB8AC3E}">
        <p14:creationId xmlns:p14="http://schemas.microsoft.com/office/powerpoint/2010/main" val="1361436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19</a:t>
            </a:fld>
            <a:endParaRPr lang="zh-CN" altLang="en-US"/>
          </a:p>
        </p:txBody>
      </p:sp>
    </p:spTree>
    <p:extLst>
      <p:ext uri="{BB962C8B-B14F-4D97-AF65-F5344CB8AC3E}">
        <p14:creationId xmlns:p14="http://schemas.microsoft.com/office/powerpoint/2010/main" val="126098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20</a:t>
            </a:fld>
            <a:endParaRPr lang="zh-CN" altLang="en-US"/>
          </a:p>
        </p:txBody>
      </p:sp>
    </p:spTree>
    <p:extLst>
      <p:ext uri="{BB962C8B-B14F-4D97-AF65-F5344CB8AC3E}">
        <p14:creationId xmlns:p14="http://schemas.microsoft.com/office/powerpoint/2010/main" val="1796752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21</a:t>
            </a:fld>
            <a:endParaRPr lang="zh-CN" altLang="en-US"/>
          </a:p>
        </p:txBody>
      </p:sp>
    </p:spTree>
    <p:extLst>
      <p:ext uri="{BB962C8B-B14F-4D97-AF65-F5344CB8AC3E}">
        <p14:creationId xmlns:p14="http://schemas.microsoft.com/office/powerpoint/2010/main" val="181772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22</a:t>
            </a:fld>
            <a:endParaRPr lang="zh-CN" altLang="en-US"/>
          </a:p>
        </p:txBody>
      </p:sp>
    </p:spTree>
    <p:extLst>
      <p:ext uri="{BB962C8B-B14F-4D97-AF65-F5344CB8AC3E}">
        <p14:creationId xmlns:p14="http://schemas.microsoft.com/office/powerpoint/2010/main" val="1486758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23</a:t>
            </a:fld>
            <a:endParaRPr lang="zh-CN" altLang="en-US"/>
          </a:p>
        </p:txBody>
      </p:sp>
    </p:spTree>
    <p:extLst>
      <p:ext uri="{BB962C8B-B14F-4D97-AF65-F5344CB8AC3E}">
        <p14:creationId xmlns:p14="http://schemas.microsoft.com/office/powerpoint/2010/main" val="1756613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24</a:t>
            </a:fld>
            <a:endParaRPr lang="zh-CN" altLang="en-US"/>
          </a:p>
        </p:txBody>
      </p:sp>
    </p:spTree>
    <p:extLst>
      <p:ext uri="{BB962C8B-B14F-4D97-AF65-F5344CB8AC3E}">
        <p14:creationId xmlns:p14="http://schemas.microsoft.com/office/powerpoint/2010/main" val="1310610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25</a:t>
            </a:fld>
            <a:endParaRPr lang="zh-CN" altLang="en-US"/>
          </a:p>
        </p:txBody>
      </p:sp>
    </p:spTree>
    <p:extLst>
      <p:ext uri="{BB962C8B-B14F-4D97-AF65-F5344CB8AC3E}">
        <p14:creationId xmlns:p14="http://schemas.microsoft.com/office/powerpoint/2010/main" val="4209046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26</a:t>
            </a:fld>
            <a:endParaRPr lang="zh-CN" altLang="en-US"/>
          </a:p>
        </p:txBody>
      </p:sp>
    </p:spTree>
    <p:extLst>
      <p:ext uri="{BB962C8B-B14F-4D97-AF65-F5344CB8AC3E}">
        <p14:creationId xmlns:p14="http://schemas.microsoft.com/office/powerpoint/2010/main" val="26641958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27</a:t>
            </a:fld>
            <a:endParaRPr lang="zh-CN" altLang="en-US"/>
          </a:p>
        </p:txBody>
      </p:sp>
    </p:spTree>
    <p:extLst>
      <p:ext uri="{BB962C8B-B14F-4D97-AF65-F5344CB8AC3E}">
        <p14:creationId xmlns:p14="http://schemas.microsoft.com/office/powerpoint/2010/main" val="3771349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28</a:t>
            </a:fld>
            <a:endParaRPr lang="zh-CN" altLang="en-US"/>
          </a:p>
        </p:txBody>
      </p:sp>
    </p:spTree>
    <p:extLst>
      <p:ext uri="{BB962C8B-B14F-4D97-AF65-F5344CB8AC3E}">
        <p14:creationId xmlns:p14="http://schemas.microsoft.com/office/powerpoint/2010/main" val="28237302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29</a:t>
            </a:fld>
            <a:endParaRPr lang="zh-CN" altLang="en-US"/>
          </a:p>
        </p:txBody>
      </p:sp>
    </p:spTree>
    <p:extLst>
      <p:ext uri="{BB962C8B-B14F-4D97-AF65-F5344CB8AC3E}">
        <p14:creationId xmlns:p14="http://schemas.microsoft.com/office/powerpoint/2010/main" val="2321364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30</a:t>
            </a:fld>
            <a:endParaRPr lang="zh-CN" altLang="en-US"/>
          </a:p>
        </p:txBody>
      </p:sp>
    </p:spTree>
    <p:extLst>
      <p:ext uri="{BB962C8B-B14F-4D97-AF65-F5344CB8AC3E}">
        <p14:creationId xmlns:p14="http://schemas.microsoft.com/office/powerpoint/2010/main" val="9507807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31</a:t>
            </a:fld>
            <a:endParaRPr lang="zh-CN" altLang="en-US"/>
          </a:p>
        </p:txBody>
      </p:sp>
    </p:spTree>
    <p:extLst>
      <p:ext uri="{BB962C8B-B14F-4D97-AF65-F5344CB8AC3E}">
        <p14:creationId xmlns:p14="http://schemas.microsoft.com/office/powerpoint/2010/main" val="14725166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32</a:t>
            </a:fld>
            <a:endParaRPr lang="zh-CN" altLang="en-US"/>
          </a:p>
        </p:txBody>
      </p:sp>
    </p:spTree>
    <p:extLst>
      <p:ext uri="{BB962C8B-B14F-4D97-AF65-F5344CB8AC3E}">
        <p14:creationId xmlns:p14="http://schemas.microsoft.com/office/powerpoint/2010/main" val="40917743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33</a:t>
            </a:fld>
            <a:endParaRPr lang="zh-CN" altLang="en-US"/>
          </a:p>
        </p:txBody>
      </p:sp>
    </p:spTree>
    <p:extLst>
      <p:ext uri="{BB962C8B-B14F-4D97-AF65-F5344CB8AC3E}">
        <p14:creationId xmlns:p14="http://schemas.microsoft.com/office/powerpoint/2010/main" val="21222527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34</a:t>
            </a:fld>
            <a:endParaRPr lang="zh-CN" altLang="en-US"/>
          </a:p>
        </p:txBody>
      </p:sp>
    </p:spTree>
    <p:extLst>
      <p:ext uri="{BB962C8B-B14F-4D97-AF65-F5344CB8AC3E}">
        <p14:creationId xmlns:p14="http://schemas.microsoft.com/office/powerpoint/2010/main" val="213380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35</a:t>
            </a:fld>
            <a:endParaRPr lang="zh-CN" altLang="en-US"/>
          </a:p>
        </p:txBody>
      </p:sp>
    </p:spTree>
    <p:extLst>
      <p:ext uri="{BB962C8B-B14F-4D97-AF65-F5344CB8AC3E}">
        <p14:creationId xmlns:p14="http://schemas.microsoft.com/office/powerpoint/2010/main" val="21780247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36</a:t>
            </a:fld>
            <a:endParaRPr lang="zh-CN" altLang="en-US"/>
          </a:p>
        </p:txBody>
      </p:sp>
    </p:spTree>
    <p:extLst>
      <p:ext uri="{BB962C8B-B14F-4D97-AF65-F5344CB8AC3E}">
        <p14:creationId xmlns:p14="http://schemas.microsoft.com/office/powerpoint/2010/main" val="3430969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37</a:t>
            </a:fld>
            <a:endParaRPr lang="zh-CN" altLang="en-US"/>
          </a:p>
        </p:txBody>
      </p:sp>
    </p:spTree>
    <p:extLst>
      <p:ext uri="{BB962C8B-B14F-4D97-AF65-F5344CB8AC3E}">
        <p14:creationId xmlns:p14="http://schemas.microsoft.com/office/powerpoint/2010/main" val="29963429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38</a:t>
            </a:fld>
            <a:endParaRPr lang="zh-CN" altLang="en-US"/>
          </a:p>
        </p:txBody>
      </p:sp>
    </p:spTree>
    <p:extLst>
      <p:ext uri="{BB962C8B-B14F-4D97-AF65-F5344CB8AC3E}">
        <p14:creationId xmlns:p14="http://schemas.microsoft.com/office/powerpoint/2010/main" val="28906187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39</a:t>
            </a:fld>
            <a:endParaRPr lang="zh-CN" altLang="en-US"/>
          </a:p>
        </p:txBody>
      </p:sp>
    </p:spTree>
    <p:extLst>
      <p:ext uri="{BB962C8B-B14F-4D97-AF65-F5344CB8AC3E}">
        <p14:creationId xmlns:p14="http://schemas.microsoft.com/office/powerpoint/2010/main" val="31570497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40</a:t>
            </a:fld>
            <a:endParaRPr lang="zh-CN" altLang="en-US"/>
          </a:p>
        </p:txBody>
      </p:sp>
    </p:spTree>
    <p:extLst>
      <p:ext uri="{BB962C8B-B14F-4D97-AF65-F5344CB8AC3E}">
        <p14:creationId xmlns:p14="http://schemas.microsoft.com/office/powerpoint/2010/main" val="11626609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41</a:t>
            </a:fld>
            <a:endParaRPr lang="zh-CN" altLang="en-US"/>
          </a:p>
        </p:txBody>
      </p:sp>
    </p:spTree>
    <p:extLst>
      <p:ext uri="{BB962C8B-B14F-4D97-AF65-F5344CB8AC3E}">
        <p14:creationId xmlns:p14="http://schemas.microsoft.com/office/powerpoint/2010/main" val="19966173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42</a:t>
            </a:fld>
            <a:endParaRPr lang="zh-CN" altLang="en-US"/>
          </a:p>
        </p:txBody>
      </p:sp>
    </p:spTree>
    <p:extLst>
      <p:ext uri="{BB962C8B-B14F-4D97-AF65-F5344CB8AC3E}">
        <p14:creationId xmlns:p14="http://schemas.microsoft.com/office/powerpoint/2010/main" val="31194142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43</a:t>
            </a:fld>
            <a:endParaRPr lang="zh-CN" altLang="en-US"/>
          </a:p>
        </p:txBody>
      </p:sp>
    </p:spTree>
    <p:extLst>
      <p:ext uri="{BB962C8B-B14F-4D97-AF65-F5344CB8AC3E}">
        <p14:creationId xmlns:p14="http://schemas.microsoft.com/office/powerpoint/2010/main" val="32048619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44</a:t>
            </a:fld>
            <a:endParaRPr lang="zh-CN" altLang="en-US"/>
          </a:p>
        </p:txBody>
      </p:sp>
    </p:spTree>
    <p:extLst>
      <p:ext uri="{BB962C8B-B14F-4D97-AF65-F5344CB8AC3E}">
        <p14:creationId xmlns:p14="http://schemas.microsoft.com/office/powerpoint/2010/main" val="22031906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45</a:t>
            </a:fld>
            <a:endParaRPr lang="zh-CN" altLang="en-US"/>
          </a:p>
        </p:txBody>
      </p:sp>
    </p:spTree>
    <p:extLst>
      <p:ext uri="{BB962C8B-B14F-4D97-AF65-F5344CB8AC3E}">
        <p14:creationId xmlns:p14="http://schemas.microsoft.com/office/powerpoint/2010/main" val="13839188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46</a:t>
            </a:fld>
            <a:endParaRPr lang="zh-CN" altLang="en-US"/>
          </a:p>
        </p:txBody>
      </p:sp>
    </p:spTree>
    <p:extLst>
      <p:ext uri="{BB962C8B-B14F-4D97-AF65-F5344CB8AC3E}">
        <p14:creationId xmlns:p14="http://schemas.microsoft.com/office/powerpoint/2010/main" val="4795184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47</a:t>
            </a:fld>
            <a:endParaRPr lang="zh-CN" altLang="en-US"/>
          </a:p>
        </p:txBody>
      </p:sp>
    </p:spTree>
    <p:extLst>
      <p:ext uri="{BB962C8B-B14F-4D97-AF65-F5344CB8AC3E}">
        <p14:creationId xmlns:p14="http://schemas.microsoft.com/office/powerpoint/2010/main" val="31550618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C33BECB-7467-463F-8F8A-CAA3C9D608F2}" type="slidenum">
              <a:rPr lang="zh-CN" altLang="en-US" smtClean="0"/>
              <a:t>48</a:t>
            </a:fld>
            <a:endParaRPr lang="zh-CN" altLang="en-US"/>
          </a:p>
        </p:txBody>
      </p:sp>
    </p:spTree>
    <p:extLst>
      <p:ext uri="{BB962C8B-B14F-4D97-AF65-F5344CB8AC3E}">
        <p14:creationId xmlns:p14="http://schemas.microsoft.com/office/powerpoint/2010/main" val="27558721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13F314-DBD8-4B49-8CAA-9C9E148AC6B9}"/>
              </a:ext>
            </a:extLst>
          </p:cNvPr>
          <p:cNvSpPr>
            <a:spLocks noGrp="1"/>
          </p:cNvSpPr>
          <p:nvPr>
            <p:ph type="ctrTitle"/>
          </p:nvPr>
        </p:nvSpPr>
        <p:spPr>
          <a:xfrm>
            <a:off x="1524000" y="1122363"/>
            <a:ext cx="9144000" cy="1753841"/>
          </a:xfrm>
        </p:spPr>
        <p:txBody>
          <a:bodyPr anchor="b">
            <a:normAutofit/>
          </a:bodyPr>
          <a:lstStyle>
            <a:lvl1pPr algn="ctr">
              <a:defRPr sz="5400">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E0F4E268-4626-4D34-8D7C-04E7B9308F61}"/>
              </a:ext>
            </a:extLst>
          </p:cNvPr>
          <p:cNvSpPr>
            <a:spLocks noGrp="1"/>
          </p:cNvSpPr>
          <p:nvPr>
            <p:ph type="subTitle" idx="1"/>
          </p:nvPr>
        </p:nvSpPr>
        <p:spPr>
          <a:xfrm>
            <a:off x="1524000" y="3059084"/>
            <a:ext cx="9144000" cy="2198716"/>
          </a:xfrm>
        </p:spPr>
        <p:txBody>
          <a:bodyPr>
            <a:normAutofit/>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B8E328A8-BA12-46E7-A94E-2E8C1C877EA4}"/>
              </a:ext>
            </a:extLst>
          </p:cNvPr>
          <p:cNvSpPr>
            <a:spLocks noGrp="1"/>
          </p:cNvSpPr>
          <p:nvPr>
            <p:ph type="dt" sz="half" idx="10"/>
          </p:nvPr>
        </p:nvSpPr>
        <p:spPr/>
        <p:txBody>
          <a:bodyPr/>
          <a:lstStyle/>
          <a:p>
            <a:fld id="{7DC63845-A28E-4286-ADD0-6B6E5039545F}" type="datetimeFigureOut">
              <a:rPr lang="zh-CN" altLang="en-US" smtClean="0"/>
              <a:t>2026/9/29</a:t>
            </a:fld>
            <a:endParaRPr lang="zh-CN" altLang="en-US"/>
          </a:p>
        </p:txBody>
      </p:sp>
      <p:sp>
        <p:nvSpPr>
          <p:cNvPr id="5" name="页脚占位符 4">
            <a:extLst>
              <a:ext uri="{FF2B5EF4-FFF2-40B4-BE49-F238E27FC236}">
                <a16:creationId xmlns:a16="http://schemas.microsoft.com/office/drawing/2014/main" id="{A0798D1E-F6CB-4CF0-943A-59DA411AB8E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FC70BE-B5CC-4CF1-B5B0-33D83E897B44}"/>
              </a:ext>
            </a:extLst>
          </p:cNvPr>
          <p:cNvSpPr>
            <a:spLocks noGrp="1"/>
          </p:cNvSpPr>
          <p:nvPr>
            <p:ph type="sldNum" sz="quarter" idx="12"/>
          </p:nvPr>
        </p:nvSpPr>
        <p:spPr/>
        <p:txBody>
          <a:bodyPr/>
          <a:lstStyle/>
          <a:p>
            <a:fld id="{7E4A8778-6878-4E7F-8804-30B4CC446728}" type="slidenum">
              <a:rPr lang="zh-CN" altLang="en-US" smtClean="0"/>
              <a:t>‹#›</a:t>
            </a:fld>
            <a:endParaRPr lang="zh-CN" altLang="en-US" dirty="0"/>
          </a:p>
        </p:txBody>
      </p:sp>
      <p:pic>
        <p:nvPicPr>
          <p:cNvPr id="11" name="图片 10">
            <a:extLst>
              <a:ext uri="{FF2B5EF4-FFF2-40B4-BE49-F238E27FC236}">
                <a16:creationId xmlns:a16="http://schemas.microsoft.com/office/drawing/2014/main" id="{B0006B8E-A4A6-40BF-849F-948C84F9E4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1169" y="269380"/>
            <a:ext cx="2156048" cy="607415"/>
          </a:xfrm>
          <a:prstGeom prst="rect">
            <a:avLst/>
          </a:prstGeom>
        </p:spPr>
      </p:pic>
      <p:pic>
        <p:nvPicPr>
          <p:cNvPr id="8" name="图片 7">
            <a:extLst>
              <a:ext uri="{FF2B5EF4-FFF2-40B4-BE49-F238E27FC236}">
                <a16:creationId xmlns:a16="http://schemas.microsoft.com/office/drawing/2014/main" id="{AC046CE4-88DA-44BC-B849-4854CB5A2AA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1022466" cy="829086"/>
          </a:xfrm>
          <a:prstGeom prst="rect">
            <a:avLst/>
          </a:prstGeom>
        </p:spPr>
      </p:pic>
      <p:pic>
        <p:nvPicPr>
          <p:cNvPr id="10" name="图片 9">
            <a:extLst>
              <a:ext uri="{FF2B5EF4-FFF2-40B4-BE49-F238E27FC236}">
                <a16:creationId xmlns:a16="http://schemas.microsoft.com/office/drawing/2014/main" id="{D05E9042-AD78-4103-A18A-56B06B326C9D}"/>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11353799" y="6220524"/>
            <a:ext cx="838200" cy="637475"/>
          </a:xfrm>
          <a:prstGeom prst="rect">
            <a:avLst/>
          </a:prstGeom>
        </p:spPr>
      </p:pic>
    </p:spTree>
    <p:extLst>
      <p:ext uri="{BB962C8B-B14F-4D97-AF65-F5344CB8AC3E}">
        <p14:creationId xmlns:p14="http://schemas.microsoft.com/office/powerpoint/2010/main" val="76911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0DBDC9-E958-4175-9750-724325BF789E}"/>
              </a:ext>
            </a:extLst>
          </p:cNvPr>
          <p:cNvSpPr>
            <a:spLocks noGrp="1"/>
          </p:cNvSpPr>
          <p:nvPr>
            <p:ph type="title" hasCustomPrompt="1"/>
          </p:nvPr>
        </p:nvSpPr>
        <p:spPr>
          <a:xfrm>
            <a:off x="387664" y="297312"/>
            <a:ext cx="11416672" cy="1021358"/>
          </a:xfrm>
        </p:spPr>
        <p:txBody>
          <a:bodyPr>
            <a:normAutofit/>
          </a:bodyPr>
          <a:lstStyle>
            <a:lvl1pPr>
              <a:defRPr sz="4000" b="1" baseline="0">
                <a:latin typeface="Garamond" panose="02020404030301010803" pitchFamily="18" charset="0"/>
                <a:ea typeface="黑体" panose="02010609060101010101" pitchFamily="49" charset="-122"/>
              </a:defRPr>
            </a:lvl1pPr>
          </a:lstStyle>
          <a:p>
            <a:r>
              <a:rPr lang="zh-CN" altLang="en-US" dirty="0"/>
              <a:t>单击此处编辑母版标题样式</a:t>
            </a:r>
            <a:r>
              <a:rPr lang="en-US" altLang="zh-CN" dirty="0"/>
              <a:t>Title</a:t>
            </a:r>
            <a:endParaRPr lang="zh-CN" altLang="en-US" dirty="0"/>
          </a:p>
        </p:txBody>
      </p:sp>
      <p:sp>
        <p:nvSpPr>
          <p:cNvPr id="3" name="内容占位符 2">
            <a:extLst>
              <a:ext uri="{FF2B5EF4-FFF2-40B4-BE49-F238E27FC236}">
                <a16:creationId xmlns:a16="http://schemas.microsoft.com/office/drawing/2014/main" id="{F282DADD-A587-4C8B-B184-1CB157127A79}"/>
              </a:ext>
            </a:extLst>
          </p:cNvPr>
          <p:cNvSpPr>
            <a:spLocks noGrp="1"/>
          </p:cNvSpPr>
          <p:nvPr>
            <p:ph idx="1" hasCustomPrompt="1"/>
          </p:nvPr>
        </p:nvSpPr>
        <p:spPr>
          <a:xfrm>
            <a:off x="387664" y="1307306"/>
            <a:ext cx="11416672" cy="4869657"/>
          </a:xfrm>
        </p:spPr>
        <p:txBody>
          <a:bodyPr/>
          <a:lstStyle>
            <a:lvl1pPr>
              <a:defRPr baseline="0">
                <a:latin typeface="Garamond" panose="02020404030301010803" pitchFamily="18" charset="0"/>
              </a:defRPr>
            </a:lvl1pPr>
            <a:lvl2pPr>
              <a:defRPr baseline="0">
                <a:latin typeface="Arial" panose="020B0604020202020204" pitchFamily="34" charset="0"/>
              </a:defRPr>
            </a:lvl2pPr>
            <a:lvl3pPr>
              <a:defRPr baseline="0">
                <a:latin typeface="Arial" panose="020B0604020202020204" pitchFamily="34" charset="0"/>
                <a:ea typeface="+mn-ea"/>
              </a:defRPr>
            </a:lvl3pPr>
            <a:lvl4pPr>
              <a:defRPr baseline="0">
                <a:latin typeface="Times New Roman" panose="02020603050405020304" pitchFamily="18" charset="0"/>
                <a:ea typeface="仿宋" panose="02010609060101010101" pitchFamily="49" charset="-122"/>
              </a:defRPr>
            </a:lvl4pPr>
            <a:lvl5pPr>
              <a:defRPr baseline="0">
                <a:latin typeface="Times New Roman" panose="02020603050405020304" pitchFamily="18" charset="0"/>
                <a:ea typeface="楷体" panose="02010609060101010101" pitchFamily="49" charset="-122"/>
              </a:defRPr>
            </a:lvl5pPr>
          </a:lstStyle>
          <a:p>
            <a:pPr lvl="0"/>
            <a:r>
              <a:rPr lang="zh-CN" altLang="en-US" dirty="0"/>
              <a:t>编辑母版文本样式</a:t>
            </a:r>
            <a:r>
              <a:rPr lang="en-US" altLang="zh-CN" dirty="0"/>
              <a:t>Subtitle</a:t>
            </a:r>
            <a:endParaRPr lang="zh-CN" altLang="en-US" dirty="0"/>
          </a:p>
          <a:p>
            <a:pPr lvl="1"/>
            <a:r>
              <a:rPr lang="zh-CN" altLang="en-US" dirty="0"/>
              <a:t>第二级</a:t>
            </a:r>
            <a:r>
              <a:rPr lang="en-US" altLang="zh-CN" dirty="0"/>
              <a:t>Second</a:t>
            </a:r>
            <a:endParaRPr lang="zh-CN" altLang="en-US" dirty="0"/>
          </a:p>
          <a:p>
            <a:pPr lvl="2"/>
            <a:r>
              <a:rPr lang="zh-CN" altLang="en-US" dirty="0"/>
              <a:t>第三级</a:t>
            </a:r>
            <a:r>
              <a:rPr lang="en-US" altLang="zh-CN" dirty="0"/>
              <a:t>Third</a:t>
            </a:r>
            <a:endParaRPr lang="zh-CN" altLang="en-US" dirty="0"/>
          </a:p>
          <a:p>
            <a:pPr lvl="3"/>
            <a:r>
              <a:rPr lang="zh-CN" altLang="en-US" dirty="0"/>
              <a:t>第四级</a:t>
            </a:r>
            <a:r>
              <a:rPr lang="en-US" altLang="zh-CN" dirty="0"/>
              <a:t>Fourth</a:t>
            </a:r>
            <a:endParaRPr lang="zh-CN" altLang="en-US" dirty="0"/>
          </a:p>
          <a:p>
            <a:pPr lvl="4"/>
            <a:r>
              <a:rPr lang="zh-CN" altLang="en-US" dirty="0"/>
              <a:t>第五级</a:t>
            </a:r>
            <a:r>
              <a:rPr lang="en-US" altLang="zh-CN" dirty="0"/>
              <a:t>Fifth</a:t>
            </a:r>
            <a:endParaRPr lang="zh-CN" altLang="en-US" dirty="0"/>
          </a:p>
        </p:txBody>
      </p:sp>
      <p:sp>
        <p:nvSpPr>
          <p:cNvPr id="4" name="日期占位符 3">
            <a:extLst>
              <a:ext uri="{FF2B5EF4-FFF2-40B4-BE49-F238E27FC236}">
                <a16:creationId xmlns:a16="http://schemas.microsoft.com/office/drawing/2014/main" id="{3CFEA9C9-97C6-4B24-AB2B-D5313A313D02}"/>
              </a:ext>
            </a:extLst>
          </p:cNvPr>
          <p:cNvSpPr>
            <a:spLocks noGrp="1"/>
          </p:cNvSpPr>
          <p:nvPr>
            <p:ph type="dt" sz="half" idx="10"/>
          </p:nvPr>
        </p:nvSpPr>
        <p:spPr/>
        <p:txBody>
          <a:bodyPr/>
          <a:lstStyle/>
          <a:p>
            <a:fld id="{7DC63845-A28E-4286-ADD0-6B6E5039545F}" type="datetimeFigureOut">
              <a:rPr lang="zh-CN" altLang="en-US" smtClean="0"/>
              <a:t>2026/9/29</a:t>
            </a:fld>
            <a:endParaRPr lang="zh-CN" altLang="en-US" dirty="0"/>
          </a:p>
        </p:txBody>
      </p:sp>
      <p:sp>
        <p:nvSpPr>
          <p:cNvPr id="5" name="页脚占位符 4">
            <a:extLst>
              <a:ext uri="{FF2B5EF4-FFF2-40B4-BE49-F238E27FC236}">
                <a16:creationId xmlns:a16="http://schemas.microsoft.com/office/drawing/2014/main" id="{B77F9096-1069-440B-8A3F-707B65FC8D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7E7560-125A-40F5-8D0D-A1D6A098955D}"/>
              </a:ext>
            </a:extLst>
          </p:cNvPr>
          <p:cNvSpPr>
            <a:spLocks noGrp="1"/>
          </p:cNvSpPr>
          <p:nvPr>
            <p:ph type="sldNum" sz="quarter" idx="12"/>
          </p:nvPr>
        </p:nvSpPr>
        <p:spPr/>
        <p:txBody>
          <a:bodyPr/>
          <a:lstStyle/>
          <a:p>
            <a:fld id="{7E4A8778-6878-4E7F-8804-30B4CC446728}" type="slidenum">
              <a:rPr lang="zh-CN" altLang="en-US" smtClean="0"/>
              <a:t>‹#›</a:t>
            </a:fld>
            <a:endParaRPr lang="zh-CN" altLang="en-US"/>
          </a:p>
        </p:txBody>
      </p:sp>
      <p:sp>
        <p:nvSpPr>
          <p:cNvPr id="7" name="矩形 6">
            <a:extLst>
              <a:ext uri="{FF2B5EF4-FFF2-40B4-BE49-F238E27FC236}">
                <a16:creationId xmlns:a16="http://schemas.microsoft.com/office/drawing/2014/main" id="{69EAAEC4-303C-4C3D-874E-FA92856B9AFE}"/>
              </a:ext>
            </a:extLst>
          </p:cNvPr>
          <p:cNvSpPr/>
          <p:nvPr userDrawn="1"/>
        </p:nvSpPr>
        <p:spPr>
          <a:xfrm>
            <a:off x="437277" y="1168321"/>
            <a:ext cx="11345731" cy="45719"/>
          </a:xfrm>
          <a:prstGeom prst="rect">
            <a:avLst/>
          </a:prstGeom>
          <a:gradFill flip="none" rotWithShape="1">
            <a:gsLst>
              <a:gs pos="0">
                <a:srgbClr val="8B0012">
                  <a:lumMod val="100000"/>
                  <a:alpha val="40000"/>
                </a:srgbClr>
              </a:gs>
              <a:gs pos="100000">
                <a:srgbClr val="8B0012">
                  <a:lumMod val="100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8" name="组合 7">
            <a:extLst>
              <a:ext uri="{FF2B5EF4-FFF2-40B4-BE49-F238E27FC236}">
                <a16:creationId xmlns:a16="http://schemas.microsoft.com/office/drawing/2014/main" id="{989D74CE-D3C9-4926-A6F8-79AD6386F171}"/>
              </a:ext>
            </a:extLst>
          </p:cNvPr>
          <p:cNvGrpSpPr/>
          <p:nvPr userDrawn="1"/>
        </p:nvGrpSpPr>
        <p:grpSpPr>
          <a:xfrm>
            <a:off x="10926459" y="385926"/>
            <a:ext cx="854684" cy="844130"/>
            <a:chOff x="10803799" y="316407"/>
            <a:chExt cx="999209" cy="999209"/>
          </a:xfrm>
        </p:grpSpPr>
        <p:sp>
          <p:nvSpPr>
            <p:cNvPr id="9" name="椭圆 8">
              <a:extLst>
                <a:ext uri="{FF2B5EF4-FFF2-40B4-BE49-F238E27FC236}">
                  <a16:creationId xmlns:a16="http://schemas.microsoft.com/office/drawing/2014/main" id="{6548601E-80EE-4EA1-9D28-FBE40EB450A0}"/>
                </a:ext>
              </a:extLst>
            </p:cNvPr>
            <p:cNvSpPr/>
            <p:nvPr userDrawn="1"/>
          </p:nvSpPr>
          <p:spPr>
            <a:xfrm>
              <a:off x="10803799" y="316407"/>
              <a:ext cx="999209" cy="999209"/>
            </a:xfrm>
            <a:prstGeom prst="ellipse">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a:p>
          </p:txBody>
        </p:sp>
        <p:pic>
          <p:nvPicPr>
            <p:cNvPr id="10" name="图片 9">
              <a:extLst>
                <a:ext uri="{FF2B5EF4-FFF2-40B4-BE49-F238E27FC236}">
                  <a16:creationId xmlns:a16="http://schemas.microsoft.com/office/drawing/2014/main" id="{05E32F9E-FC1B-4871-96DA-8CDDA568BC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31793" y="353732"/>
              <a:ext cx="940329" cy="940329"/>
            </a:xfrm>
            <a:prstGeom prst="rect">
              <a:avLst/>
            </a:prstGeom>
            <a:noFill/>
          </p:spPr>
        </p:pic>
      </p:grpSp>
      <p:pic>
        <p:nvPicPr>
          <p:cNvPr id="17" name="图片 16">
            <a:extLst>
              <a:ext uri="{FF2B5EF4-FFF2-40B4-BE49-F238E27FC236}">
                <a16:creationId xmlns:a16="http://schemas.microsoft.com/office/drawing/2014/main" id="{E575726C-8876-4B13-A4FA-4146C2854BA7}"/>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 y="1"/>
            <a:ext cx="756458" cy="613388"/>
          </a:xfrm>
          <a:prstGeom prst="rect">
            <a:avLst/>
          </a:prstGeom>
        </p:spPr>
      </p:pic>
      <p:pic>
        <p:nvPicPr>
          <p:cNvPr id="18" name="图片 17">
            <a:extLst>
              <a:ext uri="{FF2B5EF4-FFF2-40B4-BE49-F238E27FC236}">
                <a16:creationId xmlns:a16="http://schemas.microsoft.com/office/drawing/2014/main" id="{9A225427-D876-4210-8302-65CA6FAAD6B6}"/>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11435544" y="6287261"/>
            <a:ext cx="756456" cy="575306"/>
          </a:xfrm>
          <a:prstGeom prst="rect">
            <a:avLst/>
          </a:prstGeom>
        </p:spPr>
      </p:pic>
    </p:spTree>
    <p:extLst>
      <p:ext uri="{BB962C8B-B14F-4D97-AF65-F5344CB8AC3E}">
        <p14:creationId xmlns:p14="http://schemas.microsoft.com/office/powerpoint/2010/main" val="30444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02B50C9-091C-4200-A55D-585E0F165BFB}"/>
              </a:ext>
            </a:extLst>
          </p:cNvPr>
          <p:cNvSpPr>
            <a:spLocks noGrp="1"/>
          </p:cNvSpPr>
          <p:nvPr>
            <p:ph sz="half" idx="1"/>
          </p:nvPr>
        </p:nvSpPr>
        <p:spPr>
          <a:xfrm>
            <a:off x="387664" y="1318670"/>
            <a:ext cx="5632136" cy="4858293"/>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a:extLst>
              <a:ext uri="{FF2B5EF4-FFF2-40B4-BE49-F238E27FC236}">
                <a16:creationId xmlns:a16="http://schemas.microsoft.com/office/drawing/2014/main" id="{60D666A0-352E-4118-9D78-C5E15585FCB2}"/>
              </a:ext>
            </a:extLst>
          </p:cNvPr>
          <p:cNvSpPr>
            <a:spLocks noGrp="1"/>
          </p:cNvSpPr>
          <p:nvPr>
            <p:ph sz="half" idx="2"/>
          </p:nvPr>
        </p:nvSpPr>
        <p:spPr>
          <a:xfrm>
            <a:off x="6172199" y="1318670"/>
            <a:ext cx="5632135" cy="485829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1A9331F7-346C-440A-9DF9-7C4F6F15EF50}"/>
              </a:ext>
            </a:extLst>
          </p:cNvPr>
          <p:cNvSpPr>
            <a:spLocks noGrp="1"/>
          </p:cNvSpPr>
          <p:nvPr>
            <p:ph type="dt" sz="half" idx="10"/>
          </p:nvPr>
        </p:nvSpPr>
        <p:spPr/>
        <p:txBody>
          <a:bodyPr/>
          <a:lstStyle/>
          <a:p>
            <a:fld id="{7DC63845-A28E-4286-ADD0-6B6E5039545F}" type="datetimeFigureOut">
              <a:rPr lang="zh-CN" altLang="en-US" smtClean="0"/>
              <a:t>2026/9/29</a:t>
            </a:fld>
            <a:endParaRPr lang="zh-CN" altLang="en-US"/>
          </a:p>
        </p:txBody>
      </p:sp>
      <p:sp>
        <p:nvSpPr>
          <p:cNvPr id="6" name="页脚占位符 5">
            <a:extLst>
              <a:ext uri="{FF2B5EF4-FFF2-40B4-BE49-F238E27FC236}">
                <a16:creationId xmlns:a16="http://schemas.microsoft.com/office/drawing/2014/main" id="{1B0222E7-B28C-4141-9ECD-B2B9CC1ED1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18A1645-2600-49D5-B678-D6928E5061CD}"/>
              </a:ext>
            </a:extLst>
          </p:cNvPr>
          <p:cNvSpPr>
            <a:spLocks noGrp="1"/>
          </p:cNvSpPr>
          <p:nvPr>
            <p:ph type="sldNum" sz="quarter" idx="12"/>
          </p:nvPr>
        </p:nvSpPr>
        <p:spPr/>
        <p:txBody>
          <a:bodyPr/>
          <a:lstStyle/>
          <a:p>
            <a:fld id="{7E4A8778-6878-4E7F-8804-30B4CC446728}" type="slidenum">
              <a:rPr lang="zh-CN" altLang="en-US" smtClean="0"/>
              <a:t>‹#›</a:t>
            </a:fld>
            <a:endParaRPr lang="zh-CN" altLang="en-US"/>
          </a:p>
        </p:txBody>
      </p:sp>
      <p:sp>
        <p:nvSpPr>
          <p:cNvPr id="8" name="标题 1">
            <a:extLst>
              <a:ext uri="{FF2B5EF4-FFF2-40B4-BE49-F238E27FC236}">
                <a16:creationId xmlns:a16="http://schemas.microsoft.com/office/drawing/2014/main" id="{1C5BCCF6-BAEC-42F9-83F9-32188B4BF2BF}"/>
              </a:ext>
            </a:extLst>
          </p:cNvPr>
          <p:cNvSpPr>
            <a:spLocks noGrp="1"/>
          </p:cNvSpPr>
          <p:nvPr>
            <p:ph type="title"/>
          </p:nvPr>
        </p:nvSpPr>
        <p:spPr>
          <a:xfrm>
            <a:off x="387664" y="297312"/>
            <a:ext cx="11416672" cy="1021358"/>
          </a:xfrm>
        </p:spPr>
        <p:txBody>
          <a:bodyPr>
            <a:normAutofit/>
          </a:bodyPr>
          <a:lstStyle>
            <a:lvl1pPr>
              <a:defRPr sz="4000" b="1">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9" name="矩形 8">
            <a:extLst>
              <a:ext uri="{FF2B5EF4-FFF2-40B4-BE49-F238E27FC236}">
                <a16:creationId xmlns:a16="http://schemas.microsoft.com/office/drawing/2014/main" id="{0C464141-4A0D-465D-9EE2-3F07EB5CAFCE}"/>
              </a:ext>
            </a:extLst>
          </p:cNvPr>
          <p:cNvSpPr/>
          <p:nvPr userDrawn="1"/>
        </p:nvSpPr>
        <p:spPr>
          <a:xfrm>
            <a:off x="437277" y="1168321"/>
            <a:ext cx="11345731" cy="45719"/>
          </a:xfrm>
          <a:prstGeom prst="rect">
            <a:avLst/>
          </a:prstGeom>
          <a:gradFill flip="none" rotWithShape="1">
            <a:gsLst>
              <a:gs pos="0">
                <a:srgbClr val="8B0012">
                  <a:lumMod val="100000"/>
                  <a:alpha val="40000"/>
                </a:srgbClr>
              </a:gs>
              <a:gs pos="100000">
                <a:srgbClr val="8B0012">
                  <a:lumMod val="100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0" name="组合 9">
            <a:extLst>
              <a:ext uri="{FF2B5EF4-FFF2-40B4-BE49-F238E27FC236}">
                <a16:creationId xmlns:a16="http://schemas.microsoft.com/office/drawing/2014/main" id="{AE01BE43-FC74-4C82-9720-F1449BB22839}"/>
              </a:ext>
            </a:extLst>
          </p:cNvPr>
          <p:cNvGrpSpPr/>
          <p:nvPr userDrawn="1"/>
        </p:nvGrpSpPr>
        <p:grpSpPr>
          <a:xfrm>
            <a:off x="10926459" y="385926"/>
            <a:ext cx="854684" cy="844130"/>
            <a:chOff x="10803799" y="316407"/>
            <a:chExt cx="999209" cy="999209"/>
          </a:xfrm>
        </p:grpSpPr>
        <p:sp>
          <p:nvSpPr>
            <p:cNvPr id="11" name="椭圆 10">
              <a:extLst>
                <a:ext uri="{FF2B5EF4-FFF2-40B4-BE49-F238E27FC236}">
                  <a16:creationId xmlns:a16="http://schemas.microsoft.com/office/drawing/2014/main" id="{F1C81B2D-9503-4CB7-8147-3FB6049C8E9D}"/>
                </a:ext>
              </a:extLst>
            </p:cNvPr>
            <p:cNvSpPr/>
            <p:nvPr userDrawn="1"/>
          </p:nvSpPr>
          <p:spPr>
            <a:xfrm>
              <a:off x="10803799" y="316407"/>
              <a:ext cx="999209" cy="999209"/>
            </a:xfrm>
            <a:prstGeom prst="ellipse">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a:p>
          </p:txBody>
        </p:sp>
        <p:pic>
          <p:nvPicPr>
            <p:cNvPr id="12" name="图片 11">
              <a:extLst>
                <a:ext uri="{FF2B5EF4-FFF2-40B4-BE49-F238E27FC236}">
                  <a16:creationId xmlns:a16="http://schemas.microsoft.com/office/drawing/2014/main" id="{D791690E-03BC-46B6-8328-4D635123A0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31793" y="353732"/>
              <a:ext cx="940329" cy="940329"/>
            </a:xfrm>
            <a:prstGeom prst="rect">
              <a:avLst/>
            </a:prstGeom>
            <a:noFill/>
          </p:spPr>
        </p:pic>
      </p:grpSp>
    </p:spTree>
    <p:extLst>
      <p:ext uri="{BB962C8B-B14F-4D97-AF65-F5344CB8AC3E}">
        <p14:creationId xmlns:p14="http://schemas.microsoft.com/office/powerpoint/2010/main" val="4739859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4C84B59-FB30-4D93-A089-F7CDB43ADC3A}"/>
              </a:ext>
            </a:extLst>
          </p:cNvPr>
          <p:cNvSpPr>
            <a:spLocks noGrp="1"/>
          </p:cNvSpPr>
          <p:nvPr>
            <p:ph type="title"/>
          </p:nvPr>
        </p:nvSpPr>
        <p:spPr>
          <a:xfrm>
            <a:off x="838200" y="344193"/>
            <a:ext cx="10515600" cy="1044014"/>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4E4F662-D5F7-402F-BAC0-E36DAE45C9E7}"/>
              </a:ext>
            </a:extLst>
          </p:cNvPr>
          <p:cNvSpPr>
            <a:spLocks noGrp="1"/>
          </p:cNvSpPr>
          <p:nvPr>
            <p:ph type="body" idx="1"/>
          </p:nvPr>
        </p:nvSpPr>
        <p:spPr>
          <a:xfrm>
            <a:off x="838200" y="1543576"/>
            <a:ext cx="10515600" cy="4633389"/>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5B750CAC-F8CF-4074-BF11-CEF148486A2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C63845-A28E-4286-ADD0-6B6E5039545F}" type="datetimeFigureOut">
              <a:rPr lang="zh-CN" altLang="en-US" smtClean="0"/>
              <a:t>2026/9/29</a:t>
            </a:fld>
            <a:endParaRPr lang="zh-CN" altLang="en-US"/>
          </a:p>
        </p:txBody>
      </p:sp>
      <p:sp>
        <p:nvSpPr>
          <p:cNvPr id="5" name="页脚占位符 4">
            <a:extLst>
              <a:ext uri="{FF2B5EF4-FFF2-40B4-BE49-F238E27FC236}">
                <a16:creationId xmlns:a16="http://schemas.microsoft.com/office/drawing/2014/main" id="{7DF5FD49-FC3F-4914-83AB-011E6706DD0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a:extLst>
              <a:ext uri="{FF2B5EF4-FFF2-40B4-BE49-F238E27FC236}">
                <a16:creationId xmlns:a16="http://schemas.microsoft.com/office/drawing/2014/main" id="{FCCE05C1-2ACF-4333-994E-EE8D0AAE305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4A8778-6878-4E7F-8804-30B4CC446728}" type="slidenum">
              <a:rPr lang="zh-CN" altLang="en-US" smtClean="0"/>
              <a:t>‹#›</a:t>
            </a:fld>
            <a:endParaRPr lang="zh-CN" altLang="en-US"/>
          </a:p>
        </p:txBody>
      </p:sp>
    </p:spTree>
    <p:extLst>
      <p:ext uri="{BB962C8B-B14F-4D97-AF65-F5344CB8AC3E}">
        <p14:creationId xmlns:p14="http://schemas.microsoft.com/office/powerpoint/2010/main" val="3375428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Wingdings" panose="05000000000000000000" pitchFamily="2" charset="2"/>
        <a:buChar char="Ø"/>
        <a:defRPr sz="32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Font typeface="Wingdings" panose="05000000000000000000" pitchFamily="2" charset="2"/>
        <a:buChar char="p"/>
        <a:defRPr sz="2800"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100000"/>
        </a:lnSpc>
        <a:spcBef>
          <a:spcPts val="500"/>
        </a:spcBef>
        <a:buFont typeface="Wingdings" panose="05000000000000000000" pitchFamily="2" charset="2"/>
        <a:buChar char="u"/>
        <a:defRPr sz="24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100000"/>
        </a:lnSpc>
        <a:spcBef>
          <a:spcPts val="500"/>
        </a:spcBef>
        <a:buFont typeface="Wingdings" panose="05000000000000000000" pitchFamily="2" charset="2"/>
        <a:buChar char="l"/>
        <a:defRPr sz="20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279282" y="1741430"/>
            <a:ext cx="11633435" cy="4351145"/>
          </a:xfrm>
        </p:spPr>
        <p:txBody>
          <a:bodyPr>
            <a:normAutofit/>
          </a:bodyPr>
          <a:lstStyle/>
          <a:p>
            <a:r>
              <a:rPr lang="en-US" altLang="zh-CN" sz="3600" dirty="0"/>
              <a:t>ShadowBinding: Realizing Effective Microarchitectures for In-Core Secure Speculation Schemes</a:t>
            </a:r>
            <a:br>
              <a:rPr lang="en-US" altLang="zh-CN" sz="3600" dirty="0"/>
            </a:br>
            <a:r>
              <a:rPr lang="en-US" altLang="zh-CN" sz="2800" dirty="0"/>
              <a:t>ShadowBinding</a:t>
            </a:r>
            <a:r>
              <a:rPr lang="zh-CN" altLang="en-US" sz="2800" dirty="0"/>
              <a:t>：</a:t>
            </a:r>
            <a:r>
              <a:rPr lang="zh-CN" altLang="en-US" sz="2800" dirty="0">
                <a:latin typeface="楷体" panose="02010609060101010101" pitchFamily="49" charset="-122"/>
                <a:ea typeface="楷体" panose="02010609060101010101" pitchFamily="49" charset="-122"/>
              </a:rPr>
              <a:t>构建高效的核内安全推测执行微体系结构</a:t>
            </a:r>
            <a:br>
              <a:rPr lang="en-US" altLang="zh-CN" sz="3600" dirty="0"/>
            </a:br>
            <a:r>
              <a:rPr lang="en-US" altLang="zh-CN" sz="2000" dirty="0"/>
              <a:t>Amund Bergland Kvalsvik      Magnus Själander</a:t>
            </a:r>
            <a:br>
              <a:rPr lang="en-US" altLang="zh-CN" sz="2000" dirty="0"/>
            </a:br>
            <a:r>
              <a:rPr lang="en-US" altLang="zh-CN" sz="2000" dirty="0"/>
              <a:t>Norwegian University of Science and Technology Trondheim, Norway</a:t>
            </a:r>
            <a:br>
              <a:rPr lang="en-US" altLang="zh-CN" sz="2000" dirty="0"/>
            </a:br>
            <a:r>
              <a:rPr lang="en-US" altLang="zh-CN" sz="2000" dirty="0"/>
              <a:t>MICRO,</a:t>
            </a:r>
            <a:r>
              <a:rPr lang="zh-CN" altLang="en-US" sz="2000" dirty="0"/>
              <a:t> </a:t>
            </a:r>
            <a:r>
              <a:rPr lang="en-US" altLang="zh-CN" sz="2000" dirty="0"/>
              <a:t>2025</a:t>
            </a:r>
            <a:br>
              <a:rPr lang="en-US" altLang="zh-CN" sz="2000" dirty="0"/>
            </a:br>
            <a:br>
              <a:rPr lang="en-US" altLang="zh-CN" sz="2000" dirty="0"/>
            </a:br>
            <a:r>
              <a:rPr lang="zh-CN" altLang="en-US" sz="2000" dirty="0">
                <a:latin typeface="楷体" panose="02010609060101010101" pitchFamily="49" charset="-122"/>
                <a:ea typeface="楷体" panose="02010609060101010101" pitchFamily="49" charset="-122"/>
              </a:rPr>
              <a:t>汇报人：林子清</a:t>
            </a:r>
            <a:br>
              <a:rPr lang="en-US" altLang="zh-CN" sz="2000" dirty="0">
                <a:latin typeface="楷体" panose="02010609060101010101" pitchFamily="49" charset="-122"/>
                <a:ea typeface="楷体" panose="02010609060101010101" pitchFamily="49" charset="-122"/>
              </a:rPr>
            </a:br>
            <a:r>
              <a:rPr lang="zh-CN" altLang="en-US" sz="2000" dirty="0">
                <a:latin typeface="楷体" panose="02010609060101010101" pitchFamily="49" charset="-122"/>
                <a:ea typeface="楷体" panose="02010609060101010101" pitchFamily="49" charset="-122"/>
              </a:rPr>
              <a:t>指导老师：刘先华</a:t>
            </a:r>
            <a:br>
              <a:rPr lang="en-US" altLang="zh-CN" sz="2000" dirty="0">
                <a:latin typeface="楷体" panose="02010609060101010101" pitchFamily="49" charset="-122"/>
                <a:ea typeface="楷体" panose="02010609060101010101" pitchFamily="49" charset="-122"/>
              </a:rPr>
            </a:br>
            <a:r>
              <a:rPr lang="en-US" altLang="zh-CN" sz="2000" dirty="0">
                <a:latin typeface="+mn-lt"/>
                <a:ea typeface="楷体" panose="02010609060101010101" pitchFamily="49" charset="-122"/>
              </a:rPr>
              <a:t>2026</a:t>
            </a:r>
            <a:r>
              <a:rPr lang="zh-CN" altLang="en-US" sz="2000" dirty="0">
                <a:latin typeface="+mn-lt"/>
                <a:ea typeface="楷体" panose="02010609060101010101" pitchFamily="49" charset="-122"/>
              </a:rPr>
              <a:t>年</a:t>
            </a:r>
            <a:r>
              <a:rPr lang="en-US" altLang="zh-CN" sz="2000" dirty="0">
                <a:latin typeface="+mn-lt"/>
                <a:ea typeface="楷体" panose="02010609060101010101" pitchFamily="49" charset="-122"/>
              </a:rPr>
              <a:t>10</a:t>
            </a:r>
            <a:r>
              <a:rPr lang="zh-CN" altLang="en-US" sz="2000" dirty="0">
                <a:latin typeface="+mn-lt"/>
                <a:ea typeface="楷体" panose="02010609060101010101" pitchFamily="49" charset="-122"/>
              </a:rPr>
              <a:t>月</a:t>
            </a:r>
            <a:r>
              <a:rPr lang="en-US" altLang="zh-CN" sz="2000" dirty="0">
                <a:latin typeface="+mn-lt"/>
                <a:ea typeface="楷体" panose="02010609060101010101" pitchFamily="49" charset="-122"/>
              </a:rPr>
              <a:t>11</a:t>
            </a:r>
            <a:r>
              <a:rPr lang="zh-CN" altLang="en-US" sz="2000" dirty="0">
                <a:latin typeface="+mn-lt"/>
                <a:ea typeface="楷体" panose="02010609060101010101" pitchFamily="49" charset="-122"/>
              </a:rPr>
              <a:t>日</a:t>
            </a:r>
            <a:endParaRPr lang="zh-CN" altLang="en-US" dirty="0">
              <a:latin typeface="+mn-lt"/>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a:t>
            </a:fld>
            <a:endParaRPr lang="zh-CN" altLang="en-US"/>
          </a:p>
        </p:txBody>
      </p:sp>
    </p:spTree>
    <p:extLst>
      <p:ext uri="{BB962C8B-B14F-4D97-AF65-F5344CB8AC3E}">
        <p14:creationId xmlns:p14="http://schemas.microsoft.com/office/powerpoint/2010/main" val="211908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a:t>Introduction</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a:t>
            </a:fld>
            <a:endParaRPr lang="zh-CN" altLang="en-US"/>
          </a:p>
        </p:txBody>
      </p:sp>
    </p:spTree>
    <p:extLst>
      <p:ext uri="{BB962C8B-B14F-4D97-AF65-F5344CB8AC3E}">
        <p14:creationId xmlns:p14="http://schemas.microsoft.com/office/powerpoint/2010/main" val="4124696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Speculative Side-Channel Attacks</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19955" y="1318670"/>
            <a:ext cx="11552089" cy="4701985"/>
          </a:xfrm>
        </p:spPr>
        <p:txBody>
          <a:bodyPr>
            <a:normAutofit/>
          </a:bodyPr>
          <a:lstStyle/>
          <a:p>
            <a:pPr marL="0" indent="0">
              <a:buNone/>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推测执行</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是现代乱序处理器获取高性能的基础机制：</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处理器在分支方向、内存依赖等条件尚未解析之前即沿预测路径继续取指与执行。</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一旦预测发现预测错误，流水线中的相关指令被清除</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虽然这些指令的执行结果被丢弃，然而这些指令在执行过程中留下的微架构状态变化，如缓存行、</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TLB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条目、分支预测器表项、执行端口占用情况等仍可能产生与敏感信息相关的可观测差异，从而被攻击者用于推断敏感信息。</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a:t>
            </a:fld>
            <a:endParaRPr lang="zh-CN" altLang="en-US"/>
          </a:p>
        </p:txBody>
      </p:sp>
    </p:spTree>
    <p:extLst>
      <p:ext uri="{BB962C8B-B14F-4D97-AF65-F5344CB8AC3E}">
        <p14:creationId xmlns:p14="http://schemas.microsoft.com/office/powerpoint/2010/main" val="274974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Speculative Side-Channel Attacks</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a:t>
            </a:fld>
            <a:endParaRPr lang="zh-CN" altLang="en-US"/>
          </a:p>
        </p:txBody>
      </p:sp>
      <p:pic>
        <p:nvPicPr>
          <p:cNvPr id="10" name="图片 9">
            <a:extLst>
              <a:ext uri="{FF2B5EF4-FFF2-40B4-BE49-F238E27FC236}">
                <a16:creationId xmlns:a16="http://schemas.microsoft.com/office/drawing/2014/main" id="{3DA39C67-1602-C947-518E-FFB292E20BCC}"/>
              </a:ext>
            </a:extLst>
          </p:cNvPr>
          <p:cNvPicPr>
            <a:picLocks noChangeAspect="1"/>
          </p:cNvPicPr>
          <p:nvPr/>
        </p:nvPicPr>
        <p:blipFill>
          <a:blip r:embed="rId3"/>
          <a:stretch>
            <a:fillRect/>
          </a:stretch>
        </p:blipFill>
        <p:spPr>
          <a:xfrm>
            <a:off x="718868" y="1373903"/>
            <a:ext cx="10328694" cy="4982449"/>
          </a:xfrm>
          <a:prstGeom prst="rect">
            <a:avLst/>
          </a:prstGeom>
        </p:spPr>
      </p:pic>
    </p:spTree>
    <p:extLst>
      <p:ext uri="{BB962C8B-B14F-4D97-AF65-F5344CB8AC3E}">
        <p14:creationId xmlns:p14="http://schemas.microsoft.com/office/powerpoint/2010/main" val="329134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In-Core Secure Schemes</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395488"/>
            <a:ext cx="11552089" cy="3395684"/>
          </a:xfrm>
        </p:spPr>
        <p:txBody>
          <a:bodyPr>
            <a:normAutofit/>
          </a:bodyPr>
          <a:lstStyle/>
          <a:p>
            <a:pPr marL="0" indent="0">
              <a:lnSpc>
                <a:spcPct val="110000"/>
              </a:lnSpc>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研究人员已经提出了大量基于软件的缓解策略，包括编译器、库、操作系统，甚至微码补丁方面的改进。然而，由于攻击向量本质上存在于微架构内部，仅靠软件难以构建健壮且低成本的防御。因此，学界转向在微架构层面直接阻断泄露路径的安全推测方案。</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lnSpc>
                <a:spcPct val="110000"/>
              </a:lnSpc>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核内安全方案不修改内存层次结构、也不要求软件变化的情况下阻断推测旁路攻击，因而在实现与部署成本上更具吸引力。</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5</a:t>
            </a:fld>
            <a:endParaRPr lang="zh-CN" altLang="en-US"/>
          </a:p>
        </p:txBody>
      </p:sp>
    </p:spTree>
    <p:extLst>
      <p:ext uri="{BB962C8B-B14F-4D97-AF65-F5344CB8AC3E}">
        <p14:creationId xmlns:p14="http://schemas.microsoft.com/office/powerpoint/2010/main" val="3330305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dirty="0"/>
              <a:t>Threat Model</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6</a:t>
            </a:fld>
            <a:endParaRPr lang="zh-CN" altLang="en-US"/>
          </a:p>
        </p:txBody>
      </p:sp>
    </p:spTree>
    <p:extLst>
      <p:ext uri="{BB962C8B-B14F-4D97-AF65-F5344CB8AC3E}">
        <p14:creationId xmlns:p14="http://schemas.microsoft.com/office/powerpoint/2010/main" val="3424516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Speculative Shadow</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2" y="2120479"/>
            <a:ext cx="11552089" cy="1947027"/>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推测的来源被划分为四类，推测在流水线中投下一个阴影，处于阴影内的所有后继指令均被视为推测态。阴影按程序顺序解析。当一条指令不再处于任何阴影之下时，它是一定提交的，即到达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所称的可见点，此时其数据不再被视为秘密。</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7</a:t>
            </a:fld>
            <a:endParaRPr lang="zh-CN" altLang="en-US"/>
          </a:p>
        </p:txBody>
      </p:sp>
      <p:graphicFrame>
        <p:nvGraphicFramePr>
          <p:cNvPr id="5" name="表格 8">
            <a:extLst>
              <a:ext uri="{FF2B5EF4-FFF2-40B4-BE49-F238E27FC236}">
                <a16:creationId xmlns:a16="http://schemas.microsoft.com/office/drawing/2014/main" id="{A43E8475-96F6-998E-A776-88E8DF58696B}"/>
              </a:ext>
            </a:extLst>
          </p:cNvPr>
          <p:cNvGraphicFramePr/>
          <p:nvPr>
            <p:extLst>
              <p:ext uri="{D42A27DB-BD31-4B8C-83A1-F6EECF244321}">
                <p14:modId xmlns:p14="http://schemas.microsoft.com/office/powerpoint/2010/main" val="2899035270"/>
              </p:ext>
            </p:extLst>
          </p:nvPr>
        </p:nvGraphicFramePr>
        <p:xfrm>
          <a:off x="1083310" y="3607516"/>
          <a:ext cx="10025380" cy="1854160"/>
        </p:xfrm>
        <a:graphic>
          <a:graphicData uri="http://schemas.openxmlformats.org/drawingml/2006/table">
            <a:tbl>
              <a:tblPr>
                <a:tableStyleId>{2D5ABB26-0587-4C30-8999-92F81FD0307C}</a:tableStyleId>
              </a:tblPr>
              <a:tblGrid>
                <a:gridCol w="2468750">
                  <a:extLst>
                    <a:ext uri="{9D8B030D-6E8A-4147-A177-3AD203B41FA5}">
                      <a16:colId xmlns:a16="http://schemas.microsoft.com/office/drawing/2014/main" val="20000"/>
                    </a:ext>
                  </a:extLst>
                </a:gridCol>
                <a:gridCol w="3235591">
                  <a:extLst>
                    <a:ext uri="{9D8B030D-6E8A-4147-A177-3AD203B41FA5}">
                      <a16:colId xmlns:a16="http://schemas.microsoft.com/office/drawing/2014/main" val="20001"/>
                    </a:ext>
                  </a:extLst>
                </a:gridCol>
                <a:gridCol w="4321039">
                  <a:extLst>
                    <a:ext uri="{9D8B030D-6E8A-4147-A177-3AD203B41FA5}">
                      <a16:colId xmlns:a16="http://schemas.microsoft.com/office/drawing/2014/main" val="460295882"/>
                    </a:ext>
                  </a:extLst>
                </a:gridCol>
              </a:tblGrid>
              <a:tr h="370840">
                <a:tc>
                  <a:txBody>
                    <a:bodyPr/>
                    <a:lstStyle/>
                    <a:p>
                      <a:r>
                        <a:rPr lang="zh-CN" altLang="en-US" b="1">
                          <a:solidFill>
                            <a:srgbClr val="1F1F1F"/>
                          </a:solidFill>
                          <a:latin typeface="Times New Roman" panose="02020603050405020304" pitchFamily="18" charset="0"/>
                          <a:ea typeface="楷体" panose="02010609060101010101" pitchFamily="49" charset="-122"/>
                          <a:cs typeface="Times New Roman" panose="02020603050405020304" pitchFamily="18" charset="0"/>
                        </a:rPr>
                        <a:t>阴影</a:t>
                      </a:r>
                      <a:endParaRPr b="1">
                        <a:solidFill>
                          <a:srgbClr val="1F1F1F"/>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a:solidFill>
                        <a:srgbClr val="FFFFFF"/>
                      </a:solidFill>
                      <a:prstDash val="solid"/>
                    </a:lnR>
                    <a:lnT w="19050">
                      <a:solidFill>
                        <a:srgbClr val="1F1F1F"/>
                      </a:solidFill>
                      <a:prstDash val="solid"/>
                    </a:lnT>
                    <a:lnB w="9525">
                      <a:solidFill>
                        <a:srgbClr val="1F1F1F"/>
                      </a:solidFill>
                      <a:prstDash val="solid"/>
                    </a:lnB>
                    <a:solidFill>
                      <a:srgbClr val="FFFFFF"/>
                    </a:solidFill>
                  </a:tcPr>
                </a:tc>
                <a:tc>
                  <a:txBody>
                    <a:bodyPr/>
                    <a:lstStyle/>
                    <a:p>
                      <a:r>
                        <a:rPr lang="zh-CN" altLang="en-US" b="1">
                          <a:solidFill>
                            <a:srgbClr val="1F1F1F"/>
                          </a:solidFill>
                          <a:latin typeface="Times New Roman" panose="02020603050405020304" pitchFamily="18" charset="0"/>
                          <a:ea typeface="楷体" panose="02010609060101010101" pitchFamily="49" charset="-122"/>
                          <a:cs typeface="Times New Roman" panose="02020603050405020304" pitchFamily="18" charset="0"/>
                        </a:rPr>
                        <a:t>成因</a:t>
                      </a:r>
                      <a:endParaRPr b="1">
                        <a:solidFill>
                          <a:srgbClr val="1F1F1F"/>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a:solidFill>
                        <a:srgbClr val="1F1F1F"/>
                      </a:solidFill>
                      <a:prstDash val="solid"/>
                    </a:lnB>
                    <a:solidFill>
                      <a:srgbClr val="FFFFFF"/>
                    </a:solidFill>
                  </a:tcPr>
                </a:tc>
                <a:tc>
                  <a:txBody>
                    <a:bodyPr/>
                    <a:lstStyle/>
                    <a:p>
                      <a:r>
                        <a:rPr lang="zh-CN" altLang="en-US" b="1">
                          <a:solidFill>
                            <a:srgbClr val="1F1F1F"/>
                          </a:solidFill>
                          <a:latin typeface="Times New Roman" panose="02020603050405020304" pitchFamily="18" charset="0"/>
                          <a:ea typeface="楷体" panose="02010609060101010101" pitchFamily="49" charset="-122"/>
                          <a:cs typeface="Times New Roman" panose="02020603050405020304" pitchFamily="18" charset="0"/>
                        </a:rPr>
                        <a:t>解析条件</a:t>
                      </a:r>
                      <a:endParaRPr b="1">
                        <a:solidFill>
                          <a:srgbClr val="1F1F1F"/>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800">
                <a:tc>
                  <a:txBody>
                    <a:body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C-shadow</a:t>
                      </a:r>
                      <a:endParaRPr>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a:solidFill>
                        <a:srgbClr val="FFFFFF"/>
                      </a:solidFill>
                      <a:prstDash val="solid"/>
                    </a:lnR>
                    <a:lnT w="9525">
                      <a:solidFill>
                        <a:srgbClr val="1F1F1F"/>
                      </a:solidFill>
                      <a:prstDash val="soli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分支预测</a:t>
                      </a:r>
                      <a:endParaRPr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a:solidFill>
                        <a:srgbClr val="1F1F1F"/>
                      </a:solidFill>
                      <a:prstDash val="soli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分支方向解析</a:t>
                      </a:r>
                      <a:endParaRPr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0840">
                <a:tc>
                  <a:txBody>
                    <a:bodyPr/>
                    <a:lstStyle/>
                    <a:p>
                      <a:r>
                        <a:rPr lang="en-US">
                          <a:latin typeface="Times New Roman" panose="02020603050405020304" pitchFamily="18" charset="0"/>
                          <a:ea typeface="楷体" panose="02010609060101010101" pitchFamily="49" charset="-122"/>
                          <a:cs typeface="Times New Roman" panose="02020603050405020304" pitchFamily="18" charset="0"/>
                        </a:rPr>
                        <a:t>D-shadow</a:t>
                      </a:r>
                      <a:endParaRPr>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存储</a:t>
                      </a:r>
                      <a:r>
                        <a:rPr lang="en-US" altLang="zh-CN"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加载转发预测</a:t>
                      </a:r>
                      <a:endParaRPr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所有更旧的</a:t>
                      </a:r>
                      <a:r>
                        <a:rPr lang="en-US" altLang="zh-CN"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store</a:t>
                      </a:r>
                      <a:r>
                        <a:rPr lang="zh-CN" altLang="en-US"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地址生成，别名检查完成</a:t>
                      </a:r>
                      <a:endParaRPr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solidFill>
                      <a:srgbClr val="FFFFFF"/>
                    </a:solidFill>
                  </a:tcPr>
                </a:tc>
                <a:extLst>
                  <a:ext uri="{0D108BD9-81ED-4DB2-BD59-A6C34878D82A}">
                    <a16:rowId xmlns:a16="http://schemas.microsoft.com/office/drawing/2014/main" val="10002"/>
                  </a:ext>
                </a:extLst>
              </a:tr>
              <a:tr h="370840">
                <a:tc>
                  <a:txBody>
                    <a:bodyPr/>
                    <a:lstStyle/>
                    <a:p>
                      <a:r>
                        <a:rPr lang="en-US">
                          <a:latin typeface="Times New Roman" panose="02020603050405020304" pitchFamily="18" charset="0"/>
                          <a:ea typeface="楷体" panose="02010609060101010101" pitchFamily="49" charset="-122"/>
                          <a:cs typeface="Times New Roman" panose="02020603050405020304" pitchFamily="18" charset="0"/>
                        </a:rPr>
                        <a:t>M-shadow</a:t>
                      </a:r>
                      <a:endParaRPr>
                        <a:latin typeface="Times New Roman" panose="02020603050405020304" pitchFamily="18" charset="0"/>
                        <a:ea typeface="楷体" panose="02010609060101010101" pitchFamily="49" charset="-122"/>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B>
                      <a:noFill/>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内存一致性</a:t>
                      </a:r>
                      <a:endParaRPr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B>
                      <a:noFill/>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rPr>
                        <a:t>一致性约束满足</a:t>
                      </a:r>
                      <a:endParaRPr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B>
                      <a:noFill/>
                    </a:lnB>
                    <a:solidFill>
                      <a:srgbClr val="FFFFFF"/>
                    </a:solidFill>
                  </a:tcPr>
                </a:tc>
                <a:extLst>
                  <a:ext uri="{0D108BD9-81ED-4DB2-BD59-A6C34878D82A}">
                    <a16:rowId xmlns:a16="http://schemas.microsoft.com/office/drawing/2014/main" val="2989445054"/>
                  </a:ext>
                </a:extLst>
              </a:tr>
              <a:tr h="370840">
                <a:tc>
                  <a:txBody>
                    <a:bodyPr/>
                    <a:lstStyle/>
                    <a:p>
                      <a:r>
                        <a:rPr lang="en-US">
                          <a:latin typeface="Times New Roman" panose="02020603050405020304" pitchFamily="18" charset="0"/>
                          <a:ea typeface="楷体" panose="02010609060101010101" pitchFamily="49" charset="-122"/>
                          <a:cs typeface="Times New Roman" panose="02020603050405020304" pitchFamily="18" charset="0"/>
                        </a:rPr>
                        <a:t>E-shadow</a:t>
                      </a:r>
                      <a:endParaRPr>
                        <a:latin typeface="Times New Roman" panose="02020603050405020304" pitchFamily="18" charset="0"/>
                        <a:ea typeface="楷体" panose="02010609060101010101" pitchFamily="49" charset="-122"/>
                        <a:cs typeface="Times New Roman" panose="02020603050405020304" pitchFamily="18" charset="0"/>
                      </a:endParaRPr>
                    </a:p>
                  </a:txBody>
                  <a:tcPr>
                    <a:lnL w="9525">
                      <a:noFill/>
                      <a:prstDash val="solid"/>
                    </a:lnL>
                    <a:lnR w="9525"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rPr>
                        <a:t>异常</a:t>
                      </a:r>
                      <a:endParaRPr sz="1800" b="0" kern="120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a:lnSpc>
                          <a:spcPct val="100000"/>
                        </a:lnSpc>
                        <a:spcBef>
                          <a:spcPts val="0"/>
                        </a:spcBef>
                        <a:spcAft>
                          <a:spcPts val="0"/>
                        </a:spcAft>
                        <a:buClrTx/>
                        <a:buSzTx/>
                        <a:buFontTx/>
                        <a:buNone/>
                      </a:pPr>
                      <a:r>
                        <a:rPr lang="zh-CN" altLang="en-US"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rPr>
                        <a:t>确认不发生异常</a:t>
                      </a:r>
                      <a:endParaRPr sz="1800" b="0" kern="1200" dirty="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9317292"/>
                  </a:ext>
                </a:extLst>
              </a:tr>
            </a:tbl>
          </a:graphicData>
        </a:graphic>
      </p:graphicFrame>
    </p:spTree>
    <p:extLst>
      <p:ext uri="{BB962C8B-B14F-4D97-AF65-F5344CB8AC3E}">
        <p14:creationId xmlns:p14="http://schemas.microsoft.com/office/powerpoint/2010/main" val="435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Threat Model</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229689"/>
            <a:ext cx="11552089" cy="3279571"/>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攻击者能力：能够监控系统内的全部隐蔽信道，并能诱导受害者进入推测执行。</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秘密的定义：处理器在正常执行下无法访问的数据，即瞬态执行的产物。推测开始前即合法驻留于寄存器中的数据不算秘密。推测的范围：仅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C-shadow</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（控制推测）与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D-shadow</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（存储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加载转发推测）。</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M-shadow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E-shadow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不在范围内。</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攻击成功的判据：任何推测获取的数据，经由直接或间接的数据依赖，到达一条产生数据相关可观测效果的指令。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8</a:t>
            </a:fld>
            <a:endParaRPr lang="zh-CN" altLang="en-US"/>
          </a:p>
        </p:txBody>
      </p:sp>
    </p:spTree>
    <p:extLst>
      <p:ext uri="{BB962C8B-B14F-4D97-AF65-F5344CB8AC3E}">
        <p14:creationId xmlns:p14="http://schemas.microsoft.com/office/powerpoint/2010/main" val="152636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a:t>Background</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9</a:t>
            </a:fld>
            <a:endParaRPr lang="zh-CN" altLang="en-US"/>
          </a:p>
        </p:txBody>
      </p:sp>
    </p:spTree>
    <p:extLst>
      <p:ext uri="{BB962C8B-B14F-4D97-AF65-F5344CB8AC3E}">
        <p14:creationId xmlns:p14="http://schemas.microsoft.com/office/powerpoint/2010/main" val="88894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Speculative Taint Tracking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275192"/>
            <a:ext cx="11552089" cy="2824198"/>
          </a:xfrm>
        </p:spPr>
        <p:txBody>
          <a:bodyPr>
            <a:normAutofit/>
          </a:bodyPr>
          <a:lstStyle/>
          <a:p>
            <a:pPr marL="514350" indent="-514350">
              <a:buFont typeface="Wingdings" panose="05000000000000000000" pitchFamily="2" charset="2"/>
              <a:buAutoNum type="alphaLcParenBoth"/>
            </a:pPr>
            <a:r>
              <a:rPr lang="zh-CN" altLang="en-US" sz="2600" b="1" dirty="0">
                <a:latin typeface="Times New Roman" panose="02020603050405020304" pitchFamily="18" charset="0"/>
                <a:ea typeface="楷体" panose="02010609060101010101" pitchFamily="49" charset="-122"/>
                <a:cs typeface="Times New Roman" panose="02020603050405020304" pitchFamily="18" charset="0"/>
              </a:rPr>
              <a:t>污点传播：</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M1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指令为访问指令，推测执行，</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r1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引入污点，污点传播至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r3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M2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指令为传输指令，可能泄露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r3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值。</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514350" indent="-514350">
              <a:buFont typeface="Wingdings" panose="05000000000000000000" pitchFamily="2" charset="2"/>
              <a:buAutoNum type="alphaLcParenBoth"/>
            </a:pPr>
            <a:r>
              <a:rPr lang="zh-CN" altLang="en-US" sz="2600" b="1" dirty="0">
                <a:latin typeface="Times New Roman" panose="02020603050405020304" pitchFamily="18" charset="0"/>
                <a:ea typeface="楷体" panose="02010609060101010101" pitchFamily="49" charset="-122"/>
                <a:cs typeface="Times New Roman" panose="02020603050405020304" pitchFamily="18" charset="0"/>
              </a:rPr>
              <a:t>推迟传输</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M1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到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M2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间的</a:t>
            </a:r>
            <a:r>
              <a:rPr lang="zh-CN" altLang="en-US" sz="2600" b="1" dirty="0">
                <a:latin typeface="Times New Roman" panose="02020603050405020304" pitchFamily="18" charset="0"/>
                <a:ea typeface="楷体" panose="02010609060101010101" pitchFamily="49" charset="-122"/>
                <a:cs typeface="Times New Roman" panose="02020603050405020304" pitchFamily="18" charset="0"/>
              </a:rPr>
              <a:t>计算指令</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正常执行，带有污点的</a:t>
            </a:r>
            <a:r>
              <a:rPr lang="zh-CN" altLang="en-US" sz="2600" b="1" dirty="0">
                <a:latin typeface="Times New Roman" panose="02020603050405020304" pitchFamily="18" charset="0"/>
                <a:ea typeface="楷体" panose="02010609060101010101" pitchFamily="49" charset="-122"/>
                <a:cs typeface="Times New Roman" panose="02020603050405020304" pitchFamily="18" charset="0"/>
              </a:rPr>
              <a:t>传输指令</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M2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延迟执行执行。</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514350" indent="-514350" rtl="0">
              <a:buAutoNum type="alphaLcParenBoth"/>
            </a:pPr>
            <a:r>
              <a:rPr lang="zh-CN" altLang="en-US" sz="2600" b="1" dirty="0">
                <a:latin typeface="Times New Roman" panose="02020603050405020304" pitchFamily="18" charset="0"/>
                <a:ea typeface="楷体" panose="02010609060101010101" pitchFamily="49" charset="-122"/>
                <a:cs typeface="Times New Roman" panose="02020603050405020304" pitchFamily="18" charset="0"/>
              </a:rPr>
              <a:t>污点解除</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：分支解析后，</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M1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指令到达可见点，污点解除，处理器广播解除推迟。</a:t>
            </a:r>
          </a:p>
          <a:p>
            <a:pPr marL="0" indent="0">
              <a:buNone/>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10</a:t>
            </a:fld>
            <a:endParaRPr lang="zh-CN" altLang="en-US"/>
          </a:p>
        </p:txBody>
      </p:sp>
      <p:pic>
        <p:nvPicPr>
          <p:cNvPr id="8" name="图片 7">
            <a:extLst>
              <a:ext uri="{FF2B5EF4-FFF2-40B4-BE49-F238E27FC236}">
                <a16:creationId xmlns:a16="http://schemas.microsoft.com/office/drawing/2014/main" id="{6E9C906E-F10C-8F00-04A2-F7E43AD0BF7C}"/>
              </a:ext>
            </a:extLst>
          </p:cNvPr>
          <p:cNvPicPr>
            <a:picLocks noChangeAspect="1"/>
          </p:cNvPicPr>
          <p:nvPr/>
        </p:nvPicPr>
        <p:blipFill>
          <a:blip r:embed="rId3"/>
          <a:stretch>
            <a:fillRect/>
          </a:stretch>
        </p:blipFill>
        <p:spPr>
          <a:xfrm>
            <a:off x="891598" y="4304872"/>
            <a:ext cx="10408804" cy="2051480"/>
          </a:xfrm>
          <a:prstGeom prst="rect">
            <a:avLst/>
          </a:prstGeom>
        </p:spPr>
      </p:pic>
    </p:spTree>
    <p:extLst>
      <p:ext uri="{BB962C8B-B14F-4D97-AF65-F5344CB8AC3E}">
        <p14:creationId xmlns:p14="http://schemas.microsoft.com/office/powerpoint/2010/main" val="375447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Speculative Taint Tracking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034283"/>
            <a:ext cx="11552089" cy="3801438"/>
          </a:xfrm>
        </p:spPr>
        <p:txBody>
          <a:bodyPr>
            <a:normAutofit/>
          </a:bodyPr>
          <a:lstStyle/>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污点计算</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当一条推测加载指令经过重命名阶段时，其目的寄存器被标记为污点根。</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一条指令可能依赖多个污点寄存器，由于污点按程序顺序解析，只有最年轻的那个污点根决定该指令何时可以安全执行。</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因此比较全部污点源寄存器的污点根，选取程序序上最年轻者作为目标寄存器的污点根。</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寄存器解除污点后广播所有以其为污点根的指令解除推迟。</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11</a:t>
            </a:fld>
            <a:endParaRPr lang="zh-CN" altLang="en-US"/>
          </a:p>
        </p:txBody>
      </p:sp>
    </p:spTree>
    <p:extLst>
      <p:ext uri="{BB962C8B-B14F-4D97-AF65-F5344CB8AC3E}">
        <p14:creationId xmlns:p14="http://schemas.microsoft.com/office/powerpoint/2010/main" val="3501978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Non-Speculative Data Access</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318670"/>
            <a:ext cx="11552089" cy="2074434"/>
          </a:xfrm>
        </p:spPr>
        <p:txBody>
          <a:bodyPr>
            <a:no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推测加载只有在不再处于推测状态后，才能把信息传给其他指令。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第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行：尚未解析的条件分支，开始推测路径。</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第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行：普通计算，可以完成并广播。</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第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行：读取秘密 ，不能广播。因此第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9</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11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行无法获得秘密值。</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12</a:t>
            </a:fld>
            <a:endParaRPr lang="zh-CN" altLang="en-US"/>
          </a:p>
        </p:txBody>
      </p:sp>
      <p:pic>
        <p:nvPicPr>
          <p:cNvPr id="6" name="图片 5">
            <a:extLst>
              <a:ext uri="{FF2B5EF4-FFF2-40B4-BE49-F238E27FC236}">
                <a16:creationId xmlns:a16="http://schemas.microsoft.com/office/drawing/2014/main" id="{A3A1D768-EA47-3BA0-0248-DACD956AFE5F}"/>
              </a:ext>
            </a:extLst>
          </p:cNvPr>
          <p:cNvPicPr>
            <a:picLocks noChangeAspect="1"/>
          </p:cNvPicPr>
          <p:nvPr/>
        </p:nvPicPr>
        <p:blipFill>
          <a:blip r:embed="rId3"/>
          <a:stretch>
            <a:fillRect/>
          </a:stretch>
        </p:blipFill>
        <p:spPr>
          <a:xfrm>
            <a:off x="2085769" y="3263743"/>
            <a:ext cx="8020462" cy="3092609"/>
          </a:xfrm>
          <a:prstGeom prst="rect">
            <a:avLst/>
          </a:prstGeom>
        </p:spPr>
      </p:pic>
    </p:spTree>
    <p:extLst>
      <p:ext uri="{BB962C8B-B14F-4D97-AF65-F5344CB8AC3E}">
        <p14:creationId xmlns:p14="http://schemas.microsoft.com/office/powerpoint/2010/main" val="496768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dirty="0"/>
              <a:t>Design</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13</a:t>
            </a:fld>
            <a:endParaRPr lang="zh-CN" altLang="en-US"/>
          </a:p>
        </p:txBody>
      </p:sp>
    </p:spTree>
    <p:extLst>
      <p:ext uri="{BB962C8B-B14F-4D97-AF65-F5344CB8AC3E}">
        <p14:creationId xmlns:p14="http://schemas.microsoft.com/office/powerpoint/2010/main" val="153953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dirty="0"/>
              <a:t>STT-Rename</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14</a:t>
            </a:fld>
            <a:endParaRPr lang="zh-CN" altLang="en-US"/>
          </a:p>
        </p:txBody>
      </p:sp>
    </p:spTree>
    <p:extLst>
      <p:ext uri="{BB962C8B-B14F-4D97-AF65-F5344CB8AC3E}">
        <p14:creationId xmlns:p14="http://schemas.microsoft.com/office/powerpoint/2010/main" val="4245846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Taint Tracking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4910" y="1751762"/>
            <a:ext cx="6403555" cy="4171497"/>
          </a:xfrm>
        </p:spPr>
        <p:txBody>
          <a:bodyPr>
            <a:normAutofit/>
          </a:bodyPr>
          <a:lstStyle/>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寄存器重命名</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寄存器重命名的源寄存器来自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，若源寄存器来自更老指令的目的寄存器，则需要使用旁路替换；而目的寄存器直接来自空闲列表，不需要处理依赖，可以并行分配。</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污点跟踪</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污点跟踪的源寄存器来自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，同样需要处理依赖问题；但目的寄存器来自源寄存器的比较结果，从而也依赖于更老指令的目的寄存器，只能串行计算。</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15</a:t>
            </a:fld>
            <a:endParaRPr lang="zh-CN" altLang="en-US"/>
          </a:p>
        </p:txBody>
      </p:sp>
      <p:pic>
        <p:nvPicPr>
          <p:cNvPr id="6" name="图片 5">
            <a:extLst>
              <a:ext uri="{FF2B5EF4-FFF2-40B4-BE49-F238E27FC236}">
                <a16:creationId xmlns:a16="http://schemas.microsoft.com/office/drawing/2014/main" id="{196A7720-A6C7-9538-7AFA-06219690D6B1}"/>
              </a:ext>
            </a:extLst>
          </p:cNvPr>
          <p:cNvPicPr>
            <a:picLocks noChangeAspect="1"/>
          </p:cNvPicPr>
          <p:nvPr/>
        </p:nvPicPr>
        <p:blipFill>
          <a:blip r:embed="rId3"/>
          <a:stretch>
            <a:fillRect/>
          </a:stretch>
        </p:blipFill>
        <p:spPr>
          <a:xfrm>
            <a:off x="7021757" y="2371497"/>
            <a:ext cx="4332043" cy="3213257"/>
          </a:xfrm>
          <a:prstGeom prst="rect">
            <a:avLst/>
          </a:prstGeom>
        </p:spPr>
      </p:pic>
      <p:sp>
        <p:nvSpPr>
          <p:cNvPr id="5" name="文本框 4">
            <a:extLst>
              <a:ext uri="{FF2B5EF4-FFF2-40B4-BE49-F238E27FC236}">
                <a16:creationId xmlns:a16="http://schemas.microsoft.com/office/drawing/2014/main" id="{2DFA0BBD-0F6B-8F7D-1471-E127F16D23B1}"/>
              </a:ext>
            </a:extLst>
          </p:cNvPr>
          <p:cNvSpPr txBox="1"/>
          <p:nvPr/>
        </p:nvSpPr>
        <p:spPr>
          <a:xfrm>
            <a:off x="384910" y="1291226"/>
            <a:ext cx="10150868" cy="738664"/>
          </a:xfrm>
          <a:prstGeom prst="rect">
            <a:avLst/>
          </a:prstGeom>
          <a:noFill/>
        </p:spPr>
        <p:txBody>
          <a:bodyPr wrap="square" rtlCol="0">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原始论文认为污点跟踪与寄存器重命名逻辑相同可以同步进行</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7" name="文本框 6">
            <a:extLst>
              <a:ext uri="{FF2B5EF4-FFF2-40B4-BE49-F238E27FC236}">
                <a16:creationId xmlns:a16="http://schemas.microsoft.com/office/drawing/2014/main" id="{0DBFE735-EB8D-F7F9-97CE-DFBCA67584FA}"/>
              </a:ext>
            </a:extLst>
          </p:cNvPr>
          <p:cNvSpPr txBox="1"/>
          <p:nvPr/>
        </p:nvSpPr>
        <p:spPr>
          <a:xfrm>
            <a:off x="384910" y="5982813"/>
            <a:ext cx="10150868" cy="738664"/>
          </a:xfrm>
          <a:prstGeom prst="rect">
            <a:avLst/>
          </a:prstGeom>
          <a:noFill/>
        </p:spPr>
        <p:txBody>
          <a:bodyPr wrap="square" rtlCol="0">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污点跟踪会产生与寄存器重命名不同的依赖链</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539481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Taint Tracking</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16</a:t>
            </a:fld>
            <a:endParaRPr lang="zh-CN" altLang="en-US"/>
          </a:p>
        </p:txBody>
      </p:sp>
      <p:sp>
        <p:nvSpPr>
          <p:cNvPr id="3" name="文本框 2">
            <a:extLst>
              <a:ext uri="{FF2B5EF4-FFF2-40B4-BE49-F238E27FC236}">
                <a16:creationId xmlns:a16="http://schemas.microsoft.com/office/drawing/2014/main" id="{E8010F9B-FD83-CD7C-4DDB-AEE4FFE10A3F}"/>
              </a:ext>
            </a:extLst>
          </p:cNvPr>
          <p:cNvSpPr txBox="1"/>
          <p:nvPr/>
        </p:nvSpPr>
        <p:spPr>
          <a:xfrm>
            <a:off x="431321" y="2886887"/>
            <a:ext cx="11027959" cy="1569660"/>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重命名周期的关键路径为</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目标寄存器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的分配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污点计算，即一个周期内需要按顺序完成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 (write)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RAT(read)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、并产生新的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RAT(write)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信号。而读取</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原寄存器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的路径由于写信号送入发射队列（</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BOOM</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），并不在重命名周期完成写操作，时序较为宽松。</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F92A9523-81B8-E7E9-034F-AEE43AC87458}"/>
              </a:ext>
            </a:extLst>
          </p:cNvPr>
          <p:cNvSpPr txBox="1"/>
          <p:nvPr/>
        </p:nvSpPr>
        <p:spPr>
          <a:xfrm>
            <a:off x="431321" y="1363029"/>
            <a:ext cx="10150868" cy="738664"/>
          </a:xfrm>
          <a:prstGeom prst="rect">
            <a:avLst/>
          </a:prstGeom>
          <a:noFill/>
        </p:spPr>
        <p:txBody>
          <a:bodyPr wrap="square" rtlCol="0">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该依赖链在关键路径上</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4955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Taint Tracking</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17</a:t>
            </a:fld>
            <a:endParaRPr lang="zh-CN" altLang="en-US"/>
          </a:p>
        </p:txBody>
      </p:sp>
      <p:sp>
        <p:nvSpPr>
          <p:cNvPr id="6" name="文本框 5">
            <a:extLst>
              <a:ext uri="{FF2B5EF4-FFF2-40B4-BE49-F238E27FC236}">
                <a16:creationId xmlns:a16="http://schemas.microsoft.com/office/drawing/2014/main" id="{1E9AE4EA-99D4-00E9-ED42-2729AD63DD4B}"/>
              </a:ext>
            </a:extLst>
          </p:cNvPr>
          <p:cNvSpPr txBox="1"/>
          <p:nvPr/>
        </p:nvSpPr>
        <p:spPr>
          <a:xfrm>
            <a:off x="6440317" y="5483839"/>
            <a:ext cx="4456981" cy="1200329"/>
          </a:xfrm>
          <a:prstGeom prst="rect">
            <a:avLst/>
          </a:prstGeom>
          <a:noFill/>
        </p:spPr>
        <p:txBody>
          <a:bodyPr wrap="square" rtlCol="0">
            <a:spAutoFit/>
          </a:bodyPr>
          <a:lstStyle/>
          <a:p>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寄存器重命名的依赖判断组合逻辑在产生源寄存器的物理寄存器号并送入发射队列上，关键路径上产生新的目标寄存</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RAT(write) </a:t>
            </a: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信号可以并行从 </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Free List </a:t>
            </a: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产生</a:t>
            </a:r>
            <a:endParaRPr lang="zh-CN" altLang="en-US" dirty="0"/>
          </a:p>
        </p:txBody>
      </p:sp>
      <p:sp>
        <p:nvSpPr>
          <p:cNvPr id="7" name="文本框 6">
            <a:extLst>
              <a:ext uri="{FF2B5EF4-FFF2-40B4-BE49-F238E27FC236}">
                <a16:creationId xmlns:a16="http://schemas.microsoft.com/office/drawing/2014/main" id="{17962474-AEE1-8908-227D-96F37B6BB50D}"/>
              </a:ext>
            </a:extLst>
          </p:cNvPr>
          <p:cNvSpPr txBox="1"/>
          <p:nvPr/>
        </p:nvSpPr>
        <p:spPr>
          <a:xfrm>
            <a:off x="637685" y="5505081"/>
            <a:ext cx="4456981" cy="646331"/>
          </a:xfrm>
          <a:prstGeom prst="rect">
            <a:avLst/>
          </a:prstGeom>
          <a:noFill/>
        </p:spPr>
        <p:txBody>
          <a:bodyPr wrap="square" rtlCol="0">
            <a:spAutoFit/>
          </a:bodyPr>
          <a:lstStyle/>
          <a:p>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污点计算的依赖判断组合逻辑在计算目标寄存器的污点上，即关键路径上</a:t>
            </a:r>
            <a:endParaRPr lang="zh-CN" altLang="en-US" dirty="0"/>
          </a:p>
        </p:txBody>
      </p:sp>
      <p:pic>
        <p:nvPicPr>
          <p:cNvPr id="26" name="图片 25">
            <a:extLst>
              <a:ext uri="{FF2B5EF4-FFF2-40B4-BE49-F238E27FC236}">
                <a16:creationId xmlns:a16="http://schemas.microsoft.com/office/drawing/2014/main" id="{70D9DD67-8A63-6B0D-D240-9C78388883B5}"/>
              </a:ext>
            </a:extLst>
          </p:cNvPr>
          <p:cNvPicPr>
            <a:picLocks noChangeAspect="1"/>
          </p:cNvPicPr>
          <p:nvPr/>
        </p:nvPicPr>
        <p:blipFill>
          <a:blip r:embed="rId3"/>
          <a:stretch>
            <a:fillRect/>
          </a:stretch>
        </p:blipFill>
        <p:spPr>
          <a:xfrm>
            <a:off x="6212308" y="1318670"/>
            <a:ext cx="4458959" cy="4127026"/>
          </a:xfrm>
          <a:prstGeom prst="rect">
            <a:avLst/>
          </a:prstGeom>
        </p:spPr>
      </p:pic>
      <p:pic>
        <p:nvPicPr>
          <p:cNvPr id="32" name="图片 31">
            <a:extLst>
              <a:ext uri="{FF2B5EF4-FFF2-40B4-BE49-F238E27FC236}">
                <a16:creationId xmlns:a16="http://schemas.microsoft.com/office/drawing/2014/main" id="{2D9E5552-93C9-D5DD-7407-7ED0824AD8D9}"/>
              </a:ext>
            </a:extLst>
          </p:cNvPr>
          <p:cNvPicPr>
            <a:picLocks noChangeAspect="1"/>
          </p:cNvPicPr>
          <p:nvPr/>
        </p:nvPicPr>
        <p:blipFill>
          <a:blip r:embed="rId4"/>
          <a:stretch>
            <a:fillRect/>
          </a:stretch>
        </p:blipFill>
        <p:spPr>
          <a:xfrm>
            <a:off x="387664" y="1234880"/>
            <a:ext cx="4737390" cy="4294606"/>
          </a:xfrm>
          <a:prstGeom prst="rect">
            <a:avLst/>
          </a:prstGeom>
        </p:spPr>
      </p:pic>
    </p:spTree>
    <p:extLst>
      <p:ext uri="{BB962C8B-B14F-4D97-AF65-F5344CB8AC3E}">
        <p14:creationId xmlns:p14="http://schemas.microsoft.com/office/powerpoint/2010/main" val="3457864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Taint Tracking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3091197"/>
            <a:ext cx="11552089" cy="1751818"/>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为了避免处理不同周期指令组之间的依赖而引入更复杂的逻辑，同时保证下一组指令能够读取到最新的污点信息，一个指令包的污点读取与写入必须在一个周期内完成，不能通过流水化提升性能。</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18</a:t>
            </a:fld>
            <a:endParaRPr lang="zh-CN" altLang="en-US"/>
          </a:p>
        </p:txBody>
      </p:sp>
      <p:sp>
        <p:nvSpPr>
          <p:cNvPr id="5" name="文本框 4">
            <a:extLst>
              <a:ext uri="{FF2B5EF4-FFF2-40B4-BE49-F238E27FC236}">
                <a16:creationId xmlns:a16="http://schemas.microsoft.com/office/drawing/2014/main" id="{9DF9C4DA-1E32-D7B3-6432-4618FBA65006}"/>
              </a:ext>
            </a:extLst>
          </p:cNvPr>
          <p:cNvSpPr txBox="1"/>
          <p:nvPr/>
        </p:nvSpPr>
        <p:spPr>
          <a:xfrm>
            <a:off x="387664" y="1481805"/>
            <a:ext cx="10150868" cy="738664"/>
          </a:xfrm>
          <a:prstGeom prst="rect">
            <a:avLst/>
          </a:prstGeom>
          <a:noFill/>
        </p:spPr>
        <p:txBody>
          <a:bodyPr wrap="square" rtlCol="0">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该依赖链难以流水化</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600632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Checkpointing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450258"/>
            <a:ext cx="11552089" cy="2570640"/>
          </a:xfrm>
        </p:spPr>
        <p:txBody>
          <a:bodyPr>
            <a:normAutofit/>
          </a:bodyPr>
          <a:lstStyle/>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常规快照机制</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分支预测错误后架构状态的回滚：</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514350" indent="-514350">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快照建立：当重命名阶段检测到一条分支时，保存该时刻的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与空闲列表快照；</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514350" indent="-514350">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清除：误预测解析，清除所有程序顺序上晚于该分支的在飞指令；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514350" indent="-514350">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恢复：将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与空闲列表重置为对应的快照。</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19</a:t>
            </a:fld>
            <a:endParaRPr lang="zh-CN" altLang="en-US"/>
          </a:p>
        </p:txBody>
      </p:sp>
    </p:spTree>
    <p:extLst>
      <p:ext uri="{BB962C8B-B14F-4D97-AF65-F5344CB8AC3E}">
        <p14:creationId xmlns:p14="http://schemas.microsoft.com/office/powerpoint/2010/main" val="3882542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Checkpointing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716546"/>
            <a:ext cx="11552089" cy="3934242"/>
          </a:xfrm>
        </p:spPr>
        <p:txBody>
          <a:bodyPr>
            <a:normAutofit/>
          </a:bodyPr>
          <a:lstStyle/>
          <a:p>
            <a:pPr marL="0" indent="0">
              <a:buNone/>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快照机制</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快照记录的是架构寄存器到物理寄存器的映射，恢复后一定有效。污点快照记录的是寄存器到污点根的映射，其状态在快照建立与恢复之间的时间窗口内可能已经改变：</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依赖关系不变：某条指令的结果依赖于哪个污点根仍然正确。</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污点根的推测状态可能已变：污点源可能在快照建立之后已经越过可见点、脱离推测态，以其为污点根的条目本应已被清除。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因此在每次恢复污点快照状态时，需要检查每个污点条目的污点根是否不晚于最年轻的非推测加载。</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20</a:t>
            </a:fld>
            <a:endParaRPr lang="zh-CN" altLang="en-US"/>
          </a:p>
        </p:txBody>
      </p:sp>
    </p:spTree>
    <p:extLst>
      <p:ext uri="{BB962C8B-B14F-4D97-AF65-F5344CB8AC3E}">
        <p14:creationId xmlns:p14="http://schemas.microsoft.com/office/powerpoint/2010/main" val="2209699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dirty="0"/>
              <a:t>STT-Issue</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21</a:t>
            </a:fld>
            <a:endParaRPr lang="zh-CN" altLang="en-US"/>
          </a:p>
        </p:txBody>
      </p:sp>
    </p:spTree>
    <p:extLst>
      <p:ext uri="{BB962C8B-B14F-4D97-AF65-F5344CB8AC3E}">
        <p14:creationId xmlns:p14="http://schemas.microsoft.com/office/powerpoint/2010/main" val="3700144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STT-Issue</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520575"/>
            <a:ext cx="6126153" cy="4505293"/>
          </a:xfrm>
        </p:spPr>
        <p:txBody>
          <a:bodyPr>
            <a:no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本文提出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消除了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中的依赖链与检查点：</a:t>
            </a: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指令初始假定无污点，唤醒逻辑照常工作，并在所有操作数可用时发出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ready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信号。</a:t>
            </a: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当指令被选择发射后①，污点单元计算该指令的污点根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②</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。若任一操作数带污点，则用计算出污点根的标记该指令物理目的寄存器对应条目③。若该指令带污点且是发送型指令，则发射一条空操作④。</a:t>
            </a: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污点根被反向传播到发射队列条目⑤。有效污点根阻止该指令被选择发射，直到其被广播污点解除。</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22</a:t>
            </a:fld>
            <a:endParaRPr lang="zh-CN" altLang="en-US"/>
          </a:p>
        </p:txBody>
      </p:sp>
      <p:pic>
        <p:nvPicPr>
          <p:cNvPr id="6" name="图片 5">
            <a:extLst>
              <a:ext uri="{FF2B5EF4-FFF2-40B4-BE49-F238E27FC236}">
                <a16:creationId xmlns:a16="http://schemas.microsoft.com/office/drawing/2014/main" id="{32B12AA4-91D4-4EF3-C2BA-3A7330F5BF5F}"/>
              </a:ext>
            </a:extLst>
          </p:cNvPr>
          <p:cNvPicPr>
            <a:picLocks noChangeAspect="1"/>
          </p:cNvPicPr>
          <p:nvPr/>
        </p:nvPicPr>
        <p:blipFill>
          <a:blip r:embed="rId3"/>
          <a:stretch>
            <a:fillRect/>
          </a:stretch>
        </p:blipFill>
        <p:spPr>
          <a:xfrm>
            <a:off x="6630696" y="2321960"/>
            <a:ext cx="5173640" cy="2543974"/>
          </a:xfrm>
          <a:prstGeom prst="rect">
            <a:avLst/>
          </a:prstGeom>
        </p:spPr>
      </p:pic>
    </p:spTree>
    <p:extLst>
      <p:ext uri="{BB962C8B-B14F-4D97-AF65-F5344CB8AC3E}">
        <p14:creationId xmlns:p14="http://schemas.microsoft.com/office/powerpoint/2010/main" val="2541609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STT-Issue</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3" y="1300048"/>
            <a:ext cx="11552089" cy="5557951"/>
          </a:xfrm>
        </p:spPr>
        <p:txBody>
          <a:bodyPr>
            <a:normAutofit/>
          </a:bodyPr>
          <a:lstStyle/>
          <a:p>
            <a:pPr marL="0" indent="0">
              <a:buNone/>
            </a:pPr>
            <a:r>
              <a:rPr lang="zh-CN" altLang="en-US" sz="2600" b="1" dirty="0">
                <a:latin typeface="Times New Roman" panose="02020603050405020304" pitchFamily="18" charset="0"/>
                <a:ea typeface="楷体" panose="02010609060101010101" pitchFamily="49" charset="-122"/>
                <a:cs typeface="Times New Roman" panose="02020603050405020304" pitchFamily="18" charset="0"/>
              </a:rPr>
              <a:t>优势：</a:t>
            </a:r>
            <a:endParaRPr lang="en-US" altLang="zh-CN" sz="26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 源操作数更可能已非推测，因此带污点目的寄存器更少，需要广播的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YRoT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唤醒总量减少。</a:t>
            </a:r>
          </a:p>
          <a:p>
            <a:pPr marL="0" indent="0">
              <a:buNone/>
            </a:pP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依赖指令不会同时发射，因此没有同周期依赖链。</a:t>
            </a:r>
          </a:p>
          <a:p>
            <a:pPr marL="0" indent="0">
              <a:buNone/>
            </a:pP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不需要污点根检查点。</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STT-Issue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使用物理寄存器计算污点而非架构寄存器，若错误预测后某寄存器不再被使用，重新分配时新的污点根覆盖陈旧的污点根；若寄存器和污点链在错误预测后仍在被使用，其一定在推测前被分配，污点值仍然有效。</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使用架构寄存器推测期间污点可能被覆盖（架构寄存器相同，物理寄存器不同）。</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4.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高性能核为了处理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L1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命中预测失败的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load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依赖指令，本来就有投机发射与重放机制，大部分硬件已经存在。</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23</a:t>
            </a:fld>
            <a:endParaRPr lang="zh-CN" altLang="en-US"/>
          </a:p>
        </p:txBody>
      </p:sp>
    </p:spTree>
    <p:extLst>
      <p:ext uri="{BB962C8B-B14F-4D97-AF65-F5344CB8AC3E}">
        <p14:creationId xmlns:p14="http://schemas.microsoft.com/office/powerpoint/2010/main" val="1240589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STT-Issue</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167849"/>
            <a:ext cx="11552089" cy="2681554"/>
          </a:xfrm>
        </p:spPr>
        <p:txBody>
          <a:bodyPr>
            <a:normAutofit/>
          </a:bodyPr>
          <a:lstStyle/>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劣势：</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使用物理寄存器而非体系结构寄存器的成本更高。重命名阶段之后，所有依赖都通过物理寄存器跟踪；高性能处理器中的物理寄存器数量通常比体系结构寄存器多 一个数量级 。</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STT-Issue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增加了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阶段的延迟，但由于没有串行依赖链，在更宽的设计上表现更好。</a:t>
            </a:r>
          </a:p>
          <a:p>
            <a:pPr marL="0" indent="0">
              <a:buNone/>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24</a:t>
            </a:fld>
            <a:endParaRPr lang="zh-CN" altLang="en-US"/>
          </a:p>
        </p:txBody>
      </p:sp>
    </p:spTree>
    <p:extLst>
      <p:ext uri="{BB962C8B-B14F-4D97-AF65-F5344CB8AC3E}">
        <p14:creationId xmlns:p14="http://schemas.microsoft.com/office/powerpoint/2010/main" val="1241345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dirty="0"/>
              <a:t>NDA</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25</a:t>
            </a:fld>
            <a:endParaRPr lang="zh-CN" altLang="en-US"/>
          </a:p>
        </p:txBody>
      </p:sp>
    </p:spTree>
    <p:extLst>
      <p:ext uri="{BB962C8B-B14F-4D97-AF65-F5344CB8AC3E}">
        <p14:creationId xmlns:p14="http://schemas.microsoft.com/office/powerpoint/2010/main" val="3702355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Delayed Broadcast</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19955" y="2486347"/>
            <a:ext cx="11552089" cy="2875137"/>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加载指令完成时同时触发两个动作：</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数据写回：将取回的数据写入寄存器文件中该加载的目的物理寄存器；</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就绪广播：将该物理寄存器编号广播至发射队列，唤醒等待该寄存器的依赖指令。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此时两个动作指向同一个物理寄存器：写回需要该寄存器编号以定位写入端口，广播需要同一编号以匹配发射队列中的源标签。因而两者可以共享同一条总线，寄存器编号只需驱动一次。</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26</a:t>
            </a:fld>
            <a:endParaRPr lang="zh-CN" altLang="en-US"/>
          </a:p>
        </p:txBody>
      </p:sp>
    </p:spTree>
    <p:extLst>
      <p:ext uri="{BB962C8B-B14F-4D97-AF65-F5344CB8AC3E}">
        <p14:creationId xmlns:p14="http://schemas.microsoft.com/office/powerpoint/2010/main" val="993907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Delayed Broadcast</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479999"/>
            <a:ext cx="5479737" cy="4869657"/>
          </a:xfrm>
        </p:spPr>
        <p:txBody>
          <a:bodyPr>
            <a:normAutofit/>
          </a:bodyPr>
          <a:lstStyle/>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要求推测加载的数据在该加载脱离推测态之前不得传播。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的修改：将广播从写回中分离出来，单独推迟。</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这一修改的直接后果是共享总线不再成立。写回与广播在时间上被分开后，两者不再必然对应同一条加载</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某一周期内，</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LSU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可能需要为刚完成的加载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执行数据写回，同时为此前完成、现在才脱离推测态的加载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发出就绪广播。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的目的物理寄存器不同，因而需要两条独立的编号通路。</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27</a:t>
            </a:fld>
            <a:endParaRPr lang="zh-CN" altLang="en-US"/>
          </a:p>
        </p:txBody>
      </p:sp>
      <p:pic>
        <p:nvPicPr>
          <p:cNvPr id="6" name="图片 5">
            <a:extLst>
              <a:ext uri="{FF2B5EF4-FFF2-40B4-BE49-F238E27FC236}">
                <a16:creationId xmlns:a16="http://schemas.microsoft.com/office/drawing/2014/main" id="{22ED3127-ECA2-ED53-6C8F-393B9052D8B0}"/>
              </a:ext>
            </a:extLst>
          </p:cNvPr>
          <p:cNvPicPr>
            <a:picLocks noChangeAspect="1"/>
          </p:cNvPicPr>
          <p:nvPr/>
        </p:nvPicPr>
        <p:blipFill>
          <a:blip r:embed="rId3"/>
          <a:stretch>
            <a:fillRect/>
          </a:stretch>
        </p:blipFill>
        <p:spPr>
          <a:xfrm>
            <a:off x="6324601" y="1479999"/>
            <a:ext cx="5233944" cy="4224913"/>
          </a:xfrm>
          <a:prstGeom prst="rect">
            <a:avLst/>
          </a:prstGeom>
        </p:spPr>
      </p:pic>
    </p:spTree>
    <p:extLst>
      <p:ext uri="{BB962C8B-B14F-4D97-AF65-F5344CB8AC3E}">
        <p14:creationId xmlns:p14="http://schemas.microsoft.com/office/powerpoint/2010/main" val="2742377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Delayed Broadcast</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496620"/>
            <a:ext cx="11552089" cy="2670018"/>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推测阴影按程序序解析。当最旧的推测源解除时，可见点向前推进，此时所有程序序早于新可见点的加载同时脱离推测态。这些加载此前各自推迟的广播在同一时刻全部变为可发射状态。因此广播需求并非均匀分布，而呈现突发特征：可见点每前进一次，就可能产生一批待发广播。</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然而单周期内可并行发出的广播数等于核的访存宽度限制，当一次可见点推进所释放的加载数超过该宽度时，多余的广播必须排队，在后续周期内逐次发出。</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28</a:t>
            </a:fld>
            <a:endParaRPr lang="zh-CN" altLang="en-US" dirty="0"/>
          </a:p>
        </p:txBody>
      </p:sp>
    </p:spTree>
    <p:extLst>
      <p:ext uri="{BB962C8B-B14F-4D97-AF65-F5344CB8AC3E}">
        <p14:creationId xmlns:p14="http://schemas.microsoft.com/office/powerpoint/2010/main" val="3057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dirty="0"/>
              <a:t>Tracking Speculation</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29</a:t>
            </a:fld>
            <a:endParaRPr lang="zh-CN" altLang="en-US"/>
          </a:p>
        </p:txBody>
      </p:sp>
    </p:spTree>
    <p:extLst>
      <p:ext uri="{BB962C8B-B14F-4D97-AF65-F5344CB8AC3E}">
        <p14:creationId xmlns:p14="http://schemas.microsoft.com/office/powerpoint/2010/main" val="2444376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Tracking Speculation</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773035"/>
            <a:ext cx="11552089" cy="2128951"/>
          </a:xfrm>
        </p:spPr>
        <p:txBody>
          <a:bodyPr>
            <a:normAutofit/>
          </a:bodyPr>
          <a:lstStyle/>
          <a:p>
            <a:pPr marL="0" indent="0">
              <a:buNone/>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C-shadow</a:t>
            </a: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控制推测的跟踪不需要新增结构。高性能处理器本已具备跟踪某条指令是否依赖于某条分支的机制</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这是分支误预测时快速冲刷在飞指令的前提。因此，</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C-shadow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的跟踪对两种方案而言都是零成本的。</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30</a:t>
            </a:fld>
            <a:endParaRPr lang="zh-CN" altLang="en-US"/>
          </a:p>
        </p:txBody>
      </p:sp>
    </p:spTree>
    <p:extLst>
      <p:ext uri="{BB962C8B-B14F-4D97-AF65-F5344CB8AC3E}">
        <p14:creationId xmlns:p14="http://schemas.microsoft.com/office/powerpoint/2010/main" val="2816784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Tracking Speculation</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707921"/>
            <a:ext cx="11552089" cy="4359361"/>
          </a:xfrm>
        </p:spPr>
        <p:txBody>
          <a:bodyPr>
            <a:normAutofit/>
          </a:bodyPr>
          <a:lstStyle/>
          <a:p>
            <a:pPr marL="0" indent="0">
              <a:buNone/>
            </a:pPr>
            <a:r>
              <a:rPr lang="en-US" altLang="zh-CN" sz="2600" b="1" dirty="0">
                <a:latin typeface="Times New Roman" panose="02020603050405020304" pitchFamily="18" charset="0"/>
                <a:ea typeface="楷体" panose="02010609060101010101" pitchFamily="49" charset="-122"/>
                <a:cs typeface="Times New Roman" panose="02020603050405020304" pitchFamily="18" charset="0"/>
              </a:rPr>
              <a:t>D-shadow</a:t>
            </a:r>
          </a:p>
          <a:p>
            <a:pPr marL="0" indent="0">
              <a:buNone/>
            </a:pP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访存指令的地址需经地址生成运算得出，访存加载通常位于关键路径上，若必须等待所有更旧存储完成地址计算再行发射，性能较差。</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因此处理器采取推测策略：假定更旧的、地址尚未确定的存储不与该加载冲突，先行发射。若某条更旧存储的地址计算完成后被发现与该加载别名，则存在错误。</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出于上述别名风险，</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LSU </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需要检测转发错误。每当一条存储生成地址，即检查所有更年轻的加载是否存在地址匹配。利用这一机制，当所有程序序上早于某条加载的存储均已完成上述检查后，该加载的转发状态即不再处于 </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D-shadow</a:t>
            </a:r>
            <a:r>
              <a:rPr lang="zh-CN" altLang="en-US" sz="26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31</a:t>
            </a:fld>
            <a:endParaRPr lang="zh-CN" altLang="en-US"/>
          </a:p>
        </p:txBody>
      </p:sp>
    </p:spTree>
    <p:extLst>
      <p:ext uri="{BB962C8B-B14F-4D97-AF65-F5344CB8AC3E}">
        <p14:creationId xmlns:p14="http://schemas.microsoft.com/office/powerpoint/2010/main" val="3085490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a:xfrm>
            <a:off x="387664" y="2918321"/>
            <a:ext cx="11416672" cy="1021358"/>
          </a:xfrm>
        </p:spPr>
        <p:txBody>
          <a:bodyPr>
            <a:normAutofit/>
          </a:bodyPr>
          <a:lstStyle/>
          <a:p>
            <a:r>
              <a:rPr lang="en-US" altLang="zh-CN"/>
              <a:t>Evaluation</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32</a:t>
            </a:fld>
            <a:endParaRPr lang="zh-CN" altLang="en-US"/>
          </a:p>
        </p:txBody>
      </p:sp>
    </p:spTree>
    <p:extLst>
      <p:ext uri="{BB962C8B-B14F-4D97-AF65-F5344CB8AC3E}">
        <p14:creationId xmlns:p14="http://schemas.microsoft.com/office/powerpoint/2010/main" val="2156700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Methodology</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979436"/>
            <a:ext cx="11552089" cy="3401491"/>
          </a:xfrm>
        </p:spPr>
        <p:txBody>
          <a:bodyPr>
            <a:noAutofit/>
          </a:bodyPr>
          <a:lstStyle/>
          <a:p>
            <a:pPr marL="0" indent="0">
              <a:buNone/>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所有方案均在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RISC-V Berkeley Out-of-Order Machine</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BOOM</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上以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RTL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实现。</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评估对象包括四种配置：</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不安全基线：未经修改的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BOOM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核；</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 STT-Rename</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：污点计算与传播在寄存器重命名阶段完成；</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 STT-Issue</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：污点计算与传播推迟至发射阶段完成；</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4. NDA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：采用分离的广播与数据总线，对非推测加载进行广播，推测数据在寄存器中滞留至其脱离推测态。</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此外，论文引入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Intel Redwood Cove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作为当代高性能核的参照。</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33</a:t>
            </a:fld>
            <a:endParaRPr lang="zh-CN" altLang="en-US"/>
          </a:p>
        </p:txBody>
      </p:sp>
    </p:spTree>
    <p:extLst>
      <p:ext uri="{BB962C8B-B14F-4D97-AF65-F5344CB8AC3E}">
        <p14:creationId xmlns:p14="http://schemas.microsoft.com/office/powerpoint/2010/main" val="1451207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Methodology</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669303"/>
            <a:ext cx="11552089" cy="4220281"/>
          </a:xfrm>
        </p:spPr>
        <p:txBody>
          <a:bodyPr>
            <a:no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采用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AMD Vitis v2022.2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综合，目标器件为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U250 Alveo FPGA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资源使用与功耗通过 </a:t>
            </a:r>
            <a:r>
              <a:rPr lang="en-US" altLang="zh-CN" sz="2400" dirty="0" err="1">
                <a:latin typeface="Consolas" panose="020B0609020204030204" pitchFamily="49" charset="0"/>
                <a:ea typeface="楷体" panose="02010609060101010101" pitchFamily="49" charset="-122"/>
                <a:cs typeface="Times New Roman" panose="02020603050405020304" pitchFamily="18" charset="0"/>
              </a:rPr>
              <a:t>report_utilizatiotFn</a:t>
            </a:r>
            <a:r>
              <a:rPr lang="en-US" altLang="zh-CN" sz="2400" dirty="0">
                <a:latin typeface="Consolas" panose="020B0609020204030204" pitchFamily="49" charset="0"/>
                <a:ea typeface="楷体" panose="02010609060101010101" pitchFamily="49" charset="-122"/>
                <a:cs typeface="Times New Roman" panose="02020603050405020304" pitchFamily="18" charset="0"/>
              </a:rPr>
              <a:t> </a:t>
            </a:r>
            <a:r>
              <a:rPr lang="zh-CN" altLang="en-US" sz="2400" dirty="0">
                <a:latin typeface="Consolas" panose="020B0609020204030204" pitchFamily="49" charset="0"/>
                <a:ea typeface="楷体" panose="02010609060101010101" pitchFamily="49" charset="-122"/>
                <a:cs typeface="Times New Roman" panose="02020603050405020304" pitchFamily="18" charset="0"/>
              </a:rPr>
              <a:t>与 </a:t>
            </a:r>
            <a:r>
              <a:rPr lang="en-US" altLang="zh-CN" sz="2400" dirty="0" err="1">
                <a:latin typeface="Consolas" panose="020B0609020204030204" pitchFamily="49" charset="0"/>
                <a:ea typeface="楷体" panose="02010609060101010101" pitchFamily="49" charset="-122"/>
                <a:cs typeface="Times New Roman" panose="02020603050405020304" pitchFamily="18" charset="0"/>
              </a:rPr>
              <a:t>report_power</a:t>
            </a:r>
            <a:r>
              <a:rPr lang="en-US" altLang="zh-CN" sz="2400" dirty="0">
                <a:latin typeface="Consolas" panose="020B0609020204030204" pitchFamily="49"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获取，评估范围限定为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BOOM tile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FireMarshal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构建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Linux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镜像（</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Ubuntu 18.04</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），包含以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GCC 10.1.0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RISC-V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编译的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SPEC CPU2017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基准套件。</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通过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FireSim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在综合后的设计上引导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Linux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并运行完整的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SPEC2017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套件。</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FireSim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提供两项对结果保真度至关重要的能力：外部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I/O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的时序精确建模；外部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DRAM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建模。</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采用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TraceDoctor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提取更细粒度的关键性能指标，包括已提交指令数、各类延迟、停顿及其成因。</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每个基准执行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1000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亿周期。</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34</a:t>
            </a:fld>
            <a:endParaRPr lang="zh-CN" altLang="en-US"/>
          </a:p>
        </p:txBody>
      </p:sp>
    </p:spTree>
    <p:extLst>
      <p:ext uri="{BB962C8B-B14F-4D97-AF65-F5344CB8AC3E}">
        <p14:creationId xmlns:p14="http://schemas.microsoft.com/office/powerpoint/2010/main" val="1922071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IPC</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503862"/>
            <a:ext cx="11552089" cy="3388442"/>
          </a:xfrm>
        </p:spPr>
        <p:txBody>
          <a:bodyPr>
            <a:normAutofit/>
          </a:bodyPr>
          <a:lstStyle/>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Mega BOOM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配置下，三种方案分别保持基线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81.9%</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84.5%</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73.6%</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35</a:t>
            </a:fld>
            <a:endParaRPr lang="zh-CN" altLang="en-US"/>
          </a:p>
        </p:txBody>
      </p:sp>
      <p:pic>
        <p:nvPicPr>
          <p:cNvPr id="6" name="图片 5">
            <a:extLst>
              <a:ext uri="{FF2B5EF4-FFF2-40B4-BE49-F238E27FC236}">
                <a16:creationId xmlns:a16="http://schemas.microsoft.com/office/drawing/2014/main" id="{70F5B0C2-0F94-1D6D-433B-8C1492EEAE91}"/>
              </a:ext>
            </a:extLst>
          </p:cNvPr>
          <p:cNvPicPr>
            <a:picLocks noChangeAspect="1"/>
          </p:cNvPicPr>
          <p:nvPr/>
        </p:nvPicPr>
        <p:blipFill>
          <a:blip r:embed="rId3"/>
          <a:stretch>
            <a:fillRect/>
          </a:stretch>
        </p:blipFill>
        <p:spPr>
          <a:xfrm>
            <a:off x="277693" y="4076736"/>
            <a:ext cx="11636613" cy="2092970"/>
          </a:xfrm>
          <a:prstGeom prst="rect">
            <a:avLst/>
          </a:prstGeom>
        </p:spPr>
      </p:pic>
    </p:spTree>
    <p:extLst>
      <p:ext uri="{BB962C8B-B14F-4D97-AF65-F5344CB8AC3E}">
        <p14:creationId xmlns:p14="http://schemas.microsoft.com/office/powerpoint/2010/main" val="4270133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IPC</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36</a:t>
            </a:fld>
            <a:endParaRPr lang="zh-CN" altLang="en-US"/>
          </a:p>
        </p:txBody>
      </p:sp>
      <p:pic>
        <p:nvPicPr>
          <p:cNvPr id="9" name="图片 8">
            <a:extLst>
              <a:ext uri="{FF2B5EF4-FFF2-40B4-BE49-F238E27FC236}">
                <a16:creationId xmlns:a16="http://schemas.microsoft.com/office/drawing/2014/main" id="{AFB752FA-B974-6D05-0BB6-C4C4F024C3E3}"/>
              </a:ext>
            </a:extLst>
          </p:cNvPr>
          <p:cNvPicPr>
            <a:picLocks noChangeAspect="1"/>
          </p:cNvPicPr>
          <p:nvPr/>
        </p:nvPicPr>
        <p:blipFill>
          <a:blip r:embed="rId3"/>
          <a:stretch>
            <a:fillRect/>
          </a:stretch>
        </p:blipFill>
        <p:spPr>
          <a:xfrm>
            <a:off x="1101282" y="1593049"/>
            <a:ext cx="9989436" cy="4488923"/>
          </a:xfrm>
          <a:prstGeom prst="rect">
            <a:avLst/>
          </a:prstGeom>
        </p:spPr>
      </p:pic>
    </p:spTree>
    <p:extLst>
      <p:ext uri="{BB962C8B-B14F-4D97-AF65-F5344CB8AC3E}">
        <p14:creationId xmlns:p14="http://schemas.microsoft.com/office/powerpoint/2010/main" val="93077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IPC</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37</a:t>
            </a:fld>
            <a:endParaRPr lang="zh-CN" altLang="en-US"/>
          </a:p>
        </p:txBody>
      </p:sp>
      <p:pic>
        <p:nvPicPr>
          <p:cNvPr id="10" name="图片 9">
            <a:extLst>
              <a:ext uri="{FF2B5EF4-FFF2-40B4-BE49-F238E27FC236}">
                <a16:creationId xmlns:a16="http://schemas.microsoft.com/office/drawing/2014/main" id="{3F6B4492-1BA1-4568-DC40-DB2445E92991}"/>
              </a:ext>
            </a:extLst>
          </p:cNvPr>
          <p:cNvPicPr>
            <a:picLocks noChangeAspect="1"/>
          </p:cNvPicPr>
          <p:nvPr/>
        </p:nvPicPr>
        <p:blipFill>
          <a:blip r:embed="rId3"/>
          <a:stretch>
            <a:fillRect/>
          </a:stretch>
        </p:blipFill>
        <p:spPr>
          <a:xfrm>
            <a:off x="1919791" y="2174325"/>
            <a:ext cx="7674324" cy="3326371"/>
          </a:xfrm>
          <a:prstGeom prst="rect">
            <a:avLst/>
          </a:prstGeom>
        </p:spPr>
      </p:pic>
    </p:spTree>
    <p:extLst>
      <p:ext uri="{BB962C8B-B14F-4D97-AF65-F5344CB8AC3E}">
        <p14:creationId xmlns:p14="http://schemas.microsoft.com/office/powerpoint/2010/main" val="2991814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IPC</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579131"/>
            <a:ext cx="11552089" cy="1977850"/>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对计算密集型而非访存密集型的负载，</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的损失有限：大多数计算指令不是传输指令，可无视其数据依赖的污点状态照常执行。</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则不然，延迟广播意味着任何依赖推测加载的计算都无法完成，即便该计算对攻击者完全不可见。</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507.cactuBSSN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538.imagick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集中体现了这一差异。</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38</a:t>
            </a:fld>
            <a:endParaRPr lang="zh-CN" altLang="en-US"/>
          </a:p>
        </p:txBody>
      </p:sp>
    </p:spTree>
    <p:extLst>
      <p:ext uri="{BB962C8B-B14F-4D97-AF65-F5344CB8AC3E}">
        <p14:creationId xmlns:p14="http://schemas.microsoft.com/office/powerpoint/2010/main" val="1301097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IPC</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050064"/>
            <a:ext cx="11552089" cy="3343870"/>
          </a:xfrm>
        </p:spPr>
        <p:txBody>
          <a:bodyPr>
            <a:normAutofit/>
          </a:bodyPr>
          <a:lstStyle/>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548.exchange2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出现了出人意料的行为：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高于两个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版本。直觉上，由于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能执行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能执行的全部加载以及更多依赖加载的非发送型指令，其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应至少不低于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。但该基准执行期间，</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的存储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加载转发错误数量是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1350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倍。</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存储指令在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BOOM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中是一个可在任一操作数就绪时局部发射的统一微操作。提前发射地址使存储地址更早进入存储队列，从而让存储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加载转发检查更早进行。</a:t>
            </a: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要求在地址和数据均无污点时才能发射。但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在发射时才计算污点，因此在地址部分无污点后即可局部发射。可改进。</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39</a:t>
            </a:fld>
            <a:endParaRPr lang="zh-CN" altLang="en-US"/>
          </a:p>
        </p:txBody>
      </p:sp>
    </p:spTree>
    <p:extLst>
      <p:ext uri="{BB962C8B-B14F-4D97-AF65-F5344CB8AC3E}">
        <p14:creationId xmlns:p14="http://schemas.microsoft.com/office/powerpoint/2010/main" val="374151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IPC</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3" y="1300049"/>
            <a:ext cx="11552089" cy="4869657"/>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由于污点延迟，</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µop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在核内驻留时间显著延长。</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依赖指令的唤醒被进一步推迟，推迟量不仅包含加载等待脱离推测态的时间，还包含广播排队的时间。该效应与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本身的阻塞机制叠加，共同解释了论文观测到的微架构指标变化，即平均分支延迟由基线的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20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周期升至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45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周期（</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34</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38</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），平均已填充整数发射槽由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7.1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升至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13.1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分别为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8.3</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9.5</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µop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在核内驻留时间显著延长，</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尤为突出。</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分支误预测率保持不变确认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损失来自执行阻塞而非预测质量下降。</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40</a:t>
            </a:fld>
            <a:endParaRPr lang="zh-CN" altLang="en-US"/>
          </a:p>
        </p:txBody>
      </p:sp>
      <p:graphicFrame>
        <p:nvGraphicFramePr>
          <p:cNvPr id="5" name="表格 8">
            <a:extLst>
              <a:ext uri="{FF2B5EF4-FFF2-40B4-BE49-F238E27FC236}">
                <a16:creationId xmlns:a16="http://schemas.microsoft.com/office/drawing/2014/main" id="{2FC6B1C9-E254-5F05-0D58-8764A19E24F8}"/>
              </a:ext>
            </a:extLst>
          </p:cNvPr>
          <p:cNvGraphicFramePr/>
          <p:nvPr>
            <p:extLst>
              <p:ext uri="{D42A27DB-BD31-4B8C-83A1-F6EECF244321}">
                <p14:modId xmlns:p14="http://schemas.microsoft.com/office/powerpoint/2010/main" val="2632781584"/>
              </p:ext>
            </p:extLst>
          </p:nvPr>
        </p:nvGraphicFramePr>
        <p:xfrm>
          <a:off x="524822" y="4445471"/>
          <a:ext cx="10025382" cy="1112480"/>
        </p:xfrm>
        <a:graphic>
          <a:graphicData uri="http://schemas.openxmlformats.org/drawingml/2006/table">
            <a:tbl>
              <a:tblPr>
                <a:tableStyleId>{2D5ABB26-0587-4C30-8999-92F81FD0307C}</a:tableStyleId>
              </a:tblPr>
              <a:tblGrid>
                <a:gridCol w="2482850">
                  <a:extLst>
                    <a:ext uri="{9D8B030D-6E8A-4147-A177-3AD203B41FA5}">
                      <a16:colId xmlns:a16="http://schemas.microsoft.com/office/drawing/2014/main" val="20000"/>
                    </a:ext>
                  </a:extLst>
                </a:gridCol>
                <a:gridCol w="1821180">
                  <a:extLst>
                    <a:ext uri="{9D8B030D-6E8A-4147-A177-3AD203B41FA5}">
                      <a16:colId xmlns:a16="http://schemas.microsoft.com/office/drawing/2014/main" val="20001"/>
                    </a:ext>
                  </a:extLst>
                </a:gridCol>
                <a:gridCol w="1592580">
                  <a:extLst>
                    <a:ext uri="{9D8B030D-6E8A-4147-A177-3AD203B41FA5}">
                      <a16:colId xmlns:a16="http://schemas.microsoft.com/office/drawing/2014/main" val="460295882"/>
                    </a:ext>
                  </a:extLst>
                </a:gridCol>
                <a:gridCol w="1767840">
                  <a:extLst>
                    <a:ext uri="{9D8B030D-6E8A-4147-A177-3AD203B41FA5}">
                      <a16:colId xmlns:a16="http://schemas.microsoft.com/office/drawing/2014/main" val="1731537827"/>
                    </a:ext>
                  </a:extLst>
                </a:gridCol>
                <a:gridCol w="2360932">
                  <a:extLst>
                    <a:ext uri="{9D8B030D-6E8A-4147-A177-3AD203B41FA5}">
                      <a16:colId xmlns:a16="http://schemas.microsoft.com/office/drawing/2014/main" val="849000924"/>
                    </a:ext>
                  </a:extLst>
                </a:gridCol>
              </a:tblGrid>
              <a:tr h="370840">
                <a:tc>
                  <a:txBody>
                    <a:bodyPr/>
                    <a:lstStyle/>
                    <a:p>
                      <a:r>
                        <a:rPr lang="zh-CN" altLang="en-US" b="1">
                          <a:solidFill>
                            <a:srgbClr val="1F1F1F"/>
                          </a:solidFill>
                        </a:rPr>
                        <a:t>指标</a:t>
                      </a:r>
                      <a:endParaRPr b="1">
                        <a:solidFill>
                          <a:srgbClr val="1F1F1F"/>
                        </a:solidFill>
                      </a:endParaRPr>
                    </a:p>
                  </a:txBody>
                  <a:tcPr>
                    <a:lnL w="9525">
                      <a:solidFill>
                        <a:srgbClr val="FFFFFF"/>
                      </a:solidFill>
                      <a:prstDash val="solid"/>
                    </a:lnL>
                    <a:lnR w="9525">
                      <a:solidFill>
                        <a:srgbClr val="FFFFFF"/>
                      </a:solidFill>
                      <a:prstDash val="solid"/>
                    </a:lnR>
                    <a:lnT w="19050">
                      <a:solidFill>
                        <a:srgbClr val="1F1F1F"/>
                      </a:solidFill>
                      <a:prstDash val="solid"/>
                    </a:lnT>
                    <a:lnB w="9525">
                      <a:solidFill>
                        <a:srgbClr val="1F1F1F"/>
                      </a:solidFill>
                      <a:prstDash val="solid"/>
                    </a:lnB>
                    <a:solidFill>
                      <a:srgbClr val="FFFFFF"/>
                    </a:solidFill>
                  </a:tcPr>
                </a:tc>
                <a:tc>
                  <a:txBody>
                    <a:bodyPr/>
                    <a:lstStyle/>
                    <a:p>
                      <a:r>
                        <a:rPr lang="en-US" altLang="zh-CN" b="1">
                          <a:solidFill>
                            <a:srgbClr val="1F1F1F"/>
                          </a:solidFill>
                        </a:rPr>
                        <a:t>Baseline</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a:solidFill>
                        <a:srgbClr val="1F1F1F"/>
                      </a:solidFill>
                      <a:prstDash val="solid"/>
                    </a:lnB>
                    <a:solidFill>
                      <a:srgbClr val="FFFFFF"/>
                    </a:solidFill>
                  </a:tcPr>
                </a:tc>
                <a:tc>
                  <a:txBody>
                    <a:bodyPr/>
                    <a:lstStyle/>
                    <a:p>
                      <a:r>
                        <a:rPr lang="en-US" b="1">
                          <a:solidFill>
                            <a:srgbClr val="1F1F1F"/>
                          </a:solidFill>
                        </a:rPr>
                        <a:t>STT-Rename</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b="1">
                          <a:solidFill>
                            <a:srgbClr val="1F1F1F"/>
                          </a:solidFill>
                        </a:rPr>
                        <a:t>STT-Issue</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b="1">
                          <a:solidFill>
                            <a:srgbClr val="1F1F1F"/>
                          </a:solidFill>
                        </a:rPr>
                        <a:t>NDA</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800">
                <a:tc>
                  <a:txBody>
                    <a:bodyPr/>
                    <a:lstStyle/>
                    <a:p>
                      <a:r>
                        <a:rPr lang="zh-CN" altLang="en-US">
                          <a:latin typeface="Times New Roman" panose="02020603050405020304" pitchFamily="18" charset="0"/>
                          <a:cs typeface="Times New Roman" panose="02020603050405020304" pitchFamily="18" charset="0"/>
                        </a:rPr>
                        <a:t>平均分支延迟周期</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a:solidFill>
                        <a:srgbClr val="FFFFFF"/>
                      </a:solidFill>
                      <a:prstDash val="solid"/>
                    </a:lnR>
                    <a:lnT w="9525">
                      <a:solidFill>
                        <a:srgbClr val="1F1F1F"/>
                      </a:solidFill>
                      <a:prstDash val="soli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20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a:solidFill>
                        <a:srgbClr val="1F1F1F"/>
                      </a:solidFill>
                      <a:prstDash val="soli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34</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38</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45</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0840">
                <a:tc>
                  <a:txBody>
                    <a:bodyPr/>
                    <a:lstStyle/>
                    <a:p>
                      <a:r>
                        <a:rPr lang="zh-CN" altLang="en-US">
                          <a:latin typeface="Times New Roman" panose="02020603050405020304" pitchFamily="18" charset="0"/>
                          <a:cs typeface="Times New Roman" panose="02020603050405020304" pitchFamily="18" charset="0"/>
                        </a:rPr>
                        <a:t>平均已填充整数发射槽</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7.1</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8.3</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9.5</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13.1</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91089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Timing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3" y="1712275"/>
            <a:ext cx="11552089" cy="4457431"/>
          </a:xfrm>
        </p:spPr>
        <p:txBody>
          <a:bodyPr>
            <a:noAutofit/>
          </a:bodyPr>
          <a:lstStyle/>
          <a:p>
            <a:pPr marL="0" indent="0">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的时序影响随更宽核心而增大，而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始终能达到与不安全基线相同甚至更高的频率。</a:t>
            </a:r>
            <a:endParaRPr lang="en-US" altLang="zh-CN" sz="240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zh-CN" altLang="en-US" sz="24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41</a:t>
            </a:fld>
            <a:endParaRPr lang="zh-CN" altLang="en-US"/>
          </a:p>
        </p:txBody>
      </p:sp>
      <p:pic>
        <p:nvPicPr>
          <p:cNvPr id="6" name="图片 5">
            <a:extLst>
              <a:ext uri="{FF2B5EF4-FFF2-40B4-BE49-F238E27FC236}">
                <a16:creationId xmlns:a16="http://schemas.microsoft.com/office/drawing/2014/main" id="{C58DAD37-7E32-D00E-1B4E-E7589D634DAB}"/>
              </a:ext>
            </a:extLst>
          </p:cNvPr>
          <p:cNvPicPr>
            <a:picLocks noChangeAspect="1"/>
          </p:cNvPicPr>
          <p:nvPr/>
        </p:nvPicPr>
        <p:blipFill>
          <a:blip r:embed="rId3"/>
          <a:stretch>
            <a:fillRect/>
          </a:stretch>
        </p:blipFill>
        <p:spPr>
          <a:xfrm>
            <a:off x="548640" y="2718114"/>
            <a:ext cx="10927080" cy="2427611"/>
          </a:xfrm>
          <a:prstGeom prst="rect">
            <a:avLst/>
          </a:prstGeom>
        </p:spPr>
      </p:pic>
    </p:spTree>
    <p:extLst>
      <p:ext uri="{BB962C8B-B14F-4D97-AF65-F5344CB8AC3E}">
        <p14:creationId xmlns:p14="http://schemas.microsoft.com/office/powerpoint/2010/main" val="1306450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Timing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434575"/>
            <a:ext cx="11552089" cy="1988850"/>
          </a:xfrm>
        </p:spPr>
        <p:txBody>
          <a:bodyPr>
            <a:noAutofit/>
          </a:bodyPr>
          <a:lstStyle/>
          <a:p>
            <a:pPr marL="0" indent="0">
              <a:buNone/>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Mega BOOM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关键路径：</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：经过新增的污点跟踪机制；</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：经过修改后的发射逻辑；</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：经过寄存器文件。</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42</a:t>
            </a:fld>
            <a:endParaRPr lang="zh-CN" altLang="en-US"/>
          </a:p>
        </p:txBody>
      </p:sp>
    </p:spTree>
    <p:extLst>
      <p:ext uri="{BB962C8B-B14F-4D97-AF65-F5344CB8AC3E}">
        <p14:creationId xmlns:p14="http://schemas.microsoft.com/office/powerpoint/2010/main" val="4056984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Timing</a:t>
            </a:r>
            <a:endParaRPr lang="zh-CN" altLang="en-US" dirty="0"/>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43</a:t>
            </a:fld>
            <a:endParaRPr lang="zh-CN" altLang="en-US"/>
          </a:p>
        </p:txBody>
      </p:sp>
      <p:pic>
        <p:nvPicPr>
          <p:cNvPr id="6" name="图片 5">
            <a:extLst>
              <a:ext uri="{FF2B5EF4-FFF2-40B4-BE49-F238E27FC236}">
                <a16:creationId xmlns:a16="http://schemas.microsoft.com/office/drawing/2014/main" id="{6CB19A76-BE16-ACD0-8B1C-186828B6E3B6}"/>
              </a:ext>
            </a:extLst>
          </p:cNvPr>
          <p:cNvPicPr>
            <a:picLocks noChangeAspect="1"/>
          </p:cNvPicPr>
          <p:nvPr/>
        </p:nvPicPr>
        <p:blipFill>
          <a:blip r:embed="rId3"/>
          <a:stretch>
            <a:fillRect/>
          </a:stretch>
        </p:blipFill>
        <p:spPr>
          <a:xfrm>
            <a:off x="2410473" y="1987621"/>
            <a:ext cx="7371053" cy="3372257"/>
          </a:xfrm>
          <a:prstGeom prst="rect">
            <a:avLst/>
          </a:prstGeom>
        </p:spPr>
      </p:pic>
    </p:spTree>
    <p:extLst>
      <p:ext uri="{BB962C8B-B14F-4D97-AF65-F5344CB8AC3E}">
        <p14:creationId xmlns:p14="http://schemas.microsoft.com/office/powerpoint/2010/main" val="4292786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dirty="0"/>
              <a:t>Performance = IPC × Timing</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3" y="1300048"/>
            <a:ext cx="11552089" cy="6831785"/>
          </a:xfrm>
        </p:spPr>
        <p:txBody>
          <a:bodyPr>
            <a:normAutofit/>
          </a:bodyPr>
          <a:lstStyle/>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研究社区曾因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推迟的指令更少，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降低较小而认为其优于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。然而，基于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RTL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的设计显示，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因设计更简单、在更宽核心上时序惩罚更低，扩展性优于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这对以往仅依据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进行的分析提出了质疑。</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许多安全推测方案在更宽核心设计上扩展性较差，而领先处理器通常具有六条或更多指令的核心宽度，即便对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Redwood Cove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级处理器使用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和时序趋势的半线性估计，总性能损失仍将分别达到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49%</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40%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35%</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44</a:t>
            </a:fld>
            <a:endParaRPr lang="zh-CN" altLang="en-US"/>
          </a:p>
        </p:txBody>
      </p:sp>
      <p:graphicFrame>
        <p:nvGraphicFramePr>
          <p:cNvPr id="5" name="表格 8">
            <a:extLst>
              <a:ext uri="{FF2B5EF4-FFF2-40B4-BE49-F238E27FC236}">
                <a16:creationId xmlns:a16="http://schemas.microsoft.com/office/drawing/2014/main" id="{C7BF730E-93D0-AFEA-2829-2EE70C92F1DF}"/>
              </a:ext>
            </a:extLst>
          </p:cNvPr>
          <p:cNvGraphicFramePr/>
          <p:nvPr>
            <p:extLst>
              <p:ext uri="{D42A27DB-BD31-4B8C-83A1-F6EECF244321}">
                <p14:modId xmlns:p14="http://schemas.microsoft.com/office/powerpoint/2010/main" val="2022568195"/>
              </p:ext>
            </p:extLst>
          </p:nvPr>
        </p:nvGraphicFramePr>
        <p:xfrm>
          <a:off x="387662" y="3009808"/>
          <a:ext cx="5940000" cy="1854080"/>
        </p:xfrm>
        <a:graphic>
          <a:graphicData uri="http://schemas.openxmlformats.org/drawingml/2006/table">
            <a:tbl>
              <a:tblPr>
                <a:tableStyleId>{2D5ABB26-0587-4C30-8999-92F81FD0307C}</a:tableStyleId>
              </a:tblPr>
              <a:tblGrid>
                <a:gridCol w="1080000">
                  <a:extLst>
                    <a:ext uri="{9D8B030D-6E8A-4147-A177-3AD203B41FA5}">
                      <a16:colId xmlns:a16="http://schemas.microsoft.com/office/drawing/2014/main" val="20000"/>
                    </a:ext>
                  </a:extLst>
                </a:gridCol>
                <a:gridCol w="1620000">
                  <a:extLst>
                    <a:ext uri="{9D8B030D-6E8A-4147-A177-3AD203B41FA5}">
                      <a16:colId xmlns:a16="http://schemas.microsoft.com/office/drawing/2014/main" val="460295882"/>
                    </a:ext>
                  </a:extLst>
                </a:gridCol>
                <a:gridCol w="1620000">
                  <a:extLst>
                    <a:ext uri="{9D8B030D-6E8A-4147-A177-3AD203B41FA5}">
                      <a16:colId xmlns:a16="http://schemas.microsoft.com/office/drawing/2014/main" val="1731537827"/>
                    </a:ext>
                  </a:extLst>
                </a:gridCol>
                <a:gridCol w="1620000">
                  <a:extLst>
                    <a:ext uri="{9D8B030D-6E8A-4147-A177-3AD203B41FA5}">
                      <a16:colId xmlns:a16="http://schemas.microsoft.com/office/drawing/2014/main" val="849000924"/>
                    </a:ext>
                  </a:extLst>
                </a:gridCol>
              </a:tblGrid>
              <a:tr h="370840">
                <a:tc>
                  <a:txBody>
                    <a:bodyPr/>
                    <a:lstStyle/>
                    <a:p>
                      <a:r>
                        <a:rPr lang="zh-CN" altLang="en-US" b="1">
                          <a:solidFill>
                            <a:srgbClr val="1F1F1F"/>
                          </a:solidFill>
                        </a:rPr>
                        <a:t>配置</a:t>
                      </a:r>
                      <a:endParaRPr b="1">
                        <a:solidFill>
                          <a:srgbClr val="1F1F1F"/>
                        </a:solidFill>
                      </a:endParaRPr>
                    </a:p>
                  </a:txBody>
                  <a:tcPr>
                    <a:lnL w="9525">
                      <a:solidFill>
                        <a:srgbClr val="FFFFFF"/>
                      </a:solidFill>
                      <a:prstDash val="solid"/>
                    </a:lnL>
                    <a:lnR w="9525">
                      <a:solidFill>
                        <a:srgbClr val="FFFFFF"/>
                      </a:solidFill>
                      <a:prstDash val="solid"/>
                    </a:lnR>
                    <a:lnT w="19050">
                      <a:solidFill>
                        <a:srgbClr val="1F1F1F"/>
                      </a:solidFill>
                      <a:prstDash val="solid"/>
                    </a:lnT>
                    <a:lnB w="9525">
                      <a:solidFill>
                        <a:srgbClr val="1F1F1F"/>
                      </a:solidFill>
                      <a:prstDash val="solid"/>
                    </a:lnB>
                    <a:solidFill>
                      <a:srgbClr val="FFFFFF"/>
                    </a:solidFill>
                  </a:tcPr>
                </a:tc>
                <a:tc>
                  <a:txBody>
                    <a:bodyPr/>
                    <a:lstStyle/>
                    <a:p>
                      <a:r>
                        <a:rPr lang="en-US" b="1">
                          <a:solidFill>
                            <a:srgbClr val="1F1F1F"/>
                          </a:solidFill>
                        </a:rPr>
                        <a:t>STT-Rename</a:t>
                      </a:r>
                      <a:endParaRPr b="1">
                        <a:solidFill>
                          <a:srgbClr val="1F1F1F"/>
                        </a:solidFi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b="1" dirty="0">
                          <a:solidFill>
                            <a:srgbClr val="1F1F1F"/>
                          </a:solidFill>
                        </a:rPr>
                        <a:t>STT-Issue</a:t>
                      </a:r>
                      <a:endParaRPr b="1" dirty="0">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b="1">
                          <a:solidFill>
                            <a:srgbClr val="1F1F1F"/>
                          </a:solidFill>
                        </a:rPr>
                        <a:t>NDA</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800">
                <a:tc>
                  <a:txBody>
                    <a:bodyPr/>
                    <a:lstStyle/>
                    <a:p>
                      <a:r>
                        <a:rPr lang="en-US" altLang="zh-CN">
                          <a:latin typeface="Times New Roman" panose="02020603050405020304" pitchFamily="18" charset="0"/>
                          <a:cs typeface="Times New Roman" panose="02020603050405020304" pitchFamily="18" charset="0"/>
                        </a:rPr>
                        <a:t>Small</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a:solidFill>
                        <a:srgbClr val="FFFFFF"/>
                      </a:solidFill>
                      <a:prstDash val="solid"/>
                    </a:lnR>
                    <a:lnT w="9525">
                      <a:solidFill>
                        <a:srgbClr val="1F1F1F"/>
                      </a:solidFill>
                      <a:prstDash val="soli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dirty="0">
                          <a:solidFill>
                            <a:schemeClr val="dk1"/>
                          </a:solidFill>
                          <a:latin typeface="Times New Roman" panose="02020603050405020304" pitchFamily="18" charset="0"/>
                          <a:ea typeface="+mn-lt"/>
                          <a:cs typeface="Times New Roman" panose="02020603050405020304" pitchFamily="18" charset="0"/>
                        </a:rPr>
                        <a:t>0.98</a:t>
                      </a:r>
                      <a:endParaRPr sz="1800" b="0" kern="1200" dirty="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0.98</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1" kern="1200">
                          <a:solidFill>
                            <a:schemeClr val="dk1"/>
                          </a:solidFill>
                          <a:latin typeface="Times New Roman" panose="02020603050405020304" pitchFamily="18" charset="0"/>
                          <a:ea typeface="+mn-lt"/>
                          <a:cs typeface="Times New Roman" panose="02020603050405020304" pitchFamily="18" charset="0"/>
                        </a:rPr>
                        <a:t>1.01</a:t>
                      </a:r>
                      <a:endParaRPr sz="1800" b="1"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0800">
                <a:tc>
                  <a:txBody>
                    <a:bodyPr/>
                    <a:lstStyle/>
                    <a:p>
                      <a:r>
                        <a:rPr lang="en-US">
                          <a:latin typeface="Times New Roman" panose="02020603050405020304" pitchFamily="18" charset="0"/>
                          <a:cs typeface="Times New Roman" panose="02020603050405020304" pitchFamily="18" charset="0"/>
                        </a:rPr>
                        <a:t>Medium</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1" kern="1200">
                          <a:solidFill>
                            <a:schemeClr val="dk1"/>
                          </a:solidFill>
                          <a:latin typeface="Times New Roman" panose="02020603050405020304" pitchFamily="18" charset="0"/>
                          <a:ea typeface="+mn-lt"/>
                          <a:cs typeface="Times New Roman" panose="02020603050405020304" pitchFamily="18" charset="0"/>
                        </a:rPr>
                        <a:t>0.96</a:t>
                      </a:r>
                      <a:endParaRPr sz="1800" b="1"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0.88</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0.90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89692812"/>
                  </a:ext>
                </a:extLst>
              </a:tr>
              <a:tr h="370800">
                <a:tc>
                  <a:txBody>
                    <a:bodyPr/>
                    <a:lstStyle/>
                    <a:p>
                      <a:r>
                        <a:rPr lang="en-US">
                          <a:latin typeface="Times New Roman" panose="02020603050405020304" pitchFamily="18" charset="0"/>
                          <a:cs typeface="Times New Roman" panose="02020603050405020304" pitchFamily="18" charset="0"/>
                        </a:rPr>
                        <a:t>Large</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1" kern="1200">
                          <a:solidFill>
                            <a:schemeClr val="dk1"/>
                          </a:solidFill>
                          <a:latin typeface="Times New Roman" panose="02020603050405020304" pitchFamily="18" charset="0"/>
                          <a:ea typeface="+mn-lt"/>
                          <a:cs typeface="Times New Roman" panose="02020603050405020304" pitchFamily="18" charset="0"/>
                        </a:rPr>
                        <a:t>0.84</a:t>
                      </a:r>
                      <a:endParaRPr sz="1800" b="1"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dirty="0">
                          <a:solidFill>
                            <a:schemeClr val="dk1"/>
                          </a:solidFill>
                          <a:latin typeface="Times New Roman" panose="02020603050405020304" pitchFamily="18" charset="0"/>
                          <a:ea typeface="+mn-lt"/>
                          <a:cs typeface="Times New Roman" panose="02020603050405020304" pitchFamily="18" charset="0"/>
                        </a:rPr>
                        <a:t>0.81</a:t>
                      </a:r>
                      <a:endParaRPr sz="1800" b="0" kern="1200" dirty="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0.80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46290476"/>
                  </a:ext>
                </a:extLst>
              </a:tr>
              <a:tr h="370840">
                <a:tc>
                  <a:txBody>
                    <a:bodyPr/>
                    <a:lstStyle/>
                    <a:p>
                      <a:r>
                        <a:rPr lang="en-US">
                          <a:latin typeface="Times New Roman" panose="02020603050405020304" pitchFamily="18" charset="0"/>
                          <a:cs typeface="Times New Roman" panose="02020603050405020304" pitchFamily="18" charset="0"/>
                        </a:rPr>
                        <a:t>Mega</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0.66</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0.73</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1" kern="1200" dirty="0">
                          <a:solidFill>
                            <a:schemeClr val="dk1"/>
                          </a:solidFill>
                          <a:latin typeface="Times New Roman" panose="02020603050405020304" pitchFamily="18" charset="0"/>
                          <a:ea typeface="+mn-lt"/>
                          <a:cs typeface="Times New Roman" panose="02020603050405020304" pitchFamily="18" charset="0"/>
                        </a:rPr>
                        <a:t>0.78</a:t>
                      </a:r>
                      <a:endParaRPr sz="1800" b="1" kern="1200" dirty="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pic>
        <p:nvPicPr>
          <p:cNvPr id="7" name="图片 6">
            <a:extLst>
              <a:ext uri="{FF2B5EF4-FFF2-40B4-BE49-F238E27FC236}">
                <a16:creationId xmlns:a16="http://schemas.microsoft.com/office/drawing/2014/main" id="{05E2D587-FF25-152A-55B9-F88A2CA5CA4F}"/>
              </a:ext>
            </a:extLst>
          </p:cNvPr>
          <p:cNvPicPr>
            <a:picLocks noChangeAspect="1"/>
          </p:cNvPicPr>
          <p:nvPr/>
        </p:nvPicPr>
        <p:blipFill>
          <a:blip r:embed="rId3"/>
          <a:stretch>
            <a:fillRect/>
          </a:stretch>
        </p:blipFill>
        <p:spPr>
          <a:xfrm>
            <a:off x="6730204" y="2815747"/>
            <a:ext cx="5074132" cy="2242201"/>
          </a:xfrm>
          <a:prstGeom prst="rect">
            <a:avLst/>
          </a:prstGeom>
        </p:spPr>
      </p:pic>
    </p:spTree>
    <p:extLst>
      <p:ext uri="{BB962C8B-B14F-4D97-AF65-F5344CB8AC3E}">
        <p14:creationId xmlns:p14="http://schemas.microsoft.com/office/powerpoint/2010/main" val="1685955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Area &amp; Power</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3" y="1300049"/>
            <a:ext cx="11552089" cy="2388373"/>
          </a:xfrm>
        </p:spPr>
        <p:txBody>
          <a:bodyPr>
            <a:noAutofit/>
          </a:bodyPr>
          <a:lstStyle/>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面积</a:t>
            </a: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因需要检查点，触发器（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FF</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）增加显著更高。</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的面积增加较明显。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因逻辑更简单，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LUT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反而减少，但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FF</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略有增加。</a:t>
            </a:r>
          </a:p>
          <a:p>
            <a:pPr marL="0" indent="0">
              <a:buNone/>
            </a:pP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功耗</a:t>
            </a: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基本不变，</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略有增加，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明显降低。</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45</a:t>
            </a:fld>
            <a:endParaRPr lang="zh-CN" altLang="en-US"/>
          </a:p>
        </p:txBody>
      </p:sp>
      <p:graphicFrame>
        <p:nvGraphicFramePr>
          <p:cNvPr id="5" name="表格 8">
            <a:extLst>
              <a:ext uri="{FF2B5EF4-FFF2-40B4-BE49-F238E27FC236}">
                <a16:creationId xmlns:a16="http://schemas.microsoft.com/office/drawing/2014/main" id="{CB6BE5B2-C368-1D8F-88F4-A686F02E7EFC}"/>
              </a:ext>
            </a:extLst>
          </p:cNvPr>
          <p:cNvGraphicFramePr/>
          <p:nvPr>
            <p:extLst>
              <p:ext uri="{D42A27DB-BD31-4B8C-83A1-F6EECF244321}">
                <p14:modId xmlns:p14="http://schemas.microsoft.com/office/powerpoint/2010/main" val="3685987577"/>
              </p:ext>
            </p:extLst>
          </p:nvPr>
        </p:nvGraphicFramePr>
        <p:xfrm>
          <a:off x="501962" y="4401389"/>
          <a:ext cx="7342850" cy="1483280"/>
        </p:xfrm>
        <a:graphic>
          <a:graphicData uri="http://schemas.openxmlformats.org/drawingml/2006/table">
            <a:tbl>
              <a:tblPr>
                <a:tableStyleId>{2D5ABB26-0587-4C30-8999-92F81FD0307C}</a:tableStyleId>
              </a:tblPr>
              <a:tblGrid>
                <a:gridCol w="2482850">
                  <a:extLst>
                    <a:ext uri="{9D8B030D-6E8A-4147-A177-3AD203B41FA5}">
                      <a16:colId xmlns:a16="http://schemas.microsoft.com/office/drawing/2014/main" val="20000"/>
                    </a:ext>
                  </a:extLst>
                </a:gridCol>
                <a:gridCol w="1620000">
                  <a:extLst>
                    <a:ext uri="{9D8B030D-6E8A-4147-A177-3AD203B41FA5}">
                      <a16:colId xmlns:a16="http://schemas.microsoft.com/office/drawing/2014/main" val="460295882"/>
                    </a:ext>
                  </a:extLst>
                </a:gridCol>
                <a:gridCol w="1620000">
                  <a:extLst>
                    <a:ext uri="{9D8B030D-6E8A-4147-A177-3AD203B41FA5}">
                      <a16:colId xmlns:a16="http://schemas.microsoft.com/office/drawing/2014/main" val="1731537827"/>
                    </a:ext>
                  </a:extLst>
                </a:gridCol>
                <a:gridCol w="1620000">
                  <a:extLst>
                    <a:ext uri="{9D8B030D-6E8A-4147-A177-3AD203B41FA5}">
                      <a16:colId xmlns:a16="http://schemas.microsoft.com/office/drawing/2014/main" val="849000924"/>
                    </a:ext>
                  </a:extLst>
                </a:gridCol>
              </a:tblGrid>
              <a:tr h="370840">
                <a:tc>
                  <a:txBody>
                    <a:bodyPr/>
                    <a:lstStyle/>
                    <a:p>
                      <a:r>
                        <a:rPr lang="zh-CN" altLang="en-US" b="1">
                          <a:solidFill>
                            <a:srgbClr val="1F1F1F"/>
                          </a:solidFill>
                        </a:rPr>
                        <a:t>方案</a:t>
                      </a:r>
                      <a:endParaRPr b="1">
                        <a:solidFill>
                          <a:srgbClr val="1F1F1F"/>
                        </a:solidFill>
                      </a:endParaRPr>
                    </a:p>
                  </a:txBody>
                  <a:tcPr>
                    <a:lnL w="9525">
                      <a:solidFill>
                        <a:srgbClr val="FFFFFF"/>
                      </a:solidFill>
                      <a:prstDash val="solid"/>
                    </a:lnL>
                    <a:lnR w="9525">
                      <a:solidFill>
                        <a:srgbClr val="FFFFFF"/>
                      </a:solidFill>
                      <a:prstDash val="solid"/>
                    </a:lnR>
                    <a:lnT w="19050">
                      <a:solidFill>
                        <a:srgbClr val="1F1F1F"/>
                      </a:solidFill>
                      <a:prstDash val="solid"/>
                    </a:lnT>
                    <a:lnB w="9525">
                      <a:solidFill>
                        <a:srgbClr val="1F1F1F"/>
                      </a:solidFill>
                      <a:prstDash val="solid"/>
                    </a:lnB>
                    <a:solidFill>
                      <a:srgbClr val="FFFFFF"/>
                    </a:solidFill>
                  </a:tcPr>
                </a:tc>
                <a:tc>
                  <a:txBody>
                    <a:bodyPr/>
                    <a:lstStyle/>
                    <a:p>
                      <a:r>
                        <a:rPr lang="en-US" altLang="zh-CN" b="1">
                          <a:solidFill>
                            <a:srgbClr val="1F1F1F"/>
                          </a:solidFill>
                        </a:rPr>
                        <a:t>LUT</a:t>
                      </a:r>
                      <a:endParaRPr b="1">
                        <a:solidFill>
                          <a:srgbClr val="1F1F1F"/>
                        </a:solidFi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b="1">
                          <a:solidFill>
                            <a:srgbClr val="1F1F1F"/>
                          </a:solidFill>
                        </a:rPr>
                        <a:t>FF</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zh-CN" altLang="en-US" b="1">
                          <a:solidFill>
                            <a:srgbClr val="1F1F1F"/>
                          </a:solidFill>
                        </a:rPr>
                        <a:t>功耗</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800">
                <a:tc>
                  <a:txBody>
                    <a:bodyPr/>
                    <a:lstStyle/>
                    <a:p>
                      <a:r>
                        <a:rPr lang="en-US" altLang="zh-CN">
                          <a:latin typeface="Times New Roman" panose="02020603050405020304" pitchFamily="18" charset="0"/>
                          <a:cs typeface="Times New Roman" panose="02020603050405020304" pitchFamily="18" charset="0"/>
                        </a:rPr>
                        <a:t>STT-Rename</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1.060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1.094</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1.008</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89692812"/>
                  </a:ext>
                </a:extLst>
              </a:tr>
              <a:tr h="370800">
                <a:tc>
                  <a:txBody>
                    <a:bodyPr/>
                    <a:lstStyle/>
                    <a:p>
                      <a:r>
                        <a:rPr lang="en-US" altLang="zh-CN">
                          <a:latin typeface="Times New Roman" panose="02020603050405020304" pitchFamily="18" charset="0"/>
                          <a:cs typeface="Times New Roman" panose="02020603050405020304" pitchFamily="18" charset="0"/>
                        </a:rPr>
                        <a:t>STT-Issue</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1.059</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1.039</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1.026</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46290476"/>
                  </a:ext>
                </a:extLst>
              </a:tr>
              <a:tr h="370840">
                <a:tc>
                  <a:txBody>
                    <a:bodyPr/>
                    <a:lstStyle/>
                    <a:p>
                      <a:r>
                        <a:rPr lang="en-US" altLang="zh-CN">
                          <a:latin typeface="Times New Roman" panose="02020603050405020304" pitchFamily="18" charset="0"/>
                          <a:cs typeface="Times New Roman" panose="02020603050405020304" pitchFamily="18" charset="0"/>
                        </a:rPr>
                        <a:t>NDA</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0.980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1.027</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0.936</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828813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gem5</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3" y="1300049"/>
            <a:ext cx="11552089" cy="2448991"/>
          </a:xfrm>
        </p:spPr>
        <p:txBody>
          <a:bodyPr>
            <a:noAutofit/>
          </a:bodyPr>
          <a:lstStyle/>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Gem5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分析局限性：</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 gem5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允许用户自由修改内存延迟等关键核心参数，与实际实现不符。</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gem5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等模拟器慢于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FPGA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，难以完整运行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SPEC2017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这类长基准套件。许多评估只运行基准的一小部分，可能无法捕获所有阶段甚至代表性阶段，从而导致不准确结果。</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无法分析时序对性能的影响</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46</a:t>
            </a:fld>
            <a:endParaRPr lang="zh-CN" altLang="en-US"/>
          </a:p>
        </p:txBody>
      </p:sp>
      <p:graphicFrame>
        <p:nvGraphicFramePr>
          <p:cNvPr id="6" name="表格 8">
            <a:extLst>
              <a:ext uri="{FF2B5EF4-FFF2-40B4-BE49-F238E27FC236}">
                <a16:creationId xmlns:a16="http://schemas.microsoft.com/office/drawing/2014/main" id="{200522F5-EF9C-0070-2767-6D7CFAE46D9B}"/>
              </a:ext>
            </a:extLst>
          </p:cNvPr>
          <p:cNvGraphicFramePr/>
          <p:nvPr>
            <p:extLst>
              <p:ext uri="{D42A27DB-BD31-4B8C-83A1-F6EECF244321}">
                <p14:modId xmlns:p14="http://schemas.microsoft.com/office/powerpoint/2010/main" val="783687952"/>
              </p:ext>
            </p:extLst>
          </p:nvPr>
        </p:nvGraphicFramePr>
        <p:xfrm>
          <a:off x="515622" y="4075747"/>
          <a:ext cx="9313236" cy="1854120"/>
        </p:xfrm>
        <a:graphic>
          <a:graphicData uri="http://schemas.openxmlformats.org/drawingml/2006/table">
            <a:tbl>
              <a:tblPr>
                <a:tableStyleId>{2D5ABB26-0587-4C30-8999-92F81FD0307C}</a:tableStyleId>
              </a:tblPr>
              <a:tblGrid>
                <a:gridCol w="2113236">
                  <a:extLst>
                    <a:ext uri="{9D8B030D-6E8A-4147-A177-3AD203B41FA5}">
                      <a16:colId xmlns:a16="http://schemas.microsoft.com/office/drawing/2014/main" val="20000"/>
                    </a:ext>
                  </a:extLst>
                </a:gridCol>
                <a:gridCol w="1800000">
                  <a:extLst>
                    <a:ext uri="{9D8B030D-6E8A-4147-A177-3AD203B41FA5}">
                      <a16:colId xmlns:a16="http://schemas.microsoft.com/office/drawing/2014/main" val="460295882"/>
                    </a:ext>
                  </a:extLst>
                </a:gridCol>
                <a:gridCol w="1800000">
                  <a:extLst>
                    <a:ext uri="{9D8B030D-6E8A-4147-A177-3AD203B41FA5}">
                      <a16:colId xmlns:a16="http://schemas.microsoft.com/office/drawing/2014/main" val="1731537827"/>
                    </a:ext>
                  </a:extLst>
                </a:gridCol>
                <a:gridCol w="1800000">
                  <a:extLst>
                    <a:ext uri="{9D8B030D-6E8A-4147-A177-3AD203B41FA5}">
                      <a16:colId xmlns:a16="http://schemas.microsoft.com/office/drawing/2014/main" val="849000924"/>
                    </a:ext>
                  </a:extLst>
                </a:gridCol>
                <a:gridCol w="1800000">
                  <a:extLst>
                    <a:ext uri="{9D8B030D-6E8A-4147-A177-3AD203B41FA5}">
                      <a16:colId xmlns:a16="http://schemas.microsoft.com/office/drawing/2014/main" val="794957526"/>
                    </a:ext>
                  </a:extLst>
                </a:gridCol>
              </a:tblGrid>
              <a:tr h="370840">
                <a:tc>
                  <a:txBody>
                    <a:bodyPr/>
                    <a:lstStyle/>
                    <a:p>
                      <a:r>
                        <a:rPr lang="zh-CN" altLang="en-US" b="1" dirty="0">
                          <a:solidFill>
                            <a:srgbClr val="1F1F1F"/>
                          </a:solidFill>
                        </a:rPr>
                        <a:t>配置</a:t>
                      </a:r>
                      <a:endParaRPr b="1" dirty="0">
                        <a:solidFill>
                          <a:srgbClr val="1F1F1F"/>
                        </a:solidFill>
                      </a:endParaRPr>
                    </a:p>
                  </a:txBody>
                  <a:tcPr>
                    <a:lnL w="9525">
                      <a:solidFill>
                        <a:srgbClr val="FFFFFF"/>
                      </a:solidFill>
                      <a:prstDash val="solid"/>
                    </a:lnL>
                    <a:lnR w="9525">
                      <a:solidFill>
                        <a:srgbClr val="FFFFFF"/>
                      </a:solidFill>
                      <a:prstDash val="solid"/>
                    </a:lnR>
                    <a:lnT w="19050">
                      <a:solidFill>
                        <a:srgbClr val="1F1F1F"/>
                      </a:solidFill>
                      <a:prstDash val="solid"/>
                    </a:lnT>
                    <a:lnB w="9525">
                      <a:solidFill>
                        <a:srgbClr val="1F1F1F"/>
                      </a:solidFill>
                      <a:prstDash val="solid"/>
                    </a:lnB>
                    <a:solidFill>
                      <a:srgbClr val="FFFFFF"/>
                    </a:solidFill>
                  </a:tcPr>
                </a:tc>
                <a:tc>
                  <a:txBody>
                    <a:bodyPr/>
                    <a:lstStyle/>
                    <a:p>
                      <a:r>
                        <a:rPr lang="zh-CN" altLang="en-US" b="1" dirty="0">
                          <a:solidFill>
                            <a:srgbClr val="1F1F1F"/>
                          </a:solidFill>
                        </a:rPr>
                        <a:t>基线绝对</a:t>
                      </a:r>
                      <a:r>
                        <a:rPr lang="en-US" altLang="zh-CN" b="1" dirty="0">
                          <a:solidFill>
                            <a:srgbClr val="1F1F1F"/>
                          </a:solidFill>
                        </a:rPr>
                        <a:t>IPC</a:t>
                      </a:r>
                      <a:endParaRPr b="1" dirty="0">
                        <a:solidFill>
                          <a:srgbClr val="1F1F1F"/>
                        </a:solidFill>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altLang="zh-CN" b="1">
                          <a:solidFill>
                            <a:srgbClr val="1F1F1F"/>
                          </a:solidFill>
                        </a:rPr>
                        <a:t>STT-Rename</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altLang="zh-CN" b="1">
                          <a:solidFill>
                            <a:srgbClr val="1F1F1F"/>
                          </a:solidFill>
                        </a:rPr>
                        <a:t>STT-Issue</a:t>
                      </a:r>
                      <a:endParaRPr b="1">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tc>
                  <a:txBody>
                    <a:bodyPr/>
                    <a:lstStyle/>
                    <a:p>
                      <a:r>
                        <a:rPr lang="en-US" altLang="zh-CN" b="1" dirty="0">
                          <a:solidFill>
                            <a:srgbClr val="1F1F1F"/>
                          </a:solidFill>
                        </a:rPr>
                        <a:t>NDA</a:t>
                      </a:r>
                      <a:endParaRPr b="1" dirty="0">
                        <a:solidFill>
                          <a:srgbClr val="1F1F1F"/>
                        </a:solidFill>
                      </a:endParaRPr>
                    </a:p>
                  </a:txBody>
                  <a:tcPr>
                    <a:lnL w="9525">
                      <a:solidFill>
                        <a:srgbClr val="FFFFFF"/>
                      </a:solidFill>
                      <a:prstDash val="solid"/>
                    </a:lnL>
                    <a:lnR w="9525" cap="flat" cmpd="sng" algn="ctr">
                      <a:solidFill>
                        <a:srgbClr val="FFFFFF"/>
                      </a:solidFill>
                      <a:prstDash val="solid"/>
                      <a:round/>
                      <a:headEnd type="none" w="med" len="med"/>
                      <a:tailEnd type="none" w="med" len="med"/>
                    </a:lnR>
                    <a:lnT w="19050">
                      <a:solidFill>
                        <a:srgbClr val="1F1F1F"/>
                      </a:solidFill>
                      <a:prstDash val="solid"/>
                    </a:lnT>
                    <a:lnB w="9525" cap="flat" cmpd="sng" algn="ctr">
                      <a:solidFill>
                        <a:srgbClr val="1F1F1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800">
                <a:tc>
                  <a:txBody>
                    <a:bodyPr/>
                    <a:lstStyle/>
                    <a:p>
                      <a:r>
                        <a:rPr lang="en-US">
                          <a:latin typeface="Times New Roman" panose="02020603050405020304" pitchFamily="18" charset="0"/>
                          <a:cs typeface="Times New Roman" panose="02020603050405020304" pitchFamily="18" charset="0"/>
                        </a:rPr>
                        <a:t>Medium</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0.59</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4.5%</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4.8%</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9.0%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1F1F1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89692812"/>
                  </a:ext>
                </a:extLst>
              </a:tr>
              <a:tr h="370800">
                <a:tc>
                  <a:txBody>
                    <a:bodyPr/>
                    <a:lstStyle/>
                    <a:p>
                      <a:r>
                        <a:rPr lang="en-US">
                          <a:latin typeface="Times New Roman" panose="02020603050405020304" pitchFamily="18" charset="0"/>
                          <a:cs typeface="Times New Roman" panose="02020603050405020304" pitchFamily="18" charset="0"/>
                        </a:rPr>
                        <a:t>Large</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a:solidFill>
                        <a:srgbClr val="FFFFFF"/>
                      </a:solidFill>
                      <a:prstDash val="soli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0.83</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11.3%</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10.0%</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18.6%</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46290476"/>
                  </a:ext>
                </a:extLst>
              </a:tr>
              <a:tr h="370840">
                <a:tc>
                  <a:txBody>
                    <a:bodyPr/>
                    <a:lstStyle/>
                    <a:p>
                      <a:r>
                        <a:rPr lang="en-US">
                          <a:latin typeface="Times New Roman" panose="02020603050405020304" pitchFamily="18" charset="0"/>
                          <a:cs typeface="Times New Roman" panose="02020603050405020304" pitchFamily="18" charset="0"/>
                        </a:rPr>
                        <a:t>Mega</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a:solidFill>
                        <a:srgbClr val="FFFFFF"/>
                      </a:solidFill>
                      <a:prstDash val="soli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1.09</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17.6%</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15.8%</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22.4%</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0840">
                <a:tc>
                  <a:txBody>
                    <a:bodyPr/>
                    <a:lstStyle/>
                    <a:p>
                      <a:r>
                        <a:rPr lang="en-US">
                          <a:latin typeface="Times New Roman" panose="02020603050405020304" pitchFamily="18" charset="0"/>
                          <a:cs typeface="Times New Roman" panose="02020603050405020304" pitchFamily="18" charset="0"/>
                        </a:rPr>
                        <a:t>gem5</a:t>
                      </a:r>
                      <a:endParaRPr>
                        <a:latin typeface="Times New Roman" panose="02020603050405020304" pitchFamily="18" charset="0"/>
                        <a:cs typeface="Times New Roman" panose="02020603050405020304" pitchFamily="18" charset="0"/>
                      </a:endParaRPr>
                    </a:p>
                  </a:txBody>
                  <a:tcPr>
                    <a:lnL w="9525">
                      <a:solidFill>
                        <a:srgbClr val="FFFFFF"/>
                      </a:solidFill>
                      <a:prstDash val="soli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1.12 / 0.79</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a:solidFill>
                            <a:schemeClr val="dk1"/>
                          </a:solidFill>
                          <a:latin typeface="Times New Roman" panose="02020603050405020304" pitchFamily="18" charset="0"/>
                          <a:ea typeface="+mn-lt"/>
                          <a:cs typeface="Times New Roman" panose="02020603050405020304" pitchFamily="18" charset="0"/>
                        </a:rPr>
                        <a:t>17.2%</a:t>
                      </a:r>
                      <a:endParaRPr sz="1800" b="0"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1" kern="1200">
                          <a:solidFill>
                            <a:schemeClr val="dk1"/>
                          </a:solidFill>
                          <a:latin typeface="Times New Roman" panose="02020603050405020304" pitchFamily="18" charset="0"/>
                          <a:ea typeface="+mn-lt"/>
                          <a:cs typeface="Times New Roman" panose="02020603050405020304" pitchFamily="18" charset="0"/>
                        </a:rPr>
                        <a:t>-</a:t>
                      </a:r>
                      <a:endParaRPr sz="1800" b="1" kern="120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a:lnSpc>
                          <a:spcPct val="100000"/>
                        </a:lnSpc>
                        <a:spcBef>
                          <a:spcPts val="0"/>
                        </a:spcBef>
                        <a:spcAft>
                          <a:spcPts val="0"/>
                        </a:spcAft>
                        <a:buClrTx/>
                        <a:buSzTx/>
                        <a:buFontTx/>
                        <a:buNone/>
                      </a:pPr>
                      <a:r>
                        <a:rPr lang="en-US" sz="1800" b="0" kern="1200" dirty="0">
                          <a:solidFill>
                            <a:schemeClr val="dk1"/>
                          </a:solidFill>
                          <a:latin typeface="Times New Roman" panose="02020603050405020304" pitchFamily="18" charset="0"/>
                          <a:ea typeface="+mn-lt"/>
                          <a:cs typeface="Times New Roman" panose="02020603050405020304" pitchFamily="18" charset="0"/>
                        </a:rPr>
                        <a:t>13.0%</a:t>
                      </a:r>
                      <a:endParaRPr sz="1800" b="0" kern="1200" dirty="0">
                        <a:solidFill>
                          <a:schemeClr val="dk1"/>
                        </a:solidFill>
                        <a:latin typeface="Times New Roman" panose="02020603050405020304" pitchFamily="18" charset="0"/>
                        <a:ea typeface="+mn-lt"/>
                        <a:cs typeface="Times New Roman" panose="02020603050405020304" pitchFamily="18"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3809097"/>
                  </a:ext>
                </a:extLst>
              </a:tr>
            </a:tbl>
          </a:graphicData>
        </a:graphic>
      </p:graphicFrame>
    </p:spTree>
    <p:extLst>
      <p:ext uri="{BB962C8B-B14F-4D97-AF65-F5344CB8AC3E}">
        <p14:creationId xmlns:p14="http://schemas.microsoft.com/office/powerpoint/2010/main" val="379486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Conclusion</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1665174"/>
            <a:ext cx="11552089" cy="4691178"/>
          </a:xfrm>
        </p:spPr>
        <p:txBody>
          <a:bodyPr>
            <a:normAutofit fontScale="92500"/>
          </a:bodyPr>
          <a:lstStyle/>
          <a:p>
            <a:pPr marL="457200" indent="-457200">
              <a:buFont typeface="+mj-lt"/>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发现了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的污点化需要一条依赖链，与复杂的污点检查点。</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lt"/>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提出替代设计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，通过把污点化推迟到发射阶段消除依赖链，在性能上取得更好结果。</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lt"/>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给出了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 STT-Rename / 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RTL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级实现。</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lt"/>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实验验证了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相较于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STT-Rename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在更宽的核心上性能、时序、面积和功耗方面取得更好结果。</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lt"/>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对性能的分析综合了时序和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，发现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NDA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虽然因为延迟的指令跟多而导致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损失较多，但复杂度较小，对时序影响较小，综合性能更强；而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虽然只延迟传输指令而导致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IPC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损失较小，但污点跟踪实现复杂，对时序影响较大，综合性能反而较弱。</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lt"/>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作为首个基于微架构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RTL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设计综合，为安全推测方案给出时序、面积和功耗分析的工作。挑战了既有安全方案性能评估，表明瞬态执行攻击缓解的真实成本可能远高于先前估计。</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47</a:t>
            </a:fld>
            <a:endParaRPr lang="zh-CN" altLang="en-US"/>
          </a:p>
        </p:txBody>
      </p:sp>
    </p:spTree>
    <p:extLst>
      <p:ext uri="{BB962C8B-B14F-4D97-AF65-F5344CB8AC3E}">
        <p14:creationId xmlns:p14="http://schemas.microsoft.com/office/powerpoint/2010/main" val="29619801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F64BE-69C8-4371-80BA-E041CC9AF744}"/>
              </a:ext>
            </a:extLst>
          </p:cNvPr>
          <p:cNvSpPr>
            <a:spLocks noGrp="1"/>
          </p:cNvSpPr>
          <p:nvPr>
            <p:ph type="title"/>
          </p:nvPr>
        </p:nvSpPr>
        <p:spPr/>
        <p:txBody>
          <a:bodyPr>
            <a:normAutofit/>
          </a:bodyPr>
          <a:lstStyle/>
          <a:p>
            <a:r>
              <a:rPr lang="en-US" altLang="zh-CN"/>
              <a:t>Limitations</a:t>
            </a:r>
            <a:endParaRPr lang="zh-CN" altLang="en-US" dirty="0"/>
          </a:p>
        </p:txBody>
      </p:sp>
      <p:sp>
        <p:nvSpPr>
          <p:cNvPr id="3" name="内容占位符 2">
            <a:extLst>
              <a:ext uri="{FF2B5EF4-FFF2-40B4-BE49-F238E27FC236}">
                <a16:creationId xmlns:a16="http://schemas.microsoft.com/office/drawing/2014/main" id="{35D35976-12C7-43AF-8A09-F2BFF83A47B1}"/>
              </a:ext>
            </a:extLst>
          </p:cNvPr>
          <p:cNvSpPr>
            <a:spLocks noGrp="1"/>
          </p:cNvSpPr>
          <p:nvPr>
            <p:ph idx="1"/>
          </p:nvPr>
        </p:nvSpPr>
        <p:spPr>
          <a:xfrm>
            <a:off x="387664" y="2514600"/>
            <a:ext cx="11552089" cy="2241430"/>
          </a:xfrm>
        </p:spPr>
        <p:txBody>
          <a:bodyPr>
            <a:normAutofit/>
          </a:bodyPr>
          <a:lstStyle/>
          <a:p>
            <a:pPr marL="457200" indent="-457200">
              <a:buAutoNum type="arabicPeriod"/>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BOOM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的优化程度低于领先商业核心，一些机制可能影响性能损失。</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AutoNum type="arabicPeriod"/>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BOOM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的核心宽度小于领先商业核心，对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Redwood Cove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上性能损失的估算只能来自（半）线性外推，难以充分证明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STT-Issue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的优势。</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AutoNum type="arabicPeriod"/>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先进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ASIC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工艺与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FPGA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综合存在显著时序差异，对于面积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功耗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时序的评估均可能存在差异。</a:t>
            </a:r>
          </a:p>
        </p:txBody>
      </p:sp>
      <p:sp>
        <p:nvSpPr>
          <p:cNvPr id="4" name="灯片编号占位符 3">
            <a:extLst>
              <a:ext uri="{FF2B5EF4-FFF2-40B4-BE49-F238E27FC236}">
                <a16:creationId xmlns:a16="http://schemas.microsoft.com/office/drawing/2014/main" id="{C55868DF-9517-4440-884B-4DB98DDC8604}"/>
              </a:ext>
            </a:extLst>
          </p:cNvPr>
          <p:cNvSpPr>
            <a:spLocks noGrp="1"/>
          </p:cNvSpPr>
          <p:nvPr>
            <p:ph type="sldNum" sz="quarter" idx="12"/>
          </p:nvPr>
        </p:nvSpPr>
        <p:spPr/>
        <p:txBody>
          <a:bodyPr/>
          <a:lstStyle/>
          <a:p>
            <a:fld id="{7E4A8778-6878-4E7F-8804-30B4CC446728}" type="slidenum">
              <a:rPr lang="zh-CN" altLang="en-US" smtClean="0"/>
              <a:t>48</a:t>
            </a:fld>
            <a:endParaRPr lang="zh-CN" altLang="en-US"/>
          </a:p>
        </p:txBody>
      </p:sp>
    </p:spTree>
    <p:extLst>
      <p:ext uri="{BB962C8B-B14F-4D97-AF65-F5344CB8AC3E}">
        <p14:creationId xmlns:p14="http://schemas.microsoft.com/office/powerpoint/2010/main" val="2396171208"/>
      </p:ext>
    </p:extLst>
  </p:cSld>
  <p:clrMapOvr>
    <a:masterClrMapping/>
  </p:clrMapOvr>
</p:sld>
</file>

<file path=ppt/theme/theme1.xml><?xml version="1.0" encoding="utf-8"?>
<a:theme xmlns:a="http://schemas.openxmlformats.org/drawingml/2006/main" name="Office 主题​​">
  <a:themeElements>
    <a:clrScheme name="论文多色">
      <a:dk1>
        <a:sysClr val="windowText" lastClr="000000"/>
      </a:dk1>
      <a:lt1>
        <a:sysClr val="window" lastClr="FFFFFF"/>
      </a:lt1>
      <a:dk2>
        <a:srgbClr val="44546A"/>
      </a:dk2>
      <a:lt2>
        <a:srgbClr val="E7E6E6"/>
      </a:lt2>
      <a:accent1>
        <a:srgbClr val="D8D9DA"/>
      </a:accent1>
      <a:accent2>
        <a:srgbClr val="ECB884"/>
      </a:accent2>
      <a:accent3>
        <a:srgbClr val="E4E45F"/>
      </a:accent3>
      <a:accent4>
        <a:srgbClr val="4758A2"/>
      </a:accent4>
      <a:accent5>
        <a:srgbClr val="E08D8A"/>
      </a:accent5>
      <a:accent6>
        <a:srgbClr val="AF8CBB"/>
      </a:accent6>
      <a:hlink>
        <a:srgbClr val="0563C1"/>
      </a:hlink>
      <a:folHlink>
        <a:srgbClr val="7030A0"/>
      </a:folHlink>
    </a:clrScheme>
    <a:fontScheme name="黑体+Garamond">
      <a:majorFont>
        <a:latin typeface="Garamond"/>
        <a:ea typeface="黑体"/>
        <a:cs typeface=""/>
      </a:majorFont>
      <a:minorFont>
        <a:latin typeface="Garamond"/>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6279</TotalTime>
  <Words>3616</Words>
  <Application>Microsoft Office PowerPoint</Application>
  <PresentationFormat>宽屏</PresentationFormat>
  <Paragraphs>359</Paragraphs>
  <Slides>48</Slides>
  <Notes>48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等线</vt:lpstr>
      <vt:lpstr>黑体</vt:lpstr>
      <vt:lpstr>楷体</vt:lpstr>
      <vt:lpstr>宋体</vt:lpstr>
      <vt:lpstr>Arial</vt:lpstr>
      <vt:lpstr>Consolas</vt:lpstr>
      <vt:lpstr>Garamond</vt:lpstr>
      <vt:lpstr>Times New Roman</vt:lpstr>
      <vt:lpstr>Wingdings</vt:lpstr>
      <vt:lpstr>Office 主题​​</vt:lpstr>
      <vt:lpstr>ShadowBinding: Realizing Effective Microarchitectures for In-Core Secure Speculation Schemes ShadowBinding：构建高效的核内安全推测执行微体系结构 Amund Bergland Kvalsvik      Magnus Själander Norwegian University of Science and Technology Trondheim, Norway MICRO, 2025  汇报人：林子清 指导老师：刘先华 2026年10月11日</vt:lpstr>
      <vt:lpstr>Introduction</vt:lpstr>
      <vt:lpstr>Speculative Side-Channel Attacks</vt:lpstr>
      <vt:lpstr>Speculative Side-Channel Attacks</vt:lpstr>
      <vt:lpstr>In-Core Secure Schemes</vt:lpstr>
      <vt:lpstr>Threat Model</vt:lpstr>
      <vt:lpstr>Speculative Shadow</vt:lpstr>
      <vt:lpstr>Threat Model</vt:lpstr>
      <vt:lpstr>Background</vt:lpstr>
      <vt:lpstr>Speculative Taint Tracking</vt:lpstr>
      <vt:lpstr>Speculative Taint Tracking</vt:lpstr>
      <vt:lpstr>Non-Speculative Data Access</vt:lpstr>
      <vt:lpstr>Design</vt:lpstr>
      <vt:lpstr>STT-Rename</vt:lpstr>
      <vt:lpstr>Taint Tracking</vt:lpstr>
      <vt:lpstr>Taint Tracking</vt:lpstr>
      <vt:lpstr>Taint Tracking</vt:lpstr>
      <vt:lpstr>Taint Tracking</vt:lpstr>
      <vt:lpstr>Checkpointing</vt:lpstr>
      <vt:lpstr>Checkpointing</vt:lpstr>
      <vt:lpstr>STT-Issue</vt:lpstr>
      <vt:lpstr>STT-Issue</vt:lpstr>
      <vt:lpstr>STT-Issue</vt:lpstr>
      <vt:lpstr>STT-Issue</vt:lpstr>
      <vt:lpstr>NDA</vt:lpstr>
      <vt:lpstr>Delayed Broadcast</vt:lpstr>
      <vt:lpstr>Delayed Broadcast</vt:lpstr>
      <vt:lpstr>Delayed Broadcast</vt:lpstr>
      <vt:lpstr>Tracking Speculation</vt:lpstr>
      <vt:lpstr>Tracking Speculation</vt:lpstr>
      <vt:lpstr>Tracking Speculation</vt:lpstr>
      <vt:lpstr>Evaluation</vt:lpstr>
      <vt:lpstr>Methodology</vt:lpstr>
      <vt:lpstr>Methodology</vt:lpstr>
      <vt:lpstr>IPC</vt:lpstr>
      <vt:lpstr>IPC</vt:lpstr>
      <vt:lpstr>IPC</vt:lpstr>
      <vt:lpstr>IPC</vt:lpstr>
      <vt:lpstr>IPC</vt:lpstr>
      <vt:lpstr>IPC</vt:lpstr>
      <vt:lpstr>Timing</vt:lpstr>
      <vt:lpstr>Timing</vt:lpstr>
      <vt:lpstr>Timing</vt:lpstr>
      <vt:lpstr>Performance = IPC × Timing</vt:lpstr>
      <vt:lpstr>Area &amp; Power</vt:lpstr>
      <vt:lpstr>gem5</vt:lpstr>
      <vt:lpstr>Conclusion</vt:lpstr>
      <vt:lpstr>Limitations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杨春</dc:creator>
  <cp:lastModifiedBy>Shawn Nicholson</cp:lastModifiedBy>
  <cp:revision>518</cp:revision>
  <dcterms:created xsi:type="dcterms:W3CDTF">2023-09-25T01:34:24Z</dcterms:created>
  <dcterms:modified xsi:type="dcterms:W3CDTF">2026-09-29T02:24:09Z</dcterms:modified>
</cp:coreProperties>
</file>