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AA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749" autoAdjust="0"/>
  </p:normalViewPr>
  <p:slideViewPr>
    <p:cSldViewPr snapToGrid="0" snapToObjects="1">
      <p:cViewPr varScale="1">
        <p:scale>
          <a:sx n="95" d="100"/>
          <a:sy n="95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750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87F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448056"/>
            <a:ext cx="914400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>
                <a:solidFill>
                  <a:srgbClr val="087F78"/>
                </a:solidFill>
                <a:latin typeface="Microsoft YaHei"/>
                <a:ea typeface="Microsoft YaHei"/>
              </a:rPr>
              <a:t>方班研讨厅  ·  单篇文献研读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70432"/>
            <a:ext cx="7315200" cy="74980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4600" b="1">
                <a:solidFill>
                  <a:srgbClr val="15314D"/>
                </a:solidFill>
                <a:latin typeface="Arial"/>
                <a:ea typeface="Microsoft YaHei"/>
              </a:rPr>
              <a:t>G-Safeguard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" y="1993392"/>
            <a:ext cx="7863840" cy="11887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050" b="1">
                <a:solidFill>
                  <a:srgbClr val="15314D"/>
                </a:solidFill>
                <a:latin typeface="Microsoft YaHei"/>
                <a:ea typeface="Microsoft YaHei"/>
              </a:rPr>
              <a:t>基于拓扑的多智能体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050" b="1">
                <a:solidFill>
                  <a:srgbClr val="15314D"/>
                </a:solidFill>
                <a:latin typeface="Microsoft YaHei"/>
                <a:ea typeface="Microsoft YaHei"/>
              </a:rPr>
              <a:t>安全检测与干预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64992"/>
            <a:ext cx="7406640" cy="8503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647585"/>
                </a:solidFill>
                <a:latin typeface="Arial"/>
                <a:ea typeface="Microsoft YaHei"/>
              </a:rPr>
              <a:t>A Topology-Guided Security Lens and Treatment on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647585"/>
                </a:solidFill>
                <a:latin typeface="Arial"/>
                <a:ea typeface="Microsoft YaHei"/>
              </a:rPr>
              <a:t>LLM-based Multi-agent Systems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4389120"/>
            <a:ext cx="6775704" cy="0"/>
          </a:xfrm>
          <a:prstGeom prst="line">
            <a:avLst/>
          </a:prstGeom>
          <a:ln w="12700">
            <a:solidFill>
              <a:srgbClr val="DCE4EB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658368" y="4562856"/>
            <a:ext cx="7543800" cy="58521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>
                <a:solidFill>
                  <a:srgbClr val="253849"/>
                </a:solidFill>
                <a:latin typeface="Microsoft YaHei"/>
                <a:ea typeface="Microsoft YaHei"/>
              </a:rPr>
              <a:t>作者：Shilong Wang、Guibin Zhang、Miao Yu、Guancheng Wan、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>
                <a:solidFill>
                  <a:srgbClr val="253849"/>
                </a:solidFill>
                <a:latin typeface="Microsoft YaHei"/>
                <a:ea typeface="Microsoft YaHei"/>
              </a:rPr>
              <a:t>Fanci Meng、Chongye Guo、Kun Wang、Yang Wang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266944"/>
            <a:ext cx="7498079" cy="30175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>
                <a:solidFill>
                  <a:srgbClr val="087F78"/>
                </a:solidFill>
                <a:latin typeface="Arial"/>
                <a:ea typeface="Microsoft YaHei"/>
              </a:rPr>
              <a:t>ACL 2025 · Volume 1: Long Papers · pp. 7261–7276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669280"/>
            <a:ext cx="7406640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70" b="0">
                <a:solidFill>
                  <a:srgbClr val="647585"/>
                </a:solidFill>
                <a:latin typeface="Arial"/>
                <a:ea typeface="Microsoft YaHei"/>
              </a:rPr>
              <a:t>文献作者单位：USTC / NUS / UCLA / Shanghai University / NTU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75320" y="1664208"/>
            <a:ext cx="3246120" cy="4087368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30768" y="1874519"/>
            <a:ext cx="2926080" cy="80467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15314D"/>
                </a:solidFill>
                <a:latin typeface="Microsoft YaHei"/>
                <a:ea typeface="Microsoft YaHei"/>
              </a:rPr>
              <a:t>从单点检查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15314D"/>
                </a:solidFill>
                <a:latin typeface="Microsoft YaHei"/>
                <a:ea typeface="Microsoft YaHei"/>
              </a:rPr>
              <a:t>到传播路径干预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9261610" y="3080813"/>
            <a:ext cx="980931" cy="92869"/>
          </a:xfrm>
          <a:prstGeom prst="line">
            <a:avLst/>
          </a:prstGeom>
          <a:ln w="21590">
            <a:solidFill>
              <a:srgbClr val="647585"/>
            </a:solidFill>
            <a:tailEnd type="triangle" w="sm" len="sm"/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183003" y="3397632"/>
            <a:ext cx="470633" cy="455927"/>
          </a:xfrm>
          <a:prstGeom prst="line">
            <a:avLst/>
          </a:prstGeom>
          <a:ln w="21590">
            <a:solidFill>
              <a:srgbClr val="647585"/>
            </a:solidFill>
            <a:tailEnd type="triangle" w="sm" len="sm"/>
          </a:ln>
          <a:effectLst/>
        </p:spPr>
      </p:cxnSp>
      <p:cxnSp>
        <p:nvCxnSpPr>
          <p:cNvPr id="15" name="Connector 14"/>
          <p:cNvCxnSpPr/>
          <p:nvPr/>
        </p:nvCxnSpPr>
        <p:spPr>
          <a:xfrm flipH="1">
            <a:off x="10014967" y="3289619"/>
            <a:ext cx="352041" cy="525649"/>
          </a:xfrm>
          <a:prstGeom prst="line">
            <a:avLst/>
          </a:prstGeom>
          <a:ln w="21590">
            <a:solidFill>
              <a:srgbClr val="647585"/>
            </a:solidFill>
            <a:tailEnd type="triangle" w="sm" len="sm"/>
          </a:ln>
          <a:effectLst/>
        </p:spPr>
      </p:cxnSp>
      <p:cxnSp>
        <p:nvCxnSpPr>
          <p:cNvPr id="16" name="Connector 15"/>
          <p:cNvCxnSpPr/>
          <p:nvPr/>
        </p:nvCxnSpPr>
        <p:spPr>
          <a:xfrm flipH="1">
            <a:off x="9160669" y="4242621"/>
            <a:ext cx="487869" cy="448445"/>
          </a:xfrm>
          <a:prstGeom prst="line">
            <a:avLst/>
          </a:prstGeom>
          <a:ln w="21590">
            <a:solidFill>
              <a:srgbClr val="AF4144"/>
            </a:solidFill>
            <a:prstDash val="dash"/>
            <a:tailEnd type="triangle" w="sm" len="sm"/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10044063" y="4263971"/>
            <a:ext cx="339569" cy="387457"/>
          </a:xfrm>
          <a:prstGeom prst="line">
            <a:avLst/>
          </a:prstGeom>
          <a:ln w="21590">
            <a:solidFill>
              <a:srgbClr val="AF4144"/>
            </a:solidFill>
            <a:prstDash val="dash"/>
            <a:tailEnd type="triangle" w="sm" len="sm"/>
          </a:ln>
          <a:effectLst/>
        </p:spPr>
      </p:cxnSp>
      <p:cxnSp>
        <p:nvCxnSpPr>
          <p:cNvPr id="18" name="Connector 17"/>
          <p:cNvCxnSpPr/>
          <p:nvPr/>
        </p:nvCxnSpPr>
        <p:spPr>
          <a:xfrm flipV="1">
            <a:off x="9235421" y="4867810"/>
            <a:ext cx="1051597" cy="11883"/>
          </a:xfrm>
          <a:prstGeom prst="line">
            <a:avLst/>
          </a:prstGeom>
          <a:ln w="21590">
            <a:solidFill>
              <a:srgbClr val="647585"/>
            </a:solidFill>
            <a:tailEnd type="triangle" w="sm" len="sm"/>
          </a:ln>
          <a:effectLst/>
        </p:spPr>
      </p:cxnSp>
      <p:sp>
        <p:nvSpPr>
          <p:cNvPr id="19" name="Oval 18"/>
          <p:cNvSpPr/>
          <p:nvPr/>
        </p:nvSpPr>
        <p:spPr>
          <a:xfrm>
            <a:off x="8695944" y="2916936"/>
            <a:ext cx="566928" cy="566928"/>
          </a:xfrm>
          <a:prstGeom prst="ellipse">
            <a:avLst/>
          </a:prstGeom>
          <a:solidFill>
            <a:srgbClr val="E7F4F1"/>
          </a:solidFill>
          <a:ln w="19050">
            <a:solidFill>
              <a:srgbClr val="087F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95944" y="2916936"/>
            <a:ext cx="566928" cy="56692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087F78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21" name="Oval 20"/>
          <p:cNvSpPr/>
          <p:nvPr/>
        </p:nvSpPr>
        <p:spPr>
          <a:xfrm>
            <a:off x="10241280" y="2770632"/>
            <a:ext cx="566928" cy="566928"/>
          </a:xfrm>
          <a:prstGeom prst="ellipse">
            <a:avLst/>
          </a:prstGeom>
          <a:solidFill>
            <a:srgbClr val="E7F4F1"/>
          </a:solidFill>
          <a:ln w="19050">
            <a:solidFill>
              <a:srgbClr val="087F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41280" y="2770632"/>
            <a:ext cx="566928" cy="56692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087F78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3" name="Oval 22"/>
          <p:cNvSpPr/>
          <p:nvPr/>
        </p:nvSpPr>
        <p:spPr>
          <a:xfrm>
            <a:off x="9573768" y="3767328"/>
            <a:ext cx="566928" cy="566928"/>
          </a:xfrm>
          <a:prstGeom prst="ellipse">
            <a:avLst/>
          </a:prstGeom>
          <a:solidFill>
            <a:srgbClr val="FAECEC"/>
          </a:solidFill>
          <a:ln w="19050">
            <a:solidFill>
              <a:srgbClr val="AF414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73768" y="3767328"/>
            <a:ext cx="566928" cy="56692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AF4144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5" name="Oval 24"/>
          <p:cNvSpPr/>
          <p:nvPr/>
        </p:nvSpPr>
        <p:spPr>
          <a:xfrm>
            <a:off x="8668512" y="4599432"/>
            <a:ext cx="566928" cy="566928"/>
          </a:xfrm>
          <a:prstGeom prst="ellipse">
            <a:avLst/>
          </a:prstGeom>
          <a:solidFill>
            <a:srgbClr val="E7F4F1"/>
          </a:solidFill>
          <a:ln w="19050">
            <a:solidFill>
              <a:srgbClr val="087F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68512" y="4599432"/>
            <a:ext cx="566928" cy="56692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087F78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7" name="Oval 26"/>
          <p:cNvSpPr/>
          <p:nvPr/>
        </p:nvSpPr>
        <p:spPr>
          <a:xfrm>
            <a:off x="10287000" y="4581144"/>
            <a:ext cx="566928" cy="566928"/>
          </a:xfrm>
          <a:prstGeom prst="ellipse">
            <a:avLst/>
          </a:prstGeom>
          <a:solidFill>
            <a:srgbClr val="E7F4F1"/>
          </a:solidFill>
          <a:ln w="19050">
            <a:solidFill>
              <a:srgbClr val="087F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87000" y="4581144"/>
            <a:ext cx="566928" cy="56692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087F78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77072" y="5413248"/>
            <a:ext cx="2596896" cy="256032"/>
          </a:xfrm>
          <a:prstGeom prst="roundRect">
            <a:avLst>
              <a:gd name="adj" fmla="val 12000"/>
            </a:avLst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31936" y="5413248"/>
            <a:ext cx="2487168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1">
                <a:solidFill>
                  <a:srgbClr val="087F78"/>
                </a:solidFill>
                <a:latin typeface="Microsoft YaHei"/>
                <a:ea typeface="Microsoft YaHei"/>
              </a:rPr>
              <a:t>示意：切断风险节点出边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" y="6263640"/>
            <a:ext cx="10972800" cy="356616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8096" y="6338073"/>
            <a:ext cx="10607040" cy="207749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0" dirty="0">
                <a:solidFill>
                  <a:srgbClr val="253849"/>
                </a:solidFill>
                <a:latin typeface="Microsoft YaHei"/>
                <a:ea typeface="Microsoft YaHei"/>
              </a:rPr>
              <a:t>汇报人：</a:t>
            </a:r>
            <a:r>
              <a:rPr lang="zh-CN" altLang="en-US" sz="1350" dirty="0">
                <a:solidFill>
                  <a:srgbClr val="253849"/>
                </a:solidFill>
                <a:latin typeface="Microsoft YaHei"/>
                <a:ea typeface="Microsoft YaHei"/>
              </a:rPr>
              <a:t>苏奕嘉</a:t>
            </a:r>
            <a:r>
              <a:rPr lang="zh-CN" sz="1350" b="0" dirty="0">
                <a:solidFill>
                  <a:srgbClr val="253849"/>
                </a:solidFill>
                <a:latin typeface="Microsoft YaHei"/>
                <a:ea typeface="Microsoft YaHei"/>
              </a:rPr>
              <a:t>      指导教师：</a:t>
            </a:r>
            <a:r>
              <a:rPr lang="zh-CN" altLang="en-US" sz="1350" dirty="0">
                <a:solidFill>
                  <a:srgbClr val="253849"/>
                </a:solidFill>
                <a:latin typeface="Microsoft YaHei"/>
                <a:ea typeface="Microsoft YaHei"/>
              </a:rPr>
              <a:t>姚琳</a:t>
            </a:r>
            <a:r>
              <a:rPr lang="zh-CN" sz="1350" b="0" dirty="0">
                <a:solidFill>
                  <a:srgbClr val="253849"/>
                </a:solidFill>
                <a:latin typeface="Microsoft YaHei"/>
                <a:ea typeface="Microsoft YaHei"/>
              </a:rPr>
              <a:t>       汇报日期：</a:t>
            </a:r>
            <a:r>
              <a:rPr lang="en-US" altLang="zh-CN" sz="1350" dirty="0">
                <a:solidFill>
                  <a:srgbClr val="253849"/>
                </a:solidFill>
                <a:latin typeface="Microsoft YaHei"/>
                <a:ea typeface="Microsoft YaHei"/>
              </a:rPr>
              <a:t>2026.10.18</a:t>
            </a:r>
            <a:endParaRPr lang="zh-CN" sz="1350" b="0" dirty="0">
              <a:solidFill>
                <a:srgbClr val="253849"/>
              </a:solidFill>
              <a:latin typeface="Microsoft YaHei"/>
              <a:ea typeface="Microsoft YaHei"/>
            </a:endParaRP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B8262A42-F940-FF88-CFBE-41458172CBC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-100000" contrast="-100000"/>
          </a:blip>
          <a:srcRect l="16971" t="-11199"/>
          <a:stretch>
            <a:fillRect/>
          </a:stretch>
        </p:blipFill>
        <p:spPr>
          <a:xfrm>
            <a:off x="6242050" y="134620"/>
            <a:ext cx="5937885" cy="700405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087F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4892040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47585"/>
                </a:solidFill>
                <a:latin typeface="Microsoft YaHei"/>
                <a:ea typeface="Microsoft YaHei"/>
              </a:rPr>
              <a:t>G-Safeguard  /  方班研讨厅文献研读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10528" y="210312"/>
            <a:ext cx="1197864" cy="274320"/>
          </a:xfrm>
          <a:prstGeom prst="roundRect">
            <a:avLst>
              <a:gd name="adj" fmla="val 12000"/>
            </a:avLst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65392" y="210312"/>
            <a:ext cx="1088136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1">
                <a:solidFill>
                  <a:srgbClr val="087F78"/>
                </a:solidFill>
                <a:latin typeface="Microsoft YaHei"/>
                <a:ea typeface="Microsoft YaHei"/>
              </a:rPr>
              <a:t>背景与问题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方法原理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25712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实验验证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3304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总结思辨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758952"/>
            <a:ext cx="11109960" cy="6217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50" b="1">
                <a:solidFill>
                  <a:srgbClr val="15314D"/>
                </a:solidFill>
                <a:latin typeface="Microsoft YaHei"/>
                <a:ea typeface="Microsoft YaHei"/>
              </a:rPr>
              <a:t>一条问题链：如何阻止局部异常变成系统污染？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0352" y="6336792"/>
            <a:ext cx="11128248" cy="0"/>
          </a:xfrm>
          <a:prstGeom prst="line">
            <a:avLst/>
          </a:prstGeom>
          <a:ln w="8255">
            <a:solidFill>
              <a:srgbClr val="DCE4EB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0972800" y="6457168"/>
            <a:ext cx="713232" cy="161583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 dirty="0">
                <a:solidFill>
                  <a:srgbClr val="087F78"/>
                </a:solidFill>
                <a:latin typeface="Microsoft YaHei"/>
                <a:ea typeface="Microsoft YaHei"/>
              </a:rPr>
              <a:t>02 / </a:t>
            </a:r>
            <a:r>
              <a:rPr lang="en-US" altLang="zh-CN" sz="1050" b="1" dirty="0">
                <a:solidFill>
                  <a:srgbClr val="087F78"/>
                </a:solidFill>
                <a:latin typeface="Microsoft YaHei"/>
                <a:ea typeface="Microsoft YaHei"/>
              </a:rPr>
              <a:t>19</a:t>
            </a:r>
            <a:endParaRPr lang="zh-CN" sz="1050" b="1" dirty="0">
              <a:solidFill>
                <a:srgbClr val="087F78"/>
              </a:solidFill>
              <a:latin typeface="Microsoft YaHei"/>
              <a:ea typeface="Microsoft YaHe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10881360" cy="5943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500" b="1">
                <a:solidFill>
                  <a:srgbClr val="15314D"/>
                </a:solidFill>
                <a:latin typeface="Microsoft YaHei"/>
                <a:ea typeface="Microsoft YaHei"/>
              </a:rPr>
              <a:t>系统已经出现异常：怎样找到风险来源，并限制后续传播？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743200"/>
            <a:ext cx="2359152" cy="21031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0664" y="2871216"/>
            <a:ext cx="2011680" cy="34747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087F78"/>
                </a:solidFill>
                <a:latin typeface="Arial"/>
                <a:ea typeface="Microsoft YaHe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" y="3346704"/>
            <a:ext cx="2011680" cy="43891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15314D"/>
                </a:solidFill>
                <a:latin typeface="Microsoft YaHei"/>
                <a:ea typeface="Microsoft YaHei"/>
              </a:rPr>
              <a:t>风险在哪里？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3931920"/>
            <a:ext cx="2011680" cy="76809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253849"/>
                </a:solidFill>
                <a:latin typeface="Microsoft YaHei"/>
                <a:ea typeface="Microsoft YaHei"/>
              </a:rPr>
              <a:t>从单次回答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253849"/>
                </a:solidFill>
                <a:latin typeface="Microsoft YaHei"/>
                <a:ea typeface="Microsoft YaHei"/>
              </a:rPr>
              <a:t>走向通信关系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99232" y="3767328"/>
            <a:ext cx="310896" cy="0"/>
          </a:xfrm>
          <a:prstGeom prst="line">
            <a:avLst/>
          </a:prstGeom>
          <a:ln w="25400">
            <a:solidFill>
              <a:srgbClr val="087F78"/>
            </a:solidFill>
            <a:tailEnd type="triangle" w="sm" len="sm"/>
          </a:ln>
          <a:effectLst/>
        </p:spPr>
      </p:cxnSp>
      <p:sp>
        <p:nvSpPr>
          <p:cNvPr id="19" name="Rectangle 18"/>
          <p:cNvSpPr/>
          <p:nvPr/>
        </p:nvSpPr>
        <p:spPr>
          <a:xfrm>
            <a:off x="3465576" y="2743200"/>
            <a:ext cx="2359152" cy="21031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39312" y="2871216"/>
            <a:ext cx="2011680" cy="34747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087F78"/>
                </a:solidFill>
                <a:latin typeface="Arial"/>
                <a:ea typeface="Microsoft YaHe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3346704"/>
            <a:ext cx="2011680" cy="43891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15314D"/>
                </a:solidFill>
                <a:latin typeface="Microsoft YaHei"/>
                <a:ea typeface="Microsoft YaHei"/>
              </a:rPr>
              <a:t>怎样表示？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931920"/>
            <a:ext cx="2011680" cy="76809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253849"/>
                </a:solidFill>
                <a:latin typeface="Microsoft YaHei"/>
                <a:ea typeface="Microsoft YaHei"/>
              </a:rPr>
              <a:t>将多轮发言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253849"/>
                </a:solidFill>
                <a:latin typeface="Microsoft YaHei"/>
                <a:ea typeface="Microsoft YaHei"/>
              </a:rPr>
              <a:t>变成带边特征的图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97880" y="3767328"/>
            <a:ext cx="310896" cy="0"/>
          </a:xfrm>
          <a:prstGeom prst="line">
            <a:avLst/>
          </a:prstGeom>
          <a:ln w="25400">
            <a:solidFill>
              <a:srgbClr val="087F78"/>
            </a:solidFill>
            <a:tailEnd type="triangle" w="sm" len="sm"/>
          </a:ln>
          <a:effectLst/>
        </p:spPr>
      </p:cxnSp>
      <p:sp>
        <p:nvSpPr>
          <p:cNvPr id="24" name="Rectangle 23"/>
          <p:cNvSpPr/>
          <p:nvPr/>
        </p:nvSpPr>
        <p:spPr>
          <a:xfrm>
            <a:off x="6364224" y="2743200"/>
            <a:ext cx="2359152" cy="21031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7960" y="2871216"/>
            <a:ext cx="2011680" cy="34747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087F78"/>
                </a:solidFill>
                <a:latin typeface="Arial"/>
                <a:ea typeface="Microsoft YaHe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346704"/>
            <a:ext cx="2011680" cy="43891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15314D"/>
                </a:solidFill>
                <a:latin typeface="Microsoft YaHei"/>
                <a:ea typeface="Microsoft YaHei"/>
              </a:rPr>
              <a:t>如何处置？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931920"/>
            <a:ext cx="2011680" cy="76809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253849"/>
                </a:solidFill>
                <a:latin typeface="Microsoft YaHei"/>
                <a:ea typeface="Microsoft YaHei"/>
              </a:rPr>
              <a:t>GNN检测节点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253849"/>
                </a:solidFill>
                <a:latin typeface="Microsoft YaHei"/>
                <a:ea typeface="Microsoft YaHei"/>
              </a:rPr>
              <a:t>下一轮删除出边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796528" y="3767328"/>
            <a:ext cx="310896" cy="0"/>
          </a:xfrm>
          <a:prstGeom prst="line">
            <a:avLst/>
          </a:prstGeom>
          <a:ln w="25400">
            <a:solidFill>
              <a:srgbClr val="087F78"/>
            </a:solidFill>
            <a:tailEnd type="triangle" w="sm" len="sm"/>
          </a:ln>
          <a:effectLst/>
        </p:spPr>
      </p:cxnSp>
      <p:sp>
        <p:nvSpPr>
          <p:cNvPr id="29" name="Rectangle 28"/>
          <p:cNvSpPr/>
          <p:nvPr/>
        </p:nvSpPr>
        <p:spPr>
          <a:xfrm>
            <a:off x="9262872" y="2743200"/>
            <a:ext cx="2359152" cy="21031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36608" y="2871216"/>
            <a:ext cx="2011680" cy="34747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087F78"/>
                </a:solidFill>
                <a:latin typeface="Arial"/>
                <a:ea typeface="Microsoft YaHe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36608" y="3346704"/>
            <a:ext cx="2011680" cy="43891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15314D"/>
                </a:solidFill>
                <a:latin typeface="Microsoft YaHei"/>
                <a:ea typeface="Microsoft YaHei"/>
              </a:rPr>
              <a:t>证据够不够？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36608" y="3931920"/>
            <a:ext cx="2011680" cy="76809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253849"/>
                </a:solidFill>
                <a:latin typeface="Microsoft YaHei"/>
                <a:ea typeface="Microsoft YaHei"/>
              </a:rPr>
              <a:t>看实验改善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253849"/>
                </a:solidFill>
                <a:latin typeface="Microsoft YaHei"/>
                <a:ea typeface="Microsoft YaHei"/>
              </a:rPr>
              <a:t>也看失败与边界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207" y="5605272"/>
            <a:ext cx="11137392" cy="539496"/>
          </a:xfrm>
          <a:prstGeom prst="rect">
            <a:avLst/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21207" y="5605272"/>
            <a:ext cx="50292" cy="539496"/>
          </a:xfrm>
          <a:prstGeom prst="rect">
            <a:avLst/>
          </a:prstGeom>
          <a:solidFill>
            <a:srgbClr val="087F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3232" y="5664708"/>
            <a:ext cx="10744200" cy="42062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087F78"/>
                </a:solidFill>
                <a:latin typeface="Microsoft YaHei"/>
                <a:ea typeface="Microsoft YaHei"/>
              </a:rPr>
              <a:t>汇报顺序：问题背景 → 方法原理 → 实验验证 → 总结思辨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087F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4892040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47585"/>
                </a:solidFill>
                <a:latin typeface="Microsoft YaHei"/>
                <a:ea typeface="Microsoft YaHei"/>
              </a:rPr>
              <a:t>G-Safeguard  /  方班研讨厅文献研读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10528" y="210312"/>
            <a:ext cx="1197864" cy="274320"/>
          </a:xfrm>
          <a:prstGeom prst="roundRect">
            <a:avLst>
              <a:gd name="adj" fmla="val 12000"/>
            </a:avLst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65392" y="210312"/>
            <a:ext cx="1088136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1">
                <a:solidFill>
                  <a:srgbClr val="087F78"/>
                </a:solidFill>
                <a:latin typeface="Microsoft YaHei"/>
                <a:ea typeface="Microsoft YaHei"/>
              </a:rPr>
              <a:t>背景与问题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方法原理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25712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实验验证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3304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总结思辨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758952"/>
            <a:ext cx="11109960" cy="6217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50" b="1">
                <a:solidFill>
                  <a:srgbClr val="15314D"/>
                </a:solidFill>
                <a:latin typeface="Microsoft YaHei"/>
                <a:ea typeface="Microsoft YaHei"/>
              </a:rPr>
              <a:t>只过滤单次回答，为什么还不够？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435608"/>
            <a:ext cx="10972800" cy="33832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647585"/>
                </a:solidFill>
                <a:latin typeface="Microsoft YaHei"/>
                <a:ea typeface="Microsoft YaHei"/>
              </a:rPr>
              <a:t>背景：Agent（智能体）不仅回答问题，还会与其他Agent交换信息。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0352" y="6336792"/>
            <a:ext cx="11128248" cy="0"/>
          </a:xfrm>
          <a:prstGeom prst="line">
            <a:avLst/>
          </a:prstGeom>
          <a:ln w="8255">
            <a:solidFill>
              <a:srgbClr val="DCE4EB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10972800" y="6457168"/>
            <a:ext cx="713232" cy="161583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 dirty="0">
                <a:solidFill>
                  <a:srgbClr val="087F78"/>
                </a:solidFill>
                <a:latin typeface="Microsoft YaHei"/>
                <a:ea typeface="Microsoft YaHei"/>
              </a:rPr>
              <a:t>03 / </a:t>
            </a:r>
            <a:r>
              <a:rPr lang="en-US" altLang="zh-CN" sz="1050" b="1" dirty="0">
                <a:solidFill>
                  <a:srgbClr val="087F78"/>
                </a:solidFill>
                <a:latin typeface="Microsoft YaHei"/>
                <a:ea typeface="Microsoft YaHei"/>
              </a:rPr>
              <a:t>19</a:t>
            </a:r>
            <a:endParaRPr lang="zh-CN" sz="1050" b="1" dirty="0">
              <a:solidFill>
                <a:srgbClr val="087F78"/>
              </a:solidFill>
              <a:latin typeface="Microsoft YaHei"/>
              <a:ea typeface="Microsoft YaHe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" y="1938528"/>
            <a:ext cx="3977639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087F78"/>
                </a:solidFill>
                <a:latin typeface="Microsoft YaHei"/>
                <a:ea typeface="Microsoft YaHei"/>
              </a:rPr>
              <a:t>Agent（智能体）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395728"/>
            <a:ext cx="3977639" cy="5029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0">
                <a:solidFill>
                  <a:srgbClr val="253849"/>
                </a:solidFill>
                <a:latin typeface="Microsoft YaHei"/>
                <a:ea typeface="Microsoft YaHei"/>
              </a:rPr>
              <a:t>模型、角色、记忆和工具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054096"/>
            <a:ext cx="3977639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087F78"/>
                </a:solidFill>
                <a:latin typeface="Microsoft YaHei"/>
                <a:ea typeface="Microsoft YaHei"/>
              </a:rPr>
              <a:t>多智能体系统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511296"/>
            <a:ext cx="3977639" cy="5029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0">
                <a:solidFill>
                  <a:srgbClr val="253849"/>
                </a:solidFill>
                <a:latin typeface="Microsoft YaHei"/>
                <a:ea typeface="Microsoft YaHei"/>
              </a:rPr>
              <a:t>多个Agent通过消息协作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169663"/>
            <a:ext cx="3977639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087F78"/>
                </a:solidFill>
                <a:latin typeface="Microsoft YaHei"/>
                <a:ea typeface="Microsoft YaHei"/>
              </a:rPr>
              <a:t>拓扑（Topology）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26864"/>
            <a:ext cx="3977639" cy="5029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0">
                <a:solidFill>
                  <a:srgbClr val="253849"/>
                </a:solidFill>
                <a:latin typeface="Microsoft YaHei"/>
                <a:ea typeface="Microsoft YaHei"/>
              </a:rPr>
              <a:t>规定“谁能向谁发消息”</a:t>
            </a:r>
          </a:p>
        </p:txBody>
      </p:sp>
      <p:pic>
        <p:nvPicPr>
          <p:cNvPr id="20" name="Picture 19" descr="figur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9088" y="1883664"/>
            <a:ext cx="6426743" cy="3785615"/>
          </a:xfrm>
          <a:prstGeom prst="rect">
            <a:avLst/>
          </a:prstGeom>
          <a:effectLst/>
        </p:spPr>
      </p:pic>
      <p:sp>
        <p:nvSpPr>
          <p:cNvPr id="21" name="TextBox 20"/>
          <p:cNvSpPr txBox="1"/>
          <p:nvPr/>
        </p:nvSpPr>
        <p:spPr>
          <a:xfrm>
            <a:off x="5093208" y="5678424"/>
            <a:ext cx="6217920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20" b="0">
                <a:solidFill>
                  <a:srgbClr val="647585"/>
                </a:solidFill>
                <a:latin typeface="Microsoft YaHei"/>
                <a:ea typeface="Microsoft YaHei"/>
              </a:rPr>
              <a:t>图1：上方是单体审查；下方是多智能体检测与补救。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087F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4892040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47585"/>
                </a:solidFill>
                <a:latin typeface="Microsoft YaHei"/>
                <a:ea typeface="Microsoft YaHei"/>
              </a:rPr>
              <a:t>G-Safeguard  /  方班研讨厅文献研读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10528" y="210312"/>
            <a:ext cx="1197864" cy="274320"/>
          </a:xfrm>
          <a:prstGeom prst="roundRect">
            <a:avLst>
              <a:gd name="adj" fmla="val 12000"/>
            </a:avLst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65392" y="210312"/>
            <a:ext cx="1088136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1">
                <a:solidFill>
                  <a:srgbClr val="087F78"/>
                </a:solidFill>
                <a:latin typeface="Microsoft YaHei"/>
                <a:ea typeface="Microsoft YaHei"/>
              </a:rPr>
              <a:t>背景与问题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方法原理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25712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实验验证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3304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总结思辨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758952"/>
            <a:ext cx="11109960" cy="6217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50" b="1">
                <a:solidFill>
                  <a:srgbClr val="15314D"/>
                </a:solidFill>
                <a:latin typeface="Microsoft YaHei"/>
                <a:ea typeface="Microsoft YaHei"/>
              </a:rPr>
              <a:t>已有工作看内容或看传播，本文把检测与干预连接起来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0352" y="6336792"/>
            <a:ext cx="11128248" cy="0"/>
          </a:xfrm>
          <a:prstGeom prst="line">
            <a:avLst/>
          </a:prstGeom>
          <a:ln w="8255">
            <a:solidFill>
              <a:srgbClr val="DCE4EB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0972800" y="6457168"/>
            <a:ext cx="713232" cy="161583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 dirty="0">
                <a:solidFill>
                  <a:srgbClr val="087F78"/>
                </a:solidFill>
                <a:latin typeface="Microsoft YaHei"/>
                <a:ea typeface="Microsoft YaHei"/>
              </a:rPr>
              <a:t>04 / </a:t>
            </a:r>
            <a:r>
              <a:rPr lang="en-US" altLang="zh-CN" sz="1050" b="1" dirty="0">
                <a:solidFill>
                  <a:srgbClr val="087F78"/>
                </a:solidFill>
                <a:latin typeface="Microsoft YaHei"/>
                <a:ea typeface="Microsoft YaHei"/>
              </a:rPr>
              <a:t>19</a:t>
            </a:r>
            <a:endParaRPr lang="zh-CN" sz="1050" b="1" dirty="0">
              <a:solidFill>
                <a:srgbClr val="087F78"/>
              </a:solidFill>
              <a:latin typeface="Microsoft YaHei"/>
              <a:ea typeface="Microsoft Ya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66928" y="1901952"/>
            <a:ext cx="3566160" cy="2688336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1901952"/>
            <a:ext cx="45720" cy="2688336"/>
          </a:xfrm>
          <a:prstGeom prst="rect">
            <a:avLst/>
          </a:prstGeom>
          <a:solidFill>
            <a:srgbClr val="087F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6" y="2057400"/>
            <a:ext cx="3172968" cy="5029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087F78"/>
                </a:solidFill>
                <a:latin typeface="Microsoft YaHei"/>
                <a:ea typeface="Microsoft YaHei"/>
              </a:rPr>
              <a:t>单体内容防护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2651760"/>
            <a:ext cx="3172968" cy="1837943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253849"/>
                </a:solidFill>
                <a:latin typeface="Microsoft YaHei"/>
                <a:ea typeface="Microsoft YaHei"/>
              </a:rPr>
              <a:t>代表：LlamaGuard、WildGuard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endParaRPr lang="zh-CN" sz="1800" b="0">
              <a:solidFill>
                <a:srgbClr val="253849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253849"/>
                </a:solidFill>
                <a:latin typeface="Microsoft YaHei"/>
                <a:ea typeface="Microsoft YaHei"/>
              </a:rPr>
              <a:t>审查单个Agent的输入/输出。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253849"/>
                </a:solidFill>
                <a:latin typeface="Microsoft YaHei"/>
                <a:ea typeface="Microsoft YaHei"/>
              </a:rPr>
              <a:t>对邻居关系关注有限。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15968" y="1901952"/>
            <a:ext cx="3566160" cy="2688336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15968" y="1901952"/>
            <a:ext cx="45720" cy="2688336"/>
          </a:xfrm>
          <a:prstGeom prst="rect">
            <a:avLst/>
          </a:prstGeom>
          <a:solidFill>
            <a:srgbClr val="087F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17136" y="2057400"/>
            <a:ext cx="3172968" cy="5029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087F78"/>
                </a:solidFill>
                <a:latin typeface="Microsoft YaHei"/>
                <a:ea typeface="Microsoft YaHei"/>
              </a:rPr>
              <a:t>拓扑与传播研究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136" y="2651760"/>
            <a:ext cx="3172968" cy="1837943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253849"/>
                </a:solidFill>
                <a:latin typeface="Microsoft YaHei"/>
                <a:ea typeface="Microsoft YaHei"/>
              </a:rPr>
              <a:t>代表：NetSafe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endParaRPr lang="zh-CN" sz="1800" b="0">
              <a:solidFill>
                <a:srgbClr val="253849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253849"/>
                </a:solidFill>
                <a:latin typeface="Microsoft YaHei"/>
                <a:ea typeface="Microsoft YaHei"/>
              </a:rPr>
              <a:t>研究错误信息、偏见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253849"/>
                </a:solidFill>
                <a:latin typeface="Microsoft YaHei"/>
                <a:ea typeface="Microsoft YaHei"/>
              </a:rPr>
              <a:t>如何随通信拓扑传播。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1901952"/>
            <a:ext cx="3566160" cy="2688336"/>
          </a:xfrm>
          <a:prstGeom prst="rect">
            <a:avLst/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65008" y="1901952"/>
            <a:ext cx="45720" cy="2688336"/>
          </a:xfrm>
          <a:prstGeom prst="rect">
            <a:avLst/>
          </a:prstGeom>
          <a:solidFill>
            <a:srgbClr val="087F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66176" y="2057400"/>
            <a:ext cx="3172968" cy="5029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087F78"/>
                </a:solidFill>
                <a:latin typeface="Microsoft YaHei"/>
                <a:ea typeface="Microsoft YaHei"/>
              </a:rPr>
              <a:t>G-Safeguard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6" y="2651760"/>
            <a:ext cx="3172968" cy="1837943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0">
                <a:solidFill>
                  <a:srgbClr val="253849"/>
                </a:solidFill>
                <a:latin typeface="Microsoft YaHei"/>
                <a:ea typeface="Microsoft YaHei"/>
              </a:rPr>
              <a:t>将对话组织成图；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0">
                <a:solidFill>
                  <a:srgbClr val="253849"/>
                </a:solidFill>
                <a:latin typeface="Microsoft YaHei"/>
                <a:ea typeface="Microsoft YaHei"/>
              </a:rPr>
              <a:t>识别高风险Agent；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0">
                <a:solidFill>
                  <a:srgbClr val="253849"/>
                </a:solidFill>
                <a:latin typeface="Microsoft YaHei"/>
                <a:ea typeface="Microsoft YaHei"/>
              </a:rPr>
              <a:t>用拓扑干预限制传播。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910328"/>
            <a:ext cx="1901952" cy="365760"/>
          </a:xfrm>
          <a:prstGeom prst="roundRect">
            <a:avLst>
              <a:gd name="adj" fmla="val 12000"/>
            </a:avLst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384" y="4910328"/>
            <a:ext cx="1792224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1">
                <a:solidFill>
                  <a:srgbClr val="087F78"/>
                </a:solidFill>
                <a:latin typeface="Microsoft YaHei"/>
                <a:ea typeface="Microsoft YaHei"/>
              </a:rPr>
              <a:t>难点一：关系感知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70632" y="4937760"/>
            <a:ext cx="3081528" cy="4114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0">
                <a:solidFill>
                  <a:srgbClr val="253849"/>
                </a:solidFill>
                <a:latin typeface="Microsoft YaHei"/>
                <a:ea typeface="Microsoft YaHei"/>
              </a:rPr>
              <a:t>不能只看一句话。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81928" y="4910328"/>
            <a:ext cx="1901952" cy="365760"/>
          </a:xfrm>
          <a:prstGeom prst="roundRect">
            <a:avLst>
              <a:gd name="adj" fmla="val 12000"/>
            </a:avLst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36792" y="4910328"/>
            <a:ext cx="1792224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1">
                <a:solidFill>
                  <a:srgbClr val="087F78"/>
                </a:solidFill>
                <a:latin typeface="Microsoft YaHei"/>
                <a:ea typeface="Microsoft YaHei"/>
              </a:rPr>
              <a:t>难点二：归纳迁移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1896" y="4937760"/>
            <a:ext cx="3282696" cy="4114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0">
                <a:solidFill>
                  <a:srgbClr val="253849"/>
                </a:solidFill>
                <a:latin typeface="Microsoft YaHei"/>
                <a:ea typeface="Microsoft YaHei"/>
              </a:rPr>
              <a:t>规模、模型会变化。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7" y="5605272"/>
            <a:ext cx="11137392" cy="539496"/>
          </a:xfrm>
          <a:prstGeom prst="rect">
            <a:avLst/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21207" y="5605272"/>
            <a:ext cx="50292" cy="539496"/>
          </a:xfrm>
          <a:prstGeom prst="rect">
            <a:avLst/>
          </a:prstGeom>
          <a:solidFill>
            <a:srgbClr val="087F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3232" y="5664708"/>
            <a:ext cx="10744200" cy="42062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50" b="1">
                <a:solidFill>
                  <a:srgbClr val="087F78"/>
                </a:solidFill>
                <a:latin typeface="Microsoft YaHei"/>
                <a:ea typeface="Microsoft YaHei"/>
              </a:rPr>
              <a:t>研究目标不是再加一个“判句子”的过滤器，而是形成系统级止损机制。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087F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4892040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47585"/>
                </a:solidFill>
                <a:latin typeface="Microsoft YaHei"/>
                <a:ea typeface="Microsoft YaHei"/>
              </a:rPr>
              <a:t>G-Safeguard  /  方班研讨厅文献研读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10528" y="210312"/>
            <a:ext cx="1197864" cy="274320"/>
          </a:xfrm>
          <a:prstGeom prst="roundRect">
            <a:avLst>
              <a:gd name="adj" fmla="val 12000"/>
            </a:avLst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65392" y="210312"/>
            <a:ext cx="1088136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1" dirty="0">
                <a:solidFill>
                  <a:srgbClr val="087F78"/>
                </a:solidFill>
                <a:latin typeface="Microsoft YaHei"/>
                <a:ea typeface="Microsoft YaHei"/>
              </a:rPr>
              <a:t>背景与问题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 dirty="0">
                <a:solidFill>
                  <a:srgbClr val="647585"/>
                </a:solidFill>
                <a:latin typeface="Microsoft YaHei"/>
                <a:ea typeface="Microsoft YaHei"/>
              </a:rPr>
              <a:t>方法原理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25712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 dirty="0">
                <a:solidFill>
                  <a:srgbClr val="647585"/>
                </a:solidFill>
                <a:latin typeface="Microsoft YaHei"/>
                <a:ea typeface="Microsoft YaHei"/>
              </a:rPr>
              <a:t>实验验证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3304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 dirty="0">
                <a:solidFill>
                  <a:srgbClr val="647585"/>
                </a:solidFill>
                <a:latin typeface="Microsoft YaHei"/>
                <a:ea typeface="Microsoft YaHei"/>
              </a:rPr>
              <a:t>总结思辨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758952"/>
            <a:ext cx="11109960" cy="6217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50" b="1">
                <a:solidFill>
                  <a:srgbClr val="15314D"/>
                </a:solidFill>
                <a:latin typeface="Microsoft YaHei"/>
                <a:ea typeface="Microsoft YaHei"/>
              </a:rPr>
              <a:t>先明确研究边界：部分Agent被攻击，防御器怎样止损？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435608"/>
            <a:ext cx="10972800" cy="33832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647585"/>
                </a:solidFill>
                <a:latin typeface="Microsoft YaHei"/>
                <a:ea typeface="Microsoft YaHei"/>
              </a:rPr>
              <a:t>威胁模型：攻击改变部分Agent的行为，再利用正常通信影响其他Agent。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0352" y="6336792"/>
            <a:ext cx="11128248" cy="0"/>
          </a:xfrm>
          <a:prstGeom prst="line">
            <a:avLst/>
          </a:prstGeom>
          <a:ln w="8255">
            <a:solidFill>
              <a:srgbClr val="DCE4EB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10972800" y="6457168"/>
            <a:ext cx="713232" cy="161583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 dirty="0">
                <a:solidFill>
                  <a:srgbClr val="087F78"/>
                </a:solidFill>
                <a:latin typeface="Microsoft YaHei"/>
                <a:ea typeface="Microsoft YaHei"/>
              </a:rPr>
              <a:t>05 / </a:t>
            </a:r>
            <a:r>
              <a:rPr lang="en-US" altLang="zh-CN" sz="1050" b="1" dirty="0">
                <a:solidFill>
                  <a:srgbClr val="087F78"/>
                </a:solidFill>
                <a:latin typeface="Microsoft YaHei"/>
                <a:ea typeface="Microsoft YaHei"/>
              </a:rPr>
              <a:t>19</a:t>
            </a:r>
            <a:endParaRPr lang="zh-CN" sz="1050" b="1" dirty="0">
              <a:solidFill>
                <a:srgbClr val="087F78"/>
              </a:solidFill>
              <a:latin typeface="Microsoft YaHei"/>
              <a:ea typeface="Microsoft YaHe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4944" y="1865376"/>
            <a:ext cx="521208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15314D"/>
                </a:solidFill>
                <a:latin typeface="Microsoft YaHei"/>
                <a:ea typeface="Microsoft YaHei"/>
              </a:rPr>
              <a:t>三种攻击入口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87168"/>
            <a:ext cx="5212080" cy="841248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" y="2596896"/>
            <a:ext cx="1243584" cy="48463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087F78"/>
                </a:solidFill>
                <a:latin typeface="Microsoft YaHei"/>
                <a:ea typeface="Microsoft YaHei"/>
              </a:rPr>
              <a:t>提示注入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31136" y="2596896"/>
            <a:ext cx="3419856" cy="63093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253849"/>
                </a:solidFill>
                <a:latin typeface="Microsoft YaHei"/>
                <a:ea typeface="Microsoft YaHei"/>
              </a:rPr>
              <a:t>改变攻击节点的提示或角色设定。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493008"/>
            <a:ext cx="5212080" cy="841248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" y="3602736"/>
            <a:ext cx="1243584" cy="48463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087F78"/>
                </a:solidFill>
                <a:latin typeface="Microsoft YaHei"/>
                <a:ea typeface="Microsoft YaHei"/>
              </a:rPr>
              <a:t>工具攻击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31136" y="3602736"/>
            <a:ext cx="3419856" cy="63093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253849"/>
                </a:solidFill>
                <a:latin typeface="Microsoft YaHei"/>
                <a:ea typeface="Microsoft YaHei"/>
              </a:rPr>
              <a:t>让工具侧内容携带并传播恶意指令。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498848"/>
            <a:ext cx="5212080" cy="841248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" y="4608576"/>
            <a:ext cx="1243584" cy="48463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087F78"/>
                </a:solidFill>
                <a:latin typeface="Microsoft YaHei"/>
                <a:ea typeface="Microsoft YaHei"/>
              </a:rPr>
              <a:t>记忆攻击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1136" y="4608576"/>
            <a:ext cx="3419856" cy="63093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253849"/>
                </a:solidFill>
                <a:latin typeface="Microsoft YaHei"/>
                <a:ea typeface="Microsoft YaHei"/>
              </a:rPr>
              <a:t>把错误上下文放入节点记忆。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1865376"/>
            <a:ext cx="49377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15314D"/>
                </a:solidFill>
                <a:latin typeface="Microsoft YaHei"/>
                <a:ea typeface="Microsoft YaHei"/>
              </a:rPr>
              <a:t>两个防御目标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91656" y="2496312"/>
            <a:ext cx="5047488" cy="1152144"/>
          </a:xfrm>
          <a:prstGeom prst="rect">
            <a:avLst/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91656" y="2496312"/>
            <a:ext cx="45720" cy="1152144"/>
          </a:xfrm>
          <a:prstGeom prst="rect">
            <a:avLst/>
          </a:prstGeom>
          <a:solidFill>
            <a:srgbClr val="087F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92824" y="2615184"/>
            <a:ext cx="4654296" cy="3931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087F78"/>
                </a:solidFill>
                <a:latin typeface="Microsoft YaHei"/>
                <a:ea typeface="Microsoft YaHei"/>
              </a:rPr>
              <a:t>检测：谁处于高风险状态？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92824" y="3090672"/>
            <a:ext cx="4654296" cy="4663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253849"/>
                </a:solidFill>
                <a:latin typeface="Microsoft YaHei"/>
                <a:ea typeface="Microsoft YaHei"/>
              </a:rPr>
              <a:t>输出风险节点集合。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91656" y="3822191"/>
            <a:ext cx="5047488" cy="1152144"/>
          </a:xfrm>
          <a:prstGeom prst="rect">
            <a:avLst/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91656" y="3822191"/>
            <a:ext cx="45720" cy="1152144"/>
          </a:xfrm>
          <a:prstGeom prst="rect">
            <a:avLst/>
          </a:prstGeom>
          <a:solidFill>
            <a:srgbClr val="087F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92824" y="3941063"/>
            <a:ext cx="4654296" cy="3931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087F78"/>
                </a:solidFill>
                <a:latin typeface="Microsoft YaHei"/>
                <a:ea typeface="Microsoft YaHei"/>
              </a:rPr>
              <a:t>补救：如何限制继续传播？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92824" y="4416552"/>
            <a:ext cx="4654296" cy="4663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253849"/>
                </a:solidFill>
                <a:latin typeface="Microsoft YaHei"/>
                <a:ea typeface="Microsoft YaHei"/>
              </a:rPr>
              <a:t>改变下一轮通信关系。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207" y="5605272"/>
            <a:ext cx="11137392" cy="539496"/>
          </a:xfrm>
          <a:prstGeom prst="rect">
            <a:avLst/>
          </a:prstGeom>
          <a:solidFill>
            <a:srgbClr val="FFF4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21207" y="5605272"/>
            <a:ext cx="50292" cy="539496"/>
          </a:xfrm>
          <a:prstGeom prst="rect">
            <a:avLst/>
          </a:prstGeom>
          <a:solidFill>
            <a:srgbClr val="AA65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3232" y="5664708"/>
            <a:ext cx="10744200" cy="42062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30" b="1">
                <a:solidFill>
                  <a:srgbClr val="AA6524"/>
                </a:solidFill>
                <a:latin typeface="Microsoft YaHei"/>
                <a:ea typeface="Microsoft YaHei"/>
              </a:rPr>
              <a:t>边界：实验预设攻击节点及其角色，不等于所有外部攻击者都能获得同等控制。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087F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4892040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47585"/>
                </a:solidFill>
                <a:latin typeface="Microsoft YaHei"/>
                <a:ea typeface="Microsoft YaHei"/>
              </a:rPr>
              <a:t>G-Safeguard  /  方班研讨厅文献研读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10528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背景与问题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210312"/>
            <a:ext cx="1197864" cy="274320"/>
          </a:xfrm>
          <a:prstGeom prst="roundRect">
            <a:avLst>
              <a:gd name="adj" fmla="val 12000"/>
            </a:avLst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72984" y="210312"/>
            <a:ext cx="1088136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1">
                <a:solidFill>
                  <a:srgbClr val="087F78"/>
                </a:solidFill>
                <a:latin typeface="Microsoft YaHei"/>
                <a:ea typeface="Microsoft YaHei"/>
              </a:rPr>
              <a:t>方法原理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25712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实验验证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3304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总结思辨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758952"/>
            <a:ext cx="11109960" cy="6217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50" b="1">
                <a:solidFill>
                  <a:srgbClr val="15314D"/>
                </a:solidFill>
                <a:latin typeface="Microsoft YaHei"/>
                <a:ea typeface="Microsoft YaHei"/>
              </a:rPr>
              <a:t>方法全貌：对话成图 → 图上检测 → 下一轮剪边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0352" y="6336792"/>
            <a:ext cx="11128248" cy="0"/>
          </a:xfrm>
          <a:prstGeom prst="line">
            <a:avLst/>
          </a:prstGeom>
          <a:ln w="8255">
            <a:solidFill>
              <a:srgbClr val="DCE4EB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0972800" y="6457168"/>
            <a:ext cx="713232" cy="161583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 dirty="0">
                <a:solidFill>
                  <a:srgbClr val="087F78"/>
                </a:solidFill>
                <a:latin typeface="Microsoft YaHei"/>
                <a:ea typeface="Microsoft YaHei"/>
              </a:rPr>
              <a:t>06 / </a:t>
            </a:r>
            <a:r>
              <a:rPr lang="en-US" altLang="zh-CN" sz="1050" b="1" dirty="0">
                <a:solidFill>
                  <a:srgbClr val="087F78"/>
                </a:solidFill>
                <a:latin typeface="Microsoft YaHei"/>
                <a:ea typeface="Microsoft YaHei"/>
              </a:rPr>
              <a:t>19</a:t>
            </a:r>
            <a:endParaRPr lang="zh-CN" sz="1050" b="1" dirty="0">
              <a:solidFill>
                <a:srgbClr val="087F78"/>
              </a:solidFill>
              <a:latin typeface="Microsoft YaHei"/>
              <a:ea typeface="Microsoft YaHei"/>
            </a:endParaRPr>
          </a:p>
        </p:txBody>
      </p:sp>
      <p:pic>
        <p:nvPicPr>
          <p:cNvPr id="13" name="Picture 12" descr="figur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104" y="1783080"/>
            <a:ext cx="10119887" cy="4105656"/>
          </a:xfrm>
          <a:prstGeom prst="rect">
            <a:avLst/>
          </a:prstGeom>
          <a:effectLst/>
        </p:spPr>
      </p:pic>
      <p:sp>
        <p:nvSpPr>
          <p:cNvPr id="14" name="TextBox 13"/>
          <p:cNvSpPr txBox="1"/>
          <p:nvPr/>
        </p:nvSpPr>
        <p:spPr>
          <a:xfrm>
            <a:off x="722376" y="5897880"/>
            <a:ext cx="10716768" cy="3931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087F78"/>
                </a:solidFill>
                <a:latin typeface="Microsoft YaHei"/>
                <a:ea typeface="Microsoft YaHei"/>
              </a:rPr>
              <a:t>关键时序：每轮对话结束后评估；干预作用于下一轮通信图。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087F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4892040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47585"/>
                </a:solidFill>
                <a:latin typeface="Microsoft YaHei"/>
                <a:ea typeface="Microsoft YaHei"/>
              </a:rPr>
              <a:t>G-Safeguard  /  方班研讨厅文献研读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10528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背景与问题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210312"/>
            <a:ext cx="1197864" cy="274320"/>
          </a:xfrm>
          <a:prstGeom prst="roundRect">
            <a:avLst>
              <a:gd name="adj" fmla="val 12000"/>
            </a:avLst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72984" y="210312"/>
            <a:ext cx="1088136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1">
                <a:solidFill>
                  <a:srgbClr val="087F78"/>
                </a:solidFill>
                <a:latin typeface="Microsoft YaHei"/>
                <a:ea typeface="Microsoft YaHei"/>
              </a:rPr>
              <a:t>方法原理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25712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实验验证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3304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总结思辨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758952"/>
            <a:ext cx="11109960" cy="6217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50" b="1">
                <a:solidFill>
                  <a:srgbClr val="15314D"/>
                </a:solidFill>
                <a:latin typeface="Microsoft YaHei"/>
                <a:ea typeface="Microsoft YaHei"/>
              </a:rPr>
              <a:t>Q1：怎样把多轮对话，变成可计算的图？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435608"/>
            <a:ext cx="10972800" cy="33832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647585"/>
                </a:solidFill>
                <a:latin typeface="Microsoft YaHei"/>
                <a:ea typeface="Microsoft YaHei"/>
              </a:rPr>
              <a:t>Utterance Graph（发言图）：同时表示“说了什么”和“谁与谁交互”。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0352" y="6336792"/>
            <a:ext cx="11128248" cy="0"/>
          </a:xfrm>
          <a:prstGeom prst="line">
            <a:avLst/>
          </a:prstGeom>
          <a:ln w="8255">
            <a:solidFill>
              <a:srgbClr val="DCE4EB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10972800" y="6457168"/>
            <a:ext cx="713232" cy="161583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 dirty="0">
                <a:solidFill>
                  <a:srgbClr val="087F78"/>
                </a:solidFill>
                <a:latin typeface="Microsoft YaHei"/>
                <a:ea typeface="Microsoft YaHei"/>
              </a:rPr>
              <a:t>07 / </a:t>
            </a:r>
            <a:r>
              <a:rPr lang="en-US" altLang="zh-CN" sz="1050" b="1" dirty="0">
                <a:solidFill>
                  <a:srgbClr val="087F78"/>
                </a:solidFill>
                <a:latin typeface="Microsoft YaHei"/>
                <a:ea typeface="Microsoft YaHei"/>
              </a:rPr>
              <a:t>19</a:t>
            </a:r>
            <a:endParaRPr lang="zh-CN" sz="1050" b="1" dirty="0">
              <a:solidFill>
                <a:srgbClr val="087F78"/>
              </a:solidFill>
              <a:latin typeface="Microsoft YaHei"/>
              <a:ea typeface="Microsoft YaHe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58368" y="1938528"/>
            <a:ext cx="5385816" cy="91440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" y="2039112"/>
            <a:ext cx="1353312" cy="38404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087F78"/>
                </a:solidFill>
                <a:latin typeface="Microsoft YaHei"/>
                <a:ea typeface="Microsoft YaHei"/>
              </a:rPr>
              <a:t>节点特征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13432" y="2048256"/>
            <a:ext cx="3493008" cy="69494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50" b="0">
                <a:solidFill>
                  <a:srgbClr val="253849"/>
                </a:solidFill>
                <a:latin typeface="Microsoft YaHei"/>
                <a:ea typeface="Microsoft YaHei"/>
              </a:rPr>
              <a:t>该Agent当前与历史发言的文本表示。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990088"/>
            <a:ext cx="5385816" cy="91440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" y="3090672"/>
            <a:ext cx="1353312" cy="38404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087F78"/>
                </a:solidFill>
                <a:latin typeface="Microsoft YaHei"/>
                <a:ea typeface="Microsoft YaHei"/>
              </a:rPr>
              <a:t>边特征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13432" y="3099816"/>
            <a:ext cx="3493008" cy="69494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50" b="0">
                <a:solidFill>
                  <a:srgbClr val="253849"/>
                </a:solidFill>
                <a:latin typeface="Microsoft YaHei"/>
                <a:ea typeface="Microsoft YaHei"/>
              </a:rPr>
              <a:t>两Agent之间历史消息的汇聚表示。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041648"/>
            <a:ext cx="5385816" cy="91440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" y="4142232"/>
            <a:ext cx="1353312" cy="38404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087F78"/>
                </a:solidFill>
                <a:latin typeface="Microsoft YaHei"/>
                <a:ea typeface="Microsoft YaHei"/>
              </a:rPr>
              <a:t>连接关系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13432" y="4151376"/>
            <a:ext cx="3493008" cy="69494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50" b="0">
                <a:solidFill>
                  <a:srgbClr val="253849"/>
                </a:solidFill>
                <a:latin typeface="Microsoft YaHei"/>
                <a:ea typeface="Microsoft YaHei"/>
              </a:rPr>
              <a:t>当前轮哪些Agent可以通信。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" y="5239512"/>
            <a:ext cx="5120640" cy="411480"/>
          </a:xfrm>
          <a:prstGeom prst="roundRect">
            <a:avLst>
              <a:gd name="adj" fmla="val 12000"/>
            </a:avLst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9536" y="5239512"/>
            <a:ext cx="5010912" cy="41148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20" b="1">
                <a:solidFill>
                  <a:srgbClr val="087F78"/>
                </a:solidFill>
                <a:latin typeface="Microsoft YaHei"/>
                <a:ea typeface="Microsoft YaHei"/>
              </a:rPr>
              <a:t>文本 → 向量：SentenceBERT / MiniLM</a:t>
            </a:r>
          </a:p>
        </p:txBody>
      </p:sp>
      <p:pic>
        <p:nvPicPr>
          <p:cNvPr id="25" name="Picture 24" descr="figure2_det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6636" y="1810512"/>
            <a:ext cx="4319823" cy="4489704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087F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4892040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47585"/>
                </a:solidFill>
                <a:latin typeface="Microsoft YaHei"/>
                <a:ea typeface="Microsoft YaHei"/>
              </a:rPr>
              <a:t>G-Safeguard  /  方班研讨厅文献研读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10528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背景与问题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210312"/>
            <a:ext cx="1197864" cy="274320"/>
          </a:xfrm>
          <a:prstGeom prst="roundRect">
            <a:avLst>
              <a:gd name="adj" fmla="val 12000"/>
            </a:avLst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72984" y="210312"/>
            <a:ext cx="1088136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1">
                <a:solidFill>
                  <a:srgbClr val="087F78"/>
                </a:solidFill>
                <a:latin typeface="Microsoft YaHei"/>
                <a:ea typeface="Microsoft YaHei"/>
              </a:rPr>
              <a:t>方法原理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25712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实验验证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3304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总结思辨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758952"/>
            <a:ext cx="11109960" cy="6217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50" b="1">
                <a:solidFill>
                  <a:srgbClr val="15314D"/>
                </a:solidFill>
                <a:latin typeface="Microsoft YaHei"/>
                <a:ea typeface="Microsoft YaHei"/>
              </a:rPr>
              <a:t>Q2：邻居与边上消息，怎样参与异常判断？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435608"/>
            <a:ext cx="10972800" cy="33832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647585"/>
                </a:solidFill>
                <a:latin typeface="Microsoft YaHei"/>
                <a:ea typeface="Microsoft YaHei"/>
              </a:rPr>
              <a:t>GNN（图神经网络）聚合相邻节点信息；本文使用带边特征的GAT（图注意力网络）。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0352" y="6336792"/>
            <a:ext cx="11128248" cy="0"/>
          </a:xfrm>
          <a:prstGeom prst="line">
            <a:avLst/>
          </a:prstGeom>
          <a:ln w="8255">
            <a:solidFill>
              <a:srgbClr val="DCE4EB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10972800" y="6457168"/>
            <a:ext cx="713232" cy="161583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 dirty="0">
                <a:solidFill>
                  <a:srgbClr val="087F78"/>
                </a:solidFill>
                <a:latin typeface="Microsoft YaHei"/>
                <a:ea typeface="Microsoft YaHei"/>
              </a:rPr>
              <a:t>08 / </a:t>
            </a:r>
            <a:r>
              <a:rPr lang="en-US" altLang="zh-CN" sz="1050" b="1" dirty="0">
                <a:solidFill>
                  <a:srgbClr val="087F78"/>
                </a:solidFill>
                <a:latin typeface="Microsoft YaHei"/>
                <a:ea typeface="Microsoft YaHei"/>
              </a:rPr>
              <a:t>19</a:t>
            </a:r>
            <a:endParaRPr lang="zh-CN" sz="1050" b="1" dirty="0">
              <a:solidFill>
                <a:srgbClr val="087F78"/>
              </a:solidFill>
              <a:latin typeface="Microsoft YaHei"/>
              <a:ea typeface="Microsoft YaHe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22376" y="2057400"/>
            <a:ext cx="3493008" cy="11887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2258568"/>
            <a:ext cx="3172968" cy="38404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087F78"/>
                </a:solidFill>
                <a:latin typeface="Microsoft YaHei"/>
                <a:ea typeface="Microsoft YaHei"/>
              </a:rPr>
              <a:t>自身表示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743200"/>
            <a:ext cx="3200400" cy="34747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>
                <a:solidFill>
                  <a:srgbClr val="253849"/>
                </a:solidFill>
                <a:latin typeface="Microsoft YaHei"/>
                <a:ea typeface="Microsoft YaHei"/>
              </a:rPr>
              <a:t>这个Agent说了什么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468880" y="3328416"/>
            <a:ext cx="3630168" cy="594360"/>
          </a:xfrm>
          <a:prstGeom prst="line">
            <a:avLst/>
          </a:prstGeom>
          <a:ln w="17780">
            <a:solidFill>
              <a:srgbClr val="087F78"/>
            </a:solidFill>
            <a:tailEnd type="triangle" w="sm" len="sm"/>
          </a:ln>
          <a:effectLst/>
        </p:spPr>
      </p:cxnSp>
      <p:sp>
        <p:nvSpPr>
          <p:cNvPr id="18" name="Rectangle 17"/>
          <p:cNvSpPr/>
          <p:nvPr/>
        </p:nvSpPr>
        <p:spPr>
          <a:xfrm>
            <a:off x="4334256" y="2057400"/>
            <a:ext cx="3493008" cy="11887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98848" y="2258568"/>
            <a:ext cx="3172968" cy="38404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087F78"/>
                </a:solidFill>
                <a:latin typeface="Microsoft YaHei"/>
                <a:ea typeface="Microsoft YaHei"/>
              </a:rPr>
              <a:t>邻居表示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743200"/>
            <a:ext cx="3200400" cy="34747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>
                <a:solidFill>
                  <a:srgbClr val="253849"/>
                </a:solidFill>
                <a:latin typeface="Microsoft YaHei"/>
                <a:ea typeface="Microsoft YaHei"/>
              </a:rPr>
              <a:t>它接触了谁的观点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80760" y="3328416"/>
            <a:ext cx="18288" cy="594360"/>
          </a:xfrm>
          <a:prstGeom prst="line">
            <a:avLst/>
          </a:prstGeom>
          <a:ln w="17780">
            <a:solidFill>
              <a:srgbClr val="087F78"/>
            </a:solidFill>
            <a:tailEnd type="triangle" w="sm" len="sm"/>
          </a:ln>
          <a:effectLst/>
        </p:spPr>
      </p:cxnSp>
      <p:sp>
        <p:nvSpPr>
          <p:cNvPr id="22" name="Rectangle 21"/>
          <p:cNvSpPr/>
          <p:nvPr/>
        </p:nvSpPr>
        <p:spPr>
          <a:xfrm>
            <a:off x="7946136" y="2057400"/>
            <a:ext cx="3493008" cy="11887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10727" y="2258568"/>
            <a:ext cx="3172968" cy="38404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087F78"/>
                </a:solidFill>
                <a:latin typeface="Microsoft YaHei"/>
                <a:ea typeface="Microsoft YaHei"/>
              </a:rPr>
              <a:t>边消息表示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743200"/>
            <a:ext cx="3200400" cy="34747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>
                <a:solidFill>
                  <a:srgbClr val="253849"/>
                </a:solidFill>
                <a:latin typeface="Microsoft YaHei"/>
                <a:ea typeface="Microsoft YaHei"/>
              </a:rPr>
              <a:t>双方具体如何交流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6099048" y="3328416"/>
            <a:ext cx="3593592" cy="594360"/>
          </a:xfrm>
          <a:prstGeom prst="line">
            <a:avLst/>
          </a:prstGeom>
          <a:ln w="17780">
            <a:solidFill>
              <a:srgbClr val="087F78"/>
            </a:solidFill>
            <a:tailEnd type="triangle" w="sm" len="sm"/>
          </a:ln>
          <a:effectLst/>
        </p:spPr>
      </p:cxnSp>
      <p:sp>
        <p:nvSpPr>
          <p:cNvPr id="26" name="Rectangle 25"/>
          <p:cNvSpPr/>
          <p:nvPr/>
        </p:nvSpPr>
        <p:spPr>
          <a:xfrm>
            <a:off x="3273552" y="3986784"/>
            <a:ext cx="5632704" cy="841248"/>
          </a:xfrm>
          <a:prstGeom prst="rect">
            <a:avLst/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93008" y="4123944"/>
            <a:ext cx="5193792" cy="54864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1">
                <a:solidFill>
                  <a:srgbClr val="087F78"/>
                </a:solidFill>
                <a:latin typeface="Microsoft YaHei"/>
                <a:ea typeface="Microsoft YaHei"/>
              </a:rPr>
              <a:t>聚合邻域信息，再更新节点表示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" y="5111496"/>
            <a:ext cx="10351008" cy="4663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0">
                <a:solidFill>
                  <a:srgbClr val="253849"/>
                </a:solidFill>
                <a:latin typeface="Microsoft YaHei"/>
                <a:ea typeface="Microsoft YaHei"/>
              </a:rPr>
              <a:t>对所有节点使用共享规则，并逐层汇入邻域的结构与语义信息。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1207" y="5605272"/>
            <a:ext cx="11137392" cy="539496"/>
          </a:xfrm>
          <a:prstGeom prst="rect">
            <a:avLst/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21207" y="5605272"/>
            <a:ext cx="50292" cy="539496"/>
          </a:xfrm>
          <a:prstGeom prst="rect">
            <a:avLst/>
          </a:prstGeom>
          <a:solidFill>
            <a:srgbClr val="087F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3232" y="5664708"/>
            <a:ext cx="10744200" cy="42062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50" b="1">
                <a:solidFill>
                  <a:srgbClr val="087F78"/>
                </a:solidFill>
                <a:latin typeface="Microsoft YaHei"/>
                <a:ea typeface="Microsoft YaHei"/>
              </a:rPr>
              <a:t>这里的“消息传递”是GNN的向量计算，不是新增一轮Agent对话。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087F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4892040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47585"/>
                </a:solidFill>
                <a:latin typeface="Microsoft YaHei"/>
                <a:ea typeface="Microsoft YaHei"/>
              </a:rPr>
              <a:t>G-Safeguard  /  方班研讨厅文献研读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10528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背景与问题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210312"/>
            <a:ext cx="1197864" cy="274320"/>
          </a:xfrm>
          <a:prstGeom prst="roundRect">
            <a:avLst>
              <a:gd name="adj" fmla="val 12000"/>
            </a:avLst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72984" y="210312"/>
            <a:ext cx="1088136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1">
                <a:solidFill>
                  <a:srgbClr val="087F78"/>
                </a:solidFill>
                <a:latin typeface="Microsoft YaHei"/>
                <a:ea typeface="Microsoft YaHei"/>
              </a:rPr>
              <a:t>方法原理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25712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实验验证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3304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总结思辨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758952"/>
            <a:ext cx="11109960" cy="6217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50" b="1">
                <a:solidFill>
                  <a:srgbClr val="15314D"/>
                </a:solidFill>
                <a:latin typeface="Microsoft YaHei"/>
                <a:ea typeface="Microsoft YaHei"/>
              </a:rPr>
              <a:t>Q2：怎样从图表示，得到每个Agent的风险分数？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0352" y="6336792"/>
            <a:ext cx="11128248" cy="0"/>
          </a:xfrm>
          <a:prstGeom prst="line">
            <a:avLst/>
          </a:prstGeom>
          <a:ln w="8255">
            <a:solidFill>
              <a:srgbClr val="DCE4EB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0972800" y="6457168"/>
            <a:ext cx="713232" cy="161583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 dirty="0">
                <a:solidFill>
                  <a:srgbClr val="087F78"/>
                </a:solidFill>
                <a:latin typeface="Microsoft YaHei"/>
                <a:ea typeface="Microsoft YaHei"/>
              </a:rPr>
              <a:t>09 / </a:t>
            </a:r>
            <a:r>
              <a:rPr lang="en-US" altLang="zh-CN" sz="1050" b="1" dirty="0">
                <a:solidFill>
                  <a:srgbClr val="087F78"/>
                </a:solidFill>
                <a:latin typeface="Microsoft YaHei"/>
                <a:ea typeface="Microsoft YaHei"/>
              </a:rPr>
              <a:t>19</a:t>
            </a:r>
            <a:endParaRPr lang="zh-CN" sz="1050" b="1" dirty="0">
              <a:solidFill>
                <a:srgbClr val="087F78"/>
              </a:solidFill>
              <a:latin typeface="Microsoft YaHei"/>
              <a:ea typeface="Microsoft Ya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31520" y="1856231"/>
            <a:ext cx="3108960" cy="795528"/>
          </a:xfrm>
          <a:prstGeom prst="rect">
            <a:avLst/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002536"/>
            <a:ext cx="2926079" cy="44805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087F78"/>
                </a:solidFill>
                <a:latin typeface="Microsoft YaHei"/>
                <a:ea typeface="Microsoft YaHei"/>
              </a:rPr>
              <a:t>更新后的节点表示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53712" y="1856231"/>
            <a:ext cx="3108960" cy="795528"/>
          </a:xfrm>
          <a:prstGeom prst="rect">
            <a:avLst/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45152" y="2002536"/>
            <a:ext cx="2926079" cy="44805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087F78"/>
                </a:solidFill>
                <a:latin typeface="Microsoft YaHei"/>
                <a:ea typeface="Microsoft YaHei"/>
              </a:rPr>
              <a:t>共享的二分类器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66760" y="1856231"/>
            <a:ext cx="3108960" cy="795528"/>
          </a:xfrm>
          <a:prstGeom prst="rect">
            <a:avLst/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58200" y="2002536"/>
            <a:ext cx="2926079" cy="44805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087F78"/>
                </a:solidFill>
                <a:latin typeface="Microsoft YaHei"/>
                <a:ea typeface="Microsoft YaHei"/>
              </a:rPr>
              <a:t>每个Agent的风险分数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941063" y="2258568"/>
            <a:ext cx="502921" cy="0"/>
          </a:xfrm>
          <a:prstGeom prst="line">
            <a:avLst/>
          </a:prstGeom>
          <a:ln w="22860">
            <a:solidFill>
              <a:srgbClr val="087F78"/>
            </a:solidFill>
            <a:tailEnd type="triangle" w="sm" len="sm"/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7763256" y="2258568"/>
            <a:ext cx="502919" cy="0"/>
          </a:xfrm>
          <a:prstGeom prst="line">
            <a:avLst/>
          </a:prstGeom>
          <a:ln w="22860">
            <a:solidFill>
              <a:srgbClr val="087F78"/>
            </a:solidFill>
            <a:tailEnd type="triangle" w="sm" len="sm"/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3895344" y="2962656"/>
            <a:ext cx="4434840" cy="5943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000" b="1">
                <a:solidFill>
                  <a:srgbClr val="15314D"/>
                </a:solidFill>
                <a:latin typeface="Cambria Math"/>
                <a:ea typeface="Microsoft YaHei"/>
              </a:rPr>
              <a:t>pᵢ = σ(fθ(hᵢ))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3529584"/>
            <a:ext cx="7406640" cy="26517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20" b="0">
                <a:solidFill>
                  <a:srgbClr val="647585"/>
                </a:solidFill>
                <a:latin typeface="Microsoft YaHei"/>
                <a:ea typeface="Microsoft YaHei"/>
              </a:rPr>
              <a:t>式(10)简写：hᵢ为节点表示；fθ为分类器；σ将分数映射到0–1。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3840480"/>
            <a:ext cx="5294376" cy="1499616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13232" y="3840480"/>
            <a:ext cx="45720" cy="1499616"/>
          </a:xfrm>
          <a:prstGeom prst="rect">
            <a:avLst/>
          </a:prstGeom>
          <a:solidFill>
            <a:srgbClr val="087F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3959352"/>
            <a:ext cx="4901184" cy="3931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087F78"/>
                </a:solidFill>
                <a:latin typeface="Microsoft YaHei"/>
                <a:ea typeface="Microsoft YaHei"/>
              </a:rPr>
              <a:t>训练：学习区分攻击/正常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434840"/>
            <a:ext cx="4901184" cy="81381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30" b="0" dirty="0">
                <a:solidFill>
                  <a:srgbClr val="253849"/>
                </a:solidFill>
                <a:latin typeface="Microsoft YaHei"/>
                <a:ea typeface="Microsoft YaHei"/>
              </a:rPr>
              <a:t>使用标注对话图与交叉熵损失。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30" b="0" dirty="0">
                <a:solidFill>
                  <a:srgbClr val="253849"/>
                </a:solidFill>
                <a:latin typeface="Microsoft YaHei"/>
                <a:ea typeface="Microsoft YaHei"/>
              </a:rPr>
              <a:t>训练的是检测器，不是让LLM生成答案。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0488" y="3840480"/>
            <a:ext cx="5294376" cy="1499616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90488" y="3840480"/>
            <a:ext cx="45720" cy="1499616"/>
          </a:xfrm>
          <a:prstGeom prst="rect">
            <a:avLst/>
          </a:prstGeom>
          <a:solidFill>
            <a:srgbClr val="087F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91655" y="3959352"/>
            <a:ext cx="4901184" cy="3931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dirty="0">
                <a:solidFill>
                  <a:srgbClr val="087F78"/>
                </a:solidFill>
                <a:latin typeface="Microsoft YaHei"/>
                <a:ea typeface="Microsoft YaHei"/>
              </a:rPr>
              <a:t>运行：每轮输出风险节点集合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655" y="4434840"/>
            <a:ext cx="4901184" cy="81381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30" b="0">
                <a:solidFill>
                  <a:srgbClr val="253849"/>
                </a:solidFill>
                <a:latin typeface="Microsoft YaHei"/>
                <a:ea typeface="Microsoft YaHei"/>
              </a:rPr>
              <a:t>根据节点分数作风险判断，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30" b="0">
                <a:solidFill>
                  <a:srgbClr val="253849"/>
                </a:solidFill>
                <a:latin typeface="Microsoft YaHei"/>
                <a:ea typeface="Microsoft YaHei"/>
              </a:rPr>
              <a:t>交给下一步的拓扑干预。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7" y="5605272"/>
            <a:ext cx="11137392" cy="539496"/>
          </a:xfrm>
          <a:prstGeom prst="rect">
            <a:avLst/>
          </a:prstGeom>
          <a:solidFill>
            <a:srgbClr val="FFF4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21207" y="5605272"/>
            <a:ext cx="50292" cy="539496"/>
          </a:xfrm>
          <a:prstGeom prst="rect">
            <a:avLst/>
          </a:prstGeom>
          <a:solidFill>
            <a:srgbClr val="AA65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3232" y="5664708"/>
            <a:ext cx="10744200" cy="42062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0" b="1">
                <a:solidFill>
                  <a:srgbClr val="AA6524"/>
                </a:solidFill>
                <a:latin typeface="Microsoft YaHei"/>
                <a:ea typeface="Microsoft YaHei"/>
              </a:rPr>
              <a:t>阅读边界：论文给出概率分类公式，但没有明确列出风险阈值的具体取值。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087F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4892040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47585"/>
                </a:solidFill>
                <a:latin typeface="Microsoft YaHei"/>
                <a:ea typeface="Microsoft YaHei"/>
              </a:rPr>
              <a:t>G-Safeguard  /  方班研讨厅文献研读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10528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背景与问题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210312"/>
            <a:ext cx="1197864" cy="274320"/>
          </a:xfrm>
          <a:prstGeom prst="roundRect">
            <a:avLst>
              <a:gd name="adj" fmla="val 12000"/>
            </a:avLst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72984" y="210312"/>
            <a:ext cx="1088136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1">
                <a:solidFill>
                  <a:srgbClr val="087F78"/>
                </a:solidFill>
                <a:latin typeface="Microsoft YaHei"/>
                <a:ea typeface="Microsoft YaHei"/>
              </a:rPr>
              <a:t>方法原理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25712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实验验证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3304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总结思辨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758952"/>
            <a:ext cx="11109960" cy="6217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50" b="1">
                <a:solidFill>
                  <a:srgbClr val="15314D"/>
                </a:solidFill>
                <a:latin typeface="Microsoft YaHei"/>
                <a:ea typeface="Microsoft YaHei"/>
              </a:rPr>
              <a:t>Q3：发现高风险节点后，具体切掉哪些边？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435608"/>
            <a:ext cx="10972800" cy="33832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647585"/>
                </a:solidFill>
                <a:latin typeface="Microsoft YaHei"/>
                <a:ea typeface="Microsoft YaHei"/>
              </a:rPr>
              <a:t>Edge Pruning（边剪枝）：删除高风险节点的出边，改变下一轮通信。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0352" y="6336792"/>
            <a:ext cx="11128248" cy="0"/>
          </a:xfrm>
          <a:prstGeom prst="line">
            <a:avLst/>
          </a:prstGeom>
          <a:ln w="8255">
            <a:solidFill>
              <a:srgbClr val="DCE4EB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10972800" y="6457168"/>
            <a:ext cx="713232" cy="161583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 dirty="0">
                <a:solidFill>
                  <a:srgbClr val="087F78"/>
                </a:solidFill>
                <a:latin typeface="Microsoft YaHei"/>
                <a:ea typeface="Microsoft YaHei"/>
              </a:rPr>
              <a:t>10 / </a:t>
            </a:r>
            <a:r>
              <a:rPr lang="en-US" altLang="zh-CN" sz="1050" b="1" dirty="0">
                <a:solidFill>
                  <a:srgbClr val="087F78"/>
                </a:solidFill>
                <a:latin typeface="Microsoft YaHei"/>
                <a:ea typeface="Microsoft YaHei"/>
              </a:rPr>
              <a:t>19</a:t>
            </a:r>
            <a:endParaRPr lang="zh-CN" sz="1050" b="1" dirty="0">
              <a:solidFill>
                <a:srgbClr val="087F78"/>
              </a:solidFill>
              <a:latin typeface="Microsoft YaHei"/>
              <a:ea typeface="Microsoft YaHe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50392" y="1865376"/>
            <a:ext cx="4407408" cy="411480"/>
          </a:xfrm>
          <a:prstGeom prst="roundRect">
            <a:avLst>
              <a:gd name="adj" fmla="val 12000"/>
            </a:avLst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5256" y="1865376"/>
            <a:ext cx="4297680" cy="41148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>
                <a:solidFill>
                  <a:srgbClr val="087F78"/>
                </a:solidFill>
                <a:latin typeface="Microsoft YaHei"/>
                <a:ea typeface="Microsoft YaHei"/>
              </a:rPr>
              <a:t>第t轮结束：已检测到C2高风险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57416" y="1865376"/>
            <a:ext cx="4407408" cy="411480"/>
          </a:xfrm>
          <a:prstGeom prst="roundRect">
            <a:avLst>
              <a:gd name="adj" fmla="val 12000"/>
            </a:avLst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12279" y="1865376"/>
            <a:ext cx="4297680" cy="41148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>
                <a:solidFill>
                  <a:srgbClr val="087F78"/>
                </a:solidFill>
                <a:latin typeface="Microsoft YaHei"/>
                <a:ea typeface="Microsoft YaHei"/>
              </a:rPr>
              <a:t>第t+1轮：C2不再向外传播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2523744"/>
            <a:ext cx="5010912" cy="2560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1682495" y="3803904"/>
            <a:ext cx="859537" cy="0"/>
          </a:xfrm>
          <a:prstGeom prst="line">
            <a:avLst/>
          </a:prstGeom>
          <a:ln w="21590">
            <a:solidFill>
              <a:srgbClr val="647585"/>
            </a:solidFill>
            <a:tailEnd type="triangle" w="sm" len="sm"/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4572000" y="3419856"/>
            <a:ext cx="0" cy="786384"/>
          </a:xfrm>
          <a:prstGeom prst="line">
            <a:avLst/>
          </a:prstGeom>
          <a:ln w="21590">
            <a:solidFill>
              <a:srgbClr val="647585"/>
            </a:solidFill>
            <a:tailEnd type="triangle" w="sm" len="sm"/>
          </a:ln>
          <a:effectLst/>
        </p:spPr>
      </p:cxnSp>
      <p:cxnSp>
        <p:nvCxnSpPr>
          <p:cNvPr id="21" name="Connector 20"/>
          <p:cNvCxnSpPr/>
          <p:nvPr/>
        </p:nvCxnSpPr>
        <p:spPr>
          <a:xfrm flipV="1">
            <a:off x="3174787" y="3217976"/>
            <a:ext cx="1093641" cy="458623"/>
          </a:xfrm>
          <a:prstGeom prst="line">
            <a:avLst/>
          </a:prstGeom>
          <a:ln w="21590">
            <a:solidFill>
              <a:srgbClr val="AF4144"/>
            </a:solidFill>
            <a:tailEnd type="triangle" w="sm" len="sm"/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3173615" y="3933968"/>
            <a:ext cx="1095985" cy="471391"/>
          </a:xfrm>
          <a:prstGeom prst="line">
            <a:avLst/>
          </a:prstGeom>
          <a:ln w="21590">
            <a:solidFill>
              <a:srgbClr val="AF4144"/>
            </a:solidFill>
            <a:tailEnd type="triangle" w="sm" len="sm"/>
          </a:ln>
          <a:effectLst/>
        </p:spPr>
      </p:cxnSp>
      <p:sp>
        <p:nvSpPr>
          <p:cNvPr id="23" name="Oval 22"/>
          <p:cNvSpPr/>
          <p:nvPr/>
        </p:nvSpPr>
        <p:spPr>
          <a:xfrm>
            <a:off x="1024128" y="3474720"/>
            <a:ext cx="658368" cy="658368"/>
          </a:xfrm>
          <a:prstGeom prst="ellipse">
            <a:avLst/>
          </a:prstGeom>
          <a:solidFill>
            <a:srgbClr val="E7F4F1"/>
          </a:solidFill>
          <a:ln w="19050">
            <a:solidFill>
              <a:srgbClr val="087F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24128" y="3474720"/>
            <a:ext cx="658368" cy="65836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087F78"/>
                </a:solidFill>
                <a:latin typeface="Microsoft YaHei"/>
                <a:ea typeface="Microsoft YaHei"/>
              </a:rPr>
              <a:t>C1</a:t>
            </a:r>
          </a:p>
        </p:txBody>
      </p:sp>
      <p:sp>
        <p:nvSpPr>
          <p:cNvPr id="25" name="Oval 24"/>
          <p:cNvSpPr/>
          <p:nvPr/>
        </p:nvSpPr>
        <p:spPr>
          <a:xfrm>
            <a:off x="2542032" y="3474720"/>
            <a:ext cx="658368" cy="658368"/>
          </a:xfrm>
          <a:prstGeom prst="ellipse">
            <a:avLst/>
          </a:prstGeom>
          <a:solidFill>
            <a:srgbClr val="FAECEC"/>
          </a:solidFill>
          <a:ln w="19050">
            <a:solidFill>
              <a:srgbClr val="AF414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542032" y="3474720"/>
            <a:ext cx="658368" cy="65836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AF4144"/>
                </a:solidFill>
                <a:latin typeface="Microsoft YaHei"/>
                <a:ea typeface="Microsoft YaHei"/>
              </a:rPr>
              <a:t>C2</a:t>
            </a:r>
          </a:p>
        </p:txBody>
      </p:sp>
      <p:sp>
        <p:nvSpPr>
          <p:cNvPr id="27" name="Oval 26"/>
          <p:cNvSpPr/>
          <p:nvPr/>
        </p:nvSpPr>
        <p:spPr>
          <a:xfrm>
            <a:off x="4242816" y="2761488"/>
            <a:ext cx="658368" cy="658368"/>
          </a:xfrm>
          <a:prstGeom prst="ellipse">
            <a:avLst/>
          </a:prstGeom>
          <a:solidFill>
            <a:srgbClr val="E7F4F1"/>
          </a:solidFill>
          <a:ln w="19050">
            <a:solidFill>
              <a:srgbClr val="087F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42816" y="2761488"/>
            <a:ext cx="658368" cy="65836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087F78"/>
                </a:solidFill>
                <a:latin typeface="Microsoft YaHei"/>
                <a:ea typeface="Microsoft YaHei"/>
              </a:rPr>
              <a:t>C3</a:t>
            </a:r>
          </a:p>
        </p:txBody>
      </p:sp>
      <p:sp>
        <p:nvSpPr>
          <p:cNvPr id="29" name="Oval 28"/>
          <p:cNvSpPr/>
          <p:nvPr/>
        </p:nvSpPr>
        <p:spPr>
          <a:xfrm>
            <a:off x="4242816" y="4206240"/>
            <a:ext cx="658368" cy="658368"/>
          </a:xfrm>
          <a:prstGeom prst="ellipse">
            <a:avLst/>
          </a:prstGeom>
          <a:solidFill>
            <a:srgbClr val="E7F4F1"/>
          </a:solidFill>
          <a:ln w="19050">
            <a:solidFill>
              <a:srgbClr val="087F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42816" y="4206240"/>
            <a:ext cx="658368" cy="65836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087F78"/>
                </a:solidFill>
                <a:latin typeface="Microsoft YaHei"/>
                <a:ea typeface="Microsoft YaHei"/>
              </a:rPr>
              <a:t>C4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29400" y="2523744"/>
            <a:ext cx="5010912" cy="2560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7598664" y="3803904"/>
            <a:ext cx="859536" cy="0"/>
          </a:xfrm>
          <a:prstGeom prst="line">
            <a:avLst/>
          </a:prstGeom>
          <a:ln w="21590">
            <a:solidFill>
              <a:srgbClr val="647585"/>
            </a:solidFill>
            <a:tailEnd type="triangle" w="sm" len="sm"/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10488167" y="3419856"/>
            <a:ext cx="0" cy="786384"/>
          </a:xfrm>
          <a:prstGeom prst="line">
            <a:avLst/>
          </a:prstGeom>
          <a:ln w="21590">
            <a:solidFill>
              <a:srgbClr val="647585"/>
            </a:solidFill>
            <a:tailEnd type="triangle" w="sm" len="sm"/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9090955" y="3217976"/>
            <a:ext cx="1093641" cy="458623"/>
          </a:xfrm>
          <a:prstGeom prst="line">
            <a:avLst/>
          </a:prstGeom>
          <a:ln w="21590">
            <a:solidFill>
              <a:srgbClr val="AF4144"/>
            </a:solidFill>
            <a:prstDash val="dash"/>
            <a:tailEnd type="triangle" w="sm" len="sm"/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9089783" y="3933968"/>
            <a:ext cx="1095985" cy="471391"/>
          </a:xfrm>
          <a:prstGeom prst="line">
            <a:avLst/>
          </a:prstGeom>
          <a:ln w="21590">
            <a:solidFill>
              <a:srgbClr val="AF4144"/>
            </a:solidFill>
            <a:prstDash val="dash"/>
            <a:tailEnd type="triangle" w="sm" len="sm"/>
          </a:ln>
          <a:effectLst/>
        </p:spPr>
      </p:cxnSp>
      <p:sp>
        <p:nvSpPr>
          <p:cNvPr id="36" name="Oval 35"/>
          <p:cNvSpPr/>
          <p:nvPr/>
        </p:nvSpPr>
        <p:spPr>
          <a:xfrm>
            <a:off x="6940296" y="3474720"/>
            <a:ext cx="658368" cy="658368"/>
          </a:xfrm>
          <a:prstGeom prst="ellipse">
            <a:avLst/>
          </a:prstGeom>
          <a:solidFill>
            <a:srgbClr val="E7F4F1"/>
          </a:solidFill>
          <a:ln w="19050">
            <a:solidFill>
              <a:srgbClr val="087F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940296" y="3474720"/>
            <a:ext cx="658368" cy="65836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087F78"/>
                </a:solidFill>
                <a:latin typeface="Microsoft YaHei"/>
                <a:ea typeface="Microsoft YaHei"/>
              </a:rPr>
              <a:t>C1</a:t>
            </a:r>
          </a:p>
        </p:txBody>
      </p:sp>
      <p:sp>
        <p:nvSpPr>
          <p:cNvPr id="38" name="Oval 37"/>
          <p:cNvSpPr/>
          <p:nvPr/>
        </p:nvSpPr>
        <p:spPr>
          <a:xfrm>
            <a:off x="8458200" y="3474720"/>
            <a:ext cx="658368" cy="658368"/>
          </a:xfrm>
          <a:prstGeom prst="ellipse">
            <a:avLst/>
          </a:prstGeom>
          <a:solidFill>
            <a:srgbClr val="FAECEC"/>
          </a:solidFill>
          <a:ln w="19050">
            <a:solidFill>
              <a:srgbClr val="AF414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58200" y="3474720"/>
            <a:ext cx="658368" cy="65836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AF4144"/>
                </a:solidFill>
                <a:latin typeface="Microsoft YaHei"/>
                <a:ea typeface="Microsoft YaHei"/>
              </a:rPr>
              <a:t>C2</a:t>
            </a:r>
          </a:p>
        </p:txBody>
      </p:sp>
      <p:sp>
        <p:nvSpPr>
          <p:cNvPr id="40" name="Oval 39"/>
          <p:cNvSpPr/>
          <p:nvPr/>
        </p:nvSpPr>
        <p:spPr>
          <a:xfrm>
            <a:off x="10158984" y="2761488"/>
            <a:ext cx="658368" cy="658368"/>
          </a:xfrm>
          <a:prstGeom prst="ellipse">
            <a:avLst/>
          </a:prstGeom>
          <a:solidFill>
            <a:srgbClr val="E7F4F1"/>
          </a:solidFill>
          <a:ln w="19050">
            <a:solidFill>
              <a:srgbClr val="087F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158984" y="2761488"/>
            <a:ext cx="658368" cy="65836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087F78"/>
                </a:solidFill>
                <a:latin typeface="Microsoft YaHei"/>
                <a:ea typeface="Microsoft YaHei"/>
              </a:rPr>
              <a:t>C3</a:t>
            </a:r>
          </a:p>
        </p:txBody>
      </p:sp>
      <p:sp>
        <p:nvSpPr>
          <p:cNvPr id="42" name="Oval 41"/>
          <p:cNvSpPr/>
          <p:nvPr/>
        </p:nvSpPr>
        <p:spPr>
          <a:xfrm>
            <a:off x="10158984" y="4206240"/>
            <a:ext cx="658368" cy="658368"/>
          </a:xfrm>
          <a:prstGeom prst="ellipse">
            <a:avLst/>
          </a:prstGeom>
          <a:solidFill>
            <a:srgbClr val="E7F4F1"/>
          </a:solidFill>
          <a:ln w="19050">
            <a:solidFill>
              <a:srgbClr val="087F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158984" y="4206240"/>
            <a:ext cx="658368" cy="65836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087F78"/>
                </a:solidFill>
                <a:latin typeface="Microsoft YaHei"/>
                <a:ea typeface="Microsoft YaHei"/>
              </a:rPr>
              <a:t>C4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88552" y="2779776"/>
            <a:ext cx="512064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AF4144"/>
                </a:solidFill>
                <a:latin typeface="Arial"/>
                <a:ea typeface="Microsoft YaHei"/>
              </a:rPr>
              <a:t>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88552" y="4562856"/>
            <a:ext cx="512064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AF4144"/>
                </a:solidFill>
                <a:latin typeface="Arial"/>
                <a:ea typeface="Microsoft YaHei"/>
              </a:rPr>
              <a:t>×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870448" y="3749039"/>
            <a:ext cx="466344" cy="0"/>
          </a:xfrm>
          <a:prstGeom prst="line">
            <a:avLst/>
          </a:prstGeom>
          <a:ln w="27940">
            <a:solidFill>
              <a:srgbClr val="087F78"/>
            </a:solidFill>
            <a:tailEnd type="triangle" w="sm" len="sm"/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822960" y="5239512"/>
            <a:ext cx="10698480" cy="34747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30" b="0">
                <a:solidFill>
                  <a:srgbClr val="253849"/>
                </a:solidFill>
                <a:latin typeface="Microsoft YaHei"/>
                <a:ea typeface="Microsoft YaHei"/>
              </a:rPr>
              <a:t>保留其他节点间的通信；“剪出边”不等于删节点，也不等于自动修复历史状态。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1207" y="5605272"/>
            <a:ext cx="11137392" cy="539496"/>
          </a:xfrm>
          <a:prstGeom prst="rect">
            <a:avLst/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21207" y="5605272"/>
            <a:ext cx="50292" cy="539496"/>
          </a:xfrm>
          <a:prstGeom prst="rect">
            <a:avLst/>
          </a:prstGeom>
          <a:solidFill>
            <a:srgbClr val="087F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13232" y="5664708"/>
            <a:ext cx="10744200" cy="42062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087F78"/>
                </a:solidFill>
                <a:latin typeface="Microsoft YaHei"/>
                <a:ea typeface="Microsoft YaHei"/>
              </a:rPr>
              <a:t>干预逻辑：不是要求风险节点改口，而是限制它继续影响其他节点。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087F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4892040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47585"/>
                </a:solidFill>
                <a:latin typeface="Microsoft YaHei"/>
                <a:ea typeface="Microsoft YaHei"/>
              </a:rPr>
              <a:t>G-Safeguard  /  方班研讨厅文献研读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10528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背景与问题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210312"/>
            <a:ext cx="1197864" cy="274320"/>
          </a:xfrm>
          <a:prstGeom prst="roundRect">
            <a:avLst>
              <a:gd name="adj" fmla="val 12000"/>
            </a:avLst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72984" y="210312"/>
            <a:ext cx="1088136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1">
                <a:solidFill>
                  <a:srgbClr val="087F78"/>
                </a:solidFill>
                <a:latin typeface="Microsoft YaHei"/>
                <a:ea typeface="Microsoft YaHei"/>
              </a:rPr>
              <a:t>方法原理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25712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实验验证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3304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总结思辨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758952"/>
            <a:ext cx="11109960" cy="6217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50" b="1">
                <a:solidFill>
                  <a:srgbClr val="15314D"/>
                </a:solidFill>
                <a:latin typeface="Microsoft YaHei"/>
                <a:ea typeface="Microsoft YaHei"/>
              </a:rPr>
              <a:t>Q4：为什么小系统训练的检测器，可以用于更大系统？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435608"/>
            <a:ext cx="10972800" cy="33832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647585"/>
                </a:solidFill>
                <a:latin typeface="Microsoft YaHei"/>
                <a:ea typeface="Microsoft YaHei"/>
              </a:rPr>
              <a:t>Inductive Transfer（归纳迁移）：复用图上的计算规则，而不是记住固定数量的节点。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0352" y="6336792"/>
            <a:ext cx="11128248" cy="0"/>
          </a:xfrm>
          <a:prstGeom prst="line">
            <a:avLst/>
          </a:prstGeom>
          <a:ln w="8255">
            <a:solidFill>
              <a:srgbClr val="DCE4EB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10972800" y="6457168"/>
            <a:ext cx="713232" cy="161583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 dirty="0">
                <a:solidFill>
                  <a:srgbClr val="087F78"/>
                </a:solidFill>
                <a:latin typeface="Microsoft YaHei"/>
                <a:ea typeface="Microsoft YaHei"/>
              </a:rPr>
              <a:t>11 / </a:t>
            </a:r>
            <a:r>
              <a:rPr lang="en-US" altLang="zh-CN" sz="1050" b="1" dirty="0">
                <a:solidFill>
                  <a:srgbClr val="087F78"/>
                </a:solidFill>
                <a:latin typeface="Microsoft YaHei"/>
                <a:ea typeface="Microsoft YaHei"/>
              </a:rPr>
              <a:t>19</a:t>
            </a:r>
            <a:endParaRPr lang="zh-CN" sz="1050" b="1" dirty="0">
              <a:solidFill>
                <a:srgbClr val="087F78"/>
              </a:solidFill>
              <a:latin typeface="Microsoft YaHei"/>
              <a:ea typeface="Microsoft YaHe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77240" y="2029968"/>
            <a:ext cx="4041648" cy="2999232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232904" y="2029968"/>
            <a:ext cx="4041648" cy="2999232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" y="2221992"/>
            <a:ext cx="3712463" cy="4663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1">
                <a:solidFill>
                  <a:srgbClr val="15314D"/>
                </a:solidFill>
                <a:latin typeface="Microsoft YaHei"/>
                <a:ea typeface="Microsoft YaHei"/>
              </a:rPr>
              <a:t>训练：8个Agent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737360" y="3401568"/>
            <a:ext cx="393192" cy="0"/>
          </a:xfrm>
          <a:prstGeom prst="line">
            <a:avLst/>
          </a:prstGeom>
          <a:ln w="13970">
            <a:solidFill>
              <a:srgbClr val="DCE4EB"/>
            </a:solidFill>
            <a:tailEnd type="triangle" w="sm" len="sm"/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2569464" y="3401568"/>
            <a:ext cx="393192" cy="0"/>
          </a:xfrm>
          <a:prstGeom prst="line">
            <a:avLst/>
          </a:prstGeom>
          <a:ln w="13970">
            <a:solidFill>
              <a:srgbClr val="DCE4EB"/>
            </a:solidFill>
            <a:tailEnd type="triangle" w="sm" len="sm"/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3401568" y="3401568"/>
            <a:ext cx="393192" cy="0"/>
          </a:xfrm>
          <a:prstGeom prst="line">
            <a:avLst/>
          </a:prstGeom>
          <a:ln w="13970">
            <a:solidFill>
              <a:srgbClr val="DCE4EB"/>
            </a:solidFill>
            <a:tailEnd type="triangle" w="sm" len="sm"/>
          </a:ln>
          <a:effectLst/>
        </p:spPr>
      </p:cxnSp>
      <p:cxnSp>
        <p:nvCxnSpPr>
          <p:cNvPr id="20" name="Connector 19"/>
          <p:cNvCxnSpPr/>
          <p:nvPr/>
        </p:nvCxnSpPr>
        <p:spPr>
          <a:xfrm flipH="1">
            <a:off x="1725637" y="3472334"/>
            <a:ext cx="2080845" cy="708859"/>
          </a:xfrm>
          <a:prstGeom prst="line">
            <a:avLst/>
          </a:prstGeom>
          <a:ln w="13970">
            <a:solidFill>
              <a:srgbClr val="DCE4EB"/>
            </a:solidFill>
            <a:tailEnd type="triangle" w="sm" len="sm"/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1737360" y="4251960"/>
            <a:ext cx="393192" cy="0"/>
          </a:xfrm>
          <a:prstGeom prst="line">
            <a:avLst/>
          </a:prstGeom>
          <a:ln w="13970">
            <a:solidFill>
              <a:srgbClr val="DCE4EB"/>
            </a:solidFill>
            <a:tailEnd type="triangle" w="sm" len="sm"/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2569464" y="4251960"/>
            <a:ext cx="393192" cy="0"/>
          </a:xfrm>
          <a:prstGeom prst="line">
            <a:avLst/>
          </a:prstGeom>
          <a:ln w="13970">
            <a:solidFill>
              <a:srgbClr val="DCE4EB"/>
            </a:solidFill>
            <a:tailEnd type="triangle" w="sm" len="sm"/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3401568" y="4251960"/>
            <a:ext cx="393192" cy="0"/>
          </a:xfrm>
          <a:prstGeom prst="line">
            <a:avLst/>
          </a:prstGeom>
          <a:ln w="13970">
            <a:solidFill>
              <a:srgbClr val="DCE4EB"/>
            </a:solidFill>
            <a:tailEnd type="triangle" w="sm" len="sm"/>
          </a:ln>
          <a:effectLst/>
        </p:spPr>
      </p:cxnSp>
      <p:sp>
        <p:nvSpPr>
          <p:cNvPr id="24" name="Oval 23"/>
          <p:cNvSpPr/>
          <p:nvPr/>
        </p:nvSpPr>
        <p:spPr>
          <a:xfrm>
            <a:off x="1298448" y="3182112"/>
            <a:ext cx="438912" cy="438912"/>
          </a:xfrm>
          <a:prstGeom prst="ellipse">
            <a:avLst/>
          </a:prstGeom>
          <a:solidFill>
            <a:srgbClr val="E7F4F1"/>
          </a:solidFill>
          <a:ln w="19050">
            <a:solidFill>
              <a:srgbClr val="087F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98448" y="3182112"/>
            <a:ext cx="438912" cy="43891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0" b="1">
                <a:solidFill>
                  <a:srgbClr val="087F78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26" name="Oval 25"/>
          <p:cNvSpPr/>
          <p:nvPr/>
        </p:nvSpPr>
        <p:spPr>
          <a:xfrm>
            <a:off x="2130552" y="3182112"/>
            <a:ext cx="438912" cy="438912"/>
          </a:xfrm>
          <a:prstGeom prst="ellipse">
            <a:avLst/>
          </a:prstGeom>
          <a:solidFill>
            <a:srgbClr val="E7F4F1"/>
          </a:solidFill>
          <a:ln w="19050">
            <a:solidFill>
              <a:srgbClr val="087F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130552" y="3182112"/>
            <a:ext cx="438912" cy="43891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0" b="1">
                <a:solidFill>
                  <a:srgbClr val="087F78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8" name="Oval 27"/>
          <p:cNvSpPr/>
          <p:nvPr/>
        </p:nvSpPr>
        <p:spPr>
          <a:xfrm>
            <a:off x="2962656" y="3182112"/>
            <a:ext cx="438912" cy="438912"/>
          </a:xfrm>
          <a:prstGeom prst="ellipse">
            <a:avLst/>
          </a:prstGeom>
          <a:solidFill>
            <a:srgbClr val="E7F4F1"/>
          </a:solidFill>
          <a:ln w="19050">
            <a:solidFill>
              <a:srgbClr val="087F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962656" y="3182112"/>
            <a:ext cx="438912" cy="43891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0" b="1">
                <a:solidFill>
                  <a:srgbClr val="087F78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30" name="Oval 29"/>
          <p:cNvSpPr/>
          <p:nvPr/>
        </p:nvSpPr>
        <p:spPr>
          <a:xfrm>
            <a:off x="3794760" y="3182112"/>
            <a:ext cx="438912" cy="438912"/>
          </a:xfrm>
          <a:prstGeom prst="ellipse">
            <a:avLst/>
          </a:prstGeom>
          <a:solidFill>
            <a:srgbClr val="E7F4F1"/>
          </a:solidFill>
          <a:ln w="19050">
            <a:solidFill>
              <a:srgbClr val="087F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794760" y="3182112"/>
            <a:ext cx="438912" cy="43891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0" b="1">
                <a:solidFill>
                  <a:srgbClr val="087F78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2" name="Oval 31"/>
          <p:cNvSpPr/>
          <p:nvPr/>
        </p:nvSpPr>
        <p:spPr>
          <a:xfrm>
            <a:off x="1298448" y="4032504"/>
            <a:ext cx="438912" cy="438912"/>
          </a:xfrm>
          <a:prstGeom prst="ellipse">
            <a:avLst/>
          </a:prstGeom>
          <a:solidFill>
            <a:srgbClr val="E7F4F1"/>
          </a:solidFill>
          <a:ln w="19050">
            <a:solidFill>
              <a:srgbClr val="087F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298448" y="4032504"/>
            <a:ext cx="438912" cy="43891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0" b="1">
                <a:solidFill>
                  <a:srgbClr val="087F78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34" name="Oval 33"/>
          <p:cNvSpPr/>
          <p:nvPr/>
        </p:nvSpPr>
        <p:spPr>
          <a:xfrm>
            <a:off x="2130552" y="4032504"/>
            <a:ext cx="438912" cy="438912"/>
          </a:xfrm>
          <a:prstGeom prst="ellipse">
            <a:avLst/>
          </a:prstGeom>
          <a:solidFill>
            <a:srgbClr val="E7F4F1"/>
          </a:solidFill>
          <a:ln w="19050">
            <a:solidFill>
              <a:srgbClr val="087F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130552" y="4032504"/>
            <a:ext cx="438912" cy="43891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0" b="1">
                <a:solidFill>
                  <a:srgbClr val="087F78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36" name="Oval 35"/>
          <p:cNvSpPr/>
          <p:nvPr/>
        </p:nvSpPr>
        <p:spPr>
          <a:xfrm>
            <a:off x="2962656" y="4032504"/>
            <a:ext cx="438912" cy="438912"/>
          </a:xfrm>
          <a:prstGeom prst="ellipse">
            <a:avLst/>
          </a:prstGeom>
          <a:solidFill>
            <a:srgbClr val="E7F4F1"/>
          </a:solidFill>
          <a:ln w="19050">
            <a:solidFill>
              <a:srgbClr val="087F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962656" y="4032504"/>
            <a:ext cx="438912" cy="43891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0" b="1">
                <a:solidFill>
                  <a:srgbClr val="087F78"/>
                </a:solidFill>
                <a:latin typeface="Microsoft YaHei"/>
                <a:ea typeface="Microsoft YaHei"/>
              </a:rPr>
              <a:t>7</a:t>
            </a:r>
          </a:p>
        </p:txBody>
      </p:sp>
      <p:sp>
        <p:nvSpPr>
          <p:cNvPr id="38" name="Oval 37"/>
          <p:cNvSpPr/>
          <p:nvPr/>
        </p:nvSpPr>
        <p:spPr>
          <a:xfrm>
            <a:off x="3794760" y="4032504"/>
            <a:ext cx="438912" cy="438912"/>
          </a:xfrm>
          <a:prstGeom prst="ellipse">
            <a:avLst/>
          </a:prstGeom>
          <a:solidFill>
            <a:srgbClr val="E7F4F1"/>
          </a:solidFill>
          <a:ln w="19050">
            <a:solidFill>
              <a:srgbClr val="087F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794760" y="4032504"/>
            <a:ext cx="438912" cy="43891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0" b="1">
                <a:solidFill>
                  <a:srgbClr val="087F78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2221992"/>
            <a:ext cx="3694176" cy="4663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15314D"/>
                </a:solidFill>
                <a:latin typeface="Microsoft YaHei"/>
                <a:ea typeface="Microsoft YaHei"/>
              </a:rPr>
              <a:t>测试：20–80个Agent</a:t>
            </a:r>
          </a:p>
        </p:txBody>
      </p:sp>
      <p:sp>
        <p:nvSpPr>
          <p:cNvPr id="41" name="Oval 40"/>
          <p:cNvSpPr/>
          <p:nvPr/>
        </p:nvSpPr>
        <p:spPr>
          <a:xfrm>
            <a:off x="7744968" y="3099816"/>
            <a:ext cx="228600" cy="228600"/>
          </a:xfrm>
          <a:prstGeom prst="ellipse">
            <a:avLst/>
          </a:prstGeom>
          <a:solidFill>
            <a:srgbClr val="E7F4F1"/>
          </a:solidFill>
          <a:ln w="19050">
            <a:solidFill>
              <a:srgbClr val="087F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44968" y="3099816"/>
            <a:ext cx="228600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3" name="Oval 42"/>
          <p:cNvSpPr/>
          <p:nvPr/>
        </p:nvSpPr>
        <p:spPr>
          <a:xfrm>
            <a:off x="8375904" y="3099816"/>
            <a:ext cx="228600" cy="228600"/>
          </a:xfrm>
          <a:prstGeom prst="ellipse">
            <a:avLst/>
          </a:prstGeom>
          <a:solidFill>
            <a:srgbClr val="E7F4F1"/>
          </a:solidFill>
          <a:ln w="19050">
            <a:solidFill>
              <a:srgbClr val="087F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75904" y="3099816"/>
            <a:ext cx="228600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5" name="Oval 44"/>
          <p:cNvSpPr/>
          <p:nvPr/>
        </p:nvSpPr>
        <p:spPr>
          <a:xfrm>
            <a:off x="9006840" y="3099816"/>
            <a:ext cx="228600" cy="228600"/>
          </a:xfrm>
          <a:prstGeom prst="ellipse">
            <a:avLst/>
          </a:prstGeom>
          <a:solidFill>
            <a:srgbClr val="E7F4F1"/>
          </a:solidFill>
          <a:ln w="19050">
            <a:solidFill>
              <a:srgbClr val="087F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006840" y="3099816"/>
            <a:ext cx="228600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7" name="Oval 46"/>
          <p:cNvSpPr/>
          <p:nvPr/>
        </p:nvSpPr>
        <p:spPr>
          <a:xfrm>
            <a:off x="9637776" y="3099816"/>
            <a:ext cx="228600" cy="228600"/>
          </a:xfrm>
          <a:prstGeom prst="ellipse">
            <a:avLst/>
          </a:prstGeom>
          <a:solidFill>
            <a:srgbClr val="E7F4F1"/>
          </a:solidFill>
          <a:ln w="19050">
            <a:solidFill>
              <a:srgbClr val="087F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637776" y="3099816"/>
            <a:ext cx="228600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9" name="Oval 48"/>
          <p:cNvSpPr/>
          <p:nvPr/>
        </p:nvSpPr>
        <p:spPr>
          <a:xfrm>
            <a:off x="10268712" y="3099816"/>
            <a:ext cx="228600" cy="228600"/>
          </a:xfrm>
          <a:prstGeom prst="ellipse">
            <a:avLst/>
          </a:prstGeom>
          <a:solidFill>
            <a:srgbClr val="E7F4F1"/>
          </a:solidFill>
          <a:ln w="19050">
            <a:solidFill>
              <a:srgbClr val="087F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268712" y="3099816"/>
            <a:ext cx="228600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1" name="Oval 50"/>
          <p:cNvSpPr/>
          <p:nvPr/>
        </p:nvSpPr>
        <p:spPr>
          <a:xfrm>
            <a:off x="7744968" y="3493008"/>
            <a:ext cx="228600" cy="228600"/>
          </a:xfrm>
          <a:prstGeom prst="ellipse">
            <a:avLst/>
          </a:prstGeom>
          <a:solidFill>
            <a:srgbClr val="E7F4F1"/>
          </a:solidFill>
          <a:ln w="19050">
            <a:solidFill>
              <a:srgbClr val="087F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44968" y="3493008"/>
            <a:ext cx="228600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3" name="Oval 52"/>
          <p:cNvSpPr/>
          <p:nvPr/>
        </p:nvSpPr>
        <p:spPr>
          <a:xfrm>
            <a:off x="8375904" y="3493008"/>
            <a:ext cx="228600" cy="228600"/>
          </a:xfrm>
          <a:prstGeom prst="ellipse">
            <a:avLst/>
          </a:prstGeom>
          <a:solidFill>
            <a:srgbClr val="E7F4F1"/>
          </a:solidFill>
          <a:ln w="19050">
            <a:solidFill>
              <a:srgbClr val="087F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375904" y="3493008"/>
            <a:ext cx="228600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5" name="Oval 54"/>
          <p:cNvSpPr/>
          <p:nvPr/>
        </p:nvSpPr>
        <p:spPr>
          <a:xfrm>
            <a:off x="9006840" y="3493008"/>
            <a:ext cx="228600" cy="228600"/>
          </a:xfrm>
          <a:prstGeom prst="ellipse">
            <a:avLst/>
          </a:prstGeom>
          <a:solidFill>
            <a:srgbClr val="E7F4F1"/>
          </a:solidFill>
          <a:ln w="19050">
            <a:solidFill>
              <a:srgbClr val="087F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006840" y="3493008"/>
            <a:ext cx="228600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7" name="Oval 56"/>
          <p:cNvSpPr/>
          <p:nvPr/>
        </p:nvSpPr>
        <p:spPr>
          <a:xfrm>
            <a:off x="9637776" y="3493008"/>
            <a:ext cx="228600" cy="228600"/>
          </a:xfrm>
          <a:prstGeom prst="ellipse">
            <a:avLst/>
          </a:prstGeom>
          <a:solidFill>
            <a:srgbClr val="E7F4F1"/>
          </a:solidFill>
          <a:ln w="19050">
            <a:solidFill>
              <a:srgbClr val="087F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637776" y="3493008"/>
            <a:ext cx="228600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9" name="Oval 58"/>
          <p:cNvSpPr/>
          <p:nvPr/>
        </p:nvSpPr>
        <p:spPr>
          <a:xfrm>
            <a:off x="10268712" y="3493008"/>
            <a:ext cx="228600" cy="228600"/>
          </a:xfrm>
          <a:prstGeom prst="ellipse">
            <a:avLst/>
          </a:prstGeom>
          <a:solidFill>
            <a:srgbClr val="E7F4F1"/>
          </a:solidFill>
          <a:ln w="19050">
            <a:solidFill>
              <a:srgbClr val="087F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268712" y="3493008"/>
            <a:ext cx="228600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1" name="Oval 60"/>
          <p:cNvSpPr/>
          <p:nvPr/>
        </p:nvSpPr>
        <p:spPr>
          <a:xfrm>
            <a:off x="7744968" y="3886200"/>
            <a:ext cx="228600" cy="228600"/>
          </a:xfrm>
          <a:prstGeom prst="ellipse">
            <a:avLst/>
          </a:prstGeom>
          <a:solidFill>
            <a:srgbClr val="E7F4F1"/>
          </a:solidFill>
          <a:ln w="19050">
            <a:solidFill>
              <a:srgbClr val="087F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744968" y="3886200"/>
            <a:ext cx="228600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3" name="Oval 62"/>
          <p:cNvSpPr/>
          <p:nvPr/>
        </p:nvSpPr>
        <p:spPr>
          <a:xfrm>
            <a:off x="8375904" y="3886200"/>
            <a:ext cx="228600" cy="228600"/>
          </a:xfrm>
          <a:prstGeom prst="ellipse">
            <a:avLst/>
          </a:prstGeom>
          <a:solidFill>
            <a:srgbClr val="E7F4F1"/>
          </a:solidFill>
          <a:ln w="19050">
            <a:solidFill>
              <a:srgbClr val="087F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375904" y="3886200"/>
            <a:ext cx="228600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5" name="Oval 64"/>
          <p:cNvSpPr/>
          <p:nvPr/>
        </p:nvSpPr>
        <p:spPr>
          <a:xfrm>
            <a:off x="9006840" y="3886200"/>
            <a:ext cx="228600" cy="228600"/>
          </a:xfrm>
          <a:prstGeom prst="ellipse">
            <a:avLst/>
          </a:prstGeom>
          <a:solidFill>
            <a:srgbClr val="E7F4F1"/>
          </a:solidFill>
          <a:ln w="19050">
            <a:solidFill>
              <a:srgbClr val="087F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006840" y="3886200"/>
            <a:ext cx="228600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7" name="Oval 66"/>
          <p:cNvSpPr/>
          <p:nvPr/>
        </p:nvSpPr>
        <p:spPr>
          <a:xfrm>
            <a:off x="9637776" y="3886200"/>
            <a:ext cx="228600" cy="228600"/>
          </a:xfrm>
          <a:prstGeom prst="ellipse">
            <a:avLst/>
          </a:prstGeom>
          <a:solidFill>
            <a:srgbClr val="E7F4F1"/>
          </a:solidFill>
          <a:ln w="19050">
            <a:solidFill>
              <a:srgbClr val="087F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637776" y="3886200"/>
            <a:ext cx="228600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9" name="Oval 68"/>
          <p:cNvSpPr/>
          <p:nvPr/>
        </p:nvSpPr>
        <p:spPr>
          <a:xfrm>
            <a:off x="10268712" y="3886200"/>
            <a:ext cx="228600" cy="228600"/>
          </a:xfrm>
          <a:prstGeom prst="ellipse">
            <a:avLst/>
          </a:prstGeom>
          <a:solidFill>
            <a:srgbClr val="E7F4F1"/>
          </a:solidFill>
          <a:ln w="19050">
            <a:solidFill>
              <a:srgbClr val="087F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0268712" y="3886200"/>
            <a:ext cx="228600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1" name="Oval 70"/>
          <p:cNvSpPr/>
          <p:nvPr/>
        </p:nvSpPr>
        <p:spPr>
          <a:xfrm>
            <a:off x="7744968" y="4279392"/>
            <a:ext cx="228600" cy="228600"/>
          </a:xfrm>
          <a:prstGeom prst="ellipse">
            <a:avLst/>
          </a:prstGeom>
          <a:solidFill>
            <a:srgbClr val="E7F4F1"/>
          </a:solidFill>
          <a:ln w="19050">
            <a:solidFill>
              <a:srgbClr val="087F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744968" y="4279392"/>
            <a:ext cx="228600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3" name="Oval 72"/>
          <p:cNvSpPr/>
          <p:nvPr/>
        </p:nvSpPr>
        <p:spPr>
          <a:xfrm>
            <a:off x="8375904" y="4279392"/>
            <a:ext cx="228600" cy="228600"/>
          </a:xfrm>
          <a:prstGeom prst="ellipse">
            <a:avLst/>
          </a:prstGeom>
          <a:solidFill>
            <a:srgbClr val="E7F4F1"/>
          </a:solidFill>
          <a:ln w="19050">
            <a:solidFill>
              <a:srgbClr val="087F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375904" y="4279392"/>
            <a:ext cx="228600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5" name="Oval 74"/>
          <p:cNvSpPr/>
          <p:nvPr/>
        </p:nvSpPr>
        <p:spPr>
          <a:xfrm>
            <a:off x="9006840" y="4279392"/>
            <a:ext cx="228600" cy="228600"/>
          </a:xfrm>
          <a:prstGeom prst="ellipse">
            <a:avLst/>
          </a:prstGeom>
          <a:solidFill>
            <a:srgbClr val="E7F4F1"/>
          </a:solidFill>
          <a:ln w="19050">
            <a:solidFill>
              <a:srgbClr val="087F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006840" y="4279392"/>
            <a:ext cx="228600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7" name="Oval 76"/>
          <p:cNvSpPr/>
          <p:nvPr/>
        </p:nvSpPr>
        <p:spPr>
          <a:xfrm>
            <a:off x="9637776" y="4279392"/>
            <a:ext cx="228600" cy="228600"/>
          </a:xfrm>
          <a:prstGeom prst="ellipse">
            <a:avLst/>
          </a:prstGeom>
          <a:solidFill>
            <a:srgbClr val="E7F4F1"/>
          </a:solidFill>
          <a:ln w="19050">
            <a:solidFill>
              <a:srgbClr val="087F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637776" y="4279392"/>
            <a:ext cx="228600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9" name="Oval 78"/>
          <p:cNvSpPr/>
          <p:nvPr/>
        </p:nvSpPr>
        <p:spPr>
          <a:xfrm>
            <a:off x="10268712" y="4279392"/>
            <a:ext cx="228600" cy="228600"/>
          </a:xfrm>
          <a:prstGeom prst="ellipse">
            <a:avLst/>
          </a:prstGeom>
          <a:solidFill>
            <a:srgbClr val="E7F4F1"/>
          </a:solidFill>
          <a:ln w="19050">
            <a:solidFill>
              <a:srgbClr val="087F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0268712" y="4279392"/>
            <a:ext cx="228600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cxnSp>
        <p:nvCxnSpPr>
          <p:cNvPr id="81" name="Connector 80"/>
          <p:cNvCxnSpPr/>
          <p:nvPr/>
        </p:nvCxnSpPr>
        <p:spPr>
          <a:xfrm>
            <a:off x="5047488" y="3602736"/>
            <a:ext cx="1984248" cy="0"/>
          </a:xfrm>
          <a:prstGeom prst="line">
            <a:avLst/>
          </a:prstGeom>
          <a:ln w="31750">
            <a:solidFill>
              <a:srgbClr val="087F78"/>
            </a:solidFill>
            <a:tailEnd type="triangle" w="sm" len="sm"/>
          </a:ln>
          <a:effectLst/>
        </p:spPr>
      </p:cxnSp>
      <p:sp>
        <p:nvSpPr>
          <p:cNvPr id="82" name="TextBox 81"/>
          <p:cNvSpPr txBox="1"/>
          <p:nvPr/>
        </p:nvSpPr>
        <p:spPr>
          <a:xfrm>
            <a:off x="5010912" y="2734056"/>
            <a:ext cx="2084831" cy="79552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087F78"/>
                </a:solidFill>
                <a:latin typeface="Microsoft YaHei"/>
                <a:ea typeface="Microsoft YaHei"/>
              </a:rPr>
              <a:t>复用同一套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087F78"/>
                </a:solidFill>
                <a:latin typeface="Microsoft YaHei"/>
                <a:ea typeface="Microsoft YaHei"/>
              </a:rPr>
              <a:t>GNN参数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919472" y="3794760"/>
            <a:ext cx="2267712" cy="7315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253849"/>
                </a:solidFill>
                <a:latin typeface="Microsoft YaHei"/>
                <a:ea typeface="Microsoft YaHei"/>
              </a:rPr>
              <a:t>邻域聚合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253849"/>
                </a:solidFill>
                <a:latin typeface="Microsoft YaHei"/>
                <a:ea typeface="Microsoft YaHei"/>
              </a:rPr>
              <a:t>+ 共享分类器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21207" y="5605272"/>
            <a:ext cx="11137392" cy="539496"/>
          </a:xfrm>
          <a:prstGeom prst="rect">
            <a:avLst/>
          </a:prstGeom>
          <a:solidFill>
            <a:srgbClr val="FFF4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521207" y="5605272"/>
            <a:ext cx="50292" cy="539496"/>
          </a:xfrm>
          <a:prstGeom prst="rect">
            <a:avLst/>
          </a:prstGeom>
          <a:solidFill>
            <a:srgbClr val="AA65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13232" y="5664708"/>
            <a:ext cx="10744200" cy="42062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AA6524"/>
                </a:solidFill>
                <a:latin typeface="Microsoft YaHei"/>
                <a:ea typeface="Microsoft YaHei"/>
              </a:rPr>
              <a:t>结构上能处理不同规模，不等于对任意模型、拓扑和数据分布都有保证。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087F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4892040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47585"/>
                </a:solidFill>
                <a:latin typeface="Microsoft YaHei"/>
                <a:ea typeface="Microsoft YaHei"/>
              </a:rPr>
              <a:t>G-Safeguard  /  方班研讨厅文献研读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10528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背景与问题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方法原理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25712" y="210312"/>
            <a:ext cx="1197864" cy="274320"/>
          </a:xfrm>
          <a:prstGeom prst="roundRect">
            <a:avLst>
              <a:gd name="adj" fmla="val 12000"/>
            </a:avLst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80576" y="210312"/>
            <a:ext cx="1088136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1">
                <a:solidFill>
                  <a:srgbClr val="087F78"/>
                </a:solidFill>
                <a:latin typeface="Microsoft YaHei"/>
                <a:ea typeface="Microsoft YaHei"/>
              </a:rPr>
              <a:t>实验验证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3304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总结思辨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758952"/>
            <a:ext cx="11109960" cy="6217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50" b="1">
                <a:solidFill>
                  <a:srgbClr val="15314D"/>
                </a:solidFill>
                <a:latin typeface="Microsoft YaHei"/>
                <a:ea typeface="Microsoft YaHei"/>
              </a:rPr>
              <a:t>实验先看设置，再分清三个不同指标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0352" y="6336792"/>
            <a:ext cx="11128248" cy="0"/>
          </a:xfrm>
          <a:prstGeom prst="line">
            <a:avLst/>
          </a:prstGeom>
          <a:ln w="8255">
            <a:solidFill>
              <a:srgbClr val="DCE4EB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0972800" y="6457168"/>
            <a:ext cx="713232" cy="161583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 dirty="0">
                <a:solidFill>
                  <a:srgbClr val="087F78"/>
                </a:solidFill>
                <a:latin typeface="Microsoft YaHei"/>
                <a:ea typeface="Microsoft YaHei"/>
              </a:rPr>
              <a:t>12 / </a:t>
            </a:r>
            <a:r>
              <a:rPr lang="en-US" altLang="zh-CN" sz="1050" b="1" dirty="0">
                <a:solidFill>
                  <a:srgbClr val="087F78"/>
                </a:solidFill>
                <a:latin typeface="Microsoft YaHei"/>
                <a:ea typeface="Microsoft YaHei"/>
              </a:rPr>
              <a:t>19</a:t>
            </a:r>
            <a:endParaRPr lang="zh-CN" sz="1050" b="1" dirty="0">
              <a:solidFill>
                <a:srgbClr val="087F78"/>
              </a:solidFill>
              <a:latin typeface="Microsoft YaHei"/>
              <a:ea typeface="Microsoft YaHe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9808" y="1764792"/>
            <a:ext cx="5486400" cy="37490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15314D"/>
                </a:solidFill>
                <a:latin typeface="Microsoft YaHei"/>
                <a:ea typeface="Microsoft YaHei"/>
              </a:rPr>
              <a:t>实验范围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" y="2331720"/>
            <a:ext cx="5532120" cy="539496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" y="2423160"/>
            <a:ext cx="1143000" cy="43891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087F78"/>
                </a:solidFill>
                <a:latin typeface="Microsoft YaHei"/>
                <a:ea typeface="Microsoft YaHei"/>
              </a:rPr>
              <a:t>主实验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66543" y="2418588"/>
            <a:ext cx="3941063" cy="44805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60" b="0">
                <a:solidFill>
                  <a:srgbClr val="253849"/>
                </a:solidFill>
                <a:latin typeface="Microsoft YaHei"/>
                <a:ea typeface="Microsoft YaHei"/>
              </a:rPr>
              <a:t>8个Agent，3轮对话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" y="2903220"/>
            <a:ext cx="5532120" cy="5394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6" y="2994660"/>
            <a:ext cx="1143000" cy="43891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087F78"/>
                </a:solidFill>
                <a:latin typeface="Microsoft YaHei"/>
                <a:ea typeface="Microsoft YaHei"/>
              </a:rPr>
              <a:t>攻击类型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66543" y="2990088"/>
            <a:ext cx="3941063" cy="44805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60" b="0">
                <a:solidFill>
                  <a:srgbClr val="253849"/>
                </a:solidFill>
                <a:latin typeface="Microsoft YaHei"/>
                <a:ea typeface="Microsoft YaHei"/>
              </a:rPr>
              <a:t>提示注入 / 工具攻击 / 记忆攻击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" y="3474720"/>
            <a:ext cx="5532120" cy="832104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9536" y="3566160"/>
            <a:ext cx="1143000" cy="7315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087F78"/>
                </a:solidFill>
                <a:latin typeface="Microsoft YaHei"/>
                <a:ea typeface="Microsoft YaHei"/>
              </a:rPr>
              <a:t>数据集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66543" y="3561588"/>
            <a:ext cx="3941063" cy="74066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60" b="0">
                <a:solidFill>
                  <a:srgbClr val="253849"/>
                </a:solidFill>
                <a:latin typeface="Microsoft YaHei"/>
                <a:ea typeface="Microsoft YaHei"/>
              </a:rPr>
              <a:t>CSQA、MMLU、GSM8K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60" b="0">
                <a:solidFill>
                  <a:srgbClr val="253849"/>
                </a:solidFill>
                <a:latin typeface="Microsoft YaHei"/>
                <a:ea typeface="Microsoft YaHei"/>
              </a:rPr>
              <a:t>InjecAgent、PoisonRAG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" y="4338828"/>
            <a:ext cx="5532120" cy="5394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9536" y="4430268"/>
            <a:ext cx="1143000" cy="43891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087F78"/>
                </a:solidFill>
                <a:latin typeface="Microsoft YaHei"/>
                <a:ea typeface="Microsoft YaHei"/>
              </a:rPr>
              <a:t>通信拓扑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66543" y="4425696"/>
            <a:ext cx="3941063" cy="44805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60" b="0">
                <a:solidFill>
                  <a:srgbClr val="253849"/>
                </a:solidFill>
                <a:latin typeface="Microsoft YaHei"/>
                <a:ea typeface="Microsoft YaHei"/>
              </a:rPr>
              <a:t>链式 / 树形 / 星形 / 随机图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" y="4910328"/>
            <a:ext cx="5532120" cy="832104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9536" y="5001768"/>
            <a:ext cx="1143000" cy="7315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087F78"/>
                </a:solidFill>
                <a:latin typeface="Microsoft YaHei"/>
                <a:ea typeface="Microsoft YaHei"/>
              </a:rPr>
              <a:t>基础模型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66543" y="4997196"/>
            <a:ext cx="3941063" cy="74066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60" b="0">
                <a:solidFill>
                  <a:srgbClr val="253849"/>
                </a:solidFill>
                <a:latin typeface="Microsoft YaHei"/>
                <a:ea typeface="Microsoft YaHei"/>
              </a:rPr>
              <a:t>GPT-4o-mini、GPT-4o、Llama-3.1-70B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60" b="0">
                <a:solidFill>
                  <a:srgbClr val="253849"/>
                </a:solidFill>
                <a:latin typeface="Microsoft YaHei"/>
                <a:ea typeface="Microsoft YaHei"/>
              </a:rPr>
              <a:t>Claude-3.5-Haiku、DeepSeek-V3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19672" y="1938528"/>
            <a:ext cx="4937760" cy="1097280"/>
          </a:xfrm>
          <a:prstGeom prst="rect">
            <a:avLst/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11696" y="2039112"/>
            <a:ext cx="4544568" cy="34747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50" b="1">
                <a:solidFill>
                  <a:srgbClr val="087F78"/>
                </a:solidFill>
                <a:latin typeface="Microsoft YaHei"/>
                <a:ea typeface="Microsoft YaHei"/>
              </a:rPr>
              <a:t>ASR：攻击成功率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11696" y="2459736"/>
            <a:ext cx="4544568" cy="53035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>
                <a:solidFill>
                  <a:srgbClr val="253849"/>
                </a:solidFill>
                <a:latin typeface="Microsoft YaHei"/>
                <a:ea typeface="Microsoft YaHei"/>
              </a:rPr>
              <a:t>本文指表现恶意或错误行为的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>
                <a:solidFill>
                  <a:srgbClr val="253849"/>
                </a:solidFill>
                <a:latin typeface="Microsoft YaHei"/>
                <a:ea typeface="Microsoft YaHei"/>
              </a:rPr>
              <a:t>Agent比例。越低越好。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19672" y="3191256"/>
            <a:ext cx="4937760" cy="1097280"/>
          </a:xfrm>
          <a:prstGeom prst="rect">
            <a:avLst/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11696" y="3291840"/>
            <a:ext cx="4544568" cy="34747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50" b="1">
                <a:solidFill>
                  <a:srgbClr val="087F78"/>
                </a:solidFill>
                <a:latin typeface="Microsoft YaHei"/>
                <a:ea typeface="Microsoft YaHei"/>
              </a:rPr>
              <a:t>答题准确率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11696" y="3712464"/>
            <a:ext cx="4544568" cy="53035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>
                <a:solidFill>
                  <a:srgbClr val="253849"/>
                </a:solidFill>
                <a:latin typeface="Microsoft YaHei"/>
                <a:ea typeface="Microsoft YaHei"/>
              </a:rPr>
              <a:t>图3使用多数投票得到最终答案，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>
                <a:solidFill>
                  <a:srgbClr val="253849"/>
                </a:solidFill>
                <a:latin typeface="Microsoft YaHei"/>
                <a:ea typeface="Microsoft YaHei"/>
              </a:rPr>
              <a:t>衡量任务是否答对。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19672" y="4453128"/>
            <a:ext cx="4937760" cy="1097280"/>
          </a:xfrm>
          <a:prstGeom prst="rect">
            <a:avLst/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11696" y="4553712"/>
            <a:ext cx="4544568" cy="34747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50" b="1">
                <a:solidFill>
                  <a:srgbClr val="087F78"/>
                </a:solidFill>
                <a:latin typeface="Microsoft YaHei"/>
                <a:ea typeface="Microsoft YaHei"/>
              </a:rPr>
              <a:t>攻击者识别准确率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11696" y="4974336"/>
            <a:ext cx="4544568" cy="53035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>
                <a:solidFill>
                  <a:srgbClr val="253849"/>
                </a:solidFill>
                <a:latin typeface="Microsoft YaHei"/>
                <a:ea typeface="Microsoft YaHei"/>
              </a:rPr>
              <a:t>衡量防护器定位攻击者的能力，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>
                <a:solidFill>
                  <a:srgbClr val="253849"/>
                </a:solidFill>
                <a:latin typeface="Microsoft YaHei"/>
                <a:ea typeface="Microsoft YaHei"/>
              </a:rPr>
              <a:t>不等于最终任务准确率。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087F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4892040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47585"/>
                </a:solidFill>
                <a:latin typeface="Microsoft YaHei"/>
                <a:ea typeface="Microsoft YaHei"/>
              </a:rPr>
              <a:t>G-Safeguard  /  方班研讨厅文献研读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10528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背景与问题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方法原理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25712" y="210312"/>
            <a:ext cx="1197864" cy="274320"/>
          </a:xfrm>
          <a:prstGeom prst="roundRect">
            <a:avLst>
              <a:gd name="adj" fmla="val 12000"/>
            </a:avLst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80576" y="210312"/>
            <a:ext cx="1088136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1">
                <a:solidFill>
                  <a:srgbClr val="087F78"/>
                </a:solidFill>
                <a:latin typeface="Microsoft YaHei"/>
                <a:ea typeface="Microsoft YaHei"/>
              </a:rPr>
              <a:t>实验验证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3304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总结思辨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758952"/>
            <a:ext cx="11109960" cy="6217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50" b="1">
                <a:solidFill>
                  <a:srgbClr val="15314D"/>
                </a:solidFill>
                <a:latin typeface="Microsoft YaHei"/>
                <a:ea typeface="Microsoft YaHei"/>
              </a:rPr>
              <a:t>证据一：有防护时，多轮讨论的答题退化较轻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0352" y="6336792"/>
            <a:ext cx="11128248" cy="0"/>
          </a:xfrm>
          <a:prstGeom prst="line">
            <a:avLst/>
          </a:prstGeom>
          <a:ln w="8255">
            <a:solidFill>
              <a:srgbClr val="DCE4EB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0972800" y="6457168"/>
            <a:ext cx="713232" cy="161583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 dirty="0">
                <a:solidFill>
                  <a:srgbClr val="087F78"/>
                </a:solidFill>
                <a:latin typeface="Microsoft YaHei"/>
                <a:ea typeface="Microsoft YaHei"/>
              </a:rPr>
              <a:t>13 / </a:t>
            </a:r>
            <a:r>
              <a:rPr lang="en-US" altLang="zh-CN" sz="1050" b="1" dirty="0">
                <a:solidFill>
                  <a:srgbClr val="087F78"/>
                </a:solidFill>
                <a:latin typeface="Microsoft YaHei"/>
                <a:ea typeface="Microsoft YaHei"/>
              </a:rPr>
              <a:t>19</a:t>
            </a:r>
            <a:endParaRPr lang="zh-CN" sz="1050" b="1" dirty="0">
              <a:solidFill>
                <a:srgbClr val="087F78"/>
              </a:solidFill>
              <a:latin typeface="Microsoft YaHei"/>
              <a:ea typeface="Microsoft YaHe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00200" y="1444752"/>
            <a:ext cx="251460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1">
                <a:solidFill>
                  <a:srgbClr val="087F78"/>
                </a:solidFill>
                <a:latin typeface="Arial"/>
                <a:ea typeface="Microsoft YaHei"/>
              </a:rPr>
              <a:t>CSQA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444752"/>
            <a:ext cx="251460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1">
                <a:solidFill>
                  <a:srgbClr val="087F78"/>
                </a:solidFill>
                <a:latin typeface="Arial"/>
                <a:ea typeface="Microsoft YaHei"/>
              </a:rPr>
              <a:t>MMLU</a:t>
            </a:r>
          </a:p>
        </p:txBody>
      </p:sp>
      <p:pic>
        <p:nvPicPr>
          <p:cNvPr id="15" name="Picture 14" descr="figur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378" y="1746504"/>
            <a:ext cx="5777179" cy="4443984"/>
          </a:xfrm>
          <a:prstGeom prst="rect">
            <a:avLst/>
          </a:prstGeom>
          <a:effectLst/>
        </p:spPr>
      </p:pic>
      <p:sp>
        <p:nvSpPr>
          <p:cNvPr id="16" name="Rectangle 15"/>
          <p:cNvSpPr/>
          <p:nvPr/>
        </p:nvSpPr>
        <p:spPr>
          <a:xfrm>
            <a:off x="8275320" y="1874519"/>
            <a:ext cx="3154680" cy="1316736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75320" y="1874519"/>
            <a:ext cx="45720" cy="1316736"/>
          </a:xfrm>
          <a:prstGeom prst="rect">
            <a:avLst/>
          </a:prstGeom>
          <a:solidFill>
            <a:srgbClr val="087F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76488" y="1993391"/>
            <a:ext cx="2761488" cy="3931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087F78"/>
                </a:solidFill>
                <a:latin typeface="Microsoft YaHei"/>
                <a:ea typeface="Microsoft YaHei"/>
              </a:rPr>
              <a:t>怎么读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6488" y="2468879"/>
            <a:ext cx="2761488" cy="63093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>
                <a:solidFill>
                  <a:srgbClr val="253849"/>
                </a:solidFill>
                <a:latin typeface="Microsoft YaHei"/>
                <a:ea typeface="Microsoft YaHei"/>
              </a:rPr>
              <a:t>横轴：对话轮数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>
                <a:solidFill>
                  <a:srgbClr val="253849"/>
                </a:solidFill>
                <a:latin typeface="Microsoft YaHei"/>
                <a:ea typeface="Microsoft YaHei"/>
              </a:rPr>
              <a:t>纵轴：答题准确率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20" y="3364992"/>
            <a:ext cx="3154680" cy="1335024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75320" y="3364992"/>
            <a:ext cx="45720" cy="1335024"/>
          </a:xfrm>
          <a:prstGeom prst="rect">
            <a:avLst/>
          </a:prstGeom>
          <a:solidFill>
            <a:srgbClr val="087F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76488" y="3483864"/>
            <a:ext cx="2761488" cy="3931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087F78"/>
                </a:solidFill>
                <a:latin typeface="Microsoft YaHei"/>
                <a:ea typeface="Microsoft YaHei"/>
              </a:rPr>
              <a:t>比较什么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6488" y="3959352"/>
            <a:ext cx="2761488" cy="64922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>
                <a:solidFill>
                  <a:srgbClr val="253849"/>
                </a:solidFill>
                <a:latin typeface="Microsoft YaHei"/>
                <a:ea typeface="Microsoft YaHei"/>
              </a:rPr>
              <a:t>同色、同符号配对比较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>
                <a:solidFill>
                  <a:srgbClr val="253849"/>
                </a:solidFill>
                <a:latin typeface="Microsoft YaHei"/>
                <a:ea typeface="Microsoft YaHei"/>
              </a:rPr>
              <a:t>有防护与无防护。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75320" y="4873752"/>
            <a:ext cx="3154680" cy="1243584"/>
          </a:xfrm>
          <a:prstGeom prst="rect">
            <a:avLst/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85632" y="5010912"/>
            <a:ext cx="2743200" cy="103327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10" b="1">
                <a:solidFill>
                  <a:srgbClr val="087F78"/>
                </a:solidFill>
                <a:latin typeface="Microsoft YaHei"/>
                <a:ea typeface="Microsoft YaHei"/>
              </a:rPr>
              <a:t>支持：防护缓解退化。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10" b="1">
                <a:solidFill>
                  <a:srgbClr val="087F78"/>
                </a:solidFill>
                <a:latin typeface="Microsoft YaHei"/>
                <a:ea typeface="Microsoft YaHei"/>
              </a:rPr>
              <a:t>不支持：所有条件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10" b="1">
                <a:solidFill>
                  <a:srgbClr val="087F78"/>
                </a:solidFill>
                <a:latin typeface="Microsoft YaHei"/>
                <a:ea typeface="Microsoft YaHei"/>
              </a:rPr>
              <a:t>都必然改善。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087F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4892040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47585"/>
                </a:solidFill>
                <a:latin typeface="Microsoft YaHei"/>
                <a:ea typeface="Microsoft YaHei"/>
              </a:rPr>
              <a:t>G-Safeguard  /  方班研讨厅文献研读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10528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背景与问题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方法原理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25712" y="210312"/>
            <a:ext cx="1197864" cy="274320"/>
          </a:xfrm>
          <a:prstGeom prst="roundRect">
            <a:avLst>
              <a:gd name="adj" fmla="val 12000"/>
            </a:avLst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80576" y="210312"/>
            <a:ext cx="1088136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1">
                <a:solidFill>
                  <a:srgbClr val="087F78"/>
                </a:solidFill>
                <a:latin typeface="Microsoft YaHei"/>
                <a:ea typeface="Microsoft YaHei"/>
              </a:rPr>
              <a:t>实验验证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3304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总结思辨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758952"/>
            <a:ext cx="11109960" cy="6217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50" b="1">
                <a:solidFill>
                  <a:srgbClr val="15314D"/>
                </a:solidFill>
                <a:latin typeface="Microsoft YaHei"/>
                <a:ea typeface="Microsoft YaHei"/>
              </a:rPr>
              <a:t>不是所有设置都改善：提升与失败案例要同时看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435608"/>
            <a:ext cx="10972800" cy="33832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647585"/>
                </a:solidFill>
                <a:latin typeface="Microsoft YaHei"/>
                <a:ea typeface="Microsoft YaHei"/>
              </a:rPr>
              <a:t>以下比较的是同一模型、同一拓扑下，第3轮的Agent级ASR。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0352" y="6336792"/>
            <a:ext cx="11128248" cy="0"/>
          </a:xfrm>
          <a:prstGeom prst="line">
            <a:avLst/>
          </a:prstGeom>
          <a:ln w="8255">
            <a:solidFill>
              <a:srgbClr val="DCE4EB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10972800" y="6457168"/>
            <a:ext cx="713232" cy="161583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 dirty="0">
                <a:solidFill>
                  <a:srgbClr val="087F78"/>
                </a:solidFill>
                <a:latin typeface="Microsoft YaHei"/>
                <a:ea typeface="Microsoft YaHei"/>
              </a:rPr>
              <a:t>14 / </a:t>
            </a:r>
            <a:r>
              <a:rPr lang="en-US" altLang="zh-CN" sz="1050" b="1" dirty="0">
                <a:solidFill>
                  <a:srgbClr val="087F78"/>
                </a:solidFill>
                <a:latin typeface="Microsoft YaHei"/>
                <a:ea typeface="Microsoft YaHei"/>
              </a:rPr>
              <a:t>19</a:t>
            </a:r>
            <a:endParaRPr lang="zh-CN" sz="1050" b="1" dirty="0">
              <a:solidFill>
                <a:srgbClr val="087F78"/>
              </a:solidFill>
              <a:latin typeface="Microsoft YaHei"/>
              <a:ea typeface="Microsoft YaHe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04088" y="2011680"/>
            <a:ext cx="1856231" cy="539496"/>
          </a:xfrm>
          <a:prstGeom prst="rect">
            <a:avLst/>
          </a:prstGeom>
          <a:solidFill>
            <a:srgbClr val="1531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084831"/>
            <a:ext cx="1709928" cy="39319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1">
                <a:solidFill>
                  <a:srgbClr val="FFFFFF"/>
                </a:solidFill>
                <a:latin typeface="Microsoft YaHei"/>
                <a:ea typeface="Microsoft YaHei"/>
              </a:rPr>
              <a:t>攻击 / 数据集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2011680"/>
            <a:ext cx="3557016" cy="539496"/>
          </a:xfrm>
          <a:prstGeom prst="rect">
            <a:avLst/>
          </a:prstGeom>
          <a:solidFill>
            <a:srgbClr val="1531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33472" y="2084831"/>
            <a:ext cx="3410712" cy="39319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1">
                <a:solidFill>
                  <a:srgbClr val="FFFFFF"/>
                </a:solidFill>
                <a:latin typeface="Microsoft YaHei"/>
                <a:ea typeface="Microsoft YaHei"/>
              </a:rPr>
              <a:t>模型 / 拓扑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17336" y="2011680"/>
            <a:ext cx="1773936" cy="539496"/>
          </a:xfrm>
          <a:prstGeom prst="rect">
            <a:avLst/>
          </a:prstGeom>
          <a:solidFill>
            <a:srgbClr val="1531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90488" y="2084831"/>
            <a:ext cx="1627632" cy="39319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1">
                <a:solidFill>
                  <a:srgbClr val="FFFFFF"/>
                </a:solidFill>
                <a:latin typeface="Microsoft YaHei"/>
                <a:ea typeface="Microsoft YaHei"/>
              </a:rPr>
              <a:t>无防护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91272" y="2011680"/>
            <a:ext cx="1810512" cy="539496"/>
          </a:xfrm>
          <a:prstGeom prst="rect">
            <a:avLst/>
          </a:prstGeom>
          <a:solidFill>
            <a:srgbClr val="1531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64424" y="2084831"/>
            <a:ext cx="1664208" cy="39319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1">
                <a:solidFill>
                  <a:srgbClr val="FFFFFF"/>
                </a:solidFill>
                <a:latin typeface="Microsoft YaHei"/>
                <a:ea typeface="Microsoft YaHei"/>
              </a:rPr>
              <a:t>有防护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01784" y="2011680"/>
            <a:ext cx="1755648" cy="539496"/>
          </a:xfrm>
          <a:prstGeom prst="rect">
            <a:avLst/>
          </a:prstGeom>
          <a:solidFill>
            <a:srgbClr val="1531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74936" y="2084831"/>
            <a:ext cx="1609344" cy="39319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1">
                <a:solidFill>
                  <a:srgbClr val="FFFFFF"/>
                </a:solidFill>
                <a:latin typeface="Microsoft YaHei"/>
                <a:ea typeface="Microsoft YaHei"/>
              </a:rPr>
              <a:t>ASR变化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8" y="2578608"/>
            <a:ext cx="1856231" cy="813816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560320" y="2578608"/>
            <a:ext cx="3557016" cy="813816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17336" y="2578608"/>
            <a:ext cx="1773936" cy="813816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891272" y="2578608"/>
            <a:ext cx="1810512" cy="813816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701784" y="2578608"/>
            <a:ext cx="1755648" cy="813816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3816" y="2706624"/>
            <a:ext cx="1636775" cy="58521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70" b="0">
                <a:solidFill>
                  <a:srgbClr val="253849"/>
                </a:solidFill>
                <a:latin typeface="Microsoft YaHei"/>
                <a:ea typeface="Microsoft YaHei"/>
              </a:rPr>
              <a:t>提示注入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70" b="0">
                <a:solidFill>
                  <a:srgbClr val="253849"/>
                </a:solidFill>
                <a:latin typeface="Microsoft YaHei"/>
                <a:ea typeface="Microsoft YaHei"/>
              </a:rPr>
              <a:t>CSQA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88336" y="2697479"/>
            <a:ext cx="3300984" cy="59436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30" b="0">
                <a:solidFill>
                  <a:srgbClr val="253849"/>
                </a:solidFill>
                <a:latin typeface="Microsoft YaHei"/>
                <a:ea typeface="Microsoft YaHei"/>
              </a:rPr>
              <a:t>GPT-4o-mini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30" b="0">
                <a:solidFill>
                  <a:srgbClr val="253849"/>
                </a:solidFill>
                <a:latin typeface="Microsoft YaHei"/>
                <a:ea typeface="Microsoft YaHei"/>
              </a:rPr>
              <a:t>链式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3912" y="2761488"/>
            <a:ext cx="1700784" cy="46634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1">
                <a:solidFill>
                  <a:srgbClr val="253849"/>
                </a:solidFill>
                <a:latin typeface="Arial"/>
                <a:ea typeface="Microsoft YaHei"/>
              </a:rPr>
              <a:t>45.93%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27848" y="2761488"/>
            <a:ext cx="1737360" cy="46634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1">
                <a:solidFill>
                  <a:srgbClr val="253849"/>
                </a:solidFill>
                <a:latin typeface="Arial"/>
                <a:ea typeface="Microsoft YaHei"/>
              </a:rPr>
              <a:t>27.50%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74936" y="2679191"/>
            <a:ext cx="1609344" cy="34747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087F78"/>
                </a:solidFill>
                <a:latin typeface="Arial"/>
                <a:ea typeface="Microsoft YaHei"/>
              </a:rPr>
              <a:t>↓ 18.43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74936" y="3072384"/>
            <a:ext cx="1609344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>
                <a:solidFill>
                  <a:srgbClr val="087F78"/>
                </a:solidFill>
                <a:latin typeface="Microsoft YaHei"/>
                <a:ea typeface="Microsoft YaHei"/>
              </a:rPr>
              <a:t>个百分点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4088" y="3419856"/>
            <a:ext cx="1856231" cy="813816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560320" y="3419856"/>
            <a:ext cx="3557016" cy="813816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117336" y="3419856"/>
            <a:ext cx="1773936" cy="813816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891272" y="3419856"/>
            <a:ext cx="1810512" cy="813816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701784" y="3419856"/>
            <a:ext cx="1755648" cy="813816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3816" y="3547872"/>
            <a:ext cx="1636775" cy="58521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70" b="0">
                <a:solidFill>
                  <a:srgbClr val="253849"/>
                </a:solidFill>
                <a:latin typeface="Microsoft YaHei"/>
                <a:ea typeface="Microsoft YaHei"/>
              </a:rPr>
              <a:t>提示注入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70" b="0">
                <a:solidFill>
                  <a:srgbClr val="253849"/>
                </a:solidFill>
                <a:latin typeface="Microsoft YaHei"/>
                <a:ea typeface="Microsoft YaHei"/>
              </a:rPr>
              <a:t>CSQA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88336" y="3538727"/>
            <a:ext cx="3300984" cy="59436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30" b="0">
                <a:solidFill>
                  <a:srgbClr val="253849"/>
                </a:solidFill>
                <a:latin typeface="Microsoft YaHei"/>
                <a:ea typeface="Microsoft YaHei"/>
              </a:rPr>
              <a:t>DeepSeek-V3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30" b="0">
                <a:solidFill>
                  <a:srgbClr val="253849"/>
                </a:solidFill>
                <a:latin typeface="Microsoft YaHei"/>
                <a:ea typeface="Microsoft YaHei"/>
              </a:rPr>
              <a:t>星形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53912" y="3602736"/>
            <a:ext cx="1700784" cy="46634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1">
                <a:solidFill>
                  <a:srgbClr val="253849"/>
                </a:solidFill>
                <a:latin typeface="Arial"/>
                <a:ea typeface="Microsoft YaHei"/>
              </a:rPr>
              <a:t>74.37%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27848" y="3602736"/>
            <a:ext cx="1737360" cy="46634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1">
                <a:solidFill>
                  <a:srgbClr val="253849"/>
                </a:solidFill>
                <a:latin typeface="Arial"/>
                <a:ea typeface="Microsoft YaHei"/>
              </a:rPr>
              <a:t>29.06%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74936" y="3520439"/>
            <a:ext cx="1609344" cy="34747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087F78"/>
                </a:solidFill>
                <a:latin typeface="Arial"/>
                <a:ea typeface="Microsoft YaHei"/>
              </a:rPr>
              <a:t>↓ 45.31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74936" y="3913631"/>
            <a:ext cx="1609344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>
                <a:solidFill>
                  <a:srgbClr val="087F78"/>
                </a:solidFill>
                <a:latin typeface="Microsoft YaHei"/>
                <a:ea typeface="Microsoft YaHei"/>
              </a:rPr>
              <a:t>个百分点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4088" y="4261104"/>
            <a:ext cx="1856231" cy="813816"/>
          </a:xfrm>
          <a:prstGeom prst="rect">
            <a:avLst/>
          </a:prstGeom>
          <a:solidFill>
            <a:srgbClr val="FFF4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2560320" y="4261104"/>
            <a:ext cx="3557016" cy="813816"/>
          </a:xfrm>
          <a:prstGeom prst="rect">
            <a:avLst/>
          </a:prstGeom>
          <a:solidFill>
            <a:srgbClr val="FFF4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117336" y="4261104"/>
            <a:ext cx="1773936" cy="813816"/>
          </a:xfrm>
          <a:prstGeom prst="rect">
            <a:avLst/>
          </a:prstGeom>
          <a:solidFill>
            <a:srgbClr val="FFF4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891272" y="4261104"/>
            <a:ext cx="1810512" cy="813816"/>
          </a:xfrm>
          <a:prstGeom prst="rect">
            <a:avLst/>
          </a:prstGeom>
          <a:solidFill>
            <a:srgbClr val="FFF4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701784" y="4261104"/>
            <a:ext cx="1755648" cy="813816"/>
          </a:xfrm>
          <a:prstGeom prst="rect">
            <a:avLst/>
          </a:prstGeom>
          <a:solidFill>
            <a:srgbClr val="FFF4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13816" y="4389120"/>
            <a:ext cx="1636775" cy="58521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70" b="0">
                <a:solidFill>
                  <a:srgbClr val="253849"/>
                </a:solidFill>
                <a:latin typeface="Microsoft YaHei"/>
                <a:ea typeface="Microsoft YaHei"/>
              </a:rPr>
              <a:t>工具攻击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70" b="0">
                <a:solidFill>
                  <a:srgbClr val="253849"/>
                </a:solidFill>
                <a:latin typeface="Microsoft YaHei"/>
                <a:ea typeface="Microsoft YaHei"/>
              </a:rPr>
              <a:t>InjecAgent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88336" y="4379976"/>
            <a:ext cx="3300984" cy="59436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30" b="0">
                <a:solidFill>
                  <a:srgbClr val="253849"/>
                </a:solidFill>
                <a:latin typeface="Microsoft YaHei"/>
                <a:ea typeface="Microsoft YaHei"/>
              </a:rPr>
              <a:t>Claude-3.5-Haiku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30" b="0">
                <a:solidFill>
                  <a:srgbClr val="253849"/>
                </a:solidFill>
                <a:latin typeface="Microsoft YaHei"/>
                <a:ea typeface="Microsoft YaHei"/>
              </a:rPr>
              <a:t>链式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53912" y="4443984"/>
            <a:ext cx="1700784" cy="46634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1">
                <a:solidFill>
                  <a:srgbClr val="253849"/>
                </a:solidFill>
                <a:latin typeface="Arial"/>
                <a:ea typeface="Microsoft YaHei"/>
              </a:rPr>
              <a:t>20.83%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27848" y="4443984"/>
            <a:ext cx="1737360" cy="46634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1">
                <a:solidFill>
                  <a:srgbClr val="253849"/>
                </a:solidFill>
                <a:latin typeface="Arial"/>
                <a:ea typeface="Microsoft YaHei"/>
              </a:rPr>
              <a:t>29.16%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74936" y="4361688"/>
            <a:ext cx="1609344" cy="34747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AF4144"/>
                </a:solidFill>
                <a:latin typeface="Arial"/>
                <a:ea typeface="Microsoft YaHei"/>
              </a:rPr>
              <a:t>↑ 8.33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74936" y="4754880"/>
            <a:ext cx="1609344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>
                <a:solidFill>
                  <a:srgbClr val="AF4144"/>
                </a:solidFill>
                <a:latin typeface="Microsoft YaHei"/>
                <a:ea typeface="Microsoft YaHei"/>
              </a:rPr>
              <a:t>个百分点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21207" y="5605272"/>
            <a:ext cx="11137392" cy="539496"/>
          </a:xfrm>
          <a:prstGeom prst="rect">
            <a:avLst/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21207" y="5605272"/>
            <a:ext cx="50292" cy="539496"/>
          </a:xfrm>
          <a:prstGeom prst="rect">
            <a:avLst/>
          </a:prstGeom>
          <a:solidFill>
            <a:srgbClr val="087F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13232" y="5664708"/>
            <a:ext cx="10744200" cy="42062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70" b="1">
                <a:solidFill>
                  <a:srgbClr val="087F78"/>
                </a:solidFill>
                <a:latin typeface="Microsoft YaHei"/>
                <a:ea typeface="Microsoft YaHei"/>
              </a:rPr>
              <a:t>结论应限定为：多种设置下有效，但效果受模型、攻击类型和拓扑影响。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087F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4892040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47585"/>
                </a:solidFill>
                <a:latin typeface="Microsoft YaHei"/>
                <a:ea typeface="Microsoft YaHei"/>
              </a:rPr>
              <a:t>G-Safeguard  /  方班研讨厅文献研读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10528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背景与问题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方法原理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25712" y="210312"/>
            <a:ext cx="1197864" cy="274320"/>
          </a:xfrm>
          <a:prstGeom prst="roundRect">
            <a:avLst>
              <a:gd name="adj" fmla="val 12000"/>
            </a:avLst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80576" y="210312"/>
            <a:ext cx="1088136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1">
                <a:solidFill>
                  <a:srgbClr val="087F78"/>
                </a:solidFill>
                <a:latin typeface="Microsoft YaHei"/>
                <a:ea typeface="Microsoft YaHei"/>
              </a:rPr>
              <a:t>实验验证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3304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总结思辨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758952"/>
            <a:ext cx="11109960" cy="6217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50" b="1">
                <a:solidFill>
                  <a:srgbClr val="15314D"/>
                </a:solidFill>
                <a:latin typeface="Microsoft YaHei"/>
                <a:ea typeface="Microsoft YaHei"/>
              </a:rPr>
              <a:t>证据二：8个Agent上训练，可直接迁移到更大系统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0352" y="6336792"/>
            <a:ext cx="11128248" cy="0"/>
          </a:xfrm>
          <a:prstGeom prst="line">
            <a:avLst/>
          </a:prstGeom>
          <a:ln w="8255">
            <a:solidFill>
              <a:srgbClr val="DCE4EB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0972800" y="6457168"/>
            <a:ext cx="713232" cy="161583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 dirty="0">
                <a:solidFill>
                  <a:srgbClr val="087F78"/>
                </a:solidFill>
                <a:latin typeface="Microsoft YaHei"/>
                <a:ea typeface="Microsoft YaHei"/>
              </a:rPr>
              <a:t>15 / </a:t>
            </a:r>
            <a:r>
              <a:rPr lang="en-US" altLang="zh-CN" sz="1050" b="1" dirty="0">
                <a:solidFill>
                  <a:srgbClr val="087F78"/>
                </a:solidFill>
                <a:latin typeface="Microsoft YaHei"/>
                <a:ea typeface="Microsoft YaHei"/>
              </a:rPr>
              <a:t>19</a:t>
            </a:r>
            <a:endParaRPr lang="zh-CN" sz="1050" b="1" dirty="0">
              <a:solidFill>
                <a:srgbClr val="087F78"/>
              </a:solidFill>
              <a:latin typeface="Microsoft YaHei"/>
              <a:ea typeface="Microsoft YaHei"/>
            </a:endParaRPr>
          </a:p>
        </p:txBody>
      </p:sp>
      <p:pic>
        <p:nvPicPr>
          <p:cNvPr id="13" name="Picture 12" descr="tabl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280848"/>
            <a:ext cx="7031736" cy="2927238"/>
          </a:xfrm>
          <a:prstGeom prst="rect">
            <a:avLst/>
          </a:prstGeom>
          <a:effectLst/>
        </p:spPr>
      </p:pic>
      <p:sp>
        <p:nvSpPr>
          <p:cNvPr id="14" name="TextBox 13"/>
          <p:cNvSpPr txBox="1"/>
          <p:nvPr/>
        </p:nvSpPr>
        <p:spPr>
          <a:xfrm>
            <a:off x="758952" y="1828800"/>
            <a:ext cx="6803136" cy="32918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20" b="0">
                <a:solidFill>
                  <a:srgbClr val="647585"/>
                </a:solidFill>
                <a:latin typeface="Microsoft YaHei"/>
                <a:ea typeface="Microsoft YaHei"/>
              </a:rPr>
              <a:t>原表2：不同规模、不同轮次的ASR（无防护 / 有防护）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5008" y="2121408"/>
            <a:ext cx="3355848" cy="3218688"/>
          </a:xfrm>
          <a:prstGeom prst="rect">
            <a:avLst/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4464" y="2350008"/>
            <a:ext cx="2907792" cy="43891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087F78"/>
                </a:solidFill>
                <a:latin typeface="Microsoft YaHei"/>
                <a:ea typeface="Microsoft YaHei"/>
              </a:rPr>
              <a:t>65个Agent · 第3轮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3081528"/>
            <a:ext cx="2862072" cy="56692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100" b="1">
                <a:solidFill>
                  <a:srgbClr val="253849"/>
                </a:solidFill>
                <a:latin typeface="Arial"/>
                <a:ea typeface="Microsoft YaHei"/>
              </a:rPr>
              <a:t>50.77%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3721608"/>
            <a:ext cx="2862072" cy="65836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800" b="1">
                <a:solidFill>
                  <a:srgbClr val="087F78"/>
                </a:solidFill>
                <a:latin typeface="Arial"/>
                <a:ea typeface="Microsoft YaHei"/>
              </a:rPr>
              <a:t>11.54%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5" y="4718304"/>
            <a:ext cx="2962656" cy="37490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1">
                <a:solidFill>
                  <a:srgbClr val="087F78"/>
                </a:solidFill>
                <a:latin typeface="Microsoft YaHei"/>
                <a:ea typeface="Microsoft YaHei"/>
              </a:rPr>
              <a:t>ASR下降39.23个百分点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385816"/>
            <a:ext cx="996696" cy="283464"/>
          </a:xfrm>
          <a:prstGeom prst="roundRect">
            <a:avLst>
              <a:gd name="adj" fmla="val 12000"/>
            </a:avLst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9264" y="5385816"/>
            <a:ext cx="886968" cy="28346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10" b="1">
                <a:solidFill>
                  <a:srgbClr val="087F78"/>
                </a:solidFill>
                <a:latin typeface="Microsoft YaHei"/>
                <a:ea typeface="Microsoft YaHei"/>
              </a:rPr>
              <a:t>20节点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94560" y="5385816"/>
            <a:ext cx="996696" cy="283464"/>
          </a:xfrm>
          <a:prstGeom prst="roundRect">
            <a:avLst>
              <a:gd name="adj" fmla="val 12000"/>
            </a:avLst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249424" y="5385816"/>
            <a:ext cx="886968" cy="28346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10" b="1">
                <a:solidFill>
                  <a:srgbClr val="087F78"/>
                </a:solidFill>
                <a:latin typeface="Microsoft YaHei"/>
                <a:ea typeface="Microsoft YaHei"/>
              </a:rPr>
              <a:t>35节点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5385816"/>
            <a:ext cx="996696" cy="283464"/>
          </a:xfrm>
          <a:prstGeom prst="roundRect">
            <a:avLst>
              <a:gd name="adj" fmla="val 12000"/>
            </a:avLst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29584" y="5385816"/>
            <a:ext cx="886968" cy="28346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10" b="1">
                <a:solidFill>
                  <a:srgbClr val="087F78"/>
                </a:solidFill>
                <a:latin typeface="Microsoft YaHei"/>
                <a:ea typeface="Microsoft YaHei"/>
              </a:rPr>
              <a:t>50节点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79" y="5385816"/>
            <a:ext cx="996696" cy="283464"/>
          </a:xfrm>
          <a:prstGeom prst="roundRect">
            <a:avLst>
              <a:gd name="adj" fmla="val 12000"/>
            </a:avLst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09743" y="5385816"/>
            <a:ext cx="886968" cy="28346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10" b="1">
                <a:solidFill>
                  <a:srgbClr val="087F78"/>
                </a:solidFill>
                <a:latin typeface="Microsoft YaHei"/>
                <a:ea typeface="Microsoft YaHei"/>
              </a:rPr>
              <a:t>65节点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0" y="5385816"/>
            <a:ext cx="996696" cy="283464"/>
          </a:xfrm>
          <a:prstGeom prst="roundRect">
            <a:avLst>
              <a:gd name="adj" fmla="val 12000"/>
            </a:avLst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89903" y="5385816"/>
            <a:ext cx="886968" cy="28346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10" b="1">
                <a:solidFill>
                  <a:srgbClr val="087F78"/>
                </a:solidFill>
                <a:latin typeface="Microsoft YaHei"/>
                <a:ea typeface="Microsoft YaHei"/>
              </a:rPr>
              <a:t>80节点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7" y="5605272"/>
            <a:ext cx="11137392" cy="539496"/>
          </a:xfrm>
          <a:prstGeom prst="rect">
            <a:avLst/>
          </a:prstGeom>
          <a:solidFill>
            <a:srgbClr val="FFF4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21207" y="5605272"/>
            <a:ext cx="50292" cy="539496"/>
          </a:xfrm>
          <a:prstGeom prst="rect">
            <a:avLst/>
          </a:prstGeom>
          <a:solidFill>
            <a:srgbClr val="AA65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3232" y="5664708"/>
            <a:ext cx="10744200" cy="42062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89" b="1">
                <a:solidFill>
                  <a:srgbClr val="AA6524"/>
                </a:solidFill>
                <a:latin typeface="Microsoft YaHei"/>
                <a:ea typeface="Microsoft YaHei"/>
              </a:rPr>
              <a:t>实证范围：20、35、50、65、80个Agent；不能直接外推到任意规模。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087F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4892040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47585"/>
                </a:solidFill>
                <a:latin typeface="Microsoft YaHei"/>
                <a:ea typeface="Microsoft YaHei"/>
              </a:rPr>
              <a:t>G-Safeguard  /  方班研讨厅文献研读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10528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背景与问题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方法原理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25712" y="210312"/>
            <a:ext cx="1197864" cy="274320"/>
          </a:xfrm>
          <a:prstGeom prst="roundRect">
            <a:avLst>
              <a:gd name="adj" fmla="val 12000"/>
            </a:avLst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80576" y="210312"/>
            <a:ext cx="1088136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1">
                <a:solidFill>
                  <a:srgbClr val="087F78"/>
                </a:solidFill>
                <a:latin typeface="Microsoft YaHei"/>
                <a:ea typeface="Microsoft YaHei"/>
              </a:rPr>
              <a:t>实验验证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3304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总结思辨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758952"/>
            <a:ext cx="11109960" cy="6217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50" b="1">
                <a:solidFill>
                  <a:srgbClr val="15314D"/>
                </a:solidFill>
                <a:latin typeface="Microsoft YaHei"/>
                <a:ea typeface="Microsoft YaHei"/>
              </a:rPr>
              <a:t>证据三：换基础模型与多角色场景，仍有识别能力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0352" y="6336792"/>
            <a:ext cx="11128248" cy="0"/>
          </a:xfrm>
          <a:prstGeom prst="line">
            <a:avLst/>
          </a:prstGeom>
          <a:ln w="8255">
            <a:solidFill>
              <a:srgbClr val="DCE4EB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0972800" y="6457168"/>
            <a:ext cx="713232" cy="161583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 dirty="0">
                <a:solidFill>
                  <a:srgbClr val="087F78"/>
                </a:solidFill>
                <a:latin typeface="Microsoft YaHei"/>
                <a:ea typeface="Microsoft YaHei"/>
              </a:rPr>
              <a:t>16 / </a:t>
            </a:r>
            <a:r>
              <a:rPr lang="en-US" altLang="zh-CN" sz="1050" b="1" dirty="0">
                <a:solidFill>
                  <a:srgbClr val="087F78"/>
                </a:solidFill>
                <a:latin typeface="Microsoft YaHei"/>
                <a:ea typeface="Microsoft YaHei"/>
              </a:rPr>
              <a:t>19</a:t>
            </a:r>
            <a:endParaRPr lang="zh-CN" sz="1050" b="1" dirty="0">
              <a:solidFill>
                <a:srgbClr val="087F78"/>
              </a:solidFill>
              <a:latin typeface="Microsoft YaHei"/>
              <a:ea typeface="Microsoft YaHe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4672" y="1819656"/>
            <a:ext cx="4901184" cy="402336"/>
          </a:xfrm>
          <a:prstGeom prst="roundRect">
            <a:avLst>
              <a:gd name="adj" fmla="val 12000"/>
            </a:avLst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" y="1819656"/>
            <a:ext cx="4791456" cy="40233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>
                <a:solidFill>
                  <a:srgbClr val="087F78"/>
                </a:solidFill>
                <a:latin typeface="Microsoft YaHei"/>
                <a:ea typeface="Microsoft YaHei"/>
              </a:rPr>
              <a:t>跨模型、跨拓扑：PoisonRAG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83096" y="1819656"/>
            <a:ext cx="4901184" cy="402336"/>
          </a:xfrm>
          <a:prstGeom prst="roundRect">
            <a:avLst>
              <a:gd name="adj" fmla="val 12000"/>
            </a:avLst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59" y="1819656"/>
            <a:ext cx="4791456" cy="40233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>
                <a:solidFill>
                  <a:srgbClr val="087F78"/>
                </a:solidFill>
                <a:latin typeface="Microsoft YaHei"/>
                <a:ea typeface="Microsoft YaHei"/>
              </a:rPr>
              <a:t>多角色：CAMEL问答场景</a:t>
            </a:r>
          </a:p>
        </p:txBody>
      </p:sp>
      <p:pic>
        <p:nvPicPr>
          <p:cNvPr id="17" name="Picture 16" descr="figur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752385"/>
            <a:ext cx="5148072" cy="1956733"/>
          </a:xfrm>
          <a:prstGeom prst="rect">
            <a:avLst/>
          </a:prstGeom>
          <a:effectLst/>
        </p:spPr>
      </p:pic>
      <p:pic>
        <p:nvPicPr>
          <p:cNvPr id="18" name="Picture 17" descr="figur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2450198"/>
            <a:ext cx="5175503" cy="2716554"/>
          </a:xfrm>
          <a:prstGeom prst="rect">
            <a:avLst/>
          </a:prstGeom>
          <a:effectLst/>
        </p:spPr>
      </p:pic>
      <p:sp>
        <p:nvSpPr>
          <p:cNvPr id="19" name="TextBox 18"/>
          <p:cNvSpPr txBox="1"/>
          <p:nvPr/>
        </p:nvSpPr>
        <p:spPr>
          <a:xfrm>
            <a:off x="877824" y="5102352"/>
            <a:ext cx="4837176" cy="60728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30" b="0" dirty="0">
                <a:solidFill>
                  <a:srgbClr val="253849"/>
                </a:solidFill>
                <a:latin typeface="Microsoft YaHei"/>
                <a:ea typeface="Microsoft YaHei"/>
              </a:rPr>
              <a:t>训练通信数据来自GPT-4o-mini。</a:t>
            </a:r>
          </a:p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30" b="0" dirty="0">
                <a:solidFill>
                  <a:srgbClr val="253849"/>
                </a:solidFill>
                <a:latin typeface="Microsoft YaHei"/>
                <a:ea typeface="Microsoft YaHei"/>
              </a:rPr>
              <a:t>评估迁移后的攻击者识别准确率。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5257800"/>
            <a:ext cx="4809744" cy="59445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0" b="0" dirty="0">
                <a:solidFill>
                  <a:srgbClr val="253849"/>
                </a:solidFill>
                <a:latin typeface="Microsoft YaHei"/>
                <a:ea typeface="Microsoft YaHei"/>
              </a:rPr>
              <a:t>识别准确率约80%–85.83%；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0" b="0" dirty="0">
                <a:solidFill>
                  <a:srgbClr val="253849"/>
                </a:solidFill>
                <a:latin typeface="Microsoft YaHei"/>
                <a:ea typeface="Microsoft YaHei"/>
              </a:rPr>
              <a:t>并非生产环境中的安全保证。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087F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4892040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47585"/>
                </a:solidFill>
                <a:latin typeface="Microsoft YaHei"/>
                <a:ea typeface="Microsoft YaHei"/>
              </a:rPr>
              <a:t>G-Safeguard  /  方班研讨厅文献研读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10528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背景与问题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方法原理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5712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实验验证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33304" y="210312"/>
            <a:ext cx="1197864" cy="274320"/>
          </a:xfrm>
          <a:prstGeom prst="roundRect">
            <a:avLst>
              <a:gd name="adj" fmla="val 12000"/>
            </a:avLst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488168" y="210312"/>
            <a:ext cx="1088136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1">
                <a:solidFill>
                  <a:srgbClr val="087F78"/>
                </a:solidFill>
                <a:latin typeface="Microsoft YaHei"/>
                <a:ea typeface="Microsoft YaHei"/>
              </a:rPr>
              <a:t>总结思辨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758952"/>
            <a:ext cx="11109960" cy="6217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50" b="1">
                <a:solidFill>
                  <a:srgbClr val="15314D"/>
                </a:solidFill>
                <a:latin typeface="Microsoft YaHei"/>
                <a:ea typeface="Microsoft YaHei"/>
              </a:rPr>
              <a:t>作者承认的局限：能限制后续传播，不能阻止首次受害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435608"/>
            <a:ext cx="10972800" cy="227563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dirty="0">
                <a:solidFill>
                  <a:srgbClr val="647585"/>
                </a:solidFill>
                <a:latin typeface="Microsoft YaHei"/>
                <a:ea typeface="Microsoft YaHei"/>
              </a:rPr>
              <a:t>先区分作者明确承认的局限，与</a:t>
            </a:r>
            <a:r>
              <a:rPr lang="zh-CN" altLang="en-US" sz="1500" dirty="0">
                <a:solidFill>
                  <a:srgbClr val="647585"/>
                </a:solidFill>
                <a:latin typeface="Microsoft YaHei"/>
                <a:ea typeface="Microsoft YaHei"/>
              </a:rPr>
              <a:t>本人</a:t>
            </a:r>
            <a:r>
              <a:rPr lang="zh-CN" sz="1500" b="0" dirty="0">
                <a:solidFill>
                  <a:srgbClr val="647585"/>
                </a:solidFill>
                <a:latin typeface="Microsoft YaHei"/>
                <a:ea typeface="Microsoft YaHei"/>
              </a:rPr>
              <a:t>的延伸思考。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0352" y="6336792"/>
            <a:ext cx="11128248" cy="0"/>
          </a:xfrm>
          <a:prstGeom prst="line">
            <a:avLst/>
          </a:prstGeom>
          <a:ln w="8255">
            <a:solidFill>
              <a:srgbClr val="DCE4EB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10972800" y="6457168"/>
            <a:ext cx="713232" cy="161583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 dirty="0">
                <a:solidFill>
                  <a:srgbClr val="087F78"/>
                </a:solidFill>
                <a:latin typeface="Microsoft YaHei"/>
                <a:ea typeface="Microsoft YaHei"/>
              </a:rPr>
              <a:t>17 / </a:t>
            </a:r>
            <a:r>
              <a:rPr lang="en-US" altLang="zh-CN" sz="1050" b="1" dirty="0">
                <a:solidFill>
                  <a:srgbClr val="087F78"/>
                </a:solidFill>
                <a:latin typeface="Microsoft YaHei"/>
                <a:ea typeface="Microsoft YaHei"/>
              </a:rPr>
              <a:t>19</a:t>
            </a:r>
            <a:endParaRPr lang="zh-CN" sz="1050" b="1" dirty="0">
              <a:solidFill>
                <a:srgbClr val="087F78"/>
              </a:solidFill>
              <a:latin typeface="Microsoft YaHei"/>
              <a:ea typeface="Microsoft YaHe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31520" y="2340864"/>
            <a:ext cx="2587752" cy="1042415"/>
          </a:xfrm>
          <a:prstGeom prst="rect">
            <a:avLst/>
          </a:prstGeom>
          <a:solidFill>
            <a:srgbClr val="FFF4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" y="2596896"/>
            <a:ext cx="2331720" cy="5029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AA6524"/>
                </a:solidFill>
                <a:latin typeface="Microsoft YaHei"/>
                <a:ea typeface="Microsoft YaHei"/>
              </a:rPr>
              <a:t>收到污染信息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55848" y="2862072"/>
            <a:ext cx="192024" cy="0"/>
          </a:xfrm>
          <a:prstGeom prst="line">
            <a:avLst/>
          </a:prstGeom>
          <a:ln w="22860">
            <a:solidFill>
              <a:srgbClr val="647585"/>
            </a:solidFill>
            <a:tailEnd type="triangle" w="sm" len="sm"/>
          </a:ln>
          <a:effectLst/>
        </p:spPr>
      </p:cxnSp>
      <p:sp>
        <p:nvSpPr>
          <p:cNvPr id="17" name="Rectangle 16"/>
          <p:cNvSpPr/>
          <p:nvPr/>
        </p:nvSpPr>
        <p:spPr>
          <a:xfrm>
            <a:off x="3584448" y="2340864"/>
            <a:ext cx="2587752" cy="1042415"/>
          </a:xfrm>
          <a:prstGeom prst="rect">
            <a:avLst/>
          </a:prstGeom>
          <a:solidFill>
            <a:srgbClr val="FFF4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12463" y="2596896"/>
            <a:ext cx="2331720" cy="5029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AA6524"/>
                </a:solidFill>
                <a:latin typeface="Microsoft YaHei"/>
                <a:ea typeface="Microsoft YaHei"/>
              </a:rPr>
              <a:t>完成本轮对话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08776" y="2862072"/>
            <a:ext cx="192024" cy="0"/>
          </a:xfrm>
          <a:prstGeom prst="line">
            <a:avLst/>
          </a:prstGeom>
          <a:ln w="22860">
            <a:solidFill>
              <a:srgbClr val="647585"/>
            </a:solidFill>
            <a:tailEnd type="triangle" w="sm" len="sm"/>
          </a:ln>
          <a:effectLst/>
        </p:spPr>
      </p:cxnSp>
      <p:sp>
        <p:nvSpPr>
          <p:cNvPr id="20" name="Rectangle 19"/>
          <p:cNvSpPr/>
          <p:nvPr/>
        </p:nvSpPr>
        <p:spPr>
          <a:xfrm>
            <a:off x="6437376" y="2340864"/>
            <a:ext cx="2587752" cy="1042415"/>
          </a:xfrm>
          <a:prstGeom prst="rect">
            <a:avLst/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65392" y="2596896"/>
            <a:ext cx="2331720" cy="5029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087F78"/>
                </a:solidFill>
                <a:latin typeface="Microsoft YaHei"/>
                <a:ea typeface="Microsoft YaHei"/>
              </a:rPr>
              <a:t>检测风险节点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61704" y="2862072"/>
            <a:ext cx="192024" cy="0"/>
          </a:xfrm>
          <a:prstGeom prst="line">
            <a:avLst/>
          </a:prstGeom>
          <a:ln w="22860">
            <a:solidFill>
              <a:srgbClr val="647585"/>
            </a:solidFill>
            <a:tailEnd type="triangle" w="sm" len="sm"/>
          </a:ln>
          <a:effectLst/>
        </p:spPr>
      </p:cxnSp>
      <p:sp>
        <p:nvSpPr>
          <p:cNvPr id="23" name="Rectangle 22"/>
          <p:cNvSpPr/>
          <p:nvPr/>
        </p:nvSpPr>
        <p:spPr>
          <a:xfrm>
            <a:off x="9290304" y="2340864"/>
            <a:ext cx="2587752" cy="1042415"/>
          </a:xfrm>
          <a:prstGeom prst="rect">
            <a:avLst/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18320" y="2596896"/>
            <a:ext cx="2331720" cy="5029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087F78"/>
                </a:solidFill>
                <a:latin typeface="Microsoft YaHei"/>
                <a:ea typeface="Microsoft YaHei"/>
              </a:rPr>
              <a:t>下一轮剪出边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50976" y="3721608"/>
            <a:ext cx="5010912" cy="0"/>
          </a:xfrm>
          <a:prstGeom prst="line">
            <a:avLst/>
          </a:prstGeom>
          <a:ln w="22860">
            <a:solidFill>
              <a:srgbClr val="AA6524"/>
            </a:solidFill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1078992" y="3831336"/>
            <a:ext cx="4663440" cy="43891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AA6524"/>
                </a:solidFill>
                <a:latin typeface="Microsoft YaHei"/>
                <a:ea typeface="Microsoft YaHei"/>
              </a:rPr>
              <a:t>这之前，部分节点可能已经被污染。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" y="4599432"/>
            <a:ext cx="5230368" cy="1207008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40664" y="4599432"/>
            <a:ext cx="45720" cy="1207008"/>
          </a:xfrm>
          <a:prstGeom prst="rect">
            <a:avLst/>
          </a:prstGeom>
          <a:solidFill>
            <a:srgbClr val="087F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41832" y="4718304"/>
            <a:ext cx="4837176" cy="3931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087F78"/>
                </a:solidFill>
                <a:latin typeface="Microsoft YaHei"/>
                <a:ea typeface="Microsoft YaHei"/>
              </a:rPr>
              <a:t>论文明确说明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" y="5193792"/>
            <a:ext cx="4837176" cy="52120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30" b="0">
                <a:solidFill>
                  <a:srgbClr val="253849"/>
                </a:solidFill>
                <a:latin typeface="Microsoft YaHei"/>
                <a:ea typeface="Microsoft YaHei"/>
              </a:rPr>
              <a:t>防护依赖通信记录，因此不能预先阻止入侵。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0488" y="4599432"/>
            <a:ext cx="5230368" cy="1207008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90488" y="4599432"/>
            <a:ext cx="45720" cy="1207008"/>
          </a:xfrm>
          <a:prstGeom prst="rect">
            <a:avLst/>
          </a:prstGeom>
          <a:solidFill>
            <a:srgbClr val="087F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91655" y="4718304"/>
            <a:ext cx="4837176" cy="3931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087F78"/>
                </a:solidFill>
                <a:latin typeface="Microsoft YaHei"/>
                <a:ea typeface="Microsoft YaHei"/>
              </a:rPr>
              <a:t>从方法可进一步追问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91655" y="5193792"/>
            <a:ext cx="4837176" cy="52120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30" b="0">
                <a:solidFill>
                  <a:srgbClr val="253849"/>
                </a:solidFill>
                <a:latin typeface="Microsoft YaHei"/>
                <a:ea typeface="Microsoft YaHei"/>
              </a:rPr>
              <a:t>被污染的历史状态，是否还需要清理或回滚？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087F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4892040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47585"/>
                </a:solidFill>
                <a:latin typeface="Microsoft YaHei"/>
                <a:ea typeface="Microsoft YaHei"/>
              </a:rPr>
              <a:t>G-Safeguard  /  方班研讨厅文献研读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10528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背景与问题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方法原理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5712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实验验证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33304" y="210312"/>
            <a:ext cx="1197864" cy="274320"/>
          </a:xfrm>
          <a:prstGeom prst="roundRect">
            <a:avLst>
              <a:gd name="adj" fmla="val 12000"/>
            </a:avLst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488168" y="210312"/>
            <a:ext cx="1088136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1">
                <a:solidFill>
                  <a:srgbClr val="087F78"/>
                </a:solidFill>
                <a:latin typeface="Microsoft YaHei"/>
                <a:ea typeface="Microsoft YaHei"/>
              </a:rPr>
              <a:t>总结思辨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758952"/>
            <a:ext cx="11109960" cy="6217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50" b="1">
                <a:solidFill>
                  <a:srgbClr val="15314D"/>
                </a:solidFill>
                <a:latin typeface="Microsoft YaHei"/>
                <a:ea typeface="Microsoft YaHei"/>
              </a:rPr>
              <a:t>我的思辨：ASR下降，能完全归因于拓扑检测吗？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0352" y="6336792"/>
            <a:ext cx="11128248" cy="0"/>
          </a:xfrm>
          <a:prstGeom prst="line">
            <a:avLst/>
          </a:prstGeom>
          <a:ln w="8255">
            <a:solidFill>
              <a:srgbClr val="DCE4EB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0972800" y="6457168"/>
            <a:ext cx="713232" cy="161583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 dirty="0">
                <a:solidFill>
                  <a:srgbClr val="087F78"/>
                </a:solidFill>
                <a:latin typeface="Microsoft YaHei"/>
                <a:ea typeface="Microsoft YaHei"/>
              </a:rPr>
              <a:t>18 / </a:t>
            </a:r>
            <a:r>
              <a:rPr lang="en-US" altLang="zh-CN" sz="1050" b="1" dirty="0">
                <a:solidFill>
                  <a:srgbClr val="087F78"/>
                </a:solidFill>
                <a:latin typeface="Microsoft YaHei"/>
                <a:ea typeface="Microsoft YaHei"/>
              </a:rPr>
              <a:t>19</a:t>
            </a:r>
            <a:endParaRPr lang="zh-CN" sz="1050" b="1" dirty="0">
              <a:solidFill>
                <a:srgbClr val="087F78"/>
              </a:solidFill>
              <a:latin typeface="Microsoft YaHei"/>
              <a:ea typeface="Microsoft Ya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22376" y="1874519"/>
            <a:ext cx="5230368" cy="160020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22376" y="1874519"/>
            <a:ext cx="45720" cy="1600200"/>
          </a:xfrm>
          <a:prstGeom prst="rect">
            <a:avLst/>
          </a:prstGeom>
          <a:solidFill>
            <a:srgbClr val="087F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3544" y="2029967"/>
            <a:ext cx="4837176" cy="5029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087F78"/>
                </a:solidFill>
                <a:latin typeface="Microsoft YaHei"/>
                <a:ea typeface="Microsoft YaHei"/>
              </a:rPr>
              <a:t>已有证据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2624327"/>
            <a:ext cx="4837176" cy="300147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253849"/>
                </a:solidFill>
                <a:latin typeface="Microsoft YaHei"/>
                <a:ea typeface="Microsoft YaHei"/>
              </a:rPr>
              <a:t>整套G-Safeguard优于多种无防护设置；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1344" y="1874519"/>
            <a:ext cx="5230368" cy="1600200"/>
          </a:xfrm>
          <a:prstGeom prst="rect">
            <a:avLst/>
          </a:prstGeom>
          <a:solidFill>
            <a:srgbClr val="FFF4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81344" y="1874519"/>
            <a:ext cx="45720" cy="1600200"/>
          </a:xfrm>
          <a:prstGeom prst="rect">
            <a:avLst/>
          </a:prstGeom>
          <a:solidFill>
            <a:srgbClr val="AA65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82512" y="2029967"/>
            <a:ext cx="4837176" cy="5029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AA6524"/>
                </a:solidFill>
                <a:latin typeface="Microsoft YaHei"/>
                <a:ea typeface="Microsoft YaHei"/>
              </a:rPr>
              <a:t>仍需排除的解释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624327"/>
            <a:ext cx="4837176" cy="74980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253849"/>
                </a:solidFill>
                <a:latin typeface="Microsoft YaHei"/>
                <a:ea typeface="Microsoft YaHei"/>
              </a:rPr>
              <a:t>改善来自更准确地定位异常？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253849"/>
                </a:solidFill>
                <a:latin typeface="Microsoft YaHei"/>
                <a:ea typeface="Microsoft YaHei"/>
              </a:rPr>
              <a:t>还是仅仅因为通信边变少了？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803904"/>
            <a:ext cx="1060704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15314D"/>
                </a:solidFill>
                <a:latin typeface="Microsoft YaHei"/>
                <a:ea typeface="Microsoft YaHei"/>
              </a:rPr>
              <a:t>要分清贡献，证据还应回答这些比较：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" y="4443984"/>
            <a:ext cx="3584448" cy="950976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741164"/>
            <a:ext cx="3328416" cy="3200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 dirty="0">
                <a:solidFill>
                  <a:srgbClr val="087F78"/>
                </a:solidFill>
                <a:latin typeface="Microsoft YaHei"/>
                <a:ea typeface="Microsoft YaHei"/>
              </a:rPr>
              <a:t>只看节点文本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4443984"/>
            <a:ext cx="3584448" cy="950976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00016" y="4740109"/>
            <a:ext cx="3328416" cy="3200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 dirty="0">
                <a:solidFill>
                  <a:srgbClr val="087F78"/>
                </a:solidFill>
                <a:latin typeface="Microsoft YaHei"/>
                <a:ea typeface="Microsoft YaHei"/>
              </a:rPr>
              <a:t>不使用边消息特征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03336" y="4443984"/>
            <a:ext cx="3584448" cy="950976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31352" y="4740109"/>
            <a:ext cx="3328416" cy="3200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 dirty="0">
                <a:solidFill>
                  <a:srgbClr val="087F78"/>
                </a:solidFill>
                <a:latin typeface="Microsoft YaHei"/>
                <a:ea typeface="Microsoft YaHei"/>
              </a:rPr>
              <a:t>随机或等量剪边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7" y="5605272"/>
            <a:ext cx="11137392" cy="539496"/>
          </a:xfrm>
          <a:prstGeom prst="rect">
            <a:avLst/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21207" y="5605272"/>
            <a:ext cx="50292" cy="539496"/>
          </a:xfrm>
          <a:prstGeom prst="rect">
            <a:avLst/>
          </a:prstGeom>
          <a:solidFill>
            <a:srgbClr val="087F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3232" y="5664708"/>
            <a:ext cx="10744200" cy="42062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60" b="1">
                <a:solidFill>
                  <a:srgbClr val="087F78"/>
                </a:solidFill>
                <a:latin typeface="Microsoft YaHei"/>
                <a:ea typeface="Microsoft YaHei"/>
              </a:rPr>
              <a:t>初步判断：现有实验支持整套方案有效，但对各模块的独立贡献仍需更多证据。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087F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4892040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47585"/>
                </a:solidFill>
                <a:latin typeface="Microsoft YaHei"/>
                <a:ea typeface="Microsoft YaHei"/>
              </a:rPr>
              <a:t>G-Safeguard  /  方班研讨厅文献研读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10528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背景与问题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方法原理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5712" y="214884"/>
            <a:ext cx="119786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0">
                <a:solidFill>
                  <a:srgbClr val="647585"/>
                </a:solidFill>
                <a:latin typeface="Microsoft YaHei"/>
                <a:ea typeface="Microsoft YaHei"/>
              </a:rPr>
              <a:t>实验验证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33304" y="210312"/>
            <a:ext cx="1197864" cy="274320"/>
          </a:xfrm>
          <a:prstGeom prst="roundRect">
            <a:avLst>
              <a:gd name="adj" fmla="val 12000"/>
            </a:avLst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488168" y="210312"/>
            <a:ext cx="1088136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1">
                <a:solidFill>
                  <a:srgbClr val="087F78"/>
                </a:solidFill>
                <a:latin typeface="Microsoft YaHei"/>
                <a:ea typeface="Microsoft YaHei"/>
              </a:rPr>
              <a:t>总结思辨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758952"/>
            <a:ext cx="11109960" cy="6217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50" b="1">
                <a:solidFill>
                  <a:srgbClr val="15314D"/>
                </a:solidFill>
                <a:latin typeface="Microsoft YaHei"/>
                <a:ea typeface="Microsoft YaHei"/>
              </a:rPr>
              <a:t>总结：看整张通信图，也要问清干预的代价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0352" y="6336792"/>
            <a:ext cx="11128248" cy="0"/>
          </a:xfrm>
          <a:prstGeom prst="line">
            <a:avLst/>
          </a:prstGeom>
          <a:ln w="8255">
            <a:solidFill>
              <a:srgbClr val="DCE4EB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0972800" y="6457168"/>
            <a:ext cx="713232" cy="161583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 b="1" dirty="0">
                <a:solidFill>
                  <a:srgbClr val="087F78"/>
                </a:solidFill>
                <a:latin typeface="Microsoft YaHei"/>
                <a:ea typeface="Microsoft YaHei"/>
              </a:rPr>
              <a:t>19</a:t>
            </a:r>
            <a:r>
              <a:rPr lang="zh-CN" sz="1050" b="1" dirty="0">
                <a:solidFill>
                  <a:srgbClr val="087F78"/>
                </a:solidFill>
                <a:latin typeface="Microsoft YaHei"/>
                <a:ea typeface="Microsoft YaHei"/>
              </a:rPr>
              <a:t> / </a:t>
            </a:r>
            <a:r>
              <a:rPr lang="en-US" altLang="zh-CN" sz="1050" b="1" dirty="0">
                <a:solidFill>
                  <a:srgbClr val="087F78"/>
                </a:solidFill>
                <a:latin typeface="Microsoft YaHei"/>
                <a:ea typeface="Microsoft YaHei"/>
              </a:rPr>
              <a:t>19</a:t>
            </a:r>
            <a:endParaRPr lang="zh-CN" sz="1050" b="1" dirty="0">
              <a:solidFill>
                <a:srgbClr val="087F78"/>
              </a:solidFill>
              <a:latin typeface="Microsoft YaHei"/>
              <a:ea typeface="Microsoft YaHe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5528" y="1847088"/>
            <a:ext cx="5029200" cy="40233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1" dirty="0">
                <a:solidFill>
                  <a:srgbClr val="15314D"/>
                </a:solidFill>
                <a:latin typeface="Microsoft YaHei"/>
                <a:ea typeface="Microsoft YaHei"/>
              </a:rPr>
              <a:t>本文留下的三点认识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" y="2587752"/>
            <a:ext cx="914400" cy="448056"/>
          </a:xfrm>
          <a:prstGeom prst="roundRect">
            <a:avLst>
              <a:gd name="adj" fmla="val 12000"/>
            </a:avLst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2587752"/>
            <a:ext cx="804672" cy="44805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 dirty="0">
                <a:solidFill>
                  <a:srgbClr val="087F78"/>
                </a:solidFill>
                <a:latin typeface="Microsoft YaHei"/>
                <a:ea typeface="Microsoft YaHei"/>
              </a:rPr>
              <a:t>建模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47672" y="2606040"/>
            <a:ext cx="3803904" cy="63093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0" dirty="0">
                <a:solidFill>
                  <a:srgbClr val="253849"/>
                </a:solidFill>
                <a:latin typeface="Microsoft YaHei"/>
                <a:ea typeface="Microsoft YaHei"/>
              </a:rPr>
              <a:t>联合表示节点发言、边消息和拓扑。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" y="3438144"/>
            <a:ext cx="914400" cy="448056"/>
          </a:xfrm>
          <a:prstGeom prst="roundRect">
            <a:avLst>
              <a:gd name="adj" fmla="val 12000"/>
            </a:avLst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438144"/>
            <a:ext cx="804672" cy="44805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087F78"/>
                </a:solidFill>
                <a:latin typeface="Microsoft YaHei"/>
                <a:ea typeface="Microsoft YaHei"/>
              </a:rPr>
              <a:t>检测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47672" y="3456432"/>
            <a:ext cx="3803904" cy="63093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0">
                <a:solidFill>
                  <a:srgbClr val="253849"/>
                </a:solidFill>
                <a:latin typeface="Microsoft YaHei"/>
                <a:ea typeface="Microsoft YaHei"/>
              </a:rPr>
              <a:t>用GNN识别高风险Agent。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" y="4288536"/>
            <a:ext cx="914400" cy="448056"/>
          </a:xfrm>
          <a:prstGeom prst="roundRect">
            <a:avLst>
              <a:gd name="adj" fmla="val 12000"/>
            </a:avLst>
          </a:prstGeom>
          <a:solidFill>
            <a:srgbClr val="E7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4288536"/>
            <a:ext cx="804672" cy="44805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087F78"/>
                </a:solidFill>
                <a:latin typeface="Microsoft YaHei"/>
                <a:ea typeface="Microsoft YaHei"/>
              </a:rPr>
              <a:t>干预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47672" y="4306824"/>
            <a:ext cx="3803904" cy="63093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0">
                <a:solidFill>
                  <a:srgbClr val="253849"/>
                </a:solidFill>
                <a:latin typeface="Microsoft YaHei"/>
                <a:ea typeface="Microsoft YaHei"/>
              </a:rPr>
              <a:t>下一轮删除其出边，限制后续传播。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1361</Words>
  <Application>Microsoft Office PowerPoint</Application>
  <PresentationFormat>宽屏</PresentationFormat>
  <Paragraphs>374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4" baseType="lpstr">
      <vt:lpstr>Microsoft YaHei</vt:lpstr>
      <vt:lpstr>Arial</vt:lpstr>
      <vt:lpstr>Calibri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G-Safeguard：基于拓扑的多智能体安全检测与干预</dc:title>
  <dc:subject>方班研讨厅单篇文献汇报：问题链、核心方法、实验解读与思辨</dc:subject>
  <dc:creator/>
  <cp:keywords>G-Safeguard, multi-agent security, graph neural networks, seminar</cp:keywords>
  <dc:description>根据用户上传的五份课程材料与G-Safeguard原文制作。正文20页；备份3页。</dc:description>
  <cp:lastModifiedBy>奕嘉 苏</cp:lastModifiedBy>
  <cp:revision>5</cp:revision>
  <dcterms:created xsi:type="dcterms:W3CDTF">2013-01-27T09:14:16Z</dcterms:created>
  <dcterms:modified xsi:type="dcterms:W3CDTF">2026-10-16T09:14:49Z</dcterms:modified>
  <cp:category/>
</cp:coreProperties>
</file>