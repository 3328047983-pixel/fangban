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7" r:id="rId2"/>
    <p:sldId id="259" r:id="rId3"/>
    <p:sldId id="260" r:id="rId4"/>
    <p:sldId id="258" r:id="rId5"/>
    <p:sldId id="262" r:id="rId6"/>
    <p:sldId id="264" r:id="rId7"/>
    <p:sldId id="265" r:id="rId8"/>
    <p:sldId id="266" r:id="rId9"/>
    <p:sldId id="267" r:id="rId10"/>
    <p:sldId id="268" r:id="rId11"/>
    <p:sldId id="269" r:id="rId12"/>
    <p:sldId id="270" r:id="rId13"/>
    <p:sldId id="271" r:id="rId14"/>
    <p:sldId id="273" r:id="rId15"/>
    <p:sldId id="274" r:id="rId16"/>
    <p:sldId id="276" r:id="rId17"/>
    <p:sldId id="277" r:id="rId18"/>
    <p:sldId id="279" r:id="rId19"/>
    <p:sldId id="280" r:id="rId20"/>
    <p:sldId id="281" r:id="rId21"/>
    <p:sldId id="283" r:id="rId22"/>
    <p:sldId id="284" r:id="rId23"/>
    <p:sldId id="285" r:id="rId24"/>
    <p:sldId id="288" r:id="rId25"/>
    <p:sldId id="289" r:id="rId26"/>
    <p:sldId id="291" r:id="rId27"/>
    <p:sldId id="292" r:id="rId28"/>
    <p:sldId id="293" r:id="rId29"/>
    <p:sldId id="304" r:id="rId30"/>
    <p:sldId id="305" r:id="rId31"/>
    <p:sldId id="297" r:id="rId32"/>
    <p:sldId id="302" r:id="rId33"/>
    <p:sldId id="303" r:id="rId34"/>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15" autoAdjust="0"/>
  </p:normalViewPr>
  <p:slideViewPr>
    <p:cSldViewPr snapToGrid="0">
      <p:cViewPr varScale="1">
        <p:scale>
          <a:sx n="133" d="100"/>
          <a:sy n="133" d="100"/>
        </p:scale>
        <p:origin x="1338" y="1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strRef>
              <c:f>Data!$B$1</c:f>
              <c:strCache>
                <c:ptCount val="1"/>
                <c:pt idx="0">
                  <c:v>客服+非法→赠奖</c:v>
                </c:pt>
              </c:strCache>
            </c:strRef>
          </c:tx>
          <c:spPr>
            <a:ln w="26670">
              <a:solidFill>
                <a:srgbClr val="A52A36"/>
              </a:solidFill>
            </a:ln>
          </c:spPr>
          <c:marker>
            <c:symbol val="circle"/>
            <c:size val="6"/>
          </c:marker>
          <c:cat>
            <c:strRef>
              <c:f>Data!$A$2:$A$6</c:f>
              <c:strCache>
                <c:ptCount val="5"/>
                <c:pt idx="0">
                  <c:v>0%</c:v>
                </c:pt>
                <c:pt idx="1">
                  <c:v>1%</c:v>
                </c:pt>
                <c:pt idx="2">
                  <c:v>5%</c:v>
                </c:pt>
                <c:pt idx="3">
                  <c:v>10%</c:v>
                </c:pt>
                <c:pt idx="4">
                  <c:v>20%</c:v>
                </c:pt>
              </c:strCache>
            </c:strRef>
          </c:cat>
          <c:val>
            <c:numRef>
              <c:f>Data!$B$2:$B$6</c:f>
              <c:numCache>
                <c:formatCode>0.00</c:formatCode>
                <c:ptCount val="5"/>
                <c:pt idx="0">
                  <c:v>0.69</c:v>
                </c:pt>
                <c:pt idx="1">
                  <c:v>0.72</c:v>
                </c:pt>
                <c:pt idx="2">
                  <c:v>0.82</c:v>
                </c:pt>
                <c:pt idx="3">
                  <c:v>0.85</c:v>
                </c:pt>
                <c:pt idx="4">
                  <c:v>0.9</c:v>
                </c:pt>
              </c:numCache>
            </c:numRef>
          </c:val>
          <c:smooth val="0"/>
          <c:extLst>
            <c:ext xmlns:c16="http://schemas.microsoft.com/office/drawing/2014/chart" uri="{C3380CC4-5D6E-409C-BE32-E72D297353CC}">
              <c16:uniqueId val="{00000000-D489-47A8-8AFF-A30B4C5FA69D}"/>
            </c:ext>
          </c:extLst>
        </c:ser>
        <c:ser>
          <c:idx val="1"/>
          <c:order val="1"/>
          <c:tx>
            <c:strRef>
              <c:f>Data!$C$1</c:f>
              <c:strCache>
                <c:ptCount val="1"/>
                <c:pt idx="0">
                  <c:v>客服+赠奖→非法</c:v>
                </c:pt>
              </c:strCache>
            </c:strRef>
          </c:tx>
          <c:spPr>
            <a:ln w="26670">
              <a:solidFill>
                <a:srgbClr val="287B78"/>
              </a:solidFill>
            </a:ln>
          </c:spPr>
          <c:marker>
            <c:symbol val="square"/>
            <c:size val="6"/>
          </c:marker>
          <c:cat>
            <c:strRef>
              <c:f>Data!$A$2:$A$6</c:f>
              <c:strCache>
                <c:ptCount val="5"/>
                <c:pt idx="0">
                  <c:v>0%</c:v>
                </c:pt>
                <c:pt idx="1">
                  <c:v>1%</c:v>
                </c:pt>
                <c:pt idx="2">
                  <c:v>5%</c:v>
                </c:pt>
                <c:pt idx="3">
                  <c:v>10%</c:v>
                </c:pt>
                <c:pt idx="4">
                  <c:v>20%</c:v>
                </c:pt>
              </c:strCache>
            </c:strRef>
          </c:cat>
          <c:val>
            <c:numRef>
              <c:f>Data!$C$2:$C$6</c:f>
              <c:numCache>
                <c:formatCode>0.00</c:formatCode>
                <c:ptCount val="5"/>
                <c:pt idx="0">
                  <c:v>0.93</c:v>
                </c:pt>
                <c:pt idx="1">
                  <c:v>0.93</c:v>
                </c:pt>
                <c:pt idx="2">
                  <c:v>0.93</c:v>
                </c:pt>
                <c:pt idx="3">
                  <c:v>0.94</c:v>
                </c:pt>
                <c:pt idx="4">
                  <c:v>0.95</c:v>
                </c:pt>
              </c:numCache>
            </c:numRef>
          </c:val>
          <c:smooth val="0"/>
          <c:extLst>
            <c:ext xmlns:c16="http://schemas.microsoft.com/office/drawing/2014/chart" uri="{C3380CC4-5D6E-409C-BE32-E72D297353CC}">
              <c16:uniqueId val="{00000001-D489-47A8-8AFF-A30B4C5FA69D}"/>
            </c:ext>
          </c:extLst>
        </c:ser>
        <c:ser>
          <c:idx val="2"/>
          <c:order val="2"/>
          <c:tx>
            <c:strRef>
              <c:f>Data!$D$1</c:f>
              <c:strCache>
                <c:ptCount val="1"/>
                <c:pt idx="0">
                  <c:v>非法+赠奖→客服</c:v>
                </c:pt>
              </c:strCache>
            </c:strRef>
          </c:tx>
          <c:spPr>
            <a:ln w="26670">
              <a:solidFill>
                <a:srgbClr val="3C6C9C"/>
              </a:solidFill>
            </a:ln>
          </c:spPr>
          <c:marker>
            <c:symbol val="diamond"/>
            <c:size val="6"/>
          </c:marker>
          <c:cat>
            <c:strRef>
              <c:f>Data!$A$2:$A$6</c:f>
              <c:strCache>
                <c:ptCount val="5"/>
                <c:pt idx="0">
                  <c:v>0%</c:v>
                </c:pt>
                <c:pt idx="1">
                  <c:v>1%</c:v>
                </c:pt>
                <c:pt idx="2">
                  <c:v>5%</c:v>
                </c:pt>
                <c:pt idx="3">
                  <c:v>10%</c:v>
                </c:pt>
                <c:pt idx="4">
                  <c:v>20%</c:v>
                </c:pt>
              </c:strCache>
            </c:strRef>
          </c:cat>
          <c:val>
            <c:numRef>
              <c:f>Data!$D$2:$D$6</c:f>
              <c:numCache>
                <c:formatCode>0.00</c:formatCode>
                <c:ptCount val="5"/>
                <c:pt idx="0">
                  <c:v>0.88</c:v>
                </c:pt>
                <c:pt idx="1">
                  <c:v>0.96</c:v>
                </c:pt>
                <c:pt idx="2">
                  <c:v>0.97</c:v>
                </c:pt>
                <c:pt idx="3">
                  <c:v>0.97</c:v>
                </c:pt>
                <c:pt idx="4">
                  <c:v>0.97</c:v>
                </c:pt>
              </c:numCache>
            </c:numRef>
          </c:val>
          <c:smooth val="0"/>
          <c:extLst>
            <c:ext xmlns:c16="http://schemas.microsoft.com/office/drawing/2014/chart" uri="{C3380CC4-5D6E-409C-BE32-E72D297353CC}">
              <c16:uniqueId val="{00000002-D489-47A8-8AFF-A30B4C5FA69D}"/>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DDDDD"/>
            </a:solidFill>
          </a:ln>
        </c:spPr>
        <c:txPr>
          <a:bodyPr anchorCtr="1"/>
          <a:lstStyle/>
          <a:p>
            <a:pPr>
              <a:defRPr sz="1200">
                <a:solidFill>
                  <a:srgbClr val="3333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6E6E6"/>
              </a:solidFill>
            </a:ln>
          </c:spPr>
        </c:majorGridlines>
        <c:numFmt formatCode="0.00" sourceLinked="1"/>
        <c:majorTickMark val="none"/>
        <c:minorTickMark val="none"/>
        <c:tickLblPos val="nextTo"/>
        <c:spPr>
          <a:ln w="0">
            <a:noFill/>
          </a:ln>
        </c:spPr>
        <c:txPr>
          <a:bodyPr anchorCtr="1"/>
          <a:lstStyle/>
          <a:p>
            <a:pPr>
              <a:defRPr sz="1200">
                <a:solidFill>
                  <a:srgbClr val="555555"/>
                </a:solidFill>
                <a:latin typeface="Microsoft YaHei"/>
                <a:ea typeface="Microsoft YaHei"/>
                <a:cs typeface="Microsoft YaHei"/>
              </a:defRPr>
            </a:pPr>
            <a:endParaRPr lang="zh-CN"/>
          </a:p>
        </c:txPr>
        <c:crossAx val="48650112"/>
        <c:crosses val="autoZero"/>
        <c:crossBetween val="between"/>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0"/>
        <c:ser>
          <c:idx val="0"/>
          <c:order val="0"/>
          <c:tx>
            <c:strRef>
              <c:f>Data!$B$1</c:f>
              <c:strCache>
                <c:ptCount val="1"/>
                <c:pt idx="0">
                  <c:v>客服→非法</c:v>
                </c:pt>
              </c:strCache>
            </c:strRef>
          </c:tx>
          <c:spPr>
            <a:ln w="26670">
              <a:solidFill>
                <a:srgbClr val="A52A36"/>
              </a:solidFill>
            </a:ln>
          </c:spPr>
          <c:marker>
            <c:symbol val="circle"/>
            <c:size val="6"/>
          </c:marker>
          <c:cat>
            <c:strRef>
              <c:f>Data!$A$2:$A$6</c:f>
              <c:strCache>
                <c:ptCount val="5"/>
                <c:pt idx="0">
                  <c:v>0%</c:v>
                </c:pt>
                <c:pt idx="1">
                  <c:v>1%</c:v>
                </c:pt>
                <c:pt idx="2">
                  <c:v>5%</c:v>
                </c:pt>
                <c:pt idx="3">
                  <c:v>10%</c:v>
                </c:pt>
                <c:pt idx="4">
                  <c:v>20%</c:v>
                </c:pt>
              </c:strCache>
            </c:strRef>
          </c:cat>
          <c:val>
            <c:numRef>
              <c:f>Data!$B$2:$B$6</c:f>
              <c:numCache>
                <c:formatCode>0.00</c:formatCode>
                <c:ptCount val="5"/>
                <c:pt idx="0">
                  <c:v>0.93</c:v>
                </c:pt>
                <c:pt idx="1">
                  <c:v>0.94</c:v>
                </c:pt>
                <c:pt idx="2">
                  <c:v>0.94</c:v>
                </c:pt>
                <c:pt idx="3">
                  <c:v>0.94</c:v>
                </c:pt>
                <c:pt idx="4">
                  <c:v>0.95</c:v>
                </c:pt>
              </c:numCache>
            </c:numRef>
          </c:val>
          <c:smooth val="0"/>
          <c:extLst>
            <c:ext xmlns:c16="http://schemas.microsoft.com/office/drawing/2014/chart" uri="{C3380CC4-5D6E-409C-BE32-E72D297353CC}">
              <c16:uniqueId val="{00000000-19D0-457D-84F4-B59A707ADA98}"/>
            </c:ext>
          </c:extLst>
        </c:ser>
        <c:ser>
          <c:idx val="1"/>
          <c:order val="1"/>
          <c:tx>
            <c:strRef>
              <c:f>Data!$C$1</c:f>
              <c:strCache>
                <c:ptCount val="1"/>
                <c:pt idx="0">
                  <c:v>客服→赠奖</c:v>
                </c:pt>
              </c:strCache>
            </c:strRef>
          </c:tx>
          <c:spPr>
            <a:ln w="26670">
              <a:solidFill>
                <a:srgbClr val="287B78"/>
              </a:solidFill>
            </a:ln>
          </c:spPr>
          <c:marker>
            <c:symbol val="square"/>
            <c:size val="6"/>
          </c:marker>
          <c:cat>
            <c:strRef>
              <c:f>Data!$A$2:$A$6</c:f>
              <c:strCache>
                <c:ptCount val="5"/>
                <c:pt idx="0">
                  <c:v>0%</c:v>
                </c:pt>
                <c:pt idx="1">
                  <c:v>1%</c:v>
                </c:pt>
                <c:pt idx="2">
                  <c:v>5%</c:v>
                </c:pt>
                <c:pt idx="3">
                  <c:v>10%</c:v>
                </c:pt>
                <c:pt idx="4">
                  <c:v>20%</c:v>
                </c:pt>
              </c:strCache>
            </c:strRef>
          </c:cat>
          <c:val>
            <c:numRef>
              <c:f>Data!$C$2:$C$6</c:f>
              <c:numCache>
                <c:formatCode>0.00</c:formatCode>
                <c:ptCount val="5"/>
                <c:pt idx="0">
                  <c:v>0.61</c:v>
                </c:pt>
                <c:pt idx="1">
                  <c:v>0.73</c:v>
                </c:pt>
                <c:pt idx="2">
                  <c:v>0.79</c:v>
                </c:pt>
                <c:pt idx="3">
                  <c:v>0.85</c:v>
                </c:pt>
                <c:pt idx="4">
                  <c:v>0.92</c:v>
                </c:pt>
              </c:numCache>
            </c:numRef>
          </c:val>
          <c:smooth val="0"/>
          <c:extLst>
            <c:ext xmlns:c16="http://schemas.microsoft.com/office/drawing/2014/chart" uri="{C3380CC4-5D6E-409C-BE32-E72D297353CC}">
              <c16:uniqueId val="{00000001-19D0-457D-84F4-B59A707ADA98}"/>
            </c:ext>
          </c:extLst>
        </c:ser>
        <c:ser>
          <c:idx val="2"/>
          <c:order val="2"/>
          <c:tx>
            <c:strRef>
              <c:f>Data!$D$1</c:f>
              <c:strCache>
                <c:ptCount val="1"/>
                <c:pt idx="0">
                  <c:v>非法→客服</c:v>
                </c:pt>
              </c:strCache>
            </c:strRef>
          </c:tx>
          <c:spPr>
            <a:ln w="26670">
              <a:solidFill>
                <a:srgbClr val="3C6C9C"/>
              </a:solidFill>
            </a:ln>
          </c:spPr>
          <c:marker>
            <c:symbol val="diamond"/>
            <c:size val="6"/>
          </c:marker>
          <c:cat>
            <c:strRef>
              <c:f>Data!$A$2:$A$6</c:f>
              <c:strCache>
                <c:ptCount val="5"/>
                <c:pt idx="0">
                  <c:v>0%</c:v>
                </c:pt>
                <c:pt idx="1">
                  <c:v>1%</c:v>
                </c:pt>
                <c:pt idx="2">
                  <c:v>5%</c:v>
                </c:pt>
                <c:pt idx="3">
                  <c:v>10%</c:v>
                </c:pt>
                <c:pt idx="4">
                  <c:v>20%</c:v>
                </c:pt>
              </c:strCache>
            </c:strRef>
          </c:cat>
          <c:val>
            <c:numRef>
              <c:f>Data!$D$2:$D$6</c:f>
              <c:numCache>
                <c:formatCode>0.00</c:formatCode>
                <c:ptCount val="5"/>
                <c:pt idx="0">
                  <c:v>0.66</c:v>
                </c:pt>
                <c:pt idx="1">
                  <c:v>0.93</c:v>
                </c:pt>
                <c:pt idx="2">
                  <c:v>0.96</c:v>
                </c:pt>
                <c:pt idx="3">
                  <c:v>0.97</c:v>
                </c:pt>
                <c:pt idx="4">
                  <c:v>0.97</c:v>
                </c:pt>
              </c:numCache>
            </c:numRef>
          </c:val>
          <c:smooth val="0"/>
          <c:extLst>
            <c:ext xmlns:c16="http://schemas.microsoft.com/office/drawing/2014/chart" uri="{C3380CC4-5D6E-409C-BE32-E72D297353CC}">
              <c16:uniqueId val="{00000002-19D0-457D-84F4-B59A707ADA98}"/>
            </c:ext>
          </c:extLst>
        </c:ser>
        <c:ser>
          <c:idx val="3"/>
          <c:order val="3"/>
          <c:tx>
            <c:strRef>
              <c:f>Data!$E$1</c:f>
              <c:strCache>
                <c:ptCount val="1"/>
                <c:pt idx="0">
                  <c:v>非法→赠奖</c:v>
                </c:pt>
              </c:strCache>
            </c:strRef>
          </c:tx>
          <c:spPr>
            <a:ln w="26670">
              <a:solidFill>
                <a:srgbClr val="B37C29"/>
              </a:solidFill>
            </a:ln>
          </c:spPr>
          <c:marker>
            <c:symbol val="triangle"/>
            <c:size val="6"/>
          </c:marker>
          <c:cat>
            <c:strRef>
              <c:f>Data!$A$2:$A$6</c:f>
              <c:strCache>
                <c:ptCount val="5"/>
                <c:pt idx="0">
                  <c:v>0%</c:v>
                </c:pt>
                <c:pt idx="1">
                  <c:v>1%</c:v>
                </c:pt>
                <c:pt idx="2">
                  <c:v>5%</c:v>
                </c:pt>
                <c:pt idx="3">
                  <c:v>10%</c:v>
                </c:pt>
                <c:pt idx="4">
                  <c:v>20%</c:v>
                </c:pt>
              </c:strCache>
            </c:strRef>
          </c:cat>
          <c:val>
            <c:numRef>
              <c:f>Data!$E$2:$E$6</c:f>
              <c:numCache>
                <c:formatCode>0.00</c:formatCode>
                <c:ptCount val="5"/>
                <c:pt idx="0">
                  <c:v>0.55000000000000004</c:v>
                </c:pt>
                <c:pt idx="1">
                  <c:v>0.71</c:v>
                </c:pt>
                <c:pt idx="2">
                  <c:v>0.81</c:v>
                </c:pt>
                <c:pt idx="3">
                  <c:v>0.86</c:v>
                </c:pt>
                <c:pt idx="4">
                  <c:v>0.87</c:v>
                </c:pt>
              </c:numCache>
            </c:numRef>
          </c:val>
          <c:smooth val="0"/>
          <c:extLst>
            <c:ext xmlns:c16="http://schemas.microsoft.com/office/drawing/2014/chart" uri="{C3380CC4-5D6E-409C-BE32-E72D297353CC}">
              <c16:uniqueId val="{00000003-19D0-457D-84F4-B59A707ADA98}"/>
            </c:ext>
          </c:extLst>
        </c:ser>
        <c:ser>
          <c:idx val="4"/>
          <c:order val="4"/>
          <c:tx>
            <c:strRef>
              <c:f>Data!$F$1</c:f>
              <c:strCache>
                <c:ptCount val="1"/>
                <c:pt idx="0">
                  <c:v>赠奖→客服</c:v>
                </c:pt>
              </c:strCache>
            </c:strRef>
          </c:tx>
          <c:spPr>
            <a:ln w="26670">
              <a:solidFill>
                <a:srgbClr val="8660A5"/>
              </a:solidFill>
            </a:ln>
          </c:spPr>
          <c:marker>
            <c:symbol val="circle"/>
            <c:size val="6"/>
          </c:marker>
          <c:cat>
            <c:strRef>
              <c:f>Data!$A$2:$A$6</c:f>
              <c:strCache>
                <c:ptCount val="5"/>
                <c:pt idx="0">
                  <c:v>0%</c:v>
                </c:pt>
                <c:pt idx="1">
                  <c:v>1%</c:v>
                </c:pt>
                <c:pt idx="2">
                  <c:v>5%</c:v>
                </c:pt>
                <c:pt idx="3">
                  <c:v>10%</c:v>
                </c:pt>
                <c:pt idx="4">
                  <c:v>20%</c:v>
                </c:pt>
              </c:strCache>
            </c:strRef>
          </c:cat>
          <c:val>
            <c:numRef>
              <c:f>Data!$F$2:$F$6</c:f>
              <c:numCache>
                <c:formatCode>0.00</c:formatCode>
                <c:ptCount val="5"/>
                <c:pt idx="0">
                  <c:v>0.38</c:v>
                </c:pt>
                <c:pt idx="1">
                  <c:v>0.84</c:v>
                </c:pt>
                <c:pt idx="2">
                  <c:v>0.95</c:v>
                </c:pt>
                <c:pt idx="3">
                  <c:v>0.97</c:v>
                </c:pt>
                <c:pt idx="4">
                  <c:v>0.97</c:v>
                </c:pt>
              </c:numCache>
            </c:numRef>
          </c:val>
          <c:smooth val="0"/>
          <c:extLst>
            <c:ext xmlns:c16="http://schemas.microsoft.com/office/drawing/2014/chart" uri="{C3380CC4-5D6E-409C-BE32-E72D297353CC}">
              <c16:uniqueId val="{00000004-19D0-457D-84F4-B59A707ADA98}"/>
            </c:ext>
          </c:extLst>
        </c:ser>
        <c:ser>
          <c:idx val="5"/>
          <c:order val="5"/>
          <c:tx>
            <c:strRef>
              <c:f>Data!$G$1</c:f>
              <c:strCache>
                <c:ptCount val="1"/>
                <c:pt idx="0">
                  <c:v>赠奖→非法</c:v>
                </c:pt>
              </c:strCache>
            </c:strRef>
          </c:tx>
          <c:spPr>
            <a:ln w="26670">
              <a:solidFill>
                <a:srgbClr val="555555"/>
              </a:solidFill>
            </a:ln>
          </c:spPr>
          <c:marker>
            <c:symbol val="square"/>
            <c:size val="6"/>
          </c:marker>
          <c:cat>
            <c:strRef>
              <c:f>Data!$A$2:$A$6</c:f>
              <c:strCache>
                <c:ptCount val="5"/>
                <c:pt idx="0">
                  <c:v>0%</c:v>
                </c:pt>
                <c:pt idx="1">
                  <c:v>1%</c:v>
                </c:pt>
                <c:pt idx="2">
                  <c:v>5%</c:v>
                </c:pt>
                <c:pt idx="3">
                  <c:v>10%</c:v>
                </c:pt>
                <c:pt idx="4">
                  <c:v>20%</c:v>
                </c:pt>
              </c:strCache>
            </c:strRef>
          </c:cat>
          <c:val>
            <c:numRef>
              <c:f>Data!$G$2:$G$6</c:f>
              <c:numCache>
                <c:formatCode>0.00</c:formatCode>
                <c:ptCount val="5"/>
                <c:pt idx="0">
                  <c:v>0.78</c:v>
                </c:pt>
                <c:pt idx="1">
                  <c:v>0.89</c:v>
                </c:pt>
                <c:pt idx="2">
                  <c:v>0.93</c:v>
                </c:pt>
                <c:pt idx="3">
                  <c:v>0.93</c:v>
                </c:pt>
                <c:pt idx="4">
                  <c:v>0.94</c:v>
                </c:pt>
              </c:numCache>
            </c:numRef>
          </c:val>
          <c:smooth val="0"/>
          <c:extLst>
            <c:ext xmlns:c16="http://schemas.microsoft.com/office/drawing/2014/chart" uri="{C3380CC4-5D6E-409C-BE32-E72D297353CC}">
              <c16:uniqueId val="{00000005-19D0-457D-84F4-B59A707ADA9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DDDDD"/>
            </a:solidFill>
          </a:ln>
        </c:spPr>
        <c:txPr>
          <a:bodyPr anchorCtr="1"/>
          <a:lstStyle/>
          <a:p>
            <a:pPr>
              <a:defRPr sz="1200">
                <a:solidFill>
                  <a:srgbClr val="333333"/>
                </a:solidFill>
                <a:latin typeface="Microsoft YaHei"/>
                <a:ea typeface="Microsoft YaHei"/>
                <a:cs typeface="Microsoft YaHei"/>
              </a:defRPr>
            </a:pPr>
            <a:endParaRPr lang="zh-CN"/>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E6E6E6"/>
              </a:solidFill>
            </a:ln>
          </c:spPr>
        </c:majorGridlines>
        <c:numFmt formatCode="0.00" sourceLinked="1"/>
        <c:majorTickMark val="none"/>
        <c:minorTickMark val="none"/>
        <c:tickLblPos val="nextTo"/>
        <c:spPr>
          <a:ln w="0">
            <a:noFill/>
          </a:ln>
        </c:spPr>
        <c:txPr>
          <a:bodyPr anchorCtr="1"/>
          <a:lstStyle/>
          <a:p>
            <a:pPr>
              <a:defRPr sz="1200">
                <a:solidFill>
                  <a:srgbClr val="555555"/>
                </a:solidFill>
                <a:latin typeface="Microsoft YaHei"/>
                <a:ea typeface="Microsoft YaHei"/>
                <a:cs typeface="Microsoft YaHei"/>
              </a:defRPr>
            </a:pPr>
            <a:endParaRPr lang="zh-CN"/>
          </a:p>
        </c:txPr>
        <c:crossAx val="48650112"/>
        <c:crosses val="autoZero"/>
        <c:crossBetween val="between"/>
        <c:majorUnit val="0.2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各位老师、同学好，我是王皓田。今天分享的是发表于网络安全会议 NDSS 2026 的论文 TBTrackerX，研究对象是 X 平台上的触发机器人。</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报告</a:t>
            </a:r>
            <a:r>
              <a:rPr lang="zh-CN" altLang="en-US" sz="1200" dirty="0">
                <a:latin typeface="Microsoft YaHei"/>
                <a:ea typeface="Microsoft YaHei"/>
              </a:rPr>
              <a:t>共</a:t>
            </a:r>
            <a:r>
              <a:rPr lang="zh-CN" sz="1200" dirty="0">
                <a:latin typeface="Microsoft YaHei"/>
                <a:ea typeface="Microsoft YaHei"/>
              </a:rPr>
              <a:t>分</a:t>
            </a:r>
            <a:r>
              <a:rPr lang="zh-CN" altLang="en-US" sz="1200" dirty="0">
                <a:latin typeface="Microsoft YaHei"/>
                <a:ea typeface="Microsoft YaHei"/>
              </a:rPr>
              <a:t>为以下</a:t>
            </a:r>
            <a:r>
              <a:rPr lang="zh-CN" sz="1200" dirty="0">
                <a:latin typeface="Microsoft YaHei"/>
                <a:ea typeface="Microsoft YaHei"/>
              </a:rPr>
              <a:t>五部分。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第一部分是背景与研究问题</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a:ea typeface="Microsoft YaHei"/>
              </a:rPr>
              <a:t>这里给出社交机器人，触发机器人的定义。</a:t>
            </a:r>
            <a:r>
              <a:rPr lang="zh-CN" altLang="en-US" sz="1200" b="1" dirty="0">
                <a:solidFill>
                  <a:srgbClr val="333333"/>
                </a:solidFill>
              </a:rPr>
              <a:t>社交机器人</a:t>
            </a:r>
            <a:r>
              <a:rPr lang="zh-CN" altLang="en-US" sz="1200" b="0" dirty="0">
                <a:solidFill>
                  <a:srgbClr val="333333"/>
                </a:solidFill>
              </a:rPr>
              <a:t>是指通过自动化程序控制、受特定组织操作、通常带有一定目的的社交用户。</a:t>
            </a:r>
            <a:r>
              <a:rPr lang="zh-CN" sz="1200" dirty="0">
                <a:latin typeface="Microsoft YaHei"/>
                <a:ea typeface="Microsoft YaHei"/>
              </a:rPr>
              <a:t>触发机器人</a:t>
            </a:r>
            <a:r>
              <a:rPr lang="zh-CN" altLang="en-US" sz="1200" dirty="0">
                <a:latin typeface="Microsoft YaHei"/>
                <a:ea typeface="Microsoft YaHei"/>
              </a:rPr>
              <a:t>，</a:t>
            </a:r>
            <a:r>
              <a:rPr lang="zh-CN" sz="1200" dirty="0">
                <a:latin typeface="Microsoft YaHei"/>
                <a:ea typeface="Microsoft YaHei"/>
              </a:rPr>
              <a:t>会监测公开帖子，发现特定关键词后，针对用户表达的需求主动接触。</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在这里介绍</a:t>
            </a:r>
            <a:r>
              <a:rPr lang="zh-CN" sz="1200" dirty="0">
                <a:latin typeface="Microsoft YaHei"/>
                <a:ea typeface="Microsoft YaHei"/>
              </a:rPr>
              <a:t>后面会反复出现两个概念：</a:t>
            </a:r>
            <a:r>
              <a:rPr lang="zh-CN" altLang="en-US" sz="1200" dirty="0">
                <a:latin typeface="Microsoft YaHei"/>
                <a:ea typeface="Microsoft YaHei"/>
              </a:rPr>
              <a:t>代理和活动。</a:t>
            </a:r>
            <a:r>
              <a:rPr lang="zh-CN" sz="1200" dirty="0">
                <a:latin typeface="Microsoft YaHei"/>
                <a:ea typeface="Microsoft YaHei"/>
              </a:rPr>
              <a:t>代理是执行回复的账号，活动</a:t>
            </a:r>
            <a:r>
              <a:rPr lang="zh-CN" altLang="en-US" sz="1200" dirty="0">
                <a:latin typeface="Microsoft YaHei"/>
                <a:ea typeface="Microsoft YaHei"/>
              </a:rPr>
              <a:t>则说明代理活动的</a:t>
            </a:r>
            <a:r>
              <a:rPr lang="zh-CN" sz="1200" dirty="0">
                <a:latin typeface="Microsoft YaHei"/>
                <a:ea typeface="Microsoft YaHei"/>
              </a:rPr>
              <a:t>目的。</a:t>
            </a:r>
            <a:r>
              <a:rPr lang="zh-CN" altLang="en-US" sz="1200" dirty="0">
                <a:latin typeface="Microsoft YaHei"/>
                <a:ea typeface="Microsoft YaHei"/>
              </a:rPr>
              <a:t>这两个词</a:t>
            </a:r>
            <a:r>
              <a:rPr lang="zh-CN" sz="1200" dirty="0">
                <a:latin typeface="Microsoft YaHei"/>
                <a:ea typeface="Microsoft YaHei"/>
              </a:rPr>
              <a:t>分别描述</a:t>
            </a:r>
            <a:r>
              <a:rPr lang="zh-CN" altLang="en-US" sz="1200" dirty="0">
                <a:latin typeface="Microsoft YaHei"/>
                <a:ea typeface="Microsoft YaHei"/>
              </a:rPr>
              <a:t>了</a:t>
            </a:r>
            <a:r>
              <a:rPr lang="zh-CN" sz="1200" dirty="0">
                <a:latin typeface="Microsoft YaHei"/>
                <a:ea typeface="Microsoft YaHei"/>
              </a:rPr>
              <a:t>“谁在行动”和“在做什么”</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这是论文整体的四个研究步骤。</a:t>
            </a:r>
            <a:r>
              <a:rPr lang="zh-CN" sz="1200" dirty="0">
                <a:latin typeface="Microsoft YaHei"/>
                <a:ea typeface="Microsoft YaHei"/>
              </a:rPr>
              <a:t>先找到研究对象，再比较它们的行为，然后跟踪平台处置和账户变化，最后评价能否自动检测。前半部分的生态和行为分析，就是为理解后面分类器利用的信息作准备。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a:latin typeface="Microsoft YaHei"/>
                <a:ea typeface="Microsoft YaHei"/>
              </a:rPr>
              <a:t>接下来介绍 TBTrackerX 怎样组织数据，以及它从数据中观察到了什么。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Microsoft YaHei"/>
                <a:ea typeface="Microsoft YaHei"/>
              </a:rPr>
              <a:t>这是一张</a:t>
            </a:r>
            <a:r>
              <a:rPr lang="en-US" altLang="zh-CN" sz="1200" b="0" dirty="0">
                <a:solidFill>
                  <a:srgbClr val="A52A36"/>
                </a:solidFill>
                <a:latin typeface="Microsoft YaHei"/>
                <a:ea typeface="Microsoft YaHei"/>
                <a:cs typeface="Microsoft YaHei"/>
              </a:rPr>
              <a:t>X</a:t>
            </a:r>
            <a:r>
              <a:rPr lang="zh-CN" altLang="en-US" sz="1200" b="0" dirty="0">
                <a:solidFill>
                  <a:srgbClr val="A52A36"/>
                </a:solidFill>
                <a:latin typeface="Microsoft YaHei"/>
                <a:ea typeface="Microsoft YaHei"/>
                <a:cs typeface="Microsoft YaHei"/>
              </a:rPr>
              <a:t>平台上与触发机器人有关的交互实体机制图。</a:t>
            </a:r>
            <a:r>
              <a:rPr lang="zh-CN" sz="1200" dirty="0">
                <a:latin typeface="Microsoft YaHei"/>
                <a:ea typeface="Microsoft YaHei"/>
              </a:rPr>
              <a:t>这张图可以从</a:t>
            </a:r>
            <a:r>
              <a:rPr lang="zh-CN" altLang="en-US" sz="1200" dirty="0">
                <a:latin typeface="Microsoft YaHei"/>
                <a:ea typeface="Microsoft YaHei"/>
              </a:rPr>
              <a:t>左下方</a:t>
            </a:r>
            <a:r>
              <a:rPr lang="zh-CN" sz="1200" dirty="0">
                <a:latin typeface="Microsoft YaHei"/>
                <a:ea typeface="Microsoft YaHei"/>
              </a:rPr>
              <a:t>研究者的诱捕账户读起：</a:t>
            </a:r>
            <a:r>
              <a:rPr lang="zh-CN" altLang="en-US" sz="1200" dirty="0">
                <a:latin typeface="Microsoft YaHei"/>
                <a:ea typeface="Microsoft YaHei"/>
              </a:rPr>
              <a:t>这些又不账户</a:t>
            </a:r>
            <a:r>
              <a:rPr lang="zh-CN" sz="1200" dirty="0">
                <a:latin typeface="Microsoft YaHei"/>
                <a:ea typeface="Microsoft YaHei"/>
              </a:rPr>
              <a:t>发布帖子，引出代理账号；代理又联系其他用户，并拥有自己的关注者。Master 是</a:t>
            </a:r>
            <a:r>
              <a:rPr lang="zh-CN" altLang="en-US" sz="1200" dirty="0">
                <a:latin typeface="Microsoft YaHei"/>
                <a:ea typeface="Microsoft YaHei"/>
              </a:rPr>
              <a:t>代理</a:t>
            </a:r>
            <a:r>
              <a:rPr lang="zh-CN" sz="1200" dirty="0">
                <a:latin typeface="Microsoft YaHei"/>
                <a:ea typeface="Microsoft YaHei"/>
              </a:rPr>
              <a:t>引流的接收端，Farm 则是</a:t>
            </a:r>
            <a:r>
              <a:rPr lang="zh-CN" altLang="en-US" sz="1200" dirty="0">
                <a:latin typeface="Microsoft YaHei"/>
                <a:ea typeface="Microsoft YaHei"/>
              </a:rPr>
              <a:t>提供代理账号的</a:t>
            </a:r>
            <a:r>
              <a:rPr lang="zh-CN" sz="1200" dirty="0">
                <a:latin typeface="Microsoft YaHei"/>
                <a:ea typeface="Microsoft YaHei"/>
              </a:rPr>
              <a:t>服务方。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这页</a:t>
            </a:r>
            <a:r>
              <a:rPr lang="zh-CN" altLang="en-US" sz="1200" dirty="0">
                <a:latin typeface="Microsoft YaHei"/>
                <a:ea typeface="Microsoft YaHei"/>
              </a:rPr>
              <a:t>介绍</a:t>
            </a:r>
            <a:r>
              <a:rPr lang="en-US" altLang="zh-CN" sz="1200" dirty="0" err="1">
                <a:latin typeface="Microsoft YaHei"/>
                <a:ea typeface="Microsoft YaHei"/>
              </a:rPr>
              <a:t>TBTrackerX</a:t>
            </a:r>
            <a:r>
              <a:rPr lang="zh-CN" altLang="en-US" sz="1200" dirty="0">
                <a:latin typeface="Microsoft YaHei"/>
                <a:ea typeface="Microsoft YaHei"/>
              </a:rPr>
              <a:t>的数据流程</a:t>
            </a:r>
            <a:r>
              <a:rPr lang="zh-CN" sz="1200" dirty="0">
                <a:latin typeface="Microsoft YaHei"/>
                <a:ea typeface="Microsoft YaHei"/>
              </a:rPr>
              <a:t>。</a:t>
            </a:r>
            <a:r>
              <a:rPr lang="zh-CN" altLang="en-US" sz="1200" dirty="0">
                <a:latin typeface="Microsoft YaHei"/>
                <a:ea typeface="Microsoft YaHei"/>
              </a:rPr>
              <a:t>首</a:t>
            </a:r>
            <a:r>
              <a:rPr lang="zh-CN" sz="1200" dirty="0">
                <a:latin typeface="Microsoft YaHei"/>
                <a:ea typeface="Microsoft YaHei"/>
              </a:rPr>
              <a:t>先完成关键词筛选、诱捕采集、资料补充和标签整理。随后，数据进入两个用途不同的分支。左侧</a:t>
            </a:r>
            <a:r>
              <a:rPr lang="zh-CN" altLang="en-US" sz="1200" dirty="0">
                <a:latin typeface="Microsoft YaHei"/>
                <a:ea typeface="Microsoft YaHei"/>
              </a:rPr>
              <a:t>路径</a:t>
            </a:r>
            <a:r>
              <a:rPr lang="en-US" altLang="zh-CN" sz="1200" dirty="0">
                <a:latin typeface="Microsoft YaHei"/>
                <a:ea typeface="Microsoft YaHei"/>
              </a:rPr>
              <a:t>A</a:t>
            </a:r>
            <a:r>
              <a:rPr lang="zh-CN" altLang="en-US" sz="1200" dirty="0">
                <a:latin typeface="Microsoft YaHei"/>
                <a:ea typeface="Microsoft YaHei"/>
              </a:rPr>
              <a:t>利用输入的信息，描述</a:t>
            </a:r>
            <a:r>
              <a:rPr lang="zh-CN" sz="1200" dirty="0">
                <a:latin typeface="Microsoft YaHei"/>
                <a:ea typeface="Microsoft YaHei"/>
              </a:rPr>
              <a:t>机器人怎样活动</a:t>
            </a:r>
            <a:r>
              <a:rPr lang="zh-CN" altLang="en-US" sz="1200" dirty="0">
                <a:latin typeface="Microsoft YaHei"/>
                <a:ea typeface="Microsoft YaHei"/>
              </a:rPr>
              <a:t>的问题</a:t>
            </a:r>
            <a:r>
              <a:rPr lang="zh-CN" sz="1200" dirty="0">
                <a:latin typeface="Microsoft YaHei"/>
                <a:ea typeface="Microsoft YaHei"/>
              </a:rPr>
              <a:t>；右侧</a:t>
            </a:r>
            <a:r>
              <a:rPr lang="zh-CN" altLang="en-US" sz="1200" dirty="0">
                <a:latin typeface="Microsoft YaHei"/>
                <a:ea typeface="Microsoft YaHei"/>
              </a:rPr>
              <a:t>路径</a:t>
            </a:r>
            <a:r>
              <a:rPr lang="en-US" altLang="zh-CN" sz="1200" dirty="0">
                <a:latin typeface="Microsoft YaHei"/>
                <a:ea typeface="Microsoft YaHei"/>
              </a:rPr>
              <a:t>B</a:t>
            </a:r>
            <a:r>
              <a:rPr lang="zh-CN" sz="1200" dirty="0">
                <a:latin typeface="Microsoft YaHei"/>
                <a:ea typeface="Microsoft YaHei"/>
              </a:rPr>
              <a:t>则以账户资料加一条触发回复为样本，</a:t>
            </a:r>
            <a:r>
              <a:rPr lang="zh-CN" altLang="en-US" sz="1200" dirty="0">
                <a:latin typeface="Microsoft YaHei"/>
                <a:ea typeface="Microsoft YaHei"/>
              </a:rPr>
              <a:t>进行</a:t>
            </a:r>
            <a:r>
              <a:rPr lang="zh-CN" sz="1200" dirty="0">
                <a:latin typeface="Microsoft YaHei"/>
                <a:ea typeface="Microsoft YaHei"/>
              </a:rPr>
              <a:t>自动分类。</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这一页介绍作者如何使用进行数据采集。</a:t>
            </a:r>
            <a:r>
              <a:rPr lang="zh-CN" sz="1200" dirty="0">
                <a:latin typeface="Microsoft YaHei"/>
                <a:ea typeface="Microsoft YaHei"/>
              </a:rPr>
              <a:t>作者先用预实验找出能引来回复的关键词，剔除活动重叠的词，形成正式采样入口。</a:t>
            </a:r>
            <a:r>
              <a:rPr lang="zh-CN" altLang="en-US" sz="1200" dirty="0">
                <a:latin typeface="Microsoft YaHei"/>
                <a:ea typeface="Microsoft YaHei"/>
              </a:rPr>
              <a:t>利用固定的模版进行发帖</a:t>
            </a:r>
            <a:r>
              <a:rPr lang="zh-CN" sz="1200" dirty="0">
                <a:latin typeface="Microsoft YaHei"/>
                <a:ea typeface="Microsoft YaHei"/>
              </a:rPr>
              <a:t>，每帖只放一个触发词，便于区分</a:t>
            </a:r>
            <a:r>
              <a:rPr lang="zh-CN" altLang="en-US" sz="1200" dirty="0">
                <a:latin typeface="Microsoft YaHei"/>
                <a:ea typeface="Microsoft YaHei"/>
              </a:rPr>
              <a:t>每个关键测的影响</a:t>
            </a:r>
            <a:r>
              <a:rPr lang="zh-CN" sz="1200" dirty="0">
                <a:latin typeface="Microsoft YaHei"/>
                <a:ea typeface="Microsoft YaHei"/>
              </a:rPr>
              <a:t>。研究者用一个受控账户连续采集三十天，并补充回复账号的历史记录</a:t>
            </a:r>
            <a:r>
              <a:rPr lang="zh-CN" altLang="en-US" sz="1200" dirty="0">
                <a:latin typeface="Microsoft YaHei"/>
                <a:ea typeface="Microsoft YaHei"/>
              </a:rPr>
              <a:t>，形成实验采用的数据集</a:t>
            </a:r>
            <a:r>
              <a:rPr lang="zh-CN" sz="1200" dirty="0">
                <a:latin typeface="Microsoft YaHei"/>
                <a:ea typeface="Microsoft YaHei"/>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这张表</a:t>
            </a:r>
            <a:r>
              <a:rPr lang="zh-CN" altLang="en-US" sz="1200" dirty="0">
                <a:latin typeface="Microsoft YaHei"/>
                <a:ea typeface="Microsoft YaHei"/>
              </a:rPr>
              <a:t>展示了论文具体使用了哪些关键词。</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采集到回复账号之后，</a:t>
            </a:r>
            <a:r>
              <a:rPr lang="zh-CN" altLang="en-US" sz="1200" dirty="0">
                <a:latin typeface="Microsoft YaHei"/>
                <a:ea typeface="Microsoft YaHei"/>
              </a:rPr>
              <a:t>需要判断</a:t>
            </a:r>
            <a:r>
              <a:rPr lang="zh-CN" sz="1200" dirty="0">
                <a:latin typeface="Microsoft YaHei"/>
                <a:ea typeface="Microsoft YaHei"/>
              </a:rPr>
              <a:t>账号究竟是不是机器人？</a:t>
            </a:r>
            <a:r>
              <a:rPr lang="zh-CN" altLang="en-US" sz="1200" dirty="0">
                <a:latin typeface="Microsoft YaHei"/>
                <a:ea typeface="Microsoft YaHei"/>
              </a:rPr>
              <a:t>因为</a:t>
            </a:r>
            <a:r>
              <a:rPr lang="zh-CN" sz="1200" dirty="0">
                <a:latin typeface="Microsoft YaHei"/>
                <a:ea typeface="Microsoft YaHei"/>
              </a:rPr>
              <a:t>普通用户也可能回复含有关键词的帖子，所以收到回复本身还不够。作者为仍然活跃的账户</a:t>
            </a:r>
            <a:r>
              <a:rPr lang="zh-CN" altLang="en-US" sz="1200" dirty="0">
                <a:latin typeface="Microsoft YaHei"/>
                <a:ea typeface="Microsoft YaHei"/>
              </a:rPr>
              <a:t>收集</a:t>
            </a:r>
            <a:r>
              <a:rPr lang="zh-CN" sz="1200" dirty="0">
                <a:latin typeface="Microsoft YaHei"/>
                <a:ea typeface="Microsoft YaHei"/>
              </a:rPr>
              <a:t>了诱捕回复和近期回复记录，向标注者说明机器人的定义，再由三名标注者结合内容与行为分别判断。有分歧时，按多数票确定最终标签。</a:t>
            </a:r>
            <a:r>
              <a:rPr lang="en-US" altLang="zh-CN" sz="1200" dirty="0">
                <a:latin typeface="Microsoft YaHei"/>
                <a:ea typeface="Microsoft YaHei"/>
              </a:rPr>
              <a:t> </a:t>
            </a:r>
            <a:r>
              <a:rPr lang="zh-CN" sz="1200" dirty="0">
                <a:latin typeface="Microsoft YaHei"/>
                <a:ea typeface="Microsoft YaHei"/>
              </a:rPr>
              <a:t>论文报告，接受人工核验的活跃账户中，百分之九十六被标为机器人。这里判断的是自动化身份，后面检测实验</a:t>
            </a:r>
            <a:r>
              <a:rPr lang="zh-CN" altLang="en-US" sz="1200" dirty="0">
                <a:latin typeface="Microsoft YaHei"/>
                <a:ea typeface="Microsoft YaHei"/>
              </a:rPr>
              <a:t>会进一步</a:t>
            </a:r>
            <a:r>
              <a:rPr lang="zh-CN" sz="1200" dirty="0">
                <a:latin typeface="Microsoft YaHei"/>
                <a:ea typeface="Microsoft YaHei"/>
              </a:rPr>
              <a:t>判断活动是否恶意</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cs typeface="Microsoft YaHei"/>
              </a:rPr>
              <a:t>观察这</a:t>
            </a:r>
            <a:r>
              <a:rPr sz="1200" dirty="0" err="1">
                <a:latin typeface="Microsoft YaHei"/>
                <a:ea typeface="Microsoft YaHei"/>
                <a:cs typeface="Microsoft YaHei"/>
              </a:rPr>
              <a:t>两组统计，可以理解不同活动</a:t>
            </a:r>
            <a:r>
              <a:rPr lang="zh-CN" altLang="en-US" sz="1200" dirty="0">
                <a:latin typeface="Microsoft YaHei"/>
                <a:ea typeface="Microsoft YaHei"/>
                <a:cs typeface="Microsoft YaHei"/>
              </a:rPr>
              <a:t>类型的后续安排对触发机器人账户的特征影响</a:t>
            </a:r>
            <a:r>
              <a:rPr sz="1200" dirty="0">
                <a:latin typeface="Microsoft YaHei"/>
                <a:ea typeface="Microsoft YaHei"/>
                <a:cs typeface="Microsoft YaHei"/>
              </a:rPr>
              <a:t>。</a:t>
            </a:r>
            <a:endParaRPr dirty="0"/>
          </a:p>
          <a:p>
            <a:endParaRPr dirty="0"/>
          </a:p>
          <a:p>
            <a:r>
              <a:rPr sz="1200" dirty="0" err="1">
                <a:latin typeface="Microsoft YaHei"/>
                <a:ea typeface="Microsoft YaHei"/>
                <a:cs typeface="Microsoft YaHei"/>
              </a:rPr>
              <a:t>赠奖类开放私信的比例较高，回复中也经常要求私信。客服类则更常把用户引向邮箱</a:t>
            </a:r>
            <a:r>
              <a:rPr sz="1200" dirty="0">
                <a:latin typeface="Microsoft YaHei"/>
                <a:ea typeface="Microsoft YaHei"/>
                <a:cs typeface="Microsoft YaHei"/>
              </a:rPr>
              <a:t>，</a:t>
            </a:r>
            <a:r>
              <a:rPr lang="zh-CN" altLang="en-US" sz="1200" dirty="0">
                <a:latin typeface="Microsoft YaHei"/>
                <a:ea typeface="Microsoft YaHei"/>
                <a:cs typeface="Microsoft YaHei"/>
              </a:rPr>
              <a:t>这样</a:t>
            </a:r>
            <a:r>
              <a:rPr sz="1200" dirty="0" err="1">
                <a:latin typeface="Microsoft YaHei"/>
                <a:ea typeface="Microsoft YaHei"/>
                <a:cs typeface="Microsoft YaHei"/>
              </a:rPr>
              <a:t>即使代理本身没有开放私信，引流仍然可以继续</a:t>
            </a:r>
            <a:r>
              <a:rPr sz="1200" dirty="0">
                <a:latin typeface="Microsoft YaHei"/>
                <a:ea typeface="Microsoft YaHei"/>
                <a:cs typeface="Microsoft YaHei"/>
              </a:rPr>
              <a:t>。</a:t>
            </a:r>
            <a:endParaRPr dirty="0"/>
          </a:p>
          <a:p>
            <a:endParaRPr dirty="0"/>
          </a:p>
          <a:p>
            <a:r>
              <a:rPr sz="1200" dirty="0" err="1">
                <a:latin typeface="Microsoft YaHei"/>
                <a:ea typeface="Microsoft YaHei"/>
                <a:cs typeface="Microsoft YaHei"/>
              </a:rPr>
              <a:t>这说明账户设置与回复内容提供了互补信息</a:t>
            </a:r>
            <a:r>
              <a:rPr lang="zh-CN" altLang="en-US" sz="1200" dirty="0">
                <a:latin typeface="Microsoft YaHei"/>
                <a:ea typeface="Microsoft YaHei"/>
                <a:cs typeface="Microsoft YaHei"/>
              </a:rPr>
              <a:t>，更适用于每种类型的有害活动。</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dirty="0">
                <a:latin typeface="Microsoft YaHei"/>
                <a:ea typeface="Microsoft YaHei"/>
              </a:rPr>
              <a:t>我们先看</a:t>
            </a:r>
            <a:r>
              <a:rPr lang="zh-CN" altLang="en-US" sz="1200" dirty="0">
                <a:latin typeface="Microsoft YaHei"/>
                <a:ea typeface="Microsoft YaHei"/>
              </a:rPr>
              <a:t>代理</a:t>
            </a:r>
            <a:r>
              <a:rPr lang="zh-CN" altLang="zh-CN" sz="1200" dirty="0">
                <a:latin typeface="Microsoft YaHei"/>
                <a:ea typeface="Microsoft YaHei"/>
              </a:rPr>
              <a:t>回复内容</a:t>
            </a:r>
            <a:r>
              <a:rPr lang="zh-CN" altLang="en-US" sz="1200" dirty="0">
                <a:latin typeface="Microsoft YaHei"/>
                <a:ea typeface="Microsoft YaHei"/>
              </a:rPr>
              <a:t>的特征</a:t>
            </a:r>
            <a:r>
              <a:rPr lang="zh-CN" altLang="zh-CN" sz="1200" dirty="0">
                <a:latin typeface="Microsoft YaHei"/>
                <a:ea typeface="Microsoft YaHei"/>
              </a:rPr>
              <a:t>。</a:t>
            </a:r>
            <a:r>
              <a:rPr lang="zh-CN" sz="1200" dirty="0">
                <a:latin typeface="Microsoft YaHei"/>
                <a:ea typeface="Microsoft YaHei"/>
              </a:rPr>
              <a:t>作者分别比较了</a:t>
            </a:r>
            <a:r>
              <a:rPr lang="zh-CN" altLang="zh-CN" sz="1200" dirty="0">
                <a:latin typeface="Microsoft YaHei"/>
                <a:ea typeface="Microsoft YaHei"/>
              </a:rPr>
              <a:t>同一类活动的回复</a:t>
            </a:r>
            <a:r>
              <a:rPr lang="zh-CN" altLang="en-US" sz="1200" dirty="0">
                <a:latin typeface="Microsoft YaHei"/>
                <a:ea typeface="Microsoft YaHei"/>
              </a:rPr>
              <a:t>的</a:t>
            </a:r>
            <a:r>
              <a:rPr lang="zh-CN" sz="1200" dirty="0">
                <a:latin typeface="Microsoft YaHei"/>
                <a:ea typeface="Microsoft YaHei"/>
              </a:rPr>
              <a:t>含义和词汇。左图越靠右，说明语义越接近；右图越靠左，说明实际使用的词语重叠越少。纵轴</a:t>
            </a:r>
            <a:r>
              <a:rPr lang="zh-CN" altLang="en-US" sz="1200" dirty="0">
                <a:latin typeface="Microsoft YaHei"/>
                <a:ea typeface="Microsoft YaHei"/>
              </a:rPr>
              <a:t>代表</a:t>
            </a:r>
            <a:r>
              <a:rPr lang="zh-CN" sz="1200" dirty="0">
                <a:latin typeface="Microsoft YaHei"/>
                <a:ea typeface="Microsoft YaHei"/>
              </a:rPr>
              <a:t>是累计比例，</a:t>
            </a:r>
            <a:r>
              <a:rPr lang="zh-CN" altLang="en-US" sz="1200" dirty="0">
                <a:latin typeface="Microsoft YaHei"/>
                <a:ea typeface="Microsoft YaHei"/>
              </a:rPr>
              <a:t>（</a:t>
            </a:r>
            <a:r>
              <a:rPr lang="zh-CN" sz="1200" dirty="0">
                <a:latin typeface="Microsoft YaHei"/>
                <a:ea typeface="Microsoft YaHei"/>
              </a:rPr>
              <a:t>例如某个位置达到零点八，就表示百分之八十的回复对，其相似度不超过这个位置</a:t>
            </a:r>
            <a:r>
              <a:rPr lang="zh-CN" altLang="en-US" sz="1200" dirty="0">
                <a:latin typeface="Microsoft YaHei"/>
                <a:ea typeface="Microsoft YaHei"/>
              </a:rPr>
              <a:t>）</a:t>
            </a:r>
            <a:r>
              <a:rPr lang="zh-CN" sz="1200" dirty="0">
                <a:latin typeface="Microsoft YaHei"/>
                <a:ea typeface="Microsoft YaHei"/>
              </a:rPr>
              <a:t>。把两张图放在一起看，主要发现是：很多回复的意思高度相似，措辞却有明显变化</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文本可以改写，那回复的时间规律是否还会暴露自动化行为？作者把每个账户回复其他用户的记录按时间排列，观察它是否连续发出多条密集回复。左图要求至少连续五条，右图提高到十条，横轴逐步放宽时间窗口。同一个横轴位置，曲线越高，说明满足条件的账户越多。论文发现，超过四分之三的赠奖类账户出现了相邻回复间隔不超过十五秒的短时突发行为，而欺骗性客服的回复节奏普遍更慢。提高连续回复数量要求后，活动之间的差异仍然存在。这说明触发机器人没有一种统一的工作节奏，单靠高频发帖规则会漏掉较慢的类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在此之前，</a:t>
            </a:r>
            <a:r>
              <a:rPr lang="zh-CN" sz="1200" dirty="0">
                <a:latin typeface="Microsoft YaHei"/>
                <a:ea typeface="Microsoft YaHei"/>
              </a:rPr>
              <a:t>我们观察的还是单个账户。接下来要问：看起来互不相识的账号，会不会在为同一个接收方引流</a:t>
            </a:r>
            <a:r>
              <a:rPr lang="zh-CN" altLang="en-US" sz="1200" dirty="0">
                <a:latin typeface="Microsoft YaHei"/>
                <a:ea typeface="Microsoft YaHei"/>
              </a:rPr>
              <a:t>。</a:t>
            </a:r>
            <a:r>
              <a:rPr lang="zh-CN" sz="1200" dirty="0">
                <a:latin typeface="Microsoft YaHei"/>
                <a:ea typeface="Microsoft YaHei"/>
              </a:rPr>
              <a:t>作者从回复里提取邮箱、网址或被推荐的账号，再按相同联系方式把代理归组。</a:t>
            </a:r>
            <a:r>
              <a:rPr lang="zh-CN" altLang="en-US" sz="1200" dirty="0">
                <a:latin typeface="Microsoft YaHei"/>
                <a:ea typeface="Microsoft YaHei"/>
              </a:rPr>
              <a:t>根据</a:t>
            </a:r>
            <a:r>
              <a:rPr lang="zh-CN" sz="1200" dirty="0">
                <a:latin typeface="Microsoft YaHei"/>
                <a:ea typeface="Microsoft YaHei"/>
              </a:rPr>
              <a:t>统计，即使账号名称和回复措辞不同，共享的引流目的</a:t>
            </a:r>
            <a:r>
              <a:rPr lang="zh-CN" altLang="en-US" sz="1200" dirty="0">
                <a:latin typeface="Microsoft YaHei"/>
                <a:ea typeface="Microsoft YaHei"/>
              </a:rPr>
              <a:t>链接</a:t>
            </a:r>
            <a:r>
              <a:rPr lang="zh-CN" sz="1200" dirty="0">
                <a:latin typeface="Microsoft YaHei"/>
                <a:ea typeface="Microsoft YaHei"/>
              </a:rPr>
              <a:t>仍可能把它们联系起来。论文用这些端点近似表示 Master，也就是引流接收方。</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发现这些账户以后，</a:t>
            </a:r>
            <a:r>
              <a:rPr lang="zh-CN" altLang="en-US" sz="1200" dirty="0">
                <a:latin typeface="Microsoft YaHei"/>
                <a:ea typeface="Microsoft YaHei"/>
              </a:rPr>
              <a:t>论文还观察了这些账号的封禁情况。</a:t>
            </a:r>
            <a:r>
              <a:rPr lang="zh-CN" sz="1200" dirty="0">
                <a:latin typeface="Microsoft YaHei"/>
                <a:ea typeface="Microsoft YaHei"/>
              </a:rPr>
              <a:t>左图</a:t>
            </a:r>
            <a:r>
              <a:rPr lang="zh-CN" altLang="en-US" sz="1200" dirty="0">
                <a:latin typeface="Microsoft YaHei"/>
                <a:ea typeface="Microsoft YaHei"/>
              </a:rPr>
              <a:t>为随</a:t>
            </a:r>
            <a:r>
              <a:rPr lang="zh-CN" altLang="zh-CN" sz="1200" dirty="0">
                <a:latin typeface="Microsoft YaHei"/>
                <a:ea typeface="Microsoft YaHei"/>
              </a:rPr>
              <a:t>月份</a:t>
            </a:r>
            <a:r>
              <a:rPr lang="zh-CN" altLang="en-US" sz="1200" dirty="0">
                <a:latin typeface="Microsoft YaHei"/>
                <a:ea typeface="Microsoft YaHei"/>
              </a:rPr>
              <a:t>封禁账号的比例。右图为可访问账号最后产生回复的月份。数据显示</a:t>
            </a:r>
            <a:r>
              <a:rPr lang="zh-CN" altLang="en-US" sz="1200" b="0" dirty="0">
                <a:solidFill>
                  <a:srgbClr val="26282D"/>
                </a:solidFill>
                <a:latin typeface="Microsoft YaHei"/>
                <a:ea typeface="Microsoft YaHei"/>
                <a:cs typeface="Microsoft YaHei"/>
              </a:rPr>
              <a:t>回查时多数样本已进入休眠。</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前面解释了触发机器人怎样活动。下面进入检测实验</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这里先明确模型要完成的任务。每个样本由一个账户的资料和它的一条触发回复组成。第一项任务把三类恶意活动合在一起，判断账户是恶意还是良性。第二项保留客服、非法产品、赠奖和良性四类，进一步判断它参与哪种活动。这两项任务使用同一批数据，但分别训练和评价。作者把百分之八十的数据用于训练，剩下百分之二十留作测试，并用十个不同随机种子重复实验，报告平均值和波动。后面的表主要看三个指标：F1</a:t>
            </a:r>
            <a:r>
              <a:rPr lang="zh-CN" altLang="en-US" sz="1200" dirty="0">
                <a:latin typeface="Microsoft YaHei"/>
                <a:ea typeface="Microsoft YaHei"/>
              </a:rPr>
              <a:t>值</a:t>
            </a:r>
            <a:r>
              <a:rPr lang="zh-CN" sz="1200" dirty="0">
                <a:latin typeface="Microsoft YaHei"/>
                <a:ea typeface="Microsoft YaHei"/>
              </a:rPr>
              <a:t>，召回率，MCC 。</a:t>
            </a:r>
            <a:r>
              <a:rPr lang="zh-CN" altLang="en-US" sz="1200" dirty="0">
                <a:latin typeface="Microsoft YaHei"/>
                <a:ea typeface="Microsoft YaHei"/>
              </a:rPr>
              <a:t>实验</a:t>
            </a:r>
            <a:r>
              <a:rPr lang="zh-CN" sz="1200" dirty="0">
                <a:latin typeface="Microsoft YaHei"/>
                <a:ea typeface="Microsoft YaHei"/>
              </a:rPr>
              <a:t>采用宏平均，让样本较少的类别也获得相同的评价权重。这样，实验既检出</a:t>
            </a:r>
            <a:r>
              <a:rPr lang="zh-CN" altLang="en-US" sz="1200" dirty="0">
                <a:latin typeface="Microsoft YaHei"/>
                <a:ea typeface="Microsoft YaHei"/>
              </a:rPr>
              <a:t>是否有</a:t>
            </a:r>
            <a:r>
              <a:rPr lang="zh-CN" sz="1200" dirty="0">
                <a:latin typeface="Microsoft YaHei"/>
                <a:ea typeface="Microsoft YaHei"/>
              </a:rPr>
              <a:t>风险，也检验</a:t>
            </a:r>
            <a:r>
              <a:rPr lang="zh-CN" altLang="en-US" sz="1200" dirty="0">
                <a:latin typeface="Microsoft YaHei"/>
                <a:ea typeface="Microsoft YaHei"/>
              </a:rPr>
              <a:t>是否可以</a:t>
            </a:r>
            <a:r>
              <a:rPr lang="zh-CN" sz="1200" dirty="0">
                <a:latin typeface="Microsoft YaHei"/>
                <a:ea typeface="Microsoft YaHei"/>
              </a:rPr>
              <a:t>分清活动类型。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为了判断结果有没有竞争力，作者一共比较了十五种基线。这张表可以按输入信息来理解：传统机器学习方法组合多类特征，文本模型重点看回复内容，已有机器人检测工具主要依赖账户属性，大语言模型则通过提示理解资料与回复。另外还有按固定阈值判断的规则方法。选择这些方案，是为了</a:t>
            </a:r>
            <a:r>
              <a:rPr lang="zh-CN" altLang="en-US" sz="1200" dirty="0">
                <a:latin typeface="Microsoft YaHei"/>
                <a:ea typeface="Microsoft YaHei"/>
              </a:rPr>
              <a:t>找出</a:t>
            </a:r>
            <a:r>
              <a:rPr lang="zh-CN" sz="1200" dirty="0">
                <a:latin typeface="Microsoft YaHei"/>
                <a:ea typeface="Microsoft YaHei"/>
              </a:rPr>
              <a:t>哪些检测思路更有效。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这里列出了五个大语言模型的具体版本和规模。接下来比较的是这些版本在论文提示设置下的表现</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先看最直接的检测任务：能不能区分恶意和良性代理？这张表里，XGBoost 的 F1 为</a:t>
            </a:r>
            <a:r>
              <a:rPr lang="en-US" altLang="zh-CN" sz="1200" dirty="0">
                <a:latin typeface="Microsoft YaHei"/>
                <a:ea typeface="Microsoft YaHei"/>
              </a:rPr>
              <a:t>0.88</a:t>
            </a:r>
            <a:r>
              <a:rPr lang="zh-CN" sz="1200" dirty="0">
                <a:latin typeface="Microsoft YaHei"/>
                <a:ea typeface="Microsoft YaHei"/>
              </a:rPr>
              <a:t>，MCC 为</a:t>
            </a:r>
            <a:r>
              <a:rPr lang="en-US" altLang="zh-CN" sz="1200" dirty="0">
                <a:latin typeface="Microsoft YaHei"/>
                <a:ea typeface="Microsoft YaHei"/>
              </a:rPr>
              <a:t>0.77</a:t>
            </a:r>
            <a:r>
              <a:rPr lang="zh-CN" sz="1200" dirty="0">
                <a:latin typeface="Microsoft YaHei"/>
                <a:ea typeface="Microsoft YaHei"/>
              </a:rPr>
              <a:t>，两项均值都是最高的。Phi-4 的 F1 为零点八七，也比较接近。这里还有一个值得注意的地方：召回率最高的是逻辑回归，所以不同指标下的领先者并不完全相同</a:t>
            </a:r>
            <a:r>
              <a:rPr lang="zh-CN" altLang="en-US" sz="1200" dirty="0">
                <a:latin typeface="Microsoft YaHei"/>
                <a:ea typeface="Microsoft YaHei"/>
              </a:rPr>
              <a:t>。</a:t>
            </a:r>
            <a:r>
              <a:rPr lang="zh-CN" sz="1200" dirty="0">
                <a:latin typeface="Microsoft YaHei"/>
                <a:ea typeface="Microsoft YaHei"/>
              </a:rPr>
              <a:t>整体来看，组合多类信息的传统模型取得了有竞争力的效果。这个结果支持了检测的可行性，作者也据此选择 XGBoost 做后续实验。接下来再看，它能否进一步区分具体活动。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这一页</a:t>
            </a:r>
            <a:r>
              <a:rPr lang="zh-CN" altLang="en-US" sz="1200" dirty="0">
                <a:latin typeface="Microsoft YaHei"/>
                <a:ea typeface="Microsoft YaHei"/>
              </a:rPr>
              <a:t>展示的实验</a:t>
            </a:r>
            <a:r>
              <a:rPr lang="zh-CN" sz="1200" dirty="0">
                <a:latin typeface="Microsoft YaHei"/>
                <a:ea typeface="Microsoft YaHei"/>
              </a:rPr>
              <a:t>是</a:t>
            </a:r>
            <a:r>
              <a:rPr lang="zh-CN" altLang="en-US" sz="1200" dirty="0">
                <a:latin typeface="Microsoft YaHei"/>
                <a:ea typeface="Microsoft YaHei"/>
              </a:rPr>
              <a:t>把恶意活动</a:t>
            </a:r>
            <a:r>
              <a:rPr lang="zh-CN" sz="1200" dirty="0">
                <a:latin typeface="Microsoft YaHei"/>
                <a:ea typeface="Microsoft YaHei"/>
              </a:rPr>
              <a:t>细化</a:t>
            </a:r>
            <a:r>
              <a:rPr lang="zh-CN" altLang="en-US" sz="1200" dirty="0">
                <a:latin typeface="Microsoft YaHei"/>
                <a:ea typeface="Microsoft YaHei"/>
              </a:rPr>
              <a:t>到具体的分类</a:t>
            </a:r>
            <a:r>
              <a:rPr lang="zh-CN" sz="1200" dirty="0">
                <a:latin typeface="Microsoft YaHei"/>
                <a:ea typeface="Microsoft YaHei"/>
              </a:rPr>
              <a:t>。一个看起来有些反直觉的结果是，类别增加后，多数模型的 F1 反而高于二分类。作者的解释是，三类恶意活动的行为并不一样，把它们压成一个标签会掩盖差异，保留具体活动类别，模型反而更容易学到各类特有的模式。这项实验说明，检测不仅能够给出恶意标签，还能提供活动类型。</a:t>
            </a:r>
            <a:r>
              <a:rPr lang="zh-CN" altLang="en-US" sz="1200" dirty="0">
                <a:latin typeface="Microsoft YaHei"/>
                <a:ea typeface="Microsoft YaHei"/>
              </a:rPr>
              <a:t>但这</a:t>
            </a:r>
            <a:r>
              <a:rPr lang="zh-CN" sz="1200" dirty="0">
                <a:latin typeface="Microsoft YaHei"/>
                <a:ea typeface="Microsoft YaHei"/>
              </a:rPr>
              <a:t>个结果</a:t>
            </a:r>
            <a:r>
              <a:rPr lang="zh-CN" altLang="en-US" sz="1200" dirty="0">
                <a:latin typeface="Microsoft YaHei"/>
                <a:ea typeface="Microsoft YaHei"/>
              </a:rPr>
              <a:t>也</a:t>
            </a:r>
            <a:r>
              <a:rPr lang="zh-CN" sz="1200" dirty="0">
                <a:latin typeface="Microsoft YaHei"/>
                <a:ea typeface="Microsoft YaHei"/>
              </a:rPr>
              <a:t>与本文的标签结构有关，不</a:t>
            </a:r>
            <a:r>
              <a:rPr lang="zh-CN" altLang="en-US" sz="1200" dirty="0">
                <a:latin typeface="Microsoft YaHei"/>
                <a:ea typeface="Microsoft YaHei"/>
              </a:rPr>
              <a:t>支持</a:t>
            </a:r>
            <a:r>
              <a:rPr lang="zh-CN" sz="1200" dirty="0">
                <a:latin typeface="Microsoft YaHei"/>
                <a:ea typeface="Microsoft YaHei"/>
              </a:rPr>
              <a:t>推广</a:t>
            </a:r>
            <a:r>
              <a:rPr lang="zh-CN" altLang="en-US" sz="1200" dirty="0">
                <a:latin typeface="Microsoft YaHei"/>
                <a:ea typeface="Microsoft YaHei"/>
              </a:rPr>
              <a:t>在触发机器人问题上</a:t>
            </a:r>
            <a:r>
              <a:rPr lang="zh-CN" sz="1200" dirty="0">
                <a:latin typeface="Microsoft YaHei"/>
                <a:ea typeface="Microsoft YaHei"/>
              </a:rPr>
              <a:t>为四分类总比二分类容易。</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a:latin typeface="Microsoft YaHei"/>
                <a:ea typeface="Microsoft YaHei"/>
              </a:rPr>
              <a:t>刚才的大语言模型结果使用了三个提示示例，那换一个示例数量，结论会不会变化？这张表把示例数量从零个增加到五个，上半部分是二分类，下半部分是活动四分类。看 Gemma-2 就很直观：二分类从三个示例的零点七三提高到五个示例的零点九零，四分类却从零点八九降到零点五三。同一个模型在两个任务里，变化方向都不一样。所以示例可以帮助模型理解标签，但增加示例并不保证继续提升。这里改变的是提示里的参考案例数量，模型参数保持不变。这项补充实验的作用，是检查大语言模型结果对提示条件有多敏感，也提醒我们，主表中的模型排名需要连同三个示例这一设置一起理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接下来固定使用 XGBoost，只改变输入信息。</a:t>
            </a:r>
            <a:r>
              <a:rPr lang="zh-CN" altLang="en-US" sz="1200" dirty="0">
                <a:latin typeface="Microsoft YaHei"/>
                <a:ea typeface="Microsoft YaHei"/>
              </a:rPr>
              <a:t>进行</a:t>
            </a:r>
            <a:r>
              <a:rPr lang="zh-CN" sz="1200" dirty="0">
                <a:latin typeface="Microsoft YaHei"/>
                <a:ea typeface="Microsoft YaHei"/>
              </a:rPr>
              <a:t>消融实验，先用全部特征作为基线，再去掉文本，然后在此基础上去掉类别信息，最后去掉布尔信息，只保留数量等数值属性，每种设置都重新训练并测试。这组设置是累计删除，因此要按逐步减少信息的过程来理解。每一步的降幅不能直接当成各类特征独立贡献的排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结果表明，两项任务都从完整特征中获益。先看四分类，去掉回复语义后，F1 </a:t>
            </a:r>
            <a:r>
              <a:rPr lang="zh-CN" altLang="en-US" sz="1200" dirty="0">
                <a:latin typeface="Microsoft YaHei"/>
                <a:ea typeface="Microsoft YaHei"/>
              </a:rPr>
              <a:t>值降低</a:t>
            </a:r>
            <a:r>
              <a:rPr lang="zh-CN" sz="1200" dirty="0">
                <a:latin typeface="Microsoft YaHei"/>
                <a:ea typeface="Microsoft YaHei"/>
              </a:rPr>
              <a:t>，说明回复表达的内容有助于区分活动。继续去掉类别信息后，二分类和四分类的 F1 分别降到</a:t>
            </a:r>
            <a:r>
              <a:rPr lang="en-US" altLang="zh-CN" sz="1200" dirty="0">
                <a:latin typeface="Microsoft YaHei"/>
                <a:ea typeface="Microsoft YaHei"/>
              </a:rPr>
              <a:t>0.67</a:t>
            </a:r>
            <a:r>
              <a:rPr lang="zh-CN" sz="1200" dirty="0">
                <a:latin typeface="Microsoft YaHei"/>
                <a:ea typeface="Microsoft YaHei"/>
              </a:rPr>
              <a:t>和</a:t>
            </a:r>
            <a:r>
              <a:rPr lang="en-US" altLang="zh-CN" sz="1200" dirty="0">
                <a:latin typeface="Microsoft YaHei"/>
                <a:ea typeface="Microsoft YaHei"/>
              </a:rPr>
              <a:t>0.71</a:t>
            </a:r>
            <a:r>
              <a:rPr lang="zh-CN" sz="1200" dirty="0">
                <a:latin typeface="Microsoft YaHei"/>
                <a:ea typeface="Microsoft YaHei"/>
              </a:rPr>
              <a:t>。只留下数值特征时，则进一步</a:t>
            </a:r>
            <a:r>
              <a:rPr lang="zh-CN" altLang="en-US" sz="1200" dirty="0">
                <a:latin typeface="Microsoft YaHei"/>
                <a:ea typeface="Microsoft YaHei"/>
              </a:rPr>
              <a:t>降低，</a:t>
            </a:r>
            <a:r>
              <a:rPr lang="zh-CN" sz="1200" dirty="0">
                <a:latin typeface="Microsoft YaHei"/>
                <a:ea typeface="Microsoft YaHei"/>
              </a:rPr>
              <a:t>表中的召回率和 MCC 也整体下降</a:t>
            </a:r>
            <a:r>
              <a:rPr lang="zh-CN" altLang="en-US" sz="1200" dirty="0">
                <a:latin typeface="Microsoft YaHei"/>
                <a:ea typeface="Microsoft YaHei"/>
              </a:rPr>
              <a:t>。</a:t>
            </a:r>
            <a:r>
              <a:rPr lang="zh-CN" sz="1200" dirty="0">
                <a:latin typeface="Microsoft YaHei"/>
                <a:ea typeface="Microsoft YaHei"/>
              </a:rPr>
              <a:t>这个实验</a:t>
            </a:r>
            <a:r>
              <a:rPr lang="zh-CN" altLang="en-US" sz="1200" dirty="0">
                <a:latin typeface="Microsoft YaHei"/>
                <a:ea typeface="Microsoft YaHei"/>
              </a:rPr>
              <a:t>与之前</a:t>
            </a:r>
            <a:r>
              <a:rPr lang="zh-CN" sz="1200" dirty="0">
                <a:latin typeface="Microsoft YaHei"/>
                <a:ea typeface="Microsoft YaHei"/>
              </a:rPr>
              <a:t>行为分析与检测结果</a:t>
            </a:r>
            <a:r>
              <a:rPr lang="zh-CN" altLang="en-US" sz="1200" dirty="0">
                <a:latin typeface="Microsoft YaHei"/>
                <a:ea typeface="Microsoft YaHei"/>
              </a:rPr>
              <a:t>产生了互相印证</a:t>
            </a:r>
            <a:r>
              <a:rPr lang="zh-CN" sz="1200" dirty="0">
                <a:latin typeface="Microsoft YaHei"/>
                <a:ea typeface="Microsoft YaHei"/>
              </a:rPr>
              <a:t>：活动之间在回复含义、联系方式等方面存在差异，模型确实能够利用这些信息。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现实里的恶意活动会不断变化，因此随机划分测试集还不够：训练和测试都见过同类活动时表现好，不代表遇到另一类活动也能识别。作者把一种恶意活动从训练中留出去。一对多使用两类已知恶意活动加良性样本训练，再检测第三类；一对一只用一种恶意活动加良性样本训练，再检测另一种。随后，作者逐步加入目标活动的标注样本，观察模型能否适应它。</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latin typeface="Microsoft YaHei"/>
                <a:ea typeface="Microsoft YaHei"/>
              </a:rPr>
              <a:t>图中</a:t>
            </a:r>
            <a:r>
              <a:rPr lang="zh-CN" altLang="zh-CN" sz="1200" dirty="0">
                <a:latin typeface="Microsoft YaHei"/>
                <a:ea typeface="Microsoft YaHei"/>
              </a:rPr>
              <a:t>横轴的零，表示完全没见过目标活动；向右则表示已经获得少量目标标签。这样可以分别评价直接迁移的能力，以及补充新数据后的改善。</a:t>
            </a:r>
            <a:r>
              <a:rPr lang="zh-CN" sz="1200" dirty="0">
                <a:latin typeface="Microsoft YaHei"/>
                <a:ea typeface="Microsoft YaHei"/>
              </a:rPr>
              <a:t>先看两张图最左边的点，也就是没有加入目标活动样本的时候。右图的一对一迁移差别很大这说明，一种活动上学到的规则，未必适用于另一种活动。对比左图，当训练同时包含非法产品和赠奖，再检测客服时，起点提高到</a:t>
            </a:r>
            <a:r>
              <a:rPr lang="en-US" altLang="zh-CN" sz="1200" dirty="0">
                <a:latin typeface="Microsoft YaHei"/>
                <a:ea typeface="Microsoft YaHei"/>
              </a:rPr>
              <a:t>0.88</a:t>
            </a:r>
            <a:r>
              <a:rPr lang="zh-CN" sz="1200" dirty="0">
                <a:latin typeface="Microsoft YaHei"/>
                <a:ea typeface="Microsoft YaHei"/>
              </a:rPr>
              <a:t>，显示覆盖更多行为类型能够改善这个方向的迁移。再沿横轴向右看，多数组合在加入目标活动样本后继续提高。这组实验给出两点实际启示：训练数据需要覆盖多样的活动，发现新类型后，补充少量标注也可能很有帮助。但提升幅度取决于具体活动组合</a:t>
            </a:r>
            <a:r>
              <a:rPr lang="zh-CN" altLang="en-US" sz="1200" dirty="0">
                <a:latin typeface="Microsoft YaHei"/>
                <a:ea typeface="Microsoft YaHei"/>
              </a:rPr>
              <a:t>。</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a:latin typeface="Microsoft YaHei"/>
                <a:ea typeface="Microsoft YaHei"/>
              </a:rPr>
              <a:t>最后，我总结一下这篇论文的主要贡献。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本文提出 TBTrackerX，用于检测在 X 等 OSN 上自主运行的触发机器人代理。研究采用测量驱动方法，分析良性与恶意代理的技术与流程；在恶意代理检测和活动分类两项任务上比较 15 种基线，并开展特征消融与泛化研究。 结果表明，经典 XGBoost 模型在两项任务上分别取得 0.88 和 0.92 的 F1 分数，说明只要充分利用丰富的多模态特征，设计良好而相对简单的模型可以优于复杂基线。总体而言，TBTrackerX 揭 示了不断演化的触发机器人生态和日益增长的协同社交媒体操纵活动，并为现实环境中的检测提供 了可行路径。</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sz="1200" dirty="0">
                <a:latin typeface="Microsoft YaHei"/>
                <a:ea typeface="Microsoft YaHei"/>
              </a:rPr>
              <a:t>接下来回到现实使用条件，看看哪些结论可以推广，哪些问题还需要继续验证。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数据集无法覆盖 X 上的全部触发机器人，因此结果是对活动规模与影响的保守下界估计。 受平台速率限制，抓取器每 12 小时采集一次，可能遗漏活动后很快删除的短寿命代理。但该框架仍可在未来继续调整。 X 缺少可见且可靠的年龄、性别或位置属性，因此测试账户无法模拟多样人口特征；研究只使 用一个账户，</a:t>
            </a:r>
            <a:r>
              <a:rPr lang="zh-CN" altLang="en-US" dirty="0"/>
              <a:t>本文无法包含</a:t>
            </a:r>
            <a:r>
              <a:rPr lang="zh-CN" altLang="zh-CN" dirty="0"/>
              <a:t>人口因素对目标选择的影响。</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当前实验只使用一个测试账户。为降低关键词选择偏差并隔离单个触发词的作用，每 条帖子有意只使用一个触发词；多个触发词的组合效应值得继续研究。当前 LLM 特征序列化使用 简单文本模板，未来将探索特征排序和在关键特征前加入“critically”等提示的高级方法。还需要</a:t>
            </a:r>
            <a:endParaRPr lang="zh-CN" sz="1200" dirty="0">
              <a:latin typeface="Microsoft YaHei"/>
              <a:ea typeface="Microsoft YaHe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63BF20E-9716-4943-97A8-57DC5DB2F6F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C2C6F63-5DA8-4314-A31F-BAB4D4F6B5D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DC099DA-E619-49CA-9E6F-191ECD8EDB2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59AE55B-5914-4BCB-A011-212DEF469D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09BC8F1B-A79D-40CF-A8B9-D067A51F245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1B96D96-B054-4E22-8E67-35E7FE5708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58F309D5-468F-4D32-BADE-5831896CD37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2FF054A3-F592-43CE-9A52-2609BCCD797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1B0F341-3943-4CD0-97DB-5D7F73E66E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31AB3D59-1A90-4A5A-B3DC-0F7118050B7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chart" Target="../charts/char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3">
            <a:extLst>
              <a:ext uri="{FF2B5EF4-FFF2-40B4-BE49-F238E27FC236}">
                <a16:creationId xmlns:a16="http://schemas.microsoft.com/office/drawing/2014/main" id="{4A347257-578D-4434-BD01-D0E17989BD46}"/>
              </a:ext>
            </a:extLst>
          </p:cNvPr>
          <p:cNvSpPr>
            <a:spLocks noGrp="1"/>
          </p:cNvSpPr>
          <p:nvPr/>
        </p:nvSpPr>
        <p:spPr>
          <a:xfrm>
            <a:off x="685800" y="1438275"/>
            <a:ext cx="9525000" cy="419100"/>
          </a:xfrm>
          <a:prstGeom prst="rect">
            <a:avLst/>
          </a:prstGeom>
          <a:noFill/>
          <a:ln w="0">
            <a:noFill/>
          </a:ln>
        </p:spPr>
        <p:txBody>
          <a:bodyPr wrap="square" lIns="0" tIns="0" rIns="0" bIns="0" anchor="t">
            <a:noAutofit/>
          </a:bodyPr>
          <a:lstStyle>
            <a:defPPr algn="l">
              <a:defRPr sz="2100" b="1">
                <a:solidFill>
                  <a:srgbClr val="982D35"/>
                </a:solidFill>
                <a:latin typeface="Microsoft YaHei"/>
                <a:ea typeface="Microsoft YaHei"/>
                <a:cs typeface="Microsoft YaHei"/>
              </a:defRPr>
            </a:defPPr>
          </a:lstStyle>
          <a:p>
            <a:pPr algn="l">
              <a:buNone/>
              <a:defRPr sz="2100" b="1">
                <a:solidFill>
                  <a:srgbClr val="982D35"/>
                </a:solidFill>
                <a:latin typeface="Microsoft YaHei"/>
                <a:ea typeface="Microsoft YaHei"/>
                <a:cs typeface="Microsoft YaHei"/>
              </a:defRPr>
            </a:pPr>
            <a:r>
              <a:rPr sz="2100" b="1" dirty="0">
                <a:solidFill>
                  <a:srgbClr val="982D35"/>
                </a:solidFill>
                <a:latin typeface="Microsoft YaHei"/>
                <a:ea typeface="Microsoft YaHei"/>
                <a:cs typeface="Microsoft YaHei"/>
              </a:rPr>
              <a:t>NDSS 2026</a:t>
            </a:r>
          </a:p>
        </p:txBody>
      </p:sp>
      <p:sp>
        <p:nvSpPr>
          <p:cNvPr id="3" name="txt-4">
            <a:extLst>
              <a:ext uri="{FF2B5EF4-FFF2-40B4-BE49-F238E27FC236}">
                <a16:creationId xmlns:a16="http://schemas.microsoft.com/office/drawing/2014/main" id="{246E2399-9D7D-4802-8461-A6B61FC16E31}"/>
              </a:ext>
            </a:extLst>
          </p:cNvPr>
          <p:cNvSpPr>
            <a:spLocks noGrp="1"/>
          </p:cNvSpPr>
          <p:nvPr/>
        </p:nvSpPr>
        <p:spPr>
          <a:xfrm>
            <a:off x="619125" y="1959102"/>
            <a:ext cx="10763250" cy="1332738"/>
          </a:xfrm>
          <a:prstGeom prst="rect">
            <a:avLst/>
          </a:prstGeom>
          <a:noFill/>
          <a:ln w="0">
            <a:noFill/>
          </a:ln>
        </p:spPr>
        <p:txBody>
          <a:bodyPr wrap="square" lIns="0" tIns="0" rIns="0" bIns="0" anchor="t">
            <a:noAutofit/>
          </a:bodyPr>
          <a:lstStyle>
            <a:defPPr algn="l">
              <a:defRPr sz="8100" b="1">
                <a:solidFill>
                  <a:srgbClr val="982D35"/>
                </a:solidFill>
                <a:latin typeface="Microsoft YaHei"/>
                <a:ea typeface="Microsoft YaHei"/>
                <a:cs typeface="Microsoft YaHei"/>
              </a:defRPr>
            </a:defPPr>
          </a:lstStyle>
          <a:p>
            <a:pPr algn="l">
              <a:buNone/>
              <a:defRPr sz="8100" b="1">
                <a:solidFill>
                  <a:srgbClr val="982D35"/>
                </a:solidFill>
                <a:latin typeface="Microsoft YaHei"/>
                <a:ea typeface="Microsoft YaHei"/>
                <a:cs typeface="Microsoft YaHei"/>
              </a:defRPr>
            </a:pPr>
            <a:r>
              <a:rPr sz="8100" b="1">
                <a:solidFill>
                  <a:srgbClr val="982D35"/>
                </a:solidFill>
                <a:latin typeface="Microsoft YaHei"/>
                <a:ea typeface="Microsoft YaHei"/>
                <a:cs typeface="Microsoft YaHei"/>
              </a:rPr>
              <a:t>TBTrackerX</a:t>
            </a:r>
          </a:p>
        </p:txBody>
      </p:sp>
      <p:sp>
        <p:nvSpPr>
          <p:cNvPr id="4" name="txt-6">
            <a:extLst>
              <a:ext uri="{FF2B5EF4-FFF2-40B4-BE49-F238E27FC236}">
                <a16:creationId xmlns:a16="http://schemas.microsoft.com/office/drawing/2014/main" id="{B92C08BD-A807-403D-B127-4A14EBFCDA43}"/>
              </a:ext>
            </a:extLst>
          </p:cNvPr>
          <p:cNvSpPr>
            <a:spLocks noGrp="1"/>
          </p:cNvSpPr>
          <p:nvPr/>
        </p:nvSpPr>
        <p:spPr>
          <a:xfrm>
            <a:off x="685800" y="3320224"/>
            <a:ext cx="10820400" cy="393764"/>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3000" b="1" dirty="0">
                <a:solidFill>
                  <a:srgbClr val="26282D"/>
                </a:solidFill>
                <a:latin typeface="Microsoft YaHei"/>
                <a:ea typeface="Microsoft YaHei"/>
              </a:rPr>
              <a:t>Fantastic Trigger Bots and Where to Find Malicious Campaigns on X</a:t>
            </a:r>
          </a:p>
        </p:txBody>
      </p:sp>
      <p:sp>
        <p:nvSpPr>
          <p:cNvPr id="5" name="直接连接符 7">
            <a:extLst>
              <a:ext uri="{FF2B5EF4-FFF2-40B4-BE49-F238E27FC236}">
                <a16:creationId xmlns:a16="http://schemas.microsoft.com/office/drawing/2014/main" id="{7CE32859-C5BD-46ED-90A5-F834789197B3}"/>
              </a:ext>
            </a:extLst>
          </p:cNvPr>
          <p:cNvSpPr>
            <a:spLocks noGrp="1"/>
          </p:cNvSpPr>
          <p:nvPr/>
        </p:nvSpPr>
        <p:spPr>
          <a:xfrm>
            <a:off x="685800" y="6238817"/>
            <a:ext cx="10820400" cy="0"/>
          </a:xfrm>
          <a:prstGeom prst="line">
            <a:avLst/>
          </a:prstGeom>
          <a:noFill/>
          <a:ln w="19050">
            <a:solidFill>
              <a:srgbClr val="982D35"/>
            </a:solidFill>
          </a:ln>
        </p:spPr>
      </p:sp>
      <p:sp>
        <p:nvSpPr>
          <p:cNvPr id="6" name="txt-7">
            <a:extLst>
              <a:ext uri="{FF2B5EF4-FFF2-40B4-BE49-F238E27FC236}">
                <a16:creationId xmlns:a16="http://schemas.microsoft.com/office/drawing/2014/main" id="{C7236633-B175-476A-BFD9-EB50D0EB5468}"/>
              </a:ext>
            </a:extLst>
          </p:cNvPr>
          <p:cNvSpPr>
            <a:spLocks noGrp="1"/>
          </p:cNvSpPr>
          <p:nvPr/>
        </p:nvSpPr>
        <p:spPr>
          <a:xfrm>
            <a:off x="704850" y="5372630"/>
            <a:ext cx="10820400" cy="312992"/>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dirty="0">
                <a:solidFill>
                  <a:srgbClr val="26282D"/>
                </a:solidFill>
                <a:latin typeface="Microsoft YaHei"/>
                <a:ea typeface="Microsoft YaHei"/>
                <a:cs typeface="Microsoft YaHei"/>
              </a:rPr>
              <a:t>Mohammad Majid Akhtar · Rahat Masood · Muhammad Ikram · Salil S. Kanhere</a:t>
            </a:r>
          </a:p>
        </p:txBody>
      </p:sp>
      <p:sp>
        <p:nvSpPr>
          <p:cNvPr id="7" name="txt-8">
            <a:extLst>
              <a:ext uri="{FF2B5EF4-FFF2-40B4-BE49-F238E27FC236}">
                <a16:creationId xmlns:a16="http://schemas.microsoft.com/office/drawing/2014/main" id="{3157DDA2-4973-45C6-8D3F-A1EB50838782}"/>
              </a:ext>
            </a:extLst>
          </p:cNvPr>
          <p:cNvSpPr>
            <a:spLocks noGrp="1"/>
          </p:cNvSpPr>
          <p:nvPr/>
        </p:nvSpPr>
        <p:spPr>
          <a:xfrm>
            <a:off x="685799" y="5694291"/>
            <a:ext cx="10820400" cy="700000"/>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600" b="0" dirty="0">
                <a:solidFill>
                  <a:srgbClr val="26282D"/>
                </a:solidFill>
                <a:latin typeface="Microsoft YaHei"/>
                <a:ea typeface="Microsoft YaHei"/>
                <a:cs typeface="Microsoft YaHei"/>
              </a:rPr>
              <a:t>University of New South Wales（新南威尔士大学） / Macquarie University（麦考瑞大学）</a:t>
            </a:r>
          </a:p>
        </p:txBody>
      </p:sp>
      <p:sp>
        <p:nvSpPr>
          <p:cNvPr id="8" name="txt-9">
            <a:extLst>
              <a:ext uri="{FF2B5EF4-FFF2-40B4-BE49-F238E27FC236}">
                <a16:creationId xmlns:a16="http://schemas.microsoft.com/office/drawing/2014/main" id="{22CF3C84-F9A6-4EC8-A42B-0CB2121334AC}"/>
              </a:ext>
            </a:extLst>
          </p:cNvPr>
          <p:cNvSpPr>
            <a:spLocks noGrp="1"/>
          </p:cNvSpPr>
          <p:nvPr/>
        </p:nvSpPr>
        <p:spPr>
          <a:xfrm>
            <a:off x="685800" y="6419850"/>
            <a:ext cx="10820400" cy="285750"/>
          </a:xfrm>
          <a:prstGeom prst="rect">
            <a:avLst/>
          </a:prstGeom>
          <a:noFill/>
          <a:ln w="0">
            <a:noFill/>
          </a:ln>
        </p:spPr>
        <p:txBody>
          <a:bodyPr wrap="square" lIns="0" tIns="0" rIns="0" bIns="0" anchor="t">
            <a:noAutofit/>
          </a:bodyPr>
          <a:lstStyle>
            <a:defPPr algn="l">
              <a:defRPr sz="1650" b="1">
                <a:solidFill>
                  <a:srgbClr val="982D35"/>
                </a:solidFill>
                <a:latin typeface="Microsoft YaHei"/>
                <a:ea typeface="Microsoft YaHei"/>
                <a:cs typeface="Microsoft YaHei"/>
              </a:defRPr>
            </a:defPPr>
          </a:lstStyle>
          <a:p>
            <a:pPr algn="l">
              <a:buNone/>
              <a:defRPr sz="1650" b="1">
                <a:solidFill>
                  <a:srgbClr val="982D35"/>
                </a:solidFill>
                <a:latin typeface="Microsoft YaHei"/>
                <a:ea typeface="Microsoft YaHei"/>
                <a:cs typeface="Microsoft YaHei"/>
              </a:defRPr>
            </a:pPr>
            <a:r>
              <a:rPr sz="1650" b="1">
                <a:solidFill>
                  <a:srgbClr val="982D35"/>
                </a:solidFill>
                <a:latin typeface="Microsoft YaHei"/>
                <a:ea typeface="Microsoft YaHei"/>
                <a:cs typeface="Microsoft YaHei"/>
              </a:rPr>
              <a:t>汇报人：王皓田     指导老师：王海舟     日期：2026.10.18</a:t>
            </a:r>
          </a:p>
        </p:txBody>
      </p:sp>
      <p:pic>
        <p:nvPicPr>
          <p:cNvPr id="9"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0"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1/33</a:t>
            </a:r>
          </a:p>
        </p:txBody>
      </p:sp>
      <p:sp>
        <p:nvSpPr>
          <p:cNvPr id="11" name="文本框 11">
            <a:extLst>
              <a:ext uri="{FF2B5EF4-FFF2-40B4-BE49-F238E27FC236}">
                <a16:creationId xmlns:a16="http://schemas.microsoft.com/office/drawing/2014/main" id="{3DEE3CB0-1771-8B45-B1E7-8FEF2C485281}"/>
              </a:ext>
            </a:extLst>
          </p:cNvPr>
          <p:cNvSpPr txBox="1"/>
          <p:nvPr/>
        </p:nvSpPr>
        <p:spPr>
          <a:xfrm>
            <a:off x="619125" y="4456174"/>
            <a:ext cx="8846744" cy="400110"/>
          </a:xfrm>
          <a:prstGeom prst="rect">
            <a:avLst/>
          </a:prstGeom>
          <a:noFill/>
        </p:spPr>
        <p:txBody>
          <a:bodyPr wrap="square">
            <a:spAutoFit/>
          </a:bodyPr>
          <a:lstStyle/>
          <a:p>
            <a:r>
              <a:rPr lang="zh-CN" altLang="zh-CN" sz="2000" dirty="0"/>
              <a:t>TBTrackerX：</a:t>
            </a:r>
            <a:r>
              <a:rPr lang="zh-CN" altLang="en-US" sz="2000" dirty="0"/>
              <a:t>（奇异</a:t>
            </a:r>
            <a:r>
              <a:rPr lang="zh-CN" altLang="zh-CN" sz="2000" dirty="0"/>
              <a:t>的</a:t>
            </a:r>
            <a:r>
              <a:rPr lang="zh-CN" altLang="en-US" sz="2000" dirty="0"/>
              <a:t>）</a:t>
            </a:r>
            <a:r>
              <a:rPr lang="zh-CN" altLang="zh-CN" sz="2000" dirty="0"/>
              <a:t>触发机器人，以及如何在 </a:t>
            </a:r>
            <a:r>
              <a:rPr lang="en-US" altLang="zh-CN" sz="2000" dirty="0"/>
              <a:t>X</a:t>
            </a:r>
            <a:r>
              <a:rPr lang="zh-CN" altLang="zh-CN" sz="2000" dirty="0"/>
              <a:t> 平台</a:t>
            </a:r>
            <a:r>
              <a:rPr lang="zh-CN" altLang="en-US" sz="2000" dirty="0"/>
              <a:t>探测</a:t>
            </a:r>
            <a:r>
              <a:rPr lang="zh-CN" altLang="zh-CN" sz="2000" dirty="0"/>
              <a:t>恶意活动 </a:t>
            </a:r>
            <a:endParaRPr lang="zh-CN" altLang="en-US" sz="2000" dirty="0"/>
          </a:p>
        </p:txBody>
      </p:sp>
      <p:sp>
        <p:nvSpPr>
          <p:cNvPr id="12" name="矩形 11">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978322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椭圆 3"/>
          <p:cNvSpPr/>
          <p:nvPr/>
        </p:nvSpPr>
        <p:spPr>
          <a:xfrm>
            <a:off x="-4085590" y="-203835"/>
            <a:ext cx="7265670" cy="7265670"/>
          </a:xfrm>
          <a:prstGeom prst="ellipse">
            <a:avLst/>
          </a:prstGeom>
          <a:solidFill>
            <a:srgbClr val="A52A36">
              <a:alpha val="15000"/>
            </a:srgbClr>
          </a:solidFill>
          <a:ln w="19050">
            <a:no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3" name="椭圆 64"/>
          <p:cNvSpPr/>
          <p:nvPr/>
        </p:nvSpPr>
        <p:spPr>
          <a:xfrm>
            <a:off x="-3879215" y="2858"/>
            <a:ext cx="6852285" cy="6852285"/>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4" name="文本框 23"/>
          <p:cNvSpPr txBox="1"/>
          <p:nvPr/>
        </p:nvSpPr>
        <p:spPr>
          <a:xfrm>
            <a:off x="1163593" y="1626235"/>
            <a:ext cx="1457960" cy="3230884"/>
          </a:xfrm>
          <a:prstGeom prst="rect">
            <a:avLst/>
          </a:prstGeom>
          <a:noFill/>
        </p:spPr>
        <p:txBody>
          <a:bodyPr wrap="square" lIns="0" tIns="0" rIns="0" bIns="0" rtlCol="0">
            <a:spAutoFit/>
          </a:bodyPr>
          <a:lstStyle/>
          <a:p>
            <a:pPr lvl="0" algn="dist">
              <a:lnSpc>
                <a:spcPct val="125000"/>
              </a:lnSpc>
              <a:spcBef>
                <a:spcPts val="0"/>
              </a:spcBef>
              <a:spcAft>
                <a:spcPts val="0"/>
              </a:spcAft>
              <a:buClrTx/>
              <a:buSzTx/>
              <a:buFontTx/>
            </a:pPr>
            <a:r>
              <a:rPr lang="zh-CN" altLang="en-US" sz="8800" spc="300" dirty="0">
                <a:solidFill>
                  <a:srgbClr val="FFFFFF"/>
                </a:solidFill>
                <a:uFillTx/>
                <a:latin typeface="汉仪大宋简" pitchFamily="49" charset="-122"/>
                <a:ea typeface="汉仪大宋简" pitchFamily="49" charset="-122"/>
                <a:cs typeface="思源宋体 CN Heavy" panose="02020900000000000000" charset="-122"/>
                <a:sym typeface="Arial" panose="020B0604020202020204"/>
              </a:rPr>
              <a:t>目</a:t>
            </a:r>
          </a:p>
          <a:p>
            <a:pPr lvl="0" algn="dist">
              <a:lnSpc>
                <a:spcPct val="125000"/>
              </a:lnSpc>
              <a:spcBef>
                <a:spcPts val="0"/>
              </a:spcBef>
              <a:spcAft>
                <a:spcPts val="0"/>
              </a:spcAft>
              <a:buClrTx/>
              <a:buSzTx/>
              <a:buFontTx/>
            </a:pPr>
            <a:r>
              <a:rPr lang="zh-CN" altLang="en-US" sz="8800" spc="300" dirty="0">
                <a:solidFill>
                  <a:srgbClr val="FFFFFF"/>
                </a:solidFill>
                <a:uFillTx/>
                <a:latin typeface="汉仪大宋简" pitchFamily="49" charset="-122"/>
                <a:ea typeface="汉仪大宋简" pitchFamily="49" charset="-122"/>
                <a:cs typeface="思源宋体 CN Heavy" panose="02020900000000000000" charset="-122"/>
                <a:sym typeface="Arial" panose="020B0604020202020204"/>
              </a:rPr>
              <a:t>录</a:t>
            </a:r>
          </a:p>
        </p:txBody>
      </p:sp>
      <p:sp>
        <p:nvSpPr>
          <p:cNvPr id="5" name="文本框 50"/>
          <p:cNvSpPr txBox="1"/>
          <p:nvPr/>
        </p:nvSpPr>
        <p:spPr>
          <a:xfrm>
            <a:off x="-181027" y="334010"/>
            <a:ext cx="1415772" cy="6228000"/>
          </a:xfrm>
          <a:prstGeom prst="rect">
            <a:avLst/>
          </a:prstGeom>
          <a:noFill/>
        </p:spPr>
        <p:txBody>
          <a:bodyPr vert="eaVert" wrap="square" rtlCol="0">
            <a:spAutoFit/>
          </a:bodyPr>
          <a:lstStyle/>
          <a:p>
            <a:pPr algn="dist"/>
            <a:r>
              <a:rPr lang="en-US" altLang="zh-CN" sz="8000" b="1" dirty="0">
                <a:ln w="1270">
                  <a:solidFill>
                    <a:srgbClr val="FFFFFF">
                      <a:alpha val="50000"/>
                    </a:srgbClr>
                  </a:solidFill>
                </a:ln>
                <a:noFill/>
                <a:effectLst/>
                <a:latin typeface="Arial" panose="020B0604020202020204"/>
                <a:ea typeface="微软雅黑" panose="020B0503020204020204" pitchFamily="34" charset="-122"/>
                <a:cs typeface="思源宋体 CN Medium" panose="02020500000000000000" charset="-122"/>
                <a:sym typeface="Arial" panose="020B0604020202020204"/>
              </a:rPr>
              <a:t>CONTENTS</a:t>
            </a:r>
          </a:p>
        </p:txBody>
      </p:sp>
      <p:sp>
        <p:nvSpPr>
          <p:cNvPr id="6" name="椭圆 22"/>
          <p:cNvSpPr/>
          <p:nvPr/>
        </p:nvSpPr>
        <p:spPr>
          <a:xfrm rot="16200000">
            <a:off x="3446018" y="1198099"/>
            <a:ext cx="720090" cy="720090"/>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7" name="文本框 1"/>
          <p:cNvSpPr txBox="1"/>
          <p:nvPr/>
        </p:nvSpPr>
        <p:spPr>
          <a:xfrm>
            <a:off x="3388868" y="1379074"/>
            <a:ext cx="834390" cy="368935"/>
          </a:xfrm>
          <a:prstGeom prst="rect">
            <a:avLst/>
          </a:prstGeom>
          <a:noFill/>
        </p:spPr>
        <p:txBody>
          <a:bodyPr wrap="square" lIns="0" tIns="0" rIns="0" bIns="0" rtlCol="0">
            <a:spAutoFit/>
          </a:bodyPr>
          <a:lstStyle/>
          <a:p>
            <a:pPr lvl="0" algn="ctr">
              <a:buClrTx/>
              <a:buSzTx/>
              <a:buFontTx/>
            </a:pPr>
            <a:r>
              <a:rPr lang="en-US" altLang="zh-CN" sz="2400" b="1">
                <a:solidFill>
                  <a:srgbClr val="FFFFFF"/>
                </a:solidFill>
                <a:effectLst/>
                <a:latin typeface="Arial" panose="020B0604020202020204"/>
                <a:ea typeface="微软雅黑" panose="020B0503020204020204" pitchFamily="34" charset="-122"/>
                <a:cs typeface="思源宋体 CN Heavy" panose="02020900000000000000" charset="-122"/>
                <a:sym typeface="Arial" panose="020B0604020202020204"/>
              </a:rPr>
              <a:t>01</a:t>
            </a:r>
          </a:p>
        </p:txBody>
      </p:sp>
      <p:sp>
        <p:nvSpPr>
          <p:cNvPr id="8" name="文本框 11"/>
          <p:cNvSpPr txBox="1"/>
          <p:nvPr/>
        </p:nvSpPr>
        <p:spPr>
          <a:xfrm>
            <a:off x="4222623" y="1173969"/>
            <a:ext cx="3857625" cy="430530"/>
          </a:xfrm>
          <a:prstGeom prst="rect">
            <a:avLst/>
          </a:prstGeom>
          <a:noFill/>
        </p:spPr>
        <p:txBody>
          <a:bodyPr wrap="square" lIns="0" tIns="0" rIns="0" bIns="0" rtlCol="0">
            <a:spAutoFit/>
          </a:bodyPr>
          <a:lstStyle/>
          <a:p>
            <a:pPr lvl="0" algn="l">
              <a:buClrTx/>
              <a:buSzTx/>
              <a:buFontTx/>
            </a:pPr>
            <a:r>
              <a:rPr lang="zh-CN" altLang="en-US" sz="2600" b="1" spc="200" dirty="0">
                <a:solidFill>
                  <a:srgbClr val="A52A36"/>
                </a:solidFill>
                <a:effectLst/>
                <a:uFillTx/>
                <a:latin typeface="Arial" panose="020B0604020202020204"/>
                <a:ea typeface="微软雅黑" panose="020B0503020204020204" pitchFamily="34" charset="-122"/>
                <a:cs typeface="思源宋体 CN Heavy" panose="02020900000000000000" charset="-122"/>
                <a:sym typeface="Arial" panose="020B0604020202020204"/>
              </a:rPr>
              <a:t>背景与研究问题</a:t>
            </a:r>
          </a:p>
        </p:txBody>
      </p:sp>
      <p:sp>
        <p:nvSpPr>
          <p:cNvPr id="9" name="文本框 13"/>
          <p:cNvSpPr txBox="1"/>
          <p:nvPr/>
        </p:nvSpPr>
        <p:spPr>
          <a:xfrm>
            <a:off x="4222623" y="1733404"/>
            <a:ext cx="4095750" cy="215444"/>
          </a:xfrm>
          <a:prstGeom prst="rect">
            <a:avLst/>
          </a:prstGeom>
          <a:noFill/>
        </p:spPr>
        <p:txBody>
          <a:bodyPr wrap="square" lIns="0" tIns="0" rIns="0" bIns="0" rtlCol="0" anchor="t">
            <a:spAutoFit/>
          </a:bodyPr>
          <a:lstStyle/>
          <a:p>
            <a:pPr algn="l"/>
            <a:r>
              <a:rPr lang="en-US" altLang="zh-CN" sz="1300" dirty="0">
                <a:solidFill>
                  <a:srgbClr val="333333">
                    <a:lumMod val="65000"/>
                    <a:lumOff val="35000"/>
                  </a:srgbClr>
                </a:solidFill>
                <a:latin typeface="Times New Roman" panose="02020603050405020304" pitchFamily="18" charset="0"/>
                <a:ea typeface="微软雅黑" panose="020B0503020204020204" pitchFamily="34" charset="-122"/>
                <a:cs typeface="思源宋体 CN Medium" panose="02020500000000000000" charset="-122"/>
                <a:sym typeface="Arial" panose="020B0604020202020204"/>
              </a:rPr>
              <a:t>Background and Research Questions</a:t>
            </a:r>
            <a:endParaRPr lang="zh-CN" altLang="en-US" sz="1400" dirty="0">
              <a:solidFill>
                <a:srgbClr val="333333">
                  <a:lumMod val="65000"/>
                  <a:lumOff val="35000"/>
                </a:srgbClr>
              </a:solidFill>
              <a:latin typeface="Times New Roman" panose="02020603050405020304" pitchFamily="18" charset="0"/>
              <a:ea typeface="微软雅黑" panose="020B0503020204020204" pitchFamily="34" charset="-122"/>
              <a:cs typeface="思源宋体 CN Medium" panose="02020500000000000000" charset="-122"/>
              <a:sym typeface="Arial" panose="020B0604020202020204"/>
            </a:endParaRPr>
          </a:p>
        </p:txBody>
      </p:sp>
      <p:sp>
        <p:nvSpPr>
          <p:cNvPr id="10" name="椭圆 47"/>
          <p:cNvSpPr/>
          <p:nvPr/>
        </p:nvSpPr>
        <p:spPr>
          <a:xfrm rot="16200000">
            <a:off x="4691963" y="2235157"/>
            <a:ext cx="720090" cy="720090"/>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11" name="文本框 48"/>
          <p:cNvSpPr txBox="1"/>
          <p:nvPr/>
        </p:nvSpPr>
        <p:spPr>
          <a:xfrm>
            <a:off x="4634813" y="2416132"/>
            <a:ext cx="834390" cy="368935"/>
          </a:xfrm>
          <a:prstGeom prst="rect">
            <a:avLst/>
          </a:prstGeom>
          <a:noFill/>
        </p:spPr>
        <p:txBody>
          <a:bodyPr wrap="square" lIns="0" tIns="0" rIns="0" bIns="0" rtlCol="0">
            <a:spAutoFit/>
          </a:bodyPr>
          <a:lstStyle/>
          <a:p>
            <a:pPr lvl="0" algn="ctr">
              <a:buClrTx/>
              <a:buSzTx/>
              <a:buFontTx/>
            </a:pPr>
            <a:r>
              <a:rPr lang="en-US" altLang="zh-CN" sz="2400" b="1">
                <a:solidFill>
                  <a:srgbClr val="FFFFFF"/>
                </a:solidFill>
                <a:effectLst/>
                <a:latin typeface="Arial" panose="020B0604020202020204"/>
                <a:ea typeface="微软雅黑" panose="020B0503020204020204" pitchFamily="34" charset="-122"/>
                <a:cs typeface="思源宋体 CN Heavy" panose="02020900000000000000" charset="-122"/>
                <a:sym typeface="Arial" panose="020B0604020202020204"/>
              </a:rPr>
              <a:t>02</a:t>
            </a:r>
          </a:p>
        </p:txBody>
      </p:sp>
      <p:sp>
        <p:nvSpPr>
          <p:cNvPr id="12" name="文本框 49"/>
          <p:cNvSpPr txBox="1"/>
          <p:nvPr/>
        </p:nvSpPr>
        <p:spPr>
          <a:xfrm>
            <a:off x="5468568" y="2211027"/>
            <a:ext cx="3857625" cy="400110"/>
          </a:xfrm>
          <a:prstGeom prst="rect">
            <a:avLst/>
          </a:prstGeom>
          <a:noFill/>
        </p:spPr>
        <p:txBody>
          <a:bodyPr wrap="square" lIns="0" tIns="0" rIns="0" bIns="0" rtlCol="0">
            <a:spAutoFit/>
          </a:bodyPr>
          <a:lstStyle/>
          <a:p>
            <a:pPr lvl="0" algn="l">
              <a:buClrTx/>
              <a:buSzTx/>
              <a:buFontTx/>
            </a:pPr>
            <a:r>
              <a:rPr lang="zh-CN" altLang="en-US" sz="2600" b="1" spc="200" dirty="0">
                <a:solidFill>
                  <a:srgbClr val="A52A36"/>
                </a:solidFill>
                <a:effectLst/>
                <a:latin typeface="Arial" panose="020B0604020202020204"/>
                <a:ea typeface="微软雅黑" panose="020B0503020204020204" pitchFamily="34" charset="-122"/>
                <a:cs typeface="思源宋体 CN Heavy" panose="02020900000000000000" charset="-122"/>
                <a:sym typeface="Arial" panose="020B0604020202020204"/>
              </a:rPr>
              <a:t>研究方法与路线</a:t>
            </a:r>
            <a:endParaRPr lang="zh-CN" altLang="en-US" sz="2800" b="1" spc="200" dirty="0">
              <a:solidFill>
                <a:srgbClr val="A52A36"/>
              </a:solidFill>
              <a:effectLst/>
              <a:uFillTx/>
              <a:latin typeface="Arial" panose="020B0604020202020204"/>
              <a:ea typeface="微软雅黑" panose="020B0503020204020204" pitchFamily="34" charset="-122"/>
              <a:cs typeface="思源宋体 CN Heavy" panose="02020900000000000000" charset="-122"/>
              <a:sym typeface="Arial" panose="020B0604020202020204"/>
            </a:endParaRPr>
          </a:p>
        </p:txBody>
      </p:sp>
      <p:sp>
        <p:nvSpPr>
          <p:cNvPr id="13" name="文本框 51"/>
          <p:cNvSpPr txBox="1"/>
          <p:nvPr/>
        </p:nvSpPr>
        <p:spPr>
          <a:xfrm>
            <a:off x="5468568" y="2770462"/>
            <a:ext cx="4095750" cy="215444"/>
          </a:xfrm>
          <a:prstGeom prst="rect">
            <a:avLst/>
          </a:prstGeom>
          <a:noFill/>
        </p:spPr>
        <p:txBody>
          <a:bodyPr wrap="square" lIns="0" tIns="0" rIns="0" bIns="0" rtlCol="0" anchor="t">
            <a:spAutoFit/>
          </a:bodyPr>
          <a:lstStyle/>
          <a:p>
            <a:pPr algn="l"/>
            <a:r>
              <a:rPr lang="en-US" altLang="zh-CN" sz="1300" dirty="0">
                <a:solidFill>
                  <a:srgbClr val="333333">
                    <a:lumMod val="65000"/>
                    <a:lumOff val="35000"/>
                  </a:srgbClr>
                </a:solidFill>
                <a:latin typeface="Times New Roman" panose="02020603050405020304" pitchFamily="18" charset="0"/>
                <a:ea typeface="微软雅黑" panose="020B0503020204020204" pitchFamily="34" charset="-122"/>
                <a:cs typeface="思源宋体 CN Medium" panose="02020500000000000000" charset="-122"/>
                <a:sym typeface="Arial" panose="020B0604020202020204"/>
              </a:rPr>
              <a:t>Methodology and Ecosystem Analysis</a:t>
            </a:r>
            <a:endParaRPr lang="zh-CN" altLang="en-US" sz="1400" dirty="0">
              <a:solidFill>
                <a:srgbClr val="333333">
                  <a:lumMod val="65000"/>
                  <a:lumOff val="35000"/>
                </a:srgbClr>
              </a:solidFill>
              <a:latin typeface="Times New Roman" panose="02020603050405020304" pitchFamily="18" charset="0"/>
              <a:ea typeface="微软雅黑" panose="020B0503020204020204" pitchFamily="34" charset="-122"/>
              <a:cs typeface="思源宋体 CN Medium" panose="02020500000000000000" charset="-122"/>
              <a:sym typeface="Arial" panose="020B0604020202020204"/>
            </a:endParaRPr>
          </a:p>
        </p:txBody>
      </p:sp>
      <p:sp>
        <p:nvSpPr>
          <p:cNvPr id="14" name="椭圆 54"/>
          <p:cNvSpPr/>
          <p:nvPr/>
        </p:nvSpPr>
        <p:spPr>
          <a:xfrm rot="16200000">
            <a:off x="5632323" y="3255916"/>
            <a:ext cx="720090" cy="720090"/>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15" name="文本框 55"/>
          <p:cNvSpPr txBox="1"/>
          <p:nvPr/>
        </p:nvSpPr>
        <p:spPr>
          <a:xfrm>
            <a:off x="5575173" y="3436891"/>
            <a:ext cx="834390" cy="368935"/>
          </a:xfrm>
          <a:prstGeom prst="rect">
            <a:avLst/>
          </a:prstGeom>
          <a:noFill/>
        </p:spPr>
        <p:txBody>
          <a:bodyPr wrap="square" lIns="0" tIns="0" rIns="0" bIns="0" rtlCol="0">
            <a:spAutoFit/>
          </a:bodyPr>
          <a:lstStyle/>
          <a:p>
            <a:pPr lvl="0" algn="ctr">
              <a:buClrTx/>
              <a:buSzTx/>
              <a:buFontTx/>
            </a:pPr>
            <a:r>
              <a:rPr lang="en-US" altLang="zh-CN" sz="2400" b="1" dirty="0">
                <a:solidFill>
                  <a:srgbClr val="FFFFFF"/>
                </a:solidFill>
                <a:effectLst/>
                <a:latin typeface="Arial" panose="020B0604020202020204"/>
                <a:ea typeface="微软雅黑" panose="020B0503020204020204" pitchFamily="34" charset="-122"/>
                <a:cs typeface="思源宋体 CN Heavy" panose="02020900000000000000" charset="-122"/>
                <a:sym typeface="Arial" panose="020B0604020202020204"/>
              </a:rPr>
              <a:t>03</a:t>
            </a:r>
          </a:p>
        </p:txBody>
      </p:sp>
      <p:sp>
        <p:nvSpPr>
          <p:cNvPr id="16" name="文本框 56"/>
          <p:cNvSpPr txBox="1"/>
          <p:nvPr/>
        </p:nvSpPr>
        <p:spPr>
          <a:xfrm>
            <a:off x="6408928" y="3272753"/>
            <a:ext cx="3857625" cy="430887"/>
          </a:xfrm>
          <a:prstGeom prst="rect">
            <a:avLst/>
          </a:prstGeom>
          <a:noFill/>
        </p:spPr>
        <p:txBody>
          <a:bodyPr wrap="square" lIns="0" tIns="0" rIns="0" bIns="0" rtlCol="0">
            <a:spAutoFit/>
          </a:bodyPr>
          <a:lstStyle/>
          <a:p>
            <a:pPr lvl="0" algn="l">
              <a:buClrTx/>
              <a:buSzTx/>
              <a:buFontTx/>
            </a:pPr>
            <a:r>
              <a:rPr lang="zh-CN" altLang="en-US" sz="2600" b="1" spc="200" dirty="0">
                <a:solidFill>
                  <a:srgbClr val="A52A36"/>
                </a:solidFill>
                <a:effectLst/>
                <a:uFillTx/>
                <a:latin typeface="Arial" panose="020B0604020202020204"/>
                <a:ea typeface="微软雅黑" panose="020B0503020204020204" pitchFamily="34" charset="-122"/>
                <a:cs typeface="思源宋体 CN Heavy" panose="02020900000000000000" charset="-122"/>
                <a:sym typeface="Arial" panose="020B0604020202020204"/>
              </a:rPr>
              <a:t>实验设置与结果</a:t>
            </a:r>
          </a:p>
        </p:txBody>
      </p:sp>
      <p:sp>
        <p:nvSpPr>
          <p:cNvPr id="17" name="文本框 57"/>
          <p:cNvSpPr txBox="1"/>
          <p:nvPr/>
        </p:nvSpPr>
        <p:spPr>
          <a:xfrm>
            <a:off x="6408928" y="3791221"/>
            <a:ext cx="4095750" cy="215444"/>
          </a:xfrm>
          <a:prstGeom prst="rect">
            <a:avLst/>
          </a:prstGeom>
          <a:noFill/>
        </p:spPr>
        <p:txBody>
          <a:bodyPr wrap="square" lIns="0" tIns="0" rIns="0" bIns="0" rtlCol="0" anchor="t">
            <a:spAutoFit/>
          </a:bodyPr>
          <a:lstStyle/>
          <a:p>
            <a:pPr algn="l"/>
            <a:r>
              <a:rPr lang="en-US" altLang="zh-CN" sz="1300" dirty="0">
                <a:solidFill>
                  <a:srgbClr val="333333">
                    <a:lumMod val="65000"/>
                    <a:lumOff val="35000"/>
                  </a:srgbClr>
                </a:solidFill>
                <a:latin typeface="Times New Roman" panose="02020603050405020304" pitchFamily="18" charset="0"/>
                <a:ea typeface="微软雅黑" panose="020B0503020204020204" pitchFamily="34" charset="-122"/>
                <a:sym typeface="Arial" panose="020B0604020202020204"/>
              </a:rPr>
              <a:t>Experimental Setup and Results</a:t>
            </a:r>
            <a:endParaRPr lang="zh-CN" altLang="en-US" sz="1200" dirty="0">
              <a:solidFill>
                <a:srgbClr val="333333">
                  <a:lumMod val="65000"/>
                  <a:lumOff val="35000"/>
                </a:srgbClr>
              </a:solidFill>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18" name="椭圆 60"/>
          <p:cNvSpPr/>
          <p:nvPr/>
        </p:nvSpPr>
        <p:spPr>
          <a:xfrm rot="16200000">
            <a:off x="6804152" y="4300169"/>
            <a:ext cx="720090" cy="720090"/>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19" name="文本框 62"/>
          <p:cNvSpPr txBox="1"/>
          <p:nvPr/>
        </p:nvSpPr>
        <p:spPr>
          <a:xfrm>
            <a:off x="7580757" y="4276039"/>
            <a:ext cx="3857625" cy="430530"/>
          </a:xfrm>
          <a:prstGeom prst="rect">
            <a:avLst/>
          </a:prstGeom>
          <a:noFill/>
        </p:spPr>
        <p:txBody>
          <a:bodyPr wrap="square" lIns="0" tIns="0" rIns="0" bIns="0" rtlCol="0">
            <a:spAutoFit/>
          </a:bodyPr>
          <a:lstStyle/>
          <a:p>
            <a:pPr lvl="0" algn="l">
              <a:buClrTx/>
              <a:buSzTx/>
              <a:buFontTx/>
            </a:pPr>
            <a:r>
              <a:rPr lang="zh-CN" altLang="en-US" sz="2600" b="1" spc="200" dirty="0">
                <a:solidFill>
                  <a:srgbClr val="A52A36"/>
                </a:solidFill>
                <a:effectLst/>
                <a:latin typeface="Arial" panose="020B0604020202020204"/>
                <a:ea typeface="微软雅黑" panose="020B0503020204020204" pitchFamily="34" charset="-122"/>
                <a:cs typeface="思源宋体 CN Heavy" panose="02020900000000000000" charset="-122"/>
                <a:sym typeface="Arial" panose="020B0604020202020204"/>
              </a:rPr>
              <a:t>讨论与研究展望</a:t>
            </a:r>
            <a:endParaRPr lang="zh-CN" altLang="en-US" sz="2800" b="1" spc="200" dirty="0">
              <a:solidFill>
                <a:srgbClr val="A52A36"/>
              </a:solidFill>
              <a:effectLst/>
              <a:uFillTx/>
              <a:latin typeface="Arial" panose="020B0604020202020204"/>
              <a:ea typeface="微软雅黑" panose="020B0503020204020204" pitchFamily="34" charset="-122"/>
              <a:cs typeface="思源宋体 CN Heavy" panose="02020900000000000000" charset="-122"/>
              <a:sym typeface="Arial" panose="020B0604020202020204"/>
            </a:endParaRPr>
          </a:p>
        </p:txBody>
      </p:sp>
      <p:sp>
        <p:nvSpPr>
          <p:cNvPr id="20" name="文本框 63"/>
          <p:cNvSpPr txBox="1"/>
          <p:nvPr/>
        </p:nvSpPr>
        <p:spPr>
          <a:xfrm>
            <a:off x="7580757" y="4835474"/>
            <a:ext cx="4095750" cy="215444"/>
          </a:xfrm>
          <a:prstGeom prst="rect">
            <a:avLst/>
          </a:prstGeom>
          <a:noFill/>
        </p:spPr>
        <p:txBody>
          <a:bodyPr wrap="square" lIns="0" tIns="0" rIns="0" bIns="0" rtlCol="0" anchor="t">
            <a:spAutoFit/>
          </a:bodyPr>
          <a:lstStyle/>
          <a:p>
            <a:pPr algn="l"/>
            <a:r>
              <a:rPr lang="en-US" altLang="zh-CN" sz="1300" dirty="0">
                <a:solidFill>
                  <a:srgbClr val="333333">
                    <a:lumMod val="65000"/>
                    <a:lumOff val="35000"/>
                  </a:srgbClr>
                </a:solidFill>
                <a:latin typeface="Times New Roman" panose="02020603050405020304" pitchFamily="18" charset="0"/>
                <a:ea typeface="微软雅黑" panose="020B0503020204020204" pitchFamily="34" charset="-122"/>
                <a:sym typeface="Arial" panose="020B0604020202020204"/>
              </a:rPr>
              <a:t>Discussion and Future Work</a:t>
            </a:r>
            <a:endParaRPr lang="zh-CN" altLang="en-US" sz="1200" dirty="0">
              <a:solidFill>
                <a:srgbClr val="333333">
                  <a:lumMod val="65000"/>
                  <a:lumOff val="35000"/>
                </a:srgbClr>
              </a:solidFill>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21" name="椭圆 8"/>
          <p:cNvSpPr/>
          <p:nvPr/>
        </p:nvSpPr>
        <p:spPr>
          <a:xfrm rot="16200000">
            <a:off x="7796149" y="5275813"/>
            <a:ext cx="720090" cy="720090"/>
          </a:xfrm>
          <a:prstGeom prst="ellipse">
            <a:avLst/>
          </a:prstGeom>
          <a:solidFill>
            <a:srgbClr val="A52A36"/>
          </a:solidFill>
          <a:ln w="19050">
            <a:solidFill>
              <a:srgbClr val="FFFFFF">
                <a:alpha val="60000"/>
              </a:srgbClr>
            </a:solidFill>
          </a:ln>
          <a:effectLst/>
        </p:spPr>
        <p:style>
          <a:lnRef idx="2">
            <a:srgbClr val="A52A36">
              <a:shade val="50000"/>
            </a:srgbClr>
          </a:lnRef>
          <a:fillRef idx="1">
            <a:srgbClr val="A52A36"/>
          </a:fillRef>
          <a:effectRef idx="0">
            <a:srgbClr val="A52A36"/>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22" name="文本框 9"/>
          <p:cNvSpPr txBox="1"/>
          <p:nvPr/>
        </p:nvSpPr>
        <p:spPr>
          <a:xfrm>
            <a:off x="8569579" y="5261611"/>
            <a:ext cx="3857625" cy="430887"/>
          </a:xfrm>
          <a:prstGeom prst="rect">
            <a:avLst/>
          </a:prstGeom>
          <a:noFill/>
        </p:spPr>
        <p:txBody>
          <a:bodyPr wrap="square" lIns="0" tIns="0" rIns="0" bIns="0" rtlCol="0">
            <a:spAutoFit/>
          </a:bodyPr>
          <a:lstStyle/>
          <a:p>
            <a:pPr lvl="0" algn="l">
              <a:buClrTx/>
              <a:buSzTx/>
              <a:buFontTx/>
            </a:pPr>
            <a:r>
              <a:rPr lang="zh-CN" altLang="en-US" sz="2600" b="1" spc="200" dirty="0">
                <a:solidFill>
                  <a:srgbClr val="A52A36"/>
                </a:solidFill>
                <a:effectLst/>
                <a:latin typeface="Arial" panose="020B0604020202020204"/>
                <a:ea typeface="微软雅黑" panose="020B0503020204020204" pitchFamily="34" charset="-122"/>
                <a:cs typeface="思源宋体 CN Heavy" panose="02020900000000000000" charset="-122"/>
                <a:sym typeface="Arial" panose="020B0604020202020204"/>
              </a:rPr>
              <a:t>全文结论</a:t>
            </a:r>
            <a:endParaRPr lang="zh-CN" altLang="en-US" sz="2800" b="1" spc="200" dirty="0">
              <a:solidFill>
                <a:srgbClr val="A52A36"/>
              </a:solidFill>
              <a:effectLst/>
              <a:uFillTx/>
              <a:latin typeface="Arial" panose="020B0604020202020204"/>
              <a:ea typeface="微软雅黑" panose="020B0503020204020204" pitchFamily="34" charset="-122"/>
              <a:cs typeface="思源宋体 CN Heavy" panose="02020900000000000000" charset="-122"/>
              <a:sym typeface="Arial" panose="020B0604020202020204"/>
            </a:endParaRPr>
          </a:p>
        </p:txBody>
      </p:sp>
      <p:sp>
        <p:nvSpPr>
          <p:cNvPr id="23" name="文本框 10"/>
          <p:cNvSpPr txBox="1"/>
          <p:nvPr/>
        </p:nvSpPr>
        <p:spPr>
          <a:xfrm>
            <a:off x="8572754" y="5811118"/>
            <a:ext cx="4095750" cy="215444"/>
          </a:xfrm>
          <a:prstGeom prst="rect">
            <a:avLst/>
          </a:prstGeom>
          <a:noFill/>
        </p:spPr>
        <p:txBody>
          <a:bodyPr wrap="square" lIns="0" tIns="0" rIns="0" bIns="0" rtlCol="0" anchor="t">
            <a:spAutoFit/>
          </a:bodyPr>
          <a:lstStyle/>
          <a:p>
            <a:pPr algn="l"/>
            <a:r>
              <a:rPr lang="en-US" altLang="zh-CN" sz="1300" dirty="0">
                <a:solidFill>
                  <a:srgbClr val="333333">
                    <a:lumMod val="65000"/>
                    <a:lumOff val="35000"/>
                  </a:srgbClr>
                </a:solidFill>
                <a:latin typeface="Arial" panose="020B0604020202020204"/>
                <a:ea typeface="微软雅黑" panose="020B0503020204020204" pitchFamily="34" charset="-122"/>
                <a:cs typeface="思源宋体 CN Medium" panose="02020500000000000000" charset="-122"/>
                <a:sym typeface="Arial" panose="020B0604020202020204"/>
              </a:rPr>
              <a:t>Conclusions</a:t>
            </a:r>
            <a:endParaRPr lang="zh-CN" altLang="en-US" sz="1200" dirty="0">
              <a:solidFill>
                <a:srgbClr val="333333">
                  <a:lumMod val="65000"/>
                  <a:lumOff val="35000"/>
                </a:srgbClr>
              </a:solidFill>
              <a:latin typeface="Arial" panose="020B0604020202020204"/>
              <a:ea typeface="微软雅黑" panose="020B0503020204020204" pitchFamily="34" charset="-122"/>
              <a:cs typeface="思源宋体 CN Medium" panose="02020500000000000000" charset="-122"/>
              <a:sym typeface="Arial" panose="020B0604020202020204"/>
            </a:endParaRPr>
          </a:p>
        </p:txBody>
      </p:sp>
      <p:sp>
        <p:nvSpPr>
          <p:cNvPr id="24" name="文本框 12"/>
          <p:cNvSpPr txBox="1"/>
          <p:nvPr/>
        </p:nvSpPr>
        <p:spPr>
          <a:xfrm>
            <a:off x="7742809" y="5451679"/>
            <a:ext cx="834390" cy="368935"/>
          </a:xfrm>
          <a:prstGeom prst="rect">
            <a:avLst/>
          </a:prstGeom>
          <a:noFill/>
        </p:spPr>
        <p:txBody>
          <a:bodyPr wrap="square" lIns="0" tIns="0" rIns="0" bIns="0" rtlCol="0">
            <a:spAutoFit/>
          </a:bodyPr>
          <a:lstStyle/>
          <a:p>
            <a:pPr lvl="0" algn="ctr">
              <a:buClrTx/>
              <a:buSzTx/>
              <a:buFontTx/>
            </a:pPr>
            <a:r>
              <a:rPr lang="en-US" altLang="zh-CN" sz="2400" b="1" dirty="0">
                <a:solidFill>
                  <a:srgbClr val="FFFFFF"/>
                </a:solidFill>
                <a:effectLst/>
                <a:latin typeface="Arial" panose="020B0604020202020204"/>
                <a:ea typeface="微软雅黑" panose="020B0503020204020204" pitchFamily="34" charset="-122"/>
                <a:cs typeface="思源宋体 CN Heavy" panose="02020900000000000000" charset="-122"/>
                <a:sym typeface="Arial" panose="020B0604020202020204"/>
              </a:rPr>
              <a:t>05</a:t>
            </a:r>
          </a:p>
        </p:txBody>
      </p:sp>
      <p:sp>
        <p:nvSpPr>
          <p:cNvPr id="25" name="文本框 5"/>
          <p:cNvSpPr txBox="1"/>
          <p:nvPr/>
        </p:nvSpPr>
        <p:spPr>
          <a:xfrm>
            <a:off x="6746367" y="4475745"/>
            <a:ext cx="834390" cy="368935"/>
          </a:xfrm>
          <a:prstGeom prst="rect">
            <a:avLst/>
          </a:prstGeom>
          <a:noFill/>
        </p:spPr>
        <p:txBody>
          <a:bodyPr wrap="square" lIns="0" tIns="0" rIns="0" bIns="0" rtlCol="0">
            <a:spAutoFit/>
          </a:bodyPr>
          <a:lstStyle/>
          <a:p>
            <a:pPr lvl="0" algn="ctr">
              <a:buClrTx/>
              <a:buSzTx/>
              <a:buFontTx/>
            </a:pPr>
            <a:r>
              <a:rPr lang="en-US" altLang="zh-CN" sz="2400" b="1" dirty="0">
                <a:solidFill>
                  <a:srgbClr val="FFFFFF"/>
                </a:solidFill>
                <a:effectLst/>
                <a:latin typeface="Arial" panose="020B0604020202020204"/>
                <a:ea typeface="微软雅黑" panose="020B0503020204020204" pitchFamily="34" charset="-122"/>
                <a:cs typeface="思源宋体 CN Heavy" panose="02020900000000000000" charset="-122"/>
                <a:sym typeface="Arial" panose="020B0604020202020204"/>
              </a:rPr>
              <a:t>04</a:t>
            </a:r>
          </a:p>
        </p:txBody>
      </p:sp>
      <p:pic>
        <p:nvPicPr>
          <p:cNvPr id="2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2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2/33</a:t>
            </a:r>
          </a:p>
        </p:txBody>
      </p:sp>
      <p:sp>
        <p:nvSpPr>
          <p:cNvPr id="28" name="矩形 2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文本框 34"/>
          <p:cNvSpPr txBox="1"/>
          <p:nvPr/>
        </p:nvSpPr>
        <p:spPr>
          <a:xfrm>
            <a:off x="3177702" y="993482"/>
            <a:ext cx="5836596" cy="3062377"/>
          </a:xfrm>
          <a:prstGeom prst="rect">
            <a:avLst/>
          </a:prstGeom>
          <a:noFill/>
        </p:spPr>
        <p:txBody>
          <a:bodyPr wrap="square" lIns="0" tIns="0" rIns="0" bIns="0" rtlCol="0">
            <a:spAutoFit/>
          </a:bodyPr>
          <a:lstStyle/>
          <a:p>
            <a:pPr lvl="0" algn="ctr">
              <a:buClrTx/>
              <a:buSzTx/>
              <a:buFontTx/>
            </a:pPr>
            <a:r>
              <a:rPr lang="en-US" altLang="zh-CN" sz="19900" b="1" dirty="0">
                <a:solidFill>
                  <a:srgbClr val="EFE3E5"/>
                </a:solidFill>
                <a:latin typeface="Arial" panose="020B0604020202020204"/>
                <a:ea typeface="微软雅黑" panose="020B0503020204020204" pitchFamily="34" charset="-122"/>
                <a:cs typeface="思源宋体 CN Heavy" panose="02020900000000000000" charset="-122"/>
                <a:sym typeface="Arial" panose="020B0604020202020204"/>
              </a:rPr>
              <a:t>01</a:t>
            </a:r>
          </a:p>
        </p:txBody>
      </p:sp>
      <p:sp>
        <p:nvSpPr>
          <p:cNvPr id="3" name="文本框 35"/>
          <p:cNvSpPr txBox="1"/>
          <p:nvPr/>
        </p:nvSpPr>
        <p:spPr>
          <a:xfrm>
            <a:off x="2135505" y="2179870"/>
            <a:ext cx="7920990" cy="1107440"/>
          </a:xfrm>
          <a:prstGeom prst="rect">
            <a:avLst/>
          </a:prstGeom>
          <a:noFill/>
        </p:spPr>
        <p:txBody>
          <a:bodyPr wrap="square" lIns="0" tIns="0" rIns="0" bIns="0" rtlCol="0">
            <a:spAutoFit/>
          </a:bodyPr>
          <a:lstStyle/>
          <a:p>
            <a:pPr lvl="0" algn="ctr">
              <a:buClrTx/>
              <a:buSzTx/>
              <a:buFontTx/>
            </a:pPr>
            <a:r>
              <a:rPr lang="zh-CN" altLang="en-US" sz="7200" b="1" dirty="0">
                <a:solidFill>
                  <a:srgbClr val="A52A36"/>
                </a:solidFill>
                <a:effectLst/>
                <a:latin typeface="汉仪大宋简" pitchFamily="49" charset="-122"/>
                <a:ea typeface="汉仪大宋简" pitchFamily="49" charset="-122"/>
                <a:cs typeface="思源宋体 CN Heavy" panose="02020900000000000000" charset="-122"/>
                <a:sym typeface="Arial" panose="020B0604020202020204"/>
              </a:rPr>
              <a:t>背景与研究问题</a:t>
            </a:r>
          </a:p>
        </p:txBody>
      </p:sp>
      <p:sp>
        <p:nvSpPr>
          <p:cNvPr id="4" name="文本框 36"/>
          <p:cNvSpPr txBox="1"/>
          <p:nvPr/>
        </p:nvSpPr>
        <p:spPr>
          <a:xfrm>
            <a:off x="2286000" y="3685368"/>
            <a:ext cx="7620000" cy="276860"/>
          </a:xfrm>
          <a:prstGeom prst="rect">
            <a:avLst/>
          </a:prstGeom>
          <a:noFill/>
        </p:spPr>
        <p:txBody>
          <a:bodyPr wrap="square" lIns="0" tIns="0" rIns="0" bIns="0" rtlCol="0" anchor="t">
            <a:spAutoFit/>
          </a:bodyPr>
          <a:lstStyle/>
          <a:p>
            <a:pPr lvl="0" algn="ctr">
              <a:buClrTx/>
              <a:buSzTx/>
              <a:buFontTx/>
            </a:pPr>
            <a:r>
              <a:rPr lang="en-US" altLang="zh-CN" dirty="0">
                <a:ln w="3175">
                  <a:noFill/>
                </a:ln>
                <a:solidFill>
                  <a:srgbClr val="333333">
                    <a:lumMod val="65000"/>
                    <a:lumOff val="35000"/>
                  </a:srgbClr>
                </a:solidFill>
                <a:latin typeface="Times New Roman" panose="02020603050405020304" pitchFamily="18" charset="0"/>
                <a:ea typeface="微软雅黑" panose="020B0503020204020204" pitchFamily="34" charset="-122"/>
                <a:cs typeface="思源宋体 CN Heavy" panose="02020900000000000000" charset="-122"/>
                <a:sym typeface="Arial" panose="020B0604020202020204"/>
              </a:rPr>
              <a:t>Background and Research Questions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3/33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added-text"/>
          <p:cNvSpPr txBox="1"/>
          <p:nvPr/>
        </p:nvSpPr>
        <p:spPr>
          <a:xfrm>
            <a:off x="685800" y="238125"/>
            <a:ext cx="7620000" cy="361950"/>
          </a:xfrm>
          <a:prstGeom prst="rect">
            <a:avLst/>
          </a:prstGeom>
          <a:noFill/>
        </p:spPr>
        <p:txBody>
          <a:bodyPr wrap="square" lIns="0" tIns="0" rIns="0" bIns="0"/>
          <a:lstStyle/>
          <a:p>
            <a:r>
              <a:rPr lang="zh-CN" altLang="en-US" sz="3300" b="1" dirty="0">
                <a:solidFill>
                  <a:srgbClr val="A52A36"/>
                </a:solidFill>
                <a:latin typeface="Microsoft YaHei"/>
                <a:ea typeface="Microsoft YaHei"/>
              </a:rPr>
              <a:t>概念导入</a:t>
            </a:r>
          </a:p>
        </p:txBody>
      </p:sp>
      <p:pic>
        <p:nvPicPr>
          <p:cNvPr id="3"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4"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4/33</a:t>
            </a:r>
          </a:p>
        </p:txBody>
      </p:sp>
      <p:sp>
        <p:nvSpPr>
          <p:cNvPr id="5" name="矩形 4">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6" name="矩形 5">
            <a:extLst>
              <a:ext uri="{FF2B5EF4-FFF2-40B4-BE49-F238E27FC236}">
                <a16:creationId xmlns:a16="http://schemas.microsoft.com/office/drawing/2014/main" id="{5FD0E290-F001-48E5-9C59-51A3C1C77624}"/>
              </a:ext>
            </a:extLst>
          </p:cNvPr>
          <p:cNvSpPr>
            <a:spLocks noGrp="1"/>
          </p:cNvSpPr>
          <p:nvPr/>
        </p:nvSpPr>
        <p:spPr>
          <a:xfrm>
            <a:off x="685800" y="1047750"/>
            <a:ext cx="10820400" cy="419100"/>
          </a:xfrm>
          <a:prstGeom prst="rect">
            <a:avLst/>
          </a:prstGeom>
          <a:solidFill>
            <a:srgbClr val="A52A36"/>
          </a:solidFill>
          <a:ln w="0">
            <a:noFill/>
          </a:ln>
        </p:spPr>
      </p:sp>
      <p:sp>
        <p:nvSpPr>
          <p:cNvPr id="7" name="矩形 6">
            <a:extLst>
              <a:ext uri="{FF2B5EF4-FFF2-40B4-BE49-F238E27FC236}">
                <a16:creationId xmlns:a16="http://schemas.microsoft.com/office/drawing/2014/main" id="{0D5639D2-6DAC-491F-99A2-1A16737366A4}"/>
              </a:ext>
            </a:extLst>
          </p:cNvPr>
          <p:cNvSpPr>
            <a:spLocks noGrp="1"/>
          </p:cNvSpPr>
          <p:nvPr/>
        </p:nvSpPr>
        <p:spPr>
          <a:xfrm>
            <a:off x="876300" y="1047750"/>
            <a:ext cx="10439400" cy="419100"/>
          </a:xfrm>
          <a:prstGeom prst="rect">
            <a:avLst/>
          </a:prstGeom>
          <a:noFill/>
          <a:ln w="0">
            <a:noFill/>
          </a:ln>
        </p:spPr>
        <p:txBody>
          <a:bodyPr anchor="ctr"/>
          <a:lstStyle>
            <a:defPPr algn="ctr">
              <a:defRPr sz="2175" b="1">
                <a:solidFill>
                  <a:srgbClr val="FFFFFF"/>
                </a:solidFill>
              </a:defRPr>
            </a:defPPr>
          </a:lstStyle>
          <a:p>
            <a:pPr algn="ctr">
              <a:defRPr sz="2175" b="1">
                <a:solidFill>
                  <a:srgbClr val="FFFFFF"/>
                </a:solidFill>
              </a:defRPr>
            </a:pPr>
            <a:r>
              <a:rPr sz="2175" b="1">
                <a:solidFill>
                  <a:srgbClr val="FFFFFF"/>
                </a:solidFill>
              </a:rPr>
              <a:t>什么是社交机器人</a:t>
            </a:r>
          </a:p>
        </p:txBody>
      </p:sp>
      <p:sp>
        <p:nvSpPr>
          <p:cNvPr id="8" name="矩形 7">
            <a:extLst>
              <a:ext uri="{FF2B5EF4-FFF2-40B4-BE49-F238E27FC236}">
                <a16:creationId xmlns:a16="http://schemas.microsoft.com/office/drawing/2014/main" id="{02C9AC3D-9474-4C11-B396-3C6C00E32C98}"/>
              </a:ext>
            </a:extLst>
          </p:cNvPr>
          <p:cNvSpPr>
            <a:spLocks noGrp="1"/>
          </p:cNvSpPr>
          <p:nvPr/>
        </p:nvSpPr>
        <p:spPr>
          <a:xfrm>
            <a:off x="685800" y="2324100"/>
            <a:ext cx="10820400" cy="419100"/>
          </a:xfrm>
          <a:prstGeom prst="rect">
            <a:avLst/>
          </a:prstGeom>
          <a:solidFill>
            <a:srgbClr val="A52A36"/>
          </a:solidFill>
          <a:ln w="0">
            <a:noFill/>
          </a:ln>
        </p:spPr>
      </p:sp>
      <p:sp>
        <p:nvSpPr>
          <p:cNvPr id="9" name="矩形 8">
            <a:extLst>
              <a:ext uri="{FF2B5EF4-FFF2-40B4-BE49-F238E27FC236}">
                <a16:creationId xmlns:a16="http://schemas.microsoft.com/office/drawing/2014/main" id="{53132EE9-822C-4A9F-AA1D-17471DC7A3E6}"/>
              </a:ext>
            </a:extLst>
          </p:cNvPr>
          <p:cNvSpPr>
            <a:spLocks noGrp="1"/>
          </p:cNvSpPr>
          <p:nvPr/>
        </p:nvSpPr>
        <p:spPr>
          <a:xfrm>
            <a:off x="876300" y="2324100"/>
            <a:ext cx="10439400" cy="419100"/>
          </a:xfrm>
          <a:prstGeom prst="rect">
            <a:avLst/>
          </a:prstGeom>
          <a:noFill/>
          <a:ln w="0">
            <a:noFill/>
          </a:ln>
        </p:spPr>
        <p:txBody>
          <a:bodyPr anchor="ctr"/>
          <a:lstStyle>
            <a:defPPr algn="ctr">
              <a:defRPr sz="2175" b="1">
                <a:solidFill>
                  <a:srgbClr val="FFFFFF"/>
                </a:solidFill>
              </a:defRPr>
            </a:defPPr>
          </a:lstStyle>
          <a:p>
            <a:pPr algn="ctr">
              <a:defRPr sz="2175" b="1">
                <a:solidFill>
                  <a:srgbClr val="FFFFFF"/>
                </a:solidFill>
              </a:defRPr>
            </a:pPr>
            <a:r>
              <a:rPr sz="2175" b="1">
                <a:solidFill>
                  <a:srgbClr val="FFFFFF"/>
                </a:solidFill>
              </a:rPr>
              <a:t>什么是触发机器人</a:t>
            </a:r>
          </a:p>
        </p:txBody>
      </p:sp>
      <p:sp>
        <p:nvSpPr>
          <p:cNvPr id="10" name="矩形 9">
            <a:extLst>
              <a:ext uri="{FF2B5EF4-FFF2-40B4-BE49-F238E27FC236}">
                <a16:creationId xmlns:a16="http://schemas.microsoft.com/office/drawing/2014/main" id="{405B433A-F37F-415F-970F-6D1BE353B4AD}"/>
              </a:ext>
            </a:extLst>
          </p:cNvPr>
          <p:cNvSpPr>
            <a:spLocks noGrp="1"/>
          </p:cNvSpPr>
          <p:nvPr/>
        </p:nvSpPr>
        <p:spPr>
          <a:xfrm>
            <a:off x="685800" y="3724275"/>
            <a:ext cx="10820400" cy="419100"/>
          </a:xfrm>
          <a:prstGeom prst="rect">
            <a:avLst/>
          </a:prstGeom>
          <a:solidFill>
            <a:srgbClr val="A52A36"/>
          </a:solidFill>
          <a:ln w="0">
            <a:noFill/>
          </a:ln>
        </p:spPr>
      </p:sp>
      <p:sp>
        <p:nvSpPr>
          <p:cNvPr id="11" name="矩形 10">
            <a:extLst>
              <a:ext uri="{FF2B5EF4-FFF2-40B4-BE49-F238E27FC236}">
                <a16:creationId xmlns:a16="http://schemas.microsoft.com/office/drawing/2014/main" id="{5CB0E440-B541-4554-9C4A-7E48746A32A6}"/>
              </a:ext>
            </a:extLst>
          </p:cNvPr>
          <p:cNvSpPr>
            <a:spLocks noGrp="1"/>
          </p:cNvSpPr>
          <p:nvPr/>
        </p:nvSpPr>
        <p:spPr>
          <a:xfrm>
            <a:off x="876300" y="3724275"/>
            <a:ext cx="10439400" cy="419100"/>
          </a:xfrm>
          <a:prstGeom prst="rect">
            <a:avLst/>
          </a:prstGeom>
          <a:noFill/>
          <a:ln w="0">
            <a:noFill/>
          </a:ln>
        </p:spPr>
        <p:txBody>
          <a:bodyPr anchor="ctr"/>
          <a:lstStyle>
            <a:defPPr algn="ctr">
              <a:defRPr sz="2175" b="1">
                <a:solidFill>
                  <a:srgbClr val="FFFFFF"/>
                </a:solidFill>
              </a:defRPr>
            </a:defPPr>
          </a:lstStyle>
          <a:p>
            <a:pPr algn="ctr">
              <a:defRPr sz="2175" b="1">
                <a:solidFill>
                  <a:srgbClr val="FFFFFF"/>
                </a:solidFill>
              </a:defRPr>
            </a:pPr>
            <a:r>
              <a:rPr sz="2175" b="1">
                <a:solidFill>
                  <a:srgbClr val="FFFFFF"/>
                </a:solidFill>
              </a:rPr>
              <a:t>恶意触发机器人的危害</a:t>
            </a:r>
          </a:p>
        </p:txBody>
      </p:sp>
      <p:sp>
        <p:nvSpPr>
          <p:cNvPr id="12" name="矩形 11">
            <a:extLst>
              <a:ext uri="{FF2B5EF4-FFF2-40B4-BE49-F238E27FC236}">
                <a16:creationId xmlns:a16="http://schemas.microsoft.com/office/drawing/2014/main" id="{8FAB3D57-83A3-4A1A-B03C-3B6F98FFD170}"/>
              </a:ext>
            </a:extLst>
          </p:cNvPr>
          <p:cNvSpPr>
            <a:spLocks noGrp="1"/>
          </p:cNvSpPr>
          <p:nvPr/>
        </p:nvSpPr>
        <p:spPr>
          <a:xfrm>
            <a:off x="685800" y="1466850"/>
            <a:ext cx="10820400" cy="704850"/>
          </a:xfrm>
          <a:prstGeom prst="rect">
            <a:avLst/>
          </a:prstGeom>
          <a:solidFill>
            <a:srgbClr val="F6F2F3"/>
          </a:solidFill>
          <a:ln w="0">
            <a:noFill/>
          </a:ln>
        </p:spPr>
      </p:sp>
      <p:sp>
        <p:nvSpPr>
          <p:cNvPr id="13" name="矩形 12">
            <a:extLst>
              <a:ext uri="{FF2B5EF4-FFF2-40B4-BE49-F238E27FC236}">
                <a16:creationId xmlns:a16="http://schemas.microsoft.com/office/drawing/2014/main" id="{2616BFC6-58B7-4E09-AC23-5488C2D19DB1}"/>
              </a:ext>
            </a:extLst>
          </p:cNvPr>
          <p:cNvSpPr>
            <a:spLocks noGrp="1"/>
          </p:cNvSpPr>
          <p:nvPr/>
        </p:nvSpPr>
        <p:spPr>
          <a:xfrm>
            <a:off x="952500" y="1581150"/>
            <a:ext cx="10287000" cy="495300"/>
          </a:xfrm>
          <a:prstGeom prst="rect">
            <a:avLst/>
          </a:prstGeom>
          <a:noFill/>
          <a:ln w="0">
            <a:noFill/>
          </a:ln>
        </p:spPr>
        <p:txBody>
          <a:bodyPr anchor="ctr"/>
          <a:lstStyle>
            <a:defPPr algn="ctr">
              <a:defRPr sz="2025" b="0">
                <a:solidFill>
                  <a:srgbClr val="333333"/>
                </a:solidFill>
              </a:defRPr>
            </a:defPPr>
          </a:lstStyle>
          <a:p>
            <a:pPr algn="ctr">
              <a:defRPr sz="2025" b="0">
                <a:solidFill>
                  <a:srgbClr val="333333"/>
                </a:solidFill>
              </a:defRPr>
            </a:pPr>
            <a:r>
              <a:rPr sz="2025" b="1" dirty="0" err="1">
                <a:solidFill>
                  <a:srgbClr val="333333"/>
                </a:solidFill>
              </a:rPr>
              <a:t>社交机器人</a:t>
            </a:r>
            <a:r>
              <a:rPr sz="2025" b="0" dirty="0" err="1">
                <a:solidFill>
                  <a:srgbClr val="333333"/>
                </a:solidFill>
              </a:rPr>
              <a:t>是指通过自动化程序控制、受特定组织操作、通常带有一定目的的社交用户</a:t>
            </a:r>
            <a:r>
              <a:rPr sz="2025" b="0" dirty="0">
                <a:solidFill>
                  <a:srgbClr val="333333"/>
                </a:solidFill>
              </a:rPr>
              <a:t>。</a:t>
            </a:r>
          </a:p>
        </p:txBody>
      </p:sp>
      <p:sp>
        <p:nvSpPr>
          <p:cNvPr id="14" name="矩形 13">
            <a:extLst>
              <a:ext uri="{FF2B5EF4-FFF2-40B4-BE49-F238E27FC236}">
                <a16:creationId xmlns:a16="http://schemas.microsoft.com/office/drawing/2014/main" id="{F7070FC5-6D68-43D6-A317-1680C5DE8D54}"/>
              </a:ext>
            </a:extLst>
          </p:cNvPr>
          <p:cNvSpPr>
            <a:spLocks noGrp="1"/>
          </p:cNvSpPr>
          <p:nvPr/>
        </p:nvSpPr>
        <p:spPr>
          <a:xfrm>
            <a:off x="685800" y="2743200"/>
            <a:ext cx="10820400" cy="828675"/>
          </a:xfrm>
          <a:prstGeom prst="rect">
            <a:avLst/>
          </a:prstGeom>
          <a:solidFill>
            <a:srgbClr val="F6F2F3"/>
          </a:solidFill>
          <a:ln w="0">
            <a:noFill/>
          </a:ln>
        </p:spPr>
      </p:sp>
      <p:sp>
        <p:nvSpPr>
          <p:cNvPr id="15" name="矩形 14">
            <a:extLst>
              <a:ext uri="{FF2B5EF4-FFF2-40B4-BE49-F238E27FC236}">
                <a16:creationId xmlns:a16="http://schemas.microsoft.com/office/drawing/2014/main" id="{5FB249EF-FBC6-4159-8F19-E2387BE58471}"/>
              </a:ext>
            </a:extLst>
          </p:cNvPr>
          <p:cNvSpPr>
            <a:spLocks noGrp="1"/>
          </p:cNvSpPr>
          <p:nvPr/>
        </p:nvSpPr>
        <p:spPr>
          <a:xfrm>
            <a:off x="904875" y="2809875"/>
            <a:ext cx="10382250" cy="323850"/>
          </a:xfrm>
          <a:prstGeom prst="rect">
            <a:avLst/>
          </a:prstGeom>
          <a:noFill/>
          <a:ln w="0">
            <a:noFill/>
          </a:ln>
        </p:spPr>
        <p:txBody>
          <a:bodyPr anchor="ctr"/>
          <a:lstStyle>
            <a:defPPr algn="ctr">
              <a:defRPr sz="2025" b="1">
                <a:solidFill>
                  <a:srgbClr val="333333"/>
                </a:solidFill>
              </a:defRPr>
            </a:defPPr>
          </a:lstStyle>
          <a:p>
            <a:pPr algn="ctr">
              <a:defRPr sz="2025" b="1">
                <a:solidFill>
                  <a:srgbClr val="333333"/>
                </a:solidFill>
              </a:defRPr>
            </a:pPr>
            <a:r>
              <a:rPr sz="2025" b="1" dirty="0" err="1">
                <a:solidFill>
                  <a:srgbClr val="333333"/>
                </a:solidFill>
              </a:rPr>
              <a:t>触发机器人（Trigger</a:t>
            </a:r>
            <a:r>
              <a:rPr sz="2025" b="1" dirty="0">
                <a:solidFill>
                  <a:srgbClr val="333333"/>
                </a:solidFill>
              </a:rPr>
              <a:t> </a:t>
            </a:r>
            <a:r>
              <a:rPr sz="2025" b="1" dirty="0" err="1">
                <a:solidFill>
                  <a:srgbClr val="333333"/>
                </a:solidFill>
              </a:rPr>
              <a:t>Bot）</a:t>
            </a:r>
            <a:r>
              <a:rPr sz="2025" dirty="0" err="1">
                <a:solidFill>
                  <a:srgbClr val="333333"/>
                </a:solidFill>
              </a:rPr>
              <a:t>监测公开帖子中的特定关键词</a:t>
            </a:r>
            <a:r>
              <a:rPr sz="2025" dirty="0">
                <a:solidFill>
                  <a:srgbClr val="333333"/>
                </a:solidFill>
              </a:rPr>
              <a:t>，</a:t>
            </a:r>
          </a:p>
        </p:txBody>
      </p:sp>
      <p:sp>
        <p:nvSpPr>
          <p:cNvPr id="16" name="矩形 15">
            <a:extLst>
              <a:ext uri="{FF2B5EF4-FFF2-40B4-BE49-F238E27FC236}">
                <a16:creationId xmlns:a16="http://schemas.microsoft.com/office/drawing/2014/main" id="{8D3F285C-A4CD-4FE5-8934-EB604E8305FD}"/>
              </a:ext>
            </a:extLst>
          </p:cNvPr>
          <p:cNvSpPr>
            <a:spLocks noGrp="1"/>
          </p:cNvSpPr>
          <p:nvPr/>
        </p:nvSpPr>
        <p:spPr>
          <a:xfrm>
            <a:off x="904875" y="3162300"/>
            <a:ext cx="10382250" cy="323850"/>
          </a:xfrm>
          <a:prstGeom prst="rect">
            <a:avLst/>
          </a:prstGeom>
          <a:noFill/>
          <a:ln w="0">
            <a:noFill/>
          </a:ln>
        </p:spPr>
        <p:txBody>
          <a:bodyPr anchor="ctr"/>
          <a:lstStyle>
            <a:defPPr algn="ctr">
              <a:defRPr sz="1950" b="0">
                <a:solidFill>
                  <a:srgbClr val="333333"/>
                </a:solidFill>
              </a:defRPr>
            </a:defPPr>
          </a:lstStyle>
          <a:p>
            <a:pPr algn="ctr">
              <a:defRPr sz="1950" b="0">
                <a:solidFill>
                  <a:srgbClr val="333333"/>
                </a:solidFill>
              </a:defRPr>
            </a:pPr>
            <a:r>
              <a:rPr sz="1950" b="0" dirty="0" err="1">
                <a:solidFill>
                  <a:srgbClr val="333333"/>
                </a:solidFill>
              </a:rPr>
              <a:t>在匹配用户表达的需求后主动建立接触，造成损害的社交机器人</a:t>
            </a:r>
            <a:r>
              <a:rPr sz="1950" b="0" dirty="0">
                <a:solidFill>
                  <a:srgbClr val="333333"/>
                </a:solidFill>
              </a:rPr>
              <a:t>。</a:t>
            </a:r>
          </a:p>
        </p:txBody>
      </p:sp>
      <p:sp>
        <p:nvSpPr>
          <p:cNvPr id="17" name="矩形 16">
            <a:extLst>
              <a:ext uri="{FF2B5EF4-FFF2-40B4-BE49-F238E27FC236}">
                <a16:creationId xmlns:a16="http://schemas.microsoft.com/office/drawing/2014/main" id="{4A67A9A5-C605-4A6E-A287-705AC8F03E9B}"/>
              </a:ext>
            </a:extLst>
          </p:cNvPr>
          <p:cNvSpPr>
            <a:spLocks noGrp="1"/>
          </p:cNvSpPr>
          <p:nvPr/>
        </p:nvSpPr>
        <p:spPr>
          <a:xfrm>
            <a:off x="685800" y="4143375"/>
            <a:ext cx="10820400" cy="1819275"/>
          </a:xfrm>
          <a:prstGeom prst="rect">
            <a:avLst/>
          </a:prstGeom>
          <a:solidFill>
            <a:srgbClr val="F6F2F3"/>
          </a:solidFill>
          <a:ln w="0">
            <a:noFill/>
          </a:ln>
        </p:spPr>
      </p:sp>
      <p:sp>
        <p:nvSpPr>
          <p:cNvPr id="18" name="矩形 17">
            <a:extLst>
              <a:ext uri="{FF2B5EF4-FFF2-40B4-BE49-F238E27FC236}">
                <a16:creationId xmlns:a16="http://schemas.microsoft.com/office/drawing/2014/main" id="{3CB634E9-92FA-4AA1-B49A-D1CE85DE5D38}"/>
              </a:ext>
            </a:extLst>
          </p:cNvPr>
          <p:cNvSpPr>
            <a:spLocks noGrp="1"/>
          </p:cNvSpPr>
          <p:nvPr/>
        </p:nvSpPr>
        <p:spPr>
          <a:xfrm>
            <a:off x="876300" y="4286250"/>
            <a:ext cx="3314700" cy="381000"/>
          </a:xfrm>
          <a:prstGeom prst="rect">
            <a:avLst/>
          </a:prstGeom>
          <a:noFill/>
          <a:ln w="0">
            <a:noFill/>
          </a:ln>
        </p:spPr>
        <p:txBody>
          <a:bodyPr anchor="ctr"/>
          <a:lstStyle>
            <a:defPPr algn="ctr">
              <a:defRPr sz="2100" b="1">
                <a:solidFill>
                  <a:srgbClr val="A52A36"/>
                </a:solidFill>
              </a:defRPr>
            </a:defPPr>
          </a:lstStyle>
          <a:p>
            <a:pPr algn="ctr">
              <a:defRPr sz="2100" b="1">
                <a:solidFill>
                  <a:srgbClr val="A52A36"/>
                </a:solidFill>
              </a:defRPr>
            </a:pPr>
            <a:r>
              <a:rPr sz="2100" b="1">
                <a:solidFill>
                  <a:srgbClr val="A52A36"/>
                </a:solidFill>
              </a:rPr>
              <a:t>欺骗性客服</a:t>
            </a:r>
          </a:p>
        </p:txBody>
      </p:sp>
      <p:sp>
        <p:nvSpPr>
          <p:cNvPr id="19" name="矩形 18">
            <a:extLst>
              <a:ext uri="{FF2B5EF4-FFF2-40B4-BE49-F238E27FC236}">
                <a16:creationId xmlns:a16="http://schemas.microsoft.com/office/drawing/2014/main" id="{DF8A8DCF-0BB7-4F5B-8265-6E15920F3343}"/>
              </a:ext>
            </a:extLst>
          </p:cNvPr>
          <p:cNvSpPr>
            <a:spLocks noGrp="1"/>
          </p:cNvSpPr>
          <p:nvPr/>
        </p:nvSpPr>
        <p:spPr>
          <a:xfrm>
            <a:off x="876300" y="4772025"/>
            <a:ext cx="3314700" cy="933450"/>
          </a:xfrm>
          <a:prstGeom prst="rect">
            <a:avLst/>
          </a:prstGeom>
          <a:noFill/>
          <a:ln w="0">
            <a:noFill/>
          </a:ln>
        </p:spPr>
        <p:txBody>
          <a:bodyPr anchor="ctr"/>
          <a:lstStyle>
            <a:defPPr algn="ctr">
              <a:defRPr sz="1800" b="0">
                <a:solidFill>
                  <a:srgbClr val="333333"/>
                </a:solidFill>
              </a:defRPr>
            </a:defPPr>
          </a:lstStyle>
          <a:p>
            <a:pPr algn="ctr">
              <a:defRPr sz="1800" b="0">
                <a:solidFill>
                  <a:srgbClr val="333333"/>
                </a:solidFill>
              </a:defRPr>
            </a:pPr>
            <a:r>
              <a:rPr sz="1800" b="0" dirty="0" err="1">
                <a:solidFill>
                  <a:srgbClr val="333333"/>
                </a:solidFill>
              </a:rPr>
              <a:t>冒充钱包或账号恢复客服</a:t>
            </a:r>
            <a:r>
              <a:rPr sz="1800" b="0" dirty="0">
                <a:solidFill>
                  <a:srgbClr val="333333"/>
                </a:solidFill>
              </a:rPr>
              <a:t>，</a:t>
            </a:r>
          </a:p>
          <a:p>
            <a:pPr algn="ctr">
              <a:defRPr sz="1800" b="0">
                <a:solidFill>
                  <a:srgbClr val="333333"/>
                </a:solidFill>
              </a:defRPr>
            </a:pPr>
            <a:r>
              <a:rPr sz="1800" b="0" dirty="0" err="1">
                <a:solidFill>
                  <a:srgbClr val="333333"/>
                </a:solidFill>
              </a:rPr>
              <a:t>引导用户</a:t>
            </a:r>
            <a:r>
              <a:rPr lang="zh-CN" altLang="en-US" sz="1800" b="0" dirty="0">
                <a:solidFill>
                  <a:srgbClr val="333333"/>
                </a:solidFill>
              </a:rPr>
              <a:t>进行</a:t>
            </a:r>
            <a:r>
              <a:rPr sz="1800" b="0" dirty="0" err="1">
                <a:solidFill>
                  <a:srgbClr val="333333"/>
                </a:solidFill>
              </a:rPr>
              <a:t>站外联系。造成</a:t>
            </a:r>
            <a:endParaRPr sz="1800" b="0" dirty="0">
              <a:solidFill>
                <a:srgbClr val="333333"/>
              </a:solidFill>
            </a:endParaRPr>
          </a:p>
          <a:p>
            <a:pPr algn="ctr">
              <a:defRPr sz="1800" b="0">
                <a:solidFill>
                  <a:srgbClr val="333333"/>
                </a:solidFill>
              </a:defRPr>
            </a:pPr>
            <a:r>
              <a:rPr sz="1800" b="0" dirty="0" err="1">
                <a:solidFill>
                  <a:srgbClr val="333333"/>
                </a:solidFill>
              </a:rPr>
              <a:t>凭据泄露、资金损失</a:t>
            </a:r>
            <a:r>
              <a:rPr sz="1800" b="0" dirty="0">
                <a:solidFill>
                  <a:srgbClr val="333333"/>
                </a:solidFill>
              </a:rPr>
              <a:t>。</a:t>
            </a:r>
          </a:p>
        </p:txBody>
      </p:sp>
      <p:sp>
        <p:nvSpPr>
          <p:cNvPr id="20" name="矩形 19">
            <a:extLst>
              <a:ext uri="{FF2B5EF4-FFF2-40B4-BE49-F238E27FC236}">
                <a16:creationId xmlns:a16="http://schemas.microsoft.com/office/drawing/2014/main" id="{8AC23F77-9CEE-4103-89CE-C81554441B5F}"/>
              </a:ext>
            </a:extLst>
          </p:cNvPr>
          <p:cNvSpPr>
            <a:spLocks noGrp="1"/>
          </p:cNvSpPr>
          <p:nvPr/>
        </p:nvSpPr>
        <p:spPr>
          <a:xfrm>
            <a:off x="4438650" y="4286250"/>
            <a:ext cx="3314700" cy="381000"/>
          </a:xfrm>
          <a:prstGeom prst="rect">
            <a:avLst/>
          </a:prstGeom>
          <a:noFill/>
          <a:ln w="0">
            <a:noFill/>
          </a:ln>
        </p:spPr>
        <p:txBody>
          <a:bodyPr anchor="ctr"/>
          <a:lstStyle>
            <a:defPPr algn="ctr">
              <a:defRPr sz="2100" b="1">
                <a:solidFill>
                  <a:srgbClr val="A52A36"/>
                </a:solidFill>
              </a:defRPr>
            </a:defPPr>
          </a:lstStyle>
          <a:p>
            <a:pPr algn="ctr">
              <a:defRPr sz="2100" b="1">
                <a:solidFill>
                  <a:srgbClr val="A52A36"/>
                </a:solidFill>
              </a:defRPr>
            </a:pPr>
            <a:r>
              <a:rPr sz="2100" b="1">
                <a:solidFill>
                  <a:srgbClr val="A52A36"/>
                </a:solidFill>
              </a:rPr>
              <a:t>非法产品推广</a:t>
            </a:r>
          </a:p>
        </p:txBody>
      </p:sp>
      <p:sp>
        <p:nvSpPr>
          <p:cNvPr id="21" name="矩形 20">
            <a:extLst>
              <a:ext uri="{FF2B5EF4-FFF2-40B4-BE49-F238E27FC236}">
                <a16:creationId xmlns:a16="http://schemas.microsoft.com/office/drawing/2014/main" id="{0A5CE495-626B-4E60-AE9A-842F5B9F5E15}"/>
              </a:ext>
            </a:extLst>
          </p:cNvPr>
          <p:cNvSpPr>
            <a:spLocks noGrp="1"/>
          </p:cNvSpPr>
          <p:nvPr/>
        </p:nvSpPr>
        <p:spPr>
          <a:xfrm>
            <a:off x="4438650" y="4772025"/>
            <a:ext cx="3314700" cy="933450"/>
          </a:xfrm>
          <a:prstGeom prst="rect">
            <a:avLst/>
          </a:prstGeom>
          <a:noFill/>
          <a:ln w="0">
            <a:noFill/>
          </a:ln>
        </p:spPr>
        <p:txBody>
          <a:bodyPr anchor="ctr"/>
          <a:lstStyle>
            <a:defPPr algn="ctr">
              <a:defRPr sz="1800" b="0">
                <a:solidFill>
                  <a:srgbClr val="333333"/>
                </a:solidFill>
              </a:defRPr>
            </a:defPPr>
          </a:lstStyle>
          <a:p>
            <a:pPr algn="ctr">
              <a:defRPr sz="1800" b="0">
                <a:solidFill>
                  <a:srgbClr val="333333"/>
                </a:solidFill>
              </a:defRPr>
            </a:pPr>
            <a:r>
              <a:rPr sz="1800" b="0" dirty="0" err="1">
                <a:solidFill>
                  <a:srgbClr val="333333"/>
                </a:solidFill>
              </a:rPr>
              <a:t>针对相关兴趣词自动回复</a:t>
            </a:r>
            <a:r>
              <a:rPr sz="1800" b="0" dirty="0">
                <a:solidFill>
                  <a:srgbClr val="333333"/>
                </a:solidFill>
              </a:rPr>
              <a:t>，</a:t>
            </a:r>
            <a:endParaRPr lang="zh-CN" altLang="en-US" sz="1800" b="0" dirty="0">
              <a:solidFill>
                <a:srgbClr val="333333"/>
              </a:solidFill>
            </a:endParaRPr>
          </a:p>
          <a:p>
            <a:pPr algn="ctr">
              <a:defRPr sz="1800" b="0">
                <a:solidFill>
                  <a:srgbClr val="333333"/>
                </a:solidFill>
              </a:defRPr>
            </a:pPr>
            <a:r>
              <a:rPr lang="zh-CN" altLang="en-US" sz="1800" b="0" dirty="0">
                <a:solidFill>
                  <a:srgbClr val="333333"/>
                </a:solidFill>
              </a:rPr>
              <a:t>推广违规商品或服务。</a:t>
            </a:r>
          </a:p>
          <a:p>
            <a:pPr algn="ctr">
              <a:defRPr sz="1800" b="0">
                <a:solidFill>
                  <a:srgbClr val="333333"/>
                </a:solidFill>
              </a:defRPr>
            </a:pPr>
            <a:r>
              <a:rPr sz="1800" b="0" dirty="0" err="1">
                <a:solidFill>
                  <a:srgbClr val="333333"/>
                </a:solidFill>
              </a:rPr>
              <a:t>引导非法交易的发生</a:t>
            </a:r>
            <a:r>
              <a:rPr sz="1800" b="0" dirty="0">
                <a:solidFill>
                  <a:srgbClr val="333333"/>
                </a:solidFill>
              </a:rPr>
              <a:t>。</a:t>
            </a:r>
          </a:p>
        </p:txBody>
      </p:sp>
      <p:sp>
        <p:nvSpPr>
          <p:cNvPr id="22" name="矩形 21">
            <a:extLst>
              <a:ext uri="{FF2B5EF4-FFF2-40B4-BE49-F238E27FC236}">
                <a16:creationId xmlns:a16="http://schemas.microsoft.com/office/drawing/2014/main" id="{B4E35EE4-DC76-4AB7-9D05-8B2E75E061D4}"/>
              </a:ext>
            </a:extLst>
          </p:cNvPr>
          <p:cNvSpPr>
            <a:spLocks noGrp="1"/>
          </p:cNvSpPr>
          <p:nvPr/>
        </p:nvSpPr>
        <p:spPr>
          <a:xfrm>
            <a:off x="8001000" y="4286250"/>
            <a:ext cx="3314700" cy="381000"/>
          </a:xfrm>
          <a:prstGeom prst="rect">
            <a:avLst/>
          </a:prstGeom>
          <a:noFill/>
          <a:ln w="0">
            <a:noFill/>
          </a:ln>
        </p:spPr>
        <p:txBody>
          <a:bodyPr anchor="ctr"/>
          <a:lstStyle>
            <a:defPPr algn="ctr">
              <a:defRPr sz="2100" b="1">
                <a:solidFill>
                  <a:srgbClr val="A52A36"/>
                </a:solidFill>
              </a:defRPr>
            </a:defPPr>
          </a:lstStyle>
          <a:p>
            <a:pPr algn="ctr">
              <a:defRPr sz="2100" b="1">
                <a:solidFill>
                  <a:srgbClr val="A52A36"/>
                </a:solidFill>
              </a:defRPr>
            </a:pPr>
            <a:r>
              <a:rPr sz="2100" b="1">
                <a:solidFill>
                  <a:srgbClr val="A52A36"/>
                </a:solidFill>
              </a:rPr>
              <a:t>误导性赠奖</a:t>
            </a:r>
          </a:p>
        </p:txBody>
      </p:sp>
      <p:sp>
        <p:nvSpPr>
          <p:cNvPr id="23" name="矩形 22">
            <a:extLst>
              <a:ext uri="{FF2B5EF4-FFF2-40B4-BE49-F238E27FC236}">
                <a16:creationId xmlns:a16="http://schemas.microsoft.com/office/drawing/2014/main" id="{4E6A736F-AD3D-4208-B9F5-A3C9E7FAC75D}"/>
              </a:ext>
            </a:extLst>
          </p:cNvPr>
          <p:cNvSpPr>
            <a:spLocks noGrp="1"/>
          </p:cNvSpPr>
          <p:nvPr/>
        </p:nvSpPr>
        <p:spPr>
          <a:xfrm>
            <a:off x="8001000" y="4772025"/>
            <a:ext cx="3314700" cy="933450"/>
          </a:xfrm>
          <a:prstGeom prst="rect">
            <a:avLst/>
          </a:prstGeom>
          <a:noFill/>
          <a:ln w="0">
            <a:noFill/>
          </a:ln>
        </p:spPr>
        <p:txBody>
          <a:bodyPr anchor="ctr"/>
          <a:lstStyle>
            <a:defPPr algn="ctr">
              <a:defRPr sz="1800" b="0">
                <a:solidFill>
                  <a:srgbClr val="333333"/>
                </a:solidFill>
              </a:defRPr>
            </a:defPPr>
          </a:lstStyle>
          <a:p>
            <a:pPr algn="ctr">
              <a:defRPr sz="1800" b="0">
                <a:solidFill>
                  <a:srgbClr val="333333"/>
                </a:solidFill>
              </a:defRPr>
            </a:pPr>
            <a:r>
              <a:rPr sz="1800" b="0" dirty="0" err="1">
                <a:solidFill>
                  <a:srgbClr val="333333"/>
                </a:solidFill>
              </a:rPr>
              <a:t>以赠奖、资助或关系承诺</a:t>
            </a:r>
            <a:endParaRPr sz="1800" b="0" dirty="0">
              <a:solidFill>
                <a:srgbClr val="333333"/>
              </a:solidFill>
            </a:endParaRPr>
          </a:p>
          <a:p>
            <a:pPr algn="ctr">
              <a:defRPr sz="1800" b="0">
                <a:solidFill>
                  <a:srgbClr val="333333"/>
                </a:solidFill>
              </a:defRPr>
            </a:pPr>
            <a:r>
              <a:rPr sz="1800" b="0" dirty="0" err="1">
                <a:solidFill>
                  <a:srgbClr val="333333"/>
                </a:solidFill>
              </a:rPr>
              <a:t>吸引互动，引入后续欺骗</a:t>
            </a:r>
            <a:r>
              <a:rPr sz="1800" b="0" dirty="0">
                <a:solidFill>
                  <a:srgbClr val="333333"/>
                </a:solidFill>
              </a:rPr>
              <a:t>。</a:t>
            </a:r>
          </a:p>
          <a:p>
            <a:pPr algn="ctr">
              <a:defRPr sz="1800" b="0">
                <a:solidFill>
                  <a:srgbClr val="333333"/>
                </a:solidFill>
              </a:defRPr>
            </a:pPr>
            <a:r>
              <a:rPr sz="1800" b="0" dirty="0" err="1">
                <a:solidFill>
                  <a:srgbClr val="333333"/>
                </a:solidFill>
              </a:rPr>
              <a:t>比如诱导转账、泄露信息等</a:t>
            </a:r>
            <a:r>
              <a:rPr sz="1800" b="0" dirty="0">
                <a:solidFill>
                  <a:srgbClr val="333333"/>
                </a:solidFill>
              </a:rPr>
              <a:t>。</a:t>
            </a:r>
          </a:p>
        </p:txBody>
      </p:sp>
      <p:sp>
        <p:nvSpPr>
          <p:cNvPr id="24" name="矩形 23">
            <a:extLst>
              <a:ext uri="{FF2B5EF4-FFF2-40B4-BE49-F238E27FC236}">
                <a16:creationId xmlns:a16="http://schemas.microsoft.com/office/drawing/2014/main" id="{FA1F7E7A-0707-4EC8-AC55-66C710EC9D1C}"/>
              </a:ext>
            </a:extLst>
          </p:cNvPr>
          <p:cNvSpPr>
            <a:spLocks noGrp="1"/>
          </p:cNvSpPr>
          <p:nvPr/>
        </p:nvSpPr>
        <p:spPr>
          <a:xfrm>
            <a:off x="685800" y="6115050"/>
            <a:ext cx="10820400" cy="323850"/>
          </a:xfrm>
          <a:prstGeom prst="rect">
            <a:avLst/>
          </a:prstGeom>
          <a:noFill/>
          <a:ln w="0">
            <a:noFill/>
          </a:ln>
        </p:spPr>
        <p:txBody>
          <a:bodyPr anchor="ctr"/>
          <a:lstStyle>
            <a:defPPr algn="ctr">
              <a:defRPr sz="1725" b="1">
                <a:solidFill>
                  <a:srgbClr val="A52A36"/>
                </a:solidFill>
              </a:defRPr>
            </a:defPPr>
          </a:lstStyle>
          <a:p>
            <a:pPr algn="ctr">
              <a:defRPr sz="1725" b="1">
                <a:solidFill>
                  <a:srgbClr val="A52A36"/>
                </a:solidFill>
              </a:defRPr>
            </a:pPr>
            <a:r>
              <a:rPr sz="1725" b="1">
                <a:solidFill>
                  <a:srgbClr val="A52A36"/>
                </a:solidFill>
              </a:rPr>
              <a:t>触发机制也可用于良性服务；是否恶意，取决于其推广内容与活动目的。</a:t>
            </a:r>
          </a:p>
        </p:txBody>
      </p:sp>
    </p:spTree>
    <p:extLst>
      <p:ext uri="{BB962C8B-B14F-4D97-AF65-F5344CB8AC3E}">
        <p14:creationId xmlns:p14="http://schemas.microsoft.com/office/powerpoint/2010/main" val="1962919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
            <a:extLst>
              <a:ext uri="{FF2B5EF4-FFF2-40B4-BE49-F238E27FC236}">
                <a16:creationId xmlns:a16="http://schemas.microsoft.com/office/drawing/2014/main" id="{2C6ECE81-8637-4CC5-9E04-AF49DA90D085}"/>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endParaRPr sz="3300" b="1" dirty="0">
              <a:solidFill>
                <a:srgbClr val="A52A36"/>
              </a:solidFill>
              <a:latin typeface="Microsoft YaHei"/>
              <a:ea typeface="Microsoft YaHei"/>
            </a:endParaRPr>
          </a:p>
        </p:txBody>
      </p:sp>
      <p:sp>
        <p:nvSpPr>
          <p:cNvPr id="3" name="clarity-text-13">
            <a:extLst>
              <a:ext uri="{FF2B5EF4-FFF2-40B4-BE49-F238E27FC236}">
                <a16:creationId xmlns:a16="http://schemas.microsoft.com/office/drawing/2014/main" id="{4027F5EB-6C62-4455-868B-956B2EBB41B1}"/>
              </a:ext>
            </a:extLst>
          </p:cNvPr>
          <p:cNvSpPr>
            <a:spLocks noGrp="1"/>
          </p:cNvSpPr>
          <p:nvPr/>
        </p:nvSpPr>
        <p:spPr>
          <a:xfrm>
            <a:off x="541325" y="193015"/>
            <a:ext cx="12405969"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defRPr sz="33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背景介绍</a:t>
            </a:r>
            <a:endParaRPr sz="3300" b="1" dirty="0">
              <a:solidFill>
                <a:srgbClr val="A52A36"/>
              </a:solidFill>
              <a:latin typeface="Microsoft YaHei"/>
              <a:ea typeface="Microsoft YaHei"/>
              <a:cs typeface="Microsoft YaHei"/>
            </a:endParaRPr>
          </a:p>
        </p:txBody>
      </p:sp>
      <p:sp>
        <p:nvSpPr>
          <p:cNvPr id="4" name="content-group-14">
            <a:extLst>
              <a:ext uri="{FF2B5EF4-FFF2-40B4-BE49-F238E27FC236}">
                <a16:creationId xmlns:a16="http://schemas.microsoft.com/office/drawing/2014/main" id="{1BCC26F4-3B18-473A-AADF-9C40164CFE10}"/>
              </a:ext>
            </a:extLst>
          </p:cNvPr>
          <p:cNvSpPr>
            <a:spLocks noGrp="1"/>
          </p:cNvSpPr>
          <p:nvPr/>
        </p:nvSpPr>
        <p:spPr>
          <a:xfrm>
            <a:off x="685800" y="2247900"/>
            <a:ext cx="3429000" cy="1787205"/>
          </a:xfrm>
          <a:prstGeom prst="rect">
            <a:avLst/>
          </a:prstGeom>
          <a:noFill/>
          <a:ln w="12859">
            <a:solidFill>
              <a:srgbClr val="9F2934"/>
            </a:solidFill>
            <a:prstDash val="solid"/>
          </a:ln>
        </p:spPr>
      </p:sp>
      <p:sp>
        <p:nvSpPr>
          <p:cNvPr id="5" name="clarity-text-15">
            <a:extLst>
              <a:ext uri="{FF2B5EF4-FFF2-40B4-BE49-F238E27FC236}">
                <a16:creationId xmlns:a16="http://schemas.microsoft.com/office/drawing/2014/main" id="{6FDB2A58-80A4-41D7-8D62-1BE45FEFC01B}"/>
              </a:ext>
            </a:extLst>
          </p:cNvPr>
          <p:cNvSpPr>
            <a:spLocks noGrp="1"/>
          </p:cNvSpPr>
          <p:nvPr/>
        </p:nvSpPr>
        <p:spPr>
          <a:xfrm>
            <a:off x="685800" y="1838325"/>
            <a:ext cx="3429000"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Trigger Bot 触发机器人</a:t>
            </a:r>
          </a:p>
        </p:txBody>
      </p:sp>
      <p:sp>
        <p:nvSpPr>
          <p:cNvPr id="6" name="clarity-text-16">
            <a:extLst>
              <a:ext uri="{FF2B5EF4-FFF2-40B4-BE49-F238E27FC236}">
                <a16:creationId xmlns:a16="http://schemas.microsoft.com/office/drawing/2014/main" id="{8735DABC-B6FA-4747-9219-9FC843F74332}"/>
              </a:ext>
            </a:extLst>
          </p:cNvPr>
          <p:cNvSpPr>
            <a:spLocks noGrp="1"/>
          </p:cNvSpPr>
          <p:nvPr/>
        </p:nvSpPr>
        <p:spPr>
          <a:xfrm>
            <a:off x="876300" y="2247900"/>
            <a:ext cx="3048000" cy="1537982"/>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endParaRPr sz="1800" b="0" dirty="0">
              <a:solidFill>
                <a:srgbClr val="26282D"/>
              </a:solidFill>
              <a:latin typeface="Microsoft YaHei"/>
              <a:ea typeface="Microsoft YaHei"/>
              <a:cs typeface="Microsoft YaHei"/>
            </a:endParaRPr>
          </a:p>
          <a:p>
            <a:pPr algn="l">
              <a:buNone/>
              <a:defRPr sz="1800" b="0">
                <a:solidFill>
                  <a:srgbClr val="26282D"/>
                </a:solidFill>
                <a:latin typeface="Microsoft YaHei"/>
                <a:ea typeface="Microsoft YaHei"/>
                <a:cs typeface="Microsoft YaHei"/>
              </a:defRPr>
            </a:pPr>
            <a:r>
              <a:rPr sz="1800" b="1" dirty="0" err="1">
                <a:solidFill>
                  <a:srgbClr val="26282D"/>
                </a:solidFill>
                <a:latin typeface="Microsoft YaHei"/>
                <a:ea typeface="Microsoft YaHei"/>
                <a:cs typeface="Microsoft YaHei"/>
              </a:rPr>
              <a:t>代理</a:t>
            </a:r>
            <a:r>
              <a:rPr sz="1800" b="1" dirty="0">
                <a:solidFill>
                  <a:srgbClr val="26282D"/>
                </a:solidFill>
                <a:latin typeface="Microsoft YaHei"/>
                <a:ea typeface="Microsoft YaHei"/>
                <a:cs typeface="Microsoft YaHei"/>
              </a:rPr>
              <a:t> </a:t>
            </a:r>
            <a:r>
              <a:rPr sz="1800" b="1" dirty="0" err="1">
                <a:solidFill>
                  <a:srgbClr val="26282D"/>
                </a:solidFill>
                <a:latin typeface="Microsoft YaHei"/>
                <a:ea typeface="Microsoft YaHei"/>
                <a:cs typeface="Microsoft YaHei"/>
              </a:rPr>
              <a:t>Agent</a:t>
            </a:r>
            <a:r>
              <a:rPr sz="1800" b="0" dirty="0" err="1">
                <a:solidFill>
                  <a:srgbClr val="26282D"/>
                </a:solidFill>
                <a:latin typeface="Microsoft YaHei"/>
                <a:ea typeface="Microsoft YaHei"/>
                <a:cs typeface="Microsoft YaHei"/>
              </a:rPr>
              <a:t>：执行回复的账户</a:t>
            </a:r>
            <a:endParaRPr lang="en-US" sz="1800" b="0" dirty="0">
              <a:solidFill>
                <a:srgbClr val="26282D"/>
              </a:solidFill>
              <a:latin typeface="Microsoft YaHei"/>
              <a:ea typeface="Microsoft YaHei"/>
              <a:cs typeface="Microsoft YaHei"/>
            </a:endParaRPr>
          </a:p>
          <a:p>
            <a:pPr algn="l">
              <a:buNone/>
              <a:defRPr sz="1800" b="0">
                <a:solidFill>
                  <a:srgbClr val="26282D"/>
                </a:solidFill>
                <a:latin typeface="Microsoft YaHei"/>
                <a:ea typeface="Microsoft YaHei"/>
                <a:cs typeface="Microsoft YaHei"/>
              </a:defRPr>
            </a:pPr>
            <a:endParaRPr sz="1800" b="0" dirty="0">
              <a:solidFill>
                <a:srgbClr val="26282D"/>
              </a:solidFill>
              <a:latin typeface="Microsoft YaHei"/>
              <a:ea typeface="Microsoft YaHei"/>
              <a:cs typeface="Microsoft YaHei"/>
            </a:endParaRPr>
          </a:p>
          <a:p>
            <a:pPr algn="l">
              <a:buNone/>
              <a:defRPr sz="1800" b="0">
                <a:solidFill>
                  <a:srgbClr val="26282D"/>
                </a:solidFill>
                <a:latin typeface="Microsoft YaHei"/>
                <a:ea typeface="Microsoft YaHei"/>
                <a:cs typeface="Microsoft YaHei"/>
              </a:defRPr>
            </a:pPr>
            <a:r>
              <a:rPr sz="1800" b="1" dirty="0" err="1">
                <a:solidFill>
                  <a:srgbClr val="26282D"/>
                </a:solidFill>
                <a:latin typeface="Microsoft YaHei"/>
                <a:ea typeface="Microsoft YaHei"/>
                <a:cs typeface="Microsoft YaHei"/>
              </a:rPr>
              <a:t>活动</a:t>
            </a:r>
            <a:r>
              <a:rPr sz="1800" b="1" dirty="0">
                <a:solidFill>
                  <a:srgbClr val="26282D"/>
                </a:solidFill>
                <a:latin typeface="Microsoft YaHei"/>
                <a:ea typeface="Microsoft YaHei"/>
                <a:cs typeface="Microsoft YaHei"/>
              </a:rPr>
              <a:t> </a:t>
            </a:r>
            <a:r>
              <a:rPr sz="1800" b="1" dirty="0" err="1">
                <a:solidFill>
                  <a:srgbClr val="26282D"/>
                </a:solidFill>
                <a:latin typeface="Microsoft YaHei"/>
                <a:ea typeface="Microsoft YaHei"/>
                <a:cs typeface="Microsoft YaHei"/>
              </a:rPr>
              <a:t>Campaign</a:t>
            </a:r>
            <a:r>
              <a:rPr sz="1800" b="0" dirty="0" err="1">
                <a:solidFill>
                  <a:srgbClr val="26282D"/>
                </a:solidFill>
                <a:latin typeface="Microsoft YaHei"/>
                <a:ea typeface="Microsoft YaHei"/>
                <a:cs typeface="Microsoft YaHei"/>
              </a:rPr>
              <a:t>：推广的目的</a:t>
            </a:r>
            <a:endParaRPr sz="1800" b="0" dirty="0">
              <a:solidFill>
                <a:srgbClr val="26282D"/>
              </a:solidFill>
              <a:latin typeface="Microsoft YaHei"/>
              <a:ea typeface="Microsoft YaHei"/>
              <a:cs typeface="Microsoft YaHei"/>
            </a:endParaRPr>
          </a:p>
          <a:p>
            <a:endParaRPr sz="1800" b="0" dirty="0">
              <a:solidFill>
                <a:srgbClr val="26282D"/>
              </a:solidFill>
              <a:latin typeface="Microsoft YaHei"/>
              <a:ea typeface="Microsoft YaHei"/>
              <a:cs typeface="Microsoft YaHei"/>
            </a:endParaRPr>
          </a:p>
        </p:txBody>
      </p:sp>
      <p:graphicFrame>
        <p:nvGraphicFramePr>
          <p:cNvPr id="7" name="表格 15">
            <a:extLst>
              <a:ext uri="{FF2B5EF4-FFF2-40B4-BE49-F238E27FC236}">
                <a16:creationId xmlns:a16="http://schemas.microsoft.com/office/drawing/2014/main" id="{09106BE8-F2BA-4E61-9298-B7422278153A}"/>
              </a:ext>
            </a:extLst>
          </p:cNvPr>
          <p:cNvGraphicFramePr/>
          <p:nvPr/>
        </p:nvGraphicFramePr>
        <p:xfrm>
          <a:off x="4381500" y="1809750"/>
          <a:ext cx="7124700" cy="3314700"/>
        </p:xfrm>
        <a:graphic>
          <a:graphicData uri="http://schemas.openxmlformats.org/drawingml/2006/table">
            <a:tbl>
              <a:tblPr/>
              <a:tblGrid>
                <a:gridCol w="2619375">
                  <a:extLst>
                    <a:ext uri="{9D8B030D-6E8A-4147-A177-3AD203B41FA5}">
                      <a16:colId xmlns:a16="http://schemas.microsoft.com/office/drawing/2014/main" val="20000"/>
                    </a:ext>
                  </a:extLst>
                </a:gridCol>
                <a:gridCol w="4505325">
                  <a:extLst>
                    <a:ext uri="{9D8B030D-6E8A-4147-A177-3AD203B41FA5}">
                      <a16:colId xmlns:a16="http://schemas.microsoft.com/office/drawing/2014/main" val="20001"/>
                    </a:ext>
                  </a:extLst>
                </a:gridCol>
              </a:tblGrid>
              <a:tr h="662940">
                <a:tc>
                  <a:txBody>
                    <a:bodyPr/>
                    <a:lstStyle/>
                    <a:p>
                      <a:pPr algn="l">
                        <a:buNone/>
                      </a:pPr>
                      <a:r>
                        <a:rPr sz="1875" b="1">
                          <a:solidFill>
                            <a:srgbClr val="FFFFFF"/>
                          </a:solidFill>
                          <a:latin typeface="Microsoft YaHei"/>
                          <a:ea typeface="Microsoft YaHei"/>
                          <a:cs typeface="Microsoft YaHei"/>
                        </a:rPr>
                        <a:t>活动性质与类型</a:t>
                      </a:r>
                    </a:p>
                  </a:txBody>
                  <a:tcPr marL="133350" marR="114300" marT="57150" marB="57150" anchor="ctr">
                    <a:solidFill>
                      <a:srgbClr val="9F2934"/>
                    </a:solidFill>
                  </a:tcPr>
                </a:tc>
                <a:tc>
                  <a:txBody>
                    <a:bodyPr/>
                    <a:lstStyle/>
                    <a:p>
                      <a:pPr algn="l">
                        <a:buNone/>
                      </a:pPr>
                      <a:r>
                        <a:rPr sz="1875" b="1">
                          <a:solidFill>
                            <a:srgbClr val="FFFFFF"/>
                          </a:solidFill>
                          <a:latin typeface="Microsoft YaHei"/>
                          <a:ea typeface="Microsoft YaHei"/>
                          <a:cs typeface="Microsoft YaHei"/>
                        </a:rPr>
                        <a:t>本文中的活动内容</a:t>
                      </a:r>
                    </a:p>
                  </a:txBody>
                  <a:tcPr marL="133350" marR="114300" marT="57150" marB="57150" anchor="ctr">
                    <a:solidFill>
                      <a:srgbClr val="9F2934"/>
                    </a:solidFill>
                  </a:tcPr>
                </a:tc>
                <a:extLst>
                  <a:ext uri="{0D108BD9-81ED-4DB2-BD59-A6C34878D82A}">
                    <a16:rowId xmlns:a16="http://schemas.microsoft.com/office/drawing/2014/main" val="10000"/>
                  </a:ext>
                </a:extLst>
              </a:tr>
              <a:tr h="662940">
                <a:tc>
                  <a:txBody>
                    <a:bodyPr/>
                    <a:lstStyle/>
                    <a:p>
                      <a:pPr algn="l">
                        <a:buNone/>
                      </a:pPr>
                      <a:r>
                        <a:rPr sz="1875" b="0">
                          <a:solidFill>
                            <a:srgbClr val="26282D"/>
                          </a:solidFill>
                          <a:latin typeface="Microsoft YaHei"/>
                          <a:ea typeface="Microsoft YaHei"/>
                          <a:cs typeface="Microsoft YaHei"/>
                        </a:rPr>
                        <a:t>恶意：欺骗性客服</a:t>
                      </a:r>
                    </a:p>
                  </a:txBody>
                  <a:tcPr marL="133350" marR="114300" marT="57150" marB="57150" anchor="ctr">
                    <a:solidFill>
                      <a:srgbClr val="FFFFFF"/>
                    </a:solidFill>
                  </a:tcPr>
                </a:tc>
                <a:tc>
                  <a:txBody>
                    <a:bodyPr/>
                    <a:lstStyle/>
                    <a:p>
                      <a:pPr algn="l">
                        <a:buNone/>
                      </a:pPr>
                      <a:r>
                        <a:rPr sz="1875" b="0">
                          <a:solidFill>
                            <a:srgbClr val="26282D"/>
                          </a:solidFill>
                          <a:latin typeface="Microsoft YaHei"/>
                          <a:ea typeface="Microsoft YaHei"/>
                          <a:cs typeface="Microsoft YaHei"/>
                        </a:rPr>
                        <a:t>冒充钱包或账号恢复客服</a:t>
                      </a:r>
                    </a:p>
                  </a:txBody>
                  <a:tcPr marL="133350" marR="114300" marT="57150" marB="57150" anchor="ctr">
                    <a:solidFill>
                      <a:srgbClr val="FFFFFF"/>
                    </a:solidFill>
                  </a:tcPr>
                </a:tc>
                <a:extLst>
                  <a:ext uri="{0D108BD9-81ED-4DB2-BD59-A6C34878D82A}">
                    <a16:rowId xmlns:a16="http://schemas.microsoft.com/office/drawing/2014/main" val="10001"/>
                  </a:ext>
                </a:extLst>
              </a:tr>
              <a:tr h="662940">
                <a:tc>
                  <a:txBody>
                    <a:bodyPr/>
                    <a:lstStyle/>
                    <a:p>
                      <a:pPr algn="l">
                        <a:buNone/>
                      </a:pPr>
                      <a:r>
                        <a:rPr sz="1875" b="0">
                          <a:solidFill>
                            <a:srgbClr val="26282D"/>
                          </a:solidFill>
                          <a:latin typeface="Microsoft YaHei"/>
                          <a:ea typeface="Microsoft YaHei"/>
                          <a:cs typeface="Microsoft YaHei"/>
                        </a:rPr>
                        <a:t>恶意：非法产品</a:t>
                      </a:r>
                    </a:p>
                  </a:txBody>
                  <a:tcPr marL="133350" marR="114300" marT="57150" marB="57150" anchor="ctr">
                    <a:solidFill>
                      <a:srgbClr val="F7EAEB"/>
                    </a:solidFill>
                  </a:tcPr>
                </a:tc>
                <a:tc>
                  <a:txBody>
                    <a:bodyPr/>
                    <a:lstStyle/>
                    <a:p>
                      <a:pPr algn="l">
                        <a:buNone/>
                      </a:pPr>
                      <a:r>
                        <a:rPr sz="1875" b="0">
                          <a:solidFill>
                            <a:srgbClr val="26282D"/>
                          </a:solidFill>
                          <a:latin typeface="Microsoft YaHei"/>
                          <a:ea typeface="Microsoft YaHei"/>
                          <a:cs typeface="Microsoft YaHei"/>
                        </a:rPr>
                        <a:t>推广盗版内容或违禁商品</a:t>
                      </a:r>
                    </a:p>
                  </a:txBody>
                  <a:tcPr marL="133350" marR="114300" marT="57150" marB="57150" anchor="ctr">
                    <a:solidFill>
                      <a:srgbClr val="F7EAEB"/>
                    </a:solidFill>
                  </a:tcPr>
                </a:tc>
                <a:extLst>
                  <a:ext uri="{0D108BD9-81ED-4DB2-BD59-A6C34878D82A}">
                    <a16:rowId xmlns:a16="http://schemas.microsoft.com/office/drawing/2014/main" val="10002"/>
                  </a:ext>
                </a:extLst>
              </a:tr>
              <a:tr h="662940">
                <a:tc>
                  <a:txBody>
                    <a:bodyPr/>
                    <a:lstStyle/>
                    <a:p>
                      <a:pPr algn="l">
                        <a:buNone/>
                      </a:pPr>
                      <a:r>
                        <a:rPr sz="1875" b="0">
                          <a:solidFill>
                            <a:srgbClr val="26282D"/>
                          </a:solidFill>
                          <a:latin typeface="Microsoft YaHei"/>
                          <a:ea typeface="Microsoft YaHei"/>
                          <a:cs typeface="Microsoft YaHei"/>
                        </a:rPr>
                        <a:t>恶意：误导性赠奖</a:t>
                      </a:r>
                    </a:p>
                  </a:txBody>
                  <a:tcPr marL="133350" marR="114300" marT="57150" marB="57150" anchor="ctr">
                    <a:solidFill>
                      <a:srgbClr val="FFFFFF"/>
                    </a:solidFill>
                  </a:tcPr>
                </a:tc>
                <a:tc>
                  <a:txBody>
                    <a:bodyPr/>
                    <a:lstStyle/>
                    <a:p>
                      <a:pPr algn="l">
                        <a:buNone/>
                      </a:pPr>
                      <a:r>
                        <a:rPr sz="1875" b="0">
                          <a:solidFill>
                            <a:srgbClr val="26282D"/>
                          </a:solidFill>
                          <a:latin typeface="Microsoft YaHei"/>
                          <a:ea typeface="Microsoft YaHei"/>
                          <a:cs typeface="Microsoft YaHei"/>
                        </a:rPr>
                        <a:t>以赠奖或关系承诺诱导索款</a:t>
                      </a:r>
                    </a:p>
                  </a:txBody>
                  <a:tcPr marL="133350" marR="114300" marT="57150" marB="57150" anchor="ctr">
                    <a:solidFill>
                      <a:srgbClr val="FFFFFF"/>
                    </a:solidFill>
                  </a:tcPr>
                </a:tc>
                <a:extLst>
                  <a:ext uri="{0D108BD9-81ED-4DB2-BD59-A6C34878D82A}">
                    <a16:rowId xmlns:a16="http://schemas.microsoft.com/office/drawing/2014/main" val="10003"/>
                  </a:ext>
                </a:extLst>
              </a:tr>
              <a:tr h="662940">
                <a:tc>
                  <a:txBody>
                    <a:bodyPr/>
                    <a:lstStyle/>
                    <a:p>
                      <a:pPr algn="l">
                        <a:buNone/>
                      </a:pPr>
                      <a:r>
                        <a:rPr sz="1875" b="0">
                          <a:solidFill>
                            <a:srgbClr val="26282D"/>
                          </a:solidFill>
                          <a:latin typeface="Microsoft YaHei"/>
                          <a:ea typeface="Microsoft YaHei"/>
                          <a:cs typeface="Microsoft YaHei"/>
                        </a:rPr>
                        <a:t>良性：服务推广</a:t>
                      </a:r>
                    </a:p>
                  </a:txBody>
                  <a:tcPr marL="133350" marR="114300" marT="57150" marB="57150" anchor="ctr">
                    <a:solidFill>
                      <a:srgbClr val="F7EAEB"/>
                    </a:solidFill>
                  </a:tcPr>
                </a:tc>
                <a:tc>
                  <a:txBody>
                    <a:bodyPr/>
                    <a:lstStyle/>
                    <a:p>
                      <a:pPr algn="l">
                        <a:buNone/>
                      </a:pPr>
                      <a:r>
                        <a:rPr sz="1875" b="0">
                          <a:solidFill>
                            <a:srgbClr val="26282D"/>
                          </a:solidFill>
                          <a:latin typeface="Microsoft YaHei"/>
                          <a:ea typeface="Microsoft YaHei"/>
                          <a:cs typeface="Microsoft YaHei"/>
                        </a:rPr>
                        <a:t>设计等服务，作为对照</a:t>
                      </a:r>
                    </a:p>
                  </a:txBody>
                  <a:tcPr marL="133350" marR="114300" marT="57150" marB="57150" anchor="ctr">
                    <a:solidFill>
                      <a:srgbClr val="F7EAEB"/>
                    </a:solidFill>
                  </a:tcPr>
                </a:tc>
                <a:extLst>
                  <a:ext uri="{0D108BD9-81ED-4DB2-BD59-A6C34878D82A}">
                    <a16:rowId xmlns:a16="http://schemas.microsoft.com/office/drawing/2014/main" val="10004"/>
                  </a:ext>
                </a:extLst>
              </a:tr>
            </a:tbl>
          </a:graphicData>
        </a:graphic>
      </p:graphicFrame>
      <p:sp>
        <p:nvSpPr>
          <p:cNvPr id="8" name="clarity-text-17">
            <a:extLst>
              <a:ext uri="{FF2B5EF4-FFF2-40B4-BE49-F238E27FC236}">
                <a16:creationId xmlns:a16="http://schemas.microsoft.com/office/drawing/2014/main" id="{B5D070CA-F408-469B-95F9-D1198E0D1B62}"/>
              </a:ext>
            </a:extLst>
          </p:cNvPr>
          <p:cNvSpPr>
            <a:spLocks noGrp="1"/>
          </p:cNvSpPr>
          <p:nvPr/>
        </p:nvSpPr>
        <p:spPr>
          <a:xfrm>
            <a:off x="4572000" y="5314950"/>
            <a:ext cx="6819900" cy="6667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lang="zh-CN" altLang="en-US" sz="1875" b="0" dirty="0">
                <a:solidFill>
                  <a:srgbClr val="26282D"/>
                </a:solidFill>
                <a:latin typeface="Microsoft YaHei"/>
                <a:ea typeface="Microsoft YaHei"/>
                <a:cs typeface="Microsoft YaHei"/>
              </a:rPr>
              <a:t>他们拥有</a:t>
            </a:r>
            <a:r>
              <a:rPr lang="zh-CN" altLang="en-US" sz="1875" dirty="0">
                <a:solidFill>
                  <a:srgbClr val="26282D"/>
                </a:solidFill>
                <a:latin typeface="Microsoft YaHei"/>
                <a:ea typeface="Microsoft YaHei"/>
                <a:cs typeface="Microsoft YaHei"/>
              </a:rPr>
              <a:t>相</a:t>
            </a:r>
            <a:r>
              <a:rPr sz="1875" b="0" dirty="0" err="1">
                <a:solidFill>
                  <a:srgbClr val="26282D"/>
                </a:solidFill>
                <a:latin typeface="Microsoft YaHei"/>
                <a:ea typeface="Microsoft YaHei"/>
                <a:cs typeface="Microsoft YaHei"/>
              </a:rPr>
              <a:t>同的触发机制，可以服务于不同活动目的</a:t>
            </a:r>
            <a:r>
              <a:rPr sz="1875" b="0" dirty="0">
                <a:solidFill>
                  <a:srgbClr val="26282D"/>
                </a:solidFill>
                <a:latin typeface="Microsoft YaHei"/>
                <a:ea typeface="Microsoft YaHei"/>
                <a:cs typeface="Microsoft YaHei"/>
              </a:rPr>
              <a:t>。</a:t>
            </a:r>
          </a:p>
          <a:p>
            <a:pPr algn="l">
              <a:buNone/>
              <a:defRPr sz="1875" b="0">
                <a:solidFill>
                  <a:srgbClr val="26282D"/>
                </a:solidFill>
                <a:latin typeface="Microsoft YaHei"/>
                <a:ea typeface="Microsoft YaHei"/>
                <a:cs typeface="Microsoft YaHei"/>
              </a:defRPr>
            </a:pPr>
            <a:endParaRPr sz="1875" b="0" dirty="0">
              <a:solidFill>
                <a:srgbClr val="26282D"/>
              </a:solidFill>
              <a:latin typeface="Microsoft YaHei"/>
              <a:ea typeface="Microsoft YaHei"/>
              <a:cs typeface="Microsoft YaHei"/>
            </a:endParaRPr>
          </a:p>
        </p:txBody>
      </p:sp>
      <p:pic>
        <p:nvPicPr>
          <p:cNvPr id="9"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0"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5/33</a:t>
            </a:r>
          </a:p>
        </p:txBody>
      </p:sp>
      <p:sp>
        <p:nvSpPr>
          <p:cNvPr id="11" name="矩形 10">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13" name="文本框 12">
            <a:extLst>
              <a:ext uri="{FF2B5EF4-FFF2-40B4-BE49-F238E27FC236}">
                <a16:creationId xmlns:a16="http://schemas.microsoft.com/office/drawing/2014/main" id="{7C9A01CD-5EC1-7C83-7E24-88BB1909B3B5}"/>
              </a:ext>
            </a:extLst>
          </p:cNvPr>
          <p:cNvSpPr txBox="1"/>
          <p:nvPr/>
        </p:nvSpPr>
        <p:spPr>
          <a:xfrm>
            <a:off x="3970630" y="1221784"/>
            <a:ext cx="6473952" cy="461665"/>
          </a:xfrm>
          <a:prstGeom prst="rect">
            <a:avLst/>
          </a:prstGeom>
          <a:noFill/>
        </p:spPr>
        <p:txBody>
          <a:bodyPr wrap="square">
            <a:spAutoFit/>
          </a:bodyPr>
          <a:lstStyle/>
          <a:p>
            <a:r>
              <a:rPr lang="zh-CN" altLang="en-US" sz="2400" b="1" dirty="0">
                <a:solidFill>
                  <a:srgbClr val="A52A36"/>
                </a:solidFill>
                <a:latin typeface="Microsoft YaHei"/>
                <a:ea typeface="Microsoft YaHei"/>
                <a:cs typeface="Microsoft YaHei"/>
              </a:rPr>
              <a:t>触发机器人的四类活动</a:t>
            </a:r>
            <a:endParaRPr lang="zh-CN" altLang="en-US" sz="1200" dirty="0"/>
          </a:p>
        </p:txBody>
      </p:sp>
    </p:spTree>
    <p:extLst>
      <p:ext uri="{BB962C8B-B14F-4D97-AF65-F5344CB8AC3E}">
        <p14:creationId xmlns:p14="http://schemas.microsoft.com/office/powerpoint/2010/main" val="131327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49">
            <a:extLst>
              <a:ext uri="{FF2B5EF4-FFF2-40B4-BE49-F238E27FC236}">
                <a16:creationId xmlns:a16="http://schemas.microsoft.com/office/drawing/2014/main" id="{FB52B4F1-41B2-4704-86C4-2F33931B6C8F}"/>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研究动机</a:t>
            </a:r>
            <a:endParaRPr sz="3300" b="1" dirty="0">
              <a:solidFill>
                <a:srgbClr val="A52A36"/>
              </a:solidFill>
              <a:latin typeface="Microsoft YaHei"/>
              <a:ea typeface="Microsoft YaHei"/>
            </a:endParaRPr>
          </a:p>
        </p:txBody>
      </p:sp>
      <p:sp>
        <p:nvSpPr>
          <p:cNvPr id="3" name="clarity-text-48">
            <a:extLst>
              <a:ext uri="{FF2B5EF4-FFF2-40B4-BE49-F238E27FC236}">
                <a16:creationId xmlns:a16="http://schemas.microsoft.com/office/drawing/2014/main" id="{131E422B-9FBA-4541-B88C-9C2CB5EC4941}"/>
              </a:ext>
            </a:extLst>
          </p:cNvPr>
          <p:cNvSpPr>
            <a:spLocks noGrp="1"/>
          </p:cNvSpPr>
          <p:nvPr/>
        </p:nvSpPr>
        <p:spPr>
          <a:xfrm>
            <a:off x="685800" y="981075"/>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endParaRPr sz="3300" b="1" dirty="0">
              <a:solidFill>
                <a:srgbClr val="A52A36"/>
              </a:solidFill>
              <a:latin typeface="Microsoft YaHei"/>
              <a:ea typeface="Microsoft YaHei"/>
              <a:cs typeface="Microsoft YaHei"/>
            </a:endParaRPr>
          </a:p>
        </p:txBody>
      </p:sp>
      <p:sp>
        <p:nvSpPr>
          <p:cNvPr id="4" name="clarity-text-49">
            <a:extLst>
              <a:ext uri="{FF2B5EF4-FFF2-40B4-BE49-F238E27FC236}">
                <a16:creationId xmlns:a16="http://schemas.microsoft.com/office/drawing/2014/main" id="{A4A8DEAC-5A7A-467C-A0EE-6681B74A4553}"/>
              </a:ext>
            </a:extLst>
          </p:cNvPr>
          <p:cNvSpPr>
            <a:spLocks noGrp="1"/>
          </p:cNvSpPr>
          <p:nvPr/>
        </p:nvSpPr>
        <p:spPr>
          <a:xfrm>
            <a:off x="685800" y="1685925"/>
            <a:ext cx="10820400" cy="333375"/>
          </a:xfrm>
          <a:prstGeom prst="rect">
            <a:avLst/>
          </a:prstGeom>
          <a:noFill/>
          <a:ln w="0">
            <a:noFill/>
          </a:ln>
        </p:spPr>
        <p:txBody>
          <a:bodyPr wrap="square" lIns="0" tIns="0" rIns="0" bIns="0" anchor="t">
            <a:noAutofit/>
          </a:bodyPr>
          <a:lstStyle>
            <a:defPPr algn="l">
              <a:defRPr sz="1875" b="1">
                <a:solidFill>
                  <a:srgbClr val="9F2934"/>
                </a:solidFill>
                <a:latin typeface="Microsoft YaHei"/>
                <a:ea typeface="Microsoft YaHei"/>
                <a:cs typeface="Microsoft YaHei"/>
              </a:defRPr>
            </a:defPPr>
          </a:lstStyle>
          <a:p>
            <a:pPr algn="l">
              <a:buNone/>
              <a:defRPr sz="1875" b="1">
                <a:solidFill>
                  <a:srgbClr val="9F2934"/>
                </a:solidFill>
                <a:latin typeface="Microsoft YaHei"/>
                <a:ea typeface="Microsoft YaHei"/>
                <a:cs typeface="Microsoft YaHei"/>
              </a:defRPr>
            </a:pPr>
            <a:r>
              <a:rPr sz="1875" b="1" dirty="0">
                <a:solidFill>
                  <a:srgbClr val="9F2934"/>
                </a:solidFill>
                <a:latin typeface="Microsoft YaHei"/>
                <a:ea typeface="Microsoft YaHei"/>
                <a:cs typeface="Microsoft YaHei"/>
              </a:rPr>
              <a:t>RQ （ Research Question），</a:t>
            </a:r>
            <a:r>
              <a:rPr sz="1875" b="1" dirty="0" err="1">
                <a:solidFill>
                  <a:srgbClr val="9F2934"/>
                </a:solidFill>
                <a:latin typeface="Microsoft YaHei"/>
                <a:ea typeface="Microsoft YaHei"/>
                <a:cs typeface="Microsoft YaHei"/>
              </a:rPr>
              <a:t>即论文希望通过数据回答的研究问题</a:t>
            </a:r>
            <a:endParaRPr sz="1875" b="1" dirty="0">
              <a:solidFill>
                <a:srgbClr val="9F2934"/>
              </a:solidFill>
              <a:latin typeface="Microsoft YaHei"/>
              <a:ea typeface="Microsoft YaHei"/>
              <a:cs typeface="Microsoft YaHei"/>
            </a:endParaRPr>
          </a:p>
        </p:txBody>
      </p:sp>
      <p:sp>
        <p:nvSpPr>
          <p:cNvPr id="5" name="content-group-50">
            <a:extLst>
              <a:ext uri="{FF2B5EF4-FFF2-40B4-BE49-F238E27FC236}">
                <a16:creationId xmlns:a16="http://schemas.microsoft.com/office/drawing/2014/main" id="{AE2453DF-55BC-4509-85CC-5B8CB1BA071C}"/>
              </a:ext>
            </a:extLst>
          </p:cNvPr>
          <p:cNvSpPr>
            <a:spLocks noGrp="1"/>
          </p:cNvSpPr>
          <p:nvPr/>
        </p:nvSpPr>
        <p:spPr>
          <a:xfrm>
            <a:off x="685800" y="2647950"/>
            <a:ext cx="5267325" cy="1295400"/>
          </a:xfrm>
          <a:prstGeom prst="rect">
            <a:avLst/>
          </a:prstGeom>
          <a:noFill/>
          <a:ln w="12859">
            <a:solidFill>
              <a:srgbClr val="9F2934"/>
            </a:solidFill>
            <a:prstDash val="solid"/>
          </a:ln>
        </p:spPr>
      </p:sp>
      <p:sp>
        <p:nvSpPr>
          <p:cNvPr id="6" name="clarity-text-51">
            <a:extLst>
              <a:ext uri="{FF2B5EF4-FFF2-40B4-BE49-F238E27FC236}">
                <a16:creationId xmlns:a16="http://schemas.microsoft.com/office/drawing/2014/main" id="{EDC794EF-5C2E-4B7D-A800-F473AC082494}"/>
              </a:ext>
            </a:extLst>
          </p:cNvPr>
          <p:cNvSpPr>
            <a:spLocks noGrp="1"/>
          </p:cNvSpPr>
          <p:nvPr/>
        </p:nvSpPr>
        <p:spPr>
          <a:xfrm>
            <a:off x="685800" y="2219325"/>
            <a:ext cx="5267325"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RQ1  如何发现触发机器人生态</a:t>
            </a:r>
          </a:p>
        </p:txBody>
      </p:sp>
      <p:sp>
        <p:nvSpPr>
          <p:cNvPr id="7" name="clarity-text-52">
            <a:extLst>
              <a:ext uri="{FF2B5EF4-FFF2-40B4-BE49-F238E27FC236}">
                <a16:creationId xmlns:a16="http://schemas.microsoft.com/office/drawing/2014/main" id="{A2C94ABC-8F63-4818-BB6C-E677A4A4BCA5}"/>
              </a:ext>
            </a:extLst>
          </p:cNvPr>
          <p:cNvSpPr>
            <a:spLocks noGrp="1"/>
          </p:cNvSpPr>
          <p:nvPr/>
        </p:nvSpPr>
        <p:spPr>
          <a:xfrm>
            <a:off x="876300" y="2819400"/>
            <a:ext cx="4886325" cy="10477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哪些可观察的</a:t>
            </a:r>
            <a:r>
              <a:rPr lang="zh-CN" altLang="en-US" sz="1875" b="0" dirty="0">
                <a:solidFill>
                  <a:srgbClr val="26282D"/>
                </a:solidFill>
                <a:latin typeface="Microsoft YaHei"/>
                <a:ea typeface="Microsoft YaHei"/>
                <a:cs typeface="Microsoft YaHei"/>
              </a:rPr>
              <a:t>账户行为</a:t>
            </a:r>
            <a:r>
              <a:rPr sz="1875" b="0" dirty="0" err="1">
                <a:solidFill>
                  <a:srgbClr val="26282D"/>
                </a:solidFill>
                <a:latin typeface="Microsoft YaHei"/>
                <a:ea typeface="Microsoft YaHei"/>
                <a:cs typeface="Microsoft YaHei"/>
              </a:rPr>
              <a:t>支持发现代理</a:t>
            </a:r>
            <a:r>
              <a:rPr sz="1875" b="0" dirty="0">
                <a:solidFill>
                  <a:srgbClr val="26282D"/>
                </a:solidFill>
                <a:latin typeface="Microsoft YaHei"/>
                <a:ea typeface="Microsoft YaHei"/>
                <a:cs typeface="Microsoft YaHei"/>
              </a:rPr>
              <a:t>？</a:t>
            </a:r>
          </a:p>
          <a:p>
            <a:pPr algn="l">
              <a:buNone/>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研究内容：关键词诱捕、回复与角色关联</a:t>
            </a:r>
            <a:r>
              <a:rPr sz="1875" b="0" dirty="0">
                <a:solidFill>
                  <a:srgbClr val="26282D"/>
                </a:solidFill>
                <a:latin typeface="Microsoft YaHei"/>
                <a:ea typeface="Microsoft YaHei"/>
                <a:cs typeface="Microsoft YaHei"/>
              </a:rPr>
              <a:t>。</a:t>
            </a:r>
          </a:p>
        </p:txBody>
      </p:sp>
      <p:sp>
        <p:nvSpPr>
          <p:cNvPr id="8" name="content-group-53">
            <a:extLst>
              <a:ext uri="{FF2B5EF4-FFF2-40B4-BE49-F238E27FC236}">
                <a16:creationId xmlns:a16="http://schemas.microsoft.com/office/drawing/2014/main" id="{0227F129-7072-4F86-9472-4F67813D3719}"/>
              </a:ext>
            </a:extLst>
          </p:cNvPr>
          <p:cNvSpPr>
            <a:spLocks noGrp="1"/>
          </p:cNvSpPr>
          <p:nvPr/>
        </p:nvSpPr>
        <p:spPr>
          <a:xfrm>
            <a:off x="6238875" y="2647950"/>
            <a:ext cx="5267325" cy="1295400"/>
          </a:xfrm>
          <a:prstGeom prst="rect">
            <a:avLst/>
          </a:prstGeom>
          <a:noFill/>
          <a:ln w="12859">
            <a:solidFill>
              <a:srgbClr val="2E746F"/>
            </a:solidFill>
            <a:prstDash val="solid"/>
          </a:ln>
        </p:spPr>
      </p:sp>
      <p:sp>
        <p:nvSpPr>
          <p:cNvPr id="9" name="clarity-text-54">
            <a:extLst>
              <a:ext uri="{FF2B5EF4-FFF2-40B4-BE49-F238E27FC236}">
                <a16:creationId xmlns:a16="http://schemas.microsoft.com/office/drawing/2014/main" id="{521311D9-FD00-4A33-BAA5-4548CF999309}"/>
              </a:ext>
            </a:extLst>
          </p:cNvPr>
          <p:cNvSpPr>
            <a:spLocks noGrp="1"/>
          </p:cNvSpPr>
          <p:nvPr/>
        </p:nvSpPr>
        <p:spPr>
          <a:xfrm>
            <a:off x="6238875" y="2219325"/>
            <a:ext cx="5267325" cy="409575"/>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buNone/>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RQ2  恶意与良性代理有何差异</a:t>
            </a:r>
          </a:p>
        </p:txBody>
      </p:sp>
      <p:sp>
        <p:nvSpPr>
          <p:cNvPr id="10" name="clarity-text-55">
            <a:extLst>
              <a:ext uri="{FF2B5EF4-FFF2-40B4-BE49-F238E27FC236}">
                <a16:creationId xmlns:a16="http://schemas.microsoft.com/office/drawing/2014/main" id="{ECCA9DDA-DDDA-41B1-A6C9-0A2FE5864761}"/>
              </a:ext>
            </a:extLst>
          </p:cNvPr>
          <p:cNvSpPr>
            <a:spLocks noGrp="1"/>
          </p:cNvSpPr>
          <p:nvPr/>
        </p:nvSpPr>
        <p:spPr>
          <a:xfrm>
            <a:off x="6429375" y="2819400"/>
            <a:ext cx="4886325" cy="10477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账户资料和回复行为有哪些可区分特征？</a:t>
            </a:r>
          </a:p>
          <a:p>
            <a:pPr algn="l">
              <a:buNone/>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研究内容：资料、文本、时间及关注网络。</a:t>
            </a:r>
          </a:p>
        </p:txBody>
      </p:sp>
      <p:sp>
        <p:nvSpPr>
          <p:cNvPr id="11" name="content-group-56">
            <a:extLst>
              <a:ext uri="{FF2B5EF4-FFF2-40B4-BE49-F238E27FC236}">
                <a16:creationId xmlns:a16="http://schemas.microsoft.com/office/drawing/2014/main" id="{B83C060F-E501-4243-8C82-42F9EB378790}"/>
              </a:ext>
            </a:extLst>
          </p:cNvPr>
          <p:cNvSpPr>
            <a:spLocks noGrp="1"/>
          </p:cNvSpPr>
          <p:nvPr/>
        </p:nvSpPr>
        <p:spPr>
          <a:xfrm>
            <a:off x="685800" y="4591050"/>
            <a:ext cx="5267325" cy="1352550"/>
          </a:xfrm>
          <a:prstGeom prst="rect">
            <a:avLst/>
          </a:prstGeom>
          <a:noFill/>
          <a:ln w="12859">
            <a:solidFill>
              <a:srgbClr val="2E746F"/>
            </a:solidFill>
            <a:prstDash val="solid"/>
          </a:ln>
        </p:spPr>
      </p:sp>
      <p:sp>
        <p:nvSpPr>
          <p:cNvPr id="12" name="clarity-text-57">
            <a:extLst>
              <a:ext uri="{FF2B5EF4-FFF2-40B4-BE49-F238E27FC236}">
                <a16:creationId xmlns:a16="http://schemas.microsoft.com/office/drawing/2014/main" id="{B5A9014C-1A9F-46D2-8C36-5AB6CD8B3B43}"/>
              </a:ext>
            </a:extLst>
          </p:cNvPr>
          <p:cNvSpPr>
            <a:spLocks noGrp="1"/>
          </p:cNvSpPr>
          <p:nvPr/>
        </p:nvSpPr>
        <p:spPr>
          <a:xfrm>
            <a:off x="685800" y="4162425"/>
            <a:ext cx="5267325" cy="409575"/>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buNone/>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RQ3  平台处置后账户如何变化</a:t>
            </a:r>
          </a:p>
        </p:txBody>
      </p:sp>
      <p:sp>
        <p:nvSpPr>
          <p:cNvPr id="13" name="clarity-text-58">
            <a:extLst>
              <a:ext uri="{FF2B5EF4-FFF2-40B4-BE49-F238E27FC236}">
                <a16:creationId xmlns:a16="http://schemas.microsoft.com/office/drawing/2014/main" id="{7FD58F0F-020F-4208-98DA-3E466A76A0AF}"/>
              </a:ext>
            </a:extLst>
          </p:cNvPr>
          <p:cNvSpPr>
            <a:spLocks noGrp="1"/>
          </p:cNvSpPr>
          <p:nvPr/>
        </p:nvSpPr>
        <p:spPr>
          <a:xfrm>
            <a:off x="876300" y="4762500"/>
            <a:ext cx="4886325" cy="11049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lang="zh-CN" altLang="en-US" sz="1875" b="0" dirty="0">
                <a:solidFill>
                  <a:srgbClr val="26282D"/>
                </a:solidFill>
                <a:latin typeface="Microsoft YaHei"/>
                <a:ea typeface="Microsoft YaHei"/>
                <a:cs typeface="Microsoft YaHei"/>
              </a:rPr>
              <a:t>恶意机器人账户的</a:t>
            </a:r>
            <a:r>
              <a:rPr sz="1875" b="0" dirty="0" err="1">
                <a:solidFill>
                  <a:srgbClr val="26282D"/>
                </a:solidFill>
                <a:latin typeface="Microsoft YaHei"/>
                <a:ea typeface="Microsoft YaHei"/>
                <a:cs typeface="Microsoft YaHei"/>
              </a:rPr>
              <a:t>封禁情况如何，账户后续活动呈现何种模式</a:t>
            </a:r>
            <a:r>
              <a:rPr sz="1875" b="0" dirty="0">
                <a:solidFill>
                  <a:srgbClr val="26282D"/>
                </a:solidFill>
                <a:latin typeface="Microsoft YaHei"/>
                <a:ea typeface="Microsoft YaHei"/>
                <a:cs typeface="Microsoft YaHei"/>
              </a:rPr>
              <a:t>？</a:t>
            </a:r>
          </a:p>
          <a:p>
            <a:pPr algn="l">
              <a:buNone/>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研究内容：封禁监测与最后回复时间回查</a:t>
            </a:r>
            <a:r>
              <a:rPr sz="1875" b="0" dirty="0">
                <a:solidFill>
                  <a:srgbClr val="26282D"/>
                </a:solidFill>
                <a:latin typeface="Microsoft YaHei"/>
                <a:ea typeface="Microsoft YaHei"/>
                <a:cs typeface="Microsoft YaHei"/>
              </a:rPr>
              <a:t>。</a:t>
            </a:r>
          </a:p>
        </p:txBody>
      </p:sp>
      <p:sp>
        <p:nvSpPr>
          <p:cNvPr id="14" name="content-group-59">
            <a:extLst>
              <a:ext uri="{FF2B5EF4-FFF2-40B4-BE49-F238E27FC236}">
                <a16:creationId xmlns:a16="http://schemas.microsoft.com/office/drawing/2014/main" id="{96DAEDE6-6AC1-4D07-8083-9251D6127D4A}"/>
              </a:ext>
            </a:extLst>
          </p:cNvPr>
          <p:cNvSpPr>
            <a:spLocks noGrp="1"/>
          </p:cNvSpPr>
          <p:nvPr/>
        </p:nvSpPr>
        <p:spPr>
          <a:xfrm>
            <a:off x="6238875" y="4591050"/>
            <a:ext cx="5267325" cy="1352550"/>
          </a:xfrm>
          <a:prstGeom prst="rect">
            <a:avLst/>
          </a:prstGeom>
          <a:noFill/>
          <a:ln w="12859">
            <a:solidFill>
              <a:srgbClr val="9F2934"/>
            </a:solidFill>
            <a:prstDash val="solid"/>
          </a:ln>
        </p:spPr>
      </p:sp>
      <p:sp>
        <p:nvSpPr>
          <p:cNvPr id="15" name="clarity-text-60">
            <a:extLst>
              <a:ext uri="{FF2B5EF4-FFF2-40B4-BE49-F238E27FC236}">
                <a16:creationId xmlns:a16="http://schemas.microsoft.com/office/drawing/2014/main" id="{91F19CCE-7D2C-4E54-A806-9862E14E8E35}"/>
              </a:ext>
            </a:extLst>
          </p:cNvPr>
          <p:cNvSpPr>
            <a:spLocks noGrp="1"/>
          </p:cNvSpPr>
          <p:nvPr/>
        </p:nvSpPr>
        <p:spPr>
          <a:xfrm>
            <a:off x="6238875" y="4162425"/>
            <a:ext cx="5267325"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RQ4  怎样检测并提出防护建议</a:t>
            </a:r>
          </a:p>
        </p:txBody>
      </p:sp>
      <p:sp>
        <p:nvSpPr>
          <p:cNvPr id="16" name="clarity-text-61">
            <a:extLst>
              <a:ext uri="{FF2B5EF4-FFF2-40B4-BE49-F238E27FC236}">
                <a16:creationId xmlns:a16="http://schemas.microsoft.com/office/drawing/2014/main" id="{7D36B2BA-07BE-495D-8B0F-F05DF30DE254}"/>
              </a:ext>
            </a:extLst>
          </p:cNvPr>
          <p:cNvSpPr>
            <a:spLocks noGrp="1"/>
          </p:cNvSpPr>
          <p:nvPr/>
        </p:nvSpPr>
        <p:spPr>
          <a:xfrm>
            <a:off x="6429375" y="4762500"/>
            <a:ext cx="4886325" cy="11049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哪些检测方法更有效，结果支持哪些建议？</a:t>
            </a:r>
          </a:p>
          <a:p>
            <a:pPr algn="l">
              <a:buNone/>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研究内容：模型比较、消融、迁移与适应。</a:t>
            </a:r>
          </a:p>
        </p:txBody>
      </p:sp>
      <p:pic>
        <p:nvPicPr>
          <p:cNvPr id="17"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8"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6/33</a:t>
            </a:r>
          </a:p>
        </p:txBody>
      </p:sp>
      <p:sp>
        <p:nvSpPr>
          <p:cNvPr id="19" name="矩形 18">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2034889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文本框 34"/>
          <p:cNvSpPr txBox="1"/>
          <p:nvPr/>
        </p:nvSpPr>
        <p:spPr>
          <a:xfrm>
            <a:off x="3177702" y="986167"/>
            <a:ext cx="5836596" cy="3062377"/>
          </a:xfrm>
          <a:prstGeom prst="rect">
            <a:avLst/>
          </a:prstGeom>
          <a:noFill/>
        </p:spPr>
        <p:txBody>
          <a:bodyPr wrap="square" lIns="0" tIns="0" rIns="0" bIns="0" rtlCol="0">
            <a:spAutoFit/>
          </a:bodyPr>
          <a:lstStyle/>
          <a:p>
            <a:pPr lvl="0" algn="ctr">
              <a:buClrTx/>
              <a:buSzTx/>
              <a:buFontTx/>
            </a:pPr>
            <a:r>
              <a:rPr lang="en-US" altLang="zh-CN" sz="19900" b="1" dirty="0">
                <a:solidFill>
                  <a:srgbClr val="EFE3E5"/>
                </a:solidFill>
                <a:latin typeface="Arial" panose="020B0604020202020204"/>
                <a:ea typeface="微软雅黑" panose="020B0503020204020204" pitchFamily="34" charset="-122"/>
                <a:cs typeface="思源宋体 CN Heavy" panose="02020900000000000000" charset="-122"/>
                <a:sym typeface="Arial" panose="020B0604020202020204"/>
              </a:rPr>
              <a:t>02</a:t>
            </a:r>
          </a:p>
        </p:txBody>
      </p:sp>
      <p:sp>
        <p:nvSpPr>
          <p:cNvPr id="3" name="文本框 35"/>
          <p:cNvSpPr txBox="1"/>
          <p:nvPr/>
        </p:nvSpPr>
        <p:spPr>
          <a:xfrm>
            <a:off x="2135504" y="2179870"/>
            <a:ext cx="8456905" cy="1107996"/>
          </a:xfrm>
          <a:prstGeom prst="rect">
            <a:avLst/>
          </a:prstGeom>
          <a:noFill/>
        </p:spPr>
        <p:txBody>
          <a:bodyPr wrap="square" lIns="0" tIns="0" rIns="0" bIns="0" rtlCol="0">
            <a:spAutoFit/>
          </a:bodyPr>
          <a:lstStyle/>
          <a:p>
            <a:pPr lvl="0" algn="ctr">
              <a:buClrTx/>
              <a:buSzTx/>
              <a:buFontTx/>
            </a:pPr>
            <a:r>
              <a:rPr lang="zh-CN" altLang="en-US" sz="7200" b="1" dirty="0">
                <a:solidFill>
                  <a:srgbClr val="A52A36"/>
                </a:solidFill>
                <a:latin typeface="汉仪大宋简" pitchFamily="49" charset="-122"/>
                <a:ea typeface="汉仪大宋简" pitchFamily="49" charset="-122"/>
                <a:cs typeface="思源宋体 CN Heavy" panose="02020900000000000000" charset="-122"/>
                <a:sym typeface="Arial" panose="020B0604020202020204"/>
              </a:rPr>
              <a:t>研究方法与路线</a:t>
            </a:r>
            <a:endParaRPr lang="zh-CN" altLang="en-US" sz="7200" b="1" dirty="0">
              <a:solidFill>
                <a:srgbClr val="A52A36"/>
              </a:solidFill>
              <a:effectLst/>
              <a:latin typeface="汉仪大宋简" pitchFamily="49" charset="-122"/>
              <a:ea typeface="汉仪大宋简" pitchFamily="49" charset="-122"/>
              <a:cs typeface="思源宋体 CN Heavy" panose="02020900000000000000" charset="-122"/>
              <a:sym typeface="Arial" panose="020B0604020202020204"/>
            </a:endParaRPr>
          </a:p>
        </p:txBody>
      </p:sp>
      <p:sp>
        <p:nvSpPr>
          <p:cNvPr id="4" name="文本框 36"/>
          <p:cNvSpPr txBox="1"/>
          <p:nvPr/>
        </p:nvSpPr>
        <p:spPr>
          <a:xfrm>
            <a:off x="2286000" y="3685368"/>
            <a:ext cx="7620000" cy="276860"/>
          </a:xfrm>
          <a:prstGeom prst="rect">
            <a:avLst/>
          </a:prstGeom>
          <a:noFill/>
        </p:spPr>
        <p:txBody>
          <a:bodyPr wrap="square" lIns="0" tIns="0" rIns="0" bIns="0" rtlCol="0" anchor="t">
            <a:spAutoFit/>
          </a:bodyPr>
          <a:lstStyle/>
          <a:p>
            <a:pPr lvl="0" algn="ctr">
              <a:buClrTx/>
              <a:buSzTx/>
              <a:buFontTx/>
            </a:pPr>
            <a:r>
              <a:rPr lang="en-US" altLang="zh-CN" dirty="0">
                <a:ln w="3175">
                  <a:noFill/>
                </a:ln>
                <a:solidFill>
                  <a:srgbClr val="333333">
                    <a:lumMod val="65000"/>
                    <a:lumOff val="35000"/>
                  </a:srgbClr>
                </a:solidFill>
                <a:latin typeface="Times New Roman" panose="02020603050405020304" pitchFamily="18" charset="0"/>
                <a:ea typeface="微软雅黑" panose="020B0503020204020204" pitchFamily="34" charset="-122"/>
                <a:cs typeface="思源宋体 CN Heavy" panose="02020900000000000000" charset="-122"/>
                <a:sym typeface="Arial" panose="020B0604020202020204"/>
              </a:rPr>
              <a:t>Methodology and Ecosystem Analysis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7/33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 name="图片 4">
            <a:extLst>
              <a:ext uri="{FF2B5EF4-FFF2-40B4-BE49-F238E27FC236}">
                <a16:creationId xmlns:a16="http://schemas.microsoft.com/office/drawing/2014/main" id="{11F10DF7-F111-48B9-BFB9-211105054FFB}"/>
              </a:ext>
            </a:extLst>
          </p:cNvPr>
          <p:cNvPicPr>
            <a:picLocks noChangeAspect="1"/>
          </p:cNvPicPr>
          <p:nvPr/>
        </p:nvPicPr>
        <p:blipFill>
          <a:blip r:embed="rId3"/>
          <a:stretch/>
        </p:blipFill>
        <p:spPr>
          <a:xfrm>
            <a:off x="467607" y="1819275"/>
            <a:ext cx="6762499" cy="3724275"/>
          </a:xfrm>
          <a:prstGeom prst="rect">
            <a:avLst/>
          </a:prstGeom>
        </p:spPr>
      </p:pic>
      <p:sp>
        <p:nvSpPr>
          <p:cNvPr id="3" name="clarity-text-20">
            <a:extLst>
              <a:ext uri="{FF2B5EF4-FFF2-40B4-BE49-F238E27FC236}">
                <a16:creationId xmlns:a16="http://schemas.microsoft.com/office/drawing/2014/main" id="{19A133AC-A0A2-473C-80C6-F2D4BE6C9C74}"/>
              </a:ext>
            </a:extLst>
          </p:cNvPr>
          <p:cNvSpPr>
            <a:spLocks noGrp="1"/>
          </p:cNvSpPr>
          <p:nvPr/>
        </p:nvSpPr>
        <p:spPr>
          <a:xfrm>
            <a:off x="685800" y="1394175"/>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en-US" altLang="zh-CN" sz="2400" b="1" dirty="0">
                <a:solidFill>
                  <a:srgbClr val="A52A36"/>
                </a:solidFill>
                <a:latin typeface="Microsoft YaHei"/>
                <a:ea typeface="Microsoft YaHei"/>
                <a:cs typeface="Microsoft YaHei"/>
              </a:rPr>
              <a:t>X</a:t>
            </a:r>
            <a:r>
              <a:rPr lang="zh-CN" altLang="en-US" sz="2400" b="1" dirty="0">
                <a:solidFill>
                  <a:srgbClr val="A52A36"/>
                </a:solidFill>
                <a:latin typeface="Microsoft YaHei"/>
                <a:ea typeface="Microsoft YaHei"/>
                <a:cs typeface="Microsoft YaHei"/>
              </a:rPr>
              <a:t>平台上与触发机器人（</a:t>
            </a:r>
            <a:r>
              <a:rPr lang="en-US" altLang="zh-CN" sz="2400" b="1" dirty="0">
                <a:solidFill>
                  <a:srgbClr val="A52A36"/>
                </a:solidFill>
                <a:latin typeface="Microsoft YaHei"/>
                <a:ea typeface="Microsoft YaHei"/>
                <a:cs typeface="Microsoft YaHei"/>
              </a:rPr>
              <a:t>TB</a:t>
            </a:r>
            <a:r>
              <a:rPr lang="zh-CN" altLang="en-US" sz="2400" b="1" dirty="0">
                <a:solidFill>
                  <a:srgbClr val="A52A36"/>
                </a:solidFill>
                <a:latin typeface="Microsoft YaHei"/>
                <a:ea typeface="Microsoft YaHei"/>
                <a:cs typeface="Microsoft YaHei"/>
              </a:rPr>
              <a:t>）有关的交互过程图</a:t>
            </a:r>
          </a:p>
        </p:txBody>
      </p:sp>
      <p:sp>
        <p:nvSpPr>
          <p:cNvPr id="4" name="content-group-21">
            <a:extLst>
              <a:ext uri="{FF2B5EF4-FFF2-40B4-BE49-F238E27FC236}">
                <a16:creationId xmlns:a16="http://schemas.microsoft.com/office/drawing/2014/main" id="{A6610D5E-E78E-4D4D-AA23-597DA1D1A446}"/>
              </a:ext>
            </a:extLst>
          </p:cNvPr>
          <p:cNvSpPr>
            <a:spLocks noGrp="1"/>
          </p:cNvSpPr>
          <p:nvPr/>
        </p:nvSpPr>
        <p:spPr>
          <a:xfrm>
            <a:off x="7572375" y="2247900"/>
            <a:ext cx="3933825" cy="1638300"/>
          </a:xfrm>
          <a:prstGeom prst="rect">
            <a:avLst/>
          </a:prstGeom>
          <a:noFill/>
          <a:ln w="12859">
            <a:solidFill>
              <a:srgbClr val="9F2934"/>
            </a:solidFill>
            <a:prstDash val="solid"/>
          </a:ln>
        </p:spPr>
      </p:sp>
      <p:sp>
        <p:nvSpPr>
          <p:cNvPr id="5" name="clarity-text-22">
            <a:extLst>
              <a:ext uri="{FF2B5EF4-FFF2-40B4-BE49-F238E27FC236}">
                <a16:creationId xmlns:a16="http://schemas.microsoft.com/office/drawing/2014/main" id="{6524E8BD-F844-4D89-ACB4-0B134DC931F3}"/>
              </a:ext>
            </a:extLst>
          </p:cNvPr>
          <p:cNvSpPr>
            <a:spLocks noGrp="1"/>
          </p:cNvSpPr>
          <p:nvPr/>
        </p:nvSpPr>
        <p:spPr>
          <a:xfrm>
            <a:off x="7572375" y="1819275"/>
            <a:ext cx="3933825"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公开可观察的互动</a:t>
            </a:r>
          </a:p>
        </p:txBody>
      </p:sp>
      <p:sp>
        <p:nvSpPr>
          <p:cNvPr id="6" name="clarity-text-23">
            <a:extLst>
              <a:ext uri="{FF2B5EF4-FFF2-40B4-BE49-F238E27FC236}">
                <a16:creationId xmlns:a16="http://schemas.microsoft.com/office/drawing/2014/main" id="{00D38D33-A4D7-4E22-9250-E603E5AD7EFC}"/>
              </a:ext>
            </a:extLst>
          </p:cNvPr>
          <p:cNvSpPr>
            <a:spLocks noGrp="1"/>
          </p:cNvSpPr>
          <p:nvPr/>
        </p:nvSpPr>
        <p:spPr>
          <a:xfrm>
            <a:off x="7762875" y="2419350"/>
            <a:ext cx="3552825" cy="139065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1" dirty="0" err="1">
                <a:solidFill>
                  <a:srgbClr val="26282D"/>
                </a:solidFill>
                <a:latin typeface="Microsoft YaHei"/>
                <a:ea typeface="Microsoft YaHei"/>
                <a:cs typeface="Microsoft YaHei"/>
              </a:rPr>
              <a:t>HoneyTrap</a:t>
            </a:r>
            <a:r>
              <a:rPr sz="1725" b="0" dirty="0" err="1">
                <a:solidFill>
                  <a:srgbClr val="26282D"/>
                </a:solidFill>
                <a:latin typeface="Microsoft YaHei"/>
                <a:ea typeface="Microsoft YaHei"/>
                <a:cs typeface="Microsoft YaHei"/>
              </a:rPr>
              <a:t>：研究者的诱捕账户</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1" dirty="0" err="1">
                <a:solidFill>
                  <a:srgbClr val="26282D"/>
                </a:solidFill>
                <a:latin typeface="Microsoft YaHei"/>
                <a:ea typeface="Microsoft YaHei"/>
                <a:cs typeface="Microsoft YaHei"/>
              </a:rPr>
              <a:t>Victims</a:t>
            </a:r>
            <a:r>
              <a:rPr sz="1725" b="0" dirty="0" err="1">
                <a:solidFill>
                  <a:srgbClr val="26282D"/>
                </a:solidFill>
                <a:latin typeface="Microsoft YaHei"/>
                <a:ea typeface="Microsoft YaHei"/>
                <a:cs typeface="Microsoft YaHei"/>
              </a:rPr>
              <a:t>：收到回复的潜在用户</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1" dirty="0" err="1">
                <a:solidFill>
                  <a:srgbClr val="26282D"/>
                </a:solidFill>
                <a:latin typeface="Microsoft YaHei"/>
                <a:ea typeface="Microsoft YaHei"/>
                <a:cs typeface="Microsoft YaHei"/>
              </a:rPr>
              <a:t>Agents</a:t>
            </a:r>
            <a:r>
              <a:rPr sz="1725" b="0" dirty="0" err="1">
                <a:solidFill>
                  <a:srgbClr val="26282D"/>
                </a:solidFill>
                <a:latin typeface="Microsoft YaHei"/>
                <a:ea typeface="Microsoft YaHei"/>
                <a:cs typeface="Microsoft YaHei"/>
              </a:rPr>
              <a:t>：执行触发回复的代理</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1" dirty="0" err="1">
                <a:solidFill>
                  <a:srgbClr val="26282D"/>
                </a:solidFill>
                <a:latin typeface="Microsoft YaHei"/>
                <a:ea typeface="Microsoft YaHei"/>
                <a:cs typeface="Microsoft YaHei"/>
              </a:rPr>
              <a:t>Followers</a:t>
            </a:r>
            <a:r>
              <a:rPr sz="1725" b="0" dirty="0" err="1">
                <a:solidFill>
                  <a:srgbClr val="26282D"/>
                </a:solidFill>
                <a:latin typeface="Microsoft YaHei"/>
                <a:ea typeface="Microsoft YaHei"/>
                <a:cs typeface="Microsoft YaHei"/>
              </a:rPr>
              <a:t>：关注代理的账户</a:t>
            </a:r>
            <a:endParaRPr sz="1725" b="0" dirty="0">
              <a:solidFill>
                <a:srgbClr val="26282D"/>
              </a:solidFill>
              <a:latin typeface="Microsoft YaHei"/>
              <a:ea typeface="Microsoft YaHei"/>
              <a:cs typeface="Microsoft YaHei"/>
            </a:endParaRPr>
          </a:p>
        </p:txBody>
      </p:sp>
      <p:sp>
        <p:nvSpPr>
          <p:cNvPr id="7" name="content-group-24">
            <a:extLst>
              <a:ext uri="{FF2B5EF4-FFF2-40B4-BE49-F238E27FC236}">
                <a16:creationId xmlns:a16="http://schemas.microsoft.com/office/drawing/2014/main" id="{35788AE1-52CA-4526-80FA-85A46B763676}"/>
              </a:ext>
            </a:extLst>
          </p:cNvPr>
          <p:cNvSpPr>
            <a:spLocks noGrp="1"/>
          </p:cNvSpPr>
          <p:nvPr/>
        </p:nvSpPr>
        <p:spPr>
          <a:xfrm>
            <a:off x="7572375" y="4505325"/>
            <a:ext cx="3933825" cy="934183"/>
          </a:xfrm>
          <a:prstGeom prst="rect">
            <a:avLst/>
          </a:prstGeom>
          <a:noFill/>
          <a:ln w="12859">
            <a:solidFill>
              <a:srgbClr val="2E746F"/>
            </a:solidFill>
            <a:prstDash val="solid"/>
          </a:ln>
        </p:spPr>
      </p:sp>
      <p:sp>
        <p:nvSpPr>
          <p:cNvPr id="8" name="clarity-text-25">
            <a:extLst>
              <a:ext uri="{FF2B5EF4-FFF2-40B4-BE49-F238E27FC236}">
                <a16:creationId xmlns:a16="http://schemas.microsoft.com/office/drawing/2014/main" id="{3469CD3F-1FC3-4DE3-889B-C39232204928}"/>
              </a:ext>
            </a:extLst>
          </p:cNvPr>
          <p:cNvSpPr>
            <a:spLocks noGrp="1"/>
          </p:cNvSpPr>
          <p:nvPr/>
        </p:nvSpPr>
        <p:spPr>
          <a:xfrm>
            <a:off x="7572375" y="4076700"/>
            <a:ext cx="3933825" cy="409575"/>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buNone/>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生态模型中的关联角色</a:t>
            </a:r>
          </a:p>
        </p:txBody>
      </p:sp>
      <p:sp>
        <p:nvSpPr>
          <p:cNvPr id="9" name="clarity-text-26">
            <a:extLst>
              <a:ext uri="{FF2B5EF4-FFF2-40B4-BE49-F238E27FC236}">
                <a16:creationId xmlns:a16="http://schemas.microsoft.com/office/drawing/2014/main" id="{4342507D-1474-428F-8C43-0CB82233CBD3}"/>
              </a:ext>
            </a:extLst>
          </p:cNvPr>
          <p:cNvSpPr>
            <a:spLocks noGrp="1"/>
          </p:cNvSpPr>
          <p:nvPr/>
        </p:nvSpPr>
        <p:spPr>
          <a:xfrm>
            <a:off x="7762875" y="4676775"/>
            <a:ext cx="3552825" cy="124777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1" dirty="0" err="1">
                <a:solidFill>
                  <a:srgbClr val="26282D"/>
                </a:solidFill>
                <a:latin typeface="Microsoft YaHei"/>
                <a:ea typeface="Microsoft YaHei"/>
                <a:cs typeface="Microsoft YaHei"/>
              </a:rPr>
              <a:t>Masters</a:t>
            </a:r>
            <a:r>
              <a:rPr sz="1725" b="0" dirty="0" err="1">
                <a:solidFill>
                  <a:srgbClr val="26282D"/>
                </a:solidFill>
                <a:latin typeface="Microsoft YaHei"/>
                <a:ea typeface="Microsoft YaHei"/>
                <a:cs typeface="Microsoft YaHei"/>
              </a:rPr>
              <a:t>：引流接收方</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1" dirty="0">
                <a:solidFill>
                  <a:srgbClr val="26282D"/>
                </a:solidFill>
                <a:latin typeface="Microsoft YaHei"/>
                <a:ea typeface="Microsoft YaHei"/>
                <a:cs typeface="Microsoft YaHei"/>
              </a:rPr>
              <a:t>Farms</a:t>
            </a:r>
            <a:r>
              <a:rPr sz="1725" b="0" dirty="0">
                <a:solidFill>
                  <a:srgbClr val="26282D"/>
                </a:solidFill>
                <a:latin typeface="Microsoft YaHei"/>
                <a:ea typeface="Microsoft YaHei"/>
                <a:cs typeface="Microsoft YaHei"/>
              </a:rPr>
              <a:t>：</a:t>
            </a:r>
            <a:r>
              <a:rPr lang="zh-CN" altLang="en-US" sz="1725" b="0" dirty="0">
                <a:solidFill>
                  <a:srgbClr val="26282D"/>
                </a:solidFill>
                <a:latin typeface="Microsoft YaHei"/>
                <a:ea typeface="Microsoft YaHei"/>
                <a:cs typeface="Microsoft YaHei"/>
              </a:rPr>
              <a:t>代理</a:t>
            </a:r>
            <a:r>
              <a:rPr sz="1725" b="0" dirty="0" err="1">
                <a:solidFill>
                  <a:srgbClr val="26282D"/>
                </a:solidFill>
                <a:latin typeface="Microsoft YaHei"/>
                <a:ea typeface="Microsoft YaHei"/>
                <a:cs typeface="Microsoft YaHei"/>
              </a:rPr>
              <a:t>账号</a:t>
            </a:r>
            <a:r>
              <a:rPr lang="zh-CN" altLang="en-US" sz="1725" b="0" dirty="0">
                <a:solidFill>
                  <a:srgbClr val="26282D"/>
                </a:solidFill>
                <a:latin typeface="Microsoft YaHei"/>
                <a:ea typeface="Microsoft YaHei"/>
                <a:cs typeface="Microsoft YaHei"/>
              </a:rPr>
              <a:t>的</a:t>
            </a:r>
            <a:r>
              <a:rPr sz="1725" b="0" dirty="0" err="1">
                <a:solidFill>
                  <a:srgbClr val="26282D"/>
                </a:solidFill>
                <a:latin typeface="Microsoft YaHei"/>
                <a:ea typeface="Microsoft YaHei"/>
                <a:cs typeface="Microsoft YaHei"/>
              </a:rPr>
              <a:t>服务方</a:t>
            </a:r>
            <a:endParaRPr sz="1725" b="0" dirty="0">
              <a:solidFill>
                <a:srgbClr val="26282D"/>
              </a:solidFill>
              <a:latin typeface="Microsoft YaHei"/>
              <a:ea typeface="Microsoft YaHei"/>
              <a:cs typeface="Microsoft YaHei"/>
            </a:endParaRPr>
          </a:p>
        </p:txBody>
      </p:sp>
      <p:pic>
        <p:nvPicPr>
          <p:cNvPr id="10"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1"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8/33</a:t>
            </a:r>
          </a:p>
        </p:txBody>
      </p:sp>
      <p:sp>
        <p:nvSpPr>
          <p:cNvPr id="12" name="文本框 15">
            <a:extLst>
              <a:ext uri="{FF2B5EF4-FFF2-40B4-BE49-F238E27FC236}">
                <a16:creationId xmlns:a16="http://schemas.microsoft.com/office/drawing/2014/main" id="{5C7F6EBF-4A71-6F8B-5F7B-29F032040858}"/>
              </a:ext>
            </a:extLst>
          </p:cNvPr>
          <p:cNvSpPr txBox="1"/>
          <p:nvPr/>
        </p:nvSpPr>
        <p:spPr>
          <a:xfrm>
            <a:off x="1030970" y="5876925"/>
            <a:ext cx="6094990" cy="369332"/>
          </a:xfrm>
          <a:prstGeom prst="rect">
            <a:avLst/>
          </a:prstGeom>
          <a:noFill/>
        </p:spPr>
        <p:txBody>
          <a:bodyPr wrap="square">
            <a:spAutoFit/>
          </a:bodyPr>
          <a:lstStyle/>
          <a:p>
            <a:r>
              <a:rPr lang="zh-CN" altLang="zh-CN" dirty="0"/>
              <a:t>Fig. 2: TB ecosystem and components of TB operations</a:t>
            </a:r>
            <a:endParaRPr lang="zh-CN" altLang="en-US" dirty="0"/>
          </a:p>
        </p:txBody>
      </p:sp>
      <p:sp>
        <p:nvSpPr>
          <p:cNvPr id="13" name="文本框 13">
            <a:extLst>
              <a:ext uri="{FF2B5EF4-FFF2-40B4-BE49-F238E27FC236}">
                <a16:creationId xmlns:a16="http://schemas.microsoft.com/office/drawing/2014/main" id="{55A14BC0-F0B6-8F58-61F5-BA1A1EC544B5}"/>
              </a:ext>
            </a:extLst>
          </p:cNvPr>
          <p:cNvSpPr txBox="1"/>
          <p:nvPr/>
        </p:nvSpPr>
        <p:spPr>
          <a:xfrm>
            <a:off x="554127" y="171450"/>
            <a:ext cx="6097218" cy="600164"/>
          </a:xfrm>
          <a:prstGeom prst="rect">
            <a:avLst/>
          </a:prstGeom>
          <a:noFill/>
        </p:spPr>
        <p:txBody>
          <a:bodyPr wrap="square">
            <a:spAutoFit/>
          </a:bodyPr>
          <a:lstStyle/>
          <a:p>
            <a:pPr algn="l">
              <a:buNone/>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方法原理</a:t>
            </a:r>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29960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62">
            <a:extLst>
              <a:ext uri="{FF2B5EF4-FFF2-40B4-BE49-F238E27FC236}">
                <a16:creationId xmlns:a16="http://schemas.microsoft.com/office/drawing/2014/main" id="{942B1EB0-6911-467D-8067-BB8D735564C0}"/>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方法原理</a:t>
            </a:r>
            <a:endParaRPr sz="3300" b="1" dirty="0">
              <a:solidFill>
                <a:srgbClr val="A52A36"/>
              </a:solidFill>
              <a:latin typeface="Microsoft YaHei"/>
              <a:ea typeface="Microsoft YaHei"/>
            </a:endParaRPr>
          </a:p>
        </p:txBody>
      </p:sp>
      <p:sp>
        <p:nvSpPr>
          <p:cNvPr id="3" name="evidence-text-18">
            <a:extLst>
              <a:ext uri="{FF2B5EF4-FFF2-40B4-BE49-F238E27FC236}">
                <a16:creationId xmlns:a16="http://schemas.microsoft.com/office/drawing/2014/main" id="{8F99E9A2-B582-4B27-8F9B-1FACEF3A8C99}"/>
              </a:ext>
            </a:extLst>
          </p:cNvPr>
          <p:cNvSpPr>
            <a:spLocks noGrp="1"/>
          </p:cNvSpPr>
          <p:nvPr/>
        </p:nvSpPr>
        <p:spPr>
          <a:xfrm>
            <a:off x="704850" y="1338263"/>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err="1">
                <a:solidFill>
                  <a:srgbClr val="A52A36"/>
                </a:solidFill>
                <a:latin typeface="Microsoft YaHei"/>
                <a:ea typeface="Microsoft YaHei"/>
                <a:cs typeface="Microsoft YaHei"/>
              </a:rPr>
              <a:t>TBTrackerX</a:t>
            </a:r>
            <a:r>
              <a:rPr sz="2400" b="1" dirty="0">
                <a:solidFill>
                  <a:srgbClr val="A52A36"/>
                </a:solidFill>
                <a:latin typeface="Microsoft YaHei"/>
                <a:ea typeface="Microsoft YaHei"/>
                <a:cs typeface="Microsoft YaHei"/>
              </a:rPr>
              <a:t> </a:t>
            </a:r>
            <a:r>
              <a:rPr sz="2400" b="1" dirty="0" err="1">
                <a:solidFill>
                  <a:srgbClr val="A52A36"/>
                </a:solidFill>
                <a:latin typeface="Microsoft YaHei"/>
                <a:ea typeface="Microsoft YaHei"/>
                <a:cs typeface="Microsoft YaHei"/>
              </a:rPr>
              <a:t>的数据与分析流程</a:t>
            </a:r>
            <a:endParaRPr sz="2400" b="1" dirty="0">
              <a:solidFill>
                <a:srgbClr val="A52A36"/>
              </a:solidFill>
              <a:latin typeface="Microsoft YaHei"/>
              <a:ea typeface="Microsoft YaHei"/>
              <a:cs typeface="Microsoft YaHei"/>
            </a:endParaRPr>
          </a:p>
        </p:txBody>
      </p:sp>
      <p:sp>
        <p:nvSpPr>
          <p:cNvPr id="4" name="evidence-box-19">
            <a:extLst>
              <a:ext uri="{FF2B5EF4-FFF2-40B4-BE49-F238E27FC236}">
                <a16:creationId xmlns:a16="http://schemas.microsoft.com/office/drawing/2014/main" id="{A4C6C68A-3153-4436-9620-7C545C6FD849}"/>
              </a:ext>
            </a:extLst>
          </p:cNvPr>
          <p:cNvSpPr>
            <a:spLocks noGrp="1"/>
          </p:cNvSpPr>
          <p:nvPr/>
        </p:nvSpPr>
        <p:spPr>
          <a:xfrm>
            <a:off x="685800" y="1905000"/>
            <a:ext cx="2390775" cy="1447800"/>
          </a:xfrm>
          <a:prstGeom prst="rect">
            <a:avLst/>
          </a:prstGeom>
          <a:solidFill>
            <a:srgbClr val="F7EAEB"/>
          </a:solidFill>
          <a:ln w="12383">
            <a:solidFill>
              <a:srgbClr val="9F2934"/>
            </a:solidFill>
            <a:prstDash val="solid"/>
          </a:ln>
        </p:spPr>
      </p:sp>
      <p:sp>
        <p:nvSpPr>
          <p:cNvPr id="5" name="evidence-text-20">
            <a:extLst>
              <a:ext uri="{FF2B5EF4-FFF2-40B4-BE49-F238E27FC236}">
                <a16:creationId xmlns:a16="http://schemas.microsoft.com/office/drawing/2014/main" id="{17C5DFFA-18A3-4CC9-B923-40CA6DACF698}"/>
              </a:ext>
            </a:extLst>
          </p:cNvPr>
          <p:cNvSpPr>
            <a:spLocks noGrp="1"/>
          </p:cNvSpPr>
          <p:nvPr/>
        </p:nvSpPr>
        <p:spPr>
          <a:xfrm>
            <a:off x="828675" y="2085975"/>
            <a:ext cx="2133600" cy="361950"/>
          </a:xfrm>
          <a:prstGeom prst="rect">
            <a:avLst/>
          </a:prstGeom>
          <a:noFill/>
          <a:ln w="0">
            <a:noFill/>
          </a:ln>
        </p:spPr>
        <p:txBody>
          <a:bodyPr wrap="square" lIns="0" tIns="0" rIns="0" bIns="0" anchor="t">
            <a:noAutofit/>
          </a:bodyPr>
          <a:lstStyle>
            <a:defPPr algn="l">
              <a:defRPr sz="1950" b="1">
                <a:solidFill>
                  <a:srgbClr val="9F2934"/>
                </a:solidFill>
                <a:latin typeface="Microsoft YaHei"/>
                <a:ea typeface="Microsoft YaHei"/>
                <a:cs typeface="Microsoft YaHei"/>
              </a:defRPr>
            </a:defPPr>
          </a:lstStyle>
          <a:p>
            <a:pPr algn="l">
              <a:buNone/>
              <a:defRPr sz="1950" b="1">
                <a:solidFill>
                  <a:srgbClr val="9F2934"/>
                </a:solidFill>
                <a:latin typeface="Microsoft YaHei"/>
                <a:ea typeface="Microsoft YaHei"/>
                <a:cs typeface="Microsoft YaHei"/>
              </a:defRPr>
            </a:pPr>
            <a:r>
              <a:rPr sz="1950" b="1">
                <a:solidFill>
                  <a:srgbClr val="9F2934"/>
                </a:solidFill>
                <a:latin typeface="Microsoft YaHei"/>
                <a:ea typeface="Microsoft YaHei"/>
                <a:cs typeface="Microsoft YaHei"/>
              </a:rPr>
              <a:t>01  关键词筛选</a:t>
            </a:r>
          </a:p>
        </p:txBody>
      </p:sp>
      <p:sp>
        <p:nvSpPr>
          <p:cNvPr id="6" name="evidence-text-21">
            <a:extLst>
              <a:ext uri="{FF2B5EF4-FFF2-40B4-BE49-F238E27FC236}">
                <a16:creationId xmlns:a16="http://schemas.microsoft.com/office/drawing/2014/main" id="{8CDC29FE-FBA0-4272-AFF2-90C4EECAFDE3}"/>
              </a:ext>
            </a:extLst>
          </p:cNvPr>
          <p:cNvSpPr>
            <a:spLocks noGrp="1"/>
          </p:cNvSpPr>
          <p:nvPr/>
        </p:nvSpPr>
        <p:spPr>
          <a:xfrm>
            <a:off x="828675" y="2543175"/>
            <a:ext cx="2143125" cy="6858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lang="zh-CN" altLang="en-US" sz="1725" b="0" dirty="0">
                <a:solidFill>
                  <a:srgbClr val="26282D"/>
                </a:solidFill>
                <a:latin typeface="Microsoft YaHei"/>
                <a:ea typeface="Microsoft YaHei"/>
                <a:cs typeface="Microsoft YaHei"/>
              </a:rPr>
              <a:t>通过</a:t>
            </a:r>
            <a:r>
              <a:rPr sz="1725" b="0" dirty="0" err="1">
                <a:solidFill>
                  <a:srgbClr val="26282D"/>
                </a:solidFill>
                <a:latin typeface="Microsoft YaHei"/>
                <a:ea typeface="Microsoft YaHei"/>
                <a:cs typeface="Microsoft YaHei"/>
              </a:rPr>
              <a:t>预实验确定活跃</a:t>
            </a:r>
            <a:r>
              <a:rPr lang="zh-CN" altLang="en-US" sz="1725" b="0" dirty="0">
                <a:solidFill>
                  <a:srgbClr val="26282D"/>
                </a:solidFill>
                <a:latin typeface="Microsoft YaHei"/>
                <a:ea typeface="Microsoft YaHei"/>
                <a:cs typeface="Microsoft YaHei"/>
              </a:rPr>
              <a:t>关键</a:t>
            </a:r>
            <a:r>
              <a:rPr sz="1725" b="0" dirty="0">
                <a:solidFill>
                  <a:srgbClr val="26282D"/>
                </a:solidFill>
                <a:latin typeface="Microsoft YaHei"/>
                <a:ea typeface="Microsoft YaHei"/>
                <a:cs typeface="Microsoft YaHei"/>
              </a:rPr>
              <a:t>词</a:t>
            </a:r>
            <a:r>
              <a:rPr lang="zh-CN" altLang="en-US" sz="1725" b="0" dirty="0">
                <a:solidFill>
                  <a:srgbClr val="26282D"/>
                </a:solidFill>
                <a:latin typeface="Microsoft YaHei"/>
                <a:ea typeface="Microsoft YaHei"/>
                <a:cs typeface="Microsoft YaHei"/>
              </a:rPr>
              <a:t>。</a:t>
            </a:r>
            <a:endParaRPr sz="1725" b="0" dirty="0">
              <a:solidFill>
                <a:srgbClr val="26282D"/>
              </a:solidFill>
              <a:latin typeface="Microsoft YaHei"/>
              <a:ea typeface="Microsoft YaHei"/>
              <a:cs typeface="Microsoft YaHei"/>
            </a:endParaRPr>
          </a:p>
        </p:txBody>
      </p:sp>
      <p:sp>
        <p:nvSpPr>
          <p:cNvPr id="7" name="flow-connector-22">
            <a:extLst>
              <a:ext uri="{FF2B5EF4-FFF2-40B4-BE49-F238E27FC236}">
                <a16:creationId xmlns:a16="http://schemas.microsoft.com/office/drawing/2014/main" id="{867D1677-C6E0-42B3-995A-273B11A4C76A}"/>
              </a:ext>
            </a:extLst>
          </p:cNvPr>
          <p:cNvSpPr>
            <a:spLocks noGrp="1"/>
          </p:cNvSpPr>
          <p:nvPr/>
        </p:nvSpPr>
        <p:spPr>
          <a:xfrm>
            <a:off x="3133725" y="2400300"/>
            <a:ext cx="295275" cy="257175"/>
          </a:xfrm>
          <a:prstGeom prst="rightArrow">
            <a:avLst/>
          </a:prstGeom>
          <a:solidFill>
            <a:srgbClr val="2E746F"/>
          </a:solidFill>
          <a:ln w="0">
            <a:noFill/>
          </a:ln>
        </p:spPr>
      </p:sp>
      <p:sp>
        <p:nvSpPr>
          <p:cNvPr id="8" name="evidence-box-23">
            <a:extLst>
              <a:ext uri="{FF2B5EF4-FFF2-40B4-BE49-F238E27FC236}">
                <a16:creationId xmlns:a16="http://schemas.microsoft.com/office/drawing/2014/main" id="{A96B4CE5-DADD-493D-B962-202CF4C845C3}"/>
              </a:ext>
            </a:extLst>
          </p:cNvPr>
          <p:cNvSpPr>
            <a:spLocks noGrp="1"/>
          </p:cNvSpPr>
          <p:nvPr/>
        </p:nvSpPr>
        <p:spPr>
          <a:xfrm>
            <a:off x="3495675" y="1905000"/>
            <a:ext cx="2390775" cy="1447800"/>
          </a:xfrm>
          <a:prstGeom prst="rect">
            <a:avLst/>
          </a:prstGeom>
          <a:solidFill>
            <a:srgbClr val="EAF3F1"/>
          </a:solidFill>
          <a:ln w="12383">
            <a:solidFill>
              <a:srgbClr val="2E746F"/>
            </a:solidFill>
            <a:prstDash val="solid"/>
          </a:ln>
        </p:spPr>
      </p:sp>
      <p:sp>
        <p:nvSpPr>
          <p:cNvPr id="9" name="evidence-text-24">
            <a:extLst>
              <a:ext uri="{FF2B5EF4-FFF2-40B4-BE49-F238E27FC236}">
                <a16:creationId xmlns:a16="http://schemas.microsoft.com/office/drawing/2014/main" id="{F788B01F-C8E3-4DC1-B29E-D6DB369CFB7F}"/>
              </a:ext>
            </a:extLst>
          </p:cNvPr>
          <p:cNvSpPr>
            <a:spLocks noGrp="1"/>
          </p:cNvSpPr>
          <p:nvPr/>
        </p:nvSpPr>
        <p:spPr>
          <a:xfrm>
            <a:off x="3638550" y="2085975"/>
            <a:ext cx="2133600" cy="361950"/>
          </a:xfrm>
          <a:prstGeom prst="rect">
            <a:avLst/>
          </a:prstGeom>
          <a:noFill/>
          <a:ln w="0">
            <a:noFill/>
          </a:ln>
        </p:spPr>
        <p:txBody>
          <a:bodyPr wrap="square" lIns="0" tIns="0" rIns="0" bIns="0" anchor="t">
            <a:noAutofit/>
          </a:bodyPr>
          <a:lstStyle>
            <a:defPPr algn="l">
              <a:defRPr sz="1950" b="1">
                <a:solidFill>
                  <a:srgbClr val="2E746F"/>
                </a:solidFill>
                <a:latin typeface="Microsoft YaHei"/>
                <a:ea typeface="Microsoft YaHei"/>
                <a:cs typeface="Microsoft YaHei"/>
              </a:defRPr>
            </a:defPPr>
          </a:lstStyle>
          <a:p>
            <a:pPr algn="l">
              <a:buNone/>
              <a:defRPr sz="1950" b="1">
                <a:solidFill>
                  <a:srgbClr val="2E746F"/>
                </a:solidFill>
                <a:latin typeface="Microsoft YaHei"/>
                <a:ea typeface="Microsoft YaHei"/>
                <a:cs typeface="Microsoft YaHei"/>
              </a:defRPr>
            </a:pPr>
            <a:r>
              <a:rPr sz="1950" b="1">
                <a:solidFill>
                  <a:srgbClr val="2E746F"/>
                </a:solidFill>
                <a:latin typeface="Microsoft YaHei"/>
                <a:ea typeface="Microsoft YaHei"/>
                <a:cs typeface="Microsoft YaHei"/>
              </a:rPr>
              <a:t>02  诱捕与采集</a:t>
            </a:r>
          </a:p>
        </p:txBody>
      </p:sp>
      <p:sp>
        <p:nvSpPr>
          <p:cNvPr id="10" name="evidence-text-25">
            <a:extLst>
              <a:ext uri="{FF2B5EF4-FFF2-40B4-BE49-F238E27FC236}">
                <a16:creationId xmlns:a16="http://schemas.microsoft.com/office/drawing/2014/main" id="{36D505A1-C130-46E9-B8D1-B531C900A417}"/>
              </a:ext>
            </a:extLst>
          </p:cNvPr>
          <p:cNvSpPr>
            <a:spLocks noGrp="1"/>
          </p:cNvSpPr>
          <p:nvPr/>
        </p:nvSpPr>
        <p:spPr>
          <a:xfrm>
            <a:off x="3638550" y="2543175"/>
            <a:ext cx="2143125" cy="6858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发布含</a:t>
            </a:r>
            <a:r>
              <a:rPr lang="zh-CN" altLang="en-US" sz="1725" b="0" dirty="0">
                <a:solidFill>
                  <a:srgbClr val="26282D"/>
                </a:solidFill>
                <a:latin typeface="Microsoft YaHei"/>
                <a:ea typeface="Microsoft YaHei"/>
                <a:cs typeface="Microsoft YaHei"/>
              </a:rPr>
              <a:t>关键</a:t>
            </a:r>
            <a:r>
              <a:rPr sz="1725" b="0" dirty="0">
                <a:solidFill>
                  <a:srgbClr val="26282D"/>
                </a:solidFill>
                <a:latin typeface="Microsoft YaHei"/>
                <a:ea typeface="Microsoft YaHei"/>
                <a:cs typeface="Microsoft YaHei"/>
              </a:rPr>
              <a:t>词</a:t>
            </a:r>
            <a:r>
              <a:rPr lang="zh-CN" altLang="en-US" sz="1725" b="0" dirty="0">
                <a:solidFill>
                  <a:srgbClr val="26282D"/>
                </a:solidFill>
                <a:latin typeface="Microsoft YaHei"/>
                <a:ea typeface="Microsoft YaHei"/>
                <a:cs typeface="Microsoft YaHei"/>
              </a:rPr>
              <a:t>的</a:t>
            </a:r>
            <a:r>
              <a:rPr sz="1725" b="0" dirty="0" err="1">
                <a:solidFill>
                  <a:srgbClr val="26282D"/>
                </a:solidFill>
                <a:latin typeface="Microsoft YaHei"/>
                <a:ea typeface="Microsoft YaHei"/>
                <a:cs typeface="Microsoft YaHei"/>
              </a:rPr>
              <a:t>帖子</a:t>
            </a:r>
            <a:r>
              <a:rPr lang="zh-CN" altLang="en-US" sz="1725" dirty="0">
                <a:solidFill>
                  <a:srgbClr val="26282D"/>
                </a:solidFill>
                <a:latin typeface="Microsoft YaHei"/>
                <a:ea typeface="Microsoft YaHei"/>
                <a:cs typeface="Microsoft YaHei"/>
              </a:rPr>
              <a:t>，</a:t>
            </a:r>
            <a:r>
              <a:rPr sz="1725" b="0" dirty="0" err="1">
                <a:solidFill>
                  <a:srgbClr val="26282D"/>
                </a:solidFill>
                <a:latin typeface="Microsoft YaHei"/>
                <a:ea typeface="Microsoft YaHei"/>
                <a:cs typeface="Microsoft YaHei"/>
              </a:rPr>
              <a:t>记录回复账户</a:t>
            </a:r>
            <a:r>
              <a:rPr lang="zh-CN" altLang="en-US" sz="1725" b="0" dirty="0">
                <a:solidFill>
                  <a:srgbClr val="26282D"/>
                </a:solidFill>
                <a:latin typeface="Microsoft YaHei"/>
                <a:ea typeface="Microsoft YaHei"/>
                <a:cs typeface="Microsoft YaHei"/>
              </a:rPr>
              <a:t>。</a:t>
            </a:r>
            <a:endParaRPr sz="1725" b="0" dirty="0">
              <a:solidFill>
                <a:srgbClr val="26282D"/>
              </a:solidFill>
              <a:latin typeface="Microsoft YaHei"/>
              <a:ea typeface="Microsoft YaHei"/>
              <a:cs typeface="Microsoft YaHei"/>
            </a:endParaRPr>
          </a:p>
        </p:txBody>
      </p:sp>
      <p:sp>
        <p:nvSpPr>
          <p:cNvPr id="11" name="flow-connector-26">
            <a:extLst>
              <a:ext uri="{FF2B5EF4-FFF2-40B4-BE49-F238E27FC236}">
                <a16:creationId xmlns:a16="http://schemas.microsoft.com/office/drawing/2014/main" id="{564C4D2C-0AC6-4A35-AC67-AA07391D10EF}"/>
              </a:ext>
            </a:extLst>
          </p:cNvPr>
          <p:cNvSpPr>
            <a:spLocks noGrp="1"/>
          </p:cNvSpPr>
          <p:nvPr/>
        </p:nvSpPr>
        <p:spPr>
          <a:xfrm>
            <a:off x="5943600" y="2400300"/>
            <a:ext cx="295275" cy="257175"/>
          </a:xfrm>
          <a:prstGeom prst="rightArrow">
            <a:avLst/>
          </a:prstGeom>
          <a:solidFill>
            <a:srgbClr val="2E746F"/>
          </a:solidFill>
          <a:ln w="0">
            <a:noFill/>
          </a:ln>
        </p:spPr>
      </p:sp>
      <p:sp>
        <p:nvSpPr>
          <p:cNvPr id="12" name="evidence-box-27">
            <a:extLst>
              <a:ext uri="{FF2B5EF4-FFF2-40B4-BE49-F238E27FC236}">
                <a16:creationId xmlns:a16="http://schemas.microsoft.com/office/drawing/2014/main" id="{2F78DBC0-7DAF-435A-A4E9-D9FEA6C85879}"/>
              </a:ext>
            </a:extLst>
          </p:cNvPr>
          <p:cNvSpPr>
            <a:spLocks noGrp="1"/>
          </p:cNvSpPr>
          <p:nvPr/>
        </p:nvSpPr>
        <p:spPr>
          <a:xfrm>
            <a:off x="6305550" y="1905000"/>
            <a:ext cx="2390775" cy="1447800"/>
          </a:xfrm>
          <a:prstGeom prst="rect">
            <a:avLst/>
          </a:prstGeom>
          <a:solidFill>
            <a:srgbClr val="F7EAEB"/>
          </a:solidFill>
          <a:ln w="12383">
            <a:solidFill>
              <a:srgbClr val="9F2934"/>
            </a:solidFill>
            <a:prstDash val="solid"/>
          </a:ln>
        </p:spPr>
      </p:sp>
      <p:sp>
        <p:nvSpPr>
          <p:cNvPr id="13" name="evidence-text-28">
            <a:extLst>
              <a:ext uri="{FF2B5EF4-FFF2-40B4-BE49-F238E27FC236}">
                <a16:creationId xmlns:a16="http://schemas.microsoft.com/office/drawing/2014/main" id="{3F0BB17B-8A05-44FF-9508-0C400FF64FD6}"/>
              </a:ext>
            </a:extLst>
          </p:cNvPr>
          <p:cNvSpPr>
            <a:spLocks noGrp="1"/>
          </p:cNvSpPr>
          <p:nvPr/>
        </p:nvSpPr>
        <p:spPr>
          <a:xfrm>
            <a:off x="6448425" y="2085975"/>
            <a:ext cx="2133600" cy="361950"/>
          </a:xfrm>
          <a:prstGeom prst="rect">
            <a:avLst/>
          </a:prstGeom>
          <a:noFill/>
          <a:ln w="0">
            <a:noFill/>
          </a:ln>
        </p:spPr>
        <p:txBody>
          <a:bodyPr wrap="square" lIns="0" tIns="0" rIns="0" bIns="0" anchor="t">
            <a:noAutofit/>
          </a:bodyPr>
          <a:lstStyle>
            <a:defPPr algn="l">
              <a:defRPr sz="1950" b="1">
                <a:solidFill>
                  <a:srgbClr val="9F2934"/>
                </a:solidFill>
                <a:latin typeface="Microsoft YaHei"/>
                <a:ea typeface="Microsoft YaHei"/>
                <a:cs typeface="Microsoft YaHei"/>
              </a:defRPr>
            </a:defPPr>
          </a:lstStyle>
          <a:p>
            <a:pPr algn="l">
              <a:buNone/>
              <a:defRPr sz="1950" b="1">
                <a:solidFill>
                  <a:srgbClr val="9F2934"/>
                </a:solidFill>
                <a:latin typeface="Microsoft YaHei"/>
                <a:ea typeface="Microsoft YaHei"/>
                <a:cs typeface="Microsoft YaHei"/>
              </a:defRPr>
            </a:pPr>
            <a:r>
              <a:rPr sz="1950" b="1">
                <a:solidFill>
                  <a:srgbClr val="9F2934"/>
                </a:solidFill>
                <a:latin typeface="Microsoft YaHei"/>
                <a:ea typeface="Microsoft YaHei"/>
                <a:cs typeface="Microsoft YaHei"/>
              </a:rPr>
              <a:t>03  补充信息</a:t>
            </a:r>
          </a:p>
        </p:txBody>
      </p:sp>
      <p:sp>
        <p:nvSpPr>
          <p:cNvPr id="14" name="evidence-text-29">
            <a:extLst>
              <a:ext uri="{FF2B5EF4-FFF2-40B4-BE49-F238E27FC236}">
                <a16:creationId xmlns:a16="http://schemas.microsoft.com/office/drawing/2014/main" id="{EA955973-8167-4063-B5F9-8110A16FECB7}"/>
              </a:ext>
            </a:extLst>
          </p:cNvPr>
          <p:cNvSpPr>
            <a:spLocks noGrp="1"/>
          </p:cNvSpPr>
          <p:nvPr/>
        </p:nvSpPr>
        <p:spPr>
          <a:xfrm>
            <a:off x="6448425" y="2543175"/>
            <a:ext cx="2143125" cy="6858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lang="zh-CN" altLang="en-US" sz="1725" b="0" dirty="0">
                <a:solidFill>
                  <a:srgbClr val="26282D"/>
                </a:solidFill>
                <a:latin typeface="Microsoft YaHei"/>
                <a:ea typeface="Microsoft YaHei"/>
                <a:cs typeface="Microsoft YaHei"/>
              </a:rPr>
              <a:t>记录回复</a:t>
            </a:r>
            <a:r>
              <a:rPr sz="1725" b="0" dirty="0" err="1">
                <a:solidFill>
                  <a:srgbClr val="26282D"/>
                </a:solidFill>
                <a:latin typeface="Microsoft YaHei"/>
                <a:ea typeface="Microsoft YaHei"/>
                <a:cs typeface="Microsoft YaHei"/>
              </a:rPr>
              <a:t>账户</a:t>
            </a:r>
            <a:r>
              <a:rPr lang="zh-CN" altLang="en-US" sz="1725" b="0" dirty="0">
                <a:solidFill>
                  <a:srgbClr val="26282D"/>
                </a:solidFill>
                <a:latin typeface="Microsoft YaHei"/>
                <a:ea typeface="Microsoft YaHei"/>
                <a:cs typeface="Microsoft YaHei"/>
              </a:rPr>
              <a:t>的</a:t>
            </a:r>
            <a:r>
              <a:rPr sz="1725" b="0" dirty="0" err="1">
                <a:solidFill>
                  <a:srgbClr val="26282D"/>
                </a:solidFill>
                <a:latin typeface="Microsoft YaHei"/>
                <a:ea typeface="Microsoft YaHei"/>
                <a:cs typeface="Microsoft YaHei"/>
              </a:rPr>
              <a:t>资料、历史回复</a:t>
            </a:r>
            <a:r>
              <a:rPr lang="zh-CN" altLang="en-US" sz="1725" dirty="0">
                <a:solidFill>
                  <a:srgbClr val="26282D"/>
                </a:solidFill>
                <a:latin typeface="Microsoft YaHei"/>
                <a:ea typeface="Microsoft YaHei"/>
                <a:cs typeface="Microsoft YaHei"/>
              </a:rPr>
              <a:t>，</a:t>
            </a:r>
            <a:r>
              <a:rPr sz="1725" b="0" dirty="0" err="1">
                <a:solidFill>
                  <a:srgbClr val="26282D"/>
                </a:solidFill>
                <a:latin typeface="Microsoft YaHei"/>
                <a:ea typeface="Microsoft YaHei"/>
                <a:cs typeface="Microsoft YaHei"/>
              </a:rPr>
              <a:t>关注关系与平台状态</a:t>
            </a:r>
            <a:r>
              <a:rPr lang="zh-CN" altLang="en-US" sz="1725" b="0" dirty="0">
                <a:solidFill>
                  <a:srgbClr val="26282D"/>
                </a:solidFill>
                <a:latin typeface="Microsoft YaHei"/>
                <a:ea typeface="Microsoft YaHei"/>
                <a:cs typeface="Microsoft YaHei"/>
              </a:rPr>
              <a:t>。</a:t>
            </a:r>
            <a:endParaRPr sz="1725" b="0" dirty="0">
              <a:solidFill>
                <a:srgbClr val="26282D"/>
              </a:solidFill>
              <a:latin typeface="Microsoft YaHei"/>
              <a:ea typeface="Microsoft YaHei"/>
              <a:cs typeface="Microsoft YaHei"/>
            </a:endParaRPr>
          </a:p>
        </p:txBody>
      </p:sp>
      <p:sp>
        <p:nvSpPr>
          <p:cNvPr id="15" name="flow-connector-30">
            <a:extLst>
              <a:ext uri="{FF2B5EF4-FFF2-40B4-BE49-F238E27FC236}">
                <a16:creationId xmlns:a16="http://schemas.microsoft.com/office/drawing/2014/main" id="{77FFD3F6-E232-4035-988B-937789A1193C}"/>
              </a:ext>
            </a:extLst>
          </p:cNvPr>
          <p:cNvSpPr>
            <a:spLocks noGrp="1"/>
          </p:cNvSpPr>
          <p:nvPr/>
        </p:nvSpPr>
        <p:spPr>
          <a:xfrm>
            <a:off x="8753475" y="2400300"/>
            <a:ext cx="295275" cy="257175"/>
          </a:xfrm>
          <a:prstGeom prst="rightArrow">
            <a:avLst/>
          </a:prstGeom>
          <a:solidFill>
            <a:srgbClr val="2E746F"/>
          </a:solidFill>
          <a:ln w="0">
            <a:noFill/>
          </a:ln>
        </p:spPr>
      </p:sp>
      <p:sp>
        <p:nvSpPr>
          <p:cNvPr id="16" name="evidence-box-31">
            <a:extLst>
              <a:ext uri="{FF2B5EF4-FFF2-40B4-BE49-F238E27FC236}">
                <a16:creationId xmlns:a16="http://schemas.microsoft.com/office/drawing/2014/main" id="{BA75A9A1-6B47-4D12-A7A6-DE4F5365AD8E}"/>
              </a:ext>
            </a:extLst>
          </p:cNvPr>
          <p:cNvSpPr>
            <a:spLocks noGrp="1"/>
          </p:cNvSpPr>
          <p:nvPr/>
        </p:nvSpPr>
        <p:spPr>
          <a:xfrm>
            <a:off x="9115425" y="1905000"/>
            <a:ext cx="2390775" cy="1447800"/>
          </a:xfrm>
          <a:prstGeom prst="rect">
            <a:avLst/>
          </a:prstGeom>
          <a:solidFill>
            <a:srgbClr val="EAF3F1"/>
          </a:solidFill>
          <a:ln w="12383">
            <a:solidFill>
              <a:srgbClr val="2E746F"/>
            </a:solidFill>
            <a:prstDash val="solid"/>
          </a:ln>
        </p:spPr>
      </p:sp>
      <p:sp>
        <p:nvSpPr>
          <p:cNvPr id="17" name="evidence-text-32">
            <a:extLst>
              <a:ext uri="{FF2B5EF4-FFF2-40B4-BE49-F238E27FC236}">
                <a16:creationId xmlns:a16="http://schemas.microsoft.com/office/drawing/2014/main" id="{ED2C3812-50E1-434B-9EBA-CB56F350C9C3}"/>
              </a:ext>
            </a:extLst>
          </p:cNvPr>
          <p:cNvSpPr>
            <a:spLocks noGrp="1"/>
          </p:cNvSpPr>
          <p:nvPr/>
        </p:nvSpPr>
        <p:spPr>
          <a:xfrm>
            <a:off x="9258300" y="2085975"/>
            <a:ext cx="2133600" cy="361950"/>
          </a:xfrm>
          <a:prstGeom prst="rect">
            <a:avLst/>
          </a:prstGeom>
          <a:noFill/>
          <a:ln w="0">
            <a:noFill/>
          </a:ln>
        </p:spPr>
        <p:txBody>
          <a:bodyPr wrap="square" lIns="0" tIns="0" rIns="0" bIns="0" anchor="t">
            <a:noAutofit/>
          </a:bodyPr>
          <a:lstStyle>
            <a:defPPr algn="l">
              <a:defRPr sz="1950" b="1">
                <a:solidFill>
                  <a:srgbClr val="2E746F"/>
                </a:solidFill>
                <a:latin typeface="Microsoft YaHei"/>
                <a:ea typeface="Microsoft YaHei"/>
                <a:cs typeface="Microsoft YaHei"/>
              </a:defRPr>
            </a:defPPr>
          </a:lstStyle>
          <a:p>
            <a:pPr algn="l">
              <a:buNone/>
              <a:defRPr sz="1950" b="1">
                <a:solidFill>
                  <a:srgbClr val="2E746F"/>
                </a:solidFill>
                <a:latin typeface="Microsoft YaHei"/>
                <a:ea typeface="Microsoft YaHei"/>
                <a:cs typeface="Microsoft YaHei"/>
              </a:defRPr>
            </a:pPr>
            <a:r>
              <a:rPr sz="1950" b="1">
                <a:solidFill>
                  <a:srgbClr val="2E746F"/>
                </a:solidFill>
                <a:latin typeface="Microsoft YaHei"/>
                <a:ea typeface="Microsoft YaHei"/>
                <a:cs typeface="Microsoft YaHei"/>
              </a:rPr>
              <a:t>04  整理标签</a:t>
            </a:r>
          </a:p>
        </p:txBody>
      </p:sp>
      <p:sp>
        <p:nvSpPr>
          <p:cNvPr id="18" name="evidence-text-33">
            <a:extLst>
              <a:ext uri="{FF2B5EF4-FFF2-40B4-BE49-F238E27FC236}">
                <a16:creationId xmlns:a16="http://schemas.microsoft.com/office/drawing/2014/main" id="{B2E855D9-4EA3-4945-B898-C4C8A3E59765}"/>
              </a:ext>
            </a:extLst>
          </p:cNvPr>
          <p:cNvSpPr>
            <a:spLocks noGrp="1"/>
          </p:cNvSpPr>
          <p:nvPr/>
        </p:nvSpPr>
        <p:spPr>
          <a:xfrm>
            <a:off x="9258300" y="2543175"/>
            <a:ext cx="2143125" cy="6858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defRPr sz="1725" b="0">
                <a:solidFill>
                  <a:srgbClr val="26282D"/>
                </a:solidFill>
                <a:latin typeface="Microsoft YaHei"/>
                <a:ea typeface="Microsoft YaHei"/>
                <a:cs typeface="Microsoft YaHei"/>
              </a:defRPr>
            </a:pPr>
            <a:r>
              <a:rPr lang="zh-CN" altLang="en-US" sz="1725" dirty="0">
                <a:solidFill>
                  <a:srgbClr val="26282D"/>
                </a:solidFill>
                <a:latin typeface="Microsoft YaHei"/>
                <a:ea typeface="Microsoft YaHei"/>
                <a:cs typeface="Microsoft YaHei"/>
              </a:rPr>
              <a:t>人工标注</a:t>
            </a:r>
            <a:r>
              <a:rPr sz="1725" b="0" dirty="0">
                <a:solidFill>
                  <a:srgbClr val="26282D"/>
                </a:solidFill>
                <a:latin typeface="Microsoft YaHei"/>
                <a:ea typeface="Microsoft YaHei"/>
                <a:cs typeface="Microsoft YaHei"/>
              </a:rPr>
              <a:t>bot /human </a:t>
            </a:r>
            <a:r>
              <a:rPr sz="1725" b="0" dirty="0" err="1">
                <a:solidFill>
                  <a:srgbClr val="26282D"/>
                </a:solidFill>
                <a:latin typeface="Microsoft YaHei"/>
                <a:ea typeface="Microsoft YaHei"/>
                <a:cs typeface="Microsoft YaHei"/>
              </a:rPr>
              <a:t>标签</a:t>
            </a:r>
            <a:r>
              <a:rPr lang="zh-CN" altLang="en-US" sz="1725" dirty="0">
                <a:solidFill>
                  <a:srgbClr val="26282D"/>
                </a:solidFill>
                <a:latin typeface="Microsoft YaHei"/>
                <a:ea typeface="Microsoft YaHei"/>
                <a:cs typeface="Microsoft YaHei"/>
              </a:rPr>
              <a:t>。</a:t>
            </a:r>
            <a:endParaRPr sz="1725" b="0" dirty="0">
              <a:solidFill>
                <a:srgbClr val="26282D"/>
              </a:solidFill>
              <a:latin typeface="Microsoft YaHei"/>
              <a:ea typeface="Microsoft YaHei"/>
              <a:cs typeface="Microsoft YaHei"/>
            </a:endParaRPr>
          </a:p>
        </p:txBody>
      </p:sp>
      <p:sp>
        <p:nvSpPr>
          <p:cNvPr id="19" name="evidence-box-34">
            <a:extLst>
              <a:ext uri="{FF2B5EF4-FFF2-40B4-BE49-F238E27FC236}">
                <a16:creationId xmlns:a16="http://schemas.microsoft.com/office/drawing/2014/main" id="{5BAA56E5-65DC-4D0B-98C2-0A97ACEBE6E3}"/>
              </a:ext>
            </a:extLst>
          </p:cNvPr>
          <p:cNvSpPr>
            <a:spLocks noGrp="1"/>
          </p:cNvSpPr>
          <p:nvPr/>
        </p:nvSpPr>
        <p:spPr>
          <a:xfrm>
            <a:off x="10204057" y="3352800"/>
            <a:ext cx="121043" cy="323850"/>
          </a:xfrm>
          <a:prstGeom prst="rect">
            <a:avLst/>
          </a:prstGeom>
          <a:solidFill>
            <a:srgbClr val="2E746F"/>
          </a:solidFill>
          <a:ln w="12383">
            <a:solidFill>
              <a:srgbClr val="2E746F"/>
            </a:solidFill>
            <a:prstDash val="solid"/>
          </a:ln>
        </p:spPr>
      </p:sp>
      <p:sp>
        <p:nvSpPr>
          <p:cNvPr id="20" name="evidence-box-35">
            <a:extLst>
              <a:ext uri="{FF2B5EF4-FFF2-40B4-BE49-F238E27FC236}">
                <a16:creationId xmlns:a16="http://schemas.microsoft.com/office/drawing/2014/main" id="{5D179963-0B76-4DF8-B98D-9BECC5CE628B}"/>
              </a:ext>
            </a:extLst>
          </p:cNvPr>
          <p:cNvSpPr>
            <a:spLocks noGrp="1"/>
          </p:cNvSpPr>
          <p:nvPr/>
        </p:nvSpPr>
        <p:spPr>
          <a:xfrm>
            <a:off x="6057900" y="3657600"/>
            <a:ext cx="4267200" cy="114301"/>
          </a:xfrm>
          <a:prstGeom prst="rect">
            <a:avLst/>
          </a:prstGeom>
          <a:solidFill>
            <a:srgbClr val="2E746F"/>
          </a:solidFill>
          <a:ln w="12383">
            <a:solidFill>
              <a:srgbClr val="2E746F"/>
            </a:solidFill>
            <a:prstDash val="solid"/>
          </a:ln>
        </p:spPr>
      </p:sp>
      <p:sp>
        <p:nvSpPr>
          <p:cNvPr id="21" name="flow-connector-36">
            <a:extLst>
              <a:ext uri="{FF2B5EF4-FFF2-40B4-BE49-F238E27FC236}">
                <a16:creationId xmlns:a16="http://schemas.microsoft.com/office/drawing/2014/main" id="{63B5FE95-1169-43B3-89D5-80604EEEFDCB}"/>
              </a:ext>
            </a:extLst>
          </p:cNvPr>
          <p:cNvSpPr>
            <a:spLocks noGrp="1"/>
          </p:cNvSpPr>
          <p:nvPr/>
        </p:nvSpPr>
        <p:spPr>
          <a:xfrm>
            <a:off x="5991383" y="3657599"/>
            <a:ext cx="295275" cy="419101"/>
          </a:xfrm>
          <a:prstGeom prst="downArrow">
            <a:avLst/>
          </a:prstGeom>
          <a:solidFill>
            <a:srgbClr val="2E746F"/>
          </a:solidFill>
          <a:ln w="0">
            <a:noFill/>
          </a:ln>
        </p:spPr>
      </p:sp>
      <p:sp>
        <p:nvSpPr>
          <p:cNvPr id="22" name="evidence-text-37">
            <a:extLst>
              <a:ext uri="{FF2B5EF4-FFF2-40B4-BE49-F238E27FC236}">
                <a16:creationId xmlns:a16="http://schemas.microsoft.com/office/drawing/2014/main" id="{77B277B8-DCD2-4811-BAFE-6D33A44EB79B}"/>
              </a:ext>
            </a:extLst>
          </p:cNvPr>
          <p:cNvSpPr>
            <a:spLocks noGrp="1"/>
          </p:cNvSpPr>
          <p:nvPr/>
        </p:nvSpPr>
        <p:spPr>
          <a:xfrm>
            <a:off x="3105150" y="4076700"/>
            <a:ext cx="7953375" cy="323850"/>
          </a:xfrm>
          <a:prstGeom prst="rect">
            <a:avLst/>
          </a:prstGeom>
          <a:noFill/>
          <a:ln w="0">
            <a:noFill/>
          </a:ln>
        </p:spPr>
        <p:txBody>
          <a:bodyPr wrap="square" lIns="0" tIns="0" rIns="0" bIns="0" anchor="t">
            <a:noAutofit/>
          </a:bodyPr>
          <a:lstStyle>
            <a:defPPr algn="l">
              <a:defRPr sz="1875" b="1">
                <a:solidFill>
                  <a:srgbClr val="26282D"/>
                </a:solidFill>
                <a:latin typeface="Microsoft YaHei"/>
                <a:ea typeface="Microsoft YaHei"/>
                <a:cs typeface="Microsoft YaHei"/>
              </a:defRPr>
            </a:defPPr>
          </a:lstStyle>
          <a:p>
            <a:pPr algn="l">
              <a:buNone/>
              <a:defRPr sz="1875" b="1">
                <a:solidFill>
                  <a:srgbClr val="26282D"/>
                </a:solidFill>
                <a:latin typeface="Microsoft YaHei"/>
                <a:ea typeface="Microsoft YaHei"/>
                <a:cs typeface="Microsoft YaHei"/>
              </a:defRPr>
            </a:pPr>
            <a:r>
              <a:rPr sz="1875" b="1" dirty="0" err="1">
                <a:solidFill>
                  <a:srgbClr val="26282D"/>
                </a:solidFill>
                <a:latin typeface="Microsoft YaHei"/>
                <a:ea typeface="Microsoft YaHei"/>
                <a:cs typeface="Microsoft YaHei"/>
              </a:rPr>
              <a:t>完成数据整理后，按研究任务</a:t>
            </a:r>
            <a:r>
              <a:rPr lang="zh-CN" altLang="en-US" sz="1875" b="1" dirty="0">
                <a:solidFill>
                  <a:srgbClr val="26282D"/>
                </a:solidFill>
                <a:latin typeface="Microsoft YaHei"/>
                <a:ea typeface="Microsoft YaHei"/>
                <a:cs typeface="Microsoft YaHei"/>
              </a:rPr>
              <a:t>开展两类实验</a:t>
            </a:r>
            <a:endParaRPr sz="1875" b="1" dirty="0">
              <a:solidFill>
                <a:srgbClr val="26282D"/>
              </a:solidFill>
              <a:latin typeface="Microsoft YaHei"/>
              <a:ea typeface="Microsoft YaHei"/>
              <a:cs typeface="Microsoft YaHei"/>
            </a:endParaRPr>
          </a:p>
        </p:txBody>
      </p:sp>
      <p:sp>
        <p:nvSpPr>
          <p:cNvPr id="23" name="evidence-text-38">
            <a:extLst>
              <a:ext uri="{FF2B5EF4-FFF2-40B4-BE49-F238E27FC236}">
                <a16:creationId xmlns:a16="http://schemas.microsoft.com/office/drawing/2014/main" id="{694EA515-FABB-4598-9133-A7213DAAB6B1}"/>
              </a:ext>
            </a:extLst>
          </p:cNvPr>
          <p:cNvSpPr>
            <a:spLocks noGrp="1"/>
          </p:cNvSpPr>
          <p:nvPr/>
        </p:nvSpPr>
        <p:spPr>
          <a:xfrm>
            <a:off x="685800" y="4667250"/>
            <a:ext cx="5238750" cy="381000"/>
          </a:xfrm>
          <a:prstGeom prst="rect">
            <a:avLst/>
          </a:prstGeom>
          <a:noFill/>
          <a:ln w="0">
            <a:noFill/>
          </a:ln>
        </p:spPr>
        <p:txBody>
          <a:bodyPr wrap="square" lIns="0" tIns="0" rIns="0" bIns="0" anchor="t">
            <a:noAutofit/>
          </a:bodyPr>
          <a:lstStyle>
            <a:defPPr algn="l">
              <a:defRPr sz="2025" b="1">
                <a:solidFill>
                  <a:srgbClr val="9F2934"/>
                </a:solidFill>
                <a:latin typeface="Microsoft YaHei"/>
                <a:ea typeface="Microsoft YaHei"/>
                <a:cs typeface="Microsoft YaHei"/>
              </a:defRPr>
            </a:defPPr>
          </a:lstStyle>
          <a:p>
            <a:pPr algn="l">
              <a:buNone/>
              <a:defRPr sz="2025" b="1">
                <a:solidFill>
                  <a:srgbClr val="9F2934"/>
                </a:solidFill>
                <a:latin typeface="Microsoft YaHei"/>
                <a:ea typeface="Microsoft YaHei"/>
                <a:cs typeface="Microsoft YaHei"/>
              </a:defRPr>
            </a:pPr>
            <a:r>
              <a:rPr lang="zh-CN" altLang="en-US" sz="2025" b="1" dirty="0">
                <a:solidFill>
                  <a:srgbClr val="9F2934"/>
                </a:solidFill>
                <a:latin typeface="Microsoft YaHei"/>
                <a:ea typeface="Microsoft YaHei"/>
                <a:cs typeface="Microsoft YaHei"/>
              </a:rPr>
              <a:t>实验</a:t>
            </a:r>
            <a:r>
              <a:rPr sz="2025" b="1" dirty="0">
                <a:solidFill>
                  <a:srgbClr val="9F2934"/>
                </a:solidFill>
                <a:latin typeface="Microsoft YaHei"/>
                <a:ea typeface="Microsoft YaHei"/>
                <a:cs typeface="Microsoft YaHei"/>
              </a:rPr>
              <a:t> A  </a:t>
            </a:r>
            <a:r>
              <a:rPr lang="zh-CN" altLang="en-US" sz="2025" b="1" dirty="0">
                <a:solidFill>
                  <a:srgbClr val="9F2934"/>
                </a:solidFill>
                <a:latin typeface="Microsoft YaHei"/>
                <a:ea typeface="Microsoft YaHei"/>
                <a:cs typeface="Microsoft YaHei"/>
              </a:rPr>
              <a:t>触发机器人行为特征归纳</a:t>
            </a:r>
            <a:endParaRPr sz="2025" b="1" dirty="0">
              <a:solidFill>
                <a:srgbClr val="9F2934"/>
              </a:solidFill>
              <a:latin typeface="Microsoft YaHei"/>
              <a:ea typeface="Microsoft YaHei"/>
              <a:cs typeface="Microsoft YaHei"/>
            </a:endParaRPr>
          </a:p>
        </p:txBody>
      </p:sp>
      <p:sp>
        <p:nvSpPr>
          <p:cNvPr id="24" name="evidence-box-39">
            <a:extLst>
              <a:ext uri="{FF2B5EF4-FFF2-40B4-BE49-F238E27FC236}">
                <a16:creationId xmlns:a16="http://schemas.microsoft.com/office/drawing/2014/main" id="{E700E374-3D99-4708-A36B-15E30D6760A1}"/>
              </a:ext>
            </a:extLst>
          </p:cNvPr>
          <p:cNvSpPr>
            <a:spLocks noGrp="1"/>
          </p:cNvSpPr>
          <p:nvPr/>
        </p:nvSpPr>
        <p:spPr>
          <a:xfrm>
            <a:off x="685800" y="5095875"/>
            <a:ext cx="5238750" cy="1181100"/>
          </a:xfrm>
          <a:prstGeom prst="rect">
            <a:avLst/>
          </a:prstGeom>
          <a:noFill/>
          <a:ln w="12383">
            <a:solidFill>
              <a:srgbClr val="9F2934"/>
            </a:solidFill>
            <a:prstDash val="solid"/>
          </a:ln>
        </p:spPr>
      </p:sp>
      <p:sp>
        <p:nvSpPr>
          <p:cNvPr id="25" name="evidence-text-40">
            <a:extLst>
              <a:ext uri="{FF2B5EF4-FFF2-40B4-BE49-F238E27FC236}">
                <a16:creationId xmlns:a16="http://schemas.microsoft.com/office/drawing/2014/main" id="{0591BD83-2271-4C3B-98A0-54D07BDA0BC3}"/>
              </a:ext>
            </a:extLst>
          </p:cNvPr>
          <p:cNvSpPr>
            <a:spLocks noGrp="1"/>
          </p:cNvSpPr>
          <p:nvPr/>
        </p:nvSpPr>
        <p:spPr>
          <a:xfrm>
            <a:off x="857250" y="5238750"/>
            <a:ext cx="4895850" cy="98107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输入：资料、历史回复、网络和平台状态</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分析：文本、时间、关注网络及账户存续</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产出：不同活动的行为特征</a:t>
            </a:r>
            <a:endParaRPr sz="1725" b="0" dirty="0">
              <a:solidFill>
                <a:srgbClr val="26282D"/>
              </a:solidFill>
              <a:latin typeface="Microsoft YaHei"/>
              <a:ea typeface="Microsoft YaHei"/>
              <a:cs typeface="Microsoft YaHei"/>
            </a:endParaRPr>
          </a:p>
        </p:txBody>
      </p:sp>
      <p:sp>
        <p:nvSpPr>
          <p:cNvPr id="26" name="evidence-text-41">
            <a:extLst>
              <a:ext uri="{FF2B5EF4-FFF2-40B4-BE49-F238E27FC236}">
                <a16:creationId xmlns:a16="http://schemas.microsoft.com/office/drawing/2014/main" id="{94AF420D-9728-40A6-90C6-57604EEE829C}"/>
              </a:ext>
            </a:extLst>
          </p:cNvPr>
          <p:cNvSpPr>
            <a:spLocks noGrp="1"/>
          </p:cNvSpPr>
          <p:nvPr/>
        </p:nvSpPr>
        <p:spPr>
          <a:xfrm>
            <a:off x="6267450" y="4667250"/>
            <a:ext cx="5238750" cy="381000"/>
          </a:xfrm>
          <a:prstGeom prst="rect">
            <a:avLst/>
          </a:prstGeom>
          <a:noFill/>
          <a:ln w="0">
            <a:noFill/>
          </a:ln>
        </p:spPr>
        <p:txBody>
          <a:bodyPr wrap="square" lIns="0" tIns="0" rIns="0" bIns="0" anchor="t">
            <a:noAutofit/>
          </a:bodyPr>
          <a:lstStyle>
            <a:defPPr algn="l">
              <a:defRPr sz="2025" b="1">
                <a:solidFill>
                  <a:srgbClr val="2E746F"/>
                </a:solidFill>
                <a:latin typeface="Microsoft YaHei"/>
                <a:ea typeface="Microsoft YaHei"/>
                <a:cs typeface="Microsoft YaHei"/>
              </a:defRPr>
            </a:defPPr>
          </a:lstStyle>
          <a:p>
            <a:pPr algn="l">
              <a:buNone/>
              <a:defRPr sz="2025" b="1">
                <a:solidFill>
                  <a:srgbClr val="2E746F"/>
                </a:solidFill>
                <a:latin typeface="Microsoft YaHei"/>
                <a:ea typeface="Microsoft YaHei"/>
                <a:cs typeface="Microsoft YaHei"/>
              </a:defRPr>
            </a:pPr>
            <a:r>
              <a:rPr lang="zh-CN" altLang="en-US" sz="2025" b="1" dirty="0">
                <a:solidFill>
                  <a:srgbClr val="2E746F"/>
                </a:solidFill>
                <a:latin typeface="Microsoft YaHei"/>
                <a:ea typeface="Microsoft YaHei"/>
                <a:cs typeface="Microsoft YaHei"/>
              </a:rPr>
              <a:t>实验</a:t>
            </a:r>
            <a:r>
              <a:rPr sz="2025" b="1" dirty="0">
                <a:solidFill>
                  <a:srgbClr val="2E746F"/>
                </a:solidFill>
                <a:latin typeface="Microsoft YaHei"/>
                <a:ea typeface="Microsoft YaHei"/>
                <a:cs typeface="Microsoft YaHei"/>
              </a:rPr>
              <a:t> B  </a:t>
            </a:r>
            <a:r>
              <a:rPr sz="2025" b="1" dirty="0" err="1">
                <a:solidFill>
                  <a:srgbClr val="2E746F"/>
                </a:solidFill>
                <a:latin typeface="Microsoft YaHei"/>
                <a:ea typeface="Microsoft YaHei"/>
                <a:cs typeface="Microsoft YaHei"/>
              </a:rPr>
              <a:t>分类实验</a:t>
            </a:r>
            <a:endParaRPr sz="2025" b="1" dirty="0">
              <a:solidFill>
                <a:srgbClr val="2E746F"/>
              </a:solidFill>
              <a:latin typeface="Microsoft YaHei"/>
              <a:ea typeface="Microsoft YaHei"/>
              <a:cs typeface="Microsoft YaHei"/>
            </a:endParaRPr>
          </a:p>
        </p:txBody>
      </p:sp>
      <p:sp>
        <p:nvSpPr>
          <p:cNvPr id="27" name="evidence-box-42">
            <a:extLst>
              <a:ext uri="{FF2B5EF4-FFF2-40B4-BE49-F238E27FC236}">
                <a16:creationId xmlns:a16="http://schemas.microsoft.com/office/drawing/2014/main" id="{F19A99BF-EA8D-4A40-84DD-4A1E30BF9750}"/>
              </a:ext>
            </a:extLst>
          </p:cNvPr>
          <p:cNvSpPr>
            <a:spLocks noGrp="1"/>
          </p:cNvSpPr>
          <p:nvPr/>
        </p:nvSpPr>
        <p:spPr>
          <a:xfrm>
            <a:off x="6267450" y="5095875"/>
            <a:ext cx="5238750" cy="1181100"/>
          </a:xfrm>
          <a:prstGeom prst="rect">
            <a:avLst/>
          </a:prstGeom>
          <a:noFill/>
          <a:ln w="12383">
            <a:solidFill>
              <a:srgbClr val="2E746F"/>
            </a:solidFill>
            <a:prstDash val="solid"/>
          </a:ln>
        </p:spPr>
      </p:sp>
      <p:sp>
        <p:nvSpPr>
          <p:cNvPr id="28" name="evidence-text-43">
            <a:extLst>
              <a:ext uri="{FF2B5EF4-FFF2-40B4-BE49-F238E27FC236}">
                <a16:creationId xmlns:a16="http://schemas.microsoft.com/office/drawing/2014/main" id="{24508B54-007F-462F-B54A-89DA4AE77305}"/>
              </a:ext>
            </a:extLst>
          </p:cNvPr>
          <p:cNvSpPr>
            <a:spLocks noGrp="1"/>
          </p:cNvSpPr>
          <p:nvPr/>
        </p:nvSpPr>
        <p:spPr>
          <a:xfrm>
            <a:off x="6438900" y="5238750"/>
            <a:ext cx="4895850" cy="98107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输入：每个账户的资料与一条触发回复</a:t>
            </a:r>
          </a:p>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处理：特征表示、训练及留出测试</a:t>
            </a:r>
          </a:p>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产出：恶意性检测与四类活动分类结果</a:t>
            </a:r>
          </a:p>
        </p:txBody>
      </p:sp>
      <p:pic>
        <p:nvPicPr>
          <p:cNvPr id="29"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30"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9/33</a:t>
            </a:r>
          </a:p>
        </p:txBody>
      </p:sp>
      <p:sp>
        <p:nvSpPr>
          <p:cNvPr id="31" name="矩形 30">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976916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74">
            <a:extLst>
              <a:ext uri="{FF2B5EF4-FFF2-40B4-BE49-F238E27FC236}">
                <a16:creationId xmlns:a16="http://schemas.microsoft.com/office/drawing/2014/main" id="{5AD68433-97AF-49E3-A37A-6837DDFC1810}"/>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方法原理</a:t>
            </a:r>
            <a:endParaRPr sz="3300" b="1" dirty="0">
              <a:solidFill>
                <a:srgbClr val="A52A36"/>
              </a:solidFill>
              <a:latin typeface="Microsoft YaHei"/>
              <a:ea typeface="Microsoft YaHei"/>
            </a:endParaRPr>
          </a:p>
        </p:txBody>
      </p:sp>
      <p:sp>
        <p:nvSpPr>
          <p:cNvPr id="3" name="clarity-text-89">
            <a:extLst>
              <a:ext uri="{FF2B5EF4-FFF2-40B4-BE49-F238E27FC236}">
                <a16:creationId xmlns:a16="http://schemas.microsoft.com/office/drawing/2014/main" id="{239D4E06-F9FE-4A46-84B0-75502C4D6CA6}"/>
              </a:ext>
            </a:extLst>
          </p:cNvPr>
          <p:cNvSpPr>
            <a:spLocks noGrp="1"/>
          </p:cNvSpPr>
          <p:nvPr/>
        </p:nvSpPr>
        <p:spPr>
          <a:xfrm>
            <a:off x="704850" y="1283399"/>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触发词</a:t>
            </a:r>
            <a:r>
              <a:rPr sz="2400" b="1" dirty="0" err="1">
                <a:solidFill>
                  <a:srgbClr val="A52A36"/>
                </a:solidFill>
                <a:latin typeface="Microsoft YaHei"/>
                <a:ea typeface="Microsoft YaHei"/>
              </a:rPr>
              <a:t>筛选</a:t>
            </a:r>
            <a:r>
              <a:rPr lang="zh-CN" altLang="en-US" sz="2400" b="1" dirty="0">
                <a:solidFill>
                  <a:srgbClr val="A52A36"/>
                </a:solidFill>
                <a:latin typeface="Microsoft YaHei"/>
                <a:ea typeface="Microsoft YaHei"/>
              </a:rPr>
              <a:t>流程</a:t>
            </a:r>
            <a:endParaRPr sz="2400" b="1" dirty="0">
              <a:solidFill>
                <a:srgbClr val="A52A36"/>
              </a:solidFill>
              <a:latin typeface="Microsoft YaHei"/>
              <a:ea typeface="Microsoft YaHei"/>
            </a:endParaRPr>
          </a:p>
        </p:txBody>
      </p:sp>
      <p:sp>
        <p:nvSpPr>
          <p:cNvPr id="4" name="content-group-90">
            <a:extLst>
              <a:ext uri="{FF2B5EF4-FFF2-40B4-BE49-F238E27FC236}">
                <a16:creationId xmlns:a16="http://schemas.microsoft.com/office/drawing/2014/main" id="{BDC0F481-EDFB-4D8E-9191-7286A678F31B}"/>
              </a:ext>
            </a:extLst>
          </p:cNvPr>
          <p:cNvSpPr>
            <a:spLocks noGrp="1"/>
          </p:cNvSpPr>
          <p:nvPr/>
        </p:nvSpPr>
        <p:spPr>
          <a:xfrm>
            <a:off x="685800" y="1752600"/>
            <a:ext cx="10820400" cy="847725"/>
          </a:xfrm>
          <a:prstGeom prst="rect">
            <a:avLst/>
          </a:prstGeom>
          <a:solidFill>
            <a:srgbClr val="FAF3E6"/>
          </a:solidFill>
          <a:ln w="0">
            <a:noFill/>
          </a:ln>
        </p:spPr>
      </p:sp>
      <p:sp>
        <p:nvSpPr>
          <p:cNvPr id="5" name="clarity-text-91">
            <a:extLst>
              <a:ext uri="{FF2B5EF4-FFF2-40B4-BE49-F238E27FC236}">
                <a16:creationId xmlns:a16="http://schemas.microsoft.com/office/drawing/2014/main" id="{AA33F1B7-549C-497B-9874-D7221EE45D6B}"/>
              </a:ext>
            </a:extLst>
          </p:cNvPr>
          <p:cNvSpPr>
            <a:spLocks noGrp="1"/>
          </p:cNvSpPr>
          <p:nvPr/>
        </p:nvSpPr>
        <p:spPr>
          <a:xfrm>
            <a:off x="857250" y="1905000"/>
            <a:ext cx="1619250" cy="41910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lang="zh-CN" altLang="en-US" sz="2100" b="1" dirty="0">
                <a:solidFill>
                  <a:srgbClr val="9F2934"/>
                </a:solidFill>
                <a:latin typeface="Microsoft YaHei"/>
                <a:ea typeface="Microsoft YaHei"/>
                <a:cs typeface="Microsoft YaHei"/>
              </a:rPr>
              <a:t>触发词</a:t>
            </a:r>
            <a:r>
              <a:rPr sz="2100" b="1" dirty="0" err="1">
                <a:solidFill>
                  <a:srgbClr val="9F2934"/>
                </a:solidFill>
                <a:latin typeface="Microsoft YaHei"/>
                <a:ea typeface="Microsoft YaHei"/>
                <a:cs typeface="Microsoft YaHei"/>
              </a:rPr>
              <a:t>筛选</a:t>
            </a:r>
            <a:endParaRPr sz="2100" b="1" dirty="0">
              <a:solidFill>
                <a:srgbClr val="9F2934"/>
              </a:solidFill>
              <a:latin typeface="Microsoft YaHei"/>
              <a:ea typeface="Microsoft YaHei"/>
              <a:cs typeface="Microsoft YaHei"/>
            </a:endParaRPr>
          </a:p>
        </p:txBody>
      </p:sp>
      <p:sp>
        <p:nvSpPr>
          <p:cNvPr id="6" name="clarity-text-92">
            <a:extLst>
              <a:ext uri="{FF2B5EF4-FFF2-40B4-BE49-F238E27FC236}">
                <a16:creationId xmlns:a16="http://schemas.microsoft.com/office/drawing/2014/main" id="{73FB269E-2B79-440A-B7C9-1095AE677B7B}"/>
              </a:ext>
            </a:extLst>
          </p:cNvPr>
          <p:cNvSpPr>
            <a:spLocks noGrp="1"/>
          </p:cNvSpPr>
          <p:nvPr/>
        </p:nvSpPr>
        <p:spPr>
          <a:xfrm>
            <a:off x="2857500" y="1847850"/>
            <a:ext cx="2286000" cy="352425"/>
          </a:xfrm>
          <a:prstGeom prst="rect">
            <a:avLst/>
          </a:prstGeom>
          <a:noFill/>
          <a:ln w="0">
            <a:noFill/>
          </a:ln>
        </p:spPr>
        <p:txBody>
          <a:bodyPr wrap="square" lIns="0" tIns="0" rIns="0" bIns="0" anchor="t">
            <a:noAutofit/>
          </a:bodyPr>
          <a:lstStyle>
            <a:defPPr algn="l">
              <a:defRPr sz="2250" b="1">
                <a:solidFill>
                  <a:srgbClr val="26282D"/>
                </a:solidFill>
                <a:latin typeface="Microsoft YaHei"/>
                <a:ea typeface="Microsoft YaHei"/>
                <a:cs typeface="Microsoft YaHei"/>
              </a:defRPr>
            </a:defPPr>
          </a:lstStyle>
          <a:p>
            <a:pPr algn="l">
              <a:buNone/>
              <a:defRPr sz="2250" b="1">
                <a:solidFill>
                  <a:srgbClr val="26282D"/>
                </a:solidFill>
                <a:latin typeface="Microsoft YaHei"/>
                <a:ea typeface="Microsoft YaHei"/>
                <a:cs typeface="Microsoft YaHei"/>
              </a:defRPr>
            </a:pPr>
            <a:r>
              <a:rPr sz="2250" b="1">
                <a:solidFill>
                  <a:srgbClr val="26282D"/>
                </a:solidFill>
                <a:latin typeface="Microsoft YaHei"/>
                <a:ea typeface="Microsoft YaHei"/>
                <a:cs typeface="Microsoft YaHei"/>
              </a:rPr>
              <a:t>30 个候选词</a:t>
            </a:r>
          </a:p>
        </p:txBody>
      </p:sp>
      <p:sp>
        <p:nvSpPr>
          <p:cNvPr id="7" name="clarity-text-93">
            <a:extLst>
              <a:ext uri="{FF2B5EF4-FFF2-40B4-BE49-F238E27FC236}">
                <a16:creationId xmlns:a16="http://schemas.microsoft.com/office/drawing/2014/main" id="{075B1212-2663-443F-B0D7-70EF4A3145FE}"/>
              </a:ext>
            </a:extLst>
          </p:cNvPr>
          <p:cNvSpPr>
            <a:spLocks noGrp="1"/>
          </p:cNvSpPr>
          <p:nvPr/>
        </p:nvSpPr>
        <p:spPr>
          <a:xfrm>
            <a:off x="2857500" y="2238375"/>
            <a:ext cx="2667000" cy="266700"/>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a:solidFill>
                  <a:srgbClr val="26282D"/>
                </a:solidFill>
                <a:latin typeface="Microsoft YaHei"/>
                <a:ea typeface="Microsoft YaHei"/>
                <a:cs typeface="Microsoft YaHei"/>
              </a:rPr>
              <a:t>来自论文、新闻及平台披露</a:t>
            </a:r>
          </a:p>
        </p:txBody>
      </p:sp>
      <p:sp>
        <p:nvSpPr>
          <p:cNvPr id="8" name="clarity-text-94">
            <a:extLst>
              <a:ext uri="{FF2B5EF4-FFF2-40B4-BE49-F238E27FC236}">
                <a16:creationId xmlns:a16="http://schemas.microsoft.com/office/drawing/2014/main" id="{FB422C3A-607F-42EC-A749-257D8BFFBAFF}"/>
              </a:ext>
            </a:extLst>
          </p:cNvPr>
          <p:cNvSpPr>
            <a:spLocks noGrp="1"/>
          </p:cNvSpPr>
          <p:nvPr/>
        </p:nvSpPr>
        <p:spPr>
          <a:xfrm>
            <a:off x="5857875" y="1847850"/>
            <a:ext cx="2286000" cy="352425"/>
          </a:xfrm>
          <a:prstGeom prst="rect">
            <a:avLst/>
          </a:prstGeom>
          <a:noFill/>
          <a:ln w="0">
            <a:noFill/>
          </a:ln>
        </p:spPr>
        <p:txBody>
          <a:bodyPr wrap="square" lIns="0" tIns="0" rIns="0" bIns="0" anchor="t">
            <a:noAutofit/>
          </a:bodyPr>
          <a:lstStyle>
            <a:defPPr algn="l">
              <a:defRPr sz="2250" b="1">
                <a:solidFill>
                  <a:srgbClr val="26282D"/>
                </a:solidFill>
                <a:latin typeface="Microsoft YaHei"/>
                <a:ea typeface="Microsoft YaHei"/>
                <a:cs typeface="Microsoft YaHei"/>
              </a:defRPr>
            </a:defPPr>
          </a:lstStyle>
          <a:p>
            <a:pPr algn="l">
              <a:buNone/>
              <a:defRPr sz="2250" b="1">
                <a:solidFill>
                  <a:srgbClr val="26282D"/>
                </a:solidFill>
                <a:latin typeface="Microsoft YaHei"/>
                <a:ea typeface="Microsoft YaHei"/>
                <a:cs typeface="Microsoft YaHei"/>
              </a:defRPr>
            </a:pPr>
            <a:r>
              <a:rPr sz="2250" b="1">
                <a:solidFill>
                  <a:srgbClr val="26282D"/>
                </a:solidFill>
                <a:latin typeface="Microsoft YaHei"/>
                <a:ea typeface="Microsoft YaHei"/>
                <a:cs typeface="Microsoft YaHei"/>
              </a:rPr>
              <a:t>19 个活跃词</a:t>
            </a:r>
          </a:p>
        </p:txBody>
      </p:sp>
      <p:sp>
        <p:nvSpPr>
          <p:cNvPr id="9" name="clarity-text-95">
            <a:extLst>
              <a:ext uri="{FF2B5EF4-FFF2-40B4-BE49-F238E27FC236}">
                <a16:creationId xmlns:a16="http://schemas.microsoft.com/office/drawing/2014/main" id="{BCFE8F96-7744-4D10-B569-5CE175319D95}"/>
              </a:ext>
            </a:extLst>
          </p:cNvPr>
          <p:cNvSpPr>
            <a:spLocks noGrp="1"/>
          </p:cNvSpPr>
          <p:nvPr/>
        </p:nvSpPr>
        <p:spPr>
          <a:xfrm>
            <a:off x="5857875" y="2238375"/>
            <a:ext cx="2381250" cy="266700"/>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a:solidFill>
                  <a:srgbClr val="26282D"/>
                </a:solidFill>
                <a:latin typeface="Microsoft YaHei"/>
                <a:ea typeface="Microsoft YaHei"/>
                <a:cs typeface="Microsoft YaHei"/>
              </a:rPr>
              <a:t>预实验能够引来回复</a:t>
            </a:r>
          </a:p>
        </p:txBody>
      </p:sp>
      <p:sp>
        <p:nvSpPr>
          <p:cNvPr id="10" name="clarity-text-96">
            <a:extLst>
              <a:ext uri="{FF2B5EF4-FFF2-40B4-BE49-F238E27FC236}">
                <a16:creationId xmlns:a16="http://schemas.microsoft.com/office/drawing/2014/main" id="{1DADB94D-6113-4EE2-9031-BBDC2B1BDC15}"/>
              </a:ext>
            </a:extLst>
          </p:cNvPr>
          <p:cNvSpPr>
            <a:spLocks noGrp="1"/>
          </p:cNvSpPr>
          <p:nvPr/>
        </p:nvSpPr>
        <p:spPr>
          <a:xfrm>
            <a:off x="8915400" y="1847850"/>
            <a:ext cx="2286000" cy="352425"/>
          </a:xfrm>
          <a:prstGeom prst="rect">
            <a:avLst/>
          </a:prstGeom>
          <a:noFill/>
          <a:ln w="0">
            <a:noFill/>
          </a:ln>
        </p:spPr>
        <p:txBody>
          <a:bodyPr wrap="square" lIns="0" tIns="0" rIns="0" bIns="0" anchor="t">
            <a:noAutofit/>
          </a:bodyPr>
          <a:lstStyle>
            <a:defPPr algn="l">
              <a:defRPr sz="2250" b="1">
                <a:solidFill>
                  <a:srgbClr val="2E746F"/>
                </a:solidFill>
                <a:latin typeface="Microsoft YaHei"/>
                <a:ea typeface="Microsoft YaHei"/>
                <a:cs typeface="Microsoft YaHei"/>
              </a:defRPr>
            </a:defPPr>
          </a:lstStyle>
          <a:p>
            <a:pPr algn="l">
              <a:buNone/>
              <a:defRPr sz="2250" b="1">
                <a:solidFill>
                  <a:srgbClr val="2E746F"/>
                </a:solidFill>
                <a:latin typeface="Microsoft YaHei"/>
                <a:ea typeface="Microsoft YaHei"/>
                <a:cs typeface="Microsoft YaHei"/>
              </a:defRPr>
            </a:pPr>
            <a:r>
              <a:rPr sz="2250" b="1" dirty="0">
                <a:solidFill>
                  <a:srgbClr val="2E746F"/>
                </a:solidFill>
                <a:latin typeface="Microsoft YaHei"/>
                <a:ea typeface="Microsoft YaHei"/>
                <a:cs typeface="Microsoft YaHei"/>
              </a:rPr>
              <a:t>10 </a:t>
            </a:r>
            <a:r>
              <a:rPr sz="2250" b="1" dirty="0" err="1">
                <a:solidFill>
                  <a:srgbClr val="2E746F"/>
                </a:solidFill>
                <a:latin typeface="Microsoft YaHei"/>
                <a:ea typeface="Microsoft YaHei"/>
                <a:cs typeface="Microsoft YaHei"/>
              </a:rPr>
              <a:t>个采集词</a:t>
            </a:r>
            <a:endParaRPr sz="2250" b="1" dirty="0">
              <a:solidFill>
                <a:srgbClr val="2E746F"/>
              </a:solidFill>
              <a:latin typeface="Microsoft YaHei"/>
              <a:ea typeface="Microsoft YaHei"/>
              <a:cs typeface="Microsoft YaHei"/>
            </a:endParaRPr>
          </a:p>
        </p:txBody>
      </p:sp>
      <p:sp>
        <p:nvSpPr>
          <p:cNvPr id="11" name="clarity-text-97">
            <a:extLst>
              <a:ext uri="{FF2B5EF4-FFF2-40B4-BE49-F238E27FC236}">
                <a16:creationId xmlns:a16="http://schemas.microsoft.com/office/drawing/2014/main" id="{E0B11E3B-B914-453A-BF97-96C8F50A751B}"/>
              </a:ext>
            </a:extLst>
          </p:cNvPr>
          <p:cNvSpPr>
            <a:spLocks noGrp="1"/>
          </p:cNvSpPr>
          <p:nvPr/>
        </p:nvSpPr>
        <p:spPr>
          <a:xfrm>
            <a:off x="8915400" y="2238375"/>
            <a:ext cx="2381250" cy="266700"/>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a:solidFill>
                  <a:srgbClr val="26282D"/>
                </a:solidFill>
                <a:latin typeface="Microsoft YaHei"/>
                <a:ea typeface="Microsoft YaHei"/>
                <a:cs typeface="Microsoft YaHei"/>
              </a:rPr>
              <a:t>剔除活动重叠的关键词</a:t>
            </a:r>
          </a:p>
        </p:txBody>
      </p:sp>
      <p:sp>
        <p:nvSpPr>
          <p:cNvPr id="12" name="content-group-98">
            <a:extLst>
              <a:ext uri="{FF2B5EF4-FFF2-40B4-BE49-F238E27FC236}">
                <a16:creationId xmlns:a16="http://schemas.microsoft.com/office/drawing/2014/main" id="{73487FF8-CA99-43C6-B395-A4C38618C70B}"/>
              </a:ext>
            </a:extLst>
          </p:cNvPr>
          <p:cNvSpPr>
            <a:spLocks noGrp="1"/>
          </p:cNvSpPr>
          <p:nvPr/>
        </p:nvSpPr>
        <p:spPr>
          <a:xfrm>
            <a:off x="685800" y="3209925"/>
            <a:ext cx="10820400" cy="1352550"/>
          </a:xfrm>
          <a:prstGeom prst="rect">
            <a:avLst/>
          </a:prstGeom>
          <a:noFill/>
          <a:ln w="12859">
            <a:solidFill>
              <a:srgbClr val="9F2934"/>
            </a:solidFill>
            <a:prstDash val="solid"/>
          </a:ln>
        </p:spPr>
      </p:sp>
      <p:sp>
        <p:nvSpPr>
          <p:cNvPr id="13" name="clarity-text-99">
            <a:extLst>
              <a:ext uri="{FF2B5EF4-FFF2-40B4-BE49-F238E27FC236}">
                <a16:creationId xmlns:a16="http://schemas.microsoft.com/office/drawing/2014/main" id="{95EFCFB6-AD99-488E-B1FF-377F8CB778FB}"/>
              </a:ext>
            </a:extLst>
          </p:cNvPr>
          <p:cNvSpPr>
            <a:spLocks noGrp="1"/>
          </p:cNvSpPr>
          <p:nvPr/>
        </p:nvSpPr>
        <p:spPr>
          <a:xfrm>
            <a:off x="685800" y="2781300"/>
            <a:ext cx="10820400"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000" b="1" dirty="0" err="1">
                <a:solidFill>
                  <a:srgbClr val="A52A36"/>
                </a:solidFill>
                <a:latin typeface="Microsoft YaHei"/>
                <a:ea typeface="Microsoft YaHei"/>
              </a:rPr>
              <a:t>研究者发布的诱捕帖模板</a:t>
            </a:r>
            <a:endParaRPr sz="2000" b="1" dirty="0">
              <a:solidFill>
                <a:srgbClr val="A52A36"/>
              </a:solidFill>
              <a:latin typeface="Microsoft YaHei"/>
              <a:ea typeface="Microsoft YaHei"/>
            </a:endParaRPr>
          </a:p>
        </p:txBody>
      </p:sp>
      <p:sp>
        <p:nvSpPr>
          <p:cNvPr id="14" name="clarity-text-100">
            <a:extLst>
              <a:ext uri="{FF2B5EF4-FFF2-40B4-BE49-F238E27FC236}">
                <a16:creationId xmlns:a16="http://schemas.microsoft.com/office/drawing/2014/main" id="{E0298E5A-38C5-4A4D-95D2-908642CB640C}"/>
              </a:ext>
            </a:extLst>
          </p:cNvPr>
          <p:cNvSpPr>
            <a:spLocks noGrp="1"/>
          </p:cNvSpPr>
          <p:nvPr/>
        </p:nvSpPr>
        <p:spPr>
          <a:xfrm>
            <a:off x="876300" y="3305175"/>
            <a:ext cx="10287000" cy="438150"/>
          </a:xfrm>
          <a:prstGeom prst="rect">
            <a:avLst/>
          </a:prstGeom>
          <a:noFill/>
          <a:ln w="0">
            <a:noFill/>
          </a:ln>
        </p:spPr>
        <p:txBody>
          <a:bodyPr wrap="square" lIns="0" tIns="0" rIns="0" bIns="0" anchor="t">
            <a:noAutofit/>
          </a:bodyPr>
          <a:lstStyle>
            <a:defPPr algn="l">
              <a:defRPr sz="2400" b="1">
                <a:solidFill>
                  <a:srgbClr val="26282D"/>
                </a:solidFill>
                <a:latin typeface="Microsoft YaHei"/>
                <a:ea typeface="Microsoft YaHei"/>
                <a:cs typeface="Microsoft YaHei"/>
              </a:defRPr>
            </a:defPPr>
          </a:lstStyle>
          <a:p>
            <a:pPr algn="l">
              <a:buNone/>
              <a:defRPr sz="2400" b="1">
                <a:solidFill>
                  <a:srgbClr val="26282D"/>
                </a:solidFill>
                <a:latin typeface="Microsoft YaHei"/>
                <a:ea typeface="Microsoft YaHei"/>
                <a:cs typeface="Microsoft YaHei"/>
              </a:defRPr>
            </a:pPr>
            <a:r>
              <a:rPr sz="2400" b="1" dirty="0">
                <a:solidFill>
                  <a:srgbClr val="26282D"/>
                </a:solidFill>
                <a:latin typeface="Microsoft YaHei"/>
                <a:ea typeface="Microsoft YaHei"/>
                <a:cs typeface="Microsoft YaHei"/>
              </a:rPr>
              <a:t>I need help with &lt;</a:t>
            </a:r>
            <a:r>
              <a:rPr lang="zh-CN" altLang="en-US" sz="2400" b="1" dirty="0">
                <a:solidFill>
                  <a:srgbClr val="26282D"/>
                </a:solidFill>
                <a:latin typeface="Microsoft YaHei"/>
                <a:ea typeface="Microsoft YaHei"/>
                <a:cs typeface="Microsoft YaHei"/>
              </a:rPr>
              <a:t>触发词</a:t>
            </a:r>
            <a:r>
              <a:rPr sz="2400" b="1" dirty="0">
                <a:solidFill>
                  <a:srgbClr val="26282D"/>
                </a:solidFill>
                <a:latin typeface="Microsoft YaHei"/>
                <a:ea typeface="Microsoft YaHei"/>
                <a:cs typeface="Microsoft YaHei"/>
              </a:rPr>
              <a:t>&gt;  [UNIX </a:t>
            </a:r>
            <a:r>
              <a:rPr sz="2400" b="1" dirty="0" err="1">
                <a:solidFill>
                  <a:srgbClr val="26282D"/>
                </a:solidFill>
                <a:latin typeface="Microsoft YaHei"/>
                <a:ea typeface="Microsoft YaHei"/>
                <a:cs typeface="Microsoft YaHei"/>
              </a:rPr>
              <a:t>时间戳</a:t>
            </a:r>
            <a:r>
              <a:rPr sz="2400" b="1" dirty="0">
                <a:solidFill>
                  <a:srgbClr val="26282D"/>
                </a:solidFill>
                <a:latin typeface="Microsoft YaHei"/>
                <a:ea typeface="Microsoft YaHei"/>
                <a:cs typeface="Microsoft YaHei"/>
              </a:rPr>
              <a:t>]</a:t>
            </a:r>
          </a:p>
        </p:txBody>
      </p:sp>
      <p:sp>
        <p:nvSpPr>
          <p:cNvPr id="15" name="clarity-text-101">
            <a:extLst>
              <a:ext uri="{FF2B5EF4-FFF2-40B4-BE49-F238E27FC236}">
                <a16:creationId xmlns:a16="http://schemas.microsoft.com/office/drawing/2014/main" id="{30D78FD5-CF96-4586-8A45-A7DF9F7461CF}"/>
              </a:ext>
            </a:extLst>
          </p:cNvPr>
          <p:cNvSpPr>
            <a:spLocks noGrp="1"/>
          </p:cNvSpPr>
          <p:nvPr/>
        </p:nvSpPr>
        <p:spPr>
          <a:xfrm>
            <a:off x="876300" y="3857625"/>
            <a:ext cx="5810250" cy="619125"/>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求助语境</a:t>
            </a:r>
            <a:r>
              <a:rPr sz="1800" b="0" dirty="0">
                <a:solidFill>
                  <a:srgbClr val="26282D"/>
                </a:solidFill>
                <a:latin typeface="Microsoft YaHei"/>
                <a:ea typeface="Microsoft YaHei"/>
                <a:cs typeface="Microsoft YaHei"/>
              </a:rPr>
              <a:t>：“</a:t>
            </a:r>
            <a:r>
              <a:rPr sz="1800" b="0" dirty="0" err="1">
                <a:solidFill>
                  <a:srgbClr val="26282D"/>
                </a:solidFill>
                <a:latin typeface="Microsoft YaHei"/>
                <a:ea typeface="Microsoft YaHei"/>
                <a:cs typeface="Microsoft YaHei"/>
              </a:rPr>
              <a:t>我需要有关</a:t>
            </a:r>
            <a:r>
              <a:rPr sz="1800" b="0" dirty="0">
                <a:solidFill>
                  <a:srgbClr val="26282D"/>
                </a:solidFill>
                <a:latin typeface="Microsoft YaHei"/>
                <a:ea typeface="Microsoft YaHei"/>
                <a:cs typeface="Microsoft YaHei"/>
              </a:rPr>
              <a:t>……</a:t>
            </a:r>
            <a:r>
              <a:rPr sz="1800" b="0" dirty="0" err="1">
                <a:solidFill>
                  <a:srgbClr val="26282D"/>
                </a:solidFill>
                <a:latin typeface="Microsoft YaHei"/>
                <a:ea typeface="Microsoft YaHei"/>
                <a:cs typeface="Microsoft YaHei"/>
              </a:rPr>
              <a:t>的帮助</a:t>
            </a:r>
            <a:r>
              <a:rPr sz="1800" b="0" dirty="0">
                <a:solidFill>
                  <a:srgbClr val="26282D"/>
                </a:solidFill>
                <a:latin typeface="Microsoft YaHei"/>
                <a:ea typeface="Microsoft YaHei"/>
                <a:cs typeface="Microsoft YaHei"/>
              </a:rPr>
              <a:t>”</a:t>
            </a:r>
          </a:p>
          <a:p>
            <a:pPr algn="l">
              <a:buNone/>
              <a:defRPr sz="1800" b="0">
                <a:solidFill>
                  <a:srgbClr val="26282D"/>
                </a:solidFill>
                <a:latin typeface="Microsoft YaHei"/>
                <a:ea typeface="Microsoft YaHei"/>
                <a:cs typeface="Microsoft YaHei"/>
              </a:defRPr>
            </a:pPr>
            <a:r>
              <a:rPr lang="zh-CN" altLang="en-US" sz="1800" b="0" dirty="0">
                <a:solidFill>
                  <a:srgbClr val="26282D"/>
                </a:solidFill>
                <a:latin typeface="Microsoft YaHei"/>
                <a:ea typeface="Microsoft YaHei"/>
                <a:cs typeface="Microsoft YaHei"/>
              </a:rPr>
              <a:t>触发词</a:t>
            </a:r>
            <a:r>
              <a:rPr sz="1800" b="0" dirty="0">
                <a:solidFill>
                  <a:srgbClr val="26282D"/>
                </a:solidFill>
                <a:latin typeface="Microsoft YaHei"/>
                <a:ea typeface="Microsoft YaHei"/>
                <a:cs typeface="Microsoft YaHei"/>
              </a:rPr>
              <a:t>：</a:t>
            </a:r>
            <a:r>
              <a:rPr sz="1800" b="0" dirty="0" err="1">
                <a:solidFill>
                  <a:srgbClr val="26282D"/>
                </a:solidFill>
                <a:latin typeface="Microsoft YaHei"/>
                <a:ea typeface="Microsoft YaHei"/>
                <a:cs typeface="Microsoft YaHei"/>
              </a:rPr>
              <a:t>每帖放入一个词，如</a:t>
            </a:r>
            <a:r>
              <a:rPr sz="1800" b="0" dirty="0">
                <a:solidFill>
                  <a:srgbClr val="26282D"/>
                </a:solidFill>
                <a:latin typeface="Microsoft YaHei"/>
                <a:ea typeface="Microsoft YaHei"/>
                <a:cs typeface="Microsoft YaHei"/>
              </a:rPr>
              <a:t> </a:t>
            </a:r>
            <a:r>
              <a:rPr sz="1800" b="0" dirty="0" err="1">
                <a:solidFill>
                  <a:srgbClr val="26282D"/>
                </a:solidFill>
                <a:latin typeface="Microsoft YaHei"/>
                <a:ea typeface="Microsoft YaHei"/>
                <a:cs typeface="Microsoft YaHei"/>
              </a:rPr>
              <a:t>metamask</a:t>
            </a:r>
            <a:endParaRPr sz="1800" b="0" dirty="0">
              <a:solidFill>
                <a:srgbClr val="26282D"/>
              </a:solidFill>
              <a:latin typeface="Microsoft YaHei"/>
              <a:ea typeface="Microsoft YaHei"/>
              <a:cs typeface="Microsoft YaHei"/>
            </a:endParaRPr>
          </a:p>
        </p:txBody>
      </p:sp>
      <p:sp>
        <p:nvSpPr>
          <p:cNvPr id="16" name="clarity-text-102">
            <a:extLst>
              <a:ext uri="{FF2B5EF4-FFF2-40B4-BE49-F238E27FC236}">
                <a16:creationId xmlns:a16="http://schemas.microsoft.com/office/drawing/2014/main" id="{B2F0532E-FFAA-4A41-AF27-B6190E209A60}"/>
              </a:ext>
            </a:extLst>
          </p:cNvPr>
          <p:cNvSpPr>
            <a:spLocks noGrp="1"/>
          </p:cNvSpPr>
          <p:nvPr/>
        </p:nvSpPr>
        <p:spPr>
          <a:xfrm>
            <a:off x="6943725" y="3857625"/>
            <a:ext cx="4381500" cy="61912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UNIX 时间戳：以累计秒数记录时刻</a:t>
            </a:r>
          </a:p>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每次发布追加当前值，使诱捕帖子之间有差异</a:t>
            </a:r>
          </a:p>
        </p:txBody>
      </p:sp>
      <p:sp>
        <p:nvSpPr>
          <p:cNvPr id="17" name="content-group-103">
            <a:extLst>
              <a:ext uri="{FF2B5EF4-FFF2-40B4-BE49-F238E27FC236}">
                <a16:creationId xmlns:a16="http://schemas.microsoft.com/office/drawing/2014/main" id="{DD9B5426-EB3D-48BE-8AD9-1AAF454F57E5}"/>
              </a:ext>
            </a:extLst>
          </p:cNvPr>
          <p:cNvSpPr>
            <a:spLocks noGrp="1"/>
          </p:cNvSpPr>
          <p:nvPr/>
        </p:nvSpPr>
        <p:spPr>
          <a:xfrm>
            <a:off x="685800" y="4724400"/>
            <a:ext cx="10820400" cy="1304925"/>
          </a:xfrm>
          <a:prstGeom prst="rect">
            <a:avLst/>
          </a:prstGeom>
          <a:solidFill>
            <a:srgbClr val="EAF3F1"/>
          </a:solidFill>
          <a:ln w="0">
            <a:noFill/>
          </a:ln>
        </p:spPr>
      </p:sp>
      <p:sp>
        <p:nvSpPr>
          <p:cNvPr id="18" name="clarity-text-104">
            <a:extLst>
              <a:ext uri="{FF2B5EF4-FFF2-40B4-BE49-F238E27FC236}">
                <a16:creationId xmlns:a16="http://schemas.microsoft.com/office/drawing/2014/main" id="{3712E2EE-CD80-4480-9D25-3F443C272BFD}"/>
              </a:ext>
            </a:extLst>
          </p:cNvPr>
          <p:cNvSpPr>
            <a:spLocks noGrp="1"/>
          </p:cNvSpPr>
          <p:nvPr/>
        </p:nvSpPr>
        <p:spPr>
          <a:xfrm>
            <a:off x="876300" y="4829175"/>
            <a:ext cx="1714500" cy="40005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defRPr sz="2100" b="1">
                <a:solidFill>
                  <a:srgbClr val="2E746F"/>
                </a:solidFill>
                <a:latin typeface="Microsoft YaHei"/>
                <a:ea typeface="Microsoft YaHei"/>
                <a:cs typeface="Microsoft YaHei"/>
              </a:defRPr>
            </a:pPr>
            <a:r>
              <a:rPr lang="zh-CN" altLang="en-US" sz="2000" b="1" dirty="0">
                <a:solidFill>
                  <a:schemeClr val="accent6">
                    <a:lumMod val="75000"/>
                  </a:schemeClr>
                </a:solidFill>
                <a:latin typeface="Microsoft YaHei"/>
                <a:ea typeface="Microsoft YaHei"/>
              </a:rPr>
              <a:t>数据采集</a:t>
            </a:r>
            <a:endParaRPr sz="2100" b="1" dirty="0">
              <a:solidFill>
                <a:schemeClr val="accent6">
                  <a:lumMod val="75000"/>
                </a:schemeClr>
              </a:solidFill>
              <a:latin typeface="Microsoft YaHei"/>
              <a:ea typeface="Microsoft YaHei"/>
              <a:cs typeface="Microsoft YaHei"/>
            </a:endParaRPr>
          </a:p>
        </p:txBody>
      </p:sp>
      <p:sp>
        <p:nvSpPr>
          <p:cNvPr id="19" name="clarity-text-105">
            <a:extLst>
              <a:ext uri="{FF2B5EF4-FFF2-40B4-BE49-F238E27FC236}">
                <a16:creationId xmlns:a16="http://schemas.microsoft.com/office/drawing/2014/main" id="{742A9C78-20DD-4A27-89D7-860706F3AC62}"/>
              </a:ext>
            </a:extLst>
          </p:cNvPr>
          <p:cNvSpPr>
            <a:spLocks noGrp="1"/>
          </p:cNvSpPr>
          <p:nvPr/>
        </p:nvSpPr>
        <p:spPr>
          <a:xfrm>
            <a:off x="2686050" y="4829175"/>
            <a:ext cx="8610600" cy="6286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sz="1875" b="0" dirty="0">
                <a:solidFill>
                  <a:srgbClr val="26282D"/>
                </a:solidFill>
                <a:latin typeface="Microsoft YaHei"/>
                <a:ea typeface="Microsoft YaHei"/>
                <a:cs typeface="Microsoft YaHei"/>
              </a:rPr>
              <a:t>2024 年 3 月 1–30 </a:t>
            </a:r>
            <a:r>
              <a:rPr sz="1875" b="0" dirty="0" err="1">
                <a:solidFill>
                  <a:srgbClr val="26282D"/>
                </a:solidFill>
                <a:latin typeface="Microsoft YaHei"/>
                <a:ea typeface="Microsoft YaHei"/>
                <a:cs typeface="Microsoft YaHei"/>
              </a:rPr>
              <a:t>日，使用单个受控账户</a:t>
            </a:r>
            <a:r>
              <a:rPr lang="zh-CN" altLang="en-US" sz="1875" dirty="0">
                <a:solidFill>
                  <a:srgbClr val="26282D"/>
                </a:solidFill>
                <a:latin typeface="Microsoft YaHei"/>
                <a:ea typeface="Microsoft YaHei"/>
                <a:cs typeface="Microsoft YaHei"/>
              </a:rPr>
              <a:t>。</a:t>
            </a:r>
            <a:r>
              <a:rPr sz="1875" b="0" dirty="0">
                <a:solidFill>
                  <a:srgbClr val="26282D"/>
                </a:solidFill>
                <a:latin typeface="Microsoft YaHei"/>
                <a:ea typeface="Microsoft YaHei"/>
                <a:cs typeface="Microsoft YaHei"/>
              </a:rPr>
              <a:t>按 12 </a:t>
            </a:r>
            <a:r>
              <a:rPr sz="1875" b="0" dirty="0" err="1">
                <a:solidFill>
                  <a:srgbClr val="26282D"/>
                </a:solidFill>
                <a:latin typeface="Microsoft YaHei"/>
                <a:ea typeface="Microsoft YaHei"/>
                <a:cs typeface="Microsoft YaHei"/>
              </a:rPr>
              <a:t>小时节奏发帖，发帖后等待</a:t>
            </a:r>
            <a:r>
              <a:rPr sz="1875" b="0" dirty="0">
                <a:solidFill>
                  <a:srgbClr val="26282D"/>
                </a:solidFill>
                <a:latin typeface="Microsoft YaHei"/>
                <a:ea typeface="Microsoft YaHei"/>
                <a:cs typeface="Microsoft YaHei"/>
              </a:rPr>
              <a:t> 12 </a:t>
            </a:r>
            <a:r>
              <a:rPr sz="1875" b="0" dirty="0" err="1">
                <a:solidFill>
                  <a:srgbClr val="26282D"/>
                </a:solidFill>
                <a:latin typeface="Microsoft YaHei"/>
                <a:ea typeface="Microsoft YaHei"/>
                <a:cs typeface="Microsoft YaHei"/>
              </a:rPr>
              <a:t>小时抓取回复</a:t>
            </a:r>
            <a:endParaRPr sz="1875" b="0" dirty="0">
              <a:solidFill>
                <a:srgbClr val="26282D"/>
              </a:solidFill>
              <a:latin typeface="Microsoft YaHei"/>
              <a:ea typeface="Microsoft YaHei"/>
              <a:cs typeface="Microsoft YaHei"/>
            </a:endParaRPr>
          </a:p>
        </p:txBody>
      </p:sp>
      <p:sp>
        <p:nvSpPr>
          <p:cNvPr id="20" name="clarity-text-106">
            <a:extLst>
              <a:ext uri="{FF2B5EF4-FFF2-40B4-BE49-F238E27FC236}">
                <a16:creationId xmlns:a16="http://schemas.microsoft.com/office/drawing/2014/main" id="{0D5C1427-32FE-44D0-BCB3-6E98C942DA17}"/>
              </a:ext>
            </a:extLst>
          </p:cNvPr>
          <p:cNvSpPr>
            <a:spLocks noGrp="1"/>
          </p:cNvSpPr>
          <p:nvPr/>
        </p:nvSpPr>
        <p:spPr>
          <a:xfrm>
            <a:off x="876300" y="5591175"/>
            <a:ext cx="10382250" cy="32385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对回复账户补充资料、最近</a:t>
            </a:r>
            <a:r>
              <a:rPr sz="1725" b="0" dirty="0">
                <a:solidFill>
                  <a:srgbClr val="26282D"/>
                </a:solidFill>
                <a:latin typeface="Microsoft YaHei"/>
                <a:ea typeface="Microsoft YaHei"/>
                <a:cs typeface="Microsoft YaHei"/>
              </a:rPr>
              <a:t> 100 </a:t>
            </a:r>
            <a:r>
              <a:rPr sz="1725" b="0" dirty="0" err="1">
                <a:solidFill>
                  <a:srgbClr val="26282D"/>
                </a:solidFill>
                <a:latin typeface="Microsoft YaHei"/>
                <a:ea typeface="Microsoft YaHei"/>
                <a:cs typeface="Microsoft YaHei"/>
              </a:rPr>
              <a:t>条回复及关注关系。每</a:t>
            </a:r>
            <a:r>
              <a:rPr sz="1725" b="0" dirty="0">
                <a:solidFill>
                  <a:srgbClr val="26282D"/>
                </a:solidFill>
                <a:latin typeface="Microsoft YaHei"/>
                <a:ea typeface="Microsoft YaHei"/>
                <a:cs typeface="Microsoft YaHei"/>
              </a:rPr>
              <a:t> 10 </a:t>
            </a:r>
            <a:r>
              <a:rPr sz="1725" b="0" dirty="0" err="1">
                <a:solidFill>
                  <a:srgbClr val="26282D"/>
                </a:solidFill>
                <a:latin typeface="Microsoft YaHei"/>
                <a:ea typeface="Microsoft YaHei"/>
                <a:cs typeface="Microsoft YaHei"/>
              </a:rPr>
              <a:t>天调整发帖时段</a:t>
            </a:r>
            <a:r>
              <a:rPr sz="1725" b="0" dirty="0">
                <a:solidFill>
                  <a:srgbClr val="26282D"/>
                </a:solidFill>
                <a:latin typeface="Microsoft YaHei"/>
                <a:ea typeface="Microsoft YaHei"/>
                <a:cs typeface="Microsoft YaHei"/>
              </a:rPr>
              <a:t>。</a:t>
            </a:r>
          </a:p>
        </p:txBody>
      </p:sp>
      <p:pic>
        <p:nvPicPr>
          <p:cNvPr id="21"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22"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10/33</a:t>
            </a:r>
          </a:p>
        </p:txBody>
      </p:sp>
      <p:sp>
        <p:nvSpPr>
          <p:cNvPr id="23" name="矩形 22">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017921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270">
            <a:extLst>
              <a:ext uri="{FF2B5EF4-FFF2-40B4-BE49-F238E27FC236}">
                <a16:creationId xmlns:a16="http://schemas.microsoft.com/office/drawing/2014/main" id="{6EAE4CBE-33D3-4683-A902-0D84296D5192}"/>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方法原理</a:t>
            </a:r>
            <a:endParaRPr sz="3300" b="1" dirty="0">
              <a:solidFill>
                <a:srgbClr val="A52A36"/>
              </a:solidFill>
              <a:latin typeface="Microsoft YaHei"/>
              <a:ea typeface="Microsoft YaHei"/>
            </a:endParaRPr>
          </a:p>
        </p:txBody>
      </p:sp>
      <p:graphicFrame>
        <p:nvGraphicFramePr>
          <p:cNvPr id="3" name="表格 4">
            <a:extLst>
              <a:ext uri="{FF2B5EF4-FFF2-40B4-BE49-F238E27FC236}">
                <a16:creationId xmlns:a16="http://schemas.microsoft.com/office/drawing/2014/main" id="{A75A92A1-C0AB-4D84-9953-A1E0C0546D0C}"/>
              </a:ext>
            </a:extLst>
          </p:cNvPr>
          <p:cNvGraphicFramePr/>
          <p:nvPr>
            <p:extLst>
              <p:ext uri="{D42A27DB-BD31-4B8C-83A1-F6EECF244321}">
                <p14:modId xmlns:p14="http://schemas.microsoft.com/office/powerpoint/2010/main" val="4004783055"/>
              </p:ext>
            </p:extLst>
          </p:nvPr>
        </p:nvGraphicFramePr>
        <p:xfrm>
          <a:off x="685800" y="2105025"/>
          <a:ext cx="10820400" cy="3311650"/>
        </p:xfrm>
        <a:graphic>
          <a:graphicData uri="http://schemas.openxmlformats.org/drawingml/2006/table">
            <a:tbl>
              <a:tblPr/>
              <a:tblGrid>
                <a:gridCol w="28194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62330">
                <a:tc>
                  <a:txBody>
                    <a:bodyPr/>
                    <a:lstStyle/>
                    <a:p>
                      <a:pPr algn="l">
                        <a:lnSpc>
                          <a:spcPct val="100000"/>
                        </a:lnSpc>
                        <a:buNone/>
                      </a:pPr>
                      <a:r>
                        <a:rPr sz="2025" b="1" dirty="0" err="1">
                          <a:solidFill>
                            <a:srgbClr val="FFFFFF"/>
                          </a:solidFill>
                          <a:latin typeface="Microsoft YaHei"/>
                          <a:ea typeface="Microsoft YaHei"/>
                          <a:cs typeface="Microsoft YaHei"/>
                        </a:rPr>
                        <a:t>活动</a:t>
                      </a:r>
                      <a:r>
                        <a:rPr lang="zh-CN" altLang="en-US" sz="2025" b="1" dirty="0">
                          <a:solidFill>
                            <a:srgbClr val="FFFFFF"/>
                          </a:solidFill>
                          <a:latin typeface="Microsoft YaHei"/>
                          <a:ea typeface="Microsoft YaHei"/>
                          <a:cs typeface="Microsoft YaHei"/>
                        </a:rPr>
                        <a:t>类型</a:t>
                      </a:r>
                      <a:endParaRPr sz="2025" b="1" dirty="0">
                        <a:solidFill>
                          <a:srgbClr val="FFFFFF"/>
                        </a:solidFill>
                        <a:latin typeface="Microsoft YaHei"/>
                        <a:ea typeface="Microsoft YaHei"/>
                        <a:cs typeface="Microsoft YaHei"/>
                      </a:endParaRPr>
                    </a:p>
                  </a:txBody>
                  <a:tcPr marL="114300" marR="114300" marT="0" marB="0" anchor="ctr">
                    <a:solidFill>
                      <a:srgbClr val="982D35"/>
                    </a:solidFill>
                  </a:tcPr>
                </a:tc>
                <a:tc>
                  <a:txBody>
                    <a:bodyPr/>
                    <a:lstStyle/>
                    <a:p>
                      <a:pPr algn="ctr">
                        <a:lnSpc>
                          <a:spcPct val="100000"/>
                        </a:lnSpc>
                        <a:buNone/>
                      </a:pPr>
                      <a:r>
                        <a:rPr sz="2025" b="1">
                          <a:solidFill>
                            <a:srgbClr val="FFFFFF"/>
                          </a:solidFill>
                          <a:latin typeface="Microsoft YaHei"/>
                          <a:ea typeface="Microsoft YaHei"/>
                          <a:cs typeface="Microsoft YaHei"/>
                        </a:rPr>
                        <a:t>触发关键词</a:t>
                      </a:r>
                    </a:p>
                  </a:txBody>
                  <a:tcPr marL="114300" marR="114300" marT="0" marB="0" anchor="ctr">
                    <a:solidFill>
                      <a:srgbClr val="982D35"/>
                    </a:solidFill>
                  </a:tcPr>
                </a:tc>
                <a:extLst>
                  <a:ext uri="{0D108BD9-81ED-4DB2-BD59-A6C34878D82A}">
                    <a16:rowId xmlns:a16="http://schemas.microsoft.com/office/drawing/2014/main" val="10000"/>
                  </a:ext>
                </a:extLst>
              </a:tr>
              <a:tr h="662330">
                <a:tc>
                  <a:txBody>
                    <a:bodyPr/>
                    <a:lstStyle/>
                    <a:p>
                      <a:pPr algn="l">
                        <a:lnSpc>
                          <a:spcPct val="100000"/>
                        </a:lnSpc>
                        <a:buNone/>
                      </a:pPr>
                      <a:r>
                        <a:rPr lang="zh-CN" altLang="en-US" sz="2025" b="0" dirty="0">
                          <a:solidFill>
                            <a:srgbClr val="26282D"/>
                          </a:solidFill>
                          <a:latin typeface="Microsoft YaHei"/>
                          <a:ea typeface="Microsoft YaHei"/>
                          <a:cs typeface="Microsoft YaHei"/>
                        </a:rPr>
                        <a:t>类别一：</a:t>
                      </a:r>
                      <a:r>
                        <a:rPr sz="2025" b="0" dirty="0" err="1">
                          <a:solidFill>
                            <a:srgbClr val="26282D"/>
                          </a:solidFill>
                          <a:latin typeface="Microsoft YaHei"/>
                          <a:ea typeface="Microsoft YaHei"/>
                          <a:cs typeface="Microsoft YaHei"/>
                        </a:rPr>
                        <a:t>欺骗性客服</a:t>
                      </a:r>
                      <a:endParaRPr sz="2025" b="0" dirty="0">
                        <a:solidFill>
                          <a:srgbClr val="26282D"/>
                        </a:solidFill>
                        <a:latin typeface="Microsoft YaHei"/>
                        <a:ea typeface="Microsoft YaHei"/>
                        <a:cs typeface="Microsoft YaHei"/>
                      </a:endParaRPr>
                    </a:p>
                  </a:txBody>
                  <a:tcPr marL="114300" marR="114300" marT="0" marB="0" anchor="ctr">
                    <a:solidFill>
                      <a:srgbClr val="FFFFFF"/>
                    </a:solidFill>
                  </a:tcPr>
                </a:tc>
                <a:tc>
                  <a:txBody>
                    <a:bodyPr/>
                    <a:lstStyle/>
                    <a:p>
                      <a:pPr algn="ctr">
                        <a:lnSpc>
                          <a:spcPct val="100000"/>
                        </a:lnSpc>
                        <a:buNone/>
                      </a:pPr>
                      <a:r>
                        <a:rPr sz="2025" b="0">
                          <a:solidFill>
                            <a:srgbClr val="26282D"/>
                          </a:solidFill>
                          <a:latin typeface="Microsoft YaHei"/>
                          <a:ea typeface="Microsoft YaHei"/>
                          <a:cs typeface="Microsoft YaHei"/>
                        </a:rPr>
                        <a:t>metamask · trustwallet · hacked</a:t>
                      </a:r>
                    </a:p>
                  </a:txBody>
                  <a:tcPr marL="114300" marR="114300" marT="0" marB="0" anchor="ctr">
                    <a:solidFill>
                      <a:srgbClr val="FFFFFF"/>
                    </a:solidFill>
                  </a:tcPr>
                </a:tc>
                <a:extLst>
                  <a:ext uri="{0D108BD9-81ED-4DB2-BD59-A6C34878D82A}">
                    <a16:rowId xmlns:a16="http://schemas.microsoft.com/office/drawing/2014/main" val="10001"/>
                  </a:ext>
                </a:extLst>
              </a:tr>
              <a:tr h="662330">
                <a:tc>
                  <a:txBody>
                    <a:bodyPr/>
                    <a:lstStyle/>
                    <a:p>
                      <a:pPr algn="l">
                        <a:lnSpc>
                          <a:spcPct val="100000"/>
                        </a:lnSpc>
                        <a:buNone/>
                      </a:pPr>
                      <a:r>
                        <a:rPr lang="zh-CN" altLang="en-US" sz="2025" b="0" dirty="0">
                          <a:solidFill>
                            <a:srgbClr val="26282D"/>
                          </a:solidFill>
                          <a:latin typeface="Microsoft YaHei"/>
                          <a:ea typeface="Microsoft YaHei"/>
                          <a:cs typeface="Microsoft YaHei"/>
                        </a:rPr>
                        <a:t>类别二：</a:t>
                      </a:r>
                      <a:r>
                        <a:rPr sz="2025" b="0" dirty="0" err="1">
                          <a:solidFill>
                            <a:srgbClr val="26282D"/>
                          </a:solidFill>
                          <a:latin typeface="Microsoft YaHei"/>
                          <a:ea typeface="Microsoft YaHei"/>
                          <a:cs typeface="Microsoft YaHei"/>
                        </a:rPr>
                        <a:t>非法产品</a:t>
                      </a:r>
                      <a:endParaRPr sz="2025" b="0" dirty="0">
                        <a:solidFill>
                          <a:srgbClr val="26282D"/>
                        </a:solidFill>
                        <a:latin typeface="Microsoft YaHei"/>
                        <a:ea typeface="Microsoft YaHei"/>
                        <a:cs typeface="Microsoft YaHei"/>
                      </a:endParaRPr>
                    </a:p>
                  </a:txBody>
                  <a:tcPr marL="114300" marR="114300" marT="0" marB="0" anchor="ctr">
                    <a:solidFill>
                      <a:srgbClr val="FFFFFF"/>
                    </a:solidFill>
                  </a:tcPr>
                </a:tc>
                <a:tc>
                  <a:txBody>
                    <a:bodyPr/>
                    <a:lstStyle/>
                    <a:p>
                      <a:pPr algn="ctr">
                        <a:lnSpc>
                          <a:spcPct val="100000"/>
                        </a:lnSpc>
                        <a:buNone/>
                      </a:pPr>
                      <a:r>
                        <a:rPr sz="2025" b="0">
                          <a:solidFill>
                            <a:srgbClr val="26282D"/>
                          </a:solidFill>
                          <a:latin typeface="Microsoft YaHei"/>
                          <a:ea typeface="Microsoft YaHei"/>
                          <a:cs typeface="Microsoft YaHei"/>
                        </a:rPr>
                        <a:t>IPTV · shrooms</a:t>
                      </a:r>
                    </a:p>
                  </a:txBody>
                  <a:tcPr marL="114300" marR="114300" marT="0" marB="0" anchor="ctr">
                    <a:solidFill>
                      <a:srgbClr val="FFFFFF"/>
                    </a:solidFill>
                  </a:tcPr>
                </a:tc>
                <a:extLst>
                  <a:ext uri="{0D108BD9-81ED-4DB2-BD59-A6C34878D82A}">
                    <a16:rowId xmlns:a16="http://schemas.microsoft.com/office/drawing/2014/main" val="10002"/>
                  </a:ext>
                </a:extLst>
              </a:tr>
              <a:tr h="662330">
                <a:tc>
                  <a:txBody>
                    <a:bodyPr/>
                    <a:lstStyle/>
                    <a:p>
                      <a:pPr algn="l">
                        <a:lnSpc>
                          <a:spcPct val="100000"/>
                        </a:lnSpc>
                        <a:buNone/>
                      </a:pPr>
                      <a:r>
                        <a:rPr lang="zh-CN" altLang="en-US" sz="2025" b="0" dirty="0">
                          <a:solidFill>
                            <a:srgbClr val="26282D"/>
                          </a:solidFill>
                          <a:latin typeface="Microsoft YaHei"/>
                          <a:ea typeface="Microsoft YaHei"/>
                          <a:cs typeface="Microsoft YaHei"/>
                        </a:rPr>
                        <a:t>类别三：</a:t>
                      </a:r>
                      <a:r>
                        <a:rPr sz="2025" b="0" dirty="0" err="1">
                          <a:solidFill>
                            <a:srgbClr val="26282D"/>
                          </a:solidFill>
                          <a:latin typeface="Microsoft YaHei"/>
                          <a:ea typeface="Microsoft YaHei"/>
                          <a:cs typeface="Microsoft YaHei"/>
                        </a:rPr>
                        <a:t>误导性赠奖</a:t>
                      </a:r>
                      <a:endParaRPr sz="2025" b="0" dirty="0">
                        <a:solidFill>
                          <a:srgbClr val="26282D"/>
                        </a:solidFill>
                        <a:latin typeface="Microsoft YaHei"/>
                        <a:ea typeface="Microsoft YaHei"/>
                        <a:cs typeface="Microsoft YaHei"/>
                      </a:endParaRPr>
                    </a:p>
                  </a:txBody>
                  <a:tcPr marL="114300" marR="114300" marT="0" marB="0" anchor="ctr">
                    <a:solidFill>
                      <a:srgbClr val="FFFFFF"/>
                    </a:solidFill>
                  </a:tcPr>
                </a:tc>
                <a:tc>
                  <a:txBody>
                    <a:bodyPr/>
                    <a:lstStyle/>
                    <a:p>
                      <a:pPr algn="ctr">
                        <a:lnSpc>
                          <a:spcPct val="100000"/>
                        </a:lnSpc>
                        <a:buNone/>
                      </a:pPr>
                      <a:r>
                        <a:rPr sz="2025" b="0">
                          <a:solidFill>
                            <a:srgbClr val="26282D"/>
                          </a:solidFill>
                          <a:latin typeface="Microsoft YaHei"/>
                          <a:ea typeface="Microsoft YaHei"/>
                          <a:cs typeface="Microsoft YaHei"/>
                        </a:rPr>
                        <a:t>cashapp · sugar daddy</a:t>
                      </a:r>
                    </a:p>
                  </a:txBody>
                  <a:tcPr marL="114300" marR="114300" marT="0" marB="0" anchor="ctr">
                    <a:solidFill>
                      <a:srgbClr val="FFFFFF"/>
                    </a:solidFill>
                  </a:tcPr>
                </a:tc>
                <a:extLst>
                  <a:ext uri="{0D108BD9-81ED-4DB2-BD59-A6C34878D82A}">
                    <a16:rowId xmlns:a16="http://schemas.microsoft.com/office/drawing/2014/main" val="10003"/>
                  </a:ext>
                </a:extLst>
              </a:tr>
              <a:tr h="662330">
                <a:tc>
                  <a:txBody>
                    <a:bodyPr/>
                    <a:lstStyle/>
                    <a:p>
                      <a:pPr algn="l">
                        <a:lnSpc>
                          <a:spcPct val="100000"/>
                        </a:lnSpc>
                        <a:buNone/>
                      </a:pPr>
                      <a:r>
                        <a:rPr lang="zh-CN" altLang="en-US" sz="2025" b="1" dirty="0">
                          <a:solidFill>
                            <a:srgbClr val="982D35"/>
                          </a:solidFill>
                          <a:latin typeface="Microsoft YaHei"/>
                          <a:ea typeface="Microsoft YaHei"/>
                          <a:cs typeface="Microsoft YaHei"/>
                        </a:rPr>
                        <a:t>类型四：</a:t>
                      </a:r>
                      <a:r>
                        <a:rPr sz="2025" b="1" dirty="0" err="1">
                          <a:solidFill>
                            <a:srgbClr val="982D35"/>
                          </a:solidFill>
                          <a:latin typeface="Microsoft YaHei"/>
                          <a:ea typeface="Microsoft YaHei"/>
                          <a:cs typeface="Microsoft YaHei"/>
                        </a:rPr>
                        <a:t>良性服务</a:t>
                      </a:r>
                      <a:endParaRPr sz="2025" b="1" dirty="0">
                        <a:solidFill>
                          <a:srgbClr val="982D35"/>
                        </a:solidFill>
                        <a:latin typeface="Microsoft YaHei"/>
                        <a:ea typeface="Microsoft YaHei"/>
                        <a:cs typeface="Microsoft YaHei"/>
                      </a:endParaRPr>
                    </a:p>
                  </a:txBody>
                  <a:tcPr marL="114300" marR="114300" marT="0" marB="0" anchor="ctr">
                    <a:solidFill>
                      <a:srgbClr val="F7EBEB"/>
                    </a:solidFill>
                  </a:tcPr>
                </a:tc>
                <a:tc>
                  <a:txBody>
                    <a:bodyPr/>
                    <a:lstStyle/>
                    <a:p>
                      <a:pPr algn="ctr">
                        <a:lnSpc>
                          <a:spcPct val="100000"/>
                        </a:lnSpc>
                        <a:buNone/>
                      </a:pPr>
                      <a:r>
                        <a:rPr sz="2025" b="1" dirty="0">
                          <a:solidFill>
                            <a:srgbClr val="982D35"/>
                          </a:solidFill>
                          <a:latin typeface="Microsoft YaHei"/>
                          <a:ea typeface="Microsoft YaHei"/>
                          <a:cs typeface="Microsoft YaHei"/>
                        </a:rPr>
                        <a:t>logo · graphic designer · essay</a:t>
                      </a:r>
                    </a:p>
                  </a:txBody>
                  <a:tcPr marL="114300" marR="114300" marT="0" marB="0" anchor="ctr">
                    <a:solidFill>
                      <a:srgbClr val="F7EBEB"/>
                    </a:solidFill>
                  </a:tcPr>
                </a:tc>
                <a:extLst>
                  <a:ext uri="{0D108BD9-81ED-4DB2-BD59-A6C34878D82A}">
                    <a16:rowId xmlns:a16="http://schemas.microsoft.com/office/drawing/2014/main" val="10004"/>
                  </a:ext>
                </a:extLst>
              </a:tr>
            </a:tbl>
          </a:graphicData>
        </a:graphic>
      </p:graphicFrame>
      <p:sp>
        <p:nvSpPr>
          <p:cNvPr id="4" name="clarity-text-342">
            <a:extLst>
              <a:ext uri="{FF2B5EF4-FFF2-40B4-BE49-F238E27FC236}">
                <a16:creationId xmlns:a16="http://schemas.microsoft.com/office/drawing/2014/main" id="{9599E132-A91F-40D1-8435-6165159E0A8F}"/>
              </a:ext>
            </a:extLst>
          </p:cNvPr>
          <p:cNvSpPr>
            <a:spLocks noGrp="1"/>
          </p:cNvSpPr>
          <p:nvPr/>
        </p:nvSpPr>
        <p:spPr>
          <a:xfrm>
            <a:off x="685800" y="1235774"/>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err="1">
                <a:solidFill>
                  <a:srgbClr val="A52A36"/>
                </a:solidFill>
                <a:latin typeface="Microsoft YaHei"/>
                <a:ea typeface="Microsoft YaHei"/>
              </a:rPr>
              <a:t>关键词列表</a:t>
            </a:r>
            <a:endParaRPr sz="2400" b="1" dirty="0">
              <a:solidFill>
                <a:srgbClr val="A52A36"/>
              </a:solidFill>
              <a:latin typeface="Microsoft YaHei"/>
              <a:ea typeface="Microsoft YaHei"/>
            </a:endParaRPr>
          </a:p>
        </p:txBody>
      </p:sp>
      <p:sp>
        <p:nvSpPr>
          <p:cNvPr id="5" name="clarity-text-343">
            <a:extLst>
              <a:ext uri="{FF2B5EF4-FFF2-40B4-BE49-F238E27FC236}">
                <a16:creationId xmlns:a16="http://schemas.microsoft.com/office/drawing/2014/main" id="{22E1C85D-F0F1-4BFF-A5FD-2DAA722483BC}"/>
              </a:ext>
            </a:extLst>
          </p:cNvPr>
          <p:cNvSpPr>
            <a:spLocks noGrp="1"/>
          </p:cNvSpPr>
          <p:nvPr/>
        </p:nvSpPr>
        <p:spPr>
          <a:xfrm>
            <a:off x="685800" y="1685925"/>
            <a:ext cx="10820400" cy="333375"/>
          </a:xfrm>
          <a:prstGeom prst="rect">
            <a:avLst/>
          </a:prstGeom>
          <a:noFill/>
          <a:ln w="0">
            <a:noFill/>
          </a:ln>
        </p:spPr>
        <p:txBody>
          <a:bodyPr wrap="square" lIns="0" tIns="0" rIns="0" bIns="0" anchor="t">
            <a:noAutofit/>
          </a:bodyPr>
          <a:lstStyle>
            <a:defPPr algn="l">
              <a:defRPr sz="1800" b="1">
                <a:solidFill>
                  <a:srgbClr val="9F2934"/>
                </a:solidFill>
                <a:latin typeface="Microsoft YaHei"/>
                <a:ea typeface="Microsoft YaHei"/>
                <a:cs typeface="Microsoft YaHei"/>
              </a:defRPr>
            </a:defPPr>
          </a:lstStyle>
          <a:p>
            <a:pPr algn="l">
              <a:buNone/>
              <a:defRPr sz="1800" b="1">
                <a:solidFill>
                  <a:srgbClr val="9F2934"/>
                </a:solidFill>
                <a:latin typeface="Microsoft YaHei"/>
                <a:ea typeface="Microsoft YaHei"/>
                <a:cs typeface="Microsoft YaHei"/>
              </a:defRPr>
            </a:pPr>
            <a:r>
              <a:rPr lang="zh-CN" altLang="en-US" sz="1800" b="1" dirty="0">
                <a:latin typeface="Microsoft YaHei"/>
                <a:ea typeface="Microsoft YaHei"/>
                <a:cs typeface="Microsoft YaHei"/>
              </a:rPr>
              <a:t>论文使用了</a:t>
            </a:r>
            <a:r>
              <a:rPr sz="1800" b="1" dirty="0">
                <a:latin typeface="Microsoft YaHei"/>
                <a:ea typeface="Microsoft YaHei"/>
                <a:cs typeface="Microsoft YaHei"/>
              </a:rPr>
              <a:t>10 个</a:t>
            </a:r>
            <a:r>
              <a:rPr lang="zh-CN" altLang="en-US" sz="1800" b="1" dirty="0">
                <a:latin typeface="Microsoft YaHei"/>
                <a:ea typeface="Microsoft YaHei"/>
                <a:cs typeface="Microsoft YaHei"/>
              </a:rPr>
              <a:t>触发词</a:t>
            </a:r>
            <a:r>
              <a:rPr sz="1800" b="1" dirty="0">
                <a:latin typeface="Microsoft YaHei"/>
                <a:ea typeface="Microsoft YaHei"/>
                <a:cs typeface="Microsoft YaHei"/>
              </a:rPr>
              <a:t>，</a:t>
            </a:r>
            <a:r>
              <a:rPr sz="1800" b="1" dirty="0" err="1">
                <a:latin typeface="Microsoft YaHei"/>
                <a:ea typeface="Microsoft YaHei"/>
                <a:cs typeface="Microsoft YaHei"/>
              </a:rPr>
              <a:t>对应四类活动</a:t>
            </a:r>
            <a:r>
              <a:rPr sz="1800" b="1" dirty="0">
                <a:latin typeface="Microsoft YaHei"/>
                <a:ea typeface="Microsoft YaHei"/>
                <a:cs typeface="Microsoft YaHei"/>
              </a:rPr>
              <a:t>。</a:t>
            </a:r>
          </a:p>
        </p:txBody>
      </p:sp>
      <p:pic>
        <p:nvPicPr>
          <p:cNvPr id="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11/33</a:t>
            </a:r>
          </a:p>
        </p:txBody>
      </p:sp>
      <p:sp>
        <p:nvSpPr>
          <p:cNvPr id="8" name="矩形 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779233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89">
            <a:extLst>
              <a:ext uri="{FF2B5EF4-FFF2-40B4-BE49-F238E27FC236}">
                <a16:creationId xmlns:a16="http://schemas.microsoft.com/office/drawing/2014/main" id="{6118E963-E144-4D07-B4A8-F9C59C80E274}"/>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方法原理</a:t>
            </a:r>
            <a:endParaRPr sz="3300" b="1" dirty="0">
              <a:solidFill>
                <a:srgbClr val="A52A36"/>
              </a:solidFill>
              <a:latin typeface="Microsoft YaHei"/>
              <a:ea typeface="Microsoft YaHei"/>
            </a:endParaRPr>
          </a:p>
        </p:txBody>
      </p:sp>
      <p:sp>
        <p:nvSpPr>
          <p:cNvPr id="3" name="evidence-text-45">
            <a:extLst>
              <a:ext uri="{FF2B5EF4-FFF2-40B4-BE49-F238E27FC236}">
                <a16:creationId xmlns:a16="http://schemas.microsoft.com/office/drawing/2014/main" id="{99FF2D9A-09AE-45BE-950F-4AB2A3F4816C}"/>
              </a:ext>
            </a:extLst>
          </p:cNvPr>
          <p:cNvSpPr>
            <a:spLocks noGrp="1"/>
          </p:cNvSpPr>
          <p:nvPr/>
        </p:nvSpPr>
        <p:spPr>
          <a:xfrm>
            <a:off x="634594" y="1347787"/>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err="1">
                <a:solidFill>
                  <a:srgbClr val="A52A36"/>
                </a:solidFill>
                <a:latin typeface="Microsoft YaHei"/>
                <a:ea typeface="Microsoft YaHei"/>
              </a:rPr>
              <a:t>机器人与人工账户的标注流程</a:t>
            </a:r>
            <a:endParaRPr sz="2400" b="1" dirty="0">
              <a:solidFill>
                <a:srgbClr val="A52A36"/>
              </a:solidFill>
              <a:latin typeface="Microsoft YaHei"/>
              <a:ea typeface="Microsoft YaHei"/>
            </a:endParaRPr>
          </a:p>
        </p:txBody>
      </p:sp>
      <p:pic>
        <p:nvPicPr>
          <p:cNvPr id="4"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5"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12/33</a:t>
            </a:r>
          </a:p>
        </p:txBody>
      </p:sp>
      <p:sp>
        <p:nvSpPr>
          <p:cNvPr id="6" name="rewritten-p12-20"/>
          <p:cNvSpPr txBox="1"/>
          <p:nvPr/>
        </p:nvSpPr>
        <p:spPr>
          <a:xfrm>
            <a:off x="685800" y="1847850"/>
            <a:ext cx="666750" cy="457200"/>
          </a:xfrm>
          <a:prstGeom prst="rect">
            <a:avLst/>
          </a:prstGeom>
          <a:noFill/>
        </p:spPr>
        <p:txBody>
          <a:bodyPr wrap="square" lIns="0" tIns="0" rIns="0" bIns="0"/>
          <a:lstStyle/>
          <a:p>
            <a:r>
              <a:rPr lang="zh-CN" sz="3000" b="1">
                <a:solidFill>
                  <a:srgbClr val="A52A36"/>
                </a:solidFill>
                <a:latin typeface="Microsoft YaHei"/>
                <a:ea typeface="Microsoft YaHei"/>
              </a:rPr>
              <a:t>01</a:t>
            </a:r>
          </a:p>
        </p:txBody>
      </p:sp>
      <p:sp>
        <p:nvSpPr>
          <p:cNvPr id="7" name="rewritten-p12-21"/>
          <p:cNvSpPr txBox="1"/>
          <p:nvPr/>
        </p:nvSpPr>
        <p:spPr>
          <a:xfrm>
            <a:off x="1476375" y="1857375"/>
            <a:ext cx="9810750" cy="419100"/>
          </a:xfrm>
          <a:prstGeom prst="rect">
            <a:avLst/>
          </a:prstGeom>
          <a:noFill/>
        </p:spPr>
        <p:txBody>
          <a:bodyPr wrap="square" lIns="0" tIns="0" rIns="0" bIns="0"/>
          <a:lstStyle/>
          <a:p>
            <a:r>
              <a:rPr lang="zh-CN" sz="2400" b="1" dirty="0">
                <a:solidFill>
                  <a:srgbClr val="A52A36"/>
                </a:solidFill>
                <a:latin typeface="Microsoft YaHei"/>
                <a:ea typeface="Microsoft YaHei"/>
              </a:rPr>
              <a:t>整理待标注账户</a:t>
            </a:r>
          </a:p>
        </p:txBody>
      </p:sp>
      <p:sp>
        <p:nvSpPr>
          <p:cNvPr id="8" name="rewritten-p12-22"/>
          <p:cNvSpPr txBox="1"/>
          <p:nvPr/>
        </p:nvSpPr>
        <p:spPr>
          <a:xfrm>
            <a:off x="1476375" y="2295525"/>
            <a:ext cx="9810750" cy="361950"/>
          </a:xfrm>
          <a:prstGeom prst="rect">
            <a:avLst/>
          </a:prstGeom>
          <a:noFill/>
        </p:spPr>
        <p:txBody>
          <a:bodyPr wrap="square" lIns="0" tIns="0" rIns="0" bIns="0"/>
          <a:lstStyle/>
          <a:p>
            <a:r>
              <a:rPr lang="zh-CN" sz="1900" b="0">
                <a:solidFill>
                  <a:srgbClr val="333333"/>
                </a:solidFill>
                <a:latin typeface="Microsoft YaHei"/>
                <a:ea typeface="Microsoft YaHei"/>
              </a:rPr>
              <a:t>准备仍活跃账户的诱捕回复与近期回复记录</a:t>
            </a:r>
          </a:p>
        </p:txBody>
      </p:sp>
      <p:sp>
        <p:nvSpPr>
          <p:cNvPr id="9" name="rewritten-p12-23"/>
          <p:cNvSpPr txBox="1"/>
          <p:nvPr/>
        </p:nvSpPr>
        <p:spPr>
          <a:xfrm>
            <a:off x="685800" y="2876550"/>
            <a:ext cx="666750" cy="457200"/>
          </a:xfrm>
          <a:prstGeom prst="rect">
            <a:avLst/>
          </a:prstGeom>
          <a:noFill/>
        </p:spPr>
        <p:txBody>
          <a:bodyPr wrap="square" lIns="0" tIns="0" rIns="0" bIns="0"/>
          <a:lstStyle/>
          <a:p>
            <a:r>
              <a:rPr lang="zh-CN" sz="3000" b="1">
                <a:solidFill>
                  <a:srgbClr val="A52A36"/>
                </a:solidFill>
                <a:latin typeface="Microsoft YaHei"/>
                <a:ea typeface="Microsoft YaHei"/>
              </a:rPr>
              <a:t>02</a:t>
            </a:r>
          </a:p>
        </p:txBody>
      </p:sp>
      <p:sp>
        <p:nvSpPr>
          <p:cNvPr id="10" name="rewritten-p12-24"/>
          <p:cNvSpPr txBox="1"/>
          <p:nvPr/>
        </p:nvSpPr>
        <p:spPr>
          <a:xfrm>
            <a:off x="1476375" y="2886075"/>
            <a:ext cx="9810750" cy="419100"/>
          </a:xfrm>
          <a:prstGeom prst="rect">
            <a:avLst/>
          </a:prstGeom>
          <a:noFill/>
        </p:spPr>
        <p:txBody>
          <a:bodyPr wrap="square" lIns="0" tIns="0" rIns="0" bIns="0"/>
          <a:lstStyle/>
          <a:p>
            <a:r>
              <a:rPr lang="zh-CN" sz="2400" b="1">
                <a:solidFill>
                  <a:srgbClr val="A52A36"/>
                </a:solidFill>
                <a:latin typeface="Microsoft YaHei"/>
                <a:ea typeface="Microsoft YaHei"/>
              </a:rPr>
              <a:t>明确机器人定义与判断依据</a:t>
            </a:r>
          </a:p>
        </p:txBody>
      </p:sp>
      <p:sp>
        <p:nvSpPr>
          <p:cNvPr id="11" name="rewritten-p12-25"/>
          <p:cNvSpPr txBox="1"/>
          <p:nvPr/>
        </p:nvSpPr>
        <p:spPr>
          <a:xfrm>
            <a:off x="1476375" y="3324225"/>
            <a:ext cx="9810750" cy="361950"/>
          </a:xfrm>
          <a:prstGeom prst="rect">
            <a:avLst/>
          </a:prstGeom>
          <a:noFill/>
        </p:spPr>
        <p:txBody>
          <a:bodyPr wrap="square" lIns="0" tIns="0" rIns="0" bIns="0"/>
          <a:lstStyle/>
          <a:p>
            <a:r>
              <a:rPr lang="zh-CN" sz="1900" b="0">
                <a:solidFill>
                  <a:srgbClr val="333333"/>
                </a:solidFill>
                <a:latin typeface="Microsoft YaHei"/>
                <a:ea typeface="Microsoft YaHei"/>
              </a:rPr>
              <a:t>结合回复内容和行为模式，识别自动化迹象</a:t>
            </a:r>
          </a:p>
        </p:txBody>
      </p:sp>
      <p:sp>
        <p:nvSpPr>
          <p:cNvPr id="12" name="rewritten-p12-26"/>
          <p:cNvSpPr txBox="1"/>
          <p:nvPr/>
        </p:nvSpPr>
        <p:spPr>
          <a:xfrm>
            <a:off x="685800" y="3905250"/>
            <a:ext cx="666750" cy="457200"/>
          </a:xfrm>
          <a:prstGeom prst="rect">
            <a:avLst/>
          </a:prstGeom>
          <a:noFill/>
        </p:spPr>
        <p:txBody>
          <a:bodyPr wrap="square" lIns="0" tIns="0" rIns="0" bIns="0"/>
          <a:lstStyle/>
          <a:p>
            <a:r>
              <a:rPr lang="zh-CN" sz="3000" b="1">
                <a:solidFill>
                  <a:srgbClr val="A52A36"/>
                </a:solidFill>
                <a:latin typeface="Microsoft YaHei"/>
                <a:ea typeface="Microsoft YaHei"/>
              </a:rPr>
              <a:t>03</a:t>
            </a:r>
          </a:p>
        </p:txBody>
      </p:sp>
      <p:sp>
        <p:nvSpPr>
          <p:cNvPr id="13" name="rewritten-p12-27"/>
          <p:cNvSpPr txBox="1"/>
          <p:nvPr/>
        </p:nvSpPr>
        <p:spPr>
          <a:xfrm>
            <a:off x="1476375" y="3914775"/>
            <a:ext cx="9810750" cy="419100"/>
          </a:xfrm>
          <a:prstGeom prst="rect">
            <a:avLst/>
          </a:prstGeom>
          <a:noFill/>
        </p:spPr>
        <p:txBody>
          <a:bodyPr wrap="square" lIns="0" tIns="0" rIns="0" bIns="0"/>
          <a:lstStyle/>
          <a:p>
            <a:r>
              <a:rPr lang="zh-CN" sz="2400" b="1">
                <a:solidFill>
                  <a:srgbClr val="A52A36"/>
                </a:solidFill>
                <a:latin typeface="Microsoft YaHei"/>
                <a:ea typeface="Microsoft YaHei"/>
              </a:rPr>
              <a:t>三名标注者独立判定</a:t>
            </a:r>
          </a:p>
        </p:txBody>
      </p:sp>
      <p:sp>
        <p:nvSpPr>
          <p:cNvPr id="14" name="rewritten-p12-28"/>
          <p:cNvSpPr txBox="1"/>
          <p:nvPr/>
        </p:nvSpPr>
        <p:spPr>
          <a:xfrm>
            <a:off x="1476375" y="4352925"/>
            <a:ext cx="9810750" cy="361950"/>
          </a:xfrm>
          <a:prstGeom prst="rect">
            <a:avLst/>
          </a:prstGeom>
          <a:noFill/>
        </p:spPr>
        <p:txBody>
          <a:bodyPr wrap="square" lIns="0" tIns="0" rIns="0" bIns="0"/>
          <a:lstStyle/>
          <a:p>
            <a:r>
              <a:rPr lang="zh-CN" sz="1900" b="0">
                <a:solidFill>
                  <a:srgbClr val="333333"/>
                </a:solidFill>
                <a:latin typeface="Microsoft YaHei"/>
                <a:ea typeface="Microsoft YaHei"/>
              </a:rPr>
              <a:t>逐个账户给出“机器人”或“人工账户”标签</a:t>
            </a:r>
          </a:p>
        </p:txBody>
      </p:sp>
      <p:sp>
        <p:nvSpPr>
          <p:cNvPr id="15" name="rewritten-p12-29"/>
          <p:cNvSpPr txBox="1"/>
          <p:nvPr/>
        </p:nvSpPr>
        <p:spPr>
          <a:xfrm>
            <a:off x="685800" y="4933950"/>
            <a:ext cx="666750" cy="457200"/>
          </a:xfrm>
          <a:prstGeom prst="rect">
            <a:avLst/>
          </a:prstGeom>
          <a:noFill/>
        </p:spPr>
        <p:txBody>
          <a:bodyPr wrap="square" lIns="0" tIns="0" rIns="0" bIns="0"/>
          <a:lstStyle/>
          <a:p>
            <a:r>
              <a:rPr lang="zh-CN" sz="3000" b="1">
                <a:solidFill>
                  <a:srgbClr val="A52A36"/>
                </a:solidFill>
                <a:latin typeface="Microsoft YaHei"/>
                <a:ea typeface="Microsoft YaHei"/>
              </a:rPr>
              <a:t>04</a:t>
            </a:r>
          </a:p>
        </p:txBody>
      </p:sp>
      <p:sp>
        <p:nvSpPr>
          <p:cNvPr id="16" name="rewritten-p12-30"/>
          <p:cNvSpPr txBox="1"/>
          <p:nvPr/>
        </p:nvSpPr>
        <p:spPr>
          <a:xfrm>
            <a:off x="1476375" y="4943475"/>
            <a:ext cx="9810750" cy="419100"/>
          </a:xfrm>
          <a:prstGeom prst="rect">
            <a:avLst/>
          </a:prstGeom>
          <a:noFill/>
        </p:spPr>
        <p:txBody>
          <a:bodyPr wrap="square" lIns="0" tIns="0" rIns="0" bIns="0"/>
          <a:lstStyle/>
          <a:p>
            <a:r>
              <a:rPr lang="zh-CN" sz="2400" b="1">
                <a:solidFill>
                  <a:srgbClr val="A52A36"/>
                </a:solidFill>
                <a:latin typeface="Microsoft YaHei"/>
                <a:ea typeface="Microsoft YaHei"/>
              </a:rPr>
              <a:t>汇总判断，确定最终标签</a:t>
            </a:r>
          </a:p>
        </p:txBody>
      </p:sp>
      <p:sp>
        <p:nvSpPr>
          <p:cNvPr id="17" name="rewritten-p12-31"/>
          <p:cNvSpPr txBox="1"/>
          <p:nvPr/>
        </p:nvSpPr>
        <p:spPr>
          <a:xfrm>
            <a:off x="1476375" y="5381625"/>
            <a:ext cx="9810750" cy="361950"/>
          </a:xfrm>
          <a:prstGeom prst="rect">
            <a:avLst/>
          </a:prstGeom>
          <a:noFill/>
        </p:spPr>
        <p:txBody>
          <a:bodyPr wrap="square" lIns="0" tIns="0" rIns="0" bIns="0"/>
          <a:lstStyle/>
          <a:p>
            <a:r>
              <a:rPr lang="zh-CN" sz="1900" b="0">
                <a:solidFill>
                  <a:srgbClr val="333333"/>
                </a:solidFill>
                <a:latin typeface="Microsoft YaHei"/>
                <a:ea typeface="Microsoft YaHei"/>
              </a:rPr>
              <a:t>存在分歧时，采用多数票确定标签</a:t>
            </a:r>
          </a:p>
        </p:txBody>
      </p:sp>
      <p:sp>
        <p:nvSpPr>
          <p:cNvPr id="18" name="矩形 1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25301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xt-103">
            <a:extLst>
              <a:ext uri="{FF2B5EF4-FFF2-40B4-BE49-F238E27FC236}">
                <a16:creationId xmlns:a16="http://schemas.microsoft.com/office/drawing/2014/main" id="{7476B150-257A-4B1C-8756-9AB7CCD16242}"/>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数据特征</a:t>
            </a:r>
            <a:endParaRPr sz="3300" b="1" dirty="0">
              <a:solidFill>
                <a:srgbClr val="A52A36"/>
              </a:solidFill>
              <a:latin typeface="Microsoft YaHei"/>
              <a:ea typeface="Microsoft YaHei"/>
            </a:endParaRPr>
          </a:p>
        </p:txBody>
      </p:sp>
      <p:graphicFrame>
        <p:nvGraphicFramePr>
          <p:cNvPr id="3" name="表格 5">
            <a:extLst>
              <a:ext uri="{FF2B5EF4-FFF2-40B4-BE49-F238E27FC236}">
                <a16:creationId xmlns:a16="http://schemas.microsoft.com/office/drawing/2014/main" id="{75AAF79F-6E85-4191-A146-699994349B3A}"/>
              </a:ext>
            </a:extLst>
          </p:cNvPr>
          <p:cNvGraphicFramePr/>
          <p:nvPr/>
        </p:nvGraphicFramePr>
        <p:xfrm>
          <a:off x="685800" y="2276475"/>
          <a:ext cx="10820400" cy="1130808"/>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gridCol w="2705100">
                  <a:extLst>
                    <a:ext uri="{9D8B030D-6E8A-4147-A177-3AD203B41FA5}">
                      <a16:colId xmlns:a16="http://schemas.microsoft.com/office/drawing/2014/main" val="20003"/>
                    </a:ext>
                  </a:extLst>
                </a:gridCol>
              </a:tblGrid>
              <a:tr h="565404">
                <a:tc>
                  <a:txBody>
                    <a:bodyPr/>
                    <a:lstStyle/>
                    <a:p>
                      <a:pPr algn="l">
                        <a:lnSpc>
                          <a:spcPct val="100000"/>
                        </a:lnSpc>
                        <a:buNone/>
                      </a:pPr>
                      <a:r>
                        <a:rPr sz="2100" b="1">
                          <a:solidFill>
                            <a:srgbClr val="FFFFFF"/>
                          </a:solidFill>
                          <a:latin typeface="Microsoft YaHei"/>
                          <a:ea typeface="Microsoft YaHei"/>
                          <a:cs typeface="Microsoft YaHei"/>
                        </a:rPr>
                        <a:t>欺骗性客服</a:t>
                      </a:r>
                    </a:p>
                  </a:txBody>
                  <a:tcPr marL="114300" marR="114300" marT="0" marB="0" anchor="ctr">
                    <a:solidFill>
                      <a:srgbClr val="982D35"/>
                    </a:solidFill>
                  </a:tcPr>
                </a:tc>
                <a:tc>
                  <a:txBody>
                    <a:bodyPr/>
                    <a:lstStyle/>
                    <a:p>
                      <a:pPr algn="ctr">
                        <a:lnSpc>
                          <a:spcPct val="100000"/>
                        </a:lnSpc>
                        <a:buNone/>
                      </a:pPr>
                      <a:r>
                        <a:rPr sz="2100" b="1">
                          <a:solidFill>
                            <a:srgbClr val="FFFFFF"/>
                          </a:solidFill>
                          <a:latin typeface="Microsoft YaHei"/>
                          <a:ea typeface="Microsoft YaHei"/>
                          <a:cs typeface="Microsoft YaHei"/>
                        </a:rPr>
                        <a:t>非法产品</a:t>
                      </a:r>
                    </a:p>
                  </a:txBody>
                  <a:tcPr marL="114300" marR="114300" marT="0" marB="0" anchor="ctr">
                    <a:solidFill>
                      <a:srgbClr val="982D35"/>
                    </a:solidFill>
                  </a:tcPr>
                </a:tc>
                <a:tc>
                  <a:txBody>
                    <a:bodyPr/>
                    <a:lstStyle/>
                    <a:p>
                      <a:pPr algn="ctr">
                        <a:lnSpc>
                          <a:spcPct val="100000"/>
                        </a:lnSpc>
                        <a:buNone/>
                      </a:pPr>
                      <a:r>
                        <a:rPr sz="2100" b="1">
                          <a:solidFill>
                            <a:srgbClr val="FFFFFF"/>
                          </a:solidFill>
                          <a:latin typeface="Microsoft YaHei"/>
                          <a:ea typeface="Microsoft YaHei"/>
                          <a:cs typeface="Microsoft YaHei"/>
                        </a:rPr>
                        <a:t>误导性赠奖</a:t>
                      </a:r>
                    </a:p>
                  </a:txBody>
                  <a:tcPr marL="114300" marR="114300" marT="0" marB="0" anchor="ctr">
                    <a:solidFill>
                      <a:srgbClr val="982D35"/>
                    </a:solidFill>
                  </a:tcPr>
                </a:tc>
                <a:tc>
                  <a:txBody>
                    <a:bodyPr/>
                    <a:lstStyle/>
                    <a:p>
                      <a:pPr algn="ctr">
                        <a:lnSpc>
                          <a:spcPct val="100000"/>
                        </a:lnSpc>
                        <a:buNone/>
                      </a:pPr>
                      <a:r>
                        <a:rPr sz="2100" b="1">
                          <a:solidFill>
                            <a:srgbClr val="FFFFFF"/>
                          </a:solidFill>
                          <a:latin typeface="Microsoft YaHei"/>
                          <a:ea typeface="Microsoft YaHei"/>
                          <a:cs typeface="Microsoft YaHei"/>
                        </a:rPr>
                        <a:t>良性服务</a:t>
                      </a:r>
                    </a:p>
                  </a:txBody>
                  <a:tcPr marL="114300" marR="114300" marT="0" marB="0" anchor="ctr">
                    <a:solidFill>
                      <a:srgbClr val="982D35"/>
                    </a:solidFill>
                  </a:tcPr>
                </a:tc>
                <a:extLst>
                  <a:ext uri="{0D108BD9-81ED-4DB2-BD59-A6C34878D82A}">
                    <a16:rowId xmlns:a16="http://schemas.microsoft.com/office/drawing/2014/main" val="10000"/>
                  </a:ext>
                </a:extLst>
              </a:tr>
              <a:tr h="565404">
                <a:tc>
                  <a:txBody>
                    <a:bodyPr/>
                    <a:lstStyle/>
                    <a:p>
                      <a:pPr algn="l">
                        <a:lnSpc>
                          <a:spcPct val="100000"/>
                        </a:lnSpc>
                        <a:buNone/>
                      </a:pPr>
                      <a:r>
                        <a:rPr sz="2100" b="0">
                          <a:solidFill>
                            <a:srgbClr val="26282D"/>
                          </a:solidFill>
                          <a:latin typeface="Microsoft YaHei"/>
                          <a:ea typeface="Microsoft YaHei"/>
                          <a:cs typeface="Microsoft YaHei"/>
                        </a:rPr>
                        <a:t>8.8%</a:t>
                      </a:r>
                    </a:p>
                  </a:txBody>
                  <a:tcPr marL="114300" marR="114300" marT="0" marB="0" anchor="ctr">
                    <a:solidFill>
                      <a:srgbClr val="FFFFFF"/>
                    </a:solidFill>
                  </a:tcPr>
                </a:tc>
                <a:tc>
                  <a:txBody>
                    <a:bodyPr/>
                    <a:lstStyle/>
                    <a:p>
                      <a:pPr algn="ctr">
                        <a:lnSpc>
                          <a:spcPct val="100000"/>
                        </a:lnSpc>
                        <a:buNone/>
                      </a:pPr>
                      <a:r>
                        <a:rPr sz="2100" b="0">
                          <a:solidFill>
                            <a:srgbClr val="26282D"/>
                          </a:solidFill>
                          <a:latin typeface="Microsoft YaHei"/>
                          <a:ea typeface="Microsoft YaHei"/>
                          <a:cs typeface="Microsoft YaHei"/>
                        </a:rPr>
                        <a:t>6.6%</a:t>
                      </a:r>
                    </a:p>
                  </a:txBody>
                  <a:tcPr marL="114300" marR="114300" marT="0" marB="0" anchor="ctr">
                    <a:solidFill>
                      <a:srgbClr val="FFFFFF"/>
                    </a:solidFill>
                  </a:tcPr>
                </a:tc>
                <a:tc>
                  <a:txBody>
                    <a:bodyPr/>
                    <a:lstStyle/>
                    <a:p>
                      <a:pPr algn="ctr">
                        <a:lnSpc>
                          <a:spcPct val="100000"/>
                        </a:lnSpc>
                        <a:buNone/>
                      </a:pPr>
                      <a:r>
                        <a:rPr sz="2100" b="0">
                          <a:solidFill>
                            <a:srgbClr val="26282D"/>
                          </a:solidFill>
                          <a:latin typeface="Microsoft YaHei"/>
                          <a:ea typeface="Microsoft YaHei"/>
                          <a:cs typeface="Microsoft YaHei"/>
                        </a:rPr>
                        <a:t>88.5%</a:t>
                      </a:r>
                    </a:p>
                  </a:txBody>
                  <a:tcPr marL="114300" marR="114300" marT="0" marB="0" anchor="ctr">
                    <a:solidFill>
                      <a:srgbClr val="FFFFFF"/>
                    </a:solidFill>
                  </a:tcPr>
                </a:tc>
                <a:tc>
                  <a:txBody>
                    <a:bodyPr/>
                    <a:lstStyle/>
                    <a:p>
                      <a:pPr algn="ctr">
                        <a:lnSpc>
                          <a:spcPct val="100000"/>
                        </a:lnSpc>
                        <a:buNone/>
                      </a:pPr>
                      <a:r>
                        <a:rPr sz="2100" b="0">
                          <a:solidFill>
                            <a:srgbClr val="26282D"/>
                          </a:solidFill>
                          <a:latin typeface="Microsoft YaHei"/>
                          <a:ea typeface="Microsoft YaHei"/>
                          <a:cs typeface="Microsoft YaHei"/>
                        </a:rPr>
                        <a:t>47.0%</a:t>
                      </a:r>
                    </a:p>
                  </a:txBody>
                  <a:tcPr marL="114300" marR="114300" marT="0" marB="0" anchor="ctr">
                    <a:solidFill>
                      <a:srgbClr val="FFFFFF"/>
                    </a:solidFill>
                  </a:tcPr>
                </a:tc>
                <a:extLst>
                  <a:ext uri="{0D108BD9-81ED-4DB2-BD59-A6C34878D82A}">
                    <a16:rowId xmlns:a16="http://schemas.microsoft.com/office/drawing/2014/main" val="10001"/>
                  </a:ext>
                </a:extLst>
              </a:tr>
            </a:tbl>
          </a:graphicData>
        </a:graphic>
      </p:graphicFrame>
      <p:sp>
        <p:nvSpPr>
          <p:cNvPr id="4" name="clarity-text-126">
            <a:extLst>
              <a:ext uri="{FF2B5EF4-FFF2-40B4-BE49-F238E27FC236}">
                <a16:creationId xmlns:a16="http://schemas.microsoft.com/office/drawing/2014/main" id="{92E233EC-5F12-43B2-9D97-339FF59CEF19}"/>
              </a:ext>
            </a:extLst>
          </p:cNvPr>
          <p:cNvSpPr>
            <a:spLocks noGrp="1"/>
          </p:cNvSpPr>
          <p:nvPr/>
        </p:nvSpPr>
        <p:spPr>
          <a:xfrm>
            <a:off x="685800" y="1347121"/>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err="1">
                <a:solidFill>
                  <a:srgbClr val="A52A36"/>
                </a:solidFill>
                <a:latin typeface="Microsoft YaHei"/>
                <a:ea typeface="Microsoft YaHei"/>
              </a:rPr>
              <a:t>不同活动</a:t>
            </a:r>
            <a:r>
              <a:rPr lang="zh-CN" altLang="en-US" sz="2400" b="1" dirty="0">
                <a:solidFill>
                  <a:srgbClr val="A52A36"/>
                </a:solidFill>
                <a:latin typeface="Microsoft YaHei"/>
                <a:ea typeface="Microsoft YaHei"/>
              </a:rPr>
              <a:t>类型</a:t>
            </a:r>
            <a:r>
              <a:rPr sz="2400" b="1" dirty="0">
                <a:solidFill>
                  <a:srgbClr val="A52A36"/>
                </a:solidFill>
                <a:latin typeface="Microsoft YaHei"/>
                <a:ea typeface="Microsoft YaHei"/>
              </a:rPr>
              <a:t>的</a:t>
            </a:r>
            <a:r>
              <a:rPr lang="zh-CN" altLang="en-US" sz="2400" b="1" dirty="0">
                <a:solidFill>
                  <a:srgbClr val="A52A36"/>
                </a:solidFill>
                <a:latin typeface="Microsoft YaHei"/>
                <a:ea typeface="Microsoft YaHei"/>
              </a:rPr>
              <a:t>触发机器人账户</a:t>
            </a:r>
            <a:r>
              <a:rPr sz="2400" b="1" dirty="0" err="1">
                <a:solidFill>
                  <a:srgbClr val="A52A36"/>
                </a:solidFill>
                <a:latin typeface="Microsoft YaHei"/>
                <a:ea typeface="Microsoft YaHei"/>
              </a:rPr>
              <a:t>资料与引流方式差异</a:t>
            </a:r>
            <a:endParaRPr sz="2400" b="1" dirty="0">
              <a:solidFill>
                <a:srgbClr val="A52A36"/>
              </a:solidFill>
              <a:latin typeface="Microsoft YaHei"/>
              <a:ea typeface="Microsoft YaHei"/>
            </a:endParaRPr>
          </a:p>
        </p:txBody>
      </p:sp>
      <p:sp>
        <p:nvSpPr>
          <p:cNvPr id="5" name="clarity-text-127">
            <a:extLst>
              <a:ext uri="{FF2B5EF4-FFF2-40B4-BE49-F238E27FC236}">
                <a16:creationId xmlns:a16="http://schemas.microsoft.com/office/drawing/2014/main" id="{A20BC733-E269-4FAD-8EEE-80FEEAAA67C4}"/>
              </a:ext>
            </a:extLst>
          </p:cNvPr>
          <p:cNvSpPr>
            <a:spLocks noGrp="1"/>
          </p:cNvSpPr>
          <p:nvPr/>
        </p:nvSpPr>
        <p:spPr>
          <a:xfrm>
            <a:off x="628650" y="1865567"/>
            <a:ext cx="10820400" cy="38100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lang="zh-CN" altLang="en-US" sz="2100" b="1" dirty="0">
                <a:solidFill>
                  <a:srgbClr val="9F2934"/>
                </a:solidFill>
                <a:latin typeface="Microsoft YaHei"/>
                <a:ea typeface="Microsoft YaHei"/>
                <a:cs typeface="Microsoft YaHei"/>
              </a:rPr>
              <a:t>（一）</a:t>
            </a:r>
            <a:r>
              <a:rPr sz="2100" b="1" dirty="0" err="1">
                <a:solidFill>
                  <a:srgbClr val="9F2934"/>
                </a:solidFill>
                <a:latin typeface="Microsoft YaHei"/>
                <a:ea typeface="Microsoft YaHei"/>
                <a:cs typeface="Microsoft YaHei"/>
              </a:rPr>
              <a:t>账户</a:t>
            </a:r>
            <a:r>
              <a:rPr lang="zh-CN" altLang="en-US" sz="2100" b="1" dirty="0">
                <a:solidFill>
                  <a:srgbClr val="9F2934"/>
                </a:solidFill>
                <a:latin typeface="Microsoft YaHei"/>
                <a:ea typeface="Microsoft YaHei"/>
                <a:cs typeface="Microsoft YaHei"/>
              </a:rPr>
              <a:t>资料</a:t>
            </a:r>
            <a:r>
              <a:rPr sz="2100" b="1" dirty="0" err="1">
                <a:solidFill>
                  <a:srgbClr val="9F2934"/>
                </a:solidFill>
                <a:latin typeface="Microsoft YaHei"/>
                <a:ea typeface="Microsoft YaHei"/>
                <a:cs typeface="Microsoft YaHei"/>
              </a:rPr>
              <a:t>层面：开放私信的账户比例</a:t>
            </a:r>
            <a:endParaRPr sz="2100" b="1" dirty="0">
              <a:solidFill>
                <a:srgbClr val="9F2934"/>
              </a:solidFill>
              <a:latin typeface="Microsoft YaHei"/>
              <a:ea typeface="Microsoft YaHei"/>
              <a:cs typeface="Microsoft YaHei"/>
            </a:endParaRPr>
          </a:p>
        </p:txBody>
      </p:sp>
      <p:sp>
        <p:nvSpPr>
          <p:cNvPr id="6" name="content-group-128">
            <a:extLst>
              <a:ext uri="{FF2B5EF4-FFF2-40B4-BE49-F238E27FC236}">
                <a16:creationId xmlns:a16="http://schemas.microsoft.com/office/drawing/2014/main" id="{B6577A23-A695-4CDE-A773-2FCE7A91D21A}"/>
              </a:ext>
            </a:extLst>
          </p:cNvPr>
          <p:cNvSpPr>
            <a:spLocks noGrp="1"/>
          </p:cNvSpPr>
          <p:nvPr/>
        </p:nvSpPr>
        <p:spPr>
          <a:xfrm>
            <a:off x="685800" y="3714750"/>
            <a:ext cx="10820400" cy="2143125"/>
          </a:xfrm>
          <a:prstGeom prst="rect">
            <a:avLst/>
          </a:prstGeom>
          <a:solidFill>
            <a:srgbClr val="EAF3F1"/>
          </a:solidFill>
          <a:ln w="0">
            <a:noFill/>
          </a:ln>
        </p:spPr>
      </p:sp>
      <p:sp>
        <p:nvSpPr>
          <p:cNvPr id="7" name="clarity-text-129">
            <a:extLst>
              <a:ext uri="{FF2B5EF4-FFF2-40B4-BE49-F238E27FC236}">
                <a16:creationId xmlns:a16="http://schemas.microsoft.com/office/drawing/2014/main" id="{722CB609-1D30-4491-BF5A-9942DF7968AD}"/>
              </a:ext>
            </a:extLst>
          </p:cNvPr>
          <p:cNvSpPr>
            <a:spLocks noGrp="1"/>
          </p:cNvSpPr>
          <p:nvPr/>
        </p:nvSpPr>
        <p:spPr>
          <a:xfrm>
            <a:off x="685800" y="3810000"/>
            <a:ext cx="10439400" cy="38100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buNone/>
              <a:defRPr sz="2100" b="1">
                <a:solidFill>
                  <a:srgbClr val="2E746F"/>
                </a:solidFill>
                <a:latin typeface="Microsoft YaHei"/>
                <a:ea typeface="Microsoft YaHei"/>
                <a:cs typeface="Microsoft YaHei"/>
              </a:defRPr>
            </a:pPr>
            <a:r>
              <a:rPr lang="zh-CN" altLang="en-US" sz="2100" b="1" dirty="0">
                <a:solidFill>
                  <a:srgbClr val="2E746F"/>
                </a:solidFill>
                <a:latin typeface="Microsoft YaHei"/>
                <a:ea typeface="Microsoft YaHei"/>
                <a:cs typeface="Microsoft YaHei"/>
              </a:rPr>
              <a:t>（二）引流方式</a:t>
            </a:r>
            <a:r>
              <a:rPr sz="2100" b="1" dirty="0" err="1">
                <a:solidFill>
                  <a:srgbClr val="2E746F"/>
                </a:solidFill>
                <a:latin typeface="Microsoft YaHei"/>
                <a:ea typeface="Microsoft YaHei"/>
                <a:cs typeface="Microsoft YaHei"/>
              </a:rPr>
              <a:t>层面</a:t>
            </a:r>
            <a:r>
              <a:rPr lang="en-US" sz="2100" b="1" dirty="0">
                <a:solidFill>
                  <a:srgbClr val="2E746F"/>
                </a:solidFill>
                <a:latin typeface="Microsoft YaHei"/>
                <a:ea typeface="Microsoft YaHei"/>
                <a:cs typeface="Microsoft YaHei"/>
              </a:rPr>
              <a:t>:</a:t>
            </a:r>
            <a:r>
              <a:rPr lang="zh-CN" altLang="en-US" sz="2100" b="1" dirty="0">
                <a:solidFill>
                  <a:srgbClr val="2E746F"/>
                </a:solidFill>
                <a:latin typeface="Microsoft YaHei"/>
                <a:ea typeface="Microsoft YaHei"/>
                <a:cs typeface="Microsoft YaHei"/>
              </a:rPr>
              <a:t>每种活动</a:t>
            </a:r>
            <a:r>
              <a:rPr sz="2100" b="1" dirty="0" err="1">
                <a:solidFill>
                  <a:srgbClr val="2E746F"/>
                </a:solidFill>
                <a:latin typeface="Microsoft YaHei"/>
                <a:ea typeface="Microsoft YaHei"/>
                <a:cs typeface="Microsoft YaHei"/>
              </a:rPr>
              <a:t>出现次数</a:t>
            </a:r>
            <a:r>
              <a:rPr lang="zh-CN" altLang="en-US" sz="2100" b="1" dirty="0">
                <a:solidFill>
                  <a:srgbClr val="2E746F"/>
                </a:solidFill>
                <a:latin typeface="Microsoft YaHei"/>
                <a:ea typeface="Microsoft YaHei"/>
                <a:cs typeface="Microsoft YaHei"/>
              </a:rPr>
              <a:t>最多的联系方式</a:t>
            </a:r>
            <a:endParaRPr sz="2100" b="1" dirty="0">
              <a:solidFill>
                <a:srgbClr val="2E746F"/>
              </a:solidFill>
              <a:latin typeface="Microsoft YaHei"/>
              <a:ea typeface="Microsoft YaHei"/>
              <a:cs typeface="Microsoft YaHei"/>
            </a:endParaRPr>
          </a:p>
        </p:txBody>
      </p:sp>
      <p:sp>
        <p:nvSpPr>
          <p:cNvPr id="8" name="clarity-text-130">
            <a:extLst>
              <a:ext uri="{FF2B5EF4-FFF2-40B4-BE49-F238E27FC236}">
                <a16:creationId xmlns:a16="http://schemas.microsoft.com/office/drawing/2014/main" id="{C2CBD0DB-BEE3-4A0C-8E7D-F1DC63D54E17}"/>
              </a:ext>
            </a:extLst>
          </p:cNvPr>
          <p:cNvSpPr>
            <a:spLocks noGrp="1"/>
          </p:cNvSpPr>
          <p:nvPr/>
        </p:nvSpPr>
        <p:spPr>
          <a:xfrm>
            <a:off x="876300" y="4429125"/>
            <a:ext cx="2524125" cy="714375"/>
          </a:xfrm>
          <a:prstGeom prst="rect">
            <a:avLst/>
          </a:prstGeom>
          <a:noFill/>
          <a:ln w="0">
            <a:noFill/>
          </a:ln>
        </p:spPr>
        <p:txBody>
          <a:bodyPr wrap="square" lIns="0" tIns="0" rIns="0" bIns="0" anchor="t">
            <a:noAutofit/>
          </a:bodyPr>
          <a:lstStyle>
            <a:defPPr algn="l">
              <a:defRPr sz="4050" b="1">
                <a:solidFill>
                  <a:srgbClr val="9F2934"/>
                </a:solidFill>
                <a:latin typeface="Microsoft YaHei"/>
                <a:ea typeface="Microsoft YaHei"/>
                <a:cs typeface="Microsoft YaHei"/>
              </a:defRPr>
            </a:defPPr>
          </a:lstStyle>
          <a:p>
            <a:pPr algn="l">
              <a:buNone/>
              <a:defRPr sz="4050" b="1">
                <a:solidFill>
                  <a:srgbClr val="9F2934"/>
                </a:solidFill>
                <a:latin typeface="Microsoft YaHei"/>
                <a:ea typeface="Microsoft YaHei"/>
                <a:cs typeface="Microsoft YaHei"/>
              </a:defRPr>
            </a:pPr>
            <a:r>
              <a:rPr sz="4050" b="1">
                <a:solidFill>
                  <a:srgbClr val="9F2934"/>
                </a:solidFill>
                <a:latin typeface="Microsoft YaHei"/>
                <a:ea typeface="Microsoft YaHei"/>
                <a:cs typeface="Microsoft YaHei"/>
              </a:rPr>
              <a:t>1,225</a:t>
            </a:r>
          </a:p>
        </p:txBody>
      </p:sp>
      <p:sp>
        <p:nvSpPr>
          <p:cNvPr id="9" name="clarity-text-131">
            <a:extLst>
              <a:ext uri="{FF2B5EF4-FFF2-40B4-BE49-F238E27FC236}">
                <a16:creationId xmlns:a16="http://schemas.microsoft.com/office/drawing/2014/main" id="{A7C36047-2144-42F1-9019-60CB5D784A36}"/>
              </a:ext>
            </a:extLst>
          </p:cNvPr>
          <p:cNvSpPr>
            <a:spLocks noGrp="1"/>
          </p:cNvSpPr>
          <p:nvPr/>
        </p:nvSpPr>
        <p:spPr>
          <a:xfrm>
            <a:off x="876300" y="5191125"/>
            <a:ext cx="2524125" cy="428625"/>
          </a:xfrm>
          <a:prstGeom prst="rect">
            <a:avLst/>
          </a:prstGeom>
          <a:noFill/>
          <a:ln w="0">
            <a:noFill/>
          </a:ln>
        </p:spPr>
        <p:txBody>
          <a:bodyPr wrap="square" lIns="0" tIns="0" rIns="0" bIns="0" anchor="t">
            <a:noAutofit/>
          </a:bodyPr>
          <a:lstStyle>
            <a:defPPr algn="l">
              <a:defRPr sz="1725" b="1">
                <a:solidFill>
                  <a:srgbClr val="26282D"/>
                </a:solidFill>
                <a:latin typeface="Microsoft YaHei"/>
                <a:ea typeface="Microsoft YaHei"/>
                <a:cs typeface="Microsoft YaHei"/>
              </a:defRPr>
            </a:defPPr>
          </a:lstStyle>
          <a:p>
            <a:pPr algn="l">
              <a:buNone/>
              <a:defRPr sz="1725" b="1">
                <a:solidFill>
                  <a:srgbClr val="26282D"/>
                </a:solidFill>
                <a:latin typeface="Microsoft YaHei"/>
                <a:ea typeface="Microsoft YaHei"/>
                <a:cs typeface="Microsoft YaHei"/>
              </a:defRPr>
            </a:pPr>
            <a:r>
              <a:rPr sz="1725" b="1">
                <a:solidFill>
                  <a:srgbClr val="26282D"/>
                </a:solidFill>
                <a:latin typeface="Microsoft YaHei"/>
                <a:ea typeface="Microsoft YaHei"/>
                <a:cs typeface="Microsoft YaHei"/>
              </a:rPr>
              <a:t>客服：邮箱</a:t>
            </a:r>
          </a:p>
        </p:txBody>
      </p:sp>
      <p:sp>
        <p:nvSpPr>
          <p:cNvPr id="10" name="clarity-text-132">
            <a:extLst>
              <a:ext uri="{FF2B5EF4-FFF2-40B4-BE49-F238E27FC236}">
                <a16:creationId xmlns:a16="http://schemas.microsoft.com/office/drawing/2014/main" id="{CE7272A7-84D6-49F9-8DC4-0600B3A539F0}"/>
              </a:ext>
            </a:extLst>
          </p:cNvPr>
          <p:cNvSpPr>
            <a:spLocks noGrp="1"/>
          </p:cNvSpPr>
          <p:nvPr/>
        </p:nvSpPr>
        <p:spPr>
          <a:xfrm>
            <a:off x="3514725" y="4429125"/>
            <a:ext cx="2524125" cy="714375"/>
          </a:xfrm>
          <a:prstGeom prst="rect">
            <a:avLst/>
          </a:prstGeom>
          <a:noFill/>
          <a:ln w="0">
            <a:noFill/>
          </a:ln>
        </p:spPr>
        <p:txBody>
          <a:bodyPr wrap="square" lIns="0" tIns="0" rIns="0" bIns="0" anchor="t">
            <a:noAutofit/>
          </a:bodyPr>
          <a:lstStyle>
            <a:defPPr algn="l">
              <a:defRPr sz="4050" b="1">
                <a:solidFill>
                  <a:srgbClr val="9F2934"/>
                </a:solidFill>
                <a:latin typeface="Microsoft YaHei"/>
                <a:ea typeface="Microsoft YaHei"/>
                <a:cs typeface="Microsoft YaHei"/>
              </a:defRPr>
            </a:defPPr>
          </a:lstStyle>
          <a:p>
            <a:pPr algn="l">
              <a:buNone/>
              <a:defRPr sz="4050" b="1">
                <a:solidFill>
                  <a:srgbClr val="9F2934"/>
                </a:solidFill>
                <a:latin typeface="Microsoft YaHei"/>
                <a:ea typeface="Microsoft YaHei"/>
                <a:cs typeface="Microsoft YaHei"/>
              </a:defRPr>
            </a:pPr>
            <a:r>
              <a:rPr sz="4050" b="1">
                <a:solidFill>
                  <a:srgbClr val="9F2934"/>
                </a:solidFill>
                <a:latin typeface="Microsoft YaHei"/>
                <a:ea typeface="Microsoft YaHei"/>
                <a:cs typeface="Microsoft YaHei"/>
              </a:rPr>
              <a:t>955</a:t>
            </a:r>
          </a:p>
        </p:txBody>
      </p:sp>
      <p:sp>
        <p:nvSpPr>
          <p:cNvPr id="11" name="clarity-text-133">
            <a:extLst>
              <a:ext uri="{FF2B5EF4-FFF2-40B4-BE49-F238E27FC236}">
                <a16:creationId xmlns:a16="http://schemas.microsoft.com/office/drawing/2014/main" id="{FF449C3E-B135-45E8-AC5D-98349A180A6E}"/>
              </a:ext>
            </a:extLst>
          </p:cNvPr>
          <p:cNvSpPr>
            <a:spLocks noGrp="1"/>
          </p:cNvSpPr>
          <p:nvPr/>
        </p:nvSpPr>
        <p:spPr>
          <a:xfrm>
            <a:off x="3514725" y="5191125"/>
            <a:ext cx="2524125" cy="428625"/>
          </a:xfrm>
          <a:prstGeom prst="rect">
            <a:avLst/>
          </a:prstGeom>
          <a:noFill/>
          <a:ln w="0">
            <a:noFill/>
          </a:ln>
        </p:spPr>
        <p:txBody>
          <a:bodyPr wrap="square" lIns="0" tIns="0" rIns="0" bIns="0" anchor="t">
            <a:noAutofit/>
          </a:bodyPr>
          <a:lstStyle>
            <a:defPPr algn="l">
              <a:defRPr sz="1725" b="1">
                <a:solidFill>
                  <a:srgbClr val="26282D"/>
                </a:solidFill>
                <a:latin typeface="Microsoft YaHei"/>
                <a:ea typeface="Microsoft YaHei"/>
                <a:cs typeface="Microsoft YaHei"/>
              </a:defRPr>
            </a:defPPr>
          </a:lstStyle>
          <a:p>
            <a:pPr algn="l">
              <a:buNone/>
              <a:defRPr sz="1725" b="1">
                <a:solidFill>
                  <a:srgbClr val="26282D"/>
                </a:solidFill>
                <a:latin typeface="Microsoft YaHei"/>
                <a:ea typeface="Microsoft YaHei"/>
                <a:cs typeface="Microsoft YaHei"/>
              </a:defRPr>
            </a:pPr>
            <a:r>
              <a:rPr sz="1725" b="1">
                <a:solidFill>
                  <a:srgbClr val="26282D"/>
                </a:solidFill>
                <a:latin typeface="Microsoft YaHei"/>
                <a:ea typeface="Microsoft YaHei"/>
                <a:cs typeface="Microsoft YaHei"/>
              </a:rPr>
              <a:t>非法产品：提及账号</a:t>
            </a:r>
          </a:p>
        </p:txBody>
      </p:sp>
      <p:sp>
        <p:nvSpPr>
          <p:cNvPr id="12" name="clarity-text-134">
            <a:extLst>
              <a:ext uri="{FF2B5EF4-FFF2-40B4-BE49-F238E27FC236}">
                <a16:creationId xmlns:a16="http://schemas.microsoft.com/office/drawing/2014/main" id="{52D66A2E-8F7D-41AC-9C52-75A943E72D44}"/>
              </a:ext>
            </a:extLst>
          </p:cNvPr>
          <p:cNvSpPr>
            <a:spLocks noGrp="1"/>
          </p:cNvSpPr>
          <p:nvPr/>
        </p:nvSpPr>
        <p:spPr>
          <a:xfrm>
            <a:off x="6153150" y="4429125"/>
            <a:ext cx="2524125" cy="714375"/>
          </a:xfrm>
          <a:prstGeom prst="rect">
            <a:avLst/>
          </a:prstGeom>
          <a:noFill/>
          <a:ln w="0">
            <a:noFill/>
          </a:ln>
        </p:spPr>
        <p:txBody>
          <a:bodyPr wrap="square" lIns="0" tIns="0" rIns="0" bIns="0" anchor="t">
            <a:noAutofit/>
          </a:bodyPr>
          <a:lstStyle>
            <a:defPPr algn="l">
              <a:defRPr sz="4050" b="1">
                <a:solidFill>
                  <a:srgbClr val="9F2934"/>
                </a:solidFill>
                <a:latin typeface="Microsoft YaHei"/>
                <a:ea typeface="Microsoft YaHei"/>
                <a:cs typeface="Microsoft YaHei"/>
              </a:defRPr>
            </a:defPPr>
          </a:lstStyle>
          <a:p>
            <a:pPr algn="l">
              <a:buNone/>
              <a:defRPr sz="4050" b="1">
                <a:solidFill>
                  <a:srgbClr val="9F2934"/>
                </a:solidFill>
                <a:latin typeface="Microsoft YaHei"/>
                <a:ea typeface="Microsoft YaHei"/>
                <a:cs typeface="Microsoft YaHei"/>
              </a:defRPr>
            </a:pPr>
            <a:r>
              <a:rPr sz="4050" b="1">
                <a:solidFill>
                  <a:srgbClr val="9F2934"/>
                </a:solidFill>
                <a:latin typeface="Microsoft YaHei"/>
                <a:ea typeface="Microsoft YaHei"/>
                <a:cs typeface="Microsoft YaHei"/>
              </a:rPr>
              <a:t>686</a:t>
            </a:r>
          </a:p>
        </p:txBody>
      </p:sp>
      <p:sp>
        <p:nvSpPr>
          <p:cNvPr id="13" name="clarity-text-135">
            <a:extLst>
              <a:ext uri="{FF2B5EF4-FFF2-40B4-BE49-F238E27FC236}">
                <a16:creationId xmlns:a16="http://schemas.microsoft.com/office/drawing/2014/main" id="{18714F68-56E1-474C-B1A2-D4A39BD43456}"/>
              </a:ext>
            </a:extLst>
          </p:cNvPr>
          <p:cNvSpPr>
            <a:spLocks noGrp="1"/>
          </p:cNvSpPr>
          <p:nvPr/>
        </p:nvSpPr>
        <p:spPr>
          <a:xfrm>
            <a:off x="6153150" y="5191125"/>
            <a:ext cx="2524125" cy="428625"/>
          </a:xfrm>
          <a:prstGeom prst="rect">
            <a:avLst/>
          </a:prstGeom>
          <a:noFill/>
          <a:ln w="0">
            <a:noFill/>
          </a:ln>
        </p:spPr>
        <p:txBody>
          <a:bodyPr wrap="square" lIns="0" tIns="0" rIns="0" bIns="0" anchor="t">
            <a:noAutofit/>
          </a:bodyPr>
          <a:lstStyle>
            <a:defPPr algn="l">
              <a:defRPr sz="1725" b="1">
                <a:solidFill>
                  <a:srgbClr val="26282D"/>
                </a:solidFill>
                <a:latin typeface="Microsoft YaHei"/>
                <a:ea typeface="Microsoft YaHei"/>
                <a:cs typeface="Microsoft YaHei"/>
              </a:defRPr>
            </a:defPPr>
          </a:lstStyle>
          <a:p>
            <a:pPr algn="l">
              <a:buNone/>
              <a:defRPr sz="1725" b="1">
                <a:solidFill>
                  <a:srgbClr val="26282D"/>
                </a:solidFill>
                <a:latin typeface="Microsoft YaHei"/>
                <a:ea typeface="Microsoft YaHei"/>
                <a:cs typeface="Microsoft YaHei"/>
              </a:defRPr>
            </a:pPr>
            <a:r>
              <a:rPr sz="1725" b="1">
                <a:solidFill>
                  <a:srgbClr val="26282D"/>
                </a:solidFill>
                <a:latin typeface="Microsoft YaHei"/>
                <a:ea typeface="Microsoft YaHei"/>
                <a:cs typeface="Microsoft YaHei"/>
              </a:rPr>
              <a:t>赠奖：私信</a:t>
            </a:r>
          </a:p>
        </p:txBody>
      </p:sp>
      <p:sp>
        <p:nvSpPr>
          <p:cNvPr id="14" name="clarity-text-136">
            <a:extLst>
              <a:ext uri="{FF2B5EF4-FFF2-40B4-BE49-F238E27FC236}">
                <a16:creationId xmlns:a16="http://schemas.microsoft.com/office/drawing/2014/main" id="{68CBBED3-4296-4731-B0BC-68D103A88B54}"/>
              </a:ext>
            </a:extLst>
          </p:cNvPr>
          <p:cNvSpPr>
            <a:spLocks noGrp="1"/>
          </p:cNvSpPr>
          <p:nvPr/>
        </p:nvSpPr>
        <p:spPr>
          <a:xfrm>
            <a:off x="8791575" y="4429125"/>
            <a:ext cx="2524125" cy="714375"/>
          </a:xfrm>
          <a:prstGeom prst="rect">
            <a:avLst/>
          </a:prstGeom>
          <a:noFill/>
          <a:ln w="0">
            <a:noFill/>
          </a:ln>
        </p:spPr>
        <p:txBody>
          <a:bodyPr wrap="square" lIns="0" tIns="0" rIns="0" bIns="0" anchor="t">
            <a:noAutofit/>
          </a:bodyPr>
          <a:lstStyle>
            <a:defPPr algn="l">
              <a:defRPr sz="4050" b="1">
                <a:solidFill>
                  <a:srgbClr val="9F2934"/>
                </a:solidFill>
                <a:latin typeface="Microsoft YaHei"/>
                <a:ea typeface="Microsoft YaHei"/>
                <a:cs typeface="Microsoft YaHei"/>
              </a:defRPr>
            </a:defPPr>
          </a:lstStyle>
          <a:p>
            <a:pPr algn="l">
              <a:buNone/>
              <a:defRPr sz="4050" b="1">
                <a:solidFill>
                  <a:srgbClr val="9F2934"/>
                </a:solidFill>
                <a:latin typeface="Microsoft YaHei"/>
                <a:ea typeface="Microsoft YaHei"/>
                <a:cs typeface="Microsoft YaHei"/>
              </a:defRPr>
            </a:pPr>
            <a:r>
              <a:rPr sz="4050" b="1">
                <a:solidFill>
                  <a:srgbClr val="9F2934"/>
                </a:solidFill>
                <a:latin typeface="Microsoft YaHei"/>
                <a:ea typeface="Microsoft YaHei"/>
                <a:cs typeface="Microsoft YaHei"/>
              </a:rPr>
              <a:t>284</a:t>
            </a:r>
          </a:p>
        </p:txBody>
      </p:sp>
      <p:sp>
        <p:nvSpPr>
          <p:cNvPr id="15" name="clarity-text-137">
            <a:extLst>
              <a:ext uri="{FF2B5EF4-FFF2-40B4-BE49-F238E27FC236}">
                <a16:creationId xmlns:a16="http://schemas.microsoft.com/office/drawing/2014/main" id="{B715FA56-F494-4E77-A08F-C830F67159AE}"/>
              </a:ext>
            </a:extLst>
          </p:cNvPr>
          <p:cNvSpPr>
            <a:spLocks noGrp="1"/>
          </p:cNvSpPr>
          <p:nvPr/>
        </p:nvSpPr>
        <p:spPr>
          <a:xfrm>
            <a:off x="8791575" y="5191125"/>
            <a:ext cx="2524125" cy="428625"/>
          </a:xfrm>
          <a:prstGeom prst="rect">
            <a:avLst/>
          </a:prstGeom>
          <a:noFill/>
          <a:ln w="0">
            <a:noFill/>
          </a:ln>
        </p:spPr>
        <p:txBody>
          <a:bodyPr wrap="square" lIns="0" tIns="0" rIns="0" bIns="0" anchor="t">
            <a:noAutofit/>
          </a:bodyPr>
          <a:lstStyle>
            <a:defPPr algn="l">
              <a:defRPr sz="1725" b="1">
                <a:solidFill>
                  <a:srgbClr val="26282D"/>
                </a:solidFill>
                <a:latin typeface="Microsoft YaHei"/>
                <a:ea typeface="Microsoft YaHei"/>
                <a:cs typeface="Microsoft YaHei"/>
              </a:defRPr>
            </a:defPPr>
          </a:lstStyle>
          <a:p>
            <a:pPr algn="l">
              <a:buNone/>
              <a:defRPr sz="1725" b="1">
                <a:solidFill>
                  <a:srgbClr val="26282D"/>
                </a:solidFill>
                <a:latin typeface="Microsoft YaHei"/>
                <a:ea typeface="Microsoft YaHei"/>
                <a:cs typeface="Microsoft YaHei"/>
              </a:defRPr>
            </a:pPr>
            <a:r>
              <a:rPr sz="1725" b="1">
                <a:solidFill>
                  <a:srgbClr val="26282D"/>
                </a:solidFill>
                <a:latin typeface="Microsoft YaHei"/>
                <a:ea typeface="Microsoft YaHei"/>
                <a:cs typeface="Microsoft YaHei"/>
              </a:rPr>
              <a:t>良性：网址</a:t>
            </a:r>
          </a:p>
        </p:txBody>
      </p:sp>
      <p:sp>
        <p:nvSpPr>
          <p:cNvPr id="16" name="layout-caption-10">
            <a:extLst>
              <a:ext uri="{FF2B5EF4-FFF2-40B4-BE49-F238E27FC236}">
                <a16:creationId xmlns:a16="http://schemas.microsoft.com/office/drawing/2014/main" id="{7C3E2924-9D2A-4CCF-9B7E-1486ECE9FEAF}"/>
              </a:ext>
            </a:extLst>
          </p:cNvPr>
          <p:cNvSpPr>
            <a:spLocks noGrp="1"/>
          </p:cNvSpPr>
          <p:nvPr/>
        </p:nvSpPr>
        <p:spPr>
          <a:xfrm>
            <a:off x="876300" y="5962650"/>
            <a:ext cx="10439400" cy="323850"/>
          </a:xfrm>
          <a:prstGeom prst="rect">
            <a:avLst/>
          </a:prstGeom>
          <a:noFill/>
          <a:ln w="0">
            <a:noFill/>
          </a:ln>
        </p:spPr>
        <p:txBody>
          <a:bodyPr wrap="square" lIns="0" tIns="0" rIns="0" bIns="0" anchor="t">
            <a:noAutofit/>
          </a:bodyPr>
          <a:lstStyle>
            <a:defPPr>
              <a:defRPr sz="1650" b="0">
                <a:solidFill>
                  <a:srgbClr val="26282D"/>
                </a:solidFill>
                <a:latin typeface="Microsoft YaHei"/>
                <a:ea typeface="Microsoft YaHei"/>
                <a:cs typeface="Microsoft YaHei"/>
              </a:defRPr>
            </a:defPPr>
          </a:lstStyle>
          <a:p>
            <a:pPr>
              <a:buNone/>
              <a:defRPr sz="1650" b="0">
                <a:solidFill>
                  <a:srgbClr val="26282D"/>
                </a:solidFill>
                <a:latin typeface="Microsoft YaHei"/>
                <a:ea typeface="Microsoft YaHei"/>
                <a:cs typeface="Microsoft YaHei"/>
              </a:defRPr>
            </a:pPr>
            <a:r>
              <a:rPr sz="1650" b="0">
                <a:solidFill>
                  <a:srgbClr val="26282D"/>
                </a:solidFill>
                <a:latin typeface="Microsoft YaHei"/>
                <a:ea typeface="Microsoft YaHei"/>
                <a:cs typeface="Microsoft YaHei"/>
              </a:rPr>
              <a:t>计数说明：单条回复可包含多种联系方式。</a:t>
            </a:r>
          </a:p>
        </p:txBody>
      </p:sp>
      <p:pic>
        <p:nvPicPr>
          <p:cNvPr id="17"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8"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lang="en-US" sz="1000" dirty="0">
                <a:solidFill>
                  <a:srgbClr val="777777"/>
                </a:solidFill>
                <a:latin typeface="Microsoft YaHei"/>
                <a:ea typeface="Microsoft YaHei"/>
                <a:cs typeface="Microsoft YaHei"/>
              </a:rPr>
              <a:t>13/33</a:t>
            </a:r>
            <a:endParaRPr sz="1000" b="0" dirty="0">
              <a:solidFill>
                <a:srgbClr val="777777"/>
              </a:solidFill>
              <a:latin typeface="Microsoft YaHei"/>
              <a:ea typeface="Microsoft YaHei"/>
              <a:cs typeface="Microsoft YaHei"/>
            </a:endParaRPr>
          </a:p>
        </p:txBody>
      </p:sp>
      <p:sp>
        <p:nvSpPr>
          <p:cNvPr id="19" name="矩形 18">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913742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24">
            <a:extLst>
              <a:ext uri="{FF2B5EF4-FFF2-40B4-BE49-F238E27FC236}">
                <a16:creationId xmlns:a16="http://schemas.microsoft.com/office/drawing/2014/main" id="{E50A92BE-7BAA-4738-8DE3-97B7CCF93D8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数据特征</a:t>
            </a:r>
            <a:endParaRPr sz="3300" b="1" dirty="0">
              <a:solidFill>
                <a:srgbClr val="A52A36"/>
              </a:solidFill>
              <a:latin typeface="Microsoft YaHei"/>
              <a:ea typeface="Microsoft YaHei"/>
            </a:endParaRPr>
          </a:p>
        </p:txBody>
      </p:sp>
      <p:pic>
        <p:nvPicPr>
          <p:cNvPr id="3" name="图片 5">
            <a:extLst>
              <a:ext uri="{FF2B5EF4-FFF2-40B4-BE49-F238E27FC236}">
                <a16:creationId xmlns:a16="http://schemas.microsoft.com/office/drawing/2014/main" id="{95623538-EF07-44D5-B2E0-DC6F49A88196}"/>
              </a:ext>
            </a:extLst>
          </p:cNvPr>
          <p:cNvPicPr>
            <a:picLocks noChangeAspect="1"/>
          </p:cNvPicPr>
          <p:nvPr/>
        </p:nvPicPr>
        <p:blipFill>
          <a:blip r:embed="rId3"/>
          <a:stretch/>
        </p:blipFill>
        <p:spPr>
          <a:xfrm>
            <a:off x="283464" y="2123628"/>
            <a:ext cx="7381875" cy="2834391"/>
          </a:xfrm>
          <a:prstGeom prst="rect">
            <a:avLst/>
          </a:prstGeom>
        </p:spPr>
      </p:pic>
      <p:sp>
        <p:nvSpPr>
          <p:cNvPr id="4" name="clarity-text-153">
            <a:extLst>
              <a:ext uri="{FF2B5EF4-FFF2-40B4-BE49-F238E27FC236}">
                <a16:creationId xmlns:a16="http://schemas.microsoft.com/office/drawing/2014/main" id="{ABACEFEC-49BF-427E-87A7-6063FC3E0F55}"/>
              </a:ext>
            </a:extLst>
          </p:cNvPr>
          <p:cNvSpPr>
            <a:spLocks noGrp="1"/>
          </p:cNvSpPr>
          <p:nvPr/>
        </p:nvSpPr>
        <p:spPr>
          <a:xfrm>
            <a:off x="704850" y="1331024"/>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err="1">
                <a:solidFill>
                  <a:srgbClr val="A52A36"/>
                </a:solidFill>
                <a:latin typeface="Microsoft YaHei"/>
                <a:ea typeface="Microsoft YaHei"/>
              </a:rPr>
              <a:t>同一活动中的语义相似</a:t>
            </a:r>
            <a:r>
              <a:rPr lang="zh-CN" altLang="en-US" sz="2400" b="1" dirty="0">
                <a:solidFill>
                  <a:srgbClr val="A52A36"/>
                </a:solidFill>
                <a:latin typeface="Microsoft YaHei"/>
                <a:ea typeface="Microsoft YaHei"/>
              </a:rPr>
              <a:t>程度</a:t>
            </a:r>
            <a:r>
              <a:rPr sz="2400" b="1" dirty="0">
                <a:solidFill>
                  <a:srgbClr val="A52A36"/>
                </a:solidFill>
                <a:latin typeface="Microsoft YaHei"/>
                <a:ea typeface="Microsoft YaHei"/>
              </a:rPr>
              <a:t>与</a:t>
            </a:r>
            <a:r>
              <a:rPr lang="zh-CN" altLang="en-US" sz="2400" b="1" dirty="0">
                <a:solidFill>
                  <a:srgbClr val="A52A36"/>
                </a:solidFill>
                <a:latin typeface="Microsoft YaHei"/>
                <a:ea typeface="Microsoft YaHei"/>
              </a:rPr>
              <a:t>用词</a:t>
            </a:r>
            <a:r>
              <a:rPr sz="2400" b="1" dirty="0" err="1">
                <a:solidFill>
                  <a:srgbClr val="A52A36"/>
                </a:solidFill>
                <a:latin typeface="Microsoft YaHei"/>
                <a:ea typeface="Microsoft YaHei"/>
              </a:rPr>
              <a:t>变化</a:t>
            </a:r>
            <a:endParaRPr sz="2400" b="1" dirty="0">
              <a:solidFill>
                <a:srgbClr val="A52A36"/>
              </a:solidFill>
              <a:latin typeface="Microsoft YaHei"/>
              <a:ea typeface="Microsoft YaHei"/>
            </a:endParaRPr>
          </a:p>
        </p:txBody>
      </p:sp>
      <p:sp>
        <p:nvSpPr>
          <p:cNvPr id="6" name="clarity-text-155">
            <a:extLst>
              <a:ext uri="{FF2B5EF4-FFF2-40B4-BE49-F238E27FC236}">
                <a16:creationId xmlns:a16="http://schemas.microsoft.com/office/drawing/2014/main" id="{FEB8E17B-7AF7-4166-A18D-9416F2F9E3FF}"/>
              </a:ext>
            </a:extLst>
          </p:cNvPr>
          <p:cNvSpPr>
            <a:spLocks noGrp="1"/>
          </p:cNvSpPr>
          <p:nvPr/>
        </p:nvSpPr>
        <p:spPr>
          <a:xfrm>
            <a:off x="876300" y="1828800"/>
            <a:ext cx="10353675" cy="295275"/>
          </a:xfrm>
          <a:prstGeom prst="rect">
            <a:avLst/>
          </a:prstGeom>
          <a:noFill/>
          <a:ln w="0">
            <a:noFill/>
          </a:ln>
        </p:spPr>
        <p:txBody>
          <a:bodyPr wrap="square" lIns="0" tIns="0" rIns="0" bIns="0" anchor="t">
            <a:noAutofit/>
          </a:bodyPr>
          <a:lstStyle>
            <a:defPPr algn="l">
              <a:defRPr sz="1875" b="1">
                <a:solidFill>
                  <a:srgbClr val="2E746F"/>
                </a:solidFill>
                <a:latin typeface="Microsoft YaHei"/>
                <a:ea typeface="Microsoft YaHei"/>
                <a:cs typeface="Microsoft YaHei"/>
              </a:defRPr>
            </a:defPPr>
          </a:lstStyle>
          <a:p>
            <a:pPr algn="l">
              <a:buNone/>
              <a:defRPr sz="1875" b="1">
                <a:solidFill>
                  <a:srgbClr val="2E746F"/>
                </a:solidFill>
                <a:latin typeface="Microsoft YaHei"/>
                <a:ea typeface="Microsoft YaHei"/>
                <a:cs typeface="Microsoft YaHei"/>
              </a:defRPr>
            </a:pPr>
            <a:endParaRPr sz="1875" b="1" dirty="0">
              <a:solidFill>
                <a:srgbClr val="2E746F"/>
              </a:solidFill>
              <a:latin typeface="Microsoft YaHei"/>
              <a:ea typeface="Microsoft YaHei"/>
              <a:cs typeface="Microsoft YaHei"/>
            </a:endParaRPr>
          </a:p>
        </p:txBody>
      </p:sp>
      <p:sp>
        <p:nvSpPr>
          <p:cNvPr id="7" name="clarity-text-156">
            <a:extLst>
              <a:ext uri="{FF2B5EF4-FFF2-40B4-BE49-F238E27FC236}">
                <a16:creationId xmlns:a16="http://schemas.microsoft.com/office/drawing/2014/main" id="{7BC26AFB-767D-4604-A4AF-0D8226184DB7}"/>
              </a:ext>
            </a:extLst>
          </p:cNvPr>
          <p:cNvSpPr>
            <a:spLocks noGrp="1"/>
          </p:cNvSpPr>
          <p:nvPr/>
        </p:nvSpPr>
        <p:spPr>
          <a:xfrm>
            <a:off x="704850" y="1799653"/>
            <a:ext cx="10382250" cy="2667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处理方法：分别构造语义向量和词汇向量，再用余弦相似度比较向量方向。</a:t>
            </a:r>
            <a:endParaRPr lang="en-US" sz="1725" b="0" dirty="0">
              <a:solidFill>
                <a:srgbClr val="26282D"/>
              </a:solidFill>
              <a:latin typeface="Microsoft YaHei"/>
              <a:ea typeface="Microsoft YaHei"/>
              <a:cs typeface="Microsoft YaHei"/>
            </a:endParaRPr>
          </a:p>
          <a:p>
            <a:pPr>
              <a:defRPr sz="1725" b="0">
                <a:solidFill>
                  <a:srgbClr val="26282D"/>
                </a:solidFill>
                <a:latin typeface="Microsoft YaHei"/>
                <a:ea typeface="Microsoft YaHei"/>
                <a:cs typeface="Microsoft YaHei"/>
              </a:defRPr>
            </a:pPr>
            <a:endParaRPr sz="1725" b="0" dirty="0">
              <a:solidFill>
                <a:srgbClr val="26282D"/>
              </a:solidFill>
              <a:latin typeface="Microsoft YaHei"/>
              <a:ea typeface="Microsoft YaHei"/>
              <a:cs typeface="Microsoft YaHei"/>
            </a:endParaRPr>
          </a:p>
        </p:txBody>
      </p:sp>
      <p:sp>
        <p:nvSpPr>
          <p:cNvPr id="8" name="content-group-157">
            <a:extLst>
              <a:ext uri="{FF2B5EF4-FFF2-40B4-BE49-F238E27FC236}">
                <a16:creationId xmlns:a16="http://schemas.microsoft.com/office/drawing/2014/main" id="{D4E0F519-8AB4-4FBB-BDD3-700BF946DCE8}"/>
              </a:ext>
            </a:extLst>
          </p:cNvPr>
          <p:cNvSpPr>
            <a:spLocks noGrp="1"/>
          </p:cNvSpPr>
          <p:nvPr/>
        </p:nvSpPr>
        <p:spPr>
          <a:xfrm>
            <a:off x="8334375" y="3124200"/>
            <a:ext cx="3171825" cy="1009650"/>
          </a:xfrm>
          <a:prstGeom prst="rect">
            <a:avLst/>
          </a:prstGeom>
          <a:noFill/>
          <a:ln w="12859">
            <a:solidFill>
              <a:srgbClr val="9F2934"/>
            </a:solidFill>
            <a:prstDash val="solid"/>
          </a:ln>
        </p:spPr>
      </p:sp>
      <p:sp>
        <p:nvSpPr>
          <p:cNvPr id="9" name="clarity-text-158">
            <a:extLst>
              <a:ext uri="{FF2B5EF4-FFF2-40B4-BE49-F238E27FC236}">
                <a16:creationId xmlns:a16="http://schemas.microsoft.com/office/drawing/2014/main" id="{53333563-5C72-4241-8A25-9502BBBB98C9}"/>
              </a:ext>
            </a:extLst>
          </p:cNvPr>
          <p:cNvSpPr>
            <a:spLocks noGrp="1"/>
          </p:cNvSpPr>
          <p:nvPr/>
        </p:nvSpPr>
        <p:spPr>
          <a:xfrm>
            <a:off x="8334375" y="2695575"/>
            <a:ext cx="3171825"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dirty="0" err="1">
                <a:solidFill>
                  <a:srgbClr val="9F2934"/>
                </a:solidFill>
                <a:latin typeface="Microsoft YaHei"/>
                <a:ea typeface="Microsoft YaHei"/>
                <a:cs typeface="Microsoft YaHei"/>
              </a:rPr>
              <a:t>左图</a:t>
            </a:r>
            <a:r>
              <a:rPr sz="2100" b="1" dirty="0">
                <a:solidFill>
                  <a:srgbClr val="9F2934"/>
                </a:solidFill>
                <a:latin typeface="Microsoft YaHei"/>
                <a:ea typeface="Microsoft YaHei"/>
                <a:cs typeface="Microsoft YaHei"/>
              </a:rPr>
              <a:t>  </a:t>
            </a:r>
          </a:p>
        </p:txBody>
      </p:sp>
      <p:sp>
        <p:nvSpPr>
          <p:cNvPr id="10" name="clarity-text-159">
            <a:extLst>
              <a:ext uri="{FF2B5EF4-FFF2-40B4-BE49-F238E27FC236}">
                <a16:creationId xmlns:a16="http://schemas.microsoft.com/office/drawing/2014/main" id="{766A7FB3-7F7E-4A20-8FB9-2997CA50F891}"/>
              </a:ext>
            </a:extLst>
          </p:cNvPr>
          <p:cNvSpPr>
            <a:spLocks noGrp="1"/>
          </p:cNvSpPr>
          <p:nvPr/>
        </p:nvSpPr>
        <p:spPr>
          <a:xfrm>
            <a:off x="8524875" y="3295650"/>
            <a:ext cx="2790825" cy="762000"/>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a:solidFill>
                  <a:srgbClr val="26282D"/>
                </a:solidFill>
                <a:latin typeface="Microsoft YaHei"/>
                <a:ea typeface="Microsoft YaHei"/>
                <a:cs typeface="Microsoft YaHei"/>
              </a:rPr>
              <a:t>语义向量表达上下文含义相似度多高于 0.90</a:t>
            </a:r>
            <a:r>
              <a:rPr sz="1725">
                <a:solidFill>
                  <a:srgbClr val="26282D"/>
                </a:solidFill>
                <a:latin typeface="Microsoft YaHei"/>
                <a:ea typeface="Microsoft YaHei"/>
                <a:cs typeface="Microsoft YaHei"/>
              </a:rPr>
              <a:t>，</a:t>
            </a:r>
            <a:r>
              <a:rPr sz="1725" b="0">
                <a:solidFill>
                  <a:srgbClr val="26282D"/>
                </a:solidFill>
                <a:latin typeface="Microsoft YaHei"/>
                <a:ea typeface="Microsoft YaHei"/>
                <a:cs typeface="Microsoft YaHei"/>
              </a:rPr>
              <a:t>含义通常接近</a:t>
            </a:r>
          </a:p>
        </p:txBody>
      </p:sp>
      <p:sp>
        <p:nvSpPr>
          <p:cNvPr id="11" name="content-group-160">
            <a:extLst>
              <a:ext uri="{FF2B5EF4-FFF2-40B4-BE49-F238E27FC236}">
                <a16:creationId xmlns:a16="http://schemas.microsoft.com/office/drawing/2014/main" id="{2BA95BD8-97EC-439B-A006-9F48E3750CE7}"/>
              </a:ext>
            </a:extLst>
          </p:cNvPr>
          <p:cNvSpPr>
            <a:spLocks noGrp="1"/>
          </p:cNvSpPr>
          <p:nvPr/>
        </p:nvSpPr>
        <p:spPr>
          <a:xfrm>
            <a:off x="8334375" y="4733925"/>
            <a:ext cx="3171825" cy="1266825"/>
          </a:xfrm>
          <a:prstGeom prst="rect">
            <a:avLst/>
          </a:prstGeom>
          <a:noFill/>
          <a:ln w="12859">
            <a:solidFill>
              <a:srgbClr val="2E746F"/>
            </a:solidFill>
            <a:prstDash val="solid"/>
          </a:ln>
        </p:spPr>
      </p:sp>
      <p:sp>
        <p:nvSpPr>
          <p:cNvPr id="12" name="clarity-text-161">
            <a:extLst>
              <a:ext uri="{FF2B5EF4-FFF2-40B4-BE49-F238E27FC236}">
                <a16:creationId xmlns:a16="http://schemas.microsoft.com/office/drawing/2014/main" id="{52CB6119-A2A2-4334-A8D1-944C97E88757}"/>
              </a:ext>
            </a:extLst>
          </p:cNvPr>
          <p:cNvSpPr>
            <a:spLocks noGrp="1"/>
          </p:cNvSpPr>
          <p:nvPr/>
        </p:nvSpPr>
        <p:spPr>
          <a:xfrm>
            <a:off x="8334375" y="4305300"/>
            <a:ext cx="3171825" cy="409575"/>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buNone/>
              <a:defRPr sz="2100" b="1">
                <a:solidFill>
                  <a:srgbClr val="2E746F"/>
                </a:solidFill>
                <a:latin typeface="Microsoft YaHei"/>
                <a:ea typeface="Microsoft YaHei"/>
                <a:cs typeface="Microsoft YaHei"/>
              </a:defRPr>
            </a:pPr>
            <a:r>
              <a:rPr sz="2100" b="1" dirty="0" err="1">
                <a:solidFill>
                  <a:srgbClr val="2E746F"/>
                </a:solidFill>
                <a:latin typeface="Microsoft YaHei"/>
                <a:ea typeface="Microsoft YaHei"/>
                <a:cs typeface="Microsoft YaHei"/>
              </a:rPr>
              <a:t>右图</a:t>
            </a:r>
            <a:r>
              <a:rPr sz="2100" b="1" dirty="0">
                <a:solidFill>
                  <a:srgbClr val="2E746F"/>
                </a:solidFill>
                <a:latin typeface="Microsoft YaHei"/>
                <a:ea typeface="Microsoft YaHei"/>
                <a:cs typeface="Microsoft YaHei"/>
              </a:rPr>
              <a:t>  </a:t>
            </a:r>
          </a:p>
        </p:txBody>
      </p:sp>
      <p:sp>
        <p:nvSpPr>
          <p:cNvPr id="13" name="clarity-text-162">
            <a:extLst>
              <a:ext uri="{FF2B5EF4-FFF2-40B4-BE49-F238E27FC236}">
                <a16:creationId xmlns:a16="http://schemas.microsoft.com/office/drawing/2014/main" id="{8BBACE05-B37C-4BF1-BE51-EC74B7929E1E}"/>
              </a:ext>
            </a:extLst>
          </p:cNvPr>
          <p:cNvSpPr>
            <a:spLocks noGrp="1"/>
          </p:cNvSpPr>
          <p:nvPr/>
        </p:nvSpPr>
        <p:spPr>
          <a:xfrm>
            <a:off x="8524875" y="4905375"/>
            <a:ext cx="3248025" cy="1019175"/>
          </a:xfrm>
          <a:prstGeom prst="rect">
            <a:avLst/>
          </a:prstGeom>
          <a:noFill/>
          <a:ln w="0">
            <a:noFill/>
          </a:ln>
        </p:spPr>
        <p:txBody>
          <a:bodyPr wrap="square" lIns="0" tIns="0" rIns="0" bIns="0" anchor="t">
            <a:noAutofit/>
          </a:bodyPr>
          <a:lstStyle>
            <a:defPPr algn="l">
              <a:defRPr sz="1650" b="0">
                <a:solidFill>
                  <a:srgbClr val="26282D"/>
                </a:solidFill>
                <a:latin typeface="Microsoft YaHei"/>
                <a:ea typeface="Microsoft YaHei"/>
                <a:cs typeface="Microsoft YaHei"/>
              </a:defRPr>
            </a:defPPr>
          </a:lstStyle>
          <a:p>
            <a:pPr algn="l">
              <a:buNone/>
              <a:defRPr sz="1650" b="0">
                <a:solidFill>
                  <a:srgbClr val="26282D"/>
                </a:solidFill>
                <a:latin typeface="Microsoft YaHei"/>
                <a:ea typeface="Microsoft YaHei"/>
                <a:cs typeface="Microsoft YaHei"/>
              </a:defRPr>
            </a:pPr>
            <a:r>
              <a:rPr sz="1650" b="0">
                <a:solidFill>
                  <a:srgbClr val="26282D"/>
                </a:solidFill>
                <a:latin typeface="Microsoft YaHei"/>
                <a:ea typeface="Microsoft YaHei"/>
                <a:cs typeface="Microsoft YaHei"/>
              </a:rPr>
              <a:t>按词频及词的区分力赋权</a:t>
            </a:r>
          </a:p>
          <a:p>
            <a:pPr algn="l">
              <a:buNone/>
              <a:defRPr sz="1650" b="0">
                <a:solidFill>
                  <a:srgbClr val="26282D"/>
                </a:solidFill>
                <a:latin typeface="Microsoft YaHei"/>
                <a:ea typeface="Microsoft YaHei"/>
                <a:cs typeface="Microsoft YaHei"/>
              </a:defRPr>
            </a:pPr>
            <a:r>
              <a:rPr sz="1650" b="0">
                <a:solidFill>
                  <a:srgbClr val="26282D"/>
                </a:solidFill>
                <a:latin typeface="Microsoft YaHei"/>
                <a:ea typeface="Microsoft YaHei"/>
                <a:cs typeface="Microsoft YaHei"/>
              </a:rPr>
              <a:t>比较实际词汇的重叠程度</a:t>
            </a:r>
          </a:p>
          <a:p>
            <a:pPr algn="l">
              <a:buNone/>
              <a:defRPr sz="1650" b="0">
                <a:solidFill>
                  <a:srgbClr val="26282D"/>
                </a:solidFill>
                <a:latin typeface="Microsoft YaHei"/>
                <a:ea typeface="Microsoft YaHei"/>
                <a:cs typeface="Microsoft YaHei"/>
              </a:defRPr>
            </a:pPr>
            <a:r>
              <a:rPr sz="1650" b="0">
                <a:solidFill>
                  <a:srgbClr val="26282D"/>
                </a:solidFill>
                <a:latin typeface="Microsoft YaHei"/>
                <a:ea typeface="Microsoft YaHei"/>
                <a:cs typeface="Microsoft YaHei"/>
              </a:rPr>
              <a:t>相似度往往低于 0.30</a:t>
            </a:r>
          </a:p>
          <a:p>
            <a:pPr algn="l">
              <a:buNone/>
              <a:defRPr sz="1650" b="0">
                <a:solidFill>
                  <a:srgbClr val="26282D"/>
                </a:solidFill>
                <a:latin typeface="Microsoft YaHei"/>
                <a:ea typeface="Microsoft YaHei"/>
                <a:cs typeface="Microsoft YaHei"/>
              </a:defRPr>
            </a:pPr>
            <a:r>
              <a:rPr sz="1650" b="0">
                <a:solidFill>
                  <a:srgbClr val="26282D"/>
                </a:solidFill>
                <a:latin typeface="Microsoft YaHei"/>
                <a:ea typeface="Microsoft YaHei"/>
                <a:cs typeface="Microsoft YaHei"/>
              </a:rPr>
              <a:t>反映措辞的多样化</a:t>
            </a:r>
          </a:p>
        </p:txBody>
      </p:sp>
      <p:sp>
        <p:nvSpPr>
          <p:cNvPr id="14" name="clarity-text-164">
            <a:extLst>
              <a:ext uri="{FF2B5EF4-FFF2-40B4-BE49-F238E27FC236}">
                <a16:creationId xmlns:a16="http://schemas.microsoft.com/office/drawing/2014/main" id="{3734B15D-76B0-4946-B8F5-A00934EFFB64}"/>
              </a:ext>
            </a:extLst>
          </p:cNvPr>
          <p:cNvSpPr>
            <a:spLocks noGrp="1"/>
          </p:cNvSpPr>
          <p:nvPr/>
        </p:nvSpPr>
        <p:spPr>
          <a:xfrm>
            <a:off x="810158" y="4879276"/>
            <a:ext cx="10820400" cy="419100"/>
          </a:xfrm>
          <a:prstGeom prst="rect">
            <a:avLst/>
          </a:prstGeom>
          <a:noFill/>
          <a:ln w="0">
            <a:noFill/>
          </a:ln>
        </p:spPr>
        <p:txBody>
          <a:bodyPr wrap="square" lIns="0" tIns="0" rIns="0" bIns="0" anchor="t">
            <a:noAutofit/>
          </a:bodyPr>
          <a:lstStyle>
            <a:defPPr algn="l">
              <a:defRPr sz="1650" b="0">
                <a:solidFill>
                  <a:srgbClr val="26282D"/>
                </a:solidFill>
                <a:latin typeface="Microsoft YaHei"/>
                <a:ea typeface="Microsoft YaHei"/>
                <a:cs typeface="Microsoft YaHei"/>
              </a:defRPr>
            </a:defPPr>
          </a:lstStyle>
          <a:p>
            <a:pPr algn="l">
              <a:buNone/>
              <a:defRPr sz="1650" b="0">
                <a:solidFill>
                  <a:srgbClr val="26282D"/>
                </a:solidFill>
                <a:latin typeface="Microsoft YaHei"/>
                <a:ea typeface="Microsoft YaHei"/>
                <a:cs typeface="Microsoft YaHei"/>
              </a:defRPr>
            </a:pPr>
            <a:r>
              <a:rPr sz="1400" b="0" dirty="0" err="1">
                <a:solidFill>
                  <a:srgbClr val="26282D"/>
                </a:solidFill>
                <a:latin typeface="Microsoft YaHei"/>
                <a:ea typeface="Microsoft YaHei"/>
                <a:cs typeface="Microsoft YaHei"/>
              </a:rPr>
              <a:t>横轴：左图</a:t>
            </a:r>
            <a:r>
              <a:rPr sz="1400" b="0" dirty="0">
                <a:solidFill>
                  <a:srgbClr val="26282D"/>
                </a:solidFill>
                <a:latin typeface="Microsoft YaHei"/>
                <a:ea typeface="Microsoft YaHei"/>
                <a:cs typeface="Microsoft YaHei"/>
              </a:rPr>
              <a:t> Context </a:t>
            </a:r>
            <a:r>
              <a:rPr sz="1400" b="0" dirty="0" err="1">
                <a:solidFill>
                  <a:srgbClr val="26282D"/>
                </a:solidFill>
                <a:latin typeface="Microsoft YaHei"/>
                <a:ea typeface="Microsoft YaHei"/>
                <a:cs typeface="Microsoft YaHei"/>
              </a:rPr>
              <a:t>Similarity，右图</a:t>
            </a:r>
            <a:r>
              <a:rPr sz="1400" b="0" dirty="0">
                <a:solidFill>
                  <a:srgbClr val="26282D"/>
                </a:solidFill>
                <a:latin typeface="Microsoft YaHei"/>
                <a:ea typeface="Microsoft YaHei"/>
                <a:cs typeface="Microsoft YaHei"/>
              </a:rPr>
              <a:t> Syntactic Similarity。</a:t>
            </a:r>
          </a:p>
          <a:p>
            <a:pPr algn="l">
              <a:buNone/>
              <a:defRPr sz="1650" b="0">
                <a:solidFill>
                  <a:srgbClr val="26282D"/>
                </a:solidFill>
                <a:latin typeface="Microsoft YaHei"/>
                <a:ea typeface="Microsoft YaHei"/>
                <a:cs typeface="Microsoft YaHei"/>
              </a:defRPr>
            </a:pPr>
            <a:r>
              <a:rPr sz="1400" b="0" dirty="0" err="1">
                <a:solidFill>
                  <a:srgbClr val="26282D"/>
                </a:solidFill>
                <a:latin typeface="Microsoft YaHei"/>
                <a:ea typeface="Microsoft YaHei"/>
                <a:cs typeface="Microsoft YaHei"/>
              </a:rPr>
              <a:t>纵轴</a:t>
            </a:r>
            <a:r>
              <a:rPr sz="1400" b="0" dirty="0">
                <a:solidFill>
                  <a:srgbClr val="26282D"/>
                </a:solidFill>
                <a:latin typeface="Microsoft YaHei"/>
                <a:ea typeface="Microsoft YaHei"/>
                <a:cs typeface="Microsoft YaHei"/>
              </a:rPr>
              <a:t> </a:t>
            </a:r>
            <a:r>
              <a:rPr sz="1400" b="0" dirty="0" err="1">
                <a:solidFill>
                  <a:srgbClr val="26282D"/>
                </a:solidFill>
                <a:latin typeface="Microsoft YaHei"/>
                <a:ea typeface="Microsoft YaHei"/>
                <a:cs typeface="Microsoft YaHei"/>
              </a:rPr>
              <a:t>CDF：相似度</a:t>
            </a:r>
            <a:r>
              <a:rPr sz="1400" b="0" dirty="0">
                <a:solidFill>
                  <a:srgbClr val="26282D"/>
                </a:solidFill>
                <a:latin typeface="Microsoft YaHei"/>
                <a:ea typeface="Microsoft YaHei"/>
                <a:cs typeface="Microsoft YaHei"/>
              </a:rPr>
              <a:t> ≤ </a:t>
            </a:r>
            <a:r>
              <a:rPr sz="1400" b="0" dirty="0" err="1">
                <a:solidFill>
                  <a:srgbClr val="26282D"/>
                </a:solidFill>
                <a:latin typeface="Microsoft YaHei"/>
                <a:ea typeface="Microsoft YaHei"/>
                <a:cs typeface="Microsoft YaHei"/>
              </a:rPr>
              <a:t>横轴值的回复对所占比例；每条曲线对应一类活动</a:t>
            </a:r>
            <a:r>
              <a:rPr sz="1400" b="0" dirty="0">
                <a:solidFill>
                  <a:srgbClr val="26282D"/>
                </a:solidFill>
                <a:latin typeface="Microsoft YaHei"/>
                <a:ea typeface="Microsoft YaHei"/>
                <a:cs typeface="Microsoft YaHei"/>
              </a:rPr>
              <a:t>。</a:t>
            </a:r>
          </a:p>
        </p:txBody>
      </p:sp>
      <p:pic>
        <p:nvPicPr>
          <p:cNvPr id="1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dirty="0">
                <a:solidFill>
                  <a:srgbClr val="777777"/>
                </a:solidFill>
                <a:latin typeface="Microsoft YaHei"/>
                <a:ea typeface="Microsoft YaHei"/>
                <a:cs typeface="Microsoft YaHei"/>
              </a:rPr>
              <a:t>14/33</a:t>
            </a:r>
          </a:p>
        </p:txBody>
      </p:sp>
      <p:sp>
        <p:nvSpPr>
          <p:cNvPr id="17" name="矩形 16">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18" name="矩形 17">
            <a:extLst>
              <a:ext uri="{FF2B5EF4-FFF2-40B4-BE49-F238E27FC236}">
                <a16:creationId xmlns:a16="http://schemas.microsoft.com/office/drawing/2014/main" id="{B6F0A6F0-62BE-4739-B71B-7EFB85A91B9C}"/>
              </a:ext>
            </a:extLst>
          </p:cNvPr>
          <p:cNvSpPr>
            <a:spLocks noGrp="1"/>
          </p:cNvSpPr>
          <p:nvPr/>
        </p:nvSpPr>
        <p:spPr>
          <a:xfrm>
            <a:off x="495300" y="5603175"/>
            <a:ext cx="10820400" cy="1128969"/>
          </a:xfrm>
          <a:prstGeom prst="rect">
            <a:avLst/>
          </a:prstGeom>
          <a:noFill/>
          <a:ln w="0">
            <a:noFill/>
          </a:ln>
        </p:spPr>
        <p:txBody>
          <a:bodyPr anchor="ctr"/>
          <a:lstStyle>
            <a:defPPr algn="l">
              <a:defRPr sz="1800" b="1">
                <a:solidFill>
                  <a:srgbClr val="A52A36"/>
                </a:solidFill>
              </a:defRPr>
            </a:defPPr>
          </a:lstStyle>
          <a:p>
            <a:pPr algn="l">
              <a:defRPr sz="1800" b="1">
                <a:solidFill>
                  <a:srgbClr val="A52A36"/>
                </a:solidFill>
              </a:defRPr>
            </a:pPr>
            <a:r>
              <a:rPr lang="zh-CN" altLang="en-US" b="1" dirty="0">
                <a:solidFill>
                  <a:srgbClr val="A52A36"/>
                </a:solidFill>
              </a:rPr>
              <a:t>数据特征</a:t>
            </a:r>
            <a:r>
              <a:rPr sz="1800" b="1" dirty="0">
                <a:solidFill>
                  <a:srgbClr val="A52A36"/>
                </a:solidFill>
              </a:rPr>
              <a:t>：</a:t>
            </a:r>
            <a:r>
              <a:rPr lang="zh-CN" altLang="en-US" sz="1800" b="1" dirty="0">
                <a:solidFill>
                  <a:srgbClr val="A52A36"/>
                </a:solidFill>
              </a:rPr>
              <a:t>同一类活动中</a:t>
            </a:r>
            <a:r>
              <a:rPr sz="1800" b="1" dirty="0" err="1">
                <a:solidFill>
                  <a:srgbClr val="A52A36"/>
                </a:solidFill>
              </a:rPr>
              <a:t>回复语义高度相似，但用词多样，呈现“同义不同词”的特征</a:t>
            </a:r>
            <a:r>
              <a:rPr sz="1800" b="1" dirty="0">
                <a:solidFill>
                  <a:srgbClr val="A52A36"/>
                </a:solidFill>
              </a:rPr>
              <a:t>。</a:t>
            </a:r>
          </a:p>
        </p:txBody>
      </p:sp>
    </p:spTree>
    <p:extLst>
      <p:ext uri="{BB962C8B-B14F-4D97-AF65-F5344CB8AC3E}">
        <p14:creationId xmlns:p14="http://schemas.microsoft.com/office/powerpoint/2010/main" val="698273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32">
            <a:extLst>
              <a:ext uri="{FF2B5EF4-FFF2-40B4-BE49-F238E27FC236}">
                <a16:creationId xmlns:a16="http://schemas.microsoft.com/office/drawing/2014/main" id="{BE657BBB-0E7B-42F3-B518-74D45BDF2447}"/>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数据特征</a:t>
            </a:r>
          </a:p>
        </p:txBody>
      </p:sp>
      <p:pic>
        <p:nvPicPr>
          <p:cNvPr id="3" name="图片 4">
            <a:extLst>
              <a:ext uri="{FF2B5EF4-FFF2-40B4-BE49-F238E27FC236}">
                <a16:creationId xmlns:a16="http://schemas.microsoft.com/office/drawing/2014/main" id="{B8C6FDDD-F20A-49CA-9DFC-1D16F99C401E}"/>
              </a:ext>
            </a:extLst>
          </p:cNvPr>
          <p:cNvPicPr>
            <a:picLocks noChangeAspect="1"/>
          </p:cNvPicPr>
          <p:nvPr/>
        </p:nvPicPr>
        <p:blipFill>
          <a:blip r:embed="rId3"/>
          <a:stretch/>
        </p:blipFill>
        <p:spPr>
          <a:xfrm>
            <a:off x="685800" y="2505040"/>
            <a:ext cx="7591425" cy="3105221"/>
          </a:xfrm>
          <a:prstGeom prst="rect">
            <a:avLst/>
          </a:prstGeom>
        </p:spPr>
      </p:pic>
      <p:sp>
        <p:nvSpPr>
          <p:cNvPr id="4" name="clarity-text-165">
            <a:extLst>
              <a:ext uri="{FF2B5EF4-FFF2-40B4-BE49-F238E27FC236}">
                <a16:creationId xmlns:a16="http://schemas.microsoft.com/office/drawing/2014/main" id="{50BD1D1B-BD6D-4FED-8FFB-39E76D8C9748}"/>
              </a:ext>
            </a:extLst>
          </p:cNvPr>
          <p:cNvSpPr>
            <a:spLocks noGrp="1"/>
          </p:cNvSpPr>
          <p:nvPr/>
        </p:nvSpPr>
        <p:spPr>
          <a:xfrm>
            <a:off x="685800" y="1274750"/>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触发机器人</a:t>
            </a:r>
            <a:r>
              <a:rPr sz="2400" b="1" dirty="0" err="1">
                <a:solidFill>
                  <a:srgbClr val="A52A36"/>
                </a:solidFill>
                <a:latin typeface="Microsoft YaHei"/>
                <a:ea typeface="Microsoft YaHei"/>
              </a:rPr>
              <a:t>历史回复中的短时突发行为</a:t>
            </a:r>
            <a:endParaRPr sz="2400" b="1" dirty="0">
              <a:solidFill>
                <a:srgbClr val="A52A36"/>
              </a:solidFill>
              <a:latin typeface="Microsoft YaHei"/>
              <a:ea typeface="Microsoft YaHei"/>
            </a:endParaRPr>
          </a:p>
        </p:txBody>
      </p:sp>
      <p:sp>
        <p:nvSpPr>
          <p:cNvPr id="5" name="clarity-text-166">
            <a:extLst>
              <a:ext uri="{FF2B5EF4-FFF2-40B4-BE49-F238E27FC236}">
                <a16:creationId xmlns:a16="http://schemas.microsoft.com/office/drawing/2014/main" id="{730B05C2-D1CD-495E-B23A-5A60758E3B60}"/>
              </a:ext>
            </a:extLst>
          </p:cNvPr>
          <p:cNvSpPr>
            <a:spLocks noGrp="1"/>
          </p:cNvSpPr>
          <p:nvPr/>
        </p:nvSpPr>
        <p:spPr>
          <a:xfrm>
            <a:off x="766267" y="2141373"/>
            <a:ext cx="10820400" cy="371475"/>
          </a:xfrm>
          <a:prstGeom prst="rect">
            <a:avLst/>
          </a:prstGeom>
          <a:noFill/>
          <a:ln w="0">
            <a:noFill/>
          </a:ln>
        </p:spPr>
        <p:txBody>
          <a:bodyPr wrap="square" lIns="0" tIns="0" rIns="0" bIns="0" anchor="t">
            <a:noAutofit/>
          </a:bodyPr>
          <a:lstStyle>
            <a:defPPr algn="l">
              <a:defRPr sz="1875" b="1">
                <a:solidFill>
                  <a:srgbClr val="9F2934"/>
                </a:solidFill>
                <a:latin typeface="Microsoft YaHei"/>
                <a:ea typeface="Microsoft YaHei"/>
                <a:cs typeface="Microsoft YaHei"/>
              </a:defRPr>
            </a:defPPr>
          </a:lstStyle>
          <a:p>
            <a:pPr algn="l">
              <a:buNone/>
              <a:defRPr sz="1875" b="1">
                <a:solidFill>
                  <a:srgbClr val="9F2934"/>
                </a:solidFill>
                <a:latin typeface="Microsoft YaHei"/>
                <a:ea typeface="Microsoft YaHei"/>
                <a:cs typeface="Microsoft YaHei"/>
              </a:defRPr>
            </a:pPr>
            <a:r>
              <a:rPr lang="zh-CN" altLang="en-US" sz="1650" dirty="0">
                <a:solidFill>
                  <a:srgbClr val="26282D"/>
                </a:solidFill>
                <a:latin typeface="Microsoft YaHei"/>
                <a:ea typeface="Microsoft YaHei"/>
              </a:rPr>
              <a:t>分析方法</a:t>
            </a:r>
            <a:r>
              <a:rPr sz="1650" dirty="0">
                <a:solidFill>
                  <a:srgbClr val="26282D"/>
                </a:solidFill>
                <a:latin typeface="Microsoft YaHei"/>
                <a:ea typeface="Microsoft YaHei"/>
              </a:rPr>
              <a:t>：</a:t>
            </a:r>
            <a:r>
              <a:rPr lang="zh-CN" altLang="en-US" sz="1650" dirty="0">
                <a:solidFill>
                  <a:srgbClr val="26282D"/>
                </a:solidFill>
                <a:latin typeface="Microsoft YaHei"/>
                <a:ea typeface="Microsoft YaHei"/>
              </a:rPr>
              <a:t>整理触发机器人</a:t>
            </a:r>
            <a:r>
              <a:rPr sz="1650" dirty="0" err="1">
                <a:solidFill>
                  <a:srgbClr val="26282D"/>
                </a:solidFill>
                <a:latin typeface="Microsoft YaHei"/>
                <a:ea typeface="Microsoft YaHei"/>
              </a:rPr>
              <a:t>回复其他用户的历史记录，按时间顺序分析连续回复</a:t>
            </a:r>
            <a:endParaRPr sz="1650" dirty="0">
              <a:solidFill>
                <a:srgbClr val="26282D"/>
              </a:solidFill>
              <a:latin typeface="Microsoft YaHei"/>
              <a:ea typeface="Microsoft YaHei"/>
            </a:endParaRPr>
          </a:p>
        </p:txBody>
      </p:sp>
      <p:sp>
        <p:nvSpPr>
          <p:cNvPr id="6" name="content-group-167">
            <a:extLst>
              <a:ext uri="{FF2B5EF4-FFF2-40B4-BE49-F238E27FC236}">
                <a16:creationId xmlns:a16="http://schemas.microsoft.com/office/drawing/2014/main" id="{DCC37FD9-9F93-422F-BE92-713BFD6FEB66}"/>
              </a:ext>
            </a:extLst>
          </p:cNvPr>
          <p:cNvSpPr>
            <a:spLocks noGrp="1"/>
          </p:cNvSpPr>
          <p:nvPr/>
        </p:nvSpPr>
        <p:spPr>
          <a:xfrm>
            <a:off x="8524875" y="2714625"/>
            <a:ext cx="2981325" cy="1285875"/>
          </a:xfrm>
          <a:prstGeom prst="rect">
            <a:avLst/>
          </a:prstGeom>
          <a:noFill/>
          <a:ln w="12859">
            <a:solidFill>
              <a:srgbClr val="9F2934"/>
            </a:solidFill>
            <a:prstDash val="solid"/>
          </a:ln>
        </p:spPr>
      </p:sp>
      <p:sp>
        <p:nvSpPr>
          <p:cNvPr id="7" name="clarity-text-168">
            <a:extLst>
              <a:ext uri="{FF2B5EF4-FFF2-40B4-BE49-F238E27FC236}">
                <a16:creationId xmlns:a16="http://schemas.microsoft.com/office/drawing/2014/main" id="{6B8D37EF-A537-4B87-B8DB-1E85F9C7B2E3}"/>
              </a:ext>
            </a:extLst>
          </p:cNvPr>
          <p:cNvSpPr>
            <a:spLocks noGrp="1"/>
          </p:cNvSpPr>
          <p:nvPr/>
        </p:nvSpPr>
        <p:spPr>
          <a:xfrm>
            <a:off x="8524875" y="2286000"/>
            <a:ext cx="2981325" cy="409575"/>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buNone/>
              <a:defRPr sz="2100" b="1">
                <a:solidFill>
                  <a:srgbClr val="9F2934"/>
                </a:solidFill>
                <a:latin typeface="Microsoft YaHei"/>
                <a:ea typeface="Microsoft YaHei"/>
                <a:cs typeface="Microsoft YaHei"/>
              </a:defRPr>
            </a:pPr>
            <a:r>
              <a:rPr sz="2100" b="1" dirty="0" err="1">
                <a:solidFill>
                  <a:srgbClr val="9F2934"/>
                </a:solidFill>
                <a:latin typeface="Microsoft YaHei"/>
                <a:ea typeface="Microsoft YaHei"/>
                <a:cs typeface="Microsoft YaHei"/>
              </a:rPr>
              <a:t>短时突发的定义</a:t>
            </a:r>
            <a:endParaRPr sz="2100" b="1" dirty="0">
              <a:solidFill>
                <a:srgbClr val="9F2934"/>
              </a:solidFill>
              <a:latin typeface="Microsoft YaHei"/>
              <a:ea typeface="Microsoft YaHei"/>
              <a:cs typeface="Microsoft YaHei"/>
            </a:endParaRPr>
          </a:p>
        </p:txBody>
      </p:sp>
      <p:sp>
        <p:nvSpPr>
          <p:cNvPr id="8" name="clarity-text-169">
            <a:extLst>
              <a:ext uri="{FF2B5EF4-FFF2-40B4-BE49-F238E27FC236}">
                <a16:creationId xmlns:a16="http://schemas.microsoft.com/office/drawing/2014/main" id="{B9D86760-9B53-4FB2-9BF3-26D46A878D40}"/>
              </a:ext>
            </a:extLst>
          </p:cNvPr>
          <p:cNvSpPr>
            <a:spLocks noGrp="1"/>
          </p:cNvSpPr>
          <p:nvPr/>
        </p:nvSpPr>
        <p:spPr>
          <a:xfrm>
            <a:off x="8715375" y="2905125"/>
            <a:ext cx="2600325" cy="1047750"/>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至少 5 条连续回复，
相邻间隔 ≤ 15 秒。
另比较至少 10 条的设置。</a:t>
            </a:r>
          </a:p>
          <a:p>
            <a:pPr algn="l">
              <a:buNone/>
              <a:defRPr sz="1800" b="0">
                <a:solidFill>
                  <a:srgbClr val="26282D"/>
                </a:solidFill>
                <a:latin typeface="Microsoft YaHei"/>
                <a:ea typeface="Microsoft YaHei"/>
                <a:cs typeface="Microsoft YaHei"/>
              </a:defRPr>
            </a:pPr>
            <a:endParaRPr sz="1800" b="0" dirty="0">
              <a:solidFill>
                <a:srgbClr val="26282D"/>
              </a:solidFill>
              <a:latin typeface="Microsoft YaHei"/>
              <a:ea typeface="Microsoft YaHei"/>
              <a:cs typeface="Microsoft YaHei"/>
            </a:endParaRPr>
          </a:p>
        </p:txBody>
      </p:sp>
      <p:sp>
        <p:nvSpPr>
          <p:cNvPr id="9" name="clarity-text-173">
            <a:extLst>
              <a:ext uri="{FF2B5EF4-FFF2-40B4-BE49-F238E27FC236}">
                <a16:creationId xmlns:a16="http://schemas.microsoft.com/office/drawing/2014/main" id="{C098B4A2-0E84-4C43-BD61-75A2ACD2B17D}"/>
              </a:ext>
            </a:extLst>
          </p:cNvPr>
          <p:cNvSpPr>
            <a:spLocks noGrp="1"/>
          </p:cNvSpPr>
          <p:nvPr/>
        </p:nvSpPr>
        <p:spPr>
          <a:xfrm>
            <a:off x="685800" y="5905500"/>
            <a:ext cx="10820400" cy="590550"/>
          </a:xfrm>
          <a:prstGeom prst="rect">
            <a:avLst/>
          </a:prstGeom>
          <a:noFill/>
          <a:ln w="0">
            <a:noFill/>
          </a:ln>
        </p:spPr>
        <p:txBody>
          <a:bodyPr wrap="square" lIns="0" tIns="0" rIns="0" bIns="0" anchor="t">
            <a:noAutofit/>
          </a:bodyPr>
          <a:lstStyle>
            <a:defPPr algn="l">
              <a:defRPr sz="1650" b="0">
                <a:solidFill>
                  <a:srgbClr val="26282D"/>
                </a:solidFill>
                <a:latin typeface="Microsoft YaHei"/>
                <a:ea typeface="Microsoft YaHei"/>
                <a:cs typeface="Microsoft YaHei"/>
              </a:defRPr>
            </a:defPPr>
          </a:lstStyle>
          <a:p>
            <a:pPr algn="l">
              <a:buNone/>
              <a:defRPr sz="1650" b="0">
                <a:solidFill>
                  <a:srgbClr val="26282D"/>
                </a:solidFill>
                <a:latin typeface="Microsoft YaHei"/>
                <a:ea typeface="Microsoft YaHei"/>
                <a:cs typeface="Microsoft YaHei"/>
              </a:defRPr>
            </a:pPr>
            <a:r>
              <a:rPr sz="1650" b="0" dirty="0" err="1">
                <a:solidFill>
                  <a:srgbClr val="26282D"/>
                </a:solidFill>
                <a:latin typeface="Microsoft YaHei"/>
                <a:ea typeface="Microsoft YaHei"/>
                <a:cs typeface="Microsoft YaHei"/>
              </a:rPr>
              <a:t>横轴</a:t>
            </a:r>
            <a:r>
              <a:rPr sz="1650" b="0" dirty="0">
                <a:solidFill>
                  <a:srgbClr val="26282D"/>
                </a:solidFill>
                <a:latin typeface="Microsoft YaHei"/>
                <a:ea typeface="Microsoft YaHei"/>
                <a:cs typeface="Microsoft YaHei"/>
              </a:rPr>
              <a:t> Time (in seconds)：</a:t>
            </a:r>
            <a:r>
              <a:rPr sz="1650" b="0" dirty="0" err="1">
                <a:solidFill>
                  <a:srgbClr val="26282D"/>
                </a:solidFill>
                <a:latin typeface="Microsoft YaHei"/>
                <a:ea typeface="Microsoft YaHei"/>
                <a:cs typeface="Microsoft YaHei"/>
              </a:rPr>
              <a:t>时间窗口长度</a:t>
            </a:r>
            <a:r>
              <a:rPr sz="1650" b="0" dirty="0">
                <a:solidFill>
                  <a:srgbClr val="26282D"/>
                </a:solidFill>
                <a:latin typeface="Microsoft YaHei"/>
                <a:ea typeface="Microsoft YaHei"/>
                <a:cs typeface="Microsoft YaHei"/>
              </a:rPr>
              <a:t> </a:t>
            </a:r>
            <a:r>
              <a:rPr sz="1650" b="0" dirty="0" err="1">
                <a:solidFill>
                  <a:srgbClr val="26282D"/>
                </a:solidFill>
                <a:latin typeface="Microsoft YaHei"/>
                <a:ea typeface="Microsoft YaHei"/>
                <a:cs typeface="Microsoft YaHei"/>
              </a:rPr>
              <a:t>t。纵轴</a:t>
            </a:r>
            <a:r>
              <a:rPr sz="1650" b="0" dirty="0">
                <a:solidFill>
                  <a:srgbClr val="26282D"/>
                </a:solidFill>
                <a:latin typeface="Microsoft YaHei"/>
                <a:ea typeface="Microsoft YaHei"/>
                <a:cs typeface="Microsoft YaHei"/>
              </a:rPr>
              <a:t> CDF (TB Agents)：</a:t>
            </a:r>
            <a:r>
              <a:rPr sz="1650" b="0" dirty="0" err="1">
                <a:solidFill>
                  <a:srgbClr val="26282D"/>
                </a:solidFill>
                <a:latin typeface="Microsoft YaHei"/>
                <a:ea typeface="Microsoft YaHei"/>
                <a:cs typeface="Microsoft YaHei"/>
              </a:rPr>
              <a:t>累计账户比例</a:t>
            </a:r>
            <a:r>
              <a:rPr sz="1650" b="0" dirty="0">
                <a:solidFill>
                  <a:srgbClr val="26282D"/>
                </a:solidFill>
                <a:latin typeface="Microsoft YaHei"/>
                <a:ea typeface="Microsoft YaHei"/>
                <a:cs typeface="Microsoft YaHei"/>
              </a:rPr>
              <a:t>。</a:t>
            </a:r>
          </a:p>
          <a:p>
            <a:pPr algn="l">
              <a:buNone/>
              <a:defRPr sz="1650" b="0">
                <a:solidFill>
                  <a:srgbClr val="26282D"/>
                </a:solidFill>
                <a:latin typeface="Microsoft YaHei"/>
                <a:ea typeface="Microsoft YaHei"/>
                <a:cs typeface="Microsoft YaHei"/>
              </a:defRPr>
            </a:pPr>
            <a:r>
              <a:rPr sz="1650" b="0" dirty="0" err="1">
                <a:solidFill>
                  <a:srgbClr val="26282D"/>
                </a:solidFill>
                <a:latin typeface="Microsoft YaHei"/>
                <a:ea typeface="Microsoft YaHei"/>
                <a:cs typeface="Microsoft YaHei"/>
              </a:rPr>
              <a:t>左图至少连续</a:t>
            </a:r>
            <a:r>
              <a:rPr sz="1650" b="0" dirty="0">
                <a:solidFill>
                  <a:srgbClr val="26282D"/>
                </a:solidFill>
                <a:latin typeface="Microsoft YaHei"/>
                <a:ea typeface="Microsoft YaHei"/>
                <a:cs typeface="Microsoft YaHei"/>
              </a:rPr>
              <a:t> 5 条</a:t>
            </a:r>
            <a:r>
              <a:rPr lang="zh-CN" altLang="en-US" sz="1650" b="0" dirty="0">
                <a:solidFill>
                  <a:srgbClr val="26282D"/>
                </a:solidFill>
                <a:latin typeface="Microsoft YaHei"/>
                <a:ea typeface="Microsoft YaHei"/>
                <a:cs typeface="Microsoft YaHei"/>
              </a:rPr>
              <a:t>连续回复</a:t>
            </a:r>
            <a:r>
              <a:rPr sz="1650" b="0" dirty="0">
                <a:solidFill>
                  <a:srgbClr val="26282D"/>
                </a:solidFill>
                <a:latin typeface="Microsoft YaHei"/>
                <a:ea typeface="Microsoft YaHei"/>
                <a:cs typeface="Microsoft YaHei"/>
              </a:rPr>
              <a:t>，</a:t>
            </a:r>
            <a:r>
              <a:rPr sz="1650" b="0" dirty="0" err="1">
                <a:solidFill>
                  <a:srgbClr val="26282D"/>
                </a:solidFill>
                <a:latin typeface="Microsoft YaHei"/>
                <a:ea typeface="Microsoft YaHei"/>
                <a:cs typeface="Microsoft YaHei"/>
              </a:rPr>
              <a:t>右图</a:t>
            </a:r>
            <a:r>
              <a:rPr lang="zh-CN" altLang="en-US" sz="1650" b="0" dirty="0">
                <a:solidFill>
                  <a:srgbClr val="26282D"/>
                </a:solidFill>
                <a:latin typeface="Microsoft YaHei"/>
                <a:ea typeface="Microsoft YaHei"/>
                <a:cs typeface="Microsoft YaHei"/>
              </a:rPr>
              <a:t>为</a:t>
            </a:r>
            <a:r>
              <a:rPr sz="1650" b="0" dirty="0" err="1">
                <a:solidFill>
                  <a:srgbClr val="26282D"/>
                </a:solidFill>
                <a:latin typeface="Microsoft YaHei"/>
                <a:ea typeface="Microsoft YaHei"/>
                <a:cs typeface="Microsoft YaHei"/>
              </a:rPr>
              <a:t>至少</a:t>
            </a:r>
            <a:r>
              <a:rPr sz="1650" b="0" dirty="0">
                <a:solidFill>
                  <a:srgbClr val="26282D"/>
                </a:solidFill>
                <a:latin typeface="Microsoft YaHei"/>
                <a:ea typeface="Microsoft YaHei"/>
                <a:cs typeface="Microsoft YaHei"/>
              </a:rPr>
              <a:t> 10 条；</a:t>
            </a:r>
          </a:p>
        </p:txBody>
      </p:sp>
      <p:pic>
        <p:nvPicPr>
          <p:cNvPr id="10"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1"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dirty="0">
                <a:solidFill>
                  <a:srgbClr val="777777"/>
                </a:solidFill>
                <a:latin typeface="Microsoft YaHei"/>
                <a:ea typeface="Microsoft YaHei"/>
                <a:cs typeface="Microsoft YaHei"/>
              </a:rPr>
              <a:t>15/33</a:t>
            </a:r>
          </a:p>
        </p:txBody>
      </p:sp>
      <p:sp>
        <p:nvSpPr>
          <p:cNvPr id="12" name="矩形 11">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13" name="矩形 12">
            <a:extLst>
              <a:ext uri="{FF2B5EF4-FFF2-40B4-BE49-F238E27FC236}">
                <a16:creationId xmlns:a16="http://schemas.microsoft.com/office/drawing/2014/main" id="{37BA409C-848D-4550-B114-F19AFF564A9A}"/>
              </a:ext>
            </a:extLst>
          </p:cNvPr>
          <p:cNvSpPr>
            <a:spLocks noGrp="1"/>
          </p:cNvSpPr>
          <p:nvPr/>
        </p:nvSpPr>
        <p:spPr>
          <a:xfrm>
            <a:off x="8524875" y="4229100"/>
            <a:ext cx="2981325" cy="361950"/>
          </a:xfrm>
          <a:prstGeom prst="rect">
            <a:avLst/>
          </a:prstGeom>
          <a:noFill/>
          <a:ln w="0">
            <a:noFill/>
          </a:ln>
        </p:spPr>
        <p:txBody>
          <a:bodyPr anchor="ctr"/>
          <a:lstStyle>
            <a:defPPr algn="l">
              <a:defRPr sz="2100" b="1">
                <a:solidFill>
                  <a:srgbClr val="A52A36"/>
                </a:solidFill>
              </a:defRPr>
            </a:defPPr>
          </a:lstStyle>
          <a:p>
            <a:pPr algn="l">
              <a:defRPr sz="2100" b="1">
                <a:solidFill>
                  <a:srgbClr val="A52A36"/>
                </a:solidFill>
              </a:defRPr>
            </a:pPr>
            <a:r>
              <a:rPr sz="2100" b="1">
                <a:solidFill>
                  <a:srgbClr val="A52A36"/>
                </a:solidFill>
              </a:rPr>
              <a:t>数据特征</a:t>
            </a:r>
          </a:p>
        </p:txBody>
      </p:sp>
      <p:sp>
        <p:nvSpPr>
          <p:cNvPr id="14" name="矩形 13">
            <a:extLst>
              <a:ext uri="{FF2B5EF4-FFF2-40B4-BE49-F238E27FC236}">
                <a16:creationId xmlns:a16="http://schemas.microsoft.com/office/drawing/2014/main" id="{8A2BA297-54E0-4CD9-AC0E-8985052A0DA3}"/>
              </a:ext>
            </a:extLst>
          </p:cNvPr>
          <p:cNvSpPr>
            <a:spLocks noGrp="1"/>
          </p:cNvSpPr>
          <p:nvPr/>
        </p:nvSpPr>
        <p:spPr>
          <a:xfrm>
            <a:off x="8524875" y="4648200"/>
            <a:ext cx="2981325" cy="1104900"/>
          </a:xfrm>
          <a:prstGeom prst="rect">
            <a:avLst/>
          </a:prstGeom>
          <a:noFill/>
          <a:ln w="0">
            <a:noFill/>
          </a:ln>
        </p:spPr>
        <p:txBody>
          <a:bodyPr anchor="ctr"/>
          <a:lstStyle>
            <a:defPPr algn="l">
              <a:defRPr sz="1800" b="0">
                <a:solidFill>
                  <a:srgbClr val="333333"/>
                </a:solidFill>
              </a:defRPr>
            </a:defPPr>
          </a:lstStyle>
          <a:p>
            <a:pPr algn="l">
              <a:defRPr sz="1800" b="0">
                <a:solidFill>
                  <a:srgbClr val="333333"/>
                </a:solidFill>
              </a:defRPr>
            </a:pPr>
            <a:r>
              <a:rPr sz="1800" b="0" dirty="0" err="1">
                <a:solidFill>
                  <a:srgbClr val="333333"/>
                </a:solidFill>
              </a:rPr>
              <a:t>超过</a:t>
            </a:r>
            <a:r>
              <a:rPr sz="1800" b="0" dirty="0">
                <a:solidFill>
                  <a:srgbClr val="333333"/>
                </a:solidFill>
              </a:rPr>
              <a:t> 3/4 </a:t>
            </a:r>
            <a:r>
              <a:rPr sz="1800" b="0" dirty="0" err="1">
                <a:solidFill>
                  <a:srgbClr val="333333"/>
                </a:solidFill>
              </a:rPr>
              <a:t>的赠奖类账号出现短时突发</a:t>
            </a:r>
            <a:r>
              <a:rPr lang="zh-CN" altLang="en-US" sz="1800" b="0" dirty="0">
                <a:solidFill>
                  <a:srgbClr val="333333"/>
                </a:solidFill>
              </a:rPr>
              <a:t>行为</a:t>
            </a:r>
            <a:r>
              <a:rPr sz="1800" b="0" dirty="0">
                <a:solidFill>
                  <a:srgbClr val="333333"/>
                </a:solidFill>
              </a:rPr>
              <a:t>，</a:t>
            </a:r>
            <a:r>
              <a:rPr sz="1800" b="0" dirty="0" err="1">
                <a:solidFill>
                  <a:srgbClr val="333333"/>
                </a:solidFill>
              </a:rPr>
              <a:t>客服类回复较慢。不同活动的回复节奏存在明显差异</a:t>
            </a:r>
            <a:r>
              <a:rPr sz="1800" b="0" dirty="0">
                <a:solidFill>
                  <a:srgbClr val="333333"/>
                </a:solidFill>
              </a:rPr>
              <a:t>。</a:t>
            </a:r>
          </a:p>
        </p:txBody>
      </p:sp>
      <p:sp>
        <p:nvSpPr>
          <p:cNvPr id="16" name="content-group-167">
            <a:extLst>
              <a:ext uri="{FF2B5EF4-FFF2-40B4-BE49-F238E27FC236}">
                <a16:creationId xmlns:a16="http://schemas.microsoft.com/office/drawing/2014/main" id="{8213A269-93E1-9356-8BB5-A397D6D1E97F}"/>
              </a:ext>
            </a:extLst>
          </p:cNvPr>
          <p:cNvSpPr>
            <a:spLocks noGrp="1"/>
          </p:cNvSpPr>
          <p:nvPr/>
        </p:nvSpPr>
        <p:spPr>
          <a:xfrm>
            <a:off x="8605342" y="4575899"/>
            <a:ext cx="2981325" cy="1285875"/>
          </a:xfrm>
          <a:prstGeom prst="rect">
            <a:avLst/>
          </a:prstGeom>
          <a:noFill/>
          <a:ln w="12859">
            <a:solidFill>
              <a:srgbClr val="9F2934"/>
            </a:solidFill>
            <a:prstDash val="solid"/>
          </a:ln>
        </p:spPr>
      </p:sp>
    </p:spTree>
    <p:extLst>
      <p:ext uri="{BB962C8B-B14F-4D97-AF65-F5344CB8AC3E}">
        <p14:creationId xmlns:p14="http://schemas.microsoft.com/office/powerpoint/2010/main" val="2057353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49">
            <a:extLst>
              <a:ext uri="{FF2B5EF4-FFF2-40B4-BE49-F238E27FC236}">
                <a16:creationId xmlns:a16="http://schemas.microsoft.com/office/drawing/2014/main" id="{594B75CA-BF5B-4737-9587-EE5612E3E3D4}"/>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数据特征</a:t>
            </a:r>
            <a:endParaRPr sz="3300" b="1" dirty="0">
              <a:solidFill>
                <a:srgbClr val="A52A36"/>
              </a:solidFill>
              <a:latin typeface="Microsoft YaHei"/>
              <a:ea typeface="Microsoft YaHei"/>
            </a:endParaRPr>
          </a:p>
        </p:txBody>
      </p:sp>
      <p:sp>
        <p:nvSpPr>
          <p:cNvPr id="3" name="clarity-text-187">
            <a:extLst>
              <a:ext uri="{FF2B5EF4-FFF2-40B4-BE49-F238E27FC236}">
                <a16:creationId xmlns:a16="http://schemas.microsoft.com/office/drawing/2014/main" id="{E2C132AB-30C1-42A3-99A8-144EE964BB10}"/>
              </a:ext>
            </a:extLst>
          </p:cNvPr>
          <p:cNvSpPr>
            <a:spLocks noGrp="1"/>
          </p:cNvSpPr>
          <p:nvPr/>
        </p:nvSpPr>
        <p:spPr>
          <a:xfrm>
            <a:off x="685800" y="1183482"/>
            <a:ext cx="10820400" cy="609600"/>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触发代理机器人</a:t>
            </a:r>
            <a:r>
              <a:rPr sz="2400" b="1" dirty="0" err="1">
                <a:solidFill>
                  <a:srgbClr val="A52A36"/>
                </a:solidFill>
                <a:latin typeface="Microsoft YaHei"/>
                <a:ea typeface="Microsoft YaHei"/>
              </a:rPr>
              <a:t>共享联系方式与活动关联</a:t>
            </a:r>
            <a:endParaRPr sz="2400" b="1" dirty="0">
              <a:solidFill>
                <a:srgbClr val="A52A36"/>
              </a:solidFill>
              <a:latin typeface="Microsoft YaHei"/>
              <a:ea typeface="Microsoft YaHei"/>
            </a:endParaRPr>
          </a:p>
        </p:txBody>
      </p:sp>
      <p:sp>
        <p:nvSpPr>
          <p:cNvPr id="4" name="clarity-text-188">
            <a:extLst>
              <a:ext uri="{FF2B5EF4-FFF2-40B4-BE49-F238E27FC236}">
                <a16:creationId xmlns:a16="http://schemas.microsoft.com/office/drawing/2014/main" id="{110F4F06-DCCF-43A9-A92D-C2592C5CE189}"/>
              </a:ext>
            </a:extLst>
          </p:cNvPr>
          <p:cNvSpPr>
            <a:spLocks noGrp="1"/>
          </p:cNvSpPr>
          <p:nvPr/>
        </p:nvSpPr>
        <p:spPr>
          <a:xfrm>
            <a:off x="685800" y="1826419"/>
            <a:ext cx="10820400" cy="381000"/>
          </a:xfrm>
          <a:prstGeom prst="rect">
            <a:avLst/>
          </a:prstGeom>
          <a:noFill/>
          <a:ln w="0">
            <a:noFill/>
          </a:ln>
        </p:spPr>
        <p:txBody>
          <a:bodyPr wrap="square" lIns="0" tIns="0" rIns="0" bIns="0" anchor="t">
            <a:noAutofit/>
          </a:bodyPr>
          <a:lstStyle>
            <a:defPPr algn="l">
              <a:defRPr sz="1875" b="1">
                <a:solidFill>
                  <a:srgbClr val="9F2934"/>
                </a:solidFill>
                <a:latin typeface="Microsoft YaHei"/>
                <a:ea typeface="Microsoft YaHei"/>
                <a:cs typeface="Microsoft YaHei"/>
              </a:defRPr>
            </a:defPPr>
          </a:lstStyle>
          <a:p>
            <a:pPr algn="l">
              <a:buNone/>
              <a:defRPr sz="1875" b="1">
                <a:solidFill>
                  <a:srgbClr val="9F2934"/>
                </a:solidFill>
                <a:latin typeface="Microsoft YaHei"/>
                <a:ea typeface="Microsoft YaHei"/>
                <a:cs typeface="Microsoft YaHei"/>
              </a:defRPr>
            </a:pPr>
            <a:r>
              <a:rPr lang="zh-CN" altLang="en-US" sz="1875" b="1" dirty="0">
                <a:solidFill>
                  <a:srgbClr val="9F2934"/>
                </a:solidFill>
                <a:latin typeface="Microsoft YaHei"/>
                <a:ea typeface="Microsoft YaHei"/>
                <a:cs typeface="Microsoft YaHei"/>
              </a:rPr>
              <a:t>引流</a:t>
            </a:r>
            <a:r>
              <a:rPr sz="1875" b="1" dirty="0" err="1">
                <a:solidFill>
                  <a:srgbClr val="9F2934"/>
                </a:solidFill>
                <a:latin typeface="Microsoft YaHei"/>
                <a:ea typeface="Microsoft YaHei"/>
                <a:cs typeface="Microsoft YaHei"/>
              </a:rPr>
              <a:t>端点</a:t>
            </a:r>
            <a:r>
              <a:rPr sz="1875" b="1" dirty="0">
                <a:solidFill>
                  <a:srgbClr val="9F2934"/>
                </a:solidFill>
                <a:latin typeface="Microsoft YaHei"/>
                <a:ea typeface="Microsoft YaHei"/>
                <a:cs typeface="Microsoft YaHei"/>
              </a:rPr>
              <a:t>：</a:t>
            </a:r>
            <a:r>
              <a:rPr lang="zh-CN" altLang="en-US" sz="1875" b="1" dirty="0">
                <a:solidFill>
                  <a:srgbClr val="9F2934"/>
                </a:solidFill>
                <a:latin typeface="Microsoft YaHei"/>
                <a:ea typeface="Microsoft YaHei"/>
                <a:cs typeface="Microsoft YaHei"/>
              </a:rPr>
              <a:t>触发机器人</a:t>
            </a:r>
            <a:r>
              <a:rPr sz="1875" b="1" dirty="0" err="1">
                <a:solidFill>
                  <a:srgbClr val="9F2934"/>
                </a:solidFill>
                <a:latin typeface="Microsoft YaHei"/>
                <a:ea typeface="Microsoft YaHei"/>
                <a:cs typeface="Microsoft YaHei"/>
              </a:rPr>
              <a:t>回复中</a:t>
            </a:r>
            <a:r>
              <a:rPr lang="zh-CN" altLang="en-US" sz="1875" b="1" dirty="0">
                <a:solidFill>
                  <a:srgbClr val="9F2934"/>
                </a:solidFill>
                <a:latin typeface="Microsoft YaHei"/>
                <a:ea typeface="Microsoft YaHei"/>
                <a:cs typeface="Microsoft YaHei"/>
              </a:rPr>
              <a:t>提及</a:t>
            </a:r>
            <a:r>
              <a:rPr sz="1875" b="1" dirty="0" err="1">
                <a:solidFill>
                  <a:srgbClr val="9F2934"/>
                </a:solidFill>
                <a:latin typeface="Microsoft YaHei"/>
                <a:ea typeface="Microsoft YaHei"/>
                <a:cs typeface="Microsoft YaHei"/>
              </a:rPr>
              <a:t>的邮箱、网址或账号等联系方式</a:t>
            </a:r>
            <a:r>
              <a:rPr lang="zh-CN" altLang="en-US" sz="1875" b="1" dirty="0">
                <a:solidFill>
                  <a:srgbClr val="9F2934"/>
                </a:solidFill>
                <a:latin typeface="Microsoft YaHei"/>
                <a:ea typeface="Microsoft YaHei"/>
                <a:cs typeface="Microsoft YaHei"/>
              </a:rPr>
              <a:t>。</a:t>
            </a:r>
            <a:endParaRPr sz="1875" b="1" dirty="0">
              <a:solidFill>
                <a:srgbClr val="9F2934"/>
              </a:solidFill>
              <a:latin typeface="Microsoft YaHei"/>
              <a:ea typeface="Microsoft YaHei"/>
              <a:cs typeface="Microsoft YaHei"/>
            </a:endParaRPr>
          </a:p>
        </p:txBody>
      </p:sp>
      <p:sp>
        <p:nvSpPr>
          <p:cNvPr id="5" name="content-group-189">
            <a:extLst>
              <a:ext uri="{FF2B5EF4-FFF2-40B4-BE49-F238E27FC236}">
                <a16:creationId xmlns:a16="http://schemas.microsoft.com/office/drawing/2014/main" id="{A8ED4920-7D20-4774-BFDB-595F13F8ADE4}"/>
              </a:ext>
            </a:extLst>
          </p:cNvPr>
          <p:cNvSpPr>
            <a:spLocks noGrp="1"/>
          </p:cNvSpPr>
          <p:nvPr/>
        </p:nvSpPr>
        <p:spPr>
          <a:xfrm>
            <a:off x="685800" y="2600325"/>
            <a:ext cx="1981200" cy="742950"/>
          </a:xfrm>
          <a:prstGeom prst="rect">
            <a:avLst/>
          </a:prstGeom>
          <a:solidFill>
            <a:srgbClr val="F7EAEB"/>
          </a:solidFill>
          <a:ln w="0">
            <a:noFill/>
          </a:ln>
        </p:spPr>
      </p:sp>
      <p:sp>
        <p:nvSpPr>
          <p:cNvPr id="6" name="clarity-text-190">
            <a:extLst>
              <a:ext uri="{FF2B5EF4-FFF2-40B4-BE49-F238E27FC236}">
                <a16:creationId xmlns:a16="http://schemas.microsoft.com/office/drawing/2014/main" id="{F1E046B9-9CA3-4A08-AAD5-87C3E1F3FDE2}"/>
              </a:ext>
            </a:extLst>
          </p:cNvPr>
          <p:cNvSpPr>
            <a:spLocks noGrp="1"/>
          </p:cNvSpPr>
          <p:nvPr/>
        </p:nvSpPr>
        <p:spPr>
          <a:xfrm>
            <a:off x="914400" y="2800350"/>
            <a:ext cx="1524000" cy="371475"/>
          </a:xfrm>
          <a:prstGeom prst="rect">
            <a:avLst/>
          </a:prstGeom>
          <a:noFill/>
          <a:ln w="0">
            <a:noFill/>
          </a:ln>
        </p:spPr>
        <p:txBody>
          <a:bodyPr wrap="square" lIns="0" tIns="0" rIns="0" bIns="0" anchor="t">
            <a:noAutofit/>
          </a:bodyPr>
          <a:lstStyle>
            <a:defPPr algn="l">
              <a:defRPr sz="2175" b="1">
                <a:solidFill>
                  <a:srgbClr val="26282D"/>
                </a:solidFill>
                <a:latin typeface="Microsoft YaHei"/>
                <a:ea typeface="Microsoft YaHei"/>
                <a:cs typeface="Microsoft YaHei"/>
              </a:defRPr>
            </a:defPPr>
          </a:lstStyle>
          <a:p>
            <a:pPr algn="l">
              <a:buNone/>
              <a:defRPr sz="2175" b="1">
                <a:solidFill>
                  <a:srgbClr val="26282D"/>
                </a:solidFill>
                <a:latin typeface="Microsoft YaHei"/>
                <a:ea typeface="Microsoft YaHei"/>
                <a:cs typeface="Microsoft YaHei"/>
              </a:defRPr>
            </a:pPr>
            <a:r>
              <a:rPr sz="2175" b="1">
                <a:solidFill>
                  <a:srgbClr val="26282D"/>
                </a:solidFill>
                <a:latin typeface="Microsoft YaHei"/>
                <a:ea typeface="Microsoft YaHei"/>
                <a:cs typeface="Microsoft YaHei"/>
              </a:rPr>
              <a:t>代理 A</a:t>
            </a:r>
          </a:p>
        </p:txBody>
      </p:sp>
      <p:sp>
        <p:nvSpPr>
          <p:cNvPr id="7" name="content-group-191">
            <a:extLst>
              <a:ext uri="{FF2B5EF4-FFF2-40B4-BE49-F238E27FC236}">
                <a16:creationId xmlns:a16="http://schemas.microsoft.com/office/drawing/2014/main" id="{A199EBE0-F6E1-4065-B51D-367AC915AC8E}"/>
              </a:ext>
            </a:extLst>
          </p:cNvPr>
          <p:cNvSpPr>
            <a:spLocks noGrp="1"/>
          </p:cNvSpPr>
          <p:nvPr/>
        </p:nvSpPr>
        <p:spPr>
          <a:xfrm>
            <a:off x="685800" y="3648075"/>
            <a:ext cx="1981200" cy="742950"/>
          </a:xfrm>
          <a:prstGeom prst="rect">
            <a:avLst/>
          </a:prstGeom>
          <a:solidFill>
            <a:srgbClr val="F7EAEB"/>
          </a:solidFill>
          <a:ln w="0">
            <a:noFill/>
          </a:ln>
        </p:spPr>
      </p:sp>
      <p:sp>
        <p:nvSpPr>
          <p:cNvPr id="8" name="clarity-text-192">
            <a:extLst>
              <a:ext uri="{FF2B5EF4-FFF2-40B4-BE49-F238E27FC236}">
                <a16:creationId xmlns:a16="http://schemas.microsoft.com/office/drawing/2014/main" id="{B75D21E7-EE1C-4315-8919-7537A1F9964F}"/>
              </a:ext>
            </a:extLst>
          </p:cNvPr>
          <p:cNvSpPr>
            <a:spLocks noGrp="1"/>
          </p:cNvSpPr>
          <p:nvPr/>
        </p:nvSpPr>
        <p:spPr>
          <a:xfrm>
            <a:off x="914400" y="3848100"/>
            <a:ext cx="1524000" cy="371475"/>
          </a:xfrm>
          <a:prstGeom prst="rect">
            <a:avLst/>
          </a:prstGeom>
          <a:noFill/>
          <a:ln w="0">
            <a:noFill/>
          </a:ln>
        </p:spPr>
        <p:txBody>
          <a:bodyPr wrap="square" lIns="0" tIns="0" rIns="0" bIns="0" anchor="t">
            <a:noAutofit/>
          </a:bodyPr>
          <a:lstStyle>
            <a:defPPr algn="l">
              <a:defRPr sz="2175" b="1">
                <a:solidFill>
                  <a:srgbClr val="26282D"/>
                </a:solidFill>
                <a:latin typeface="Microsoft YaHei"/>
                <a:ea typeface="Microsoft YaHei"/>
                <a:cs typeface="Microsoft YaHei"/>
              </a:defRPr>
            </a:defPPr>
          </a:lstStyle>
          <a:p>
            <a:pPr algn="l">
              <a:buNone/>
              <a:defRPr sz="2175" b="1">
                <a:solidFill>
                  <a:srgbClr val="26282D"/>
                </a:solidFill>
                <a:latin typeface="Microsoft YaHei"/>
                <a:ea typeface="Microsoft YaHei"/>
                <a:cs typeface="Microsoft YaHei"/>
              </a:defRPr>
            </a:pPr>
            <a:r>
              <a:rPr sz="2175" b="1">
                <a:solidFill>
                  <a:srgbClr val="26282D"/>
                </a:solidFill>
                <a:latin typeface="Microsoft YaHei"/>
                <a:ea typeface="Microsoft YaHei"/>
                <a:cs typeface="Microsoft YaHei"/>
              </a:rPr>
              <a:t>代理 B</a:t>
            </a:r>
          </a:p>
        </p:txBody>
      </p:sp>
      <p:sp>
        <p:nvSpPr>
          <p:cNvPr id="9" name="content-group-193">
            <a:extLst>
              <a:ext uri="{FF2B5EF4-FFF2-40B4-BE49-F238E27FC236}">
                <a16:creationId xmlns:a16="http://schemas.microsoft.com/office/drawing/2014/main" id="{E0D3BBE0-297D-4C6B-AD6F-66AF8DDFC876}"/>
              </a:ext>
            </a:extLst>
          </p:cNvPr>
          <p:cNvSpPr>
            <a:spLocks noGrp="1"/>
          </p:cNvSpPr>
          <p:nvPr/>
        </p:nvSpPr>
        <p:spPr>
          <a:xfrm>
            <a:off x="685800" y="4695825"/>
            <a:ext cx="1981200" cy="742950"/>
          </a:xfrm>
          <a:prstGeom prst="rect">
            <a:avLst/>
          </a:prstGeom>
          <a:solidFill>
            <a:srgbClr val="F7EAEB"/>
          </a:solidFill>
          <a:ln w="0">
            <a:noFill/>
          </a:ln>
        </p:spPr>
      </p:sp>
      <p:sp>
        <p:nvSpPr>
          <p:cNvPr id="10" name="clarity-text-194">
            <a:extLst>
              <a:ext uri="{FF2B5EF4-FFF2-40B4-BE49-F238E27FC236}">
                <a16:creationId xmlns:a16="http://schemas.microsoft.com/office/drawing/2014/main" id="{7535DFF0-A2A7-47A8-A304-9BF4FDBF4393}"/>
              </a:ext>
            </a:extLst>
          </p:cNvPr>
          <p:cNvSpPr>
            <a:spLocks noGrp="1"/>
          </p:cNvSpPr>
          <p:nvPr/>
        </p:nvSpPr>
        <p:spPr>
          <a:xfrm>
            <a:off x="914400" y="4895850"/>
            <a:ext cx="1524000" cy="371475"/>
          </a:xfrm>
          <a:prstGeom prst="rect">
            <a:avLst/>
          </a:prstGeom>
          <a:noFill/>
          <a:ln w="0">
            <a:noFill/>
          </a:ln>
        </p:spPr>
        <p:txBody>
          <a:bodyPr wrap="square" lIns="0" tIns="0" rIns="0" bIns="0" anchor="t">
            <a:noAutofit/>
          </a:bodyPr>
          <a:lstStyle>
            <a:defPPr algn="l">
              <a:defRPr sz="2175" b="1">
                <a:solidFill>
                  <a:srgbClr val="26282D"/>
                </a:solidFill>
                <a:latin typeface="Microsoft YaHei"/>
                <a:ea typeface="Microsoft YaHei"/>
                <a:cs typeface="Microsoft YaHei"/>
              </a:defRPr>
            </a:defPPr>
          </a:lstStyle>
          <a:p>
            <a:pPr algn="l">
              <a:buNone/>
              <a:defRPr sz="2175" b="1">
                <a:solidFill>
                  <a:srgbClr val="26282D"/>
                </a:solidFill>
                <a:latin typeface="Microsoft YaHei"/>
                <a:ea typeface="Microsoft YaHei"/>
                <a:cs typeface="Microsoft YaHei"/>
              </a:defRPr>
            </a:pPr>
            <a:r>
              <a:rPr sz="2175" b="1">
                <a:solidFill>
                  <a:srgbClr val="26282D"/>
                </a:solidFill>
                <a:latin typeface="Microsoft YaHei"/>
                <a:ea typeface="Microsoft YaHei"/>
                <a:cs typeface="Microsoft YaHei"/>
              </a:rPr>
              <a:t>代理 C</a:t>
            </a:r>
          </a:p>
        </p:txBody>
      </p:sp>
      <p:sp>
        <p:nvSpPr>
          <p:cNvPr id="11" name="content-group-195">
            <a:extLst>
              <a:ext uri="{FF2B5EF4-FFF2-40B4-BE49-F238E27FC236}">
                <a16:creationId xmlns:a16="http://schemas.microsoft.com/office/drawing/2014/main" id="{E99BAEF6-DD96-4482-875B-79094CBC811B}"/>
              </a:ext>
            </a:extLst>
          </p:cNvPr>
          <p:cNvSpPr>
            <a:spLocks noGrp="1"/>
          </p:cNvSpPr>
          <p:nvPr/>
        </p:nvSpPr>
        <p:spPr>
          <a:xfrm>
            <a:off x="4162425" y="3567112"/>
            <a:ext cx="2011604" cy="904875"/>
          </a:xfrm>
          <a:prstGeom prst="rect">
            <a:avLst/>
          </a:prstGeom>
          <a:solidFill>
            <a:srgbClr val="EAF3F1"/>
          </a:solidFill>
          <a:ln w="0">
            <a:noFill/>
          </a:ln>
        </p:spPr>
      </p:sp>
      <p:sp>
        <p:nvSpPr>
          <p:cNvPr id="12" name="clarity-text-196">
            <a:extLst>
              <a:ext uri="{FF2B5EF4-FFF2-40B4-BE49-F238E27FC236}">
                <a16:creationId xmlns:a16="http://schemas.microsoft.com/office/drawing/2014/main" id="{DA420F8D-A3BB-482C-A372-6C256B4741FE}"/>
              </a:ext>
            </a:extLst>
          </p:cNvPr>
          <p:cNvSpPr>
            <a:spLocks noGrp="1"/>
          </p:cNvSpPr>
          <p:nvPr/>
        </p:nvSpPr>
        <p:spPr>
          <a:xfrm>
            <a:off x="4219575" y="3838575"/>
            <a:ext cx="2476500" cy="400050"/>
          </a:xfrm>
          <a:prstGeom prst="rect">
            <a:avLst/>
          </a:prstGeom>
          <a:noFill/>
          <a:ln w="0">
            <a:noFill/>
          </a:ln>
        </p:spPr>
        <p:txBody>
          <a:bodyPr wrap="square" lIns="0" tIns="0" rIns="0" bIns="0" anchor="t">
            <a:noAutofit/>
          </a:bodyPr>
          <a:lstStyle>
            <a:defPPr algn="l">
              <a:defRPr sz="2250" b="1">
                <a:solidFill>
                  <a:srgbClr val="2E746F"/>
                </a:solidFill>
                <a:latin typeface="Microsoft YaHei"/>
                <a:ea typeface="Microsoft YaHei"/>
                <a:cs typeface="Microsoft YaHei"/>
              </a:defRPr>
            </a:defPPr>
          </a:lstStyle>
          <a:p>
            <a:pPr algn="l">
              <a:buNone/>
              <a:defRPr sz="2250" b="1">
                <a:solidFill>
                  <a:srgbClr val="2E746F"/>
                </a:solidFill>
                <a:latin typeface="Microsoft YaHei"/>
                <a:ea typeface="Microsoft YaHei"/>
                <a:cs typeface="Microsoft YaHei"/>
              </a:defRPr>
            </a:pPr>
            <a:r>
              <a:rPr sz="2250" b="1" dirty="0" err="1">
                <a:solidFill>
                  <a:srgbClr val="2E746F"/>
                </a:solidFill>
                <a:latin typeface="Microsoft YaHei"/>
                <a:ea typeface="Microsoft YaHei"/>
                <a:cs typeface="Microsoft YaHei"/>
              </a:rPr>
              <a:t>同一引流端点</a:t>
            </a:r>
            <a:endParaRPr sz="2250" b="1" dirty="0">
              <a:solidFill>
                <a:srgbClr val="2E746F"/>
              </a:solidFill>
              <a:latin typeface="Microsoft YaHei"/>
              <a:ea typeface="Microsoft YaHei"/>
              <a:cs typeface="Microsoft YaHei"/>
            </a:endParaRPr>
          </a:p>
        </p:txBody>
      </p:sp>
      <p:sp>
        <p:nvSpPr>
          <p:cNvPr id="13" name="relation-line-197">
            <a:extLst>
              <a:ext uri="{FF2B5EF4-FFF2-40B4-BE49-F238E27FC236}">
                <a16:creationId xmlns:a16="http://schemas.microsoft.com/office/drawing/2014/main" id="{5E7B01EB-5445-402B-86B6-A966FF6B71C7}"/>
              </a:ext>
            </a:extLst>
          </p:cNvPr>
          <p:cNvSpPr>
            <a:spLocks noGrp="1"/>
          </p:cNvSpPr>
          <p:nvPr/>
        </p:nvSpPr>
        <p:spPr>
          <a:xfrm>
            <a:off x="2667000" y="2971800"/>
            <a:ext cx="666750" cy="0"/>
          </a:xfrm>
          <a:prstGeom prst="line">
            <a:avLst/>
          </a:prstGeom>
          <a:noFill/>
          <a:ln w="23813">
            <a:solidFill>
              <a:srgbClr val="9F2934"/>
            </a:solidFill>
          </a:ln>
        </p:spPr>
      </p:sp>
      <p:sp>
        <p:nvSpPr>
          <p:cNvPr id="14" name="relation-line-198">
            <a:extLst>
              <a:ext uri="{FF2B5EF4-FFF2-40B4-BE49-F238E27FC236}">
                <a16:creationId xmlns:a16="http://schemas.microsoft.com/office/drawing/2014/main" id="{7823BD5F-3B7F-4B2F-A822-56209EA95930}"/>
              </a:ext>
            </a:extLst>
          </p:cNvPr>
          <p:cNvSpPr>
            <a:spLocks noGrp="1"/>
          </p:cNvSpPr>
          <p:nvPr/>
        </p:nvSpPr>
        <p:spPr>
          <a:xfrm>
            <a:off x="2667000" y="4019550"/>
            <a:ext cx="666750" cy="0"/>
          </a:xfrm>
          <a:prstGeom prst="line">
            <a:avLst/>
          </a:prstGeom>
          <a:noFill/>
          <a:ln w="23813">
            <a:solidFill>
              <a:srgbClr val="9F2934"/>
            </a:solidFill>
          </a:ln>
        </p:spPr>
      </p:sp>
      <p:sp>
        <p:nvSpPr>
          <p:cNvPr id="15" name="relation-line-199">
            <a:extLst>
              <a:ext uri="{FF2B5EF4-FFF2-40B4-BE49-F238E27FC236}">
                <a16:creationId xmlns:a16="http://schemas.microsoft.com/office/drawing/2014/main" id="{4D34A47F-0F28-450B-98CE-FA7A17531BE0}"/>
              </a:ext>
            </a:extLst>
          </p:cNvPr>
          <p:cNvSpPr>
            <a:spLocks noGrp="1"/>
          </p:cNvSpPr>
          <p:nvPr/>
        </p:nvSpPr>
        <p:spPr>
          <a:xfrm>
            <a:off x="2667000" y="5067300"/>
            <a:ext cx="666750" cy="0"/>
          </a:xfrm>
          <a:prstGeom prst="line">
            <a:avLst/>
          </a:prstGeom>
          <a:noFill/>
          <a:ln w="23813">
            <a:solidFill>
              <a:srgbClr val="9F2934"/>
            </a:solidFill>
          </a:ln>
        </p:spPr>
      </p:sp>
      <p:sp>
        <p:nvSpPr>
          <p:cNvPr id="16" name="relation-line-200">
            <a:extLst>
              <a:ext uri="{FF2B5EF4-FFF2-40B4-BE49-F238E27FC236}">
                <a16:creationId xmlns:a16="http://schemas.microsoft.com/office/drawing/2014/main" id="{EB314049-D2EC-4B67-AB63-C24DA7CCE8C8}"/>
              </a:ext>
            </a:extLst>
          </p:cNvPr>
          <p:cNvSpPr>
            <a:spLocks noGrp="1"/>
          </p:cNvSpPr>
          <p:nvPr/>
        </p:nvSpPr>
        <p:spPr>
          <a:xfrm>
            <a:off x="3333750" y="2971800"/>
            <a:ext cx="0" cy="2095500"/>
          </a:xfrm>
          <a:prstGeom prst="line">
            <a:avLst/>
          </a:prstGeom>
          <a:noFill/>
          <a:ln w="23813">
            <a:solidFill>
              <a:srgbClr val="9F2934"/>
            </a:solidFill>
          </a:ln>
        </p:spPr>
      </p:sp>
      <p:sp>
        <p:nvSpPr>
          <p:cNvPr id="17" name="relation-line-201">
            <a:extLst>
              <a:ext uri="{FF2B5EF4-FFF2-40B4-BE49-F238E27FC236}">
                <a16:creationId xmlns:a16="http://schemas.microsoft.com/office/drawing/2014/main" id="{71166058-D58C-4FC5-9252-BDDDA753FC4A}"/>
              </a:ext>
            </a:extLst>
          </p:cNvPr>
          <p:cNvSpPr>
            <a:spLocks noGrp="1"/>
          </p:cNvSpPr>
          <p:nvPr/>
        </p:nvSpPr>
        <p:spPr>
          <a:xfrm>
            <a:off x="3333750" y="4019550"/>
            <a:ext cx="695325" cy="0"/>
          </a:xfrm>
          <a:prstGeom prst="line">
            <a:avLst/>
          </a:prstGeom>
          <a:noFill/>
          <a:ln w="23813">
            <a:solidFill>
              <a:srgbClr val="9F2934"/>
            </a:solidFill>
          </a:ln>
        </p:spPr>
      </p:sp>
      <p:sp>
        <p:nvSpPr>
          <p:cNvPr id="18" name="clarity-text-202">
            <a:extLst>
              <a:ext uri="{FF2B5EF4-FFF2-40B4-BE49-F238E27FC236}">
                <a16:creationId xmlns:a16="http://schemas.microsoft.com/office/drawing/2014/main" id="{9AFB5363-041A-452C-ACE9-C0D85A68F502}"/>
              </a:ext>
            </a:extLst>
          </p:cNvPr>
          <p:cNvSpPr>
            <a:spLocks noGrp="1"/>
          </p:cNvSpPr>
          <p:nvPr/>
        </p:nvSpPr>
        <p:spPr>
          <a:xfrm>
            <a:off x="3381375" y="3681412"/>
            <a:ext cx="1143000" cy="314325"/>
          </a:xfrm>
          <a:prstGeom prst="rect">
            <a:avLst/>
          </a:prstGeom>
          <a:noFill/>
          <a:ln w="0">
            <a:noFill/>
          </a:ln>
        </p:spPr>
        <p:txBody>
          <a:bodyPr wrap="square" lIns="0" tIns="0" rIns="0" bIns="0" anchor="t">
            <a:noAutofit/>
          </a:bodyPr>
          <a:lstStyle>
            <a:defPPr algn="l">
              <a:defRPr sz="1500" b="1">
                <a:solidFill>
                  <a:srgbClr val="9F2934"/>
                </a:solidFill>
                <a:latin typeface="Microsoft YaHei"/>
                <a:ea typeface="Microsoft YaHei"/>
                <a:cs typeface="Microsoft YaHei"/>
              </a:defRPr>
            </a:defPPr>
          </a:lstStyle>
          <a:p>
            <a:pPr algn="l">
              <a:buNone/>
              <a:defRPr sz="1500" b="1">
                <a:solidFill>
                  <a:srgbClr val="9F2934"/>
                </a:solidFill>
                <a:latin typeface="Microsoft YaHei"/>
                <a:ea typeface="Microsoft YaHei"/>
                <a:cs typeface="Microsoft YaHei"/>
              </a:defRPr>
            </a:pPr>
            <a:r>
              <a:rPr sz="1500" b="1" dirty="0" err="1">
                <a:solidFill>
                  <a:srgbClr val="9F2934"/>
                </a:solidFill>
                <a:latin typeface="Microsoft YaHei"/>
                <a:ea typeface="Microsoft YaHei"/>
                <a:cs typeface="Microsoft YaHei"/>
              </a:rPr>
              <a:t>共同推广</a:t>
            </a:r>
            <a:endParaRPr sz="1500" b="1" dirty="0">
              <a:solidFill>
                <a:srgbClr val="9F2934"/>
              </a:solidFill>
              <a:latin typeface="Microsoft YaHei"/>
              <a:ea typeface="Microsoft YaHei"/>
              <a:cs typeface="Microsoft YaHei"/>
            </a:endParaRPr>
          </a:p>
        </p:txBody>
      </p:sp>
      <p:sp>
        <p:nvSpPr>
          <p:cNvPr id="19" name="content-group-204">
            <a:extLst>
              <a:ext uri="{FF2B5EF4-FFF2-40B4-BE49-F238E27FC236}">
                <a16:creationId xmlns:a16="http://schemas.microsoft.com/office/drawing/2014/main" id="{BA27373F-334B-4D0B-9E76-6FF51A0C41DE}"/>
              </a:ext>
            </a:extLst>
          </p:cNvPr>
          <p:cNvSpPr>
            <a:spLocks noGrp="1"/>
          </p:cNvSpPr>
          <p:nvPr/>
        </p:nvSpPr>
        <p:spPr>
          <a:xfrm>
            <a:off x="7524750" y="2343150"/>
            <a:ext cx="3981450" cy="3619500"/>
          </a:xfrm>
          <a:prstGeom prst="rect">
            <a:avLst/>
          </a:prstGeom>
          <a:solidFill>
            <a:srgbClr val="F7EAEB"/>
          </a:solidFill>
          <a:ln w="0">
            <a:noFill/>
          </a:ln>
        </p:spPr>
      </p:sp>
      <p:sp>
        <p:nvSpPr>
          <p:cNvPr id="20" name="clarity-text-205">
            <a:extLst>
              <a:ext uri="{FF2B5EF4-FFF2-40B4-BE49-F238E27FC236}">
                <a16:creationId xmlns:a16="http://schemas.microsoft.com/office/drawing/2014/main" id="{DBAC8176-CC63-4ADE-A528-31981A223F18}"/>
              </a:ext>
            </a:extLst>
          </p:cNvPr>
          <p:cNvSpPr>
            <a:spLocks noGrp="1"/>
          </p:cNvSpPr>
          <p:nvPr/>
        </p:nvSpPr>
        <p:spPr>
          <a:xfrm>
            <a:off x="7753350" y="2524125"/>
            <a:ext cx="3514725" cy="733425"/>
          </a:xfrm>
          <a:prstGeom prst="rect">
            <a:avLst/>
          </a:prstGeom>
          <a:noFill/>
          <a:ln w="0">
            <a:noFill/>
          </a:ln>
        </p:spPr>
        <p:txBody>
          <a:bodyPr wrap="square" lIns="0" tIns="0" rIns="0" bIns="0" anchor="t">
            <a:noAutofit/>
          </a:bodyPr>
          <a:lstStyle>
            <a:defPPr algn="l">
              <a:defRPr sz="1950" b="1">
                <a:solidFill>
                  <a:srgbClr val="26282D"/>
                </a:solidFill>
                <a:latin typeface="Microsoft YaHei"/>
                <a:ea typeface="Microsoft YaHei"/>
                <a:cs typeface="Microsoft YaHei"/>
              </a:defRPr>
            </a:defPPr>
          </a:lstStyle>
          <a:p>
            <a:pPr algn="l">
              <a:buNone/>
              <a:defRPr sz="1950" b="1">
                <a:solidFill>
                  <a:srgbClr val="26282D"/>
                </a:solidFill>
                <a:latin typeface="Microsoft YaHei"/>
                <a:ea typeface="Microsoft YaHei"/>
                <a:cs typeface="Microsoft YaHei"/>
              </a:defRPr>
            </a:pPr>
            <a:r>
              <a:rPr sz="1950" b="1">
                <a:solidFill>
                  <a:srgbClr val="26282D"/>
                </a:solidFill>
                <a:latin typeface="Microsoft YaHei"/>
                <a:ea typeface="Microsoft YaHei"/>
                <a:cs typeface="Microsoft YaHei"/>
              </a:rPr>
              <a:t>至少 10 个代理共同推广的</a:t>
            </a:r>
          </a:p>
          <a:p>
            <a:pPr algn="l">
              <a:buNone/>
              <a:defRPr sz="1950" b="1">
                <a:solidFill>
                  <a:srgbClr val="26282D"/>
                </a:solidFill>
                <a:latin typeface="Microsoft YaHei"/>
                <a:ea typeface="Microsoft YaHei"/>
                <a:cs typeface="Microsoft YaHei"/>
              </a:defRPr>
            </a:pPr>
            <a:r>
              <a:rPr sz="1950" b="1">
                <a:solidFill>
                  <a:srgbClr val="26282D"/>
                </a:solidFill>
                <a:latin typeface="Microsoft YaHei"/>
                <a:ea typeface="Microsoft YaHei"/>
                <a:cs typeface="Microsoft YaHei"/>
              </a:rPr>
              <a:t>独立联系方式数量</a:t>
            </a:r>
          </a:p>
        </p:txBody>
      </p:sp>
      <p:sp>
        <p:nvSpPr>
          <p:cNvPr id="21" name="clarity-text-206">
            <a:extLst>
              <a:ext uri="{FF2B5EF4-FFF2-40B4-BE49-F238E27FC236}">
                <a16:creationId xmlns:a16="http://schemas.microsoft.com/office/drawing/2014/main" id="{C99426E9-ACE9-4CF9-B181-F8910BC74566}"/>
              </a:ext>
            </a:extLst>
          </p:cNvPr>
          <p:cNvSpPr>
            <a:spLocks noGrp="1"/>
          </p:cNvSpPr>
          <p:nvPr/>
        </p:nvSpPr>
        <p:spPr>
          <a:xfrm>
            <a:off x="7753350" y="3609975"/>
            <a:ext cx="1600200" cy="914400"/>
          </a:xfrm>
          <a:prstGeom prst="rect">
            <a:avLst/>
          </a:prstGeom>
          <a:noFill/>
          <a:ln w="0">
            <a:noFill/>
          </a:ln>
        </p:spPr>
        <p:txBody>
          <a:bodyPr wrap="square" lIns="0" tIns="0" rIns="0" bIns="0" anchor="t">
            <a:noAutofit/>
          </a:bodyPr>
          <a:lstStyle>
            <a:defPPr algn="l">
              <a:defRPr sz="5100" b="1">
                <a:solidFill>
                  <a:srgbClr val="9F2934"/>
                </a:solidFill>
                <a:latin typeface="Microsoft YaHei"/>
                <a:ea typeface="Microsoft YaHei"/>
                <a:cs typeface="Microsoft YaHei"/>
              </a:defRPr>
            </a:defPPr>
          </a:lstStyle>
          <a:p>
            <a:pPr algn="l">
              <a:buNone/>
              <a:defRPr sz="5100" b="1">
                <a:solidFill>
                  <a:srgbClr val="9F2934"/>
                </a:solidFill>
                <a:latin typeface="Microsoft YaHei"/>
                <a:ea typeface="Microsoft YaHei"/>
                <a:cs typeface="Microsoft YaHei"/>
              </a:defRPr>
            </a:pPr>
            <a:r>
              <a:rPr sz="5100" b="1">
                <a:solidFill>
                  <a:srgbClr val="9F2934"/>
                </a:solidFill>
                <a:latin typeface="Microsoft YaHei"/>
                <a:ea typeface="Microsoft YaHei"/>
                <a:cs typeface="Microsoft YaHei"/>
              </a:rPr>
              <a:t>20</a:t>
            </a:r>
          </a:p>
        </p:txBody>
      </p:sp>
      <p:sp>
        <p:nvSpPr>
          <p:cNvPr id="22" name="clarity-text-207">
            <a:extLst>
              <a:ext uri="{FF2B5EF4-FFF2-40B4-BE49-F238E27FC236}">
                <a16:creationId xmlns:a16="http://schemas.microsoft.com/office/drawing/2014/main" id="{FF060237-8594-4E17-A9C2-63C4F5EB0686}"/>
              </a:ext>
            </a:extLst>
          </p:cNvPr>
          <p:cNvSpPr>
            <a:spLocks noGrp="1"/>
          </p:cNvSpPr>
          <p:nvPr/>
        </p:nvSpPr>
        <p:spPr>
          <a:xfrm>
            <a:off x="9906000" y="3609975"/>
            <a:ext cx="1295400" cy="914400"/>
          </a:xfrm>
          <a:prstGeom prst="rect">
            <a:avLst/>
          </a:prstGeom>
          <a:noFill/>
          <a:ln w="0">
            <a:noFill/>
          </a:ln>
        </p:spPr>
        <p:txBody>
          <a:bodyPr wrap="square" lIns="0" tIns="0" rIns="0" bIns="0" anchor="t">
            <a:noAutofit/>
          </a:bodyPr>
          <a:lstStyle>
            <a:defPPr algn="l">
              <a:defRPr sz="5100" b="1">
                <a:solidFill>
                  <a:srgbClr val="2E746F"/>
                </a:solidFill>
                <a:latin typeface="Microsoft YaHei"/>
                <a:ea typeface="Microsoft YaHei"/>
                <a:cs typeface="Microsoft YaHei"/>
              </a:defRPr>
            </a:defPPr>
          </a:lstStyle>
          <a:p>
            <a:pPr algn="l">
              <a:buNone/>
              <a:defRPr sz="5100" b="1">
                <a:solidFill>
                  <a:srgbClr val="2E746F"/>
                </a:solidFill>
                <a:latin typeface="Microsoft YaHei"/>
                <a:ea typeface="Microsoft YaHei"/>
                <a:cs typeface="Microsoft YaHei"/>
              </a:defRPr>
            </a:pPr>
            <a:r>
              <a:rPr sz="5100" b="1">
                <a:solidFill>
                  <a:srgbClr val="2E746F"/>
                </a:solidFill>
                <a:latin typeface="Microsoft YaHei"/>
                <a:ea typeface="Microsoft YaHei"/>
                <a:cs typeface="Microsoft YaHei"/>
              </a:rPr>
              <a:t>9</a:t>
            </a:r>
          </a:p>
        </p:txBody>
      </p:sp>
      <p:sp>
        <p:nvSpPr>
          <p:cNvPr id="23" name="clarity-text-208">
            <a:extLst>
              <a:ext uri="{FF2B5EF4-FFF2-40B4-BE49-F238E27FC236}">
                <a16:creationId xmlns:a16="http://schemas.microsoft.com/office/drawing/2014/main" id="{1ECBD7BA-D005-48F3-A43F-835B1CC263C2}"/>
              </a:ext>
            </a:extLst>
          </p:cNvPr>
          <p:cNvSpPr>
            <a:spLocks noGrp="1"/>
          </p:cNvSpPr>
          <p:nvPr/>
        </p:nvSpPr>
        <p:spPr>
          <a:xfrm>
            <a:off x="7753350" y="4600575"/>
            <a:ext cx="1714500" cy="400050"/>
          </a:xfrm>
          <a:prstGeom prst="rect">
            <a:avLst/>
          </a:prstGeom>
          <a:noFill/>
          <a:ln w="0">
            <a:noFill/>
          </a:ln>
        </p:spPr>
        <p:txBody>
          <a:bodyPr wrap="square" lIns="0" tIns="0" rIns="0" bIns="0" anchor="t">
            <a:noAutofit/>
          </a:bodyPr>
          <a:lstStyle>
            <a:defPPr algn="l">
              <a:defRPr sz="1950" b="1">
                <a:solidFill>
                  <a:srgbClr val="26282D"/>
                </a:solidFill>
                <a:latin typeface="Microsoft YaHei"/>
                <a:ea typeface="Microsoft YaHei"/>
                <a:cs typeface="Microsoft YaHei"/>
              </a:defRPr>
            </a:defPPr>
          </a:lstStyle>
          <a:p>
            <a:pPr algn="l">
              <a:buNone/>
              <a:defRPr sz="1950" b="1">
                <a:solidFill>
                  <a:srgbClr val="26282D"/>
                </a:solidFill>
                <a:latin typeface="Microsoft YaHei"/>
                <a:ea typeface="Microsoft YaHei"/>
                <a:cs typeface="Microsoft YaHei"/>
              </a:defRPr>
            </a:pPr>
            <a:r>
              <a:rPr sz="1950" b="1">
                <a:solidFill>
                  <a:srgbClr val="26282D"/>
                </a:solidFill>
                <a:latin typeface="Microsoft YaHei"/>
                <a:ea typeface="Microsoft YaHei"/>
                <a:cs typeface="Microsoft YaHei"/>
              </a:rPr>
              <a:t>欺骗性客服</a:t>
            </a:r>
          </a:p>
        </p:txBody>
      </p:sp>
      <p:sp>
        <p:nvSpPr>
          <p:cNvPr id="24" name="clarity-text-209">
            <a:extLst>
              <a:ext uri="{FF2B5EF4-FFF2-40B4-BE49-F238E27FC236}">
                <a16:creationId xmlns:a16="http://schemas.microsoft.com/office/drawing/2014/main" id="{4C45B29F-BB2D-4FCE-B824-B5E800BBBB69}"/>
              </a:ext>
            </a:extLst>
          </p:cNvPr>
          <p:cNvSpPr>
            <a:spLocks noGrp="1"/>
          </p:cNvSpPr>
          <p:nvPr/>
        </p:nvSpPr>
        <p:spPr>
          <a:xfrm>
            <a:off x="9906000" y="4600575"/>
            <a:ext cx="1428750" cy="400050"/>
          </a:xfrm>
          <a:prstGeom prst="rect">
            <a:avLst/>
          </a:prstGeom>
          <a:noFill/>
          <a:ln w="0">
            <a:noFill/>
          </a:ln>
        </p:spPr>
        <p:txBody>
          <a:bodyPr wrap="square" lIns="0" tIns="0" rIns="0" bIns="0" anchor="t">
            <a:noAutofit/>
          </a:bodyPr>
          <a:lstStyle>
            <a:defPPr algn="l">
              <a:defRPr sz="1950" b="1">
                <a:solidFill>
                  <a:srgbClr val="26282D"/>
                </a:solidFill>
                <a:latin typeface="Microsoft YaHei"/>
                <a:ea typeface="Microsoft YaHei"/>
                <a:cs typeface="Microsoft YaHei"/>
              </a:defRPr>
            </a:defPPr>
          </a:lstStyle>
          <a:p>
            <a:pPr algn="l">
              <a:buNone/>
              <a:defRPr sz="1950" b="1">
                <a:solidFill>
                  <a:srgbClr val="26282D"/>
                </a:solidFill>
                <a:latin typeface="Microsoft YaHei"/>
                <a:ea typeface="Microsoft YaHei"/>
                <a:cs typeface="Microsoft YaHei"/>
              </a:defRPr>
            </a:pPr>
            <a:r>
              <a:rPr sz="1950" b="1">
                <a:solidFill>
                  <a:srgbClr val="26282D"/>
                </a:solidFill>
                <a:latin typeface="Microsoft YaHei"/>
                <a:ea typeface="Microsoft YaHei"/>
                <a:cs typeface="Microsoft YaHei"/>
              </a:rPr>
              <a:t>非法产品</a:t>
            </a:r>
          </a:p>
        </p:txBody>
      </p:sp>
      <p:pic>
        <p:nvPicPr>
          <p:cNvPr id="2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2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dirty="0">
                <a:solidFill>
                  <a:srgbClr val="777777"/>
                </a:solidFill>
                <a:latin typeface="Microsoft YaHei"/>
                <a:ea typeface="Microsoft YaHei"/>
                <a:cs typeface="Microsoft YaHei"/>
              </a:rPr>
              <a:t>16/33</a:t>
            </a:r>
          </a:p>
        </p:txBody>
      </p:sp>
      <p:sp>
        <p:nvSpPr>
          <p:cNvPr id="27" name="矩形 26">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28" name="矩形 27">
            <a:extLst>
              <a:ext uri="{FF2B5EF4-FFF2-40B4-BE49-F238E27FC236}">
                <a16:creationId xmlns:a16="http://schemas.microsoft.com/office/drawing/2014/main" id="{DF912799-AED0-4B71-94F0-36D9F2811E36}"/>
              </a:ext>
            </a:extLst>
          </p:cNvPr>
          <p:cNvSpPr>
            <a:spLocks noGrp="1"/>
          </p:cNvSpPr>
          <p:nvPr/>
        </p:nvSpPr>
        <p:spPr>
          <a:xfrm>
            <a:off x="685800" y="6134100"/>
            <a:ext cx="10820400" cy="342900"/>
          </a:xfrm>
          <a:prstGeom prst="rect">
            <a:avLst/>
          </a:prstGeom>
          <a:noFill/>
          <a:ln w="0">
            <a:noFill/>
          </a:ln>
        </p:spPr>
        <p:txBody>
          <a:bodyPr anchor="ctr"/>
          <a:lstStyle>
            <a:defPPr algn="l">
              <a:defRPr sz="1800" b="1">
                <a:solidFill>
                  <a:srgbClr val="A52A36"/>
                </a:solidFill>
              </a:defRPr>
            </a:defPPr>
          </a:lstStyle>
          <a:p>
            <a:pPr algn="l">
              <a:defRPr sz="1800" b="1">
                <a:solidFill>
                  <a:srgbClr val="A52A36"/>
                </a:solidFill>
              </a:defRPr>
            </a:pPr>
            <a:r>
              <a:rPr sz="1800" b="1" dirty="0" err="1">
                <a:solidFill>
                  <a:srgbClr val="A52A36"/>
                </a:solidFill>
              </a:rPr>
              <a:t>数据特征：不同账号共享引流端点</a:t>
            </a:r>
            <a:r>
              <a:rPr sz="1800" b="1" dirty="0">
                <a:solidFill>
                  <a:srgbClr val="A52A36"/>
                </a:solidFill>
              </a:rPr>
              <a:t>，</a:t>
            </a:r>
            <a:r>
              <a:rPr lang="zh-CN" altLang="en-US" sz="1800" b="1" dirty="0">
                <a:solidFill>
                  <a:srgbClr val="A52A36"/>
                </a:solidFill>
              </a:rPr>
              <a:t>说明</a:t>
            </a:r>
            <a:r>
              <a:rPr sz="1800" b="1" dirty="0" err="1">
                <a:solidFill>
                  <a:srgbClr val="A52A36"/>
                </a:solidFill>
              </a:rPr>
              <a:t>它们可能服务于同一</a:t>
            </a:r>
            <a:r>
              <a:rPr lang="zh-CN" altLang="en-US" sz="1800" b="1" dirty="0">
                <a:solidFill>
                  <a:srgbClr val="A52A36"/>
                </a:solidFill>
              </a:rPr>
              <a:t>组织者</a:t>
            </a:r>
            <a:r>
              <a:rPr sz="1800" b="1" dirty="0">
                <a:solidFill>
                  <a:srgbClr val="A52A36"/>
                </a:solidFill>
              </a:rPr>
              <a:t>。</a:t>
            </a:r>
          </a:p>
        </p:txBody>
      </p:sp>
    </p:spTree>
    <p:extLst>
      <p:ext uri="{BB962C8B-B14F-4D97-AF65-F5344CB8AC3E}">
        <p14:creationId xmlns:p14="http://schemas.microsoft.com/office/powerpoint/2010/main" val="57539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62">
            <a:extLst>
              <a:ext uri="{FF2B5EF4-FFF2-40B4-BE49-F238E27FC236}">
                <a16:creationId xmlns:a16="http://schemas.microsoft.com/office/drawing/2014/main" id="{F917C2F6-AA73-44B6-B7C5-048ADD61E552}"/>
              </a:ext>
            </a:extLst>
          </p:cNvPr>
          <p:cNvSpPr>
            <a:spLocks noGrp="1"/>
          </p:cNvSpPr>
          <p:nvPr/>
        </p:nvSpPr>
        <p:spPr>
          <a:xfrm>
            <a:off x="666750" y="195606"/>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数据特征</a:t>
            </a:r>
            <a:endParaRPr sz="3300" b="1" dirty="0">
              <a:solidFill>
                <a:srgbClr val="A52A36"/>
              </a:solidFill>
              <a:latin typeface="Microsoft YaHei"/>
              <a:ea typeface="Microsoft YaHei"/>
            </a:endParaRPr>
          </a:p>
        </p:txBody>
      </p:sp>
      <p:pic>
        <p:nvPicPr>
          <p:cNvPr id="3" name="图片 6">
            <a:extLst>
              <a:ext uri="{FF2B5EF4-FFF2-40B4-BE49-F238E27FC236}">
                <a16:creationId xmlns:a16="http://schemas.microsoft.com/office/drawing/2014/main" id="{11607785-BC65-4C4A-9314-F0F78E7A2519}"/>
              </a:ext>
            </a:extLst>
          </p:cNvPr>
          <p:cNvPicPr>
            <a:picLocks noChangeAspect="1"/>
          </p:cNvPicPr>
          <p:nvPr/>
        </p:nvPicPr>
        <p:blipFill>
          <a:blip r:embed="rId3"/>
          <a:stretch/>
        </p:blipFill>
        <p:spPr>
          <a:xfrm>
            <a:off x="523875" y="2162709"/>
            <a:ext cx="5084216" cy="2457450"/>
          </a:xfrm>
          <a:prstGeom prst="rect">
            <a:avLst/>
          </a:prstGeom>
        </p:spPr>
      </p:pic>
      <p:pic>
        <p:nvPicPr>
          <p:cNvPr id="4" name="图片 7">
            <a:extLst>
              <a:ext uri="{FF2B5EF4-FFF2-40B4-BE49-F238E27FC236}">
                <a16:creationId xmlns:a16="http://schemas.microsoft.com/office/drawing/2014/main" id="{2DF3C19F-E103-4950-B34B-9A33957B1263}"/>
              </a:ext>
            </a:extLst>
          </p:cNvPr>
          <p:cNvPicPr>
            <a:picLocks noChangeAspect="1"/>
          </p:cNvPicPr>
          <p:nvPr/>
        </p:nvPicPr>
        <p:blipFill>
          <a:blip r:embed="rId4"/>
          <a:stretch/>
        </p:blipFill>
        <p:spPr>
          <a:xfrm>
            <a:off x="6151562" y="2143125"/>
            <a:ext cx="4802188" cy="2619375"/>
          </a:xfrm>
          <a:prstGeom prst="rect">
            <a:avLst/>
          </a:prstGeom>
        </p:spPr>
      </p:pic>
      <p:sp>
        <p:nvSpPr>
          <p:cNvPr id="5" name="content-group-214">
            <a:extLst>
              <a:ext uri="{FF2B5EF4-FFF2-40B4-BE49-F238E27FC236}">
                <a16:creationId xmlns:a16="http://schemas.microsoft.com/office/drawing/2014/main" id="{572A1B4D-5081-44C6-8A6F-84F71E6C6172}"/>
              </a:ext>
            </a:extLst>
          </p:cNvPr>
          <p:cNvSpPr>
            <a:spLocks noGrp="1"/>
          </p:cNvSpPr>
          <p:nvPr/>
        </p:nvSpPr>
        <p:spPr>
          <a:xfrm>
            <a:off x="586828" y="4957762"/>
            <a:ext cx="5219700" cy="533400"/>
          </a:xfrm>
          <a:prstGeom prst="rect">
            <a:avLst/>
          </a:prstGeom>
          <a:noFill/>
          <a:ln w="12859">
            <a:solidFill>
              <a:srgbClr val="9F2934"/>
            </a:solidFill>
            <a:prstDash val="solid"/>
          </a:ln>
        </p:spPr>
      </p:sp>
      <p:sp>
        <p:nvSpPr>
          <p:cNvPr id="6" name="clarity-text-215">
            <a:extLst>
              <a:ext uri="{FF2B5EF4-FFF2-40B4-BE49-F238E27FC236}">
                <a16:creationId xmlns:a16="http://schemas.microsoft.com/office/drawing/2014/main" id="{E532274B-5230-47A4-B8A9-B218A2A2CB43}"/>
              </a:ext>
            </a:extLst>
          </p:cNvPr>
          <p:cNvSpPr>
            <a:spLocks noGrp="1"/>
          </p:cNvSpPr>
          <p:nvPr/>
        </p:nvSpPr>
        <p:spPr>
          <a:xfrm>
            <a:off x="685800" y="1781175"/>
            <a:ext cx="5219700" cy="409575"/>
          </a:xfrm>
          <a:prstGeom prst="rect">
            <a:avLst/>
          </a:prstGeom>
          <a:noFill/>
          <a:ln w="0">
            <a:noFill/>
          </a:ln>
        </p:spPr>
        <p:txBody>
          <a:bodyPr wrap="square" lIns="0" tIns="0" rIns="0" bIns="0" anchor="t">
            <a:noAutofit/>
          </a:bodyPr>
          <a:lstStyle>
            <a:defPPr algn="l">
              <a:defRPr sz="1875" b="1">
                <a:solidFill>
                  <a:srgbClr val="9F2934"/>
                </a:solidFill>
                <a:latin typeface="Microsoft YaHei"/>
                <a:ea typeface="Microsoft YaHei"/>
                <a:cs typeface="Microsoft YaHei"/>
              </a:defRPr>
            </a:defPPr>
          </a:lstStyle>
          <a:p>
            <a:pPr algn="l">
              <a:buNone/>
              <a:defRPr sz="1875" b="1">
                <a:solidFill>
                  <a:srgbClr val="9F2934"/>
                </a:solidFill>
                <a:latin typeface="Microsoft YaHei"/>
                <a:ea typeface="Microsoft YaHei"/>
                <a:cs typeface="Microsoft YaHei"/>
              </a:defRPr>
            </a:pPr>
            <a:r>
              <a:rPr sz="1875" b="1" dirty="0" err="1">
                <a:solidFill>
                  <a:srgbClr val="9F2934"/>
                </a:solidFill>
                <a:latin typeface="Microsoft YaHei"/>
                <a:ea typeface="Microsoft YaHei"/>
                <a:cs typeface="Microsoft YaHei"/>
              </a:rPr>
              <a:t>平台处置：样本账户的累计封禁比例</a:t>
            </a:r>
            <a:endParaRPr sz="1875" b="1" dirty="0">
              <a:solidFill>
                <a:srgbClr val="9F2934"/>
              </a:solidFill>
              <a:latin typeface="Microsoft YaHei"/>
              <a:ea typeface="Microsoft YaHei"/>
              <a:cs typeface="Microsoft YaHei"/>
            </a:endParaRPr>
          </a:p>
        </p:txBody>
      </p:sp>
      <p:sp>
        <p:nvSpPr>
          <p:cNvPr id="7" name="clarity-text-216">
            <a:extLst>
              <a:ext uri="{FF2B5EF4-FFF2-40B4-BE49-F238E27FC236}">
                <a16:creationId xmlns:a16="http://schemas.microsoft.com/office/drawing/2014/main" id="{03CAA5F0-4C5C-43F6-A9AB-AC22B2C01196}"/>
              </a:ext>
            </a:extLst>
          </p:cNvPr>
          <p:cNvSpPr>
            <a:spLocks noGrp="1"/>
          </p:cNvSpPr>
          <p:nvPr/>
        </p:nvSpPr>
        <p:spPr>
          <a:xfrm>
            <a:off x="1056481" y="4957762"/>
            <a:ext cx="4895850" cy="523875"/>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dirty="0" err="1">
                <a:solidFill>
                  <a:srgbClr val="26282D"/>
                </a:solidFill>
                <a:latin typeface="Microsoft YaHei"/>
                <a:ea typeface="Microsoft YaHei"/>
                <a:cs typeface="Microsoft YaHei"/>
              </a:rPr>
              <a:t>横轴：监测月份；纵轴：Suspended</a:t>
            </a:r>
            <a:r>
              <a:rPr sz="1575" b="0" dirty="0">
                <a:solidFill>
                  <a:srgbClr val="26282D"/>
                </a:solidFill>
                <a:latin typeface="Microsoft YaHei"/>
                <a:ea typeface="Microsoft YaHei"/>
                <a:cs typeface="Microsoft YaHei"/>
              </a:rPr>
              <a:t> TB (%)。</a:t>
            </a:r>
          </a:p>
          <a:p>
            <a:pPr algn="l">
              <a:buNone/>
              <a:defRPr sz="1575" b="0">
                <a:solidFill>
                  <a:srgbClr val="26282D"/>
                </a:solidFill>
                <a:latin typeface="Microsoft YaHei"/>
                <a:ea typeface="Microsoft YaHei"/>
                <a:cs typeface="Microsoft YaHei"/>
              </a:defRPr>
            </a:pPr>
            <a:r>
              <a:rPr sz="1575" b="0" dirty="0" err="1">
                <a:solidFill>
                  <a:srgbClr val="26282D"/>
                </a:solidFill>
                <a:latin typeface="Microsoft YaHei"/>
                <a:ea typeface="Microsoft YaHei"/>
                <a:cs typeface="Microsoft YaHei"/>
              </a:rPr>
              <a:t>四条曲线对应四类活动</a:t>
            </a:r>
            <a:r>
              <a:rPr sz="1575" b="0" dirty="0">
                <a:solidFill>
                  <a:srgbClr val="26282D"/>
                </a:solidFill>
                <a:latin typeface="Microsoft YaHei"/>
                <a:ea typeface="Microsoft YaHei"/>
                <a:cs typeface="Microsoft YaHei"/>
              </a:rPr>
              <a:t>。</a:t>
            </a:r>
          </a:p>
        </p:txBody>
      </p:sp>
      <p:sp>
        <p:nvSpPr>
          <p:cNvPr id="8" name="content-group-217">
            <a:extLst>
              <a:ext uri="{FF2B5EF4-FFF2-40B4-BE49-F238E27FC236}">
                <a16:creationId xmlns:a16="http://schemas.microsoft.com/office/drawing/2014/main" id="{748E2B55-A22F-4E4C-A01D-9C505C646035}"/>
              </a:ext>
            </a:extLst>
          </p:cNvPr>
          <p:cNvSpPr>
            <a:spLocks noGrp="1"/>
          </p:cNvSpPr>
          <p:nvPr/>
        </p:nvSpPr>
        <p:spPr>
          <a:xfrm>
            <a:off x="6239671" y="4829175"/>
            <a:ext cx="5219700" cy="533400"/>
          </a:xfrm>
          <a:prstGeom prst="rect">
            <a:avLst/>
          </a:prstGeom>
          <a:noFill/>
          <a:ln w="12859">
            <a:solidFill>
              <a:srgbClr val="2E746F"/>
            </a:solidFill>
            <a:prstDash val="solid"/>
          </a:ln>
        </p:spPr>
      </p:sp>
      <p:sp>
        <p:nvSpPr>
          <p:cNvPr id="9" name="clarity-text-218">
            <a:extLst>
              <a:ext uri="{FF2B5EF4-FFF2-40B4-BE49-F238E27FC236}">
                <a16:creationId xmlns:a16="http://schemas.microsoft.com/office/drawing/2014/main" id="{0722DF64-E03E-4BD4-920A-FFAD8BDA6A70}"/>
              </a:ext>
            </a:extLst>
          </p:cNvPr>
          <p:cNvSpPr>
            <a:spLocks noGrp="1"/>
          </p:cNvSpPr>
          <p:nvPr/>
        </p:nvSpPr>
        <p:spPr>
          <a:xfrm>
            <a:off x="6286500" y="1781175"/>
            <a:ext cx="5219700" cy="409575"/>
          </a:xfrm>
          <a:prstGeom prst="rect">
            <a:avLst/>
          </a:prstGeom>
          <a:noFill/>
          <a:ln w="0">
            <a:noFill/>
          </a:ln>
        </p:spPr>
        <p:txBody>
          <a:bodyPr wrap="square" lIns="0" tIns="0" rIns="0" bIns="0" anchor="t">
            <a:noAutofit/>
          </a:bodyPr>
          <a:lstStyle>
            <a:defPPr algn="l">
              <a:defRPr sz="1800" b="1">
                <a:solidFill>
                  <a:srgbClr val="2E746F"/>
                </a:solidFill>
                <a:latin typeface="Microsoft YaHei"/>
                <a:ea typeface="Microsoft YaHei"/>
                <a:cs typeface="Microsoft YaHei"/>
              </a:defRPr>
            </a:defPPr>
          </a:lstStyle>
          <a:p>
            <a:pPr algn="l">
              <a:buNone/>
              <a:defRPr sz="1800" b="1">
                <a:solidFill>
                  <a:srgbClr val="2E746F"/>
                </a:solidFill>
                <a:latin typeface="Microsoft YaHei"/>
                <a:ea typeface="Microsoft YaHei"/>
                <a:cs typeface="Microsoft YaHei"/>
              </a:defRPr>
            </a:pPr>
            <a:r>
              <a:rPr lang="zh-CN" altLang="en-US" sz="1800" b="1" dirty="0">
                <a:solidFill>
                  <a:srgbClr val="2E746F"/>
                </a:solidFill>
                <a:latin typeface="Microsoft YaHei"/>
                <a:ea typeface="Microsoft YaHei"/>
                <a:cs typeface="Microsoft YaHei"/>
              </a:rPr>
              <a:t>账户</a:t>
            </a:r>
            <a:r>
              <a:rPr sz="1800" b="1" dirty="0" err="1">
                <a:solidFill>
                  <a:srgbClr val="2E746F"/>
                </a:solidFill>
                <a:latin typeface="Microsoft YaHei"/>
                <a:ea typeface="Microsoft YaHei"/>
                <a:cs typeface="Microsoft YaHei"/>
              </a:rPr>
              <a:t>后续</a:t>
            </a:r>
            <a:r>
              <a:rPr lang="zh-CN" altLang="en-US" sz="1800" b="1" dirty="0">
                <a:solidFill>
                  <a:srgbClr val="2E746F"/>
                </a:solidFill>
                <a:latin typeface="Microsoft YaHei"/>
                <a:ea typeface="Microsoft YaHei"/>
                <a:cs typeface="Microsoft YaHei"/>
              </a:rPr>
              <a:t>活跃情况</a:t>
            </a:r>
            <a:r>
              <a:rPr sz="1800" b="1" dirty="0">
                <a:solidFill>
                  <a:srgbClr val="2E746F"/>
                </a:solidFill>
                <a:latin typeface="Microsoft YaHei"/>
                <a:ea typeface="Microsoft YaHei"/>
                <a:cs typeface="Microsoft YaHei"/>
              </a:rPr>
              <a:t>：</a:t>
            </a:r>
            <a:r>
              <a:rPr sz="1800" b="1" dirty="0" err="1">
                <a:solidFill>
                  <a:srgbClr val="2E746F"/>
                </a:solidFill>
                <a:latin typeface="Microsoft YaHei"/>
                <a:ea typeface="Microsoft YaHei"/>
                <a:cs typeface="Microsoft YaHei"/>
              </a:rPr>
              <a:t>可访问账户的最后回复月份</a:t>
            </a:r>
            <a:endParaRPr sz="1800" b="1" dirty="0">
              <a:solidFill>
                <a:srgbClr val="2E746F"/>
              </a:solidFill>
              <a:latin typeface="Microsoft YaHei"/>
              <a:ea typeface="Microsoft YaHei"/>
              <a:cs typeface="Microsoft YaHei"/>
            </a:endParaRPr>
          </a:p>
        </p:txBody>
      </p:sp>
      <p:sp>
        <p:nvSpPr>
          <p:cNvPr id="10" name="clarity-text-219">
            <a:extLst>
              <a:ext uri="{FF2B5EF4-FFF2-40B4-BE49-F238E27FC236}">
                <a16:creationId xmlns:a16="http://schemas.microsoft.com/office/drawing/2014/main" id="{46F5743C-74F2-4AAD-8BA6-AD8E13D131EE}"/>
              </a:ext>
            </a:extLst>
          </p:cNvPr>
          <p:cNvSpPr>
            <a:spLocks noGrp="1"/>
          </p:cNvSpPr>
          <p:nvPr/>
        </p:nvSpPr>
        <p:spPr>
          <a:xfrm>
            <a:off x="6533204" y="4802886"/>
            <a:ext cx="4895850" cy="523875"/>
          </a:xfrm>
          <a:prstGeom prst="rect">
            <a:avLst/>
          </a:prstGeom>
          <a:noFill/>
          <a:ln w="0">
            <a:noFill/>
          </a:ln>
        </p:spPr>
        <p:txBody>
          <a:bodyPr wrap="square" lIns="0" tIns="0" rIns="0" bIns="0" anchor="t">
            <a:noAutofit/>
          </a:bodyPr>
          <a:lstStyle>
            <a:defPPr algn="l">
              <a:defRPr sz="1575" b="0">
                <a:solidFill>
                  <a:srgbClr val="26282D"/>
                </a:solidFill>
                <a:latin typeface="Microsoft YaHei"/>
                <a:ea typeface="Microsoft YaHei"/>
                <a:cs typeface="Microsoft YaHei"/>
              </a:defRPr>
            </a:defPPr>
          </a:lstStyle>
          <a:p>
            <a:pPr algn="l">
              <a:buNone/>
              <a:defRPr sz="1575" b="0">
                <a:solidFill>
                  <a:srgbClr val="26282D"/>
                </a:solidFill>
                <a:latin typeface="Microsoft YaHei"/>
                <a:ea typeface="Microsoft YaHei"/>
                <a:cs typeface="Microsoft YaHei"/>
              </a:defRPr>
            </a:pPr>
            <a:r>
              <a:rPr sz="1575" b="0" dirty="0" err="1">
                <a:solidFill>
                  <a:srgbClr val="26282D"/>
                </a:solidFill>
                <a:latin typeface="Microsoft YaHei"/>
                <a:ea typeface="Microsoft YaHei"/>
                <a:cs typeface="Microsoft YaHei"/>
              </a:rPr>
              <a:t>横轴：最后回复月份；纵轴：TB</a:t>
            </a:r>
            <a:r>
              <a:rPr sz="1575" b="0" dirty="0">
                <a:solidFill>
                  <a:srgbClr val="26282D"/>
                </a:solidFill>
                <a:latin typeface="Microsoft YaHei"/>
                <a:ea typeface="Microsoft YaHei"/>
                <a:cs typeface="Microsoft YaHei"/>
              </a:rPr>
              <a:t> Agent Count。</a:t>
            </a:r>
          </a:p>
          <a:p>
            <a:pPr algn="l">
              <a:buNone/>
              <a:defRPr sz="1575" b="0">
                <a:solidFill>
                  <a:srgbClr val="26282D"/>
                </a:solidFill>
                <a:latin typeface="Microsoft YaHei"/>
                <a:ea typeface="Microsoft YaHei"/>
                <a:cs typeface="Microsoft YaHei"/>
              </a:defRPr>
            </a:pPr>
            <a:r>
              <a:rPr sz="1575" b="0" dirty="0">
                <a:solidFill>
                  <a:srgbClr val="26282D"/>
                </a:solidFill>
                <a:latin typeface="Microsoft YaHei"/>
                <a:ea typeface="Microsoft YaHei"/>
                <a:cs typeface="Microsoft YaHei"/>
              </a:rPr>
              <a:t>按 2025 年 1 </a:t>
            </a:r>
            <a:r>
              <a:rPr sz="1575" b="0" dirty="0" err="1">
                <a:solidFill>
                  <a:srgbClr val="26282D"/>
                </a:solidFill>
                <a:latin typeface="Microsoft YaHei"/>
                <a:ea typeface="Microsoft YaHei"/>
                <a:cs typeface="Microsoft YaHei"/>
              </a:rPr>
              <a:t>月回查结果归组，黄色区为监测期</a:t>
            </a:r>
            <a:r>
              <a:rPr sz="1575" b="0" dirty="0">
                <a:solidFill>
                  <a:srgbClr val="26282D"/>
                </a:solidFill>
                <a:latin typeface="Microsoft YaHei"/>
                <a:ea typeface="Microsoft YaHei"/>
                <a:cs typeface="Microsoft YaHei"/>
              </a:rPr>
              <a:t>。</a:t>
            </a:r>
          </a:p>
        </p:txBody>
      </p:sp>
      <p:sp>
        <p:nvSpPr>
          <p:cNvPr id="11" name="clarity-text-220">
            <a:extLst>
              <a:ext uri="{FF2B5EF4-FFF2-40B4-BE49-F238E27FC236}">
                <a16:creationId xmlns:a16="http://schemas.microsoft.com/office/drawing/2014/main" id="{FFA49933-EEE2-4356-9E36-56A214DD5103}"/>
              </a:ext>
            </a:extLst>
          </p:cNvPr>
          <p:cNvSpPr>
            <a:spLocks noGrp="1"/>
          </p:cNvSpPr>
          <p:nvPr/>
        </p:nvSpPr>
        <p:spPr>
          <a:xfrm>
            <a:off x="732631" y="5705475"/>
            <a:ext cx="5219700" cy="6858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lang="zh-CN" altLang="en-US" sz="1875" b="1" dirty="0">
                <a:solidFill>
                  <a:srgbClr val="9F2934"/>
                </a:solidFill>
                <a:latin typeface="Microsoft YaHei"/>
                <a:ea typeface="Microsoft YaHei"/>
              </a:rPr>
              <a:t>数据特征：</a:t>
            </a:r>
            <a:r>
              <a:rPr sz="1875" b="1" dirty="0">
                <a:solidFill>
                  <a:srgbClr val="9F2934"/>
                </a:solidFill>
                <a:latin typeface="Microsoft YaHei"/>
                <a:ea typeface="Microsoft YaHei"/>
              </a:rPr>
              <a:t>2024 年 12 </a:t>
            </a:r>
            <a:r>
              <a:rPr sz="1875" b="1" dirty="0" err="1">
                <a:solidFill>
                  <a:srgbClr val="9F2934"/>
                </a:solidFill>
                <a:latin typeface="Microsoft YaHei"/>
                <a:ea typeface="Microsoft YaHei"/>
              </a:rPr>
              <a:t>月末，三类恶意活动</a:t>
            </a:r>
            <a:endParaRPr sz="1875" b="1" dirty="0">
              <a:solidFill>
                <a:srgbClr val="9F2934"/>
              </a:solidFill>
              <a:latin typeface="Microsoft YaHei"/>
              <a:ea typeface="Microsoft YaHei"/>
            </a:endParaRPr>
          </a:p>
          <a:p>
            <a:pPr algn="l">
              <a:buNone/>
              <a:defRPr sz="1875" b="0">
                <a:solidFill>
                  <a:srgbClr val="26282D"/>
                </a:solidFill>
                <a:latin typeface="Microsoft YaHei"/>
                <a:ea typeface="Microsoft YaHei"/>
                <a:cs typeface="Microsoft YaHei"/>
              </a:defRPr>
            </a:pPr>
            <a:r>
              <a:rPr sz="1875" b="1" dirty="0" err="1">
                <a:solidFill>
                  <a:srgbClr val="9F2934"/>
                </a:solidFill>
                <a:latin typeface="Microsoft YaHei"/>
                <a:ea typeface="Microsoft YaHei"/>
              </a:rPr>
              <a:t>封禁比例为</a:t>
            </a:r>
            <a:r>
              <a:rPr sz="1875" b="1" dirty="0">
                <a:solidFill>
                  <a:srgbClr val="9F2934"/>
                </a:solidFill>
                <a:latin typeface="Microsoft YaHei"/>
                <a:ea typeface="Microsoft YaHei"/>
              </a:rPr>
              <a:t> 57%–67%，640 </a:t>
            </a:r>
            <a:r>
              <a:rPr sz="1875" b="1" dirty="0" err="1">
                <a:solidFill>
                  <a:srgbClr val="9F2934"/>
                </a:solidFill>
                <a:latin typeface="Microsoft YaHei"/>
                <a:ea typeface="Microsoft YaHei"/>
              </a:rPr>
              <a:t>个仍未封禁</a:t>
            </a:r>
            <a:r>
              <a:rPr sz="1875" b="1" dirty="0">
                <a:solidFill>
                  <a:srgbClr val="9F2934"/>
                </a:solidFill>
                <a:latin typeface="Microsoft YaHei"/>
                <a:ea typeface="Microsoft YaHei"/>
              </a:rPr>
              <a:t>。</a:t>
            </a:r>
          </a:p>
        </p:txBody>
      </p:sp>
      <p:sp>
        <p:nvSpPr>
          <p:cNvPr id="12" name="clarity-text-221">
            <a:extLst>
              <a:ext uri="{FF2B5EF4-FFF2-40B4-BE49-F238E27FC236}">
                <a16:creationId xmlns:a16="http://schemas.microsoft.com/office/drawing/2014/main" id="{09AFD82E-AE3E-4847-8B41-C653E68CD795}"/>
              </a:ext>
            </a:extLst>
          </p:cNvPr>
          <p:cNvSpPr>
            <a:spLocks noGrp="1"/>
          </p:cNvSpPr>
          <p:nvPr/>
        </p:nvSpPr>
        <p:spPr>
          <a:xfrm>
            <a:off x="6305550" y="5734355"/>
            <a:ext cx="5219700" cy="6858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lang="zh-CN" altLang="en-US" b="1" dirty="0">
                <a:solidFill>
                  <a:srgbClr val="2E746F"/>
                </a:solidFill>
                <a:latin typeface="Microsoft YaHei"/>
                <a:ea typeface="Microsoft YaHei"/>
              </a:rPr>
              <a:t>数据特征：</a:t>
            </a:r>
            <a:r>
              <a:rPr b="1" dirty="0" err="1">
                <a:solidFill>
                  <a:srgbClr val="2E746F"/>
                </a:solidFill>
                <a:latin typeface="Microsoft YaHei"/>
                <a:ea typeface="Microsoft YaHei"/>
              </a:rPr>
              <a:t>多数账户的最后回复停留在较早月份，显示回查时已进入休眠的样本较多</a:t>
            </a:r>
            <a:r>
              <a:rPr b="1" dirty="0">
                <a:solidFill>
                  <a:srgbClr val="2E746F"/>
                </a:solidFill>
                <a:latin typeface="Microsoft YaHei"/>
                <a:ea typeface="Microsoft YaHei"/>
              </a:rPr>
              <a:t>。</a:t>
            </a:r>
          </a:p>
        </p:txBody>
      </p:sp>
      <p:pic>
        <p:nvPicPr>
          <p:cNvPr id="13"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4"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dirty="0">
                <a:solidFill>
                  <a:srgbClr val="777777"/>
                </a:solidFill>
                <a:latin typeface="Microsoft YaHei"/>
                <a:ea typeface="Microsoft YaHei"/>
                <a:cs typeface="Microsoft YaHei"/>
              </a:rPr>
              <a:t>17/33</a:t>
            </a:r>
          </a:p>
        </p:txBody>
      </p:sp>
      <p:sp>
        <p:nvSpPr>
          <p:cNvPr id="15" name="矩形 14">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5551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文本框 34"/>
          <p:cNvSpPr txBox="1"/>
          <p:nvPr/>
        </p:nvSpPr>
        <p:spPr>
          <a:xfrm>
            <a:off x="3177702" y="993482"/>
            <a:ext cx="5836596" cy="3062377"/>
          </a:xfrm>
          <a:prstGeom prst="rect">
            <a:avLst/>
          </a:prstGeom>
          <a:noFill/>
        </p:spPr>
        <p:txBody>
          <a:bodyPr wrap="square" lIns="0" tIns="0" rIns="0" bIns="0" rtlCol="0">
            <a:spAutoFit/>
          </a:bodyPr>
          <a:lstStyle/>
          <a:p>
            <a:pPr lvl="0" algn="ctr">
              <a:buClrTx/>
              <a:buSzTx/>
              <a:buFontTx/>
            </a:pPr>
            <a:r>
              <a:rPr lang="en-US" altLang="zh-CN" sz="19900" b="1" dirty="0">
                <a:solidFill>
                  <a:srgbClr val="EFE3E5"/>
                </a:solidFill>
                <a:latin typeface="Arial" panose="020B0604020202020204"/>
                <a:ea typeface="微软雅黑" panose="020B0503020204020204" pitchFamily="34" charset="-122"/>
                <a:cs typeface="思源宋体 CN Heavy" panose="02020900000000000000" charset="-122"/>
                <a:sym typeface="Arial" panose="020B0604020202020204"/>
              </a:rPr>
              <a:t>03</a:t>
            </a:r>
          </a:p>
        </p:txBody>
      </p:sp>
      <p:sp>
        <p:nvSpPr>
          <p:cNvPr id="3" name="文本框 35"/>
          <p:cNvSpPr txBox="1"/>
          <p:nvPr/>
        </p:nvSpPr>
        <p:spPr>
          <a:xfrm>
            <a:off x="2135505" y="2179870"/>
            <a:ext cx="7920990" cy="1107440"/>
          </a:xfrm>
          <a:prstGeom prst="rect">
            <a:avLst/>
          </a:prstGeom>
          <a:noFill/>
        </p:spPr>
        <p:txBody>
          <a:bodyPr wrap="square" lIns="0" tIns="0" rIns="0" bIns="0" rtlCol="0">
            <a:spAutoFit/>
          </a:bodyPr>
          <a:lstStyle/>
          <a:p>
            <a:pPr lvl="0" algn="ctr">
              <a:buClrTx/>
              <a:buSzTx/>
              <a:buFontTx/>
            </a:pPr>
            <a:r>
              <a:rPr lang="zh-CN" altLang="en-US" sz="7200" b="1" dirty="0">
                <a:solidFill>
                  <a:srgbClr val="A52A36"/>
                </a:solidFill>
                <a:effectLst/>
                <a:latin typeface="汉仪大宋简" pitchFamily="49" charset="-122"/>
                <a:ea typeface="汉仪大宋简" pitchFamily="49" charset="-122"/>
                <a:cs typeface="思源宋体 CN Heavy" panose="02020900000000000000" charset="-122"/>
                <a:sym typeface="Arial" panose="020B0604020202020204"/>
              </a:rPr>
              <a:t>实验设置与结果</a:t>
            </a:r>
          </a:p>
        </p:txBody>
      </p:sp>
      <p:sp>
        <p:nvSpPr>
          <p:cNvPr id="4" name="文本框 36"/>
          <p:cNvSpPr txBox="1"/>
          <p:nvPr/>
        </p:nvSpPr>
        <p:spPr>
          <a:xfrm>
            <a:off x="2286000" y="3685368"/>
            <a:ext cx="7620000" cy="276860"/>
          </a:xfrm>
          <a:prstGeom prst="rect">
            <a:avLst/>
          </a:prstGeom>
          <a:noFill/>
        </p:spPr>
        <p:txBody>
          <a:bodyPr wrap="square" lIns="0" tIns="0" rIns="0" bIns="0" rtlCol="0" anchor="t">
            <a:spAutoFit/>
          </a:bodyPr>
          <a:lstStyle/>
          <a:p>
            <a:pPr lvl="0" algn="ctr">
              <a:buClrTx/>
              <a:buSzTx/>
              <a:buFontTx/>
            </a:pPr>
            <a:r>
              <a:rPr lang="en-US" altLang="zh-CN" dirty="0">
                <a:ln w="3175">
                  <a:noFill/>
                </a:ln>
                <a:solidFill>
                  <a:srgbClr val="333333">
                    <a:lumMod val="65000"/>
                    <a:lumOff val="35000"/>
                  </a:srgbClr>
                </a:solidFill>
                <a:latin typeface="Times New Roman" panose="02020603050405020304" pitchFamily="18" charset="0"/>
                <a:ea typeface="微软雅黑" panose="020B0503020204020204" pitchFamily="34" charset="-122"/>
                <a:cs typeface="思源宋体 CN Heavy" panose="02020900000000000000" charset="-122"/>
                <a:sym typeface="Arial" panose="020B0604020202020204"/>
              </a:rPr>
              <a:t>Experimental Setup and Results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dirty="0">
                <a:solidFill>
                  <a:srgbClr val="777777"/>
                </a:solidFill>
                <a:latin typeface="Microsoft YaHei"/>
                <a:ea typeface="Microsoft YaHei"/>
                <a:cs typeface="Microsoft YaHei"/>
              </a:rPr>
              <a:t>18/33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实验设置</a:t>
            </a:r>
            <a:endParaRPr sz="3300" b="1" dirty="0">
              <a:solidFill>
                <a:srgbClr val="A52A36"/>
              </a:solidFill>
              <a:latin typeface="Microsoft YaHei"/>
              <a:ea typeface="Microsoft YaHei"/>
            </a:endParaRPr>
          </a:p>
        </p:txBody>
      </p:sp>
      <p:sp>
        <p:nvSpPr>
          <p:cNvPr id="3" name="evidence-text-61">
            <a:extLst>
              <a:ext uri="{FF2B5EF4-FFF2-40B4-BE49-F238E27FC236}">
                <a16:creationId xmlns:a16="http://schemas.microsoft.com/office/drawing/2014/main" id="{42FE5F70-A5DA-48C2-9E65-326DB1B88ADC}"/>
              </a:ext>
            </a:extLst>
          </p:cNvPr>
          <p:cNvSpPr>
            <a:spLocks noGrp="1"/>
          </p:cNvSpPr>
          <p:nvPr/>
        </p:nvSpPr>
        <p:spPr>
          <a:xfrm>
            <a:off x="663473" y="1385887"/>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模型</a:t>
            </a:r>
            <a:r>
              <a:rPr sz="2400" b="1" dirty="0" err="1">
                <a:solidFill>
                  <a:srgbClr val="A52A36"/>
                </a:solidFill>
                <a:latin typeface="Microsoft YaHei"/>
                <a:ea typeface="Microsoft YaHei"/>
              </a:rPr>
              <a:t>训练与测试流程</a:t>
            </a:r>
            <a:endParaRPr sz="2400" b="1" dirty="0">
              <a:solidFill>
                <a:srgbClr val="A52A36"/>
              </a:solidFill>
              <a:latin typeface="Microsoft YaHei"/>
              <a:ea typeface="Microsoft YaHei"/>
            </a:endParaRPr>
          </a:p>
        </p:txBody>
      </p:sp>
      <p:sp>
        <p:nvSpPr>
          <p:cNvPr id="4" name="evidence-text-63">
            <a:extLst>
              <a:ext uri="{FF2B5EF4-FFF2-40B4-BE49-F238E27FC236}">
                <a16:creationId xmlns:a16="http://schemas.microsoft.com/office/drawing/2014/main" id="{8DD99079-C698-4820-A4AE-E5C802A584C0}"/>
              </a:ext>
            </a:extLst>
          </p:cNvPr>
          <p:cNvSpPr>
            <a:spLocks noGrp="1"/>
          </p:cNvSpPr>
          <p:nvPr/>
        </p:nvSpPr>
        <p:spPr>
          <a:xfrm>
            <a:off x="685800" y="2295525"/>
            <a:ext cx="5238750" cy="381000"/>
          </a:xfrm>
          <a:prstGeom prst="rect">
            <a:avLst/>
          </a:prstGeom>
          <a:noFill/>
          <a:ln w="0">
            <a:noFill/>
          </a:ln>
        </p:spPr>
        <p:txBody>
          <a:bodyPr wrap="square" lIns="0" tIns="0" rIns="0" bIns="0" anchor="t">
            <a:noAutofit/>
          </a:bodyPr>
          <a:lstStyle>
            <a:defPPr algn="l">
              <a:defRPr sz="2025" b="1">
                <a:solidFill>
                  <a:srgbClr val="9F2934"/>
                </a:solidFill>
                <a:latin typeface="Microsoft YaHei"/>
                <a:ea typeface="Microsoft YaHei"/>
                <a:cs typeface="Microsoft YaHei"/>
              </a:defRPr>
            </a:defPPr>
          </a:lstStyle>
          <a:p>
            <a:pPr algn="l">
              <a:buNone/>
              <a:defRPr sz="2025" b="1">
                <a:solidFill>
                  <a:srgbClr val="9F2934"/>
                </a:solidFill>
                <a:latin typeface="Microsoft YaHei"/>
                <a:ea typeface="Microsoft YaHei"/>
                <a:cs typeface="Microsoft YaHei"/>
              </a:defRPr>
            </a:pPr>
            <a:r>
              <a:rPr sz="2025" b="1" dirty="0" err="1">
                <a:solidFill>
                  <a:srgbClr val="9F2934"/>
                </a:solidFill>
                <a:latin typeface="Microsoft YaHei"/>
                <a:ea typeface="Microsoft YaHei"/>
                <a:cs typeface="Microsoft YaHei"/>
              </a:rPr>
              <a:t>任务</a:t>
            </a:r>
            <a:r>
              <a:rPr sz="2025" b="1" dirty="0">
                <a:solidFill>
                  <a:srgbClr val="9F2934"/>
                </a:solidFill>
                <a:latin typeface="Microsoft YaHei"/>
                <a:ea typeface="Microsoft YaHei"/>
                <a:cs typeface="Microsoft YaHei"/>
              </a:rPr>
              <a:t> A</a:t>
            </a:r>
            <a:r>
              <a:rPr lang="en-US" sz="2025" b="1" dirty="0">
                <a:solidFill>
                  <a:srgbClr val="9F2934"/>
                </a:solidFill>
                <a:latin typeface="Microsoft YaHei"/>
                <a:ea typeface="Microsoft YaHei"/>
                <a:cs typeface="Microsoft YaHei"/>
              </a:rPr>
              <a:t> </a:t>
            </a:r>
            <a:r>
              <a:rPr lang="zh-CN" altLang="en-US" sz="2025" b="1" dirty="0">
                <a:solidFill>
                  <a:srgbClr val="9F2934"/>
                </a:solidFill>
                <a:latin typeface="Microsoft YaHei"/>
                <a:ea typeface="Microsoft YaHei"/>
                <a:cs typeface="Microsoft YaHei"/>
              </a:rPr>
              <a:t>触发机器人的恶意性检测</a:t>
            </a:r>
            <a:r>
              <a:rPr lang="en-US" sz="2025" b="1" dirty="0">
                <a:solidFill>
                  <a:srgbClr val="9F2934"/>
                </a:solidFill>
                <a:latin typeface="Microsoft YaHei"/>
                <a:ea typeface="Microsoft YaHei"/>
                <a:cs typeface="Microsoft YaHei"/>
              </a:rPr>
              <a:t> </a:t>
            </a:r>
            <a:endParaRPr sz="2025" b="1" dirty="0">
              <a:solidFill>
                <a:srgbClr val="9F2934"/>
              </a:solidFill>
              <a:latin typeface="Microsoft YaHei"/>
              <a:ea typeface="Microsoft YaHei"/>
              <a:cs typeface="Microsoft YaHei"/>
            </a:endParaRPr>
          </a:p>
        </p:txBody>
      </p:sp>
      <p:sp>
        <p:nvSpPr>
          <p:cNvPr id="5" name="evidence-box-64">
            <a:extLst>
              <a:ext uri="{FF2B5EF4-FFF2-40B4-BE49-F238E27FC236}">
                <a16:creationId xmlns:a16="http://schemas.microsoft.com/office/drawing/2014/main" id="{0F59FBDB-71B5-43E6-B843-E44128A867EF}"/>
              </a:ext>
            </a:extLst>
          </p:cNvPr>
          <p:cNvSpPr>
            <a:spLocks noGrp="1"/>
          </p:cNvSpPr>
          <p:nvPr/>
        </p:nvSpPr>
        <p:spPr>
          <a:xfrm>
            <a:off x="685800" y="2724150"/>
            <a:ext cx="5238750" cy="1257300"/>
          </a:xfrm>
          <a:prstGeom prst="rect">
            <a:avLst/>
          </a:prstGeom>
          <a:noFill/>
          <a:ln w="12383">
            <a:solidFill>
              <a:srgbClr val="9F2934"/>
            </a:solidFill>
            <a:prstDash val="solid"/>
          </a:ln>
        </p:spPr>
      </p:sp>
      <p:sp>
        <p:nvSpPr>
          <p:cNvPr id="6" name="evidence-text-65">
            <a:extLst>
              <a:ext uri="{FF2B5EF4-FFF2-40B4-BE49-F238E27FC236}">
                <a16:creationId xmlns:a16="http://schemas.microsoft.com/office/drawing/2014/main" id="{D0FE12C0-0E65-49EC-9E82-2D15D6961D12}"/>
              </a:ext>
            </a:extLst>
          </p:cNvPr>
          <p:cNvSpPr>
            <a:spLocks noGrp="1"/>
          </p:cNvSpPr>
          <p:nvPr/>
        </p:nvSpPr>
        <p:spPr>
          <a:xfrm>
            <a:off x="857250" y="2900362"/>
            <a:ext cx="4895850" cy="105727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buNone/>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将三类恶意活动合并为</a:t>
            </a:r>
            <a:r>
              <a:rPr sz="1875" b="0" dirty="0">
                <a:solidFill>
                  <a:srgbClr val="26282D"/>
                </a:solidFill>
                <a:latin typeface="Microsoft YaHei"/>
                <a:ea typeface="Microsoft YaHei"/>
                <a:cs typeface="Microsoft YaHei"/>
              </a:rPr>
              <a:t> malicious</a:t>
            </a:r>
            <a:r>
              <a:rPr lang="zh-CN" altLang="en-US" sz="1875" b="0" dirty="0">
                <a:solidFill>
                  <a:srgbClr val="26282D"/>
                </a:solidFill>
                <a:latin typeface="Microsoft YaHei"/>
                <a:ea typeface="Microsoft YaHei"/>
                <a:cs typeface="Microsoft YaHei"/>
              </a:rPr>
              <a:t>，</a:t>
            </a:r>
            <a:r>
              <a:rPr sz="1875" b="0" dirty="0">
                <a:solidFill>
                  <a:srgbClr val="26282D"/>
                </a:solidFill>
                <a:latin typeface="Microsoft YaHei"/>
                <a:ea typeface="Microsoft YaHei"/>
                <a:cs typeface="Microsoft YaHei"/>
              </a:rPr>
              <a:t>与 benign </a:t>
            </a:r>
            <a:r>
              <a:rPr sz="1875" b="0" dirty="0" err="1">
                <a:solidFill>
                  <a:srgbClr val="26282D"/>
                </a:solidFill>
                <a:latin typeface="Microsoft YaHei"/>
                <a:ea typeface="Microsoft YaHei"/>
                <a:cs typeface="Microsoft YaHei"/>
              </a:rPr>
              <a:t>组成二分类标签</a:t>
            </a:r>
            <a:r>
              <a:rPr lang="zh-CN" altLang="en-US" sz="1875" dirty="0">
                <a:solidFill>
                  <a:srgbClr val="26282D"/>
                </a:solidFill>
                <a:latin typeface="Microsoft YaHei"/>
                <a:ea typeface="Microsoft YaHei"/>
                <a:cs typeface="Microsoft YaHei"/>
              </a:rPr>
              <a:t>。</a:t>
            </a:r>
            <a:endParaRPr sz="1875" b="0" dirty="0">
              <a:solidFill>
                <a:srgbClr val="26282D"/>
              </a:solidFill>
              <a:latin typeface="Microsoft YaHei"/>
              <a:ea typeface="Microsoft YaHei"/>
              <a:cs typeface="Microsoft YaHei"/>
            </a:endParaRPr>
          </a:p>
        </p:txBody>
      </p:sp>
      <p:sp>
        <p:nvSpPr>
          <p:cNvPr id="7" name="evidence-text-66">
            <a:extLst>
              <a:ext uri="{FF2B5EF4-FFF2-40B4-BE49-F238E27FC236}">
                <a16:creationId xmlns:a16="http://schemas.microsoft.com/office/drawing/2014/main" id="{1684C583-8285-447E-A0B9-68A54349A170}"/>
              </a:ext>
            </a:extLst>
          </p:cNvPr>
          <p:cNvSpPr>
            <a:spLocks noGrp="1"/>
          </p:cNvSpPr>
          <p:nvPr/>
        </p:nvSpPr>
        <p:spPr>
          <a:xfrm>
            <a:off x="6267450" y="2295525"/>
            <a:ext cx="5238750" cy="381000"/>
          </a:xfrm>
          <a:prstGeom prst="rect">
            <a:avLst/>
          </a:prstGeom>
          <a:noFill/>
          <a:ln w="0">
            <a:noFill/>
          </a:ln>
        </p:spPr>
        <p:txBody>
          <a:bodyPr wrap="square" lIns="0" tIns="0" rIns="0" bIns="0" anchor="t">
            <a:noAutofit/>
          </a:bodyPr>
          <a:lstStyle>
            <a:defPPr algn="l">
              <a:defRPr sz="2025" b="1">
                <a:solidFill>
                  <a:srgbClr val="2E746F"/>
                </a:solidFill>
                <a:latin typeface="Microsoft YaHei"/>
                <a:ea typeface="Microsoft YaHei"/>
                <a:cs typeface="Microsoft YaHei"/>
              </a:defRPr>
            </a:defPPr>
          </a:lstStyle>
          <a:p>
            <a:pPr algn="l">
              <a:buNone/>
              <a:defRPr sz="2025" b="1">
                <a:solidFill>
                  <a:srgbClr val="2E746F"/>
                </a:solidFill>
                <a:latin typeface="Microsoft YaHei"/>
                <a:ea typeface="Microsoft YaHei"/>
                <a:cs typeface="Microsoft YaHei"/>
              </a:defRPr>
            </a:pPr>
            <a:r>
              <a:rPr sz="2025" b="1" dirty="0" err="1">
                <a:solidFill>
                  <a:srgbClr val="2E746F"/>
                </a:solidFill>
                <a:latin typeface="Microsoft YaHei"/>
                <a:ea typeface="Microsoft YaHei"/>
                <a:cs typeface="Microsoft YaHei"/>
              </a:rPr>
              <a:t>任务</a:t>
            </a:r>
            <a:r>
              <a:rPr sz="2025" b="1" dirty="0">
                <a:solidFill>
                  <a:srgbClr val="2E746F"/>
                </a:solidFill>
                <a:latin typeface="Microsoft YaHei"/>
                <a:ea typeface="Microsoft YaHei"/>
                <a:cs typeface="Microsoft YaHei"/>
              </a:rPr>
              <a:t> B</a:t>
            </a:r>
            <a:r>
              <a:rPr lang="zh-CN" altLang="en-US" sz="2025" b="1" dirty="0">
                <a:solidFill>
                  <a:srgbClr val="2E746F"/>
                </a:solidFill>
                <a:latin typeface="Microsoft YaHei"/>
                <a:ea typeface="Microsoft YaHei"/>
                <a:cs typeface="Microsoft YaHei"/>
              </a:rPr>
              <a:t>触发机器人活动分类</a:t>
            </a:r>
            <a:endParaRPr sz="2025" b="1" dirty="0">
              <a:solidFill>
                <a:srgbClr val="2E746F"/>
              </a:solidFill>
              <a:latin typeface="Microsoft YaHei"/>
              <a:ea typeface="Microsoft YaHei"/>
              <a:cs typeface="Microsoft YaHei"/>
            </a:endParaRPr>
          </a:p>
        </p:txBody>
      </p:sp>
      <p:sp>
        <p:nvSpPr>
          <p:cNvPr id="8" name="evidence-box-67">
            <a:extLst>
              <a:ext uri="{FF2B5EF4-FFF2-40B4-BE49-F238E27FC236}">
                <a16:creationId xmlns:a16="http://schemas.microsoft.com/office/drawing/2014/main" id="{109D44C4-29C3-49EB-B344-5F77FDD81FB8}"/>
              </a:ext>
            </a:extLst>
          </p:cNvPr>
          <p:cNvSpPr>
            <a:spLocks noGrp="1"/>
          </p:cNvSpPr>
          <p:nvPr/>
        </p:nvSpPr>
        <p:spPr>
          <a:xfrm>
            <a:off x="6267450" y="2724150"/>
            <a:ext cx="5238750" cy="1257300"/>
          </a:xfrm>
          <a:prstGeom prst="rect">
            <a:avLst/>
          </a:prstGeom>
          <a:noFill/>
          <a:ln w="12383">
            <a:solidFill>
              <a:srgbClr val="2E746F"/>
            </a:solidFill>
            <a:prstDash val="solid"/>
          </a:ln>
        </p:spPr>
      </p:sp>
      <p:sp>
        <p:nvSpPr>
          <p:cNvPr id="9" name="evidence-text-68">
            <a:extLst>
              <a:ext uri="{FF2B5EF4-FFF2-40B4-BE49-F238E27FC236}">
                <a16:creationId xmlns:a16="http://schemas.microsoft.com/office/drawing/2014/main" id="{34ABFC05-22F1-4796-9CF1-72B35296161B}"/>
              </a:ext>
            </a:extLst>
          </p:cNvPr>
          <p:cNvSpPr>
            <a:spLocks noGrp="1"/>
          </p:cNvSpPr>
          <p:nvPr/>
        </p:nvSpPr>
        <p:spPr>
          <a:xfrm>
            <a:off x="6438900" y="2867025"/>
            <a:ext cx="4895850" cy="1057275"/>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保留四类标签：客服、非法产品、赠奖、良性</a:t>
            </a:r>
            <a:endParaRPr sz="1800" b="0" dirty="0">
              <a:solidFill>
                <a:srgbClr val="26282D"/>
              </a:solidFill>
              <a:latin typeface="Microsoft YaHei"/>
              <a:ea typeface="Microsoft YaHei"/>
              <a:cs typeface="Microsoft YaHei"/>
            </a:endParaRPr>
          </a:p>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模型预测每个账户对应的活动类别</a:t>
            </a:r>
            <a:r>
              <a:rPr lang="zh-CN" altLang="en-US" sz="1800" b="0" dirty="0">
                <a:solidFill>
                  <a:srgbClr val="26282D"/>
                </a:solidFill>
                <a:latin typeface="Microsoft YaHei"/>
                <a:ea typeface="Microsoft YaHei"/>
                <a:cs typeface="Microsoft YaHei"/>
              </a:rPr>
              <a:t>，</a:t>
            </a:r>
            <a:r>
              <a:rPr sz="1800" b="0" dirty="0" err="1">
                <a:solidFill>
                  <a:srgbClr val="26282D"/>
                </a:solidFill>
                <a:latin typeface="Microsoft YaHei"/>
                <a:ea typeface="Microsoft YaHei"/>
                <a:cs typeface="Microsoft YaHei"/>
              </a:rPr>
              <a:t>使用独立的四分类训练与评价流程</a:t>
            </a:r>
            <a:r>
              <a:rPr lang="zh-CN" altLang="en-US" sz="1800" b="0" dirty="0">
                <a:solidFill>
                  <a:srgbClr val="26282D"/>
                </a:solidFill>
                <a:latin typeface="Microsoft YaHei"/>
                <a:ea typeface="Microsoft YaHei"/>
                <a:cs typeface="Microsoft YaHei"/>
              </a:rPr>
              <a:t>。</a:t>
            </a:r>
            <a:endParaRPr sz="1800" b="0" dirty="0">
              <a:solidFill>
                <a:srgbClr val="26282D"/>
              </a:solidFill>
              <a:latin typeface="Microsoft YaHei"/>
              <a:ea typeface="Microsoft YaHei"/>
              <a:cs typeface="Microsoft YaHei"/>
            </a:endParaRPr>
          </a:p>
        </p:txBody>
      </p:sp>
      <p:sp>
        <p:nvSpPr>
          <p:cNvPr id="10" name="evidence-box-69">
            <a:extLst>
              <a:ext uri="{FF2B5EF4-FFF2-40B4-BE49-F238E27FC236}">
                <a16:creationId xmlns:a16="http://schemas.microsoft.com/office/drawing/2014/main" id="{47BB857E-7597-4C9A-BA3D-F86E79828708}"/>
              </a:ext>
            </a:extLst>
          </p:cNvPr>
          <p:cNvSpPr>
            <a:spLocks noGrp="1"/>
          </p:cNvSpPr>
          <p:nvPr/>
        </p:nvSpPr>
        <p:spPr>
          <a:xfrm>
            <a:off x="685800" y="4429125"/>
            <a:ext cx="2390775" cy="1400175"/>
          </a:xfrm>
          <a:prstGeom prst="rect">
            <a:avLst/>
          </a:prstGeom>
          <a:solidFill>
            <a:srgbClr val="F7EAEB"/>
          </a:solidFill>
          <a:ln w="12383">
            <a:solidFill>
              <a:srgbClr val="9F2934"/>
            </a:solidFill>
            <a:prstDash val="solid"/>
          </a:ln>
        </p:spPr>
      </p:sp>
      <p:sp>
        <p:nvSpPr>
          <p:cNvPr id="11" name="evidence-text-70">
            <a:extLst>
              <a:ext uri="{FF2B5EF4-FFF2-40B4-BE49-F238E27FC236}">
                <a16:creationId xmlns:a16="http://schemas.microsoft.com/office/drawing/2014/main" id="{1129D1AB-14FA-4314-A13B-BF51FF6592F6}"/>
              </a:ext>
            </a:extLst>
          </p:cNvPr>
          <p:cNvSpPr>
            <a:spLocks noGrp="1"/>
          </p:cNvSpPr>
          <p:nvPr/>
        </p:nvSpPr>
        <p:spPr>
          <a:xfrm>
            <a:off x="838200" y="4572000"/>
            <a:ext cx="2095500" cy="361950"/>
          </a:xfrm>
          <a:prstGeom prst="rect">
            <a:avLst/>
          </a:prstGeom>
          <a:noFill/>
          <a:ln w="0">
            <a:noFill/>
          </a:ln>
        </p:spPr>
        <p:txBody>
          <a:bodyPr wrap="square" lIns="0" tIns="0" rIns="0" bIns="0" anchor="t">
            <a:noAutofit/>
          </a:bodyPr>
          <a:lstStyle>
            <a:defPPr algn="l">
              <a:defRPr sz="2025" b="1">
                <a:solidFill>
                  <a:srgbClr val="9F2934"/>
                </a:solidFill>
                <a:latin typeface="Microsoft YaHei"/>
                <a:ea typeface="Microsoft YaHei"/>
                <a:cs typeface="Microsoft YaHei"/>
              </a:defRPr>
            </a:defPPr>
          </a:lstStyle>
          <a:p>
            <a:pPr algn="l">
              <a:buNone/>
              <a:defRPr sz="2025" b="1">
                <a:solidFill>
                  <a:srgbClr val="9F2934"/>
                </a:solidFill>
                <a:latin typeface="Microsoft YaHei"/>
                <a:ea typeface="Microsoft YaHei"/>
                <a:cs typeface="Microsoft YaHei"/>
              </a:defRPr>
            </a:pPr>
            <a:r>
              <a:rPr sz="2025" b="1">
                <a:solidFill>
                  <a:srgbClr val="9F2934"/>
                </a:solidFill>
                <a:latin typeface="Microsoft YaHei"/>
                <a:ea typeface="Microsoft YaHei"/>
                <a:cs typeface="Microsoft YaHei"/>
              </a:rPr>
              <a:t>数据划分</a:t>
            </a:r>
          </a:p>
        </p:txBody>
      </p:sp>
      <p:sp>
        <p:nvSpPr>
          <p:cNvPr id="12" name="evidence-text-71">
            <a:extLst>
              <a:ext uri="{FF2B5EF4-FFF2-40B4-BE49-F238E27FC236}">
                <a16:creationId xmlns:a16="http://schemas.microsoft.com/office/drawing/2014/main" id="{33CF26C8-3F13-419C-8826-1C77E7770C43}"/>
              </a:ext>
            </a:extLst>
          </p:cNvPr>
          <p:cNvSpPr>
            <a:spLocks noGrp="1"/>
          </p:cNvSpPr>
          <p:nvPr/>
        </p:nvSpPr>
        <p:spPr>
          <a:xfrm>
            <a:off x="838200" y="5048250"/>
            <a:ext cx="2124075" cy="65722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a:solidFill>
                  <a:srgbClr val="26282D"/>
                </a:solidFill>
                <a:latin typeface="Microsoft YaHei"/>
                <a:ea typeface="Microsoft YaHei"/>
                <a:cs typeface="Microsoft YaHei"/>
              </a:rPr>
              <a:t>80% </a:t>
            </a:r>
            <a:r>
              <a:rPr sz="1725" b="0" dirty="0" err="1">
                <a:solidFill>
                  <a:srgbClr val="26282D"/>
                </a:solidFill>
                <a:latin typeface="Microsoft YaHei"/>
                <a:ea typeface="Microsoft YaHei"/>
                <a:cs typeface="Microsoft YaHei"/>
              </a:rPr>
              <a:t>训练</a:t>
            </a:r>
            <a:r>
              <a:rPr lang="zh-CN" altLang="en-US" sz="1725" b="0" dirty="0">
                <a:solidFill>
                  <a:srgbClr val="26282D"/>
                </a:solidFill>
                <a:latin typeface="Microsoft YaHei"/>
                <a:ea typeface="Microsoft YaHei"/>
                <a:cs typeface="Microsoft YaHei"/>
              </a:rPr>
              <a:t>，</a:t>
            </a:r>
            <a:r>
              <a:rPr sz="1725" b="0" dirty="0">
                <a:solidFill>
                  <a:srgbClr val="26282D"/>
                </a:solidFill>
                <a:latin typeface="Microsoft YaHei"/>
                <a:ea typeface="Microsoft YaHei"/>
                <a:cs typeface="Microsoft YaHei"/>
              </a:rPr>
              <a:t>20% </a:t>
            </a:r>
            <a:r>
              <a:rPr sz="1725" b="0" dirty="0" err="1">
                <a:solidFill>
                  <a:srgbClr val="26282D"/>
                </a:solidFill>
                <a:latin typeface="Microsoft YaHei"/>
                <a:ea typeface="Microsoft YaHei"/>
                <a:cs typeface="Microsoft YaHei"/>
              </a:rPr>
              <a:t>留出测试</a:t>
            </a:r>
            <a:endParaRPr sz="1725" b="0" dirty="0">
              <a:solidFill>
                <a:srgbClr val="26282D"/>
              </a:solidFill>
              <a:latin typeface="Microsoft YaHei"/>
              <a:ea typeface="Microsoft YaHei"/>
              <a:cs typeface="Microsoft YaHei"/>
            </a:endParaRPr>
          </a:p>
        </p:txBody>
      </p:sp>
      <p:sp>
        <p:nvSpPr>
          <p:cNvPr id="13" name="flow-connector-72">
            <a:extLst>
              <a:ext uri="{FF2B5EF4-FFF2-40B4-BE49-F238E27FC236}">
                <a16:creationId xmlns:a16="http://schemas.microsoft.com/office/drawing/2014/main" id="{C9A481DB-C905-430A-963F-7F4825D129E3}"/>
              </a:ext>
            </a:extLst>
          </p:cNvPr>
          <p:cNvSpPr>
            <a:spLocks noGrp="1"/>
          </p:cNvSpPr>
          <p:nvPr/>
        </p:nvSpPr>
        <p:spPr>
          <a:xfrm>
            <a:off x="3133725" y="4991100"/>
            <a:ext cx="295275" cy="247650"/>
          </a:xfrm>
          <a:prstGeom prst="rightArrow">
            <a:avLst/>
          </a:prstGeom>
          <a:solidFill>
            <a:srgbClr val="2E746F"/>
          </a:solidFill>
          <a:ln w="0">
            <a:noFill/>
          </a:ln>
        </p:spPr>
      </p:sp>
      <p:sp>
        <p:nvSpPr>
          <p:cNvPr id="14" name="evidence-box-73">
            <a:extLst>
              <a:ext uri="{FF2B5EF4-FFF2-40B4-BE49-F238E27FC236}">
                <a16:creationId xmlns:a16="http://schemas.microsoft.com/office/drawing/2014/main" id="{1CF28EFF-7275-4D6B-84A8-F678AB7733EA}"/>
              </a:ext>
            </a:extLst>
          </p:cNvPr>
          <p:cNvSpPr>
            <a:spLocks noGrp="1"/>
          </p:cNvSpPr>
          <p:nvPr/>
        </p:nvSpPr>
        <p:spPr>
          <a:xfrm>
            <a:off x="3495675" y="4429125"/>
            <a:ext cx="2390775" cy="1400175"/>
          </a:xfrm>
          <a:prstGeom prst="rect">
            <a:avLst/>
          </a:prstGeom>
          <a:solidFill>
            <a:srgbClr val="EAF3F1"/>
          </a:solidFill>
          <a:ln w="12383">
            <a:solidFill>
              <a:srgbClr val="2E746F"/>
            </a:solidFill>
            <a:prstDash val="solid"/>
          </a:ln>
        </p:spPr>
      </p:sp>
      <p:sp>
        <p:nvSpPr>
          <p:cNvPr id="15" name="evidence-text-74">
            <a:extLst>
              <a:ext uri="{FF2B5EF4-FFF2-40B4-BE49-F238E27FC236}">
                <a16:creationId xmlns:a16="http://schemas.microsoft.com/office/drawing/2014/main" id="{C680C2B4-2469-4946-9C73-E39B0AF8A408}"/>
              </a:ext>
            </a:extLst>
          </p:cNvPr>
          <p:cNvSpPr>
            <a:spLocks noGrp="1"/>
          </p:cNvSpPr>
          <p:nvPr/>
        </p:nvSpPr>
        <p:spPr>
          <a:xfrm>
            <a:off x="3648075" y="4572000"/>
            <a:ext cx="2095500" cy="361950"/>
          </a:xfrm>
          <a:prstGeom prst="rect">
            <a:avLst/>
          </a:prstGeom>
          <a:noFill/>
          <a:ln w="0">
            <a:noFill/>
          </a:ln>
        </p:spPr>
        <p:txBody>
          <a:bodyPr wrap="square" lIns="0" tIns="0" rIns="0" bIns="0" anchor="t">
            <a:noAutofit/>
          </a:bodyPr>
          <a:lstStyle>
            <a:defPPr algn="l">
              <a:defRPr sz="2025" b="1">
                <a:solidFill>
                  <a:srgbClr val="2E746F"/>
                </a:solidFill>
                <a:latin typeface="Microsoft YaHei"/>
                <a:ea typeface="Microsoft YaHei"/>
                <a:cs typeface="Microsoft YaHei"/>
              </a:defRPr>
            </a:defPPr>
          </a:lstStyle>
          <a:p>
            <a:pPr algn="l">
              <a:buNone/>
              <a:defRPr sz="2025" b="1">
                <a:solidFill>
                  <a:srgbClr val="2E746F"/>
                </a:solidFill>
                <a:latin typeface="Microsoft YaHei"/>
                <a:ea typeface="Microsoft YaHei"/>
                <a:cs typeface="Microsoft YaHei"/>
              </a:defRPr>
            </a:pPr>
            <a:r>
              <a:rPr sz="2025" b="1">
                <a:solidFill>
                  <a:srgbClr val="2E746F"/>
                </a:solidFill>
                <a:latin typeface="Microsoft YaHei"/>
                <a:ea typeface="Microsoft YaHei"/>
                <a:cs typeface="Microsoft YaHei"/>
              </a:rPr>
              <a:t>模型学习</a:t>
            </a:r>
          </a:p>
        </p:txBody>
      </p:sp>
      <p:sp>
        <p:nvSpPr>
          <p:cNvPr id="16" name="evidence-text-75">
            <a:extLst>
              <a:ext uri="{FF2B5EF4-FFF2-40B4-BE49-F238E27FC236}">
                <a16:creationId xmlns:a16="http://schemas.microsoft.com/office/drawing/2014/main" id="{CA2FDC9C-64AB-46DF-B8EE-01AABEA88A39}"/>
              </a:ext>
            </a:extLst>
          </p:cNvPr>
          <p:cNvSpPr>
            <a:spLocks noGrp="1"/>
          </p:cNvSpPr>
          <p:nvPr/>
        </p:nvSpPr>
        <p:spPr>
          <a:xfrm>
            <a:off x="3648075" y="5048250"/>
            <a:ext cx="2124075" cy="65722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各基线使用对应输入</a:t>
            </a:r>
            <a:r>
              <a:rPr lang="zh-CN" altLang="en-US" sz="1725" b="0" dirty="0">
                <a:solidFill>
                  <a:srgbClr val="26282D"/>
                </a:solidFill>
                <a:latin typeface="Microsoft YaHei"/>
                <a:ea typeface="Microsoft YaHei"/>
                <a:cs typeface="Microsoft YaHei"/>
              </a:rPr>
              <a:t>，</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0" dirty="0">
                <a:solidFill>
                  <a:srgbClr val="26282D"/>
                </a:solidFill>
                <a:latin typeface="Microsoft YaHei"/>
                <a:ea typeface="Microsoft YaHei"/>
                <a:cs typeface="Microsoft YaHei"/>
              </a:rPr>
              <a:t>LLM </a:t>
            </a:r>
            <a:r>
              <a:rPr sz="1725" b="0" dirty="0" err="1">
                <a:solidFill>
                  <a:srgbClr val="26282D"/>
                </a:solidFill>
                <a:latin typeface="Microsoft YaHei"/>
                <a:ea typeface="Microsoft YaHei"/>
                <a:cs typeface="Microsoft YaHei"/>
              </a:rPr>
              <a:t>采用</a:t>
            </a:r>
            <a:r>
              <a:rPr sz="1725" b="0" dirty="0">
                <a:solidFill>
                  <a:srgbClr val="26282D"/>
                </a:solidFill>
                <a:latin typeface="Microsoft YaHei"/>
                <a:ea typeface="Microsoft YaHei"/>
                <a:cs typeface="Microsoft YaHei"/>
              </a:rPr>
              <a:t> ICL</a:t>
            </a:r>
          </a:p>
        </p:txBody>
      </p:sp>
      <p:sp>
        <p:nvSpPr>
          <p:cNvPr id="17" name="flow-connector-76">
            <a:extLst>
              <a:ext uri="{FF2B5EF4-FFF2-40B4-BE49-F238E27FC236}">
                <a16:creationId xmlns:a16="http://schemas.microsoft.com/office/drawing/2014/main" id="{281D8895-C1DB-4F17-B650-CC820937C329}"/>
              </a:ext>
            </a:extLst>
          </p:cNvPr>
          <p:cNvSpPr>
            <a:spLocks noGrp="1"/>
          </p:cNvSpPr>
          <p:nvPr/>
        </p:nvSpPr>
        <p:spPr>
          <a:xfrm>
            <a:off x="5943600" y="4991100"/>
            <a:ext cx="295275" cy="247650"/>
          </a:xfrm>
          <a:prstGeom prst="rightArrow">
            <a:avLst/>
          </a:prstGeom>
          <a:solidFill>
            <a:srgbClr val="2E746F"/>
          </a:solidFill>
          <a:ln w="0">
            <a:noFill/>
          </a:ln>
        </p:spPr>
      </p:sp>
      <p:sp>
        <p:nvSpPr>
          <p:cNvPr id="18" name="evidence-box-77">
            <a:extLst>
              <a:ext uri="{FF2B5EF4-FFF2-40B4-BE49-F238E27FC236}">
                <a16:creationId xmlns:a16="http://schemas.microsoft.com/office/drawing/2014/main" id="{3C4FBA2B-2492-4E5D-93DB-D2270D0E8938}"/>
              </a:ext>
            </a:extLst>
          </p:cNvPr>
          <p:cNvSpPr>
            <a:spLocks noGrp="1"/>
          </p:cNvSpPr>
          <p:nvPr/>
        </p:nvSpPr>
        <p:spPr>
          <a:xfrm>
            <a:off x="6305550" y="4429125"/>
            <a:ext cx="2390775" cy="1400175"/>
          </a:xfrm>
          <a:prstGeom prst="rect">
            <a:avLst/>
          </a:prstGeom>
          <a:solidFill>
            <a:srgbClr val="F7EAEB"/>
          </a:solidFill>
          <a:ln w="12383">
            <a:solidFill>
              <a:srgbClr val="9F2934"/>
            </a:solidFill>
            <a:prstDash val="solid"/>
          </a:ln>
        </p:spPr>
      </p:sp>
      <p:sp>
        <p:nvSpPr>
          <p:cNvPr id="19" name="evidence-text-78">
            <a:extLst>
              <a:ext uri="{FF2B5EF4-FFF2-40B4-BE49-F238E27FC236}">
                <a16:creationId xmlns:a16="http://schemas.microsoft.com/office/drawing/2014/main" id="{AA0E1CD4-3344-48D7-82F8-10336FEC0500}"/>
              </a:ext>
            </a:extLst>
          </p:cNvPr>
          <p:cNvSpPr>
            <a:spLocks noGrp="1"/>
          </p:cNvSpPr>
          <p:nvPr/>
        </p:nvSpPr>
        <p:spPr>
          <a:xfrm>
            <a:off x="6457950" y="4572000"/>
            <a:ext cx="2095500" cy="361950"/>
          </a:xfrm>
          <a:prstGeom prst="rect">
            <a:avLst/>
          </a:prstGeom>
          <a:noFill/>
          <a:ln w="0">
            <a:noFill/>
          </a:ln>
        </p:spPr>
        <p:txBody>
          <a:bodyPr wrap="square" lIns="0" tIns="0" rIns="0" bIns="0" anchor="t">
            <a:noAutofit/>
          </a:bodyPr>
          <a:lstStyle>
            <a:defPPr algn="l">
              <a:defRPr sz="2025" b="1">
                <a:solidFill>
                  <a:srgbClr val="9F2934"/>
                </a:solidFill>
                <a:latin typeface="Microsoft YaHei"/>
                <a:ea typeface="Microsoft YaHei"/>
                <a:cs typeface="Microsoft YaHei"/>
              </a:defRPr>
            </a:defPPr>
          </a:lstStyle>
          <a:p>
            <a:pPr algn="l">
              <a:buNone/>
              <a:defRPr sz="2025" b="1">
                <a:solidFill>
                  <a:srgbClr val="9F2934"/>
                </a:solidFill>
                <a:latin typeface="Microsoft YaHei"/>
                <a:ea typeface="Microsoft YaHei"/>
                <a:cs typeface="Microsoft YaHei"/>
              </a:defRPr>
            </a:pPr>
            <a:r>
              <a:rPr sz="2025" b="1">
                <a:solidFill>
                  <a:srgbClr val="9F2934"/>
                </a:solidFill>
                <a:latin typeface="Microsoft YaHei"/>
                <a:ea typeface="Microsoft YaHei"/>
                <a:cs typeface="Microsoft YaHei"/>
              </a:rPr>
              <a:t>留出评价</a:t>
            </a:r>
          </a:p>
        </p:txBody>
      </p:sp>
      <p:sp>
        <p:nvSpPr>
          <p:cNvPr id="20" name="evidence-text-79">
            <a:extLst>
              <a:ext uri="{FF2B5EF4-FFF2-40B4-BE49-F238E27FC236}">
                <a16:creationId xmlns:a16="http://schemas.microsoft.com/office/drawing/2014/main" id="{B24F0A06-21A6-436A-AA48-0D4226C4DA5C}"/>
              </a:ext>
            </a:extLst>
          </p:cNvPr>
          <p:cNvSpPr>
            <a:spLocks noGrp="1"/>
          </p:cNvSpPr>
          <p:nvPr/>
        </p:nvSpPr>
        <p:spPr>
          <a:xfrm>
            <a:off x="6457950" y="5048250"/>
            <a:ext cx="2124075" cy="65722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各模型沿用一致划分</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测试集计算三项指标</a:t>
            </a:r>
            <a:endParaRPr sz="1725" b="0" dirty="0">
              <a:solidFill>
                <a:srgbClr val="26282D"/>
              </a:solidFill>
              <a:latin typeface="Microsoft YaHei"/>
              <a:ea typeface="Microsoft YaHei"/>
              <a:cs typeface="Microsoft YaHei"/>
            </a:endParaRPr>
          </a:p>
        </p:txBody>
      </p:sp>
      <p:sp>
        <p:nvSpPr>
          <p:cNvPr id="21" name="flow-connector-80">
            <a:extLst>
              <a:ext uri="{FF2B5EF4-FFF2-40B4-BE49-F238E27FC236}">
                <a16:creationId xmlns:a16="http://schemas.microsoft.com/office/drawing/2014/main" id="{1A54030D-37D5-46A6-AB32-B0EE0C1728A6}"/>
              </a:ext>
            </a:extLst>
          </p:cNvPr>
          <p:cNvSpPr>
            <a:spLocks noGrp="1"/>
          </p:cNvSpPr>
          <p:nvPr/>
        </p:nvSpPr>
        <p:spPr>
          <a:xfrm>
            <a:off x="8753475" y="4991100"/>
            <a:ext cx="295275" cy="247650"/>
          </a:xfrm>
          <a:prstGeom prst="rightArrow">
            <a:avLst/>
          </a:prstGeom>
          <a:solidFill>
            <a:srgbClr val="2E746F"/>
          </a:solidFill>
          <a:ln w="0">
            <a:noFill/>
          </a:ln>
        </p:spPr>
      </p:sp>
      <p:sp>
        <p:nvSpPr>
          <p:cNvPr id="22" name="evidence-box-81">
            <a:extLst>
              <a:ext uri="{FF2B5EF4-FFF2-40B4-BE49-F238E27FC236}">
                <a16:creationId xmlns:a16="http://schemas.microsoft.com/office/drawing/2014/main" id="{390664B5-91F0-4498-A4D1-13023E44D9C3}"/>
              </a:ext>
            </a:extLst>
          </p:cNvPr>
          <p:cNvSpPr>
            <a:spLocks noGrp="1"/>
          </p:cNvSpPr>
          <p:nvPr/>
        </p:nvSpPr>
        <p:spPr>
          <a:xfrm>
            <a:off x="9115425" y="4429125"/>
            <a:ext cx="2390775" cy="1400175"/>
          </a:xfrm>
          <a:prstGeom prst="rect">
            <a:avLst/>
          </a:prstGeom>
          <a:solidFill>
            <a:srgbClr val="EAF3F1"/>
          </a:solidFill>
          <a:ln w="12383">
            <a:solidFill>
              <a:srgbClr val="2E746F"/>
            </a:solidFill>
            <a:prstDash val="solid"/>
          </a:ln>
        </p:spPr>
      </p:sp>
      <p:sp>
        <p:nvSpPr>
          <p:cNvPr id="23" name="evidence-text-82">
            <a:extLst>
              <a:ext uri="{FF2B5EF4-FFF2-40B4-BE49-F238E27FC236}">
                <a16:creationId xmlns:a16="http://schemas.microsoft.com/office/drawing/2014/main" id="{6D9B909D-198A-42A9-8C7C-9663B22F2AF0}"/>
              </a:ext>
            </a:extLst>
          </p:cNvPr>
          <p:cNvSpPr>
            <a:spLocks noGrp="1"/>
          </p:cNvSpPr>
          <p:nvPr/>
        </p:nvSpPr>
        <p:spPr>
          <a:xfrm>
            <a:off x="9267825" y="4572000"/>
            <a:ext cx="2095500" cy="361950"/>
          </a:xfrm>
          <a:prstGeom prst="rect">
            <a:avLst/>
          </a:prstGeom>
          <a:noFill/>
          <a:ln w="0">
            <a:noFill/>
          </a:ln>
        </p:spPr>
        <p:txBody>
          <a:bodyPr wrap="square" lIns="0" tIns="0" rIns="0" bIns="0" anchor="t">
            <a:noAutofit/>
          </a:bodyPr>
          <a:lstStyle>
            <a:defPPr algn="l">
              <a:defRPr sz="2025" b="1">
                <a:solidFill>
                  <a:srgbClr val="2E746F"/>
                </a:solidFill>
                <a:latin typeface="Microsoft YaHei"/>
                <a:ea typeface="Microsoft YaHei"/>
                <a:cs typeface="Microsoft YaHei"/>
              </a:defRPr>
            </a:defPPr>
          </a:lstStyle>
          <a:p>
            <a:pPr algn="l">
              <a:buNone/>
              <a:defRPr sz="2025" b="1">
                <a:solidFill>
                  <a:srgbClr val="2E746F"/>
                </a:solidFill>
                <a:latin typeface="Microsoft YaHei"/>
                <a:ea typeface="Microsoft YaHei"/>
                <a:cs typeface="Microsoft YaHei"/>
              </a:defRPr>
            </a:pPr>
            <a:r>
              <a:rPr sz="2025" b="1">
                <a:solidFill>
                  <a:srgbClr val="2E746F"/>
                </a:solidFill>
                <a:latin typeface="Microsoft YaHei"/>
                <a:ea typeface="Microsoft YaHei"/>
                <a:cs typeface="Microsoft YaHei"/>
              </a:rPr>
              <a:t>重复与汇总</a:t>
            </a:r>
          </a:p>
        </p:txBody>
      </p:sp>
      <p:sp>
        <p:nvSpPr>
          <p:cNvPr id="24" name="evidence-text-83">
            <a:extLst>
              <a:ext uri="{FF2B5EF4-FFF2-40B4-BE49-F238E27FC236}">
                <a16:creationId xmlns:a16="http://schemas.microsoft.com/office/drawing/2014/main" id="{7B356264-B53E-4802-AF91-FC9E3132C41B}"/>
              </a:ext>
            </a:extLst>
          </p:cNvPr>
          <p:cNvSpPr>
            <a:spLocks noGrp="1"/>
          </p:cNvSpPr>
          <p:nvPr/>
        </p:nvSpPr>
        <p:spPr>
          <a:xfrm>
            <a:off x="9267825" y="5048250"/>
            <a:ext cx="2124075" cy="657225"/>
          </a:xfrm>
          <a:prstGeom prst="rect">
            <a:avLst/>
          </a:prstGeom>
          <a:noFill/>
          <a:ln w="0">
            <a:noFill/>
          </a:ln>
        </p:spPr>
        <p:txBody>
          <a:bodyPr wrap="square" lIns="0" tIns="0" rIns="0" bIns="0" anchor="t">
            <a:noAutofit/>
          </a:bodyPr>
          <a:lstStyle>
            <a:defPPr algn="l">
              <a:defRPr sz="1725" b="0">
                <a:solidFill>
                  <a:srgbClr val="26282D"/>
                </a:solidFill>
                <a:latin typeface="Microsoft YaHei"/>
                <a:ea typeface="Microsoft YaHei"/>
                <a:cs typeface="Microsoft YaHei"/>
              </a:defRPr>
            </a:defPPr>
          </a:lstStyle>
          <a:p>
            <a:pPr algn="l">
              <a:buNone/>
              <a:defRPr sz="1725" b="0">
                <a:solidFill>
                  <a:srgbClr val="26282D"/>
                </a:solidFill>
                <a:latin typeface="Microsoft YaHei"/>
                <a:ea typeface="Microsoft YaHei"/>
                <a:cs typeface="Microsoft YaHei"/>
              </a:defRPr>
            </a:pPr>
            <a:r>
              <a:rPr sz="1725" b="0" dirty="0">
                <a:solidFill>
                  <a:srgbClr val="26282D"/>
                </a:solidFill>
                <a:latin typeface="Microsoft YaHei"/>
                <a:ea typeface="Microsoft YaHei"/>
                <a:cs typeface="Microsoft YaHei"/>
              </a:rPr>
              <a:t>10 </a:t>
            </a:r>
            <a:r>
              <a:rPr sz="1725" b="0" dirty="0" err="1">
                <a:solidFill>
                  <a:srgbClr val="26282D"/>
                </a:solidFill>
                <a:latin typeface="Microsoft YaHei"/>
                <a:ea typeface="Microsoft YaHei"/>
                <a:cs typeface="Microsoft YaHei"/>
              </a:rPr>
              <a:t>个不同随机种子</a:t>
            </a:r>
            <a:endParaRPr sz="1725" b="0" dirty="0">
              <a:solidFill>
                <a:srgbClr val="26282D"/>
              </a:solidFill>
              <a:latin typeface="Microsoft YaHei"/>
              <a:ea typeface="Microsoft YaHei"/>
              <a:cs typeface="Microsoft YaHei"/>
            </a:endParaRPr>
          </a:p>
          <a:p>
            <a:pPr algn="l">
              <a:buNone/>
              <a:defRPr sz="1725" b="0">
                <a:solidFill>
                  <a:srgbClr val="26282D"/>
                </a:solidFill>
                <a:latin typeface="Microsoft YaHei"/>
                <a:ea typeface="Microsoft YaHei"/>
                <a:cs typeface="Microsoft YaHei"/>
              </a:defRPr>
            </a:pPr>
            <a:r>
              <a:rPr sz="1725" b="0" dirty="0" err="1">
                <a:solidFill>
                  <a:srgbClr val="26282D"/>
                </a:solidFill>
                <a:latin typeface="Microsoft YaHei"/>
                <a:ea typeface="Microsoft YaHei"/>
                <a:cs typeface="Microsoft YaHei"/>
              </a:rPr>
              <a:t>报告均值</a:t>
            </a:r>
            <a:r>
              <a:rPr sz="1725" b="0" dirty="0">
                <a:solidFill>
                  <a:srgbClr val="26282D"/>
                </a:solidFill>
                <a:latin typeface="Microsoft YaHei"/>
                <a:ea typeface="Microsoft YaHei"/>
                <a:cs typeface="Microsoft YaHei"/>
              </a:rPr>
              <a:t> ± </a:t>
            </a:r>
            <a:r>
              <a:rPr sz="1725" b="0" dirty="0" err="1">
                <a:solidFill>
                  <a:srgbClr val="26282D"/>
                </a:solidFill>
                <a:latin typeface="Microsoft YaHei"/>
                <a:ea typeface="Microsoft YaHei"/>
                <a:cs typeface="Microsoft YaHei"/>
              </a:rPr>
              <a:t>标准差</a:t>
            </a:r>
            <a:endParaRPr sz="1725" b="0" dirty="0">
              <a:solidFill>
                <a:srgbClr val="26282D"/>
              </a:solidFill>
              <a:latin typeface="Microsoft YaHei"/>
              <a:ea typeface="Microsoft YaHei"/>
              <a:cs typeface="Microsoft YaHei"/>
            </a:endParaRPr>
          </a:p>
        </p:txBody>
      </p:sp>
      <p:pic>
        <p:nvPicPr>
          <p:cNvPr id="2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2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lang="en-US" sz="1000" dirty="0">
                <a:solidFill>
                  <a:srgbClr val="777777"/>
                </a:solidFill>
                <a:latin typeface="Microsoft YaHei"/>
                <a:ea typeface="Microsoft YaHei"/>
                <a:cs typeface="Microsoft YaHei"/>
              </a:rPr>
              <a:t>19/33</a:t>
            </a:r>
          </a:p>
        </p:txBody>
      </p:sp>
      <p:sp>
        <p:nvSpPr>
          <p:cNvPr id="28" name="矩形 2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280">
            <a:extLst>
              <a:ext uri="{FF2B5EF4-FFF2-40B4-BE49-F238E27FC236}">
                <a16:creationId xmlns:a16="http://schemas.microsoft.com/office/drawing/2014/main" id="{AE244425-1068-4AD1-8958-6F5D6A531A36}"/>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实验设置</a:t>
            </a:r>
            <a:endParaRPr sz="3300" b="1" dirty="0">
              <a:solidFill>
                <a:srgbClr val="A52A36"/>
              </a:solidFill>
              <a:latin typeface="Microsoft YaHei"/>
              <a:ea typeface="Microsoft YaHei"/>
            </a:endParaRPr>
          </a:p>
        </p:txBody>
      </p:sp>
      <p:sp>
        <p:nvSpPr>
          <p:cNvPr id="3" name="evidence-text-86">
            <a:extLst>
              <a:ext uri="{FF2B5EF4-FFF2-40B4-BE49-F238E27FC236}">
                <a16:creationId xmlns:a16="http://schemas.microsoft.com/office/drawing/2014/main" id="{C1F89227-C4DA-41E9-A3EC-AF316303E951}"/>
              </a:ext>
            </a:extLst>
          </p:cNvPr>
          <p:cNvSpPr>
            <a:spLocks noGrp="1"/>
          </p:cNvSpPr>
          <p:nvPr/>
        </p:nvSpPr>
        <p:spPr>
          <a:xfrm>
            <a:off x="634594" y="1347788"/>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a:solidFill>
                  <a:srgbClr val="A52A36"/>
                </a:solidFill>
                <a:latin typeface="Microsoft YaHei"/>
                <a:ea typeface="Microsoft YaHei"/>
              </a:rPr>
              <a:t>15 </a:t>
            </a:r>
            <a:r>
              <a:rPr sz="2400" b="1" dirty="0" err="1">
                <a:solidFill>
                  <a:srgbClr val="A52A36"/>
                </a:solidFill>
                <a:latin typeface="Microsoft YaHei"/>
                <a:ea typeface="Microsoft YaHei"/>
              </a:rPr>
              <a:t>种基线的输入与学习方式</a:t>
            </a:r>
            <a:endParaRPr sz="2400" b="1" dirty="0">
              <a:solidFill>
                <a:srgbClr val="A52A36"/>
              </a:solidFill>
              <a:latin typeface="Microsoft YaHei"/>
              <a:ea typeface="Microsoft YaHei"/>
            </a:endParaRPr>
          </a:p>
        </p:txBody>
      </p:sp>
      <p:graphicFrame>
        <p:nvGraphicFramePr>
          <p:cNvPr id="4" name="表格 14">
            <a:extLst>
              <a:ext uri="{FF2B5EF4-FFF2-40B4-BE49-F238E27FC236}">
                <a16:creationId xmlns:a16="http://schemas.microsoft.com/office/drawing/2014/main" id="{A4DCB170-8BD2-4053-B5F0-8686B0AB07B6}"/>
              </a:ext>
            </a:extLst>
          </p:cNvPr>
          <p:cNvGraphicFramePr/>
          <p:nvPr/>
        </p:nvGraphicFramePr>
        <p:xfrm>
          <a:off x="685800" y="1838325"/>
          <a:ext cx="10820400" cy="3688080"/>
        </p:xfrm>
        <a:graphic>
          <a:graphicData uri="http://schemas.openxmlformats.org/drawingml/2006/table">
            <a:tbl>
              <a:tblPr/>
              <a:tblGrid>
                <a:gridCol w="5000625">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3057525">
                  <a:extLst>
                    <a:ext uri="{9D8B030D-6E8A-4147-A177-3AD203B41FA5}">
                      <a16:colId xmlns:a16="http://schemas.microsoft.com/office/drawing/2014/main" val="20002"/>
                    </a:ext>
                  </a:extLst>
                </a:gridCol>
              </a:tblGrid>
              <a:tr h="523875">
                <a:tc>
                  <a:txBody>
                    <a:bodyPr/>
                    <a:lstStyle/>
                    <a:p>
                      <a:pPr algn="l">
                        <a:buNone/>
                      </a:pPr>
                      <a:r>
                        <a:rPr sz="1725" b="1">
                          <a:solidFill>
                            <a:srgbClr val="FFFFFF"/>
                          </a:solidFill>
                          <a:latin typeface="Microsoft YaHei"/>
                          <a:ea typeface="Microsoft YaHei"/>
                          <a:cs typeface="Microsoft YaHei"/>
                        </a:rPr>
                        <a:t>方法类别与模型</a:t>
                      </a:r>
                    </a:p>
                  </a:txBody>
                  <a:tcPr marL="114300" marR="95250" marT="9525" marB="9525"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725" b="1">
                          <a:solidFill>
                            <a:srgbClr val="FFFFFF"/>
                          </a:solidFill>
                          <a:latin typeface="Microsoft YaHei"/>
                          <a:ea typeface="Microsoft YaHei"/>
                          <a:cs typeface="Microsoft YaHei"/>
                        </a:rPr>
                        <a:t>输入信息</a:t>
                      </a:r>
                    </a:p>
                  </a:txBody>
                  <a:tcPr marL="114300" marR="95250" marT="9525" marB="9525"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725" b="1">
                          <a:solidFill>
                            <a:srgbClr val="FFFFFF"/>
                          </a:solidFill>
                          <a:latin typeface="Microsoft YaHei"/>
                          <a:ea typeface="Microsoft YaHei"/>
                          <a:cs typeface="Microsoft YaHei"/>
                        </a:rPr>
                        <a:t>学习 / 判断方式</a:t>
                      </a:r>
                    </a:p>
                  </a:txBody>
                  <a:tcPr marL="114300" marR="95250" marT="9525" marB="9525"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523875">
                <a:tc>
                  <a:txBody>
                    <a:bodyPr/>
                    <a:lstStyle/>
                    <a:p>
                      <a:pPr algn="l">
                        <a:buNone/>
                      </a:pPr>
                      <a:r>
                        <a:rPr sz="1725" b="0">
                          <a:solidFill>
                            <a:srgbClr val="26282D"/>
                          </a:solidFill>
                          <a:latin typeface="Microsoft YaHei"/>
                          <a:ea typeface="Microsoft YaHei"/>
                          <a:cs typeface="Microsoft YaHei"/>
                        </a:rPr>
                        <a:t>Classical ML：SVM、LR、RF、XGBoost</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四类特征拼接表示</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监督训练，通常使用默认参数</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523875">
                <a:tc>
                  <a:txBody>
                    <a:bodyPr/>
                    <a:lstStyle/>
                    <a:p>
                      <a:pPr algn="l">
                        <a:buNone/>
                      </a:pPr>
                      <a:r>
                        <a:rPr sz="1725" b="0">
                          <a:solidFill>
                            <a:srgbClr val="26282D"/>
                          </a:solidFill>
                          <a:latin typeface="Microsoft YaHei"/>
                          <a:ea typeface="Microsoft YaHei"/>
                          <a:cs typeface="Microsoft YaHei"/>
                        </a:rPr>
                        <a:t>Ensemble：MoE</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组合特征表示</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门控机制选择专家参与预测</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523875">
                <a:tc>
                  <a:txBody>
                    <a:bodyPr/>
                    <a:lstStyle/>
                    <a:p>
                      <a:pPr algn="l">
                        <a:buNone/>
                      </a:pPr>
                      <a:r>
                        <a:rPr sz="1725" b="0">
                          <a:solidFill>
                            <a:srgbClr val="26282D"/>
                          </a:solidFill>
                          <a:latin typeface="Microsoft YaHei"/>
                          <a:ea typeface="Microsoft YaHei"/>
                          <a:cs typeface="Microsoft YaHei"/>
                        </a:rPr>
                        <a:t>LLM：Llama-3.1/3.2、Gemma/2、Phi-4</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自然语言化资料 + 原始回复</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ICL：提示示例引导类别预测</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523875">
                <a:tc>
                  <a:txBody>
                    <a:bodyPr/>
                    <a:lstStyle/>
                    <a:p>
                      <a:pPr algn="l">
                        <a:buNone/>
                      </a:pPr>
                      <a:r>
                        <a:rPr sz="1725" b="0">
                          <a:solidFill>
                            <a:srgbClr val="26282D"/>
                          </a:solidFill>
                          <a:latin typeface="Microsoft YaHei"/>
                          <a:ea typeface="Microsoft YaHei"/>
                          <a:cs typeface="Microsoft YaHei"/>
                        </a:rPr>
                        <a:t>Transformer：RoBERTa、BERTweet</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代理的回复文本</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在回复文本上 fine-tuning</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523875">
                <a:tc>
                  <a:txBody>
                    <a:bodyPr/>
                    <a:lstStyle/>
                    <a:p>
                      <a:pPr algn="l">
                        <a:buNone/>
                      </a:pPr>
                      <a:r>
                        <a:rPr sz="1725" b="0">
                          <a:solidFill>
                            <a:srgbClr val="26282D"/>
                          </a:solidFill>
                          <a:latin typeface="Microsoft YaHei"/>
                          <a:ea typeface="Microsoft YaHei"/>
                          <a:cs typeface="Microsoft YaHei"/>
                        </a:rPr>
                        <a:t>Feature-based：Botometer Lite、BotHunter</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账户资料特征</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725" b="0">
                          <a:solidFill>
                            <a:srgbClr val="26282D"/>
                          </a:solidFill>
                          <a:latin typeface="Microsoft YaHei"/>
                          <a:ea typeface="Microsoft YaHei"/>
                          <a:cs typeface="Microsoft YaHei"/>
                        </a:rPr>
                        <a:t>Random Forest 分类器</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523875">
                <a:tc>
                  <a:txBody>
                    <a:bodyPr/>
                    <a:lstStyle/>
                    <a:p>
                      <a:pPr algn="l">
                        <a:buNone/>
                      </a:pPr>
                      <a:r>
                        <a:rPr sz="1725" b="0">
                          <a:solidFill>
                            <a:srgbClr val="26282D"/>
                          </a:solidFill>
                          <a:latin typeface="Microsoft YaHei"/>
                          <a:ea typeface="Microsoft YaHei"/>
                          <a:cs typeface="Microsoft YaHei"/>
                        </a:rPr>
                        <a:t>Rule-based：Swatting</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选定账户与行为特征</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725" b="0">
                          <a:solidFill>
                            <a:srgbClr val="26282D"/>
                          </a:solidFill>
                          <a:latin typeface="Microsoft YaHei"/>
                          <a:ea typeface="Microsoft YaHei"/>
                          <a:cs typeface="Microsoft YaHei"/>
                        </a:rPr>
                        <a:t>以固定特征阈值判定</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bl>
          </a:graphicData>
        </a:graphic>
      </p:graphicFrame>
      <p:sp>
        <p:nvSpPr>
          <p:cNvPr id="5" name="evidence-text-87">
            <a:extLst>
              <a:ext uri="{FF2B5EF4-FFF2-40B4-BE49-F238E27FC236}">
                <a16:creationId xmlns:a16="http://schemas.microsoft.com/office/drawing/2014/main" id="{3345BFBF-BD6D-4CE9-A06E-1852AB1403A8}"/>
              </a:ext>
            </a:extLst>
          </p:cNvPr>
          <p:cNvSpPr>
            <a:spLocks noGrp="1"/>
          </p:cNvSpPr>
          <p:nvPr/>
        </p:nvSpPr>
        <p:spPr>
          <a:xfrm>
            <a:off x="685800" y="5724525"/>
            <a:ext cx="10820400" cy="361950"/>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四类特征：numerical、boolean、categorical、textual（RoBERTa</a:t>
            </a:r>
            <a:r>
              <a:rPr sz="1800" b="0" dirty="0">
                <a:solidFill>
                  <a:srgbClr val="26282D"/>
                </a:solidFill>
                <a:latin typeface="Microsoft YaHei"/>
                <a:ea typeface="Microsoft YaHei"/>
                <a:cs typeface="Microsoft YaHei"/>
              </a:rPr>
              <a:t> embeddings）。</a:t>
            </a:r>
          </a:p>
        </p:txBody>
      </p:sp>
      <p:sp>
        <p:nvSpPr>
          <p:cNvPr id="6" name="evidence-text-88">
            <a:extLst>
              <a:ext uri="{FF2B5EF4-FFF2-40B4-BE49-F238E27FC236}">
                <a16:creationId xmlns:a16="http://schemas.microsoft.com/office/drawing/2014/main" id="{AC70BDAA-FF8A-4017-A83C-C04829812B08}"/>
              </a:ext>
            </a:extLst>
          </p:cNvPr>
          <p:cNvSpPr>
            <a:spLocks noGrp="1"/>
          </p:cNvSpPr>
          <p:nvPr/>
        </p:nvSpPr>
        <p:spPr>
          <a:xfrm>
            <a:off x="685800" y="6086475"/>
            <a:ext cx="10820400" cy="314325"/>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lang="zh-CN" altLang="en-US" sz="1800" b="0" dirty="0">
                <a:solidFill>
                  <a:srgbClr val="26282D"/>
                </a:solidFill>
                <a:latin typeface="Microsoft YaHei"/>
                <a:ea typeface="Microsoft YaHei"/>
                <a:cs typeface="Microsoft YaHei"/>
              </a:rPr>
              <a:t>没有比较</a:t>
            </a:r>
            <a:r>
              <a:rPr sz="1800" b="0" dirty="0">
                <a:solidFill>
                  <a:srgbClr val="26282D"/>
                </a:solidFill>
                <a:latin typeface="Microsoft YaHei"/>
                <a:ea typeface="Microsoft YaHei"/>
                <a:cs typeface="Microsoft YaHei"/>
              </a:rPr>
              <a:t>GNN / CNN</a:t>
            </a:r>
            <a:r>
              <a:rPr lang="en-US" sz="1800" b="0" dirty="0">
                <a:solidFill>
                  <a:srgbClr val="26282D"/>
                </a:solidFill>
                <a:latin typeface="Microsoft YaHei"/>
                <a:ea typeface="Microsoft YaHei"/>
                <a:cs typeface="Microsoft YaHei"/>
              </a:rPr>
              <a:t> </a:t>
            </a:r>
            <a:r>
              <a:rPr lang="zh-CN" altLang="en-US" sz="1800" b="0" dirty="0">
                <a:solidFill>
                  <a:srgbClr val="26282D"/>
                </a:solidFill>
                <a:latin typeface="Microsoft YaHei"/>
                <a:ea typeface="Microsoft YaHei"/>
                <a:cs typeface="Microsoft YaHei"/>
              </a:rPr>
              <a:t>基线是</a:t>
            </a:r>
            <a:r>
              <a:rPr lang="zh-CN" altLang="en-US" dirty="0">
                <a:solidFill>
                  <a:srgbClr val="26282D"/>
                </a:solidFill>
                <a:latin typeface="Microsoft YaHei"/>
                <a:ea typeface="Microsoft YaHei"/>
                <a:cs typeface="Microsoft YaHei"/>
              </a:rPr>
              <a:t>因为所需</a:t>
            </a:r>
            <a:r>
              <a:rPr sz="1800" b="0" dirty="0" err="1">
                <a:solidFill>
                  <a:srgbClr val="26282D"/>
                </a:solidFill>
                <a:latin typeface="Microsoft YaHei"/>
                <a:ea typeface="Microsoft YaHei"/>
                <a:cs typeface="Microsoft YaHei"/>
              </a:rPr>
              <a:t>的邻域或空间数据需求超出本文所采用的外部采集条件</a:t>
            </a:r>
            <a:r>
              <a:rPr sz="1800" b="0" dirty="0">
                <a:solidFill>
                  <a:srgbClr val="26282D"/>
                </a:solidFill>
                <a:latin typeface="Microsoft YaHei"/>
                <a:ea typeface="Microsoft YaHei"/>
                <a:cs typeface="Microsoft YaHei"/>
              </a:rPr>
              <a:t>。</a:t>
            </a:r>
          </a:p>
        </p:txBody>
      </p:sp>
      <p:pic>
        <p:nvPicPr>
          <p:cNvPr id="7"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8"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20/33</a:t>
            </a:r>
          </a:p>
        </p:txBody>
      </p:sp>
      <p:sp>
        <p:nvSpPr>
          <p:cNvPr id="9" name="矩形 8">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715490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实验设置</a:t>
            </a:r>
            <a:endParaRPr sz="3300" b="1" dirty="0">
              <a:solidFill>
                <a:srgbClr val="A52A36"/>
              </a:solidFill>
              <a:latin typeface="Microsoft YaHei"/>
              <a:ea typeface="Microsoft YaHei"/>
            </a:endParaRPr>
          </a:p>
        </p:txBody>
      </p:sp>
      <p:sp>
        <p:nvSpPr>
          <p:cNvPr id="3" name="evidence-text-103">
            <a:extLst>
              <a:ext uri="{FF2B5EF4-FFF2-40B4-BE49-F238E27FC236}">
                <a16:creationId xmlns:a16="http://schemas.microsoft.com/office/drawing/2014/main" id="{94544EAB-4D9B-4980-B6DB-99438702E572}"/>
              </a:ext>
            </a:extLst>
          </p:cNvPr>
          <p:cNvSpPr>
            <a:spLocks noGrp="1"/>
          </p:cNvSpPr>
          <p:nvPr/>
        </p:nvSpPr>
        <p:spPr>
          <a:xfrm>
            <a:off x="685800" y="1466850"/>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sz="2400" b="1" dirty="0">
                <a:solidFill>
                  <a:srgbClr val="A52A36"/>
                </a:solidFill>
                <a:latin typeface="Microsoft YaHei"/>
                <a:ea typeface="Microsoft YaHei"/>
              </a:rPr>
              <a:t>LLM </a:t>
            </a:r>
            <a:r>
              <a:rPr sz="2400" b="1" dirty="0" err="1">
                <a:solidFill>
                  <a:srgbClr val="A52A36"/>
                </a:solidFill>
                <a:latin typeface="Microsoft YaHei"/>
                <a:ea typeface="Microsoft YaHei"/>
              </a:rPr>
              <a:t>基线的具体版本</a:t>
            </a:r>
            <a:endParaRPr sz="2400" b="1" dirty="0">
              <a:solidFill>
                <a:srgbClr val="A52A36"/>
              </a:solidFill>
              <a:latin typeface="Microsoft YaHei"/>
              <a:ea typeface="Microsoft YaHei"/>
            </a:endParaRPr>
          </a:p>
        </p:txBody>
      </p:sp>
      <p:graphicFrame>
        <p:nvGraphicFramePr>
          <p:cNvPr id="4" name="表格 19">
            <a:extLst>
              <a:ext uri="{FF2B5EF4-FFF2-40B4-BE49-F238E27FC236}">
                <a16:creationId xmlns:a16="http://schemas.microsoft.com/office/drawing/2014/main" id="{BD5A00C4-DBE0-4930-8421-5C69C17C0620}"/>
              </a:ext>
            </a:extLst>
          </p:cNvPr>
          <p:cNvGraphicFramePr/>
          <p:nvPr/>
        </p:nvGraphicFramePr>
        <p:xfrm>
          <a:off x="685800" y="2019300"/>
          <a:ext cx="10820400" cy="3324228"/>
        </p:xfrm>
        <a:graphic>
          <a:graphicData uri="http://schemas.openxmlformats.org/drawingml/2006/table">
            <a:tbl>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54038">
                <a:tc>
                  <a:txBody>
                    <a:bodyPr/>
                    <a:lstStyle/>
                    <a:p>
                      <a:pPr algn="l">
                        <a:buNone/>
                      </a:pPr>
                      <a:r>
                        <a:rPr sz="1875" b="1">
                          <a:solidFill>
                            <a:srgbClr val="FFFFFF"/>
                          </a:solidFill>
                          <a:latin typeface="Microsoft YaHei"/>
                          <a:ea typeface="Microsoft YaHei"/>
                          <a:cs typeface="Microsoft YaHei"/>
                        </a:rPr>
                        <a:t>论文简称</a:t>
                      </a:r>
                    </a:p>
                  </a:txBody>
                  <a:tcPr marL="114300" marR="95250" marT="9525" marB="9525"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875" b="1">
                          <a:solidFill>
                            <a:srgbClr val="FFFFFF"/>
                          </a:solidFill>
                          <a:latin typeface="Microsoft YaHei"/>
                          <a:ea typeface="Microsoft YaHei"/>
                          <a:cs typeface="Microsoft YaHei"/>
                        </a:rPr>
                        <a:t>实际模型版本</a:t>
                      </a:r>
                    </a:p>
                  </a:txBody>
                  <a:tcPr marL="114300" marR="95250" marT="9525" marB="9525"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875" b="1">
                          <a:solidFill>
                            <a:srgbClr val="FFFFFF"/>
                          </a:solidFill>
                          <a:latin typeface="Microsoft YaHei"/>
                          <a:ea typeface="Microsoft YaHei"/>
                          <a:cs typeface="Microsoft YaHei"/>
                        </a:rPr>
                        <a:t>参数量</a:t>
                      </a:r>
                    </a:p>
                  </a:txBody>
                  <a:tcPr marL="114300" marR="95250" marT="9525" marB="9525"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875" b="1">
                          <a:solidFill>
                            <a:srgbClr val="FFFFFF"/>
                          </a:solidFill>
                          <a:latin typeface="Microsoft YaHei"/>
                          <a:ea typeface="Microsoft YaHei"/>
                          <a:cs typeface="Microsoft YaHei"/>
                        </a:rPr>
                        <a:t>发布时间</a:t>
                      </a:r>
                    </a:p>
                  </a:txBody>
                  <a:tcPr marL="114300" marR="95250" marT="9525" marB="9525"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554038">
                <a:tc>
                  <a:txBody>
                    <a:bodyPr/>
                    <a:lstStyle/>
                    <a:p>
                      <a:pPr algn="l">
                        <a:buNone/>
                      </a:pPr>
                      <a:r>
                        <a:rPr sz="1875" b="0">
                          <a:solidFill>
                            <a:srgbClr val="26282D"/>
                          </a:solidFill>
                          <a:latin typeface="Microsoft YaHei"/>
                          <a:ea typeface="Microsoft YaHei"/>
                          <a:cs typeface="Microsoft YaHei"/>
                        </a:rPr>
                        <a:t>Llama-3.1</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Llama-3.1-8B-Instruct</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8B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July 2024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554038">
                <a:tc>
                  <a:txBody>
                    <a:bodyPr/>
                    <a:lstStyle/>
                    <a:p>
                      <a:pPr algn="l">
                        <a:buNone/>
                      </a:pPr>
                      <a:r>
                        <a:rPr sz="1875" b="0">
                          <a:solidFill>
                            <a:srgbClr val="26282D"/>
                          </a:solidFill>
                          <a:latin typeface="Microsoft YaHei"/>
                          <a:ea typeface="Microsoft YaHei"/>
                          <a:cs typeface="Microsoft YaHei"/>
                        </a:rPr>
                        <a:t>Llama-3.2</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Llama-3.2-3B-Instruct</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3B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September 2024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554038">
                <a:tc>
                  <a:txBody>
                    <a:bodyPr/>
                    <a:lstStyle/>
                    <a:p>
                      <a:pPr algn="l">
                        <a:buNone/>
                      </a:pPr>
                      <a:r>
                        <a:rPr sz="1875" b="0">
                          <a:solidFill>
                            <a:srgbClr val="26282D"/>
                          </a:solidFill>
                          <a:latin typeface="Microsoft YaHei"/>
                          <a:ea typeface="Microsoft YaHei"/>
                          <a:cs typeface="Microsoft YaHei"/>
                        </a:rPr>
                        <a:t>Gemma</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gemma-7b-bnb-4bit</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7B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February 2024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554038">
                <a:tc>
                  <a:txBody>
                    <a:bodyPr/>
                    <a:lstStyle/>
                    <a:p>
                      <a:pPr algn="l">
                        <a:buNone/>
                      </a:pPr>
                      <a:r>
                        <a:rPr sz="1875" b="0">
                          <a:solidFill>
                            <a:srgbClr val="26282D"/>
                          </a:solidFill>
                          <a:latin typeface="Microsoft YaHei"/>
                          <a:ea typeface="Microsoft YaHei"/>
                          <a:cs typeface="Microsoft YaHei"/>
                        </a:rPr>
                        <a:t>Gemma-2</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gemma-2-9b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9B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875" b="0">
                          <a:solidFill>
                            <a:srgbClr val="26282D"/>
                          </a:solidFill>
                          <a:latin typeface="Microsoft YaHei"/>
                          <a:ea typeface="Microsoft YaHei"/>
                          <a:cs typeface="Microsoft YaHei"/>
                        </a:rPr>
                        <a:t>June 2024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554038">
                <a:tc>
                  <a:txBody>
                    <a:bodyPr/>
                    <a:lstStyle/>
                    <a:p>
                      <a:pPr algn="l">
                        <a:buNone/>
                      </a:pPr>
                      <a:r>
                        <a:rPr sz="1875" b="0">
                          <a:solidFill>
                            <a:srgbClr val="26282D"/>
                          </a:solidFill>
                          <a:latin typeface="Microsoft YaHei"/>
                          <a:ea typeface="Microsoft YaHei"/>
                          <a:cs typeface="Microsoft YaHei"/>
                        </a:rPr>
                        <a:t>Phi-4</a:t>
                      </a:r>
                    </a:p>
                  </a:txBody>
                  <a:tcPr marL="114300" marR="95250" marT="9525" marB="9525"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Phi-4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14B</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875" b="0">
                          <a:solidFill>
                            <a:srgbClr val="26282D"/>
                          </a:solidFill>
                          <a:latin typeface="Microsoft YaHei"/>
                          <a:ea typeface="Microsoft YaHei"/>
                          <a:cs typeface="Microsoft YaHei"/>
                        </a:rPr>
                        <a:t>December 2024</a:t>
                      </a:r>
                    </a:p>
                  </a:txBody>
                  <a:tcPr marL="114300" marR="95250" marT="9525" marB="9525"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bl>
          </a:graphicData>
        </a:graphic>
      </p:graphicFrame>
      <p:pic>
        <p:nvPicPr>
          <p:cNvPr id="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21/33</a:t>
            </a:r>
          </a:p>
        </p:txBody>
      </p:sp>
      <p:sp>
        <p:nvSpPr>
          <p:cNvPr id="8" name="矩形 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274">
            <a:extLst>
              <a:ext uri="{FF2B5EF4-FFF2-40B4-BE49-F238E27FC236}">
                <a16:creationId xmlns:a16="http://schemas.microsoft.com/office/drawing/2014/main" id="{B5560AF8-377A-42D2-9BD4-18A1AADA4B96}"/>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实验一：对比实验</a:t>
            </a:r>
            <a:endParaRPr sz="3300" b="1" dirty="0">
              <a:solidFill>
                <a:srgbClr val="A52A36"/>
              </a:solidFill>
              <a:latin typeface="Microsoft YaHei"/>
              <a:ea typeface="Microsoft YaHei"/>
            </a:endParaRPr>
          </a:p>
        </p:txBody>
      </p:sp>
      <p:graphicFrame>
        <p:nvGraphicFramePr>
          <p:cNvPr id="3" name="表格 11">
            <a:extLst>
              <a:ext uri="{FF2B5EF4-FFF2-40B4-BE49-F238E27FC236}">
                <a16:creationId xmlns:a16="http://schemas.microsoft.com/office/drawing/2014/main" id="{D5333598-77BC-41A0-BCC0-1EA7E26570AF}"/>
              </a:ext>
            </a:extLst>
          </p:cNvPr>
          <p:cNvGraphicFramePr/>
          <p:nvPr/>
        </p:nvGraphicFramePr>
        <p:xfrm>
          <a:off x="685800" y="2028825"/>
          <a:ext cx="5238750" cy="2571750"/>
        </p:xfrm>
        <a:graphic>
          <a:graphicData uri="http://schemas.openxmlformats.org/drawingml/2006/table">
            <a:tbl>
              <a:tblPr/>
              <a:tblGrid>
                <a:gridCol w="175260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1162050">
                  <a:extLst>
                    <a:ext uri="{9D8B030D-6E8A-4147-A177-3AD203B41FA5}">
                      <a16:colId xmlns:a16="http://schemas.microsoft.com/office/drawing/2014/main" val="20003"/>
                    </a:ext>
                  </a:extLst>
                </a:gridCol>
              </a:tblGrid>
              <a:tr h="285750">
                <a:tc>
                  <a:txBody>
                    <a:bodyPr/>
                    <a:lstStyle/>
                    <a:p>
                      <a:pPr algn="l">
                        <a:buNone/>
                      </a:pPr>
                      <a:r>
                        <a:rPr sz="1350" b="1">
                          <a:solidFill>
                            <a:srgbClr val="FFFFFF"/>
                          </a:solidFill>
                          <a:latin typeface="Microsoft YaHei"/>
                          <a:ea typeface="Microsoft YaHei"/>
                          <a:cs typeface="Microsoft YaHei"/>
                        </a:rPr>
                        <a:t>Model</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285750">
                <a:tc>
                  <a:txBody>
                    <a:bodyPr/>
                    <a:lstStyle/>
                    <a:p>
                      <a:pPr algn="l">
                        <a:buNone/>
                      </a:pPr>
                      <a:r>
                        <a:rPr sz="1350" b="0">
                          <a:solidFill>
                            <a:srgbClr val="26282D"/>
                          </a:solidFill>
                          <a:latin typeface="Microsoft YaHei"/>
                          <a:ea typeface="Microsoft YaHei"/>
                          <a:cs typeface="Microsoft YaHei"/>
                        </a:rPr>
                        <a:t>SVM</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.51±.03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.52±.01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.11±.08</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285750">
                <a:tc>
                  <a:txBody>
                    <a:bodyPr/>
                    <a:lstStyle/>
                    <a:p>
                      <a:pPr algn="l">
                        <a:buNone/>
                      </a:pPr>
                      <a:r>
                        <a:rPr sz="1350" b="0">
                          <a:solidFill>
                            <a:srgbClr val="26282D"/>
                          </a:solidFill>
                          <a:latin typeface="Microsoft YaHei"/>
                          <a:ea typeface="Microsoft YaHei"/>
                          <a:cs typeface="Microsoft YaHei"/>
                        </a:rPr>
                        <a:t>LR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.74±.04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285750">
                <a:tc>
                  <a:txBody>
                    <a:bodyPr/>
                    <a:lstStyle/>
                    <a:p>
                      <a:pPr algn="l">
                        <a:buNone/>
                      </a:pPr>
                      <a:r>
                        <a:rPr sz="1350" b="0">
                          <a:solidFill>
                            <a:srgbClr val="26282D"/>
                          </a:solidFill>
                          <a:latin typeface="Microsoft YaHei"/>
                          <a:ea typeface="Microsoft YaHei"/>
                          <a:cs typeface="Microsoft YaHei"/>
                        </a:rPr>
                        <a:t>RF</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.75±.03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.62±.05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285750">
                <a:tc>
                  <a:txBody>
                    <a:bodyPr/>
                    <a:lstStyle/>
                    <a:p>
                      <a:pPr algn="l">
                        <a:buNone/>
                      </a:pPr>
                      <a:r>
                        <a:rPr sz="1350" b="1">
                          <a:solidFill>
                            <a:srgbClr val="26282D"/>
                          </a:solidFill>
                          <a:latin typeface="Microsoft YaHei"/>
                          <a:ea typeface="Microsoft YaHei"/>
                          <a:cs typeface="Microsoft YaHei"/>
                        </a:rPr>
                        <a:t>XGBoost</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.88±.02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.86±.02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.77±.03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285750">
                <a:tc>
                  <a:txBody>
                    <a:bodyPr/>
                    <a:lstStyle/>
                    <a:p>
                      <a:pPr algn="l">
                        <a:buNone/>
                      </a:pPr>
                      <a:r>
                        <a:rPr sz="1350" b="0">
                          <a:solidFill>
                            <a:srgbClr val="26282D"/>
                          </a:solidFill>
                          <a:latin typeface="Microsoft YaHei"/>
                          <a:ea typeface="Microsoft YaHei"/>
                          <a:cs typeface="Microsoft YaHei"/>
                        </a:rPr>
                        <a:t>MoE</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.83±.03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.80±.03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.66±.05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285750">
                <a:tc>
                  <a:txBody>
                    <a:bodyPr/>
                    <a:lstStyle/>
                    <a:p>
                      <a:pPr algn="l">
                        <a:buNone/>
                      </a:pPr>
                      <a:r>
                        <a:rPr sz="1350" b="0">
                          <a:solidFill>
                            <a:srgbClr val="26282D"/>
                          </a:solidFill>
                          <a:latin typeface="Microsoft YaHei"/>
                          <a:ea typeface="Microsoft YaHei"/>
                          <a:cs typeface="Microsoft YaHei"/>
                        </a:rPr>
                        <a:t>Llama-3.1</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.52±.04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r h="285750">
                <a:tc>
                  <a:txBody>
                    <a:bodyPr/>
                    <a:lstStyle/>
                    <a:p>
                      <a:pPr algn="l">
                        <a:buNone/>
                      </a:pPr>
                      <a:r>
                        <a:rPr sz="1350" b="0">
                          <a:solidFill>
                            <a:srgbClr val="26282D"/>
                          </a:solidFill>
                          <a:latin typeface="Microsoft YaHei"/>
                          <a:ea typeface="Microsoft YaHei"/>
                          <a:cs typeface="Microsoft YaHei"/>
                        </a:rPr>
                        <a:t>Llama-3.2</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.45±.01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.67±.02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.19±.03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7"/>
                  </a:ext>
                </a:extLst>
              </a:tr>
              <a:tr h="285750">
                <a:tc>
                  <a:txBody>
                    <a:bodyPr/>
                    <a:lstStyle/>
                    <a:p>
                      <a:pPr algn="l">
                        <a:buNone/>
                      </a:pPr>
                      <a:r>
                        <a:rPr sz="1350" b="0">
                          <a:solidFill>
                            <a:srgbClr val="26282D"/>
                          </a:solidFill>
                          <a:latin typeface="Microsoft YaHei"/>
                          <a:ea typeface="Microsoft YaHei"/>
                          <a:cs typeface="Microsoft YaHei"/>
                        </a:rPr>
                        <a:t>Gemma</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.61±.04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8"/>
                  </a:ext>
                </a:extLst>
              </a:tr>
            </a:tbl>
          </a:graphicData>
        </a:graphic>
      </p:graphicFrame>
      <p:graphicFrame>
        <p:nvGraphicFramePr>
          <p:cNvPr id="4" name="表格 12">
            <a:extLst>
              <a:ext uri="{FF2B5EF4-FFF2-40B4-BE49-F238E27FC236}">
                <a16:creationId xmlns:a16="http://schemas.microsoft.com/office/drawing/2014/main" id="{0D8F176B-49C2-4811-86EC-F03A143E3932}"/>
              </a:ext>
            </a:extLst>
          </p:cNvPr>
          <p:cNvGraphicFramePr/>
          <p:nvPr/>
        </p:nvGraphicFramePr>
        <p:xfrm>
          <a:off x="6267450" y="2028825"/>
          <a:ext cx="5238750" cy="2286000"/>
        </p:xfrm>
        <a:graphic>
          <a:graphicData uri="http://schemas.openxmlformats.org/drawingml/2006/table">
            <a:tbl>
              <a:tblPr/>
              <a:tblGrid>
                <a:gridCol w="175260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1162050">
                  <a:extLst>
                    <a:ext uri="{9D8B030D-6E8A-4147-A177-3AD203B41FA5}">
                      <a16:colId xmlns:a16="http://schemas.microsoft.com/office/drawing/2014/main" val="20003"/>
                    </a:ext>
                  </a:extLst>
                </a:gridCol>
              </a:tblGrid>
              <a:tr h="285750">
                <a:tc>
                  <a:txBody>
                    <a:bodyPr/>
                    <a:lstStyle/>
                    <a:p>
                      <a:pPr algn="l">
                        <a:buNone/>
                      </a:pPr>
                      <a:r>
                        <a:rPr sz="1350" b="1">
                          <a:solidFill>
                            <a:srgbClr val="FFFFFF"/>
                          </a:solidFill>
                          <a:latin typeface="Microsoft YaHei"/>
                          <a:ea typeface="Microsoft YaHei"/>
                          <a:cs typeface="Microsoft YaHei"/>
                        </a:rPr>
                        <a:t>Model</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285750">
                <a:tc>
                  <a:txBody>
                    <a:bodyPr/>
                    <a:lstStyle/>
                    <a:p>
                      <a:pPr algn="l">
                        <a:buNone/>
                      </a:pPr>
                      <a:r>
                        <a:rPr sz="1350" b="0">
                          <a:solidFill>
                            <a:srgbClr val="26282D"/>
                          </a:solidFill>
                          <a:latin typeface="Microsoft YaHei"/>
                          <a:ea typeface="Microsoft YaHei"/>
                          <a:cs typeface="Microsoft YaHei"/>
                        </a:rPr>
                        <a:t>Gemma-2</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.53±.04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285750">
                <a:tc>
                  <a:txBody>
                    <a:bodyPr/>
                    <a:lstStyle/>
                    <a:p>
                      <a:pPr algn="l">
                        <a:buNone/>
                      </a:pPr>
                      <a:r>
                        <a:rPr sz="1350" b="0">
                          <a:solidFill>
                            <a:srgbClr val="26282D"/>
                          </a:solidFill>
                          <a:latin typeface="Microsoft YaHei"/>
                          <a:ea typeface="Microsoft YaHei"/>
                          <a:cs typeface="Microsoft YaHei"/>
                        </a:rPr>
                        <a:t>Phi-4</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.74±.04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285750">
                <a:tc>
                  <a:txBody>
                    <a:bodyPr/>
                    <a:lstStyle/>
                    <a:p>
                      <a:pPr algn="l">
                        <a:buNone/>
                      </a:pPr>
                      <a:r>
                        <a:rPr sz="1350" b="0">
                          <a:solidFill>
                            <a:srgbClr val="26282D"/>
                          </a:solidFill>
                          <a:latin typeface="Microsoft YaHei"/>
                          <a:ea typeface="Microsoft YaHei"/>
                          <a:cs typeface="Microsoft YaHei"/>
                        </a:rPr>
                        <a:t>RoBERTa</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.82±.14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.81±.13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.64±.30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285750">
                <a:tc>
                  <a:txBody>
                    <a:bodyPr/>
                    <a:lstStyle/>
                    <a:p>
                      <a:pPr algn="l">
                        <a:buNone/>
                      </a:pPr>
                      <a:r>
                        <a:rPr sz="1350" b="0">
                          <a:solidFill>
                            <a:srgbClr val="26282D"/>
                          </a:solidFill>
                          <a:latin typeface="Microsoft YaHei"/>
                          <a:ea typeface="Microsoft YaHei"/>
                          <a:cs typeface="Microsoft YaHei"/>
                        </a:rPr>
                        <a:t>BERTweet</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.82±.14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.80±.13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.66±.25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285750">
                <a:tc>
                  <a:txBody>
                    <a:bodyPr/>
                    <a:lstStyle/>
                    <a:p>
                      <a:pPr algn="l">
                        <a:buNone/>
                      </a:pPr>
                      <a:r>
                        <a:rPr sz="1350" b="0">
                          <a:solidFill>
                            <a:srgbClr val="26282D"/>
                          </a:solidFill>
                          <a:latin typeface="Microsoft YaHei"/>
                          <a:ea typeface="Microsoft YaHei"/>
                          <a:cs typeface="Microsoft YaHei"/>
                        </a:rPr>
                        <a:t>BotHunter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.64±.03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285750">
                <a:tc>
                  <a:txBody>
                    <a:bodyPr/>
                    <a:lstStyle/>
                    <a:p>
                      <a:pPr algn="l">
                        <a:buNone/>
                      </a:pPr>
                      <a:r>
                        <a:rPr sz="1350" b="0">
                          <a:solidFill>
                            <a:srgbClr val="26282D"/>
                          </a:solidFill>
                          <a:latin typeface="Microsoft YaHei"/>
                          <a:ea typeface="Microsoft YaHei"/>
                          <a:cs typeface="Microsoft YaHei"/>
                        </a:rPr>
                        <a:t>Botometer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.75±.02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.69±.02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.54±.04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r h="285750">
                <a:tc>
                  <a:txBody>
                    <a:bodyPr/>
                    <a:lstStyle/>
                    <a:p>
                      <a:pPr algn="l">
                        <a:buNone/>
                      </a:pPr>
                      <a:r>
                        <a:rPr sz="1350" b="0">
                          <a:solidFill>
                            <a:srgbClr val="26282D"/>
                          </a:solidFill>
                          <a:latin typeface="Microsoft YaHei"/>
                          <a:ea typeface="Microsoft YaHei"/>
                          <a:cs typeface="Microsoft YaHei"/>
                        </a:rPr>
                        <a:t>Swatting</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.49±.02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.51±.01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.07±.08</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evidence-text-125">
            <a:extLst>
              <a:ext uri="{FF2B5EF4-FFF2-40B4-BE49-F238E27FC236}">
                <a16:creationId xmlns:a16="http://schemas.microsoft.com/office/drawing/2014/main" id="{79963BB5-0CC3-45D7-9202-62B37EBE8D19}"/>
              </a:ext>
            </a:extLst>
          </p:cNvPr>
          <p:cNvSpPr>
            <a:spLocks noGrp="1"/>
          </p:cNvSpPr>
          <p:nvPr/>
        </p:nvSpPr>
        <p:spPr>
          <a:xfrm>
            <a:off x="685800" y="4657725"/>
            <a:ext cx="5238750" cy="219075"/>
          </a:xfrm>
          <a:prstGeom prst="rect">
            <a:avLst/>
          </a:prstGeom>
          <a:noFill/>
          <a:ln w="0">
            <a:noFill/>
          </a:ln>
        </p:spPr>
        <p:txBody>
          <a:bodyPr wrap="square" lIns="0" tIns="0" rIns="0" bIns="0" anchor="t">
            <a:noAutofit/>
          </a:bodyPr>
          <a:lstStyle>
            <a:defPPr algn="l">
              <a:defRPr sz="1050" b="0">
                <a:solidFill>
                  <a:srgbClr val="26282D"/>
                </a:solidFill>
                <a:latin typeface="Microsoft YaHei"/>
                <a:ea typeface="Microsoft YaHei"/>
                <a:cs typeface="Microsoft YaHei"/>
              </a:defRPr>
            </a:defPPr>
          </a:lstStyle>
          <a:p>
            <a:pPr algn="l">
              <a:buNone/>
              <a:defRPr sz="1050" b="0">
                <a:solidFill>
                  <a:srgbClr val="26282D"/>
                </a:solidFill>
                <a:latin typeface="Microsoft YaHei"/>
                <a:ea typeface="Microsoft YaHei"/>
                <a:cs typeface="Microsoft YaHei"/>
              </a:defRPr>
            </a:pPr>
            <a:r>
              <a:rPr sz="1050" b="0">
                <a:solidFill>
                  <a:srgbClr val="26282D"/>
                </a:solidFill>
                <a:latin typeface="Microsoft YaHei"/>
                <a:ea typeface="Microsoft YaHei"/>
                <a:cs typeface="Microsoft YaHei"/>
              </a:rPr>
              <a:t>NA 为原表给出的 multiclass 结果标记</a:t>
            </a:r>
          </a:p>
        </p:txBody>
      </p:sp>
      <p:pic>
        <p:nvPicPr>
          <p:cNvPr id="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22/33</a:t>
            </a:r>
          </a:p>
        </p:txBody>
      </p:sp>
      <p:sp>
        <p:nvSpPr>
          <p:cNvPr id="8" name="added-text"/>
          <p:cNvSpPr txBox="1"/>
          <p:nvPr/>
        </p:nvSpPr>
        <p:spPr>
          <a:xfrm>
            <a:off x="685800" y="5010150"/>
            <a:ext cx="10820400" cy="1447800"/>
          </a:xfrm>
          <a:prstGeom prst="roundRect">
            <a:avLst/>
          </a:prstGeom>
          <a:solidFill>
            <a:srgbClr val="FFFFFF"/>
          </a:solidFill>
          <a:ln w="19050">
            <a:solidFill>
              <a:srgbClr val="A52A36"/>
            </a:solidFill>
          </a:ln>
        </p:spPr>
      </p:sp>
      <p:sp>
        <p:nvSpPr>
          <p:cNvPr id="9" name="added-text"/>
          <p:cNvSpPr txBox="1"/>
          <p:nvPr/>
        </p:nvSpPr>
        <p:spPr>
          <a:xfrm>
            <a:off x="876300" y="508635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实验目的</a:t>
            </a:r>
          </a:p>
        </p:txBody>
      </p:sp>
      <p:sp>
        <p:nvSpPr>
          <p:cNvPr id="10" name="added-text"/>
          <p:cNvSpPr txBox="1"/>
          <p:nvPr/>
        </p:nvSpPr>
        <p:spPr>
          <a:xfrm>
            <a:off x="876300" y="5353050"/>
            <a:ext cx="10287000" cy="276225"/>
          </a:xfrm>
          <a:prstGeom prst="rect">
            <a:avLst/>
          </a:prstGeom>
          <a:noFill/>
        </p:spPr>
        <p:txBody>
          <a:bodyPr wrap="square" lIns="0" tIns="0" rIns="0" bIns="0"/>
          <a:lstStyle/>
          <a:p>
            <a:r>
              <a:rPr lang="zh-CN" sz="1700" b="0">
                <a:solidFill>
                  <a:srgbClr val="26292E"/>
                </a:solidFill>
                <a:latin typeface="Microsoft YaHei"/>
                <a:ea typeface="Microsoft YaHei"/>
              </a:rPr>
              <a:t>比较不同模型区分恶意与良性代理的能力。</a:t>
            </a:r>
          </a:p>
        </p:txBody>
      </p:sp>
      <p:sp>
        <p:nvSpPr>
          <p:cNvPr id="11" name="added-text"/>
          <p:cNvSpPr txBox="1"/>
          <p:nvPr/>
        </p:nvSpPr>
        <p:spPr>
          <a:xfrm>
            <a:off x="876300" y="563880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实验结论</a:t>
            </a:r>
          </a:p>
        </p:txBody>
      </p:sp>
      <p:sp>
        <p:nvSpPr>
          <p:cNvPr id="12" name="added-text"/>
          <p:cNvSpPr txBox="1"/>
          <p:nvPr/>
        </p:nvSpPr>
        <p:spPr>
          <a:xfrm>
            <a:off x="876300" y="5905500"/>
            <a:ext cx="10287000" cy="504825"/>
          </a:xfrm>
          <a:prstGeom prst="rect">
            <a:avLst/>
          </a:prstGeom>
          <a:noFill/>
        </p:spPr>
        <p:txBody>
          <a:bodyPr wrap="square" lIns="0" tIns="0" rIns="0" bIns="0"/>
          <a:lstStyle/>
          <a:p>
            <a:r>
              <a:rPr lang="zh-CN" sz="1650" b="1" dirty="0">
                <a:solidFill>
                  <a:srgbClr val="A52A36"/>
                </a:solidFill>
                <a:latin typeface="Microsoft YaHei"/>
                <a:ea typeface="Microsoft YaHei"/>
              </a:rPr>
              <a:t>XGBoost </a:t>
            </a:r>
            <a:r>
              <a:rPr lang="zh-CN" altLang="en-US" sz="1650" dirty="0">
                <a:latin typeface="Microsoft YaHei"/>
                <a:ea typeface="Microsoft YaHei"/>
              </a:rPr>
              <a:t>的 </a:t>
            </a:r>
            <a:r>
              <a:rPr lang="en-US" altLang="zh-CN" sz="1650" dirty="0">
                <a:latin typeface="Microsoft YaHei"/>
                <a:ea typeface="Microsoft YaHei"/>
              </a:rPr>
              <a:t>F1 </a:t>
            </a:r>
            <a:r>
              <a:rPr lang="zh-CN" altLang="en-US" sz="1650" dirty="0">
                <a:latin typeface="Microsoft YaHei"/>
                <a:ea typeface="Microsoft YaHei"/>
              </a:rPr>
              <a:t>为 </a:t>
            </a:r>
            <a:r>
              <a:rPr lang="en-US" altLang="zh-CN" sz="1650" dirty="0">
                <a:latin typeface="Microsoft YaHei"/>
                <a:ea typeface="Microsoft YaHei"/>
              </a:rPr>
              <a:t>0.88±0.02</a:t>
            </a:r>
            <a:r>
              <a:rPr lang="zh-CN" altLang="en-US" sz="1650" dirty="0">
                <a:latin typeface="Microsoft YaHei"/>
                <a:ea typeface="Microsoft YaHei"/>
              </a:rPr>
              <a:t>，</a:t>
            </a:r>
            <a:r>
              <a:rPr lang="en-US" altLang="zh-CN" sz="1650" dirty="0">
                <a:latin typeface="Microsoft YaHei"/>
                <a:ea typeface="Microsoft YaHei"/>
              </a:rPr>
              <a:t>MCC </a:t>
            </a:r>
            <a:r>
              <a:rPr lang="zh-CN" altLang="en-US" sz="1650" dirty="0">
                <a:latin typeface="Microsoft YaHei"/>
                <a:ea typeface="Microsoft YaHei"/>
              </a:rPr>
              <a:t>为 </a:t>
            </a:r>
            <a:r>
              <a:rPr lang="en-US" altLang="zh-CN" sz="1650" dirty="0">
                <a:latin typeface="Microsoft YaHei"/>
                <a:ea typeface="Microsoft YaHei"/>
              </a:rPr>
              <a:t>0.77±0.03</a:t>
            </a:r>
            <a:r>
              <a:rPr lang="zh-CN" altLang="en-US" sz="1650" dirty="0">
                <a:latin typeface="Microsoft YaHei"/>
                <a:ea typeface="Microsoft YaHei"/>
              </a:rPr>
              <a:t>，均为表中</a:t>
            </a:r>
            <a:r>
              <a:rPr lang="zh-CN" sz="1650" b="1" dirty="0">
                <a:solidFill>
                  <a:srgbClr val="A52A36"/>
                </a:solidFill>
                <a:latin typeface="Microsoft YaHei"/>
                <a:ea typeface="Microsoft YaHei"/>
              </a:rPr>
              <a:t>最高均值；</a:t>
            </a:r>
          </a:p>
          <a:p>
            <a:r>
              <a:rPr lang="en-US" altLang="zh-CN" sz="1650" dirty="0">
                <a:latin typeface="Microsoft YaHei"/>
                <a:ea typeface="Microsoft YaHei"/>
              </a:rPr>
              <a:t>Recall </a:t>
            </a:r>
            <a:r>
              <a:rPr lang="zh-CN" altLang="en-US" sz="1650" dirty="0">
                <a:latin typeface="Microsoft YaHei"/>
                <a:ea typeface="Microsoft YaHei"/>
              </a:rPr>
              <a:t>最高的是 </a:t>
            </a:r>
            <a:r>
              <a:rPr lang="zh-CN" sz="1650" b="1" dirty="0">
                <a:solidFill>
                  <a:srgbClr val="A52A36"/>
                </a:solidFill>
                <a:latin typeface="Microsoft YaHei"/>
                <a:ea typeface="Microsoft YaHei"/>
              </a:rPr>
              <a:t>LR（0.93±0.02）</a:t>
            </a:r>
            <a:r>
              <a:rPr lang="zh-CN" altLang="en-US" sz="1650" b="1" dirty="0">
                <a:solidFill>
                  <a:srgbClr val="A52A36"/>
                </a:solidFill>
                <a:latin typeface="Microsoft YaHei"/>
                <a:ea typeface="Microsoft YaHei"/>
              </a:rPr>
              <a:t>。</a:t>
            </a:r>
            <a:endParaRPr lang="zh-CN" sz="1650" b="1" dirty="0">
              <a:solidFill>
                <a:srgbClr val="A52A36"/>
              </a:solidFill>
              <a:latin typeface="Microsoft YaHei"/>
              <a:ea typeface="Microsoft YaHei"/>
            </a:endParaRPr>
          </a:p>
        </p:txBody>
      </p:sp>
      <p:sp>
        <p:nvSpPr>
          <p:cNvPr id="13" name="文本框 6">
            <a:extLst>
              <a:ext uri="{FF2B5EF4-FFF2-40B4-BE49-F238E27FC236}">
                <a16:creationId xmlns:a16="http://schemas.microsoft.com/office/drawing/2014/main" id="{839C57A4-0220-CFFB-5409-74455C658B17}"/>
              </a:ext>
            </a:extLst>
          </p:cNvPr>
          <p:cNvSpPr txBox="1"/>
          <p:nvPr/>
        </p:nvSpPr>
        <p:spPr>
          <a:xfrm>
            <a:off x="568757" y="1429434"/>
            <a:ext cx="6097218" cy="461665"/>
          </a:xfrm>
          <a:prstGeom prst="rect">
            <a:avLst/>
          </a:prstGeom>
          <a:noFill/>
        </p:spPr>
        <p:txBody>
          <a:bodyPr wrap="square">
            <a:spAutoFit/>
          </a:bodyPr>
          <a:lstStyle/>
          <a:p>
            <a:r>
              <a:rPr lang="zh-CN" altLang="en-US" sz="2400" b="1" dirty="0">
                <a:solidFill>
                  <a:srgbClr val="A52A36"/>
                </a:solidFill>
                <a:latin typeface="Microsoft YaHei"/>
                <a:ea typeface="Microsoft YaHei"/>
              </a:rPr>
              <a:t>实验结果一：恶意代理检测实验的模型对比</a:t>
            </a:r>
            <a:endParaRPr lang="zh-CN" altLang="en-US" sz="1200" dirty="0"/>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16" name="txt-180">
            <a:extLst>
              <a:ext uri="{FF2B5EF4-FFF2-40B4-BE49-F238E27FC236}">
                <a16:creationId xmlns:a16="http://schemas.microsoft.com/office/drawing/2014/main" id="{BA45B03E-85C4-FD0B-E8ED-178BBC2DC27F}"/>
              </a:ext>
            </a:extLst>
          </p:cNvPr>
          <p:cNvSpPr>
            <a:spLocks noGrp="1"/>
          </p:cNvSpPr>
          <p:nvPr/>
        </p:nvSpPr>
        <p:spPr>
          <a:xfrm>
            <a:off x="685800" y="900797"/>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endParaRPr sz="3300" b="1" dirty="0">
              <a:solidFill>
                <a:srgbClr val="A52A36"/>
              </a:solidFill>
              <a:latin typeface="Microsoft YaHei"/>
              <a:ea typeface="Microsoft YaHei"/>
            </a:endParaRPr>
          </a:p>
        </p:txBody>
      </p:sp>
    </p:spTree>
    <p:extLst>
      <p:ext uri="{BB962C8B-B14F-4D97-AF65-F5344CB8AC3E}">
        <p14:creationId xmlns:p14="http://schemas.microsoft.com/office/powerpoint/2010/main" val="1719750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实验一：对比实验</a:t>
            </a:r>
          </a:p>
        </p:txBody>
      </p:sp>
      <p:sp>
        <p:nvSpPr>
          <p:cNvPr id="3" name="evidence-text-121">
            <a:extLst>
              <a:ext uri="{FF2B5EF4-FFF2-40B4-BE49-F238E27FC236}">
                <a16:creationId xmlns:a16="http://schemas.microsoft.com/office/drawing/2014/main" id="{B4F26247-8B0E-4F4D-BEAB-23ABA5D6BEAA}"/>
              </a:ext>
            </a:extLst>
          </p:cNvPr>
          <p:cNvSpPr>
            <a:spLocks noGrp="1"/>
          </p:cNvSpPr>
          <p:nvPr/>
        </p:nvSpPr>
        <p:spPr>
          <a:xfrm>
            <a:off x="609600" y="1514475"/>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实验结果二：</a:t>
            </a:r>
            <a:r>
              <a:rPr sz="2400" b="1" dirty="0" err="1">
                <a:solidFill>
                  <a:srgbClr val="A52A36"/>
                </a:solidFill>
                <a:latin typeface="Microsoft YaHei"/>
                <a:ea typeface="Microsoft YaHei"/>
              </a:rPr>
              <a:t>活动分类的</a:t>
            </a:r>
            <a:r>
              <a:rPr lang="zh-CN" altLang="en-US" sz="2400" b="1" dirty="0">
                <a:solidFill>
                  <a:srgbClr val="A52A36"/>
                </a:solidFill>
                <a:latin typeface="Microsoft YaHei"/>
                <a:ea typeface="Microsoft YaHei"/>
              </a:rPr>
              <a:t>实验模型对比</a:t>
            </a:r>
            <a:endParaRPr sz="2400" b="1" dirty="0">
              <a:solidFill>
                <a:srgbClr val="A52A36"/>
              </a:solidFill>
              <a:latin typeface="Microsoft YaHei"/>
              <a:ea typeface="Microsoft YaHei"/>
            </a:endParaRPr>
          </a:p>
        </p:txBody>
      </p:sp>
      <p:graphicFrame>
        <p:nvGraphicFramePr>
          <p:cNvPr id="4" name="表格 20">
            <a:extLst>
              <a:ext uri="{FF2B5EF4-FFF2-40B4-BE49-F238E27FC236}">
                <a16:creationId xmlns:a16="http://schemas.microsoft.com/office/drawing/2014/main" id="{73B1A076-363F-4465-946D-5F1A7F970FF5}"/>
              </a:ext>
            </a:extLst>
          </p:cNvPr>
          <p:cNvGraphicFramePr/>
          <p:nvPr/>
        </p:nvGraphicFramePr>
        <p:xfrm>
          <a:off x="685800" y="2028825"/>
          <a:ext cx="5238750" cy="2571750"/>
        </p:xfrm>
        <a:graphic>
          <a:graphicData uri="http://schemas.openxmlformats.org/drawingml/2006/table">
            <a:tbl>
              <a:tblPr/>
              <a:tblGrid>
                <a:gridCol w="175260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1162050">
                  <a:extLst>
                    <a:ext uri="{9D8B030D-6E8A-4147-A177-3AD203B41FA5}">
                      <a16:colId xmlns:a16="http://schemas.microsoft.com/office/drawing/2014/main" val="20003"/>
                    </a:ext>
                  </a:extLst>
                </a:gridCol>
              </a:tblGrid>
              <a:tr h="285750">
                <a:tc>
                  <a:txBody>
                    <a:bodyPr/>
                    <a:lstStyle/>
                    <a:p>
                      <a:pPr algn="l">
                        <a:buNone/>
                      </a:pPr>
                      <a:r>
                        <a:rPr sz="1350" b="1">
                          <a:solidFill>
                            <a:srgbClr val="FFFFFF"/>
                          </a:solidFill>
                          <a:latin typeface="Microsoft YaHei"/>
                          <a:ea typeface="Microsoft YaHei"/>
                          <a:cs typeface="Microsoft YaHei"/>
                        </a:rPr>
                        <a:t>Model</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285750">
                <a:tc>
                  <a:txBody>
                    <a:bodyPr/>
                    <a:lstStyle/>
                    <a:p>
                      <a:pPr algn="l">
                        <a:buNone/>
                      </a:pPr>
                      <a:r>
                        <a:rPr sz="1350" b="0">
                          <a:solidFill>
                            <a:srgbClr val="26282D"/>
                          </a:solidFill>
                          <a:latin typeface="Microsoft YaHei"/>
                          <a:ea typeface="Microsoft YaHei"/>
                          <a:cs typeface="Microsoft YaHei"/>
                        </a:rPr>
                        <a:t>SVM</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.31±.03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.33±.02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.22±.04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285750">
                <a:tc>
                  <a:txBody>
                    <a:bodyPr/>
                    <a:lstStyle/>
                    <a:p>
                      <a:pPr algn="l">
                        <a:buNone/>
                      </a:pPr>
                      <a:r>
                        <a:rPr sz="1350" b="0">
                          <a:solidFill>
                            <a:srgbClr val="26282D"/>
                          </a:solidFill>
                          <a:latin typeface="Microsoft YaHei"/>
                          <a:ea typeface="Microsoft YaHei"/>
                          <a:cs typeface="Microsoft YaHei"/>
                        </a:rPr>
                        <a:t>LR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.81±.02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285750">
                <a:tc>
                  <a:txBody>
                    <a:bodyPr/>
                    <a:lstStyle/>
                    <a:p>
                      <a:pPr algn="l">
                        <a:buNone/>
                      </a:pPr>
                      <a:r>
                        <a:rPr sz="1350" b="0">
                          <a:solidFill>
                            <a:srgbClr val="26282D"/>
                          </a:solidFill>
                          <a:latin typeface="Microsoft YaHei"/>
                          <a:ea typeface="Microsoft YaHei"/>
                          <a:cs typeface="Microsoft YaHei"/>
                        </a:rPr>
                        <a:t>RF</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285750">
                <a:tc>
                  <a:txBody>
                    <a:bodyPr/>
                    <a:lstStyle/>
                    <a:p>
                      <a:pPr algn="l">
                        <a:buNone/>
                      </a:pPr>
                      <a:r>
                        <a:rPr sz="1350" b="1">
                          <a:solidFill>
                            <a:srgbClr val="26282D"/>
                          </a:solidFill>
                          <a:latin typeface="Microsoft YaHei"/>
                          <a:ea typeface="Microsoft YaHei"/>
                          <a:cs typeface="Microsoft YaHei"/>
                        </a:rPr>
                        <a:t>XGBoost</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.92±.01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.92±.02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1">
                          <a:solidFill>
                            <a:srgbClr val="26282D"/>
                          </a:solidFill>
                          <a:latin typeface="Microsoft YaHei"/>
                          <a:ea typeface="Microsoft YaHei"/>
                          <a:cs typeface="Microsoft YaHei"/>
                        </a:rPr>
                        <a:t>.92±.01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285750">
                <a:tc>
                  <a:txBody>
                    <a:bodyPr/>
                    <a:lstStyle/>
                    <a:p>
                      <a:pPr algn="l">
                        <a:buNone/>
                      </a:pPr>
                      <a:r>
                        <a:rPr sz="1350" b="0">
                          <a:solidFill>
                            <a:srgbClr val="26282D"/>
                          </a:solidFill>
                          <a:latin typeface="Microsoft YaHei"/>
                          <a:ea typeface="Microsoft YaHei"/>
                          <a:cs typeface="Microsoft YaHei"/>
                        </a:rPr>
                        <a:t>MoE</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.88±.02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.88±.02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285750">
                <a:tc>
                  <a:txBody>
                    <a:bodyPr/>
                    <a:lstStyle/>
                    <a:p>
                      <a:pPr algn="l">
                        <a:buNone/>
                      </a:pPr>
                      <a:r>
                        <a:rPr sz="1350" b="0">
                          <a:solidFill>
                            <a:srgbClr val="26282D"/>
                          </a:solidFill>
                          <a:latin typeface="Microsoft YaHei"/>
                          <a:ea typeface="Microsoft YaHei"/>
                          <a:cs typeface="Microsoft YaHei"/>
                        </a:rPr>
                        <a:t>Llama-3.1</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.90±.01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.91±.02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.90±.01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r h="285750">
                <a:tc>
                  <a:txBody>
                    <a:bodyPr/>
                    <a:lstStyle/>
                    <a:p>
                      <a:pPr algn="l">
                        <a:buNone/>
                      </a:pPr>
                      <a:r>
                        <a:rPr sz="1350" b="0">
                          <a:solidFill>
                            <a:srgbClr val="26282D"/>
                          </a:solidFill>
                          <a:latin typeface="Microsoft YaHei"/>
                          <a:ea typeface="Microsoft YaHei"/>
                          <a:cs typeface="Microsoft YaHei"/>
                        </a:rPr>
                        <a:t>Llama-3.2</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.72±.03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.70±.03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7"/>
                  </a:ext>
                </a:extLst>
              </a:tr>
              <a:tr h="285750">
                <a:tc>
                  <a:txBody>
                    <a:bodyPr/>
                    <a:lstStyle/>
                    <a:p>
                      <a:pPr algn="l">
                        <a:buNone/>
                      </a:pPr>
                      <a:r>
                        <a:rPr sz="1350" b="0">
                          <a:solidFill>
                            <a:srgbClr val="26282D"/>
                          </a:solidFill>
                          <a:latin typeface="Microsoft YaHei"/>
                          <a:ea typeface="Microsoft YaHei"/>
                          <a:cs typeface="Microsoft YaHei"/>
                        </a:rPr>
                        <a:t>Gemma</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dirty="0">
                          <a:solidFill>
                            <a:srgbClr val="26282D"/>
                          </a:solidFill>
                          <a:latin typeface="Microsoft YaHei"/>
                          <a:ea typeface="Microsoft YaHei"/>
                          <a:cs typeface="Microsoft YaHei"/>
                        </a:rPr>
                        <a:t>.80±.02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8"/>
                  </a:ext>
                </a:extLst>
              </a:tr>
            </a:tbl>
          </a:graphicData>
        </a:graphic>
      </p:graphicFrame>
      <p:graphicFrame>
        <p:nvGraphicFramePr>
          <p:cNvPr id="5" name="表格 21">
            <a:extLst>
              <a:ext uri="{FF2B5EF4-FFF2-40B4-BE49-F238E27FC236}">
                <a16:creationId xmlns:a16="http://schemas.microsoft.com/office/drawing/2014/main" id="{5DDEA726-8811-4F3A-A2C3-86FDFBB80449}"/>
              </a:ext>
            </a:extLst>
          </p:cNvPr>
          <p:cNvGraphicFramePr/>
          <p:nvPr/>
        </p:nvGraphicFramePr>
        <p:xfrm>
          <a:off x="6267450" y="2028825"/>
          <a:ext cx="5238750" cy="2286000"/>
        </p:xfrm>
        <a:graphic>
          <a:graphicData uri="http://schemas.openxmlformats.org/drawingml/2006/table">
            <a:tbl>
              <a:tblPr/>
              <a:tblGrid>
                <a:gridCol w="175260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162050">
                  <a:extLst>
                    <a:ext uri="{9D8B030D-6E8A-4147-A177-3AD203B41FA5}">
                      <a16:colId xmlns:a16="http://schemas.microsoft.com/office/drawing/2014/main" val="20002"/>
                    </a:ext>
                  </a:extLst>
                </a:gridCol>
                <a:gridCol w="1162050">
                  <a:extLst>
                    <a:ext uri="{9D8B030D-6E8A-4147-A177-3AD203B41FA5}">
                      <a16:colId xmlns:a16="http://schemas.microsoft.com/office/drawing/2014/main" val="20003"/>
                    </a:ext>
                  </a:extLst>
                </a:gridCol>
              </a:tblGrid>
              <a:tr h="285750">
                <a:tc>
                  <a:txBody>
                    <a:bodyPr/>
                    <a:lstStyle/>
                    <a:p>
                      <a:pPr algn="l">
                        <a:buNone/>
                      </a:pPr>
                      <a:r>
                        <a:rPr sz="1350" b="1">
                          <a:solidFill>
                            <a:srgbClr val="FFFFFF"/>
                          </a:solidFill>
                          <a:latin typeface="Microsoft YaHei"/>
                          <a:ea typeface="Microsoft YaHei"/>
                          <a:cs typeface="Microsoft YaHei"/>
                        </a:rPr>
                        <a:t>Model</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35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285750">
                <a:tc>
                  <a:txBody>
                    <a:bodyPr/>
                    <a:lstStyle/>
                    <a:p>
                      <a:pPr algn="l">
                        <a:buNone/>
                      </a:pPr>
                      <a:r>
                        <a:rPr sz="1350" b="0">
                          <a:solidFill>
                            <a:srgbClr val="26282D"/>
                          </a:solidFill>
                          <a:latin typeface="Microsoft YaHei"/>
                          <a:ea typeface="Microsoft YaHei"/>
                          <a:cs typeface="Microsoft YaHei"/>
                        </a:rPr>
                        <a:t>Gemma-2</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.90±.02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.90±.02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285750">
                <a:tc>
                  <a:txBody>
                    <a:bodyPr/>
                    <a:lstStyle/>
                    <a:p>
                      <a:pPr algn="l">
                        <a:buNone/>
                      </a:pPr>
                      <a:r>
                        <a:rPr sz="1350" b="0">
                          <a:solidFill>
                            <a:srgbClr val="26282D"/>
                          </a:solidFill>
                          <a:latin typeface="Microsoft YaHei"/>
                          <a:ea typeface="Microsoft YaHei"/>
                          <a:cs typeface="Microsoft YaHei"/>
                        </a:rPr>
                        <a:t>Phi-4</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.91±.02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.92±.01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285750">
                <a:tc>
                  <a:txBody>
                    <a:bodyPr/>
                    <a:lstStyle/>
                    <a:p>
                      <a:pPr algn="l">
                        <a:buNone/>
                      </a:pPr>
                      <a:r>
                        <a:rPr sz="1350" b="0">
                          <a:solidFill>
                            <a:srgbClr val="26282D"/>
                          </a:solidFill>
                          <a:latin typeface="Microsoft YaHei"/>
                          <a:ea typeface="Microsoft YaHei"/>
                          <a:cs typeface="Microsoft YaHei"/>
                        </a:rPr>
                        <a:t>RoBERTa</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.86±.10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.89±.05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285750">
                <a:tc>
                  <a:txBody>
                    <a:bodyPr/>
                    <a:lstStyle/>
                    <a:p>
                      <a:pPr algn="l">
                        <a:buNone/>
                      </a:pPr>
                      <a:r>
                        <a:rPr sz="1350" b="0">
                          <a:solidFill>
                            <a:srgbClr val="26282D"/>
                          </a:solidFill>
                          <a:latin typeface="Microsoft YaHei"/>
                          <a:ea typeface="Microsoft YaHei"/>
                          <a:cs typeface="Microsoft YaHei"/>
                        </a:rPr>
                        <a:t>BERTweet</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.85±.09</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.84±.07</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.88±.05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285750">
                <a:tc>
                  <a:txBody>
                    <a:bodyPr/>
                    <a:lstStyle/>
                    <a:p>
                      <a:pPr algn="l">
                        <a:buNone/>
                      </a:pPr>
                      <a:r>
                        <a:rPr sz="1350" b="0">
                          <a:solidFill>
                            <a:srgbClr val="26282D"/>
                          </a:solidFill>
                          <a:latin typeface="Microsoft YaHei"/>
                          <a:ea typeface="Microsoft YaHei"/>
                          <a:cs typeface="Microsoft YaHei"/>
                        </a:rPr>
                        <a:t>BotHunter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.80±.02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.75±.03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285750">
                <a:tc>
                  <a:txBody>
                    <a:bodyPr/>
                    <a:lstStyle/>
                    <a:p>
                      <a:pPr algn="l">
                        <a:buNone/>
                      </a:pPr>
                      <a:r>
                        <a:rPr sz="1350" b="0">
                          <a:solidFill>
                            <a:srgbClr val="26282D"/>
                          </a:solidFill>
                          <a:latin typeface="Microsoft YaHei"/>
                          <a:ea typeface="Microsoft YaHei"/>
                          <a:cs typeface="Microsoft YaHei"/>
                        </a:rPr>
                        <a:t>Botometer</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.73±.01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.71±.01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350" b="0">
                          <a:solidFill>
                            <a:srgbClr val="26282D"/>
                          </a:solidFill>
                          <a:latin typeface="Microsoft YaHei"/>
                          <a:ea typeface="Microsoft YaHei"/>
                          <a:cs typeface="Microsoft YaHei"/>
                        </a:rPr>
                        <a:t>.69±.02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r h="285750">
                <a:tc>
                  <a:txBody>
                    <a:bodyPr/>
                    <a:lstStyle/>
                    <a:p>
                      <a:pPr algn="l">
                        <a:buNone/>
                      </a:pPr>
                      <a:r>
                        <a:rPr sz="1350" b="0">
                          <a:solidFill>
                            <a:srgbClr val="26282D"/>
                          </a:solidFill>
                          <a:latin typeface="Microsoft YaHei"/>
                          <a:ea typeface="Microsoft YaHei"/>
                          <a:cs typeface="Microsoft YaHei"/>
                        </a:rPr>
                        <a:t>Swatting</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NA</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NA</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350" b="0">
                          <a:solidFill>
                            <a:srgbClr val="26282D"/>
                          </a:solidFill>
                          <a:latin typeface="Microsoft YaHei"/>
                          <a:ea typeface="Microsoft YaHei"/>
                          <a:cs typeface="Microsoft YaHei"/>
                        </a:rPr>
                        <a:t>NA</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6" name="evidence-text-129">
            <a:extLst>
              <a:ext uri="{FF2B5EF4-FFF2-40B4-BE49-F238E27FC236}">
                <a16:creationId xmlns:a16="http://schemas.microsoft.com/office/drawing/2014/main" id="{5DB15B44-7F05-4B50-B6CA-FB544D237B78}"/>
              </a:ext>
            </a:extLst>
          </p:cNvPr>
          <p:cNvSpPr>
            <a:spLocks noGrp="1"/>
          </p:cNvSpPr>
          <p:nvPr/>
        </p:nvSpPr>
        <p:spPr>
          <a:xfrm>
            <a:off x="685800" y="4657725"/>
            <a:ext cx="5238750" cy="219075"/>
          </a:xfrm>
          <a:prstGeom prst="rect">
            <a:avLst/>
          </a:prstGeom>
          <a:noFill/>
          <a:ln w="0">
            <a:noFill/>
          </a:ln>
        </p:spPr>
        <p:txBody>
          <a:bodyPr wrap="square" lIns="0" tIns="0" rIns="0" bIns="0" anchor="t">
            <a:noAutofit/>
          </a:bodyPr>
          <a:lstStyle>
            <a:defPPr algn="l">
              <a:defRPr sz="1050" b="0">
                <a:solidFill>
                  <a:srgbClr val="26282D"/>
                </a:solidFill>
                <a:latin typeface="Microsoft YaHei"/>
                <a:ea typeface="Microsoft YaHei"/>
                <a:cs typeface="Microsoft YaHei"/>
              </a:defRPr>
            </a:defPPr>
          </a:lstStyle>
          <a:p>
            <a:pPr algn="l">
              <a:buNone/>
              <a:defRPr sz="1050" b="0">
                <a:solidFill>
                  <a:srgbClr val="26282D"/>
                </a:solidFill>
                <a:latin typeface="Microsoft YaHei"/>
                <a:ea typeface="Microsoft YaHei"/>
                <a:cs typeface="Microsoft YaHei"/>
              </a:defRPr>
            </a:pPr>
            <a:r>
              <a:rPr sz="1050" b="0" dirty="0">
                <a:solidFill>
                  <a:srgbClr val="26282D"/>
                </a:solidFill>
                <a:latin typeface="Microsoft YaHei"/>
                <a:ea typeface="Microsoft YaHei"/>
                <a:cs typeface="Microsoft YaHei"/>
              </a:rPr>
              <a:t>NA </a:t>
            </a:r>
            <a:r>
              <a:rPr sz="1050" b="0" dirty="0" err="1">
                <a:solidFill>
                  <a:srgbClr val="26282D"/>
                </a:solidFill>
                <a:latin typeface="Microsoft YaHei"/>
                <a:ea typeface="Microsoft YaHei"/>
                <a:cs typeface="Microsoft YaHei"/>
              </a:rPr>
              <a:t>为原表给出的</a:t>
            </a:r>
            <a:r>
              <a:rPr sz="1050" b="0" dirty="0">
                <a:solidFill>
                  <a:srgbClr val="26282D"/>
                </a:solidFill>
                <a:latin typeface="Microsoft YaHei"/>
                <a:ea typeface="Microsoft YaHei"/>
                <a:cs typeface="Microsoft YaHei"/>
              </a:rPr>
              <a:t> multiclass </a:t>
            </a:r>
            <a:r>
              <a:rPr sz="1050" b="0" dirty="0" err="1">
                <a:solidFill>
                  <a:srgbClr val="26282D"/>
                </a:solidFill>
                <a:latin typeface="Microsoft YaHei"/>
                <a:ea typeface="Microsoft YaHei"/>
                <a:cs typeface="Microsoft YaHei"/>
              </a:rPr>
              <a:t>结果标记</a:t>
            </a:r>
            <a:endParaRPr sz="1050" b="0" dirty="0">
              <a:solidFill>
                <a:srgbClr val="26282D"/>
              </a:solidFill>
              <a:latin typeface="Microsoft YaHei"/>
              <a:ea typeface="Microsoft YaHei"/>
              <a:cs typeface="Microsoft YaHei"/>
            </a:endParaRPr>
          </a:p>
        </p:txBody>
      </p:sp>
      <p:pic>
        <p:nvPicPr>
          <p:cNvPr id="7"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8"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23/33</a:t>
            </a:r>
          </a:p>
        </p:txBody>
      </p:sp>
      <p:sp>
        <p:nvSpPr>
          <p:cNvPr id="9" name="added-text"/>
          <p:cNvSpPr txBox="1"/>
          <p:nvPr/>
        </p:nvSpPr>
        <p:spPr>
          <a:xfrm>
            <a:off x="685800" y="5010150"/>
            <a:ext cx="10820400" cy="1447800"/>
          </a:xfrm>
          <a:prstGeom prst="roundRect">
            <a:avLst/>
          </a:prstGeom>
          <a:solidFill>
            <a:srgbClr val="FFFFFF"/>
          </a:solidFill>
          <a:ln w="19050">
            <a:solidFill>
              <a:srgbClr val="A52A36"/>
            </a:solidFill>
          </a:ln>
        </p:spPr>
      </p:sp>
      <p:sp>
        <p:nvSpPr>
          <p:cNvPr id="10" name="added-text"/>
          <p:cNvSpPr txBox="1"/>
          <p:nvPr/>
        </p:nvSpPr>
        <p:spPr>
          <a:xfrm>
            <a:off x="876300" y="508635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实验目的</a:t>
            </a:r>
          </a:p>
        </p:txBody>
      </p:sp>
      <p:sp>
        <p:nvSpPr>
          <p:cNvPr id="11" name="added-text"/>
          <p:cNvSpPr txBox="1"/>
          <p:nvPr/>
        </p:nvSpPr>
        <p:spPr>
          <a:xfrm>
            <a:off x="876300" y="5353050"/>
            <a:ext cx="10287000" cy="276225"/>
          </a:xfrm>
          <a:prstGeom prst="rect">
            <a:avLst/>
          </a:prstGeom>
          <a:noFill/>
        </p:spPr>
        <p:txBody>
          <a:bodyPr wrap="square" lIns="0" tIns="0" rIns="0" bIns="0"/>
          <a:lstStyle/>
          <a:p>
            <a:r>
              <a:rPr lang="zh-CN" sz="1700" b="0">
                <a:solidFill>
                  <a:srgbClr val="26292E"/>
                </a:solidFill>
                <a:latin typeface="Microsoft YaHei"/>
                <a:ea typeface="Microsoft YaHei"/>
              </a:rPr>
              <a:t>比较不同模型识别四类活动的能力。</a:t>
            </a:r>
          </a:p>
        </p:txBody>
      </p:sp>
      <p:sp>
        <p:nvSpPr>
          <p:cNvPr id="12" name="added-text"/>
          <p:cNvSpPr txBox="1"/>
          <p:nvPr/>
        </p:nvSpPr>
        <p:spPr>
          <a:xfrm>
            <a:off x="876300" y="563880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实验结论</a:t>
            </a:r>
          </a:p>
        </p:txBody>
      </p:sp>
      <p:sp>
        <p:nvSpPr>
          <p:cNvPr id="13" name="added-text"/>
          <p:cNvSpPr txBox="1"/>
          <p:nvPr/>
        </p:nvSpPr>
        <p:spPr>
          <a:xfrm>
            <a:off x="876300" y="5905500"/>
            <a:ext cx="10287000" cy="504825"/>
          </a:xfrm>
          <a:prstGeom prst="rect">
            <a:avLst/>
          </a:prstGeom>
          <a:noFill/>
        </p:spPr>
        <p:txBody>
          <a:bodyPr wrap="square" lIns="0" tIns="0" rIns="0" bIns="0"/>
          <a:lstStyle/>
          <a:p>
            <a:r>
              <a:rPr lang="zh-CN" sz="1650" b="1" dirty="0">
                <a:solidFill>
                  <a:srgbClr val="A52A36"/>
                </a:solidFill>
                <a:latin typeface="Microsoft YaHei"/>
                <a:ea typeface="Microsoft YaHei"/>
              </a:rPr>
              <a:t>XGBoost </a:t>
            </a:r>
            <a:r>
              <a:rPr lang="zh-CN" sz="1650" dirty="0">
                <a:latin typeface="Microsoft YaHei"/>
                <a:ea typeface="Microsoft YaHei"/>
              </a:rPr>
              <a:t>的 F1、Recall、MCC 均值均为 0.92；F1 与 Recall 均值</a:t>
            </a:r>
            <a:r>
              <a:rPr lang="zh-CN" sz="1650" b="1" dirty="0">
                <a:solidFill>
                  <a:srgbClr val="A52A36"/>
                </a:solidFill>
                <a:latin typeface="Microsoft YaHei"/>
                <a:ea typeface="Microsoft YaHei"/>
              </a:rPr>
              <a:t>最高，</a:t>
            </a:r>
            <a:r>
              <a:rPr lang="en-US" altLang="zh-CN" sz="1650" dirty="0">
                <a:latin typeface="Microsoft YaHei"/>
                <a:ea typeface="Microsoft YaHei"/>
              </a:rPr>
              <a:t>MCC </a:t>
            </a:r>
            <a:r>
              <a:rPr lang="zh-CN" altLang="en-US" sz="1650" dirty="0">
                <a:latin typeface="Microsoft YaHei"/>
                <a:ea typeface="Microsoft YaHei"/>
              </a:rPr>
              <a:t>均值与 </a:t>
            </a:r>
            <a:r>
              <a:rPr lang="en-US" altLang="zh-CN" sz="1650" dirty="0">
                <a:latin typeface="Microsoft YaHei"/>
                <a:ea typeface="Microsoft YaHei"/>
              </a:rPr>
              <a:t>Phi-4 </a:t>
            </a:r>
            <a:r>
              <a:rPr lang="zh-CN" altLang="en-US" sz="1650" dirty="0">
                <a:latin typeface="Microsoft YaHei"/>
                <a:ea typeface="Microsoft YaHei"/>
              </a:rPr>
              <a:t>持平。该结果支持其在本数据集上的活动分类能力。</a:t>
            </a:r>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实验一：对比实验</a:t>
            </a:r>
          </a:p>
        </p:txBody>
      </p:sp>
      <p:sp>
        <p:nvSpPr>
          <p:cNvPr id="3" name="evidence-text-130">
            <a:extLst>
              <a:ext uri="{FF2B5EF4-FFF2-40B4-BE49-F238E27FC236}">
                <a16:creationId xmlns:a16="http://schemas.microsoft.com/office/drawing/2014/main" id="{323CEF52-3A21-426E-8021-CB7840EFE104}"/>
              </a:ext>
            </a:extLst>
          </p:cNvPr>
          <p:cNvSpPr>
            <a:spLocks noGrp="1"/>
          </p:cNvSpPr>
          <p:nvPr/>
        </p:nvSpPr>
        <p:spPr>
          <a:xfrm>
            <a:off x="685800" y="1252538"/>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buNone/>
              <a:defRPr sz="3300" b="1">
                <a:solidFill>
                  <a:srgbClr val="A52A36"/>
                </a:solidFill>
                <a:latin typeface="Microsoft YaHei"/>
                <a:ea typeface="Microsoft YaHei"/>
                <a:cs typeface="Microsoft YaHei"/>
              </a:defRPr>
            </a:pPr>
            <a:r>
              <a:rPr lang="zh-CN" altLang="en-US" sz="2400" b="1" dirty="0">
                <a:solidFill>
                  <a:srgbClr val="A52A36"/>
                </a:solidFill>
                <a:latin typeface="Microsoft YaHei"/>
                <a:ea typeface="Microsoft YaHei"/>
              </a:rPr>
              <a:t>实验结果三：</a:t>
            </a:r>
            <a:r>
              <a:rPr sz="2400" b="1" dirty="0" err="1">
                <a:solidFill>
                  <a:srgbClr val="A52A36"/>
                </a:solidFill>
                <a:latin typeface="Microsoft YaHei"/>
                <a:ea typeface="Microsoft YaHei"/>
              </a:rPr>
              <a:t>提示</a:t>
            </a:r>
            <a:r>
              <a:rPr lang="zh-CN" altLang="en-US" sz="2400" b="1" dirty="0">
                <a:solidFill>
                  <a:srgbClr val="A52A36"/>
                </a:solidFill>
                <a:latin typeface="Microsoft YaHei"/>
                <a:ea typeface="Microsoft YaHei"/>
              </a:rPr>
              <a:t>词中</a:t>
            </a:r>
            <a:r>
              <a:rPr sz="2400" b="1" dirty="0" err="1">
                <a:solidFill>
                  <a:srgbClr val="A52A36"/>
                </a:solidFill>
                <a:latin typeface="Microsoft YaHei"/>
                <a:ea typeface="Microsoft YaHei"/>
              </a:rPr>
              <a:t>示例数量对</a:t>
            </a:r>
            <a:r>
              <a:rPr sz="2400" b="1" dirty="0">
                <a:solidFill>
                  <a:srgbClr val="A52A36"/>
                </a:solidFill>
                <a:latin typeface="Microsoft YaHei"/>
                <a:ea typeface="Microsoft YaHei"/>
              </a:rPr>
              <a:t> LLM </a:t>
            </a:r>
            <a:r>
              <a:rPr sz="2400" b="1" dirty="0" err="1">
                <a:solidFill>
                  <a:srgbClr val="A52A36"/>
                </a:solidFill>
                <a:latin typeface="Microsoft YaHei"/>
                <a:ea typeface="Microsoft YaHei"/>
              </a:rPr>
              <a:t>的影响</a:t>
            </a:r>
            <a:endParaRPr sz="2400" b="1" dirty="0">
              <a:solidFill>
                <a:srgbClr val="A52A36"/>
              </a:solidFill>
              <a:latin typeface="Microsoft YaHei"/>
              <a:ea typeface="Microsoft YaHei"/>
            </a:endParaRPr>
          </a:p>
        </p:txBody>
      </p:sp>
      <p:sp>
        <p:nvSpPr>
          <p:cNvPr id="4" name="evidence-text-131">
            <a:extLst>
              <a:ext uri="{FF2B5EF4-FFF2-40B4-BE49-F238E27FC236}">
                <a16:creationId xmlns:a16="http://schemas.microsoft.com/office/drawing/2014/main" id="{3435A7FA-BDD8-4DA8-AC07-22B69E3D787A}"/>
              </a:ext>
            </a:extLst>
          </p:cNvPr>
          <p:cNvSpPr>
            <a:spLocks noGrp="1"/>
          </p:cNvSpPr>
          <p:nvPr/>
        </p:nvSpPr>
        <p:spPr>
          <a:xfrm>
            <a:off x="685800" y="1695450"/>
            <a:ext cx="10820400" cy="333375"/>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buNone/>
              <a:defRPr sz="1800" b="0">
                <a:solidFill>
                  <a:srgbClr val="26282D"/>
                </a:solidFill>
                <a:latin typeface="Microsoft YaHei"/>
                <a:ea typeface="Microsoft YaHei"/>
                <a:cs typeface="Microsoft YaHei"/>
              </a:defRPr>
            </a:pPr>
            <a:r>
              <a:rPr sz="1800" b="0" dirty="0" err="1">
                <a:solidFill>
                  <a:srgbClr val="26282D"/>
                </a:solidFill>
                <a:latin typeface="Microsoft YaHei"/>
                <a:ea typeface="Microsoft YaHei"/>
                <a:cs typeface="Microsoft YaHei"/>
              </a:rPr>
              <a:t>单元格为</a:t>
            </a:r>
            <a:r>
              <a:rPr sz="1800" b="0" dirty="0">
                <a:solidFill>
                  <a:srgbClr val="26282D"/>
                </a:solidFill>
                <a:latin typeface="Microsoft YaHei"/>
                <a:ea typeface="Microsoft YaHei"/>
                <a:cs typeface="Microsoft YaHei"/>
              </a:rPr>
              <a:t> F1-score </a:t>
            </a:r>
            <a:r>
              <a:rPr sz="1800" b="0" dirty="0" err="1">
                <a:solidFill>
                  <a:srgbClr val="26282D"/>
                </a:solidFill>
                <a:latin typeface="Microsoft YaHei"/>
                <a:ea typeface="Microsoft YaHei"/>
                <a:cs typeface="Microsoft YaHei"/>
              </a:rPr>
              <a:t>的均值</a:t>
            </a:r>
            <a:r>
              <a:rPr sz="1800" b="0" dirty="0">
                <a:solidFill>
                  <a:srgbClr val="26282D"/>
                </a:solidFill>
                <a:latin typeface="Microsoft YaHei"/>
                <a:ea typeface="Microsoft YaHei"/>
                <a:cs typeface="Microsoft YaHei"/>
              </a:rPr>
              <a:t> ± </a:t>
            </a:r>
            <a:r>
              <a:rPr sz="1800" b="0" dirty="0" err="1">
                <a:solidFill>
                  <a:srgbClr val="26282D"/>
                </a:solidFill>
                <a:latin typeface="Microsoft YaHei"/>
                <a:ea typeface="Microsoft YaHei"/>
                <a:cs typeface="Microsoft YaHei"/>
              </a:rPr>
              <a:t>标准差</a:t>
            </a:r>
            <a:r>
              <a:rPr sz="1800" b="0" dirty="0">
                <a:solidFill>
                  <a:srgbClr val="26282D"/>
                </a:solidFill>
                <a:latin typeface="Microsoft YaHei"/>
                <a:ea typeface="Microsoft YaHei"/>
                <a:cs typeface="Microsoft YaHei"/>
              </a:rPr>
              <a:t>。</a:t>
            </a:r>
          </a:p>
        </p:txBody>
      </p:sp>
      <p:graphicFrame>
        <p:nvGraphicFramePr>
          <p:cNvPr id="5" name="表格 20">
            <a:extLst>
              <a:ext uri="{FF2B5EF4-FFF2-40B4-BE49-F238E27FC236}">
                <a16:creationId xmlns:a16="http://schemas.microsoft.com/office/drawing/2014/main" id="{23FA84A0-1FFA-407F-8401-175CF37C79A6}"/>
              </a:ext>
            </a:extLst>
          </p:cNvPr>
          <p:cNvGraphicFramePr/>
          <p:nvPr/>
        </p:nvGraphicFramePr>
        <p:xfrm>
          <a:off x="685800" y="2047875"/>
          <a:ext cx="10820400" cy="2676520"/>
        </p:xfrm>
        <a:graphic>
          <a:graphicData uri="http://schemas.openxmlformats.org/drawingml/2006/table">
            <a:tbl>
              <a:tblPr/>
              <a:tblGrid>
                <a:gridCol w="1676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714500">
                  <a:extLst>
                    <a:ext uri="{9D8B030D-6E8A-4147-A177-3AD203B41FA5}">
                      <a16:colId xmlns:a16="http://schemas.microsoft.com/office/drawing/2014/main" val="20004"/>
                    </a:ext>
                  </a:extLst>
                </a:gridCol>
                <a:gridCol w="1714500">
                  <a:extLst>
                    <a:ext uri="{9D8B030D-6E8A-4147-A177-3AD203B41FA5}">
                      <a16:colId xmlns:a16="http://schemas.microsoft.com/office/drawing/2014/main" val="20005"/>
                    </a:ext>
                  </a:extLst>
                </a:gridCol>
              </a:tblGrid>
              <a:tr h="243320">
                <a:tc>
                  <a:txBody>
                    <a:bodyPr/>
                    <a:lstStyle/>
                    <a:p>
                      <a:pPr algn="l">
                        <a:buNone/>
                      </a:pPr>
                      <a:r>
                        <a:rPr sz="1400" b="1">
                          <a:solidFill>
                            <a:srgbClr val="FFFFFF"/>
                          </a:solidFill>
                          <a:latin typeface="Microsoft YaHei"/>
                          <a:ea typeface="Microsoft YaHei"/>
                          <a:cs typeface="Microsoft YaHei"/>
                        </a:rPr>
                        <a:t>Task</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400" b="1">
                          <a:solidFill>
                            <a:srgbClr val="FFFFFF"/>
                          </a:solidFill>
                          <a:latin typeface="Microsoft YaHei"/>
                          <a:ea typeface="Microsoft YaHei"/>
                          <a:cs typeface="Microsoft YaHei"/>
                        </a:rPr>
                        <a:t>Model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400" b="1">
                          <a:solidFill>
                            <a:srgbClr val="FFFFFF"/>
                          </a:solidFill>
                          <a:latin typeface="Microsoft YaHei"/>
                          <a:ea typeface="Microsoft YaHei"/>
                          <a:cs typeface="Microsoft YaHei"/>
                        </a:rPr>
                        <a:t>0-shot</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400" b="1">
                          <a:solidFill>
                            <a:srgbClr val="FFFFFF"/>
                          </a:solidFill>
                          <a:latin typeface="Microsoft YaHei"/>
                          <a:ea typeface="Microsoft YaHei"/>
                          <a:cs typeface="Microsoft YaHei"/>
                        </a:rPr>
                        <a:t>1-shot</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400" b="1">
                          <a:solidFill>
                            <a:srgbClr val="FFFFFF"/>
                          </a:solidFill>
                          <a:latin typeface="Microsoft YaHei"/>
                          <a:ea typeface="Microsoft YaHei"/>
                          <a:cs typeface="Microsoft YaHei"/>
                        </a:rPr>
                        <a:t>3-shot</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400" b="1">
                          <a:solidFill>
                            <a:srgbClr val="FFFFFF"/>
                          </a:solidFill>
                          <a:latin typeface="Microsoft YaHei"/>
                          <a:ea typeface="Microsoft YaHei"/>
                          <a:cs typeface="Microsoft YaHei"/>
                        </a:rPr>
                        <a:t>5-shot</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243320">
                <a:tc>
                  <a:txBody>
                    <a:bodyPr/>
                    <a:lstStyle/>
                    <a:p>
                      <a:pPr algn="l">
                        <a:buNone/>
                      </a:pPr>
                      <a:r>
                        <a:rPr sz="1400" b="0">
                          <a:solidFill>
                            <a:srgbClr val="26282D"/>
                          </a:solidFill>
                          <a:latin typeface="Microsoft YaHei"/>
                          <a:ea typeface="Microsoft YaHei"/>
                          <a:cs typeface="Microsoft YaHei"/>
                        </a:rPr>
                        <a:t>Binary</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Llama-3.1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.67±.02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.52±.02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.73±.02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.78±.02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243320">
                <a:tc>
                  <a:txBody>
                    <a:bodyPr/>
                    <a:lstStyle/>
                    <a:p>
                      <a:pPr algn="l">
                        <a:buNone/>
                      </a:pPr>
                      <a:r>
                        <a:rPr sz="1400" b="0">
                          <a:solidFill>
                            <a:srgbClr val="26282D"/>
                          </a:solidFill>
                          <a:latin typeface="Microsoft YaHei"/>
                          <a:ea typeface="Microsoft YaHei"/>
                          <a:cs typeface="Microsoft YaHei"/>
                        </a:rPr>
                        <a:t>Binary</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Llama-3.2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.69±.03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.49±.02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.45±.01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.68±.03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243320">
                <a:tc>
                  <a:txBody>
                    <a:bodyPr/>
                    <a:lstStyle/>
                    <a:p>
                      <a:pPr algn="l">
                        <a:buNone/>
                      </a:pPr>
                      <a:r>
                        <a:rPr sz="1400" b="0">
                          <a:solidFill>
                            <a:srgbClr val="26282D"/>
                          </a:solidFill>
                          <a:latin typeface="Microsoft YaHei"/>
                          <a:ea typeface="Microsoft YaHei"/>
                          <a:cs typeface="Microsoft YaHei"/>
                        </a:rPr>
                        <a:t>Binary</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Gemma</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.11±.01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.41±.01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.79±.02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.84±.03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243320">
                <a:tc>
                  <a:txBody>
                    <a:bodyPr/>
                    <a:lstStyle/>
                    <a:p>
                      <a:pPr algn="l">
                        <a:buNone/>
                      </a:pPr>
                      <a:r>
                        <a:rPr sz="1400" b="0">
                          <a:solidFill>
                            <a:srgbClr val="26282D"/>
                          </a:solidFill>
                          <a:latin typeface="Microsoft YaHei"/>
                          <a:ea typeface="Microsoft YaHei"/>
                          <a:cs typeface="Microsoft YaHei"/>
                        </a:rPr>
                        <a:t>Binary</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Gemma-2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.49±.01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.52±.02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.73±.02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.90±.02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r h="243320">
                <a:tc>
                  <a:txBody>
                    <a:bodyPr/>
                    <a:lstStyle/>
                    <a:p>
                      <a:pPr algn="l">
                        <a:buNone/>
                      </a:pPr>
                      <a:r>
                        <a:rPr sz="1400" b="0">
                          <a:solidFill>
                            <a:srgbClr val="26282D"/>
                          </a:solidFill>
                          <a:latin typeface="Microsoft YaHei"/>
                          <a:ea typeface="Microsoft YaHei"/>
                          <a:cs typeface="Microsoft YaHei"/>
                        </a:rPr>
                        <a:t>Binary</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Phi-4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.59±.02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.64±.02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.87±.02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5"/>
                  </a:ext>
                </a:extLst>
              </a:tr>
              <a:tr h="243320">
                <a:tc>
                  <a:txBody>
                    <a:bodyPr/>
                    <a:lstStyle/>
                    <a:p>
                      <a:pPr algn="l">
                        <a:buNone/>
                      </a:pPr>
                      <a:r>
                        <a:rPr sz="1400" b="0">
                          <a:solidFill>
                            <a:srgbClr val="26282D"/>
                          </a:solidFill>
                          <a:latin typeface="Microsoft YaHei"/>
                          <a:ea typeface="Microsoft YaHei"/>
                          <a:cs typeface="Microsoft YaHei"/>
                        </a:rPr>
                        <a:t>Campaign</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Llama-3.1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.66±.02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.77±.02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.90±.01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.89±.02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6"/>
                  </a:ext>
                </a:extLst>
              </a:tr>
              <a:tr h="243320">
                <a:tc>
                  <a:txBody>
                    <a:bodyPr/>
                    <a:lstStyle/>
                    <a:p>
                      <a:pPr algn="l">
                        <a:buNone/>
                      </a:pPr>
                      <a:r>
                        <a:rPr sz="1400" b="0">
                          <a:solidFill>
                            <a:srgbClr val="26282D"/>
                          </a:solidFill>
                          <a:latin typeface="Microsoft YaHei"/>
                          <a:ea typeface="Microsoft YaHei"/>
                          <a:cs typeface="Microsoft YaHei"/>
                        </a:rPr>
                        <a:t>Campaign</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Llama-3.2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.44±.02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.63±.02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.72±.02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.80±.02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7"/>
                  </a:ext>
                </a:extLst>
              </a:tr>
              <a:tr h="243320">
                <a:tc>
                  <a:txBody>
                    <a:bodyPr/>
                    <a:lstStyle/>
                    <a:p>
                      <a:pPr algn="l">
                        <a:buNone/>
                      </a:pPr>
                      <a:r>
                        <a:rPr sz="1400" b="0">
                          <a:solidFill>
                            <a:srgbClr val="26282D"/>
                          </a:solidFill>
                          <a:latin typeface="Microsoft YaHei"/>
                          <a:ea typeface="Microsoft YaHei"/>
                          <a:cs typeface="Microsoft YaHei"/>
                        </a:rPr>
                        <a:t>Campaign</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Gemma</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.27±.02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.78±.02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.82±.02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.52±.02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8"/>
                  </a:ext>
                </a:extLst>
              </a:tr>
              <a:tr h="243320">
                <a:tc>
                  <a:txBody>
                    <a:bodyPr/>
                    <a:lstStyle/>
                    <a:p>
                      <a:pPr algn="l">
                        <a:buNone/>
                      </a:pPr>
                      <a:r>
                        <a:rPr sz="1400" b="0">
                          <a:solidFill>
                            <a:srgbClr val="26282D"/>
                          </a:solidFill>
                          <a:latin typeface="Microsoft YaHei"/>
                          <a:ea typeface="Microsoft YaHei"/>
                          <a:cs typeface="Microsoft YaHei"/>
                        </a:rPr>
                        <a:t>Campaign</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Gemma-2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.28±.01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.75±.02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.89±.02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400" b="0">
                          <a:solidFill>
                            <a:srgbClr val="26282D"/>
                          </a:solidFill>
                          <a:latin typeface="Microsoft YaHei"/>
                          <a:ea typeface="Microsoft YaHei"/>
                          <a:cs typeface="Microsoft YaHei"/>
                        </a:rPr>
                        <a:t>.53±.02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9"/>
                  </a:ext>
                </a:extLst>
              </a:tr>
              <a:tr h="243320">
                <a:tc>
                  <a:txBody>
                    <a:bodyPr/>
                    <a:lstStyle/>
                    <a:p>
                      <a:pPr algn="l">
                        <a:buNone/>
                      </a:pPr>
                      <a:r>
                        <a:rPr sz="1400" b="0">
                          <a:solidFill>
                            <a:srgbClr val="26282D"/>
                          </a:solidFill>
                          <a:latin typeface="Microsoft YaHei"/>
                          <a:ea typeface="Microsoft YaHei"/>
                          <a:cs typeface="Microsoft YaHei"/>
                        </a:rPr>
                        <a:t>Campaign</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Phi-4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.67±.02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.86±.01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.91±.02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400" b="0">
                          <a:solidFill>
                            <a:srgbClr val="26282D"/>
                          </a:solidFill>
                          <a:latin typeface="Microsoft YaHei"/>
                          <a:ea typeface="Microsoft YaHei"/>
                          <a:cs typeface="Microsoft YaHei"/>
                        </a:rPr>
                        <a:t>.92±.02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10"/>
                  </a:ext>
                </a:extLst>
              </a:tr>
            </a:tbl>
          </a:graphicData>
        </a:graphic>
      </p:graphicFrame>
      <p:sp>
        <p:nvSpPr>
          <p:cNvPr id="6" name="evidence-text-132">
            <a:extLst>
              <a:ext uri="{FF2B5EF4-FFF2-40B4-BE49-F238E27FC236}">
                <a16:creationId xmlns:a16="http://schemas.microsoft.com/office/drawing/2014/main" id="{FBBA8D66-25D0-4532-A34E-C9244A2B9F7D}"/>
              </a:ext>
            </a:extLst>
          </p:cNvPr>
          <p:cNvSpPr>
            <a:spLocks noGrp="1"/>
          </p:cNvSpPr>
          <p:nvPr/>
        </p:nvSpPr>
        <p:spPr>
          <a:xfrm>
            <a:off x="685800" y="4752975"/>
            <a:ext cx="10820400" cy="209550"/>
          </a:xfrm>
          <a:prstGeom prst="rect">
            <a:avLst/>
          </a:prstGeom>
          <a:noFill/>
          <a:ln w="0">
            <a:noFill/>
          </a:ln>
        </p:spPr>
        <p:txBody>
          <a:bodyPr wrap="square" lIns="0" tIns="0" rIns="0" bIns="0" anchor="t">
            <a:noAutofit/>
          </a:bodyPr>
          <a:lstStyle>
            <a:defPPr algn="l">
              <a:defRPr sz="1100" b="0">
                <a:solidFill>
                  <a:srgbClr val="26282D"/>
                </a:solidFill>
                <a:latin typeface="Microsoft YaHei"/>
                <a:ea typeface="Microsoft YaHei"/>
                <a:cs typeface="Microsoft YaHei"/>
              </a:defRPr>
            </a:defPPr>
          </a:lstStyle>
          <a:p>
            <a:pPr algn="l">
              <a:buNone/>
              <a:defRPr sz="1100" b="0">
                <a:solidFill>
                  <a:srgbClr val="26282D"/>
                </a:solidFill>
                <a:latin typeface="Microsoft YaHei"/>
                <a:ea typeface="Microsoft YaHei"/>
                <a:cs typeface="Microsoft YaHei"/>
              </a:defRPr>
            </a:pPr>
            <a:r>
              <a:rPr sz="1100" b="0" dirty="0">
                <a:solidFill>
                  <a:srgbClr val="26282D"/>
                </a:solidFill>
                <a:latin typeface="Microsoft YaHei"/>
                <a:ea typeface="Microsoft YaHei"/>
                <a:cs typeface="Microsoft YaHei"/>
              </a:rPr>
              <a:t>Binary </a:t>
            </a:r>
            <a:r>
              <a:rPr sz="1100" b="0" dirty="0" err="1">
                <a:solidFill>
                  <a:srgbClr val="26282D"/>
                </a:solidFill>
                <a:latin typeface="Microsoft YaHei"/>
                <a:ea typeface="Microsoft YaHei"/>
                <a:cs typeface="Microsoft YaHei"/>
              </a:rPr>
              <a:t>为恶意性二分类，Campaign</a:t>
            </a:r>
            <a:r>
              <a:rPr sz="1100" b="0" dirty="0">
                <a:solidFill>
                  <a:srgbClr val="26282D"/>
                </a:solidFill>
                <a:latin typeface="Microsoft YaHei"/>
                <a:ea typeface="Microsoft YaHei"/>
                <a:cs typeface="Microsoft YaHei"/>
              </a:rPr>
              <a:t> </a:t>
            </a:r>
            <a:r>
              <a:rPr sz="1100" b="0" dirty="0" err="1">
                <a:solidFill>
                  <a:srgbClr val="26282D"/>
                </a:solidFill>
                <a:latin typeface="Microsoft YaHei"/>
                <a:ea typeface="Microsoft YaHei"/>
                <a:cs typeface="Microsoft YaHei"/>
              </a:rPr>
              <a:t>为四类活动分类</a:t>
            </a:r>
            <a:r>
              <a:rPr sz="1100" b="0" dirty="0">
                <a:solidFill>
                  <a:srgbClr val="26282D"/>
                </a:solidFill>
                <a:latin typeface="Microsoft YaHei"/>
                <a:ea typeface="Microsoft YaHei"/>
                <a:cs typeface="Microsoft YaHei"/>
              </a:rPr>
              <a:t>。</a:t>
            </a:r>
          </a:p>
        </p:txBody>
      </p:sp>
      <p:pic>
        <p:nvPicPr>
          <p:cNvPr id="7"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8"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24/33</a:t>
            </a:r>
          </a:p>
        </p:txBody>
      </p:sp>
      <p:sp>
        <p:nvSpPr>
          <p:cNvPr id="9" name="added-text"/>
          <p:cNvSpPr txBox="1"/>
          <p:nvPr/>
        </p:nvSpPr>
        <p:spPr>
          <a:xfrm>
            <a:off x="685800" y="5010150"/>
            <a:ext cx="10820400" cy="1447800"/>
          </a:xfrm>
          <a:prstGeom prst="roundRect">
            <a:avLst/>
          </a:prstGeom>
          <a:solidFill>
            <a:srgbClr val="FFFFFF"/>
          </a:solidFill>
          <a:ln w="19050">
            <a:solidFill>
              <a:srgbClr val="A52A36"/>
            </a:solidFill>
          </a:ln>
        </p:spPr>
      </p:sp>
      <p:sp>
        <p:nvSpPr>
          <p:cNvPr id="10" name="added-text"/>
          <p:cNvSpPr txBox="1"/>
          <p:nvPr/>
        </p:nvSpPr>
        <p:spPr>
          <a:xfrm>
            <a:off x="876300" y="508635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实验目的</a:t>
            </a:r>
          </a:p>
        </p:txBody>
      </p:sp>
      <p:sp>
        <p:nvSpPr>
          <p:cNvPr id="11" name="added-text"/>
          <p:cNvSpPr txBox="1"/>
          <p:nvPr/>
        </p:nvSpPr>
        <p:spPr>
          <a:xfrm>
            <a:off x="876300" y="5353050"/>
            <a:ext cx="10287000" cy="276225"/>
          </a:xfrm>
          <a:prstGeom prst="rect">
            <a:avLst/>
          </a:prstGeom>
          <a:noFill/>
        </p:spPr>
        <p:txBody>
          <a:bodyPr wrap="square" lIns="0" tIns="0" rIns="0" bIns="0"/>
          <a:lstStyle/>
          <a:p>
            <a:r>
              <a:rPr lang="zh-CN" sz="1700" b="0" dirty="0">
                <a:solidFill>
                  <a:srgbClr val="26292E"/>
                </a:solidFill>
                <a:latin typeface="Microsoft YaHei"/>
                <a:ea typeface="Microsoft YaHei"/>
              </a:rPr>
              <a:t>检验提示中的带标签示例数量如何影响 LLM 分类效果。</a:t>
            </a:r>
          </a:p>
        </p:txBody>
      </p:sp>
      <p:sp>
        <p:nvSpPr>
          <p:cNvPr id="12" name="added-text"/>
          <p:cNvSpPr txBox="1"/>
          <p:nvPr/>
        </p:nvSpPr>
        <p:spPr>
          <a:xfrm>
            <a:off x="876300" y="563880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实验结论</a:t>
            </a:r>
          </a:p>
        </p:txBody>
      </p:sp>
      <p:sp>
        <p:nvSpPr>
          <p:cNvPr id="13" name="added-text"/>
          <p:cNvSpPr txBox="1"/>
          <p:nvPr/>
        </p:nvSpPr>
        <p:spPr>
          <a:xfrm>
            <a:off x="876300" y="5905500"/>
            <a:ext cx="10287000" cy="504825"/>
          </a:xfrm>
          <a:prstGeom prst="rect">
            <a:avLst/>
          </a:prstGeom>
          <a:noFill/>
        </p:spPr>
        <p:txBody>
          <a:bodyPr wrap="square" lIns="0" tIns="0" rIns="0" bIns="0"/>
          <a:lstStyle/>
          <a:p>
            <a:r>
              <a:rPr lang="zh-CN" altLang="en-US" sz="1700" dirty="0">
                <a:solidFill>
                  <a:srgbClr val="26292E"/>
                </a:solidFill>
                <a:latin typeface="Microsoft YaHei"/>
                <a:ea typeface="Microsoft YaHei"/>
              </a:rPr>
              <a:t>增加示例</a:t>
            </a:r>
            <a:r>
              <a:rPr lang="zh-CN" sz="1650" b="1" dirty="0">
                <a:solidFill>
                  <a:srgbClr val="A52A36"/>
                </a:solidFill>
                <a:latin typeface="Microsoft YaHei"/>
                <a:ea typeface="Microsoft YaHei"/>
              </a:rPr>
              <a:t>并不保证</a:t>
            </a:r>
            <a:r>
              <a:rPr lang="en-US" altLang="zh-CN" sz="1700" dirty="0">
                <a:solidFill>
                  <a:srgbClr val="26292E"/>
                </a:solidFill>
                <a:latin typeface="Microsoft YaHei"/>
                <a:ea typeface="Microsoft YaHei"/>
              </a:rPr>
              <a:t>LLM</a:t>
            </a:r>
            <a:r>
              <a:rPr lang="zh-CN" altLang="en-US" sz="1700" dirty="0">
                <a:solidFill>
                  <a:srgbClr val="26292E"/>
                </a:solidFill>
                <a:latin typeface="Microsoft YaHei"/>
                <a:ea typeface="Microsoft YaHei"/>
              </a:rPr>
              <a:t>准确率持续提升；</a:t>
            </a:r>
            <a:r>
              <a:rPr lang="zh-CN" sz="1650" b="1" dirty="0">
                <a:solidFill>
                  <a:srgbClr val="A52A36"/>
                </a:solidFill>
                <a:latin typeface="Microsoft YaHei"/>
                <a:ea typeface="Microsoft YaHei"/>
              </a:rPr>
              <a:t>Gemma-2 </a:t>
            </a:r>
            <a:r>
              <a:rPr lang="zh-CN" altLang="en-US" sz="1700" dirty="0">
                <a:solidFill>
                  <a:srgbClr val="26292E"/>
                </a:solidFill>
                <a:latin typeface="Microsoft YaHei"/>
                <a:ea typeface="Microsoft YaHei"/>
              </a:rPr>
              <a:t>四分类 </a:t>
            </a:r>
            <a:r>
              <a:rPr lang="en-US" altLang="zh-CN" sz="1700" dirty="0">
                <a:solidFill>
                  <a:srgbClr val="26292E"/>
                </a:solidFill>
                <a:latin typeface="Microsoft YaHei"/>
                <a:ea typeface="Microsoft YaHei"/>
              </a:rPr>
              <a:t>F1 </a:t>
            </a:r>
            <a:r>
              <a:rPr lang="zh-CN" altLang="en-US" sz="1700" dirty="0">
                <a:solidFill>
                  <a:srgbClr val="26292E"/>
                </a:solidFill>
                <a:latin typeface="Microsoft YaHei"/>
                <a:ea typeface="Microsoft YaHei"/>
              </a:rPr>
              <a:t>从 </a:t>
            </a:r>
            <a:r>
              <a:rPr lang="en-US" altLang="zh-CN" sz="1700" dirty="0">
                <a:solidFill>
                  <a:srgbClr val="26292E"/>
                </a:solidFill>
                <a:latin typeface="Microsoft YaHei"/>
                <a:ea typeface="Microsoft YaHei"/>
              </a:rPr>
              <a:t>3-shot </a:t>
            </a:r>
            <a:r>
              <a:rPr lang="zh-CN" altLang="en-US" sz="1700" dirty="0">
                <a:solidFill>
                  <a:srgbClr val="26292E"/>
                </a:solidFill>
                <a:latin typeface="Microsoft YaHei"/>
                <a:ea typeface="Microsoft YaHei"/>
              </a:rPr>
              <a:t>的 </a:t>
            </a:r>
            <a:r>
              <a:rPr lang="en-US" altLang="zh-CN" sz="1700" dirty="0">
                <a:solidFill>
                  <a:srgbClr val="26292E"/>
                </a:solidFill>
                <a:latin typeface="Microsoft YaHei"/>
                <a:ea typeface="Microsoft YaHei"/>
              </a:rPr>
              <a:t>0.89</a:t>
            </a:r>
          </a:p>
          <a:p>
            <a:r>
              <a:rPr lang="zh-CN" altLang="en-US" sz="1700" dirty="0">
                <a:solidFill>
                  <a:srgbClr val="26292E"/>
                </a:solidFill>
                <a:latin typeface="Microsoft YaHei"/>
                <a:ea typeface="Microsoft YaHei"/>
              </a:rPr>
              <a:t>降至 </a:t>
            </a:r>
            <a:r>
              <a:rPr lang="en-US" altLang="zh-CN" sz="1700" dirty="0">
                <a:solidFill>
                  <a:srgbClr val="26292E"/>
                </a:solidFill>
                <a:latin typeface="Microsoft YaHei"/>
                <a:ea typeface="Microsoft YaHei"/>
              </a:rPr>
              <a:t>5-shot </a:t>
            </a:r>
            <a:r>
              <a:rPr lang="zh-CN" altLang="en-US" sz="1700" dirty="0">
                <a:solidFill>
                  <a:srgbClr val="26292E"/>
                </a:solidFill>
                <a:latin typeface="Microsoft YaHei"/>
                <a:ea typeface="Microsoft YaHei"/>
              </a:rPr>
              <a:t>的 </a:t>
            </a:r>
            <a:r>
              <a:rPr lang="en-US" altLang="zh-CN" sz="1700" dirty="0">
                <a:solidFill>
                  <a:srgbClr val="26292E"/>
                </a:solidFill>
                <a:latin typeface="Microsoft YaHei"/>
                <a:ea typeface="Microsoft YaHei"/>
              </a:rPr>
              <a:t>0.53</a:t>
            </a:r>
            <a:r>
              <a:rPr lang="zh-CN" altLang="en-US" sz="1700" dirty="0">
                <a:solidFill>
                  <a:srgbClr val="26292E"/>
                </a:solidFill>
                <a:latin typeface="Microsoft YaHei"/>
                <a:ea typeface="Microsoft YaHei"/>
              </a:rPr>
              <a:t>。</a:t>
            </a:r>
            <a:endParaRPr lang="zh-CN" sz="1650" b="1" dirty="0">
              <a:solidFill>
                <a:srgbClr val="A52A36"/>
              </a:solidFill>
              <a:latin typeface="Microsoft YaHei"/>
              <a:ea typeface="Microsoft YaHei"/>
            </a:endParaRPr>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实验</a:t>
            </a:r>
            <a:r>
              <a:rPr lang="zh-CN" altLang="en-US" sz="3300" b="1" dirty="0">
                <a:solidFill>
                  <a:srgbClr val="A52A36"/>
                </a:solidFill>
                <a:latin typeface="Microsoft YaHei"/>
                <a:ea typeface="Microsoft YaHei"/>
              </a:rPr>
              <a:t>二：</a:t>
            </a:r>
            <a:r>
              <a:rPr sz="3300" b="1" dirty="0" err="1">
                <a:solidFill>
                  <a:srgbClr val="A52A36"/>
                </a:solidFill>
                <a:latin typeface="Microsoft YaHei"/>
                <a:ea typeface="Microsoft YaHei"/>
              </a:rPr>
              <a:t>特征消融</a:t>
            </a:r>
            <a:r>
              <a:rPr lang="zh-CN" altLang="en-US" sz="3300" b="1" dirty="0">
                <a:solidFill>
                  <a:srgbClr val="A52A36"/>
                </a:solidFill>
                <a:latin typeface="Microsoft YaHei"/>
                <a:ea typeface="Microsoft YaHei"/>
              </a:rPr>
              <a:t>实验</a:t>
            </a:r>
            <a:endParaRPr sz="3300" b="1" dirty="0">
              <a:solidFill>
                <a:srgbClr val="A52A36"/>
              </a:solidFill>
              <a:latin typeface="Microsoft YaHei"/>
              <a:ea typeface="Microsoft YaHei"/>
            </a:endParaRPr>
          </a:p>
        </p:txBody>
      </p:sp>
      <p:sp>
        <p:nvSpPr>
          <p:cNvPr id="4" name="section-text-2">
            <a:extLst>
              <a:ext uri="{FF2B5EF4-FFF2-40B4-BE49-F238E27FC236}">
                <a16:creationId xmlns:a16="http://schemas.microsoft.com/office/drawing/2014/main" id="{889E0A82-08F3-4682-BE22-E790069D46A6}"/>
              </a:ext>
            </a:extLst>
          </p:cNvPr>
          <p:cNvSpPr>
            <a:spLocks noGrp="1"/>
          </p:cNvSpPr>
          <p:nvPr/>
        </p:nvSpPr>
        <p:spPr>
          <a:xfrm>
            <a:off x="685800" y="1423988"/>
            <a:ext cx="10820400" cy="38100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defRPr sz="2100" b="1">
                <a:solidFill>
                  <a:srgbClr val="9F2934"/>
                </a:solidFill>
                <a:latin typeface="Microsoft YaHei"/>
                <a:ea typeface="Microsoft YaHei"/>
                <a:cs typeface="Microsoft YaHei"/>
              </a:defRPr>
            </a:pPr>
            <a:r>
              <a:rPr sz="2100" b="1" dirty="0" err="1">
                <a:solidFill>
                  <a:srgbClr val="9F2934"/>
                </a:solidFill>
                <a:latin typeface="Microsoft YaHei"/>
                <a:ea typeface="Microsoft YaHei"/>
                <a:cs typeface="Microsoft YaHei"/>
              </a:rPr>
              <a:t>研究目标：识别哪些输入信息支撑</a:t>
            </a:r>
            <a:r>
              <a:rPr sz="2100" b="1" dirty="0">
                <a:solidFill>
                  <a:srgbClr val="9F2934"/>
                </a:solidFill>
                <a:latin typeface="Microsoft YaHei"/>
                <a:ea typeface="Microsoft YaHei"/>
                <a:cs typeface="Microsoft YaHei"/>
              </a:rPr>
              <a:t> </a:t>
            </a:r>
            <a:r>
              <a:rPr sz="2100" b="1" dirty="0" err="1">
                <a:solidFill>
                  <a:srgbClr val="9F2934"/>
                </a:solidFill>
                <a:latin typeface="Microsoft YaHei"/>
                <a:ea typeface="Microsoft YaHei"/>
                <a:cs typeface="Microsoft YaHei"/>
              </a:rPr>
              <a:t>XGBoost</a:t>
            </a:r>
            <a:r>
              <a:rPr sz="2100" b="1" dirty="0">
                <a:solidFill>
                  <a:srgbClr val="9F2934"/>
                </a:solidFill>
                <a:latin typeface="Microsoft YaHei"/>
                <a:ea typeface="Microsoft YaHei"/>
                <a:cs typeface="Microsoft YaHei"/>
              </a:rPr>
              <a:t> </a:t>
            </a:r>
            <a:r>
              <a:rPr sz="2100" b="1" dirty="0" err="1">
                <a:solidFill>
                  <a:srgbClr val="9F2934"/>
                </a:solidFill>
                <a:latin typeface="Microsoft YaHei"/>
                <a:ea typeface="Microsoft YaHei"/>
                <a:cs typeface="Microsoft YaHei"/>
              </a:rPr>
              <a:t>的检测表现</a:t>
            </a:r>
            <a:endParaRPr sz="2100" b="1" dirty="0">
              <a:solidFill>
                <a:srgbClr val="9F2934"/>
              </a:solidFill>
              <a:latin typeface="Microsoft YaHei"/>
              <a:ea typeface="Microsoft YaHei"/>
              <a:cs typeface="Microsoft YaHei"/>
            </a:endParaRPr>
          </a:p>
        </p:txBody>
      </p:sp>
      <p:sp>
        <p:nvSpPr>
          <p:cNvPr id="5" name="section-text-3">
            <a:extLst>
              <a:ext uri="{FF2B5EF4-FFF2-40B4-BE49-F238E27FC236}">
                <a16:creationId xmlns:a16="http://schemas.microsoft.com/office/drawing/2014/main" id="{8E5B62D8-F456-4586-9C92-15FB7A207017}"/>
              </a:ext>
            </a:extLst>
          </p:cNvPr>
          <p:cNvSpPr>
            <a:spLocks noGrp="1"/>
          </p:cNvSpPr>
          <p:nvPr/>
        </p:nvSpPr>
        <p:spPr>
          <a:xfrm>
            <a:off x="685800" y="2314575"/>
            <a:ext cx="10820400" cy="40005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保持一致的部分</a:t>
            </a:r>
          </a:p>
        </p:txBody>
      </p:sp>
      <p:sp>
        <p:nvSpPr>
          <p:cNvPr id="6" name="section-box-4">
            <a:extLst>
              <a:ext uri="{FF2B5EF4-FFF2-40B4-BE49-F238E27FC236}">
                <a16:creationId xmlns:a16="http://schemas.microsoft.com/office/drawing/2014/main" id="{5CD59F04-D546-4258-9883-16E6E048C9E0}"/>
              </a:ext>
            </a:extLst>
          </p:cNvPr>
          <p:cNvSpPr>
            <a:spLocks noGrp="1"/>
          </p:cNvSpPr>
          <p:nvPr/>
        </p:nvSpPr>
        <p:spPr>
          <a:xfrm>
            <a:off x="685800" y="2752725"/>
            <a:ext cx="10820400" cy="895350"/>
          </a:xfrm>
          <a:prstGeom prst="rect">
            <a:avLst/>
          </a:prstGeom>
          <a:noFill/>
          <a:ln w="12383">
            <a:solidFill>
              <a:srgbClr val="9F2934"/>
            </a:solidFill>
            <a:prstDash val="solid"/>
          </a:ln>
        </p:spPr>
      </p:sp>
      <p:sp>
        <p:nvSpPr>
          <p:cNvPr id="7" name="section-text-5">
            <a:extLst>
              <a:ext uri="{FF2B5EF4-FFF2-40B4-BE49-F238E27FC236}">
                <a16:creationId xmlns:a16="http://schemas.microsoft.com/office/drawing/2014/main" id="{FA52A7C5-1C8E-4EF0-A747-75F6C866A604}"/>
              </a:ext>
            </a:extLst>
          </p:cNvPr>
          <p:cNvSpPr>
            <a:spLocks noGrp="1"/>
          </p:cNvSpPr>
          <p:nvPr/>
        </p:nvSpPr>
        <p:spPr>
          <a:xfrm>
            <a:off x="857250" y="2905125"/>
            <a:ext cx="10477500" cy="6953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分类器固定为</a:t>
            </a:r>
            <a:r>
              <a:rPr sz="1875" b="0" dirty="0">
                <a:solidFill>
                  <a:srgbClr val="26282D"/>
                </a:solidFill>
                <a:latin typeface="Microsoft YaHei"/>
                <a:ea typeface="Microsoft YaHei"/>
                <a:cs typeface="Microsoft YaHei"/>
              </a:rPr>
              <a:t> </a:t>
            </a:r>
            <a:r>
              <a:rPr sz="1875" b="0" dirty="0" err="1">
                <a:solidFill>
                  <a:srgbClr val="26282D"/>
                </a:solidFill>
                <a:latin typeface="Microsoft YaHei"/>
                <a:ea typeface="Microsoft YaHei"/>
                <a:cs typeface="Microsoft YaHei"/>
              </a:rPr>
              <a:t>XGBoost，分别评价恶意代理检测与四</a:t>
            </a:r>
            <a:r>
              <a:rPr lang="zh-CN" altLang="en-US" sz="1875" b="0" dirty="0">
                <a:solidFill>
                  <a:srgbClr val="26282D"/>
                </a:solidFill>
                <a:latin typeface="Microsoft YaHei"/>
                <a:ea typeface="Microsoft YaHei"/>
                <a:cs typeface="Microsoft YaHei"/>
              </a:rPr>
              <a:t>种</a:t>
            </a:r>
            <a:r>
              <a:rPr sz="1875" b="0" dirty="0" err="1">
                <a:solidFill>
                  <a:srgbClr val="26282D"/>
                </a:solidFill>
                <a:latin typeface="Microsoft YaHei"/>
                <a:ea typeface="Microsoft YaHei"/>
                <a:cs typeface="Microsoft YaHei"/>
              </a:rPr>
              <a:t>活动分类</a:t>
            </a:r>
            <a:r>
              <a:rPr sz="1875" b="0" dirty="0">
                <a:solidFill>
                  <a:srgbClr val="26282D"/>
                </a:solidFill>
                <a:latin typeface="Microsoft YaHei"/>
                <a:ea typeface="Microsoft YaHei"/>
                <a:cs typeface="Microsoft YaHei"/>
              </a:rPr>
              <a:t>。</a:t>
            </a:r>
          </a:p>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沿用前述训练与测试框架，比较</a:t>
            </a:r>
            <a:r>
              <a:rPr sz="1875" b="0" dirty="0">
                <a:solidFill>
                  <a:srgbClr val="26282D"/>
                </a:solidFill>
                <a:latin typeface="Microsoft YaHei"/>
                <a:ea typeface="Microsoft YaHei"/>
                <a:cs typeface="Microsoft YaHei"/>
              </a:rPr>
              <a:t> F1-score、Recall 和 MCC。</a:t>
            </a:r>
          </a:p>
        </p:txBody>
      </p:sp>
      <p:sp>
        <p:nvSpPr>
          <p:cNvPr id="8" name="section-text-6">
            <a:extLst>
              <a:ext uri="{FF2B5EF4-FFF2-40B4-BE49-F238E27FC236}">
                <a16:creationId xmlns:a16="http://schemas.microsoft.com/office/drawing/2014/main" id="{FD204218-6063-4371-B667-2643B6FFB3EA}"/>
              </a:ext>
            </a:extLst>
          </p:cNvPr>
          <p:cNvSpPr>
            <a:spLocks noGrp="1"/>
          </p:cNvSpPr>
          <p:nvPr/>
        </p:nvSpPr>
        <p:spPr>
          <a:xfrm>
            <a:off x="685800" y="3876675"/>
            <a:ext cx="10820400" cy="38100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累计删除特征的四组设置</a:t>
            </a:r>
          </a:p>
        </p:txBody>
      </p:sp>
      <p:graphicFrame>
        <p:nvGraphicFramePr>
          <p:cNvPr id="9" name="表格 24">
            <a:extLst>
              <a:ext uri="{FF2B5EF4-FFF2-40B4-BE49-F238E27FC236}">
                <a16:creationId xmlns:a16="http://schemas.microsoft.com/office/drawing/2014/main" id="{E737CAE2-6781-4578-B6A0-D2346498D0D8}"/>
              </a:ext>
            </a:extLst>
          </p:cNvPr>
          <p:cNvGraphicFramePr/>
          <p:nvPr/>
        </p:nvGraphicFramePr>
        <p:xfrm>
          <a:off x="685800" y="4343400"/>
          <a:ext cx="10820400" cy="1943100"/>
        </p:xfrm>
        <a:graphic>
          <a:graphicData uri="http://schemas.openxmlformats.org/drawingml/2006/table">
            <a:tbl>
              <a:tblPr/>
              <a:tblGrid>
                <a:gridCol w="3371850">
                  <a:extLst>
                    <a:ext uri="{9D8B030D-6E8A-4147-A177-3AD203B41FA5}">
                      <a16:colId xmlns:a16="http://schemas.microsoft.com/office/drawing/2014/main" val="20000"/>
                    </a:ext>
                  </a:extLst>
                </a:gridCol>
                <a:gridCol w="7448550">
                  <a:extLst>
                    <a:ext uri="{9D8B030D-6E8A-4147-A177-3AD203B41FA5}">
                      <a16:colId xmlns:a16="http://schemas.microsoft.com/office/drawing/2014/main" val="20001"/>
                    </a:ext>
                  </a:extLst>
                </a:gridCol>
              </a:tblGrid>
              <a:tr h="388620">
                <a:tc>
                  <a:txBody>
                    <a:bodyPr/>
                    <a:lstStyle/>
                    <a:p>
                      <a:pPr algn="l"/>
                      <a:r>
                        <a:rPr sz="1725" b="1">
                          <a:solidFill>
                            <a:srgbClr val="FFFFFF"/>
                          </a:solidFill>
                          <a:latin typeface="Microsoft YaHei"/>
                          <a:ea typeface="Microsoft YaHei"/>
                          <a:cs typeface="Microsoft YaHei"/>
                        </a:rPr>
                        <a:t>设置</a:t>
                      </a:r>
                    </a:p>
                  </a:txBody>
                  <a:tcPr marL="133350" marR="114300" marT="19050" marB="1905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r>
                        <a:rPr sz="1725" b="1">
                          <a:solidFill>
                            <a:srgbClr val="FFFFFF"/>
                          </a:solidFill>
                          <a:latin typeface="Microsoft YaHei"/>
                          <a:ea typeface="Microsoft YaHei"/>
                          <a:cs typeface="Microsoft YaHei"/>
                        </a:rPr>
                        <a:t>保留的信息</a:t>
                      </a:r>
                    </a:p>
                  </a:txBody>
                  <a:tcPr marL="133350" marR="114300" marT="19050" marB="19050" anchor="ctr">
                    <a:lnL w="6668" cap="flat" cmpd="sng" algn="ctr">
                      <a:solidFill>
                        <a:srgbClr val="D6DADB"/>
                      </a:solidFill>
                      <a:prstDash val="solid"/>
                      <a:round/>
                      <a:headEnd type="none" w="med" len="med"/>
                      <a:tailEnd type="none" w="med" len="me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388620">
                <a:tc>
                  <a:txBody>
                    <a:bodyPr/>
                    <a:lstStyle/>
                    <a:p>
                      <a:pPr algn="l"/>
                      <a:r>
                        <a:rPr sz="1725" b="0">
                          <a:solidFill>
                            <a:srgbClr val="26282D"/>
                          </a:solidFill>
                          <a:latin typeface="Microsoft YaHei"/>
                          <a:ea typeface="Microsoft YaHei"/>
                          <a:cs typeface="Microsoft YaHei"/>
                        </a:rPr>
                        <a:t>完整特征</a:t>
                      </a:r>
                    </a:p>
                  </a:txBody>
                  <a:tcPr marL="133350" marR="114300" marT="19050" marB="19050" anchor="ctr">
                    <a:lnL w="6668">
                      <a:solidFill>
                        <a:srgbClr val="D6DADB"/>
                      </a:solidFill>
                      <a:prstDash val="soli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FFFFF"/>
                    </a:solidFill>
                  </a:tcPr>
                </a:tc>
                <a:tc>
                  <a:txBody>
                    <a:bodyPr/>
                    <a:lstStyle/>
                    <a:p>
                      <a:pPr algn="l"/>
                      <a:r>
                        <a:rPr sz="1725" b="0">
                          <a:solidFill>
                            <a:srgbClr val="26282D"/>
                          </a:solidFill>
                          <a:latin typeface="Microsoft YaHei"/>
                          <a:ea typeface="Microsoft YaHei"/>
                          <a:cs typeface="Microsoft YaHei"/>
                        </a:rPr>
                        <a:t>数值 + 布尔 + 类别 + 文本</a:t>
                      </a:r>
                    </a:p>
                  </a:txBody>
                  <a:tcPr marL="133350" marR="114300" marT="19050" marB="19050" anchor="ctr">
                    <a:lnL w="6668" cap="flat" cmpd="sng" algn="ctr">
                      <a:solidFill>
                        <a:srgbClr val="D6DADB"/>
                      </a:solidFill>
                      <a:prstDash val="solid"/>
                      <a:round/>
                      <a:headEnd type="none" w="med" len="med"/>
                      <a:tailEnd type="none" w="med" len="me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FFFFF"/>
                    </a:solidFill>
                  </a:tcPr>
                </a:tc>
                <a:extLst>
                  <a:ext uri="{0D108BD9-81ED-4DB2-BD59-A6C34878D82A}">
                    <a16:rowId xmlns:a16="http://schemas.microsoft.com/office/drawing/2014/main" val="10001"/>
                  </a:ext>
                </a:extLst>
              </a:tr>
              <a:tr h="388620">
                <a:tc>
                  <a:txBody>
                    <a:bodyPr/>
                    <a:lstStyle/>
                    <a:p>
                      <a:pPr algn="l"/>
                      <a:r>
                        <a:rPr sz="1725" b="0">
                          <a:solidFill>
                            <a:srgbClr val="26282D"/>
                          </a:solidFill>
                          <a:latin typeface="Microsoft YaHei"/>
                          <a:ea typeface="Microsoft YaHei"/>
                          <a:cs typeface="Microsoft YaHei"/>
                        </a:rPr>
                        <a:t>去除文本特征</a:t>
                      </a:r>
                    </a:p>
                  </a:txBody>
                  <a:tcPr marL="133350" marR="114300" marT="19050" marB="19050" anchor="ctr">
                    <a:lnL w="6668">
                      <a:solidFill>
                        <a:srgbClr val="D6DADB"/>
                      </a:solidFill>
                      <a:prstDash val="soli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7EAEB"/>
                    </a:solidFill>
                  </a:tcPr>
                </a:tc>
                <a:tc>
                  <a:txBody>
                    <a:bodyPr/>
                    <a:lstStyle/>
                    <a:p>
                      <a:pPr algn="l"/>
                      <a:r>
                        <a:rPr sz="1725" b="0">
                          <a:solidFill>
                            <a:srgbClr val="26282D"/>
                          </a:solidFill>
                          <a:latin typeface="Microsoft YaHei"/>
                          <a:ea typeface="Microsoft YaHei"/>
                          <a:cs typeface="Microsoft YaHei"/>
                        </a:rPr>
                        <a:t>数值 + 布尔 + 类别</a:t>
                      </a:r>
                    </a:p>
                  </a:txBody>
                  <a:tcPr marL="133350" marR="114300" marT="19050" marB="19050" anchor="ctr">
                    <a:lnL w="6668" cap="flat" cmpd="sng" algn="ctr">
                      <a:solidFill>
                        <a:srgbClr val="D6DADB"/>
                      </a:solidFill>
                      <a:prstDash val="solid"/>
                      <a:round/>
                      <a:headEnd type="none" w="med" len="med"/>
                      <a:tailEnd type="none" w="med" len="me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7EAEB"/>
                    </a:solidFill>
                  </a:tcPr>
                </a:tc>
                <a:extLst>
                  <a:ext uri="{0D108BD9-81ED-4DB2-BD59-A6C34878D82A}">
                    <a16:rowId xmlns:a16="http://schemas.microsoft.com/office/drawing/2014/main" val="10002"/>
                  </a:ext>
                </a:extLst>
              </a:tr>
              <a:tr h="388620">
                <a:tc>
                  <a:txBody>
                    <a:bodyPr/>
                    <a:lstStyle/>
                    <a:p>
                      <a:pPr algn="l"/>
                      <a:r>
                        <a:rPr sz="1725" b="0">
                          <a:solidFill>
                            <a:srgbClr val="26282D"/>
                          </a:solidFill>
                          <a:latin typeface="Microsoft YaHei"/>
                          <a:ea typeface="Microsoft YaHei"/>
                          <a:cs typeface="Microsoft YaHei"/>
                        </a:rPr>
                        <a:t>去除文本与类别特征</a:t>
                      </a:r>
                    </a:p>
                  </a:txBody>
                  <a:tcPr marL="133350" marR="114300" marT="19050" marB="19050" anchor="ctr">
                    <a:lnL w="6668">
                      <a:solidFill>
                        <a:srgbClr val="D6DADB"/>
                      </a:solidFill>
                      <a:prstDash val="soli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FFFFF"/>
                    </a:solidFill>
                  </a:tcPr>
                </a:tc>
                <a:tc>
                  <a:txBody>
                    <a:bodyPr/>
                    <a:lstStyle/>
                    <a:p>
                      <a:pPr algn="l"/>
                      <a:r>
                        <a:rPr sz="1725" b="0">
                          <a:solidFill>
                            <a:srgbClr val="26282D"/>
                          </a:solidFill>
                          <a:latin typeface="Microsoft YaHei"/>
                          <a:ea typeface="Microsoft YaHei"/>
                          <a:cs typeface="Microsoft YaHei"/>
                        </a:rPr>
                        <a:t>数值 + 布尔</a:t>
                      </a:r>
                    </a:p>
                  </a:txBody>
                  <a:tcPr marL="133350" marR="114300" marT="19050" marB="19050" anchor="ctr">
                    <a:lnL w="6668" cap="flat" cmpd="sng" algn="ctr">
                      <a:solidFill>
                        <a:srgbClr val="D6DADB"/>
                      </a:solidFill>
                      <a:prstDash val="solid"/>
                      <a:round/>
                      <a:headEnd type="none" w="med" len="med"/>
                      <a:tailEnd type="none" w="med" len="me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FFFFF"/>
                    </a:solidFill>
                  </a:tcPr>
                </a:tc>
                <a:extLst>
                  <a:ext uri="{0D108BD9-81ED-4DB2-BD59-A6C34878D82A}">
                    <a16:rowId xmlns:a16="http://schemas.microsoft.com/office/drawing/2014/main" val="10003"/>
                  </a:ext>
                </a:extLst>
              </a:tr>
              <a:tr h="388620">
                <a:tc>
                  <a:txBody>
                    <a:bodyPr/>
                    <a:lstStyle/>
                    <a:p>
                      <a:pPr algn="l"/>
                      <a:r>
                        <a:rPr sz="1725" b="0">
                          <a:solidFill>
                            <a:srgbClr val="26282D"/>
                          </a:solidFill>
                          <a:latin typeface="Microsoft YaHei"/>
                          <a:ea typeface="Microsoft YaHei"/>
                          <a:cs typeface="Microsoft YaHei"/>
                        </a:rPr>
                        <a:t>仅保留数值特征</a:t>
                      </a:r>
                    </a:p>
                  </a:txBody>
                  <a:tcPr marL="133350" marR="114300" marT="19050" marB="19050" anchor="ctr">
                    <a:lnL w="6668">
                      <a:solidFill>
                        <a:srgbClr val="D6DADB"/>
                      </a:solidFill>
                      <a:prstDash val="soli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7EAEB"/>
                    </a:solidFill>
                  </a:tcPr>
                </a:tc>
                <a:tc>
                  <a:txBody>
                    <a:bodyPr/>
                    <a:lstStyle/>
                    <a:p>
                      <a:pPr algn="l"/>
                      <a:r>
                        <a:rPr sz="1725" b="0">
                          <a:solidFill>
                            <a:srgbClr val="26282D"/>
                          </a:solidFill>
                          <a:latin typeface="Microsoft YaHei"/>
                          <a:ea typeface="Microsoft YaHei"/>
                          <a:cs typeface="Microsoft YaHei"/>
                        </a:rPr>
                        <a:t>数值</a:t>
                      </a:r>
                    </a:p>
                  </a:txBody>
                  <a:tcPr marL="133350" marR="114300" marT="19050" marB="19050" anchor="ctr">
                    <a:lnL w="6668" cap="flat" cmpd="sng" algn="ctr">
                      <a:solidFill>
                        <a:srgbClr val="D6DADB"/>
                      </a:solidFill>
                      <a:prstDash val="solid"/>
                      <a:round/>
                      <a:headEnd type="none" w="med" len="med"/>
                      <a:tailEnd type="none" w="med" len="med"/>
                    </a:lnL>
                    <a:lnR w="6668">
                      <a:solidFill>
                        <a:srgbClr val="D6DADB"/>
                      </a:solidFill>
                      <a:prstDash val="solid"/>
                    </a:lnR>
                    <a:lnT w="6668" cap="flat" cmpd="sng" algn="ctr">
                      <a:solidFill>
                        <a:srgbClr val="D6DADB"/>
                      </a:solidFill>
                      <a:prstDash val="solid"/>
                      <a:round/>
                      <a:headEnd type="none" w="med" len="med"/>
                      <a:tailEnd type="none" w="med" len="med"/>
                    </a:lnT>
                    <a:lnB w="6668">
                      <a:solidFill>
                        <a:srgbClr val="D6DADB"/>
                      </a:solidFill>
                      <a:prstDash val="solid"/>
                    </a:lnB>
                    <a:solidFill>
                      <a:srgbClr val="F7EAEB"/>
                    </a:solidFill>
                  </a:tcPr>
                </a:tc>
                <a:extLst>
                  <a:ext uri="{0D108BD9-81ED-4DB2-BD59-A6C34878D82A}">
                    <a16:rowId xmlns:a16="http://schemas.microsoft.com/office/drawing/2014/main" val="10004"/>
                  </a:ext>
                </a:extLst>
              </a:tr>
            </a:tbl>
          </a:graphicData>
        </a:graphic>
      </p:graphicFrame>
      <p:sp>
        <p:nvSpPr>
          <p:cNvPr id="10" name="section-text-7">
            <a:extLst>
              <a:ext uri="{FF2B5EF4-FFF2-40B4-BE49-F238E27FC236}">
                <a16:creationId xmlns:a16="http://schemas.microsoft.com/office/drawing/2014/main" id="{E89B3BB1-76BF-454D-A40F-AAAF17BFA771}"/>
              </a:ext>
            </a:extLst>
          </p:cNvPr>
          <p:cNvSpPr>
            <a:spLocks noGrp="1"/>
          </p:cNvSpPr>
          <p:nvPr/>
        </p:nvSpPr>
        <p:spPr>
          <a:xfrm>
            <a:off x="685800" y="6496050"/>
            <a:ext cx="10820400" cy="257175"/>
          </a:xfrm>
          <a:prstGeom prst="rect">
            <a:avLst/>
          </a:prstGeom>
          <a:noFill/>
          <a:ln w="0">
            <a:noFill/>
          </a:ln>
        </p:spPr>
        <p:txBody>
          <a:bodyPr wrap="square" lIns="0" tIns="0" rIns="0" bIns="0" anchor="t">
            <a:noAutofit/>
          </a:bodyPr>
          <a:lstStyle>
            <a:defPPr algn="l">
              <a:defRPr sz="1350" b="0">
                <a:solidFill>
                  <a:srgbClr val="26282D"/>
                </a:solidFill>
                <a:latin typeface="Microsoft YaHei"/>
                <a:ea typeface="Microsoft YaHei"/>
                <a:cs typeface="Microsoft YaHei"/>
              </a:defRPr>
            </a:defPPr>
          </a:lstStyle>
          <a:p>
            <a:pPr algn="l">
              <a:defRPr sz="1350" b="0">
                <a:solidFill>
                  <a:srgbClr val="26282D"/>
                </a:solidFill>
                <a:latin typeface="Microsoft YaHei"/>
                <a:ea typeface="Microsoft YaHei"/>
                <a:cs typeface="Microsoft YaHei"/>
              </a:defRPr>
            </a:pPr>
            <a:r>
              <a:rPr sz="1350" b="0">
                <a:solidFill>
                  <a:srgbClr val="26282D"/>
                </a:solidFill>
                <a:latin typeface="Microsoft YaHei"/>
                <a:ea typeface="Microsoft YaHei"/>
                <a:cs typeface="Microsoft YaHei"/>
              </a:rPr>
              <a:t>原文章节：§V-E2 Feature Ablation Study（p.12），Table VII</a:t>
            </a:r>
          </a:p>
        </p:txBody>
      </p:sp>
      <p:pic>
        <p:nvPicPr>
          <p:cNvPr id="11"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2"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25/33</a:t>
            </a:r>
          </a:p>
        </p:txBody>
      </p:sp>
      <p:sp>
        <p:nvSpPr>
          <p:cNvPr id="13" name="矩形 12">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实验二：特征消融实验</a:t>
            </a:r>
          </a:p>
        </p:txBody>
      </p:sp>
      <p:graphicFrame>
        <p:nvGraphicFramePr>
          <p:cNvPr id="4" name="表格 19">
            <a:extLst>
              <a:ext uri="{FF2B5EF4-FFF2-40B4-BE49-F238E27FC236}">
                <a16:creationId xmlns:a16="http://schemas.microsoft.com/office/drawing/2014/main" id="{B0D9CBB6-E52E-4B61-957F-2FDB9058CE1B}"/>
              </a:ext>
            </a:extLst>
          </p:cNvPr>
          <p:cNvGraphicFramePr/>
          <p:nvPr>
            <p:extLst>
              <p:ext uri="{D42A27DB-BD31-4B8C-83A1-F6EECF244321}">
                <p14:modId xmlns:p14="http://schemas.microsoft.com/office/powerpoint/2010/main" val="2476882048"/>
              </p:ext>
            </p:extLst>
          </p:nvPr>
        </p:nvGraphicFramePr>
        <p:xfrm>
          <a:off x="685800" y="1809750"/>
          <a:ext cx="10820400" cy="2390775"/>
        </p:xfrm>
        <a:graphic>
          <a:graphicData uri="http://schemas.openxmlformats.org/drawingml/2006/table">
            <a:tbl>
              <a:tblPr/>
              <a:tblGrid>
                <a:gridCol w="238125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gridCol w="1409700">
                  <a:extLst>
                    <a:ext uri="{9D8B030D-6E8A-4147-A177-3AD203B41FA5}">
                      <a16:colId xmlns:a16="http://schemas.microsoft.com/office/drawing/2014/main" val="20002"/>
                    </a:ext>
                  </a:extLst>
                </a:gridCol>
                <a:gridCol w="1409700">
                  <a:extLst>
                    <a:ext uri="{9D8B030D-6E8A-4147-A177-3AD203B41FA5}">
                      <a16:colId xmlns:a16="http://schemas.microsoft.com/office/drawing/2014/main" val="20003"/>
                    </a:ext>
                  </a:extLst>
                </a:gridCol>
                <a:gridCol w="1409700">
                  <a:extLst>
                    <a:ext uri="{9D8B030D-6E8A-4147-A177-3AD203B41FA5}">
                      <a16:colId xmlns:a16="http://schemas.microsoft.com/office/drawing/2014/main" val="20004"/>
                    </a:ext>
                  </a:extLst>
                </a:gridCol>
                <a:gridCol w="1400175">
                  <a:extLst>
                    <a:ext uri="{9D8B030D-6E8A-4147-A177-3AD203B41FA5}">
                      <a16:colId xmlns:a16="http://schemas.microsoft.com/office/drawing/2014/main" val="20005"/>
                    </a:ext>
                  </a:extLst>
                </a:gridCol>
                <a:gridCol w="1400175">
                  <a:extLst>
                    <a:ext uri="{9D8B030D-6E8A-4147-A177-3AD203B41FA5}">
                      <a16:colId xmlns:a16="http://schemas.microsoft.com/office/drawing/2014/main" val="20006"/>
                    </a:ext>
                  </a:extLst>
                </a:gridCol>
              </a:tblGrid>
              <a:tr h="478155">
                <a:tc>
                  <a:txBody>
                    <a:bodyPr/>
                    <a:lstStyle/>
                    <a:p>
                      <a:pPr algn="l">
                        <a:buNone/>
                      </a:pPr>
                      <a:r>
                        <a:rPr sz="1500" b="1">
                          <a:solidFill>
                            <a:srgbClr val="FFFFFF"/>
                          </a:solidFill>
                          <a:latin typeface="Microsoft YaHei"/>
                          <a:ea typeface="Microsoft YaHei"/>
                          <a:cs typeface="Microsoft YaHei"/>
                        </a:rPr>
                        <a:t>特征设置</a:t>
                      </a:r>
                    </a:p>
                  </a:txBody>
                  <a:tcPr marL="114300" marR="95250" marT="9000" marB="9000" anchor="ctr">
                    <a:lnL w="6668">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Binary 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Campaign F1</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Recall</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tc>
                  <a:txBody>
                    <a:bodyPr/>
                    <a:lstStyle/>
                    <a:p>
                      <a:pPr algn="l">
                        <a:buNone/>
                      </a:pPr>
                      <a:r>
                        <a:rPr sz="1500" b="1">
                          <a:solidFill>
                            <a:srgbClr val="FFFFFF"/>
                          </a:solidFill>
                          <a:latin typeface="Microsoft YaHei"/>
                          <a:ea typeface="Microsoft YaHei"/>
                          <a:cs typeface="Microsoft YaHei"/>
                        </a:rPr>
                        <a:t>MCC</a:t>
                      </a:r>
                    </a:p>
                  </a:txBody>
                  <a:tcPr marL="114300" marR="95250" marT="9000" marB="9000" anchor="ctr">
                    <a:lnL w="6668" cmpd="sng">
                      <a:solidFill>
                        <a:srgbClr val="D6DADB"/>
                      </a:solidFill>
                      <a:prstDash val="solid"/>
                    </a:lnL>
                    <a:lnR w="6668">
                      <a:solidFill>
                        <a:srgbClr val="D6DADB"/>
                      </a:solidFill>
                      <a:prstDash val="solid"/>
                    </a:lnR>
                    <a:lnT w="6668">
                      <a:solidFill>
                        <a:srgbClr val="D6DADB"/>
                      </a:solidFill>
                      <a:prstDash val="solid"/>
                    </a:lnT>
                    <a:lnB w="6668">
                      <a:solidFill>
                        <a:srgbClr val="D6DADB"/>
                      </a:solidFill>
                      <a:prstDash val="solid"/>
                    </a:lnB>
                    <a:solidFill>
                      <a:srgbClr val="9F2934"/>
                    </a:solidFill>
                  </a:tcPr>
                </a:tc>
                <a:extLst>
                  <a:ext uri="{0D108BD9-81ED-4DB2-BD59-A6C34878D82A}">
                    <a16:rowId xmlns:a16="http://schemas.microsoft.com/office/drawing/2014/main" val="10000"/>
                  </a:ext>
                </a:extLst>
              </a:tr>
              <a:tr h="478155">
                <a:tc>
                  <a:txBody>
                    <a:bodyPr/>
                    <a:lstStyle/>
                    <a:p>
                      <a:pPr algn="l">
                        <a:buNone/>
                      </a:pPr>
                      <a:r>
                        <a:rPr sz="1500" b="0">
                          <a:solidFill>
                            <a:srgbClr val="26282D"/>
                          </a:solidFill>
                          <a:latin typeface="Microsoft YaHei"/>
                          <a:ea typeface="Microsoft YaHei"/>
                          <a:cs typeface="Microsoft YaHei"/>
                        </a:rPr>
                        <a:t>完整特征</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dirty="0">
                          <a:solidFill>
                            <a:srgbClr val="26282D"/>
                          </a:solidFill>
                          <a:latin typeface="Microsoft YaHei"/>
                          <a:ea typeface="Microsoft YaHei"/>
                          <a:cs typeface="Microsoft YaHei"/>
                        </a:rPr>
                        <a:t>.88</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.86</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.77</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.92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.92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.92</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1"/>
                  </a:ext>
                </a:extLst>
              </a:tr>
              <a:tr h="478155">
                <a:tc>
                  <a:txBody>
                    <a:bodyPr/>
                    <a:lstStyle/>
                    <a:p>
                      <a:pPr algn="l">
                        <a:buNone/>
                      </a:pPr>
                      <a:r>
                        <a:rPr sz="1500" b="0">
                          <a:solidFill>
                            <a:srgbClr val="26282D"/>
                          </a:solidFill>
                          <a:latin typeface="Microsoft YaHei"/>
                          <a:ea typeface="Microsoft YaHei"/>
                          <a:cs typeface="Microsoft YaHei"/>
                        </a:rPr>
                        <a:t>去除文本特征</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dirty="0">
                          <a:solidFill>
                            <a:srgbClr val="26282D"/>
                          </a:solidFill>
                          <a:latin typeface="Microsoft YaHei"/>
                          <a:ea typeface="Microsoft YaHei"/>
                          <a:cs typeface="Microsoft YaHei"/>
                        </a:rPr>
                        <a:t>.85</a:t>
                      </a:r>
                    </a:p>
                    <a:p>
                      <a:pPr algn="l">
                        <a:buNone/>
                      </a:pPr>
                      <a:r>
                        <a:rPr sz="1500" b="0" dirty="0">
                          <a:solidFill>
                            <a:srgbClr val="26282D"/>
                          </a:solidFill>
                          <a:latin typeface="Microsoft YaHei"/>
                          <a:ea typeface="Microsoft YaHei"/>
                          <a:cs typeface="Microsoft YaHei"/>
                        </a:rPr>
                        <a:t>−3.41%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.83</a:t>
                      </a:r>
                    </a:p>
                    <a:p>
                      <a:pPr algn="l">
                        <a:buNone/>
                      </a:pPr>
                      <a:r>
                        <a:rPr sz="1500" b="0">
                          <a:solidFill>
                            <a:srgbClr val="26282D"/>
                          </a:solidFill>
                          <a:latin typeface="Microsoft YaHei"/>
                          <a:ea typeface="Microsoft YaHei"/>
                          <a:cs typeface="Microsoft YaHei"/>
                        </a:rPr>
                        <a:t>−3.49%</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.71</a:t>
                      </a:r>
                    </a:p>
                    <a:p>
                      <a:pPr algn="l">
                        <a:buNone/>
                      </a:pPr>
                      <a:r>
                        <a:rPr sz="1500" b="0">
                          <a:solidFill>
                            <a:srgbClr val="26282D"/>
                          </a:solidFill>
                          <a:latin typeface="Microsoft YaHei"/>
                          <a:ea typeface="Microsoft YaHei"/>
                          <a:cs typeface="Microsoft YaHei"/>
                        </a:rPr>
                        <a:t>−7.79%</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.84</a:t>
                      </a:r>
                    </a:p>
                    <a:p>
                      <a:pPr algn="l">
                        <a:buNone/>
                      </a:pPr>
                      <a:r>
                        <a:rPr sz="1500" b="0">
                          <a:solidFill>
                            <a:srgbClr val="26282D"/>
                          </a:solidFill>
                          <a:latin typeface="Microsoft YaHei"/>
                          <a:ea typeface="Microsoft YaHei"/>
                          <a:cs typeface="Microsoft YaHei"/>
                        </a:rPr>
                        <a:t>−8.70%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.84</a:t>
                      </a:r>
                    </a:p>
                    <a:p>
                      <a:pPr algn="l">
                        <a:buNone/>
                      </a:pPr>
                      <a:r>
                        <a:rPr sz="1500" b="0">
                          <a:solidFill>
                            <a:srgbClr val="26282D"/>
                          </a:solidFill>
                          <a:latin typeface="Microsoft YaHei"/>
                          <a:ea typeface="Microsoft YaHei"/>
                          <a:cs typeface="Microsoft YaHei"/>
                        </a:rPr>
                        <a:t>−8.70%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.81</a:t>
                      </a:r>
                    </a:p>
                    <a:p>
                      <a:pPr algn="l">
                        <a:buNone/>
                      </a:pPr>
                      <a:r>
                        <a:rPr sz="1500" b="0">
                          <a:solidFill>
                            <a:srgbClr val="26282D"/>
                          </a:solidFill>
                          <a:latin typeface="Microsoft YaHei"/>
                          <a:ea typeface="Microsoft YaHei"/>
                          <a:cs typeface="Microsoft YaHei"/>
                        </a:rPr>
                        <a:t>−11.96%</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2"/>
                  </a:ext>
                </a:extLst>
              </a:tr>
              <a:tr h="478155">
                <a:tc>
                  <a:txBody>
                    <a:bodyPr/>
                    <a:lstStyle/>
                    <a:p>
                      <a:pPr algn="l">
                        <a:buNone/>
                      </a:pPr>
                      <a:r>
                        <a:rPr sz="1500" b="0">
                          <a:solidFill>
                            <a:srgbClr val="26282D"/>
                          </a:solidFill>
                          <a:latin typeface="Microsoft YaHei"/>
                          <a:ea typeface="Microsoft YaHei"/>
                          <a:cs typeface="Microsoft YaHei"/>
                        </a:rPr>
                        <a:t>去除文本与类别特征</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.67*</a:t>
                      </a:r>
                    </a:p>
                    <a:p>
                      <a:pPr algn="l">
                        <a:buNone/>
                      </a:pPr>
                      <a:r>
                        <a:rPr sz="1500" b="0">
                          <a:solidFill>
                            <a:srgbClr val="26282D"/>
                          </a:solidFill>
                          <a:latin typeface="Microsoft YaHei"/>
                          <a:ea typeface="Microsoft YaHei"/>
                          <a:cs typeface="Microsoft YaHei"/>
                        </a:rPr>
                        <a:t>−23.86%</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.64*</a:t>
                      </a:r>
                    </a:p>
                    <a:p>
                      <a:pPr algn="l">
                        <a:buNone/>
                      </a:pPr>
                      <a:r>
                        <a:rPr sz="1500" b="0">
                          <a:solidFill>
                            <a:srgbClr val="26282D"/>
                          </a:solidFill>
                          <a:latin typeface="Microsoft YaHei"/>
                          <a:ea typeface="Microsoft YaHei"/>
                          <a:cs typeface="Microsoft YaHei"/>
                        </a:rPr>
                        <a:t>−25.58%</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.36*</a:t>
                      </a:r>
                    </a:p>
                    <a:p>
                      <a:pPr algn="l">
                        <a:buNone/>
                      </a:pPr>
                      <a:r>
                        <a:rPr sz="1500" b="0">
                          <a:solidFill>
                            <a:srgbClr val="26282D"/>
                          </a:solidFill>
                          <a:latin typeface="Microsoft YaHei"/>
                          <a:ea typeface="Microsoft YaHei"/>
                          <a:cs typeface="Microsoft YaHei"/>
                        </a:rPr>
                        <a:t>−53.25%</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.71*</a:t>
                      </a:r>
                    </a:p>
                    <a:p>
                      <a:pPr algn="l">
                        <a:buNone/>
                      </a:pPr>
                      <a:r>
                        <a:rPr sz="1500" b="0">
                          <a:solidFill>
                            <a:srgbClr val="26282D"/>
                          </a:solidFill>
                          <a:latin typeface="Microsoft YaHei"/>
                          <a:ea typeface="Microsoft YaHei"/>
                          <a:cs typeface="Microsoft YaHei"/>
                        </a:rPr>
                        <a:t>−22.83%</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.70*</a:t>
                      </a:r>
                    </a:p>
                    <a:p>
                      <a:pPr algn="l">
                        <a:buNone/>
                      </a:pPr>
                      <a:r>
                        <a:rPr sz="1500" b="0">
                          <a:solidFill>
                            <a:srgbClr val="26282D"/>
                          </a:solidFill>
                          <a:latin typeface="Microsoft YaHei"/>
                          <a:ea typeface="Microsoft YaHei"/>
                          <a:cs typeface="Microsoft YaHei"/>
                        </a:rPr>
                        <a:t>−23.91%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tc>
                  <a:txBody>
                    <a:bodyPr/>
                    <a:lstStyle/>
                    <a:p>
                      <a:pPr algn="l">
                        <a:buNone/>
                      </a:pPr>
                      <a:r>
                        <a:rPr sz="1500" b="0">
                          <a:solidFill>
                            <a:srgbClr val="26282D"/>
                          </a:solidFill>
                          <a:latin typeface="Microsoft YaHei"/>
                          <a:ea typeface="Microsoft YaHei"/>
                          <a:cs typeface="Microsoft YaHei"/>
                        </a:rPr>
                        <a:t>.69*</a:t>
                      </a:r>
                    </a:p>
                    <a:p>
                      <a:pPr algn="l">
                        <a:buNone/>
                      </a:pPr>
                      <a:r>
                        <a:rPr sz="1500" b="0">
                          <a:solidFill>
                            <a:srgbClr val="26282D"/>
                          </a:solidFill>
                          <a:latin typeface="Microsoft YaHei"/>
                          <a:ea typeface="Microsoft YaHei"/>
                          <a:cs typeface="Microsoft YaHei"/>
                        </a:rPr>
                        <a:t>−25.00%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FFFFF"/>
                    </a:solidFill>
                  </a:tcPr>
                </a:tc>
                <a:extLst>
                  <a:ext uri="{0D108BD9-81ED-4DB2-BD59-A6C34878D82A}">
                    <a16:rowId xmlns:a16="http://schemas.microsoft.com/office/drawing/2014/main" val="10003"/>
                  </a:ext>
                </a:extLst>
              </a:tr>
              <a:tr h="478155">
                <a:tc>
                  <a:txBody>
                    <a:bodyPr/>
                    <a:lstStyle/>
                    <a:p>
                      <a:pPr algn="l">
                        <a:buNone/>
                      </a:pPr>
                      <a:r>
                        <a:rPr sz="1500" b="0">
                          <a:solidFill>
                            <a:srgbClr val="26282D"/>
                          </a:solidFill>
                          <a:latin typeface="Microsoft YaHei"/>
                          <a:ea typeface="Microsoft YaHei"/>
                          <a:cs typeface="Microsoft YaHei"/>
                        </a:rPr>
                        <a:t>仅保留数值特征</a:t>
                      </a:r>
                    </a:p>
                  </a:txBody>
                  <a:tcPr marL="114300" marR="95250" marT="9000" marB="9000" anchor="ctr">
                    <a:lnL w="6668">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.66</a:t>
                      </a:r>
                    </a:p>
                    <a:p>
                      <a:pPr algn="l">
                        <a:buNone/>
                      </a:pPr>
                      <a:r>
                        <a:rPr sz="1500" b="0">
                          <a:solidFill>
                            <a:srgbClr val="26282D"/>
                          </a:solidFill>
                          <a:latin typeface="Microsoft YaHei"/>
                          <a:ea typeface="Microsoft YaHei"/>
                          <a:cs typeface="Microsoft YaHei"/>
                        </a:rPr>
                        <a:t>−25.00%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.63</a:t>
                      </a:r>
                    </a:p>
                    <a:p>
                      <a:pPr algn="l">
                        <a:buNone/>
                      </a:pPr>
                      <a:r>
                        <a:rPr sz="1500" b="0">
                          <a:solidFill>
                            <a:srgbClr val="26282D"/>
                          </a:solidFill>
                          <a:latin typeface="Microsoft YaHei"/>
                          <a:ea typeface="Microsoft YaHei"/>
                          <a:cs typeface="Microsoft YaHei"/>
                        </a:rPr>
                        <a:t>−26.74%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.33</a:t>
                      </a:r>
                    </a:p>
                    <a:p>
                      <a:pPr algn="l">
                        <a:buNone/>
                      </a:pPr>
                      <a:r>
                        <a:rPr sz="1500" b="0">
                          <a:solidFill>
                            <a:srgbClr val="26282D"/>
                          </a:solidFill>
                          <a:latin typeface="Microsoft YaHei"/>
                          <a:ea typeface="Microsoft YaHei"/>
                          <a:cs typeface="Microsoft YaHei"/>
                        </a:rPr>
                        <a:t>−57.14%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.62</a:t>
                      </a:r>
                    </a:p>
                    <a:p>
                      <a:pPr algn="l">
                        <a:buNone/>
                      </a:pPr>
                      <a:r>
                        <a:rPr sz="1500" b="0">
                          <a:solidFill>
                            <a:srgbClr val="26282D"/>
                          </a:solidFill>
                          <a:latin typeface="Microsoft YaHei"/>
                          <a:ea typeface="Microsoft YaHei"/>
                          <a:cs typeface="Microsoft YaHei"/>
                        </a:rPr>
                        <a:t>−32.61%</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a:solidFill>
                            <a:srgbClr val="26282D"/>
                          </a:solidFill>
                          <a:latin typeface="Microsoft YaHei"/>
                          <a:ea typeface="Microsoft YaHei"/>
                          <a:cs typeface="Microsoft YaHei"/>
                        </a:rPr>
                        <a:t>.61</a:t>
                      </a:r>
                    </a:p>
                    <a:p>
                      <a:pPr algn="l">
                        <a:buNone/>
                      </a:pPr>
                      <a:r>
                        <a:rPr sz="1500" b="0">
                          <a:solidFill>
                            <a:srgbClr val="26282D"/>
                          </a:solidFill>
                          <a:latin typeface="Microsoft YaHei"/>
                          <a:ea typeface="Microsoft YaHei"/>
                          <a:cs typeface="Microsoft YaHei"/>
                        </a:rPr>
                        <a:t>−33.70%</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tc>
                  <a:txBody>
                    <a:bodyPr/>
                    <a:lstStyle/>
                    <a:p>
                      <a:pPr algn="l">
                        <a:buNone/>
                      </a:pPr>
                      <a:r>
                        <a:rPr sz="1500" b="0" dirty="0">
                          <a:solidFill>
                            <a:srgbClr val="26282D"/>
                          </a:solidFill>
                          <a:latin typeface="Microsoft YaHei"/>
                          <a:ea typeface="Microsoft YaHei"/>
                          <a:cs typeface="Microsoft YaHei"/>
                        </a:rPr>
                        <a:t>.57</a:t>
                      </a:r>
                    </a:p>
                    <a:p>
                      <a:pPr algn="l">
                        <a:buNone/>
                      </a:pPr>
                      <a:r>
                        <a:rPr sz="1500" b="0" dirty="0">
                          <a:solidFill>
                            <a:srgbClr val="26282D"/>
                          </a:solidFill>
                          <a:latin typeface="Microsoft YaHei"/>
                          <a:ea typeface="Microsoft YaHei"/>
                          <a:cs typeface="Microsoft YaHei"/>
                        </a:rPr>
                        <a:t>−38.04%</a:t>
                      </a:r>
                    </a:p>
                  </a:txBody>
                  <a:tcPr marL="114300" marR="95250" marT="9000" marB="9000" anchor="ctr">
                    <a:lnL w="6668" cmpd="sng">
                      <a:solidFill>
                        <a:srgbClr val="D6DADB"/>
                      </a:solidFill>
                      <a:prstDash val="solid"/>
                    </a:lnL>
                    <a:lnR w="6668">
                      <a:solidFill>
                        <a:srgbClr val="D6DADB"/>
                      </a:solidFill>
                      <a:prstDash val="solid"/>
                    </a:lnR>
                    <a:lnT w="6668" cmpd="sng">
                      <a:solidFill>
                        <a:srgbClr val="D6DADB"/>
                      </a:solidFill>
                      <a:prstDash val="solid"/>
                    </a:lnT>
                    <a:lnB w="6668">
                      <a:solidFill>
                        <a:srgbClr val="D6DADB"/>
                      </a:solidFill>
                      <a:prstDash val="solid"/>
                    </a:lnB>
                    <a:solidFill>
                      <a:srgbClr val="F7EAEB"/>
                    </a:solidFill>
                  </a:tcPr>
                </a:tc>
                <a:extLst>
                  <a:ext uri="{0D108BD9-81ED-4DB2-BD59-A6C34878D82A}">
                    <a16:rowId xmlns:a16="http://schemas.microsoft.com/office/drawing/2014/main" val="10004"/>
                  </a:ext>
                </a:extLst>
              </a:tr>
            </a:tbl>
          </a:graphicData>
        </a:graphic>
      </p:graphicFrame>
      <p:sp>
        <p:nvSpPr>
          <p:cNvPr id="5" name="evidence-text-136">
            <a:extLst>
              <a:ext uri="{FF2B5EF4-FFF2-40B4-BE49-F238E27FC236}">
                <a16:creationId xmlns:a16="http://schemas.microsoft.com/office/drawing/2014/main" id="{0CBE012A-BC11-49CA-ADCF-AB93AF308454}"/>
              </a:ext>
            </a:extLst>
          </p:cNvPr>
          <p:cNvSpPr>
            <a:spLocks noGrp="1"/>
          </p:cNvSpPr>
          <p:nvPr/>
        </p:nvSpPr>
        <p:spPr>
          <a:xfrm>
            <a:off x="685800" y="4267199"/>
            <a:ext cx="10820400" cy="733425"/>
          </a:xfrm>
          <a:prstGeom prst="rect">
            <a:avLst/>
          </a:prstGeom>
          <a:noFill/>
          <a:ln w="0">
            <a:noFill/>
          </a:ln>
        </p:spPr>
        <p:txBody>
          <a:bodyPr wrap="square" lIns="0" tIns="0" rIns="0" bIns="0" anchor="t">
            <a:noAutofit/>
          </a:bodyPr>
          <a:lstStyle>
            <a:defPPr algn="l">
              <a:defRPr sz="1200" b="0">
                <a:solidFill>
                  <a:srgbClr val="26282D"/>
                </a:solidFill>
                <a:latin typeface="Microsoft YaHei"/>
                <a:ea typeface="Microsoft YaHei"/>
                <a:cs typeface="Microsoft YaHei"/>
              </a:defRPr>
            </a:defPPr>
          </a:lstStyle>
          <a:p>
            <a:pPr algn="l">
              <a:buNone/>
              <a:defRPr sz="1200" b="0">
                <a:solidFill>
                  <a:srgbClr val="26282D"/>
                </a:solidFill>
                <a:latin typeface="Microsoft YaHei"/>
                <a:ea typeface="Microsoft YaHei"/>
                <a:cs typeface="Microsoft YaHei"/>
              </a:defRPr>
            </a:pPr>
            <a:r>
              <a:rPr sz="1600" b="0" dirty="0" err="1">
                <a:solidFill>
                  <a:srgbClr val="26282D"/>
                </a:solidFill>
                <a:latin typeface="Microsoft YaHei"/>
                <a:ea typeface="Microsoft YaHei"/>
                <a:cs typeface="Microsoft YaHei"/>
              </a:rPr>
              <a:t>每格上行为指标值，下行为相对完整特征基线的下降百分比</a:t>
            </a:r>
            <a:r>
              <a:rPr sz="1600" b="0" dirty="0">
                <a:solidFill>
                  <a:srgbClr val="26282D"/>
                </a:solidFill>
                <a:latin typeface="Microsoft YaHei"/>
                <a:ea typeface="Microsoft YaHei"/>
                <a:cs typeface="Microsoft YaHei"/>
              </a:rPr>
              <a:t>。</a:t>
            </a:r>
          </a:p>
        </p:txBody>
      </p:sp>
      <p:pic>
        <p:nvPicPr>
          <p:cNvPr id="6"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7"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26/33</a:t>
            </a:r>
          </a:p>
        </p:txBody>
      </p:sp>
      <p:sp>
        <p:nvSpPr>
          <p:cNvPr id="8" name="added-text"/>
          <p:cNvSpPr txBox="1"/>
          <p:nvPr/>
        </p:nvSpPr>
        <p:spPr>
          <a:xfrm>
            <a:off x="685800" y="5010150"/>
            <a:ext cx="10820400" cy="1447800"/>
          </a:xfrm>
          <a:prstGeom prst="roundRect">
            <a:avLst/>
          </a:prstGeom>
          <a:solidFill>
            <a:srgbClr val="FFFFFF"/>
          </a:solidFill>
          <a:ln w="19050">
            <a:solidFill>
              <a:srgbClr val="A52A36"/>
            </a:solidFill>
          </a:ln>
        </p:spPr>
      </p:sp>
      <p:sp>
        <p:nvSpPr>
          <p:cNvPr id="9" name="added-text"/>
          <p:cNvSpPr txBox="1"/>
          <p:nvPr/>
        </p:nvSpPr>
        <p:spPr>
          <a:xfrm>
            <a:off x="876300" y="508635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实验目的</a:t>
            </a:r>
          </a:p>
        </p:txBody>
      </p:sp>
      <p:sp>
        <p:nvSpPr>
          <p:cNvPr id="10" name="added-text"/>
          <p:cNvSpPr txBox="1"/>
          <p:nvPr/>
        </p:nvSpPr>
        <p:spPr>
          <a:xfrm>
            <a:off x="876300" y="5353050"/>
            <a:ext cx="10287000" cy="276225"/>
          </a:xfrm>
          <a:prstGeom prst="rect">
            <a:avLst/>
          </a:prstGeom>
          <a:noFill/>
        </p:spPr>
        <p:txBody>
          <a:bodyPr wrap="square" lIns="0" tIns="0" rIns="0" bIns="0"/>
          <a:lstStyle/>
          <a:p>
            <a:r>
              <a:rPr lang="zh-CN" sz="1700" b="0">
                <a:solidFill>
                  <a:srgbClr val="26292E"/>
                </a:solidFill>
                <a:latin typeface="Microsoft YaHei"/>
                <a:ea typeface="Microsoft YaHei"/>
              </a:rPr>
              <a:t>比较累积删除特征后，各项分类指标的变化。</a:t>
            </a:r>
          </a:p>
        </p:txBody>
      </p:sp>
      <p:sp>
        <p:nvSpPr>
          <p:cNvPr id="11" name="added-text"/>
          <p:cNvSpPr txBox="1"/>
          <p:nvPr/>
        </p:nvSpPr>
        <p:spPr>
          <a:xfrm>
            <a:off x="876300" y="5638800"/>
            <a:ext cx="10287000" cy="266700"/>
          </a:xfrm>
          <a:prstGeom prst="rect">
            <a:avLst/>
          </a:prstGeom>
          <a:noFill/>
        </p:spPr>
        <p:txBody>
          <a:bodyPr wrap="square" lIns="0" tIns="0" rIns="0" bIns="0"/>
          <a:lstStyle/>
          <a:p>
            <a:r>
              <a:rPr lang="zh-CN" sz="1900" b="1">
                <a:solidFill>
                  <a:srgbClr val="A52A36"/>
                </a:solidFill>
                <a:latin typeface="Microsoft YaHei"/>
                <a:ea typeface="Microsoft YaHei"/>
              </a:rPr>
              <a:t>实验结论</a:t>
            </a:r>
          </a:p>
        </p:txBody>
      </p:sp>
      <p:sp>
        <p:nvSpPr>
          <p:cNvPr id="12" name="added-text"/>
          <p:cNvSpPr txBox="1"/>
          <p:nvPr/>
        </p:nvSpPr>
        <p:spPr>
          <a:xfrm>
            <a:off x="876300" y="5905500"/>
            <a:ext cx="10287000" cy="504825"/>
          </a:xfrm>
          <a:prstGeom prst="rect">
            <a:avLst/>
          </a:prstGeom>
          <a:noFill/>
        </p:spPr>
        <p:txBody>
          <a:bodyPr wrap="square" lIns="0" tIns="0" rIns="0" bIns="0"/>
          <a:lstStyle/>
          <a:p>
            <a:r>
              <a:rPr lang="zh-CN" sz="1650" b="1">
                <a:solidFill>
                  <a:srgbClr val="A52A36"/>
                </a:solidFill>
                <a:latin typeface="Microsoft YaHei"/>
                <a:ea typeface="Microsoft YaHei"/>
              </a:rPr>
              <a:t>仅保留数值特征时，二分类／四分类 F1 降至 0.66／0.62。</a:t>
            </a:r>
          </a:p>
          <a:p>
            <a:r>
              <a:rPr lang="zh-CN" sz="1650" b="1">
                <a:solidFill>
                  <a:srgbClr val="A52A36"/>
                </a:solidFill>
                <a:latin typeface="Microsoft YaHei"/>
                <a:ea typeface="Microsoft YaHei"/>
              </a:rPr>
              <a:t>完整特征在两项任务的 F1、Recall、MCC 上均表现最好。</a:t>
            </a:r>
          </a:p>
        </p:txBody>
      </p:sp>
      <p:sp>
        <p:nvSpPr>
          <p:cNvPr id="13" name="矩形 12">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14" name="文本框 13">
            <a:extLst>
              <a:ext uri="{FF2B5EF4-FFF2-40B4-BE49-F238E27FC236}">
                <a16:creationId xmlns:a16="http://schemas.microsoft.com/office/drawing/2014/main" id="{AAEEFFE1-3A55-CD2B-7A5D-FEFB6B9CF5D2}"/>
              </a:ext>
            </a:extLst>
          </p:cNvPr>
          <p:cNvSpPr txBox="1"/>
          <p:nvPr/>
        </p:nvSpPr>
        <p:spPr>
          <a:xfrm>
            <a:off x="685800" y="1348085"/>
            <a:ext cx="6094800" cy="461665"/>
          </a:xfrm>
          <a:prstGeom prst="rect">
            <a:avLst/>
          </a:prstGeom>
          <a:noFill/>
        </p:spPr>
        <p:txBody>
          <a:bodyPr wrap="square">
            <a:spAutoFit/>
          </a:bodyPr>
          <a:lstStyle/>
          <a:p>
            <a:r>
              <a:rPr lang="zh-CN" altLang="en-US" sz="2400" b="1" dirty="0">
                <a:solidFill>
                  <a:srgbClr val="A52A36"/>
                </a:solidFill>
                <a:latin typeface="Microsoft YaHei"/>
                <a:ea typeface="Microsoft YaHei"/>
              </a:rPr>
              <a:t>实验结果</a:t>
            </a:r>
            <a:endParaRPr lang="zh-CN" altLang="en-US" dirty="0"/>
          </a:p>
        </p:txBody>
      </p:sp>
    </p:spTree>
    <p:extLst>
      <p:ext uri="{BB962C8B-B14F-4D97-AF65-F5344CB8AC3E}">
        <p14:creationId xmlns:p14="http://schemas.microsoft.com/office/powerpoint/2010/main" val="1813549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66750" y="209550"/>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实验</a:t>
            </a:r>
            <a:r>
              <a:rPr lang="zh-CN" altLang="en-US" sz="3300" b="1" dirty="0">
                <a:solidFill>
                  <a:srgbClr val="A52A36"/>
                </a:solidFill>
                <a:latin typeface="Microsoft YaHei"/>
                <a:ea typeface="Microsoft YaHei"/>
              </a:rPr>
              <a:t>三：模型泛化实验</a:t>
            </a:r>
            <a:endParaRPr sz="3300" b="1" dirty="0">
              <a:solidFill>
                <a:srgbClr val="A52A36"/>
              </a:solidFill>
              <a:latin typeface="Microsoft YaHei"/>
              <a:ea typeface="Microsoft YaHei"/>
            </a:endParaRPr>
          </a:p>
        </p:txBody>
      </p:sp>
      <p:sp>
        <p:nvSpPr>
          <p:cNvPr id="3" name="section-text-8">
            <a:extLst>
              <a:ext uri="{FF2B5EF4-FFF2-40B4-BE49-F238E27FC236}">
                <a16:creationId xmlns:a16="http://schemas.microsoft.com/office/drawing/2014/main" id="{5E73AEE5-8DD9-42CF-8234-3062E66C9DEB}"/>
              </a:ext>
            </a:extLst>
          </p:cNvPr>
          <p:cNvSpPr>
            <a:spLocks noGrp="1"/>
          </p:cNvSpPr>
          <p:nvPr/>
        </p:nvSpPr>
        <p:spPr>
          <a:xfrm>
            <a:off x="704850" y="1390650"/>
            <a:ext cx="10820400" cy="619125"/>
          </a:xfrm>
          <a:prstGeom prst="rect">
            <a:avLst/>
          </a:prstGeom>
          <a:noFill/>
          <a:ln w="0">
            <a:noFill/>
          </a:ln>
        </p:spPr>
        <p:txBody>
          <a:bodyPr wrap="square" lIns="0" tIns="0" rIns="0" bIns="0" anchor="t">
            <a:noAutofit/>
          </a:bodyPr>
          <a:lstStyle>
            <a:defPPr algn="l">
              <a:defRPr sz="3225" b="1">
                <a:solidFill>
                  <a:srgbClr val="A52A36"/>
                </a:solidFill>
                <a:latin typeface="Microsoft YaHei"/>
                <a:ea typeface="Microsoft YaHei"/>
                <a:cs typeface="Microsoft YaHei"/>
              </a:defRPr>
            </a:defPPr>
          </a:lstStyle>
          <a:p>
            <a:pPr algn="l">
              <a:defRPr sz="3225" b="1">
                <a:solidFill>
                  <a:srgbClr val="A52A36"/>
                </a:solidFill>
                <a:latin typeface="Microsoft YaHei"/>
                <a:ea typeface="Microsoft YaHei"/>
                <a:cs typeface="Microsoft YaHei"/>
              </a:defRPr>
            </a:pPr>
            <a:r>
              <a:rPr sz="2400" b="1" dirty="0" err="1">
                <a:solidFill>
                  <a:srgbClr val="A52A36"/>
                </a:solidFill>
                <a:latin typeface="Microsoft YaHei"/>
                <a:ea typeface="Microsoft YaHei"/>
              </a:rPr>
              <a:t>泛化研究</a:t>
            </a:r>
            <a:endParaRPr sz="2400" b="1" dirty="0">
              <a:solidFill>
                <a:srgbClr val="A52A36"/>
              </a:solidFill>
              <a:latin typeface="Microsoft YaHei"/>
              <a:ea typeface="Microsoft YaHei"/>
            </a:endParaRPr>
          </a:p>
        </p:txBody>
      </p:sp>
      <p:sp>
        <p:nvSpPr>
          <p:cNvPr id="4" name="section-text-10">
            <a:extLst>
              <a:ext uri="{FF2B5EF4-FFF2-40B4-BE49-F238E27FC236}">
                <a16:creationId xmlns:a16="http://schemas.microsoft.com/office/drawing/2014/main" id="{7AAD7087-E1BF-4CC6-8295-A22E7CA9DA24}"/>
              </a:ext>
            </a:extLst>
          </p:cNvPr>
          <p:cNvSpPr>
            <a:spLocks noGrp="1"/>
          </p:cNvSpPr>
          <p:nvPr/>
        </p:nvSpPr>
        <p:spPr>
          <a:xfrm>
            <a:off x="685800" y="2324100"/>
            <a:ext cx="5238750" cy="40005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defRPr sz="2100" b="1">
                <a:solidFill>
                  <a:srgbClr val="9F2934"/>
                </a:solidFill>
                <a:latin typeface="Microsoft YaHei"/>
                <a:ea typeface="Microsoft YaHei"/>
                <a:cs typeface="Microsoft YaHei"/>
              </a:defRPr>
            </a:pPr>
            <a:r>
              <a:rPr lang="zh-CN" altLang="en-US" sz="2100" b="1" dirty="0">
                <a:solidFill>
                  <a:srgbClr val="9F2934"/>
                </a:solidFill>
                <a:latin typeface="Microsoft YaHei"/>
                <a:ea typeface="Microsoft YaHei"/>
                <a:cs typeface="Microsoft YaHei"/>
              </a:rPr>
              <a:t>一对多</a:t>
            </a:r>
            <a:endParaRPr sz="2100" b="1" dirty="0">
              <a:solidFill>
                <a:srgbClr val="9F2934"/>
              </a:solidFill>
              <a:latin typeface="Microsoft YaHei"/>
              <a:ea typeface="Microsoft YaHei"/>
              <a:cs typeface="Microsoft YaHei"/>
            </a:endParaRPr>
          </a:p>
        </p:txBody>
      </p:sp>
      <p:sp>
        <p:nvSpPr>
          <p:cNvPr id="5" name="section-box-11">
            <a:extLst>
              <a:ext uri="{FF2B5EF4-FFF2-40B4-BE49-F238E27FC236}">
                <a16:creationId xmlns:a16="http://schemas.microsoft.com/office/drawing/2014/main" id="{F416C535-E98C-4840-A8EF-32A3F69542EA}"/>
              </a:ext>
            </a:extLst>
          </p:cNvPr>
          <p:cNvSpPr>
            <a:spLocks noGrp="1"/>
          </p:cNvSpPr>
          <p:nvPr/>
        </p:nvSpPr>
        <p:spPr>
          <a:xfrm>
            <a:off x="685800" y="2762250"/>
            <a:ext cx="5238750" cy="1362075"/>
          </a:xfrm>
          <a:prstGeom prst="rect">
            <a:avLst/>
          </a:prstGeom>
          <a:noFill/>
          <a:ln w="12383">
            <a:solidFill>
              <a:srgbClr val="9F2934"/>
            </a:solidFill>
            <a:prstDash val="solid"/>
          </a:ln>
        </p:spPr>
      </p:sp>
      <p:sp>
        <p:nvSpPr>
          <p:cNvPr id="6" name="section-text-12">
            <a:extLst>
              <a:ext uri="{FF2B5EF4-FFF2-40B4-BE49-F238E27FC236}">
                <a16:creationId xmlns:a16="http://schemas.microsoft.com/office/drawing/2014/main" id="{80761BC5-D301-4872-896F-3944E2E980B7}"/>
              </a:ext>
            </a:extLst>
          </p:cNvPr>
          <p:cNvSpPr>
            <a:spLocks noGrp="1"/>
          </p:cNvSpPr>
          <p:nvPr/>
        </p:nvSpPr>
        <p:spPr>
          <a:xfrm>
            <a:off x="857250" y="2914650"/>
            <a:ext cx="4895850" cy="11620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训练：良性 + 两类已知恶意活动</a:t>
            </a:r>
          </a:p>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测试：良性 + 留出的第三类恶意活动</a:t>
            </a:r>
          </a:p>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例如：客服、非法产品训练，测试赠奖</a:t>
            </a:r>
          </a:p>
        </p:txBody>
      </p:sp>
      <p:sp>
        <p:nvSpPr>
          <p:cNvPr id="7" name="section-text-13">
            <a:extLst>
              <a:ext uri="{FF2B5EF4-FFF2-40B4-BE49-F238E27FC236}">
                <a16:creationId xmlns:a16="http://schemas.microsoft.com/office/drawing/2014/main" id="{E9108C39-0102-4C28-835A-7EEFD3806B0E}"/>
              </a:ext>
            </a:extLst>
          </p:cNvPr>
          <p:cNvSpPr>
            <a:spLocks noGrp="1"/>
          </p:cNvSpPr>
          <p:nvPr/>
        </p:nvSpPr>
        <p:spPr>
          <a:xfrm>
            <a:off x="6267450" y="2324100"/>
            <a:ext cx="5238750" cy="40005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defRPr sz="2100" b="1">
                <a:solidFill>
                  <a:srgbClr val="2E746F"/>
                </a:solidFill>
                <a:latin typeface="Microsoft YaHei"/>
                <a:ea typeface="Microsoft YaHei"/>
                <a:cs typeface="Microsoft YaHei"/>
              </a:defRPr>
            </a:pPr>
            <a:r>
              <a:rPr lang="zh-CN" altLang="en-US" sz="2100" b="1" dirty="0">
                <a:solidFill>
                  <a:srgbClr val="2E746F"/>
                </a:solidFill>
                <a:latin typeface="Microsoft YaHei"/>
                <a:ea typeface="Microsoft YaHei"/>
                <a:cs typeface="Microsoft YaHei"/>
              </a:rPr>
              <a:t>一对一</a:t>
            </a:r>
            <a:endParaRPr sz="2100" b="1" dirty="0">
              <a:solidFill>
                <a:srgbClr val="2E746F"/>
              </a:solidFill>
              <a:latin typeface="Microsoft YaHei"/>
              <a:ea typeface="Microsoft YaHei"/>
              <a:cs typeface="Microsoft YaHei"/>
            </a:endParaRPr>
          </a:p>
        </p:txBody>
      </p:sp>
      <p:sp>
        <p:nvSpPr>
          <p:cNvPr id="8" name="section-box-14">
            <a:extLst>
              <a:ext uri="{FF2B5EF4-FFF2-40B4-BE49-F238E27FC236}">
                <a16:creationId xmlns:a16="http://schemas.microsoft.com/office/drawing/2014/main" id="{E22728C8-C3D8-4980-A5EF-403883033316}"/>
              </a:ext>
            </a:extLst>
          </p:cNvPr>
          <p:cNvSpPr>
            <a:spLocks noGrp="1"/>
          </p:cNvSpPr>
          <p:nvPr/>
        </p:nvSpPr>
        <p:spPr>
          <a:xfrm>
            <a:off x="6267450" y="2762250"/>
            <a:ext cx="5238750" cy="1362075"/>
          </a:xfrm>
          <a:prstGeom prst="rect">
            <a:avLst/>
          </a:prstGeom>
          <a:noFill/>
          <a:ln w="12383">
            <a:solidFill>
              <a:srgbClr val="2E746F"/>
            </a:solidFill>
            <a:prstDash val="solid"/>
          </a:ln>
        </p:spPr>
      </p:sp>
      <p:sp>
        <p:nvSpPr>
          <p:cNvPr id="9" name="section-text-15">
            <a:extLst>
              <a:ext uri="{FF2B5EF4-FFF2-40B4-BE49-F238E27FC236}">
                <a16:creationId xmlns:a16="http://schemas.microsoft.com/office/drawing/2014/main" id="{144C6393-A419-4A9D-B140-639305C8A881}"/>
              </a:ext>
            </a:extLst>
          </p:cNvPr>
          <p:cNvSpPr>
            <a:spLocks noGrp="1"/>
          </p:cNvSpPr>
          <p:nvPr/>
        </p:nvSpPr>
        <p:spPr>
          <a:xfrm>
            <a:off x="6438900" y="2914650"/>
            <a:ext cx="4895850" cy="116205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训练：良性 + 一类已知恶意活动</a:t>
            </a:r>
          </a:p>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测试：良性 + 另一类恶意活动</a:t>
            </a:r>
          </a:p>
          <a:p>
            <a:pPr algn="l">
              <a:defRPr sz="1875" b="0">
                <a:solidFill>
                  <a:srgbClr val="26282D"/>
                </a:solidFill>
                <a:latin typeface="Microsoft YaHei"/>
                <a:ea typeface="Microsoft YaHei"/>
                <a:cs typeface="Microsoft YaHei"/>
              </a:defRPr>
            </a:pPr>
            <a:r>
              <a:rPr sz="1875" b="0">
                <a:solidFill>
                  <a:srgbClr val="26282D"/>
                </a:solidFill>
                <a:latin typeface="Microsoft YaHei"/>
                <a:ea typeface="Microsoft YaHei"/>
                <a:cs typeface="Microsoft YaHei"/>
              </a:rPr>
              <a:t>例如：客服训练，测试非法产品</a:t>
            </a:r>
          </a:p>
        </p:txBody>
      </p:sp>
      <p:sp>
        <p:nvSpPr>
          <p:cNvPr id="10" name="section-box-16">
            <a:extLst>
              <a:ext uri="{FF2B5EF4-FFF2-40B4-BE49-F238E27FC236}">
                <a16:creationId xmlns:a16="http://schemas.microsoft.com/office/drawing/2014/main" id="{AE047ABA-64D4-4558-88D7-647DE021B25A}"/>
              </a:ext>
            </a:extLst>
          </p:cNvPr>
          <p:cNvSpPr>
            <a:spLocks noGrp="1"/>
          </p:cNvSpPr>
          <p:nvPr/>
        </p:nvSpPr>
        <p:spPr>
          <a:xfrm>
            <a:off x="685800" y="4438650"/>
            <a:ext cx="10820400" cy="1695450"/>
          </a:xfrm>
          <a:prstGeom prst="rect">
            <a:avLst/>
          </a:prstGeom>
          <a:solidFill>
            <a:srgbClr val="FAF3E6"/>
          </a:solidFill>
          <a:ln w="12383">
            <a:solidFill>
              <a:srgbClr val="916A2B"/>
            </a:solidFill>
            <a:prstDash val="solid"/>
          </a:ln>
        </p:spPr>
      </p:sp>
      <p:sp>
        <p:nvSpPr>
          <p:cNvPr id="11" name="section-text-17">
            <a:extLst>
              <a:ext uri="{FF2B5EF4-FFF2-40B4-BE49-F238E27FC236}">
                <a16:creationId xmlns:a16="http://schemas.microsoft.com/office/drawing/2014/main" id="{D4E9BF99-5C0F-4314-BC50-AA0359E1432B}"/>
              </a:ext>
            </a:extLst>
          </p:cNvPr>
          <p:cNvSpPr>
            <a:spLocks noGrp="1"/>
          </p:cNvSpPr>
          <p:nvPr/>
        </p:nvSpPr>
        <p:spPr>
          <a:xfrm>
            <a:off x="876300" y="4591050"/>
            <a:ext cx="10439400" cy="390525"/>
          </a:xfrm>
          <a:prstGeom prst="rect">
            <a:avLst/>
          </a:prstGeom>
          <a:noFill/>
          <a:ln w="0">
            <a:noFill/>
          </a:ln>
        </p:spPr>
        <p:txBody>
          <a:bodyPr wrap="square" lIns="0" tIns="0" rIns="0" bIns="0" anchor="t">
            <a:noAutofit/>
          </a:bodyPr>
          <a:lstStyle>
            <a:defPPr algn="l">
              <a:defRPr sz="2100" b="1">
                <a:solidFill>
                  <a:srgbClr val="916A2B"/>
                </a:solidFill>
                <a:latin typeface="Microsoft YaHei"/>
                <a:ea typeface="Microsoft YaHei"/>
                <a:cs typeface="Microsoft YaHei"/>
              </a:defRPr>
            </a:defPPr>
          </a:lstStyle>
          <a:p>
            <a:pPr algn="l">
              <a:defRPr sz="2100" b="1">
                <a:solidFill>
                  <a:srgbClr val="916A2B"/>
                </a:solidFill>
                <a:latin typeface="Microsoft YaHei"/>
                <a:ea typeface="Microsoft YaHei"/>
                <a:cs typeface="Microsoft YaHei"/>
              </a:defRPr>
            </a:pPr>
            <a:r>
              <a:rPr sz="2100" b="1">
                <a:solidFill>
                  <a:srgbClr val="916A2B"/>
                </a:solidFill>
                <a:latin typeface="Microsoft YaHei"/>
                <a:ea typeface="Microsoft YaHei"/>
                <a:cs typeface="Microsoft YaHei"/>
              </a:rPr>
              <a:t>逐步加入目标活动样本</a:t>
            </a:r>
          </a:p>
        </p:txBody>
      </p:sp>
      <p:sp>
        <p:nvSpPr>
          <p:cNvPr id="12" name="section-text-18">
            <a:extLst>
              <a:ext uri="{FF2B5EF4-FFF2-40B4-BE49-F238E27FC236}">
                <a16:creationId xmlns:a16="http://schemas.microsoft.com/office/drawing/2014/main" id="{DD7A8B06-1C9F-4656-A6ED-7924AFECB31C}"/>
              </a:ext>
            </a:extLst>
          </p:cNvPr>
          <p:cNvSpPr>
            <a:spLocks noGrp="1"/>
          </p:cNvSpPr>
          <p:nvPr/>
        </p:nvSpPr>
        <p:spPr>
          <a:xfrm>
            <a:off x="876300" y="5076825"/>
            <a:ext cx="10439400" cy="933450"/>
          </a:xfrm>
          <a:prstGeom prst="rect">
            <a:avLst/>
          </a:prstGeom>
          <a:noFill/>
          <a:ln w="0">
            <a:noFill/>
          </a:ln>
        </p:spPr>
        <p:txBody>
          <a:bodyPr wrap="square" lIns="0" tIns="0" rIns="0" bIns="0" anchor="t">
            <a:noAutofit/>
          </a:bodyPr>
          <a:lstStyle>
            <a:defPPr algn="l">
              <a:defRPr sz="1800" b="0">
                <a:solidFill>
                  <a:srgbClr val="26282D"/>
                </a:solidFill>
                <a:latin typeface="Microsoft YaHei"/>
                <a:ea typeface="Microsoft YaHei"/>
                <a:cs typeface="Microsoft YaHei"/>
              </a:defRPr>
            </a:defPPr>
          </a:lstStyle>
          <a:p>
            <a:pPr algn="l">
              <a:defRPr sz="1800" b="0">
                <a:solidFill>
                  <a:srgbClr val="26282D"/>
                </a:solidFill>
                <a:latin typeface="Microsoft YaHei"/>
                <a:ea typeface="Microsoft YaHei"/>
                <a:cs typeface="Microsoft YaHei"/>
              </a:defRPr>
            </a:pPr>
            <a:r>
              <a:rPr sz="1800" b="0">
                <a:solidFill>
                  <a:srgbClr val="26282D"/>
                </a:solidFill>
                <a:latin typeface="Microsoft YaHei"/>
                <a:ea typeface="Microsoft YaHei"/>
                <a:cs typeface="Microsoft YaHei"/>
              </a:rPr>
              <a:t>Baseline（0%）：训练集未包含目标活动，评价跨活动迁移。</a:t>
            </a:r>
          </a:p>
          <a:p>
            <a:pPr algn="l">
              <a:defRPr sz="1800" b="0">
                <a:solidFill>
                  <a:srgbClr val="26282D"/>
                </a:solidFill>
                <a:latin typeface="Microsoft YaHei"/>
                <a:ea typeface="Microsoft YaHei"/>
                <a:cs typeface="Microsoft YaHei"/>
              </a:defRPr>
            </a:pPr>
            <a:r>
              <a:rPr sz="1800" b="0">
                <a:solidFill>
                  <a:srgbClr val="26282D"/>
                </a:solidFill>
                <a:latin typeface="Microsoft YaHei"/>
                <a:ea typeface="Microsoft YaHei"/>
                <a:cs typeface="Microsoft YaHei"/>
              </a:rPr>
              <a:t>+1%、+5%、+10%、+20%：加入目标活动的标注数据，评价有监督适应。</a:t>
            </a:r>
          </a:p>
          <a:p>
            <a:pPr algn="l">
              <a:defRPr sz="1800" b="0">
                <a:solidFill>
                  <a:srgbClr val="26282D"/>
                </a:solidFill>
                <a:latin typeface="Microsoft YaHei"/>
                <a:ea typeface="Microsoft YaHei"/>
                <a:cs typeface="Microsoft YaHei"/>
              </a:defRPr>
            </a:pPr>
            <a:r>
              <a:rPr sz="1800" b="0">
                <a:solidFill>
                  <a:srgbClr val="26282D"/>
                </a:solidFill>
                <a:latin typeface="Microsoft YaHei"/>
                <a:ea typeface="Microsoft YaHei"/>
                <a:cs typeface="Microsoft YaHei"/>
              </a:rPr>
              <a:t>模型使用 XGBoost，以 F1-score 和 Recall 比较各个训练组合。</a:t>
            </a:r>
          </a:p>
        </p:txBody>
      </p:sp>
      <p:pic>
        <p:nvPicPr>
          <p:cNvPr id="13"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4"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27/33</a:t>
            </a:r>
          </a:p>
        </p:txBody>
      </p:sp>
      <p:sp>
        <p:nvSpPr>
          <p:cNvPr id="15" name="矩形 14">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215">
            <a:extLst>
              <a:ext uri="{FF2B5EF4-FFF2-40B4-BE49-F238E27FC236}">
                <a16:creationId xmlns:a16="http://schemas.microsoft.com/office/drawing/2014/main" id="{7819CEB8-B15B-42F4-860C-8AA3D9AF571B}"/>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defRPr sz="1800" b="1">
                <a:solidFill>
                  <a:srgbClr val="A52A36"/>
                </a:solidFill>
                <a:latin typeface="Microsoft YaHei"/>
                <a:ea typeface="Microsoft YaHei"/>
                <a:cs typeface="Microsoft YaHei"/>
              </a:defRPr>
            </a:pPr>
            <a:r>
              <a:rPr lang="zh-CN" altLang="en-US" sz="3300" b="1" dirty="0">
                <a:solidFill>
                  <a:srgbClr val="A52A36"/>
                </a:solidFill>
                <a:latin typeface="Microsoft YaHei"/>
                <a:ea typeface="Microsoft YaHei"/>
              </a:rPr>
              <a:t>实验三：模型泛化实验</a:t>
            </a:r>
          </a:p>
        </p:txBody>
      </p:sp>
      <p:pic>
        <p:nvPicPr>
          <p:cNvPr id="3"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4"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28/33</a:t>
            </a:r>
          </a:p>
        </p:txBody>
      </p:sp>
      <p:sp>
        <p:nvSpPr>
          <p:cNvPr id="5" name="added-text"/>
          <p:cNvSpPr txBox="1"/>
          <p:nvPr/>
        </p:nvSpPr>
        <p:spPr>
          <a:xfrm>
            <a:off x="685800" y="981075"/>
            <a:ext cx="10820400" cy="628650"/>
          </a:xfrm>
          <a:prstGeom prst="rect">
            <a:avLst/>
          </a:prstGeom>
          <a:noFill/>
        </p:spPr>
        <p:txBody>
          <a:bodyPr wrap="square" lIns="0" tIns="0" rIns="0" bIns="0"/>
          <a:lstStyle/>
          <a:p>
            <a:r>
              <a:rPr lang="zh-CN" altLang="en-US" sz="2400" b="1" dirty="0">
                <a:solidFill>
                  <a:srgbClr val="A52A36"/>
                </a:solidFill>
                <a:latin typeface="Microsoft YaHei"/>
                <a:ea typeface="Microsoft YaHei"/>
              </a:rPr>
              <a:t>对新型恶意活动的检测与样本适应</a:t>
            </a:r>
          </a:p>
        </p:txBody>
      </p:sp>
      <p:sp>
        <p:nvSpPr>
          <p:cNvPr id="6" name="added-text"/>
          <p:cNvSpPr txBox="1"/>
          <p:nvPr/>
        </p:nvSpPr>
        <p:spPr>
          <a:xfrm>
            <a:off x="685800" y="1657350"/>
            <a:ext cx="10820400" cy="295275"/>
          </a:xfrm>
          <a:prstGeom prst="rect">
            <a:avLst/>
          </a:prstGeom>
          <a:noFill/>
        </p:spPr>
        <p:txBody>
          <a:bodyPr wrap="square" lIns="0" tIns="0" rIns="0" bIns="0"/>
          <a:lstStyle/>
          <a:p>
            <a:r>
              <a:rPr lang="zh-CN" sz="1600" b="0" dirty="0">
                <a:solidFill>
                  <a:srgbClr val="26292E"/>
                </a:solidFill>
                <a:latin typeface="Microsoft YaHei"/>
                <a:ea typeface="Microsoft YaHei"/>
              </a:rPr>
              <a:t>横轴：加入训练的目标活动标注样本比例    纵轴：F</a:t>
            </a:r>
            <a:r>
              <a:rPr lang="en-US" altLang="zh-CN" sz="1600" dirty="0">
                <a:solidFill>
                  <a:srgbClr val="26292E"/>
                </a:solidFill>
                <a:latin typeface="Microsoft YaHei"/>
                <a:ea typeface="Microsoft YaHei"/>
              </a:rPr>
              <a:t>1-score</a:t>
            </a:r>
            <a:r>
              <a:rPr lang="zh-CN" altLang="en-US" sz="1600" dirty="0">
                <a:solidFill>
                  <a:srgbClr val="26292E"/>
                </a:solidFill>
                <a:latin typeface="Microsoft YaHei"/>
                <a:ea typeface="Microsoft YaHei"/>
              </a:rPr>
              <a:t>。</a:t>
            </a:r>
            <a:endParaRPr lang="zh-CN" sz="1600" b="0" dirty="0">
              <a:solidFill>
                <a:srgbClr val="26292E"/>
              </a:solidFill>
              <a:latin typeface="Microsoft YaHei"/>
              <a:ea typeface="Microsoft YaHei"/>
            </a:endParaRPr>
          </a:p>
        </p:txBody>
      </p:sp>
      <p:sp>
        <p:nvSpPr>
          <p:cNvPr id="7" name="added-text"/>
          <p:cNvSpPr txBox="1"/>
          <p:nvPr/>
        </p:nvSpPr>
        <p:spPr>
          <a:xfrm>
            <a:off x="685800" y="2028825"/>
            <a:ext cx="5238750" cy="314325"/>
          </a:xfrm>
          <a:prstGeom prst="rect">
            <a:avLst/>
          </a:prstGeom>
          <a:noFill/>
        </p:spPr>
        <p:txBody>
          <a:bodyPr wrap="square" lIns="0" tIns="0" rIns="0" bIns="0"/>
          <a:lstStyle/>
          <a:p>
            <a:r>
              <a:rPr lang="zh-CN" sz="2000" b="1">
                <a:solidFill>
                  <a:srgbClr val="A52A36"/>
                </a:solidFill>
                <a:latin typeface="Microsoft YaHei"/>
                <a:ea typeface="Microsoft YaHei"/>
              </a:rPr>
              <a:t>一对多（OvR）：两类已知活动 → 新活动</a:t>
            </a:r>
          </a:p>
        </p:txBody>
      </p:sp>
      <p:sp>
        <p:nvSpPr>
          <p:cNvPr id="8" name="added-text"/>
          <p:cNvSpPr txBox="1"/>
          <p:nvPr/>
        </p:nvSpPr>
        <p:spPr>
          <a:xfrm>
            <a:off x="6267450" y="2028825"/>
            <a:ext cx="5238750" cy="314325"/>
          </a:xfrm>
          <a:prstGeom prst="rect">
            <a:avLst/>
          </a:prstGeom>
          <a:noFill/>
        </p:spPr>
        <p:txBody>
          <a:bodyPr wrap="square" lIns="0" tIns="0" rIns="0" bIns="0"/>
          <a:lstStyle/>
          <a:p>
            <a:r>
              <a:rPr lang="zh-CN" sz="2000" b="1">
                <a:solidFill>
                  <a:srgbClr val="A52A36"/>
                </a:solidFill>
                <a:latin typeface="Microsoft YaHei"/>
                <a:ea typeface="Microsoft YaHei"/>
              </a:rPr>
              <a:t>一对一（OvO）：一类已知活动 → 新活动</a:t>
            </a:r>
          </a:p>
        </p:txBody>
      </p:sp>
      <p:graphicFrame>
        <p:nvGraphicFramePr>
          <p:cNvPr id="9" name="Chart">
            <a:extLst>
              <a:ext uri="{FF2B5EF4-FFF2-40B4-BE49-F238E27FC236}">
                <a16:creationId xmlns:a16="http://schemas.microsoft.com/office/drawing/2014/main" id="{A0E4F588-252C-4345-9E2B-4E3E41099FBE}"/>
              </a:ext>
            </a:extLst>
          </p:cNvPr>
          <p:cNvGraphicFramePr/>
          <p:nvPr/>
        </p:nvGraphicFramePr>
        <p:xfrm>
          <a:off x="685800" y="2381250"/>
          <a:ext cx="5238750" cy="21907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a:extLst>
              <a:ext uri="{FF2B5EF4-FFF2-40B4-BE49-F238E27FC236}">
                <a16:creationId xmlns:a16="http://schemas.microsoft.com/office/drawing/2014/main" id="{2EBDEE98-24B7-4A64-A413-3FB905B473B6}"/>
              </a:ext>
            </a:extLst>
          </p:cNvPr>
          <p:cNvGraphicFramePr/>
          <p:nvPr/>
        </p:nvGraphicFramePr>
        <p:xfrm>
          <a:off x="6267450" y="2381250"/>
          <a:ext cx="5238750" cy="2190750"/>
        </p:xfrm>
        <a:graphic>
          <a:graphicData uri="http://schemas.openxmlformats.org/drawingml/2006/chart">
            <c:chart xmlns:c="http://schemas.openxmlformats.org/drawingml/2006/chart" xmlns:r="http://schemas.openxmlformats.org/officeDocument/2006/relationships" r:id="rId5"/>
          </a:graphicData>
        </a:graphic>
      </p:graphicFrame>
      <p:sp>
        <p:nvSpPr>
          <p:cNvPr id="11" name="added-text"/>
          <p:cNvSpPr txBox="1"/>
          <p:nvPr/>
        </p:nvSpPr>
        <p:spPr>
          <a:xfrm>
            <a:off x="685800" y="4619625"/>
            <a:ext cx="2647950" cy="219075"/>
          </a:xfrm>
          <a:prstGeom prst="rect">
            <a:avLst/>
          </a:prstGeom>
          <a:noFill/>
        </p:spPr>
        <p:txBody>
          <a:bodyPr wrap="square" lIns="0" tIns="0" rIns="0" bIns="0"/>
          <a:lstStyle/>
          <a:p>
            <a:r>
              <a:rPr lang="zh-CN" sz="1200" b="1">
                <a:solidFill>
                  <a:srgbClr val="A52A36"/>
                </a:solidFill>
                <a:latin typeface="Microsoft YaHei"/>
                <a:ea typeface="Microsoft YaHei"/>
              </a:rPr>
              <a:t>客服+非法→赠奖</a:t>
            </a:r>
          </a:p>
        </p:txBody>
      </p:sp>
      <p:sp>
        <p:nvSpPr>
          <p:cNvPr id="12" name="added-text"/>
          <p:cNvSpPr txBox="1"/>
          <p:nvPr/>
        </p:nvSpPr>
        <p:spPr>
          <a:xfrm>
            <a:off x="3333750" y="4619625"/>
            <a:ext cx="2647950" cy="219075"/>
          </a:xfrm>
          <a:prstGeom prst="rect">
            <a:avLst/>
          </a:prstGeom>
          <a:noFill/>
        </p:spPr>
        <p:txBody>
          <a:bodyPr wrap="square" lIns="0" tIns="0" rIns="0" bIns="0"/>
          <a:lstStyle/>
          <a:p>
            <a:r>
              <a:rPr lang="zh-CN" sz="1200" b="1">
                <a:solidFill>
                  <a:srgbClr val="287B78"/>
                </a:solidFill>
                <a:latin typeface="Microsoft YaHei"/>
                <a:ea typeface="Microsoft YaHei"/>
              </a:rPr>
              <a:t>客服+赠奖→非法</a:t>
            </a:r>
          </a:p>
        </p:txBody>
      </p:sp>
      <p:sp>
        <p:nvSpPr>
          <p:cNvPr id="13" name="added-text"/>
          <p:cNvSpPr txBox="1"/>
          <p:nvPr/>
        </p:nvSpPr>
        <p:spPr>
          <a:xfrm>
            <a:off x="2009775" y="4629150"/>
            <a:ext cx="2647950" cy="219075"/>
          </a:xfrm>
          <a:prstGeom prst="rect">
            <a:avLst/>
          </a:prstGeom>
          <a:noFill/>
        </p:spPr>
        <p:txBody>
          <a:bodyPr wrap="square" lIns="0" tIns="0" rIns="0" bIns="0"/>
          <a:lstStyle/>
          <a:p>
            <a:r>
              <a:rPr lang="zh-CN" sz="1200" b="1" dirty="0">
                <a:solidFill>
                  <a:srgbClr val="3C6C9C"/>
                </a:solidFill>
                <a:latin typeface="Microsoft YaHei"/>
                <a:ea typeface="Microsoft YaHei"/>
              </a:rPr>
              <a:t>非法+赠奖→客服</a:t>
            </a:r>
          </a:p>
        </p:txBody>
      </p:sp>
      <p:sp>
        <p:nvSpPr>
          <p:cNvPr id="14" name="added-text"/>
          <p:cNvSpPr txBox="1"/>
          <p:nvPr/>
        </p:nvSpPr>
        <p:spPr>
          <a:xfrm>
            <a:off x="6267450" y="4619625"/>
            <a:ext cx="1752600" cy="219075"/>
          </a:xfrm>
          <a:prstGeom prst="rect">
            <a:avLst/>
          </a:prstGeom>
          <a:noFill/>
        </p:spPr>
        <p:txBody>
          <a:bodyPr wrap="square" lIns="0" tIns="0" rIns="0" bIns="0"/>
          <a:lstStyle/>
          <a:p>
            <a:r>
              <a:rPr lang="zh-CN" sz="1200" b="1">
                <a:solidFill>
                  <a:srgbClr val="A52A36"/>
                </a:solidFill>
                <a:latin typeface="Microsoft YaHei"/>
                <a:ea typeface="Microsoft YaHei"/>
              </a:rPr>
              <a:t>客服→非法</a:t>
            </a:r>
          </a:p>
        </p:txBody>
      </p:sp>
      <p:sp>
        <p:nvSpPr>
          <p:cNvPr id="15" name="added-text"/>
          <p:cNvSpPr txBox="1"/>
          <p:nvPr/>
        </p:nvSpPr>
        <p:spPr>
          <a:xfrm>
            <a:off x="8020050" y="4619625"/>
            <a:ext cx="1752600" cy="219075"/>
          </a:xfrm>
          <a:prstGeom prst="rect">
            <a:avLst/>
          </a:prstGeom>
          <a:noFill/>
        </p:spPr>
        <p:txBody>
          <a:bodyPr wrap="square" lIns="0" tIns="0" rIns="0" bIns="0"/>
          <a:lstStyle/>
          <a:p>
            <a:r>
              <a:rPr lang="zh-CN" sz="1200" b="1">
                <a:solidFill>
                  <a:srgbClr val="287B78"/>
                </a:solidFill>
                <a:latin typeface="Microsoft YaHei"/>
                <a:ea typeface="Microsoft YaHei"/>
              </a:rPr>
              <a:t>客服→赠奖</a:t>
            </a:r>
          </a:p>
        </p:txBody>
      </p:sp>
      <p:sp>
        <p:nvSpPr>
          <p:cNvPr id="16" name="added-text"/>
          <p:cNvSpPr txBox="1"/>
          <p:nvPr/>
        </p:nvSpPr>
        <p:spPr>
          <a:xfrm>
            <a:off x="9772650" y="4619625"/>
            <a:ext cx="1752600" cy="219075"/>
          </a:xfrm>
          <a:prstGeom prst="rect">
            <a:avLst/>
          </a:prstGeom>
          <a:noFill/>
        </p:spPr>
        <p:txBody>
          <a:bodyPr wrap="square" lIns="0" tIns="0" rIns="0" bIns="0"/>
          <a:lstStyle/>
          <a:p>
            <a:r>
              <a:rPr lang="zh-CN" sz="1200" b="1">
                <a:solidFill>
                  <a:srgbClr val="3C6C9C"/>
                </a:solidFill>
                <a:latin typeface="Microsoft YaHei"/>
                <a:ea typeface="Microsoft YaHei"/>
              </a:rPr>
              <a:t>非法→客服</a:t>
            </a:r>
          </a:p>
        </p:txBody>
      </p:sp>
      <p:sp>
        <p:nvSpPr>
          <p:cNvPr id="17" name="added-text"/>
          <p:cNvSpPr txBox="1"/>
          <p:nvPr/>
        </p:nvSpPr>
        <p:spPr>
          <a:xfrm>
            <a:off x="6267450" y="4848225"/>
            <a:ext cx="1752600" cy="219075"/>
          </a:xfrm>
          <a:prstGeom prst="rect">
            <a:avLst/>
          </a:prstGeom>
          <a:noFill/>
        </p:spPr>
        <p:txBody>
          <a:bodyPr wrap="square" lIns="0" tIns="0" rIns="0" bIns="0"/>
          <a:lstStyle/>
          <a:p>
            <a:r>
              <a:rPr lang="zh-CN" sz="1200" b="1">
                <a:solidFill>
                  <a:srgbClr val="B37C29"/>
                </a:solidFill>
                <a:latin typeface="Microsoft YaHei"/>
                <a:ea typeface="Microsoft YaHei"/>
              </a:rPr>
              <a:t>非法→赠奖</a:t>
            </a:r>
          </a:p>
        </p:txBody>
      </p:sp>
      <p:sp>
        <p:nvSpPr>
          <p:cNvPr id="18" name="added-text"/>
          <p:cNvSpPr txBox="1"/>
          <p:nvPr/>
        </p:nvSpPr>
        <p:spPr>
          <a:xfrm>
            <a:off x="8020050" y="4848225"/>
            <a:ext cx="1752600" cy="219075"/>
          </a:xfrm>
          <a:prstGeom prst="rect">
            <a:avLst/>
          </a:prstGeom>
          <a:noFill/>
        </p:spPr>
        <p:txBody>
          <a:bodyPr wrap="square" lIns="0" tIns="0" rIns="0" bIns="0"/>
          <a:lstStyle/>
          <a:p>
            <a:r>
              <a:rPr lang="zh-CN" sz="1200" b="1">
                <a:solidFill>
                  <a:srgbClr val="8660A5"/>
                </a:solidFill>
                <a:latin typeface="Microsoft YaHei"/>
                <a:ea typeface="Microsoft YaHei"/>
              </a:rPr>
              <a:t>赠奖→客服</a:t>
            </a:r>
          </a:p>
        </p:txBody>
      </p:sp>
      <p:sp>
        <p:nvSpPr>
          <p:cNvPr id="19" name="added-text"/>
          <p:cNvSpPr txBox="1"/>
          <p:nvPr/>
        </p:nvSpPr>
        <p:spPr>
          <a:xfrm>
            <a:off x="9772650" y="4848225"/>
            <a:ext cx="1752600" cy="219075"/>
          </a:xfrm>
          <a:prstGeom prst="rect">
            <a:avLst/>
          </a:prstGeom>
          <a:noFill/>
        </p:spPr>
        <p:txBody>
          <a:bodyPr wrap="square" lIns="0" tIns="0" rIns="0" bIns="0"/>
          <a:lstStyle/>
          <a:p>
            <a:r>
              <a:rPr lang="zh-CN" sz="1200" b="1">
                <a:solidFill>
                  <a:srgbClr val="555555"/>
                </a:solidFill>
                <a:latin typeface="Microsoft YaHei"/>
                <a:ea typeface="Microsoft YaHei"/>
              </a:rPr>
              <a:t>赠奖→非法</a:t>
            </a:r>
          </a:p>
        </p:txBody>
      </p:sp>
      <p:sp>
        <p:nvSpPr>
          <p:cNvPr id="20" name="added-text"/>
          <p:cNvSpPr txBox="1"/>
          <p:nvPr/>
        </p:nvSpPr>
        <p:spPr>
          <a:xfrm>
            <a:off x="685800" y="5133975"/>
            <a:ext cx="10820400" cy="1352550"/>
          </a:xfrm>
          <a:prstGeom prst="rect">
            <a:avLst/>
          </a:prstGeom>
          <a:solidFill>
            <a:srgbClr val="FFFFFF"/>
          </a:solidFill>
          <a:ln w="12700">
            <a:solidFill>
              <a:srgbClr val="A52A36"/>
            </a:solidFill>
          </a:ln>
        </p:spPr>
      </p:sp>
      <p:sp>
        <p:nvSpPr>
          <p:cNvPr id="21" name="added-text"/>
          <p:cNvSpPr txBox="1"/>
          <p:nvPr/>
        </p:nvSpPr>
        <p:spPr>
          <a:xfrm>
            <a:off x="866775" y="5200650"/>
            <a:ext cx="10458450" cy="276225"/>
          </a:xfrm>
          <a:prstGeom prst="rect">
            <a:avLst/>
          </a:prstGeom>
          <a:noFill/>
        </p:spPr>
        <p:txBody>
          <a:bodyPr wrap="square" lIns="0" tIns="0" rIns="0" bIns="0"/>
          <a:lstStyle/>
          <a:p>
            <a:r>
              <a:rPr lang="zh-CN" sz="1900" b="1">
                <a:solidFill>
                  <a:srgbClr val="A52A36"/>
                </a:solidFill>
                <a:latin typeface="Microsoft YaHei"/>
                <a:ea typeface="Microsoft YaHei"/>
              </a:rPr>
              <a:t>实验目的</a:t>
            </a:r>
          </a:p>
        </p:txBody>
      </p:sp>
      <p:sp>
        <p:nvSpPr>
          <p:cNvPr id="22" name="added-text"/>
          <p:cNvSpPr txBox="1"/>
          <p:nvPr/>
        </p:nvSpPr>
        <p:spPr>
          <a:xfrm>
            <a:off x="866775" y="5476875"/>
            <a:ext cx="10458450" cy="285750"/>
          </a:xfrm>
          <a:prstGeom prst="rect">
            <a:avLst/>
          </a:prstGeom>
          <a:noFill/>
        </p:spPr>
        <p:txBody>
          <a:bodyPr wrap="square" lIns="0" tIns="0" rIns="0" bIns="0"/>
          <a:lstStyle/>
          <a:p>
            <a:r>
              <a:rPr lang="zh-CN" sz="1700" b="0">
                <a:solidFill>
                  <a:srgbClr val="26292E"/>
                </a:solidFill>
                <a:latin typeface="Microsoft YaHei"/>
                <a:ea typeface="Microsoft YaHei"/>
              </a:rPr>
              <a:t>比较不同训练活动组合对新活动的检测能力，以及加入目标活动标注样本后的改善。</a:t>
            </a:r>
          </a:p>
        </p:txBody>
      </p:sp>
      <p:sp>
        <p:nvSpPr>
          <p:cNvPr id="23" name="added-text"/>
          <p:cNvSpPr txBox="1"/>
          <p:nvPr/>
        </p:nvSpPr>
        <p:spPr>
          <a:xfrm>
            <a:off x="866775" y="5743575"/>
            <a:ext cx="10458450" cy="266700"/>
          </a:xfrm>
          <a:prstGeom prst="rect">
            <a:avLst/>
          </a:prstGeom>
          <a:noFill/>
        </p:spPr>
        <p:txBody>
          <a:bodyPr wrap="square" lIns="0" tIns="0" rIns="0" bIns="0"/>
          <a:lstStyle/>
          <a:p>
            <a:r>
              <a:rPr lang="zh-CN" sz="1900" b="1">
                <a:solidFill>
                  <a:srgbClr val="A52A36"/>
                </a:solidFill>
                <a:latin typeface="Microsoft YaHei"/>
                <a:ea typeface="Microsoft YaHei"/>
              </a:rPr>
              <a:t>实验结论</a:t>
            </a:r>
          </a:p>
        </p:txBody>
      </p:sp>
      <p:sp>
        <p:nvSpPr>
          <p:cNvPr id="24" name="added-text"/>
          <p:cNvSpPr txBox="1"/>
          <p:nvPr/>
        </p:nvSpPr>
        <p:spPr>
          <a:xfrm>
            <a:off x="866775" y="6000750"/>
            <a:ext cx="10458450" cy="466725"/>
          </a:xfrm>
          <a:prstGeom prst="rect">
            <a:avLst/>
          </a:prstGeom>
          <a:noFill/>
        </p:spPr>
        <p:txBody>
          <a:bodyPr wrap="square" lIns="0" tIns="0" rIns="0" bIns="0"/>
          <a:lstStyle/>
          <a:p>
            <a:r>
              <a:rPr lang="zh-CN" altLang="zh-CN" sz="1600" dirty="0"/>
              <a:t>训练中纳入更多子类可显著提高泛化能力。因此，若要有效识别新型或不断演化的代理，数 据应覆盖尽可能多样的行为分布</a:t>
            </a:r>
            <a:endParaRPr lang="zh-CN" sz="1450" b="1" dirty="0">
              <a:solidFill>
                <a:srgbClr val="A52A36"/>
              </a:solidFill>
              <a:latin typeface="Microsoft YaHei"/>
              <a:ea typeface="Microsoft YaHei"/>
            </a:endParaRPr>
          </a:p>
        </p:txBody>
      </p:sp>
      <p:sp>
        <p:nvSpPr>
          <p:cNvPr id="25" name="矩形 24">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147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文本框 34"/>
          <p:cNvSpPr txBox="1"/>
          <p:nvPr/>
        </p:nvSpPr>
        <p:spPr>
          <a:xfrm>
            <a:off x="3177702" y="993482"/>
            <a:ext cx="5836596" cy="3062377"/>
          </a:xfrm>
          <a:prstGeom prst="rect">
            <a:avLst/>
          </a:prstGeom>
          <a:noFill/>
        </p:spPr>
        <p:txBody>
          <a:bodyPr wrap="square" lIns="0" tIns="0" rIns="0" bIns="0" rtlCol="0">
            <a:spAutoFit/>
          </a:bodyPr>
          <a:lstStyle/>
          <a:p>
            <a:pPr lvl="0" algn="ctr">
              <a:buClrTx/>
              <a:buSzTx/>
              <a:buFontTx/>
            </a:pPr>
            <a:r>
              <a:rPr lang="en-US" altLang="zh-CN" sz="19900" b="1" dirty="0">
                <a:solidFill>
                  <a:srgbClr val="EFE3E5"/>
                </a:solidFill>
                <a:latin typeface="Arial" panose="020B0604020202020204"/>
                <a:ea typeface="微软雅黑" panose="020B0503020204020204" pitchFamily="34" charset="-122"/>
                <a:cs typeface="思源宋体 CN Heavy" panose="02020900000000000000" charset="-122"/>
                <a:sym typeface="Arial" panose="020B0604020202020204"/>
              </a:rPr>
              <a:t>05</a:t>
            </a:r>
          </a:p>
        </p:txBody>
      </p:sp>
      <p:sp>
        <p:nvSpPr>
          <p:cNvPr id="3" name="文本框 35"/>
          <p:cNvSpPr txBox="1"/>
          <p:nvPr/>
        </p:nvSpPr>
        <p:spPr>
          <a:xfrm>
            <a:off x="2135505" y="2179870"/>
            <a:ext cx="7920990" cy="1107440"/>
          </a:xfrm>
          <a:prstGeom prst="rect">
            <a:avLst/>
          </a:prstGeom>
          <a:noFill/>
        </p:spPr>
        <p:txBody>
          <a:bodyPr wrap="square" lIns="0" tIns="0" rIns="0" bIns="0" rtlCol="0">
            <a:spAutoFit/>
          </a:bodyPr>
          <a:lstStyle/>
          <a:p>
            <a:pPr lvl="0" algn="ctr">
              <a:buClrTx/>
              <a:buSzTx/>
              <a:buFontTx/>
            </a:pPr>
            <a:r>
              <a:rPr lang="zh-CN" altLang="en-US" sz="7200" b="1" dirty="0">
                <a:solidFill>
                  <a:srgbClr val="A52A36"/>
                </a:solidFill>
                <a:effectLst/>
                <a:latin typeface="汉仪大宋简" pitchFamily="49" charset="-122"/>
                <a:ea typeface="汉仪大宋简" pitchFamily="49" charset="-122"/>
                <a:cs typeface="思源宋体 CN Heavy" panose="02020900000000000000" charset="-122"/>
                <a:sym typeface="Arial" panose="020B0604020202020204"/>
              </a:rPr>
              <a:t>全文结论</a:t>
            </a:r>
          </a:p>
        </p:txBody>
      </p:sp>
      <p:sp>
        <p:nvSpPr>
          <p:cNvPr id="4" name="文本框 36"/>
          <p:cNvSpPr txBox="1"/>
          <p:nvPr/>
        </p:nvSpPr>
        <p:spPr>
          <a:xfrm>
            <a:off x="2286000" y="3685368"/>
            <a:ext cx="7620000" cy="276860"/>
          </a:xfrm>
          <a:prstGeom prst="rect">
            <a:avLst/>
          </a:prstGeom>
          <a:noFill/>
        </p:spPr>
        <p:txBody>
          <a:bodyPr wrap="square" lIns="0" tIns="0" rIns="0" bIns="0" rtlCol="0" anchor="t">
            <a:spAutoFit/>
          </a:bodyPr>
          <a:lstStyle/>
          <a:p>
            <a:pPr lvl="0" algn="ctr">
              <a:buClrTx/>
              <a:buSzTx/>
              <a:buFontTx/>
            </a:pPr>
            <a:r>
              <a:rPr lang="en-US" altLang="zh-CN" dirty="0">
                <a:ln w="3175">
                  <a:noFill/>
                </a:ln>
                <a:solidFill>
                  <a:srgbClr val="333333">
                    <a:lumMod val="65000"/>
                    <a:lumOff val="35000"/>
                  </a:srgbClr>
                </a:solidFill>
                <a:latin typeface="Times New Roman" panose="02020603050405020304" pitchFamily="18" charset="0"/>
                <a:ea typeface="微软雅黑" panose="020B0503020204020204" pitchFamily="34" charset="-122"/>
                <a:cs typeface="思源宋体 CN Heavy" panose="02020900000000000000" charset="-122"/>
                <a:sym typeface="Arial" panose="020B0604020202020204"/>
              </a:rPr>
              <a:t>Conclusions</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29/33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结论</a:t>
            </a:r>
            <a:endParaRPr sz="3300" b="1" dirty="0">
              <a:solidFill>
                <a:srgbClr val="A52A36"/>
              </a:solidFill>
              <a:latin typeface="Microsoft YaHei"/>
              <a:ea typeface="Microsoft YaHei"/>
            </a:endParaRPr>
          </a:p>
        </p:txBody>
      </p:sp>
      <p:sp>
        <p:nvSpPr>
          <p:cNvPr id="3" name="refine-text-22">
            <a:extLst>
              <a:ext uri="{FF2B5EF4-FFF2-40B4-BE49-F238E27FC236}">
                <a16:creationId xmlns:a16="http://schemas.microsoft.com/office/drawing/2014/main" id="{618D1E02-889B-4F96-B876-2C3B9556BB6E}"/>
              </a:ext>
            </a:extLst>
          </p:cNvPr>
          <p:cNvSpPr>
            <a:spLocks noGrp="1"/>
          </p:cNvSpPr>
          <p:nvPr/>
        </p:nvSpPr>
        <p:spPr>
          <a:xfrm>
            <a:off x="685800" y="981075"/>
            <a:ext cx="10820400" cy="619125"/>
          </a:xfrm>
          <a:prstGeom prst="rect">
            <a:avLst/>
          </a:prstGeom>
          <a:noFill/>
          <a:ln w="0">
            <a:noFill/>
          </a:ln>
        </p:spPr>
        <p:txBody>
          <a:bodyPr wrap="square" lIns="0" tIns="0" rIns="0" bIns="0" anchor="t">
            <a:noAutofit/>
          </a:bodyPr>
          <a:lstStyle>
            <a:defPPr algn="l">
              <a:defRPr sz="3300" b="1">
                <a:solidFill>
                  <a:srgbClr val="A52A36"/>
                </a:solidFill>
                <a:latin typeface="Microsoft YaHei"/>
                <a:ea typeface="Microsoft YaHei"/>
                <a:cs typeface="Microsoft YaHei"/>
              </a:defRPr>
            </a:defPPr>
          </a:lstStyle>
          <a:p>
            <a:pPr algn="l">
              <a:defRPr sz="3300" b="1">
                <a:solidFill>
                  <a:srgbClr val="A52A36"/>
                </a:solidFill>
                <a:latin typeface="Microsoft YaHei"/>
                <a:ea typeface="Microsoft YaHei"/>
                <a:cs typeface="Microsoft YaHei"/>
              </a:defRPr>
            </a:pPr>
            <a:endParaRPr sz="2400" b="1" dirty="0">
              <a:solidFill>
                <a:srgbClr val="A52A36"/>
              </a:solidFill>
              <a:latin typeface="Microsoft YaHei"/>
              <a:ea typeface="Microsoft YaHei"/>
            </a:endParaRPr>
          </a:p>
        </p:txBody>
      </p:sp>
      <p:sp>
        <p:nvSpPr>
          <p:cNvPr id="4" name="refine-text-23">
            <a:extLst>
              <a:ext uri="{FF2B5EF4-FFF2-40B4-BE49-F238E27FC236}">
                <a16:creationId xmlns:a16="http://schemas.microsoft.com/office/drawing/2014/main" id="{99AFAE67-BF44-4FCA-BC62-C47D9C3D5384}"/>
              </a:ext>
            </a:extLst>
          </p:cNvPr>
          <p:cNvSpPr>
            <a:spLocks noGrp="1"/>
          </p:cNvSpPr>
          <p:nvPr/>
        </p:nvSpPr>
        <p:spPr>
          <a:xfrm>
            <a:off x="685800" y="1885950"/>
            <a:ext cx="4619625" cy="400050"/>
          </a:xfrm>
          <a:prstGeom prst="rect">
            <a:avLst/>
          </a:prstGeom>
          <a:noFill/>
          <a:ln w="0">
            <a:noFill/>
          </a:ln>
        </p:spPr>
        <p:txBody>
          <a:bodyPr wrap="square" lIns="0" tIns="0" rIns="0" bIns="0" anchor="t">
            <a:noAutofit/>
          </a:bodyPr>
          <a:lstStyle>
            <a:defPPr algn="l">
              <a:defRPr sz="2175" b="1">
                <a:solidFill>
                  <a:srgbClr val="9F2934"/>
                </a:solidFill>
                <a:latin typeface="Microsoft YaHei"/>
                <a:ea typeface="Microsoft YaHei"/>
                <a:cs typeface="Microsoft YaHei"/>
              </a:defRPr>
            </a:defPPr>
          </a:lstStyle>
          <a:p>
            <a:pPr algn="l">
              <a:defRPr sz="2175" b="1">
                <a:solidFill>
                  <a:srgbClr val="9F2934"/>
                </a:solidFill>
                <a:latin typeface="Microsoft YaHei"/>
                <a:ea typeface="Microsoft YaHei"/>
                <a:cs typeface="Microsoft YaHei"/>
              </a:defRPr>
            </a:pPr>
            <a:r>
              <a:rPr sz="2175" b="1">
                <a:solidFill>
                  <a:srgbClr val="9F2934"/>
                </a:solidFill>
                <a:latin typeface="Microsoft YaHei"/>
                <a:ea typeface="Microsoft YaHei"/>
                <a:cs typeface="Microsoft YaHei"/>
              </a:rPr>
              <a:t>01  测量刻画生态与行为</a:t>
            </a:r>
          </a:p>
        </p:txBody>
      </p:sp>
      <p:sp>
        <p:nvSpPr>
          <p:cNvPr id="5" name="refine-block-24">
            <a:extLst>
              <a:ext uri="{FF2B5EF4-FFF2-40B4-BE49-F238E27FC236}">
                <a16:creationId xmlns:a16="http://schemas.microsoft.com/office/drawing/2014/main" id="{9D11D35D-1AFE-450E-9B1E-C2BA0F9EB4E1}"/>
              </a:ext>
            </a:extLst>
          </p:cNvPr>
          <p:cNvSpPr>
            <a:spLocks noGrp="1"/>
          </p:cNvSpPr>
          <p:nvPr/>
        </p:nvSpPr>
        <p:spPr>
          <a:xfrm>
            <a:off x="685800" y="2381250"/>
            <a:ext cx="4619625" cy="2095500"/>
          </a:xfrm>
          <a:prstGeom prst="rect">
            <a:avLst/>
          </a:prstGeom>
          <a:noFill/>
          <a:ln w="12383">
            <a:solidFill>
              <a:srgbClr val="9F2934"/>
            </a:solidFill>
            <a:prstDash val="solid"/>
          </a:ln>
        </p:spPr>
      </p:sp>
      <p:sp>
        <p:nvSpPr>
          <p:cNvPr id="6" name="refine-text-25">
            <a:extLst>
              <a:ext uri="{FF2B5EF4-FFF2-40B4-BE49-F238E27FC236}">
                <a16:creationId xmlns:a16="http://schemas.microsoft.com/office/drawing/2014/main" id="{E1BC79D5-CBA7-4768-B364-C3951EC4BC2D}"/>
              </a:ext>
            </a:extLst>
          </p:cNvPr>
          <p:cNvSpPr>
            <a:spLocks noGrp="1"/>
          </p:cNvSpPr>
          <p:nvPr/>
        </p:nvSpPr>
        <p:spPr>
          <a:xfrm>
            <a:off x="904875" y="2619375"/>
            <a:ext cx="4162425" cy="523875"/>
          </a:xfrm>
          <a:prstGeom prst="rect">
            <a:avLst/>
          </a:prstGeom>
          <a:noFill/>
          <a:ln w="0">
            <a:noFill/>
          </a:ln>
        </p:spPr>
        <p:txBody>
          <a:bodyPr wrap="square" lIns="0" tIns="0" rIns="0" bIns="0" anchor="t">
            <a:noAutofit/>
          </a:bodyPr>
          <a:lstStyle>
            <a:defPPr algn="l">
              <a:defRPr sz="2925" b="1">
                <a:solidFill>
                  <a:srgbClr val="9F2934"/>
                </a:solidFill>
                <a:latin typeface="Microsoft YaHei"/>
                <a:ea typeface="Microsoft YaHei"/>
                <a:cs typeface="Microsoft YaHei"/>
              </a:defRPr>
            </a:defPPr>
          </a:lstStyle>
          <a:p>
            <a:pPr algn="l">
              <a:defRPr sz="2925" b="1">
                <a:solidFill>
                  <a:srgbClr val="9F2934"/>
                </a:solidFill>
                <a:latin typeface="Microsoft YaHei"/>
                <a:ea typeface="Microsoft YaHei"/>
                <a:cs typeface="Microsoft YaHei"/>
              </a:defRPr>
            </a:pPr>
            <a:r>
              <a:rPr sz="2925" b="1">
                <a:solidFill>
                  <a:srgbClr val="9F2934"/>
                </a:solidFill>
                <a:latin typeface="Microsoft YaHei"/>
                <a:ea typeface="Microsoft YaHei"/>
                <a:cs typeface="Microsoft YaHei"/>
              </a:rPr>
              <a:t>关键词诱捕</a:t>
            </a:r>
          </a:p>
        </p:txBody>
      </p:sp>
      <p:sp>
        <p:nvSpPr>
          <p:cNvPr id="7" name="refine-text-26">
            <a:extLst>
              <a:ext uri="{FF2B5EF4-FFF2-40B4-BE49-F238E27FC236}">
                <a16:creationId xmlns:a16="http://schemas.microsoft.com/office/drawing/2014/main" id="{A42B7120-8EE0-4BF9-9833-B0F464CED6C3}"/>
              </a:ext>
            </a:extLst>
          </p:cNvPr>
          <p:cNvSpPr>
            <a:spLocks noGrp="1"/>
          </p:cNvSpPr>
          <p:nvPr/>
        </p:nvSpPr>
        <p:spPr>
          <a:xfrm>
            <a:off x="904875" y="3305175"/>
            <a:ext cx="4162425" cy="9906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lang="zh-CN" altLang="en-US" sz="1875" b="0" dirty="0">
                <a:solidFill>
                  <a:srgbClr val="26282D"/>
                </a:solidFill>
                <a:latin typeface="Microsoft YaHei"/>
                <a:ea typeface="Microsoft YaHei"/>
                <a:cs typeface="Microsoft YaHei"/>
              </a:rPr>
              <a:t>通过触发机器人特殊的互动机制</a:t>
            </a:r>
            <a:r>
              <a:rPr lang="zh-CN" altLang="en-US" sz="1875" dirty="0">
                <a:solidFill>
                  <a:srgbClr val="26282D"/>
                </a:solidFill>
                <a:latin typeface="Microsoft YaHei"/>
                <a:ea typeface="Microsoft YaHei"/>
                <a:cs typeface="Microsoft YaHei"/>
              </a:rPr>
              <a:t>入手</a:t>
            </a:r>
            <a:r>
              <a:rPr sz="1875" b="0" dirty="0">
                <a:solidFill>
                  <a:srgbClr val="26282D"/>
                </a:solidFill>
                <a:latin typeface="Microsoft YaHei"/>
                <a:ea typeface="Microsoft YaHei"/>
                <a:cs typeface="Microsoft YaHei"/>
              </a:rPr>
              <a:t>。</a:t>
            </a:r>
          </a:p>
        </p:txBody>
      </p:sp>
      <p:sp>
        <p:nvSpPr>
          <p:cNvPr id="8" name="refine-text-27">
            <a:extLst>
              <a:ext uri="{FF2B5EF4-FFF2-40B4-BE49-F238E27FC236}">
                <a16:creationId xmlns:a16="http://schemas.microsoft.com/office/drawing/2014/main" id="{829582D1-1EF4-4BF7-9F5F-42FBE0EA5CE8}"/>
              </a:ext>
            </a:extLst>
          </p:cNvPr>
          <p:cNvSpPr>
            <a:spLocks noGrp="1"/>
          </p:cNvSpPr>
          <p:nvPr/>
        </p:nvSpPr>
        <p:spPr>
          <a:xfrm>
            <a:off x="5781675" y="1885950"/>
            <a:ext cx="5724525" cy="400050"/>
          </a:xfrm>
          <a:prstGeom prst="rect">
            <a:avLst/>
          </a:prstGeom>
          <a:noFill/>
          <a:ln w="0">
            <a:noFill/>
          </a:ln>
        </p:spPr>
        <p:txBody>
          <a:bodyPr wrap="square" lIns="0" tIns="0" rIns="0" bIns="0" anchor="t">
            <a:noAutofit/>
          </a:bodyPr>
          <a:lstStyle>
            <a:defPPr algn="l">
              <a:defRPr sz="2175" b="1">
                <a:solidFill>
                  <a:srgbClr val="2E746F"/>
                </a:solidFill>
                <a:latin typeface="Microsoft YaHei"/>
                <a:ea typeface="Microsoft YaHei"/>
                <a:cs typeface="Microsoft YaHei"/>
              </a:defRPr>
            </a:defPPr>
          </a:lstStyle>
          <a:p>
            <a:pPr algn="l">
              <a:defRPr sz="2175" b="1">
                <a:solidFill>
                  <a:srgbClr val="2E746F"/>
                </a:solidFill>
                <a:latin typeface="Microsoft YaHei"/>
                <a:ea typeface="Microsoft YaHei"/>
                <a:cs typeface="Microsoft YaHei"/>
              </a:defRPr>
            </a:pPr>
            <a:r>
              <a:rPr sz="2175" b="1">
                <a:solidFill>
                  <a:srgbClr val="2E746F"/>
                </a:solidFill>
                <a:latin typeface="Microsoft YaHei"/>
                <a:ea typeface="Microsoft YaHei"/>
                <a:cs typeface="Microsoft YaHei"/>
              </a:rPr>
              <a:t>02  TBTrackerX 及其机制</a:t>
            </a:r>
          </a:p>
        </p:txBody>
      </p:sp>
      <p:sp>
        <p:nvSpPr>
          <p:cNvPr id="9" name="refine-block-28">
            <a:extLst>
              <a:ext uri="{FF2B5EF4-FFF2-40B4-BE49-F238E27FC236}">
                <a16:creationId xmlns:a16="http://schemas.microsoft.com/office/drawing/2014/main" id="{F4187872-C7C7-4239-A3E9-EDD98F235F4A}"/>
              </a:ext>
            </a:extLst>
          </p:cNvPr>
          <p:cNvSpPr>
            <a:spLocks noGrp="1"/>
          </p:cNvSpPr>
          <p:nvPr/>
        </p:nvSpPr>
        <p:spPr>
          <a:xfrm>
            <a:off x="5781675" y="2381250"/>
            <a:ext cx="5724525" cy="2095500"/>
          </a:xfrm>
          <a:prstGeom prst="rect">
            <a:avLst/>
          </a:prstGeom>
          <a:solidFill>
            <a:srgbClr val="EAF3F1"/>
          </a:solidFill>
          <a:ln w="12383">
            <a:solidFill>
              <a:srgbClr val="2E746F"/>
            </a:solidFill>
            <a:prstDash val="solid"/>
          </a:ln>
        </p:spPr>
      </p:sp>
      <p:sp>
        <p:nvSpPr>
          <p:cNvPr id="10" name="refine-text-35">
            <a:extLst>
              <a:ext uri="{FF2B5EF4-FFF2-40B4-BE49-F238E27FC236}">
                <a16:creationId xmlns:a16="http://schemas.microsoft.com/office/drawing/2014/main" id="{14BB8EDD-A4CD-4ED7-BEC0-538315CBF6AE}"/>
              </a:ext>
            </a:extLst>
          </p:cNvPr>
          <p:cNvSpPr>
            <a:spLocks noGrp="1"/>
          </p:cNvSpPr>
          <p:nvPr/>
        </p:nvSpPr>
        <p:spPr>
          <a:xfrm>
            <a:off x="685800" y="4876800"/>
            <a:ext cx="10820400" cy="419100"/>
          </a:xfrm>
          <a:prstGeom prst="rect">
            <a:avLst/>
          </a:prstGeom>
          <a:noFill/>
          <a:ln w="0">
            <a:noFill/>
          </a:ln>
        </p:spPr>
        <p:txBody>
          <a:bodyPr wrap="square" lIns="0" tIns="0" rIns="0" bIns="0" anchor="t">
            <a:noAutofit/>
          </a:bodyPr>
          <a:lstStyle>
            <a:defPPr algn="l">
              <a:defRPr sz="2175" b="1">
                <a:solidFill>
                  <a:srgbClr val="916A2B"/>
                </a:solidFill>
                <a:latin typeface="Microsoft YaHei"/>
                <a:ea typeface="Microsoft YaHei"/>
                <a:cs typeface="Microsoft YaHei"/>
              </a:defRPr>
            </a:defPPr>
          </a:lstStyle>
          <a:p>
            <a:pPr algn="l">
              <a:defRPr sz="2175" b="1">
                <a:solidFill>
                  <a:srgbClr val="916A2B"/>
                </a:solidFill>
                <a:latin typeface="Microsoft YaHei"/>
                <a:ea typeface="Microsoft YaHei"/>
                <a:cs typeface="Microsoft YaHei"/>
              </a:defRPr>
            </a:pPr>
            <a:r>
              <a:rPr sz="2175" b="1" dirty="0">
                <a:solidFill>
                  <a:srgbClr val="916A2B"/>
                </a:solidFill>
                <a:latin typeface="Microsoft YaHei"/>
                <a:ea typeface="Microsoft YaHei"/>
                <a:cs typeface="Microsoft YaHei"/>
              </a:rPr>
              <a:t>03</a:t>
            </a:r>
            <a:r>
              <a:rPr lang="en-US" sz="2175" b="1" dirty="0">
                <a:solidFill>
                  <a:srgbClr val="916A2B"/>
                </a:solidFill>
                <a:latin typeface="Microsoft YaHei"/>
                <a:ea typeface="Microsoft YaHei"/>
                <a:cs typeface="Microsoft YaHei"/>
              </a:rPr>
              <a:t> </a:t>
            </a:r>
            <a:r>
              <a:rPr lang="zh-CN" altLang="en-US" sz="2175" b="1" dirty="0">
                <a:solidFill>
                  <a:srgbClr val="916A2B"/>
                </a:solidFill>
                <a:latin typeface="Microsoft YaHei"/>
                <a:ea typeface="Microsoft YaHei"/>
                <a:cs typeface="Microsoft YaHei"/>
              </a:rPr>
              <a:t>发现了触发机器人活动特征</a:t>
            </a:r>
            <a:endParaRPr sz="2175" b="1" dirty="0">
              <a:solidFill>
                <a:srgbClr val="916A2B"/>
              </a:solidFill>
              <a:latin typeface="Microsoft YaHei"/>
              <a:ea typeface="Microsoft YaHei"/>
              <a:cs typeface="Microsoft YaHei"/>
            </a:endParaRPr>
          </a:p>
        </p:txBody>
      </p:sp>
      <p:sp>
        <p:nvSpPr>
          <p:cNvPr id="11" name="refine-block-36">
            <a:extLst>
              <a:ext uri="{FF2B5EF4-FFF2-40B4-BE49-F238E27FC236}">
                <a16:creationId xmlns:a16="http://schemas.microsoft.com/office/drawing/2014/main" id="{FBEC6C51-B8AA-4F54-9F10-CF8C3BD44BAB}"/>
              </a:ext>
            </a:extLst>
          </p:cNvPr>
          <p:cNvSpPr>
            <a:spLocks noGrp="1"/>
          </p:cNvSpPr>
          <p:nvPr/>
        </p:nvSpPr>
        <p:spPr>
          <a:xfrm>
            <a:off x="685800" y="5391150"/>
            <a:ext cx="10820400" cy="1028700"/>
          </a:xfrm>
          <a:prstGeom prst="rect">
            <a:avLst/>
          </a:prstGeom>
          <a:noFill/>
          <a:ln w="12383">
            <a:solidFill>
              <a:srgbClr val="916A2B"/>
            </a:solidFill>
            <a:prstDash val="solid"/>
          </a:ln>
        </p:spPr>
      </p:sp>
      <p:sp>
        <p:nvSpPr>
          <p:cNvPr id="12" name="refine-text-37">
            <a:extLst>
              <a:ext uri="{FF2B5EF4-FFF2-40B4-BE49-F238E27FC236}">
                <a16:creationId xmlns:a16="http://schemas.microsoft.com/office/drawing/2014/main" id="{18DD4BCB-E849-4C73-A5F8-A19BF6275A4F}"/>
              </a:ext>
            </a:extLst>
          </p:cNvPr>
          <p:cNvSpPr>
            <a:spLocks noGrp="1"/>
          </p:cNvSpPr>
          <p:nvPr/>
        </p:nvSpPr>
        <p:spPr>
          <a:xfrm>
            <a:off x="895350" y="5591175"/>
            <a:ext cx="3886200" cy="409575"/>
          </a:xfrm>
          <a:prstGeom prst="rect">
            <a:avLst/>
          </a:prstGeom>
          <a:noFill/>
          <a:ln w="0">
            <a:noFill/>
          </a:ln>
        </p:spPr>
        <p:txBody>
          <a:bodyPr wrap="square" lIns="0" tIns="0" rIns="0" bIns="0" anchor="t">
            <a:noAutofit/>
          </a:bodyPr>
          <a:lstStyle>
            <a:defPPr algn="l">
              <a:defRPr sz="2250" b="1">
                <a:solidFill>
                  <a:srgbClr val="916A2B"/>
                </a:solidFill>
                <a:latin typeface="Microsoft YaHei"/>
                <a:ea typeface="Microsoft YaHei"/>
                <a:cs typeface="Microsoft YaHei"/>
              </a:defRPr>
            </a:defPPr>
          </a:lstStyle>
          <a:p>
            <a:pPr algn="l">
              <a:defRPr sz="2250" b="1">
                <a:solidFill>
                  <a:srgbClr val="916A2B"/>
                </a:solidFill>
                <a:latin typeface="Microsoft YaHei"/>
                <a:ea typeface="Microsoft YaHei"/>
                <a:cs typeface="Microsoft YaHei"/>
              </a:defRPr>
            </a:pPr>
            <a:endParaRPr sz="2250" b="1" dirty="0">
              <a:solidFill>
                <a:srgbClr val="916A2B"/>
              </a:solidFill>
              <a:latin typeface="Microsoft YaHei"/>
              <a:ea typeface="Microsoft YaHei"/>
              <a:cs typeface="Microsoft YaHei"/>
            </a:endParaRPr>
          </a:p>
        </p:txBody>
      </p:sp>
      <p:sp>
        <p:nvSpPr>
          <p:cNvPr id="13" name="refine-text-38">
            <a:extLst>
              <a:ext uri="{FF2B5EF4-FFF2-40B4-BE49-F238E27FC236}">
                <a16:creationId xmlns:a16="http://schemas.microsoft.com/office/drawing/2014/main" id="{90F19885-52B7-4126-8A69-11EC8D984751}"/>
              </a:ext>
            </a:extLst>
          </p:cNvPr>
          <p:cNvSpPr>
            <a:spLocks noGrp="1"/>
          </p:cNvSpPr>
          <p:nvPr/>
        </p:nvSpPr>
        <p:spPr>
          <a:xfrm>
            <a:off x="5143500" y="5600700"/>
            <a:ext cx="6143625" cy="6953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defRPr sz="1875" b="0">
                <a:solidFill>
                  <a:srgbClr val="26282D"/>
                </a:solidFill>
                <a:latin typeface="Microsoft YaHei"/>
                <a:ea typeface="Microsoft YaHei"/>
                <a:cs typeface="Microsoft YaHei"/>
              </a:defRPr>
            </a:pPr>
            <a:r>
              <a:rPr lang="zh-CN" altLang="zh-CN" sz="1875" dirty="0">
                <a:solidFill>
                  <a:srgbClr val="26282D"/>
                </a:solidFill>
                <a:latin typeface="Microsoft YaHei"/>
              </a:rPr>
              <a:t>揭示了不断演化的触发机器人生态和日益增长的协同社交媒体操纵活动</a:t>
            </a:r>
            <a:r>
              <a:rPr lang="zh-CN" altLang="en-US" sz="1875" dirty="0">
                <a:solidFill>
                  <a:srgbClr val="26282D"/>
                </a:solidFill>
                <a:latin typeface="Microsoft YaHei"/>
              </a:rPr>
              <a:t>。</a:t>
            </a:r>
            <a:endParaRPr sz="1875" b="0" dirty="0">
              <a:solidFill>
                <a:srgbClr val="26282D"/>
              </a:solidFill>
              <a:latin typeface="Microsoft YaHei"/>
              <a:ea typeface="Microsoft YaHei"/>
              <a:cs typeface="Microsoft YaHei"/>
            </a:endParaRPr>
          </a:p>
        </p:txBody>
      </p:sp>
      <p:pic>
        <p:nvPicPr>
          <p:cNvPr id="14"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5"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30/33</a:t>
            </a:r>
          </a:p>
        </p:txBody>
      </p:sp>
      <p:sp>
        <p:nvSpPr>
          <p:cNvPr id="16" name="added-text"/>
          <p:cNvSpPr txBox="1"/>
          <p:nvPr/>
        </p:nvSpPr>
        <p:spPr>
          <a:xfrm>
            <a:off x="6038850" y="2647950"/>
            <a:ext cx="5238750" cy="428625"/>
          </a:xfrm>
          <a:prstGeom prst="rect">
            <a:avLst/>
          </a:prstGeom>
          <a:noFill/>
        </p:spPr>
        <p:txBody>
          <a:bodyPr wrap="square" lIns="0" tIns="0" rIns="0" bIns="0"/>
          <a:lstStyle/>
          <a:p>
            <a:r>
              <a:rPr lang="zh-CN" sz="2600" b="1" dirty="0">
                <a:solidFill>
                  <a:srgbClr val="287B78"/>
                </a:solidFill>
                <a:latin typeface="Microsoft YaHei"/>
                <a:ea typeface="Microsoft YaHei"/>
              </a:rPr>
              <a:t>数据驱动分析</a:t>
            </a:r>
          </a:p>
        </p:txBody>
      </p:sp>
      <p:sp>
        <p:nvSpPr>
          <p:cNvPr id="17" name="added-text"/>
          <p:cNvSpPr txBox="1"/>
          <p:nvPr/>
        </p:nvSpPr>
        <p:spPr>
          <a:xfrm>
            <a:off x="6038850" y="3276600"/>
            <a:ext cx="5238750" cy="1076325"/>
          </a:xfrm>
          <a:prstGeom prst="rect">
            <a:avLst/>
          </a:prstGeom>
          <a:noFill/>
        </p:spPr>
        <p:txBody>
          <a:bodyPr wrap="square" lIns="0" tIns="0" rIns="0" bIns="0"/>
          <a:lstStyle/>
          <a:p>
            <a:r>
              <a:rPr lang="zh-CN" altLang="en-US" sz="2000" dirty="0">
                <a:solidFill>
                  <a:srgbClr val="26292E"/>
                </a:solidFill>
                <a:latin typeface="Microsoft YaHei"/>
                <a:ea typeface="Microsoft YaHei"/>
              </a:rPr>
              <a:t>手机样本</a:t>
            </a:r>
            <a:r>
              <a:rPr lang="zh-CN" sz="2000" b="0" dirty="0">
                <a:solidFill>
                  <a:srgbClr val="26292E"/>
                </a:solidFill>
                <a:latin typeface="Microsoft YaHei"/>
                <a:ea typeface="Microsoft YaHei"/>
              </a:rPr>
              <a:t>采集回复与账户资料</a:t>
            </a:r>
            <a:r>
              <a:rPr lang="zh-CN" altLang="en-US" sz="2000" dirty="0">
                <a:solidFill>
                  <a:srgbClr val="26292E"/>
                </a:solidFill>
                <a:latin typeface="Microsoft YaHei"/>
                <a:ea typeface="Microsoft YaHei"/>
              </a:rPr>
              <a:t>。</a:t>
            </a:r>
            <a:r>
              <a:rPr lang="zh-CN" sz="2000" b="0" dirty="0">
                <a:solidFill>
                  <a:srgbClr val="26292E"/>
                </a:solidFill>
                <a:latin typeface="Microsoft YaHei"/>
                <a:ea typeface="Microsoft YaHei"/>
              </a:rPr>
              <a:t>结合文本、时间和关系分析</a:t>
            </a:r>
            <a:r>
              <a:rPr lang="zh-CN" altLang="en-US" sz="2000" dirty="0">
                <a:solidFill>
                  <a:srgbClr val="26292E"/>
                </a:solidFill>
                <a:latin typeface="Microsoft YaHei"/>
                <a:ea typeface="Microsoft YaHei"/>
              </a:rPr>
              <a:t>触发机器人行为</a:t>
            </a:r>
            <a:r>
              <a:rPr lang="zh-CN" sz="2000" b="0" dirty="0">
                <a:solidFill>
                  <a:srgbClr val="26292E"/>
                </a:solidFill>
                <a:latin typeface="Microsoft YaHei"/>
                <a:ea typeface="Microsoft YaHei"/>
              </a:rPr>
              <a:t>；融合多类特征，检测恶意代理及活动类型。</a:t>
            </a:r>
          </a:p>
        </p:txBody>
      </p:sp>
      <p:sp>
        <p:nvSpPr>
          <p:cNvPr id="18" name="矩形 17">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
        <p:nvSpPr>
          <p:cNvPr id="22" name="文本框 21">
            <a:extLst>
              <a:ext uri="{FF2B5EF4-FFF2-40B4-BE49-F238E27FC236}">
                <a16:creationId xmlns:a16="http://schemas.microsoft.com/office/drawing/2014/main" id="{86274084-835B-1682-5B00-DFD37ED1989D}"/>
              </a:ext>
            </a:extLst>
          </p:cNvPr>
          <p:cNvSpPr txBox="1"/>
          <p:nvPr/>
        </p:nvSpPr>
        <p:spPr>
          <a:xfrm>
            <a:off x="815400" y="5712615"/>
            <a:ext cx="2259000" cy="427040"/>
          </a:xfrm>
          <a:prstGeom prst="rect">
            <a:avLst/>
          </a:prstGeom>
          <a:noFill/>
        </p:spPr>
        <p:txBody>
          <a:bodyPr wrap="square">
            <a:spAutoFit/>
          </a:bodyPr>
          <a:lstStyle/>
          <a:p>
            <a:r>
              <a:rPr lang="zh-CN" altLang="zh-CN" sz="2175" b="1" dirty="0">
                <a:solidFill>
                  <a:srgbClr val="916A2B"/>
                </a:solidFill>
                <a:latin typeface="Microsoft YaHei"/>
                <a:ea typeface="Microsoft YaHei"/>
              </a:rPr>
              <a:t>提供</a:t>
            </a:r>
            <a:r>
              <a:rPr lang="zh-CN" altLang="en-US" sz="2175" b="1" dirty="0">
                <a:solidFill>
                  <a:srgbClr val="916A2B"/>
                </a:solidFill>
                <a:latin typeface="Microsoft YaHei"/>
                <a:ea typeface="Microsoft YaHei"/>
              </a:rPr>
              <a:t>检测</a:t>
            </a:r>
            <a:r>
              <a:rPr lang="zh-CN" altLang="zh-CN" sz="2175" b="1" dirty="0">
                <a:solidFill>
                  <a:srgbClr val="916A2B"/>
                </a:solidFill>
                <a:latin typeface="Microsoft YaHei"/>
                <a:ea typeface="Microsoft YaHei"/>
              </a:rPr>
              <a:t>路径</a:t>
            </a:r>
            <a:endParaRPr lang="zh-CN" altLang="en-US" sz="2175" b="1" dirty="0">
              <a:solidFill>
                <a:srgbClr val="916A2B"/>
              </a:solidFill>
              <a:latin typeface="Microsoft YaHei"/>
              <a:ea typeface="Microsoft YaHei"/>
            </a:endParaRPr>
          </a:p>
        </p:txBody>
      </p:sp>
    </p:spTree>
    <p:extLst>
      <p:ext uri="{BB962C8B-B14F-4D97-AF65-F5344CB8AC3E}">
        <p14:creationId xmlns:p14="http://schemas.microsoft.com/office/powerpoint/2010/main" val="1813549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文本框 34"/>
          <p:cNvSpPr txBox="1"/>
          <p:nvPr/>
        </p:nvSpPr>
        <p:spPr>
          <a:xfrm>
            <a:off x="3177702" y="993482"/>
            <a:ext cx="5836596" cy="3062377"/>
          </a:xfrm>
          <a:prstGeom prst="rect">
            <a:avLst/>
          </a:prstGeom>
          <a:noFill/>
        </p:spPr>
        <p:txBody>
          <a:bodyPr wrap="square" lIns="0" tIns="0" rIns="0" bIns="0" rtlCol="0">
            <a:spAutoFit/>
          </a:bodyPr>
          <a:lstStyle/>
          <a:p>
            <a:pPr lvl="0" algn="ctr">
              <a:buClrTx/>
              <a:buSzTx/>
              <a:buFontTx/>
            </a:pPr>
            <a:r>
              <a:rPr lang="en-US" altLang="zh-CN" sz="19900" b="1" dirty="0">
                <a:solidFill>
                  <a:srgbClr val="EFE3E5"/>
                </a:solidFill>
                <a:latin typeface="Arial" panose="020B0604020202020204"/>
                <a:ea typeface="微软雅黑" panose="020B0503020204020204" pitchFamily="34" charset="-122"/>
                <a:cs typeface="思源宋体 CN Heavy" panose="02020900000000000000" charset="-122"/>
                <a:sym typeface="Arial" panose="020B0604020202020204"/>
              </a:rPr>
              <a:t>04</a:t>
            </a:r>
          </a:p>
        </p:txBody>
      </p:sp>
      <p:sp>
        <p:nvSpPr>
          <p:cNvPr id="3" name="文本框 35"/>
          <p:cNvSpPr txBox="1"/>
          <p:nvPr/>
        </p:nvSpPr>
        <p:spPr>
          <a:xfrm>
            <a:off x="2135505" y="2179870"/>
            <a:ext cx="7920990" cy="1107440"/>
          </a:xfrm>
          <a:prstGeom prst="rect">
            <a:avLst/>
          </a:prstGeom>
          <a:noFill/>
        </p:spPr>
        <p:txBody>
          <a:bodyPr wrap="square" lIns="0" tIns="0" rIns="0" bIns="0" rtlCol="0">
            <a:spAutoFit/>
          </a:bodyPr>
          <a:lstStyle/>
          <a:p>
            <a:pPr lvl="0" algn="ctr">
              <a:buClrTx/>
              <a:buSzTx/>
              <a:buFontTx/>
            </a:pPr>
            <a:r>
              <a:rPr lang="zh-CN" altLang="en-US" sz="7200" b="1" dirty="0">
                <a:solidFill>
                  <a:srgbClr val="A52A36"/>
                </a:solidFill>
                <a:effectLst/>
                <a:latin typeface="汉仪大宋简" pitchFamily="49" charset="-122"/>
                <a:ea typeface="汉仪大宋简" pitchFamily="49" charset="-122"/>
                <a:cs typeface="思源宋体 CN Heavy" panose="02020900000000000000" charset="-122"/>
                <a:sym typeface="Arial" panose="020B0604020202020204"/>
              </a:rPr>
              <a:t>讨论与研究展望</a:t>
            </a:r>
          </a:p>
        </p:txBody>
      </p:sp>
      <p:sp>
        <p:nvSpPr>
          <p:cNvPr id="4" name="文本框 36"/>
          <p:cNvSpPr txBox="1"/>
          <p:nvPr/>
        </p:nvSpPr>
        <p:spPr>
          <a:xfrm>
            <a:off x="2286000" y="3685368"/>
            <a:ext cx="7620000" cy="276860"/>
          </a:xfrm>
          <a:prstGeom prst="rect">
            <a:avLst/>
          </a:prstGeom>
          <a:noFill/>
        </p:spPr>
        <p:txBody>
          <a:bodyPr wrap="square" lIns="0" tIns="0" rIns="0" bIns="0" rtlCol="0" anchor="t">
            <a:spAutoFit/>
          </a:bodyPr>
          <a:lstStyle/>
          <a:p>
            <a:pPr lvl="0" algn="ctr">
              <a:buClrTx/>
              <a:buSzTx/>
              <a:buFontTx/>
            </a:pPr>
            <a:r>
              <a:rPr lang="en-US" altLang="zh-CN" dirty="0">
                <a:ln w="3175">
                  <a:noFill/>
                </a:ln>
                <a:solidFill>
                  <a:srgbClr val="333333">
                    <a:lumMod val="65000"/>
                    <a:lumOff val="35000"/>
                  </a:srgbClr>
                </a:solidFill>
                <a:latin typeface="Times New Roman" panose="02020603050405020304" pitchFamily="18" charset="0"/>
                <a:ea typeface="微软雅黑" panose="020B0503020204020204" pitchFamily="34" charset="-122"/>
                <a:cs typeface="思源宋体 CN Heavy" panose="02020900000000000000" charset="-122"/>
                <a:sym typeface="Arial" panose="020B0604020202020204"/>
              </a:rPr>
              <a:t>Discussion and Future Work</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6"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31/33</a:t>
            </a:r>
          </a:p>
        </p:txBody>
      </p:sp>
      <p:sp>
        <p:nvSpPr>
          <p:cNvPr id="7" name="矩形 6">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讨论</a:t>
            </a:r>
            <a:r>
              <a:rPr sz="3300" b="1" dirty="0">
                <a:solidFill>
                  <a:srgbClr val="A52A36"/>
                </a:solidFill>
                <a:latin typeface="Microsoft YaHei"/>
                <a:ea typeface="Microsoft YaHei"/>
              </a:rPr>
              <a:t> · </a:t>
            </a:r>
            <a:r>
              <a:rPr sz="3300" b="1" dirty="0" err="1">
                <a:solidFill>
                  <a:srgbClr val="A52A36"/>
                </a:solidFill>
                <a:latin typeface="Microsoft YaHei"/>
                <a:ea typeface="Microsoft YaHei"/>
              </a:rPr>
              <a:t>研究局限</a:t>
            </a:r>
            <a:endParaRPr sz="3300" b="1" dirty="0">
              <a:solidFill>
                <a:srgbClr val="A52A36"/>
              </a:solidFill>
              <a:latin typeface="Microsoft YaHei"/>
              <a:ea typeface="Microsoft YaHei"/>
            </a:endParaRPr>
          </a:p>
        </p:txBody>
      </p:sp>
      <p:sp>
        <p:nvSpPr>
          <p:cNvPr id="3" name="section-text-54">
            <a:extLst>
              <a:ext uri="{FF2B5EF4-FFF2-40B4-BE49-F238E27FC236}">
                <a16:creationId xmlns:a16="http://schemas.microsoft.com/office/drawing/2014/main" id="{BBBB72EB-2602-4050-BA87-8062623CBA82}"/>
              </a:ext>
            </a:extLst>
          </p:cNvPr>
          <p:cNvSpPr>
            <a:spLocks noGrp="1"/>
          </p:cNvSpPr>
          <p:nvPr/>
        </p:nvSpPr>
        <p:spPr>
          <a:xfrm>
            <a:off x="685800" y="1790700"/>
            <a:ext cx="10820400" cy="40005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样本覆盖：对生态规模给出保守下界</a:t>
            </a:r>
          </a:p>
        </p:txBody>
      </p:sp>
      <p:sp>
        <p:nvSpPr>
          <p:cNvPr id="4" name="section-box-55">
            <a:extLst>
              <a:ext uri="{FF2B5EF4-FFF2-40B4-BE49-F238E27FC236}">
                <a16:creationId xmlns:a16="http://schemas.microsoft.com/office/drawing/2014/main" id="{A6DEBDD7-2D46-441E-A859-BEB0EC4C950F}"/>
              </a:ext>
            </a:extLst>
          </p:cNvPr>
          <p:cNvSpPr>
            <a:spLocks noGrp="1"/>
          </p:cNvSpPr>
          <p:nvPr/>
        </p:nvSpPr>
        <p:spPr>
          <a:xfrm>
            <a:off x="685800" y="2228850"/>
            <a:ext cx="10820400" cy="933450"/>
          </a:xfrm>
          <a:prstGeom prst="rect">
            <a:avLst/>
          </a:prstGeom>
          <a:noFill/>
          <a:ln w="12383">
            <a:solidFill>
              <a:srgbClr val="9F2934"/>
            </a:solidFill>
            <a:prstDash val="solid"/>
          </a:ln>
        </p:spPr>
      </p:sp>
      <p:sp>
        <p:nvSpPr>
          <p:cNvPr id="5" name="section-text-56">
            <a:extLst>
              <a:ext uri="{FF2B5EF4-FFF2-40B4-BE49-F238E27FC236}">
                <a16:creationId xmlns:a16="http://schemas.microsoft.com/office/drawing/2014/main" id="{5B4D2617-D0FF-494F-926D-A49BF32BFB35}"/>
              </a:ext>
            </a:extLst>
          </p:cNvPr>
          <p:cNvSpPr>
            <a:spLocks noGrp="1"/>
          </p:cNvSpPr>
          <p:nvPr/>
        </p:nvSpPr>
        <p:spPr>
          <a:xfrm>
            <a:off x="857250" y="2381250"/>
            <a:ext cx="10477500" cy="7334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数据覆盖所选关键词与观测窗口内捕获的代理</a:t>
            </a:r>
            <a:r>
              <a:rPr sz="1875" b="0" dirty="0">
                <a:solidFill>
                  <a:srgbClr val="26282D"/>
                </a:solidFill>
                <a:latin typeface="Microsoft YaHei"/>
                <a:ea typeface="Microsoft YaHei"/>
                <a:cs typeface="Microsoft YaHei"/>
              </a:rPr>
              <a:t>。</a:t>
            </a:r>
            <a:r>
              <a:rPr lang="zh-CN" altLang="zh-CN" sz="1875" dirty="0">
                <a:solidFill>
                  <a:srgbClr val="26282D"/>
                </a:solidFill>
                <a:latin typeface="Microsoft YaHei"/>
              </a:rPr>
              <a:t>因此结果是对活动规模与影响的保守下界估计</a:t>
            </a:r>
            <a:r>
              <a:rPr lang="zh-CN" altLang="en-US" sz="1875" dirty="0">
                <a:solidFill>
                  <a:srgbClr val="26282D"/>
                </a:solidFill>
                <a:latin typeface="Microsoft YaHei"/>
              </a:rPr>
              <a:t>。</a:t>
            </a:r>
            <a:endParaRPr sz="1875" b="0" dirty="0">
              <a:solidFill>
                <a:srgbClr val="26282D"/>
              </a:solidFill>
              <a:latin typeface="Microsoft YaHei"/>
              <a:ea typeface="Microsoft YaHei"/>
              <a:cs typeface="Microsoft YaHei"/>
            </a:endParaRPr>
          </a:p>
        </p:txBody>
      </p:sp>
      <p:sp>
        <p:nvSpPr>
          <p:cNvPr id="6" name="section-text-57">
            <a:extLst>
              <a:ext uri="{FF2B5EF4-FFF2-40B4-BE49-F238E27FC236}">
                <a16:creationId xmlns:a16="http://schemas.microsoft.com/office/drawing/2014/main" id="{FB371AB9-02B3-4FC1-A23F-BF67EA556F24}"/>
              </a:ext>
            </a:extLst>
          </p:cNvPr>
          <p:cNvSpPr>
            <a:spLocks noGrp="1"/>
          </p:cNvSpPr>
          <p:nvPr/>
        </p:nvSpPr>
        <p:spPr>
          <a:xfrm>
            <a:off x="685800" y="3333750"/>
            <a:ext cx="10820400" cy="40005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采集机制：平台限流与短生命周期账户</a:t>
            </a:r>
          </a:p>
        </p:txBody>
      </p:sp>
      <p:sp>
        <p:nvSpPr>
          <p:cNvPr id="7" name="section-box-58">
            <a:extLst>
              <a:ext uri="{FF2B5EF4-FFF2-40B4-BE49-F238E27FC236}">
                <a16:creationId xmlns:a16="http://schemas.microsoft.com/office/drawing/2014/main" id="{FE45CD2D-37C0-438E-AF5F-DEAFCBE18685}"/>
              </a:ext>
            </a:extLst>
          </p:cNvPr>
          <p:cNvSpPr>
            <a:spLocks noGrp="1"/>
          </p:cNvSpPr>
          <p:nvPr/>
        </p:nvSpPr>
        <p:spPr>
          <a:xfrm>
            <a:off x="685800" y="3771900"/>
            <a:ext cx="10820400" cy="933450"/>
          </a:xfrm>
          <a:prstGeom prst="rect">
            <a:avLst/>
          </a:prstGeom>
          <a:noFill/>
          <a:ln w="12383">
            <a:solidFill>
              <a:srgbClr val="2E746F"/>
            </a:solidFill>
            <a:prstDash val="solid"/>
          </a:ln>
        </p:spPr>
      </p:sp>
      <p:sp>
        <p:nvSpPr>
          <p:cNvPr id="8" name="section-text-59">
            <a:extLst>
              <a:ext uri="{FF2B5EF4-FFF2-40B4-BE49-F238E27FC236}">
                <a16:creationId xmlns:a16="http://schemas.microsoft.com/office/drawing/2014/main" id="{45A1E665-4DC8-4D51-AE6B-9DFB026C754A}"/>
              </a:ext>
            </a:extLst>
          </p:cNvPr>
          <p:cNvSpPr>
            <a:spLocks noGrp="1"/>
          </p:cNvSpPr>
          <p:nvPr/>
        </p:nvSpPr>
        <p:spPr>
          <a:xfrm>
            <a:off x="857250" y="3924300"/>
            <a:ext cx="10477500" cy="7334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平台</a:t>
            </a:r>
            <a:r>
              <a:rPr lang="zh-CN" altLang="en-US" sz="1875" b="0" dirty="0">
                <a:solidFill>
                  <a:srgbClr val="26282D"/>
                </a:solidFill>
                <a:latin typeface="Microsoft YaHei"/>
                <a:ea typeface="Microsoft YaHei"/>
                <a:cs typeface="Microsoft YaHei"/>
              </a:rPr>
              <a:t>的</a:t>
            </a:r>
            <a:r>
              <a:rPr sz="1875" b="0" dirty="0">
                <a:solidFill>
                  <a:srgbClr val="26282D"/>
                </a:solidFill>
                <a:latin typeface="Microsoft YaHei"/>
                <a:ea typeface="Microsoft YaHei"/>
                <a:cs typeface="Microsoft YaHei"/>
              </a:rPr>
              <a:t> rate limits </a:t>
            </a:r>
            <a:r>
              <a:rPr sz="1875" b="0" dirty="0" err="1">
                <a:solidFill>
                  <a:srgbClr val="26282D"/>
                </a:solidFill>
                <a:latin typeface="Microsoft YaHei"/>
                <a:ea typeface="Microsoft YaHei"/>
                <a:cs typeface="Microsoft YaHei"/>
              </a:rPr>
              <a:t>可能使测试账户的部分互动未被记录</a:t>
            </a:r>
            <a:r>
              <a:rPr sz="1875" b="0" dirty="0">
                <a:solidFill>
                  <a:srgbClr val="26282D"/>
                </a:solidFill>
                <a:latin typeface="Microsoft YaHei"/>
                <a:ea typeface="Microsoft YaHei"/>
                <a:cs typeface="Microsoft YaHei"/>
              </a:rPr>
              <a:t>。</a:t>
            </a:r>
            <a:r>
              <a:rPr lang="zh-CN" altLang="en-US" sz="1875" b="0" dirty="0">
                <a:solidFill>
                  <a:srgbClr val="26282D"/>
                </a:solidFill>
                <a:latin typeface="Microsoft YaHei"/>
                <a:ea typeface="Microsoft YaHei"/>
                <a:cs typeface="Microsoft YaHei"/>
              </a:rPr>
              <a:t>并且</a:t>
            </a:r>
            <a:r>
              <a:rPr sz="1875" b="0" dirty="0">
                <a:solidFill>
                  <a:srgbClr val="26282D"/>
                </a:solidFill>
                <a:latin typeface="Microsoft YaHei"/>
                <a:ea typeface="Microsoft YaHei"/>
                <a:cs typeface="Microsoft YaHei"/>
              </a:rPr>
              <a:t>每 12 </a:t>
            </a:r>
            <a:r>
              <a:rPr sz="1875" b="0" dirty="0" err="1">
                <a:solidFill>
                  <a:srgbClr val="26282D"/>
                </a:solidFill>
                <a:latin typeface="Microsoft YaHei"/>
                <a:ea typeface="Microsoft YaHei"/>
                <a:cs typeface="Microsoft YaHei"/>
              </a:rPr>
              <a:t>小时抓取一次回复</a:t>
            </a:r>
            <a:r>
              <a:rPr lang="zh-CN" altLang="en-US" sz="1875" b="0" dirty="0">
                <a:solidFill>
                  <a:srgbClr val="26282D"/>
                </a:solidFill>
                <a:latin typeface="Microsoft YaHei"/>
                <a:ea typeface="Microsoft YaHei"/>
                <a:cs typeface="Microsoft YaHei"/>
              </a:rPr>
              <a:t>的设置</a:t>
            </a:r>
            <a:r>
              <a:rPr sz="1875" b="0" dirty="0">
                <a:solidFill>
                  <a:srgbClr val="26282D"/>
                </a:solidFill>
                <a:latin typeface="Microsoft YaHei"/>
                <a:ea typeface="Microsoft YaHei"/>
                <a:cs typeface="Microsoft YaHei"/>
              </a:rPr>
              <a:t>，</a:t>
            </a:r>
            <a:r>
              <a:rPr sz="1875" b="0" dirty="0" err="1">
                <a:solidFill>
                  <a:srgbClr val="26282D"/>
                </a:solidFill>
                <a:latin typeface="Microsoft YaHei"/>
                <a:ea typeface="Microsoft YaHei"/>
                <a:cs typeface="Microsoft YaHei"/>
              </a:rPr>
              <a:t>可能遗漏活动后很快删除的短生命周期代理</a:t>
            </a:r>
            <a:r>
              <a:rPr sz="1875" b="0" dirty="0">
                <a:solidFill>
                  <a:srgbClr val="26282D"/>
                </a:solidFill>
                <a:latin typeface="Microsoft YaHei"/>
                <a:ea typeface="Microsoft YaHei"/>
                <a:cs typeface="Microsoft YaHei"/>
              </a:rPr>
              <a:t>。</a:t>
            </a:r>
          </a:p>
        </p:txBody>
      </p:sp>
      <p:sp>
        <p:nvSpPr>
          <p:cNvPr id="9" name="section-text-60">
            <a:extLst>
              <a:ext uri="{FF2B5EF4-FFF2-40B4-BE49-F238E27FC236}">
                <a16:creationId xmlns:a16="http://schemas.microsoft.com/office/drawing/2014/main" id="{3FC7EDD8-25F7-4F31-BFA2-4E973B48A27F}"/>
              </a:ext>
            </a:extLst>
          </p:cNvPr>
          <p:cNvSpPr>
            <a:spLocks noGrp="1"/>
          </p:cNvSpPr>
          <p:nvPr/>
        </p:nvSpPr>
        <p:spPr>
          <a:xfrm>
            <a:off x="685800" y="4876800"/>
            <a:ext cx="10820400" cy="400050"/>
          </a:xfrm>
          <a:prstGeom prst="rect">
            <a:avLst/>
          </a:prstGeom>
          <a:noFill/>
          <a:ln w="0">
            <a:noFill/>
          </a:ln>
        </p:spPr>
        <p:txBody>
          <a:bodyPr wrap="square" lIns="0" tIns="0" rIns="0" bIns="0" anchor="t">
            <a:noAutofit/>
          </a:bodyPr>
          <a:lstStyle>
            <a:defPPr algn="l">
              <a:defRPr sz="2100" b="1">
                <a:solidFill>
                  <a:srgbClr val="916A2B"/>
                </a:solidFill>
                <a:latin typeface="Microsoft YaHei"/>
                <a:ea typeface="Microsoft YaHei"/>
                <a:cs typeface="Microsoft YaHei"/>
              </a:defRPr>
            </a:defPPr>
          </a:lstStyle>
          <a:p>
            <a:pPr algn="l">
              <a:defRPr sz="2100" b="1">
                <a:solidFill>
                  <a:srgbClr val="916A2B"/>
                </a:solidFill>
                <a:latin typeface="Microsoft YaHei"/>
                <a:ea typeface="Microsoft YaHei"/>
                <a:cs typeface="Microsoft YaHei"/>
              </a:defRPr>
            </a:pPr>
            <a:r>
              <a:rPr sz="2100" b="1">
                <a:solidFill>
                  <a:srgbClr val="916A2B"/>
                </a:solidFill>
                <a:latin typeface="Microsoft YaHei"/>
                <a:ea typeface="Microsoft YaHei"/>
                <a:cs typeface="Microsoft YaHei"/>
              </a:rPr>
              <a:t>单账户设计：人口属性的影响尚未覆盖</a:t>
            </a:r>
          </a:p>
        </p:txBody>
      </p:sp>
      <p:sp>
        <p:nvSpPr>
          <p:cNvPr id="10" name="section-box-61">
            <a:extLst>
              <a:ext uri="{FF2B5EF4-FFF2-40B4-BE49-F238E27FC236}">
                <a16:creationId xmlns:a16="http://schemas.microsoft.com/office/drawing/2014/main" id="{B88DB99B-F0B9-406E-894B-B719C95BA0EE}"/>
              </a:ext>
            </a:extLst>
          </p:cNvPr>
          <p:cNvSpPr>
            <a:spLocks noGrp="1"/>
          </p:cNvSpPr>
          <p:nvPr/>
        </p:nvSpPr>
        <p:spPr>
          <a:xfrm>
            <a:off x="685800" y="5314950"/>
            <a:ext cx="10820400" cy="933450"/>
          </a:xfrm>
          <a:prstGeom prst="rect">
            <a:avLst/>
          </a:prstGeom>
          <a:noFill/>
          <a:ln w="12383">
            <a:solidFill>
              <a:srgbClr val="916A2B"/>
            </a:solidFill>
            <a:prstDash val="solid"/>
          </a:ln>
        </p:spPr>
      </p:sp>
      <p:sp>
        <p:nvSpPr>
          <p:cNvPr id="11" name="section-text-62">
            <a:extLst>
              <a:ext uri="{FF2B5EF4-FFF2-40B4-BE49-F238E27FC236}">
                <a16:creationId xmlns:a16="http://schemas.microsoft.com/office/drawing/2014/main" id="{2B80C109-0DB2-416F-9314-532EB40CAD8C}"/>
              </a:ext>
            </a:extLst>
          </p:cNvPr>
          <p:cNvSpPr>
            <a:spLocks noGrp="1"/>
          </p:cNvSpPr>
          <p:nvPr/>
        </p:nvSpPr>
        <p:spPr>
          <a:xfrm>
            <a:off x="857250" y="5467350"/>
            <a:ext cx="10477500" cy="7334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a:solidFill>
                  <a:srgbClr val="26282D"/>
                </a:solidFill>
                <a:latin typeface="Microsoft YaHei"/>
                <a:ea typeface="Microsoft YaHei"/>
                <a:cs typeface="Microsoft YaHei"/>
              </a:rPr>
              <a:t>X </a:t>
            </a:r>
            <a:r>
              <a:rPr sz="1875" b="0" dirty="0" err="1">
                <a:solidFill>
                  <a:srgbClr val="26282D"/>
                </a:solidFill>
                <a:latin typeface="Microsoft YaHei"/>
                <a:ea typeface="Microsoft YaHei"/>
                <a:cs typeface="Microsoft YaHei"/>
              </a:rPr>
              <a:t>缺乏可见且可靠的年龄、性别、位置属性，实验</a:t>
            </a:r>
            <a:r>
              <a:rPr lang="zh-CN" altLang="en-US" sz="1875" b="0" dirty="0">
                <a:solidFill>
                  <a:srgbClr val="26282D"/>
                </a:solidFill>
                <a:latin typeface="Microsoft YaHei"/>
                <a:ea typeface="Microsoft YaHei"/>
                <a:cs typeface="Microsoft YaHei"/>
              </a:rPr>
              <a:t>无法模拟</a:t>
            </a:r>
            <a:r>
              <a:rPr sz="1875" b="0" dirty="0" err="1">
                <a:solidFill>
                  <a:srgbClr val="26282D"/>
                </a:solidFill>
                <a:latin typeface="Microsoft YaHei"/>
                <a:ea typeface="Microsoft YaHei"/>
                <a:cs typeface="Microsoft YaHei"/>
              </a:rPr>
              <a:t>不同人口特征对触发机器人选择目标的影响</a:t>
            </a:r>
            <a:r>
              <a:rPr sz="1875" b="0" dirty="0">
                <a:solidFill>
                  <a:srgbClr val="26282D"/>
                </a:solidFill>
                <a:latin typeface="Microsoft YaHei"/>
                <a:ea typeface="Microsoft YaHei"/>
                <a:cs typeface="Microsoft YaHei"/>
              </a:rPr>
              <a:t>。</a:t>
            </a:r>
          </a:p>
        </p:txBody>
      </p:sp>
      <p:pic>
        <p:nvPicPr>
          <p:cNvPr id="12"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3"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32/33</a:t>
            </a:r>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xt-180">
            <a:extLst>
              <a:ext uri="{FF2B5EF4-FFF2-40B4-BE49-F238E27FC236}">
                <a16:creationId xmlns:a16="http://schemas.microsoft.com/office/drawing/2014/main" id="{A466325D-82CD-46C6-B6B1-B87EA4BFFB1E}"/>
              </a:ext>
            </a:extLst>
          </p:cNvPr>
          <p:cNvSpPr>
            <a:spLocks noGrp="1"/>
          </p:cNvSpPr>
          <p:nvPr/>
        </p:nvSpPr>
        <p:spPr>
          <a:xfrm>
            <a:off x="685800" y="238125"/>
            <a:ext cx="9048750" cy="323850"/>
          </a:xfrm>
          <a:prstGeom prst="rect">
            <a:avLst/>
          </a:prstGeom>
          <a:noFill/>
          <a:ln w="0">
            <a:noFill/>
          </a:ln>
        </p:spPr>
        <p:txBody>
          <a:bodyPr wrap="square" lIns="0" tIns="0" rIns="0" bIns="0" anchor="t">
            <a:noAutofit/>
          </a:bodyPr>
          <a:lstStyle>
            <a:defPPr algn="l">
              <a:defRPr sz="1800" b="1">
                <a:solidFill>
                  <a:srgbClr val="A52A36"/>
                </a:solidFill>
                <a:latin typeface="Microsoft YaHei"/>
                <a:ea typeface="Microsoft YaHei"/>
                <a:cs typeface="Microsoft YaHei"/>
              </a:defRPr>
            </a:defPPr>
          </a:lstStyle>
          <a:p>
            <a:pPr algn="l">
              <a:buNone/>
              <a:defRPr sz="1800" b="1">
                <a:solidFill>
                  <a:srgbClr val="A52A36"/>
                </a:solidFill>
                <a:latin typeface="Microsoft YaHei"/>
                <a:ea typeface="Microsoft YaHei"/>
                <a:cs typeface="Microsoft YaHei"/>
              </a:defRPr>
            </a:pPr>
            <a:r>
              <a:rPr sz="3300" b="1" dirty="0" err="1">
                <a:solidFill>
                  <a:srgbClr val="A52A36"/>
                </a:solidFill>
                <a:latin typeface="Microsoft YaHei"/>
                <a:ea typeface="Microsoft YaHei"/>
              </a:rPr>
              <a:t>讨论</a:t>
            </a:r>
            <a:r>
              <a:rPr sz="3300" b="1" dirty="0">
                <a:solidFill>
                  <a:srgbClr val="A52A36"/>
                </a:solidFill>
                <a:latin typeface="Microsoft YaHei"/>
                <a:ea typeface="Microsoft YaHei"/>
              </a:rPr>
              <a:t> · </a:t>
            </a:r>
            <a:r>
              <a:rPr sz="3300" b="1" dirty="0" err="1">
                <a:solidFill>
                  <a:srgbClr val="A52A36"/>
                </a:solidFill>
                <a:latin typeface="Microsoft YaHei"/>
                <a:ea typeface="Microsoft YaHei"/>
              </a:rPr>
              <a:t>未来工作</a:t>
            </a:r>
            <a:endParaRPr sz="3300" b="1" dirty="0">
              <a:solidFill>
                <a:srgbClr val="A52A36"/>
              </a:solidFill>
              <a:latin typeface="Microsoft YaHei"/>
              <a:ea typeface="Microsoft YaHei"/>
            </a:endParaRPr>
          </a:p>
        </p:txBody>
      </p:sp>
      <p:sp>
        <p:nvSpPr>
          <p:cNvPr id="3" name="section-text-65">
            <a:extLst>
              <a:ext uri="{FF2B5EF4-FFF2-40B4-BE49-F238E27FC236}">
                <a16:creationId xmlns:a16="http://schemas.microsoft.com/office/drawing/2014/main" id="{E2FDDE98-9AB1-4E43-AA75-7929B29C30CD}"/>
              </a:ext>
            </a:extLst>
          </p:cNvPr>
          <p:cNvSpPr>
            <a:spLocks noGrp="1"/>
          </p:cNvSpPr>
          <p:nvPr/>
        </p:nvSpPr>
        <p:spPr>
          <a:xfrm>
            <a:off x="685800" y="1790700"/>
            <a:ext cx="10820400" cy="400050"/>
          </a:xfrm>
          <a:prstGeom prst="rect">
            <a:avLst/>
          </a:prstGeom>
          <a:noFill/>
          <a:ln w="0">
            <a:noFill/>
          </a:ln>
        </p:spPr>
        <p:txBody>
          <a:bodyPr wrap="square" lIns="0" tIns="0" rIns="0" bIns="0" anchor="t">
            <a:noAutofit/>
          </a:bodyPr>
          <a:lstStyle>
            <a:defPPr algn="l">
              <a:defRPr sz="2100" b="1">
                <a:solidFill>
                  <a:srgbClr val="9F2934"/>
                </a:solidFill>
                <a:latin typeface="Microsoft YaHei"/>
                <a:ea typeface="Microsoft YaHei"/>
                <a:cs typeface="Microsoft YaHei"/>
              </a:defRPr>
            </a:defPPr>
          </a:lstStyle>
          <a:p>
            <a:pPr algn="l">
              <a:defRPr sz="2100" b="1">
                <a:solidFill>
                  <a:srgbClr val="9F2934"/>
                </a:solidFill>
                <a:latin typeface="Microsoft YaHei"/>
                <a:ea typeface="Microsoft YaHei"/>
                <a:cs typeface="Microsoft YaHei"/>
              </a:defRPr>
            </a:pPr>
            <a:r>
              <a:rPr sz="2100" b="1">
                <a:solidFill>
                  <a:srgbClr val="9F2934"/>
                </a:solidFill>
                <a:latin typeface="Microsoft YaHei"/>
                <a:ea typeface="Microsoft YaHei"/>
                <a:cs typeface="Microsoft YaHei"/>
              </a:rPr>
              <a:t>触发词组合效应</a:t>
            </a:r>
          </a:p>
        </p:txBody>
      </p:sp>
      <p:sp>
        <p:nvSpPr>
          <p:cNvPr id="4" name="section-box-66">
            <a:extLst>
              <a:ext uri="{FF2B5EF4-FFF2-40B4-BE49-F238E27FC236}">
                <a16:creationId xmlns:a16="http://schemas.microsoft.com/office/drawing/2014/main" id="{3AC79C8B-B3FC-496A-A216-57A23B300716}"/>
              </a:ext>
            </a:extLst>
          </p:cNvPr>
          <p:cNvSpPr>
            <a:spLocks noGrp="1"/>
          </p:cNvSpPr>
          <p:nvPr/>
        </p:nvSpPr>
        <p:spPr>
          <a:xfrm>
            <a:off x="685800" y="2228850"/>
            <a:ext cx="10820400" cy="933450"/>
          </a:xfrm>
          <a:prstGeom prst="rect">
            <a:avLst/>
          </a:prstGeom>
          <a:noFill/>
          <a:ln w="12383">
            <a:solidFill>
              <a:srgbClr val="9F2934"/>
            </a:solidFill>
            <a:prstDash val="solid"/>
          </a:ln>
        </p:spPr>
      </p:sp>
      <p:sp>
        <p:nvSpPr>
          <p:cNvPr id="5" name="section-text-67">
            <a:extLst>
              <a:ext uri="{FF2B5EF4-FFF2-40B4-BE49-F238E27FC236}">
                <a16:creationId xmlns:a16="http://schemas.microsoft.com/office/drawing/2014/main" id="{57F680F6-644F-44EB-A5C2-0723A28F5A09}"/>
              </a:ext>
            </a:extLst>
          </p:cNvPr>
          <p:cNvSpPr>
            <a:spLocks noGrp="1"/>
          </p:cNvSpPr>
          <p:nvPr/>
        </p:nvSpPr>
        <p:spPr>
          <a:xfrm>
            <a:off x="857250" y="2381250"/>
            <a:ext cx="10477500" cy="7334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当前每条诱捕帖使用一个触发词，以减少混杂并观察具体触发条件。未来研究多个关键词出现在同一帖子中时，对代理响应的联合影响</a:t>
            </a:r>
            <a:r>
              <a:rPr sz="1875" b="0" dirty="0">
                <a:solidFill>
                  <a:srgbClr val="26282D"/>
                </a:solidFill>
                <a:latin typeface="Microsoft YaHei"/>
                <a:ea typeface="Microsoft YaHei"/>
                <a:cs typeface="Microsoft YaHei"/>
              </a:rPr>
              <a:t>。</a:t>
            </a:r>
          </a:p>
        </p:txBody>
      </p:sp>
      <p:sp>
        <p:nvSpPr>
          <p:cNvPr id="6" name="section-text-68">
            <a:extLst>
              <a:ext uri="{FF2B5EF4-FFF2-40B4-BE49-F238E27FC236}">
                <a16:creationId xmlns:a16="http://schemas.microsoft.com/office/drawing/2014/main" id="{8DEF20B9-C594-4446-9AF8-5EC75D6DEC91}"/>
              </a:ext>
            </a:extLst>
          </p:cNvPr>
          <p:cNvSpPr>
            <a:spLocks noGrp="1"/>
          </p:cNvSpPr>
          <p:nvPr/>
        </p:nvSpPr>
        <p:spPr>
          <a:xfrm>
            <a:off x="685800" y="3333750"/>
            <a:ext cx="10820400" cy="400050"/>
          </a:xfrm>
          <a:prstGeom prst="rect">
            <a:avLst/>
          </a:prstGeom>
          <a:noFill/>
          <a:ln w="0">
            <a:noFill/>
          </a:ln>
        </p:spPr>
        <p:txBody>
          <a:bodyPr wrap="square" lIns="0" tIns="0" rIns="0" bIns="0" anchor="t">
            <a:noAutofit/>
          </a:bodyPr>
          <a:lstStyle>
            <a:defPPr algn="l">
              <a:defRPr sz="2100" b="1">
                <a:solidFill>
                  <a:srgbClr val="2E746F"/>
                </a:solidFill>
                <a:latin typeface="Microsoft YaHei"/>
                <a:ea typeface="Microsoft YaHei"/>
                <a:cs typeface="Microsoft YaHei"/>
              </a:defRPr>
            </a:defPPr>
          </a:lstStyle>
          <a:p>
            <a:pPr algn="l">
              <a:defRPr sz="2100" b="1">
                <a:solidFill>
                  <a:srgbClr val="2E746F"/>
                </a:solidFill>
                <a:latin typeface="Microsoft YaHei"/>
                <a:ea typeface="Microsoft YaHei"/>
                <a:cs typeface="Microsoft YaHei"/>
              </a:defRPr>
            </a:pPr>
            <a:r>
              <a:rPr sz="2100" b="1">
                <a:solidFill>
                  <a:srgbClr val="2E746F"/>
                </a:solidFill>
                <a:latin typeface="Microsoft YaHei"/>
                <a:ea typeface="Microsoft YaHei"/>
                <a:cs typeface="Microsoft YaHei"/>
              </a:rPr>
              <a:t>更丰富的特征序列化策略</a:t>
            </a:r>
          </a:p>
        </p:txBody>
      </p:sp>
      <p:sp>
        <p:nvSpPr>
          <p:cNvPr id="7" name="section-box-69">
            <a:extLst>
              <a:ext uri="{FF2B5EF4-FFF2-40B4-BE49-F238E27FC236}">
                <a16:creationId xmlns:a16="http://schemas.microsoft.com/office/drawing/2014/main" id="{4C8CA252-4AD3-42AB-8C1E-23BD1697A183}"/>
              </a:ext>
            </a:extLst>
          </p:cNvPr>
          <p:cNvSpPr>
            <a:spLocks noGrp="1"/>
          </p:cNvSpPr>
          <p:nvPr/>
        </p:nvSpPr>
        <p:spPr>
          <a:xfrm>
            <a:off x="685800" y="3771900"/>
            <a:ext cx="10820400" cy="933450"/>
          </a:xfrm>
          <a:prstGeom prst="rect">
            <a:avLst/>
          </a:prstGeom>
          <a:noFill/>
          <a:ln w="12383">
            <a:solidFill>
              <a:srgbClr val="2E746F"/>
            </a:solidFill>
            <a:prstDash val="solid"/>
          </a:ln>
        </p:spPr>
      </p:sp>
      <p:sp>
        <p:nvSpPr>
          <p:cNvPr id="8" name="section-text-70">
            <a:extLst>
              <a:ext uri="{FF2B5EF4-FFF2-40B4-BE49-F238E27FC236}">
                <a16:creationId xmlns:a16="http://schemas.microsoft.com/office/drawing/2014/main" id="{22350864-2E15-460F-904D-6B8485E0D390}"/>
              </a:ext>
            </a:extLst>
          </p:cNvPr>
          <p:cNvSpPr>
            <a:spLocks noGrp="1"/>
          </p:cNvSpPr>
          <p:nvPr/>
        </p:nvSpPr>
        <p:spPr>
          <a:xfrm>
            <a:off x="857249" y="3924300"/>
            <a:ext cx="10820399" cy="733425"/>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当前使用简单文本模板向</a:t>
            </a:r>
            <a:r>
              <a:rPr sz="1875" b="0" dirty="0">
                <a:solidFill>
                  <a:srgbClr val="26282D"/>
                </a:solidFill>
                <a:latin typeface="Microsoft YaHei"/>
                <a:ea typeface="Microsoft YaHei"/>
                <a:cs typeface="Microsoft YaHei"/>
              </a:rPr>
              <a:t> LLM </a:t>
            </a:r>
            <a:r>
              <a:rPr sz="1875" b="0" dirty="0" err="1">
                <a:solidFill>
                  <a:srgbClr val="26282D"/>
                </a:solidFill>
                <a:latin typeface="Microsoft YaHei"/>
                <a:ea typeface="Microsoft YaHei"/>
                <a:cs typeface="Microsoft YaHei"/>
              </a:rPr>
              <a:t>表达账户资料。未来</a:t>
            </a:r>
            <a:r>
              <a:rPr lang="zh-CN" altLang="en-US" sz="1875" b="0" dirty="0">
                <a:solidFill>
                  <a:srgbClr val="26282D"/>
                </a:solidFill>
                <a:latin typeface="Microsoft YaHei"/>
                <a:ea typeface="Microsoft YaHei"/>
                <a:cs typeface="Microsoft YaHei"/>
              </a:rPr>
              <a:t>可以尝试</a:t>
            </a:r>
            <a:r>
              <a:rPr sz="1875" b="0" dirty="0">
                <a:solidFill>
                  <a:srgbClr val="26282D"/>
                </a:solidFill>
                <a:latin typeface="Microsoft YaHei"/>
                <a:ea typeface="Microsoft YaHei"/>
                <a:cs typeface="Microsoft YaHei"/>
              </a:rPr>
              <a:t>用</a:t>
            </a:r>
            <a:r>
              <a:rPr lang="zh-CN" altLang="en-US" sz="1875" b="0" dirty="0">
                <a:solidFill>
                  <a:srgbClr val="26282D"/>
                </a:solidFill>
                <a:latin typeface="Microsoft YaHei"/>
                <a:ea typeface="Microsoft YaHei"/>
                <a:cs typeface="Microsoft YaHei"/>
              </a:rPr>
              <a:t>如</a:t>
            </a:r>
            <a:r>
              <a:rPr lang="en-US" altLang="zh-CN" sz="1875" dirty="0">
                <a:solidFill>
                  <a:srgbClr val="26282D"/>
                </a:solidFill>
                <a:latin typeface="Microsoft YaHei"/>
                <a:ea typeface="Microsoft YaHei"/>
                <a:cs typeface="Microsoft YaHei"/>
              </a:rPr>
              <a:t>“</a:t>
            </a:r>
            <a:r>
              <a:rPr lang="en-US" altLang="zh-CN" sz="1875" dirty="0" err="1">
                <a:solidFill>
                  <a:srgbClr val="26282D"/>
                </a:solidFill>
                <a:latin typeface="Microsoft YaHei"/>
                <a:ea typeface="Microsoft YaHei"/>
                <a:cs typeface="Microsoft YaHei"/>
              </a:rPr>
              <a:t>critically</a:t>
            </a:r>
            <a:r>
              <a:rPr sz="1875" b="0" dirty="0" err="1">
                <a:solidFill>
                  <a:srgbClr val="26282D"/>
                </a:solidFill>
                <a:latin typeface="Microsoft YaHei"/>
                <a:ea typeface="Microsoft YaHei"/>
                <a:cs typeface="Microsoft YaHei"/>
              </a:rPr>
              <a:t>前缀提示突出关键特征</a:t>
            </a:r>
            <a:r>
              <a:rPr sz="1875" b="0" dirty="0">
                <a:solidFill>
                  <a:srgbClr val="26282D"/>
                </a:solidFill>
                <a:latin typeface="Microsoft YaHei"/>
                <a:ea typeface="Microsoft YaHei"/>
                <a:cs typeface="Microsoft YaHei"/>
              </a:rPr>
              <a:t>。</a:t>
            </a:r>
          </a:p>
        </p:txBody>
      </p:sp>
      <p:sp>
        <p:nvSpPr>
          <p:cNvPr id="9" name="section-text-71">
            <a:extLst>
              <a:ext uri="{FF2B5EF4-FFF2-40B4-BE49-F238E27FC236}">
                <a16:creationId xmlns:a16="http://schemas.microsoft.com/office/drawing/2014/main" id="{8AEA994B-7DB6-44AF-9C34-9DE41299EDEB}"/>
              </a:ext>
            </a:extLst>
          </p:cNvPr>
          <p:cNvSpPr>
            <a:spLocks noGrp="1"/>
          </p:cNvSpPr>
          <p:nvPr/>
        </p:nvSpPr>
        <p:spPr>
          <a:xfrm>
            <a:off x="685800" y="4876800"/>
            <a:ext cx="10820400" cy="400050"/>
          </a:xfrm>
          <a:prstGeom prst="rect">
            <a:avLst/>
          </a:prstGeom>
          <a:noFill/>
          <a:ln w="0">
            <a:noFill/>
          </a:ln>
        </p:spPr>
        <p:txBody>
          <a:bodyPr wrap="square" lIns="0" tIns="0" rIns="0" bIns="0" anchor="t">
            <a:noAutofit/>
          </a:bodyPr>
          <a:lstStyle>
            <a:defPPr algn="l">
              <a:defRPr sz="2100" b="1">
                <a:solidFill>
                  <a:srgbClr val="916A2B"/>
                </a:solidFill>
                <a:latin typeface="Microsoft YaHei"/>
                <a:ea typeface="Microsoft YaHei"/>
                <a:cs typeface="Microsoft YaHei"/>
              </a:defRPr>
            </a:defPPr>
          </a:lstStyle>
          <a:p>
            <a:pPr algn="l">
              <a:defRPr sz="2100" b="1">
                <a:solidFill>
                  <a:srgbClr val="916A2B"/>
                </a:solidFill>
                <a:latin typeface="Microsoft YaHei"/>
                <a:ea typeface="Microsoft YaHei"/>
                <a:cs typeface="Microsoft YaHei"/>
              </a:defRPr>
            </a:pPr>
            <a:r>
              <a:rPr sz="2100" b="1">
                <a:solidFill>
                  <a:srgbClr val="916A2B"/>
                </a:solidFill>
                <a:latin typeface="Microsoft YaHei"/>
                <a:ea typeface="Microsoft YaHei"/>
                <a:cs typeface="Microsoft YaHei"/>
              </a:rPr>
              <a:t>对抗鲁棒性（Adversarial Robustness）</a:t>
            </a:r>
          </a:p>
        </p:txBody>
      </p:sp>
      <p:sp>
        <p:nvSpPr>
          <p:cNvPr id="10" name="section-box-72">
            <a:extLst>
              <a:ext uri="{FF2B5EF4-FFF2-40B4-BE49-F238E27FC236}">
                <a16:creationId xmlns:a16="http://schemas.microsoft.com/office/drawing/2014/main" id="{F2C4C0ED-4A1C-410F-93AB-7D74B9376CAA}"/>
              </a:ext>
            </a:extLst>
          </p:cNvPr>
          <p:cNvSpPr>
            <a:spLocks noGrp="1"/>
          </p:cNvSpPr>
          <p:nvPr/>
        </p:nvSpPr>
        <p:spPr>
          <a:xfrm>
            <a:off x="685800" y="5314950"/>
            <a:ext cx="10820400" cy="933450"/>
          </a:xfrm>
          <a:prstGeom prst="rect">
            <a:avLst/>
          </a:prstGeom>
          <a:noFill/>
          <a:ln w="12383">
            <a:solidFill>
              <a:srgbClr val="916A2B"/>
            </a:solidFill>
            <a:prstDash val="solid"/>
          </a:ln>
        </p:spPr>
      </p:sp>
      <p:sp>
        <p:nvSpPr>
          <p:cNvPr id="11" name="section-text-73">
            <a:extLst>
              <a:ext uri="{FF2B5EF4-FFF2-40B4-BE49-F238E27FC236}">
                <a16:creationId xmlns:a16="http://schemas.microsoft.com/office/drawing/2014/main" id="{83871AA6-3967-47E8-9B6D-3558D84059E5}"/>
              </a:ext>
            </a:extLst>
          </p:cNvPr>
          <p:cNvSpPr>
            <a:spLocks noGrp="1"/>
          </p:cNvSpPr>
          <p:nvPr/>
        </p:nvSpPr>
        <p:spPr>
          <a:xfrm>
            <a:off x="857250" y="5467351"/>
            <a:ext cx="10477500" cy="495300"/>
          </a:xfrm>
          <a:prstGeom prst="rect">
            <a:avLst/>
          </a:prstGeom>
          <a:noFill/>
          <a:ln w="0">
            <a:noFill/>
          </a:ln>
        </p:spPr>
        <p:txBody>
          <a:bodyPr wrap="square" lIns="0" tIns="0" rIns="0" bIns="0" anchor="t">
            <a:noAutofit/>
          </a:bodyPr>
          <a:lstStyle>
            <a:defPPr algn="l">
              <a:defRPr sz="1875" b="0">
                <a:solidFill>
                  <a:srgbClr val="26282D"/>
                </a:solidFill>
                <a:latin typeface="Microsoft YaHei"/>
                <a:ea typeface="Microsoft YaHei"/>
                <a:cs typeface="Microsoft YaHei"/>
              </a:defRPr>
            </a:defPPr>
          </a:lstStyle>
          <a:p>
            <a:pPr algn="l">
              <a:defRPr sz="1875" b="0">
                <a:solidFill>
                  <a:srgbClr val="26282D"/>
                </a:solidFill>
                <a:latin typeface="Microsoft YaHei"/>
                <a:ea typeface="Microsoft YaHei"/>
                <a:cs typeface="Microsoft YaHei"/>
              </a:defRPr>
            </a:pPr>
            <a:r>
              <a:rPr sz="1875" b="0" dirty="0" err="1">
                <a:solidFill>
                  <a:srgbClr val="26282D"/>
                </a:solidFill>
                <a:latin typeface="Microsoft YaHei"/>
                <a:ea typeface="Microsoft YaHei"/>
                <a:cs typeface="Microsoft YaHei"/>
              </a:rPr>
              <a:t>在对抗场景下评价</a:t>
            </a:r>
            <a:r>
              <a:rPr sz="1875" b="0" dirty="0">
                <a:solidFill>
                  <a:srgbClr val="26282D"/>
                </a:solidFill>
                <a:latin typeface="Microsoft YaHei"/>
                <a:ea typeface="Microsoft YaHei"/>
                <a:cs typeface="Microsoft YaHei"/>
              </a:rPr>
              <a:t> </a:t>
            </a:r>
            <a:r>
              <a:rPr sz="1875" b="0" dirty="0" err="1">
                <a:solidFill>
                  <a:srgbClr val="26282D"/>
                </a:solidFill>
                <a:latin typeface="Microsoft YaHei"/>
                <a:ea typeface="Microsoft YaHei"/>
                <a:cs typeface="Microsoft YaHei"/>
              </a:rPr>
              <a:t>TBTrackerX</a:t>
            </a:r>
            <a:r>
              <a:rPr sz="1875" b="0" dirty="0">
                <a:solidFill>
                  <a:srgbClr val="26282D"/>
                </a:solidFill>
                <a:latin typeface="Microsoft YaHei"/>
                <a:ea typeface="Microsoft YaHei"/>
                <a:cs typeface="Microsoft YaHei"/>
              </a:rPr>
              <a:t> </a:t>
            </a:r>
            <a:r>
              <a:rPr sz="1875" b="0" dirty="0" err="1">
                <a:solidFill>
                  <a:srgbClr val="26282D"/>
                </a:solidFill>
                <a:latin typeface="Microsoft YaHei"/>
                <a:ea typeface="Microsoft YaHei"/>
                <a:cs typeface="Microsoft YaHei"/>
              </a:rPr>
              <a:t>的检测效果，进一步增强其抵抗规避的能力</a:t>
            </a:r>
            <a:r>
              <a:rPr sz="1875" b="0" dirty="0">
                <a:solidFill>
                  <a:srgbClr val="26282D"/>
                </a:solidFill>
                <a:latin typeface="Microsoft YaHei"/>
                <a:ea typeface="Microsoft YaHei"/>
                <a:cs typeface="Microsoft YaHei"/>
              </a:rPr>
              <a:t>。</a:t>
            </a:r>
          </a:p>
        </p:txBody>
      </p:sp>
      <p:pic>
        <p:nvPicPr>
          <p:cNvPr id="12"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01250" y="171450"/>
            <a:ext cx="1905000" cy="549974"/>
          </a:xfrm>
          <a:prstGeom prst="rect">
            <a:avLst/>
          </a:prstGeom>
        </p:spPr>
      </p:pic>
      <p:sp>
        <p:nvSpPr>
          <p:cNvPr id="13" name="txt-2">
            <a:extLst>
              <a:ext uri="{FF2B5EF4-FFF2-40B4-BE49-F238E27FC236}">
                <a16:creationId xmlns:a16="http://schemas.microsoft.com/office/drawing/2014/main" id="{2A3A745A-192A-4E2E-AD2E-1EB89E458DB2}"/>
              </a:ext>
            </a:extLst>
          </p:cNvPr>
          <p:cNvSpPr>
            <a:spLocks noGrp="1"/>
          </p:cNvSpPr>
          <p:nvPr/>
        </p:nvSpPr>
        <p:spPr>
          <a:xfrm>
            <a:off x="9715500" y="6534150"/>
            <a:ext cx="1809750" cy="228600"/>
          </a:xfrm>
          <a:prstGeom prst="rect">
            <a:avLst/>
          </a:prstGeom>
          <a:noFill/>
          <a:ln w="0">
            <a:noFill/>
          </a:ln>
        </p:spPr>
        <p:txBody>
          <a:bodyPr wrap="square" lIns="0" tIns="0" rIns="0" bIns="0" anchor="t">
            <a:noAutofit/>
          </a:bodyPr>
          <a:lstStyle>
            <a:defPPr algn="r">
              <a:defRPr sz="1575" b="0">
                <a:solidFill>
                  <a:srgbClr val="777777"/>
                </a:solidFill>
                <a:latin typeface="Microsoft YaHei"/>
                <a:ea typeface="Microsoft YaHei"/>
                <a:cs typeface="Microsoft YaHei"/>
              </a:defRPr>
            </a:defPPr>
          </a:lstStyle>
          <a:p>
            <a:pPr algn="r">
              <a:buNone/>
              <a:defRPr sz="1575" b="0">
                <a:solidFill>
                  <a:srgbClr val="777777"/>
                </a:solidFill>
                <a:latin typeface="Microsoft YaHei"/>
                <a:ea typeface="Microsoft YaHei"/>
                <a:cs typeface="Microsoft YaHei"/>
              </a:defRPr>
            </a:pPr>
            <a:r>
              <a:rPr sz="1000" b="0">
                <a:solidFill>
                  <a:srgbClr val="777777"/>
                </a:solidFill>
                <a:latin typeface="Microsoft YaHei"/>
                <a:ea typeface="Microsoft YaHei"/>
                <a:cs typeface="Microsoft YaHei"/>
              </a:rPr>
              <a:t>33/33</a:t>
            </a:r>
          </a:p>
        </p:txBody>
      </p:sp>
      <p:sp>
        <p:nvSpPr>
          <p:cNvPr id="14" name="矩形 13">
            <a:extLst>
              <a:ext uri="{FF2B5EF4-FFF2-40B4-BE49-F238E27FC236}">
                <a16:creationId xmlns:a16="http://schemas.microsoft.com/office/drawing/2014/main" id="{3B275D79-8B26-4C81-B922-3838765FB270}"/>
              </a:ext>
            </a:extLst>
          </p:cNvPr>
          <p:cNvSpPr>
            <a:spLocks noGrp="1"/>
          </p:cNvSpPr>
          <p:nvPr/>
        </p:nvSpPr>
        <p:spPr>
          <a:xfrm>
            <a:off x="685800" y="857250"/>
            <a:ext cx="10820400" cy="19050"/>
          </a:xfrm>
          <a:prstGeom prst="rect">
            <a:avLst/>
          </a:prstGeom>
          <a:solidFill>
            <a:srgbClr val="A52A36"/>
          </a:solidFill>
          <a:ln w="0">
            <a:noFill/>
          </a:ln>
        </p:spPr>
      </p:sp>
    </p:spTree>
    <p:extLst>
      <p:ext uri="{BB962C8B-B14F-4D97-AF65-F5344CB8AC3E}">
        <p14:creationId xmlns:p14="http://schemas.microsoft.com/office/powerpoint/2010/main" val="181354961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TotalTime>
  <Words>7283</Words>
  <Application>Microsoft Office PowerPoint</Application>
  <DocSecurity>0</DocSecurity>
  <PresentationFormat>宽屏</PresentationFormat>
  <Paragraphs>734</Paragraphs>
  <Slides>33</Slides>
  <Notes>33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33</vt:i4>
      </vt:variant>
    </vt:vector>
  </HeadingPairs>
  <TitlesOfParts>
    <vt:vector size="39" baseType="lpstr">
      <vt:lpstr>汉仪大宋简</vt:lpstr>
      <vt:lpstr>Microsoft YaHei</vt:lpstr>
      <vt:lpstr>Aptos</vt:lpstr>
      <vt:lpstr>Arial</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 kele</cp:lastModifiedBy>
  <cp:revision>76</cp:revision>
  <dcterms:created xsi:type="dcterms:W3CDTF">2026-10-13T14:59:11Z</dcterms:created>
  <dcterms:modified xsi:type="dcterms:W3CDTF">2026-10-16T13:29:36Z</dcterms:modified>
</cp:coreProperties>
</file>