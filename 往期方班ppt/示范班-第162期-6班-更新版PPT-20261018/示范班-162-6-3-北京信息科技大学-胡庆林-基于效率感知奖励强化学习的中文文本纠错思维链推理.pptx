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8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753857"/>
            <a:ext cx="12188364" cy="3427743"/>
          </a:xfrm>
          <a:prstGeom prst="rect">
            <a:avLst/>
          </a:prstGeom>
          <a:ln>
            <a:noFill/>
          </a:ln>
        </p:spPr>
      </p:pic>
      <p:pic>
        <p:nvPicPr>
          <p:cNvPr id="3" name="北京信息科技大学_首页及结束页校徽校名" descr="北京信息科技大学 / BEIJING INFORMATION SCIENCE &amp; TECHNOLOGY UNIVERSITY；沿用原模板图像与位置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87567" y="516235"/>
            <a:ext cx="4213229" cy="7416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87943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-878"/>
            <a:ext cx="12192001" cy="68588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8794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竖排标题与文本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image" Target="../media/image6.jpeg"/><Relationship Id="rId11" Type="http://schemas.openxmlformats.org/officeDocument/2006/relationships/image" Target="../media/image7.png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Picture 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0" y="0"/>
            <a:ext cx="12187942" cy="6858000"/>
          </a:xfrm>
          <a:prstGeom prst="rect">
            <a:avLst/>
          </a:prstGeom>
        </p:spPr>
      </p:pic>
      <p:sp>
        <p:nvSpPr>
          <p:cNvPr id="4" name="直接连接符 3"/>
          <p:cNvSpPr>
            <a:spLocks noGrp="1"/>
          </p:cNvSpPr>
          <p:nvPr/>
        </p:nvSpPr>
        <p:spPr>
          <a:xfrm>
            <a:off x="428625" y="590550"/>
            <a:ext cx="1134427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" name="北京信息科技大学_右上角校徽校名" descr="北京信息科技大学 / BEIJING INFORMATION SCIENCE &amp; TECHNOLOGY UNIVERSITY；沿用原模板图像与位置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9911218" y="208457"/>
            <a:ext cx="1861681" cy="3277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90204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2000250" marR="0" indent="-17145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90204"/>
        <a:buChar char="•"/>
        <a:defRPr sz="1200" b="0" i="0" u="none" kern="1200" cap="none" spc="0" baseline="0">
          <a:ln>
            <a:noFill/>
          </a:ln>
          <a:solidFill>
            <a:srgbClr val="000000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" Target="slide31.xml"/><Relationship Id="rId2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" Target="slide33.xml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" Target="slide25.xml"/><Relationship Id="rId3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" Target="slide33.xml"/><Relationship Id="rId3" Type="http://schemas.openxmlformats.org/officeDocument/2006/relationships/slide" Target="slide25.xml"/><Relationship Id="rId4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封面：CSRP"/>
          <p:cNvSpPr>
            <a:spLocks noGrp="1"/>
          </p:cNvSpPr>
          <p:nvPr/>
        </p:nvSpPr>
        <p:spPr>
          <a:xfrm>
            <a:off x="619125" y="20764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CSRP</a:t>
            </a:r>
            <a:endParaRPr sz="39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封面：Chain-of-Thought Reasoning for Chinese Text Correction"/>
          <p:cNvSpPr>
            <a:spLocks noGrp="1"/>
          </p:cNvSpPr>
          <p:nvPr/>
        </p:nvSpPr>
        <p:spPr>
          <a:xfrm>
            <a:off x="809625" y="2781300"/>
            <a:ext cx="10572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20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Chain-of-Thought Reasoning for Chinese Text Correction</a:t>
            </a:r>
            <a:endParaRPr sz="20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via Reinforcement Learning with Efficiency-Aware Rewards</a:t>
            </a:r>
            <a:endParaRPr sz="20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封面：中文标题"/>
          <p:cNvSpPr>
            <a:spLocks noGrp="1"/>
          </p:cNvSpPr>
          <p:nvPr/>
        </p:nvSpPr>
        <p:spPr>
          <a:xfrm>
            <a:off x="619125" y="3590925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基于效率感知奖励强化学习的</a:t>
            </a:r>
            <a:endParaRPr sz="25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中文文本纠错思维链推理</a:t>
            </a:r>
            <a:endParaRPr sz="25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封面：Wei Tian¹   Yuhao Zhou¹   Man Lan¹˒²*"/>
          <p:cNvSpPr>
            <a:spLocks noGrp="1"/>
          </p:cNvSpPr>
          <p:nvPr/>
        </p:nvSpPr>
        <p:spPr>
          <a:xfrm>
            <a:off x="619125" y="4486275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Wei Tian¹   Yuhao Zhou¹   Man Lan¹˒²*</a:t>
            </a:r>
            <a:endParaRPr sz="165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封面：¹ School of Computer Science and Technology, East China Normal University"/>
          <p:cNvSpPr>
            <a:spLocks noGrp="1"/>
          </p:cNvSpPr>
          <p:nvPr/>
        </p:nvSpPr>
        <p:spPr>
          <a:xfrm>
            <a:off x="619125" y="47434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¹ School of Computer Science and Technology, East China Normal University</a:t>
            </a:r>
            <a:endParaRPr sz="127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² Shanghai Institute of Artificial Intelligence for Education, East China Normal University</a:t>
            </a:r>
            <a:endParaRPr sz="127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封面：汇报人：____     指导老师：____"/>
          <p:cNvSpPr>
            <a:spLocks noGrp="1"/>
          </p:cNvSpPr>
          <p:nvPr/>
        </p:nvSpPr>
        <p:spPr>
          <a:xfrm>
            <a:off x="619125" y="56102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汇报人：</a:t>
            </a:r>
            <a:r>
              <a:rPr lang="zh-CN"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胡庆林</a:t>
            </a:r>
            <a:r>
              <a: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     指导老师：</a:t>
            </a:r>
            <a:r>
              <a:rPr lang="zh-CN"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张仰</a:t>
            </a:r>
            <a:r>
              <a:rPr lang="zh-CN"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森</a:t>
            </a:r>
            <a:endParaRPr lang="zh-CN" sz="195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原定汇报日期（待确认）"/>
          <p:cNvSpPr>
            <a:spLocks noGrp="1"/>
          </p:cNvSpPr>
          <p:nvPr/>
        </p:nvSpPr>
        <p:spPr>
          <a:xfrm>
            <a:off x="619125" y="6019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汇报日期：</a:t>
            </a:r>
            <a:r>
              <a:rPr lang="en-US"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2026.10.18</a:t>
            </a:r>
            <a:endParaRPr lang="en-US"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Proceedings of the 64th Annual Meeting of the Association fo"/>
          <p:cNvSpPr>
            <a:spLocks noGrp="1"/>
          </p:cNvSpPr>
          <p:nvPr/>
        </p:nvSpPr>
        <p:spPr>
          <a:xfrm>
            <a:off x="619125" y="6324600"/>
            <a:ext cx="10953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Proceedings of the 64th Annual Meeting of the Association for Computational Linguistics (Volume 1: Long Papers)</a:t>
            </a:r>
            <a:endParaRPr sz="105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8000"/>
              </a:lnSpc>
              <a:buNone/>
              <a:defRPr sz="10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ACL 2026 · pp. 37349–37365 · July 2–7, 2026 · ©2026 Association for Computational Linguistics</a:t>
            </a:r>
            <a:endParaRPr sz="105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目录：从研究问题走向证据与判断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汇报目录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V8-01"/>
          <p:cNvSpPr txBox="1"/>
          <p:nvPr/>
        </p:nvSpPr>
        <p:spPr>
          <a:xfrm>
            <a:off x="777240" y="1417320"/>
            <a:ext cx="89611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DAE8F1"/>
                </a:solidFill>
                <a:latin typeface="Arial" panose="020B0604020202090204"/>
                <a:ea typeface="微软雅黑"/>
                <a:cs typeface="微软雅黑"/>
              </a:rPr>
              <a:t>01</a:t>
            </a:r>
            <a:endParaRPr sz="5200" b="1">
              <a:solidFill>
                <a:srgbClr val="DAE8F1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5" name="V8-研究背景"/>
          <p:cNvSpPr txBox="1"/>
          <p:nvPr/>
        </p:nvSpPr>
        <p:spPr>
          <a:xfrm>
            <a:off x="1856231" y="1435608"/>
            <a:ext cx="4160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研究背景</a:t>
            </a:r>
            <a:endParaRPr sz="2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V8-为什么纠错不仅要“改对”， / 还要避免“多改”？"/>
          <p:cNvSpPr txBox="1"/>
          <p:nvPr/>
        </p:nvSpPr>
        <p:spPr>
          <a:xfrm>
            <a:off x="1856231" y="2121408"/>
            <a:ext cx="4096512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为什么纠错不仅要“改对”，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还要避免“多改”？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7" name="V8-连线"/>
          <p:cNvCxnSpPr/>
          <p:nvPr/>
        </p:nvCxnSpPr>
        <p:spPr>
          <a:xfrm>
            <a:off x="777240" y="3044952"/>
            <a:ext cx="5056632" cy="0"/>
          </a:xfrm>
          <a:prstGeom prst="line">
            <a:avLst/>
          </a:prstGeom>
          <a:ln w="889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8-02"/>
          <p:cNvSpPr txBox="1"/>
          <p:nvPr/>
        </p:nvSpPr>
        <p:spPr>
          <a:xfrm>
            <a:off x="6300216" y="1417320"/>
            <a:ext cx="89611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DAE8F1"/>
                </a:solidFill>
                <a:latin typeface="Arial" panose="020B0604020202090204"/>
                <a:ea typeface="微软雅黑"/>
                <a:cs typeface="微软雅黑"/>
              </a:rPr>
              <a:t>02</a:t>
            </a:r>
            <a:endParaRPr sz="5200" b="1">
              <a:solidFill>
                <a:srgbClr val="DAE8F1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9" name="V8-方法原理"/>
          <p:cNvSpPr txBox="1"/>
          <p:nvPr/>
        </p:nvSpPr>
        <p:spPr>
          <a:xfrm>
            <a:off x="7379208" y="1435608"/>
            <a:ext cx="4160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方法原理</a:t>
            </a:r>
            <a:endParaRPr sz="2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V8-CSRP 怎样训练 / 纠错模型？"/>
          <p:cNvSpPr txBox="1"/>
          <p:nvPr/>
        </p:nvSpPr>
        <p:spPr>
          <a:xfrm>
            <a:off x="7379208" y="2121408"/>
            <a:ext cx="4096512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CSRP 怎样训练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纠错模型？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" name="V8-连线"/>
          <p:cNvCxnSpPr/>
          <p:nvPr/>
        </p:nvCxnSpPr>
        <p:spPr>
          <a:xfrm>
            <a:off x="6300216" y="3044952"/>
            <a:ext cx="5056632" cy="0"/>
          </a:xfrm>
          <a:prstGeom prst="line">
            <a:avLst/>
          </a:prstGeom>
          <a:ln w="889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8-03"/>
          <p:cNvSpPr txBox="1"/>
          <p:nvPr/>
        </p:nvSpPr>
        <p:spPr>
          <a:xfrm>
            <a:off x="777240" y="3502152"/>
            <a:ext cx="89611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DAE8F1"/>
                </a:solidFill>
                <a:latin typeface="Arial" panose="020B0604020202090204"/>
                <a:ea typeface="微软雅黑"/>
                <a:cs typeface="微软雅黑"/>
              </a:rPr>
              <a:t>03</a:t>
            </a:r>
            <a:endParaRPr sz="5200" b="1">
              <a:solidFill>
                <a:srgbClr val="DAE8F1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23" name="V8-实验验证"/>
          <p:cNvSpPr txBox="1"/>
          <p:nvPr/>
        </p:nvSpPr>
        <p:spPr>
          <a:xfrm>
            <a:off x="1856231" y="3520440"/>
            <a:ext cx="4160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实验验证</a:t>
            </a:r>
            <a:endParaRPr sz="2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V8-纠错效果如何？ / 各训练阶段是否有效？"/>
          <p:cNvSpPr txBox="1"/>
          <p:nvPr/>
        </p:nvSpPr>
        <p:spPr>
          <a:xfrm>
            <a:off x="1856231" y="4206240"/>
            <a:ext cx="4096512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纠错效果如何？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各训练阶段是否有效？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5" name="V8-连线"/>
          <p:cNvCxnSpPr/>
          <p:nvPr/>
        </p:nvCxnSpPr>
        <p:spPr>
          <a:xfrm>
            <a:off x="777240" y="5129784"/>
            <a:ext cx="5056632" cy="0"/>
          </a:xfrm>
          <a:prstGeom prst="line">
            <a:avLst/>
          </a:prstGeom>
          <a:ln w="889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8-04"/>
          <p:cNvSpPr txBox="1"/>
          <p:nvPr/>
        </p:nvSpPr>
        <p:spPr>
          <a:xfrm>
            <a:off x="6300216" y="3502152"/>
            <a:ext cx="89611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DAE8F1"/>
                </a:solidFill>
                <a:latin typeface="Arial" panose="020B0604020202090204"/>
                <a:ea typeface="微软雅黑"/>
                <a:cs typeface="微软雅黑"/>
              </a:rPr>
              <a:t>04</a:t>
            </a:r>
            <a:endParaRPr sz="5200" b="1">
              <a:solidFill>
                <a:srgbClr val="DAE8F1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27" name="V8-总结与思考"/>
          <p:cNvSpPr txBox="1"/>
          <p:nvPr/>
        </p:nvSpPr>
        <p:spPr>
          <a:xfrm>
            <a:off x="7379208" y="3520440"/>
            <a:ext cx="4160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总结与思考</a:t>
            </a:r>
            <a:endParaRPr sz="2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V8-这项工作的价值是什么？ / 还有哪些疑问？"/>
          <p:cNvSpPr txBox="1"/>
          <p:nvPr/>
        </p:nvSpPr>
        <p:spPr>
          <a:xfrm>
            <a:off x="7379208" y="4206240"/>
            <a:ext cx="4096512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这项工作的价值是什么？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还有哪些疑问？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9" name="V8-连线"/>
          <p:cNvCxnSpPr/>
          <p:nvPr/>
        </p:nvCxnSpPr>
        <p:spPr>
          <a:xfrm>
            <a:off x="6300216" y="5129784"/>
            <a:ext cx="5056632" cy="0"/>
          </a:xfrm>
          <a:prstGeom prst="line">
            <a:avLst/>
          </a:prstGeom>
          <a:ln w="889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纠错目标：修正错误，保留原意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纠错目标：修正错误，保留原意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如何在修复真实错误的同时，避免修改原本正确的内容？"/>
          <p:cNvSpPr>
            <a:spLocks noGrp="1"/>
          </p:cNvSpPr>
          <p:nvPr/>
        </p:nvSpPr>
        <p:spPr>
          <a:xfrm>
            <a:off x="619125" y="1114425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如何在修复真实错误的同时，避免修改原本正确的内容？</a:t>
            </a:r>
            <a:endParaRPr sz="24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任务是纠错，不是自由润色。"/>
          <p:cNvSpPr>
            <a:spLocks noGrp="1"/>
          </p:cNvSpPr>
          <p:nvPr/>
        </p:nvSpPr>
        <p:spPr>
          <a:xfrm>
            <a:off x="619125" y="18573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任务是纠错，不是自由润色。</a:t>
            </a:r>
            <a:endParaRPr sz="1875" b="1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原句 S"/>
          <p:cNvSpPr>
            <a:spLocks noGrp="1"/>
          </p:cNvSpPr>
          <p:nvPr/>
        </p:nvSpPr>
        <p:spPr>
          <a:xfrm>
            <a:off x="714375" y="2476500"/>
            <a:ext cx="2381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原句 S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两处错字"/>
          <p:cNvSpPr>
            <a:spLocks noGrp="1"/>
          </p:cNvSpPr>
          <p:nvPr/>
        </p:nvSpPr>
        <p:spPr>
          <a:xfrm>
            <a:off x="714375" y="28956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两处错字</a:t>
            </a:r>
            <a:endParaRPr sz="165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我"/>
          <p:cNvSpPr>
            <a:spLocks noGrp="1"/>
          </p:cNvSpPr>
          <p:nvPr/>
        </p:nvSpPr>
        <p:spPr>
          <a:xfrm>
            <a:off x="3362325" y="2476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我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喜"/>
          <p:cNvSpPr>
            <a:spLocks noGrp="1"/>
          </p:cNvSpPr>
          <p:nvPr/>
        </p:nvSpPr>
        <p:spPr>
          <a:xfrm>
            <a:off x="3819525" y="2476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喜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换"/>
          <p:cNvSpPr>
            <a:spLocks noGrp="1"/>
          </p:cNvSpPr>
          <p:nvPr/>
        </p:nvSpPr>
        <p:spPr>
          <a:xfrm>
            <a:off x="4276725" y="2476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B64A5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B64A51"/>
                </a:solidFill>
                <a:latin typeface="微软雅黑"/>
                <a:ea typeface="微软雅黑"/>
                <a:cs typeface="微软雅黑"/>
              </a:rPr>
              <a:t>换</a:t>
            </a:r>
            <a:endParaRPr sz="3000" b="1">
              <a:solidFill>
                <a:srgbClr val="B64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吃"/>
          <p:cNvSpPr>
            <a:spLocks noGrp="1"/>
          </p:cNvSpPr>
          <p:nvPr/>
        </p:nvSpPr>
        <p:spPr>
          <a:xfrm>
            <a:off x="4733925" y="2476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吃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平"/>
          <p:cNvSpPr>
            <a:spLocks noGrp="1"/>
          </p:cNvSpPr>
          <p:nvPr/>
        </p:nvSpPr>
        <p:spPr>
          <a:xfrm>
            <a:off x="5191125" y="2476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B64A5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B64A51"/>
                </a:solidFill>
                <a:latin typeface="微软雅黑"/>
                <a:ea typeface="微软雅黑"/>
                <a:cs typeface="微软雅黑"/>
              </a:rPr>
              <a:t>平</a:t>
            </a:r>
            <a:endParaRPr sz="3000" b="1">
              <a:solidFill>
                <a:srgbClr val="B64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果"/>
          <p:cNvSpPr>
            <a:spLocks noGrp="1"/>
          </p:cNvSpPr>
          <p:nvPr/>
        </p:nvSpPr>
        <p:spPr>
          <a:xfrm>
            <a:off x="5648325" y="2476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果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。"/>
          <p:cNvSpPr>
            <a:spLocks noGrp="1"/>
          </p:cNvSpPr>
          <p:nvPr/>
        </p:nvSpPr>
        <p:spPr>
          <a:xfrm>
            <a:off x="6105525" y="24765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换、平"/>
          <p:cNvSpPr>
            <a:spLocks noGrp="1"/>
          </p:cNvSpPr>
          <p:nvPr/>
        </p:nvSpPr>
        <p:spPr>
          <a:xfrm>
            <a:off x="8905875" y="256222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0">
                <a:solidFill>
                  <a:srgbClr val="B64A5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B64A51"/>
                </a:solidFill>
                <a:latin typeface="微软雅黑"/>
                <a:ea typeface="微软雅黑"/>
                <a:cs typeface="微软雅黑"/>
              </a:rPr>
              <a:t>换、平</a:t>
            </a:r>
            <a:endParaRPr sz="1950" b="0">
              <a:solidFill>
                <a:srgbClr val="B64A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图中连线"/>
          <p:cNvSpPr>
            <a:spLocks noGrp="1"/>
          </p:cNvSpPr>
          <p:nvPr/>
        </p:nvSpPr>
        <p:spPr>
          <a:xfrm>
            <a:off x="714375" y="3343275"/>
            <a:ext cx="10763250" cy="0"/>
          </a:xfrm>
          <a:prstGeom prst="line">
            <a:avLst/>
          </a:prstGeom>
          <a:noFill/>
          <a:ln w="11430">
            <a:solidFill>
              <a:srgbClr val="DBE2E9"/>
            </a:solidFill>
          </a:ln>
        </p:spPr>
        <p:txBody>
          <a:bodyPr/>
          <a:p/>
        </p:txBody>
      </p:sp>
      <p:sp>
        <p:nvSpPr>
          <p:cNvPr id="34" name="参考答案 G"/>
          <p:cNvSpPr>
            <a:spLocks noGrp="1"/>
          </p:cNvSpPr>
          <p:nvPr/>
        </p:nvSpPr>
        <p:spPr>
          <a:xfrm>
            <a:off x="714375" y="3505200"/>
            <a:ext cx="2381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参考答案 G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必要替换"/>
          <p:cNvSpPr>
            <a:spLocks noGrp="1"/>
          </p:cNvSpPr>
          <p:nvPr/>
        </p:nvSpPr>
        <p:spPr>
          <a:xfrm>
            <a:off x="714375" y="39243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必要替换</a:t>
            </a:r>
            <a:endParaRPr sz="165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我"/>
          <p:cNvSpPr>
            <a:spLocks noGrp="1"/>
          </p:cNvSpPr>
          <p:nvPr/>
        </p:nvSpPr>
        <p:spPr>
          <a:xfrm>
            <a:off x="3362325" y="3505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我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喜"/>
          <p:cNvSpPr>
            <a:spLocks noGrp="1"/>
          </p:cNvSpPr>
          <p:nvPr/>
        </p:nvSpPr>
        <p:spPr>
          <a:xfrm>
            <a:off x="3819525" y="3505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喜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欢"/>
          <p:cNvSpPr>
            <a:spLocks noGrp="1"/>
          </p:cNvSpPr>
          <p:nvPr/>
        </p:nvSpPr>
        <p:spPr>
          <a:xfrm>
            <a:off x="4276725" y="3505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欢</a:t>
            </a:r>
            <a:endParaRPr sz="300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吃"/>
          <p:cNvSpPr>
            <a:spLocks noGrp="1"/>
          </p:cNvSpPr>
          <p:nvPr/>
        </p:nvSpPr>
        <p:spPr>
          <a:xfrm>
            <a:off x="4733925" y="3505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吃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苹"/>
          <p:cNvSpPr>
            <a:spLocks noGrp="1"/>
          </p:cNvSpPr>
          <p:nvPr/>
        </p:nvSpPr>
        <p:spPr>
          <a:xfrm>
            <a:off x="5191125" y="3505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苹</a:t>
            </a:r>
            <a:endParaRPr sz="300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果"/>
          <p:cNvSpPr>
            <a:spLocks noGrp="1"/>
          </p:cNvSpPr>
          <p:nvPr/>
        </p:nvSpPr>
        <p:spPr>
          <a:xfrm>
            <a:off x="5648325" y="3505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果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。"/>
          <p:cNvSpPr>
            <a:spLocks noGrp="1"/>
          </p:cNvSpPr>
          <p:nvPr/>
        </p:nvSpPr>
        <p:spPr>
          <a:xfrm>
            <a:off x="6105525" y="3505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欢、苹"/>
          <p:cNvSpPr>
            <a:spLocks noGrp="1"/>
          </p:cNvSpPr>
          <p:nvPr/>
        </p:nvSpPr>
        <p:spPr>
          <a:xfrm>
            <a:off x="8905875" y="359092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0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欢、苹</a:t>
            </a:r>
            <a:endParaRPr sz="1950" b="0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图中连线"/>
          <p:cNvSpPr>
            <a:spLocks noGrp="1"/>
          </p:cNvSpPr>
          <p:nvPr/>
        </p:nvSpPr>
        <p:spPr>
          <a:xfrm>
            <a:off x="714375" y="4371975"/>
            <a:ext cx="10763250" cy="0"/>
          </a:xfrm>
          <a:prstGeom prst="line">
            <a:avLst/>
          </a:prstGeom>
          <a:noFill/>
          <a:ln w="11430">
            <a:solidFill>
              <a:srgbClr val="DBE2E9"/>
            </a:solidFill>
          </a:ln>
        </p:spPr>
        <p:txBody>
          <a:bodyPr/>
          <a:p/>
        </p:txBody>
      </p:sp>
      <p:sp>
        <p:nvSpPr>
          <p:cNvPr id="45" name="预测句 P"/>
          <p:cNvSpPr>
            <a:spLocks noGrp="1"/>
          </p:cNvSpPr>
          <p:nvPr/>
        </p:nvSpPr>
        <p:spPr>
          <a:xfrm>
            <a:off x="714375" y="4533900"/>
            <a:ext cx="2381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预测句 P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额外增加程度含义"/>
          <p:cNvSpPr>
            <a:spLocks noGrp="1"/>
          </p:cNvSpPr>
          <p:nvPr/>
        </p:nvSpPr>
        <p:spPr>
          <a:xfrm>
            <a:off x="714375" y="49530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额外强调喜欢的程度</a:t>
            </a:r>
            <a:endParaRPr sz="165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我"/>
          <p:cNvSpPr>
            <a:spLocks noGrp="1"/>
          </p:cNvSpPr>
          <p:nvPr/>
        </p:nvSpPr>
        <p:spPr>
          <a:xfrm>
            <a:off x="33623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我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很"/>
          <p:cNvSpPr>
            <a:spLocks noGrp="1"/>
          </p:cNvSpPr>
          <p:nvPr/>
        </p:nvSpPr>
        <p:spPr>
          <a:xfrm>
            <a:off x="38195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rPr>
              <a:t>很</a:t>
            </a:r>
            <a:endParaRPr sz="3000" b="1">
              <a:solidFill>
                <a:srgbClr val="B47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喜"/>
          <p:cNvSpPr>
            <a:spLocks noGrp="1"/>
          </p:cNvSpPr>
          <p:nvPr/>
        </p:nvSpPr>
        <p:spPr>
          <a:xfrm>
            <a:off x="42767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喜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欢"/>
          <p:cNvSpPr>
            <a:spLocks noGrp="1"/>
          </p:cNvSpPr>
          <p:nvPr/>
        </p:nvSpPr>
        <p:spPr>
          <a:xfrm>
            <a:off x="47339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欢</a:t>
            </a:r>
            <a:endParaRPr sz="300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吃"/>
          <p:cNvSpPr>
            <a:spLocks noGrp="1"/>
          </p:cNvSpPr>
          <p:nvPr/>
        </p:nvSpPr>
        <p:spPr>
          <a:xfrm>
            <a:off x="51911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吃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苹"/>
          <p:cNvSpPr>
            <a:spLocks noGrp="1"/>
          </p:cNvSpPr>
          <p:nvPr/>
        </p:nvSpPr>
        <p:spPr>
          <a:xfrm>
            <a:off x="56483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苹</a:t>
            </a:r>
            <a:endParaRPr sz="300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果"/>
          <p:cNvSpPr>
            <a:spLocks noGrp="1"/>
          </p:cNvSpPr>
          <p:nvPr/>
        </p:nvSpPr>
        <p:spPr>
          <a:xfrm>
            <a:off x="61055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果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。"/>
          <p:cNvSpPr>
            <a:spLocks noGrp="1"/>
          </p:cNvSpPr>
          <p:nvPr/>
        </p:nvSpPr>
        <p:spPr>
          <a:xfrm>
            <a:off x="6562725" y="45339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30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多加“很”"/>
          <p:cNvSpPr>
            <a:spLocks noGrp="1"/>
          </p:cNvSpPr>
          <p:nvPr/>
        </p:nvSpPr>
        <p:spPr>
          <a:xfrm>
            <a:off x="8905875" y="461962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0">
                <a:solidFill>
                  <a:srgbClr val="B47723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B47723"/>
                </a:solidFill>
                <a:latin typeface="微软雅黑"/>
                <a:ea typeface="微软雅黑"/>
                <a:cs typeface="微软雅黑"/>
              </a:rPr>
              <a:t>多加“很”</a:t>
            </a:r>
            <a:endParaRPr sz="1950" b="0">
              <a:solidFill>
                <a:srgbClr val="B47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CSC侧重拼写纠正；CGEC还包括语法、词序与缺失等错误。"/>
          <p:cNvSpPr>
            <a:spLocks noGrp="1"/>
          </p:cNvSpPr>
          <p:nvPr/>
        </p:nvSpPr>
        <p:spPr>
          <a:xfrm>
            <a:off x="619125" y="566737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中文拼写纠正（CSC）侧重错字；中文语法纠错（CGEC）还处理词序、缺失等错误。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来源：PDF p1–2 §1；本页中文例句和候选为教学构造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来源：CSRP，§1，PDF第1—2页；例句为教学示例。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相关工作与本文的创新位置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研究现状与本文思路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V8-来源：CSRP，§1—3，PDF第1—5页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来源：CSRP，§1—3，PDF第1—5页。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V8-背景／分组"/>
          <p:cNvSpPr/>
          <p:nvPr/>
        </p:nvSpPr>
        <p:spPr>
          <a:xfrm>
            <a:off x="621792" y="1207008"/>
            <a:ext cx="3364992" cy="429768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8-已有工作"/>
          <p:cNvSpPr txBox="1"/>
          <p:nvPr/>
        </p:nvSpPr>
        <p:spPr>
          <a:xfrm>
            <a:off x="850392" y="1389888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已有工作</a:t>
            </a:r>
            <a:endParaRPr sz="1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V8-ReaLiSe"/>
          <p:cNvSpPr txBox="1"/>
          <p:nvPr/>
        </p:nvSpPr>
        <p:spPr>
          <a:xfrm>
            <a:off x="877824" y="1874519"/>
            <a:ext cx="2834640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ReaLiSe</a:t>
            </a:r>
            <a:endParaRPr sz="19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V8-结合读音与字形信息纠错"/>
          <p:cNvSpPr txBox="1"/>
          <p:nvPr/>
        </p:nvSpPr>
        <p:spPr>
          <a:xfrm>
            <a:off x="877824" y="2240279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结合读音与字形信息纠错</a:t>
            </a:r>
            <a:endParaRPr sz="15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V8-ReLM"/>
          <p:cNvSpPr txBox="1"/>
          <p:nvPr/>
        </p:nvSpPr>
        <p:spPr>
          <a:xfrm>
            <a:off x="877824" y="2706624"/>
            <a:ext cx="2834640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ReLM</a:t>
            </a:r>
            <a:endParaRPr sz="19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V8-将拼写纠正表述为语言建模"/>
          <p:cNvSpPr txBox="1"/>
          <p:nvPr/>
        </p:nvSpPr>
        <p:spPr>
          <a:xfrm>
            <a:off x="877824" y="3072384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将拼写纠正表述为语言建模</a:t>
            </a:r>
            <a:endParaRPr sz="15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GEE / ICD"/>
          <p:cNvSpPr txBox="1"/>
          <p:nvPr/>
        </p:nvSpPr>
        <p:spPr>
          <a:xfrm>
            <a:off x="877824" y="3538728"/>
            <a:ext cx="2834640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GEE / ICD</a:t>
            </a:r>
            <a:endParaRPr sz="19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V8-利用解释信息辅助纠正"/>
          <p:cNvSpPr txBox="1"/>
          <p:nvPr/>
        </p:nvSpPr>
        <p:spPr>
          <a:xfrm>
            <a:off x="877824" y="3904488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利用解释信息辅助纠正</a:t>
            </a:r>
            <a:endParaRPr sz="15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V8-ScholarGEC"/>
          <p:cNvSpPr txBox="1"/>
          <p:nvPr/>
        </p:nvSpPr>
        <p:spPr>
          <a:xfrm>
            <a:off x="877824" y="4370831"/>
            <a:ext cx="2834640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ScholarGEC</a:t>
            </a:r>
            <a:endParaRPr sz="19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V8-面向学术文本，强调精确率"/>
          <p:cNvSpPr txBox="1"/>
          <p:nvPr/>
        </p:nvSpPr>
        <p:spPr>
          <a:xfrm>
            <a:off x="877824" y="473659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面向学术文本，强调精确率</a:t>
            </a:r>
            <a:endParaRPr sz="15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V8-论文关注的问题与训练设计"/>
          <p:cNvSpPr txBox="1"/>
          <p:nvPr/>
        </p:nvSpPr>
        <p:spPr>
          <a:xfrm>
            <a:off x="4379976" y="131673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论文关注的问题与训练设计</a:t>
            </a:r>
            <a:endParaRPr sz="1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V8-问题一"/>
          <p:cNvSpPr txBox="1"/>
          <p:nvPr/>
        </p:nvSpPr>
        <p:spPr>
          <a:xfrm>
            <a:off x="4398264" y="18836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问题一</a:t>
            </a:r>
            <a:endParaRPr sz="14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V8-不熟悉中文错误模式"/>
          <p:cNvSpPr txBox="1"/>
          <p:nvPr/>
        </p:nvSpPr>
        <p:spPr>
          <a:xfrm>
            <a:off x="4398264" y="2185416"/>
            <a:ext cx="3145536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不熟悉中文错误模式</a:t>
            </a:r>
            <a:endParaRPr sz="21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7" name="V8-连线"/>
          <p:cNvCxnSpPr/>
          <p:nvPr/>
        </p:nvCxnSpPr>
        <p:spPr>
          <a:xfrm>
            <a:off x="7424927" y="2368296"/>
            <a:ext cx="594361" cy="0"/>
          </a:xfrm>
          <a:prstGeom prst="line">
            <a:avLst/>
          </a:prstGeom>
          <a:ln w="17780">
            <a:solidFill>
              <a:srgbClr val="075E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8-CPT"/>
          <p:cNvSpPr txBox="1"/>
          <p:nvPr/>
        </p:nvSpPr>
        <p:spPr>
          <a:xfrm>
            <a:off x="8229600" y="1883664"/>
            <a:ext cx="3200400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CPT</a:t>
            </a:r>
            <a:endParaRPr sz="25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9" name="V8-用中文与纠错材料继续预训练"/>
          <p:cNvSpPr txBox="1"/>
          <p:nvPr/>
        </p:nvSpPr>
        <p:spPr>
          <a:xfrm>
            <a:off x="8229600" y="2322576"/>
            <a:ext cx="3099816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用中文与纠错材料继续预训练</a:t>
            </a:r>
            <a:endParaRPr sz="17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0" name="V8-连线"/>
          <p:cNvCxnSpPr/>
          <p:nvPr/>
        </p:nvCxnSpPr>
        <p:spPr>
          <a:xfrm>
            <a:off x="4398264" y="2834640"/>
            <a:ext cx="6940296" cy="0"/>
          </a:xfrm>
          <a:prstGeom prst="line">
            <a:avLst/>
          </a:prstGeom>
          <a:ln w="8255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V8-另一目标"/>
          <p:cNvSpPr txBox="1"/>
          <p:nvPr/>
        </p:nvSpPr>
        <p:spPr>
          <a:xfrm>
            <a:off x="4398264" y="29992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另一目标</a:t>
            </a:r>
            <a:endParaRPr sz="14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V8-需要明确的纠错依据"/>
          <p:cNvSpPr txBox="1"/>
          <p:nvPr/>
        </p:nvSpPr>
        <p:spPr>
          <a:xfrm>
            <a:off x="4398264" y="3300984"/>
            <a:ext cx="3145536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需要明确的纠错依据</a:t>
            </a:r>
            <a:endParaRPr sz="21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3" name="V8-连线"/>
          <p:cNvCxnSpPr/>
          <p:nvPr/>
        </p:nvCxnSpPr>
        <p:spPr>
          <a:xfrm>
            <a:off x="7424927" y="3483864"/>
            <a:ext cx="594361" cy="0"/>
          </a:xfrm>
          <a:prstGeom prst="line">
            <a:avLst/>
          </a:prstGeom>
          <a:ln w="17780">
            <a:solidFill>
              <a:srgbClr val="1689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V8-CoT-SFT"/>
          <p:cNvSpPr txBox="1"/>
          <p:nvPr/>
        </p:nvSpPr>
        <p:spPr>
          <a:xfrm>
            <a:off x="8229600" y="2999232"/>
            <a:ext cx="3200400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CoT-SFT</a:t>
            </a:r>
            <a:endParaRPr sz="25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5" name="V8-学习指出错误并解释改法"/>
          <p:cNvSpPr txBox="1"/>
          <p:nvPr/>
        </p:nvSpPr>
        <p:spPr>
          <a:xfrm>
            <a:off x="8229600" y="3438144"/>
            <a:ext cx="3099816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学习指出错误并解释改法</a:t>
            </a:r>
            <a:endParaRPr sz="17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6" name="V8-连线"/>
          <p:cNvCxnSpPr/>
          <p:nvPr/>
        </p:nvCxnSpPr>
        <p:spPr>
          <a:xfrm>
            <a:off x="4398264" y="3950208"/>
            <a:ext cx="6940296" cy="0"/>
          </a:xfrm>
          <a:prstGeom prst="line">
            <a:avLst/>
          </a:prstGeom>
          <a:ln w="8255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V8-问题二"/>
          <p:cNvSpPr txBox="1"/>
          <p:nvPr/>
        </p:nvSpPr>
        <p:spPr>
          <a:xfrm>
            <a:off x="4398264" y="41148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问题二</a:t>
            </a:r>
            <a:endParaRPr sz="14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V8-生成时容易多改"/>
          <p:cNvSpPr txBox="1"/>
          <p:nvPr/>
        </p:nvSpPr>
        <p:spPr>
          <a:xfrm>
            <a:off x="4398264" y="4416552"/>
            <a:ext cx="3145536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生成时容易多改</a:t>
            </a:r>
            <a:endParaRPr sz="21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9" name="V8-连线"/>
          <p:cNvCxnSpPr/>
          <p:nvPr/>
        </p:nvCxnSpPr>
        <p:spPr>
          <a:xfrm>
            <a:off x="7424927" y="4599432"/>
            <a:ext cx="594361" cy="0"/>
          </a:xfrm>
          <a:prstGeom prst="line">
            <a:avLst/>
          </a:prstGeom>
          <a:ln w="17780">
            <a:solidFill>
              <a:srgbClr val="AF7B2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V8-RL + EAR"/>
          <p:cNvSpPr txBox="1"/>
          <p:nvPr/>
        </p:nvSpPr>
        <p:spPr>
          <a:xfrm>
            <a:off x="8229600" y="4114800"/>
            <a:ext cx="3200400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AF7B25"/>
                </a:solidFill>
                <a:latin typeface="Arial" panose="020B0604020202090204"/>
                <a:ea typeface="微软雅黑"/>
                <a:cs typeface="微软雅黑"/>
              </a:rPr>
              <a:t>RL + EAR</a:t>
            </a:r>
            <a:endParaRPr sz="2500" b="1">
              <a:solidFill>
                <a:srgbClr val="AF7B2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61" name="V8-按纠错效果与编辑效率评分"/>
          <p:cNvSpPr txBox="1"/>
          <p:nvPr/>
        </p:nvSpPr>
        <p:spPr>
          <a:xfrm>
            <a:off x="8229600" y="4553712"/>
            <a:ext cx="3099816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按纠错效果与编辑效率评分</a:t>
            </a:r>
            <a:endParaRPr sz="17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V8-背景／分组"/>
          <p:cNvSpPr/>
          <p:nvPr/>
        </p:nvSpPr>
        <p:spPr>
          <a:xfrm>
            <a:off x="621792" y="5696712"/>
            <a:ext cx="41148" cy="347472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8-本文重点：三阶段训练方案，以及编辑效率奖励 EAR。"/>
          <p:cNvSpPr txBox="1"/>
          <p:nvPr/>
        </p:nvSpPr>
        <p:spPr>
          <a:xfrm>
            <a:off x="804672" y="5682996"/>
            <a:ext cx="10515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本文重点：三阶段训练方案，以及编辑效率奖励 EAR。</a:t>
            </a:r>
            <a:endParaRPr sz="21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V8-02"/>
          <p:cNvSpPr txBox="1"/>
          <p:nvPr/>
        </p:nvSpPr>
        <p:spPr>
          <a:xfrm>
            <a:off x="841248" y="1417320"/>
            <a:ext cx="333756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DAE8F1"/>
                </a:solidFill>
                <a:latin typeface="Arial" panose="020B0604020202090204"/>
                <a:ea typeface="微软雅黑"/>
                <a:cs typeface="微软雅黑"/>
              </a:rPr>
              <a:t>02</a:t>
            </a:r>
            <a:endParaRPr sz="14000" b="1">
              <a:solidFill>
                <a:srgbClr val="DAE8F1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15" name="V8-连线"/>
          <p:cNvCxnSpPr/>
          <p:nvPr/>
        </p:nvCxnSpPr>
        <p:spPr>
          <a:xfrm>
            <a:off x="4160520" y="1627632"/>
            <a:ext cx="0" cy="2615184"/>
          </a:xfrm>
          <a:prstGeom prst="line">
            <a:avLst/>
          </a:prstGeom>
          <a:ln w="2540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8-方法原理"/>
          <p:cNvSpPr txBox="1"/>
          <p:nvPr/>
        </p:nvSpPr>
        <p:spPr>
          <a:xfrm>
            <a:off x="4599432" y="1746504"/>
            <a:ext cx="6519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方法原理</a:t>
            </a:r>
            <a:endParaRPr sz="3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V8-CSRP 怎样训练纠错模型？"/>
          <p:cNvSpPr txBox="1"/>
          <p:nvPr/>
        </p:nvSpPr>
        <p:spPr>
          <a:xfrm>
            <a:off x="4599432" y="2770632"/>
            <a:ext cx="6446520" cy="11064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CSRP 怎样训练纠错模型？</a:t>
            </a:r>
            <a:endParaRPr sz="24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8" name="V8-连线"/>
          <p:cNvCxnSpPr/>
          <p:nvPr/>
        </p:nvCxnSpPr>
        <p:spPr>
          <a:xfrm>
            <a:off x="850392" y="5257800"/>
            <a:ext cx="2377440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8-01  研究背景"/>
          <p:cNvSpPr txBox="1"/>
          <p:nvPr/>
        </p:nvSpPr>
        <p:spPr>
          <a:xfrm>
            <a:off x="850392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01  研究背景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0" name="V8-连线"/>
          <p:cNvCxnSpPr/>
          <p:nvPr/>
        </p:nvCxnSpPr>
        <p:spPr>
          <a:xfrm>
            <a:off x="3675887" y="5257800"/>
            <a:ext cx="2377440" cy="0"/>
          </a:xfrm>
          <a:prstGeom prst="line">
            <a:avLst/>
          </a:prstGeom>
          <a:ln w="3810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V8-02  方法原理"/>
          <p:cNvSpPr txBox="1"/>
          <p:nvPr/>
        </p:nvSpPr>
        <p:spPr>
          <a:xfrm>
            <a:off x="3675887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02  方法原理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2" name="V8-连线"/>
          <p:cNvCxnSpPr/>
          <p:nvPr/>
        </p:nvCxnSpPr>
        <p:spPr>
          <a:xfrm>
            <a:off x="6501383" y="5257800"/>
            <a:ext cx="2377441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8-03  实验验证"/>
          <p:cNvSpPr txBox="1"/>
          <p:nvPr/>
        </p:nvSpPr>
        <p:spPr>
          <a:xfrm>
            <a:off x="6501383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03  实验验证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" name="V8-连线"/>
          <p:cNvCxnSpPr/>
          <p:nvPr/>
        </p:nvCxnSpPr>
        <p:spPr>
          <a:xfrm>
            <a:off x="9326880" y="5257800"/>
            <a:ext cx="2377439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8-04  总结与思考"/>
          <p:cNvSpPr txBox="1"/>
          <p:nvPr/>
        </p:nvSpPr>
        <p:spPr>
          <a:xfrm>
            <a:off x="9326880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04  总结与思考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CSRP三阶段训练框架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CSRP三阶段训练框架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1047750"/>
            <a:ext cx="8858250" cy="4886325"/>
          </a:xfrm>
          <a:prstGeom prst="rect">
            <a:avLst/>
          </a:prstGeom>
        </p:spPr>
      </p:pic>
      <p:sp>
        <p:nvSpPr>
          <p:cNvPr id="15" name="01"/>
          <p:cNvSpPr>
            <a:spLocks noGrp="1"/>
          </p:cNvSpPr>
          <p:nvPr/>
        </p:nvSpPr>
        <p:spPr>
          <a:xfrm>
            <a:off x="619125" y="1333500"/>
            <a:ext cx="133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CPT"/>
          <p:cNvSpPr>
            <a:spLocks noGrp="1"/>
          </p:cNvSpPr>
          <p:nvPr/>
        </p:nvSpPr>
        <p:spPr>
          <a:xfrm>
            <a:off x="619125" y="1771650"/>
            <a:ext cx="1485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CPT</a:t>
            </a:r>
            <a:endParaRPr sz="195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补领域&#10;语言知识"/>
          <p:cNvSpPr>
            <a:spLocks noGrp="1"/>
          </p:cNvSpPr>
          <p:nvPr/>
        </p:nvSpPr>
        <p:spPr>
          <a:xfrm>
            <a:off x="619125" y="2190750"/>
            <a:ext cx="1485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继续预训练</a:t>
            </a:r>
            <a:endParaRPr sz="17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buNone/>
              <a:def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学习中文表达</a:t>
            </a:r>
            <a:endParaRPr sz="17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02"/>
          <p:cNvSpPr>
            <a:spLocks noGrp="1"/>
          </p:cNvSpPr>
          <p:nvPr/>
        </p:nvSpPr>
        <p:spPr>
          <a:xfrm>
            <a:off x="619125" y="3048000"/>
            <a:ext cx="133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700" b="1">
                <a:solidFill>
                  <a:srgbClr val="7866A9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7866A9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700" b="1">
              <a:solidFill>
                <a:srgbClr val="7866A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CoT-SFT"/>
          <p:cNvSpPr>
            <a:spLocks noGrp="1"/>
          </p:cNvSpPr>
          <p:nvPr/>
        </p:nvSpPr>
        <p:spPr>
          <a:xfrm>
            <a:off x="619125" y="3486150"/>
            <a:ext cx="1485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7866A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866A9"/>
                </a:solidFill>
                <a:latin typeface="微软雅黑"/>
                <a:ea typeface="微软雅黑"/>
                <a:cs typeface="微软雅黑"/>
              </a:rPr>
              <a:t>CoT-SFT</a:t>
            </a:r>
            <a:endParaRPr sz="1950" b="1">
              <a:solidFill>
                <a:srgbClr val="7866A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学诊断&#10;与纠正"/>
          <p:cNvSpPr>
            <a:spLocks noGrp="1"/>
          </p:cNvSpPr>
          <p:nvPr/>
        </p:nvSpPr>
        <p:spPr>
          <a:xfrm>
            <a:off x="619125" y="3905250"/>
            <a:ext cx="1485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思维链</a:t>
            </a:r>
            <a:endParaRPr sz="17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buNone/>
              <a:def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监督微调</a:t>
            </a:r>
            <a:endParaRPr sz="17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03"/>
          <p:cNvSpPr>
            <a:spLocks noGrp="1"/>
          </p:cNvSpPr>
          <p:nvPr/>
        </p:nvSpPr>
        <p:spPr>
          <a:xfrm>
            <a:off x="619125" y="4695825"/>
            <a:ext cx="133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70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700" b="1">
              <a:solidFill>
                <a:srgbClr val="B47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L"/>
          <p:cNvSpPr>
            <a:spLocks noGrp="1"/>
          </p:cNvSpPr>
          <p:nvPr/>
        </p:nvSpPr>
        <p:spPr>
          <a:xfrm>
            <a:off x="619125" y="5133975"/>
            <a:ext cx="1485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rPr>
              <a:t>RL</a:t>
            </a:r>
            <a:endParaRPr sz="1950" b="1">
              <a:solidFill>
                <a:srgbClr val="B47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以奖励&#10;调整编辑"/>
          <p:cNvSpPr>
            <a:spLocks noGrp="1"/>
          </p:cNvSpPr>
          <p:nvPr/>
        </p:nvSpPr>
        <p:spPr>
          <a:xfrm>
            <a:off x="619125" y="5553075"/>
            <a:ext cx="1485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强化学习</a:t>
            </a:r>
            <a:endParaRPr sz="17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buNone/>
              <a:def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调整模型输出</a:t>
            </a:r>
            <a:endParaRPr sz="17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来源：原论文图2，PDF p3；左侧为中文阅读提示，图中能力标签为设计目标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来源：CSRP，图2，PDF第3页（原图）；图中能力标签表示各阶段的设计目标。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CPT：继续学习领域语言材料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CPT：用混合语料继续预训练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从 Qwen3-4B 出发，继续用语言建模学习混合文本。"/>
          <p:cNvSpPr>
            <a:spLocks noGrp="1"/>
          </p:cNvSpPr>
          <p:nvPr/>
        </p:nvSpPr>
        <p:spPr>
          <a:xfrm>
            <a:off x="619125" y="1123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在 Qwen3-4B 上继续预训练，语料包含通用文本和纠错材料。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通用中文语料&#10;维基、CCI2"/>
          <p:cNvSpPr>
            <a:spLocks noGrp="1"/>
          </p:cNvSpPr>
          <p:nvPr/>
        </p:nvSpPr>
        <p:spPr>
          <a:xfrm>
            <a:off x="619125" y="1666875"/>
            <a:ext cx="3000375" cy="819150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通用中文语料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维基、CCI2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纠错相关语料&#10;Lang8、HSK"/>
          <p:cNvSpPr>
            <a:spLocks noGrp="1"/>
          </p:cNvSpPr>
          <p:nvPr/>
        </p:nvSpPr>
        <p:spPr>
          <a:xfrm>
            <a:off x="619125" y="3209925"/>
            <a:ext cx="3000375" cy="819150"/>
          </a:xfrm>
          <a:prstGeom prst="rect">
            <a:avLst/>
          </a:prstGeom>
          <a:solidFill>
            <a:srgbClr val="FFFFFF"/>
          </a:solidFill>
          <a:ln w="16193">
            <a:solidFill>
              <a:srgbClr val="168B82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纠错相关语料</a:t>
            </a:r>
            <a:endParaRPr sz="187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Lang8、HSK</a:t>
            </a:r>
            <a:endParaRPr sz="187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清洗后约 590 万样本&#10;通用 / 纠错约 8∶2"/>
          <p:cNvSpPr>
            <a:spLocks noGrp="1"/>
          </p:cNvSpPr>
          <p:nvPr/>
        </p:nvSpPr>
        <p:spPr>
          <a:xfrm>
            <a:off x="4267200" y="2238375"/>
            <a:ext cx="3352800" cy="1152525"/>
          </a:xfrm>
          <a:prstGeom prst="rect">
            <a:avLst/>
          </a:prstGeom>
          <a:solidFill>
            <a:srgbClr val="EEF4FA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清洗后约 590 万样本</a:t>
            </a:r>
            <a:endParaRPr sz="21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通用 / 纠错约 8∶2</a:t>
            </a:r>
            <a:endParaRPr sz="21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Qwen3-4B&#10;继续预训练"/>
          <p:cNvSpPr>
            <a:spLocks noGrp="1"/>
          </p:cNvSpPr>
          <p:nvPr/>
        </p:nvSpPr>
        <p:spPr>
          <a:xfrm>
            <a:off x="8839200" y="2343150"/>
            <a:ext cx="2638425" cy="971550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Qwen3-4B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继续预训练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领域适配的 CPT 模型"/>
          <p:cNvSpPr>
            <a:spLocks noGrp="1"/>
          </p:cNvSpPr>
          <p:nvPr/>
        </p:nvSpPr>
        <p:spPr>
          <a:xfrm>
            <a:off x="8810625" y="3895725"/>
            <a:ext cx="2667000" cy="733425"/>
          </a:xfrm>
          <a:prstGeom prst="rect">
            <a:avLst/>
          </a:prstGeom>
          <a:solidFill>
            <a:srgbClr val="FFFFFF"/>
          </a:solidFill>
          <a:ln w="16193">
            <a:solidFill>
              <a:srgbClr val="168B82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继续预训练后的模型</a:t>
            </a:r>
            <a:endParaRPr sz="187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70" name="直接箭头连接符 69"/>
          <p:cNvCxnSpPr>
            <a:stCxn id="22" idx="3"/>
            <a:endCxn id="24" idx="1"/>
          </p:cNvCxnSpPr>
          <p:nvPr/>
        </p:nvCxnSpPr>
        <p:spPr>
          <a:xfrm>
            <a:off x="3619500" y="2076450"/>
            <a:ext cx="647700" cy="738188"/>
          </a:xfrm>
          <a:prstGeom prst="straightConnector1">
            <a:avLst/>
          </a:prstGeom>
          <a:ln w="17145">
            <a:solidFill>
              <a:srgbClr val="005CAB"/>
            </a:solidFill>
            <a:prstDash val="solid"/>
            <a:tailEnd type="triangle" w="sm" len="sm"/>
          </a:ln>
        </p:spPr>
      </p:cxnSp>
      <p:cxnSp>
        <p:nvCxnSpPr>
          <p:cNvPr id="71" name="直接箭头连接符 70"/>
          <p:cNvCxnSpPr>
            <a:stCxn id="23" idx="3"/>
            <a:endCxn id="24" idx="1"/>
          </p:cNvCxnSpPr>
          <p:nvPr/>
        </p:nvCxnSpPr>
        <p:spPr>
          <a:xfrm flipV="1">
            <a:off x="3619500" y="2814638"/>
            <a:ext cx="647700" cy="804863"/>
          </a:xfrm>
          <a:prstGeom prst="straightConnector1">
            <a:avLst/>
          </a:prstGeom>
          <a:ln w="17145">
            <a:solidFill>
              <a:srgbClr val="168B82"/>
            </a:solidFill>
            <a:prstDash val="solid"/>
            <a:tailEnd type="triangle" w="sm" len="sm"/>
          </a:ln>
        </p:spPr>
      </p:cxnSp>
      <p:cxnSp>
        <p:nvCxnSpPr>
          <p:cNvPr id="72" name="直接箭头连接符 71"/>
          <p:cNvCxnSpPr>
            <a:stCxn id="24" idx="3"/>
            <a:endCxn id="25" idx="1"/>
          </p:cNvCxnSpPr>
          <p:nvPr/>
        </p:nvCxnSpPr>
        <p:spPr>
          <a:xfrm>
            <a:off x="7620000" y="2814638"/>
            <a:ext cx="1219200" cy="14288"/>
          </a:xfrm>
          <a:prstGeom prst="straightConnector1">
            <a:avLst/>
          </a:prstGeom>
          <a:ln w="17145">
            <a:solidFill>
              <a:srgbClr val="005CAB"/>
            </a:solidFill>
            <a:prstDash val="solid"/>
            <a:tailEnd type="triangle" w="sm" len="sm"/>
          </a:ln>
        </p:spPr>
      </p:cxnSp>
      <p:cxnSp>
        <p:nvCxnSpPr>
          <p:cNvPr id="73" name="直接箭头连接符 72"/>
          <p:cNvCxnSpPr>
            <a:stCxn id="25" idx="2"/>
            <a:endCxn id="26" idx="0"/>
          </p:cNvCxnSpPr>
          <p:nvPr/>
        </p:nvCxnSpPr>
        <p:spPr>
          <a:xfrm flipH="1">
            <a:off x="10144125" y="3314700"/>
            <a:ext cx="14288" cy="581025"/>
          </a:xfrm>
          <a:prstGeom prst="straightConnector1">
            <a:avLst/>
          </a:prstGeom>
          <a:ln w="17145">
            <a:solidFill>
              <a:srgbClr val="168B82"/>
            </a:solidFill>
            <a:prstDash val="solid"/>
            <a:tailEnd type="triangle" w="sm" len="sm"/>
          </a:ln>
        </p:spPr>
      </p:cxnSp>
      <p:sp>
        <p:nvSpPr>
          <p:cNvPr id="31" name="为什么混合：接触错误表达，同时保留通用语言材料。"/>
          <p:cNvSpPr>
            <a:spLocks noGrp="1"/>
          </p:cNvSpPr>
          <p:nvPr/>
        </p:nvSpPr>
        <p:spPr>
          <a:xfrm>
            <a:off x="619125" y="4972050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混合两类语料：既学习常见错误，也保留通用文本训练。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降低通用能力遗忘风险是作者设计目的；论文未证明8∶2最优。"/>
          <p:cNvSpPr>
            <a:spLocks noGrp="1"/>
          </p:cNvSpPr>
          <p:nvPr/>
        </p:nvSpPr>
        <p:spPr>
          <a:xfrm>
            <a:off x="619125" y="54197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作者希望借此减少通用能力遗忘；论文没有比较其他混合比例。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精确语料数量与数据处理原图见备用页30。"/>
          <p:cNvSpPr>
            <a:spLocks noGrp="1"/>
          </p:cNvSpPr>
          <p:nvPr/>
        </p:nvSpPr>
        <p:spPr>
          <a:xfrm>
            <a:off x="619125" y="582930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精确语料数量与数据处理原图见</a:t>
            </a:r>
            <a:r>
              <a: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备用页31</a:t>
            </a:r>
            <a:r>
              <a: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575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来源：依据PDF p3 §3.1、图3，p4式1中文重绘；约数按论文报告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来源：CSRP，§3.1、图3、式（1），PDF第3—4页（中文重绘）。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CoT-SFT：学习诊断与纠正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CoT-SFT：先解释错误，再给出纠正句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教师构造训练数据：(S, G) → R"/>
          <p:cNvSpPr>
            <a:spLocks noGrp="1"/>
          </p:cNvSpPr>
          <p:nvPr/>
        </p:nvSpPr>
        <p:spPr>
          <a:xfrm>
            <a:off x="619125" y="11239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教师构造训练数据（按正文）：(S, G) → R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原句 S&#10;我喜换吃平果。"/>
          <p:cNvSpPr>
            <a:spLocks noGrp="1"/>
          </p:cNvSpPr>
          <p:nvPr/>
        </p:nvSpPr>
        <p:spPr>
          <a:xfrm>
            <a:off x="619125" y="1657350"/>
            <a:ext cx="2352675" cy="676275"/>
          </a:xfrm>
          <a:prstGeom prst="rect">
            <a:avLst/>
          </a:prstGeom>
          <a:solidFill>
            <a:srgbClr val="FFFFFF"/>
          </a:solidFill>
          <a:ln w="16193">
            <a:solidFill>
              <a:srgbClr val="526579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原句 S</a:t>
            </a:r>
            <a:endParaRPr sz="1725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我喜换吃平果。</a:t>
            </a:r>
            <a:endParaRPr sz="1725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参考答案 G&#10;我喜欢吃苹果。"/>
          <p:cNvSpPr>
            <a:spLocks noGrp="1"/>
          </p:cNvSpPr>
          <p:nvPr/>
        </p:nvSpPr>
        <p:spPr>
          <a:xfrm>
            <a:off x="619125" y="2619375"/>
            <a:ext cx="2352675" cy="676275"/>
          </a:xfrm>
          <a:prstGeom prst="rect">
            <a:avLst/>
          </a:prstGeom>
          <a:solidFill>
            <a:srgbClr val="FFFFFF"/>
          </a:solidFill>
          <a:ln w="16193">
            <a:solidFill>
              <a:srgbClr val="168B82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7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参考答案 G</a:t>
            </a:r>
            <a:endParaRPr sz="172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7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我喜欢吃苹果。</a:t>
            </a:r>
            <a:endParaRPr sz="172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教师 Qwen-Plus&#10;结合原句与参考"/>
          <p:cNvSpPr>
            <a:spLocks noGrp="1"/>
          </p:cNvSpPr>
          <p:nvPr/>
        </p:nvSpPr>
        <p:spPr>
          <a:xfrm>
            <a:off x="3733800" y="2076450"/>
            <a:ext cx="2333625" cy="1000125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教师 Qwen-Plus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读取原句和参考答案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解释 R&#10;定位：喜换、平果&#10;分类：拼写错误&#10;理由：换→欢，平→苹"/>
          <p:cNvSpPr>
            <a:spLocks noGrp="1"/>
          </p:cNvSpPr>
          <p:nvPr/>
        </p:nvSpPr>
        <p:spPr>
          <a:xfrm>
            <a:off x="6905625" y="1543050"/>
            <a:ext cx="4572000" cy="1545336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解释 R</a:t>
            </a:r>
            <a:endParaRPr sz="18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定位：喜换、平果</a:t>
            </a:r>
            <a:endParaRPr sz="18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类型：拼写错误</a:t>
            </a:r>
            <a:endParaRPr sz="18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理由：“喜欢”表示喜爱；</a:t>
            </a:r>
            <a:endParaRPr sz="18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“苹果”是水果名称。</a:t>
            </a:r>
            <a:endParaRPr sz="18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纠正 G：我喜欢吃苹果。"/>
          <p:cNvSpPr>
            <a:spLocks noGrp="1"/>
          </p:cNvSpPr>
          <p:nvPr/>
        </p:nvSpPr>
        <p:spPr>
          <a:xfrm>
            <a:off x="6905625" y="3200400"/>
            <a:ext cx="4572000" cy="485775"/>
          </a:xfrm>
          <a:prstGeom prst="rect">
            <a:avLst/>
          </a:prstGeom>
          <a:solidFill>
            <a:srgbClr val="FFFFFF"/>
          </a:solidFill>
          <a:ln w="16193">
            <a:solidFill>
              <a:srgbClr val="168B82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7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配对参考 G：我喜欢吃苹果。</a:t>
            </a:r>
            <a:endParaRPr sz="172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83" name="直接箭头连接符 82"/>
          <p:cNvCxnSpPr>
            <a:stCxn id="22" idx="3"/>
            <a:endCxn id="24" idx="1"/>
          </p:cNvCxnSpPr>
          <p:nvPr/>
        </p:nvCxnSpPr>
        <p:spPr>
          <a:xfrm>
            <a:off x="2971800" y="1995488"/>
            <a:ext cx="762000" cy="581025"/>
          </a:xfrm>
          <a:prstGeom prst="straightConnector1">
            <a:avLst/>
          </a:prstGeom>
          <a:ln w="17145">
            <a:solidFill>
              <a:srgbClr val="526579"/>
            </a:solidFill>
            <a:prstDash val="solid"/>
            <a:tailEnd type="triangle" w="sm" len="sm"/>
          </a:ln>
        </p:spPr>
      </p:cxnSp>
      <p:cxnSp>
        <p:nvCxnSpPr>
          <p:cNvPr id="84" name="直接箭头连接符 83"/>
          <p:cNvCxnSpPr>
            <a:stCxn id="23" idx="3"/>
            <a:endCxn id="24" idx="1"/>
          </p:cNvCxnSpPr>
          <p:nvPr/>
        </p:nvCxnSpPr>
        <p:spPr>
          <a:xfrm flipV="1">
            <a:off x="2971800" y="2576513"/>
            <a:ext cx="762000" cy="381000"/>
          </a:xfrm>
          <a:prstGeom prst="straightConnector1">
            <a:avLst/>
          </a:prstGeom>
          <a:ln w="17145">
            <a:solidFill>
              <a:srgbClr val="168B82"/>
            </a:solidFill>
            <a:prstDash val="solid"/>
            <a:tailEnd type="triangle" w="sm" len="sm"/>
          </a:ln>
        </p:spPr>
      </p:cxnSp>
      <p:cxnSp>
        <p:nvCxnSpPr>
          <p:cNvPr id="85" name="直接箭头连接符 84"/>
          <p:cNvCxnSpPr>
            <a:stCxn id="24" idx="3"/>
            <a:endCxn id="25" idx="1"/>
          </p:cNvCxnSpPr>
          <p:nvPr/>
        </p:nvCxnSpPr>
        <p:spPr>
          <a:xfrm flipV="1">
            <a:off x="6067425" y="2281238"/>
            <a:ext cx="838200" cy="295275"/>
          </a:xfrm>
          <a:prstGeom prst="straightConnector1">
            <a:avLst/>
          </a:prstGeom>
          <a:ln w="17145">
            <a:solidFill>
              <a:srgbClr val="005CAB"/>
            </a:solidFill>
            <a:prstDash val="solid"/>
            <a:tailEnd type="triangle" w="sm" len="sm"/>
          </a:ln>
        </p:spPr>
      </p:cxnSp>
      <p:sp>
        <p:nvSpPr>
          <p:cNvPr id="31" name="图中连线"/>
          <p:cNvSpPr>
            <a:spLocks noGrp="1"/>
          </p:cNvSpPr>
          <p:nvPr/>
        </p:nvSpPr>
        <p:spPr>
          <a:xfrm>
            <a:off x="619125" y="3886200"/>
            <a:ext cx="10858500" cy="0"/>
          </a:xfrm>
          <a:prstGeom prst="line">
            <a:avLst/>
          </a:prstGeom>
          <a:noFill/>
          <a:ln w="11430">
            <a:solidFill>
              <a:srgbClr val="DBE2E9"/>
            </a:solidFill>
          </a:ln>
        </p:spPr>
        <p:txBody>
          <a:bodyPr/>
          <a:p/>
        </p:txBody>
      </p:sp>
      <p:sp>
        <p:nvSpPr>
          <p:cNvPr id="32" name="学生监督学习：S → [R, G]"/>
          <p:cNvSpPr>
            <a:spLocks noGrp="1"/>
          </p:cNvSpPr>
          <p:nvPr/>
        </p:nvSpPr>
        <p:spPr>
          <a:xfrm>
            <a:off x="619125" y="40195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学生监督学习：S → [R, G]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只输入原句 S"/>
          <p:cNvSpPr>
            <a:spLocks noGrp="1"/>
          </p:cNvSpPr>
          <p:nvPr/>
        </p:nvSpPr>
        <p:spPr>
          <a:xfrm>
            <a:off x="619125" y="4505325"/>
            <a:ext cx="2352675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526579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只输入原句 S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CPT 学生模型"/>
          <p:cNvSpPr>
            <a:spLocks noGrp="1"/>
          </p:cNvSpPr>
          <p:nvPr/>
        </p:nvSpPr>
        <p:spPr>
          <a:xfrm>
            <a:off x="3733800" y="4505325"/>
            <a:ext cx="2333625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继续预训练后的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学生模型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监督目标：[解释 R，纠正 G]"/>
          <p:cNvSpPr>
            <a:spLocks noGrp="1"/>
          </p:cNvSpPr>
          <p:nvPr/>
        </p:nvSpPr>
        <p:spPr>
          <a:xfrm>
            <a:off x="6905625" y="4505325"/>
            <a:ext cx="4572000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168B82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buNone/>
              <a:def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监督目标：[解释 R，纠正 G]</a:t>
            </a:r>
            <a:endParaRPr sz="187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92" name="直接箭头连接符 91"/>
          <p:cNvCxnSpPr>
            <a:stCxn id="33" idx="3"/>
            <a:endCxn id="34" idx="1"/>
          </p:cNvCxnSpPr>
          <p:nvPr/>
        </p:nvCxnSpPr>
        <p:spPr>
          <a:xfrm>
            <a:off x="2971800" y="4838700"/>
            <a:ext cx="762000" cy="0"/>
          </a:xfrm>
          <a:prstGeom prst="straightConnector1">
            <a:avLst/>
          </a:prstGeom>
          <a:ln w="17145">
            <a:solidFill>
              <a:srgbClr val="526579"/>
            </a:solidFill>
            <a:prstDash val="solid"/>
            <a:tailEnd type="triangle" w="sm" len="sm"/>
          </a:ln>
        </p:spPr>
      </p:cxnSp>
      <p:cxnSp>
        <p:nvCxnSpPr>
          <p:cNvPr id="93" name="直接箭头连接符 92"/>
          <p:cNvCxnSpPr>
            <a:stCxn id="34" idx="3"/>
            <a:endCxn id="35" idx="1"/>
          </p:cNvCxnSpPr>
          <p:nvPr/>
        </p:nvCxnSpPr>
        <p:spPr>
          <a:xfrm>
            <a:off x="6067425" y="4838700"/>
            <a:ext cx="838200" cy="0"/>
          </a:xfrm>
          <a:prstGeom prst="straightConnector1">
            <a:avLst/>
          </a:prstGeom>
          <a:ln w="17145">
            <a:solidFill>
              <a:srgbClr val="005CAB"/>
            </a:solidFill>
            <a:prstDash val="solid"/>
            <a:tailEnd type="triangle" w="sm" len="sm"/>
          </a:ln>
        </p:spPr>
      </p:cxnSp>
      <p:sp>
        <p:nvSpPr>
          <p:cNvPr id="38" name="实际使用：只输入 S，不需要 G。"/>
          <p:cNvSpPr>
            <a:spLocks noGrp="1"/>
          </p:cNvSpPr>
          <p:nvPr/>
        </p:nvSpPr>
        <p:spPr>
          <a:xfrm>
            <a:off x="619125" y="54483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使用模型时只输入原句 S，不需要参考答案 G。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参考答案用于数据构造与监督目标，原论文图4见备用页31。"/>
          <p:cNvSpPr>
            <a:spLocks noGrp="1"/>
          </p:cNvSpPr>
          <p:nvPr/>
        </p:nvSpPr>
        <p:spPr>
          <a:xfrm>
            <a:off x="619125" y="5838825"/>
            <a:ext cx="1095375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教师解释抽检：1,000条中，95.2%获多数标注者认可（详见备用页30）。</a:t>
            </a:r>
            <a:endParaRPr sz="1575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来源：按PDF p4 §3.2、式2正文中文重绘；例句为教学构造；教师流程口径见备用页32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来源：CSRP，§3.2、式（2）、附录G（PDF第4、17页）；中文图中的例句为教学示例。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训练、测试与评测指标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训练、测试与评测指标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V8-来源：CSRP，表1、表6、§4.1.3及附录C；测试过滤的疑问见备用页33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来源：CSRP，表1、表6、§4.1.3及附录C；测试过滤的疑问见</a:t>
            </a:r>
            <a:r>
              <a:rPr sz="1060" b="0" u="sng">
                <a:solidFill>
                  <a:srgbClr val="075EA5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备用页33</a:t>
            </a: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V8-纠错训练集"/>
          <p:cNvSpPr txBox="1"/>
          <p:nvPr/>
        </p:nvSpPr>
        <p:spPr>
          <a:xfrm>
            <a:off x="658368" y="111556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纠错训练集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V8-336,604"/>
          <p:cNvSpPr txBox="1"/>
          <p:nvPr/>
        </p:nvSpPr>
        <p:spPr>
          <a:xfrm>
            <a:off x="658368" y="1472184"/>
            <a:ext cx="38862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336,604</a:t>
            </a:r>
            <a:endParaRPr sz="35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37" name="V8-条样本"/>
          <p:cNvSpPr txBox="1"/>
          <p:nvPr/>
        </p:nvSpPr>
        <p:spPr>
          <a:xfrm>
            <a:off x="3794760" y="166420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条样本</a:t>
            </a:r>
            <a:endParaRPr sz="17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V8-背景／分组"/>
          <p:cNvSpPr/>
          <p:nvPr/>
        </p:nvSpPr>
        <p:spPr>
          <a:xfrm>
            <a:off x="8732520" y="1353312"/>
            <a:ext cx="2788920" cy="347472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8-Qwen3-4B"/>
          <p:cNvSpPr txBox="1"/>
          <p:nvPr/>
        </p:nvSpPr>
        <p:spPr>
          <a:xfrm>
            <a:off x="8805672" y="1357884"/>
            <a:ext cx="2642615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Qwen3-4B</a:t>
            </a:r>
            <a:endParaRPr sz="1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背景／分组"/>
          <p:cNvSpPr/>
          <p:nvPr/>
        </p:nvSpPr>
        <p:spPr>
          <a:xfrm>
            <a:off x="685800" y="2560320"/>
            <a:ext cx="8653881" cy="283464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8-背景／分组"/>
          <p:cNvSpPr/>
          <p:nvPr/>
        </p:nvSpPr>
        <p:spPr>
          <a:xfrm>
            <a:off x="9339681" y="2560320"/>
            <a:ext cx="2163470" cy="283464"/>
          </a:xfrm>
          <a:prstGeom prst="rect">
            <a:avLst/>
          </a:prstGeom>
          <a:solidFill>
            <a:srgbClr val="168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8-SFT：269,283（约 80%）"/>
          <p:cNvSpPr txBox="1"/>
          <p:nvPr/>
        </p:nvSpPr>
        <p:spPr>
          <a:xfrm>
            <a:off x="685800" y="21031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SFT：269,283（约 80%）</a:t>
            </a:r>
            <a:endParaRPr sz="20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V8-RL：67,321（约 20%）"/>
          <p:cNvSpPr txBox="1"/>
          <p:nvPr/>
        </p:nvSpPr>
        <p:spPr>
          <a:xfrm>
            <a:off x="7909560" y="2103120"/>
            <a:ext cx="359359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897F"/>
                </a:solidFill>
                <a:latin typeface="微软雅黑"/>
                <a:ea typeface="微软雅黑"/>
                <a:cs typeface="微软雅黑"/>
              </a:rPr>
              <a:t>RL：67,321（约 20%）</a:t>
            </a:r>
            <a:endParaRPr sz="2000" b="1">
              <a:solidFill>
                <a:srgbClr val="1689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V8-参考答案 G：监督生成 [R, G]"/>
          <p:cNvSpPr txBox="1"/>
          <p:nvPr/>
        </p:nvSpPr>
        <p:spPr>
          <a:xfrm>
            <a:off x="685800" y="2980944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参考答案 G：监督生成 [R, G]</a:t>
            </a:r>
            <a:endParaRPr sz="18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V8-参考答案 G：为训练候选计算 EAR"/>
          <p:cNvSpPr txBox="1"/>
          <p:nvPr/>
        </p:nvSpPr>
        <p:spPr>
          <a:xfrm>
            <a:off x="6986016" y="2980944"/>
            <a:ext cx="45171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参考答案 G：为训练候选计算 EAR</a:t>
            </a:r>
            <a:endParaRPr sz="175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V8-这里的 80∶20 是训练数据划分；CPT 的 80∶20 是语料组成。"/>
          <p:cNvSpPr txBox="1"/>
          <p:nvPr/>
        </p:nvSpPr>
        <p:spPr>
          <a:xfrm>
            <a:off x="685800" y="3392424"/>
            <a:ext cx="10789920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这里的 80∶20 是训练数据划分；CPT 的 80∶20 是语料组成。</a:t>
            </a:r>
            <a:endParaRPr sz="17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7" name="V8-连线"/>
          <p:cNvCxnSpPr/>
          <p:nvPr/>
        </p:nvCxnSpPr>
        <p:spPr>
          <a:xfrm>
            <a:off x="685800" y="3767328"/>
            <a:ext cx="10817352" cy="0"/>
          </a:xfrm>
          <a:prstGeom prst="line">
            <a:avLst/>
          </a:prstGeom>
          <a:ln w="1016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8-训练奖励  EAR"/>
          <p:cNvSpPr txBox="1"/>
          <p:nvPr/>
        </p:nvSpPr>
        <p:spPr>
          <a:xfrm>
            <a:off x="685800" y="3941063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训练奖励  EAR</a:t>
            </a:r>
            <a:endParaRPr sz="20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V8-基于字符编辑距离，与最终测试指标不同。"/>
          <p:cNvSpPr txBox="1"/>
          <p:nvPr/>
        </p:nvSpPr>
        <p:spPr>
          <a:xfrm>
            <a:off x="3986784" y="3950208"/>
            <a:ext cx="7516368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基于字符编辑距离，与最终测试指标不同。</a:t>
            </a:r>
            <a:endParaRPr sz="175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V8-P 看改动正确的比例，R 看参考错误修复的比例；F₀.₅ 更重视 P。"/>
          <p:cNvSpPr txBox="1"/>
          <p:nvPr/>
        </p:nvSpPr>
        <p:spPr>
          <a:xfrm>
            <a:off x="685800" y="5797296"/>
            <a:ext cx="10817352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P 看改动正确的比例，R 看参考错误修复的比例；F₀.₅ 更重视 P。</a:t>
            </a:r>
            <a:endParaRPr sz="175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61" name="V9-测试任务与指标表"/>
          <p:cNvGraphicFramePr>
            <a:graphicFrameLocks noGrp="1"/>
          </p:cNvGraphicFramePr>
          <p:nvPr/>
        </p:nvGraphicFramePr>
        <p:xfrm>
          <a:off x="685800" y="4425696"/>
          <a:ext cx="10817352" cy="1252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3160"/>
                <a:gridCol w="1673352"/>
                <a:gridCol w="2212848"/>
                <a:gridCol w="4507992"/>
              </a:tblGrid>
              <a:tr h="365760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5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任务</a:t>
                      </a:r>
                      <a:endParaRPr lang="zh-CN" sz="165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5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测试集</a:t>
                      </a:r>
                      <a:endParaRPr lang="zh-CN" sz="165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5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规模（论文所列）</a:t>
                      </a:r>
                      <a:endParaRPr lang="zh-CN" sz="165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5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评测指标</a:t>
                      </a:r>
                      <a:endParaRPr lang="zh-CN" sz="165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语法纠错 CGEC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NACGEC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5,869 句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P、R、F₀.₅（ChERRANT）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拼写纠正 CSC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CSCD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5,000 句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5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字符级纠正 F₁</a:t>
                      </a:r>
                      <a:endParaRPr lang="zh-CN" sz="175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EAR的起点：三种编辑距离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EAR：用三种距离衡量改动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字符编辑距离：插入、删除、替换一个字符，各计1次"/>
          <p:cNvSpPr>
            <a:spLocks noGrp="1"/>
          </p:cNvSpPr>
          <p:nvPr/>
        </p:nvSpPr>
        <p:spPr>
          <a:xfrm>
            <a:off x="619125" y="11239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字符编辑距离：将一句话变成另一句所需的最少插入、删除、替换次数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"/>
          <p:cNvSpPr>
            <a:spLocks noGrp="1"/>
          </p:cNvSpPr>
          <p:nvPr/>
        </p:nvSpPr>
        <p:spPr>
          <a:xfrm>
            <a:off x="1076325" y="2152650"/>
            <a:ext cx="723900" cy="723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CAB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26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S</a:t>
            </a:r>
            <a:endParaRPr sz="26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G"/>
          <p:cNvSpPr>
            <a:spLocks noGrp="1"/>
          </p:cNvSpPr>
          <p:nvPr/>
        </p:nvSpPr>
        <p:spPr>
          <a:xfrm>
            <a:off x="4867275" y="2152650"/>
            <a:ext cx="723900" cy="723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8B82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26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G</a:t>
            </a:r>
            <a:endParaRPr sz="262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"/>
          <p:cNvSpPr>
            <a:spLocks noGrp="1"/>
          </p:cNvSpPr>
          <p:nvPr/>
        </p:nvSpPr>
        <p:spPr>
          <a:xfrm>
            <a:off x="2971800" y="4076700"/>
            <a:ext cx="723900" cy="723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7723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sz="2625" b="1">
                <a:solidFill>
                  <a:srgbClr val="B47723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B47723"/>
                </a:solidFill>
                <a:latin typeface="微软雅黑"/>
                <a:ea typeface="微软雅黑"/>
                <a:cs typeface="微软雅黑"/>
              </a:rPr>
              <a:t>P</a:t>
            </a:r>
            <a:endParaRPr sz="2625" b="1">
              <a:solidFill>
                <a:srgbClr val="B4772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2" name="直接箭头连接符 51"/>
          <p:cNvCxnSpPr>
            <a:stCxn id="19" idx="6"/>
            <a:endCxn id="20" idx="2"/>
          </p:cNvCxnSpPr>
          <p:nvPr/>
        </p:nvCxnSpPr>
        <p:spPr>
          <a:xfrm>
            <a:off x="1800225" y="2514600"/>
            <a:ext cx="3067050" cy="0"/>
          </a:xfrm>
          <a:prstGeom prst="straightConnector1">
            <a:avLst/>
          </a:prstGeom>
          <a:ln w="19050">
            <a:solidFill>
              <a:srgbClr val="526579"/>
            </a:solidFill>
            <a:prstDash val="solid"/>
          </a:ln>
        </p:spPr>
      </p:cxnSp>
      <p:cxnSp>
        <p:nvCxnSpPr>
          <p:cNvPr id="53" name="直接箭头连接符 52"/>
          <p:cNvCxnSpPr>
            <a:stCxn id="19" idx="4"/>
            <a:endCxn id="21" idx="2"/>
          </p:cNvCxnSpPr>
          <p:nvPr/>
        </p:nvCxnSpPr>
        <p:spPr>
          <a:xfrm>
            <a:off x="1438275" y="2876550"/>
            <a:ext cx="1533525" cy="1562100"/>
          </a:xfrm>
          <a:prstGeom prst="straightConnector1">
            <a:avLst/>
          </a:prstGeom>
          <a:ln w="19050">
            <a:solidFill>
              <a:srgbClr val="B47723"/>
            </a:solidFill>
            <a:prstDash val="solid"/>
          </a:ln>
        </p:spPr>
      </p:cxnSp>
      <p:cxnSp>
        <p:nvCxnSpPr>
          <p:cNvPr id="54" name="直接箭头连接符 53"/>
          <p:cNvCxnSpPr>
            <a:stCxn id="21" idx="6"/>
            <a:endCxn id="20" idx="4"/>
          </p:cNvCxnSpPr>
          <p:nvPr/>
        </p:nvCxnSpPr>
        <p:spPr>
          <a:xfrm flipV="1">
            <a:off x="3695700" y="2876550"/>
            <a:ext cx="1533525" cy="1562100"/>
          </a:xfrm>
          <a:prstGeom prst="straightConnector1">
            <a:avLst/>
          </a:prstGeom>
          <a:ln w="19050">
            <a:solidFill>
              <a:srgbClr val="168B82"/>
            </a:solidFill>
            <a:prstDash val="solid"/>
          </a:ln>
        </p:spPr>
      </p:cxnSp>
      <p:sp>
        <p:nvSpPr>
          <p:cNvPr id="25" name="原句"/>
          <p:cNvSpPr>
            <a:spLocks noGrp="1"/>
          </p:cNvSpPr>
          <p:nvPr/>
        </p:nvSpPr>
        <p:spPr>
          <a:xfrm>
            <a:off x="914400" y="3019425"/>
            <a:ext cx="1057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原句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参考答案"/>
          <p:cNvSpPr>
            <a:spLocks noGrp="1"/>
          </p:cNvSpPr>
          <p:nvPr/>
        </p:nvSpPr>
        <p:spPr>
          <a:xfrm>
            <a:off x="4695825" y="1724025"/>
            <a:ext cx="1057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参考答案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预测句"/>
          <p:cNvSpPr>
            <a:spLocks noGrp="1"/>
          </p:cNvSpPr>
          <p:nvPr/>
        </p:nvSpPr>
        <p:spPr>
          <a:xfrm>
            <a:off x="2800350" y="4914900"/>
            <a:ext cx="10763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预测句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A = d(S,G)"/>
          <p:cNvSpPr>
            <a:spLocks noGrp="1"/>
          </p:cNvSpPr>
          <p:nvPr/>
        </p:nvSpPr>
        <p:spPr>
          <a:xfrm>
            <a:off x="2143125" y="2038350"/>
            <a:ext cx="2324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A = d(S,G)</a:t>
            </a:r>
            <a:endParaRPr sz="195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C = d(S,P)"/>
          <p:cNvSpPr>
            <a:spLocks noGrp="1"/>
          </p:cNvSpPr>
          <p:nvPr/>
        </p:nvSpPr>
        <p:spPr>
          <a:xfrm>
            <a:off x="619125" y="35814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B47723"/>
                </a:solidFill>
                <a:latin typeface="微软雅黑"/>
                <a:ea typeface="微软雅黑"/>
                <a:cs typeface="微软雅黑"/>
              </a:rPr>
              <a:t>C = d(S,P)</a:t>
            </a:r>
            <a:endParaRPr sz="1950" b="1">
              <a:solidFill>
                <a:srgbClr val="B47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B = d(P,G)"/>
          <p:cNvSpPr>
            <a:spLocks noGrp="1"/>
          </p:cNvSpPr>
          <p:nvPr/>
        </p:nvSpPr>
        <p:spPr>
          <a:xfrm>
            <a:off x="4572000" y="35814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B = d(P,G)</a:t>
            </a:r>
            <a:endParaRPr sz="1875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图中连线"/>
          <p:cNvSpPr>
            <a:spLocks noGrp="1"/>
          </p:cNvSpPr>
          <p:nvPr/>
        </p:nvSpPr>
        <p:spPr>
          <a:xfrm>
            <a:off x="6362700" y="1685925"/>
            <a:ext cx="0" cy="3705225"/>
          </a:xfrm>
          <a:prstGeom prst="line">
            <a:avLst/>
          </a:prstGeom>
          <a:noFill/>
          <a:ln w="11430">
            <a:solidFill>
              <a:srgbClr val="DBE2E9"/>
            </a:solidFill>
          </a:ln>
        </p:spPr>
        <p:txBody>
          <a:bodyPr/>
          <a:p/>
        </p:txBody>
      </p:sp>
      <p:sp>
        <p:nvSpPr>
          <p:cNvPr id="32" name="只修一处的教学候选"/>
          <p:cNvSpPr>
            <a:spLocks noGrp="1"/>
          </p:cNvSpPr>
          <p:nvPr/>
        </p:nvSpPr>
        <p:spPr>
          <a:xfrm>
            <a:off x="6810375" y="1762125"/>
            <a:ext cx="46672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示例：只修正一处错字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S：我喜换吃平果。"/>
          <p:cNvSpPr>
            <a:spLocks noGrp="1"/>
          </p:cNvSpPr>
          <p:nvPr/>
        </p:nvSpPr>
        <p:spPr>
          <a:xfrm>
            <a:off x="6810375" y="2428875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S：我喜换吃平果。</a:t>
            </a:r>
            <a:endParaRPr sz="21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G：我喜欢吃苹果。"/>
          <p:cNvSpPr>
            <a:spLocks noGrp="1"/>
          </p:cNvSpPr>
          <p:nvPr/>
        </p:nvSpPr>
        <p:spPr>
          <a:xfrm>
            <a:off x="6810375" y="2962275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G：我喜欢吃苹果。</a:t>
            </a:r>
            <a:endParaRPr sz="2100" b="0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P：我喜欢吃平果。"/>
          <p:cNvSpPr>
            <a:spLocks noGrp="1"/>
          </p:cNvSpPr>
          <p:nvPr/>
        </p:nvSpPr>
        <p:spPr>
          <a:xfrm>
            <a:off x="6810375" y="3495675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>
                <a:solidFill>
                  <a:srgbClr val="B4772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B47723"/>
                </a:solidFill>
                <a:latin typeface="微软雅黑"/>
                <a:ea typeface="微软雅黑"/>
                <a:cs typeface="微软雅黑"/>
              </a:rPr>
              <a:t>P：我喜欢吃平果。</a:t>
            </a:r>
            <a:endParaRPr sz="2100" b="0">
              <a:solidFill>
                <a:srgbClr val="B47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A = 2　B = 1　C = 1"/>
          <p:cNvSpPr>
            <a:spLocks noGrp="1"/>
          </p:cNvSpPr>
          <p:nvPr/>
        </p:nvSpPr>
        <p:spPr>
          <a:xfrm>
            <a:off x="6810375" y="425767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A = 2　B = 1　C = 1</a:t>
            </a:r>
            <a:endParaRPr sz="2175" b="1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净改善 A − B = 1"/>
          <p:cNvSpPr>
            <a:spLocks noGrp="1"/>
          </p:cNvSpPr>
          <p:nvPr/>
        </p:nvSpPr>
        <p:spPr>
          <a:xfrm>
            <a:off x="6810375" y="484822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净改善 A − B = 1</a:t>
            </a:r>
            <a:endParaRPr sz="21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A 是原始距离；B 是剩余距离；C 是原句到预测句的编辑距离。"/>
          <p:cNvSpPr>
            <a:spLocks noGrp="1"/>
          </p:cNvSpPr>
          <p:nvPr/>
        </p:nvSpPr>
        <p:spPr>
          <a:xfrm>
            <a:off x="619125" y="5657850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A：原句到参考；B：预测到参考；C：原句到预测。均取最少编辑次数。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来源：依据PDF p4式3–4中文重绘；本页例句为教学构造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来源：CSRP，式（3）—（4），PDF第4页；A/B/C为讲解记号，例句为教学示例。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EAR：相对改善、编辑效率与奖励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EAR：相对改善与编辑效率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V8-来源：CSRP，式（3）—（5）及§3.3.2，PDF第4—5页；特殊情况见备用页26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来源：CSRP，式（3）—（5）及§3.3.2，PDF第4—5页；特殊情况见</a:t>
            </a:r>
            <a:r>
              <a:rPr sz="1060" b="0" u="sng">
                <a:solidFill>
                  <a:srgbClr val="075EA5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备用页26</a:t>
            </a: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V8-先算改善，再看编辑效率"/>
          <p:cNvSpPr txBox="1"/>
          <p:nvPr/>
        </p:nvSpPr>
        <p:spPr>
          <a:xfrm>
            <a:off x="667512" y="1252728"/>
            <a:ext cx="42245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先算改善，再看编辑效率</a:t>
            </a:r>
            <a:endParaRPr sz="20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V8-RI = (A − B) / (A + ε)"/>
          <p:cNvSpPr txBox="1"/>
          <p:nvPr/>
        </p:nvSpPr>
        <p:spPr>
          <a:xfrm>
            <a:off x="694944" y="1828800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RI = (A − B) / (A + ε)</a:t>
            </a:r>
            <a:endParaRPr sz="25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21" name="V8-相对改善：净改善 / 原始距离"/>
          <p:cNvSpPr txBox="1"/>
          <p:nvPr/>
        </p:nvSpPr>
        <p:spPr>
          <a:xfrm>
            <a:off x="704088" y="2368296"/>
            <a:ext cx="4407408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相对改善：净改善 / 原始距离</a:t>
            </a:r>
            <a:endParaRPr sz="18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V8-η = (A − B) / (C + ε)"/>
          <p:cNvSpPr txBox="1"/>
          <p:nvPr/>
        </p:nvSpPr>
        <p:spPr>
          <a:xfrm>
            <a:off x="694944" y="3108960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η = (A − B) / (C + ε)</a:t>
            </a:r>
            <a:endParaRPr sz="25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23" name="V8-编辑效率：净改善 / 最少编辑次数"/>
          <p:cNvSpPr txBox="1"/>
          <p:nvPr/>
        </p:nvSpPr>
        <p:spPr>
          <a:xfrm>
            <a:off x="704088" y="3648456"/>
            <a:ext cx="44074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编辑效率：净改善 / 最少编辑次数</a:t>
            </a:r>
            <a:endParaRPr sz="18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V8-ε = 10⁻⁶"/>
          <p:cNvSpPr txBox="1"/>
          <p:nvPr/>
        </p:nvSpPr>
        <p:spPr>
          <a:xfrm>
            <a:off x="713232" y="4242816"/>
            <a:ext cx="423367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ε = 10⁻⁶</a:t>
            </a:r>
            <a:endParaRPr sz="17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25" name="V8-连线"/>
          <p:cNvCxnSpPr/>
          <p:nvPr/>
        </p:nvCxnSpPr>
        <p:spPr>
          <a:xfrm>
            <a:off x="5303520" y="1371600"/>
            <a:ext cx="0" cy="3291840"/>
          </a:xfrm>
          <a:prstGeom prst="line">
            <a:avLst/>
          </a:prstGeom>
          <a:ln w="1016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8-有错原句 S ≠ G，且输出非空"/>
          <p:cNvSpPr txBox="1"/>
          <p:nvPr/>
        </p:nvSpPr>
        <p:spPr>
          <a:xfrm>
            <a:off x="5715000" y="1252728"/>
            <a:ext cx="5596128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适用条件：S ≠ G，且输出非空</a:t>
            </a:r>
            <a:endParaRPr sz="19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V8-背景／分组"/>
          <p:cNvSpPr/>
          <p:nvPr/>
        </p:nvSpPr>
        <p:spPr>
          <a:xfrm>
            <a:off x="685800" y="4873752"/>
            <a:ext cx="10817352" cy="685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8-按参考答案判为正确（S = G）：不改 +2；修改 −2。"/>
          <p:cNvSpPr txBox="1"/>
          <p:nvPr/>
        </p:nvSpPr>
        <p:spPr>
          <a:xfrm>
            <a:off x="859536" y="4965192"/>
            <a:ext cx="1044244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按参考答案判为正确（S = G）：不改 +2；修改 −2。</a:t>
            </a:r>
            <a:endParaRPr sz="18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有错却不改：RI = 0，奖励 −3；空输出奖励 −2。"/>
          <p:cNvSpPr txBox="1"/>
          <p:nvPr/>
        </p:nvSpPr>
        <p:spPr>
          <a:xfrm>
            <a:off x="859536" y="5294376"/>
            <a:ext cx="1044244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有错却不改：RI = 0，奖励 −3；空输出奖励 −2。</a:t>
            </a:r>
            <a:endParaRPr sz="16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V8-背景／分组"/>
          <p:cNvSpPr/>
          <p:nvPr/>
        </p:nvSpPr>
        <p:spPr>
          <a:xfrm>
            <a:off x="621792" y="5742432"/>
            <a:ext cx="41148" cy="347472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8-不是改得越少越好，而是该改时改，不该改时不改。"/>
          <p:cNvSpPr txBox="1"/>
          <p:nvPr/>
        </p:nvSpPr>
        <p:spPr>
          <a:xfrm>
            <a:off x="804672" y="5728716"/>
            <a:ext cx="10515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不是改得越少越好，而是该改时改，不该改时不改。</a:t>
            </a:r>
            <a:endParaRPr sz="21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3" name="V9-EAR条件与奖励表"/>
          <p:cNvGraphicFramePr>
            <a:graphicFrameLocks noGrp="1"/>
          </p:cNvGraphicFramePr>
          <p:nvPr/>
        </p:nvGraphicFramePr>
        <p:xfrm>
          <a:off x="5687568" y="1792224"/>
          <a:ext cx="5760720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2304"/>
                <a:gridCol w="3328416"/>
              </a:tblGrid>
              <a:tr h="475488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条件</a:t>
                      </a:r>
                      <a:endParaRPr lang="zh-CN" sz="18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EAR 奖励</a:t>
                      </a:r>
                      <a:endParaRPr lang="zh-CN" sz="18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RI &gt; 0.99</a:t>
                      </a:r>
                      <a:endParaRPr lang="zh-CN" sz="20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500" b="0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10</a:t>
                      </a:r>
                      <a:endParaRPr lang="zh-CN" sz="2500" b="0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>
                          <a:solidFill>
                            <a:srgbClr val="16897F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0 &lt; RI ≤ 0.99</a:t>
                      </a:r>
                      <a:endParaRPr lang="zh-CN" sz="2000" b="1">
                        <a:solidFill>
                          <a:srgbClr val="16897F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EDF6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>
                          <a:solidFill>
                            <a:srgbClr val="16897F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2 + 5RI × max(0,η)</a:t>
                      </a:r>
                      <a:endParaRPr lang="zh-CN" sz="2000" b="1">
                        <a:solidFill>
                          <a:srgbClr val="16897F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EDF6F4"/>
                    </a:solidFill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RI ≤ 0</a:t>
                      </a:r>
                      <a:endParaRPr lang="zh-CN" sz="20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500" b="0">
                          <a:solidFill>
                            <a:srgbClr val="B34F5C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−3</a:t>
                      </a:r>
                      <a:endParaRPr lang="zh-CN" sz="2500" b="0">
                        <a:solidFill>
                          <a:srgbClr val="B34F5C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四个候选的奖励为什么不同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四种输出，奖励有何不同？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V8-来源：按CSRP式（3）—（5）演算；例句为教学示例，精确计算见备用页27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来源：按CSRP式（3）—（5）演算；例句为教学示例，精确计算见</a:t>
            </a:r>
            <a:r>
              <a:rPr sz="1060" b="0" u="sng">
                <a:solidFill>
                  <a:srgbClr val="075EA5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备用页27</a:t>
            </a: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V8-"/>
          <p:cNvSpPr txBox="1"/>
          <p:nvPr/>
        </p:nvSpPr>
        <p:spPr>
          <a:xfrm>
            <a:off x="704088" y="1170432"/>
            <a:ext cx="6035040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384A"/>
                </a:solidFill>
                <a:latin typeface="微软雅黑"/>
                <a:ea typeface="微软雅黑"/>
              </a:rPr>
              <a:t>S  我喜</a:t>
            </a:r>
            <a:r>
              <a:rPr sz="2400" b="1">
                <a:solidFill>
                  <a:srgbClr val="B64E58"/>
                </a:solidFill>
                <a:latin typeface="微软雅黑"/>
                <a:ea typeface="微软雅黑"/>
              </a:rPr>
              <a:t>换</a:t>
            </a:r>
            <a:r>
              <a:rPr sz="2400" b="0">
                <a:solidFill>
                  <a:srgbClr val="23384A"/>
                </a:solidFill>
                <a:latin typeface="微软雅黑"/>
                <a:ea typeface="微软雅黑"/>
              </a:rPr>
              <a:t>吃</a:t>
            </a:r>
            <a:r>
              <a:rPr sz="2400" b="1">
                <a:solidFill>
                  <a:srgbClr val="B64E58"/>
                </a:solidFill>
                <a:latin typeface="微软雅黑"/>
                <a:ea typeface="微软雅黑"/>
              </a:rPr>
              <a:t>平</a:t>
            </a:r>
            <a:r>
              <a:rPr sz="2400" b="0">
                <a:solidFill>
                  <a:srgbClr val="23384A"/>
                </a:solidFill>
                <a:latin typeface="微软雅黑"/>
                <a:ea typeface="微软雅黑"/>
              </a:rPr>
              <a:t>果。</a:t>
            </a:r>
            <a:endParaRPr sz="24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96" name="V8-"/>
          <p:cNvSpPr txBox="1"/>
          <p:nvPr/>
        </p:nvSpPr>
        <p:spPr>
          <a:xfrm>
            <a:off x="704088" y="1682496"/>
            <a:ext cx="6035040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384A"/>
                </a:solidFill>
                <a:latin typeface="微软雅黑"/>
                <a:ea typeface="微软雅黑"/>
              </a:rPr>
              <a:t>G  我喜</a:t>
            </a:r>
            <a:r>
              <a:rPr sz="2400" b="1">
                <a:solidFill>
                  <a:srgbClr val="16897F"/>
                </a:solidFill>
                <a:latin typeface="微软雅黑"/>
                <a:ea typeface="微软雅黑"/>
              </a:rPr>
              <a:t>欢</a:t>
            </a:r>
            <a:r>
              <a:rPr sz="2400" b="0">
                <a:solidFill>
                  <a:srgbClr val="23384A"/>
                </a:solidFill>
                <a:latin typeface="微软雅黑"/>
                <a:ea typeface="微软雅黑"/>
              </a:rPr>
              <a:t>吃</a:t>
            </a:r>
            <a:r>
              <a:rPr sz="2400" b="1">
                <a:solidFill>
                  <a:srgbClr val="16897F"/>
                </a:solidFill>
                <a:latin typeface="微软雅黑"/>
                <a:ea typeface="微软雅黑"/>
              </a:rPr>
              <a:t>苹</a:t>
            </a:r>
            <a:r>
              <a:rPr sz="2400" b="0">
                <a:solidFill>
                  <a:srgbClr val="23384A"/>
                </a:solidFill>
                <a:latin typeface="微软雅黑"/>
                <a:ea typeface="微软雅黑"/>
              </a:rPr>
              <a:t>果。</a:t>
            </a:r>
            <a:endParaRPr sz="24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97" name="V8-A = 2"/>
          <p:cNvSpPr txBox="1"/>
          <p:nvPr/>
        </p:nvSpPr>
        <p:spPr>
          <a:xfrm>
            <a:off x="6565392" y="1225296"/>
            <a:ext cx="1353312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A = 2</a:t>
            </a:r>
            <a:endParaRPr sz="24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98" name="V8-红：错误　绿：正确替换 / 橙：额外插入"/>
          <p:cNvSpPr txBox="1"/>
          <p:nvPr/>
        </p:nvSpPr>
        <p:spPr>
          <a:xfrm>
            <a:off x="8375904" y="1188720"/>
            <a:ext cx="312724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红：错误　绿：正确替换</a:t>
            </a:r>
            <a:endParaRPr sz="15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橙：额外插入</a:t>
            </a:r>
            <a:endParaRPr sz="15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99" name="V8-连线"/>
          <p:cNvCxnSpPr/>
          <p:nvPr/>
        </p:nvCxnSpPr>
        <p:spPr>
          <a:xfrm>
            <a:off x="685800" y="2185416"/>
            <a:ext cx="10808208" cy="0"/>
          </a:xfrm>
          <a:prstGeom prst="line">
            <a:avLst/>
          </a:prstGeom>
          <a:ln w="889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V8-候选句"/>
          <p:cNvSpPr txBox="1"/>
          <p:nvPr/>
        </p:nvSpPr>
        <p:spPr>
          <a:xfrm>
            <a:off x="704088" y="233172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候选句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1" name="V8-距离与效率"/>
          <p:cNvSpPr txBox="1"/>
          <p:nvPr/>
        </p:nvSpPr>
        <p:spPr>
          <a:xfrm>
            <a:off x="4846320" y="2331720"/>
            <a:ext cx="22768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距离与效率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" name="V8-EAR 奖励"/>
          <p:cNvSpPr txBox="1"/>
          <p:nvPr/>
        </p:nvSpPr>
        <p:spPr>
          <a:xfrm>
            <a:off x="7891272" y="2331720"/>
            <a:ext cx="34838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EAR 奖励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03" name="V8-连线"/>
          <p:cNvCxnSpPr/>
          <p:nvPr/>
        </p:nvCxnSpPr>
        <p:spPr>
          <a:xfrm>
            <a:off x="8908694" y="2734056"/>
            <a:ext cx="0" cy="2514600"/>
          </a:xfrm>
          <a:prstGeom prst="line">
            <a:avLst/>
          </a:prstGeom>
          <a:ln w="10795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V8-01"/>
          <p:cNvSpPr txBox="1"/>
          <p:nvPr/>
        </p:nvSpPr>
        <p:spPr>
          <a:xfrm>
            <a:off x="704088" y="2761488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01</a:t>
            </a:r>
            <a:endParaRPr sz="1600" b="1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05" name="V8-"/>
          <p:cNvSpPr txBox="1"/>
          <p:nvPr/>
        </p:nvSpPr>
        <p:spPr>
          <a:xfrm>
            <a:off x="1225296" y="2715768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我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喜</a:t>
            </a:r>
            <a:r>
              <a:rPr sz="2300" b="1">
                <a:solidFill>
                  <a:srgbClr val="B64E58"/>
                </a:solidFill>
                <a:latin typeface="微软雅黑"/>
                <a:ea typeface="微软雅黑"/>
              </a:rPr>
              <a:t>换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吃</a:t>
            </a:r>
            <a:r>
              <a:rPr sz="2300" b="1">
                <a:solidFill>
                  <a:srgbClr val="B64E58"/>
                </a:solidFill>
                <a:latin typeface="微软雅黑"/>
                <a:ea typeface="微软雅黑"/>
              </a:rPr>
              <a:t>平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果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。</a:t>
            </a:r>
            <a:endParaRPr sz="23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106" name="V8-B = 2   C = 0"/>
          <p:cNvSpPr txBox="1"/>
          <p:nvPr/>
        </p:nvSpPr>
        <p:spPr>
          <a:xfrm>
            <a:off x="4855464" y="2679191"/>
            <a:ext cx="2807208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84A"/>
                </a:solidFill>
                <a:latin typeface="Arial" panose="020B0604020202090204"/>
                <a:ea typeface="微软雅黑"/>
                <a:cs typeface="微软雅黑"/>
              </a:rPr>
              <a:t>B = 2   C = 0</a:t>
            </a:r>
            <a:endParaRPr sz="1650" b="0">
              <a:solidFill>
                <a:srgbClr val="23384A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07" name="V8-RI =0   η =0"/>
          <p:cNvSpPr txBox="1"/>
          <p:nvPr/>
        </p:nvSpPr>
        <p:spPr>
          <a:xfrm>
            <a:off x="4855464" y="3017520"/>
            <a:ext cx="280720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RI =0   η =0</a:t>
            </a:r>
            <a:endParaRPr sz="15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08" name="V8-背景／分组"/>
          <p:cNvSpPr/>
          <p:nvPr/>
        </p:nvSpPr>
        <p:spPr>
          <a:xfrm>
            <a:off x="8275929" y="2830068"/>
            <a:ext cx="632764" cy="210312"/>
          </a:xfrm>
          <a:prstGeom prst="rect">
            <a:avLst/>
          </a:prstGeom>
          <a:solidFill>
            <a:srgbClr val="B64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8-−3"/>
          <p:cNvSpPr txBox="1"/>
          <p:nvPr/>
        </p:nvSpPr>
        <p:spPr>
          <a:xfrm>
            <a:off x="7727289" y="2743200"/>
            <a:ext cx="448056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4E58"/>
                </a:solidFill>
                <a:latin typeface="Arial" panose="020B0604020202090204"/>
                <a:ea typeface="微软雅黑"/>
                <a:cs typeface="微软雅黑"/>
              </a:rPr>
              <a:t>−3</a:t>
            </a:r>
            <a:endParaRPr sz="1900" b="1">
              <a:solidFill>
                <a:srgbClr val="B64E5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110" name="V8-连线"/>
          <p:cNvCxnSpPr/>
          <p:nvPr/>
        </p:nvCxnSpPr>
        <p:spPr>
          <a:xfrm>
            <a:off x="713232" y="3319272"/>
            <a:ext cx="6574536" cy="0"/>
          </a:xfrm>
          <a:prstGeom prst="line">
            <a:avLst/>
          </a:prstGeom>
          <a:ln w="6985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V8-02"/>
          <p:cNvSpPr txBox="1"/>
          <p:nvPr/>
        </p:nvSpPr>
        <p:spPr>
          <a:xfrm>
            <a:off x="704088" y="342900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02</a:t>
            </a:r>
            <a:endParaRPr sz="1600" b="1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12" name="V8-"/>
          <p:cNvSpPr txBox="1"/>
          <p:nvPr/>
        </p:nvSpPr>
        <p:spPr>
          <a:xfrm>
            <a:off x="1225296" y="3383280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我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喜</a:t>
            </a:r>
            <a:r>
              <a:rPr sz="2300" b="1">
                <a:solidFill>
                  <a:srgbClr val="16897F"/>
                </a:solidFill>
                <a:latin typeface="微软雅黑"/>
                <a:ea typeface="微软雅黑"/>
              </a:rPr>
              <a:t>欢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吃</a:t>
            </a:r>
            <a:r>
              <a:rPr sz="2300" b="1">
                <a:solidFill>
                  <a:srgbClr val="B64E58"/>
                </a:solidFill>
                <a:latin typeface="微软雅黑"/>
                <a:ea typeface="微软雅黑"/>
              </a:rPr>
              <a:t>平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果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。</a:t>
            </a:r>
            <a:endParaRPr sz="23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113" name="V8-B = 1   C = 1"/>
          <p:cNvSpPr txBox="1"/>
          <p:nvPr/>
        </p:nvSpPr>
        <p:spPr>
          <a:xfrm>
            <a:off x="4855464" y="3346704"/>
            <a:ext cx="2807208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84A"/>
                </a:solidFill>
                <a:latin typeface="Arial" panose="020B0604020202090204"/>
                <a:ea typeface="微软雅黑"/>
                <a:cs typeface="微软雅黑"/>
              </a:rPr>
              <a:t>B = 1   C = 1</a:t>
            </a:r>
            <a:endParaRPr sz="1650" b="0">
              <a:solidFill>
                <a:srgbClr val="23384A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14" name="V8-RI ≈0.5   η ≈1"/>
          <p:cNvSpPr txBox="1"/>
          <p:nvPr/>
        </p:nvSpPr>
        <p:spPr>
          <a:xfrm>
            <a:off x="4855464" y="3685032"/>
            <a:ext cx="280720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RI ≈0.5   η ≈1</a:t>
            </a:r>
            <a:endParaRPr sz="15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15" name="V8-背景／分组"/>
          <p:cNvSpPr/>
          <p:nvPr/>
        </p:nvSpPr>
        <p:spPr>
          <a:xfrm>
            <a:off x="8908694" y="3497579"/>
            <a:ext cx="949146" cy="210312"/>
          </a:xfrm>
          <a:prstGeom prst="rect">
            <a:avLst/>
          </a:prstGeom>
          <a:solidFill>
            <a:srgbClr val="168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8-4.50"/>
          <p:cNvSpPr txBox="1"/>
          <p:nvPr/>
        </p:nvSpPr>
        <p:spPr>
          <a:xfrm>
            <a:off x="9949280" y="3410712"/>
            <a:ext cx="576072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4.50</a:t>
            </a:r>
            <a:endParaRPr sz="19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117" name="V8-连线"/>
          <p:cNvCxnSpPr/>
          <p:nvPr/>
        </p:nvCxnSpPr>
        <p:spPr>
          <a:xfrm>
            <a:off x="713232" y="3986784"/>
            <a:ext cx="6574536" cy="0"/>
          </a:xfrm>
          <a:prstGeom prst="line">
            <a:avLst/>
          </a:prstGeom>
          <a:ln w="6985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V8-03"/>
          <p:cNvSpPr txBox="1"/>
          <p:nvPr/>
        </p:nvSpPr>
        <p:spPr>
          <a:xfrm>
            <a:off x="704088" y="4096511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03</a:t>
            </a:r>
            <a:endParaRPr sz="1600" b="1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19" name="V8-"/>
          <p:cNvSpPr txBox="1"/>
          <p:nvPr/>
        </p:nvSpPr>
        <p:spPr>
          <a:xfrm>
            <a:off x="1225296" y="4050791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我</a:t>
            </a:r>
            <a:r>
              <a:rPr sz="2300" b="1">
                <a:solidFill>
                  <a:srgbClr val="AF7B25"/>
                </a:solidFill>
                <a:latin typeface="微软雅黑"/>
                <a:ea typeface="微软雅黑"/>
              </a:rPr>
              <a:t>很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喜</a:t>
            </a:r>
            <a:r>
              <a:rPr sz="2300" b="1">
                <a:solidFill>
                  <a:srgbClr val="16897F"/>
                </a:solidFill>
                <a:latin typeface="微软雅黑"/>
                <a:ea typeface="微软雅黑"/>
              </a:rPr>
              <a:t>欢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吃</a:t>
            </a:r>
            <a:r>
              <a:rPr sz="2300" b="1">
                <a:solidFill>
                  <a:srgbClr val="16897F"/>
                </a:solidFill>
                <a:latin typeface="微软雅黑"/>
                <a:ea typeface="微软雅黑"/>
              </a:rPr>
              <a:t>苹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果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。</a:t>
            </a:r>
            <a:endParaRPr sz="23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120" name="V8-B = 1   C = 3"/>
          <p:cNvSpPr txBox="1"/>
          <p:nvPr/>
        </p:nvSpPr>
        <p:spPr>
          <a:xfrm>
            <a:off x="4855464" y="4014215"/>
            <a:ext cx="2807208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84A"/>
                </a:solidFill>
                <a:latin typeface="Arial" panose="020B0604020202090204"/>
                <a:ea typeface="微软雅黑"/>
                <a:cs typeface="微软雅黑"/>
              </a:rPr>
              <a:t>B = 1   C = 3</a:t>
            </a:r>
            <a:endParaRPr sz="1650" b="0">
              <a:solidFill>
                <a:srgbClr val="23384A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21" name="V8-RI ≈0.5   η ≈1/3"/>
          <p:cNvSpPr txBox="1"/>
          <p:nvPr/>
        </p:nvSpPr>
        <p:spPr>
          <a:xfrm>
            <a:off x="4855464" y="4352544"/>
            <a:ext cx="280720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RI ≈0.5   η ≈1/3</a:t>
            </a:r>
            <a:endParaRPr sz="15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22" name="V8-背景／分组"/>
          <p:cNvSpPr/>
          <p:nvPr/>
        </p:nvSpPr>
        <p:spPr>
          <a:xfrm>
            <a:off x="8908694" y="4165091"/>
            <a:ext cx="597611" cy="210312"/>
          </a:xfrm>
          <a:prstGeom prst="rect">
            <a:avLst/>
          </a:prstGeom>
          <a:solidFill>
            <a:srgbClr val="A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V8-2.83"/>
          <p:cNvSpPr txBox="1"/>
          <p:nvPr/>
        </p:nvSpPr>
        <p:spPr>
          <a:xfrm>
            <a:off x="9597745" y="4078224"/>
            <a:ext cx="576072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F7B25"/>
                </a:solidFill>
                <a:latin typeface="Arial" panose="020B0604020202090204"/>
                <a:ea typeface="微软雅黑"/>
                <a:cs typeface="微软雅黑"/>
              </a:rPr>
              <a:t>2.83</a:t>
            </a:r>
            <a:endParaRPr sz="1900" b="1">
              <a:solidFill>
                <a:srgbClr val="AF7B2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124" name="V8-连线"/>
          <p:cNvCxnSpPr/>
          <p:nvPr/>
        </p:nvCxnSpPr>
        <p:spPr>
          <a:xfrm>
            <a:off x="713232" y="4654296"/>
            <a:ext cx="6574536" cy="0"/>
          </a:xfrm>
          <a:prstGeom prst="line">
            <a:avLst/>
          </a:prstGeom>
          <a:ln w="6985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V8-04"/>
          <p:cNvSpPr txBox="1"/>
          <p:nvPr/>
        </p:nvSpPr>
        <p:spPr>
          <a:xfrm>
            <a:off x="704088" y="4764024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04</a:t>
            </a:r>
            <a:endParaRPr sz="1600" b="1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26" name="V8-"/>
          <p:cNvSpPr txBox="1"/>
          <p:nvPr/>
        </p:nvSpPr>
        <p:spPr>
          <a:xfrm>
            <a:off x="1225296" y="4718304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我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喜</a:t>
            </a:r>
            <a:r>
              <a:rPr sz="2300" b="1">
                <a:solidFill>
                  <a:srgbClr val="16897F"/>
                </a:solidFill>
                <a:latin typeface="微软雅黑"/>
                <a:ea typeface="微软雅黑"/>
              </a:rPr>
              <a:t>欢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吃</a:t>
            </a:r>
            <a:r>
              <a:rPr sz="2300" b="1">
                <a:solidFill>
                  <a:srgbClr val="16897F"/>
                </a:solidFill>
                <a:latin typeface="微软雅黑"/>
                <a:ea typeface="微软雅黑"/>
              </a:rPr>
              <a:t>苹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果</a:t>
            </a:r>
            <a:r>
              <a:rPr sz="2300" b="0">
                <a:solidFill>
                  <a:srgbClr val="23384A"/>
                </a:solidFill>
                <a:latin typeface="微软雅黑"/>
                <a:ea typeface="微软雅黑"/>
              </a:rPr>
              <a:t>。</a:t>
            </a:r>
            <a:endParaRPr sz="23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127" name="V8-B = 0   C = 2"/>
          <p:cNvSpPr txBox="1"/>
          <p:nvPr/>
        </p:nvSpPr>
        <p:spPr>
          <a:xfrm>
            <a:off x="4855464" y="4681728"/>
            <a:ext cx="2807208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84A"/>
                </a:solidFill>
                <a:latin typeface="Arial" panose="020B0604020202090204"/>
                <a:ea typeface="微软雅黑"/>
                <a:cs typeface="微软雅黑"/>
              </a:rPr>
              <a:t>B = 0   C = 2</a:t>
            </a:r>
            <a:endParaRPr sz="1650" b="0">
              <a:solidFill>
                <a:srgbClr val="23384A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28" name="V8-RI ≈1   η ≈1"/>
          <p:cNvSpPr txBox="1"/>
          <p:nvPr/>
        </p:nvSpPr>
        <p:spPr>
          <a:xfrm>
            <a:off x="4855464" y="5020056"/>
            <a:ext cx="280720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RI ≈1   η ≈1</a:t>
            </a:r>
            <a:endParaRPr sz="15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29" name="V8-背景／分组"/>
          <p:cNvSpPr/>
          <p:nvPr/>
        </p:nvSpPr>
        <p:spPr>
          <a:xfrm>
            <a:off x="8908694" y="4832604"/>
            <a:ext cx="2109216" cy="210312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8-10"/>
          <p:cNvSpPr txBox="1"/>
          <p:nvPr/>
        </p:nvSpPr>
        <p:spPr>
          <a:xfrm>
            <a:off x="11109350" y="4745736"/>
            <a:ext cx="576072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10</a:t>
            </a:r>
            <a:endParaRPr sz="19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31" name="V8--3"/>
          <p:cNvSpPr txBox="1"/>
          <p:nvPr/>
        </p:nvSpPr>
        <p:spPr>
          <a:xfrm>
            <a:off x="8093049" y="533095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-3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32" name="V8-0"/>
          <p:cNvSpPr txBox="1"/>
          <p:nvPr/>
        </p:nvSpPr>
        <p:spPr>
          <a:xfrm>
            <a:off x="8725814" y="533095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33" name="V8-5"/>
          <p:cNvSpPr txBox="1"/>
          <p:nvPr/>
        </p:nvSpPr>
        <p:spPr>
          <a:xfrm>
            <a:off x="9780422" y="533095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5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34" name="V8-10"/>
          <p:cNvSpPr txBox="1"/>
          <p:nvPr/>
        </p:nvSpPr>
        <p:spPr>
          <a:xfrm>
            <a:off x="10835030" y="533095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10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135" name="V8-背景／分组"/>
          <p:cNvSpPr/>
          <p:nvPr/>
        </p:nvSpPr>
        <p:spPr>
          <a:xfrm>
            <a:off x="621792" y="5742432"/>
            <a:ext cx="41148" cy="347472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V8-③净改善仍为 1，却需 3 次最少编辑，因此奖励低于②。"/>
          <p:cNvSpPr txBox="1"/>
          <p:nvPr/>
        </p:nvSpPr>
        <p:spPr>
          <a:xfrm>
            <a:off x="804672" y="5728716"/>
            <a:ext cx="10515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03与02的净改善均为1；03的编辑距离更大，因此奖励更低。</a:t>
            </a:r>
            <a:endParaRPr sz="20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组内优势：奖励为正也可能低于平均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组内优势：正奖励为何也可能对应负优势？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V8-来源：CSRP，式（6），PDF第5页；使用前页奖励演算，精确计算见备用页27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来源：CSRP，式（6），PDF第5页；使用前页奖励演算，精确计算见</a:t>
            </a:r>
            <a:r>
              <a:rPr sz="1060" b="0" u="sng">
                <a:solidFill>
                  <a:srgbClr val="075EA5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备用页27</a:t>
            </a: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V8-Aᵢ = (rᵢ − 组内平均奖励) / 组内奖励标准差"/>
          <p:cNvSpPr txBox="1"/>
          <p:nvPr/>
        </p:nvSpPr>
        <p:spPr>
          <a:xfrm>
            <a:off x="694944" y="1170432"/>
            <a:ext cx="10725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Aᵢ = (rᵢ − 组内平均奖励) / 组内奖励标准差</a:t>
            </a:r>
            <a:endParaRPr sz="27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V8-Aᵢ 是相对优势，不同于距离 A；rᵢ 是奖励，不同于解释 R。"/>
          <p:cNvSpPr txBox="1"/>
          <p:nvPr/>
        </p:nvSpPr>
        <p:spPr>
          <a:xfrm>
            <a:off x="713232" y="1755648"/>
            <a:ext cx="10698480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Aᵢ 是相对优势，不同于距离 A；rᵢ 是奖励，不同于解释 R。</a:t>
            </a:r>
            <a:endParaRPr sz="16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V8-四类候选各重复 2 次，共 8 个示例输出"/>
          <p:cNvSpPr txBox="1"/>
          <p:nvPr/>
        </p:nvSpPr>
        <p:spPr>
          <a:xfrm>
            <a:off x="722376" y="2331720"/>
            <a:ext cx="66019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四类候选各重复 2 次，共 8 个示例输出</a:t>
            </a:r>
            <a:endParaRPr sz="19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V8-数据点"/>
          <p:cNvSpPr/>
          <p:nvPr/>
        </p:nvSpPr>
        <p:spPr>
          <a:xfrm>
            <a:off x="1244803" y="3834993"/>
            <a:ext cx="138988" cy="138988"/>
          </a:xfrm>
          <a:prstGeom prst="ellipse">
            <a:avLst/>
          </a:prstGeom>
          <a:solidFill>
            <a:srgbClr val="657888"/>
          </a:solidFill>
          <a:ln w="7620">
            <a:solidFill>
              <a:srgbClr val="657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8-数据点"/>
          <p:cNvSpPr/>
          <p:nvPr/>
        </p:nvSpPr>
        <p:spPr>
          <a:xfrm>
            <a:off x="1244803" y="4109313"/>
            <a:ext cx="138988" cy="138988"/>
          </a:xfrm>
          <a:prstGeom prst="ellipse">
            <a:avLst/>
          </a:prstGeom>
          <a:solidFill>
            <a:srgbClr val="657888"/>
          </a:solidFill>
          <a:ln w="7620">
            <a:solidFill>
              <a:srgbClr val="657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V8-连线"/>
          <p:cNvCxnSpPr/>
          <p:nvPr/>
        </p:nvCxnSpPr>
        <p:spPr>
          <a:xfrm>
            <a:off x="1314297" y="3410712"/>
            <a:ext cx="0" cy="356616"/>
          </a:xfrm>
          <a:prstGeom prst="line">
            <a:avLst/>
          </a:prstGeom>
          <a:ln w="8255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8-不改"/>
          <p:cNvSpPr txBox="1"/>
          <p:nvPr/>
        </p:nvSpPr>
        <p:spPr>
          <a:xfrm>
            <a:off x="838809" y="2834640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不改</a:t>
            </a:r>
            <a:endParaRPr sz="1600" b="1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V8--3"/>
          <p:cNvSpPr txBox="1"/>
          <p:nvPr/>
        </p:nvSpPr>
        <p:spPr>
          <a:xfrm>
            <a:off x="838809" y="3118104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-3</a:t>
            </a:r>
            <a:endParaRPr sz="15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27" name="V8-数据点"/>
          <p:cNvSpPr/>
          <p:nvPr/>
        </p:nvSpPr>
        <p:spPr>
          <a:xfrm>
            <a:off x="3630878" y="3834993"/>
            <a:ext cx="138988" cy="138988"/>
          </a:xfrm>
          <a:prstGeom prst="ellipse">
            <a:avLst/>
          </a:prstGeom>
          <a:solidFill>
            <a:srgbClr val="AF7B25"/>
          </a:solidFill>
          <a:ln w="7620">
            <a:solidFill>
              <a:srgbClr val="AF7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8-数据点"/>
          <p:cNvSpPr/>
          <p:nvPr/>
        </p:nvSpPr>
        <p:spPr>
          <a:xfrm>
            <a:off x="3630878" y="4109313"/>
            <a:ext cx="138988" cy="138988"/>
          </a:xfrm>
          <a:prstGeom prst="ellipse">
            <a:avLst/>
          </a:prstGeom>
          <a:solidFill>
            <a:srgbClr val="AF7B25"/>
          </a:solidFill>
          <a:ln w="7620">
            <a:solidFill>
              <a:srgbClr val="AF7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V8-连线"/>
          <p:cNvCxnSpPr/>
          <p:nvPr/>
        </p:nvCxnSpPr>
        <p:spPr>
          <a:xfrm>
            <a:off x="3700373" y="3410712"/>
            <a:ext cx="0" cy="356616"/>
          </a:xfrm>
          <a:prstGeom prst="line">
            <a:avLst/>
          </a:prstGeom>
          <a:ln w="8255">
            <a:solidFill>
              <a:srgbClr val="AF7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8-加“很”"/>
          <p:cNvSpPr txBox="1"/>
          <p:nvPr/>
        </p:nvSpPr>
        <p:spPr>
          <a:xfrm>
            <a:off x="3224885" y="2834640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F7B25"/>
                </a:solidFill>
                <a:latin typeface="微软雅黑"/>
                <a:ea typeface="微软雅黑"/>
                <a:cs typeface="微软雅黑"/>
              </a:rPr>
              <a:t>加“很”</a:t>
            </a:r>
            <a:endParaRPr sz="1600" b="1">
              <a:solidFill>
                <a:srgbClr val="AF7B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V8-2.83"/>
          <p:cNvSpPr txBox="1"/>
          <p:nvPr/>
        </p:nvSpPr>
        <p:spPr>
          <a:xfrm>
            <a:off x="3224885" y="3118104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F7B25"/>
                </a:solidFill>
                <a:latin typeface="Arial" panose="020B0604020202090204"/>
                <a:ea typeface="微软雅黑"/>
                <a:cs typeface="微软雅黑"/>
              </a:rPr>
              <a:t>2.83</a:t>
            </a:r>
            <a:endParaRPr sz="1500" b="0">
              <a:solidFill>
                <a:srgbClr val="AF7B2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32" name="V8-数据点"/>
          <p:cNvSpPr/>
          <p:nvPr/>
        </p:nvSpPr>
        <p:spPr>
          <a:xfrm>
            <a:off x="4312613" y="3834993"/>
            <a:ext cx="138988" cy="138988"/>
          </a:xfrm>
          <a:prstGeom prst="ellipse">
            <a:avLst/>
          </a:prstGeom>
          <a:solidFill>
            <a:srgbClr val="16897F"/>
          </a:solidFill>
          <a:ln w="7620">
            <a:solidFill>
              <a:srgbClr val="168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8-数据点"/>
          <p:cNvSpPr/>
          <p:nvPr/>
        </p:nvSpPr>
        <p:spPr>
          <a:xfrm>
            <a:off x="4312613" y="4109313"/>
            <a:ext cx="138988" cy="138988"/>
          </a:xfrm>
          <a:prstGeom prst="ellipse">
            <a:avLst/>
          </a:prstGeom>
          <a:solidFill>
            <a:srgbClr val="16897F"/>
          </a:solidFill>
          <a:ln w="7620">
            <a:solidFill>
              <a:srgbClr val="168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8-修一处"/>
          <p:cNvSpPr txBox="1"/>
          <p:nvPr/>
        </p:nvSpPr>
        <p:spPr>
          <a:xfrm>
            <a:off x="3906620" y="3246120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897F"/>
                </a:solidFill>
                <a:latin typeface="微软雅黑"/>
                <a:ea typeface="微软雅黑"/>
                <a:cs typeface="微软雅黑"/>
              </a:rPr>
              <a:t>修一处</a:t>
            </a:r>
            <a:endParaRPr sz="1600" b="1">
              <a:solidFill>
                <a:srgbClr val="1689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V8-4.50"/>
          <p:cNvSpPr txBox="1"/>
          <p:nvPr/>
        </p:nvSpPr>
        <p:spPr>
          <a:xfrm>
            <a:off x="3906620" y="3529584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4.50</a:t>
            </a:r>
            <a:endParaRPr sz="1500" b="0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36" name="V8-数据点"/>
          <p:cNvSpPr/>
          <p:nvPr/>
        </p:nvSpPr>
        <p:spPr>
          <a:xfrm>
            <a:off x="6562344" y="3834993"/>
            <a:ext cx="138988" cy="138988"/>
          </a:xfrm>
          <a:prstGeom prst="ellipse">
            <a:avLst/>
          </a:prstGeom>
          <a:solidFill>
            <a:srgbClr val="075EA5"/>
          </a:solidFill>
          <a:ln w="7620">
            <a:solidFill>
              <a:srgbClr val="07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8-数据点"/>
          <p:cNvSpPr/>
          <p:nvPr/>
        </p:nvSpPr>
        <p:spPr>
          <a:xfrm>
            <a:off x="6562344" y="4109313"/>
            <a:ext cx="138988" cy="138988"/>
          </a:xfrm>
          <a:prstGeom prst="ellipse">
            <a:avLst/>
          </a:prstGeom>
          <a:solidFill>
            <a:srgbClr val="075EA5"/>
          </a:solidFill>
          <a:ln w="7620">
            <a:solidFill>
              <a:srgbClr val="07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V8-连线"/>
          <p:cNvCxnSpPr/>
          <p:nvPr/>
        </p:nvCxnSpPr>
        <p:spPr>
          <a:xfrm>
            <a:off x="6631838" y="3410712"/>
            <a:ext cx="0" cy="356616"/>
          </a:xfrm>
          <a:prstGeom prst="line">
            <a:avLst/>
          </a:prstGeom>
          <a:ln w="8255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V8-全匹配"/>
          <p:cNvSpPr txBox="1"/>
          <p:nvPr/>
        </p:nvSpPr>
        <p:spPr>
          <a:xfrm>
            <a:off x="6156350" y="2834640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全匹配</a:t>
            </a:r>
            <a:endParaRPr sz="16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10"/>
          <p:cNvSpPr txBox="1"/>
          <p:nvPr/>
        </p:nvSpPr>
        <p:spPr>
          <a:xfrm>
            <a:off x="6156350" y="3118104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10</a:t>
            </a:r>
            <a:endParaRPr sz="1500" b="0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41" name="V8-连线"/>
          <p:cNvCxnSpPr/>
          <p:nvPr/>
        </p:nvCxnSpPr>
        <p:spPr>
          <a:xfrm>
            <a:off x="905256" y="4480560"/>
            <a:ext cx="6135624" cy="0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8-连线"/>
          <p:cNvCxnSpPr/>
          <p:nvPr/>
        </p:nvCxnSpPr>
        <p:spPr>
          <a:xfrm>
            <a:off x="1314297" y="4480560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V8--3"/>
          <p:cNvSpPr txBox="1"/>
          <p:nvPr/>
        </p:nvSpPr>
        <p:spPr>
          <a:xfrm>
            <a:off x="1076553" y="4558284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-3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44" name="V8-连线"/>
          <p:cNvCxnSpPr/>
          <p:nvPr/>
        </p:nvCxnSpPr>
        <p:spPr>
          <a:xfrm>
            <a:off x="2541422" y="4480560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V8-0"/>
          <p:cNvSpPr txBox="1"/>
          <p:nvPr/>
        </p:nvSpPr>
        <p:spPr>
          <a:xfrm>
            <a:off x="2303678" y="4558284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46" name="V8-连线"/>
          <p:cNvCxnSpPr/>
          <p:nvPr/>
        </p:nvCxnSpPr>
        <p:spPr>
          <a:xfrm>
            <a:off x="4586630" y="4480560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V8-5"/>
          <p:cNvSpPr txBox="1"/>
          <p:nvPr/>
        </p:nvSpPr>
        <p:spPr>
          <a:xfrm>
            <a:off x="4348886" y="4558284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5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48" name="V8-连线"/>
          <p:cNvCxnSpPr/>
          <p:nvPr/>
        </p:nvCxnSpPr>
        <p:spPr>
          <a:xfrm>
            <a:off x="6631838" y="4480560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V8-10"/>
          <p:cNvSpPr txBox="1"/>
          <p:nvPr/>
        </p:nvSpPr>
        <p:spPr>
          <a:xfrm>
            <a:off x="6394094" y="4558284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10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0" name="V8-候选奖励 rᵢ"/>
          <p:cNvSpPr txBox="1"/>
          <p:nvPr/>
        </p:nvSpPr>
        <p:spPr>
          <a:xfrm>
            <a:off x="905256" y="4855464"/>
            <a:ext cx="61356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候选奖励 rᵢ</a:t>
            </a:r>
            <a:endParaRPr sz="14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1" name="V8-连线"/>
          <p:cNvCxnSpPr/>
          <p:nvPr/>
        </p:nvCxnSpPr>
        <p:spPr>
          <a:xfrm>
            <a:off x="4007154" y="3639312"/>
            <a:ext cx="0" cy="859536"/>
          </a:xfrm>
          <a:prstGeom prst="line">
            <a:avLst/>
          </a:prstGeom>
          <a:ln w="15240">
            <a:solidFill>
              <a:srgbClr val="075E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V8-虚线：组内均值 ≈ 3.58　标准差 ≈ 4.63"/>
          <p:cNvSpPr txBox="1"/>
          <p:nvPr/>
        </p:nvSpPr>
        <p:spPr>
          <a:xfrm>
            <a:off x="850392" y="5157216"/>
            <a:ext cx="6336792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虚线：组内均值 ≈ 3.58　标准差 ≈ 4.63</a:t>
            </a:r>
            <a:endParaRPr sz="16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V8-教学构造，非模型采样；标准差按总体计算。"/>
          <p:cNvSpPr txBox="1"/>
          <p:nvPr/>
        </p:nvSpPr>
        <p:spPr>
          <a:xfrm>
            <a:off x="850392" y="5504688"/>
            <a:ext cx="633679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教学构造，非模型采样；标准差按总体计算。</a:t>
            </a:r>
            <a:endParaRPr sz="13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4" name="V8-连线"/>
          <p:cNvCxnSpPr/>
          <p:nvPr/>
        </p:nvCxnSpPr>
        <p:spPr>
          <a:xfrm>
            <a:off x="7479792" y="2322576"/>
            <a:ext cx="0" cy="3163824"/>
          </a:xfrm>
          <a:prstGeom prst="line">
            <a:avLst/>
          </a:prstGeom>
          <a:ln w="1016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V8-加“很”的候选"/>
          <p:cNvSpPr txBox="1"/>
          <p:nvPr/>
        </p:nvSpPr>
        <p:spPr>
          <a:xfrm>
            <a:off x="7882127" y="245973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F7B25"/>
                </a:solidFill>
                <a:latin typeface="微软雅黑"/>
                <a:ea typeface="微软雅黑"/>
                <a:cs typeface="微软雅黑"/>
              </a:rPr>
              <a:t>加“很”的候选</a:t>
            </a:r>
            <a:endParaRPr sz="2100" b="1">
              <a:solidFill>
                <a:srgbClr val="AF7B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V8-2.83 &lt; 3.58"/>
          <p:cNvSpPr txBox="1"/>
          <p:nvPr/>
        </p:nvSpPr>
        <p:spPr>
          <a:xfrm>
            <a:off x="7891272" y="3090672"/>
            <a:ext cx="3383280" cy="448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AF7B25"/>
                </a:solidFill>
                <a:latin typeface="Arial" panose="020B0604020202090204"/>
                <a:ea typeface="微软雅黑"/>
                <a:cs typeface="微软雅黑"/>
              </a:rPr>
              <a:t>2.83 &lt; 3.58</a:t>
            </a:r>
            <a:endParaRPr sz="3200" b="1">
              <a:solidFill>
                <a:srgbClr val="AF7B2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7" name="V8-奖励为正，但低于均值"/>
          <p:cNvSpPr txBox="1"/>
          <p:nvPr/>
        </p:nvSpPr>
        <p:spPr>
          <a:xfrm>
            <a:off x="7900416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奖励为正，但低于均值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V8-Aᵢ ≈ −0.16"/>
          <p:cNvSpPr txBox="1"/>
          <p:nvPr/>
        </p:nvSpPr>
        <p:spPr>
          <a:xfrm>
            <a:off x="7882127" y="4489704"/>
            <a:ext cx="3438144" cy="7589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Aᵢ ≈ −0.16</a:t>
            </a:r>
            <a:endParaRPr sz="36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9" name="V8-背景／分组"/>
          <p:cNvSpPr/>
          <p:nvPr/>
        </p:nvSpPr>
        <p:spPr>
          <a:xfrm>
            <a:off x="621792" y="5769864"/>
            <a:ext cx="41148" cy="347472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8-更新方向看相对优势，而不只看奖励的正负。"/>
          <p:cNvSpPr txBox="1"/>
          <p:nvPr/>
        </p:nvSpPr>
        <p:spPr>
          <a:xfrm>
            <a:off x="804672" y="5756148"/>
            <a:ext cx="10515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策略既根据相对优势更新，也受 KL 约束。</a:t>
            </a:r>
            <a:endParaRPr sz="21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GRPO：从候选评分到受约束更新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GRPO：根据候选奖励更新模型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训练时：同一原句采样8个候选，按组内相对奖励更新。"/>
          <p:cNvSpPr>
            <a:spLocks noGrp="1"/>
          </p:cNvSpPr>
          <p:nvPr/>
        </p:nvSpPr>
        <p:spPr>
          <a:xfrm>
            <a:off x="619125" y="1133475"/>
            <a:ext cx="10953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训练时：同一原句采样8个候选，按组内相对奖励更新。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原句 S"/>
          <p:cNvSpPr>
            <a:spLocks noGrp="1"/>
          </p:cNvSpPr>
          <p:nvPr/>
        </p:nvSpPr>
        <p:spPr>
          <a:xfrm>
            <a:off x="619125" y="2543175"/>
            <a:ext cx="1504950" cy="809625"/>
          </a:xfrm>
          <a:prstGeom prst="rect">
            <a:avLst/>
          </a:prstGeom>
          <a:solidFill>
            <a:srgbClr val="FFFFFF"/>
          </a:solidFill>
          <a:ln w="16193">
            <a:solidFill>
              <a:srgbClr val="526579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20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原句 S</a:t>
            </a:r>
            <a:endParaRPr sz="2025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当前策略&#10;πθ"/>
          <p:cNvSpPr>
            <a:spLocks noGrp="1"/>
          </p:cNvSpPr>
          <p:nvPr/>
        </p:nvSpPr>
        <p:spPr>
          <a:xfrm>
            <a:off x="2743200" y="2447925"/>
            <a:ext cx="1743075" cy="990600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当前策略</a:t>
            </a:r>
            <a:endParaRPr sz="21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πθ</a:t>
            </a:r>
            <a:endParaRPr sz="21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P₁&#10;P₂&#10;P₃&#10;P₄&#10;P₅&#10;P₆&#10;P₇&#10;P₈"/>
          <p:cNvSpPr>
            <a:spLocks noGrp="1"/>
          </p:cNvSpPr>
          <p:nvPr/>
        </p:nvSpPr>
        <p:spPr>
          <a:xfrm>
            <a:off x="5076825" y="1676400"/>
            <a:ext cx="1200150" cy="2705100"/>
          </a:xfrm>
          <a:prstGeom prst="rect">
            <a:avLst/>
          </a:prstGeom>
          <a:solidFill>
            <a:srgbClr val="FFFFFF"/>
          </a:solidFill>
          <a:ln w="16193">
            <a:solidFill>
              <a:srgbClr val="526579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P₁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P₂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P₃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P₄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P₅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P₆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P₇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P₈</a:t>
            </a:r>
            <a:endParaRPr sz="1800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AR&#10;输入 S、Pᵢ、G&#10;逐个评分"/>
          <p:cNvSpPr>
            <a:spLocks noGrp="1"/>
          </p:cNvSpPr>
          <p:nvPr/>
        </p:nvSpPr>
        <p:spPr>
          <a:xfrm>
            <a:off x="7400925" y="2447925"/>
            <a:ext cx="1704975" cy="990600"/>
          </a:xfrm>
          <a:prstGeom prst="rect">
            <a:avLst/>
          </a:prstGeom>
          <a:solidFill>
            <a:srgbClr val="FFFFFF"/>
          </a:solidFill>
          <a:ln w="16193">
            <a:solidFill>
              <a:srgbClr val="168B82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165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EAR</a:t>
            </a:r>
            <a:endParaRPr sz="165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输入 S、Pᵢ、G</a:t>
            </a:r>
            <a:endParaRPr sz="165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逐个评分</a:t>
            </a:r>
            <a:endParaRPr sz="165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组内比较&#10;相对优势 Aᵢ"/>
          <p:cNvSpPr>
            <a:spLocks noGrp="1"/>
          </p:cNvSpPr>
          <p:nvPr/>
        </p:nvSpPr>
        <p:spPr>
          <a:xfrm>
            <a:off x="9896475" y="2447925"/>
            <a:ext cx="1666875" cy="990600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组内比较</a:t>
            </a:r>
            <a:endParaRPr sz="18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相对优势 Aᵢ</a:t>
            </a:r>
            <a:endParaRPr sz="18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参考答案 G"/>
          <p:cNvSpPr>
            <a:spLocks noGrp="1"/>
          </p:cNvSpPr>
          <p:nvPr/>
        </p:nvSpPr>
        <p:spPr>
          <a:xfrm>
            <a:off x="7400925" y="1609725"/>
            <a:ext cx="1704975" cy="523875"/>
          </a:xfrm>
          <a:prstGeom prst="rect">
            <a:avLst/>
          </a:prstGeom>
          <a:solidFill>
            <a:srgbClr val="FFFFFF"/>
          </a:solidFill>
          <a:ln w="16193">
            <a:solidFill>
              <a:srgbClr val="526579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参考答案 G</a:t>
            </a:r>
            <a:endParaRPr sz="1725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GRPO目标&#10;更新参数 θ"/>
          <p:cNvSpPr>
            <a:spLocks noGrp="1"/>
          </p:cNvSpPr>
          <p:nvPr/>
        </p:nvSpPr>
        <p:spPr>
          <a:xfrm>
            <a:off x="7038975" y="4657725"/>
            <a:ext cx="2238375" cy="790575"/>
          </a:xfrm>
          <a:prstGeom prst="rect">
            <a:avLst/>
          </a:prstGeom>
          <a:solidFill>
            <a:srgbClr val="FFFFFF"/>
          </a:solidFill>
          <a:ln w="16193">
            <a:solidFill>
              <a:srgbClr val="005CAB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GRPO目标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更新参数 θ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FT参考模型"/>
          <p:cNvSpPr>
            <a:spLocks noGrp="1"/>
          </p:cNvSpPr>
          <p:nvPr/>
        </p:nvSpPr>
        <p:spPr>
          <a:xfrm>
            <a:off x="9896475" y="4724400"/>
            <a:ext cx="1666875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526579"/>
            </a:solidFill>
          </a:ln>
        </p:spPr>
        <p:txBody>
          <a:bodyPr wrap="square" lIns="66675" tIns="66675" rIns="66675" bIns="66675" anchor="ctr">
            <a:noAutofit/>
          </a:bodyPr>
          <a:lstStyle/>
          <a:p>
            <a:pPr algn="ctr">
              <a:def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SFT参考模型</a:t>
            </a:r>
            <a:endParaRPr sz="1725" b="1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8" name="直接箭头连接符 57"/>
          <p:cNvCxnSpPr>
            <a:stCxn id="19" idx="3"/>
            <a:endCxn id="20" idx="1"/>
          </p:cNvCxnSpPr>
          <p:nvPr/>
        </p:nvCxnSpPr>
        <p:spPr>
          <a:xfrm flipV="1">
            <a:off x="2124075" y="2943225"/>
            <a:ext cx="619125" cy="4763"/>
          </a:xfrm>
          <a:prstGeom prst="straightConnector1">
            <a:avLst/>
          </a:prstGeom>
          <a:ln w="17145">
            <a:solidFill>
              <a:srgbClr val="526579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20" idx="3"/>
            <a:endCxn id="21" idx="1"/>
          </p:cNvCxnSpPr>
          <p:nvPr/>
        </p:nvCxnSpPr>
        <p:spPr>
          <a:xfrm>
            <a:off x="4486275" y="2943225"/>
            <a:ext cx="590550" cy="85725"/>
          </a:xfrm>
          <a:prstGeom prst="straightConnector1">
            <a:avLst/>
          </a:prstGeom>
          <a:ln w="17145">
            <a:solidFill>
              <a:srgbClr val="005CAB"/>
            </a:solidFill>
            <a:prstDash val="solid"/>
            <a:tailEnd type="triangle" w="sm" len="sm"/>
          </a:ln>
        </p:spPr>
      </p:cxnSp>
      <p:cxnSp>
        <p:nvCxnSpPr>
          <p:cNvPr id="60" name="直接箭头连接符 59"/>
          <p:cNvCxnSpPr>
            <a:stCxn id="21" idx="3"/>
            <a:endCxn id="22" idx="1"/>
          </p:cNvCxnSpPr>
          <p:nvPr/>
        </p:nvCxnSpPr>
        <p:spPr>
          <a:xfrm flipV="1">
            <a:off x="6276975" y="2943225"/>
            <a:ext cx="1123950" cy="85725"/>
          </a:xfrm>
          <a:prstGeom prst="straightConnector1">
            <a:avLst/>
          </a:prstGeom>
          <a:ln w="17145">
            <a:solidFill>
              <a:srgbClr val="526579"/>
            </a:solidFill>
            <a:prstDash val="solid"/>
            <a:tailEnd type="triangle" w="sm" len="sm"/>
          </a:ln>
        </p:spPr>
      </p:cxnSp>
      <p:cxnSp>
        <p:nvCxnSpPr>
          <p:cNvPr id="61" name="直接箭头连接符 60"/>
          <p:cNvCxnSpPr>
            <a:stCxn id="22" idx="3"/>
            <a:endCxn id="23" idx="1"/>
          </p:cNvCxnSpPr>
          <p:nvPr/>
        </p:nvCxnSpPr>
        <p:spPr>
          <a:xfrm>
            <a:off x="9105900" y="2943225"/>
            <a:ext cx="790575" cy="0"/>
          </a:xfrm>
          <a:prstGeom prst="straightConnector1">
            <a:avLst/>
          </a:prstGeom>
          <a:ln w="17145">
            <a:solidFill>
              <a:srgbClr val="168B82"/>
            </a:solidFill>
            <a:prstDash val="solid"/>
            <a:tailEnd type="triangle" w="sm" len="sm"/>
          </a:ln>
        </p:spPr>
      </p:cxnSp>
      <p:cxnSp>
        <p:nvCxnSpPr>
          <p:cNvPr id="62" name="直接箭头连接符 61"/>
          <p:cNvCxnSpPr>
            <a:stCxn id="24" idx="2"/>
            <a:endCxn id="22" idx="0"/>
          </p:cNvCxnSpPr>
          <p:nvPr/>
        </p:nvCxnSpPr>
        <p:spPr>
          <a:xfrm>
            <a:off x="8253413" y="2133600"/>
            <a:ext cx="0" cy="314325"/>
          </a:xfrm>
          <a:prstGeom prst="straightConnector1">
            <a:avLst/>
          </a:prstGeom>
          <a:ln w="17145">
            <a:solidFill>
              <a:srgbClr val="526579"/>
            </a:solidFill>
            <a:prstDash val="solid"/>
            <a:tailEnd type="triangle" w="sm" len="sm"/>
          </a:ln>
        </p:spPr>
      </p:cxnSp>
      <p:cxnSp>
        <p:nvCxnSpPr>
          <p:cNvPr id="63" name="肘形连接符 62"/>
          <p:cNvCxnSpPr>
            <a:stCxn id="23" idx="2"/>
            <a:endCxn id="25" idx="0"/>
          </p:cNvCxnSpPr>
          <p:nvPr/>
        </p:nvCxnSpPr>
        <p:spPr>
          <a:xfrm flipH="1">
            <a:off x="8158163" y="3438525"/>
            <a:ext cx="2571750" cy="12192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05CAB"/>
            </a:solidFill>
            <a:prstDash val="solid"/>
            <a:tailEnd type="triangle" w="sm" len="sm"/>
          </a:ln>
        </p:spPr>
      </p:cxnSp>
      <p:cxnSp>
        <p:nvCxnSpPr>
          <p:cNvPr id="64" name="直接箭头连接符 63"/>
          <p:cNvCxnSpPr>
            <a:stCxn id="26" idx="1"/>
            <a:endCxn id="25" idx="3"/>
          </p:cNvCxnSpPr>
          <p:nvPr/>
        </p:nvCxnSpPr>
        <p:spPr>
          <a:xfrm flipH="1" flipV="1">
            <a:off x="9277350" y="5053013"/>
            <a:ext cx="619125" cy="4763"/>
          </a:xfrm>
          <a:prstGeom prst="straightConnector1">
            <a:avLst/>
          </a:prstGeom>
          <a:ln w="17145">
            <a:solidFill>
              <a:srgbClr val="526579"/>
            </a:solidFill>
            <a:prstDash val="dash"/>
            <a:tailEnd type="triangle" w="sm" len="sm"/>
          </a:ln>
        </p:spPr>
      </p:cxnSp>
      <p:sp>
        <p:nvSpPr>
          <p:cNvPr id="34" name="KL约束"/>
          <p:cNvSpPr>
            <a:spLocks noGrp="1"/>
          </p:cNvSpPr>
          <p:nvPr/>
        </p:nvSpPr>
        <p:spPr>
          <a:xfrm>
            <a:off x="9525000" y="4333875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KL约束</a:t>
            </a:r>
            <a:endParaRPr sz="1575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反馈路径拐点"/>
          <p:cNvSpPr>
            <a:spLocks noGrp="1"/>
          </p:cNvSpPr>
          <p:nvPr/>
        </p:nvSpPr>
        <p:spPr>
          <a:xfrm>
            <a:off x="3609975" y="5038725"/>
            <a:ext cx="9525" cy="9525"/>
          </a:xfrm>
          <a:prstGeom prst="ellipse">
            <a:avLst/>
          </a:prstGeom>
          <a:noFill/>
          <a:ln w="0">
            <a:noFill/>
          </a:ln>
        </p:spPr>
        <p:txBody>
          <a:bodyPr/>
          <a:p/>
        </p:txBody>
      </p:sp>
      <p:cxnSp>
        <p:nvCxnSpPr>
          <p:cNvPr id="67" name="直接箭头连接符 66"/>
          <p:cNvCxnSpPr>
            <a:stCxn id="25" idx="1"/>
            <a:endCxn id="35" idx="6"/>
          </p:cNvCxnSpPr>
          <p:nvPr/>
        </p:nvCxnSpPr>
        <p:spPr>
          <a:xfrm flipH="1" flipV="1">
            <a:off x="3619500" y="5043488"/>
            <a:ext cx="3419475" cy="9525"/>
          </a:xfrm>
          <a:prstGeom prst="straightConnector1">
            <a:avLst/>
          </a:prstGeom>
          <a:ln w="17145">
            <a:solidFill>
              <a:srgbClr val="005CAB"/>
            </a:solidFill>
            <a:prstDash val="solid"/>
          </a:ln>
        </p:spPr>
      </p:cxnSp>
      <p:cxnSp>
        <p:nvCxnSpPr>
          <p:cNvPr id="68" name="直接箭头连接符 67"/>
          <p:cNvCxnSpPr>
            <a:stCxn id="35" idx="0"/>
            <a:endCxn id="20" idx="2"/>
          </p:cNvCxnSpPr>
          <p:nvPr/>
        </p:nvCxnSpPr>
        <p:spPr>
          <a:xfrm flipV="1">
            <a:off x="3614738" y="3438525"/>
            <a:ext cx="0" cy="1600200"/>
          </a:xfrm>
          <a:prstGeom prst="straightConnector1">
            <a:avLst/>
          </a:prstGeom>
          <a:ln w="17145">
            <a:solidFill>
              <a:srgbClr val="005CAB"/>
            </a:solidFill>
            <a:prstDash val="solid"/>
            <a:tailEnd type="triangle" w="sm" len="sm"/>
          </a:ln>
        </p:spPr>
      </p:cxnSp>
      <p:sp>
        <p:nvSpPr>
          <p:cNvPr id="38" name="提高相对高奖励输出的概率"/>
          <p:cNvSpPr>
            <a:spLocks noGrp="1"/>
          </p:cNvSpPr>
          <p:nvPr/>
        </p:nvSpPr>
        <p:spPr>
          <a:xfrm>
            <a:off x="3781425" y="4581525"/>
            <a:ext cx="3048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提高相对高奖励输出的概率</a:t>
            </a:r>
            <a:endParaRPr sz="1575" b="0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L 训练时，G 用于评分；实际只输入 S，不要求每句采样8次。"/>
          <p:cNvSpPr>
            <a:spLocks noGrp="1"/>
          </p:cNvSpPr>
          <p:nvPr/>
        </p:nvSpPr>
        <p:spPr>
          <a:xfrm>
            <a:off x="619125" y="5810250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训练时用G评分；使用模型时只输入S，不必生成8个候选。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来源：依据PDF p5式6、p14附录D中文重绘；KL约束限制策略偏离SFT参考模型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来源：CSRP，式（6）及附录D，PDF第5、14页（中文重绘）。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V8-03"/>
          <p:cNvSpPr txBox="1"/>
          <p:nvPr/>
        </p:nvSpPr>
        <p:spPr>
          <a:xfrm>
            <a:off x="841248" y="1417320"/>
            <a:ext cx="333756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DAE8F1"/>
                </a:solidFill>
                <a:latin typeface="Arial" panose="020B0604020202090204"/>
                <a:ea typeface="微软雅黑"/>
                <a:cs typeface="微软雅黑"/>
              </a:rPr>
              <a:t>03</a:t>
            </a:r>
            <a:endParaRPr sz="14000" b="1">
              <a:solidFill>
                <a:srgbClr val="DAE8F1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15" name="V8-连线"/>
          <p:cNvCxnSpPr/>
          <p:nvPr/>
        </p:nvCxnSpPr>
        <p:spPr>
          <a:xfrm>
            <a:off x="4160520" y="1627632"/>
            <a:ext cx="0" cy="2615184"/>
          </a:xfrm>
          <a:prstGeom prst="line">
            <a:avLst/>
          </a:prstGeom>
          <a:ln w="2540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8-实验验证"/>
          <p:cNvSpPr txBox="1"/>
          <p:nvPr/>
        </p:nvSpPr>
        <p:spPr>
          <a:xfrm>
            <a:off x="4599432" y="1746504"/>
            <a:ext cx="6519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实验验证</a:t>
            </a:r>
            <a:endParaRPr sz="3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V8-整体效果如何？各阶段是否有效？ / 加入 RL 后，精确率和召回率如何变化？"/>
          <p:cNvSpPr txBox="1"/>
          <p:nvPr/>
        </p:nvSpPr>
        <p:spPr>
          <a:xfrm>
            <a:off x="4599432" y="2770632"/>
            <a:ext cx="6446520" cy="11064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整体效果如何？各阶段是否有效？</a:t>
            </a:r>
            <a:endParaRPr sz="24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加入 RL 后，精确率和召回率如何变化？</a:t>
            </a:r>
            <a:endParaRPr sz="24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8" name="V8-连线"/>
          <p:cNvCxnSpPr/>
          <p:nvPr/>
        </p:nvCxnSpPr>
        <p:spPr>
          <a:xfrm>
            <a:off x="850392" y="5257800"/>
            <a:ext cx="2377440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8-01  研究背景"/>
          <p:cNvSpPr txBox="1"/>
          <p:nvPr/>
        </p:nvSpPr>
        <p:spPr>
          <a:xfrm>
            <a:off x="850392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01  研究背景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0" name="V8-连线"/>
          <p:cNvCxnSpPr/>
          <p:nvPr/>
        </p:nvCxnSpPr>
        <p:spPr>
          <a:xfrm>
            <a:off x="3675887" y="5257800"/>
            <a:ext cx="2377440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V8-02  方法原理"/>
          <p:cNvSpPr txBox="1"/>
          <p:nvPr/>
        </p:nvSpPr>
        <p:spPr>
          <a:xfrm>
            <a:off x="3675887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02  方法原理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2" name="V8-连线"/>
          <p:cNvCxnSpPr/>
          <p:nvPr/>
        </p:nvCxnSpPr>
        <p:spPr>
          <a:xfrm>
            <a:off x="6501383" y="5257800"/>
            <a:ext cx="2377441" cy="0"/>
          </a:xfrm>
          <a:prstGeom prst="line">
            <a:avLst/>
          </a:prstGeom>
          <a:ln w="3810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8-03  实验验证"/>
          <p:cNvSpPr txBox="1"/>
          <p:nvPr/>
        </p:nvSpPr>
        <p:spPr>
          <a:xfrm>
            <a:off x="6501383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03  实验验证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" name="V8-连线"/>
          <p:cNvCxnSpPr/>
          <p:nvPr/>
        </p:nvCxnSpPr>
        <p:spPr>
          <a:xfrm>
            <a:off x="9326880" y="5257800"/>
            <a:ext cx="2377439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8-04  总结与思考"/>
          <p:cNvSpPr txBox="1"/>
          <p:nvPr/>
        </p:nvSpPr>
        <p:spPr>
          <a:xfrm>
            <a:off x="9326880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04  总结与思考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总体效果：精确率与召回的取舍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语法纠错：与已有模型比较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V8-来源：CSRP，表2，PDF第6页（节选重绘）；数值为论文报告值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来源：CSRP，表2，PDF第6页（节选重绘）；数值为论文报告值。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V8-NACGEC：同时比较精确率与召回率"/>
          <p:cNvSpPr txBox="1"/>
          <p:nvPr/>
        </p:nvSpPr>
        <p:spPr>
          <a:xfrm>
            <a:off x="704088" y="1143000"/>
            <a:ext cx="692200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NACGEC：同时比较精确率与召回率</a:t>
            </a:r>
            <a:endParaRPr sz="20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7" name="V8-连线"/>
          <p:cNvCxnSpPr/>
          <p:nvPr/>
        </p:nvCxnSpPr>
        <p:spPr>
          <a:xfrm>
            <a:off x="1252728" y="5221224"/>
            <a:ext cx="5504688" cy="0"/>
          </a:xfrm>
          <a:prstGeom prst="line">
            <a:avLst/>
          </a:prstGeom>
          <a:ln w="635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8-0"/>
          <p:cNvSpPr txBox="1"/>
          <p:nvPr/>
        </p:nvSpPr>
        <p:spPr>
          <a:xfrm>
            <a:off x="722376" y="5106924"/>
            <a:ext cx="35661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9" name="V8-0"/>
          <p:cNvSpPr txBox="1"/>
          <p:nvPr/>
        </p:nvSpPr>
        <p:spPr>
          <a:xfrm>
            <a:off x="1088136" y="534009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0" name="V8-连线"/>
          <p:cNvCxnSpPr/>
          <p:nvPr/>
        </p:nvCxnSpPr>
        <p:spPr>
          <a:xfrm>
            <a:off x="1252728" y="4285923"/>
            <a:ext cx="5504688" cy="0"/>
          </a:xfrm>
          <a:prstGeom prst="line">
            <a:avLst/>
          </a:prstGeom>
          <a:ln w="635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V8-20"/>
          <p:cNvSpPr txBox="1"/>
          <p:nvPr/>
        </p:nvSpPr>
        <p:spPr>
          <a:xfrm>
            <a:off x="722376" y="4171623"/>
            <a:ext cx="35661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20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2" name="V8-20"/>
          <p:cNvSpPr txBox="1"/>
          <p:nvPr/>
        </p:nvSpPr>
        <p:spPr>
          <a:xfrm>
            <a:off x="2660903" y="534009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20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3" name="V8-连线"/>
          <p:cNvCxnSpPr/>
          <p:nvPr/>
        </p:nvCxnSpPr>
        <p:spPr>
          <a:xfrm>
            <a:off x="1252728" y="3350622"/>
            <a:ext cx="5504688" cy="0"/>
          </a:xfrm>
          <a:prstGeom prst="line">
            <a:avLst/>
          </a:prstGeom>
          <a:ln w="635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V8-40"/>
          <p:cNvSpPr txBox="1"/>
          <p:nvPr/>
        </p:nvSpPr>
        <p:spPr>
          <a:xfrm>
            <a:off x="722376" y="3236322"/>
            <a:ext cx="35661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40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5" name="V8-40"/>
          <p:cNvSpPr txBox="1"/>
          <p:nvPr/>
        </p:nvSpPr>
        <p:spPr>
          <a:xfrm>
            <a:off x="4233672" y="534009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40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6" name="V8-连线"/>
          <p:cNvCxnSpPr/>
          <p:nvPr/>
        </p:nvCxnSpPr>
        <p:spPr>
          <a:xfrm>
            <a:off x="1252728" y="2415322"/>
            <a:ext cx="5504688" cy="0"/>
          </a:xfrm>
          <a:prstGeom prst="line">
            <a:avLst/>
          </a:prstGeom>
          <a:ln w="635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V8-60"/>
          <p:cNvSpPr txBox="1"/>
          <p:nvPr/>
        </p:nvSpPr>
        <p:spPr>
          <a:xfrm>
            <a:off x="722376" y="2301022"/>
            <a:ext cx="35661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60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8" name="V8-60"/>
          <p:cNvSpPr txBox="1"/>
          <p:nvPr/>
        </p:nvSpPr>
        <p:spPr>
          <a:xfrm>
            <a:off x="5806440" y="534009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60</a:t>
            </a:r>
            <a:endParaRPr sz="12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9" name="V8-连线"/>
          <p:cNvCxnSpPr/>
          <p:nvPr/>
        </p:nvCxnSpPr>
        <p:spPr>
          <a:xfrm>
            <a:off x="1252728" y="1947672"/>
            <a:ext cx="0" cy="3273552"/>
          </a:xfrm>
          <a:prstGeom prst="line">
            <a:avLst/>
          </a:prstGeom>
          <a:ln w="1016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V8-连线"/>
          <p:cNvCxnSpPr/>
          <p:nvPr/>
        </p:nvCxnSpPr>
        <p:spPr>
          <a:xfrm>
            <a:off x="1252728" y="5221224"/>
            <a:ext cx="5504688" cy="0"/>
          </a:xfrm>
          <a:prstGeom prst="line">
            <a:avLst/>
          </a:prstGeom>
          <a:ln w="1016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V8-精确率 P（%）"/>
          <p:cNvSpPr txBox="1"/>
          <p:nvPr/>
        </p:nvSpPr>
        <p:spPr>
          <a:xfrm>
            <a:off x="987552" y="160934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精确率 P（%）</a:t>
            </a:r>
            <a:endParaRPr sz="15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V8-召回率 R（%）"/>
          <p:cNvSpPr txBox="1"/>
          <p:nvPr/>
        </p:nvSpPr>
        <p:spPr>
          <a:xfrm>
            <a:off x="2404872" y="55504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召回率 R（%）</a:t>
            </a:r>
            <a:endParaRPr sz="15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V8-数据点"/>
          <p:cNvSpPr/>
          <p:nvPr/>
        </p:nvSpPr>
        <p:spPr>
          <a:xfrm>
            <a:off x="3916832" y="2617979"/>
            <a:ext cx="137160" cy="137160"/>
          </a:xfrm>
          <a:prstGeom prst="ellipse">
            <a:avLst/>
          </a:prstGeom>
          <a:solidFill>
            <a:srgbClr val="8CA5B7"/>
          </a:solidFill>
          <a:ln w="7620">
            <a:solidFill>
              <a:srgbClr val="8CA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8-数据点"/>
          <p:cNvSpPr/>
          <p:nvPr/>
        </p:nvSpPr>
        <p:spPr>
          <a:xfrm>
            <a:off x="3983675" y="2479087"/>
            <a:ext cx="137160" cy="137160"/>
          </a:xfrm>
          <a:prstGeom prst="ellipse">
            <a:avLst/>
          </a:prstGeom>
          <a:solidFill>
            <a:srgbClr val="075EA5"/>
          </a:solidFill>
          <a:ln w="7620">
            <a:solidFill>
              <a:srgbClr val="07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8-数据点"/>
          <p:cNvSpPr/>
          <p:nvPr/>
        </p:nvSpPr>
        <p:spPr>
          <a:xfrm>
            <a:off x="5849764" y="3044476"/>
            <a:ext cx="137160" cy="137160"/>
          </a:xfrm>
          <a:prstGeom prst="ellipse">
            <a:avLst/>
          </a:prstGeom>
          <a:solidFill>
            <a:srgbClr val="657888"/>
          </a:solidFill>
          <a:ln w="7620">
            <a:solidFill>
              <a:srgbClr val="657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V8-连线"/>
          <p:cNvCxnSpPr/>
          <p:nvPr/>
        </p:nvCxnSpPr>
        <p:spPr>
          <a:xfrm flipV="1">
            <a:off x="4052255" y="2185416"/>
            <a:ext cx="99121" cy="362251"/>
          </a:xfrm>
          <a:prstGeom prst="line">
            <a:avLst/>
          </a:prstGeom>
          <a:ln w="1016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V8-CSRP"/>
          <p:cNvSpPr txBox="1"/>
          <p:nvPr/>
        </p:nvSpPr>
        <p:spPr>
          <a:xfrm>
            <a:off x="4279392" y="1984248"/>
            <a:ext cx="2386584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CSRP</a:t>
            </a:r>
            <a:endParaRPr sz="18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68" name="V8-P 57.17%  ·  R 35.60%"/>
          <p:cNvSpPr txBox="1"/>
          <p:nvPr/>
        </p:nvSpPr>
        <p:spPr>
          <a:xfrm>
            <a:off x="4279392" y="2295144"/>
            <a:ext cx="2386584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P 57.17%  ·  R 35.60%</a:t>
            </a:r>
            <a:endParaRPr sz="1250" b="0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69" name="V8-连线"/>
          <p:cNvCxnSpPr/>
          <p:nvPr/>
        </p:nvCxnSpPr>
        <p:spPr>
          <a:xfrm flipH="1">
            <a:off x="3127248" y="2686559"/>
            <a:ext cx="858164" cy="20065"/>
          </a:xfrm>
          <a:prstGeom prst="line">
            <a:avLst/>
          </a:prstGeom>
          <a:ln w="10160">
            <a:solidFill>
              <a:srgbClr val="8CA5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V8-CEC3"/>
          <p:cNvSpPr txBox="1"/>
          <p:nvPr/>
        </p:nvSpPr>
        <p:spPr>
          <a:xfrm>
            <a:off x="1453896" y="2551176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CEC3</a:t>
            </a:r>
            <a:endParaRPr sz="1800" b="1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71" name="V8-P 54.20%  ·  R 34.75%"/>
          <p:cNvSpPr txBox="1"/>
          <p:nvPr/>
        </p:nvSpPr>
        <p:spPr>
          <a:xfrm>
            <a:off x="1453896" y="2862072"/>
            <a:ext cx="2459736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P 54.20%  ·  R 34.75%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72" name="V8-连线"/>
          <p:cNvCxnSpPr/>
          <p:nvPr/>
        </p:nvCxnSpPr>
        <p:spPr>
          <a:xfrm flipH="1">
            <a:off x="5559552" y="3113056"/>
            <a:ext cx="358792" cy="727424"/>
          </a:xfrm>
          <a:prstGeom prst="line">
            <a:avLst/>
          </a:prstGeom>
          <a:ln w="1016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V8-ScholarGEC"/>
          <p:cNvSpPr txBox="1"/>
          <p:nvPr/>
        </p:nvSpPr>
        <p:spPr>
          <a:xfrm>
            <a:off x="4764024" y="3867912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ScholarGEC</a:t>
            </a:r>
            <a:endParaRPr sz="1800" b="1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74" name="V8-P 45.08%  ·  R 59.33%"/>
          <p:cNvSpPr txBox="1"/>
          <p:nvPr/>
        </p:nvSpPr>
        <p:spPr>
          <a:xfrm>
            <a:off x="4764024" y="4178808"/>
            <a:ext cx="2286000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P 45.08%  ·  R 59.33%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75" name="V8-连线"/>
          <p:cNvCxnSpPr/>
          <p:nvPr/>
        </p:nvCxnSpPr>
        <p:spPr>
          <a:xfrm>
            <a:off x="7333488" y="1591056"/>
            <a:ext cx="0" cy="4059936"/>
          </a:xfrm>
          <a:prstGeom prst="line">
            <a:avLst/>
          </a:prstGeom>
          <a:ln w="1016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V8-比 CEC3 高 2.25 分"/>
          <p:cNvSpPr txBox="1"/>
          <p:nvPr/>
        </p:nvSpPr>
        <p:spPr>
          <a:xfrm>
            <a:off x="7845552" y="4590288"/>
            <a:ext cx="3575304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比 CEC3 高 2.25 分</a:t>
            </a:r>
            <a:endParaRPr sz="23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V8-P、R 均提高；相对 ScholarGEC， / 则是更高 P 与更低 R。"/>
          <p:cNvSpPr txBox="1"/>
          <p:nvPr/>
        </p:nvSpPr>
        <p:spPr>
          <a:xfrm>
            <a:off x="7854696" y="5093208"/>
            <a:ext cx="354787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P、R 均提高；相对 ScholarGEC，</a:t>
            </a:r>
            <a:endParaRPr sz="16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则是更高 P 与更低 R。</a:t>
            </a:r>
            <a:endParaRPr sz="16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V8-相对 CEC3：P +2.97 个百分点，R +0.85 个百分点。"/>
          <p:cNvSpPr txBox="1"/>
          <p:nvPr/>
        </p:nvSpPr>
        <p:spPr>
          <a:xfrm>
            <a:off x="722376" y="5897880"/>
            <a:ext cx="1072591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相对 CEC3：P +2.97 个百分点，R +0.85 个百分点。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87" name="V9-NACGEC结果表"/>
          <p:cNvGraphicFramePr>
            <a:graphicFrameLocks noGrp="1"/>
          </p:cNvGraphicFramePr>
          <p:nvPr/>
        </p:nvGraphicFramePr>
        <p:xfrm>
          <a:off x="7781544" y="1810512"/>
          <a:ext cx="3639312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1176"/>
                <a:gridCol w="1088136"/>
              </a:tblGrid>
              <a:tr h="466344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模型（参数量）</a:t>
                      </a:r>
                      <a:endParaRPr lang="zh-CN" sz="17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F₀.₅</a:t>
                      </a:r>
                      <a:endParaRPr lang="zh-CN" sz="18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CEC3 · 4B</a:t>
                      </a:r>
                      <a:endParaRPr lang="zh-CN" sz="17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48.74</a:t>
                      </a:r>
                      <a:endParaRPr lang="zh-CN" sz="20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ScholarGEC · 14B</a:t>
                      </a:r>
                      <a:endParaRPr lang="zh-CN" sz="17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47.35</a:t>
                      </a:r>
                      <a:endParaRPr lang="zh-CN" sz="20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CSRP · 4B</a:t>
                      </a:r>
                      <a:endParaRPr lang="zh-CN" sz="18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50.99</a:t>
                      </a:r>
                      <a:endParaRPr lang="zh-CN" sz="21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拼写纠正：与通用及专用模型比较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拼写纠正：与专用模型和GPT-4比较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V8-来源：CSRP，表3（PDF第6页）、附录B（PDF第13页）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来源：CSRP，表3（PDF第6页）、附录B（PDF第13页）。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V8-CSCD 字符级纠正 F₁ · 论文报告值"/>
          <p:cNvSpPr txBox="1"/>
          <p:nvPr/>
        </p:nvSpPr>
        <p:spPr>
          <a:xfrm>
            <a:off x="704088" y="1207008"/>
            <a:ext cx="99669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CSCD 字符级纠正 F₁ · 论文报告值</a:t>
            </a:r>
            <a:endParaRPr sz="2000" b="1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9" name="V8-连线"/>
          <p:cNvCxnSpPr/>
          <p:nvPr/>
        </p:nvCxnSpPr>
        <p:spPr>
          <a:xfrm>
            <a:off x="8851392" y="1920240"/>
            <a:ext cx="0" cy="3054096"/>
          </a:xfrm>
          <a:prstGeom prst="line">
            <a:avLst/>
          </a:prstGeom>
          <a:ln w="1016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V8-+5.20"/>
          <p:cNvSpPr txBox="1"/>
          <p:nvPr/>
        </p:nvSpPr>
        <p:spPr>
          <a:xfrm>
            <a:off x="9144000" y="2249424"/>
            <a:ext cx="219456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+5.20</a:t>
            </a:r>
            <a:endParaRPr sz="37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61" name="V8-相对 GPT-4 / 提高的分数"/>
          <p:cNvSpPr txBox="1"/>
          <p:nvPr/>
        </p:nvSpPr>
        <p:spPr>
          <a:xfrm>
            <a:off x="9144000" y="2971800"/>
            <a:ext cx="220370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相对 GPT-4</a:t>
            </a:r>
            <a:endParaRPr sz="19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提高的分数</a:t>
            </a:r>
            <a:endParaRPr sz="19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V8-+10.68 分"/>
          <p:cNvSpPr txBox="1"/>
          <p:nvPr/>
        </p:nvSpPr>
        <p:spPr>
          <a:xfrm>
            <a:off x="9144000" y="385876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897F"/>
                </a:solidFill>
                <a:latin typeface="微软雅黑"/>
                <a:ea typeface="微软雅黑"/>
                <a:cs typeface="微软雅黑"/>
              </a:rPr>
              <a:t>+10.68 分</a:t>
            </a:r>
            <a:endParaRPr sz="2200" b="1">
              <a:solidFill>
                <a:srgbClr val="1689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V8-相对 / MDCSpell + ARM"/>
          <p:cNvSpPr txBox="1"/>
          <p:nvPr/>
        </p:nvSpPr>
        <p:spPr>
          <a:xfrm>
            <a:off x="9144000" y="4361688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相对</a:t>
            </a:r>
            <a:endParaRPr sz="15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MDCSpell + ARM</a:t>
            </a:r>
            <a:endParaRPr sz="15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V8-这里只比较论文设置下的 CSCD 拼写纠正结果。"/>
          <p:cNvSpPr txBox="1"/>
          <p:nvPr/>
        </p:nvSpPr>
        <p:spPr>
          <a:xfrm>
            <a:off x="722376" y="5522976"/>
            <a:ext cx="10661904" cy="2834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这里只比较论文设置下的 CSCD 拼写纠正结果。</a:t>
            </a:r>
            <a:endParaRPr sz="18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V8-* 表5所列 P/R 未能复算出 59.61；沿用报告值，详见备用页28。"/>
          <p:cNvSpPr txBox="1"/>
          <p:nvPr/>
        </p:nvSpPr>
        <p:spPr>
          <a:xfrm>
            <a:off x="722376" y="5907024"/>
            <a:ext cx="10661904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* 表5所列 P/R 未能复算出 59.61；沿用报告值，详见</a:t>
            </a:r>
            <a:r>
              <a:rPr sz="1450" b="0" u="sng">
                <a:solidFill>
                  <a:srgbClr val="075EA5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备用页28</a:t>
            </a:r>
            <a:r>
              <a:rPr sz="14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66" name="V9-CSCD模型结果表"/>
          <p:cNvGraphicFramePr>
            <a:graphicFrameLocks noGrp="1"/>
          </p:cNvGraphicFramePr>
          <p:nvPr/>
        </p:nvGraphicFramePr>
        <p:xfrm>
          <a:off x="731520" y="1920240"/>
          <a:ext cx="7754112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384"/>
                <a:gridCol w="2048256"/>
                <a:gridCol w="1490472"/>
              </a:tblGrid>
              <a:tr h="530352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模型</a:t>
                      </a:r>
                      <a:endParaRPr lang="zh-CN" sz="20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模型信息</a:t>
                      </a:r>
                      <a:endParaRPr lang="zh-CN" sz="19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F₁（分）</a:t>
                      </a:r>
                      <a:endParaRPr lang="zh-CN" sz="19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15875">
                      <a:solidFill>
                        <a:srgbClr val="075EA5"/>
                      </a:solidFill>
                      <a:prstDash val="solid"/>
                    </a:lnT>
                    <a:lnB w="10160">
                      <a:solidFill>
                        <a:srgbClr val="075EA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832104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2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MDCSpell + ARM</a:t>
                      </a:r>
                      <a:endParaRPr lang="zh-CN" sz="22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专用纠错</a:t>
                      </a:r>
                      <a:endParaRPr lang="zh-CN" sz="20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4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48.93</a:t>
                      </a:r>
                      <a:endParaRPr lang="zh-CN" sz="24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2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GPT-4</a:t>
                      </a:r>
                      <a:endParaRPr lang="zh-CN" sz="22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3-shot</a:t>
                      </a:r>
                      <a:endParaRPr lang="zh-CN" sz="20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400" b="0">
                          <a:solidFill>
                            <a:srgbClr val="23384A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54.41</a:t>
                      </a:r>
                      <a:endParaRPr lang="zh-CN" sz="2400" b="0">
                        <a:solidFill>
                          <a:srgbClr val="23384A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571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2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CSRP</a:t>
                      </a:r>
                      <a:endParaRPr lang="zh-CN" sz="22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4B</a:t>
                      </a:r>
                      <a:endParaRPr lang="zh-CN" sz="20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EAF2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400" b="1">
                          <a:solidFill>
                            <a:srgbClr val="075EA5"/>
                          </a:solidFill>
                          <a:latin typeface="Arial" panose="020B0604020202090204"/>
                          <a:ea typeface="微软雅黑"/>
                          <a:cs typeface="微软雅黑"/>
                        </a:rPr>
                        <a:t>59.61*</a:t>
                      </a:r>
                      <a:endParaRPr lang="zh-CN" sz="2400" b="1">
                        <a:solidFill>
                          <a:srgbClr val="075EA5"/>
                        </a:solidFill>
                        <a:latin typeface="Arial" panose="020B0604020202090204"/>
                        <a:ea typeface="微软雅黑"/>
                        <a:cs typeface="微软雅黑"/>
                      </a:endParaRPr>
                    </a:p>
                  </a:txBody>
                  <a:tcPr marL="146304" marR="146304" marT="59436" marB="59436" anchor="ctr">
                    <a:lnL w="6350">
                      <a:noFill/>
                    </a:lnL>
                    <a:lnR w="6350">
                      <a:noFill/>
                    </a:lnR>
                    <a:lnT w="5715">
                      <a:solidFill>
                        <a:srgbClr val="D7E0E8"/>
                      </a:solidFill>
                      <a:prstDash val="solid"/>
                    </a:lnT>
                    <a:lnB w="14605">
                      <a:solidFill>
                        <a:srgbClr val="075EA5"/>
                      </a:solidFill>
                      <a:prstDash val="solid"/>
                    </a:lnB>
                    <a:solidFill>
                      <a:srgbClr val="EA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组件贡献：阶段消融支持什么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消融实验：各训练阶段的作用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V8-来源：CSRP，表4、§4.3.1，PDF第7—8页（重绘）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来源：CSRP，表4、§4.3.1，PDF第7—8页（重绘）。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V8-训练配置对照 · NACGEC F₀.₅（分）"/>
          <p:cNvSpPr txBox="1"/>
          <p:nvPr/>
        </p:nvSpPr>
        <p:spPr>
          <a:xfrm>
            <a:off x="713232" y="1179576"/>
            <a:ext cx="9784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训练配置对照 · NACGEC F₀.₅（分）</a:t>
            </a:r>
            <a:endParaRPr sz="20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V8-完整 CSRP"/>
          <p:cNvSpPr txBox="1"/>
          <p:nvPr/>
        </p:nvSpPr>
        <p:spPr>
          <a:xfrm>
            <a:off x="731520" y="1764792"/>
            <a:ext cx="33649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完整 CSRP</a:t>
            </a:r>
            <a:endParaRPr sz="20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V8-背景／分组"/>
          <p:cNvSpPr/>
          <p:nvPr/>
        </p:nvSpPr>
        <p:spPr>
          <a:xfrm>
            <a:off x="4361688" y="1901952"/>
            <a:ext cx="4779088" cy="210312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8-50.99"/>
          <p:cNvSpPr txBox="1"/>
          <p:nvPr/>
        </p:nvSpPr>
        <p:spPr>
          <a:xfrm>
            <a:off x="9268792" y="1783080"/>
            <a:ext cx="8503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50.99</a:t>
            </a:r>
            <a:endParaRPr sz="21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36" name="V8-CPT + SFT"/>
          <p:cNvSpPr txBox="1"/>
          <p:nvPr/>
        </p:nvSpPr>
        <p:spPr>
          <a:xfrm>
            <a:off x="731520" y="2404872"/>
            <a:ext cx="33649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CPT + SFT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V8-背景／分组"/>
          <p:cNvSpPr/>
          <p:nvPr/>
        </p:nvSpPr>
        <p:spPr>
          <a:xfrm>
            <a:off x="4361688" y="2542032"/>
            <a:ext cx="4259846" cy="210312"/>
          </a:xfrm>
          <a:prstGeom prst="rect">
            <a:avLst/>
          </a:prstGeom>
          <a:solidFill>
            <a:srgbClr val="168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8-45.45"/>
          <p:cNvSpPr txBox="1"/>
          <p:nvPr/>
        </p:nvSpPr>
        <p:spPr>
          <a:xfrm>
            <a:off x="8749550" y="2423160"/>
            <a:ext cx="8503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45.45</a:t>
            </a:r>
            <a:endParaRPr sz="21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39" name="V8-CPT + SFT（无 CoT）"/>
          <p:cNvSpPr txBox="1"/>
          <p:nvPr/>
        </p:nvSpPr>
        <p:spPr>
          <a:xfrm>
            <a:off x="731520" y="3044952"/>
            <a:ext cx="33649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CPT + SFT（无 CoT）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背景／分组"/>
          <p:cNvSpPr/>
          <p:nvPr/>
        </p:nvSpPr>
        <p:spPr>
          <a:xfrm>
            <a:off x="4361688" y="3182112"/>
            <a:ext cx="3996476" cy="210312"/>
          </a:xfrm>
          <a:prstGeom prst="rect">
            <a:avLst/>
          </a:prstGeom>
          <a:solidFill>
            <a:srgbClr val="E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V8-连线"/>
          <p:cNvCxnSpPr/>
          <p:nvPr/>
        </p:nvCxnSpPr>
        <p:spPr>
          <a:xfrm>
            <a:off x="4361688" y="3392424"/>
            <a:ext cx="3996476" cy="0"/>
          </a:xfrm>
          <a:prstGeom prst="line">
            <a:avLst/>
          </a:prstGeom>
          <a:ln w="16510">
            <a:solidFill>
              <a:srgbClr val="168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V8-42.64"/>
          <p:cNvSpPr txBox="1"/>
          <p:nvPr/>
        </p:nvSpPr>
        <p:spPr>
          <a:xfrm>
            <a:off x="8486180" y="3063240"/>
            <a:ext cx="8503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42.64</a:t>
            </a:r>
            <a:endParaRPr sz="21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3" name="V8-SFT + GRPO（无 CPT）"/>
          <p:cNvSpPr txBox="1"/>
          <p:nvPr/>
        </p:nvSpPr>
        <p:spPr>
          <a:xfrm>
            <a:off x="731520" y="3685031"/>
            <a:ext cx="33649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SFT + GRPO（无 CPT）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V8-背景／分组"/>
          <p:cNvSpPr/>
          <p:nvPr/>
        </p:nvSpPr>
        <p:spPr>
          <a:xfrm>
            <a:off x="4361688" y="3822191"/>
            <a:ext cx="4308584" cy="210312"/>
          </a:xfrm>
          <a:prstGeom prst="rect">
            <a:avLst/>
          </a:prstGeom>
          <a:solidFill>
            <a:srgbClr val="8CA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8-45.97"/>
          <p:cNvSpPr txBox="1"/>
          <p:nvPr/>
        </p:nvSpPr>
        <p:spPr>
          <a:xfrm>
            <a:off x="8798288" y="3703320"/>
            <a:ext cx="8503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CA5B7"/>
                </a:solidFill>
                <a:latin typeface="Arial" panose="020B0604020202090204"/>
                <a:ea typeface="微软雅黑"/>
                <a:cs typeface="微软雅黑"/>
              </a:rPr>
              <a:t>45.97</a:t>
            </a:r>
            <a:endParaRPr sz="2100" b="1">
              <a:solidFill>
                <a:srgbClr val="8CA5B7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6" name="V8-仅 SFT（合并数据）"/>
          <p:cNvSpPr txBox="1"/>
          <p:nvPr/>
        </p:nvSpPr>
        <p:spPr>
          <a:xfrm>
            <a:off x="731520" y="4325112"/>
            <a:ext cx="33649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仅 SFT（合并数据）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V8-背景／分组"/>
          <p:cNvSpPr/>
          <p:nvPr/>
        </p:nvSpPr>
        <p:spPr>
          <a:xfrm>
            <a:off x="4361688" y="4462272"/>
            <a:ext cx="3768722" cy="210312"/>
          </a:xfrm>
          <a:prstGeom prst="rect">
            <a:avLst/>
          </a:prstGeom>
          <a:solidFill>
            <a:srgbClr val="8CA5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8-40.21"/>
          <p:cNvSpPr txBox="1"/>
          <p:nvPr/>
        </p:nvSpPr>
        <p:spPr>
          <a:xfrm>
            <a:off x="8258426" y="4343400"/>
            <a:ext cx="8503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CA5B7"/>
                </a:solidFill>
                <a:latin typeface="Arial" panose="020B0604020202090204"/>
                <a:ea typeface="微软雅黑"/>
                <a:cs typeface="微软雅黑"/>
              </a:rPr>
              <a:t>40.21</a:t>
            </a:r>
            <a:endParaRPr sz="2100" b="1">
              <a:solidFill>
                <a:srgbClr val="8CA5B7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49" name="V8-连线"/>
          <p:cNvCxnSpPr/>
          <p:nvPr/>
        </p:nvCxnSpPr>
        <p:spPr>
          <a:xfrm>
            <a:off x="4361688" y="4910328"/>
            <a:ext cx="5623560" cy="0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V8-连线"/>
          <p:cNvCxnSpPr/>
          <p:nvPr/>
        </p:nvCxnSpPr>
        <p:spPr>
          <a:xfrm>
            <a:off x="4361688" y="491032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V8-0"/>
          <p:cNvSpPr txBox="1"/>
          <p:nvPr/>
        </p:nvSpPr>
        <p:spPr>
          <a:xfrm>
            <a:off x="4123944" y="498805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2" name="V8-连线"/>
          <p:cNvCxnSpPr/>
          <p:nvPr/>
        </p:nvCxnSpPr>
        <p:spPr>
          <a:xfrm>
            <a:off x="6236207" y="491032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V8-20"/>
          <p:cNvSpPr txBox="1"/>
          <p:nvPr/>
        </p:nvSpPr>
        <p:spPr>
          <a:xfrm>
            <a:off x="5998464" y="498805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20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4" name="V8-连线"/>
          <p:cNvCxnSpPr/>
          <p:nvPr/>
        </p:nvCxnSpPr>
        <p:spPr>
          <a:xfrm>
            <a:off x="8110727" y="491032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V8-40"/>
          <p:cNvSpPr txBox="1"/>
          <p:nvPr/>
        </p:nvSpPr>
        <p:spPr>
          <a:xfrm>
            <a:off x="7872983" y="498805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40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6" name="V8-连线"/>
          <p:cNvCxnSpPr/>
          <p:nvPr/>
        </p:nvCxnSpPr>
        <p:spPr>
          <a:xfrm>
            <a:off x="9985248" y="491032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V8-60"/>
          <p:cNvSpPr txBox="1"/>
          <p:nvPr/>
        </p:nvSpPr>
        <p:spPr>
          <a:xfrm>
            <a:off x="9747504" y="498805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60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8" name="V8-F₀.₅（分）"/>
          <p:cNvSpPr txBox="1"/>
          <p:nvPr/>
        </p:nvSpPr>
        <p:spPr>
          <a:xfrm>
            <a:off x="4361688" y="5285232"/>
            <a:ext cx="5623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F₀.₅（分）</a:t>
            </a:r>
            <a:endParaRPr sz="14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9" name="V8-连线"/>
          <p:cNvCxnSpPr/>
          <p:nvPr/>
        </p:nvCxnSpPr>
        <p:spPr>
          <a:xfrm>
            <a:off x="10698480" y="2660904"/>
            <a:ext cx="0" cy="640080"/>
          </a:xfrm>
          <a:prstGeom prst="line">
            <a:avLst/>
          </a:prstGeom>
          <a:ln w="15240">
            <a:solidFill>
              <a:srgbClr val="168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V8-连线"/>
          <p:cNvCxnSpPr/>
          <p:nvPr/>
        </p:nvCxnSpPr>
        <p:spPr>
          <a:xfrm>
            <a:off x="10579608" y="2660904"/>
            <a:ext cx="118872" cy="0"/>
          </a:xfrm>
          <a:prstGeom prst="line">
            <a:avLst/>
          </a:prstGeom>
          <a:ln w="15240">
            <a:solidFill>
              <a:srgbClr val="168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V8-连线"/>
          <p:cNvCxnSpPr/>
          <p:nvPr/>
        </p:nvCxnSpPr>
        <p:spPr>
          <a:xfrm>
            <a:off x="10579608" y="3300984"/>
            <a:ext cx="118872" cy="0"/>
          </a:xfrm>
          <a:prstGeom prst="line">
            <a:avLst/>
          </a:prstGeom>
          <a:ln w="15240">
            <a:solidFill>
              <a:srgbClr val="168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V8-+2.81"/>
          <p:cNvSpPr txBox="1"/>
          <p:nvPr/>
        </p:nvSpPr>
        <p:spPr>
          <a:xfrm>
            <a:off x="10844784" y="2761488"/>
            <a:ext cx="649224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+2.81</a:t>
            </a:r>
            <a:endParaRPr sz="19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63" name="V8-加入 CoT：42.64 → 45.45（+2.81 分）。这些对照中，完整方案分数最高。"/>
          <p:cNvSpPr txBox="1"/>
          <p:nvPr/>
        </p:nvSpPr>
        <p:spPr>
          <a:xfrm>
            <a:off x="731520" y="555955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加入 CoT：42.64 → 45.45（+2.81 分）。这些对照中，完整方案分数最高。</a:t>
            </a:r>
            <a:endParaRPr sz="1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V8-各阶段是否通过相互独立的机制起作用，现有结果还不足以确定。"/>
          <p:cNvSpPr txBox="1"/>
          <p:nvPr/>
        </p:nvSpPr>
        <p:spPr>
          <a:xfrm>
            <a:off x="731520" y="5943600"/>
            <a:ext cx="106984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各阶段是否通过相互独立的机制起作用，现有结果还不足以确定。</a:t>
            </a:r>
            <a:endParaRPr sz="15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RL收益是否只来自更多数据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相同数据量下，RL是否仍有提升？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V8-来源：CSRP，表4、§4.3.1（3），PDF第8页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来源：CSRP，表4、§4.3.1（3），PDF第8页。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V8-背景／分组"/>
          <p:cNvSpPr/>
          <p:nvPr/>
        </p:nvSpPr>
        <p:spPr>
          <a:xfrm>
            <a:off x="740664" y="1197864"/>
            <a:ext cx="3127248" cy="347472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8-两组均先做 CPT"/>
          <p:cNvSpPr txBox="1"/>
          <p:nvPr/>
        </p:nvSpPr>
        <p:spPr>
          <a:xfrm>
            <a:off x="813816" y="1202436"/>
            <a:ext cx="2980944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两组均先做 CPT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V8-使用同一份纠错训练集"/>
          <p:cNvSpPr txBox="1"/>
          <p:nvPr/>
        </p:nvSpPr>
        <p:spPr>
          <a:xfrm>
            <a:off x="4251960" y="1207008"/>
            <a:ext cx="71597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使用同一份纠错训练集</a:t>
            </a:r>
            <a:endParaRPr sz="22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7" name="V8-连线"/>
          <p:cNvCxnSpPr/>
          <p:nvPr/>
        </p:nvCxnSpPr>
        <p:spPr>
          <a:xfrm>
            <a:off x="1115568" y="2304288"/>
            <a:ext cx="0" cy="1901952"/>
          </a:xfrm>
          <a:prstGeom prst="line">
            <a:avLst/>
          </a:prstGeom>
          <a:ln w="15240">
            <a:solidFill>
              <a:srgbClr val="8CA5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8-连线"/>
          <p:cNvCxnSpPr/>
          <p:nvPr/>
        </p:nvCxnSpPr>
        <p:spPr>
          <a:xfrm>
            <a:off x="1115568" y="2587752"/>
            <a:ext cx="530352" cy="0"/>
          </a:xfrm>
          <a:prstGeom prst="line">
            <a:avLst/>
          </a:prstGeom>
          <a:ln w="15240">
            <a:solidFill>
              <a:srgbClr val="8CA5B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V8-全部用于 SFT"/>
          <p:cNvSpPr txBox="1"/>
          <p:nvPr/>
        </p:nvSpPr>
        <p:spPr>
          <a:xfrm>
            <a:off x="1883664" y="1892808"/>
            <a:ext cx="61173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全部用于 SFT</a:t>
            </a:r>
            <a:endParaRPr sz="20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背景／分组"/>
          <p:cNvSpPr/>
          <p:nvPr/>
        </p:nvSpPr>
        <p:spPr>
          <a:xfrm>
            <a:off x="1901952" y="2359152"/>
            <a:ext cx="5833872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8-SFT · 100%"/>
          <p:cNvSpPr txBox="1"/>
          <p:nvPr/>
        </p:nvSpPr>
        <p:spPr>
          <a:xfrm>
            <a:off x="1901952" y="2404872"/>
            <a:ext cx="583387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SFT · 100%</a:t>
            </a:r>
            <a:endParaRPr sz="22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42" name="V8-连线"/>
          <p:cNvCxnSpPr/>
          <p:nvPr/>
        </p:nvCxnSpPr>
        <p:spPr>
          <a:xfrm>
            <a:off x="7927848" y="2642616"/>
            <a:ext cx="557784" cy="0"/>
          </a:xfrm>
          <a:prstGeom prst="line">
            <a:avLst/>
          </a:prstGeom>
          <a:ln w="13970">
            <a:solidFill>
              <a:srgbClr val="65788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V8-47.21*"/>
          <p:cNvSpPr txBox="1"/>
          <p:nvPr/>
        </p:nvSpPr>
        <p:spPr>
          <a:xfrm>
            <a:off x="8796528" y="2240280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3384A"/>
                </a:solidFill>
                <a:latin typeface="Arial" panose="020B0604020202090204"/>
                <a:ea typeface="微软雅黑"/>
                <a:cs typeface="微软雅黑"/>
              </a:rPr>
              <a:t>47.21*</a:t>
            </a:r>
            <a:endParaRPr sz="4000" b="1">
              <a:solidFill>
                <a:srgbClr val="23384A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4" name="V8-NACGEC F₀.₅"/>
          <p:cNvSpPr txBox="1"/>
          <p:nvPr/>
        </p:nvSpPr>
        <p:spPr>
          <a:xfrm>
            <a:off x="8805672" y="2907792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NACGEC F₀.₅</a:t>
            </a:r>
            <a:endParaRPr sz="16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5" name="V8-连线"/>
          <p:cNvCxnSpPr/>
          <p:nvPr/>
        </p:nvCxnSpPr>
        <p:spPr>
          <a:xfrm>
            <a:off x="1115568" y="4123944"/>
            <a:ext cx="530352" cy="0"/>
          </a:xfrm>
          <a:prstGeom prst="line">
            <a:avLst/>
          </a:prstGeom>
          <a:ln w="15240">
            <a:solidFill>
              <a:srgbClr val="8CA5B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8-分配给 SFT 与 RL"/>
          <p:cNvSpPr txBox="1"/>
          <p:nvPr/>
        </p:nvSpPr>
        <p:spPr>
          <a:xfrm>
            <a:off x="1883664" y="3429000"/>
            <a:ext cx="61173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分配给 SFT 与 RL</a:t>
            </a:r>
            <a:endParaRPr sz="20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V8-背景／分组"/>
          <p:cNvSpPr/>
          <p:nvPr/>
        </p:nvSpPr>
        <p:spPr>
          <a:xfrm>
            <a:off x="1901952" y="3895344"/>
            <a:ext cx="4667097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8-背景／分组"/>
          <p:cNvSpPr/>
          <p:nvPr/>
        </p:nvSpPr>
        <p:spPr>
          <a:xfrm>
            <a:off x="6569049" y="3895344"/>
            <a:ext cx="1166774" cy="566928"/>
          </a:xfrm>
          <a:prstGeom prst="rect">
            <a:avLst/>
          </a:prstGeom>
          <a:solidFill>
            <a:srgbClr val="E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8-SFT · 80%"/>
          <p:cNvSpPr txBox="1"/>
          <p:nvPr/>
        </p:nvSpPr>
        <p:spPr>
          <a:xfrm>
            <a:off x="1901952" y="3941063"/>
            <a:ext cx="4667097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SFT · 80%</a:t>
            </a:r>
            <a:endParaRPr sz="22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0" name="V8-RL 20%"/>
          <p:cNvSpPr txBox="1"/>
          <p:nvPr/>
        </p:nvSpPr>
        <p:spPr>
          <a:xfrm>
            <a:off x="6569049" y="3941063"/>
            <a:ext cx="116677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RL 20%</a:t>
            </a:r>
            <a:endParaRPr sz="18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1" name="V8-连线"/>
          <p:cNvCxnSpPr/>
          <p:nvPr/>
        </p:nvCxnSpPr>
        <p:spPr>
          <a:xfrm>
            <a:off x="7927848" y="4178807"/>
            <a:ext cx="557784" cy="0"/>
          </a:xfrm>
          <a:prstGeom prst="line">
            <a:avLst/>
          </a:prstGeom>
          <a:ln w="13970">
            <a:solidFill>
              <a:srgbClr val="65788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V8-50.99"/>
          <p:cNvSpPr txBox="1"/>
          <p:nvPr/>
        </p:nvSpPr>
        <p:spPr>
          <a:xfrm>
            <a:off x="8796528" y="3776472"/>
            <a:ext cx="247802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50.99</a:t>
            </a:r>
            <a:endParaRPr sz="40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3" name="V8-NACGEC F₀.₅"/>
          <p:cNvSpPr txBox="1"/>
          <p:nvPr/>
        </p:nvSpPr>
        <p:spPr>
          <a:xfrm>
            <a:off x="8805672" y="4443983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NACGEC F₀.₅</a:t>
            </a:r>
            <a:endParaRPr sz="16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V8-报告分数：50.99 − 47.21 = 3.78 分。"/>
          <p:cNvSpPr txBox="1"/>
          <p:nvPr/>
        </p:nvSpPr>
        <p:spPr>
          <a:xfrm>
            <a:off x="740664" y="5065776"/>
            <a:ext cx="10643616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报告分数：50.99 − 47.21 = 3.78 分。</a:t>
            </a:r>
            <a:endParaRPr sz="24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V8-同一份数据，分阶段训练的报告分数更高；两组计算量是否相当仍不清楚。"/>
          <p:cNvSpPr txBox="1"/>
          <p:nvPr/>
        </p:nvSpPr>
        <p:spPr>
          <a:xfrm>
            <a:off x="740664" y="5532120"/>
            <a:ext cx="106436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同一份数据，分阶段训练的报告分数更高；两组计算量是否相当仍不清楚。</a:t>
            </a:r>
            <a:endParaRPr sz="17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V8-* 47.21 按所列 P/R 复算约 47.89，收益幅度待核实，见备用页28。"/>
          <p:cNvSpPr txBox="1"/>
          <p:nvPr/>
        </p:nvSpPr>
        <p:spPr>
          <a:xfrm>
            <a:off x="740664" y="5916168"/>
            <a:ext cx="1064361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* 47.21 按所列 P/R 复算约 47.89，收益幅度待核实，见</a:t>
            </a:r>
            <a:r>
              <a:rPr sz="1450" b="0" u="sng">
                <a:solidFill>
                  <a:srgbClr val="075EA5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备用页28</a:t>
            </a:r>
            <a:r>
              <a:rPr sz="14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行为变化：精确率上升，召回略降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加入RL后：精确率上升，召回率略降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V8-来源：CSRP，表5，PDF第8页（重绘）；RL阶段使用预留的20%数据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来源：CSRP，表5，PDF第8页（重绘）；RL阶段使用预留的20%数据。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V8-NACGEC · 加入 RL 前后的 P / R"/>
          <p:cNvSpPr txBox="1"/>
          <p:nvPr/>
        </p:nvSpPr>
        <p:spPr>
          <a:xfrm>
            <a:off x="722376" y="1216152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NACGEC · 加入 RL 前后的 P / R</a:t>
            </a:r>
            <a:endParaRPr sz="21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V8-数据点"/>
          <p:cNvSpPr/>
          <p:nvPr/>
        </p:nvSpPr>
        <p:spPr>
          <a:xfrm>
            <a:off x="8220456" y="1316736"/>
            <a:ext cx="109728" cy="10972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CA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8-CPT + SFT"/>
          <p:cNvSpPr txBox="1"/>
          <p:nvPr/>
        </p:nvSpPr>
        <p:spPr>
          <a:xfrm>
            <a:off x="8421624" y="123444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CPT + SFT</a:t>
            </a:r>
            <a:endParaRPr sz="14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35" name="V8-数据点"/>
          <p:cNvSpPr/>
          <p:nvPr/>
        </p:nvSpPr>
        <p:spPr>
          <a:xfrm>
            <a:off x="10113263" y="1316736"/>
            <a:ext cx="109728" cy="109728"/>
          </a:xfrm>
          <a:prstGeom prst="ellipse">
            <a:avLst/>
          </a:prstGeom>
          <a:solidFill>
            <a:srgbClr val="075EA5"/>
          </a:solidFill>
          <a:ln w="7620">
            <a:solidFill>
              <a:srgbClr val="07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8-加入 RL"/>
          <p:cNvSpPr txBox="1"/>
          <p:nvPr/>
        </p:nvSpPr>
        <p:spPr>
          <a:xfrm>
            <a:off x="10323576" y="1234440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加入 RL</a:t>
            </a:r>
            <a:endParaRPr sz="1400" b="0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V8-精确率 P"/>
          <p:cNvSpPr txBox="1"/>
          <p:nvPr/>
        </p:nvSpPr>
        <p:spPr>
          <a:xfrm>
            <a:off x="777240" y="2350008"/>
            <a:ext cx="186537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精确率 P</a:t>
            </a:r>
            <a:endParaRPr sz="24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8" name="V8-连线"/>
          <p:cNvCxnSpPr/>
          <p:nvPr/>
        </p:nvCxnSpPr>
        <p:spPr>
          <a:xfrm>
            <a:off x="2825496" y="2551176"/>
            <a:ext cx="6455664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8-连线"/>
          <p:cNvCxnSpPr/>
          <p:nvPr/>
        </p:nvCxnSpPr>
        <p:spPr>
          <a:xfrm>
            <a:off x="7319560" y="2551176"/>
            <a:ext cx="778369" cy="0"/>
          </a:xfrm>
          <a:prstGeom prst="line">
            <a:avLst/>
          </a:prstGeom>
          <a:ln w="29209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8-数据点"/>
          <p:cNvSpPr/>
          <p:nvPr/>
        </p:nvSpPr>
        <p:spPr>
          <a:xfrm>
            <a:off x="7252809" y="2484424"/>
            <a:ext cx="133502" cy="13350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CA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8-数据点"/>
          <p:cNvSpPr/>
          <p:nvPr/>
        </p:nvSpPr>
        <p:spPr>
          <a:xfrm>
            <a:off x="8031177" y="2484424"/>
            <a:ext cx="133502" cy="133502"/>
          </a:xfrm>
          <a:prstGeom prst="ellipse">
            <a:avLst/>
          </a:prstGeom>
          <a:solidFill>
            <a:srgbClr val="075EA5"/>
          </a:solidFill>
          <a:ln w="7620">
            <a:solidFill>
              <a:srgbClr val="07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8-48.73%"/>
          <p:cNvSpPr txBox="1"/>
          <p:nvPr/>
        </p:nvSpPr>
        <p:spPr>
          <a:xfrm>
            <a:off x="6716056" y="2761488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48.73%</a:t>
            </a:r>
            <a:endParaRPr sz="19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3" name="V8-57.17%"/>
          <p:cNvSpPr txBox="1"/>
          <p:nvPr/>
        </p:nvSpPr>
        <p:spPr>
          <a:xfrm>
            <a:off x="7494425" y="2011680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57.17%</a:t>
            </a:r>
            <a:endParaRPr sz="21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4" name="V8-+8.44"/>
          <p:cNvSpPr txBox="1"/>
          <p:nvPr/>
        </p:nvSpPr>
        <p:spPr>
          <a:xfrm>
            <a:off x="9674352" y="2231136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+8.44</a:t>
            </a:r>
            <a:endParaRPr sz="31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5" name="V8-个百分点"/>
          <p:cNvSpPr txBox="1"/>
          <p:nvPr/>
        </p:nvSpPr>
        <p:spPr>
          <a:xfrm>
            <a:off x="9710928" y="2770632"/>
            <a:ext cx="168249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个百分点</a:t>
            </a:r>
            <a:endParaRPr sz="16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V8-召回率 R"/>
          <p:cNvSpPr txBox="1"/>
          <p:nvPr/>
        </p:nvSpPr>
        <p:spPr>
          <a:xfrm>
            <a:off x="777240" y="3675888"/>
            <a:ext cx="186537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召回率 R</a:t>
            </a:r>
            <a:endParaRPr sz="24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7" name="V8-连线"/>
          <p:cNvCxnSpPr/>
          <p:nvPr/>
        </p:nvCxnSpPr>
        <p:spPr>
          <a:xfrm>
            <a:off x="2825496" y="3877056"/>
            <a:ext cx="6455664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8-连线"/>
          <p:cNvCxnSpPr/>
          <p:nvPr/>
        </p:nvCxnSpPr>
        <p:spPr>
          <a:xfrm flipH="1">
            <a:off x="6108662" y="3877056"/>
            <a:ext cx="18445" cy="0"/>
          </a:xfrm>
          <a:prstGeom prst="line">
            <a:avLst/>
          </a:prstGeom>
          <a:ln w="29209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V8-数据点"/>
          <p:cNvSpPr/>
          <p:nvPr/>
        </p:nvSpPr>
        <p:spPr>
          <a:xfrm>
            <a:off x="6060355" y="3810304"/>
            <a:ext cx="133502" cy="13350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CA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8-数据点"/>
          <p:cNvSpPr/>
          <p:nvPr/>
        </p:nvSpPr>
        <p:spPr>
          <a:xfrm>
            <a:off x="6041911" y="3810304"/>
            <a:ext cx="133502" cy="133502"/>
          </a:xfrm>
          <a:prstGeom prst="ellipse">
            <a:avLst/>
          </a:prstGeom>
          <a:solidFill>
            <a:srgbClr val="075EA5"/>
          </a:solidFill>
          <a:ln w="7620">
            <a:solidFill>
              <a:srgbClr val="07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8-35.80%"/>
          <p:cNvSpPr txBox="1"/>
          <p:nvPr/>
        </p:nvSpPr>
        <p:spPr>
          <a:xfrm>
            <a:off x="5523603" y="4087368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35.80%</a:t>
            </a:r>
            <a:endParaRPr sz="190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2" name="V8-35.60%"/>
          <p:cNvSpPr txBox="1"/>
          <p:nvPr/>
        </p:nvSpPr>
        <p:spPr>
          <a:xfrm>
            <a:off x="5505158" y="3337560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35.60%</a:t>
            </a:r>
            <a:endParaRPr sz="21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3" name="V8-−0.20"/>
          <p:cNvSpPr txBox="1"/>
          <p:nvPr/>
        </p:nvSpPr>
        <p:spPr>
          <a:xfrm>
            <a:off x="9674352" y="3557016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AF7B25"/>
                </a:solidFill>
                <a:latin typeface="Arial" panose="020B0604020202090204"/>
                <a:ea typeface="微软雅黑"/>
                <a:cs typeface="微软雅黑"/>
              </a:rPr>
              <a:t>−0.20</a:t>
            </a:r>
            <a:endParaRPr sz="3100" b="1">
              <a:solidFill>
                <a:srgbClr val="AF7B2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4" name="V8-个百分点"/>
          <p:cNvSpPr txBox="1"/>
          <p:nvPr/>
        </p:nvSpPr>
        <p:spPr>
          <a:xfrm>
            <a:off x="9710928" y="4096512"/>
            <a:ext cx="1682496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个百分点</a:t>
            </a:r>
            <a:endParaRPr sz="16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5" name="V8-连线"/>
          <p:cNvCxnSpPr/>
          <p:nvPr/>
        </p:nvCxnSpPr>
        <p:spPr>
          <a:xfrm>
            <a:off x="2825496" y="4773168"/>
            <a:ext cx="6455664" cy="0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V8-连线"/>
          <p:cNvCxnSpPr/>
          <p:nvPr/>
        </p:nvCxnSpPr>
        <p:spPr>
          <a:xfrm>
            <a:off x="2825496" y="477316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V8-0"/>
          <p:cNvSpPr txBox="1"/>
          <p:nvPr/>
        </p:nvSpPr>
        <p:spPr>
          <a:xfrm>
            <a:off x="2587752" y="485089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58" name="V8-连线"/>
          <p:cNvCxnSpPr/>
          <p:nvPr/>
        </p:nvCxnSpPr>
        <p:spPr>
          <a:xfrm>
            <a:off x="4669971" y="477316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V8-20"/>
          <p:cNvSpPr txBox="1"/>
          <p:nvPr/>
        </p:nvSpPr>
        <p:spPr>
          <a:xfrm>
            <a:off x="4432227" y="485089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20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60" name="V8-连线"/>
          <p:cNvCxnSpPr/>
          <p:nvPr/>
        </p:nvCxnSpPr>
        <p:spPr>
          <a:xfrm>
            <a:off x="6514446" y="477316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V8-40"/>
          <p:cNvSpPr txBox="1"/>
          <p:nvPr/>
        </p:nvSpPr>
        <p:spPr>
          <a:xfrm>
            <a:off x="6276702" y="485089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40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62" name="V8-连线"/>
          <p:cNvCxnSpPr/>
          <p:nvPr/>
        </p:nvCxnSpPr>
        <p:spPr>
          <a:xfrm>
            <a:off x="8358922" y="477316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V8-60"/>
          <p:cNvSpPr txBox="1"/>
          <p:nvPr/>
        </p:nvSpPr>
        <p:spPr>
          <a:xfrm>
            <a:off x="8121178" y="485089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60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64" name="V8-连线"/>
          <p:cNvCxnSpPr/>
          <p:nvPr/>
        </p:nvCxnSpPr>
        <p:spPr>
          <a:xfrm>
            <a:off x="9281160" y="4773168"/>
            <a:ext cx="0" cy="59436"/>
          </a:xfrm>
          <a:prstGeom prst="line">
            <a:avLst/>
          </a:prstGeom>
          <a:ln w="889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V8-70"/>
          <p:cNvSpPr txBox="1"/>
          <p:nvPr/>
        </p:nvSpPr>
        <p:spPr>
          <a:xfrm>
            <a:off x="9043416" y="4850892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70</a:t>
            </a:r>
            <a:endParaRPr sz="12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66" name="V8-同一比例尺（%）"/>
          <p:cNvSpPr txBox="1"/>
          <p:nvPr/>
        </p:nvSpPr>
        <p:spPr>
          <a:xfrm>
            <a:off x="2825496" y="5148072"/>
            <a:ext cx="645566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同一比例尺（%）</a:t>
            </a:r>
            <a:endParaRPr sz="14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V8-"/>
          <p:cNvSpPr txBox="1"/>
          <p:nvPr/>
        </p:nvSpPr>
        <p:spPr>
          <a:xfrm>
            <a:off x="758952" y="5513832"/>
            <a:ext cx="10671048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3384A"/>
                </a:solidFill>
                <a:latin typeface="微软雅黑"/>
                <a:ea typeface="微软雅黑"/>
              </a:rPr>
              <a:t>F₀.₅：45.45 → 50.99</a:t>
            </a:r>
            <a:r>
              <a:rPr sz="2300" b="1">
                <a:solidFill>
                  <a:srgbClr val="075EA5"/>
                </a:solidFill>
                <a:latin typeface="微软雅黑"/>
                <a:ea typeface="微软雅黑"/>
              </a:rPr>
              <a:t>     +5.54 分</a:t>
            </a:r>
            <a:endParaRPr sz="2300" b="1">
              <a:solidFill>
                <a:srgbClr val="075EA5"/>
              </a:solidFill>
              <a:latin typeface="微软雅黑"/>
              <a:ea typeface="微软雅黑"/>
            </a:endParaRPr>
          </a:p>
        </p:txBody>
      </p:sp>
      <p:sp>
        <p:nvSpPr>
          <p:cNvPr id="68" name="V8-仍需单独检查：正确句被误改多少，修改后是否保留原意。"/>
          <p:cNvSpPr txBox="1"/>
          <p:nvPr/>
        </p:nvSpPr>
        <p:spPr>
          <a:xfrm>
            <a:off x="758952" y="5961888"/>
            <a:ext cx="1060704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仍需单独检查：正确句被误改多少，修改后是否保留原意。</a:t>
            </a:r>
            <a:endParaRPr sz="16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V8-04"/>
          <p:cNvSpPr txBox="1"/>
          <p:nvPr/>
        </p:nvSpPr>
        <p:spPr>
          <a:xfrm>
            <a:off x="841248" y="1417320"/>
            <a:ext cx="333756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DAE8F1"/>
                </a:solidFill>
                <a:latin typeface="Arial" panose="020B0604020202090204"/>
                <a:ea typeface="微软雅黑"/>
                <a:cs typeface="微软雅黑"/>
              </a:rPr>
              <a:t>04</a:t>
            </a:r>
            <a:endParaRPr sz="14000" b="1">
              <a:solidFill>
                <a:srgbClr val="DAE8F1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15" name="V8-连线"/>
          <p:cNvCxnSpPr/>
          <p:nvPr/>
        </p:nvCxnSpPr>
        <p:spPr>
          <a:xfrm>
            <a:off x="4160520" y="1627632"/>
            <a:ext cx="0" cy="2615184"/>
          </a:xfrm>
          <a:prstGeom prst="line">
            <a:avLst/>
          </a:prstGeom>
          <a:ln w="2540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8-总结与思考"/>
          <p:cNvSpPr txBox="1"/>
          <p:nvPr/>
        </p:nvSpPr>
        <p:spPr>
          <a:xfrm>
            <a:off x="4599432" y="1746504"/>
            <a:ext cx="6519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总结与思考</a:t>
            </a:r>
            <a:endParaRPr sz="3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V8-参考答案是否合理？ / 编辑效率项是否有效？"/>
          <p:cNvSpPr txBox="1"/>
          <p:nvPr/>
        </p:nvSpPr>
        <p:spPr>
          <a:xfrm>
            <a:off x="4599432" y="2770632"/>
            <a:ext cx="6446520" cy="11064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参考答案是否合理？</a:t>
            </a:r>
            <a:endParaRPr sz="24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编辑效率项是否有效？</a:t>
            </a:r>
            <a:endParaRPr sz="24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8" name="V8-连线"/>
          <p:cNvCxnSpPr/>
          <p:nvPr/>
        </p:nvCxnSpPr>
        <p:spPr>
          <a:xfrm>
            <a:off x="850392" y="5257800"/>
            <a:ext cx="2377440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8-01  研究背景"/>
          <p:cNvSpPr txBox="1"/>
          <p:nvPr/>
        </p:nvSpPr>
        <p:spPr>
          <a:xfrm>
            <a:off x="850392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01  研究背景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0" name="V8-连线"/>
          <p:cNvCxnSpPr/>
          <p:nvPr/>
        </p:nvCxnSpPr>
        <p:spPr>
          <a:xfrm>
            <a:off x="3675887" y="5257800"/>
            <a:ext cx="2377440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V8-02  方法原理"/>
          <p:cNvSpPr txBox="1"/>
          <p:nvPr/>
        </p:nvSpPr>
        <p:spPr>
          <a:xfrm>
            <a:off x="3675887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02  方法原理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2" name="V8-连线"/>
          <p:cNvCxnSpPr/>
          <p:nvPr/>
        </p:nvCxnSpPr>
        <p:spPr>
          <a:xfrm>
            <a:off x="6501383" y="5257800"/>
            <a:ext cx="2377441" cy="0"/>
          </a:xfrm>
          <a:prstGeom prst="line">
            <a:avLst/>
          </a:prstGeom>
          <a:ln w="1270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8-03  实验验证"/>
          <p:cNvSpPr txBox="1"/>
          <p:nvPr/>
        </p:nvSpPr>
        <p:spPr>
          <a:xfrm>
            <a:off x="6501383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03  实验验证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" name="V8-连线"/>
          <p:cNvCxnSpPr/>
          <p:nvPr/>
        </p:nvCxnSpPr>
        <p:spPr>
          <a:xfrm>
            <a:off x="9326880" y="5257800"/>
            <a:ext cx="2377439" cy="0"/>
          </a:xfrm>
          <a:prstGeom prst="line">
            <a:avLst/>
          </a:prstGeom>
          <a:ln w="3810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8-04  总结与思考"/>
          <p:cNvSpPr txBox="1"/>
          <p:nvPr/>
        </p:nvSpPr>
        <p:spPr>
          <a:xfrm>
            <a:off x="9326880" y="5477256"/>
            <a:ext cx="2441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04  总结与思考</a:t>
            </a:r>
            <a:endParaRPr sz="18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思辨一：参考答案一定该这样改吗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讨论一：“但是”一定要删吗？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V8-来源：例句及作者解释：CSRP附录F.7，PDF第16页；奖励按式（3）—（5）演算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来源：例句及作者解释：CSRP附录F.7，PDF第16页；奖励按式（3）—（5）演算。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V8-"/>
          <p:cNvSpPr txBox="1"/>
          <p:nvPr/>
        </p:nvSpPr>
        <p:spPr>
          <a:xfrm>
            <a:off x="713232" y="1234440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57888"/>
                </a:solidFill>
                <a:latin typeface="微软雅黑"/>
                <a:ea typeface="微软雅黑"/>
              </a:rPr>
              <a:t>原句 S  </a:t>
            </a:r>
            <a:r>
              <a:rPr sz="2500" b="0">
                <a:solidFill>
                  <a:srgbClr val="23384A"/>
                </a:solidFill>
                <a:latin typeface="微软雅黑"/>
                <a:ea typeface="微软雅黑"/>
              </a:rPr>
              <a:t>虽然天气很冷，</a:t>
            </a:r>
            <a:r>
              <a:rPr sz="2500" b="1">
                <a:solidFill>
                  <a:srgbClr val="AF7B25"/>
                </a:solidFill>
                <a:latin typeface="微软雅黑"/>
                <a:ea typeface="微软雅黑"/>
              </a:rPr>
              <a:t>但是</a:t>
            </a:r>
            <a:r>
              <a:rPr sz="2500" b="0">
                <a:solidFill>
                  <a:srgbClr val="23384A"/>
                </a:solidFill>
                <a:latin typeface="微软雅黑"/>
                <a:ea typeface="微软雅黑"/>
              </a:rPr>
              <a:t>他还是坚持锻炼。</a:t>
            </a:r>
            <a:endParaRPr sz="25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36" name="V8-"/>
          <p:cNvSpPr txBox="1"/>
          <p:nvPr/>
        </p:nvSpPr>
        <p:spPr>
          <a:xfrm>
            <a:off x="713232" y="1792224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657888"/>
                </a:solidFill>
                <a:latin typeface="微软雅黑"/>
                <a:ea typeface="微软雅黑"/>
              </a:rPr>
              <a:t>参考 G  </a:t>
            </a:r>
            <a:r>
              <a:rPr sz="2500" b="0">
                <a:solidFill>
                  <a:srgbClr val="23384A"/>
                </a:solidFill>
                <a:latin typeface="微软雅黑"/>
                <a:ea typeface="微软雅黑"/>
              </a:rPr>
              <a:t>虽然天气很冷，他还是坚持锻炼。</a:t>
            </a:r>
            <a:endParaRPr sz="2500" b="0">
              <a:solidFill>
                <a:srgbClr val="23384A"/>
              </a:solidFill>
              <a:latin typeface="微软雅黑"/>
              <a:ea typeface="微软雅黑"/>
            </a:endParaRPr>
          </a:p>
        </p:txBody>
      </p:sp>
      <p:sp>
        <p:nvSpPr>
          <p:cNvPr id="37" name="V8-论文认为关联词重复，因此删除“但是”。这是必要纠错，还是可选调整？"/>
          <p:cNvSpPr txBox="1"/>
          <p:nvPr/>
        </p:nvSpPr>
        <p:spPr>
          <a:xfrm>
            <a:off x="749808" y="2359152"/>
            <a:ext cx="10643616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论文认为关联词重复，因此删除“但是”。这是必要纠错，还是可选调整？</a:t>
            </a:r>
            <a:endParaRPr sz="18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8" name="V8-连线"/>
          <p:cNvCxnSpPr/>
          <p:nvPr/>
        </p:nvCxnSpPr>
        <p:spPr>
          <a:xfrm>
            <a:off x="731520" y="2944368"/>
            <a:ext cx="4956048" cy="0"/>
          </a:xfrm>
          <a:prstGeom prst="line">
            <a:avLst/>
          </a:prstGeom>
          <a:ln w="25400">
            <a:solidFill>
              <a:srgbClr val="8CA5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V8-保留原句  P = S"/>
          <p:cNvSpPr txBox="1"/>
          <p:nvPr/>
        </p:nvSpPr>
        <p:spPr>
          <a:xfrm>
            <a:off x="768096" y="3127248"/>
            <a:ext cx="48828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保留原句  P = S</a:t>
            </a:r>
            <a:endParaRPr sz="2400" b="1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−3"/>
          <p:cNvSpPr txBox="1"/>
          <p:nvPr/>
        </p:nvSpPr>
        <p:spPr>
          <a:xfrm>
            <a:off x="768096" y="3813048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23384A"/>
                </a:solidFill>
                <a:latin typeface="Arial" panose="020B0604020202090204"/>
                <a:ea typeface="微软雅黑"/>
                <a:cs typeface="微软雅黑"/>
              </a:rPr>
              <a:t>−3</a:t>
            </a:r>
            <a:endParaRPr sz="4900" b="1">
              <a:solidFill>
                <a:srgbClr val="23384A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1" name="V8-EAR 奖励"/>
          <p:cNvSpPr txBox="1"/>
          <p:nvPr/>
        </p:nvSpPr>
        <p:spPr>
          <a:xfrm>
            <a:off x="2532888" y="3995928"/>
            <a:ext cx="31272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EAR 奖励</a:t>
            </a:r>
            <a:endParaRPr sz="19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V8-A / B / C = 2 / 2 / 0    RI = 0"/>
          <p:cNvSpPr txBox="1"/>
          <p:nvPr/>
        </p:nvSpPr>
        <p:spPr>
          <a:xfrm>
            <a:off x="768096" y="47000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A / B / C = 2 / 2 / 0    RI = 0</a:t>
            </a:r>
            <a:endParaRPr sz="15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43" name="V8-连线"/>
          <p:cNvCxnSpPr/>
          <p:nvPr/>
        </p:nvCxnSpPr>
        <p:spPr>
          <a:xfrm>
            <a:off x="6492240" y="2944368"/>
            <a:ext cx="4956048" cy="0"/>
          </a:xfrm>
          <a:prstGeom prst="line">
            <a:avLst/>
          </a:prstGeom>
          <a:ln w="25400">
            <a:solidFill>
              <a:srgbClr val="075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8-按参考删除  P = G"/>
          <p:cNvSpPr txBox="1"/>
          <p:nvPr/>
        </p:nvSpPr>
        <p:spPr>
          <a:xfrm>
            <a:off x="6528816" y="3127248"/>
            <a:ext cx="48828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按参考删除  P = G</a:t>
            </a:r>
            <a:endParaRPr sz="24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V8-10"/>
          <p:cNvSpPr txBox="1"/>
          <p:nvPr/>
        </p:nvSpPr>
        <p:spPr>
          <a:xfrm>
            <a:off x="6528816" y="3813048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10</a:t>
            </a:r>
            <a:endParaRPr sz="49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6" name="V8-EAR 奖励"/>
          <p:cNvSpPr txBox="1"/>
          <p:nvPr/>
        </p:nvSpPr>
        <p:spPr>
          <a:xfrm>
            <a:off x="8293608" y="3995928"/>
            <a:ext cx="31272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EAR 奖励</a:t>
            </a:r>
            <a:endParaRPr sz="19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V8-A / B / C = 2 / 0 / 2    RI ≈ 1"/>
          <p:cNvSpPr txBox="1"/>
          <p:nvPr/>
        </p:nvSpPr>
        <p:spPr>
          <a:xfrm>
            <a:off x="6528816" y="4700016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57888"/>
                </a:solidFill>
                <a:latin typeface="Arial" panose="020B0604020202090204"/>
                <a:ea typeface="微软雅黑"/>
                <a:cs typeface="微软雅黑"/>
              </a:rPr>
              <a:t>A / B / C = 2 / 0 / 2    RI ≈ 1</a:t>
            </a:r>
            <a:endParaRPr sz="1550" b="0">
              <a:solidFill>
                <a:srgbClr val="657888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8" name="V8-或"/>
          <p:cNvSpPr txBox="1"/>
          <p:nvPr/>
        </p:nvSpPr>
        <p:spPr>
          <a:xfrm>
            <a:off x="5724144" y="3904487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或</a:t>
            </a:r>
            <a:endParaRPr sz="19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V8-按论文示例演算，非模型实测；未核实该例是否用于训练。"/>
          <p:cNvSpPr txBox="1"/>
          <p:nvPr/>
        </p:nvSpPr>
        <p:spPr>
          <a:xfrm>
            <a:off x="758952" y="5276088"/>
            <a:ext cx="10588752" cy="2651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按论文示例演算，非模型实测；未核实该例是否用于训练。</a:t>
            </a:r>
            <a:endParaRPr sz="15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V8-背景／分组"/>
          <p:cNvSpPr/>
          <p:nvPr/>
        </p:nvSpPr>
        <p:spPr>
          <a:xfrm>
            <a:off x="621792" y="5760720"/>
            <a:ext cx="41148" cy="347472"/>
          </a:xfrm>
          <a:prstGeom prst="rect">
            <a:avLst/>
          </a:prstGeom>
          <a:solidFill>
            <a:srgbClr val="075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8-若原句本身可接受，奖励反而会鼓励这次不必要的删除。"/>
          <p:cNvSpPr txBox="1"/>
          <p:nvPr/>
        </p:nvSpPr>
        <p:spPr>
          <a:xfrm>
            <a:off x="804672" y="5747004"/>
            <a:ext cx="105156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若原句本身可接受，奖励反而会鼓励这次不必要的删除。</a:t>
            </a:r>
            <a:endParaRPr sz="21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思辨二：怎样隔离η的贡献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讨论二：如何验证编辑效率项η的作用？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23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V8-来源：基于CSRP式（3）—（6）提出的补充实验设想，非原文实验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来源：基于CSRP式（3）—（6）提出的补充实验设想，非原文实验。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V8-背景／分组"/>
          <p:cNvSpPr/>
          <p:nvPr/>
        </p:nvSpPr>
        <p:spPr>
          <a:xfrm>
            <a:off x="749808" y="1197864"/>
            <a:ext cx="2761488" cy="347472"/>
          </a:xfrm>
          <a:prstGeom prst="rect">
            <a:avLst/>
          </a:prstGeom>
          <a:solidFill>
            <a:srgbClr val="FB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8-补充实验设想 · 未开展"/>
          <p:cNvSpPr txBox="1"/>
          <p:nvPr/>
        </p:nvSpPr>
        <p:spPr>
          <a:xfrm>
            <a:off x="822959" y="1202436"/>
            <a:ext cx="2615184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F7B25"/>
                </a:solidFill>
                <a:latin typeface="微软雅黑"/>
                <a:ea typeface="微软雅黑"/>
                <a:cs typeface="微软雅黑"/>
              </a:rPr>
              <a:t>补充实验设想 · 未开展</a:t>
            </a:r>
            <a:endParaRPr sz="1700" b="1">
              <a:solidFill>
                <a:srgbClr val="AF7B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V8-只在 0 &lt; RI ≤ 0.99 分支去掉 η"/>
          <p:cNvSpPr txBox="1"/>
          <p:nvPr/>
        </p:nvSpPr>
        <p:spPr>
          <a:xfrm>
            <a:off x="3904487" y="1197864"/>
            <a:ext cx="7516368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只在 0 &lt; RI ≤ 0.99 分支去掉 η</a:t>
            </a:r>
            <a:endParaRPr sz="22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V8-相同条件：初始模型、RL 数据、候选数、采样设置与 KL 系数。"/>
          <p:cNvSpPr txBox="1"/>
          <p:nvPr/>
        </p:nvSpPr>
        <p:spPr>
          <a:xfrm>
            <a:off x="777240" y="1856231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相同条件：初始模型、RL 数据、候选数、采样设置与 KL 系数。</a:t>
            </a:r>
            <a:endParaRPr sz="20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V8-固定训练步数、批量及候选数，记录生成词元数与 GPU 用时； / 若计算量差异较大，再补充相同计算预算的对照。"/>
          <p:cNvSpPr txBox="1"/>
          <p:nvPr/>
        </p:nvSpPr>
        <p:spPr>
          <a:xfrm>
            <a:off x="777240" y="2322576"/>
            <a:ext cx="106527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固定训练步数、批量及候选数，记录生成词元数与 GPU 用时；</a:t>
            </a:r>
            <a:endParaRPr sz="16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若计算量差异较大，再补充相同计算预算的对照。</a:t>
            </a:r>
            <a:endParaRPr sz="16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2" name="V8-连线"/>
          <p:cNvCxnSpPr/>
          <p:nvPr/>
        </p:nvCxnSpPr>
        <p:spPr>
          <a:xfrm>
            <a:off x="6089904" y="2935224"/>
            <a:ext cx="0" cy="219456"/>
          </a:xfrm>
          <a:prstGeom prst="line">
            <a:avLst/>
          </a:prstGeom>
          <a:ln w="1143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8-连线"/>
          <p:cNvCxnSpPr/>
          <p:nvPr/>
        </p:nvCxnSpPr>
        <p:spPr>
          <a:xfrm>
            <a:off x="3081528" y="3154680"/>
            <a:ext cx="6016752" cy="0"/>
          </a:xfrm>
          <a:prstGeom prst="line">
            <a:avLst/>
          </a:prstGeom>
          <a:ln w="11430">
            <a:solidFill>
              <a:srgbClr val="657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8-连线"/>
          <p:cNvCxnSpPr/>
          <p:nvPr/>
        </p:nvCxnSpPr>
        <p:spPr>
          <a:xfrm>
            <a:off x="3081528" y="3154680"/>
            <a:ext cx="0" cy="246888"/>
          </a:xfrm>
          <a:prstGeom prst="line">
            <a:avLst/>
          </a:prstGeom>
          <a:ln w="12700">
            <a:solidFill>
              <a:srgbClr val="1689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8-连线"/>
          <p:cNvCxnSpPr/>
          <p:nvPr/>
        </p:nvCxnSpPr>
        <p:spPr>
          <a:xfrm>
            <a:off x="9098280" y="3154680"/>
            <a:ext cx="0" cy="246888"/>
          </a:xfrm>
          <a:prstGeom prst="line">
            <a:avLst/>
          </a:prstGeom>
          <a:ln w="12700">
            <a:solidFill>
              <a:srgbClr val="075E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8-完整 EAR"/>
          <p:cNvSpPr txBox="1"/>
          <p:nvPr/>
        </p:nvSpPr>
        <p:spPr>
          <a:xfrm>
            <a:off x="786384" y="3493008"/>
            <a:ext cx="5065776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897F"/>
                </a:solidFill>
                <a:latin typeface="微软雅黑"/>
                <a:ea typeface="微软雅黑"/>
                <a:cs typeface="微软雅黑"/>
              </a:rPr>
              <a:t>完整 EAR</a:t>
            </a:r>
            <a:endParaRPr sz="2300" b="1">
              <a:solidFill>
                <a:srgbClr val="1689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V8-去掉 η（RI-only）"/>
          <p:cNvSpPr txBox="1"/>
          <p:nvPr/>
        </p:nvSpPr>
        <p:spPr>
          <a:xfrm>
            <a:off x="6391656" y="3493008"/>
            <a:ext cx="5029200" cy="3566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去掉 η（RI-only）</a:t>
            </a:r>
            <a:endParaRPr sz="23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V8-背景／分组"/>
          <p:cNvSpPr/>
          <p:nvPr/>
        </p:nvSpPr>
        <p:spPr>
          <a:xfrm>
            <a:off x="786384" y="3995928"/>
            <a:ext cx="5065776" cy="804672"/>
          </a:xfrm>
          <a:prstGeom prst="rect">
            <a:avLst/>
          </a:prstGeom>
          <a:solidFill>
            <a:srgbClr val="E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8-背景／分组"/>
          <p:cNvSpPr/>
          <p:nvPr/>
        </p:nvSpPr>
        <p:spPr>
          <a:xfrm>
            <a:off x="6391656" y="3995928"/>
            <a:ext cx="5029200" cy="804672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8-2 + 5RI × max(0,η)"/>
          <p:cNvSpPr txBox="1"/>
          <p:nvPr/>
        </p:nvSpPr>
        <p:spPr>
          <a:xfrm>
            <a:off x="960120" y="4096512"/>
            <a:ext cx="4736592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6897F"/>
                </a:solidFill>
                <a:latin typeface="Arial" panose="020B0604020202090204"/>
                <a:ea typeface="微软雅黑"/>
                <a:cs typeface="微软雅黑"/>
              </a:rPr>
              <a:t>2 + 5RI × max(0,η)</a:t>
            </a:r>
            <a:endParaRPr sz="2800" b="1">
              <a:solidFill>
                <a:srgbClr val="16897F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1" name="V8-2 + 5RI"/>
          <p:cNvSpPr txBox="1"/>
          <p:nvPr/>
        </p:nvSpPr>
        <p:spPr>
          <a:xfrm>
            <a:off x="6574536" y="4096512"/>
            <a:ext cx="4672584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2 + 5RI</a:t>
            </a:r>
            <a:endParaRPr sz="31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52" name="V8-其余奖励规则和判断顺序不变。"/>
          <p:cNvSpPr txBox="1"/>
          <p:nvPr/>
        </p:nvSpPr>
        <p:spPr>
          <a:xfrm>
            <a:off x="777240" y="5065776"/>
            <a:ext cx="106527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其余奖励规则和判断顺序不变。</a:t>
            </a:r>
            <a:endParaRPr sz="19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V8-比较纠错效果（P / R / F）、正确句误改率、编辑距离，以及原意保留情况。"/>
          <p:cNvSpPr txBox="1"/>
          <p:nvPr/>
        </p:nvSpPr>
        <p:spPr>
          <a:xfrm>
            <a:off x="804672" y="5623560"/>
            <a:ext cx="105887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比较纠错效果（P / R / F）、正确句误改率、编辑距离，以及原意保留情况。</a:t>
            </a:r>
            <a:endParaRPr sz="20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总结与两个讨论问题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总结与讨论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V8-来源：CSRP，§3、表5及附录F.7；“我的评价”和讨论问题为汇报者分析。"/>
          <p:cNvSpPr txBox="1"/>
          <p:nvPr/>
        </p:nvSpPr>
        <p:spPr>
          <a:xfrm>
            <a:off x="621792" y="6272784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来源：CSRP，§3、表5及附录F.7；“我的评价”和讨论问题为汇报者分析。</a:t>
            </a:r>
            <a:endParaRPr sz="106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V8-修正错误，也要控制 / 不必要的改动。"/>
          <p:cNvSpPr txBox="1"/>
          <p:nvPr/>
        </p:nvSpPr>
        <p:spPr>
          <a:xfrm>
            <a:off x="768096" y="1344168"/>
            <a:ext cx="6976872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修正错误，也要控制</a:t>
            </a:r>
            <a:endParaRPr sz="33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不必要的改动。</a:t>
            </a:r>
            <a:endParaRPr sz="33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V8-CPT  →  CoT-SFT  →  EAR + GRPO"/>
          <p:cNvSpPr txBox="1"/>
          <p:nvPr/>
        </p:nvSpPr>
        <p:spPr>
          <a:xfrm>
            <a:off x="786384" y="2651760"/>
            <a:ext cx="6656832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3384A"/>
                </a:solidFill>
                <a:latin typeface="Arial" panose="020B0604020202090204"/>
                <a:ea typeface="微软雅黑"/>
                <a:cs typeface="微软雅黑"/>
              </a:rPr>
              <a:t>CPT  →  CoT-SFT  →  EAR + GRPO</a:t>
            </a:r>
            <a:endParaRPr sz="2300" b="1">
              <a:solidFill>
                <a:srgbClr val="23384A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cxnSp>
        <p:nvCxnSpPr>
          <p:cNvPr id="39" name="V8-连线"/>
          <p:cNvCxnSpPr/>
          <p:nvPr/>
        </p:nvCxnSpPr>
        <p:spPr>
          <a:xfrm>
            <a:off x="8019288" y="1353312"/>
            <a:ext cx="0" cy="1901952"/>
          </a:xfrm>
          <a:prstGeom prst="line">
            <a:avLst/>
          </a:prstGeom>
          <a:ln w="1143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8-NACGEC · 加入 RL 后"/>
          <p:cNvSpPr txBox="1"/>
          <p:nvPr/>
        </p:nvSpPr>
        <p:spPr>
          <a:xfrm>
            <a:off x="8348472" y="1389888"/>
            <a:ext cx="303580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NACGEC · 加入 RL 后</a:t>
            </a:r>
            <a:endParaRPr sz="170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V8-+8.44"/>
          <p:cNvSpPr txBox="1"/>
          <p:nvPr/>
        </p:nvSpPr>
        <p:spPr>
          <a:xfrm>
            <a:off x="8302752" y="1892807"/>
            <a:ext cx="3035808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075EA5"/>
                </a:solidFill>
                <a:latin typeface="Arial" panose="020B0604020202090204"/>
                <a:ea typeface="微软雅黑"/>
                <a:cs typeface="微软雅黑"/>
              </a:rPr>
              <a:t>+8.44</a:t>
            </a:r>
            <a:endParaRPr sz="4700" b="1">
              <a:solidFill>
                <a:srgbClr val="075EA5"/>
              </a:solidFill>
              <a:latin typeface="Arial" panose="020B0604020202090204"/>
              <a:ea typeface="微软雅黑"/>
              <a:cs typeface="微软雅黑"/>
            </a:endParaRPr>
          </a:p>
        </p:txBody>
      </p:sp>
      <p:sp>
        <p:nvSpPr>
          <p:cNvPr id="42" name="V8-精确率提升（个百分点）"/>
          <p:cNvSpPr txBox="1"/>
          <p:nvPr/>
        </p:nvSpPr>
        <p:spPr>
          <a:xfrm>
            <a:off x="8357616" y="2798064"/>
            <a:ext cx="29443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57888"/>
                </a:solidFill>
                <a:latin typeface="微软雅黑"/>
                <a:ea typeface="微软雅黑"/>
                <a:cs typeface="微软雅黑"/>
              </a:rPr>
              <a:t>精确率提升（个百分点）</a:t>
            </a:r>
            <a:endParaRPr sz="1650" b="0">
              <a:solidFill>
                <a:srgbClr val="657888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3" name="V8-连线"/>
          <p:cNvCxnSpPr/>
          <p:nvPr/>
        </p:nvCxnSpPr>
        <p:spPr>
          <a:xfrm>
            <a:off x="786384" y="3520440"/>
            <a:ext cx="10625328" cy="0"/>
          </a:xfrm>
          <a:prstGeom prst="line">
            <a:avLst/>
          </a:prstGeom>
          <a:ln w="10160">
            <a:solidFill>
              <a:srgbClr val="D7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8-值得借鉴"/>
          <p:cNvSpPr txBox="1"/>
          <p:nvPr/>
        </p:nvSpPr>
        <p:spPr>
          <a:xfrm>
            <a:off x="804672" y="3803904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897F"/>
                </a:solidFill>
                <a:latin typeface="微软雅黑"/>
                <a:ea typeface="微软雅黑"/>
                <a:cs typeface="微软雅黑"/>
              </a:rPr>
              <a:t>值得借鉴</a:t>
            </a:r>
            <a:endParaRPr sz="2200" b="1">
              <a:solidFill>
                <a:srgbClr val="1689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V8-把不必要的改动 / 也纳入训练奖励。"/>
          <p:cNvSpPr txBox="1"/>
          <p:nvPr/>
        </p:nvSpPr>
        <p:spPr>
          <a:xfrm>
            <a:off x="804672" y="4297680"/>
            <a:ext cx="4864608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把不必要的改动</a:t>
            </a:r>
            <a:endParaRPr sz="23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也纳入训练奖励。</a:t>
            </a:r>
            <a:endParaRPr sz="23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V8-仍需验证"/>
          <p:cNvSpPr txBox="1"/>
          <p:nvPr/>
        </p:nvSpPr>
        <p:spPr>
          <a:xfrm>
            <a:off x="6437376" y="3803904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F7B25"/>
                </a:solidFill>
                <a:latin typeface="微软雅黑"/>
                <a:ea typeface="微软雅黑"/>
                <a:cs typeface="微软雅黑"/>
              </a:rPr>
              <a:t>仍需验证</a:t>
            </a:r>
            <a:endParaRPr sz="2200" b="1">
              <a:solidFill>
                <a:srgbClr val="AF7B2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V8-参考答案的质量， / 以及 η 带来的额外收益。"/>
          <p:cNvSpPr txBox="1"/>
          <p:nvPr/>
        </p:nvSpPr>
        <p:spPr>
          <a:xfrm>
            <a:off x="6437376" y="4297680"/>
            <a:ext cx="48920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参考答案的质量，</a:t>
            </a:r>
            <a:endParaRPr sz="23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3384A"/>
                </a:solidFill>
                <a:latin typeface="微软雅黑"/>
                <a:ea typeface="微软雅黑"/>
                <a:cs typeface="微软雅黑"/>
              </a:rPr>
              <a:t>以及 η 带来的额外收益。</a:t>
            </a:r>
            <a:endParaRPr sz="2300" b="0">
              <a:solidFill>
                <a:srgbClr val="2338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V8-讨论①  参考答案中的修改，是否都必要？"/>
          <p:cNvSpPr txBox="1"/>
          <p:nvPr/>
        </p:nvSpPr>
        <p:spPr>
          <a:xfrm>
            <a:off x="795528" y="5596128"/>
            <a:ext cx="1064361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讨论①  参考答案中的修改，是否都必要？</a:t>
            </a:r>
            <a:endParaRPr sz="1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V8-讨论②  去掉 η 后，纠错效果会怎样变化？"/>
          <p:cNvSpPr txBox="1"/>
          <p:nvPr/>
        </p:nvSpPr>
        <p:spPr>
          <a:xfrm>
            <a:off x="795528" y="5971032"/>
            <a:ext cx="1064361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75EA5"/>
                </a:solidFill>
                <a:latin typeface="微软雅黑"/>
                <a:ea typeface="微软雅黑"/>
                <a:cs typeface="微软雅黑"/>
              </a:rPr>
              <a:t>讨论②  去掉 η 后，纠错效果会怎样变化？</a:t>
            </a:r>
            <a:endParaRPr sz="1900" b="1">
              <a:solidFill>
                <a:srgbClr val="075EA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封面：汇报人：____     指导老师：____"/>
          <p:cNvSpPr>
            <a:spLocks noGrp="1"/>
          </p:cNvSpPr>
          <p:nvPr/>
        </p:nvSpPr>
        <p:spPr>
          <a:xfrm>
            <a:off x="619125" y="56102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汇报人：</a:t>
            </a:r>
            <a:r>
              <a:rPr lang="zh-CN"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胡庆林</a:t>
            </a:r>
            <a:r>
              <a: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     指导老师：</a:t>
            </a:r>
            <a:r>
              <a:rPr lang="zh-CN"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张仰</a:t>
            </a:r>
            <a:r>
              <a:rPr lang="zh-CN"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森</a:t>
            </a:r>
            <a:endParaRPr lang="zh-CN" sz="195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原定汇报日期（待确认）"/>
          <p:cNvSpPr>
            <a:spLocks noGrp="1"/>
          </p:cNvSpPr>
          <p:nvPr/>
        </p:nvSpPr>
        <p:spPr>
          <a:xfrm>
            <a:off x="619125" y="6019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汇报日期：</a:t>
            </a:r>
            <a:r>
              <a:rPr lang="en-US"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2026.10.18</a:t>
            </a:r>
            <a:endParaRPr lang="en-US"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结束页：感谢聆听"/>
          <p:cNvSpPr>
            <a:spLocks noGrp="1"/>
          </p:cNvSpPr>
          <p:nvPr/>
        </p:nvSpPr>
        <p:spPr>
          <a:xfrm>
            <a:off x="619125" y="2619375"/>
            <a:ext cx="10953750" cy="876300"/>
          </a:xfrm>
          <a:prstGeom prst="rect">
            <a:avLst/>
          </a:prstGeom>
          <a:noFill/>
          <a:ln w="0">
            <a:noFill/>
          </a:ln>
        </p:spPr>
        <p:txBody>
          <a:bodyPr wrap="none" anchor="ctr">
            <a:no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感谢聆听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结束页：欢迎老师、同学提问与讨论"/>
          <p:cNvSpPr>
            <a:spLocks noGrp="1"/>
          </p:cNvSpPr>
          <p:nvPr/>
        </p:nvSpPr>
        <p:spPr>
          <a:xfrm>
            <a:off x="619125" y="352425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none" anchor="ctr">
            <a:no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欢迎老师、同学提问与讨论</a:t>
            </a:r>
            <a:endParaRPr sz="30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奖励规则与实现边界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答疑备用：奖励的特殊情况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26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9" name="表格 38"/>
          <p:cNvGraphicFramePr/>
          <p:nvPr/>
        </p:nvGraphicFramePr>
        <p:xfrm>
          <a:off x="495300" y="1085850"/>
          <a:ext cx="11163300" cy="3276600"/>
        </p:xfrm>
        <a:graphic>
          <a:graphicData uri="http://schemas.openxmlformats.org/drawingml/2006/table">
            <a:tbl>
              <a:tblPr/>
              <a:tblGrid>
                <a:gridCol w="3905250"/>
                <a:gridCol w="7258050"/>
              </a:tblGrid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输入/输出条件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论文奖励规则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</a:tr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原句有错，输出非空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先RI &gt; 0.99：10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再0 &lt; RI ≤ 0.99：2 + 5RI × max(0,η)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 ≤ 0：−3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原句正确（p5文字）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保持不变：+2    发生修改：−2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空输出（式5）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−2；与其他条件重叠时，判断顺序需核实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式5条件有重叠。教学脚本的优先级约定不代表已核实的作者代码。"/>
          <p:cNvSpPr>
            <a:spLocks noGrp="1"/>
          </p:cNvSpPr>
          <p:nvPr/>
        </p:nvSpPr>
        <p:spPr>
          <a:xfrm>
            <a:off x="619125" y="46863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式（5）的部分条件重叠，具体判断顺序需查看实现。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I &gt; 0.99不对任意长句保证完全匹配：A=101、B=1时也能超过阈值。"/>
          <p:cNvSpPr>
            <a:spLocks noGrp="1"/>
          </p:cNvSpPr>
          <p:nvPr/>
        </p:nvSpPr>
        <p:spPr>
          <a:xfrm>
            <a:off x="619125" y="5400675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RI&gt;0.99不一定等于完全匹配。例如A=101、B=1时，仍满足这一阈值。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来源：PDF p4式3–5、p5 §3.3.2及式6；教学整理的优先级不是已核实的作者代码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来源：CSRP，式（3）—（5）及§3.3.2，PDF第4—5页。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V8-返回结束页">
            <a:hlinkClick r:id="rId1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1" action="ppaction://hlinksldjump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奖励与编辑效率的详细核算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答疑备用：奖励与编辑效率的详细核算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27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S：我喜换吃平果。    G：我喜欢吃苹果。    ε = 0.000001"/>
          <p:cNvSpPr>
            <a:spLocks noGrp="1"/>
          </p:cNvSpPr>
          <p:nvPr/>
        </p:nvSpPr>
        <p:spPr>
          <a:xfrm>
            <a:off x="619125" y="1038225"/>
            <a:ext cx="10953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S：我喜换吃平果。    G：我喜欢吃苹果。    ε = 0.000001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1" name="表格 40"/>
          <p:cNvGraphicFramePr/>
          <p:nvPr/>
        </p:nvGraphicFramePr>
        <p:xfrm>
          <a:off x="495300" y="1628775"/>
          <a:ext cx="11163300" cy="2914650"/>
        </p:xfrm>
        <a:graphic>
          <a:graphicData uri="http://schemas.openxmlformats.org/drawingml/2006/table">
            <a:tbl>
              <a:tblPr/>
              <a:tblGrid>
                <a:gridCol w="3857625"/>
                <a:gridCol w="1428750"/>
                <a:gridCol w="1952625"/>
                <a:gridCol w="1952625"/>
                <a:gridCol w="1971675"/>
              </a:tblGrid>
              <a:tr h="58293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 P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A/B/C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η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奖励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</a:tr>
              <a:tr h="58293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我喜换吃平果。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2/2/0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我喜欢吃平果。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2/1/1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0.49999975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0.99999900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4.49999625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我很喜欢吃苹果。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2/1/3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0.49999975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0.33333322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2.83333264</a:t>
                      </a:r>
                      <a:endParaRPr sz="16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我喜欢吃苹果。</a:t>
                      </a:r>
                      <a:endParaRPr sz="165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2/0/2</a:t>
                      </a:r>
                      <a:endParaRPr sz="165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0.99999950</a:t>
                      </a:r>
                      <a:endParaRPr sz="165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0.99999950</a:t>
                      </a:r>
                      <a:endParaRPr sz="165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  <a:endParaRPr sz="165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第二行：2 + 5 × [1/(2+ε)] × [1/(1+ε)] ≈ 4.50&#10;第三行：2 + 5"/>
          <p:cNvSpPr>
            <a:spLocks noGrp="1"/>
          </p:cNvSpPr>
          <p:nvPr/>
        </p:nvSpPr>
        <p:spPr>
          <a:xfrm>
            <a:off x="619125" y="4829175"/>
            <a:ext cx="10953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第二行：2 + 5 × [1/(2+ε)] × [1/(1+ε)] ≈ 4.50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3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第三行：2 + 5 × [1/(2+ε)] × [1/(3+ε)] ≈ 2.83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第四行先触发RI &gt; 0.99，直接得10。"/>
          <p:cNvSpPr>
            <a:spLocks noGrp="1"/>
          </p:cNvSpPr>
          <p:nvPr/>
        </p:nvSpPr>
        <p:spPr>
          <a:xfrm>
            <a:off x="619125" y="5715000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第四行先触发RI &gt; 0.99，直接得10。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来源：PDF p4式3–5；教学构造，字符Levenshtein距离核算；ε=10⁻⁶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来源：按CSRP式（3）—（5）及字符Levenshtein距离演算；ε=10⁻⁶。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V8-返回结束页">
            <a:hlinkClick r:id="rId1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1" action="ppaction://hlinksldjump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F分数的一致性核查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答疑备用：报告分数与公式复算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28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0" name="表格 39"/>
          <p:cNvGraphicFramePr/>
          <p:nvPr/>
        </p:nvGraphicFramePr>
        <p:xfrm>
          <a:off x="495300" y="1085850"/>
          <a:ext cx="11163300" cy="2638425"/>
        </p:xfrm>
        <a:graphic>
          <a:graphicData uri="http://schemas.openxmlformats.org/drawingml/2006/table">
            <a:tbl>
              <a:tblPr/>
              <a:tblGrid>
                <a:gridCol w="3810000"/>
                <a:gridCol w="2952750"/>
                <a:gridCol w="2200275"/>
                <a:gridCol w="2200275"/>
              </a:tblGrid>
              <a:tr h="65960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出处与配置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 / R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论文报告F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公式复算F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</a:tr>
              <a:tr h="65960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表2：HW-CGEC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50.95 / 32.29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45.26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45.67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表4：CPT+SFT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（含RL数据）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52.20 / 36.00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47.21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47.89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表5：CSCD完整模型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66.22 / 53.20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59.61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59.00</a:t>
                      </a:r>
                      <a:endParaRPr sz="18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9525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F₀.₅ = 1.25PR / (0.25P + R)     F₁ = 2PR / (P + R)"/>
          <p:cNvSpPr>
            <a:spLocks noGrp="1"/>
          </p:cNvSpPr>
          <p:nvPr/>
        </p:nvSpPr>
        <p:spPr>
          <a:xfrm>
            <a:off x="619125" y="4124325"/>
            <a:ext cx="1095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F₀.₅ = 1.25PR / (0.25P + R)     F₁ = 2PR / (P + R)</a:t>
            </a:r>
            <a:endParaRPr sz="21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上述差异超过两位小数舍入范围。前提是P、R、F来自同一次汇总计分。"/>
          <p:cNvSpPr>
            <a:spLocks noGrp="1"/>
          </p:cNvSpPr>
          <p:nvPr/>
        </p:nvSpPr>
        <p:spPr>
          <a:xfrm>
            <a:off x="619125" y="4762500"/>
            <a:ext cx="109537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上述差异超过两位小数舍入范围。前提是P、R、F来自同一次汇总计分。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具体原因与正确列待作者核实。本稿保留报告值，不自行修订论文结果。"/>
          <p:cNvSpPr>
            <a:spLocks noGrp="1"/>
          </p:cNvSpPr>
          <p:nvPr/>
        </p:nvSpPr>
        <p:spPr>
          <a:xfrm>
            <a:off x="619125" y="5553075"/>
            <a:ext cx="1095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差异原因尚不清楚，需结合原始预测和评分方式核对；正文沿用论文报告值。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来源：PDF p6表2、p8表4–5、p14式7；两列保留，不认定哪列是作者真实结果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来源：CSRP，表2、表4—5及式（7）；复算前提见本页说明。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V8-返回结束页">
            <a:hlinkClick r:id="rId1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1" action="ppaction://hlinksldjump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训练成本与候选数取舍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答疑备用：减少候选数能节省多少成本？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29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9" name="表格 38"/>
          <p:cNvGraphicFramePr/>
          <p:nvPr/>
        </p:nvGraphicFramePr>
        <p:xfrm>
          <a:off x="619125" y="1190625"/>
          <a:ext cx="10953750" cy="2286000"/>
        </p:xfrm>
        <a:graphic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  <a:endParaRPr sz="195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作者报告</a:t>
                      </a:r>
                      <a:endParaRPr sz="195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训练资源</a:t>
                      </a:r>
                      <a:endParaRPr sz="19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× H800 80GB</a:t>
                      </a:r>
                      <a:endParaRPr sz="19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训练轮次</a:t>
                      </a:r>
                      <a:endParaRPr sz="19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CPT 3轮；SFT 3轮；RL 8轮</a:t>
                      </a:r>
                      <a:endParaRPr sz="19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默认RL候选数</a:t>
                      </a:r>
                      <a:endParaRPr sz="19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每个训练原句采样8个</a:t>
                      </a:r>
                      <a:endParaRPr sz="195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成本取舍：候选数8 → 4"/>
          <p:cNvSpPr>
            <a:spLocks noGrp="1"/>
          </p:cNvSpPr>
          <p:nvPr/>
        </p:nvSpPr>
        <p:spPr>
          <a:xfrm>
            <a:off x="619125" y="38766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成本取舍：候选数8 → 4</a:t>
            </a:r>
            <a:endParaRPr sz="225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NACGEC F₀.₅：50.99 → 50.61（下降0.38分）"/>
          <p:cNvSpPr>
            <a:spLocks noGrp="1"/>
          </p:cNvSpPr>
          <p:nvPr/>
        </p:nvSpPr>
        <p:spPr>
          <a:xfrm>
            <a:off x="619125" y="44386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NACGEC F₀.₅：50.99 → 50.61（下降0.38分）</a:t>
            </a:r>
            <a:endParaRPr sz="21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L采样成本减少约一半。"/>
          <p:cNvSpPr>
            <a:spLocks noGrp="1"/>
          </p:cNvSpPr>
          <p:nvPr/>
        </p:nvSpPr>
        <p:spPr>
          <a:xfrm>
            <a:off x="619125" y="49815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RL采样成本减少约一半。</a:t>
            </a:r>
            <a:endParaRPr sz="210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这是采样成本，不等于总训练耗时减半；EAR效率指编辑效率。"/>
          <p:cNvSpPr>
            <a:spLocks noGrp="1"/>
          </p:cNvSpPr>
          <p:nvPr/>
        </p:nvSpPr>
        <p:spPr>
          <a:xfrm>
            <a:off x="619125" y="5591175"/>
            <a:ext cx="1095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节省的是RL采样开销，不代表总训练时间减半。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来源：PDF p14附录D，p9 §6(2)；报告值，非汇报者复现实验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来源：CSRP，附录D（PDF第14页）、§6（PDF第9页）。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V8-返回结束页">
            <a:hlinkClick r:id="rId1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1" action="ppaction://hlinksldjump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教师解释的人工质量评估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答疑备用：教师解释的人工质量评估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30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表格 37"/>
          <p:cNvGraphicFramePr/>
          <p:nvPr/>
        </p:nvGraphicFramePr>
        <p:xfrm>
          <a:off x="619125" y="1219200"/>
          <a:ext cx="10953750" cy="2714625"/>
        </p:xfrm>
        <a:graphic>
          <a:graphicData uri="http://schemas.openxmlformats.org/drawingml/2006/table">
            <a:tbl>
              <a:tblPr/>
              <a:tblGrid>
                <a:gridCol w="5191125"/>
                <a:gridCol w="5762625"/>
              </a:tblGrid>
              <a:tr h="67865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教师蒸馏解释评估</a:t>
                      </a:r>
                      <a:endParaRPr sz="210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作者报告</a:t>
                      </a:r>
                      <a:endParaRPr sz="2100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</a:tr>
              <a:tr h="67865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样本与标注者</a:t>
                      </a:r>
                      <a:endParaRPr sz="21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抽样1,000条；3名专家</a:t>
                      </a:r>
                      <a:endParaRPr sz="21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至少2名标注者判为忠实</a:t>
                      </a:r>
                      <a:endParaRPr sz="21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95.2%</a:t>
                      </a:r>
                      <a:endParaRPr sz="21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平均成对一致性</a:t>
                      </a:r>
                      <a:endParaRPr sz="21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κ = 0.81</a:t>
                      </a:r>
                      <a:endParaRPr sz="2100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评价对象：教师蒸馏解释的语言忠实性。"/>
          <p:cNvSpPr>
            <a:spLocks noGrp="1"/>
          </p:cNvSpPr>
          <p:nvPr/>
        </p:nvSpPr>
        <p:spPr>
          <a:xfrm>
            <a:off x="619125" y="441007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评价对象：教师解释是否正确、完整，且与修改一致。</a:t>
            </a:r>
            <a:endParaRPr sz="21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95.2%不是模型内部推理正确率，κ反映标注者一致性。"/>
          <p:cNvSpPr>
            <a:spLocks noGrp="1"/>
          </p:cNvSpPr>
          <p:nvPr/>
        </p:nvSpPr>
        <p:spPr>
          <a:xfrm>
            <a:off x="619125" y="5029200"/>
            <a:ext cx="1095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95.2%为多数通过比例；κ=0.81表示标注一致性。</a:t>
            </a:r>
            <a:endParaRPr sz="195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不能据此保证最终模型在任意输入上的解释都正确。"/>
          <p:cNvSpPr>
            <a:spLocks noGrp="1"/>
          </p:cNvSpPr>
          <p:nvPr/>
        </p:nvSpPr>
        <p:spPr>
          <a:xfrm>
            <a:off x="619125" y="58007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这项评估针对教师解释，不等同于最终模型的解释正确率。</a:t>
            </a:r>
            <a:endParaRPr sz="1725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来源：PDF p17附录G、表8；评估对象与统计按原文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来源：CSRP，附录G、表8，PDF第17页。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V8-返回结束页">
            <a:hlinkClick r:id="rId1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1" action="ppaction://hlinksldjump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CPT语料处理原图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答疑备用：CPT语料处理原图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31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632" y="1104900"/>
            <a:ext cx="7519737" cy="4000500"/>
          </a:xfrm>
          <a:prstGeom prst="rect">
            <a:avLst/>
          </a:prstGeom>
        </p:spPr>
      </p:pic>
      <p:sp>
        <p:nvSpPr>
          <p:cNvPr id="15" name="图中连线"/>
          <p:cNvSpPr>
            <a:spLocks noGrp="1"/>
          </p:cNvSpPr>
          <p:nvPr/>
        </p:nvSpPr>
        <p:spPr>
          <a:xfrm>
            <a:off x="8486775" y="1304925"/>
            <a:ext cx="0" cy="3838575"/>
          </a:xfrm>
          <a:prstGeom prst="line">
            <a:avLst/>
          </a:prstGeom>
          <a:noFill/>
          <a:ln w="11430">
            <a:solidFill>
              <a:srgbClr val="DBE2E9"/>
            </a:solidFill>
          </a:ln>
        </p:spPr>
        <p:txBody>
          <a:bodyPr/>
          <a:p/>
        </p:txBody>
      </p:sp>
      <p:sp>
        <p:nvSpPr>
          <p:cNvPr id="16" name="5,901,700"/>
          <p:cNvSpPr>
            <a:spLocks noGrp="1"/>
          </p:cNvSpPr>
          <p:nvPr/>
        </p:nvSpPr>
        <p:spPr>
          <a:xfrm>
            <a:off x="8858250" y="140970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33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5,901,700</a:t>
            </a:r>
            <a:endParaRPr sz="33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清洗后的样本数"/>
          <p:cNvSpPr>
            <a:spLocks noGrp="1"/>
          </p:cNvSpPr>
          <p:nvPr/>
        </p:nvSpPr>
        <p:spPr>
          <a:xfrm>
            <a:off x="8858250" y="21526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清洗后的样本数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约 80% / 20%"/>
          <p:cNvSpPr>
            <a:spLocks noGrp="1"/>
          </p:cNvSpPr>
          <p:nvPr/>
        </p:nvSpPr>
        <p:spPr>
          <a:xfrm>
            <a:off x="8858250" y="3181350"/>
            <a:ext cx="276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7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68B82"/>
                </a:solidFill>
                <a:latin typeface="微软雅黑"/>
                <a:ea typeface="微软雅黑"/>
                <a:cs typeface="微软雅黑"/>
              </a:rPr>
              <a:t>约 80% / 20%</a:t>
            </a:r>
            <a:endParaRPr sz="2700" b="1">
              <a:solidFill>
                <a:srgbClr val="168B8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通用语料 / 纠错相关语料"/>
          <p:cNvSpPr>
            <a:spLocks noGrp="1"/>
          </p:cNvSpPr>
          <p:nvPr/>
        </p:nvSpPr>
        <p:spPr>
          <a:xfrm>
            <a:off x="8858250" y="3790950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通用／纠错相关语料</a:t>
            </a:r>
            <a:endParaRPr sz="1800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Qwen3-4B继续通过语言建模学习这些文本，得到CPT模型。"/>
          <p:cNvSpPr>
            <a:spLocks noGrp="1"/>
          </p:cNvSpPr>
          <p:nvPr/>
        </p:nvSpPr>
        <p:spPr>
          <a:xfrm>
            <a:off x="619125" y="5514975"/>
            <a:ext cx="10906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0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Qwen3-4B继续通过语言建模学习这些文本，得到CPT模型。</a:t>
            </a:r>
            <a:endParaRPr sz="20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来源：原论文图3，PDF p3，p4式1；精确语料数量在备用页展示，主讲见第7页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来源：CSRP，图3，PDF第3页（原图）；主讲说明见第7页。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V8-返回结束页">
            <a:hlinkClick r:id="rId2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2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CoT构造与监督训练原图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答疑备用：CoT构造与监督训练原图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32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1076325"/>
            <a:ext cx="9715500" cy="4552950"/>
          </a:xfrm>
          <a:prstGeom prst="rect">
            <a:avLst/>
          </a:prstGeom>
        </p:spPr>
      </p:pic>
      <p:sp>
        <p:nvSpPr>
          <p:cNvPr id="15" name="教师结合 S 和 G 生成 R，学生学习 S → [R, G]。"/>
          <p:cNvSpPr>
            <a:spLocks noGrp="1"/>
          </p:cNvSpPr>
          <p:nvPr/>
        </p:nvSpPr>
        <p:spPr>
          <a:xfrm>
            <a:off x="619125" y="56483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原图箭头表示监督训练路径；实际使用学生只输入 S，不需要 G。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来源：原论文图4，PDF p4；教师构造/学生监督中文解释见第8页；流程口径见第32页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来源：CSRP，图4，PDF第4页（原图）；中文说明见第8页，流程疑问</a:t>
            </a: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2" action="ppaction://hlinksldjump"/>
              </a:rPr>
              <a:t>见第33页</a:t>
            </a: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V8-返回结束页">
            <a:hlinkClick r:id="rId3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3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3" action="ppaction://hlinksldjump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" name="标题：答疑备用：数据规模与测试过滤口径"/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答疑备用：数据数量与构造流程中的疑问</a:t>
            </a:r>
            <a:endParaRPr sz="2700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页码"/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33</a:t>
            </a:r>
            <a:endParaRPr sz="15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① SFT数量的关系尚未解释清楚"/>
          <p:cNvSpPr>
            <a:spLocks noGrp="1"/>
          </p:cNvSpPr>
          <p:nvPr/>
        </p:nvSpPr>
        <p:spPr>
          <a:xfrm>
            <a:off x="619125" y="1123950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① 两处SFT样本数不同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1" name="表格 40"/>
          <p:cNvGraphicFramePr/>
          <p:nvPr/>
        </p:nvGraphicFramePr>
        <p:xfrm>
          <a:off x="619125" y="1600200"/>
          <a:ext cx="10953750" cy="1600200"/>
        </p:xfrm>
        <a:graphic>
          <a:graphicData uri="http://schemas.openxmlformats.org/drawingml/2006/table">
            <a:tbl>
              <a:tblPr/>
              <a:tblGrid>
                <a:gridCol w="3190875"/>
                <a:gridCol w="7762875"/>
              </a:tblGrid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出处</a:t>
                      </a:r>
                      <a:endParaRPr sz="1875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75EA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样本数量</a:t>
                      </a:r>
                      <a:endParaRPr sz="1875" b="1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1F6FA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PDF p12表6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总样本336,604；SFT 269,283；RL 67,321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PDF p15附录E.5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3384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约314K样本用于SFT</a:t>
                      </a:r>
                      <a:endParaRPr sz="1875" b="0">
                        <a:solidFill>
                          <a:srgbClr val="17304E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5250" marR="762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7E1E8"/>
                      </a:solidFill>
                    </a:lnT>
                    <a:lnB w="6350">
                      <a:solidFill>
                        <a:srgbClr val="D7E1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② 附录提到剔除23条测试样本"/>
          <p:cNvSpPr>
            <a:spLocks noGrp="1"/>
          </p:cNvSpPr>
          <p:nvPr/>
        </p:nvSpPr>
        <p:spPr>
          <a:xfrm>
            <a:off x="619125" y="35528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② 附录提到剔除23条测试样本</a:t>
            </a:r>
            <a:endParaRPr sz="202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表6测试样本：11,969 → 11,946。需明确所属测试集，&#10;以及各基线是否采用相同样本列表。"/>
          <p:cNvSpPr>
            <a:spLocks noGrp="1"/>
          </p:cNvSpPr>
          <p:nvPr/>
        </p:nvSpPr>
        <p:spPr>
          <a:xfrm>
            <a:off x="619125" y="4067175"/>
            <a:ext cx="109537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表6测试样本：11,969 → 11,946。需明确所属测试集，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buNone/>
              <a:def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以及各基线是否采用相同样本列表。</a:t>
            </a:r>
            <a:endParaRPr sz="187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③ 教师数据构造的流程描述需对齐"/>
          <p:cNvSpPr>
            <a:spLocks noGrp="1"/>
          </p:cNvSpPr>
          <p:nvPr/>
        </p:nvSpPr>
        <p:spPr>
          <a:xfrm>
            <a:off x="619125" y="5095875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05CAB"/>
                </a:solidFill>
                <a:latin typeface="微软雅黑"/>
                <a:ea typeface="微软雅黑"/>
                <a:cs typeface="微软雅黑"/>
              </a:rPr>
              <a:t>③ 教师模型输入的描述不同</a:t>
            </a:r>
            <a:endParaRPr sz="1875" b="1">
              <a:solidFill>
                <a:srgbClr val="005CA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正文结合(S,G)生成R；附录E.4先生成后与G核对。需确认实际提示与筛选流程。"/>
          <p:cNvSpPr>
            <a:spLocks noGrp="1"/>
          </p:cNvSpPr>
          <p:nvPr/>
        </p:nvSpPr>
        <p:spPr>
          <a:xfrm>
            <a:off x="619125" y="5534025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7304E"/>
                </a:solidFill>
                <a:latin typeface="微软雅黑"/>
                <a:ea typeface="微软雅黑"/>
                <a:cs typeface="微软雅黑"/>
              </a:rPr>
              <a:t>正文：结合S和G生成R；附录E.4：先生成，再与G核对。实际输入和筛选顺序尚不清楚。</a:t>
            </a:r>
            <a:endParaRPr sz="1725" b="0">
              <a:solidFill>
                <a:srgbClr val="1730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来源：PDF p12表6与CoT增强过滤说明，p15附录E.4–E.5；待核实口径，不等同数据泄漏或不公平"/>
          <p:cNvSpPr>
            <a:spLocks noGrp="1"/>
          </p:cNvSpPr>
          <p:nvPr/>
        </p:nvSpPr>
        <p:spPr>
          <a:xfrm>
            <a:off x="619125" y="6191250"/>
            <a:ext cx="1057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来源：CSRP，表6（PDF第12页）、§3.2（第4页）、附录E.4—E.5（第15页）。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01 研究背景"/>
          <p:cNvSpPr>
            <a:spLocks noGrp="1"/>
          </p:cNvSpPr>
          <p:nvPr/>
        </p:nvSpPr>
        <p:spPr>
          <a:xfrm>
            <a:off x="6191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01 研究背景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02 方法原理"/>
          <p:cNvSpPr>
            <a:spLocks noGrp="1"/>
          </p:cNvSpPr>
          <p:nvPr/>
        </p:nvSpPr>
        <p:spPr>
          <a:xfrm>
            <a:off x="25431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02 方法原理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03 实验验证"/>
          <p:cNvSpPr>
            <a:spLocks noGrp="1"/>
          </p:cNvSpPr>
          <p:nvPr/>
        </p:nvSpPr>
        <p:spPr>
          <a:xfrm>
            <a:off x="446722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03 实验验证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04 总结与思考"/>
          <p:cNvSpPr>
            <a:spLocks noGrp="1"/>
          </p:cNvSpPr>
          <p:nvPr/>
        </p:nvSpPr>
        <p:spPr>
          <a:xfrm>
            <a:off x="6391275" y="781050"/>
            <a:ext cx="18288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rPr>
              <a:t>04 总结与思考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V8-返回结束页">
            <a:hlinkClick r:id="rId1" action="ppaction://hlinksldjump"/>
          </p:cNvPr>
          <p:cNvSpPr>
            <a:spLocks noGrp="1"/>
          </p:cNvSpPr>
          <p:nvPr/>
        </p:nvSpPr>
        <p:spPr>
          <a:xfrm>
            <a:off x="8858250" y="781050"/>
            <a:ext cx="2619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6579"/>
                </a:solidFill>
                <a:latin typeface="微软雅黑"/>
                <a:ea typeface="微软雅黑"/>
                <a:cs typeface="微软雅黑"/>
                <a:hlinkClick r:id="rId1" action="ppaction://hlinksldjump"/>
              </a:rPr>
              <a:t>返回结束页</a:t>
            </a:r>
            <a:endParaRPr sz="1200" b="0">
              <a:solidFill>
                <a:srgbClr val="526579"/>
              </a:solidFill>
              <a:latin typeface="微软雅黑"/>
              <a:ea typeface="微软雅黑"/>
              <a:cs typeface="微软雅黑"/>
              <a:hlinkClick r:id="rId1" action="ppaction://hlinksldjump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43F25"/>
      </a:accent1>
      <a:accent2>
        <a:srgbClr val="838A8D"/>
      </a:accent2>
      <a:accent3>
        <a:srgbClr val="DF7670"/>
      </a:accent3>
      <a:accent4>
        <a:srgbClr val="9AA1A4"/>
      </a:accent4>
      <a:accent5>
        <a:srgbClr val="D9D2CB"/>
      </a:accent5>
      <a:accent6>
        <a:srgbClr val="444546"/>
      </a:accent6>
      <a:hlink>
        <a:srgbClr val="005CAB"/>
      </a:hlink>
      <a:folHlink>
        <a:srgbClr val="17304E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房利美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43F25"/>
      </a:accent1>
      <a:accent2>
        <a:srgbClr val="838A8D"/>
      </a:accent2>
      <a:accent3>
        <a:srgbClr val="DF7670"/>
      </a:accent3>
      <a:accent4>
        <a:srgbClr val="9AA1A4"/>
      </a:accent4>
      <a:accent5>
        <a:srgbClr val="D9D2CB"/>
      </a:accent5>
      <a:accent6>
        <a:srgbClr val="444546"/>
      </a:accent6>
      <a:hlink>
        <a:srgbClr val="005CAB"/>
      </a:hlink>
      <a:folHlink>
        <a:srgbClr val="17304E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房利美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8216</Words>
  <Application>WPS 演示</Application>
  <PresentationFormat>Converted Presentation</PresentationFormat>
  <Paragraphs>1436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宋体</vt:lpstr>
      <vt:lpstr>Wingdings</vt:lpstr>
      <vt:lpstr>Arial</vt:lpstr>
      <vt:lpstr>微软雅黑</vt:lpstr>
      <vt:lpstr>方正雅意黑 GB18030L2</vt:lpstr>
      <vt:lpstr>微软雅黑</vt:lpstr>
      <vt:lpstr>宋体</vt:lpstr>
      <vt:lpstr>Arial Unicode MS</vt:lpstr>
      <vt:lpstr>汉仪书宋二KW</vt:lpstr>
      <vt:lpstr>Calibri</vt:lpstr>
      <vt:lpstr>Helvetica Neue</vt:lpstr>
      <vt:lpstr>微软雅黑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CSRP 方班论文汇报（导师审阅版）</dc:title>
  <dc:creator>胡庆林</dc:creator>
  <cp:lastModifiedBy>huqinglin</cp:lastModifiedBy>
  <cp:revision>2</cp:revision>
  <dcterms:created xsi:type="dcterms:W3CDTF">2026-10-09T11:26:33Z</dcterms:created>
  <dcterms:modified xsi:type="dcterms:W3CDTF">2026-10-09T11:26:33Z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C99F174BA62BE8F56A7CC46A9A761FEA_42</vt:lpwstr>
  </property>
  <property fmtid="{D5CDD505-2E9C-101B-9397-08002B2CF9AE}" pid="3" name="KSOProductBuildVer">
    <vt:lpwstr>2052-12.1.26035.26035</vt:lpwstr>
  </property>
</Properties>
</file>