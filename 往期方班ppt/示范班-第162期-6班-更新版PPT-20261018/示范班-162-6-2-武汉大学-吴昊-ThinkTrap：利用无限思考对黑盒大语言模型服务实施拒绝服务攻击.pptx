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6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747775"/>
          </p15:clr>
        </p15:guide>
        <p15:guide id="2" pos="3840" userDrawn="1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7F8BC0-FDFF-558C-3D55-7624F975BC3F}" name="昊 吴" initials="昊吴" userId="adf207d1274cbfd7" providerId="Windows Live"/>
  <p188:author id="{7E91F2C5-0807-AABB-C27F-442B88F63A73}" name="Yi He" initials="YH" userId="20d9ce051a46aef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7B6C"/>
    <a:srgbClr val="005A84"/>
    <a:srgbClr val="FEFEFE"/>
    <a:srgbClr val="F0F5F6"/>
    <a:srgbClr val="E5F2ED"/>
    <a:srgbClr val="16735C"/>
    <a:srgbClr val="47917F"/>
    <a:srgbClr val="0E6B57"/>
    <a:srgbClr val="4F7C6C"/>
    <a:srgbClr val="B848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16" dt="2026-09-19T12:07:39.528"/>
    <p1510:client id="{4767EB31-875C-5951-4BDB-812560FBD294}" v="14" dt="2026-09-19T07:21:48.490"/>
    <p1510:client id="{92F418BB-07EB-424E-98D3-4C3B57AFE546}" v="114" dt="2026-09-19T02:45:45.899"/>
    <p1510:client id="{CDC55B03-7D15-2995-F8FA-F378533C32CE}" v="1" dt="2026-09-19T10:00:21.757"/>
    <p1510:client id="{E6280278-A3F3-4587-83A0-C239AD389C14}" v="513" dt="2026-09-19T13:39:34.856"/>
  </p1510:revLst>
</p1510:revInfo>
</file>

<file path=ppt/tableStyles.xml><?xml version="1.0" encoding="utf-8"?>
<a:tblStyleLst xmlns:a="http://schemas.openxmlformats.org/drawingml/2006/main" def="{01689EBE-A8BA-4E9F-A005-15CF966D7EB2}">
  <a:tblStyle styleId="{01689EBE-A8BA-4E9F-A005-15CF966D7E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4012" autoAdjust="0"/>
  </p:normalViewPr>
  <p:slideViewPr>
    <p:cSldViewPr snapToGrid="0">
      <p:cViewPr>
        <p:scale>
          <a:sx n="100" d="100"/>
          <a:sy n="100" d="100"/>
        </p:scale>
        <p:origin x="444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2829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5B2E1EE-D647-E202-597F-E5D3D54C7B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D6CE68-3E6A-BCEF-9497-AB3F99C688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09C8B-BF91-4B4B-8C63-00566E15A5A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E881D6-A31D-D1A0-A133-6EDE0C79ED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CD90A0-1B37-D23D-9398-84189C99A5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3222E-3FF2-4195-A416-C35353A4C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8689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演讲者备注仅为参考，并非实际汇报所讲</a:t>
            </a:r>
            <a:r>
              <a:rPr lang="en-US" altLang="zh-CN" dirty="0"/>
              <a:t>】</a:t>
            </a:r>
          </a:p>
          <a:p>
            <a:pPr marL="158750" indent="0">
              <a:buNone/>
            </a:pPr>
            <a:r>
              <a:rPr lang="zh-CN" dirty="0"/>
              <a:t>各位老师、同学好，我是吴昊，指导老师是赵莽老师和何艺老师，今天汇报的是 NDSS 2026 论文 ThinkTrap，它关注的问题是：一条看起来很短的请求，为什么仍可能长时间占用模型服务的资源？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汇报分成四部分：先解释少量请求为什么也会带来资源风险，再讲 ThinkTrap 怎样在黑盒条件下搜索提示，然后看长输出、服务退化和防御的实验，最后讨论证据的适用范围和我的验证思路。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先看一个共享服务的场景：正常用户与长输出请求使用同一套推理资源，如果一条请求持续生成，它就会持续占用计算和缓存，其他请求可能需要等待。即使单位时间内的请求数不多，每条请求的工作量也可能很大，所以仅限制请求次数，并不能直接保证服务负载很低。这里画的是资源竞争的机制示意，具体会不会影响其他用户，还要看后面的本地服务实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这里先解释两个术语，token 是模型处理文本的基本单位，可能是一个字、一个词的一部分或一个符号，不一定等于一个汉字或一个英文单词。模型先处理输入，完成预填充，再逐步生成新的 token，生成得越久，计算资源就被占用得越久。KV 缓存中的 K 和 V 分别是注意力机制使用的键和值，它们保存历史位置的中间结果，让模型生成后续 token 时能够复用历史信息。长生成会继续保留并增加这类缓存，但具体显存和时间成本取决于模型、缓存管理和服务实现，不能统一说成严格线性增长。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论文的问题可以表述为：只能提交文本、读取输出，既拿不到模型参数和梯度，也看不到内部概率信息时，怎样用有限的查询预算找到诱导异常长输出的短提示？这里的黑盒说的是访问条件，并不单指闭源模型，开源模型通过受限 API 使用时也可能处于黑盒条件。搜索本身需要查询并付出成本，而且接口可能同时限制访问速率和输出长度，这些都是方法要面对的约束。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现有路线大致可以分成三类：第一类通过复杂任务或长回答要求来诱导生成，但效果可能依赖具体模型；第二类利用梯度或内部概率优化提示，却难以直接用于严格黑盒接口；第三类在文本上做扰动、替换和演化，但有限预算下的效率仍是问题。这个表是按论文组织的比较，并不是所有相关方法的全面排名。ThinkTrap 的切入点是在只拿到输出长度反馈的条件下，提高搜索长输出提示的效率。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困难一是文本离散，困难二是完整提示的嵌入空间很大，所以论文先把候选表示成向量，再把搜索限制在低维空间，并用无梯度方法更新候选。这里需要区分向量与文本：向量可以连续变化，但当它跨过最近邻的分界线时，转换后的 token 可能突然改变，模型输出长度也可能随之跳变。因此，连续表示方便了搜索，却不意味着解码后的目标一定连续或可微；低维搜索是否有效，还需要实验支持。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altLang="en-US" dirty="0"/>
              <a:t>前面看到的是少量请求仍可能占用很长时间。接下来回答第二个问题：看不到目标模型内部时，</a:t>
            </a:r>
            <a:r>
              <a:rPr lang="en-US" altLang="zh-CN" dirty="0" err="1"/>
              <a:t>ThinkTrap</a:t>
            </a:r>
            <a:r>
              <a:rPr lang="en-US" altLang="zh-CN" dirty="0"/>
              <a:t> </a:t>
            </a:r>
            <a:r>
              <a:rPr lang="zh-CN" altLang="en-US" dirty="0"/>
              <a:t>怎样用有限查询找到长输出提示？先看整体流程，再逐步解释低维搜索、文本解码和长度反馈。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先沿着上面一行看：搜索算法采样低维向量 z，用固定矩阵投影成嵌入，再借助公开模型的词嵌入表转换成提示文本 p，最后查询目标 API，得到输出长度 o。这个长度返回给搜索算法，用来调整分布，再采样下一批候选，页面上的中文名称分别说明了无梯度优化、低维投影、近邻解码和查询模型四个环节。下面一行是后续服务实验：使用搜索到的提示，再观察服务性能。论文把前一个阶段称为离线提示生成，是相对于后续压力实验而言，搜索阶段本身仍然访问目标 API。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先定义符号：L 是提示的 token 数，d 是每个 token 的嵌入维度，完整提示一共有 L 乘 d 个数，而 m 是实际搜索的低维向量 z 的维度。左边的四十万九千六百来自论文的规模说明例子，即一百个 token、每个四千零九十六维；右边的二十是实验采用的搜索维度，不能把说明例子的提示长度与主实验混为一谈。公式 e 等于 A 乘 z，其中 A 有 Ld 行、m 列，所以乘积 e 是 Ld 维向量，再通过 reshape 把同一组数按 L 行、d 列排成矩阵 E，元素总数没有改变。A 在搜索中固定，只调整 z 的采样分布，既不需要获取目标模型权重，也不修改它的权重；这种做法减少了变量，但同时限制了可以搜索的方向。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API 接收的是文本，因此要把矩阵 E 中每个位置的向量转换成 token：公式里的 e 下标 i，是第 i 个提示位置的向量；T 上标 sur、下标 j，是公开模型词嵌入表中第 j 个 token 的向量，sur 表示代理模型。双竖线下标二表示欧氏距离，arg min 的意思是遍历候选索引 j，找到使这个距离最小的那个索引 j 下标 i，再取出对应的 token，图中示意选择第 3 个候选。按所有位置重复这个操作，把得到的 token 序列还原成提示文本，才能提交目标 API。这里把最近邻的索引与对应 token 分开写清楚；公开模型只提供解码所需的嵌入表，并不预测目标模型表现，而且目标 API 可能重新分词，所以代理侧二十个 token 不保证在目标侧也恰好是二十个。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候选文本送入 API 后，论文主要用返回的生成 token 数作为评分，输出越长，搜索目标值越高。右侧的合写公式表示：从 z 出发，先投影，再把展平向量按位置整理并解码成文本，查询 API，最后统计输出长度；因此这里的 Decode 包含上一页讲过的整理和逐位置解码。这个评分是可观察的黑盒反馈，并不是模型内部梯度，而且采样随机性会让同一个提示得到不同长度的输出。首先要证明的是能找到长输出提示，长输出是否造成服务退化还需要独立实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这里用一个教学示意把更新过程讲具体，三个候选 A、B、C 的输出长度分别设为四百、两千八百和三千九百个 token，这些数值、权重和位置都不是论文实验结果。按长度从大到小排，C 是第一名、B 是第二名，选择这两个，蓝色的 A 不入选，绿色的 B 和 C 入选，所以颜色旁边也标出了文字含义。公式里 z 的括号下标 j 指排序后的第 j 名候选，上标 t 是当前轮次，w 下标 j 是正权重且总和为一；若给 C 权重零点七、B 权重零点三，新中心就是零点七乘 C 向量加零点三乘 B 向量，因此它位于 B、C 之间并更靠近 C。均值 μ 决定搜索中心，协方差 Σ 决定采样方向与范围，下一轮会更偏向入选候选所在的区域，但仍然是从分布中采样，不是机械地重复同一条提示。论文使用协方差矩阵自适应进化策略，也就是 CMA-ES，英文全称是 Covariance Matrix Adaptation Evolution Strategy，这里展示的是论文的概括更新过程，不能把这一页当作完整算法实现。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找到提示以后，再看这些提示在服务侧可能产生什么影响：图中每一条横带表示一条请求持续生成的时间，下一条请求已经进入时，前面的请求可能还没有结束。如果进入间隔短于持续占用时间，就可能有多条长请求同时占用计算与缓存，进而积压。这里仍是概念示意，真实服务可以并行处理，是否失效取决于容量、调度和资源隔离，不能只用一条简单公式就推出失效时刻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altLang="en-US" dirty="0"/>
              <a:t>方法已经说明：先搜索提示，再用它观察服务。现在看实验证据，依次回答三个问题：能否找到长输出、服务是否真的变慢、防御能缓解多少影响。每张图都按对应的模型和部署条件解读。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实验分成三个层次：首先在八个模型的 API 接口上比较长输出效果，其次在本地部署上观察首 token 时延、吞吐和显存，再换一个本地服务配置比较防御。API 主效果实验的提示长度和低维维度都是二十，单次生成上限是四千零九十六，每个预算档重复五次；低维维度的参数实验则取二十次独立试验的平均，这两种重复口径不混用。四个基线分别是 Decoy、Semantic、LLMEffiChecker 和 Sponge，对应复杂问题、增加长回答要求、词级扰动和遗传搜索。API 长度实验与本地服务实验的输出上限和硬件条件不同，下面每张结果图都按它自己的配置解读。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先读坐标：纵轴是输出长度除以四千零九十六，所以接近一意味着到达这次实验的观测上限；横轴是搜索预算，图中写 Query Budget，但正文按 token 预算计，十 k 不能读成一万次 API 调用。绿色框和箭头对应左图的十 k 到二十 k 预算区间，可以看到 Gemini 上 ThinkTrap 已经得到接近上限的输出。右图也标出相同的低预算区间，Llama 3.2 上 Sponge 的输出更长，这个例外需要保留，所以不能说所有模型的每一个预算点都是 ThinkTrap 最好。整体支持的是它能在有限预算下搜索长输出提示，而到达四千零九十六的截断上限，并不等于实验直接观察到了无限生成。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这页考察两个参数，上图改变提示长度 L，下图改变低维变量的维度 m，二者都不是越大越好。提示太短可能缺少表达能力，太长又会增加搜索难度；维度太低限制搜索方向，维度太高则可能让固定预算不足以有效探索。作者在这些条件下采用 L 等于二十、m 等于二十，这是当前模型与预算下的实用选择，而不是所有模型的统一最优值。它是参数敏感性实验，也不能替代对各个模块贡献的消融。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下面检验服务影响，图中配置是本地 DS Llama 8B、四张 RTX 2080 Ti，请求速率为每分钟十条。TTFT 是从提交请求到收到第一个 token 的等待时间，TPS 是每秒生成的 token 数，不能直接等同于每秒完成了多少条请求。随着已发送的攻击样本增加，部分输出上限配置下首 token 等待时间明显上升、生成吞吐下降，说明长生成带来的资源占用在这个部署中已经影响服务。这个结论对应图中的硬件、模型、调度和输出上限，不直接外推成所有公开平台都会同样失效。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显存曲线补充说明了资源占用的变化，这里要按多设备实验的统计口径解读，不能把总量当成单张卡的占用。把输出上限收紧到一百二十八个 token 时，TTFT 和 TPS 相对稳定，说明限制单条请求的工作量可以缓解影响。与此同时，这样的限制也可能截断正常的长回答，短分类任务和长推理任务的可接受程度并不一样。因此我保留缓解效果，也把任务代价作为需要评估的问题，不直接沿用任何应用中都不可行的绝对判断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这里研究的是把同一条源提示迁移到其他模型，先解释 CDF：它叫累计分布函数，纵轴表示输出长度不超过横轴数值的比例，因此比较同一累计比例时，曲线越靠右，通常表示输出越长。图中源模型是 DS Llama 8B，同属 Llama 家族或有蒸馏及训练来源联系的模型出现了部分迁移效果，而其他模型上的源提示效果有限。论文把一组模型称为同 SFT 数据组，SFT 就是监督微调，但这样的分组现象只能提供线索，还没有排除训练配置、版本和解码策略的影响。因此，对多个模型分别搜索都有效，与一条提示能够普遍迁移，是两个不同结论。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第一种防御检查输出中的重复，4-gram 指连续四个 token 构成的片段，比如先看 t 一到 t 四，再向后滑动一个位置，看 t 二到 t 五，并统计窗口内这些片段的重复频率。重复过多的请求会被提前终止，但长输出不一定表现为大量简单字面重复，所以这种检测有局限。第二种是资源调度，VTC 的英文是 Virtual Token Counter，也就是虚拟 token 计数器；按照论文第 VIII-A 节的方法描述，每轮给请求分配生成额度，额度用完就暂停，保存状态，再排到其他等待请求之后，让其他请求获得服务机会。需要特别区分的是，第 VIII-B 节结果描述又写成达到限制后终止生成并释放资源，暂停后继续与直接结束请求的行为不同，不能在讲述中把二者当成同一个操作。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这页对应另一个本地配置：DeepSeek Llama 70B、MindIE、八张 Ascend 910B、每分钟十条请求，在该单用户攻击设置下，重复检测主要延缓退化，资源调度则保持了较稳定的首 token 时延和生成吞吐。图中无穷符号是服务失效的绘图标记，不能直接当作可用于计算倍率的实测时延，而且图中的可用性改善也不代表已经完整量化了正常长任务的时延、答案完整性和公平性代价。到这里先集中回答三个研究问题：这些实验说明，ThinkTrap 能在黑盒条件下搜索长输出提示；这些提示在本文的本地部署中造成了服务退化；资源调度比重复检测提供了更有效的缓解。下面再讨论这些结论的适用范围。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altLang="en-US" dirty="0"/>
              <a:t>实验显示了长输出和本地服务退化，也暴露了迁移与防御的边界。最后一部分把论文证据与我的判断分开，再讨论还需要哪些验证。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些实验说明了论文的价值，但结论的范围要与证据匹配：输出接近四千零九十六上限，支持异常长生成，还不足以证明一个真正无限的过程。本地服务出现退化，支持该部署下的可用性风险，也不能直接推成所有平台都会以同样方式失效。同一提示在不同模型上的效果有差异，说明迁移存在边界，但共享训练来源是否就是原因，还需要受控对照。这些限制不会抵消论文价值，而是说明后续复现应该补充哪些证据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我的第一个验证问题是：效果提高有多少来自低维投影，又有多少来自搜索算法本身？可以固定模型、提示长度与查询预算，一方面比较低维与全维搜索，另一方面比较 CMA-ES 与随机搜索，记录输出长度、重复试验波动，以及真正不同的文本候选所占比例。最后一项很重要，因为连续空间里多个向量可能解码成同一条文本，不能只看向量采样数量就认为探索很充分。如果全维搜索在相同资源条件下根本无法运行，应报告其可行性和资源需求，而不是简单记作攻击失败；这仍是验证建议，不是已经完成的实验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我的第二个建议是把正常用户一起放进防御评估，混合正常短请求、正常长请求与高消耗请求，比较不同防御。除了正常请求的首 token 等待时间，还要记录完成率、完成时间和答案完整性，并观察任务质量，尤其区分中途暂停后继续和直接终止的效果。也可以比较按用户的计算额度与可恢复的分段生成，考察它们能否在维持服务可用的同时，为正常长任务保留完成机会。这些结果还需要在获授权的本地环境中测量，不能把预期改善写成论文已经验证的新结论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最后归纳三点：论文表明，黑盒访问下也能搜索到诱导异常长输出的提示；ThinkTrap 在低维空间搜索候选提示，将候选向量转换为文本，并根据模型的输出长度调整下一轮搜索；我的判断是，可用性防护还应结合每次请求的资源占用与正常任务需求，同时评价服务表现和答案质量，谢谢各位，欢迎讨论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这里集中列出八个模型和主要实验口径，模型名称保留论文实验时的叫法，不代表今天产品的名称或状态。提示搜索采用 L 等于二十、m 等于二十和温度一点零，主效果预算为十 k 到一百 k 个 token，单次输出上限四千零九十六，每档重复五次。输出长度统计单次返回的生成 token 数，TTFT 衡量首 token 等待时间，TPS 衡量每秒生成的 token 数，显存占用还要区分单设备与多设备统计。横轴写 Query Budget，正文却按 token 预算表述，论文也没有完整列出输入、输出、失败重试和路由开销的可审计账单，所以不要换算成 API 调用次数或端到端总成本。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这页补充维度检查：z 有 m 个分量，A 是 Ld 行、m 列，乘积 e 因而有 Ld 个分量，再把它整理成 L 行、d 列的矩阵 E，E 的第 i 行就是代理解码使用的 e 下标 i。L 是提示 token 数，d 是每个 token 的嵌入维度，m 是低维搜索维度，reshape 只重新排列元素，不改变元素总数。候选从均值 μ 和协方差 Σ 决定的高斯分布中采样，再按 API 返回的输出长度从大到小排序，以合计为一的正权重组合前 k 名得到新中心。这里沿用论文对更新过程的概括表达，完整 CMA-ES 还包含其他机制；原文表一对 m 的描述与第五节公式也不完全一致，因此本汇报以第五节的公式定义为准。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些是正文没有逐一展开的其他模型与提示迁移结果，应围绕具体提问选择相关子图，不再把所有图重复讲一遍。主讲中的低预算优势和例外都按对应模型解读，同一条源提示在其他模型上的迁移并不普遍有效。若讨论温度，只能说论文在所测设置下仍观察到长输出，不能推成温度越高就一定越脆弱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这里集中提醒几个原文口径差异：引言写十六张 Ascend、每分钟五条，而图五对应四张 RTX 2080 Ti、每分钟十条，图七对应八张 Ascend 910B、每分钟十条，不能把它们拼成同一个实验；摘要里吞吐降到百分之一和时延增长一百倍的表述，也应放回相应配置再判断。第八节方法段描述额度耗尽后抢占、缓存状态并重新排队，结果段又写达到限制就终止生成并释放资源，两种操作对正常长任务的影响不同，需要分别核验。引言还出现少量可编辑 token 位置和 subgradient 等说法，但第五节具体展开的是随机低维投影、最近邻代理解码和 CMA-ES，因此本汇报按方法节讲述，不补写未交代的 token 选择规则。图三的总括图注与正文的 Llama 低预算例外、图四正文中的 DS R1 与图注中的八模型范围，以及图六对监督微调来源的因果解释，都需要回到实际图表和受控证据，不能扩大结论。伦理说明也明确，商业 API 用于受控查询，压力实验在获授权的私有或高校部署中完成，所以不能说论文使公开商业平台整体宕机。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CN" dirty="0"/>
              <a:t>先把第十到十三页看成同一轮搜索：我们只调整两个数，先看候选 B，也就是一和零，通过固定映射得到两个位置向量，分别是一零和一一。然后在公开模型的示例词嵌入表中逐位置找最近词元，得到“请”和“解释”，拼成文本后才交给目标 API，不能直接把向量传给 API。API 返回回答，我们只把生成 token 数作为评分，图中 B 的教学分数是二千八百，A 和 C 则分别是四百和三千九百。按分数选中 B、C 后，用零点七乘 C 加零点三乘 B 得到新中心一和零点七，同时调整采样方向与范围，让下一轮更偏向这些高分候选附近，但不保证每个新候选都更好。方法步骤依据论文第五节，词表、坐标、输出长度和权重均为教学设定，空格仅用于标示两个示例词元，真实分词和真实输出长度要以实际模型为准，论文主实验的提示长度与低维维度均为二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页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6" title="ChatGPT Image 2026年5月18日 21_59_50 (2).png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860165" y="4065367"/>
            <a:ext cx="5331835" cy="30007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564867" y="34250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2725"/>
              </a:buClr>
              <a:buSzPts val="2500"/>
              <a:buNone/>
              <a:defRPr sz="3333" b="1">
                <a:solidFill>
                  <a:srgbClr val="2127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grpSp>
        <p:nvGrpSpPr>
          <p:cNvPr id="66" name="Google Shape;66;p16"/>
          <p:cNvGrpSpPr/>
          <p:nvPr/>
        </p:nvGrpSpPr>
        <p:grpSpPr>
          <a:xfrm>
            <a:off x="10759930" y="300288"/>
            <a:ext cx="1112535" cy="426781"/>
            <a:chOff x="6226875" y="871088"/>
            <a:chExt cx="971816" cy="372800"/>
          </a:xfrm>
        </p:grpSpPr>
        <p:pic>
          <p:nvPicPr>
            <p:cNvPr id="67" name="Google Shape;67;p16" title="Screenshot 2026-05-18 at 22.00.56.png"/>
            <p:cNvPicPr preferRelativeResize="0"/>
            <p:nvPr/>
          </p:nvPicPr>
          <p:blipFill rotWithShape="1">
            <a:blip r:embed="rId3">
              <a:alphaModFix amt="75000"/>
            </a:blip>
            <a:srcRect r="65162"/>
            <a:stretch/>
          </p:blipFill>
          <p:spPr>
            <a:xfrm>
              <a:off x="6226875" y="910849"/>
              <a:ext cx="306550" cy="293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6" title="Screenshot 2026-05-18 at 22.00.56.png"/>
            <p:cNvPicPr preferRelativeResize="0"/>
            <p:nvPr/>
          </p:nvPicPr>
          <p:blipFill rotWithShape="1">
            <a:blip r:embed="rId3">
              <a:alphaModFix amt="75000"/>
            </a:blip>
            <a:srcRect l="34836" b="-12057"/>
            <a:stretch/>
          </p:blipFill>
          <p:spPr>
            <a:xfrm>
              <a:off x="6548290" y="871088"/>
              <a:ext cx="650400" cy="37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6"/>
          <p:cNvSpPr/>
          <p:nvPr/>
        </p:nvSpPr>
        <p:spPr>
          <a:xfrm>
            <a:off x="436057" y="475700"/>
            <a:ext cx="128800" cy="497200"/>
          </a:xfrm>
          <a:prstGeom prst="rect">
            <a:avLst/>
          </a:prstGeom>
          <a:solidFill>
            <a:srgbClr val="517B6C"/>
          </a:solidFill>
          <a:ln w="9525" cap="flat" cmpd="sng">
            <a:solidFill>
              <a:srgbClr val="517B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" name="Google Shape;64;p16">
            <a:extLst>
              <a:ext uri="{FF2B5EF4-FFF2-40B4-BE49-F238E27FC236}">
                <a16:creationId xmlns:a16="http://schemas.microsoft.com/office/drawing/2014/main" id="{BB889853-7C6E-93DD-54FB-83BB5E1E52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72000" y="6474000"/>
            <a:ext cx="7200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333">
                <a:solidFill>
                  <a:srgbClr val="4F7C6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altLang="zh-CN" smtClean="0"/>
              <a:pPr algn="r"/>
              <a:t>‹#›</a:t>
            </a:fld>
            <a:endParaRPr lang="en-US">
              <a:solidFill>
                <a:srgbClr val="4F7C6C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>
  <p:cSld name="TITLE_AND_BODY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7" title="ChatGPT Image 2026年5月18日 21_59_50 (2).png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860165" y="4065367"/>
            <a:ext cx="5331835" cy="300073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557200" y="233380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2725"/>
              </a:buClr>
              <a:buSzPts val="3200"/>
              <a:buNone/>
              <a:defRPr sz="4267" b="1">
                <a:solidFill>
                  <a:srgbClr val="2127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4" name="Google Shape;74;p17"/>
          <p:cNvGrpSpPr/>
          <p:nvPr/>
        </p:nvGrpSpPr>
        <p:grpSpPr>
          <a:xfrm>
            <a:off x="10759930" y="300288"/>
            <a:ext cx="1112535" cy="426781"/>
            <a:chOff x="6226875" y="871088"/>
            <a:chExt cx="971816" cy="372800"/>
          </a:xfrm>
        </p:grpSpPr>
        <p:pic>
          <p:nvPicPr>
            <p:cNvPr id="75" name="Google Shape;75;p17" title="Screenshot 2026-05-18 at 22.00.56.png"/>
            <p:cNvPicPr preferRelativeResize="0"/>
            <p:nvPr/>
          </p:nvPicPr>
          <p:blipFill rotWithShape="1">
            <a:blip r:embed="rId3">
              <a:alphaModFix amt="75000"/>
            </a:blip>
            <a:srcRect r="65162"/>
            <a:stretch/>
          </p:blipFill>
          <p:spPr>
            <a:xfrm>
              <a:off x="6226875" y="910849"/>
              <a:ext cx="306550" cy="293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7" title="Screenshot 2026-05-18 at 22.00.56.png"/>
            <p:cNvPicPr preferRelativeResize="0"/>
            <p:nvPr/>
          </p:nvPicPr>
          <p:blipFill rotWithShape="1">
            <a:blip r:embed="rId3">
              <a:alphaModFix amt="75000"/>
            </a:blip>
            <a:srcRect l="34836" b="-12057"/>
            <a:stretch/>
          </p:blipFill>
          <p:spPr>
            <a:xfrm>
              <a:off x="6548290" y="871088"/>
              <a:ext cx="650400" cy="37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7"/>
          <p:cNvSpPr/>
          <p:nvPr/>
        </p:nvSpPr>
        <p:spPr>
          <a:xfrm>
            <a:off x="351205" y="2365600"/>
            <a:ext cx="206000" cy="700000"/>
          </a:xfrm>
          <a:prstGeom prst="rect">
            <a:avLst/>
          </a:prstGeom>
          <a:solidFill>
            <a:srgbClr val="517B6C"/>
          </a:solidFill>
          <a:ln w="9525" cap="flat" cmpd="sng">
            <a:solidFill>
              <a:srgbClr val="517B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" name="Google Shape;64;p16">
            <a:extLst>
              <a:ext uri="{FF2B5EF4-FFF2-40B4-BE49-F238E27FC236}">
                <a16:creationId xmlns:a16="http://schemas.microsoft.com/office/drawing/2014/main" id="{A43FD957-B331-0621-E0D9-896EADE2C6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72000" y="6474000"/>
            <a:ext cx="7200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lang="en-US" altLang="zh-CN" sz="1333" b="0" i="0" u="none" strike="noStrike" cap="none" smtClean="0">
                <a:solidFill>
                  <a:srgbClr val="4F7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altLang="zh-CN" smtClean="0"/>
              <a:pPr algn="r"/>
              <a:t>‹#›</a:t>
            </a:fld>
            <a:endParaRPr lang="en-US" sz="1333" b="0" i="0" u="none" strike="noStrike" cap="none">
              <a:solidFill>
                <a:srgbClr val="4F7C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4;p16">
            <a:extLst>
              <a:ext uri="{FF2B5EF4-FFF2-40B4-BE49-F238E27FC236}">
                <a16:creationId xmlns:a16="http://schemas.microsoft.com/office/drawing/2014/main" id="{AB01D6D8-A20D-ADE0-CCC7-2F2950050161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472000" y="6481389"/>
            <a:ext cx="7200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333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altLang="zh-CN" smtClean="0"/>
              <a:pPr algn="r"/>
              <a:t>‹#›</a:t>
            </a:fld>
            <a:endParaRPr lang="en-US" sz="1333"/>
          </a:p>
        </p:txBody>
      </p:sp>
      <p:pic>
        <p:nvPicPr>
          <p:cNvPr id="4" name="Google Shape;65;p16" title="ChatGPT Image 2026年5月18日 21_59_50 (2).png">
            <a:extLst>
              <a:ext uri="{FF2B5EF4-FFF2-40B4-BE49-F238E27FC236}">
                <a16:creationId xmlns:a16="http://schemas.microsoft.com/office/drawing/2014/main" id="{69CE6E54-34C5-C024-70DB-C11CCAE132E7}"/>
              </a:ext>
            </a:extLst>
          </p:cNvPr>
          <p:cNvPicPr preferRelativeResize="0"/>
          <p:nvPr userDrawn="1"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6860165" y="4065367"/>
            <a:ext cx="5331835" cy="3000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66;p16">
            <a:extLst>
              <a:ext uri="{FF2B5EF4-FFF2-40B4-BE49-F238E27FC236}">
                <a16:creationId xmlns:a16="http://schemas.microsoft.com/office/drawing/2014/main" id="{A5804F29-46A7-C1F9-708F-4BB5DAF50C51}"/>
              </a:ext>
            </a:extLst>
          </p:cNvPr>
          <p:cNvGrpSpPr/>
          <p:nvPr userDrawn="1"/>
        </p:nvGrpSpPr>
        <p:grpSpPr>
          <a:xfrm>
            <a:off x="10759930" y="300288"/>
            <a:ext cx="1112535" cy="426781"/>
            <a:chOff x="6226875" y="871088"/>
            <a:chExt cx="971816" cy="372800"/>
          </a:xfrm>
        </p:grpSpPr>
        <p:pic>
          <p:nvPicPr>
            <p:cNvPr id="6" name="Google Shape;67;p16" title="Screenshot 2026-05-18 at 22.00.56.png">
              <a:extLst>
                <a:ext uri="{FF2B5EF4-FFF2-40B4-BE49-F238E27FC236}">
                  <a16:creationId xmlns:a16="http://schemas.microsoft.com/office/drawing/2014/main" id="{D5C3CE6F-BDF6-E99A-B3AF-DBF4D45301C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 amt="75000"/>
            </a:blip>
            <a:srcRect r="65162"/>
            <a:stretch/>
          </p:blipFill>
          <p:spPr>
            <a:xfrm>
              <a:off x="6226875" y="910849"/>
              <a:ext cx="306550" cy="293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68;p16" title="Screenshot 2026-05-18 at 22.00.56.png">
              <a:extLst>
                <a:ext uri="{FF2B5EF4-FFF2-40B4-BE49-F238E27FC236}">
                  <a16:creationId xmlns:a16="http://schemas.microsoft.com/office/drawing/2014/main" id="{183F1425-942C-905E-5B6A-97376AC988D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 amt="75000"/>
            </a:blip>
            <a:srcRect l="34836" b="-12057"/>
            <a:stretch/>
          </p:blipFill>
          <p:spPr>
            <a:xfrm>
              <a:off x="6548290" y="871088"/>
              <a:ext cx="650400" cy="372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2" name="Rectangle 2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192000" cy="1219200"/>
            <a:chOff x="0" y="0"/>
            <a:chExt cx="12192000" cy="1219200"/>
          </a:xfrm>
        </p:grpSpPr>
        <p:sp>
          <p:nvSpPr>
            <p:cNvPr id="6" name="Rectangle 6"/>
            <p:cNvSpPr/>
            <p:nvPr/>
          </p:nvSpPr>
          <p:spPr>
            <a:xfrm>
              <a:off x="295275" y="238125"/>
              <a:ext cx="3810000" cy="9715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0" y="0"/>
              <a:ext cx="12192000" cy="6667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850" y="323850"/>
              <a:ext cx="2828925" cy="89535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609600" y="1597342"/>
            <a:ext cx="10953750" cy="2479358"/>
            <a:chOff x="609600" y="1597342"/>
            <a:chExt cx="10953750" cy="2479358"/>
          </a:xfrm>
        </p:grpSpPr>
        <p:sp>
          <p:nvSpPr>
            <p:cNvPr id="10" name="TextBox 10"/>
            <p:cNvSpPr txBox="1"/>
            <p:nvPr/>
          </p:nvSpPr>
          <p:spPr>
            <a:xfrm>
              <a:off x="609600" y="1597342"/>
              <a:ext cx="296437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ThinkTrap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2267" y="2252186"/>
              <a:ext cx="6968388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通过无限思考对黑盒大语言模型服务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2267" y="2747486"/>
              <a:ext cx="3500577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2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发起拒绝服务攻击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9506" y="3358515"/>
              <a:ext cx="5093208" cy="6473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80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ThinkTrap: Denial-of-Service Attacks against</a:t>
              </a:r>
              <a:br/>
              <a:r>
                <a:rPr lang="en-US" sz="180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Black-box LLM Services via Infinite Thinking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28650" y="4067175"/>
              <a:ext cx="10934700" cy="9525"/>
            </a:xfrm>
            <a:custGeom>
              <a:avLst/>
              <a:gdLst/>
              <a:ahLst/>
              <a:cxnLst/>
              <a:rect l="l" t="t" r="r" b="b"/>
              <a:pathLst>
                <a:path w="10934700" h="9525">
                  <a:moveTo>
                    <a:pt x="0" y="0"/>
                  </a:moveTo>
                  <a:lnTo>
                    <a:pt x="10934700" y="0"/>
                  </a:lnTo>
                </a:path>
              </a:pathLst>
            </a:custGeom>
            <a:noFill/>
            <a:ln w="14288">
              <a:solidFill>
                <a:srgbClr val="CFDBDF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17982" y="4202430"/>
            <a:ext cx="8640170" cy="1082707"/>
            <a:chOff x="617982" y="4202430"/>
            <a:chExt cx="8640170" cy="1082707"/>
          </a:xfrm>
        </p:grpSpPr>
        <p:sp>
          <p:nvSpPr>
            <p:cNvPr id="16" name="TextBox 16"/>
            <p:cNvSpPr txBox="1"/>
            <p:nvPr/>
          </p:nvSpPr>
          <p:spPr>
            <a:xfrm>
              <a:off x="617982" y="4202430"/>
              <a:ext cx="86401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Network and Distributed System Security Symposium · 2026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0268" y="4651058"/>
              <a:ext cx="8277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作者：</a:t>
              </a:r>
              <a:r>
                <a:rPr lang="en-US" sz="165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Yunzhe Li, Jianan Wang, Hongzi Zhu, James Lin, Shan Chang, Minyi Guo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9887" y="4947761"/>
              <a:ext cx="3722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作者单位：上海交通大学、东华大学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4944" y="5380672"/>
            <a:ext cx="3274924" cy="1067181"/>
            <a:chOff x="694944" y="5380672"/>
            <a:chExt cx="3274924" cy="1067181"/>
          </a:xfrm>
        </p:grpSpPr>
        <p:sp>
          <p:nvSpPr>
            <p:cNvPr id="20" name="TextBox 20"/>
            <p:cNvSpPr txBox="1"/>
            <p:nvPr/>
          </p:nvSpPr>
          <p:spPr>
            <a:xfrm>
              <a:off x="694944" y="5380672"/>
              <a:ext cx="281327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指导老师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：</a:t>
              </a:r>
              <a:r>
                <a:rPr lang="zh-CN" altLang="en-US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赵莽 武汉大学</a:t>
              </a:r>
              <a:endParaRPr lang="zh-CN" sz="1950" dirty="0">
                <a:solidFill>
                  <a:srgbClr val="202B3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4944" y="5723572"/>
              <a:ext cx="150041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汇报人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：</a:t>
              </a:r>
              <a:r>
                <a:rPr lang="zh-CN" altLang="en-US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吴昊</a:t>
              </a:r>
              <a:endParaRPr lang="zh-CN" sz="1950" dirty="0">
                <a:solidFill>
                  <a:srgbClr val="202B3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4944" y="6066472"/>
              <a:ext cx="32749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汇报日期：</a:t>
              </a:r>
              <a:r>
                <a:rPr lang="en-US" sz="195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2026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年</a:t>
              </a:r>
              <a:r>
                <a:rPr lang="en-US" sz="195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10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月</a:t>
              </a:r>
              <a:r>
                <a:rPr lang="en-US" sz="195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18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日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ADDB6A-D6A9-AEA9-FB69-D001B161F5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</a:t>
            </a:fld>
            <a:endParaRPr lang="en-US">
              <a:solidFill>
                <a:srgbClr val="4F7C6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2">
            <a:extLst>
              <a:ext uri="{FF2B5EF4-FFF2-40B4-BE49-F238E27FC236}">
                <a16:creationId xmlns:a16="http://schemas.microsoft.com/office/drawing/2014/main" id="{071EDCFB-C3E9-1C96-E1DE-48F0170905DE}"/>
              </a:ext>
            </a:extLst>
          </p:cNvPr>
          <p:cNvSpPr/>
          <p:nvPr/>
        </p:nvSpPr>
        <p:spPr>
          <a:xfrm>
            <a:off x="673099" y="2283904"/>
            <a:ext cx="10693400" cy="649795"/>
          </a:xfrm>
          <a:prstGeom prst="rect">
            <a:avLst/>
          </a:prstGeom>
          <a:solidFill>
            <a:srgbClr val="E5F2ED"/>
          </a:solidFill>
          <a:ln>
            <a:noFill/>
          </a:ln>
        </p:spPr>
      </p:sp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3270126" cy="1174417"/>
            <a:chOff x="615696" y="552450"/>
            <a:chExt cx="3270126" cy="1174417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263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01</a:t>
              </a:r>
              <a:endParaRPr lang="en-US" sz="3000" b="1" dirty="0">
                <a:solidFill>
                  <a:srgbClr val="4D787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138499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汇报</a:t>
              </a:r>
              <a:r>
                <a:rPr lang="zh-CN" altLang="en-US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目录</a:t>
              </a:r>
              <a:endParaRPr lang="zh-CN" sz="2700" b="1" dirty="0">
                <a:solidFill>
                  <a:srgbClr val="202B3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3270126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四个问题</a:t>
              </a:r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贯穿</a:t>
              </a:r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本次汇报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4672" y="2349818"/>
            <a:ext cx="10530078" cy="593407"/>
            <a:chOff x="804672" y="2349818"/>
            <a:chExt cx="10530078" cy="593407"/>
          </a:xfrm>
        </p:grpSpPr>
        <p:sp>
          <p:nvSpPr>
            <p:cNvPr id="12" name="TextBox 12"/>
            <p:cNvSpPr txBox="1"/>
            <p:nvPr/>
          </p:nvSpPr>
          <p:spPr>
            <a:xfrm>
              <a:off x="804672" y="234981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4233" y="23983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问题背景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3326" y="2422684"/>
              <a:ext cx="4424172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少量请求为什么也可能拖慢服务？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838325" y="293370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04672" y="3207068"/>
            <a:ext cx="10530078" cy="593407"/>
            <a:chOff x="804672" y="3207068"/>
            <a:chExt cx="10530078" cy="593407"/>
          </a:xfrm>
        </p:grpSpPr>
        <p:sp>
          <p:nvSpPr>
            <p:cNvPr id="17" name="TextBox 17"/>
            <p:cNvSpPr txBox="1"/>
            <p:nvPr/>
          </p:nvSpPr>
          <p:spPr>
            <a:xfrm>
              <a:off x="804672" y="320706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4233" y="32556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方法原理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3326" y="3279934"/>
              <a:ext cx="530458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看不到模型内部，怎样搜索长输出提示？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838325" y="379095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04672" y="4064318"/>
            <a:ext cx="10530078" cy="593407"/>
            <a:chOff x="804672" y="4064318"/>
            <a:chExt cx="10530078" cy="593407"/>
          </a:xfrm>
        </p:grpSpPr>
        <p:sp>
          <p:nvSpPr>
            <p:cNvPr id="22" name="TextBox 22"/>
            <p:cNvSpPr txBox="1"/>
            <p:nvPr/>
          </p:nvSpPr>
          <p:spPr>
            <a:xfrm>
              <a:off x="804672" y="406431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64233" y="411289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实验与防御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3326" y="4137184"/>
              <a:ext cx="501111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方法是否有效，服务和防御表现如何？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838325" y="464820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04672" y="4921568"/>
            <a:ext cx="8719769" cy="557403"/>
            <a:chOff x="804672" y="4921568"/>
            <a:chExt cx="8719769" cy="557403"/>
          </a:xfrm>
        </p:grpSpPr>
        <p:sp>
          <p:nvSpPr>
            <p:cNvPr id="27" name="TextBox 27"/>
            <p:cNvSpPr txBox="1"/>
            <p:nvPr/>
          </p:nvSpPr>
          <p:spPr>
            <a:xfrm>
              <a:off x="804672" y="492156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64233" y="49701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总结思考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3326" y="4994434"/>
              <a:ext cx="501111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证据支持哪些结论，还需要怎样验证？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A59DD3-5C31-A790-1354-90C4D73494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RouteOutline_1">
            <a:extLst>
              <a:ext uri="{FF2B5EF4-FFF2-40B4-BE49-F238E27FC236}">
                <a16:creationId xmlns:a16="http://schemas.microsoft.com/office/drawing/2014/main" id="{C7DBA6E1-0DEA-236F-2451-2817167538EE}"/>
              </a:ext>
            </a:extLst>
          </p:cNvPr>
          <p:cNvSpPr/>
          <p:nvPr/>
        </p:nvSpPr>
        <p:spPr>
          <a:xfrm>
            <a:off x="673100" y="2270125"/>
            <a:ext cx="10693400" cy="673100"/>
          </a:xfrm>
          <a:prstGeom prst="rect">
            <a:avLst/>
          </a:prstGeom>
          <a:noFill/>
          <a:ln w="28575" cap="flat" cmpd="sng" algn="ctr">
            <a:solidFill>
              <a:srgbClr val="1B745E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ChapterRouteMarker_1">
            <a:extLst>
              <a:ext uri="{FF2B5EF4-FFF2-40B4-BE49-F238E27FC236}">
                <a16:creationId xmlns:a16="http://schemas.microsoft.com/office/drawing/2014/main" id="{B5254428-D8A0-35B1-EBB6-8BE1B0A332B5}"/>
              </a:ext>
            </a:extLst>
          </p:cNvPr>
          <p:cNvSpPr/>
          <p:nvPr/>
        </p:nvSpPr>
        <p:spPr>
          <a:xfrm>
            <a:off x="673100" y="2387600"/>
            <a:ext cx="63500" cy="482600"/>
          </a:xfrm>
          <a:prstGeom prst="rect">
            <a:avLst/>
          </a:prstGeom>
          <a:solidFill>
            <a:srgbClr val="1B74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ChapterNav_1">
            <a:extLst>
              <a:ext uri="{FF2B5EF4-FFF2-40B4-BE49-F238E27FC236}">
                <a16:creationId xmlns:a16="http://schemas.microsoft.com/office/drawing/2014/main" id="{8D60B0CD-9EBB-8B46-3AD7-CD676A168B7D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3" name="ChapterNav_2">
            <a:extLst>
              <a:ext uri="{FF2B5EF4-FFF2-40B4-BE49-F238E27FC236}">
                <a16:creationId xmlns:a16="http://schemas.microsoft.com/office/drawing/2014/main" id="{882520E2-8637-DA27-D11E-4A2288EA23FB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4" name="ChapterNav_3">
            <a:extLst>
              <a:ext uri="{FF2B5EF4-FFF2-40B4-BE49-F238E27FC236}">
                <a16:creationId xmlns:a16="http://schemas.microsoft.com/office/drawing/2014/main" id="{DCB2AE16-3420-F0EA-3594-17B63916C65A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5" name="ChapterNav_4">
            <a:extLst>
              <a:ext uri="{FF2B5EF4-FFF2-40B4-BE49-F238E27FC236}">
                <a16:creationId xmlns:a16="http://schemas.microsoft.com/office/drawing/2014/main" id="{61B631E0-07FF-A6B4-4D8B-1704A6C467FD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6" name="ChapterNav_5">
            <a:extLst>
              <a:ext uri="{FF2B5EF4-FFF2-40B4-BE49-F238E27FC236}">
                <a16:creationId xmlns:a16="http://schemas.microsoft.com/office/drawing/2014/main" id="{E0835035-F1A2-2355-ACE9-3B06E7CE1302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288536" cy="1280731"/>
            <a:chOff x="615696" y="552450"/>
            <a:chExt cx="4288536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问题背景：服务场景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请求很少，服务仍可能变慢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723900" y="2609850"/>
            <a:ext cx="10591800" cy="2438400"/>
            <a:chOff x="723900" y="2609850"/>
            <a:chExt cx="10591800" cy="2438400"/>
          </a:xfrm>
        </p:grpSpPr>
        <p:sp>
          <p:nvSpPr>
            <p:cNvPr id="12" name="Rectangle 12"/>
            <p:cNvSpPr/>
            <p:nvPr/>
          </p:nvSpPr>
          <p:spPr>
            <a:xfrm>
              <a:off x="723900" y="2609850"/>
              <a:ext cx="2343150" cy="91440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3732" y="27832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正常用户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23900" y="4038600"/>
              <a:ext cx="2343150" cy="10096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3732" y="42119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长输出请求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5637" y="4595336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异常长生成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209925" y="3057525"/>
              <a:ext cx="1381125" cy="438150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 flipV="1">
              <a:off x="3209925" y="3981450"/>
              <a:ext cx="1381125" cy="581025"/>
            </a:xfrm>
            <a:prstGeom prst="line">
              <a:avLst/>
            </a:prstGeom>
            <a:noFill/>
            <a:ln w="23812">
              <a:solidFill>
                <a:srgbClr val="BE4B42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733925" y="3086100"/>
              <a:ext cx="2838450" cy="163830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13757" y="325945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共享推理服务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15662" y="3690461"/>
              <a:ext cx="1983486" cy="6612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持续占用计算与缓存</a:t>
              </a:r>
              <a:br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资源由多条请求共享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67625" y="3448050"/>
              <a:ext cx="904875" cy="1"/>
            </a:xfrm>
            <a:prstGeom prst="line">
              <a:avLst/>
            </a:prstGeom>
            <a:noFill/>
            <a:ln w="23812">
              <a:solidFill>
                <a:srgbClr val="BE4B42"/>
              </a:solidFill>
              <a:tailEnd type="triangle" w="lg" len="lg"/>
            </a:ln>
          </p:spPr>
        </p:sp>
        <p:sp>
          <p:nvSpPr>
            <p:cNvPr id="23" name="Line 23"/>
            <p:cNvSpPr/>
            <p:nvPr/>
          </p:nvSpPr>
          <p:spPr>
            <a:xfrm>
              <a:off x="7667625" y="4371975"/>
              <a:ext cx="904875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90813" y="2657951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持续生成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801100" y="316230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086850" y="316230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372600" y="316230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658350" y="316230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944100" y="316230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229850" y="316230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515600" y="316230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801350" y="316230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087100" y="316230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801100" y="3457575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086850" y="3457575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372600" y="3457575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658350" y="3457575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944100" y="3457575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229850" y="3457575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515600" y="3457575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801350" y="3457575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1087100" y="3457575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801100" y="375285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086850" y="375285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372600" y="375285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58350" y="375285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44100" y="375285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29850" y="375285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515600" y="375285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801350" y="375285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1087100" y="3752850"/>
              <a:ext cx="228600" cy="142875"/>
            </a:xfrm>
            <a:prstGeom prst="rect">
              <a:avLst/>
            </a:prstGeom>
            <a:solidFill>
              <a:srgbClr val="BE4B4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790813" y="4296251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等待中的请求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20150" y="4752975"/>
              <a:ext cx="419100" cy="295275"/>
            </a:xfrm>
            <a:prstGeom prst="rect">
              <a:avLst/>
            </a:prstGeom>
            <a:solidFill>
              <a:srgbClr val="E5F2ED"/>
            </a:solidFill>
            <a:ln w="14288">
              <a:solidFill>
                <a:srgbClr val="16735C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401175" y="4752975"/>
              <a:ext cx="419100" cy="295275"/>
            </a:xfrm>
            <a:prstGeom prst="rect">
              <a:avLst/>
            </a:prstGeom>
            <a:solidFill>
              <a:srgbClr val="E5F2ED"/>
            </a:solidFill>
            <a:ln w="14288">
              <a:solidFill>
                <a:srgbClr val="16735C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982200" y="4752975"/>
              <a:ext cx="419100" cy="295275"/>
            </a:xfrm>
            <a:prstGeom prst="rect">
              <a:avLst/>
            </a:prstGeom>
            <a:solidFill>
              <a:srgbClr val="E5F2ED"/>
            </a:solidFill>
            <a:ln w="14288">
              <a:solidFill>
                <a:srgbClr val="16735C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563225" y="4752975"/>
              <a:ext cx="419100" cy="295275"/>
            </a:xfrm>
            <a:prstGeom prst="rect">
              <a:avLst/>
            </a:prstGeom>
            <a:solidFill>
              <a:srgbClr val="E5F2ED"/>
            </a:solidFill>
            <a:ln w="14288">
              <a:solidFill>
                <a:srgbClr val="16735C"/>
              </a:solidFill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28650" y="5791200"/>
            <a:ext cx="10934700" cy="600075"/>
            <a:chOff x="628650" y="5791200"/>
            <a:chExt cx="10934700" cy="600075"/>
          </a:xfrm>
        </p:grpSpPr>
        <p:sp>
          <p:nvSpPr>
            <p:cNvPr id="58" name="Rectangle 58"/>
            <p:cNvSpPr/>
            <p:nvPr/>
          </p:nvSpPr>
          <p:spPr>
            <a:xfrm>
              <a:off x="628650" y="5791200"/>
              <a:ext cx="10934700" cy="6000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8650" y="5791200"/>
              <a:ext cx="47625" cy="6000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9338" y="5972651"/>
              <a:ext cx="4414670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请求次数</a:t>
              </a:r>
              <a:r>
                <a:rPr lang="zh-CN" altLang="en-US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较少</a:t>
              </a:r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lang="zh-CN" altLang="en-US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计算负载仍可能很高</a:t>
              </a:r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04195F-08CB-77B8-A24A-98CDCCA91B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3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1BC34D91-DE7C-7E56-DA3A-0150DC2BF309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62" name="ChapterNav_2">
            <a:extLst>
              <a:ext uri="{FF2B5EF4-FFF2-40B4-BE49-F238E27FC236}">
                <a16:creationId xmlns:a16="http://schemas.microsoft.com/office/drawing/2014/main" id="{79E73A69-4A4F-6B48-CA4C-09AFA2DBFCF4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63" name="ChapterNav_3">
            <a:extLst>
              <a:ext uri="{FF2B5EF4-FFF2-40B4-BE49-F238E27FC236}">
                <a16:creationId xmlns:a16="http://schemas.microsoft.com/office/drawing/2014/main" id="{7B28A3E6-CC2B-1864-8333-9160C6A7B813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64" name="ChapterNav_4">
            <a:extLst>
              <a:ext uri="{FF2B5EF4-FFF2-40B4-BE49-F238E27FC236}">
                <a16:creationId xmlns:a16="http://schemas.microsoft.com/office/drawing/2014/main" id="{7B5FDAFE-57ED-0888-0590-E321077A04B6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65" name="ChapterNav_5">
            <a:extLst>
              <a:ext uri="{FF2B5EF4-FFF2-40B4-BE49-F238E27FC236}">
                <a16:creationId xmlns:a16="http://schemas.microsoft.com/office/drawing/2014/main" id="{6C9992E8-BF8C-7665-2F38-8E3DC5260635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288536" cy="1280731"/>
            <a:chOff x="615696" y="552450"/>
            <a:chExt cx="4288536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问题背景：推理资源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输出越长，资源占用越久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42569" y="2094548"/>
            <a:ext cx="10582656" cy="1825561"/>
            <a:chOff x="742569" y="2094548"/>
            <a:chExt cx="10582656" cy="1825561"/>
          </a:xfrm>
        </p:grpSpPr>
        <p:sp>
          <p:nvSpPr>
            <p:cNvPr id="12" name="TextBox 12"/>
            <p:cNvSpPr txBox="1"/>
            <p:nvPr/>
          </p:nvSpPr>
          <p:spPr>
            <a:xfrm>
              <a:off x="742569" y="20945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生成过程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52475" y="2647950"/>
              <a:ext cx="1466850" cy="6762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2530" y="284988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输入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314575" y="2990850"/>
              <a:ext cx="133350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562225" y="2647950"/>
              <a:ext cx="1762125" cy="676275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8566" y="284988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预填充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419600" y="2990850"/>
              <a:ext cx="161925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95825" y="2647950"/>
              <a:ext cx="1457325" cy="6762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79513" y="2849880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token 1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248400" y="2990850"/>
              <a:ext cx="161925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524625" y="2647950"/>
              <a:ext cx="1457325" cy="6762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08313" y="2849880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token 2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77200" y="2990850"/>
              <a:ext cx="161925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353425" y="2647950"/>
              <a:ext cx="1457325" cy="6762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37113" y="2849880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token 3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9906000" y="2990850"/>
              <a:ext cx="161925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182225" y="2647950"/>
              <a:ext cx="1143000" cy="6762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79797" y="2849880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……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381" y="35680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处理输入，建立初始缓存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05731" y="356806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逐步解码：持续执行模型计算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81050" y="4229100"/>
            <a:ext cx="10515600" cy="1835247"/>
            <a:chOff x="781050" y="4229100"/>
            <a:chExt cx="10515600" cy="1835247"/>
          </a:xfrm>
        </p:grpSpPr>
        <p:sp>
          <p:nvSpPr>
            <p:cNvPr id="33" name="Line 33"/>
            <p:cNvSpPr/>
            <p:nvPr/>
          </p:nvSpPr>
          <p:spPr>
            <a:xfrm>
              <a:off x="781050" y="42291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4288">
              <a:solidFill>
                <a:srgbClr val="CFDBD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9051" y="4451509"/>
              <a:ext cx="178292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计算持续执行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66769" y="4475798"/>
              <a:ext cx="580813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一次生成一个</a:t>
              </a:r>
              <a:r>
                <a:rPr lang="en-US" sz="195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token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，输出越长，占用时间越久。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9051" y="5118259"/>
              <a:ext cx="207639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上下文缓存保留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66769" y="5142548"/>
              <a:ext cx="53957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KV 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缓存复用历史信息，长生成增加缓存占用。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2099" y="5821204"/>
              <a:ext cx="444352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仅为机制示意，实际开销受模型和服务实现影响</a:t>
              </a:r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EE8230-1AC1-BDA1-2F79-6C9E51A73C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4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6169AA2D-5CCB-0BF8-8CBE-ADC4F6541DED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40" name="ChapterNav_2">
            <a:extLst>
              <a:ext uri="{FF2B5EF4-FFF2-40B4-BE49-F238E27FC236}">
                <a16:creationId xmlns:a16="http://schemas.microsoft.com/office/drawing/2014/main" id="{F8097470-CFD9-069D-695A-B3E2A610D28F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41" name="ChapterNav_3">
            <a:extLst>
              <a:ext uri="{FF2B5EF4-FFF2-40B4-BE49-F238E27FC236}">
                <a16:creationId xmlns:a16="http://schemas.microsoft.com/office/drawing/2014/main" id="{4518B7E6-B79C-DE97-6DFA-290F4E5582F8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42" name="ChapterNav_4">
            <a:extLst>
              <a:ext uri="{FF2B5EF4-FFF2-40B4-BE49-F238E27FC236}">
                <a16:creationId xmlns:a16="http://schemas.microsoft.com/office/drawing/2014/main" id="{C09C0032-64E5-6233-957A-A55EC2C5F45F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43" name="ChapterNav_5">
            <a:extLst>
              <a:ext uri="{FF2B5EF4-FFF2-40B4-BE49-F238E27FC236}">
                <a16:creationId xmlns:a16="http://schemas.microsoft.com/office/drawing/2014/main" id="{9383C28C-193B-6DDB-9D2C-93B501DCDD4B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5861685" cy="1280731"/>
            <a:chOff x="615696" y="552450"/>
            <a:chExt cx="5861685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问题背景：研究问题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只看输入输出，怎样找到高消耗提示？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50189" y="2092166"/>
            <a:ext cx="6211062" cy="883348"/>
            <a:chOff x="750189" y="2092166"/>
            <a:chExt cx="6211062" cy="883348"/>
          </a:xfrm>
        </p:grpSpPr>
        <p:sp>
          <p:nvSpPr>
            <p:cNvPr id="12" name="TextBox 12"/>
            <p:cNvSpPr txBox="1"/>
            <p:nvPr/>
          </p:nvSpPr>
          <p:spPr>
            <a:xfrm>
              <a:off x="750189" y="2092166"/>
              <a:ext cx="6211062" cy="8833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3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无法访问参数和梯度，如何用有限的查询预算，</a:t>
              </a:r>
              <a:br/>
              <a:r>
                <a:rPr lang="zh-CN" sz="23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找到诱导异常长输出的短提示？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28675" y="3184684"/>
            <a:ext cx="10401300" cy="2874395"/>
            <a:chOff x="828675" y="3184684"/>
            <a:chExt cx="10401300" cy="2874395"/>
          </a:xfrm>
        </p:grpSpPr>
        <p:sp>
          <p:nvSpPr>
            <p:cNvPr id="14" name="TextBox 14"/>
            <p:cNvSpPr txBox="1"/>
            <p:nvPr/>
          </p:nvSpPr>
          <p:spPr>
            <a:xfrm>
              <a:off x="884301" y="3184684"/>
              <a:ext cx="90251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可观察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5444" y="3637598"/>
              <a:ext cx="2248662" cy="771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75"/>
                </a:lnSpc>
              </a:pP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提交的文本</a:t>
              </a:r>
              <a:br/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返回的输出及其长度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724650" y="3248025"/>
              <a:ext cx="9525" cy="1762125"/>
            </a:xfrm>
            <a:custGeom>
              <a:avLst/>
              <a:gdLst/>
              <a:ahLst/>
              <a:cxnLst/>
              <a:rect l="l" t="t" r="r" b="b"/>
              <a:pathLst>
                <a:path w="9525" h="1762125">
                  <a:moveTo>
                    <a:pt x="0" y="0"/>
                  </a:moveTo>
                  <a:lnTo>
                    <a:pt x="0" y="1762125"/>
                  </a:lnTo>
                </a:path>
              </a:pathLst>
            </a:custGeom>
            <a:noFill/>
            <a:ln w="28575">
              <a:solidFill>
                <a:srgbClr val="16735C"/>
              </a:solidFill>
              <a:prstDash val="lg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6386" y="5204936"/>
              <a:ext cx="8965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API </a:t>
              </a:r>
              <a:r>
                <a:rPr lang="zh-CN" sz="1720" dirty="0">
                  <a:solidFill>
                    <a:srgbClr val="5C6B73"/>
                  </a:solidFill>
                  <a:latin typeface="Arial"/>
                  <a:ea typeface="Microsoft YaHei"/>
                  <a:cs typeface="Arial"/>
                </a:rPr>
                <a:t>边界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286250" y="3743325"/>
              <a:ext cx="2028825" cy="1"/>
            </a:xfrm>
            <a:prstGeom prst="line">
              <a:avLst/>
            </a:prstGeom>
            <a:noFill/>
            <a:ln w="23812">
              <a:solidFill>
                <a:srgbClr val="005A84"/>
              </a:solidFill>
              <a:tailEnd type="triangle" w="lg" len="lg"/>
            </a:ln>
          </p:spPr>
        </p:sp>
        <p:sp>
          <p:nvSpPr>
            <p:cNvPr id="19" name="Line 19"/>
            <p:cNvSpPr/>
            <p:nvPr/>
          </p:nvSpPr>
          <p:spPr>
            <a:xfrm flipH="1">
              <a:off x="4286250" y="4448175"/>
              <a:ext cx="2028825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87849" y="3420904"/>
              <a:ext cx="441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文本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7849" y="41543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长度反馈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86625" y="3286125"/>
              <a:ext cx="3943350" cy="1704975"/>
            </a:xfrm>
            <a:prstGeom prst="rect">
              <a:avLst/>
            </a:prstGeom>
            <a:solidFill>
              <a:srgbClr val="202B3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42276" y="3479959"/>
              <a:ext cx="11959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不可访问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43419" y="3970972"/>
              <a:ext cx="17533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9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模型参数与梯度</a:t>
              </a:r>
              <a:br/>
              <a:r>
                <a:rPr lang="zh-CN" sz="19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内部概率信息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8675" y="5769769"/>
              <a:ext cx="6011261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实际限制</a:t>
              </a: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：查询有成本，服务可能限制速率与输出长度。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78870C-8B8E-F0FC-B9B0-DBCC7255EF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5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D63C8198-ED1F-AFCF-573C-0A35E96DA87E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27" name="ChapterNav_2">
            <a:extLst>
              <a:ext uri="{FF2B5EF4-FFF2-40B4-BE49-F238E27FC236}">
                <a16:creationId xmlns:a16="http://schemas.microsoft.com/office/drawing/2014/main" id="{D94ECB4D-0A1D-A2AC-88A7-8DC82D2F5F2B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28" name="ChapterNav_3">
            <a:extLst>
              <a:ext uri="{FF2B5EF4-FFF2-40B4-BE49-F238E27FC236}">
                <a16:creationId xmlns:a16="http://schemas.microsoft.com/office/drawing/2014/main" id="{0E6959EA-D52B-3286-F8C0-C25DDAA4285A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9" name="ChapterNav_4">
            <a:extLst>
              <a:ext uri="{FF2B5EF4-FFF2-40B4-BE49-F238E27FC236}">
                <a16:creationId xmlns:a16="http://schemas.microsoft.com/office/drawing/2014/main" id="{1D2EF141-90D5-1E67-F343-7F49861760C8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0" name="ChapterNav_5">
            <a:extLst>
              <a:ext uri="{FF2B5EF4-FFF2-40B4-BE49-F238E27FC236}">
                <a16:creationId xmlns:a16="http://schemas.microsoft.com/office/drawing/2014/main" id="{B5E4683C-26B1-437A-5F1F-80A39B119546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288536" cy="1174417"/>
            <a:chOff x="615696" y="552450"/>
            <a:chExt cx="4288536" cy="1174417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问题背景：相关工作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3281348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现有方法各有不同局限</a:t>
              </a:r>
              <a:endParaRPr lang="zh-CN" sz="255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66750" y="2247900"/>
            <a:ext cx="10858500" cy="3057525"/>
            <a:chOff x="666750" y="2247900"/>
            <a:chExt cx="10858500" cy="3057525"/>
          </a:xfrm>
        </p:grpSpPr>
        <p:sp>
          <p:nvSpPr>
            <p:cNvPr id="12" name="Rectangle 12"/>
            <p:cNvSpPr/>
            <p:nvPr/>
          </p:nvSpPr>
          <p:spPr>
            <a:xfrm>
              <a:off x="666750" y="2247900"/>
              <a:ext cx="10858500" cy="50482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150" y="2388394"/>
              <a:ext cx="5252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路线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43225" y="238839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主要做法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48525" y="2388394"/>
              <a:ext cx="1683153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本文</a:t>
              </a:r>
              <a:r>
                <a:rPr lang="zh-CN" altLang="en-US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针对</a:t>
              </a:r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的不足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6750" y="2752725"/>
              <a:ext cx="10858500" cy="84772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9531" y="3062288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语义诱导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3606" y="3062288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复杂任务或长回答要求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48906" y="3062288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依赖具体模型，稳定性有限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66750" y="36004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531" y="3910012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梯度优化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3606" y="3910012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利用内部梯度或概率优化提示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48906" y="3910012"/>
              <a:ext cx="2876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难以直接用于严格黑盒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API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66750" y="444817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4448175"/>
              <a:ext cx="10858500" cy="84772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9531" y="4757738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启发式搜索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43606" y="4757738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扰动、替换或演化输入文本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48906" y="4757738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有限预算下搜索效率可能不足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66750" y="52959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4BB9A7-7D8B-D4DB-7EAE-CB5E89C1EE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6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5E436003-3BEA-73C2-3752-E52B1AA91A59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3" name="ChapterNav_2">
            <a:extLst>
              <a:ext uri="{FF2B5EF4-FFF2-40B4-BE49-F238E27FC236}">
                <a16:creationId xmlns:a16="http://schemas.microsoft.com/office/drawing/2014/main" id="{746B93D2-9AC9-3CC6-9BEE-0568BE7D77E1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4" name="ChapterNav_3">
            <a:extLst>
              <a:ext uri="{FF2B5EF4-FFF2-40B4-BE49-F238E27FC236}">
                <a16:creationId xmlns:a16="http://schemas.microsoft.com/office/drawing/2014/main" id="{5BD3FB4B-6814-7874-B210-AFA42DF1C071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5" name="ChapterNav_4">
            <a:extLst>
              <a:ext uri="{FF2B5EF4-FFF2-40B4-BE49-F238E27FC236}">
                <a16:creationId xmlns:a16="http://schemas.microsoft.com/office/drawing/2014/main" id="{A91632D6-C182-FDED-004D-4B34596DA293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6" name="ChapterNav_5">
            <a:extLst>
              <a:ext uri="{FF2B5EF4-FFF2-40B4-BE49-F238E27FC236}">
                <a16:creationId xmlns:a16="http://schemas.microsoft.com/office/drawing/2014/main" id="{118D48FD-C273-DCA6-88E4-499B33F2294D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  <p:grpSp>
        <p:nvGrpSpPr>
          <p:cNvPr id="37" name="Group 61">
            <a:extLst>
              <a:ext uri="{FF2B5EF4-FFF2-40B4-BE49-F238E27FC236}">
                <a16:creationId xmlns:a16="http://schemas.microsoft.com/office/drawing/2014/main" id="{F9A42E44-BFB8-E1FD-E673-E851F0ED03D9}"/>
              </a:ext>
            </a:extLst>
          </p:cNvPr>
          <p:cNvGrpSpPr/>
          <p:nvPr/>
        </p:nvGrpSpPr>
        <p:grpSpPr>
          <a:xfrm>
            <a:off x="628650" y="5762625"/>
            <a:ext cx="10934700" cy="600075"/>
            <a:chOff x="628650" y="5791200"/>
            <a:chExt cx="10934700" cy="600075"/>
          </a:xfrm>
        </p:grpSpPr>
        <p:sp>
          <p:nvSpPr>
            <p:cNvPr id="38" name="Rectangle 58">
              <a:extLst>
                <a:ext uri="{FF2B5EF4-FFF2-40B4-BE49-F238E27FC236}">
                  <a16:creationId xmlns:a16="http://schemas.microsoft.com/office/drawing/2014/main" id="{605DF480-369B-06F7-0457-91D907C3276F}"/>
                </a:ext>
              </a:extLst>
            </p:cNvPr>
            <p:cNvSpPr/>
            <p:nvPr/>
          </p:nvSpPr>
          <p:spPr>
            <a:xfrm>
              <a:off x="628650" y="5791200"/>
              <a:ext cx="10934700" cy="6000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39" name="Rectangle 59">
              <a:extLst>
                <a:ext uri="{FF2B5EF4-FFF2-40B4-BE49-F238E27FC236}">
                  <a16:creationId xmlns:a16="http://schemas.microsoft.com/office/drawing/2014/main" id="{F044BF07-944A-82AD-B9B9-04DA2CCB8566}"/>
                </a:ext>
              </a:extLst>
            </p:cNvPr>
            <p:cNvSpPr/>
            <p:nvPr/>
          </p:nvSpPr>
          <p:spPr>
            <a:xfrm>
              <a:off x="628650" y="5791200"/>
              <a:ext cx="47625" cy="6000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0" name="TextBox 60">
              <a:extLst>
                <a:ext uri="{FF2B5EF4-FFF2-40B4-BE49-F238E27FC236}">
                  <a16:creationId xmlns:a16="http://schemas.microsoft.com/office/drawing/2014/main" id="{9D5C70BD-FE13-CF31-B479-5E84774AD764}"/>
                </a:ext>
              </a:extLst>
            </p:cNvPr>
            <p:cNvSpPr txBox="1"/>
            <p:nvPr/>
          </p:nvSpPr>
          <p:spPr>
            <a:xfrm>
              <a:off x="799338" y="5972651"/>
              <a:ext cx="6774290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20" b="1" dirty="0" err="1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ThinkTrap</a:t>
              </a:r>
              <a:r>
                <a:rPr lang="zh-CN" altLang="en-US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：在黑盒条件下，提高长输出提示的搜索效率。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288536" cy="1280731"/>
            <a:chOff x="615696" y="552450"/>
            <a:chExt cx="4288536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问题背景：研究难点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文本离散，搜索空间又很大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47725" y="2346008"/>
            <a:ext cx="10448925" cy="1244917"/>
            <a:chOff x="847725" y="2346008"/>
            <a:chExt cx="10448925" cy="1244917"/>
          </a:xfrm>
        </p:grpSpPr>
        <p:sp>
          <p:nvSpPr>
            <p:cNvPr id="12" name="TextBox 12"/>
            <p:cNvSpPr txBox="1"/>
            <p:nvPr/>
          </p:nvSpPr>
          <p:spPr>
            <a:xfrm>
              <a:off x="858393" y="23460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难点一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4964" y="2730341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文本离散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781550" y="2867025"/>
              <a:ext cx="1514475" cy="1"/>
            </a:xfrm>
            <a:prstGeom prst="line">
              <a:avLst/>
            </a:prstGeom>
            <a:noFill/>
            <a:ln w="28575">
              <a:solidFill>
                <a:srgbClr val="16735C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17995" y="24526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引入连续表示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47725" y="3581400"/>
              <a:ext cx="10448925" cy="9525"/>
            </a:xfrm>
            <a:custGeom>
              <a:avLst/>
              <a:gdLst/>
              <a:ahLst/>
              <a:cxnLst/>
              <a:rect l="l" t="t" r="r" b="b"/>
              <a:pathLst>
                <a:path w="10448925" h="9525">
                  <a:moveTo>
                    <a:pt x="0" y="0"/>
                  </a:moveTo>
                  <a:lnTo>
                    <a:pt x="10448925" y="0"/>
                  </a:lnTo>
                </a:path>
              </a:pathLst>
            </a:custGeom>
            <a:noFill/>
            <a:ln w="14288">
              <a:solidFill>
                <a:srgbClr val="CFDBDF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54964" y="4127182"/>
            <a:ext cx="8711946" cy="939547"/>
            <a:chOff x="854964" y="4127182"/>
            <a:chExt cx="8711946" cy="939547"/>
          </a:xfrm>
        </p:grpSpPr>
        <p:sp>
          <p:nvSpPr>
            <p:cNvPr id="19" name="TextBox 19"/>
            <p:cNvSpPr txBox="1"/>
            <p:nvPr/>
          </p:nvSpPr>
          <p:spPr>
            <a:xfrm>
              <a:off x="858393" y="4127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难点二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4964" y="4511516"/>
              <a:ext cx="283448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完整嵌入空间维度高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781550" y="4648200"/>
              <a:ext cx="1514475" cy="1"/>
            </a:xfrm>
            <a:prstGeom prst="line">
              <a:avLst/>
            </a:prstGeom>
            <a:noFill/>
            <a:ln w="28575">
              <a:solidFill>
                <a:srgbClr val="16735C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17995" y="42338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在低维子空间中搜索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19519" y="4685348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用无梯度方法更新候选</a:t>
              </a:r>
            </a:p>
          </p:txBody>
        </p:sp>
      </p:grpSp>
      <p:grpSp>
        <p:nvGrpSpPr>
          <p:cNvPr id="25" name="Group 21"/>
          <p:cNvGrpSpPr/>
          <p:nvPr/>
        </p:nvGrpSpPr>
        <p:grpSpPr>
          <a:xfrm>
            <a:off x="6809613" y="2904172"/>
            <a:ext cx="3169920" cy="381381"/>
            <a:chOff x="6809613" y="2904172"/>
            <a:chExt cx="3169920" cy="381381"/>
          </a:xfrm>
        </p:grpSpPr>
        <p:sp>
          <p:nvSpPr>
            <p:cNvPr id="26" name="TextBox 20"/>
            <p:cNvSpPr txBox="1"/>
            <p:nvPr/>
          </p:nvSpPr>
          <p:spPr>
            <a:xfrm>
              <a:off x="6809613" y="2904172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用公开词嵌入表转换为文本</a:t>
              </a:r>
            </a:p>
          </p:txBody>
        </p:sp>
      </p:grpSp>
      <p:grpSp>
        <p:nvGrpSpPr>
          <p:cNvPr id="27" name="Group 23"/>
          <p:cNvGrpSpPr/>
          <p:nvPr/>
        </p:nvGrpSpPr>
        <p:grpSpPr>
          <a:xfrm>
            <a:off x="790956" y="5768340"/>
            <a:ext cx="8826475" cy="352044"/>
            <a:chOff x="790956" y="5768340"/>
            <a:chExt cx="8826475" cy="352044"/>
          </a:xfrm>
        </p:grpSpPr>
        <p:sp>
          <p:nvSpPr>
            <p:cNvPr id="28" name="TextBox 22"/>
            <p:cNvSpPr txBox="1"/>
            <p:nvPr/>
          </p:nvSpPr>
          <p:spPr>
            <a:xfrm>
              <a:off x="790956" y="5768340"/>
              <a:ext cx="8826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向量可以连续变化，但转换后的 token 可能突然改变，因此输出长度也可能跳变。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F22FDC-BB0A-E770-13B6-C3CF99B2FF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7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89FF279B-462A-E9A9-1791-78AE5A332FA1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16" name="ChapterNav_2">
            <a:extLst>
              <a:ext uri="{FF2B5EF4-FFF2-40B4-BE49-F238E27FC236}">
                <a16:creationId xmlns:a16="http://schemas.microsoft.com/office/drawing/2014/main" id="{84EB3A17-9E26-5E59-28F6-E4FB46D9DDE9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29" name="ChapterNav_3">
            <a:extLst>
              <a:ext uri="{FF2B5EF4-FFF2-40B4-BE49-F238E27FC236}">
                <a16:creationId xmlns:a16="http://schemas.microsoft.com/office/drawing/2014/main" id="{6B3A7764-BE7C-CA76-EE1D-0D3AE4D4617B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0" name="ChapterNav_4">
            <a:extLst>
              <a:ext uri="{FF2B5EF4-FFF2-40B4-BE49-F238E27FC236}">
                <a16:creationId xmlns:a16="http://schemas.microsoft.com/office/drawing/2014/main" id="{29075DBE-4558-534E-8373-0B1F09EB5982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1" name="ChapterNav_5">
            <a:extLst>
              <a:ext uri="{FF2B5EF4-FFF2-40B4-BE49-F238E27FC236}">
                <a16:creationId xmlns:a16="http://schemas.microsoft.com/office/drawing/2014/main" id="{7D876F16-AA94-1F2C-675D-A2F361C72AFF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2">
            <a:extLst>
              <a:ext uri="{FF2B5EF4-FFF2-40B4-BE49-F238E27FC236}">
                <a16:creationId xmlns:a16="http://schemas.microsoft.com/office/drawing/2014/main" id="{50F24F06-716E-CE53-113F-82FFD0675185}"/>
              </a:ext>
            </a:extLst>
          </p:cNvPr>
          <p:cNvSpPr/>
          <p:nvPr/>
        </p:nvSpPr>
        <p:spPr>
          <a:xfrm>
            <a:off x="673099" y="3141155"/>
            <a:ext cx="10693400" cy="649795"/>
          </a:xfrm>
          <a:prstGeom prst="rect">
            <a:avLst/>
          </a:prstGeom>
          <a:solidFill>
            <a:srgbClr val="E5F2ED"/>
          </a:solidFill>
          <a:ln>
            <a:noFill/>
          </a:ln>
        </p:spPr>
      </p:sp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3965829" cy="1174417"/>
            <a:chOff x="615696" y="552450"/>
            <a:chExt cx="3965829" cy="1174417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263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02</a:t>
              </a:r>
              <a:endParaRPr lang="en-US" sz="3000" b="1" dirty="0">
                <a:solidFill>
                  <a:srgbClr val="4D787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138499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汇报</a:t>
              </a:r>
              <a:r>
                <a:rPr lang="zh-CN" altLang="en-US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目录</a:t>
              </a:r>
              <a:endParaRPr lang="zh-CN" sz="2700" b="1" dirty="0">
                <a:solidFill>
                  <a:srgbClr val="202B3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396582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敲重点，需要</a:t>
              </a:r>
              <a:r>
                <a:rPr lang="en-US" alt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LLM</a:t>
              </a:r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知识基础</a:t>
              </a:r>
              <a:endParaRPr lang="zh-CN" sz="255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4672" y="2349818"/>
            <a:ext cx="10530078" cy="593407"/>
            <a:chOff x="804672" y="2349818"/>
            <a:chExt cx="10530078" cy="593407"/>
          </a:xfrm>
        </p:grpSpPr>
        <p:sp>
          <p:nvSpPr>
            <p:cNvPr id="12" name="TextBox 12"/>
            <p:cNvSpPr txBox="1"/>
            <p:nvPr/>
          </p:nvSpPr>
          <p:spPr>
            <a:xfrm>
              <a:off x="804672" y="234981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4233" y="23983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问题背景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3326" y="2422684"/>
              <a:ext cx="4424172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少量请求为什么也可能拖慢服务？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838325" y="293370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04672" y="3207068"/>
            <a:ext cx="10530078" cy="593407"/>
            <a:chOff x="804672" y="3207068"/>
            <a:chExt cx="10530078" cy="593407"/>
          </a:xfrm>
        </p:grpSpPr>
        <p:sp>
          <p:nvSpPr>
            <p:cNvPr id="17" name="TextBox 17"/>
            <p:cNvSpPr txBox="1"/>
            <p:nvPr/>
          </p:nvSpPr>
          <p:spPr>
            <a:xfrm>
              <a:off x="804672" y="320706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4233" y="32556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方法原理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3326" y="3279934"/>
              <a:ext cx="530458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看不到模型内部，怎样搜索长输出提示？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838325" y="379095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04672" y="4064318"/>
            <a:ext cx="10530078" cy="593407"/>
            <a:chOff x="804672" y="4064318"/>
            <a:chExt cx="10530078" cy="593407"/>
          </a:xfrm>
        </p:grpSpPr>
        <p:sp>
          <p:nvSpPr>
            <p:cNvPr id="22" name="TextBox 22"/>
            <p:cNvSpPr txBox="1"/>
            <p:nvPr/>
          </p:nvSpPr>
          <p:spPr>
            <a:xfrm>
              <a:off x="804672" y="406431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64233" y="411289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实验与防御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3326" y="4137184"/>
              <a:ext cx="501111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方法是否有效，服务和防御表现如何？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838325" y="464820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04672" y="4921568"/>
            <a:ext cx="8719769" cy="557403"/>
            <a:chOff x="804672" y="4921568"/>
            <a:chExt cx="8719769" cy="557403"/>
          </a:xfrm>
        </p:grpSpPr>
        <p:sp>
          <p:nvSpPr>
            <p:cNvPr id="27" name="TextBox 27"/>
            <p:cNvSpPr txBox="1"/>
            <p:nvPr/>
          </p:nvSpPr>
          <p:spPr>
            <a:xfrm>
              <a:off x="804672" y="492156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64233" y="49701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总结思考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3326" y="4994434"/>
              <a:ext cx="501111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证据支持哪些结论，还需要怎样验证？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A59DD3-5C31-A790-1354-90C4D73494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8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RouteOutline_2">
            <a:extLst>
              <a:ext uri="{FF2B5EF4-FFF2-40B4-BE49-F238E27FC236}">
                <a16:creationId xmlns:a16="http://schemas.microsoft.com/office/drawing/2014/main" id="{FFB59C57-3061-81DE-B467-F18C516DCD5D}"/>
              </a:ext>
            </a:extLst>
          </p:cNvPr>
          <p:cNvSpPr/>
          <p:nvPr/>
        </p:nvSpPr>
        <p:spPr>
          <a:xfrm>
            <a:off x="673100" y="3127375"/>
            <a:ext cx="10693400" cy="673100"/>
          </a:xfrm>
          <a:prstGeom prst="rect">
            <a:avLst/>
          </a:prstGeom>
          <a:noFill/>
          <a:ln w="28575" cap="flat" cmpd="sng" algn="ctr">
            <a:solidFill>
              <a:srgbClr val="1B745E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ChapterRouteMarker_2">
            <a:extLst>
              <a:ext uri="{FF2B5EF4-FFF2-40B4-BE49-F238E27FC236}">
                <a16:creationId xmlns:a16="http://schemas.microsoft.com/office/drawing/2014/main" id="{4E42C2EA-2B97-B34D-BA6A-46BD6D3B6F37}"/>
              </a:ext>
            </a:extLst>
          </p:cNvPr>
          <p:cNvSpPr/>
          <p:nvPr/>
        </p:nvSpPr>
        <p:spPr>
          <a:xfrm>
            <a:off x="673100" y="3244850"/>
            <a:ext cx="63500" cy="482600"/>
          </a:xfrm>
          <a:prstGeom prst="rect">
            <a:avLst/>
          </a:prstGeom>
          <a:solidFill>
            <a:srgbClr val="1B74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ChapterNav_1">
            <a:extLst>
              <a:ext uri="{FF2B5EF4-FFF2-40B4-BE49-F238E27FC236}">
                <a16:creationId xmlns:a16="http://schemas.microsoft.com/office/drawing/2014/main" id="{D60FA2FA-3BD8-3035-0E1A-710384E41649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3" name="ChapterNav_2">
            <a:extLst>
              <a:ext uri="{FF2B5EF4-FFF2-40B4-BE49-F238E27FC236}">
                <a16:creationId xmlns:a16="http://schemas.microsoft.com/office/drawing/2014/main" id="{7A144251-D36B-026F-0F74-82A8A9BE5CDD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4" name="ChapterNav_3">
            <a:extLst>
              <a:ext uri="{FF2B5EF4-FFF2-40B4-BE49-F238E27FC236}">
                <a16:creationId xmlns:a16="http://schemas.microsoft.com/office/drawing/2014/main" id="{990F2454-C59F-3665-BD6A-07C6C4CC7CD0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5" name="ChapterNav_4">
            <a:extLst>
              <a:ext uri="{FF2B5EF4-FFF2-40B4-BE49-F238E27FC236}">
                <a16:creationId xmlns:a16="http://schemas.microsoft.com/office/drawing/2014/main" id="{B08E6CCD-7195-2BB1-9938-3A3130ADEC75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6" name="ChapterNav_5">
            <a:extLst>
              <a:ext uri="{FF2B5EF4-FFF2-40B4-BE49-F238E27FC236}">
                <a16:creationId xmlns:a16="http://schemas.microsoft.com/office/drawing/2014/main" id="{128E7374-755F-E2FB-7C43-BC27A0EE419B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2806373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6203962" cy="1280731"/>
            <a:chOff x="615696" y="552450"/>
            <a:chExt cx="6203962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116238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方法原理：</a:t>
              </a:r>
              <a:r>
                <a:rPr lang="zh-CN" altLang="en-US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流程概览</a:t>
              </a:r>
              <a:endParaRPr lang="zh-CN" sz="2700" b="1" dirty="0">
                <a:solidFill>
                  <a:srgbClr val="202B3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62039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ThinkTrap</a:t>
              </a:r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先搜索提示，再用于线上请求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42950" y="1988344"/>
            <a:ext cx="10668000" cy="2597849"/>
            <a:chOff x="742950" y="1988344"/>
            <a:chExt cx="10668000" cy="2597849"/>
          </a:xfrm>
        </p:grpSpPr>
        <p:sp>
          <p:nvSpPr>
            <p:cNvPr id="12" name="TextBox 12"/>
            <p:cNvSpPr txBox="1"/>
            <p:nvPr/>
          </p:nvSpPr>
          <p:spPr>
            <a:xfrm>
              <a:off x="742950" y="1988344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提示搜索阶段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533650"/>
              <a:ext cx="1666875" cy="828675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66802" y="2674144"/>
              <a:ext cx="125727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低维向量</a:t>
              </a:r>
              <a:r>
                <a:rPr lang="en-US" sz="188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z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514600" y="2952750"/>
              <a:ext cx="295275" cy="1"/>
            </a:xfrm>
            <a:prstGeom prst="line">
              <a:avLst/>
            </a:prstGeom>
            <a:noFill/>
            <a:ln w="23812">
              <a:solidFill>
                <a:srgbClr val="005A84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914650" y="2533650"/>
              <a:ext cx="1666875" cy="8286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13059" y="2674144"/>
              <a:ext cx="127005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投影嵌入</a:t>
              </a:r>
              <a:r>
                <a:rPr lang="en-US" sz="188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E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667250" y="2952750"/>
              <a:ext cx="295275" cy="1"/>
            </a:xfrm>
            <a:prstGeom prst="line">
              <a:avLst/>
            </a:prstGeom>
            <a:noFill/>
            <a:ln w="23812">
              <a:solidFill>
                <a:srgbClr val="005A84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67300" y="2533650"/>
              <a:ext cx="1666875" cy="8286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72102" y="2674144"/>
              <a:ext cx="125727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解码提示</a:t>
              </a:r>
              <a:r>
                <a:rPr lang="en-US" sz="188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p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19900" y="2952750"/>
              <a:ext cx="295275" cy="1"/>
            </a:xfrm>
            <a:prstGeom prst="line">
              <a:avLst/>
            </a:prstGeom>
            <a:noFill/>
            <a:ln w="23812">
              <a:solidFill>
                <a:srgbClr val="005A84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19950" y="2533650"/>
              <a:ext cx="1666875" cy="8286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52112" y="2674144"/>
              <a:ext cx="10025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目标</a:t>
              </a:r>
              <a:r>
                <a:rPr lang="en-US" sz="188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API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972550" y="2952750"/>
              <a:ext cx="295275" cy="1"/>
            </a:xfrm>
            <a:prstGeom prst="line">
              <a:avLst/>
            </a:prstGeom>
            <a:noFill/>
            <a:ln w="23812">
              <a:solidFill>
                <a:srgbClr val="005A84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372600" y="2533650"/>
              <a:ext cx="2038350" cy="828675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763139" y="2674144"/>
              <a:ext cx="125727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输出长度</a:t>
              </a:r>
              <a:r>
                <a:rPr lang="en-US" sz="188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93376" y="30275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5C6B73"/>
                  </a:solidFill>
                  <a:latin typeface="Arial"/>
                  <a:ea typeface="Microsoft YaHei"/>
                  <a:cs typeface="Arial"/>
                </a:rPr>
                <a:t>评分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0391775" y="338137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23812">
              <a:solidFill>
                <a:srgbClr val="16735C"/>
              </a:solidFill>
            </a:ln>
          </p:spPr>
        </p:sp>
        <p:sp>
          <p:nvSpPr>
            <p:cNvPr id="33" name="Line 33"/>
            <p:cNvSpPr/>
            <p:nvPr/>
          </p:nvSpPr>
          <p:spPr>
            <a:xfrm flipH="1">
              <a:off x="1581150" y="3790950"/>
              <a:ext cx="8810625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34" name="Line 34"/>
            <p:cNvSpPr/>
            <p:nvPr/>
          </p:nvSpPr>
          <p:spPr>
            <a:xfrm flipV="1">
              <a:off x="1581150" y="3400425"/>
              <a:ext cx="1" cy="390525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19575" y="3883819"/>
              <a:ext cx="4173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长度反馈</a:t>
              </a:r>
              <a:r>
                <a:rPr lang="en-US" sz="188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en-US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r>
                <a:rPr lang="en-US" sz="188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zh-CN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更新分布</a:t>
              </a:r>
              <a:r>
                <a:rPr lang="en-US" sz="188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en-US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  <a:r>
                <a:rPr lang="en-US" sz="188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zh-CN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新的低维候选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40274" y="4278154"/>
              <a:ext cx="2568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公开模型只提供词表与嵌入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4820126"/>
            <a:ext cx="10071506" cy="396050"/>
            <a:chOff x="762000" y="4820126"/>
            <a:chExt cx="10071506" cy="396050"/>
          </a:xfrm>
        </p:grpSpPr>
        <p:sp>
          <p:nvSpPr>
            <p:cNvPr id="38" name="TextBox 38"/>
            <p:cNvSpPr txBox="1"/>
            <p:nvPr/>
          </p:nvSpPr>
          <p:spPr>
            <a:xfrm>
              <a:off x="762000" y="4826794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后续服务实验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71088" y="4820126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搜索得到的提示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514975" y="4933950"/>
              <a:ext cx="942975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0563" y="4820126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线上请求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001000" y="4933950"/>
              <a:ext cx="914400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81338" y="4820126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观察服务性能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" y="5791200"/>
            <a:ext cx="10934700" cy="600075"/>
            <a:chOff x="628650" y="5791200"/>
            <a:chExt cx="10934700" cy="600075"/>
          </a:xfrm>
        </p:grpSpPr>
        <p:sp>
          <p:nvSpPr>
            <p:cNvPr id="45" name="Rectangle 45"/>
            <p:cNvSpPr/>
            <p:nvPr/>
          </p:nvSpPr>
          <p:spPr>
            <a:xfrm>
              <a:off x="628650" y="5791200"/>
              <a:ext cx="10934700" cy="6000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8650" y="5791200"/>
              <a:ext cx="47625" cy="6000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9338" y="5972651"/>
              <a:ext cx="406857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搜索阶段同样需要查询目标</a:t>
              </a:r>
              <a:r>
                <a:rPr lang="en-US" sz="202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API</a:t>
              </a:r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82992" y="3018854"/>
            <a:ext cx="1024890" cy="293370"/>
            <a:chOff x="1082992" y="3018854"/>
            <a:chExt cx="1024890" cy="293370"/>
          </a:xfrm>
        </p:grpSpPr>
        <p:sp>
          <p:nvSpPr>
            <p:cNvPr id="55" name="TextBox 55"/>
            <p:cNvSpPr txBox="1"/>
            <p:nvPr/>
          </p:nvSpPr>
          <p:spPr>
            <a:xfrm>
              <a:off x="1082992" y="3018854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无梯度优化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336608" y="3018854"/>
            <a:ext cx="822960" cy="293370"/>
            <a:chOff x="3336608" y="3018854"/>
            <a:chExt cx="822960" cy="293370"/>
          </a:xfrm>
        </p:grpSpPr>
        <p:sp>
          <p:nvSpPr>
            <p:cNvPr id="57" name="TextBox 57"/>
            <p:cNvSpPr txBox="1"/>
            <p:nvPr/>
          </p:nvSpPr>
          <p:spPr>
            <a:xfrm>
              <a:off x="3336608" y="3018854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低维投影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489258" y="3018854"/>
            <a:ext cx="822960" cy="293370"/>
            <a:chOff x="5489258" y="3018854"/>
            <a:chExt cx="822960" cy="293370"/>
          </a:xfrm>
        </p:grpSpPr>
        <p:sp>
          <p:nvSpPr>
            <p:cNvPr id="59" name="TextBox 59"/>
            <p:cNvSpPr txBox="1"/>
            <p:nvPr/>
          </p:nvSpPr>
          <p:spPr>
            <a:xfrm>
              <a:off x="5489258" y="3018854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近邻解码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641908" y="3018854"/>
            <a:ext cx="822960" cy="293370"/>
            <a:chOff x="7641908" y="3018854"/>
            <a:chExt cx="822960" cy="293370"/>
          </a:xfrm>
        </p:grpSpPr>
        <p:sp>
          <p:nvSpPr>
            <p:cNvPr id="61" name="TextBox 61"/>
            <p:cNvSpPr txBox="1"/>
            <p:nvPr/>
          </p:nvSpPr>
          <p:spPr>
            <a:xfrm>
              <a:off x="7641908" y="3018854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查询模型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B91F5F-6D6D-DA60-E59F-1E61B64805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9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8B6A50FD-10F0-2068-943F-924AACFC2443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15" name="ChapterNav_2">
            <a:extLst>
              <a:ext uri="{FF2B5EF4-FFF2-40B4-BE49-F238E27FC236}">
                <a16:creationId xmlns:a16="http://schemas.microsoft.com/office/drawing/2014/main" id="{05C29088-C0A9-CD07-8240-E69F76A614ED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19" name="ChapterNav_3">
            <a:extLst>
              <a:ext uri="{FF2B5EF4-FFF2-40B4-BE49-F238E27FC236}">
                <a16:creationId xmlns:a16="http://schemas.microsoft.com/office/drawing/2014/main" id="{1895D82B-4845-33DE-E8E8-82087F6C42B8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3" name="ChapterNav_4">
            <a:extLst>
              <a:ext uri="{FF2B5EF4-FFF2-40B4-BE49-F238E27FC236}">
                <a16:creationId xmlns:a16="http://schemas.microsoft.com/office/drawing/2014/main" id="{7EDE8E48-F28A-17B3-8BC1-B4D0986C025E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27" name="ChapterNav_5">
            <a:extLst>
              <a:ext uri="{FF2B5EF4-FFF2-40B4-BE49-F238E27FC236}">
                <a16:creationId xmlns:a16="http://schemas.microsoft.com/office/drawing/2014/main" id="{2B8EAC27-CBE8-2271-024D-73735B5FE588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288536" cy="1280731"/>
            <a:chOff x="615696" y="552450"/>
            <a:chExt cx="4288536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方法原理：低维投影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在低维空间里搜索提示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71525" y="2104072"/>
            <a:ext cx="9614890" cy="2022635"/>
            <a:chOff x="771525" y="2104072"/>
            <a:chExt cx="9614890" cy="2022635"/>
          </a:xfrm>
        </p:grpSpPr>
        <p:sp>
          <p:nvSpPr>
            <p:cNvPr id="12" name="TextBox 12"/>
            <p:cNvSpPr txBox="1"/>
            <p:nvPr/>
          </p:nvSpPr>
          <p:spPr>
            <a:xfrm>
              <a:off x="780669" y="2104072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完整提示嵌入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1525" y="2546509"/>
              <a:ext cx="2857063" cy="1004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8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409,600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64102" y="2837974"/>
              <a:ext cx="359004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9625" y="3388519"/>
              <a:ext cx="2561844" cy="7381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论文说明示例</a:t>
              </a:r>
              <a:br/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100 </a:t>
              </a: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个</a:t>
              </a:r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en-US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4096 </a:t>
              </a: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维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5305425" y="2981325"/>
              <a:ext cx="2857500" cy="1"/>
            </a:xfrm>
            <a:prstGeom prst="line">
              <a:avLst/>
            </a:prstGeom>
            <a:noFill/>
            <a:ln w="28575">
              <a:solidFill>
                <a:srgbClr val="16735C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10656" y="2510790"/>
              <a:ext cx="17006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固定随机矩阵</a:t>
              </a:r>
              <a:r>
                <a:rPr lang="en-US" sz="180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9637" y="320468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投影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19769" y="2104072"/>
              <a:ext cx="15666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待优化变量</a:t>
              </a:r>
              <a:r>
                <a:rPr lang="en-US" sz="19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z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77325" y="2546509"/>
              <a:ext cx="843518" cy="1004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8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69627" y="2837974"/>
              <a:ext cx="359004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39200" y="3388519"/>
              <a:ext cx="974090" cy="7381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实验设置</a:t>
              </a:r>
              <a:br/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m = 20</a:t>
              </a:r>
            </a:p>
          </p:txBody>
        </p:sp>
      </p:grpSp>
      <p:grpSp>
        <p:nvGrpSpPr>
          <p:cNvPr id="24" name="Group 15"/>
          <p:cNvGrpSpPr/>
          <p:nvPr/>
        </p:nvGrpSpPr>
        <p:grpSpPr>
          <a:xfrm>
            <a:off x="829056" y="4442722"/>
            <a:ext cx="8823868" cy="1788343"/>
            <a:chOff x="829056" y="4442722"/>
            <a:chExt cx="8823868" cy="1788343"/>
          </a:xfrm>
        </p:grpSpPr>
        <p:grpSp>
          <p:nvGrpSpPr>
            <p:cNvPr id="25" name="Group 10"/>
            <p:cNvGrpSpPr/>
            <p:nvPr/>
          </p:nvGrpSpPr>
          <p:grpSpPr>
            <a:xfrm>
              <a:off x="862203" y="4442722"/>
              <a:ext cx="1908029" cy="610576"/>
              <a:chOff x="862203" y="4442722"/>
              <a:chExt cx="1908029" cy="610576"/>
            </a:xfrm>
          </p:grpSpPr>
          <p:sp>
            <p:nvSpPr>
              <p:cNvPr id="26" name="TextBox 8"/>
              <p:cNvSpPr txBox="1"/>
              <p:nvPr/>
            </p:nvSpPr>
            <p:spPr>
              <a:xfrm>
                <a:off x="862203" y="4510564"/>
                <a:ext cx="1744066" cy="542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8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e = Az ∈ ℝ</a:t>
                </a:r>
              </a:p>
            </p:txBody>
          </p:sp>
          <p:sp>
            <p:nvSpPr>
              <p:cNvPr id="27" name="TextBox 9"/>
              <p:cNvSpPr txBox="1"/>
              <p:nvPr/>
            </p:nvSpPr>
            <p:spPr>
              <a:xfrm>
                <a:off x="2477814" y="4442722"/>
                <a:ext cx="292418" cy="352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Ld</a:t>
                </a:r>
              </a:p>
            </p:txBody>
          </p:sp>
        </p:grpSp>
        <p:sp>
          <p:nvSpPr>
            <p:cNvPr id="28" name="TextBox 12"/>
            <p:cNvSpPr txBox="1"/>
            <p:nvPr/>
          </p:nvSpPr>
          <p:spPr>
            <a:xfrm>
              <a:off x="5843778" y="4510564"/>
              <a:ext cx="3809146" cy="542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80" dirty="0">
                  <a:solidFill>
                    <a:srgbClr val="005A84"/>
                  </a:solidFill>
                  <a:latin typeface="Cambria Math"/>
                  <a:ea typeface="Cambria Math"/>
                  <a:cs typeface="Cambria Math"/>
                </a:rPr>
                <a:t>E = reshape(e, L, d)</a:t>
              </a:r>
            </a:p>
          </p:txBody>
        </p:sp>
        <p:sp>
          <p:nvSpPr>
            <p:cNvPr id="29" name="TextBox 13"/>
            <p:cNvSpPr txBox="1"/>
            <p:nvPr/>
          </p:nvSpPr>
          <p:spPr>
            <a:xfrm>
              <a:off x="829056" y="5082540"/>
              <a:ext cx="700201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L：提示 token 数；d：每个 token 的嵌入维度；m：低维搜索维度。</a:t>
              </a:r>
              <a:br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e 是展平的 Ld 维向量；E 按 L 行、d 列排列，A 固定。</a:t>
              </a:r>
            </a:p>
          </p:txBody>
        </p:sp>
        <p:sp>
          <p:nvSpPr>
            <p:cNvPr id="30" name="TextBox 14"/>
            <p:cNvSpPr txBox="1"/>
            <p:nvPr/>
          </p:nvSpPr>
          <p:spPr>
            <a:xfrm>
              <a:off x="829818" y="5908358"/>
              <a:ext cx="78908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100-token 为规模示例；主实验 L = 20、m = 20。只搜索 z，不修改模型权重。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69B39B-4126-71CC-1E36-420ECD3F7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10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CE0DB11A-1F12-EFEF-06A8-F827E2034F50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1" name="ChapterNav_2">
            <a:extLst>
              <a:ext uri="{FF2B5EF4-FFF2-40B4-BE49-F238E27FC236}">
                <a16:creationId xmlns:a16="http://schemas.microsoft.com/office/drawing/2014/main" id="{2B3732D9-ED54-F977-CCB2-81C467B71652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2" name="ChapterNav_3">
            <a:extLst>
              <a:ext uri="{FF2B5EF4-FFF2-40B4-BE49-F238E27FC236}">
                <a16:creationId xmlns:a16="http://schemas.microsoft.com/office/drawing/2014/main" id="{4D396187-E0DD-2F5B-9C1B-6F9D396173C1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3" name="ChapterNav_4">
            <a:extLst>
              <a:ext uri="{FF2B5EF4-FFF2-40B4-BE49-F238E27FC236}">
                <a16:creationId xmlns:a16="http://schemas.microsoft.com/office/drawing/2014/main" id="{BBE6FE6E-9C75-00A1-116B-06563310F620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4" name="ChapterNav_5">
            <a:extLst>
              <a:ext uri="{FF2B5EF4-FFF2-40B4-BE49-F238E27FC236}">
                <a16:creationId xmlns:a16="http://schemas.microsoft.com/office/drawing/2014/main" id="{9884E90C-9D3A-1C71-8BD0-036EFCF4D1C9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51510" y="552450"/>
            <a:ext cx="4070262" cy="586740"/>
            <a:chOff x="651510" y="552450"/>
            <a:chExt cx="4070262" cy="586740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116238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方法原理：</a:t>
              </a:r>
              <a:r>
                <a:rPr lang="zh-CN" altLang="en-US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近邻</a:t>
              </a:r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解码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2742" y="1334452"/>
            <a:ext cx="7578090" cy="498729"/>
            <a:chOff x="602742" y="1334452"/>
            <a:chExt cx="7578090" cy="498729"/>
          </a:xfrm>
        </p:grpSpPr>
        <p:sp>
          <p:nvSpPr>
            <p:cNvPr id="62" name="TextBox 10"/>
            <p:cNvSpPr txBox="1"/>
            <p:nvPr/>
          </p:nvSpPr>
          <p:spPr>
            <a:xfrm>
              <a:off x="602742" y="1334452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用公开模型的词嵌入表，将向量转换为提示文本。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8294" y="2075498"/>
            <a:ext cx="4086606" cy="2266664"/>
            <a:chOff x="828294" y="2075498"/>
            <a:chExt cx="4086606" cy="2266664"/>
          </a:xfrm>
        </p:grpSpPr>
        <p:sp>
          <p:nvSpPr>
            <p:cNvPr id="13" name="TextBox 13"/>
            <p:cNvSpPr txBox="1"/>
            <p:nvPr/>
          </p:nvSpPr>
          <p:spPr>
            <a:xfrm>
              <a:off x="828294" y="2075498"/>
              <a:ext cx="34855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公开词嵌入表中的候选 token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247775" y="2867025"/>
              <a:ext cx="171450" cy="171450"/>
            </a:xfrm>
            <a:prstGeom prst="ellipse">
              <a:avLst/>
            </a:prstGeom>
            <a:solidFill>
              <a:srgbClr val="CFDBD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68755" y="2847975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T₁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2266950" y="2590800"/>
              <a:ext cx="171450" cy="171450"/>
            </a:xfrm>
            <a:prstGeom prst="ellipse">
              <a:avLst/>
            </a:prstGeom>
            <a:solidFill>
              <a:srgbClr val="CFDBDF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124325" y="2638425"/>
              <a:ext cx="171450" cy="171450"/>
            </a:xfrm>
            <a:prstGeom prst="ellipse">
              <a:avLst/>
            </a:prstGeom>
            <a:solidFill>
              <a:srgbClr val="CFDBDF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743450" y="3286125"/>
              <a:ext cx="171450" cy="171450"/>
            </a:xfrm>
            <a:prstGeom prst="ellipse">
              <a:avLst/>
            </a:prstGeom>
            <a:solidFill>
              <a:srgbClr val="CFDBD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476375" y="3714750"/>
              <a:ext cx="171450" cy="171450"/>
            </a:xfrm>
            <a:prstGeom prst="ellipse">
              <a:avLst/>
            </a:prstGeom>
            <a:solidFill>
              <a:srgbClr val="CFDBD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581400" y="3714750"/>
              <a:ext cx="171450" cy="171450"/>
            </a:xfrm>
            <a:prstGeom prst="ellipse">
              <a:avLst/>
            </a:prstGeom>
            <a:solidFill>
              <a:srgbClr val="CFDBD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02380" y="3695700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T₆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2790825" y="3295650"/>
              <a:ext cx="171450" cy="171450"/>
            </a:xfrm>
            <a:prstGeom prst="ellipse">
              <a:avLst/>
            </a:prstGeom>
            <a:solidFill>
              <a:srgbClr val="005A84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2323719" y="3532822"/>
              <a:ext cx="193365" cy="381381"/>
              <a:chOff x="2323719" y="3532822"/>
              <a:chExt cx="193365" cy="38138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2323719" y="3532822"/>
                <a:ext cx="1641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52916" y="3665934"/>
                <a:ext cx="64168" cy="247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7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i</a:t>
                </a:r>
              </a:p>
            </p:txBody>
          </p:sp>
        </p:grpSp>
        <p:sp>
          <p:nvSpPr>
            <p:cNvPr id="26" name="Ellipse 26"/>
            <p:cNvSpPr/>
            <p:nvPr/>
          </p:nvSpPr>
          <p:spPr>
            <a:xfrm>
              <a:off x="3314700" y="2905125"/>
              <a:ext cx="209550" cy="209550"/>
            </a:xfrm>
            <a:prstGeom prst="ellipse">
              <a:avLst/>
            </a:prstGeom>
            <a:solidFill>
              <a:srgbClr val="BE4B4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581781" y="2828734"/>
              <a:ext cx="414989" cy="396050"/>
              <a:chOff x="3581781" y="2828734"/>
              <a:chExt cx="414989" cy="39605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3581781" y="2872740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BE4B42"/>
                    </a:solidFill>
                    <a:latin typeface="Cambria Math"/>
                    <a:ea typeface="Cambria Math"/>
                    <a:cs typeface="Cambria Math"/>
                  </a:rPr>
                  <a:t>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724999" y="2995612"/>
                <a:ext cx="98515" cy="2288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70" dirty="0">
                    <a:solidFill>
                      <a:srgbClr val="BE4B42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724999" y="2828734"/>
                <a:ext cx="271771" cy="2288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70" dirty="0">
                    <a:solidFill>
                      <a:srgbClr val="BE4B42"/>
                    </a:solidFill>
                    <a:latin typeface="Cambria Math"/>
                    <a:ea typeface="Cambria Math"/>
                    <a:cs typeface="Cambria Math"/>
                  </a:rPr>
                  <a:t>sur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 flipV="1">
              <a:off x="2981325" y="3086100"/>
              <a:ext cx="323850" cy="238125"/>
            </a:xfrm>
            <a:prstGeom prst="line">
              <a:avLst/>
            </a:prstGeom>
            <a:noFill/>
            <a:ln w="22860">
              <a:solidFill>
                <a:srgbClr val="BE4B42"/>
              </a:solidFill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9437" y="4004786"/>
              <a:ext cx="265947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最近邻：选第 3 个 token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72450" y="2305050"/>
            <a:ext cx="3124200" cy="2800350"/>
            <a:chOff x="8172450" y="2305050"/>
            <a:chExt cx="3124200" cy="2800350"/>
          </a:xfrm>
        </p:grpSpPr>
        <p:sp>
          <p:nvSpPr>
            <p:cNvPr id="34" name="Rectangle 34"/>
            <p:cNvSpPr/>
            <p:nvPr/>
          </p:nvSpPr>
          <p:spPr>
            <a:xfrm>
              <a:off x="8172450" y="2305050"/>
              <a:ext cx="3124200" cy="5143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2672" y="2444115"/>
              <a:ext cx="13437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位置向量 eᵢ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734550" y="2847975"/>
              <a:ext cx="1" cy="180975"/>
            </a:xfrm>
            <a:prstGeom prst="line">
              <a:avLst/>
            </a:prstGeom>
            <a:noFill/>
            <a:ln w="22860">
              <a:solidFill>
                <a:srgbClr val="16735C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72450" y="3067050"/>
              <a:ext cx="3124200" cy="5143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47144" y="3206115"/>
              <a:ext cx="23748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最近 token 的索引 jᵢ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734550" y="3609975"/>
              <a:ext cx="1" cy="180975"/>
            </a:xfrm>
            <a:prstGeom prst="line">
              <a:avLst/>
            </a:prstGeom>
            <a:noFill/>
            <a:ln w="22860">
              <a:solidFill>
                <a:srgbClr val="16735C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72450" y="3829050"/>
              <a:ext cx="3124200" cy="5143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89292" y="3968115"/>
              <a:ext cx="24905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对应 token，组成文本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734550" y="4371975"/>
              <a:ext cx="1" cy="180975"/>
            </a:xfrm>
            <a:prstGeom prst="line">
              <a:avLst/>
            </a:prstGeom>
            <a:noFill/>
            <a:ln w="22860">
              <a:solidFill>
                <a:srgbClr val="16735C"/>
              </a:solidFill>
              <a:tailEnd type="triangle" w="lg" len="lg"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172450" y="4591050"/>
              <a:ext cx="3124200" cy="51435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84833" y="4730115"/>
              <a:ext cx="14994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提交目标 API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29056" y="4349091"/>
            <a:ext cx="7724851" cy="1837968"/>
            <a:chOff x="829056" y="4349091"/>
            <a:chExt cx="7724851" cy="1837968"/>
          </a:xfrm>
        </p:grpSpPr>
        <p:grpSp>
          <p:nvGrpSpPr>
            <p:cNvPr id="57" name="Group 57"/>
            <p:cNvGrpSpPr/>
            <p:nvPr/>
          </p:nvGrpSpPr>
          <p:grpSpPr>
            <a:xfrm>
              <a:off x="835152" y="4349091"/>
              <a:ext cx="3280344" cy="544568"/>
              <a:chOff x="835152" y="4349091"/>
              <a:chExt cx="3280344" cy="544568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835152" y="4409599"/>
                <a:ext cx="125303" cy="484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8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j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28135" y="4578548"/>
                <a:ext cx="81366" cy="314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1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i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94220" y="4409599"/>
                <a:ext cx="1494119" cy="484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8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= arg min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410225" y="4578548"/>
                <a:ext cx="81366" cy="314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1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j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474405" y="4409599"/>
                <a:ext cx="392389" cy="484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8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‖e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873140" y="4578548"/>
                <a:ext cx="81366" cy="314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1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i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939224" y="4409599"/>
                <a:ext cx="519003" cy="484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8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− T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509410" y="4578548"/>
                <a:ext cx="81366" cy="314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1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j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509410" y="4349091"/>
                <a:ext cx="373963" cy="314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1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sur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804094" y="4409599"/>
                <a:ext cx="208768" cy="484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8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‖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979945" y="4578548"/>
                <a:ext cx="135551" cy="314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1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829056" y="4901565"/>
              <a:ext cx="75773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eᵢ：提示第 i 个位置的向量；Tⱼˢᵘʳ：公开模型第 j 个 token 的嵌入。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9056" y="5282565"/>
              <a:ext cx="77239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arg min：找出距离最小的索引；‖·‖₂：欧氏距离；再取对应的 token。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9056" y="5835015"/>
              <a:ext cx="77248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逐位置重复，拼成提示文本；是否有效，仍由目标 API 的输出检验。</a:t>
              </a:r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0C45E5-69E9-EA6B-6A46-B8D967315A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11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9" name="ChapterNav_1">
            <a:extLst>
              <a:ext uri="{FF2B5EF4-FFF2-40B4-BE49-F238E27FC236}">
                <a16:creationId xmlns:a16="http://schemas.microsoft.com/office/drawing/2014/main" id="{17B5E667-E8DF-BCAE-5017-D3D2BB362019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10" name="ChapterNav_2">
            <a:extLst>
              <a:ext uri="{FF2B5EF4-FFF2-40B4-BE49-F238E27FC236}">
                <a16:creationId xmlns:a16="http://schemas.microsoft.com/office/drawing/2014/main" id="{09FC350F-10B6-2557-AF02-54C414A39223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63" name="ChapterNav_3">
            <a:extLst>
              <a:ext uri="{FF2B5EF4-FFF2-40B4-BE49-F238E27FC236}">
                <a16:creationId xmlns:a16="http://schemas.microsoft.com/office/drawing/2014/main" id="{EE41A34D-3C41-99DB-0FB5-74EE3E88A132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64" name="ChapterNav_4">
            <a:extLst>
              <a:ext uri="{FF2B5EF4-FFF2-40B4-BE49-F238E27FC236}">
                <a16:creationId xmlns:a16="http://schemas.microsoft.com/office/drawing/2014/main" id="{3AB0E991-1AD3-BF60-2D94-A2807E1AD7B5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65" name="ChapterNav_5">
            <a:extLst>
              <a:ext uri="{FF2B5EF4-FFF2-40B4-BE49-F238E27FC236}">
                <a16:creationId xmlns:a16="http://schemas.microsoft.com/office/drawing/2014/main" id="{47805D8B-DB22-EFD8-0A90-6852875CF0FC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288536" cy="1280731"/>
            <a:chOff x="615696" y="552450"/>
            <a:chExt cx="4288536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方法原理：查询反馈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输出长度就是搜索反馈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856107" y="2230755"/>
            <a:ext cx="4668393" cy="3496151"/>
            <a:chOff x="856107" y="2230755"/>
            <a:chExt cx="4668393" cy="3496151"/>
          </a:xfrm>
        </p:grpSpPr>
        <p:sp>
          <p:nvSpPr>
            <p:cNvPr id="12" name="TextBox 12"/>
            <p:cNvSpPr txBox="1"/>
            <p:nvPr/>
          </p:nvSpPr>
          <p:spPr>
            <a:xfrm>
              <a:off x="856107" y="2230755"/>
              <a:ext cx="14044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候选文本</a:t>
              </a:r>
              <a:r>
                <a:rPr lang="en-US" sz="21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p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95350" y="2724150"/>
              <a:ext cx="309562" cy="14287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262062" y="2724150"/>
              <a:ext cx="309562" cy="14287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28775" y="2724150"/>
              <a:ext cx="309562" cy="14287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995488" y="2724150"/>
              <a:ext cx="309562" cy="14287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362200" y="2724150"/>
              <a:ext cx="309562" cy="14287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28912" y="2724150"/>
              <a:ext cx="309562" cy="14287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3190875" y="2800350"/>
              <a:ext cx="847725" cy="1"/>
            </a:xfrm>
            <a:prstGeom prst="line">
              <a:avLst/>
            </a:prstGeom>
            <a:noFill/>
            <a:ln w="23812">
              <a:solidFill>
                <a:srgbClr val="005A84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62425" y="2466975"/>
              <a:ext cx="1362075" cy="69532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84341" y="2673191"/>
              <a:ext cx="50871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API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632" y="34499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返回输出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04875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81906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58938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035969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13000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790031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167062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44094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921125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98156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675188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052219" y="391477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04875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281906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658938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035969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413000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90031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67062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544094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921125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298156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675188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052219" y="424815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04875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281906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658938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035969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413000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790031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167062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544094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921125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298156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675188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052219" y="4581525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04875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281906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658938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035969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413000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2790031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3167062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3544094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921125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4298156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675188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052219" y="4914900"/>
              <a:ext cx="319881" cy="1428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5350" y="5360194"/>
              <a:ext cx="310669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以生成</a:t>
              </a:r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数得到长度</a:t>
              </a:r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o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372225" y="2419350"/>
            <a:ext cx="5000625" cy="3256979"/>
            <a:chOff x="6372225" y="2419350"/>
            <a:chExt cx="5000625" cy="3256979"/>
          </a:xfrm>
        </p:grpSpPr>
        <p:sp>
          <p:nvSpPr>
            <p:cNvPr id="73" name="Rectangle 73"/>
            <p:cNvSpPr/>
            <p:nvPr/>
          </p:nvSpPr>
          <p:spPr>
            <a:xfrm>
              <a:off x="6372225" y="2419350"/>
              <a:ext cx="5000625" cy="257175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28257" y="26212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优化目标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50736" y="3120390"/>
              <a:ext cx="216328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>
                  <a:solidFill>
                    <a:srgbClr val="005A84"/>
                  </a:solidFill>
                  <a:latin typeface="Cambria Math"/>
                  <a:ea typeface="Cambria Math"/>
                  <a:cs typeface="Cambria Math"/>
                </a:rPr>
                <a:t>max</a:t>
              </a:r>
              <a:r>
                <a:rPr lang="en-US" sz="2240" baseline="-25000" dirty="0">
                  <a:solidFill>
                    <a:srgbClr val="005A84"/>
                  </a:solidFill>
                  <a:latin typeface="Cambria Math"/>
                  <a:ea typeface="Cambria Math"/>
                  <a:cs typeface="Cambria Math"/>
                </a:rPr>
                <a:t>z</a:t>
              </a:r>
              <a:r>
                <a:rPr lang="en-US" sz="3300" dirty="0">
                  <a:solidFill>
                    <a:srgbClr val="005A84"/>
                  </a:solidFill>
                  <a:latin typeface="Cambria Math"/>
                  <a:ea typeface="Cambria Math"/>
                  <a:cs typeface="Cambria Math"/>
                </a:rPr>
                <a:t> F(z)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27494" y="3824288"/>
              <a:ext cx="4278631" cy="392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250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F(z) = Length(API(Decode(Az)))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09969" y="5294948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让返回的输出长度尽可能大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85063" y="5791676"/>
            <a:ext cx="5459222" cy="396050"/>
            <a:chOff x="885063" y="5791676"/>
            <a:chExt cx="5459222" cy="396050"/>
          </a:xfrm>
        </p:grpSpPr>
        <p:sp>
          <p:nvSpPr>
            <p:cNvPr id="79" name="TextBox 79"/>
            <p:cNvSpPr txBox="1"/>
            <p:nvPr/>
          </p:nvSpPr>
          <p:spPr>
            <a:xfrm>
              <a:off x="885063" y="5791676"/>
              <a:ext cx="545922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这是可观察的黑盒评分，并非模型内部梯度。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C8AEDE-FAB4-06DB-2F64-C2CACCD0B6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12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F22CF12D-B025-9610-B49E-537A979EBB32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81" name="ChapterNav_2">
            <a:extLst>
              <a:ext uri="{FF2B5EF4-FFF2-40B4-BE49-F238E27FC236}">
                <a16:creationId xmlns:a16="http://schemas.microsoft.com/office/drawing/2014/main" id="{F9EE985C-B60C-81B4-9109-A7F45BE709D8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82" name="ChapterNav_3">
            <a:extLst>
              <a:ext uri="{FF2B5EF4-FFF2-40B4-BE49-F238E27FC236}">
                <a16:creationId xmlns:a16="http://schemas.microsoft.com/office/drawing/2014/main" id="{9654C26C-79EC-F182-06AC-52977A9CE79C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83" name="ChapterNav_4">
            <a:extLst>
              <a:ext uri="{FF2B5EF4-FFF2-40B4-BE49-F238E27FC236}">
                <a16:creationId xmlns:a16="http://schemas.microsoft.com/office/drawing/2014/main" id="{350855D5-11D5-AAA3-CD4A-BAAD35D0D306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84" name="ChapterNav_5">
            <a:extLst>
              <a:ext uri="{FF2B5EF4-FFF2-40B4-BE49-F238E27FC236}">
                <a16:creationId xmlns:a16="http://schemas.microsoft.com/office/drawing/2014/main" id="{C9B155C7-1036-B1EA-750E-F7A025AB2690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652010" cy="1280731"/>
            <a:chOff x="615696" y="552450"/>
            <a:chExt cx="4652010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方法原理：无梯度搜索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根据候选表现调整搜索分布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00481" y="1882140"/>
            <a:ext cx="7762883" cy="562707"/>
            <a:chOff x="800481" y="1882140"/>
            <a:chExt cx="7762883" cy="562707"/>
          </a:xfrm>
        </p:grpSpPr>
        <p:sp>
          <p:nvSpPr>
            <p:cNvPr id="13" name="TextBox 13"/>
            <p:cNvSpPr txBox="1"/>
            <p:nvPr/>
          </p:nvSpPr>
          <p:spPr>
            <a:xfrm>
              <a:off x="800481" y="1882140"/>
              <a:ext cx="4543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协方差矩阵自适应进化策略（CMA-ES）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1624" y="2201704"/>
              <a:ext cx="7761740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教学</a:t>
              </a:r>
              <a:r>
                <a:rPr lang="zh-CN" altLang="en-US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示例</a:t>
              </a:r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：采样三个候选，按输出长度排序，选前两名；数值和权重</a:t>
              </a:r>
              <a:r>
                <a:rPr lang="zh-CN" altLang="en-US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仅为说明之用</a:t>
              </a:r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9625" y="2512219"/>
            <a:ext cx="4572000" cy="2058543"/>
            <a:chOff x="809625" y="2512219"/>
            <a:chExt cx="4572000" cy="2058543"/>
          </a:xfrm>
        </p:grpSpPr>
        <p:sp>
          <p:nvSpPr>
            <p:cNvPr id="16" name="TextBox 16"/>
            <p:cNvSpPr txBox="1"/>
            <p:nvPr/>
          </p:nvSpPr>
          <p:spPr>
            <a:xfrm>
              <a:off x="809625" y="2512219"/>
              <a:ext cx="226961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① 采样、评分、选择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9625" y="2876550"/>
              <a:ext cx="4572000" cy="37147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2599" y="2963704"/>
              <a:ext cx="441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候选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63699" y="2963704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输出长度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54399" y="2963704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排序与选择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9625" y="3248025"/>
              <a:ext cx="4572000" cy="4381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81075" y="3409950"/>
              <a:ext cx="133350" cy="133350"/>
            </a:xfrm>
            <a:prstGeom prst="ellipse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10437" y="3357086"/>
              <a:ext cx="2925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zA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62937" y="3357086"/>
              <a:ext cx="12331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400 tokens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54399" y="337327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未入选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" y="3686175"/>
              <a:ext cx="4572000" cy="43815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81075" y="3848100"/>
              <a:ext cx="133350" cy="133350"/>
            </a:xfrm>
            <a:prstGeom prst="ellipse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10437" y="3795236"/>
              <a:ext cx="2925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zB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62937" y="3795236"/>
              <a:ext cx="136049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2800 tokens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54399" y="3811429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第 2，入选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" y="4124325"/>
              <a:ext cx="4572000" cy="43815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81075" y="4286250"/>
              <a:ext cx="133350" cy="133350"/>
            </a:xfrm>
            <a:prstGeom prst="ellipse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10437" y="4233386"/>
              <a:ext cx="2925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zC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62937" y="4233386"/>
              <a:ext cx="136049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3900 tokens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4399" y="4249579"/>
              <a:ext cx="1056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第 1，入选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324600" y="2512219"/>
            <a:ext cx="5031352" cy="2289429"/>
            <a:chOff x="6324600" y="2512219"/>
            <a:chExt cx="5031352" cy="2289429"/>
          </a:xfrm>
        </p:grpSpPr>
        <p:sp>
          <p:nvSpPr>
            <p:cNvPr id="37" name="TextBox 37"/>
            <p:cNvSpPr txBox="1"/>
            <p:nvPr/>
          </p:nvSpPr>
          <p:spPr>
            <a:xfrm>
              <a:off x="6324600" y="2512219"/>
              <a:ext cx="277578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② 新中心更靠近入选候选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19850" y="2867025"/>
              <a:ext cx="3848100" cy="1543050"/>
            </a:xfrm>
            <a:prstGeom prst="ellipse">
              <a:avLst/>
            </a:prstGeom>
            <a:solidFill>
              <a:srgbClr val="F0F5F6"/>
            </a:solidFill>
            <a:ln w="14288">
              <a:solidFill>
                <a:srgbClr val="CFDBDF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 rot="-1200000">
              <a:off x="9086850" y="2880360"/>
              <a:ext cx="2171700" cy="952500"/>
            </a:xfrm>
            <a:prstGeom prst="ellipse">
              <a:avLst/>
            </a:prstGeom>
            <a:solidFill>
              <a:srgbClr val="E5F2ED"/>
            </a:solidFill>
            <a:ln w="16192">
              <a:solidFill>
                <a:srgbClr val="16735C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6924675" y="3886200"/>
              <a:ext cx="171450" cy="171450"/>
            </a:xfrm>
            <a:prstGeom prst="ellipse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44893" y="3850958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220200" y="3752850"/>
              <a:ext cx="171450" cy="171450"/>
            </a:xfrm>
            <a:prstGeom prst="ellipse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40418" y="3717608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B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10458450" y="3064192"/>
              <a:ext cx="171450" cy="171450"/>
            </a:xfrm>
            <a:prstGeom prst="ellipse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678668" y="3028950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915275" y="3810000"/>
              <a:ext cx="171450" cy="1714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02B3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16749" y="4087654"/>
              <a:ext cx="9518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旧中心 μₜ</a:t>
              </a:r>
            </a:p>
          </p:txBody>
        </p:sp>
        <p:sp>
          <p:nvSpPr>
            <p:cNvPr id="48" name="Line 48"/>
            <p:cNvSpPr/>
            <p:nvPr/>
          </p:nvSpPr>
          <p:spPr>
            <a:xfrm flipV="1">
              <a:off x="8124825" y="3409950"/>
              <a:ext cx="1876425" cy="419100"/>
            </a:xfrm>
            <a:prstGeom prst="line">
              <a:avLst/>
            </a:prstGeom>
            <a:noFill/>
            <a:ln w="24765">
              <a:solidFill>
                <a:srgbClr val="16735C"/>
              </a:solidFill>
              <a:tailEnd type="triangle" w="lg" len="lg"/>
            </a:ln>
          </p:spPr>
        </p:sp>
        <p:sp>
          <p:nvSpPr>
            <p:cNvPr id="49" name="Polygon 49"/>
            <p:cNvSpPr/>
            <p:nvPr/>
          </p:nvSpPr>
          <p:spPr>
            <a:xfrm>
              <a:off x="10067925" y="325183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104775" y="0"/>
                  </a:moveTo>
                  <a:lnTo>
                    <a:pt x="209550" y="104775"/>
                  </a:lnTo>
                  <a:lnTo>
                    <a:pt x="104775" y="209550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16735C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10229850" y="3505200"/>
              <a:ext cx="171450" cy="542925"/>
            </a:xfrm>
            <a:custGeom>
              <a:avLst/>
              <a:gdLst/>
              <a:ahLst/>
              <a:cxnLst/>
              <a:rect l="l" t="t" r="r" b="b"/>
              <a:pathLst>
                <a:path w="171450" h="542925">
                  <a:moveTo>
                    <a:pt x="0" y="0"/>
                  </a:moveTo>
                  <a:lnTo>
                    <a:pt x="171450" y="542925"/>
                  </a:lnTo>
                </a:path>
              </a:pathLst>
            </a:custGeom>
            <a:noFill/>
            <a:ln w="12382">
              <a:solidFill>
                <a:srgbClr val="16735C"/>
              </a:solidFill>
              <a:custDash>
                <a:ds d="307692" sp="230769"/>
              </a:custDash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41230" y="4133850"/>
              <a:ext cx="1151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新中心 μₜ₊₁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48425" y="4552950"/>
              <a:ext cx="114300" cy="114300"/>
            </a:xfrm>
            <a:prstGeom prst="ellipse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41211" y="4522946"/>
              <a:ext cx="11960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蓝：未入选 A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220075" y="4552950"/>
              <a:ext cx="114300" cy="114300"/>
            </a:xfrm>
            <a:prstGeom prst="ellipse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12861" y="4522946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绿：入选 B、C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06196" y="4849235"/>
            <a:ext cx="10074974" cy="1493177"/>
            <a:chOff x="806196" y="4849235"/>
            <a:chExt cx="10074974" cy="1493177"/>
          </a:xfrm>
        </p:grpSpPr>
        <p:grpSp>
          <p:nvGrpSpPr>
            <p:cNvPr id="68" name="Group 68"/>
            <p:cNvGrpSpPr/>
            <p:nvPr/>
          </p:nvGrpSpPr>
          <p:grpSpPr>
            <a:xfrm>
              <a:off x="806196" y="4849235"/>
              <a:ext cx="2214466" cy="775252"/>
              <a:chOff x="806196" y="4849235"/>
              <a:chExt cx="2214466" cy="775252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806196" y="4992052"/>
                <a:ext cx="214713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255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μ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92657" y="5166122"/>
                <a:ext cx="385564" cy="324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t+1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347216" y="4992052"/>
                <a:ext cx="214713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55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=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730472" y="4968545"/>
                <a:ext cx="240774" cy="5585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8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∑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757355" y="5395072"/>
                <a:ext cx="232425" cy="229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7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j=1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824295" y="4849235"/>
                <a:ext cx="98546" cy="229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7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k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2065401" y="4992052"/>
                <a:ext cx="283369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55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w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2396642" y="5166122"/>
                <a:ext cx="83881" cy="324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j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2462593" y="4992052"/>
                <a:ext cx="214713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55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z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2690965" y="5166122"/>
                <a:ext cx="329697" cy="324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(j)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2690965" y="4929711"/>
                <a:ext cx="139748" cy="324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t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807720" y="5529262"/>
              <a:ext cx="3309666" cy="440055"/>
              <a:chOff x="807720" y="5529262"/>
              <a:chExt cx="3309666" cy="440055"/>
            </a:xfrm>
          </p:grpSpPr>
          <p:sp>
            <p:nvSpPr>
              <p:cNvPr id="69" name="TextBox 69"/>
              <p:cNvSpPr txBox="1"/>
              <p:nvPr/>
            </p:nvSpPr>
            <p:spPr>
              <a:xfrm>
                <a:off x="807720" y="5529262"/>
                <a:ext cx="1098137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005A84"/>
                    </a:solidFill>
                    <a:latin typeface="Microsoft YaHei"/>
                    <a:ea typeface="Microsoft YaHei"/>
                    <a:cs typeface="Microsoft YaHei"/>
                  </a:rPr>
                  <a:t>本例：μ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852803" y="5682853"/>
                <a:ext cx="339159" cy="286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t+1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2167890" y="5529262"/>
                <a:ext cx="94669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= 0.7z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020568" y="5682853"/>
                <a:ext cx="129078" cy="286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3135630" y="5529262"/>
                <a:ext cx="94669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+ 0.3z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3988308" y="5682853"/>
                <a:ext cx="129078" cy="286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</p:grpSp>
        <p:sp>
          <p:nvSpPr>
            <p:cNvPr id="76" name="TextBox 76"/>
            <p:cNvSpPr txBox="1"/>
            <p:nvPr/>
          </p:nvSpPr>
          <p:spPr>
            <a:xfrm>
              <a:off x="6201918" y="4974908"/>
              <a:ext cx="4679252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z₍ⱼ₎ᵗ：本轮按输出长度排序后，第 j 名的候选。</a:t>
              </a:r>
              <a:br/>
              <a:r>
                <a:rPr lang="zh-CN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wⱼ：正权重，合计为 1；本例第 1 名权重为 0.7。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10387" y="6005036"/>
              <a:ext cx="89967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均值 μ 决定搜索中心；协方差 Σ 调整方向与范围，让下一轮更偏向 B、C 所在区域。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071AAF-8E92-52C0-6E08-D01484947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13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83BB74B8-42E9-1F00-0C98-68AD52C7FF86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12" name="ChapterNav_2">
            <a:extLst>
              <a:ext uri="{FF2B5EF4-FFF2-40B4-BE49-F238E27FC236}">
                <a16:creationId xmlns:a16="http://schemas.microsoft.com/office/drawing/2014/main" id="{1BB7BE18-2FA1-2506-7CAB-2E6E6B9FEEB4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79" name="ChapterNav_3">
            <a:extLst>
              <a:ext uri="{FF2B5EF4-FFF2-40B4-BE49-F238E27FC236}">
                <a16:creationId xmlns:a16="http://schemas.microsoft.com/office/drawing/2014/main" id="{66116C28-DBF2-0E74-B2B3-67AF9427BE03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80" name="ChapterNav_4">
            <a:extLst>
              <a:ext uri="{FF2B5EF4-FFF2-40B4-BE49-F238E27FC236}">
                <a16:creationId xmlns:a16="http://schemas.microsoft.com/office/drawing/2014/main" id="{93D49238-A9C5-3F57-BECF-9953871DF9CE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81" name="ChapterNav_5">
            <a:extLst>
              <a:ext uri="{FF2B5EF4-FFF2-40B4-BE49-F238E27FC236}">
                <a16:creationId xmlns:a16="http://schemas.microsoft.com/office/drawing/2014/main" id="{B816E986-2696-80AA-34FA-682AF1D53A13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5518404" cy="1280731"/>
            <a:chOff x="615696" y="552450"/>
            <a:chExt cx="5518404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方法原理：线上请求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请求间隔短于占用时间，就可能积压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34949" y="2109311"/>
            <a:ext cx="10466451" cy="3274695"/>
            <a:chOff x="734949" y="2109311"/>
            <a:chExt cx="10466451" cy="3274695"/>
          </a:xfrm>
        </p:grpSpPr>
        <p:sp>
          <p:nvSpPr>
            <p:cNvPr id="12" name="Line 12"/>
            <p:cNvSpPr/>
            <p:nvPr/>
          </p:nvSpPr>
          <p:spPr>
            <a:xfrm>
              <a:off x="1123950" y="2533650"/>
              <a:ext cx="10077450" cy="1"/>
            </a:xfrm>
            <a:prstGeom prst="line">
              <a:avLst/>
            </a:prstGeom>
            <a:noFill/>
            <a:ln w="19050">
              <a:solidFill>
                <a:srgbClr val="5C6B73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21037" y="2109311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时间推进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0" y="2800350"/>
              <a:ext cx="3086100" cy="2095500"/>
            </a:xfrm>
            <a:prstGeom prst="rect">
              <a:avLst/>
            </a:prstGeom>
            <a:solidFill>
              <a:srgbClr val="BE4B42">
                <a:alpha val="8000"/>
              </a:srgbClr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1524000" y="2590800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4288">
              <a:solidFill>
                <a:srgbClr val="CFDBDF"/>
              </a:solidFill>
              <a:prstDash val="dash"/>
            </a:ln>
          </p:spPr>
        </p:sp>
        <p:sp>
          <p:nvSpPr>
            <p:cNvPr id="16" name="Ellipse 16"/>
            <p:cNvSpPr/>
            <p:nvPr/>
          </p:nvSpPr>
          <p:spPr>
            <a:xfrm>
              <a:off x="1466850" y="2476500"/>
              <a:ext cx="114300" cy="114300"/>
            </a:xfrm>
            <a:prstGeom prst="ellipse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24000" y="2924175"/>
              <a:ext cx="4638675" cy="276225"/>
            </a:xfrm>
            <a:prstGeom prst="rect">
              <a:avLst/>
            </a:prstGeom>
            <a:solidFill>
              <a:srgbClr val="E5F2ED"/>
            </a:solidFill>
            <a:ln w="14288">
              <a:solidFill>
                <a:srgbClr val="16735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4949" y="2973229"/>
              <a:ext cx="622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请求</a:t>
              </a:r>
              <a:r>
                <a:rPr lang="en-US" sz="15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1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038475" y="2590800"/>
              <a:ext cx="9525" cy="847725"/>
            </a:xfrm>
            <a:custGeom>
              <a:avLst/>
              <a:gdLst/>
              <a:ahLst/>
              <a:cxnLst/>
              <a:rect l="l" t="t" r="r" b="b"/>
              <a:pathLst>
                <a:path w="9525" h="847725">
                  <a:moveTo>
                    <a:pt x="0" y="0"/>
                  </a:moveTo>
                  <a:lnTo>
                    <a:pt x="0" y="847725"/>
                  </a:lnTo>
                </a:path>
              </a:pathLst>
            </a:custGeom>
            <a:noFill/>
            <a:ln w="14288">
              <a:solidFill>
                <a:srgbClr val="CFDBDF"/>
              </a:solidFill>
              <a:prstDash val="dash"/>
            </a:ln>
          </p:spPr>
        </p:sp>
        <p:sp>
          <p:nvSpPr>
            <p:cNvPr id="20" name="Ellipse 20"/>
            <p:cNvSpPr/>
            <p:nvPr/>
          </p:nvSpPr>
          <p:spPr>
            <a:xfrm>
              <a:off x="2981325" y="2476500"/>
              <a:ext cx="114300" cy="114300"/>
            </a:xfrm>
            <a:prstGeom prst="ellipse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38475" y="3438525"/>
              <a:ext cx="4638675" cy="276225"/>
            </a:xfrm>
            <a:prstGeom prst="rect">
              <a:avLst/>
            </a:prstGeom>
            <a:solidFill>
              <a:srgbClr val="E5F2ED"/>
            </a:solidFill>
            <a:ln w="14288">
              <a:solidFill>
                <a:srgbClr val="16735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4949" y="3487579"/>
              <a:ext cx="622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请求</a:t>
              </a:r>
              <a:r>
                <a:rPr lang="en-US" sz="15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2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552950" y="2590800"/>
              <a:ext cx="9525" cy="1362075"/>
            </a:xfrm>
            <a:custGeom>
              <a:avLst/>
              <a:gdLst/>
              <a:ahLst/>
              <a:cxnLst/>
              <a:rect l="l" t="t" r="r" b="b"/>
              <a:pathLst>
                <a:path w="9525" h="1362075">
                  <a:moveTo>
                    <a:pt x="0" y="0"/>
                  </a:moveTo>
                  <a:lnTo>
                    <a:pt x="0" y="1362075"/>
                  </a:lnTo>
                </a:path>
              </a:pathLst>
            </a:custGeom>
            <a:noFill/>
            <a:ln w="14288">
              <a:solidFill>
                <a:srgbClr val="CFDBDF"/>
              </a:solidFill>
              <a:prstDash val="dash"/>
            </a:ln>
          </p:spPr>
        </p:sp>
        <p:sp>
          <p:nvSpPr>
            <p:cNvPr id="24" name="Ellipse 24"/>
            <p:cNvSpPr/>
            <p:nvPr/>
          </p:nvSpPr>
          <p:spPr>
            <a:xfrm>
              <a:off x="4495800" y="2476500"/>
              <a:ext cx="114300" cy="114300"/>
            </a:xfrm>
            <a:prstGeom prst="ellipse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52950" y="3952875"/>
              <a:ext cx="4638675" cy="276225"/>
            </a:xfrm>
            <a:prstGeom prst="rect">
              <a:avLst/>
            </a:prstGeom>
            <a:solidFill>
              <a:srgbClr val="E5F2ED"/>
            </a:solidFill>
            <a:ln w="14288">
              <a:solidFill>
                <a:srgbClr val="16735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4949" y="4001929"/>
              <a:ext cx="622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请求</a:t>
              </a:r>
              <a:r>
                <a:rPr lang="en-US" sz="15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3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67425" y="2590800"/>
              <a:ext cx="9525" cy="1876425"/>
            </a:xfrm>
            <a:custGeom>
              <a:avLst/>
              <a:gdLst/>
              <a:ahLst/>
              <a:cxnLst/>
              <a:rect l="l" t="t" r="r" b="b"/>
              <a:pathLst>
                <a:path w="9525" h="1876425">
                  <a:moveTo>
                    <a:pt x="0" y="0"/>
                  </a:moveTo>
                  <a:lnTo>
                    <a:pt x="0" y="1876425"/>
                  </a:lnTo>
                </a:path>
              </a:pathLst>
            </a:custGeom>
            <a:noFill/>
            <a:ln w="14288">
              <a:solidFill>
                <a:srgbClr val="CFDBDF"/>
              </a:solidFill>
              <a:prstDash val="dash"/>
            </a:ln>
          </p:spPr>
        </p:sp>
        <p:sp>
          <p:nvSpPr>
            <p:cNvPr id="28" name="Ellipse 28"/>
            <p:cNvSpPr/>
            <p:nvPr/>
          </p:nvSpPr>
          <p:spPr>
            <a:xfrm>
              <a:off x="6010275" y="2476500"/>
              <a:ext cx="114300" cy="114300"/>
            </a:xfrm>
            <a:prstGeom prst="ellipse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67425" y="4467225"/>
              <a:ext cx="4638675" cy="276225"/>
            </a:xfrm>
            <a:prstGeom prst="rect">
              <a:avLst/>
            </a:prstGeom>
            <a:solidFill>
              <a:srgbClr val="E5F2ED"/>
            </a:solidFill>
            <a:ln w="14288">
              <a:solidFill>
                <a:srgbClr val="16735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4949" y="4516279"/>
              <a:ext cx="622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请求</a:t>
              </a:r>
              <a:r>
                <a:rPr lang="en-US" sz="15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24650" y="5017294"/>
              <a:ext cx="254990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多个请求同时占用资源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99719" y="5437822"/>
            <a:ext cx="5501506" cy="600164"/>
            <a:chOff x="799719" y="5437822"/>
            <a:chExt cx="5501506" cy="600164"/>
          </a:xfrm>
        </p:grpSpPr>
        <p:sp>
          <p:nvSpPr>
            <p:cNvPr id="33" name="TextBox 33"/>
            <p:cNvSpPr txBox="1"/>
            <p:nvPr/>
          </p:nvSpPr>
          <p:spPr>
            <a:xfrm>
              <a:off x="799719" y="5437822"/>
              <a:ext cx="5501506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950" b="1" dirty="0">
                  <a:solidFill>
                    <a:srgbClr val="517B6C"/>
                  </a:solidFill>
                  <a:latin typeface="Microsoft YaHei"/>
                  <a:ea typeface="Microsoft YaHei"/>
                  <a:cs typeface="Microsoft YaHei"/>
                </a:rPr>
                <a:t>进入间隔短于持续生成时间，资源占用可能重叠。</a:t>
              </a:r>
              <a:br>
                <a:rPr b="1" dirty="0">
                  <a:solidFill>
                    <a:srgbClr val="517B6C"/>
                  </a:solidFill>
                </a:rPr>
              </a:br>
              <a:r>
                <a:rPr lang="zh-CN" sz="1950" b="1" dirty="0">
                  <a:solidFill>
                    <a:srgbClr val="517B6C"/>
                  </a:solidFill>
                  <a:latin typeface="Microsoft YaHei"/>
                  <a:ea typeface="Microsoft YaHei"/>
                  <a:cs typeface="Microsoft YaHei"/>
                </a:rPr>
                <a:t>实际</a:t>
              </a:r>
              <a:r>
                <a:rPr lang="zh-CN" altLang="en-US" sz="1950" b="1" dirty="0">
                  <a:solidFill>
                    <a:srgbClr val="517B6C"/>
                  </a:solidFill>
                  <a:latin typeface="Microsoft YaHei"/>
                  <a:ea typeface="Microsoft YaHei"/>
                  <a:cs typeface="Microsoft YaHei"/>
                </a:rPr>
                <a:t>影响大小取决于服务容量、调度和隔离策略。</a:t>
              </a:r>
              <a:endParaRPr lang="zh-CN" sz="1950" b="1" dirty="0">
                <a:solidFill>
                  <a:srgbClr val="517B6C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8D85DD-0565-0647-D955-3A7FB35ECE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14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EE876261-B843-0A1A-67D4-8343B132D358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5" name="ChapterNav_2">
            <a:extLst>
              <a:ext uri="{FF2B5EF4-FFF2-40B4-BE49-F238E27FC236}">
                <a16:creationId xmlns:a16="http://schemas.microsoft.com/office/drawing/2014/main" id="{2AB91B61-7E46-FBCD-4EE8-DACA229BA409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6" name="ChapterNav_3">
            <a:extLst>
              <a:ext uri="{FF2B5EF4-FFF2-40B4-BE49-F238E27FC236}">
                <a16:creationId xmlns:a16="http://schemas.microsoft.com/office/drawing/2014/main" id="{669141C6-1ECD-E490-2A34-D4DCAE332D2E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7" name="ChapterNav_4">
            <a:extLst>
              <a:ext uri="{FF2B5EF4-FFF2-40B4-BE49-F238E27FC236}">
                <a16:creationId xmlns:a16="http://schemas.microsoft.com/office/drawing/2014/main" id="{9271C4CD-1127-4BAE-9330-25ECB1261C4B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8" name="ChapterNav_5">
            <a:extLst>
              <a:ext uri="{FF2B5EF4-FFF2-40B4-BE49-F238E27FC236}">
                <a16:creationId xmlns:a16="http://schemas.microsoft.com/office/drawing/2014/main" id="{94B80AE4-97C4-1BD6-57FD-AE1782BE95AB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2406F4F1-7714-9792-18D4-8920F055F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93" y="3987808"/>
            <a:ext cx="10699407" cy="64623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578176" cy="1174417"/>
            <a:chOff x="615696" y="552450"/>
            <a:chExt cx="4578176" cy="1174417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263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03</a:t>
              </a:r>
              <a:endParaRPr lang="en-US" sz="3000" b="1" dirty="0">
                <a:solidFill>
                  <a:srgbClr val="4D787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138499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汇报</a:t>
              </a:r>
              <a:r>
                <a:rPr lang="zh-CN" altLang="en-US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目录</a:t>
              </a:r>
              <a:endParaRPr lang="zh-CN" sz="2700" b="1" dirty="0">
                <a:solidFill>
                  <a:srgbClr val="202B3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578176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思考如果让你设计实验会如何做</a:t>
              </a:r>
              <a:endParaRPr lang="zh-CN" sz="255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4672" y="2349818"/>
            <a:ext cx="10530078" cy="593407"/>
            <a:chOff x="804672" y="2349818"/>
            <a:chExt cx="10530078" cy="593407"/>
          </a:xfrm>
        </p:grpSpPr>
        <p:sp>
          <p:nvSpPr>
            <p:cNvPr id="12" name="TextBox 12"/>
            <p:cNvSpPr txBox="1"/>
            <p:nvPr/>
          </p:nvSpPr>
          <p:spPr>
            <a:xfrm>
              <a:off x="804672" y="234981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4233" y="23983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问题背景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3326" y="2422684"/>
              <a:ext cx="4424172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少量请求为什么也可能拖慢服务？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838325" y="293370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04672" y="3207068"/>
            <a:ext cx="10530078" cy="593407"/>
            <a:chOff x="804672" y="3207068"/>
            <a:chExt cx="10530078" cy="593407"/>
          </a:xfrm>
        </p:grpSpPr>
        <p:sp>
          <p:nvSpPr>
            <p:cNvPr id="17" name="TextBox 17"/>
            <p:cNvSpPr txBox="1"/>
            <p:nvPr/>
          </p:nvSpPr>
          <p:spPr>
            <a:xfrm>
              <a:off x="804672" y="320706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4233" y="32556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方法原理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3326" y="3279934"/>
              <a:ext cx="530458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看不到模型内部，怎样搜索长输出提示？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838325" y="379095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04672" y="4064318"/>
            <a:ext cx="10530078" cy="593407"/>
            <a:chOff x="804672" y="4064318"/>
            <a:chExt cx="10530078" cy="593407"/>
          </a:xfrm>
        </p:grpSpPr>
        <p:sp>
          <p:nvSpPr>
            <p:cNvPr id="22" name="TextBox 22"/>
            <p:cNvSpPr txBox="1"/>
            <p:nvPr/>
          </p:nvSpPr>
          <p:spPr>
            <a:xfrm>
              <a:off x="804672" y="406431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64233" y="411289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实验与防御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3326" y="4137184"/>
              <a:ext cx="501111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方法是否有效，服务和防御表现如何？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838325" y="464820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04672" y="4921568"/>
            <a:ext cx="8719769" cy="557403"/>
            <a:chOff x="804672" y="4921568"/>
            <a:chExt cx="8719769" cy="557403"/>
          </a:xfrm>
        </p:grpSpPr>
        <p:sp>
          <p:nvSpPr>
            <p:cNvPr id="27" name="TextBox 27"/>
            <p:cNvSpPr txBox="1"/>
            <p:nvPr/>
          </p:nvSpPr>
          <p:spPr>
            <a:xfrm>
              <a:off x="804672" y="492156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64233" y="49701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总结思考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3326" y="4994434"/>
              <a:ext cx="501111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证据支持哪些结论，还需要怎样验证？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A59DD3-5C31-A790-1354-90C4D73494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15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RouteOutline_3">
            <a:extLst>
              <a:ext uri="{FF2B5EF4-FFF2-40B4-BE49-F238E27FC236}">
                <a16:creationId xmlns:a16="http://schemas.microsoft.com/office/drawing/2014/main" id="{2A313BEC-3F48-0CE9-B61D-6EF7871E6B06}"/>
              </a:ext>
            </a:extLst>
          </p:cNvPr>
          <p:cNvSpPr/>
          <p:nvPr/>
        </p:nvSpPr>
        <p:spPr>
          <a:xfrm>
            <a:off x="673100" y="3980371"/>
            <a:ext cx="10693400" cy="673100"/>
          </a:xfrm>
          <a:prstGeom prst="rect">
            <a:avLst/>
          </a:prstGeom>
          <a:noFill/>
          <a:ln w="28575" cap="flat" cmpd="sng" algn="ctr">
            <a:solidFill>
              <a:srgbClr val="1B745E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ChapterRouteMarker_3">
            <a:extLst>
              <a:ext uri="{FF2B5EF4-FFF2-40B4-BE49-F238E27FC236}">
                <a16:creationId xmlns:a16="http://schemas.microsoft.com/office/drawing/2014/main" id="{4130A763-E11D-F93A-431C-3FE800A43FF7}"/>
              </a:ext>
            </a:extLst>
          </p:cNvPr>
          <p:cNvSpPr/>
          <p:nvPr/>
        </p:nvSpPr>
        <p:spPr>
          <a:xfrm>
            <a:off x="673100" y="4102100"/>
            <a:ext cx="63500" cy="482600"/>
          </a:xfrm>
          <a:prstGeom prst="rect">
            <a:avLst/>
          </a:prstGeom>
          <a:solidFill>
            <a:srgbClr val="1B74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ChapterNav_1">
            <a:extLst>
              <a:ext uri="{FF2B5EF4-FFF2-40B4-BE49-F238E27FC236}">
                <a16:creationId xmlns:a16="http://schemas.microsoft.com/office/drawing/2014/main" id="{0DB9D1F2-2E5F-CAFC-D7A0-CFEFBE3D1552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3" name="ChapterNav_2">
            <a:extLst>
              <a:ext uri="{FF2B5EF4-FFF2-40B4-BE49-F238E27FC236}">
                <a16:creationId xmlns:a16="http://schemas.microsoft.com/office/drawing/2014/main" id="{933CEAC9-3EB3-9A76-23F0-9D22A629D8EF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4" name="ChapterNav_3">
            <a:extLst>
              <a:ext uri="{FF2B5EF4-FFF2-40B4-BE49-F238E27FC236}">
                <a16:creationId xmlns:a16="http://schemas.microsoft.com/office/drawing/2014/main" id="{5B5DC777-2A79-038D-927A-FE750C7483D0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5" name="ChapterNav_4">
            <a:extLst>
              <a:ext uri="{FF2B5EF4-FFF2-40B4-BE49-F238E27FC236}">
                <a16:creationId xmlns:a16="http://schemas.microsoft.com/office/drawing/2014/main" id="{4681232A-3E4F-A624-F188-EF5DE31C32DC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6" name="ChapterNav_5">
            <a:extLst>
              <a:ext uri="{FF2B5EF4-FFF2-40B4-BE49-F238E27FC236}">
                <a16:creationId xmlns:a16="http://schemas.microsoft.com/office/drawing/2014/main" id="{92902CE5-A2EB-4C0A-EF14-CE1F5C9A01FC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3491575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831842" cy="1280731"/>
            <a:chOff x="615696" y="552450"/>
            <a:chExt cx="4831842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实验与防御：实验设计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实验分别检验输出、服务和防御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66750" y="2152650"/>
            <a:ext cx="10858500" cy="3000375"/>
            <a:chOff x="666750" y="2152650"/>
            <a:chExt cx="10858500" cy="3000375"/>
          </a:xfrm>
        </p:grpSpPr>
        <p:sp>
          <p:nvSpPr>
            <p:cNvPr id="12" name="Rectangle 12"/>
            <p:cNvSpPr/>
            <p:nvPr/>
          </p:nvSpPr>
          <p:spPr>
            <a:xfrm>
              <a:off x="666750" y="2152650"/>
              <a:ext cx="10858500" cy="50482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150" y="229314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实验层次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47950" y="229314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实验对象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34200" y="229314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回答的问题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6750" y="2657475"/>
              <a:ext cx="10858500" cy="8286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9912" y="29622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提示效果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48712" y="2962275"/>
              <a:ext cx="209292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8 </a:t>
              </a:r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个模型的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API </a:t>
              </a:r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接口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34962" y="2962275"/>
              <a:ext cx="2796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有限预算能否诱导长输出？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66750" y="34861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912" y="37909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服务影响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48712" y="3632121"/>
              <a:ext cx="1644904" cy="6550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01"/>
                </a:lnSpc>
              </a:pP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DS Llama 8B</a:t>
              </a:r>
              <a:br/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4 </a:t>
              </a:r>
              <a:r>
                <a:rPr lang="zh-CN" sz="1720" dirty="0">
                  <a:solidFill>
                    <a:srgbClr val="202B33"/>
                  </a:solidFill>
                  <a:latin typeface="Arial"/>
                  <a:ea typeface="Microsoft YaHei"/>
                  <a:cs typeface="Arial"/>
                </a:rPr>
                <a:t>张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RTX 2080 Ti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34962" y="3790950"/>
              <a:ext cx="34907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是否出现时延、吞吐与显存变化？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66750" y="431482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4314825"/>
              <a:ext cx="10858500" cy="8286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9912" y="461962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防御效果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48712" y="4460796"/>
              <a:ext cx="2059940" cy="6550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01"/>
                </a:lnSpc>
              </a:pP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DeepSeek Llama 70B</a:t>
              </a:r>
              <a:br/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8 </a:t>
              </a:r>
              <a:r>
                <a:rPr lang="zh-CN" sz="1720" dirty="0">
                  <a:solidFill>
                    <a:srgbClr val="202B33"/>
                  </a:solidFill>
                  <a:latin typeface="Arial"/>
                  <a:ea typeface="Microsoft YaHei"/>
                  <a:cs typeface="Arial"/>
                </a:rPr>
                <a:t>张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Ascend 910B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34962" y="4619625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检测和调度能缓解多少影响？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66750" y="51435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00100" y="5407819"/>
            <a:ext cx="6927703" cy="776287"/>
            <a:chOff x="800100" y="5407819"/>
            <a:chExt cx="6927703" cy="776287"/>
          </a:xfrm>
        </p:grpSpPr>
        <p:sp>
          <p:nvSpPr>
            <p:cNvPr id="31" name="TextBox 31"/>
            <p:cNvSpPr txBox="1"/>
            <p:nvPr/>
          </p:nvSpPr>
          <p:spPr>
            <a:xfrm>
              <a:off x="800100" y="5407819"/>
              <a:ext cx="565139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API </a:t>
              </a:r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实验：</a:t>
              </a:r>
              <a:r>
                <a:rPr lang="en-US" sz="188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L = 20</a:t>
              </a:r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lang="en-US" sz="188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m = 20</a:t>
              </a:r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，单次输出上限</a:t>
              </a:r>
              <a:r>
                <a:rPr lang="en-US" sz="188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4096</a:t>
              </a:r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0100" y="5817394"/>
              <a:ext cx="692770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对比方法：</a:t>
              </a:r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Decoy</a:t>
              </a: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Semantic</a:t>
              </a: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LLMEffiChecker</a:t>
              </a: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lang="en-US" sz="18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Sponge</a:t>
              </a:r>
              <a:r>
                <a:rPr lang="zh-CN" sz="18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E3DC967-444C-94C8-855E-9D47E9C73B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16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3C500687-BD97-860C-351C-7F1E810CC623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4" name="ChapterNav_2">
            <a:extLst>
              <a:ext uri="{FF2B5EF4-FFF2-40B4-BE49-F238E27FC236}">
                <a16:creationId xmlns:a16="http://schemas.microsoft.com/office/drawing/2014/main" id="{6F3A2767-7758-50F2-F30C-BCDC34518478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5" name="ChapterNav_3">
            <a:extLst>
              <a:ext uri="{FF2B5EF4-FFF2-40B4-BE49-F238E27FC236}">
                <a16:creationId xmlns:a16="http://schemas.microsoft.com/office/drawing/2014/main" id="{CCC557E0-0F98-72D5-CA21-46D1C656B0FE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6" name="ChapterNav_4">
            <a:extLst>
              <a:ext uri="{FF2B5EF4-FFF2-40B4-BE49-F238E27FC236}">
                <a16:creationId xmlns:a16="http://schemas.microsoft.com/office/drawing/2014/main" id="{995321B8-8806-B8D7-49C9-DE8BF51C1FD1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7" name="ChapterNav_5">
            <a:extLst>
              <a:ext uri="{FF2B5EF4-FFF2-40B4-BE49-F238E27FC236}">
                <a16:creationId xmlns:a16="http://schemas.microsoft.com/office/drawing/2014/main" id="{58DC2A6F-5872-49B3-78CA-B074B3A6F796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5175123" cy="1280731"/>
            <a:chOff x="615696" y="552450"/>
            <a:chExt cx="5175123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实验与防御：基线对比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有限预算也能找到接近上限的输出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14375" y="2092861"/>
            <a:ext cx="10791825" cy="4195913"/>
            <a:chOff x="714375" y="2092861"/>
            <a:chExt cx="10791825" cy="4195913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0575" y="2092861"/>
              <a:ext cx="10496550" cy="252929"/>
            </a:xfrm>
            <a:prstGeom prst="rect">
              <a:avLst/>
            </a:prstGeom>
          </p:spPr>
        </p:pic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4375" y="2707020"/>
              <a:ext cx="5200650" cy="1767810"/>
            </a:xfrm>
            <a:prstGeom prst="rect">
              <a:avLst/>
            </a:prstGeom>
          </p:spPr>
        </p:pic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5550" y="2676031"/>
              <a:ext cx="5200650" cy="1877413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18769" y="4828222"/>
              <a:ext cx="22081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Gemini 2.5 Pro</a:t>
              </a:r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8769" y="5199698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较低预算下已接近输出上限。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1844" y="4828222"/>
              <a:ext cx="15785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E4B42"/>
                  </a:solidFill>
                  <a:latin typeface="Arial"/>
                  <a:ea typeface="Arial"/>
                  <a:cs typeface="Arial"/>
                </a:rPr>
                <a:t>Llama 3.2</a:t>
              </a:r>
              <a:r>
                <a:rPr lang="zh-CN" sz="195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1844" y="5199698"/>
              <a:ext cx="39090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很低预算下，</a:t>
              </a:r>
              <a:r>
                <a:rPr lang="en-US" sz="1950" b="1" dirty="0">
                  <a:solidFill>
                    <a:srgbClr val="BE4B42"/>
                  </a:solidFill>
                  <a:latin typeface="Arial"/>
                  <a:ea typeface="Arial"/>
                  <a:cs typeface="Arial"/>
                </a:rPr>
                <a:t>Sponge </a:t>
              </a:r>
              <a:r>
                <a:rPr lang="zh-CN" sz="195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输出更长。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387" y="5690711"/>
              <a:ext cx="689445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纵轴：输出长度</a:t>
              </a:r>
              <a:r>
                <a:rPr lang="en-US" sz="172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/ 4096</a:t>
              </a:r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；横轴：搜索预算，按正文以千</a:t>
              </a:r>
              <a:r>
                <a:rPr lang="en-US" sz="172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计。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0387" y="6024086"/>
              <a:ext cx="7091685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到</a:t>
              </a:r>
              <a:r>
                <a:rPr lang="zh-CN" altLang="en-US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输出达到 </a:t>
              </a:r>
              <a:r>
                <a:rPr lang="en-US" altLang="zh-CN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4096 </a:t>
              </a:r>
              <a:r>
                <a:rPr lang="zh-CN" altLang="en-US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上限，说明可诱导长生成；但不能据此推出无限生成</a:t>
              </a:r>
              <a:r>
                <a:rPr lang="zh-CN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1149" y="2382679"/>
            <a:ext cx="8258565" cy="1627346"/>
            <a:chOff x="811149" y="2382679"/>
            <a:chExt cx="8258565" cy="1627346"/>
          </a:xfrm>
        </p:grpSpPr>
        <p:sp>
          <p:nvSpPr>
            <p:cNvPr id="20" name="TextBox 20"/>
            <p:cNvSpPr txBox="1"/>
            <p:nvPr/>
          </p:nvSpPr>
          <p:spPr>
            <a:xfrm>
              <a:off x="811149" y="2382679"/>
              <a:ext cx="257743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10k–20k：已接近输出上限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07074" y="2382679"/>
              <a:ext cx="27626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10k–20k：Sponge 输出更长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62075" y="3038475"/>
              <a:ext cx="876300" cy="942975"/>
            </a:xfrm>
            <a:prstGeom prst="rect">
              <a:avLst/>
            </a:prstGeom>
            <a:noFill/>
            <a:ln w="14288">
              <a:solidFill>
                <a:srgbClr val="16735C"/>
              </a:solidFill>
              <a:prstDash val="dash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77025" y="3028950"/>
              <a:ext cx="809625" cy="981075"/>
            </a:xfrm>
            <a:prstGeom prst="rect">
              <a:avLst/>
            </a:prstGeom>
            <a:noFill/>
            <a:ln w="14288">
              <a:solidFill>
                <a:srgbClr val="BE4B42"/>
              </a:solidFill>
              <a:prstDash val="dash"/>
            </a:ln>
          </p:spPr>
        </p:sp>
        <p:sp>
          <p:nvSpPr>
            <p:cNvPr id="31" name="Line 31"/>
            <p:cNvSpPr/>
            <p:nvPr/>
          </p:nvSpPr>
          <p:spPr>
            <a:xfrm>
              <a:off x="1695450" y="2647950"/>
              <a:ext cx="1" cy="428625"/>
            </a:xfrm>
            <a:prstGeom prst="line">
              <a:avLst/>
            </a:prstGeom>
            <a:noFill/>
            <a:ln w="17145">
              <a:solidFill>
                <a:srgbClr val="16735C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>
              <a:off x="6934200" y="2647950"/>
              <a:ext cx="1" cy="609600"/>
            </a:xfrm>
            <a:prstGeom prst="line">
              <a:avLst/>
            </a:prstGeom>
            <a:noFill/>
            <a:ln w="17145">
              <a:solidFill>
                <a:srgbClr val="BE4B42"/>
              </a:solidFill>
              <a:tailEnd type="triangle" w="lg" len="lg"/>
            </a:ln>
          </p:spPr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6B81F3-4F31-3DFE-6D88-CCA31E686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17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8AFE15D6-72EB-ED12-587B-1411078C0CEE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15" name="ChapterNav_2">
            <a:extLst>
              <a:ext uri="{FF2B5EF4-FFF2-40B4-BE49-F238E27FC236}">
                <a16:creationId xmlns:a16="http://schemas.microsoft.com/office/drawing/2014/main" id="{0AEE30E4-0676-AF22-D90B-C360B2C17824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16" name="ChapterNav_3">
            <a:extLst>
              <a:ext uri="{FF2B5EF4-FFF2-40B4-BE49-F238E27FC236}">
                <a16:creationId xmlns:a16="http://schemas.microsoft.com/office/drawing/2014/main" id="{0B0549B0-E19A-AEA9-BBDD-8720B739D2F7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17" name="ChapterNav_4">
            <a:extLst>
              <a:ext uri="{FF2B5EF4-FFF2-40B4-BE49-F238E27FC236}">
                <a16:creationId xmlns:a16="http://schemas.microsoft.com/office/drawing/2014/main" id="{FAD8B566-F978-1F2A-9ECF-2D1B62A9247D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18" name="ChapterNav_5">
            <a:extLst>
              <a:ext uri="{FF2B5EF4-FFF2-40B4-BE49-F238E27FC236}">
                <a16:creationId xmlns:a16="http://schemas.microsoft.com/office/drawing/2014/main" id="{27B210F9-B22A-A20F-1E3A-4A8A5C7C87AD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4448175"/>
            <a:chOff x="476250" y="1895475"/>
            <a:chExt cx="11201400" cy="44481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44481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5175123" cy="1280731"/>
            <a:chOff x="615696" y="552450"/>
            <a:chExt cx="5175123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实验与防御：参数分析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更长提示、更高维度并不总是更好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10006" y="2044065"/>
            <a:ext cx="5614657" cy="4290060"/>
            <a:chOff x="810006" y="2044065"/>
            <a:chExt cx="5614657" cy="4290060"/>
          </a:xfrm>
        </p:grpSpPr>
        <p:sp>
          <p:nvSpPr>
            <p:cNvPr id="12" name="TextBox 12"/>
            <p:cNvSpPr txBox="1"/>
            <p:nvPr/>
          </p:nvSpPr>
          <p:spPr>
            <a:xfrm>
              <a:off x="810006" y="2044065"/>
              <a:ext cx="12160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提示长度</a:t>
              </a:r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L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2986" y="2324100"/>
              <a:ext cx="4981677" cy="180975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10006" y="4225290"/>
              <a:ext cx="17393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低维变量维度</a:t>
              </a:r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m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2986" y="4524375"/>
              <a:ext cx="4981677" cy="1809750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7620000" y="2512219"/>
            <a:ext cx="3705225" cy="3552348"/>
            <a:chOff x="7620000" y="2512219"/>
            <a:chExt cx="3705225" cy="3552348"/>
          </a:xfrm>
        </p:grpSpPr>
        <p:sp>
          <p:nvSpPr>
            <p:cNvPr id="17" name="TextBox 17"/>
            <p:cNvSpPr txBox="1"/>
            <p:nvPr/>
          </p:nvSpPr>
          <p:spPr>
            <a:xfrm>
              <a:off x="7667625" y="2512219"/>
              <a:ext cx="2645410" cy="776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提示太短：候选表达有限</a:t>
              </a:r>
              <a:br/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提示太长：搜索更困难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67625" y="3960019"/>
              <a:ext cx="2645410" cy="776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维度太少：表达能力受限</a:t>
              </a:r>
              <a:br/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维度太高：固定预算不足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0" y="5181600"/>
              <a:ext cx="3705225" cy="828675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30312" y="5319236"/>
              <a:ext cx="21652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本文在</a:t>
              </a:r>
              <a:r>
                <a:rPr lang="en-US" sz="172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DS R1 </a:t>
              </a:r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上采用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7645" y="5624512"/>
              <a:ext cx="22207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L = 20</a:t>
              </a:r>
              <a:r>
                <a:rPr lang="zh-CN" sz="2250" b="1" dirty="0">
                  <a:solidFill>
                    <a:srgbClr val="16735C"/>
                  </a:solidFill>
                  <a:latin typeface="Arial"/>
                  <a:ea typeface="Microsoft YaHei"/>
                  <a:cs typeface="Arial"/>
                </a:rPr>
                <a:t>，</a:t>
              </a:r>
              <a:r>
                <a:rPr lang="en-US" sz="22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m = 20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3CED8F-F6C6-28E2-1513-2225BDCE69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18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8A6010D5-B710-30F4-9031-CCB208DA6718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23" name="ChapterNav_2">
            <a:extLst>
              <a:ext uri="{FF2B5EF4-FFF2-40B4-BE49-F238E27FC236}">
                <a16:creationId xmlns:a16="http://schemas.microsoft.com/office/drawing/2014/main" id="{7A8047A3-DBA1-A4AB-501D-6CD863B57882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24" name="ChapterNav_3">
            <a:extLst>
              <a:ext uri="{FF2B5EF4-FFF2-40B4-BE49-F238E27FC236}">
                <a16:creationId xmlns:a16="http://schemas.microsoft.com/office/drawing/2014/main" id="{1D0B15B3-9011-94A7-3043-70EEA6EFE095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5" name="ChapterNav_4">
            <a:extLst>
              <a:ext uri="{FF2B5EF4-FFF2-40B4-BE49-F238E27FC236}">
                <a16:creationId xmlns:a16="http://schemas.microsoft.com/office/drawing/2014/main" id="{1A026BEF-B6ED-4239-5AE0-0DDD9B42160E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26" name="ChapterNav_5">
            <a:extLst>
              <a:ext uri="{FF2B5EF4-FFF2-40B4-BE49-F238E27FC236}">
                <a16:creationId xmlns:a16="http://schemas.microsoft.com/office/drawing/2014/main" id="{F3192DBE-A402-2412-BEA0-3019CDFF17DD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652010" cy="1280731"/>
            <a:chOff x="615696" y="552450"/>
            <a:chExt cx="4652010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实验与防御：服务退化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低频请求也能拖慢本地服务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70763" y="2162651"/>
            <a:ext cx="2134362" cy="3633883"/>
            <a:chOff x="770763" y="2162651"/>
            <a:chExt cx="2134362" cy="3633883"/>
          </a:xfrm>
        </p:grpSpPr>
        <p:sp>
          <p:nvSpPr>
            <p:cNvPr id="12" name="TextBox 12"/>
            <p:cNvSpPr txBox="1"/>
            <p:nvPr/>
          </p:nvSpPr>
          <p:spPr>
            <a:xfrm>
              <a:off x="770763" y="2162651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实验条件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1906" y="2672715"/>
              <a:ext cx="1721358" cy="15807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DS Llama 8B</a:t>
              </a:r>
              <a:br/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4 </a:t>
              </a:r>
              <a:r>
                <a:rPr lang="zh-CN" sz="1800" dirty="0">
                  <a:solidFill>
                    <a:srgbClr val="202B33"/>
                  </a:solidFill>
                  <a:latin typeface="Arial"/>
                  <a:ea typeface="Microsoft YaHei"/>
                  <a:cs typeface="Arial"/>
                </a:rPr>
                <a:t>张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RTX 2080 Ti</a:t>
              </a:r>
              <a:br/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Transformers</a:t>
              </a:r>
              <a:br/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10 RPM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81050" y="4476750"/>
              <a:ext cx="2124075" cy="9525"/>
            </a:xfrm>
            <a:custGeom>
              <a:avLst/>
              <a:gdLst/>
              <a:ahLst/>
              <a:cxnLst/>
              <a:rect l="l" t="t" r="r" b="b"/>
              <a:pathLst>
                <a:path w="2124075" h="9525">
                  <a:moveTo>
                    <a:pt x="0" y="0"/>
                  </a:moveTo>
                  <a:lnTo>
                    <a:pt x="2124075" y="0"/>
                  </a:lnTo>
                </a:path>
              </a:pathLst>
            </a:custGeom>
            <a:noFill/>
            <a:ln w="14288">
              <a:solidFill>
                <a:srgbClr val="CFDBD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1906" y="4701540"/>
              <a:ext cx="1965388" cy="1094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请求累积后</a:t>
              </a:r>
              <a:br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首</a:t>
              </a:r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时延上升</a:t>
              </a:r>
              <a:br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生成吞吐下降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238500" y="2092978"/>
            <a:ext cx="8248650" cy="4171394"/>
            <a:chOff x="3238500" y="2092978"/>
            <a:chExt cx="8248650" cy="4171394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8500" y="2092978"/>
              <a:ext cx="8248650" cy="252694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3363087" y="2585561"/>
              <a:ext cx="278641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TTFT</a:t>
              </a:r>
              <a:r>
                <a:rPr lang="zh-CN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：首</a:t>
              </a:r>
              <a:r>
                <a:rPr lang="en-US" sz="172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等待时间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7437" y="2585561"/>
              <a:ext cx="264513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TPS</a:t>
              </a:r>
              <a:r>
                <a:rPr lang="zh-CN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：每秒生成</a:t>
              </a:r>
              <a:r>
                <a:rPr lang="en-US" sz="172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数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8025" y="3099832"/>
              <a:ext cx="4010025" cy="2410935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639050" y="3104301"/>
              <a:ext cx="3848100" cy="2401999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3249168" y="5698808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横轴：已发送的攻击样本数。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49549" y="6021229"/>
              <a:ext cx="402353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图中 </a:t>
              </a:r>
              <a:r>
                <a:rPr lang="en-US" alt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unlimited </a:t>
              </a:r>
              <a:r>
                <a:rPr lang="zh-CN" altLang="en-US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实际仍受 </a:t>
              </a:r>
              <a:r>
                <a:rPr lang="en-US" alt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32,768 </a:t>
              </a:r>
              <a:r>
                <a:rPr lang="zh-CN" altLang="en-US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上限限制。</a:t>
              </a:r>
              <a:endParaRPr lang="zh-CN" sz="1580" dirty="0">
                <a:solidFill>
                  <a:srgbClr val="5C6B7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D6C9EA-99D2-38B4-6394-7D9EE639BC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19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8ED82FE7-1A14-1198-E8A8-3A08DD31F212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25" name="ChapterNav_2">
            <a:extLst>
              <a:ext uri="{FF2B5EF4-FFF2-40B4-BE49-F238E27FC236}">
                <a16:creationId xmlns:a16="http://schemas.microsoft.com/office/drawing/2014/main" id="{50289278-1182-C335-2FE5-ED83D1519509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26" name="ChapterNav_3">
            <a:extLst>
              <a:ext uri="{FF2B5EF4-FFF2-40B4-BE49-F238E27FC236}">
                <a16:creationId xmlns:a16="http://schemas.microsoft.com/office/drawing/2014/main" id="{A2469346-1609-4848-0C63-11ED1180C52B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7" name="ChapterNav_4">
            <a:extLst>
              <a:ext uri="{FF2B5EF4-FFF2-40B4-BE49-F238E27FC236}">
                <a16:creationId xmlns:a16="http://schemas.microsoft.com/office/drawing/2014/main" id="{5538B959-B9B2-14BD-A896-7D0377F45553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28" name="ChapterNav_5">
            <a:extLst>
              <a:ext uri="{FF2B5EF4-FFF2-40B4-BE49-F238E27FC236}">
                <a16:creationId xmlns:a16="http://schemas.microsoft.com/office/drawing/2014/main" id="{89299BF0-5FC4-F04A-D4E2-18C6A9F6F273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5518404" cy="1280731"/>
            <a:chOff x="615696" y="552450"/>
            <a:chExt cx="5518404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实验与防御：输出限制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输出上限能缓解攻击，也会限制任务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33425" y="2083594"/>
            <a:ext cx="5448300" cy="3640931"/>
            <a:chOff x="733425" y="2083594"/>
            <a:chExt cx="5448300" cy="3640931"/>
          </a:xfrm>
        </p:grpSpPr>
        <p:sp>
          <p:nvSpPr>
            <p:cNvPr id="12" name="TextBox 12"/>
            <p:cNvSpPr txBox="1"/>
            <p:nvPr/>
          </p:nvSpPr>
          <p:spPr>
            <a:xfrm>
              <a:off x="781050" y="2083594"/>
              <a:ext cx="254990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显存随未完成生成累积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6428" y="2619375"/>
              <a:ext cx="5072770" cy="3105150"/>
            </a:xfrm>
            <a:prstGeom prst="rect">
              <a:avLst/>
            </a:prstGeom>
          </p:spPr>
        </p:pic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425" y="2421622"/>
              <a:ext cx="5448300" cy="166906"/>
            </a:xfrm>
            <a:prstGeom prst="rect">
              <a:avLst/>
            </a:prstGeom>
          </p:spPr>
        </p:pic>
      </p:grpSp>
      <p:grpSp>
        <p:nvGrpSpPr>
          <p:cNvPr id="32" name="Group 32"/>
          <p:cNvGrpSpPr/>
          <p:nvPr/>
        </p:nvGrpSpPr>
        <p:grpSpPr>
          <a:xfrm>
            <a:off x="780288" y="2167890"/>
            <a:ext cx="10573512" cy="4124611"/>
            <a:chOff x="780288" y="2167890"/>
            <a:chExt cx="10573512" cy="4124611"/>
          </a:xfrm>
        </p:grpSpPr>
        <p:sp>
          <p:nvSpPr>
            <p:cNvPr id="16" name="TextBox 16"/>
            <p:cNvSpPr txBox="1"/>
            <p:nvPr/>
          </p:nvSpPr>
          <p:spPr>
            <a:xfrm>
              <a:off x="6896481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输出限制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25306" y="2167890"/>
              <a:ext cx="9233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</a:t>
              </a:r>
              <a:r>
                <a:rPr lang="zh-CN" altLang="en-US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  <a:endParaRPr lang="zh-CN" sz="180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12483" y="2760345"/>
              <a:ext cx="7707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BE4B42"/>
                  </a:solidFill>
                  <a:latin typeface="Arial"/>
                  <a:ea typeface="Arial"/>
                  <a:cs typeface="Arial"/>
                </a:rPr>
                <a:t>1024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6299" y="2849404"/>
              <a:ext cx="7179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tokens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06637" y="2833211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明显性能退化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886575" y="3390900"/>
              <a:ext cx="4467225" cy="9525"/>
            </a:xfrm>
            <a:custGeom>
              <a:avLst/>
              <a:gdLst/>
              <a:ahLst/>
              <a:cxnLst/>
              <a:rect l="l" t="t" r="r" b="b"/>
              <a:pathLst>
                <a:path w="4467225" h="9525">
                  <a:moveTo>
                    <a:pt x="0" y="0"/>
                  </a:moveTo>
                  <a:lnTo>
                    <a:pt x="44672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12483" y="3750945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256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6299" y="3840004"/>
              <a:ext cx="7179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tokens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06637" y="3823811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影响减轻，仍有变化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86575" y="4381500"/>
              <a:ext cx="4467225" cy="9525"/>
            </a:xfrm>
            <a:custGeom>
              <a:avLst/>
              <a:gdLst/>
              <a:ahLst/>
              <a:cxnLst/>
              <a:rect l="l" t="t" r="r" b="b"/>
              <a:pathLst>
                <a:path w="4467225" h="9525">
                  <a:moveTo>
                    <a:pt x="0" y="0"/>
                  </a:moveTo>
                  <a:lnTo>
                    <a:pt x="44672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12483" y="4741545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128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26299" y="4830604"/>
              <a:ext cx="7179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tokens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06637" y="4611338"/>
              <a:ext cx="139221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TTFT </a:t>
              </a:r>
              <a:r>
                <a:rPr lang="zh-CN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与</a:t>
              </a:r>
              <a:r>
                <a:rPr lang="en-US" sz="172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TPS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6637" y="4925663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相对稳定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86575" y="5372100"/>
              <a:ext cx="4467225" cy="9525"/>
            </a:xfrm>
            <a:custGeom>
              <a:avLst/>
              <a:gdLst/>
              <a:ahLst/>
              <a:cxnLst/>
              <a:rect l="l" t="t" r="r" b="b"/>
              <a:pathLst>
                <a:path w="4467225" h="9525">
                  <a:moveTo>
                    <a:pt x="0" y="0"/>
                  </a:moveTo>
                  <a:lnTo>
                    <a:pt x="44672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0288" y="5896451"/>
              <a:ext cx="545922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上限越严格，正常长回答受到的限制也越大。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0863B5-3F35-6ADF-5B4B-0D827F4647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20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C030BEEA-94AF-8E96-65E4-32BE19C6C08D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3" name="ChapterNav_2">
            <a:extLst>
              <a:ext uri="{FF2B5EF4-FFF2-40B4-BE49-F238E27FC236}">
                <a16:creationId xmlns:a16="http://schemas.microsoft.com/office/drawing/2014/main" id="{9F7C3A95-6A88-7B01-02F9-997060FB4A7E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4" name="ChapterNav_3">
            <a:extLst>
              <a:ext uri="{FF2B5EF4-FFF2-40B4-BE49-F238E27FC236}">
                <a16:creationId xmlns:a16="http://schemas.microsoft.com/office/drawing/2014/main" id="{8D206C27-6948-15E5-53CE-D75C15899F71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5" name="ChapterNav_4">
            <a:extLst>
              <a:ext uri="{FF2B5EF4-FFF2-40B4-BE49-F238E27FC236}">
                <a16:creationId xmlns:a16="http://schemas.microsoft.com/office/drawing/2014/main" id="{C4CA2208-6671-C945-96D6-54EBF6E424C4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6" name="ChapterNav_5">
            <a:extLst>
              <a:ext uri="{FF2B5EF4-FFF2-40B4-BE49-F238E27FC236}">
                <a16:creationId xmlns:a16="http://schemas.microsoft.com/office/drawing/2014/main" id="{9ACAF3C2-62CB-A52C-12B2-77F7F217DEA2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652010" cy="1174417"/>
            <a:chOff x="615696" y="552450"/>
            <a:chExt cx="4652010" cy="1174417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实验与防御：提示迁移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2616101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提示迁移范围有限</a:t>
              </a:r>
              <a:endParaRPr lang="zh-CN" sz="255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47344" y="2065972"/>
            <a:ext cx="10398673" cy="4279393"/>
            <a:chOff x="847344" y="2065972"/>
            <a:chExt cx="10398673" cy="4279393"/>
          </a:xfrm>
        </p:grpSpPr>
        <p:sp>
          <p:nvSpPr>
            <p:cNvPr id="12" name="TextBox 12"/>
            <p:cNvSpPr txBox="1"/>
            <p:nvPr/>
          </p:nvSpPr>
          <p:spPr>
            <a:xfrm>
              <a:off x="847344" y="2065972"/>
              <a:ext cx="19897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同属</a:t>
              </a:r>
              <a:r>
                <a:rPr lang="en-US" sz="195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Llama </a:t>
              </a:r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家族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48069" y="2065972"/>
              <a:ext cx="22651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R1 </a:t>
              </a:r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及蒸馏相关模型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1589" y="2438400"/>
              <a:ext cx="4218572" cy="3143250"/>
            </a:xfrm>
            <a:prstGeom prst="rect">
              <a:avLst/>
            </a:prstGeom>
          </p:spPr>
        </p:pic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89583" y="2438400"/>
              <a:ext cx="4356434" cy="31432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867156" y="568261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其他模型：源提示迁移效果有限。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29781" y="5682615"/>
              <a:ext cx="33053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多模型搜索</a:t>
              </a:r>
              <a:r>
                <a:rPr lang="en-US" sz="180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en-US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≠</a:t>
              </a:r>
              <a:r>
                <a:rPr lang="en-US" sz="180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同一提示普遍迁移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7918" y="6022658"/>
              <a:ext cx="66039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源模型：</a:t>
              </a:r>
              <a:r>
                <a:rPr lang="en-US" sz="165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DS Llama 8B</a:t>
              </a:r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；同一累计比例下，曲线越靠右，输出越长。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B278B1-3FE3-F033-3D3D-4B8545B98D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21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58D4F114-78A2-D669-31C4-2FE1BBBFC055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20" name="ChapterNav_2">
            <a:extLst>
              <a:ext uri="{FF2B5EF4-FFF2-40B4-BE49-F238E27FC236}">
                <a16:creationId xmlns:a16="http://schemas.microsoft.com/office/drawing/2014/main" id="{0B0EB47C-D8A2-452C-B24A-4E9384E3C0F0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21" name="ChapterNav_3">
            <a:extLst>
              <a:ext uri="{FF2B5EF4-FFF2-40B4-BE49-F238E27FC236}">
                <a16:creationId xmlns:a16="http://schemas.microsoft.com/office/drawing/2014/main" id="{D62C9DC6-7283-F26A-6167-EA0697BE3656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2" name="ChapterNav_4">
            <a:extLst>
              <a:ext uri="{FF2B5EF4-FFF2-40B4-BE49-F238E27FC236}">
                <a16:creationId xmlns:a16="http://schemas.microsoft.com/office/drawing/2014/main" id="{5F31F1E2-DE84-B7F2-4196-940E1D11FC60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23" name="ChapterNav_5">
            <a:extLst>
              <a:ext uri="{FF2B5EF4-FFF2-40B4-BE49-F238E27FC236}">
                <a16:creationId xmlns:a16="http://schemas.microsoft.com/office/drawing/2014/main" id="{94584498-DD41-0498-BAA8-7FBBC61B109E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5518404" cy="1280731"/>
            <a:chOff x="615696" y="552450"/>
            <a:chExt cx="5518404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实验与防御：防御机制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防御可检查输出，也可约束资源占用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08863" y="2076926"/>
            <a:ext cx="10563987" cy="1894999"/>
            <a:chOff x="808863" y="2076926"/>
            <a:chExt cx="10563987" cy="1894999"/>
          </a:xfrm>
        </p:grpSpPr>
        <p:sp>
          <p:nvSpPr>
            <p:cNvPr id="49" name="TextBox 6"/>
            <p:cNvSpPr txBox="1"/>
            <p:nvPr/>
          </p:nvSpPr>
          <p:spPr>
            <a:xfrm>
              <a:off x="808863" y="2076926"/>
              <a:ext cx="61410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检查输出：4-gram 是连续四个 token 构成的片段</a:t>
              </a:r>
            </a:p>
          </p:txBody>
        </p:sp>
        <p:sp>
          <p:nvSpPr>
            <p:cNvPr id="50" name="Rectangle 8"/>
            <p:cNvSpPr/>
            <p:nvPr/>
          </p:nvSpPr>
          <p:spPr>
            <a:xfrm>
              <a:off x="1019175" y="2619375"/>
              <a:ext cx="714375" cy="4762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51" name="TextBox 9"/>
            <p:cNvSpPr txBox="1"/>
            <p:nvPr/>
          </p:nvSpPr>
          <p:spPr>
            <a:xfrm>
              <a:off x="1227281" y="27489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t1</a:t>
              </a:r>
            </a:p>
          </p:txBody>
        </p:sp>
        <p:sp>
          <p:nvSpPr>
            <p:cNvPr id="52" name="Rectangle 10"/>
            <p:cNvSpPr/>
            <p:nvPr/>
          </p:nvSpPr>
          <p:spPr>
            <a:xfrm>
              <a:off x="1885950" y="2619375"/>
              <a:ext cx="714375" cy="4762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94056" y="27489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752725" y="2619375"/>
              <a:ext cx="714375" cy="4762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60831" y="27489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19500" y="2619375"/>
              <a:ext cx="714375" cy="4762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27606" y="27489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t4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486275" y="2619375"/>
              <a:ext cx="714375" cy="4762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94381" y="27489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53050" y="2619375"/>
              <a:ext cx="714375" cy="4762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61156" y="27489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t6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019175" y="3228975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19050">
              <a:solidFill>
                <a:srgbClr val="005A84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019175" y="3171825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005A84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333875" y="3171825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005A8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21124" y="3125629"/>
              <a:ext cx="14198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片段 1：t₁…t₄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885950" y="3571875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19050">
              <a:solidFill>
                <a:srgbClr val="16735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85950" y="3514725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16735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200650" y="3514725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16735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06949" y="3468529"/>
              <a:ext cx="14198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片段 2：t₂…t₅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72781" y="2691765"/>
              <a:ext cx="253288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滑动窗口统计重复频率，</a:t>
              </a:r>
              <a:br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重复过多则提前终止。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54874" y="3525679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长输出未必有大量字面重复。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09625" y="3962400"/>
              <a:ext cx="10563225" cy="9525"/>
            </a:xfrm>
            <a:custGeom>
              <a:avLst/>
              <a:gdLst/>
              <a:ahLst/>
              <a:cxnLst/>
              <a:rect l="l" t="t" r="r" b="b"/>
              <a:pathLst>
                <a:path w="10563225" h="9525">
                  <a:moveTo>
                    <a:pt x="0" y="0"/>
                  </a:moveTo>
                  <a:lnTo>
                    <a:pt x="10563225" y="0"/>
                  </a:lnTo>
                </a:path>
              </a:pathLst>
            </a:custGeom>
            <a:noFill/>
            <a:ln w="14288">
              <a:solidFill>
                <a:srgbClr val="CFDBDF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808863" y="4124801"/>
            <a:ext cx="10525887" cy="2157234"/>
            <a:chOff x="808863" y="4124801"/>
            <a:chExt cx="10525887" cy="2157234"/>
          </a:xfrm>
        </p:grpSpPr>
        <p:sp>
          <p:nvSpPr>
            <p:cNvPr id="33" name="TextBox 33"/>
            <p:cNvSpPr txBox="1"/>
            <p:nvPr/>
          </p:nvSpPr>
          <p:spPr>
            <a:xfrm>
              <a:off x="808863" y="4124801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约束资源：按轮分配生成额度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768" y="4470082"/>
              <a:ext cx="51223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VTC = Virtual Token Counter，虚拟 token 计数器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19150" y="4848225"/>
              <a:ext cx="2400300" cy="57150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83208" y="50158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分配生成额度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257550" y="5133975"/>
              <a:ext cx="219075" cy="1"/>
            </a:xfrm>
            <a:prstGeom prst="line">
              <a:avLst/>
            </a:prstGeom>
            <a:noFill/>
            <a:ln w="19050">
              <a:solidFill>
                <a:srgbClr val="16735C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524250" y="4848225"/>
              <a:ext cx="2400300" cy="57150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988308" y="50158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额度用完暂停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962650" y="5133975"/>
              <a:ext cx="219075" cy="1"/>
            </a:xfrm>
            <a:prstGeom prst="line">
              <a:avLst/>
            </a:prstGeom>
            <a:noFill/>
            <a:ln w="19050">
              <a:solidFill>
                <a:srgbClr val="16735C"/>
              </a:solidFill>
              <a:tailEnd type="triangle" w="lg" len="lg"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29350" y="4848225"/>
              <a:ext cx="2400300" cy="57150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93408" y="50158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保存运行状态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667750" y="5133975"/>
              <a:ext cx="219075" cy="1"/>
            </a:xfrm>
            <a:prstGeom prst="line">
              <a:avLst/>
            </a:prstGeom>
            <a:noFill/>
            <a:ln w="19050">
              <a:solidFill>
                <a:srgbClr val="16735C"/>
              </a:solidFill>
              <a:tailEnd type="triangle" w="lg" len="lg"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34450" y="4848225"/>
              <a:ext cx="2400300" cy="57150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98508" y="50158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重新排队等待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0768" y="5632132"/>
              <a:ext cx="550150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达到限制后可暂停并保留状态，也可终止生成并释放资源。</a:t>
              </a:r>
              <a:endParaRPr lang="zh-CN" sz="1650" dirty="0">
                <a:solidFill>
                  <a:srgbClr val="5C6B7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0387" y="6005036"/>
              <a:ext cx="85311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800" dirty="0"/>
                <a:t>暂停后可以继续生成，直接终止则可能截断答案，两者对正常长任务的影响不同。</a:t>
              </a:r>
              <a:endParaRPr lang="zh-CN" sz="1720" b="1" dirty="0">
                <a:solidFill>
                  <a:srgbClr val="BE4B42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086F76-DD89-500C-9ADA-1ABE220FD6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22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5F4DB5DD-CC78-6590-E8C1-2951CF89D0C7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53" name="ChapterNav_2">
            <a:extLst>
              <a:ext uri="{FF2B5EF4-FFF2-40B4-BE49-F238E27FC236}">
                <a16:creationId xmlns:a16="http://schemas.microsoft.com/office/drawing/2014/main" id="{0A36E2FE-A2D9-9B83-2B23-7C76F38A1C80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54" name="ChapterNav_3">
            <a:extLst>
              <a:ext uri="{FF2B5EF4-FFF2-40B4-BE49-F238E27FC236}">
                <a16:creationId xmlns:a16="http://schemas.microsoft.com/office/drawing/2014/main" id="{A51CADF4-0E5F-CC23-D050-A51906B4C626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55" name="ChapterNav_4">
            <a:extLst>
              <a:ext uri="{FF2B5EF4-FFF2-40B4-BE49-F238E27FC236}">
                <a16:creationId xmlns:a16="http://schemas.microsoft.com/office/drawing/2014/main" id="{CF57EEA6-30B9-D291-835C-CCF1B33E641E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56" name="ChapterNav_5">
            <a:extLst>
              <a:ext uri="{FF2B5EF4-FFF2-40B4-BE49-F238E27FC236}">
                <a16:creationId xmlns:a16="http://schemas.microsoft.com/office/drawing/2014/main" id="{428F929C-F6E3-67F8-EF03-D31DFE87A2D3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6540252" cy="1174417"/>
            <a:chOff x="615696" y="552450"/>
            <a:chExt cx="6540252" cy="1174417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实验与防御：防御效果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654025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资源调度更有效，但仍需</a:t>
              </a:r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看对正常请求的影响</a:t>
              </a:r>
              <a:endParaRPr lang="zh-CN" sz="255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53618" y="1936432"/>
            <a:ext cx="10202914" cy="3492818"/>
            <a:chOff x="753618" y="1936432"/>
            <a:chExt cx="10202914" cy="3492818"/>
          </a:xfrm>
        </p:grpSpPr>
        <p:sp>
          <p:nvSpPr>
            <p:cNvPr id="12" name="TextBox 12"/>
            <p:cNvSpPr txBox="1"/>
            <p:nvPr/>
          </p:nvSpPr>
          <p:spPr>
            <a:xfrm>
              <a:off x="753618" y="1936432"/>
              <a:ext cx="6139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DeepSeek Llama 70B </a:t>
              </a:r>
              <a:r>
                <a:rPr lang="en-US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lang="en-US" sz="165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MindIE </a:t>
              </a:r>
              <a:r>
                <a:rPr lang="en-US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lang="en-US" sz="165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8 </a:t>
              </a:r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张</a:t>
              </a:r>
              <a:r>
                <a:rPr lang="en-US" sz="165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Ascend 910B </a:t>
              </a:r>
              <a:r>
                <a:rPr lang="en-US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lang="en-US" sz="165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10 RPM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1464" y="2228850"/>
              <a:ext cx="5775722" cy="46672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781431" y="2558415"/>
              <a:ext cx="2431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TTFT</a:t>
              </a:r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：首</a:t>
              </a:r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时延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77406" y="2558415"/>
              <a:ext cx="1673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TPS</a:t>
              </a:r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：生成吞吐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6065" y="2857500"/>
              <a:ext cx="3827721" cy="2571750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40968" y="2857500"/>
              <a:ext cx="3815564" cy="2571750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819531" y="5434965"/>
            <a:ext cx="9654533" cy="352044"/>
            <a:chOff x="819531" y="5434965"/>
            <a:chExt cx="9654533" cy="352044"/>
          </a:xfrm>
        </p:grpSpPr>
        <p:sp>
          <p:nvSpPr>
            <p:cNvPr id="19" name="TextBox 19"/>
            <p:cNvSpPr txBox="1"/>
            <p:nvPr/>
          </p:nvSpPr>
          <p:spPr>
            <a:xfrm>
              <a:off x="819531" y="54349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重复检测只延缓退化。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59018" y="5451158"/>
              <a:ext cx="461504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还需</a:t>
              </a:r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验证：长任务时延、答案完整性与公平性。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" y="5829300"/>
            <a:ext cx="10934700" cy="600075"/>
            <a:chOff x="628650" y="5829300"/>
            <a:chExt cx="10934700" cy="600075"/>
          </a:xfrm>
        </p:grpSpPr>
        <p:sp>
          <p:nvSpPr>
            <p:cNvPr id="22" name="Rectangle 22"/>
            <p:cNvSpPr/>
            <p:nvPr/>
          </p:nvSpPr>
          <p:spPr>
            <a:xfrm>
              <a:off x="628650" y="5829300"/>
              <a:ext cx="10934700" cy="6000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" y="5829300"/>
              <a:ext cx="47625" cy="6000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9338" y="6010751"/>
              <a:ext cx="79799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在该单用户攻击设置下，资源调度保持了较稳定的</a:t>
              </a:r>
              <a:r>
                <a:rPr lang="en-US" sz="202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TTFT </a:t>
              </a:r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与</a:t>
              </a:r>
              <a:r>
                <a:rPr lang="en-US" sz="202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 TPS</a:t>
              </a:r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17FCC3-D736-2938-E98A-603A6B8C0D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23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C5DCA8B3-59D9-46A9-9A24-11085C24E126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26" name="ChapterNav_2">
            <a:extLst>
              <a:ext uri="{FF2B5EF4-FFF2-40B4-BE49-F238E27FC236}">
                <a16:creationId xmlns:a16="http://schemas.microsoft.com/office/drawing/2014/main" id="{110D22FB-6F6D-632D-B656-24AA4716EE04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27" name="ChapterNav_3">
            <a:extLst>
              <a:ext uri="{FF2B5EF4-FFF2-40B4-BE49-F238E27FC236}">
                <a16:creationId xmlns:a16="http://schemas.microsoft.com/office/drawing/2014/main" id="{3FC142D9-C0FD-C9ED-2934-0625FC036122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8" name="ChapterNav_4">
            <a:extLst>
              <a:ext uri="{FF2B5EF4-FFF2-40B4-BE49-F238E27FC236}">
                <a16:creationId xmlns:a16="http://schemas.microsoft.com/office/drawing/2014/main" id="{553BA1D3-3A1A-3C06-44D2-96D55007DE61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29" name="ChapterNav_5">
            <a:extLst>
              <a:ext uri="{FF2B5EF4-FFF2-40B4-BE49-F238E27FC236}">
                <a16:creationId xmlns:a16="http://schemas.microsoft.com/office/drawing/2014/main" id="{D031157F-4F28-EEDE-6500-1AD4F8A9C34D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2">
            <a:extLst>
              <a:ext uri="{FF2B5EF4-FFF2-40B4-BE49-F238E27FC236}">
                <a16:creationId xmlns:a16="http://schemas.microsoft.com/office/drawing/2014/main" id="{5D92B9A3-E1AF-D246-FC05-D9F9932D2F08}"/>
              </a:ext>
            </a:extLst>
          </p:cNvPr>
          <p:cNvSpPr/>
          <p:nvPr/>
        </p:nvSpPr>
        <p:spPr>
          <a:xfrm>
            <a:off x="673099" y="4833651"/>
            <a:ext cx="10693400" cy="649795"/>
          </a:xfrm>
          <a:prstGeom prst="rect">
            <a:avLst/>
          </a:prstGeom>
          <a:solidFill>
            <a:srgbClr val="E5F2ED"/>
          </a:solidFill>
          <a:ln>
            <a:noFill/>
          </a:ln>
        </p:spPr>
      </p:sp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658327" cy="1174417"/>
            <a:chOff x="615696" y="552450"/>
            <a:chExt cx="4658327" cy="1174417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263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04</a:t>
              </a:r>
              <a:endParaRPr lang="en-US" sz="3000" b="1" dirty="0">
                <a:solidFill>
                  <a:srgbClr val="4D787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138499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汇报</a:t>
              </a:r>
              <a:r>
                <a:rPr lang="zh-CN" altLang="en-US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目录</a:t>
              </a:r>
              <a:endParaRPr lang="zh-CN" sz="2700" b="1" dirty="0">
                <a:solidFill>
                  <a:srgbClr val="202B3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658327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读罢这篇论文我们究竟得到什么</a:t>
              </a:r>
              <a:endParaRPr lang="zh-CN" sz="255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4672" y="2349818"/>
            <a:ext cx="10530078" cy="593407"/>
            <a:chOff x="804672" y="2349818"/>
            <a:chExt cx="10530078" cy="593407"/>
          </a:xfrm>
        </p:grpSpPr>
        <p:sp>
          <p:nvSpPr>
            <p:cNvPr id="12" name="TextBox 12"/>
            <p:cNvSpPr txBox="1"/>
            <p:nvPr/>
          </p:nvSpPr>
          <p:spPr>
            <a:xfrm>
              <a:off x="804672" y="234981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4233" y="23983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问题背景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3326" y="2422684"/>
              <a:ext cx="4424172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少量请求为什么也可能拖慢服务？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838325" y="293370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04672" y="3207068"/>
            <a:ext cx="10530078" cy="593407"/>
            <a:chOff x="804672" y="3207068"/>
            <a:chExt cx="10530078" cy="593407"/>
          </a:xfrm>
        </p:grpSpPr>
        <p:sp>
          <p:nvSpPr>
            <p:cNvPr id="17" name="TextBox 17"/>
            <p:cNvSpPr txBox="1"/>
            <p:nvPr/>
          </p:nvSpPr>
          <p:spPr>
            <a:xfrm>
              <a:off x="804672" y="320706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4233" y="32556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方法原理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3326" y="3279934"/>
              <a:ext cx="530458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看不到模型内部，怎样搜索长输出提示？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838325" y="379095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04672" y="4064318"/>
            <a:ext cx="10530078" cy="593407"/>
            <a:chOff x="804672" y="4064318"/>
            <a:chExt cx="10530078" cy="593407"/>
          </a:xfrm>
        </p:grpSpPr>
        <p:sp>
          <p:nvSpPr>
            <p:cNvPr id="22" name="TextBox 22"/>
            <p:cNvSpPr txBox="1"/>
            <p:nvPr/>
          </p:nvSpPr>
          <p:spPr>
            <a:xfrm>
              <a:off x="804672" y="406431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64233" y="411289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实验与防御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3326" y="4137184"/>
              <a:ext cx="501111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方法是否有效，服务和防御表现如何？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838325" y="4648200"/>
              <a:ext cx="9496425" cy="9525"/>
            </a:xfrm>
            <a:custGeom>
              <a:avLst/>
              <a:gdLst/>
              <a:ahLst/>
              <a:cxnLst/>
              <a:rect l="l" t="t" r="r" b="b"/>
              <a:pathLst>
                <a:path w="9496425" h="9525">
                  <a:moveTo>
                    <a:pt x="0" y="0"/>
                  </a:moveTo>
                  <a:lnTo>
                    <a:pt x="94964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04672" y="4921568"/>
            <a:ext cx="8719769" cy="557403"/>
            <a:chOff x="804672" y="4921568"/>
            <a:chExt cx="8719769" cy="557403"/>
          </a:xfrm>
        </p:grpSpPr>
        <p:sp>
          <p:nvSpPr>
            <p:cNvPr id="27" name="TextBox 27"/>
            <p:cNvSpPr txBox="1"/>
            <p:nvPr/>
          </p:nvSpPr>
          <p:spPr>
            <a:xfrm>
              <a:off x="804672" y="4921568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6735C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64233" y="49701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总结思考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3326" y="4994434"/>
              <a:ext cx="501111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证据支持哪些结论，还需要怎样验证？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A59DD3-5C31-A790-1354-90C4D73494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24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RouteOutline_4">
            <a:extLst>
              <a:ext uri="{FF2B5EF4-FFF2-40B4-BE49-F238E27FC236}">
                <a16:creationId xmlns:a16="http://schemas.microsoft.com/office/drawing/2014/main" id="{1B1AB818-8BD4-14A3-030C-3321149B8CF2}"/>
              </a:ext>
            </a:extLst>
          </p:cNvPr>
          <p:cNvSpPr/>
          <p:nvPr/>
        </p:nvSpPr>
        <p:spPr>
          <a:xfrm>
            <a:off x="673100" y="4821999"/>
            <a:ext cx="10693400" cy="673100"/>
          </a:xfrm>
          <a:prstGeom prst="rect">
            <a:avLst/>
          </a:prstGeom>
          <a:noFill/>
          <a:ln w="28575" cap="flat" cmpd="sng" algn="ctr">
            <a:solidFill>
              <a:srgbClr val="1B745E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ChapterRouteMarker_4">
            <a:extLst>
              <a:ext uri="{FF2B5EF4-FFF2-40B4-BE49-F238E27FC236}">
                <a16:creationId xmlns:a16="http://schemas.microsoft.com/office/drawing/2014/main" id="{C4131CE1-E632-C237-5F5D-717347B27E41}"/>
              </a:ext>
            </a:extLst>
          </p:cNvPr>
          <p:cNvSpPr/>
          <p:nvPr/>
        </p:nvSpPr>
        <p:spPr>
          <a:xfrm>
            <a:off x="673100" y="4959350"/>
            <a:ext cx="63500" cy="482600"/>
          </a:xfrm>
          <a:prstGeom prst="rect">
            <a:avLst/>
          </a:prstGeom>
          <a:solidFill>
            <a:srgbClr val="1B74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ChapterNav_1">
            <a:extLst>
              <a:ext uri="{FF2B5EF4-FFF2-40B4-BE49-F238E27FC236}">
                <a16:creationId xmlns:a16="http://schemas.microsoft.com/office/drawing/2014/main" id="{A4A1CC08-1A5E-5AB6-9677-20C805C8BA47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3" name="ChapterNav_2">
            <a:extLst>
              <a:ext uri="{FF2B5EF4-FFF2-40B4-BE49-F238E27FC236}">
                <a16:creationId xmlns:a16="http://schemas.microsoft.com/office/drawing/2014/main" id="{654945F8-00FF-E31E-26B5-91AAB416272A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4" name="ChapterNav_3">
            <a:extLst>
              <a:ext uri="{FF2B5EF4-FFF2-40B4-BE49-F238E27FC236}">
                <a16:creationId xmlns:a16="http://schemas.microsoft.com/office/drawing/2014/main" id="{75D490B0-0F42-C04F-F057-7D1A56C5AE0D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5" name="ChapterNav_4">
            <a:extLst>
              <a:ext uri="{FF2B5EF4-FFF2-40B4-BE49-F238E27FC236}">
                <a16:creationId xmlns:a16="http://schemas.microsoft.com/office/drawing/2014/main" id="{08826C51-F99C-926A-3CB4-114BE36E33B8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6" name="ChapterNav_5">
            <a:extLst>
              <a:ext uri="{FF2B5EF4-FFF2-40B4-BE49-F238E27FC236}">
                <a16:creationId xmlns:a16="http://schemas.microsoft.com/office/drawing/2014/main" id="{222D355E-D0A4-4486-2AA1-8B8E23937AF4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13914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15696" y="552450"/>
            <a:ext cx="9810378" cy="1174417"/>
            <a:chOff x="615696" y="552450"/>
            <a:chExt cx="9810378" cy="1174417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116238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总结思考：</a:t>
              </a:r>
              <a:r>
                <a:rPr lang="zh-CN" altLang="en-US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主要</a:t>
              </a:r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结论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9810378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实验验证了长输出和本地服务风险，但结论仍受本文实验条件限制。</a:t>
              </a:r>
              <a:endParaRPr lang="zh-CN" sz="255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9" name="Rectangle 9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08482" y="2087880"/>
            <a:ext cx="10545318" cy="3746383"/>
            <a:chOff x="808482" y="2087880"/>
            <a:chExt cx="10545318" cy="3746383"/>
          </a:xfrm>
        </p:grpSpPr>
        <p:sp>
          <p:nvSpPr>
            <p:cNvPr id="13" name="TextBox 13"/>
            <p:cNvSpPr txBox="1"/>
            <p:nvPr/>
          </p:nvSpPr>
          <p:spPr>
            <a:xfrm>
              <a:off x="808482" y="2087880"/>
              <a:ext cx="10772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1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实验结果</a:t>
              </a:r>
              <a:endParaRPr lang="zh-CN" sz="210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66107" y="2087880"/>
              <a:ext cx="2423740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可以据此</a:t>
              </a:r>
              <a:r>
                <a:rPr lang="zh-CN" altLang="en-US" sz="21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得出</a:t>
              </a:r>
              <a:r>
                <a:rPr lang="zh-CN" sz="21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的</a:t>
              </a:r>
              <a:r>
                <a:rPr lang="zh-CN" altLang="en-US" sz="21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结论</a:t>
              </a:r>
              <a:endParaRPr lang="zh-CN" sz="2100" b="1" dirty="0">
                <a:solidFill>
                  <a:srgbClr val="16735C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809625" y="2533650"/>
              <a:ext cx="10544175" cy="9525"/>
            </a:xfrm>
            <a:custGeom>
              <a:avLst/>
              <a:gdLst/>
              <a:ahLst/>
              <a:cxnLst/>
              <a:rect l="l" t="t" r="r" b="b"/>
              <a:pathLst>
                <a:path w="10544175" h="9525">
                  <a:moveTo>
                    <a:pt x="0" y="0"/>
                  </a:moveTo>
                  <a:lnTo>
                    <a:pt x="10544175" y="0"/>
                  </a:lnTo>
                </a:path>
              </a:pathLst>
            </a:custGeom>
            <a:noFill/>
            <a:ln w="16192">
              <a:solidFill>
                <a:srgbClr val="CFDBD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8388" y="2886551"/>
              <a:ext cx="245165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输出接近</a:t>
              </a:r>
              <a:r>
                <a:rPr lang="en-US" sz="202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 4096 </a:t>
              </a:r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上限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66869" y="2762059"/>
              <a:ext cx="2922275" cy="7103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异常长生成；</a:t>
              </a:r>
              <a:br>
                <a:rPr dirty="0"/>
              </a:br>
              <a:r>
                <a:rPr lang="zh-CN" altLang="en-US" dirty="0"/>
                <a:t>但不能据此得出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无限生成。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28675" y="3724275"/>
              <a:ext cx="10525125" cy="9525"/>
            </a:xfrm>
            <a:custGeom>
              <a:avLst/>
              <a:gdLst/>
              <a:ahLst/>
              <a:cxnLst/>
              <a:rect l="l" t="t" r="r" b="b"/>
              <a:pathLst>
                <a:path w="10525125" h="9525">
                  <a:moveTo>
                    <a:pt x="0" y="0"/>
                  </a:moveTo>
                  <a:lnTo>
                    <a:pt x="105251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8388" y="4067651"/>
              <a:ext cx="219603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本地服务出现退化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66869" y="3927277"/>
              <a:ext cx="3890489" cy="7103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该部署下可用性风险</a:t>
              </a:r>
              <a:r>
                <a:rPr lang="zh-CN" altLang="en-US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显著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br>
                <a:rPr dirty="0"/>
              </a:br>
              <a:r>
                <a:rPr lang="zh-CN" altLang="en-US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无法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直接推出所有平台同样失效。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28675" y="4905375"/>
              <a:ext cx="10525125" cy="9525"/>
            </a:xfrm>
            <a:custGeom>
              <a:avLst/>
              <a:gdLst/>
              <a:ahLst/>
              <a:cxnLst/>
              <a:rect l="l" t="t" r="r" b="b"/>
              <a:pathLst>
                <a:path w="10525125" h="9525">
                  <a:moveTo>
                    <a:pt x="0" y="0"/>
                  </a:moveTo>
                  <a:lnTo>
                    <a:pt x="10525125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8388" y="5248751"/>
              <a:ext cx="3011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同一提示跨模型效果不同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6869" y="5123940"/>
              <a:ext cx="5251438" cy="7103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提示迁移存在边界；</a:t>
              </a:r>
              <a:br>
                <a:rPr dirty="0"/>
              </a:b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共享训练来源是否为原因，仍需</a:t>
              </a:r>
              <a:r>
                <a:rPr lang="zh-CN" altLang="en-US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控制变量实验</a:t>
              </a:r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CFB25BDC-FC42-AC8B-A62B-BCC33A7E5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25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7" name="ChapterNav_1">
            <a:extLst>
              <a:ext uri="{FF2B5EF4-FFF2-40B4-BE49-F238E27FC236}">
                <a16:creationId xmlns:a16="http://schemas.microsoft.com/office/drawing/2014/main" id="{E98BE6DD-A882-CE99-9D5C-68AC3EC90AEE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11" name="ChapterNav_2">
            <a:extLst>
              <a:ext uri="{FF2B5EF4-FFF2-40B4-BE49-F238E27FC236}">
                <a16:creationId xmlns:a16="http://schemas.microsoft.com/office/drawing/2014/main" id="{A20CBA09-5D06-118C-BC4C-A8F4D372CF79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25" name="ChapterNav_3">
            <a:extLst>
              <a:ext uri="{FF2B5EF4-FFF2-40B4-BE49-F238E27FC236}">
                <a16:creationId xmlns:a16="http://schemas.microsoft.com/office/drawing/2014/main" id="{E841A46A-4803-3DC8-323D-3C66D07FA35B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6" name="ChapterNav_4">
            <a:extLst>
              <a:ext uri="{FF2B5EF4-FFF2-40B4-BE49-F238E27FC236}">
                <a16:creationId xmlns:a16="http://schemas.microsoft.com/office/drawing/2014/main" id="{0B7198B7-4030-B99F-78EE-F0E828C8F928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27" name="ChapterNav_5">
            <a:extLst>
              <a:ext uri="{FF2B5EF4-FFF2-40B4-BE49-F238E27FC236}">
                <a16:creationId xmlns:a16="http://schemas.microsoft.com/office/drawing/2014/main" id="{5D46C0FF-B78F-CFF3-5063-B7FF44713DFA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905189" cy="1174417"/>
            <a:chOff x="615696" y="552450"/>
            <a:chExt cx="4905189" cy="1174417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总结思考：方法验证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90518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低维搜索的作用还需要</a:t>
              </a:r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做</a:t>
              </a:r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消融</a:t>
              </a:r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</a:t>
              </a:r>
              <a:endParaRPr lang="zh-CN" sz="255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07720" y="2071688"/>
            <a:ext cx="6347892" cy="786818"/>
            <a:chOff x="807720" y="2071688"/>
            <a:chExt cx="6347892" cy="786818"/>
          </a:xfrm>
        </p:grpSpPr>
        <p:sp>
          <p:nvSpPr>
            <p:cNvPr id="12" name="TextBox 12"/>
            <p:cNvSpPr txBox="1"/>
            <p:nvPr/>
          </p:nvSpPr>
          <p:spPr>
            <a:xfrm>
              <a:off x="807720" y="2071688"/>
              <a:ext cx="6347892" cy="786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2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我</a:t>
              </a:r>
              <a:r>
                <a:rPr lang="zh-CN" altLang="en-US" sz="22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初读时的</a:t>
              </a:r>
              <a:r>
                <a:rPr lang="zh-CN" sz="22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疑问：效果提升有多少来自低维投影，</a:t>
              </a:r>
              <a:br>
                <a:rPr dirty="0"/>
              </a:br>
              <a:r>
                <a:rPr lang="zh-CN" sz="22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又有多少来自搜索算法本身？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6869" y="3266122"/>
            <a:ext cx="10458831" cy="2600707"/>
            <a:chOff x="856869" y="3266122"/>
            <a:chExt cx="10458831" cy="2600707"/>
          </a:xfrm>
        </p:grpSpPr>
        <p:sp>
          <p:nvSpPr>
            <p:cNvPr id="14" name="TextBox 14"/>
            <p:cNvSpPr txBox="1"/>
            <p:nvPr/>
          </p:nvSpPr>
          <p:spPr>
            <a:xfrm>
              <a:off x="856869" y="3266122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固定模型、提示长度与预算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66775" y="3724275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19050">
              <a:solidFill>
                <a:srgbClr val="16735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401193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改变搜索维度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61632" y="401193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改变搜索策略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5825" y="4467225"/>
              <a:ext cx="4457700" cy="72390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84707" y="4707255"/>
              <a:ext cx="26080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低维搜索</a:t>
              </a:r>
              <a:r>
                <a:rPr lang="en-US" sz="21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en-US" sz="21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↔</a:t>
              </a:r>
              <a:r>
                <a:rPr lang="en-US" sz="21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zh-CN" sz="21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全维搜索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43725" y="4467225"/>
              <a:ext cx="4371975" cy="72390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52132" y="4707255"/>
              <a:ext cx="25275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CMA-ES </a:t>
              </a:r>
              <a:r>
                <a:rPr lang="en-US" sz="21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↔</a:t>
              </a:r>
              <a:r>
                <a:rPr lang="en-US" sz="21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zh-CN" sz="21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随机搜索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969" y="5485448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记录：输出长度、重复试验波动、不同文本候选的比例。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7E848F-D8B5-4D8C-EF94-B9F175C15E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26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95AD68BA-52D9-2EF3-97ED-0825D556B263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23" name="ChapterNav_2">
            <a:extLst>
              <a:ext uri="{FF2B5EF4-FFF2-40B4-BE49-F238E27FC236}">
                <a16:creationId xmlns:a16="http://schemas.microsoft.com/office/drawing/2014/main" id="{B68F66B2-4558-5814-DB25-A89EB4074FBA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25" name="ChapterNav_3">
            <a:extLst>
              <a:ext uri="{FF2B5EF4-FFF2-40B4-BE49-F238E27FC236}">
                <a16:creationId xmlns:a16="http://schemas.microsoft.com/office/drawing/2014/main" id="{48F213B8-5F8D-1EBB-FA14-E0D3FC73195D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6" name="ChapterNav_4">
            <a:extLst>
              <a:ext uri="{FF2B5EF4-FFF2-40B4-BE49-F238E27FC236}">
                <a16:creationId xmlns:a16="http://schemas.microsoft.com/office/drawing/2014/main" id="{2B36863C-E435-2CD9-87AD-6F671CAF0372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27" name="ChapterNav_5">
            <a:extLst>
              <a:ext uri="{FF2B5EF4-FFF2-40B4-BE49-F238E27FC236}">
                <a16:creationId xmlns:a16="http://schemas.microsoft.com/office/drawing/2014/main" id="{538FAD0B-8221-AA5D-47D8-A8A13C500B19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488561" cy="1280731"/>
            <a:chOff x="615696" y="552450"/>
            <a:chExt cx="4488561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总结思考：防御评估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防御评估应同时观察正常请求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71525" y="2657475"/>
            <a:ext cx="7486650" cy="2495550"/>
            <a:chOff x="771525" y="2657475"/>
            <a:chExt cx="7486650" cy="2495550"/>
          </a:xfrm>
        </p:grpSpPr>
        <p:sp>
          <p:nvSpPr>
            <p:cNvPr id="12" name="Rectangle 12"/>
            <p:cNvSpPr/>
            <p:nvPr/>
          </p:nvSpPr>
          <p:spPr>
            <a:xfrm>
              <a:off x="771525" y="2657475"/>
              <a:ext cx="2571750" cy="590550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0313" y="2829401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正常短请求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467100" y="2962275"/>
              <a:ext cx="1543050" cy="876300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1525" y="3609975"/>
              <a:ext cx="2571750" cy="5905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0313" y="3781901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正常长请求</a:t>
              </a:r>
            </a:p>
          </p:txBody>
        </p:sp>
        <p:sp>
          <p:nvSpPr>
            <p:cNvPr id="17" name="Line 17"/>
            <p:cNvSpPr/>
            <p:nvPr/>
          </p:nvSpPr>
          <p:spPr>
            <a:xfrm flipV="1">
              <a:off x="3467100" y="3838575"/>
              <a:ext cx="1543050" cy="76200"/>
            </a:xfrm>
            <a:prstGeom prst="line">
              <a:avLst/>
            </a:prstGeom>
            <a:noFill/>
            <a:ln w="23812">
              <a:solidFill>
                <a:srgbClr val="005A84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1525" y="4562475"/>
              <a:ext cx="2571750" cy="5905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0313" y="4734401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BE4B42"/>
                  </a:solidFill>
                  <a:latin typeface="Microsoft YaHei"/>
                  <a:ea typeface="Microsoft YaHei"/>
                  <a:cs typeface="Microsoft YaHei"/>
                </a:rPr>
                <a:t>高消耗请求</a:t>
              </a:r>
            </a:p>
          </p:txBody>
        </p:sp>
        <p:sp>
          <p:nvSpPr>
            <p:cNvPr id="20" name="Line 20"/>
            <p:cNvSpPr/>
            <p:nvPr/>
          </p:nvSpPr>
          <p:spPr>
            <a:xfrm flipV="1">
              <a:off x="3467100" y="3838575"/>
              <a:ext cx="1543050" cy="1028700"/>
            </a:xfrm>
            <a:prstGeom prst="line">
              <a:avLst/>
            </a:prstGeom>
            <a:noFill/>
            <a:ln w="23812">
              <a:solidFill>
                <a:srgbClr val="BE4B42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53025" y="3152775"/>
              <a:ext cx="2047875" cy="1400175"/>
            </a:xfrm>
            <a:prstGeom prst="rect">
              <a:avLst/>
            </a:prstGeom>
            <a:solidFill>
              <a:srgbClr val="E5F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35752" y="3425666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服务调度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68798" y="394763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比较不同防御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324725" y="3848100"/>
              <a:ext cx="933450" cy="1"/>
            </a:xfrm>
            <a:prstGeom prst="line">
              <a:avLst/>
            </a:prstGeom>
            <a:noFill/>
            <a:ln w="23812">
              <a:solidFill>
                <a:srgbClr val="16735C"/>
              </a:solidFill>
              <a:tailEnd type="triangle" w="lg" len="lg"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570595" y="2652712"/>
            <a:ext cx="2416698" cy="2661000"/>
            <a:chOff x="8570595" y="2652712"/>
            <a:chExt cx="2416698" cy="2661000"/>
          </a:xfrm>
        </p:grpSpPr>
        <p:sp>
          <p:nvSpPr>
            <p:cNvPr id="26" name="TextBox 26"/>
            <p:cNvSpPr txBox="1"/>
            <p:nvPr/>
          </p:nvSpPr>
          <p:spPr>
            <a:xfrm>
              <a:off x="8570595" y="2652712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等待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73262" y="3071336"/>
              <a:ext cx="24140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正常请求首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时延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70595" y="3605212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完成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73262" y="4023836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完成率与完成时间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70595" y="4557712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质量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73262" y="4976336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答案完整性与任务质量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8863" y="5514975"/>
            <a:ext cx="10544937" cy="558451"/>
            <a:chOff x="808863" y="5514975"/>
            <a:chExt cx="10544937" cy="558451"/>
          </a:xfrm>
        </p:grpSpPr>
        <p:sp>
          <p:nvSpPr>
            <p:cNvPr id="33" name="Line 33"/>
            <p:cNvSpPr/>
            <p:nvPr/>
          </p:nvSpPr>
          <p:spPr>
            <a:xfrm>
              <a:off x="819150" y="5514975"/>
              <a:ext cx="10534650" cy="9525"/>
            </a:xfrm>
            <a:custGeom>
              <a:avLst/>
              <a:gdLst/>
              <a:ahLst/>
              <a:cxnLst/>
              <a:rect l="l" t="t" r="r" b="b"/>
              <a:pathLst>
                <a:path w="10534650" h="9525">
                  <a:moveTo>
                    <a:pt x="0" y="0"/>
                  </a:moveTo>
                  <a:lnTo>
                    <a:pt x="10534650" y="0"/>
                  </a:lnTo>
                </a:path>
              </a:pathLst>
            </a:custGeom>
            <a:noFill/>
            <a:ln w="19050">
              <a:solidFill>
                <a:srgbClr val="16735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8863" y="5677376"/>
              <a:ext cx="654695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目标：服务保持可用，正常长任务也能获得完成机会。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8726D1-EDD2-4178-5218-FA21E9E976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27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5D1FAF3C-ED5E-4196-EDE3-760E5EAC6B63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5" name="ChapterNav_2">
            <a:extLst>
              <a:ext uri="{FF2B5EF4-FFF2-40B4-BE49-F238E27FC236}">
                <a16:creationId xmlns:a16="http://schemas.microsoft.com/office/drawing/2014/main" id="{A4A0DC27-4DA5-74C0-BE14-3E6A5345F3AF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7" name="ChapterNav_3">
            <a:extLst>
              <a:ext uri="{FF2B5EF4-FFF2-40B4-BE49-F238E27FC236}">
                <a16:creationId xmlns:a16="http://schemas.microsoft.com/office/drawing/2014/main" id="{7FD8F8E9-AFAB-DE33-0E97-F3D722D2B51B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8" name="ChapterNav_4">
            <a:extLst>
              <a:ext uri="{FF2B5EF4-FFF2-40B4-BE49-F238E27FC236}">
                <a16:creationId xmlns:a16="http://schemas.microsoft.com/office/drawing/2014/main" id="{FF104F8D-ACDF-E0C6-54B6-203CDEBB8D6D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9" name="ChapterNav_5">
            <a:extLst>
              <a:ext uri="{FF2B5EF4-FFF2-40B4-BE49-F238E27FC236}">
                <a16:creationId xmlns:a16="http://schemas.microsoft.com/office/drawing/2014/main" id="{D3BAA6A0-8F39-5E71-5934-AE08D579E3E4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5861685" cy="1280731"/>
            <a:chOff x="615696" y="552450"/>
            <a:chExt cx="5861685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总结思考：总结与讨论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可用性防护需要考虑每次请求的工作量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69974" y="2321719"/>
            <a:ext cx="10771659" cy="3312422"/>
            <a:chOff x="769974" y="2321719"/>
            <a:chExt cx="10771659" cy="3312422"/>
          </a:xfrm>
        </p:grpSpPr>
        <p:sp>
          <p:nvSpPr>
            <p:cNvPr id="12" name="TextBox 12"/>
            <p:cNvSpPr txBox="1"/>
            <p:nvPr/>
          </p:nvSpPr>
          <p:spPr>
            <a:xfrm>
              <a:off x="781050" y="2321719"/>
              <a:ext cx="961802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主要</a:t>
              </a:r>
              <a:r>
                <a:rPr lang="zh-CN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发现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9526" y="2727484"/>
              <a:ext cx="647847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黑盒访问下，也能搜索到诱导异常长输出的提示。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1050" y="341709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方法要点</a:t>
              </a:r>
            </a:p>
          </p:txBody>
        </p:sp>
        <p:sp>
          <p:nvSpPr>
            <p:cNvPr id="24" name="TextBox 10"/>
            <p:cNvSpPr txBox="1"/>
            <p:nvPr/>
          </p:nvSpPr>
          <p:spPr>
            <a:xfrm>
              <a:off x="771498" y="4730977"/>
              <a:ext cx="961802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个人</a:t>
              </a:r>
              <a:r>
                <a:rPr lang="zh-CN" sz="188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判断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974" y="5098642"/>
              <a:ext cx="7065470" cy="426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防御应结合资源占用与任务需求，评价可用性和质量。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91017" y="5426392"/>
              <a:ext cx="225061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altLang="en-US" sz="13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感谢大家聆听</a:t>
              </a:r>
              <a:r>
                <a:rPr lang="zh-CN" sz="13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，欢迎</a:t>
              </a:r>
              <a:r>
                <a:rPr lang="zh-CN" altLang="en-US" sz="13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友好</a:t>
              </a:r>
              <a:r>
                <a:rPr lang="zh-CN" sz="13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讨论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" y="5753100"/>
            <a:ext cx="10934700" cy="600075"/>
            <a:chOff x="628650" y="5753100"/>
            <a:chExt cx="10934700" cy="600075"/>
          </a:xfrm>
        </p:grpSpPr>
        <p:sp>
          <p:nvSpPr>
            <p:cNvPr id="20" name="Rectangle 20"/>
            <p:cNvSpPr/>
            <p:nvPr/>
          </p:nvSpPr>
          <p:spPr>
            <a:xfrm>
              <a:off x="628650" y="5753100"/>
              <a:ext cx="10934700" cy="6000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" y="5753100"/>
              <a:ext cx="47625" cy="600075"/>
            </a:xfrm>
            <a:prstGeom prst="rect">
              <a:avLst/>
            </a:prstGeom>
            <a:solidFill>
              <a:srgbClr val="1673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9338" y="5934551"/>
              <a:ext cx="10647145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02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资源调度限制策略需要做到，既抑制异常资源占用，也保证正常长任务的完成率与答案质量。</a:t>
              </a:r>
              <a:endParaRPr lang="zh-CN" sz="2020" b="1" dirty="0">
                <a:solidFill>
                  <a:srgbClr val="16735C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5" name="Group 21"/>
          <p:cNvGrpSpPr/>
          <p:nvPr/>
        </p:nvGrpSpPr>
        <p:grpSpPr>
          <a:xfrm>
            <a:off x="770763" y="3772376"/>
            <a:ext cx="7203694" cy="781812"/>
            <a:chOff x="770763" y="3772376"/>
            <a:chExt cx="7203694" cy="781812"/>
          </a:xfrm>
        </p:grpSpPr>
        <p:sp>
          <p:nvSpPr>
            <p:cNvPr id="26" name="TextBox 20"/>
            <p:cNvSpPr txBox="1"/>
            <p:nvPr/>
          </p:nvSpPr>
          <p:spPr>
            <a:xfrm>
              <a:off x="770763" y="3772376"/>
              <a:ext cx="7203694" cy="7818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38"/>
                </a:lnSpc>
              </a:pPr>
              <a:r>
                <a:rPr lang="zh-CN" sz="20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ThinkTrap 在低维空间搜索候选提示，将候选向量转换为文本，</a:t>
              </a:r>
              <a:br>
                <a:rPr dirty="0"/>
              </a:br>
              <a:r>
                <a:rPr lang="zh-CN" sz="20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并根据模型的输出长度调整下一轮搜索。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8D5EAC-1C81-CDFB-19EF-9585E2CC46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28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FA9953D1-AE18-D98A-EF69-9CBE28275F9B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16" name="ChapterNav_2">
            <a:extLst>
              <a:ext uri="{FF2B5EF4-FFF2-40B4-BE49-F238E27FC236}">
                <a16:creationId xmlns:a16="http://schemas.microsoft.com/office/drawing/2014/main" id="{16D35E89-589E-47F7-DB81-E2FFD2D329DD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17" name="ChapterNav_3">
            <a:extLst>
              <a:ext uri="{FF2B5EF4-FFF2-40B4-BE49-F238E27FC236}">
                <a16:creationId xmlns:a16="http://schemas.microsoft.com/office/drawing/2014/main" id="{D6F8E806-BBDD-F1F4-3AD1-6AF0EC927F91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7" name="ChapterNav_4">
            <a:extLst>
              <a:ext uri="{FF2B5EF4-FFF2-40B4-BE49-F238E27FC236}">
                <a16:creationId xmlns:a16="http://schemas.microsoft.com/office/drawing/2014/main" id="{4C80E81B-78C3-D6E3-230D-716EF8164BB9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28" name="ChapterNav_5">
            <a:extLst>
              <a:ext uri="{FF2B5EF4-FFF2-40B4-BE49-F238E27FC236}">
                <a16:creationId xmlns:a16="http://schemas.microsoft.com/office/drawing/2014/main" id="{81BC31EA-C209-DD8B-AA54-49FAB46CABDE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652010" cy="1280731"/>
            <a:chOff x="615696" y="552450"/>
            <a:chExt cx="4652010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A1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附录：实验配置与指标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实验设置与指标的口径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90194" y="2037398"/>
            <a:ext cx="6029706" cy="4184142"/>
            <a:chOff x="790194" y="2037398"/>
            <a:chExt cx="6029706" cy="4184142"/>
          </a:xfrm>
        </p:grpSpPr>
        <p:sp>
          <p:nvSpPr>
            <p:cNvPr id="12" name="TextBox 12"/>
            <p:cNvSpPr txBox="1"/>
            <p:nvPr/>
          </p:nvSpPr>
          <p:spPr>
            <a:xfrm>
              <a:off x="790194" y="2037398"/>
              <a:ext cx="10416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8 </a:t>
              </a:r>
              <a:r>
                <a:rPr lang="zh-CN" sz="19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个模型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1337" y="2461736"/>
              <a:ext cx="526216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Gemini 2.5 Pro </a:t>
              </a:r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Lumimaid </a:t>
              </a:r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Magistral </a:t>
              </a:r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GPT o4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1337" y="2823686"/>
              <a:ext cx="46900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MAI DS R1 </a:t>
              </a:r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DS Qwen3 </a:t>
              </a:r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Llama 3.2 </a:t>
              </a:r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lang="en-US" sz="172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DS R1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00100" y="3209925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14288">
              <a:solidFill>
                <a:srgbClr val="CFDBD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0956" y="3425190"/>
              <a:ext cx="2719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API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：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Model Router 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接口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0956" y="3901440"/>
              <a:ext cx="41154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提示搜索：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L = 20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m = 20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，温度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1.0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0956" y="4377690"/>
              <a:ext cx="35924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主效果：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10k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～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100k tokens 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预算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0956" y="4853940"/>
              <a:ext cx="42951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单次输出上限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4096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；每档预算重复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5 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718" y="5565458"/>
              <a:ext cx="4008692" cy="656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模型名保留论文实验时的称呼。</a:t>
              </a:r>
              <a:br/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预算口径为</a:t>
              </a:r>
              <a:r>
                <a:rPr lang="en-US" sz="165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token</a:t>
              </a:r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，不等同</a:t>
              </a:r>
              <a:r>
                <a:rPr lang="en-US" sz="165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API </a:t>
              </a:r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调用次数。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42657" y="2249805"/>
            <a:ext cx="3012415" cy="3727704"/>
            <a:chOff x="7542657" y="2249805"/>
            <a:chExt cx="3012415" cy="3727704"/>
          </a:xfrm>
        </p:grpSpPr>
        <p:sp>
          <p:nvSpPr>
            <p:cNvPr id="22" name="TextBox 22"/>
            <p:cNvSpPr txBox="1"/>
            <p:nvPr/>
          </p:nvSpPr>
          <p:spPr>
            <a:xfrm>
              <a:off x="7542657" y="22498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输出长度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4181" y="2653665"/>
              <a:ext cx="27685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单次返回的生成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42657" y="3240405"/>
              <a:ext cx="711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TTFT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44181" y="3644265"/>
              <a:ext cx="30108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请求提交至首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的时间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2657" y="4231005"/>
              <a:ext cx="5388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TPS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44181" y="4634865"/>
              <a:ext cx="2041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每秒生成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token 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42657" y="52216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显存占用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44181" y="56254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区分单设备与多设备统计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953720-FEB4-0CB2-69E6-326395C32E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29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FCE0CA0A-96C7-2FD0-1217-79FA4AF8A5CC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1" name="ChapterNav_2">
            <a:extLst>
              <a:ext uri="{FF2B5EF4-FFF2-40B4-BE49-F238E27FC236}">
                <a16:creationId xmlns:a16="http://schemas.microsoft.com/office/drawing/2014/main" id="{94B5DB18-63FD-E60F-4856-D8840E697151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2" name="ChapterNav_3">
            <a:extLst>
              <a:ext uri="{FF2B5EF4-FFF2-40B4-BE49-F238E27FC236}">
                <a16:creationId xmlns:a16="http://schemas.microsoft.com/office/drawing/2014/main" id="{2BA5BC0C-55D1-57BD-8ED0-6EF1F13C6562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3" name="ChapterNav_4">
            <a:extLst>
              <a:ext uri="{FF2B5EF4-FFF2-40B4-BE49-F238E27FC236}">
                <a16:creationId xmlns:a16="http://schemas.microsoft.com/office/drawing/2014/main" id="{E28E2AEB-F37F-5B02-B244-B4DAE7DAF7F9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4" name="ChapterNav_5">
            <a:extLst>
              <a:ext uri="{FF2B5EF4-FFF2-40B4-BE49-F238E27FC236}">
                <a16:creationId xmlns:a16="http://schemas.microsoft.com/office/drawing/2014/main" id="{A1CDD821-9DCE-236E-166B-0BF51631B7D6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831842" cy="1280731"/>
            <a:chOff x="615696" y="552450"/>
            <a:chExt cx="4831842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A2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附录：数学细节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低维投影与搜索分布的数学表达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09625" y="2143125"/>
            <a:ext cx="4857750" cy="3287839"/>
            <a:chOff x="809625" y="2143125"/>
            <a:chExt cx="4857750" cy="3287839"/>
          </a:xfrm>
        </p:grpSpPr>
        <p:sp>
          <p:nvSpPr>
            <p:cNvPr id="68" name="Rectangle 6"/>
            <p:cNvSpPr/>
            <p:nvPr/>
          </p:nvSpPr>
          <p:spPr>
            <a:xfrm>
              <a:off x="809625" y="2143125"/>
              <a:ext cx="4857750" cy="400050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69" name="TextBox 8"/>
            <p:cNvSpPr txBox="1"/>
            <p:nvPr/>
          </p:nvSpPr>
          <p:spPr>
            <a:xfrm>
              <a:off x="963168" y="22412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变量</a:t>
              </a:r>
            </a:p>
          </p:txBody>
        </p:sp>
        <p:sp>
          <p:nvSpPr>
            <p:cNvPr id="70" name="TextBox 9"/>
            <p:cNvSpPr txBox="1"/>
            <p:nvPr/>
          </p:nvSpPr>
          <p:spPr>
            <a:xfrm>
              <a:off x="1877568" y="22412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维度</a:t>
              </a:r>
            </a:p>
          </p:txBody>
        </p:sp>
        <p:sp>
          <p:nvSpPr>
            <p:cNvPr id="71" name="TextBox 10"/>
            <p:cNvSpPr txBox="1"/>
            <p:nvPr/>
          </p:nvSpPr>
          <p:spPr>
            <a:xfrm>
              <a:off x="3372993" y="22412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含义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9625" y="2543175"/>
              <a:ext cx="4857750" cy="5143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62787" y="26903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z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77187" y="2690336"/>
              <a:ext cx="1911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72612" y="269033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低维搜索向量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9625" y="30575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2787" y="3204686"/>
              <a:ext cx="15881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77187" y="3204686"/>
              <a:ext cx="72527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Ld × 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72612" y="320468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固定随机矩阵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9625" y="35718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9625" y="3571875"/>
              <a:ext cx="4857750" cy="51435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2787" y="37190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7187" y="3719036"/>
              <a:ext cx="2794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Ld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72612" y="371903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展平后的嵌入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9625" y="40862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2787" y="4233386"/>
              <a:ext cx="15881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77187" y="4233386"/>
              <a:ext cx="5532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L × 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72612" y="423338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提示嵌入矩阵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09625" y="46005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0293" y="4793932"/>
              <a:ext cx="4584954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L：提示 token 数；d：每个 token 的嵌入维度。</a:t>
              </a:r>
              <a:br/>
              <a:r>
                <a:rPr lang="zh-CN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m：低维搜索向量 z 的维度。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292215" y="2043232"/>
            <a:ext cx="4389882" cy="3578232"/>
            <a:chOff x="6292215" y="2043232"/>
            <a:chExt cx="4389882" cy="3578232"/>
          </a:xfrm>
        </p:grpSpPr>
        <p:grpSp>
          <p:nvGrpSpPr>
            <p:cNvPr id="34" name="Group 34"/>
            <p:cNvGrpSpPr/>
            <p:nvPr/>
          </p:nvGrpSpPr>
          <p:grpSpPr>
            <a:xfrm>
              <a:off x="6292215" y="2043232"/>
              <a:ext cx="1807342" cy="577572"/>
              <a:chOff x="6292215" y="2043232"/>
              <a:chExt cx="1807342" cy="577572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6292215" y="2107406"/>
                <a:ext cx="1643786" cy="5133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62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e = Az ∈ ℝ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21835" y="2043232"/>
                <a:ext cx="277722" cy="3337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1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Ld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6292215" y="2621756"/>
              <a:ext cx="3590013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620" dirty="0">
                  <a:solidFill>
                    <a:srgbClr val="005A84"/>
                  </a:solidFill>
                  <a:latin typeface="Cambria Math"/>
                  <a:ea typeface="Cambria Math"/>
                  <a:cs typeface="Cambria Math"/>
                </a:rPr>
                <a:t>E = reshape(e, L, d)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294882" y="3055715"/>
              <a:ext cx="2169795" cy="462058"/>
              <a:chOff x="6294882" y="3055715"/>
              <a:chExt cx="2169795" cy="462058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6294882" y="3107055"/>
                <a:ext cx="6574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z ∈ ℝ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907263" y="3055715"/>
                <a:ext cx="151181" cy="266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m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061644" y="3107055"/>
                <a:ext cx="94731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, A ∈ ℝ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891196" y="3055715"/>
                <a:ext cx="573481" cy="266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Ld × m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6306312" y="3528536"/>
              <a:ext cx="335092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A 固定，只更新 z 的采样分布。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6293358" y="3920871"/>
              <a:ext cx="1745132" cy="528066"/>
              <a:chOff x="6293358" y="3920871"/>
              <a:chExt cx="1745132" cy="528066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293358" y="3979545"/>
                <a:ext cx="20208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z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440500" y="4143375"/>
                <a:ext cx="78852" cy="305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i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440500" y="3920871"/>
                <a:ext cx="131354" cy="305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t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17196" y="3979545"/>
                <a:ext cx="85496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24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∼ N(μ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377760" y="4143375"/>
                <a:ext cx="131354" cy="305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t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454456" y="3979545"/>
                <a:ext cx="50231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24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, Σ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759713" y="4143375"/>
                <a:ext cx="131354" cy="305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t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836408" y="3979545"/>
                <a:ext cx="20208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)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293358" y="4340428"/>
              <a:ext cx="2086730" cy="746344"/>
              <a:chOff x="6293358" y="4340428"/>
              <a:chExt cx="2086730" cy="746344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6293358" y="4474845"/>
                <a:ext cx="20208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24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μ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469075" y="4638675"/>
                <a:ext cx="362361" cy="305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t+1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802946" y="4474845"/>
                <a:ext cx="20208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=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162480" y="4453280"/>
                <a:ext cx="226480" cy="525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69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∑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187837" y="4870852"/>
                <a:ext cx="218531" cy="215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j=1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250772" y="4340428"/>
                <a:ext cx="92662" cy="215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k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482078" y="4474845"/>
                <a:ext cx="2667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w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794003" y="4638675"/>
                <a:ext cx="78852" cy="305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j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856411" y="4474845"/>
                <a:ext cx="20208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z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070228" y="4638675"/>
                <a:ext cx="309860" cy="305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(j)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070228" y="4416171"/>
                <a:ext cx="131354" cy="305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60" dirty="0">
                    <a:solidFill>
                      <a:srgbClr val="005A84"/>
                    </a:solidFill>
                    <a:latin typeface="Cambria Math"/>
                    <a:ea typeface="Cambria Math"/>
                    <a:cs typeface="Cambria Math"/>
                  </a:rPr>
                  <a:t>t</a:t>
                </a:r>
              </a:p>
            </p:txBody>
          </p:sp>
        </p:grpSp>
        <p:sp>
          <p:nvSpPr>
            <p:cNvPr id="63" name="TextBox 63"/>
            <p:cNvSpPr txBox="1"/>
            <p:nvPr/>
          </p:nvSpPr>
          <p:spPr>
            <a:xfrm>
              <a:off x="6306693" y="4984432"/>
              <a:ext cx="4375404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z₍ⱼ₎ᵗ 是本轮第 j 名候选；wⱼ &gt; 0，合计为 1。</a:t>
              </a:r>
              <a:br/>
              <a:r>
                <a:rPr lang="zh-CN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μ 是搜索中心，Σ 控制采样方向与范围。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19531" y="5701665"/>
            <a:ext cx="8709406" cy="665703"/>
            <a:chOff x="819531" y="5701665"/>
            <a:chExt cx="8709406" cy="665703"/>
          </a:xfrm>
        </p:grpSpPr>
        <p:sp>
          <p:nvSpPr>
            <p:cNvPr id="65" name="TextBox 65"/>
            <p:cNvSpPr txBox="1"/>
            <p:nvPr/>
          </p:nvSpPr>
          <p:spPr>
            <a:xfrm>
              <a:off x="819531" y="5701665"/>
              <a:ext cx="87094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35C"/>
                  </a:solidFill>
                  <a:latin typeface="Microsoft YaHei"/>
                  <a:ea typeface="Microsoft YaHei"/>
                  <a:cs typeface="Microsoft YaHei"/>
                </a:rPr>
                <a:t>reshape 只重新排列元素，不改变元素总数；E 的第 i 行就是解码时使用的 eᵢ。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0674" y="6059329"/>
              <a:ext cx="67806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搜索更新沿用论文的概括表达；完整 CMA-ES 实现还包含其他机制。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CDB8C8-02DB-786C-A4C4-71BFA16E65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30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03F564CF-F488-9A1F-648A-61B47D98EB5B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72" name="ChapterNav_2">
            <a:extLst>
              <a:ext uri="{FF2B5EF4-FFF2-40B4-BE49-F238E27FC236}">
                <a16:creationId xmlns:a16="http://schemas.microsoft.com/office/drawing/2014/main" id="{5EADD023-0492-28DF-AF56-383283FEB921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73" name="ChapterNav_3">
            <a:extLst>
              <a:ext uri="{FF2B5EF4-FFF2-40B4-BE49-F238E27FC236}">
                <a16:creationId xmlns:a16="http://schemas.microsoft.com/office/drawing/2014/main" id="{8B15AE66-B0CF-B9AA-BFCD-871D384306AA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74" name="ChapterNav_4">
            <a:extLst>
              <a:ext uri="{FF2B5EF4-FFF2-40B4-BE49-F238E27FC236}">
                <a16:creationId xmlns:a16="http://schemas.microsoft.com/office/drawing/2014/main" id="{2F721EE0-4F4E-230A-F566-0B675FE4A4B7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75" name="ChapterNav_5">
            <a:extLst>
              <a:ext uri="{FF2B5EF4-FFF2-40B4-BE49-F238E27FC236}">
                <a16:creationId xmlns:a16="http://schemas.microsoft.com/office/drawing/2014/main" id="{4F6FCB87-C6A0-AE27-D24A-48693E547E29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4448175"/>
            <a:chOff x="476250" y="1895475"/>
            <a:chExt cx="11201400" cy="44481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44481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3801999" cy="1280731"/>
            <a:chOff x="615696" y="552450"/>
            <a:chExt cx="3801999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A3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附录：其他结果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其他模型与提示迁移结果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71525" y="2000250"/>
            <a:ext cx="10477500" cy="4398645"/>
            <a:chOff x="771525" y="2000250"/>
            <a:chExt cx="10477500" cy="4398645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525" y="2000250"/>
              <a:ext cx="10477500" cy="257175"/>
            </a:xfrm>
            <a:prstGeom prst="rect">
              <a:avLst/>
            </a:prstGeom>
          </p:spPr>
        </p:pic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6696" y="2381250"/>
              <a:ext cx="4542659" cy="15621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782955" y="3990975"/>
              <a:ext cx="25679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DS R1</a:t>
              </a:r>
              <a:r>
                <a:rPr lang="zh-CN" sz="1500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：低预算下输出已较长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04202" y="2381250"/>
              <a:ext cx="4327197" cy="15621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6602730" y="3990975"/>
              <a:ext cx="22727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GPT o4</a:t>
              </a:r>
              <a:r>
                <a:rPr lang="zh-CN" sz="1500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：效果随预算变化</a:t>
              </a:r>
            </a:p>
          </p:txBody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5693" y="4410075"/>
              <a:ext cx="4564665" cy="1647825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782955" y="6105525"/>
              <a:ext cx="3175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5A84"/>
                  </a:solidFill>
                  <a:latin typeface="Arial"/>
                  <a:ea typeface="Arial"/>
                  <a:cs typeface="Arial"/>
                </a:rPr>
                <a:t>MAI DS R1</a:t>
              </a:r>
              <a:r>
                <a:rPr lang="zh-CN" sz="1500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：低预算下与基线有差异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942638" y="4410075"/>
              <a:ext cx="2269373" cy="1647825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6669405" y="61055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其他模型：源提示迁移效果有限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8E53AB-B42D-9B2F-74A1-D32BF13341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31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16D6264C-10C6-31D7-73FF-95D0226D4A72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22" name="ChapterNav_2">
            <a:extLst>
              <a:ext uri="{FF2B5EF4-FFF2-40B4-BE49-F238E27FC236}">
                <a16:creationId xmlns:a16="http://schemas.microsoft.com/office/drawing/2014/main" id="{91580913-E9EC-838E-36CC-520A0770FDD8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23" name="ChapterNav_3">
            <a:extLst>
              <a:ext uri="{FF2B5EF4-FFF2-40B4-BE49-F238E27FC236}">
                <a16:creationId xmlns:a16="http://schemas.microsoft.com/office/drawing/2014/main" id="{530F0167-317B-03BD-3943-6F8E863A81E9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24" name="ChapterNav_4">
            <a:extLst>
              <a:ext uri="{FF2B5EF4-FFF2-40B4-BE49-F238E27FC236}">
                <a16:creationId xmlns:a16="http://schemas.microsoft.com/office/drawing/2014/main" id="{8B739F64-708B-F403-F4A9-E39132E173F6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25" name="ChapterNav_5">
            <a:extLst>
              <a:ext uri="{FF2B5EF4-FFF2-40B4-BE49-F238E27FC236}">
                <a16:creationId xmlns:a16="http://schemas.microsoft.com/office/drawing/2014/main" id="{53465931-C854-003D-5D2E-50DD72D64E75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895475"/>
            <a:ext cx="11201400" cy="3914775"/>
            <a:chOff x="476250" y="1895475"/>
            <a:chExt cx="11201400" cy="3914775"/>
          </a:xfrm>
        </p:grpSpPr>
        <p:sp>
          <p:nvSpPr>
            <p:cNvPr id="2" name="Rectangle 2"/>
            <p:cNvSpPr/>
            <p:nvPr/>
          </p:nvSpPr>
          <p:spPr>
            <a:xfrm>
              <a:off x="476250" y="1895475"/>
              <a:ext cx="11201400" cy="39147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15696" y="552450"/>
            <a:ext cx="4145280" cy="1280731"/>
            <a:chOff x="615696" y="552450"/>
            <a:chExt cx="4145280" cy="1280731"/>
          </a:xfrm>
        </p:grpSpPr>
        <p:sp>
          <p:nvSpPr>
            <p:cNvPr id="4" name="TextBox 4"/>
            <p:cNvSpPr txBox="1"/>
            <p:nvPr/>
          </p:nvSpPr>
          <p:spPr>
            <a:xfrm>
              <a:off x="651510" y="5524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A4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5534" y="575310"/>
              <a:ext cx="2423740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附录：结论</a:t>
              </a:r>
              <a:r>
                <a:rPr lang="zh-CN" altLang="en-US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表述</a:t>
              </a:r>
              <a:endParaRPr lang="zh-CN" sz="2700" b="1" dirty="0">
                <a:solidFill>
                  <a:srgbClr val="202B3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5696" y="1334452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容易混淆的结论与原文表述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06125" y="6362700"/>
            <a:ext cx="1285875" cy="495300"/>
            <a:chOff x="10906125" y="6362700"/>
            <a:chExt cx="1285875" cy="495300"/>
          </a:xfrm>
        </p:grpSpPr>
        <p:sp>
          <p:nvSpPr>
            <p:cNvPr id="8" name="Rectangle 8"/>
            <p:cNvSpPr/>
            <p:nvPr/>
          </p:nvSpPr>
          <p:spPr>
            <a:xfrm>
              <a:off x="10906125" y="6362700"/>
              <a:ext cx="1285875" cy="4953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76275" y="2133600"/>
            <a:ext cx="10858500" cy="3752850"/>
            <a:chOff x="676275" y="2133600"/>
            <a:chExt cx="10858500" cy="3752850"/>
          </a:xfrm>
        </p:grpSpPr>
        <p:sp>
          <p:nvSpPr>
            <p:cNvPr id="12" name="Rectangle 12"/>
            <p:cNvSpPr/>
            <p:nvPr/>
          </p:nvSpPr>
          <p:spPr>
            <a:xfrm>
              <a:off x="676275" y="2133600"/>
              <a:ext cx="10858500" cy="504825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8675" y="2274094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容易混淆之处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00400" y="2274094"/>
              <a:ext cx="204373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本汇报采用的口径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76275" y="2638425"/>
              <a:ext cx="10858500" cy="80962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9056" y="2928938"/>
              <a:ext cx="1267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“无限思考”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00781" y="2928938"/>
              <a:ext cx="48161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lang="en-US" sz="1800" dirty="0">
                  <a:solidFill>
                    <a:srgbClr val="202B33"/>
                  </a:solidFill>
                  <a:latin typeface="Arial"/>
                  <a:ea typeface="Arial"/>
                  <a:cs typeface="Arial"/>
                </a:rPr>
                <a:t> 4096 </a:t>
              </a:r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上限内观察长生成；不证明无限过程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76275" y="34480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9056" y="3738562"/>
              <a:ext cx="1025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“低成本”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00781" y="3738562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按论文当时预算与价格；不等于端到端成本或现价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76275" y="425767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6275" y="4257675"/>
              <a:ext cx="10858500" cy="80962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056" y="4548188"/>
              <a:ext cx="1509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“跨模型有效”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00781" y="4548188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可对多个模型分别搜索；同一提示不保证普遍迁移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76275" y="50673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9056" y="5357812"/>
              <a:ext cx="1267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“资源调度”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00781" y="5357812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原文存在抢占重排与终止两种表述，应分别验证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76275" y="587692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FDBDF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19912" y="6005036"/>
            <a:ext cx="6527038" cy="337376"/>
            <a:chOff x="819912" y="6005036"/>
            <a:chExt cx="6527038" cy="337376"/>
          </a:xfrm>
        </p:grpSpPr>
        <p:sp>
          <p:nvSpPr>
            <p:cNvPr id="30" name="TextBox 30"/>
            <p:cNvSpPr txBox="1"/>
            <p:nvPr/>
          </p:nvSpPr>
          <p:spPr>
            <a:xfrm>
              <a:off x="819912" y="6005036"/>
              <a:ext cx="652703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商业</a:t>
              </a:r>
              <a:r>
                <a:rPr lang="en-US" sz="1720" dirty="0">
                  <a:solidFill>
                    <a:srgbClr val="5C6B73"/>
                  </a:solidFill>
                  <a:latin typeface="Arial"/>
                  <a:ea typeface="Arial"/>
                  <a:cs typeface="Arial"/>
                </a:rPr>
                <a:t> API </a:t>
              </a:r>
              <a:r>
                <a:rPr lang="zh-CN" sz="172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进行受控查询；压力实验在获授权的本地部署上进行。</a:t>
              </a: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EC148B-1830-CF37-966E-5793AAC3B6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zh-CN" smtClean="0"/>
              <a:pPr algn="r"/>
              <a:t>32</a:t>
            </a:fld>
            <a:endParaRPr lang="en-US">
              <a:solidFill>
                <a:srgbClr val="4F7C6C"/>
              </a:solidFill>
            </a:endParaRP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CBBDA218-20A4-8A08-B6CF-EF1A019E05B6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2" name="ChapterNav_2">
            <a:extLst>
              <a:ext uri="{FF2B5EF4-FFF2-40B4-BE49-F238E27FC236}">
                <a16:creationId xmlns:a16="http://schemas.microsoft.com/office/drawing/2014/main" id="{361068EB-556E-43F1-DF0A-ACB05B2FEB4A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3" name="ChapterNav_3">
            <a:extLst>
              <a:ext uri="{FF2B5EF4-FFF2-40B4-BE49-F238E27FC236}">
                <a16:creationId xmlns:a16="http://schemas.microsoft.com/office/drawing/2014/main" id="{8B84E997-A654-87E7-F4BA-86F6194D25AE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4" name="ChapterNav_4">
            <a:extLst>
              <a:ext uri="{FF2B5EF4-FFF2-40B4-BE49-F238E27FC236}">
                <a16:creationId xmlns:a16="http://schemas.microsoft.com/office/drawing/2014/main" id="{65BEFD32-12F3-DA21-B0C7-ACFB94E12905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5" name="ChapterNav_5">
            <a:extLst>
              <a:ext uri="{FF2B5EF4-FFF2-40B4-BE49-F238E27FC236}">
                <a16:creationId xmlns:a16="http://schemas.microsoft.com/office/drawing/2014/main" id="{41A55465-AD02-64EB-5000-6D4A944AA54A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xfrm>
            <a:off x="11472005" y="6474047"/>
            <a:ext cx="719995" cy="383953"/>
          </a:xfrm>
          <a:prstGeom prst="rect">
            <a:avLst/>
          </a:prstGeom>
          <a:noFill/>
          <a:ln>
            <a:noFill/>
          </a:ln>
        </p:spPr>
        <p:txBody>
          <a:bodyPr wrap="none" lIns="0" tIns="107304" rIns="91440" bIns="0" anchor="t" anchorCtr="0">
            <a:noAutofit/>
          </a:bodyPr>
          <a:lstStyle/>
          <a:p>
            <a:pPr algn="r"/>
            <a:r>
              <a:rPr lang="en-US" sz="1330" dirty="0">
                <a:solidFill>
                  <a:srgbClr val="4F7C6C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10" name="ChapterNav_1">
            <a:extLst>
              <a:ext uri="{FF2B5EF4-FFF2-40B4-BE49-F238E27FC236}">
                <a16:creationId xmlns:a16="http://schemas.microsoft.com/office/drawing/2014/main" id="{CBBDA218-20A4-8A08-B6CF-EF1A019E05B6}"/>
              </a:ext>
            </a:extLst>
          </p:cNvPr>
          <p:cNvSpPr txBox="1"/>
          <p:nvPr/>
        </p:nvSpPr>
        <p:spPr>
          <a:xfrm>
            <a:off x="40005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问题背景</a:t>
            </a:r>
          </a:p>
        </p:txBody>
      </p:sp>
      <p:sp>
        <p:nvSpPr>
          <p:cNvPr id="32" name="ChapterNav_2">
            <a:extLst>
              <a:ext uri="{FF2B5EF4-FFF2-40B4-BE49-F238E27FC236}">
                <a16:creationId xmlns:a16="http://schemas.microsoft.com/office/drawing/2014/main" id="{361068EB-556E-43F1-DF0A-ACB05B2FEB4A}"/>
              </a:ext>
            </a:extLst>
          </p:cNvPr>
          <p:cNvSpPr txBox="1"/>
          <p:nvPr/>
        </p:nvSpPr>
        <p:spPr>
          <a:xfrm>
            <a:off x="53213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</a:t>
            </a:r>
          </a:p>
        </p:txBody>
      </p:sp>
      <p:sp>
        <p:nvSpPr>
          <p:cNvPr id="33" name="ChapterNav_3">
            <a:extLst>
              <a:ext uri="{FF2B5EF4-FFF2-40B4-BE49-F238E27FC236}">
                <a16:creationId xmlns:a16="http://schemas.microsoft.com/office/drawing/2014/main" id="{8B84E997-A654-87E7-F4BA-86F6194D25AE}"/>
              </a:ext>
            </a:extLst>
          </p:cNvPr>
          <p:cNvSpPr txBox="1"/>
          <p:nvPr/>
        </p:nvSpPr>
        <p:spPr>
          <a:xfrm>
            <a:off x="66421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实验与防御</a:t>
            </a:r>
          </a:p>
        </p:txBody>
      </p:sp>
      <p:sp>
        <p:nvSpPr>
          <p:cNvPr id="34" name="ChapterNav_4">
            <a:extLst>
              <a:ext uri="{FF2B5EF4-FFF2-40B4-BE49-F238E27FC236}">
                <a16:creationId xmlns:a16="http://schemas.microsoft.com/office/drawing/2014/main" id="{65BEFD32-12F3-DA21-B0C7-ACFB94E12905}"/>
              </a:ext>
            </a:extLst>
          </p:cNvPr>
          <p:cNvSpPr txBox="1"/>
          <p:nvPr/>
        </p:nvSpPr>
        <p:spPr>
          <a:xfrm>
            <a:off x="7962900" y="173323"/>
            <a:ext cx="1270000" cy="169277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6A7C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总结思考</a:t>
            </a:r>
          </a:p>
        </p:txBody>
      </p:sp>
      <p:sp>
        <p:nvSpPr>
          <p:cNvPr id="35" name="ChapterNav_5">
            <a:extLst>
              <a:ext uri="{FF2B5EF4-FFF2-40B4-BE49-F238E27FC236}">
                <a16:creationId xmlns:a16="http://schemas.microsoft.com/office/drawing/2014/main" id="{41A55465-AD02-64EB-5000-6D4A944AA54A}"/>
              </a:ext>
            </a:extLst>
          </p:cNvPr>
          <p:cNvSpPr txBox="1"/>
          <p:nvPr/>
        </p:nvSpPr>
        <p:spPr>
          <a:xfrm>
            <a:off x="9283700" y="173323"/>
            <a:ext cx="1270000" cy="169277"/>
          </a:xfrm>
          <a:prstGeom prst="rect">
            <a:avLst/>
          </a:prstGeom>
          <a:solidFill>
            <a:srgbClr val="1B745E"/>
          </a:solidFill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66750" y="1885950"/>
            <a:ext cx="3352800" cy="2009775"/>
            <a:chOff x="666750" y="1885950"/>
            <a:chExt cx="3352800" cy="2009775"/>
          </a:xfrm>
        </p:grpSpPr>
        <p:sp>
          <p:nvSpPr>
            <p:cNvPr id="14" name="Rectangle 14"/>
            <p:cNvSpPr/>
            <p:nvPr/>
          </p:nvSpPr>
          <p:spPr>
            <a:xfrm>
              <a:off x="666750" y="1885950"/>
              <a:ext cx="3352800" cy="20097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8863" y="1981676"/>
              <a:ext cx="135100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① 调两个数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87865" y="2045018"/>
              <a:ext cx="686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第 10 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06522" y="2350770"/>
              <a:ext cx="18732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zB = (1, 0)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0931" y="2735104"/>
              <a:ext cx="136443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↓ 固定 A 投影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9661" y="3029426"/>
              <a:ext cx="29469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2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EB = [(1,0), (1,1)]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951" y="3468529"/>
              <a:ext cx="2568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2 个变量 → 2 个位置各 2 维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52925" y="1885950"/>
            <a:ext cx="3352800" cy="2009775"/>
            <a:chOff x="4352925" y="1885950"/>
            <a:chExt cx="3352800" cy="2009775"/>
          </a:xfrm>
        </p:grpSpPr>
        <p:sp>
          <p:nvSpPr>
            <p:cNvPr id="22" name="Rectangle 22"/>
            <p:cNvSpPr/>
            <p:nvPr/>
          </p:nvSpPr>
          <p:spPr>
            <a:xfrm>
              <a:off x="4352925" y="1885950"/>
              <a:ext cx="3352800" cy="20097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95038" y="1981676"/>
              <a:ext cx="16229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② 找最近词元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74040" y="2045018"/>
              <a:ext cx="686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第 11 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91050" y="2445544"/>
              <a:ext cx="22335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位置 1：(1,0) → 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91050" y="2855119"/>
              <a:ext cx="248663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位置 2：(1,1) → 解释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43323" y="3240405"/>
              <a:ext cx="23720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拼成文本：请 解释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9439" y="359759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在公开模型的示例词表中逐个查找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39100" y="1885950"/>
            <a:ext cx="3486150" cy="2014443"/>
            <a:chOff x="8039100" y="1885950"/>
            <a:chExt cx="3486150" cy="2014443"/>
          </a:xfrm>
        </p:grpSpPr>
        <p:sp>
          <p:nvSpPr>
            <p:cNvPr id="30" name="Rectangle 30"/>
            <p:cNvSpPr/>
            <p:nvPr/>
          </p:nvSpPr>
          <p:spPr>
            <a:xfrm>
              <a:off x="8039100" y="1885950"/>
              <a:ext cx="3486150" cy="2009775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81213" y="1981676"/>
              <a:ext cx="18948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③ 只看输出长度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93565" y="2045018"/>
              <a:ext cx="686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第 12 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12494" y="2366486"/>
              <a:ext cx="193936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提交文本：请 解释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8791575" y="2695575"/>
              <a:ext cx="1981200" cy="456628"/>
              <a:chOff x="8791575" y="2695575"/>
              <a:chExt cx="1981200" cy="456628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791575" y="2695575"/>
                <a:ext cx="1981200" cy="409575"/>
              </a:xfrm>
              <a:prstGeom prst="rect">
                <a:avLst/>
              </a:prstGeom>
              <a:solidFill>
                <a:srgbClr val="005A84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247350" y="2770822"/>
                <a:ext cx="106965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黑盒 API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8694855" y="3202781"/>
              <a:ext cx="21746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62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2800 tokens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63851" y="3592354"/>
              <a:ext cx="20366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评分 = 生成 token 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082584" y="2700338"/>
            <a:ext cx="3883957" cy="440055"/>
            <a:chOff x="4082584" y="2700338"/>
            <a:chExt cx="3883957" cy="440055"/>
          </a:xfrm>
        </p:grpSpPr>
        <p:sp>
          <p:nvSpPr>
            <p:cNvPr id="44" name="TextBox 44"/>
            <p:cNvSpPr txBox="1"/>
            <p:nvPr/>
          </p:nvSpPr>
          <p:spPr>
            <a:xfrm>
              <a:off x="4082584" y="270033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68759" y="270033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56463" y="4124801"/>
            <a:ext cx="6398895" cy="1801464"/>
            <a:chOff x="656463" y="4124801"/>
            <a:chExt cx="6398895" cy="1801464"/>
          </a:xfrm>
        </p:grpSpPr>
        <p:sp>
          <p:nvSpPr>
            <p:cNvPr id="47" name="TextBox 47"/>
            <p:cNvSpPr txBox="1"/>
            <p:nvPr/>
          </p:nvSpPr>
          <p:spPr>
            <a:xfrm>
              <a:off x="656463" y="4124801"/>
              <a:ext cx="352646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④ 比较候选，更新下一轮搜索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69215" y="4197668"/>
              <a:ext cx="686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第 13 页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" y="4524375"/>
              <a:ext cx="6381750" cy="323850"/>
            </a:xfrm>
            <a:prstGeom prst="rect">
              <a:avLst/>
            </a:prstGeom>
            <a:solidFill>
              <a:srgbClr val="005A8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1149" y="4592479"/>
              <a:ext cx="6312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候选 z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782824" y="45924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解码文本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44949" y="45924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输出长度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40374" y="4592479"/>
              <a:ext cx="441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选择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6750" y="4848225"/>
              <a:ext cx="6381750" cy="342900"/>
            </a:xfrm>
            <a:prstGeom prst="rect">
              <a:avLst/>
            </a:prstGeom>
            <a:solidFill>
              <a:srgbClr val="F0F5F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0768" y="4917758"/>
              <a:ext cx="11315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A = (0, 1)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782443" y="4917758"/>
              <a:ext cx="7497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先 总结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44568" y="4917758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400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39993" y="49177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未入选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6750" y="5191125"/>
              <a:ext cx="6381750" cy="342900"/>
            </a:xfrm>
            <a:prstGeom prst="rect">
              <a:avLst/>
            </a:prstGeom>
            <a:solidFill>
              <a:srgbClr val="E4F1E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0768" y="5260658"/>
              <a:ext cx="11873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B = (1, 0)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782443" y="5260658"/>
              <a:ext cx="753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请 解释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44568" y="5260658"/>
              <a:ext cx="529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2800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39993" y="5260658"/>
              <a:ext cx="4371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第 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6750" y="5534025"/>
              <a:ext cx="6381750" cy="342900"/>
            </a:xfrm>
            <a:prstGeom prst="rect">
              <a:avLst/>
            </a:prstGeom>
            <a:solidFill>
              <a:srgbClr val="E4F1E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10768" y="5603558"/>
              <a:ext cx="11873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C = (1, 1)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782443" y="5603558"/>
              <a:ext cx="975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解释 举例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44568" y="5603558"/>
              <a:ext cx="529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3900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39993" y="5603558"/>
              <a:ext cx="4371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第 1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370826" y="4598194"/>
            <a:ext cx="3724554" cy="1344168"/>
            <a:chOff x="7370826" y="4598194"/>
            <a:chExt cx="3724554" cy="1344168"/>
          </a:xfrm>
        </p:grpSpPr>
        <p:sp>
          <p:nvSpPr>
            <p:cNvPr id="70" name="TextBox 70"/>
            <p:cNvSpPr txBox="1"/>
            <p:nvPr/>
          </p:nvSpPr>
          <p:spPr>
            <a:xfrm>
              <a:off x="7372350" y="4598194"/>
              <a:ext cx="362107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B、C 入选，下一轮更偏向它们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70826" y="4956334"/>
              <a:ext cx="2797606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B745E"/>
                  </a:solidFill>
                  <a:latin typeface="Microsoft YaHei"/>
                  <a:ea typeface="Microsoft YaHei"/>
                  <a:cs typeface="Microsoft YaHei"/>
                </a:rPr>
                <a:t>新中心 μ = (1, 0.7)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73493" y="5308282"/>
              <a:ext cx="27040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C6B73"/>
                  </a:solidFill>
                  <a:latin typeface="Microsoft YaHei"/>
                  <a:ea typeface="Microsoft YaHei"/>
                  <a:cs typeface="Microsoft YaHei"/>
                </a:rPr>
                <a:t>由 0.7 × C + 0.3 × B 得到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73112" y="5604986"/>
              <a:ext cx="3722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同时调整采样方向与范围，再试一轮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660273" y="6101239"/>
            <a:ext cx="70918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C6B73"/>
                </a:solidFill>
                <a:latin typeface="Microsoft YaHei"/>
                <a:ea typeface="Microsoft YaHei"/>
                <a:cs typeface="Microsoft YaHei"/>
              </a:rPr>
              <a:t>本例固定映射：(a,b) → [(a,b),(a+b,a−b)]；真实实验采用固定随机矩阵，L=20、m=20。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410F4297-1E35-7D8F-0AE2-90FEFC05461A}"/>
              </a:ext>
            </a:extLst>
          </p:cNvPr>
          <p:cNvGrpSpPr/>
          <p:nvPr/>
        </p:nvGrpSpPr>
        <p:grpSpPr>
          <a:xfrm>
            <a:off x="615696" y="552450"/>
            <a:ext cx="3597139" cy="1174417"/>
            <a:chOff x="615696" y="552450"/>
            <a:chExt cx="3597139" cy="1174417"/>
          </a:xfrm>
        </p:grpSpPr>
        <p:sp>
          <p:nvSpPr>
            <p:cNvPr id="3" name="TextBox 4">
              <a:extLst>
                <a:ext uri="{FF2B5EF4-FFF2-40B4-BE49-F238E27FC236}">
                  <a16:creationId xmlns:a16="http://schemas.microsoft.com/office/drawing/2014/main" id="{91C7D910-9369-6FCA-C9BB-20F99DCFA5F3}"/>
                </a:ext>
              </a:extLst>
            </p:cNvPr>
            <p:cNvSpPr txBox="1"/>
            <p:nvPr/>
          </p:nvSpPr>
          <p:spPr>
            <a:xfrm>
              <a:off x="651510" y="552450"/>
              <a:ext cx="49051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D7870"/>
                  </a:solidFill>
                  <a:latin typeface="Arial"/>
                  <a:ea typeface="Arial"/>
                  <a:cs typeface="Arial"/>
                </a:rPr>
                <a:t>A5</a:t>
              </a:r>
            </a:p>
          </p:txBody>
        </p: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C7741A89-69D4-8A6D-F93E-3951B595A544}"/>
                </a:ext>
              </a:extLst>
            </p:cNvPr>
            <p:cNvSpPr txBox="1"/>
            <p:nvPr/>
          </p:nvSpPr>
          <p:spPr>
            <a:xfrm>
              <a:off x="1605534" y="575310"/>
              <a:ext cx="2423740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附录：</a:t>
              </a:r>
              <a:r>
                <a:rPr lang="zh-CN" altLang="en-US" sz="2700" b="1" dirty="0">
                  <a:solidFill>
                    <a:srgbClr val="202B33"/>
                  </a:solidFill>
                  <a:latin typeface="Microsoft YaHei"/>
                  <a:ea typeface="Microsoft YaHei"/>
                  <a:cs typeface="Microsoft YaHei"/>
                </a:rPr>
                <a:t>辅助示例</a:t>
              </a:r>
              <a:endParaRPr lang="zh-CN" sz="2700" b="1" dirty="0">
                <a:solidFill>
                  <a:srgbClr val="202B33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715708F4-EC66-5A3E-0464-E3EEF913D7CD}"/>
                </a:ext>
              </a:extLst>
            </p:cNvPr>
            <p:cNvSpPr txBox="1"/>
            <p:nvPr/>
          </p:nvSpPr>
          <p:spPr>
            <a:xfrm>
              <a:off x="615696" y="1334452"/>
              <a:ext cx="359713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550" b="1" dirty="0">
                  <a:solidFill>
                    <a:srgbClr val="005A84"/>
                  </a:solidFill>
                  <a:latin typeface="Microsoft YaHei"/>
                  <a:ea typeface="Microsoft YaHei"/>
                  <a:cs typeface="Microsoft YaHei"/>
                </a:rPr>
                <a:t>用一个例子做进一步讲解</a:t>
              </a:r>
              <a:endParaRPr lang="zh-CN" sz="2550" b="1" dirty="0">
                <a:solidFill>
                  <a:srgbClr val="005A84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武汉大学珞珈浅绿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12499</Words>
  <Application>Microsoft Office PowerPoint</Application>
  <PresentationFormat>宽屏</PresentationFormat>
  <Paragraphs>786</Paragraphs>
  <Slides>33</Slides>
  <Notes>33</Notes>
  <HiddenSlides>5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微软雅黑</vt:lpstr>
      <vt:lpstr>微软雅黑</vt:lpstr>
      <vt:lpstr>Arial</vt:lpstr>
      <vt:lpstr>Cambria Math</vt:lpstr>
      <vt:lpstr>武汉大学珞珈浅绿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温江涛</dc:creator>
  <cp:lastModifiedBy>昊 吴</cp:lastModifiedBy>
  <cp:revision>42</cp:revision>
  <dcterms:modified xsi:type="dcterms:W3CDTF">2026-10-16T10:52:32Z</dcterms:modified>
</cp:coreProperties>
</file>