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0"/>
  </p:handoutMasterIdLst>
  <p:sldIdLst>
    <p:sldId id="577" r:id="rId3"/>
    <p:sldId id="671" r:id="rId5"/>
    <p:sldId id="700" r:id="rId6"/>
    <p:sldId id="701" r:id="rId7"/>
    <p:sldId id="702" r:id="rId8"/>
    <p:sldId id="703" r:id="rId9"/>
    <p:sldId id="718" r:id="rId10"/>
    <p:sldId id="708" r:id="rId11"/>
    <p:sldId id="709" r:id="rId12"/>
    <p:sldId id="710" r:id="rId13"/>
    <p:sldId id="704" r:id="rId14"/>
    <p:sldId id="711" r:id="rId15"/>
    <p:sldId id="713" r:id="rId16"/>
    <p:sldId id="712" r:id="rId17"/>
    <p:sldId id="714" r:id="rId18"/>
    <p:sldId id="716" r:id="rId19"/>
  </p:sldIdLst>
  <p:sldSz cx="12192000" cy="6858000"/>
  <p:notesSz cx="6858000" cy="9144000"/>
  <p:embeddedFontLst>
    <p:embeddedFont>
      <p:font typeface="楷体" panose="02010609060101010101" charset="-122"/>
      <p:regular r:id="rId25"/>
    </p:embeddedFont>
    <p:embeddedFont>
      <p:font typeface="微软雅黑" panose="020B0503020204020204" charset="-122"/>
      <p:regular r:id="rId26"/>
    </p:embeddedFont>
    <p:embeddedFont>
      <p:font typeface="MiSans" panose="00000500000000000000" charset="-122"/>
      <p:regular r:id="rId27"/>
    </p:embeddedFont>
    <p:embeddedFont>
      <p:font typeface="Cambria Math" panose="02040503050406030204" charset="0"/>
      <p:regular r:id="rId28"/>
    </p:embeddedFont>
    <p:embeddedFont>
      <p:font typeface="等线 Light" panose="02010600030101010101" charset="-122"/>
      <p:regular r:id="rId29"/>
    </p:embeddedFont>
    <p:embeddedFont>
      <p:font typeface="等线" panose="02010600030101010101" charset="-122"/>
      <p:regular r:id="rId30"/>
    </p:embeddedFont>
    <p:embeddedFont>
      <p:font typeface="Calibri" panose="020F0502020204030204" charset="0"/>
      <p:regular r:id="rId31"/>
      <p:bold r:id="rId32"/>
      <p:italic r:id="rId33"/>
      <p:boldItalic r:id="rId34"/>
    </p:embeddedFont>
  </p:embeddedFontLst>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5F12CC0A-00DC-4D58-B621-B8C29F6E79E3}">
          <p14:sldIdLst>
            <p14:sldId id="577"/>
            <p14:sldId id="671"/>
            <p14:sldId id="700"/>
            <p14:sldId id="701"/>
            <p14:sldId id="702"/>
            <p14:sldId id="703"/>
            <p14:sldId id="718"/>
            <p14:sldId id="708"/>
            <p14:sldId id="709"/>
            <p14:sldId id="710"/>
            <p14:sldId id="704"/>
            <p14:sldId id="711"/>
            <p14:sldId id="713"/>
            <p14:sldId id="712"/>
            <p14:sldId id="714"/>
            <p14:sldId id="716"/>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2" name="童维媛" initials="T" lastIdx="2" clrIdx="1"/>
  <p:cmAuthor id="0" name="Saku Uchikawa" initials="SU" lastIdx="11" clrIdx="0"/>
  <p:cmAuthor id="3" name="作者" initials="A" lastIdx="0" clrIdx="3"/>
  <p:cmAuthor id="5" name="WHT" initials="W" lastIdx="1" clrIdx="4"/>
  <p:cmAuthor id="6" name="35316" initials="3" lastIdx="1" clrIdx="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CB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660"/>
  </p:normalViewPr>
  <p:slideViewPr>
    <p:cSldViewPr snapToGrid="0">
      <p:cViewPr varScale="1">
        <p:scale>
          <a:sx n="83" d="100"/>
          <a:sy n="83" d="100"/>
        </p:scale>
        <p:origin x="64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75.xml"/><Relationship Id="rId34" Type="http://schemas.openxmlformats.org/officeDocument/2006/relationships/font" Target="fonts/font10.fntdata"/><Relationship Id="rId33" Type="http://schemas.openxmlformats.org/officeDocument/2006/relationships/font" Target="fonts/font9.fntdata"/><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07760D-04E5-456D-8222-84862C4C140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EE2A3E-EB78-48CD-944E-6664EBF340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各位老师、各位同学，大家好。我是</a:t>
            </a:r>
            <a:r>
              <a:rPr lang="zh-CN"/>
              <a:t>本次的汇报人</a:t>
            </a:r>
            <a:r>
              <a:t>黄露，</a:t>
            </a:r>
            <a:r>
              <a:rPr lang="zh-CN"/>
              <a:t>我的</a:t>
            </a:r>
            <a:r>
              <a:t>指导老师是汤战勇老师。今天我汇报的论文是《针对恶意对手的通信友好型隐私保护机器学习》</a:t>
            </a:r>
            <a:r>
              <a:rPr lang="zh-CN"/>
              <a:t>。</a:t>
            </a:r>
            <a:endParaRPr lang="zh-CN"/>
          </a:p>
          <a:p>
            <a:r>
              <a:t>这篇文章回答的核心问题，用一句话概括就是：在多方服务器可能主动作弊的前提下，能不能把隐私保护机器学习的通信开销，压到接近半诚实协议的水平。</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我的汇报分五个部分：第一部分研究背景，说明</a:t>
            </a:r>
            <a:r>
              <a:rPr lang="zh-CN"/>
              <a:t>为什么要把</a:t>
            </a:r>
            <a:r>
              <a:t>「恶意安全 </a:t>
            </a:r>
            <a:r>
              <a:rPr lang="zh-CN"/>
              <a:t>结合</a:t>
            </a:r>
            <a:r>
              <a:t> 低通信」；第二部分研究内容，</a:t>
            </a:r>
            <a:r>
              <a:rPr lang="zh-CN"/>
              <a:t>说明</a:t>
            </a:r>
            <a:r>
              <a:t>本文要解决的三个关键问题；第三部分关键技术，重点讲两项技术——基于扩展环的恶意安全乘法验证，和支持混合电路的统一框架；第四部分实验评估；最后是结论与思考。</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首先是研究背景</a:t>
            </a:r>
            <a:r>
              <a:rPr lang="zh-CN"/>
              <a:t>部分</a:t>
            </a:r>
            <a:endParaRPr lang="zh-CN"/>
          </a:p>
          <a:p>
            <a:r>
              <a:rPr lang="en-US"/>
              <a:t>PPML</a:t>
            </a:r>
            <a:r>
              <a:rPr lang="zh-CN" altLang="en-US"/>
              <a:t>的研究现状交代了</a:t>
            </a:r>
            <a:r>
              <a:t>隐私保护机器学习现在做到了哪一步？</a:t>
            </a:r>
          </a:p>
          <a:p>
            <a:r>
              <a:t>数据不出域，计算交给几台互不信任的服务器。举个具体的场景：医院手上有病人影像，银行有交易记录，企业有用户画像，三方谁都不愿意把原始数据交出去，但又想联合起来跑一个模型。</a:t>
            </a:r>
          </a:p>
          <a:p>
            <a:r>
              <a:t>现在最常用的一套载体，叫三方复制秘密共享，简称 RSS。它的结构是：把一个数 x 拆成</a:t>
            </a:r>
            <a:r>
              <a:rPr lang="zh-CN"/>
              <a:t>随机数</a:t>
            </a:r>
            <a:r>
              <a:t> r 加 m，再把 r 拆成 r₁ 加 r₂；三台服务器各拿一部分——P₀ 拿 r₁ 和 r₂，P₁ 拿 m 和 r₁，P₂ 拿 m 和 r₂。任何单独一台服务器，都拼不出原始数据。</a:t>
            </a:r>
          </a:p>
          <a:p>
            <a:r>
              <a:t>它的好处是加法和乘法都能直接在份额上算，通信还很便宜。所以可以说，RSS 是目前最高效的 PPML 载体，</a:t>
            </a:r>
            <a:r>
              <a:rPr lang="zh-CN"/>
              <a:t>论</a:t>
            </a:r>
            <a:r>
              <a:t>文后面的讨论也都建立在三方 RSS 之上。</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有了这个基础架构，我们的优化目标就很明确了：</a:t>
            </a:r>
            <a:r>
              <a:rPr>
                <a:sym typeface="+mn-ea"/>
              </a:rPr>
              <a:t>设计一个通信高效、且能抵御恶意攻击的 PPML 框架，让它的性能尽量接近半诚实场景下的协议。</a:t>
            </a:r>
            <a:endParaRPr>
              <a:sym typeface="+mn-ea"/>
            </a:endParaRPr>
          </a:p>
          <a:p>
            <a:r>
              <a:rPr lang="zh-CN" altLang="en-US"/>
              <a:t>那</a:t>
            </a:r>
            <a:r>
              <a:t>为什么半诚实模型已经不够用了？</a:t>
            </a:r>
          </a:p>
          <a:p>
            <a:r>
              <a:t>先明确半诚实的含义：对手被假设「严格按协议执行，只是偷看中间数据」。它防的是偷看，完全不防篡改。可现实里的云平台不是这样——服务器是可能主动作弊的，比如篡改份额、伪造重构结果，让计算结果失真，甚至反过来把数据泄露出去。</a:t>
            </a:r>
          </a:p>
          <a:p>
            <a:r>
              <a:t>所以恶意安全不是锦上添花，它是真实场景的硬需求。但问题是，恶意安全协议通常要附加一大堆验证，通信开销很大；而在云平台上，通信成本远远高于计算成本。这就带来一个判断：降低通信量，比降低计算量更有价值。</a:t>
            </a:r>
          </a: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围绕</a:t>
            </a:r>
            <a:r>
              <a:rPr lang="en-US" altLang="zh-CN"/>
              <a:t>‘</a:t>
            </a:r>
            <a:r>
              <a:rPr lang="zh-CN" altLang="en-US"/>
              <a:t>降低通信量</a:t>
            </a:r>
            <a:r>
              <a:rPr lang="en-US" altLang="zh-CN"/>
              <a:t>’</a:t>
            </a:r>
            <a:r>
              <a:t>这个目标，本文提炼了三个关键问题。</a:t>
            </a:r>
          </a:p>
          <a:p>
            <a:r>
              <a:t>Q1，代数结构问题——环上恶意安全验证困难。环上存在不可逆元素，也就是零因子，直接套用域上的验证技术会失效；可逆性一旦被破坏，验证就可能被绕过。所以需要一个新的、对加法攻击也安全的验证代数结构。</a:t>
            </a:r>
          </a:p>
          <a:p>
            <a:r>
              <a:t>Q2，</a:t>
            </a:r>
            <a:r>
              <a:rPr lang="zh-CN"/>
              <a:t>通信量问题</a:t>
            </a:r>
            <a:r>
              <a:t>——</a:t>
            </a:r>
            <a:r>
              <a:rPr lang="zh-CN" altLang="en-US"/>
              <a:t>实现主动安全检测，就需要乘法验证。然而传统环结构下乘法验证方法无法实现批量压缩</a:t>
            </a:r>
            <a:r>
              <a:t>。如果每一个乘法门都单独检查，通信开销会随电路规模 |G| 线性膨胀。</a:t>
            </a:r>
            <a:r>
              <a:rPr lang="zh-CN"/>
              <a:t>所以我们</a:t>
            </a:r>
            <a:r>
              <a:t>必须设计批量验证机制——</a:t>
            </a:r>
            <a:r>
              <a:rPr lang="zh-CN" altLang="en-US"/>
              <a:t>能不能把</a:t>
            </a:r>
            <a:r>
              <a:rPr lang="en-US" altLang="zh-CN"/>
              <a:t> ∣G∣ </a:t>
            </a:r>
            <a:r>
              <a:rPr lang="zh-CN" altLang="en-US"/>
              <a:t>个乘法等式，想办法</a:t>
            </a:r>
            <a:r>
              <a:rPr lang="en-US" altLang="zh-CN"/>
              <a:t>‘</a:t>
            </a:r>
            <a:r>
              <a:rPr lang="zh-CN" altLang="en-US"/>
              <a:t>打包</a:t>
            </a:r>
            <a:r>
              <a:rPr lang="en-US" altLang="zh-CN"/>
              <a:t>’</a:t>
            </a:r>
            <a:r>
              <a:rPr lang="zh-CN" altLang="en-US"/>
              <a:t>成</a:t>
            </a:r>
            <a:r>
              <a:rPr lang="en-US" altLang="zh-CN"/>
              <a:t> 1 </a:t>
            </a:r>
            <a:r>
              <a:rPr lang="zh-CN" altLang="en-US"/>
              <a:t>个内积等式，再通过逐轮减半的方式，把通信量从</a:t>
            </a:r>
            <a:r>
              <a:rPr lang="en-US" altLang="zh-CN"/>
              <a:t> O(∣G∣) </a:t>
            </a:r>
            <a:r>
              <a:rPr lang="zh-CN" altLang="en-US"/>
              <a:t>降到</a:t>
            </a:r>
            <a:r>
              <a:rPr lang="en-US" altLang="zh-CN"/>
              <a:t> O(log∣G∣)</a:t>
            </a:r>
            <a:r>
              <a:rPr lang="zh-CN" altLang="en-US"/>
              <a:t>？这就是我们整个压缩和降维协议要解决的核心问题。</a:t>
            </a:r>
            <a:endParaRPr lang="en-US" altLang="zh-CN"/>
          </a:p>
          <a:p>
            <a:r>
              <a:t>Q3，混合电路统一问题。算术环擅长加法和乘法，二进制域擅长比较这类非线性操作，而真实 PPML 应用两者都需要。算术域和二进制域之间的转换、定点截断，都要在恶意模型下正确，并且不能额外增加通信。</a:t>
            </a:r>
          </a: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mc:AlternateContent xmlns:mc="http://schemas.openxmlformats.org/markup-compatibility/2006">
        <mc:Choice xmlns:a14="http://schemas.microsoft.com/office/drawing/2010/main" Requires="a14">
          <p:sp>
            <p:nvSpPr>
              <p:cNvPr id="3" name="文本占位符 2"/>
              <p:cNvSpPr>
                <a:spLocks noGrp="1"/>
              </p:cNvSpPr>
              <p:nvPr>
                <p:ph type="body" idx="3"/>
              </p:nvPr>
            </p:nvSpPr>
            <p:spPr/>
            <p:txBody>
              <a:bodyPr/>
              <a:lstStyle/>
              <a:p>
                <a:r>
                  <a:rPr lang="zh-CN" altLang="en-US" sz="2000">
                    <a:latin typeface="Arial" panose="020B0604020202020204"/>
                    <a:ea typeface="微软雅黑" panose="020B0503020204020204" charset="-122"/>
                    <a:cs typeface="Arial" panose="020B0604020202020204"/>
                    <a:sym typeface="+mn-ea"/>
                  </a:rPr>
                  <a:t>那么接下来，我将介绍两个关键技术来接解决这些</a:t>
                </a:r>
                <a:r>
                  <a:rPr lang="zh-CN" altLang="en-US" sz="2000">
                    <a:latin typeface="Arial" panose="020B0604020202020204"/>
                    <a:ea typeface="微软雅黑" panose="020B0503020204020204" charset="-122"/>
                    <a:cs typeface="Arial" panose="020B0604020202020204"/>
                    <a:sym typeface="+mn-ea"/>
                  </a:rPr>
                  <a:t>问题。</a:t>
                </a:r>
                <a:endParaRPr lang="zh-CN" altLang="en-US" sz="2000">
                  <a:latin typeface="Arial" panose="020B0604020202020204"/>
                  <a:ea typeface="微软雅黑" panose="020B0503020204020204" charset="-122"/>
                  <a:cs typeface="Arial" panose="020B0604020202020204"/>
                  <a:sym typeface="+mn-ea"/>
                </a:endParaRPr>
              </a:p>
              <a:p>
                <a:r>
                  <a:rPr lang="zh-CN" altLang="en-US" sz="2000">
                    <a:latin typeface="Arial" panose="020B0604020202020204"/>
                    <a:ea typeface="微软雅黑" panose="020B0503020204020204" charset="-122"/>
                    <a:cs typeface="Arial" panose="020B0604020202020204"/>
                    <a:sym typeface="+mn-ea"/>
                  </a:rPr>
                  <a:t>技术</a:t>
                </a:r>
                <a:r>
                  <a:rPr lang="en-US" altLang="zh-CN" sz="2000">
                    <a:latin typeface="Arial" panose="020B0604020202020204"/>
                    <a:ea typeface="微软雅黑" panose="020B0503020204020204" charset="-122"/>
                    <a:cs typeface="Arial" panose="020B0604020202020204"/>
                    <a:sym typeface="+mn-ea"/>
                  </a:rPr>
                  <a:t>1</a:t>
                </a:r>
                <a:r>
                  <a:rPr lang="zh-CN" altLang="en-US" sz="2000">
                    <a:latin typeface="Arial" panose="020B0604020202020204"/>
                    <a:ea typeface="微软雅黑" panose="020B0503020204020204" charset="-122"/>
                    <a:cs typeface="Arial" panose="020B0604020202020204"/>
                    <a:sym typeface="+mn-ea"/>
                  </a:rPr>
                  <a:t>解决的问题：有限环</a:t>
                </a:r>
                <a14:m>
                  <m:oMath xmlns:m="http://schemas.openxmlformats.org/officeDocument/2006/math">
                    <m:sSub>
                      <m:sSubPr>
                        <m:ctrlPr>
                          <a:rPr lang="en-US" altLang="zh-CN" sz="2000" i="1">
                            <a:solidFill>
                              <a:schemeClr val="tx1"/>
                            </a:solidFill>
                            <a:latin typeface="Cambria Math" panose="02040503050406030204" charset="0"/>
                            <a:ea typeface="微软雅黑" panose="020B0503020204020204" charset="-122"/>
                            <a:cs typeface="Cambria Math" panose="02040503050406030204" charset="0"/>
                            <a:sym typeface="+mn-ea"/>
                          </a:rPr>
                        </m:ctrlPr>
                      </m:sSubPr>
                      <m:e>
                        <m:r>
                          <a:rPr lang="en-US" altLang="zh-CN" sz="2000" i="1">
                            <a:solidFill>
                              <a:schemeClr val="tx1"/>
                            </a:solidFill>
                            <a:latin typeface="Cambria Math" panose="02040503050406030204" charset="0"/>
                            <a:ea typeface="微软雅黑" panose="020B0503020204020204" charset="-122"/>
                            <a:cs typeface="Cambria Math" panose="02040503050406030204" charset="0"/>
                            <a:sym typeface="+mn-ea"/>
                          </a:rPr>
                          <m:t>𝛧</m:t>
                        </m:r>
                      </m:e>
                      <m:sub>
                        <m:sSup>
                          <m:sSupPr>
                            <m:ctrlPr>
                              <a:rPr lang="en-US" altLang="zh-CN" sz="2000" i="1">
                                <a:solidFill>
                                  <a:schemeClr val="tx1"/>
                                </a:solidFill>
                                <a:latin typeface="Cambria Math" panose="02040503050406030204" charset="0"/>
                                <a:ea typeface="微软雅黑" panose="020B0503020204020204" charset="-122"/>
                                <a:cs typeface="Cambria Math" panose="02040503050406030204" charset="0"/>
                                <a:sym typeface="+mn-ea"/>
                              </a:rPr>
                            </m:ctrlPr>
                          </m:sSupPr>
                          <m:e>
                            <m:r>
                              <a:rPr lang="en-US" altLang="zh-CN" sz="2000" i="1">
                                <a:solidFill>
                                  <a:schemeClr val="tx1"/>
                                </a:solidFill>
                                <a:latin typeface="Cambria Math" panose="02040503050406030204" charset="0"/>
                                <a:ea typeface="微软雅黑" panose="020B0503020204020204" charset="-122"/>
                                <a:cs typeface="Cambria Math" panose="02040503050406030204" charset="0"/>
                                <a:sym typeface="+mn-ea"/>
                              </a:rPr>
                              <m:t>2</m:t>
                            </m:r>
                          </m:e>
                          <m:sup>
                            <m:r>
                              <a:rPr lang="en-US" altLang="zh-CN" sz="2000" i="1">
                                <a:solidFill>
                                  <a:schemeClr val="tx1"/>
                                </a:solidFill>
                                <a:latin typeface="Cambria Math" panose="02040503050406030204" charset="0"/>
                                <a:ea typeface="微软雅黑" panose="020B0503020204020204" charset="-122"/>
                                <a:cs typeface="Cambria Math" panose="02040503050406030204" charset="0"/>
                                <a:sym typeface="+mn-ea"/>
                              </a:rPr>
                              <m:t>𝜄</m:t>
                            </m:r>
                          </m:sup>
                        </m:sSup>
                      </m:sub>
                    </m:sSub>
                  </m:oMath>
                </a14:m>
                <a:r>
                  <a:rPr lang="zh-CN" altLang="en-US" sz="2000">
                    <a:latin typeface="Arial" panose="020B0604020202020204"/>
                    <a:ea typeface="微软雅黑" panose="020B0503020204020204" charset="-122"/>
                    <a:cs typeface="Arial" panose="020B0604020202020204"/>
                    <a:sym typeface="+mn-ea"/>
                  </a:rPr>
                  <a:t>中乘法不可逆，导致误差隐藏概率高</a:t>
                </a:r>
                <a:r>
                  <a:rPr lang="en-US" altLang="zh-CN" sz="2000">
                    <a:latin typeface="Arial" panose="020B0604020202020204"/>
                    <a:ea typeface="微软雅黑" panose="020B0503020204020204" charset="-122"/>
                    <a:cs typeface="Arial" panose="020B0604020202020204"/>
                    <a:sym typeface="+mn-ea"/>
                  </a:rPr>
                  <a:t> </a:t>
                </a:r>
                <a:r>
                  <a:rPr lang="zh-CN" altLang="en-US" sz="2000">
                    <a:latin typeface="Arial" panose="020B0604020202020204"/>
                    <a:ea typeface="微软雅黑" panose="020B0503020204020204" charset="-122"/>
                    <a:cs typeface="Arial" panose="020B0604020202020204"/>
                    <a:sym typeface="+mn-ea"/>
                  </a:rPr>
                  <a:t>以及</a:t>
                </a:r>
                <a:r>
                  <a:rPr lang="en-US" altLang="zh-CN" sz="2000">
                    <a:latin typeface="Arial" panose="020B0604020202020204"/>
                    <a:ea typeface="微软雅黑" panose="020B0503020204020204" charset="-122"/>
                    <a:cs typeface="Arial" panose="020B0604020202020204"/>
                    <a:sym typeface="+mn-ea"/>
                  </a:rPr>
                  <a:t> </a:t>
                </a:r>
                <a:r>
                  <a:rPr lang="zh-CN" altLang="en-US" sz="2000">
                    <a:latin typeface="Arial" panose="020B0604020202020204"/>
                    <a:ea typeface="微软雅黑" panose="020B0503020204020204" charset="-122"/>
                    <a:cs typeface="Arial" panose="020B0604020202020204"/>
                    <a:sym typeface="+mn-ea"/>
                  </a:rPr>
                  <a:t>现有协议批量验证的通信量随乘法门数量</a:t>
                </a:r>
                <a:r>
                  <a:rPr lang="zh-CN" altLang="en-US" sz="2000">
                    <a:latin typeface="Arial" panose="020B0604020202020204"/>
                    <a:ea typeface="微软雅黑" panose="020B0503020204020204" charset="-122"/>
                    <a:cs typeface="Arial" panose="020B0604020202020204"/>
                    <a:sym typeface="+mn-ea"/>
                  </a:rPr>
                  <a:t>而线性增长。</a:t>
                </a:r>
                <a:endParaRPr lang="zh-CN" altLang="en-US" sz="2000">
                  <a:solidFill>
                    <a:schemeClr val="tx1"/>
                  </a:solidFill>
                  <a:latin typeface="Arial" panose="020B0604020202020204"/>
                  <a:ea typeface="微软雅黑" panose="020B0503020204020204" charset="-122"/>
                  <a:cs typeface="Arial" panose="020B0604020202020204"/>
                  <a:sym typeface="+mn-ea"/>
                </a:endParaRPr>
              </a:p>
              <a:p>
                <a:endParaRPr lang="zh-CN" altLang="en-US" sz="2000">
                  <a:solidFill>
                    <a:schemeClr val="tx1"/>
                  </a:solidFill>
                  <a:latin typeface="Arial" panose="020B0604020202020204"/>
                  <a:ea typeface="微软雅黑" panose="020B0503020204020204" charset="-122"/>
                  <a:cs typeface="Arial" panose="020B0604020202020204"/>
                  <a:sym typeface="+mn-ea"/>
                </a:endParaRPr>
              </a:p>
              <a:p>
                <a:r>
                  <a:rPr lang="zh-CN" altLang="en-US" sz="2000">
                    <a:latin typeface="Arial" panose="020B0604020202020204"/>
                    <a:ea typeface="微软雅黑" panose="020B0503020204020204" charset="-122"/>
                    <a:cs typeface="Arial" panose="020B0604020202020204"/>
                    <a:sym typeface="+mn-ea"/>
                  </a:rPr>
                  <a:t>解决方案：</a:t>
                </a:r>
                <a:r>
                  <a:rPr sz="2000">
                    <a:latin typeface="Arial" panose="020B0604020202020204"/>
                    <a:ea typeface="微软雅黑" panose="020B0503020204020204" charset="-122"/>
                    <a:cs typeface="Arial" panose="020B0604020202020204"/>
                    <a:sym typeface="+mn-ea"/>
                  </a:rPr>
                  <a:t>半诚实照常算 →</a:t>
                </a:r>
                <a:r>
                  <a:rPr lang="zh-CN" sz="2000">
                    <a:latin typeface="Arial" panose="020B0604020202020204"/>
                    <a:ea typeface="微软雅黑" panose="020B0503020204020204" charset="-122"/>
                    <a:cs typeface="Arial" panose="020B0604020202020204"/>
                    <a:sym typeface="+mn-ea"/>
                  </a:rPr>
                  <a:t>先把每个乘法三元组映射到扩展换中</a:t>
                </a:r>
                <a:r>
                  <a:rPr sz="2000">
                    <a:latin typeface="Arial" panose="020B0604020202020204"/>
                    <a:ea typeface="微软雅黑" panose="020B0503020204020204" charset="-122"/>
                    <a:cs typeface="Arial" panose="020B0604020202020204"/>
                    <a:sym typeface="+mn-ea"/>
                  </a:rPr>
                  <a:t> </a:t>
                </a:r>
                <a:r>
                  <a:rPr lang="zh-CN" sz="2000">
                    <a:latin typeface="Arial" panose="020B0604020202020204"/>
                    <a:ea typeface="微软雅黑" panose="020B0503020204020204" charset="-122"/>
                    <a:cs typeface="Arial" panose="020B0604020202020204"/>
                    <a:sym typeface="+mn-ea"/>
                  </a:rPr>
                  <a:t>然后进行压缩</a:t>
                </a:r>
                <a:r>
                  <a:rPr lang="en-US" altLang="zh-CN" sz="2000">
                    <a:latin typeface="Arial" panose="020B0604020202020204"/>
                    <a:ea typeface="微软雅黑" panose="020B0503020204020204" charset="-122"/>
                    <a:cs typeface="Arial" panose="020B0604020202020204"/>
                    <a:sym typeface="+mn-ea"/>
                  </a:rPr>
                  <a:t> </a:t>
                </a:r>
                <a:r>
                  <a:rPr lang="zh-CN" altLang="en-US" sz="2000">
                    <a:latin typeface="Arial" panose="020B0604020202020204"/>
                    <a:ea typeface="微软雅黑" panose="020B0503020204020204" charset="-122"/>
                    <a:cs typeface="Arial" panose="020B0604020202020204"/>
                    <a:sym typeface="+mn-ea"/>
                  </a:rPr>
                  <a:t>降维，</a:t>
                </a:r>
                <a:r>
                  <a:rPr sz="2000">
                    <a:latin typeface="Arial" panose="020B0604020202020204"/>
                    <a:ea typeface="微软雅黑" panose="020B0503020204020204" charset="-122"/>
                    <a:cs typeface="Arial" panose="020B0604020202020204"/>
                    <a:sym typeface="+mn-ea"/>
                  </a:rPr>
                  <a:t> </a:t>
                </a:r>
                <a:r>
                  <a:rPr lang="zh-CN" sz="2000">
                    <a:latin typeface="Arial" panose="020B0604020202020204"/>
                    <a:ea typeface="微软雅黑" panose="020B0503020204020204" charset="-122"/>
                    <a:cs typeface="Arial" panose="020B0604020202020204"/>
                    <a:sym typeface="+mn-ea"/>
                  </a:rPr>
                  <a:t>最后</a:t>
                </a:r>
                <a:r>
                  <a:rPr sz="2000">
                    <a:latin typeface="Arial" panose="020B0604020202020204"/>
                    <a:ea typeface="微软雅黑" panose="020B0503020204020204" charset="-122"/>
                    <a:cs typeface="Arial" panose="020B0604020202020204"/>
                    <a:sym typeface="+mn-ea"/>
                  </a:rPr>
                  <a:t> 用扩展环</a:t>
                </a:r>
                <a14:m>
                  <m:oMath xmlns:m="http://schemas.openxmlformats.org/officeDocument/2006/math">
                    <m:sSub>
                      <m:sSubPr>
                        <m:ctrlPr>
                          <a:rPr lang="en-US" sz="2000" i="1">
                            <a:solidFill>
                              <a:schemeClr val="tx1"/>
                            </a:solidFill>
                            <a:latin typeface="Cambria Math" panose="02040503050406030204" charset="0"/>
                            <a:ea typeface="微软雅黑" panose="020B0503020204020204" charset="-122"/>
                            <a:cs typeface="Cambria Math" panose="02040503050406030204" charset="0"/>
                            <a:sym typeface="+mn-ea"/>
                          </a:rPr>
                        </m:ctrlPr>
                      </m:sSubPr>
                      <m:e>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𝛧</m:t>
                        </m:r>
                      </m:e>
                      <m:sub>
                        <m:sSup>
                          <m:sSupPr>
                            <m:ctrlPr>
                              <a:rPr lang="en-US" sz="2000" i="1">
                                <a:solidFill>
                                  <a:schemeClr val="tx1"/>
                                </a:solidFill>
                                <a:latin typeface="Cambria Math" panose="02040503050406030204" charset="0"/>
                                <a:ea typeface="微软雅黑" panose="020B0503020204020204" charset="-122"/>
                                <a:cs typeface="Cambria Math" panose="02040503050406030204" charset="0"/>
                                <a:sym typeface="+mn-ea"/>
                              </a:rPr>
                            </m:ctrlPr>
                          </m:sSupPr>
                          <m:e>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2</m:t>
                            </m:r>
                          </m:e>
                          <m:sup>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𝜄</m:t>
                            </m:r>
                          </m:sup>
                        </m:sSup>
                      </m:sub>
                    </m:sSub>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m:t>
                    </m:r>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𝑥</m:t>
                    </m:r>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m:t>
                    </m:r>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𝑓</m:t>
                    </m:r>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m:t>
                    </m:r>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𝑥</m:t>
                    </m:r>
                    <m:r>
                      <a:rPr lang="en-US" sz="2000" i="1">
                        <a:solidFill>
                          <a:schemeClr val="tx1"/>
                        </a:solidFill>
                        <a:latin typeface="Cambria Math" panose="02040503050406030204" charset="0"/>
                        <a:ea typeface="微软雅黑" panose="020B0503020204020204" charset="-122"/>
                        <a:cs typeface="Cambria Math" panose="02040503050406030204" charset="0"/>
                        <a:sym typeface="+mn-ea"/>
                      </a:rPr>
                      <m:t>)</m:t>
                    </m:r>
                  </m:oMath>
                </a14:m>
                <a:r>
                  <a:rPr sz="2000">
                    <a:latin typeface="Arial" panose="020B0604020202020204"/>
                    <a:ea typeface="微软雅黑" panose="020B0503020204020204" charset="-122"/>
                    <a:cs typeface="Arial" panose="020B0604020202020204"/>
                    <a:sym typeface="+mn-ea"/>
                  </a:rPr>
                  <a:t>上的随机挑战一次验完。</a:t>
                </a:r>
                <a:endParaRPr lang="zh-CN" altLang="en-US"/>
              </a:p>
            </p:txBody>
          </p:sp>
        </mc:Choice>
        <mc:Fallback>
          <p:sp>
            <p:nvSpPr>
              <p:cNvPr id="3" name="文本占位符 2"/>
              <p:cNvSpPr>
                <a:spLocks noRot="1" noChangeAspect="1" noMove="1" noResize="1" noEditPoints="1" noAdjustHandles="1" noChangeArrowheads="1" noChangeShapeType="1" noTextEdit="1"/>
              </p:cNvSpPr>
              <p:nvPr>
                <p:ph type="body" idx="3"/>
              </p:nvPr>
            </p:nvSpPr>
            <p:spPr>
              <a:blipFill rotWithShape="1">
                <a:blip r:embed="rId3"/>
                <a:stretch>
                  <a:fillRect/>
                </a:stretch>
              </a:blipFill>
            </p:spPr>
            <p:txBody>
              <a:bodyPr/>
              <a:lstStyle/>
              <a:p>
                <a:r>
                  <a:rPr lang="zh-CN" altLang="en-US">
                    <a:noFill/>
                  </a:rPr>
                  <a:t> </a:t>
                </a:r>
              </a:p>
            </p:txBody>
          </p:sp>
        </mc:Fallback>
      </mc:AlternateContent>
      <p:sp>
        <p:nvSpPr>
          <p:cNvPr id="4" name="文本占位符 2"/>
          <p:cNvSpPr>
            <a:spLocks noGrp="1"/>
          </p:cNvSpPr>
          <p:nvPr>
            <p:ph type="body" idx="3"/>
          </p:nvPr>
        </p:nvSpPr>
        <p:spPr/>
        <p:txBody>
          <a:bodyPr/>
          <a:p>
            <a:r>
              <a:t>【第6页 技术1总览：验证流水线 | 1.5分钟】</a:t>
            </a:r>
          </a:p>
          <a:p>
            <a:r>
              <a:t>进入关键技术部分。技术一是基于扩展环的恶意安全乘法验证技术。它要解决的问题是：电路里可能有成千上万个乘法门，逐门验证代价太高。本文的思路是一条流水线，概括为三步：</a:t>
            </a:r>
          </a:p>
          <a:p>
            <a:r>
              <a:t>第一步，压缩——用随机挑战 r 的幂次给所有 |G| 个等式加权，把它们打包成 1 个 |G| 维的内积。这样敌手无法让不同门里的误差互相抵消。</a:t>
            </a:r>
          </a:p>
          <a:p>
            <a:r>
              <a:t>第二步，降维——利用拉格朗日插值，每轮把维度减半，执行 R 轮后，维度从 |G| 降到 |G| / 2^R。</a:t>
            </a:r>
          </a:p>
          <a:p>
            <a:r>
              <a:t>第三步，验证——用随机 α 加权后检查 Δ 是否为零，一次求值即可判定所有乘法是否正确。</a:t>
            </a:r>
          </a:p>
          <a:p>
            <a:r>
              <a:t>在这之前，还有一个前提性的步骤——把份额从环上换到扩展环上，这是下一页的内容。下面我把这几步逐一展开。</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t>那么在技术</a:t>
            </a:r>
            <a:r>
              <a:rPr lang="en-US" altLang="zh-CN"/>
              <a:t>1</a:t>
            </a:r>
            <a:r>
              <a:rPr lang="zh-CN" altLang="en-US"/>
              <a:t>中，为什么要必须在扩展环上验证呢？</a:t>
            </a:r>
            <a:endParaRPr lang="zh-CN" altLang="en-US"/>
          </a:p>
          <a:p>
            <a:r>
              <a:t>先看一个具体的攻击场景：验证</a:t>
            </a:r>
            <a:r>
              <a:rPr lang="zh-CN"/>
              <a:t>一个乘法门</a:t>
            </a:r>
            <a:r>
              <a:t> z = x·y（模 16），</a:t>
            </a:r>
            <a:r>
              <a:rPr lang="zh-CN"/>
              <a:t>假设</a:t>
            </a:r>
            <a:r>
              <a:rPr lang="en-US" altLang="zh-CN"/>
              <a:t>x=3</a:t>
            </a:r>
            <a:r>
              <a:rPr lang="zh-CN" altLang="en-US"/>
              <a:t>，</a:t>
            </a:r>
            <a:r>
              <a:rPr lang="en-US" altLang="zh-CN"/>
              <a:t>y=5,</a:t>
            </a:r>
            <a:r>
              <a:t>真实值 z = 15。攻击者把结果篡改成 7，相当于偷塞进一个误差 e = 8。</a:t>
            </a:r>
          </a:p>
          <a:p>
            <a:r>
              <a:t>注意，e = 8 = 2^(ℓ−1) 是零因子，在环里没有逆元。这时如果验证式是 Δ = r·e（r 为环中随机元）：r 为奇数时，Δ = 8 ≠ 0，错误当场暴露；但 r 为偶数时，Δ = 0，错误就被悄悄吞掉了</a:t>
            </a:r>
            <a:r>
              <a:rPr lang="en-US"/>
              <a:t>,</a:t>
            </a:r>
            <a:r>
              <a:rPr lang="zh-CN" altLang="en-US"/>
              <a:t>于是</a:t>
            </a:r>
            <a:r>
              <a:t>攻击成功率高达 50%，无法保证恶意安全。</a:t>
            </a:r>
          </a:p>
          <a:p>
            <a:r>
              <a:t>作者的解法是换代数结构：把整数映射成多项式，取一个 d 次不可约多项式 f(x) 构造扩展环。映射之后 e = 8 + 0x，再算 Δ = r·e，比如 r = 2 + 3x，则 Δ = 8x ≠ 0——错误一定暴露。</a:t>
            </a:r>
            <a:r>
              <a:rPr lang="zh-CN"/>
              <a:t>由于</a:t>
            </a:r>
            <a:r>
              <a:t> r 是随机且不可预知的多项式，攻击者凑不出 Δ = 0，攻击成功率降到可忽略。</a:t>
            </a:r>
          </a: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有了可逆的结构，第二步是压缩。我们手头有 N 个独立的乘法等式，如果逐个验证，通信量是 O(N)。</a:t>
            </a:r>
          </a:p>
          <a:p>
            <a:r>
              <a:t>怎么优化？引入一个随机</a:t>
            </a:r>
            <a:r>
              <a:rPr lang="zh-CN"/>
              <a:t>数</a:t>
            </a:r>
            <a:r>
              <a:t>  r^i 给每个等式加权，然后全部加起来，变成一个大的内积等式。</a:t>
            </a:r>
          </a:p>
          <a:p>
            <a:r>
              <a:t>这里引入 r</a:t>
            </a:r>
            <a:r>
              <a:rPr lang="en-US"/>
              <a:t>^i</a:t>
            </a:r>
            <a:r>
              <a:t> 就是为了防作弊：攻击者如果想让不同门里的正负误差互相抵消，必须提前猜中 r 的值，概率极低。</a:t>
            </a:r>
          </a:p>
          <a:p>
            <a:r>
              <a:t>更重要的是，这一步完全在本地完成，不需要任何网络交互。至此，N 个散落的等式被打包成一个 N 维的长向量——虽然通信量还是 N 维，但为下一步的降维做好了准备。</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t>由上一步可知</a:t>
            </a:r>
            <a:r>
              <a:t>压缩后只剩 1 条内积等式，但它本身有 N 维——直接验证仍然要 O(N) 的通信量。</a:t>
            </a:r>
          </a:p>
          <a:p>
            <a:r>
              <a:t>本文的做法很巧妙：把相邻的两个数 x⁽⁰⁾ 和 x⁽¹⁾，看成同一条直线上的两个点。t = 0 时纵坐标是 x⁽⁰⁾，t = 1 时是 x⁽¹⁾，两点唯一确定一条直线 f(t)。各方再共同随机选一个点 t = ζ，算出 f(ζ) = x⁽⁰⁾ + ζ·(x⁽¹⁾ − x⁽⁰⁾)。</a:t>
            </a:r>
          </a:p>
          <a:p>
            <a:r>
              <a:t>关键在于：ζ 是一次性随机的、外部不可预知，所以攻击者没法靠伪造数据让新向量「碰巧」满足等式。</a:t>
            </a:r>
          </a:p>
          <a:p>
            <a:r>
              <a:t>于是，用一个数 f(ζ) 完美代表原来的两个数——维度直接减半。利用拉格朗日插值重复 R 次，维度变成 N / 2^R，通信量从 O(N) 降到了 O(log N)。</a:t>
            </a:r>
          </a:p>
          <a:p>
            <a:r>
              <a:t>安全性方面，ζ 随机选取、攻击者无法预知，防住了内部伪造，恶意安全性不降级。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mc:AlternateContent xmlns:mc="http://schemas.openxmlformats.org/markup-compatibility/2006">
        <mc:Choice xmlns:a14="http://schemas.microsoft.com/office/drawing/2010/main" Requires="a14">
          <p:sp>
            <p:nvSpPr>
              <p:cNvPr id="3" name="文本占位符 2"/>
              <p:cNvSpPr>
                <a:spLocks noGrp="1"/>
              </p:cNvSpPr>
              <p:nvPr>
                <p:ph type="body" idx="3"/>
              </p:nvPr>
            </p:nvSpPr>
            <p:spPr/>
            <p:txBody>
              <a:bodyPr/>
              <a:p>
                <a:r>
                  <a:rPr lang="zh-CN" altLang="en-US">
                    <a:solidFill>
                      <a:schemeClr val="tx1"/>
                    </a:solidFill>
                    <a:latin typeface="Cambria Math" panose="02040503050406030204" charset="0"/>
                    <a:ea typeface="微软雅黑" panose="020B0503020204020204" charset="-122"/>
                    <a:cs typeface="Cambria Math" panose="02040503050406030204" charset="0"/>
                  </a:rPr>
                  <a:t>最后一步</a:t>
                </a:r>
                <a:r>
                  <a:rPr lang="zh-CN" altLang="en-US">
                    <a:solidFill>
                      <a:schemeClr val="tx1"/>
                    </a:solidFill>
                    <a:latin typeface="Cambria Math" panose="02040503050406030204" charset="0"/>
                    <a:ea typeface="微软雅黑" panose="020B0503020204020204" charset="-122"/>
                    <a:cs typeface="Cambria Math" panose="02040503050406030204" charset="0"/>
                  </a:rPr>
                  <a:t>是内积验证协议</a:t>
                </a:r>
                <a:endParaRPr lang="zh-CN" altLang="en-US">
                  <a:solidFill>
                    <a:schemeClr val="tx1"/>
                  </a:solidFill>
                  <a:latin typeface="Cambria Math" panose="02040503050406030204" charset="0"/>
                  <a:ea typeface="微软雅黑" panose="020B0503020204020204" charset="-122"/>
                  <a:cs typeface="Cambria Math" panose="02040503050406030204" charset="0"/>
                </a:endParaRPr>
              </a:p>
              <a:p>
                <a:r>
                  <a:rPr lang="zh-CN" altLang="en-US">
                    <a:solidFill>
                      <a:schemeClr val="tx1"/>
                    </a:solidFill>
                    <a:latin typeface="Cambria Math" panose="02040503050406030204" charset="0"/>
                    <a:ea typeface="微软雅黑" panose="020B0503020204020204" charset="-122"/>
                    <a:cs typeface="Cambria Math" panose="02040503050406030204" charset="0"/>
                  </a:rPr>
                  <a:t>我们拿到最后一个内积等式后，引入随机数</a:t>
                </a:r>
                <a:r>
                  <a:rPr lang="en-US" altLang="zh-CN">
                    <a:solidFill>
                      <a:schemeClr val="tx1"/>
                    </a:solidFill>
                    <a:latin typeface="Cambria Math" panose="02040503050406030204" charset="0"/>
                    <a:ea typeface="微软雅黑" panose="020B0503020204020204" charset="-122"/>
                    <a:cs typeface="Cambria Math" panose="02040503050406030204" charset="0"/>
                  </a:rPr>
                  <a:t>&lt;a&gt;,</a:t>
                </a:r>
                <a:r>
                  <a:rPr lang="zh-CN" altLang="en-US">
                    <a:solidFill>
                      <a:schemeClr val="tx1"/>
                    </a:solidFill>
                    <a:latin typeface="Cambria Math" panose="02040503050406030204" charset="0"/>
                    <a:ea typeface="微软雅黑" panose="020B0503020204020204" charset="-122"/>
                    <a:cs typeface="Cambria Math" panose="02040503050406030204" charset="0"/>
                  </a:rPr>
                  <a:t>经过本地计算</a:t>
                </a:r>
                <a:r>
                  <a:rPr lang="zh-CN" altLang="en-US">
                    <a:solidFill>
                      <a:schemeClr val="tx1"/>
                    </a:solidFill>
                    <a:latin typeface="Cambria Math" panose="02040503050406030204" charset="0"/>
                    <a:ea typeface="微软雅黑" panose="020B0503020204020204" charset="-122"/>
                    <a:cs typeface="Cambria Math" panose="02040503050406030204" charset="0"/>
                  </a:rPr>
                  <a:t>后，最后公开算一下总数</a:t>
                </a:r>
                <a14:m>
                  <m:oMath xmlns:m="http://schemas.openxmlformats.org/officeDocument/2006/math">
                    <m:r>
                      <a:rPr lang="en-US" altLang="zh-CN" b="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a:solidFill>
                      <a:schemeClr val="tx1"/>
                    </a:solidFill>
                    <a:latin typeface="Cambria Math" panose="02040503050406030204" charset="0"/>
                    <a:ea typeface="微软雅黑" panose="020B0503020204020204" charset="-122"/>
                    <a:cs typeface="Cambria Math" panose="02040503050406030204" charset="0"/>
                  </a:rPr>
                  <a:t>是不是等于</a:t>
                </a:r>
                <a:r>
                  <a:rPr lang="en-US" altLang="zh-CN">
                    <a:solidFill>
                      <a:schemeClr val="tx1"/>
                    </a:solidFill>
                    <a:latin typeface="Cambria Math" panose="02040503050406030204" charset="0"/>
                    <a:ea typeface="微软雅黑" panose="020B0503020204020204" charset="-122"/>
                    <a:cs typeface="Cambria Math" panose="02040503050406030204" charset="0"/>
                  </a:rPr>
                  <a:t>0</a:t>
                </a:r>
                <a:r>
                  <a:rPr lang="zh-CN" altLang="en-US">
                    <a:solidFill>
                      <a:schemeClr val="tx1"/>
                    </a:solidFill>
                    <a:latin typeface="Cambria Math" panose="02040503050406030204" charset="0"/>
                    <a:ea typeface="微软雅黑" panose="020B0503020204020204" charset="-122"/>
                    <a:cs typeface="Cambria Math" panose="02040503050406030204" charset="0"/>
                  </a:rPr>
                  <a:t>，如果等于</a:t>
                </a:r>
                <a:r>
                  <a:rPr lang="en-US" altLang="zh-CN">
                    <a:solidFill>
                      <a:schemeClr val="tx1"/>
                    </a:solidFill>
                    <a:latin typeface="Cambria Math" panose="02040503050406030204" charset="0"/>
                    <a:ea typeface="微软雅黑" panose="020B0503020204020204" charset="-122"/>
                    <a:cs typeface="Cambria Math" panose="02040503050406030204" charset="0"/>
                  </a:rPr>
                  <a:t>0</a:t>
                </a:r>
                <a:r>
                  <a:rPr lang="zh-CN" altLang="en-US">
                    <a:solidFill>
                      <a:schemeClr val="tx1"/>
                    </a:solidFill>
                    <a:latin typeface="Cambria Math" panose="02040503050406030204" charset="0"/>
                    <a:ea typeface="微软雅黑" panose="020B0503020204020204" charset="-122"/>
                    <a:cs typeface="Cambria Math" panose="02040503050406030204" charset="0"/>
                  </a:rPr>
                  <a:t>，就证明没人作弊；不等于</a:t>
                </a:r>
                <a:r>
                  <a:rPr lang="en-US" altLang="zh-CN">
                    <a:solidFill>
                      <a:schemeClr val="tx1"/>
                    </a:solidFill>
                    <a:latin typeface="Cambria Math" panose="02040503050406030204" charset="0"/>
                    <a:ea typeface="微软雅黑" panose="020B0503020204020204" charset="-122"/>
                    <a:cs typeface="Cambria Math" panose="02040503050406030204" charset="0"/>
                  </a:rPr>
                  <a:t>0</a:t>
                </a:r>
                <a:r>
                  <a:rPr lang="zh-CN" altLang="en-US">
                    <a:solidFill>
                      <a:schemeClr val="tx1"/>
                    </a:solidFill>
                    <a:latin typeface="Cambria Math" panose="02040503050406030204" charset="0"/>
                    <a:ea typeface="微软雅黑" panose="020B0503020204020204" charset="-122"/>
                    <a:cs typeface="Cambria Math" panose="02040503050406030204" charset="0"/>
                  </a:rPr>
                  <a:t>，就报警中止。</a:t>
                </a:r>
                <a:endParaRPr lang="zh-CN" altLang="en-US">
                  <a:solidFill>
                    <a:schemeClr val="tx1"/>
                  </a:solidFill>
                  <a:latin typeface="Cambria Math" panose="02040503050406030204" charset="0"/>
                  <a:ea typeface="微软雅黑" panose="020B0503020204020204" charset="-122"/>
                  <a:cs typeface="Cambria Math" panose="02040503050406030204" charset="0"/>
                </a:endParaRPr>
              </a:p>
              <a:p>
                <a:r>
                  <a:rPr lang="zh-CN" altLang="en-US">
                    <a:solidFill>
                      <a:schemeClr val="tx1"/>
                    </a:solidFill>
                    <a:latin typeface="Cambria Math" panose="02040503050406030204" charset="0"/>
                    <a:ea typeface="微软雅黑" panose="020B0503020204020204" charset="-122"/>
                    <a:cs typeface="Cambria Math" panose="02040503050406030204" charset="0"/>
                  </a:rPr>
                  <a:t>因为</a:t>
                </a:r>
                <a:r>
                  <a:rPr lang="en-US" altLang="zh-CN">
                    <a:solidFill>
                      <a:schemeClr val="tx1"/>
                    </a:solidFill>
                    <a:latin typeface="Cambria Math" panose="02040503050406030204" charset="0"/>
                    <a:ea typeface="微软雅黑" panose="020B0503020204020204" charset="-122"/>
                    <a:cs typeface="Cambria Math" panose="02040503050406030204" charset="0"/>
                  </a:rPr>
                  <a:t> α </a:t>
                </a:r>
                <a:r>
                  <a:rPr lang="zh-CN" altLang="en-US">
                    <a:solidFill>
                      <a:schemeClr val="tx1"/>
                    </a:solidFill>
                    <a:latin typeface="Cambria Math" panose="02040503050406030204" charset="0"/>
                    <a:ea typeface="微软雅黑" panose="020B0503020204020204" charset="-122"/>
                    <a:cs typeface="Cambria Math" panose="02040503050406030204" charset="0"/>
                  </a:rPr>
                  <a:t>是随机的，攻击者想恰好让</a:t>
                </a:r>
                <a14:m>
                  <m:oMath xmlns:m="http://schemas.openxmlformats.org/officeDocument/2006/math">
                    <m:r>
                      <a:rPr lang="en-US" altLang="zh-CN" b="1">
                        <a:solidFill>
                          <a:schemeClr val="tx1"/>
                        </a:solidFill>
                        <a:latin typeface="Cambria Math" panose="02040503050406030204" charset="0"/>
                        <a:ea typeface="微软雅黑" panose="020B0503020204020204" charset="-122"/>
                        <a:cs typeface="Cambria Math" panose="02040503050406030204" charset="0"/>
                      </a:rPr>
                      <m:t>∆</m:t>
                    </m:r>
                  </m:oMath>
                </a14:m>
                <a:r>
                  <a:rPr lang="en-US" altLang="zh-CN">
                    <a:solidFill>
                      <a:schemeClr val="tx1"/>
                    </a:solidFill>
                    <a:latin typeface="Cambria Math" panose="02040503050406030204" charset="0"/>
                    <a:ea typeface="微软雅黑" panose="020B0503020204020204" charset="-122"/>
                    <a:cs typeface="Cambria Math" panose="02040503050406030204" charset="0"/>
                  </a:rPr>
                  <a:t>=0</a:t>
                </a:r>
                <a:r>
                  <a:rPr lang="zh-CN" altLang="en-US">
                    <a:solidFill>
                      <a:schemeClr val="tx1"/>
                    </a:solidFill>
                    <a:latin typeface="Cambria Math" panose="02040503050406030204" charset="0"/>
                    <a:ea typeface="微软雅黑" panose="020B0503020204020204" charset="-122"/>
                    <a:cs typeface="Cambria Math" panose="02040503050406030204" charset="0"/>
                  </a:rPr>
                  <a:t>的概率极低（约</a:t>
                </a:r>
                <a:r>
                  <a:rPr lang="en-US" altLang="zh-CN">
                    <a:solidFill>
                      <a:schemeClr val="tx1"/>
                    </a:solidFill>
                    <a:latin typeface="Cambria Math" panose="02040503050406030204" charset="0"/>
                    <a:ea typeface="微软雅黑" panose="020B0503020204020204" charset="-122"/>
                    <a:cs typeface="Cambria Math" panose="02040503050406030204" charset="0"/>
                  </a:rPr>
                  <a:t>1/2^d</a:t>
                </a:r>
                <a:r>
                  <a:rPr lang="zh-CN" altLang="en-US">
                    <a:solidFill>
                      <a:schemeClr val="tx1"/>
                    </a:solidFill>
                    <a:latin typeface="Cambria Math" panose="02040503050406030204" charset="0"/>
                    <a:ea typeface="微软雅黑" panose="020B0503020204020204" charset="-122"/>
                    <a:cs typeface="Cambria Math" panose="02040503050406030204" charset="0"/>
                  </a:rPr>
                  <a:t>）</a:t>
                </a:r>
                <a:r>
                  <a:rPr lang="en-US" altLang="zh-CN">
                    <a:solidFill>
                      <a:schemeClr val="tx1"/>
                    </a:solidFill>
                    <a:latin typeface="Cambria Math" panose="02040503050406030204" charset="0"/>
                    <a:ea typeface="微软雅黑" panose="020B0503020204020204" charset="-122"/>
                    <a:cs typeface="Cambria Math" panose="02040503050406030204" charset="0"/>
                  </a:rPr>
                  <a:t>,</a:t>
                </a:r>
                <a:r>
                  <a:rPr lang="zh-CN" altLang="en-US">
                    <a:solidFill>
                      <a:schemeClr val="tx1"/>
                    </a:solidFill>
                    <a:latin typeface="Cambria Math" panose="02040503050406030204" charset="0"/>
                    <a:ea typeface="微软雅黑" panose="020B0503020204020204" charset="-122"/>
                    <a:cs typeface="Cambria Math" panose="02040503050406030204" charset="0"/>
                  </a:rPr>
                  <a:t>所以一次求值就能判定，不需要反复验证。</a:t>
                </a:r>
                <a:endParaRPr lang="zh-CN" altLang="en-US">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3" name="文本占位符 2"/>
              <p:cNvSpPr>
                <a:spLocks noRot="1" noChangeAspect="1" noMove="1" noResize="1" noEditPoints="1" noAdjustHandles="1" noChangeArrowheads="1" noChangeShapeType="1" noTextEdit="1"/>
              </p:cNvSpPr>
              <p:nvPr>
                <p:ph type="body" idx="3"/>
              </p:nvPr>
            </p:nvSpPr>
            <p:spPr>
              <a:blipFill rotWithShape="1">
                <a:blip r:embed="rId3"/>
                <a:stretch>
                  <a:fillRect/>
                </a:stretch>
              </a:blipFill>
            </p:spPr>
            <p:txBody>
              <a:bodyPr/>
              <a:lstStyle/>
              <a:p>
                <a:r>
                  <a:rPr lang="zh-CN" altLang="en-US">
                    <a:noFill/>
                  </a:rPr>
                  <a:t> </a:t>
                </a:r>
              </a:p>
            </p:txBody>
          </p:sp>
        </mc:Fallback>
      </mc:AlternateContent>
      <p:sp>
        <p:nvSpPr>
          <p:cNvPr id="4" name="文本占位符 2"/>
          <p:cNvSpPr>
            <a:spLocks noGrp="1"/>
          </p:cNvSpPr>
          <p:nvPr>
            <p:ph type="body" idx="3"/>
          </p:nvPr>
        </p:nvSpPr>
        <p:spPr/>
        <p:txBody>
          <a:bodyPr/>
          <a:p>
            <a:r>
              <a:t>【第10页 技术1.4 内积验证收口 | 1分钟】</a:t>
            </a:r>
          </a:p>
          <a:p>
            <a:r>
              <a:t>降维到最后，只剩一个很短的等式，验证就非常简单了。</a:t>
            </a:r>
          </a:p>
          <a:p>
            <a:r>
              <a:t>最后一步，把等式两边看成两个低维向量，再抽一个随机数 α 加权求和，各方只需公开检查 Δ 是否为零。如果任何一个乘法门被篡改过，经过 r 的幂次加权和 ζ 的随机插值，误差被保留下来的概率可以忽略——soundness error 达到可忽略级别；而 Δ = 0 就以压倒性概率说明全部 |G| 个乘法都正确。一次求值即可判定。</a:t>
            </a:r>
          </a:p>
          <a:p>
            <a:r>
              <a:t>到这里技术一形成完整闭环：扩展环保证结构可逆、加权压缩防抵消、随机插值降维、内积验证收口——验证通信量从 O(N) 降到 O(log N)。这是「通信友好」的第一个来源。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接下来是技术二：支持混合电路与非线性函数的统一框架。</a:t>
            </a:r>
          </a:p>
          <a:p>
            <a:r>
              <a:rPr lang="zh-CN" altLang="en-US"/>
              <a:t>技术二解决的是算术运算和布尔运算两种计算域如何高效切换的问题。</a:t>
            </a:r>
            <a:r>
              <a:t>算术域擅长加法和乘法，二进制域擅长比较等非线性操作，而许多 PPML 应用</a:t>
            </a:r>
            <a:r>
              <a:rPr lang="zh-CN"/>
              <a:t>同时</a:t>
            </a:r>
            <a:r>
              <a:rPr lang="en-US" altLang="zh-CN"/>
              <a:t> </a:t>
            </a:r>
            <a:r>
              <a:rPr lang="zh-CN" altLang="en-US"/>
              <a:t>需要这两种运算，但是这两种运算的</a:t>
            </a:r>
            <a:r>
              <a:rPr lang="zh-CN" altLang="en-US"/>
              <a:t>转换很贵</a:t>
            </a:r>
            <a:r>
              <a:rPr lang="zh-CN" altLang="en-US"/>
              <a:t>且效率</a:t>
            </a:r>
            <a:r>
              <a:rPr lang="zh-CN" altLang="en-US"/>
              <a:t>很低</a:t>
            </a:r>
            <a:endParaRPr lang="zh-CN" altLang="en-US"/>
          </a:p>
          <a:p>
            <a:r>
              <a:t>解决方案是利用 daBits（双认证比特）：</a:t>
            </a:r>
            <a:r>
              <a:rPr lang="zh-CN" altLang="en-US"/>
              <a:t>同一个随机比特，同时拥有算术和布尔两份共享。</a:t>
            </a:r>
            <a:endParaRPr lang="zh-CN" altLang="en-US"/>
          </a:p>
          <a:p>
            <a:endParaRPr lang="zh-CN" altLang="en-US"/>
          </a:p>
          <a:p>
            <a:r>
              <a:rPr lang="zh-CN" altLang="en-US"/>
              <a:t>这是</a:t>
            </a:r>
            <a:r>
              <a:rPr lang="zh-CN" altLang="en-US"/>
              <a:t>具体流程：</a:t>
            </a:r>
            <a:endParaRPr lang="zh-CN" altLang="en-US"/>
          </a:p>
          <a:p>
            <a:r>
              <a:rPr lang="zh-CN" altLang="en-US"/>
              <a:t>离线阶段，各方本地生成 </a:t>
            </a:r>
            <a:r>
              <a:rPr lang="en-US" altLang="zh-CN"/>
              <a:t>daBits</a:t>
            </a:r>
            <a:r>
              <a:rPr lang="zh-CN" altLang="en-US"/>
              <a:t>，接着进行批量验证来确保所有</a:t>
            </a:r>
            <a:r>
              <a:rPr lang="en-US" altLang="zh-CN"/>
              <a:t>daBits</a:t>
            </a:r>
            <a:r>
              <a:rPr lang="zh-CN" altLang="en-US"/>
              <a:t>是正确的，再合并成全局 </a:t>
            </a:r>
            <a:r>
              <a:rPr lang="en-US" altLang="zh-CN"/>
              <a:t>daBits。</a:t>
            </a:r>
            <a:endParaRPr lang="en-US" altLang="zh-CN"/>
          </a:p>
          <a:p>
            <a:r>
              <a:t>在线阶段通过公开一个差值</a:t>
            </a:r>
            <a:r>
              <a:rPr lang="en-US"/>
              <a:t>d</a:t>
            </a:r>
            <a:r>
              <a:t>，就能完成两个计算域之间的高效安全转换。</a:t>
            </a:r>
          </a:p>
          <a:p/>
          <a:p>
            <a:r>
              <a:t>它的本质是：把昂贵的检查全部挪到离线，在线只</a:t>
            </a:r>
            <a:r>
              <a:rPr lang="zh-CN"/>
              <a:t>做</a:t>
            </a:r>
            <a:r>
              <a:t>一次</a:t>
            </a:r>
            <a:r>
              <a:rPr lang="en-US"/>
              <a:t>d</a:t>
            </a:r>
            <a:r>
              <a:rPr lang="zh-CN" altLang="en-US"/>
              <a:t>的</a:t>
            </a:r>
            <a:r>
              <a:t>公开。</a:t>
            </a:r>
            <a:r>
              <a:rPr lang="zh-CN" altLang="en-US"/>
              <a:t>这是论文实现‘通信友好’的第二个关键来源，也是我们能跑通 </a:t>
            </a:r>
            <a:r>
              <a:rPr lang="en-US" altLang="zh-CN"/>
              <a:t>VGG </a:t>
            </a:r>
            <a:r>
              <a:rPr lang="zh-CN" altLang="en-US"/>
              <a:t>这类复杂 </a:t>
            </a:r>
            <a:r>
              <a:rPr lang="en-US" altLang="zh-CN"/>
              <a:t>CNN </a:t>
            </a:r>
            <a:r>
              <a:rPr lang="zh-CN" altLang="en-US"/>
              <a:t>的基础。</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技术讲完了，下面看实验。实验一</a:t>
            </a:r>
            <a:r>
              <a:rPr lang="zh-CN"/>
              <a:t>是</a:t>
            </a:r>
            <a:r>
              <a:t>通信复杂度的理论对比。</a:t>
            </a:r>
          </a:p>
          <a:p>
            <a:r>
              <a:rPr lang="zh-CN"/>
              <a:t>在单次乘法中将我们的</a:t>
            </a:r>
            <a:r>
              <a:rPr lang="zh-CN"/>
              <a:t>实验与</a:t>
            </a:r>
            <a:r>
              <a:t> SWIFT</a:t>
            </a:r>
            <a:r>
              <a:rPr>
                <a:sym typeface="+mn-ea"/>
              </a:rPr>
              <a:t>对比</a:t>
            </a:r>
            <a:r>
              <a:t>，</a:t>
            </a:r>
            <a:r>
              <a:rPr>
                <a:sym typeface="+mn-ea"/>
              </a:rPr>
              <a:t>离线通信减少 67%</a:t>
            </a:r>
            <a:r>
              <a:rPr lang="zh-CN">
                <a:sym typeface="+mn-ea"/>
              </a:rPr>
              <a:t>，</a:t>
            </a:r>
            <a:r>
              <a:t>在线通信减少 33%；并且内积的通信量与单次乘法</a:t>
            </a:r>
            <a:r>
              <a:rPr lang="zh-CN"/>
              <a:t>相同</a:t>
            </a:r>
            <a:r>
              <a:t>。</a:t>
            </a:r>
            <a:r>
              <a:rPr lang="zh-CN" altLang="en-US"/>
              <a:t>这意味着我们在跑机器学习模型时，无论网络多大，通信开销都是固定的、极低的。</a:t>
            </a:r>
            <a:endParaRPr lang="zh-CN" altLang="en-US"/>
          </a:p>
          <a:p>
            <a:r>
              <a:rPr lang="zh-CN"/>
              <a:t>那么</a:t>
            </a:r>
            <a:r>
              <a:t>为什么</a:t>
            </a:r>
            <a:r>
              <a:rPr lang="zh-CN" altLang="en-US"/>
              <a:t>内积通信量和单次乘法一样</a:t>
            </a:r>
            <a:r>
              <a:t>？因为所有交叉项都在离线阶段抵消了，n 维内积在线不需要额外通信。这一点对机器学习特别友好——矩阵乘法、全连接层，本质上都是内积。</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接下来看实验二，这是一个时间性能测试</a:t>
            </a:r>
            <a:r>
              <a:t>，</a:t>
            </a:r>
            <a:r>
              <a:rPr lang="zh-CN"/>
              <a:t>横坐标为乘法规模，纵坐标为</a:t>
            </a:r>
            <a:r>
              <a:rPr lang="zh-CN"/>
              <a:t>时间。</a:t>
            </a:r>
            <a:r>
              <a:t>结论分三条。</a:t>
            </a:r>
          </a:p>
          <a:p>
            <a:r>
              <a:rPr lang="zh-CN"/>
              <a:t>先看左图。</a:t>
            </a:r>
            <a:r>
              <a:t>小规模时</a:t>
            </a:r>
            <a:r>
              <a:rPr lang="zh-CN"/>
              <a:t>往返时延</a:t>
            </a:r>
            <a:r>
              <a:t>略慢。</a:t>
            </a:r>
            <a:r>
              <a:rPr lang="zh-CN" altLang="en-US"/>
              <a:t>因为我们的验证多了一两轮通信，数据量小的时候，网络延迟占了主导，这是‘用轮数换通信量’的必然权衡。</a:t>
            </a:r>
            <a:endParaRPr lang="zh-CN" altLang="en-US"/>
          </a:p>
          <a:p>
            <a:r>
              <a:t>大规模</a:t>
            </a:r>
            <a:r>
              <a:rPr lang="zh-CN"/>
              <a:t>往返时延</a:t>
            </a:r>
            <a:r>
              <a:t>反超</a:t>
            </a:r>
            <a:r>
              <a:rPr lang="zh-CN"/>
              <a:t>，</a:t>
            </a:r>
            <a:r>
              <a:rPr lang="zh-CN" altLang="en-US"/>
              <a:t>并且差距越拉越大</a:t>
            </a:r>
            <a:r>
              <a:t>。</a:t>
            </a:r>
            <a:r>
              <a:rPr lang="zh-CN"/>
              <a:t>这是因为</a:t>
            </a:r>
            <a:r>
              <a:rPr lang="zh-CN" altLang="en-US"/>
              <a:t>我们的方案通信量是“对数级”的，数据量越大，节省的带宽优势越明显。</a:t>
            </a:r>
            <a:endParaRPr lang="zh-CN" altLang="en-US"/>
          </a:p>
          <a:p>
            <a:endParaRPr lang="zh-CN" altLang="en-US"/>
          </a:p>
          <a:p>
            <a:r>
              <a:rPr lang="zh-CN"/>
              <a:t>再</a:t>
            </a:r>
            <a:r>
              <a:rPr lang="zh-CN" altLang="en-US"/>
              <a:t>看右边图，当电路深度从32增加到128时，本文协议的轮数不随电路深度增长，而</a:t>
            </a:r>
            <a:r>
              <a:rPr lang="en-US" altLang="zh-CN"/>
              <a:t>SWIFT</a:t>
            </a:r>
            <a:r>
              <a:rPr lang="zh-CN" altLang="en-US"/>
              <a:t>的轮数随深度线性增加。这是因为我们的协议是“批量验证”。不管网络有多少层，我们把所有的乘法门收集起来，一次性做压缩、降维和验证，总轮数是一个常数。因此，在跑</a:t>
            </a:r>
            <a:r>
              <a:rPr lang="en-US" altLang="zh-CN"/>
              <a:t>VGG</a:t>
            </a:r>
            <a:r>
              <a:rPr lang="zh-CN" altLang="en-US"/>
              <a:t>这种深度极大的复杂模型时，我们的优势会被进一步放大。</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实验三，CNN 推理的端到端表现，</a:t>
            </a:r>
            <a:r>
              <a:rPr lang="zh-CN"/>
              <a:t>实验跑了三个模型</a:t>
            </a:r>
            <a:r>
              <a:rPr lang="en-US" altLang="zh-CN"/>
              <a:t>S-NN（</a:t>
            </a:r>
            <a:r>
              <a:rPr lang="zh-CN" altLang="en-US"/>
              <a:t>极浅）、</a:t>
            </a:r>
            <a:r>
              <a:rPr lang="en-US" altLang="zh-CN"/>
              <a:t>LeNet（</a:t>
            </a:r>
            <a:r>
              <a:rPr lang="zh-CN" altLang="en-US"/>
              <a:t>中等）、</a:t>
            </a:r>
            <a:r>
              <a:rPr lang="en-US" altLang="zh-CN"/>
              <a:t>VGG-16（</a:t>
            </a:r>
            <a:r>
              <a:rPr lang="zh-CN" altLang="en-US"/>
              <a:t>很深）。</a:t>
            </a:r>
            <a:r>
              <a:rPr lang="zh-CN"/>
              <a:t>得出</a:t>
            </a:r>
            <a:r>
              <a:rPr lang="zh-CN"/>
              <a:t>两个结论</a:t>
            </a:r>
            <a:r>
              <a:t>。</a:t>
            </a:r>
          </a:p>
          <a:p>
            <a:r>
              <a:t>第一，</a:t>
            </a:r>
            <a:r>
              <a:rPr lang="zh-CN" altLang="en-US"/>
              <a:t>模型越大，验证开销占比越低</a:t>
            </a:r>
            <a:r>
              <a:t>。S-NN 上</a:t>
            </a:r>
            <a:r>
              <a:rPr lang="zh-CN"/>
              <a:t>在线</a:t>
            </a:r>
            <a:r>
              <a:rPr lang="zh-CN"/>
              <a:t>验证时间</a:t>
            </a:r>
            <a:r>
              <a:t>占 </a:t>
            </a:r>
            <a:r>
              <a:rPr lang="zh-CN"/>
              <a:t>在线执行时间的</a:t>
            </a:r>
            <a:r>
              <a:t>64%，LeNet 上降到 31%，到 VGG-16 上验证时间仅占在线执行时间的约 19%——也就是说，在真实规模的 PPML 上，「恶意安全几乎免费」。</a:t>
            </a:r>
          </a:p>
          <a:p>
            <a:r>
              <a:t>第二，计算与通信的瓶颈互换。</a:t>
            </a:r>
            <a:r>
              <a:rPr lang="zh-CN"/>
              <a:t>我们看这个</a:t>
            </a:r>
            <a:r>
              <a:rPr lang="zh-CN" altLang="en-US"/>
              <a:t>柱状图。红色是通信时延迟，蓝色是计算延迟。</a:t>
            </a:r>
            <a:r>
              <a:t>执行阶段</a:t>
            </a:r>
            <a:r>
              <a:rPr lang="zh-CN"/>
              <a:t>时</a:t>
            </a:r>
            <a:r>
              <a:t>通信</a:t>
            </a:r>
            <a:r>
              <a:rPr lang="zh-CN"/>
              <a:t>延迟（红色）是主要瓶颈</a:t>
            </a:r>
            <a:r>
              <a:t>；而验证阶段</a:t>
            </a:r>
            <a:r>
              <a:rPr lang="zh-CN"/>
              <a:t>，</a:t>
            </a:r>
            <a:r>
              <a:rPr lang="zh-CN" altLang="en-US"/>
              <a:t>计算延迟（蓝色）反而成了瓶颈</a:t>
            </a:r>
            <a:r>
              <a:rPr lang="zh-CN"/>
              <a:t>，</a:t>
            </a:r>
            <a:r>
              <a:t>——</a:t>
            </a:r>
            <a:r>
              <a:rPr lang="zh-CN" altLang="en-US"/>
              <a:t>这也正是我们选择将协议部署在 </a:t>
            </a:r>
            <a:r>
              <a:rPr lang="en-US" altLang="zh-CN"/>
              <a:t>GPU </a:t>
            </a:r>
            <a:r>
              <a:rPr lang="zh-CN" altLang="en-US"/>
              <a:t>上的原因，用</a:t>
            </a:r>
            <a:r>
              <a:rPr lang="en-US" altLang="zh-CN"/>
              <a:t>GPU</a:t>
            </a:r>
            <a:r>
              <a:rPr lang="zh-CN" altLang="en-US"/>
              <a:t>的并发能力去解决验证阶段的计算压力。</a:t>
            </a:r>
            <a:endParaRPr lang="zh-CN" altLang="en-US"/>
          </a:p>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a:sym typeface="+mn-ea"/>
              </a:rPr>
              <a:t>那么我们得出的结论就是：</a:t>
            </a:r>
            <a:r>
              <a:rPr b="1">
                <a:solidFill>
                  <a:srgbClr val="C00000"/>
                </a:solidFill>
                <a:latin typeface="微软雅黑" panose="020B0503020204020204" charset="-122"/>
                <a:ea typeface="微软雅黑" panose="020B0503020204020204" charset="-122"/>
                <a:sym typeface="+mn-ea"/>
              </a:rPr>
              <a:t>通信量对数级的恶意安全 3PC-PPML</a:t>
            </a:r>
            <a:r>
              <a:rPr lang="zh-CN" b="1">
                <a:solidFill>
                  <a:srgbClr val="C00000"/>
                </a:solidFill>
                <a:latin typeface="微软雅黑" panose="020B0503020204020204" charset="-122"/>
                <a:ea typeface="微软雅黑" panose="020B0503020204020204" charset="-122"/>
                <a:sym typeface="+mn-ea"/>
              </a:rPr>
              <a:t>中</a:t>
            </a:r>
            <a:r>
              <a:rPr lang="en-US" b="1">
                <a:solidFill>
                  <a:srgbClr val="C00000"/>
                </a:solidFill>
                <a:latin typeface="微软雅黑" panose="020B0503020204020204" charset="-122"/>
                <a:ea typeface="微软雅黑" panose="020B0503020204020204" charset="-122"/>
                <a:sym typeface="+mn-ea"/>
              </a:rPr>
              <a:t>“</a:t>
            </a:r>
            <a:r>
              <a:rPr b="1">
                <a:solidFill>
                  <a:srgbClr val="C00000"/>
                </a:solidFill>
                <a:latin typeface="微软雅黑" panose="020B0503020204020204" charset="-122"/>
                <a:ea typeface="微软雅黑" panose="020B0503020204020204" charset="-122"/>
                <a:sym typeface="+mn-ea"/>
              </a:rPr>
              <a:t>换代数结构</a:t>
            </a:r>
            <a:r>
              <a:rPr lang="en-US" b="1">
                <a:solidFill>
                  <a:srgbClr val="C00000"/>
                </a:solidFill>
                <a:latin typeface="微软雅黑" panose="020B0503020204020204" charset="-122"/>
                <a:ea typeface="微软雅黑" panose="020B0503020204020204" charset="-122"/>
                <a:sym typeface="+mn-ea"/>
              </a:rPr>
              <a:t>”</a:t>
            </a:r>
            <a:r>
              <a:rPr b="1">
                <a:solidFill>
                  <a:srgbClr val="C00000"/>
                </a:solidFill>
                <a:latin typeface="微软雅黑" panose="020B0503020204020204" charset="-122"/>
                <a:ea typeface="微软雅黑" panose="020B0503020204020204" charset="-122"/>
                <a:sym typeface="+mn-ea"/>
              </a:rPr>
              <a:t>比</a:t>
            </a:r>
            <a:r>
              <a:rPr lang="en-US" b="1">
                <a:solidFill>
                  <a:srgbClr val="C00000"/>
                </a:solidFill>
                <a:latin typeface="微软雅黑" panose="020B0503020204020204" charset="-122"/>
                <a:ea typeface="微软雅黑" panose="020B0503020204020204" charset="-122"/>
                <a:sym typeface="+mn-ea"/>
              </a:rPr>
              <a:t>“</a:t>
            </a:r>
            <a:r>
              <a:rPr b="1">
                <a:solidFill>
                  <a:srgbClr val="C00000"/>
                </a:solidFill>
                <a:latin typeface="微软雅黑" panose="020B0503020204020204" charset="-122"/>
                <a:ea typeface="微软雅黑" panose="020B0503020204020204" charset="-122"/>
                <a:sym typeface="+mn-ea"/>
              </a:rPr>
              <a:t>堆工程优化</a:t>
            </a:r>
            <a:r>
              <a:rPr lang="en-US" b="1">
                <a:solidFill>
                  <a:srgbClr val="C00000"/>
                </a:solidFill>
                <a:latin typeface="微软雅黑" panose="020B0503020204020204" charset="-122"/>
                <a:ea typeface="微软雅黑" panose="020B0503020204020204" charset="-122"/>
                <a:sym typeface="+mn-ea"/>
              </a:rPr>
              <a:t>”</a:t>
            </a:r>
            <a:r>
              <a:rPr b="1">
                <a:solidFill>
                  <a:srgbClr val="C00000"/>
                </a:solidFill>
                <a:latin typeface="微软雅黑" panose="020B0503020204020204" charset="-122"/>
                <a:ea typeface="微软雅黑" panose="020B0503020204020204" charset="-122"/>
                <a:sym typeface="+mn-ea"/>
              </a:rPr>
              <a:t>更能带来数量级提升</a:t>
            </a:r>
            <a:endParaRPr b="1" i="0">
              <a:solidFill>
                <a:srgbClr val="C00000"/>
              </a:solidFill>
              <a:latin typeface="微软雅黑" panose="020B0503020204020204" charset="-122"/>
              <a:ea typeface="微软雅黑" panose="020B0503020204020204" charset="-122"/>
            </a:endParaRPr>
          </a:p>
          <a:p>
            <a:r>
              <a:rPr>
                <a:sym typeface="+mn-ea"/>
              </a:rPr>
              <a:t>第一，协议——把 |G| 个乘法门的验证压缩</a:t>
            </a:r>
            <a:r>
              <a:rPr lang="zh-CN">
                <a:sym typeface="+mn-ea"/>
              </a:rPr>
              <a:t>，</a:t>
            </a:r>
            <a:r>
              <a:rPr>
                <a:sym typeface="+mn-ea"/>
              </a:rPr>
              <a:t>降维，验证通信量</a:t>
            </a:r>
            <a:r>
              <a:rPr lang="zh-CN">
                <a:sym typeface="+mn-ea"/>
              </a:rPr>
              <a:t>可</a:t>
            </a:r>
            <a:r>
              <a:rPr>
                <a:sym typeface="+mn-ea"/>
              </a:rPr>
              <a:t>降到对数级。</a:t>
            </a:r>
            <a:endParaRPr>
              <a:sym typeface="+mn-ea"/>
            </a:endParaRPr>
          </a:p>
          <a:p>
            <a:r>
              <a:rPr>
                <a:sym typeface="+mn-ea"/>
              </a:rPr>
              <a:t>第二，性能——对比 SWIFT</a:t>
            </a:r>
            <a:r>
              <a:rPr lang="zh-CN">
                <a:sym typeface="+mn-ea"/>
              </a:rPr>
              <a:t>框架</a:t>
            </a:r>
            <a:r>
              <a:rPr>
                <a:sym typeface="+mn-ea"/>
              </a:rPr>
              <a:t>，在线通信省 33%、离线省 67%，吞吐约两倍。</a:t>
            </a:r>
            <a:endParaRPr>
              <a:sym typeface="+mn-ea"/>
            </a:endParaRPr>
          </a:p>
          <a:p>
            <a:r>
              <a:rPr>
                <a:sym typeface="+mn-ea"/>
              </a:rPr>
              <a:t>第三，框架——GPU 跑通到 VGG-16，秒级推理，验证开销只占约 16%。</a:t>
            </a:r>
            <a:endParaRPr>
              <a:sym typeface="+mn-ea"/>
            </a:endParaRPr>
          </a:p>
          <a:p>
            <a:endParaRPr>
              <a:sym typeface="+mn-ea"/>
            </a:endParaRPr>
          </a:p>
          <a:p>
            <a:r>
              <a:rPr>
                <a:sym typeface="+mn-ea"/>
              </a:rPr>
              <a:t>最后一点思考——</a:t>
            </a:r>
            <a:r>
              <a:rPr lang="zh-CN">
                <a:sym typeface="+mn-ea"/>
              </a:rPr>
              <a:t>最后如果</a:t>
            </a:r>
            <a:r>
              <a:rPr>
                <a:sym typeface="+mn-ea"/>
              </a:rPr>
              <a:t>验证失败怎么办？</a:t>
            </a:r>
            <a:endParaRPr>
              <a:sym typeface="+mn-ea"/>
            </a:endParaRPr>
          </a:p>
          <a:p>
            <a:r>
              <a:rPr>
                <a:sym typeface="+mn-ea"/>
              </a:rPr>
              <a:t>这篇文章的验证是「先算后验、整体中止」：一旦失败，整个协议直接中止，但定位不到具体是哪个乘法门被篡改，这是作者自己也承认的局限。</a:t>
            </a:r>
            <a:endParaRPr>
              <a:sym typeface="+mn-ea"/>
            </a:endParaRPr>
          </a:p>
          <a:p>
            <a:r>
              <a:rPr>
                <a:sym typeface="+mn-ea"/>
              </a:rPr>
              <a:t>后续的 ECHO 协议提出了「隐蔽安全」，检测概率可以随攻击风险调节，为验证失败后的细粒度定位提供了新思路——这也是我认为值得继续关注的方向。</a:t>
            </a:r>
            <a:endParaRPr>
              <a:sym typeface="+mn-ea"/>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我的汇报到此结束。</a:t>
            </a:r>
          </a:p>
          <a:p>
            <a:r>
              <a:t>感谢各位老师和同学的聆听，不足之处敬请批评指正！</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microsoft.com/office/2007/relationships/hdphoto" Target="../media/image6.wdp"/><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E56B986-DDB4-4B25-A4B0-784C24F2865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A2524A-205B-4D9E-8C4D-434D1A8CD93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标题 6"/>
          <p:cNvSpPr>
            <a:spLocks noGrp="1"/>
          </p:cNvSpPr>
          <p:nvPr>
            <p:ph type="title"/>
          </p:nvPr>
        </p:nvSpPr>
        <p:spPr>
          <a:xfrm>
            <a:off x="767080" y="2570004"/>
            <a:ext cx="10515600" cy="1325563"/>
          </a:xfrm>
        </p:spPr>
        <p:txBody>
          <a:bodyPr>
            <a:normAutofit/>
          </a:bodyPr>
          <a:lstStyle>
            <a:lvl1pPr algn="ctr">
              <a:defRPr sz="5400" b="1">
                <a:solidFill>
                  <a:schemeClr val="accent5">
                    <a:lumMod val="75000"/>
                  </a:schemeClr>
                </a:solidFill>
                <a:effectLst>
                  <a:outerShdw blurRad="38100" dist="38100" dir="2700000" algn="tl">
                    <a:srgbClr val="000000">
                      <a:alpha val="43137"/>
                    </a:srgbClr>
                  </a:outerShdw>
                </a:effectLst>
                <a:latin typeface="楷体" panose="02010609060101010101" charset="-122"/>
                <a:ea typeface="楷体" panose="02010609060101010101" charset="-122"/>
              </a:defRPr>
            </a:lvl1pPr>
          </a:lstStyle>
          <a:p>
            <a:r>
              <a:rPr lang="zh-CN" altLang="en-US" dirty="0"/>
              <a:t>单击此处编辑母版标题样式</a:t>
            </a:r>
            <a:endParaRPr lang="zh-CN" altLang="en-US" dirty="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670" y="83185"/>
            <a:ext cx="4144010" cy="1762125"/>
          </a:xfrm>
          <a:prstGeom prst="rect">
            <a:avLst/>
          </a:prstGeom>
        </p:spPr>
      </p:pic>
      <p:pic>
        <p:nvPicPr>
          <p:cNvPr id="14" name="图片 13"/>
          <p:cNvPicPr>
            <a:picLocks noChangeAspect="1"/>
          </p:cNvPicPr>
          <p:nvPr userDrawn="1"/>
        </p:nvPicPr>
        <p:blipFill>
          <a:blip r:embed="rId3" cstate="print">
            <a:duotone>
              <a:prstClr val="black"/>
              <a:schemeClr val="accent1">
                <a:tint val="45000"/>
                <a:satMod val="400000"/>
              </a:schemeClr>
            </a:duotone>
            <a:lum bright="18000" contrast="36000"/>
            <a:extLst>
              <a:ext uri="{28A0092B-C50C-407E-A947-70E740481C1C}">
                <a14:useLocalDpi xmlns:a14="http://schemas.microsoft.com/office/drawing/2010/main" val="0"/>
              </a:ext>
            </a:extLst>
          </a:blip>
          <a:stretch>
            <a:fillRect/>
          </a:stretch>
        </p:blipFill>
        <p:spPr>
          <a:xfrm>
            <a:off x="8802370" y="6132195"/>
            <a:ext cx="3294380" cy="62801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46530" y="26670"/>
            <a:ext cx="10515600" cy="551180"/>
          </a:xfrm>
        </p:spPr>
        <p:txBody>
          <a:bodyPr anchor="ctr" anchorCtr="0">
            <a:noAutofit/>
          </a:bodyPr>
          <a:lstStyle>
            <a:lvl1pPr>
              <a:defRPr sz="3200" b="1">
                <a:solidFill>
                  <a:schemeClr val="accent5">
                    <a:lumMod val="75000"/>
                  </a:schemeClr>
                </a:solidFill>
                <a:effectLst/>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65" name="组合 64"/>
          <p:cNvGrpSpPr/>
          <p:nvPr userDrawn="1"/>
        </p:nvGrpSpPr>
        <p:grpSpPr>
          <a:xfrm>
            <a:off x="0" y="-14605"/>
            <a:ext cx="12192000" cy="706120"/>
            <a:chOff x="0" y="-1"/>
            <a:chExt cx="12191999" cy="705853"/>
          </a:xfrm>
        </p:grpSpPr>
        <p:sp>
          <p:nvSpPr>
            <p:cNvPr id="67" name="矩形 5"/>
            <p:cNvSpPr/>
            <p:nvPr/>
          </p:nvSpPr>
          <p:spPr>
            <a:xfrm>
              <a:off x="1446522" y="574688"/>
              <a:ext cx="10745477" cy="131163"/>
            </a:xfrm>
            <a:custGeom>
              <a:avLst/>
              <a:gdLst>
                <a:gd name="connsiteX0" fmla="*/ 0 w 10651958"/>
                <a:gd name="connsiteY0" fmla="*/ 0 h 120772"/>
                <a:gd name="connsiteX1" fmla="*/ 10651958 w 10651958"/>
                <a:gd name="connsiteY1" fmla="*/ 0 h 120772"/>
                <a:gd name="connsiteX2" fmla="*/ 10651958 w 10651958"/>
                <a:gd name="connsiteY2" fmla="*/ 120772 h 120772"/>
                <a:gd name="connsiteX3" fmla="*/ 0 w 10651958"/>
                <a:gd name="connsiteY3" fmla="*/ 120772 h 120772"/>
                <a:gd name="connsiteX4" fmla="*/ 0 w 10651958"/>
                <a:gd name="connsiteY4" fmla="*/ 0 h 120772"/>
                <a:gd name="connsiteX0-1" fmla="*/ 0 w 10745477"/>
                <a:gd name="connsiteY0-2" fmla="*/ 0 h 131163"/>
                <a:gd name="connsiteX1-3" fmla="*/ 10745477 w 10745477"/>
                <a:gd name="connsiteY1-4" fmla="*/ 10391 h 131163"/>
                <a:gd name="connsiteX2-5" fmla="*/ 10745477 w 10745477"/>
                <a:gd name="connsiteY2-6" fmla="*/ 131163 h 131163"/>
                <a:gd name="connsiteX3-7" fmla="*/ 93519 w 10745477"/>
                <a:gd name="connsiteY3-8" fmla="*/ 131163 h 131163"/>
                <a:gd name="connsiteX4-9" fmla="*/ 0 w 10745477"/>
                <a:gd name="connsiteY4-10" fmla="*/ 0 h 1311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745477" h="131163">
                  <a:moveTo>
                    <a:pt x="0" y="0"/>
                  </a:moveTo>
                  <a:lnTo>
                    <a:pt x="10745477" y="10391"/>
                  </a:lnTo>
                  <a:lnTo>
                    <a:pt x="10745477" y="131163"/>
                  </a:lnTo>
                  <a:lnTo>
                    <a:pt x="93519" y="131163"/>
                  </a:lnTo>
                  <a:lnTo>
                    <a:pt x="0" y="0"/>
                  </a:lnTo>
                  <a:close/>
                </a:path>
              </a:pathLst>
            </a:cu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32"/>
            <p:cNvSpPr/>
            <p:nvPr/>
          </p:nvSpPr>
          <p:spPr>
            <a:xfrm>
              <a:off x="0" y="-1"/>
              <a:ext cx="1540042" cy="705853"/>
            </a:xfrm>
            <a:custGeom>
              <a:avLst/>
              <a:gdLst>
                <a:gd name="connsiteX0" fmla="*/ 0 w 1674122"/>
                <a:gd name="connsiteY0" fmla="*/ 0 h 846823"/>
                <a:gd name="connsiteX1" fmla="*/ 1674122 w 1674122"/>
                <a:gd name="connsiteY1" fmla="*/ 0 h 846823"/>
                <a:gd name="connsiteX2" fmla="*/ 1674122 w 1674122"/>
                <a:gd name="connsiteY2" fmla="*/ 846823 h 846823"/>
                <a:gd name="connsiteX3" fmla="*/ 0 w 1674122"/>
                <a:gd name="connsiteY3" fmla="*/ 846823 h 846823"/>
                <a:gd name="connsiteX4" fmla="*/ 0 w 1674122"/>
                <a:gd name="connsiteY4" fmla="*/ 0 h 846823"/>
                <a:gd name="connsiteX0-1" fmla="*/ 0 w 1674122"/>
                <a:gd name="connsiteY0-2" fmla="*/ 0 h 846823"/>
                <a:gd name="connsiteX1-3" fmla="*/ 1144733 w 1674122"/>
                <a:gd name="connsiteY1-4" fmla="*/ 0 h 846823"/>
                <a:gd name="connsiteX2-5" fmla="*/ 1674122 w 1674122"/>
                <a:gd name="connsiteY2-6" fmla="*/ 846823 h 846823"/>
                <a:gd name="connsiteX3-7" fmla="*/ 0 w 1674122"/>
                <a:gd name="connsiteY3-8" fmla="*/ 846823 h 846823"/>
                <a:gd name="connsiteX4-9" fmla="*/ 0 w 1674122"/>
                <a:gd name="connsiteY4-10" fmla="*/ 0 h 8468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74122" h="846823">
                  <a:moveTo>
                    <a:pt x="0" y="0"/>
                  </a:moveTo>
                  <a:lnTo>
                    <a:pt x="1144733" y="0"/>
                  </a:lnTo>
                  <a:lnTo>
                    <a:pt x="1674122" y="846823"/>
                  </a:lnTo>
                  <a:lnTo>
                    <a:pt x="0" y="846823"/>
                  </a:lnTo>
                  <a:lnTo>
                    <a:pt x="0" y="0"/>
                  </a:lnTo>
                  <a:close/>
                </a:path>
              </a:pathLst>
            </a:cu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2" name="图片 11"/>
          <p:cNvPicPr>
            <a:picLocks noChangeAspect="1"/>
          </p:cNvPicPr>
          <p:nvPr userDrawn="1"/>
        </p:nvPicPr>
        <p:blipFill>
          <a:blip r:embed="rId2">
            <a:lum bright="18000"/>
          </a:blip>
          <a:stretch>
            <a:fillRect/>
          </a:stretch>
        </p:blipFill>
        <p:spPr>
          <a:xfrm>
            <a:off x="10175240" y="26670"/>
            <a:ext cx="2016760" cy="495935"/>
          </a:xfrm>
          <a:prstGeom prst="rect">
            <a:avLst/>
          </a:prstGeom>
        </p:spPr>
      </p:pic>
      <p:pic>
        <p:nvPicPr>
          <p:cNvPr id="14" name="图片 13"/>
          <p:cNvPicPr>
            <a:picLocks noChangeAspect="1"/>
          </p:cNvPicPr>
          <p:nvPr userDrawn="1"/>
        </p:nvPicPr>
        <p:blipFill>
          <a:blip r:embed="rId3">
            <a:lum bright="36000" contrast="6000"/>
          </a:blip>
          <a:stretch>
            <a:fillRect/>
          </a:stretch>
        </p:blipFill>
        <p:spPr>
          <a:xfrm>
            <a:off x="0" y="6371590"/>
            <a:ext cx="12192000" cy="495300"/>
          </a:xfrm>
          <a:prstGeom prst="rect">
            <a:avLst/>
          </a:prstGeom>
        </p:spPr>
      </p:pic>
      <p:pic>
        <p:nvPicPr>
          <p:cNvPr id="21" name="图片 20" descr="logo"/>
          <p:cNvPicPr>
            <a:picLocks noChangeAspect="1"/>
          </p:cNvPicPr>
          <p:nvPr userDrawn="1"/>
        </p:nvPicPr>
        <p:blipFill>
          <a:blip r:embed="rId4" cstate="email">
            <a:lum bright="100000" contrast="2000"/>
            <a:extLst>
              <a:ext uri="{BEBA8EAE-BF5A-486C-A8C5-ECC9F3942E4B}">
                <a14:imgProps xmlns:a14="http://schemas.microsoft.com/office/drawing/2010/main">
                  <a14:imgLayer r:embed="rId5">
                    <a14:imgEffect>
                      <a14:artisticGlowEdges trans="15000"/>
                    </a14:imgEffect>
                    <a14:imgEffect>
                      <a14:brightnessContrast bright="52000"/>
                    </a14:imgEffect>
                    <a14:imgEffect>
                      <a14:saturation sat="0"/>
                    </a14:imgEffect>
                  </a14:imgLayer>
                </a14:imgProps>
              </a:ext>
            </a:extLst>
          </a:blip>
          <a:stretch>
            <a:fillRect/>
          </a:stretch>
        </p:blipFill>
        <p:spPr>
          <a:xfrm>
            <a:off x="82857" y="6427998"/>
            <a:ext cx="1963762" cy="382041"/>
          </a:xfrm>
          <a:prstGeom prst="rect">
            <a:avLst/>
          </a:prstGeom>
        </p:spPr>
      </p:pic>
      <p:cxnSp>
        <p:nvCxnSpPr>
          <p:cNvPr id="3" name="直接连接符 2"/>
          <p:cNvCxnSpPr/>
          <p:nvPr userDrawn="1"/>
        </p:nvCxnSpPr>
        <p:spPr>
          <a:xfrm>
            <a:off x="-635" y="629920"/>
            <a:ext cx="12192635" cy="63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4445" y="570636"/>
            <a:ext cx="12192635" cy="63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445" y="6409055"/>
            <a:ext cx="12192635" cy="63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95680" y="4445"/>
            <a:ext cx="365760" cy="539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56B986-DDB4-4B25-A4B0-784C24F2865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A2524A-205B-4D9E-8C4D-434D1A8CD93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13.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3.xml"/><Relationship Id="rId7" Type="http://schemas.openxmlformats.org/officeDocument/2006/relationships/image" Target="../media/image7.png"/><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image" Target="../media/image9.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8.png"/><Relationship Id="rId2" Type="http://schemas.openxmlformats.org/officeDocument/2006/relationships/tags" Target="../tags/tag23.xml"/><Relationship Id="rId15" Type="http://schemas.openxmlformats.org/officeDocument/2006/relationships/notesSlide" Target="../notesSlides/notesSlide6.xml"/><Relationship Id="rId14" Type="http://schemas.openxmlformats.org/officeDocument/2006/relationships/slideLayout" Target="../slideLayouts/slideLayout1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2.xml"/></Relationships>
</file>

<file path=ppt/slides/_rels/slide7.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image" Target="../media/image11.png"/><Relationship Id="rId3" Type="http://schemas.openxmlformats.org/officeDocument/2006/relationships/tags" Target="../tags/tag35.xml"/><Relationship Id="rId2" Type="http://schemas.openxmlformats.org/officeDocument/2006/relationships/tags" Target="../tags/tag34.xml"/><Relationship Id="rId19" Type="http://schemas.openxmlformats.org/officeDocument/2006/relationships/notesSlide" Target="../notesSlides/notesSlide7.xml"/><Relationship Id="rId18" Type="http://schemas.openxmlformats.org/officeDocument/2006/relationships/slideLayout" Target="../slideLayouts/slideLayout13.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image" Target="../media/image13.png"/><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image" Target="../media/image12.png"/><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image" Target="../media/image17.png"/><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image" Target="../media/image16.png"/><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image" Target="../media/image15.png"/><Relationship Id="rId16" Type="http://schemas.openxmlformats.org/officeDocument/2006/relationships/notesSlide" Target="../notesSlides/notesSlide8.xml"/><Relationship Id="rId15" Type="http://schemas.openxmlformats.org/officeDocument/2006/relationships/slideLayout" Target="../slideLayouts/slideLayout13.xml"/><Relationship Id="rId14" Type="http://schemas.openxmlformats.org/officeDocument/2006/relationships/image" Target="../media/image19.png"/><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image" Target="../media/image18.png"/><Relationship Id="rId10" Type="http://schemas.openxmlformats.org/officeDocument/2006/relationships/tags" Target="../tags/tag5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5" Type="http://schemas.openxmlformats.org/officeDocument/2006/relationships/notesSlide" Target="../notesSlides/notesSlide9.xml"/><Relationship Id="rId14" Type="http://schemas.openxmlformats.org/officeDocument/2006/relationships/slideLayout" Target="../slideLayouts/slideLayout13.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image" Target="../media/image23.png"/><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image" Target="../media/image22.png"/><Relationship Id="rId3" Type="http://schemas.openxmlformats.org/officeDocument/2006/relationships/tags" Target="../tags/tag68.xml"/><Relationship Id="rId2" Type="http://schemas.openxmlformats.org/officeDocument/2006/relationships/tags" Target="../tags/tag67.xml"/><Relationship Id="rId15" Type="http://schemas.openxmlformats.org/officeDocument/2006/relationships/notesSlide" Target="../notesSlides/notesSlide10.xml"/><Relationship Id="rId14" Type="http://schemas.openxmlformats.org/officeDocument/2006/relationships/slideLayout" Target="../slideLayouts/slideLayout13.xml"/><Relationship Id="rId13" Type="http://schemas.openxmlformats.org/officeDocument/2006/relationships/image" Target="../media/image25.png"/><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image" Target="../media/image24.pn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18745" y="1868805"/>
            <a:ext cx="11781790" cy="4371340"/>
          </a:xfrm>
        </p:spPr>
        <p:txBody>
          <a:bodyPr>
            <a:normAutofit/>
          </a:bodyPr>
          <a:lstStyle/>
          <a:p>
            <a:pPr algn="l"/>
            <a:br>
              <a:rPr sz="2400">
                <a:solidFill>
                  <a:srgbClr val="12263F"/>
                </a:solidFill>
                <a:latin typeface="Arial" panose="020B0604020202020204"/>
                <a:ea typeface="微软雅黑" panose="020B0503020204020204" charset="-122"/>
                <a:cs typeface="Arial" panose="020B0604020202020204"/>
                <a:sym typeface="+mn-ea"/>
              </a:rPr>
            </a:br>
            <a:endParaRPr sz="2400">
              <a:solidFill>
                <a:srgbClr val="12263F"/>
              </a:solidFill>
              <a:latin typeface="Arial" panose="020B0604020202020204"/>
              <a:ea typeface="微软雅黑" panose="020B0503020204020204" charset="-122"/>
              <a:cs typeface="Arial" panose="020B0604020202020204"/>
              <a:sym typeface="+mn-ea"/>
            </a:endParaRPr>
          </a:p>
        </p:txBody>
      </p:sp>
      <p:sp>
        <p:nvSpPr>
          <p:cNvPr id="5" name="文本框 4"/>
          <p:cNvSpPr txBox="1"/>
          <p:nvPr/>
        </p:nvSpPr>
        <p:spPr>
          <a:xfrm>
            <a:off x="570865" y="1971675"/>
            <a:ext cx="11142980" cy="4166235"/>
          </a:xfrm>
          <a:prstGeom prst="rect">
            <a:avLst/>
          </a:prstGeom>
        </p:spPr>
        <p:txBody>
          <a:bodyPr>
            <a:noAutofit/>
          </a:bodyPr>
          <a:p>
            <a:pPr algn="ctr"/>
            <a:r>
              <a:rPr sz="3200" b="1">
                <a:solidFill>
                  <a:srgbClr val="12263F"/>
                </a:solidFill>
                <a:latin typeface="Arial" panose="020B0604020202020204"/>
                <a:ea typeface="微软雅黑" panose="020B0503020204020204" charset="-122"/>
                <a:cs typeface="Arial" panose="020B0604020202020204"/>
                <a:sym typeface="+mn-ea"/>
              </a:rPr>
              <a:t>The Communication-Friendly Privacy-Preserving</a:t>
            </a:r>
            <a:r>
              <a:rPr lang="en-US" sz="3200" b="1">
                <a:solidFill>
                  <a:srgbClr val="12263F"/>
                </a:solidFill>
                <a:latin typeface="Arial" panose="020B0604020202020204"/>
                <a:ea typeface="微软雅黑" panose="020B0503020204020204" charset="-122"/>
                <a:cs typeface="Arial" panose="020B0604020202020204"/>
                <a:sym typeface="+mn-ea"/>
              </a:rPr>
              <a:t>    </a:t>
            </a:r>
            <a:r>
              <a:rPr sz="3200" b="1">
                <a:solidFill>
                  <a:srgbClr val="12263F"/>
                </a:solidFill>
                <a:latin typeface="Arial" panose="020B0604020202020204"/>
                <a:ea typeface="微软雅黑" panose="020B0503020204020204" charset="-122"/>
                <a:cs typeface="Arial" panose="020B0604020202020204"/>
                <a:sym typeface="+mn-ea"/>
              </a:rPr>
              <a:t>Machine Learning against Malicious Adversaries</a:t>
            </a:r>
            <a:br>
              <a:rPr sz="2800">
                <a:solidFill>
                  <a:srgbClr val="12263F"/>
                </a:solidFill>
                <a:latin typeface="Arial" panose="020B0604020202020204"/>
                <a:ea typeface="微软雅黑" panose="020B0503020204020204" charset="-122"/>
                <a:cs typeface="Arial" panose="020B0604020202020204"/>
                <a:sym typeface="+mn-ea"/>
              </a:rPr>
            </a:br>
            <a:r>
              <a:rPr lang="en-US" sz="3200">
                <a:solidFill>
                  <a:srgbClr val="12263F"/>
                </a:solidFill>
                <a:latin typeface="Arial" panose="020B0604020202020204"/>
                <a:ea typeface="微软雅黑" panose="020B0503020204020204" charset="-122"/>
                <a:cs typeface="Arial" panose="020B0604020202020204"/>
                <a:sym typeface="+mn-ea"/>
              </a:rPr>
              <a:t> </a:t>
            </a:r>
            <a:r>
              <a:rPr lang="zh-CN" altLang="en-US" sz="2400">
                <a:solidFill>
                  <a:srgbClr val="12263F"/>
                </a:solidFill>
                <a:latin typeface="Arial" panose="020B0604020202020204"/>
                <a:ea typeface="微软雅黑" panose="020B0503020204020204" charset="-122"/>
                <a:cs typeface="Arial" panose="020B0604020202020204"/>
                <a:sym typeface="+mn-ea"/>
              </a:rPr>
              <a:t>针对恶意对手的通信友好型隐私保护机器学</a:t>
            </a:r>
            <a:r>
              <a:rPr lang="zh-CN" altLang="en-US" sz="2000">
                <a:solidFill>
                  <a:srgbClr val="12263F"/>
                </a:solidFill>
                <a:latin typeface="Arial" panose="020B0604020202020204"/>
                <a:ea typeface="微软雅黑" panose="020B0503020204020204" charset="-122"/>
                <a:cs typeface="Arial" panose="020B0604020202020204"/>
                <a:sym typeface="+mn-ea"/>
              </a:rPr>
              <a:t>习</a:t>
            </a:r>
            <a:endParaRPr lang="zh-CN" altLang="en-US" sz="2000">
              <a:solidFill>
                <a:srgbClr val="12263F"/>
              </a:solidFill>
              <a:latin typeface="Arial" panose="020B0604020202020204"/>
              <a:ea typeface="微软雅黑" panose="020B0503020204020204" charset="-122"/>
              <a:cs typeface="Arial" panose="020B0604020202020204"/>
              <a:sym typeface="+mn-ea"/>
            </a:endParaRPr>
          </a:p>
          <a:p>
            <a:pPr algn="ctr"/>
            <a:r>
              <a:rPr lang="en-US" altLang="zh-CN" sz="1600">
                <a:solidFill>
                  <a:srgbClr val="12263F"/>
                </a:solidFill>
                <a:latin typeface="Arial" panose="020B0604020202020204"/>
                <a:ea typeface="微软雅黑" panose="020B0503020204020204" charset="-122"/>
                <a:cs typeface="Arial" panose="020B0604020202020204"/>
                <a:sym typeface="+mn-ea"/>
              </a:rPr>
              <a:t>Tianpei Lu, Bingsheng Zhang, Member, IEEE, Lichun Li, and Kui Ren, Fellow, IEEE</a:t>
            </a:r>
            <a:br>
              <a:rPr sz="2000">
                <a:solidFill>
                  <a:srgbClr val="12263F"/>
                </a:solidFill>
                <a:latin typeface="Arial" panose="020B0604020202020204"/>
                <a:ea typeface="微软雅黑" panose="020B0503020204020204" charset="-122"/>
                <a:cs typeface="Arial" panose="020B0604020202020204"/>
                <a:sym typeface="+mn-ea"/>
              </a:rPr>
            </a:br>
            <a:r>
              <a:rPr lang="en-US" sz="2000">
                <a:solidFill>
                  <a:srgbClr val="12263F"/>
                </a:solidFill>
                <a:latin typeface="Arial" panose="020B0604020202020204"/>
                <a:ea typeface="微软雅黑" panose="020B0503020204020204" charset="-122"/>
                <a:cs typeface="Arial" panose="020B0604020202020204"/>
                <a:sym typeface="+mn-ea"/>
              </a:rPr>
              <a:t>    </a:t>
            </a:r>
            <a:br>
              <a:rPr sz="2000">
                <a:solidFill>
                  <a:srgbClr val="12263F"/>
                </a:solidFill>
                <a:latin typeface="Arial" panose="020B0604020202020204"/>
                <a:ea typeface="微软雅黑" panose="020B0503020204020204" charset="-122"/>
                <a:cs typeface="Arial" panose="020B0604020202020204"/>
                <a:sym typeface="+mn-ea"/>
              </a:rPr>
            </a:br>
            <a:r>
              <a:rPr lang="en-US" sz="2000">
                <a:solidFill>
                  <a:srgbClr val="12263F"/>
                </a:solidFill>
                <a:latin typeface="Arial" panose="020B0604020202020204"/>
                <a:ea typeface="微软雅黑" panose="020B0503020204020204" charset="-122"/>
                <a:cs typeface="Arial" panose="020B0604020202020204"/>
                <a:sym typeface="+mn-ea"/>
              </a:rPr>
              <a:t> </a:t>
            </a:r>
            <a:endParaRPr lang="en-US" sz="2000">
              <a:solidFill>
                <a:srgbClr val="12263F"/>
              </a:solidFill>
              <a:latin typeface="Arial" panose="020B0604020202020204"/>
              <a:ea typeface="微软雅黑" panose="020B0503020204020204" charset="-122"/>
              <a:cs typeface="Arial" panose="020B0604020202020204"/>
              <a:sym typeface="+mn-ea"/>
            </a:endParaRPr>
          </a:p>
          <a:p>
            <a:pPr algn="ctr"/>
            <a:endParaRPr lang="en-US" altLang="zh-CN" sz="2000">
              <a:solidFill>
                <a:srgbClr val="12263F"/>
              </a:solidFill>
              <a:latin typeface="Arial" panose="020B0604020202020204"/>
              <a:ea typeface="微软雅黑" panose="020B0503020204020204" charset="-122"/>
              <a:cs typeface="Arial" panose="020B0604020202020204"/>
              <a:sym typeface="+mn-ea"/>
            </a:endParaRPr>
          </a:p>
          <a:p>
            <a:pPr algn="ctr"/>
            <a:r>
              <a:rPr lang="en-US" altLang="zh-CN" sz="2000">
                <a:solidFill>
                  <a:srgbClr val="12263F"/>
                </a:solidFill>
                <a:latin typeface="Arial" panose="020B0604020202020204"/>
                <a:ea typeface="微软雅黑" panose="020B0503020204020204" charset="-122"/>
                <a:cs typeface="Arial" panose="020B0604020202020204"/>
                <a:sym typeface="+mn-ea"/>
              </a:rPr>
              <a:t>        </a:t>
            </a:r>
            <a:br>
              <a:rPr lang="en-US" altLang="zh-CN" sz="2000">
                <a:solidFill>
                  <a:srgbClr val="12263F"/>
                </a:solidFill>
                <a:latin typeface="Arial" panose="020B0604020202020204"/>
                <a:ea typeface="微软雅黑" panose="020B0503020204020204" charset="-122"/>
                <a:cs typeface="Arial" panose="020B0604020202020204"/>
                <a:sym typeface="+mn-ea"/>
              </a:rPr>
            </a:br>
            <a:br>
              <a:rPr lang="en-US" altLang="zh-CN" sz="2000">
                <a:solidFill>
                  <a:srgbClr val="12263F"/>
                </a:solidFill>
                <a:latin typeface="Arial" panose="020B0604020202020204"/>
                <a:ea typeface="微软雅黑" panose="020B0503020204020204" charset="-122"/>
                <a:cs typeface="Arial" panose="020B0604020202020204"/>
                <a:sym typeface="+mn-ea"/>
              </a:rPr>
            </a:br>
            <a:r>
              <a:rPr lang="en-US" altLang="zh-CN" sz="2000">
                <a:solidFill>
                  <a:srgbClr val="12263F"/>
                </a:solidFill>
                <a:latin typeface="Arial" panose="020B0604020202020204"/>
                <a:ea typeface="微软雅黑" panose="020B0503020204020204" charset="-122"/>
                <a:cs typeface="Arial" panose="020B0604020202020204"/>
                <a:sym typeface="+mn-ea"/>
              </a:rPr>
              <a:t>   </a:t>
            </a:r>
            <a:r>
              <a:rPr lang="zh-CN" altLang="en-US" sz="2000">
                <a:solidFill>
                  <a:srgbClr val="12263F"/>
                </a:solidFill>
                <a:latin typeface="Arial" panose="020B0604020202020204"/>
                <a:ea typeface="微软雅黑" panose="020B0503020204020204" charset="-122"/>
                <a:cs typeface="Arial" panose="020B0604020202020204"/>
                <a:sym typeface="+mn-ea"/>
              </a:rPr>
              <a:t>汇报人：黄露</a:t>
            </a:r>
            <a:r>
              <a:rPr lang="en-US" altLang="zh-CN" sz="2000">
                <a:solidFill>
                  <a:srgbClr val="12263F"/>
                </a:solidFill>
                <a:latin typeface="Arial" panose="020B0604020202020204"/>
                <a:ea typeface="微软雅黑" panose="020B0503020204020204" charset="-122"/>
                <a:cs typeface="Arial" panose="020B0604020202020204"/>
                <a:sym typeface="+mn-ea"/>
              </a:rPr>
              <a:t>        </a:t>
            </a:r>
            <a:r>
              <a:rPr lang="zh-CN" altLang="en-US" sz="2000">
                <a:solidFill>
                  <a:srgbClr val="12263F"/>
                </a:solidFill>
                <a:latin typeface="Arial" panose="020B0604020202020204"/>
                <a:ea typeface="微软雅黑" panose="020B0503020204020204" charset="-122"/>
                <a:cs typeface="Arial" panose="020B0604020202020204"/>
                <a:sym typeface="+mn-ea"/>
              </a:rPr>
              <a:t>指导老师：汤战勇</a:t>
            </a:r>
            <a:r>
              <a:rPr lang="en-US" altLang="zh-CN" sz="2000">
                <a:solidFill>
                  <a:srgbClr val="12263F"/>
                </a:solidFill>
                <a:latin typeface="Arial" panose="020B0604020202020204"/>
                <a:ea typeface="微软雅黑" panose="020B0503020204020204" charset="-122"/>
                <a:cs typeface="Arial" panose="020B0604020202020204"/>
                <a:sym typeface="+mn-ea"/>
              </a:rPr>
              <a:t>        </a:t>
            </a:r>
            <a:r>
              <a:rPr lang="zh-CN" altLang="en-US" sz="2000">
                <a:solidFill>
                  <a:srgbClr val="12263F"/>
                </a:solidFill>
                <a:latin typeface="Arial" panose="020B0604020202020204"/>
                <a:ea typeface="微软雅黑" panose="020B0503020204020204" charset="-122"/>
                <a:cs typeface="Arial" panose="020B0604020202020204"/>
                <a:sym typeface="+mn-ea"/>
              </a:rPr>
              <a:t>日期：</a:t>
            </a:r>
            <a:r>
              <a:rPr lang="en-US" altLang="zh-CN" sz="2000">
                <a:solidFill>
                  <a:srgbClr val="12263F"/>
                </a:solidFill>
                <a:latin typeface="Arial" panose="020B0604020202020204"/>
                <a:ea typeface="微软雅黑" panose="020B0503020204020204" charset="-122"/>
                <a:cs typeface="Arial" panose="020B0604020202020204"/>
                <a:sym typeface="+mn-ea"/>
              </a:rPr>
              <a:t>2026</a:t>
            </a:r>
            <a:r>
              <a:rPr lang="zh-CN" altLang="en-US" sz="2000">
                <a:solidFill>
                  <a:srgbClr val="12263F"/>
                </a:solidFill>
                <a:latin typeface="Arial" panose="020B0604020202020204"/>
                <a:ea typeface="微软雅黑" panose="020B0503020204020204" charset="-122"/>
                <a:cs typeface="Arial" panose="020B0604020202020204"/>
                <a:sym typeface="+mn-ea"/>
              </a:rPr>
              <a:t>年</a:t>
            </a:r>
            <a:r>
              <a:rPr lang="en-US" altLang="zh-CN" sz="2000">
                <a:solidFill>
                  <a:srgbClr val="12263F"/>
                </a:solidFill>
                <a:latin typeface="Arial" panose="020B0604020202020204"/>
                <a:ea typeface="微软雅黑" panose="020B0503020204020204" charset="-122"/>
                <a:cs typeface="Arial" panose="020B0604020202020204"/>
                <a:sym typeface="+mn-ea"/>
              </a:rPr>
              <a:t>10</a:t>
            </a:r>
            <a:r>
              <a:rPr lang="zh-CN" altLang="en-US" sz="2000">
                <a:solidFill>
                  <a:srgbClr val="12263F"/>
                </a:solidFill>
                <a:latin typeface="Arial" panose="020B0604020202020204"/>
                <a:ea typeface="微软雅黑" panose="020B0503020204020204" charset="-122"/>
                <a:cs typeface="Arial" panose="020B0604020202020204"/>
                <a:sym typeface="+mn-ea"/>
              </a:rPr>
              <a:t>月</a:t>
            </a:r>
            <a:r>
              <a:rPr lang="en-US" altLang="zh-CN" sz="2000">
                <a:solidFill>
                  <a:srgbClr val="12263F"/>
                </a:solidFill>
                <a:latin typeface="Arial" panose="020B0604020202020204"/>
                <a:ea typeface="微软雅黑" panose="020B0503020204020204" charset="-122"/>
                <a:cs typeface="Arial" panose="020B0604020202020204"/>
                <a:sym typeface="+mn-ea"/>
              </a:rPr>
              <a:t>18</a:t>
            </a:r>
            <a:r>
              <a:rPr lang="zh-CN" altLang="en-US" sz="2000">
                <a:solidFill>
                  <a:srgbClr val="12263F"/>
                </a:solidFill>
                <a:latin typeface="Arial" panose="020B0604020202020204"/>
                <a:ea typeface="微软雅黑" panose="020B0503020204020204" charset="-122"/>
                <a:cs typeface="Arial" panose="020B0604020202020204"/>
                <a:sym typeface="+mn-ea"/>
              </a:rPr>
              <a:t>日</a:t>
            </a:r>
            <a:endParaRPr lang="zh-CN" altLang="en-US" sz="2800">
              <a:latin typeface="宋体" panose="02010600030101010101" pitchFamily="2" charset="-122"/>
              <a:ea typeface="宋体" panose="02010600030101010101" pitchFamily="2" charset="-122"/>
              <a:cs typeface="宋体" panose="02010600030101010101" pitchFamily="2" charset="-122"/>
            </a:endParaRPr>
          </a:p>
          <a:p>
            <a:endParaRPr lang="zh-CN" altLang="en-US" sz="2800">
              <a:latin typeface="宋体" panose="02010600030101010101" pitchFamily="2" charset="-122"/>
              <a:ea typeface="宋体" panose="02010600030101010101" pitchFamily="2" charset="-122"/>
              <a:cs typeface="宋体" panose="02010600030101010101" pitchFamily="2" charset="-122"/>
            </a:endParaRPr>
          </a:p>
          <a:p>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custDataLst>
              <p:tags r:id="rId1"/>
            </p:custDataLst>
          </p:nvPr>
        </p:nvSpPr>
        <p:spPr>
          <a:xfrm>
            <a:off x="1905000" y="2051685"/>
            <a:ext cx="773430" cy="2754630"/>
          </a:xfrm>
          <a:prstGeom prst="rect">
            <a:avLst/>
          </a:prstGeom>
          <a:noFill/>
        </p:spPr>
        <p:txBody>
          <a:bodyPr vert="horz" wrap="square" lIns="0" tIns="0" rIns="0" bIns="0" rtlCol="0" anchor="ctr">
            <a:noAutofit/>
          </a:bodyPr>
          <a:lstStyle>
            <a:lvl1pPr marL="0" marR="0" algn="l" defTabSz="914400" rtl="0" eaLnBrk="1" fontAlgn="auto" latinLnBrk="0" hangingPunct="1">
              <a:lnSpc>
                <a:spcPct val="100000"/>
              </a:lnSpc>
              <a:spcBef>
                <a:spcPct val="0"/>
              </a:spcBef>
              <a:buClrTx/>
              <a:buSzTx/>
              <a:buFontTx/>
              <a:buNone/>
              <a:defRPr kumimoji="0" lang="zh-CN" altLang="en-US" sz="54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a:lnSpc>
                <a:spcPct val="190000"/>
              </a:lnSpc>
            </a:pPr>
            <a:r>
              <a:rPr lang="zh-CN" altLang="en-US" sz="6600">
                <a:latin typeface="微软雅黑" panose="020B0503020204020204" charset="-122"/>
                <a:ea typeface="微软雅黑" panose="020B0503020204020204" charset="-122"/>
              </a:rPr>
              <a:t>目录</a:t>
            </a:r>
            <a:endParaRPr lang="zh-CN" altLang="en-US" sz="6600">
              <a:latin typeface="微软雅黑" panose="020B0503020204020204" charset="-122"/>
              <a:ea typeface="微软雅黑" panose="020B0503020204020204" charset="-122"/>
            </a:endParaRPr>
          </a:p>
        </p:txBody>
      </p:sp>
      <p:sp>
        <p:nvSpPr>
          <p:cNvPr id="8" name="序号"/>
          <p:cNvSpPr txBox="1"/>
          <p:nvPr>
            <p:custDataLst>
              <p:tags r:id="rId2"/>
            </p:custDataLst>
          </p:nvPr>
        </p:nvSpPr>
        <p:spPr>
          <a:xfrm>
            <a:off x="3941264" y="1284314"/>
            <a:ext cx="720000" cy="720000"/>
          </a:xfrm>
          <a:prstGeom prst="ellipse">
            <a:avLst/>
          </a:prstGeom>
          <a:solidFill>
            <a:schemeClr val="accent1"/>
          </a:soli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01</a:t>
            </a:r>
            <a:endParaRPr lang="en-US" sz="2000" dirty="0">
              <a:solidFill>
                <a:srgbClr val="FFFFFF"/>
              </a:solidFill>
              <a:latin typeface="+mj-ea"/>
              <a:ea typeface="+mj-ea"/>
              <a:cs typeface="MiSans" panose="00000500000000000000" charset="-122"/>
              <a:sym typeface="+mn-ea"/>
            </a:endParaRPr>
          </a:p>
        </p:txBody>
      </p:sp>
      <p:sp>
        <p:nvSpPr>
          <p:cNvPr id="9" name="标题"/>
          <p:cNvSpPr txBox="1"/>
          <p:nvPr>
            <p:custDataLst>
              <p:tags r:id="rId3"/>
            </p:custDataLst>
          </p:nvPr>
        </p:nvSpPr>
        <p:spPr>
          <a:xfrm>
            <a:off x="4890916" y="1176747"/>
            <a:ext cx="3180714" cy="935134"/>
          </a:xfrm>
          <a:prstGeom prst="rect">
            <a:avLst/>
          </a:prstGeom>
          <a:noFill/>
        </p:spPr>
        <p:txBody>
          <a:bodyPr wrap="square" lIns="0" tIns="0" rIns="0" bIns="0" rtlCol="0" anchor="ctr">
            <a:noAutofit/>
          </a:bodyPr>
          <a:lstStyle/>
          <a:p>
            <a:pPr lvl="0" algn="l">
              <a:buClrTx/>
              <a:buSzTx/>
              <a:buFontTx/>
            </a:pPr>
            <a:r>
              <a:rPr lang="zh-CN" altLang="en-US" sz="3200" b="1" spc="300" dirty="0">
                <a:solidFill>
                  <a:schemeClr val="accent1"/>
                </a:solidFill>
                <a:latin typeface="+mn-ea"/>
                <a:cs typeface="MiSans" panose="00000500000000000000" charset="-122"/>
                <a:sym typeface="+mn-ea"/>
              </a:rPr>
              <a:t>研究背景</a:t>
            </a:r>
            <a:endParaRPr lang="zh-CN" altLang="en-US" sz="3200" b="1" spc="300" dirty="0">
              <a:solidFill>
                <a:schemeClr val="accent1"/>
              </a:solidFill>
              <a:latin typeface="+mn-ea"/>
              <a:cs typeface="MiSans" panose="00000500000000000000" charset="-122"/>
              <a:sym typeface="+mn-ea"/>
            </a:endParaRPr>
          </a:p>
        </p:txBody>
      </p:sp>
      <p:sp>
        <p:nvSpPr>
          <p:cNvPr id="12" name="序号"/>
          <p:cNvSpPr txBox="1"/>
          <p:nvPr>
            <p:custDataLst>
              <p:tags r:id="rId4"/>
            </p:custDataLst>
          </p:nvPr>
        </p:nvSpPr>
        <p:spPr>
          <a:xfrm>
            <a:off x="3941264" y="2219803"/>
            <a:ext cx="720000" cy="720000"/>
          </a:xfrm>
          <a:prstGeom prst="ellipse">
            <a:avLst/>
          </a:prstGeom>
          <a:solidFill>
            <a:schemeClr val="accent1"/>
          </a:solidFill>
          <a:ln>
            <a:solidFill>
              <a:schemeClr val="accent1"/>
            </a:solidFill>
          </a:ln>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02</a:t>
            </a:r>
            <a:endParaRPr lang="en-US" sz="2000" dirty="0">
              <a:solidFill>
                <a:srgbClr val="FFFFFF"/>
              </a:solidFill>
              <a:latin typeface="+mj-ea"/>
              <a:ea typeface="+mj-ea"/>
              <a:cs typeface="MiSans" panose="00000500000000000000" charset="-122"/>
              <a:sym typeface="+mn-ea"/>
            </a:endParaRPr>
          </a:p>
        </p:txBody>
      </p:sp>
      <p:sp>
        <p:nvSpPr>
          <p:cNvPr id="13" name="标题"/>
          <p:cNvSpPr txBox="1"/>
          <p:nvPr>
            <p:custDataLst>
              <p:tags r:id="rId5"/>
            </p:custDataLst>
          </p:nvPr>
        </p:nvSpPr>
        <p:spPr>
          <a:xfrm>
            <a:off x="4890916" y="2112236"/>
            <a:ext cx="3180714" cy="935134"/>
          </a:xfrm>
          <a:prstGeom prst="rect">
            <a:avLst/>
          </a:prstGeom>
          <a:noFill/>
        </p:spPr>
        <p:txBody>
          <a:bodyPr wrap="square" lIns="0" tIns="0" rIns="0" bIns="0" rtlCol="0" anchor="ctr">
            <a:noAutofit/>
          </a:bodyPr>
          <a:lstStyle/>
          <a:p>
            <a:pPr lvl="0" algn="l">
              <a:buClrTx/>
              <a:buSzTx/>
              <a:buFontTx/>
            </a:pPr>
            <a:r>
              <a:rPr lang="zh-CN" altLang="en-US" sz="3200" b="1" spc="300" dirty="0">
                <a:solidFill>
                  <a:schemeClr val="accent1"/>
                </a:solidFill>
                <a:latin typeface="+mn-ea"/>
                <a:cs typeface="MiSans" panose="00000500000000000000" charset="-122"/>
                <a:sym typeface="+mn-ea"/>
              </a:rPr>
              <a:t>研究</a:t>
            </a:r>
            <a:r>
              <a:rPr lang="zh-CN" altLang="en-US" sz="3200" b="1" spc="300" dirty="0">
                <a:solidFill>
                  <a:schemeClr val="accent1"/>
                </a:solidFill>
                <a:latin typeface="+mn-ea"/>
                <a:cs typeface="MiSans" panose="00000500000000000000" charset="-122"/>
                <a:sym typeface="+mn-ea"/>
              </a:rPr>
              <a:t>内容</a:t>
            </a:r>
            <a:endParaRPr lang="zh-CN" altLang="en-US" sz="3200" b="1" spc="300" dirty="0">
              <a:solidFill>
                <a:schemeClr val="accent1"/>
              </a:solidFill>
              <a:latin typeface="+mn-ea"/>
              <a:cs typeface="MiSans" panose="00000500000000000000" charset="-122"/>
              <a:sym typeface="+mn-ea"/>
            </a:endParaRPr>
          </a:p>
        </p:txBody>
      </p:sp>
      <p:sp>
        <p:nvSpPr>
          <p:cNvPr id="15" name="序号"/>
          <p:cNvSpPr txBox="1"/>
          <p:nvPr>
            <p:custDataLst>
              <p:tags r:id="rId6"/>
            </p:custDataLst>
          </p:nvPr>
        </p:nvSpPr>
        <p:spPr>
          <a:xfrm>
            <a:off x="3941264" y="3154657"/>
            <a:ext cx="720000" cy="720000"/>
          </a:xfrm>
          <a:prstGeom prst="ellipse">
            <a:avLst/>
          </a:prstGeom>
          <a:solidFill>
            <a:schemeClr val="accent1"/>
          </a:soli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03</a:t>
            </a:r>
            <a:endParaRPr lang="en-US" sz="2000" dirty="0">
              <a:solidFill>
                <a:srgbClr val="FFFFFF"/>
              </a:solidFill>
              <a:latin typeface="+mj-ea"/>
              <a:ea typeface="+mj-ea"/>
              <a:cs typeface="MiSans" panose="00000500000000000000" charset="-122"/>
              <a:sym typeface="+mn-ea"/>
            </a:endParaRPr>
          </a:p>
        </p:txBody>
      </p:sp>
      <p:sp>
        <p:nvSpPr>
          <p:cNvPr id="21" name="标题"/>
          <p:cNvSpPr txBox="1"/>
          <p:nvPr>
            <p:custDataLst>
              <p:tags r:id="rId7"/>
            </p:custDataLst>
          </p:nvPr>
        </p:nvSpPr>
        <p:spPr>
          <a:xfrm>
            <a:off x="4890916" y="3047090"/>
            <a:ext cx="3180714" cy="935134"/>
          </a:xfrm>
          <a:prstGeom prst="rect">
            <a:avLst/>
          </a:prstGeom>
          <a:noFill/>
        </p:spPr>
        <p:txBody>
          <a:bodyPr wrap="square" lIns="0" tIns="0" rIns="0" bIns="0" rtlCol="0" anchor="ctr">
            <a:noAutofit/>
          </a:bodyPr>
          <a:lstStyle/>
          <a:p>
            <a:pPr lvl="0" algn="l">
              <a:buClrTx/>
              <a:buSzTx/>
              <a:buFontTx/>
            </a:pPr>
            <a:r>
              <a:rPr lang="zh-CN" altLang="en-US" sz="3200" b="1" spc="300" dirty="0">
                <a:solidFill>
                  <a:schemeClr val="accent1"/>
                </a:solidFill>
                <a:latin typeface="+mn-ea"/>
                <a:cs typeface="MiSans" panose="00000500000000000000" charset="-122"/>
                <a:sym typeface="+mn-ea"/>
              </a:rPr>
              <a:t>关键技术</a:t>
            </a:r>
            <a:endParaRPr lang="zh-CN" altLang="en-US" sz="3200" b="1" spc="300" dirty="0">
              <a:solidFill>
                <a:schemeClr val="accent1"/>
              </a:solidFill>
              <a:latin typeface="+mn-ea"/>
              <a:cs typeface="MiSans" panose="00000500000000000000" charset="-122"/>
              <a:sym typeface="+mn-ea"/>
            </a:endParaRPr>
          </a:p>
        </p:txBody>
      </p:sp>
      <p:sp>
        <p:nvSpPr>
          <p:cNvPr id="26" name="序号"/>
          <p:cNvSpPr txBox="1"/>
          <p:nvPr>
            <p:custDataLst>
              <p:tags r:id="rId8"/>
            </p:custDataLst>
          </p:nvPr>
        </p:nvSpPr>
        <p:spPr>
          <a:xfrm>
            <a:off x="3941264" y="4131421"/>
            <a:ext cx="720000" cy="720000"/>
          </a:xfrm>
          <a:prstGeom prst="ellipse">
            <a:avLst/>
          </a:prstGeom>
          <a:solidFill>
            <a:schemeClr val="accent1"/>
          </a:soli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04</a:t>
            </a:r>
            <a:endParaRPr lang="en-US" sz="2000" dirty="0">
              <a:solidFill>
                <a:srgbClr val="FFFFFF"/>
              </a:solidFill>
              <a:latin typeface="+mj-ea"/>
              <a:ea typeface="+mj-ea"/>
              <a:cs typeface="MiSans" panose="00000500000000000000" charset="-122"/>
              <a:sym typeface="+mn-ea"/>
            </a:endParaRPr>
          </a:p>
        </p:txBody>
      </p:sp>
      <p:sp>
        <p:nvSpPr>
          <p:cNvPr id="30" name="标题"/>
          <p:cNvSpPr txBox="1"/>
          <p:nvPr>
            <p:custDataLst>
              <p:tags r:id="rId9"/>
            </p:custDataLst>
          </p:nvPr>
        </p:nvSpPr>
        <p:spPr>
          <a:xfrm>
            <a:off x="4890916" y="4056874"/>
            <a:ext cx="3180714" cy="935134"/>
          </a:xfrm>
          <a:prstGeom prst="rect">
            <a:avLst/>
          </a:prstGeom>
          <a:noFill/>
        </p:spPr>
        <p:txBody>
          <a:bodyPr wrap="square" lIns="0" tIns="0" rIns="0" bIns="0" rtlCol="0" anchor="ctr">
            <a:noAutofit/>
          </a:bodyPr>
          <a:lstStyle/>
          <a:p>
            <a:pPr lvl="0" algn="l">
              <a:buClrTx/>
              <a:buSzTx/>
              <a:buFontTx/>
            </a:pPr>
            <a:r>
              <a:rPr lang="zh-CN" altLang="en-US" sz="3200" b="1" spc="300" dirty="0">
                <a:solidFill>
                  <a:schemeClr val="accent1"/>
                </a:solidFill>
                <a:latin typeface="+mn-ea"/>
                <a:cs typeface="MiSans" panose="00000500000000000000" charset="-122"/>
                <a:sym typeface="+mn-ea"/>
              </a:rPr>
              <a:t>实验评估</a:t>
            </a:r>
            <a:endParaRPr lang="zh-CN" altLang="en-US" sz="3200" b="1" spc="300" dirty="0">
              <a:solidFill>
                <a:schemeClr val="accent1"/>
              </a:solidFill>
              <a:latin typeface="+mn-ea"/>
              <a:cs typeface="MiSans" panose="00000500000000000000" charset="-122"/>
              <a:sym typeface="+mn-ea"/>
            </a:endParaRPr>
          </a:p>
        </p:txBody>
      </p:sp>
      <p:sp>
        <p:nvSpPr>
          <p:cNvPr id="6" name="序号"/>
          <p:cNvSpPr txBox="1"/>
          <p:nvPr>
            <p:custDataLst>
              <p:tags r:id="rId10"/>
            </p:custDataLst>
          </p:nvPr>
        </p:nvSpPr>
        <p:spPr>
          <a:xfrm>
            <a:off x="3941264" y="5174726"/>
            <a:ext cx="720000" cy="720000"/>
          </a:xfrm>
          <a:prstGeom prst="ellipse">
            <a:avLst/>
          </a:prstGeom>
          <a:solidFill>
            <a:schemeClr val="accent1"/>
          </a:soli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05</a:t>
            </a:r>
            <a:endParaRPr lang="en-US" sz="2000" dirty="0">
              <a:solidFill>
                <a:srgbClr val="FFFFFF"/>
              </a:solidFill>
              <a:latin typeface="+mj-ea"/>
              <a:ea typeface="+mj-ea"/>
              <a:cs typeface="MiSans" panose="00000500000000000000" charset="-122"/>
              <a:sym typeface="+mn-ea"/>
            </a:endParaRPr>
          </a:p>
        </p:txBody>
      </p:sp>
      <p:sp>
        <p:nvSpPr>
          <p:cNvPr id="10" name="标题"/>
          <p:cNvSpPr txBox="1"/>
          <p:nvPr>
            <p:custDataLst>
              <p:tags r:id="rId11"/>
            </p:custDataLst>
          </p:nvPr>
        </p:nvSpPr>
        <p:spPr>
          <a:xfrm>
            <a:off x="4890916" y="5067159"/>
            <a:ext cx="3180714" cy="935134"/>
          </a:xfrm>
          <a:prstGeom prst="rect">
            <a:avLst/>
          </a:prstGeom>
          <a:noFill/>
        </p:spPr>
        <p:txBody>
          <a:bodyPr wrap="square" lIns="0" tIns="0" rIns="0" bIns="0" rtlCol="0" anchor="ctr">
            <a:noAutofit/>
          </a:bodyPr>
          <a:lstStyle/>
          <a:p>
            <a:pPr lvl="0" algn="l">
              <a:buClrTx/>
              <a:buSzTx/>
              <a:buFontTx/>
            </a:pPr>
            <a:r>
              <a:rPr lang="zh-CN" altLang="en-US" sz="3200" b="1" spc="300" dirty="0">
                <a:solidFill>
                  <a:schemeClr val="accent1"/>
                </a:solidFill>
                <a:latin typeface="+mn-ea"/>
                <a:cs typeface="MiSans" panose="00000500000000000000" charset="-122"/>
                <a:sym typeface="+mn-ea"/>
              </a:rPr>
              <a:t>结论与</a:t>
            </a:r>
            <a:r>
              <a:rPr lang="zh-CN" altLang="en-US" sz="3200" b="1" spc="300" dirty="0">
                <a:solidFill>
                  <a:schemeClr val="accent1"/>
                </a:solidFill>
                <a:latin typeface="+mn-ea"/>
                <a:cs typeface="MiSans" panose="00000500000000000000" charset="-122"/>
                <a:sym typeface="+mn-ea"/>
              </a:rPr>
              <a:t>思考</a:t>
            </a:r>
            <a:endParaRPr lang="zh-CN" altLang="en-US" sz="3200" b="1" spc="300" dirty="0">
              <a:solidFill>
                <a:schemeClr val="accent1"/>
              </a:solidFill>
              <a:latin typeface="+mn-ea"/>
              <a:cs typeface="MiSans" panose="000005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一、研究</a:t>
            </a:r>
            <a:r>
              <a:rPr lang="zh-CN" altLang="en-US"/>
              <a:t>背景</a:t>
            </a:r>
            <a:endParaRPr lang="zh-CN" altLang="en-US"/>
          </a:p>
        </p:txBody>
      </p:sp>
      <p:sp>
        <p:nvSpPr>
          <p:cNvPr id="5" name="文本框 4"/>
          <p:cNvSpPr txBox="1"/>
          <p:nvPr/>
        </p:nvSpPr>
        <p:spPr>
          <a:xfrm>
            <a:off x="-58420" y="502920"/>
            <a:ext cx="11142980" cy="4166235"/>
          </a:xfrm>
          <a:prstGeom prst="rect">
            <a:avLst/>
          </a:prstGeom>
        </p:spPr>
        <p:txBody>
          <a:bodyPr>
            <a:noAutofit/>
          </a:bodyPr>
          <a:p>
            <a:endParaRPr lang="zh-CN" altLang="en-US" sz="2800" b="1">
              <a:latin typeface="宋体" panose="02010600030101010101" pitchFamily="2" charset="-122"/>
              <a:ea typeface="宋体" panose="02010600030101010101" pitchFamily="2" charset="-122"/>
              <a:cs typeface="宋体" panose="02010600030101010101" pitchFamily="2" charset="-122"/>
            </a:endParaRPr>
          </a:p>
          <a:p>
            <a:endParaRPr lang="zh-CN" altLang="en-US" sz="2800" b="1">
              <a:latin typeface="宋体" panose="02010600030101010101" pitchFamily="2" charset="-122"/>
              <a:ea typeface="宋体" panose="02010600030101010101" pitchFamily="2" charset="-122"/>
              <a:cs typeface="宋体" panose="02010600030101010101" pitchFamily="2" charset="-122"/>
            </a:endParaRPr>
          </a:p>
          <a:p>
            <a:endParaRPr lang="zh-CN" altLang="en-US" sz="2800" b="1">
              <a:latin typeface="宋体" panose="02010600030101010101" pitchFamily="2" charset="-122"/>
              <a:ea typeface="宋体" panose="02010600030101010101" pitchFamily="2" charset="-122"/>
              <a:cs typeface="宋体" panose="02010600030101010101" pitchFamily="2" charset="-122"/>
            </a:endParaRPr>
          </a:p>
          <a:p>
            <a:endParaRPr lang="zh-CN" altLang="en-US" sz="2800" b="1">
              <a:latin typeface="宋体" panose="02010600030101010101" pitchFamily="2" charset="-122"/>
              <a:ea typeface="宋体" panose="02010600030101010101" pitchFamily="2" charset="-122"/>
              <a:cs typeface="宋体" panose="02010600030101010101" pitchFamily="2" charset="-122"/>
            </a:endParaRPr>
          </a:p>
          <a:p>
            <a:endParaRPr lang="zh-CN" altLang="en-US" sz="2800">
              <a:latin typeface="宋体" panose="02010600030101010101" pitchFamily="2" charset="-122"/>
              <a:ea typeface="宋体" panose="02010600030101010101" pitchFamily="2" charset="-122"/>
              <a:cs typeface="宋体" panose="02010600030101010101" pitchFamily="2" charset="-122"/>
            </a:endParaRPr>
          </a:p>
          <a:p>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sp>
        <p:nvSpPr>
          <p:cNvPr id="6" name="TextBox 4"/>
          <p:cNvSpPr txBox="1"/>
          <p:nvPr/>
        </p:nvSpPr>
        <p:spPr>
          <a:xfrm>
            <a:off x="195580" y="998346"/>
            <a:ext cx="11109960" cy="1254125"/>
          </a:xfrm>
          <a:prstGeom prst="rect">
            <a:avLst/>
          </a:prstGeom>
          <a:noFill/>
        </p:spPr>
        <p:txBody>
          <a:bodyPr wrap="square" lIns="0" tIns="0" rIns="0" bIns="0" anchor="t">
            <a:spAutoFit/>
          </a:bodyPr>
          <a:lstStyle/>
          <a:p>
            <a:pPr algn="l">
              <a:lnSpc>
                <a:spcPct val="102000"/>
              </a:lnSpc>
              <a:spcBef>
                <a:spcPts val="0"/>
              </a:spcBef>
              <a:spcAft>
                <a:spcPts val="0"/>
              </a:spcAft>
            </a:pPr>
            <a:r>
              <a:rPr sz="2400" b="1" i="0">
                <a:solidFill>
                  <a:srgbClr val="C0392B"/>
                </a:solidFill>
                <a:latin typeface="Arial" panose="020B0604020202020204"/>
                <a:ea typeface="微软雅黑" panose="020B0503020204020204" charset="-122"/>
                <a:cs typeface="Arial" panose="020B0604020202020204"/>
              </a:rPr>
              <a:t>PPML 的</a:t>
            </a:r>
            <a:r>
              <a:rPr lang="zh-CN" sz="2400" b="1" i="0">
                <a:solidFill>
                  <a:srgbClr val="C0392B"/>
                </a:solidFill>
                <a:latin typeface="Arial" panose="020B0604020202020204"/>
                <a:ea typeface="微软雅黑" panose="020B0503020204020204" charset="-122"/>
                <a:cs typeface="Arial" panose="020B0604020202020204"/>
              </a:rPr>
              <a:t>研究现状</a:t>
            </a:r>
            <a:r>
              <a:rPr sz="2400" b="1" i="0">
                <a:solidFill>
                  <a:srgbClr val="C0392B"/>
                </a:solidFill>
                <a:latin typeface="Arial" panose="020B0604020202020204"/>
                <a:ea typeface="微软雅黑" panose="020B0503020204020204" charset="-122"/>
                <a:cs typeface="Arial" panose="020B0604020202020204"/>
              </a:rPr>
              <a:t>：</a:t>
            </a:r>
            <a:r>
              <a:rPr sz="2400" b="1" i="0">
                <a:solidFill>
                  <a:schemeClr val="tx1"/>
                </a:solidFill>
                <a:latin typeface="Arial" panose="020B0604020202020204"/>
                <a:ea typeface="微软雅黑" panose="020B0503020204020204" charset="-122"/>
                <a:cs typeface="Arial" panose="020B0604020202020204"/>
              </a:rPr>
              <a:t>数据不出域，计算交给多台互不信任的服务器 —— 3PC 复制秘密共享 (RSS) 是当前最高效的载体</a:t>
            </a:r>
            <a:r>
              <a:rPr sz="1600" b="1" i="0">
                <a:solidFill>
                  <a:schemeClr val="tx1"/>
                </a:solidFill>
                <a:latin typeface="Arial" panose="020B0604020202020204"/>
                <a:ea typeface="微软雅黑" panose="020B0503020204020204" charset="-122"/>
                <a:cs typeface="Arial" panose="020B0604020202020204"/>
              </a:rPr>
              <a:t>。</a:t>
            </a:r>
            <a:endParaRPr sz="1600" b="1" i="0">
              <a:solidFill>
                <a:schemeClr val="tx1"/>
              </a:solidFill>
              <a:latin typeface="Arial" panose="020B0604020202020204"/>
              <a:ea typeface="微软雅黑" panose="020B0503020204020204" charset="-122"/>
              <a:cs typeface="Arial" panose="020B0604020202020204"/>
            </a:endParaRPr>
          </a:p>
          <a:p>
            <a:pPr algn="l">
              <a:lnSpc>
                <a:spcPct val="102000"/>
              </a:lnSpc>
              <a:spcBef>
                <a:spcPts val="0"/>
              </a:spcBef>
              <a:spcAft>
                <a:spcPts val="0"/>
              </a:spcAft>
            </a:pPr>
            <a:endParaRPr sz="1600" b="1" i="0">
              <a:solidFill>
                <a:schemeClr val="tx1"/>
              </a:solidFill>
              <a:latin typeface="Arial" panose="020B0604020202020204"/>
              <a:ea typeface="微软雅黑" panose="020B0503020204020204" charset="-122"/>
              <a:cs typeface="Arial" panose="020B0604020202020204"/>
            </a:endParaRPr>
          </a:p>
          <a:p>
            <a:pPr algn="l">
              <a:lnSpc>
                <a:spcPct val="102000"/>
              </a:lnSpc>
              <a:spcBef>
                <a:spcPts val="0"/>
              </a:spcBef>
              <a:spcAft>
                <a:spcPts val="0"/>
              </a:spcAft>
            </a:pPr>
            <a:endParaRPr sz="1600" b="1" i="0">
              <a:solidFill>
                <a:schemeClr val="tx1"/>
              </a:solidFill>
              <a:latin typeface="Arial" panose="020B0604020202020204"/>
              <a:ea typeface="微软雅黑" panose="020B0503020204020204" charset="-122"/>
              <a:cs typeface="Arial" panose="020B0604020202020204"/>
            </a:endParaRPr>
          </a:p>
        </p:txBody>
      </p:sp>
      <p:sp>
        <p:nvSpPr>
          <p:cNvPr id="7" name="Rounded Rectangle 7"/>
          <p:cNvSpPr/>
          <p:nvPr/>
        </p:nvSpPr>
        <p:spPr>
          <a:xfrm>
            <a:off x="195580" y="2042160"/>
            <a:ext cx="11201400" cy="3536950"/>
          </a:xfrm>
          <a:prstGeom prst="roundRect">
            <a:avLst>
              <a:gd name="adj" fmla="val 10000"/>
            </a:avLst>
          </a:prstGeom>
          <a:solidFill>
            <a:srgbClr val="E9F2FA"/>
          </a:solidFill>
          <a:ln w="12700">
            <a:solidFill>
              <a:srgbClr val="BFDAEF"/>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p>
        </p:txBody>
      </p:sp>
      <p:sp>
        <p:nvSpPr>
          <p:cNvPr id="9" name="Rounded Rectangle 8"/>
          <p:cNvSpPr/>
          <p:nvPr/>
        </p:nvSpPr>
        <p:spPr>
          <a:xfrm>
            <a:off x="515620" y="2550160"/>
            <a:ext cx="1920240" cy="2488565"/>
          </a:xfrm>
          <a:prstGeom prst="roundRect">
            <a:avLst>
              <a:gd name="adj" fmla="val 10000"/>
            </a:avLst>
          </a:prstGeom>
          <a:solidFill>
            <a:srgbClr val="FFFFFF"/>
          </a:solidFill>
          <a:ln w="12700">
            <a:solidFill>
              <a:srgbClr val="BFDAEF"/>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300"/>
              </a:spcAft>
            </a:pPr>
            <a:r>
              <a:rPr b="1" i="0">
                <a:solidFill>
                  <a:srgbClr val="12263F"/>
                </a:solidFill>
                <a:latin typeface="Arial" panose="020B0604020202020204"/>
                <a:ea typeface="微软雅黑" panose="020B0503020204020204" charset="-122"/>
                <a:cs typeface="Arial" panose="020B0604020202020204"/>
              </a:rPr>
              <a:t>数据方 A</a:t>
            </a:r>
            <a:endParaRPr b="1" i="0">
              <a:solidFill>
                <a:srgbClr val="12263F"/>
              </a:solidFill>
              <a:latin typeface="Arial" panose="020B0604020202020204"/>
              <a:ea typeface="微软雅黑" panose="020B0503020204020204" charset="-122"/>
              <a:cs typeface="Arial" panose="020B0604020202020204"/>
            </a:endParaRPr>
          </a:p>
          <a:p>
            <a:pPr algn="ctr">
              <a:spcBef>
                <a:spcPts val="0"/>
              </a:spcBef>
              <a:spcAft>
                <a:spcPts val="400"/>
              </a:spcAft>
            </a:pPr>
            <a:r>
              <a:rPr sz="1400" b="0" i="0">
                <a:solidFill>
                  <a:srgbClr val="56606E"/>
                </a:solidFill>
                <a:latin typeface="Arial" panose="020B0604020202020204"/>
                <a:ea typeface="微软雅黑" panose="020B0503020204020204" charset="-122"/>
                <a:cs typeface="Arial" panose="020B0604020202020204"/>
              </a:rPr>
              <a:t>医院：病人影像</a:t>
            </a:r>
            <a:endParaRPr sz="1400" b="0" i="0">
              <a:solidFill>
                <a:srgbClr val="56606E"/>
              </a:solidFill>
              <a:latin typeface="Arial" panose="020B0604020202020204"/>
              <a:ea typeface="微软雅黑" panose="020B0503020204020204" charset="-122"/>
              <a:cs typeface="Arial" panose="020B0604020202020204"/>
            </a:endParaRPr>
          </a:p>
          <a:p>
            <a:pPr algn="ctr">
              <a:spcBef>
                <a:spcPts val="0"/>
              </a:spcBef>
              <a:spcAft>
                <a:spcPts val="0"/>
              </a:spcAft>
            </a:pPr>
            <a:r>
              <a:rPr sz="1400" b="1" i="0">
                <a:solidFill>
                  <a:srgbClr val="C0392B"/>
                </a:solidFill>
                <a:latin typeface="Arial" panose="020B0604020202020204"/>
                <a:ea typeface="微软雅黑" panose="020B0503020204020204" charset="-122"/>
                <a:cs typeface="Arial" panose="020B0604020202020204"/>
              </a:rPr>
              <a:t>数据不泄露</a:t>
            </a:r>
            <a:endParaRPr sz="1400" b="1" i="0">
              <a:solidFill>
                <a:srgbClr val="C0392B"/>
              </a:solidFill>
              <a:latin typeface="Arial" panose="020B0604020202020204"/>
              <a:ea typeface="微软雅黑" panose="020B0503020204020204" charset="-122"/>
              <a:cs typeface="Arial" panose="020B0604020202020204"/>
            </a:endParaRPr>
          </a:p>
        </p:txBody>
      </p:sp>
      <p:sp>
        <p:nvSpPr>
          <p:cNvPr id="10" name="Rounded Rectangle 9"/>
          <p:cNvSpPr/>
          <p:nvPr/>
        </p:nvSpPr>
        <p:spPr>
          <a:xfrm>
            <a:off x="2728595" y="2550160"/>
            <a:ext cx="1920240" cy="2497455"/>
          </a:xfrm>
          <a:prstGeom prst="roundRect">
            <a:avLst>
              <a:gd name="adj" fmla="val 10000"/>
            </a:avLst>
          </a:prstGeom>
          <a:solidFill>
            <a:srgbClr val="FFFFFF"/>
          </a:solidFill>
          <a:ln w="12700">
            <a:solidFill>
              <a:srgbClr val="BFDAEF"/>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300"/>
              </a:spcAft>
            </a:pPr>
            <a:r>
              <a:rPr b="1" i="0">
                <a:solidFill>
                  <a:srgbClr val="12263F"/>
                </a:solidFill>
                <a:latin typeface="Arial" panose="020B0604020202020204"/>
                <a:ea typeface="微软雅黑" panose="020B0503020204020204" charset="-122"/>
                <a:cs typeface="Arial" panose="020B0604020202020204"/>
              </a:rPr>
              <a:t>数据方 B</a:t>
            </a:r>
            <a:endParaRPr b="1" i="0">
              <a:solidFill>
                <a:srgbClr val="12263F"/>
              </a:solidFill>
              <a:latin typeface="Arial" panose="020B0604020202020204"/>
              <a:ea typeface="微软雅黑" panose="020B0503020204020204" charset="-122"/>
              <a:cs typeface="Arial" panose="020B0604020202020204"/>
            </a:endParaRPr>
          </a:p>
          <a:p>
            <a:pPr algn="ctr">
              <a:spcBef>
                <a:spcPts val="0"/>
              </a:spcBef>
              <a:spcAft>
                <a:spcPts val="400"/>
              </a:spcAft>
            </a:pPr>
            <a:r>
              <a:rPr sz="1400" b="0" i="0">
                <a:solidFill>
                  <a:srgbClr val="56606E"/>
                </a:solidFill>
                <a:latin typeface="Arial" panose="020B0604020202020204"/>
                <a:ea typeface="微软雅黑" panose="020B0503020204020204" charset="-122"/>
                <a:cs typeface="Arial" panose="020B0604020202020204"/>
              </a:rPr>
              <a:t>银行：交易记录</a:t>
            </a:r>
            <a:endParaRPr sz="1400" b="0" i="0">
              <a:solidFill>
                <a:srgbClr val="56606E"/>
              </a:solidFill>
              <a:latin typeface="Arial" panose="020B0604020202020204"/>
              <a:ea typeface="微软雅黑" panose="020B0503020204020204" charset="-122"/>
              <a:cs typeface="Arial" panose="020B0604020202020204"/>
            </a:endParaRPr>
          </a:p>
          <a:p>
            <a:pPr algn="ctr">
              <a:spcBef>
                <a:spcPts val="0"/>
              </a:spcBef>
              <a:spcAft>
                <a:spcPts val="0"/>
              </a:spcAft>
            </a:pPr>
            <a:r>
              <a:rPr sz="1400" b="1" i="0">
                <a:solidFill>
                  <a:srgbClr val="C0392B"/>
                </a:solidFill>
                <a:latin typeface="Arial" panose="020B0604020202020204"/>
                <a:ea typeface="微软雅黑" panose="020B0503020204020204" charset="-122"/>
                <a:cs typeface="Arial" panose="020B0604020202020204"/>
              </a:rPr>
              <a:t>数据不泄露</a:t>
            </a:r>
            <a:endParaRPr sz="1400" b="1" i="0">
              <a:solidFill>
                <a:srgbClr val="C0392B"/>
              </a:solidFill>
              <a:latin typeface="Arial" panose="020B0604020202020204"/>
              <a:ea typeface="微软雅黑" panose="020B0503020204020204" charset="-122"/>
              <a:cs typeface="Arial" panose="020B0604020202020204"/>
            </a:endParaRPr>
          </a:p>
        </p:txBody>
      </p:sp>
      <p:sp>
        <p:nvSpPr>
          <p:cNvPr id="11" name="Rounded Rectangle 10"/>
          <p:cNvSpPr/>
          <p:nvPr/>
        </p:nvSpPr>
        <p:spPr>
          <a:xfrm>
            <a:off x="4941570" y="2550160"/>
            <a:ext cx="1920240" cy="2498090"/>
          </a:xfrm>
          <a:prstGeom prst="roundRect">
            <a:avLst>
              <a:gd name="adj" fmla="val 10000"/>
            </a:avLst>
          </a:prstGeom>
          <a:solidFill>
            <a:srgbClr val="FFFFFF"/>
          </a:solidFill>
          <a:ln w="12700">
            <a:solidFill>
              <a:srgbClr val="BFDAEF"/>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300"/>
              </a:spcAft>
            </a:pPr>
            <a:r>
              <a:rPr b="1" i="0">
                <a:solidFill>
                  <a:srgbClr val="12263F"/>
                </a:solidFill>
                <a:latin typeface="Arial" panose="020B0604020202020204"/>
                <a:ea typeface="微软雅黑" panose="020B0503020204020204" charset="-122"/>
                <a:cs typeface="Arial" panose="020B0604020202020204"/>
              </a:rPr>
              <a:t>数据方 C</a:t>
            </a:r>
            <a:endParaRPr b="1" i="0">
              <a:solidFill>
                <a:srgbClr val="12263F"/>
              </a:solidFill>
              <a:latin typeface="Arial" panose="020B0604020202020204"/>
              <a:ea typeface="微软雅黑" panose="020B0503020204020204" charset="-122"/>
              <a:cs typeface="Arial" panose="020B0604020202020204"/>
            </a:endParaRPr>
          </a:p>
          <a:p>
            <a:pPr algn="ctr">
              <a:spcBef>
                <a:spcPts val="0"/>
              </a:spcBef>
              <a:spcAft>
                <a:spcPts val="400"/>
              </a:spcAft>
            </a:pPr>
            <a:r>
              <a:rPr sz="1400" b="0" i="0">
                <a:solidFill>
                  <a:srgbClr val="56606E"/>
                </a:solidFill>
                <a:latin typeface="Arial" panose="020B0604020202020204"/>
                <a:ea typeface="微软雅黑" panose="020B0503020204020204" charset="-122"/>
                <a:cs typeface="Arial" panose="020B0604020202020204"/>
              </a:rPr>
              <a:t>企业：用户画像</a:t>
            </a:r>
            <a:endParaRPr sz="1400" b="0" i="0">
              <a:solidFill>
                <a:srgbClr val="56606E"/>
              </a:solidFill>
              <a:latin typeface="Arial" panose="020B0604020202020204"/>
              <a:ea typeface="微软雅黑" panose="020B0503020204020204" charset="-122"/>
              <a:cs typeface="Arial" panose="020B0604020202020204"/>
            </a:endParaRPr>
          </a:p>
          <a:p>
            <a:pPr algn="ctr">
              <a:spcBef>
                <a:spcPts val="0"/>
              </a:spcBef>
              <a:spcAft>
                <a:spcPts val="0"/>
              </a:spcAft>
            </a:pPr>
            <a:r>
              <a:rPr sz="1400" b="1" i="0">
                <a:solidFill>
                  <a:srgbClr val="C0392B"/>
                </a:solidFill>
                <a:latin typeface="Arial" panose="020B0604020202020204"/>
                <a:ea typeface="微软雅黑" panose="020B0503020204020204" charset="-122"/>
                <a:cs typeface="Arial" panose="020B0604020202020204"/>
              </a:rPr>
              <a:t>数据不泄露</a:t>
            </a:r>
            <a:endParaRPr sz="1400" b="1" i="0">
              <a:solidFill>
                <a:srgbClr val="C0392B"/>
              </a:solidFill>
              <a:latin typeface="Arial" panose="020B0604020202020204"/>
              <a:ea typeface="微软雅黑" panose="020B0503020204020204" charset="-122"/>
              <a:cs typeface="Arial" panose="020B0604020202020204"/>
            </a:endParaRPr>
          </a:p>
        </p:txBody>
      </p:sp>
      <p:sp>
        <p:nvSpPr>
          <p:cNvPr id="12" name="Pentagon 11"/>
          <p:cNvSpPr/>
          <p:nvPr/>
        </p:nvSpPr>
        <p:spPr>
          <a:xfrm>
            <a:off x="7021195" y="3429000"/>
            <a:ext cx="845820" cy="381000"/>
          </a:xfrm>
          <a:prstGeom prst="homePlate">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b="1" i="0">
                <a:solidFill>
                  <a:srgbClr val="FFFFFF"/>
                </a:solidFill>
                <a:latin typeface="Arial" panose="020B0604020202020204"/>
                <a:ea typeface="微软雅黑" panose="020B0503020204020204" charset="-122"/>
                <a:cs typeface="Arial" panose="020B0604020202020204"/>
              </a:rPr>
              <a:t>MPC</a:t>
            </a:r>
            <a:endParaRPr b="1" i="0">
              <a:solidFill>
                <a:srgbClr val="FFFFFF"/>
              </a:solidFill>
              <a:latin typeface="Arial" panose="020B0604020202020204"/>
              <a:ea typeface="微软雅黑" panose="020B0503020204020204" charset="-122"/>
              <a:cs typeface="Arial" panose="020B0604020202020204"/>
            </a:endParaRPr>
          </a:p>
        </p:txBody>
      </p:sp>
      <p:sp>
        <p:nvSpPr>
          <p:cNvPr id="13" name="Rounded Rectangle 12"/>
          <p:cNvSpPr/>
          <p:nvPr/>
        </p:nvSpPr>
        <p:spPr>
          <a:xfrm>
            <a:off x="8050530" y="2550160"/>
            <a:ext cx="2843530" cy="2497455"/>
          </a:xfrm>
          <a:prstGeom prst="roundRect">
            <a:avLst>
              <a:gd name="adj" fmla="val 1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400"/>
              </a:spcAft>
            </a:pPr>
            <a:r>
              <a:rPr sz="1600" b="1" i="0">
                <a:solidFill>
                  <a:srgbClr val="C00000"/>
                </a:solidFill>
                <a:latin typeface="Arial" panose="020B0604020202020204"/>
                <a:ea typeface="微软雅黑" panose="020B0503020204020204" charset="-122"/>
                <a:cs typeface="Arial" panose="020B0604020202020204"/>
              </a:rPr>
              <a:t>3PC 复制秘密共享 (RSS)</a:t>
            </a:r>
            <a:endParaRPr sz="1600" b="1" i="0">
              <a:solidFill>
                <a:srgbClr val="C00000"/>
              </a:solidFill>
              <a:latin typeface="Arial" panose="020B0604020202020204"/>
              <a:ea typeface="微软雅黑" panose="020B0503020204020204" charset="-122"/>
              <a:cs typeface="Arial" panose="020B0604020202020204"/>
            </a:endParaRPr>
          </a:p>
          <a:p>
            <a:pPr algn="ctr">
              <a:spcBef>
                <a:spcPts val="0"/>
              </a:spcBef>
              <a:spcAft>
                <a:spcPts val="300"/>
              </a:spcAft>
            </a:pPr>
            <a:r>
              <a:rPr sz="1400" b="0" i="0">
                <a:solidFill>
                  <a:schemeClr val="tx1"/>
                </a:solidFill>
                <a:latin typeface="Arial" panose="020B0604020202020204"/>
                <a:ea typeface="微软雅黑" panose="020B0503020204020204" charset="-122"/>
                <a:cs typeface="Arial" panose="020B0604020202020204"/>
              </a:rPr>
              <a:t>x = r + m,   r = r₁ + r₂</a:t>
            </a:r>
            <a:endParaRPr sz="1400" b="0" i="0">
              <a:solidFill>
                <a:schemeClr val="tx1"/>
              </a:solidFill>
              <a:latin typeface="Arial" panose="020B0604020202020204"/>
              <a:ea typeface="微软雅黑" panose="020B0503020204020204" charset="-122"/>
              <a:cs typeface="Arial" panose="020B0604020202020204"/>
            </a:endParaRPr>
          </a:p>
          <a:p>
            <a:pPr algn="ctr">
              <a:spcBef>
                <a:spcPts val="0"/>
              </a:spcBef>
              <a:spcAft>
                <a:spcPts val="0"/>
              </a:spcAft>
            </a:pPr>
            <a:r>
              <a:rPr sz="1400" b="0" i="0">
                <a:solidFill>
                  <a:schemeClr val="tx1"/>
                </a:solidFill>
                <a:latin typeface="Arial" panose="020B0604020202020204"/>
                <a:ea typeface="微软雅黑" panose="020B0503020204020204" charset="-122"/>
                <a:cs typeface="Arial" panose="020B0604020202020204"/>
              </a:rPr>
              <a:t>P₀:(r₁,r₂)  P₁:(m, r₁)  P₂:(m, r₂)</a:t>
            </a:r>
            <a:endParaRPr sz="1400" b="0" i="0">
              <a:solidFill>
                <a:schemeClr val="tx1"/>
              </a:solidFill>
              <a:latin typeface="Arial" panose="020B0604020202020204"/>
              <a:ea typeface="微软雅黑" panose="020B0503020204020204" charset="-122"/>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一、研究背景</a:t>
            </a:r>
            <a:endParaRPr lang="zh-CN" altLang="en-US"/>
          </a:p>
        </p:txBody>
      </p:sp>
      <p:sp>
        <p:nvSpPr>
          <p:cNvPr id="15" name="Rounded Rectangle 14"/>
          <p:cNvSpPr/>
          <p:nvPr>
            <p:custDataLst>
              <p:tags r:id="rId1"/>
            </p:custDataLst>
          </p:nvPr>
        </p:nvSpPr>
        <p:spPr>
          <a:xfrm>
            <a:off x="379095" y="2219325"/>
            <a:ext cx="5343525" cy="2832100"/>
          </a:xfrm>
          <a:prstGeom prst="roundRect">
            <a:avLst>
              <a:gd name="adj" fmla="val 10000"/>
            </a:avLst>
          </a:prstGeom>
          <a:solidFill>
            <a:srgbClr val="F4F6F9"/>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00584" bIns="36576" rtlCol="0" anchor="ctr"/>
          <a:lstStyle/>
          <a:p>
            <a:pPr algn="l">
              <a:lnSpc>
                <a:spcPct val="103000"/>
              </a:lnSpc>
              <a:spcBef>
                <a:spcPts val="0"/>
              </a:spcBef>
              <a:spcAft>
                <a:spcPts val="0"/>
              </a:spcAft>
            </a:pPr>
            <a:endParaRPr lang="zh-CN" altLang="en-US" sz="1600" b="0" i="0">
              <a:solidFill>
                <a:srgbClr val="56606E"/>
              </a:solidFill>
              <a:latin typeface="Arial" panose="020B0604020202020204"/>
              <a:ea typeface="微软雅黑" panose="020B0503020204020204" charset="-122"/>
              <a:cs typeface="Arial" panose="020B0604020202020204"/>
            </a:endParaRPr>
          </a:p>
          <a:p>
            <a:pPr algn="l">
              <a:lnSpc>
                <a:spcPct val="103000"/>
              </a:lnSpc>
              <a:spcBef>
                <a:spcPts val="0"/>
              </a:spcBef>
              <a:spcAft>
                <a:spcPts val="0"/>
              </a:spcAft>
            </a:pPr>
            <a:r>
              <a:rPr lang="zh-CN" altLang="en-US" b="0" i="0">
                <a:solidFill>
                  <a:srgbClr val="56606E"/>
                </a:solidFill>
                <a:latin typeface="Arial" panose="020B0604020202020204"/>
                <a:ea typeface="微软雅黑" panose="020B0503020204020204" charset="-122"/>
                <a:cs typeface="Arial" panose="020B0604020202020204"/>
              </a:rPr>
              <a:t>大部分协议只考虑半诚实攻击模型，</a:t>
            </a:r>
            <a:r>
              <a:rPr lang="zh-CN" b="0" i="0">
                <a:solidFill>
                  <a:srgbClr val="56606E"/>
                </a:solidFill>
                <a:latin typeface="Arial" panose="020B0604020202020204"/>
                <a:ea typeface="微软雅黑" panose="020B0503020204020204" charset="-122"/>
                <a:cs typeface="Arial" panose="020B0604020202020204"/>
              </a:rPr>
              <a:t>现实中</a:t>
            </a:r>
            <a:r>
              <a:rPr b="0" i="0">
                <a:solidFill>
                  <a:srgbClr val="56606E"/>
                </a:solidFill>
                <a:latin typeface="Arial" panose="020B0604020202020204"/>
                <a:ea typeface="微软雅黑" panose="020B0503020204020204" charset="-122"/>
                <a:cs typeface="Arial" panose="020B0604020202020204"/>
              </a:rPr>
              <a:t>服务器可能主动作弊（篡改份额、伪造重构结果），</a:t>
            </a:r>
            <a:r>
              <a:rPr lang="zh-CN" altLang="en-US" b="0" i="0">
                <a:solidFill>
                  <a:srgbClr val="56606E"/>
                </a:solidFill>
                <a:latin typeface="Arial" panose="020B0604020202020204"/>
                <a:ea typeface="微软雅黑" panose="020B0503020204020204" charset="-122"/>
                <a:cs typeface="Arial" panose="020B0604020202020204"/>
              </a:rPr>
              <a:t>因此，协议必须具备</a:t>
            </a:r>
            <a:r>
              <a:rPr lang="zh-CN" altLang="en-US" b="1" i="0">
                <a:solidFill>
                  <a:srgbClr val="56606E"/>
                </a:solidFill>
                <a:latin typeface="Arial" panose="020B0604020202020204"/>
                <a:ea typeface="微软雅黑" panose="020B0503020204020204" charset="-122"/>
                <a:cs typeface="Arial" panose="020B0604020202020204"/>
              </a:rPr>
              <a:t>恶意安全</a:t>
            </a:r>
            <a:endParaRPr lang="zh-CN" altLang="en-US" b="1" i="0">
              <a:solidFill>
                <a:srgbClr val="56606E"/>
              </a:solidFill>
              <a:latin typeface="Arial" panose="020B0604020202020204"/>
              <a:ea typeface="微软雅黑" panose="020B0503020204020204" charset="-122"/>
              <a:cs typeface="Arial" panose="020B0604020202020204"/>
            </a:endParaRPr>
          </a:p>
        </p:txBody>
      </p:sp>
      <p:sp>
        <p:nvSpPr>
          <p:cNvPr id="16" name="Rounded Rectangle 15"/>
          <p:cNvSpPr/>
          <p:nvPr>
            <p:custDataLst>
              <p:tags r:id="rId2"/>
            </p:custDataLst>
          </p:nvPr>
        </p:nvSpPr>
        <p:spPr>
          <a:xfrm>
            <a:off x="6096635" y="2223770"/>
            <a:ext cx="5344160" cy="2832100"/>
          </a:xfrm>
          <a:prstGeom prst="roundRect">
            <a:avLst>
              <a:gd name="adj" fmla="val 10000"/>
            </a:avLst>
          </a:prstGeom>
          <a:solidFill>
            <a:srgbClr val="F4F6F9"/>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00584" bIns="36576" rtlCol="0" anchor="ctr"/>
          <a:lstStyle/>
          <a:p>
            <a:pPr algn="l">
              <a:lnSpc>
                <a:spcPct val="103000"/>
              </a:lnSpc>
              <a:spcBef>
                <a:spcPts val="0"/>
              </a:spcBef>
              <a:spcAft>
                <a:spcPts val="0"/>
              </a:spcAft>
            </a:pPr>
            <a:r>
              <a:rPr lang="zh-CN" altLang="en-US" b="0" i="0">
                <a:solidFill>
                  <a:srgbClr val="56606E"/>
                </a:solidFill>
                <a:latin typeface="Arial" panose="020B0604020202020204"/>
                <a:ea typeface="微软雅黑" panose="020B0503020204020204" charset="-122"/>
                <a:cs typeface="Arial" panose="020B0604020202020204"/>
              </a:rPr>
              <a:t>恶意安全协议通信开销过大，</a:t>
            </a:r>
            <a:r>
              <a:rPr b="0" i="0">
                <a:solidFill>
                  <a:srgbClr val="56606E"/>
                </a:solidFill>
                <a:latin typeface="Arial" panose="020B0604020202020204"/>
                <a:ea typeface="微软雅黑" panose="020B0503020204020204" charset="-122"/>
                <a:cs typeface="Arial" panose="020B0604020202020204"/>
              </a:rPr>
              <a:t>云平台上通信成本 ≫ 计算成本，因此</a:t>
            </a:r>
            <a:r>
              <a:rPr b="1" i="0">
                <a:solidFill>
                  <a:srgbClr val="56606E"/>
                </a:solidFill>
                <a:latin typeface="Arial" panose="020B0604020202020204"/>
                <a:ea typeface="微软雅黑" panose="020B0503020204020204" charset="-122"/>
                <a:cs typeface="Arial" panose="020B0604020202020204"/>
              </a:rPr>
              <a:t>降低通信量</a:t>
            </a:r>
            <a:r>
              <a:rPr b="0" i="0">
                <a:solidFill>
                  <a:srgbClr val="56606E"/>
                </a:solidFill>
                <a:latin typeface="Arial" panose="020B0604020202020204"/>
                <a:ea typeface="微软雅黑" panose="020B0503020204020204" charset="-122"/>
                <a:cs typeface="Arial" panose="020B0604020202020204"/>
              </a:rPr>
              <a:t>比降低计算量更有价值。</a:t>
            </a:r>
            <a:endParaRPr b="0" i="0">
              <a:solidFill>
                <a:srgbClr val="56606E"/>
              </a:solidFill>
              <a:latin typeface="Arial" panose="020B0604020202020204"/>
              <a:ea typeface="微软雅黑" panose="020B0503020204020204" charset="-122"/>
              <a:cs typeface="Arial" panose="020B0604020202020204"/>
            </a:endParaRPr>
          </a:p>
        </p:txBody>
      </p:sp>
      <p:sp>
        <p:nvSpPr>
          <p:cNvPr id="2" name="文本框 1"/>
          <p:cNvSpPr txBox="1"/>
          <p:nvPr/>
        </p:nvSpPr>
        <p:spPr>
          <a:xfrm>
            <a:off x="187960" y="983615"/>
            <a:ext cx="11506835" cy="829945"/>
          </a:xfrm>
          <a:prstGeom prst="rect">
            <a:avLst/>
          </a:prstGeom>
          <a:noFill/>
        </p:spPr>
        <p:txBody>
          <a:bodyPr wrap="square" rtlCol="0" anchor="t">
            <a:spAutoFit/>
          </a:bodyPr>
          <a:p>
            <a:r>
              <a:rPr lang="en-US" altLang="zh-CN" sz="2400" b="1">
                <a:solidFill>
                  <a:srgbClr val="C0392B"/>
                </a:solidFill>
                <a:latin typeface="Arial" panose="020B0604020202020204"/>
                <a:ea typeface="微软雅黑" panose="020B0503020204020204" charset="-122"/>
                <a:cs typeface="Arial" panose="020B0604020202020204"/>
                <a:sym typeface="+mn-ea"/>
              </a:rPr>
              <a:t>PPML</a:t>
            </a:r>
            <a:r>
              <a:rPr lang="zh-CN" altLang="en-US" sz="2400" b="1">
                <a:solidFill>
                  <a:srgbClr val="C0392B"/>
                </a:solidFill>
                <a:latin typeface="Arial" panose="020B0604020202020204"/>
                <a:ea typeface="微软雅黑" panose="020B0503020204020204" charset="-122"/>
                <a:cs typeface="Arial" panose="020B0604020202020204"/>
                <a:sym typeface="+mn-ea"/>
              </a:rPr>
              <a:t>优化目标：</a:t>
            </a:r>
            <a:r>
              <a:rPr lang="zh-CN" altLang="en-US" sz="2400" b="1">
                <a:solidFill>
                  <a:schemeClr val="tx1"/>
                </a:solidFill>
                <a:latin typeface="Arial" panose="020B0604020202020204"/>
                <a:ea typeface="微软雅黑" panose="020B0503020204020204" charset="-122"/>
                <a:cs typeface="Arial" panose="020B0604020202020204"/>
                <a:sym typeface="+mn-ea"/>
              </a:rPr>
              <a:t>设计一个通信高效、且能抵御恶意攻击的</a:t>
            </a:r>
            <a:r>
              <a:rPr lang="en-US" altLang="zh-CN" sz="2400" b="1">
                <a:solidFill>
                  <a:schemeClr val="tx1"/>
                </a:solidFill>
                <a:latin typeface="Arial" panose="020B0604020202020204"/>
                <a:ea typeface="微软雅黑" panose="020B0503020204020204" charset="-122"/>
                <a:cs typeface="Arial" panose="020B0604020202020204"/>
                <a:sym typeface="+mn-ea"/>
              </a:rPr>
              <a:t>PPML</a:t>
            </a:r>
            <a:r>
              <a:rPr lang="zh-CN" altLang="en-US" sz="2400" b="1">
                <a:solidFill>
                  <a:schemeClr val="tx1"/>
                </a:solidFill>
                <a:latin typeface="Arial" panose="020B0604020202020204"/>
                <a:ea typeface="微软雅黑" panose="020B0503020204020204" charset="-122"/>
                <a:cs typeface="Arial" panose="020B0604020202020204"/>
                <a:sym typeface="+mn-ea"/>
              </a:rPr>
              <a:t>框架，使其性能接近半诚实（</a:t>
            </a:r>
            <a:r>
              <a:rPr lang="en-US" altLang="zh-CN" sz="2400" b="1">
                <a:solidFill>
                  <a:schemeClr val="tx1"/>
                </a:solidFill>
                <a:latin typeface="Arial" panose="020B0604020202020204"/>
                <a:ea typeface="微软雅黑" panose="020B0503020204020204" charset="-122"/>
                <a:cs typeface="Arial" panose="020B0604020202020204"/>
                <a:sym typeface="+mn-ea"/>
              </a:rPr>
              <a:t>Semi-honest）</a:t>
            </a:r>
            <a:r>
              <a:rPr lang="zh-CN" altLang="en-US" sz="2400" b="1">
                <a:solidFill>
                  <a:schemeClr val="tx1"/>
                </a:solidFill>
                <a:latin typeface="Arial" panose="020B0604020202020204"/>
                <a:ea typeface="微软雅黑" panose="020B0503020204020204" charset="-122"/>
                <a:cs typeface="Arial" panose="020B0604020202020204"/>
                <a:sym typeface="+mn-ea"/>
              </a:rPr>
              <a:t>场景下的协议。</a:t>
            </a:r>
            <a:endParaRPr lang="zh-CN" altLang="en-US" sz="2400" b="1">
              <a:solidFill>
                <a:schemeClr val="tx1"/>
              </a:solidFill>
              <a:latin typeface="Arial" panose="020B0604020202020204"/>
              <a:ea typeface="微软雅黑" panose="020B0503020204020204" charset="-122"/>
              <a:cs typeface="Arial" panose="020B0604020202020204"/>
              <a:sym typeface="+mn-ea"/>
            </a:endParaRPr>
          </a:p>
        </p:txBody>
      </p:sp>
      <p:sp>
        <p:nvSpPr>
          <p:cNvPr id="5" name="文本框 4"/>
          <p:cNvSpPr txBox="1"/>
          <p:nvPr>
            <p:custDataLst>
              <p:tags r:id="rId3"/>
            </p:custDataLst>
          </p:nvPr>
        </p:nvSpPr>
        <p:spPr>
          <a:xfrm>
            <a:off x="543560" y="2471420"/>
            <a:ext cx="5005705" cy="421005"/>
          </a:xfrm>
          <a:prstGeom prst="rect">
            <a:avLst/>
          </a:prstGeom>
          <a:noFill/>
        </p:spPr>
        <p:txBody>
          <a:bodyPr wrap="square" rtlCol="0" anchor="t">
            <a:noAutofit/>
          </a:bodyPr>
          <a:p>
            <a:pPr algn="l">
              <a:spcBef>
                <a:spcPts val="0"/>
              </a:spcBef>
              <a:spcAft>
                <a:spcPts val="500"/>
              </a:spcAft>
            </a:pPr>
            <a:r>
              <a:rPr sz="2400" b="1">
                <a:solidFill>
                  <a:srgbClr val="1F6FB2"/>
                </a:solidFill>
                <a:latin typeface="Arial" panose="020B0604020202020204"/>
                <a:ea typeface="微软雅黑" panose="020B0503020204020204" charset="-122"/>
                <a:cs typeface="Arial" panose="020B0604020202020204"/>
                <a:sym typeface="+mn-ea"/>
              </a:rPr>
              <a:t>▪  </a:t>
            </a:r>
            <a:r>
              <a:rPr sz="2400" b="1">
                <a:solidFill>
                  <a:srgbClr val="12263F"/>
                </a:solidFill>
                <a:latin typeface="Arial" panose="020B0604020202020204"/>
                <a:ea typeface="微软雅黑" panose="020B0503020204020204" charset="-122"/>
                <a:cs typeface="Arial" panose="020B0604020202020204"/>
                <a:sym typeface="+mn-ea"/>
              </a:rPr>
              <a:t>恶意安全是真实</a:t>
            </a:r>
            <a:r>
              <a:rPr lang="zh-CN" sz="2400" b="1">
                <a:solidFill>
                  <a:srgbClr val="12263F"/>
                </a:solidFill>
                <a:latin typeface="Arial" panose="020B0604020202020204"/>
                <a:ea typeface="微软雅黑" panose="020B0503020204020204" charset="-122"/>
                <a:cs typeface="Arial" panose="020B0604020202020204"/>
                <a:sym typeface="+mn-ea"/>
              </a:rPr>
              <a:t>场景的硬需求</a:t>
            </a:r>
            <a:endParaRPr lang="zh-CN" sz="2400" b="1">
              <a:solidFill>
                <a:srgbClr val="12263F"/>
              </a:solidFill>
              <a:latin typeface="Arial" panose="020B0604020202020204"/>
              <a:ea typeface="微软雅黑" panose="020B0503020204020204" charset="-122"/>
              <a:cs typeface="Arial" panose="020B0604020202020204"/>
              <a:sym typeface="+mn-ea"/>
            </a:endParaRPr>
          </a:p>
        </p:txBody>
      </p:sp>
      <p:sp>
        <p:nvSpPr>
          <p:cNvPr id="6" name="文本框 5"/>
          <p:cNvSpPr txBox="1"/>
          <p:nvPr>
            <p:custDataLst>
              <p:tags r:id="rId4"/>
            </p:custDataLst>
          </p:nvPr>
        </p:nvSpPr>
        <p:spPr>
          <a:xfrm>
            <a:off x="6435090" y="2471420"/>
            <a:ext cx="5005705" cy="527685"/>
          </a:xfrm>
          <a:prstGeom prst="rect">
            <a:avLst/>
          </a:prstGeom>
          <a:noFill/>
        </p:spPr>
        <p:txBody>
          <a:bodyPr wrap="square" rtlCol="0" anchor="t">
            <a:noAutofit/>
          </a:bodyPr>
          <a:p>
            <a:pPr algn="l">
              <a:spcBef>
                <a:spcPts val="0"/>
              </a:spcBef>
              <a:spcAft>
                <a:spcPts val="500"/>
              </a:spcAft>
            </a:pPr>
            <a:r>
              <a:rPr sz="2400" b="1">
                <a:solidFill>
                  <a:srgbClr val="1F6FB2"/>
                </a:solidFill>
                <a:latin typeface="Arial" panose="020B0604020202020204"/>
                <a:ea typeface="微软雅黑" panose="020B0503020204020204" charset="-122"/>
                <a:cs typeface="Arial" panose="020B0604020202020204"/>
                <a:sym typeface="+mn-ea"/>
              </a:rPr>
              <a:t>▪  </a:t>
            </a:r>
            <a:r>
              <a:rPr sz="2400" b="1">
                <a:solidFill>
                  <a:srgbClr val="12263F"/>
                </a:solidFill>
                <a:latin typeface="Arial" panose="020B0604020202020204"/>
                <a:ea typeface="微软雅黑" panose="020B0503020204020204" charset="-122"/>
                <a:cs typeface="Arial" panose="020B0604020202020204"/>
                <a:sym typeface="+mn-ea"/>
              </a:rPr>
              <a:t>成本结构决定了优化目标</a:t>
            </a:r>
            <a:endParaRPr lang="zh-CN" altLang="en-US" sz="2400" b="1">
              <a:solidFill>
                <a:srgbClr val="12263F"/>
              </a:solidFill>
              <a:latin typeface="Arial" panose="020B0604020202020204"/>
              <a:ea typeface="微软雅黑" panose="020B0503020204020204" charset="-122"/>
              <a:cs typeface="Arial" panose="020B0604020202020204"/>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二、研究</a:t>
            </a:r>
            <a:r>
              <a:rPr lang="zh-CN" altLang="en-US"/>
              <a:t>内容</a:t>
            </a:r>
            <a:endParaRPr lang="zh-CN" altLang="en-US"/>
          </a:p>
        </p:txBody>
      </p:sp>
      <p:sp>
        <p:nvSpPr>
          <p:cNvPr id="9" name="Rounded Rectangle 8"/>
          <p:cNvSpPr/>
          <p:nvPr>
            <p:custDataLst>
              <p:tags r:id="rId1"/>
            </p:custDataLst>
          </p:nvPr>
        </p:nvSpPr>
        <p:spPr>
          <a:xfrm>
            <a:off x="461010" y="2270125"/>
            <a:ext cx="3520440" cy="341503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endParaRPr lang="zh-CN" altLang="en-US"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lang="zh-CN" altLang="en-US"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lang="zh-CN" altLang="en-US"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r>
              <a:rPr lang="zh-CN" altLang="en-US" sz="2000" i="0">
                <a:solidFill>
                  <a:schemeClr val="tx1"/>
                </a:solidFill>
                <a:latin typeface="Arial" panose="020B0604020202020204"/>
                <a:ea typeface="微软雅黑" panose="020B0503020204020204" charset="-122"/>
                <a:cs typeface="Arial" panose="020B0604020202020204"/>
              </a:rPr>
              <a:t>环上不可逆元素导致域上技术失效</a:t>
            </a:r>
            <a:r>
              <a:rPr sz="2000" i="0">
                <a:solidFill>
                  <a:schemeClr val="tx1"/>
                </a:solidFill>
                <a:latin typeface="Arial" panose="020B0604020202020204"/>
                <a:ea typeface="微软雅黑" panose="020B0503020204020204" charset="-122"/>
                <a:cs typeface="Arial" panose="020B0604020202020204"/>
              </a:rPr>
              <a:t>→ 需要一个新的、对加法攻击安全的验证代数结构</a:t>
            </a:r>
            <a:r>
              <a:rPr sz="2000" b="1" i="0">
                <a:solidFill>
                  <a:schemeClr val="tx1"/>
                </a:solidFill>
                <a:latin typeface="Arial" panose="020B0604020202020204"/>
                <a:ea typeface="微软雅黑" panose="020B0503020204020204" charset="-122"/>
                <a:cs typeface="Arial" panose="020B0604020202020204"/>
              </a:rPr>
              <a:t>。</a:t>
            </a:r>
            <a:endParaRPr sz="2000" b="1" i="0">
              <a:solidFill>
                <a:schemeClr val="tx1"/>
              </a:solidFill>
              <a:latin typeface="Arial" panose="020B0604020202020204"/>
              <a:ea typeface="微软雅黑" panose="020B0503020204020204" charset="-122"/>
              <a:cs typeface="Arial" panose="020B0604020202020204"/>
            </a:endParaRPr>
          </a:p>
        </p:txBody>
      </p:sp>
      <p:sp>
        <p:nvSpPr>
          <p:cNvPr id="10" name="Rounded Rectangle 9"/>
          <p:cNvSpPr/>
          <p:nvPr>
            <p:custDataLst>
              <p:tags r:id="rId2"/>
            </p:custDataLst>
          </p:nvPr>
        </p:nvSpPr>
        <p:spPr>
          <a:xfrm>
            <a:off x="4210050" y="2270125"/>
            <a:ext cx="3520440" cy="3422015"/>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endParaRPr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r>
              <a:rPr sz="2000" i="0">
                <a:solidFill>
                  <a:schemeClr val="tx1"/>
                </a:solidFill>
                <a:latin typeface="Arial" panose="020B0604020202020204"/>
                <a:ea typeface="微软雅黑" panose="020B0503020204020204" charset="-122"/>
                <a:cs typeface="Arial" panose="020B0604020202020204"/>
              </a:rPr>
              <a:t>逐门验证代价</a:t>
            </a:r>
            <a:r>
              <a:rPr lang="zh-CN" sz="2000" i="0">
                <a:solidFill>
                  <a:schemeClr val="tx1"/>
                </a:solidFill>
                <a:latin typeface="Arial" panose="020B0604020202020204"/>
                <a:ea typeface="微软雅黑" panose="020B0503020204020204" charset="-122"/>
                <a:cs typeface="Arial" panose="020B0604020202020204"/>
              </a:rPr>
              <a:t>高</a:t>
            </a:r>
            <a:endParaRPr sz="200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r>
              <a:rPr sz="2000" i="0">
                <a:solidFill>
                  <a:schemeClr val="tx1"/>
                </a:solidFill>
                <a:latin typeface="Arial" panose="020B0604020202020204"/>
                <a:ea typeface="微软雅黑" panose="020B0503020204020204" charset="-122"/>
                <a:cs typeface="Arial" panose="020B0604020202020204"/>
              </a:rPr>
              <a:t>→</a:t>
            </a:r>
            <a:r>
              <a:rPr lang="zh-CN" sz="2000" i="0">
                <a:solidFill>
                  <a:schemeClr val="tx1"/>
                </a:solidFill>
                <a:latin typeface="Arial" panose="020B0604020202020204"/>
                <a:ea typeface="微软雅黑" panose="020B0503020204020204" charset="-122"/>
                <a:cs typeface="Arial" panose="020B0604020202020204"/>
              </a:rPr>
              <a:t>必须</a:t>
            </a:r>
            <a:r>
              <a:rPr lang="zh-CN" altLang="en-US" sz="2000" i="0">
                <a:solidFill>
                  <a:schemeClr val="tx1"/>
                </a:solidFill>
                <a:latin typeface="Arial" panose="020B0604020202020204"/>
                <a:ea typeface="微软雅黑" panose="020B0503020204020204" charset="-122"/>
                <a:cs typeface="Arial" panose="020B0604020202020204"/>
              </a:rPr>
              <a:t>设计批量验证机制</a:t>
            </a:r>
            <a:r>
              <a:rPr sz="2000" i="0">
                <a:solidFill>
                  <a:schemeClr val="tx1"/>
                </a:solidFill>
                <a:latin typeface="Arial" panose="020B0604020202020204"/>
                <a:ea typeface="微软雅黑" panose="020B0503020204020204" charset="-122"/>
                <a:cs typeface="Arial" panose="020B0604020202020204"/>
              </a:rPr>
              <a:t>能否把 |G| 个等式</a:t>
            </a:r>
            <a:r>
              <a:rPr lang="en-US" sz="2000" i="0">
                <a:solidFill>
                  <a:schemeClr val="tx1"/>
                </a:solidFill>
                <a:latin typeface="Arial" panose="020B0604020202020204"/>
                <a:ea typeface="微软雅黑" panose="020B0503020204020204" charset="-122"/>
                <a:cs typeface="Arial" panose="020B0604020202020204"/>
              </a:rPr>
              <a:t>“</a:t>
            </a:r>
            <a:r>
              <a:rPr sz="2000" i="0">
                <a:solidFill>
                  <a:schemeClr val="tx1"/>
                </a:solidFill>
                <a:latin typeface="Arial" panose="020B0604020202020204"/>
                <a:ea typeface="微软雅黑" panose="020B0503020204020204" charset="-122"/>
                <a:cs typeface="Arial" panose="020B0604020202020204"/>
              </a:rPr>
              <a:t>打包</a:t>
            </a:r>
            <a:r>
              <a:rPr lang="en-US" sz="2000" i="0">
                <a:solidFill>
                  <a:schemeClr val="tx1"/>
                </a:solidFill>
                <a:latin typeface="Arial" panose="020B0604020202020204"/>
                <a:ea typeface="微软雅黑" panose="020B0503020204020204" charset="-122"/>
                <a:cs typeface="Arial" panose="020B0604020202020204"/>
              </a:rPr>
              <a:t>”</a:t>
            </a:r>
            <a:r>
              <a:rPr sz="2000" i="0">
                <a:solidFill>
                  <a:schemeClr val="tx1"/>
                </a:solidFill>
                <a:latin typeface="Arial" panose="020B0604020202020204"/>
                <a:ea typeface="微软雅黑" panose="020B0503020204020204" charset="-122"/>
                <a:cs typeface="Arial" panose="020B0604020202020204"/>
              </a:rPr>
              <a:t>成 1 个内积，再逐轮减半</a:t>
            </a:r>
            <a:r>
              <a:rPr lang="zh-CN" sz="2000" i="0">
                <a:solidFill>
                  <a:schemeClr val="tx1"/>
                </a:solidFill>
                <a:latin typeface="Arial" panose="020B0604020202020204"/>
                <a:ea typeface="微软雅黑" panose="020B0503020204020204" charset="-122"/>
                <a:cs typeface="Arial" panose="020B0604020202020204"/>
              </a:rPr>
              <a:t>。</a:t>
            </a:r>
            <a:endParaRPr lang="zh-CN" sz="2000" i="0">
              <a:solidFill>
                <a:schemeClr val="tx1"/>
              </a:solidFill>
              <a:latin typeface="Arial" panose="020B0604020202020204"/>
              <a:ea typeface="微软雅黑" panose="020B0503020204020204" charset="-122"/>
              <a:cs typeface="Arial" panose="020B0604020202020204"/>
            </a:endParaRPr>
          </a:p>
        </p:txBody>
      </p:sp>
      <p:sp>
        <p:nvSpPr>
          <p:cNvPr id="11" name="Rounded Rectangle 10"/>
          <p:cNvSpPr/>
          <p:nvPr>
            <p:custDataLst>
              <p:tags r:id="rId3"/>
            </p:custDataLst>
          </p:nvPr>
        </p:nvSpPr>
        <p:spPr>
          <a:xfrm>
            <a:off x="7959090" y="2270760"/>
            <a:ext cx="3520440" cy="3408045"/>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endParaRPr sz="2000" b="0" i="0">
              <a:solidFill>
                <a:srgbClr val="56606E"/>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sz="2000" b="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sz="2000" b="0"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r>
              <a:rPr sz="2000" b="0" i="0">
                <a:solidFill>
                  <a:schemeClr val="tx1"/>
                </a:solidFill>
                <a:latin typeface="Arial" panose="020B0604020202020204"/>
                <a:ea typeface="微软雅黑" panose="020B0503020204020204" charset="-122"/>
                <a:cs typeface="Arial" panose="020B0604020202020204"/>
              </a:rPr>
              <a:t>算术环 ↔ 二进制域的转换、定点截断，都要在恶意模型下正确且不额外增加通信。</a:t>
            </a:r>
            <a:endParaRPr sz="2000" b="0" i="0">
              <a:solidFill>
                <a:schemeClr val="tx1"/>
              </a:solidFill>
              <a:latin typeface="Arial" panose="020B0604020202020204"/>
              <a:ea typeface="微软雅黑" panose="020B0503020204020204" charset="-122"/>
              <a:cs typeface="Arial" panose="020B0604020202020204"/>
            </a:endParaRPr>
          </a:p>
        </p:txBody>
      </p:sp>
      <p:sp>
        <p:nvSpPr>
          <p:cNvPr id="3" name="文本框 2"/>
          <p:cNvSpPr txBox="1"/>
          <p:nvPr>
            <p:custDataLst>
              <p:tags r:id="rId4"/>
            </p:custDataLst>
          </p:nvPr>
        </p:nvSpPr>
        <p:spPr>
          <a:xfrm>
            <a:off x="520700" y="2614295"/>
            <a:ext cx="3273425" cy="729615"/>
          </a:xfrm>
          <a:prstGeom prst="rect">
            <a:avLst/>
          </a:prstGeom>
          <a:noFill/>
        </p:spPr>
        <p:txBody>
          <a:bodyPr wrap="square" rtlCol="0" anchor="t">
            <a:noAutofit/>
          </a:bodyPr>
          <a:p>
            <a:pPr algn="l">
              <a:spcBef>
                <a:spcPts val="0"/>
              </a:spcBef>
              <a:spcAft>
                <a:spcPts val="700"/>
              </a:spcAft>
            </a:pPr>
            <a:r>
              <a:rPr sz="2400" b="1">
                <a:solidFill>
                  <a:srgbClr val="1F6FB2"/>
                </a:solidFill>
                <a:latin typeface="Arial" panose="020B0604020202020204"/>
                <a:ea typeface="微软雅黑" panose="020B0503020204020204" charset="-122"/>
                <a:cs typeface="Arial" panose="020B0604020202020204"/>
                <a:sym typeface="+mn-ea"/>
              </a:rPr>
              <a:t>Q1  </a:t>
            </a:r>
            <a:r>
              <a:rPr lang="zh-CN" altLang="en-US" sz="2400" b="1">
                <a:solidFill>
                  <a:srgbClr val="1F6FB2"/>
                </a:solidFill>
                <a:latin typeface="Arial" panose="020B0604020202020204"/>
                <a:ea typeface="微软雅黑" panose="020B0503020204020204" charset="-122"/>
                <a:cs typeface="Arial" panose="020B0604020202020204"/>
                <a:sym typeface="+mn-ea"/>
              </a:rPr>
              <a:t>代数结构：环上恶意安全验证困难</a:t>
            </a:r>
            <a:endParaRPr lang="zh-CN" altLang="en-US" sz="2400" b="1">
              <a:solidFill>
                <a:srgbClr val="1F6FB2"/>
              </a:solidFill>
              <a:latin typeface="Arial" panose="020B0604020202020204"/>
              <a:ea typeface="微软雅黑" panose="020B0503020204020204" charset="-122"/>
              <a:cs typeface="Arial" panose="020B0604020202020204"/>
              <a:sym typeface="+mn-ea"/>
            </a:endParaRPr>
          </a:p>
        </p:txBody>
      </p:sp>
      <p:sp>
        <p:nvSpPr>
          <p:cNvPr id="5" name="文本框 4"/>
          <p:cNvSpPr txBox="1"/>
          <p:nvPr>
            <p:custDataLst>
              <p:tags r:id="rId5"/>
            </p:custDataLst>
          </p:nvPr>
        </p:nvSpPr>
        <p:spPr>
          <a:xfrm>
            <a:off x="4176395" y="2614295"/>
            <a:ext cx="3587115" cy="814705"/>
          </a:xfrm>
          <a:prstGeom prst="rect">
            <a:avLst/>
          </a:prstGeom>
          <a:noFill/>
        </p:spPr>
        <p:txBody>
          <a:bodyPr wrap="square" rtlCol="0" anchor="t">
            <a:noAutofit/>
          </a:bodyPr>
          <a:p>
            <a:pPr algn="l">
              <a:spcBef>
                <a:spcPts val="0"/>
              </a:spcBef>
              <a:spcAft>
                <a:spcPts val="700"/>
              </a:spcAft>
            </a:pPr>
            <a:r>
              <a:rPr sz="2400" b="1">
                <a:solidFill>
                  <a:srgbClr val="C57418"/>
                </a:solidFill>
                <a:latin typeface="Arial" panose="020B0604020202020204"/>
                <a:ea typeface="微软雅黑" panose="020B0503020204020204" charset="-122"/>
                <a:cs typeface="Arial" panose="020B0604020202020204"/>
                <a:sym typeface="+mn-ea"/>
              </a:rPr>
              <a:t>Q2  </a:t>
            </a:r>
            <a:r>
              <a:rPr lang="zh-CN" altLang="en-US" sz="2400" b="1">
                <a:solidFill>
                  <a:srgbClr val="C57418"/>
                </a:solidFill>
                <a:latin typeface="Arial" panose="020B0604020202020204"/>
                <a:ea typeface="微软雅黑" panose="020B0503020204020204" charset="-122"/>
                <a:cs typeface="Arial" panose="020B0604020202020204"/>
                <a:sym typeface="+mn-ea"/>
              </a:rPr>
              <a:t>通信量问题：</a:t>
            </a:r>
            <a:r>
              <a:rPr lang="zh-CN" altLang="en-US" sz="2400" b="1">
                <a:solidFill>
                  <a:srgbClr val="C57418"/>
                </a:solidFill>
                <a:latin typeface="Arial" panose="020B0604020202020204"/>
                <a:ea typeface="微软雅黑" panose="020B0503020204020204" charset="-122"/>
                <a:cs typeface="Arial" panose="020B0604020202020204"/>
                <a:sym typeface="+mn-ea"/>
              </a:rPr>
              <a:t>传统乘法验证无法批量压缩</a:t>
            </a:r>
            <a:endParaRPr lang="zh-CN" altLang="en-US" sz="2400" b="1">
              <a:solidFill>
                <a:srgbClr val="C57418"/>
              </a:solidFill>
              <a:latin typeface="Arial" panose="020B0604020202020204"/>
              <a:ea typeface="微软雅黑" panose="020B0503020204020204" charset="-122"/>
              <a:cs typeface="Arial" panose="020B0604020202020204"/>
              <a:sym typeface="+mn-ea"/>
            </a:endParaRPr>
          </a:p>
        </p:txBody>
      </p:sp>
      <p:sp>
        <p:nvSpPr>
          <p:cNvPr id="6" name="文本框 5"/>
          <p:cNvSpPr txBox="1"/>
          <p:nvPr>
            <p:custDataLst>
              <p:tags r:id="rId6"/>
            </p:custDataLst>
          </p:nvPr>
        </p:nvSpPr>
        <p:spPr>
          <a:xfrm>
            <a:off x="7958455" y="2614295"/>
            <a:ext cx="3411855" cy="1198880"/>
          </a:xfrm>
          <a:prstGeom prst="rect">
            <a:avLst/>
          </a:prstGeom>
          <a:noFill/>
        </p:spPr>
        <p:txBody>
          <a:bodyPr wrap="square" rtlCol="0" anchor="t">
            <a:spAutoFit/>
          </a:bodyPr>
          <a:p>
            <a:pPr algn="l">
              <a:spcBef>
                <a:spcPts val="0"/>
              </a:spcBef>
              <a:spcAft>
                <a:spcPts val="700"/>
              </a:spcAft>
            </a:pPr>
            <a:r>
              <a:rPr sz="2400" b="1">
                <a:solidFill>
                  <a:srgbClr val="1E7A5A"/>
                </a:solidFill>
                <a:latin typeface="Arial" panose="020B0604020202020204"/>
                <a:ea typeface="微软雅黑" panose="020B0503020204020204" charset="-122"/>
                <a:cs typeface="Arial" panose="020B0604020202020204"/>
                <a:sym typeface="+mn-ea"/>
              </a:rPr>
              <a:t>Q3 </a:t>
            </a:r>
            <a:r>
              <a:rPr lang="zh-CN" altLang="en-US" sz="2400" b="1">
                <a:solidFill>
                  <a:srgbClr val="1E7A5A"/>
                </a:solidFill>
                <a:latin typeface="Arial" panose="020B0604020202020204"/>
                <a:ea typeface="微软雅黑" panose="020B0503020204020204" charset="-122"/>
                <a:cs typeface="Arial" panose="020B0604020202020204"/>
                <a:sym typeface="+mn-ea"/>
              </a:rPr>
              <a:t>混合电路统一：混合电路与非线性函数安全高效实现难</a:t>
            </a:r>
            <a:endParaRPr lang="zh-CN" altLang="en-US" sz="2400" b="1">
              <a:solidFill>
                <a:srgbClr val="1E7A5A"/>
              </a:solidFill>
              <a:latin typeface="Arial" panose="020B0604020202020204"/>
              <a:ea typeface="微软雅黑" panose="020B0503020204020204" charset="-122"/>
              <a:cs typeface="Arial" panose="020B0604020202020204"/>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520700" y="978535"/>
                <a:ext cx="10959465" cy="979170"/>
              </a:xfrm>
              <a:prstGeom prst="rect">
                <a:avLst/>
              </a:prstGeom>
              <a:noFill/>
            </p:spPr>
            <p:txBody>
              <a:bodyPr wrap="square" rtlCol="0" anchor="t">
                <a:spAutoFit/>
              </a:bodyPr>
              <a:p>
                <a:pPr algn="l">
                  <a:lnSpc>
                    <a:spcPct val="122000"/>
                  </a:lnSpc>
                  <a:spcAft>
                    <a:spcPts val="0"/>
                  </a:spcAft>
                </a:pPr>
                <a:r>
                  <a:rPr sz="2000" b="1">
                    <a:solidFill>
                      <a:srgbClr val="C00000"/>
                    </a:solidFill>
                    <a:latin typeface="微软雅黑" panose="020B0503020204020204" charset="-122"/>
                    <a:ea typeface="微软雅黑" panose="020B0503020204020204" charset="-122"/>
                    <a:sym typeface="+mn-ea"/>
                  </a:rPr>
                  <a:t>主问题：</a:t>
                </a:r>
                <a:r>
                  <a:rPr sz="2000" b="1">
                    <a:solidFill>
                      <a:srgbClr val="12263F"/>
                    </a:solidFill>
                    <a:latin typeface="微软雅黑" panose="020B0503020204020204" charset="-122"/>
                    <a:ea typeface="微软雅黑" panose="020B0503020204020204" charset="-122"/>
                    <a:sym typeface="+mn-ea"/>
                  </a:rPr>
                  <a:t>在 ring </a:t>
                </a:r>
                <a14:m>
                  <m:oMath xmlns:m="http://schemas.openxmlformats.org/officeDocument/2006/math">
                    <m:sSub>
                      <m:sSubPr>
                        <m:ctrlPr>
                          <a:rPr sz="2000" b="1">
                            <a:solidFill>
                              <a:srgbClr val="12263F"/>
                            </a:solidFill>
                            <a:latin typeface="微软雅黑" panose="020B0503020204020204" charset="-122"/>
                            <a:ea typeface="微软雅黑" panose="020B0503020204020204" charset="-122"/>
                            <a:sym typeface="+mn-ea"/>
                          </a:rPr>
                        </m:ctrlPr>
                      </m:sSubPr>
                      <m:e>
                        <m:r>
                          <a:rPr sz="2000" b="1">
                            <a:solidFill>
                              <a:srgbClr val="12263F"/>
                            </a:solidFill>
                            <a:latin typeface="微软雅黑" panose="020B0503020204020204" charset="-122"/>
                            <a:ea typeface="微软雅黑" panose="020B0503020204020204" charset="-122"/>
                            <a:sym typeface="+mn-ea"/>
                          </a:rPr>
                          <m:t>𝜡</m:t>
                        </m:r>
                      </m:e>
                      <m:sub>
                        <m:sSup>
                          <m:sSupPr>
                            <m:ctrlPr>
                              <a:rPr sz="2000" b="1">
                                <a:solidFill>
                                  <a:srgbClr val="12263F"/>
                                </a:solidFill>
                                <a:latin typeface="微软雅黑" panose="020B0503020204020204" charset="-122"/>
                                <a:ea typeface="微软雅黑" panose="020B0503020204020204" charset="-122"/>
                                <a:sym typeface="+mn-ea"/>
                              </a:rPr>
                            </m:ctrlPr>
                          </m:sSupPr>
                          <m:e>
                            <m:r>
                              <a:rPr sz="2000" b="1">
                                <a:solidFill>
                                  <a:srgbClr val="12263F"/>
                                </a:solidFill>
                                <a:latin typeface="微软雅黑" panose="020B0503020204020204" charset="-122"/>
                                <a:ea typeface="微软雅黑" panose="020B0503020204020204" charset="-122"/>
                                <a:sym typeface="+mn-ea"/>
                              </a:rPr>
                              <m:t>𝟐</m:t>
                            </m:r>
                          </m:e>
                          <m:sup>
                            <m:r>
                              <a:rPr sz="2000" b="1">
                                <a:solidFill>
                                  <a:srgbClr val="12263F"/>
                                </a:solidFill>
                                <a:latin typeface="微软雅黑" panose="020B0503020204020204" charset="-122"/>
                                <a:ea typeface="微软雅黑" panose="020B0503020204020204" charset="-122"/>
                                <a:sym typeface="+mn-ea"/>
                              </a:rPr>
                              <m:t>𝜾</m:t>
                            </m:r>
                          </m:sup>
                        </m:sSup>
                      </m:sub>
                    </m:sSub>
                  </m:oMath>
                </a14:m>
                <a:r>
                  <a:rPr sz="2000" b="1">
                    <a:solidFill>
                      <a:srgbClr val="12263F"/>
                    </a:solidFill>
                    <a:latin typeface="微软雅黑" panose="020B0503020204020204" charset="-122"/>
                    <a:ea typeface="微软雅黑" panose="020B0503020204020204" charset="-122"/>
                    <a:sym typeface="+mn-ea"/>
                  </a:rPr>
                  <a:t>+ 3PC 复制秘密共享下，能否把 |G| 个乘法门的恶意安全批量验证，做到 O(log|G|) 的通信量</a:t>
                </a:r>
                <a:endParaRPr lang="zh-CN" altLang="en-US" sz="2000" b="1">
                  <a:solidFill>
                    <a:srgbClr val="12263F"/>
                  </a:solidFill>
                  <a:latin typeface="微软雅黑" panose="020B0503020204020204" charset="-122"/>
                  <a:ea typeface="微软雅黑" panose="020B0503020204020204" charset="-122"/>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520700" y="978535"/>
                <a:ext cx="10959465" cy="979170"/>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三、关键技术</a:t>
            </a:r>
            <a:endParaRPr lang="zh-CN" altLang="en-US"/>
          </a:p>
        </p:txBody>
      </p:sp>
      <mc:AlternateContent xmlns:mc="http://schemas.openxmlformats.org/markup-compatibility/2006">
        <mc:Choice xmlns:a14="http://schemas.microsoft.com/office/drawing/2010/main" Requires="a14">
          <p:sp>
            <p:nvSpPr>
              <p:cNvPr id="8" name="Rounded Rectangle 7"/>
              <p:cNvSpPr/>
              <p:nvPr>
                <p:custDataLst>
                  <p:tags r:id="rId1"/>
                </p:custDataLst>
              </p:nvPr>
            </p:nvSpPr>
            <p:spPr>
              <a:xfrm>
                <a:off x="448945" y="2345690"/>
                <a:ext cx="2030095" cy="3218815"/>
              </a:xfrm>
              <a:prstGeom prst="roundRect">
                <a:avLst>
                  <a:gd name="adj" fmla="val 10000"/>
                </a:avLst>
              </a:prstGeom>
              <a:solidFill>
                <a:schemeClr val="bg1"/>
              </a:solidFill>
              <a:ln w="15875">
                <a:solidFill>
                  <a:srgbClr val="1F6FB2"/>
                </a:solidFill>
              </a:ln>
            </p:spPr>
            <p:style>
              <a:lnRef idx="1">
                <a:schemeClr val="accent1"/>
              </a:lnRef>
              <a:fillRef idx="3">
                <a:schemeClr val="accent1"/>
              </a:fillRef>
              <a:effectRef idx="2">
                <a:schemeClr val="accent1"/>
              </a:effectRef>
              <a:fontRef idx="minor">
                <a:schemeClr val="lt1"/>
              </a:fontRef>
            </p:style>
            <p:txBody>
              <a:bodyPr wrap="square" lIns="73152" tIns="100584" bIns="36576" rtlCol="0" anchor="ctr"/>
              <a:lstStyle/>
              <a:p>
                <a:pPr algn="ctr">
                  <a:spcBef>
                    <a:spcPts val="0"/>
                  </a:spcBef>
                  <a:spcAft>
                    <a:spcPts val="400"/>
                  </a:spcAft>
                </a:pPr>
                <a:r>
                  <a:rPr sz="2400" b="1" i="0">
                    <a:solidFill>
                      <a:srgbClr val="1F6FB2"/>
                    </a:solidFill>
                    <a:latin typeface="Arial" panose="020B0604020202020204"/>
                    <a:ea typeface="微软雅黑" panose="020B0503020204020204" charset="-122"/>
                    <a:cs typeface="Arial" panose="020B0604020202020204"/>
                  </a:rPr>
                  <a:t>①</a:t>
                </a:r>
                <a:endParaRPr sz="2400" b="1" i="0">
                  <a:solidFill>
                    <a:srgbClr val="1F6FB2"/>
                  </a:solidFill>
                  <a:latin typeface="Arial" panose="020B0604020202020204"/>
                  <a:ea typeface="微软雅黑" panose="020B0503020204020204" charset="-122"/>
                  <a:cs typeface="Arial" panose="020B0604020202020204"/>
                </a:endParaRPr>
              </a:p>
              <a:p>
                <a:pPr algn="ctr">
                  <a:spcBef>
                    <a:spcPts val="0"/>
                  </a:spcBef>
                  <a:spcAft>
                    <a:spcPts val="400"/>
                  </a:spcAft>
                </a:pPr>
                <a:r>
                  <a:rPr b="1" i="0">
                    <a:solidFill>
                      <a:srgbClr val="12263F"/>
                    </a:solidFill>
                    <a:latin typeface="Arial" panose="020B0604020202020204"/>
                    <a:ea typeface="微软雅黑" panose="020B0503020204020204" charset="-122"/>
                    <a:cs typeface="Arial" panose="020B0604020202020204"/>
                  </a:rPr>
                  <a:t>半诚实执行</a:t>
                </a:r>
                <a:endParaRPr b="1" i="0">
                  <a:solidFill>
                    <a:srgbClr val="12263F"/>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各参与方照常执行</a:t>
                </a:r>
                <a:endParaRPr sz="1600" b="0" i="0">
                  <a:solidFill>
                    <a:srgbClr val="56606E"/>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lang="zh-CN" sz="1600" b="0" i="0">
                    <a:solidFill>
                      <a:srgbClr val="56606E"/>
                    </a:solidFill>
                    <a:latin typeface="Arial" panose="020B0604020202020204"/>
                    <a:ea typeface="微软雅黑" panose="020B0503020204020204" charset="-122"/>
                    <a:cs typeface="Arial" panose="020B0604020202020204"/>
                  </a:rPr>
                  <a:t>半诚实</a:t>
                </a:r>
                <a:r>
                  <a:rPr sz="1600" b="0" i="0">
                    <a:solidFill>
                      <a:srgbClr val="56606E"/>
                    </a:solidFill>
                    <a:latin typeface="Arial" panose="020B0604020202020204"/>
                    <a:ea typeface="微软雅黑" panose="020B0503020204020204" charset="-122"/>
                    <a:cs typeface="Arial" panose="020B0604020202020204"/>
                  </a:rPr>
                  <a:t>算术电路</a:t>
                </a:r>
                <a:endParaRPr sz="1600" b="0" i="0">
                  <a:solidFill>
                    <a:srgbClr val="56606E"/>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sz="1400" b="0" i="0">
                    <a:solidFill>
                      <a:srgbClr val="56606E"/>
                    </a:solidFill>
                    <a:latin typeface="Arial" panose="020B0604020202020204"/>
                    <a:ea typeface="微软雅黑" panose="020B0503020204020204" charset="-122"/>
                    <a:cs typeface="Arial" panose="020B0604020202020204"/>
                  </a:rPr>
                  <a:t>（</a:t>
                </a:r>
                <a14:m>
                  <m:oMath xmlns:m="http://schemas.openxmlformats.org/officeDocument/2006/math">
                    <m:sSub>
                      <m:sSubPr>
                        <m:ctrlPr>
                          <a:rPr sz="1400">
                            <a:solidFill>
                              <a:srgbClr val="56606E"/>
                            </a:solidFill>
                            <a:latin typeface="Arial" panose="020B0604020202020204"/>
                            <a:ea typeface="微软雅黑" panose="020B0503020204020204" charset="-122"/>
                            <a:cs typeface="Arial" panose="020B0604020202020204"/>
                            <a:sym typeface="+mn-ea"/>
                          </a:rPr>
                        </m:ctrlPr>
                      </m:sSubPr>
                      <m:e>
                        <m:r>
                          <a:rPr sz="1400">
                            <a:solidFill>
                              <a:srgbClr val="56606E"/>
                            </a:solidFill>
                            <a:latin typeface="Arial" panose="020B0604020202020204"/>
                            <a:ea typeface="微软雅黑" panose="020B0503020204020204" charset="-122"/>
                            <a:cs typeface="Arial" panose="020B0604020202020204"/>
                            <a:sym typeface="+mn-ea"/>
                          </a:rPr>
                          <m:t>𝜡</m:t>
                        </m:r>
                      </m:e>
                      <m:sub>
                        <m:sSup>
                          <m:sSupPr>
                            <m:ctrlPr>
                              <a:rPr sz="1400">
                                <a:solidFill>
                                  <a:srgbClr val="56606E"/>
                                </a:solidFill>
                                <a:latin typeface="Arial" panose="020B0604020202020204"/>
                                <a:ea typeface="微软雅黑" panose="020B0503020204020204" charset="-122"/>
                                <a:cs typeface="Arial" panose="020B0604020202020204"/>
                                <a:sym typeface="+mn-ea"/>
                              </a:rPr>
                            </m:ctrlPr>
                          </m:sSupPr>
                          <m:e>
                            <m:r>
                              <a:rPr sz="1400">
                                <a:solidFill>
                                  <a:srgbClr val="56606E"/>
                                </a:solidFill>
                                <a:latin typeface="Arial" panose="020B0604020202020204"/>
                                <a:ea typeface="微软雅黑" panose="020B0503020204020204" charset="-122"/>
                                <a:cs typeface="Arial" panose="020B0604020202020204"/>
                                <a:sym typeface="+mn-ea"/>
                              </a:rPr>
                              <m:t>𝟐</m:t>
                            </m:r>
                          </m:e>
                          <m:sup>
                            <m:r>
                              <a:rPr sz="1400">
                                <a:solidFill>
                                  <a:srgbClr val="56606E"/>
                                </a:solidFill>
                                <a:latin typeface="Arial" panose="020B0604020202020204"/>
                                <a:ea typeface="微软雅黑" panose="020B0503020204020204" charset="-122"/>
                                <a:cs typeface="Arial" panose="020B0604020202020204"/>
                                <a:sym typeface="+mn-ea"/>
                              </a:rPr>
                              <m:t>𝜾</m:t>
                            </m:r>
                          </m:sup>
                        </m:sSup>
                      </m:sub>
                    </m:sSub>
                  </m:oMath>
                </a14:m>
                <a:r>
                  <a:rPr sz="1400" b="0" i="0">
                    <a:solidFill>
                      <a:srgbClr val="56606E"/>
                    </a:solidFill>
                    <a:latin typeface="Arial" panose="020B0604020202020204"/>
                    <a:ea typeface="微软雅黑" panose="020B0503020204020204" charset="-122"/>
                    <a:cs typeface="Arial" panose="020B0604020202020204"/>
                  </a:rPr>
                  <a:t>上的 RSS）</a:t>
                </a:r>
                <a:endParaRPr sz="1400" b="0" i="0">
                  <a:solidFill>
                    <a:srgbClr val="56606E"/>
                  </a:solidFill>
                  <a:latin typeface="Arial" panose="020B0604020202020204"/>
                  <a:ea typeface="微软雅黑" panose="020B0503020204020204" charset="-122"/>
                  <a:cs typeface="Arial" panose="020B0604020202020204"/>
                </a:endParaRPr>
              </a:p>
            </p:txBody>
          </p:sp>
        </mc:Choice>
        <mc:Fallback>
          <p:sp>
            <p:nvSpPr>
              <p:cNvPr id="8" name="Rounded Rectangle 7"/>
              <p:cNvSpPr>
                <a:spLocks noRot="1" noChangeAspect="1" noMove="1" noResize="1" noEditPoints="1" noAdjustHandles="1" noChangeArrowheads="1" noChangeShapeType="1" noTextEdit="1"/>
              </p:cNvSpPr>
              <p:nvPr>
                <p:custDataLst>
                  <p:tags r:id="rId2"/>
                </p:custDataLst>
              </p:nvPr>
            </p:nvSpPr>
            <p:spPr>
              <a:xfrm>
                <a:off x="448945" y="2345690"/>
                <a:ext cx="2030095" cy="3218815"/>
              </a:xfrm>
              <a:prstGeom prst="roundRect">
                <a:avLst>
                  <a:gd name="adj" fmla="val 10000"/>
                </a:avLst>
              </a:prstGeom>
              <a:blipFill rotWithShape="1">
                <a:blip r:embed="rId3"/>
                <a:stretch>
                  <a:fillRect l="-407" t="-256" r="-375" b="-237"/>
                </a:stretch>
              </a:blipFill>
              <a:ln w="15875">
                <a:solidFill>
                  <a:srgbClr val="1F6FB2"/>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9" name="Right Arrow 8"/>
          <p:cNvSpPr/>
          <p:nvPr>
            <p:custDataLst>
              <p:tags r:id="rId4"/>
            </p:custDataLst>
          </p:nvPr>
        </p:nvSpPr>
        <p:spPr>
          <a:xfrm>
            <a:off x="2497836" y="3314953"/>
            <a:ext cx="228599" cy="274320"/>
          </a:xfrm>
          <a:prstGeom prst="rightArrow">
            <a:avLst/>
          </a:prstGeom>
          <a:solidFill>
            <a:srgbClr val="B8C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Rounded Rectangle 9"/>
              <p:cNvSpPr/>
              <p:nvPr>
                <p:custDataLst>
                  <p:tags r:id="rId5"/>
                </p:custDataLst>
              </p:nvPr>
            </p:nvSpPr>
            <p:spPr>
              <a:xfrm>
                <a:off x="2744470" y="2345690"/>
                <a:ext cx="2030095" cy="3219450"/>
              </a:xfrm>
              <a:prstGeom prst="roundRect">
                <a:avLst>
                  <a:gd name="adj" fmla="val 10000"/>
                </a:avLst>
              </a:prstGeom>
              <a:solidFill>
                <a:schemeClr val="bg1"/>
              </a:solidFill>
              <a:ln w="15875">
                <a:solidFill>
                  <a:srgbClr val="1F6FB2"/>
                </a:solidFill>
              </a:ln>
            </p:spPr>
            <p:style>
              <a:lnRef idx="1">
                <a:schemeClr val="accent1"/>
              </a:lnRef>
              <a:fillRef idx="3">
                <a:schemeClr val="accent1"/>
              </a:fillRef>
              <a:effectRef idx="2">
                <a:schemeClr val="accent1"/>
              </a:effectRef>
              <a:fontRef idx="minor">
                <a:schemeClr val="lt1"/>
              </a:fontRef>
            </p:style>
            <p:txBody>
              <a:bodyPr wrap="square" lIns="73152" tIns="100584" bIns="36576" rtlCol="0" anchor="ctr"/>
              <a:lstStyle/>
              <a:p>
                <a:pPr algn="ctr">
                  <a:spcBef>
                    <a:spcPts val="0"/>
                  </a:spcBef>
                  <a:spcAft>
                    <a:spcPts val="400"/>
                  </a:spcAft>
                </a:pPr>
                <a:r>
                  <a:rPr sz="2400" b="1" i="0">
                    <a:solidFill>
                      <a:srgbClr val="1F6FB2"/>
                    </a:solidFill>
                    <a:latin typeface="Arial" panose="020B0604020202020204"/>
                    <a:ea typeface="微软雅黑" panose="020B0503020204020204" charset="-122"/>
                    <a:cs typeface="Arial" panose="020B0604020202020204"/>
                  </a:rPr>
                  <a:t>②</a:t>
                </a:r>
                <a:endParaRPr sz="2400" b="1" i="0">
                  <a:solidFill>
                    <a:srgbClr val="1F6FB2"/>
                  </a:solidFill>
                  <a:latin typeface="Arial" panose="020B0604020202020204"/>
                  <a:ea typeface="微软雅黑" panose="020B0503020204020204" charset="-122"/>
                  <a:cs typeface="Arial" panose="020B0604020202020204"/>
                </a:endParaRPr>
              </a:p>
              <a:p>
                <a:pPr algn="ctr">
                  <a:spcBef>
                    <a:spcPts val="0"/>
                  </a:spcBef>
                  <a:spcAft>
                    <a:spcPts val="400"/>
                  </a:spcAft>
                </a:pPr>
                <a:r>
                  <a:rPr b="1" i="0">
                    <a:solidFill>
                      <a:srgbClr val="12263F"/>
                    </a:solidFill>
                    <a:latin typeface="Arial" panose="020B0604020202020204"/>
                    <a:ea typeface="微软雅黑" panose="020B0503020204020204" charset="-122"/>
                    <a:cs typeface="Arial" panose="020B0604020202020204"/>
                  </a:rPr>
                  <a:t>提升到扩展环</a:t>
                </a:r>
                <a:endParaRPr b="1" i="0">
                  <a:solidFill>
                    <a:srgbClr val="12263F"/>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把每个乘法三元组</a:t>
                </a:r>
                <a:endParaRPr sz="1600" b="0" i="0">
                  <a:solidFill>
                    <a:srgbClr val="56606E"/>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本地映射到</a:t>
                </a:r>
                <a:endParaRPr sz="1600" b="0" i="0">
                  <a:solidFill>
                    <a:srgbClr val="56606E"/>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14:m>
                  <m:oMathPara xmlns:m="http://schemas.openxmlformats.org/officeDocument/2006/math">
                    <m:oMathParaPr>
                      <m:jc m:val="left"/>
                    </m:oMathParaPr>
                    <m:oMath xmlns:m="http://schemas.openxmlformats.org/officeDocument/2006/math">
                      <m:sSub>
                        <m:sSubPr>
                          <m:ctrlPr>
                            <a:rPr sz="1600">
                              <a:solidFill>
                                <a:srgbClr val="56606E"/>
                              </a:solidFill>
                              <a:latin typeface="Arial" panose="020B0604020202020204"/>
                              <a:ea typeface="微软雅黑" panose="020B0503020204020204" charset="-122"/>
                              <a:cs typeface="Arial" panose="020B0604020202020204"/>
                              <a:sym typeface="+mn-ea"/>
                            </a:rPr>
                          </m:ctrlPr>
                        </m:sSubPr>
                        <m:e>
                          <m:r>
                            <a:rPr sz="1600">
                              <a:solidFill>
                                <a:srgbClr val="56606E"/>
                              </a:solidFill>
                              <a:latin typeface="Arial" panose="020B0604020202020204"/>
                              <a:ea typeface="微软雅黑" panose="020B0503020204020204" charset="-122"/>
                              <a:cs typeface="Arial" panose="020B0604020202020204"/>
                              <a:sym typeface="+mn-ea"/>
                            </a:rPr>
                            <m:t>𝜡</m:t>
                          </m:r>
                        </m:e>
                        <m:sub>
                          <m:sSup>
                            <m:sSupPr>
                              <m:ctrlPr>
                                <a:rPr sz="1600">
                                  <a:solidFill>
                                    <a:srgbClr val="56606E"/>
                                  </a:solidFill>
                                  <a:latin typeface="Arial" panose="020B0604020202020204"/>
                                  <a:ea typeface="微软雅黑" panose="020B0503020204020204" charset="-122"/>
                                  <a:cs typeface="Arial" panose="020B0604020202020204"/>
                                  <a:sym typeface="+mn-ea"/>
                                </a:rPr>
                              </m:ctrlPr>
                            </m:sSupPr>
                            <m:e>
                              <m:r>
                                <a:rPr sz="1600">
                                  <a:solidFill>
                                    <a:srgbClr val="56606E"/>
                                  </a:solidFill>
                                  <a:latin typeface="Arial" panose="020B0604020202020204"/>
                                  <a:ea typeface="微软雅黑" panose="020B0503020204020204" charset="-122"/>
                                  <a:cs typeface="Arial" panose="020B0604020202020204"/>
                                  <a:sym typeface="+mn-ea"/>
                                </a:rPr>
                                <m:t>𝟐</m:t>
                              </m:r>
                            </m:e>
                            <m:sup>
                              <m:r>
                                <a:rPr sz="1600">
                                  <a:solidFill>
                                    <a:srgbClr val="56606E"/>
                                  </a:solidFill>
                                  <a:latin typeface="Arial" panose="020B0604020202020204"/>
                                  <a:ea typeface="微软雅黑" panose="020B0503020204020204" charset="-122"/>
                                  <a:cs typeface="Arial" panose="020B0604020202020204"/>
                                  <a:sym typeface="+mn-ea"/>
                                </a:rPr>
                                <m:t>𝜾</m:t>
                              </m:r>
                            </m:sup>
                          </m:sSup>
                        </m:sub>
                      </m:sSub>
                      <m:r>
                        <a:rPr sz="1600">
                          <a:solidFill>
                            <a:srgbClr val="56606E"/>
                          </a:solidFill>
                          <a:latin typeface="Arial" panose="020B0604020202020204"/>
                          <a:ea typeface="微软雅黑" panose="020B0503020204020204" charset="-122"/>
                          <a:cs typeface="Arial" panose="020B0604020202020204"/>
                          <a:sym typeface="+mn-ea"/>
                        </a:rPr>
                        <m:t>[</m:t>
                      </m:r>
                      <m:r>
                        <a:rPr sz="1600">
                          <a:solidFill>
                            <a:srgbClr val="56606E"/>
                          </a:solidFill>
                          <a:latin typeface="Arial" panose="020B0604020202020204"/>
                          <a:ea typeface="微软雅黑" panose="020B0503020204020204" charset="-122"/>
                          <a:cs typeface="Arial" panose="020B0604020202020204"/>
                          <a:sym typeface="+mn-ea"/>
                        </a:rPr>
                        <m:t>𝒙</m:t>
                      </m:r>
                      <m:r>
                        <a:rPr sz="1600">
                          <a:solidFill>
                            <a:srgbClr val="56606E"/>
                          </a:solidFill>
                          <a:latin typeface="Arial" panose="020B0604020202020204"/>
                          <a:ea typeface="微软雅黑" panose="020B0503020204020204" charset="-122"/>
                          <a:cs typeface="Arial" panose="020B0604020202020204"/>
                          <a:sym typeface="+mn-ea"/>
                        </a:rPr>
                        <m:t>]/</m:t>
                      </m:r>
                      <m:r>
                        <a:rPr sz="1600">
                          <a:solidFill>
                            <a:srgbClr val="56606E"/>
                          </a:solidFill>
                          <a:latin typeface="Arial" panose="020B0604020202020204"/>
                          <a:ea typeface="微软雅黑" panose="020B0503020204020204" charset="-122"/>
                          <a:cs typeface="Arial" panose="020B0604020202020204"/>
                          <a:sym typeface="+mn-ea"/>
                        </a:rPr>
                        <m:t>𝒇</m:t>
                      </m:r>
                      <m:r>
                        <a:rPr sz="1600">
                          <a:solidFill>
                            <a:srgbClr val="56606E"/>
                          </a:solidFill>
                          <a:latin typeface="Arial" panose="020B0604020202020204"/>
                          <a:ea typeface="微软雅黑" panose="020B0503020204020204" charset="-122"/>
                          <a:cs typeface="Arial" panose="020B0604020202020204"/>
                          <a:sym typeface="+mn-ea"/>
                        </a:rPr>
                        <m:t>(</m:t>
                      </m:r>
                      <m:r>
                        <a:rPr sz="1600">
                          <a:solidFill>
                            <a:srgbClr val="56606E"/>
                          </a:solidFill>
                          <a:latin typeface="Arial" panose="020B0604020202020204"/>
                          <a:ea typeface="微软雅黑" panose="020B0503020204020204" charset="-122"/>
                          <a:cs typeface="Arial" panose="020B0604020202020204"/>
                          <a:sym typeface="+mn-ea"/>
                        </a:rPr>
                        <m:t>𝒙</m:t>
                      </m:r>
                      <m:r>
                        <a:rPr sz="1600">
                          <a:solidFill>
                            <a:srgbClr val="56606E"/>
                          </a:solidFill>
                          <a:latin typeface="Arial" panose="020B0604020202020204"/>
                          <a:ea typeface="微软雅黑" panose="020B0503020204020204" charset="-122"/>
                          <a:cs typeface="Arial" panose="020B0604020202020204"/>
                          <a:sym typeface="+mn-ea"/>
                        </a:rPr>
                        <m:t>)</m:t>
                      </m:r>
                    </m:oMath>
                  </m:oMathPara>
                </a14:m>
                <a:endParaRPr sz="1600" b="0" i="0">
                  <a:solidFill>
                    <a:srgbClr val="56606E"/>
                  </a:solidFill>
                  <a:latin typeface="Arial" panose="020B0604020202020204"/>
                  <a:ea typeface="微软雅黑" panose="020B0503020204020204" charset="-122"/>
                  <a:cs typeface="Arial" panose="020B0604020202020204"/>
                </a:endParaRPr>
              </a:p>
            </p:txBody>
          </p:sp>
        </mc:Choice>
        <mc:Fallback>
          <p:sp>
            <p:nvSpPr>
              <p:cNvPr id="10" name="Rounded Rectangle 9"/>
              <p:cNvSpPr>
                <a:spLocks noRot="1" noChangeAspect="1" noMove="1" noResize="1" noEditPoints="1" noAdjustHandles="1" noChangeArrowheads="1" noChangeShapeType="1" noTextEdit="1"/>
              </p:cNvSpPr>
              <p:nvPr>
                <p:custDataLst>
                  <p:tags r:id="rId6"/>
                </p:custDataLst>
              </p:nvPr>
            </p:nvSpPr>
            <p:spPr>
              <a:xfrm>
                <a:off x="2744470" y="2345690"/>
                <a:ext cx="2030095" cy="3219450"/>
              </a:xfrm>
              <a:prstGeom prst="roundRect">
                <a:avLst>
                  <a:gd name="adj" fmla="val 10000"/>
                </a:avLst>
              </a:prstGeom>
              <a:blipFill rotWithShape="1">
                <a:blip r:embed="rId7"/>
                <a:stretch>
                  <a:fillRect l="-407" t="-256" r="-375" b="-237"/>
                </a:stretch>
              </a:blipFill>
              <a:ln w="15875">
                <a:solidFill>
                  <a:srgbClr val="1F6FB2"/>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11" name="Right Arrow 10"/>
          <p:cNvSpPr/>
          <p:nvPr>
            <p:custDataLst>
              <p:tags r:id="rId8"/>
            </p:custDataLst>
          </p:nvPr>
        </p:nvSpPr>
        <p:spPr>
          <a:xfrm>
            <a:off x="4792980" y="3314953"/>
            <a:ext cx="228599" cy="274320"/>
          </a:xfrm>
          <a:prstGeom prst="rightArrow">
            <a:avLst/>
          </a:prstGeom>
          <a:solidFill>
            <a:srgbClr val="B8C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custDataLst>
              <p:tags r:id="rId9"/>
            </p:custDataLst>
          </p:nvPr>
        </p:nvSpPr>
        <p:spPr>
          <a:xfrm>
            <a:off x="5039995" y="2345690"/>
            <a:ext cx="2030095" cy="3220085"/>
          </a:xfrm>
          <a:prstGeom prst="roundRect">
            <a:avLst>
              <a:gd name="adj" fmla="val 10000"/>
            </a:avLst>
          </a:prstGeom>
          <a:solidFill>
            <a:schemeClr val="bg1"/>
          </a:solidFill>
          <a:ln w="15875">
            <a:solidFill>
              <a:srgbClr val="C57418"/>
            </a:solidFill>
          </a:ln>
        </p:spPr>
        <p:style>
          <a:lnRef idx="1">
            <a:schemeClr val="accent1"/>
          </a:lnRef>
          <a:fillRef idx="3">
            <a:schemeClr val="accent1"/>
          </a:fillRef>
          <a:effectRef idx="2">
            <a:schemeClr val="accent1"/>
          </a:effectRef>
          <a:fontRef idx="minor">
            <a:schemeClr val="lt1"/>
          </a:fontRef>
        </p:style>
        <p:txBody>
          <a:bodyPr wrap="square" lIns="73152" tIns="100584" bIns="36576" rtlCol="0" anchor="ctr"/>
          <a:lstStyle/>
          <a:p>
            <a:pPr algn="ctr">
              <a:spcBef>
                <a:spcPts val="0"/>
              </a:spcBef>
              <a:spcAft>
                <a:spcPts val="400"/>
              </a:spcAft>
            </a:pPr>
            <a:r>
              <a:rPr sz="2400" b="1" i="0">
                <a:solidFill>
                  <a:srgbClr val="C57418"/>
                </a:solidFill>
                <a:latin typeface="Arial" panose="020B0604020202020204"/>
                <a:ea typeface="微软雅黑" panose="020B0503020204020204" charset="-122"/>
                <a:cs typeface="Arial" panose="020B0604020202020204"/>
              </a:rPr>
              <a:t>③</a:t>
            </a:r>
            <a:endParaRPr sz="2400" b="1" i="0">
              <a:solidFill>
                <a:srgbClr val="C57418"/>
              </a:solidFill>
              <a:latin typeface="Arial" panose="020B0604020202020204"/>
              <a:ea typeface="微软雅黑" panose="020B0503020204020204" charset="-122"/>
              <a:cs typeface="Arial" panose="020B0604020202020204"/>
            </a:endParaRPr>
          </a:p>
          <a:p>
            <a:pPr algn="ctr">
              <a:spcBef>
                <a:spcPts val="0"/>
              </a:spcBef>
              <a:spcAft>
                <a:spcPts val="400"/>
              </a:spcAft>
            </a:pPr>
            <a:r>
              <a:rPr b="1" i="0">
                <a:solidFill>
                  <a:srgbClr val="12263F"/>
                </a:solidFill>
                <a:latin typeface="Arial" panose="020B0604020202020204"/>
                <a:ea typeface="微软雅黑" panose="020B0503020204020204" charset="-122"/>
                <a:cs typeface="Arial" panose="020B0604020202020204"/>
              </a:rPr>
              <a:t>压缩成 1 个内积</a:t>
            </a:r>
            <a:endParaRPr b="1" i="0">
              <a:solidFill>
                <a:srgbClr val="12263F"/>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用随机挑战 r 的幂次加权|G| 个等式 → 1 个 |G| 维内积</a:t>
            </a:r>
            <a:endParaRPr sz="1600" b="0" i="0">
              <a:solidFill>
                <a:srgbClr val="56606E"/>
              </a:solidFill>
              <a:latin typeface="Arial" panose="020B0604020202020204"/>
              <a:ea typeface="微软雅黑" panose="020B0503020204020204" charset="-122"/>
              <a:cs typeface="Arial" panose="020B0604020202020204"/>
            </a:endParaRPr>
          </a:p>
          <a:p>
            <a:pPr algn="l">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敌手无法让误差互相抵消</a:t>
            </a:r>
            <a:endParaRPr sz="1600" b="0" i="0">
              <a:solidFill>
                <a:srgbClr val="56606E"/>
              </a:solidFill>
              <a:latin typeface="Arial" panose="020B0604020202020204"/>
              <a:ea typeface="微软雅黑" panose="020B0503020204020204" charset="-122"/>
              <a:cs typeface="Arial" panose="020B0604020202020204"/>
            </a:endParaRPr>
          </a:p>
        </p:txBody>
      </p:sp>
      <p:sp>
        <p:nvSpPr>
          <p:cNvPr id="13" name="Right Arrow 12"/>
          <p:cNvSpPr/>
          <p:nvPr>
            <p:custDataLst>
              <p:tags r:id="rId10"/>
            </p:custDataLst>
          </p:nvPr>
        </p:nvSpPr>
        <p:spPr>
          <a:xfrm>
            <a:off x="7088124" y="3314953"/>
            <a:ext cx="228599" cy="274320"/>
          </a:xfrm>
          <a:prstGeom prst="rightArrow">
            <a:avLst/>
          </a:prstGeom>
          <a:solidFill>
            <a:srgbClr val="B8C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custDataLst>
              <p:tags r:id="rId11"/>
            </p:custDataLst>
          </p:nvPr>
        </p:nvSpPr>
        <p:spPr>
          <a:xfrm>
            <a:off x="7334885" y="2345690"/>
            <a:ext cx="2030095" cy="3220085"/>
          </a:xfrm>
          <a:prstGeom prst="roundRect">
            <a:avLst>
              <a:gd name="adj" fmla="val 10000"/>
            </a:avLst>
          </a:prstGeom>
          <a:solidFill>
            <a:schemeClr val="bg1"/>
          </a:solidFill>
          <a:ln w="15875">
            <a:solidFill>
              <a:srgbClr val="C57418"/>
            </a:solidFill>
          </a:ln>
        </p:spPr>
        <p:style>
          <a:lnRef idx="1">
            <a:schemeClr val="accent1"/>
          </a:lnRef>
          <a:fillRef idx="3">
            <a:schemeClr val="accent1"/>
          </a:fillRef>
          <a:effectRef idx="2">
            <a:schemeClr val="accent1"/>
          </a:effectRef>
          <a:fontRef idx="minor">
            <a:schemeClr val="lt1"/>
          </a:fontRef>
        </p:style>
        <p:txBody>
          <a:bodyPr wrap="square" lIns="73152" tIns="100584" bIns="36576" rtlCol="0" anchor="ctr"/>
          <a:lstStyle/>
          <a:p>
            <a:pPr algn="ctr">
              <a:spcBef>
                <a:spcPts val="0"/>
              </a:spcBef>
              <a:spcAft>
                <a:spcPts val="400"/>
              </a:spcAft>
            </a:pPr>
            <a:r>
              <a:rPr sz="2400" b="1" i="0">
                <a:solidFill>
                  <a:srgbClr val="C57418"/>
                </a:solidFill>
                <a:latin typeface="Arial" panose="020B0604020202020204"/>
                <a:ea typeface="微软雅黑" panose="020B0503020204020204" charset="-122"/>
                <a:cs typeface="Arial" panose="020B0604020202020204"/>
              </a:rPr>
              <a:t>④</a:t>
            </a:r>
            <a:endParaRPr sz="2400" b="1" i="0">
              <a:solidFill>
                <a:srgbClr val="C57418"/>
              </a:solidFill>
              <a:latin typeface="Arial" panose="020B0604020202020204"/>
              <a:ea typeface="微软雅黑" panose="020B0503020204020204" charset="-122"/>
              <a:cs typeface="Arial" panose="020B0604020202020204"/>
            </a:endParaRPr>
          </a:p>
          <a:p>
            <a:pPr algn="ctr">
              <a:spcBef>
                <a:spcPts val="0"/>
              </a:spcBef>
              <a:spcAft>
                <a:spcPts val="700"/>
              </a:spcAft>
            </a:pPr>
            <a:r>
              <a:rPr b="1" i="0">
                <a:solidFill>
                  <a:srgbClr val="12263F"/>
                </a:solidFill>
                <a:latin typeface="Arial" panose="020B0604020202020204"/>
                <a:ea typeface="微软雅黑" panose="020B0503020204020204" charset="-122"/>
                <a:cs typeface="Arial" panose="020B0604020202020204"/>
              </a:rPr>
              <a:t>R 轮降维</a:t>
            </a:r>
            <a:endParaRPr b="1" i="0">
              <a:solidFill>
                <a:srgbClr val="12263F"/>
              </a:solidFill>
              <a:latin typeface="Arial" panose="020B0604020202020204"/>
              <a:ea typeface="微软雅黑" panose="020B0503020204020204" charset="-122"/>
              <a:cs typeface="Arial" panose="020B0604020202020204"/>
            </a:endParaRPr>
          </a:p>
          <a:p>
            <a:pPr algn="ctr">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拉格朗日插值</a:t>
            </a:r>
            <a:endParaRPr sz="1600" b="0" i="0">
              <a:solidFill>
                <a:srgbClr val="56606E"/>
              </a:solidFill>
              <a:latin typeface="Arial" panose="020B0604020202020204"/>
              <a:ea typeface="微软雅黑" panose="020B0503020204020204" charset="-122"/>
              <a:cs typeface="Arial" panose="020B0604020202020204"/>
            </a:endParaRPr>
          </a:p>
          <a:p>
            <a:pPr algn="ctr">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每轮维度减半</a:t>
            </a:r>
            <a:endParaRPr sz="1600" b="0" i="0">
              <a:solidFill>
                <a:srgbClr val="56606E"/>
              </a:solidFill>
              <a:latin typeface="Arial" panose="020B0604020202020204"/>
              <a:ea typeface="微软雅黑" panose="020B0503020204020204" charset="-122"/>
              <a:cs typeface="Arial" panose="020B0604020202020204"/>
            </a:endParaRPr>
          </a:p>
          <a:p>
            <a:pPr algn="ctr">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|G| → |G| / 2^R</a:t>
            </a:r>
            <a:endParaRPr sz="1600" b="0" i="0">
              <a:solidFill>
                <a:srgbClr val="56606E"/>
              </a:solidFill>
              <a:latin typeface="Arial" panose="020B0604020202020204"/>
              <a:ea typeface="微软雅黑" panose="020B0503020204020204" charset="-122"/>
              <a:cs typeface="Arial" panose="020B0604020202020204"/>
            </a:endParaRPr>
          </a:p>
        </p:txBody>
      </p:sp>
      <p:sp>
        <p:nvSpPr>
          <p:cNvPr id="15" name="Right Arrow 14"/>
          <p:cNvSpPr/>
          <p:nvPr>
            <p:custDataLst>
              <p:tags r:id="rId12"/>
            </p:custDataLst>
          </p:nvPr>
        </p:nvSpPr>
        <p:spPr>
          <a:xfrm>
            <a:off x="9383268" y="3314953"/>
            <a:ext cx="228599" cy="274320"/>
          </a:xfrm>
          <a:prstGeom prst="rightArrow">
            <a:avLst/>
          </a:prstGeom>
          <a:solidFill>
            <a:srgbClr val="B8C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custDataLst>
              <p:tags r:id="rId13"/>
            </p:custDataLst>
          </p:nvPr>
        </p:nvSpPr>
        <p:spPr>
          <a:xfrm>
            <a:off x="9630410" y="2345690"/>
            <a:ext cx="2030095" cy="3220085"/>
          </a:xfrm>
          <a:prstGeom prst="roundRect">
            <a:avLst>
              <a:gd name="adj" fmla="val 10000"/>
            </a:avLst>
          </a:prstGeom>
          <a:solidFill>
            <a:schemeClr val="bg1"/>
          </a:solidFill>
          <a:ln w="15875">
            <a:solidFill>
              <a:srgbClr val="1E7A5A"/>
            </a:solidFill>
          </a:ln>
        </p:spPr>
        <p:style>
          <a:lnRef idx="1">
            <a:schemeClr val="accent1"/>
          </a:lnRef>
          <a:fillRef idx="3">
            <a:schemeClr val="accent1"/>
          </a:fillRef>
          <a:effectRef idx="2">
            <a:schemeClr val="accent1"/>
          </a:effectRef>
          <a:fontRef idx="minor">
            <a:schemeClr val="lt1"/>
          </a:fontRef>
        </p:style>
        <p:txBody>
          <a:bodyPr wrap="square" lIns="73152" tIns="100584" bIns="36576" rtlCol="0" anchor="ctr"/>
          <a:lstStyle/>
          <a:p>
            <a:pPr algn="ctr">
              <a:spcBef>
                <a:spcPts val="0"/>
              </a:spcBef>
              <a:spcAft>
                <a:spcPts val="400"/>
              </a:spcAft>
            </a:pPr>
            <a:r>
              <a:rPr sz="2400" b="1" i="0">
                <a:solidFill>
                  <a:srgbClr val="1E7A5A"/>
                </a:solidFill>
                <a:latin typeface="Arial" panose="020B0604020202020204"/>
                <a:ea typeface="微软雅黑" panose="020B0503020204020204" charset="-122"/>
                <a:cs typeface="Arial" panose="020B0604020202020204"/>
              </a:rPr>
              <a:t>⑤</a:t>
            </a:r>
            <a:endParaRPr sz="2400" b="1" i="0">
              <a:solidFill>
                <a:srgbClr val="1E7A5A"/>
              </a:solidFill>
              <a:latin typeface="Arial" panose="020B0604020202020204"/>
              <a:ea typeface="微软雅黑" panose="020B0503020204020204" charset="-122"/>
              <a:cs typeface="Arial" panose="020B0604020202020204"/>
            </a:endParaRPr>
          </a:p>
          <a:p>
            <a:pPr algn="ctr">
              <a:spcBef>
                <a:spcPts val="0"/>
              </a:spcBef>
              <a:spcAft>
                <a:spcPts val="700"/>
              </a:spcAft>
            </a:pPr>
            <a:r>
              <a:rPr b="1" i="0">
                <a:solidFill>
                  <a:srgbClr val="12263F"/>
                </a:solidFill>
                <a:latin typeface="Arial" panose="020B0604020202020204"/>
                <a:ea typeface="微软雅黑" panose="020B0503020204020204" charset="-122"/>
                <a:cs typeface="Arial" panose="020B0604020202020204"/>
              </a:rPr>
              <a:t>内积验证</a:t>
            </a:r>
            <a:endParaRPr b="1" i="0">
              <a:solidFill>
                <a:srgbClr val="12263F"/>
              </a:solidFill>
              <a:latin typeface="Arial" panose="020B0604020202020204"/>
              <a:ea typeface="微软雅黑" panose="020B0503020204020204" charset="-122"/>
              <a:cs typeface="Arial" panose="020B0604020202020204"/>
            </a:endParaRPr>
          </a:p>
          <a:p>
            <a:pPr algn="ctr">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随机 α 加权后</a:t>
            </a:r>
            <a:endParaRPr sz="1600" b="0" i="0">
              <a:solidFill>
                <a:srgbClr val="56606E"/>
              </a:solidFill>
              <a:latin typeface="Arial" panose="020B0604020202020204"/>
              <a:ea typeface="微软雅黑" panose="020B0503020204020204" charset="-122"/>
              <a:cs typeface="Arial" panose="020B0604020202020204"/>
            </a:endParaRPr>
          </a:p>
          <a:p>
            <a:pPr algn="ctr">
              <a:lnSpc>
                <a:spcPct val="102000"/>
              </a:lnSpc>
              <a:spcBef>
                <a:spcPts val="0"/>
              </a:spcBef>
              <a:spcAft>
                <a:spcPts val="300"/>
              </a:spcAft>
            </a:pPr>
            <a:r>
              <a:rPr sz="1600" b="0" i="0">
                <a:solidFill>
                  <a:srgbClr val="56606E"/>
                </a:solidFill>
                <a:latin typeface="Arial" panose="020B0604020202020204"/>
                <a:ea typeface="微软雅黑" panose="020B0503020204020204" charset="-122"/>
                <a:cs typeface="Arial" panose="020B0604020202020204"/>
              </a:rPr>
              <a:t>检查 Δ = 0</a:t>
            </a:r>
            <a:endParaRPr sz="1600" b="0" i="0">
              <a:solidFill>
                <a:srgbClr val="56606E"/>
              </a:solidFill>
              <a:latin typeface="Arial" panose="020B0604020202020204"/>
              <a:ea typeface="微软雅黑" panose="020B0503020204020204" charset="-122"/>
              <a:cs typeface="Arial" panose="020B0604020202020204"/>
            </a:endParaRPr>
          </a:p>
          <a:p>
            <a:pPr algn="ctr">
              <a:lnSpc>
                <a:spcPct val="102000"/>
              </a:lnSpc>
              <a:spcBef>
                <a:spcPts val="0"/>
              </a:spcBef>
              <a:spcAft>
                <a:spcPts val="300"/>
              </a:spcAft>
            </a:pPr>
            <a:endParaRPr sz="1600" b="0" i="0">
              <a:solidFill>
                <a:srgbClr val="56606E"/>
              </a:solidFill>
              <a:latin typeface="Arial" panose="020B0604020202020204"/>
              <a:ea typeface="微软雅黑" panose="020B0503020204020204" charset="-122"/>
              <a:cs typeface="Arial" panose="020B0604020202020204"/>
            </a:endParaRPr>
          </a:p>
        </p:txBody>
      </p:sp>
      <p:sp>
        <p:nvSpPr>
          <p:cNvPr id="3" name="文本框 2"/>
          <p:cNvSpPr txBox="1"/>
          <p:nvPr/>
        </p:nvSpPr>
        <p:spPr>
          <a:xfrm>
            <a:off x="448945" y="1123950"/>
            <a:ext cx="10385425" cy="720090"/>
          </a:xfrm>
          <a:prstGeom prst="rect">
            <a:avLst/>
          </a:prstGeom>
          <a:noFill/>
        </p:spPr>
        <p:txBody>
          <a:bodyPr wrap="square" rtlCol="0" anchor="t">
            <a:noAutofit/>
          </a:bodyPr>
          <a:p>
            <a:pPr algn="l">
              <a:lnSpc>
                <a:spcPct val="102000"/>
              </a:lnSpc>
              <a:spcBef>
                <a:spcPts val="0"/>
              </a:spcBef>
              <a:spcAft>
                <a:spcPts val="0"/>
              </a:spcAft>
            </a:pPr>
            <a:r>
              <a:rPr lang="zh-CN" sz="2400" b="1">
                <a:solidFill>
                  <a:srgbClr val="C0392B"/>
                </a:solidFill>
                <a:latin typeface="Arial" panose="020B0604020202020204"/>
                <a:ea typeface="微软雅黑" panose="020B0503020204020204" charset="-122"/>
                <a:cs typeface="Arial" panose="020B0604020202020204"/>
                <a:sym typeface="+mn-ea"/>
              </a:rPr>
              <a:t>技术</a:t>
            </a:r>
            <a:r>
              <a:rPr lang="en-US" altLang="zh-CN" sz="2400" b="1">
                <a:solidFill>
                  <a:srgbClr val="C0392B"/>
                </a:solidFill>
                <a:latin typeface="Arial" panose="020B0604020202020204"/>
                <a:ea typeface="微软雅黑" panose="020B0503020204020204" charset="-122"/>
                <a:cs typeface="Arial" panose="020B0604020202020204"/>
                <a:sym typeface="+mn-ea"/>
              </a:rPr>
              <a:t>1</a:t>
            </a:r>
            <a:r>
              <a:rPr lang="zh-CN" sz="2400" b="1">
                <a:solidFill>
                  <a:srgbClr val="C0392B"/>
                </a:solidFill>
                <a:latin typeface="Arial" panose="020B0604020202020204"/>
                <a:ea typeface="微软雅黑" panose="020B0503020204020204" charset="-122"/>
                <a:cs typeface="Arial" panose="020B0604020202020204"/>
                <a:sym typeface="+mn-ea"/>
              </a:rPr>
              <a:t>：</a:t>
            </a:r>
            <a:r>
              <a:rPr lang="zh-CN" altLang="en-US" sz="2400" b="1">
                <a:solidFill>
                  <a:srgbClr val="C0392B"/>
                </a:solidFill>
                <a:latin typeface="Arial" panose="020B0604020202020204"/>
                <a:ea typeface="微软雅黑" panose="020B0503020204020204" charset="-122"/>
                <a:cs typeface="Arial" panose="020B0604020202020204"/>
                <a:sym typeface="+mn-ea"/>
              </a:rPr>
              <a:t>基于扩展环的恶意安全乘法验证技术</a:t>
            </a:r>
            <a:endParaRPr lang="zh-CN" altLang="en-US" sz="2400" b="1">
              <a:solidFill>
                <a:srgbClr val="C0392B"/>
              </a:solidFill>
              <a:latin typeface="Arial" panose="020B0604020202020204"/>
              <a:ea typeface="微软雅黑" panose="020B0503020204020204" charset="-122"/>
              <a:cs typeface="Arial" panose="020B0604020202020204"/>
              <a:sym typeface="+mn-ea"/>
            </a:endParaRPr>
          </a:p>
          <a:p>
            <a:pPr algn="l">
              <a:lnSpc>
                <a:spcPct val="102000"/>
              </a:lnSpc>
              <a:spcBef>
                <a:spcPts val="0"/>
              </a:spcBef>
              <a:spcAft>
                <a:spcPts val="0"/>
              </a:spcAft>
            </a:pPr>
            <a:endParaRPr lang="zh-CN" altLang="en-US" sz="2400" b="1">
              <a:solidFill>
                <a:srgbClr val="C0392B"/>
              </a:solidFill>
              <a:latin typeface="Arial" panose="020B0604020202020204"/>
              <a:ea typeface="微软雅黑" panose="020B0503020204020204" charset="-122"/>
              <a:cs typeface="Arial" panose="020B0604020202020204"/>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446530" y="26670"/>
            <a:ext cx="10515600" cy="551180"/>
          </a:xfrm>
        </p:spPr>
        <p:txBody>
          <a:bodyPr/>
          <a:p>
            <a:r>
              <a:rPr lang="zh-CN" altLang="en-US"/>
              <a:t>三、</a:t>
            </a:r>
            <a:r>
              <a:rPr lang="zh-CN" altLang="en-US"/>
              <a:t>关键技术</a:t>
            </a:r>
            <a:endParaRPr lang="zh-CN" altLang="en-US"/>
          </a:p>
        </p:txBody>
      </p:sp>
      <p:sp>
        <p:nvSpPr>
          <p:cNvPr id="6" name="文本框 5"/>
          <p:cNvSpPr txBox="1"/>
          <p:nvPr/>
        </p:nvSpPr>
        <p:spPr>
          <a:xfrm>
            <a:off x="427355" y="1003300"/>
            <a:ext cx="10385425" cy="720090"/>
          </a:xfrm>
          <a:prstGeom prst="rect">
            <a:avLst/>
          </a:prstGeom>
          <a:noFill/>
        </p:spPr>
        <p:txBody>
          <a:bodyPr wrap="square" rtlCol="0" anchor="t">
            <a:noAutofit/>
          </a:bodyPr>
          <a:p>
            <a:pPr algn="l">
              <a:lnSpc>
                <a:spcPct val="102000"/>
              </a:lnSpc>
              <a:spcBef>
                <a:spcPts val="0"/>
              </a:spcBef>
              <a:spcAft>
                <a:spcPts val="0"/>
              </a:spcAft>
            </a:pPr>
            <a:r>
              <a:rPr lang="zh-CN" sz="2400" b="1">
                <a:solidFill>
                  <a:srgbClr val="C0392B"/>
                </a:solidFill>
                <a:latin typeface="Arial" panose="020B0604020202020204"/>
                <a:ea typeface="微软雅黑" panose="020B0503020204020204" charset="-122"/>
                <a:cs typeface="Arial" panose="020B0604020202020204"/>
                <a:sym typeface="+mn-ea"/>
              </a:rPr>
              <a:t>技术</a:t>
            </a:r>
            <a:r>
              <a:rPr lang="en-US" altLang="zh-CN" sz="2400" b="1">
                <a:solidFill>
                  <a:srgbClr val="C0392B"/>
                </a:solidFill>
                <a:latin typeface="Arial" panose="020B0604020202020204"/>
                <a:ea typeface="微软雅黑" panose="020B0503020204020204" charset="-122"/>
                <a:cs typeface="Arial" panose="020B0604020202020204"/>
                <a:sym typeface="+mn-ea"/>
              </a:rPr>
              <a:t>1.1</a:t>
            </a:r>
            <a:r>
              <a:rPr lang="zh-CN" sz="2400" b="1">
                <a:solidFill>
                  <a:srgbClr val="C0392B"/>
                </a:solidFill>
                <a:latin typeface="Arial" panose="020B0604020202020204"/>
                <a:ea typeface="微软雅黑" panose="020B0503020204020204" charset="-122"/>
                <a:cs typeface="Arial" panose="020B0604020202020204"/>
                <a:sym typeface="+mn-ea"/>
              </a:rPr>
              <a:t>：</a:t>
            </a:r>
            <a:r>
              <a:rPr sz="2400" b="1">
                <a:solidFill>
                  <a:srgbClr val="12263F"/>
                </a:solidFill>
                <a:latin typeface="Arial" panose="020B0604020202020204"/>
                <a:ea typeface="微软雅黑" panose="020B0503020204020204" charset="-122"/>
                <a:cs typeface="Arial" panose="020B0604020202020204"/>
                <a:sym typeface="+mn-ea"/>
              </a:rPr>
              <a:t>为什么必须在扩展环上验证</a:t>
            </a:r>
            <a:endParaRPr sz="2400" b="1">
              <a:solidFill>
                <a:srgbClr val="12263F"/>
              </a:solidFill>
              <a:latin typeface="Arial" panose="020B0604020202020204"/>
              <a:ea typeface="微软雅黑" panose="020B0503020204020204" charset="-122"/>
              <a:cs typeface="Arial" panose="020B0604020202020204"/>
              <a:sym typeface="+mn-ea"/>
            </a:endParaRPr>
          </a:p>
        </p:txBody>
      </p:sp>
      <p:sp>
        <p:nvSpPr>
          <p:cNvPr id="8" name="Rounded Rectangle 7"/>
          <p:cNvSpPr/>
          <p:nvPr>
            <p:custDataLst>
              <p:tags r:id="rId1"/>
            </p:custDataLst>
          </p:nvPr>
        </p:nvSpPr>
        <p:spPr>
          <a:xfrm>
            <a:off x="502920" y="2840000"/>
            <a:ext cx="5330825" cy="326000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p>
        </p:txBody>
      </p:sp>
      <mc:AlternateContent xmlns:mc="http://schemas.openxmlformats.org/markup-compatibility/2006">
        <mc:Choice xmlns:a14="http://schemas.microsoft.com/office/drawing/2010/main" Requires="a14">
          <p:sp>
            <p:nvSpPr>
              <p:cNvPr id="9" name="Rectangle 8"/>
              <p:cNvSpPr/>
              <p:nvPr>
                <p:custDataLst>
                  <p:tags r:id="rId2"/>
                </p:custDataLst>
              </p:nvPr>
            </p:nvSpPr>
            <p:spPr>
              <a:xfrm>
                <a:off x="502920" y="2780310"/>
                <a:ext cx="5330825" cy="56324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2000" b="1" i="0">
                    <a:solidFill>
                      <a:srgbClr val="FFFFFF"/>
                    </a:solidFill>
                    <a:latin typeface="Arial" panose="020B0604020202020204"/>
                    <a:ea typeface="微软雅黑" panose="020B0503020204020204" charset="-122"/>
                    <a:cs typeface="Arial" panose="020B0604020202020204"/>
                  </a:rPr>
                  <a:t>  </a:t>
                </a:r>
                <a:r>
                  <a:rPr lang="zh-CN" sz="2000" b="1" i="0">
                    <a:solidFill>
                      <a:srgbClr val="FFFFFF"/>
                    </a:solidFill>
                    <a:latin typeface="Arial" panose="020B0604020202020204"/>
                    <a:ea typeface="微软雅黑" panose="020B0503020204020204" charset="-122"/>
                    <a:cs typeface="Arial" panose="020B0604020202020204"/>
                  </a:rPr>
                  <a:t>原始环</a:t>
                </a:r>
                <a:r>
                  <a:rPr sz="2000" b="1" i="0">
                    <a:solidFill>
                      <a:srgbClr val="FFFFFF"/>
                    </a:solidFill>
                    <a:latin typeface="Arial" panose="020B0604020202020204"/>
                    <a:ea typeface="微软雅黑" panose="020B0503020204020204" charset="-122"/>
                    <a:cs typeface="Arial" panose="020B0604020202020204"/>
                  </a:rPr>
                  <a:t> </a:t>
                </a:r>
                <a14:m>
                  <m:oMath xmlns:m="http://schemas.openxmlformats.org/officeDocument/2006/math">
                    <m:sSub>
                      <m:sSubPr>
                        <m:ctrlPr>
                          <a:rPr sz="2000" b="1">
                            <a:solidFill>
                              <a:srgbClr val="FFFFFF"/>
                            </a:solidFill>
                            <a:latin typeface="Arial" panose="020B0604020202020204"/>
                            <a:ea typeface="微软雅黑" panose="020B0503020204020204" charset="-122"/>
                            <a:cs typeface="Arial" panose="020B0604020202020204"/>
                            <a:sym typeface="+mn-ea"/>
                          </a:rPr>
                        </m:ctrlPr>
                      </m:sSubPr>
                      <m:e>
                        <m:r>
                          <a:rPr sz="2000" b="1">
                            <a:solidFill>
                              <a:srgbClr val="FFFFFF"/>
                            </a:solidFill>
                            <a:latin typeface="Arial" panose="020B0604020202020204"/>
                            <a:ea typeface="微软雅黑" panose="020B0503020204020204" charset="-122"/>
                            <a:cs typeface="Arial" panose="020B0604020202020204"/>
                            <a:sym typeface="+mn-ea"/>
                          </a:rPr>
                          <m:t>𝜡</m:t>
                        </m:r>
                      </m:e>
                      <m:sub>
                        <m:sSup>
                          <m:sSupPr>
                            <m:ctrlPr>
                              <a:rPr sz="2000" b="1">
                                <a:solidFill>
                                  <a:srgbClr val="FFFFFF"/>
                                </a:solidFill>
                                <a:latin typeface="Arial" panose="020B0604020202020204"/>
                                <a:ea typeface="微软雅黑" panose="020B0503020204020204" charset="-122"/>
                                <a:cs typeface="Arial" panose="020B0604020202020204"/>
                                <a:sym typeface="+mn-ea"/>
                              </a:rPr>
                            </m:ctrlPr>
                          </m:sSupPr>
                          <m:e>
                            <m:r>
                              <a:rPr sz="2000" b="1">
                                <a:solidFill>
                                  <a:srgbClr val="FFFFFF"/>
                                </a:solidFill>
                                <a:latin typeface="Arial" panose="020B0604020202020204"/>
                                <a:ea typeface="微软雅黑" panose="020B0503020204020204" charset="-122"/>
                                <a:cs typeface="Arial" panose="020B0604020202020204"/>
                                <a:sym typeface="+mn-ea"/>
                              </a:rPr>
                              <m:t>𝟐</m:t>
                            </m:r>
                          </m:e>
                          <m:sup>
                            <m:r>
                              <a:rPr sz="2000" b="1">
                                <a:solidFill>
                                  <a:srgbClr val="FFFFFF"/>
                                </a:solidFill>
                                <a:latin typeface="Arial" panose="020B0604020202020204"/>
                                <a:ea typeface="微软雅黑" panose="020B0503020204020204" charset="-122"/>
                                <a:cs typeface="Arial" panose="020B0604020202020204"/>
                                <a:sym typeface="+mn-ea"/>
                              </a:rPr>
                              <m:t>𝜾</m:t>
                            </m:r>
                          </m:sup>
                        </m:sSup>
                      </m:sub>
                    </m:sSub>
                  </m:oMath>
                </a14:m>
                <a:endParaRPr lang="zh-CN" sz="2000" b="1">
                  <a:solidFill>
                    <a:schemeClr val="bg1"/>
                  </a:solidFill>
                  <a:latin typeface="Cambria Math" panose="02040503050406030204" charset="0"/>
                  <a:ea typeface="微软雅黑" panose="020B0503020204020204" charset="-122"/>
                  <a:cs typeface="Cambria Math" panose="02040503050406030204" charset="0"/>
                  <a:sym typeface="+mn-ea"/>
                </a:endParaRPr>
              </a:p>
            </p:txBody>
          </p:sp>
        </mc:Choice>
        <mc:Fallback>
          <p:sp>
            <p:nvSpPr>
              <p:cNvPr id="9" name="Rectangle 8"/>
              <p:cNvSpPr>
                <a:spLocks noRot="1" noChangeAspect="1" noMove="1" noResize="1" noEditPoints="1" noAdjustHandles="1" noChangeArrowheads="1" noChangeShapeType="1" noTextEdit="1"/>
              </p:cNvSpPr>
              <p:nvPr>
                <p:custDataLst>
                  <p:tags r:id="rId3"/>
                </p:custDataLst>
              </p:nvPr>
            </p:nvSpPr>
            <p:spPr>
              <a:xfrm>
                <a:off x="502920" y="2780310"/>
                <a:ext cx="5330825" cy="563245"/>
              </a:xfrm>
              <a:prstGeom prst="rect">
                <a:avLst/>
              </a:prstGeom>
              <a:blipFill rotWithShape="1">
                <a:blip r:embed="rId4"/>
                <a:stretch>
                  <a:fillRect t="-50" b="50"/>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10" name="TextBox 9"/>
          <p:cNvSpPr txBox="1"/>
          <p:nvPr>
            <p:custDataLst>
              <p:tags r:id="rId5"/>
            </p:custDataLst>
          </p:nvPr>
        </p:nvSpPr>
        <p:spPr>
          <a:xfrm>
            <a:off x="692920" y="3890000"/>
            <a:ext cx="4950825" cy="1300000"/>
          </a:xfrm>
          <a:prstGeom prst="rect">
            <a:avLst/>
          </a:prstGeom>
          <a:noFill/>
        </p:spPr>
        <p:txBody>
          <a:bodyPr wrap="square" lIns="0" tIns="0" rIns="0" bIns="0" anchor="t">
            <a:noAutofit/>
          </a:bodyPr>
          <a:lstStyle/>
          <a:p>
            <a:pPr algn="l">
              <a:lnSpc>
                <a:spcPct val="105000"/>
              </a:lnSpc>
              <a:spcBef>
                <a:spcPts val="0"/>
              </a:spcBef>
              <a:spcAft>
                <a:spcPts val="500"/>
              </a:spcAft>
            </a:pPr>
            <a:r>
              <a:rPr lang="zh-CN" altLang="en-US" sz="1800" b="1">
                <a:solidFill>
                  <a:srgbClr val="C0392B"/>
                </a:solidFill>
                <a:latin typeface="Arial" panose="020B0604020202020204"/>
                <a:ea typeface="微软雅黑" panose="020B0503020204020204" charset="-122"/>
                <a:cs typeface="Arial" panose="020B0604020202020204"/>
                <a:sym typeface="+mn-ea"/>
              </a:rPr>
              <a:t>• </a:t>
            </a:r>
            <a:r>
              <a:rPr lang="zh-CN" altLang="en-US" sz="1800">
                <a:solidFill>
                  <a:srgbClr val="56606E"/>
                </a:solidFill>
                <a:latin typeface="Arial" panose="020B0604020202020204"/>
                <a:ea typeface="微软雅黑" panose="020B0503020204020204" charset="-122"/>
                <a:cs typeface="Arial" panose="020B0604020202020204"/>
                <a:sym typeface="+mn-ea"/>
              </a:rPr>
              <a:t>e = 8 = 2^(ℓ−1) 是零因子，在环里没有逆元</a:t>
            </a:r>
            <a:endParaRPr lang="zh-CN" altLang="en-US" sz="1800">
              <a:solidFill>
                <a:srgbClr val="56606E"/>
              </a:solidFill>
              <a:latin typeface="Arial" panose="020B0604020202020204"/>
              <a:ea typeface="微软雅黑" panose="020B0503020204020204" charset="-122"/>
              <a:cs typeface="Arial" panose="020B0604020202020204"/>
              <a:sym typeface="+mn-ea"/>
            </a:endParaRPr>
          </a:p>
          <a:p>
            <a:pPr algn="l">
              <a:lnSpc>
                <a:spcPct val="105000"/>
              </a:lnSpc>
              <a:spcBef>
                <a:spcPts val="0"/>
              </a:spcBef>
              <a:spcAft>
                <a:spcPts val="500"/>
              </a:spcAft>
            </a:pPr>
            <a:r>
              <a:rPr lang="zh-CN" altLang="en-US" sz="1800" b="1">
                <a:solidFill>
                  <a:srgbClr val="C0392B"/>
                </a:solidFill>
                <a:latin typeface="Arial" panose="020B0604020202020204"/>
                <a:ea typeface="微软雅黑" panose="020B0503020204020204" charset="-122"/>
                <a:cs typeface="Arial" panose="020B0604020202020204"/>
                <a:sym typeface="+mn-ea"/>
              </a:rPr>
              <a:t>• </a:t>
            </a:r>
            <a:r>
              <a:rPr lang="zh-CN" altLang="en-US" sz="1800">
                <a:solidFill>
                  <a:srgbClr val="56606E"/>
                </a:solidFill>
                <a:latin typeface="Arial" panose="020B0604020202020204"/>
                <a:ea typeface="微软雅黑" panose="020B0503020204020204" charset="-122"/>
                <a:cs typeface="Arial" panose="020B0604020202020204"/>
                <a:sym typeface="+mn-ea"/>
              </a:rPr>
              <a:t>r 为奇数 → Δ = 8 ≠ 0，错误当场暴露</a:t>
            </a:r>
            <a:endParaRPr lang="zh-CN" altLang="en-US" sz="1800">
              <a:solidFill>
                <a:srgbClr val="56606E"/>
              </a:solidFill>
              <a:latin typeface="Arial" panose="020B0604020202020204"/>
              <a:ea typeface="微软雅黑" panose="020B0503020204020204" charset="-122"/>
              <a:cs typeface="Arial" panose="020B0604020202020204"/>
              <a:sym typeface="+mn-ea"/>
            </a:endParaRPr>
          </a:p>
          <a:p>
            <a:pPr algn="l">
              <a:lnSpc>
                <a:spcPct val="105000"/>
              </a:lnSpc>
              <a:spcBef>
                <a:spcPts val="0"/>
              </a:spcBef>
              <a:spcAft>
                <a:spcPts val="500"/>
              </a:spcAft>
            </a:pPr>
            <a:r>
              <a:rPr lang="zh-CN" altLang="en-US" sz="1800" b="1">
                <a:solidFill>
                  <a:srgbClr val="C0392B"/>
                </a:solidFill>
                <a:latin typeface="Arial" panose="020B0604020202020204"/>
                <a:ea typeface="微软雅黑" panose="020B0503020204020204" charset="-122"/>
                <a:cs typeface="Arial" panose="020B0604020202020204"/>
                <a:sym typeface="+mn-ea"/>
              </a:rPr>
              <a:t>• </a:t>
            </a:r>
            <a:r>
              <a:rPr lang="zh-CN" altLang="en-US" sz="1800">
                <a:solidFill>
                  <a:srgbClr val="56606E"/>
                </a:solidFill>
                <a:latin typeface="Arial" panose="020B0604020202020204"/>
                <a:ea typeface="微软雅黑" panose="020B0503020204020204" charset="-122"/>
                <a:cs typeface="Arial" panose="020B0604020202020204"/>
                <a:sym typeface="+mn-ea"/>
              </a:rPr>
              <a:t>r 为偶数 → Δ = 0，错误被悄悄吞掉</a:t>
            </a:r>
            <a:endParaRPr lang="zh-CN" altLang="en-US" sz="1800">
              <a:solidFill>
                <a:srgbClr val="56606E"/>
              </a:solidFill>
              <a:latin typeface="Arial" panose="020B0604020202020204"/>
              <a:ea typeface="微软雅黑" panose="020B0503020204020204" charset="-122"/>
              <a:cs typeface="Arial" panose="020B0604020202020204"/>
              <a:sym typeface="+mn-ea"/>
            </a:endParaRPr>
          </a:p>
        </p:txBody>
      </p:sp>
      <p:sp>
        <p:nvSpPr>
          <p:cNvPr id="11" name="Rounded Rectangle 10"/>
          <p:cNvSpPr/>
          <p:nvPr>
            <p:custDataLst>
              <p:tags r:id="rId6"/>
            </p:custDataLst>
          </p:nvPr>
        </p:nvSpPr>
        <p:spPr>
          <a:xfrm>
            <a:off x="692920" y="5250000"/>
            <a:ext cx="4950825" cy="740000"/>
          </a:xfrm>
          <a:prstGeom prst="roundRect">
            <a:avLst>
              <a:gd name="adj" fmla="val 10000"/>
            </a:avLst>
          </a:prstGeom>
          <a:solidFill>
            <a:srgbClr val="FBEEEB"/>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spcBef>
                <a:spcPts val="0"/>
              </a:spcBef>
              <a:spcAft>
                <a:spcPts val="0"/>
              </a:spcAft>
            </a:pPr>
            <a:r>
              <a:rPr lang="zh-CN" altLang="en-US" sz="2000" b="1">
                <a:solidFill>
                  <a:srgbClr val="C0392B"/>
                </a:solidFill>
                <a:latin typeface="Arial" panose="020B0604020202020204"/>
                <a:ea typeface="微软雅黑" panose="020B0503020204020204" charset="-122"/>
                <a:cs typeface="Arial" panose="020B0604020202020204"/>
                <a:sym typeface="+mn-ea"/>
              </a:rPr>
              <a:t>✗ 攻击成功率 50%  ——  无法保证恶意安全</a:t>
            </a:r>
            <a:endParaRPr lang="zh-CN" altLang="en-US" sz="2000" b="1">
              <a:solidFill>
                <a:srgbClr val="C0392B"/>
              </a:solidFill>
              <a:latin typeface="Arial" panose="020B0604020202020204"/>
              <a:ea typeface="微软雅黑" panose="020B0503020204020204" charset="-122"/>
              <a:cs typeface="Arial" panose="020B0604020202020204"/>
              <a:sym typeface="+mn-ea"/>
            </a:endParaRPr>
          </a:p>
        </p:txBody>
      </p:sp>
      <p:sp>
        <p:nvSpPr>
          <p:cNvPr id="12" name="Rounded Rectangle 11"/>
          <p:cNvSpPr/>
          <p:nvPr>
            <p:custDataLst>
              <p:tags r:id="rId7"/>
            </p:custDataLst>
          </p:nvPr>
        </p:nvSpPr>
        <p:spPr>
          <a:xfrm>
            <a:off x="6373495" y="2840000"/>
            <a:ext cx="5330825" cy="326000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p>
        </p:txBody>
      </p:sp>
      <mc:AlternateContent xmlns:mc="http://schemas.openxmlformats.org/markup-compatibility/2006">
        <mc:Choice xmlns:a14="http://schemas.microsoft.com/office/drawing/2010/main" Requires="a14">
          <p:sp>
            <p:nvSpPr>
              <p:cNvPr id="13" name="Rectangle 12"/>
              <p:cNvSpPr/>
              <p:nvPr>
                <p:custDataLst>
                  <p:tags r:id="rId8"/>
                </p:custDataLst>
              </p:nvPr>
            </p:nvSpPr>
            <p:spPr>
              <a:xfrm>
                <a:off x="6373495" y="2780310"/>
                <a:ext cx="5330825" cy="563245"/>
              </a:xfrm>
              <a:prstGeom prst="rect">
                <a:avLst/>
              </a:prstGeom>
              <a:solidFill>
                <a:srgbClr val="1E7A5A"/>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400" b="1" i="0">
                    <a:solidFill>
                      <a:srgbClr val="FFFFFF"/>
                    </a:solidFill>
                    <a:latin typeface="Arial" panose="020B0604020202020204"/>
                    <a:ea typeface="微软雅黑" panose="020B0503020204020204" charset="-122"/>
                    <a:cs typeface="Arial" panose="020B0604020202020204"/>
                  </a:rPr>
                  <a:t> </a:t>
                </a:r>
                <a:r>
                  <a:rPr sz="2000" b="1" i="0">
                    <a:solidFill>
                      <a:srgbClr val="FFFFFF"/>
                    </a:solidFill>
                    <a:latin typeface="Arial" panose="020B0604020202020204"/>
                    <a:ea typeface="微软雅黑" panose="020B0503020204020204" charset="-122"/>
                    <a:cs typeface="Arial" panose="020B0604020202020204"/>
                  </a:rPr>
                  <a:t> 扩展环 </a:t>
                </a:r>
                <a14:m>
                  <m:oMath xmlns:m="http://schemas.openxmlformats.org/officeDocument/2006/math">
                    <m:sSub>
                      <m:sSubPr>
                        <m:ctrlPr>
                          <a:rPr sz="2000" b="1">
                            <a:solidFill>
                              <a:srgbClr val="FFFFFF"/>
                            </a:solidFill>
                            <a:latin typeface="Arial" panose="020B0604020202020204"/>
                            <a:ea typeface="微软雅黑" panose="020B0503020204020204" charset="-122"/>
                            <a:cs typeface="Arial" panose="020B0604020202020204"/>
                            <a:sym typeface="+mn-ea"/>
                          </a:rPr>
                        </m:ctrlPr>
                      </m:sSubPr>
                      <m:e>
                        <m:r>
                          <a:rPr sz="2000" b="1">
                            <a:solidFill>
                              <a:srgbClr val="FFFFFF"/>
                            </a:solidFill>
                            <a:latin typeface="Arial" panose="020B0604020202020204"/>
                            <a:ea typeface="微软雅黑" panose="020B0503020204020204" charset="-122"/>
                            <a:cs typeface="Arial" panose="020B0604020202020204"/>
                            <a:sym typeface="+mn-ea"/>
                          </a:rPr>
                          <m:t>𝜡</m:t>
                        </m:r>
                      </m:e>
                      <m:sub>
                        <m:sSup>
                          <m:sSupPr>
                            <m:ctrlPr>
                              <a:rPr sz="2000" b="1">
                                <a:solidFill>
                                  <a:srgbClr val="FFFFFF"/>
                                </a:solidFill>
                                <a:latin typeface="Arial" panose="020B0604020202020204"/>
                                <a:ea typeface="微软雅黑" panose="020B0503020204020204" charset="-122"/>
                                <a:cs typeface="Arial" panose="020B0604020202020204"/>
                                <a:sym typeface="+mn-ea"/>
                              </a:rPr>
                            </m:ctrlPr>
                          </m:sSupPr>
                          <m:e>
                            <m:r>
                              <a:rPr sz="2000" b="1">
                                <a:solidFill>
                                  <a:srgbClr val="FFFFFF"/>
                                </a:solidFill>
                                <a:latin typeface="Arial" panose="020B0604020202020204"/>
                                <a:ea typeface="微软雅黑" panose="020B0503020204020204" charset="-122"/>
                                <a:cs typeface="Arial" panose="020B0604020202020204"/>
                                <a:sym typeface="+mn-ea"/>
                              </a:rPr>
                              <m:t>𝟐</m:t>
                            </m:r>
                          </m:e>
                          <m:sup>
                            <m:r>
                              <a:rPr sz="2000" b="1">
                                <a:solidFill>
                                  <a:srgbClr val="FFFFFF"/>
                                </a:solidFill>
                                <a:latin typeface="Arial" panose="020B0604020202020204"/>
                                <a:ea typeface="微软雅黑" panose="020B0503020204020204" charset="-122"/>
                                <a:cs typeface="Arial" panose="020B0604020202020204"/>
                                <a:sym typeface="+mn-ea"/>
                              </a:rPr>
                              <m:t>𝜾</m:t>
                            </m:r>
                          </m:sup>
                        </m:sSup>
                      </m:sub>
                    </m:sSub>
                    <m:r>
                      <a:rPr sz="2000" b="1">
                        <a:solidFill>
                          <a:srgbClr val="FFFFFF"/>
                        </a:solidFill>
                        <a:latin typeface="Arial" panose="020B0604020202020204"/>
                        <a:ea typeface="微软雅黑" panose="020B0503020204020204" charset="-122"/>
                        <a:cs typeface="Arial" panose="020B0604020202020204"/>
                        <a:sym typeface="+mn-ea"/>
                      </a:rPr>
                      <m:t>[</m:t>
                    </m:r>
                    <m:r>
                      <a:rPr sz="2000" b="1">
                        <a:solidFill>
                          <a:srgbClr val="FFFFFF"/>
                        </a:solidFill>
                        <a:latin typeface="Arial" panose="020B0604020202020204"/>
                        <a:ea typeface="微软雅黑" panose="020B0503020204020204" charset="-122"/>
                        <a:cs typeface="Arial" panose="020B0604020202020204"/>
                        <a:sym typeface="+mn-ea"/>
                      </a:rPr>
                      <m:t>𝒙</m:t>
                    </m:r>
                    <m:r>
                      <a:rPr sz="2000" b="1">
                        <a:solidFill>
                          <a:srgbClr val="FFFFFF"/>
                        </a:solidFill>
                        <a:latin typeface="Arial" panose="020B0604020202020204"/>
                        <a:ea typeface="微软雅黑" panose="020B0503020204020204" charset="-122"/>
                        <a:cs typeface="Arial" panose="020B0604020202020204"/>
                        <a:sym typeface="+mn-ea"/>
                      </a:rPr>
                      <m:t>]/</m:t>
                    </m:r>
                    <m:r>
                      <a:rPr sz="2000" b="1">
                        <a:solidFill>
                          <a:srgbClr val="FFFFFF"/>
                        </a:solidFill>
                        <a:latin typeface="Arial" panose="020B0604020202020204"/>
                        <a:ea typeface="微软雅黑" panose="020B0503020204020204" charset="-122"/>
                        <a:cs typeface="Arial" panose="020B0604020202020204"/>
                        <a:sym typeface="+mn-ea"/>
                      </a:rPr>
                      <m:t>𝒇</m:t>
                    </m:r>
                    <m:r>
                      <a:rPr sz="2000" b="1">
                        <a:solidFill>
                          <a:srgbClr val="FFFFFF"/>
                        </a:solidFill>
                        <a:latin typeface="Arial" panose="020B0604020202020204"/>
                        <a:ea typeface="微软雅黑" panose="020B0503020204020204" charset="-122"/>
                        <a:cs typeface="Arial" panose="020B0604020202020204"/>
                        <a:sym typeface="+mn-ea"/>
                      </a:rPr>
                      <m:t>(</m:t>
                    </m:r>
                    <m:r>
                      <a:rPr sz="2000" b="1">
                        <a:solidFill>
                          <a:srgbClr val="FFFFFF"/>
                        </a:solidFill>
                        <a:latin typeface="Arial" panose="020B0604020202020204"/>
                        <a:ea typeface="微软雅黑" panose="020B0503020204020204" charset="-122"/>
                        <a:cs typeface="Arial" panose="020B0604020202020204"/>
                        <a:sym typeface="+mn-ea"/>
                      </a:rPr>
                      <m:t>𝒙</m:t>
                    </m:r>
                    <m:r>
                      <a:rPr sz="2000" b="1">
                        <a:solidFill>
                          <a:srgbClr val="FFFFFF"/>
                        </a:solidFill>
                        <a:latin typeface="Arial" panose="020B0604020202020204"/>
                        <a:ea typeface="微软雅黑" panose="020B0503020204020204" charset="-122"/>
                        <a:cs typeface="Arial" panose="020B0604020202020204"/>
                        <a:sym typeface="+mn-ea"/>
                      </a:rPr>
                      <m:t>)</m:t>
                    </m:r>
                    <m:r>
                      <a:rPr lang="en-US" sz="2000" b="1">
                        <a:solidFill>
                          <a:srgbClr val="FFFFFF"/>
                        </a:solidFill>
                        <a:latin typeface="Arial" panose="020B0604020202020204"/>
                        <a:ea typeface="微软雅黑" panose="020B0503020204020204" charset="-122"/>
                        <a:cs typeface="Arial" panose="020B0604020202020204"/>
                        <a:sym typeface="+mn-ea"/>
                      </a:rPr>
                      <m:t>     </m:t>
                    </m:r>
                  </m:oMath>
                </a14:m>
                <a:r>
                  <a:rPr lang="zh-CN" altLang="en-US" sz="2000" b="1">
                    <a:solidFill>
                      <a:srgbClr val="1E7A5A"/>
                    </a:solidFill>
                    <a:latin typeface="Arial" panose="020B0604020202020204"/>
                    <a:ea typeface="微软雅黑" panose="020B0503020204020204" charset="-122"/>
                    <a:cs typeface="Arial" panose="020B0604020202020204"/>
                    <a:sym typeface="+mn-ea"/>
                  </a:rPr>
                  <a:t>假设</a:t>
                </a:r>
                <a:r>
                  <a:rPr lang="en-US" altLang="zh-CN" sz="2000" b="1">
                    <a:solidFill>
                      <a:schemeClr val="bg1"/>
                    </a:solidFill>
                    <a:latin typeface="Arial" panose="020B0604020202020204"/>
                    <a:ea typeface="微软雅黑" panose="020B0503020204020204" charset="-122"/>
                    <a:cs typeface="Arial" panose="020B0604020202020204"/>
                    <a:sym typeface="+mn-ea"/>
                  </a:rPr>
                  <a:t>f(x)=</a:t>
                </a:r>
                <a14:m>
                  <m:oMath xmlns:m="http://schemas.openxmlformats.org/officeDocument/2006/math">
                    <m:sSup>
                      <m:sSupPr>
                        <m:ctrlP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ctrlPr>
                      </m:sSupPr>
                      <m:e>
                        <m: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t>𝒙</m:t>
                        </m:r>
                      </m:e>
                      <m:sup>
                        <m: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t>𝟐</m:t>
                        </m:r>
                      </m:sup>
                    </m:sSup>
                    <m: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t>+</m:t>
                    </m:r>
                    <m: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t>𝒙</m:t>
                    </m:r>
                    <m: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t>+</m:t>
                    </m:r>
                    <m:r>
                      <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rPr>
                      <m:t>𝟏</m:t>
                    </m:r>
                  </m:oMath>
                </a14:m>
                <a:endParaRPr lang="en-US" altLang="zh-CN" sz="2000" b="1" i="1">
                  <a:solidFill>
                    <a:schemeClr val="bg1"/>
                  </a:solidFill>
                  <a:latin typeface="Cambria Math" panose="02040503050406030204" charset="0"/>
                  <a:ea typeface="微软雅黑" panose="020B0503020204020204" charset="-122"/>
                  <a:cs typeface="Cambria Math" panose="02040503050406030204" charset="0"/>
                  <a:sym typeface="+mn-ea"/>
                </a:endParaRPr>
              </a:p>
            </p:txBody>
          </p:sp>
        </mc:Choice>
        <mc:Fallback>
          <p:sp>
            <p:nvSpPr>
              <p:cNvPr id="13" name="Rectangle 12"/>
              <p:cNvSpPr>
                <a:spLocks noRot="1" noChangeAspect="1" noMove="1" noResize="1" noEditPoints="1" noAdjustHandles="1" noChangeArrowheads="1" noChangeShapeType="1" noTextEdit="1"/>
              </p:cNvSpPr>
              <p:nvPr>
                <p:custDataLst>
                  <p:tags r:id="rId9"/>
                </p:custDataLst>
              </p:nvPr>
            </p:nvSpPr>
            <p:spPr>
              <a:xfrm>
                <a:off x="6373495" y="2780310"/>
                <a:ext cx="5330825" cy="563245"/>
              </a:xfrm>
              <a:prstGeom prst="rect">
                <a:avLst/>
              </a:prstGeom>
              <a:blipFill rotWithShape="1">
                <a:blip r:embed="rId10"/>
                <a:stretch>
                  <a:fillRect t="-50" b="50"/>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14" name="TextBox 13"/>
          <p:cNvSpPr txBox="1"/>
          <p:nvPr>
            <p:custDataLst>
              <p:tags r:id="rId11"/>
            </p:custDataLst>
          </p:nvPr>
        </p:nvSpPr>
        <p:spPr>
          <a:xfrm>
            <a:off x="6563495" y="3890000"/>
            <a:ext cx="4950825" cy="999490"/>
          </a:xfrm>
          <a:prstGeom prst="rect">
            <a:avLst/>
          </a:prstGeom>
          <a:noFill/>
        </p:spPr>
        <p:txBody>
          <a:bodyPr wrap="square" lIns="0" tIns="0" rIns="0" bIns="0" anchor="t">
            <a:spAutoFit/>
          </a:bodyPr>
          <a:lstStyle/>
          <a:p>
            <a:pPr algn="l">
              <a:lnSpc>
                <a:spcPct val="105000"/>
              </a:lnSpc>
              <a:spcBef>
                <a:spcPts val="0"/>
              </a:spcBef>
              <a:spcAft>
                <a:spcPts val="500"/>
              </a:spcAft>
            </a:pPr>
            <a:r>
              <a:rPr lang="zh-CN" altLang="en-US" sz="1800" b="1">
                <a:solidFill>
                  <a:srgbClr val="1E7A5A"/>
                </a:solidFill>
                <a:latin typeface="Arial" panose="020B0604020202020204"/>
                <a:ea typeface="微软雅黑" panose="020B0503020204020204" charset="-122"/>
                <a:cs typeface="Arial" panose="020B0604020202020204"/>
                <a:sym typeface="+mn-ea"/>
              </a:rPr>
              <a:t>•</a:t>
            </a:r>
            <a:r>
              <a:rPr lang="en-US" altLang="zh-CN" sz="1800">
                <a:solidFill>
                  <a:srgbClr val="56606E"/>
                </a:solidFill>
                <a:latin typeface="Arial" panose="020B0604020202020204"/>
                <a:ea typeface="微软雅黑" panose="020B0503020204020204" charset="-122"/>
                <a:cs typeface="Arial" panose="020B0604020202020204"/>
                <a:sym typeface="+mn-ea"/>
              </a:rPr>
              <a:t>在扩展环</a:t>
            </a:r>
            <a:r>
              <a:rPr lang="zh-CN" altLang="en-US" sz="1800">
                <a:solidFill>
                  <a:srgbClr val="56606E"/>
                </a:solidFill>
                <a:latin typeface="Arial" panose="020B0604020202020204"/>
                <a:ea typeface="微软雅黑" panose="020B0503020204020204" charset="-122"/>
                <a:cs typeface="Arial" panose="020B0604020202020204"/>
                <a:sym typeface="+mn-ea"/>
              </a:rPr>
              <a:t>中</a:t>
            </a:r>
            <a:r>
              <a:rPr lang="zh-CN" altLang="en-US">
                <a:solidFill>
                  <a:srgbClr val="56606E"/>
                </a:solidFill>
                <a:latin typeface="Arial" panose="020B0604020202020204"/>
                <a:ea typeface="微软雅黑" panose="020B0503020204020204" charset="-122"/>
                <a:cs typeface="Arial" panose="020B0604020202020204"/>
                <a:sym typeface="+mn-ea"/>
              </a:rPr>
              <a:t>e</a:t>
            </a:r>
            <a:r>
              <a:rPr lang="en-US" altLang="zh-CN">
                <a:solidFill>
                  <a:srgbClr val="56606E"/>
                </a:solidFill>
                <a:latin typeface="Arial" panose="020B0604020202020204"/>
                <a:ea typeface="微软雅黑" panose="020B0503020204020204" charset="-122"/>
                <a:cs typeface="Arial" panose="020B0604020202020204"/>
                <a:sym typeface="+mn-ea"/>
              </a:rPr>
              <a:t>=8+0x</a:t>
            </a:r>
            <a:r>
              <a:rPr lang="zh-CN" altLang="en-US">
                <a:solidFill>
                  <a:srgbClr val="56606E"/>
                </a:solidFill>
                <a:latin typeface="Arial" panose="020B0604020202020204"/>
                <a:ea typeface="微软雅黑" panose="020B0503020204020204" charset="-122"/>
                <a:cs typeface="Arial" panose="020B0604020202020204"/>
                <a:sym typeface="+mn-ea"/>
              </a:rPr>
              <a:t> </a:t>
            </a:r>
            <a:endParaRPr lang="zh-CN" altLang="en-US">
              <a:solidFill>
                <a:srgbClr val="56606E"/>
              </a:solidFill>
              <a:latin typeface="Arial" panose="020B0604020202020204"/>
              <a:ea typeface="微软雅黑" panose="020B0503020204020204" charset="-122"/>
              <a:cs typeface="Arial" panose="020B0604020202020204"/>
              <a:sym typeface="+mn-ea"/>
            </a:endParaRPr>
          </a:p>
          <a:p>
            <a:pPr algn="l">
              <a:lnSpc>
                <a:spcPct val="105000"/>
              </a:lnSpc>
              <a:spcBef>
                <a:spcPts val="0"/>
              </a:spcBef>
              <a:spcAft>
                <a:spcPts val="500"/>
              </a:spcAft>
            </a:pPr>
            <a:r>
              <a:rPr lang="zh-CN" altLang="en-US" sz="1800" b="1">
                <a:solidFill>
                  <a:srgbClr val="1E7A5A"/>
                </a:solidFill>
                <a:latin typeface="Arial" panose="020B0604020202020204"/>
                <a:ea typeface="微软雅黑" panose="020B0503020204020204" charset="-122"/>
                <a:cs typeface="Arial" panose="020B0604020202020204"/>
                <a:sym typeface="+mn-ea"/>
              </a:rPr>
              <a:t>• </a:t>
            </a:r>
            <a:r>
              <a:rPr lang="zh-CN" altLang="en-US" sz="1800">
                <a:solidFill>
                  <a:srgbClr val="56606E"/>
                </a:solidFill>
                <a:latin typeface="Arial" panose="020B0604020202020204"/>
                <a:ea typeface="微软雅黑" panose="020B0503020204020204" charset="-122"/>
                <a:cs typeface="Arial" panose="020B0604020202020204"/>
                <a:sym typeface="+mn-ea"/>
              </a:rPr>
              <a:t>r</a:t>
            </a:r>
            <a:r>
              <a:rPr lang="en-US" altLang="zh-CN" sz="1800">
                <a:solidFill>
                  <a:srgbClr val="56606E"/>
                </a:solidFill>
                <a:latin typeface="Arial" panose="020B0604020202020204"/>
                <a:ea typeface="微软雅黑" panose="020B0503020204020204" charset="-122"/>
                <a:cs typeface="Arial" panose="020B0604020202020204"/>
                <a:sym typeface="+mn-ea"/>
              </a:rPr>
              <a:t>=2+3x</a:t>
            </a:r>
            <a:r>
              <a:rPr lang="zh-CN" altLang="en-US">
                <a:solidFill>
                  <a:srgbClr val="56606E"/>
                </a:solidFill>
                <a:latin typeface="Arial" panose="020B0604020202020204"/>
                <a:ea typeface="微软雅黑" panose="020B0503020204020204" charset="-122"/>
                <a:cs typeface="Arial" panose="020B0604020202020204"/>
                <a:sym typeface="+mn-ea"/>
              </a:rPr>
              <a:t> →Δ = 8</a:t>
            </a:r>
            <a:r>
              <a:rPr lang="en-US" altLang="zh-CN">
                <a:solidFill>
                  <a:srgbClr val="56606E"/>
                </a:solidFill>
                <a:latin typeface="Arial" panose="020B0604020202020204"/>
                <a:ea typeface="微软雅黑" panose="020B0503020204020204" charset="-122"/>
                <a:cs typeface="Arial" panose="020B0604020202020204"/>
                <a:sym typeface="+mn-ea"/>
              </a:rPr>
              <a:t>x</a:t>
            </a:r>
            <a:r>
              <a:rPr lang="zh-CN" altLang="en-US">
                <a:solidFill>
                  <a:srgbClr val="56606E"/>
                </a:solidFill>
                <a:latin typeface="Arial" panose="020B0604020202020204"/>
                <a:ea typeface="微软雅黑" panose="020B0503020204020204" charset="-122"/>
                <a:cs typeface="Arial" panose="020B0604020202020204"/>
                <a:sym typeface="+mn-ea"/>
              </a:rPr>
              <a:t> ≠ 0</a:t>
            </a:r>
            <a:r>
              <a:rPr lang="zh-CN" altLang="en-US" sz="1800">
                <a:solidFill>
                  <a:srgbClr val="56606E"/>
                </a:solidFill>
                <a:latin typeface="Arial" panose="020B0604020202020204"/>
                <a:ea typeface="微软雅黑" panose="020B0503020204020204" charset="-122"/>
                <a:cs typeface="Arial" panose="020B0604020202020204"/>
                <a:sym typeface="+mn-ea"/>
              </a:rPr>
              <a:t>，</a:t>
            </a:r>
            <a:r>
              <a:rPr lang="zh-CN" altLang="en-US">
                <a:solidFill>
                  <a:srgbClr val="56606E"/>
                </a:solidFill>
                <a:latin typeface="Arial" panose="020B0604020202020204"/>
                <a:ea typeface="微软雅黑" panose="020B0503020204020204" charset="-122"/>
                <a:cs typeface="Arial" panose="020B0604020202020204"/>
                <a:sym typeface="+mn-ea"/>
              </a:rPr>
              <a:t>错误当场暴露</a:t>
            </a:r>
            <a:endParaRPr lang="zh-CN" altLang="en-US">
              <a:solidFill>
                <a:srgbClr val="56606E"/>
              </a:solidFill>
              <a:latin typeface="Arial" panose="020B0604020202020204"/>
              <a:ea typeface="微软雅黑" panose="020B0503020204020204" charset="-122"/>
              <a:cs typeface="Arial" panose="020B0604020202020204"/>
              <a:sym typeface="+mn-ea"/>
            </a:endParaRPr>
          </a:p>
          <a:p>
            <a:pPr algn="l">
              <a:lnSpc>
                <a:spcPct val="105000"/>
              </a:lnSpc>
              <a:spcBef>
                <a:spcPts val="0"/>
              </a:spcBef>
              <a:spcAft>
                <a:spcPts val="500"/>
              </a:spcAft>
            </a:pPr>
            <a:r>
              <a:rPr lang="zh-CN" altLang="en-US" sz="1800" b="1">
                <a:solidFill>
                  <a:srgbClr val="1E7A5A"/>
                </a:solidFill>
                <a:latin typeface="Arial" panose="020B0604020202020204"/>
                <a:ea typeface="微软雅黑" panose="020B0503020204020204" charset="-122"/>
                <a:cs typeface="Arial" panose="020B0604020202020204"/>
                <a:sym typeface="+mn-ea"/>
              </a:rPr>
              <a:t>• </a:t>
            </a:r>
            <a:r>
              <a:rPr lang="zh-CN" altLang="en-US" sz="1800">
                <a:solidFill>
                  <a:srgbClr val="56606E"/>
                </a:solidFill>
                <a:latin typeface="Arial" panose="020B0604020202020204"/>
                <a:ea typeface="微软雅黑" panose="020B0503020204020204" charset="-122"/>
                <a:cs typeface="Arial" panose="020B0604020202020204"/>
                <a:sym typeface="+mn-ea"/>
              </a:rPr>
              <a:t>r 随机且不可预知，攻击者凑不出 Δ = 0</a:t>
            </a:r>
            <a:endParaRPr lang="zh-CN" altLang="en-US" sz="1800">
              <a:solidFill>
                <a:srgbClr val="56606E"/>
              </a:solidFill>
              <a:latin typeface="Arial" panose="020B0604020202020204"/>
              <a:ea typeface="微软雅黑" panose="020B0503020204020204" charset="-122"/>
              <a:cs typeface="Arial" panose="020B0604020202020204"/>
              <a:sym typeface="+mn-ea"/>
            </a:endParaRPr>
          </a:p>
        </p:txBody>
      </p:sp>
      <p:sp>
        <p:nvSpPr>
          <p:cNvPr id="15" name="Rounded Rectangle 14"/>
          <p:cNvSpPr/>
          <p:nvPr>
            <p:custDataLst>
              <p:tags r:id="rId12"/>
            </p:custDataLst>
          </p:nvPr>
        </p:nvSpPr>
        <p:spPr>
          <a:xfrm>
            <a:off x="6563495" y="5250000"/>
            <a:ext cx="4950825" cy="740000"/>
          </a:xfrm>
          <a:prstGeom prst="roundRect">
            <a:avLst>
              <a:gd name="adj" fmla="val 10000"/>
            </a:avLst>
          </a:prstGeom>
          <a:solidFill>
            <a:srgbClr val="E3F3EA"/>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spcBef>
                <a:spcPts val="0"/>
              </a:spcBef>
              <a:spcAft>
                <a:spcPts val="0"/>
              </a:spcAft>
            </a:pPr>
            <a:r>
              <a:rPr lang="zh-CN" altLang="en-US" sz="2000" b="1">
                <a:solidFill>
                  <a:srgbClr val="1E7A5A"/>
                </a:solidFill>
                <a:latin typeface="Arial" panose="020B0604020202020204"/>
                <a:ea typeface="微软雅黑" panose="020B0503020204020204" charset="-122"/>
                <a:cs typeface="Arial" panose="020B0604020202020204"/>
                <a:sym typeface="+mn-ea"/>
              </a:rPr>
              <a:t>✓ 攻击成功率 ≈ 0  ——  保证恶意安全</a:t>
            </a:r>
            <a:endParaRPr lang="zh-CN" altLang="en-US" sz="2000" b="1">
              <a:solidFill>
                <a:srgbClr val="1E7A5A"/>
              </a:solidFill>
              <a:latin typeface="Arial" panose="020B0604020202020204"/>
              <a:ea typeface="微软雅黑" panose="020B0503020204020204" charset="-122"/>
              <a:cs typeface="Arial" panose="020B0604020202020204"/>
              <a:sym typeface="+mn-ea"/>
            </a:endParaRPr>
          </a:p>
        </p:txBody>
      </p:sp>
      <mc:AlternateContent xmlns:mc="http://schemas.openxmlformats.org/markup-compatibility/2006">
        <mc:Choice xmlns:a14="http://schemas.microsoft.com/office/drawing/2010/main" Requires="a14">
          <p:sp>
            <p:nvSpPr>
              <p:cNvPr id="16" name="攻击场景条"/>
              <p:cNvSpPr/>
              <p:nvPr/>
            </p:nvSpPr>
            <p:spPr>
              <a:xfrm>
                <a:off x="502920" y="1830000"/>
                <a:ext cx="11201400" cy="760000"/>
              </a:xfrm>
              <a:prstGeom prst="roundRect">
                <a:avLst>
                  <a:gd name="adj" fmla="val 1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spcBef>
                    <a:spcPts val="0"/>
                  </a:spcBef>
                  <a:spcAft>
                    <a:spcPts val="0"/>
                  </a:spcAft>
                </a:pPr>
                <a:r>
                  <a:rPr lang="zh-CN" altLang="en-US" sz="1900" b="1">
                    <a:solidFill>
                      <a:srgbClr val="FFFFFF"/>
                    </a:solidFill>
                    <a:latin typeface="Arial" panose="020B0604020202020204"/>
                    <a:ea typeface="微软雅黑" panose="020B0503020204020204" charset="-122"/>
                    <a:cs typeface="Arial" panose="020B0604020202020204"/>
                    <a:sym typeface="+mn-ea"/>
                  </a:rPr>
                  <a:t>攻击场景：验证 z = x · y（模 16），真实值 z = 15</a:t>
                </a:r>
                <a:endParaRPr lang="zh-CN" altLang="en-US" sz="1900" b="1">
                  <a:solidFill>
                    <a:srgbClr val="FFFFFF"/>
                  </a:solidFill>
                  <a:latin typeface="Arial" panose="020B0604020202020204"/>
                  <a:ea typeface="微软雅黑" panose="020B0503020204020204" charset="-122"/>
                  <a:cs typeface="Arial" panose="020B0604020202020204"/>
                  <a:sym typeface="+mn-ea"/>
                </a:endParaRPr>
              </a:p>
              <a:p>
                <a:pPr algn="ctr">
                  <a:lnSpc>
                    <a:spcPct val="105000"/>
                  </a:lnSpc>
                  <a:spcBef>
                    <a:spcPts val="0"/>
                  </a:spcBef>
                  <a:spcAft>
                    <a:spcPts val="0"/>
                  </a:spcAft>
                </a:pPr>
                <a:r>
                  <a:rPr lang="zh-CN" altLang="en-US" sz="1600">
                    <a:solidFill>
                      <a:srgbClr val="DCE5F0"/>
                    </a:solidFill>
                    <a:latin typeface="Arial" panose="020B0604020202020204"/>
                    <a:ea typeface="微软雅黑" panose="020B0503020204020204" charset="-122"/>
                    <a:cs typeface="Arial" panose="020B0604020202020204"/>
                    <a:sym typeface="+mn-ea"/>
                  </a:rPr>
                  <a:t>攻击者篡改 z′ = 15 + 8 </a:t>
                </a:r>
                <a:r>
                  <a:rPr lang="en-US" altLang="zh-CN" sz="1600">
                    <a:solidFill>
                      <a:srgbClr val="DCE5F0"/>
                    </a:solidFill>
                    <a:latin typeface="Arial" panose="020B0604020202020204"/>
                    <a:ea typeface="微软雅黑" panose="020B0503020204020204" charset="-122"/>
                    <a:cs typeface="Arial" panose="020B0604020202020204"/>
                    <a:sym typeface="+mn-ea"/>
                  </a:rPr>
                  <a:t>=23</a:t>
                </a:r>
                <a14:m>
                  <m:oMath xmlns:m="http://schemas.openxmlformats.org/officeDocument/2006/math">
                    <m:r>
                      <a:rPr lang="en-US" altLang="zh-CN" sz="1600" i="1">
                        <a:solidFill>
                          <a:srgbClr val="DCE5F0"/>
                        </a:solidFill>
                        <a:latin typeface="Cambria Math" panose="02040503050406030204" charset="0"/>
                        <a:ea typeface="微软雅黑" panose="020B0503020204020204" charset="-122"/>
                        <a:cs typeface="Cambria Math" panose="02040503050406030204" charset="0"/>
                        <a:sym typeface="+mn-ea"/>
                      </a:rPr>
                      <m:t>≡</m:t>
                    </m:r>
                  </m:oMath>
                </a14:m>
                <a:r>
                  <a:rPr lang="zh-CN" altLang="en-US" sz="1600">
                    <a:solidFill>
                      <a:srgbClr val="DCE5F0"/>
                    </a:solidFill>
                    <a:latin typeface="Arial" panose="020B0604020202020204"/>
                    <a:ea typeface="微软雅黑" panose="020B0503020204020204" charset="-122"/>
                    <a:cs typeface="Arial" panose="020B0604020202020204"/>
                    <a:sym typeface="+mn-ea"/>
                  </a:rPr>
                  <a:t> 7</a:t>
                </a:r>
                <a:r>
                  <a:rPr lang="en-US" altLang="zh-CN" sz="1600">
                    <a:solidFill>
                      <a:srgbClr val="DCE5F0"/>
                    </a:solidFill>
                    <a:latin typeface="Arial" panose="020B0604020202020204"/>
                    <a:ea typeface="微软雅黑" panose="020B0503020204020204" charset="-122"/>
                    <a:cs typeface="Arial" panose="020B0604020202020204"/>
                    <a:sym typeface="+mn-ea"/>
                  </a:rPr>
                  <a:t>(mod 16)</a:t>
                </a:r>
                <a:r>
                  <a:rPr lang="zh-CN" altLang="en-US" sz="1600">
                    <a:solidFill>
                      <a:srgbClr val="DCE5F0"/>
                    </a:solidFill>
                    <a:latin typeface="Arial" panose="020B0604020202020204"/>
                    <a:ea typeface="微软雅黑" panose="020B0503020204020204" charset="-122"/>
                    <a:cs typeface="Arial" panose="020B0604020202020204"/>
                    <a:sym typeface="+mn-ea"/>
                  </a:rPr>
                  <a:t>  ——  相当于偷塞进一个误差 e = 8</a:t>
                </a:r>
                <a:endParaRPr lang="zh-CN" altLang="en-US" sz="1600">
                  <a:solidFill>
                    <a:srgbClr val="DCE5F0"/>
                  </a:solidFill>
                  <a:latin typeface="Arial" panose="020B0604020202020204"/>
                  <a:ea typeface="微软雅黑" panose="020B0503020204020204" charset="-122"/>
                  <a:cs typeface="Arial" panose="020B0604020202020204"/>
                  <a:sym typeface="+mn-ea"/>
                </a:endParaRPr>
              </a:p>
            </p:txBody>
          </p:sp>
        </mc:Choice>
        <mc:Fallback>
          <p:sp>
            <p:nvSpPr>
              <p:cNvPr id="16" name="攻击场景条"/>
              <p:cNvSpPr>
                <a:spLocks noRot="1" noChangeAspect="1" noMove="1" noResize="1" noEditPoints="1" noAdjustHandles="1" noChangeArrowheads="1" noChangeShapeType="1" noTextEdit="1"/>
              </p:cNvSpPr>
              <p:nvPr/>
            </p:nvSpPr>
            <p:spPr>
              <a:xfrm>
                <a:off x="502920" y="1830000"/>
                <a:ext cx="11201400" cy="760000"/>
              </a:xfrm>
              <a:prstGeom prst="roundRect">
                <a:avLst>
                  <a:gd name="adj" fmla="val 10000"/>
                </a:avLst>
              </a:prstGeom>
              <a:blipFill rotWithShape="1">
                <a:blip r:embed="rId13"/>
                <a:stretch>
                  <a:fillRect t="-74" b="6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17" name="左验证式"/>
          <p:cNvSpPr txBox="1"/>
          <p:nvPr>
            <p:custDataLst>
              <p:tags r:id="rId14"/>
            </p:custDataLst>
          </p:nvPr>
        </p:nvSpPr>
        <p:spPr>
          <a:xfrm>
            <a:off x="692920" y="3330000"/>
            <a:ext cx="4950825" cy="500000"/>
          </a:xfrm>
          <a:prstGeom prst="rect">
            <a:avLst/>
          </a:prstGeom>
          <a:noFill/>
        </p:spPr>
        <p:txBody>
          <a:bodyPr wrap="square" lIns="0" tIns="0" rIns="0" bIns="0" anchor="ctr">
            <a:noAutofit/>
          </a:bodyPr>
          <a:lstStyle/>
          <a:p>
            <a:pPr algn="ctr">
              <a:lnSpc>
                <a:spcPct val="105000"/>
              </a:lnSpc>
              <a:spcBef>
                <a:spcPts val="0"/>
              </a:spcBef>
              <a:spcAft>
                <a:spcPts val="0"/>
              </a:spcAft>
            </a:pPr>
            <a:r>
              <a:rPr lang="zh-CN" altLang="en-US" sz="1900" b="1">
                <a:solidFill>
                  <a:srgbClr val="C0392B"/>
                </a:solidFill>
                <a:latin typeface="Arial" panose="020B0604020202020204"/>
                <a:ea typeface="微软雅黑" panose="020B0503020204020204" charset="-122"/>
                <a:cs typeface="Arial" panose="020B0604020202020204"/>
                <a:sym typeface="+mn-ea"/>
              </a:rPr>
              <a:t>验证：Δ = r · 8　（r 为环中随机元）</a:t>
            </a:r>
            <a:endParaRPr lang="zh-CN" altLang="en-US" sz="1900" b="1">
              <a:solidFill>
                <a:srgbClr val="C0392B"/>
              </a:solidFill>
              <a:latin typeface="Arial" panose="020B0604020202020204"/>
              <a:ea typeface="微软雅黑" panose="020B0503020204020204" charset="-122"/>
              <a:cs typeface="Arial" panose="020B0604020202020204"/>
              <a:sym typeface="+mn-ea"/>
            </a:endParaRPr>
          </a:p>
        </p:txBody>
      </p:sp>
      <p:sp>
        <p:nvSpPr>
          <p:cNvPr id="18" name="右验证式"/>
          <p:cNvSpPr txBox="1"/>
          <p:nvPr>
            <p:custDataLst>
              <p:tags r:id="rId15"/>
            </p:custDataLst>
          </p:nvPr>
        </p:nvSpPr>
        <p:spPr>
          <a:xfrm>
            <a:off x="6563495" y="3330000"/>
            <a:ext cx="4950825" cy="500000"/>
          </a:xfrm>
          <a:prstGeom prst="rect">
            <a:avLst/>
          </a:prstGeom>
          <a:noFill/>
        </p:spPr>
        <p:txBody>
          <a:bodyPr wrap="square" lIns="0" tIns="0" rIns="0" bIns="0" anchor="ctr">
            <a:noAutofit/>
          </a:bodyPr>
          <a:lstStyle/>
          <a:p>
            <a:pPr algn="l">
              <a:lnSpc>
                <a:spcPct val="105000"/>
              </a:lnSpc>
              <a:spcBef>
                <a:spcPts val="0"/>
              </a:spcBef>
              <a:spcAft>
                <a:spcPts val="0"/>
              </a:spcAft>
            </a:pPr>
            <a:r>
              <a:rPr lang="zh-CN" altLang="en-US" sz="1900" b="1">
                <a:solidFill>
                  <a:srgbClr val="1E7A5A"/>
                </a:solidFill>
                <a:latin typeface="Arial" panose="020B0604020202020204"/>
                <a:ea typeface="微软雅黑" panose="020B0503020204020204" charset="-122"/>
                <a:cs typeface="Arial" panose="020B0604020202020204"/>
                <a:sym typeface="+mn-ea"/>
              </a:rPr>
              <a:t>验证：Δ = r · e　（r、e 为多项式）</a:t>
            </a:r>
            <a:endParaRPr lang="zh-CN" altLang="en-US" sz="1900" b="1">
              <a:solidFill>
                <a:srgbClr val="1E7A5A"/>
              </a:solidFill>
              <a:latin typeface="Arial" panose="020B0604020202020204"/>
              <a:ea typeface="微软雅黑" panose="020B0503020204020204" charset="-122"/>
              <a:cs typeface="Arial" panose="020B0604020202020204"/>
              <a:sym typeface="+mn-ea"/>
            </a:endParaRPr>
          </a:p>
        </p:txBody>
      </p:sp>
      <p:sp>
        <p:nvSpPr>
          <p:cNvPr id="19" name="分流左"/>
          <p:cNvSpPr/>
          <p:nvPr>
            <p:custDataLst>
              <p:tags r:id="rId16"/>
            </p:custDataLst>
          </p:nvPr>
        </p:nvSpPr>
        <p:spPr>
          <a:xfrm rot="10800000">
            <a:off x="3058332" y="2630000"/>
            <a:ext cx="220000" cy="190000"/>
          </a:xfrm>
          <a:prstGeom prst="triangle">
            <a:avLst/>
          </a:prstGeom>
          <a:solidFill>
            <a:srgbClr val="C0392B">
              <a:alpha val="70000"/>
            </a:srgbClr>
          </a:solidFill>
          <a:ln>
            <a:noFill/>
          </a:ln>
        </p:spPr>
        <p:txBody>
          <a:bodyPr/>
          <a:lstStyle/>
          <a:p/>
        </p:txBody>
      </p:sp>
      <p:sp>
        <p:nvSpPr>
          <p:cNvPr id="20" name="分流右"/>
          <p:cNvSpPr/>
          <p:nvPr>
            <p:custDataLst>
              <p:tags r:id="rId17"/>
            </p:custDataLst>
          </p:nvPr>
        </p:nvSpPr>
        <p:spPr>
          <a:xfrm rot="10800000">
            <a:off x="8928907" y="2630000"/>
            <a:ext cx="220000" cy="190000"/>
          </a:xfrm>
          <a:prstGeom prst="triangle">
            <a:avLst/>
          </a:prstGeom>
          <a:solidFill>
            <a:srgbClr val="1E7A5A">
              <a:alpha val="70000"/>
            </a:srgbClr>
          </a:solidFill>
          <a:ln>
            <a:noFill/>
          </a:ln>
        </p:spPr>
        <p:txBody>
          <a:bodyPr/>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a:t>
            </a:r>
            <a:r>
              <a:rPr lang="zh-CN" altLang="en-US"/>
              <a:t>关键技术</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502920" y="775335"/>
                <a:ext cx="10385425" cy="720090"/>
              </a:xfrm>
              <a:prstGeom prst="rect">
                <a:avLst/>
              </a:prstGeom>
              <a:noFill/>
            </p:spPr>
            <p:txBody>
              <a:bodyPr wrap="square" rtlCol="0" anchor="t">
                <a:noAutofit/>
              </a:bodyPr>
              <a:p>
                <a:pPr algn="l">
                  <a:spcBef>
                    <a:spcPts val="0"/>
                  </a:spcBef>
                  <a:spcAft>
                    <a:spcPts val="0"/>
                  </a:spcAft>
                </a:pPr>
                <a:r>
                  <a:rPr lang="zh-CN" sz="2000" b="1">
                    <a:solidFill>
                      <a:srgbClr val="C0392B"/>
                    </a:solidFill>
                    <a:latin typeface="Arial" panose="020B0604020202020204"/>
                    <a:ea typeface="微软雅黑" panose="020B0503020204020204" charset="-122"/>
                    <a:cs typeface="Arial" panose="020B0604020202020204"/>
                    <a:sym typeface="+mn-ea"/>
                  </a:rPr>
                  <a:t>技术</a:t>
                </a:r>
                <a:r>
                  <a:rPr lang="en-US" altLang="zh-CN" sz="2000" b="1">
                    <a:solidFill>
                      <a:srgbClr val="C0392B"/>
                    </a:solidFill>
                    <a:latin typeface="Arial" panose="020B0604020202020204"/>
                    <a:ea typeface="微软雅黑" panose="020B0503020204020204" charset="-122"/>
                    <a:cs typeface="Arial" panose="020B0604020202020204"/>
                    <a:sym typeface="+mn-ea"/>
                  </a:rPr>
                  <a:t>1.2</a:t>
                </a:r>
                <a:r>
                  <a:rPr lang="zh-CN" sz="2000" b="1">
                    <a:solidFill>
                      <a:srgbClr val="C0392B"/>
                    </a:solidFill>
                    <a:latin typeface="Arial" panose="020B0604020202020204"/>
                    <a:ea typeface="微软雅黑" panose="020B0503020204020204" charset="-122"/>
                    <a:cs typeface="Arial" panose="020B0604020202020204"/>
                    <a:sym typeface="+mn-ea"/>
                  </a:rPr>
                  <a:t>：</a:t>
                </a:r>
                <a:r>
                  <a:rPr sz="2000" b="1">
                    <a:solidFill>
                      <a:srgbClr val="12263F"/>
                    </a:solidFill>
                    <a:latin typeface="Arial" panose="020B0604020202020204"/>
                    <a:ea typeface="微软雅黑" panose="020B0503020204020204" charset="-122"/>
                    <a:cs typeface="Arial" panose="020B0604020202020204"/>
                    <a:sym typeface="+mn-ea"/>
                  </a:rPr>
                  <a:t>压缩</a:t>
                </a:r>
                <a14:m>
                  <m:oMath xmlns:m="http://schemas.openxmlformats.org/officeDocument/2006/math">
                    <m:r>
                      <a:rPr lang="en-US" sz="2000" b="1">
                        <a:solidFill>
                          <a:srgbClr val="12263F"/>
                        </a:solidFill>
                        <a:latin typeface="Arial" panose="020B0604020202020204"/>
                        <a:ea typeface="微软雅黑" panose="020B0503020204020204" charset="-122"/>
                        <a:cs typeface="Arial" panose="020B0604020202020204"/>
                        <a:sym typeface="+mn-ea"/>
                      </a:rPr>
                      <m:t>（</m:t>
                    </m:r>
                    <m:r>
                      <a:rPr sz="2000" b="1">
                        <a:solidFill>
                          <a:srgbClr val="12263F"/>
                        </a:solidFill>
                        <a:latin typeface="Arial" panose="020B0604020202020204"/>
                        <a:ea typeface="微软雅黑" panose="020B0503020204020204" charset="-122"/>
                        <a:cs typeface="Arial" panose="020B0604020202020204"/>
                        <a:sym typeface="+mn-ea"/>
                      </a:rPr>
                      <m:t>协议</m:t>
                    </m:r>
                    <m:sSub>
                      <m:sSubPr>
                        <m:ctrlPr>
                          <a:rPr sz="2000" b="1">
                            <a:solidFill>
                              <a:srgbClr val="12263F"/>
                            </a:solidFill>
                            <a:latin typeface="Arial" panose="020B0604020202020204"/>
                            <a:ea typeface="微软雅黑" panose="020B0503020204020204" charset="-122"/>
                            <a:cs typeface="Arial" panose="020B0604020202020204"/>
                            <a:sym typeface="+mn-ea"/>
                          </a:rPr>
                        </m:ctrlPr>
                      </m:sSubPr>
                      <m:e>
                        <m:r>
                          <a:rPr lang="en-US" sz="2000" b="1">
                            <a:solidFill>
                              <a:srgbClr val="12263F"/>
                            </a:solidFill>
                            <a:latin typeface="Arial" panose="020B0604020202020204"/>
                            <a:ea typeface="微软雅黑" panose="020B0503020204020204" charset="-122"/>
                            <a:cs typeface="Arial" panose="020B0604020202020204"/>
                            <a:sym typeface="+mn-ea"/>
                          </a:rPr>
                          <m:t> </m:t>
                        </m:r>
                        <m:r>
                          <a:rPr sz="2000" b="1">
                            <a:solidFill>
                              <a:srgbClr val="12263F"/>
                            </a:solidFill>
                            <a:latin typeface="Arial" panose="020B0604020202020204"/>
                            <a:ea typeface="微软雅黑" panose="020B0503020204020204" charset="-122"/>
                            <a:cs typeface="Arial" panose="020B0604020202020204"/>
                            <a:sym typeface="+mn-ea"/>
                          </a:rPr>
                          <m:t>𝚷</m:t>
                        </m:r>
                      </m:e>
                      <m:sub>
                        <m:r>
                          <a:rPr sz="2000" b="1">
                            <a:solidFill>
                              <a:srgbClr val="12263F"/>
                            </a:solidFill>
                            <a:latin typeface="Arial" panose="020B0604020202020204"/>
                            <a:ea typeface="微软雅黑" panose="020B0503020204020204" charset="-122"/>
                            <a:cs typeface="Arial" panose="020B0604020202020204"/>
                            <a:sym typeface="+mn-ea"/>
                          </a:rPr>
                          <m:t>𝐓𝐫𝐚𝐧𝐬</m:t>
                        </m:r>
                      </m:sub>
                    </m:sSub>
                    <m:r>
                      <a:rPr lang="en-US" sz="2000" b="1">
                        <a:solidFill>
                          <a:srgbClr val="12263F"/>
                        </a:solidFill>
                        <a:latin typeface="Arial" panose="020B0604020202020204"/>
                        <a:ea typeface="微软雅黑" panose="020B0503020204020204" charset="-122"/>
                        <a:cs typeface="Arial" panose="020B0604020202020204"/>
                        <a:sym typeface="+mn-ea"/>
                      </a:rPr>
                      <m:t>）</m:t>
                    </m:r>
                  </m:oMath>
                </a14:m>
                <a:endParaRPr lang="en-US" sz="2000" b="1">
                  <a:solidFill>
                    <a:srgbClr val="12263F"/>
                  </a:solidFill>
                  <a:latin typeface="Arial" panose="020B0604020202020204"/>
                  <a:ea typeface="微软雅黑" panose="020B0503020204020204" charset="-122"/>
                  <a:cs typeface="Arial" panose="020B0604020202020204"/>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502920" y="775335"/>
                <a:ext cx="10385425" cy="72009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665480" y="5809615"/>
                <a:ext cx="10222865" cy="528955"/>
              </a:xfrm>
              <a:prstGeom prst="rect">
                <a:avLst/>
              </a:prstGeom>
              <a:noFill/>
            </p:spPr>
            <p:txBody>
              <a:bodyPr wrap="square" lIns="0" tIns="0" rIns="0" bIns="0" anchor="t">
                <a:noAutofit/>
              </a:bodyPr>
              <a:lstStyle/>
              <a:p>
                <a:pPr algn="l">
                  <a:lnSpc>
                    <a:spcPct val="102000"/>
                  </a:lnSpc>
                  <a:spcBef>
                    <a:spcPts val="0"/>
                  </a:spcBef>
                  <a:spcAft>
                    <a:spcPts val="0"/>
                  </a:spcAft>
                </a:pPr>
                <a:r>
                  <a:rPr b="1" i="0">
                    <a:solidFill>
                      <a:srgbClr val="C0392B"/>
                    </a:solidFill>
                    <a:latin typeface="Arial" panose="020B0604020202020204"/>
                    <a:ea typeface="微软雅黑" panose="020B0503020204020204" charset="-122"/>
                    <a:cs typeface="Arial" panose="020B0604020202020204"/>
                  </a:rPr>
                  <a:t>用随机挑战 r 的幂次</a:t>
                </a:r>
                <a14:m>
                  <m:oMath xmlns:m="http://schemas.openxmlformats.org/officeDocument/2006/math">
                    <m:sSup>
                      <m:sSupPr>
                        <m:ctrlPr>
                          <a:rPr lang="en-US" b="1" i="1">
                            <a:solidFill>
                              <a:srgbClr val="C0392B"/>
                            </a:solidFill>
                            <a:latin typeface="Cambria Math" panose="02040503050406030204" charset="0"/>
                            <a:ea typeface="微软雅黑" panose="020B0503020204020204" charset="-122"/>
                            <a:cs typeface="Cambria Math" panose="02040503050406030204" charset="0"/>
                          </a:rPr>
                        </m:ctrlPr>
                      </m:sSupPr>
                      <m:e>
                        <m:r>
                          <a:rPr lang="en-US" b="1" i="1">
                            <a:solidFill>
                              <a:srgbClr val="C0392B"/>
                            </a:solidFill>
                            <a:latin typeface="Cambria Math" panose="02040503050406030204" charset="0"/>
                            <a:ea typeface="微软雅黑" panose="020B0503020204020204" charset="-122"/>
                            <a:cs typeface="Cambria Math" panose="02040503050406030204" charset="0"/>
                          </a:rPr>
                          <m:t>𝑟</m:t>
                        </m:r>
                      </m:e>
                      <m:sup>
                        <m:r>
                          <a:rPr lang="en-US" b="1" i="1">
                            <a:solidFill>
                              <a:srgbClr val="C0392B"/>
                            </a:solidFill>
                            <a:latin typeface="Cambria Math" panose="02040503050406030204" charset="0"/>
                            <a:ea typeface="微软雅黑" panose="020B0503020204020204" charset="-122"/>
                            <a:cs typeface="Cambria Math" panose="02040503050406030204" charset="0"/>
                          </a:rPr>
                          <m:t>𝑖</m:t>
                        </m:r>
                      </m:sup>
                    </m:sSup>
                  </m:oMath>
                </a14:m>
                <a:r>
                  <a:rPr b="1" i="0">
                    <a:solidFill>
                      <a:srgbClr val="C0392B"/>
                    </a:solidFill>
                    <a:latin typeface="Arial" panose="020B0604020202020204"/>
                    <a:ea typeface="微软雅黑" panose="020B0503020204020204" charset="-122"/>
                    <a:cs typeface="Arial" panose="020B0604020202020204"/>
                  </a:rPr>
                  <a:t> 加权，把 </a:t>
                </a:r>
                <a:r>
                  <a:rPr lang="en-US" b="1" i="0">
                    <a:solidFill>
                      <a:srgbClr val="C0392B"/>
                    </a:solidFill>
                    <a:latin typeface="Arial" panose="020B0604020202020204"/>
                    <a:ea typeface="微软雅黑" panose="020B0503020204020204" charset="-122"/>
                    <a:cs typeface="Arial" panose="020B0604020202020204"/>
                  </a:rPr>
                  <a:t>N</a:t>
                </a:r>
                <a:r>
                  <a:rPr b="1" i="0">
                    <a:solidFill>
                      <a:srgbClr val="C0392B"/>
                    </a:solidFill>
                    <a:latin typeface="Arial" panose="020B0604020202020204"/>
                    <a:ea typeface="微软雅黑" panose="020B0503020204020204" charset="-122"/>
                    <a:cs typeface="Arial" panose="020B0604020202020204"/>
                  </a:rPr>
                  <a:t> 个</a:t>
                </a:r>
                <a:r>
                  <a:rPr lang="zh-CN" b="1" i="0">
                    <a:solidFill>
                      <a:srgbClr val="C0392B"/>
                    </a:solidFill>
                    <a:latin typeface="Arial" panose="020B0604020202020204"/>
                    <a:ea typeface="微软雅黑" panose="020B0503020204020204" charset="-122"/>
                    <a:cs typeface="Arial" panose="020B0604020202020204"/>
                  </a:rPr>
                  <a:t>独立的等式</a:t>
                </a:r>
                <a:r>
                  <a:rPr b="1" i="0">
                    <a:solidFill>
                      <a:srgbClr val="C0392B"/>
                    </a:solidFill>
                    <a:latin typeface="Arial" panose="020B0604020202020204"/>
                    <a:ea typeface="微软雅黑" panose="020B0503020204020204" charset="-122"/>
                    <a:cs typeface="Arial" panose="020B0604020202020204"/>
                  </a:rPr>
                  <a:t>合并成 1 个</a:t>
                </a:r>
                <a:r>
                  <a:rPr lang="en-US" b="1" i="0">
                    <a:solidFill>
                      <a:srgbClr val="C0392B"/>
                    </a:solidFill>
                    <a:latin typeface="Arial" panose="020B0604020202020204"/>
                    <a:ea typeface="微软雅黑" panose="020B0503020204020204" charset="-122"/>
                    <a:cs typeface="Arial" panose="020B0604020202020204"/>
                  </a:rPr>
                  <a:t>N</a:t>
                </a:r>
                <a:r>
                  <a:rPr lang="zh-CN" altLang="en-US" b="1" i="0">
                    <a:solidFill>
                      <a:srgbClr val="C0392B"/>
                    </a:solidFill>
                    <a:latin typeface="Arial" panose="020B0604020202020204"/>
                    <a:ea typeface="微软雅黑" panose="020B0503020204020204" charset="-122"/>
                    <a:cs typeface="Arial" panose="020B0604020202020204"/>
                  </a:rPr>
                  <a:t>维</a:t>
                </a:r>
                <a:r>
                  <a:rPr b="1" i="0">
                    <a:solidFill>
                      <a:srgbClr val="C0392B"/>
                    </a:solidFill>
                    <a:latin typeface="Arial" panose="020B0604020202020204"/>
                    <a:ea typeface="微软雅黑" panose="020B0503020204020204" charset="-122"/>
                    <a:cs typeface="Arial" panose="020B0604020202020204"/>
                  </a:rPr>
                  <a:t>内积等式 —— 纯本地操作，零通信</a:t>
                </a:r>
                <a:endParaRPr b="1" i="0">
                  <a:solidFill>
                    <a:srgbClr val="C0392B"/>
                  </a:solidFill>
                  <a:latin typeface="Arial" panose="020B0604020202020204"/>
                  <a:ea typeface="微软雅黑" panose="020B0503020204020204" charset="-122"/>
                  <a:cs typeface="Arial" panose="020B0604020202020204"/>
                </a:endParaRPr>
              </a:p>
            </p:txBody>
          </p:sp>
        </mc:Choice>
        <mc:Fallback>
          <p:sp>
            <p:nvSpPr>
              <p:cNvPr id="5" name="TextBox 4"/>
              <p:cNvSpPr txBox="1">
                <a:spLocks noRot="1" noChangeAspect="1" noMove="1" noResize="1" noEditPoints="1" noAdjustHandles="1" noChangeArrowheads="1" noChangeShapeType="1" noTextEdit="1"/>
              </p:cNvSpPr>
              <p:nvPr/>
            </p:nvSpPr>
            <p:spPr>
              <a:xfrm>
                <a:off x="665480" y="5809615"/>
                <a:ext cx="10222865" cy="528955"/>
              </a:xfrm>
              <a:prstGeom prst="rect">
                <a:avLst/>
              </a:prstGeom>
              <a:blipFill rotWithShape="1">
                <a:blip r:embed="rId2"/>
                <a:stretch>
                  <a:fillRect t="-6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ounded Rectangle 8"/>
              <p:cNvSpPr/>
              <p:nvPr>
                <p:custDataLst>
                  <p:tags r:id="rId3"/>
                </p:custDataLst>
              </p:nvPr>
            </p:nvSpPr>
            <p:spPr>
              <a:xfrm>
                <a:off x="3285490" y="1585595"/>
                <a:ext cx="3357880" cy="95123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r>
                  <a:rPr lang="zh-CN" altLang="en-US" sz="1600" b="1" i="0">
                    <a:solidFill>
                      <a:schemeClr val="tx1"/>
                    </a:solidFill>
                    <a:latin typeface="微软雅黑" panose="020B0503020204020204" charset="-122"/>
                    <a:ea typeface="微软雅黑" panose="020B0503020204020204" charset="-122"/>
                    <a:cs typeface="微软雅黑" panose="020B0503020204020204" charset="-122"/>
                  </a:rPr>
                  <a:t>验证</a:t>
                </a:r>
                <a:r>
                  <a:rPr lang="en-US" altLang="zh-CN" sz="1600" b="1" i="0">
                    <a:solidFill>
                      <a:schemeClr val="tx1"/>
                    </a:solidFill>
                    <a:latin typeface="微软雅黑" panose="020B0503020204020204" charset="-122"/>
                    <a:ea typeface="微软雅黑" panose="020B0503020204020204" charset="-122"/>
                    <a:cs typeface="微软雅黑" panose="020B0503020204020204" charset="-122"/>
                  </a:rPr>
                  <a:t>N</a:t>
                </a:r>
                <a:r>
                  <a:rPr lang="zh-CN" altLang="en-US" sz="1600" b="1" i="0">
                    <a:solidFill>
                      <a:schemeClr val="tx1"/>
                    </a:solidFill>
                    <a:latin typeface="微软雅黑" panose="020B0503020204020204" charset="-122"/>
                    <a:ea typeface="微软雅黑" panose="020B0503020204020204" charset="-122"/>
                    <a:cs typeface="微软雅黑" panose="020B0503020204020204" charset="-122"/>
                  </a:rPr>
                  <a:t>个等式</a:t>
                </a:r>
                <a:r>
                  <a:rPr lang="en-US" altLang="zh-CN" sz="1600" b="1" i="0">
                    <a:solidFill>
                      <a:schemeClr val="tx1"/>
                    </a:solidFill>
                    <a:latin typeface="Arial" panose="020B0604020202020204"/>
                    <a:ea typeface="微软雅黑" panose="020B0503020204020204" charset="-122"/>
                    <a:cs typeface="Arial" panose="020B0604020202020204"/>
                  </a:rPr>
                  <a:t> </a:t>
                </a:r>
                <a14:m>
                  <m:oMath xmlns:m="http://schemas.openxmlformats.org/officeDocument/2006/math">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𝑥</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𝒚</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𝒛</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oMath>
                </a14:m>
                <a:endParaRPr lang="en-US" altLang="zh-CN" sz="1600" b="1" i="0">
                  <a:solidFill>
                    <a:schemeClr val="tx1"/>
                  </a:solidFill>
                  <a:latin typeface="Arial" panose="020B0604020202020204"/>
                  <a:ea typeface="微软雅黑" panose="020B0503020204020204" charset="-122"/>
                  <a:cs typeface="Arial" panose="020B0604020202020204"/>
                </a:endParaRPr>
              </a:p>
            </p:txBody>
          </p:sp>
        </mc:Choice>
        <mc:Fallback>
          <p:sp>
            <p:nvSpPr>
              <p:cNvPr id="9" name="Rounded Rectangle 8"/>
              <p:cNvSpPr>
                <a:spLocks noRot="1" noChangeAspect="1" noMove="1" noResize="1" noEditPoints="1" noAdjustHandles="1" noChangeArrowheads="1" noChangeShapeType="1" noTextEdit="1"/>
              </p:cNvSpPr>
              <p:nvPr>
                <p:custDataLst>
                  <p:tags r:id="rId4"/>
                </p:custDataLst>
              </p:nvPr>
            </p:nvSpPr>
            <p:spPr>
              <a:xfrm>
                <a:off x="3285490" y="1585595"/>
                <a:ext cx="3357880" cy="951230"/>
              </a:xfrm>
              <a:prstGeom prst="roundRect">
                <a:avLst>
                  <a:gd name="adj" fmla="val 10000"/>
                </a:avLst>
              </a:prstGeom>
              <a:blipFill rotWithShape="1">
                <a:blip r:embed="rId5"/>
                <a:stretch>
                  <a:fillRect l="-189" t="-668" r="-189" b="-668"/>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ounded Rectangle 8"/>
              <p:cNvSpPr/>
              <p:nvPr>
                <p:custDataLst>
                  <p:tags r:id="rId6"/>
                </p:custDataLst>
              </p:nvPr>
            </p:nvSpPr>
            <p:spPr>
              <a:xfrm>
                <a:off x="3285490" y="4276725"/>
                <a:ext cx="3357880" cy="964565"/>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r>
                  <a:rPr lang="zh-CN" altLang="en-US" sz="1600" b="1" i="0">
                    <a:solidFill>
                      <a:schemeClr val="tx1"/>
                    </a:solidFill>
                    <a:latin typeface="Arial" panose="020B0604020202020204"/>
                    <a:ea typeface="微软雅黑" panose="020B0503020204020204" charset="-122"/>
                    <a:cs typeface="Arial" panose="020B0604020202020204"/>
                  </a:rPr>
                  <a:t>验证</a:t>
                </a:r>
                <a:r>
                  <a:rPr lang="en-US" altLang="zh-CN" sz="1600" b="1" i="0">
                    <a:solidFill>
                      <a:schemeClr val="tx1"/>
                    </a:solidFill>
                    <a:latin typeface="Arial" panose="020B0604020202020204"/>
                    <a:ea typeface="微软雅黑" panose="020B0503020204020204" charset="-122"/>
                    <a:cs typeface="Arial" panose="020B0604020202020204"/>
                  </a:rPr>
                  <a:t>1</a:t>
                </a:r>
                <a:r>
                  <a:rPr lang="zh-CN" altLang="en-US" sz="1600" b="1" i="0">
                    <a:solidFill>
                      <a:schemeClr val="tx1"/>
                    </a:solidFill>
                    <a:latin typeface="Arial" panose="020B0604020202020204"/>
                    <a:ea typeface="微软雅黑" panose="020B0503020204020204" charset="-122"/>
                    <a:cs typeface="Arial" panose="020B0604020202020204"/>
                  </a:rPr>
                  <a:t>个等式</a:t>
                </a:r>
                <a14:m>
                  <m:oMath xmlns:m="http://schemas.openxmlformats.org/officeDocument/2006/math">
                    <m:r>
                      <a:rPr lang="en-US" altLang="zh-CN" sz="1600" b="1" i="0">
                        <a:solidFill>
                          <a:schemeClr val="tx1"/>
                        </a:solidFill>
                        <a:latin typeface="Arial" panose="020B0604020202020204"/>
                        <a:ea typeface="微软雅黑" panose="020B0503020204020204" charset="-122"/>
                        <a:cs typeface="Arial" panose="020B0604020202020204"/>
                      </a:rPr>
                      <m:t> </m:t>
                    </m:r>
                    <m:nary>
                      <m:naryPr>
                        <m:chr m:val="∑"/>
                        <m:limLoc m:val="undOv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𝟎</m:t>
                        </m:r>
                      </m:sub>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𝑁</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𝟏</m:t>
                        </m:r>
                      </m:sup>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𝒙</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𝒚</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e>
                    </m:nary>
                  </m:oMath>
                </a14:m>
                <a:r>
                  <a:rPr lang="en-US" altLang="zh-CN" sz="1600" b="1" i="1">
                    <a:solidFill>
                      <a:schemeClr val="tx1"/>
                    </a:solidFill>
                    <a:latin typeface="Cambria Math" panose="02040503050406030204" charset="0"/>
                    <a:ea typeface="微软雅黑" panose="020B0503020204020204" charset="-122"/>
                    <a:cs typeface="Cambria Math" panose="02040503050406030204" charset="0"/>
                  </a:rPr>
                  <a:t>=</a:t>
                </a:r>
                <a:r>
                  <a:rPr lang="en-US" altLang="zh-CN" sz="1600" b="1" i="1">
                    <a:solidFill>
                      <a:schemeClr val="tx1"/>
                    </a:solidFill>
                    <a:latin typeface="Cambria Math" panose="02040503050406030204" charset="0"/>
                    <a:ea typeface="微软雅黑" panose="020B0503020204020204" charset="-122"/>
                    <a:cs typeface="Cambria Math" panose="02040503050406030204" charset="0"/>
                  </a:rPr>
                  <a:t>z</a:t>
                </a:r>
                <a:endParaRPr lang="en-US" altLang="zh-CN" sz="1600" b="1" i="1">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Rounded Rectangle 8"/>
              <p:cNvSpPr>
                <a:spLocks noRot="1" noChangeAspect="1" noMove="1" noResize="1" noEditPoints="1" noAdjustHandles="1" noChangeArrowheads="1" noChangeShapeType="1" noTextEdit="1"/>
              </p:cNvSpPr>
              <p:nvPr>
                <p:custDataLst>
                  <p:tags r:id="rId7"/>
                </p:custDataLst>
              </p:nvPr>
            </p:nvSpPr>
            <p:spPr>
              <a:xfrm>
                <a:off x="3285490" y="4276725"/>
                <a:ext cx="3357880" cy="964565"/>
              </a:xfrm>
              <a:prstGeom prst="roundRect">
                <a:avLst>
                  <a:gd name="adj" fmla="val 10000"/>
                </a:avLst>
              </a:prstGeom>
              <a:blipFill rotWithShape="1">
                <a:blip r:embed="rId8"/>
                <a:stretch>
                  <a:fillRect l="-189" t="-658" r="-189" b="-658"/>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Rounded Rectangle 8"/>
              <p:cNvSpPr/>
              <p:nvPr>
                <p:custDataLst>
                  <p:tags r:id="rId9"/>
                </p:custDataLst>
              </p:nvPr>
            </p:nvSpPr>
            <p:spPr>
              <a:xfrm>
                <a:off x="7600315" y="2585720"/>
                <a:ext cx="1852930" cy="181229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r>
                  <a:rPr lang="zh-CN" altLang="en-US" sz="1600" b="1" i="0">
                    <a:solidFill>
                      <a:srgbClr val="C00000"/>
                    </a:solidFill>
                    <a:latin typeface="Arial" panose="020B0604020202020204"/>
                    <a:ea typeface="微软雅黑" panose="020B0503020204020204" charset="-122"/>
                    <a:cs typeface="Arial" panose="020B0604020202020204"/>
                  </a:rPr>
                  <a:t>本地操作零通信：</a:t>
                </a:r>
                <a:endParaRPr lang="zh-CN" altLang="en-US" sz="1600" b="1" i="0">
                  <a:solidFill>
                    <a:srgbClr val="C00000"/>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lang="en-US" altLang="zh-CN" sz="1600" b="1" i="1">
                  <a:solidFill>
                    <a:schemeClr val="tx1"/>
                  </a:solidFill>
                  <a:latin typeface="Cambria Math" panose="02040503050406030204" charset="0"/>
                  <a:ea typeface="微软雅黑" panose="020B0503020204020204" charset="-122"/>
                  <a:cs typeface="Cambria Math" panose="02040503050406030204" charset="0"/>
                </a:endParaRPr>
              </a:p>
              <a:p>
                <a:pPr algn="l">
                  <a:lnSpc>
                    <a:spcPct val="105000"/>
                  </a:lnSpc>
                  <a:spcBef>
                    <a:spcPts val="0"/>
                  </a:spcBef>
                  <a:spcAft>
                    <a:spcPts val="300"/>
                  </a:spcAft>
                </a:pPr>
                <a14:m>
                  <m:oMathPara xmlns:m="http://schemas.openxmlformats.org/officeDocument/2006/math">
                    <m:oMathParaPr>
                      <m:jc m:val="left"/>
                    </m:oMathParaPr>
                    <m:oMath xmlns:m="http://schemas.openxmlformats.org/officeDocument/2006/math">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𝒙</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𝑟</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𝒙</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oMath>
                  </m:oMathPara>
                </a14:m>
                <a:endParaRPr lang="en-US" altLang="zh-CN" sz="1600" b="1" i="1">
                  <a:solidFill>
                    <a:schemeClr val="tx1"/>
                  </a:solidFill>
                  <a:latin typeface="Cambria Math" panose="02040503050406030204" charset="0"/>
                  <a:ea typeface="微软雅黑" panose="020B0503020204020204" charset="-122"/>
                  <a:cs typeface="Cambria Math" panose="02040503050406030204" charset="0"/>
                </a:endParaRPr>
              </a:p>
              <a:p>
                <a:pPr algn="l">
                  <a:lnSpc>
                    <a:spcPct val="105000"/>
                  </a:lnSpc>
                  <a:spcBef>
                    <a:spcPts val="0"/>
                  </a:spcBef>
                  <a:spcAft>
                    <a:spcPts val="300"/>
                  </a:spcAft>
                </a:pPr>
                <a:r>
                  <a:rPr lang="en-US" altLang="zh-CN" sz="1600" b="1" i="1">
                    <a:solidFill>
                      <a:schemeClr val="tx1"/>
                    </a:solidFill>
                    <a:latin typeface="Cambria Math" panose="02040503050406030204" charset="0"/>
                    <a:ea typeface="微软雅黑" panose="020B0503020204020204" charset="-122"/>
                    <a:cs typeface="Cambria Math" panose="02040503050406030204" charset="0"/>
                  </a:rPr>
                  <a:t>z=</a:t>
                </a:r>
                <a14:m>
                  <m:oMath xmlns:m="http://schemas.openxmlformats.org/officeDocument/2006/math">
                    <m:nary>
                      <m:naryPr>
                        <m:chr m:val="∑"/>
                        <m:limLoc m:val="undOv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𝟎</m:t>
                        </m:r>
                      </m:sub>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𝑁</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𝟏</m:t>
                        </m:r>
                      </m:sup>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𝒓</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𝒛</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e>
                    </m:nary>
                  </m:oMath>
                </a14:m>
                <a:endParaRPr lang="zh-CN" altLang="en-US" sz="1600" b="1" i="0">
                  <a:solidFill>
                    <a:schemeClr val="tx1"/>
                  </a:solidFill>
                  <a:latin typeface="Arial" panose="020B0604020202020204"/>
                  <a:ea typeface="微软雅黑" panose="020B0503020204020204" charset="-122"/>
                  <a:cs typeface="Arial" panose="020B0604020202020204"/>
                </a:endParaRPr>
              </a:p>
              <a:p>
                <a:pPr algn="l">
                  <a:lnSpc>
                    <a:spcPct val="105000"/>
                  </a:lnSpc>
                  <a:spcBef>
                    <a:spcPts val="0"/>
                  </a:spcBef>
                  <a:spcAft>
                    <a:spcPts val="300"/>
                  </a:spcAft>
                </a:pPr>
                <a:endParaRPr lang="zh-CN" altLang="en-US" sz="1600" b="1" i="0">
                  <a:solidFill>
                    <a:schemeClr val="tx1"/>
                  </a:solidFill>
                  <a:latin typeface="Arial" panose="020B0604020202020204"/>
                  <a:ea typeface="微软雅黑" panose="020B0503020204020204" charset="-122"/>
                  <a:cs typeface="Arial" panose="020B0604020202020204"/>
                </a:endParaRPr>
              </a:p>
            </p:txBody>
          </p:sp>
        </mc:Choice>
        <mc:Fallback>
          <p:sp>
            <p:nvSpPr>
              <p:cNvPr id="13" name="Rounded Rectangle 8"/>
              <p:cNvSpPr>
                <a:spLocks noRot="1" noChangeAspect="1" noMove="1" noResize="1" noEditPoints="1" noAdjustHandles="1" noChangeArrowheads="1" noChangeShapeType="1" noTextEdit="1"/>
              </p:cNvSpPr>
              <p:nvPr>
                <p:custDataLst>
                  <p:tags r:id="rId10"/>
                </p:custDataLst>
              </p:nvPr>
            </p:nvSpPr>
            <p:spPr>
              <a:xfrm>
                <a:off x="7600315" y="2585720"/>
                <a:ext cx="1852930" cy="1812290"/>
              </a:xfrm>
              <a:prstGeom prst="roundRect">
                <a:avLst>
                  <a:gd name="adj" fmla="val 10000"/>
                </a:avLst>
              </a:prstGeom>
              <a:blipFill rotWithShape="1">
                <a:blip r:embed="rId11"/>
                <a:stretch>
                  <a:fillRect l="-343" t="-350" r="-343" b="-350"/>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Rounded Rectangle 8"/>
              <p:cNvSpPr/>
              <p:nvPr>
                <p:custDataLst>
                  <p:tags r:id="rId12"/>
                </p:custDataLst>
              </p:nvPr>
            </p:nvSpPr>
            <p:spPr>
              <a:xfrm>
                <a:off x="3285490" y="2778760"/>
                <a:ext cx="3357245" cy="110363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l">
                  <a:lnSpc>
                    <a:spcPct val="105000"/>
                  </a:lnSpc>
                  <a:spcBef>
                    <a:spcPts val="0"/>
                  </a:spcBef>
                  <a:spcAft>
                    <a:spcPts val="300"/>
                  </a:spcAft>
                </a:pPr>
                <a14:m>
                  <m:oMathPara xmlns:m="http://schemas.openxmlformats.org/officeDocument/2006/math">
                    <m:oMathParaPr>
                      <m:jc m:val="left"/>
                    </m:oMathParaPr>
                    <m:oMath xmlns:m="http://schemas.openxmlformats.org/officeDocument/2006/math">
                      <m:r>
                        <a:rPr lang="zh-CN" altLang="en-US" sz="1600" b="1" i="0">
                          <a:solidFill>
                            <a:schemeClr val="tx1"/>
                          </a:solidFill>
                          <a:latin typeface="微软雅黑" panose="020B0503020204020204" charset="-122"/>
                          <a:ea typeface="微软雅黑" panose="020B0503020204020204" charset="-122"/>
                          <a:cs typeface="微软雅黑" panose="020B0503020204020204" charset="-122"/>
                        </a:rPr>
                        <m:t>引入随机数</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𝒓</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sup>
                      </m:sSup>
                    </m:oMath>
                  </m:oMathPara>
                </a14:m>
                <a:endParaRPr lang="zh-CN" altLang="en-US" sz="1600" b="1"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05000"/>
                  </a:lnSpc>
                  <a:spcBef>
                    <a:spcPts val="0"/>
                  </a:spcBef>
                  <a:spcAft>
                    <a:spcPts val="300"/>
                  </a:spcAft>
                </a:pPr>
                <a14:m>
                  <m:oMath xmlns:m="http://schemas.openxmlformats.org/officeDocument/2006/math">
                    <m:nary>
                      <m:naryPr>
                        <m:chr m:val="∑"/>
                        <m:limLoc m:val="undOv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𝟎</m:t>
                        </m:r>
                      </m:sub>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𝑁</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𝟏</m:t>
                        </m:r>
                      </m:sup>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𝒓</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𝒙</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𝒚</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e>
                    </m:nary>
                  </m:oMath>
                </a14:m>
                <a:r>
                  <a:rPr lang="en-US" altLang="zh-CN" sz="1600" b="1" i="1">
                    <a:solidFill>
                      <a:schemeClr val="tx1"/>
                    </a:solidFill>
                    <a:latin typeface="Cambria Math" panose="02040503050406030204" charset="0"/>
                    <a:ea typeface="微软雅黑" panose="020B0503020204020204" charset="-122"/>
                    <a:cs typeface="Cambria Math" panose="02040503050406030204" charset="0"/>
                  </a:rPr>
                  <a:t>=</a:t>
                </a:r>
                <a14:m>
                  <m:oMath xmlns:m="http://schemas.openxmlformats.org/officeDocument/2006/math">
                    <m:nary>
                      <m:naryPr>
                        <m:chr m:val="∑"/>
                        <m:limLoc m:val="undOv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𝟎</m:t>
                        </m:r>
                      </m:sub>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𝑁</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𝟏</m:t>
                        </m:r>
                      </m:sup>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𝒓</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𝒛</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e>
                    </m:nary>
                  </m:oMath>
                </a14:m>
                <a:endParaRPr lang="en-US" altLang="zh-CN" sz="1600" b="1" i="1">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14" name="Rounded Rectangle 8"/>
              <p:cNvSpPr>
                <a:spLocks noRot="1" noChangeAspect="1" noMove="1" noResize="1" noEditPoints="1" noAdjustHandles="1" noChangeArrowheads="1" noChangeShapeType="1" noTextEdit="1"/>
              </p:cNvSpPr>
              <p:nvPr>
                <p:custDataLst>
                  <p:tags r:id="rId13"/>
                </p:custDataLst>
              </p:nvPr>
            </p:nvSpPr>
            <p:spPr>
              <a:xfrm>
                <a:off x="3285490" y="2778760"/>
                <a:ext cx="3357245" cy="1103630"/>
              </a:xfrm>
              <a:prstGeom prst="roundRect">
                <a:avLst>
                  <a:gd name="adj" fmla="val 10000"/>
                </a:avLst>
              </a:prstGeom>
              <a:blipFill rotWithShape="1">
                <a:blip r:embed="rId14"/>
                <a:stretch>
                  <a:fillRect l="-189" t="-575" r="-189" b="-575"/>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15" name="下箭头 14"/>
          <p:cNvSpPr/>
          <p:nvPr/>
        </p:nvSpPr>
        <p:spPr>
          <a:xfrm>
            <a:off x="4687570" y="2585720"/>
            <a:ext cx="297815" cy="309880"/>
          </a:xfrm>
          <a:prstGeom prst="downArrow">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下箭头 15"/>
          <p:cNvSpPr/>
          <p:nvPr/>
        </p:nvSpPr>
        <p:spPr>
          <a:xfrm>
            <a:off x="4687570" y="3985895"/>
            <a:ext cx="297815" cy="309880"/>
          </a:xfrm>
          <a:prstGeom prst="downArrow">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a:t>
            </a:r>
            <a:r>
              <a:rPr lang="zh-CN" altLang="en-US"/>
              <a:t>关键技术</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502920" y="694055"/>
                <a:ext cx="10385425" cy="720090"/>
              </a:xfrm>
              <a:prstGeom prst="rect">
                <a:avLst/>
              </a:prstGeom>
              <a:noFill/>
            </p:spPr>
            <p:txBody>
              <a:bodyPr wrap="square" rtlCol="0" anchor="t">
                <a:noAutofit/>
              </a:bodyPr>
              <a:p>
                <a:pPr algn="l">
                  <a:spcBef>
                    <a:spcPts val="0"/>
                  </a:spcBef>
                  <a:spcAft>
                    <a:spcPts val="0"/>
                  </a:spcAft>
                </a:pPr>
                <a:r>
                  <a:rPr lang="zh-CN" sz="2000" b="1">
                    <a:solidFill>
                      <a:srgbClr val="C0392B"/>
                    </a:solidFill>
                    <a:latin typeface="Arial" panose="020B0604020202020204"/>
                    <a:ea typeface="微软雅黑" panose="020B0503020204020204" charset="-122"/>
                    <a:cs typeface="Arial" panose="020B0604020202020204"/>
                    <a:sym typeface="+mn-ea"/>
                  </a:rPr>
                  <a:t>技术</a:t>
                </a:r>
                <a:r>
                  <a:rPr lang="en-US" altLang="zh-CN" sz="2000" b="1">
                    <a:solidFill>
                      <a:srgbClr val="C0392B"/>
                    </a:solidFill>
                    <a:latin typeface="Arial" panose="020B0604020202020204"/>
                    <a:ea typeface="微软雅黑" panose="020B0503020204020204" charset="-122"/>
                    <a:cs typeface="Arial" panose="020B0604020202020204"/>
                    <a:sym typeface="+mn-ea"/>
                  </a:rPr>
                  <a:t>1.3</a:t>
                </a:r>
                <a:r>
                  <a:rPr lang="zh-CN" sz="2000" b="1">
                    <a:solidFill>
                      <a:srgbClr val="C0392B"/>
                    </a:solidFill>
                    <a:latin typeface="Arial" panose="020B0604020202020204"/>
                    <a:ea typeface="微软雅黑" panose="020B0503020204020204" charset="-122"/>
                    <a:cs typeface="Arial" panose="020B0604020202020204"/>
                    <a:sym typeface="+mn-ea"/>
                  </a:rPr>
                  <a:t>：</a:t>
                </a:r>
                <a:r>
                  <a:rPr sz="2000" b="1">
                    <a:solidFill>
                      <a:srgbClr val="12263F"/>
                    </a:solidFill>
                    <a:latin typeface="Arial" panose="020B0604020202020204"/>
                    <a:ea typeface="微软雅黑" panose="020B0503020204020204" charset="-122"/>
                    <a:cs typeface="Arial" panose="020B0604020202020204"/>
                    <a:sym typeface="+mn-ea"/>
                  </a:rPr>
                  <a:t>降维</a:t>
                </a:r>
                <a14:m>
                  <m:oMath xmlns:m="http://schemas.openxmlformats.org/officeDocument/2006/math">
                    <m:r>
                      <a:rPr lang="en-US" sz="2000" b="1">
                        <a:solidFill>
                          <a:srgbClr val="12263F"/>
                        </a:solidFill>
                        <a:latin typeface="Arial" panose="020B0604020202020204"/>
                        <a:ea typeface="微软雅黑" panose="020B0503020204020204" charset="-122"/>
                        <a:cs typeface="Arial" panose="020B0604020202020204"/>
                        <a:sym typeface="+mn-ea"/>
                      </a:rPr>
                      <m:t>（</m:t>
                    </m:r>
                    <m:r>
                      <a:rPr sz="2000" b="1">
                        <a:solidFill>
                          <a:srgbClr val="12263F"/>
                        </a:solidFill>
                        <a:latin typeface="Arial" panose="020B0604020202020204"/>
                        <a:ea typeface="微软雅黑" panose="020B0503020204020204" charset="-122"/>
                        <a:cs typeface="Arial" panose="020B0604020202020204"/>
                        <a:sym typeface="+mn-ea"/>
                      </a:rPr>
                      <m:t>协议</m:t>
                    </m:r>
                    <m:sSub>
                      <m:sSubPr>
                        <m:ctrlPr>
                          <a:rPr sz="2000" b="1">
                            <a:solidFill>
                              <a:srgbClr val="12263F"/>
                            </a:solidFill>
                            <a:latin typeface="Arial" panose="020B0604020202020204"/>
                            <a:ea typeface="微软雅黑" panose="020B0503020204020204" charset="-122"/>
                            <a:cs typeface="Arial" panose="020B0604020202020204"/>
                            <a:sym typeface="+mn-ea"/>
                          </a:rPr>
                        </m:ctrlPr>
                      </m:sSubPr>
                      <m:e>
                        <m:r>
                          <a:rPr sz="2000" b="1">
                            <a:solidFill>
                              <a:srgbClr val="12263F"/>
                            </a:solidFill>
                            <a:latin typeface="Arial" panose="020B0604020202020204"/>
                            <a:ea typeface="微软雅黑" panose="020B0503020204020204" charset="-122"/>
                            <a:cs typeface="Arial" panose="020B0604020202020204"/>
                            <a:sym typeface="+mn-ea"/>
                          </a:rPr>
                          <m:t>𝜫</m:t>
                        </m:r>
                      </m:e>
                      <m:sub>
                        <m:r>
                          <a:rPr lang="en-US" sz="2000" b="1">
                            <a:solidFill>
                              <a:srgbClr val="12263F"/>
                            </a:solidFill>
                            <a:latin typeface="Arial" panose="020B0604020202020204"/>
                            <a:ea typeface="微软雅黑" panose="020B0503020204020204" charset="-122"/>
                            <a:cs typeface="Arial" panose="020B0604020202020204"/>
                            <a:sym typeface="+mn-ea"/>
                          </a:rPr>
                          <m:t>𝐑𝐞𝐝𝐮𝐜𝐞</m:t>
                        </m:r>
                      </m:sub>
                    </m:sSub>
                    <m:r>
                      <a:rPr lang="en-US" sz="2000" b="1">
                        <a:solidFill>
                          <a:srgbClr val="12263F"/>
                        </a:solidFill>
                        <a:latin typeface="Arial" panose="020B0604020202020204"/>
                        <a:ea typeface="微软雅黑" panose="020B0503020204020204" charset="-122"/>
                        <a:cs typeface="Arial" panose="020B0604020202020204"/>
                        <a:sym typeface="+mn-ea"/>
                      </a:rPr>
                      <m:t>）</m:t>
                    </m:r>
                  </m:oMath>
                </a14:m>
                <a:endParaRPr lang="en-US" altLang="en-US" sz="2000" b="1">
                  <a:solidFill>
                    <a:srgbClr val="12263F"/>
                  </a:solidFill>
                  <a:latin typeface="Arial" panose="020B0604020202020204"/>
                  <a:ea typeface="微软雅黑" panose="020B0503020204020204" charset="-122"/>
                  <a:cs typeface="Arial" panose="020B0604020202020204"/>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502920" y="694055"/>
                <a:ext cx="10385425" cy="720090"/>
              </a:xfrm>
              <a:prstGeom prst="rect">
                <a:avLst/>
              </a:prstGeom>
              <a:blipFill rotWithShape="1">
                <a:blip r:embed="rId1"/>
                <a:stretch>
                  <a:fillRect/>
                </a:stretch>
              </a:blipFill>
            </p:spPr>
            <p:txBody>
              <a:bodyPr/>
              <a:lstStyle/>
              <a:p>
                <a:r>
                  <a:rPr lang="zh-CN" altLang="en-US">
                    <a:noFill/>
                  </a:rPr>
                  <a:t> </a:t>
                </a:r>
              </a:p>
            </p:txBody>
          </p:sp>
        </mc:Fallback>
      </mc:AlternateContent>
      <p:sp>
        <p:nvSpPr>
          <p:cNvPr id="5" name="TextBox 4"/>
          <p:cNvSpPr txBox="1"/>
          <p:nvPr/>
        </p:nvSpPr>
        <p:spPr>
          <a:xfrm>
            <a:off x="207645" y="5677535"/>
            <a:ext cx="11754485" cy="550545"/>
          </a:xfrm>
          <a:prstGeom prst="rect">
            <a:avLst/>
          </a:prstGeom>
          <a:noFill/>
        </p:spPr>
        <p:txBody>
          <a:bodyPr wrap="square" lIns="0" tIns="0" rIns="0" bIns="0" anchor="t">
            <a:noAutofit/>
          </a:bodyPr>
          <a:lstStyle/>
          <a:p>
            <a:pPr algn="ctr">
              <a:lnSpc>
                <a:spcPct val="102000"/>
              </a:lnSpc>
              <a:spcBef>
                <a:spcPts val="0"/>
              </a:spcBef>
              <a:spcAft>
                <a:spcPts val="0"/>
              </a:spcAft>
            </a:pPr>
            <a:r>
              <a:rPr lang="zh-CN" altLang="en-US" b="1">
                <a:solidFill>
                  <a:srgbClr val="C0392B"/>
                </a:solidFill>
                <a:latin typeface="Arial" panose="020B0604020202020204"/>
                <a:ea typeface="微软雅黑" panose="020B0503020204020204" charset="-122"/>
                <a:cs typeface="Arial" panose="020B0604020202020204"/>
                <a:sym typeface="+mn-ea"/>
              </a:rPr>
              <a:t>利用拉格朗日插值，将相邻两项合并为一次</a:t>
            </a:r>
            <a:r>
              <a:rPr lang="zh-CN" altLang="en-US" b="1">
                <a:solidFill>
                  <a:srgbClr val="C0392B"/>
                </a:solidFill>
                <a:latin typeface="Arial" panose="020B0604020202020204"/>
                <a:ea typeface="微软雅黑" panose="020B0503020204020204" charset="-122"/>
                <a:cs typeface="Arial" panose="020B0604020202020204"/>
                <a:sym typeface="+mn-ea"/>
              </a:rPr>
              <a:t>多项式，在随机点 </a:t>
            </a:r>
            <a:r>
              <a:rPr lang="en-US" altLang="zh-CN" b="1">
                <a:solidFill>
                  <a:srgbClr val="C0392B"/>
                </a:solidFill>
                <a:latin typeface="Arial" panose="020B0604020202020204"/>
                <a:ea typeface="微软雅黑" panose="020B0503020204020204" charset="-122"/>
                <a:cs typeface="Arial" panose="020B0604020202020204"/>
                <a:sym typeface="+mn-ea"/>
              </a:rPr>
              <a:t>ζ</a:t>
            </a:r>
            <a:r>
              <a:rPr lang="zh-CN" altLang="en-US" b="1">
                <a:solidFill>
                  <a:srgbClr val="C0392B"/>
                </a:solidFill>
                <a:latin typeface="Arial" panose="020B0604020202020204"/>
                <a:ea typeface="微软雅黑" panose="020B0503020204020204" charset="-122"/>
                <a:cs typeface="Arial" panose="020B0604020202020204"/>
                <a:sym typeface="+mn-ea"/>
              </a:rPr>
              <a:t>处求值，实现维度减半。执行</a:t>
            </a:r>
            <a:r>
              <a:rPr lang="en-US" altLang="zh-CN" b="1">
                <a:solidFill>
                  <a:srgbClr val="C0392B"/>
                </a:solidFill>
                <a:latin typeface="Arial" panose="020B0604020202020204"/>
                <a:ea typeface="微软雅黑" panose="020B0503020204020204" charset="-122"/>
                <a:cs typeface="Arial" panose="020B0604020202020204"/>
                <a:sym typeface="+mn-ea"/>
              </a:rPr>
              <a:t>R</a:t>
            </a:r>
            <a:r>
              <a:rPr lang="zh-CN" altLang="en-US" b="1">
                <a:solidFill>
                  <a:srgbClr val="C0392B"/>
                </a:solidFill>
                <a:latin typeface="Arial" panose="020B0604020202020204"/>
                <a:ea typeface="微软雅黑" panose="020B0503020204020204" charset="-122"/>
                <a:cs typeface="Arial" panose="020B0604020202020204"/>
                <a:sym typeface="+mn-ea"/>
              </a:rPr>
              <a:t>次后为</a:t>
            </a:r>
            <a:r>
              <a:rPr lang="en-US" altLang="zh-CN" b="1">
                <a:solidFill>
                  <a:srgbClr val="C0392B"/>
                </a:solidFill>
                <a:latin typeface="Arial" panose="020B0604020202020204"/>
                <a:ea typeface="微软雅黑" panose="020B0503020204020204" charset="-122"/>
                <a:cs typeface="Arial" panose="020B0604020202020204"/>
                <a:sym typeface="+mn-ea"/>
              </a:rPr>
              <a:t>N/2</a:t>
            </a:r>
            <a:r>
              <a:rPr lang="en-US" altLang="zh-CN" b="1" baseline="30000">
                <a:solidFill>
                  <a:srgbClr val="C0392B"/>
                </a:solidFill>
                <a:latin typeface="Arial" panose="020B0604020202020204"/>
                <a:ea typeface="微软雅黑" panose="020B0503020204020204" charset="-122"/>
                <a:cs typeface="Arial" panose="020B0604020202020204"/>
                <a:sym typeface="+mn-ea"/>
              </a:rPr>
              <a:t>R</a:t>
            </a:r>
            <a:endParaRPr b="1">
              <a:solidFill>
                <a:srgbClr val="C0392B"/>
              </a:solidFill>
              <a:latin typeface="Arial" panose="020B0604020202020204"/>
              <a:ea typeface="微软雅黑" panose="020B0503020204020204" charset="-122"/>
              <a:cs typeface="Arial" panose="020B0604020202020204"/>
              <a:sym typeface="+mn-ea"/>
            </a:endParaRPr>
          </a:p>
          <a:p>
            <a:pPr algn="ctr">
              <a:lnSpc>
                <a:spcPct val="102000"/>
              </a:lnSpc>
              <a:spcBef>
                <a:spcPts val="0"/>
              </a:spcBef>
              <a:spcAft>
                <a:spcPts val="0"/>
              </a:spcAft>
            </a:pPr>
            <a:r>
              <a:rPr lang="zh-CN" altLang="en-US" b="1">
                <a:solidFill>
                  <a:srgbClr val="C0392B"/>
                </a:solidFill>
                <a:latin typeface="Arial" panose="020B0604020202020204"/>
                <a:ea typeface="微软雅黑" panose="020B0503020204020204" charset="-122"/>
                <a:cs typeface="Arial" panose="020B0604020202020204"/>
                <a:sym typeface="+mn-ea"/>
              </a:rPr>
              <a:t>通信量从</a:t>
            </a:r>
            <a:r>
              <a:rPr lang="en-US" altLang="zh-CN" b="1">
                <a:solidFill>
                  <a:srgbClr val="C0392B"/>
                </a:solidFill>
                <a:latin typeface="Arial" panose="020B0604020202020204"/>
                <a:ea typeface="微软雅黑" panose="020B0503020204020204" charset="-122"/>
                <a:cs typeface="Arial" panose="020B0604020202020204"/>
                <a:sym typeface="+mn-ea"/>
              </a:rPr>
              <a:t>O(N)</a:t>
            </a:r>
            <a:r>
              <a:rPr lang="zh-CN" altLang="en-US" b="1">
                <a:solidFill>
                  <a:srgbClr val="C0392B"/>
                </a:solidFill>
                <a:latin typeface="Arial" panose="020B0604020202020204"/>
                <a:ea typeface="微软雅黑" panose="020B0503020204020204" charset="-122"/>
                <a:cs typeface="Arial" panose="020B0604020202020204"/>
                <a:sym typeface="+mn-ea"/>
              </a:rPr>
              <a:t>降到了</a:t>
            </a:r>
            <a:r>
              <a:rPr lang="en-US" altLang="zh-CN" b="1">
                <a:solidFill>
                  <a:srgbClr val="C0392B"/>
                </a:solidFill>
                <a:latin typeface="Arial" panose="020B0604020202020204"/>
                <a:ea typeface="微软雅黑" panose="020B0503020204020204" charset="-122"/>
                <a:cs typeface="Arial" panose="020B0604020202020204"/>
                <a:sym typeface="+mn-ea"/>
              </a:rPr>
              <a:t>O(logN)</a:t>
            </a:r>
            <a:endParaRPr lang="zh-CN" altLang="en-US" b="1">
              <a:solidFill>
                <a:srgbClr val="C0392B"/>
              </a:solidFill>
              <a:latin typeface="Arial" panose="020B0604020202020204"/>
              <a:ea typeface="微软雅黑" panose="020B0503020204020204" charset="-122"/>
              <a:cs typeface="Arial" panose="020B0604020202020204"/>
              <a:sym typeface="+mn-ea"/>
            </a:endParaRPr>
          </a:p>
        </p:txBody>
      </p:sp>
      <p:sp>
        <p:nvSpPr>
          <p:cNvPr id="8" name="Rounded Rectangle 7"/>
          <p:cNvSpPr/>
          <p:nvPr>
            <p:custDataLst>
              <p:tags r:id="rId2"/>
            </p:custDataLst>
          </p:nvPr>
        </p:nvSpPr>
        <p:spPr>
          <a:xfrm>
            <a:off x="3114675" y="1472565"/>
            <a:ext cx="5830570" cy="3660775"/>
          </a:xfrm>
          <a:prstGeom prst="roundRect">
            <a:avLst>
              <a:gd name="adj" fmla="val 7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 name="TextBox 9"/>
          <p:cNvSpPr txBox="1"/>
          <p:nvPr>
            <p:custDataLst>
              <p:tags r:id="rId3"/>
            </p:custDataLst>
          </p:nvPr>
        </p:nvSpPr>
        <p:spPr>
          <a:xfrm>
            <a:off x="3336925" y="1693545"/>
            <a:ext cx="5386070" cy="449580"/>
          </a:xfrm>
          <a:prstGeom prst="rect">
            <a:avLst/>
          </a:prstGeom>
          <a:noFill/>
        </p:spPr>
        <p:txBody>
          <a:bodyPr wrap="square" lIns="36576" tIns="18288" rIns="36576" bIns="18288" anchor="t">
            <a:noAutofit/>
          </a:bodyPr>
          <a:lstStyle/>
          <a:p>
            <a:pPr algn="l">
              <a:lnSpc>
                <a:spcPct val="116000"/>
              </a:lnSpc>
            </a:pPr>
            <a:r>
              <a:rPr b="1" i="0">
                <a:solidFill>
                  <a:srgbClr val="12263F"/>
                </a:solidFill>
                <a:latin typeface="Arial" panose="020B0604020202020204"/>
                <a:ea typeface="Arial" panose="020B0604020202020204"/>
              </a:rPr>
              <a:t>把相邻的两个数，看成同一条直线上的两个点。</a:t>
            </a:r>
            <a:endParaRPr b="1" i="0">
              <a:solidFill>
                <a:srgbClr val="12263F"/>
              </a:solidFill>
              <a:latin typeface="Arial" panose="020B0604020202020204"/>
              <a:ea typeface="Arial" panose="020B0604020202020204"/>
            </a:endParaRPr>
          </a:p>
        </p:txBody>
      </p:sp>
      <p:sp>
        <p:nvSpPr>
          <p:cNvPr id="11" name="Rectangle 10"/>
          <p:cNvSpPr/>
          <p:nvPr>
            <p:custDataLst>
              <p:tags r:id="rId4"/>
            </p:custDataLst>
          </p:nvPr>
        </p:nvSpPr>
        <p:spPr>
          <a:xfrm>
            <a:off x="3617595" y="3034665"/>
            <a:ext cx="4786630" cy="76200"/>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custDataLst>
              <p:tags r:id="rId5"/>
            </p:custDataLst>
          </p:nvPr>
        </p:nvSpPr>
        <p:spPr>
          <a:xfrm>
            <a:off x="4097655" y="2976880"/>
            <a:ext cx="144780" cy="160020"/>
          </a:xfrm>
          <a:prstGeom prst="ellipse">
            <a:avLst/>
          </a:prstGeom>
          <a:solidFill>
            <a:srgbClr val="1F6FB2"/>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custDataLst>
              <p:tags r:id="rId6"/>
            </p:custDataLst>
          </p:nvPr>
        </p:nvSpPr>
        <p:spPr>
          <a:xfrm>
            <a:off x="6200775" y="2976880"/>
            <a:ext cx="144780" cy="160020"/>
          </a:xfrm>
          <a:prstGeom prst="ellipse">
            <a:avLst/>
          </a:prstGeom>
          <a:solidFill>
            <a:srgbClr val="1F6FB2"/>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custDataLst>
              <p:tags r:id="rId7"/>
            </p:custDataLst>
          </p:nvPr>
        </p:nvSpPr>
        <p:spPr>
          <a:xfrm>
            <a:off x="7572375" y="2976880"/>
            <a:ext cx="144780" cy="160020"/>
          </a:xfrm>
          <a:prstGeom prst="ellipse">
            <a:avLst/>
          </a:prstGeom>
          <a:solidFill>
            <a:srgbClr val="C0392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custDataLst>
              <p:tags r:id="rId8"/>
            </p:custDataLst>
          </p:nvPr>
        </p:nvSpPr>
        <p:spPr>
          <a:xfrm>
            <a:off x="7567930" y="2441575"/>
            <a:ext cx="154305" cy="406400"/>
          </a:xfrm>
          <a:prstGeom prst="down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custDataLst>
              <p:tags r:id="rId9"/>
            </p:custDataLst>
          </p:nvPr>
        </p:nvSpPr>
        <p:spPr>
          <a:xfrm>
            <a:off x="7156450" y="2075815"/>
            <a:ext cx="1111885" cy="342265"/>
          </a:xfrm>
          <a:prstGeom prst="rect">
            <a:avLst/>
          </a:prstGeom>
          <a:noFill/>
        </p:spPr>
        <p:txBody>
          <a:bodyPr wrap="square" lIns="36576" tIns="18288" rIns="36576" bIns="18288" anchor="t">
            <a:noAutofit/>
          </a:bodyPr>
          <a:lstStyle/>
          <a:p>
            <a:pPr algn="ctr">
              <a:lnSpc>
                <a:spcPct val="116000"/>
              </a:lnSpc>
            </a:pPr>
            <a:r>
              <a:rPr sz="1400" b="1" i="0">
                <a:solidFill>
                  <a:srgbClr val="C0392B"/>
                </a:solidFill>
                <a:latin typeface="Arial" panose="020B0604020202020204"/>
                <a:ea typeface="Arial" panose="020B0604020202020204"/>
              </a:rPr>
              <a:t>t = </a:t>
            </a:r>
            <a:r>
              <a:rPr sz="1600" b="1" i="1">
                <a:solidFill>
                  <a:srgbClr val="C0392B"/>
                </a:solidFill>
                <a:latin typeface="Arial" panose="020B0604020202020204"/>
                <a:ea typeface="Arial" panose="020B0604020202020204"/>
              </a:rPr>
              <a:t>ζ</a:t>
            </a:r>
            <a:endParaRPr sz="1600" b="1" i="1">
              <a:solidFill>
                <a:srgbClr val="C0392B"/>
              </a:solidFill>
              <a:latin typeface="Arial" panose="020B0604020202020204"/>
              <a:ea typeface="Arial" panose="020B0604020202020204"/>
            </a:endParaRPr>
          </a:p>
        </p:txBody>
      </p:sp>
      <p:sp>
        <p:nvSpPr>
          <p:cNvPr id="17" name="TextBox 16"/>
          <p:cNvSpPr txBox="1"/>
          <p:nvPr>
            <p:custDataLst>
              <p:tags r:id="rId10"/>
            </p:custDataLst>
          </p:nvPr>
        </p:nvSpPr>
        <p:spPr>
          <a:xfrm>
            <a:off x="3535045" y="3155315"/>
            <a:ext cx="1372870" cy="363855"/>
          </a:xfrm>
          <a:prstGeom prst="rect">
            <a:avLst/>
          </a:prstGeom>
          <a:noFill/>
        </p:spPr>
        <p:txBody>
          <a:bodyPr wrap="square" lIns="36576" tIns="18288" rIns="36576" bIns="18288" anchor="t">
            <a:noAutofit/>
          </a:bodyPr>
          <a:lstStyle/>
          <a:p>
            <a:pPr algn="ctr">
              <a:lnSpc>
                <a:spcPct val="116000"/>
              </a:lnSpc>
            </a:pPr>
            <a:r>
              <a:rPr sz="1350" b="1" i="0">
                <a:solidFill>
                  <a:srgbClr val="1F6FB2"/>
                </a:solidFill>
                <a:latin typeface="Arial" panose="020B0604020202020204"/>
                <a:ea typeface="Arial" panose="020B0604020202020204"/>
              </a:rPr>
              <a:t>t = 0</a:t>
            </a:r>
            <a:r>
              <a:rPr sz="1350" b="1" i="0">
                <a:solidFill>
                  <a:srgbClr val="1F6FB2"/>
                </a:solidFill>
                <a:latin typeface="Arial" panose="020B0604020202020204"/>
                <a:ea typeface="Arial" panose="020B0604020202020204"/>
              </a:rPr>
              <a:t>   </a:t>
            </a:r>
            <a:r>
              <a:rPr sz="1350" b="1" i="1">
                <a:solidFill>
                  <a:srgbClr val="1F6FB2"/>
                </a:solidFill>
                <a:latin typeface="Arial" panose="020B0604020202020204"/>
                <a:ea typeface="Arial" panose="020B0604020202020204"/>
              </a:rPr>
              <a:t>x</a:t>
            </a:r>
            <a:r>
              <a:rPr sz="1350" b="1" i="0" baseline="30000">
                <a:solidFill>
                  <a:srgbClr val="1F6FB2"/>
                </a:solidFill>
                <a:latin typeface="Arial" panose="020B0604020202020204"/>
                <a:ea typeface="Arial" panose="020B0604020202020204"/>
              </a:rPr>
              <a:t>(0)</a:t>
            </a:r>
            <a:endParaRPr sz="1350" b="1" i="0" baseline="30000">
              <a:solidFill>
                <a:srgbClr val="1F6FB2"/>
              </a:solidFill>
              <a:latin typeface="Arial" panose="020B0604020202020204"/>
              <a:ea typeface="Arial" panose="020B0604020202020204"/>
            </a:endParaRPr>
          </a:p>
        </p:txBody>
      </p:sp>
      <p:sp>
        <p:nvSpPr>
          <p:cNvPr id="4" name="TextBox 17"/>
          <p:cNvSpPr txBox="1"/>
          <p:nvPr>
            <p:custDataLst>
              <p:tags r:id="rId11"/>
            </p:custDataLst>
          </p:nvPr>
        </p:nvSpPr>
        <p:spPr>
          <a:xfrm>
            <a:off x="5638165" y="3155315"/>
            <a:ext cx="1372870" cy="363855"/>
          </a:xfrm>
          <a:prstGeom prst="rect">
            <a:avLst/>
          </a:prstGeom>
          <a:noFill/>
        </p:spPr>
        <p:txBody>
          <a:bodyPr wrap="square" lIns="36576" tIns="18288" rIns="36576" bIns="18288" anchor="t">
            <a:noAutofit/>
          </a:bodyPr>
          <a:lstStyle/>
          <a:p>
            <a:pPr algn="ctr">
              <a:lnSpc>
                <a:spcPct val="116000"/>
              </a:lnSpc>
            </a:pPr>
            <a:r>
              <a:rPr sz="1350" b="1" i="0">
                <a:solidFill>
                  <a:srgbClr val="1F6FB2"/>
                </a:solidFill>
                <a:latin typeface="Arial" panose="020B0604020202020204"/>
                <a:ea typeface="Arial" panose="020B0604020202020204"/>
              </a:rPr>
              <a:t>t = 1</a:t>
            </a:r>
            <a:r>
              <a:rPr sz="1350" b="1" i="0">
                <a:solidFill>
                  <a:srgbClr val="1F6FB2"/>
                </a:solidFill>
                <a:latin typeface="Arial" panose="020B0604020202020204"/>
                <a:ea typeface="Arial" panose="020B0604020202020204"/>
              </a:rPr>
              <a:t>   </a:t>
            </a:r>
            <a:r>
              <a:rPr sz="1350" b="1" i="1">
                <a:solidFill>
                  <a:srgbClr val="1F6FB2"/>
                </a:solidFill>
                <a:latin typeface="Arial" panose="020B0604020202020204"/>
                <a:ea typeface="Arial" panose="020B0604020202020204"/>
              </a:rPr>
              <a:t>x</a:t>
            </a:r>
            <a:r>
              <a:rPr sz="1350" b="1" i="0" baseline="30000">
                <a:solidFill>
                  <a:srgbClr val="1F6FB2"/>
                </a:solidFill>
                <a:latin typeface="Arial" panose="020B0604020202020204"/>
                <a:ea typeface="Arial" panose="020B0604020202020204"/>
              </a:rPr>
              <a:t>(1)</a:t>
            </a:r>
            <a:endParaRPr sz="1350" b="1" i="0" baseline="30000">
              <a:solidFill>
                <a:srgbClr val="1F6FB2"/>
              </a:solidFill>
              <a:latin typeface="Arial" panose="020B0604020202020204"/>
              <a:ea typeface="Arial" panose="020B0604020202020204"/>
            </a:endParaRPr>
          </a:p>
        </p:txBody>
      </p:sp>
      <p:sp>
        <p:nvSpPr>
          <p:cNvPr id="7" name="TextBox 18"/>
          <p:cNvSpPr txBox="1"/>
          <p:nvPr>
            <p:custDataLst>
              <p:tags r:id="rId12"/>
            </p:custDataLst>
          </p:nvPr>
        </p:nvSpPr>
        <p:spPr>
          <a:xfrm>
            <a:off x="3617595" y="3916045"/>
            <a:ext cx="5386070" cy="449580"/>
          </a:xfrm>
          <a:prstGeom prst="rect">
            <a:avLst/>
          </a:prstGeom>
          <a:noFill/>
        </p:spPr>
        <p:txBody>
          <a:bodyPr wrap="square" lIns="36576" tIns="18288" rIns="36576" bIns="18288" anchor="t">
            <a:noAutofit/>
          </a:bodyPr>
          <a:lstStyle/>
          <a:p>
            <a:pPr algn="l">
              <a:lnSpc>
                <a:spcPct val="116000"/>
              </a:lnSpc>
            </a:pPr>
            <a:r>
              <a:rPr b="1" i="1">
                <a:solidFill>
                  <a:srgbClr val="12263F"/>
                </a:solidFill>
                <a:latin typeface="Arial" panose="020B0604020202020204"/>
                <a:ea typeface="Arial" panose="020B0604020202020204"/>
              </a:rPr>
              <a:t>f</a:t>
            </a:r>
            <a:r>
              <a:rPr b="1" i="0">
                <a:solidFill>
                  <a:srgbClr val="12263F"/>
                </a:solidFill>
                <a:latin typeface="Arial" panose="020B0604020202020204"/>
                <a:ea typeface="Arial" panose="020B0604020202020204"/>
              </a:rPr>
              <a:t>(</a:t>
            </a:r>
            <a:r>
              <a:rPr b="1" i="1">
                <a:solidFill>
                  <a:srgbClr val="12263F"/>
                </a:solidFill>
                <a:latin typeface="Arial" panose="020B0604020202020204"/>
                <a:ea typeface="Arial" panose="020B0604020202020204"/>
              </a:rPr>
              <a:t>ζ</a:t>
            </a:r>
            <a:r>
              <a:rPr b="1" i="0">
                <a:solidFill>
                  <a:srgbClr val="12263F"/>
                </a:solidFill>
                <a:latin typeface="Arial" panose="020B0604020202020204"/>
                <a:ea typeface="Arial" panose="020B0604020202020204"/>
              </a:rPr>
              <a:t>) = </a:t>
            </a:r>
            <a:r>
              <a:rPr b="1" i="1">
                <a:solidFill>
                  <a:srgbClr val="12263F"/>
                </a:solidFill>
                <a:latin typeface="Arial" panose="020B0604020202020204"/>
                <a:ea typeface="Arial" panose="020B0604020202020204"/>
              </a:rPr>
              <a:t>x</a:t>
            </a:r>
            <a:r>
              <a:rPr b="1" i="0" baseline="30000">
                <a:solidFill>
                  <a:srgbClr val="12263F"/>
                </a:solidFill>
                <a:latin typeface="Arial" panose="020B0604020202020204"/>
                <a:ea typeface="Arial" panose="020B0604020202020204"/>
              </a:rPr>
              <a:t>(0)</a:t>
            </a:r>
            <a:r>
              <a:rPr b="1" i="0">
                <a:solidFill>
                  <a:srgbClr val="12263F"/>
                </a:solidFill>
                <a:latin typeface="Arial" panose="020B0604020202020204"/>
                <a:ea typeface="Arial" panose="020B0604020202020204"/>
              </a:rPr>
              <a:t> + </a:t>
            </a:r>
            <a:r>
              <a:rPr b="1" i="1">
                <a:solidFill>
                  <a:srgbClr val="12263F"/>
                </a:solidFill>
                <a:latin typeface="Arial" panose="020B0604020202020204"/>
                <a:ea typeface="Arial" panose="020B0604020202020204"/>
              </a:rPr>
              <a:t>ζ</a:t>
            </a:r>
            <a:r>
              <a:rPr b="1" i="0">
                <a:solidFill>
                  <a:srgbClr val="12263F"/>
                </a:solidFill>
                <a:latin typeface="Arial" panose="020B0604020202020204"/>
                <a:ea typeface="Arial" panose="020B0604020202020204"/>
              </a:rPr>
              <a:t> · (</a:t>
            </a:r>
            <a:r>
              <a:rPr b="1" i="1">
                <a:solidFill>
                  <a:srgbClr val="12263F"/>
                </a:solidFill>
                <a:latin typeface="Arial" panose="020B0604020202020204"/>
                <a:ea typeface="Arial" panose="020B0604020202020204"/>
              </a:rPr>
              <a:t>x</a:t>
            </a:r>
            <a:r>
              <a:rPr b="1" i="0" baseline="30000">
                <a:solidFill>
                  <a:srgbClr val="12263F"/>
                </a:solidFill>
                <a:latin typeface="Arial" panose="020B0604020202020204"/>
                <a:ea typeface="Arial" panose="020B0604020202020204"/>
              </a:rPr>
              <a:t>(1)</a:t>
            </a:r>
            <a:r>
              <a:rPr b="1" i="0">
                <a:solidFill>
                  <a:srgbClr val="12263F"/>
                </a:solidFill>
                <a:latin typeface="Arial" panose="020B0604020202020204"/>
                <a:ea typeface="Arial" panose="020B0604020202020204"/>
              </a:rPr>
              <a:t> − </a:t>
            </a:r>
            <a:r>
              <a:rPr b="1" i="1">
                <a:solidFill>
                  <a:srgbClr val="12263F"/>
                </a:solidFill>
                <a:latin typeface="Arial" panose="020B0604020202020204"/>
                <a:ea typeface="Arial" panose="020B0604020202020204"/>
              </a:rPr>
              <a:t>x</a:t>
            </a:r>
            <a:r>
              <a:rPr b="1" i="0" baseline="30000">
                <a:solidFill>
                  <a:srgbClr val="12263F"/>
                </a:solidFill>
                <a:latin typeface="Arial" panose="020B0604020202020204"/>
                <a:ea typeface="Arial" panose="020B0604020202020204"/>
              </a:rPr>
              <a:t>(0)</a:t>
            </a:r>
            <a:r>
              <a:rPr b="1" i="0">
                <a:solidFill>
                  <a:srgbClr val="12263F"/>
                </a:solidFill>
                <a:latin typeface="Arial" panose="020B0604020202020204"/>
                <a:ea typeface="Arial" panose="020B0604020202020204"/>
              </a:rPr>
              <a:t>)</a:t>
            </a:r>
            <a:endParaRPr b="1" i="0">
              <a:solidFill>
                <a:srgbClr val="12263F"/>
              </a:solidFill>
              <a:latin typeface="Arial" panose="020B0604020202020204"/>
              <a:ea typeface="Arial" panose="020B0604020202020204"/>
            </a:endParaRPr>
          </a:p>
        </p:txBody>
      </p:sp>
      <p:sp>
        <p:nvSpPr>
          <p:cNvPr id="20" name="TextBox 19"/>
          <p:cNvSpPr txBox="1"/>
          <p:nvPr>
            <p:custDataLst>
              <p:tags r:id="rId13"/>
            </p:custDataLst>
          </p:nvPr>
        </p:nvSpPr>
        <p:spPr>
          <a:xfrm>
            <a:off x="3559175" y="4531360"/>
            <a:ext cx="5386070" cy="471170"/>
          </a:xfrm>
          <a:prstGeom prst="rect">
            <a:avLst/>
          </a:prstGeom>
          <a:noFill/>
        </p:spPr>
        <p:txBody>
          <a:bodyPr wrap="square" lIns="36576" tIns="18288" rIns="36576" bIns="18288" anchor="t">
            <a:noAutofit/>
          </a:bodyPr>
          <a:lstStyle/>
          <a:p>
            <a:pPr algn="l">
              <a:lnSpc>
                <a:spcPct val="116000"/>
              </a:lnSpc>
            </a:pPr>
            <a:r>
              <a:rPr b="1" i="0">
                <a:solidFill>
                  <a:srgbClr val="C57418"/>
                </a:solidFill>
                <a:latin typeface="Arial" panose="020B0604020202020204"/>
                <a:ea typeface="Arial" panose="020B0604020202020204"/>
              </a:rPr>
              <a:t>用一个数 </a:t>
            </a:r>
            <a:r>
              <a:rPr b="1" i="1">
                <a:solidFill>
                  <a:srgbClr val="C57418"/>
                </a:solidFill>
                <a:latin typeface="Arial" panose="020B0604020202020204"/>
                <a:ea typeface="Arial" panose="020B0604020202020204"/>
              </a:rPr>
              <a:t>f</a:t>
            </a:r>
            <a:r>
              <a:rPr b="1" i="0">
                <a:solidFill>
                  <a:srgbClr val="C57418"/>
                </a:solidFill>
                <a:latin typeface="Arial" panose="020B0604020202020204"/>
                <a:ea typeface="Arial" panose="020B0604020202020204"/>
              </a:rPr>
              <a:t>(</a:t>
            </a:r>
            <a:r>
              <a:rPr b="1" i="1">
                <a:solidFill>
                  <a:srgbClr val="C57418"/>
                </a:solidFill>
                <a:latin typeface="Arial" panose="020B0604020202020204"/>
                <a:ea typeface="Arial" panose="020B0604020202020204"/>
              </a:rPr>
              <a:t>ζ</a:t>
            </a:r>
            <a:r>
              <a:rPr b="1" i="0">
                <a:solidFill>
                  <a:srgbClr val="C57418"/>
                </a:solidFill>
                <a:latin typeface="Arial" panose="020B0604020202020204"/>
                <a:ea typeface="Arial" panose="020B0604020202020204"/>
              </a:rPr>
              <a:t>)，完美代表原来的两个数</a:t>
            </a:r>
            <a:endParaRPr b="1" i="0">
              <a:solidFill>
                <a:srgbClr val="C57418"/>
              </a:solidFill>
              <a:latin typeface="Arial" panose="020B0604020202020204"/>
              <a:ea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a:t>
            </a:r>
            <a:r>
              <a:rPr lang="zh-CN" altLang="en-US"/>
              <a:t>关键技术</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502920" y="694690"/>
                <a:ext cx="10385425" cy="720090"/>
              </a:xfrm>
              <a:prstGeom prst="rect">
                <a:avLst/>
              </a:prstGeom>
              <a:noFill/>
            </p:spPr>
            <p:txBody>
              <a:bodyPr wrap="square" rtlCol="0" anchor="t">
                <a:noAutofit/>
              </a:bodyPr>
              <a:p>
                <a:pPr algn="l">
                  <a:spcBef>
                    <a:spcPts val="0"/>
                  </a:spcBef>
                  <a:spcAft>
                    <a:spcPts val="0"/>
                  </a:spcAft>
                </a:pPr>
                <a:r>
                  <a:rPr lang="zh-CN" sz="2000" b="1">
                    <a:solidFill>
                      <a:srgbClr val="C0392B"/>
                    </a:solidFill>
                    <a:latin typeface="Arial" panose="020B0604020202020204"/>
                    <a:ea typeface="微软雅黑" panose="020B0503020204020204" charset="-122"/>
                    <a:cs typeface="Arial" panose="020B0604020202020204"/>
                    <a:sym typeface="+mn-ea"/>
                  </a:rPr>
                  <a:t>技术</a:t>
                </a:r>
                <a:r>
                  <a:rPr lang="en-US" altLang="zh-CN" sz="2000" b="1">
                    <a:solidFill>
                      <a:srgbClr val="C0392B"/>
                    </a:solidFill>
                    <a:latin typeface="Arial" panose="020B0604020202020204"/>
                    <a:ea typeface="微软雅黑" panose="020B0503020204020204" charset="-122"/>
                    <a:cs typeface="Arial" panose="020B0604020202020204"/>
                    <a:sym typeface="+mn-ea"/>
                  </a:rPr>
                  <a:t>1.4</a:t>
                </a:r>
                <a:r>
                  <a:rPr lang="zh-CN" sz="2000" b="1">
                    <a:solidFill>
                      <a:srgbClr val="C0392B"/>
                    </a:solidFill>
                    <a:latin typeface="Arial" panose="020B0604020202020204"/>
                    <a:ea typeface="微软雅黑" panose="020B0503020204020204" charset="-122"/>
                    <a:cs typeface="Arial" panose="020B0604020202020204"/>
                    <a:sym typeface="+mn-ea"/>
                  </a:rPr>
                  <a:t>：</a:t>
                </a:r>
                <a:r>
                  <a:rPr sz="2000" b="1">
                    <a:solidFill>
                      <a:srgbClr val="12263F"/>
                    </a:solidFill>
                    <a:latin typeface="Arial" panose="020B0604020202020204"/>
                    <a:ea typeface="微软雅黑" panose="020B0503020204020204" charset="-122"/>
                    <a:cs typeface="Arial" panose="020B0604020202020204"/>
                    <a:sym typeface="+mn-ea"/>
                  </a:rPr>
                  <a:t>内积验证：</a:t>
                </a:r>
                <a14:m>
                  <m:oMath xmlns:m="http://schemas.openxmlformats.org/officeDocument/2006/math">
                    <m:sSub>
                      <m:sSubPr>
                        <m:ctrlPr>
                          <a:rPr sz="2000" b="1">
                            <a:solidFill>
                              <a:srgbClr val="12263F"/>
                            </a:solidFill>
                            <a:latin typeface="Arial" panose="020B0604020202020204"/>
                            <a:ea typeface="微软雅黑" panose="020B0503020204020204" charset="-122"/>
                            <a:cs typeface="Arial" panose="020B0604020202020204"/>
                            <a:sym typeface="+mn-ea"/>
                          </a:rPr>
                        </m:ctrlPr>
                      </m:sSubPr>
                      <m:e>
                        <m:r>
                          <a:rPr sz="2000" b="1">
                            <a:solidFill>
                              <a:srgbClr val="12263F"/>
                            </a:solidFill>
                            <a:latin typeface="Arial" panose="020B0604020202020204"/>
                            <a:ea typeface="微软雅黑" panose="020B0503020204020204" charset="-122"/>
                            <a:cs typeface="Arial" panose="020B0604020202020204"/>
                            <a:sym typeface="+mn-ea"/>
                          </a:rPr>
                          <m:t>𝜫</m:t>
                        </m:r>
                      </m:e>
                      <m:sub>
                        <m:r>
                          <a:rPr lang="en-US" sz="2000" b="1">
                            <a:solidFill>
                              <a:srgbClr val="12263F"/>
                            </a:solidFill>
                            <a:latin typeface="Arial" panose="020B0604020202020204"/>
                            <a:ea typeface="微软雅黑" panose="020B0503020204020204" charset="-122"/>
                            <a:cs typeface="Arial" panose="020B0604020202020204"/>
                            <a:sym typeface="+mn-ea"/>
                          </a:rPr>
                          <m:t>𝐈𝐧𝐧𝐞𝐫𝐕𝐞𝐫𝐢𝐟𝐲</m:t>
                        </m:r>
                      </m:sub>
                    </m:sSub>
                  </m:oMath>
                </a14:m>
                <a:endParaRPr lang="en-US" altLang="en-US" sz="2000" b="1">
                  <a:solidFill>
                    <a:srgbClr val="12263F"/>
                  </a:solidFill>
                  <a:latin typeface="Arial" panose="020B0604020202020204"/>
                  <a:ea typeface="微软雅黑" panose="020B0503020204020204" charset="-122"/>
                  <a:cs typeface="Arial" panose="020B0604020202020204"/>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502920" y="694690"/>
                <a:ext cx="10385425" cy="720090"/>
              </a:xfrm>
              <a:prstGeom prst="rect">
                <a:avLst/>
              </a:prstGeom>
              <a:blipFill rotWithShape="1">
                <a:blip r:embed="rId1"/>
                <a:stretch>
                  <a:fillRect/>
                </a:stretch>
              </a:blipFill>
            </p:spPr>
            <p:txBody>
              <a:bodyPr/>
              <a:lstStyle/>
              <a:p>
                <a:r>
                  <a:rPr lang="zh-CN" altLang="en-US">
                    <a:noFill/>
                  </a:rPr>
                  <a:t> </a:t>
                </a:r>
              </a:p>
            </p:txBody>
          </p:sp>
        </mc:Fallback>
      </mc:AlternateContent>
      <p:sp>
        <p:nvSpPr>
          <p:cNvPr id="5" name="TextBox 4"/>
          <p:cNvSpPr txBox="1"/>
          <p:nvPr/>
        </p:nvSpPr>
        <p:spPr>
          <a:xfrm>
            <a:off x="0" y="5928995"/>
            <a:ext cx="11858625" cy="472440"/>
          </a:xfrm>
          <a:prstGeom prst="rect">
            <a:avLst/>
          </a:prstGeom>
          <a:noFill/>
        </p:spPr>
        <p:txBody>
          <a:bodyPr wrap="square" lIns="0" tIns="0" rIns="0" bIns="0" anchor="t">
            <a:noAutofit/>
          </a:bodyPr>
          <a:lstStyle/>
          <a:p>
            <a:pPr algn="ctr">
              <a:lnSpc>
                <a:spcPct val="102000"/>
              </a:lnSpc>
              <a:spcBef>
                <a:spcPts val="0"/>
              </a:spcBef>
              <a:spcAft>
                <a:spcPts val="0"/>
              </a:spcAft>
            </a:pPr>
            <a:r>
              <a:rPr b="1">
                <a:solidFill>
                  <a:srgbClr val="C0392B"/>
                </a:solidFill>
                <a:latin typeface="Arial" panose="020B0604020202020204"/>
                <a:ea typeface="微软雅黑" panose="020B0503020204020204" charset="-122"/>
                <a:cs typeface="Arial" panose="020B0604020202020204"/>
                <a:sym typeface="+mn-ea"/>
              </a:rPr>
              <a:t>随机 α 加权后只检查 Δ 是否为零 —— 一次求值</a:t>
            </a:r>
            <a:r>
              <a:rPr lang="zh-CN" b="1">
                <a:solidFill>
                  <a:srgbClr val="C0392B"/>
                </a:solidFill>
                <a:latin typeface="Arial" panose="020B0604020202020204"/>
                <a:ea typeface="微软雅黑" panose="020B0503020204020204" charset="-122"/>
                <a:cs typeface="Arial" panose="020B0604020202020204"/>
                <a:sym typeface="+mn-ea"/>
              </a:rPr>
              <a:t>即可判定</a:t>
            </a:r>
            <a:r>
              <a:rPr b="1">
                <a:solidFill>
                  <a:srgbClr val="C0392B"/>
                </a:solidFill>
                <a:latin typeface="Arial" panose="020B0604020202020204"/>
                <a:ea typeface="微软雅黑" panose="020B0503020204020204" charset="-122"/>
                <a:cs typeface="Arial" panose="020B0604020202020204"/>
                <a:sym typeface="+mn-ea"/>
              </a:rPr>
              <a:t>，声错</a:t>
            </a:r>
            <a:r>
              <a:rPr lang="zh-CN" b="1">
                <a:solidFill>
                  <a:srgbClr val="C0392B"/>
                </a:solidFill>
                <a:latin typeface="Arial" panose="020B0604020202020204"/>
                <a:ea typeface="微软雅黑" panose="020B0503020204020204" charset="-122"/>
                <a:cs typeface="Arial" panose="020B0604020202020204"/>
                <a:sym typeface="+mn-ea"/>
              </a:rPr>
              <a:t>概率可</a:t>
            </a:r>
            <a:r>
              <a:rPr lang="zh-CN" b="1">
                <a:solidFill>
                  <a:srgbClr val="C0392B"/>
                </a:solidFill>
                <a:latin typeface="Arial" panose="020B0604020202020204"/>
                <a:ea typeface="微软雅黑" panose="020B0503020204020204" charset="-122"/>
                <a:cs typeface="Arial" panose="020B0604020202020204"/>
                <a:sym typeface="+mn-ea"/>
              </a:rPr>
              <a:t>忽略</a:t>
            </a:r>
            <a:endParaRPr lang="zh-CN" b="1">
              <a:solidFill>
                <a:srgbClr val="C0392B"/>
              </a:solidFill>
              <a:latin typeface="Arial" panose="020B0604020202020204"/>
              <a:ea typeface="微软雅黑" panose="020B0503020204020204" charset="-122"/>
              <a:cs typeface="Arial" panose="020B0604020202020204"/>
              <a:sym typeface="+mn-ea"/>
            </a:endParaRPr>
          </a:p>
        </p:txBody>
      </p:sp>
      <mc:AlternateContent xmlns:mc="http://schemas.openxmlformats.org/markup-compatibility/2006">
        <mc:Choice xmlns:a14="http://schemas.microsoft.com/office/drawing/2010/main" Requires="a14">
          <p:sp>
            <p:nvSpPr>
              <p:cNvPr id="21" name="Rounded Rectangle 8"/>
              <p:cNvSpPr/>
              <p:nvPr>
                <p:custDataLst>
                  <p:tags r:id="rId2"/>
                </p:custDataLst>
              </p:nvPr>
            </p:nvSpPr>
            <p:spPr>
              <a:xfrm>
                <a:off x="3126105" y="1301115"/>
                <a:ext cx="5939155" cy="82169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ctr">
                  <a:lnSpc>
                    <a:spcPct val="105000"/>
                  </a:lnSpc>
                  <a:spcBef>
                    <a:spcPts val="0"/>
                  </a:spcBef>
                  <a:spcAft>
                    <a:spcPts val="300"/>
                  </a:spcAft>
                </a:pPr>
                <a:r>
                  <a:rPr lang="zh-CN" altLang="en-US" sz="1600" b="1" i="0">
                    <a:solidFill>
                      <a:schemeClr val="tx1"/>
                    </a:solidFill>
                    <a:latin typeface="微软雅黑" panose="020B0503020204020204" charset="-122"/>
                    <a:ea typeface="微软雅黑" panose="020B0503020204020204" charset="-122"/>
                    <a:cs typeface="微软雅黑" panose="020B0503020204020204" charset="-122"/>
                  </a:rPr>
                  <a:t>验证等式</a:t>
                </a:r>
                <a14:m>
                  <m:oMath xmlns:m="http://schemas.openxmlformats.org/officeDocument/2006/math">
                    <m:r>
                      <a:rPr lang="en-US" altLang="zh-CN" sz="1600" b="1" i="0">
                        <a:solidFill>
                          <a:schemeClr val="tx1"/>
                        </a:solidFill>
                        <a:latin typeface="微软雅黑" panose="020B0503020204020204" charset="-122"/>
                        <a:ea typeface="微软雅黑" panose="020B0503020204020204" charset="-122"/>
                        <a:cs typeface="微软雅黑" panose="020B0503020204020204" charset="-122"/>
                      </a:rPr>
                      <m:t>  </m:t>
                    </m:r>
                    <m:nary>
                      <m:naryPr>
                        <m:chr m:val="∑"/>
                        <m:limLoc m:val="undOvr"/>
                        <m:subHide m:val="on"/>
                        <m:supHide m:val="on"/>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naryPr>
                      <m:sub/>
                      <m:sup/>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𝑥</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𝒚</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𝒛</m:t>
                        </m:r>
                      </m:e>
                    </m:nary>
                  </m:oMath>
                </a14:m>
                <a:r>
                  <a:rPr lang="en-US" altLang="zh-CN" sz="1600" b="1" i="0">
                    <a:solidFill>
                      <a:schemeClr val="tx1"/>
                    </a:solidFill>
                    <a:latin typeface="Arial" panose="020B0604020202020204"/>
                    <a:ea typeface="微软雅黑" panose="020B0503020204020204" charset="-122"/>
                    <a:cs typeface="Arial" panose="020B0604020202020204"/>
                  </a:rPr>
                  <a:t> </a:t>
                </a:r>
                <a:endParaRPr lang="en-US" altLang="zh-CN" sz="1600" b="1" i="0">
                  <a:solidFill>
                    <a:schemeClr val="tx1"/>
                  </a:solidFill>
                  <a:latin typeface="Arial" panose="020B0604020202020204"/>
                  <a:ea typeface="微软雅黑" panose="020B0503020204020204" charset="-122"/>
                  <a:cs typeface="Arial" panose="020B0604020202020204"/>
                </a:endParaRPr>
              </a:p>
            </p:txBody>
          </p:sp>
        </mc:Choice>
        <mc:Fallback>
          <p:sp>
            <p:nvSpPr>
              <p:cNvPr id="21" name="Rounded Rectangle 8"/>
              <p:cNvSpPr>
                <a:spLocks noRot="1" noChangeAspect="1" noMove="1" noResize="1" noEditPoints="1" noAdjustHandles="1" noChangeArrowheads="1" noChangeShapeType="1" noTextEdit="1"/>
              </p:cNvSpPr>
              <p:nvPr>
                <p:custDataLst>
                  <p:tags r:id="rId3"/>
                </p:custDataLst>
              </p:nvPr>
            </p:nvSpPr>
            <p:spPr>
              <a:xfrm>
                <a:off x="3126105" y="1301115"/>
                <a:ext cx="5939155" cy="821690"/>
              </a:xfrm>
              <a:prstGeom prst="roundRect">
                <a:avLst>
                  <a:gd name="adj" fmla="val 10000"/>
                </a:avLst>
              </a:prstGeom>
              <a:blipFill rotWithShape="1">
                <a:blip r:embed="rId4"/>
                <a:stretch>
                  <a:fillRect l="-107" t="-773" r="-107" b="-773"/>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Rounded Rectangle 8"/>
              <p:cNvSpPr/>
              <p:nvPr>
                <p:custDataLst>
                  <p:tags r:id="rId5"/>
                </p:custDataLst>
              </p:nvPr>
            </p:nvSpPr>
            <p:spPr>
              <a:xfrm>
                <a:off x="3126105" y="2376170"/>
                <a:ext cx="5939155" cy="887095"/>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ctr">
                  <a:lnSpc>
                    <a:spcPct val="105000"/>
                  </a:lnSpc>
                  <a:spcBef>
                    <a:spcPts val="0"/>
                  </a:spcBef>
                  <a:spcAft>
                    <a:spcPts val="300"/>
                  </a:spcAft>
                </a:pPr>
                <a:r>
                  <a:rPr lang="zh-CN" altLang="en-US" sz="1600" b="1" i="0">
                    <a:solidFill>
                      <a:srgbClr val="C00000"/>
                    </a:solidFill>
                    <a:latin typeface="微软雅黑" panose="020B0503020204020204" charset="-122"/>
                    <a:ea typeface="微软雅黑" panose="020B0503020204020204" charset="-122"/>
                    <a:cs typeface="微软雅黑" panose="020B0503020204020204" charset="-122"/>
                  </a:rPr>
                  <a:t>引入随机数</a:t>
                </a:r>
                <a14:m>
                  <m:oMath xmlns:m="http://schemas.openxmlformats.org/officeDocument/2006/math">
                    <m:r>
                      <a:rPr lang="en-US" altLang="zh-CN" sz="1600" b="1" i="1">
                        <a:solidFill>
                          <a:srgbClr val="C00000"/>
                        </a:solidFill>
                        <a:latin typeface="Cambria Math" panose="02040503050406030204" charset="0"/>
                        <a:ea typeface="微软雅黑" panose="020B0503020204020204" charset="-122"/>
                        <a:cs typeface="Cambria Math" panose="02040503050406030204" charset="0"/>
                      </a:rPr>
                      <m:t>&lt;</m:t>
                    </m:r>
                    <m:r>
                      <a:rPr lang="en-US" altLang="zh-CN" sz="1600" b="1" i="1">
                        <a:solidFill>
                          <a:srgbClr val="C00000"/>
                        </a:solidFill>
                        <a:latin typeface="Cambria Math" panose="02040503050406030204" charset="0"/>
                        <a:ea typeface="微软雅黑" panose="020B0503020204020204" charset="-122"/>
                        <a:cs typeface="Cambria Math" panose="02040503050406030204" charset="0"/>
                      </a:rPr>
                      <m:t>𝜶</m:t>
                    </m:r>
                  </m:oMath>
                </a14:m>
                <a:r>
                  <a:rPr lang="en-US" altLang="zh-CN" sz="1600" b="1" i="0">
                    <a:solidFill>
                      <a:srgbClr val="C00000"/>
                    </a:solidFill>
                    <a:latin typeface="微软雅黑" panose="020B0503020204020204" charset="-122"/>
                    <a:ea typeface="微软雅黑" panose="020B0503020204020204" charset="-122"/>
                    <a:cs typeface="微软雅黑" panose="020B0503020204020204" charset="-122"/>
                  </a:rPr>
                  <a:t> &gt;</a:t>
                </a:r>
                <a:r>
                  <a:rPr lang="en-US" altLang="zh-CN" sz="1600" b="1" i="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1600" b="1" i="0">
                  <a:solidFill>
                    <a:schemeClr val="tx1"/>
                  </a:solidFill>
                  <a:latin typeface="微软雅黑" panose="020B0503020204020204" charset="-122"/>
                  <a:ea typeface="微软雅黑" panose="020B0503020204020204" charset="-122"/>
                  <a:cs typeface="微软雅黑" panose="020B0503020204020204" charset="-122"/>
                </a:endParaRPr>
              </a:p>
              <a:p>
                <a:pPr algn="ctr">
                  <a:lnSpc>
                    <a:spcPct val="105000"/>
                  </a:lnSpc>
                  <a:spcBef>
                    <a:spcPts val="0"/>
                  </a:spcBef>
                  <a:spcAft>
                    <a:spcPts val="300"/>
                  </a:spcAft>
                </a:pPr>
                <a:r>
                  <a:rPr lang="zh-CN" altLang="en-US" sz="1600" b="1" i="0">
                    <a:solidFill>
                      <a:schemeClr val="tx1"/>
                    </a:solidFill>
                    <a:latin typeface="微软雅黑" panose="020B0503020204020204" charset="-122"/>
                    <a:ea typeface="微软雅黑" panose="020B0503020204020204" charset="-122"/>
                    <a:cs typeface="微软雅黑" panose="020B0503020204020204" charset="-122"/>
                  </a:rPr>
                  <a:t>本地</a:t>
                </a:r>
                <a:r>
                  <a:rPr lang="zh-CN" altLang="en-US" sz="1600" b="1" i="0">
                    <a:solidFill>
                      <a:schemeClr val="tx1"/>
                    </a:solidFill>
                    <a:latin typeface="微软雅黑" panose="020B0503020204020204" charset="-122"/>
                    <a:ea typeface="微软雅黑" panose="020B0503020204020204" charset="-122"/>
                    <a:cs typeface="微软雅黑" panose="020B0503020204020204" charset="-122"/>
                  </a:rPr>
                  <a:t>计算</a:t>
                </a:r>
                <a14:m>
                  <m:oMath xmlns:m="http://schemas.openxmlformats.org/officeDocument/2006/math">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𝑥</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&gt;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𝑥</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&gt;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𝜶</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&gt;</m:t>
                    </m:r>
                  </m:oMath>
                </a14:m>
                <a:endParaRPr lang="en-US" altLang="zh-CN" sz="1600" b="1" i="0">
                  <a:solidFill>
                    <a:schemeClr val="tx1"/>
                  </a:solidFill>
                  <a:latin typeface="Arial" panose="020B0604020202020204"/>
                  <a:ea typeface="微软雅黑" panose="020B0503020204020204" charset="-122"/>
                  <a:cs typeface="Arial" panose="020B0604020202020204"/>
                </a:endParaRPr>
              </a:p>
            </p:txBody>
          </p:sp>
        </mc:Choice>
        <mc:Fallback>
          <p:sp>
            <p:nvSpPr>
              <p:cNvPr id="22" name="Rounded Rectangle 8"/>
              <p:cNvSpPr>
                <a:spLocks noRot="1" noChangeAspect="1" noMove="1" noResize="1" noEditPoints="1" noAdjustHandles="1" noChangeArrowheads="1" noChangeShapeType="1" noTextEdit="1"/>
              </p:cNvSpPr>
              <p:nvPr>
                <p:custDataLst>
                  <p:tags r:id="rId6"/>
                </p:custDataLst>
              </p:nvPr>
            </p:nvSpPr>
            <p:spPr>
              <a:xfrm>
                <a:off x="3126105" y="2376170"/>
                <a:ext cx="5939155" cy="887095"/>
              </a:xfrm>
              <a:prstGeom prst="roundRect">
                <a:avLst>
                  <a:gd name="adj" fmla="val 10000"/>
                </a:avLst>
              </a:prstGeom>
              <a:blipFill rotWithShape="1">
                <a:blip r:embed="rId7"/>
                <a:stretch>
                  <a:fillRect l="-107" t="-716" r="-107" b="-716"/>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23" name="下箭头 22"/>
          <p:cNvSpPr/>
          <p:nvPr/>
        </p:nvSpPr>
        <p:spPr>
          <a:xfrm>
            <a:off x="5920740" y="2155190"/>
            <a:ext cx="297815" cy="309880"/>
          </a:xfrm>
          <a:prstGeom prst="downArrow">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nvSpPr>
        <p:spPr>
          <a:xfrm>
            <a:off x="3556000" y="3260408"/>
            <a:ext cx="5080000" cy="337185"/>
          </a:xfrm>
          <a:prstGeom prst="rect">
            <a:avLst/>
          </a:prstGeom>
        </p:spPr>
        <p:txBody>
          <a:bodyPr>
            <a:spAutoFit/>
          </a:bodyPr>
          <a:p>
            <a:pPr marL="0" indent="0"/>
            <a:r>
              <a:rPr lang="zh-CN" altLang="en-US" sz="1600" b="0" i="0">
                <a:solidFill>
                  <a:srgbClr val="0F1115"/>
                </a:solidFill>
                <a:latin typeface="KaTeX_Main"/>
                <a:ea typeface="KaTeX_Main"/>
              </a:rPr>
              <a:t></a:t>
            </a:r>
            <a:endParaRPr lang="zh-CN" altLang="en-US" sz="1600" b="0" i="0">
              <a:solidFill>
                <a:srgbClr val="0F1115"/>
              </a:solidFill>
              <a:latin typeface="KaTeX_Main"/>
              <a:ea typeface="KaTeX_Main"/>
            </a:endParaRPr>
          </a:p>
        </p:txBody>
      </p:sp>
      <mc:AlternateContent xmlns:mc="http://schemas.openxmlformats.org/markup-compatibility/2006">
        <mc:Choice xmlns:a14="http://schemas.microsoft.com/office/drawing/2010/main" Requires="a14">
          <p:sp>
            <p:nvSpPr>
              <p:cNvPr id="28" name="Rounded Rectangle 8"/>
              <p:cNvSpPr/>
              <p:nvPr>
                <p:custDataLst>
                  <p:tags r:id="rId8"/>
                </p:custDataLst>
              </p:nvPr>
            </p:nvSpPr>
            <p:spPr>
              <a:xfrm>
                <a:off x="3126105" y="4641215"/>
                <a:ext cx="5939155" cy="88519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ctr">
                  <a:lnSpc>
                    <a:spcPct val="105000"/>
                  </a:lnSpc>
                  <a:spcBef>
                    <a:spcPts val="0"/>
                  </a:spcBef>
                  <a:spcAft>
                    <a:spcPts val="300"/>
                  </a:spcAft>
                </a:pPr>
                <a:r>
                  <a:rPr lang="zh-CN" altLang="en-US" sz="1600" b="1" i="0">
                    <a:solidFill>
                      <a:schemeClr val="tx1"/>
                    </a:solidFill>
                    <a:latin typeface="Arial" panose="020B0604020202020204"/>
                    <a:ea typeface="微软雅黑" panose="020B0503020204020204" charset="-122"/>
                    <a:cs typeface="Arial" panose="020B0604020202020204"/>
                  </a:rPr>
                  <a:t>公开恢复完整</a:t>
                </a:r>
                <a14:m>
                  <m:oMath xmlns:m="http://schemas.openxmlformats.org/officeDocument/2006/math">
                    <m:r>
                      <a:rPr lang="en-US" altLang="zh-CN" sz="1600" b="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1600" b="1" i="0">
                    <a:solidFill>
                      <a:schemeClr val="tx1"/>
                    </a:solidFill>
                    <a:latin typeface="Arial" panose="020B0604020202020204"/>
                    <a:ea typeface="微软雅黑" panose="020B0503020204020204" charset="-122"/>
                    <a:cs typeface="Arial" panose="020B0604020202020204"/>
                  </a:rPr>
                  <a:t>值</a:t>
                </a:r>
                <a:endParaRPr lang="zh-CN" altLang="en-US" sz="1600" b="1" i="0">
                  <a:solidFill>
                    <a:schemeClr val="tx1"/>
                  </a:solidFill>
                  <a:latin typeface="Arial" panose="020B0604020202020204"/>
                  <a:ea typeface="微软雅黑" panose="020B0503020204020204" charset="-122"/>
                  <a:cs typeface="Arial" panose="020B0604020202020204"/>
                </a:endParaRPr>
              </a:p>
            </p:txBody>
          </p:sp>
        </mc:Choice>
        <mc:Fallback>
          <p:sp>
            <p:nvSpPr>
              <p:cNvPr id="28" name="Rounded Rectangle 8"/>
              <p:cNvSpPr>
                <a:spLocks noRot="1" noChangeAspect="1" noMove="1" noResize="1" noEditPoints="1" noAdjustHandles="1" noChangeArrowheads="1" noChangeShapeType="1" noTextEdit="1"/>
              </p:cNvSpPr>
              <p:nvPr>
                <p:custDataLst>
                  <p:tags r:id="rId9"/>
                </p:custDataLst>
              </p:nvPr>
            </p:nvSpPr>
            <p:spPr>
              <a:xfrm>
                <a:off x="3126105" y="4641215"/>
                <a:ext cx="5939155" cy="885190"/>
              </a:xfrm>
              <a:prstGeom prst="roundRect">
                <a:avLst>
                  <a:gd name="adj" fmla="val 10000"/>
                </a:avLst>
              </a:prstGeom>
              <a:blipFill rotWithShape="1">
                <a:blip r:embed="rId10"/>
                <a:stretch>
                  <a:fillRect l="-107" t="-717" r="-107" b="-717"/>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29" name="下箭头 28"/>
          <p:cNvSpPr/>
          <p:nvPr/>
        </p:nvSpPr>
        <p:spPr>
          <a:xfrm>
            <a:off x="6218555" y="4043045"/>
            <a:ext cx="297815" cy="309880"/>
          </a:xfrm>
          <a:prstGeom prst="downArrow">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0" name="Rounded Rectangle 8"/>
              <p:cNvSpPr/>
              <p:nvPr>
                <p:custDataLst>
                  <p:tags r:id="rId11"/>
                </p:custDataLst>
              </p:nvPr>
            </p:nvSpPr>
            <p:spPr>
              <a:xfrm>
                <a:off x="3126105" y="3467735"/>
                <a:ext cx="5939155" cy="969010"/>
              </a:xfrm>
              <a:prstGeom prst="roundRect">
                <a:avLst>
                  <a:gd name="adj" fmla="val 10000"/>
                </a:avLst>
              </a:prstGeom>
              <a:solidFill>
                <a:srgbClr val="FFFFFF"/>
              </a:solidFill>
              <a:ln w="12700">
                <a:solidFill>
                  <a:srgbClr val="D5DDE6"/>
                </a:solidFill>
              </a:ln>
            </p:spPr>
            <p:style>
              <a:lnRef idx="1">
                <a:schemeClr val="accent1"/>
              </a:lnRef>
              <a:fillRef idx="3">
                <a:schemeClr val="accent1"/>
              </a:fillRef>
              <a:effectRef idx="2">
                <a:schemeClr val="accent1"/>
              </a:effectRef>
              <a:fontRef idx="minor">
                <a:schemeClr val="lt1"/>
              </a:fontRef>
            </p:style>
            <p:txBody>
              <a:bodyPr wrap="square" lIns="128016" tIns="118872" bIns="36576" rtlCol="0" anchor="ctr"/>
              <a:lstStyle/>
              <a:p>
                <a:pPr algn="ctr">
                  <a:lnSpc>
                    <a:spcPct val="105000"/>
                  </a:lnSpc>
                  <a:spcBef>
                    <a:spcPts val="0"/>
                  </a:spcBef>
                  <a:spcAft>
                    <a:spcPts val="300"/>
                  </a:spcAft>
                </a:pPr>
                <a:r>
                  <a:rPr lang="zh-CN" altLang="en-US" sz="1600" b="1" i="0">
                    <a:solidFill>
                      <a:schemeClr val="tx1"/>
                    </a:solidFill>
                    <a:latin typeface="微软雅黑" panose="020B0503020204020204" charset="-122"/>
                    <a:ea typeface="微软雅黑" panose="020B0503020204020204" charset="-122"/>
                    <a:cs typeface="微软雅黑" panose="020B0503020204020204" charset="-122"/>
                  </a:rPr>
                  <a:t>本地计算</a:t>
                </a:r>
                <a14:m>
                  <m:oMath xmlns:m="http://schemas.openxmlformats.org/officeDocument/2006/math">
                    <m:r>
                      <a:rPr lang="en-US" altLang="zh-CN" sz="1600" b="1" i="0">
                        <a:solidFill>
                          <a:schemeClr val="tx1"/>
                        </a:solidFill>
                        <a:latin typeface="微软雅黑" panose="020B0503020204020204" charset="-122"/>
                        <a:ea typeface="微软雅黑" panose="020B0503020204020204" charset="-122"/>
                        <a:cs typeface="微软雅黑" panose="020B0503020204020204" charset="-122"/>
                      </a:rPr>
                      <m:t> &lt;</m:t>
                    </m:r>
                    <m:r>
                      <a:rPr lang="en-US" altLang="zh-CN" sz="1600" b="1">
                        <a:solidFill>
                          <a:schemeClr val="tx1"/>
                        </a:solidFill>
                        <a:latin typeface="Cambria Math" panose="02040503050406030204" charset="0"/>
                        <a:ea typeface="微软雅黑" panose="020B0503020204020204" charset="-122"/>
                        <a:cs typeface="Cambria Math" panose="02040503050406030204" charset="0"/>
                      </a:rPr>
                      <m:t>∆&gt;=</m:t>
                    </m:r>
                    <m:nary>
                      <m:naryPr>
                        <m:chr m:val="∑"/>
                        <m:limLoc m:val="undOvr"/>
                        <m:subHide m:val="on"/>
                        <m:supHide m:val="on"/>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naryPr>
                      <m:sub/>
                      <m:sup/>
                      <m:e>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𝑥</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&gt;</m:t>
                        </m:r>
                        <m:sSup>
                          <m:sSupPr>
                            <m:ctrlPr>
                              <a:rPr lang="en-US" altLang="zh-CN" sz="1600" b="1"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𝒚</m:t>
                            </m:r>
                          </m:e>
                          <m: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𝒊</m:t>
                            </m:r>
                            <m:r>
                              <a:rPr lang="en-US" altLang="zh-CN" sz="1600" b="1"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1600" b="1" i="1">
                            <a:solidFill>
                              <a:schemeClr val="tx1"/>
                            </a:solidFill>
                            <a:latin typeface="Cambria Math" panose="02040503050406030204" charset="0"/>
                            <a:ea typeface="微软雅黑" panose="020B0503020204020204" charset="-122"/>
                            <a:cs typeface="Cambria Math" panose="02040503050406030204" charset="0"/>
                          </a:rPr>
                          <m:t>&gt;</m:t>
                        </m:r>
                      </m:e>
                    </m:nary>
                    <m:r>
                      <a:rPr lang="en-US" altLang="zh-CN" sz="1600" b="1" i="0">
                        <a:solidFill>
                          <a:schemeClr val="tx1"/>
                        </a:solidFill>
                        <a:latin typeface="Cambria Math" panose="02040503050406030204" charset="0"/>
                        <a:ea typeface="微软雅黑" panose="020B0503020204020204" charset="-122"/>
                        <a:cs typeface="Cambria Math" panose="02040503050406030204" charset="0"/>
                      </a:rPr>
                      <m:t>−</m:t>
                    </m:r>
                    <m:r>
                      <a:rPr lang="en-US" altLang="zh-CN" sz="1600" b="1" i="0">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a:solidFill>
                          <a:schemeClr val="tx1"/>
                        </a:solidFill>
                        <a:latin typeface="Cambria Math" panose="02040503050406030204" charset="0"/>
                        <a:ea typeface="微软雅黑" panose="020B0503020204020204" charset="-122"/>
                        <a:cs typeface="Cambria Math" panose="02040503050406030204" charset="0"/>
                      </a:rPr>
                      <m:t>𝛂</m:t>
                    </m:r>
                    <m:r>
                      <a:rPr lang="en-US" altLang="zh-CN" sz="1600" b="1" i="0">
                        <a:solidFill>
                          <a:schemeClr val="tx1"/>
                        </a:solidFill>
                        <a:latin typeface="Cambria Math" panose="02040503050406030204" charset="0"/>
                        <a:ea typeface="微软雅黑" panose="020B0503020204020204" charset="-122"/>
                        <a:cs typeface="Cambria Math" panose="02040503050406030204" charset="0"/>
                      </a:rPr>
                      <m:t>&gt;</m:t>
                    </m:r>
                    <m:r>
                      <a:rPr lang="en-US" altLang="zh-CN" sz="1600" b="1" i="0">
                        <a:solidFill>
                          <a:schemeClr val="tx1"/>
                        </a:solidFill>
                        <a:latin typeface="Cambria Math" panose="02040503050406030204" charset="0"/>
                        <a:ea typeface="微软雅黑" panose="020B0503020204020204" charset="-122"/>
                        <a:cs typeface="Cambria Math" panose="02040503050406030204" charset="0"/>
                      </a:rPr>
                      <m:t>&lt;</m:t>
                    </m:r>
                    <m:r>
                      <a:rPr lang="en-US" altLang="zh-CN" sz="1600" b="1" i="0">
                        <a:solidFill>
                          <a:schemeClr val="tx1"/>
                        </a:solidFill>
                        <a:latin typeface="Cambria Math" panose="02040503050406030204" charset="0"/>
                        <a:ea typeface="微软雅黑" panose="020B0503020204020204" charset="-122"/>
                        <a:cs typeface="Cambria Math" panose="02040503050406030204" charset="0"/>
                      </a:rPr>
                      <m:t>𝑧</m:t>
                    </m:r>
                    <m:r>
                      <a:rPr lang="en-US" altLang="zh-CN" sz="1600" b="1" i="0">
                        <a:solidFill>
                          <a:schemeClr val="tx1"/>
                        </a:solidFill>
                        <a:latin typeface="Cambria Math" panose="02040503050406030204" charset="0"/>
                        <a:ea typeface="微软雅黑" panose="020B0503020204020204" charset="-122"/>
                        <a:cs typeface="Cambria Math" panose="02040503050406030204" charset="0"/>
                      </a:rPr>
                      <m:t>&gt;</m:t>
                    </m:r>
                    <m:r>
                      <a:rPr lang="en-US" altLang="zh-CN" sz="1600" b="1" i="0">
                        <a:solidFill>
                          <a:schemeClr val="tx1"/>
                        </a:solidFill>
                        <a:latin typeface="微软雅黑" panose="020B0503020204020204" charset="-122"/>
                        <a:ea typeface="微软雅黑" panose="020B0503020204020204" charset="-122"/>
                        <a:cs typeface="微软雅黑" panose="020B0503020204020204" charset="-122"/>
                      </a:rPr>
                      <m:t> </m:t>
                    </m:r>
                  </m:oMath>
                </a14:m>
                <a:endParaRPr lang="en-US" altLang="zh-CN" sz="1600" b="1" i="0">
                  <a:solidFill>
                    <a:schemeClr val="tx1"/>
                  </a:solidFill>
                  <a:latin typeface="Arial" panose="020B0604020202020204"/>
                  <a:ea typeface="微软雅黑" panose="020B0503020204020204" charset="-122"/>
                  <a:cs typeface="Arial" panose="020B0604020202020204"/>
                </a:endParaRPr>
              </a:p>
            </p:txBody>
          </p:sp>
        </mc:Choice>
        <mc:Fallback>
          <p:sp>
            <p:nvSpPr>
              <p:cNvPr id="30" name="Rounded Rectangle 8"/>
              <p:cNvSpPr>
                <a:spLocks noRot="1" noChangeAspect="1" noMove="1" noResize="1" noEditPoints="1" noAdjustHandles="1" noChangeArrowheads="1" noChangeShapeType="1" noTextEdit="1"/>
              </p:cNvSpPr>
              <p:nvPr>
                <p:custDataLst>
                  <p:tags r:id="rId12"/>
                </p:custDataLst>
              </p:nvPr>
            </p:nvSpPr>
            <p:spPr>
              <a:xfrm>
                <a:off x="3126105" y="3467735"/>
                <a:ext cx="5939155" cy="969010"/>
              </a:xfrm>
              <a:prstGeom prst="roundRect">
                <a:avLst>
                  <a:gd name="adj" fmla="val 10000"/>
                </a:avLst>
              </a:prstGeom>
              <a:blipFill rotWithShape="1">
                <a:blip r:embed="rId13"/>
                <a:stretch>
                  <a:fillRect l="-107" t="-655" r="-107" b="-655"/>
                </a:stretch>
              </a:blipFill>
              <a:ln w="12700">
                <a:solidFill>
                  <a:srgbClr val="D5DDE6"/>
                </a:solid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31" name="下箭头 30"/>
          <p:cNvSpPr/>
          <p:nvPr/>
        </p:nvSpPr>
        <p:spPr>
          <a:xfrm>
            <a:off x="5920740" y="4393565"/>
            <a:ext cx="297815" cy="309880"/>
          </a:xfrm>
          <a:prstGeom prst="downArrow">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下箭头 32"/>
          <p:cNvSpPr/>
          <p:nvPr/>
        </p:nvSpPr>
        <p:spPr>
          <a:xfrm>
            <a:off x="5920740" y="3284855"/>
            <a:ext cx="297815" cy="309880"/>
          </a:xfrm>
          <a:prstGeom prst="downArrow">
            <a:avLst/>
          </a:prstGeom>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a:t>
            </a:r>
            <a:r>
              <a:rPr lang="zh-CN" altLang="en-US"/>
              <a:t>关键技术</a:t>
            </a:r>
            <a:endParaRPr lang="zh-CN" altLang="en-US"/>
          </a:p>
        </p:txBody>
      </p:sp>
      <p:sp>
        <p:nvSpPr>
          <p:cNvPr id="3" name="文本框 2"/>
          <p:cNvSpPr txBox="1"/>
          <p:nvPr/>
        </p:nvSpPr>
        <p:spPr>
          <a:xfrm>
            <a:off x="502920" y="1042035"/>
            <a:ext cx="10385425" cy="720090"/>
          </a:xfrm>
          <a:prstGeom prst="rect">
            <a:avLst/>
          </a:prstGeom>
          <a:noFill/>
        </p:spPr>
        <p:txBody>
          <a:bodyPr wrap="square" rtlCol="0" anchor="t">
            <a:noAutofit/>
          </a:bodyPr>
          <a:p>
            <a:pPr algn="l">
              <a:lnSpc>
                <a:spcPct val="102000"/>
              </a:lnSpc>
              <a:spcBef>
                <a:spcPts val="0"/>
              </a:spcBef>
              <a:spcAft>
                <a:spcPts val="0"/>
              </a:spcAft>
            </a:pPr>
            <a:r>
              <a:rPr lang="zh-CN" sz="2400" b="1">
                <a:solidFill>
                  <a:srgbClr val="C0392B"/>
                </a:solidFill>
                <a:latin typeface="Arial" panose="020B0604020202020204"/>
                <a:ea typeface="微软雅黑" panose="020B0503020204020204" charset="-122"/>
                <a:cs typeface="Arial" panose="020B0604020202020204"/>
                <a:sym typeface="+mn-ea"/>
              </a:rPr>
              <a:t>技术</a:t>
            </a:r>
            <a:r>
              <a:rPr lang="en-US" altLang="zh-CN" sz="2400" b="1">
                <a:solidFill>
                  <a:srgbClr val="C0392B"/>
                </a:solidFill>
                <a:latin typeface="Arial" panose="020B0604020202020204"/>
                <a:ea typeface="微软雅黑" panose="020B0503020204020204" charset="-122"/>
                <a:cs typeface="Arial" panose="020B0604020202020204"/>
                <a:sym typeface="+mn-ea"/>
              </a:rPr>
              <a:t>2</a:t>
            </a:r>
            <a:r>
              <a:rPr lang="zh-CN" sz="2400" b="1">
                <a:solidFill>
                  <a:srgbClr val="C0392B"/>
                </a:solidFill>
                <a:latin typeface="Arial" panose="020B0604020202020204"/>
                <a:ea typeface="微软雅黑" panose="020B0503020204020204" charset="-122"/>
                <a:cs typeface="Arial" panose="020B0604020202020204"/>
                <a:sym typeface="+mn-ea"/>
              </a:rPr>
              <a:t>：</a:t>
            </a:r>
            <a:r>
              <a:rPr lang="zh-CN" altLang="en-US" sz="2400" b="1">
                <a:solidFill>
                  <a:srgbClr val="C0392B"/>
                </a:solidFill>
                <a:latin typeface="Arial" panose="020B0604020202020204"/>
                <a:ea typeface="微软雅黑" panose="020B0503020204020204" charset="-122"/>
                <a:cs typeface="Arial" panose="020B0604020202020204"/>
                <a:sym typeface="+mn-ea"/>
              </a:rPr>
              <a:t>支持混合电路与非线性函数的统一框架</a:t>
            </a:r>
            <a:endParaRPr lang="zh-CN" altLang="en-US" sz="2400" b="1">
              <a:solidFill>
                <a:srgbClr val="C0392B"/>
              </a:solidFill>
              <a:latin typeface="Arial" panose="020B0604020202020204"/>
              <a:ea typeface="微软雅黑" panose="020B0503020204020204" charset="-122"/>
              <a:cs typeface="Arial" panose="020B0604020202020204"/>
              <a:sym typeface="+mn-ea"/>
            </a:endParaRPr>
          </a:p>
        </p:txBody>
      </p:sp>
      <p:sp>
        <p:nvSpPr>
          <p:cNvPr id="22" name="Rounded Rectangle 5"/>
          <p:cNvSpPr/>
          <p:nvPr/>
        </p:nvSpPr>
        <p:spPr>
          <a:xfrm>
            <a:off x="502920" y="2030095"/>
            <a:ext cx="2179955" cy="344170"/>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ct val="118000"/>
              </a:lnSpc>
              <a:spcAft>
                <a:spcPts val="0"/>
              </a:spcAft>
            </a:pPr>
            <a:r>
              <a:rPr sz="1600" b="1">
                <a:solidFill>
                  <a:srgbClr val="FFFFFF"/>
                </a:solidFill>
                <a:latin typeface="微软雅黑" panose="020B0503020204020204" charset="-122"/>
                <a:ea typeface="微软雅黑" panose="020B0503020204020204" charset="-122"/>
              </a:rPr>
              <a:t>预处理阶段（离线）</a:t>
            </a:r>
            <a:endParaRPr sz="1600" b="1">
              <a:solidFill>
                <a:srgbClr val="FFFFFF"/>
              </a:solidFill>
              <a:latin typeface="微软雅黑" panose="020B0503020204020204" charset="-122"/>
              <a:ea typeface="微软雅黑" panose="020B0503020204020204" charset="-122"/>
            </a:endParaRPr>
          </a:p>
        </p:txBody>
      </p:sp>
      <p:sp>
        <p:nvSpPr>
          <p:cNvPr id="23" name="Rounded Rectangle 6"/>
          <p:cNvSpPr/>
          <p:nvPr/>
        </p:nvSpPr>
        <p:spPr>
          <a:xfrm>
            <a:off x="502920" y="2374265"/>
            <a:ext cx="3520440" cy="1188720"/>
          </a:xfrm>
          <a:prstGeom prst="roundRect">
            <a:avLst>
              <a:gd name="adj" fmla="val 12000"/>
            </a:avLst>
          </a:prstGeom>
          <a:solidFill>
            <a:srgbClr val="E9F2FA"/>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64008" rtlCol="0" anchor="ctr"/>
          <a:lstStyle/>
          <a:p>
            <a:pPr>
              <a:lnSpc>
                <a:spcPct val="118000"/>
              </a:lnSpc>
              <a:spcAft>
                <a:spcPts val="200"/>
              </a:spcAft>
            </a:pPr>
            <a:r>
              <a:rPr sz="2000" b="1">
                <a:solidFill>
                  <a:srgbClr val="1F6FB2"/>
                </a:solidFill>
                <a:latin typeface="Arial" panose="020B0604020202020204"/>
                <a:ea typeface="微软雅黑" panose="020B0503020204020204" charset="-122"/>
                <a:cs typeface="Arial" panose="020B0604020202020204"/>
                <a:sym typeface="+mn-ea"/>
              </a:rPr>
              <a:t>①</a:t>
            </a:r>
            <a:r>
              <a:rPr sz="2000" b="1">
                <a:solidFill>
                  <a:srgbClr val="1F6FB2"/>
                </a:solidFill>
                <a:latin typeface="微软雅黑" panose="020B0503020204020204" charset="-122"/>
                <a:ea typeface="微软雅黑" panose="020B0503020204020204" charset="-122"/>
              </a:rPr>
              <a:t>　</a:t>
            </a:r>
            <a:r>
              <a:rPr sz="1600" b="1">
                <a:solidFill>
                  <a:srgbClr val="12263F"/>
                </a:solidFill>
                <a:latin typeface="微软雅黑" panose="020B0503020204020204" charset="-122"/>
                <a:ea typeface="微软雅黑" panose="020B0503020204020204" charset="-122"/>
              </a:rPr>
              <a:t>每方本地生成私有 daBit</a:t>
            </a:r>
            <a:endParaRPr sz="1600" b="1">
              <a:solidFill>
                <a:srgbClr val="12263F"/>
              </a:solidFill>
              <a:latin typeface="微软雅黑" panose="020B0503020204020204" charset="-122"/>
              <a:ea typeface="微软雅黑" panose="020B0503020204020204" charset="-122"/>
            </a:endParaRPr>
          </a:p>
          <a:p>
            <a:pPr>
              <a:lnSpc>
                <a:spcPct val="118000"/>
              </a:lnSpc>
              <a:spcAft>
                <a:spcPts val="0"/>
              </a:spcAft>
            </a:pPr>
            <a:r>
              <a:rPr sz="1400" b="0">
                <a:solidFill>
                  <a:srgbClr val="12263F"/>
                </a:solidFill>
                <a:latin typeface="微软雅黑" panose="020B0503020204020204" charset="-122"/>
                <a:ea typeface="微软雅黑" panose="020B0503020204020204" charset="-122"/>
              </a:rPr>
              <a:t>各参与方独立生成本地随机比特及其算术 / 布尔两份共享</a:t>
            </a:r>
            <a:endParaRPr sz="1400" b="0">
              <a:solidFill>
                <a:srgbClr val="12263F"/>
              </a:solidFill>
              <a:latin typeface="微软雅黑" panose="020B0503020204020204" charset="-122"/>
              <a:ea typeface="微软雅黑" panose="020B0503020204020204" charset="-122"/>
            </a:endParaRPr>
          </a:p>
        </p:txBody>
      </p:sp>
      <p:sp>
        <p:nvSpPr>
          <p:cNvPr id="24" name="Rounded Rectangle 7"/>
          <p:cNvSpPr/>
          <p:nvPr/>
        </p:nvSpPr>
        <p:spPr>
          <a:xfrm>
            <a:off x="4434840" y="2374265"/>
            <a:ext cx="3520440" cy="1188720"/>
          </a:xfrm>
          <a:prstGeom prst="roundRect">
            <a:avLst>
              <a:gd name="adj" fmla="val 12000"/>
            </a:avLst>
          </a:prstGeom>
          <a:solidFill>
            <a:srgbClr val="E9F2FA"/>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64008" rtlCol="0" anchor="ctr"/>
          <a:lstStyle/>
          <a:p>
            <a:pPr>
              <a:lnSpc>
                <a:spcPct val="118000"/>
              </a:lnSpc>
              <a:spcAft>
                <a:spcPts val="200"/>
              </a:spcAft>
            </a:pPr>
            <a:r>
              <a:rPr sz="2000" b="1">
                <a:solidFill>
                  <a:srgbClr val="1F6FB2"/>
                </a:solidFill>
                <a:latin typeface="Arial" panose="020B0604020202020204"/>
                <a:ea typeface="微软雅黑" panose="020B0503020204020204" charset="-122"/>
                <a:cs typeface="Arial" panose="020B0604020202020204"/>
                <a:sym typeface="+mn-ea"/>
              </a:rPr>
              <a:t>②</a:t>
            </a:r>
            <a:r>
              <a:rPr sz="1600" b="1">
                <a:solidFill>
                  <a:srgbClr val="1F6FB2"/>
                </a:solidFill>
                <a:latin typeface="微软雅黑" panose="020B0503020204020204" charset="-122"/>
                <a:ea typeface="微软雅黑" panose="020B0503020204020204" charset="-122"/>
              </a:rPr>
              <a:t>　</a:t>
            </a:r>
            <a:r>
              <a:rPr sz="1600" b="1">
                <a:solidFill>
                  <a:srgbClr val="12263F"/>
                </a:solidFill>
                <a:latin typeface="微软雅黑" panose="020B0503020204020204" charset="-122"/>
                <a:ea typeface="微软雅黑" panose="020B0503020204020204" charset="-122"/>
              </a:rPr>
              <a:t>批量验证</a:t>
            </a:r>
            <a:endParaRPr sz="1600" b="1">
              <a:solidFill>
                <a:srgbClr val="12263F"/>
              </a:solidFill>
              <a:latin typeface="微软雅黑" panose="020B0503020204020204" charset="-122"/>
              <a:ea typeface="微软雅黑" panose="020B0503020204020204" charset="-122"/>
            </a:endParaRPr>
          </a:p>
          <a:p>
            <a:pPr>
              <a:lnSpc>
                <a:spcPct val="118000"/>
              </a:lnSpc>
              <a:spcAft>
                <a:spcPts val="200"/>
              </a:spcAft>
            </a:pPr>
            <a:r>
              <a:rPr sz="1400" b="0">
                <a:solidFill>
                  <a:srgbClr val="12263F"/>
                </a:solidFill>
                <a:latin typeface="微软雅黑" panose="020B0503020204020204" charset="-122"/>
                <a:ea typeface="微软雅黑" panose="020B0503020204020204" charset="-122"/>
              </a:rPr>
              <a:t>→ 保证所有 daBit 是正确的，恶意方无法伪造</a:t>
            </a:r>
            <a:endParaRPr sz="1400" b="0">
              <a:solidFill>
                <a:srgbClr val="12263F"/>
              </a:solidFill>
              <a:latin typeface="微软雅黑" panose="020B0503020204020204" charset="-122"/>
              <a:ea typeface="微软雅黑" panose="020B0503020204020204" charset="-122"/>
            </a:endParaRPr>
          </a:p>
        </p:txBody>
      </p:sp>
      <p:sp>
        <p:nvSpPr>
          <p:cNvPr id="25" name="Rounded Rectangle 8"/>
          <p:cNvSpPr/>
          <p:nvPr/>
        </p:nvSpPr>
        <p:spPr>
          <a:xfrm>
            <a:off x="8366760" y="2374265"/>
            <a:ext cx="3520440" cy="1188720"/>
          </a:xfrm>
          <a:prstGeom prst="roundRect">
            <a:avLst>
              <a:gd name="adj" fmla="val 12000"/>
            </a:avLst>
          </a:prstGeom>
          <a:solidFill>
            <a:srgbClr val="E9F2FA"/>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64008" rtlCol="0" anchor="ctr"/>
          <a:lstStyle/>
          <a:p>
            <a:pPr>
              <a:lnSpc>
                <a:spcPct val="118000"/>
              </a:lnSpc>
              <a:spcAft>
                <a:spcPts val="200"/>
              </a:spcAft>
            </a:pPr>
            <a:r>
              <a:rPr b="1">
                <a:solidFill>
                  <a:srgbClr val="1F6FB2"/>
                </a:solidFill>
                <a:latin typeface="Arial" panose="020B0604020202020204"/>
                <a:ea typeface="微软雅黑" panose="020B0503020204020204" charset="-122"/>
                <a:cs typeface="Arial" panose="020B0604020202020204"/>
                <a:sym typeface="+mn-ea"/>
              </a:rPr>
              <a:t>③</a:t>
            </a:r>
            <a:r>
              <a:rPr sz="1600" b="1">
                <a:solidFill>
                  <a:srgbClr val="1F6FB2"/>
                </a:solidFill>
                <a:latin typeface="微软雅黑" panose="020B0503020204020204" charset="-122"/>
                <a:ea typeface="微软雅黑" panose="020B0503020204020204" charset="-122"/>
              </a:rPr>
              <a:t>　</a:t>
            </a:r>
            <a:r>
              <a:rPr sz="1600" b="1">
                <a:solidFill>
                  <a:srgbClr val="12263F"/>
                </a:solidFill>
                <a:latin typeface="微软雅黑" panose="020B0503020204020204" charset="-122"/>
                <a:ea typeface="微软雅黑" panose="020B0503020204020204" charset="-122"/>
              </a:rPr>
              <a:t>多方合并为全局 daBit</a:t>
            </a:r>
            <a:endParaRPr sz="1600" b="1">
              <a:solidFill>
                <a:srgbClr val="12263F"/>
              </a:solidFill>
              <a:latin typeface="微软雅黑" panose="020B0503020204020204" charset="-122"/>
              <a:ea typeface="微软雅黑" panose="020B0503020204020204" charset="-122"/>
            </a:endParaRPr>
          </a:p>
          <a:p>
            <a:pPr>
              <a:lnSpc>
                <a:spcPct val="118000"/>
              </a:lnSpc>
              <a:spcAft>
                <a:spcPts val="0"/>
              </a:spcAft>
            </a:pPr>
            <a:r>
              <a:rPr sz="1400" b="0">
                <a:solidFill>
                  <a:srgbClr val="12263F"/>
                </a:solidFill>
                <a:latin typeface="微软雅黑" panose="020B0503020204020204" charset="-122"/>
                <a:ea typeface="微软雅黑" panose="020B0503020204020204" charset="-122"/>
              </a:rPr>
              <a:t>→ 得到 [b]_算术 与 [b]_二进制 同时存在</a:t>
            </a:r>
            <a:endParaRPr sz="1400" b="0">
              <a:solidFill>
                <a:srgbClr val="12263F"/>
              </a:solidFill>
              <a:latin typeface="微软雅黑" panose="020B0503020204020204" charset="-122"/>
              <a:ea typeface="微软雅黑" panose="020B0503020204020204" charset="-122"/>
            </a:endParaRPr>
          </a:p>
        </p:txBody>
      </p:sp>
      <p:sp>
        <p:nvSpPr>
          <p:cNvPr id="26" name="Right Arrow 9"/>
          <p:cNvSpPr/>
          <p:nvPr/>
        </p:nvSpPr>
        <p:spPr>
          <a:xfrm>
            <a:off x="4059936" y="2849753"/>
            <a:ext cx="310896" cy="237744"/>
          </a:xfrm>
          <a:prstGeom prst="rightArrow">
            <a:avLst/>
          </a:prstGeom>
          <a:solidFill>
            <a:srgbClr val="B8C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10"/>
          <p:cNvSpPr/>
          <p:nvPr/>
        </p:nvSpPr>
        <p:spPr>
          <a:xfrm>
            <a:off x="7991856" y="2849753"/>
            <a:ext cx="310896" cy="237744"/>
          </a:xfrm>
          <a:prstGeom prst="rightArrow">
            <a:avLst/>
          </a:prstGeom>
          <a:solidFill>
            <a:srgbClr val="B8C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11"/>
          <p:cNvSpPr/>
          <p:nvPr/>
        </p:nvSpPr>
        <p:spPr>
          <a:xfrm>
            <a:off x="502920" y="4316730"/>
            <a:ext cx="2179955" cy="384175"/>
          </a:xfrm>
          <a:prstGeom prst="roundRect">
            <a:avLst>
              <a:gd name="adj" fmla="val 50000"/>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ct val="118000"/>
              </a:lnSpc>
              <a:spcAft>
                <a:spcPts val="0"/>
              </a:spcAft>
            </a:pPr>
            <a:r>
              <a:rPr sz="1600" b="1">
                <a:solidFill>
                  <a:srgbClr val="FFFFFF"/>
                </a:solidFill>
                <a:latin typeface="微软雅黑" panose="020B0503020204020204" charset="-122"/>
                <a:ea typeface="微软雅黑" panose="020B0503020204020204" charset="-122"/>
              </a:rPr>
              <a:t>在线阶段（在线）</a:t>
            </a:r>
            <a:endParaRPr sz="1600" b="1">
              <a:solidFill>
                <a:srgbClr val="FFFFFF"/>
              </a:solidFill>
              <a:latin typeface="微软雅黑" panose="020B0503020204020204" charset="-122"/>
              <a:ea typeface="微软雅黑" panose="020B0503020204020204" charset="-122"/>
            </a:endParaRPr>
          </a:p>
        </p:txBody>
      </p:sp>
      <p:sp>
        <p:nvSpPr>
          <p:cNvPr id="29" name="Rounded Rectangle 12"/>
          <p:cNvSpPr/>
          <p:nvPr/>
        </p:nvSpPr>
        <p:spPr>
          <a:xfrm>
            <a:off x="502920" y="4700778"/>
            <a:ext cx="11384280" cy="914400"/>
          </a:xfrm>
          <a:prstGeom prst="roundRect">
            <a:avLst>
              <a:gd name="adj" fmla="val 12000"/>
            </a:avLst>
          </a:prstGeom>
          <a:solidFill>
            <a:srgbClr val="E6F4EC"/>
          </a:solidFill>
          <a:ln w="15875">
            <a:solidFill>
              <a:srgbClr val="1E7A5A"/>
            </a:solid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64008" rtlCol="0" anchor="ctr"/>
          <a:lstStyle/>
          <a:p>
            <a:pPr algn="ctr">
              <a:lnSpc>
                <a:spcPct val="118000"/>
              </a:lnSpc>
              <a:spcAft>
                <a:spcPts val="0"/>
              </a:spcAft>
            </a:pPr>
            <a:r>
              <a:rPr b="1">
                <a:solidFill>
                  <a:srgbClr val="1F6FB2"/>
                </a:solidFill>
                <a:latin typeface="Arial" panose="020B0604020202020204"/>
                <a:ea typeface="微软雅黑" panose="020B0503020204020204" charset="-122"/>
                <a:cs typeface="Arial" panose="020B0604020202020204"/>
                <a:sym typeface="+mn-ea"/>
              </a:rPr>
              <a:t>④</a:t>
            </a:r>
            <a:r>
              <a:rPr lang="en-US" sz="1600" b="1">
                <a:solidFill>
                  <a:srgbClr val="1F6FB2"/>
                </a:solidFill>
                <a:latin typeface="Arial" panose="020B0604020202020204"/>
                <a:ea typeface="微软雅黑" panose="020B0503020204020204" charset="-122"/>
                <a:cs typeface="Arial" panose="020B0604020202020204"/>
                <a:sym typeface="+mn-ea"/>
              </a:rPr>
              <a:t>  </a:t>
            </a:r>
            <a:r>
              <a:rPr sz="1600" b="1">
                <a:solidFill>
                  <a:srgbClr val="12263F"/>
                </a:solidFill>
                <a:latin typeface="微软雅黑" panose="020B0503020204020204" charset="-122"/>
                <a:ea typeface="微软雅黑" panose="020B0503020204020204" charset="-122"/>
              </a:rPr>
              <a:t>使用全局 daBit 完成域转换</a:t>
            </a:r>
            <a:r>
              <a:rPr sz="1300" b="1">
                <a:solidFill>
                  <a:srgbClr val="12263F"/>
                </a:solidFill>
                <a:latin typeface="微软雅黑" panose="020B0503020204020204" charset="-122"/>
                <a:ea typeface="微软雅黑" panose="020B0503020204020204" charset="-122"/>
              </a:rPr>
              <a:t>　　</a:t>
            </a:r>
            <a:r>
              <a:rPr sz="1400" b="1">
                <a:solidFill>
                  <a:srgbClr val="12263F"/>
                </a:solidFill>
                <a:latin typeface="微软雅黑" panose="020B0503020204020204" charset="-122"/>
                <a:ea typeface="微软雅黑" panose="020B0503020204020204" charset="-122"/>
              </a:rPr>
              <a:t>公开 </a:t>
            </a:r>
            <a:r>
              <a:rPr sz="1400" b="1">
                <a:solidFill>
                  <a:srgbClr val="1E7A5A"/>
                </a:solidFill>
                <a:latin typeface="微软雅黑" panose="020B0503020204020204" charset="-122"/>
                <a:ea typeface="微软雅黑" panose="020B0503020204020204" charset="-122"/>
              </a:rPr>
              <a:t>d = [x]_算术 − b</a:t>
            </a:r>
            <a:r>
              <a:rPr sz="1400" b="1">
                <a:solidFill>
                  <a:srgbClr val="12263F"/>
                </a:solidFill>
                <a:latin typeface="微软雅黑" panose="020B0503020204020204" charset="-122"/>
                <a:ea typeface="微软雅黑" panose="020B0503020204020204" charset="-122"/>
              </a:rPr>
              <a:t>　　→　</a:t>
            </a:r>
            <a:r>
              <a:rPr sz="1400" b="1">
                <a:solidFill>
                  <a:srgbClr val="1E7A5A"/>
                </a:solidFill>
                <a:latin typeface="微软雅黑" panose="020B0503020204020204" charset="-122"/>
                <a:ea typeface="微软雅黑" panose="020B0503020204020204" charset="-122"/>
              </a:rPr>
              <a:t>[x]_二进制 = [b]_二进制 + d</a:t>
            </a:r>
            <a:endParaRPr sz="1400" b="1">
              <a:solidFill>
                <a:srgbClr val="1E7A5A"/>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zh-CN" altLang="en-US"/>
              <a:t>实验评估</a:t>
            </a:r>
            <a:endParaRPr lang="zh-CN" altLang="en-US"/>
          </a:p>
        </p:txBody>
      </p:sp>
      <p:sp>
        <p:nvSpPr>
          <p:cNvPr id="3" name="TextBox 2"/>
          <p:cNvSpPr txBox="1"/>
          <p:nvPr/>
        </p:nvSpPr>
        <p:spPr>
          <a:xfrm>
            <a:off x="186690" y="754634"/>
            <a:ext cx="10424160" cy="457200"/>
          </a:xfrm>
          <a:prstGeom prst="rect">
            <a:avLst/>
          </a:prstGeom>
          <a:noFill/>
        </p:spPr>
        <p:txBody>
          <a:bodyPr wrap="square" lIns="0" tIns="0" rIns="0" bIns="0" anchor="t">
            <a:spAutoFit/>
          </a:bodyPr>
          <a:lstStyle/>
          <a:p>
            <a:pPr algn="l">
              <a:spcBef>
                <a:spcPts val="0"/>
              </a:spcBef>
              <a:spcAft>
                <a:spcPts val="0"/>
              </a:spcAft>
            </a:pPr>
            <a:r>
              <a:rPr sz="2200" b="1" i="0">
                <a:solidFill>
                  <a:srgbClr val="12263F"/>
                </a:solidFill>
                <a:latin typeface="Arial" panose="020B0604020202020204"/>
                <a:ea typeface="微软雅黑" panose="020B0503020204020204" charset="-122"/>
                <a:cs typeface="Arial" panose="020B0604020202020204"/>
              </a:rPr>
              <a:t>实验 ①　通信复杂度对比（理论值）</a:t>
            </a:r>
            <a:endParaRPr sz="2200" b="1" i="0">
              <a:solidFill>
                <a:srgbClr val="12263F"/>
              </a:solidFill>
              <a:latin typeface="Arial" panose="020B0604020202020204"/>
              <a:ea typeface="微软雅黑" panose="020B0503020204020204" charset="-122"/>
              <a:cs typeface="Arial" panose="020B0604020202020204"/>
            </a:endParaRPr>
          </a:p>
        </p:txBody>
      </p:sp>
      <p:sp>
        <p:nvSpPr>
          <p:cNvPr id="5" name="TextBox 4"/>
          <p:cNvSpPr txBox="1"/>
          <p:nvPr/>
        </p:nvSpPr>
        <p:spPr>
          <a:xfrm>
            <a:off x="186690" y="1211706"/>
            <a:ext cx="11109960" cy="250190"/>
          </a:xfrm>
          <a:prstGeom prst="rect">
            <a:avLst/>
          </a:prstGeom>
          <a:noFill/>
        </p:spPr>
        <p:txBody>
          <a:bodyPr wrap="square" lIns="0" tIns="0" rIns="0" bIns="0" anchor="t">
            <a:spAutoFit/>
          </a:bodyPr>
          <a:lstStyle/>
          <a:p>
            <a:pPr algn="l">
              <a:lnSpc>
                <a:spcPct val="102000"/>
              </a:lnSpc>
              <a:spcBef>
                <a:spcPts val="0"/>
              </a:spcBef>
              <a:spcAft>
                <a:spcPts val="0"/>
              </a:spcAft>
            </a:pPr>
            <a:r>
              <a:rPr sz="1600" b="1" i="0">
                <a:solidFill>
                  <a:srgbClr val="C0392B"/>
                </a:solidFill>
                <a:latin typeface="Arial" panose="020B0604020202020204"/>
                <a:ea typeface="微软雅黑" panose="020B0503020204020204" charset="-122"/>
                <a:cs typeface="Arial" panose="020B0604020202020204"/>
              </a:rPr>
              <a:t>对比 SWIFT：在线通信 −33%，离线通信 −67%；内积的通信量与单次乘法同阶。</a:t>
            </a:r>
            <a:endParaRPr sz="1600" b="1" i="0">
              <a:solidFill>
                <a:srgbClr val="C0392B"/>
              </a:solidFill>
              <a:latin typeface="Arial" panose="020B0604020202020204"/>
              <a:ea typeface="微软雅黑" panose="020B0503020204020204" charset="-122"/>
              <a:cs typeface="Arial" panose="020B0604020202020204"/>
            </a:endParaRPr>
          </a:p>
        </p:txBody>
      </p:sp>
      <p:graphicFrame>
        <p:nvGraphicFramePr>
          <p:cNvPr id="6" name="Table 7"/>
          <p:cNvGraphicFramePr>
            <a:graphicFrameLocks noGrp="1"/>
          </p:cNvGraphicFramePr>
          <p:nvPr/>
        </p:nvGraphicFramePr>
        <p:xfrm>
          <a:off x="2219960" y="1667255"/>
          <a:ext cx="6903720" cy="4381800"/>
        </p:xfrm>
        <a:graphic>
          <a:graphicData uri="http://schemas.openxmlformats.org/drawingml/2006/table">
            <a:tbl>
              <a:tblPr firstRow="1" bandRow="1">
                <a:tableStyleId>{5C22544A-7EE6-4342-B048-85BDC9FD1C3A}</a:tableStyleId>
              </a:tblPr>
              <a:tblGrid>
                <a:gridCol w="1298448"/>
                <a:gridCol w="1115568"/>
                <a:gridCol w="1417320"/>
                <a:gridCol w="658368"/>
                <a:gridCol w="1417320"/>
                <a:gridCol w="996696"/>
              </a:tblGrid>
              <a:tr h="475488">
                <a:tc>
                  <a:txBody>
                    <a:bodyPr wrap="square"/>
                    <a:lstStyle/>
                    <a:p>
                      <a:pPr algn="l">
                        <a:spcBef>
                          <a:spcPts val="0"/>
                        </a:spcBef>
                        <a:spcAft>
                          <a:spcPts val="0"/>
                        </a:spcAft>
                      </a:pPr>
                      <a:r>
                        <a:rPr sz="1100" b="1" i="0">
                          <a:solidFill>
                            <a:srgbClr val="FFFFFF"/>
                          </a:solidFill>
                          <a:latin typeface="Arial" panose="020B0604020202020204"/>
                          <a:ea typeface="微软雅黑" panose="020B0503020204020204" charset="-122"/>
                          <a:cs typeface="Arial" panose="020B0604020202020204"/>
                        </a:rPr>
                        <a:t>Operation</a:t>
                      </a:r>
                      <a:endParaRPr sz="1100" b="1" i="0">
                        <a:solidFill>
                          <a:srgbClr val="FFFFFF"/>
                        </a:solidFill>
                        <a:latin typeface="Arial" panose="020B0604020202020204"/>
                        <a:ea typeface="微软雅黑" panose="020B0503020204020204" charset="-122"/>
                        <a:cs typeface="Arial" panose="020B0604020202020204"/>
                      </a:endParaRPr>
                    </a:p>
                  </a:txBody>
                  <a:tcPr marL="45720" marR="45720" marT="9144" marB="9144" anchor="ctr">
                    <a:solidFill>
                      <a:srgbClr val="12263F"/>
                    </a:solidFill>
                  </a:tcPr>
                </a:tc>
                <a:tc>
                  <a:txBody>
                    <a:bodyPr wrap="square"/>
                    <a:lstStyle/>
                    <a:p>
                      <a:pPr algn="l">
                        <a:spcBef>
                          <a:spcPts val="0"/>
                        </a:spcBef>
                        <a:spcAft>
                          <a:spcPts val="0"/>
                        </a:spcAft>
                      </a:pPr>
                      <a:r>
                        <a:rPr sz="1100" b="1" i="0">
                          <a:solidFill>
                            <a:srgbClr val="FFFFFF"/>
                          </a:solidFill>
                          <a:latin typeface="Arial" panose="020B0604020202020204"/>
                          <a:ea typeface="微软雅黑" panose="020B0503020204020204" charset="-122"/>
                          <a:cs typeface="Arial" panose="020B0604020202020204"/>
                        </a:rPr>
                        <a:t>Protocol</a:t>
                      </a:r>
                      <a:endParaRPr sz="1100" b="1" i="0">
                        <a:solidFill>
                          <a:srgbClr val="FFFFFF"/>
                        </a:solidFill>
                        <a:latin typeface="Arial" panose="020B0604020202020204"/>
                        <a:ea typeface="微软雅黑" panose="020B0503020204020204" charset="-122"/>
                        <a:cs typeface="Arial" panose="020B0604020202020204"/>
                      </a:endParaRPr>
                    </a:p>
                  </a:txBody>
                  <a:tcPr marL="45720" marR="45720" marT="9144" marB="9144" anchor="ctr">
                    <a:solidFill>
                      <a:srgbClr val="12263F"/>
                    </a:solidFill>
                  </a:tcPr>
                </a:tc>
                <a:tc>
                  <a:txBody>
                    <a:bodyPr wrap="square"/>
                    <a:lstStyle/>
                    <a:p>
                      <a:pPr algn="ctr">
                        <a:spcBef>
                          <a:spcPts val="0"/>
                        </a:spcBef>
                        <a:spcAft>
                          <a:spcPts val="0"/>
                        </a:spcAft>
                      </a:pPr>
                      <a:r>
                        <a:rPr sz="1100" b="1" i="0">
                          <a:solidFill>
                            <a:srgbClr val="FFFFFF"/>
                          </a:solidFill>
                          <a:latin typeface="Arial" panose="020B0604020202020204"/>
                          <a:ea typeface="微软雅黑" panose="020B0503020204020204" charset="-122"/>
                          <a:cs typeface="Arial" panose="020B0604020202020204"/>
                        </a:rPr>
                        <a:t>Offline Comm.
(bits)</a:t>
                      </a:r>
                      <a:endParaRPr sz="1100" b="1" i="0">
                        <a:solidFill>
                          <a:srgbClr val="FFFFFF"/>
                        </a:solidFill>
                        <a:latin typeface="Arial" panose="020B0604020202020204"/>
                        <a:ea typeface="微软雅黑" panose="020B0503020204020204" charset="-122"/>
                        <a:cs typeface="Arial" panose="020B0604020202020204"/>
                      </a:endParaRPr>
                    </a:p>
                  </a:txBody>
                  <a:tcPr marL="45720" marR="45720" marT="9144" marB="9144" anchor="ctr">
                    <a:solidFill>
                      <a:srgbClr val="12263F"/>
                    </a:solidFill>
                  </a:tcPr>
                </a:tc>
                <a:tc>
                  <a:txBody>
                    <a:bodyPr wrap="square"/>
                    <a:lstStyle/>
                    <a:p>
                      <a:pPr algn="ctr">
                        <a:spcBef>
                          <a:spcPts val="0"/>
                        </a:spcBef>
                        <a:spcAft>
                          <a:spcPts val="0"/>
                        </a:spcAft>
                      </a:pPr>
                      <a:r>
                        <a:rPr sz="1100" b="1" i="0">
                          <a:solidFill>
                            <a:srgbClr val="FFFFFF"/>
                          </a:solidFill>
                          <a:latin typeface="Arial" panose="020B0604020202020204"/>
                          <a:ea typeface="微软雅黑" panose="020B0503020204020204" charset="-122"/>
                          <a:cs typeface="Arial" panose="020B0604020202020204"/>
                        </a:rPr>
                        <a:t>Rounds</a:t>
                      </a:r>
                      <a:endParaRPr sz="1100" b="1" i="0">
                        <a:solidFill>
                          <a:srgbClr val="FFFFFF"/>
                        </a:solidFill>
                        <a:latin typeface="Arial" panose="020B0604020202020204"/>
                        <a:ea typeface="微软雅黑" panose="020B0503020204020204" charset="-122"/>
                        <a:cs typeface="Arial" panose="020B0604020202020204"/>
                      </a:endParaRPr>
                    </a:p>
                  </a:txBody>
                  <a:tcPr marL="45720" marR="45720" marT="9144" marB="9144" anchor="ctr">
                    <a:solidFill>
                      <a:srgbClr val="12263F"/>
                    </a:solidFill>
                  </a:tcPr>
                </a:tc>
                <a:tc>
                  <a:txBody>
                    <a:bodyPr wrap="square"/>
                    <a:lstStyle/>
                    <a:p>
                      <a:pPr algn="ctr">
                        <a:spcBef>
                          <a:spcPts val="0"/>
                        </a:spcBef>
                        <a:spcAft>
                          <a:spcPts val="0"/>
                        </a:spcAft>
                      </a:pPr>
                      <a:r>
                        <a:rPr sz="1100" b="1" i="0">
                          <a:solidFill>
                            <a:srgbClr val="FFFFFF"/>
                          </a:solidFill>
                          <a:latin typeface="Arial" panose="020B0604020202020204"/>
                          <a:ea typeface="微软雅黑" panose="020B0503020204020204" charset="-122"/>
                          <a:cs typeface="Arial" panose="020B0604020202020204"/>
                        </a:rPr>
                        <a:t>Online Comm.
(bits)</a:t>
                      </a:r>
                      <a:endParaRPr sz="1100" b="1" i="0">
                        <a:solidFill>
                          <a:srgbClr val="FFFFFF"/>
                        </a:solidFill>
                        <a:latin typeface="Arial" panose="020B0604020202020204"/>
                        <a:ea typeface="微软雅黑" panose="020B0503020204020204" charset="-122"/>
                        <a:cs typeface="Arial" panose="020B0604020202020204"/>
                      </a:endParaRPr>
                    </a:p>
                  </a:txBody>
                  <a:tcPr marL="45720" marR="45720" marT="9144" marB="9144" anchor="ctr">
                    <a:solidFill>
                      <a:srgbClr val="12263F"/>
                    </a:solidFill>
                  </a:tcPr>
                </a:tc>
                <a:tc>
                  <a:txBody>
                    <a:bodyPr wrap="square"/>
                    <a:lstStyle/>
                    <a:p>
                      <a:pPr algn="ctr">
                        <a:spcBef>
                          <a:spcPts val="0"/>
                        </a:spcBef>
                        <a:spcAft>
                          <a:spcPts val="0"/>
                        </a:spcAft>
                      </a:pPr>
                      <a:r>
                        <a:rPr sz="1100" b="1" i="0">
                          <a:solidFill>
                            <a:srgbClr val="FFFFFF"/>
                          </a:solidFill>
                          <a:latin typeface="Arial" panose="020B0604020202020204"/>
                          <a:ea typeface="微软雅黑" panose="020B0503020204020204" charset="-122"/>
                          <a:cs typeface="Arial" panose="020B0604020202020204"/>
                        </a:rPr>
                        <a:t>Malicious</a:t>
                      </a:r>
                      <a:endParaRPr sz="1100" b="1" i="0">
                        <a:solidFill>
                          <a:srgbClr val="FFFFFF"/>
                        </a:solidFill>
                        <a:latin typeface="Arial" panose="020B0604020202020204"/>
                        <a:ea typeface="微软雅黑" panose="020B0503020204020204" charset="-122"/>
                        <a:cs typeface="Arial" panose="020B0604020202020204"/>
                      </a:endParaRPr>
                    </a:p>
                  </a:txBody>
                  <a:tcPr marL="45720" marR="45720" marT="9144" marB="9144" anchor="ctr">
                    <a:solidFill>
                      <a:srgbClr val="12263F"/>
                    </a:solidFill>
                  </a:tcPr>
                </a:tc>
              </a:tr>
              <a:tr h="325526">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Mult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ABY3 [4]</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12ℓ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9ℓ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r>
              <a:tr h="325526">
                <a:tc>
                  <a:txBody>
                    <a:bodyPr wrap="square"/>
                    <a:lstStyle/>
                    <a:p>
                      <a:pPr algn="l">
                        <a:spcBef>
                          <a:spcPts val="0"/>
                        </a:spcBef>
                        <a:spcAft>
                          <a:spcPts val="0"/>
                        </a:spcAft>
                      </a:pP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BLAZE [5]</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r>
              <a:tr h="325526">
                <a:tc>
                  <a:txBody>
                    <a:bodyPr wrap="square"/>
                    <a:lstStyle/>
                    <a:p>
                      <a:pPr algn="l">
                        <a:spcBef>
                          <a:spcPts val="0"/>
                        </a:spcBef>
                        <a:spcAft>
                          <a:spcPts val="0"/>
                        </a:spcAft>
                      </a:pP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SWIFT [12]</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r>
              <a:tr h="325526">
                <a:tc>
                  <a:txBody>
                    <a:bodyPr wrap="square"/>
                    <a:lstStyle/>
                    <a:p>
                      <a:pPr algn="l">
                        <a:spcBef>
                          <a:spcPts val="0"/>
                        </a:spcBef>
                        <a:spcAft>
                          <a:spcPts val="0"/>
                        </a:spcAft>
                      </a:pP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l">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Ours</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1ℓ</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1</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2ℓ</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r>
              <a:tr h="325526">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Inner Product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ABY3 [4]</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12nℓ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9nℓ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r>
              <a:tr h="325526">
                <a:tc>
                  <a:txBody>
                    <a:bodyPr wrap="square"/>
                    <a:lstStyle/>
                    <a:p>
                      <a:pPr algn="l">
                        <a:spcBef>
                          <a:spcPts val="0"/>
                        </a:spcBef>
                        <a:spcAft>
                          <a:spcPts val="0"/>
                        </a:spcAft>
                      </a:pP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BLAZE [5]</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3nℓ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r>
              <a:tr h="325526">
                <a:tc>
                  <a:txBody>
                    <a:bodyPr wrap="square"/>
                    <a:lstStyle/>
                    <a:p>
                      <a:pPr algn="l">
                        <a:spcBef>
                          <a:spcPts val="0"/>
                        </a:spcBef>
                        <a:spcAft>
                          <a:spcPts val="0"/>
                        </a:spcAft>
                      </a:pP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SWIFT [12]</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r>
              <a:tr h="325526">
                <a:tc>
                  <a:txBody>
                    <a:bodyPr wrap="square"/>
                    <a:lstStyle/>
                    <a:p>
                      <a:pPr algn="l">
                        <a:spcBef>
                          <a:spcPts val="0"/>
                        </a:spcBef>
                        <a:spcAft>
                          <a:spcPts val="0"/>
                        </a:spcAft>
                      </a:pP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l">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Ours</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1ℓ</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1</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2ℓ</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r>
              <a:tr h="325526">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Inner Product
with Truncation</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ABY3 [4]</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12nℓ + 84ℓ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9nℓ + 3ℓ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r>
              <a:tr h="325526">
                <a:tc>
                  <a:txBody>
                    <a:bodyPr wrap="square"/>
                    <a:lstStyle/>
                    <a:p>
                      <a:pPr algn="l">
                        <a:spcBef>
                          <a:spcPts val="0"/>
                        </a:spcBef>
                        <a:spcAft>
                          <a:spcPts val="0"/>
                        </a:spcAft>
                      </a:pP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BLAZE [5]</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3nℓ + 2ℓ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4F6F9"/>
                    </a:solidFill>
                  </a:tcPr>
                </a:tc>
              </a:tr>
              <a:tr h="325526">
                <a:tc>
                  <a:txBody>
                    <a:bodyPr wrap="square"/>
                    <a:lstStyle/>
                    <a:p>
                      <a:pPr algn="l">
                        <a:spcBef>
                          <a:spcPts val="0"/>
                        </a:spcBef>
                        <a:spcAft>
                          <a:spcPts val="0"/>
                        </a:spcAft>
                      </a:pP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l">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SWIFT [12]</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15ℓ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1</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3ℓ</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c>
                  <a:txBody>
                    <a:bodyPr wrap="square"/>
                    <a:lstStyle/>
                    <a:p>
                      <a:pPr algn="ctr">
                        <a:spcBef>
                          <a:spcPts val="0"/>
                        </a:spcBef>
                        <a:spcAft>
                          <a:spcPts val="0"/>
                        </a:spcAft>
                      </a:pPr>
                      <a:r>
                        <a:rPr sz="1050" b="0" i="0">
                          <a:solidFill>
                            <a:srgbClr val="56606E"/>
                          </a:solidFill>
                          <a:latin typeface="Arial" panose="020B0604020202020204"/>
                          <a:ea typeface="微软雅黑" panose="020B0503020204020204" charset="-122"/>
                          <a:cs typeface="Arial" panose="020B0604020202020204"/>
                        </a:rPr>
                        <a:t>✓</a:t>
                      </a:r>
                      <a:endParaRPr sz="1050" b="0" i="0">
                        <a:solidFill>
                          <a:srgbClr val="56606E"/>
                        </a:solidFill>
                        <a:latin typeface="Arial" panose="020B0604020202020204"/>
                        <a:ea typeface="微软雅黑" panose="020B0503020204020204" charset="-122"/>
                        <a:cs typeface="Arial" panose="020B0604020202020204"/>
                      </a:endParaRPr>
                    </a:p>
                  </a:txBody>
                  <a:tcPr marL="45720" marR="45720" marT="9144" marB="9144" anchor="ctr">
                    <a:solidFill>
                      <a:srgbClr val="FFFFFF"/>
                    </a:solidFill>
                  </a:tcPr>
                </a:tc>
              </a:tr>
              <a:tr h="325526">
                <a:tc>
                  <a:txBody>
                    <a:bodyPr wrap="square"/>
                    <a:lstStyle/>
                    <a:p>
                      <a:pPr algn="l">
                        <a:spcBef>
                          <a:spcPts val="0"/>
                        </a:spcBef>
                        <a:spcAft>
                          <a:spcPts val="0"/>
                        </a:spcAft>
                      </a:pP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l">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Ours</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7ℓ</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1</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2ℓ</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c>
                  <a:txBody>
                    <a:bodyPr wrap="square"/>
                    <a:lstStyle/>
                    <a:p>
                      <a:pPr algn="ctr">
                        <a:spcBef>
                          <a:spcPts val="0"/>
                        </a:spcBef>
                        <a:spcAft>
                          <a:spcPts val="0"/>
                        </a:spcAft>
                      </a:pPr>
                      <a:r>
                        <a:rPr sz="1050" b="1" i="0">
                          <a:solidFill>
                            <a:srgbClr val="0F5C3E"/>
                          </a:solidFill>
                          <a:latin typeface="Arial" panose="020B0604020202020204"/>
                          <a:ea typeface="微软雅黑" panose="020B0503020204020204" charset="-122"/>
                          <a:cs typeface="Arial" panose="020B0604020202020204"/>
                        </a:rPr>
                        <a:t>✓</a:t>
                      </a:r>
                      <a:endParaRPr sz="1050" b="1" i="0">
                        <a:solidFill>
                          <a:srgbClr val="0F5C3E"/>
                        </a:solidFill>
                        <a:latin typeface="Arial" panose="020B0604020202020204"/>
                        <a:ea typeface="微软雅黑" panose="020B0503020204020204" charset="-122"/>
                        <a:cs typeface="Arial" panose="020B0604020202020204"/>
                      </a:endParaRPr>
                    </a:p>
                  </a:txBody>
                  <a:tcPr marL="45720" marR="45720" marT="9144" marB="9144" anchor="ctr">
                    <a:solidFill>
                      <a:srgbClr val="E3F3E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zh-CN" altLang="en-US"/>
              <a:t>实验评估</a:t>
            </a:r>
            <a:endParaRPr lang="zh-CN" altLang="en-US"/>
          </a:p>
        </p:txBody>
      </p:sp>
      <p:sp>
        <p:nvSpPr>
          <p:cNvPr id="3" name="TextBox 2"/>
          <p:cNvSpPr txBox="1"/>
          <p:nvPr/>
        </p:nvSpPr>
        <p:spPr>
          <a:xfrm>
            <a:off x="186690" y="1044194"/>
            <a:ext cx="10424160" cy="338455"/>
          </a:xfrm>
          <a:prstGeom prst="rect">
            <a:avLst/>
          </a:prstGeom>
          <a:noFill/>
        </p:spPr>
        <p:txBody>
          <a:bodyPr wrap="square" lIns="0" tIns="0" rIns="0" bIns="0" anchor="t">
            <a:spAutoFit/>
          </a:bodyPr>
          <a:lstStyle/>
          <a:p>
            <a:pPr algn="l">
              <a:spcBef>
                <a:spcPts val="0"/>
              </a:spcBef>
              <a:spcAft>
                <a:spcPts val="0"/>
              </a:spcAft>
            </a:pPr>
            <a:r>
              <a:rPr sz="2200" b="1">
                <a:solidFill>
                  <a:srgbClr val="12263F"/>
                </a:solidFill>
                <a:latin typeface="Arial" panose="020B0604020202020204"/>
                <a:ea typeface="微软雅黑" panose="020B0503020204020204" charset="-122"/>
                <a:cs typeface="Arial" panose="020B0604020202020204"/>
                <a:sym typeface="+mn-ea"/>
              </a:rPr>
              <a:t>实验 ②　通信开销随规模的变化</a:t>
            </a:r>
            <a:endParaRPr sz="2200" b="1" i="0">
              <a:solidFill>
                <a:srgbClr val="12263F"/>
              </a:solidFill>
              <a:latin typeface="Arial" panose="020B0604020202020204"/>
              <a:ea typeface="微软雅黑" panose="020B0503020204020204" charset="-122"/>
              <a:cs typeface="Arial" panose="020B0604020202020204"/>
            </a:endParaRPr>
          </a:p>
        </p:txBody>
      </p:sp>
      <p:sp>
        <p:nvSpPr>
          <p:cNvPr id="9" name="TextBox 4"/>
          <p:cNvSpPr txBox="1"/>
          <p:nvPr/>
        </p:nvSpPr>
        <p:spPr>
          <a:xfrm>
            <a:off x="186690" y="1901316"/>
            <a:ext cx="11109960" cy="299720"/>
          </a:xfrm>
          <a:prstGeom prst="rect">
            <a:avLst/>
          </a:prstGeom>
          <a:noFill/>
        </p:spPr>
        <p:txBody>
          <a:bodyPr wrap="square" lIns="0" tIns="0" rIns="0" bIns="0" anchor="t">
            <a:spAutoFit/>
          </a:bodyPr>
          <a:lstStyle/>
          <a:p>
            <a:pPr>
              <a:lnSpc>
                <a:spcPct val="122000"/>
              </a:lnSpc>
              <a:spcAft>
                <a:spcPts val="0"/>
              </a:spcAft>
            </a:pPr>
            <a:r>
              <a:rPr sz="1600" b="1">
                <a:solidFill>
                  <a:srgbClr val="C00000"/>
                </a:solidFill>
                <a:latin typeface="微软雅黑" panose="020B0503020204020204" charset="-122"/>
                <a:ea typeface="微软雅黑" panose="020B0503020204020204" charset="-122"/>
                <a:sym typeface="+mn-ea"/>
              </a:rPr>
              <a:t>小规模时因验证轮数略慢，大规模反超、吞吐 ~2×；电路越深优势越大</a:t>
            </a:r>
            <a:endParaRPr sz="1600" b="1" i="0">
              <a:solidFill>
                <a:srgbClr val="C00000"/>
              </a:solidFill>
              <a:latin typeface="微软雅黑" panose="020B0503020204020204" charset="-122"/>
              <a:ea typeface="微软雅黑" panose="020B0503020204020204" charset="-122"/>
              <a:cs typeface="Arial" panose="020B0604020202020204"/>
              <a:sym typeface="+mn-ea"/>
            </a:endParaRPr>
          </a:p>
        </p:txBody>
      </p:sp>
      <p:pic>
        <p:nvPicPr>
          <p:cNvPr id="10" name="Picture 3" descr="fig11.png"/>
          <p:cNvPicPr>
            <a:picLocks noChangeAspect="1"/>
          </p:cNvPicPr>
          <p:nvPr/>
        </p:nvPicPr>
        <p:blipFill>
          <a:blip r:embed="rId1"/>
          <a:stretch>
            <a:fillRect/>
          </a:stretch>
        </p:blipFill>
        <p:spPr>
          <a:xfrm>
            <a:off x="186690" y="2719705"/>
            <a:ext cx="5760720" cy="3044190"/>
          </a:xfrm>
          <a:prstGeom prst="rect">
            <a:avLst/>
          </a:prstGeom>
          <a:ln w="9525">
            <a:solidFill>
              <a:srgbClr val="D5DDE6"/>
            </a:solidFill>
          </a:ln>
          <a:effectLst/>
        </p:spPr>
      </p:pic>
      <p:pic>
        <p:nvPicPr>
          <p:cNvPr id="11" name="Picture 4" descr="fig12.png"/>
          <p:cNvPicPr>
            <a:picLocks noChangeAspect="1"/>
          </p:cNvPicPr>
          <p:nvPr/>
        </p:nvPicPr>
        <p:blipFill>
          <a:blip r:embed="rId2"/>
          <a:srcRect t="1189"/>
          <a:stretch>
            <a:fillRect/>
          </a:stretch>
        </p:blipFill>
        <p:spPr>
          <a:xfrm>
            <a:off x="6022340" y="2719705"/>
            <a:ext cx="5831205" cy="3044190"/>
          </a:xfrm>
          <a:prstGeom prst="rect">
            <a:avLst/>
          </a:prstGeom>
          <a:ln w="9525">
            <a:solidFill>
              <a:srgbClr val="D5DDE6"/>
            </a:solidFill>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186690" y="760349"/>
            <a:ext cx="10424160" cy="338455"/>
          </a:xfrm>
          <a:prstGeom prst="rect">
            <a:avLst/>
          </a:prstGeom>
          <a:noFill/>
        </p:spPr>
        <p:txBody>
          <a:bodyPr wrap="square" lIns="0" tIns="0" rIns="0" bIns="0" anchor="t">
            <a:spAutoFit/>
          </a:bodyPr>
          <a:lstStyle/>
          <a:p>
            <a:pPr algn="l">
              <a:spcBef>
                <a:spcPts val="0"/>
              </a:spcBef>
              <a:spcAft>
                <a:spcPts val="0"/>
              </a:spcAft>
            </a:pPr>
            <a:r>
              <a:rPr sz="2200" b="1">
                <a:solidFill>
                  <a:srgbClr val="12263F"/>
                </a:solidFill>
                <a:latin typeface="Arial" panose="020B0604020202020204"/>
                <a:ea typeface="微软雅黑" panose="020B0503020204020204" charset="-122"/>
                <a:cs typeface="Arial" panose="020B0604020202020204"/>
                <a:sym typeface="+mn-ea"/>
              </a:rPr>
              <a:t>实验</a:t>
            </a:r>
            <a:r>
              <a:rPr lang="en-US" sz="2200" b="1">
                <a:solidFill>
                  <a:srgbClr val="12263F"/>
                </a:solidFill>
                <a:latin typeface="Arial" panose="020B0604020202020204"/>
                <a:ea typeface="微软雅黑" panose="020B0503020204020204" charset="-122"/>
                <a:cs typeface="Arial" panose="020B0604020202020204"/>
                <a:sym typeface="+mn-ea"/>
              </a:rPr>
              <a:t> </a:t>
            </a:r>
            <a:r>
              <a:rPr sz="2200" b="1">
                <a:solidFill>
                  <a:srgbClr val="12263F"/>
                </a:solidFill>
                <a:latin typeface="Arial" panose="020B0604020202020204"/>
                <a:ea typeface="微软雅黑" panose="020B0503020204020204" charset="-122"/>
                <a:cs typeface="Arial" panose="020B0604020202020204"/>
                <a:sym typeface="+mn-ea"/>
              </a:rPr>
              <a:t>③</a:t>
            </a:r>
            <a:r>
              <a:rPr lang="en-US" sz="2200" b="1">
                <a:solidFill>
                  <a:srgbClr val="12263F"/>
                </a:solidFill>
                <a:latin typeface="Arial" panose="020B0604020202020204"/>
                <a:ea typeface="微软雅黑" panose="020B0503020204020204" charset="-122"/>
                <a:cs typeface="Arial" panose="020B0604020202020204"/>
                <a:sym typeface="+mn-ea"/>
              </a:rPr>
              <a:t>  </a:t>
            </a:r>
            <a:r>
              <a:rPr sz="2200" b="1">
                <a:solidFill>
                  <a:srgbClr val="12263F"/>
                </a:solidFill>
                <a:latin typeface="Arial" panose="020B0604020202020204"/>
                <a:ea typeface="微软雅黑" panose="020B0503020204020204" charset="-122"/>
                <a:cs typeface="Arial" panose="020B0604020202020204"/>
                <a:sym typeface="+mn-ea"/>
              </a:rPr>
              <a:t> </a:t>
            </a:r>
            <a:r>
              <a:rPr sz="2200" b="1">
                <a:solidFill>
                  <a:srgbClr val="12263F"/>
                </a:solidFill>
                <a:latin typeface="Arial" panose="020B0604020202020204"/>
                <a:ea typeface="微软雅黑" panose="020B0503020204020204" charset="-122"/>
                <a:cs typeface="Arial" panose="020B0604020202020204"/>
                <a:sym typeface="+mn-ea"/>
              </a:rPr>
              <a:t>CNN 推理端到端表现</a:t>
            </a:r>
            <a:endParaRPr sz="2200" b="1" i="0">
              <a:solidFill>
                <a:srgbClr val="12263F"/>
              </a:solidFill>
              <a:latin typeface="Arial" panose="020B0604020202020204"/>
              <a:ea typeface="微软雅黑" panose="020B0503020204020204" charset="-122"/>
              <a:cs typeface="Arial" panose="020B0604020202020204"/>
            </a:endParaRPr>
          </a:p>
        </p:txBody>
      </p:sp>
      <p:sp>
        <p:nvSpPr>
          <p:cNvPr id="5" name="标题 4"/>
          <p:cNvSpPr>
            <a:spLocks noGrp="1"/>
          </p:cNvSpPr>
          <p:nvPr>
            <p:ph type="title"/>
          </p:nvPr>
        </p:nvSpPr>
        <p:spPr/>
        <p:txBody>
          <a:bodyPr/>
          <a:p>
            <a:r>
              <a:rPr lang="zh-CN" altLang="en-US"/>
              <a:t>四、</a:t>
            </a:r>
            <a:r>
              <a:rPr lang="zh-CN" altLang="en-US"/>
              <a:t>实验评估</a:t>
            </a:r>
            <a:endParaRPr lang="zh-CN" altLang="en-US"/>
          </a:p>
        </p:txBody>
      </p:sp>
      <p:sp>
        <p:nvSpPr>
          <p:cNvPr id="8" name="TextBox 4"/>
          <p:cNvSpPr txBox="1"/>
          <p:nvPr/>
        </p:nvSpPr>
        <p:spPr>
          <a:xfrm>
            <a:off x="186690" y="1280795"/>
            <a:ext cx="8224520" cy="250190"/>
          </a:xfrm>
          <a:prstGeom prst="rect">
            <a:avLst/>
          </a:prstGeom>
          <a:noFill/>
        </p:spPr>
        <p:txBody>
          <a:bodyPr wrap="square" lIns="0" tIns="0" rIns="0" bIns="0" anchor="t">
            <a:spAutoFit/>
          </a:bodyPr>
          <a:lstStyle/>
          <a:p>
            <a:pPr algn="l">
              <a:lnSpc>
                <a:spcPct val="102000"/>
              </a:lnSpc>
              <a:spcBef>
                <a:spcPts val="0"/>
              </a:spcBef>
              <a:spcAft>
                <a:spcPts val="0"/>
              </a:spcAft>
            </a:pPr>
            <a:r>
              <a:rPr sz="1600" b="1" i="0">
                <a:solidFill>
                  <a:srgbClr val="C0392B"/>
                </a:solidFill>
                <a:latin typeface="Arial" panose="020B0604020202020204"/>
                <a:ea typeface="微软雅黑" panose="020B0503020204020204" charset="-122"/>
                <a:cs typeface="Arial" panose="020B0604020202020204"/>
              </a:rPr>
              <a:t>模型越大，验证开销占比越低 —— 在 VGG-16 上验证时间仅占在线执行时间的 ~19%</a:t>
            </a:r>
            <a:endParaRPr sz="1600" b="1" i="0">
              <a:solidFill>
                <a:srgbClr val="C0392B"/>
              </a:solidFill>
              <a:latin typeface="Arial" panose="020B0604020202020204"/>
              <a:ea typeface="微软雅黑" panose="020B0503020204020204" charset="-122"/>
              <a:cs typeface="Arial" panose="020B0604020202020204"/>
            </a:endParaRPr>
          </a:p>
        </p:txBody>
      </p:sp>
      <p:graphicFrame>
        <p:nvGraphicFramePr>
          <p:cNvPr id="9" name="Table 5"/>
          <p:cNvGraphicFramePr>
            <a:graphicFrameLocks noGrp="1"/>
          </p:cNvGraphicFramePr>
          <p:nvPr/>
        </p:nvGraphicFramePr>
        <p:xfrm>
          <a:off x="2478405" y="1850390"/>
          <a:ext cx="5840730" cy="1684020"/>
        </p:xfrm>
        <a:graphic>
          <a:graphicData uri="http://schemas.openxmlformats.org/drawingml/2006/table">
            <a:tbl>
              <a:tblPr firstRow="1" bandRow="1">
                <a:tableStyleId>{5C22544A-7EE6-4342-B048-85BDC9FD1C3A}</a:tableStyleId>
              </a:tblPr>
              <a:tblGrid>
                <a:gridCol w="840105"/>
                <a:gridCol w="1080135"/>
                <a:gridCol w="800100"/>
                <a:gridCol w="800100"/>
                <a:gridCol w="800100"/>
                <a:gridCol w="760095"/>
                <a:gridCol w="760095"/>
              </a:tblGrid>
              <a:tr h="407670">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Model</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Stage</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Offline</a:t>
                      </a:r>
                      <a:endParaRPr sz="1050" b="1" i="0">
                        <a:solidFill>
                          <a:srgbClr val="FFFFFF"/>
                        </a:solidFill>
                        <a:latin typeface="微软雅黑" panose="020B0503020204020204" charset="-122"/>
                        <a:ea typeface="微软雅黑" panose="020B0503020204020204" charset="-122"/>
                      </a:endParaRPr>
                    </a:p>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Com (MB)</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Offline</a:t>
                      </a:r>
                      <a:endParaRPr sz="1050" b="1" i="0">
                        <a:solidFill>
                          <a:srgbClr val="FFFFFF"/>
                        </a:solidFill>
                        <a:latin typeface="微软雅黑" panose="020B0503020204020204" charset="-122"/>
                        <a:ea typeface="微软雅黑" panose="020B0503020204020204" charset="-122"/>
                      </a:endParaRPr>
                    </a:p>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Time (ms)</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Online</a:t>
                      </a:r>
                      <a:endParaRPr sz="1050" b="1" i="0">
                        <a:solidFill>
                          <a:srgbClr val="FFFFFF"/>
                        </a:solidFill>
                        <a:latin typeface="微软雅黑" panose="020B0503020204020204" charset="-122"/>
                        <a:ea typeface="微软雅黑" panose="020B0503020204020204" charset="-122"/>
                      </a:endParaRPr>
                    </a:p>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Com (MB)</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Online</a:t>
                      </a:r>
                      <a:endParaRPr sz="1050" b="1" i="0">
                        <a:solidFill>
                          <a:srgbClr val="FFFFFF"/>
                        </a:solidFill>
                        <a:latin typeface="微软雅黑" panose="020B0503020204020204" charset="-122"/>
                        <a:ea typeface="微软雅黑" panose="020B0503020204020204" charset="-122"/>
                      </a:endParaRPr>
                    </a:p>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Round</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c>
                  <a:txBody>
                    <a:bodyPr wrap="square"/>
                    <a:lstStyle/>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Online</a:t>
                      </a:r>
                      <a:endParaRPr sz="1050" b="1" i="0">
                        <a:solidFill>
                          <a:srgbClr val="FFFFFF"/>
                        </a:solidFill>
                        <a:latin typeface="微软雅黑" panose="020B0503020204020204" charset="-122"/>
                        <a:ea typeface="微软雅黑" panose="020B0503020204020204" charset="-122"/>
                      </a:endParaRPr>
                    </a:p>
                    <a:p>
                      <a:pPr algn="ctr">
                        <a:lnSpc>
                          <a:spcPct val="122000"/>
                        </a:lnSpc>
                        <a:spcAft>
                          <a:spcPts val="0"/>
                        </a:spcAft>
                      </a:pPr>
                      <a:r>
                        <a:rPr sz="1050" b="1" i="0">
                          <a:solidFill>
                            <a:srgbClr val="FFFFFF"/>
                          </a:solidFill>
                          <a:latin typeface="微软雅黑" panose="020B0503020204020204" charset="-122"/>
                          <a:ea typeface="微软雅黑" panose="020B0503020204020204" charset="-122"/>
                        </a:rPr>
                        <a:t>Time (ms)</a:t>
                      </a:r>
                      <a:endParaRPr sz="1050" b="1" i="0">
                        <a:solidFill>
                          <a:srgbClr val="FFFFFF"/>
                        </a:solidFill>
                        <a:latin typeface="微软雅黑" panose="020B0503020204020204" charset="-122"/>
                        <a:ea typeface="微软雅黑" panose="020B0503020204020204" charset="-122"/>
                      </a:endParaRPr>
                    </a:p>
                  </a:txBody>
                  <a:tcPr marL="36576" marR="36576" marT="9144" marB="9144" anchor="ctr">
                    <a:solidFill>
                      <a:srgbClr val="12263F"/>
                    </a:solidFill>
                  </a:tcPr>
                </a:tc>
              </a:tr>
              <a:tr h="212725">
                <a:tc>
                  <a:txBody>
                    <a:bodyPr wrap="square"/>
                    <a:lstStyle/>
                    <a:p>
                      <a:pPr algn="l">
                        <a:lnSpc>
                          <a:spcPct val="122000"/>
                        </a:lnSpc>
                        <a:spcAft>
                          <a:spcPts val="0"/>
                        </a:spcAft>
                      </a:pPr>
                      <a:r>
                        <a:rPr sz="1050" b="1" i="0">
                          <a:solidFill>
                            <a:srgbClr val="12263F"/>
                          </a:solidFill>
                          <a:latin typeface="微软雅黑" panose="020B0503020204020204" charset="-122"/>
                          <a:ea typeface="微软雅黑" panose="020B0503020204020204" charset="-122"/>
                        </a:rPr>
                        <a:t>S-NN</a:t>
                      </a:r>
                      <a:endParaRPr sz="1050" b="1"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l">
                        <a:lnSpc>
                          <a:spcPct val="122000"/>
                        </a:lnSpc>
                        <a:spcAft>
                          <a:spcPts val="0"/>
                        </a:spcAft>
                      </a:pPr>
                      <a:r>
                        <a:rPr sz="1050" b="0" i="0">
                          <a:solidFill>
                            <a:srgbClr val="12263F"/>
                          </a:solidFill>
                          <a:latin typeface="微软雅黑" panose="020B0503020204020204" charset="-122"/>
                          <a:ea typeface="微软雅黑" panose="020B0503020204020204" charset="-122"/>
                        </a:rPr>
                        <a:t>Execution</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0.05</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6.07</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0.17</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2</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13.19</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r>
              <a:tr h="212725">
                <a:tc>
                  <a:txBody>
                    <a:bodyPr wrap="square"/>
                    <a:lstStyle/>
                    <a:p>
                      <a:pPr algn="l">
                        <a:lnSpc>
                          <a:spcPct val="122000"/>
                        </a:lnSpc>
                        <a:spcAft>
                          <a:spcPts val="0"/>
                        </a:spcAft>
                      </a:pPr>
                      <a:endParaRPr sz="1050" b="1"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l">
                        <a:lnSpc>
                          <a:spcPct val="122000"/>
                        </a:lnSpc>
                        <a:spcAft>
                          <a:spcPts val="0"/>
                        </a:spcAft>
                      </a:pPr>
                      <a:r>
                        <a:rPr sz="1050" b="0" i="0">
                          <a:solidFill>
                            <a:srgbClr val="12263F"/>
                          </a:solidFill>
                          <a:latin typeface="微软雅黑" panose="020B0503020204020204" charset="-122"/>
                          <a:ea typeface="微软雅黑" panose="020B0503020204020204" charset="-122"/>
                        </a:rPr>
                        <a:t>Verification</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1.75</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3</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23.52</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r>
              <a:tr h="212725">
                <a:tc>
                  <a:txBody>
                    <a:bodyPr wrap="square"/>
                    <a:lstStyle/>
                    <a:p>
                      <a:pPr algn="l">
                        <a:lnSpc>
                          <a:spcPct val="122000"/>
                        </a:lnSpc>
                        <a:spcAft>
                          <a:spcPts val="0"/>
                        </a:spcAft>
                      </a:pPr>
                      <a:r>
                        <a:rPr sz="1050" b="1" i="0">
                          <a:solidFill>
                            <a:srgbClr val="12263F"/>
                          </a:solidFill>
                          <a:latin typeface="微软雅黑" panose="020B0503020204020204" charset="-122"/>
                          <a:ea typeface="微软雅黑" panose="020B0503020204020204" charset="-122"/>
                        </a:rPr>
                        <a:t>LeNet</a:t>
                      </a:r>
                      <a:endParaRPr sz="1050" b="1"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l">
                        <a:lnSpc>
                          <a:spcPct val="122000"/>
                        </a:lnSpc>
                        <a:spcAft>
                          <a:spcPts val="0"/>
                        </a:spcAft>
                      </a:pPr>
                      <a:r>
                        <a:rPr sz="1050" b="0" i="0">
                          <a:solidFill>
                            <a:srgbClr val="12263F"/>
                          </a:solidFill>
                          <a:latin typeface="微软雅黑" panose="020B0503020204020204" charset="-122"/>
                          <a:ea typeface="微软雅黑" panose="020B0503020204020204" charset="-122"/>
                        </a:rPr>
                        <a:t>Execution</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0.65</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7.40</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2.46</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42</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104.9</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r>
              <a:tr h="212725">
                <a:tc>
                  <a:txBody>
                    <a:bodyPr wrap="square"/>
                    <a:lstStyle/>
                    <a:p>
                      <a:pPr algn="l">
                        <a:lnSpc>
                          <a:spcPct val="122000"/>
                        </a:lnSpc>
                        <a:spcAft>
                          <a:spcPts val="0"/>
                        </a:spcAft>
                      </a:pPr>
                      <a:endParaRPr sz="1050" b="1"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l">
                        <a:lnSpc>
                          <a:spcPct val="122000"/>
                        </a:lnSpc>
                        <a:spcAft>
                          <a:spcPts val="0"/>
                        </a:spcAft>
                      </a:pPr>
                      <a:r>
                        <a:rPr sz="1050" b="0" i="0">
                          <a:solidFill>
                            <a:srgbClr val="12263F"/>
                          </a:solidFill>
                          <a:latin typeface="微软雅黑" panose="020B0503020204020204" charset="-122"/>
                          <a:ea typeface="微软雅黑" panose="020B0503020204020204" charset="-122"/>
                        </a:rPr>
                        <a:t>Verification</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26.1</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3</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48.2</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r>
              <a:tr h="212725">
                <a:tc>
                  <a:txBody>
                    <a:bodyPr wrap="square"/>
                    <a:lstStyle/>
                    <a:p>
                      <a:pPr algn="l">
                        <a:lnSpc>
                          <a:spcPct val="122000"/>
                        </a:lnSpc>
                        <a:spcAft>
                          <a:spcPts val="0"/>
                        </a:spcAft>
                      </a:pPr>
                      <a:r>
                        <a:rPr sz="1050" b="1" i="0">
                          <a:solidFill>
                            <a:srgbClr val="12263F"/>
                          </a:solidFill>
                          <a:latin typeface="微软雅黑" panose="020B0503020204020204" charset="-122"/>
                          <a:ea typeface="微软雅黑" panose="020B0503020204020204" charset="-122"/>
                        </a:rPr>
                        <a:t>VGG-16</a:t>
                      </a:r>
                      <a:endParaRPr sz="1050" b="1"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l">
                        <a:lnSpc>
                          <a:spcPct val="122000"/>
                        </a:lnSpc>
                        <a:spcAft>
                          <a:spcPts val="0"/>
                        </a:spcAft>
                      </a:pPr>
                      <a:r>
                        <a:rPr sz="1050" b="0" i="0">
                          <a:solidFill>
                            <a:srgbClr val="12263F"/>
                          </a:solidFill>
                          <a:latin typeface="微软雅黑" panose="020B0503020204020204" charset="-122"/>
                          <a:ea typeface="微软雅黑" panose="020B0503020204020204" charset="-122"/>
                        </a:rPr>
                        <a:t>Execution</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10.2</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207</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39.2</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127</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1341</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FFFFFF"/>
                    </a:solidFill>
                  </a:tcPr>
                </a:tc>
              </a:tr>
              <a:tr h="212725">
                <a:tc>
                  <a:txBody>
                    <a:bodyPr wrap="square"/>
                    <a:lstStyle/>
                    <a:p>
                      <a:pPr algn="l">
                        <a:lnSpc>
                          <a:spcPct val="122000"/>
                        </a:lnSpc>
                        <a:spcAft>
                          <a:spcPts val="0"/>
                        </a:spcAft>
                      </a:pPr>
                      <a:endParaRPr sz="1050" b="1"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l">
                        <a:lnSpc>
                          <a:spcPct val="122000"/>
                        </a:lnSpc>
                        <a:spcAft>
                          <a:spcPts val="0"/>
                        </a:spcAft>
                      </a:pPr>
                      <a:r>
                        <a:rPr sz="1050" b="0" i="0">
                          <a:solidFill>
                            <a:srgbClr val="12263F"/>
                          </a:solidFill>
                          <a:latin typeface="微软雅黑" panose="020B0503020204020204" charset="-122"/>
                          <a:ea typeface="微软雅黑" panose="020B0503020204020204" charset="-122"/>
                        </a:rPr>
                        <a:t>Verification</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414</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6</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c>
                  <a:txBody>
                    <a:bodyPr wrap="square"/>
                    <a:lstStyle/>
                    <a:p>
                      <a:pPr algn="ctr">
                        <a:lnSpc>
                          <a:spcPct val="122000"/>
                        </a:lnSpc>
                        <a:spcAft>
                          <a:spcPts val="0"/>
                        </a:spcAft>
                      </a:pPr>
                      <a:r>
                        <a:rPr sz="1050" b="0" i="0">
                          <a:solidFill>
                            <a:srgbClr val="12263F"/>
                          </a:solidFill>
                          <a:latin typeface="微软雅黑" panose="020B0503020204020204" charset="-122"/>
                          <a:ea typeface="微软雅黑" panose="020B0503020204020204" charset="-122"/>
                        </a:rPr>
                        <a:t>257</a:t>
                      </a:r>
                      <a:endParaRPr sz="1050" b="0" i="0">
                        <a:solidFill>
                          <a:srgbClr val="12263F"/>
                        </a:solidFill>
                        <a:latin typeface="微软雅黑" panose="020B0503020204020204" charset="-122"/>
                        <a:ea typeface="微软雅黑" panose="020B0503020204020204" charset="-122"/>
                      </a:endParaRPr>
                    </a:p>
                  </a:txBody>
                  <a:tcPr marL="36576" marR="36576" marT="9144" marB="9144" anchor="ctr">
                    <a:solidFill>
                      <a:srgbClr val="E9F2FA"/>
                    </a:solidFill>
                  </a:tcPr>
                </a:tc>
              </a:tr>
            </a:tbl>
          </a:graphicData>
        </a:graphic>
      </p:graphicFrame>
      <p:pic>
        <p:nvPicPr>
          <p:cNvPr id="10" name="Picture 6" descr="fig14.png"/>
          <p:cNvPicPr>
            <a:picLocks noChangeAspect="1"/>
          </p:cNvPicPr>
          <p:nvPr/>
        </p:nvPicPr>
        <p:blipFill>
          <a:blip r:embed="rId1"/>
          <a:stretch>
            <a:fillRect/>
          </a:stretch>
        </p:blipFill>
        <p:spPr>
          <a:xfrm>
            <a:off x="2778760" y="3716020"/>
            <a:ext cx="5240655" cy="2510790"/>
          </a:xfrm>
          <a:prstGeom prst="rect">
            <a:avLst/>
          </a:prstGeom>
          <a:ln w="9525">
            <a:solidFill>
              <a:srgbClr val="D5DDE6"/>
            </a:solid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五、结论与</a:t>
            </a:r>
            <a:r>
              <a:rPr lang="zh-CN" altLang="en-US"/>
              <a:t>思考</a:t>
            </a:r>
            <a:endParaRPr lang="zh-CN" altLang="en-US"/>
          </a:p>
        </p:txBody>
      </p:sp>
      <p:sp>
        <p:nvSpPr>
          <p:cNvPr id="3" name="TextBox 2"/>
          <p:cNvSpPr txBox="1"/>
          <p:nvPr/>
        </p:nvSpPr>
        <p:spPr>
          <a:xfrm>
            <a:off x="467360" y="1083945"/>
            <a:ext cx="11384280" cy="374650"/>
          </a:xfrm>
          <a:prstGeom prst="rect">
            <a:avLst/>
          </a:prstGeom>
          <a:noFill/>
        </p:spPr>
        <p:txBody>
          <a:bodyPr wrap="square" lIns="0" tIns="0" rIns="0" bIns="0">
            <a:spAutoFit/>
          </a:bodyPr>
          <a:lstStyle/>
          <a:p>
            <a:pPr>
              <a:lnSpc>
                <a:spcPct val="122000"/>
              </a:lnSpc>
              <a:spcAft>
                <a:spcPts val="0"/>
              </a:spcAft>
            </a:pPr>
            <a:r>
              <a:rPr sz="2000" b="1" i="0">
                <a:solidFill>
                  <a:srgbClr val="C00000"/>
                </a:solidFill>
                <a:latin typeface="微软雅黑" panose="020B0503020204020204" charset="-122"/>
                <a:ea typeface="微软雅黑" panose="020B0503020204020204" charset="-122"/>
              </a:rPr>
              <a:t>结论：通信量对数级的恶意安全 3PC-PPML</a:t>
            </a:r>
            <a:r>
              <a:rPr lang="zh-CN" sz="2000" b="1" i="0">
                <a:solidFill>
                  <a:srgbClr val="C00000"/>
                </a:solidFill>
                <a:latin typeface="微软雅黑" panose="020B0503020204020204" charset="-122"/>
                <a:ea typeface="微软雅黑" panose="020B0503020204020204" charset="-122"/>
              </a:rPr>
              <a:t>中</a:t>
            </a:r>
            <a:r>
              <a:rPr lang="en-US" sz="2000" b="1" i="0">
                <a:solidFill>
                  <a:srgbClr val="C00000"/>
                </a:solidFill>
                <a:latin typeface="微软雅黑" panose="020B0503020204020204" charset="-122"/>
                <a:ea typeface="微软雅黑" panose="020B0503020204020204" charset="-122"/>
              </a:rPr>
              <a:t>“</a:t>
            </a:r>
            <a:r>
              <a:rPr sz="2000" b="1" i="0">
                <a:solidFill>
                  <a:srgbClr val="C00000"/>
                </a:solidFill>
                <a:latin typeface="微软雅黑" panose="020B0503020204020204" charset="-122"/>
                <a:ea typeface="微软雅黑" panose="020B0503020204020204" charset="-122"/>
              </a:rPr>
              <a:t>换代数结构</a:t>
            </a:r>
            <a:r>
              <a:rPr lang="en-US" sz="2000" b="1" i="0">
                <a:solidFill>
                  <a:srgbClr val="C00000"/>
                </a:solidFill>
                <a:latin typeface="微软雅黑" panose="020B0503020204020204" charset="-122"/>
                <a:ea typeface="微软雅黑" panose="020B0503020204020204" charset="-122"/>
              </a:rPr>
              <a:t>”</a:t>
            </a:r>
            <a:r>
              <a:rPr sz="2000" b="1" i="0">
                <a:solidFill>
                  <a:srgbClr val="C00000"/>
                </a:solidFill>
                <a:latin typeface="微软雅黑" panose="020B0503020204020204" charset="-122"/>
                <a:ea typeface="微软雅黑" panose="020B0503020204020204" charset="-122"/>
              </a:rPr>
              <a:t>比</a:t>
            </a:r>
            <a:r>
              <a:rPr lang="en-US" sz="2000" b="1" i="0">
                <a:solidFill>
                  <a:srgbClr val="C00000"/>
                </a:solidFill>
                <a:latin typeface="微软雅黑" panose="020B0503020204020204" charset="-122"/>
                <a:ea typeface="微软雅黑" panose="020B0503020204020204" charset="-122"/>
              </a:rPr>
              <a:t>“</a:t>
            </a:r>
            <a:r>
              <a:rPr sz="2000" b="1" i="0">
                <a:solidFill>
                  <a:srgbClr val="C00000"/>
                </a:solidFill>
                <a:latin typeface="微软雅黑" panose="020B0503020204020204" charset="-122"/>
                <a:ea typeface="微软雅黑" panose="020B0503020204020204" charset="-122"/>
              </a:rPr>
              <a:t>堆工程优化</a:t>
            </a:r>
            <a:r>
              <a:rPr lang="en-US" sz="2000" b="1" i="0">
                <a:solidFill>
                  <a:srgbClr val="C00000"/>
                </a:solidFill>
                <a:latin typeface="微软雅黑" panose="020B0503020204020204" charset="-122"/>
                <a:ea typeface="微软雅黑" panose="020B0503020204020204" charset="-122"/>
              </a:rPr>
              <a:t>”</a:t>
            </a:r>
            <a:r>
              <a:rPr sz="2000" b="1" i="0">
                <a:solidFill>
                  <a:srgbClr val="C00000"/>
                </a:solidFill>
                <a:latin typeface="微软雅黑" panose="020B0503020204020204" charset="-122"/>
                <a:ea typeface="微软雅黑" panose="020B0503020204020204" charset="-122"/>
              </a:rPr>
              <a:t>更能带来数量级提升</a:t>
            </a:r>
            <a:endParaRPr sz="2000" b="1" i="0">
              <a:solidFill>
                <a:srgbClr val="C00000"/>
              </a:solidFill>
              <a:latin typeface="微软雅黑" panose="020B0503020204020204" charset="-122"/>
              <a:ea typeface="微软雅黑" panose="020B0503020204020204" charset="-122"/>
            </a:endParaRPr>
          </a:p>
        </p:txBody>
      </p:sp>
      <p:sp>
        <p:nvSpPr>
          <p:cNvPr id="4" name="Rounded Rectangle 3"/>
          <p:cNvSpPr/>
          <p:nvPr/>
        </p:nvSpPr>
        <p:spPr>
          <a:xfrm>
            <a:off x="411480" y="2300000"/>
            <a:ext cx="3611880" cy="1500000"/>
          </a:xfrm>
          <a:prstGeom prst="roundRect">
            <a:avLst>
              <a:gd name="adj" fmla="val 8000"/>
            </a:avLst>
          </a:prstGeom>
          <a:solidFill>
            <a:srgbClr val="E9F2FA"/>
          </a:solidFill>
          <a:ln w="12700">
            <a:solidFill>
              <a:srgbClr val="1F6FB2"/>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lnSpc>
                <a:spcPct val="120000"/>
              </a:lnSpc>
              <a:spcAft>
                <a:spcPts val="600"/>
              </a:spcAft>
            </a:pPr>
            <a:r>
              <a:rPr sz="1600" b="1">
                <a:solidFill>
                  <a:srgbClr val="1F6FB2"/>
                </a:solidFill>
                <a:latin typeface="微软雅黑" panose="020B0503020204020204" charset="-122"/>
                <a:ea typeface="微软雅黑" panose="020B0503020204020204" charset="-122"/>
                <a:cs typeface="微软雅黑" panose="020B0503020204020204" charset="-122"/>
              </a:rPr>
              <a:t>① 协议</a:t>
            </a:r>
            <a:endParaRPr sz="1600" b="1">
              <a:solidFill>
                <a:srgbClr val="1F6FB2"/>
              </a:solidFill>
              <a:latin typeface="微软雅黑" panose="020B0503020204020204" charset="-122"/>
              <a:ea typeface="微软雅黑" panose="020B0503020204020204" charset="-122"/>
              <a:cs typeface="微软雅黑" panose="020B0503020204020204" charset="-122"/>
            </a:endParaRPr>
          </a:p>
          <a:p>
            <a:pPr algn="l">
              <a:lnSpc>
                <a:spcPct val="120000"/>
              </a:lnSpc>
              <a:spcAft>
                <a:spcPts val="0"/>
              </a:spcAft>
            </a:pPr>
            <a:r>
              <a:rPr sz="1600" b="0">
                <a:solidFill>
                  <a:srgbClr val="12263F"/>
                </a:solidFill>
                <a:latin typeface="微软雅黑" panose="020B0503020204020204" charset="-122"/>
                <a:ea typeface="微软雅黑" panose="020B0503020204020204" charset="-122"/>
                <a:cs typeface="微软雅黑" panose="020B0503020204020204" charset="-122"/>
              </a:rPr>
              <a:t>|G| 个乘法门 → 1 个内积 → 插值降维，验证通信 O(log N)</a:t>
            </a:r>
            <a:endParaRPr sz="1600" b="0">
              <a:solidFill>
                <a:srgbClr val="12263F"/>
              </a:solidFill>
              <a:latin typeface="微软雅黑" panose="020B0503020204020204" charset="-122"/>
              <a:ea typeface="微软雅黑" panose="020B0503020204020204" charset="-122"/>
              <a:cs typeface="微软雅黑" panose="020B0503020204020204" charset="-122"/>
            </a:endParaRPr>
          </a:p>
        </p:txBody>
      </p:sp>
      <p:sp>
        <p:nvSpPr>
          <p:cNvPr id="5" name="Rounded Rectangle 4"/>
          <p:cNvSpPr/>
          <p:nvPr/>
        </p:nvSpPr>
        <p:spPr>
          <a:xfrm>
            <a:off x="4251960" y="2300000"/>
            <a:ext cx="3611880" cy="1500000"/>
          </a:xfrm>
          <a:prstGeom prst="roundRect">
            <a:avLst>
              <a:gd name="adj" fmla="val 8000"/>
            </a:avLst>
          </a:prstGeom>
          <a:solidFill>
            <a:srgbClr val="E3F3EA"/>
          </a:solidFill>
          <a:ln w="12700">
            <a:solidFill>
              <a:srgbClr val="1E7A5A"/>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lnSpc>
                <a:spcPct val="120000"/>
              </a:lnSpc>
              <a:spcAft>
                <a:spcPts val="600"/>
              </a:spcAft>
            </a:pPr>
            <a:r>
              <a:rPr sz="1600" b="1">
                <a:solidFill>
                  <a:srgbClr val="1E7A5A"/>
                </a:solidFill>
                <a:latin typeface="微软雅黑" panose="020B0503020204020204" charset="-122"/>
                <a:ea typeface="微软雅黑" panose="020B0503020204020204" charset="-122"/>
                <a:cs typeface="微软雅黑" panose="020B0503020204020204" charset="-122"/>
              </a:rPr>
              <a:t>② 性能</a:t>
            </a:r>
            <a:endParaRPr sz="1600" b="1">
              <a:solidFill>
                <a:srgbClr val="1E7A5A"/>
              </a:solidFill>
              <a:latin typeface="微软雅黑" panose="020B0503020204020204" charset="-122"/>
              <a:ea typeface="微软雅黑" panose="020B0503020204020204" charset="-122"/>
              <a:cs typeface="微软雅黑" panose="020B0503020204020204" charset="-122"/>
            </a:endParaRPr>
          </a:p>
          <a:p>
            <a:pPr algn="l">
              <a:lnSpc>
                <a:spcPct val="120000"/>
              </a:lnSpc>
              <a:spcAft>
                <a:spcPts val="0"/>
              </a:spcAft>
            </a:pPr>
            <a:r>
              <a:rPr sz="1600" b="0">
                <a:solidFill>
                  <a:srgbClr val="12263F"/>
                </a:solidFill>
                <a:latin typeface="微软雅黑" panose="020B0503020204020204" charset="-122"/>
                <a:ea typeface="微软雅黑" panose="020B0503020204020204" charset="-122"/>
                <a:cs typeface="微软雅黑" panose="020B0503020204020204" charset="-122"/>
              </a:rPr>
              <a:t>vs SWIFT：online −33% / offline −67%；吞吐 ~2×</a:t>
            </a:r>
            <a:endParaRPr sz="1600" b="0">
              <a:solidFill>
                <a:srgbClr val="12263F"/>
              </a:solidFill>
              <a:latin typeface="微软雅黑" panose="020B0503020204020204" charset="-122"/>
              <a:ea typeface="微软雅黑" panose="020B0503020204020204" charset="-122"/>
              <a:cs typeface="微软雅黑" panose="020B0503020204020204" charset="-122"/>
            </a:endParaRPr>
          </a:p>
        </p:txBody>
      </p:sp>
      <p:sp>
        <p:nvSpPr>
          <p:cNvPr id="6" name="Rounded Rectangle 5"/>
          <p:cNvSpPr/>
          <p:nvPr/>
        </p:nvSpPr>
        <p:spPr>
          <a:xfrm>
            <a:off x="8092440" y="2300000"/>
            <a:ext cx="3611880" cy="1500000"/>
          </a:xfrm>
          <a:prstGeom prst="roundRect">
            <a:avLst>
              <a:gd name="adj" fmla="val 8000"/>
            </a:avLst>
          </a:prstGeom>
          <a:solidFill>
            <a:srgbClr val="FDF1E3"/>
          </a:solidFill>
          <a:ln w="12700">
            <a:solidFill>
              <a:srgbClr val="C57418"/>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lnSpc>
                <a:spcPct val="120000"/>
              </a:lnSpc>
              <a:spcAft>
                <a:spcPts val="600"/>
              </a:spcAft>
            </a:pPr>
            <a:r>
              <a:rPr sz="1600" b="1">
                <a:solidFill>
                  <a:srgbClr val="C57418"/>
                </a:solidFill>
                <a:latin typeface="微软雅黑" panose="020B0503020204020204" charset="-122"/>
                <a:ea typeface="微软雅黑" panose="020B0503020204020204" charset="-122"/>
                <a:cs typeface="微软雅黑" panose="020B0503020204020204" charset="-122"/>
              </a:rPr>
              <a:t>③ 框架</a:t>
            </a:r>
            <a:endParaRPr sz="1600" b="1">
              <a:solidFill>
                <a:srgbClr val="C57418"/>
              </a:solidFill>
              <a:latin typeface="微软雅黑" panose="020B0503020204020204" charset="-122"/>
              <a:ea typeface="微软雅黑" panose="020B0503020204020204" charset="-122"/>
              <a:cs typeface="微软雅黑" panose="020B0503020204020204" charset="-122"/>
            </a:endParaRPr>
          </a:p>
          <a:p>
            <a:pPr algn="l">
              <a:lnSpc>
                <a:spcPct val="120000"/>
              </a:lnSpc>
              <a:spcAft>
                <a:spcPts val="0"/>
              </a:spcAft>
            </a:pPr>
            <a:r>
              <a:rPr sz="1600" b="0">
                <a:solidFill>
                  <a:srgbClr val="12263F"/>
                </a:solidFill>
                <a:latin typeface="微软雅黑" panose="020B0503020204020204" charset="-122"/>
                <a:ea typeface="微软雅黑" panose="020B0503020204020204" charset="-122"/>
                <a:cs typeface="微软雅黑" panose="020B0503020204020204" charset="-122"/>
              </a:rPr>
              <a:t>GPU 跑通至 VGG-16、秒级推理，验证开销仅 ≈16%</a:t>
            </a:r>
            <a:endParaRPr sz="1600" b="0">
              <a:solidFill>
                <a:srgbClr val="12263F"/>
              </a:solidFill>
              <a:latin typeface="微软雅黑" panose="020B0503020204020204" charset="-122"/>
              <a:ea typeface="微软雅黑" panose="020B0503020204020204" charset="-122"/>
              <a:cs typeface="微软雅黑" panose="020B0503020204020204" charset="-122"/>
            </a:endParaRPr>
          </a:p>
        </p:txBody>
      </p:sp>
      <p:sp>
        <p:nvSpPr>
          <p:cNvPr id="7" name="Rounded Rectangle 6"/>
          <p:cNvSpPr/>
          <p:nvPr/>
        </p:nvSpPr>
        <p:spPr>
          <a:xfrm>
            <a:off x="411480" y="4300000"/>
            <a:ext cx="11384240" cy="1600000"/>
          </a:xfrm>
          <a:prstGeom prst="roundRect">
            <a:avLst>
              <a:gd name="adj" fmla="val 8000"/>
            </a:avLst>
          </a:prstGeom>
          <a:solidFill>
            <a:srgbClr val="F1EDF9"/>
          </a:solidFill>
          <a:ln w="12700">
            <a:solidFill>
              <a:srgbClr val="6B4FA8"/>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l">
              <a:lnSpc>
                <a:spcPct val="120000"/>
              </a:lnSpc>
              <a:spcAft>
                <a:spcPts val="600"/>
              </a:spcAft>
            </a:pPr>
            <a:r>
              <a:rPr sz="1600" b="1">
                <a:solidFill>
                  <a:srgbClr val="6B4FA8"/>
                </a:solidFill>
                <a:latin typeface="微软雅黑" panose="020B0503020204020204" charset="-122"/>
                <a:ea typeface="微软雅黑" panose="020B0503020204020204" charset="-122"/>
                <a:cs typeface="微软雅黑" panose="020B0503020204020204" charset="-122"/>
              </a:rPr>
              <a:t>思考</a:t>
            </a:r>
            <a:endParaRPr sz="1600" b="1">
              <a:solidFill>
                <a:srgbClr val="6B4FA8"/>
              </a:solidFill>
              <a:latin typeface="微软雅黑" panose="020B0503020204020204" charset="-122"/>
              <a:ea typeface="微软雅黑" panose="020B0503020204020204" charset="-122"/>
              <a:cs typeface="微软雅黑" panose="020B0503020204020204" charset="-122"/>
            </a:endParaRPr>
          </a:p>
          <a:p>
            <a:pPr algn="l">
              <a:lnSpc>
                <a:spcPct val="120000"/>
              </a:lnSpc>
              <a:spcAft>
                <a:spcPts val="400"/>
              </a:spcAft>
            </a:pPr>
            <a:r>
              <a:rPr sz="1600" b="0">
                <a:solidFill>
                  <a:srgbClr val="3F3F5A"/>
                </a:solidFill>
                <a:latin typeface="微软雅黑" panose="020B0503020204020204" charset="-122"/>
                <a:ea typeface="微软雅黑" panose="020B0503020204020204" charset="-122"/>
                <a:cs typeface="微软雅黑" panose="020B0503020204020204" charset="-122"/>
              </a:rPr>
              <a:t>▪ 局限：验证失败即整体中止，无法定位被篡改的乘法门</a:t>
            </a:r>
            <a:endParaRPr sz="1600" b="0">
              <a:solidFill>
                <a:srgbClr val="3F3F5A"/>
              </a:solidFill>
              <a:latin typeface="微软雅黑" panose="020B0503020204020204" charset="-122"/>
              <a:ea typeface="微软雅黑" panose="020B0503020204020204" charset="-122"/>
              <a:cs typeface="微软雅黑" panose="020B0503020204020204" charset="-122"/>
            </a:endParaRPr>
          </a:p>
          <a:p>
            <a:pPr algn="l">
              <a:lnSpc>
                <a:spcPct val="120000"/>
              </a:lnSpc>
              <a:spcAft>
                <a:spcPts val="0"/>
              </a:spcAft>
            </a:pPr>
            <a:r>
              <a:rPr sz="1600" b="0">
                <a:solidFill>
                  <a:srgbClr val="3F3F5A"/>
                </a:solidFill>
                <a:latin typeface="微软雅黑" panose="020B0503020204020204" charset="-122"/>
                <a:ea typeface="微软雅黑" panose="020B0503020204020204" charset="-122"/>
                <a:cs typeface="微软雅黑" panose="020B0503020204020204" charset="-122"/>
              </a:rPr>
              <a:t>▪ 回应：ECHO（2026.02）的</a:t>
            </a:r>
            <a:r>
              <a:rPr lang="en-US" sz="1600" b="0">
                <a:solidFill>
                  <a:srgbClr val="3F3F5A"/>
                </a:solidFill>
                <a:latin typeface="微软雅黑" panose="020B0503020204020204" charset="-122"/>
                <a:ea typeface="微软雅黑" panose="020B0503020204020204" charset="-122"/>
                <a:cs typeface="微软雅黑" panose="020B0503020204020204" charset="-122"/>
              </a:rPr>
              <a:t>“</a:t>
            </a:r>
            <a:r>
              <a:rPr sz="1600" b="0">
                <a:solidFill>
                  <a:srgbClr val="3F3F5A"/>
                </a:solidFill>
                <a:latin typeface="微软雅黑" panose="020B0503020204020204" charset="-122"/>
                <a:ea typeface="微软雅黑" panose="020B0503020204020204" charset="-122"/>
                <a:cs typeface="微软雅黑" panose="020B0503020204020204" charset="-122"/>
              </a:rPr>
              <a:t>隐蔽安全</a:t>
            </a:r>
            <a:r>
              <a:rPr lang="en-US" sz="1600" b="0">
                <a:solidFill>
                  <a:srgbClr val="3F3F5A"/>
                </a:solidFill>
                <a:latin typeface="微软雅黑" panose="020B0503020204020204" charset="-122"/>
                <a:ea typeface="微软雅黑" panose="020B0503020204020204" charset="-122"/>
                <a:cs typeface="微软雅黑" panose="020B0503020204020204" charset="-122"/>
              </a:rPr>
              <a:t>”</a:t>
            </a:r>
            <a:r>
              <a:rPr sz="1600" b="0">
                <a:solidFill>
                  <a:srgbClr val="3F3F5A"/>
                </a:solidFill>
                <a:latin typeface="微软雅黑" panose="020B0503020204020204" charset="-122"/>
                <a:ea typeface="微软雅黑" panose="020B0503020204020204" charset="-122"/>
                <a:cs typeface="微软雅黑" panose="020B0503020204020204" charset="-122"/>
              </a:rPr>
              <a:t>为细粒度定位提供了新思路</a:t>
            </a:r>
            <a:endParaRPr sz="1600" b="0">
              <a:solidFill>
                <a:srgbClr val="3F3F5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18745" y="1868805"/>
            <a:ext cx="11781790" cy="4371340"/>
          </a:xfrm>
        </p:spPr>
        <p:txBody>
          <a:bodyPr>
            <a:normAutofit/>
          </a:bodyPr>
          <a:lstStyle/>
          <a:p>
            <a:pPr algn="l"/>
            <a:br>
              <a:rPr sz="2400">
                <a:solidFill>
                  <a:srgbClr val="12263F"/>
                </a:solidFill>
                <a:latin typeface="Arial" panose="020B0604020202020204"/>
                <a:ea typeface="微软雅黑" panose="020B0503020204020204" charset="-122"/>
                <a:cs typeface="Arial" panose="020B0604020202020204"/>
                <a:sym typeface="+mn-ea"/>
              </a:rPr>
            </a:br>
            <a:endParaRPr sz="2400">
              <a:solidFill>
                <a:srgbClr val="12263F"/>
              </a:solidFill>
              <a:latin typeface="Arial" panose="020B0604020202020204"/>
              <a:ea typeface="微软雅黑" panose="020B0503020204020204" charset="-122"/>
              <a:cs typeface="Arial" panose="020B0604020202020204"/>
              <a:sym typeface="+mn-ea"/>
            </a:endParaRPr>
          </a:p>
        </p:txBody>
      </p:sp>
      <p:sp>
        <p:nvSpPr>
          <p:cNvPr id="3" name="文本框 2"/>
          <p:cNvSpPr txBox="1"/>
          <p:nvPr/>
        </p:nvSpPr>
        <p:spPr>
          <a:xfrm>
            <a:off x="238760" y="2496820"/>
            <a:ext cx="11698605" cy="1897380"/>
          </a:xfrm>
          <a:prstGeom prst="rect">
            <a:avLst/>
          </a:prstGeom>
        </p:spPr>
        <p:txBody>
          <a:bodyPr>
            <a:noAutofit/>
          </a:bodyPr>
          <a:p>
            <a:pPr algn="ctr">
              <a:lnSpc>
                <a:spcPct val="160000"/>
              </a:lnSpc>
            </a:pPr>
            <a:r>
              <a:rPr lang="zh-CN" altLang="en-US" sz="3600" b="1">
                <a:solidFill>
                  <a:schemeClr val="tx1"/>
                </a:solidFill>
                <a:latin typeface="微软雅黑" panose="020B0503020204020204" charset="-122"/>
                <a:ea typeface="微软雅黑" panose="020B0503020204020204" charset="-122"/>
              </a:rPr>
              <a:t>感谢观看 </a:t>
            </a:r>
            <a:endParaRPr lang="zh-CN" altLang="en-US" sz="3600" b="1">
              <a:solidFill>
                <a:schemeClr val="tx1"/>
              </a:solidFill>
              <a:latin typeface="微软雅黑" panose="020B0503020204020204" charset="-122"/>
              <a:ea typeface="微软雅黑" panose="020B0503020204020204" charset="-122"/>
            </a:endParaRPr>
          </a:p>
          <a:p>
            <a:pPr algn="ctr">
              <a:lnSpc>
                <a:spcPct val="160000"/>
              </a:lnSpc>
            </a:pPr>
            <a:r>
              <a:rPr lang="zh-CN" altLang="en-US" sz="3600" b="1">
                <a:solidFill>
                  <a:schemeClr val="tx1"/>
                </a:solidFill>
                <a:latin typeface="微软雅黑" panose="020B0503020204020204" charset="-122"/>
                <a:ea typeface="微软雅黑" panose="020B0503020204020204" charset="-122"/>
              </a:rPr>
              <a:t>敬请各位老师同学批评指正</a:t>
            </a:r>
            <a:endParaRPr lang="zh-CN" altLang="en-US" sz="3600" b="1">
              <a:solidFill>
                <a:schemeClr val="tx1"/>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4*a*1"/>
  <p:tag name="KSO_WM_TEMPLATE_CATEGORY" val="custom"/>
  <p:tag name="KSO_WM_TEMPLATE_INDEX" val="20230311"/>
  <p:tag name="KSO_WM_UNIT_LAYERLEVEL" val="1"/>
  <p:tag name="KSO_WM_TAG_VERSION" val="3.0"/>
  <p:tag name="KSO_WM_BEAUTIFY_FLAG" val="#wm#"/>
  <p:tag name="KSO_WM_DIAGRAM_GROUP_CODE" val="l1-1"/>
  <p:tag name="KSO_WM_UNIT_TEXT_FILL_FORE_SCHEMECOLOR_INDEX" val="5"/>
  <p:tag name="KSO_WM_UNIT_TEXT_FILL_TYPE" val="1"/>
  <p:tag name="KSO_WM_UNIT_USESOURCEFORMAT_APPLY"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311_4*l_h_i*1_1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3.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1_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 name="KSO_WM_UNIT_TEXT_FILL_FORE_SCHEMECOLOR_INDEX" val="5"/>
  <p:tag name="KSO_WM_UNIT_TEXT_FILL_TYPE" val="1"/>
  <p:tag name="KSO_WM_UNIT_USESOURCEFORMAT_APPLY"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311_4*l_h_i*1_2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5.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2_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 name="KSO_WM_UNIT_TEXT_FILL_FORE_SCHEMECOLOR_INDEX" val="5"/>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311_4*l_h_i*1_3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7.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3_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 name="KSO_WM_UNIT_TEXT_FILL_FORE_SCHEMECOLOR_INDEX" val="5"/>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311_4*l_h_i*1_4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9.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4_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 name="KSO_WM_UNIT_TEXT_FILL_FORE_SCHEMECOLOR_INDEX" val="5"/>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311_4*l_h_i*1_4_1"/>
  <p:tag name="KSO_WM_TEMPLATE_CATEGORY" val="custom"/>
  <p:tag name="KSO_WM_TEMPLATE_INDEX" val="20230311"/>
  <p:tag name="KSO_WM_UNIT_LAYERLEVEL" val="1_1_1"/>
  <p:tag name="KSO_WM_TAG_VERSION" val="3.0"/>
  <p:tag name="KSO_WM_DIAGRAM_GROUP_CODE" val="l1-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11.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1"/>
  <p:tag name="KSO_WM_UNIT_LAYERLEVEL" val="1_1_1"/>
  <p:tag name="KSO_WM_TAG_VERSION" val="3.0"/>
  <p:tag name="KSO_WM_DIAGRAM_GROUP_CODE" val="l1-1"/>
  <p:tag name="KSO_WM_UNIT_TYPE" val="l_h_f"/>
  <p:tag name="KSO_WM_UNIT_ID" val="custom20230311_4*l_h_f*1_4_1"/>
  <p:tag name="KSO_WM_DIAGRAM_VERSION" val="3"/>
  <p:tag name="KSO_WM_DIAGRAM_MAX_ITEMCNT" val="6"/>
  <p:tag name="KSO_WM_DIAGRAM_MIN_ITEMCNT" val="2"/>
  <p:tag name="KSO_WM_DIAGRAM_VIRTUALLY_FRAME" val="{&quot;height&quot;:443.0338990555409,&quot;left&quot;:151.58574803149605,&quot;top&quot;:76.55724409448821,&quot;width&quot;:708.7199177755522}"/>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 name="KSO_WM_UNIT_TEXT_FILL_FORE_SCHEMECOLOR_INDEX" val="5"/>
  <p:tag name="KSO_WM_UNIT_TEXT_FILL_TYPE" val="1"/>
  <p:tag name="KSO_WM_UNIT_USESOURCEFORMAT_APPLY" val="1"/>
</p:tagLst>
</file>

<file path=ppt/tags/tag12.xml><?xml version="1.0" encoding="utf-8"?>
<p:tagLst xmlns:p="http://schemas.openxmlformats.org/presentationml/2006/main">
  <p:tag name="KSO_WM_DIAGRAM_VIRTUALLY_FRAME" val="{&quot;height&quot;:223.35,&quot;left&quot;:14.8,&quot;top&quot;:174.75,&quot;width&quot;:886.05}"/>
</p:tagLst>
</file>

<file path=ppt/tags/tag13.xml><?xml version="1.0" encoding="utf-8"?>
<p:tagLst xmlns:p="http://schemas.openxmlformats.org/presentationml/2006/main">
  <p:tag name="KSO_WM_DIAGRAM_VIRTUALLY_FRAME" val="{&quot;height&quot;:223.35,&quot;left&quot;:14.8,&quot;top&quot;:174.75,&quot;width&quot;:886.05}"/>
</p:tagLst>
</file>

<file path=ppt/tags/tag14.xml><?xml version="1.0" encoding="utf-8"?>
<p:tagLst xmlns:p="http://schemas.openxmlformats.org/presentationml/2006/main">
  <p:tag name="KSO_WM_DIAGRAM_VIRTUALLY_FRAME" val="{&quot;height&quot;:223.35,&quot;left&quot;:14.8,&quot;top&quot;:174.75,&quot;width&quot;:886.05}"/>
</p:tagLst>
</file>

<file path=ppt/tags/tag15.xml><?xml version="1.0" encoding="utf-8"?>
<p:tagLst xmlns:p="http://schemas.openxmlformats.org/presentationml/2006/main">
  <p:tag name="KSO_WM_DIAGRAM_VIRTUALLY_FRAME" val="{&quot;height&quot;:223.35,&quot;left&quot;:14.8,&quot;top&quot;:174.75,&quot;width&quot;:886.05}"/>
</p:tagLst>
</file>

<file path=ppt/tags/tag16.xml><?xml version="1.0" encoding="utf-8"?>
<p:tagLst xmlns:p="http://schemas.openxmlformats.org/presentationml/2006/main">
  <p:tag name="KSO_WM_DIAGRAM_VIRTUALLY_FRAME" val="{&quot;height&quot;:341.65,&quot;left&quot;:21.6,&quot;top&quot;:125.05,&quot;width&quot;:882.35}"/>
</p:tagLst>
</file>

<file path=ppt/tags/tag17.xml><?xml version="1.0" encoding="utf-8"?>
<p:tagLst xmlns:p="http://schemas.openxmlformats.org/presentationml/2006/main">
  <p:tag name="KSO_WM_DIAGRAM_VIRTUALLY_FRAME" val="{&quot;height&quot;:341.65,&quot;left&quot;:21.6,&quot;top&quot;:125.05,&quot;width&quot;:882.35}"/>
</p:tagLst>
</file>

<file path=ppt/tags/tag18.xml><?xml version="1.0" encoding="utf-8"?>
<p:tagLst xmlns:p="http://schemas.openxmlformats.org/presentationml/2006/main">
  <p:tag name="KSO_WM_DIAGRAM_VIRTUALLY_FRAME" val="{&quot;height&quot;:341.65,&quot;left&quot;:21.6,&quot;top&quot;:125.05,&quot;width&quot;:882.35}"/>
</p:tagLst>
</file>

<file path=ppt/tags/tag19.xml><?xml version="1.0" encoding="utf-8"?>
<p:tagLst xmlns:p="http://schemas.openxmlformats.org/presentationml/2006/main">
  <p:tag name="KSO_WM_DIAGRAM_VIRTUALLY_FRAME" val="{&quot;height&quot;:341.65,&quot;left&quot;:21.6,&quot;top&quot;:125.05,&quot;width&quot;:882.35}"/>
</p:tagLst>
</file>

<file path=ppt/tags/tag20.xml><?xml version="1.0" encoding="utf-8"?>
<p:tagLst xmlns:p="http://schemas.openxmlformats.org/presentationml/2006/main">
  <p:tag name="KSO_WM_DIAGRAM_VIRTUALLY_FRAME" val="{&quot;height&quot;:341.65,&quot;left&quot;:21.6,&quot;top&quot;:125.05,&quot;width&quot;:882.35}"/>
</p:tagLst>
</file>

<file path=ppt/tags/tag21.xml><?xml version="1.0" encoding="utf-8"?>
<p:tagLst xmlns:p="http://schemas.openxmlformats.org/presentationml/2006/main">
  <p:tag name="KSO_WM_DIAGRAM_VIRTUALLY_FRAME" val="{&quot;height&quot;:341.65,&quot;left&quot;:21.6,&quot;top&quot;:125.05,&quot;width&quot;:882.35}"/>
</p:tagLst>
</file>

<file path=ppt/tags/tag22.xml><?xml version="1.0" encoding="utf-8"?>
<p:tagLst xmlns:p="http://schemas.openxmlformats.org/presentationml/2006/main">
  <p:tag name="KSO_WM_DIAGRAM_VIRTUALLY_FRAME" val="{&quot;height&quot;:198.2,&quot;left&quot;:39.6,&quot;top&quot;:262.99992125984255,&quot;width&quot;:540.7199212598425}"/>
</p:tagLst>
</file>

<file path=ppt/tags/tag23.xml><?xml version="1.0" encoding="utf-8"?>
<p:tagLst xmlns:p="http://schemas.openxmlformats.org/presentationml/2006/main">
  <p:tag name="KSO_WM_DIAGRAM_VIRTUALLY_FRAME" val="{&quot;height&quot;:198.2,&quot;left&quot;:39.6,&quot;top&quot;:262.99992125984255,&quot;width&quot;:540.7199212598425}"/>
</p:tagLst>
</file>

<file path=ppt/tags/tag24.xml><?xml version="1.0" encoding="utf-8"?>
<p:tagLst xmlns:p="http://schemas.openxmlformats.org/presentationml/2006/main">
  <p:tag name="KSO_WM_DIAGRAM_VIRTUALLY_FRAME" val="{&quot;height&quot;:198.2,&quot;left&quot;:39.6,&quot;top&quot;:262.99992125984255,&quot;width&quot;:540.7199212598425}"/>
</p:tagLst>
</file>

<file path=ppt/tags/tag25.xml><?xml version="1.0" encoding="utf-8"?>
<p:tagLst xmlns:p="http://schemas.openxmlformats.org/presentationml/2006/main">
  <p:tag name="KSO_WM_DIAGRAM_VIRTUALLY_FRAME" val="{&quot;height&quot;:198.2,&quot;left&quot;:39.6,&quot;top&quot;:262.99992125984255,&quot;width&quot;:540.7199212598425}"/>
</p:tagLst>
</file>

<file path=ppt/tags/tag26.xml><?xml version="1.0" encoding="utf-8"?>
<p:tagLst xmlns:p="http://schemas.openxmlformats.org/presentationml/2006/main">
  <p:tag name="KSO_WM_DIAGRAM_VIRTUALLY_FRAME" val="{&quot;height&quot;:198.2,&quot;left&quot;:39.6,&quot;top&quot;:262.99992125984255,&quot;width&quot;:540.7199212598425}"/>
</p:tagLst>
</file>

<file path=ppt/tags/tag27.xml><?xml version="1.0" encoding="utf-8"?>
<p:tagLst xmlns:p="http://schemas.openxmlformats.org/presentationml/2006/main">
  <p:tag name="KSO_WM_DIAGRAM_VIRTUALLY_FRAME" val="{&quot;height&quot;:198.2,&quot;left&quot;:39.6,&quot;top&quot;:262.99992125984255,&quot;width&quot;:540.7199212598425}"/>
</p:tagLst>
</file>

<file path=ppt/tags/tag28.xml><?xml version="1.0" encoding="utf-8"?>
<p:tagLst xmlns:p="http://schemas.openxmlformats.org/presentationml/2006/main">
  <p:tag name="KSO_WM_DIAGRAM_VIRTUALLY_FRAME" val="{&quot;height&quot;:198.2,&quot;left&quot;:39.6,&quot;top&quot;:262.99992125984255,&quot;width&quot;:540.7199212598425}"/>
</p:tagLst>
</file>

<file path=ppt/tags/tag29.xml><?xml version="1.0" encoding="utf-8"?>
<p:tagLst xmlns:p="http://schemas.openxmlformats.org/presentationml/2006/main">
  <p:tag name="KSO_WM_DIAGRAM_VIRTUALLY_FRAME" val="{&quot;height&quot;:198.2,&quot;left&quot;:39.6,&quot;top&quot;:262.99992125984255,&quot;width&quot;:882.72}"/>
</p:tagLst>
</file>

<file path=ppt/tags/tag30.xml><?xml version="1.0" encoding="utf-8"?>
<p:tagLst xmlns:p="http://schemas.openxmlformats.org/presentationml/2006/main">
  <p:tag name="KSO_WM_DIAGRAM_VIRTUALLY_FRAME" val="{&quot;height&quot;:198.2,&quot;left&quot;:39.6,&quot;top&quot;:262.99992125984255,&quot;width&quot;:882.72}"/>
</p:tagLst>
</file>

<file path=ppt/tags/tag31.xml><?xml version="1.0" encoding="utf-8"?>
<p:tagLst xmlns:p="http://schemas.openxmlformats.org/presentationml/2006/main">
  <p:tag name="KSO_WM_DIAGRAM_VIRTUALLY_FRAME" val="{&quot;height&quot;:198.2,&quot;left&quot;:39.6,&quot;top&quot;:262.99992125984255,&quot;width&quot;:882.72}"/>
</p:tagLst>
</file>

<file path=ppt/tags/tag32.xml><?xml version="1.0" encoding="utf-8"?>
<p:tagLst xmlns:p="http://schemas.openxmlformats.org/presentationml/2006/main">
  <p:tag name="KSO_WM_DIAGRAM_VIRTUALLY_FRAME" val="{&quot;height&quot;:198.2,&quot;left&quot;:39.6,&quot;top&quot;:262.99992125984255,&quot;width&quot;:882.72}"/>
</p:tagLst>
</file>

<file path=ppt/tags/tag33.xml><?xml version="1.0" encoding="utf-8"?>
<p:tagLst xmlns:p="http://schemas.openxmlformats.org/presentationml/2006/main">
  <p:tag name="KSO_WM_DIAGRAM_VIRTUALLY_FRAME" val="{&quot;height&quot;:273.2283464566929,&quot;left&quot;:39.6,&quot;top&quot;:207.08661417322827,&quot;width&quot;:882}"/>
</p:tagLst>
</file>

<file path=ppt/tags/tag34.xml><?xml version="1.0" encoding="utf-8"?>
<p:tagLst xmlns:p="http://schemas.openxmlformats.org/presentationml/2006/main">
  <p:tag name="KSO_WM_DIAGRAM_VIRTUALLY_FRAME" val="{&quot;height&quot;:273.2283464566929,&quot;left&quot;:39.6,&quot;top&quot;:207.08661417322827,&quot;width&quot;:882}"/>
</p:tagLst>
</file>

<file path=ppt/tags/tag35.xml><?xml version="1.0" encoding="utf-8"?>
<p:tagLst xmlns:p="http://schemas.openxmlformats.org/presentationml/2006/main">
  <p:tag name="KSO_WM_DIAGRAM_VIRTUALLY_FRAME" val="{&quot;height&quot;:273.2283464566929,&quot;left&quot;:39.6,&quot;top&quot;:207.08661417322827,&quot;width&quot;:882}"/>
</p:tagLst>
</file>

<file path=ppt/tags/tag36.xml><?xml version="1.0" encoding="utf-8"?>
<p:tagLst xmlns:p="http://schemas.openxmlformats.org/presentationml/2006/main">
  <p:tag name="KSO_WM_DIAGRAM_VIRTUALLY_FRAME" val="{&quot;height&quot;:273.2283464566929,&quot;left&quot;:39.6,&quot;top&quot;:207.08661417322827,&quot;width&quot;:882}"/>
</p:tagLst>
</file>

<file path=ppt/tags/tag37.xml><?xml version="1.0" encoding="utf-8"?>
<p:tagLst xmlns:p="http://schemas.openxmlformats.org/presentationml/2006/main">
  <p:tag name="KSO_WM_DIAGRAM_VIRTUALLY_FRAME" val="{&quot;height&quot;:273.2283464566929,&quot;left&quot;:39.6,&quot;top&quot;:207.08661417322827,&quot;width&quot;:882}"/>
</p:tagLst>
</file>

<file path=ppt/tags/tag38.xml><?xml version="1.0" encoding="utf-8"?>
<p:tagLst xmlns:p="http://schemas.openxmlformats.org/presentationml/2006/main">
  <p:tag name="KSO_WM_DIAGRAM_VIRTUALLY_FRAME" val="{&quot;height&quot;:273.2283464566929,&quot;left&quot;:39.6,&quot;top&quot;:207.08661417322827,&quot;width&quot;:882}"/>
</p:tagLst>
</file>

<file path=ppt/tags/tag39.xml><?xml version="1.0" encoding="utf-8"?>
<p:tagLst xmlns:p="http://schemas.openxmlformats.org/presentationml/2006/main">
  <p:tag name="KSO_WM_DIAGRAM_VIRTUALLY_FRAME" val="{&quot;height&quot;:273.2283464566929,&quot;left&quot;:39.6,&quot;top&quot;:207.08661417322827,&quot;width&quot;:882}"/>
</p:tagLst>
</file>

<file path=ppt/tags/tag40.xml><?xml version="1.0" encoding="utf-8"?>
<p:tagLst xmlns:p="http://schemas.openxmlformats.org/presentationml/2006/main">
  <p:tag name="KSO_WM_DIAGRAM_VIRTUALLY_FRAME" val="{&quot;height&quot;:273.2283464566929,&quot;left&quot;:39.6,&quot;top&quot;:207.08661417322827,&quot;width&quot;:882}"/>
</p:tagLst>
</file>

<file path=ppt/tags/tag41.xml><?xml version="1.0" encoding="utf-8"?>
<p:tagLst xmlns:p="http://schemas.openxmlformats.org/presentationml/2006/main">
  <p:tag name="KSO_WM_DIAGRAM_VIRTUALLY_FRAME" val="{&quot;height&quot;:273.2283464566929,&quot;left&quot;:39.6,&quot;top&quot;:207.08661417322827,&quot;width&quot;:882}"/>
</p:tagLst>
</file>

<file path=ppt/tags/tag42.xml><?xml version="1.0" encoding="utf-8"?>
<p:tagLst xmlns:p="http://schemas.openxmlformats.org/presentationml/2006/main">
  <p:tag name="KSO_WM_DIAGRAM_VIRTUALLY_FRAME" val="{&quot;height&quot;:273.2283464566929,&quot;left&quot;:39.6,&quot;top&quot;:207.08661417322827,&quot;width&quot;:882}"/>
</p:tagLst>
</file>

<file path=ppt/tags/tag43.xml><?xml version="1.0" encoding="utf-8"?>
<p:tagLst xmlns:p="http://schemas.openxmlformats.org/presentationml/2006/main">
  <p:tag name="KSO_WM_DIAGRAM_VIRTUALLY_FRAME" val="{&quot;height&quot;:273.2283464566929,&quot;left&quot;:39.6,&quot;top&quot;:207.08661417322827,&quot;width&quot;:882}"/>
</p:tagLst>
</file>

<file path=ppt/tags/tag44.xml><?xml version="1.0" encoding="utf-8"?>
<p:tagLst xmlns:p="http://schemas.openxmlformats.org/presentationml/2006/main">
  <p:tag name="KSO_WM_DIAGRAM_VIRTUALLY_FRAME" val="{&quot;height&quot;:273.2283464566929,&quot;left&quot;:39.6,&quot;top&quot;:207.08661417322827,&quot;width&quot;:882}"/>
</p:tagLst>
</file>

<file path=ppt/tags/tag45.xml><?xml version="1.0" encoding="utf-8"?>
<p:tagLst xmlns:p="http://schemas.openxmlformats.org/presentationml/2006/main">
  <p:tag name="KSO_WM_DIAGRAM_VIRTUALLY_FRAME" val="{&quot;height&quot;:273.2283464566929,&quot;left&quot;:39.6,&quot;top&quot;:207.08661417322827,&quot;width&quot;:882}"/>
</p:tagLst>
</file>

<file path=ppt/tags/tag46.xml><?xml version="1.0" encoding="utf-8"?>
<p:tagLst xmlns:p="http://schemas.openxmlformats.org/presentationml/2006/main">
  <p:tag name="KSO_WM_DIAGRAM_VIRTUALLY_FRAME" val="{&quot;height&quot;:273.2283464566929,&quot;left&quot;:39.6,&quot;top&quot;:207.08661417322827,&quot;width&quot;:882}"/>
</p:tagLst>
</file>

<file path=ppt/tags/tag47.xml><?xml version="1.0" encoding="utf-8"?>
<p:tagLst xmlns:p="http://schemas.openxmlformats.org/presentationml/2006/main">
  <p:tag name="KSO_WM_DIAGRAM_VIRTUALLY_FRAME" val="{&quot;height&quot;:341.65,&quot;left&quot;:21.6,&quot;top&quot;:125.05,&quot;width&quot;:867.6}"/>
</p:tagLst>
</file>

<file path=ppt/tags/tag48.xml><?xml version="1.0" encoding="utf-8"?>
<p:tagLst xmlns:p="http://schemas.openxmlformats.org/presentationml/2006/main">
  <p:tag name="KSO_WM_DIAGRAM_VIRTUALLY_FRAME" val="{&quot;height&quot;:341.65,&quot;left&quot;:21.6,&quot;top&quot;:125.05,&quot;width&quot;:867.6}"/>
</p:tagLst>
</file>

<file path=ppt/tags/tag49.xml><?xml version="1.0" encoding="utf-8"?>
<p:tagLst xmlns:p="http://schemas.openxmlformats.org/presentationml/2006/main">
  <p:tag name="KSO_WM_DIAGRAM_VIRTUALLY_FRAME" val="{&quot;height&quot;:341.65,&quot;left&quot;:21.6,&quot;top&quot;:125.05,&quot;width&quot;:867.6}"/>
</p:tagLst>
</file>

<file path=ppt/tags/tag50.xml><?xml version="1.0" encoding="utf-8"?>
<p:tagLst xmlns:p="http://schemas.openxmlformats.org/presentationml/2006/main">
  <p:tag name="KSO_WM_DIAGRAM_VIRTUALLY_FRAME" val="{&quot;height&quot;:341.65,&quot;left&quot;:21.6,&quot;top&quot;:125.05,&quot;width&quot;:867.6}"/>
</p:tagLst>
</file>

<file path=ppt/tags/tag51.xml><?xml version="1.0" encoding="utf-8"?>
<p:tagLst xmlns:p="http://schemas.openxmlformats.org/presentationml/2006/main">
  <p:tag name="KSO_WM_DIAGRAM_VIRTUALLY_FRAME" val="{&quot;height&quot;:341.65,&quot;left&quot;:21.6,&quot;top&quot;:125.05,&quot;width&quot;:867.6}"/>
</p:tagLst>
</file>

<file path=ppt/tags/tag52.xml><?xml version="1.0" encoding="utf-8"?>
<p:tagLst xmlns:p="http://schemas.openxmlformats.org/presentationml/2006/main">
  <p:tag name="KSO_WM_DIAGRAM_VIRTUALLY_FRAME" val="{&quot;height&quot;:341.65,&quot;left&quot;:21.6,&quot;top&quot;:125.05,&quot;width&quot;:867.6}"/>
</p:tagLst>
</file>

<file path=ppt/tags/tag53.xml><?xml version="1.0" encoding="utf-8"?>
<p:tagLst xmlns:p="http://schemas.openxmlformats.org/presentationml/2006/main">
  <p:tag name="KSO_WM_DIAGRAM_VIRTUALLY_FRAME" val="{&quot;height&quot;:341.65,&quot;left&quot;:21.6,&quot;top&quot;:125.05,&quot;width&quot;:867.6}"/>
</p:tagLst>
</file>

<file path=ppt/tags/tag54.xml><?xml version="1.0" encoding="utf-8"?>
<p:tagLst xmlns:p="http://schemas.openxmlformats.org/presentationml/2006/main">
  <p:tag name="KSO_WM_DIAGRAM_VIRTUALLY_FRAME" val="{&quot;height&quot;:341.65,&quot;left&quot;:21.6,&quot;top&quot;:125.05,&quot;width&quot;:867.6}"/>
</p:tagLst>
</file>

<file path=ppt/tags/tag55.xml><?xml version="1.0" encoding="utf-8"?>
<p:tagLst xmlns:p="http://schemas.openxmlformats.org/presentationml/2006/main">
  <p:tag name="KSO_WM_DIAGRAM_VIRTUALLY_FRAME" val="{&quot;height&quot;:288.25,&quot;left&quot;:245.25,&quot;top&quot;:115.95,&quot;width&quot;:463.7}"/>
</p:tagLst>
</file>

<file path=ppt/tags/tag56.xml><?xml version="1.0" encoding="utf-8"?>
<p:tagLst xmlns:p="http://schemas.openxmlformats.org/presentationml/2006/main">
  <p:tag name="KSO_WM_DIAGRAM_VIRTUALLY_FRAME" val="{&quot;height&quot;:288.25,&quot;left&quot;:245.25,&quot;top&quot;:115.95,&quot;width&quot;:463.7}"/>
</p:tagLst>
</file>

<file path=ppt/tags/tag57.xml><?xml version="1.0" encoding="utf-8"?>
<p:tagLst xmlns:p="http://schemas.openxmlformats.org/presentationml/2006/main">
  <p:tag name="KSO_WM_DIAGRAM_VIRTUALLY_FRAME" val="{&quot;height&quot;:288.25,&quot;left&quot;:245.25,&quot;top&quot;:115.95,&quot;width&quot;:463.7}"/>
</p:tagLst>
</file>

<file path=ppt/tags/tag58.xml><?xml version="1.0" encoding="utf-8"?>
<p:tagLst xmlns:p="http://schemas.openxmlformats.org/presentationml/2006/main">
  <p:tag name="KSO_WM_DIAGRAM_VIRTUALLY_FRAME" val="{&quot;height&quot;:288.25,&quot;left&quot;:245.25,&quot;top&quot;:115.95,&quot;width&quot;:463.7}"/>
</p:tagLst>
</file>

<file path=ppt/tags/tag59.xml><?xml version="1.0" encoding="utf-8"?>
<p:tagLst xmlns:p="http://schemas.openxmlformats.org/presentationml/2006/main">
  <p:tag name="KSO_WM_DIAGRAM_VIRTUALLY_FRAME" val="{&quot;height&quot;:288.25,&quot;left&quot;:245.25,&quot;top&quot;:115.95,&quot;width&quot;:463.7}"/>
</p:tagLst>
</file>

<file path=ppt/tags/tag60.xml><?xml version="1.0" encoding="utf-8"?>
<p:tagLst xmlns:p="http://schemas.openxmlformats.org/presentationml/2006/main">
  <p:tag name="KSO_WM_DIAGRAM_VIRTUALLY_FRAME" val="{&quot;height&quot;:288.25,&quot;left&quot;:245.25,&quot;top&quot;:115.95,&quot;width&quot;:463.7}"/>
</p:tagLst>
</file>

<file path=ppt/tags/tag61.xml><?xml version="1.0" encoding="utf-8"?>
<p:tagLst xmlns:p="http://schemas.openxmlformats.org/presentationml/2006/main">
  <p:tag name="KSO_WM_DIAGRAM_VIRTUALLY_FRAME" val="{&quot;height&quot;:288.25,&quot;left&quot;:245.25,&quot;top&quot;:115.95,&quot;width&quot;:463.7}"/>
</p:tagLst>
</file>

<file path=ppt/tags/tag62.xml><?xml version="1.0" encoding="utf-8"?>
<p:tagLst xmlns:p="http://schemas.openxmlformats.org/presentationml/2006/main">
  <p:tag name="KSO_WM_DIAGRAM_VIRTUALLY_FRAME" val="{&quot;height&quot;:288.25,&quot;left&quot;:245.25,&quot;top&quot;:115.95,&quot;width&quot;:463.7}"/>
</p:tagLst>
</file>

<file path=ppt/tags/tag63.xml><?xml version="1.0" encoding="utf-8"?>
<p:tagLst xmlns:p="http://schemas.openxmlformats.org/presentationml/2006/main">
  <p:tag name="KSO_WM_DIAGRAM_VIRTUALLY_FRAME" val="{&quot;height&quot;:288.25,&quot;left&quot;:245.25,&quot;top&quot;:115.95,&quot;width&quot;:463.7}"/>
</p:tagLst>
</file>

<file path=ppt/tags/tag64.xml><?xml version="1.0" encoding="utf-8"?>
<p:tagLst xmlns:p="http://schemas.openxmlformats.org/presentationml/2006/main">
  <p:tag name="KSO_WM_DIAGRAM_VIRTUALLY_FRAME" val="{&quot;height&quot;:288.25,&quot;left&quot;:245.25,&quot;top&quot;:115.95,&quot;width&quot;:463.7}"/>
</p:tagLst>
</file>

<file path=ppt/tags/tag65.xml><?xml version="1.0" encoding="utf-8"?>
<p:tagLst xmlns:p="http://schemas.openxmlformats.org/presentationml/2006/main">
  <p:tag name="KSO_WM_DIAGRAM_VIRTUALLY_FRAME" val="{&quot;height&quot;:288.25,&quot;left&quot;:245.25,&quot;top&quot;:115.95,&quot;width&quot;:463.7}"/>
</p:tagLst>
</file>

<file path=ppt/tags/tag66.xml><?xml version="1.0" encoding="utf-8"?>
<p:tagLst xmlns:p="http://schemas.openxmlformats.org/presentationml/2006/main">
  <p:tag name="KSO_WM_DIAGRAM_VIRTUALLY_FRAME" val="{&quot;height&quot;:288.25,&quot;left&quot;:245.25,&quot;top&quot;:115.95,&quot;width&quot;:463.7}"/>
</p:tagLst>
</file>

<file path=ppt/tags/tag67.xml><?xml version="1.0" encoding="utf-8"?>
<p:tagLst xmlns:p="http://schemas.openxmlformats.org/presentationml/2006/main">
  <p:tag name="KSO_WM_DIAGRAM_VIRTUALLY_FRAME" val="{&quot;height&quot;:341.65,&quot;left&quot;:21.6,&quot;top&quot;:125.05,&quot;width&quot;:867.6}"/>
</p:tagLst>
</file>

<file path=ppt/tags/tag68.xml><?xml version="1.0" encoding="utf-8"?>
<p:tagLst xmlns:p="http://schemas.openxmlformats.org/presentationml/2006/main">
  <p:tag name="KSO_WM_DIAGRAM_VIRTUALLY_FRAME" val="{&quot;height&quot;:341.65,&quot;left&quot;:21.6,&quot;top&quot;:125.05,&quot;width&quot;:867.6}"/>
</p:tagLst>
</file>

<file path=ppt/tags/tag69.xml><?xml version="1.0" encoding="utf-8"?>
<p:tagLst xmlns:p="http://schemas.openxmlformats.org/presentationml/2006/main">
  <p:tag name="KSO_WM_DIAGRAM_VIRTUALLY_FRAME" val="{&quot;height&quot;:341.65,&quot;left&quot;:21.6,&quot;top&quot;:125.05,&quot;width&quot;:867.6}"/>
</p:tagLst>
</file>

<file path=ppt/tags/tag70.xml><?xml version="1.0" encoding="utf-8"?>
<p:tagLst xmlns:p="http://schemas.openxmlformats.org/presentationml/2006/main">
  <p:tag name="KSO_WM_DIAGRAM_VIRTUALLY_FRAME" val="{&quot;height&quot;:341.65,&quot;left&quot;:21.6,&quot;top&quot;:125.05,&quot;width&quot;:867.6}"/>
</p:tagLst>
</file>

<file path=ppt/tags/tag71.xml><?xml version="1.0" encoding="utf-8"?>
<p:tagLst xmlns:p="http://schemas.openxmlformats.org/presentationml/2006/main">
  <p:tag name="KSO_WM_DIAGRAM_VIRTUALLY_FRAME" val="{&quot;height&quot;:341.65,&quot;left&quot;:21.6,&quot;top&quot;:125.05,&quot;width&quot;:867.6}"/>
</p:tagLst>
</file>

<file path=ppt/tags/tag72.xml><?xml version="1.0" encoding="utf-8"?>
<p:tagLst xmlns:p="http://schemas.openxmlformats.org/presentationml/2006/main">
  <p:tag name="KSO_WM_DIAGRAM_VIRTUALLY_FRAME" val="{&quot;height&quot;:341.65,&quot;left&quot;:21.6,&quot;top&quot;:125.05,&quot;width&quot;:867.6}"/>
</p:tagLst>
</file>

<file path=ppt/tags/tag73.xml><?xml version="1.0" encoding="utf-8"?>
<p:tagLst xmlns:p="http://schemas.openxmlformats.org/presentationml/2006/main">
  <p:tag name="KSO_WM_DIAGRAM_VIRTUALLY_FRAME" val="{&quot;height&quot;:341.65,&quot;left&quot;:21.6,&quot;top&quot;:125.05,&quot;width&quot;:867.6}"/>
</p:tagLst>
</file>

<file path=ppt/tags/tag74.xml><?xml version="1.0" encoding="utf-8"?>
<p:tagLst xmlns:p="http://schemas.openxmlformats.org/presentationml/2006/main">
  <p:tag name="KSO_WM_DIAGRAM_VIRTUALLY_FRAME" val="{&quot;height&quot;:341.65,&quot;left&quot;:21.6,&quot;top&quot;:125.05,&quot;width&quot;:867.6}"/>
</p:tagLst>
</file>

<file path=ppt/tags/tag75.xml><?xml version="1.0" encoding="utf-8"?>
<p:tagLst xmlns:p="http://schemas.openxmlformats.org/presentationml/2006/main">
  <p:tag name="COMMONDATA" val="eyJoZGlkIjoiNGRhNzU3OThjZWJmYjU3MTcxZjg3OWVmYzM2NWE0ZTcifQ=="/>
  <p:tag name="KSO_WPP_MARK_KEY" val="1d08dc92-6603-49b8-9e58-f3a8ac6d02f1"/>
  <p:tag name="commondata" val="eyJoZGlkIjoiMGIyM2NkMDA4YjY3ZTUwZWNkY2RiNGE2YmI5MzcxNmYifQ=="/>
  <p:tag name="resource_record_key" val="{&quot;29&quot;:[5000015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3570</Words>
  <Application>WPS 演示</Application>
  <PresentationFormat>宽屏</PresentationFormat>
  <Paragraphs>506</Paragraphs>
  <Slides>16</Slides>
  <Notes>12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宋体</vt:lpstr>
      <vt:lpstr>Wingdings</vt:lpstr>
      <vt:lpstr>楷体</vt:lpstr>
      <vt:lpstr>微软雅黑</vt:lpstr>
      <vt:lpstr>Arial</vt:lpstr>
      <vt:lpstr>MiSans</vt:lpstr>
      <vt:lpstr>Cambria Math</vt:lpstr>
      <vt:lpstr>KaTeX_Main</vt:lpstr>
      <vt:lpstr>Segoe Print</vt:lpstr>
      <vt:lpstr>Arial Unicode MS</vt:lpstr>
      <vt:lpstr>等线 Light</vt:lpstr>
      <vt:lpstr>等线</vt:lpstr>
      <vt:lpstr>Calibri</vt:lpstr>
      <vt:lpstr>Office 主题​​</vt:lpstr>
      <vt:lpstr> </vt:lpstr>
      <vt:lpstr>PowerPoint 演示文稿</vt:lpstr>
      <vt:lpstr>一、研究背景</vt:lpstr>
      <vt:lpstr>一、研究背景</vt:lpstr>
      <vt:lpstr>二、研究内容</vt:lpstr>
      <vt:lpstr>三、关键技术</vt:lpstr>
      <vt:lpstr>三、关键技术</vt:lpstr>
      <vt:lpstr>三、关键技术</vt:lpstr>
      <vt:lpstr>三、关键技术</vt:lpstr>
      <vt:lpstr>三、关键技术</vt:lpstr>
      <vt:lpstr>三、关键技术</vt:lpstr>
      <vt:lpstr>四、实验评估</vt:lpstr>
      <vt:lpstr>四、实验评估</vt:lpstr>
      <vt:lpstr>四、实验评估</vt:lpstr>
      <vt:lpstr>五、结论与思考</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952035620@qq.com</dc:creator>
  <cp:lastModifiedBy>liberty</cp:lastModifiedBy>
  <cp:revision>200</cp:revision>
  <dcterms:created xsi:type="dcterms:W3CDTF">2022-09-05T13:04:00Z</dcterms:created>
  <dcterms:modified xsi:type="dcterms:W3CDTF">2026-10-12T11:45:08Z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2ACFC45C95754C14BB48D299D7C6605F_13</vt:lpwstr>
  </property>
  <property fmtid="{D5CDD505-2E9C-101B-9397-08002B2CF9AE}" pid="3" name="KSOProductBuildVer">
    <vt:lpwstr>2052-12.1.0.23125</vt:lpwstr>
  </property>
</Properties>
</file>