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33"/>
  </p:handoutMasterIdLst>
  <p:sldIdLst>
    <p:sldId id="295" r:id="rId3"/>
    <p:sldId id="541" r:id="rId5"/>
    <p:sldId id="591" r:id="rId6"/>
    <p:sldId id="632" r:id="rId7"/>
    <p:sldId id="646" r:id="rId8"/>
    <p:sldId id="640" r:id="rId9"/>
    <p:sldId id="633" r:id="rId10"/>
    <p:sldId id="648" r:id="rId11"/>
    <p:sldId id="572" r:id="rId12"/>
    <p:sldId id="653" r:id="rId13"/>
    <p:sldId id="654" r:id="rId14"/>
    <p:sldId id="650" r:id="rId15"/>
    <p:sldId id="620" r:id="rId16"/>
    <p:sldId id="621" r:id="rId17"/>
    <p:sldId id="622" r:id="rId18"/>
    <p:sldId id="623" r:id="rId19"/>
    <p:sldId id="624" r:id="rId20"/>
    <p:sldId id="625" r:id="rId21"/>
    <p:sldId id="627" r:id="rId22"/>
    <p:sldId id="575" r:id="rId23"/>
    <p:sldId id="614" r:id="rId24"/>
    <p:sldId id="629" r:id="rId25"/>
    <p:sldId id="635" r:id="rId26"/>
    <p:sldId id="576" r:id="rId27"/>
    <p:sldId id="580" r:id="rId28"/>
    <p:sldId id="630" r:id="rId29"/>
    <p:sldId id="577" r:id="rId30"/>
    <p:sldId id="586" r:id="rId31"/>
    <p:sldId id="264" r:id="rId32"/>
  </p:sldIdLst>
  <p:sldSz cx="12192000" cy="6858000"/>
  <p:notesSz cx="6858000" cy="9144000"/>
  <p:custDataLst>
    <p:tags r:id="rId3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60874"/>
    <a:srgbClr val="BFBFBF"/>
    <a:srgbClr val="E3E3C2"/>
    <a:srgbClr val="58E2E2"/>
    <a:srgbClr val="E3D4D3"/>
    <a:srgbClr val="4472C4"/>
    <a:srgbClr val="F0FDD7"/>
    <a:srgbClr val="FFFFFF"/>
    <a:srgbClr val="AC75D5"/>
    <a:srgbClr val="FFF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54" autoAdjust="0"/>
    <p:restoredTop sz="85533" autoAdjust="0"/>
  </p:normalViewPr>
  <p:slideViewPr>
    <p:cSldViewPr snapToGrid="0" snapToObjects="1">
      <p:cViewPr varScale="1">
        <p:scale>
          <a:sx n="111" d="100"/>
          <a:sy n="111" d="100"/>
        </p:scale>
        <p:origin x="256" y="192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0" d="100"/>
          <a:sy n="80" d="100"/>
        </p:scale>
        <p:origin x="2727" y="3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tags" Target="tags/tag55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D7688E-84FE-44D4-9631-ACB3A08AAEE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662BBD-118F-494D-9EAD-65DAD706A74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51940-DB52-3B48-AABB-9C7938529E4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8717E-F74C-4246-A795-6577BEDC838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简单介绍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尽量不提到微架构，更通俗的解释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尽量不提到微架构，更通俗的解释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尽量不提到微架构，更通俗的解释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尽量不提到微架构，更通俗的解释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尽量不提到微架构，更通俗的解释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尽量不提到微架构，更通俗的解释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尽量不提到微架构，更通俗的解释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尽量不提到微架构，更通俗的解释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尽量不提到微架构，更通俗的解释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尽量不提到微架构，更通俗的解释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尽量不提到微架构，更通俗的解释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尽量不提到微架构，更通俗的解释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尽量不提到微架构，更通俗的解释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尽量不提到微架构，更通俗的解释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尽量不提到微架构，更通俗的解释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尽量不提到微架构，更通俗的解释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尽量不提到微架构，更通俗的解释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尽量不提到微架构，更通俗的解释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尽量不提到微架构，更通俗的解释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尽量不提到微架构，更通俗的解释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尽量不提到微架构，更通俗的解释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尽量不提到微架构，更通俗的解释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599226" y="1732459"/>
            <a:ext cx="10993549" cy="1907212"/>
            <a:chOff x="599225" y="1732459"/>
            <a:chExt cx="10993549" cy="1907212"/>
          </a:xfrm>
        </p:grpSpPr>
        <p:sp>
          <p:nvSpPr>
            <p:cNvPr id="22" name="矩形 21"/>
            <p:cNvSpPr/>
            <p:nvPr userDrawn="1"/>
          </p:nvSpPr>
          <p:spPr>
            <a:xfrm>
              <a:off x="599225" y="1736370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599225" y="1732459"/>
              <a:ext cx="489346" cy="792000"/>
            </a:xfrm>
            <a:prstGeom prst="rect">
              <a:avLst/>
            </a:prstGeom>
            <a:solidFill>
              <a:srgbClr val="6608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1221831" y="3819054"/>
            <a:ext cx="9748337" cy="134099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21831" y="2028083"/>
            <a:ext cx="9748800" cy="1317600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pic>
        <p:nvPicPr>
          <p:cNvPr id="9" name="Picture 2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056440" y="116632"/>
            <a:ext cx="2071687" cy="61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377" y="2180498"/>
            <a:ext cx="10521387" cy="367830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833377" y="330187"/>
            <a:ext cx="10521388" cy="1015200"/>
          </a:xfr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2" name="Picture 2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056440" y="116632"/>
            <a:ext cx="2071687" cy="61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687285" y="2329543"/>
            <a:ext cx="9923523" cy="3391101"/>
          </a:xfrm>
        </p:spPr>
        <p:txBody>
          <a:bodyPr anchor="t">
            <a:normAutofit/>
          </a:bodyPr>
          <a:lstStyle>
            <a:lvl1pPr algn="l">
              <a:defRPr sz="2800"/>
            </a:lvl1pPr>
            <a:lvl2pPr algn="l">
              <a:defRPr sz="2400"/>
            </a:lvl2pPr>
            <a:lvl3pPr algn="l">
              <a:defRPr sz="2000"/>
            </a:lvl3pPr>
            <a:lvl4pPr algn="l">
              <a:defRPr sz="1800"/>
            </a:lvl4pPr>
            <a:lvl5pPr algn="l"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597317"/>
            <a:ext cx="2844799" cy="365125"/>
          </a:xfrm>
        </p:spPr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87285" y="5592991"/>
            <a:ext cx="5811116" cy="365125"/>
          </a:xfr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597317"/>
            <a:ext cx="1052508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1687285" y="865998"/>
            <a:ext cx="9923522" cy="135145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21" name="Rectangle 8"/>
          <p:cNvSpPr/>
          <p:nvPr userDrawn="1"/>
        </p:nvSpPr>
        <p:spPr>
          <a:xfrm>
            <a:off x="695915" y="678673"/>
            <a:ext cx="360000" cy="583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矩形 11"/>
          <p:cNvSpPr/>
          <p:nvPr userDrawn="1"/>
        </p:nvSpPr>
        <p:spPr>
          <a:xfrm>
            <a:off x="695915" y="1261873"/>
            <a:ext cx="360000" cy="49174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" name="Picture 2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056440" y="116632"/>
            <a:ext cx="2071687" cy="61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10" name="矩形 9"/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599227" y="1921566"/>
              <a:ext cx="192900" cy="19033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7" name="日期占位符 10"/>
          <p:cNvSpPr>
            <a:spLocks noGrp="1"/>
          </p:cNvSpPr>
          <p:nvPr>
            <p:ph type="dt" sz="half" idx="10"/>
          </p:nvPr>
        </p:nvSpPr>
        <p:spPr>
          <a:xfrm>
            <a:off x="7523545" y="5597323"/>
            <a:ext cx="2523280" cy="365125"/>
          </a:xfrm>
        </p:spPr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28" name="页脚占位符 11"/>
          <p:cNvSpPr>
            <a:spLocks noGrp="1"/>
          </p:cNvSpPr>
          <p:nvPr>
            <p:ph type="ftr" sz="quarter" idx="11"/>
          </p:nvPr>
        </p:nvSpPr>
        <p:spPr>
          <a:xfrm>
            <a:off x="833377" y="5592997"/>
            <a:ext cx="6585500" cy="365125"/>
          </a:xfr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29" name="灯片编号占位符 12"/>
          <p:cNvSpPr>
            <a:spLocks noGrp="1"/>
          </p:cNvSpPr>
          <p:nvPr>
            <p:ph type="sldNum" sz="quarter" idx="12"/>
          </p:nvPr>
        </p:nvSpPr>
        <p:spPr>
          <a:xfrm>
            <a:off x="10151493" y="5597323"/>
            <a:ext cx="1203271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167" y="2022534"/>
            <a:ext cx="10267200" cy="13824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963167" y="3819054"/>
            <a:ext cx="10265664" cy="1340999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pic>
        <p:nvPicPr>
          <p:cNvPr id="3" name="Picture 2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056440" y="116632"/>
            <a:ext cx="2071687" cy="61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422391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4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3376" y="337115"/>
            <a:ext cx="10521388" cy="1015200"/>
          </a:xfr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pic>
        <p:nvPicPr>
          <p:cNvPr id="8" name="Picture 2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056440" y="116632"/>
            <a:ext cx="2071687" cy="61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2250894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rgbClr val="66087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2250894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rgbClr val="66087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926054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3376" y="346769"/>
            <a:ext cx="10521388" cy="1015200"/>
          </a:xfr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pic>
        <p:nvPicPr>
          <p:cNvPr id="10" name="Picture 2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056440" y="116632"/>
            <a:ext cx="2071687" cy="61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5306" y="337114"/>
            <a:ext cx="10521388" cy="1015200"/>
          </a:xfr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pic>
        <p:nvPicPr>
          <p:cNvPr id="6" name="Picture 2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056440" y="116632"/>
            <a:ext cx="2071687" cy="61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5" name="Picture 2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056440" y="116632"/>
            <a:ext cx="2071687" cy="61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spect="1"/>
          </p:cNvSpPr>
          <p:nvPr userDrawn="1"/>
        </p:nvSpPr>
        <p:spPr>
          <a:xfrm>
            <a:off x="447816" y="4914808"/>
            <a:ext cx="385561" cy="1032227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1463" y="4928762"/>
            <a:ext cx="10333301" cy="65314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400" b="0">
                <a:solidFill>
                  <a:srgbClr val="660874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1463" y="5581910"/>
            <a:ext cx="10333301" cy="365126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rgbClr val="660874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>
          <a:xfrm>
            <a:off x="7523545" y="6088813"/>
            <a:ext cx="2523280" cy="365125"/>
          </a:xfrm>
        </p:spPr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>
          <a:xfrm>
            <a:off x="833377" y="6084487"/>
            <a:ext cx="6585500" cy="365125"/>
          </a:xfr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>
          <a:xfrm>
            <a:off x="10151493" y="6088813"/>
            <a:ext cx="1203271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5" name="Picture 2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056440" y="116632"/>
            <a:ext cx="2071687" cy="61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395677"/>
            <a:ext cx="11029616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496241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8" name="Picture 2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056440" y="116632"/>
            <a:ext cx="2071687" cy="61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5306" y="351903"/>
            <a:ext cx="10521388" cy="1015200"/>
          </a:xfr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pic>
        <p:nvPicPr>
          <p:cNvPr id="7" name="Picture 2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056440" y="116632"/>
            <a:ext cx="2071687" cy="61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>
            <a:spLocks noChangeAspect="1"/>
          </p:cNvSpPr>
          <p:nvPr userDrawn="1"/>
        </p:nvSpPr>
        <p:spPr>
          <a:xfrm>
            <a:off x="8884030" y="675726"/>
            <a:ext cx="88976" cy="79183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Vertical Title 1"/>
          <p:cNvSpPr>
            <a:spLocks noGrp="1"/>
          </p:cNvSpPr>
          <p:nvPr>
            <p:ph type="title" orient="vert"/>
          </p:nvPr>
        </p:nvSpPr>
        <p:spPr>
          <a:xfrm>
            <a:off x="9169649" y="675726"/>
            <a:ext cx="1899496" cy="5183073"/>
          </a:xfrm>
          <a:prstGeom prst="rect">
            <a:avLst/>
          </a:prstGeom>
        </p:spPr>
        <p:txBody>
          <a:bodyPr vert="eaVert"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791611" cy="5183073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5" name="Picture 2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056440" y="116632"/>
            <a:ext cx="2071687" cy="61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586670" y="654624"/>
            <a:ext cx="82800" cy="896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5306" y="593424"/>
            <a:ext cx="10521388" cy="101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376" y="2336003"/>
            <a:ext cx="10521388" cy="31548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23545" y="5597323"/>
            <a:ext cx="25232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3377" y="5592997"/>
            <a:ext cx="65855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51493" y="5597323"/>
            <a:ext cx="1203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none" baseline="0">
          <a:solidFill>
            <a:srgbClr val="660874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60" indent="-23368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105" indent="-23368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64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4" Type="http://schemas.openxmlformats.org/officeDocument/2006/relationships/notesSlide" Target="../notesSlides/notesSlide5.xml"/><Relationship Id="rId33" Type="http://schemas.openxmlformats.org/officeDocument/2006/relationships/slideLayout" Target="../slideLayouts/slideLayout2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tags" Target="../tags/tag3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3" Type="http://schemas.openxmlformats.org/officeDocument/2006/relationships/notesSlide" Target="../notesSlides/notesSlide12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tags" Target="../tags/tag4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99440" y="1315085"/>
            <a:ext cx="10993755" cy="3158490"/>
            <a:chOff x="599225" y="1933955"/>
            <a:chExt cx="10993549" cy="1705606"/>
          </a:xfrm>
        </p:grpSpPr>
        <p:sp>
          <p:nvSpPr>
            <p:cNvPr id="3" name="矩形 2"/>
            <p:cNvSpPr/>
            <p:nvPr userDrawn="1"/>
          </p:nvSpPr>
          <p:spPr>
            <a:xfrm>
              <a:off x="599225" y="1933955"/>
              <a:ext cx="10993549" cy="17056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4" name="矩形 3"/>
            <p:cNvSpPr/>
            <p:nvPr userDrawn="1"/>
          </p:nvSpPr>
          <p:spPr>
            <a:xfrm>
              <a:off x="599225" y="1934352"/>
              <a:ext cx="489576" cy="460362"/>
            </a:xfrm>
            <a:prstGeom prst="rect">
              <a:avLst/>
            </a:prstGeom>
            <a:solidFill>
              <a:srgbClr val="6608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sp>
        <p:nvSpPr>
          <p:cNvPr id="5" name="标题 1"/>
          <p:cNvSpPr txBox="1"/>
          <p:nvPr/>
        </p:nvSpPr>
        <p:spPr>
          <a:xfrm>
            <a:off x="1742440" y="1315720"/>
            <a:ext cx="8350250" cy="204152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none" baseline="0">
                <a:solidFill>
                  <a:srgbClr val="660874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altLang="zh-CN" sz="3200" dirty="0"/>
              <a:t>GPUHammer: Rowhammer Attacks on GPU Memories are Practical</a:t>
            </a:r>
            <a:endParaRPr lang="en-US" altLang="zh-CN" sz="3200" dirty="0"/>
          </a:p>
          <a:p>
            <a:pPr algn="ctr"/>
            <a:r>
              <a:rPr lang="en-US" altLang="zh-CN" sz="3200" dirty="0"/>
              <a:t>GPUHammer:</a:t>
            </a:r>
            <a:r>
              <a:rPr lang="zh-CN" altLang="en-US" sz="3200" dirty="0"/>
              <a:t>针对</a:t>
            </a:r>
            <a:r>
              <a:rPr lang="en-US" altLang="zh-CN" sz="3200" dirty="0"/>
              <a:t>GPU</a:t>
            </a:r>
            <a:r>
              <a:rPr lang="zh-CN" altLang="en-US" sz="3200" dirty="0"/>
              <a:t>显存的</a:t>
            </a:r>
            <a:r>
              <a:rPr lang="en-US" altLang="zh-CN" sz="3200" dirty="0"/>
              <a:t>Rowhammer</a:t>
            </a:r>
            <a:r>
              <a:rPr lang="zh-CN" altLang="en-US" sz="3200" dirty="0"/>
              <a:t>攻击已具备现实</a:t>
            </a:r>
            <a:r>
              <a:rPr lang="zh-CN" altLang="en-US" sz="3200" dirty="0"/>
              <a:t>可行性</a:t>
            </a:r>
            <a:endParaRPr lang="zh-CN" altLang="en-US" sz="3200" dirty="0"/>
          </a:p>
        </p:txBody>
      </p:sp>
      <p:sp>
        <p:nvSpPr>
          <p:cNvPr id="8" name="副标题 2"/>
          <p:cNvSpPr txBox="1"/>
          <p:nvPr/>
        </p:nvSpPr>
        <p:spPr>
          <a:xfrm>
            <a:off x="3020695" y="4744720"/>
            <a:ext cx="6054725" cy="1330960"/>
          </a:xfrm>
          <a:prstGeom prst="rect">
            <a:avLst/>
          </a:prstGeom>
        </p:spPr>
        <p:txBody>
          <a:bodyPr>
            <a:noAutofit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64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2000" dirty="0"/>
              <a:t>汇报人：周海天</a:t>
            </a:r>
            <a:endParaRPr lang="en-US" altLang="zh-CN" sz="2000" dirty="0"/>
          </a:p>
          <a:p>
            <a:pPr marL="0" indent="0" algn="ctr">
              <a:buNone/>
            </a:pPr>
            <a:r>
              <a:rPr lang="zh-CN" altLang="en-US" sz="2000" dirty="0"/>
              <a:t>辅导老师：</a:t>
            </a:r>
            <a:r>
              <a:rPr lang="zh-CN" altLang="en-US" sz="2000" dirty="0"/>
              <a:t>汪东升，王海霞</a:t>
            </a:r>
            <a:endParaRPr lang="zh-CN" altLang="en-US" sz="2000" dirty="0"/>
          </a:p>
          <a:p>
            <a:pPr marL="0" indent="0" algn="ctr">
              <a:buNone/>
            </a:pPr>
            <a:r>
              <a:rPr lang="en-US" altLang="zh-CN" sz="2000" dirty="0"/>
              <a:t>2026.10.18</a:t>
            </a:r>
            <a:endParaRPr lang="en-US" altLang="zh-CN" sz="2000" dirty="0"/>
          </a:p>
        </p:txBody>
      </p:sp>
      <p:sp>
        <p:nvSpPr>
          <p:cNvPr id="6" name="副标题 2"/>
          <p:cNvSpPr txBox="1"/>
          <p:nvPr/>
        </p:nvSpPr>
        <p:spPr>
          <a:xfrm>
            <a:off x="4808829" y="3929604"/>
            <a:ext cx="2574339" cy="373635"/>
          </a:xfrm>
          <a:prstGeom prst="rect">
            <a:avLst/>
          </a:prstGeom>
        </p:spPr>
        <p:txBody>
          <a:bodyPr>
            <a:noAutofit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64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USENIX Security 2025</a:t>
            </a:r>
            <a:endParaRPr lang="en-US" altLang="zh-CN" sz="20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副标题 2"/>
          <p:cNvSpPr txBox="1"/>
          <p:nvPr/>
        </p:nvSpPr>
        <p:spPr>
          <a:xfrm>
            <a:off x="2553944" y="3457164"/>
            <a:ext cx="2574339" cy="373635"/>
          </a:xfrm>
          <a:prstGeom prst="rect">
            <a:avLst/>
          </a:prstGeom>
        </p:spPr>
        <p:txBody>
          <a:bodyPr>
            <a:noAutofit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64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Chris S. Lin</a:t>
            </a:r>
            <a:endParaRPr lang="en-US" altLang="zh-CN" sz="20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副标题 2"/>
          <p:cNvSpPr txBox="1"/>
          <p:nvPr/>
        </p:nvSpPr>
        <p:spPr>
          <a:xfrm>
            <a:off x="4808829" y="3455894"/>
            <a:ext cx="2574339" cy="373635"/>
          </a:xfrm>
          <a:prstGeom prst="rect">
            <a:avLst/>
          </a:prstGeom>
        </p:spPr>
        <p:txBody>
          <a:bodyPr>
            <a:noAutofit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64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Joyce Qu</a:t>
            </a:r>
            <a:endParaRPr lang="en-US" altLang="zh-CN" sz="20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10" name="副标题 2"/>
          <p:cNvSpPr txBox="1"/>
          <p:nvPr/>
        </p:nvSpPr>
        <p:spPr>
          <a:xfrm>
            <a:off x="7063079" y="3457799"/>
            <a:ext cx="2574339" cy="373635"/>
          </a:xfrm>
          <a:prstGeom prst="rect">
            <a:avLst/>
          </a:prstGeom>
        </p:spPr>
        <p:txBody>
          <a:bodyPr>
            <a:noAutofit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64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Gururaj Saileshwar</a:t>
            </a:r>
            <a:endParaRPr lang="en-US" altLang="zh-CN" sz="200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53"/>
    </mc:Choice>
    <mc:Fallback>
      <p:transition spd="slow" advTm="285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102810" y="1245704"/>
            <a:ext cx="3031869" cy="3536402"/>
            <a:chOff x="599226" y="1732460"/>
            <a:chExt cx="10993549" cy="2524748"/>
          </a:xfrm>
        </p:grpSpPr>
        <p:grpSp>
          <p:nvGrpSpPr>
            <p:cNvPr id="2" name="组合 1"/>
            <p:cNvGrpSpPr/>
            <p:nvPr/>
          </p:nvGrpSpPr>
          <p:grpSpPr>
            <a:xfrm>
              <a:off x="599226" y="1732460"/>
              <a:ext cx="10993549" cy="2524748"/>
              <a:chOff x="599225" y="1732459"/>
              <a:chExt cx="10993549" cy="1907212"/>
            </a:xfrm>
          </p:grpSpPr>
          <p:sp>
            <p:nvSpPr>
              <p:cNvPr id="3" name="矩形 2"/>
              <p:cNvSpPr/>
              <p:nvPr userDrawn="1"/>
            </p:nvSpPr>
            <p:spPr>
              <a:xfrm>
                <a:off x="599225" y="1736370"/>
                <a:ext cx="10993549" cy="190330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4" name="矩形 3"/>
              <p:cNvSpPr/>
              <p:nvPr userDrawn="1"/>
            </p:nvSpPr>
            <p:spPr>
              <a:xfrm>
                <a:off x="599225" y="1732459"/>
                <a:ext cx="1687098" cy="792000"/>
              </a:xfrm>
              <a:prstGeom prst="rect">
                <a:avLst/>
              </a:prstGeom>
              <a:solidFill>
                <a:srgbClr val="6608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sp>
          <p:nvSpPr>
            <p:cNvPr id="5" name="标题 1"/>
            <p:cNvSpPr txBox="1"/>
            <p:nvPr/>
          </p:nvSpPr>
          <p:spPr>
            <a:xfrm>
              <a:off x="1778609" y="2576952"/>
              <a:ext cx="8634783" cy="840940"/>
            </a:xfrm>
            <a:prstGeom prst="rect">
              <a:avLst/>
            </a:prstGeom>
          </p:spPr>
          <p:txBody>
            <a:bodyPr/>
            <a:lstStyle>
              <a:lvl1pPr algn="l" defTabSz="457200" rtl="0" eaLnBrk="1" latinLnBrk="0" hangingPunct="1">
                <a:spcBef>
                  <a:spcPct val="0"/>
                </a:spcBef>
                <a:buNone/>
                <a:defRPr sz="2800" b="0" kern="1200" cap="none" baseline="0">
                  <a:solidFill>
                    <a:srgbClr val="660874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ctr"/>
              <a:r>
                <a:rPr lang="zh-CN" altLang="en-US" sz="4000" dirty="0"/>
                <a:t>目录</a:t>
              </a:r>
              <a:endParaRPr lang="en-US" altLang="zh-CN" sz="4000" dirty="0"/>
            </a:p>
          </p:txBody>
        </p:sp>
      </p:grpSp>
      <p:sp>
        <p:nvSpPr>
          <p:cNvPr id="7" name="标题 2"/>
          <p:cNvSpPr txBox="1"/>
          <p:nvPr/>
        </p:nvSpPr>
        <p:spPr>
          <a:xfrm>
            <a:off x="5311661" y="1252956"/>
            <a:ext cx="6188346" cy="48430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none" baseline="0">
                <a:solidFill>
                  <a:srgbClr val="660874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200" dirty="0"/>
              <a:t>背景知识</a:t>
            </a:r>
            <a:endParaRPr lang="en-US" altLang="zh-CN" sz="3200" dirty="0"/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BFBFBF"/>
                </a:solidFill>
              </a:rPr>
              <a:t>攻击方法</a:t>
            </a:r>
            <a:endParaRPr lang="en-US" altLang="zh-CN" sz="3200" dirty="0">
              <a:solidFill>
                <a:srgbClr val="BFBFBF"/>
              </a:solidFill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BFBFBF"/>
                </a:solidFill>
              </a:rPr>
              <a:t>攻击实例</a:t>
            </a:r>
            <a:endParaRPr lang="en-US" altLang="zh-CN" sz="3200" dirty="0">
              <a:solidFill>
                <a:srgbClr val="BFBFBF"/>
              </a:solidFill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BFBFBF"/>
                </a:solidFill>
              </a:rPr>
              <a:t>防御与讨论</a:t>
            </a:r>
            <a:endParaRPr lang="en-US" altLang="zh-CN" sz="3200" dirty="0">
              <a:solidFill>
                <a:srgbClr val="BFBFBF"/>
              </a:solidFill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BFBFBF"/>
                </a:solidFill>
              </a:rPr>
              <a:t>总结</a:t>
            </a:r>
            <a:endParaRPr lang="zh-CN" altLang="en-US" sz="3200" dirty="0">
              <a:solidFill>
                <a:srgbClr val="BFBFB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53"/>
    </mc:Choice>
    <mc:Fallback>
      <p:transition spd="slow" advTm="285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5306" y="649070"/>
            <a:ext cx="10521388" cy="636222"/>
          </a:xfrm>
        </p:spPr>
        <p:txBody>
          <a:bodyPr>
            <a:normAutofit/>
          </a:bodyPr>
          <a:lstStyle/>
          <a:p>
            <a:r>
              <a:rPr lang="en-US" altLang="zh-CN" dirty="0"/>
              <a:t>Rowhammer</a:t>
            </a:r>
            <a:r>
              <a:rPr lang="zh-CN" altLang="en-US" dirty="0"/>
              <a:t>是什么？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35188" y="48139"/>
            <a:ext cx="1106598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背景知识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攻击方法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攻击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防御与讨论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总结</a:t>
            </a:r>
            <a:endParaRPr lang="zh-CN" altLang="en-US" sz="2000" dirty="0">
              <a:solidFill>
                <a:srgbClr val="BFBF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内容占位符 1"/>
          <p:cNvSpPr>
            <a:spLocks noGrp="1"/>
          </p:cNvSpPr>
          <p:nvPr>
            <p:ph idx="1"/>
          </p:nvPr>
        </p:nvSpPr>
        <p:spPr>
          <a:xfrm>
            <a:off x="830580" y="1554480"/>
            <a:ext cx="9342120" cy="2687320"/>
          </a:xfrm>
        </p:spPr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tx1"/>
                </a:solidFill>
              </a:rPr>
              <a:t>DRAM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1"/>
            <a:r>
              <a:rPr lang="en-US" sz="2200" dirty="0">
                <a:solidFill>
                  <a:schemeClr val="tx1"/>
                </a:solidFill>
              </a:rPr>
              <a:t>DRAM</a:t>
            </a:r>
            <a:r>
              <a:rPr lang="zh-CN" altLang="en-US" sz="2200" dirty="0">
                <a:solidFill>
                  <a:schemeClr val="tx1"/>
                </a:solidFill>
              </a:rPr>
              <a:t>基本单元是电容，以充电或放电状态来表示</a:t>
            </a:r>
            <a:r>
              <a:rPr lang="en-US" altLang="zh-CN" sz="2200" dirty="0">
                <a:solidFill>
                  <a:schemeClr val="tx1"/>
                </a:solidFill>
              </a:rPr>
              <a:t>1/0</a:t>
            </a:r>
            <a:r>
              <a:rPr lang="zh-CN" altLang="en-US" sz="2200" dirty="0">
                <a:solidFill>
                  <a:schemeClr val="tx1"/>
                </a:solidFill>
              </a:rPr>
              <a:t>。这些基本单元排列成二维矩阵，按行</a:t>
            </a:r>
            <a:r>
              <a:rPr lang="en-US" altLang="zh-CN" sz="2200" dirty="0">
                <a:solidFill>
                  <a:schemeClr val="tx1"/>
                </a:solidFill>
              </a:rPr>
              <a:t>(</a:t>
            </a:r>
            <a:r>
              <a:rPr lang="en-US" altLang="zh-CN" sz="2200" b="1" dirty="0">
                <a:solidFill>
                  <a:schemeClr val="tx1"/>
                </a:solidFill>
              </a:rPr>
              <a:t>row</a:t>
            </a:r>
            <a:r>
              <a:rPr lang="en-US" altLang="zh-CN" sz="22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和列</a:t>
            </a:r>
            <a:r>
              <a:rPr lang="zh-CN" altLang="en-US" sz="2200" dirty="0">
                <a:solidFill>
                  <a:schemeClr val="tx1"/>
                </a:solidFill>
              </a:rPr>
              <a:t>组织。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lvl="1"/>
            <a:r>
              <a:rPr lang="zh-CN" altLang="en-US" sz="2200" dirty="0">
                <a:solidFill>
                  <a:schemeClr val="tx1"/>
                </a:solidFill>
              </a:rPr>
              <a:t>访问内存时，会先激活一整行，把数据读入行缓冲区，再读取特定列。读取另一行时，会将行缓冲区已有的行</a:t>
            </a:r>
            <a:r>
              <a:rPr lang="zh-CN" altLang="en-US" sz="2200" dirty="0">
                <a:solidFill>
                  <a:schemeClr val="tx1"/>
                </a:solidFill>
              </a:rPr>
              <a:t>驱逐。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lvl="1"/>
            <a:r>
              <a:rPr lang="zh-CN" altLang="en-US" sz="2200" dirty="0">
                <a:solidFill>
                  <a:schemeClr val="tx1"/>
                </a:solidFill>
              </a:rPr>
              <a:t>电容会自然漏电，</a:t>
            </a:r>
            <a:r>
              <a:rPr lang="en-US" altLang="zh-CN" sz="2200" dirty="0">
                <a:solidFill>
                  <a:schemeClr val="tx1"/>
                </a:solidFill>
              </a:rPr>
              <a:t>DRAM</a:t>
            </a:r>
            <a:r>
              <a:rPr lang="zh-CN" altLang="en-US" sz="2200" dirty="0">
                <a:solidFill>
                  <a:schemeClr val="tx1"/>
                </a:solidFill>
              </a:rPr>
              <a:t>会定期刷新电容</a:t>
            </a:r>
            <a:r>
              <a:rPr lang="zh-CN" altLang="en-US" sz="2200" dirty="0">
                <a:solidFill>
                  <a:schemeClr val="tx1"/>
                </a:solidFill>
              </a:rPr>
              <a:t>防止出现</a:t>
            </a:r>
            <a:r>
              <a:rPr lang="zh-CN" altLang="en-US" sz="2200" dirty="0">
                <a:solidFill>
                  <a:schemeClr val="tx1"/>
                </a:solidFill>
              </a:rPr>
              <a:t>比特翻转。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685" y="4162425"/>
            <a:ext cx="5102860" cy="23044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5306" y="649070"/>
            <a:ext cx="10521388" cy="636222"/>
          </a:xfrm>
        </p:spPr>
        <p:txBody>
          <a:bodyPr>
            <a:normAutofit/>
          </a:bodyPr>
          <a:lstStyle/>
          <a:p>
            <a:r>
              <a:rPr lang="en-US" altLang="zh-CN" dirty="0"/>
              <a:t>Rowhammer</a:t>
            </a:r>
            <a:r>
              <a:rPr lang="zh-CN" altLang="en-US" dirty="0"/>
              <a:t>是什么？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35188" y="48139"/>
            <a:ext cx="1106598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背景知识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攻击方法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攻击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防御与讨论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总结</a:t>
            </a:r>
            <a:endParaRPr lang="zh-CN" altLang="en-US" sz="2000" dirty="0">
              <a:solidFill>
                <a:srgbClr val="BFBF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内容占位符 1"/>
              <p:cNvSpPr>
                <a:spLocks noGrp="1"/>
              </p:cNvSpPr>
              <p:nvPr>
                <p:ph idx="1"/>
              </p:nvPr>
            </p:nvSpPr>
            <p:spPr>
              <a:xfrm>
                <a:off x="830580" y="1554480"/>
                <a:ext cx="5889625" cy="4608195"/>
              </a:xfrm>
            </p:spPr>
            <p:txBody>
              <a:bodyPr>
                <a:noAutofit/>
              </a:bodyPr>
              <a:lstStyle/>
              <a:p>
                <a:r>
                  <a:rPr lang="en-US" altLang="zh-CN" sz="2400" dirty="0">
                    <a:solidFill>
                      <a:schemeClr val="tx1"/>
                    </a:solidFill>
                  </a:rPr>
                  <a:t>Rowhammer</a:t>
                </a:r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zh-CN" altLang="en-US" sz="2200" dirty="0">
                    <a:solidFill>
                      <a:schemeClr val="tx1"/>
                    </a:solidFill>
                  </a:rPr>
                  <a:t>原理：反复</a:t>
                </a:r>
                <a:r>
                  <a:rPr lang="zh-CN" altLang="en-US" sz="2200" dirty="0">
                    <a:solidFill>
                      <a:schemeClr val="tx1"/>
                    </a:solidFill>
                  </a:rPr>
                  <a:t>激活某一</a:t>
                </a:r>
                <a:r>
                  <a:rPr lang="zh-CN" altLang="en-US" sz="2200" dirty="0">
                    <a:solidFill>
                      <a:schemeClr val="tx1"/>
                    </a:solidFill>
                  </a:rPr>
                  <a:t>内存行</a:t>
                </a:r>
                <a:r>
                  <a:rPr lang="en-US" altLang="zh-CN" sz="2200" dirty="0">
                    <a:solidFill>
                      <a:schemeClr val="tx1"/>
                    </a:solidFill>
                  </a:rPr>
                  <a:t>(</a:t>
                </a:r>
                <a:r>
                  <a:rPr lang="en-US" altLang="zh-CN" sz="2200" b="1" dirty="0">
                    <a:solidFill>
                      <a:schemeClr val="tx1"/>
                    </a:solidFill>
                  </a:rPr>
                  <a:t>hammering</a:t>
                </a:r>
                <a:r>
                  <a:rPr lang="en-US" altLang="zh-CN" sz="2200" dirty="0">
                    <a:solidFill>
                      <a:schemeClr val="tx1"/>
                    </a:solidFill>
                  </a:rPr>
                  <a:t>)</a:t>
                </a:r>
                <a:r>
                  <a:rPr lang="zh-CN" altLang="en-US" sz="2200" dirty="0">
                    <a:solidFill>
                      <a:schemeClr val="tx1"/>
                    </a:solidFill>
                  </a:rPr>
                  <a:t>，其电压波动会影响物理上相邻的行，使相邻行的电荷加速泄露或</a:t>
                </a:r>
                <a:r>
                  <a:rPr lang="zh-CN" altLang="en-US" sz="2200" dirty="0">
                    <a:solidFill>
                      <a:schemeClr val="tx1"/>
                    </a:solidFill>
                  </a:rPr>
                  <a:t>注入，造成相邻行数据位翻转</a:t>
                </a:r>
                <a:endParaRPr lang="zh-CN" altLang="en-US" sz="22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zh-CN" altLang="en-US" sz="2200" dirty="0">
                    <a:solidFill>
                      <a:schemeClr val="tx1"/>
                    </a:solidFill>
                  </a:rPr>
                  <a:t>利用：提权（翻转页表项的</a:t>
                </a:r>
                <a:r>
                  <a:rPr lang="zh-CN" altLang="en-US" sz="2200" dirty="0">
                    <a:solidFill>
                      <a:schemeClr val="tx1"/>
                    </a:solidFill>
                  </a:rPr>
                  <a:t>关键位）</a:t>
                </a:r>
                <a:endParaRPr lang="en-US" altLang="zh-CN" sz="22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sz="2400" i="1" dirty="0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关键参数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𝑅𝐻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(Rowhammer Threshold)</a:t>
                </a:r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pPr marL="629920" lvl="1" indent="-306070">
                  <a:buFont typeface="Wingdings 2" panose="05020102010507070707" charset="0"/>
                  <a:buChar char=""/>
                </a:pPr>
                <a:r>
                  <a:rPr lang="zh-CN" altLang="en-US" sz="2200" dirty="0">
                    <a:solidFill>
                      <a:schemeClr val="tx1"/>
                    </a:solidFill>
                  </a:rPr>
                  <a:t>触发</a:t>
                </a:r>
                <a:r>
                  <a:rPr lang="zh-CN" altLang="en-US" sz="2200" dirty="0">
                    <a:solidFill>
                      <a:schemeClr val="tx1"/>
                    </a:solidFill>
                  </a:rPr>
                  <a:t>一次翻转所需的最小激活次数，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2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2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𝑅𝐻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schemeClr val="tx1"/>
                    </a:solidFill>
                  </a:rPr>
                  <a:t>越低风险越高</a:t>
                </a:r>
                <a:endParaRPr lang="zh-CN" alt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内容占位符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0580" y="1554480"/>
                <a:ext cx="5889625" cy="4608195"/>
              </a:xfrm>
              <a:blipFill rotWithShape="1">
                <a:blip r:embed="rId1"/>
                <a:stretch>
                  <a:fillRect r="-2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图片 21" descr="屏幕截图 2026-10-09 1929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215" y="1045845"/>
            <a:ext cx="4250055" cy="4965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5306" y="649070"/>
            <a:ext cx="10521388" cy="636222"/>
          </a:xfrm>
        </p:spPr>
        <p:txBody>
          <a:bodyPr>
            <a:normAutofit/>
          </a:bodyPr>
          <a:lstStyle/>
          <a:p>
            <a:r>
              <a:rPr lang="en-US" altLang="zh-CN" dirty="0"/>
              <a:t>Rowhammer</a:t>
            </a:r>
            <a:r>
              <a:rPr lang="zh-CN" altLang="en-US" dirty="0"/>
              <a:t>演进</a:t>
            </a:r>
            <a:r>
              <a:rPr lang="zh-CN" altLang="en-US" dirty="0"/>
              <a:t>时间线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35188" y="48139"/>
            <a:ext cx="1106598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背景知识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攻击方法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攻击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防御与讨论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总结</a:t>
            </a:r>
            <a:endParaRPr lang="zh-CN" altLang="en-US" sz="2000" dirty="0">
              <a:solidFill>
                <a:srgbClr val="BFBF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五边形 9"/>
          <p:cNvSpPr/>
          <p:nvPr>
            <p:custDataLst>
              <p:tags r:id="rId1"/>
            </p:custDataLst>
          </p:nvPr>
        </p:nvSpPr>
        <p:spPr>
          <a:xfrm>
            <a:off x="625476" y="3926840"/>
            <a:ext cx="10800080" cy="495931"/>
          </a:xfrm>
          <a:prstGeom prst="homePlate">
            <a:avLst/>
          </a:prstGeom>
          <a:solidFill>
            <a:schemeClr val="accent1"/>
          </a:solidFill>
          <a:ln w="19050">
            <a:gradFill>
              <a:gsLst>
                <a:gs pos="20000">
                  <a:schemeClr val="accent1">
                    <a:alpha val="0"/>
                  </a:schemeClr>
                </a:gs>
                <a:gs pos="90000">
                  <a:schemeClr val="accent1">
                    <a:alpha val="100000"/>
                  </a:schemeClr>
                </a:gs>
              </a:gsLst>
              <a:lin ang="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algn="ctr"/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cxnSp>
        <p:nvCxnSpPr>
          <p:cNvPr id="11" name="直接箭头连接符 10"/>
          <p:cNvCxnSpPr/>
          <p:nvPr>
            <p:custDataLst>
              <p:tags r:id="rId2"/>
            </p:custDataLst>
          </p:nvPr>
        </p:nvCxnSpPr>
        <p:spPr>
          <a:xfrm>
            <a:off x="625476" y="4174490"/>
            <a:ext cx="10569575" cy="0"/>
          </a:xfrm>
          <a:prstGeom prst="straightConnector1">
            <a:avLst/>
          </a:prstGeom>
          <a:ln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>
            <p:custDataLst>
              <p:tags r:id="rId3"/>
            </p:custDataLst>
          </p:nvPr>
        </p:nvSpPr>
        <p:spPr>
          <a:xfrm>
            <a:off x="746126" y="4127500"/>
            <a:ext cx="93345" cy="9461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4"/>
            </p:custDataLst>
          </p:nvPr>
        </p:nvCxnSpPr>
        <p:spPr>
          <a:xfrm flipH="1">
            <a:off x="799466" y="1995805"/>
            <a:ext cx="5080" cy="2382520"/>
          </a:xfrm>
          <a:prstGeom prst="line">
            <a:avLst/>
          </a:prstGeom>
          <a:ln w="25400">
            <a:gradFill>
              <a:gsLst>
                <a:gs pos="17000">
                  <a:schemeClr val="accent1">
                    <a:alpha val="0"/>
                  </a:schemeClr>
                </a:gs>
                <a:gs pos="61000">
                  <a:schemeClr val="accent1">
                    <a:alpha val="100000"/>
                  </a:schemeClr>
                </a:gs>
              </a:gsLst>
              <a:lin ang="162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>
            <p:custDataLst>
              <p:tags r:id="rId5"/>
            </p:custDataLst>
          </p:nvPr>
        </p:nvSpPr>
        <p:spPr>
          <a:xfrm>
            <a:off x="937260" y="2644140"/>
            <a:ext cx="2600325" cy="105664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/>
            <a:r>
              <a:rPr lang="zh-CN" altLang="en-US" sz="1600">
                <a:sym typeface="+mn-ea"/>
              </a:rPr>
              <a:t>现象被发现：</a:t>
            </a:r>
            <a:endParaRPr lang="en-US" altLang="zh-CN" sz="1600"/>
          </a:p>
          <a:p>
            <a:pPr algn="ctr"/>
            <a:r>
              <a:rPr lang="zh-CN" altLang="en-US" sz="1600">
                <a:sym typeface="+mn-ea"/>
              </a:rPr>
              <a:t>位翻转现象首次被发现</a:t>
            </a:r>
            <a:endParaRPr lang="zh-CN" altLang="en-US" sz="1600"/>
          </a:p>
          <a:p>
            <a:pPr defTabSz="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6" name="流程图: 延期 15"/>
          <p:cNvSpPr/>
          <p:nvPr>
            <p:custDataLst>
              <p:tags r:id="rId6"/>
            </p:custDataLst>
          </p:nvPr>
        </p:nvSpPr>
        <p:spPr>
          <a:xfrm>
            <a:off x="804546" y="1996440"/>
            <a:ext cx="474345" cy="506730"/>
          </a:xfrm>
          <a:prstGeom prst="flowChartDelay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1">
                      <a:lumMod val="75000"/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01</a:t>
            </a:r>
            <a:endParaRPr lang="en-US" altLang="zh-CN" sz="1600" b="1">
              <a:solidFill>
                <a:srgbClr val="FFFFFF"/>
              </a:solidFill>
              <a:effectLst>
                <a:outerShdw blurRad="50800" dist="38100" dir="5400000" algn="t" rotWithShape="0">
                  <a:schemeClr val="accent1">
                    <a:lumMod val="75000"/>
                    <a:alpha val="40000"/>
                  </a:schemeClr>
                </a:outerShdw>
              </a:effectLst>
              <a:latin typeface="+mn-ea"/>
              <a:cs typeface="+mn-ea"/>
              <a:sym typeface="+mn-ea"/>
            </a:endParaRPr>
          </a:p>
        </p:txBody>
      </p:sp>
      <p:sp>
        <p:nvSpPr>
          <p:cNvPr id="21" name="矩形 20"/>
          <p:cNvSpPr/>
          <p:nvPr>
            <p:custDataLst>
              <p:tags r:id="rId7"/>
            </p:custDataLst>
          </p:nvPr>
        </p:nvSpPr>
        <p:spPr>
          <a:xfrm>
            <a:off x="1501140" y="2063115"/>
            <a:ext cx="2045335" cy="3848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1"/>
                </a:solidFill>
                <a:latin typeface="+mn-ea"/>
                <a:cs typeface="+mn-ea"/>
              </a:rPr>
              <a:t>2014</a:t>
            </a:r>
            <a:endParaRPr lang="en-US" altLang="zh-CN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cxnSp>
        <p:nvCxnSpPr>
          <p:cNvPr id="43" name="直接连接符 42"/>
          <p:cNvCxnSpPr/>
          <p:nvPr>
            <p:custDataLst>
              <p:tags r:id="rId8"/>
            </p:custDataLst>
          </p:nvPr>
        </p:nvCxnSpPr>
        <p:spPr>
          <a:xfrm flipH="1" flipV="1">
            <a:off x="2404111" y="3969385"/>
            <a:ext cx="1905" cy="2382520"/>
          </a:xfrm>
          <a:prstGeom prst="line">
            <a:avLst/>
          </a:prstGeom>
          <a:ln w="25400">
            <a:gradFill>
              <a:gsLst>
                <a:gs pos="17000">
                  <a:schemeClr val="accent2">
                    <a:alpha val="0"/>
                  </a:schemeClr>
                </a:gs>
                <a:gs pos="61000">
                  <a:schemeClr val="accent2">
                    <a:alpha val="100000"/>
                  </a:schemeClr>
                </a:gs>
              </a:gsLst>
              <a:lin ang="162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/>
          <p:cNvSpPr/>
          <p:nvPr>
            <p:custDataLst>
              <p:tags r:id="rId9"/>
            </p:custDataLst>
          </p:nvPr>
        </p:nvSpPr>
        <p:spPr>
          <a:xfrm>
            <a:off x="2350771" y="4127500"/>
            <a:ext cx="93345" cy="9461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sp>
        <p:nvSpPr>
          <p:cNvPr id="30" name="矩形 29"/>
          <p:cNvSpPr/>
          <p:nvPr>
            <p:custDataLst>
              <p:tags r:id="rId10"/>
            </p:custDataLst>
          </p:nvPr>
        </p:nvSpPr>
        <p:spPr>
          <a:xfrm>
            <a:off x="2535556" y="4908550"/>
            <a:ext cx="2600325" cy="105664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zh-CN" altLang="en-US" sz="1600">
                <a:sym typeface="+mn-ea"/>
              </a:rPr>
              <a:t>从现象到武器：</a:t>
            </a:r>
            <a:endParaRPr lang="zh-CN" altLang="en-US" sz="1600"/>
          </a:p>
          <a:p>
            <a:pPr algn="ctr"/>
            <a:r>
              <a:rPr lang="zh-CN" altLang="en-US" sz="1600">
                <a:sym typeface="+mn-ea"/>
              </a:rPr>
              <a:t>同年三篇工作证明了真实攻击可行</a:t>
            </a:r>
            <a:endParaRPr lang="zh-CN" altLang="en-US" sz="1600"/>
          </a:p>
          <a:p>
            <a:pPr defTabSz="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2" name="流程图: 延期 41"/>
          <p:cNvSpPr/>
          <p:nvPr>
            <p:custDataLst>
              <p:tags r:id="rId11"/>
            </p:custDataLst>
          </p:nvPr>
        </p:nvSpPr>
        <p:spPr>
          <a:xfrm>
            <a:off x="2418081" y="5846445"/>
            <a:ext cx="474345" cy="506730"/>
          </a:xfrm>
          <a:prstGeom prst="flowChartDelay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600" b="1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2">
                      <a:lumMod val="75000"/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02</a:t>
            </a:r>
            <a:endParaRPr lang="en-US" altLang="zh-CN" sz="1600" b="1" dirty="0">
              <a:solidFill>
                <a:srgbClr val="FFFFFF"/>
              </a:solidFill>
              <a:effectLst>
                <a:outerShdw blurRad="50800" dist="38100" dir="5400000" algn="t" rotWithShape="0">
                  <a:schemeClr val="accent2">
                    <a:lumMod val="75000"/>
                    <a:alpha val="40000"/>
                  </a:schemeClr>
                </a:outerShdw>
              </a:effectLst>
              <a:latin typeface="+mn-ea"/>
              <a:cs typeface="+mn-ea"/>
              <a:sym typeface="+mn-ea"/>
            </a:endParaRPr>
          </a:p>
        </p:txBody>
      </p:sp>
      <p:sp>
        <p:nvSpPr>
          <p:cNvPr id="32" name="矩形 31"/>
          <p:cNvSpPr/>
          <p:nvPr>
            <p:custDataLst>
              <p:tags r:id="rId12"/>
            </p:custDataLst>
          </p:nvPr>
        </p:nvSpPr>
        <p:spPr>
          <a:xfrm>
            <a:off x="3115946" y="5908675"/>
            <a:ext cx="2035810" cy="40132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2"/>
                </a:solidFill>
                <a:latin typeface="+mn-ea"/>
                <a:cs typeface="+mn-ea"/>
              </a:rPr>
              <a:t>2016</a:t>
            </a:r>
            <a:endParaRPr lang="en-US" altLang="zh-CN" b="1" dirty="0">
              <a:solidFill>
                <a:schemeClr val="accent2"/>
              </a:solidFill>
              <a:latin typeface="+mn-ea"/>
              <a:cs typeface="+mn-ea"/>
            </a:endParaRPr>
          </a:p>
        </p:txBody>
      </p:sp>
      <p:cxnSp>
        <p:nvCxnSpPr>
          <p:cNvPr id="17" name="直接连接符 16"/>
          <p:cNvCxnSpPr/>
          <p:nvPr>
            <p:custDataLst>
              <p:tags r:id="rId13"/>
            </p:custDataLst>
          </p:nvPr>
        </p:nvCxnSpPr>
        <p:spPr>
          <a:xfrm flipH="1">
            <a:off x="4001136" y="1995805"/>
            <a:ext cx="5080" cy="2382520"/>
          </a:xfrm>
          <a:prstGeom prst="line">
            <a:avLst/>
          </a:prstGeom>
          <a:ln w="25400">
            <a:gradFill>
              <a:gsLst>
                <a:gs pos="17000">
                  <a:schemeClr val="accent1">
                    <a:alpha val="0"/>
                  </a:schemeClr>
                </a:gs>
                <a:gs pos="61000">
                  <a:schemeClr val="accent1">
                    <a:alpha val="100000"/>
                  </a:schemeClr>
                </a:gs>
              </a:gsLst>
              <a:lin ang="162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流程图: 延期 32"/>
          <p:cNvSpPr/>
          <p:nvPr>
            <p:custDataLst>
              <p:tags r:id="rId14"/>
            </p:custDataLst>
          </p:nvPr>
        </p:nvSpPr>
        <p:spPr>
          <a:xfrm>
            <a:off x="4006216" y="1994535"/>
            <a:ext cx="474345" cy="506730"/>
          </a:xfrm>
          <a:prstGeom prst="flowChartDelay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600" b="1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1">
                      <a:lumMod val="75000"/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03</a:t>
            </a:r>
            <a:endParaRPr lang="en-US" altLang="zh-CN" sz="1600" b="1" dirty="0">
              <a:solidFill>
                <a:srgbClr val="FFFFFF"/>
              </a:solidFill>
              <a:effectLst>
                <a:outerShdw blurRad="50800" dist="38100" dir="5400000" algn="t" rotWithShape="0">
                  <a:schemeClr val="accent1">
                    <a:lumMod val="75000"/>
                    <a:alpha val="40000"/>
                  </a:schemeClr>
                </a:outerShdw>
              </a:effectLst>
              <a:latin typeface="+mn-ea"/>
              <a:cs typeface="+mn-ea"/>
              <a:sym typeface="+mn-ea"/>
            </a:endParaRPr>
          </a:p>
        </p:txBody>
      </p:sp>
      <p:sp>
        <p:nvSpPr>
          <p:cNvPr id="34" name="矩形 33"/>
          <p:cNvSpPr/>
          <p:nvPr>
            <p:custDataLst>
              <p:tags r:id="rId15"/>
            </p:custDataLst>
          </p:nvPr>
        </p:nvSpPr>
        <p:spPr>
          <a:xfrm>
            <a:off x="4138930" y="2649855"/>
            <a:ext cx="2600325" cy="9937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/>
            <a:r>
              <a:rPr lang="zh-CN" altLang="en-US" sz="1600">
                <a:sym typeface="+mn-ea"/>
              </a:rPr>
              <a:t>防御涌现，攻击升级：</a:t>
            </a:r>
            <a:endParaRPr lang="zh-CN" altLang="en-US" sz="1600"/>
          </a:p>
          <a:p>
            <a:pPr algn="ctr"/>
            <a:r>
              <a:rPr lang="zh-CN" altLang="en-US" sz="1600">
                <a:sym typeface="+mn-ea"/>
              </a:rPr>
              <a:t>开始出现各种防御措施，攻击也不断优化</a:t>
            </a:r>
            <a:endParaRPr lang="zh-CN" altLang="en-US" sz="1600"/>
          </a:p>
          <a:p>
            <a:pPr defTabSz="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5" name="矩形 34"/>
          <p:cNvSpPr/>
          <p:nvPr>
            <p:custDataLst>
              <p:tags r:id="rId16"/>
            </p:custDataLst>
          </p:nvPr>
        </p:nvSpPr>
        <p:spPr>
          <a:xfrm>
            <a:off x="4702811" y="2055495"/>
            <a:ext cx="2052955" cy="3848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1"/>
                </a:solidFill>
                <a:latin typeface="+mn-ea"/>
                <a:cs typeface="+mn-ea"/>
              </a:rPr>
              <a:t>2017-2018</a:t>
            </a:r>
            <a:endParaRPr lang="en-US" altLang="zh-CN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37" name="椭圆 36"/>
          <p:cNvSpPr/>
          <p:nvPr>
            <p:custDataLst>
              <p:tags r:id="rId17"/>
            </p:custDataLst>
          </p:nvPr>
        </p:nvSpPr>
        <p:spPr>
          <a:xfrm>
            <a:off x="3949066" y="4127500"/>
            <a:ext cx="93345" cy="946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cxnSp>
        <p:nvCxnSpPr>
          <p:cNvPr id="18" name="直接连接符 17"/>
          <p:cNvCxnSpPr/>
          <p:nvPr>
            <p:custDataLst>
              <p:tags r:id="rId18"/>
            </p:custDataLst>
          </p:nvPr>
        </p:nvCxnSpPr>
        <p:spPr>
          <a:xfrm flipH="1" flipV="1">
            <a:off x="8801101" y="3969385"/>
            <a:ext cx="1905" cy="2382520"/>
          </a:xfrm>
          <a:prstGeom prst="line">
            <a:avLst/>
          </a:prstGeom>
          <a:ln w="25400">
            <a:gradFill>
              <a:gsLst>
                <a:gs pos="17000">
                  <a:schemeClr val="accent2">
                    <a:alpha val="0"/>
                  </a:schemeClr>
                </a:gs>
                <a:gs pos="61000">
                  <a:schemeClr val="accent2">
                    <a:alpha val="100000"/>
                  </a:schemeClr>
                </a:gs>
              </a:gsLst>
              <a:lin ang="162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椭圆 37"/>
          <p:cNvSpPr/>
          <p:nvPr>
            <p:custDataLst>
              <p:tags r:id="rId19"/>
            </p:custDataLst>
          </p:nvPr>
        </p:nvSpPr>
        <p:spPr>
          <a:xfrm>
            <a:off x="8747761" y="4127500"/>
            <a:ext cx="93345" cy="9461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9" name="矩形 38"/>
          <p:cNvSpPr/>
          <p:nvPr>
            <p:custDataLst>
              <p:tags r:id="rId20"/>
            </p:custDataLst>
          </p:nvPr>
        </p:nvSpPr>
        <p:spPr>
          <a:xfrm>
            <a:off x="8949056" y="4935220"/>
            <a:ext cx="2600325" cy="105664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zh-CN" altLang="en-US" sz="1600">
                <a:sym typeface="+mn-ea"/>
              </a:rPr>
              <a:t>战线推至</a:t>
            </a:r>
            <a:r>
              <a:rPr lang="en-US" altLang="zh-CN" sz="1600">
                <a:sym typeface="+mn-ea"/>
              </a:rPr>
              <a:t>GPU</a:t>
            </a:r>
            <a:r>
              <a:rPr lang="zh-CN" altLang="en-US" sz="1600">
                <a:sym typeface="+mn-ea"/>
              </a:rPr>
              <a:t>：</a:t>
            </a:r>
            <a:endParaRPr lang="en-US" altLang="zh-CN" sz="1600"/>
          </a:p>
          <a:p>
            <a:pPr algn="ctr"/>
            <a:r>
              <a:rPr lang="zh-CN" altLang="en-US" sz="1600">
                <a:sym typeface="+mn-ea"/>
              </a:rPr>
              <a:t>首次在</a:t>
            </a:r>
            <a:r>
              <a:rPr lang="en-US" altLang="zh-CN" sz="1600">
                <a:sym typeface="+mn-ea"/>
              </a:rPr>
              <a:t>GPU</a:t>
            </a:r>
            <a:r>
              <a:rPr lang="zh-CN" altLang="en-US" sz="1600">
                <a:sym typeface="+mn-ea"/>
              </a:rPr>
              <a:t>上成功实施攻击</a:t>
            </a:r>
            <a:r>
              <a:rPr lang="zh-CN" altLang="en-US" sz="1600" b="1">
                <a:sym typeface="+mn-ea"/>
              </a:rPr>
              <a:t>（本文）</a:t>
            </a:r>
            <a:endParaRPr lang="zh-CN" altLang="en-US" sz="1600" b="1"/>
          </a:p>
          <a:p>
            <a:pPr defTabSz="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0" name="流程图: 延期 39"/>
          <p:cNvSpPr/>
          <p:nvPr>
            <p:custDataLst>
              <p:tags r:id="rId21"/>
            </p:custDataLst>
          </p:nvPr>
        </p:nvSpPr>
        <p:spPr>
          <a:xfrm>
            <a:off x="8814436" y="5845810"/>
            <a:ext cx="474345" cy="506730"/>
          </a:xfrm>
          <a:prstGeom prst="flowChartDelay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600" b="1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2">
                      <a:lumMod val="75000"/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06</a:t>
            </a:r>
            <a:endParaRPr lang="en-US" altLang="zh-CN" sz="1600" b="1" dirty="0">
              <a:solidFill>
                <a:srgbClr val="FFFFFF"/>
              </a:solidFill>
              <a:effectLst>
                <a:outerShdw blurRad="50800" dist="38100" dir="5400000" algn="t" rotWithShape="0">
                  <a:schemeClr val="accent2">
                    <a:lumMod val="75000"/>
                    <a:alpha val="40000"/>
                  </a:schemeClr>
                </a:outerShdw>
              </a:effectLst>
              <a:latin typeface="+mn-ea"/>
              <a:cs typeface="+mn-ea"/>
              <a:sym typeface="+mn-ea"/>
            </a:endParaRPr>
          </a:p>
        </p:txBody>
      </p:sp>
      <p:sp>
        <p:nvSpPr>
          <p:cNvPr id="44" name="矩形 43"/>
          <p:cNvSpPr/>
          <p:nvPr>
            <p:custDataLst>
              <p:tags r:id="rId22"/>
            </p:custDataLst>
          </p:nvPr>
        </p:nvSpPr>
        <p:spPr>
          <a:xfrm>
            <a:off x="9512300" y="5907405"/>
            <a:ext cx="2053590" cy="40132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2"/>
                </a:solidFill>
                <a:latin typeface="+mn-ea"/>
                <a:cs typeface="+mn-ea"/>
              </a:rPr>
              <a:t>2025</a:t>
            </a:r>
            <a:endParaRPr lang="en-US" altLang="zh-CN" b="1" dirty="0">
              <a:solidFill>
                <a:schemeClr val="accent2"/>
              </a:solidFill>
              <a:latin typeface="+mn-ea"/>
              <a:cs typeface="+mn-ea"/>
            </a:endParaRPr>
          </a:p>
        </p:txBody>
      </p:sp>
      <p:cxnSp>
        <p:nvCxnSpPr>
          <p:cNvPr id="36" name="直接连接符 35"/>
          <p:cNvCxnSpPr/>
          <p:nvPr>
            <p:custDataLst>
              <p:tags r:id="rId23"/>
            </p:custDataLst>
          </p:nvPr>
        </p:nvCxnSpPr>
        <p:spPr>
          <a:xfrm flipH="1">
            <a:off x="7196456" y="1995805"/>
            <a:ext cx="5080" cy="2382520"/>
          </a:xfrm>
          <a:prstGeom prst="line">
            <a:avLst/>
          </a:prstGeom>
          <a:ln w="25400">
            <a:gradFill>
              <a:gsLst>
                <a:gs pos="17000">
                  <a:schemeClr val="accent1">
                    <a:alpha val="0"/>
                  </a:schemeClr>
                </a:gs>
                <a:gs pos="61000">
                  <a:schemeClr val="accent1">
                    <a:alpha val="100000"/>
                  </a:schemeClr>
                </a:gs>
              </a:gsLst>
              <a:lin ang="162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/>
          <p:cNvSpPr/>
          <p:nvPr>
            <p:custDataLst>
              <p:tags r:id="rId24"/>
            </p:custDataLst>
          </p:nvPr>
        </p:nvSpPr>
        <p:spPr>
          <a:xfrm>
            <a:off x="7334251" y="2649855"/>
            <a:ext cx="2600325" cy="105664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/>
            <a:r>
              <a:rPr lang="zh-CN" altLang="en-US" sz="1600">
                <a:sym typeface="+mn-ea"/>
              </a:rPr>
              <a:t>攻防系统化：</a:t>
            </a:r>
            <a:endParaRPr lang="zh-CN" altLang="en-US" sz="1600"/>
          </a:p>
          <a:p>
            <a:pPr algn="ctr"/>
            <a:r>
              <a:rPr lang="zh-CN" altLang="en-US" sz="1600">
                <a:sym typeface="+mn-ea"/>
              </a:rPr>
              <a:t>出现了更多的防御措施以及攻击优化</a:t>
            </a:r>
            <a:endParaRPr lang="zh-CN" altLang="en-US" sz="1600"/>
          </a:p>
          <a:p>
            <a:pPr defTabSz="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6" name="流程图: 延期 45"/>
          <p:cNvSpPr/>
          <p:nvPr>
            <p:custDataLst>
              <p:tags r:id="rId25"/>
            </p:custDataLst>
          </p:nvPr>
        </p:nvSpPr>
        <p:spPr>
          <a:xfrm>
            <a:off x="7201536" y="1995170"/>
            <a:ext cx="474345" cy="506730"/>
          </a:xfrm>
          <a:prstGeom prst="flowChartDelay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600" b="1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1">
                      <a:lumMod val="75000"/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05</a:t>
            </a:r>
            <a:endParaRPr lang="en-US" altLang="zh-CN" sz="1600" b="1" dirty="0">
              <a:solidFill>
                <a:srgbClr val="FFFFFF"/>
              </a:solidFill>
              <a:effectLst>
                <a:outerShdw blurRad="50800" dist="38100" dir="5400000" algn="t" rotWithShape="0">
                  <a:schemeClr val="accent1">
                    <a:lumMod val="75000"/>
                    <a:alpha val="40000"/>
                  </a:schemeClr>
                </a:outerShdw>
              </a:effectLst>
              <a:latin typeface="+mn-ea"/>
              <a:cs typeface="+mn-ea"/>
              <a:sym typeface="+mn-ea"/>
            </a:endParaRPr>
          </a:p>
        </p:txBody>
      </p:sp>
      <p:sp>
        <p:nvSpPr>
          <p:cNvPr id="47" name="矩形 46"/>
          <p:cNvSpPr/>
          <p:nvPr>
            <p:custDataLst>
              <p:tags r:id="rId26"/>
            </p:custDataLst>
          </p:nvPr>
        </p:nvSpPr>
        <p:spPr>
          <a:xfrm>
            <a:off x="7898131" y="2056130"/>
            <a:ext cx="2048510" cy="3848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1"/>
                </a:solidFill>
                <a:latin typeface="+mn-ea"/>
                <a:cs typeface="+mn-ea"/>
              </a:rPr>
              <a:t>2021-2024</a:t>
            </a:r>
            <a:endParaRPr lang="en-US" altLang="zh-CN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48" name="椭圆 47"/>
          <p:cNvSpPr/>
          <p:nvPr>
            <p:custDataLst>
              <p:tags r:id="rId27"/>
            </p:custDataLst>
          </p:nvPr>
        </p:nvSpPr>
        <p:spPr>
          <a:xfrm>
            <a:off x="7144386" y="4127500"/>
            <a:ext cx="93345" cy="946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cxnSp>
        <p:nvCxnSpPr>
          <p:cNvPr id="41" name="直接连接符 40"/>
          <p:cNvCxnSpPr/>
          <p:nvPr>
            <p:custDataLst>
              <p:tags r:id="rId28"/>
            </p:custDataLst>
          </p:nvPr>
        </p:nvCxnSpPr>
        <p:spPr>
          <a:xfrm flipH="1" flipV="1">
            <a:off x="5597526" y="3969385"/>
            <a:ext cx="1905" cy="2382520"/>
          </a:xfrm>
          <a:prstGeom prst="line">
            <a:avLst/>
          </a:prstGeom>
          <a:ln w="25400">
            <a:gradFill>
              <a:gsLst>
                <a:gs pos="17000">
                  <a:schemeClr val="accent2">
                    <a:alpha val="0"/>
                  </a:schemeClr>
                </a:gs>
                <a:gs pos="61000">
                  <a:schemeClr val="accent2">
                    <a:alpha val="100000"/>
                  </a:schemeClr>
                </a:gs>
              </a:gsLst>
              <a:lin ang="162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椭圆 48"/>
          <p:cNvSpPr/>
          <p:nvPr>
            <p:custDataLst>
              <p:tags r:id="rId29"/>
            </p:custDataLst>
          </p:nvPr>
        </p:nvSpPr>
        <p:spPr>
          <a:xfrm>
            <a:off x="5552441" y="4127500"/>
            <a:ext cx="93345" cy="9461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sp>
        <p:nvSpPr>
          <p:cNvPr id="50" name="矩形 49"/>
          <p:cNvSpPr/>
          <p:nvPr>
            <p:custDataLst>
              <p:tags r:id="rId30"/>
            </p:custDataLst>
          </p:nvPr>
        </p:nvSpPr>
        <p:spPr>
          <a:xfrm>
            <a:off x="5521960" y="4908550"/>
            <a:ext cx="3267710" cy="102997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zh-CN" altLang="en-US" sz="1600">
                <a:sym typeface="+mn-ea"/>
              </a:rPr>
              <a:t>关键突破：</a:t>
            </a:r>
            <a:endParaRPr lang="zh-CN" altLang="en-US" sz="1600"/>
          </a:p>
          <a:p>
            <a:pPr algn="ctr"/>
            <a:r>
              <a:rPr lang="zh-CN" altLang="en-US" sz="1600">
                <a:sym typeface="+mn-ea"/>
              </a:rPr>
              <a:t>利用多比特翻转攻破</a:t>
            </a:r>
            <a:r>
              <a:rPr lang="en-US" altLang="zh-CN" sz="1600">
                <a:sym typeface="+mn-ea"/>
              </a:rPr>
              <a:t>ECC</a:t>
            </a:r>
            <a:r>
              <a:rPr lang="zh-CN" altLang="en-US" sz="1600">
                <a:sym typeface="+mn-ea"/>
              </a:rPr>
              <a:t>防御</a:t>
            </a:r>
            <a:endParaRPr lang="en-US" altLang="zh-CN" sz="1600"/>
          </a:p>
          <a:p>
            <a:pPr algn="ctr"/>
            <a:r>
              <a:rPr lang="zh-CN" altLang="en-US" sz="1600">
                <a:sym typeface="+mn-ea"/>
              </a:rPr>
              <a:t>利用多面捶打攻破</a:t>
            </a:r>
            <a:r>
              <a:rPr lang="en-US" altLang="zh-CN" sz="1600">
                <a:sym typeface="+mn-ea"/>
              </a:rPr>
              <a:t>TRR</a:t>
            </a:r>
            <a:r>
              <a:rPr lang="zh-CN" altLang="en-US" sz="1600">
                <a:sym typeface="+mn-ea"/>
              </a:rPr>
              <a:t>防御</a:t>
            </a:r>
            <a:endParaRPr lang="zh-CN" altLang="en-US" sz="1600"/>
          </a:p>
          <a:p>
            <a:pPr defTabSz="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1" name="流程图: 延期 50"/>
          <p:cNvSpPr/>
          <p:nvPr>
            <p:custDataLst>
              <p:tags r:id="rId31"/>
            </p:custDataLst>
          </p:nvPr>
        </p:nvSpPr>
        <p:spPr>
          <a:xfrm>
            <a:off x="5610861" y="5846445"/>
            <a:ext cx="474345" cy="506730"/>
          </a:xfrm>
          <a:prstGeom prst="flowChartDelay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600" b="1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2">
                      <a:lumMod val="75000"/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04</a:t>
            </a:r>
            <a:endParaRPr lang="en-US" altLang="zh-CN" sz="1600" b="1" dirty="0">
              <a:solidFill>
                <a:srgbClr val="FFFFFF"/>
              </a:solidFill>
              <a:effectLst>
                <a:outerShdw blurRad="50800" dist="38100" dir="5400000" algn="t" rotWithShape="0">
                  <a:schemeClr val="accent2">
                    <a:lumMod val="75000"/>
                    <a:alpha val="40000"/>
                  </a:schemeClr>
                </a:outerShdw>
              </a:effectLst>
              <a:latin typeface="+mn-ea"/>
              <a:cs typeface="+mn-ea"/>
              <a:sym typeface="+mn-ea"/>
            </a:endParaRPr>
          </a:p>
        </p:txBody>
      </p:sp>
      <p:sp>
        <p:nvSpPr>
          <p:cNvPr id="52" name="矩形 51"/>
          <p:cNvSpPr/>
          <p:nvPr>
            <p:custDataLst>
              <p:tags r:id="rId32"/>
            </p:custDataLst>
          </p:nvPr>
        </p:nvSpPr>
        <p:spPr>
          <a:xfrm>
            <a:off x="6308726" y="5908040"/>
            <a:ext cx="2039620" cy="40132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2"/>
                </a:solidFill>
                <a:latin typeface="+mn-ea"/>
                <a:cs typeface="+mn-ea"/>
              </a:rPr>
              <a:t>2019-2020</a:t>
            </a:r>
            <a:endParaRPr lang="en-US" altLang="zh-CN" b="1" dirty="0">
              <a:solidFill>
                <a:schemeClr val="accent2"/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5306" y="649070"/>
            <a:ext cx="10521388" cy="636222"/>
          </a:xfrm>
        </p:spPr>
        <p:txBody>
          <a:bodyPr>
            <a:normAutofit/>
          </a:bodyPr>
          <a:lstStyle/>
          <a:p>
            <a:r>
              <a:rPr lang="zh-CN" altLang="en-US" dirty="0"/>
              <a:t>从</a:t>
            </a:r>
            <a:r>
              <a:rPr lang="en-US" altLang="zh-CN" dirty="0"/>
              <a:t>CPU</a:t>
            </a:r>
            <a:r>
              <a:rPr lang="zh-CN" altLang="en-US" dirty="0"/>
              <a:t>到</a:t>
            </a:r>
            <a:r>
              <a:rPr lang="en-US" altLang="zh-CN" dirty="0"/>
              <a:t>GPU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135188" y="48139"/>
            <a:ext cx="1106598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背景知识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攻击方法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攻击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防御与讨论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总结</a:t>
            </a:r>
            <a:endParaRPr lang="zh-CN" altLang="en-US" sz="2000" dirty="0">
              <a:solidFill>
                <a:srgbClr val="BFBF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内容占位符 1"/>
          <p:cNvSpPr>
            <a:spLocks noGrp="1"/>
          </p:cNvSpPr>
          <p:nvPr>
            <p:ph idx="1"/>
          </p:nvPr>
        </p:nvSpPr>
        <p:spPr>
          <a:xfrm>
            <a:off x="830580" y="1554480"/>
            <a:ext cx="9342120" cy="2122170"/>
          </a:xfrm>
        </p:spPr>
        <p:txBody>
          <a:bodyPr>
            <a:noAutofit/>
          </a:bodyPr>
          <a:lstStyle/>
          <a:p>
            <a:r>
              <a:rPr lang="zh-CN" altLang="en-US" sz="2400" dirty="0">
                <a:solidFill>
                  <a:schemeClr val="tx1"/>
                </a:solidFill>
              </a:rPr>
              <a:t>动机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763270" lvl="1" indent="-306070">
              <a:buFont typeface="Wingdings 2" panose="05020102010507070707" charset="0"/>
              <a:buChar char=""/>
            </a:pPr>
            <a:r>
              <a:rPr lang="zh-CN" altLang="en-US" sz="2200" dirty="0">
                <a:solidFill>
                  <a:schemeClr val="tx1"/>
                </a:solidFill>
              </a:rPr>
              <a:t>大模型时代</a:t>
            </a:r>
            <a:r>
              <a:rPr lang="en-US" altLang="zh-CN" sz="2200" dirty="0">
                <a:solidFill>
                  <a:schemeClr val="tx1"/>
                </a:solidFill>
              </a:rPr>
              <a:t>GPU</a:t>
            </a:r>
            <a:r>
              <a:rPr lang="zh-CN" altLang="en-US" sz="2200" dirty="0">
                <a:solidFill>
                  <a:schemeClr val="tx1"/>
                </a:solidFill>
              </a:rPr>
              <a:t>已成为算力命脉，大模型训练与推理高度依赖</a:t>
            </a:r>
            <a:r>
              <a:rPr lang="en-US" altLang="zh-CN" sz="2200" dirty="0">
                <a:solidFill>
                  <a:schemeClr val="tx1"/>
                </a:solidFill>
              </a:rPr>
              <a:t>GPU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763270" lvl="1" indent="-306070">
              <a:buFont typeface="Wingdings 2" panose="05020102010507070707" charset="0"/>
              <a:buChar char=""/>
            </a:pPr>
            <a:r>
              <a:rPr lang="zh-CN" altLang="en-US" sz="2200" dirty="0">
                <a:solidFill>
                  <a:schemeClr val="tx1"/>
                </a:solidFill>
              </a:rPr>
              <a:t>多租户场景普遍，攻击者和受害者很可能共享</a:t>
            </a:r>
            <a:r>
              <a:rPr lang="en-US" altLang="zh-CN" sz="2200" dirty="0">
                <a:solidFill>
                  <a:schemeClr val="tx1"/>
                </a:solidFill>
              </a:rPr>
              <a:t>GPU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763270" lvl="1" indent="-306070">
              <a:buFont typeface="Wingdings 2" panose="05020102010507070707" charset="0"/>
              <a:buChar char=""/>
            </a:pPr>
            <a:r>
              <a:rPr lang="zh-CN" altLang="en-US" sz="2200" dirty="0">
                <a:solidFill>
                  <a:schemeClr val="tx1"/>
                </a:solidFill>
              </a:rPr>
              <a:t>模型参数是位翻转的完美受害者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71905" y="4351655"/>
            <a:ext cx="3343910" cy="1430655"/>
          </a:xfrm>
          <a:prstGeom prst="roundRect">
            <a:avLst/>
          </a:prstGeom>
          <a:ln w="50800" cap="rnd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algn="ctr"/>
            <a:r>
              <a:rPr lang="en-US" altLang="zh-CN" sz="2400"/>
              <a:t>CPU</a:t>
            </a:r>
            <a:endParaRPr lang="en-US" altLang="zh-CN" sz="2400"/>
          </a:p>
          <a:p>
            <a:pPr algn="ctr"/>
            <a:r>
              <a:rPr lang="zh-CN" altLang="en-US" sz="2400"/>
              <a:t>翻转页表项</a:t>
            </a:r>
            <a:endParaRPr lang="zh-CN" altLang="en-US" sz="2400"/>
          </a:p>
          <a:p>
            <a:pPr algn="ctr"/>
            <a:r>
              <a:rPr lang="zh-CN" altLang="en-US" sz="2400"/>
              <a:t>提权攻击</a:t>
            </a:r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6853555" y="4351655"/>
            <a:ext cx="3343910" cy="1430655"/>
          </a:xfrm>
          <a:prstGeom prst="roundRect">
            <a:avLst/>
          </a:prstGeom>
          <a:ln w="50800" cap="rnd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algn="ctr"/>
            <a:r>
              <a:rPr lang="en-US" altLang="zh-CN" sz="2400"/>
              <a:t>GPU</a:t>
            </a:r>
            <a:endParaRPr lang="en-US" altLang="zh-CN" sz="2400"/>
          </a:p>
          <a:p>
            <a:pPr algn="ctr"/>
            <a:r>
              <a:rPr lang="zh-CN" altLang="en-US" sz="2400"/>
              <a:t>翻转模型</a:t>
            </a:r>
            <a:r>
              <a:rPr lang="zh-CN" altLang="en-US" sz="2400"/>
              <a:t>参数</a:t>
            </a:r>
            <a:endParaRPr lang="zh-CN" altLang="en-US" sz="2400"/>
          </a:p>
          <a:p>
            <a:pPr algn="ctr"/>
            <a:r>
              <a:rPr lang="zh-CN" altLang="en-US" sz="2400"/>
              <a:t>精度</a:t>
            </a:r>
            <a:r>
              <a:rPr lang="zh-CN" altLang="en-US" sz="2400"/>
              <a:t>下降攻击</a:t>
            </a:r>
            <a:endParaRPr lang="zh-CN" altLang="en-US" sz="2400"/>
          </a:p>
        </p:txBody>
      </p:sp>
      <p:sp>
        <p:nvSpPr>
          <p:cNvPr id="7" name="右箭头 6"/>
          <p:cNvSpPr/>
          <p:nvPr/>
        </p:nvSpPr>
        <p:spPr>
          <a:xfrm>
            <a:off x="5181600" y="4719955"/>
            <a:ext cx="1106170" cy="51879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5306" y="649070"/>
            <a:ext cx="10521388" cy="636222"/>
          </a:xfrm>
        </p:spPr>
        <p:txBody>
          <a:bodyPr>
            <a:normAutofit/>
          </a:bodyPr>
          <a:lstStyle/>
          <a:p>
            <a:r>
              <a:rPr lang="en-US" altLang="zh-CN" dirty="0"/>
              <a:t>GPU</a:t>
            </a:r>
            <a:r>
              <a:rPr lang="zh-CN" altLang="en-US" dirty="0"/>
              <a:t>相关</a:t>
            </a:r>
            <a:r>
              <a:rPr lang="zh-CN" altLang="en-US" dirty="0"/>
              <a:t>知识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35188" y="48139"/>
            <a:ext cx="1106598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背景知识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攻击方法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攻击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防御与讨论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总结</a:t>
            </a:r>
            <a:endParaRPr lang="zh-CN" altLang="en-US" sz="2000" dirty="0">
              <a:solidFill>
                <a:srgbClr val="BFBF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内容占位符 1"/>
          <p:cNvSpPr>
            <a:spLocks noGrp="1"/>
          </p:cNvSpPr>
          <p:nvPr>
            <p:ph idx="1"/>
          </p:nvPr>
        </p:nvSpPr>
        <p:spPr>
          <a:xfrm>
            <a:off x="835025" y="1350010"/>
            <a:ext cx="6228080" cy="5473700"/>
          </a:xfrm>
        </p:spPr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SM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1"/>
            <a:r>
              <a:rPr lang="en-US" altLang="zh-CN" sz="2200" dirty="0">
                <a:solidFill>
                  <a:schemeClr val="tx1"/>
                </a:solidFill>
                <a:sym typeface="+mn-ea"/>
              </a:rPr>
              <a:t>Streaming Multiprocessor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流式多处理器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lvl="1"/>
            <a:r>
              <a:rPr lang="en-US" altLang="zh-CN" sz="2200" dirty="0">
                <a:solidFill>
                  <a:schemeClr val="tx1"/>
                </a:solidFill>
                <a:sym typeface="+mn-ea"/>
              </a:rPr>
              <a:t>GPU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的计算中心，类似于</a:t>
            </a:r>
            <a:r>
              <a:rPr lang="en-US" altLang="zh-CN" sz="2200" dirty="0">
                <a:solidFill>
                  <a:schemeClr val="tx1"/>
                </a:solidFill>
                <a:sym typeface="+mn-ea"/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的核心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lvl="1"/>
            <a:r>
              <a:rPr lang="en-US" altLang="zh-CN" sz="2200" dirty="0">
                <a:solidFill>
                  <a:schemeClr val="tx1"/>
                </a:solidFill>
                <a:sym typeface="+mn-ea"/>
              </a:rPr>
              <a:t>GPU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通常拥有数十个</a:t>
            </a:r>
            <a:r>
              <a:rPr lang="en-US" altLang="zh-CN" sz="2200" dirty="0">
                <a:solidFill>
                  <a:schemeClr val="tx1"/>
                </a:solidFill>
                <a:sym typeface="+mn-ea"/>
              </a:rPr>
              <a:t>SM</a:t>
            </a:r>
            <a:endParaRPr lang="en-US" altLang="zh-CN" sz="2200" dirty="0">
              <a:solidFill>
                <a:schemeClr val="tx1"/>
              </a:solidFill>
              <a:sym typeface="+mn-ea"/>
            </a:endParaRPr>
          </a:p>
          <a:p>
            <a:pPr marL="306070" lvl="0" indent="-306070">
              <a:buFont typeface="Wingdings 2" panose="05020102010507070707" charset="0"/>
              <a:buChar char=""/>
            </a:pPr>
            <a:r>
              <a:rPr lang="en-US" altLang="zh-CN" sz="2400" dirty="0">
                <a:solidFill>
                  <a:schemeClr val="tx1"/>
                </a:solidFill>
              </a:rPr>
              <a:t>warp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zh-CN" altLang="en-US" sz="2200" dirty="0">
                <a:solidFill>
                  <a:schemeClr val="tx1"/>
                </a:solidFill>
              </a:rPr>
              <a:t>线程束，线程调度的基本单</a:t>
            </a:r>
            <a:r>
              <a:rPr lang="zh-CN" altLang="en-US" sz="2200" dirty="0">
                <a:solidFill>
                  <a:schemeClr val="tx1"/>
                </a:solidFill>
              </a:rPr>
              <a:t>位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zh-CN" altLang="en-US" sz="2200" dirty="0">
                <a:solidFill>
                  <a:schemeClr val="tx1"/>
                </a:solidFill>
              </a:rPr>
              <a:t>一般包含</a:t>
            </a:r>
            <a:r>
              <a:rPr lang="en-US" altLang="zh-CN" sz="2200" dirty="0">
                <a:solidFill>
                  <a:schemeClr val="tx1"/>
                </a:solidFill>
              </a:rPr>
              <a:t>32</a:t>
            </a:r>
            <a:r>
              <a:rPr lang="zh-CN" altLang="en-US" sz="2200" dirty="0">
                <a:solidFill>
                  <a:schemeClr val="tx1"/>
                </a:solidFill>
              </a:rPr>
              <a:t>个线程，线程执行相同的</a:t>
            </a:r>
            <a:r>
              <a:rPr lang="zh-CN" altLang="en-US" sz="2200" dirty="0">
                <a:solidFill>
                  <a:schemeClr val="tx1"/>
                </a:solidFill>
              </a:rPr>
              <a:t>指令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306070" lvl="0" indent="-306070">
              <a:buFont typeface="Wingdings 2" panose="05020102010507070707" charset="0"/>
              <a:buChar char=""/>
            </a:pP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存储层次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1"/>
            <a:r>
              <a:rPr lang="en-US" altLang="zh-CN" sz="2200" dirty="0">
                <a:solidFill>
                  <a:schemeClr val="tx1"/>
                </a:solidFill>
                <a:sym typeface="+mn-ea"/>
              </a:rPr>
              <a:t>L1 cache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200" dirty="0">
                <a:solidFill>
                  <a:schemeClr val="tx1"/>
                </a:solidFill>
                <a:sym typeface="+mn-ea"/>
              </a:rPr>
              <a:t>SM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私有）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lvl="1"/>
            <a:r>
              <a:rPr lang="en-US" altLang="zh-CN" sz="2200" dirty="0">
                <a:solidFill>
                  <a:schemeClr val="tx1"/>
                </a:solidFill>
                <a:sym typeface="+mn-ea"/>
              </a:rPr>
              <a:t>L2 cache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（全卡共享）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lvl="1"/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全局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内存（</a:t>
            </a:r>
            <a:r>
              <a:rPr lang="en-US" altLang="zh-CN" sz="2200" dirty="0">
                <a:solidFill>
                  <a:schemeClr val="tx1"/>
                </a:solidFill>
                <a:sym typeface="+mn-ea"/>
              </a:rPr>
              <a:t>GDDR6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或</a:t>
            </a:r>
            <a:r>
              <a:rPr lang="en-US" altLang="zh-CN" sz="2200" dirty="0">
                <a:solidFill>
                  <a:schemeClr val="tx1"/>
                </a:solidFill>
                <a:sym typeface="+mn-ea"/>
              </a:rPr>
              <a:t>HBM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）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6070" y="1881505"/>
            <a:ext cx="5271770" cy="42703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5306" y="649070"/>
            <a:ext cx="10521388" cy="636222"/>
          </a:xfrm>
        </p:spPr>
        <p:txBody>
          <a:bodyPr>
            <a:normAutofit/>
          </a:bodyPr>
          <a:lstStyle/>
          <a:p>
            <a:r>
              <a:rPr lang="zh-CN" altLang="en-US" dirty="0"/>
              <a:t>三大挑战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35188" y="48139"/>
            <a:ext cx="1106598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背景知识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攻击方法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攻击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防御与讨论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总结</a:t>
            </a:r>
            <a:endParaRPr lang="zh-CN" altLang="en-US" sz="2000" dirty="0">
              <a:solidFill>
                <a:srgbClr val="BFBF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圆角矩形 3"/>
          <p:cNvSpPr/>
          <p:nvPr>
            <p:custDataLst>
              <p:tags r:id="rId1"/>
            </p:custDataLst>
          </p:nvPr>
        </p:nvSpPr>
        <p:spPr>
          <a:xfrm>
            <a:off x="807085" y="2108518"/>
            <a:ext cx="3326765" cy="4246245"/>
          </a:xfrm>
          <a:custGeom>
            <a:avLst/>
            <a:gdLst>
              <a:gd name="adj" fmla="val 662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39" h="6687">
                <a:moveTo>
                  <a:pt x="5035" y="0"/>
                </a:moveTo>
                <a:lnTo>
                  <a:pt x="5041" y="3"/>
                </a:lnTo>
                <a:cubicBezTo>
                  <a:pt x="5158" y="59"/>
                  <a:pt x="5239" y="179"/>
                  <a:pt x="5239" y="318"/>
                </a:cubicBezTo>
                <a:lnTo>
                  <a:pt x="5239" y="6337"/>
                </a:lnTo>
                <a:cubicBezTo>
                  <a:pt x="5239" y="6531"/>
                  <a:pt x="5083" y="6687"/>
                  <a:pt x="4889" y="6687"/>
                </a:cubicBezTo>
                <a:lnTo>
                  <a:pt x="307" y="6687"/>
                </a:lnTo>
                <a:cubicBezTo>
                  <a:pt x="180" y="6687"/>
                  <a:pt x="69" y="6620"/>
                  <a:pt x="8" y="6519"/>
                </a:cubicBezTo>
                <a:lnTo>
                  <a:pt x="0" y="6505"/>
                </a:lnTo>
                <a:lnTo>
                  <a:pt x="10" y="6510"/>
                </a:lnTo>
                <a:cubicBezTo>
                  <a:pt x="52" y="6527"/>
                  <a:pt x="98" y="6537"/>
                  <a:pt x="146" y="6537"/>
                </a:cubicBezTo>
                <a:lnTo>
                  <a:pt x="4728" y="6537"/>
                </a:lnTo>
                <a:cubicBezTo>
                  <a:pt x="4922" y="6537"/>
                  <a:pt x="5078" y="6381"/>
                  <a:pt x="5078" y="6187"/>
                </a:cubicBezTo>
                <a:lnTo>
                  <a:pt x="5078" y="168"/>
                </a:lnTo>
                <a:cubicBezTo>
                  <a:pt x="5078" y="107"/>
                  <a:pt x="5063" y="51"/>
                  <a:pt x="5036" y="1"/>
                </a:cubicBezTo>
                <a:lnTo>
                  <a:pt x="503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23850" tIns="215900" rIns="179705" bIns="698500" numCol="1" spcCol="0" rtlCol="0" fromWordArt="0" anchor="t" anchorCtr="0" forceAA="0" compatLnSpc="1">
            <a:noAutofit/>
          </a:bodyPr>
          <a:p>
            <a:pPr lvl="0" algn="l">
              <a:lnSpc>
                <a:spcPct val="140000"/>
              </a:lnSpc>
              <a:buClrTx/>
              <a:buSzTx/>
              <a:buFontTx/>
            </a:pPr>
            <a:endParaRPr lang="zh-CN" altLang="zh-CN" sz="1400" dirty="0">
              <a:solidFill>
                <a:srgbClr val="262626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5" name="圆角矩形 3"/>
          <p:cNvSpPr/>
          <p:nvPr>
            <p:custDataLst>
              <p:tags r:id="rId2"/>
            </p:custDataLst>
          </p:nvPr>
        </p:nvSpPr>
        <p:spPr>
          <a:xfrm>
            <a:off x="677545" y="1992948"/>
            <a:ext cx="3354070" cy="4266565"/>
          </a:xfrm>
          <a:prstGeom prst="roundRect">
            <a:avLst>
              <a:gd name="adj" fmla="val 6621"/>
            </a:avLst>
          </a:prstGeom>
          <a:solidFill>
            <a:schemeClr val="lt1">
              <a:lumMod val="100000"/>
              <a:alpha val="10000"/>
            </a:schemeClr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88290" tIns="252095" rIns="288290" bIns="698500" numCol="1" spcCol="0" rtlCol="0" fromWordArt="0" anchor="t" anchorCtr="0" forceAA="0" compatLnSpc="1">
            <a:noAutofit/>
          </a:bodyPr>
          <a:p>
            <a:pPr lvl="0" algn="l">
              <a:lnSpc>
                <a:spcPct val="140000"/>
              </a:lnSpc>
              <a:buClrTx/>
              <a:buSzTx/>
              <a:buFontTx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" name="圆角矩形 16"/>
          <p:cNvSpPr/>
          <p:nvPr>
            <p:custDataLst>
              <p:tags r:id="rId3"/>
            </p:custDataLst>
          </p:nvPr>
        </p:nvSpPr>
        <p:spPr>
          <a:xfrm>
            <a:off x="891541" y="5579428"/>
            <a:ext cx="490855" cy="493395"/>
          </a:xfrm>
          <a:prstGeom prst="roundRect">
            <a:avLst>
              <a:gd name="adj" fmla="val 2376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r>
              <a:rPr lang="en-US" altLang="zh-CN" sz="1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1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8" name="圆角矩形 3"/>
          <p:cNvSpPr/>
          <p:nvPr>
            <p:custDataLst>
              <p:tags r:id="rId4"/>
            </p:custDataLst>
          </p:nvPr>
        </p:nvSpPr>
        <p:spPr>
          <a:xfrm>
            <a:off x="4504056" y="2108518"/>
            <a:ext cx="3326765" cy="4246245"/>
          </a:xfrm>
          <a:custGeom>
            <a:avLst/>
            <a:gdLst>
              <a:gd name="adj" fmla="val 662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39" h="6687">
                <a:moveTo>
                  <a:pt x="5035" y="0"/>
                </a:moveTo>
                <a:lnTo>
                  <a:pt x="5041" y="3"/>
                </a:lnTo>
                <a:cubicBezTo>
                  <a:pt x="5158" y="59"/>
                  <a:pt x="5239" y="179"/>
                  <a:pt x="5239" y="318"/>
                </a:cubicBezTo>
                <a:lnTo>
                  <a:pt x="5239" y="6337"/>
                </a:lnTo>
                <a:cubicBezTo>
                  <a:pt x="5239" y="6531"/>
                  <a:pt x="5083" y="6687"/>
                  <a:pt x="4889" y="6687"/>
                </a:cubicBezTo>
                <a:lnTo>
                  <a:pt x="307" y="6687"/>
                </a:lnTo>
                <a:cubicBezTo>
                  <a:pt x="180" y="6687"/>
                  <a:pt x="69" y="6620"/>
                  <a:pt x="8" y="6519"/>
                </a:cubicBezTo>
                <a:lnTo>
                  <a:pt x="0" y="6505"/>
                </a:lnTo>
                <a:lnTo>
                  <a:pt x="10" y="6510"/>
                </a:lnTo>
                <a:cubicBezTo>
                  <a:pt x="52" y="6527"/>
                  <a:pt x="98" y="6537"/>
                  <a:pt x="146" y="6537"/>
                </a:cubicBezTo>
                <a:lnTo>
                  <a:pt x="4728" y="6537"/>
                </a:lnTo>
                <a:cubicBezTo>
                  <a:pt x="4922" y="6537"/>
                  <a:pt x="5078" y="6381"/>
                  <a:pt x="5078" y="6187"/>
                </a:cubicBezTo>
                <a:lnTo>
                  <a:pt x="5078" y="168"/>
                </a:lnTo>
                <a:cubicBezTo>
                  <a:pt x="5078" y="107"/>
                  <a:pt x="5063" y="51"/>
                  <a:pt x="5036" y="1"/>
                </a:cubicBezTo>
                <a:lnTo>
                  <a:pt x="503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23850" tIns="215900" rIns="179705" bIns="698500" numCol="1" spcCol="0" rtlCol="0" fromWordArt="0" anchor="t" anchorCtr="0" forceAA="0" compatLnSpc="1">
            <a:noAutofit/>
          </a:bodyPr>
          <a:p>
            <a:pPr lvl="0" algn="l">
              <a:lnSpc>
                <a:spcPct val="140000"/>
              </a:lnSpc>
              <a:buClrTx/>
              <a:buSzTx/>
              <a:buFontTx/>
            </a:pPr>
            <a:endParaRPr lang="zh-CN" altLang="zh-CN" sz="1400" dirty="0">
              <a:solidFill>
                <a:srgbClr val="262626"/>
              </a:solidFill>
              <a:latin typeface="+mn-ea"/>
              <a:cs typeface="+mn-ea"/>
              <a:sym typeface="+mn-ea"/>
            </a:endParaRPr>
          </a:p>
        </p:txBody>
      </p:sp>
      <p:sp useBgFill="1">
        <p:nvSpPr>
          <p:cNvPr id="49" name="圆角矩形 3"/>
          <p:cNvSpPr/>
          <p:nvPr>
            <p:custDataLst>
              <p:tags r:id="rId5"/>
            </p:custDataLst>
          </p:nvPr>
        </p:nvSpPr>
        <p:spPr>
          <a:xfrm>
            <a:off x="4374516" y="1992948"/>
            <a:ext cx="3354070" cy="4266565"/>
          </a:xfrm>
          <a:prstGeom prst="roundRect">
            <a:avLst>
              <a:gd name="adj" fmla="val 6621"/>
            </a:avLst>
          </a:prstGeom>
          <a:solidFill>
            <a:schemeClr val="lt1">
              <a:lumMod val="100000"/>
              <a:alpha val="10000"/>
            </a:schemeClr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88290" tIns="252095" rIns="288290" bIns="698500" numCol="1" spcCol="0" rtlCol="0" fromWordArt="0" anchor="t" anchorCtr="0" forceAA="0" compatLnSpc="1">
            <a:noAutofit/>
          </a:bodyPr>
          <a:p>
            <a:pPr lvl="0" algn="l">
              <a:lnSpc>
                <a:spcPct val="140000"/>
              </a:lnSpc>
              <a:buClrTx/>
              <a:buSzTx/>
              <a:buFontTx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 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50" name="圆角矩形 16"/>
          <p:cNvSpPr/>
          <p:nvPr>
            <p:custDataLst>
              <p:tags r:id="rId6"/>
            </p:custDataLst>
          </p:nvPr>
        </p:nvSpPr>
        <p:spPr>
          <a:xfrm>
            <a:off x="4588511" y="5579428"/>
            <a:ext cx="490855" cy="493395"/>
          </a:xfrm>
          <a:prstGeom prst="roundRect">
            <a:avLst>
              <a:gd name="adj" fmla="val 2376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r>
              <a:rPr lang="en-US" altLang="zh-CN" sz="1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1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2" name="圆角矩形 3"/>
          <p:cNvSpPr/>
          <p:nvPr>
            <p:custDataLst>
              <p:tags r:id="rId7"/>
            </p:custDataLst>
          </p:nvPr>
        </p:nvSpPr>
        <p:spPr>
          <a:xfrm>
            <a:off x="8187691" y="2108518"/>
            <a:ext cx="3326765" cy="4246245"/>
          </a:xfrm>
          <a:custGeom>
            <a:avLst/>
            <a:gdLst>
              <a:gd name="adj" fmla="val 662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39" h="6687">
                <a:moveTo>
                  <a:pt x="5035" y="0"/>
                </a:moveTo>
                <a:lnTo>
                  <a:pt x="5041" y="3"/>
                </a:lnTo>
                <a:cubicBezTo>
                  <a:pt x="5158" y="59"/>
                  <a:pt x="5239" y="179"/>
                  <a:pt x="5239" y="318"/>
                </a:cubicBezTo>
                <a:lnTo>
                  <a:pt x="5239" y="6337"/>
                </a:lnTo>
                <a:cubicBezTo>
                  <a:pt x="5239" y="6531"/>
                  <a:pt x="5083" y="6687"/>
                  <a:pt x="4889" y="6687"/>
                </a:cubicBezTo>
                <a:lnTo>
                  <a:pt x="307" y="6687"/>
                </a:lnTo>
                <a:cubicBezTo>
                  <a:pt x="180" y="6687"/>
                  <a:pt x="69" y="6620"/>
                  <a:pt x="8" y="6519"/>
                </a:cubicBezTo>
                <a:lnTo>
                  <a:pt x="0" y="6505"/>
                </a:lnTo>
                <a:lnTo>
                  <a:pt x="10" y="6510"/>
                </a:lnTo>
                <a:cubicBezTo>
                  <a:pt x="52" y="6527"/>
                  <a:pt x="98" y="6537"/>
                  <a:pt x="146" y="6537"/>
                </a:cubicBezTo>
                <a:lnTo>
                  <a:pt x="4728" y="6537"/>
                </a:lnTo>
                <a:cubicBezTo>
                  <a:pt x="4922" y="6537"/>
                  <a:pt x="5078" y="6381"/>
                  <a:pt x="5078" y="6187"/>
                </a:cubicBezTo>
                <a:lnTo>
                  <a:pt x="5078" y="168"/>
                </a:lnTo>
                <a:cubicBezTo>
                  <a:pt x="5078" y="107"/>
                  <a:pt x="5063" y="51"/>
                  <a:pt x="5036" y="1"/>
                </a:cubicBezTo>
                <a:lnTo>
                  <a:pt x="503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23850" tIns="215900" rIns="179705" bIns="698500" numCol="1" spcCol="0" rtlCol="0" fromWordArt="0" anchor="t" anchorCtr="0" forceAA="0" compatLnSpc="1">
            <a:noAutofit/>
          </a:bodyPr>
          <a:p>
            <a:pPr lvl="0" algn="l">
              <a:lnSpc>
                <a:spcPct val="140000"/>
              </a:lnSpc>
              <a:buClrTx/>
              <a:buSzTx/>
              <a:buFontTx/>
            </a:pPr>
            <a:endParaRPr lang="zh-CN" altLang="zh-CN" sz="1400" dirty="0">
              <a:solidFill>
                <a:srgbClr val="262626"/>
              </a:solidFill>
              <a:latin typeface="+mn-ea"/>
              <a:cs typeface="+mn-ea"/>
              <a:sym typeface="+mn-ea"/>
            </a:endParaRPr>
          </a:p>
        </p:txBody>
      </p:sp>
      <p:sp useBgFill="1">
        <p:nvSpPr>
          <p:cNvPr id="53" name="圆角矩形 3"/>
          <p:cNvSpPr/>
          <p:nvPr>
            <p:custDataLst>
              <p:tags r:id="rId8"/>
            </p:custDataLst>
          </p:nvPr>
        </p:nvSpPr>
        <p:spPr>
          <a:xfrm>
            <a:off x="8058151" y="1992948"/>
            <a:ext cx="3354070" cy="4266565"/>
          </a:xfrm>
          <a:prstGeom prst="roundRect">
            <a:avLst>
              <a:gd name="adj" fmla="val 6621"/>
            </a:avLst>
          </a:prstGeom>
          <a:solidFill>
            <a:schemeClr val="lt1">
              <a:lumMod val="100000"/>
              <a:alpha val="10000"/>
            </a:schemeClr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88290" tIns="252095" rIns="288290" bIns="698500" numCol="1" spcCol="0" rtlCol="0" fromWordArt="0" anchor="t" anchorCtr="0" forceAA="0" compatLnSpc="1">
            <a:noAutofit/>
          </a:bodyPr>
          <a:p>
            <a:pPr lvl="0" algn="l">
              <a:lnSpc>
                <a:spcPct val="140000"/>
              </a:lnSpc>
              <a:buClrTx/>
              <a:buSzTx/>
              <a:buFontTx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 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54" name="圆角矩形 16"/>
          <p:cNvSpPr/>
          <p:nvPr>
            <p:custDataLst>
              <p:tags r:id="rId9"/>
            </p:custDataLst>
          </p:nvPr>
        </p:nvSpPr>
        <p:spPr>
          <a:xfrm>
            <a:off x="8272146" y="5579428"/>
            <a:ext cx="490855" cy="493395"/>
          </a:xfrm>
          <a:prstGeom prst="roundRect">
            <a:avLst>
              <a:gd name="adj" fmla="val 2376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r>
              <a:rPr lang="en-US" altLang="zh-CN" sz="1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03</a:t>
            </a:r>
            <a:endParaRPr lang="en-US" altLang="zh-CN" sz="1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2" name="内容占位符 1"/>
          <p:cNvSpPr>
            <a:spLocks noGrp="1"/>
          </p:cNvSpPr>
          <p:nvPr>
            <p:ph idx="1"/>
          </p:nvPr>
        </p:nvSpPr>
        <p:spPr>
          <a:xfrm>
            <a:off x="554355" y="2105660"/>
            <a:ext cx="3479165" cy="438912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zh-CN" sz="2400" dirty="0" err="1">
                <a:solidFill>
                  <a:schemeClr val="tx1"/>
                </a:solidFill>
              </a:rPr>
              <a:t>      </a:t>
            </a:r>
            <a:r>
              <a:rPr lang="zh-CN" altLang="en-US" sz="2400" dirty="0" err="1">
                <a:solidFill>
                  <a:schemeClr val="tx1"/>
                </a:solidFill>
              </a:rPr>
              <a:t>挑战一：地址映射</a:t>
            </a:r>
            <a:endParaRPr lang="zh-CN" altLang="en-US" sz="2400" dirty="0" err="1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en-US" altLang="zh-CN" sz="2200" dirty="0">
                <a:solidFill>
                  <a:schemeClr val="tx1"/>
                </a:solidFill>
              </a:rPr>
              <a:t>GPU</a:t>
            </a:r>
            <a:r>
              <a:rPr lang="zh-CN" altLang="en-US" sz="2200" dirty="0">
                <a:solidFill>
                  <a:schemeClr val="tx1"/>
                </a:solidFill>
              </a:rPr>
              <a:t>不暴露物理地址，攻击者难以</a:t>
            </a:r>
            <a:r>
              <a:rPr lang="zh-CN" altLang="en-US" sz="2200" dirty="0">
                <a:solidFill>
                  <a:schemeClr val="tx1"/>
                </a:solidFill>
              </a:rPr>
              <a:t>获取虚拟地址到存储体地址的映射关系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zh-CN" altLang="en-US" sz="2200" b="1" dirty="0">
                <a:solidFill>
                  <a:schemeClr val="tx1"/>
                </a:solidFill>
              </a:rPr>
              <a:t>如何</a:t>
            </a:r>
            <a:r>
              <a:rPr lang="zh-CN" altLang="en-US" sz="2200" b="1" dirty="0">
                <a:solidFill>
                  <a:schemeClr val="tx1"/>
                </a:solidFill>
              </a:rPr>
              <a:t>获取地址映射？</a:t>
            </a:r>
            <a:endParaRPr lang="zh-CN" altLang="en-US" sz="2200" b="1" dirty="0">
              <a:solidFill>
                <a:schemeClr val="tx1"/>
              </a:solidFill>
            </a:endParaRPr>
          </a:p>
        </p:txBody>
      </p:sp>
      <p:sp>
        <p:nvSpPr>
          <p:cNvPr id="13" name="内容占位符 1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7787640" y="2139950"/>
            <a:ext cx="3528060" cy="43891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64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Font typeface="Wingdings 2" panose="05020102010507070707" charset="0"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  </a:t>
            </a:r>
            <a:r>
              <a:rPr lang="zh-CN" altLang="en-US" sz="2400" dirty="0">
                <a:solidFill>
                  <a:schemeClr val="tx1"/>
                </a:solidFill>
              </a:rPr>
              <a:t>挑战三：缓解措施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en-US" altLang="zh-CN" sz="2200" dirty="0">
                <a:solidFill>
                  <a:schemeClr val="tx1"/>
                </a:solidFill>
              </a:rPr>
              <a:t>DRAM</a:t>
            </a:r>
            <a:r>
              <a:rPr lang="zh-CN" altLang="en-US" sz="2200" dirty="0">
                <a:solidFill>
                  <a:schemeClr val="tx1"/>
                </a:solidFill>
              </a:rPr>
              <a:t>内部署了类</a:t>
            </a:r>
            <a:r>
              <a:rPr lang="en-US" altLang="zh-CN" sz="2200" dirty="0">
                <a:solidFill>
                  <a:schemeClr val="tx1"/>
                </a:solidFill>
              </a:rPr>
              <a:t>TRR</a:t>
            </a:r>
            <a:r>
              <a:rPr lang="zh-CN" altLang="en-US" sz="2200" dirty="0">
                <a:solidFill>
                  <a:schemeClr val="tx1"/>
                </a:solidFill>
              </a:rPr>
              <a:t>等</a:t>
            </a:r>
            <a:r>
              <a:rPr lang="en-US" altLang="zh-CN" sz="2200" dirty="0">
                <a:solidFill>
                  <a:schemeClr val="tx1"/>
                </a:solidFill>
              </a:rPr>
              <a:t>Rowhammer</a:t>
            </a:r>
            <a:r>
              <a:rPr lang="zh-CN" altLang="en-US" sz="2200" dirty="0">
                <a:solidFill>
                  <a:schemeClr val="tx1"/>
                </a:solidFill>
              </a:rPr>
              <a:t>防御措施，能有效防御朴素的</a:t>
            </a:r>
            <a:r>
              <a:rPr lang="en-US" altLang="zh-CN" sz="2200" dirty="0">
                <a:solidFill>
                  <a:schemeClr val="tx1"/>
                </a:solidFill>
              </a:rPr>
              <a:t>Rowhammer</a:t>
            </a:r>
            <a:r>
              <a:rPr lang="zh-CN" altLang="en-US" sz="2200" dirty="0">
                <a:solidFill>
                  <a:schemeClr val="tx1"/>
                </a:solidFill>
              </a:rPr>
              <a:t>攻击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zh-CN" altLang="en-US" sz="2200" b="1" dirty="0">
                <a:solidFill>
                  <a:schemeClr val="tx1"/>
                </a:solidFill>
              </a:rPr>
              <a:t>如何绕过缓解措施？</a:t>
            </a:r>
            <a:endParaRPr lang="zh-CN" altLang="en-US" sz="2200" b="1" dirty="0">
              <a:solidFill>
                <a:schemeClr val="tx1"/>
              </a:solidFill>
            </a:endParaRPr>
          </a:p>
        </p:txBody>
      </p:sp>
      <p:sp>
        <p:nvSpPr>
          <p:cNvPr id="16" name="内容占位符 1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151630" y="2105660"/>
            <a:ext cx="3517265" cy="43891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64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Font typeface="Wingdings 2" panose="05020102010507070707" charset="0"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  </a:t>
            </a:r>
            <a:r>
              <a:rPr lang="zh-CN" altLang="en-US" sz="2400" dirty="0">
                <a:solidFill>
                  <a:schemeClr val="tx1"/>
                </a:solidFill>
              </a:rPr>
              <a:t>挑战二：激活率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en-US" altLang="zh-CN" sz="2200" dirty="0">
                <a:solidFill>
                  <a:schemeClr val="tx1"/>
                </a:solidFill>
              </a:rPr>
              <a:t>GPU</a:t>
            </a:r>
            <a:r>
              <a:rPr lang="zh-CN" altLang="en-US" sz="2200" dirty="0">
                <a:solidFill>
                  <a:schemeClr val="tx1"/>
                </a:solidFill>
              </a:rPr>
              <a:t>访问延迟是</a:t>
            </a:r>
            <a:r>
              <a:rPr lang="en-US" altLang="zh-CN" sz="2200" dirty="0">
                <a:solidFill>
                  <a:schemeClr val="tx1"/>
                </a:solidFill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</a:rPr>
              <a:t>的</a:t>
            </a:r>
            <a:r>
              <a:rPr lang="en-US" altLang="zh-CN" sz="2200" dirty="0">
                <a:solidFill>
                  <a:schemeClr val="tx1"/>
                </a:solidFill>
              </a:rPr>
              <a:t>4</a:t>
            </a:r>
            <a:r>
              <a:rPr lang="zh-CN" altLang="en-US" sz="2200" dirty="0">
                <a:solidFill>
                  <a:schemeClr val="tx1"/>
                </a:solidFill>
              </a:rPr>
              <a:t>倍，且刷新窗口更短，单线程捶打强度远达不到位翻转要求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zh-CN" altLang="en-US" sz="2200" b="1" dirty="0">
                <a:solidFill>
                  <a:schemeClr val="tx1"/>
                </a:solidFill>
              </a:rPr>
              <a:t>如何提高激活率？</a:t>
            </a:r>
            <a:endParaRPr lang="zh-CN" altLang="en-US" sz="2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102810" y="1245704"/>
            <a:ext cx="3031869" cy="3536402"/>
            <a:chOff x="599226" y="1732460"/>
            <a:chExt cx="10993549" cy="2524748"/>
          </a:xfrm>
        </p:grpSpPr>
        <p:grpSp>
          <p:nvGrpSpPr>
            <p:cNvPr id="2" name="组合 1"/>
            <p:cNvGrpSpPr/>
            <p:nvPr/>
          </p:nvGrpSpPr>
          <p:grpSpPr>
            <a:xfrm>
              <a:off x="599226" y="1732460"/>
              <a:ext cx="10993549" cy="2524748"/>
              <a:chOff x="599225" y="1732459"/>
              <a:chExt cx="10993549" cy="1907212"/>
            </a:xfrm>
          </p:grpSpPr>
          <p:sp>
            <p:nvSpPr>
              <p:cNvPr id="3" name="矩形 2"/>
              <p:cNvSpPr/>
              <p:nvPr userDrawn="1"/>
            </p:nvSpPr>
            <p:spPr>
              <a:xfrm>
                <a:off x="599225" y="1736370"/>
                <a:ext cx="10993549" cy="190330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4" name="矩形 3"/>
              <p:cNvSpPr/>
              <p:nvPr userDrawn="1"/>
            </p:nvSpPr>
            <p:spPr>
              <a:xfrm>
                <a:off x="599225" y="1732459"/>
                <a:ext cx="1687098" cy="792000"/>
              </a:xfrm>
              <a:prstGeom prst="rect">
                <a:avLst/>
              </a:prstGeom>
              <a:solidFill>
                <a:srgbClr val="6608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sp>
          <p:nvSpPr>
            <p:cNvPr id="5" name="标题 1"/>
            <p:cNvSpPr txBox="1"/>
            <p:nvPr/>
          </p:nvSpPr>
          <p:spPr>
            <a:xfrm>
              <a:off x="1778609" y="2576952"/>
              <a:ext cx="8634783" cy="840940"/>
            </a:xfrm>
            <a:prstGeom prst="rect">
              <a:avLst/>
            </a:prstGeom>
          </p:spPr>
          <p:txBody>
            <a:bodyPr/>
            <a:lstStyle>
              <a:lvl1pPr algn="l" defTabSz="457200" rtl="0" eaLnBrk="1" latinLnBrk="0" hangingPunct="1">
                <a:spcBef>
                  <a:spcPct val="0"/>
                </a:spcBef>
                <a:buNone/>
                <a:defRPr sz="2800" b="0" kern="1200" cap="none" baseline="0">
                  <a:solidFill>
                    <a:srgbClr val="660874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ctr"/>
              <a:r>
                <a:rPr lang="zh-CN" altLang="en-US" sz="4000" dirty="0"/>
                <a:t>目录</a:t>
              </a:r>
              <a:endParaRPr lang="en-US" altLang="zh-CN" sz="4000" dirty="0"/>
            </a:p>
          </p:txBody>
        </p:sp>
      </p:grpSp>
      <p:sp>
        <p:nvSpPr>
          <p:cNvPr id="7" name="标题 2"/>
          <p:cNvSpPr txBox="1"/>
          <p:nvPr/>
        </p:nvSpPr>
        <p:spPr>
          <a:xfrm>
            <a:off x="5311661" y="1252956"/>
            <a:ext cx="6188346" cy="48430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none" baseline="0">
                <a:solidFill>
                  <a:srgbClr val="660874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BFBFBF"/>
                </a:solidFill>
              </a:rPr>
              <a:t>背景知识</a:t>
            </a:r>
            <a:endParaRPr lang="en-US" altLang="zh-CN" sz="3200" dirty="0">
              <a:solidFill>
                <a:srgbClr val="BFBFBF"/>
              </a:solidFill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200" dirty="0"/>
              <a:t>攻击方法</a:t>
            </a:r>
            <a:endParaRPr lang="en-US" altLang="zh-CN" sz="3200" dirty="0"/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BFBFBF"/>
                </a:solidFill>
              </a:rPr>
              <a:t>攻击实例</a:t>
            </a:r>
            <a:endParaRPr lang="en-US" altLang="zh-CN" sz="3200" dirty="0">
              <a:solidFill>
                <a:srgbClr val="BFBFBF"/>
              </a:solidFill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BFBFBF"/>
                </a:solidFill>
              </a:rPr>
              <a:t>防御与讨论</a:t>
            </a:r>
            <a:endParaRPr lang="en-US" altLang="zh-CN" sz="3200" dirty="0">
              <a:solidFill>
                <a:srgbClr val="BFBFBF"/>
              </a:solidFill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BFBFBF"/>
                </a:solidFill>
              </a:rPr>
              <a:t>总结</a:t>
            </a:r>
            <a:endParaRPr lang="zh-CN" altLang="en-US" sz="3200" dirty="0">
              <a:solidFill>
                <a:srgbClr val="BFBFB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53"/>
    </mc:Choice>
    <mc:Fallback>
      <p:transition spd="slow" advTm="285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5306" y="649070"/>
            <a:ext cx="10521388" cy="636222"/>
          </a:xfrm>
        </p:spPr>
        <p:txBody>
          <a:bodyPr>
            <a:normAutofit/>
          </a:bodyPr>
          <a:lstStyle/>
          <a:p>
            <a:r>
              <a:rPr lang="zh-CN" altLang="en-US" dirty="0"/>
              <a:t>攻击原语</a:t>
            </a:r>
            <a:endParaRPr lang="zh-CN" altLang="en-US" dirty="0"/>
          </a:p>
        </p:txBody>
      </p:sp>
      <p:sp>
        <p:nvSpPr>
          <p:cNvPr id="14" name="内容占位符 1"/>
          <p:cNvSpPr>
            <a:spLocks noGrp="1"/>
          </p:cNvSpPr>
          <p:nvPr>
            <p:ph idx="1"/>
          </p:nvPr>
        </p:nvSpPr>
        <p:spPr>
          <a:xfrm>
            <a:off x="717550" y="1635760"/>
            <a:ext cx="6395720" cy="2370455"/>
          </a:xfrm>
        </p:spPr>
        <p:txBody>
          <a:bodyPr>
            <a:noAutofit/>
          </a:bodyPr>
          <a:lstStyle/>
          <a:p>
            <a:r>
              <a:rPr lang="zh-CN" altLang="en-US" sz="2400" dirty="0" err="1">
                <a:solidFill>
                  <a:schemeClr val="tx1"/>
                </a:solidFill>
              </a:rPr>
              <a:t>绕过缓存</a:t>
            </a:r>
            <a:endParaRPr lang="zh-CN" altLang="en-US" sz="2400" dirty="0" err="1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en-US" altLang="zh-CN" sz="2200" dirty="0">
                <a:solidFill>
                  <a:schemeClr val="tx1"/>
                </a:solidFill>
              </a:rPr>
              <a:t>ld.volatile</a:t>
            </a:r>
            <a:r>
              <a:rPr lang="zh-CN" altLang="en-US" sz="2200" dirty="0">
                <a:solidFill>
                  <a:schemeClr val="tx1"/>
                </a:solidFill>
              </a:rPr>
              <a:t>能强制绕过</a:t>
            </a:r>
            <a:r>
              <a:rPr lang="en-US" altLang="zh-CN" sz="2200" dirty="0">
                <a:solidFill>
                  <a:schemeClr val="tx1"/>
                </a:solidFill>
              </a:rPr>
              <a:t>L1 cache</a:t>
            </a:r>
            <a:r>
              <a:rPr lang="zh-CN" altLang="en-US" sz="2200" dirty="0">
                <a:solidFill>
                  <a:schemeClr val="tx1"/>
                </a:solidFill>
              </a:rPr>
              <a:t>，只将数据存入</a:t>
            </a:r>
            <a:r>
              <a:rPr lang="en-US" altLang="zh-CN" sz="2200" dirty="0">
                <a:solidFill>
                  <a:schemeClr val="tx1"/>
                </a:solidFill>
              </a:rPr>
              <a:t>L2 cache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lvl="1"/>
            <a:r>
              <a:rPr lang="en-US" altLang="zh-CN" sz="2200" dirty="0">
                <a:solidFill>
                  <a:schemeClr val="tx1"/>
                </a:solidFill>
              </a:rPr>
              <a:t>discard</a:t>
            </a:r>
            <a:r>
              <a:rPr lang="zh-CN" altLang="en-US" sz="2200" dirty="0">
                <a:solidFill>
                  <a:schemeClr val="tx1"/>
                </a:solidFill>
              </a:rPr>
              <a:t>能驱逐</a:t>
            </a:r>
            <a:r>
              <a:rPr lang="en-US" altLang="zh-CN" sz="2200" dirty="0">
                <a:solidFill>
                  <a:schemeClr val="tx1"/>
                </a:solidFill>
              </a:rPr>
              <a:t>L2 cache</a:t>
            </a:r>
            <a:r>
              <a:rPr lang="zh-CN" altLang="en-US" sz="2200" dirty="0">
                <a:solidFill>
                  <a:schemeClr val="tx1"/>
                </a:solidFill>
              </a:rPr>
              <a:t>的指定地址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lvl="1"/>
            <a:r>
              <a:rPr lang="zh-CN" altLang="en-US" sz="2200" dirty="0">
                <a:solidFill>
                  <a:schemeClr val="tx1"/>
                </a:solidFill>
              </a:rPr>
              <a:t>两条指令配合即可保证每次访问都命中显存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5188" y="48139"/>
            <a:ext cx="1106598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背景知识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攻击</a:t>
            </a:r>
            <a:r>
              <a:rPr lang="zh-CN" altLang="en-US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</a:t>
            </a:r>
            <a:r>
              <a:rPr lang="en-US" altLang="zh-CN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攻击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防御与讨论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总结</a:t>
            </a:r>
            <a:endParaRPr lang="zh-CN" altLang="en-US" dirty="0">
              <a:solidFill>
                <a:srgbClr val="BFBF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3580" y="2421890"/>
            <a:ext cx="4810125" cy="85725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778635" y="5084445"/>
            <a:ext cx="1395095" cy="901700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508375" y="4942840"/>
            <a:ext cx="1991995" cy="1201420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0415" y="5393055"/>
            <a:ext cx="662940" cy="518795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077335" y="5386070"/>
            <a:ext cx="929640" cy="29908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addr1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0" name="肘形连接符 9"/>
          <p:cNvCxnSpPr>
            <a:endCxn id="9" idx="0"/>
          </p:cNvCxnSpPr>
          <p:nvPr/>
        </p:nvCxnSpPr>
        <p:spPr>
          <a:xfrm>
            <a:off x="991235" y="4617085"/>
            <a:ext cx="3550920" cy="76898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2925445" y="5535930"/>
            <a:ext cx="115189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2011045" y="5386070"/>
            <a:ext cx="929640" cy="29908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addr1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5" name="肘形连接符 14"/>
          <p:cNvCxnSpPr/>
          <p:nvPr/>
        </p:nvCxnSpPr>
        <p:spPr>
          <a:xfrm rot="10800000">
            <a:off x="991235" y="5117465"/>
            <a:ext cx="990600" cy="452120"/>
          </a:xfrm>
          <a:prstGeom prst="bentConnector3">
            <a:avLst>
              <a:gd name="adj1" fmla="val 49936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2011680" y="4180205"/>
            <a:ext cx="1162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ld.volatile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3923030" y="6144260"/>
            <a:ext cx="1162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GPU</a:t>
            </a:r>
            <a:r>
              <a:rPr lang="zh-CN" altLang="en-US"/>
              <a:t>显存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981835" y="6049645"/>
            <a:ext cx="1162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L2 cache</a:t>
            </a:r>
            <a:endParaRPr lang="en-US"/>
          </a:p>
        </p:txBody>
      </p:sp>
      <p:sp>
        <p:nvSpPr>
          <p:cNvPr id="20" name="文本框 19"/>
          <p:cNvSpPr txBox="1"/>
          <p:nvPr/>
        </p:nvSpPr>
        <p:spPr>
          <a:xfrm>
            <a:off x="581025" y="5977890"/>
            <a:ext cx="1162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L1 cache</a:t>
            </a:r>
            <a:endParaRPr lang="en-US"/>
          </a:p>
        </p:txBody>
      </p:sp>
      <p:sp>
        <p:nvSpPr>
          <p:cNvPr id="21" name="矩形 20"/>
          <p:cNvSpPr/>
          <p:nvPr/>
        </p:nvSpPr>
        <p:spPr>
          <a:xfrm>
            <a:off x="7686040" y="5084445"/>
            <a:ext cx="1395095" cy="901700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9415780" y="4942840"/>
            <a:ext cx="1991995" cy="1201420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6687820" y="5393055"/>
            <a:ext cx="662940" cy="518795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9984740" y="5386070"/>
            <a:ext cx="929640" cy="29908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addr1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5" name="肘形连接符 24"/>
          <p:cNvCxnSpPr>
            <a:endCxn id="27" idx="0"/>
          </p:cNvCxnSpPr>
          <p:nvPr/>
        </p:nvCxnSpPr>
        <p:spPr>
          <a:xfrm>
            <a:off x="6687820" y="4617085"/>
            <a:ext cx="1695450" cy="76898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7918450" y="5386070"/>
            <a:ext cx="929640" cy="29908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addr1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014845" y="4180205"/>
            <a:ext cx="1162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discard</a:t>
            </a:r>
            <a:endParaRPr lang="en-US" altLang="zh-CN"/>
          </a:p>
        </p:txBody>
      </p:sp>
      <p:sp>
        <p:nvSpPr>
          <p:cNvPr id="30" name="文本框 29"/>
          <p:cNvSpPr txBox="1"/>
          <p:nvPr/>
        </p:nvSpPr>
        <p:spPr>
          <a:xfrm>
            <a:off x="9830435" y="6144260"/>
            <a:ext cx="1162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GPU</a:t>
            </a:r>
            <a:r>
              <a:rPr lang="zh-CN" altLang="en-US"/>
              <a:t>显存</a:t>
            </a:r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7889240" y="6049645"/>
            <a:ext cx="1162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L2 cache</a:t>
            </a:r>
            <a:endParaRPr lang="en-US"/>
          </a:p>
        </p:txBody>
      </p:sp>
      <p:sp>
        <p:nvSpPr>
          <p:cNvPr id="32" name="文本框 31"/>
          <p:cNvSpPr txBox="1"/>
          <p:nvPr/>
        </p:nvSpPr>
        <p:spPr>
          <a:xfrm>
            <a:off x="6488430" y="5977890"/>
            <a:ext cx="1162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L1 cache</a:t>
            </a:r>
            <a:endParaRPr lang="en-US"/>
          </a:p>
        </p:txBody>
      </p:sp>
      <p:cxnSp>
        <p:nvCxnSpPr>
          <p:cNvPr id="33" name="肘形连接符 32"/>
          <p:cNvCxnSpPr/>
          <p:nvPr/>
        </p:nvCxnSpPr>
        <p:spPr>
          <a:xfrm rot="16200000">
            <a:off x="8181340" y="4272915"/>
            <a:ext cx="1561465" cy="66421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8630285" y="4248785"/>
            <a:ext cx="1162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丢弃</a:t>
            </a:r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521970" y="4180205"/>
            <a:ext cx="5243830" cy="2388870"/>
          </a:xfrm>
          <a:prstGeom prst="rect">
            <a:avLst/>
          </a:prstGeom>
          <a:noFill/>
          <a:ln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6396355" y="4180205"/>
            <a:ext cx="5243830" cy="2388870"/>
          </a:xfrm>
          <a:prstGeom prst="rect">
            <a:avLst/>
          </a:prstGeom>
          <a:noFill/>
          <a:ln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5306" y="649070"/>
            <a:ext cx="10521388" cy="636222"/>
          </a:xfrm>
        </p:spPr>
        <p:txBody>
          <a:bodyPr>
            <a:normAutofit/>
          </a:bodyPr>
          <a:lstStyle/>
          <a:p>
            <a:r>
              <a:rPr lang="zh-CN" altLang="en-US" dirty="0"/>
              <a:t>攻击原语</a:t>
            </a:r>
            <a:endParaRPr lang="zh-CN" altLang="en-US" dirty="0"/>
          </a:p>
        </p:txBody>
      </p:sp>
      <p:sp>
        <p:nvSpPr>
          <p:cNvPr id="14" name="内容占位符 1"/>
          <p:cNvSpPr>
            <a:spLocks noGrp="1"/>
          </p:cNvSpPr>
          <p:nvPr>
            <p:ph idx="1"/>
          </p:nvPr>
        </p:nvSpPr>
        <p:spPr>
          <a:xfrm>
            <a:off x="717550" y="1868170"/>
            <a:ext cx="6395720" cy="2004060"/>
          </a:xfrm>
        </p:spPr>
        <p:txBody>
          <a:bodyPr>
            <a:noAutofit/>
          </a:bodyPr>
          <a:lstStyle/>
          <a:p>
            <a:pPr marL="306070" lvl="0" indent="-306070">
              <a:buFont typeface="Wingdings 2" panose="05020102010507070707" charset="0"/>
              <a:buChar char=""/>
            </a:pPr>
            <a:r>
              <a:rPr lang="zh-CN" altLang="en-US" sz="2400" dirty="0">
                <a:solidFill>
                  <a:schemeClr val="tx1"/>
                </a:solidFill>
              </a:rPr>
              <a:t>行缓冲区驱逐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zh-CN" sz="2200" dirty="0">
                <a:solidFill>
                  <a:schemeClr val="tx1"/>
                </a:solidFill>
              </a:rPr>
              <a:t>通过访问同一存储体</a:t>
            </a:r>
            <a:r>
              <a:rPr lang="zh-CN" altLang="en-US" sz="2200" dirty="0">
                <a:solidFill>
                  <a:schemeClr val="tx1"/>
                </a:solidFill>
              </a:rPr>
              <a:t>的另一行，将当前行驱逐出行缓冲区，使下一次访问产生新的激活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zh-CN" altLang="en-US" sz="2200" dirty="0">
                <a:solidFill>
                  <a:schemeClr val="tx1"/>
                </a:solidFill>
              </a:rPr>
              <a:t>交替访问同一</a:t>
            </a:r>
            <a:r>
              <a:rPr lang="zh-CN" altLang="en-US" sz="2200" dirty="0">
                <a:solidFill>
                  <a:schemeClr val="tx1"/>
                </a:solidFill>
              </a:rPr>
              <a:t>存储体的不同行，反复激活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5188" y="48139"/>
            <a:ext cx="1106598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背景知识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攻击</a:t>
            </a:r>
            <a:r>
              <a:rPr lang="zh-CN" altLang="en-US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</a:t>
            </a:r>
            <a:r>
              <a:rPr lang="en-US" altLang="zh-CN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攻击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防御与讨论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总结</a:t>
            </a:r>
            <a:endParaRPr lang="zh-CN" altLang="en-US" dirty="0">
              <a:solidFill>
                <a:srgbClr val="BFBF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6595" y="2459355"/>
            <a:ext cx="4867275" cy="88582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849120" y="5245735"/>
            <a:ext cx="1395095" cy="565785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707765" y="4942840"/>
            <a:ext cx="1659255" cy="1201420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077335" y="5153660"/>
            <a:ext cx="929640" cy="29908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addr1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0" name="肘形连接符 9"/>
          <p:cNvCxnSpPr>
            <a:endCxn id="9" idx="0"/>
          </p:cNvCxnSpPr>
          <p:nvPr/>
        </p:nvCxnSpPr>
        <p:spPr>
          <a:xfrm>
            <a:off x="1555750" y="4693285"/>
            <a:ext cx="2986405" cy="46037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2081530" y="5393690"/>
            <a:ext cx="929640" cy="29908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addr1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409825" y="4246880"/>
            <a:ext cx="1833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ld.volatile  addr1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3923030" y="6144260"/>
            <a:ext cx="1162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GPU</a:t>
            </a:r>
            <a:r>
              <a:rPr lang="zh-CN" altLang="en-US"/>
              <a:t>显存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849120" y="6049645"/>
            <a:ext cx="1162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行缓冲区</a:t>
            </a:r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19835" y="4180205"/>
            <a:ext cx="4545965" cy="2388870"/>
          </a:xfrm>
          <a:prstGeom prst="rect">
            <a:avLst/>
          </a:prstGeom>
          <a:noFill/>
          <a:ln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077335" y="5607685"/>
            <a:ext cx="929640" cy="29908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addr2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7" name="肘形连接符 16"/>
          <p:cNvCxnSpPr>
            <a:stCxn id="9" idx="1"/>
            <a:endCxn id="13" idx="3"/>
          </p:cNvCxnSpPr>
          <p:nvPr/>
        </p:nvCxnSpPr>
        <p:spPr>
          <a:xfrm rot="10800000" flipV="1">
            <a:off x="3010535" y="5303520"/>
            <a:ext cx="1066165" cy="240030"/>
          </a:xfrm>
          <a:prstGeom prst="bentConnector3">
            <a:avLst>
              <a:gd name="adj1" fmla="val 4997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7284720" y="5240020"/>
            <a:ext cx="1395095" cy="565785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9143365" y="4937125"/>
            <a:ext cx="1659255" cy="1201420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9512935" y="5147945"/>
            <a:ext cx="929640" cy="29908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addr1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517130" y="5387975"/>
            <a:ext cx="929640" cy="29908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addr2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845425" y="4241165"/>
            <a:ext cx="1833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ld.volatile  addr2</a:t>
            </a:r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9358630" y="6138545"/>
            <a:ext cx="1162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GPU</a:t>
            </a:r>
            <a:r>
              <a:rPr lang="zh-CN" altLang="en-US"/>
              <a:t>显存</a:t>
            </a:r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7284720" y="6043930"/>
            <a:ext cx="1162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行缓冲区</a:t>
            </a:r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655435" y="4174490"/>
            <a:ext cx="4545965" cy="2388870"/>
          </a:xfrm>
          <a:prstGeom prst="rect">
            <a:avLst/>
          </a:prstGeom>
          <a:noFill/>
          <a:ln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9512935" y="5601970"/>
            <a:ext cx="929640" cy="29908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addr2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31" name="肘形连接符 30"/>
          <p:cNvCxnSpPr>
            <a:stCxn id="30" idx="1"/>
            <a:endCxn id="25" idx="3"/>
          </p:cNvCxnSpPr>
          <p:nvPr/>
        </p:nvCxnSpPr>
        <p:spPr>
          <a:xfrm rot="10800000">
            <a:off x="8446135" y="5537200"/>
            <a:ext cx="1066165" cy="213995"/>
          </a:xfrm>
          <a:prstGeom prst="bentConnector3">
            <a:avLst>
              <a:gd name="adj1" fmla="val 4997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肘形连接符 32"/>
          <p:cNvCxnSpPr>
            <a:endCxn id="30" idx="3"/>
          </p:cNvCxnSpPr>
          <p:nvPr/>
        </p:nvCxnSpPr>
        <p:spPr>
          <a:xfrm>
            <a:off x="7046595" y="4731385"/>
            <a:ext cx="3395980" cy="1020445"/>
          </a:xfrm>
          <a:prstGeom prst="bentConnector3">
            <a:avLst>
              <a:gd name="adj1" fmla="val 107012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5306" y="649070"/>
            <a:ext cx="10521388" cy="636222"/>
          </a:xfrm>
        </p:spPr>
        <p:txBody>
          <a:bodyPr>
            <a:normAutofit/>
          </a:bodyPr>
          <a:lstStyle/>
          <a:p>
            <a:r>
              <a:rPr lang="zh-CN" altLang="en-US" dirty="0"/>
              <a:t>三大挑战</a:t>
            </a:r>
            <a:endParaRPr lang="zh-CN" altLang="en-US" dirty="0"/>
          </a:p>
        </p:txBody>
      </p:sp>
      <p:sp>
        <p:nvSpPr>
          <p:cNvPr id="10" name="圆角矩形 3"/>
          <p:cNvSpPr/>
          <p:nvPr>
            <p:custDataLst>
              <p:tags r:id="rId1"/>
            </p:custDataLst>
          </p:nvPr>
        </p:nvSpPr>
        <p:spPr>
          <a:xfrm>
            <a:off x="807085" y="2108518"/>
            <a:ext cx="3326765" cy="4246245"/>
          </a:xfrm>
          <a:custGeom>
            <a:avLst/>
            <a:gdLst>
              <a:gd name="adj" fmla="val 662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39" h="6687">
                <a:moveTo>
                  <a:pt x="5035" y="0"/>
                </a:moveTo>
                <a:lnTo>
                  <a:pt x="5041" y="3"/>
                </a:lnTo>
                <a:cubicBezTo>
                  <a:pt x="5158" y="59"/>
                  <a:pt x="5239" y="179"/>
                  <a:pt x="5239" y="318"/>
                </a:cubicBezTo>
                <a:lnTo>
                  <a:pt x="5239" y="6337"/>
                </a:lnTo>
                <a:cubicBezTo>
                  <a:pt x="5239" y="6531"/>
                  <a:pt x="5083" y="6687"/>
                  <a:pt x="4889" y="6687"/>
                </a:cubicBezTo>
                <a:lnTo>
                  <a:pt x="307" y="6687"/>
                </a:lnTo>
                <a:cubicBezTo>
                  <a:pt x="180" y="6687"/>
                  <a:pt x="69" y="6620"/>
                  <a:pt x="8" y="6519"/>
                </a:cubicBezTo>
                <a:lnTo>
                  <a:pt x="0" y="6505"/>
                </a:lnTo>
                <a:lnTo>
                  <a:pt x="10" y="6510"/>
                </a:lnTo>
                <a:cubicBezTo>
                  <a:pt x="52" y="6527"/>
                  <a:pt x="98" y="6537"/>
                  <a:pt x="146" y="6537"/>
                </a:cubicBezTo>
                <a:lnTo>
                  <a:pt x="4728" y="6537"/>
                </a:lnTo>
                <a:cubicBezTo>
                  <a:pt x="4922" y="6537"/>
                  <a:pt x="5078" y="6381"/>
                  <a:pt x="5078" y="6187"/>
                </a:cubicBezTo>
                <a:lnTo>
                  <a:pt x="5078" y="168"/>
                </a:lnTo>
                <a:cubicBezTo>
                  <a:pt x="5078" y="107"/>
                  <a:pt x="5063" y="51"/>
                  <a:pt x="5036" y="1"/>
                </a:cubicBezTo>
                <a:lnTo>
                  <a:pt x="503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23850" tIns="215900" rIns="179705" bIns="698500" numCol="1" spcCol="0" rtlCol="0" fromWordArt="0" anchor="t" anchorCtr="0" forceAA="0" compatLnSpc="1">
            <a:noAutofit/>
          </a:bodyPr>
          <a:p>
            <a:pPr lvl="0" algn="l">
              <a:lnSpc>
                <a:spcPct val="140000"/>
              </a:lnSpc>
              <a:buClrTx/>
              <a:buSzTx/>
              <a:buFontTx/>
            </a:pPr>
            <a:endParaRPr lang="zh-CN" altLang="zh-CN" sz="1400" dirty="0">
              <a:solidFill>
                <a:srgbClr val="262626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5" name="圆角矩形 3"/>
          <p:cNvSpPr/>
          <p:nvPr>
            <p:custDataLst>
              <p:tags r:id="rId2"/>
            </p:custDataLst>
          </p:nvPr>
        </p:nvSpPr>
        <p:spPr>
          <a:xfrm>
            <a:off x="677545" y="1992948"/>
            <a:ext cx="3354070" cy="4266565"/>
          </a:xfrm>
          <a:prstGeom prst="roundRect">
            <a:avLst>
              <a:gd name="adj" fmla="val 6621"/>
            </a:avLst>
          </a:prstGeom>
          <a:solidFill>
            <a:schemeClr val="lt1">
              <a:lumMod val="100000"/>
              <a:alpha val="10000"/>
            </a:schemeClr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88290" tIns="252095" rIns="288290" bIns="698500" numCol="1" spcCol="0" rtlCol="0" fromWordArt="0" anchor="t" anchorCtr="0" forceAA="0" compatLnSpc="1">
            <a:noAutofit/>
          </a:bodyPr>
          <a:p>
            <a:pPr lvl="0" algn="l">
              <a:lnSpc>
                <a:spcPct val="140000"/>
              </a:lnSpc>
              <a:buClrTx/>
              <a:buSzTx/>
              <a:buFontTx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" name="圆角矩形 16"/>
          <p:cNvSpPr/>
          <p:nvPr>
            <p:custDataLst>
              <p:tags r:id="rId3"/>
            </p:custDataLst>
          </p:nvPr>
        </p:nvSpPr>
        <p:spPr>
          <a:xfrm>
            <a:off x="891541" y="5579428"/>
            <a:ext cx="490855" cy="493395"/>
          </a:xfrm>
          <a:prstGeom prst="roundRect">
            <a:avLst>
              <a:gd name="adj" fmla="val 2376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r>
              <a:rPr lang="en-US" altLang="zh-CN" sz="1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1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8" name="圆角矩形 3"/>
          <p:cNvSpPr/>
          <p:nvPr>
            <p:custDataLst>
              <p:tags r:id="rId4"/>
            </p:custDataLst>
          </p:nvPr>
        </p:nvSpPr>
        <p:spPr>
          <a:xfrm>
            <a:off x="4504056" y="2108518"/>
            <a:ext cx="3326765" cy="4246245"/>
          </a:xfrm>
          <a:custGeom>
            <a:avLst/>
            <a:gdLst>
              <a:gd name="adj" fmla="val 662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39" h="6687">
                <a:moveTo>
                  <a:pt x="5035" y="0"/>
                </a:moveTo>
                <a:lnTo>
                  <a:pt x="5041" y="3"/>
                </a:lnTo>
                <a:cubicBezTo>
                  <a:pt x="5158" y="59"/>
                  <a:pt x="5239" y="179"/>
                  <a:pt x="5239" y="318"/>
                </a:cubicBezTo>
                <a:lnTo>
                  <a:pt x="5239" y="6337"/>
                </a:lnTo>
                <a:cubicBezTo>
                  <a:pt x="5239" y="6531"/>
                  <a:pt x="5083" y="6687"/>
                  <a:pt x="4889" y="6687"/>
                </a:cubicBezTo>
                <a:lnTo>
                  <a:pt x="307" y="6687"/>
                </a:lnTo>
                <a:cubicBezTo>
                  <a:pt x="180" y="6687"/>
                  <a:pt x="69" y="6620"/>
                  <a:pt x="8" y="6519"/>
                </a:cubicBezTo>
                <a:lnTo>
                  <a:pt x="0" y="6505"/>
                </a:lnTo>
                <a:lnTo>
                  <a:pt x="10" y="6510"/>
                </a:lnTo>
                <a:cubicBezTo>
                  <a:pt x="52" y="6527"/>
                  <a:pt x="98" y="6537"/>
                  <a:pt x="146" y="6537"/>
                </a:cubicBezTo>
                <a:lnTo>
                  <a:pt x="4728" y="6537"/>
                </a:lnTo>
                <a:cubicBezTo>
                  <a:pt x="4922" y="6537"/>
                  <a:pt x="5078" y="6381"/>
                  <a:pt x="5078" y="6187"/>
                </a:cubicBezTo>
                <a:lnTo>
                  <a:pt x="5078" y="168"/>
                </a:lnTo>
                <a:cubicBezTo>
                  <a:pt x="5078" y="107"/>
                  <a:pt x="5063" y="51"/>
                  <a:pt x="5036" y="1"/>
                </a:cubicBezTo>
                <a:lnTo>
                  <a:pt x="503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23850" tIns="215900" rIns="179705" bIns="698500" numCol="1" spcCol="0" rtlCol="0" fromWordArt="0" anchor="t" anchorCtr="0" forceAA="0" compatLnSpc="1">
            <a:noAutofit/>
          </a:bodyPr>
          <a:p>
            <a:pPr lvl="0" algn="l">
              <a:lnSpc>
                <a:spcPct val="140000"/>
              </a:lnSpc>
              <a:buClrTx/>
              <a:buSzTx/>
              <a:buFontTx/>
            </a:pPr>
            <a:endParaRPr lang="zh-CN" altLang="zh-CN" sz="1400" dirty="0">
              <a:solidFill>
                <a:srgbClr val="262626"/>
              </a:solidFill>
              <a:latin typeface="+mn-ea"/>
              <a:cs typeface="+mn-ea"/>
              <a:sym typeface="+mn-ea"/>
            </a:endParaRPr>
          </a:p>
        </p:txBody>
      </p:sp>
      <p:sp useBgFill="1">
        <p:nvSpPr>
          <p:cNvPr id="49" name="圆角矩形 3"/>
          <p:cNvSpPr/>
          <p:nvPr>
            <p:custDataLst>
              <p:tags r:id="rId5"/>
            </p:custDataLst>
          </p:nvPr>
        </p:nvSpPr>
        <p:spPr>
          <a:xfrm>
            <a:off x="4374516" y="1992948"/>
            <a:ext cx="3354070" cy="4266565"/>
          </a:xfrm>
          <a:prstGeom prst="roundRect">
            <a:avLst>
              <a:gd name="adj" fmla="val 6621"/>
            </a:avLst>
          </a:prstGeom>
          <a:solidFill>
            <a:schemeClr val="lt1">
              <a:lumMod val="100000"/>
              <a:alpha val="10000"/>
            </a:schemeClr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88290" tIns="252095" rIns="288290" bIns="698500" numCol="1" spcCol="0" rtlCol="0" fromWordArt="0" anchor="t" anchorCtr="0" forceAA="0" compatLnSpc="1">
            <a:noAutofit/>
          </a:bodyPr>
          <a:p>
            <a:pPr lvl="0" algn="l">
              <a:lnSpc>
                <a:spcPct val="140000"/>
              </a:lnSpc>
              <a:buClrTx/>
              <a:buSzTx/>
              <a:buFontTx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 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50" name="圆角矩形 16"/>
          <p:cNvSpPr/>
          <p:nvPr>
            <p:custDataLst>
              <p:tags r:id="rId6"/>
            </p:custDataLst>
          </p:nvPr>
        </p:nvSpPr>
        <p:spPr>
          <a:xfrm>
            <a:off x="4588511" y="5579428"/>
            <a:ext cx="490855" cy="493395"/>
          </a:xfrm>
          <a:prstGeom prst="roundRect">
            <a:avLst>
              <a:gd name="adj" fmla="val 2376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r>
              <a:rPr lang="en-US" altLang="zh-CN" sz="1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1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2" name="圆角矩形 3"/>
          <p:cNvSpPr/>
          <p:nvPr>
            <p:custDataLst>
              <p:tags r:id="rId7"/>
            </p:custDataLst>
          </p:nvPr>
        </p:nvSpPr>
        <p:spPr>
          <a:xfrm>
            <a:off x="8187691" y="2108518"/>
            <a:ext cx="3326765" cy="4246245"/>
          </a:xfrm>
          <a:custGeom>
            <a:avLst/>
            <a:gdLst>
              <a:gd name="adj" fmla="val 662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39" h="6687">
                <a:moveTo>
                  <a:pt x="5035" y="0"/>
                </a:moveTo>
                <a:lnTo>
                  <a:pt x="5041" y="3"/>
                </a:lnTo>
                <a:cubicBezTo>
                  <a:pt x="5158" y="59"/>
                  <a:pt x="5239" y="179"/>
                  <a:pt x="5239" y="318"/>
                </a:cubicBezTo>
                <a:lnTo>
                  <a:pt x="5239" y="6337"/>
                </a:lnTo>
                <a:cubicBezTo>
                  <a:pt x="5239" y="6531"/>
                  <a:pt x="5083" y="6687"/>
                  <a:pt x="4889" y="6687"/>
                </a:cubicBezTo>
                <a:lnTo>
                  <a:pt x="307" y="6687"/>
                </a:lnTo>
                <a:cubicBezTo>
                  <a:pt x="180" y="6687"/>
                  <a:pt x="69" y="6620"/>
                  <a:pt x="8" y="6519"/>
                </a:cubicBezTo>
                <a:lnTo>
                  <a:pt x="0" y="6505"/>
                </a:lnTo>
                <a:lnTo>
                  <a:pt x="10" y="6510"/>
                </a:lnTo>
                <a:cubicBezTo>
                  <a:pt x="52" y="6527"/>
                  <a:pt x="98" y="6537"/>
                  <a:pt x="146" y="6537"/>
                </a:cubicBezTo>
                <a:lnTo>
                  <a:pt x="4728" y="6537"/>
                </a:lnTo>
                <a:cubicBezTo>
                  <a:pt x="4922" y="6537"/>
                  <a:pt x="5078" y="6381"/>
                  <a:pt x="5078" y="6187"/>
                </a:cubicBezTo>
                <a:lnTo>
                  <a:pt x="5078" y="168"/>
                </a:lnTo>
                <a:cubicBezTo>
                  <a:pt x="5078" y="107"/>
                  <a:pt x="5063" y="51"/>
                  <a:pt x="5036" y="1"/>
                </a:cubicBezTo>
                <a:lnTo>
                  <a:pt x="503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23850" tIns="215900" rIns="179705" bIns="698500" numCol="1" spcCol="0" rtlCol="0" fromWordArt="0" anchor="t" anchorCtr="0" forceAA="0" compatLnSpc="1">
            <a:noAutofit/>
          </a:bodyPr>
          <a:p>
            <a:pPr lvl="0" algn="l">
              <a:lnSpc>
                <a:spcPct val="140000"/>
              </a:lnSpc>
              <a:buClrTx/>
              <a:buSzTx/>
              <a:buFontTx/>
            </a:pPr>
            <a:endParaRPr lang="zh-CN" altLang="zh-CN" sz="1400" dirty="0">
              <a:solidFill>
                <a:srgbClr val="262626"/>
              </a:solidFill>
              <a:latin typeface="+mn-ea"/>
              <a:cs typeface="+mn-ea"/>
              <a:sym typeface="+mn-ea"/>
            </a:endParaRPr>
          </a:p>
        </p:txBody>
      </p:sp>
      <p:sp useBgFill="1">
        <p:nvSpPr>
          <p:cNvPr id="53" name="圆角矩形 3"/>
          <p:cNvSpPr/>
          <p:nvPr>
            <p:custDataLst>
              <p:tags r:id="rId8"/>
            </p:custDataLst>
          </p:nvPr>
        </p:nvSpPr>
        <p:spPr>
          <a:xfrm>
            <a:off x="8058151" y="1992948"/>
            <a:ext cx="3354070" cy="4266565"/>
          </a:xfrm>
          <a:prstGeom prst="roundRect">
            <a:avLst>
              <a:gd name="adj" fmla="val 6621"/>
            </a:avLst>
          </a:prstGeom>
          <a:solidFill>
            <a:schemeClr val="lt1">
              <a:lumMod val="100000"/>
              <a:alpha val="10000"/>
            </a:schemeClr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88290" tIns="252095" rIns="288290" bIns="698500" numCol="1" spcCol="0" rtlCol="0" fromWordArt="0" anchor="t" anchorCtr="0" forceAA="0" compatLnSpc="1">
            <a:noAutofit/>
          </a:bodyPr>
          <a:p>
            <a:pPr lvl="0" algn="l">
              <a:lnSpc>
                <a:spcPct val="140000"/>
              </a:lnSpc>
              <a:buClrTx/>
              <a:buSzTx/>
              <a:buFontTx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 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54" name="圆角矩形 16"/>
          <p:cNvSpPr/>
          <p:nvPr>
            <p:custDataLst>
              <p:tags r:id="rId9"/>
            </p:custDataLst>
          </p:nvPr>
        </p:nvSpPr>
        <p:spPr>
          <a:xfrm>
            <a:off x="8272146" y="5579428"/>
            <a:ext cx="490855" cy="493395"/>
          </a:xfrm>
          <a:prstGeom prst="roundRect">
            <a:avLst>
              <a:gd name="adj" fmla="val 2376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r>
              <a:rPr lang="en-US" altLang="zh-CN" sz="1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03</a:t>
            </a:r>
            <a:endParaRPr lang="en-US" altLang="zh-CN" sz="1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2" name="内容占位符 1"/>
          <p:cNvSpPr>
            <a:spLocks noGrp="1"/>
          </p:cNvSpPr>
          <p:nvPr>
            <p:ph idx="1"/>
          </p:nvPr>
        </p:nvSpPr>
        <p:spPr>
          <a:xfrm>
            <a:off x="554355" y="2105660"/>
            <a:ext cx="3479165" cy="438912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zh-CN" sz="2400" dirty="0" err="1">
                <a:solidFill>
                  <a:schemeClr val="tx1"/>
                </a:solidFill>
              </a:rPr>
              <a:t>      </a:t>
            </a:r>
            <a:r>
              <a:rPr lang="zh-CN" altLang="en-US" sz="2400" dirty="0" err="1">
                <a:solidFill>
                  <a:schemeClr val="tx1"/>
                </a:solidFill>
              </a:rPr>
              <a:t>挑战一：地址映射</a:t>
            </a:r>
            <a:endParaRPr lang="zh-CN" altLang="en-US" sz="2400" dirty="0" err="1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en-US" altLang="zh-CN" sz="2200" dirty="0">
                <a:solidFill>
                  <a:schemeClr val="tx1"/>
                </a:solidFill>
              </a:rPr>
              <a:t>GPU</a:t>
            </a:r>
            <a:r>
              <a:rPr lang="zh-CN" altLang="en-US" sz="2200" dirty="0">
                <a:solidFill>
                  <a:schemeClr val="tx1"/>
                </a:solidFill>
              </a:rPr>
              <a:t>不暴露物理地址，攻击者难以</a:t>
            </a:r>
            <a:r>
              <a:rPr lang="zh-CN" altLang="en-US" sz="2200" dirty="0">
                <a:solidFill>
                  <a:schemeClr val="tx1"/>
                </a:solidFill>
              </a:rPr>
              <a:t>获取虚拟地址到存储体地址的映射关系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zh-CN" altLang="en-US" sz="2200" b="1" dirty="0">
                <a:solidFill>
                  <a:schemeClr val="tx1"/>
                </a:solidFill>
              </a:rPr>
              <a:t>如何</a:t>
            </a:r>
            <a:r>
              <a:rPr lang="zh-CN" altLang="en-US" sz="2200" b="1" dirty="0">
                <a:solidFill>
                  <a:schemeClr val="tx1"/>
                </a:solidFill>
              </a:rPr>
              <a:t>获取地址映射？</a:t>
            </a:r>
            <a:endParaRPr lang="zh-CN" altLang="en-US" sz="2200" b="1" dirty="0">
              <a:solidFill>
                <a:schemeClr val="tx1"/>
              </a:solidFill>
            </a:endParaRPr>
          </a:p>
        </p:txBody>
      </p:sp>
      <p:sp>
        <p:nvSpPr>
          <p:cNvPr id="13" name="内容占位符 1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7787640" y="2139950"/>
            <a:ext cx="3528060" cy="43891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64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Font typeface="Wingdings 2" panose="05020102010507070707" charset="0"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  </a:t>
            </a:r>
            <a:r>
              <a:rPr lang="zh-CN" altLang="en-US" sz="2400" dirty="0">
                <a:solidFill>
                  <a:schemeClr val="tx1"/>
                </a:solidFill>
              </a:rPr>
              <a:t>挑战三：缓解措施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en-US" altLang="zh-CN" sz="2200" dirty="0">
                <a:solidFill>
                  <a:schemeClr val="tx1"/>
                </a:solidFill>
              </a:rPr>
              <a:t>DRAM</a:t>
            </a:r>
            <a:r>
              <a:rPr lang="zh-CN" altLang="en-US" sz="2200" dirty="0">
                <a:solidFill>
                  <a:schemeClr val="tx1"/>
                </a:solidFill>
              </a:rPr>
              <a:t>内部署了类</a:t>
            </a:r>
            <a:r>
              <a:rPr lang="en-US" altLang="zh-CN" sz="2200" dirty="0">
                <a:solidFill>
                  <a:schemeClr val="tx1"/>
                </a:solidFill>
              </a:rPr>
              <a:t>TRR</a:t>
            </a:r>
            <a:r>
              <a:rPr lang="zh-CN" altLang="en-US" sz="2200" dirty="0">
                <a:solidFill>
                  <a:schemeClr val="tx1"/>
                </a:solidFill>
              </a:rPr>
              <a:t>等</a:t>
            </a:r>
            <a:r>
              <a:rPr lang="en-US" altLang="zh-CN" sz="2200" dirty="0">
                <a:solidFill>
                  <a:schemeClr val="tx1"/>
                </a:solidFill>
              </a:rPr>
              <a:t>Rowhammer</a:t>
            </a:r>
            <a:r>
              <a:rPr lang="zh-CN" altLang="en-US" sz="2200" dirty="0">
                <a:solidFill>
                  <a:schemeClr val="tx1"/>
                </a:solidFill>
              </a:rPr>
              <a:t>防御措施，能有效防御朴素的</a:t>
            </a:r>
            <a:r>
              <a:rPr lang="en-US" altLang="zh-CN" sz="2200" dirty="0">
                <a:solidFill>
                  <a:schemeClr val="tx1"/>
                </a:solidFill>
              </a:rPr>
              <a:t>Rowhammer</a:t>
            </a:r>
            <a:r>
              <a:rPr lang="zh-CN" altLang="en-US" sz="2200" dirty="0">
                <a:solidFill>
                  <a:schemeClr val="tx1"/>
                </a:solidFill>
              </a:rPr>
              <a:t>攻击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zh-CN" altLang="en-US" sz="2200" b="1" dirty="0">
                <a:solidFill>
                  <a:schemeClr val="tx1"/>
                </a:solidFill>
              </a:rPr>
              <a:t>如何绕过缓解措施？</a:t>
            </a:r>
            <a:endParaRPr lang="zh-CN" altLang="en-US" sz="2200" b="1" dirty="0">
              <a:solidFill>
                <a:schemeClr val="tx1"/>
              </a:solidFill>
            </a:endParaRPr>
          </a:p>
        </p:txBody>
      </p:sp>
      <p:sp>
        <p:nvSpPr>
          <p:cNvPr id="16" name="内容占位符 1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151630" y="2105660"/>
            <a:ext cx="3517265" cy="43891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64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Font typeface="Wingdings 2" panose="05020102010507070707" charset="0"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  </a:t>
            </a:r>
            <a:r>
              <a:rPr lang="zh-CN" altLang="en-US" sz="2400" dirty="0">
                <a:solidFill>
                  <a:schemeClr val="tx1"/>
                </a:solidFill>
              </a:rPr>
              <a:t>挑战二：激活率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en-US" altLang="zh-CN" sz="2200" dirty="0">
                <a:solidFill>
                  <a:schemeClr val="tx1"/>
                </a:solidFill>
              </a:rPr>
              <a:t>GPU</a:t>
            </a:r>
            <a:r>
              <a:rPr lang="zh-CN" altLang="en-US" sz="2200" dirty="0">
                <a:solidFill>
                  <a:schemeClr val="tx1"/>
                </a:solidFill>
              </a:rPr>
              <a:t>访问延迟是</a:t>
            </a:r>
            <a:r>
              <a:rPr lang="en-US" altLang="zh-CN" sz="2200" dirty="0">
                <a:solidFill>
                  <a:schemeClr val="tx1"/>
                </a:solidFill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</a:rPr>
              <a:t>的</a:t>
            </a:r>
            <a:r>
              <a:rPr lang="en-US" altLang="zh-CN" sz="2200" dirty="0">
                <a:solidFill>
                  <a:schemeClr val="tx1"/>
                </a:solidFill>
              </a:rPr>
              <a:t>4</a:t>
            </a:r>
            <a:r>
              <a:rPr lang="zh-CN" altLang="en-US" sz="2200" dirty="0">
                <a:solidFill>
                  <a:schemeClr val="tx1"/>
                </a:solidFill>
              </a:rPr>
              <a:t>倍，且刷新窗口更短，单线程捶打强度远达不到位翻转要求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zh-CN" altLang="en-US" sz="2200" b="1" dirty="0">
                <a:solidFill>
                  <a:schemeClr val="tx1"/>
                </a:solidFill>
              </a:rPr>
              <a:t>如何提高激活率？</a:t>
            </a:r>
            <a:endParaRPr lang="zh-CN" altLang="en-US" sz="2200" b="1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5188" y="48139"/>
            <a:ext cx="1106598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背景知识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攻击</a:t>
            </a:r>
            <a:r>
              <a:rPr lang="zh-CN" altLang="en-US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</a:t>
            </a:r>
            <a:r>
              <a:rPr lang="en-US" altLang="zh-CN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攻击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防御与讨论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总结</a:t>
            </a:r>
            <a:endParaRPr lang="zh-CN" altLang="en-US" dirty="0">
              <a:solidFill>
                <a:srgbClr val="BFBF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5306" y="649070"/>
            <a:ext cx="10521388" cy="636222"/>
          </a:xfrm>
        </p:spPr>
        <p:txBody>
          <a:bodyPr>
            <a:normAutofit/>
          </a:bodyPr>
          <a:lstStyle/>
          <a:p>
            <a:r>
              <a:rPr lang="zh-CN" altLang="en-US" dirty="0"/>
              <a:t>挑战一：如何</a:t>
            </a:r>
            <a:r>
              <a:rPr lang="zh-CN" altLang="en-US" dirty="0"/>
              <a:t>获取地址映射？</a:t>
            </a:r>
            <a:endParaRPr lang="zh-CN" altLang="en-US" dirty="0"/>
          </a:p>
        </p:txBody>
      </p:sp>
      <p:sp>
        <p:nvSpPr>
          <p:cNvPr id="14" name="内容占位符 1"/>
          <p:cNvSpPr>
            <a:spLocks noGrp="1"/>
          </p:cNvSpPr>
          <p:nvPr>
            <p:ph idx="1"/>
          </p:nvPr>
        </p:nvSpPr>
        <p:spPr>
          <a:xfrm>
            <a:off x="717550" y="1868170"/>
            <a:ext cx="5577205" cy="4286885"/>
          </a:xfrm>
        </p:spPr>
        <p:txBody>
          <a:bodyPr>
            <a:noAutofit/>
          </a:bodyPr>
          <a:lstStyle/>
          <a:p>
            <a:r>
              <a:rPr lang="zh-CN" altLang="en-US" sz="2400" dirty="0" err="1">
                <a:solidFill>
                  <a:schemeClr val="tx1"/>
                </a:solidFill>
              </a:rPr>
              <a:t>困境：</a:t>
            </a:r>
            <a:r>
              <a:rPr lang="en-US" altLang="zh-CN" sz="2400" dirty="0" err="1">
                <a:solidFill>
                  <a:schemeClr val="tx1"/>
                </a:solidFill>
              </a:rPr>
              <a:t>GPU</a:t>
            </a:r>
            <a:r>
              <a:rPr lang="zh-CN" altLang="en-US" sz="2400" dirty="0" err="1">
                <a:solidFill>
                  <a:schemeClr val="tx1"/>
                </a:solidFill>
              </a:rPr>
              <a:t>不暴露物理地址</a:t>
            </a:r>
            <a:endParaRPr lang="zh-CN" altLang="en-US" sz="2400" dirty="0" err="1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zh-CN" sz="2200" dirty="0">
                <a:solidFill>
                  <a:schemeClr val="tx1"/>
                </a:solidFill>
              </a:rPr>
              <a:t>传统的</a:t>
            </a:r>
            <a:r>
              <a:rPr lang="en-US" altLang="zh-CN" sz="2200" dirty="0">
                <a:solidFill>
                  <a:schemeClr val="tx1"/>
                </a:solidFill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</a:rPr>
              <a:t>上</a:t>
            </a:r>
            <a:r>
              <a:rPr lang="en-US" altLang="zh-CN" sz="2200" dirty="0">
                <a:solidFill>
                  <a:schemeClr val="tx1"/>
                </a:solidFill>
              </a:rPr>
              <a:t>Rowhammer</a:t>
            </a:r>
            <a:r>
              <a:rPr lang="zh-CN" altLang="en-US" sz="2200" dirty="0">
                <a:solidFill>
                  <a:schemeClr val="tx1"/>
                </a:solidFill>
              </a:rPr>
              <a:t>攻击方法为，通过特权软件读出物理地址，再通过映射函数得到存储体和</a:t>
            </a:r>
            <a:r>
              <a:rPr lang="zh-CN" altLang="en-US" sz="2200" dirty="0">
                <a:solidFill>
                  <a:schemeClr val="tx1"/>
                </a:solidFill>
              </a:rPr>
              <a:t>行编号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zh-CN" altLang="en-US" sz="2200" dirty="0">
                <a:solidFill>
                  <a:schemeClr val="tx1"/>
                </a:solidFill>
              </a:rPr>
              <a:t>但</a:t>
            </a:r>
            <a:r>
              <a:rPr lang="en-US" altLang="zh-CN" sz="2200" dirty="0">
                <a:solidFill>
                  <a:schemeClr val="tx1"/>
                </a:solidFill>
              </a:rPr>
              <a:t>GPU</a:t>
            </a:r>
            <a:r>
              <a:rPr lang="zh-CN" altLang="en-US" sz="2200" dirty="0">
                <a:solidFill>
                  <a:schemeClr val="tx1"/>
                </a:solidFill>
              </a:rPr>
              <a:t>无法得到物理地址，无法复用此套方法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306070" lvl="0" indent="-306070">
              <a:buFont typeface="Wingdings 2" panose="05020102010507070707" charset="0"/>
              <a:buChar char=""/>
            </a:pPr>
            <a:r>
              <a:rPr lang="zh-CN" altLang="en-US" sz="2400" dirty="0">
                <a:solidFill>
                  <a:schemeClr val="tx1"/>
                </a:solidFill>
              </a:rPr>
              <a:t>思路转变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zh-CN" altLang="en-US" sz="2200" dirty="0">
                <a:solidFill>
                  <a:schemeClr val="tx1"/>
                </a:solidFill>
              </a:rPr>
              <a:t>跳过物理地址，直接构建虚拟地址到存储体和</a:t>
            </a:r>
            <a:r>
              <a:rPr lang="zh-CN" altLang="en-US" sz="2200" dirty="0">
                <a:solidFill>
                  <a:schemeClr val="tx1"/>
                </a:solidFill>
              </a:rPr>
              <a:t>行编号的查找表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5188" y="48139"/>
            <a:ext cx="1106598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背景知识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攻击方法</a:t>
            </a:r>
            <a:r>
              <a:rPr lang="en-US" altLang="zh-CN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攻击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防御与讨论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总结</a:t>
            </a:r>
            <a:endParaRPr lang="zh-CN" altLang="en-US" dirty="0">
              <a:solidFill>
                <a:srgbClr val="BFBF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4755" y="3117215"/>
            <a:ext cx="5494655" cy="17887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5306" y="649070"/>
            <a:ext cx="10521388" cy="636222"/>
          </a:xfrm>
        </p:spPr>
        <p:txBody>
          <a:bodyPr>
            <a:normAutofit/>
          </a:bodyPr>
          <a:lstStyle/>
          <a:p>
            <a:r>
              <a:rPr lang="zh-CN" altLang="en-US" dirty="0"/>
              <a:t>挑战一：如何</a:t>
            </a:r>
            <a:r>
              <a:rPr lang="zh-CN" altLang="en-US" dirty="0"/>
              <a:t>获取地址映射？</a:t>
            </a:r>
            <a:endParaRPr lang="zh-CN" altLang="en-US" dirty="0"/>
          </a:p>
        </p:txBody>
      </p:sp>
      <p:sp>
        <p:nvSpPr>
          <p:cNvPr id="14" name="内容占位符 1"/>
          <p:cNvSpPr>
            <a:spLocks noGrp="1"/>
          </p:cNvSpPr>
          <p:nvPr>
            <p:ph idx="1"/>
          </p:nvPr>
        </p:nvSpPr>
        <p:spPr>
          <a:xfrm>
            <a:off x="717550" y="1626235"/>
            <a:ext cx="5577205" cy="4909185"/>
          </a:xfrm>
        </p:spPr>
        <p:txBody>
          <a:bodyPr>
            <a:noAutofit/>
          </a:bodyPr>
          <a:lstStyle/>
          <a:p>
            <a:r>
              <a:rPr lang="zh-CN" altLang="en-US" sz="2400" dirty="0" err="1">
                <a:solidFill>
                  <a:schemeClr val="tx1"/>
                </a:solidFill>
              </a:rPr>
              <a:t>目的</a:t>
            </a:r>
            <a:endParaRPr lang="zh-CN" altLang="en-US" sz="2400" dirty="0" err="1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zh-CN" altLang="en-US" sz="2200" dirty="0" err="1">
                <a:solidFill>
                  <a:schemeClr val="tx1"/>
                </a:solidFill>
              </a:rPr>
              <a:t>找到虚拟地址到行</a:t>
            </a:r>
            <a:r>
              <a:rPr lang="zh-CN" altLang="en-US" sz="2200" dirty="0" err="1">
                <a:solidFill>
                  <a:schemeClr val="tx1"/>
                </a:solidFill>
              </a:rPr>
              <a:t>编号的</a:t>
            </a:r>
            <a:r>
              <a:rPr lang="zh-CN" altLang="en-US" sz="2200" dirty="0" err="1">
                <a:solidFill>
                  <a:schemeClr val="tx1"/>
                </a:solidFill>
              </a:rPr>
              <a:t>映射</a:t>
            </a:r>
            <a:endParaRPr lang="zh-CN" altLang="en-US" sz="2200" dirty="0" err="1">
              <a:solidFill>
                <a:schemeClr val="tx1"/>
              </a:solidFill>
            </a:endParaRPr>
          </a:p>
          <a:p>
            <a:r>
              <a:rPr lang="zh-CN" altLang="en-US" sz="2400" dirty="0" err="1">
                <a:solidFill>
                  <a:schemeClr val="tx1"/>
                </a:solidFill>
              </a:rPr>
              <a:t>特性</a:t>
            </a:r>
            <a:endParaRPr lang="zh-CN" altLang="en-US" sz="2400" dirty="0" err="1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zh-CN" altLang="en-US" sz="2200" dirty="0" err="1">
                <a:solidFill>
                  <a:schemeClr val="tx1"/>
                </a:solidFill>
              </a:rPr>
              <a:t>两线程访问同一存储体的不同</a:t>
            </a:r>
            <a:r>
              <a:rPr lang="zh-CN" altLang="en-US" sz="2200" dirty="0" err="1">
                <a:solidFill>
                  <a:schemeClr val="tx1"/>
                </a:solidFill>
              </a:rPr>
              <a:t>行时，会产生冲突，导致访问延迟明显增大</a:t>
            </a:r>
            <a:endParaRPr lang="zh-CN" altLang="en-US" sz="2200" dirty="0" err="1">
              <a:solidFill>
                <a:schemeClr val="tx1"/>
              </a:solidFill>
            </a:endParaRPr>
          </a:p>
          <a:p>
            <a:r>
              <a:rPr lang="zh-CN" altLang="en-US" sz="2400" dirty="0" err="1">
                <a:solidFill>
                  <a:schemeClr val="tx1"/>
                </a:solidFill>
              </a:rPr>
              <a:t>方法</a:t>
            </a:r>
            <a:endParaRPr lang="zh-CN" altLang="en-US" sz="2400" dirty="0" err="1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zh-CN" sz="2200" dirty="0">
                <a:solidFill>
                  <a:schemeClr val="tx1"/>
                </a:solidFill>
              </a:rPr>
              <a:t>分配</a:t>
            </a:r>
            <a:r>
              <a:rPr lang="en-US" altLang="zh-CN" sz="2200" dirty="0">
                <a:solidFill>
                  <a:schemeClr val="tx1"/>
                </a:solidFill>
              </a:rPr>
              <a:t>47GB</a:t>
            </a:r>
            <a:r>
              <a:rPr lang="zh-CN" altLang="en-US" sz="2200" dirty="0">
                <a:solidFill>
                  <a:schemeClr val="tx1"/>
                </a:solidFill>
              </a:rPr>
              <a:t>大数组（覆盖几乎全部显存）</a:t>
            </a:r>
            <a:endParaRPr lang="zh-CN" sz="2200" dirty="0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zh-CN" altLang="en-US" sz="2200" dirty="0">
                <a:solidFill>
                  <a:schemeClr val="tx1"/>
                </a:solidFill>
              </a:rPr>
              <a:t>固定一个参考地址，遍历全内存，双线程并发访问，找到冲突集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zh-CN" altLang="en-US" sz="2200" dirty="0">
                <a:solidFill>
                  <a:schemeClr val="tx1"/>
                </a:solidFill>
              </a:rPr>
              <a:t>将冲突集去重得到行集（每个元素对应一个</a:t>
            </a:r>
            <a:r>
              <a:rPr lang="zh-CN" altLang="en-US" sz="2200" dirty="0">
                <a:solidFill>
                  <a:schemeClr val="tx1"/>
                </a:solidFill>
              </a:rPr>
              <a:t>虚拟地址，对应一个</a:t>
            </a:r>
            <a:r>
              <a:rPr lang="zh-CN" altLang="en-US" sz="2200" dirty="0">
                <a:solidFill>
                  <a:schemeClr val="tx1"/>
                </a:solidFill>
              </a:rPr>
              <a:t>行编号）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5188" y="48139"/>
            <a:ext cx="1106598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背景知识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攻击方法</a:t>
            </a:r>
            <a:r>
              <a:rPr lang="en-US" altLang="zh-CN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攻击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防御与讨论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总结</a:t>
            </a:r>
            <a:endParaRPr lang="zh-CN" altLang="en-US" dirty="0">
              <a:solidFill>
                <a:srgbClr val="BFBF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835" y="1868170"/>
            <a:ext cx="3990340" cy="35026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5306" y="649070"/>
            <a:ext cx="10521388" cy="636222"/>
          </a:xfrm>
        </p:spPr>
        <p:txBody>
          <a:bodyPr>
            <a:normAutofit/>
          </a:bodyPr>
          <a:lstStyle/>
          <a:p>
            <a:r>
              <a:rPr lang="zh-CN" altLang="en-US" dirty="0"/>
              <a:t>挑战一：如何</a:t>
            </a:r>
            <a:r>
              <a:rPr lang="zh-CN" altLang="en-US" dirty="0"/>
              <a:t>获取地址映射？</a:t>
            </a:r>
            <a:endParaRPr lang="zh-CN" altLang="en-US" dirty="0"/>
          </a:p>
        </p:txBody>
      </p:sp>
      <p:sp>
        <p:nvSpPr>
          <p:cNvPr id="14" name="内容占位符 1"/>
          <p:cNvSpPr>
            <a:spLocks noGrp="1"/>
          </p:cNvSpPr>
          <p:nvPr>
            <p:ph idx="1"/>
          </p:nvPr>
        </p:nvSpPr>
        <p:spPr>
          <a:xfrm>
            <a:off x="717550" y="1868170"/>
            <a:ext cx="5577205" cy="4653280"/>
          </a:xfrm>
        </p:spPr>
        <p:txBody>
          <a:bodyPr>
            <a:noAutofit/>
          </a:bodyPr>
          <a:lstStyle/>
          <a:p>
            <a:r>
              <a:rPr lang="zh-CN" altLang="en-US" sz="2400" dirty="0" err="1">
                <a:solidFill>
                  <a:schemeClr val="tx1"/>
                </a:solidFill>
              </a:rPr>
              <a:t>结果</a:t>
            </a:r>
            <a:endParaRPr lang="zh-CN" altLang="en-US" sz="2400" dirty="0" err="1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zh-CN" sz="2200" dirty="0">
                <a:solidFill>
                  <a:schemeClr val="tx1"/>
                </a:solidFill>
              </a:rPr>
              <a:t>得到了一张虚拟地址到</a:t>
            </a:r>
            <a:r>
              <a:rPr lang="zh-CN" altLang="en-US" sz="2200" dirty="0">
                <a:solidFill>
                  <a:schemeClr val="tx1"/>
                </a:solidFill>
              </a:rPr>
              <a:t>行编号的映射表，可以方便地从虚拟地址找到同一存储体的不同</a:t>
            </a:r>
            <a:r>
              <a:rPr lang="zh-CN" altLang="en-US" sz="2200" dirty="0">
                <a:solidFill>
                  <a:schemeClr val="tx1"/>
                </a:solidFill>
              </a:rPr>
              <a:t>行，使得攻击原语可行</a:t>
            </a:r>
            <a:r>
              <a:rPr lang="en-US" altLang="zh-CN" sz="2200" dirty="0">
                <a:solidFill>
                  <a:schemeClr val="tx1"/>
                </a:solidFill>
              </a:rPr>
              <a:t>,</a:t>
            </a:r>
            <a:r>
              <a:rPr lang="zh-CN" altLang="en-US" sz="2200" dirty="0">
                <a:solidFill>
                  <a:schemeClr val="tx1"/>
                </a:solidFill>
              </a:rPr>
              <a:t>克服了挑战一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306070" lvl="0" indent="-306070">
              <a:buFont typeface="Wingdings 2" panose="05020102010507070707" charset="0"/>
              <a:buChar char=""/>
            </a:pPr>
            <a:r>
              <a:rPr lang="zh-CN" altLang="en-US" sz="2400" dirty="0">
                <a:solidFill>
                  <a:schemeClr val="tx1"/>
                </a:solidFill>
              </a:rPr>
              <a:t>关键发现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zh-CN" sz="2200" dirty="0">
                <a:solidFill>
                  <a:schemeClr val="tx1"/>
                </a:solidFill>
              </a:rPr>
              <a:t>对于较大的内存分配（大小接近</a:t>
            </a:r>
            <a:r>
              <a:rPr lang="zh-CN" sz="2200" dirty="0">
                <a:solidFill>
                  <a:schemeClr val="tx1"/>
                </a:solidFill>
              </a:rPr>
              <a:t>显存），虚拟地址到</a:t>
            </a:r>
            <a:r>
              <a:rPr lang="zh-CN" altLang="en-US" sz="2200" dirty="0">
                <a:solidFill>
                  <a:schemeClr val="tx1"/>
                </a:solidFill>
              </a:rPr>
              <a:t>存储体和</a:t>
            </a:r>
            <a:r>
              <a:rPr lang="zh-CN" altLang="en-US" sz="2200" dirty="0">
                <a:solidFill>
                  <a:schemeClr val="tx1"/>
                </a:solidFill>
              </a:rPr>
              <a:t>行的映射保持不变，这使得行集可以被反复利用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5188" y="48139"/>
            <a:ext cx="1106598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背景知识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攻击方法</a:t>
            </a:r>
            <a:r>
              <a:rPr lang="en-US" altLang="zh-CN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攻击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防御与讨论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总结</a:t>
            </a:r>
            <a:endParaRPr lang="zh-CN" altLang="en-US" dirty="0">
              <a:solidFill>
                <a:srgbClr val="BFBF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835" y="1868170"/>
            <a:ext cx="3990340" cy="35026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5306" y="649070"/>
            <a:ext cx="10521388" cy="636222"/>
          </a:xfrm>
        </p:spPr>
        <p:txBody>
          <a:bodyPr>
            <a:normAutofit/>
          </a:bodyPr>
          <a:lstStyle/>
          <a:p>
            <a:r>
              <a:rPr lang="zh-CN" altLang="en-US" dirty="0"/>
              <a:t>挑战二：如何</a:t>
            </a:r>
            <a:r>
              <a:rPr lang="zh-CN" altLang="en-US" dirty="0"/>
              <a:t>提高激活率？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内容占位符 1"/>
              <p:cNvSpPr>
                <a:spLocks noGrp="1"/>
              </p:cNvSpPr>
              <p:nvPr>
                <p:ph idx="1"/>
              </p:nvPr>
            </p:nvSpPr>
            <p:spPr>
              <a:xfrm>
                <a:off x="717550" y="1868170"/>
                <a:ext cx="10100945" cy="2669540"/>
              </a:xfrm>
            </p:spPr>
            <p:txBody>
              <a:bodyPr>
                <a:noAutofit/>
              </a:bodyPr>
              <a:lstStyle/>
              <a:p>
                <a:r>
                  <a:rPr lang="zh-CN" altLang="en-US" sz="2400" dirty="0" err="1">
                    <a:solidFill>
                      <a:schemeClr val="tx1"/>
                    </a:solidFill>
                  </a:rPr>
                  <a:t>实施</a:t>
                </a:r>
                <a:r>
                  <a:rPr lang="en-US" altLang="zh-CN" sz="2400" dirty="0" err="1">
                    <a:solidFill>
                      <a:schemeClr val="tx1"/>
                    </a:solidFill>
                  </a:rPr>
                  <a:t>Rowhammer</a:t>
                </a:r>
                <a:r>
                  <a:rPr lang="zh-CN" altLang="en-US" sz="2400" dirty="0" err="1">
                    <a:solidFill>
                      <a:schemeClr val="tx1"/>
                    </a:solidFill>
                  </a:rPr>
                  <a:t>攻击需要达到高激活率，在刷新周期内达到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𝑅𝐻</m:t>
                        </m:r>
                      </m:sub>
                    </m:sSub>
                  </m:oMath>
                </a14:m>
                <a:r>
                  <a:rPr lang="zh-CN" altLang="en-US" sz="2400" dirty="0" err="1">
                    <a:solidFill>
                      <a:schemeClr val="tx1"/>
                    </a:solidFill>
                  </a:rPr>
                  <a:t>阈值</a:t>
                </a:r>
                <a:endParaRPr lang="zh-CN" altLang="en-US" sz="2400" dirty="0" err="1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err="1">
                    <a:solidFill>
                      <a:schemeClr val="tx1"/>
                    </a:solidFill>
                  </a:rPr>
                  <a:t>困境：</a:t>
                </a:r>
                <a:r>
                  <a:rPr lang="en-US" altLang="zh-CN" sz="2400" dirty="0" err="1">
                    <a:solidFill>
                      <a:schemeClr val="tx1"/>
                    </a:solidFill>
                  </a:rPr>
                  <a:t>GPU</a:t>
                </a:r>
                <a:r>
                  <a:rPr lang="zh-CN" altLang="en-US" sz="2400" dirty="0" err="1">
                    <a:solidFill>
                      <a:schemeClr val="tx1"/>
                    </a:solidFill>
                  </a:rPr>
                  <a:t>访问延迟更长，刷新周期更短。单线程情况下，激活率远远不够，且为了应对防御措施，需要多面攻击分摊锤击</a:t>
                </a:r>
                <a:endParaRPr lang="zh-CN" altLang="en-US" sz="2400" dirty="0" err="1">
                  <a:solidFill>
                    <a:schemeClr val="tx1"/>
                  </a:solidFill>
                </a:endParaRPr>
              </a:p>
              <a:p>
                <a:pPr marL="629920" lvl="1" indent="-306070">
                  <a:buFont typeface="Wingdings 2" panose="05020102010507070707" charset="0"/>
                  <a:buChar char=""/>
                </a:pPr>
                <a:r>
                  <a:rPr lang="zh-CN" sz="2200" dirty="0">
                    <a:solidFill>
                      <a:schemeClr val="tx1"/>
                    </a:solidFill>
                  </a:rPr>
                  <a:t>现代存储的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2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2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𝑅𝐻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schemeClr val="tx1"/>
                    </a:solidFill>
                  </a:rPr>
                  <a:t>约为</a:t>
                </a:r>
                <a:r>
                  <a:rPr lang="en-US" altLang="zh-CN" sz="2200" dirty="0">
                    <a:solidFill>
                      <a:schemeClr val="tx1"/>
                    </a:solidFill>
                  </a:rPr>
                  <a:t>1</a:t>
                </a:r>
                <a:r>
                  <a:rPr lang="zh-CN" altLang="en-US" sz="2200" dirty="0">
                    <a:solidFill>
                      <a:schemeClr val="tx1"/>
                    </a:solidFill>
                  </a:rPr>
                  <a:t>万</a:t>
                </a:r>
                <a:r>
                  <a:rPr lang="en-US" altLang="zh-CN" sz="2200" dirty="0">
                    <a:solidFill>
                      <a:schemeClr val="tx1"/>
                    </a:solidFill>
                  </a:rPr>
                  <a:t>~2</a:t>
                </a:r>
                <a:r>
                  <a:rPr lang="zh-CN" altLang="en-US" sz="2200" dirty="0">
                    <a:solidFill>
                      <a:schemeClr val="tx1"/>
                    </a:solidFill>
                  </a:rPr>
                  <a:t>万</a:t>
                </a:r>
                <a:endParaRPr lang="zh-CN" altLang="en-US" sz="2200" dirty="0">
                  <a:solidFill>
                    <a:schemeClr val="tx1"/>
                  </a:solidFill>
                </a:endParaRPr>
              </a:p>
              <a:p>
                <a:pPr marL="629920" lvl="1" indent="-306070">
                  <a:buFont typeface="Wingdings 2" panose="05020102010507070707" charset="0"/>
                  <a:buChar char=""/>
                </a:pPr>
                <a:r>
                  <a:rPr lang="en-US" altLang="zh-CN" sz="2200" dirty="0">
                    <a:solidFill>
                      <a:schemeClr val="tx1"/>
                    </a:solidFill>
                  </a:rPr>
                  <a:t>20</a:t>
                </a:r>
                <a:r>
                  <a:rPr lang="zh-CN" altLang="en-US" sz="2200" dirty="0">
                    <a:solidFill>
                      <a:schemeClr val="tx1"/>
                    </a:solidFill>
                  </a:rPr>
                  <a:t>面攻击时刷新周期</a:t>
                </a:r>
                <a:r>
                  <a:rPr lang="zh-CN" altLang="en-US" sz="2200" dirty="0">
                    <a:solidFill>
                      <a:schemeClr val="tx1"/>
                    </a:solidFill>
                  </a:rPr>
                  <a:t>内激活率只能达到</a:t>
                </a:r>
                <a:r>
                  <a:rPr lang="en-US" altLang="zh-CN" sz="2200" dirty="0">
                    <a:solidFill>
                      <a:schemeClr val="tx1"/>
                    </a:solidFill>
                  </a:rPr>
                  <a:t>5</a:t>
                </a:r>
                <a:r>
                  <a:rPr lang="zh-CN" altLang="en-US" sz="2200" dirty="0">
                    <a:solidFill>
                      <a:schemeClr val="tx1"/>
                    </a:solidFill>
                  </a:rPr>
                  <a:t>千次</a:t>
                </a:r>
                <a:endParaRPr lang="zh-CN" sz="2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" name="内容占位符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7550" y="1868170"/>
                <a:ext cx="10100945" cy="2669540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135188" y="48139"/>
            <a:ext cx="1106598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背景知识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攻击方法</a:t>
            </a:r>
            <a:r>
              <a:rPr lang="en-US" altLang="zh-CN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攻击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防御与讨论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总结</a:t>
            </a:r>
            <a:endParaRPr lang="zh-CN" altLang="en-US" dirty="0">
              <a:solidFill>
                <a:srgbClr val="BFBF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内容占位符 1"/>
          <p:cNvSpPr>
            <a:spLocks noGrp="1"/>
          </p:cNvSpPr>
          <p:nvPr/>
        </p:nvSpPr>
        <p:spPr>
          <a:xfrm>
            <a:off x="3707130" y="4844415"/>
            <a:ext cx="3709670" cy="7086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64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Font typeface="Wingdings 2" panose="05020102010507070707" charset="0"/>
              <a:buNone/>
            </a:pPr>
            <a:r>
              <a:rPr lang="en-US" altLang="zh-CN" sz="3200" dirty="0">
                <a:solidFill>
                  <a:schemeClr val="tx1"/>
                </a:solidFill>
              </a:rPr>
              <a:t>20000  </a:t>
            </a:r>
            <a:r>
              <a:rPr lang="en-US" altLang="zh-CN" sz="3200" dirty="0">
                <a:solidFill>
                  <a:schemeClr val="tx1"/>
                </a:solidFill>
              </a:rPr>
              <a:t>VS  5000    </a:t>
            </a:r>
            <a:r>
              <a:rPr lang="zh-CN" altLang="en-US" sz="3200" dirty="0">
                <a:solidFill>
                  <a:srgbClr val="FF0000"/>
                </a:solidFill>
              </a:rPr>
              <a:t>？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3311525" y="4537710"/>
            <a:ext cx="4224020" cy="1289685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5306" y="649070"/>
            <a:ext cx="10521388" cy="636222"/>
          </a:xfrm>
        </p:spPr>
        <p:txBody>
          <a:bodyPr>
            <a:normAutofit/>
          </a:bodyPr>
          <a:lstStyle/>
          <a:p>
            <a:r>
              <a:rPr lang="zh-CN" altLang="en-US" dirty="0"/>
              <a:t>挑战二：如何</a:t>
            </a:r>
            <a:r>
              <a:rPr lang="zh-CN" altLang="en-US" dirty="0"/>
              <a:t>提高激活率？</a:t>
            </a:r>
            <a:endParaRPr lang="zh-CN" altLang="en-US" dirty="0"/>
          </a:p>
        </p:txBody>
      </p:sp>
      <p:sp>
        <p:nvSpPr>
          <p:cNvPr id="14" name="内容占位符 1"/>
          <p:cNvSpPr>
            <a:spLocks noGrp="1"/>
          </p:cNvSpPr>
          <p:nvPr>
            <p:ph idx="1"/>
          </p:nvPr>
        </p:nvSpPr>
        <p:spPr>
          <a:xfrm>
            <a:off x="717550" y="1868170"/>
            <a:ext cx="5111115" cy="3270250"/>
          </a:xfrm>
        </p:spPr>
        <p:txBody>
          <a:bodyPr>
            <a:noAutofit/>
          </a:bodyPr>
          <a:lstStyle/>
          <a:p>
            <a:pPr marL="306070" lvl="0" indent="-306070">
              <a:buFont typeface="Wingdings 2" panose="05020102010507070707" charset="0"/>
              <a:buChar char=""/>
            </a:pPr>
            <a:r>
              <a:rPr lang="zh-CN" altLang="en-US" sz="2400" dirty="0">
                <a:solidFill>
                  <a:schemeClr val="tx1"/>
                </a:solidFill>
              </a:rPr>
              <a:t>应对思路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zh-CN" sz="2200" dirty="0">
                <a:solidFill>
                  <a:schemeClr val="tx1"/>
                </a:solidFill>
              </a:rPr>
              <a:t>利用</a:t>
            </a:r>
            <a:r>
              <a:rPr lang="en-US" altLang="zh-CN" sz="2200" dirty="0">
                <a:solidFill>
                  <a:schemeClr val="tx1"/>
                </a:solidFill>
              </a:rPr>
              <a:t>GPU</a:t>
            </a:r>
            <a:r>
              <a:rPr lang="zh-CN" altLang="en-US" sz="2200" dirty="0">
                <a:solidFill>
                  <a:schemeClr val="tx1"/>
                </a:solidFill>
              </a:rPr>
              <a:t>的特性，</a:t>
            </a:r>
            <a:r>
              <a:rPr lang="zh-CN" sz="2200" dirty="0">
                <a:solidFill>
                  <a:schemeClr val="tx1"/>
                </a:solidFill>
              </a:rPr>
              <a:t>通过并行化锤击增加激活率</a:t>
            </a:r>
            <a:endParaRPr lang="zh-CN" sz="2200" dirty="0">
              <a:solidFill>
                <a:schemeClr val="tx1"/>
              </a:solidFill>
            </a:endParaRPr>
          </a:p>
          <a:p>
            <a:pPr marL="306070" lvl="0" indent="-306070">
              <a:buFont typeface="Wingdings 2" panose="05020102010507070707" charset="0"/>
              <a:buChar char=""/>
            </a:pPr>
            <a:r>
              <a:rPr lang="zh-CN" sz="2400" dirty="0" err="1">
                <a:solidFill>
                  <a:schemeClr val="tx1"/>
                </a:solidFill>
                <a:sym typeface="+mn-ea"/>
              </a:rPr>
              <a:t>方案对比</a:t>
            </a:r>
            <a:endParaRPr lang="zh-CN" altLang="en-US" sz="2200" dirty="0" err="1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zh-CN" sz="2200" dirty="0">
                <a:solidFill>
                  <a:schemeClr val="tx1"/>
                </a:solidFill>
                <a:sym typeface="+mn-ea"/>
              </a:rPr>
              <a:t>单线程：</a:t>
            </a:r>
            <a:r>
              <a:rPr lang="en-US" altLang="zh-CN" sz="2200" dirty="0">
                <a:solidFill>
                  <a:schemeClr val="tx1"/>
                </a:solidFill>
                <a:sym typeface="+mn-ea"/>
              </a:rPr>
              <a:t>9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万</a:t>
            </a:r>
            <a:endParaRPr lang="zh-CN" sz="2200" dirty="0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zh-CN" sz="2200" dirty="0">
                <a:solidFill>
                  <a:schemeClr val="tx1"/>
                </a:solidFill>
                <a:sym typeface="+mn-ea"/>
              </a:rPr>
              <a:t>多线程：</a:t>
            </a:r>
            <a:r>
              <a:rPr lang="en-US" altLang="zh-CN" sz="2200" dirty="0">
                <a:solidFill>
                  <a:schemeClr val="tx1"/>
                </a:solidFill>
                <a:sym typeface="+mn-ea"/>
              </a:rPr>
              <a:t>52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万</a:t>
            </a:r>
            <a:endParaRPr lang="zh-CN" sz="2200" dirty="0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zh-CN" sz="2200" dirty="0">
                <a:solidFill>
                  <a:schemeClr val="tx1"/>
                </a:solidFill>
                <a:sym typeface="+mn-ea"/>
              </a:rPr>
              <a:t>多</a:t>
            </a:r>
            <a:r>
              <a:rPr lang="en-US" altLang="zh-CN" sz="2200" dirty="0">
                <a:solidFill>
                  <a:schemeClr val="tx1"/>
                </a:solidFill>
                <a:sym typeface="+mn-ea"/>
              </a:rPr>
              <a:t>warp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：</a:t>
            </a:r>
            <a:r>
              <a:rPr lang="en-US" altLang="zh-CN" sz="2200" dirty="0">
                <a:solidFill>
                  <a:schemeClr val="tx1"/>
                </a:solidFill>
                <a:sym typeface="+mn-ea"/>
              </a:rPr>
              <a:t>62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万（理论上限的</a:t>
            </a:r>
            <a:r>
              <a:rPr lang="en-US" altLang="zh-CN" sz="2200" dirty="0">
                <a:solidFill>
                  <a:schemeClr val="tx1"/>
                </a:solidFill>
                <a:sym typeface="+mn-ea"/>
              </a:rPr>
              <a:t>90%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）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endParaRPr lang="zh-CN" sz="22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5188" y="48139"/>
            <a:ext cx="1106598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背景知识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攻击方法</a:t>
            </a:r>
            <a:r>
              <a:rPr lang="en-US" altLang="zh-CN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攻击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防御与讨论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总结</a:t>
            </a:r>
            <a:endParaRPr lang="zh-CN" altLang="en-US" dirty="0">
              <a:solidFill>
                <a:srgbClr val="BFBF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2384" b="16613"/>
          <a:stretch>
            <a:fillRect/>
          </a:stretch>
        </p:blipFill>
        <p:spPr>
          <a:xfrm>
            <a:off x="6639560" y="978535"/>
            <a:ext cx="4390390" cy="36550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b="33627"/>
          <a:stretch>
            <a:fillRect/>
          </a:stretch>
        </p:blipFill>
        <p:spPr>
          <a:xfrm>
            <a:off x="6068060" y="4615815"/>
            <a:ext cx="5239385" cy="20567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5306" y="649070"/>
            <a:ext cx="10521388" cy="636222"/>
          </a:xfrm>
        </p:spPr>
        <p:txBody>
          <a:bodyPr>
            <a:normAutofit/>
          </a:bodyPr>
          <a:lstStyle/>
          <a:p>
            <a:r>
              <a:rPr lang="zh-CN" altLang="en-US" dirty="0"/>
              <a:t>挑战三：如何</a:t>
            </a:r>
            <a:r>
              <a:rPr lang="zh-CN" altLang="en-US" dirty="0"/>
              <a:t>绕过缓解措施？</a:t>
            </a:r>
            <a:endParaRPr lang="zh-CN" altLang="en-US" dirty="0"/>
          </a:p>
        </p:txBody>
      </p:sp>
      <p:sp>
        <p:nvSpPr>
          <p:cNvPr id="14" name="内容占位符 1"/>
          <p:cNvSpPr>
            <a:spLocks noGrp="1"/>
          </p:cNvSpPr>
          <p:nvPr>
            <p:ph idx="1"/>
          </p:nvPr>
        </p:nvSpPr>
        <p:spPr>
          <a:xfrm>
            <a:off x="422910" y="1725295"/>
            <a:ext cx="11238230" cy="4422775"/>
          </a:xfrm>
        </p:spPr>
        <p:txBody>
          <a:bodyPr>
            <a:noAutofit/>
          </a:bodyPr>
          <a:lstStyle/>
          <a:p>
            <a:pPr marL="306070" lvl="0" indent="-306070">
              <a:buFont typeface="Wingdings 2" panose="05020102010507070707" charset="0"/>
              <a:buChar char=""/>
            </a:pPr>
            <a:r>
              <a:rPr lang="zh-CN" altLang="en-US" sz="2400" dirty="0">
                <a:solidFill>
                  <a:schemeClr val="tx1"/>
                </a:solidFill>
              </a:rPr>
              <a:t>缓解措施</a:t>
            </a:r>
            <a:r>
              <a:rPr lang="en-US" altLang="zh-CN" sz="2400" dirty="0">
                <a:solidFill>
                  <a:schemeClr val="tx1"/>
                </a:solidFill>
              </a:rPr>
              <a:t>TRR(Target Row Refresh</a:t>
            </a:r>
            <a:r>
              <a:rPr lang="zh-CN" altLang="en-US" sz="2400" dirty="0">
                <a:solidFill>
                  <a:schemeClr val="tx1"/>
                </a:solidFill>
              </a:rPr>
              <a:t>，目标行刷新</a:t>
            </a:r>
            <a:r>
              <a:rPr lang="en-US" altLang="zh-CN" sz="2400" dirty="0">
                <a:solidFill>
                  <a:schemeClr val="tx1"/>
                </a:solidFill>
              </a:rPr>
              <a:t>)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en-US" altLang="zh-CN" sz="2200" dirty="0">
                <a:solidFill>
                  <a:schemeClr val="tx1"/>
                </a:solidFill>
              </a:rPr>
              <a:t>DRAM</a:t>
            </a:r>
            <a:r>
              <a:rPr lang="zh-CN" altLang="en-US" sz="2200" dirty="0">
                <a:solidFill>
                  <a:schemeClr val="tx1"/>
                </a:solidFill>
              </a:rPr>
              <a:t>内置</a:t>
            </a:r>
            <a:r>
              <a:rPr lang="zh-CN" altLang="en-US" sz="2200" dirty="0">
                <a:solidFill>
                  <a:schemeClr val="tx1"/>
                </a:solidFill>
              </a:rPr>
              <a:t>一个采样器，</a:t>
            </a:r>
            <a:r>
              <a:rPr lang="zh-CN" sz="2200" dirty="0">
                <a:solidFill>
                  <a:schemeClr val="tx1"/>
                </a:solidFill>
              </a:rPr>
              <a:t>记录每个行的激活次数，在</a:t>
            </a:r>
            <a:r>
              <a:rPr lang="en-US" altLang="zh-CN" sz="2200" dirty="0">
                <a:solidFill>
                  <a:schemeClr val="tx1"/>
                </a:solidFill>
              </a:rPr>
              <a:t>REF</a:t>
            </a:r>
            <a:r>
              <a:rPr lang="zh-CN" altLang="en-US" sz="2200" dirty="0">
                <a:solidFill>
                  <a:schemeClr val="tx1"/>
                </a:solidFill>
              </a:rPr>
              <a:t>（刷新命令）执行</a:t>
            </a:r>
            <a:r>
              <a:rPr lang="zh-CN" sz="2200" dirty="0">
                <a:solidFill>
                  <a:schemeClr val="tx1"/>
                </a:solidFill>
              </a:rPr>
              <a:t>时进行刷新，根据</a:t>
            </a:r>
            <a:r>
              <a:rPr lang="zh-CN" sz="2200" dirty="0">
                <a:solidFill>
                  <a:schemeClr val="tx1"/>
                </a:solidFill>
              </a:rPr>
              <a:t>采样器记录的激活次数，将激活次数较高的行的附近行进行</a:t>
            </a:r>
            <a:r>
              <a:rPr lang="zh-CN" sz="2200" dirty="0">
                <a:solidFill>
                  <a:schemeClr val="tx1"/>
                </a:solidFill>
              </a:rPr>
              <a:t>刷新。</a:t>
            </a:r>
            <a:endParaRPr lang="zh-CN" sz="2200" dirty="0">
              <a:solidFill>
                <a:schemeClr val="tx1"/>
              </a:solidFill>
            </a:endParaRPr>
          </a:p>
          <a:p>
            <a:pPr marL="306070" lvl="0" indent="-306070">
              <a:buFont typeface="Wingdings 2" panose="05020102010507070707" charset="0"/>
              <a:buChar char=""/>
            </a:pPr>
            <a:r>
              <a:rPr lang="zh-CN" altLang="en-US" sz="2400" dirty="0" err="1">
                <a:solidFill>
                  <a:schemeClr val="tx1"/>
                </a:solidFill>
              </a:rPr>
              <a:t>特性</a:t>
            </a:r>
            <a:endParaRPr lang="zh-CN" altLang="en-US" sz="2400" dirty="0" err="1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采样器针对每个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存储体只记录</a:t>
            </a:r>
            <a:r>
              <a:rPr lang="en-US" altLang="zh-CN" sz="2200" dirty="0">
                <a:solidFill>
                  <a:schemeClr val="tx1"/>
                </a:solidFill>
                <a:sym typeface="+mn-ea"/>
              </a:rPr>
              <a:t>16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行的激活次数</a:t>
            </a:r>
            <a:endParaRPr lang="zh-CN" altLang="en-US" sz="2200" dirty="0">
              <a:solidFill>
                <a:schemeClr val="tx1"/>
              </a:solidFill>
              <a:sym typeface="+mn-ea"/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采样器每个刷新周期开始清零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并重新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计数</a:t>
            </a:r>
            <a:endParaRPr lang="zh-CN" altLang="en-US" sz="22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5188" y="48139"/>
            <a:ext cx="1106598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背景知识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攻击方法</a:t>
            </a:r>
            <a:r>
              <a:rPr lang="en-US" altLang="zh-CN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攻击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防御与讨论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总结</a:t>
            </a:r>
            <a:endParaRPr lang="zh-CN" altLang="en-US" dirty="0">
              <a:solidFill>
                <a:srgbClr val="BFBF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内容占位符 1"/>
          <p:cNvSpPr>
            <a:spLocks noGrp="1"/>
          </p:cNvSpPr>
          <p:nvPr/>
        </p:nvSpPr>
        <p:spPr>
          <a:xfrm>
            <a:off x="8228330" y="3561715"/>
            <a:ext cx="3576320" cy="12687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64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Font typeface="Wingdings 2" panose="05020102010507070707" charset="0"/>
              <a:buNone/>
            </a:pP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同时锤击</a:t>
            </a:r>
            <a:r>
              <a:rPr lang="en-US" altLang="zh-CN" sz="2200" dirty="0">
                <a:solidFill>
                  <a:schemeClr val="tx1"/>
                </a:solidFill>
                <a:sym typeface="+mn-ea"/>
              </a:rPr>
              <a:t>17+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行</a:t>
            </a:r>
            <a:endParaRPr lang="zh-CN" altLang="en-US" sz="2200" dirty="0">
              <a:solidFill>
                <a:schemeClr val="tx1"/>
              </a:solidFill>
              <a:sym typeface="+mn-ea"/>
            </a:endParaRPr>
          </a:p>
          <a:p>
            <a:pPr marL="0" lvl="0" indent="0">
              <a:buFont typeface="Wingdings 2" panose="05020102010507070707" charset="0"/>
              <a:buNone/>
            </a:pP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每个刷新周期执行同样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操作</a:t>
            </a:r>
            <a:endParaRPr lang="zh-CN" altLang="en-US" sz="22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7208520" y="3673475"/>
            <a:ext cx="763905" cy="23241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右箭头 7"/>
          <p:cNvSpPr/>
          <p:nvPr/>
        </p:nvSpPr>
        <p:spPr>
          <a:xfrm>
            <a:off x="7208520" y="4128135"/>
            <a:ext cx="763905" cy="23241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025" y="4632960"/>
            <a:ext cx="4699000" cy="20002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955" y="4688205"/>
            <a:ext cx="5471160" cy="15690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5306" y="649070"/>
            <a:ext cx="10521388" cy="636222"/>
          </a:xfrm>
        </p:spPr>
        <p:txBody>
          <a:bodyPr>
            <a:normAutofit/>
          </a:bodyPr>
          <a:lstStyle/>
          <a:p>
            <a:r>
              <a:rPr lang="zh-CN" altLang="en-US" dirty="0"/>
              <a:t>挑战三：</a:t>
            </a:r>
            <a:r>
              <a:rPr lang="zh-CN" altLang="en-US" dirty="0">
                <a:sym typeface="+mn-ea"/>
              </a:rPr>
              <a:t>如何绕过</a:t>
            </a:r>
            <a:r>
              <a:rPr lang="zh-CN" altLang="en-US" dirty="0"/>
              <a:t>缓解措施？</a:t>
            </a:r>
            <a:endParaRPr lang="zh-CN" altLang="en-US" dirty="0"/>
          </a:p>
        </p:txBody>
      </p:sp>
      <p:sp>
        <p:nvSpPr>
          <p:cNvPr id="14" name="内容占位符 1"/>
          <p:cNvSpPr>
            <a:spLocks noGrp="1"/>
          </p:cNvSpPr>
          <p:nvPr>
            <p:ph idx="1"/>
          </p:nvPr>
        </p:nvSpPr>
        <p:spPr>
          <a:xfrm>
            <a:off x="717550" y="1868170"/>
            <a:ext cx="5593080" cy="3748405"/>
          </a:xfrm>
        </p:spPr>
        <p:txBody>
          <a:bodyPr>
            <a:noAutofit/>
          </a:bodyPr>
          <a:lstStyle/>
          <a:p>
            <a:pPr marL="306070" lvl="0" indent="-306070">
              <a:buFont typeface="Wingdings 2" panose="05020102010507070707" charset="0"/>
              <a:buChar char=""/>
            </a:pPr>
            <a:r>
              <a:rPr lang="zh-CN" sz="2400" dirty="0" err="1">
                <a:solidFill>
                  <a:schemeClr val="tx1"/>
                </a:solidFill>
                <a:sym typeface="+mn-ea"/>
              </a:rPr>
              <a:t>现象</a:t>
            </a:r>
            <a:endParaRPr lang="zh-CN" sz="2400" dirty="0" err="1">
              <a:solidFill>
                <a:schemeClr val="tx1"/>
              </a:solidFill>
              <a:sym typeface="+mn-ea"/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en-US" altLang="zh-CN" sz="2200" dirty="0">
                <a:solidFill>
                  <a:schemeClr val="tx1"/>
                </a:solidFill>
              </a:rPr>
              <a:t>warp</a:t>
            </a:r>
            <a:r>
              <a:rPr lang="zh-CN" altLang="en-US" sz="2200" dirty="0">
                <a:solidFill>
                  <a:schemeClr val="tx1"/>
                </a:solidFill>
              </a:rPr>
              <a:t>数越多，同步越差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306070" lvl="0" indent="-306070">
              <a:buFont typeface="Wingdings 2" panose="05020102010507070707" charset="0"/>
              <a:buChar char=""/>
            </a:pPr>
            <a:r>
              <a:rPr lang="zh-CN" altLang="en-US" sz="2400" dirty="0">
                <a:solidFill>
                  <a:schemeClr val="tx1"/>
                </a:solidFill>
              </a:rPr>
              <a:t>解决方法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zh-CN" altLang="en-US" sz="2200" dirty="0">
                <a:solidFill>
                  <a:schemeClr val="tx1"/>
                </a:solidFill>
              </a:rPr>
              <a:t>减少</a:t>
            </a:r>
            <a:r>
              <a:rPr lang="en-US" altLang="zh-CN" sz="2200" dirty="0">
                <a:solidFill>
                  <a:schemeClr val="tx1"/>
                </a:solidFill>
              </a:rPr>
              <a:t>warp</a:t>
            </a:r>
            <a:r>
              <a:rPr lang="zh-CN" altLang="en-US" sz="2200" dirty="0">
                <a:solidFill>
                  <a:schemeClr val="tx1"/>
                </a:solidFill>
              </a:rPr>
              <a:t>数，增加线程数。例如将</a:t>
            </a:r>
            <a:r>
              <a:rPr lang="en-US" altLang="zh-CN" sz="2200" dirty="0">
                <a:solidFill>
                  <a:schemeClr val="tx1"/>
                </a:solidFill>
              </a:rPr>
              <a:t>24warp</a:t>
            </a:r>
            <a:r>
              <a:rPr lang="zh-CN" altLang="en-US" sz="2200" dirty="0">
                <a:solidFill>
                  <a:schemeClr val="tx1"/>
                </a:solidFill>
              </a:rPr>
              <a:t>改为使用</a:t>
            </a:r>
            <a:r>
              <a:rPr lang="en-US" altLang="zh-CN" sz="2200" dirty="0">
                <a:solidFill>
                  <a:schemeClr val="tx1"/>
                </a:solidFill>
              </a:rPr>
              <a:t>8warp</a:t>
            </a:r>
            <a:r>
              <a:rPr lang="zh-CN" altLang="en-US" sz="2200" dirty="0">
                <a:solidFill>
                  <a:schemeClr val="tx1"/>
                </a:solidFill>
              </a:rPr>
              <a:t>，每</a:t>
            </a:r>
            <a:r>
              <a:rPr lang="en-US" altLang="zh-CN" sz="2200" dirty="0">
                <a:solidFill>
                  <a:schemeClr val="tx1"/>
                </a:solidFill>
              </a:rPr>
              <a:t>warp3</a:t>
            </a:r>
            <a:r>
              <a:rPr lang="zh-CN" altLang="en-US" sz="2200" dirty="0">
                <a:solidFill>
                  <a:schemeClr val="tx1"/>
                </a:solidFill>
              </a:rPr>
              <a:t>线程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5188" y="48139"/>
            <a:ext cx="1106598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背景知识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攻击方法</a:t>
            </a:r>
            <a:r>
              <a:rPr lang="en-US" altLang="zh-CN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攻击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防御与讨论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总结</a:t>
            </a:r>
            <a:endParaRPr lang="zh-CN" altLang="en-US" dirty="0">
              <a:solidFill>
                <a:srgbClr val="BFBF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9000" y="2161540"/>
            <a:ext cx="5651500" cy="162052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395" y="4143375"/>
            <a:ext cx="9533255" cy="23698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102810" y="1245704"/>
            <a:ext cx="3031869" cy="3536402"/>
            <a:chOff x="599226" y="1732460"/>
            <a:chExt cx="10993549" cy="2524748"/>
          </a:xfrm>
        </p:grpSpPr>
        <p:grpSp>
          <p:nvGrpSpPr>
            <p:cNvPr id="2" name="组合 1"/>
            <p:cNvGrpSpPr/>
            <p:nvPr/>
          </p:nvGrpSpPr>
          <p:grpSpPr>
            <a:xfrm>
              <a:off x="599226" y="1732460"/>
              <a:ext cx="10993549" cy="2524748"/>
              <a:chOff x="599225" y="1732459"/>
              <a:chExt cx="10993549" cy="1907212"/>
            </a:xfrm>
          </p:grpSpPr>
          <p:sp>
            <p:nvSpPr>
              <p:cNvPr id="3" name="矩形 2"/>
              <p:cNvSpPr/>
              <p:nvPr userDrawn="1"/>
            </p:nvSpPr>
            <p:spPr>
              <a:xfrm>
                <a:off x="599225" y="1736370"/>
                <a:ext cx="10993549" cy="190330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4" name="矩形 3"/>
              <p:cNvSpPr/>
              <p:nvPr userDrawn="1"/>
            </p:nvSpPr>
            <p:spPr>
              <a:xfrm>
                <a:off x="599225" y="1732459"/>
                <a:ext cx="1687098" cy="792000"/>
              </a:xfrm>
              <a:prstGeom prst="rect">
                <a:avLst/>
              </a:prstGeom>
              <a:solidFill>
                <a:srgbClr val="6608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sp>
          <p:nvSpPr>
            <p:cNvPr id="5" name="标题 1"/>
            <p:cNvSpPr txBox="1"/>
            <p:nvPr/>
          </p:nvSpPr>
          <p:spPr>
            <a:xfrm>
              <a:off x="1778609" y="2576952"/>
              <a:ext cx="8634783" cy="840940"/>
            </a:xfrm>
            <a:prstGeom prst="rect">
              <a:avLst/>
            </a:prstGeom>
          </p:spPr>
          <p:txBody>
            <a:bodyPr/>
            <a:lstStyle>
              <a:lvl1pPr algn="l" defTabSz="457200" rtl="0" eaLnBrk="1" latinLnBrk="0" hangingPunct="1">
                <a:spcBef>
                  <a:spcPct val="0"/>
                </a:spcBef>
                <a:buNone/>
                <a:defRPr sz="2800" b="0" kern="1200" cap="none" baseline="0">
                  <a:solidFill>
                    <a:srgbClr val="660874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ctr"/>
              <a:r>
                <a:rPr lang="zh-CN" altLang="en-US" sz="4000" dirty="0"/>
                <a:t>目录</a:t>
              </a:r>
              <a:endParaRPr lang="en-US" altLang="zh-CN" sz="4000" dirty="0"/>
            </a:p>
          </p:txBody>
        </p:sp>
      </p:grpSp>
      <p:sp>
        <p:nvSpPr>
          <p:cNvPr id="7" name="标题 2"/>
          <p:cNvSpPr txBox="1"/>
          <p:nvPr/>
        </p:nvSpPr>
        <p:spPr>
          <a:xfrm>
            <a:off x="5311661" y="1252956"/>
            <a:ext cx="6188346" cy="48430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none" baseline="0">
                <a:solidFill>
                  <a:srgbClr val="660874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BFBFBF"/>
                </a:solidFill>
              </a:rPr>
              <a:t>背景</a:t>
            </a:r>
            <a:r>
              <a:rPr lang="zh-CN" altLang="en-US" sz="3200" dirty="0">
                <a:solidFill>
                  <a:srgbClr val="BFBFBF"/>
                </a:solidFill>
                <a:sym typeface="+mn-ea"/>
              </a:rPr>
              <a:t>知识</a:t>
            </a:r>
            <a:endParaRPr lang="en-US" altLang="zh-CN" sz="3200" dirty="0">
              <a:solidFill>
                <a:srgbClr val="BFBFBF"/>
              </a:solidFill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BFBFBF"/>
                </a:solidFill>
              </a:rPr>
              <a:t>攻击方法</a:t>
            </a:r>
            <a:endParaRPr lang="en-US" altLang="zh-CN" sz="3200" dirty="0">
              <a:solidFill>
                <a:srgbClr val="BFBFBF"/>
              </a:solidFill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200" dirty="0"/>
              <a:t>攻击实例</a:t>
            </a:r>
            <a:endParaRPr lang="en-US" altLang="zh-CN" sz="3200" dirty="0"/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BFBFBF"/>
                </a:solidFill>
              </a:rPr>
              <a:t>防御与讨论</a:t>
            </a:r>
            <a:endParaRPr lang="en-US" altLang="zh-CN" sz="3200" dirty="0">
              <a:solidFill>
                <a:srgbClr val="BFBFBF"/>
              </a:solidFill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BFBFBF"/>
                </a:solidFill>
              </a:rPr>
              <a:t>总结</a:t>
            </a:r>
            <a:endParaRPr lang="zh-CN" altLang="en-US" sz="3200" dirty="0">
              <a:solidFill>
                <a:srgbClr val="BFBFB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53"/>
    </mc:Choice>
    <mc:Fallback>
      <p:transition spd="slow" advTm="2853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5306" y="649070"/>
            <a:ext cx="10521388" cy="636222"/>
          </a:xfrm>
        </p:spPr>
        <p:txBody>
          <a:bodyPr>
            <a:normAutofit/>
          </a:bodyPr>
          <a:lstStyle/>
          <a:p>
            <a:r>
              <a:rPr lang="en-US" altLang="zh-CN" dirty="0"/>
              <a:t>Rowhammer</a:t>
            </a:r>
            <a:r>
              <a:rPr lang="zh-CN" altLang="en-US" dirty="0"/>
              <a:t>实验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35188" y="48139"/>
            <a:ext cx="1106598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背景知识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攻击方法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攻击实例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防御与讨论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总结</a:t>
            </a:r>
            <a:endParaRPr lang="zh-CN" altLang="en-US" dirty="0">
              <a:solidFill>
                <a:srgbClr val="BFBF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内容占位符 1"/>
          <p:cNvSpPr>
            <a:spLocks noGrp="1"/>
          </p:cNvSpPr>
          <p:nvPr/>
        </p:nvSpPr>
        <p:spPr>
          <a:xfrm>
            <a:off x="830580" y="3205480"/>
            <a:ext cx="6316980" cy="310261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64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</a:rPr>
              <a:t>实验规模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1"/>
            <a:r>
              <a:rPr lang="zh-CN" altLang="en-US" sz="2200" dirty="0">
                <a:solidFill>
                  <a:schemeClr val="tx1"/>
                </a:solidFill>
              </a:rPr>
              <a:t>在</a:t>
            </a:r>
            <a:r>
              <a:rPr lang="en-US" altLang="zh-CN" sz="2200" dirty="0">
                <a:solidFill>
                  <a:schemeClr val="tx1"/>
                </a:solidFill>
              </a:rPr>
              <a:t>3</a:t>
            </a:r>
            <a:r>
              <a:rPr lang="zh-CN" altLang="en-US" sz="2200" dirty="0">
                <a:solidFill>
                  <a:schemeClr val="tx1"/>
                </a:solidFill>
              </a:rPr>
              <a:t>张</a:t>
            </a:r>
            <a:r>
              <a:rPr lang="en-US" altLang="zh-CN" sz="2200" dirty="0">
                <a:solidFill>
                  <a:schemeClr val="tx1"/>
                </a:solidFill>
              </a:rPr>
              <a:t>GPU(A6000,A100,RTX3080)</a:t>
            </a:r>
            <a:r>
              <a:rPr lang="zh-CN" altLang="en-US" sz="2200" dirty="0">
                <a:solidFill>
                  <a:schemeClr val="tx1"/>
                </a:solidFill>
              </a:rPr>
              <a:t>上进行实验，各选</a:t>
            </a:r>
            <a:r>
              <a:rPr lang="en-US" altLang="zh-CN" sz="2200" dirty="0">
                <a:solidFill>
                  <a:schemeClr val="tx1"/>
                </a:solidFill>
              </a:rPr>
              <a:t>4</a:t>
            </a:r>
            <a:r>
              <a:rPr lang="zh-CN" altLang="en-US" sz="2200" dirty="0">
                <a:solidFill>
                  <a:schemeClr val="tx1"/>
                </a:solidFill>
              </a:rPr>
              <a:t>个存储体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lvl="1"/>
            <a:r>
              <a:rPr lang="zh-CN" altLang="en-US" sz="2200" dirty="0">
                <a:solidFill>
                  <a:schemeClr val="tx1"/>
                </a:solidFill>
              </a:rPr>
              <a:t>分别锤击</a:t>
            </a:r>
            <a:r>
              <a:rPr lang="en-US" altLang="zh-CN" sz="2200" dirty="0">
                <a:solidFill>
                  <a:schemeClr val="tx1"/>
                </a:solidFill>
              </a:rPr>
              <a:t>8/12/16/20/24</a:t>
            </a:r>
            <a:r>
              <a:rPr lang="zh-CN" altLang="en-US" sz="2200" dirty="0">
                <a:solidFill>
                  <a:schemeClr val="tx1"/>
                </a:solidFill>
              </a:rPr>
              <a:t>行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306070" lvl="0" indent="-306070">
              <a:buFont typeface="Wingdings 2" panose="05020102010507070707" charset="0"/>
              <a:buChar char=""/>
            </a:pP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结果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在</a:t>
            </a:r>
            <a:r>
              <a:rPr lang="en-US" altLang="zh-CN" sz="2200" dirty="0">
                <a:solidFill>
                  <a:schemeClr val="tx1"/>
                </a:solidFill>
                <a:sym typeface="+mn-ea"/>
              </a:rPr>
              <a:t>A6000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上共实现</a:t>
            </a:r>
            <a:r>
              <a:rPr lang="en-US" altLang="zh-CN" sz="2200" dirty="0">
                <a:solidFill>
                  <a:schemeClr val="tx1"/>
                </a:solidFill>
                <a:sym typeface="+mn-ea"/>
              </a:rPr>
              <a:t>8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个位翻转，但</a:t>
            </a:r>
            <a:r>
              <a:rPr lang="en-US" altLang="zh-CN" sz="2200" dirty="0">
                <a:solidFill>
                  <a:schemeClr val="tx1"/>
                </a:solidFill>
                <a:sym typeface="+mn-ea"/>
              </a:rPr>
              <a:t>A100,RTX3080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并未发生位翻转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9155" y="1615440"/>
            <a:ext cx="4497070" cy="23647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155" y="4211320"/>
            <a:ext cx="4392295" cy="2346325"/>
          </a:xfrm>
          <a:prstGeom prst="rect">
            <a:avLst/>
          </a:prstGeom>
        </p:spPr>
      </p:pic>
      <p:sp>
        <p:nvSpPr>
          <p:cNvPr id="7" name="内容占位符 1"/>
          <p:cNvSpPr>
            <a:spLocks noGrp="1"/>
          </p:cNvSpPr>
          <p:nvPr/>
        </p:nvSpPr>
        <p:spPr>
          <a:xfrm>
            <a:off x="923925" y="1704975"/>
            <a:ext cx="6316980" cy="310261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64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200" dirty="0">
                <a:solidFill>
                  <a:schemeClr val="tx1"/>
                </a:solidFill>
              </a:rPr>
              <a:t>两阶段</a:t>
            </a:r>
            <a:r>
              <a:rPr lang="zh-CN" altLang="en-US" sz="2200" dirty="0">
                <a:solidFill>
                  <a:schemeClr val="tx1"/>
                </a:solidFill>
              </a:rPr>
              <a:t>攻击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763270" lvl="1" indent="-306070">
              <a:buFont typeface="Wingdings 2" panose="05020102010507070707" charset="0"/>
              <a:buChar char=""/>
            </a:pPr>
            <a:r>
              <a:rPr lang="zh-CN" altLang="en-US" sz="2200" dirty="0">
                <a:solidFill>
                  <a:schemeClr val="tx1"/>
                </a:solidFill>
              </a:rPr>
              <a:t>离线阶段：大范围锤击寻找脆弱</a:t>
            </a:r>
            <a:r>
              <a:rPr lang="zh-CN" altLang="en-US" sz="2200" dirty="0">
                <a:solidFill>
                  <a:schemeClr val="tx1"/>
                </a:solidFill>
              </a:rPr>
              <a:t>位置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763270" lvl="1" indent="-306070">
              <a:buFont typeface="Wingdings 2" panose="05020102010507070707" charset="0"/>
              <a:buChar char=""/>
            </a:pPr>
            <a:r>
              <a:rPr lang="zh-CN" altLang="en-US" sz="2200" dirty="0">
                <a:solidFill>
                  <a:schemeClr val="tx1"/>
                </a:solidFill>
              </a:rPr>
              <a:t>在线阶段：利用脆弱位置进行</a:t>
            </a:r>
            <a:r>
              <a:rPr lang="zh-CN" altLang="en-US" sz="2200" dirty="0">
                <a:solidFill>
                  <a:schemeClr val="tx1"/>
                </a:solidFill>
              </a:rPr>
              <a:t>攻击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5306" y="649070"/>
            <a:ext cx="10521388" cy="636222"/>
          </a:xfrm>
        </p:spPr>
        <p:txBody>
          <a:bodyPr>
            <a:normAutofit/>
          </a:bodyPr>
          <a:lstStyle/>
          <a:p>
            <a:r>
              <a:rPr lang="zh-CN" altLang="en-US" dirty="0"/>
              <a:t>真实端到端攻击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35188" y="48139"/>
            <a:ext cx="1106598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背景知识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攻击方法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攻击实例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防御与讨论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总结</a:t>
            </a:r>
            <a:endParaRPr lang="zh-CN" altLang="en-US" dirty="0">
              <a:solidFill>
                <a:srgbClr val="BFBF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内容占位符 1"/>
          <p:cNvSpPr>
            <a:spLocks noGrp="1"/>
          </p:cNvSpPr>
          <p:nvPr/>
        </p:nvSpPr>
        <p:spPr>
          <a:xfrm>
            <a:off x="806450" y="1605280"/>
            <a:ext cx="10203815" cy="46304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64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</a:rPr>
              <a:t>威胁模型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1"/>
            <a:r>
              <a:rPr lang="zh-CN" altLang="en-US" sz="2200" dirty="0">
                <a:solidFill>
                  <a:schemeClr val="tx1"/>
                </a:solidFill>
              </a:rPr>
              <a:t>多租户场景，攻击者和受害者位于同一</a:t>
            </a:r>
            <a:r>
              <a:rPr lang="en-US" altLang="zh-CN" sz="2200" dirty="0">
                <a:solidFill>
                  <a:schemeClr val="tx1"/>
                </a:solidFill>
              </a:rPr>
              <a:t>GPU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lvl="1"/>
            <a:r>
              <a:rPr lang="zh-CN" altLang="en-US" sz="2200" dirty="0">
                <a:solidFill>
                  <a:schemeClr val="tx1"/>
                </a:solidFill>
              </a:rPr>
              <a:t>两者以分时复用的方式执行</a:t>
            </a:r>
            <a:r>
              <a:rPr lang="en-US" altLang="zh-CN" sz="2200" dirty="0">
                <a:solidFill>
                  <a:schemeClr val="tx1"/>
                </a:solidFill>
              </a:rPr>
              <a:t>CUDA</a:t>
            </a:r>
            <a:r>
              <a:rPr lang="zh-CN" altLang="en-US" sz="2200" dirty="0">
                <a:solidFill>
                  <a:schemeClr val="tx1"/>
                </a:solidFill>
              </a:rPr>
              <a:t>内核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306070" lvl="0" indent="-306070">
              <a:buFont typeface="Wingdings 2" panose="05020102010507070707" charset="0"/>
              <a:buChar char=""/>
            </a:pPr>
            <a:r>
              <a:rPr lang="zh-CN" altLang="en-US" sz="2400" dirty="0">
                <a:solidFill>
                  <a:schemeClr val="tx1"/>
                </a:solidFill>
              </a:rPr>
              <a:t>攻击</a:t>
            </a:r>
            <a:r>
              <a:rPr lang="zh-CN" altLang="en-US" sz="2400" dirty="0">
                <a:solidFill>
                  <a:schemeClr val="tx1"/>
                </a:solidFill>
              </a:rPr>
              <a:t>目标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zh-CN" altLang="en-US" sz="2200" dirty="0">
                <a:solidFill>
                  <a:schemeClr val="tx1"/>
                </a:solidFill>
              </a:rPr>
              <a:t>以预训练的</a:t>
            </a:r>
            <a:r>
              <a:rPr lang="en-US" altLang="zh-CN" sz="2200" dirty="0">
                <a:solidFill>
                  <a:schemeClr val="tx1"/>
                </a:solidFill>
              </a:rPr>
              <a:t>ImageNet</a:t>
            </a:r>
            <a:r>
              <a:rPr lang="zh-CN" altLang="en-US" sz="2200" dirty="0">
                <a:solidFill>
                  <a:schemeClr val="tx1"/>
                </a:solidFill>
              </a:rPr>
              <a:t>模型作为攻击目标，通过位翻转篡改模型</a:t>
            </a:r>
            <a:r>
              <a:rPr lang="zh-CN" altLang="en-US" sz="2200" dirty="0">
                <a:solidFill>
                  <a:schemeClr val="tx1"/>
                </a:solidFill>
              </a:rPr>
              <a:t>权重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306070" lvl="0" indent="-306070">
              <a:buFont typeface="Wingdings 2" panose="05020102010507070707" charset="0"/>
              <a:buChar char=""/>
            </a:pPr>
            <a:r>
              <a:rPr lang="zh-CN" altLang="en-US" sz="2400" dirty="0">
                <a:solidFill>
                  <a:schemeClr val="tx1"/>
                </a:solidFill>
              </a:rPr>
              <a:t>攻击</a:t>
            </a:r>
            <a:r>
              <a:rPr lang="zh-CN" altLang="en-US" sz="2400" dirty="0">
                <a:solidFill>
                  <a:schemeClr val="tx1"/>
                </a:solidFill>
              </a:rPr>
              <a:t>方法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zh-CN" altLang="en-US" sz="2200" dirty="0">
                <a:solidFill>
                  <a:schemeClr val="tx1"/>
                </a:solidFill>
              </a:rPr>
              <a:t>先分配大量内存，然后释放脆弱内存块，之后运行目标程序。脆弱内存块会被分配给目标程序，且与攻击者控制的内存块</a:t>
            </a:r>
            <a:r>
              <a:rPr lang="zh-CN" altLang="en-US" sz="2200" dirty="0">
                <a:solidFill>
                  <a:schemeClr val="tx1"/>
                </a:solidFill>
              </a:rPr>
              <a:t>相邻。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zh-CN" altLang="en-US" sz="2200" dirty="0">
                <a:solidFill>
                  <a:schemeClr val="tx1"/>
                </a:solidFill>
              </a:rPr>
              <a:t>每模型</a:t>
            </a:r>
            <a:r>
              <a:rPr lang="en-US" altLang="zh-CN" sz="2200" dirty="0">
                <a:solidFill>
                  <a:schemeClr val="tx1"/>
                </a:solidFill>
              </a:rPr>
              <a:t>50</a:t>
            </a:r>
            <a:r>
              <a:rPr lang="zh-CN" altLang="en-US" sz="2200" dirty="0">
                <a:solidFill>
                  <a:schemeClr val="tx1"/>
                </a:solidFill>
              </a:rPr>
              <a:t>次尝试（每次加随机偏移，翻转不同权重），报告最</a:t>
            </a:r>
            <a:r>
              <a:rPr lang="zh-CN" altLang="en-US" sz="2200" dirty="0">
                <a:solidFill>
                  <a:schemeClr val="tx1"/>
                </a:solidFill>
              </a:rPr>
              <a:t>坏结果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5306" y="649070"/>
            <a:ext cx="10521388" cy="636222"/>
          </a:xfrm>
        </p:spPr>
        <p:txBody>
          <a:bodyPr>
            <a:normAutofit/>
          </a:bodyPr>
          <a:lstStyle/>
          <a:p>
            <a:r>
              <a:rPr lang="zh-CN" altLang="en-US" dirty="0"/>
              <a:t>真实端到端攻击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35188" y="48139"/>
            <a:ext cx="1106598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背景知识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攻击方法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攻击实例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防御与讨论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总结</a:t>
            </a:r>
            <a:endParaRPr lang="zh-CN" altLang="en-US" dirty="0">
              <a:solidFill>
                <a:srgbClr val="BFBF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内容占位符 1"/>
          <p:cNvSpPr>
            <a:spLocks noGrp="1"/>
          </p:cNvSpPr>
          <p:nvPr/>
        </p:nvSpPr>
        <p:spPr>
          <a:xfrm>
            <a:off x="835025" y="1960245"/>
            <a:ext cx="4864735" cy="47117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64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6070" lvl="0" indent="-306070">
              <a:buFont typeface="Wingdings 2" panose="05020102010507070707" charset="0"/>
              <a:buChar char=""/>
            </a:pPr>
            <a:r>
              <a:rPr lang="zh-CN" altLang="en-US" sz="2400" dirty="0">
                <a:solidFill>
                  <a:schemeClr val="tx1"/>
                </a:solidFill>
              </a:rPr>
              <a:t>实验</a:t>
            </a:r>
            <a:r>
              <a:rPr lang="zh-CN" altLang="en-US" sz="2400" dirty="0">
                <a:solidFill>
                  <a:schemeClr val="tx1"/>
                </a:solidFill>
              </a:rPr>
              <a:t>结果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en-US" altLang="zh-CN" sz="2200" dirty="0">
                <a:solidFill>
                  <a:schemeClr val="tx1"/>
                </a:solidFill>
              </a:rPr>
              <a:t>D1</a:t>
            </a:r>
            <a:r>
              <a:rPr lang="zh-CN" altLang="en-US" sz="2200" dirty="0">
                <a:solidFill>
                  <a:schemeClr val="tx1"/>
                </a:solidFill>
              </a:rPr>
              <a:t>和</a:t>
            </a:r>
            <a:r>
              <a:rPr lang="en-US" altLang="zh-CN" sz="2200" dirty="0">
                <a:solidFill>
                  <a:schemeClr val="tx1"/>
                </a:solidFill>
              </a:rPr>
              <a:t>D3</a:t>
            </a:r>
            <a:r>
              <a:rPr lang="zh-CN" altLang="en-US" sz="2200" dirty="0">
                <a:solidFill>
                  <a:schemeClr val="tx1"/>
                </a:solidFill>
              </a:rPr>
              <a:t>效果显著，使模型精度从</a:t>
            </a:r>
            <a:r>
              <a:rPr lang="en-US" altLang="zh-CN" sz="2200" b="1" dirty="0">
                <a:solidFill>
                  <a:schemeClr val="tx1"/>
                </a:solidFill>
              </a:rPr>
              <a:t>71.26%</a:t>
            </a:r>
            <a:r>
              <a:rPr lang="zh-CN" altLang="en-US" sz="2200" dirty="0">
                <a:solidFill>
                  <a:schemeClr val="tx1"/>
                </a:solidFill>
              </a:rPr>
              <a:t>下降至</a:t>
            </a:r>
            <a:r>
              <a:rPr lang="en-US" altLang="zh-CN" sz="2200" b="1" dirty="0">
                <a:solidFill>
                  <a:schemeClr val="tx1"/>
                </a:solidFill>
              </a:rPr>
              <a:t>0.08%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629920" lvl="1" indent="-306070">
              <a:buFont typeface="Wingdings 2" panose="05020102010507070707" charset="0"/>
              <a:buChar char=""/>
            </a:pPr>
            <a:r>
              <a:rPr lang="en-US" altLang="zh-CN" sz="2200" dirty="0">
                <a:solidFill>
                  <a:schemeClr val="tx1"/>
                </a:solidFill>
              </a:rPr>
              <a:t>D1</a:t>
            </a:r>
            <a:r>
              <a:rPr lang="zh-CN" altLang="en-US" sz="2200" dirty="0">
                <a:solidFill>
                  <a:schemeClr val="tx1"/>
                </a:solidFill>
              </a:rPr>
              <a:t>和</a:t>
            </a:r>
            <a:r>
              <a:rPr lang="en-US" altLang="zh-CN" sz="2200" dirty="0">
                <a:solidFill>
                  <a:schemeClr val="tx1"/>
                </a:solidFill>
              </a:rPr>
              <a:t>D3</a:t>
            </a:r>
            <a:r>
              <a:rPr lang="zh-CN" altLang="en-US" sz="2200" dirty="0">
                <a:solidFill>
                  <a:schemeClr val="tx1"/>
                </a:solidFill>
              </a:rPr>
              <a:t>针对高位比特，对应浮点数的指数位，故对模型精度的影响较大；</a:t>
            </a:r>
            <a:r>
              <a:rPr lang="en-US" altLang="zh-CN" sz="2200" dirty="0">
                <a:solidFill>
                  <a:schemeClr val="tx1"/>
                </a:solidFill>
              </a:rPr>
              <a:t>B1</a:t>
            </a:r>
            <a:r>
              <a:rPr lang="zh-CN" altLang="en-US" sz="2200" dirty="0">
                <a:solidFill>
                  <a:schemeClr val="tx1"/>
                </a:solidFill>
              </a:rPr>
              <a:t>和</a:t>
            </a:r>
            <a:r>
              <a:rPr lang="en-US" altLang="zh-CN" sz="2200" dirty="0">
                <a:solidFill>
                  <a:schemeClr val="tx1"/>
                </a:solidFill>
              </a:rPr>
              <a:t>B2</a:t>
            </a:r>
            <a:r>
              <a:rPr lang="zh-CN" altLang="en-US" sz="2200" dirty="0">
                <a:solidFill>
                  <a:schemeClr val="tx1"/>
                </a:solidFill>
              </a:rPr>
              <a:t>针对低位比特，对应浮点数的</a:t>
            </a:r>
            <a:r>
              <a:rPr lang="zh-CN" altLang="en-US" sz="2200" dirty="0">
                <a:solidFill>
                  <a:schemeClr val="tx1"/>
                </a:solidFill>
              </a:rPr>
              <a:t>尾数位，故对模型精度的影响</a:t>
            </a:r>
            <a:r>
              <a:rPr lang="zh-CN" altLang="en-US" sz="2200" dirty="0">
                <a:solidFill>
                  <a:schemeClr val="tx1"/>
                </a:solidFill>
              </a:rPr>
              <a:t>较小。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9190" y="1035685"/>
            <a:ext cx="5109845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102810" y="1245704"/>
            <a:ext cx="3031869" cy="3536402"/>
            <a:chOff x="599226" y="1732460"/>
            <a:chExt cx="10993549" cy="2524748"/>
          </a:xfrm>
        </p:grpSpPr>
        <p:grpSp>
          <p:nvGrpSpPr>
            <p:cNvPr id="2" name="组合 1"/>
            <p:cNvGrpSpPr/>
            <p:nvPr/>
          </p:nvGrpSpPr>
          <p:grpSpPr>
            <a:xfrm>
              <a:off x="599226" y="1732460"/>
              <a:ext cx="10993549" cy="2524748"/>
              <a:chOff x="599225" y="1732459"/>
              <a:chExt cx="10993549" cy="1907212"/>
            </a:xfrm>
          </p:grpSpPr>
          <p:sp>
            <p:nvSpPr>
              <p:cNvPr id="3" name="矩形 2"/>
              <p:cNvSpPr/>
              <p:nvPr userDrawn="1"/>
            </p:nvSpPr>
            <p:spPr>
              <a:xfrm>
                <a:off x="599225" y="1736370"/>
                <a:ext cx="10993549" cy="190330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4" name="矩形 3"/>
              <p:cNvSpPr/>
              <p:nvPr userDrawn="1"/>
            </p:nvSpPr>
            <p:spPr>
              <a:xfrm>
                <a:off x="599225" y="1732459"/>
                <a:ext cx="1687098" cy="792000"/>
              </a:xfrm>
              <a:prstGeom prst="rect">
                <a:avLst/>
              </a:prstGeom>
              <a:solidFill>
                <a:srgbClr val="6608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sp>
          <p:nvSpPr>
            <p:cNvPr id="5" name="标题 1"/>
            <p:cNvSpPr txBox="1"/>
            <p:nvPr/>
          </p:nvSpPr>
          <p:spPr>
            <a:xfrm>
              <a:off x="1778609" y="2576952"/>
              <a:ext cx="8634783" cy="840940"/>
            </a:xfrm>
            <a:prstGeom prst="rect">
              <a:avLst/>
            </a:prstGeom>
          </p:spPr>
          <p:txBody>
            <a:bodyPr/>
            <a:lstStyle>
              <a:lvl1pPr algn="l" defTabSz="457200" rtl="0" eaLnBrk="1" latinLnBrk="0" hangingPunct="1">
                <a:spcBef>
                  <a:spcPct val="0"/>
                </a:spcBef>
                <a:buNone/>
                <a:defRPr sz="2800" b="0" kern="1200" cap="none" baseline="0">
                  <a:solidFill>
                    <a:srgbClr val="660874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ctr"/>
              <a:r>
                <a:rPr lang="zh-CN" altLang="en-US" sz="4000" dirty="0"/>
                <a:t>目录</a:t>
              </a:r>
              <a:endParaRPr lang="en-US" altLang="zh-CN" sz="4000" dirty="0"/>
            </a:p>
          </p:txBody>
        </p:sp>
      </p:grpSp>
      <p:sp>
        <p:nvSpPr>
          <p:cNvPr id="7" name="标题 2"/>
          <p:cNvSpPr txBox="1"/>
          <p:nvPr/>
        </p:nvSpPr>
        <p:spPr>
          <a:xfrm>
            <a:off x="5311661" y="1252956"/>
            <a:ext cx="6188346" cy="48430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none" baseline="0">
                <a:solidFill>
                  <a:srgbClr val="660874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BFBFBF"/>
                </a:solidFill>
              </a:rPr>
              <a:t>背景</a:t>
            </a:r>
            <a:r>
              <a:rPr lang="zh-CN" altLang="en-US" sz="3200" dirty="0">
                <a:solidFill>
                  <a:srgbClr val="BFBFBF"/>
                </a:solidFill>
                <a:sym typeface="+mn-ea"/>
              </a:rPr>
              <a:t>知识</a:t>
            </a:r>
            <a:endParaRPr lang="en-US" altLang="zh-CN" sz="3200" dirty="0">
              <a:solidFill>
                <a:srgbClr val="BFBFBF"/>
              </a:solidFill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BFBFBF"/>
                </a:solidFill>
              </a:rPr>
              <a:t>攻击方法</a:t>
            </a:r>
            <a:endParaRPr lang="en-US" altLang="zh-CN" sz="3200" dirty="0">
              <a:solidFill>
                <a:srgbClr val="BFBFBF"/>
              </a:solidFill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BFBFBF"/>
                </a:solidFill>
              </a:rPr>
              <a:t>攻击实例</a:t>
            </a:r>
            <a:endParaRPr lang="en-US" altLang="zh-CN" sz="3200" dirty="0">
              <a:solidFill>
                <a:srgbClr val="BFBFBF"/>
              </a:solidFill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200" dirty="0"/>
              <a:t>防御与讨论</a:t>
            </a:r>
            <a:endParaRPr lang="en-US" altLang="zh-CN" sz="3200" dirty="0"/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BFBFBF"/>
                </a:solidFill>
              </a:rPr>
              <a:t>总结</a:t>
            </a:r>
            <a:endParaRPr lang="zh-CN" altLang="en-US" sz="3200" dirty="0">
              <a:solidFill>
                <a:srgbClr val="BFBFB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53"/>
    </mc:Choice>
    <mc:Fallback>
      <p:transition spd="slow" advTm="2853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5306" y="649070"/>
            <a:ext cx="10521388" cy="636222"/>
          </a:xfrm>
        </p:spPr>
        <p:txBody>
          <a:bodyPr>
            <a:normAutofit/>
          </a:bodyPr>
          <a:lstStyle/>
          <a:p>
            <a:r>
              <a:rPr lang="zh-CN" altLang="en-US" dirty="0"/>
              <a:t>防御</a:t>
            </a:r>
            <a:r>
              <a:rPr lang="zh-CN" altLang="en-US" dirty="0"/>
              <a:t>措施</a:t>
            </a:r>
            <a:endParaRPr lang="zh-CN" altLang="en-US" dirty="0"/>
          </a:p>
        </p:txBody>
      </p:sp>
      <p:sp>
        <p:nvSpPr>
          <p:cNvPr id="14" name="内容占位符 1"/>
          <p:cNvSpPr>
            <a:spLocks noGrp="1"/>
          </p:cNvSpPr>
          <p:nvPr>
            <p:ph idx="1"/>
          </p:nvPr>
        </p:nvSpPr>
        <p:spPr>
          <a:xfrm>
            <a:off x="830580" y="1554480"/>
            <a:ext cx="10079990" cy="4885690"/>
          </a:xfrm>
        </p:spPr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tx1"/>
                </a:solidFill>
              </a:rPr>
              <a:t>ECC</a:t>
            </a:r>
            <a:r>
              <a:rPr lang="zh-CN" altLang="en-US" sz="2400" dirty="0">
                <a:solidFill>
                  <a:schemeClr val="tx1"/>
                </a:solidFill>
              </a:rPr>
              <a:t>纠错码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763270" lvl="1" indent="-306070">
              <a:buFont typeface="Wingdings 2" panose="05020102010507070707" charset="0"/>
              <a:buChar char=""/>
            </a:pPr>
            <a:r>
              <a:rPr lang="en-US" altLang="zh-CN" sz="2400" dirty="0">
                <a:solidFill>
                  <a:schemeClr val="tx1"/>
                </a:solidFill>
              </a:rPr>
              <a:t>ECC</a:t>
            </a:r>
            <a:r>
              <a:rPr lang="zh-CN" altLang="en-US" sz="2400" dirty="0">
                <a:solidFill>
                  <a:schemeClr val="tx1"/>
                </a:solidFill>
              </a:rPr>
              <a:t>纠错码能纠正</a:t>
            </a:r>
            <a:r>
              <a:rPr lang="en-US" altLang="zh-CN" sz="2400" dirty="0">
                <a:solidFill>
                  <a:schemeClr val="tx1"/>
                </a:solidFill>
              </a:rPr>
              <a:t>1</a:t>
            </a:r>
            <a:r>
              <a:rPr lang="zh-CN" altLang="en-US" sz="2400" dirty="0">
                <a:solidFill>
                  <a:schemeClr val="tx1"/>
                </a:solidFill>
              </a:rPr>
              <a:t>比特错误，有效防御</a:t>
            </a:r>
            <a:r>
              <a:rPr lang="en-US" altLang="zh-CN" sz="2400" dirty="0">
                <a:solidFill>
                  <a:schemeClr val="tx1"/>
                </a:solidFill>
              </a:rPr>
              <a:t>Rowhammer</a:t>
            </a:r>
            <a:r>
              <a:rPr lang="zh-CN" altLang="en-US" sz="2400" dirty="0">
                <a:solidFill>
                  <a:schemeClr val="tx1"/>
                </a:solidFill>
              </a:rPr>
              <a:t>攻击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763270" lvl="1" indent="-306070">
              <a:buFont typeface="Wingdings 2" panose="05020102010507070707" charset="0"/>
              <a:buChar char=""/>
            </a:pPr>
            <a:r>
              <a:rPr lang="zh-CN" altLang="en-US" sz="2400" dirty="0">
                <a:solidFill>
                  <a:schemeClr val="tx1"/>
                </a:solidFill>
              </a:rPr>
              <a:t>代价：带宽损失</a:t>
            </a:r>
            <a:r>
              <a:rPr lang="zh-CN" altLang="en-US" sz="2400" dirty="0">
                <a:solidFill>
                  <a:schemeClr val="tx1"/>
                </a:solidFill>
              </a:rPr>
              <a:t>带来性能</a:t>
            </a:r>
            <a:r>
              <a:rPr lang="zh-CN" altLang="en-US" sz="2400" dirty="0">
                <a:solidFill>
                  <a:schemeClr val="tx1"/>
                </a:solidFill>
              </a:rPr>
              <a:t>下降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306070" lvl="0" indent="-306070">
              <a:buFont typeface="Wingdings 2" panose="05020102010507070707" charset="0"/>
              <a:buChar char=""/>
            </a:pPr>
            <a:r>
              <a:rPr lang="zh-CN" altLang="en-US" sz="2400" dirty="0">
                <a:solidFill>
                  <a:schemeClr val="tx1"/>
                </a:solidFill>
              </a:rPr>
              <a:t>随机化</a:t>
            </a:r>
            <a:r>
              <a:rPr lang="zh-CN" altLang="en-US" sz="2400" dirty="0">
                <a:solidFill>
                  <a:schemeClr val="tx1"/>
                </a:solidFill>
              </a:rPr>
              <a:t>地址映射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763270" lvl="1" indent="-306070">
              <a:buFont typeface="Wingdings 2" panose="05020102010507070707" charset="0"/>
              <a:buChar char=""/>
            </a:pPr>
            <a:r>
              <a:rPr lang="zh-CN" altLang="en-US" sz="2400" dirty="0">
                <a:solidFill>
                  <a:schemeClr val="tx1"/>
                </a:solidFill>
              </a:rPr>
              <a:t>目前</a:t>
            </a:r>
            <a:r>
              <a:rPr lang="en-US" altLang="zh-CN" sz="2400" dirty="0">
                <a:solidFill>
                  <a:schemeClr val="tx1"/>
                </a:solidFill>
              </a:rPr>
              <a:t>GPU</a:t>
            </a:r>
            <a:r>
              <a:rPr lang="zh-CN" altLang="en-US" sz="2400" dirty="0">
                <a:solidFill>
                  <a:schemeClr val="tx1"/>
                </a:solidFill>
              </a:rPr>
              <a:t>进行大数组分配时，虚拟地址到物理地址的映射</a:t>
            </a:r>
            <a:r>
              <a:rPr lang="zh-CN" altLang="en-US" sz="2400" dirty="0">
                <a:solidFill>
                  <a:schemeClr val="tx1"/>
                </a:solidFill>
              </a:rPr>
              <a:t>固定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763270" lvl="1" indent="-306070">
              <a:buFont typeface="Wingdings 2" panose="05020102010507070707" charset="0"/>
              <a:buChar char=""/>
            </a:pPr>
            <a:r>
              <a:rPr lang="zh-CN" altLang="en-US" sz="2400" dirty="0">
                <a:solidFill>
                  <a:schemeClr val="tx1"/>
                </a:solidFill>
              </a:rPr>
              <a:t>代价：</a:t>
            </a:r>
            <a:r>
              <a:rPr lang="en-US" altLang="zh-CN" sz="2400" dirty="0">
                <a:solidFill>
                  <a:schemeClr val="tx1"/>
                </a:solidFill>
              </a:rPr>
              <a:t>TLB</a:t>
            </a:r>
            <a:r>
              <a:rPr lang="zh-CN" altLang="en-US" sz="2400" dirty="0">
                <a:solidFill>
                  <a:schemeClr val="tx1"/>
                </a:solidFill>
              </a:rPr>
              <a:t>碎片化</a:t>
            </a:r>
            <a:r>
              <a:rPr lang="zh-CN" altLang="en-US" sz="2400" dirty="0">
                <a:solidFill>
                  <a:schemeClr val="tx1"/>
                </a:solidFill>
              </a:rPr>
              <a:t>带来性能下降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306070" lvl="0" indent="-306070">
              <a:buFont typeface="Wingdings 2" panose="05020102010507070707" charset="0"/>
              <a:buChar char=""/>
            </a:pPr>
            <a:r>
              <a:rPr lang="zh-CN" altLang="en-US" sz="2400" dirty="0">
                <a:solidFill>
                  <a:schemeClr val="tx1"/>
                </a:solidFill>
              </a:rPr>
              <a:t>现代</a:t>
            </a:r>
            <a:r>
              <a:rPr lang="en-US" altLang="zh-CN" sz="2400" dirty="0">
                <a:solidFill>
                  <a:schemeClr val="tx1"/>
                </a:solidFill>
              </a:rPr>
              <a:t>Rowhammer</a:t>
            </a:r>
            <a:r>
              <a:rPr lang="zh-CN" altLang="en-US" sz="2400" dirty="0">
                <a:solidFill>
                  <a:schemeClr val="tx1"/>
                </a:solidFill>
              </a:rPr>
              <a:t>缓解</a:t>
            </a:r>
            <a:r>
              <a:rPr lang="zh-CN" altLang="en-US" sz="2400" dirty="0">
                <a:solidFill>
                  <a:schemeClr val="tx1"/>
                </a:solidFill>
              </a:rPr>
              <a:t>措施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763270" lvl="1" indent="-306070">
              <a:buFont typeface="Wingdings 2" panose="05020102010507070707" charset="0"/>
              <a:buChar char=""/>
            </a:pPr>
            <a:r>
              <a:rPr lang="en-US" altLang="zh-CN" sz="2400" dirty="0">
                <a:solidFill>
                  <a:schemeClr val="tx1"/>
                </a:solidFill>
              </a:rPr>
              <a:t>RFM</a:t>
            </a:r>
            <a:r>
              <a:rPr lang="zh-CN" altLang="en-US" sz="2400" dirty="0">
                <a:solidFill>
                  <a:schemeClr val="tx1"/>
                </a:solidFill>
              </a:rPr>
              <a:t>（刷新</a:t>
            </a:r>
            <a:r>
              <a:rPr lang="zh-CN" altLang="en-US" sz="2400" dirty="0">
                <a:solidFill>
                  <a:schemeClr val="tx1"/>
                </a:solidFill>
              </a:rPr>
              <a:t>管理）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763270" lvl="1" indent="-306070">
              <a:buFont typeface="Wingdings 2" panose="05020102010507070707" charset="0"/>
              <a:buChar char=""/>
            </a:pPr>
            <a:r>
              <a:rPr lang="en-US" altLang="zh-CN" sz="2400" dirty="0">
                <a:solidFill>
                  <a:schemeClr val="tx1"/>
                </a:solidFill>
              </a:rPr>
              <a:t>PRAC</a:t>
            </a:r>
            <a:r>
              <a:rPr lang="zh-CN" altLang="en-US" sz="2400" dirty="0">
                <a:solidFill>
                  <a:schemeClr val="tx1"/>
                </a:solidFill>
              </a:rPr>
              <a:t>（逐行激活</a:t>
            </a:r>
            <a:r>
              <a:rPr lang="zh-CN" altLang="en-US" sz="2400" dirty="0">
                <a:solidFill>
                  <a:schemeClr val="tx1"/>
                </a:solidFill>
              </a:rPr>
              <a:t>计数）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5188" y="48139"/>
            <a:ext cx="1106598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背景知识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攻击方法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攻击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防御与讨论</a:t>
            </a:r>
            <a:r>
              <a:rPr lang="en-US" altLang="zh-CN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总结</a:t>
            </a:r>
            <a:endParaRPr lang="zh-CN" altLang="en-US" dirty="0">
              <a:solidFill>
                <a:srgbClr val="BFBF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5306" y="649070"/>
            <a:ext cx="10521388" cy="636222"/>
          </a:xfrm>
        </p:spPr>
        <p:txBody>
          <a:bodyPr>
            <a:normAutofit/>
          </a:bodyPr>
          <a:lstStyle/>
          <a:p>
            <a:r>
              <a:rPr lang="zh-CN" altLang="en-US" dirty="0"/>
              <a:t>讨论</a:t>
            </a:r>
            <a:endParaRPr lang="zh-CN" altLang="en-US" dirty="0"/>
          </a:p>
        </p:txBody>
      </p:sp>
      <p:sp>
        <p:nvSpPr>
          <p:cNvPr id="14" name="内容占位符 1"/>
          <p:cNvSpPr>
            <a:spLocks noGrp="1"/>
          </p:cNvSpPr>
          <p:nvPr>
            <p:ph idx="1"/>
          </p:nvPr>
        </p:nvSpPr>
        <p:spPr>
          <a:xfrm>
            <a:off x="830580" y="1554480"/>
            <a:ext cx="10079990" cy="4885690"/>
          </a:xfrm>
        </p:spPr>
        <p:txBody>
          <a:bodyPr>
            <a:noAutofit/>
          </a:bodyPr>
          <a:lstStyle/>
          <a:p>
            <a:pPr marL="306070" lvl="0" indent="-306070">
              <a:buFont typeface="Wingdings 2" panose="05020102010507070707" charset="0"/>
              <a:buChar char=""/>
            </a:pPr>
            <a:r>
              <a:rPr lang="zh-CN" altLang="en-US" sz="2400" dirty="0">
                <a:solidFill>
                  <a:schemeClr val="tx1"/>
                </a:solidFill>
              </a:rPr>
              <a:t>其他攻击</a:t>
            </a:r>
            <a:r>
              <a:rPr lang="zh-CN" altLang="en-US" sz="2400" dirty="0">
                <a:solidFill>
                  <a:schemeClr val="tx1"/>
                </a:solidFill>
              </a:rPr>
              <a:t>目标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763270" lvl="1" indent="-306070">
              <a:buFont typeface="Wingdings 2" panose="05020102010507070707" charset="0"/>
              <a:buChar char=""/>
            </a:pPr>
            <a:r>
              <a:rPr lang="zh-CN" altLang="en-US" sz="2400" dirty="0">
                <a:solidFill>
                  <a:schemeClr val="tx1"/>
                </a:solidFill>
              </a:rPr>
              <a:t>篡改</a:t>
            </a:r>
            <a:r>
              <a:rPr lang="en-US" altLang="zh-CN" sz="2400" dirty="0">
                <a:solidFill>
                  <a:schemeClr val="tx1"/>
                </a:solidFill>
              </a:rPr>
              <a:t>GPU</a:t>
            </a:r>
            <a:r>
              <a:rPr lang="zh-CN" altLang="en-US" sz="2400" dirty="0">
                <a:solidFill>
                  <a:schemeClr val="tx1"/>
                </a:solidFill>
              </a:rPr>
              <a:t>页表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763270" lvl="1" indent="-306070">
              <a:buFont typeface="Wingdings 2" panose="05020102010507070707" charset="0"/>
              <a:buChar char=""/>
            </a:pPr>
            <a:r>
              <a:rPr lang="zh-CN" altLang="en-US" sz="2400" dirty="0">
                <a:solidFill>
                  <a:schemeClr val="tx1"/>
                </a:solidFill>
              </a:rPr>
              <a:t>浏览器中基于</a:t>
            </a:r>
            <a:r>
              <a:rPr lang="en-US" altLang="zh-CN" sz="2400" dirty="0">
                <a:solidFill>
                  <a:schemeClr val="tx1"/>
                </a:solidFill>
              </a:rPr>
              <a:t>GPU</a:t>
            </a:r>
            <a:r>
              <a:rPr lang="zh-CN" altLang="en-US" sz="2400" dirty="0">
                <a:solidFill>
                  <a:schemeClr val="tx1"/>
                </a:solidFill>
              </a:rPr>
              <a:t>的渲染器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306070" lvl="0" indent="-306070">
              <a:buFont typeface="Wingdings 2" panose="05020102010507070707" charset="0"/>
              <a:buChar char=""/>
            </a:pPr>
            <a:r>
              <a:rPr lang="zh-CN" altLang="en-US" sz="2400" dirty="0">
                <a:solidFill>
                  <a:schemeClr val="tx1"/>
                </a:solidFill>
              </a:rPr>
              <a:t>局限性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763270" lvl="1" indent="-306070">
              <a:buFont typeface="Wingdings 2" panose="05020102010507070707" charset="0"/>
              <a:buChar char=""/>
            </a:pPr>
            <a:r>
              <a:rPr lang="zh-CN" altLang="en-US" sz="2400" dirty="0">
                <a:solidFill>
                  <a:schemeClr val="tx1"/>
                </a:solidFill>
              </a:rPr>
              <a:t>无法绕过</a:t>
            </a:r>
            <a:r>
              <a:rPr lang="en-US" altLang="zh-CN" sz="2400" dirty="0">
                <a:solidFill>
                  <a:schemeClr val="tx1"/>
                </a:solidFill>
              </a:rPr>
              <a:t>ECC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763270" lvl="1" indent="-306070">
              <a:buFont typeface="Wingdings 2" panose="05020102010507070707" charset="0"/>
              <a:buChar char=""/>
            </a:pPr>
            <a:r>
              <a:rPr lang="zh-CN" altLang="en-US" sz="2400" dirty="0">
                <a:solidFill>
                  <a:schemeClr val="tx1"/>
                </a:solidFill>
              </a:rPr>
              <a:t>需要几乎占满显存的超大数组分配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763270" lvl="1" indent="-306070">
              <a:buFont typeface="Wingdings 2" panose="05020102010507070707" charset="0"/>
              <a:buChar char=""/>
            </a:pPr>
            <a:r>
              <a:rPr lang="zh-CN" altLang="en-US" sz="2400" dirty="0">
                <a:solidFill>
                  <a:schemeClr val="tx1"/>
                </a:solidFill>
              </a:rPr>
              <a:t>不适用于</a:t>
            </a:r>
            <a:r>
              <a:rPr lang="en-US" altLang="zh-CN" sz="2400" dirty="0">
                <a:solidFill>
                  <a:schemeClr val="tx1"/>
                </a:solidFill>
              </a:rPr>
              <a:t>MIG</a:t>
            </a:r>
            <a:r>
              <a:rPr lang="zh-CN" altLang="en-US" sz="2400" dirty="0">
                <a:solidFill>
                  <a:schemeClr val="tx1"/>
                </a:solidFill>
              </a:rPr>
              <a:t>模式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763270" lvl="1" indent="-306070">
              <a:buFont typeface="Wingdings 2" panose="05020102010507070707" charset="0"/>
              <a:buChar char=""/>
            </a:pPr>
            <a:r>
              <a:rPr lang="en-US" altLang="zh-CN" sz="2400" dirty="0">
                <a:solidFill>
                  <a:schemeClr val="tx1"/>
                </a:solidFill>
              </a:rPr>
              <a:t>A100/RTX3080</a:t>
            </a:r>
            <a:r>
              <a:rPr lang="zh-CN" altLang="en-US" sz="2400" dirty="0">
                <a:solidFill>
                  <a:schemeClr val="tx1"/>
                </a:solidFill>
              </a:rPr>
              <a:t>零翻转的原因未</a:t>
            </a:r>
            <a:r>
              <a:rPr lang="zh-CN" altLang="en-US" sz="2400" dirty="0">
                <a:solidFill>
                  <a:schemeClr val="tx1"/>
                </a:solidFill>
              </a:rPr>
              <a:t>完全定位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5188" y="48139"/>
            <a:ext cx="1106598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背景知识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攻击方法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攻击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防御与讨论</a:t>
            </a:r>
            <a:r>
              <a:rPr lang="en-US" altLang="zh-CN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总结</a:t>
            </a:r>
            <a:endParaRPr lang="zh-CN" altLang="en-US" dirty="0">
              <a:solidFill>
                <a:srgbClr val="BFBFB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102810" y="1245704"/>
            <a:ext cx="3031869" cy="3536402"/>
            <a:chOff x="599226" y="1732460"/>
            <a:chExt cx="10993549" cy="2524748"/>
          </a:xfrm>
        </p:grpSpPr>
        <p:grpSp>
          <p:nvGrpSpPr>
            <p:cNvPr id="2" name="组合 1"/>
            <p:cNvGrpSpPr/>
            <p:nvPr/>
          </p:nvGrpSpPr>
          <p:grpSpPr>
            <a:xfrm>
              <a:off x="599226" y="1732460"/>
              <a:ext cx="10993549" cy="2524748"/>
              <a:chOff x="599225" y="1732459"/>
              <a:chExt cx="10993549" cy="1907212"/>
            </a:xfrm>
          </p:grpSpPr>
          <p:sp>
            <p:nvSpPr>
              <p:cNvPr id="3" name="矩形 2"/>
              <p:cNvSpPr/>
              <p:nvPr userDrawn="1"/>
            </p:nvSpPr>
            <p:spPr>
              <a:xfrm>
                <a:off x="599225" y="1736370"/>
                <a:ext cx="10993549" cy="190330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4" name="矩形 3"/>
              <p:cNvSpPr/>
              <p:nvPr userDrawn="1"/>
            </p:nvSpPr>
            <p:spPr>
              <a:xfrm>
                <a:off x="599225" y="1732459"/>
                <a:ext cx="1687098" cy="792000"/>
              </a:xfrm>
              <a:prstGeom prst="rect">
                <a:avLst/>
              </a:prstGeom>
              <a:solidFill>
                <a:srgbClr val="6608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sp>
          <p:nvSpPr>
            <p:cNvPr id="5" name="标题 1"/>
            <p:cNvSpPr txBox="1"/>
            <p:nvPr/>
          </p:nvSpPr>
          <p:spPr>
            <a:xfrm>
              <a:off x="1778609" y="2576952"/>
              <a:ext cx="8634783" cy="840940"/>
            </a:xfrm>
            <a:prstGeom prst="rect">
              <a:avLst/>
            </a:prstGeom>
          </p:spPr>
          <p:txBody>
            <a:bodyPr/>
            <a:lstStyle>
              <a:lvl1pPr algn="l" defTabSz="457200" rtl="0" eaLnBrk="1" latinLnBrk="0" hangingPunct="1">
                <a:spcBef>
                  <a:spcPct val="0"/>
                </a:spcBef>
                <a:buNone/>
                <a:defRPr sz="2800" b="0" kern="1200" cap="none" baseline="0">
                  <a:solidFill>
                    <a:srgbClr val="660874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ctr"/>
              <a:r>
                <a:rPr lang="zh-CN" altLang="en-US" sz="4000" dirty="0"/>
                <a:t>目录</a:t>
              </a:r>
              <a:endParaRPr lang="en-US" altLang="zh-CN" sz="4000" dirty="0"/>
            </a:p>
          </p:txBody>
        </p:sp>
      </p:grpSp>
      <p:sp>
        <p:nvSpPr>
          <p:cNvPr id="7" name="标题 2"/>
          <p:cNvSpPr txBox="1"/>
          <p:nvPr/>
        </p:nvSpPr>
        <p:spPr>
          <a:xfrm>
            <a:off x="5311661" y="1252956"/>
            <a:ext cx="6188346" cy="48430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none" baseline="0">
                <a:solidFill>
                  <a:srgbClr val="660874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BFBFBF"/>
                </a:solidFill>
              </a:rPr>
              <a:t>背景</a:t>
            </a:r>
            <a:r>
              <a:rPr lang="zh-CN" altLang="en-US" sz="3200" dirty="0">
                <a:solidFill>
                  <a:srgbClr val="BFBFBF"/>
                </a:solidFill>
                <a:sym typeface="+mn-ea"/>
              </a:rPr>
              <a:t>知识</a:t>
            </a:r>
            <a:endParaRPr lang="en-US" altLang="zh-CN" sz="3200" dirty="0">
              <a:solidFill>
                <a:srgbClr val="BFBFBF"/>
              </a:solidFill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BFBFBF"/>
                </a:solidFill>
              </a:rPr>
              <a:t>攻击方法</a:t>
            </a:r>
            <a:endParaRPr lang="en-US" altLang="zh-CN" sz="3200" dirty="0">
              <a:solidFill>
                <a:srgbClr val="BFBFBF"/>
              </a:solidFill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BFBFBF"/>
                </a:solidFill>
              </a:rPr>
              <a:t>攻击实例</a:t>
            </a:r>
            <a:endParaRPr lang="en-US" altLang="zh-CN" sz="3200" dirty="0">
              <a:solidFill>
                <a:srgbClr val="BFBFBF"/>
              </a:solidFill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BFBFBF"/>
                </a:solidFill>
              </a:rPr>
              <a:t>防御与讨论</a:t>
            </a:r>
            <a:endParaRPr lang="en-US" altLang="zh-CN" sz="3200" dirty="0">
              <a:solidFill>
                <a:srgbClr val="BFBFBF"/>
              </a:solidFill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200" dirty="0"/>
              <a:t>总结</a:t>
            </a:r>
            <a:endParaRPr lang="zh-CN" alt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53"/>
    </mc:Choice>
    <mc:Fallback>
      <p:transition spd="slow" advTm="2853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5306" y="649070"/>
            <a:ext cx="10521388" cy="636222"/>
          </a:xfrm>
        </p:spPr>
        <p:txBody>
          <a:bodyPr>
            <a:normAutofit/>
          </a:bodyPr>
          <a:lstStyle/>
          <a:p>
            <a:r>
              <a:rPr lang="zh-CN" altLang="en-US" dirty="0"/>
              <a:t>总结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35188" y="48139"/>
            <a:ext cx="1106598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背景知识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攻击方法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攻击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 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防御与讨论</a:t>
            </a:r>
            <a:r>
              <a:rPr lang="en-US" altLang="zh-CN" sz="2000" dirty="0">
                <a:solidFill>
                  <a:srgbClr val="BFBFB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zh-CN" altLang="en-US" sz="2000" dirty="0">
                <a:solidFill>
                  <a:srgbClr val="6608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总结</a:t>
            </a:r>
            <a:endParaRPr lang="zh-CN" altLang="en-US" sz="2000" dirty="0">
              <a:solidFill>
                <a:srgbClr val="66087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内容占位符 1"/>
          <p:cNvSpPr>
            <a:spLocks noGrp="1"/>
          </p:cNvSpPr>
          <p:nvPr>
            <p:ph idx="1"/>
          </p:nvPr>
        </p:nvSpPr>
        <p:spPr>
          <a:xfrm>
            <a:off x="792480" y="1727835"/>
            <a:ext cx="9212580" cy="4657090"/>
          </a:xfrm>
        </p:spPr>
        <p:txBody>
          <a:bodyPr>
            <a:noAutofit/>
          </a:bodyPr>
          <a:p>
            <a:r>
              <a:rPr lang="zh-CN" altLang="en-US" sz="2400" dirty="0">
                <a:solidFill>
                  <a:schemeClr val="tx1"/>
                </a:solidFill>
              </a:rPr>
              <a:t>通过克服三大</a:t>
            </a:r>
            <a:r>
              <a:rPr lang="zh-CN" altLang="en-US" sz="2400" dirty="0">
                <a:solidFill>
                  <a:schemeClr val="tx1"/>
                </a:solidFill>
              </a:rPr>
              <a:t>挑战，首次证明</a:t>
            </a:r>
            <a:r>
              <a:rPr lang="en-US" altLang="zh-CN" sz="2400" dirty="0">
                <a:solidFill>
                  <a:schemeClr val="tx1"/>
                </a:solidFill>
              </a:rPr>
              <a:t>Rowhammer</a:t>
            </a:r>
            <a:r>
              <a:rPr lang="zh-CN" altLang="en-US" sz="2400" dirty="0">
                <a:solidFill>
                  <a:schemeClr val="tx1"/>
                </a:solidFill>
              </a:rPr>
              <a:t>攻击对</a:t>
            </a:r>
            <a:r>
              <a:rPr lang="en-US" altLang="zh-CN" sz="2400" dirty="0">
                <a:solidFill>
                  <a:schemeClr val="tx1"/>
                </a:solidFill>
              </a:rPr>
              <a:t>NVIDIA GPU(GDDR6)</a:t>
            </a:r>
            <a:r>
              <a:rPr lang="zh-CN" altLang="en-US" sz="2400" dirty="0">
                <a:solidFill>
                  <a:schemeClr val="tx1"/>
                </a:solidFill>
              </a:rPr>
              <a:t>是现实</a:t>
            </a:r>
            <a:r>
              <a:rPr lang="zh-CN" altLang="en-US" sz="2400" dirty="0">
                <a:solidFill>
                  <a:schemeClr val="tx1"/>
                </a:solidFill>
              </a:rPr>
              <a:t>威胁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763270" lvl="1" indent="-306070">
              <a:buFont typeface="Wingdings 2" panose="05020102010507070707" charset="0"/>
              <a:buChar char=""/>
            </a:pPr>
            <a:r>
              <a:rPr lang="zh-CN" altLang="en-US" sz="2400" dirty="0">
                <a:solidFill>
                  <a:schemeClr val="tx1"/>
                </a:solidFill>
              </a:rPr>
              <a:t>在</a:t>
            </a:r>
            <a:r>
              <a:rPr lang="en-US" altLang="zh-CN" sz="2400" dirty="0">
                <a:solidFill>
                  <a:schemeClr val="tx1"/>
                </a:solidFill>
              </a:rPr>
              <a:t>A6000</a:t>
            </a:r>
            <a:r>
              <a:rPr lang="zh-CN" altLang="en-US" sz="2400" dirty="0">
                <a:solidFill>
                  <a:schemeClr val="tx1"/>
                </a:solidFill>
              </a:rPr>
              <a:t>上成功翻转了</a:t>
            </a:r>
            <a:r>
              <a:rPr lang="en-US" altLang="zh-CN" sz="2400" dirty="0">
                <a:solidFill>
                  <a:schemeClr val="tx1"/>
                </a:solidFill>
              </a:rPr>
              <a:t>8</a:t>
            </a:r>
            <a:r>
              <a:rPr lang="zh-CN" altLang="en-US" sz="2400" dirty="0">
                <a:solidFill>
                  <a:schemeClr val="tx1"/>
                </a:solidFill>
              </a:rPr>
              <a:t>个</a:t>
            </a:r>
            <a:r>
              <a:rPr lang="zh-CN" altLang="en-US" sz="2400" dirty="0">
                <a:solidFill>
                  <a:schemeClr val="tx1"/>
                </a:solidFill>
              </a:rPr>
              <a:t>比特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763270" lvl="1" indent="-306070">
              <a:buFont typeface="Wingdings 2" panose="05020102010507070707" charset="0"/>
              <a:buChar char=""/>
            </a:pPr>
            <a:r>
              <a:rPr lang="zh-CN" altLang="en-US" sz="2400" dirty="0">
                <a:solidFill>
                  <a:schemeClr val="tx1"/>
                </a:solidFill>
              </a:rPr>
              <a:t>实现真实端到端攻击，使模型精度从</a:t>
            </a:r>
            <a:r>
              <a:rPr lang="en-US" altLang="zh-CN" sz="2400" dirty="0">
                <a:solidFill>
                  <a:schemeClr val="tx1"/>
                </a:solidFill>
              </a:rPr>
              <a:t>71%</a:t>
            </a:r>
            <a:r>
              <a:rPr lang="zh-CN" altLang="en-US" sz="2400" dirty="0">
                <a:solidFill>
                  <a:schemeClr val="tx1"/>
                </a:solidFill>
              </a:rPr>
              <a:t>下降至</a:t>
            </a:r>
            <a:r>
              <a:rPr lang="en-US" altLang="zh-CN" sz="2400" dirty="0">
                <a:solidFill>
                  <a:schemeClr val="tx1"/>
                </a:solidFill>
              </a:rPr>
              <a:t>0.08%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763270" lvl="1" indent="-306070">
              <a:buFont typeface="Wingdings 2" panose="05020102010507070707" charset="0"/>
              <a:buChar char=""/>
            </a:pPr>
            <a:endParaRPr lang="zh-CN" altLang="en-US" sz="2400" dirty="0">
              <a:solidFill>
                <a:schemeClr val="tx1"/>
              </a:solidFill>
            </a:endParaRPr>
          </a:p>
          <a:p>
            <a:pPr marL="306070" lvl="0" indent="-306070">
              <a:buFont typeface="Wingdings 2" panose="05020102010507070707" charset="0"/>
              <a:buChar char=""/>
            </a:pPr>
            <a:r>
              <a:rPr lang="zh-CN" altLang="en-US" sz="2400" dirty="0">
                <a:solidFill>
                  <a:schemeClr val="tx1"/>
                </a:solidFill>
              </a:rPr>
              <a:t>思考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763270" lvl="1" indent="-306070">
              <a:buFont typeface="Wingdings 2" panose="05020102010507070707" charset="0"/>
              <a:buChar char=""/>
            </a:pPr>
            <a:r>
              <a:rPr lang="zh-CN" altLang="en-US" sz="2400" dirty="0">
                <a:solidFill>
                  <a:schemeClr val="tx1"/>
                </a:solidFill>
              </a:rPr>
              <a:t>研究切入点</a:t>
            </a:r>
            <a:r>
              <a:rPr lang="zh-CN" altLang="en-US" sz="2400" dirty="0">
                <a:solidFill>
                  <a:schemeClr val="tx1"/>
                </a:solidFill>
              </a:rPr>
              <a:t>新颖，攻击效果</a:t>
            </a:r>
            <a:r>
              <a:rPr lang="zh-CN" altLang="en-US" sz="2400" dirty="0">
                <a:solidFill>
                  <a:schemeClr val="tx1"/>
                </a:solidFill>
              </a:rPr>
              <a:t>明显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763270" lvl="1" indent="-306070">
              <a:buFont typeface="Wingdings 2" panose="05020102010507070707" charset="0"/>
              <a:buChar char=""/>
            </a:pPr>
            <a:r>
              <a:rPr lang="zh-CN" altLang="en-US" sz="2400" dirty="0">
                <a:solidFill>
                  <a:schemeClr val="tx1"/>
                </a:solidFill>
              </a:rPr>
              <a:t>整套攻击流程存在</a:t>
            </a:r>
            <a:r>
              <a:rPr lang="zh-CN" altLang="en-US" sz="2400" dirty="0">
                <a:solidFill>
                  <a:schemeClr val="tx1"/>
                </a:solidFill>
              </a:rPr>
              <a:t>显著不确定性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763270" lvl="1" indent="-306070">
              <a:buFont typeface="Wingdings 2" panose="05020102010507070707" charset="0"/>
              <a:buChar char=""/>
            </a:pPr>
            <a:r>
              <a:rPr lang="zh-CN" altLang="en-US" sz="2400" dirty="0">
                <a:solidFill>
                  <a:schemeClr val="tx1"/>
                </a:solidFill>
              </a:rPr>
              <a:t>未来应进一步探索绕过</a:t>
            </a:r>
            <a:r>
              <a:rPr lang="en-US" altLang="zh-CN" sz="2400" dirty="0">
                <a:solidFill>
                  <a:schemeClr val="tx1"/>
                </a:solidFill>
              </a:rPr>
              <a:t>ECC</a:t>
            </a:r>
            <a:r>
              <a:rPr lang="zh-CN" altLang="en-US" sz="2400" dirty="0">
                <a:solidFill>
                  <a:schemeClr val="tx1"/>
                </a:solidFill>
              </a:rPr>
              <a:t>防御措施的攻击</a:t>
            </a:r>
            <a:r>
              <a:rPr lang="zh-CN" altLang="en-US" sz="2400" dirty="0">
                <a:solidFill>
                  <a:schemeClr val="tx1"/>
                </a:solidFill>
              </a:rPr>
              <a:t>可能性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21831" y="2028083"/>
            <a:ext cx="9748800" cy="1317600"/>
          </a:xfrm>
        </p:spPr>
        <p:txBody>
          <a:bodyPr/>
          <a:lstStyle/>
          <a:p>
            <a:r>
              <a:rPr lang="en-US" altLang="zh-CN" dirty="0"/>
              <a:t>Thanks</a:t>
            </a:r>
            <a:r>
              <a:rPr lang="zh-CN" altLang="en-US" dirty="0"/>
              <a:t>！</a:t>
            </a:r>
            <a:endParaRPr lang="zh-CN" altLang="en-US" dirty="0"/>
          </a:p>
        </p:txBody>
      </p:sp>
      <p:sp>
        <p:nvSpPr>
          <p:cNvPr id="8" name="副标题 2"/>
          <p:cNvSpPr txBox="1"/>
          <p:nvPr/>
        </p:nvSpPr>
        <p:spPr>
          <a:xfrm>
            <a:off x="3020695" y="4744720"/>
            <a:ext cx="6054725" cy="1330960"/>
          </a:xfrm>
          <a:prstGeom prst="rect">
            <a:avLst/>
          </a:prstGeom>
        </p:spPr>
        <p:txBody>
          <a:bodyPr>
            <a:noAutofit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64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2000" dirty="0"/>
              <a:t>汇报人：周海天</a:t>
            </a:r>
            <a:endParaRPr lang="en-US" altLang="zh-CN" sz="2000" dirty="0"/>
          </a:p>
          <a:p>
            <a:pPr marL="0" indent="0" algn="ctr">
              <a:buNone/>
            </a:pPr>
            <a:r>
              <a:rPr lang="zh-CN" altLang="en-US" sz="2000" dirty="0"/>
              <a:t>辅导老师：</a:t>
            </a:r>
            <a:r>
              <a:rPr lang="zh-CN" altLang="en-US" sz="2000" dirty="0">
                <a:sym typeface="+mn-ea"/>
              </a:rPr>
              <a:t>汪东升，</a:t>
            </a:r>
            <a:r>
              <a:rPr lang="zh-CN" altLang="en-US" sz="2000" dirty="0"/>
              <a:t>王海霞</a:t>
            </a:r>
            <a:endParaRPr lang="zh-CN" altLang="en-US" sz="2000" dirty="0"/>
          </a:p>
          <a:p>
            <a:pPr marL="0" indent="0" algn="ctr">
              <a:buNone/>
            </a:pPr>
            <a:r>
              <a:rPr lang="en-US" altLang="zh-CN" sz="2000" dirty="0"/>
              <a:t>2026.10.18</a:t>
            </a:r>
            <a:endParaRPr lang="en-US" altLang="zh-CN" sz="2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1"/>
  <p:tag name="KSO_WM_UNIT_ID" val="diagram20230941_5*m_i*1_1"/>
  <p:tag name="KSO_WM_TEMPLATE_CATEGORY" val="diagram"/>
  <p:tag name="KSO_WM_TEMPLATE_INDEX" val="20230941"/>
  <p:tag name="KSO_WM_UNIT_LAYERLEVEL" val="1_1"/>
  <p:tag name="KSO_WM_TAG_VERSION" val="3.0"/>
  <p:tag name="KSO_WM_DIAGRAM_MAX_ITEMCNT" val="6"/>
  <p:tag name="KSO_WM_DIAGRAM_MIN_ITEMCNT" val="2"/>
  <p:tag name="KSO_WM_DIAGRAM_VIRTUALLY_FRAME" val="{&quot;height&quot;:357.07378540039065,&quot;left&quot;:49.25007874015748,&quot;top&quot;:156.67621459960938,&quot;width&quot;:861.474927363358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gradient&quot;:[{&quot;brightness&quot;:0,&quot;colorType&quot;:1,&quot;foreColorIndex&quot;:5,&quot;pos&quot;:0.20000000298023224,&quot;transparency&quot;:1},{&quot;brightness&quot;:0,&quot;colorType&quot;:1,&quot;foreColorIndex&quot;:5,&quot;pos&quot;:0.899999976158142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2"/>
  <p:tag name="KSO_WM_UNIT_ID" val="diagram20230941_5*m_i*1_2"/>
  <p:tag name="KSO_WM_TEMPLATE_CATEGORY" val="diagram"/>
  <p:tag name="KSO_WM_TEMPLATE_INDEX" val="20230941"/>
  <p:tag name="KSO_WM_UNIT_LAYERLEVEL" val="1_1"/>
  <p:tag name="KSO_WM_TAG_VERSION" val="3.0"/>
  <p:tag name="KSO_WM_DIAGRAM_MAX_ITEMCNT" val="6"/>
  <p:tag name="KSO_WM_DIAGRAM_MIN_ITEMCNT" val="2"/>
  <p:tag name="KSO_WM_DIAGRAM_VIRTUALLY_FRAME" val="{&quot;height&quot;:357.07378540039065,&quot;left&quot;:49.25007874015748,&quot;top&quot;:156.67621459960938,&quot;width&quot;:861.4749273633581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}"/>
</p:tagLst>
</file>

<file path=ppt/tags/tag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"/>
  <p:tag name="KSO_WM_UNIT_ID" val="diagram20230941_5*m_h_i*1_1_2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57.07378540039065,&quot;left&quot;:49.25007874015748,&quot;top&quot;:156.67621459960938,&quot;width&quot;:861.4749273633581}"/>
  <p:tag name="KSO_WM_DIAGRAM_COLOR_MATCH_VALUE" val="{&quot;shape&quot;:{&quot;fill&quot;:{&quot;solid&quot;:{&quot;brightness&quot;:0.6000000238418579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6"/>
  <p:tag name="KSO_WM_DIAGRAM_USE_COLOR_VALUE" val="{&quot;color_scheme&quot;:1,&quot;color_type&quot;:1,&quot;theme_color_indexes&quot;:[5,6,5,6,5,6]}"/>
</p:tagLst>
</file>

<file path=ppt/tags/tag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3"/>
  <p:tag name="KSO_WM_UNIT_ID" val="diagram20230941_5*m_h_i*1_1_3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57.07378540039065,&quot;left&quot;:49.25007874015748,&quot;top&quot;:156.67621459960938,&quot;width&quot;:861.474927363358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17000000178813934,&quot;transparency&quot;:1},{&quot;brightness&quot;:0,&quot;colorType&quot;:1,&quot;foreColorIndex&quot;:5,&quot;pos&quot;:0.6100000143051147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}"/>
</p:tagLst>
</file>

<file path=ppt/tags/tag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0941_5*m_h_f*1_1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57.07378540039065,&quot;left&quot;:49.25007874015748,&quot;top&quot;:156.67621459960938,&quot;width&quot;:861.47492736335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项正文文字是您思想的提炼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1_1"/>
  <p:tag name="KSO_WM_UNIT_ID" val="diagram20230941_5*m_h_i*1_1_1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57.07378540039065,&quot;left&quot;:49.25007874015748,&quot;top&quot;:156.67621459960938,&quot;width&quot;:861.474927363358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0941_5*m_h_a*1_1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57.07378540039065,&quot;left&quot;:49.25007874015748,&quot;top&quot;:156.67621459960938,&quot;width&quot;:861.47492736335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"/>
  <p:tag name="KSO_WM_UNIT_ID" val="diagram20230941_5*m_h_i*1_2_3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57.07378540039065,&quot;left&quot;:49.25007874015748,&quot;top&quot;:156.67621459960938,&quot;width&quot;:861.474927363358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17000000178813934,&quot;transparency&quot;:1},{&quot;brightness&quot;:0,&quot;colorType&quot;:1,&quot;foreColorIndex&quot;:5,&quot;pos&quot;:0.6100000143051147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}"/>
</p:tagLst>
</file>

<file path=ppt/tags/tag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diagram20230941_5*m_h_i*1_2_2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57.07378540039065,&quot;left&quot;:49.25007874015748,&quot;top&quot;:156.67621459960938,&quot;width&quot;:861.4749273633581}"/>
  <p:tag name="KSO_WM_DIAGRAM_COLOR_MATCH_VALUE" val="{&quot;shape&quot;:{&quot;fill&quot;:{&quot;solid&quot;:{&quot;brightness&quot;:0.4000000059604645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4"/>
  <p:tag name="KSO_WM_DIAGRAM_USE_COLOR_VALUE" val="{&quot;color_scheme&quot;:1,&quot;color_type&quot;:1,&quot;theme_color_indexes&quot;:[5,6,5,6,5,6]}"/>
</p:tagLst>
</file>

<file path=ppt/tags/tag1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0941_5*m_h_f*1_2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57.07378540039065,&quot;left&quot;:49.25007874015748,&quot;top&quot;:156.67621459960938,&quot;width&quot;:861.47492736335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项正文文字是您思想的提炼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2_1"/>
  <p:tag name="KSO_WM_UNIT_ID" val="diagram20230941_5*m_h_i*1_2_1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57.07378540039065,&quot;left&quot;:49.25007874015748,&quot;top&quot;:156.67621459960938,&quot;width&quot;:861.474927363358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0941_5*m_h_a*1_2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57.07378540039065,&quot;left&quot;:49.25007874015748,&quot;top&quot;:156.67621459960938,&quot;width&quot;:861.47492736335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3"/>
  <p:tag name="KSO_WM_UNIT_ID" val="diagram20230941_5*m_h_i*1_3_3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57.07378540039065,&quot;left&quot;:49.25007874015748,&quot;top&quot;:156.67621459960938,&quot;width&quot;:861.474927363358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17000000178813934,&quot;transparency&quot;:1},{&quot;brightness&quot;:0,&quot;colorType&quot;:1,&quot;foreColorIndex&quot;:5,&quot;pos&quot;:0.6100000143051147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}"/>
</p:tagLst>
</file>

<file path=ppt/tags/tag1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3_1"/>
  <p:tag name="KSO_WM_UNIT_ID" val="diagram20230941_5*m_h_i*1_3_1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57.07378540039065,&quot;left&quot;:49.25007874015748,&quot;top&quot;:156.67621459960938,&quot;width&quot;:861.474927363358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3_1"/>
  <p:tag name="KSO_WM_UNIT_ID" val="diagram20230941_5*m_h_f*1_3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57.07378540039065,&quot;left&quot;:49.25007874015748,&quot;top&quot;:156.67621459960938,&quot;width&quot;:861.47492736335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根据需要可酌情增减文字，以便观者准确地理解您传达的思想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0941_5*m_h_a*1_3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57.07378540039065,&quot;left&quot;:49.25007874015748,&quot;top&quot;:156.67621459960938,&quot;width&quot;:861.47492736335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2"/>
  <p:tag name="KSO_WM_UNIT_ID" val="diagram20230941_5*m_h_i*1_3_2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57.07378540039065,&quot;left&quot;:49.25007874015748,&quot;top&quot;:156.67621459960938,&quot;width&quot;:861.4749273633581}"/>
  <p:tag name="KSO_WM_DIAGRAM_COLOR_MATCH_VALUE" val="{&quot;shape&quot;:{&quot;fill&quot;:{&quot;solid&quot;:{&quot;brightness&quot;:0.4000000059604645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4"/>
  <p:tag name="KSO_WM_DIAGRAM_USE_COLOR_VALUE" val="{&quot;color_scheme&quot;:1,&quot;color_type&quot;:1,&quot;theme_color_indexes&quot;:[5,6,5,6,5,6]}"/>
</p:tagLst>
</file>

<file path=ppt/tags/tag1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6_3"/>
  <p:tag name="KSO_WM_UNIT_ID" val="diagram20230941_5*m_h_i*1_6_3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57.07378540039065,&quot;left&quot;:49.25007874015748,&quot;top&quot;:156.67621459960938,&quot;width&quot;:861.474927363358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17000000178813934,&quot;transparency&quot;:1},{&quot;brightness&quot;:0,&quot;colorType&quot;:1,&quot;foreColorIndex&quot;:5,&quot;pos&quot;:0.6100000143051147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}"/>
</p:tagLst>
</file>

<file path=ppt/tags/tag1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6_2"/>
  <p:tag name="KSO_WM_UNIT_ID" val="diagram20230941_5*m_h_i*1_6_2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57.07378540039065,&quot;left&quot;:49.25007874015748,&quot;top&quot;:156.67621459960938,&quot;width&quot;:861.4749273633581}"/>
  <p:tag name="KSO_WM_DIAGRAM_COLOR_MATCH_VALUE" val="{&quot;shape&quot;:{&quot;fill&quot;:{&quot;solid&quot;:{&quot;brightness&quot;:0.4000000059604645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4"/>
  <p:tag name="KSO_WM_DIAGRAM_USE_COLOR_VALUE" val="{&quot;color_scheme&quot;:1,&quot;color_type&quot;:1,&quot;theme_color_indexes&quot;:[5,6,5,6,5,6]}"/>
</p:tagLst>
</file>

<file path=ppt/tags/tag2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6_1"/>
  <p:tag name="KSO_WM_UNIT_ID" val="diagram20230941_5*m_h_f*1_6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57.07378540039065,&quot;left&quot;:49.25007874015748,&quot;top&quot;:156.67621459960938,&quot;width&quot;:861.47492736335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项正文文字是您思想的提炼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6_1"/>
  <p:tag name="KSO_WM_UNIT_ID" val="diagram20230941_5*m_h_i*1_6_1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57.07378540039065,&quot;left&quot;:49.25007874015748,&quot;top&quot;:156.67621459960938,&quot;width&quot;:861.474927363358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6_1"/>
  <p:tag name="KSO_WM_UNIT_ID" val="diagram20230941_5*m_h_a*1_6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57.07378540039065,&quot;left&quot;:49.25007874015748,&quot;top&quot;:156.67621459960938,&quot;width&quot;:861.47492736335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5_3"/>
  <p:tag name="KSO_WM_UNIT_ID" val="diagram20230941_5*m_h_i*1_5_3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57.07378540039065,&quot;left&quot;:49.25007874015748,&quot;top&quot;:156.67621459960938,&quot;width&quot;:861.474927363358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17000000178813934,&quot;transparency&quot;:1},{&quot;brightness&quot;:0,&quot;colorType&quot;:1,&quot;foreColorIndex&quot;:5,&quot;pos&quot;:0.6100000143051147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}"/>
</p:tagLst>
</file>

<file path=ppt/tags/tag2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5_1"/>
  <p:tag name="KSO_WM_UNIT_ID" val="diagram20230941_5*m_h_f*1_5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57.07378540039065,&quot;left&quot;:49.25007874015748,&quot;top&quot;:156.67621459960938,&quot;width&quot;:861.47492736335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项正文文字是您思想的提炼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5_1"/>
  <p:tag name="KSO_WM_UNIT_ID" val="diagram20230941_5*m_h_i*1_5_1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57.07378540039065,&quot;left&quot;:49.25007874015748,&quot;top&quot;:156.67621459960938,&quot;width&quot;:861.474927363358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5_1"/>
  <p:tag name="KSO_WM_UNIT_ID" val="diagram20230941_5*m_h_a*1_5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57.07378540039065,&quot;left&quot;:49.25007874015748,&quot;top&quot;:156.67621459960938,&quot;width&quot;:861.47492736335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5_2"/>
  <p:tag name="KSO_WM_UNIT_ID" val="diagram20230941_5*m_h_i*1_5_2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57.07378540039065,&quot;left&quot;:49.25007874015748,&quot;top&quot;:156.67621459960938,&quot;width&quot;:861.4749273633581}"/>
  <p:tag name="KSO_WM_DIAGRAM_COLOR_MATCH_VALUE" val="{&quot;shape&quot;:{&quot;fill&quot;:{&quot;solid&quot;:{&quot;brightness&quot;:0.4000000059604645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4"/>
  <p:tag name="KSO_WM_DIAGRAM_USE_COLOR_VALUE" val="{&quot;color_scheme&quot;:1,&quot;color_type&quot;:1,&quot;theme_color_indexes&quot;:[5,6,5,6,5,6]}"/>
</p:tagLst>
</file>

<file path=ppt/tags/tag2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3"/>
  <p:tag name="KSO_WM_UNIT_ID" val="diagram20230941_5*m_h_i*1_4_3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57.07378540039065,&quot;left&quot;:49.25007874015748,&quot;top&quot;:156.67621459960938,&quot;width&quot;:861.474927363358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17000000178813934,&quot;transparency&quot;:1},{&quot;brightness&quot;:0,&quot;colorType&quot;:1,&quot;foreColorIndex&quot;:5,&quot;pos&quot;:0.6100000143051147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}"/>
</p:tagLst>
</file>

<file path=ppt/tags/tag2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2"/>
  <p:tag name="KSO_WM_UNIT_ID" val="diagram20230941_5*m_h_i*1_4_2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57.07378540039065,&quot;left&quot;:49.25007874015748,&quot;top&quot;:156.67621459960938,&quot;width&quot;:861.4749273633581}"/>
  <p:tag name="KSO_WM_DIAGRAM_COLOR_MATCH_VALUE" val="{&quot;shape&quot;:{&quot;fill&quot;:{&quot;solid&quot;:{&quot;brightness&quot;:0.4000000059604645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4"/>
  <p:tag name="KSO_WM_DIAGRAM_USE_COLOR_VALUE" val="{&quot;color_scheme&quot;:1,&quot;color_type&quot;:1,&quot;theme_color_indexes&quot;:[5,6,5,6,5,6]}"/>
</p:tagLst>
</file>

<file path=ppt/tags/tag3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4_1"/>
  <p:tag name="KSO_WM_UNIT_ID" val="diagram20230941_5*m_h_f*1_4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57.07378540039065,&quot;left&quot;:49.25007874015748,&quot;top&quot;:156.67621459960938,&quot;width&quot;:861.47492736335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根据需要可酌情增减文字，以便观者准确地理解您传达的思想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4_1"/>
  <p:tag name="KSO_WM_UNIT_ID" val="diagram20230941_5*m_h_i*1_4_1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57.07378540039065,&quot;left&quot;:49.25007874015748,&quot;top&quot;:156.67621459960938,&quot;width&quot;:861.474927363358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0941_5*m_h_a*1_4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57.07378540039065,&quot;left&quot;:49.25007874015748,&quot;top&quot;:156.67621459960938,&quot;width&quot;:861.47492736335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307_2*l_h_i*1_1_2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43.4500454735944,&quot;left&quot;:52.774993896484375,&quot;top&quot;:156.92499389648438,&quot;width&quot;:854.4500122070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4.xml><?xml version="1.0" encoding="utf-8"?>
<p:tagLst xmlns:p="http://schemas.openxmlformats.org/presentationml/2006/main">
  <p:tag name="KSO_WM_DIAGRAM_VIRTUALLY_FRAME" val="{&quot;height&quot;:343.4500454735944,&quot;left&quot;:52.774993896484375,&quot;top&quot;:156.92499389648438,&quot;width&quot;:854.4500122070312}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307_2*l_h_f*1_1_1"/>
  <p:tag name="KSO_WM_TEMPLATE_CATEGORY" val="diagram"/>
  <p:tag name="KSO_WM_TEMPLATE_INDEX" val="20231307"/>
  <p:tag name="KSO_WM_UNIT_LAYERLEVEL" val="1_1_1"/>
  <p:tag name="KSO_WM_TAG_VERSION" val="3.0"/>
  <p:tag name="KSO_WM_UNIT_TEXT_TYPE" val="1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117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的观点。"/>
  <p:tag name="KSO_WM_UNIT_FILL_TYPE" val="1"/>
  <p:tag name="KSO_WM_UNIT_FILL_FORE_SCHEMECOLOR_INDEX" val="2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5.xml><?xml version="1.0" encoding="utf-8"?>
<p:tagLst xmlns:p="http://schemas.openxmlformats.org/presentationml/2006/main">
  <p:tag name="KSO_WM_DIAGRAM_VIRTUALLY_FRAME" val="{&quot;height&quot;:343.4500454735944,&quot;left&quot;:52.774993896484375,&quot;top&quot;:156.92499389648438,&quot;width&quot;:854.450012207031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307_2*l_h_i*1_1_1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307_2*l_h_i*1_2_2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43.4500454735944,&quot;left&quot;:52.774993896484375,&quot;top&quot;:156.92499389648438,&quot;width&quot;:854.4500122070312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7.xml><?xml version="1.0" encoding="utf-8"?>
<p:tagLst xmlns:p="http://schemas.openxmlformats.org/presentationml/2006/main">
  <p:tag name="KSO_WM_DIAGRAM_VIRTUALLY_FRAME" val="{&quot;height&quot;:343.4500454735944,&quot;left&quot;:52.774993896484375,&quot;top&quot;:156.92499389648438,&quot;width&quot;:854.4500122070312}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307_2*l_h_f*1_2_1"/>
  <p:tag name="KSO_WM_TEMPLATE_CATEGORY" val="diagram"/>
  <p:tag name="KSO_WM_TEMPLATE_INDEX" val="20231307"/>
  <p:tag name="KSO_WM_UNIT_LAYERLEVEL" val="1_1_1"/>
  <p:tag name="KSO_WM_TAG_VERSION" val="3.0"/>
  <p:tag name="KSO_WM_UNIT_TEXT_TYPE" val="1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117"/>
  <p:tag name="KSO_WM_UNIT_PRESET_TEXT" val="单击此处添加文本具体内容，简明扼要地阐述您的观点。根据需要可酌情增减文字，以便观者准确地理解您传达的思想单击此处添加文本具体内容，简明扼要地阐述您的观点。以便观者准确地理解您传达的思想单击此处添加文本具体内容。"/>
  <p:tag name="KSO_WM_UNIT_LINE_FORE_SCHEMECOLOR_INDEX" val="8"/>
  <p:tag name="KSO_WM_DIAGRAM_USE_COLOR_VALUE" val="{&quot;color_scheme&quot;:1,&quot;color_type&quot;:1,&quot;theme_color_indexes&quot;:[5,6,5,6,5,6]}"/>
</p:tagLst>
</file>

<file path=ppt/tags/tag38.xml><?xml version="1.0" encoding="utf-8"?>
<p:tagLst xmlns:p="http://schemas.openxmlformats.org/presentationml/2006/main">
  <p:tag name="KSO_WM_DIAGRAM_VIRTUALLY_FRAME" val="{&quot;height&quot;:343.4500454735944,&quot;left&quot;:52.774993896484375,&quot;top&quot;:156.92499389648438,&quot;width&quot;:854.450012207031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307_2*l_h_i*1_2_1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307_2*l_h_i*1_3_2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43.4500454735944,&quot;left&quot;:52.774993896484375,&quot;top&quot;:156.92499389648438,&quot;width&quot;:854.4500122070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40.xml><?xml version="1.0" encoding="utf-8"?>
<p:tagLst xmlns:p="http://schemas.openxmlformats.org/presentationml/2006/main">
  <p:tag name="KSO_WM_DIAGRAM_VIRTUALLY_FRAME" val="{&quot;height&quot;:343.4500454735944,&quot;left&quot;:52.774993896484375,&quot;top&quot;:156.92499389648438,&quot;width&quot;:854.4500122070312}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307_2*l_h_f*1_3_1"/>
  <p:tag name="KSO_WM_TEMPLATE_CATEGORY" val="diagram"/>
  <p:tag name="KSO_WM_TEMPLATE_INDEX" val="20231307"/>
  <p:tag name="KSO_WM_UNIT_LAYERLEVEL" val="1_1_1"/>
  <p:tag name="KSO_WM_TAG_VERSION" val="3.0"/>
  <p:tag name="KSO_WM_UNIT_TEXT_TYPE" val="1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117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。"/>
  <p:tag name="KSO_WM_UNIT_LINE_FORE_SCHEMECOLOR_INDEX" val="5"/>
  <p:tag name="KSO_WM_DIAGRAM_USE_COLOR_VALUE" val="{&quot;color_scheme&quot;:1,&quot;color_type&quot;:1,&quot;theme_color_indexes&quot;:[5,6,5,6,5,6]}"/>
</p:tagLst>
</file>

<file path=ppt/tags/tag41.xml><?xml version="1.0" encoding="utf-8"?>
<p:tagLst xmlns:p="http://schemas.openxmlformats.org/presentationml/2006/main">
  <p:tag name="KSO_WM_DIAGRAM_VIRTUALLY_FRAME" val="{&quot;height&quot;:343.4500454735944,&quot;left&quot;:52.774993896484375,&quot;top&quot;:156.92499389648438,&quot;width&quot;:854.450012207031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1307_2*l_h_i*1_3_1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42.xml><?xml version="1.0" encoding="utf-8"?>
<p:tagLst xmlns:p="http://schemas.openxmlformats.org/presentationml/2006/main">
  <p:tag name="KSO_WM_DIAGRAM_VIRTUALLY_FRAME" val="{&quot;height&quot;:395.4,&quot;left&quot;:334.6,&quot;top&quot;:116,&quot;width&quot;:577.9}"/>
</p:tagLst>
</file>

<file path=ppt/tags/tag43.xml><?xml version="1.0" encoding="utf-8"?>
<p:tagLst xmlns:p="http://schemas.openxmlformats.org/presentationml/2006/main">
  <p:tag name="KSO_WM_DIAGRAM_VIRTUALLY_FRAME" val="{&quot;height&quot;:395.4,&quot;left&quot;:334.6,&quot;top&quot;:116,&quot;width&quot;:577.9}"/>
</p:tagLst>
</file>

<file path=ppt/tags/tag4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307_2*l_h_i*1_1_2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43.4500454735944,&quot;left&quot;:52.774993896484375,&quot;top&quot;:156.92499389648438,&quot;width&quot;:854.4500122070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45.xml><?xml version="1.0" encoding="utf-8"?>
<p:tagLst xmlns:p="http://schemas.openxmlformats.org/presentationml/2006/main">
  <p:tag name="KSO_WM_DIAGRAM_VIRTUALLY_FRAME" val="{&quot;height&quot;:343.4500454735944,&quot;left&quot;:52.774993896484375,&quot;top&quot;:156.92499389648438,&quot;width&quot;:854.4500122070312}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307_2*l_h_f*1_1_1"/>
  <p:tag name="KSO_WM_TEMPLATE_CATEGORY" val="diagram"/>
  <p:tag name="KSO_WM_TEMPLATE_INDEX" val="20231307"/>
  <p:tag name="KSO_WM_UNIT_LAYERLEVEL" val="1_1_1"/>
  <p:tag name="KSO_WM_TAG_VERSION" val="3.0"/>
  <p:tag name="KSO_WM_UNIT_TEXT_TYPE" val="1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117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的观点。"/>
  <p:tag name="KSO_WM_UNIT_FILL_TYPE" val="1"/>
  <p:tag name="KSO_WM_UNIT_FILL_FORE_SCHEMECOLOR_INDEX" val="2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6.xml><?xml version="1.0" encoding="utf-8"?>
<p:tagLst xmlns:p="http://schemas.openxmlformats.org/presentationml/2006/main">
  <p:tag name="KSO_WM_DIAGRAM_VIRTUALLY_FRAME" val="{&quot;height&quot;:343.4500454735944,&quot;left&quot;:52.774993896484375,&quot;top&quot;:156.92499389648438,&quot;width&quot;:854.450012207031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307_2*l_h_i*1_1_1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4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307_2*l_h_i*1_2_2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43.4500454735944,&quot;left&quot;:52.774993896484375,&quot;top&quot;:156.92499389648438,&quot;width&quot;:854.4500122070312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48.xml><?xml version="1.0" encoding="utf-8"?>
<p:tagLst xmlns:p="http://schemas.openxmlformats.org/presentationml/2006/main">
  <p:tag name="KSO_WM_DIAGRAM_VIRTUALLY_FRAME" val="{&quot;height&quot;:343.4500454735944,&quot;left&quot;:52.774993896484375,&quot;top&quot;:156.92499389648438,&quot;width&quot;:854.4500122070312}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307_2*l_h_f*1_2_1"/>
  <p:tag name="KSO_WM_TEMPLATE_CATEGORY" val="diagram"/>
  <p:tag name="KSO_WM_TEMPLATE_INDEX" val="20231307"/>
  <p:tag name="KSO_WM_UNIT_LAYERLEVEL" val="1_1_1"/>
  <p:tag name="KSO_WM_TAG_VERSION" val="3.0"/>
  <p:tag name="KSO_WM_UNIT_TEXT_TYPE" val="1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117"/>
  <p:tag name="KSO_WM_UNIT_PRESET_TEXT" val="单击此处添加文本具体内容，简明扼要地阐述您的观点。根据需要可酌情增减文字，以便观者准确地理解您传达的思想单击此处添加文本具体内容，简明扼要地阐述您的观点。以便观者准确地理解您传达的思想单击此处添加文本具体内容。"/>
  <p:tag name="KSO_WM_UNIT_LINE_FORE_SCHEMECOLOR_INDEX" val="8"/>
  <p:tag name="KSO_WM_DIAGRAM_USE_COLOR_VALUE" val="{&quot;color_scheme&quot;:1,&quot;color_type&quot;:1,&quot;theme_color_indexes&quot;:[5,6,5,6,5,6]}"/>
</p:tagLst>
</file>

<file path=ppt/tags/tag49.xml><?xml version="1.0" encoding="utf-8"?>
<p:tagLst xmlns:p="http://schemas.openxmlformats.org/presentationml/2006/main">
  <p:tag name="KSO_WM_DIAGRAM_VIRTUALLY_FRAME" val="{&quot;height&quot;:343.4500454735944,&quot;left&quot;:52.774993896484375,&quot;top&quot;:156.92499389648438,&quot;width&quot;:854.450012207031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307_2*l_h_i*1_2_1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5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307_2*l_h_i*1_3_2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43.4500454735944,&quot;left&quot;:52.774993896484375,&quot;top&quot;:156.92499389648438,&quot;width&quot;:854.4500122070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51.xml><?xml version="1.0" encoding="utf-8"?>
<p:tagLst xmlns:p="http://schemas.openxmlformats.org/presentationml/2006/main">
  <p:tag name="KSO_WM_DIAGRAM_VIRTUALLY_FRAME" val="{&quot;height&quot;:343.4500454735944,&quot;left&quot;:52.774993896484375,&quot;top&quot;:156.92499389648438,&quot;width&quot;:854.4500122070312}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307_2*l_h_f*1_3_1"/>
  <p:tag name="KSO_WM_TEMPLATE_CATEGORY" val="diagram"/>
  <p:tag name="KSO_WM_TEMPLATE_INDEX" val="20231307"/>
  <p:tag name="KSO_WM_UNIT_LAYERLEVEL" val="1_1_1"/>
  <p:tag name="KSO_WM_TAG_VERSION" val="3.0"/>
  <p:tag name="KSO_WM_UNIT_TEXT_TYPE" val="1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117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。"/>
  <p:tag name="KSO_WM_UNIT_LINE_FORE_SCHEMECOLOR_INDEX" val="5"/>
  <p:tag name="KSO_WM_DIAGRAM_USE_COLOR_VALUE" val="{&quot;color_scheme&quot;:1,&quot;color_type&quot;:1,&quot;theme_color_indexes&quot;:[5,6,5,6,5,6]}"/>
</p:tagLst>
</file>

<file path=ppt/tags/tag52.xml><?xml version="1.0" encoding="utf-8"?>
<p:tagLst xmlns:p="http://schemas.openxmlformats.org/presentationml/2006/main">
  <p:tag name="KSO_WM_DIAGRAM_VIRTUALLY_FRAME" val="{&quot;height&quot;:343.4500454735944,&quot;left&quot;:52.774993896484375,&quot;top&quot;:156.92499389648438,&quot;width&quot;:854.450012207031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1307_2*l_h_i*1_3_1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53.xml><?xml version="1.0" encoding="utf-8"?>
<p:tagLst xmlns:p="http://schemas.openxmlformats.org/presentationml/2006/main">
  <p:tag name="KSO_WM_DIAGRAM_VIRTUALLY_FRAME" val="{&quot;height&quot;:395.4,&quot;left&quot;:334.6,&quot;top&quot;:116,&quot;width&quot;:577.9}"/>
</p:tagLst>
</file>

<file path=ppt/tags/tag54.xml><?xml version="1.0" encoding="utf-8"?>
<p:tagLst xmlns:p="http://schemas.openxmlformats.org/presentationml/2006/main">
  <p:tag name="KSO_WM_DIAGRAM_VIRTUALLY_FRAME" val="{&quot;height&quot;:395.4,&quot;left&quot;:334.6,&quot;top&quot;:116,&quot;width&quot;:577.9}"/>
</p:tagLst>
</file>

<file path=ppt/tags/tag55.xml><?xml version="1.0" encoding="utf-8"?>
<p:tagLst xmlns:p="http://schemas.openxmlformats.org/presentationml/2006/main">
  <p:tag name="resource_record_key" val="{&quot;70&quot;:[3312383,3315857]}"/>
</p:tagLst>
</file>

<file path=ppt/theme/theme1.xml><?xml version="1.0" encoding="utf-8"?>
<a:theme xmlns:a="http://schemas.openxmlformats.org/drawingml/2006/main" name="清华简约主题-扁平-16:9">
  <a:themeElements>
    <a:clrScheme name="清华紫主题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660874"/>
      </a:accent1>
      <a:accent2>
        <a:srgbClr val="660874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4197</Words>
  <Application>WPS 演示</Application>
  <PresentationFormat>宽屏</PresentationFormat>
  <Paragraphs>441</Paragraphs>
  <Slides>29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2" baseType="lpstr">
      <vt:lpstr>Arial</vt:lpstr>
      <vt:lpstr>宋体</vt:lpstr>
      <vt:lpstr>Wingdings</vt:lpstr>
      <vt:lpstr>Wingdings 2</vt:lpstr>
      <vt:lpstr>Times New Roman</vt:lpstr>
      <vt:lpstr>Cambria Math</vt:lpstr>
      <vt:lpstr>Wingdings 2</vt:lpstr>
      <vt:lpstr>微软雅黑</vt:lpstr>
      <vt:lpstr>Gill Sans MT</vt:lpstr>
      <vt:lpstr>华文中宋</vt:lpstr>
      <vt:lpstr>Arial Unicode MS</vt:lpstr>
      <vt:lpstr>等线</vt:lpstr>
      <vt:lpstr>清华简约主题-扁平-16:9</vt:lpstr>
      <vt:lpstr>PowerPoint 演示文稿</vt:lpstr>
      <vt:lpstr>PowerPoint 演示文稿</vt:lpstr>
      <vt:lpstr>Rowhammer是什么？</vt:lpstr>
      <vt:lpstr>Rowhammer是什么？</vt:lpstr>
      <vt:lpstr>Rowhammer演进时间线</vt:lpstr>
      <vt:lpstr>从CPU到GPU</vt:lpstr>
      <vt:lpstr>GPU相关知识</vt:lpstr>
      <vt:lpstr>三大挑战</vt:lpstr>
      <vt:lpstr>PowerPoint 演示文稿</vt:lpstr>
      <vt:lpstr>攻击原语</vt:lpstr>
      <vt:lpstr>攻击原语</vt:lpstr>
      <vt:lpstr>三大挑战</vt:lpstr>
      <vt:lpstr>挑战一：如何获取地址映射？</vt:lpstr>
      <vt:lpstr>挑战一：如何获取地址映射？</vt:lpstr>
      <vt:lpstr>挑战一：如何获取地址映射？</vt:lpstr>
      <vt:lpstr>挑战二：如何提高激活率？</vt:lpstr>
      <vt:lpstr>挑战二：如何提高激活率？</vt:lpstr>
      <vt:lpstr>挑战三：如何绕过缓解措施？</vt:lpstr>
      <vt:lpstr>挑战三：如何绕过缓解措施？</vt:lpstr>
      <vt:lpstr>PowerPoint 演示文稿</vt:lpstr>
      <vt:lpstr>Rowhammer实验</vt:lpstr>
      <vt:lpstr>真实端到端攻击</vt:lpstr>
      <vt:lpstr>真实端到端攻击</vt:lpstr>
      <vt:lpstr>PowerPoint 演示文稿</vt:lpstr>
      <vt:lpstr>防御措施</vt:lpstr>
      <vt:lpstr>讨论</vt:lpstr>
      <vt:lpstr>PowerPoint 演示文稿</vt:lpstr>
      <vt:lpstr>总结</vt:lpstr>
      <vt:lpstr>Thanks！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 伟浩</dc:creator>
  <cp:lastModifiedBy>WPS_1643105957</cp:lastModifiedBy>
  <cp:revision>3583</cp:revision>
  <cp:lastPrinted>2020-04-04T02:50:00Z</cp:lastPrinted>
  <dcterms:created xsi:type="dcterms:W3CDTF">2020-01-04T07:43:00Z</dcterms:created>
  <dcterms:modified xsi:type="dcterms:W3CDTF">2026-10-16T07:54:00Z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81A97D7E5B024ADE9D4BBFC2B46F09E1_12</vt:lpwstr>
  </property>
  <property fmtid="{D5CDD505-2E9C-101B-9397-08002B2CF9AE}" pid="3" name="KSOProductBuildVer">
    <vt:lpwstr>2052-12.1.0.21915</vt:lpwstr>
  </property>
</Properties>
</file>