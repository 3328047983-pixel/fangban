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75"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56" autoAdjust="0"/>
    <p:restoredTop sz="93963" autoAdjust="0"/>
  </p:normalViewPr>
  <p:slideViewPr>
    <p:cSldViewPr snapToGrid="0" showGuides="1">
      <p:cViewPr>
        <p:scale>
          <a:sx n="100" d="100"/>
          <a:sy n="100" d="100"/>
        </p:scale>
        <p:origin x="308" y="52"/>
      </p:cViewPr>
      <p:guideLst>
        <p:guide orient="horz" pos="2160"/>
        <p:guide pos="3840"/>
      </p:guideLst>
    </p:cSldViewPr>
  </p:slideViewPr>
  <p:notesTextViewPr>
    <p:cViewPr>
      <p:scale>
        <a:sx n="1" d="1"/>
        <a:sy n="1" d="1"/>
      </p:scale>
      <p:origin x="0" y="0"/>
    </p:cViewPr>
  </p:notesTextViewPr>
  <p:notesViewPr>
    <p:cSldViewPr snapToGrid="0" showGuides="1">
      <p:cViewPr varScale="1">
        <p:scale>
          <a:sx n="84" d="100"/>
          <a:sy n="84" d="100"/>
        </p:scale>
        <p:origin x="348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954CE-9C7C-4A8F-81FC-22AEBF4709DA}" type="datetimeFigureOut">
              <a:rPr lang="zh-CN" altLang="en-US" smtClean="0"/>
              <a:t>2026/10/2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94C7AA-CA10-4EE9-B63F-96394A0A98DA}" type="slidenum">
              <a:rPr lang="zh-CN" altLang="en-US" smtClean="0"/>
              <a:t>‹#›</a:t>
            </a:fld>
            <a:endParaRPr lang="zh-CN" altLang="en-US"/>
          </a:p>
        </p:txBody>
      </p:sp>
    </p:spTree>
    <p:extLst>
      <p:ext uri="{BB962C8B-B14F-4D97-AF65-F5344CB8AC3E}">
        <p14:creationId xmlns:p14="http://schemas.microsoft.com/office/powerpoint/2010/main" val="1440011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大家好，我今天汇报的论文是 Armadillo: Robust Single-Server Secure Aggregation for Federated Learning with Input Validation，发表在 CCS 2025。</a:t>
            </a:r>
          </a:p>
          <a:p>
            <a:endParaRPr lang="zh-CN" dirty="0"/>
          </a:p>
          <a:p>
            <a:r>
              <a:rPr lang="zh-CN" dirty="0"/>
              <a:t>这篇论文研究的是联邦学习中的安全聚合问题。但它关注的不只是大家比较熟悉的隐私问题，而是更进一步问：如果客户端会掉线，甚至有一部分客户端是恶意的，我们还能不能在只有一个服务器的情况下，稳定地得到一个可信的聚合结果？</a:t>
            </a:r>
          </a:p>
          <a:p>
            <a:endParaRPr lang="zh-CN" dirty="0"/>
          </a:p>
          <a:p>
            <a:r>
              <a:rPr lang="zh-CN" dirty="0"/>
              <a:t>我觉得这篇论文最值得关注的点有两个。第一，它把原来高维模型更新的安全聚合，转换成了一个小得多的密钥聚合问题。第二，它最终把整个鲁棒安全聚合压缩到了固定 3 轮交互。</a:t>
            </a:r>
          </a:p>
          <a:p>
            <a:endParaRPr lang="zh-CN" dirty="0"/>
          </a:p>
          <a:p>
            <a:r>
              <a:rPr lang="zh-CN" dirty="0"/>
              <a:t>接下来我会按照‘问题是什么、它怎么解决、为什么有效、实验效果怎么样’这个顺序来介绍。</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先从最基本的联邦学习场景开始。</a:t>
            </a:r>
          </a:p>
          <a:p>
            <a:endParaRPr lang="zh-CN" dirty="0"/>
          </a:p>
          <a:p>
            <a:r>
              <a:rPr lang="zh-CN" dirty="0"/>
              <a:t>假设有很多客户端，比如手机或者边缘设备。每个客户端在自己的本地数据上训练，然后得到一个模型更新向量，我这里记成 x_i。</a:t>
            </a:r>
          </a:p>
          <a:p>
            <a:endParaRPr lang="zh-CN" dirty="0"/>
          </a:p>
          <a:p>
            <a:r>
              <a:rPr lang="zh-CN" dirty="0"/>
              <a:t>服务器真正需要的其实不是某一个用户的更新，而是所有参与客户端更新的总和。</a:t>
            </a:r>
          </a:p>
          <a:p>
            <a:endParaRPr lang="zh-CN" dirty="0"/>
          </a:p>
          <a:p>
            <a:r>
              <a:rPr lang="zh-CN" dirty="0"/>
              <a:t>所以安全聚合最基本的目标就是：服务器最后能够拿到</a:t>
            </a:r>
          </a:p>
          <a:p>
            <a:endParaRPr lang="zh-CN" dirty="0"/>
          </a:p>
          <a:p>
            <a:r>
              <a:rPr lang="zh-CN" dirty="0"/>
              <a:t>x_1+x_2+…+x_n，</a:t>
            </a:r>
          </a:p>
          <a:p>
            <a:endParaRPr lang="zh-CN" dirty="0"/>
          </a:p>
          <a:p>
            <a:r>
              <a:rPr lang="zh-CN" dirty="0"/>
              <a:t>但是不能知道单独的 x_1、x_2 或者 x_3。</a:t>
            </a:r>
          </a:p>
          <a:p>
            <a:endParaRPr lang="zh-CN" dirty="0"/>
          </a:p>
          <a:p>
            <a:r>
              <a:rPr lang="zh-CN" dirty="0"/>
              <a:t>如果所有客户端都是诚实的，而且网络永远不出问题，这个问题已经有很多成熟方案。</a:t>
            </a:r>
          </a:p>
          <a:p>
            <a:endParaRPr lang="zh-CN" dirty="0"/>
          </a:p>
          <a:p>
            <a:r>
              <a:rPr lang="zh-CN" dirty="0"/>
              <a:t>但实际联邦学习显然不是这么理想。</a:t>
            </a:r>
          </a:p>
          <a:p>
            <a:endParaRPr lang="zh-CN" dirty="0"/>
          </a:p>
          <a:p>
            <a:r>
              <a:rPr lang="zh-CN" dirty="0"/>
              <a:t>这里先用所有客户端参与的理想情形说明求和；完整协议实际聚合最终保留的有效客户端集合。</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现实中主要有两类问题。</a:t>
            </a:r>
          </a:p>
          <a:p>
            <a:endParaRPr lang="zh-CN" dirty="0"/>
          </a:p>
          <a:p>
            <a:r>
              <a:rPr lang="zh-CN" dirty="0"/>
              <a:t>第一类比较温和，就是 passive dropout，被动掉线。</a:t>
            </a:r>
          </a:p>
          <a:p>
            <a:endParaRPr lang="zh-CN" dirty="0"/>
          </a:p>
          <a:p>
            <a:r>
              <a:rPr lang="zh-CN" dirty="0"/>
              <a:t>客户端可能网络突然断了，设备关机了，或者服务器设定的等待时间到了，它还没有返回。这个客户端本身不一定恶意，但是服务器不能一直等它，否则一轮训练可能永远结束不了。</a:t>
            </a:r>
          </a:p>
          <a:p>
            <a:endParaRPr lang="zh-CN" dirty="0"/>
          </a:p>
          <a:p>
            <a:r>
              <a:rPr lang="zh-CN" dirty="0"/>
              <a:t>第二类就麻烦很多，是 malicious client，恶意客户端。</a:t>
            </a:r>
          </a:p>
          <a:p>
            <a:endParaRPr lang="zh-CN" dirty="0"/>
          </a:p>
          <a:p>
            <a:r>
              <a:rPr lang="zh-CN" dirty="0"/>
              <a:t>恶意客户端不只是掉线，它可以主动偏离协议。比如应该发送一个正确的密文，它故意发错；应该发送一个合法的秘密分享，它给不同的人发不同的内容；甚至模型更新本身就是人为构造的。</a:t>
            </a:r>
          </a:p>
          <a:p>
            <a:endParaRPr lang="zh-CN" dirty="0"/>
          </a:p>
          <a:p>
            <a:r>
              <a:rPr lang="zh-CN" dirty="0"/>
              <a:t>所以从这里开始，问题已经不只是‘服务器能不能看见客户端数据’了。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所以这里我想先把这篇论文最重要的四个安全目标区分清楚。</a:t>
            </a:r>
          </a:p>
          <a:p>
            <a:endParaRPr lang="zh-CN" dirty="0"/>
          </a:p>
          <a:p>
            <a:r>
              <a:rPr lang="zh-CN" dirty="0"/>
              <a:t>第一个就是刚才讲的 Privacy：服务器只能知道聚合结果。</a:t>
            </a:r>
          </a:p>
          <a:p>
            <a:endParaRPr lang="zh-CN" dirty="0"/>
          </a:p>
          <a:p>
            <a:r>
              <a:rPr lang="zh-CN" dirty="0"/>
              <a:t>第二个是 Dropout Resilience：即使部分正常客户端掉线，协议也应该继续完成。</a:t>
            </a:r>
          </a:p>
          <a:p>
            <a:endParaRPr lang="zh-CN" dirty="0"/>
          </a:p>
          <a:p>
            <a:r>
              <a:rPr lang="zh-CN" dirty="0"/>
              <a:t>第三个是 Robustness。</a:t>
            </a:r>
          </a:p>
          <a:p>
            <a:endParaRPr lang="zh-CN" dirty="0"/>
          </a:p>
          <a:p>
            <a:r>
              <a:rPr lang="zh-CN" dirty="0"/>
              <a:t>这个词比较容易误解。这里的 robustness 并不是说恶意客户端对结果完全没有影响。恶意客户端既然参与聚合，它当然可以选择自己的输入。</a:t>
            </a:r>
          </a:p>
          <a:p>
            <a:endParaRPr lang="zh-CN" dirty="0"/>
          </a:p>
          <a:p>
            <a:r>
              <a:rPr lang="zh-CN" dirty="0"/>
              <a:t>Robustness 真正保证的是：你可以通过选择输入来影响结果，但是不能靠乱发消息、构造错误 share 或破坏协议，让最终结果变成一个根本无法对应任何输入集合的值。</a:t>
            </a:r>
          </a:p>
          <a:p>
            <a:endParaRPr lang="zh-CN" dirty="0"/>
          </a:p>
          <a:p>
            <a:r>
              <a:rPr lang="zh-CN" dirty="0"/>
              <a:t>最后是更强的 Disruption Resistance。</a:t>
            </a:r>
          </a:p>
          <a:p>
            <a:endParaRPr lang="zh-CN" dirty="0"/>
          </a:p>
          <a:p>
            <a:r>
              <a:rPr lang="zh-CN" dirty="0"/>
              <a:t>它在 Robustness 的基础上再加一层：恶意客户端连输入也不能随便选，必须落在系统定义的合法范围里。</a:t>
            </a:r>
          </a:p>
          <a:p>
            <a:endParaRPr lang="zh-CN" dirty="0"/>
          </a:p>
          <a:p>
            <a:r>
              <a:rPr lang="zh-CN" dirty="0"/>
              <a:t>所以可以把它理解成：</a:t>
            </a:r>
          </a:p>
          <a:p>
            <a:endParaRPr lang="zh-CN" dirty="0"/>
          </a:p>
          <a:p>
            <a:r>
              <a:rPr lang="zh-CN" dirty="0"/>
              <a:t>Robustness 管协议行为是否合法，Input Validation 管输入是否合法，两者合起来得到 Disruption Resistance。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接下来看 Armadillo 到底在什么威胁模型下工作。</a:t>
            </a:r>
          </a:p>
          <a:p>
            <a:endParaRPr lang="zh-CN" dirty="0"/>
          </a:p>
          <a:p>
            <a:r>
              <a:rPr lang="zh-CN" dirty="0"/>
              <a:t>首先，服务器是 honest-but-curious，也就是半可信服务器。</a:t>
            </a:r>
          </a:p>
          <a:p>
            <a:endParaRPr lang="zh-CN" dirty="0"/>
          </a:p>
          <a:p>
            <a:r>
              <a:rPr lang="zh-CN" dirty="0"/>
              <a:t>它会老老实实执行协议，但会尽可能利用自己看到的信息去推断客户端的数据。</a:t>
            </a:r>
          </a:p>
          <a:p>
            <a:endParaRPr lang="zh-CN" dirty="0"/>
          </a:p>
          <a:p>
            <a:r>
              <a:rPr lang="zh-CN" dirty="0"/>
              <a:t>这里一定要注意，论文正式安全证明不是对任意 malicious server 成立。</a:t>
            </a:r>
          </a:p>
          <a:p>
            <a:endParaRPr lang="zh-CN" dirty="0"/>
          </a:p>
          <a:p>
            <a:r>
              <a:rPr lang="zh-CN" dirty="0"/>
              <a:t>对于客户端，每轮有 n 个参与者。其中允许有 η 比例的恶意客户端，同时还允许最多 δ 比例的正常客户端被动掉线。</a:t>
            </a:r>
          </a:p>
          <a:p>
            <a:endParaRPr lang="zh-CN" dirty="0"/>
          </a:p>
          <a:p>
            <a:r>
              <a:rPr lang="zh-CN" dirty="0"/>
              <a:t>另外，后面 Armadillo 会额外抽出一小部分客户端作为 decryptor，也就是辅助解密者。Decryptor 自己也不需要完全可信，其中同样可以有一部分恶意或者掉线。</a:t>
            </a:r>
          </a:p>
          <a:p>
            <a:endParaRPr lang="zh-CN" dirty="0"/>
          </a:p>
          <a:p>
            <a:r>
              <a:rPr lang="zh-CN" dirty="0"/>
              <a:t>论文给出的直观安全门槛是，普通参与客户端和 decryptor committee 中，掉线率加腐化率都要低于三分之一。</a:t>
            </a:r>
          </a:p>
          <a:p>
            <a:endParaRPr lang="zh-CN" dirty="0"/>
          </a:p>
          <a:p>
            <a:r>
              <a:rPr lang="zh-CN" dirty="0"/>
              <a:t>后面会看到，为什么秘密分享和纠错机制需要这样的阈值。</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现在进入 Armadillo 的核心。</a:t>
            </a:r>
          </a:p>
          <a:p>
            <a:endParaRPr lang="zh-CN" dirty="0"/>
          </a:p>
          <a:p>
            <a:r>
              <a:rPr lang="zh-CN" dirty="0"/>
              <a:t>如果只记住这篇论文的一张图，我觉得就应该是这一张。</a:t>
            </a:r>
          </a:p>
          <a:p>
            <a:endParaRPr lang="zh-CN" dirty="0"/>
          </a:p>
          <a:p>
            <a:r>
              <a:rPr lang="zh-CN" dirty="0"/>
              <a:t>它的出发点很简单：联邦学习的模型更新向量 x_i 很长，直接对这样一个高维向量做复杂的安全多方计算，成本会非常高。</a:t>
            </a:r>
          </a:p>
          <a:p>
            <a:endParaRPr lang="zh-CN" dirty="0"/>
          </a:p>
          <a:p>
            <a:r>
              <a:rPr lang="zh-CN" dirty="0"/>
              <a:t>那能不能换个思路？</a:t>
            </a:r>
          </a:p>
          <a:p>
            <a:endParaRPr lang="zh-CN" dirty="0"/>
          </a:p>
          <a:p>
            <a:r>
              <a:rPr lang="zh-CN" dirty="0"/>
              <a:t>Armadillo 让每个客户端先随机产生一个比较短的密钥 s_i，然后用 Regev 加密把自己的大向量 x_i 加密成 y_i。</a:t>
            </a:r>
          </a:p>
          <a:p>
            <a:endParaRPr lang="zh-CN" dirty="0"/>
          </a:p>
          <a:p>
            <a:r>
              <a:rPr lang="zh-CN" dirty="0"/>
              <a:t>服务器直接把所有 y_i 加起来，这叫 Outer Aggregation，外层聚合。</a:t>
            </a:r>
          </a:p>
          <a:p>
            <a:endParaRPr lang="zh-CN" dirty="0"/>
          </a:p>
          <a:p>
            <a:r>
              <a:rPr lang="zh-CN" dirty="0"/>
              <a:t>但加完以后还不能解密，因为服务器不知道总密钥。</a:t>
            </a:r>
          </a:p>
          <a:p>
            <a:endParaRPr lang="zh-CN" dirty="0"/>
          </a:p>
          <a:p>
            <a:r>
              <a:rPr lang="zh-CN" dirty="0"/>
              <a:t>于是第二层只需要解决一个更小的问题：</a:t>
            </a:r>
          </a:p>
          <a:p>
            <a:endParaRPr lang="zh-CN" dirty="0"/>
          </a:p>
          <a:p>
            <a:r>
              <a:rPr lang="zh-CN" dirty="0"/>
              <a:t>怎么安全地获得</a:t>
            </a:r>
          </a:p>
          <a:p>
            <a:endParaRPr lang="zh-CN" dirty="0"/>
          </a:p>
          <a:p>
            <a:r>
              <a:rPr lang="zh-CN" dirty="0"/>
              <a:t>s_1+s_2+…+s_n。</a:t>
            </a:r>
          </a:p>
          <a:p>
            <a:endParaRPr lang="zh-CN" dirty="0"/>
          </a:p>
          <a:p>
            <a:r>
              <a:rPr lang="zh-CN" dirty="0"/>
              <a:t>这就叫 Inner Aggregation，内层聚合。</a:t>
            </a:r>
          </a:p>
          <a:p>
            <a:endParaRPr lang="zh-CN" dirty="0"/>
          </a:p>
          <a:p>
            <a:r>
              <a:rPr lang="zh-CN" dirty="0"/>
              <a:t>所以它实际上做了一个非常关键的降维：</a:t>
            </a:r>
          </a:p>
          <a:p>
            <a:endParaRPr lang="zh-CN" dirty="0"/>
          </a:p>
          <a:p>
            <a:r>
              <a:rPr lang="zh-CN" dirty="0"/>
              <a:t>原来我要安全聚合一个很长的模型向量，现在把最复杂的安全聚合部分转移到了一个很短的密钥上。</a:t>
            </a:r>
          </a:p>
          <a:p>
            <a:endParaRPr lang="zh-CN" dirty="0"/>
          </a:p>
          <a:p>
            <a:r>
              <a:rPr lang="zh-CN" dirty="0"/>
              <a:t>后面所有设计基本都是围绕这张图展开的。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这里再把两层的职责拆开。</a:t>
            </a:r>
          </a:p>
          <a:p>
            <a:endParaRPr lang="zh-CN" dirty="0"/>
          </a:p>
          <a:p>
            <a:r>
              <a:rPr lang="zh-CN" dirty="0"/>
              <a:t>外层面对的是模型更新，所以维度很大，长度记成 ℓ。</a:t>
            </a:r>
          </a:p>
          <a:p>
            <a:endParaRPr lang="zh-CN" dirty="0"/>
          </a:p>
          <a:p>
            <a:r>
              <a:rPr lang="zh-CN" dirty="0"/>
              <a:t>但是外层故意设计得非常简单，服务器基本只需要做向量加法。</a:t>
            </a:r>
          </a:p>
          <a:p>
            <a:endParaRPr lang="zh-CN" dirty="0"/>
          </a:p>
          <a:p>
            <a:r>
              <a:rPr lang="zh-CN" dirty="0"/>
              <a:t>内层面对的是密钥 s_i，密钥长度记成 λ。</a:t>
            </a:r>
          </a:p>
          <a:p>
            <a:endParaRPr lang="zh-CN" dirty="0"/>
          </a:p>
          <a:p>
            <a:r>
              <a:rPr lang="zh-CN" dirty="0"/>
              <a:t>在实际参数里，λ 是一个安全参数，而联邦学习的模型更新长度通常远大于它，所以有</a:t>
            </a:r>
          </a:p>
          <a:p>
            <a:endParaRPr lang="zh-CN" dirty="0"/>
          </a:p>
          <a:p>
            <a:r>
              <a:rPr lang="zh-CN" dirty="0"/>
              <a:t>λ ≪ ℓ。</a:t>
            </a:r>
          </a:p>
          <a:p>
            <a:endParaRPr lang="zh-CN" dirty="0"/>
          </a:p>
          <a:p>
            <a:r>
              <a:rPr lang="zh-CN" dirty="0"/>
              <a:t>这就是为什么两层结构是划算的：</a:t>
            </a:r>
          </a:p>
          <a:p>
            <a:endParaRPr lang="zh-CN" dirty="0"/>
          </a:p>
          <a:p>
            <a:r>
              <a:rPr lang="zh-CN" dirty="0"/>
              <a:t>最重的数据走最简单的运算，真正复杂的安全机制只处理一个短向量。</a:t>
            </a:r>
          </a:p>
          <a:p>
            <a:endParaRPr lang="zh-CN" dirty="0"/>
          </a:p>
          <a:p>
            <a:r>
              <a:rPr lang="zh-CN" dirty="0"/>
              <a:t>接下来先看看它是怎么做到这个转换的。</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外层具体使用的是 Regev Encryption。</a:t>
            </a:r>
          </a:p>
          <a:p>
            <a:endParaRPr lang="zh-CN" dirty="0"/>
          </a:p>
          <a:p>
            <a:r>
              <a:rPr lang="zh-CN" dirty="0"/>
              <a:t>我这里不展开 LWE 的完整安全性，只看它对整个系统最有用的一条公式。</a:t>
            </a:r>
          </a:p>
          <a:p>
            <a:endParaRPr lang="zh-CN" dirty="0"/>
          </a:p>
          <a:p>
            <a:r>
              <a:rPr lang="zh-CN" dirty="0"/>
              <a:t>客户端 i 的密文可以写成：</a:t>
            </a:r>
          </a:p>
          <a:p>
            <a:endParaRPr lang="zh-CN" dirty="0"/>
          </a:p>
          <a:p>
            <a:r>
              <a:rPr lang="zh-CN" dirty="0"/>
              <a:t>y_i=A s_i+e_i+Δ x_i。</a:t>
            </a:r>
          </a:p>
          <a:p>
            <a:endParaRPr lang="zh-CN" dirty="0"/>
          </a:p>
          <a:p>
            <a:r>
              <a:rPr lang="zh-CN" dirty="0"/>
              <a:t>这里 x_i 是模型更新。</a:t>
            </a:r>
          </a:p>
          <a:p>
            <a:endParaRPr lang="zh-CN" dirty="0"/>
          </a:p>
          <a:p>
            <a:r>
              <a:rPr lang="zh-CN" dirty="0"/>
              <a:t>s_i 是客户端随机生成的密钥。</a:t>
            </a:r>
          </a:p>
          <a:p>
            <a:endParaRPr lang="zh-CN" dirty="0"/>
          </a:p>
          <a:p>
            <a:r>
              <a:rPr lang="zh-CN" dirty="0"/>
              <a:t>e_i 是 LWE 里的随机噪声，它是安全性的重要来源。</a:t>
            </a:r>
          </a:p>
          <a:p>
            <a:endParaRPr lang="zh-CN" dirty="0"/>
          </a:p>
          <a:p>
            <a:r>
              <a:rPr lang="zh-CN" dirty="0"/>
              <a:t>A 是大家共享的公共矩阵，Δ 是明文和密文模数之间的缩放因子。</a:t>
            </a:r>
          </a:p>
          <a:p>
            <a:endParaRPr lang="zh-CN" dirty="0"/>
          </a:p>
          <a:p>
            <a:r>
              <a:rPr lang="zh-CN" dirty="0"/>
              <a:t>如果知道 s_i，服务器就可以计算 y_i-As_i，去掉密钥相关的部分，然后根据 Δ 做舍入恢复 x_i。</a:t>
            </a:r>
          </a:p>
          <a:p>
            <a:endParaRPr lang="zh-CN" dirty="0"/>
          </a:p>
          <a:p>
            <a:r>
              <a:rPr lang="zh-CN" dirty="0"/>
              <a:t>这一页真正要记住的其实不是 Regev 本身，而是这个式子有一个特别适合聚合的性质。</a:t>
            </a:r>
          </a:p>
          <a:p>
            <a:endParaRPr lang="zh-CN" dirty="0"/>
          </a:p>
          <a:p>
            <a:r>
              <a:rPr lang="zh-CN" dirty="0"/>
              <a:t>这里的舍入按论文定义进行：在模 q 的剩余类中，取最近的 Δ 倍数所对应的明文值；在噪声界满足时可正确恢复，而不只是近似恢复。</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这个公式就是整个双层结构成立的原因。</a:t>
            </a:r>
          </a:p>
          <a:p>
            <a:endParaRPr lang="zh-CN" dirty="0"/>
          </a:p>
          <a:p>
            <a:r>
              <a:rPr lang="zh-CN" dirty="0"/>
              <a:t>假设有两个客户端：</a:t>
            </a:r>
          </a:p>
          <a:p>
            <a:endParaRPr lang="zh-CN" dirty="0"/>
          </a:p>
          <a:p>
            <a:r>
              <a:rPr lang="el-GR" dirty="0"/>
              <a:t>y_1=As_1+e_1+Δ x_1</a:t>
            </a:r>
          </a:p>
          <a:p>
            <a:endParaRPr lang="zh-CN" dirty="0"/>
          </a:p>
          <a:p>
            <a:r>
              <a:rPr lang="zh-CN" dirty="0"/>
              <a:t>和</a:t>
            </a:r>
          </a:p>
          <a:p>
            <a:endParaRPr lang="zh-CN" dirty="0"/>
          </a:p>
          <a:p>
            <a:r>
              <a:rPr lang="zh-CN" dirty="0"/>
              <a:t>y_2=As_2+e_2+Δ x_2。</a:t>
            </a:r>
          </a:p>
          <a:p>
            <a:endParaRPr lang="zh-CN" dirty="0"/>
          </a:p>
          <a:p>
            <a:r>
              <a:rPr lang="zh-CN" dirty="0"/>
              <a:t>服务器直接把两个密文相加，就得到：</a:t>
            </a:r>
          </a:p>
          <a:p>
            <a:endParaRPr lang="zh-CN" dirty="0"/>
          </a:p>
          <a:p>
            <a:r>
              <a:rPr lang="zh-CN" dirty="0"/>
              <a:t>A(s_1+s_2)+(e_1+e_2)+Δ(x_1+x_2)。</a:t>
            </a:r>
          </a:p>
          <a:p>
            <a:endParaRPr lang="zh-CN" dirty="0"/>
          </a:p>
          <a:p>
            <a:r>
              <a:rPr lang="zh-CN" dirty="0"/>
              <a:t>也就是说：</a:t>
            </a:r>
          </a:p>
          <a:p>
            <a:endParaRPr lang="zh-CN" dirty="0"/>
          </a:p>
          <a:p>
            <a:r>
              <a:rPr lang="zh-CN" dirty="0"/>
              <a:t>消息加起来了，密钥也自动加起来了。</a:t>
            </a:r>
          </a:p>
          <a:p>
            <a:endParaRPr lang="zh-CN" dirty="0"/>
          </a:p>
          <a:p>
            <a:r>
              <a:rPr lang="zh-CN" dirty="0"/>
              <a:t>所以对于 n 个客户端，服务器完全不需要知道任何单个 s_i。</a:t>
            </a:r>
          </a:p>
          <a:p>
            <a:endParaRPr lang="zh-CN" dirty="0"/>
          </a:p>
          <a:p>
            <a:r>
              <a:rPr lang="zh-CN" dirty="0"/>
              <a:t>它只要最终得到</a:t>
            </a:r>
          </a:p>
          <a:p>
            <a:endParaRPr lang="zh-CN" dirty="0"/>
          </a:p>
          <a:p>
            <a:r>
              <a:rPr lang="zh-CN" dirty="0"/>
              <a:t>s=s_1+…+s_n，</a:t>
            </a:r>
          </a:p>
          <a:p>
            <a:endParaRPr lang="zh-CN" dirty="0"/>
          </a:p>
          <a:p>
            <a:r>
              <a:rPr lang="zh-CN" dirty="0"/>
              <a:t>就能用这个总密钥去解密</a:t>
            </a:r>
          </a:p>
          <a:p>
            <a:endParaRPr lang="zh-CN" dirty="0"/>
          </a:p>
          <a:p>
            <a:r>
              <a:rPr lang="zh-CN" dirty="0"/>
              <a:t>y=y_1+…+y_n，</a:t>
            </a:r>
          </a:p>
          <a:p>
            <a:endParaRPr lang="zh-CN" dirty="0"/>
          </a:p>
          <a:p>
            <a:r>
              <a:rPr lang="zh-CN" dirty="0"/>
              <a:t>得到</a:t>
            </a:r>
          </a:p>
          <a:p>
            <a:endParaRPr lang="zh-CN" dirty="0"/>
          </a:p>
          <a:p>
            <a:r>
              <a:rPr lang="zh-CN" dirty="0"/>
              <a:t>x_1+…+x_n。</a:t>
            </a:r>
          </a:p>
          <a:p>
            <a:endParaRPr lang="zh-CN" dirty="0"/>
          </a:p>
          <a:p>
            <a:r>
              <a:rPr lang="zh-CN" dirty="0"/>
              <a:t>这样问题就被转化了：</a:t>
            </a:r>
          </a:p>
          <a:p>
            <a:endParaRPr lang="zh-CN" dirty="0"/>
          </a:p>
          <a:p>
            <a:r>
              <a:rPr lang="zh-CN" dirty="0"/>
              <a:t>高维的 x_i 已经可以直接在服务器上做加法了。</a:t>
            </a:r>
          </a:p>
          <a:p>
            <a:endParaRPr lang="zh-CN" dirty="0"/>
          </a:p>
          <a:p>
            <a:r>
              <a:rPr lang="zh-CN" dirty="0"/>
              <a:t>真正剩下的问题只有一个——</a:t>
            </a:r>
          </a:p>
          <a:p>
            <a:endParaRPr lang="zh-CN" dirty="0"/>
          </a:p>
          <a:p>
            <a:r>
              <a:rPr lang="zh-CN" dirty="0"/>
              <a:t>怎么安全地求这些短密钥的和？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最直接的想法其实很容易想到。</a:t>
            </a:r>
          </a:p>
          <a:p>
            <a:endParaRPr lang="zh-CN" dirty="0"/>
          </a:p>
          <a:p>
            <a:r>
              <a:rPr lang="zh-CN" dirty="0"/>
              <a:t>每个客户端把自己的 s_i 做 Shamir Secret Sharing，然后把 share 发给所有其他客户端。</a:t>
            </a:r>
          </a:p>
          <a:p>
            <a:endParaRPr lang="zh-CN" dirty="0"/>
          </a:p>
          <a:p>
            <a:r>
              <a:rPr lang="zh-CN" dirty="0"/>
              <a:t>所有客户端把自己收到的 share 相加，再发给服务器，服务器最后重构出总密钥。</a:t>
            </a:r>
          </a:p>
          <a:p>
            <a:endParaRPr lang="zh-CN" dirty="0"/>
          </a:p>
          <a:p>
            <a:r>
              <a:rPr lang="zh-CN" dirty="0"/>
              <a:t>密码学上当然能工作。</a:t>
            </a:r>
          </a:p>
          <a:p>
            <a:endParaRPr lang="zh-CN" dirty="0"/>
          </a:p>
          <a:p>
            <a:r>
              <a:rPr lang="zh-CN" dirty="0"/>
              <a:t>问题是规模。</a:t>
            </a:r>
          </a:p>
          <a:p>
            <a:endParaRPr lang="zh-CN" dirty="0"/>
          </a:p>
          <a:p>
            <a:r>
              <a:rPr lang="zh-CN" dirty="0"/>
              <a:t>如果有 n 个客户端，每一个客户端都要和大量其他客户端交换 share，那么单个客户端的通信量是 O(nλ)。</a:t>
            </a:r>
          </a:p>
          <a:p>
            <a:endParaRPr lang="zh-CN" dirty="0"/>
          </a:p>
          <a:p>
            <a:r>
              <a:rPr lang="zh-CN" dirty="0"/>
              <a:t>服务器因为还要负责中转，整体通信甚至会达到 O(n^2λ)。</a:t>
            </a:r>
          </a:p>
          <a:p>
            <a:endParaRPr lang="zh-CN" dirty="0"/>
          </a:p>
          <a:p>
            <a:r>
              <a:rPr lang="zh-CN" dirty="0"/>
              <a:t>这对于手机或者边缘设备来说就太重了。</a:t>
            </a:r>
          </a:p>
          <a:p>
            <a:endParaRPr lang="zh-CN" dirty="0"/>
          </a:p>
          <a:p>
            <a:r>
              <a:rPr lang="zh-CN" dirty="0"/>
              <a:t>所以 Armadillo 做的第二个关键设计是：</a:t>
            </a:r>
          </a:p>
          <a:p>
            <a:endParaRPr lang="zh-CN" dirty="0"/>
          </a:p>
          <a:p>
            <a:r>
              <a:rPr lang="zh-CN" dirty="0"/>
              <a:t>不让所有客户端都参与解密。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Armadillo 的办法是从整个客户端集合里抽一小部分客户端，作为 decryptor。</a:t>
            </a:r>
          </a:p>
          <a:p>
            <a:endParaRPr lang="zh-CN" dirty="0"/>
          </a:p>
          <a:p>
            <a:r>
              <a:rPr lang="zh-CN" dirty="0"/>
              <a:t>假设有 C 个 decryptor，而且 C 明显小于 n。</a:t>
            </a:r>
          </a:p>
          <a:p>
            <a:endParaRPr lang="zh-CN" dirty="0"/>
          </a:p>
          <a:p>
            <a:r>
              <a:rPr lang="zh-CN" dirty="0"/>
              <a:t>每个普通客户端不再把自己的密钥分享给所有人，而只把 s_i 做 Packed Secret Sharing，然后给每个 decryptor 发一个 share。</a:t>
            </a:r>
          </a:p>
          <a:p>
            <a:endParaRPr lang="zh-CN" dirty="0"/>
          </a:p>
          <a:p>
            <a:r>
              <a:rPr lang="zh-CN" dirty="0"/>
              <a:t>这样普通客户端的通信就从跟 n 相关，降成了跟 C 相关，也就是 O(C)。</a:t>
            </a:r>
          </a:p>
          <a:p>
            <a:endParaRPr lang="zh-CN" dirty="0"/>
          </a:p>
          <a:p>
            <a:r>
              <a:rPr lang="zh-CN" dirty="0"/>
              <a:t>Decryptor 因为需要接收很多客户端的 share，所以成本是 O(n)。</a:t>
            </a:r>
          </a:p>
          <a:p>
            <a:endParaRPr lang="zh-CN" dirty="0"/>
          </a:p>
          <a:p>
            <a:r>
              <a:rPr lang="zh-CN" dirty="0"/>
              <a:t>服务器整体是 O(Cn)。</a:t>
            </a:r>
          </a:p>
          <a:p>
            <a:endParaRPr lang="zh-CN" dirty="0"/>
          </a:p>
          <a:p>
            <a:r>
              <a:rPr lang="zh-CN" dirty="0"/>
              <a:t>另外，这里用了阈值秘密分享，所以不是所有 decryptor 都必须在线。即使部分 decryptor 掉线，只要剩余有效 share 达到重构门槛，服务器仍然能够恢复总密钥。</a:t>
            </a:r>
          </a:p>
          <a:p>
            <a:endParaRPr lang="zh-CN" dirty="0"/>
          </a:p>
          <a:p>
            <a:r>
              <a:rPr lang="zh-CN" dirty="0"/>
              <a:t>到这里，如果所有人诚实，基本方案已经能跑了。</a:t>
            </a:r>
          </a:p>
          <a:p>
            <a:endParaRPr lang="zh-CN" dirty="0"/>
          </a:p>
          <a:p>
            <a:r>
              <a:rPr lang="zh-CN" dirty="0"/>
              <a:t>真正困难的是下一步——恶意客户端开始乱发东西怎么办？</a:t>
            </a:r>
          </a:p>
          <a:p>
            <a:endParaRPr lang="zh-CN" dirty="0"/>
          </a:p>
          <a:p>
            <a:r>
              <a:rPr lang="zh-CN" dirty="0"/>
              <a:t>这一页的复杂度只针对内层密钥聚合。完整协议还包含长度为 ℓ 的输入处理成本，普通客户端为 O(ℓ+C)，服务器为 O(ℓn+Cn)。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现在我们把恶意客户端放进来。</a:t>
            </a:r>
          </a:p>
          <a:p>
            <a:endParaRPr lang="zh-CN" dirty="0"/>
          </a:p>
          <a:p>
            <a:r>
              <a:rPr lang="zh-CN" dirty="0"/>
              <a:t>它至少有三个地方可以作弊。</a:t>
            </a:r>
          </a:p>
          <a:p>
            <a:endParaRPr lang="zh-CN" dirty="0"/>
          </a:p>
          <a:p>
            <a:r>
              <a:rPr lang="zh-CN" dirty="0"/>
              <a:t>第一个，它可以发一个假的 y_i。</a:t>
            </a:r>
          </a:p>
          <a:p>
            <a:endParaRPr lang="zh-CN" dirty="0"/>
          </a:p>
          <a:p>
            <a:r>
              <a:rPr lang="zh-CN" dirty="0"/>
              <a:t>理论上 y_i 应该由自己的 s_i、e_i 和 x_i 按公式计算，但它完全可以随便造一个向量。</a:t>
            </a:r>
          </a:p>
          <a:p>
            <a:endParaRPr lang="zh-CN" dirty="0"/>
          </a:p>
          <a:p>
            <a:r>
              <a:rPr lang="zh-CN" dirty="0"/>
              <a:t>第二，它可以在秘密分享上作弊。</a:t>
            </a:r>
          </a:p>
          <a:p>
            <a:endParaRPr lang="zh-CN" dirty="0"/>
          </a:p>
          <a:p>
            <a:r>
              <a:rPr lang="zh-CN" dirty="0"/>
              <a:t>比如它给 decryptor 1 发一个合法 share，给 decryptor 2 发另一个完全不一致的 share。</a:t>
            </a:r>
          </a:p>
          <a:p>
            <a:endParaRPr lang="zh-CN" dirty="0"/>
          </a:p>
          <a:p>
            <a:r>
              <a:rPr lang="zh-CN" dirty="0"/>
              <a:t>第三，即使前两步全部按照协议执行，它的原始模型更新 x_i 本身也可能是非法的。</a:t>
            </a:r>
          </a:p>
          <a:p>
            <a:endParaRPr lang="zh-CN" dirty="0"/>
          </a:p>
          <a:p>
            <a:r>
              <a:rPr lang="zh-CN" dirty="0"/>
              <a:t>所以服务器需要让客户端证明：</a:t>
            </a:r>
          </a:p>
          <a:p>
            <a:endParaRPr lang="zh-CN" dirty="0"/>
          </a:p>
          <a:p>
            <a:r>
              <a:rPr lang="zh-CN" dirty="0"/>
              <a:t>‘我确实按协议算了。’</a:t>
            </a:r>
          </a:p>
          <a:p>
            <a:endParaRPr lang="zh-CN" dirty="0"/>
          </a:p>
          <a:p>
            <a:r>
              <a:rPr lang="zh-CN" dirty="0"/>
              <a:t>但问题又来了：</a:t>
            </a:r>
          </a:p>
          <a:p>
            <a:endParaRPr lang="zh-CN" dirty="0"/>
          </a:p>
          <a:p>
            <a:r>
              <a:rPr lang="zh-CN" dirty="0"/>
              <a:t>如果为了证明正确，直接把 s_i、e_i、x_i 全公开，那隐私就没了。</a:t>
            </a:r>
          </a:p>
          <a:p>
            <a:endParaRPr lang="zh-CN" dirty="0"/>
          </a:p>
          <a:p>
            <a:r>
              <a:rPr lang="zh-CN" dirty="0"/>
              <a:t>所以这里需要 Commit-and-Proof。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Commit-and-Proof 可以简单理解成两步。</a:t>
            </a:r>
          </a:p>
          <a:p>
            <a:endParaRPr lang="zh-CN" dirty="0"/>
          </a:p>
          <a:p>
            <a:r>
              <a:rPr lang="zh-CN" dirty="0"/>
              <a:t>第一步，commit。</a:t>
            </a:r>
          </a:p>
          <a:p>
            <a:endParaRPr lang="zh-CN" dirty="0"/>
          </a:p>
          <a:p>
            <a:r>
              <a:rPr lang="zh-CN" dirty="0"/>
              <a:t>客户端对自己的秘密值做承诺，比如对 s_i、e_i、x_i 做 commitment。</a:t>
            </a:r>
          </a:p>
          <a:p>
            <a:endParaRPr lang="zh-CN" dirty="0"/>
          </a:p>
          <a:p>
            <a:r>
              <a:rPr lang="zh-CN" dirty="0"/>
              <a:t>这个 commitment 有两个作用。</a:t>
            </a:r>
          </a:p>
          <a:p>
            <a:endParaRPr lang="zh-CN" dirty="0"/>
          </a:p>
          <a:p>
            <a:r>
              <a:rPr lang="zh-CN" dirty="0"/>
              <a:t>一方面它不会把值直接泄露给服务器；另一方面客户端一旦承诺了，就不能后面偷偷换一个值。</a:t>
            </a:r>
          </a:p>
          <a:p>
            <a:endParaRPr lang="zh-CN" dirty="0"/>
          </a:p>
          <a:p>
            <a:r>
              <a:rPr lang="zh-CN" dirty="0"/>
              <a:t>第二步，proof。</a:t>
            </a:r>
          </a:p>
          <a:p>
            <a:endParaRPr lang="zh-CN" dirty="0"/>
          </a:p>
          <a:p>
            <a:r>
              <a:rPr lang="zh-CN" dirty="0"/>
              <a:t>客户端要证明两类事情。</a:t>
            </a:r>
          </a:p>
          <a:p>
            <a:endParaRPr lang="zh-CN" dirty="0"/>
          </a:p>
          <a:p>
            <a:r>
              <a:rPr lang="zh-CN" dirty="0"/>
              <a:t>第一，外层的 y_i 确实满足</a:t>
            </a:r>
          </a:p>
          <a:p>
            <a:endParaRPr lang="zh-CN" dirty="0"/>
          </a:p>
          <a:p>
            <a:r>
              <a:rPr lang="zh-CN" dirty="0"/>
              <a:t>y_i=As_i+e_i+Δ x_i。</a:t>
            </a:r>
          </a:p>
          <a:p>
            <a:endParaRPr lang="zh-CN" dirty="0"/>
          </a:p>
          <a:p>
            <a:r>
              <a:rPr lang="zh-CN" dirty="0"/>
              <a:t>第二，内层发给 decryptor 的那些 share，确实来自同一个 s_i 的合法 Packed Shamir Sharing。</a:t>
            </a:r>
          </a:p>
          <a:p>
            <a:endParaRPr lang="zh-CN" dirty="0"/>
          </a:p>
          <a:p>
            <a:r>
              <a:rPr lang="zh-CN" dirty="0"/>
              <a:t>这样外层和内层就被绑在一起了。</a:t>
            </a:r>
          </a:p>
          <a:p>
            <a:endParaRPr lang="zh-CN" dirty="0"/>
          </a:p>
          <a:p>
            <a:r>
              <a:rPr lang="zh-CN" dirty="0"/>
              <a:t>也就是说，外层密文使用的密钥，和内层最终被聚合出来的密钥，必须是同一个。</a:t>
            </a:r>
          </a:p>
          <a:p>
            <a:endParaRPr lang="zh-CN" dirty="0"/>
          </a:p>
          <a:p>
            <a:r>
              <a:rPr lang="zh-CN" dirty="0"/>
              <a:t>但是这里马上又出现一个效率问题。</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这一页我认为是 Armadillo 在 proof 设计上最漂亮的地方。</a:t>
            </a:r>
          </a:p>
          <a:p>
            <a:endParaRPr lang="zh-CN" dirty="0"/>
          </a:p>
          <a:p>
            <a:r>
              <a:rPr lang="zh-CN" dirty="0"/>
              <a:t>如果按照最朴素的方法，我们需要证明 y_i 的每一个坐标都算对了。</a:t>
            </a:r>
          </a:p>
          <a:p>
            <a:endParaRPr lang="zh-CN" dirty="0"/>
          </a:p>
          <a:p>
            <a:r>
              <a:rPr lang="zh-CN" dirty="0"/>
              <a:t>假设模型长度是 ℓ，那就有 ℓ 个等式。</a:t>
            </a:r>
          </a:p>
          <a:p>
            <a:endParaRPr lang="zh-CN" dirty="0"/>
          </a:p>
          <a:p>
            <a:r>
              <a:rPr lang="zh-CN" dirty="0"/>
              <a:t>如果对每个坐标单独做证明，成本肯定接受不了。</a:t>
            </a:r>
          </a:p>
          <a:p>
            <a:endParaRPr lang="zh-CN" dirty="0"/>
          </a:p>
          <a:p>
            <a:r>
              <a:rPr lang="zh-CN" dirty="0"/>
              <a:t>作者用的是一个经典的 Schwartz–Zippel 思路。</a:t>
            </a:r>
          </a:p>
          <a:p>
            <a:endParaRPr lang="zh-CN" dirty="0"/>
          </a:p>
          <a:p>
            <a:r>
              <a:rPr lang="zh-CN" dirty="0"/>
              <a:t>证明系统使用随机挑战 r，然后构造</a:t>
            </a:r>
          </a:p>
          <a:p>
            <a:endParaRPr lang="zh-CN" dirty="0"/>
          </a:p>
          <a:p>
            <a:r>
              <a:rPr lang="zh-CN" dirty="0"/>
              <a:t>(1,r,r^2,…,r^ℓ-1)。</a:t>
            </a:r>
          </a:p>
          <a:p>
            <a:endParaRPr lang="zh-CN" dirty="0"/>
          </a:p>
          <a:p>
            <a:r>
              <a:rPr lang="zh-CN" dirty="0"/>
              <a:t>接着不再检查两个向量每个坐标是否相等，而是比较它们在这个随机点上的加权和。</a:t>
            </a:r>
          </a:p>
          <a:p>
            <a:endParaRPr lang="zh-CN" dirty="0"/>
          </a:p>
          <a:p>
            <a:r>
              <a:rPr lang="zh-CN" dirty="0"/>
              <a:t>于是原本 ℓ 个坐标上的关系，可以压缩成一个式子：</a:t>
            </a:r>
          </a:p>
          <a:p>
            <a:endParaRPr lang="zh-CN" dirty="0"/>
          </a:p>
          <a:p>
            <a:r>
              <a:rPr lang="en-US" dirty="0"/>
              <a:t>⟨ y_i,r⟩</a:t>
            </a:r>
          </a:p>
          <a:p>
            <a:endParaRPr lang="zh-CN" dirty="0"/>
          </a:p>
          <a:p>
            <a:r>
              <a:rPr lang="zh-CN" dirty="0"/>
              <a:t>等于</a:t>
            </a:r>
          </a:p>
          <a:p>
            <a:endParaRPr lang="zh-CN" dirty="0"/>
          </a:p>
          <a:p>
            <a:r>
              <a:rPr lang="zh-CN" dirty="0"/>
              <a:t>⟨ A^Tr |  r | Δ r, s_i |  e_i |  x_i⟩。</a:t>
            </a:r>
          </a:p>
          <a:p>
            <a:endParaRPr lang="zh-CN" dirty="0"/>
          </a:p>
          <a:p>
            <a:r>
              <a:rPr lang="zh-CN" dirty="0"/>
              <a:t>这个式子本质上就是一个 inner-product relation。</a:t>
            </a:r>
          </a:p>
          <a:p>
            <a:endParaRPr lang="zh-CN" dirty="0"/>
          </a:p>
          <a:p>
            <a:r>
              <a:rPr lang="zh-CN" dirty="0"/>
              <a:t>如果原来的两个向量不相等，它们却碰巧在这个随机检查上通过的概率非常低，大约是 ℓ/q。</a:t>
            </a:r>
          </a:p>
          <a:p>
            <a:endParaRPr lang="zh-CN" dirty="0"/>
          </a:p>
          <a:p>
            <a:r>
              <a:rPr lang="zh-CN" dirty="0"/>
              <a:t>因此：</a:t>
            </a:r>
          </a:p>
          <a:p>
            <a:endParaRPr lang="zh-CN" dirty="0"/>
          </a:p>
          <a:p>
            <a:r>
              <a:rPr lang="zh-CN" dirty="0"/>
              <a:t>不是去证明几万个甚至几十万个坐标，而是把它们压成一个内积关系来证明。</a:t>
            </a:r>
          </a:p>
          <a:p>
            <a:endParaRPr lang="zh-CN" dirty="0"/>
          </a:p>
          <a:p>
            <a:r>
              <a:rPr lang="zh-CN" dirty="0"/>
              <a:t>这就是 Armadillo 为什么能够把证明成本控制下来的关键。</a:t>
            </a:r>
          </a:p>
          <a:p>
            <a:endParaRPr lang="zh-CN" dirty="0"/>
          </a:p>
          <a:p>
            <a:r>
              <a:rPr lang="zh-CN" dirty="0"/>
              <a:t>挑战标量 r 与由其幂构成的向量应区分；协议实现使用 Fiat–Shamir 方式产生挑战，不因此新增一轮交互。</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所以这里我们可以总结一下它所谓的 lightweight 到底轻在哪里。</a:t>
            </a:r>
          </a:p>
          <a:p>
            <a:endParaRPr lang="zh-CN" dirty="0"/>
          </a:p>
          <a:p>
            <a:r>
              <a:rPr lang="zh-CN" dirty="0"/>
              <a:t>它并不是说零知识证明突然没有成本了。</a:t>
            </a:r>
          </a:p>
          <a:p>
            <a:endParaRPr lang="zh-CN" dirty="0"/>
          </a:p>
          <a:p>
            <a:r>
              <a:rPr lang="zh-CN" dirty="0"/>
              <a:t>而是作者从协议设计阶段，就故意让绝大部分需要证明的计算都变成 线性计算。</a:t>
            </a:r>
          </a:p>
          <a:p>
            <a:endParaRPr lang="zh-CN" dirty="0"/>
          </a:p>
          <a:p>
            <a:r>
              <a:rPr lang="zh-CN" dirty="0"/>
              <a:t>线性计算有一个好处，就是非常容易写成内积关系。</a:t>
            </a:r>
          </a:p>
          <a:p>
            <a:endParaRPr lang="zh-CN" dirty="0"/>
          </a:p>
          <a:p>
            <a:r>
              <a:rPr lang="zh-CN" dirty="0"/>
              <a:t>一旦变成内积关系，就可以直接利用已经成熟的 inner-product proof system，例如 Bulletproof。</a:t>
            </a:r>
          </a:p>
          <a:p>
            <a:endParaRPr lang="zh-CN" dirty="0"/>
          </a:p>
          <a:p>
            <a:r>
              <a:rPr lang="zh-CN" dirty="0"/>
              <a:t>这类证明的 proof size 是对数级增长的。</a:t>
            </a:r>
          </a:p>
          <a:p>
            <a:endParaRPr lang="zh-CN" dirty="0"/>
          </a:p>
          <a:p>
            <a:r>
              <a:rPr lang="zh-CN" dirty="0"/>
              <a:t>同时，服务器需要验证很多客户端的 proof，作者还进一步做了 batch verification，让多个 proof 共享相同生成元，减少重复的大规模多标量乘。</a:t>
            </a:r>
          </a:p>
          <a:p>
            <a:endParaRPr lang="zh-CN" dirty="0"/>
          </a:p>
          <a:p>
            <a:r>
              <a:rPr lang="zh-CN" dirty="0"/>
              <a:t>所以 Armadillo 的思路其实不是去发明一个万能的新 ZK 系统，而是：</a:t>
            </a:r>
          </a:p>
          <a:p>
            <a:endParaRPr lang="zh-CN" dirty="0"/>
          </a:p>
          <a:p>
            <a:r>
              <a:rPr lang="zh-CN" dirty="0"/>
              <a:t>先把协议改造成特别适合现有 proof system 的样子。</a:t>
            </a:r>
          </a:p>
          <a:p>
            <a:endParaRPr lang="zh-CN" dirty="0"/>
          </a:p>
          <a:p>
            <a:r>
              <a:rPr lang="zh-CN" dirty="0"/>
              <a:t>不过这里也要提前说一句，后面的实验会看到，proof 仍然是客户端最大的计算开销，尤其是 L_∞ 范数证明。</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前面的 proof 还没有完全解决问题。</a:t>
            </a:r>
          </a:p>
          <a:p>
            <a:endParaRPr lang="zh-CN" dirty="0"/>
          </a:p>
          <a:p>
            <a:r>
              <a:rPr lang="zh-CN" dirty="0"/>
              <a:t>论文用了一个非常直观的例子。</a:t>
            </a:r>
          </a:p>
          <a:p>
            <a:endParaRPr lang="zh-CN" dirty="0"/>
          </a:p>
          <a:p>
            <a:r>
              <a:rPr lang="zh-CN" dirty="0"/>
              <a:t>假设有三个客户端 P_1,P_2,P_3，其中 P_3 是恶意的。</a:t>
            </a:r>
          </a:p>
          <a:p>
            <a:endParaRPr lang="zh-CN" dirty="0"/>
          </a:p>
          <a:p>
            <a:r>
              <a:rPr lang="zh-CN" dirty="0"/>
              <a:t>有三个 decryptor H_1,H_2,H_3，其中 H_3 也是恶意的。</a:t>
            </a:r>
          </a:p>
          <a:p>
            <a:endParaRPr lang="zh-CN" dirty="0"/>
          </a:p>
          <a:p>
            <a:r>
              <a:rPr lang="zh-CN" dirty="0"/>
              <a:t>现在 P_3 可以给 H_1 一个合法 share，但是给 H_2 一个错误 share。</a:t>
            </a:r>
          </a:p>
          <a:p>
            <a:endParaRPr lang="zh-CN" dirty="0"/>
          </a:p>
          <a:p>
            <a:r>
              <a:rPr lang="zh-CN" dirty="0"/>
              <a:t>这样 H_1 认为有效客户端是</a:t>
            </a:r>
          </a:p>
          <a:p>
            <a:endParaRPr lang="zh-CN" dirty="0"/>
          </a:p>
          <a:p>
            <a:r>
              <a:rPr lang="zh-CN" dirty="0"/>
              <a:t>P_1,P_2,P_3，</a:t>
            </a:r>
          </a:p>
          <a:p>
            <a:endParaRPr lang="zh-CN" dirty="0"/>
          </a:p>
          <a:p>
            <a:r>
              <a:rPr lang="zh-CN" dirty="0"/>
              <a:t>而 H_2 认为只有</a:t>
            </a:r>
          </a:p>
          <a:p>
            <a:endParaRPr lang="zh-CN" dirty="0"/>
          </a:p>
          <a:p>
            <a:r>
              <a:rPr lang="zh-CN" dirty="0"/>
              <a:t>P_1,P_2。</a:t>
            </a:r>
          </a:p>
          <a:p>
            <a:endParaRPr lang="zh-CN" dirty="0"/>
          </a:p>
          <a:p>
            <a:r>
              <a:rPr lang="zh-CN" dirty="0"/>
              <a:t>如果两个 decryptor 各自把‘自己认为合法’的 share 加起来，服务器最后收到的这些 share 根本不是同一组秘密的 sharing，自然没法正确重构。</a:t>
            </a:r>
          </a:p>
          <a:p>
            <a:endParaRPr lang="zh-CN" dirty="0"/>
          </a:p>
          <a:p>
            <a:r>
              <a:rPr lang="zh-CN" dirty="0"/>
              <a:t>所以核心问题变成：</a:t>
            </a:r>
          </a:p>
          <a:p>
            <a:endParaRPr lang="zh-CN" dirty="0"/>
          </a:p>
          <a:p>
            <a:r>
              <a:rPr lang="zh-CN" dirty="0"/>
              <a:t>所有诚实 decryptor 必须对‘到底聚合哪些客户端’达成一致。</a:t>
            </a:r>
          </a:p>
          <a:p>
            <a:endParaRPr lang="zh-CN" dirty="0"/>
          </a:p>
          <a:p>
            <a:r>
              <a:rPr lang="zh-CN" dirty="0"/>
              <a:t>Armadillo 没有跑一个重型 Byzantine Consensus。</a:t>
            </a:r>
          </a:p>
          <a:p>
            <a:endParaRPr lang="zh-CN" dirty="0"/>
          </a:p>
          <a:p>
            <a:r>
              <a:rPr lang="zh-CN" dirty="0"/>
              <a:t>它利用服务器做中心协调。</a:t>
            </a:r>
          </a:p>
          <a:p>
            <a:endParaRPr lang="zh-CN" dirty="0"/>
          </a:p>
          <a:p>
            <a:r>
              <a:rPr lang="zh-CN" dirty="0"/>
              <a:t>如果 decryptor 发现某个 share 和 commitment 不一致，就向服务器提交一个 verifiable complaint。</a:t>
            </a:r>
          </a:p>
          <a:p>
            <a:endParaRPr lang="zh-CN" dirty="0"/>
          </a:p>
          <a:p>
            <a:r>
              <a:rPr lang="zh-CN" dirty="0"/>
              <a:t>Complaint 里不仅说‘它骗我’，还要给出解密结果，以及能够验证这个解密确实正确的证据。</a:t>
            </a:r>
          </a:p>
          <a:p>
            <a:endParaRPr lang="zh-CN" dirty="0"/>
          </a:p>
          <a:p>
            <a:r>
              <a:rPr lang="zh-CN" dirty="0"/>
              <a:t>服务器验证后，把所有被确认作弊的客户端组成一个集合 B，广播给所有 decryptor。</a:t>
            </a:r>
          </a:p>
          <a:p>
            <a:endParaRPr lang="zh-CN" dirty="0"/>
          </a:p>
          <a:p>
            <a:r>
              <a:rPr lang="zh-CN" dirty="0"/>
              <a:t>所有诚实 decryptor 都删掉同一个 B，于是最终它们聚合的是完全相同的一组客户端。</a:t>
            </a:r>
          </a:p>
          <a:p>
            <a:endParaRPr lang="zh-CN" dirty="0"/>
          </a:p>
          <a:p>
            <a:r>
              <a:rPr lang="zh-CN" dirty="0"/>
              <a:t>最后即使还有恶意 decryptor 发假的聚合 share，服务器还可以利用秘密分享本身的纠错能力恢复正确结果。</a:t>
            </a:r>
          </a:p>
          <a:p>
            <a:endParaRPr lang="zh-CN" dirty="0"/>
          </a:p>
          <a:p>
            <a:r>
              <a:rPr lang="zh-CN" dirty="0"/>
              <a:t>这个 Agreement Protocol 是 Armadillo 真正实现 Robustness 的另一个核心。</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现在假设一个恶意客户端特别聪明。</a:t>
            </a:r>
          </a:p>
          <a:p>
            <a:endParaRPr lang="zh-CN" dirty="0"/>
          </a:p>
          <a:p>
            <a:r>
              <a:rPr lang="zh-CN" dirty="0"/>
              <a:t>它完全按照协议生成 y_i，也完全按照协议做 secret sharing，所有 proof 都能通过。</a:t>
            </a:r>
          </a:p>
          <a:p>
            <a:endParaRPr lang="zh-CN" dirty="0"/>
          </a:p>
          <a:p>
            <a:r>
              <a:rPr lang="zh-CN" dirty="0"/>
              <a:t>但是它的 x_i 是一个极端异常的模型更新。</a:t>
            </a:r>
          </a:p>
          <a:p>
            <a:endParaRPr lang="zh-CN" dirty="0"/>
          </a:p>
          <a:p>
            <a:r>
              <a:rPr lang="zh-CN" dirty="0"/>
              <a:t>那前面的 Robustness 并不能阻止它。</a:t>
            </a:r>
          </a:p>
          <a:p>
            <a:endParaRPr lang="zh-CN" dirty="0"/>
          </a:p>
          <a:p>
            <a:r>
              <a:rPr lang="zh-CN" dirty="0"/>
              <a:t>因为 Robustness 只保证恶意客户端的影响等价于‘它选择了某个输入’，但没有限制这个输入本身。</a:t>
            </a:r>
          </a:p>
          <a:p>
            <a:endParaRPr lang="zh-CN" dirty="0"/>
          </a:p>
          <a:p>
            <a:r>
              <a:rPr lang="zh-CN" dirty="0"/>
              <a:t>所以要得到 Disruption Resistance，必须做 Input Validation。</a:t>
            </a:r>
          </a:p>
          <a:p>
            <a:endParaRPr lang="zh-CN" dirty="0"/>
          </a:p>
          <a:p>
            <a:r>
              <a:rPr lang="zh-CN" dirty="0"/>
              <a:t>论文主要采用 L_2 和 L_∞ 两种范数约束。</a:t>
            </a:r>
          </a:p>
          <a:p>
            <a:endParaRPr lang="zh-CN" dirty="0"/>
          </a:p>
          <a:p>
            <a:r>
              <a:rPr lang="zh-CN" dirty="0"/>
              <a:t>L_2 限制整个更新向量的总体规模。</a:t>
            </a:r>
          </a:p>
          <a:p>
            <a:endParaRPr lang="zh-CN" dirty="0"/>
          </a:p>
          <a:p>
            <a:r>
              <a:rPr lang="zh-CN" dirty="0"/>
              <a:t>L_∞ 限制任意单个坐标最大能有多大，防止某一个参数突然出现非常大的尖峰。</a:t>
            </a:r>
          </a:p>
          <a:p>
            <a:endParaRPr lang="zh-CN" dirty="0"/>
          </a:p>
          <a:p>
            <a:r>
              <a:rPr lang="zh-CN" dirty="0"/>
              <a:t>此外噪声 e_i 也需要限制 L_∞ 范数，否则所有客户端的噪声加起来以后可能导致 Regev 解密失败。</a:t>
            </a:r>
          </a:p>
          <a:p>
            <a:endParaRPr lang="zh-CN" dirty="0"/>
          </a:p>
          <a:p>
            <a:r>
              <a:rPr lang="zh-CN" dirty="0"/>
              <a:t>这里有一个很重要的边界：</a:t>
            </a:r>
          </a:p>
          <a:p>
            <a:endParaRPr lang="zh-CN" dirty="0"/>
          </a:p>
          <a:p>
            <a:r>
              <a:rPr lang="zh-CN" dirty="0"/>
              <a:t>合法输入不等于良性输入。</a:t>
            </a:r>
          </a:p>
          <a:p>
            <a:endParaRPr lang="zh-CN" dirty="0"/>
          </a:p>
          <a:p>
            <a:r>
              <a:rPr lang="zh-CN" dirty="0"/>
              <a:t>输入验证能挡住越界更新，但不能证明这个模型更新在机器学习意义上一定是好的。这一点后面我会再讨论。</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下面看实验。</a:t>
            </a:r>
          </a:p>
          <a:p>
            <a:endParaRPr lang="zh-CN" dirty="0"/>
          </a:p>
          <a:p>
            <a:r>
              <a:rPr lang="zh-CN" dirty="0"/>
              <a:t>作者用 Rust 实现 Armadillo，证明系统采用 Bulletproof，底层使用 Ristretto group。</a:t>
            </a:r>
          </a:p>
          <a:p>
            <a:endParaRPr lang="zh-CN" dirty="0"/>
          </a:p>
          <a:p>
            <a:r>
              <a:rPr lang="zh-CN" dirty="0"/>
              <a:t>主要对比对象是 ACORN-robust。</a:t>
            </a:r>
          </a:p>
          <a:p>
            <a:endParaRPr lang="zh-CN" dirty="0"/>
          </a:p>
          <a:p>
            <a:r>
              <a:rPr lang="zh-CN" dirty="0"/>
              <a:t>为什么选它？</a:t>
            </a:r>
          </a:p>
          <a:p>
            <a:endParaRPr lang="zh-CN" dirty="0"/>
          </a:p>
          <a:p>
            <a:r>
              <a:rPr lang="zh-CN" dirty="0"/>
              <a:t>因为在已有单服务器方案里，ACORN-robust 是少数同时有 input validation 和较强 robustness，而且客户端成本还比较合理的方案。</a:t>
            </a:r>
          </a:p>
          <a:p>
            <a:endParaRPr lang="zh-CN" dirty="0"/>
          </a:p>
          <a:p>
            <a:r>
              <a:rPr lang="zh-CN" dirty="0"/>
              <a:t>参数方面，论文把 λ 设成 256，p=2^16，支持到 5000 个客户端，对应的 LWE 参数估算安全性大约是 132 bit。</a:t>
            </a:r>
          </a:p>
          <a:p>
            <a:endParaRPr lang="zh-CN" dirty="0"/>
          </a:p>
          <a:p>
            <a:r>
              <a:rPr lang="zh-CN" dirty="0"/>
              <a:t>实验中的模型更新向量最大做到一百万维。</a:t>
            </a:r>
          </a:p>
          <a:p>
            <a:endParaRPr lang="zh-CN" dirty="0"/>
          </a:p>
          <a:p>
            <a:r>
              <a:rPr lang="zh-CN" dirty="0"/>
              <a:t>这里也要注意作者自己明确给出的适用范围：</a:t>
            </a:r>
          </a:p>
          <a:p>
            <a:endParaRPr lang="zh-CN" dirty="0"/>
          </a:p>
          <a:p>
            <a:r>
              <a:rPr lang="zh-CN" dirty="0"/>
              <a:t>Armadillo 面向的是 mobile 或 edge 上的小规模模型；非常大的模型，例如 LLM，并不是本文要解决的目标。</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现在来到我认为这篇论文最有系统意义的实验结论。</a:t>
            </a:r>
          </a:p>
          <a:p>
            <a:endParaRPr lang="zh-CN" dirty="0"/>
          </a:p>
          <a:p>
            <a:r>
              <a:rPr lang="zh-CN" dirty="0"/>
              <a:t>为什么作者这么在乎 3 轮？</a:t>
            </a:r>
          </a:p>
          <a:p>
            <a:endParaRPr lang="zh-CN" dirty="0"/>
          </a:p>
          <a:p>
            <a:r>
              <a:rPr lang="zh-CN" dirty="0"/>
              <a:t>因为联邦学习里一轮通信的成本，并不只是发几 KB 或几 MB 数据。</a:t>
            </a:r>
          </a:p>
          <a:p>
            <a:endParaRPr lang="zh-CN" dirty="0"/>
          </a:p>
          <a:p>
            <a:r>
              <a:rPr lang="zh-CN" dirty="0"/>
              <a:t>更大的成本往往是：</a:t>
            </a:r>
          </a:p>
          <a:p>
            <a:endParaRPr lang="zh-CN" dirty="0"/>
          </a:p>
          <a:p>
            <a:r>
              <a:rPr lang="zh-CN" dirty="0"/>
              <a:t>Server 要等客户端。</a:t>
            </a:r>
          </a:p>
          <a:p>
            <a:endParaRPr lang="zh-CN" dirty="0"/>
          </a:p>
          <a:p>
            <a:r>
              <a:rPr lang="zh-CN" dirty="0"/>
              <a:t>Armadillo 总共只有 3 轮。</a:t>
            </a:r>
          </a:p>
          <a:p>
            <a:endParaRPr lang="zh-CN" dirty="0"/>
          </a:p>
          <a:p>
            <a:r>
              <a:rPr lang="zh-CN" dirty="0"/>
              <a:t>第一轮和所有普通客户端交互，收集密文、commitment、proof 和加密 share。</a:t>
            </a:r>
          </a:p>
          <a:p>
            <a:endParaRPr lang="zh-CN" dirty="0"/>
          </a:p>
          <a:p>
            <a:r>
              <a:rPr lang="zh-CN" dirty="0"/>
              <a:t>第二轮主要和 decryptor 交互，验证 share，并收集 complaint。</a:t>
            </a:r>
          </a:p>
          <a:p>
            <a:endParaRPr lang="zh-CN" dirty="0"/>
          </a:p>
          <a:p>
            <a:r>
              <a:rPr lang="zh-CN" dirty="0"/>
              <a:t>第三轮服务器统一告诉 decryptor 哪些恶意客户端需要移除，然后 decryptor 返回聚合后的 share，服务器重构总密钥完成解密。</a:t>
            </a:r>
          </a:p>
          <a:p>
            <a:endParaRPr lang="zh-CN" dirty="0"/>
          </a:p>
          <a:p>
            <a:r>
              <a:rPr lang="zh-CN" dirty="0"/>
              <a:t>对比 ACORN-robust，在论文测试的不同客户端规模和恶意比例下，ACORN-robust 大约需要 9 到 13 轮，而 Armadillo 始终是 3 轮。</a:t>
            </a:r>
          </a:p>
          <a:p>
            <a:endParaRPr lang="zh-CN" dirty="0"/>
          </a:p>
          <a:p>
            <a:r>
              <a:rPr lang="zh-CN" dirty="0"/>
              <a:t>更关键的是，ACORN 的这些轮次里还反复涉及大量客户端；Armadillo 只有第一轮需要所有客户端，后两轮主要由 decryptor committee 完成。</a:t>
            </a:r>
          </a:p>
          <a:p>
            <a:endParaRPr lang="zh-CN" dirty="0"/>
          </a:p>
          <a:p>
            <a:r>
              <a:rPr lang="zh-CN" dirty="0"/>
              <a:t>所以这里的优势并不是简单的‘3 比 10 小’。</a:t>
            </a:r>
          </a:p>
          <a:p>
            <a:endParaRPr lang="zh-CN" dirty="0"/>
          </a:p>
          <a:p>
            <a:r>
              <a:rPr lang="zh-CN" dirty="0"/>
              <a:t>轮数越多，每一轮都多一次等待最慢客户端的机会。</a:t>
            </a:r>
          </a:p>
          <a:p>
            <a:endParaRPr lang="zh-CN" dirty="0"/>
          </a:p>
          <a:p>
            <a:r>
              <a:rPr lang="zh-CN" dirty="0"/>
              <a:t>三轮不包含一次性设置。ACORN-robust 的 9 到 13 轮是论文所列规模和恶意比例下的 90% 分位界；等待与端到端时间是指定网络到达模型下的模拟结果。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把实验结果综合起来看，我觉得这篇论文其实是在做一种很明确的 trade-off。</a:t>
            </a:r>
          </a:p>
          <a:p>
            <a:endParaRPr lang="zh-CN" dirty="0"/>
          </a:p>
          <a:p>
            <a:r>
              <a:rPr lang="zh-CN" dirty="0"/>
              <a:t>它不是让客户端所有事情都变得更便宜。</a:t>
            </a:r>
          </a:p>
          <a:p>
            <a:endParaRPr lang="zh-CN" dirty="0"/>
          </a:p>
          <a:p>
            <a:r>
              <a:rPr lang="zh-CN" dirty="0"/>
              <a:t>相反，客户端最重的部分还是 proof generation。</a:t>
            </a:r>
          </a:p>
          <a:p>
            <a:endParaRPr lang="zh-CN" dirty="0"/>
          </a:p>
          <a:p>
            <a:r>
              <a:rPr lang="zh-CN" dirty="0"/>
              <a:t>特别是 L_∞ 范数证明，在输入长度接近 2^14 时已经超过 14 秒。</a:t>
            </a:r>
          </a:p>
          <a:p>
            <a:endParaRPr lang="zh-CN" dirty="0"/>
          </a:p>
          <a:p>
            <a:r>
              <a:rPr lang="zh-CN" dirty="0"/>
              <a:t>而 Armadillo 为了实现 robustness，比 ACORN 还会多出大概一到两秒的证明工作。</a:t>
            </a:r>
          </a:p>
          <a:p>
            <a:endParaRPr lang="zh-CN" dirty="0"/>
          </a:p>
          <a:p>
            <a:r>
              <a:rPr lang="zh-CN" dirty="0"/>
              <a:t>但是它用这些额外计算换来了非常少的通信轮次。</a:t>
            </a:r>
          </a:p>
          <a:p>
            <a:endParaRPr lang="zh-CN" dirty="0"/>
          </a:p>
          <a:p>
            <a:r>
              <a:rPr lang="zh-CN" dirty="0"/>
              <a:t>Decryptor 的成本随着客户端数量线性增长，例如 1000 个客户端时 RSA 解密大约是 1.2 秒，2000 个客户端大约 2.4 秒。</a:t>
            </a:r>
          </a:p>
          <a:p>
            <a:endParaRPr lang="zh-CN" dirty="0"/>
          </a:p>
          <a:p>
            <a:r>
              <a:rPr lang="zh-CN" dirty="0"/>
              <a:t>服务器端在论文展示的规模下仍然保持在几秒量级，并且 batch verification 能明显降低 proof verification 的占比。</a:t>
            </a:r>
          </a:p>
          <a:p>
            <a:endParaRPr lang="zh-CN" dirty="0"/>
          </a:p>
          <a:p>
            <a:r>
              <a:rPr lang="zh-CN" dirty="0"/>
              <a:t>真正拉开差距的是网络等待。</a:t>
            </a:r>
          </a:p>
          <a:p>
            <a:endParaRPr lang="zh-CN" dirty="0"/>
          </a:p>
          <a:p>
            <a:r>
              <a:rPr lang="zh-CN" dirty="0"/>
              <a:t>对于 1000 个客户端和 10% 总掉线率，Armadillo 大约只需要等 12 秒，而 ACORN 根据恶意比例不同，需要 90 到 130 秒。</a:t>
            </a:r>
          </a:p>
          <a:p>
            <a:endParaRPr lang="zh-CN" dirty="0"/>
          </a:p>
          <a:p>
            <a:r>
              <a:rPr lang="zh-CN" dirty="0"/>
              <a:t>所以从端到端看，论文最终得到的是大约 5 到 7 倍 的运行时间改进。</a:t>
            </a:r>
          </a:p>
          <a:p>
            <a:endParaRPr lang="zh-CN" dirty="0"/>
          </a:p>
          <a:p>
            <a:r>
              <a:rPr lang="zh-CN" dirty="0"/>
              <a:t>因此这篇论文的核心工程判断可以概括成一句话：</a:t>
            </a:r>
          </a:p>
          <a:p>
            <a:endParaRPr lang="zh-CN" dirty="0"/>
          </a:p>
          <a:p>
            <a:r>
              <a:rPr lang="zh-CN" dirty="0"/>
              <a:t>在联邦学习里，多做一点本地计算，有时比多跑很多轮网络交互便宜得多。</a:t>
            </a:r>
          </a:p>
          <a:p>
            <a:endParaRPr lang="zh-CN" dirty="0"/>
          </a:p>
          <a:p>
            <a:r>
              <a:rPr lang="zh-CN" dirty="0"/>
              <a:t>三轮不包含一次性设置。ACORN-robust 的 9 到 13 轮是论文所列规模和恶意比例下的 90% 分位界；等待与端到端时间是指定网络到达模型下的模拟结果。</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到这里我想用这一页总结我对 Armadillo 贡献的理解。</a:t>
            </a:r>
          </a:p>
          <a:p>
            <a:endParaRPr lang="zh-CN" dirty="0"/>
          </a:p>
          <a:p>
            <a:r>
              <a:rPr lang="zh-CN" dirty="0"/>
              <a:t>我觉得它最有价值的地方，并不是单独提出了某一个全新的密码学 primitive。</a:t>
            </a:r>
          </a:p>
          <a:p>
            <a:endParaRPr lang="zh-CN" dirty="0"/>
          </a:p>
          <a:p>
            <a:r>
              <a:rPr lang="zh-CN" dirty="0"/>
              <a:t>而是把几个技术组合成了一条非常完整的系统路线。</a:t>
            </a:r>
          </a:p>
          <a:p>
            <a:endParaRPr lang="zh-CN" dirty="0"/>
          </a:p>
          <a:p>
            <a:r>
              <a:rPr lang="zh-CN" dirty="0"/>
              <a:t>第一，大模型向量不好直接做安全聚合，就用两层结构，把核心安全聚合转化成短密钥聚合。</a:t>
            </a:r>
          </a:p>
          <a:p>
            <a:endParaRPr lang="zh-CN" dirty="0"/>
          </a:p>
          <a:p>
            <a:r>
              <a:rPr lang="zh-CN" dirty="0"/>
              <a:t>第二，恶意客户端可能乱算，就把协议计算尽量线性化，再利用 commitment 和 inner-product proof 去验证。</a:t>
            </a:r>
          </a:p>
          <a:p>
            <a:endParaRPr lang="zh-CN" dirty="0"/>
          </a:p>
          <a:p>
            <a:r>
              <a:rPr lang="zh-CN" dirty="0"/>
              <a:t>第三，多个 decryptor 可能看到不同的客户端集合，就增加 Agreement Protocol，让所有诚实 decryptor 最终聚合同一组客户端。</a:t>
            </a:r>
          </a:p>
          <a:p>
            <a:endParaRPr lang="zh-CN" dirty="0"/>
          </a:p>
          <a:p>
            <a:r>
              <a:rPr lang="zh-CN" dirty="0"/>
              <a:t>第四，即使协议行为完全合法，输入还可能异常，所以再加入 L_2、L_∞ input validation。</a:t>
            </a:r>
          </a:p>
          <a:p>
            <a:endParaRPr lang="zh-CN" dirty="0"/>
          </a:p>
          <a:p>
            <a:r>
              <a:rPr lang="zh-CN" dirty="0"/>
              <a:t>最终把 Privacy、Dropout Resilience、Robustness 和 Disruption Resistance 这几件事统一到一个固定 3 轮的协议里。</a:t>
            </a:r>
          </a:p>
          <a:p>
            <a:endParaRPr lang="zh-CN" dirty="0"/>
          </a:p>
          <a:p>
            <a:r>
              <a:rPr lang="zh-CN" dirty="0"/>
              <a:t>我认为这才是这篇论文真正完整的技术闭环。</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最后我想讲四个我自己在读这篇论文之后比较关心的问题。</a:t>
            </a:r>
          </a:p>
          <a:p>
            <a:endParaRPr lang="zh-CN" dirty="0"/>
          </a:p>
          <a:p>
            <a:r>
              <a:rPr lang="zh-CN" dirty="0"/>
              <a:t>第一个，是 模型规模继续增大以后怎么办。</a:t>
            </a:r>
          </a:p>
          <a:p>
            <a:endParaRPr lang="zh-CN" dirty="0"/>
          </a:p>
          <a:p>
            <a:r>
              <a:rPr lang="zh-CN" dirty="0"/>
              <a:t>作者自己明确说，这篇论文针对的是 mobile 和 edge 上的小模型，大模型尤其是 LLM 不在讨论范围。</a:t>
            </a:r>
          </a:p>
          <a:p>
            <a:endParaRPr lang="zh-CN" dirty="0"/>
          </a:p>
          <a:p>
            <a:r>
              <a:rPr lang="zh-CN" dirty="0"/>
              <a:t>而从实验也可以看到，客户端主要开销来自 proof，并且会随输入长度增加，特别是 L_∞ proof 已经是最大的瓶颈。</a:t>
            </a:r>
          </a:p>
          <a:p>
            <a:endParaRPr lang="zh-CN" dirty="0"/>
          </a:p>
          <a:p>
            <a:r>
              <a:rPr lang="zh-CN" dirty="0"/>
              <a:t>所以如果把输入规模再增加一到两个数量级，这套方案是否还能维持可接受的客户端成本，我觉得是一个很直接的问题。</a:t>
            </a:r>
          </a:p>
          <a:p>
            <a:endParaRPr lang="zh-CN" dirty="0"/>
          </a:p>
          <a:p>
            <a:r>
              <a:rPr lang="zh-CN" dirty="0"/>
              <a:t>第二个，是 decryptor 的可扩展性。</a:t>
            </a:r>
          </a:p>
          <a:p>
            <a:endParaRPr lang="zh-CN" dirty="0"/>
          </a:p>
          <a:p>
            <a:r>
              <a:rPr lang="zh-CN" dirty="0"/>
              <a:t>普通客户端成本通过抽样 decryptor 降下来了，但代价是 decryptor 要处理来自大量客户端的 share，所以它的计算量是 O(n)。</a:t>
            </a:r>
          </a:p>
          <a:p>
            <a:endParaRPr lang="zh-CN" dirty="0"/>
          </a:p>
          <a:p>
            <a:r>
              <a:rPr lang="zh-CN" dirty="0"/>
              <a:t>实验里 RSA 解密从 500 个客户端的 0.6 秒增长到 2000 个客户端的 2.4 秒，线性关系非常明显。</a:t>
            </a:r>
          </a:p>
          <a:p>
            <a:endParaRPr lang="zh-CN" dirty="0"/>
          </a:p>
          <a:p>
            <a:r>
              <a:rPr lang="zh-CN" dirty="0"/>
              <a:t>在论文目前的规模里这还不是瓶颈，但如果客户端数量进一步增大，或者 decryptor 自身也是比较弱的边缘设备，这个成本可能会越来越突出。</a:t>
            </a:r>
          </a:p>
          <a:p>
            <a:endParaRPr lang="zh-CN" dirty="0"/>
          </a:p>
          <a:p>
            <a:r>
              <a:rPr lang="zh-CN" dirty="0"/>
              <a:t>第三个，是 Disruption Resistance 到底保护到了什么程度。</a:t>
            </a:r>
          </a:p>
          <a:p>
            <a:endParaRPr lang="zh-CN" dirty="0"/>
          </a:p>
          <a:p>
            <a:r>
              <a:rPr lang="zh-CN" dirty="0"/>
              <a:t>这篇论文保证的是恶意客户端只能提交满足 L_2、L_∞ 约束的输入。</a:t>
            </a:r>
          </a:p>
          <a:p>
            <a:endParaRPr lang="zh-CN" dirty="0"/>
          </a:p>
          <a:p>
            <a:r>
              <a:rPr lang="zh-CN" dirty="0"/>
              <a:t>但是满足范数限制不意味着这个更新一定是良性的。</a:t>
            </a:r>
          </a:p>
          <a:p>
            <a:endParaRPr lang="zh-CN" dirty="0"/>
          </a:p>
          <a:p>
            <a:r>
              <a:rPr lang="zh-CN" dirty="0"/>
              <a:t>一个攻击者仍然可能精心设计一个范数完全合法，但是方向上有害的 model update。</a:t>
            </a:r>
          </a:p>
          <a:p>
            <a:endParaRPr lang="zh-CN" dirty="0"/>
          </a:p>
          <a:p>
            <a:r>
              <a:rPr lang="zh-CN" dirty="0"/>
              <a:t>论文自己也承认，复杂攻击可以绕过 norm-based safeguard，所以它更像是一个非常实用的第一道防线，而不是完整解决模型投毒。</a:t>
            </a:r>
          </a:p>
          <a:p>
            <a:endParaRPr lang="zh-CN" dirty="0"/>
          </a:p>
          <a:p>
            <a:r>
              <a:rPr lang="zh-CN" dirty="0"/>
              <a:t>第四个问题和 Regev 的噪声有关。</a:t>
            </a:r>
          </a:p>
          <a:p>
            <a:endParaRPr lang="zh-CN" dirty="0"/>
          </a:p>
          <a:p>
            <a:r>
              <a:rPr lang="zh-CN" dirty="0"/>
              <a:t>为了正确解密，所有客户端噪声累积以后不能太大。</a:t>
            </a:r>
          </a:p>
          <a:p>
            <a:endParaRPr lang="zh-CN" dirty="0"/>
          </a:p>
          <a:p>
            <a:r>
              <a:rPr lang="zh-CN" dirty="0"/>
              <a:t>论文给出的条件是：</a:t>
            </a:r>
          </a:p>
          <a:p>
            <a:endParaRPr lang="zh-CN" dirty="0"/>
          </a:p>
          <a:p>
            <a:r>
              <a:rPr lang="zh-CN" dirty="0"/>
              <a:t>nB_e&lt;Δ/2，</a:t>
            </a:r>
          </a:p>
          <a:p>
            <a:endParaRPr lang="zh-CN" dirty="0"/>
          </a:p>
          <a:p>
            <a:r>
              <a:rPr lang="zh-CN" dirty="0"/>
              <a:t>进一步可以近似写成</a:t>
            </a:r>
          </a:p>
          <a:p>
            <a:endParaRPr lang="zh-CN" dirty="0"/>
          </a:p>
          <a:p>
            <a:r>
              <a:rPr lang="zh-CN" dirty="0"/>
              <a:t>2pnB_e&lt;q。</a:t>
            </a:r>
          </a:p>
          <a:p>
            <a:endParaRPr lang="zh-CN" dirty="0"/>
          </a:p>
          <a:p>
            <a:r>
              <a:rPr lang="zh-CN" dirty="0"/>
              <a:t>也就是说，客户端数 n、明文模数 p、密文模数 q、噪声范围 B_e 是耦合的。</a:t>
            </a:r>
          </a:p>
          <a:p>
            <a:endParaRPr lang="zh-CN" dirty="0"/>
          </a:p>
          <a:p>
            <a:r>
              <a:rPr lang="zh-CN" dirty="0"/>
              <a:t>但另一方面，噪声又和 LWE 安全性有关。</a:t>
            </a:r>
          </a:p>
          <a:p>
            <a:endParaRPr lang="zh-CN" dirty="0"/>
          </a:p>
          <a:p>
            <a:r>
              <a:rPr lang="zh-CN" dirty="0"/>
              <a:t>所以我理解后续更系统的参数优化问题应该是：</a:t>
            </a:r>
          </a:p>
          <a:p>
            <a:endParaRPr lang="zh-CN" dirty="0"/>
          </a:p>
          <a:p>
            <a:r>
              <a:rPr lang="zh-CN" dirty="0"/>
              <a:t>在满足解密正确性的上界下，同时选择 error distribution、λ、q 和 proof system 参数，使安全性和实际计算成本达到一个更好的平衡。</a:t>
            </a:r>
          </a:p>
          <a:p>
            <a:endParaRPr lang="zh-CN" dirty="0"/>
          </a:p>
          <a:p>
            <a:r>
              <a:rPr lang="zh-CN" dirty="0"/>
              <a:t>这是我觉得这篇论文留下的一个比较有意思的工程问题。</a:t>
            </a:r>
          </a:p>
          <a:p>
            <a:endParaRPr lang="zh-CN" dirty="0"/>
          </a:p>
          <a:p>
            <a:r>
              <a:rPr lang="zh-CN" dirty="0"/>
              <a:t>如果服务器真正恶意而不只是半诚实，本文正式安全证明不能直接套用。作者还讨论了某些恶意服务器隐私证明与输入验证证明之间的兼容问题。</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02F7-E14A-9A16-5FD8-60A1CA240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CEBF3-EBB1-E281-517C-39534934CF6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34FDFFC-D57C-A522-8F52-E7946651DAA6}"/>
              </a:ext>
            </a:extLst>
          </p:cNvPr>
          <p:cNvSpPr>
            <a:spLocks noGrp="1"/>
          </p:cNvSpPr>
          <p:nvPr>
            <p:ph type="body" sz="quarter" idx="3"/>
          </p:nvPr>
        </p:nvSpPr>
        <p:spPr/>
        <p:txBody>
          <a:bodyPr/>
          <a:lstStyle/>
          <a:p>
            <a:r>
              <a:rPr lang="zh-CN" altLang="zh-CN" dirty="0"/>
              <a:t>最后总结一下。</a:t>
            </a:r>
          </a:p>
          <a:p>
            <a:endParaRPr lang="zh-CN" altLang="zh-CN" dirty="0"/>
          </a:p>
          <a:p>
            <a:r>
              <a:rPr lang="zh-CN" altLang="zh-CN" dirty="0"/>
              <a:t>Armadillo 解决的问题不是单纯的隐私聚合，而是在单服务器联邦学习里，同时面对客户端掉线和恶意行为。</a:t>
            </a:r>
          </a:p>
          <a:p>
            <a:endParaRPr lang="zh-CN" altLang="zh-CN" dirty="0"/>
          </a:p>
          <a:p>
            <a:r>
              <a:rPr lang="zh-CN" altLang="zh-CN" dirty="0"/>
              <a:t>它最核心的设计，是用 Regev 的 key-and-message homomorphism，把大向量聚合转化成小密钥聚合；再利用 commitment、inner-product proof 和 Agreement Protocol 保证客户端无法通过协议作弊；最后加入输入验证，把 Robustness 提升到 Disruption Resistance。</a:t>
            </a:r>
          </a:p>
          <a:p>
            <a:endParaRPr lang="zh-CN" altLang="zh-CN" dirty="0"/>
          </a:p>
          <a:p>
            <a:r>
              <a:rPr lang="zh-CN" altLang="zh-CN" dirty="0"/>
              <a:t>它最终最有辨识度的系统结果，就是在这个安全目标下仍然保持固定 3 轮交互，并通过减少网络等待显著降低端到端时间。</a:t>
            </a:r>
          </a:p>
          <a:p>
            <a:endParaRPr lang="zh-CN" altLang="zh-CN" dirty="0"/>
          </a:p>
          <a:p>
            <a:r>
              <a:rPr lang="zh-CN" altLang="zh-CN" dirty="0"/>
              <a:t>我的汇报就到这里，谢谢大家。</a:t>
            </a:r>
          </a:p>
        </p:txBody>
      </p:sp>
    </p:spTree>
    <p:extLst>
      <p:ext uri="{BB962C8B-B14F-4D97-AF65-F5344CB8AC3E}">
        <p14:creationId xmlns:p14="http://schemas.microsoft.com/office/powerpoint/2010/main" val="368559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552235"/>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alpha val="50000"/>
          </a:schemeClr>
        </a:solidFill>
        <a:effectLst/>
      </p:bgPr>
    </p:bg>
    <p:spTree>
      <p:nvGrpSpPr>
        <p:cNvPr id="1" name=""/>
        <p:cNvGrpSpPr/>
        <p:nvPr/>
      </p:nvGrpSpPr>
      <p:grpSpPr>
        <a:xfrm>
          <a:off x="0" y="0"/>
          <a:ext cx="0" cy="0"/>
          <a:chOff x="0" y="0"/>
          <a:chExt cx="0" cy="0"/>
        </a:xfrm>
      </p:grpSpPr>
      <p:grpSp>
        <p:nvGrpSpPr>
          <p:cNvPr id="6" name="组合 5"/>
          <p:cNvGrpSpPr/>
          <p:nvPr userDrawn="1"/>
        </p:nvGrpSpPr>
        <p:grpSpPr>
          <a:xfrm>
            <a:off x="0" y="-1"/>
            <a:ext cx="1857829" cy="1181101"/>
            <a:chOff x="0" y="0"/>
            <a:chExt cx="2590667" cy="4976958"/>
          </a:xfrm>
        </p:grpSpPr>
        <p:sp>
          <p:nvSpPr>
            <p:cNvPr id="7" name="矩形 1"/>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p:cNvCxnSpPr/>
          <p:nvPr userDrawn="1"/>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0489536"/>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99081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72750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128355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2735101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2804149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529819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65982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1969673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3852411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327675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
        <p:nvSpPr>
          <p:cNvPr id="7" name="TextBox 6"/>
          <p:cNvSpPr txBox="1"/>
          <p:nvPr userDrawn="1"/>
        </p:nvSpPr>
        <p:spPr>
          <a:xfrm>
            <a:off x="1588390" y="6712767"/>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Tree>
    <p:extLst>
      <p:ext uri="{BB962C8B-B14F-4D97-AF65-F5344CB8AC3E}">
        <p14:creationId xmlns:p14="http://schemas.microsoft.com/office/powerpoint/2010/main" val="3752463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1855413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883380-73F4-42EE-890D-E3FFD974BA78}" type="datetimeFigureOut">
              <a:rPr lang="zh-CN" altLang="en-US" smtClean="0"/>
              <a:t>2026/10/2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EDA240-8211-4705-8A71-3A39923BF82D}" type="slidenum">
              <a:rPr lang="zh-CN" altLang="en-US" smtClean="0"/>
              <a:t>‹#›</a:t>
            </a:fld>
            <a:endParaRPr lang="zh-CN" altLang="en-US"/>
          </a:p>
        </p:txBody>
      </p:sp>
    </p:spTree>
    <p:extLst>
      <p:ext uri="{BB962C8B-B14F-4D97-AF65-F5344CB8AC3E}">
        <p14:creationId xmlns:p14="http://schemas.microsoft.com/office/powerpoint/2010/main" val="42653339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515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C2D831D-0604-41F7-A337-F1AC1257C2FF}" type="datetimeFigureOut">
              <a:rPr lang="zh-CN" altLang="en-US" smtClean="0"/>
              <a:t>2026/10/2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E4AC72-BA51-437E-8D85-A7DD916C4313}" type="slidenum">
              <a:rPr lang="zh-CN" altLang="en-US" smtClean="0"/>
              <a:t>‹#›</a:t>
            </a:fld>
            <a:endParaRPr lang="zh-CN" altLang="en-US"/>
          </a:p>
        </p:txBody>
      </p:sp>
    </p:spTree>
    <p:extLst>
      <p:ext uri="{BB962C8B-B14F-4D97-AF65-F5344CB8AC3E}">
        <p14:creationId xmlns:p14="http://schemas.microsoft.com/office/powerpoint/2010/main" val="2852892448"/>
      </p:ext>
    </p:extLst>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2026/10/2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814330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2026/10/2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286276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925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958582E-2FB7-48C2-B676-350362D544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99298CF-5D83-4F7F-9D47-6C1D464C5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05CD7B-3DCF-4D6F-B1BE-8D3247B465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883380-73F4-42EE-890D-E3FFD974BA78}" type="datetimeFigureOut">
              <a:rPr lang="zh-CN" altLang="en-US" smtClean="0"/>
              <a:t>2026/10/2</a:t>
            </a:fld>
            <a:endParaRPr lang="zh-CN" altLang="en-US"/>
          </a:p>
        </p:txBody>
      </p:sp>
      <p:sp>
        <p:nvSpPr>
          <p:cNvPr id="5" name="页脚占位符 4">
            <a:extLst>
              <a:ext uri="{FF2B5EF4-FFF2-40B4-BE49-F238E27FC236}">
                <a16:creationId xmlns:a16="http://schemas.microsoft.com/office/drawing/2014/main" id="{7DE9B42E-5379-41D9-8026-5E29037ECA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C7B4052-979C-44C5-80F4-D39CFF8934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EDA240-8211-4705-8A71-3A39923BF82D}" type="slidenum">
              <a:rPr lang="zh-CN" altLang="en-US" smtClean="0"/>
              <a:t>‹#›</a:t>
            </a:fld>
            <a:endParaRPr lang="zh-CN" altLang="en-US"/>
          </a:p>
        </p:txBody>
      </p:sp>
      <p:pic>
        <p:nvPicPr>
          <p:cNvPr id="7" name="图片 6">
            <a:extLst>
              <a:ext uri="{FF2B5EF4-FFF2-40B4-BE49-F238E27FC236}">
                <a16:creationId xmlns:a16="http://schemas.microsoft.com/office/drawing/2014/main" id="{8319E782-4D98-219B-A760-75C5259C2359}"/>
              </a:ext>
            </a:extLst>
          </p:cNvPr>
          <p:cNvPicPr>
            <a:picLocks noChangeAspect="1"/>
          </p:cNvPicPr>
          <p:nvPr userDrawn="1"/>
        </p:nvPicPr>
        <p:blipFill>
          <a:blip r:embed="rId19" cstate="print">
            <a:extLst>
              <a:ext uri="{BEBA8EAE-BF5A-486C-A8C5-ECC9F3942E4B}">
                <a14:imgProps xmlns:a14="http://schemas.microsoft.com/office/drawing/2010/main">
                  <a14:imgLayer r:embed="rId20">
                    <a14:imgEffect>
                      <a14:backgroundRemoval t="10000" b="90000" l="10000" r="90000">
                        <a14:foregroundMark x1="39201" y1="40420" x2="39201" y2="40420"/>
                        <a14:foregroundMark x1="34253" y1="51706" x2="34253" y2="51706"/>
                        <a14:foregroundMark x1="52141" y1="68504" x2="52141" y2="68504"/>
                        <a14:foregroundMark x1="56613" y1="50394" x2="56613" y2="50394"/>
                        <a14:foregroundMark x1="58135" y1="55906" x2="58135" y2="55906"/>
                        <a14:foregroundMark x1="61180" y1="67979" x2="61180" y2="67979"/>
                        <a14:foregroundMark x1="67650" y1="59580" x2="67650" y2="59580"/>
                        <a14:foregroundMark x1="74405" y1="58530" x2="74405" y2="58530"/>
                        <a14:foregroundMark x1="77355" y1="52493" x2="77355" y2="52493"/>
                        <a14:foregroundMark x1="83539" y1="38845" x2="83539" y2="38845"/>
                        <a14:foregroundMark x1="83730" y1="39108" x2="83730" y2="39108"/>
                        <a14:foregroundMark x1="83635" y1="39108" x2="83635" y2="39108"/>
                        <a14:foregroundMark x1="83635" y1="39370" x2="83635" y2="39370"/>
                        <a14:foregroundMark x1="83539" y1="38320" x2="83539" y2="38320"/>
                        <a14:foregroundMark x1="83539" y1="39108" x2="83539" y2="39108"/>
                        <a14:foregroundMark x1="79829" y1="59055" x2="79829" y2="59055"/>
                        <a14:foregroundMark x1="70885" y1="65092" x2="70885" y2="65092"/>
                        <a14:foregroundMark x1="70790" y1="65879" x2="70790" y2="65879"/>
                        <a14:foregroundMark x1="58135" y1="55381" x2="58135" y2="55381"/>
                        <a14:foregroundMark x1="58325" y1="56693" x2="58325" y2="56693"/>
                        <a14:foregroundMark x1="58040" y1="55906" x2="58040" y2="55906"/>
                        <a14:backgroundMark x1="38535" y1="64304" x2="38535" y2="64304"/>
                        <a14:backgroundMark x1="40533" y1="59843" x2="40533" y2="59843"/>
                        <a14:backgroundMark x1="84301" y1="38320" x2="84301" y2="38320"/>
                        <a14:backgroundMark x1="83539" y1="38058" x2="83539" y2="38058"/>
                        <a14:backgroundMark x1="83539" y1="38058" x2="83539" y2="38058"/>
                        <a14:backgroundMark x1="70695" y1="67717" x2="70695" y2="67717"/>
                        <a14:backgroundMark x1="70695" y1="67717" x2="70695" y2="67717"/>
                        <a14:backgroundMark x1="70504" y1="67454" x2="70504" y2="67454"/>
                        <a14:backgroundMark x1="70599" y1="67717" x2="70695" y2="68241"/>
                        <a14:backgroundMark x1="70599" y1="67454" x2="70695" y2="67717"/>
                        <a14:backgroundMark x1="70695" y1="67717" x2="70695" y2="67717"/>
                        <a14:backgroundMark x1="58230" y1="57743" x2="58230" y2="57743"/>
                        <a14:backgroundMark x1="58135" y1="57480" x2="58135" y2="57480"/>
                        <a14:backgroundMark x1="58516" y1="57743" x2="58516" y2="57743"/>
                        <a14:backgroundMark x1="58230" y1="57480" x2="58230" y2="57480"/>
                        <a14:backgroundMark x1="58230" y1="57218" x2="58230" y2="57218"/>
                        <a14:backgroundMark x1="58135" y1="56955" x2="58135" y2="56955"/>
                        <a14:backgroundMark x1="58230" y1="57480" x2="58230" y2="57480"/>
                        <a14:backgroundMark x1="58325" y1="57743" x2="58516" y2="58268"/>
                        <a14:backgroundMark x1="58421" y1="57743" x2="58421" y2="57743"/>
                        <a14:backgroundMark x1="58421" y1="57218" x2="58421" y2="57218"/>
                        <a14:backgroundMark x1="58230" y1="57218" x2="58230" y2="57218"/>
                        <a14:backgroundMark x1="58325" y1="56955" x2="58325" y2="56955"/>
                        <a14:backgroundMark x1="58325" y1="56955" x2="58325" y2="56955"/>
                        <a14:backgroundMark x1="58325" y1="56955" x2="58325" y2="56955"/>
                        <a14:backgroundMark x1="58040" y1="56168" x2="58040" y2="56168"/>
                      </a14:backgroundRemoval>
                    </a14:imgEffect>
                  </a14:imgLayer>
                </a14:imgProps>
              </a:ext>
              <a:ext uri="{28A0092B-C50C-407E-A947-70E740481C1C}">
                <a14:useLocalDpi xmlns:a14="http://schemas.microsoft.com/office/drawing/2010/main" val="0"/>
              </a:ext>
            </a:extLst>
          </a:blip>
          <a:stretch>
            <a:fillRect/>
          </a:stretch>
        </p:blipFill>
        <p:spPr>
          <a:xfrm>
            <a:off x="9367198" y="0"/>
            <a:ext cx="2824802" cy="1024025"/>
          </a:xfrm>
          <a:prstGeom prst="rect">
            <a:avLst/>
          </a:prstGeom>
          <a:noFill/>
        </p:spPr>
      </p:pic>
    </p:spTree>
    <p:extLst>
      <p:ext uri="{BB962C8B-B14F-4D97-AF65-F5344CB8AC3E}">
        <p14:creationId xmlns:p14="http://schemas.microsoft.com/office/powerpoint/2010/main" val="159975094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9" r:id="rId16"/>
    <p:sldLayoutId id="2147483680"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7225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p:nvPr/>
        </p:nvSpPr>
        <p:spPr>
          <a:xfrm>
            <a:off x="1303155" y="3031449"/>
            <a:ext cx="8837788" cy="527632"/>
          </a:xfrm>
          <a:prstGeom prst="rect">
            <a:avLst/>
          </a:prstGeom>
          <a:noFill/>
          <a:ln>
            <a:noFill/>
          </a:ln>
        </p:spPr>
        <p:txBody>
          <a:bodyPr wrap="none" lIns="409575" tIns="20955" rIns="0" bIns="0" anchor="t" anchorCtr="0">
            <a:noAutofit/>
          </a:bodyPr>
          <a:lstStyle/>
          <a:p>
            <a:pPr algn="ctr">
              <a:lnSpc>
                <a:spcPct val="125000"/>
              </a:lnSpc>
            </a:pPr>
            <a:r>
              <a:rPr lang="en-US" sz="2000" dirty="0">
                <a:solidFill>
                  <a:srgbClr val="203864"/>
                </a:solidFill>
                <a:latin typeface="Microsoft YaHei"/>
                <a:ea typeface="Microsoft YaHei"/>
                <a:cs typeface="Microsoft YaHei"/>
              </a:rPr>
              <a:t>Armadillo: </a:t>
            </a:r>
            <a:r>
              <a:rPr lang="zh-CN" altLang="zh-CN" sz="2000" dirty="0">
                <a:solidFill>
                  <a:srgbClr val="203864"/>
                </a:solidFill>
                <a:latin typeface="Microsoft YaHei"/>
                <a:ea typeface="Microsoft YaHei"/>
              </a:rPr>
              <a:t>具备输入验证的鲁棒单服务器联邦学习安全聚合</a:t>
            </a:r>
            <a:endParaRPr lang="en-US" sz="3600" dirty="0">
              <a:solidFill>
                <a:srgbClr val="203864"/>
              </a:solidFill>
              <a:latin typeface="Microsoft YaHei"/>
              <a:ea typeface="Microsoft YaHei"/>
              <a:cs typeface="Microsoft YaHei"/>
            </a:endParaRPr>
          </a:p>
        </p:txBody>
      </p:sp>
      <p:cxnSp>
        <p:nvCxnSpPr>
          <p:cNvPr id="9" name="直接连接符 8"/>
          <p:cNvCxnSpPr>
            <a:cxnSpLocks/>
          </p:cNvCxnSpPr>
          <p:nvPr/>
        </p:nvCxnSpPr>
        <p:spPr>
          <a:xfrm>
            <a:off x="2174437" y="4470640"/>
            <a:ext cx="7510272" cy="0"/>
          </a:xfrm>
          <a:prstGeom prst="line">
            <a:avLst/>
          </a:prstGeom>
          <a:ln w="95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2DA7ACA4-0062-40AE-8785-0E79D51C7BE6}"/>
              </a:ext>
            </a:extLst>
          </p:cNvPr>
          <p:cNvGrpSpPr/>
          <p:nvPr/>
        </p:nvGrpSpPr>
        <p:grpSpPr>
          <a:xfrm flipH="1">
            <a:off x="0" y="0"/>
            <a:ext cx="12192000" cy="6858001"/>
            <a:chOff x="2" y="0"/>
            <a:chExt cx="12192000" cy="6858001"/>
          </a:xfrm>
        </p:grpSpPr>
        <p:grpSp>
          <p:nvGrpSpPr>
            <p:cNvPr id="3" name="组合 2"/>
            <p:cNvGrpSpPr/>
            <p:nvPr/>
          </p:nvGrpSpPr>
          <p:grpSpPr>
            <a:xfrm>
              <a:off x="2" y="0"/>
              <a:ext cx="3135084" cy="5941181"/>
              <a:chOff x="0" y="0"/>
              <a:chExt cx="2590667" cy="4976958"/>
            </a:xfrm>
          </p:grpSpPr>
          <p:sp>
            <p:nvSpPr>
              <p:cNvPr id="12" name="矩形 1"/>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矩形 1"/>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grpSp>
          <p:nvGrpSpPr>
            <p:cNvPr id="7" name="组合 6"/>
            <p:cNvGrpSpPr/>
            <p:nvPr/>
          </p:nvGrpSpPr>
          <p:grpSpPr>
            <a:xfrm>
              <a:off x="9463315" y="1664306"/>
              <a:ext cx="2728687" cy="5193695"/>
              <a:chOff x="7715421" y="1884933"/>
              <a:chExt cx="1428579" cy="3258567"/>
            </a:xfrm>
          </p:grpSpPr>
          <p:sp>
            <p:nvSpPr>
              <p:cNvPr id="13" name="矩形 10"/>
              <p:cNvSpPr/>
              <p:nvPr/>
            </p:nvSpPr>
            <p:spPr>
              <a:xfrm>
                <a:off x="7715421" y="1884933"/>
                <a:ext cx="1428579" cy="325856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3689577 h 3689577"/>
                  <a:gd name="connsiteX1" fmla="*/ 2278743 w 2278743"/>
                  <a:gd name="connsiteY1" fmla="*/ 0 h 3689577"/>
                  <a:gd name="connsiteX2" fmla="*/ 2278743 w 2278743"/>
                  <a:gd name="connsiteY2" fmla="*/ 3689577 h 3689577"/>
                  <a:gd name="connsiteX3" fmla="*/ 0 w 2278743"/>
                  <a:gd name="connsiteY3" fmla="*/ 3689577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3689577"/>
                    </a:moveTo>
                    <a:lnTo>
                      <a:pt x="2278743" y="0"/>
                    </a:lnTo>
                    <a:lnTo>
                      <a:pt x="2278743" y="3689577"/>
                    </a:lnTo>
                    <a:lnTo>
                      <a:pt x="0" y="3689577"/>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1" name="矩形 10"/>
              <p:cNvSpPr/>
              <p:nvPr/>
            </p:nvSpPr>
            <p:spPr>
              <a:xfrm>
                <a:off x="7715421" y="2606134"/>
                <a:ext cx="1428579" cy="2537366"/>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3689577 h 3689577"/>
                  <a:gd name="connsiteX1" fmla="*/ 2278743 w 2278743"/>
                  <a:gd name="connsiteY1" fmla="*/ 0 h 3689577"/>
                  <a:gd name="connsiteX2" fmla="*/ 2278743 w 2278743"/>
                  <a:gd name="connsiteY2" fmla="*/ 3689577 h 3689577"/>
                  <a:gd name="connsiteX3" fmla="*/ 0 w 2278743"/>
                  <a:gd name="connsiteY3" fmla="*/ 3689577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3689577"/>
                    </a:moveTo>
                    <a:lnTo>
                      <a:pt x="2278743" y="0"/>
                    </a:lnTo>
                    <a:lnTo>
                      <a:pt x="2278743" y="3689577"/>
                    </a:lnTo>
                    <a:lnTo>
                      <a:pt x="0" y="3689577"/>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sp>
        <p:nvSpPr>
          <p:cNvPr id="17" name="TextBox 11"/>
          <p:cNvSpPr txBox="1"/>
          <p:nvPr/>
        </p:nvSpPr>
        <p:spPr>
          <a:xfrm>
            <a:off x="10000968" y="4758049"/>
            <a:ext cx="65" cy="324453"/>
          </a:xfrm>
          <a:prstGeom prst="rect">
            <a:avLst/>
          </a:prstGeom>
          <a:noFill/>
          <a:ln>
            <a:noFill/>
          </a:ln>
        </p:spPr>
        <p:txBody>
          <a:bodyPr wrap="none" lIns="0" tIns="0" rIns="0" bIns="0" anchor="t" anchorCtr="0">
            <a:spAutoFit/>
          </a:bodyPr>
          <a:lstStyle/>
          <a:p>
            <a:pPr algn="ctr"/>
            <a:endParaRPr lang="en-US" sz="2180" dirty="0">
              <a:solidFill>
                <a:srgbClr val="203864"/>
              </a:solidFill>
              <a:latin typeface="Arial"/>
              <a:ea typeface="Arial"/>
              <a:cs typeface="Arial"/>
            </a:endParaRPr>
          </a:p>
        </p:txBody>
      </p:sp>
      <p:sp>
        <p:nvSpPr>
          <p:cNvPr id="18" name="TextBox 12"/>
          <p:cNvSpPr txBox="1"/>
          <p:nvPr/>
        </p:nvSpPr>
        <p:spPr>
          <a:xfrm>
            <a:off x="3021886" y="3762405"/>
            <a:ext cx="5815375" cy="567976"/>
          </a:xfrm>
          <a:prstGeom prst="rect">
            <a:avLst/>
          </a:prstGeom>
          <a:noFill/>
          <a:ln>
            <a:noFill/>
          </a:ln>
        </p:spPr>
        <p:txBody>
          <a:bodyPr wrap="none" lIns="0" tIns="0" rIns="0" bIns="0" anchor="t" anchorCtr="0">
            <a:spAutoFit/>
          </a:bodyPr>
          <a:lstStyle/>
          <a:p>
            <a:pPr algn="ctr">
              <a:lnSpc>
                <a:spcPct val="125000"/>
              </a:lnSpc>
            </a:pPr>
            <a:r>
              <a:rPr lang="en-US" altLang="zh-CN" sz="1600" b="1" i="1" dirty="0">
                <a:solidFill>
                  <a:srgbClr val="203864"/>
                </a:solidFill>
                <a:latin typeface="Microsoft YaHei"/>
                <a:ea typeface="Microsoft YaHei"/>
                <a:cs typeface="Microsoft YaHei"/>
              </a:rPr>
              <a:t>ACM </a:t>
            </a:r>
            <a:r>
              <a:rPr lang="zh-CN" altLang="zh-CN" sz="1600" b="1" i="1" dirty="0">
                <a:solidFill>
                  <a:srgbClr val="203864"/>
                </a:solidFill>
                <a:latin typeface="Microsoft YaHei"/>
                <a:ea typeface="Microsoft YaHei"/>
                <a:cs typeface="Microsoft YaHei"/>
              </a:rPr>
              <a:t>CCS 2025</a:t>
            </a:r>
            <a:endParaRPr lang="en-US" altLang="zh-CN" sz="1600" i="1" dirty="0">
              <a:solidFill>
                <a:srgbClr val="203864"/>
              </a:solidFill>
              <a:latin typeface="Microsoft YaHei"/>
              <a:ea typeface="Microsoft YaHei"/>
              <a:cs typeface="Microsoft YaHei"/>
            </a:endParaRPr>
          </a:p>
          <a:p>
            <a:pPr algn="ctr">
              <a:lnSpc>
                <a:spcPct val="125000"/>
              </a:lnSpc>
            </a:pPr>
            <a:r>
              <a:rPr lang="en-US" sz="1500" i="1" dirty="0">
                <a:solidFill>
                  <a:srgbClr val="24364A"/>
                </a:solidFill>
                <a:latin typeface="Arial"/>
                <a:ea typeface="Arial"/>
                <a:cs typeface="Arial"/>
              </a:rPr>
              <a:t>Yiping Ma · Yue Guo · Harish Karthikeyan · Antigoni Polychroniadou</a:t>
            </a:r>
          </a:p>
        </p:txBody>
      </p:sp>
      <p:sp>
        <p:nvSpPr>
          <p:cNvPr id="19" name="TextBox 13"/>
          <p:cNvSpPr txBox="1"/>
          <p:nvPr/>
        </p:nvSpPr>
        <p:spPr>
          <a:xfrm>
            <a:off x="5087194" y="5574881"/>
            <a:ext cx="1684757" cy="276999"/>
          </a:xfrm>
          <a:prstGeom prst="rect">
            <a:avLst/>
          </a:prstGeom>
          <a:noFill/>
          <a:ln>
            <a:noFill/>
          </a:ln>
        </p:spPr>
        <p:txBody>
          <a:bodyPr wrap="none" lIns="0" tIns="0" rIns="0" bIns="0" anchor="t" anchorCtr="0">
            <a:spAutoFit/>
          </a:bodyPr>
          <a:lstStyle/>
          <a:p>
            <a:pPr algn="ctr"/>
            <a:r>
              <a:rPr lang="zh-CN" altLang="en-US" sz="1800" dirty="0">
                <a:solidFill>
                  <a:srgbClr val="64748B"/>
                </a:solidFill>
                <a:latin typeface="Microsoft YaHei"/>
                <a:ea typeface="Microsoft YaHei"/>
                <a:cs typeface="Microsoft YaHei"/>
              </a:rPr>
              <a:t>汇报人：王星宇</a:t>
            </a:r>
            <a:r>
              <a:rPr lang="zh-CN" altLang="en-US" dirty="0">
                <a:solidFill>
                  <a:srgbClr val="64748B"/>
                </a:solidFill>
                <a:latin typeface="Microsoft YaHei"/>
                <a:ea typeface="Microsoft YaHei"/>
                <a:cs typeface="Microsoft YaHei"/>
              </a:rPr>
              <a:t> </a:t>
            </a:r>
            <a:endParaRPr lang="zh-CN" sz="1800" dirty="0">
              <a:solidFill>
                <a:srgbClr val="64748B"/>
              </a:solidFill>
              <a:latin typeface="Microsoft YaHei"/>
              <a:ea typeface="Microsoft YaHei"/>
              <a:cs typeface="Microsoft YaHei"/>
            </a:endParaRPr>
          </a:p>
        </p:txBody>
      </p:sp>
      <p:sp>
        <p:nvSpPr>
          <p:cNvPr id="8" name="TextBox 13">
            <a:extLst>
              <a:ext uri="{FF2B5EF4-FFF2-40B4-BE49-F238E27FC236}">
                <a16:creationId xmlns:a16="http://schemas.microsoft.com/office/drawing/2014/main" id="{591C69C9-3FEB-53B5-5A5E-636B3DF5F5AF}"/>
              </a:ext>
            </a:extLst>
          </p:cNvPr>
          <p:cNvSpPr txBox="1"/>
          <p:nvPr/>
        </p:nvSpPr>
        <p:spPr>
          <a:xfrm>
            <a:off x="4723312" y="5983298"/>
            <a:ext cx="2412520" cy="276999"/>
          </a:xfrm>
          <a:prstGeom prst="rect">
            <a:avLst/>
          </a:prstGeom>
          <a:noFill/>
          <a:ln>
            <a:noFill/>
          </a:ln>
        </p:spPr>
        <p:txBody>
          <a:bodyPr wrap="none" lIns="0" tIns="0" rIns="0" bIns="0" anchor="t" anchorCtr="0">
            <a:spAutoFit/>
          </a:bodyPr>
          <a:lstStyle/>
          <a:p>
            <a:pPr algn="ctr"/>
            <a:r>
              <a:rPr lang="zh-CN" altLang="en-US" dirty="0">
                <a:solidFill>
                  <a:srgbClr val="64748B"/>
                </a:solidFill>
                <a:latin typeface="Microsoft YaHei"/>
                <a:ea typeface="Microsoft YaHei"/>
                <a:cs typeface="Microsoft YaHei"/>
              </a:rPr>
              <a:t>汇报日期：</a:t>
            </a:r>
            <a:r>
              <a:rPr lang="en-US" altLang="zh-CN" dirty="0">
                <a:solidFill>
                  <a:srgbClr val="64748B"/>
                </a:solidFill>
                <a:latin typeface="Microsoft YaHei"/>
                <a:ea typeface="Microsoft YaHei"/>
                <a:cs typeface="Microsoft YaHei"/>
              </a:rPr>
              <a:t>2026.10.11</a:t>
            </a:r>
            <a:r>
              <a:rPr lang="zh-CN" altLang="en-US" dirty="0">
                <a:solidFill>
                  <a:srgbClr val="64748B"/>
                </a:solidFill>
                <a:latin typeface="Microsoft YaHei"/>
                <a:ea typeface="Microsoft YaHei"/>
                <a:cs typeface="Microsoft YaHei"/>
              </a:rPr>
              <a:t> </a:t>
            </a:r>
            <a:endParaRPr lang="zh-CN" sz="1800" dirty="0">
              <a:solidFill>
                <a:srgbClr val="64748B"/>
              </a:solidFill>
              <a:latin typeface="Microsoft YaHei"/>
              <a:ea typeface="Microsoft YaHei"/>
              <a:cs typeface="Microsoft YaHei"/>
            </a:endParaRPr>
          </a:p>
        </p:txBody>
      </p:sp>
      <p:sp>
        <p:nvSpPr>
          <p:cNvPr id="10" name="文本框 3">
            <a:extLst>
              <a:ext uri="{FF2B5EF4-FFF2-40B4-BE49-F238E27FC236}">
                <a16:creationId xmlns:a16="http://schemas.microsoft.com/office/drawing/2014/main" id="{83D1AA85-636A-5C84-85CD-7C2E3F516873}"/>
              </a:ext>
            </a:extLst>
          </p:cNvPr>
          <p:cNvSpPr/>
          <p:nvPr/>
        </p:nvSpPr>
        <p:spPr>
          <a:xfrm>
            <a:off x="1303155" y="1664306"/>
            <a:ext cx="8837788" cy="1367143"/>
          </a:xfrm>
          <a:prstGeom prst="rect">
            <a:avLst/>
          </a:prstGeom>
          <a:noFill/>
          <a:ln>
            <a:noFill/>
          </a:ln>
        </p:spPr>
        <p:txBody>
          <a:bodyPr wrap="none" lIns="409575" tIns="20955" rIns="0" bIns="0" anchor="t" anchorCtr="0">
            <a:noAutofit/>
          </a:bodyPr>
          <a:lstStyle/>
          <a:p>
            <a:pPr algn="ctr"/>
            <a:r>
              <a:rPr lang="en-US" altLang="zh-CN" sz="2800" b="1" dirty="0">
                <a:solidFill>
                  <a:srgbClr val="203864"/>
                </a:solidFill>
                <a:latin typeface="Microsoft YaHei"/>
                <a:ea typeface="Microsoft YaHei"/>
              </a:rPr>
              <a:t>Armadillo: Robust Single-Server </a:t>
            </a:r>
          </a:p>
          <a:p>
            <a:pPr algn="ctr"/>
            <a:r>
              <a:rPr lang="en-US" altLang="zh-CN" sz="2800" b="1" dirty="0">
                <a:solidFill>
                  <a:srgbClr val="203864"/>
                </a:solidFill>
                <a:latin typeface="Microsoft YaHei"/>
                <a:ea typeface="Microsoft YaHei"/>
              </a:rPr>
              <a:t>Secure Aggregation </a:t>
            </a:r>
          </a:p>
          <a:p>
            <a:pPr algn="ctr"/>
            <a:r>
              <a:rPr lang="en-US" altLang="zh-CN" sz="2800" b="1" dirty="0">
                <a:solidFill>
                  <a:srgbClr val="203864"/>
                </a:solidFill>
                <a:latin typeface="Microsoft YaHei"/>
                <a:ea typeface="Microsoft YaHei"/>
              </a:rPr>
              <a:t>for Federated Learning with Input Validation</a:t>
            </a:r>
            <a:endParaRPr lang="zh-CN" altLang="zh-CN" sz="2800" b="1" dirty="0">
              <a:solidFill>
                <a:srgbClr val="203864"/>
              </a:solidFill>
              <a:latin typeface="Microsoft YaHei"/>
              <a:ea typeface="Microsoft YaHei"/>
            </a:endParaRPr>
          </a:p>
        </p:txBody>
      </p:sp>
      <p:sp>
        <p:nvSpPr>
          <p:cNvPr id="20" name="TextBox 13">
            <a:extLst>
              <a:ext uri="{FF2B5EF4-FFF2-40B4-BE49-F238E27FC236}">
                <a16:creationId xmlns:a16="http://schemas.microsoft.com/office/drawing/2014/main" id="{1D786684-1B3F-B930-D960-EE56301BC91B}"/>
              </a:ext>
            </a:extLst>
          </p:cNvPr>
          <p:cNvSpPr txBox="1"/>
          <p:nvPr/>
        </p:nvSpPr>
        <p:spPr>
          <a:xfrm>
            <a:off x="5121659" y="5166465"/>
            <a:ext cx="1615827" cy="276999"/>
          </a:xfrm>
          <a:prstGeom prst="rect">
            <a:avLst/>
          </a:prstGeom>
          <a:noFill/>
          <a:ln>
            <a:noFill/>
          </a:ln>
        </p:spPr>
        <p:txBody>
          <a:bodyPr wrap="none" lIns="0" tIns="0" rIns="0" bIns="0" anchor="t" anchorCtr="0">
            <a:spAutoFit/>
          </a:bodyPr>
          <a:lstStyle/>
          <a:p>
            <a:pPr algn="ctr"/>
            <a:r>
              <a:rPr lang="zh-CN" altLang="en-US" sz="1800" dirty="0">
                <a:solidFill>
                  <a:srgbClr val="64748B"/>
                </a:solidFill>
                <a:latin typeface="Microsoft YaHei"/>
                <a:ea typeface="Microsoft YaHei"/>
                <a:cs typeface="Microsoft YaHei"/>
              </a:rPr>
              <a:t>指导老师：王强</a:t>
            </a:r>
            <a:endParaRPr lang="zh-CN" sz="1800" dirty="0">
              <a:solidFill>
                <a:srgbClr val="64748B"/>
              </a:solidFill>
              <a:latin typeface="Microsoft YaHei"/>
              <a:ea typeface="Microsoft YaHei"/>
              <a:cs typeface="Microsoft YaHei"/>
            </a:endParaRPr>
          </a:p>
        </p:txBody>
      </p:sp>
      <p:pic>
        <p:nvPicPr>
          <p:cNvPr id="22" name="图片 21">
            <a:extLst>
              <a:ext uri="{FF2B5EF4-FFF2-40B4-BE49-F238E27FC236}">
                <a16:creationId xmlns:a16="http://schemas.microsoft.com/office/drawing/2014/main" id="{03977EFD-0DEB-3EFC-8059-BE37414F3E2A}"/>
              </a:ext>
            </a:extLst>
          </p:cNvPr>
          <p:cNvPicPr>
            <a:picLocks noChangeAspect="1"/>
          </p:cNvPicPr>
          <p:nvPr/>
        </p:nvPicPr>
        <p:blipFill>
          <a:blip r:embed="rId3"/>
          <a:stretch>
            <a:fillRect/>
          </a:stretch>
        </p:blipFill>
        <p:spPr>
          <a:xfrm>
            <a:off x="118742" y="12260"/>
            <a:ext cx="2491202" cy="851265"/>
          </a:xfrm>
          <a:prstGeom prst="rect">
            <a:avLst/>
          </a:prstGeom>
        </p:spPr>
      </p:pic>
      <p:sp>
        <p:nvSpPr>
          <p:cNvPr id="27" name="TextBox 13">
            <a:extLst>
              <a:ext uri="{FF2B5EF4-FFF2-40B4-BE49-F238E27FC236}">
                <a16:creationId xmlns:a16="http://schemas.microsoft.com/office/drawing/2014/main" id="{0779C174-946F-DAEA-2052-E85686EF0F13}"/>
              </a:ext>
            </a:extLst>
          </p:cNvPr>
          <p:cNvSpPr txBox="1"/>
          <p:nvPr/>
        </p:nvSpPr>
        <p:spPr>
          <a:xfrm>
            <a:off x="5121659" y="4758049"/>
            <a:ext cx="1615827" cy="276999"/>
          </a:xfrm>
          <a:prstGeom prst="rect">
            <a:avLst/>
          </a:prstGeom>
          <a:noFill/>
          <a:ln>
            <a:noFill/>
          </a:ln>
        </p:spPr>
        <p:txBody>
          <a:bodyPr wrap="none" lIns="0" tIns="0" rIns="0" bIns="0" anchor="t" anchorCtr="0">
            <a:spAutoFit/>
          </a:bodyPr>
          <a:lstStyle/>
          <a:p>
            <a:pPr algn="ctr"/>
            <a:r>
              <a:rPr lang="zh-CN" altLang="en-US" dirty="0">
                <a:solidFill>
                  <a:srgbClr val="64748B"/>
                </a:solidFill>
                <a:latin typeface="Microsoft YaHei"/>
                <a:ea typeface="Microsoft YaHei"/>
                <a:cs typeface="Microsoft YaHei"/>
              </a:rPr>
              <a:t>学校</a:t>
            </a:r>
            <a:r>
              <a:rPr lang="zh-CN" altLang="en-US" sz="1800" dirty="0">
                <a:solidFill>
                  <a:srgbClr val="64748B"/>
                </a:solidFill>
                <a:latin typeface="Microsoft YaHei"/>
                <a:ea typeface="Microsoft YaHei"/>
                <a:cs typeface="Microsoft YaHei"/>
              </a:rPr>
              <a:t>：东北大学</a:t>
            </a:r>
            <a:endParaRPr lang="zh-CN" sz="1800" dirty="0">
              <a:solidFill>
                <a:srgbClr val="64748B"/>
              </a:solidFill>
              <a:latin typeface="Microsoft YaHei"/>
              <a:ea typeface="Microsoft YaHei"/>
              <a:cs typeface="Microsoft YaHei"/>
            </a:endParaRPr>
          </a:p>
        </p:txBody>
      </p:sp>
    </p:spTree>
    <p:extLst>
      <p:ext uri="{BB962C8B-B14F-4D97-AF65-F5344CB8AC3E}">
        <p14:creationId xmlns:p14="http://schemas.microsoft.com/office/powerpoint/2010/main" val="40527351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xmlns:a14="http://schemas.microsoft.com/office/drawing/2010/main" xmlns:ns2="http://schemas.microsoft.com/office/drawing/2014/main">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74819" y="1662069"/>
            <a:ext cx="4466377" cy="435773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从联邦学习到安全聚合</a:t>
            </a:r>
          </a:p>
        </p:txBody>
      </p:sp>
      <p:grpSp>
        <p:nvGrpSpPr>
          <p:cNvPr id="8" name="page-footer"/>
          <p:cNvGrpSpPr/>
          <p:nvPr/>
        </p:nvGrpSpPr>
        <p:grpSpPr>
          <a:xfrm>
            <a:off x="1194816" y="6426200"/>
            <a:ext cx="9954768" cy="205359"/>
            <a:chOff x="1194816" y="6426200"/>
            <a:chExt cx="9954768" cy="205359"/>
          </a:xfrm>
        </p:grpSpPr>
        <p:sp>
          <p:nvSpPr>
            <p:cNvPr id="5" name="TextBox 5"/>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6" name="TextBox 6"/>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02 / 23</a:t>
              </a:r>
            </a:p>
          </p:txBody>
        </p:sp>
      </p:grpSp>
      <p:sp>
        <p:nvSpPr>
          <p:cNvPr id="9" name="TextBox 9"/>
          <p:cNvSpPr txBox="1"/>
          <p:nvPr/>
        </p:nvSpPr>
        <p:spPr>
          <a:xfrm>
            <a:off x="7281216" y="1895475"/>
            <a:ext cx="2415359" cy="426339"/>
          </a:xfrm>
          <a:prstGeom prst="rect">
            <a:avLst/>
          </a:prstGeom>
          <a:noFill/>
          <a:ln>
            <a:noFill/>
          </a:ln>
        </p:spPr>
        <p:txBody>
          <a:bodyPr wrap="none" lIns="0" tIns="0" rIns="0" bIns="0" anchor="t" anchorCtr="0">
            <a:spAutoFit/>
          </a:bodyPr>
          <a:lstStyle/>
          <a:p>
            <a:pPr algn="l"/>
            <a:r>
              <a:rPr lang="zh-CN" sz="2180" b="1" dirty="0">
                <a:solidFill>
                  <a:srgbClr val="FFFFFF"/>
                </a:solidFill>
                <a:latin typeface="Microsoft YaHei"/>
                <a:ea typeface="Microsoft YaHei"/>
                <a:cs typeface="Microsoft YaHei"/>
              </a:rPr>
              <a:t>服务器只学习“和”</a:t>
            </a:r>
          </a:p>
        </p:txBody>
      </p:sp>
      <p:sp>
        <p:nvSpPr>
          <p:cNvPr id="14" name="TextBox 14"/>
          <p:cNvSpPr txBox="1"/>
          <p:nvPr/>
        </p:nvSpPr>
        <p:spPr>
          <a:xfrm>
            <a:off x="1323594" y="4642039"/>
            <a:ext cx="3030790"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本地训练得到模型更新 xᵢ</a:t>
            </a:r>
          </a:p>
        </p:txBody>
      </p:sp>
      <p:sp>
        <p:nvSpPr>
          <p:cNvPr id="15" name="TextBox 15"/>
          <p:cNvSpPr txBox="1"/>
          <p:nvPr/>
        </p:nvSpPr>
        <p:spPr>
          <a:xfrm>
            <a:off x="1324356" y="5105589"/>
            <a:ext cx="3741496" cy="352044"/>
          </a:xfrm>
          <a:prstGeom prst="rect">
            <a:avLst/>
          </a:prstGeom>
          <a:noFill/>
          <a:ln>
            <a:noFill/>
          </a:ln>
        </p:spPr>
        <p:txBody>
          <a:bodyPr wrap="none" lIns="0" tIns="0" rIns="0" bIns="0" anchor="t" anchorCtr="0">
            <a:spAutoFit/>
          </a:bodyPr>
          <a:lstStyle/>
          <a:p>
            <a:pPr algn="l"/>
            <a:r>
              <a:rPr lang="zh-CN" sz="1800" dirty="0">
                <a:solidFill>
                  <a:srgbClr val="24364A"/>
                </a:solidFill>
                <a:latin typeface="Microsoft YaHei"/>
                <a:ea typeface="Microsoft YaHei"/>
                <a:cs typeface="Microsoft YaHei"/>
              </a:rPr>
              <a:t>每轮从 N 个客户端中选择 n 个参与</a:t>
            </a:r>
          </a:p>
        </p:txBody>
      </p:sp>
      <p:sp>
        <p:nvSpPr>
          <p:cNvPr id="16" name="TextBox 16"/>
          <p:cNvSpPr txBox="1"/>
          <p:nvPr/>
        </p:nvSpPr>
        <p:spPr>
          <a:xfrm>
            <a:off x="1324356" y="5524689"/>
            <a:ext cx="3410712" cy="352044"/>
          </a:xfrm>
          <a:prstGeom prst="rect">
            <a:avLst/>
          </a:prstGeom>
          <a:noFill/>
          <a:ln>
            <a:noFill/>
          </a:ln>
        </p:spPr>
        <p:txBody>
          <a:bodyPr wrap="none" lIns="0" tIns="0" rIns="0" bIns="0" anchor="t" anchorCtr="0">
            <a:spAutoFit/>
          </a:bodyPr>
          <a:lstStyle/>
          <a:p>
            <a:pPr algn="l"/>
            <a:r>
              <a:rPr lang="zh-CN" sz="1800" dirty="0">
                <a:solidFill>
                  <a:srgbClr val="24364A"/>
                </a:solidFill>
                <a:latin typeface="Microsoft YaHei"/>
                <a:ea typeface="Microsoft YaHei"/>
                <a:cs typeface="Microsoft YaHei"/>
              </a:rPr>
              <a:t>原始数据与单个更新不直接公开</a:t>
            </a:r>
          </a:p>
        </p:txBody>
      </p:sp>
      <p:sp>
        <p:nvSpPr>
          <p:cNvPr id="17" name="TextBox 17"/>
          <p:cNvSpPr txBox="1"/>
          <p:nvPr/>
        </p:nvSpPr>
        <p:spPr>
          <a:xfrm>
            <a:off x="7334937" y="2762250"/>
            <a:ext cx="2829725" cy="557403"/>
          </a:xfrm>
          <a:prstGeom prst="rect">
            <a:avLst/>
          </a:prstGeom>
          <a:noFill/>
          <a:ln>
            <a:noFill/>
          </a:ln>
        </p:spPr>
        <p:txBody>
          <a:bodyPr wrap="none" lIns="0" tIns="0" rIns="0" bIns="0" anchor="t" anchorCtr="0">
            <a:spAutoFit/>
          </a:bodyPr>
          <a:lstStyle/>
          <a:p>
            <a:pPr algn="l"/>
            <a:r>
              <a:rPr lang="en-US" sz="2850" dirty="0">
                <a:solidFill>
                  <a:srgbClr val="FFFFFF"/>
                </a:solidFill>
                <a:latin typeface="Cambria Math"/>
                <a:ea typeface="Cambria Math"/>
                <a:cs typeface="Cambria Math"/>
              </a:rPr>
              <a:t>x₁ + x₂ + ⋯ + xₙ</a:t>
            </a:r>
          </a:p>
        </p:txBody>
      </p:sp>
      <p:sp>
        <p:nvSpPr>
          <p:cNvPr id="18" name="TextBox 18"/>
          <p:cNvSpPr txBox="1"/>
          <p:nvPr/>
        </p:nvSpPr>
        <p:spPr>
          <a:xfrm>
            <a:off x="7299885" y="3502025"/>
            <a:ext cx="117706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icrosoft YaHei"/>
                <a:ea typeface="Microsoft YaHei"/>
                <a:cs typeface="Microsoft YaHei"/>
              </a:rPr>
              <a:t>Privacy</a:t>
            </a:r>
          </a:p>
        </p:txBody>
      </p:sp>
      <p:sp>
        <p:nvSpPr>
          <p:cNvPr id="19" name="TextBox 19"/>
          <p:cNvSpPr txBox="1"/>
          <p:nvPr/>
        </p:nvSpPr>
        <p:spPr>
          <a:xfrm>
            <a:off x="7301790" y="4003675"/>
            <a:ext cx="2645410" cy="1043940"/>
          </a:xfrm>
          <a:prstGeom prst="rect">
            <a:avLst/>
          </a:prstGeom>
          <a:noFill/>
          <a:ln>
            <a:noFill/>
          </a:ln>
        </p:spPr>
        <p:txBody>
          <a:bodyPr wrap="none" lIns="0" tIns="0" rIns="0" bIns="0" anchor="t" anchorCtr="0">
            <a:spAutoFit/>
          </a:bodyPr>
          <a:lstStyle/>
          <a:p>
            <a:pPr algn="l">
              <a:lnSpc>
                <a:spcPts val="2662"/>
              </a:lnSpc>
            </a:pPr>
            <a:r>
              <a:rPr lang="zh-CN" sz="1880" dirty="0">
                <a:solidFill>
                  <a:srgbClr val="FFFFFF"/>
                </a:solidFill>
                <a:latin typeface="Microsoft YaHei"/>
                <a:ea typeface="Microsoft YaHei"/>
                <a:cs typeface="Microsoft YaHei"/>
              </a:rPr>
              <a:t>可以知道聚合结果</a:t>
            </a:r>
            <a:br>
              <a:rPr lang="zh-CN" sz="1880" dirty="0">
                <a:solidFill>
                  <a:srgbClr val="FFFFFF"/>
                </a:solidFill>
                <a:latin typeface="Microsoft YaHei"/>
                <a:ea typeface="Microsoft YaHei"/>
                <a:cs typeface="Microsoft YaHei"/>
              </a:rPr>
            </a:br>
            <a:r>
              <a:rPr lang="zh-CN" sz="1880" dirty="0">
                <a:solidFill>
                  <a:srgbClr val="FFFFFF"/>
                </a:solidFill>
                <a:latin typeface="Microsoft YaHei"/>
                <a:ea typeface="Microsoft YaHei"/>
                <a:cs typeface="Microsoft YaHei"/>
              </a:rPr>
              <a:t>不能从协议视图额外获知</a:t>
            </a:r>
            <a:br>
              <a:rPr lang="zh-CN" sz="1880" dirty="0">
                <a:solidFill>
                  <a:srgbClr val="FFFFFF"/>
                </a:solidFill>
                <a:latin typeface="Microsoft YaHei"/>
                <a:ea typeface="Microsoft YaHei"/>
                <a:cs typeface="Microsoft YaHei"/>
              </a:rPr>
            </a:br>
            <a:r>
              <a:rPr lang="zh-CN" sz="1880" dirty="0">
                <a:solidFill>
                  <a:srgbClr val="FFFFFF"/>
                </a:solidFill>
                <a:latin typeface="Microsoft YaHei"/>
                <a:ea typeface="Microsoft YaHei"/>
                <a:cs typeface="Microsoft YaHei"/>
              </a:rPr>
              <a:t>某个客户端的独立更新</a:t>
            </a:r>
          </a:p>
        </p:txBody>
      </p:sp>
      <p:sp>
        <p:nvSpPr>
          <p:cNvPr id="20" name="TextBox 20"/>
          <p:cNvSpPr txBox="1"/>
          <p:nvPr/>
        </p:nvSpPr>
        <p:spPr>
          <a:xfrm>
            <a:off x="7304076" y="5403850"/>
            <a:ext cx="3289362" cy="218521"/>
          </a:xfrm>
          <a:prstGeom prst="rect">
            <a:avLst/>
          </a:prstGeom>
          <a:noFill/>
          <a:ln>
            <a:noFill/>
          </a:ln>
        </p:spPr>
        <p:txBody>
          <a:bodyPr wrap="none" lIns="0" tIns="0" rIns="0" bIns="0" anchor="t" anchorCtr="0">
            <a:spAutoFit/>
          </a:bodyPr>
          <a:lstStyle/>
          <a:p>
            <a:pPr algn="l"/>
            <a:r>
              <a:rPr lang="zh-CN" altLang="en-US" sz="1420" dirty="0">
                <a:solidFill>
                  <a:srgbClr val="BDD7EE"/>
                </a:solidFill>
                <a:latin typeface="Microsoft YaHei"/>
                <a:ea typeface="Microsoft YaHei"/>
                <a:cs typeface="Microsoft YaHei"/>
              </a:rPr>
              <a:t>左图以</a:t>
            </a:r>
            <a:r>
              <a:rPr lang="zh-CN" sz="1420" dirty="0">
                <a:solidFill>
                  <a:srgbClr val="BDD7EE"/>
                </a:solidFill>
                <a:latin typeface="Microsoft YaHei"/>
                <a:ea typeface="Microsoft YaHei"/>
                <a:cs typeface="Microsoft YaHei"/>
              </a:rPr>
              <a:t>全员有效参与</a:t>
            </a:r>
            <a:r>
              <a:rPr lang="zh-CN" altLang="en-US" sz="1420" dirty="0">
                <a:solidFill>
                  <a:srgbClr val="BDD7EE"/>
                </a:solidFill>
                <a:latin typeface="Microsoft YaHei"/>
                <a:ea typeface="Microsoft YaHei"/>
                <a:cs typeface="Microsoft YaHei"/>
              </a:rPr>
              <a:t>的理想情况进行说明</a:t>
            </a:r>
            <a:endParaRPr lang="zh-CN" sz="1420" dirty="0">
              <a:solidFill>
                <a:srgbClr val="BDD7EE"/>
              </a:solidFill>
              <a:latin typeface="Microsoft YaHei"/>
              <a:ea typeface="Microsoft YaHei"/>
              <a:cs typeface="Microsoft YaHei"/>
            </a:endParaRPr>
          </a:p>
        </p:txBody>
      </p:sp>
      <p:pic>
        <p:nvPicPr>
          <p:cNvPr id="4" name="图片 3">
            <a:extLst>
              <a:ext uri="{FF2B5EF4-FFF2-40B4-BE49-F238E27FC236}">
                <a16:creationId xmlns:a16="http://schemas.microsoft.com/office/drawing/2014/main" id="{258FD427-FF5A-DE1A-B893-F6F2493E38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816" y="1611550"/>
            <a:ext cx="5594974" cy="2666619"/>
          </a:xfrm>
          <a:prstGeom prst="rect">
            <a:avLst/>
          </a:prstGeom>
        </p:spPr>
      </p:pic>
    </p:spTree>
    <p:extLst>
      <p:ext uri="{BB962C8B-B14F-4D97-AF65-F5344CB8AC3E}">
        <p14:creationId xmlns:p14="http://schemas.microsoft.com/office/powerpoint/2010/main" val="33279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1836039" y="2037207"/>
            <a:ext cx="3835718" cy="3993643"/>
            <a:chOff x="1836039" y="2037207"/>
            <a:chExt cx="3835718" cy="3993643"/>
          </a:xfrm>
        </p:grpSpPr>
        <p:sp>
          <p:nvSpPr>
            <p:cNvPr id="2" name="shape-58"/>
            <p:cNvSpPr/>
            <p:nvPr/>
          </p:nvSpPr>
          <p:spPr>
            <a:xfrm>
              <a:off x="1836039" y="2165318"/>
              <a:ext cx="3835718" cy="3615214"/>
            </a:xfrm>
            <a:prstGeom prst="rect">
              <a:avLst/>
            </a:prstGeom>
            <a:solidFill>
              <a:srgbClr val="F2F2F2"/>
            </a:solidFill>
            <a:ln w="9525">
              <a:solidFill>
                <a:srgbClr val="C5C3C3"/>
              </a:solidFill>
            </a:ln>
          </p:spPr>
        </p:sp>
        <p:sp>
          <p:nvSpPr>
            <p:cNvPr id="99" name="shape-59"/>
            <p:cNvSpPr/>
            <p:nvPr/>
          </p:nvSpPr>
          <p:spPr>
            <a:xfrm>
              <a:off x="1977962" y="2037207"/>
              <a:ext cx="3562160" cy="127921"/>
            </a:xfrm>
            <a:custGeom>
              <a:avLst/>
              <a:gdLst/>
              <a:ahLst/>
              <a:cxnLst/>
              <a:rect l="l" t="t" r="r" b="b"/>
              <a:pathLst>
                <a:path w="3562160" h="127921">
                  <a:moveTo>
                    <a:pt x="239649" y="0"/>
                  </a:moveTo>
                  <a:lnTo>
                    <a:pt x="3335941" y="0"/>
                  </a:lnTo>
                  <a:lnTo>
                    <a:pt x="3562160" y="127921"/>
                  </a:lnTo>
                  <a:lnTo>
                    <a:pt x="0" y="127921"/>
                  </a:lnTo>
                  <a:lnTo>
                    <a:pt x="239649" y="0"/>
                  </a:lnTo>
                  <a:close/>
                </a:path>
              </a:pathLst>
            </a:custGeom>
            <a:solidFill>
              <a:srgbClr val="41464A"/>
            </a:solidFill>
            <a:ln>
              <a:noFill/>
            </a:ln>
          </p:spPr>
        </p:sp>
        <p:sp>
          <p:nvSpPr>
            <p:cNvPr id="100" name="shape-95"/>
            <p:cNvSpPr/>
            <p:nvPr/>
          </p:nvSpPr>
          <p:spPr>
            <a:xfrm>
              <a:off x="221589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8" name="shape-96"/>
            <p:cNvSpPr/>
            <p:nvPr/>
          </p:nvSpPr>
          <p:spPr>
            <a:xfrm>
              <a:off x="2806446" y="2207514"/>
              <a:ext cx="1915954" cy="497967"/>
            </a:xfrm>
            <a:prstGeom prst="rect">
              <a:avLst/>
            </a:prstGeom>
            <a:noFill/>
            <a:ln>
              <a:noFill/>
            </a:ln>
          </p:spPr>
        </p:sp>
        <p:sp>
          <p:nvSpPr>
            <p:cNvPr id="9" name="Freeform 9"/>
            <p:cNvSpPr/>
            <p:nvPr/>
          </p:nvSpPr>
          <p:spPr>
            <a:xfrm>
              <a:off x="221589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98" name="组合 97"/>
          <p:cNvGrpSpPr/>
          <p:nvPr/>
        </p:nvGrpSpPr>
        <p:grpSpPr>
          <a:xfrm>
            <a:off x="6432709" y="2037207"/>
            <a:ext cx="3835718" cy="3993643"/>
            <a:chOff x="6432709" y="2037207"/>
            <a:chExt cx="3835718" cy="3993643"/>
          </a:xfrm>
        </p:grpSpPr>
        <p:sp>
          <p:nvSpPr>
            <p:cNvPr id="10" name="shape-99"/>
            <p:cNvSpPr/>
            <p:nvPr/>
          </p:nvSpPr>
          <p:spPr>
            <a:xfrm>
              <a:off x="6432709" y="2165318"/>
              <a:ext cx="3835718" cy="3615214"/>
            </a:xfrm>
            <a:prstGeom prst="rect">
              <a:avLst/>
            </a:prstGeom>
            <a:solidFill>
              <a:srgbClr val="F2F2F2"/>
            </a:solidFill>
            <a:ln w="9525">
              <a:solidFill>
                <a:srgbClr val="C5C3C3"/>
              </a:solidFill>
            </a:ln>
          </p:spPr>
        </p:sp>
        <p:sp>
          <p:nvSpPr>
            <p:cNvPr id="11" name="shape-100"/>
            <p:cNvSpPr/>
            <p:nvPr/>
          </p:nvSpPr>
          <p:spPr>
            <a:xfrm>
              <a:off x="6574631" y="2037207"/>
              <a:ext cx="3562255" cy="127921"/>
            </a:xfrm>
            <a:custGeom>
              <a:avLst/>
              <a:gdLst/>
              <a:ahLst/>
              <a:cxnLst/>
              <a:rect l="l" t="t" r="r" b="b"/>
              <a:pathLst>
                <a:path w="3562255" h="127921">
                  <a:moveTo>
                    <a:pt x="239649" y="0"/>
                  </a:moveTo>
                  <a:lnTo>
                    <a:pt x="3336036" y="0"/>
                  </a:lnTo>
                  <a:lnTo>
                    <a:pt x="3562255" y="127921"/>
                  </a:lnTo>
                  <a:lnTo>
                    <a:pt x="0" y="127921"/>
                  </a:lnTo>
                  <a:lnTo>
                    <a:pt x="239649" y="0"/>
                  </a:lnTo>
                  <a:close/>
                </a:path>
              </a:pathLst>
            </a:custGeom>
            <a:solidFill>
              <a:srgbClr val="41464A"/>
            </a:solidFill>
            <a:ln>
              <a:noFill/>
            </a:ln>
          </p:spPr>
        </p:sp>
        <p:sp>
          <p:nvSpPr>
            <p:cNvPr id="12" name="shape-101"/>
            <p:cNvSpPr/>
            <p:nvPr/>
          </p:nvSpPr>
          <p:spPr>
            <a:xfrm>
              <a:off x="681256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13" name="shape-102"/>
            <p:cNvSpPr/>
            <p:nvPr/>
          </p:nvSpPr>
          <p:spPr>
            <a:xfrm>
              <a:off x="7403211" y="2207514"/>
              <a:ext cx="1915954" cy="497967"/>
            </a:xfrm>
            <a:prstGeom prst="rect">
              <a:avLst/>
            </a:prstGeom>
            <a:noFill/>
            <a:ln>
              <a:noFill/>
            </a:ln>
          </p:spPr>
        </p:sp>
        <p:sp>
          <p:nvSpPr>
            <p:cNvPr id="14" name="Freeform 14"/>
            <p:cNvSpPr/>
            <p:nvPr/>
          </p:nvSpPr>
          <p:spPr>
            <a:xfrm>
              <a:off x="681256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3" name="组合 2">
            <a:extLst>
              <a:ext uri="{FF2B5EF4-FFF2-40B4-BE49-F238E27FC236}">
                <a16:creationId xmlns:a16="http://schemas.microsoft.com/office/drawing/2014/main" id="{6585D9A8-CD27-667A-DDDF-710A03F80F0C}"/>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C30772D0-2FC8-BED1-151E-64C672212CC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AAB09C36-0CE8-37C2-7214-27833B6F10E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E1B4035E-E6C4-0ABE-E300-FD1FA32E18F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altLang="en-US" sz="2850" b="1" dirty="0">
                <a:solidFill>
                  <a:srgbClr val="203864"/>
                </a:solidFill>
                <a:latin typeface="Microsoft YaHei"/>
                <a:ea typeface="Microsoft YaHei"/>
                <a:cs typeface="Microsoft YaHei"/>
              </a:rPr>
              <a:t>两种类型的问题客户端</a:t>
            </a:r>
            <a:endParaRPr lang="zh-CN" sz="2850" b="1" dirty="0">
              <a:solidFill>
                <a:srgbClr val="203864"/>
              </a:solidFill>
              <a:latin typeface="Microsoft YaHei"/>
              <a:ea typeface="Microsoft YaHei"/>
              <a:cs typeface="Microsoft YaHei"/>
            </a:endParaRPr>
          </a:p>
        </p:txBody>
      </p:sp>
      <p:grpSp>
        <p:nvGrpSpPr>
          <p:cNvPr id="20" name="page-footer"/>
          <p:cNvGrpSpPr/>
          <p:nvPr/>
        </p:nvGrpSpPr>
        <p:grpSpPr>
          <a:xfrm>
            <a:off x="1194816" y="6426200"/>
            <a:ext cx="9954768" cy="205359"/>
            <a:chOff x="1194816" y="6426200"/>
            <a:chExt cx="9954768" cy="205359"/>
          </a:xfrm>
        </p:grpSpPr>
        <p:sp>
          <p:nvSpPr>
            <p:cNvPr id="18" name="TextBox 1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9" name="TextBox 1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03 / 23</a:t>
              </a:r>
            </a:p>
          </p:txBody>
        </p:sp>
      </p:grpSp>
      <p:grpSp>
        <p:nvGrpSpPr>
          <p:cNvPr id="22" name="page-lead"/>
          <p:cNvGrpSpPr/>
          <p:nvPr/>
        </p:nvGrpSpPr>
        <p:grpSpPr>
          <a:xfrm>
            <a:off x="1190625" y="1333500"/>
            <a:ext cx="4193456" cy="289310"/>
            <a:chOff x="1190625" y="1333500"/>
            <a:chExt cx="4193456" cy="289310"/>
          </a:xfrm>
        </p:grpSpPr>
        <p:sp>
          <p:nvSpPr>
            <p:cNvPr id="21" name="TextBox 21"/>
            <p:cNvSpPr txBox="1"/>
            <p:nvPr/>
          </p:nvSpPr>
          <p:spPr>
            <a:xfrm>
              <a:off x="1190625" y="1333500"/>
              <a:ext cx="4193456"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客户端不一定完整、诚实地参与协议</a:t>
              </a:r>
            </a:p>
          </p:txBody>
        </p:sp>
      </p:grpSp>
      <p:grpSp>
        <p:nvGrpSpPr>
          <p:cNvPr id="29" name="panel-content"/>
          <p:cNvGrpSpPr/>
          <p:nvPr/>
        </p:nvGrpSpPr>
        <p:grpSpPr>
          <a:xfrm>
            <a:off x="2209038" y="2120095"/>
            <a:ext cx="7631330" cy="3256801"/>
            <a:chOff x="2209038" y="2120095"/>
            <a:chExt cx="7631330" cy="3256801"/>
          </a:xfrm>
        </p:grpSpPr>
        <p:sp>
          <p:nvSpPr>
            <p:cNvPr id="23" name="TextBox 23"/>
            <p:cNvSpPr txBox="1"/>
            <p:nvPr/>
          </p:nvSpPr>
          <p:spPr>
            <a:xfrm>
              <a:off x="2843902" y="2120095"/>
              <a:ext cx="1892698"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cs typeface="Microsoft YaHei"/>
                </a:rPr>
                <a:t>Passive Dropout</a:t>
              </a:r>
            </a:p>
            <a:p>
              <a:pPr algn="ctr"/>
              <a:r>
                <a:rPr lang="zh-CN" altLang="en-US" b="1" dirty="0">
                  <a:solidFill>
                    <a:srgbClr val="FFFFFF"/>
                  </a:solidFill>
                  <a:latin typeface="Microsoft YaHei"/>
                  <a:ea typeface="Microsoft YaHei"/>
                  <a:cs typeface="Microsoft YaHei"/>
                </a:rPr>
                <a:t>被动掉线</a:t>
              </a:r>
              <a:endParaRPr lang="en-US" b="1" dirty="0">
                <a:solidFill>
                  <a:srgbClr val="FFFFFF"/>
                </a:solidFill>
                <a:latin typeface="Microsoft YaHei"/>
                <a:ea typeface="Microsoft YaHei"/>
                <a:cs typeface="Microsoft YaHei"/>
              </a:endParaRPr>
            </a:p>
          </p:txBody>
        </p:sp>
        <p:sp>
          <p:nvSpPr>
            <p:cNvPr id="24" name="TextBox 24"/>
            <p:cNvSpPr txBox="1"/>
            <p:nvPr/>
          </p:nvSpPr>
          <p:spPr>
            <a:xfrm>
              <a:off x="7434603" y="2133016"/>
              <a:ext cx="1853071"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rPr>
                <a:t>Malicious Client</a:t>
              </a:r>
            </a:p>
            <a:p>
              <a:pPr algn="ctr"/>
              <a:r>
                <a:rPr lang="zh-CN" altLang="en-US" b="1" dirty="0">
                  <a:solidFill>
                    <a:srgbClr val="FFFFFF"/>
                  </a:solidFill>
                  <a:latin typeface="Microsoft YaHei"/>
                  <a:ea typeface="Microsoft YaHei"/>
                </a:rPr>
                <a:t>恶意客户端</a:t>
              </a:r>
              <a:endParaRPr lang="en-US" b="1" dirty="0">
                <a:solidFill>
                  <a:srgbClr val="FFFFFF"/>
                </a:solidFill>
                <a:latin typeface="Microsoft YaHei"/>
                <a:ea typeface="Microsoft YaHei"/>
              </a:endParaRPr>
            </a:p>
          </p:txBody>
        </p:sp>
        <p:sp>
          <p:nvSpPr>
            <p:cNvPr id="25" name="TextBox 25"/>
            <p:cNvSpPr txBox="1"/>
            <p:nvPr/>
          </p:nvSpPr>
          <p:spPr>
            <a:xfrm>
              <a:off x="2209038" y="2825750"/>
              <a:ext cx="1644681" cy="1507529"/>
            </a:xfrm>
            <a:prstGeom prst="rect">
              <a:avLst/>
            </a:prstGeom>
            <a:noFill/>
            <a:ln>
              <a:noFill/>
            </a:ln>
          </p:spPr>
          <p:txBody>
            <a:bodyPr wrap="none" lIns="0" tIns="0" rIns="0" bIns="0" anchor="t" anchorCtr="0">
              <a:spAutoFit/>
            </a:bodyPr>
            <a:lstStyle/>
            <a:p>
              <a:pPr marL="342900" indent="-342900" algn="l">
                <a:lnSpc>
                  <a:spcPts val="4125"/>
                </a:lnSpc>
                <a:buFont typeface="Arial" panose="020B0604020202020204" pitchFamily="34" charset="0"/>
                <a:buChar char="•"/>
              </a:pPr>
              <a:r>
                <a:rPr lang="zh-CN" sz="2020" dirty="0">
                  <a:solidFill>
                    <a:srgbClr val="24364A"/>
                  </a:solidFill>
                  <a:latin typeface="Microsoft YaHei"/>
                  <a:ea typeface="Microsoft YaHei"/>
                  <a:cs typeface="Microsoft YaHei"/>
                </a:rPr>
                <a:t>断网、断电</a:t>
              </a:r>
              <a:endParaRPr lang="en-US" altLang="zh-CN" sz="2020" dirty="0">
                <a:solidFill>
                  <a:srgbClr val="24364A"/>
                </a:solidFill>
                <a:latin typeface="Microsoft YaHei"/>
                <a:ea typeface="Microsoft YaHei"/>
                <a:cs typeface="Microsoft YaHei"/>
              </a:endParaRPr>
            </a:p>
            <a:p>
              <a:pPr marL="342900" indent="-342900" algn="l">
                <a:lnSpc>
                  <a:spcPts val="4125"/>
                </a:lnSpc>
                <a:buFont typeface="Arial" panose="020B0604020202020204" pitchFamily="34" charset="0"/>
                <a:buChar char="•"/>
              </a:pPr>
              <a:r>
                <a:rPr lang="zh-CN" sz="2020" dirty="0">
                  <a:solidFill>
                    <a:srgbClr val="24364A"/>
                  </a:solidFill>
                  <a:latin typeface="Microsoft YaHei"/>
                  <a:ea typeface="Microsoft YaHei"/>
                  <a:cs typeface="Microsoft YaHei"/>
                </a:rPr>
                <a:t>应用被关闭</a:t>
              </a:r>
              <a:endParaRPr lang="en-US" altLang="zh-CN" sz="2020" dirty="0">
                <a:solidFill>
                  <a:srgbClr val="24364A"/>
                </a:solidFill>
                <a:latin typeface="Microsoft YaHei"/>
                <a:ea typeface="Microsoft YaHei"/>
                <a:cs typeface="Microsoft YaHei"/>
              </a:endParaRPr>
            </a:p>
            <a:p>
              <a:pPr marL="342900" indent="-342900" algn="l">
                <a:lnSpc>
                  <a:spcPts val="4125"/>
                </a:lnSpc>
                <a:buFont typeface="Arial" panose="020B0604020202020204" pitchFamily="34" charset="0"/>
                <a:buChar char="•"/>
              </a:pPr>
              <a:r>
                <a:rPr lang="zh-CN" sz="2020" dirty="0">
                  <a:solidFill>
                    <a:srgbClr val="24364A"/>
                  </a:solidFill>
                  <a:latin typeface="Microsoft YaHei"/>
                  <a:ea typeface="Microsoft YaHei"/>
                  <a:cs typeface="Microsoft YaHei"/>
                </a:rPr>
                <a:t>响应超时</a:t>
              </a:r>
            </a:p>
          </p:txBody>
        </p:sp>
        <p:sp>
          <p:nvSpPr>
            <p:cNvPr id="26" name="TextBox 26"/>
            <p:cNvSpPr txBox="1"/>
            <p:nvPr/>
          </p:nvSpPr>
          <p:spPr>
            <a:xfrm>
              <a:off x="2742555" y="4993711"/>
              <a:ext cx="2043735" cy="367665"/>
            </a:xfrm>
            <a:prstGeom prst="rect">
              <a:avLst/>
            </a:prstGeom>
            <a:noFill/>
            <a:ln>
              <a:noFill/>
            </a:ln>
          </p:spPr>
          <p:txBody>
            <a:bodyPr wrap="none" lIns="0" tIns="0" rIns="0" bIns="0" anchor="t" anchorCtr="0">
              <a:spAutoFit/>
            </a:bodyPr>
            <a:lstStyle/>
            <a:p>
              <a:pPr algn="l"/>
              <a:r>
                <a:rPr lang="zh-CN" sz="1880" b="1" dirty="0">
                  <a:solidFill>
                    <a:srgbClr val="203864"/>
                  </a:solidFill>
                  <a:latin typeface="Microsoft YaHei"/>
                  <a:ea typeface="Microsoft YaHei"/>
                  <a:cs typeface="Microsoft YaHei"/>
                </a:rPr>
                <a:t>不一定是攻击行为</a:t>
              </a:r>
            </a:p>
          </p:txBody>
        </p:sp>
        <p:sp>
          <p:nvSpPr>
            <p:cNvPr id="27" name="TextBox 27"/>
            <p:cNvSpPr txBox="1"/>
            <p:nvPr/>
          </p:nvSpPr>
          <p:spPr>
            <a:xfrm>
              <a:off x="6810756" y="2819400"/>
              <a:ext cx="3029612" cy="1786195"/>
            </a:xfrm>
            <a:prstGeom prst="rect">
              <a:avLst/>
            </a:prstGeom>
            <a:noFill/>
            <a:ln>
              <a:noFill/>
            </a:ln>
          </p:spPr>
          <p:txBody>
            <a:bodyPr wrap="none" lIns="0" tIns="0" rIns="0" bIns="0" anchor="t" anchorCtr="0">
              <a:spAutoFit/>
            </a:bodyPr>
            <a:lstStyle/>
            <a:p>
              <a:pPr marL="285750" indent="-285750" algn="l">
                <a:lnSpc>
                  <a:spcPts val="3600"/>
                </a:lnSpc>
                <a:buFont typeface="Arial" panose="020B0604020202020204" pitchFamily="34" charset="0"/>
                <a:buChar char="•"/>
              </a:pPr>
              <a:r>
                <a:rPr lang="zh-CN" sz="1800" dirty="0">
                  <a:solidFill>
                    <a:srgbClr val="24364A"/>
                  </a:solidFill>
                  <a:latin typeface="Microsoft YaHei"/>
                  <a:ea typeface="Microsoft YaHei"/>
                  <a:cs typeface="Microsoft YaHei"/>
                </a:rPr>
                <a:t>发送错误协议消息</a:t>
              </a:r>
              <a:endParaRPr lang="en-US" altLang="zh-CN" sz="1800" dirty="0">
                <a:solidFill>
                  <a:srgbClr val="24364A"/>
                </a:solidFill>
                <a:latin typeface="Microsoft YaHei"/>
                <a:ea typeface="Microsoft YaHei"/>
                <a:cs typeface="Microsoft YaHei"/>
              </a:endParaRPr>
            </a:p>
            <a:p>
              <a:pPr marL="285750" indent="-285750" algn="l">
                <a:lnSpc>
                  <a:spcPts val="3600"/>
                </a:lnSpc>
                <a:buFont typeface="Arial" panose="020B0604020202020204" pitchFamily="34" charset="0"/>
                <a:buChar char="•"/>
              </a:pPr>
              <a:r>
                <a:rPr lang="zh-CN" sz="1800" dirty="0">
                  <a:solidFill>
                    <a:srgbClr val="24364A"/>
                  </a:solidFill>
                  <a:latin typeface="Microsoft YaHei"/>
                  <a:ea typeface="Microsoft YaHei"/>
                  <a:cs typeface="Microsoft YaHei"/>
                </a:rPr>
                <a:t>构造非法或不一致的 share</a:t>
              </a:r>
              <a:endParaRPr lang="en-US" altLang="zh-CN" sz="1800" dirty="0">
                <a:solidFill>
                  <a:srgbClr val="24364A"/>
                </a:solidFill>
                <a:latin typeface="Microsoft YaHei"/>
                <a:ea typeface="Microsoft YaHei"/>
                <a:cs typeface="Microsoft YaHei"/>
              </a:endParaRPr>
            </a:p>
            <a:p>
              <a:pPr marL="285750" indent="-285750" algn="l">
                <a:lnSpc>
                  <a:spcPts val="3600"/>
                </a:lnSpc>
                <a:buFont typeface="Arial" panose="020B0604020202020204" pitchFamily="34" charset="0"/>
                <a:buChar char="•"/>
              </a:pPr>
              <a:r>
                <a:rPr lang="zh-CN" sz="1800" dirty="0">
                  <a:solidFill>
                    <a:srgbClr val="24364A"/>
                  </a:solidFill>
                  <a:latin typeface="Microsoft YaHei"/>
                  <a:ea typeface="Microsoft YaHei"/>
                  <a:cs typeface="Microsoft YaHei"/>
                </a:rPr>
                <a:t>提交越界模型更新</a:t>
              </a:r>
              <a:endParaRPr lang="en-US" altLang="zh-CN" sz="1800" dirty="0">
                <a:solidFill>
                  <a:srgbClr val="24364A"/>
                </a:solidFill>
                <a:latin typeface="Microsoft YaHei"/>
                <a:ea typeface="Microsoft YaHei"/>
                <a:cs typeface="Microsoft YaHei"/>
              </a:endParaRPr>
            </a:p>
            <a:p>
              <a:pPr marL="285750" indent="-285750" algn="l">
                <a:lnSpc>
                  <a:spcPts val="3600"/>
                </a:lnSpc>
                <a:buFont typeface="Arial" panose="020B0604020202020204" pitchFamily="34" charset="0"/>
                <a:buChar char="•"/>
              </a:pPr>
              <a:r>
                <a:rPr lang="zh-CN" sz="1800" dirty="0">
                  <a:solidFill>
                    <a:srgbClr val="24364A"/>
                  </a:solidFill>
                  <a:latin typeface="Microsoft YaHei"/>
                  <a:ea typeface="Microsoft YaHei"/>
                  <a:cs typeface="Microsoft YaHei"/>
                </a:rPr>
                <a:t>主动中途退出</a:t>
              </a:r>
            </a:p>
          </p:txBody>
        </p:sp>
        <p:sp>
          <p:nvSpPr>
            <p:cNvPr id="28" name="TextBox 28"/>
            <p:cNvSpPr txBox="1"/>
            <p:nvPr/>
          </p:nvSpPr>
          <p:spPr>
            <a:xfrm>
              <a:off x="7339272" y="5009231"/>
              <a:ext cx="2043735" cy="367665"/>
            </a:xfrm>
            <a:prstGeom prst="rect">
              <a:avLst/>
            </a:prstGeom>
            <a:noFill/>
            <a:ln>
              <a:noFill/>
            </a:ln>
          </p:spPr>
          <p:txBody>
            <a:bodyPr wrap="none" lIns="0" tIns="0" rIns="0" bIns="0" anchor="t" anchorCtr="0">
              <a:spAutoFit/>
            </a:bodyPr>
            <a:lstStyle/>
            <a:p>
              <a:pPr algn="l"/>
              <a:r>
                <a:rPr lang="zh-CN" sz="1880" b="1" dirty="0">
                  <a:solidFill>
                    <a:srgbClr val="203864"/>
                  </a:solidFill>
                  <a:latin typeface="Microsoft YaHei"/>
                  <a:ea typeface="Microsoft YaHei"/>
                  <a:cs typeface="Microsoft YaHei"/>
                </a:rPr>
                <a:t>可能主动破坏聚合</a:t>
              </a:r>
            </a:p>
          </p:txBody>
        </p:sp>
      </p:grpSp>
    </p:spTree>
    <p:extLst>
      <p:ext uri="{BB962C8B-B14F-4D97-AF65-F5344CB8AC3E}">
        <p14:creationId xmlns:p14="http://schemas.microsoft.com/office/powerpoint/2010/main" val="152978933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p:cNvGrpSpPr/>
          <p:nvPr/>
        </p:nvGrpSpPr>
        <p:grpSpPr>
          <a:xfrm>
            <a:off x="4420351" y="2396175"/>
            <a:ext cx="1440160" cy="1440160"/>
            <a:chOff x="4066364" y="1514966"/>
            <a:chExt cx="1757290" cy="1757290"/>
          </a:xfrm>
        </p:grpSpPr>
        <p:sp>
          <p:nvSpPr>
            <p:cNvPr id="85" name="泪滴形 84"/>
            <p:cNvSpPr/>
            <p:nvPr/>
          </p:nvSpPr>
          <p:spPr>
            <a:xfrm flipH="1">
              <a:off x="4066364" y="1514966"/>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86" name="Oval 6"/>
            <p:cNvSpPr>
              <a:spLocks noChangeArrowheads="1"/>
            </p:cNvSpPr>
            <p:nvPr/>
          </p:nvSpPr>
          <p:spPr bwMode="auto">
            <a:xfrm>
              <a:off x="4536212"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87" name="文本框 86"/>
            <p:cNvSpPr txBox="1"/>
            <p:nvPr/>
          </p:nvSpPr>
          <p:spPr>
            <a:xfrm>
              <a:off x="4613791"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01</a:t>
              </a:r>
              <a:endParaRPr lang="zh-CN" altLang="en-US" sz="2400" dirty="0">
                <a:solidFill>
                  <a:schemeClr val="tx1">
                    <a:lumMod val="95000"/>
                    <a:lumOff val="5000"/>
                  </a:schemeClr>
                </a:solidFill>
                <a:cs typeface="+mn-ea"/>
                <a:sym typeface="+mn-lt"/>
              </a:endParaRPr>
            </a:p>
          </p:txBody>
        </p:sp>
      </p:grpSp>
      <p:grpSp>
        <p:nvGrpSpPr>
          <p:cNvPr id="88" name="组合 87"/>
          <p:cNvGrpSpPr/>
          <p:nvPr/>
        </p:nvGrpSpPr>
        <p:grpSpPr>
          <a:xfrm>
            <a:off x="6096420" y="2396175"/>
            <a:ext cx="1440160" cy="1440160"/>
            <a:chOff x="6027167" y="1514966"/>
            <a:chExt cx="1757290" cy="1757290"/>
          </a:xfrm>
        </p:grpSpPr>
        <p:sp>
          <p:nvSpPr>
            <p:cNvPr id="89" name="泪滴形 88"/>
            <p:cNvSpPr/>
            <p:nvPr/>
          </p:nvSpPr>
          <p:spPr>
            <a:xfrm>
              <a:off x="6027167" y="1514966"/>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0" name="Oval 6"/>
            <p:cNvSpPr>
              <a:spLocks noChangeArrowheads="1"/>
            </p:cNvSpPr>
            <p:nvPr/>
          </p:nvSpPr>
          <p:spPr bwMode="auto">
            <a:xfrm>
              <a:off x="6541475"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1" name="文本框 90"/>
            <p:cNvSpPr txBox="1"/>
            <p:nvPr/>
          </p:nvSpPr>
          <p:spPr>
            <a:xfrm>
              <a:off x="6602838"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02</a:t>
              </a:r>
              <a:endParaRPr lang="zh-CN" altLang="en-US" sz="2400" dirty="0">
                <a:solidFill>
                  <a:schemeClr val="tx1">
                    <a:lumMod val="95000"/>
                    <a:lumOff val="5000"/>
                  </a:schemeClr>
                </a:solidFill>
                <a:cs typeface="+mn-ea"/>
                <a:sym typeface="+mn-lt"/>
              </a:endParaRPr>
            </a:p>
          </p:txBody>
        </p:sp>
      </p:grpSp>
      <p:grpSp>
        <p:nvGrpSpPr>
          <p:cNvPr id="92" name="组合 91"/>
          <p:cNvGrpSpPr/>
          <p:nvPr/>
        </p:nvGrpSpPr>
        <p:grpSpPr>
          <a:xfrm>
            <a:off x="4420351" y="4070056"/>
            <a:ext cx="1440160" cy="1440160"/>
            <a:chOff x="4066364" y="3439143"/>
            <a:chExt cx="1757290" cy="1757290"/>
          </a:xfrm>
        </p:grpSpPr>
        <p:sp>
          <p:nvSpPr>
            <p:cNvPr id="93" name="泪滴形 92"/>
            <p:cNvSpPr/>
            <p:nvPr/>
          </p:nvSpPr>
          <p:spPr>
            <a:xfrm flipH="1" flipV="1">
              <a:off x="4066364" y="3439143"/>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4" name="Oval 6"/>
            <p:cNvSpPr>
              <a:spLocks noChangeArrowheads="1"/>
            </p:cNvSpPr>
            <p:nvPr/>
          </p:nvSpPr>
          <p:spPr bwMode="auto">
            <a:xfrm>
              <a:off x="4536212"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5" name="文本框 94"/>
            <p:cNvSpPr txBox="1"/>
            <p:nvPr/>
          </p:nvSpPr>
          <p:spPr>
            <a:xfrm>
              <a:off x="4600838"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03</a:t>
              </a:r>
              <a:endParaRPr lang="zh-CN" altLang="en-US" sz="2400" dirty="0">
                <a:solidFill>
                  <a:schemeClr val="tx1">
                    <a:lumMod val="95000"/>
                    <a:lumOff val="5000"/>
                  </a:schemeClr>
                </a:solidFill>
                <a:cs typeface="+mn-ea"/>
                <a:sym typeface="+mn-lt"/>
              </a:endParaRPr>
            </a:p>
          </p:txBody>
        </p:sp>
      </p:grpSp>
      <p:grpSp>
        <p:nvGrpSpPr>
          <p:cNvPr id="96" name="组合 95"/>
          <p:cNvGrpSpPr/>
          <p:nvPr/>
        </p:nvGrpSpPr>
        <p:grpSpPr>
          <a:xfrm>
            <a:off x="6096420" y="4070056"/>
            <a:ext cx="1440160" cy="1440160"/>
            <a:chOff x="6027167" y="3439143"/>
            <a:chExt cx="1757290" cy="1757290"/>
          </a:xfrm>
        </p:grpSpPr>
        <p:sp>
          <p:nvSpPr>
            <p:cNvPr id="97" name="泪滴形 96"/>
            <p:cNvSpPr/>
            <p:nvPr/>
          </p:nvSpPr>
          <p:spPr>
            <a:xfrm flipV="1">
              <a:off x="6027167" y="3439143"/>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8" name="Oval 6"/>
            <p:cNvSpPr>
              <a:spLocks noChangeArrowheads="1"/>
            </p:cNvSpPr>
            <p:nvPr/>
          </p:nvSpPr>
          <p:spPr bwMode="auto">
            <a:xfrm>
              <a:off x="6541475"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9" name="文本框 98"/>
            <p:cNvSpPr txBox="1"/>
            <p:nvPr/>
          </p:nvSpPr>
          <p:spPr>
            <a:xfrm>
              <a:off x="6593735"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04</a:t>
              </a:r>
              <a:endParaRPr lang="zh-CN" altLang="en-US" sz="2400" dirty="0">
                <a:solidFill>
                  <a:schemeClr val="tx1">
                    <a:lumMod val="95000"/>
                    <a:lumOff val="5000"/>
                  </a:schemeClr>
                </a:solidFill>
                <a:cs typeface="+mn-ea"/>
                <a:sym typeface="+mn-lt"/>
              </a:endParaRPr>
            </a:p>
          </p:txBody>
        </p:sp>
      </p:grpSp>
      <p:grpSp>
        <p:nvGrpSpPr>
          <p:cNvPr id="2" name="组合 1">
            <a:extLst>
              <a:ext uri="{FF2B5EF4-FFF2-40B4-BE49-F238E27FC236}">
                <a16:creationId xmlns:a16="http://schemas.microsoft.com/office/drawing/2014/main" id="{B1A7844F-DF68-608C-B21A-8EFAF24F66DC}"/>
              </a:ext>
            </a:extLst>
          </p:cNvPr>
          <p:cNvGrpSpPr/>
          <p:nvPr/>
        </p:nvGrpSpPr>
        <p:grpSpPr>
          <a:xfrm>
            <a:off x="0" y="-1"/>
            <a:ext cx="1857829" cy="1181101"/>
            <a:chOff x="0" y="0"/>
            <a:chExt cx="2590667" cy="4976958"/>
          </a:xfrm>
        </p:grpSpPr>
        <p:sp>
          <p:nvSpPr>
            <p:cNvPr id="3" name="矩形 1">
              <a:extLst>
                <a:ext uri="{FF2B5EF4-FFF2-40B4-BE49-F238E27FC236}">
                  <a16:creationId xmlns:a16="http://schemas.microsoft.com/office/drawing/2014/main" id="{494A5369-B8AF-6C0C-DCAC-2F1157153C2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EE241247-041E-17F1-B9F4-1B56C0105EF0}"/>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2C2AC75A-ECF7-0691-18AD-D056113D4552}"/>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Armadillo 的四个安全目标</a:t>
            </a:r>
          </a:p>
        </p:txBody>
      </p:sp>
      <p:grpSp>
        <p:nvGrpSpPr>
          <p:cNvPr id="14" name="page-footer"/>
          <p:cNvGrpSpPr/>
          <p:nvPr/>
        </p:nvGrpSpPr>
        <p:grpSpPr>
          <a:xfrm>
            <a:off x="1194816" y="6426200"/>
            <a:ext cx="9954768" cy="205359"/>
            <a:chOff x="1194816" y="6426200"/>
            <a:chExt cx="9954768" cy="205359"/>
          </a:xfrm>
        </p:grpSpPr>
        <p:sp>
          <p:nvSpPr>
            <p:cNvPr id="12" name="TextBox 12"/>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3" name="TextBox 13"/>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04 / 23</a:t>
              </a:r>
            </a:p>
          </p:txBody>
        </p:sp>
      </p:grpSp>
      <p:grpSp>
        <p:nvGrpSpPr>
          <p:cNvPr id="16" name="page-lead"/>
          <p:cNvGrpSpPr/>
          <p:nvPr/>
        </p:nvGrpSpPr>
        <p:grpSpPr>
          <a:xfrm>
            <a:off x="1190625" y="1333500"/>
            <a:ext cx="5636158" cy="289310"/>
            <a:chOff x="1190625" y="1333500"/>
            <a:chExt cx="5636158" cy="289310"/>
          </a:xfrm>
        </p:grpSpPr>
        <p:sp>
          <p:nvSpPr>
            <p:cNvPr id="15" name="TextBox 15"/>
            <p:cNvSpPr txBox="1"/>
            <p:nvPr/>
          </p:nvSpPr>
          <p:spPr>
            <a:xfrm>
              <a:off x="1190625" y="1333500"/>
              <a:ext cx="5636158"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隐私保护之外，还要保证协议能完成、结果可解释</a:t>
              </a:r>
            </a:p>
          </p:txBody>
        </p:sp>
      </p:grpSp>
      <p:grpSp>
        <p:nvGrpSpPr>
          <p:cNvPr id="25" name="four-points"/>
          <p:cNvGrpSpPr/>
          <p:nvPr/>
        </p:nvGrpSpPr>
        <p:grpSpPr>
          <a:xfrm>
            <a:off x="1397508" y="2409825"/>
            <a:ext cx="10182616" cy="3014218"/>
            <a:chOff x="1397508" y="2409825"/>
            <a:chExt cx="10182616" cy="3014218"/>
          </a:xfrm>
        </p:grpSpPr>
        <p:sp>
          <p:nvSpPr>
            <p:cNvPr id="17" name="TextBox 17"/>
            <p:cNvSpPr txBox="1"/>
            <p:nvPr/>
          </p:nvSpPr>
          <p:spPr>
            <a:xfrm>
              <a:off x="2325390" y="2409825"/>
              <a:ext cx="1665585" cy="289310"/>
            </a:xfrm>
            <a:prstGeom prst="rect">
              <a:avLst/>
            </a:prstGeom>
            <a:noFill/>
            <a:ln>
              <a:noFill/>
            </a:ln>
          </p:spPr>
          <p:txBody>
            <a:bodyPr wrap="none" lIns="0" tIns="0" rIns="0" bIns="0" anchor="t" anchorCtr="0">
              <a:spAutoFit/>
            </a:bodyPr>
            <a:lstStyle/>
            <a:p>
              <a:pPr algn="r"/>
              <a:r>
                <a:rPr lang="en-US" sz="1880" b="1" dirty="0">
                  <a:solidFill>
                    <a:srgbClr val="203864"/>
                  </a:solidFill>
                  <a:latin typeface="Microsoft YaHei"/>
                  <a:ea typeface="Microsoft YaHei"/>
                  <a:cs typeface="Microsoft YaHei"/>
                </a:rPr>
                <a:t>Privacy </a:t>
              </a:r>
              <a:r>
                <a:rPr lang="zh-CN" altLang="en-US" sz="1880" b="1" dirty="0">
                  <a:solidFill>
                    <a:srgbClr val="203864"/>
                  </a:solidFill>
                  <a:latin typeface="Microsoft YaHei"/>
                  <a:ea typeface="Microsoft YaHei"/>
                  <a:cs typeface="Microsoft YaHei"/>
                </a:rPr>
                <a:t>隐私性</a:t>
              </a:r>
              <a:endParaRPr lang="en-US" sz="1880" b="1" dirty="0">
                <a:solidFill>
                  <a:srgbClr val="203864"/>
                </a:solidFill>
                <a:latin typeface="Microsoft YaHei"/>
                <a:ea typeface="Microsoft YaHei"/>
                <a:cs typeface="Microsoft YaHei"/>
              </a:endParaRPr>
            </a:p>
          </p:txBody>
        </p:sp>
        <p:sp>
          <p:nvSpPr>
            <p:cNvPr id="18" name="TextBox 18"/>
            <p:cNvSpPr txBox="1"/>
            <p:nvPr/>
          </p:nvSpPr>
          <p:spPr>
            <a:xfrm>
              <a:off x="1458468" y="2832100"/>
              <a:ext cx="2531364" cy="620268"/>
            </a:xfrm>
            <a:prstGeom prst="rect">
              <a:avLst/>
            </a:prstGeom>
            <a:noFill/>
            <a:ln>
              <a:noFill/>
            </a:ln>
          </p:spPr>
          <p:txBody>
            <a:bodyPr wrap="none" lIns="0" tIns="0" rIns="0" bIns="0" anchor="t" anchorCtr="0">
              <a:spAutoFit/>
            </a:bodyPr>
            <a:lstStyle/>
            <a:p>
              <a:pPr algn="r">
                <a:lnSpc>
                  <a:spcPts val="2343"/>
                </a:lnSpc>
              </a:pPr>
              <a:r>
                <a:rPr lang="zh-CN" sz="1650" dirty="0">
                  <a:solidFill>
                    <a:srgbClr val="24364A"/>
                  </a:solidFill>
                  <a:latin typeface="Microsoft YaHei"/>
                  <a:ea typeface="Microsoft YaHei"/>
                  <a:cs typeface="Microsoft YaHei"/>
                </a:rPr>
                <a:t>服务器只学习聚合结果</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及由结果本身可推出的信息</a:t>
              </a:r>
            </a:p>
          </p:txBody>
        </p:sp>
        <p:sp>
          <p:nvSpPr>
            <p:cNvPr id="19" name="TextBox 19"/>
            <p:cNvSpPr txBox="1"/>
            <p:nvPr/>
          </p:nvSpPr>
          <p:spPr>
            <a:xfrm>
              <a:off x="7867650" y="2409825"/>
              <a:ext cx="3549650" cy="289310"/>
            </a:xfrm>
            <a:prstGeom prst="rect">
              <a:avLst/>
            </a:prstGeom>
            <a:noFill/>
            <a:ln>
              <a:noFill/>
            </a:ln>
          </p:spPr>
          <p:txBody>
            <a:bodyPr wrap="square" lIns="0" tIns="0" rIns="0" bIns="0" anchor="t" anchorCtr="0">
              <a:spAutoFit/>
            </a:bodyPr>
            <a:lstStyle/>
            <a:p>
              <a:pPr algn="l"/>
              <a:r>
                <a:rPr lang="en-US" sz="1880" b="1" dirty="0">
                  <a:solidFill>
                    <a:srgbClr val="203864"/>
                  </a:solidFill>
                  <a:latin typeface="Microsoft YaHei"/>
                  <a:ea typeface="Microsoft YaHei"/>
                  <a:cs typeface="Microsoft YaHei"/>
                </a:rPr>
                <a:t>Dropout Resilience </a:t>
              </a:r>
              <a:r>
                <a:rPr lang="zh-CN" altLang="en-US" sz="1880" b="1" dirty="0">
                  <a:solidFill>
                    <a:srgbClr val="203864"/>
                  </a:solidFill>
                  <a:latin typeface="Microsoft YaHei"/>
                  <a:ea typeface="Microsoft YaHei"/>
                  <a:cs typeface="Microsoft YaHei"/>
                </a:rPr>
                <a:t>抗掉线性</a:t>
              </a:r>
              <a:endParaRPr lang="en-US" sz="1880" b="1" dirty="0">
                <a:solidFill>
                  <a:srgbClr val="203864"/>
                </a:solidFill>
                <a:latin typeface="Microsoft YaHei"/>
                <a:ea typeface="Microsoft YaHei"/>
                <a:cs typeface="Microsoft YaHei"/>
              </a:endParaRPr>
            </a:p>
          </p:txBody>
        </p:sp>
        <p:sp>
          <p:nvSpPr>
            <p:cNvPr id="20" name="TextBox 20"/>
            <p:cNvSpPr txBox="1"/>
            <p:nvPr/>
          </p:nvSpPr>
          <p:spPr>
            <a:xfrm>
              <a:off x="7868793" y="2832100"/>
              <a:ext cx="1902714" cy="620268"/>
            </a:xfrm>
            <a:prstGeom prst="rect">
              <a:avLst/>
            </a:prstGeom>
            <a:noFill/>
            <a:ln>
              <a:noFill/>
            </a:ln>
          </p:spPr>
          <p:txBody>
            <a:bodyPr wrap="none" lIns="0" tIns="0" rIns="0" bIns="0" anchor="t" anchorCtr="0">
              <a:spAutoFit/>
            </a:bodyPr>
            <a:lstStyle/>
            <a:p>
              <a:pPr algn="l">
                <a:lnSpc>
                  <a:spcPts val="2343"/>
                </a:lnSpc>
              </a:pPr>
              <a:r>
                <a:rPr lang="zh-CN" sz="1650" dirty="0">
                  <a:solidFill>
                    <a:srgbClr val="24364A"/>
                  </a:solidFill>
                  <a:latin typeface="Microsoft YaHei"/>
                  <a:ea typeface="Microsoft YaHei"/>
                  <a:cs typeface="Microsoft YaHei"/>
                </a:rPr>
                <a:t>部分诚实客户端掉线</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仍能完成聚合</a:t>
              </a:r>
            </a:p>
          </p:txBody>
        </p:sp>
        <p:sp>
          <p:nvSpPr>
            <p:cNvPr id="21" name="TextBox 21"/>
            <p:cNvSpPr txBox="1"/>
            <p:nvPr/>
          </p:nvSpPr>
          <p:spPr>
            <a:xfrm>
              <a:off x="1397508" y="4381500"/>
              <a:ext cx="2593467" cy="289310"/>
            </a:xfrm>
            <a:prstGeom prst="rect">
              <a:avLst/>
            </a:prstGeom>
            <a:noFill/>
            <a:ln>
              <a:noFill/>
            </a:ln>
          </p:spPr>
          <p:txBody>
            <a:bodyPr wrap="square" lIns="0" tIns="0" rIns="0" bIns="0" anchor="t" anchorCtr="0">
              <a:spAutoFit/>
            </a:bodyPr>
            <a:lstStyle/>
            <a:p>
              <a:pPr algn="r"/>
              <a:r>
                <a:rPr lang="en-US" sz="1880" b="1" dirty="0">
                  <a:solidFill>
                    <a:srgbClr val="203864"/>
                  </a:solidFill>
                  <a:latin typeface="Microsoft YaHei"/>
                  <a:ea typeface="Microsoft YaHei"/>
                  <a:cs typeface="Microsoft YaHei"/>
                </a:rPr>
                <a:t>Robustness </a:t>
              </a:r>
              <a:r>
                <a:rPr lang="zh-CN" altLang="en-US" sz="1880" b="1" dirty="0">
                  <a:solidFill>
                    <a:srgbClr val="203864"/>
                  </a:solidFill>
                  <a:latin typeface="Microsoft YaHei"/>
                  <a:ea typeface="Microsoft YaHei"/>
                  <a:cs typeface="Microsoft YaHei"/>
                </a:rPr>
                <a:t>鲁棒性</a:t>
              </a:r>
              <a:endParaRPr lang="en-US" sz="1880" b="1" dirty="0">
                <a:solidFill>
                  <a:srgbClr val="203864"/>
                </a:solidFill>
                <a:latin typeface="Microsoft YaHei"/>
                <a:ea typeface="Microsoft YaHei"/>
                <a:cs typeface="Microsoft YaHei"/>
              </a:endParaRPr>
            </a:p>
          </p:txBody>
        </p:sp>
        <p:sp>
          <p:nvSpPr>
            <p:cNvPr id="22" name="TextBox 22"/>
            <p:cNvSpPr txBox="1"/>
            <p:nvPr/>
          </p:nvSpPr>
          <p:spPr>
            <a:xfrm>
              <a:off x="2087118" y="4803775"/>
              <a:ext cx="1902714" cy="620268"/>
            </a:xfrm>
            <a:prstGeom prst="rect">
              <a:avLst/>
            </a:prstGeom>
            <a:noFill/>
            <a:ln>
              <a:noFill/>
            </a:ln>
          </p:spPr>
          <p:txBody>
            <a:bodyPr wrap="none" lIns="0" tIns="0" rIns="0" bIns="0" anchor="t" anchorCtr="0">
              <a:spAutoFit/>
            </a:bodyPr>
            <a:lstStyle/>
            <a:p>
              <a:pPr algn="r">
                <a:lnSpc>
                  <a:spcPts val="2343"/>
                </a:lnSpc>
              </a:pPr>
              <a:r>
                <a:rPr lang="zh-CN" sz="1650" dirty="0">
                  <a:solidFill>
                    <a:srgbClr val="24364A"/>
                  </a:solidFill>
                  <a:latin typeface="Microsoft YaHei"/>
                  <a:ea typeface="Microsoft YaHei"/>
                  <a:cs typeface="Microsoft YaHei"/>
                </a:rPr>
                <a:t>恶意影响必须等价于</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选择了某些输入</a:t>
              </a:r>
            </a:p>
          </p:txBody>
        </p:sp>
        <p:sp>
          <p:nvSpPr>
            <p:cNvPr id="23" name="TextBox 23"/>
            <p:cNvSpPr txBox="1"/>
            <p:nvPr/>
          </p:nvSpPr>
          <p:spPr>
            <a:xfrm>
              <a:off x="7915275" y="4381500"/>
              <a:ext cx="3664849" cy="289310"/>
            </a:xfrm>
            <a:prstGeom prst="rect">
              <a:avLst/>
            </a:prstGeom>
            <a:noFill/>
            <a:ln>
              <a:noFill/>
            </a:ln>
          </p:spPr>
          <p:txBody>
            <a:bodyPr wrap="none" lIns="0" tIns="0" rIns="0" bIns="0" anchor="t" anchorCtr="0">
              <a:spAutoFit/>
            </a:bodyPr>
            <a:lstStyle/>
            <a:p>
              <a:pPr algn="l"/>
              <a:r>
                <a:rPr lang="en-US" sz="1880" b="1" dirty="0">
                  <a:solidFill>
                    <a:srgbClr val="203864"/>
                  </a:solidFill>
                  <a:latin typeface="Microsoft YaHei"/>
                  <a:ea typeface="Microsoft YaHei"/>
                  <a:cs typeface="Microsoft YaHei"/>
                </a:rPr>
                <a:t>Disruption Resistance </a:t>
              </a:r>
              <a:r>
                <a:rPr lang="zh-CN" altLang="en-US" sz="1880" b="1" dirty="0">
                  <a:solidFill>
                    <a:srgbClr val="203864"/>
                  </a:solidFill>
                  <a:latin typeface="Microsoft YaHei"/>
                  <a:ea typeface="Microsoft YaHei"/>
                  <a:cs typeface="Microsoft YaHei"/>
                </a:rPr>
                <a:t>抗破坏性</a:t>
              </a:r>
              <a:endParaRPr lang="en-US" sz="1880" b="1" dirty="0">
                <a:solidFill>
                  <a:srgbClr val="203864"/>
                </a:solidFill>
                <a:latin typeface="Microsoft YaHei"/>
                <a:ea typeface="Microsoft YaHei"/>
                <a:cs typeface="Microsoft YaHei"/>
              </a:endParaRPr>
            </a:p>
          </p:txBody>
        </p:sp>
        <p:sp>
          <p:nvSpPr>
            <p:cNvPr id="24" name="TextBox 24"/>
            <p:cNvSpPr txBox="1"/>
            <p:nvPr/>
          </p:nvSpPr>
          <p:spPr>
            <a:xfrm>
              <a:off x="7916418" y="4803775"/>
              <a:ext cx="2112264" cy="620268"/>
            </a:xfrm>
            <a:prstGeom prst="rect">
              <a:avLst/>
            </a:prstGeom>
            <a:noFill/>
            <a:ln>
              <a:noFill/>
            </a:ln>
          </p:spPr>
          <p:txBody>
            <a:bodyPr wrap="none" lIns="0" tIns="0" rIns="0" bIns="0" anchor="t" anchorCtr="0">
              <a:spAutoFit/>
            </a:bodyPr>
            <a:lstStyle/>
            <a:p>
              <a:pPr algn="l">
                <a:lnSpc>
                  <a:spcPts val="2343"/>
                </a:lnSpc>
              </a:pPr>
              <a:r>
                <a:rPr lang="zh-CN" sz="1650" dirty="0">
                  <a:solidFill>
                    <a:srgbClr val="24364A"/>
                  </a:solidFill>
                  <a:latin typeface="Microsoft YaHei"/>
                  <a:ea typeface="Microsoft YaHei"/>
                  <a:cs typeface="Microsoft YaHei"/>
                </a:rPr>
                <a:t>恶意输入还必须属于</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预先定义的合法输入域</a:t>
              </a:r>
            </a:p>
          </p:txBody>
        </p:sp>
      </p:grpSp>
      <p:grpSp>
        <p:nvGrpSpPr>
          <p:cNvPr id="27" name="takeaway"/>
          <p:cNvGrpSpPr/>
          <p:nvPr/>
        </p:nvGrpSpPr>
        <p:grpSpPr>
          <a:xfrm>
            <a:off x="3669919" y="5990879"/>
            <a:ext cx="4852161" cy="264688"/>
            <a:chOff x="3536569" y="6036603"/>
            <a:chExt cx="4852161" cy="264688"/>
          </a:xfrm>
        </p:grpSpPr>
        <p:sp>
          <p:nvSpPr>
            <p:cNvPr id="26" name="TextBox 26"/>
            <p:cNvSpPr txBox="1"/>
            <p:nvPr/>
          </p:nvSpPr>
          <p:spPr>
            <a:xfrm>
              <a:off x="3536569" y="6036603"/>
              <a:ext cx="4852161" cy="264688"/>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抗破坏性= 鲁棒性+ 输入验证</a:t>
              </a:r>
              <a:r>
                <a:rPr lang="en-US" altLang="zh-CN" sz="1720" b="1" dirty="0">
                  <a:solidFill>
                    <a:srgbClr val="203864"/>
                  </a:solidFill>
                  <a:latin typeface="Microsoft YaHei"/>
                  <a:ea typeface="Microsoft YaHei"/>
                  <a:cs typeface="Microsoft YaHei"/>
                </a:rPr>
                <a:t>(Input Validation)</a:t>
              </a:r>
              <a:endParaRPr lang="zh-CN" sz="1720" b="1" dirty="0">
                <a:solidFill>
                  <a:srgbClr val="203864"/>
                </a:solidFill>
                <a:latin typeface="Microsoft YaHei"/>
                <a:ea typeface="Microsoft YaHei"/>
                <a:cs typeface="Microsoft YaHei"/>
              </a:endParaRPr>
            </a:p>
          </p:txBody>
        </p:sp>
      </p:grpSp>
    </p:spTree>
    <p:extLst>
      <p:ext uri="{BB962C8B-B14F-4D97-AF65-F5344CB8AC3E}">
        <p14:creationId xmlns:p14="http://schemas.microsoft.com/office/powerpoint/2010/main" val="63360171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同侧圆角矩形 30"/>
          <p:cNvSpPr/>
          <p:nvPr/>
        </p:nvSpPr>
        <p:spPr>
          <a:xfrm rot="5400000">
            <a:off x="7164527" y="-476815"/>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8" name="同侧圆角矩形 27"/>
          <p:cNvSpPr/>
          <p:nvPr/>
        </p:nvSpPr>
        <p:spPr>
          <a:xfrm rot="5400000">
            <a:off x="6868441" y="2600015"/>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9" name="同侧圆角矩形 28"/>
          <p:cNvSpPr/>
          <p:nvPr/>
        </p:nvSpPr>
        <p:spPr>
          <a:xfrm rot="5400000">
            <a:off x="7437231" y="1390582"/>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grpSp>
        <p:nvGrpSpPr>
          <p:cNvPr id="7" name="组合 6"/>
          <p:cNvGrpSpPr/>
          <p:nvPr/>
        </p:nvGrpSpPr>
        <p:grpSpPr>
          <a:xfrm>
            <a:off x="1064126" y="2468607"/>
            <a:ext cx="3253183" cy="3253182"/>
            <a:chOff x="1044402" y="2721102"/>
            <a:chExt cx="3253183" cy="3253182"/>
          </a:xfrm>
        </p:grpSpPr>
        <p:sp>
          <p:nvSpPr>
            <p:cNvPr id="58" name="shape-22"/>
            <p:cNvSpPr/>
            <p:nvPr/>
          </p:nvSpPr>
          <p:spPr>
            <a:xfrm>
              <a:off x="2039398" y="2980372"/>
              <a:ext cx="1991963" cy="1991963"/>
            </a:xfrm>
            <a:prstGeom prst="ellipse">
              <a:avLst/>
            </a:prstGeom>
            <a:noFill/>
            <a:ln w="19050">
              <a:solidFill>
                <a:srgbClr val="313D51"/>
              </a:solidFill>
            </a:ln>
          </p:spPr>
        </p:sp>
        <p:sp>
          <p:nvSpPr>
            <p:cNvPr id="10" name="shape-23"/>
            <p:cNvSpPr/>
            <p:nvPr/>
          </p:nvSpPr>
          <p:spPr>
            <a:xfrm>
              <a:off x="1781366" y="2721102"/>
              <a:ext cx="2516219" cy="2516219"/>
            </a:xfrm>
            <a:prstGeom prst="donut">
              <a:avLst>
                <a:gd name="adj" fmla="val 7853"/>
              </a:avLst>
            </a:prstGeom>
            <a:solidFill>
              <a:srgbClr val="203864"/>
            </a:solidFill>
            <a:ln>
              <a:noFill/>
            </a:ln>
          </p:spPr>
        </p:sp>
        <p:sp>
          <p:nvSpPr>
            <p:cNvPr id="11" name="shape-26"/>
            <p:cNvSpPr/>
            <p:nvPr/>
          </p:nvSpPr>
          <p:spPr>
            <a:xfrm>
              <a:off x="1044402" y="4730833"/>
              <a:ext cx="1265206" cy="1243451"/>
            </a:xfrm>
            <a:custGeom>
              <a:avLst/>
              <a:gdLst/>
              <a:ahLst/>
              <a:cxnLst/>
              <a:rect l="l" t="t" r="r" b="b"/>
              <a:pathLst>
                <a:path w="1265206" h="1243451">
                  <a:moveTo>
                    <a:pt x="746596" y="181783"/>
                  </a:moveTo>
                  <a:lnTo>
                    <a:pt x="1061668" y="496855"/>
                  </a:lnTo>
                  <a:lnTo>
                    <a:pt x="402091" y="1156432"/>
                  </a:lnTo>
                  <a:cubicBezTo>
                    <a:pt x="315072" y="1243451"/>
                    <a:pt x="174037" y="1243451"/>
                    <a:pt x="87019" y="1156432"/>
                  </a:cubicBezTo>
                  <a:cubicBezTo>
                    <a:pt x="0" y="1069414"/>
                    <a:pt x="0" y="928379"/>
                    <a:pt x="87019" y="841360"/>
                  </a:cubicBezTo>
                  <a:close/>
                  <a:moveTo>
                    <a:pt x="1020651" y="0"/>
                  </a:moveTo>
                  <a:cubicBezTo>
                    <a:pt x="1077698" y="67"/>
                    <a:pt x="1134678" y="21755"/>
                    <a:pt x="1178187" y="65264"/>
                  </a:cubicBezTo>
                  <a:cubicBezTo>
                    <a:pt x="1265206" y="152283"/>
                    <a:pt x="1265206" y="293318"/>
                    <a:pt x="1178187" y="380336"/>
                  </a:cubicBezTo>
                  <a:lnTo>
                    <a:pt x="1099385" y="459138"/>
                  </a:lnTo>
                  <a:lnTo>
                    <a:pt x="784313" y="144066"/>
                  </a:lnTo>
                  <a:lnTo>
                    <a:pt x="863115" y="65264"/>
                  </a:lnTo>
                  <a:cubicBezTo>
                    <a:pt x="906624" y="21755"/>
                    <a:pt x="963671" y="0"/>
                    <a:pt x="1020651" y="0"/>
                  </a:cubicBezTo>
                  <a:close/>
                </a:path>
              </a:pathLst>
            </a:custGeom>
            <a:solidFill>
              <a:srgbClr val="203864"/>
            </a:solidFill>
            <a:ln>
              <a:noFill/>
            </a:ln>
          </p:spPr>
        </p:sp>
        <p:sp>
          <p:nvSpPr>
            <p:cNvPr id="12" name="shape-5"/>
            <p:cNvSpPr/>
            <p:nvPr/>
          </p:nvSpPr>
          <p:spPr>
            <a:xfrm rot="2700000">
              <a:off x="1880140" y="4692968"/>
              <a:ext cx="593217" cy="292417"/>
            </a:xfrm>
            <a:prstGeom prst="roundRect">
              <a:avLst/>
            </a:prstGeom>
            <a:solidFill>
              <a:srgbClr val="203864"/>
            </a:solidFill>
            <a:ln>
              <a:noFill/>
            </a:ln>
          </p:spPr>
        </p:sp>
        <p:sp>
          <p:nvSpPr>
            <p:cNvPr id="13" name="TextBox 13"/>
            <p:cNvSpPr txBox="1"/>
            <p:nvPr/>
          </p:nvSpPr>
          <p:spPr>
            <a:xfrm>
              <a:off x="2188947" y="3775075"/>
              <a:ext cx="1692772" cy="507831"/>
            </a:xfrm>
            <a:prstGeom prst="rect">
              <a:avLst/>
            </a:prstGeom>
            <a:noFill/>
            <a:ln>
              <a:noFill/>
            </a:ln>
          </p:spPr>
          <p:txBody>
            <a:bodyPr wrap="none" lIns="0" tIns="0" rIns="0" bIns="0" anchor="t" anchorCtr="0">
              <a:spAutoFit/>
            </a:bodyPr>
            <a:lstStyle/>
            <a:p>
              <a:pPr algn="ctr"/>
              <a:r>
                <a:rPr lang="zh-CN" altLang="en-US" sz="3300" b="1" dirty="0">
                  <a:solidFill>
                    <a:srgbClr val="203864"/>
                  </a:solidFill>
                  <a:latin typeface="Microsoft YaHei"/>
                  <a:ea typeface="Microsoft YaHei"/>
                  <a:cs typeface="Microsoft YaHei"/>
                </a:rPr>
                <a:t>威胁</a:t>
              </a:r>
              <a:r>
                <a:rPr lang="zh-CN" sz="3300" b="1" dirty="0">
                  <a:solidFill>
                    <a:srgbClr val="203864"/>
                  </a:solidFill>
                  <a:latin typeface="Microsoft YaHei"/>
                  <a:ea typeface="Microsoft YaHei"/>
                  <a:cs typeface="Microsoft YaHei"/>
                </a:rPr>
                <a:t>模型</a:t>
              </a:r>
            </a:p>
          </p:txBody>
        </p:sp>
      </p:grpSp>
      <p:sp>
        <p:nvSpPr>
          <p:cNvPr id="35" name="椭圆 34"/>
          <p:cNvSpPr/>
          <p:nvPr/>
        </p:nvSpPr>
        <p:spPr>
          <a:xfrm>
            <a:off x="4302772" y="1889221"/>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400" dirty="0">
                <a:solidFill>
                  <a:schemeClr val="bg1"/>
                </a:solidFill>
                <a:cs typeface="+mn-ea"/>
                <a:sym typeface="+mn-lt"/>
              </a:rPr>
              <a:t>01</a:t>
            </a:r>
            <a:endParaRPr lang="zh-CN" altLang="en-US" sz="2400" dirty="0">
              <a:solidFill>
                <a:schemeClr val="bg1"/>
              </a:solidFill>
              <a:cs typeface="+mn-ea"/>
              <a:sym typeface="+mn-lt"/>
            </a:endParaRPr>
          </a:p>
        </p:txBody>
      </p:sp>
      <p:sp>
        <p:nvSpPr>
          <p:cNvPr id="36" name="椭圆 4"/>
          <p:cNvSpPr/>
          <p:nvPr/>
        </p:nvSpPr>
        <p:spPr>
          <a:xfrm>
            <a:off x="4226854" y="1812694"/>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cs typeface="+mn-ea"/>
              <a:sym typeface="+mn-lt"/>
            </a:endParaRPr>
          </a:p>
        </p:txBody>
      </p:sp>
      <p:sp>
        <p:nvSpPr>
          <p:cNvPr id="40" name="椭圆 39"/>
          <p:cNvSpPr/>
          <p:nvPr/>
        </p:nvSpPr>
        <p:spPr>
          <a:xfrm>
            <a:off x="5075625" y="3389459"/>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sp>
        <p:nvSpPr>
          <p:cNvPr id="42" name="椭圆 4"/>
          <p:cNvSpPr/>
          <p:nvPr/>
        </p:nvSpPr>
        <p:spPr>
          <a:xfrm>
            <a:off x="4999707" y="3312932"/>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cs typeface="+mn-ea"/>
              <a:sym typeface="+mn-lt"/>
            </a:endParaRPr>
          </a:p>
        </p:txBody>
      </p:sp>
      <p:sp>
        <p:nvSpPr>
          <p:cNvPr id="56" name="椭圆 55"/>
          <p:cNvSpPr/>
          <p:nvPr/>
        </p:nvSpPr>
        <p:spPr>
          <a:xfrm>
            <a:off x="4323455" y="4764653"/>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sp>
        <p:nvSpPr>
          <p:cNvPr id="57" name="椭圆 4"/>
          <p:cNvSpPr/>
          <p:nvPr/>
        </p:nvSpPr>
        <p:spPr>
          <a:xfrm>
            <a:off x="4247537" y="4688126"/>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sz="1200">
              <a:cs typeface="+mn-ea"/>
              <a:sym typeface="+mn-lt"/>
            </a:endParaRPr>
          </a:p>
        </p:txBody>
      </p:sp>
      <p:grpSp>
        <p:nvGrpSpPr>
          <p:cNvPr id="3" name="组合 2">
            <a:extLst>
              <a:ext uri="{FF2B5EF4-FFF2-40B4-BE49-F238E27FC236}">
                <a16:creationId xmlns:a16="http://schemas.microsoft.com/office/drawing/2014/main" id="{24AAAC5F-4032-5B15-DE9E-79A5D73859E4}"/>
              </a:ext>
            </a:extLst>
          </p:cNvPr>
          <p:cNvGrpSpPr/>
          <p:nvPr/>
        </p:nvGrpSpPr>
        <p:grpSpPr>
          <a:xfrm>
            <a:off x="0" y="-1"/>
            <a:ext cx="1857829" cy="1181101"/>
            <a:chOff x="0" y="0"/>
            <a:chExt cx="2590667" cy="4976958"/>
          </a:xfrm>
        </p:grpSpPr>
        <p:sp>
          <p:nvSpPr>
            <p:cNvPr id="4" name="矩形 1">
              <a:extLst>
                <a:ext uri="{FF2B5EF4-FFF2-40B4-BE49-F238E27FC236}">
                  <a16:creationId xmlns:a16="http://schemas.microsoft.com/office/drawing/2014/main" id="{734A8238-3D43-B2E2-2190-12E487A0A502}"/>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1">
              <a:extLst>
                <a:ext uri="{FF2B5EF4-FFF2-40B4-BE49-F238E27FC236}">
                  <a16:creationId xmlns:a16="http://schemas.microsoft.com/office/drawing/2014/main" id="{E21A4C6B-530D-E6EF-6268-837767AA114F}"/>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8" name="直接连接符 7">
            <a:extLst>
              <a:ext uri="{FF2B5EF4-FFF2-40B4-BE49-F238E27FC236}">
                <a16:creationId xmlns:a16="http://schemas.microsoft.com/office/drawing/2014/main" id="{5D5D0118-270D-3A3D-E207-DD15E49A9274}"/>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威胁模型与阈值条件</a:t>
            </a:r>
          </a:p>
        </p:txBody>
      </p:sp>
      <p:grpSp>
        <p:nvGrpSpPr>
          <p:cNvPr id="25" name="page-footer"/>
          <p:cNvGrpSpPr/>
          <p:nvPr/>
        </p:nvGrpSpPr>
        <p:grpSpPr>
          <a:xfrm>
            <a:off x="1194816" y="6426200"/>
            <a:ext cx="9954768" cy="205359"/>
            <a:chOff x="1194816" y="6426200"/>
            <a:chExt cx="9954768" cy="205359"/>
          </a:xfrm>
        </p:grpSpPr>
        <p:sp>
          <p:nvSpPr>
            <p:cNvPr id="23" name="TextBox 23"/>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4" name="TextBox 24"/>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05 / 23</a:t>
              </a:r>
            </a:p>
          </p:txBody>
        </p:sp>
      </p:grpSp>
      <p:grpSp>
        <p:nvGrpSpPr>
          <p:cNvPr id="27" name="page-lead"/>
          <p:cNvGrpSpPr/>
          <p:nvPr/>
        </p:nvGrpSpPr>
        <p:grpSpPr>
          <a:xfrm>
            <a:off x="1190625" y="1333500"/>
            <a:ext cx="4340932" cy="289310"/>
            <a:chOff x="1190625" y="1333500"/>
            <a:chExt cx="4340932" cy="289310"/>
          </a:xfrm>
        </p:grpSpPr>
        <p:sp>
          <p:nvSpPr>
            <p:cNvPr id="26" name="TextBox 26"/>
            <p:cNvSpPr txBox="1"/>
            <p:nvPr/>
          </p:nvSpPr>
          <p:spPr>
            <a:xfrm>
              <a:off x="1190625" y="1333500"/>
              <a:ext cx="4340932"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altLang="en-US" sz="1880" b="1" dirty="0">
                  <a:solidFill>
                    <a:srgbClr val="203864"/>
                  </a:solidFill>
                  <a:latin typeface="Microsoft YaHei"/>
                  <a:ea typeface="Microsoft YaHei"/>
                  <a:cs typeface="Microsoft YaHei"/>
                </a:rPr>
                <a:t>要求 ：</a:t>
              </a:r>
              <a:r>
                <a:rPr lang="zh-CN" sz="1880" b="1" dirty="0">
                  <a:solidFill>
                    <a:srgbClr val="203864"/>
                  </a:solidFill>
                  <a:latin typeface="Microsoft YaHei"/>
                  <a:ea typeface="Microsoft YaHei"/>
                  <a:cs typeface="Microsoft YaHei"/>
                </a:rPr>
                <a:t>δ + η &lt; 1/3；δ</a:t>
              </a:r>
              <a:r>
                <a:rPr lang="zh-CN" sz="1880" b="1" baseline="-25000" dirty="0">
                  <a:solidFill>
                    <a:srgbClr val="203864"/>
                  </a:solidFill>
                  <a:latin typeface="Microsoft YaHei"/>
                  <a:ea typeface="Microsoft YaHei"/>
                  <a:cs typeface="Microsoft YaHei"/>
                </a:rPr>
                <a:t>C</a:t>
              </a:r>
              <a:r>
                <a:rPr lang="zh-CN" sz="1880" b="1" dirty="0">
                  <a:solidFill>
                    <a:srgbClr val="203864"/>
                  </a:solidFill>
                  <a:latin typeface="Microsoft YaHei"/>
                  <a:ea typeface="Microsoft YaHei"/>
                  <a:cs typeface="Microsoft YaHei"/>
                </a:rPr>
                <a:t> + η</a:t>
              </a:r>
              <a:r>
                <a:rPr lang="en-US" altLang="zh-CN" sz="1880" b="1" baseline="-25000" dirty="0">
                  <a:solidFill>
                    <a:srgbClr val="203864"/>
                  </a:solidFill>
                  <a:latin typeface="Microsoft YaHei"/>
                  <a:ea typeface="Microsoft YaHei"/>
                </a:rPr>
                <a:t>C </a:t>
              </a:r>
              <a:r>
                <a:rPr lang="zh-CN" sz="1880" b="1" dirty="0">
                  <a:solidFill>
                    <a:srgbClr val="203864"/>
                  </a:solidFill>
                  <a:latin typeface="Microsoft YaHei"/>
                  <a:ea typeface="Microsoft YaHei"/>
                  <a:cs typeface="Microsoft YaHei"/>
                </a:rPr>
                <a:t>&lt; 1/3</a:t>
              </a:r>
            </a:p>
          </p:txBody>
        </p:sp>
      </p:grpSp>
      <p:grpSp>
        <p:nvGrpSpPr>
          <p:cNvPr id="39" name="three-row-content"/>
          <p:cNvGrpSpPr/>
          <p:nvPr/>
        </p:nvGrpSpPr>
        <p:grpSpPr>
          <a:xfrm>
            <a:off x="5242882" y="1924204"/>
            <a:ext cx="4419981" cy="3530516"/>
            <a:chOff x="5257419" y="2168525"/>
            <a:chExt cx="4419981" cy="3530516"/>
          </a:xfrm>
        </p:grpSpPr>
        <p:sp>
          <p:nvSpPr>
            <p:cNvPr id="30" name="TextBox 30"/>
            <p:cNvSpPr txBox="1"/>
            <p:nvPr/>
          </p:nvSpPr>
          <p:spPr>
            <a:xfrm>
              <a:off x="5257419" y="2168525"/>
              <a:ext cx="4419981" cy="300082"/>
            </a:xfrm>
            <a:prstGeom prst="rect">
              <a:avLst/>
            </a:prstGeom>
            <a:noFill/>
            <a:ln>
              <a:noFill/>
            </a:ln>
          </p:spPr>
          <p:txBody>
            <a:bodyPr wrap="square" lIns="0" tIns="0" rIns="0" bIns="0" anchor="t" anchorCtr="0">
              <a:spAutoFit/>
            </a:bodyPr>
            <a:lstStyle/>
            <a:p>
              <a:pPr algn="l"/>
              <a:r>
                <a:rPr lang="zh-CN" sz="1950" b="1" dirty="0">
                  <a:solidFill>
                    <a:srgbClr val="203864"/>
                  </a:solidFill>
                  <a:latin typeface="Microsoft YaHei"/>
                  <a:ea typeface="Microsoft YaHei"/>
                  <a:cs typeface="Microsoft YaHei"/>
                </a:rPr>
                <a:t>Server：</a:t>
              </a:r>
              <a:r>
                <a:rPr lang="zh-CN" altLang="en-US" sz="1950" b="1" dirty="0">
                  <a:solidFill>
                    <a:srgbClr val="203864"/>
                  </a:solidFill>
                  <a:latin typeface="Microsoft YaHei"/>
                  <a:ea typeface="Microsoft YaHei"/>
                  <a:cs typeface="Microsoft YaHei"/>
                </a:rPr>
                <a:t>诚实且好奇的半可信服务器</a:t>
              </a:r>
              <a:endParaRPr lang="zh-CN" sz="1950" b="1" dirty="0">
                <a:solidFill>
                  <a:srgbClr val="203864"/>
                </a:solidFill>
                <a:latin typeface="Microsoft YaHei"/>
                <a:ea typeface="Microsoft YaHei"/>
                <a:cs typeface="Microsoft YaHei"/>
              </a:endParaRPr>
            </a:p>
          </p:txBody>
        </p:sp>
        <p:sp>
          <p:nvSpPr>
            <p:cNvPr id="32" name="TextBox 32"/>
            <p:cNvSpPr txBox="1"/>
            <p:nvPr/>
          </p:nvSpPr>
          <p:spPr>
            <a:xfrm>
              <a:off x="5258943" y="2549525"/>
              <a:ext cx="3348609" cy="322707"/>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遵守协议、可串谋，试图推断输入</a:t>
              </a:r>
            </a:p>
          </p:txBody>
        </p:sp>
        <p:sp>
          <p:nvSpPr>
            <p:cNvPr id="33" name="TextBox 33"/>
            <p:cNvSpPr txBox="1"/>
            <p:nvPr/>
          </p:nvSpPr>
          <p:spPr>
            <a:xfrm>
              <a:off x="6047994" y="3673475"/>
              <a:ext cx="2317670"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Clients：每轮 n 个</a:t>
              </a:r>
            </a:p>
          </p:txBody>
        </p:sp>
        <p:sp>
          <p:nvSpPr>
            <p:cNvPr id="34" name="TextBox 34"/>
            <p:cNvSpPr txBox="1"/>
            <p:nvPr/>
          </p:nvSpPr>
          <p:spPr>
            <a:xfrm>
              <a:off x="6049518" y="4054475"/>
              <a:ext cx="2837726" cy="322707"/>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恶意比例 η；被动掉线比例 δ</a:t>
              </a:r>
            </a:p>
          </p:txBody>
        </p:sp>
        <p:sp>
          <p:nvSpPr>
            <p:cNvPr id="37" name="TextBox 37"/>
            <p:cNvSpPr txBox="1"/>
            <p:nvPr/>
          </p:nvSpPr>
          <p:spPr>
            <a:xfrm>
              <a:off x="5276469" y="5064125"/>
              <a:ext cx="2841969"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Decryptors：委员会 C</a:t>
              </a:r>
            </a:p>
          </p:txBody>
        </p:sp>
        <p:sp>
          <p:nvSpPr>
            <p:cNvPr id="38" name="TextBox 38"/>
            <p:cNvSpPr txBox="1"/>
            <p:nvPr/>
          </p:nvSpPr>
          <p:spPr>
            <a:xfrm>
              <a:off x="5277993" y="5445125"/>
              <a:ext cx="2486258" cy="253916"/>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腐化比例 η</a:t>
              </a:r>
              <a:r>
                <a:rPr lang="zh-CN" sz="1650" baseline="-25000" dirty="0">
                  <a:solidFill>
                    <a:srgbClr val="24364A"/>
                  </a:solidFill>
                  <a:latin typeface="Microsoft YaHei"/>
                  <a:ea typeface="Microsoft YaHei"/>
                  <a:cs typeface="Microsoft YaHei"/>
                </a:rPr>
                <a:t>C</a:t>
              </a:r>
              <a:r>
                <a:rPr lang="zh-CN" sz="1650" dirty="0">
                  <a:solidFill>
                    <a:srgbClr val="24364A"/>
                  </a:solidFill>
                  <a:latin typeface="Microsoft YaHei"/>
                  <a:ea typeface="Microsoft YaHei"/>
                  <a:cs typeface="Microsoft YaHei"/>
                </a:rPr>
                <a:t>；掉线比例 δ</a:t>
              </a:r>
              <a:r>
                <a:rPr lang="en-US" altLang="zh-CN" sz="1650" baseline="-25000" dirty="0">
                  <a:solidFill>
                    <a:srgbClr val="24364A"/>
                  </a:solidFill>
                  <a:latin typeface="Microsoft YaHei"/>
                  <a:ea typeface="Microsoft YaHei"/>
                </a:rPr>
                <a:t>C</a:t>
              </a:r>
            </a:p>
          </p:txBody>
        </p:sp>
      </p:grpSp>
      <p:grpSp>
        <p:nvGrpSpPr>
          <p:cNvPr id="43" name="conditions"/>
          <p:cNvGrpSpPr/>
          <p:nvPr/>
        </p:nvGrpSpPr>
        <p:grpSpPr>
          <a:xfrm>
            <a:off x="1192149" y="5962650"/>
            <a:ext cx="6609690" cy="308991"/>
            <a:chOff x="1192149" y="5962650"/>
            <a:chExt cx="6609690" cy="308991"/>
          </a:xfrm>
        </p:grpSpPr>
        <p:sp>
          <p:nvSpPr>
            <p:cNvPr id="41" name="TextBox 41"/>
            <p:cNvSpPr txBox="1"/>
            <p:nvPr/>
          </p:nvSpPr>
          <p:spPr>
            <a:xfrm>
              <a:off x="1192149" y="5962650"/>
              <a:ext cx="6609690" cy="308991"/>
            </a:xfrm>
            <a:prstGeom prst="rect">
              <a:avLst/>
            </a:prstGeom>
            <a:noFill/>
            <a:ln>
              <a:noFill/>
            </a:ln>
          </p:spPr>
          <p:txBody>
            <a:bodyPr wrap="none" lIns="0" tIns="0" rIns="0" bIns="0" anchor="t" anchorCtr="0">
              <a:spAutoFit/>
            </a:bodyPr>
            <a:lstStyle/>
            <a:p>
              <a:pPr algn="l"/>
              <a:r>
                <a:rPr lang="zh-CN" sz="1580" dirty="0">
                  <a:solidFill>
                    <a:srgbClr val="203864"/>
                  </a:solidFill>
                  <a:latin typeface="Microsoft YaHei"/>
                  <a:ea typeface="Microsoft YaHei"/>
                  <a:cs typeface="Microsoft YaHei"/>
                </a:rPr>
                <a:t>具体打包分享参数还须满足重构与纠错条件；不覆盖任意恶意服务器。</a:t>
              </a:r>
            </a:p>
          </p:txBody>
        </p:sp>
      </p:grpSp>
    </p:spTree>
    <p:extLst>
      <p:ext uri="{BB962C8B-B14F-4D97-AF65-F5344CB8AC3E}">
        <p14:creationId xmlns:p14="http://schemas.microsoft.com/office/powerpoint/2010/main" val="101358038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A2AC639-FFEF-4E18-03AB-A1297A215657}"/>
              </a:ext>
            </a:extLst>
          </p:cNvPr>
          <p:cNvGrpSpPr/>
          <p:nvPr/>
        </p:nvGrpSpPr>
        <p:grpSpPr>
          <a:xfrm>
            <a:off x="0" y="-1"/>
            <a:ext cx="1857829" cy="1181101"/>
            <a:chOff x="0" y="0"/>
            <a:chExt cx="2590667" cy="4976958"/>
          </a:xfrm>
        </p:grpSpPr>
        <p:sp>
          <p:nvSpPr>
            <p:cNvPr id="7" name="矩形 1">
              <a:extLst>
                <a:ext uri="{FF2B5EF4-FFF2-40B4-BE49-F238E27FC236}">
                  <a16:creationId xmlns:a16="http://schemas.microsoft.com/office/drawing/2014/main" id="{E25EF265-AE7A-1C57-07E8-394857629B07}"/>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a:extLst>
                <a:ext uri="{FF2B5EF4-FFF2-40B4-BE49-F238E27FC236}">
                  <a16:creationId xmlns:a16="http://schemas.microsoft.com/office/drawing/2014/main" id="{B00C0EC2-1C0E-8B5A-D8A4-56D604F3BC6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a:extLst>
              <a:ext uri="{FF2B5EF4-FFF2-40B4-BE49-F238E27FC236}">
                <a16:creationId xmlns:a16="http://schemas.microsoft.com/office/drawing/2014/main" id="{BB0593E9-0105-4C31-26BC-3ABFB99B8850}"/>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双层聚合：大向量转为小密钥</a:t>
            </a:r>
          </a:p>
        </p:txBody>
      </p:sp>
      <p:grpSp>
        <p:nvGrpSpPr>
          <p:cNvPr id="26"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7"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06 / 23</a:t>
              </a:r>
            </a:p>
          </p:txBody>
        </p:sp>
      </p:grpSp>
      <p:grpSp>
        <p:nvGrpSpPr>
          <p:cNvPr id="12" name="page-lead"/>
          <p:cNvGrpSpPr/>
          <p:nvPr/>
        </p:nvGrpSpPr>
        <p:grpSpPr>
          <a:xfrm>
            <a:off x="1190625" y="1333500"/>
            <a:ext cx="6357510" cy="289310"/>
            <a:chOff x="1190625" y="1333500"/>
            <a:chExt cx="6357510" cy="289310"/>
          </a:xfrm>
        </p:grpSpPr>
        <p:sp>
          <p:nvSpPr>
            <p:cNvPr id="11" name="TextBox 11"/>
            <p:cNvSpPr txBox="1"/>
            <p:nvPr/>
          </p:nvSpPr>
          <p:spPr>
            <a:xfrm>
              <a:off x="1190625" y="1333500"/>
              <a:ext cx="6357510"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复杂的安全聚合只处理短密钥；大密文由服务器直接相加</a:t>
              </a:r>
            </a:p>
          </p:txBody>
        </p:sp>
      </p:grpSp>
      <p:grpSp>
        <p:nvGrpSpPr>
          <p:cNvPr id="25" name="architecture"/>
          <p:cNvGrpSpPr/>
          <p:nvPr/>
        </p:nvGrpSpPr>
        <p:grpSpPr>
          <a:xfrm>
            <a:off x="1369238" y="2196750"/>
            <a:ext cx="9820892" cy="3603941"/>
            <a:chOff x="1324950" y="2003425"/>
            <a:chExt cx="9820892" cy="3603941"/>
          </a:xfrm>
        </p:grpSpPr>
        <p:sp>
          <p:nvSpPr>
            <p:cNvPr id="17" name="TextBox 17"/>
            <p:cNvSpPr txBox="1"/>
            <p:nvPr/>
          </p:nvSpPr>
          <p:spPr>
            <a:xfrm>
              <a:off x="8085582" y="2003425"/>
              <a:ext cx="2911759" cy="323165"/>
            </a:xfrm>
            <a:prstGeom prst="rect">
              <a:avLst/>
            </a:prstGeom>
            <a:noFill/>
            <a:ln>
              <a:noFill/>
            </a:ln>
          </p:spPr>
          <p:txBody>
            <a:bodyPr wrap="none" lIns="0" tIns="0" rIns="0" bIns="0" anchor="t" anchorCtr="0">
              <a:spAutoFit/>
            </a:bodyPr>
            <a:lstStyle/>
            <a:p>
              <a:pPr marL="342900" indent="-342900" algn="l">
                <a:buFont typeface="Arial" panose="020B0604020202020204" pitchFamily="34" charset="0"/>
                <a:buChar char="•"/>
              </a:pPr>
              <a:r>
                <a:rPr lang="en-US" sz="2100" b="1" dirty="0">
                  <a:solidFill>
                    <a:srgbClr val="203864"/>
                  </a:solidFill>
                  <a:latin typeface="Microsoft YaHei"/>
                  <a:ea typeface="Microsoft YaHei"/>
                  <a:cs typeface="Microsoft YaHei"/>
                </a:rPr>
                <a:t>Outer Aggregation</a:t>
              </a:r>
            </a:p>
          </p:txBody>
        </p:sp>
        <p:sp>
          <p:nvSpPr>
            <p:cNvPr id="18" name="TextBox 18"/>
            <p:cNvSpPr txBox="1"/>
            <p:nvPr/>
          </p:nvSpPr>
          <p:spPr>
            <a:xfrm>
              <a:off x="8460642" y="2473007"/>
              <a:ext cx="2599258" cy="410718"/>
            </a:xfrm>
            <a:prstGeom prst="rect">
              <a:avLst/>
            </a:prstGeom>
            <a:noFill/>
            <a:ln>
              <a:noFill/>
            </a:ln>
          </p:spPr>
          <p:txBody>
            <a:bodyPr wrap="none" lIns="0" tIns="0" rIns="0" bIns="0" anchor="t" anchorCtr="0">
              <a:spAutoFit/>
            </a:bodyPr>
            <a:lstStyle/>
            <a:p>
              <a:pPr algn="l"/>
              <a:r>
                <a:rPr lang="el-GR" sz="2100" dirty="0">
                  <a:solidFill>
                    <a:srgbClr val="203864"/>
                  </a:solidFill>
                  <a:latin typeface="Cambria Math"/>
                  <a:ea typeface="Cambria Math"/>
                  <a:cs typeface="Cambria Math"/>
                </a:rPr>
                <a:t>yᵢ = Asᵢ + eᵢ + Δxᵢ</a:t>
              </a:r>
            </a:p>
          </p:txBody>
        </p:sp>
        <p:sp>
          <p:nvSpPr>
            <p:cNvPr id="19" name="TextBox 19"/>
            <p:cNvSpPr txBox="1"/>
            <p:nvPr/>
          </p:nvSpPr>
          <p:spPr>
            <a:xfrm>
              <a:off x="8461785" y="2917507"/>
              <a:ext cx="2298134" cy="367665"/>
            </a:xfrm>
            <a:prstGeom prst="rect">
              <a:avLst/>
            </a:prstGeom>
            <a:noFill/>
            <a:ln>
              <a:noFill/>
            </a:ln>
          </p:spPr>
          <p:txBody>
            <a:bodyPr wrap="none" lIns="0" tIns="0" rIns="0" bIns="0" anchor="t" anchorCtr="0">
              <a:spAutoFit/>
            </a:bodyPr>
            <a:lstStyle/>
            <a:p>
              <a:pPr algn="l"/>
              <a:r>
                <a:rPr lang="zh-CN" sz="1880" dirty="0">
                  <a:solidFill>
                    <a:srgbClr val="24364A"/>
                  </a:solidFill>
                  <a:latin typeface="Microsoft YaHei"/>
                  <a:ea typeface="Microsoft YaHei"/>
                  <a:cs typeface="Microsoft YaHei"/>
                </a:rPr>
                <a:t>服务器聚合密文 Σyᵢ</a:t>
              </a:r>
            </a:p>
          </p:txBody>
        </p:sp>
        <p:sp>
          <p:nvSpPr>
            <p:cNvPr id="20" name="TextBox 20"/>
            <p:cNvSpPr txBox="1"/>
            <p:nvPr/>
          </p:nvSpPr>
          <p:spPr>
            <a:xfrm>
              <a:off x="8085582" y="3651250"/>
              <a:ext cx="2845587" cy="323165"/>
            </a:xfrm>
            <a:prstGeom prst="rect">
              <a:avLst/>
            </a:prstGeom>
            <a:noFill/>
            <a:ln>
              <a:noFill/>
            </a:ln>
          </p:spPr>
          <p:txBody>
            <a:bodyPr wrap="none" lIns="0" tIns="0" rIns="0" bIns="0" anchor="t" anchorCtr="0">
              <a:spAutoFit/>
            </a:bodyPr>
            <a:lstStyle/>
            <a:p>
              <a:pPr marL="342900" indent="-342900" algn="l">
                <a:buFont typeface="Arial" panose="020B0604020202020204" pitchFamily="34" charset="0"/>
                <a:buChar char="•"/>
              </a:pPr>
              <a:r>
                <a:rPr lang="en-US" sz="2100" b="1" dirty="0">
                  <a:solidFill>
                    <a:srgbClr val="203864"/>
                  </a:solidFill>
                  <a:latin typeface="Microsoft YaHei"/>
                  <a:ea typeface="Microsoft YaHei"/>
                  <a:cs typeface="Microsoft YaHei"/>
                </a:rPr>
                <a:t>Inner Aggregation</a:t>
              </a:r>
            </a:p>
          </p:txBody>
        </p:sp>
        <p:sp>
          <p:nvSpPr>
            <p:cNvPr id="21" name="TextBox 21"/>
            <p:cNvSpPr txBox="1"/>
            <p:nvPr/>
          </p:nvSpPr>
          <p:spPr>
            <a:xfrm>
              <a:off x="8461785" y="4082732"/>
              <a:ext cx="2418588" cy="705802"/>
            </a:xfrm>
            <a:prstGeom prst="rect">
              <a:avLst/>
            </a:prstGeom>
            <a:noFill/>
            <a:ln>
              <a:noFill/>
            </a:ln>
          </p:spPr>
          <p:txBody>
            <a:bodyPr wrap="none" lIns="0" tIns="0" rIns="0" bIns="0" anchor="t" anchorCtr="0">
              <a:spAutoFit/>
            </a:bodyPr>
            <a:lstStyle/>
            <a:p>
              <a:pPr algn="l">
                <a:lnSpc>
                  <a:spcPts val="2662"/>
                </a:lnSpc>
              </a:pPr>
              <a:r>
                <a:rPr lang="zh-CN" sz="1880" dirty="0">
                  <a:solidFill>
                    <a:srgbClr val="24364A"/>
                  </a:solidFill>
                  <a:latin typeface="Microsoft YaHei"/>
                  <a:ea typeface="Microsoft YaHei"/>
                  <a:cs typeface="Microsoft YaHei"/>
                </a:rPr>
                <a:t>分享 sᵢ → Decryptors</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安全恢复总密钥 Σsᵢ</a:t>
              </a:r>
            </a:p>
          </p:txBody>
        </p:sp>
        <p:sp>
          <p:nvSpPr>
            <p:cNvPr id="22" name="TextBox 22"/>
            <p:cNvSpPr txBox="1"/>
            <p:nvPr/>
          </p:nvSpPr>
          <p:spPr>
            <a:xfrm>
              <a:off x="1324950" y="5168836"/>
              <a:ext cx="6399825" cy="367665"/>
            </a:xfrm>
            <a:prstGeom prst="rect">
              <a:avLst/>
            </a:prstGeom>
            <a:noFill/>
            <a:ln>
              <a:noFill/>
            </a:ln>
          </p:spPr>
          <p:txBody>
            <a:bodyPr wrap="none" lIns="0" tIns="0" rIns="0" bIns="0" anchor="t" anchorCtr="0">
              <a:spAutoFit/>
            </a:bodyPr>
            <a:lstStyle/>
            <a:p>
              <a:pPr algn="l"/>
              <a:r>
                <a:rPr lang="zh-CN" sz="1880" b="1" dirty="0">
                  <a:solidFill>
                    <a:srgbClr val="203864"/>
                  </a:solidFill>
                  <a:latin typeface="Microsoft YaHei"/>
                  <a:ea typeface="Microsoft YaHei"/>
                  <a:cs typeface="Microsoft YaHei"/>
                </a:rPr>
                <a:t>Commit &amp; Proof：加密正确 · 分享正确 · 输入范数合法</a:t>
              </a:r>
            </a:p>
          </p:txBody>
        </p:sp>
        <p:sp>
          <p:nvSpPr>
            <p:cNvPr id="23" name="TextBox 23"/>
            <p:cNvSpPr txBox="1"/>
            <p:nvPr/>
          </p:nvSpPr>
          <p:spPr>
            <a:xfrm>
              <a:off x="8119478" y="5049963"/>
              <a:ext cx="1643235" cy="557403"/>
            </a:xfrm>
            <a:prstGeom prst="rect">
              <a:avLst/>
            </a:prstGeom>
            <a:noFill/>
            <a:ln>
              <a:noFill/>
            </a:ln>
          </p:spPr>
          <p:txBody>
            <a:bodyPr wrap="none" lIns="0" tIns="0" rIns="0" bIns="0" anchor="t" anchorCtr="0">
              <a:spAutoFit/>
            </a:bodyPr>
            <a:lstStyle/>
            <a:p>
              <a:pPr algn="l"/>
              <a:r>
                <a:rPr lang="zh-CN" sz="2850" b="1" dirty="0">
                  <a:solidFill>
                    <a:srgbClr val="203864"/>
                  </a:solidFill>
                  <a:latin typeface="Microsoft YaHei"/>
                  <a:ea typeface="Microsoft YaHei"/>
                  <a:cs typeface="Microsoft YaHei"/>
                </a:rPr>
                <a:t>固定 3 轮</a:t>
              </a:r>
            </a:p>
          </p:txBody>
        </p:sp>
        <p:sp>
          <p:nvSpPr>
            <p:cNvPr id="24" name="TextBox 24"/>
            <p:cNvSpPr txBox="1"/>
            <p:nvPr/>
          </p:nvSpPr>
          <p:spPr>
            <a:xfrm>
              <a:off x="9671079" y="5243131"/>
              <a:ext cx="1474763" cy="230832"/>
            </a:xfrm>
            <a:prstGeom prst="rect">
              <a:avLst/>
            </a:prstGeom>
            <a:noFill/>
            <a:ln>
              <a:noFill/>
            </a:ln>
          </p:spPr>
          <p:txBody>
            <a:bodyPr wrap="none" lIns="0" tIns="0" rIns="0" bIns="0" anchor="t" anchorCtr="0">
              <a:spAutoFit/>
            </a:bodyPr>
            <a:lstStyle/>
            <a:p>
              <a:pPr algn="l"/>
              <a:r>
                <a:rPr lang="en-US" altLang="zh-CN" sz="1500" dirty="0">
                  <a:solidFill>
                    <a:srgbClr val="64748B"/>
                  </a:solidFill>
                  <a:latin typeface="Microsoft YaHei"/>
                  <a:ea typeface="Microsoft YaHei"/>
                  <a:cs typeface="Microsoft YaHei"/>
                </a:rPr>
                <a:t>(</a:t>
              </a:r>
              <a:r>
                <a:rPr lang="zh-CN" sz="1500" dirty="0">
                  <a:solidFill>
                    <a:srgbClr val="64748B"/>
                  </a:solidFill>
                  <a:latin typeface="Microsoft YaHei"/>
                  <a:ea typeface="Microsoft YaHei"/>
                  <a:cs typeface="Microsoft YaHei"/>
                </a:rPr>
                <a:t>不含一次性设置</a:t>
              </a:r>
              <a:r>
                <a:rPr lang="en-US" altLang="zh-CN" sz="1500" dirty="0">
                  <a:solidFill>
                    <a:srgbClr val="64748B"/>
                  </a:solidFill>
                  <a:latin typeface="Microsoft YaHei"/>
                  <a:ea typeface="Microsoft YaHei"/>
                  <a:cs typeface="Microsoft YaHei"/>
                </a:rPr>
                <a:t>)</a:t>
              </a:r>
              <a:endParaRPr lang="zh-CN" sz="1500" dirty="0">
                <a:solidFill>
                  <a:srgbClr val="64748B"/>
                </a:solidFill>
                <a:latin typeface="Microsoft YaHei"/>
                <a:ea typeface="Microsoft YaHei"/>
                <a:cs typeface="Microsoft YaHei"/>
              </a:endParaRPr>
            </a:p>
          </p:txBody>
        </p:sp>
      </p:grpSp>
      <p:pic>
        <p:nvPicPr>
          <p:cNvPr id="3" name="图片 2">
            <a:extLst>
              <a:ext uri="{FF2B5EF4-FFF2-40B4-BE49-F238E27FC236}">
                <a16:creationId xmlns:a16="http://schemas.microsoft.com/office/drawing/2014/main" id="{F3C01879-6F41-3F1A-3F49-F604F80FBE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0624" y="2126478"/>
            <a:ext cx="6906945" cy="2997970"/>
          </a:xfrm>
          <a:prstGeom prst="rect">
            <a:avLst/>
          </a:prstGeom>
        </p:spPr>
      </p:pic>
    </p:spTree>
    <p:extLst>
      <p:ext uri="{BB962C8B-B14F-4D97-AF65-F5344CB8AC3E}">
        <p14:creationId xmlns:p14="http://schemas.microsoft.com/office/powerpoint/2010/main" val="194675197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1836039" y="2037207"/>
            <a:ext cx="3835718" cy="3993643"/>
            <a:chOff x="1836039" y="2037207"/>
            <a:chExt cx="3835718" cy="3993643"/>
          </a:xfrm>
        </p:grpSpPr>
        <p:sp>
          <p:nvSpPr>
            <p:cNvPr id="2" name="shape-58"/>
            <p:cNvSpPr/>
            <p:nvPr/>
          </p:nvSpPr>
          <p:spPr>
            <a:xfrm>
              <a:off x="1836039" y="2165318"/>
              <a:ext cx="3835718" cy="3615214"/>
            </a:xfrm>
            <a:prstGeom prst="rect">
              <a:avLst/>
            </a:prstGeom>
            <a:solidFill>
              <a:srgbClr val="F2F2F2"/>
            </a:solidFill>
            <a:ln w="9525">
              <a:solidFill>
                <a:srgbClr val="C5C3C3"/>
              </a:solidFill>
            </a:ln>
          </p:spPr>
        </p:sp>
        <p:sp>
          <p:nvSpPr>
            <p:cNvPr id="99" name="shape-59"/>
            <p:cNvSpPr/>
            <p:nvPr/>
          </p:nvSpPr>
          <p:spPr>
            <a:xfrm>
              <a:off x="1977962" y="2037207"/>
              <a:ext cx="3562160" cy="127921"/>
            </a:xfrm>
            <a:custGeom>
              <a:avLst/>
              <a:gdLst/>
              <a:ahLst/>
              <a:cxnLst/>
              <a:rect l="l" t="t" r="r" b="b"/>
              <a:pathLst>
                <a:path w="3562160" h="127921">
                  <a:moveTo>
                    <a:pt x="239649" y="0"/>
                  </a:moveTo>
                  <a:lnTo>
                    <a:pt x="3335941" y="0"/>
                  </a:lnTo>
                  <a:lnTo>
                    <a:pt x="3562160" y="127921"/>
                  </a:lnTo>
                  <a:lnTo>
                    <a:pt x="0" y="127921"/>
                  </a:lnTo>
                  <a:lnTo>
                    <a:pt x="239649" y="0"/>
                  </a:lnTo>
                  <a:close/>
                </a:path>
              </a:pathLst>
            </a:custGeom>
            <a:solidFill>
              <a:srgbClr val="41464A"/>
            </a:solidFill>
            <a:ln>
              <a:noFill/>
            </a:ln>
          </p:spPr>
        </p:sp>
        <p:sp>
          <p:nvSpPr>
            <p:cNvPr id="100" name="shape-95"/>
            <p:cNvSpPr/>
            <p:nvPr/>
          </p:nvSpPr>
          <p:spPr>
            <a:xfrm>
              <a:off x="221589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8" name="shape-96"/>
            <p:cNvSpPr/>
            <p:nvPr/>
          </p:nvSpPr>
          <p:spPr>
            <a:xfrm>
              <a:off x="2806446" y="2207514"/>
              <a:ext cx="1915954" cy="497967"/>
            </a:xfrm>
            <a:prstGeom prst="rect">
              <a:avLst/>
            </a:prstGeom>
            <a:noFill/>
            <a:ln>
              <a:noFill/>
            </a:ln>
          </p:spPr>
        </p:sp>
        <p:sp>
          <p:nvSpPr>
            <p:cNvPr id="9" name="Freeform 9"/>
            <p:cNvSpPr/>
            <p:nvPr/>
          </p:nvSpPr>
          <p:spPr>
            <a:xfrm>
              <a:off x="221589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98" name="组合 97"/>
          <p:cNvGrpSpPr/>
          <p:nvPr/>
        </p:nvGrpSpPr>
        <p:grpSpPr>
          <a:xfrm>
            <a:off x="6432709" y="2037207"/>
            <a:ext cx="3835718" cy="3993643"/>
            <a:chOff x="6432709" y="2037207"/>
            <a:chExt cx="3835718" cy="3993643"/>
          </a:xfrm>
        </p:grpSpPr>
        <p:sp>
          <p:nvSpPr>
            <p:cNvPr id="10" name="shape-99"/>
            <p:cNvSpPr/>
            <p:nvPr/>
          </p:nvSpPr>
          <p:spPr>
            <a:xfrm>
              <a:off x="6432709" y="2165318"/>
              <a:ext cx="3835718" cy="3615214"/>
            </a:xfrm>
            <a:prstGeom prst="rect">
              <a:avLst/>
            </a:prstGeom>
            <a:solidFill>
              <a:srgbClr val="F2F2F2"/>
            </a:solidFill>
            <a:ln w="9525">
              <a:solidFill>
                <a:srgbClr val="C5C3C3"/>
              </a:solidFill>
            </a:ln>
          </p:spPr>
        </p:sp>
        <p:sp>
          <p:nvSpPr>
            <p:cNvPr id="11" name="shape-100"/>
            <p:cNvSpPr/>
            <p:nvPr/>
          </p:nvSpPr>
          <p:spPr>
            <a:xfrm>
              <a:off x="6574631" y="2037207"/>
              <a:ext cx="3562255" cy="127921"/>
            </a:xfrm>
            <a:custGeom>
              <a:avLst/>
              <a:gdLst/>
              <a:ahLst/>
              <a:cxnLst/>
              <a:rect l="l" t="t" r="r" b="b"/>
              <a:pathLst>
                <a:path w="3562255" h="127921">
                  <a:moveTo>
                    <a:pt x="239649" y="0"/>
                  </a:moveTo>
                  <a:lnTo>
                    <a:pt x="3336036" y="0"/>
                  </a:lnTo>
                  <a:lnTo>
                    <a:pt x="3562255" y="127921"/>
                  </a:lnTo>
                  <a:lnTo>
                    <a:pt x="0" y="127921"/>
                  </a:lnTo>
                  <a:lnTo>
                    <a:pt x="239649" y="0"/>
                  </a:lnTo>
                  <a:close/>
                </a:path>
              </a:pathLst>
            </a:custGeom>
            <a:solidFill>
              <a:srgbClr val="41464A"/>
            </a:solidFill>
            <a:ln>
              <a:noFill/>
            </a:ln>
          </p:spPr>
        </p:sp>
        <p:sp>
          <p:nvSpPr>
            <p:cNvPr id="12" name="shape-101"/>
            <p:cNvSpPr/>
            <p:nvPr/>
          </p:nvSpPr>
          <p:spPr>
            <a:xfrm>
              <a:off x="681256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13" name="shape-102"/>
            <p:cNvSpPr/>
            <p:nvPr/>
          </p:nvSpPr>
          <p:spPr>
            <a:xfrm>
              <a:off x="7403211" y="2207514"/>
              <a:ext cx="1915954" cy="497967"/>
            </a:xfrm>
            <a:prstGeom prst="rect">
              <a:avLst/>
            </a:prstGeom>
            <a:noFill/>
            <a:ln>
              <a:noFill/>
            </a:ln>
          </p:spPr>
        </p:sp>
        <p:sp>
          <p:nvSpPr>
            <p:cNvPr id="14" name="Freeform 14"/>
            <p:cNvSpPr/>
            <p:nvPr/>
          </p:nvSpPr>
          <p:spPr>
            <a:xfrm>
              <a:off x="681256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3" name="组合 2">
            <a:extLst>
              <a:ext uri="{FF2B5EF4-FFF2-40B4-BE49-F238E27FC236}">
                <a16:creationId xmlns:a16="http://schemas.microsoft.com/office/drawing/2014/main" id="{6585D9A8-CD27-667A-DDDF-710A03F80F0C}"/>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C30772D0-2FC8-BED1-151E-64C672212CC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AAB09C36-0CE8-37C2-7214-27833B6F10E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E1B4035E-E6C4-0ABE-E300-FD1FA32E18F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Outer 与 Inner 的</a:t>
            </a:r>
            <a:r>
              <a:rPr lang="zh-CN" altLang="en-US" sz="2850" b="1" dirty="0">
                <a:solidFill>
                  <a:srgbClr val="203864"/>
                </a:solidFill>
                <a:latin typeface="Microsoft YaHei"/>
                <a:ea typeface="Microsoft YaHei"/>
                <a:cs typeface="Microsoft YaHei"/>
              </a:rPr>
              <a:t>不同</a:t>
            </a:r>
            <a:r>
              <a:rPr lang="zh-CN" sz="2850" b="1" dirty="0">
                <a:solidFill>
                  <a:srgbClr val="203864"/>
                </a:solidFill>
                <a:latin typeface="Microsoft YaHei"/>
                <a:ea typeface="Microsoft YaHei"/>
                <a:cs typeface="Microsoft YaHei"/>
              </a:rPr>
              <a:t>职责</a:t>
            </a:r>
          </a:p>
        </p:txBody>
      </p:sp>
      <p:grpSp>
        <p:nvGrpSpPr>
          <p:cNvPr id="20" name="page-footer"/>
          <p:cNvGrpSpPr/>
          <p:nvPr/>
        </p:nvGrpSpPr>
        <p:grpSpPr>
          <a:xfrm>
            <a:off x="1194816" y="6426200"/>
            <a:ext cx="9954768" cy="205359"/>
            <a:chOff x="1194816" y="6426200"/>
            <a:chExt cx="9954768" cy="205359"/>
          </a:xfrm>
        </p:grpSpPr>
        <p:sp>
          <p:nvSpPr>
            <p:cNvPr id="18" name="TextBox 1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9" name="TextBox 1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07 / 23</a:t>
              </a:r>
            </a:p>
          </p:txBody>
        </p:sp>
      </p:grpSp>
      <p:grpSp>
        <p:nvGrpSpPr>
          <p:cNvPr id="22" name="page-lead"/>
          <p:cNvGrpSpPr/>
          <p:nvPr/>
        </p:nvGrpSpPr>
        <p:grpSpPr>
          <a:xfrm>
            <a:off x="1004676" y="1333500"/>
            <a:ext cx="6408806" cy="307777"/>
            <a:chOff x="1004676" y="1333500"/>
            <a:chExt cx="6408806" cy="307777"/>
          </a:xfrm>
        </p:grpSpPr>
        <p:sp>
          <p:nvSpPr>
            <p:cNvPr id="21" name="TextBox 21"/>
            <p:cNvSpPr txBox="1"/>
            <p:nvPr/>
          </p:nvSpPr>
          <p:spPr>
            <a:xfrm>
              <a:off x="1004676" y="1333500"/>
              <a:ext cx="6408806" cy="307777"/>
            </a:xfrm>
            <a:prstGeom prst="rect">
              <a:avLst/>
            </a:prstGeom>
            <a:noFill/>
            <a:ln>
              <a:noFill/>
            </a:ln>
          </p:spPr>
          <p:txBody>
            <a:bodyPr wrap="none" lIns="0" tIns="0" rIns="0" bIns="0" anchor="t" anchorCtr="0">
              <a:spAutoFit/>
            </a:bodyPr>
            <a:lstStyle/>
            <a:p>
              <a:pPr marL="342900" indent="-342900">
                <a:buFont typeface="Wingdings" panose="05000000000000000000" pitchFamily="2" charset="2"/>
                <a:buChar char="Ø"/>
              </a:pPr>
              <a:r>
                <a:rPr lang="zh-CN" sz="1880" b="1" dirty="0">
                  <a:solidFill>
                    <a:srgbClr val="203864"/>
                  </a:solidFill>
                  <a:latin typeface="Microsoft YaHei"/>
                  <a:ea typeface="Microsoft YaHei"/>
                  <a:cs typeface="Microsoft YaHei"/>
                </a:rPr>
                <a:t>两层分工来自模型更新与密钥之间的维度差距</a:t>
              </a:r>
              <a:r>
                <a:rPr lang="en-US" altLang="zh-CN" sz="1880" b="1" dirty="0">
                  <a:solidFill>
                    <a:srgbClr val="203864"/>
                  </a:solidFill>
                  <a:latin typeface="Microsoft YaHei"/>
                  <a:ea typeface="Microsoft YaHei"/>
                  <a:cs typeface="Microsoft YaHei"/>
                </a:rPr>
                <a:t> —— </a:t>
              </a:r>
              <a:r>
                <a:rPr lang="el-GR" altLang="zh-CN" sz="2000" b="1" dirty="0">
                  <a:solidFill>
                    <a:srgbClr val="203864"/>
                  </a:solidFill>
                  <a:latin typeface="Cambria Math"/>
                  <a:ea typeface="Cambria Math"/>
                  <a:cs typeface="Cambria Math"/>
                </a:rPr>
                <a:t>λ ≪ ℓ</a:t>
              </a:r>
            </a:p>
          </p:txBody>
        </p:sp>
      </p:grpSp>
      <p:grpSp>
        <p:nvGrpSpPr>
          <p:cNvPr id="28" name="panel-content"/>
          <p:cNvGrpSpPr/>
          <p:nvPr/>
        </p:nvGrpSpPr>
        <p:grpSpPr>
          <a:xfrm>
            <a:off x="2209800" y="1445608"/>
            <a:ext cx="7659624" cy="3227357"/>
            <a:chOff x="2209800" y="1445608"/>
            <a:chExt cx="7659624" cy="3227357"/>
          </a:xfrm>
        </p:grpSpPr>
        <p:sp>
          <p:nvSpPr>
            <p:cNvPr id="23" name="TextBox 23"/>
            <p:cNvSpPr txBox="1"/>
            <p:nvPr/>
          </p:nvSpPr>
          <p:spPr>
            <a:xfrm>
              <a:off x="2452975" y="2227421"/>
              <a:ext cx="2622895" cy="396050"/>
            </a:xfrm>
            <a:prstGeom prst="rect">
              <a:avLst/>
            </a:prstGeom>
            <a:noFill/>
            <a:ln>
              <a:noFill/>
            </a:ln>
          </p:spPr>
          <p:txBody>
            <a:bodyPr wrap="none" lIns="0" tIns="0" rIns="0" bIns="0" anchor="t" anchorCtr="0">
              <a:spAutoFit/>
            </a:bodyPr>
            <a:lstStyle/>
            <a:p>
              <a:pPr algn="ctr"/>
              <a:r>
                <a:rPr lang="en-US" sz="2020" b="1" dirty="0">
                  <a:solidFill>
                    <a:srgbClr val="FFFFFF"/>
                  </a:solidFill>
                  <a:latin typeface="Microsoft YaHei"/>
                  <a:ea typeface="Microsoft YaHei"/>
                  <a:cs typeface="Microsoft YaHei"/>
                </a:rPr>
                <a:t>Outer Aggregation</a:t>
              </a:r>
            </a:p>
          </p:txBody>
        </p:sp>
        <p:sp>
          <p:nvSpPr>
            <p:cNvPr id="24" name="TextBox 24"/>
            <p:cNvSpPr txBox="1"/>
            <p:nvPr/>
          </p:nvSpPr>
          <p:spPr>
            <a:xfrm>
              <a:off x="7114391" y="2227421"/>
              <a:ext cx="2493498" cy="396050"/>
            </a:xfrm>
            <a:prstGeom prst="rect">
              <a:avLst/>
            </a:prstGeom>
            <a:noFill/>
            <a:ln>
              <a:noFill/>
            </a:ln>
          </p:spPr>
          <p:txBody>
            <a:bodyPr wrap="none" lIns="0" tIns="0" rIns="0" bIns="0" anchor="t" anchorCtr="0">
              <a:spAutoFit/>
            </a:bodyPr>
            <a:lstStyle/>
            <a:p>
              <a:pPr algn="ctr"/>
              <a:r>
                <a:rPr lang="en-US" sz="2020" b="1" dirty="0">
                  <a:solidFill>
                    <a:srgbClr val="FFFFFF"/>
                  </a:solidFill>
                  <a:latin typeface="Microsoft YaHei"/>
                  <a:ea typeface="Microsoft YaHei"/>
                  <a:cs typeface="Microsoft YaHei"/>
                </a:rPr>
                <a:t>Inner Aggregation</a:t>
              </a:r>
            </a:p>
          </p:txBody>
        </p:sp>
        <p:sp>
          <p:nvSpPr>
            <p:cNvPr id="25" name="TextBox 25"/>
            <p:cNvSpPr txBox="1"/>
            <p:nvPr/>
          </p:nvSpPr>
          <p:spPr>
            <a:xfrm>
              <a:off x="2209800" y="2790825"/>
              <a:ext cx="2549906" cy="1882140"/>
            </a:xfrm>
            <a:prstGeom prst="rect">
              <a:avLst/>
            </a:prstGeom>
            <a:noFill/>
            <a:ln>
              <a:noFill/>
            </a:ln>
          </p:spPr>
          <p:txBody>
            <a:bodyPr wrap="none" lIns="0" tIns="0" rIns="0" bIns="0" anchor="t" anchorCtr="0">
              <a:spAutoFit/>
            </a:bodyPr>
            <a:lstStyle/>
            <a:p>
              <a:pPr algn="l">
                <a:lnSpc>
                  <a:spcPts val="3975"/>
                </a:lnSpc>
              </a:pPr>
              <a:r>
                <a:rPr lang="zh-CN" sz="1880" dirty="0">
                  <a:solidFill>
                    <a:srgbClr val="24364A"/>
                  </a:solidFill>
                  <a:latin typeface="Microsoft YaHei"/>
                  <a:ea typeface="Microsoft YaHei"/>
                  <a:cs typeface="Microsoft YaHei"/>
                </a:rPr>
                <a:t>对象：密文 yᵢ</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输入向量维度：ℓ</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Server 直接做向量加法</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数据量大，运算简单</a:t>
              </a:r>
            </a:p>
          </p:txBody>
        </p:sp>
        <p:sp>
          <p:nvSpPr>
            <p:cNvPr id="26" name="TextBox 26"/>
            <p:cNvSpPr txBox="1"/>
            <p:nvPr/>
          </p:nvSpPr>
          <p:spPr>
            <a:xfrm>
              <a:off x="6810756" y="2790825"/>
              <a:ext cx="3058668" cy="1866519"/>
            </a:xfrm>
            <a:prstGeom prst="rect">
              <a:avLst/>
            </a:prstGeom>
            <a:noFill/>
            <a:ln>
              <a:noFill/>
            </a:ln>
          </p:spPr>
          <p:txBody>
            <a:bodyPr wrap="none" lIns="0" tIns="0" rIns="0" bIns="0" anchor="t" anchorCtr="0">
              <a:spAutoFit/>
            </a:bodyPr>
            <a:lstStyle/>
            <a:p>
              <a:pPr algn="l">
                <a:lnSpc>
                  <a:spcPts val="3975"/>
                </a:lnSpc>
              </a:pPr>
              <a:r>
                <a:rPr lang="zh-CN" sz="1800" dirty="0">
                  <a:solidFill>
                    <a:srgbClr val="24364A"/>
                  </a:solidFill>
                  <a:latin typeface="Microsoft YaHei"/>
                  <a:ea typeface="Microsoft YaHei"/>
                  <a:cs typeface="Microsoft YaHei"/>
                </a:rPr>
                <a:t>对象：密钥 sᵢ</a:t>
              </a:r>
              <a:br>
                <a:rPr lang="zh-CN" sz="1800" dirty="0">
                  <a:solidFill>
                    <a:srgbClr val="24364A"/>
                  </a:solidFill>
                  <a:latin typeface="Microsoft YaHei"/>
                  <a:ea typeface="Microsoft YaHei"/>
                  <a:cs typeface="Microsoft YaHei"/>
                </a:rPr>
              </a:br>
              <a:r>
                <a:rPr lang="zh-CN" sz="1800" dirty="0">
                  <a:solidFill>
                    <a:srgbClr val="24364A"/>
                  </a:solidFill>
                  <a:latin typeface="Microsoft YaHei"/>
                  <a:ea typeface="Microsoft YaHei"/>
                  <a:cs typeface="Microsoft YaHei"/>
                </a:rPr>
                <a:t>密钥维度：λ</a:t>
              </a:r>
              <a:br>
                <a:rPr lang="zh-CN" sz="1800" dirty="0">
                  <a:solidFill>
                    <a:srgbClr val="24364A"/>
                  </a:solidFill>
                  <a:latin typeface="Microsoft YaHei"/>
                  <a:ea typeface="Microsoft YaHei"/>
                  <a:cs typeface="Microsoft YaHei"/>
                </a:rPr>
              </a:br>
              <a:r>
                <a:rPr lang="en-US" sz="1800" dirty="0">
                  <a:solidFill>
                    <a:srgbClr val="24364A"/>
                  </a:solidFill>
                  <a:latin typeface="Microsoft YaHei"/>
                  <a:ea typeface="Microsoft YaHei"/>
                  <a:cs typeface="Microsoft YaHei"/>
                </a:rPr>
                <a:t>Decryptor + Secret Sharing</a:t>
              </a:r>
              <a:br>
                <a:rPr lang="en-US" sz="1800" dirty="0">
                  <a:solidFill>
                    <a:srgbClr val="24364A"/>
                  </a:solidFill>
                  <a:latin typeface="Microsoft YaHei"/>
                  <a:ea typeface="Microsoft YaHei"/>
                  <a:cs typeface="Microsoft YaHei"/>
                </a:rPr>
              </a:br>
              <a:r>
                <a:rPr lang="zh-CN" sz="1800" dirty="0">
                  <a:solidFill>
                    <a:srgbClr val="24364A"/>
                  </a:solidFill>
                  <a:latin typeface="Microsoft YaHei"/>
                  <a:ea typeface="Microsoft YaHei"/>
                  <a:cs typeface="Microsoft YaHei"/>
                </a:rPr>
                <a:t>复杂机制处理短向量</a:t>
              </a:r>
            </a:p>
          </p:txBody>
        </p:sp>
        <p:sp>
          <p:nvSpPr>
            <p:cNvPr id="27" name="TextBox 27"/>
            <p:cNvSpPr txBox="1"/>
            <p:nvPr/>
          </p:nvSpPr>
          <p:spPr>
            <a:xfrm>
              <a:off x="6198932" y="1445608"/>
              <a:ext cx="65" cy="369332"/>
            </a:xfrm>
            <a:prstGeom prst="rect">
              <a:avLst/>
            </a:prstGeom>
            <a:noFill/>
            <a:ln>
              <a:noFill/>
            </a:ln>
          </p:spPr>
          <p:txBody>
            <a:bodyPr wrap="none" lIns="0" tIns="0" rIns="0" bIns="0" anchor="t" anchorCtr="0">
              <a:spAutoFit/>
            </a:bodyPr>
            <a:lstStyle/>
            <a:p>
              <a:pPr algn="ctr"/>
              <a:endParaRPr lang="el-GR" sz="2400" dirty="0">
                <a:solidFill>
                  <a:srgbClr val="203864"/>
                </a:solidFill>
                <a:latin typeface="Cambria Math"/>
                <a:ea typeface="Cambria Math"/>
                <a:cs typeface="Cambria Math"/>
              </a:endParaRPr>
            </a:p>
          </p:txBody>
        </p:sp>
      </p:grpSp>
      <p:grpSp>
        <p:nvGrpSpPr>
          <p:cNvPr id="30" name="takeaway"/>
          <p:cNvGrpSpPr/>
          <p:nvPr/>
        </p:nvGrpSpPr>
        <p:grpSpPr>
          <a:xfrm>
            <a:off x="3118828" y="5956300"/>
            <a:ext cx="5954343" cy="337376"/>
            <a:chOff x="3118828" y="5956300"/>
            <a:chExt cx="5954343" cy="337376"/>
          </a:xfrm>
        </p:grpSpPr>
        <p:sp>
          <p:nvSpPr>
            <p:cNvPr id="29" name="TextBox 29"/>
            <p:cNvSpPr txBox="1"/>
            <p:nvPr/>
          </p:nvSpPr>
          <p:spPr>
            <a:xfrm>
              <a:off x="3118828" y="5956300"/>
              <a:ext cx="5954343" cy="337376"/>
            </a:xfrm>
            <a:prstGeom prst="rect">
              <a:avLst/>
            </a:prstGeom>
            <a:noFill/>
            <a:ln>
              <a:noFill/>
            </a:ln>
          </p:spPr>
          <p:txBody>
            <a:bodyPr wrap="none" lIns="0" tIns="0" rIns="0" bIns="0" anchor="t" anchorCtr="0">
              <a:spAutoFit/>
            </a:bodyPr>
            <a:lstStyle/>
            <a:p>
              <a:pPr algn="ctr"/>
              <a:r>
                <a:rPr lang="en-US" sz="1720" b="1" dirty="0">
                  <a:solidFill>
                    <a:srgbClr val="203864"/>
                  </a:solidFill>
                  <a:latin typeface="Microsoft YaHei"/>
                  <a:ea typeface="Microsoft YaHei"/>
                  <a:cs typeface="Microsoft YaHei"/>
                </a:rPr>
                <a:t>Long-vector aggregation → Short-key aggregation</a:t>
              </a:r>
            </a:p>
          </p:txBody>
        </p:sp>
      </p:grpSp>
    </p:spTree>
    <p:extLst>
      <p:ext uri="{BB962C8B-B14F-4D97-AF65-F5344CB8AC3E}">
        <p14:creationId xmlns:p14="http://schemas.microsoft.com/office/powerpoint/2010/main" val="152978933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A2AC639-FFEF-4E18-03AB-A1297A215657}"/>
              </a:ext>
            </a:extLst>
          </p:cNvPr>
          <p:cNvGrpSpPr/>
          <p:nvPr/>
        </p:nvGrpSpPr>
        <p:grpSpPr>
          <a:xfrm>
            <a:off x="0" y="-1"/>
            <a:ext cx="1857829" cy="1181101"/>
            <a:chOff x="0" y="0"/>
            <a:chExt cx="2590667" cy="4976958"/>
          </a:xfrm>
        </p:grpSpPr>
        <p:sp>
          <p:nvSpPr>
            <p:cNvPr id="7" name="矩形 1">
              <a:extLst>
                <a:ext uri="{FF2B5EF4-FFF2-40B4-BE49-F238E27FC236}">
                  <a16:creationId xmlns:a16="http://schemas.microsoft.com/office/drawing/2014/main" id="{E25EF265-AE7A-1C57-07E8-394857629B07}"/>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a:extLst>
                <a:ext uri="{FF2B5EF4-FFF2-40B4-BE49-F238E27FC236}">
                  <a16:creationId xmlns:a16="http://schemas.microsoft.com/office/drawing/2014/main" id="{B00C0EC2-1C0E-8B5A-D8A4-56D604F3BC6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a:extLst>
              <a:ext uri="{FF2B5EF4-FFF2-40B4-BE49-F238E27FC236}">
                <a16:creationId xmlns:a16="http://schemas.microsoft.com/office/drawing/2014/main" id="{BB0593E9-0105-4C31-26BC-3ABFB99B8850}"/>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Regev 加密与解密</a:t>
            </a:r>
          </a:p>
        </p:txBody>
      </p:sp>
      <p:grpSp>
        <p:nvGrpSpPr>
          <p:cNvPr id="21"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2"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08 / 23</a:t>
              </a:r>
            </a:p>
          </p:txBody>
        </p:sp>
      </p:grpSp>
      <p:sp>
        <p:nvSpPr>
          <p:cNvPr id="11" name="TextBox 11"/>
          <p:cNvSpPr txBox="1"/>
          <p:nvPr/>
        </p:nvSpPr>
        <p:spPr>
          <a:xfrm>
            <a:off x="3013702" y="1847849"/>
            <a:ext cx="6164595" cy="758213"/>
          </a:xfrm>
          <a:prstGeom prst="rect">
            <a:avLst/>
          </a:prstGeom>
          <a:noFill/>
          <a:ln>
            <a:noFill/>
          </a:ln>
        </p:spPr>
        <p:txBody>
          <a:bodyPr wrap="none" lIns="0" tIns="0" rIns="0" bIns="0" anchor="t" anchorCtr="0">
            <a:spAutoFit/>
          </a:bodyPr>
          <a:lstStyle/>
          <a:p>
            <a:pPr algn="ctr"/>
            <a:r>
              <a:rPr lang="el-GR" sz="3450" dirty="0">
                <a:solidFill>
                  <a:srgbClr val="203864"/>
                </a:solidFill>
                <a:latin typeface="Cambria Math"/>
                <a:ea typeface="Cambria Math"/>
                <a:cs typeface="Cambria Math"/>
              </a:rPr>
              <a:t>yᵢ = Asᵢ + eᵢ + Δxᵢ (mod q)</a:t>
            </a:r>
          </a:p>
        </p:txBody>
      </p:sp>
      <p:sp>
        <p:nvSpPr>
          <p:cNvPr id="12" name="Line 12"/>
          <p:cNvSpPr/>
          <p:nvPr/>
        </p:nvSpPr>
        <p:spPr>
          <a:xfrm>
            <a:off x="1762125" y="2682697"/>
            <a:ext cx="8667750" cy="10703"/>
          </a:xfrm>
          <a:custGeom>
            <a:avLst/>
            <a:gdLst/>
            <a:ahLst/>
            <a:cxnLst/>
            <a:rect l="l" t="t" r="r" b="b"/>
            <a:pathLst>
              <a:path w="8667750" h="9525">
                <a:moveTo>
                  <a:pt x="0" y="0"/>
                </a:moveTo>
                <a:lnTo>
                  <a:pt x="8667750" y="0"/>
                </a:lnTo>
              </a:path>
            </a:pathLst>
          </a:custGeom>
          <a:noFill/>
          <a:ln w="19050">
            <a:solidFill>
              <a:schemeClr val="tx2"/>
            </a:solidFill>
          </a:ln>
        </p:spPr>
      </p:sp>
      <p:sp>
        <p:nvSpPr>
          <p:cNvPr id="13" name="TextBox 13"/>
          <p:cNvSpPr txBox="1"/>
          <p:nvPr/>
        </p:nvSpPr>
        <p:spPr>
          <a:xfrm>
            <a:off x="2698990" y="2883580"/>
            <a:ext cx="1546898" cy="310854"/>
          </a:xfrm>
          <a:prstGeom prst="rect">
            <a:avLst/>
          </a:prstGeom>
          <a:noFill/>
          <a:ln>
            <a:noFill/>
          </a:ln>
        </p:spPr>
        <p:txBody>
          <a:bodyPr wrap="none" lIns="0" tIns="0" rIns="0" bIns="0" anchor="t" anchorCtr="0">
            <a:spAutoFit/>
          </a:bodyPr>
          <a:lstStyle/>
          <a:p>
            <a:pPr algn="l"/>
            <a:r>
              <a:rPr lang="zh-CN" sz="2020" dirty="0">
                <a:solidFill>
                  <a:srgbClr val="24364A"/>
                </a:solidFill>
                <a:latin typeface="Microsoft YaHei"/>
                <a:ea typeface="Microsoft YaHei"/>
                <a:cs typeface="Microsoft YaHei"/>
              </a:rPr>
              <a:t>xᵢ：模型更新 </a:t>
            </a:r>
          </a:p>
        </p:txBody>
      </p:sp>
      <p:sp>
        <p:nvSpPr>
          <p:cNvPr id="14" name="TextBox 14"/>
          <p:cNvSpPr txBox="1"/>
          <p:nvPr/>
        </p:nvSpPr>
        <p:spPr>
          <a:xfrm>
            <a:off x="2698990" y="3425040"/>
            <a:ext cx="1558119" cy="310854"/>
          </a:xfrm>
          <a:prstGeom prst="rect">
            <a:avLst/>
          </a:prstGeom>
          <a:noFill/>
          <a:ln>
            <a:noFill/>
          </a:ln>
        </p:spPr>
        <p:txBody>
          <a:bodyPr wrap="none" lIns="0" tIns="0" rIns="0" bIns="0" anchor="t" anchorCtr="0">
            <a:spAutoFit/>
          </a:bodyPr>
          <a:lstStyle/>
          <a:p>
            <a:pPr algn="l"/>
            <a:r>
              <a:rPr lang="zh-CN" sz="2020" dirty="0">
                <a:solidFill>
                  <a:srgbClr val="24364A"/>
                </a:solidFill>
                <a:latin typeface="Microsoft YaHei"/>
                <a:ea typeface="Microsoft YaHei"/>
                <a:cs typeface="Microsoft YaHei"/>
              </a:rPr>
              <a:t>A：公共矩阵 </a:t>
            </a:r>
          </a:p>
        </p:txBody>
      </p:sp>
      <p:sp>
        <p:nvSpPr>
          <p:cNvPr id="15" name="TextBox 15"/>
          <p:cNvSpPr txBox="1"/>
          <p:nvPr/>
        </p:nvSpPr>
        <p:spPr>
          <a:xfrm>
            <a:off x="1685163" y="4188276"/>
            <a:ext cx="4099560" cy="445039"/>
          </a:xfrm>
          <a:prstGeom prst="rect">
            <a:avLst/>
          </a:prstGeom>
          <a:noFill/>
          <a:ln>
            <a:noFill/>
          </a:ln>
        </p:spPr>
        <p:txBody>
          <a:bodyPr wrap="none" lIns="0" tIns="0" rIns="0" bIns="0" anchor="t" anchorCtr="0">
            <a:spAutoFit/>
          </a:bodyPr>
          <a:lstStyle/>
          <a:p>
            <a:pPr algn="l"/>
            <a:r>
              <a:rPr lang="zh-CN" sz="2020" b="1" dirty="0">
                <a:solidFill>
                  <a:srgbClr val="203864"/>
                </a:solidFill>
                <a:latin typeface="Microsoft YaHei"/>
                <a:ea typeface="Microsoft YaHei"/>
                <a:cs typeface="Microsoft YaHei"/>
              </a:rPr>
              <a:t>解密：去除密钥项，再做缩放舍入</a:t>
            </a:r>
          </a:p>
        </p:txBody>
      </p:sp>
      <p:sp>
        <p:nvSpPr>
          <p:cNvPr id="16" name="TextBox 16"/>
          <p:cNvSpPr txBox="1"/>
          <p:nvPr/>
        </p:nvSpPr>
        <p:spPr>
          <a:xfrm>
            <a:off x="3570415" y="4762324"/>
            <a:ext cx="5051170" cy="692281"/>
          </a:xfrm>
          <a:prstGeom prst="rect">
            <a:avLst/>
          </a:prstGeom>
          <a:noFill/>
          <a:ln>
            <a:noFill/>
          </a:ln>
        </p:spPr>
        <p:txBody>
          <a:bodyPr wrap="none" lIns="0" tIns="0" rIns="0" bIns="0" anchor="t" anchorCtr="0">
            <a:spAutoFit/>
          </a:bodyPr>
          <a:lstStyle/>
          <a:p>
            <a:pPr algn="ctr"/>
            <a:r>
              <a:rPr lang="en-US" sz="3150" dirty="0">
                <a:solidFill>
                  <a:srgbClr val="203864"/>
                </a:solidFill>
                <a:latin typeface="Cambria Math"/>
                <a:ea typeface="Cambria Math"/>
                <a:cs typeface="Cambria Math"/>
              </a:rPr>
              <a:t>xᵢ = ⌊(yᵢ − Asᵢ) mod q⌉</a:t>
            </a:r>
            <a:r>
              <a:rPr lang="el-GR" sz="2200" baseline="-25000" dirty="0">
                <a:solidFill>
                  <a:srgbClr val="203864"/>
                </a:solidFill>
                <a:latin typeface="Cambria Math"/>
                <a:ea typeface="Cambria Math"/>
                <a:cs typeface="Cambria Math"/>
              </a:rPr>
              <a:t>Δ</a:t>
            </a:r>
          </a:p>
        </p:txBody>
      </p:sp>
      <p:sp>
        <p:nvSpPr>
          <p:cNvPr id="17" name="TextBox 17"/>
          <p:cNvSpPr txBox="1"/>
          <p:nvPr/>
        </p:nvSpPr>
        <p:spPr>
          <a:xfrm>
            <a:off x="1687068" y="5504766"/>
            <a:ext cx="4082849" cy="253916"/>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舍入记号：返回最近的 Δ 倍数对应的明文值</a:t>
            </a:r>
          </a:p>
        </p:txBody>
      </p:sp>
      <p:grpSp>
        <p:nvGrpSpPr>
          <p:cNvPr id="20" name="takeaway"/>
          <p:cNvGrpSpPr/>
          <p:nvPr/>
        </p:nvGrpSpPr>
        <p:grpSpPr>
          <a:xfrm>
            <a:off x="3656000" y="5956300"/>
            <a:ext cx="4880000" cy="337376"/>
            <a:chOff x="3656000" y="5956300"/>
            <a:chExt cx="4880000" cy="337376"/>
          </a:xfrm>
        </p:grpSpPr>
        <p:sp>
          <p:nvSpPr>
            <p:cNvPr id="19" name="TextBox 19"/>
            <p:cNvSpPr txBox="1"/>
            <p:nvPr/>
          </p:nvSpPr>
          <p:spPr>
            <a:xfrm>
              <a:off x="3656000" y="5956300"/>
              <a:ext cx="4880000" cy="337376"/>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噪声界满足时正确恢复；聚合时须控制累积噪声</a:t>
              </a:r>
            </a:p>
          </p:txBody>
        </p:sp>
      </p:grpSp>
      <p:sp>
        <p:nvSpPr>
          <p:cNvPr id="3" name="TextBox 13">
            <a:extLst>
              <a:ext uri="{FF2B5EF4-FFF2-40B4-BE49-F238E27FC236}">
                <a16:creationId xmlns:a16="http://schemas.microsoft.com/office/drawing/2014/main" id="{2D08B2F3-6960-61FD-BA51-46254C0DFF0C}"/>
              </a:ext>
            </a:extLst>
          </p:cNvPr>
          <p:cNvSpPr txBox="1"/>
          <p:nvPr/>
        </p:nvSpPr>
        <p:spPr>
          <a:xfrm>
            <a:off x="5055356" y="2901130"/>
            <a:ext cx="1458733" cy="310854"/>
          </a:xfrm>
          <a:prstGeom prst="rect">
            <a:avLst/>
          </a:prstGeom>
          <a:noFill/>
          <a:ln>
            <a:noFill/>
          </a:ln>
        </p:spPr>
        <p:txBody>
          <a:bodyPr wrap="none" lIns="0" tIns="0" rIns="0" bIns="0" anchor="t" anchorCtr="0">
            <a:spAutoFit/>
          </a:bodyPr>
          <a:lstStyle/>
          <a:p>
            <a:pPr algn="l"/>
            <a:r>
              <a:rPr lang="zh-CN" sz="2020" dirty="0">
                <a:solidFill>
                  <a:srgbClr val="24364A"/>
                </a:solidFill>
                <a:latin typeface="Microsoft YaHei"/>
                <a:ea typeface="Microsoft YaHei"/>
                <a:cs typeface="Microsoft YaHei"/>
              </a:rPr>
              <a:t>sᵢ：随机密钥</a:t>
            </a:r>
          </a:p>
        </p:txBody>
      </p:sp>
      <p:sp>
        <p:nvSpPr>
          <p:cNvPr id="23" name="TextBox 13">
            <a:extLst>
              <a:ext uri="{FF2B5EF4-FFF2-40B4-BE49-F238E27FC236}">
                <a16:creationId xmlns:a16="http://schemas.microsoft.com/office/drawing/2014/main" id="{8B5A7386-51F5-290F-42D8-FEB5E97F96D6}"/>
              </a:ext>
            </a:extLst>
          </p:cNvPr>
          <p:cNvSpPr txBox="1"/>
          <p:nvPr/>
        </p:nvSpPr>
        <p:spPr>
          <a:xfrm>
            <a:off x="7748284" y="2901130"/>
            <a:ext cx="1575431" cy="310854"/>
          </a:xfrm>
          <a:prstGeom prst="rect">
            <a:avLst/>
          </a:prstGeom>
          <a:noFill/>
          <a:ln>
            <a:noFill/>
          </a:ln>
        </p:spPr>
        <p:txBody>
          <a:bodyPr wrap="none" lIns="0" tIns="0" rIns="0" bIns="0" anchor="t" anchorCtr="0">
            <a:spAutoFit/>
          </a:bodyPr>
          <a:lstStyle/>
          <a:p>
            <a:pPr algn="l"/>
            <a:r>
              <a:rPr lang="zh-CN" sz="2020" dirty="0">
                <a:solidFill>
                  <a:srgbClr val="24364A"/>
                </a:solidFill>
                <a:latin typeface="Microsoft YaHei"/>
                <a:ea typeface="Microsoft YaHei"/>
                <a:cs typeface="Microsoft YaHei"/>
              </a:rPr>
              <a:t>eᵢ：LWE 噪声</a:t>
            </a:r>
          </a:p>
        </p:txBody>
      </p:sp>
      <p:sp>
        <p:nvSpPr>
          <p:cNvPr id="25" name="TextBox 14">
            <a:extLst>
              <a:ext uri="{FF2B5EF4-FFF2-40B4-BE49-F238E27FC236}">
                <a16:creationId xmlns:a16="http://schemas.microsoft.com/office/drawing/2014/main" id="{95F4034B-9513-505D-AA99-DB4DB48C3B62}"/>
              </a:ext>
            </a:extLst>
          </p:cNvPr>
          <p:cNvSpPr txBox="1"/>
          <p:nvPr/>
        </p:nvSpPr>
        <p:spPr>
          <a:xfrm>
            <a:off x="5055356" y="3426927"/>
            <a:ext cx="4268797" cy="310854"/>
          </a:xfrm>
          <a:prstGeom prst="rect">
            <a:avLst/>
          </a:prstGeom>
          <a:noFill/>
          <a:ln>
            <a:noFill/>
          </a:ln>
        </p:spPr>
        <p:txBody>
          <a:bodyPr wrap="none" lIns="0" tIns="0" rIns="0" bIns="0" anchor="t" anchorCtr="0">
            <a:spAutoFit/>
          </a:bodyPr>
          <a:lstStyle/>
          <a:p>
            <a:pPr algn="l"/>
            <a:r>
              <a:rPr lang="zh-CN" sz="2020" dirty="0">
                <a:solidFill>
                  <a:srgbClr val="24364A"/>
                </a:solidFill>
                <a:latin typeface="Microsoft YaHei"/>
                <a:ea typeface="Microsoft YaHei"/>
                <a:cs typeface="Microsoft YaHei"/>
              </a:rPr>
              <a:t>Δ = ⌊q/p⌋：明密文模数间的缩放因子</a:t>
            </a:r>
          </a:p>
        </p:txBody>
      </p:sp>
    </p:spTree>
    <p:extLst>
      <p:ext uri="{BB962C8B-B14F-4D97-AF65-F5344CB8AC3E}">
        <p14:creationId xmlns:p14="http://schemas.microsoft.com/office/powerpoint/2010/main" val="194675197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A2AC639-FFEF-4E18-03AB-A1297A215657}"/>
              </a:ext>
            </a:extLst>
          </p:cNvPr>
          <p:cNvGrpSpPr/>
          <p:nvPr/>
        </p:nvGrpSpPr>
        <p:grpSpPr>
          <a:xfrm>
            <a:off x="0" y="-1"/>
            <a:ext cx="1857829" cy="1181101"/>
            <a:chOff x="0" y="0"/>
            <a:chExt cx="2590667" cy="4976958"/>
          </a:xfrm>
        </p:grpSpPr>
        <p:sp>
          <p:nvSpPr>
            <p:cNvPr id="7" name="矩形 1">
              <a:extLst>
                <a:ext uri="{FF2B5EF4-FFF2-40B4-BE49-F238E27FC236}">
                  <a16:creationId xmlns:a16="http://schemas.microsoft.com/office/drawing/2014/main" id="{E25EF265-AE7A-1C57-07E8-394857629B07}"/>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a:extLst>
                <a:ext uri="{FF2B5EF4-FFF2-40B4-BE49-F238E27FC236}">
                  <a16:creationId xmlns:a16="http://schemas.microsoft.com/office/drawing/2014/main" id="{B00C0EC2-1C0E-8B5A-D8A4-56D604F3BC6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a:extLst>
              <a:ext uri="{FF2B5EF4-FFF2-40B4-BE49-F238E27FC236}">
                <a16:creationId xmlns:a16="http://schemas.microsoft.com/office/drawing/2014/main" id="{BB0593E9-0105-4C31-26BC-3ABFB99B8850}"/>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altLang="en-US" sz="2850" b="1" dirty="0">
                <a:solidFill>
                  <a:srgbClr val="203864"/>
                </a:solidFill>
                <a:latin typeface="Microsoft YaHei"/>
                <a:ea typeface="Microsoft YaHei"/>
                <a:cs typeface="Microsoft YaHei"/>
              </a:rPr>
              <a:t>密钥</a:t>
            </a:r>
            <a:r>
              <a:rPr lang="en-US" altLang="zh-CN" sz="2850" b="1" dirty="0">
                <a:solidFill>
                  <a:srgbClr val="203864"/>
                </a:solidFill>
                <a:latin typeface="Microsoft YaHei"/>
                <a:ea typeface="Microsoft YaHei"/>
                <a:cs typeface="Microsoft YaHei"/>
              </a:rPr>
              <a:t>-</a:t>
            </a:r>
            <a:r>
              <a:rPr lang="zh-CN" altLang="en-US" sz="2850" b="1" dirty="0">
                <a:solidFill>
                  <a:srgbClr val="203864"/>
                </a:solidFill>
                <a:latin typeface="Microsoft YaHei"/>
                <a:ea typeface="Microsoft YaHei"/>
                <a:cs typeface="Microsoft YaHei"/>
              </a:rPr>
              <a:t>消息同态性：</a:t>
            </a:r>
            <a:r>
              <a:rPr lang="zh-CN" sz="2850" b="1" dirty="0">
                <a:solidFill>
                  <a:srgbClr val="203864"/>
                </a:solidFill>
                <a:latin typeface="Microsoft YaHei"/>
                <a:ea typeface="Microsoft YaHei"/>
                <a:cs typeface="Microsoft YaHei"/>
              </a:rPr>
              <a:t>密文</a:t>
            </a:r>
            <a:r>
              <a:rPr lang="zh-CN" altLang="en-US" sz="2850" b="1" dirty="0">
                <a:solidFill>
                  <a:srgbClr val="203864"/>
                </a:solidFill>
                <a:latin typeface="Microsoft YaHei"/>
                <a:ea typeface="Microsoft YaHei"/>
                <a:cs typeface="Microsoft YaHei"/>
              </a:rPr>
              <a:t>相</a:t>
            </a:r>
            <a:r>
              <a:rPr lang="zh-CN" sz="2850" b="1" dirty="0">
                <a:solidFill>
                  <a:srgbClr val="203864"/>
                </a:solidFill>
                <a:latin typeface="Microsoft YaHei"/>
                <a:ea typeface="Microsoft YaHei"/>
                <a:cs typeface="Microsoft YaHei"/>
              </a:rPr>
              <a:t>加，密钥也随之相加</a:t>
            </a:r>
          </a:p>
        </p:txBody>
      </p:sp>
      <p:grpSp>
        <p:nvGrpSpPr>
          <p:cNvPr id="20"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1"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09 / 23</a:t>
              </a:r>
            </a:p>
          </p:txBody>
        </p:sp>
      </p:grpSp>
      <p:sp>
        <p:nvSpPr>
          <p:cNvPr id="11" name="TextBox 11"/>
          <p:cNvSpPr txBox="1"/>
          <p:nvPr/>
        </p:nvSpPr>
        <p:spPr>
          <a:xfrm>
            <a:off x="3231910" y="1506794"/>
            <a:ext cx="6518954" cy="415498"/>
          </a:xfrm>
          <a:prstGeom prst="rect">
            <a:avLst/>
          </a:prstGeom>
          <a:noFill/>
          <a:ln>
            <a:noFill/>
          </a:ln>
        </p:spPr>
        <p:txBody>
          <a:bodyPr wrap="square" lIns="0" tIns="0" rIns="0" bIns="0" anchor="t" anchorCtr="0">
            <a:spAutoFit/>
          </a:bodyPr>
          <a:lstStyle/>
          <a:p>
            <a:pPr algn="l"/>
            <a:r>
              <a:rPr lang="el-GR" sz="2700" dirty="0">
                <a:solidFill>
                  <a:srgbClr val="203864"/>
                </a:solidFill>
                <a:latin typeface="Cambria Math"/>
                <a:ea typeface="Cambria Math"/>
                <a:cs typeface="Cambria Math"/>
              </a:rPr>
              <a:t>y₁ = As₁ + e₁ + Δx₁</a:t>
            </a:r>
            <a:r>
              <a:rPr lang="en-US" sz="2700" dirty="0">
                <a:solidFill>
                  <a:srgbClr val="203864"/>
                </a:solidFill>
                <a:latin typeface="Cambria Math"/>
                <a:ea typeface="Cambria Math"/>
                <a:cs typeface="Cambria Math"/>
              </a:rPr>
              <a:t>  </a:t>
            </a:r>
            <a:r>
              <a:rPr lang="en-US" altLang="zh-CN" sz="2700" dirty="0">
                <a:solidFill>
                  <a:srgbClr val="203864"/>
                </a:solidFill>
                <a:latin typeface="Cambria Math"/>
                <a:ea typeface="Cambria Math"/>
                <a:cs typeface="Cambria Math"/>
              </a:rPr>
              <a:t>………………………</a:t>
            </a:r>
            <a:r>
              <a:rPr lang="zh-CN" altLang="en-US" sz="2700" dirty="0">
                <a:solidFill>
                  <a:srgbClr val="203864"/>
                </a:solidFill>
                <a:latin typeface="Cambria Math"/>
                <a:ea typeface="Cambria Math"/>
                <a:cs typeface="Cambria Math"/>
              </a:rPr>
              <a:t>（</a:t>
            </a:r>
            <a:r>
              <a:rPr lang="en-US" altLang="zh-CN" sz="2700" dirty="0">
                <a:solidFill>
                  <a:srgbClr val="203864"/>
                </a:solidFill>
                <a:latin typeface="Cambria Math"/>
                <a:ea typeface="Cambria Math"/>
                <a:cs typeface="Cambria Math"/>
              </a:rPr>
              <a:t>1</a:t>
            </a:r>
            <a:r>
              <a:rPr lang="zh-CN" altLang="en-US" sz="2700" dirty="0">
                <a:solidFill>
                  <a:srgbClr val="203864"/>
                </a:solidFill>
                <a:latin typeface="Cambria Math"/>
                <a:ea typeface="Cambria Math"/>
                <a:cs typeface="Cambria Math"/>
              </a:rPr>
              <a:t>）</a:t>
            </a:r>
            <a:endParaRPr lang="el-GR" sz="2700" dirty="0">
              <a:solidFill>
                <a:srgbClr val="203864"/>
              </a:solidFill>
              <a:latin typeface="Cambria Math"/>
              <a:ea typeface="Cambria Math"/>
              <a:cs typeface="Cambria Math"/>
            </a:endParaRPr>
          </a:p>
        </p:txBody>
      </p:sp>
      <p:sp>
        <p:nvSpPr>
          <p:cNvPr id="12" name="TextBox 12"/>
          <p:cNvSpPr txBox="1"/>
          <p:nvPr/>
        </p:nvSpPr>
        <p:spPr>
          <a:xfrm>
            <a:off x="3231910" y="2125919"/>
            <a:ext cx="6581438" cy="415498"/>
          </a:xfrm>
          <a:prstGeom prst="rect">
            <a:avLst/>
          </a:prstGeom>
          <a:noFill/>
          <a:ln>
            <a:noFill/>
          </a:ln>
        </p:spPr>
        <p:txBody>
          <a:bodyPr wrap="square" lIns="0" tIns="0" rIns="0" bIns="0" anchor="t" anchorCtr="0">
            <a:spAutoFit/>
          </a:bodyPr>
          <a:lstStyle/>
          <a:p>
            <a:pPr algn="l"/>
            <a:r>
              <a:rPr lang="el-GR" sz="2700" dirty="0">
                <a:solidFill>
                  <a:srgbClr val="203864"/>
                </a:solidFill>
                <a:latin typeface="Cambria Math"/>
                <a:ea typeface="Cambria Math"/>
                <a:cs typeface="Cambria Math"/>
              </a:rPr>
              <a:t>y₂ = As₂ + e₂ + Δx₂</a:t>
            </a:r>
            <a:r>
              <a:rPr lang="en-US" sz="2700" dirty="0">
                <a:solidFill>
                  <a:srgbClr val="203864"/>
                </a:solidFill>
                <a:latin typeface="Cambria Math"/>
                <a:ea typeface="Cambria Math"/>
                <a:cs typeface="Cambria Math"/>
              </a:rPr>
              <a:t>  </a:t>
            </a:r>
            <a:r>
              <a:rPr lang="en-US" altLang="zh-CN" sz="2700" dirty="0">
                <a:solidFill>
                  <a:srgbClr val="203864"/>
                </a:solidFill>
                <a:latin typeface="Cambria Math"/>
                <a:ea typeface="Cambria Math"/>
                <a:cs typeface="Cambria Math"/>
              </a:rPr>
              <a:t>………………………</a:t>
            </a:r>
            <a:r>
              <a:rPr lang="zh-CN" altLang="en-US" sz="2700" dirty="0">
                <a:solidFill>
                  <a:srgbClr val="203864"/>
                </a:solidFill>
                <a:latin typeface="Cambria Math"/>
                <a:ea typeface="Cambria Math"/>
                <a:cs typeface="Cambria Math"/>
              </a:rPr>
              <a:t>（</a:t>
            </a:r>
            <a:r>
              <a:rPr lang="en-US" altLang="zh-CN" sz="2700" dirty="0">
                <a:solidFill>
                  <a:srgbClr val="203864"/>
                </a:solidFill>
                <a:latin typeface="Cambria Math"/>
                <a:ea typeface="Cambria Math"/>
                <a:cs typeface="Cambria Math"/>
              </a:rPr>
              <a:t>2</a:t>
            </a:r>
            <a:r>
              <a:rPr lang="zh-CN" altLang="en-US" sz="2700" dirty="0">
                <a:solidFill>
                  <a:srgbClr val="203864"/>
                </a:solidFill>
                <a:latin typeface="Cambria Math"/>
                <a:ea typeface="Cambria Math"/>
                <a:cs typeface="Cambria Math"/>
              </a:rPr>
              <a:t>）</a:t>
            </a:r>
            <a:endParaRPr lang="el-GR" sz="2700" dirty="0">
              <a:solidFill>
                <a:srgbClr val="203864"/>
              </a:solidFill>
              <a:latin typeface="Cambria Math"/>
              <a:ea typeface="Cambria Math"/>
              <a:cs typeface="Cambria Math"/>
            </a:endParaRPr>
          </a:p>
        </p:txBody>
      </p:sp>
      <p:sp>
        <p:nvSpPr>
          <p:cNvPr id="14" name="Line 14"/>
          <p:cNvSpPr/>
          <p:nvPr/>
        </p:nvSpPr>
        <p:spPr>
          <a:xfrm>
            <a:off x="1757934" y="2839213"/>
            <a:ext cx="8829675" cy="9525"/>
          </a:xfrm>
          <a:custGeom>
            <a:avLst/>
            <a:gdLst/>
            <a:ahLst/>
            <a:cxnLst/>
            <a:rect l="l" t="t" r="r" b="b"/>
            <a:pathLst>
              <a:path w="8829675" h="9525">
                <a:moveTo>
                  <a:pt x="0" y="0"/>
                </a:moveTo>
                <a:lnTo>
                  <a:pt x="8829675" y="0"/>
                </a:lnTo>
              </a:path>
            </a:pathLst>
          </a:custGeom>
          <a:noFill/>
          <a:ln w="19050">
            <a:solidFill>
              <a:schemeClr val="tx2"/>
            </a:solidFill>
          </a:ln>
        </p:spPr>
      </p:sp>
      <p:sp>
        <p:nvSpPr>
          <p:cNvPr id="15" name="TextBox 15"/>
          <p:cNvSpPr txBox="1"/>
          <p:nvPr/>
        </p:nvSpPr>
        <p:spPr>
          <a:xfrm>
            <a:off x="2664943" y="3537893"/>
            <a:ext cx="7403211" cy="498729"/>
          </a:xfrm>
          <a:prstGeom prst="rect">
            <a:avLst/>
          </a:prstGeom>
          <a:noFill/>
          <a:ln>
            <a:noFill/>
          </a:ln>
        </p:spPr>
        <p:txBody>
          <a:bodyPr wrap="none" lIns="0" tIns="0" rIns="0" bIns="0" anchor="t" anchorCtr="0">
            <a:spAutoFit/>
          </a:bodyPr>
          <a:lstStyle/>
          <a:p>
            <a:pPr algn="ctr"/>
            <a:r>
              <a:rPr lang="el-GR" sz="2550" dirty="0">
                <a:solidFill>
                  <a:srgbClr val="203864"/>
                </a:solidFill>
                <a:latin typeface="Cambria Math"/>
                <a:ea typeface="Cambria Math"/>
                <a:cs typeface="Cambria Math"/>
              </a:rPr>
              <a:t>y₁ + y₂ = A(s₁ + s₂) + (e₁ + e₂) + Δ(x₁ + x₂)</a:t>
            </a:r>
          </a:p>
        </p:txBody>
      </p:sp>
      <p:sp>
        <p:nvSpPr>
          <p:cNvPr id="16" name="TextBox 16"/>
          <p:cNvSpPr txBox="1"/>
          <p:nvPr/>
        </p:nvSpPr>
        <p:spPr>
          <a:xfrm>
            <a:off x="4552500" y="4235766"/>
            <a:ext cx="3628098" cy="513398"/>
          </a:xfrm>
          <a:prstGeom prst="rect">
            <a:avLst/>
          </a:prstGeom>
          <a:noFill/>
          <a:ln>
            <a:noFill/>
          </a:ln>
        </p:spPr>
        <p:txBody>
          <a:bodyPr wrap="none" lIns="0" tIns="0" rIns="0" bIns="0" anchor="t" anchorCtr="0">
            <a:spAutoFit/>
          </a:bodyPr>
          <a:lstStyle/>
          <a:p>
            <a:pPr algn="ctr"/>
            <a:r>
              <a:rPr lang="zh-CN" sz="2620" b="1" dirty="0">
                <a:solidFill>
                  <a:srgbClr val="203864"/>
                </a:solidFill>
                <a:latin typeface="Microsoft YaHei"/>
                <a:ea typeface="Microsoft YaHei"/>
                <a:cs typeface="Microsoft YaHei"/>
              </a:rPr>
              <a:t>解密 Σyᵢ，只需要 Σsᵢ</a:t>
            </a:r>
          </a:p>
        </p:txBody>
      </p:sp>
      <p:sp>
        <p:nvSpPr>
          <p:cNvPr id="17" name="TextBox 17"/>
          <p:cNvSpPr txBox="1"/>
          <p:nvPr/>
        </p:nvSpPr>
        <p:spPr>
          <a:xfrm>
            <a:off x="4398349" y="4835841"/>
            <a:ext cx="3936401" cy="396050"/>
          </a:xfrm>
          <a:prstGeom prst="rect">
            <a:avLst/>
          </a:prstGeom>
          <a:noFill/>
          <a:ln>
            <a:noFill/>
          </a:ln>
        </p:spPr>
        <p:txBody>
          <a:bodyPr wrap="none" lIns="0" tIns="0" rIns="0" bIns="0" anchor="t" anchorCtr="0">
            <a:spAutoFit/>
          </a:bodyPr>
          <a:lstStyle/>
          <a:p>
            <a:pPr algn="ctr"/>
            <a:r>
              <a:rPr lang="zh-CN" sz="2020" dirty="0">
                <a:solidFill>
                  <a:srgbClr val="24364A"/>
                </a:solidFill>
                <a:latin typeface="Microsoft YaHei"/>
                <a:ea typeface="Microsoft YaHei"/>
                <a:cs typeface="Microsoft YaHei"/>
              </a:rPr>
              <a:t>不需要公开任意单个客户端的 sᵢ</a:t>
            </a:r>
          </a:p>
        </p:txBody>
      </p:sp>
      <p:sp>
        <p:nvSpPr>
          <p:cNvPr id="18" name="TextBox 18"/>
          <p:cNvSpPr txBox="1"/>
          <p:nvPr/>
        </p:nvSpPr>
        <p:spPr>
          <a:xfrm>
            <a:off x="3231910" y="5347016"/>
            <a:ext cx="6269279" cy="337376"/>
          </a:xfrm>
          <a:prstGeom prst="rect">
            <a:avLst/>
          </a:prstGeom>
          <a:noFill/>
          <a:ln>
            <a:noFill/>
          </a:ln>
        </p:spPr>
        <p:txBody>
          <a:bodyPr wrap="none" lIns="0" tIns="0" rIns="0" bIns="0" anchor="t" anchorCtr="0">
            <a:spAutoFit/>
          </a:bodyPr>
          <a:lstStyle/>
          <a:p>
            <a:pPr algn="ctr"/>
            <a:r>
              <a:rPr lang="zh-CN" sz="1720" dirty="0">
                <a:solidFill>
                  <a:srgbClr val="64748B"/>
                </a:solidFill>
                <a:latin typeface="Microsoft YaHei"/>
                <a:ea typeface="Microsoft YaHei"/>
                <a:cs typeface="Microsoft YaHei"/>
              </a:rPr>
              <a:t>所有求和使用同一个有效客户端集合，且总噪声须满足解密界</a:t>
            </a:r>
          </a:p>
        </p:txBody>
      </p:sp>
      <p:sp>
        <p:nvSpPr>
          <p:cNvPr id="3" name="TextBox 12">
            <a:extLst>
              <a:ext uri="{FF2B5EF4-FFF2-40B4-BE49-F238E27FC236}">
                <a16:creationId xmlns:a16="http://schemas.microsoft.com/office/drawing/2014/main" id="{891405F4-D093-96D0-BEC0-3649AAE474B8}"/>
              </a:ext>
            </a:extLst>
          </p:cNvPr>
          <p:cNvSpPr txBox="1"/>
          <p:nvPr/>
        </p:nvSpPr>
        <p:spPr>
          <a:xfrm>
            <a:off x="5037761" y="3012330"/>
            <a:ext cx="2116477" cy="307777"/>
          </a:xfrm>
          <a:prstGeom prst="rect">
            <a:avLst/>
          </a:prstGeom>
          <a:noFill/>
          <a:ln>
            <a:noFill/>
          </a:ln>
        </p:spPr>
        <p:txBody>
          <a:bodyPr wrap="square" lIns="0" tIns="0" rIns="0" bIns="0" anchor="t" anchorCtr="0">
            <a:spAutoFit/>
          </a:bodyPr>
          <a:lstStyle/>
          <a:p>
            <a:pPr algn="l"/>
            <a:r>
              <a:rPr lang="zh-CN" altLang="en-US" sz="2000" i="1" dirty="0">
                <a:solidFill>
                  <a:srgbClr val="203864"/>
                </a:solidFill>
                <a:latin typeface="Cambria Math"/>
                <a:ea typeface="Cambria Math"/>
                <a:cs typeface="Cambria Math"/>
              </a:rPr>
              <a:t>由（</a:t>
            </a:r>
            <a:r>
              <a:rPr lang="en-US" altLang="zh-CN" sz="2000" i="1" dirty="0">
                <a:solidFill>
                  <a:srgbClr val="203864"/>
                </a:solidFill>
                <a:latin typeface="Cambria Math"/>
                <a:ea typeface="Cambria Math"/>
                <a:cs typeface="Cambria Math"/>
              </a:rPr>
              <a:t>1</a:t>
            </a:r>
            <a:r>
              <a:rPr lang="zh-CN" altLang="en-US" sz="2000" i="1" dirty="0">
                <a:solidFill>
                  <a:srgbClr val="203864"/>
                </a:solidFill>
                <a:latin typeface="Cambria Math"/>
                <a:ea typeface="Cambria Math"/>
                <a:cs typeface="Cambria Math"/>
              </a:rPr>
              <a:t>）</a:t>
            </a:r>
            <a:r>
              <a:rPr lang="en-US" altLang="zh-CN" sz="2000" i="1" dirty="0">
                <a:solidFill>
                  <a:srgbClr val="203864"/>
                </a:solidFill>
                <a:latin typeface="Cambria Math"/>
                <a:ea typeface="Cambria Math"/>
                <a:cs typeface="Cambria Math"/>
              </a:rPr>
              <a:t>+</a:t>
            </a:r>
            <a:r>
              <a:rPr lang="zh-CN" altLang="en-US" sz="2000" i="1" dirty="0">
                <a:solidFill>
                  <a:srgbClr val="203864"/>
                </a:solidFill>
                <a:latin typeface="Cambria Math"/>
                <a:ea typeface="Cambria Math"/>
                <a:cs typeface="Cambria Math"/>
              </a:rPr>
              <a:t>（</a:t>
            </a:r>
            <a:r>
              <a:rPr lang="en-US" altLang="zh-CN" sz="2000" i="1" dirty="0">
                <a:solidFill>
                  <a:srgbClr val="203864"/>
                </a:solidFill>
                <a:latin typeface="Cambria Math"/>
                <a:ea typeface="Cambria Math"/>
                <a:cs typeface="Cambria Math"/>
              </a:rPr>
              <a:t>2</a:t>
            </a:r>
            <a:r>
              <a:rPr lang="zh-CN" altLang="en-US" sz="2000" i="1" dirty="0">
                <a:solidFill>
                  <a:srgbClr val="203864"/>
                </a:solidFill>
                <a:latin typeface="Cambria Math"/>
                <a:ea typeface="Cambria Math"/>
                <a:cs typeface="Cambria Math"/>
              </a:rPr>
              <a:t>）得：</a:t>
            </a:r>
            <a:endParaRPr lang="el-GR" sz="2000" i="1" dirty="0">
              <a:solidFill>
                <a:srgbClr val="203864"/>
              </a:solidFill>
              <a:latin typeface="Cambria Math"/>
              <a:ea typeface="Cambria Math"/>
              <a:cs typeface="Cambria Math"/>
            </a:endParaRPr>
          </a:p>
        </p:txBody>
      </p:sp>
    </p:spTree>
    <p:extLst>
      <p:ext uri="{BB962C8B-B14F-4D97-AF65-F5344CB8AC3E}">
        <p14:creationId xmlns:p14="http://schemas.microsoft.com/office/powerpoint/2010/main" val="194675197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31104" y="1655719"/>
            <a:ext cx="4466377" cy="435773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altLang="en-US" sz="2850" b="1" dirty="0">
                <a:solidFill>
                  <a:srgbClr val="203864"/>
                </a:solidFill>
                <a:latin typeface="Microsoft YaHei"/>
                <a:ea typeface="Microsoft YaHei"/>
                <a:cs typeface="Microsoft YaHei"/>
              </a:rPr>
              <a:t>传统</a:t>
            </a:r>
            <a:r>
              <a:rPr lang="zh-CN" sz="2850" b="1" dirty="0">
                <a:solidFill>
                  <a:srgbClr val="203864"/>
                </a:solidFill>
                <a:latin typeface="Microsoft YaHei"/>
                <a:ea typeface="Microsoft YaHei"/>
                <a:cs typeface="Microsoft YaHei"/>
              </a:rPr>
              <a:t>秘密</a:t>
            </a:r>
            <a:r>
              <a:rPr lang="zh-CN" altLang="en-US" sz="2850" b="1" dirty="0">
                <a:solidFill>
                  <a:srgbClr val="203864"/>
                </a:solidFill>
                <a:latin typeface="Microsoft YaHei"/>
                <a:ea typeface="Microsoft YaHei"/>
                <a:cs typeface="Microsoft YaHei"/>
              </a:rPr>
              <a:t>共享</a:t>
            </a:r>
            <a:r>
              <a:rPr lang="zh-CN" sz="2850" b="1" dirty="0">
                <a:solidFill>
                  <a:srgbClr val="203864"/>
                </a:solidFill>
                <a:latin typeface="Microsoft YaHei"/>
                <a:ea typeface="Microsoft YaHei"/>
                <a:cs typeface="Microsoft YaHei"/>
              </a:rPr>
              <a:t>的通信代价</a:t>
            </a:r>
          </a:p>
        </p:txBody>
      </p:sp>
      <p:grpSp>
        <p:nvGrpSpPr>
          <p:cNvPr id="8" name="page-footer"/>
          <p:cNvGrpSpPr/>
          <p:nvPr/>
        </p:nvGrpSpPr>
        <p:grpSpPr>
          <a:xfrm>
            <a:off x="1194816" y="6426200"/>
            <a:ext cx="9954768" cy="205359"/>
            <a:chOff x="1194816" y="6426200"/>
            <a:chExt cx="9954768" cy="205359"/>
          </a:xfrm>
        </p:grpSpPr>
        <p:sp>
          <p:nvSpPr>
            <p:cNvPr id="5" name="TextBox 5"/>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6" name="TextBox 6"/>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10 / 23</a:t>
              </a:r>
            </a:p>
          </p:txBody>
        </p:sp>
      </p:grpSp>
      <p:sp>
        <p:nvSpPr>
          <p:cNvPr id="9" name="TextBox 9"/>
          <p:cNvSpPr txBox="1"/>
          <p:nvPr/>
        </p:nvSpPr>
        <p:spPr>
          <a:xfrm>
            <a:off x="7437501" y="1889125"/>
            <a:ext cx="3631379" cy="335476"/>
          </a:xfrm>
          <a:prstGeom prst="rect">
            <a:avLst/>
          </a:prstGeom>
          <a:noFill/>
          <a:ln>
            <a:noFill/>
          </a:ln>
        </p:spPr>
        <p:txBody>
          <a:bodyPr wrap="none" lIns="0" tIns="0" rIns="0" bIns="0" anchor="t" anchorCtr="0">
            <a:spAutoFit/>
          </a:bodyPr>
          <a:lstStyle/>
          <a:p>
            <a:pPr algn="l"/>
            <a:r>
              <a:rPr lang="en-US" sz="2180" b="1" dirty="0">
                <a:solidFill>
                  <a:srgbClr val="FFFFFF"/>
                </a:solidFill>
                <a:latin typeface="Microsoft YaHei"/>
                <a:ea typeface="Microsoft YaHei"/>
                <a:cs typeface="Microsoft YaHei"/>
              </a:rPr>
              <a:t>T</a:t>
            </a:r>
            <a:r>
              <a:rPr lang="en-US" altLang="zh-CN" sz="2180" b="1" dirty="0">
                <a:solidFill>
                  <a:srgbClr val="FFFFFF"/>
                </a:solidFill>
                <a:latin typeface="Microsoft YaHei"/>
                <a:ea typeface="Microsoft YaHei"/>
                <a:cs typeface="Microsoft YaHei"/>
              </a:rPr>
              <a:t>raditional </a:t>
            </a:r>
            <a:r>
              <a:rPr lang="en-US" sz="2180" b="1" dirty="0">
                <a:solidFill>
                  <a:srgbClr val="FFFFFF"/>
                </a:solidFill>
                <a:latin typeface="Microsoft YaHei"/>
                <a:ea typeface="Microsoft YaHei"/>
                <a:cs typeface="Microsoft YaHei"/>
              </a:rPr>
              <a:t>Secret Sharing</a:t>
            </a:r>
          </a:p>
        </p:txBody>
      </p:sp>
      <p:sp>
        <p:nvSpPr>
          <p:cNvPr id="14" name="TextBox 14"/>
          <p:cNvSpPr txBox="1"/>
          <p:nvPr/>
        </p:nvSpPr>
        <p:spPr>
          <a:xfrm>
            <a:off x="1173852" y="4856893"/>
            <a:ext cx="2595774" cy="396050"/>
          </a:xfrm>
          <a:prstGeom prst="rect">
            <a:avLst/>
          </a:prstGeom>
          <a:noFill/>
          <a:ln>
            <a:noFill/>
          </a:ln>
        </p:spPr>
        <p:txBody>
          <a:bodyPr wrap="none" lIns="0" tIns="0" rIns="0" bIns="0" anchor="t" anchorCtr="0">
            <a:spAutoFit/>
          </a:bodyPr>
          <a:lstStyle/>
          <a:p>
            <a:pPr algn="l"/>
            <a:r>
              <a:rPr lang="zh-CN" sz="2020" b="1" dirty="0">
                <a:solidFill>
                  <a:srgbClr val="203864"/>
                </a:solidFill>
                <a:latin typeface="Microsoft YaHei"/>
                <a:ea typeface="Microsoft YaHei"/>
                <a:cs typeface="Microsoft YaHei"/>
              </a:rPr>
              <a:t>逐坐标分享短密钥 sᵢ</a:t>
            </a:r>
          </a:p>
        </p:txBody>
      </p:sp>
      <p:sp>
        <p:nvSpPr>
          <p:cNvPr id="15" name="TextBox 15"/>
          <p:cNvSpPr txBox="1"/>
          <p:nvPr/>
        </p:nvSpPr>
        <p:spPr>
          <a:xfrm>
            <a:off x="1174614" y="5301393"/>
            <a:ext cx="3600450" cy="705802"/>
          </a:xfrm>
          <a:prstGeom prst="rect">
            <a:avLst/>
          </a:prstGeom>
          <a:noFill/>
          <a:ln>
            <a:noFill/>
          </a:ln>
        </p:spPr>
        <p:txBody>
          <a:bodyPr wrap="none" lIns="0" tIns="0" rIns="0" bIns="0" anchor="t" anchorCtr="0">
            <a:spAutoFit/>
          </a:bodyPr>
          <a:lstStyle/>
          <a:p>
            <a:pPr algn="l">
              <a:lnSpc>
                <a:spcPts val="2662"/>
              </a:lnSpc>
            </a:pPr>
            <a:r>
              <a:rPr lang="zh-CN" sz="1880" dirty="0">
                <a:solidFill>
                  <a:srgbClr val="24364A"/>
                </a:solidFill>
                <a:latin typeface="Microsoft YaHei"/>
                <a:ea typeface="Microsoft YaHei"/>
                <a:cs typeface="Microsoft YaHei"/>
              </a:rPr>
              <a:t>协议可以工作，但通信随 n 膨胀</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服务器还要中转客户端之间的消息</a:t>
            </a:r>
          </a:p>
        </p:txBody>
      </p:sp>
      <p:sp>
        <p:nvSpPr>
          <p:cNvPr id="16" name="TextBox 16"/>
          <p:cNvSpPr txBox="1"/>
          <p:nvPr/>
        </p:nvSpPr>
        <p:spPr>
          <a:xfrm>
            <a:off x="7457694" y="2686050"/>
            <a:ext cx="1857375"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icrosoft YaHei"/>
                <a:ea typeface="Microsoft YaHei"/>
                <a:cs typeface="Microsoft YaHei"/>
              </a:rPr>
              <a:t>单个客户端通信</a:t>
            </a:r>
          </a:p>
        </p:txBody>
      </p:sp>
      <p:sp>
        <p:nvSpPr>
          <p:cNvPr id="17" name="TextBox 17"/>
          <p:cNvSpPr txBox="1"/>
          <p:nvPr/>
        </p:nvSpPr>
        <p:spPr>
          <a:xfrm>
            <a:off x="7450074" y="3041650"/>
            <a:ext cx="1430998" cy="674751"/>
          </a:xfrm>
          <a:prstGeom prst="rect">
            <a:avLst/>
          </a:prstGeom>
          <a:noFill/>
          <a:ln>
            <a:noFill/>
          </a:ln>
        </p:spPr>
        <p:txBody>
          <a:bodyPr wrap="none" lIns="0" tIns="0" rIns="0" bIns="0" anchor="t" anchorCtr="0">
            <a:spAutoFit/>
          </a:bodyPr>
          <a:lstStyle/>
          <a:p>
            <a:pPr algn="l"/>
            <a:r>
              <a:rPr lang="el-GR" sz="3450" dirty="0">
                <a:solidFill>
                  <a:srgbClr val="FFFFFF"/>
                </a:solidFill>
                <a:latin typeface="Cambria Math"/>
                <a:ea typeface="Cambria Math"/>
                <a:cs typeface="Cambria Math"/>
              </a:rPr>
              <a:t>O(nλ)</a:t>
            </a:r>
          </a:p>
        </p:txBody>
      </p:sp>
      <p:sp>
        <p:nvSpPr>
          <p:cNvPr id="18" name="TextBox 18"/>
          <p:cNvSpPr txBox="1"/>
          <p:nvPr/>
        </p:nvSpPr>
        <p:spPr>
          <a:xfrm>
            <a:off x="7457694" y="3886200"/>
            <a:ext cx="1857375"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icrosoft YaHei"/>
                <a:ea typeface="Microsoft YaHei"/>
                <a:cs typeface="Microsoft YaHei"/>
              </a:rPr>
              <a:t>服务器转发通信</a:t>
            </a:r>
          </a:p>
        </p:txBody>
      </p:sp>
      <p:sp>
        <p:nvSpPr>
          <p:cNvPr id="19" name="TextBox 19"/>
          <p:cNvSpPr txBox="1"/>
          <p:nvPr/>
        </p:nvSpPr>
        <p:spPr>
          <a:xfrm>
            <a:off x="7450074" y="4241800"/>
            <a:ext cx="1691259" cy="674751"/>
          </a:xfrm>
          <a:prstGeom prst="rect">
            <a:avLst/>
          </a:prstGeom>
          <a:noFill/>
          <a:ln>
            <a:noFill/>
          </a:ln>
        </p:spPr>
        <p:txBody>
          <a:bodyPr wrap="none" lIns="0" tIns="0" rIns="0" bIns="0" anchor="t" anchorCtr="0">
            <a:spAutoFit/>
          </a:bodyPr>
          <a:lstStyle/>
          <a:p>
            <a:pPr algn="l"/>
            <a:r>
              <a:rPr lang="el-GR" sz="3450" dirty="0">
                <a:solidFill>
                  <a:srgbClr val="FFFFFF"/>
                </a:solidFill>
                <a:latin typeface="Cambria Math"/>
                <a:ea typeface="Cambria Math"/>
                <a:cs typeface="Cambria Math"/>
              </a:rPr>
              <a:t>O(n²λ)</a:t>
            </a:r>
          </a:p>
        </p:txBody>
      </p:sp>
      <p:sp>
        <p:nvSpPr>
          <p:cNvPr id="20" name="TextBox 20"/>
          <p:cNvSpPr txBox="1"/>
          <p:nvPr/>
        </p:nvSpPr>
        <p:spPr>
          <a:xfrm>
            <a:off x="7458456" y="5302250"/>
            <a:ext cx="3168396"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icrosoft YaHei"/>
                <a:ea typeface="Microsoft YaHei"/>
                <a:cs typeface="Microsoft YaHei"/>
              </a:rPr>
              <a:t>不适合弱客户端的大规模参与</a:t>
            </a:r>
          </a:p>
        </p:txBody>
      </p:sp>
      <p:pic>
        <p:nvPicPr>
          <p:cNvPr id="4" name="图片 3">
            <a:extLst>
              <a:ext uri="{FF2B5EF4-FFF2-40B4-BE49-F238E27FC236}">
                <a16:creationId xmlns:a16="http://schemas.microsoft.com/office/drawing/2014/main" id="{EB4DF6F6-F26E-41B2-4643-149275523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852" y="1655719"/>
            <a:ext cx="5783516" cy="2891758"/>
          </a:xfrm>
          <a:prstGeom prst="rect">
            <a:avLst/>
          </a:prstGeom>
        </p:spPr>
      </p:pic>
    </p:spTree>
    <p:extLst>
      <p:ext uri="{BB962C8B-B14F-4D97-AF65-F5344CB8AC3E}">
        <p14:creationId xmlns:p14="http://schemas.microsoft.com/office/powerpoint/2010/main" val="33279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05704" y="1686606"/>
            <a:ext cx="4466377" cy="435773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解密委员会与打包秘密分享</a:t>
            </a:r>
          </a:p>
        </p:txBody>
      </p:sp>
      <p:grpSp>
        <p:nvGrpSpPr>
          <p:cNvPr id="8" name="page-footer"/>
          <p:cNvGrpSpPr/>
          <p:nvPr/>
        </p:nvGrpSpPr>
        <p:grpSpPr>
          <a:xfrm>
            <a:off x="1194816" y="6426200"/>
            <a:ext cx="9954768" cy="205359"/>
            <a:chOff x="1194816" y="6426200"/>
            <a:chExt cx="9954768" cy="205359"/>
          </a:xfrm>
        </p:grpSpPr>
        <p:sp>
          <p:nvSpPr>
            <p:cNvPr id="5" name="TextBox 5"/>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6" name="TextBox 6"/>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11 / 23</a:t>
              </a:r>
            </a:p>
          </p:txBody>
        </p:sp>
      </p:grpSp>
      <p:sp>
        <p:nvSpPr>
          <p:cNvPr id="9" name="TextBox 9"/>
          <p:cNvSpPr txBox="1"/>
          <p:nvPr/>
        </p:nvSpPr>
        <p:spPr>
          <a:xfrm>
            <a:off x="7412101" y="1920012"/>
            <a:ext cx="2369871" cy="426339"/>
          </a:xfrm>
          <a:prstGeom prst="rect">
            <a:avLst/>
          </a:prstGeom>
          <a:noFill/>
          <a:ln>
            <a:noFill/>
          </a:ln>
        </p:spPr>
        <p:txBody>
          <a:bodyPr wrap="none" lIns="0" tIns="0" rIns="0" bIns="0" anchor="t" anchorCtr="0">
            <a:spAutoFit/>
          </a:bodyPr>
          <a:lstStyle/>
          <a:p>
            <a:pPr algn="l"/>
            <a:r>
              <a:rPr lang="zh-CN" sz="2180" b="1" dirty="0">
                <a:solidFill>
                  <a:srgbClr val="FFFFFF"/>
                </a:solidFill>
                <a:latin typeface="Microsoft YaHei"/>
                <a:ea typeface="Microsoft YaHei"/>
                <a:cs typeface="Microsoft YaHei"/>
              </a:rPr>
              <a:t>内层密钥聚合开销</a:t>
            </a:r>
          </a:p>
        </p:txBody>
      </p:sp>
      <p:sp>
        <p:nvSpPr>
          <p:cNvPr id="14" name="TextBox 14"/>
          <p:cNvSpPr txBox="1"/>
          <p:nvPr/>
        </p:nvSpPr>
        <p:spPr>
          <a:xfrm>
            <a:off x="1305814" y="4755668"/>
            <a:ext cx="3146806" cy="454724"/>
          </a:xfrm>
          <a:prstGeom prst="rect">
            <a:avLst/>
          </a:prstGeom>
          <a:noFill/>
          <a:ln>
            <a:noFill/>
          </a:ln>
        </p:spPr>
        <p:txBody>
          <a:bodyPr wrap="none" lIns="0" tIns="0" rIns="0" bIns="0" anchor="t" anchorCtr="0">
            <a:spAutoFit/>
          </a:bodyPr>
          <a:lstStyle/>
          <a:p>
            <a:pPr algn="l"/>
            <a:r>
              <a:rPr lang="el-GR" sz="2320" dirty="0">
                <a:solidFill>
                  <a:srgbClr val="203864"/>
                </a:solidFill>
                <a:latin typeface="Cambria Math"/>
                <a:ea typeface="Cambria Math"/>
                <a:cs typeface="Cambria Math"/>
              </a:rPr>
              <a:t>sᵢ → ρᵢ⁽¹⁾, …, ρᵢ⁽ᶜ⁾</a:t>
            </a:r>
          </a:p>
        </p:txBody>
      </p:sp>
      <p:sp>
        <p:nvSpPr>
          <p:cNvPr id="15" name="TextBox 15"/>
          <p:cNvSpPr txBox="1"/>
          <p:nvPr/>
        </p:nvSpPr>
        <p:spPr>
          <a:xfrm>
            <a:off x="1279525" y="5228743"/>
            <a:ext cx="4466376" cy="663323"/>
          </a:xfrm>
          <a:prstGeom prst="rect">
            <a:avLst/>
          </a:prstGeom>
          <a:noFill/>
          <a:ln>
            <a:noFill/>
          </a:ln>
        </p:spPr>
        <p:txBody>
          <a:bodyPr wrap="square" lIns="0" tIns="0" rIns="0" bIns="0" anchor="t" anchorCtr="0">
            <a:spAutoFit/>
          </a:bodyPr>
          <a:lstStyle/>
          <a:p>
            <a:pPr algn="l">
              <a:lnSpc>
                <a:spcPts val="2662"/>
              </a:lnSpc>
            </a:pPr>
            <a:r>
              <a:rPr lang="zh-CN" sz="1880" dirty="0">
                <a:solidFill>
                  <a:srgbClr val="24364A"/>
                </a:solidFill>
                <a:latin typeface="Microsoft YaHei"/>
                <a:ea typeface="Microsoft YaHei"/>
                <a:cs typeface="Microsoft YaHei"/>
              </a:rPr>
              <a:t>每个解密者接收一个 share</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阈值重构</a:t>
            </a:r>
            <a:r>
              <a:rPr lang="zh-CN" altLang="en-US" sz="1880" dirty="0">
                <a:solidFill>
                  <a:srgbClr val="24364A"/>
                </a:solidFill>
                <a:latin typeface="Microsoft YaHei"/>
                <a:ea typeface="Microsoft YaHei"/>
                <a:cs typeface="Microsoft YaHei"/>
              </a:rPr>
              <a:t>能够</a:t>
            </a:r>
            <a:r>
              <a:rPr lang="zh-CN" sz="1880" dirty="0">
                <a:solidFill>
                  <a:srgbClr val="24364A"/>
                </a:solidFill>
                <a:latin typeface="Microsoft YaHei"/>
                <a:ea typeface="Microsoft YaHei"/>
                <a:cs typeface="Microsoft YaHei"/>
              </a:rPr>
              <a:t>容忍部分解密者掉线</a:t>
            </a:r>
          </a:p>
        </p:txBody>
      </p:sp>
      <p:sp>
        <p:nvSpPr>
          <p:cNvPr id="16" name="TextBox 16"/>
          <p:cNvSpPr txBox="1"/>
          <p:nvPr/>
        </p:nvSpPr>
        <p:spPr>
          <a:xfrm>
            <a:off x="7422769" y="2755037"/>
            <a:ext cx="1332357"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icrosoft YaHei"/>
                <a:ea typeface="Microsoft YaHei"/>
                <a:cs typeface="Microsoft YaHei"/>
              </a:rPr>
              <a:t>普通客户端</a:t>
            </a:r>
          </a:p>
        </p:txBody>
      </p:sp>
      <p:sp>
        <p:nvSpPr>
          <p:cNvPr id="17" name="TextBox 17"/>
          <p:cNvSpPr txBox="1"/>
          <p:nvPr/>
        </p:nvSpPr>
        <p:spPr>
          <a:xfrm>
            <a:off x="8674259" y="2723942"/>
            <a:ext cx="2562796" cy="369332"/>
          </a:xfrm>
          <a:prstGeom prst="rect">
            <a:avLst/>
          </a:prstGeom>
          <a:noFill/>
          <a:ln>
            <a:noFill/>
          </a:ln>
        </p:spPr>
        <p:txBody>
          <a:bodyPr wrap="square" lIns="0" tIns="0" rIns="0" bIns="0" anchor="t" anchorCtr="0">
            <a:spAutoFit/>
          </a:bodyPr>
          <a:lstStyle/>
          <a:p>
            <a:pPr algn="r"/>
            <a:r>
              <a:rPr lang="en-US" altLang="zh-CN" sz="2400" dirty="0">
                <a:solidFill>
                  <a:srgbClr val="FFFFFF"/>
                </a:solidFill>
                <a:latin typeface="Cambria Math"/>
                <a:ea typeface="Cambria Math"/>
                <a:cs typeface="Cambria Math"/>
              </a:rPr>
              <a:t>…………………… </a:t>
            </a:r>
            <a:r>
              <a:rPr lang="en-US" sz="2400" dirty="0">
                <a:solidFill>
                  <a:srgbClr val="FFFFFF"/>
                </a:solidFill>
                <a:latin typeface="Cambria Math"/>
                <a:ea typeface="Cambria Math"/>
                <a:cs typeface="Cambria Math"/>
              </a:rPr>
              <a:t>O(C)</a:t>
            </a:r>
          </a:p>
        </p:txBody>
      </p:sp>
      <p:sp>
        <p:nvSpPr>
          <p:cNvPr id="18" name="TextBox 18"/>
          <p:cNvSpPr txBox="1"/>
          <p:nvPr/>
        </p:nvSpPr>
        <p:spPr>
          <a:xfrm>
            <a:off x="7422769" y="3564662"/>
            <a:ext cx="1332357"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icrosoft YaHei"/>
                <a:ea typeface="Microsoft YaHei"/>
                <a:cs typeface="Microsoft YaHei"/>
              </a:rPr>
              <a:t>单个解密者</a:t>
            </a:r>
          </a:p>
        </p:txBody>
      </p:sp>
      <p:sp>
        <p:nvSpPr>
          <p:cNvPr id="20" name="TextBox 20"/>
          <p:cNvSpPr txBox="1"/>
          <p:nvPr/>
        </p:nvSpPr>
        <p:spPr>
          <a:xfrm>
            <a:off x="7422769" y="4374287"/>
            <a:ext cx="807339"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icrosoft YaHei"/>
                <a:ea typeface="Microsoft YaHei"/>
                <a:cs typeface="Microsoft YaHei"/>
              </a:rPr>
              <a:t>服务器</a:t>
            </a:r>
          </a:p>
        </p:txBody>
      </p:sp>
      <p:sp>
        <p:nvSpPr>
          <p:cNvPr id="22" name="TextBox 22"/>
          <p:cNvSpPr txBox="1"/>
          <p:nvPr/>
        </p:nvSpPr>
        <p:spPr>
          <a:xfrm>
            <a:off x="7424292" y="5066437"/>
            <a:ext cx="4088258" cy="566502"/>
          </a:xfrm>
          <a:prstGeom prst="rect">
            <a:avLst/>
          </a:prstGeom>
          <a:noFill/>
          <a:ln>
            <a:noFill/>
          </a:ln>
        </p:spPr>
        <p:txBody>
          <a:bodyPr wrap="square" lIns="0" tIns="0" rIns="0" bIns="0" anchor="t" anchorCtr="0">
            <a:spAutoFit/>
          </a:bodyPr>
          <a:lstStyle/>
          <a:p>
            <a:pPr algn="l">
              <a:lnSpc>
                <a:spcPts val="2343"/>
              </a:lnSpc>
            </a:pPr>
            <a:r>
              <a:rPr lang="zh-CN" sz="1650" dirty="0">
                <a:solidFill>
                  <a:srgbClr val="FFFFFF"/>
                </a:solidFill>
                <a:latin typeface="Microsoft YaHei"/>
                <a:ea typeface="Microsoft YaHei"/>
                <a:cs typeface="Microsoft YaHei"/>
              </a:rPr>
              <a:t>完整协议还含 ℓ 维输入开销</a:t>
            </a:r>
            <a:br>
              <a:rPr lang="zh-CN" sz="1650" dirty="0">
                <a:solidFill>
                  <a:srgbClr val="FFFFFF"/>
                </a:solidFill>
                <a:latin typeface="Microsoft YaHei"/>
                <a:ea typeface="Microsoft YaHei"/>
                <a:cs typeface="Microsoft YaHei"/>
              </a:rPr>
            </a:br>
            <a:r>
              <a:rPr lang="zh-CN" altLang="en-US" sz="1650" dirty="0">
                <a:solidFill>
                  <a:srgbClr val="FFFFFF"/>
                </a:solidFill>
                <a:latin typeface="Microsoft YaHei"/>
                <a:ea typeface="Microsoft YaHei"/>
                <a:cs typeface="Microsoft YaHei"/>
              </a:rPr>
              <a:t>对</a:t>
            </a:r>
            <a:r>
              <a:rPr lang="zh-CN" sz="1650" dirty="0">
                <a:solidFill>
                  <a:srgbClr val="FFFFFF"/>
                </a:solidFill>
                <a:latin typeface="Microsoft YaHei"/>
                <a:ea typeface="Microsoft YaHei"/>
                <a:cs typeface="Microsoft YaHei"/>
              </a:rPr>
              <a:t>普通客户端</a:t>
            </a:r>
            <a:r>
              <a:rPr lang="en-US" altLang="zh-CN" sz="1650" dirty="0">
                <a:solidFill>
                  <a:srgbClr val="FFFFFF"/>
                </a:solidFill>
                <a:latin typeface="Microsoft YaHei"/>
                <a:ea typeface="Microsoft YaHei"/>
                <a:cs typeface="Microsoft YaHei"/>
              </a:rPr>
              <a:t> …………………………… </a:t>
            </a:r>
            <a:r>
              <a:rPr lang="zh-CN" sz="1650" dirty="0">
                <a:solidFill>
                  <a:srgbClr val="FFFFFF"/>
                </a:solidFill>
                <a:latin typeface="Microsoft YaHei"/>
                <a:ea typeface="Microsoft YaHei"/>
                <a:cs typeface="Microsoft YaHei"/>
              </a:rPr>
              <a:t>O(ℓ + C)</a:t>
            </a:r>
          </a:p>
        </p:txBody>
      </p:sp>
      <p:sp>
        <p:nvSpPr>
          <p:cNvPr id="4" name="TextBox 17">
            <a:extLst>
              <a:ext uri="{FF2B5EF4-FFF2-40B4-BE49-F238E27FC236}">
                <a16:creationId xmlns:a16="http://schemas.microsoft.com/office/drawing/2014/main" id="{766FB4A0-AE69-18D3-12E0-6B1481DB29DB}"/>
              </a:ext>
            </a:extLst>
          </p:cNvPr>
          <p:cNvSpPr txBox="1"/>
          <p:nvPr/>
        </p:nvSpPr>
        <p:spPr>
          <a:xfrm>
            <a:off x="8674259" y="3534339"/>
            <a:ext cx="2562796" cy="369332"/>
          </a:xfrm>
          <a:prstGeom prst="rect">
            <a:avLst/>
          </a:prstGeom>
          <a:noFill/>
          <a:ln>
            <a:noFill/>
          </a:ln>
        </p:spPr>
        <p:txBody>
          <a:bodyPr wrap="square" lIns="0" tIns="0" rIns="0" bIns="0" anchor="t" anchorCtr="0">
            <a:spAutoFit/>
          </a:bodyPr>
          <a:lstStyle/>
          <a:p>
            <a:pPr algn="r"/>
            <a:r>
              <a:rPr lang="en-US" altLang="zh-CN" sz="2400" dirty="0">
                <a:solidFill>
                  <a:srgbClr val="FFFFFF"/>
                </a:solidFill>
                <a:latin typeface="Cambria Math"/>
                <a:ea typeface="Cambria Math"/>
                <a:cs typeface="Cambria Math"/>
              </a:rPr>
              <a:t>…………………… </a:t>
            </a:r>
            <a:r>
              <a:rPr lang="en-US" sz="2400" dirty="0">
                <a:solidFill>
                  <a:srgbClr val="FFFFFF"/>
                </a:solidFill>
                <a:latin typeface="Cambria Math"/>
                <a:ea typeface="Cambria Math"/>
                <a:cs typeface="Cambria Math"/>
              </a:rPr>
              <a:t>O(</a:t>
            </a:r>
            <a:r>
              <a:rPr lang="en-US" altLang="zh-CN" sz="2400" dirty="0">
                <a:solidFill>
                  <a:srgbClr val="FFFFFF"/>
                </a:solidFill>
                <a:latin typeface="Cambria Math"/>
                <a:ea typeface="Cambria Math"/>
                <a:cs typeface="Cambria Math"/>
              </a:rPr>
              <a:t>n</a:t>
            </a:r>
            <a:r>
              <a:rPr lang="en-US" sz="2400" dirty="0">
                <a:solidFill>
                  <a:srgbClr val="FFFFFF"/>
                </a:solidFill>
                <a:latin typeface="Cambria Math"/>
                <a:ea typeface="Cambria Math"/>
                <a:cs typeface="Cambria Math"/>
              </a:rPr>
              <a:t>)</a:t>
            </a:r>
          </a:p>
        </p:txBody>
      </p:sp>
      <p:sp>
        <p:nvSpPr>
          <p:cNvPr id="25" name="TextBox 17">
            <a:extLst>
              <a:ext uri="{FF2B5EF4-FFF2-40B4-BE49-F238E27FC236}">
                <a16:creationId xmlns:a16="http://schemas.microsoft.com/office/drawing/2014/main" id="{15D2801F-A77A-2338-9FD4-ABFECAE48898}"/>
              </a:ext>
            </a:extLst>
          </p:cNvPr>
          <p:cNvSpPr txBox="1"/>
          <p:nvPr/>
        </p:nvSpPr>
        <p:spPr>
          <a:xfrm>
            <a:off x="7911190" y="4321574"/>
            <a:ext cx="3495335" cy="369332"/>
          </a:xfrm>
          <a:prstGeom prst="rect">
            <a:avLst/>
          </a:prstGeom>
          <a:noFill/>
          <a:ln>
            <a:noFill/>
          </a:ln>
        </p:spPr>
        <p:txBody>
          <a:bodyPr wrap="square" lIns="0" tIns="0" rIns="0" bIns="0" anchor="t" anchorCtr="0">
            <a:spAutoFit/>
          </a:bodyPr>
          <a:lstStyle/>
          <a:p>
            <a:pPr algn="r"/>
            <a:r>
              <a:rPr lang="en-US" altLang="zh-CN" sz="2400" dirty="0">
                <a:solidFill>
                  <a:srgbClr val="FFFFFF"/>
                </a:solidFill>
                <a:latin typeface="Cambria Math"/>
                <a:ea typeface="Cambria Math"/>
                <a:cs typeface="Cambria Math"/>
              </a:rPr>
              <a:t>………………………… </a:t>
            </a:r>
            <a:r>
              <a:rPr lang="en-US" sz="2400" dirty="0">
                <a:solidFill>
                  <a:srgbClr val="FFFFFF"/>
                </a:solidFill>
                <a:latin typeface="Cambria Math"/>
                <a:ea typeface="Cambria Math"/>
                <a:cs typeface="Cambria Math"/>
              </a:rPr>
              <a:t>O(</a:t>
            </a:r>
            <a:r>
              <a:rPr lang="en-US" altLang="zh-CN" sz="2400" dirty="0">
                <a:solidFill>
                  <a:srgbClr val="FFFFFF"/>
                </a:solidFill>
                <a:latin typeface="Cambria Math"/>
                <a:ea typeface="Cambria Math"/>
                <a:cs typeface="Cambria Math"/>
              </a:rPr>
              <a:t>Cn</a:t>
            </a:r>
            <a:r>
              <a:rPr lang="en-US" sz="2400" dirty="0">
                <a:solidFill>
                  <a:srgbClr val="FFFFFF"/>
                </a:solidFill>
                <a:latin typeface="Cambria Math"/>
                <a:ea typeface="Cambria Math"/>
                <a:cs typeface="Cambria Math"/>
              </a:rPr>
              <a:t>)</a:t>
            </a:r>
          </a:p>
        </p:txBody>
      </p:sp>
      <p:pic>
        <p:nvPicPr>
          <p:cNvPr id="27" name="图片 26">
            <a:extLst>
              <a:ext uri="{FF2B5EF4-FFF2-40B4-BE49-F238E27FC236}">
                <a16:creationId xmlns:a16="http://schemas.microsoft.com/office/drawing/2014/main" id="{EC71BD54-D19F-3946-FDD5-D1D600DB9F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194" y="1672327"/>
            <a:ext cx="5695868" cy="2744098"/>
          </a:xfrm>
          <a:prstGeom prst="rect">
            <a:avLst/>
          </a:prstGeom>
        </p:spPr>
      </p:pic>
    </p:spTree>
    <p:extLst>
      <p:ext uri="{BB962C8B-B14F-4D97-AF65-F5344CB8AC3E}">
        <p14:creationId xmlns:p14="http://schemas.microsoft.com/office/powerpoint/2010/main" val="33279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同侧圆角矩形 30"/>
          <p:cNvSpPr/>
          <p:nvPr/>
        </p:nvSpPr>
        <p:spPr>
          <a:xfrm rot="5400000">
            <a:off x="7468358" y="-649575"/>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8" name="同侧圆角矩形 27"/>
          <p:cNvSpPr/>
          <p:nvPr/>
        </p:nvSpPr>
        <p:spPr>
          <a:xfrm rot="5400000">
            <a:off x="7172272" y="2427255"/>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9" name="同侧圆角矩形 28"/>
          <p:cNvSpPr/>
          <p:nvPr/>
        </p:nvSpPr>
        <p:spPr>
          <a:xfrm rot="5400000">
            <a:off x="7741062" y="1217822"/>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grpSp>
        <p:nvGrpSpPr>
          <p:cNvPr id="7" name="组合 6"/>
          <p:cNvGrpSpPr/>
          <p:nvPr/>
        </p:nvGrpSpPr>
        <p:grpSpPr>
          <a:xfrm>
            <a:off x="1333696" y="2304021"/>
            <a:ext cx="3253183" cy="3253182"/>
            <a:chOff x="1044402" y="2721102"/>
            <a:chExt cx="3253183" cy="3253182"/>
          </a:xfrm>
        </p:grpSpPr>
        <p:sp>
          <p:nvSpPr>
            <p:cNvPr id="58" name="shape-22"/>
            <p:cNvSpPr/>
            <p:nvPr/>
          </p:nvSpPr>
          <p:spPr>
            <a:xfrm>
              <a:off x="2039398" y="2980372"/>
              <a:ext cx="1991963" cy="1991963"/>
            </a:xfrm>
            <a:prstGeom prst="ellipse">
              <a:avLst/>
            </a:prstGeom>
            <a:noFill/>
            <a:ln w="19050">
              <a:solidFill>
                <a:srgbClr val="313D51"/>
              </a:solidFill>
            </a:ln>
          </p:spPr>
        </p:sp>
        <p:sp>
          <p:nvSpPr>
            <p:cNvPr id="10" name="shape-23"/>
            <p:cNvSpPr/>
            <p:nvPr/>
          </p:nvSpPr>
          <p:spPr>
            <a:xfrm>
              <a:off x="1781366" y="2721102"/>
              <a:ext cx="2516219" cy="2516219"/>
            </a:xfrm>
            <a:prstGeom prst="donut">
              <a:avLst>
                <a:gd name="adj" fmla="val 7853"/>
              </a:avLst>
            </a:prstGeom>
            <a:solidFill>
              <a:srgbClr val="203864"/>
            </a:solidFill>
            <a:ln>
              <a:noFill/>
            </a:ln>
          </p:spPr>
        </p:sp>
        <p:sp>
          <p:nvSpPr>
            <p:cNvPr id="11" name="shape-26"/>
            <p:cNvSpPr/>
            <p:nvPr/>
          </p:nvSpPr>
          <p:spPr>
            <a:xfrm>
              <a:off x="1044402" y="4730833"/>
              <a:ext cx="1265206" cy="1243451"/>
            </a:xfrm>
            <a:custGeom>
              <a:avLst/>
              <a:gdLst/>
              <a:ahLst/>
              <a:cxnLst/>
              <a:rect l="l" t="t" r="r" b="b"/>
              <a:pathLst>
                <a:path w="1265206" h="1243451">
                  <a:moveTo>
                    <a:pt x="746596" y="181783"/>
                  </a:moveTo>
                  <a:lnTo>
                    <a:pt x="1061668" y="496855"/>
                  </a:lnTo>
                  <a:lnTo>
                    <a:pt x="402091" y="1156432"/>
                  </a:lnTo>
                  <a:cubicBezTo>
                    <a:pt x="315072" y="1243451"/>
                    <a:pt x="174037" y="1243451"/>
                    <a:pt x="87019" y="1156432"/>
                  </a:cubicBezTo>
                  <a:cubicBezTo>
                    <a:pt x="0" y="1069414"/>
                    <a:pt x="0" y="928379"/>
                    <a:pt x="87019" y="841360"/>
                  </a:cubicBezTo>
                  <a:close/>
                  <a:moveTo>
                    <a:pt x="1020651" y="0"/>
                  </a:moveTo>
                  <a:cubicBezTo>
                    <a:pt x="1077698" y="67"/>
                    <a:pt x="1134678" y="21755"/>
                    <a:pt x="1178187" y="65264"/>
                  </a:cubicBezTo>
                  <a:cubicBezTo>
                    <a:pt x="1265206" y="152283"/>
                    <a:pt x="1265206" y="293318"/>
                    <a:pt x="1178187" y="380336"/>
                  </a:cubicBezTo>
                  <a:lnTo>
                    <a:pt x="1099385" y="459138"/>
                  </a:lnTo>
                  <a:lnTo>
                    <a:pt x="784313" y="144066"/>
                  </a:lnTo>
                  <a:lnTo>
                    <a:pt x="863115" y="65264"/>
                  </a:lnTo>
                  <a:cubicBezTo>
                    <a:pt x="906624" y="21755"/>
                    <a:pt x="963671" y="0"/>
                    <a:pt x="1020651" y="0"/>
                  </a:cubicBezTo>
                  <a:close/>
                </a:path>
              </a:pathLst>
            </a:custGeom>
            <a:solidFill>
              <a:srgbClr val="203864"/>
            </a:solidFill>
            <a:ln>
              <a:noFill/>
            </a:ln>
          </p:spPr>
        </p:sp>
        <p:sp>
          <p:nvSpPr>
            <p:cNvPr id="12" name="shape-5"/>
            <p:cNvSpPr/>
            <p:nvPr/>
          </p:nvSpPr>
          <p:spPr>
            <a:xfrm rot="2700000">
              <a:off x="1880140" y="4692968"/>
              <a:ext cx="593217" cy="292417"/>
            </a:xfrm>
            <a:prstGeom prst="roundRect">
              <a:avLst/>
            </a:prstGeom>
            <a:solidFill>
              <a:srgbClr val="203864"/>
            </a:solidFill>
            <a:ln>
              <a:noFill/>
            </a:ln>
          </p:spPr>
        </p:sp>
        <p:sp>
          <p:nvSpPr>
            <p:cNvPr id="13" name="TextBox 13"/>
            <p:cNvSpPr txBox="1"/>
            <p:nvPr/>
          </p:nvSpPr>
          <p:spPr>
            <a:xfrm>
              <a:off x="2574322" y="3775075"/>
              <a:ext cx="922020" cy="645414"/>
            </a:xfrm>
            <a:prstGeom prst="rect">
              <a:avLst/>
            </a:prstGeom>
            <a:noFill/>
            <a:ln>
              <a:noFill/>
            </a:ln>
          </p:spPr>
          <p:txBody>
            <a:bodyPr wrap="none" lIns="0" tIns="0" rIns="0" bIns="0" anchor="t" anchorCtr="0">
              <a:spAutoFit/>
            </a:bodyPr>
            <a:lstStyle/>
            <a:p>
              <a:pPr algn="ctr"/>
              <a:r>
                <a:rPr lang="zh-CN" sz="3300" b="1" dirty="0">
                  <a:solidFill>
                    <a:srgbClr val="203864"/>
                  </a:solidFill>
                  <a:latin typeface="Microsoft YaHei"/>
                  <a:ea typeface="Microsoft YaHei"/>
                  <a:cs typeface="Microsoft YaHei"/>
                </a:rPr>
                <a:t>风险</a:t>
              </a:r>
            </a:p>
          </p:txBody>
        </p:sp>
      </p:grpSp>
      <p:sp>
        <p:nvSpPr>
          <p:cNvPr id="35" name="椭圆 34"/>
          <p:cNvSpPr/>
          <p:nvPr/>
        </p:nvSpPr>
        <p:spPr>
          <a:xfrm>
            <a:off x="4606603" y="1716461"/>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400" dirty="0">
                <a:solidFill>
                  <a:schemeClr val="bg1"/>
                </a:solidFill>
                <a:cs typeface="+mn-ea"/>
                <a:sym typeface="+mn-lt"/>
              </a:rPr>
              <a:t>01</a:t>
            </a:r>
            <a:endParaRPr lang="zh-CN" altLang="en-US" sz="2400" dirty="0">
              <a:solidFill>
                <a:schemeClr val="bg1"/>
              </a:solidFill>
              <a:cs typeface="+mn-ea"/>
              <a:sym typeface="+mn-lt"/>
            </a:endParaRPr>
          </a:p>
        </p:txBody>
      </p:sp>
      <p:sp>
        <p:nvSpPr>
          <p:cNvPr id="36" name="椭圆 4"/>
          <p:cNvSpPr/>
          <p:nvPr/>
        </p:nvSpPr>
        <p:spPr>
          <a:xfrm>
            <a:off x="4530685" y="1639934"/>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cs typeface="+mn-ea"/>
              <a:sym typeface="+mn-lt"/>
            </a:endParaRPr>
          </a:p>
        </p:txBody>
      </p:sp>
      <p:sp>
        <p:nvSpPr>
          <p:cNvPr id="40" name="椭圆 39"/>
          <p:cNvSpPr/>
          <p:nvPr/>
        </p:nvSpPr>
        <p:spPr>
          <a:xfrm>
            <a:off x="5379456" y="3216699"/>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sp>
        <p:nvSpPr>
          <p:cNvPr id="42" name="椭圆 4"/>
          <p:cNvSpPr/>
          <p:nvPr/>
        </p:nvSpPr>
        <p:spPr>
          <a:xfrm>
            <a:off x="5303538" y="3140172"/>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cs typeface="+mn-ea"/>
              <a:sym typeface="+mn-lt"/>
            </a:endParaRPr>
          </a:p>
        </p:txBody>
      </p:sp>
      <p:sp>
        <p:nvSpPr>
          <p:cNvPr id="56" name="椭圆 55"/>
          <p:cNvSpPr/>
          <p:nvPr/>
        </p:nvSpPr>
        <p:spPr>
          <a:xfrm>
            <a:off x="4627286" y="4591893"/>
            <a:ext cx="797262" cy="79726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sp>
        <p:nvSpPr>
          <p:cNvPr id="57" name="椭圆 4"/>
          <p:cNvSpPr/>
          <p:nvPr/>
        </p:nvSpPr>
        <p:spPr>
          <a:xfrm>
            <a:off x="4551368" y="4515366"/>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sz="1200">
              <a:cs typeface="+mn-ea"/>
              <a:sym typeface="+mn-lt"/>
            </a:endParaRPr>
          </a:p>
        </p:txBody>
      </p:sp>
      <p:grpSp>
        <p:nvGrpSpPr>
          <p:cNvPr id="3" name="组合 2">
            <a:extLst>
              <a:ext uri="{FF2B5EF4-FFF2-40B4-BE49-F238E27FC236}">
                <a16:creationId xmlns:a16="http://schemas.microsoft.com/office/drawing/2014/main" id="{24AAAC5F-4032-5B15-DE9E-79A5D73859E4}"/>
              </a:ext>
            </a:extLst>
          </p:cNvPr>
          <p:cNvGrpSpPr/>
          <p:nvPr/>
        </p:nvGrpSpPr>
        <p:grpSpPr>
          <a:xfrm>
            <a:off x="0" y="-1"/>
            <a:ext cx="1857829" cy="1181101"/>
            <a:chOff x="0" y="0"/>
            <a:chExt cx="2590667" cy="4976958"/>
          </a:xfrm>
        </p:grpSpPr>
        <p:sp>
          <p:nvSpPr>
            <p:cNvPr id="4" name="矩形 1">
              <a:extLst>
                <a:ext uri="{FF2B5EF4-FFF2-40B4-BE49-F238E27FC236}">
                  <a16:creationId xmlns:a16="http://schemas.microsoft.com/office/drawing/2014/main" id="{734A8238-3D43-B2E2-2190-12E487A0A502}"/>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1">
              <a:extLst>
                <a:ext uri="{FF2B5EF4-FFF2-40B4-BE49-F238E27FC236}">
                  <a16:creationId xmlns:a16="http://schemas.microsoft.com/office/drawing/2014/main" id="{E21A4C6B-530D-E6EF-6268-837767AA114F}"/>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8" name="直接连接符 7">
            <a:extLst>
              <a:ext uri="{FF2B5EF4-FFF2-40B4-BE49-F238E27FC236}">
                <a16:creationId xmlns:a16="http://schemas.microsoft.com/office/drawing/2014/main" id="{5D5D0118-270D-3A3D-E207-DD15E49A9274}"/>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恶意客户端的三个攻击面</a:t>
            </a:r>
          </a:p>
        </p:txBody>
      </p:sp>
      <p:grpSp>
        <p:nvGrpSpPr>
          <p:cNvPr id="25" name="page-footer"/>
          <p:cNvGrpSpPr/>
          <p:nvPr/>
        </p:nvGrpSpPr>
        <p:grpSpPr>
          <a:xfrm>
            <a:off x="1194816" y="6426200"/>
            <a:ext cx="9954768" cy="205359"/>
            <a:chOff x="1194816" y="6426200"/>
            <a:chExt cx="9954768" cy="205359"/>
          </a:xfrm>
        </p:grpSpPr>
        <p:sp>
          <p:nvSpPr>
            <p:cNvPr id="23" name="TextBox 23"/>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4" name="TextBox 24"/>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12 / 23</a:t>
              </a:r>
            </a:p>
          </p:txBody>
        </p:sp>
      </p:grpSp>
      <p:grpSp>
        <p:nvGrpSpPr>
          <p:cNvPr id="37" name="three-row-content"/>
          <p:cNvGrpSpPr/>
          <p:nvPr/>
        </p:nvGrpSpPr>
        <p:grpSpPr>
          <a:xfrm>
            <a:off x="5546713" y="1751444"/>
            <a:ext cx="3696462" cy="3599307"/>
            <a:chOff x="5257419" y="2168525"/>
            <a:chExt cx="3696462" cy="3599307"/>
          </a:xfrm>
        </p:grpSpPr>
        <p:sp>
          <p:nvSpPr>
            <p:cNvPr id="26" name="TextBox 26"/>
            <p:cNvSpPr txBox="1"/>
            <p:nvPr/>
          </p:nvSpPr>
          <p:spPr>
            <a:xfrm>
              <a:off x="5257419" y="2168525"/>
              <a:ext cx="1069848"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伪造密文</a:t>
              </a:r>
            </a:p>
          </p:txBody>
        </p:sp>
        <p:sp>
          <p:nvSpPr>
            <p:cNvPr id="27" name="TextBox 27"/>
            <p:cNvSpPr txBox="1"/>
            <p:nvPr/>
          </p:nvSpPr>
          <p:spPr>
            <a:xfrm>
              <a:off x="5258943" y="2549525"/>
              <a:ext cx="2548966" cy="322707"/>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yᵢ 不满足约定的加密关系</a:t>
              </a:r>
            </a:p>
          </p:txBody>
        </p:sp>
        <p:sp>
          <p:nvSpPr>
            <p:cNvPr id="30" name="TextBox 30"/>
            <p:cNvSpPr txBox="1"/>
            <p:nvPr/>
          </p:nvSpPr>
          <p:spPr>
            <a:xfrm>
              <a:off x="6047994" y="3673475"/>
              <a:ext cx="2698060"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非法或不一致的 share</a:t>
              </a:r>
            </a:p>
          </p:txBody>
        </p:sp>
        <p:sp>
          <p:nvSpPr>
            <p:cNvPr id="32" name="TextBox 32"/>
            <p:cNvSpPr txBox="1"/>
            <p:nvPr/>
          </p:nvSpPr>
          <p:spPr>
            <a:xfrm>
              <a:off x="6049518" y="4054475"/>
              <a:ext cx="2904363" cy="322707"/>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不同解密者收到的分享不一致</a:t>
              </a:r>
            </a:p>
          </p:txBody>
        </p:sp>
        <p:sp>
          <p:nvSpPr>
            <p:cNvPr id="33" name="TextBox 33"/>
            <p:cNvSpPr txBox="1"/>
            <p:nvPr/>
          </p:nvSpPr>
          <p:spPr>
            <a:xfrm>
              <a:off x="5276469" y="5064125"/>
              <a:ext cx="1069848" cy="381381"/>
            </a:xfrm>
            <a:prstGeom prst="rect">
              <a:avLst/>
            </a:prstGeom>
            <a:noFill/>
            <a:ln>
              <a:noFill/>
            </a:ln>
          </p:spPr>
          <p:txBody>
            <a:bodyPr wrap="none" lIns="0" tIns="0" rIns="0" bIns="0" anchor="t" anchorCtr="0">
              <a:spAutoFit/>
            </a:bodyPr>
            <a:lstStyle/>
            <a:p>
              <a:pPr algn="l"/>
              <a:r>
                <a:rPr lang="zh-CN" sz="1950" b="1" dirty="0">
                  <a:solidFill>
                    <a:srgbClr val="203864"/>
                  </a:solidFill>
                  <a:latin typeface="Microsoft YaHei"/>
                  <a:ea typeface="Microsoft YaHei"/>
                  <a:cs typeface="Microsoft YaHei"/>
                </a:rPr>
                <a:t>越界输入</a:t>
              </a:r>
            </a:p>
          </p:txBody>
        </p:sp>
        <p:sp>
          <p:nvSpPr>
            <p:cNvPr id="34" name="TextBox 34"/>
            <p:cNvSpPr txBox="1"/>
            <p:nvPr/>
          </p:nvSpPr>
          <p:spPr>
            <a:xfrm>
              <a:off x="5277993" y="5445125"/>
              <a:ext cx="2548966" cy="322707"/>
            </a:xfrm>
            <a:prstGeom prst="rect">
              <a:avLst/>
            </a:prstGeom>
            <a:noFill/>
            <a:ln>
              <a:noFill/>
            </a:ln>
          </p:spPr>
          <p:txBody>
            <a:bodyPr wrap="none" lIns="0" tIns="0" rIns="0" bIns="0" anchor="t" anchorCtr="0">
              <a:spAutoFit/>
            </a:bodyPr>
            <a:lstStyle/>
            <a:p>
              <a:pPr algn="l"/>
              <a:r>
                <a:rPr lang="zh-CN" sz="1650" dirty="0">
                  <a:solidFill>
                    <a:srgbClr val="24364A"/>
                  </a:solidFill>
                  <a:latin typeface="Microsoft YaHei"/>
                  <a:ea typeface="Microsoft YaHei"/>
                  <a:cs typeface="Microsoft YaHei"/>
                </a:rPr>
                <a:t>xᵢ 本身不属于合法输入域</a:t>
              </a:r>
            </a:p>
          </p:txBody>
        </p:sp>
      </p:grpSp>
      <p:grpSp>
        <p:nvGrpSpPr>
          <p:cNvPr id="39" name="takeaway"/>
          <p:cNvGrpSpPr/>
          <p:nvPr/>
        </p:nvGrpSpPr>
        <p:grpSpPr>
          <a:xfrm>
            <a:off x="4154304" y="5750953"/>
            <a:ext cx="4365967" cy="337376"/>
            <a:chOff x="3865010" y="6168034"/>
            <a:chExt cx="4365967" cy="337376"/>
          </a:xfrm>
        </p:grpSpPr>
        <p:sp>
          <p:nvSpPr>
            <p:cNvPr id="38" name="TextBox 38"/>
            <p:cNvSpPr txBox="1"/>
            <p:nvPr/>
          </p:nvSpPr>
          <p:spPr>
            <a:xfrm>
              <a:off x="3865010" y="6168034"/>
              <a:ext cx="4365967" cy="337376"/>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需要证明计算正确，同时隐藏 sᵢ、eᵢ、xᵢ</a:t>
              </a:r>
            </a:p>
          </p:txBody>
        </p:sp>
      </p:grpSp>
    </p:spTree>
    <p:extLst>
      <p:ext uri="{BB962C8B-B14F-4D97-AF65-F5344CB8AC3E}">
        <p14:creationId xmlns:p14="http://schemas.microsoft.com/office/powerpoint/2010/main" val="101358038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1836039" y="2037207"/>
            <a:ext cx="3835718" cy="3993643"/>
            <a:chOff x="1836039" y="2037207"/>
            <a:chExt cx="3835718" cy="3993643"/>
          </a:xfrm>
        </p:grpSpPr>
        <p:sp>
          <p:nvSpPr>
            <p:cNvPr id="2" name="shape-58"/>
            <p:cNvSpPr/>
            <p:nvPr/>
          </p:nvSpPr>
          <p:spPr>
            <a:xfrm>
              <a:off x="1836039" y="2165318"/>
              <a:ext cx="3835718" cy="3615214"/>
            </a:xfrm>
            <a:prstGeom prst="rect">
              <a:avLst/>
            </a:prstGeom>
            <a:solidFill>
              <a:srgbClr val="F2F2F2"/>
            </a:solidFill>
            <a:ln w="9525">
              <a:solidFill>
                <a:srgbClr val="C5C3C3"/>
              </a:solidFill>
            </a:ln>
          </p:spPr>
        </p:sp>
        <p:sp>
          <p:nvSpPr>
            <p:cNvPr id="99" name="shape-59"/>
            <p:cNvSpPr/>
            <p:nvPr/>
          </p:nvSpPr>
          <p:spPr>
            <a:xfrm>
              <a:off x="1977962" y="2037207"/>
              <a:ext cx="3562160" cy="127921"/>
            </a:xfrm>
            <a:custGeom>
              <a:avLst/>
              <a:gdLst/>
              <a:ahLst/>
              <a:cxnLst/>
              <a:rect l="l" t="t" r="r" b="b"/>
              <a:pathLst>
                <a:path w="3562160" h="127921">
                  <a:moveTo>
                    <a:pt x="239649" y="0"/>
                  </a:moveTo>
                  <a:lnTo>
                    <a:pt x="3335941" y="0"/>
                  </a:lnTo>
                  <a:lnTo>
                    <a:pt x="3562160" y="127921"/>
                  </a:lnTo>
                  <a:lnTo>
                    <a:pt x="0" y="127921"/>
                  </a:lnTo>
                  <a:lnTo>
                    <a:pt x="239649" y="0"/>
                  </a:lnTo>
                  <a:close/>
                </a:path>
              </a:pathLst>
            </a:custGeom>
            <a:solidFill>
              <a:srgbClr val="41464A"/>
            </a:solidFill>
            <a:ln>
              <a:noFill/>
            </a:ln>
          </p:spPr>
        </p:sp>
        <p:sp>
          <p:nvSpPr>
            <p:cNvPr id="100" name="shape-95"/>
            <p:cNvSpPr/>
            <p:nvPr/>
          </p:nvSpPr>
          <p:spPr>
            <a:xfrm>
              <a:off x="221589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8" name="shape-96"/>
            <p:cNvSpPr/>
            <p:nvPr/>
          </p:nvSpPr>
          <p:spPr>
            <a:xfrm>
              <a:off x="2806446" y="2207514"/>
              <a:ext cx="1915954" cy="497967"/>
            </a:xfrm>
            <a:prstGeom prst="rect">
              <a:avLst/>
            </a:prstGeom>
            <a:noFill/>
            <a:ln>
              <a:noFill/>
            </a:ln>
          </p:spPr>
        </p:sp>
        <p:sp>
          <p:nvSpPr>
            <p:cNvPr id="9" name="Freeform 9"/>
            <p:cNvSpPr/>
            <p:nvPr/>
          </p:nvSpPr>
          <p:spPr>
            <a:xfrm>
              <a:off x="221589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98" name="组合 97"/>
          <p:cNvGrpSpPr/>
          <p:nvPr/>
        </p:nvGrpSpPr>
        <p:grpSpPr>
          <a:xfrm>
            <a:off x="6432709" y="2037207"/>
            <a:ext cx="3835718" cy="3993643"/>
            <a:chOff x="6432709" y="2037207"/>
            <a:chExt cx="3835718" cy="3993643"/>
          </a:xfrm>
        </p:grpSpPr>
        <p:sp>
          <p:nvSpPr>
            <p:cNvPr id="10" name="shape-99"/>
            <p:cNvSpPr/>
            <p:nvPr/>
          </p:nvSpPr>
          <p:spPr>
            <a:xfrm>
              <a:off x="6432709" y="2165318"/>
              <a:ext cx="3835718" cy="3615214"/>
            </a:xfrm>
            <a:prstGeom prst="rect">
              <a:avLst/>
            </a:prstGeom>
            <a:solidFill>
              <a:srgbClr val="F2F2F2"/>
            </a:solidFill>
            <a:ln w="9525">
              <a:solidFill>
                <a:srgbClr val="C5C3C3"/>
              </a:solidFill>
            </a:ln>
          </p:spPr>
        </p:sp>
        <p:sp>
          <p:nvSpPr>
            <p:cNvPr id="11" name="shape-100"/>
            <p:cNvSpPr/>
            <p:nvPr/>
          </p:nvSpPr>
          <p:spPr>
            <a:xfrm>
              <a:off x="6574631" y="2037207"/>
              <a:ext cx="3562255" cy="127921"/>
            </a:xfrm>
            <a:custGeom>
              <a:avLst/>
              <a:gdLst/>
              <a:ahLst/>
              <a:cxnLst/>
              <a:rect l="l" t="t" r="r" b="b"/>
              <a:pathLst>
                <a:path w="3562255" h="127921">
                  <a:moveTo>
                    <a:pt x="239649" y="0"/>
                  </a:moveTo>
                  <a:lnTo>
                    <a:pt x="3336036" y="0"/>
                  </a:lnTo>
                  <a:lnTo>
                    <a:pt x="3562255" y="127921"/>
                  </a:lnTo>
                  <a:lnTo>
                    <a:pt x="0" y="127921"/>
                  </a:lnTo>
                  <a:lnTo>
                    <a:pt x="239649" y="0"/>
                  </a:lnTo>
                  <a:close/>
                </a:path>
              </a:pathLst>
            </a:custGeom>
            <a:solidFill>
              <a:srgbClr val="41464A"/>
            </a:solidFill>
            <a:ln>
              <a:noFill/>
            </a:ln>
          </p:spPr>
        </p:sp>
        <p:sp>
          <p:nvSpPr>
            <p:cNvPr id="12" name="shape-101"/>
            <p:cNvSpPr/>
            <p:nvPr/>
          </p:nvSpPr>
          <p:spPr>
            <a:xfrm>
              <a:off x="681256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13" name="shape-102"/>
            <p:cNvSpPr/>
            <p:nvPr/>
          </p:nvSpPr>
          <p:spPr>
            <a:xfrm>
              <a:off x="7403211" y="2207514"/>
              <a:ext cx="1915954" cy="497967"/>
            </a:xfrm>
            <a:prstGeom prst="rect">
              <a:avLst/>
            </a:prstGeom>
            <a:noFill/>
            <a:ln>
              <a:noFill/>
            </a:ln>
          </p:spPr>
        </p:sp>
        <p:sp>
          <p:nvSpPr>
            <p:cNvPr id="14" name="Freeform 14"/>
            <p:cNvSpPr/>
            <p:nvPr/>
          </p:nvSpPr>
          <p:spPr>
            <a:xfrm>
              <a:off x="681256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3" name="组合 2">
            <a:extLst>
              <a:ext uri="{FF2B5EF4-FFF2-40B4-BE49-F238E27FC236}">
                <a16:creationId xmlns:a16="http://schemas.microsoft.com/office/drawing/2014/main" id="{6585D9A8-CD27-667A-DDDF-710A03F80F0C}"/>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C30772D0-2FC8-BED1-151E-64C672212CC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AAB09C36-0CE8-37C2-7214-27833B6F10E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E1B4035E-E6C4-0ABE-E300-FD1FA32E18F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en-US" sz="2850" b="1" dirty="0">
                <a:solidFill>
                  <a:srgbClr val="203864"/>
                </a:solidFill>
                <a:latin typeface="Microsoft YaHei"/>
                <a:ea typeface="Microsoft YaHei"/>
                <a:cs typeface="Microsoft YaHei"/>
              </a:rPr>
              <a:t>Commit-and-Proof </a:t>
            </a:r>
            <a:r>
              <a:rPr lang="zh-CN" altLang="en-US" sz="2850" b="1" dirty="0">
                <a:solidFill>
                  <a:srgbClr val="203864"/>
                </a:solidFill>
                <a:latin typeface="Microsoft YaHei"/>
                <a:ea typeface="Microsoft YaHei"/>
                <a:cs typeface="Microsoft YaHei"/>
              </a:rPr>
              <a:t>承诺</a:t>
            </a:r>
            <a:r>
              <a:rPr lang="en-US" altLang="zh-CN" sz="2850" b="1" dirty="0">
                <a:solidFill>
                  <a:srgbClr val="203864"/>
                </a:solidFill>
                <a:latin typeface="Microsoft YaHei"/>
                <a:ea typeface="Microsoft YaHei"/>
                <a:cs typeface="Microsoft YaHei"/>
              </a:rPr>
              <a:t>-</a:t>
            </a:r>
            <a:r>
              <a:rPr lang="zh-CN" altLang="en-US" sz="2850" b="1" dirty="0">
                <a:solidFill>
                  <a:srgbClr val="203864"/>
                </a:solidFill>
                <a:latin typeface="Microsoft YaHei"/>
                <a:ea typeface="Microsoft YaHei"/>
                <a:cs typeface="Microsoft YaHei"/>
              </a:rPr>
              <a:t>证明机制</a:t>
            </a:r>
            <a:endParaRPr lang="en-US" sz="2850" b="1" dirty="0">
              <a:solidFill>
                <a:srgbClr val="203864"/>
              </a:solidFill>
              <a:latin typeface="Microsoft YaHei"/>
              <a:ea typeface="Microsoft YaHei"/>
              <a:cs typeface="Microsoft YaHei"/>
            </a:endParaRPr>
          </a:p>
        </p:txBody>
      </p:sp>
      <p:grpSp>
        <p:nvGrpSpPr>
          <p:cNvPr id="20" name="page-footer"/>
          <p:cNvGrpSpPr/>
          <p:nvPr/>
        </p:nvGrpSpPr>
        <p:grpSpPr>
          <a:xfrm>
            <a:off x="1194816" y="6426200"/>
            <a:ext cx="9954768" cy="205359"/>
            <a:chOff x="1194816" y="6426200"/>
            <a:chExt cx="9954768" cy="205359"/>
          </a:xfrm>
        </p:grpSpPr>
        <p:sp>
          <p:nvSpPr>
            <p:cNvPr id="18" name="TextBox 1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9" name="TextBox 1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13 / 23</a:t>
              </a:r>
            </a:p>
          </p:txBody>
        </p:sp>
      </p:grpSp>
      <p:grpSp>
        <p:nvGrpSpPr>
          <p:cNvPr id="22" name="page-lead"/>
          <p:cNvGrpSpPr/>
          <p:nvPr/>
        </p:nvGrpSpPr>
        <p:grpSpPr>
          <a:xfrm>
            <a:off x="1190625" y="1333500"/>
            <a:ext cx="6581930" cy="289310"/>
            <a:chOff x="1190625" y="1333500"/>
            <a:chExt cx="6581930" cy="289310"/>
          </a:xfrm>
        </p:grpSpPr>
        <p:sp>
          <p:nvSpPr>
            <p:cNvPr id="21" name="TextBox 21"/>
            <p:cNvSpPr txBox="1"/>
            <p:nvPr/>
          </p:nvSpPr>
          <p:spPr>
            <a:xfrm>
              <a:off x="1190625" y="1333500"/>
              <a:ext cx="6581930"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承诺隐藏并绑定秘密值；证明把外层与内层绑定到同一个 sᵢ</a:t>
              </a:r>
            </a:p>
          </p:txBody>
        </p:sp>
      </p:grpSp>
      <p:grpSp>
        <p:nvGrpSpPr>
          <p:cNvPr id="32" name="panel-content"/>
          <p:cNvGrpSpPr/>
          <p:nvPr/>
        </p:nvGrpSpPr>
        <p:grpSpPr>
          <a:xfrm>
            <a:off x="2199132" y="2125821"/>
            <a:ext cx="7698867" cy="2850547"/>
            <a:chOff x="2199132" y="2125821"/>
            <a:chExt cx="7698867" cy="2850547"/>
          </a:xfrm>
        </p:grpSpPr>
        <p:sp>
          <p:nvSpPr>
            <p:cNvPr id="23" name="TextBox 23"/>
            <p:cNvSpPr txBox="1"/>
            <p:nvPr/>
          </p:nvSpPr>
          <p:spPr>
            <a:xfrm>
              <a:off x="2418317" y="2125821"/>
              <a:ext cx="2692211"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cs typeface="Microsoft YaHei"/>
                </a:rPr>
                <a:t>Encryption Correctness</a:t>
              </a:r>
            </a:p>
            <a:p>
              <a:pPr algn="ctr"/>
              <a:r>
                <a:rPr lang="zh-CN" altLang="en-US" b="1" dirty="0">
                  <a:solidFill>
                    <a:srgbClr val="FFFFFF"/>
                  </a:solidFill>
                  <a:latin typeface="Microsoft YaHei"/>
                  <a:ea typeface="Microsoft YaHei"/>
                  <a:cs typeface="Microsoft YaHei"/>
                </a:rPr>
                <a:t>加密正确性</a:t>
              </a:r>
              <a:endParaRPr lang="en-US" b="1" dirty="0">
                <a:solidFill>
                  <a:srgbClr val="FFFFFF"/>
                </a:solidFill>
                <a:latin typeface="Microsoft YaHei"/>
                <a:ea typeface="Microsoft YaHei"/>
                <a:cs typeface="Microsoft YaHei"/>
              </a:endParaRPr>
            </a:p>
          </p:txBody>
        </p:sp>
        <p:sp>
          <p:nvSpPr>
            <p:cNvPr id="24" name="TextBox 24"/>
            <p:cNvSpPr txBox="1"/>
            <p:nvPr/>
          </p:nvSpPr>
          <p:spPr>
            <a:xfrm>
              <a:off x="7187439" y="2125821"/>
              <a:ext cx="2323970"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cs typeface="Microsoft YaHei"/>
                </a:rPr>
                <a:t>Sharing Correctness</a:t>
              </a:r>
            </a:p>
            <a:p>
              <a:pPr algn="ctr"/>
              <a:r>
                <a:rPr lang="zh-CN" altLang="en-US" b="1" dirty="0">
                  <a:solidFill>
                    <a:srgbClr val="FFFFFF"/>
                  </a:solidFill>
                  <a:latin typeface="Microsoft YaHei"/>
                  <a:ea typeface="Microsoft YaHei"/>
                  <a:cs typeface="Microsoft YaHei"/>
                </a:rPr>
                <a:t>共享正确性</a:t>
              </a:r>
              <a:endParaRPr lang="en-US" b="1" dirty="0">
                <a:solidFill>
                  <a:srgbClr val="FFFFFF"/>
                </a:solidFill>
                <a:latin typeface="Microsoft YaHei"/>
                <a:ea typeface="Microsoft YaHei"/>
                <a:cs typeface="Microsoft YaHei"/>
              </a:endParaRPr>
            </a:p>
          </p:txBody>
        </p:sp>
        <p:sp>
          <p:nvSpPr>
            <p:cNvPr id="25" name="TextBox 25"/>
            <p:cNvSpPr txBox="1"/>
            <p:nvPr/>
          </p:nvSpPr>
          <p:spPr>
            <a:xfrm>
              <a:off x="2199513" y="2949575"/>
              <a:ext cx="1251946" cy="289310"/>
            </a:xfrm>
            <a:prstGeom prst="rect">
              <a:avLst/>
            </a:prstGeom>
            <a:noFill/>
            <a:ln>
              <a:noFill/>
            </a:ln>
          </p:spPr>
          <p:txBody>
            <a:bodyPr wrap="none" lIns="0" tIns="0" rIns="0" bIns="0" anchor="t" anchorCtr="0">
              <a:spAutoFit/>
            </a:bodyPr>
            <a:lstStyle/>
            <a:p>
              <a:pPr algn="l"/>
              <a:r>
                <a:rPr lang="en-US" altLang="zh-CN" sz="1880" b="1" dirty="0">
                  <a:solidFill>
                    <a:srgbClr val="203864"/>
                  </a:solidFill>
                  <a:latin typeface="Microsoft YaHei"/>
                  <a:ea typeface="Microsoft YaHei"/>
                  <a:cs typeface="Microsoft YaHei"/>
                </a:rPr>
                <a:t>1. </a:t>
              </a:r>
              <a:r>
                <a:rPr lang="zh-CN" sz="1880" b="1" dirty="0">
                  <a:solidFill>
                    <a:srgbClr val="203864"/>
                  </a:solidFill>
                  <a:latin typeface="Microsoft YaHei"/>
                  <a:ea typeface="Microsoft YaHei"/>
                  <a:cs typeface="Microsoft YaHei"/>
                </a:rPr>
                <a:t>提交承诺</a:t>
              </a:r>
            </a:p>
          </p:txBody>
        </p:sp>
        <p:sp>
          <p:nvSpPr>
            <p:cNvPr id="26" name="TextBox 26"/>
            <p:cNvSpPr txBox="1"/>
            <p:nvPr/>
          </p:nvSpPr>
          <p:spPr>
            <a:xfrm>
              <a:off x="2200656" y="3432175"/>
              <a:ext cx="3421856" cy="352044"/>
            </a:xfrm>
            <a:prstGeom prst="rect">
              <a:avLst/>
            </a:prstGeom>
            <a:noFill/>
            <a:ln>
              <a:noFill/>
            </a:ln>
          </p:spPr>
          <p:txBody>
            <a:bodyPr wrap="none" lIns="0" tIns="0" rIns="0" bIns="0" anchor="t" anchorCtr="0">
              <a:spAutoFit/>
            </a:bodyPr>
            <a:lstStyle/>
            <a:p>
              <a:pPr algn="l"/>
              <a:r>
                <a:rPr lang="en-US" sz="1800" dirty="0">
                  <a:solidFill>
                    <a:srgbClr val="203864"/>
                  </a:solidFill>
                  <a:latin typeface="Cambria Math"/>
                  <a:ea typeface="Cambria Math"/>
                  <a:cs typeface="Cambria Math"/>
                </a:rPr>
                <a:t>Com(sᵢ), Com(eᵢ), Com(xᵢ)</a:t>
              </a:r>
            </a:p>
          </p:txBody>
        </p:sp>
        <p:sp>
          <p:nvSpPr>
            <p:cNvPr id="27" name="TextBox 27"/>
            <p:cNvSpPr txBox="1"/>
            <p:nvPr/>
          </p:nvSpPr>
          <p:spPr>
            <a:xfrm>
              <a:off x="2199513" y="4111625"/>
              <a:ext cx="1732847" cy="289310"/>
            </a:xfrm>
            <a:prstGeom prst="rect">
              <a:avLst/>
            </a:prstGeom>
            <a:noFill/>
            <a:ln>
              <a:noFill/>
            </a:ln>
          </p:spPr>
          <p:txBody>
            <a:bodyPr wrap="none" lIns="0" tIns="0" rIns="0" bIns="0" anchor="t" anchorCtr="0">
              <a:spAutoFit/>
            </a:bodyPr>
            <a:lstStyle/>
            <a:p>
              <a:pPr algn="l"/>
              <a:r>
                <a:rPr lang="en-US" altLang="zh-CN" sz="1880" b="1" dirty="0">
                  <a:solidFill>
                    <a:srgbClr val="203864"/>
                  </a:solidFill>
                  <a:latin typeface="Microsoft YaHei"/>
                  <a:ea typeface="Microsoft YaHei"/>
                  <a:cs typeface="Microsoft YaHei"/>
                </a:rPr>
                <a:t>2. </a:t>
              </a:r>
              <a:r>
                <a:rPr lang="zh-CN" sz="1880" b="1" dirty="0">
                  <a:solidFill>
                    <a:srgbClr val="203864"/>
                  </a:solidFill>
                  <a:latin typeface="Microsoft YaHei"/>
                  <a:ea typeface="Microsoft YaHei"/>
                  <a:cs typeface="Microsoft YaHei"/>
                </a:rPr>
                <a:t>证明加密关系</a:t>
              </a:r>
            </a:p>
          </p:txBody>
        </p:sp>
        <p:sp>
          <p:nvSpPr>
            <p:cNvPr id="28" name="TextBox 28"/>
            <p:cNvSpPr txBox="1"/>
            <p:nvPr/>
          </p:nvSpPr>
          <p:spPr>
            <a:xfrm>
              <a:off x="2199132" y="4565650"/>
              <a:ext cx="2599258" cy="410718"/>
            </a:xfrm>
            <a:prstGeom prst="rect">
              <a:avLst/>
            </a:prstGeom>
            <a:noFill/>
            <a:ln>
              <a:noFill/>
            </a:ln>
          </p:spPr>
          <p:txBody>
            <a:bodyPr wrap="none" lIns="0" tIns="0" rIns="0" bIns="0" anchor="t" anchorCtr="0">
              <a:spAutoFit/>
            </a:bodyPr>
            <a:lstStyle/>
            <a:p>
              <a:pPr algn="l"/>
              <a:r>
                <a:rPr lang="el-GR" sz="2100" dirty="0">
                  <a:solidFill>
                    <a:srgbClr val="203864"/>
                  </a:solidFill>
                  <a:latin typeface="Cambria Math"/>
                  <a:ea typeface="Cambria Math"/>
                  <a:cs typeface="Cambria Math"/>
                </a:rPr>
                <a:t>yᵢ = Asᵢ + eᵢ + Δxᵢ</a:t>
              </a:r>
            </a:p>
          </p:txBody>
        </p:sp>
        <p:sp>
          <p:nvSpPr>
            <p:cNvPr id="29" name="TextBox 29"/>
            <p:cNvSpPr txBox="1"/>
            <p:nvPr/>
          </p:nvSpPr>
          <p:spPr>
            <a:xfrm>
              <a:off x="6800850" y="2949575"/>
              <a:ext cx="2773644" cy="289310"/>
            </a:xfrm>
            <a:prstGeom prst="rect">
              <a:avLst/>
            </a:prstGeom>
            <a:noFill/>
            <a:ln>
              <a:noFill/>
            </a:ln>
          </p:spPr>
          <p:txBody>
            <a:bodyPr wrap="none" lIns="0" tIns="0" rIns="0" bIns="0" anchor="t" anchorCtr="0">
              <a:spAutoFit/>
            </a:bodyPr>
            <a:lstStyle/>
            <a:p>
              <a:pPr algn="l"/>
              <a:r>
                <a:rPr lang="en-US" altLang="zh-CN" sz="1880" b="1" dirty="0">
                  <a:solidFill>
                    <a:srgbClr val="203864"/>
                  </a:solidFill>
                  <a:latin typeface="Microsoft YaHei"/>
                  <a:ea typeface="Microsoft YaHei"/>
                  <a:cs typeface="Microsoft YaHei"/>
                </a:rPr>
                <a:t>1. </a:t>
              </a:r>
              <a:r>
                <a:rPr lang="zh-CN" sz="1880" b="1" dirty="0">
                  <a:solidFill>
                    <a:srgbClr val="203864"/>
                  </a:solidFill>
                  <a:latin typeface="Microsoft YaHei"/>
                  <a:ea typeface="Microsoft YaHei"/>
                  <a:cs typeface="Microsoft YaHei"/>
                </a:rPr>
                <a:t>提交每个 share 的承诺</a:t>
              </a:r>
            </a:p>
          </p:txBody>
        </p:sp>
        <p:sp>
          <p:nvSpPr>
            <p:cNvPr id="30" name="TextBox 30"/>
            <p:cNvSpPr txBox="1"/>
            <p:nvPr/>
          </p:nvSpPr>
          <p:spPr>
            <a:xfrm>
              <a:off x="6798183" y="3355975"/>
              <a:ext cx="1892046" cy="469392"/>
            </a:xfrm>
            <a:prstGeom prst="rect">
              <a:avLst/>
            </a:prstGeom>
            <a:noFill/>
            <a:ln>
              <a:noFill/>
            </a:ln>
          </p:spPr>
          <p:txBody>
            <a:bodyPr wrap="none" lIns="0" tIns="0" rIns="0" bIns="0" anchor="t" anchorCtr="0">
              <a:spAutoFit/>
            </a:bodyPr>
            <a:lstStyle/>
            <a:p>
              <a:pPr algn="l"/>
              <a:r>
                <a:rPr lang="el-GR" sz="2400" dirty="0">
                  <a:solidFill>
                    <a:srgbClr val="203864"/>
                  </a:solidFill>
                  <a:latin typeface="Cambria Math"/>
                  <a:ea typeface="Cambria Math"/>
                  <a:cs typeface="Cambria Math"/>
                </a:rPr>
                <a:t>Com(ρᵢ⁽ʲ⁾)</a:t>
              </a:r>
            </a:p>
          </p:txBody>
        </p:sp>
        <p:sp>
          <p:nvSpPr>
            <p:cNvPr id="31" name="TextBox 31"/>
            <p:cNvSpPr txBox="1"/>
            <p:nvPr/>
          </p:nvSpPr>
          <p:spPr>
            <a:xfrm>
              <a:off x="6800850" y="4098925"/>
              <a:ext cx="3097149" cy="663323"/>
            </a:xfrm>
            <a:prstGeom prst="rect">
              <a:avLst/>
            </a:prstGeom>
            <a:noFill/>
            <a:ln>
              <a:noFill/>
            </a:ln>
          </p:spPr>
          <p:txBody>
            <a:bodyPr wrap="square" lIns="0" tIns="0" rIns="0" bIns="0" anchor="t" anchorCtr="0">
              <a:spAutoFit/>
            </a:bodyPr>
            <a:lstStyle/>
            <a:p>
              <a:pPr algn="l">
                <a:lnSpc>
                  <a:spcPts val="2662"/>
                </a:lnSpc>
              </a:pPr>
              <a:r>
                <a:rPr lang="en-US" altLang="zh-CN" sz="1880" b="1" dirty="0">
                  <a:solidFill>
                    <a:srgbClr val="203864"/>
                  </a:solidFill>
                  <a:latin typeface="Microsoft YaHei"/>
                  <a:ea typeface="Microsoft YaHei"/>
                  <a:cs typeface="Microsoft YaHei"/>
                </a:rPr>
                <a:t>2. </a:t>
              </a:r>
              <a:r>
                <a:rPr lang="zh-CN" sz="1880" b="1" dirty="0">
                  <a:solidFill>
                    <a:srgbClr val="203864"/>
                  </a:solidFill>
                  <a:latin typeface="Microsoft YaHei"/>
                  <a:ea typeface="Microsoft YaHei"/>
                  <a:cs typeface="Microsoft YaHei"/>
                </a:rPr>
                <a:t>证明 ρᵢ 是 sᵢ 的合法</a:t>
              </a:r>
              <a:r>
                <a:rPr lang="en-US" sz="1880" b="1" dirty="0">
                  <a:solidFill>
                    <a:srgbClr val="203864"/>
                  </a:solidFill>
                  <a:latin typeface="Microsoft YaHei"/>
                  <a:ea typeface="Microsoft YaHei"/>
                  <a:cs typeface="Microsoft YaHei"/>
                </a:rPr>
                <a:t>Packed Shamir Sharing</a:t>
              </a:r>
            </a:p>
          </p:txBody>
        </p:sp>
      </p:grpSp>
      <p:grpSp>
        <p:nvGrpSpPr>
          <p:cNvPr id="34" name="takeaway"/>
          <p:cNvGrpSpPr/>
          <p:nvPr/>
        </p:nvGrpSpPr>
        <p:grpSpPr>
          <a:xfrm>
            <a:off x="3887546" y="5956300"/>
            <a:ext cx="4416908" cy="337376"/>
            <a:chOff x="3887546" y="5956300"/>
            <a:chExt cx="4416908" cy="337376"/>
          </a:xfrm>
        </p:grpSpPr>
        <p:sp>
          <p:nvSpPr>
            <p:cNvPr id="33" name="TextBox 33"/>
            <p:cNvSpPr txBox="1"/>
            <p:nvPr/>
          </p:nvSpPr>
          <p:spPr>
            <a:xfrm>
              <a:off x="3887546" y="5956300"/>
              <a:ext cx="4416908" cy="337376"/>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不公开秘密值，也能验证两层计算的一致性</a:t>
              </a:r>
            </a:p>
          </p:txBody>
        </p:sp>
      </p:grpSp>
    </p:spTree>
    <p:extLst>
      <p:ext uri="{BB962C8B-B14F-4D97-AF65-F5344CB8AC3E}">
        <p14:creationId xmlns:p14="http://schemas.microsoft.com/office/powerpoint/2010/main" val="152978933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A2AC639-FFEF-4E18-03AB-A1297A215657}"/>
              </a:ext>
            </a:extLst>
          </p:cNvPr>
          <p:cNvGrpSpPr/>
          <p:nvPr/>
        </p:nvGrpSpPr>
        <p:grpSpPr>
          <a:xfrm>
            <a:off x="0" y="-1"/>
            <a:ext cx="1857829" cy="1181101"/>
            <a:chOff x="0" y="0"/>
            <a:chExt cx="2590667" cy="4976958"/>
          </a:xfrm>
        </p:grpSpPr>
        <p:sp>
          <p:nvSpPr>
            <p:cNvPr id="7" name="矩形 1">
              <a:extLst>
                <a:ext uri="{FF2B5EF4-FFF2-40B4-BE49-F238E27FC236}">
                  <a16:creationId xmlns:a16="http://schemas.microsoft.com/office/drawing/2014/main" id="{E25EF265-AE7A-1C57-07E8-394857629B07}"/>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a:extLst>
                <a:ext uri="{FF2B5EF4-FFF2-40B4-BE49-F238E27FC236}">
                  <a16:creationId xmlns:a16="http://schemas.microsoft.com/office/drawing/2014/main" id="{B00C0EC2-1C0E-8B5A-D8A4-56D604F3BC6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a:extLst>
              <a:ext uri="{FF2B5EF4-FFF2-40B4-BE49-F238E27FC236}">
                <a16:creationId xmlns:a16="http://schemas.microsoft.com/office/drawing/2014/main" id="{BB0593E9-0105-4C31-26BC-3ABFB99B8850}"/>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从逐坐标等式到一个内积</a:t>
            </a:r>
            <a:r>
              <a:rPr lang="zh-CN" altLang="en-US" sz="2850" b="1" dirty="0">
                <a:solidFill>
                  <a:srgbClr val="203864"/>
                </a:solidFill>
                <a:latin typeface="Microsoft YaHei"/>
                <a:ea typeface="Microsoft YaHei"/>
                <a:cs typeface="Microsoft YaHei"/>
              </a:rPr>
              <a:t>证明</a:t>
            </a:r>
            <a:endParaRPr lang="zh-CN" sz="2850" b="1" dirty="0">
              <a:solidFill>
                <a:srgbClr val="203864"/>
              </a:solidFill>
              <a:latin typeface="Microsoft YaHei"/>
              <a:ea typeface="Microsoft YaHei"/>
              <a:cs typeface="Microsoft YaHei"/>
            </a:endParaRPr>
          </a:p>
        </p:txBody>
      </p:sp>
      <p:grpSp>
        <p:nvGrpSpPr>
          <p:cNvPr id="20"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1"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14 / 23</a:t>
              </a:r>
            </a:p>
          </p:txBody>
        </p:sp>
      </p:grpSp>
      <p:grpSp>
        <p:nvGrpSpPr>
          <p:cNvPr id="19" name="random-check"/>
          <p:cNvGrpSpPr/>
          <p:nvPr/>
        </p:nvGrpSpPr>
        <p:grpSpPr>
          <a:xfrm>
            <a:off x="1200150" y="1577975"/>
            <a:ext cx="9953625" cy="4181277"/>
            <a:chOff x="1200150" y="1577975"/>
            <a:chExt cx="9953625" cy="4181277"/>
          </a:xfrm>
        </p:grpSpPr>
        <p:sp>
          <p:nvSpPr>
            <p:cNvPr id="11" name="TextBox 11"/>
            <p:cNvSpPr txBox="1"/>
            <p:nvPr/>
          </p:nvSpPr>
          <p:spPr>
            <a:xfrm>
              <a:off x="1342263" y="1577975"/>
              <a:ext cx="3706143" cy="310854"/>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2020" b="1" dirty="0">
                  <a:solidFill>
                    <a:srgbClr val="203864"/>
                  </a:solidFill>
                  <a:latin typeface="Microsoft YaHei"/>
                  <a:ea typeface="Microsoft YaHei"/>
                  <a:cs typeface="Microsoft YaHei"/>
                </a:rPr>
                <a:t>原本：逐个检查 ℓ 个坐标关系</a:t>
              </a:r>
            </a:p>
          </p:txBody>
        </p:sp>
        <p:sp>
          <p:nvSpPr>
            <p:cNvPr id="12" name="TextBox 12"/>
            <p:cNvSpPr txBox="1"/>
            <p:nvPr/>
          </p:nvSpPr>
          <p:spPr>
            <a:xfrm>
              <a:off x="1340739" y="2063750"/>
              <a:ext cx="6135398" cy="454724"/>
            </a:xfrm>
            <a:prstGeom prst="rect">
              <a:avLst/>
            </a:prstGeom>
            <a:noFill/>
            <a:ln>
              <a:noFill/>
            </a:ln>
          </p:spPr>
          <p:txBody>
            <a:bodyPr wrap="none" lIns="0" tIns="0" rIns="0" bIns="0" anchor="t" anchorCtr="0">
              <a:spAutoFit/>
            </a:bodyPr>
            <a:lstStyle/>
            <a:p>
              <a:pPr algn="l"/>
              <a:r>
                <a:rPr lang="el-GR" sz="2320" dirty="0">
                  <a:solidFill>
                    <a:srgbClr val="203864"/>
                  </a:solidFill>
                  <a:latin typeface="Cambria Math"/>
                  <a:ea typeface="Cambria Math"/>
                  <a:cs typeface="Cambria Math"/>
                </a:rPr>
                <a:t>yᵢ[j] = Aⱼsᵢ + eᵢ[j] + Δxᵢ[j], j = 1, …, ℓ</a:t>
              </a:r>
            </a:p>
          </p:txBody>
        </p:sp>
        <p:sp>
          <p:nvSpPr>
            <p:cNvPr id="13" name="TextBox 13"/>
            <p:cNvSpPr txBox="1"/>
            <p:nvPr/>
          </p:nvSpPr>
          <p:spPr>
            <a:xfrm>
              <a:off x="1342263" y="2740025"/>
              <a:ext cx="2982598" cy="396050"/>
            </a:xfrm>
            <a:prstGeom prst="rect">
              <a:avLst/>
            </a:prstGeom>
            <a:noFill/>
            <a:ln>
              <a:noFill/>
            </a:ln>
          </p:spPr>
          <p:txBody>
            <a:bodyPr wrap="none" lIns="0" tIns="0" rIns="0" bIns="0" anchor="t" anchorCtr="0">
              <a:spAutoFit/>
            </a:bodyPr>
            <a:lstStyle/>
            <a:p>
              <a:pPr algn="l"/>
              <a:r>
                <a:rPr lang="zh-CN" sz="2020" b="1" dirty="0">
                  <a:solidFill>
                    <a:srgbClr val="203864"/>
                  </a:solidFill>
                  <a:latin typeface="Microsoft YaHei"/>
                  <a:ea typeface="Microsoft YaHei"/>
                  <a:cs typeface="Microsoft YaHei"/>
                </a:rPr>
                <a:t>随机挑战 r，构造幂向量</a:t>
              </a:r>
            </a:p>
          </p:txBody>
        </p:sp>
        <p:sp>
          <p:nvSpPr>
            <p:cNvPr id="14" name="TextBox 14"/>
            <p:cNvSpPr txBox="1"/>
            <p:nvPr/>
          </p:nvSpPr>
          <p:spPr>
            <a:xfrm>
              <a:off x="4324861" y="2723579"/>
              <a:ext cx="3400139" cy="440055"/>
            </a:xfrm>
            <a:prstGeom prst="rect">
              <a:avLst/>
            </a:prstGeom>
            <a:noFill/>
            <a:ln>
              <a:noFill/>
            </a:ln>
          </p:spPr>
          <p:txBody>
            <a:bodyPr wrap="none" lIns="0" tIns="0" rIns="0" bIns="0" anchor="t" anchorCtr="0">
              <a:spAutoFit/>
            </a:bodyPr>
            <a:lstStyle/>
            <a:p>
              <a:pPr algn="l"/>
              <a:r>
                <a:rPr lang="en-US" sz="2250" dirty="0">
                  <a:solidFill>
                    <a:srgbClr val="203864"/>
                  </a:solidFill>
                  <a:latin typeface="Cambria Math"/>
                  <a:ea typeface="Cambria Math"/>
                  <a:cs typeface="Cambria Math"/>
                </a:rPr>
                <a:t>r = (1, r, r², …, rˡ⁻¹)</a:t>
              </a:r>
            </a:p>
          </p:txBody>
        </p:sp>
        <p:sp>
          <p:nvSpPr>
            <p:cNvPr id="15" name="Rectangle 15"/>
            <p:cNvSpPr/>
            <p:nvPr/>
          </p:nvSpPr>
          <p:spPr>
            <a:xfrm>
              <a:off x="1200150" y="3438525"/>
              <a:ext cx="9953625" cy="1257300"/>
            </a:xfrm>
            <a:prstGeom prst="rect">
              <a:avLst/>
            </a:prstGeom>
            <a:solidFill>
              <a:srgbClr val="F2F6FB"/>
            </a:solidFill>
            <a:ln>
              <a:noFill/>
            </a:ln>
          </p:spPr>
        </p:sp>
        <p:sp>
          <p:nvSpPr>
            <p:cNvPr id="16" name="TextBox 16"/>
            <p:cNvSpPr txBox="1"/>
            <p:nvPr/>
          </p:nvSpPr>
          <p:spPr>
            <a:xfrm>
              <a:off x="2978994" y="3829050"/>
              <a:ext cx="6424511" cy="543687"/>
            </a:xfrm>
            <a:prstGeom prst="rect">
              <a:avLst/>
            </a:prstGeom>
            <a:noFill/>
            <a:ln>
              <a:noFill/>
            </a:ln>
          </p:spPr>
          <p:txBody>
            <a:bodyPr wrap="none" lIns="0" tIns="0" rIns="0" bIns="0" anchor="t" anchorCtr="0">
              <a:spAutoFit/>
            </a:bodyPr>
            <a:lstStyle/>
            <a:p>
              <a:pPr algn="ctr"/>
              <a:r>
                <a:rPr lang="el-GR" sz="2780" dirty="0">
                  <a:solidFill>
                    <a:srgbClr val="203864"/>
                  </a:solidFill>
                  <a:latin typeface="Cambria Math"/>
                  <a:ea typeface="Cambria Math"/>
                  <a:cs typeface="Cambria Math"/>
                </a:rPr>
                <a:t>⟨yᵢ, r⟩ = ⟨Aᵀr | r | Δr, sᵢ | eᵢ | xᵢ⟩</a:t>
              </a:r>
            </a:p>
          </p:txBody>
        </p:sp>
        <p:sp>
          <p:nvSpPr>
            <p:cNvPr id="17" name="TextBox 17"/>
            <p:cNvSpPr txBox="1"/>
            <p:nvPr/>
          </p:nvSpPr>
          <p:spPr>
            <a:xfrm>
              <a:off x="1342644" y="4987925"/>
              <a:ext cx="6649193" cy="310854"/>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en-US" altLang="zh-CN" sz="2020" b="1" dirty="0">
                  <a:solidFill>
                    <a:srgbClr val="203864"/>
                  </a:solidFill>
                  <a:latin typeface="Microsoft YaHei"/>
                  <a:ea typeface="Microsoft YaHei"/>
                </a:rPr>
                <a:t>Schwartz–Zippel </a:t>
              </a:r>
              <a:r>
                <a:rPr lang="zh-CN" altLang="en-US" sz="2020" b="1" dirty="0">
                  <a:solidFill>
                    <a:srgbClr val="203864"/>
                  </a:solidFill>
                  <a:latin typeface="Microsoft YaHei"/>
                  <a:ea typeface="Microsoft YaHei"/>
                </a:rPr>
                <a:t>型检查：错误接受概率至多约为 </a:t>
              </a:r>
              <a:r>
                <a:rPr lang="en-US" altLang="zh-CN" sz="2020" b="1" dirty="0">
                  <a:solidFill>
                    <a:srgbClr val="203864"/>
                  </a:solidFill>
                  <a:latin typeface="Microsoft YaHei"/>
                  <a:ea typeface="Microsoft YaHei"/>
                </a:rPr>
                <a:t>ℓ/q</a:t>
              </a:r>
            </a:p>
          </p:txBody>
        </p:sp>
        <p:sp>
          <p:nvSpPr>
            <p:cNvPr id="18" name="TextBox 18"/>
            <p:cNvSpPr txBox="1"/>
            <p:nvPr/>
          </p:nvSpPr>
          <p:spPr>
            <a:xfrm>
              <a:off x="1343787" y="5451475"/>
              <a:ext cx="6899325" cy="307777"/>
            </a:xfrm>
            <a:prstGeom prst="rect">
              <a:avLst/>
            </a:prstGeom>
            <a:noFill/>
            <a:ln>
              <a:noFill/>
            </a:ln>
          </p:spPr>
          <p:txBody>
            <a:bodyPr wrap="none" lIns="0" tIns="0" rIns="0" bIns="0" anchor="t" anchorCtr="0">
              <a:spAutoFit/>
            </a:bodyPr>
            <a:lstStyle/>
            <a:p>
              <a:pPr algn="l"/>
              <a:r>
                <a:rPr lang="zh-CN" altLang="en-US" sz="2000" dirty="0">
                  <a:solidFill>
                    <a:srgbClr val="203864"/>
                  </a:solidFill>
                  <a:latin typeface="Cambria Math"/>
                </a:rPr>
                <a:t>线性关系 → 一个内积证明；实际协议用 </a:t>
              </a:r>
              <a:r>
                <a:rPr lang="en-US" altLang="zh-CN" sz="2000" dirty="0">
                  <a:solidFill>
                    <a:srgbClr val="203864"/>
                  </a:solidFill>
                  <a:latin typeface="Cambria Math"/>
                  <a:ea typeface="Cambria Math"/>
                </a:rPr>
                <a:t>Fiat–Shamir </a:t>
              </a:r>
              <a:r>
                <a:rPr lang="zh-CN" altLang="en-US" sz="2000" dirty="0">
                  <a:solidFill>
                    <a:srgbClr val="203864"/>
                  </a:solidFill>
                  <a:latin typeface="Cambria Math"/>
                </a:rPr>
                <a:t>产生挑战</a:t>
              </a:r>
            </a:p>
          </p:txBody>
        </p:sp>
      </p:grpSp>
    </p:spTree>
    <p:extLst>
      <p:ext uri="{BB962C8B-B14F-4D97-AF65-F5344CB8AC3E}">
        <p14:creationId xmlns:p14="http://schemas.microsoft.com/office/powerpoint/2010/main" val="194675197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弧形 5"/>
          <p:cNvSpPr/>
          <p:nvPr/>
        </p:nvSpPr>
        <p:spPr>
          <a:xfrm rot="8100000">
            <a:off x="1744022" y="20758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5" name="椭圆 4"/>
          <p:cNvSpPr/>
          <p:nvPr/>
        </p:nvSpPr>
        <p:spPr>
          <a:xfrm>
            <a:off x="1947196" y="2357342"/>
            <a:ext cx="1174623" cy="1174623"/>
          </a:xfrm>
          <a:prstGeom prst="ellipse">
            <a:avLst/>
          </a:prstGeom>
          <a:solidFill>
            <a:srgbClr val="203864"/>
          </a:solidFill>
          <a:ln>
            <a:noFill/>
          </a:ln>
        </p:spPr>
        <p:txBody>
          <a:bodyPr wrap="none" lIns="0" tIns="439007" rIns="0" bIns="0" anchor="t" anchorCtr="0">
            <a:noAutofit/>
          </a:bodyPr>
          <a:lstStyle/>
          <a:p>
            <a:pPr algn="ctr"/>
            <a:r>
              <a:rPr lang="zh-CN" sz="2400" dirty="0">
                <a:solidFill>
                  <a:srgbClr val="FFFFFF"/>
                </a:solidFill>
                <a:latin typeface="Microsoft YaHei"/>
                <a:ea typeface="Microsoft YaHei"/>
                <a:cs typeface="Microsoft YaHei"/>
              </a:rPr>
              <a:t>01</a:t>
            </a:r>
          </a:p>
        </p:txBody>
      </p:sp>
      <p:sp>
        <p:nvSpPr>
          <p:cNvPr id="14" name="椭圆 13"/>
          <p:cNvSpPr/>
          <p:nvPr/>
        </p:nvSpPr>
        <p:spPr>
          <a:xfrm>
            <a:off x="834295" y="3998214"/>
            <a:ext cx="596741" cy="596741"/>
          </a:xfrm>
          <a:prstGeom prst="ellipse">
            <a:avLst/>
          </a:prstGeom>
          <a:solidFill>
            <a:srgbClr val="203864"/>
          </a:solidFill>
          <a:ln>
            <a:noFill/>
          </a:ln>
        </p:spPr>
        <p:txBody>
          <a:bodyPr wrap="none" lIns="0" tIns="159154" rIns="95" bIns="0" anchor="t" anchorCtr="0">
            <a:noAutofit/>
          </a:bodyPr>
          <a:lstStyle/>
          <a:p>
            <a:pPr algn="ctr"/>
            <a:r>
              <a:rPr lang="en-US" altLang="zh-CN" sz="1600" dirty="0">
                <a:solidFill>
                  <a:srgbClr val="FFFFFF"/>
                </a:solidFill>
                <a:latin typeface="Microsoft YaHei"/>
                <a:ea typeface="Microsoft YaHei"/>
                <a:cs typeface="Microsoft YaHei"/>
              </a:rPr>
              <a:t>start</a:t>
            </a:r>
            <a:endParaRPr lang="zh-CN" sz="1600" dirty="0">
              <a:solidFill>
                <a:srgbClr val="FFFFFF"/>
              </a:solidFill>
              <a:latin typeface="Microsoft YaHei"/>
              <a:ea typeface="Microsoft YaHei"/>
              <a:cs typeface="Microsoft YaHei"/>
            </a:endParaRPr>
          </a:p>
        </p:txBody>
      </p:sp>
      <p:cxnSp>
        <p:nvCxnSpPr>
          <p:cNvPr id="24" name="直接箭头连接符 23"/>
          <p:cNvCxnSpPr>
            <a:endCxn id="27" idx="0"/>
          </p:cNvCxnSpPr>
          <p:nvPr/>
        </p:nvCxnSpPr>
        <p:spPr>
          <a:xfrm>
            <a:off x="3089389" y="3424397"/>
            <a:ext cx="1244117" cy="1143575"/>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弧形 24"/>
          <p:cNvSpPr/>
          <p:nvPr/>
        </p:nvSpPr>
        <p:spPr>
          <a:xfrm rot="8100000">
            <a:off x="6459956" y="20758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6" name="椭圆 25"/>
          <p:cNvSpPr/>
          <p:nvPr/>
        </p:nvSpPr>
        <p:spPr>
          <a:xfrm>
            <a:off x="6663118" y="2357342"/>
            <a:ext cx="1174623" cy="1174623"/>
          </a:xfrm>
          <a:prstGeom prst="ellipse">
            <a:avLst/>
          </a:prstGeom>
          <a:solidFill>
            <a:srgbClr val="203864"/>
          </a:solidFill>
          <a:ln>
            <a:noFill/>
          </a:ln>
        </p:spPr>
        <p:txBody>
          <a:bodyPr wrap="none" lIns="0" tIns="439007" rIns="0" bIns="0" anchor="t" anchorCtr="0">
            <a:noAutofit/>
          </a:bodyPr>
          <a:lstStyle/>
          <a:p>
            <a:pPr algn="ctr"/>
            <a:r>
              <a:rPr lang="zh-CN" sz="2400" dirty="0">
                <a:solidFill>
                  <a:srgbClr val="FFFFFF"/>
                </a:solidFill>
                <a:latin typeface="Microsoft YaHei"/>
                <a:ea typeface="Microsoft YaHei"/>
                <a:cs typeface="Microsoft YaHei"/>
              </a:rPr>
              <a:t>03</a:t>
            </a:r>
          </a:p>
        </p:txBody>
      </p:sp>
      <p:sp>
        <p:nvSpPr>
          <p:cNvPr id="27" name="弧形 26"/>
          <p:cNvSpPr/>
          <p:nvPr/>
        </p:nvSpPr>
        <p:spPr>
          <a:xfrm rot="18900000">
            <a:off x="4101989" y="43364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8" name="椭圆 27"/>
          <p:cNvSpPr/>
          <p:nvPr/>
        </p:nvSpPr>
        <p:spPr>
          <a:xfrm>
            <a:off x="4305110" y="4461224"/>
            <a:ext cx="1174623" cy="1174623"/>
          </a:xfrm>
          <a:prstGeom prst="ellipse">
            <a:avLst/>
          </a:prstGeom>
          <a:solidFill>
            <a:srgbClr val="203864"/>
          </a:solidFill>
          <a:ln>
            <a:noFill/>
          </a:ln>
        </p:spPr>
        <p:txBody>
          <a:bodyPr wrap="none" lIns="0" tIns="438912" rIns="0" bIns="0" anchor="t" anchorCtr="0">
            <a:noAutofit/>
          </a:bodyPr>
          <a:lstStyle/>
          <a:p>
            <a:pPr algn="ctr"/>
            <a:r>
              <a:rPr lang="zh-CN" sz="2400" dirty="0">
                <a:solidFill>
                  <a:srgbClr val="FFFFFF"/>
                </a:solidFill>
                <a:latin typeface="Microsoft YaHei"/>
                <a:ea typeface="Microsoft YaHei"/>
                <a:cs typeface="Microsoft YaHei"/>
              </a:rPr>
              <a:t>02</a:t>
            </a:r>
          </a:p>
        </p:txBody>
      </p:sp>
      <p:sp>
        <p:nvSpPr>
          <p:cNvPr id="29" name="弧形 28"/>
          <p:cNvSpPr/>
          <p:nvPr/>
        </p:nvSpPr>
        <p:spPr>
          <a:xfrm rot="18900000">
            <a:off x="8817922" y="43364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30" name="椭圆 29"/>
          <p:cNvSpPr/>
          <p:nvPr/>
        </p:nvSpPr>
        <p:spPr>
          <a:xfrm>
            <a:off x="9021032" y="4461224"/>
            <a:ext cx="1174623" cy="1174623"/>
          </a:xfrm>
          <a:prstGeom prst="ellipse">
            <a:avLst/>
          </a:prstGeom>
          <a:solidFill>
            <a:srgbClr val="203864"/>
          </a:solidFill>
          <a:ln>
            <a:noFill/>
          </a:ln>
        </p:spPr>
        <p:txBody>
          <a:bodyPr wrap="none" lIns="0" tIns="438912" rIns="0" bIns="0" anchor="t" anchorCtr="0">
            <a:noAutofit/>
          </a:bodyPr>
          <a:lstStyle/>
          <a:p>
            <a:pPr algn="ctr"/>
            <a:r>
              <a:rPr lang="zh-CN" sz="2400" dirty="0">
                <a:solidFill>
                  <a:srgbClr val="FFFFFF"/>
                </a:solidFill>
                <a:latin typeface="Microsoft YaHei"/>
                <a:ea typeface="Microsoft YaHei"/>
                <a:cs typeface="Microsoft YaHei"/>
              </a:rPr>
              <a:t>04</a:t>
            </a:r>
          </a:p>
        </p:txBody>
      </p:sp>
      <p:cxnSp>
        <p:nvCxnSpPr>
          <p:cNvPr id="31" name="直接箭头连接符 30"/>
          <p:cNvCxnSpPr>
            <a:stCxn id="25" idx="0"/>
            <a:endCxn id="29" idx="0"/>
          </p:cNvCxnSpPr>
          <p:nvPr/>
        </p:nvCxnSpPr>
        <p:spPr>
          <a:xfrm>
            <a:off x="7809337" y="3425236"/>
            <a:ext cx="1240102" cy="1142736"/>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25" idx="2"/>
          </p:cNvCxnSpPr>
          <p:nvPr/>
        </p:nvCxnSpPr>
        <p:spPr>
          <a:xfrm flipV="1">
            <a:off x="5451370" y="3425236"/>
            <a:ext cx="1240103" cy="1142737"/>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10769060" y="3368612"/>
            <a:ext cx="596741" cy="596741"/>
          </a:xfrm>
          <a:prstGeom prst="ellipse">
            <a:avLst/>
          </a:prstGeom>
          <a:solidFill>
            <a:srgbClr val="203864"/>
          </a:solidFill>
          <a:ln>
            <a:noFill/>
          </a:ln>
        </p:spPr>
        <p:txBody>
          <a:bodyPr wrap="none" lIns="0" tIns="159163" rIns="95" bIns="0" anchor="t" anchorCtr="0">
            <a:noAutofit/>
          </a:bodyPr>
          <a:lstStyle/>
          <a:p>
            <a:pPr algn="ctr"/>
            <a:r>
              <a:rPr lang="en-US" altLang="zh-CN" sz="1800" dirty="0">
                <a:solidFill>
                  <a:srgbClr val="FFFFFF"/>
                </a:solidFill>
                <a:latin typeface="Microsoft YaHei"/>
                <a:ea typeface="Microsoft YaHei"/>
                <a:cs typeface="Microsoft YaHei"/>
              </a:rPr>
              <a:t>end</a:t>
            </a:r>
            <a:endParaRPr lang="zh-CN" sz="1800" dirty="0">
              <a:solidFill>
                <a:srgbClr val="FFFFFF"/>
              </a:solidFill>
              <a:latin typeface="Microsoft YaHei"/>
              <a:ea typeface="Microsoft YaHei"/>
              <a:cs typeface="Microsoft YaHei"/>
            </a:endParaRPr>
          </a:p>
        </p:txBody>
      </p:sp>
      <p:cxnSp>
        <p:nvCxnSpPr>
          <p:cNvPr id="34" name="直接箭头连接符 33"/>
          <p:cNvCxnSpPr>
            <a:endCxn id="6" idx="2"/>
          </p:cNvCxnSpPr>
          <p:nvPr/>
        </p:nvCxnSpPr>
        <p:spPr>
          <a:xfrm flipV="1">
            <a:off x="1318774" y="3425236"/>
            <a:ext cx="656765" cy="675363"/>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2"/>
          </p:cNvCxnSpPr>
          <p:nvPr/>
        </p:nvCxnSpPr>
        <p:spPr>
          <a:xfrm flipV="1">
            <a:off x="10167303" y="3932397"/>
            <a:ext cx="656703" cy="635575"/>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2047B166-7923-0510-A7B2-FABC959E71B0}"/>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ADD9FD3B-C963-44EA-1096-3F9E8B15F7BE}"/>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 name="矩形 1">
              <a:extLst>
                <a:ext uri="{FF2B5EF4-FFF2-40B4-BE49-F238E27FC236}">
                  <a16:creationId xmlns:a16="http://schemas.microsoft.com/office/drawing/2014/main" id="{39467C62-E85A-F405-C936-07B14F46052A}"/>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8" name="直接连接符 7">
            <a:extLst>
              <a:ext uri="{FF2B5EF4-FFF2-40B4-BE49-F238E27FC236}">
                <a16:creationId xmlns:a16="http://schemas.microsoft.com/office/drawing/2014/main" id="{2E2D8281-EE1E-CB04-8D20-C5DF003C248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轻量证明：线性化与批量验证</a:t>
            </a:r>
          </a:p>
        </p:txBody>
      </p:sp>
      <p:grpSp>
        <p:nvGrpSpPr>
          <p:cNvPr id="40" name="page-footer"/>
          <p:cNvGrpSpPr/>
          <p:nvPr/>
        </p:nvGrpSpPr>
        <p:grpSpPr>
          <a:xfrm>
            <a:off x="1194816" y="6426200"/>
            <a:ext cx="9954768" cy="205359"/>
            <a:chOff x="1194816" y="6426200"/>
            <a:chExt cx="9954768" cy="205359"/>
          </a:xfrm>
        </p:grpSpPr>
        <p:sp>
          <p:nvSpPr>
            <p:cNvPr id="38" name="TextBox 3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39" name="TextBox 3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15 / 23</a:t>
              </a:r>
            </a:p>
          </p:txBody>
        </p:sp>
      </p:grpSp>
      <p:grpSp>
        <p:nvGrpSpPr>
          <p:cNvPr id="50" name="proof-stages"/>
          <p:cNvGrpSpPr/>
          <p:nvPr/>
        </p:nvGrpSpPr>
        <p:grpSpPr>
          <a:xfrm>
            <a:off x="1190244" y="1368425"/>
            <a:ext cx="8768905" cy="4169918"/>
            <a:chOff x="1190244" y="1368425"/>
            <a:chExt cx="8768905" cy="4169918"/>
          </a:xfrm>
        </p:grpSpPr>
        <p:sp>
          <p:nvSpPr>
            <p:cNvPr id="41" name="TextBox 41"/>
            <p:cNvSpPr txBox="1"/>
            <p:nvPr/>
          </p:nvSpPr>
          <p:spPr>
            <a:xfrm>
              <a:off x="3371088" y="2101850"/>
              <a:ext cx="1108304" cy="396050"/>
            </a:xfrm>
            <a:prstGeom prst="rect">
              <a:avLst/>
            </a:prstGeom>
            <a:noFill/>
            <a:ln>
              <a:noFill/>
            </a:ln>
          </p:spPr>
          <p:txBody>
            <a:bodyPr wrap="none" lIns="0" tIns="0" rIns="0" bIns="0" anchor="t" anchorCtr="0">
              <a:spAutoFit/>
            </a:bodyPr>
            <a:lstStyle/>
            <a:p>
              <a:pPr algn="l"/>
              <a:r>
                <a:rPr lang="zh-CN" sz="2020" b="1" dirty="0">
                  <a:solidFill>
                    <a:srgbClr val="203864"/>
                  </a:solidFill>
                  <a:latin typeface="Microsoft YaHei"/>
                  <a:ea typeface="Microsoft YaHei"/>
                  <a:cs typeface="Microsoft YaHei"/>
                </a:rPr>
                <a:t>线性计算</a:t>
              </a:r>
            </a:p>
          </p:txBody>
        </p:sp>
        <p:sp>
          <p:nvSpPr>
            <p:cNvPr id="42" name="TextBox 42"/>
            <p:cNvSpPr txBox="1"/>
            <p:nvPr/>
          </p:nvSpPr>
          <p:spPr>
            <a:xfrm>
              <a:off x="3372993" y="2508250"/>
              <a:ext cx="1693164" cy="620268"/>
            </a:xfrm>
            <a:prstGeom prst="rect">
              <a:avLst/>
            </a:prstGeom>
            <a:noFill/>
            <a:ln>
              <a:noFill/>
            </a:ln>
          </p:spPr>
          <p:txBody>
            <a:bodyPr wrap="none" lIns="0" tIns="0" rIns="0" bIns="0" anchor="t" anchorCtr="0">
              <a:spAutoFit/>
            </a:bodyPr>
            <a:lstStyle/>
            <a:p>
              <a:pPr algn="l">
                <a:lnSpc>
                  <a:spcPts val="2343"/>
                </a:lnSpc>
              </a:pPr>
              <a:r>
                <a:rPr lang="zh-CN" sz="1650" dirty="0">
                  <a:solidFill>
                    <a:srgbClr val="24364A"/>
                  </a:solidFill>
                  <a:latin typeface="Microsoft YaHei"/>
                  <a:ea typeface="Microsoft YaHei"/>
                  <a:cs typeface="Microsoft YaHei"/>
                </a:rPr>
                <a:t>加密与分享关系</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尽量写成线性形式</a:t>
              </a:r>
            </a:p>
          </p:txBody>
        </p:sp>
        <p:sp>
          <p:nvSpPr>
            <p:cNvPr id="43" name="TextBox 43"/>
            <p:cNvSpPr txBox="1"/>
            <p:nvPr/>
          </p:nvSpPr>
          <p:spPr>
            <a:xfrm>
              <a:off x="2883433" y="4511675"/>
              <a:ext cx="1108304" cy="396050"/>
            </a:xfrm>
            <a:prstGeom prst="rect">
              <a:avLst/>
            </a:prstGeom>
            <a:noFill/>
            <a:ln>
              <a:noFill/>
            </a:ln>
          </p:spPr>
          <p:txBody>
            <a:bodyPr wrap="none" lIns="0" tIns="0" rIns="0" bIns="0" anchor="t" anchorCtr="0">
              <a:spAutoFit/>
            </a:bodyPr>
            <a:lstStyle/>
            <a:p>
              <a:pPr algn="r"/>
              <a:r>
                <a:rPr lang="zh-CN" sz="2020" b="1" dirty="0">
                  <a:solidFill>
                    <a:srgbClr val="203864"/>
                  </a:solidFill>
                  <a:latin typeface="Microsoft YaHei"/>
                  <a:ea typeface="Microsoft YaHei"/>
                  <a:cs typeface="Microsoft YaHei"/>
                </a:rPr>
                <a:t>随机压缩</a:t>
              </a:r>
            </a:p>
          </p:txBody>
        </p:sp>
        <p:sp>
          <p:nvSpPr>
            <p:cNvPr id="44" name="TextBox 44"/>
            <p:cNvSpPr txBox="1"/>
            <p:nvPr/>
          </p:nvSpPr>
          <p:spPr>
            <a:xfrm>
              <a:off x="2715768" y="4918075"/>
              <a:ext cx="1274064" cy="620268"/>
            </a:xfrm>
            <a:prstGeom prst="rect">
              <a:avLst/>
            </a:prstGeom>
            <a:noFill/>
            <a:ln>
              <a:noFill/>
            </a:ln>
          </p:spPr>
          <p:txBody>
            <a:bodyPr wrap="none" lIns="0" tIns="0" rIns="0" bIns="0" anchor="t" anchorCtr="0">
              <a:spAutoFit/>
            </a:bodyPr>
            <a:lstStyle/>
            <a:p>
              <a:pPr algn="r">
                <a:lnSpc>
                  <a:spcPts val="2343"/>
                </a:lnSpc>
              </a:pPr>
              <a:r>
                <a:rPr lang="zh-CN" sz="1650" dirty="0">
                  <a:solidFill>
                    <a:srgbClr val="24364A"/>
                  </a:solidFill>
                  <a:latin typeface="Microsoft YaHei"/>
                  <a:ea typeface="Microsoft YaHei"/>
                  <a:cs typeface="Microsoft YaHei"/>
                </a:rPr>
                <a:t>多条等式</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压成一个内积</a:t>
              </a:r>
            </a:p>
          </p:txBody>
        </p:sp>
        <p:sp>
          <p:nvSpPr>
            <p:cNvPr id="45" name="TextBox 45"/>
            <p:cNvSpPr txBox="1"/>
            <p:nvPr/>
          </p:nvSpPr>
          <p:spPr>
            <a:xfrm>
              <a:off x="8085963" y="2101850"/>
              <a:ext cx="1108304" cy="396050"/>
            </a:xfrm>
            <a:prstGeom prst="rect">
              <a:avLst/>
            </a:prstGeom>
            <a:noFill/>
            <a:ln>
              <a:noFill/>
            </a:ln>
          </p:spPr>
          <p:txBody>
            <a:bodyPr wrap="none" lIns="0" tIns="0" rIns="0" bIns="0" anchor="t" anchorCtr="0">
              <a:spAutoFit/>
            </a:bodyPr>
            <a:lstStyle/>
            <a:p>
              <a:pPr algn="l"/>
              <a:r>
                <a:rPr lang="zh-CN" sz="2020" b="1" dirty="0">
                  <a:solidFill>
                    <a:srgbClr val="203864"/>
                  </a:solidFill>
                  <a:latin typeface="Microsoft YaHei"/>
                  <a:ea typeface="Microsoft YaHei"/>
                  <a:cs typeface="Microsoft YaHei"/>
                </a:rPr>
                <a:t>内积证明</a:t>
              </a:r>
            </a:p>
          </p:txBody>
        </p:sp>
        <p:sp>
          <p:nvSpPr>
            <p:cNvPr id="46" name="TextBox 46"/>
            <p:cNvSpPr txBox="1"/>
            <p:nvPr/>
          </p:nvSpPr>
          <p:spPr>
            <a:xfrm>
              <a:off x="8087868" y="2508250"/>
              <a:ext cx="1871281" cy="620268"/>
            </a:xfrm>
            <a:prstGeom prst="rect">
              <a:avLst/>
            </a:prstGeom>
            <a:noFill/>
            <a:ln>
              <a:noFill/>
            </a:ln>
          </p:spPr>
          <p:txBody>
            <a:bodyPr wrap="none" lIns="0" tIns="0" rIns="0" bIns="0" anchor="t" anchorCtr="0">
              <a:spAutoFit/>
            </a:bodyPr>
            <a:lstStyle/>
            <a:p>
              <a:pPr algn="l">
                <a:lnSpc>
                  <a:spcPts val="2343"/>
                </a:lnSpc>
              </a:pPr>
              <a:r>
                <a:rPr lang="zh-CN" sz="1650" dirty="0">
                  <a:solidFill>
                    <a:srgbClr val="24364A"/>
                  </a:solidFill>
                  <a:latin typeface="Microsoft YaHei"/>
                  <a:ea typeface="Microsoft YaHei"/>
                  <a:cs typeface="Microsoft YaHei"/>
                </a:rPr>
                <a:t>Bulletproof 类证明</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证明大小 O(log L)</a:t>
              </a:r>
            </a:p>
          </p:txBody>
        </p:sp>
        <p:sp>
          <p:nvSpPr>
            <p:cNvPr id="47" name="TextBox 47"/>
            <p:cNvSpPr txBox="1"/>
            <p:nvPr/>
          </p:nvSpPr>
          <p:spPr>
            <a:xfrm>
              <a:off x="7684033" y="4511675"/>
              <a:ext cx="1108304" cy="396050"/>
            </a:xfrm>
            <a:prstGeom prst="rect">
              <a:avLst/>
            </a:prstGeom>
            <a:noFill/>
            <a:ln>
              <a:noFill/>
            </a:ln>
          </p:spPr>
          <p:txBody>
            <a:bodyPr wrap="none" lIns="0" tIns="0" rIns="0" bIns="0" anchor="t" anchorCtr="0">
              <a:spAutoFit/>
            </a:bodyPr>
            <a:lstStyle/>
            <a:p>
              <a:pPr algn="r"/>
              <a:r>
                <a:rPr lang="zh-CN" sz="2020" b="1" dirty="0">
                  <a:solidFill>
                    <a:srgbClr val="203864"/>
                  </a:solidFill>
                  <a:latin typeface="Microsoft YaHei"/>
                  <a:ea typeface="Microsoft YaHei"/>
                  <a:cs typeface="Microsoft YaHei"/>
                </a:rPr>
                <a:t>批量验证</a:t>
              </a:r>
            </a:p>
          </p:txBody>
        </p:sp>
        <p:sp>
          <p:nvSpPr>
            <p:cNvPr id="48" name="TextBox 48"/>
            <p:cNvSpPr txBox="1"/>
            <p:nvPr/>
          </p:nvSpPr>
          <p:spPr>
            <a:xfrm>
              <a:off x="6887718" y="4918075"/>
              <a:ext cx="1902714" cy="620268"/>
            </a:xfrm>
            <a:prstGeom prst="rect">
              <a:avLst/>
            </a:prstGeom>
            <a:noFill/>
            <a:ln>
              <a:noFill/>
            </a:ln>
          </p:spPr>
          <p:txBody>
            <a:bodyPr wrap="none" lIns="0" tIns="0" rIns="0" bIns="0" anchor="t" anchorCtr="0">
              <a:spAutoFit/>
            </a:bodyPr>
            <a:lstStyle/>
            <a:p>
              <a:pPr algn="r">
                <a:lnSpc>
                  <a:spcPts val="2343"/>
                </a:lnSpc>
              </a:pPr>
              <a:r>
                <a:rPr lang="zh-CN" sz="1650" dirty="0">
                  <a:solidFill>
                    <a:srgbClr val="24364A"/>
                  </a:solidFill>
                  <a:latin typeface="Microsoft YaHei"/>
                  <a:ea typeface="Microsoft YaHei"/>
                  <a:cs typeface="Microsoft YaHei"/>
                </a:rPr>
                <a:t>共享生成元</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减少服务器重复计算</a:t>
              </a:r>
            </a:p>
          </p:txBody>
        </p:sp>
        <p:sp>
          <p:nvSpPr>
            <p:cNvPr id="49" name="TextBox 49"/>
            <p:cNvSpPr txBox="1"/>
            <p:nvPr/>
          </p:nvSpPr>
          <p:spPr>
            <a:xfrm>
              <a:off x="1190244" y="1368425"/>
              <a:ext cx="4597412" cy="300082"/>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950" b="1" dirty="0">
                  <a:solidFill>
                    <a:srgbClr val="203864"/>
                  </a:solidFill>
                  <a:latin typeface="Microsoft YaHei"/>
                  <a:ea typeface="Microsoft YaHei"/>
                  <a:cs typeface="Microsoft YaHei"/>
                </a:rPr>
                <a:t>把协议设计成适合已有证明系统的形式</a:t>
              </a:r>
            </a:p>
          </p:txBody>
        </p:sp>
      </p:grpSp>
      <p:grpSp>
        <p:nvGrpSpPr>
          <p:cNvPr id="52" name="takeaway"/>
          <p:cNvGrpSpPr/>
          <p:nvPr/>
        </p:nvGrpSpPr>
        <p:grpSpPr>
          <a:xfrm>
            <a:off x="3220213" y="6070600"/>
            <a:ext cx="5751575" cy="264688"/>
            <a:chOff x="3220213" y="6070600"/>
            <a:chExt cx="5751575" cy="264688"/>
          </a:xfrm>
        </p:grpSpPr>
        <p:sp>
          <p:nvSpPr>
            <p:cNvPr id="51" name="TextBox 51"/>
            <p:cNvSpPr txBox="1"/>
            <p:nvPr/>
          </p:nvSpPr>
          <p:spPr>
            <a:xfrm>
              <a:off x="3220213" y="6070600"/>
              <a:ext cx="5751575" cy="264688"/>
            </a:xfrm>
            <a:prstGeom prst="rect">
              <a:avLst/>
            </a:prstGeom>
            <a:noFill/>
            <a:ln>
              <a:noFill/>
            </a:ln>
          </p:spPr>
          <p:txBody>
            <a:bodyPr wrap="none" lIns="0" tIns="0" rIns="0" bIns="0" anchor="t" anchorCtr="0">
              <a:spAutoFit/>
            </a:bodyPr>
            <a:lstStyle/>
            <a:p>
              <a:pPr algn="ctr"/>
              <a:r>
                <a:rPr lang="zh-CN" altLang="en-US" sz="1720" b="1" dirty="0">
                  <a:solidFill>
                    <a:srgbClr val="203864"/>
                  </a:solidFill>
                  <a:latin typeface="Microsoft YaHei"/>
                  <a:ea typeface="Microsoft YaHei"/>
                  <a:cs typeface="Microsoft YaHei"/>
                </a:rPr>
                <a:t>这里的</a:t>
              </a:r>
              <a:r>
                <a:rPr lang="zh-CN" sz="1720" b="1" dirty="0">
                  <a:solidFill>
                    <a:srgbClr val="203864"/>
                  </a:solidFill>
                  <a:latin typeface="Microsoft YaHei"/>
                  <a:ea typeface="Microsoft YaHei"/>
                  <a:cs typeface="Microsoft YaHei"/>
                </a:rPr>
                <a:t>轻量是相对概念：范数证明仍是客户端主要计算成本</a:t>
              </a:r>
            </a:p>
          </p:txBody>
        </p:sp>
      </p:grpSp>
    </p:spTree>
    <p:extLst>
      <p:ext uri="{BB962C8B-B14F-4D97-AF65-F5344CB8AC3E}">
        <p14:creationId xmlns:p14="http://schemas.microsoft.com/office/powerpoint/2010/main" val="126756638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74819" y="1552083"/>
            <a:ext cx="4466377" cy="435773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为什么还需要 Agreement？</a:t>
            </a:r>
          </a:p>
        </p:txBody>
      </p:sp>
      <p:grpSp>
        <p:nvGrpSpPr>
          <p:cNvPr id="8" name="page-footer"/>
          <p:cNvGrpSpPr/>
          <p:nvPr/>
        </p:nvGrpSpPr>
        <p:grpSpPr>
          <a:xfrm>
            <a:off x="1194816" y="6426200"/>
            <a:ext cx="9954768" cy="205359"/>
            <a:chOff x="1194816" y="6426200"/>
            <a:chExt cx="9954768" cy="205359"/>
          </a:xfrm>
        </p:grpSpPr>
        <p:sp>
          <p:nvSpPr>
            <p:cNvPr id="5" name="TextBox 5"/>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6" name="TextBox 6"/>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16 / 23</a:t>
              </a:r>
            </a:p>
          </p:txBody>
        </p:sp>
      </p:grpSp>
      <p:sp>
        <p:nvSpPr>
          <p:cNvPr id="9" name="TextBox 9"/>
          <p:cNvSpPr txBox="1"/>
          <p:nvPr/>
        </p:nvSpPr>
        <p:spPr>
          <a:xfrm>
            <a:off x="7281216" y="1785489"/>
            <a:ext cx="2663342" cy="426339"/>
          </a:xfrm>
          <a:prstGeom prst="rect">
            <a:avLst/>
          </a:prstGeom>
          <a:noFill/>
          <a:ln>
            <a:noFill/>
          </a:ln>
        </p:spPr>
        <p:txBody>
          <a:bodyPr wrap="none" lIns="0" tIns="0" rIns="0" bIns="0" anchor="t" anchorCtr="0">
            <a:spAutoFit/>
          </a:bodyPr>
          <a:lstStyle/>
          <a:p>
            <a:pPr algn="l"/>
            <a:r>
              <a:rPr lang="zh-CN" sz="2180" b="1" dirty="0">
                <a:solidFill>
                  <a:srgbClr val="FFFFFF"/>
                </a:solidFill>
                <a:latin typeface="Microsoft YaHei"/>
                <a:ea typeface="Microsoft YaHei"/>
                <a:cs typeface="Microsoft YaHei"/>
              </a:rPr>
              <a:t>统一有效客户端集合</a:t>
            </a:r>
          </a:p>
        </p:txBody>
      </p:sp>
      <p:sp>
        <p:nvSpPr>
          <p:cNvPr id="14" name="TextBox 14"/>
          <p:cNvSpPr txBox="1"/>
          <p:nvPr/>
        </p:nvSpPr>
        <p:spPr>
          <a:xfrm>
            <a:off x="1287018" y="3969691"/>
            <a:ext cx="2695194" cy="440055"/>
          </a:xfrm>
          <a:prstGeom prst="rect">
            <a:avLst/>
          </a:prstGeom>
          <a:noFill/>
          <a:ln>
            <a:noFill/>
          </a:ln>
        </p:spPr>
        <p:txBody>
          <a:bodyPr wrap="none" lIns="0" tIns="0" rIns="0" bIns="0" anchor="t" anchorCtr="0">
            <a:spAutoFit/>
          </a:bodyPr>
          <a:lstStyle/>
          <a:p>
            <a:pPr algn="l"/>
            <a:r>
              <a:rPr lang="en-US" sz="2250" dirty="0">
                <a:solidFill>
                  <a:srgbClr val="203864"/>
                </a:solidFill>
                <a:latin typeface="Cambria Math"/>
                <a:ea typeface="Cambria Math"/>
                <a:cs typeface="Cambria Math"/>
              </a:rPr>
              <a:t>V₁ = {P₁, P₂, P₃}</a:t>
            </a:r>
          </a:p>
        </p:txBody>
      </p:sp>
      <p:sp>
        <p:nvSpPr>
          <p:cNvPr id="15" name="TextBox 15"/>
          <p:cNvSpPr txBox="1"/>
          <p:nvPr/>
        </p:nvSpPr>
        <p:spPr>
          <a:xfrm>
            <a:off x="3682279" y="3969690"/>
            <a:ext cx="2071116" cy="440055"/>
          </a:xfrm>
          <a:prstGeom prst="rect">
            <a:avLst/>
          </a:prstGeom>
          <a:noFill/>
          <a:ln>
            <a:noFill/>
          </a:ln>
        </p:spPr>
        <p:txBody>
          <a:bodyPr wrap="none" lIns="0" tIns="0" rIns="0" bIns="0" anchor="t" anchorCtr="0">
            <a:spAutoFit/>
          </a:bodyPr>
          <a:lstStyle/>
          <a:p>
            <a:pPr algn="l"/>
            <a:r>
              <a:rPr lang="en-US" sz="2250" dirty="0">
                <a:solidFill>
                  <a:srgbClr val="203864"/>
                </a:solidFill>
                <a:latin typeface="Cambria Math"/>
                <a:ea typeface="Cambria Math"/>
                <a:cs typeface="Cambria Math"/>
              </a:rPr>
              <a:t>V₂ = {P₁, P₂}</a:t>
            </a:r>
          </a:p>
        </p:txBody>
      </p:sp>
      <p:sp>
        <p:nvSpPr>
          <p:cNvPr id="16" name="TextBox 16"/>
          <p:cNvSpPr txBox="1"/>
          <p:nvPr/>
        </p:nvSpPr>
        <p:spPr>
          <a:xfrm>
            <a:off x="1287018" y="4474792"/>
            <a:ext cx="2686633" cy="346249"/>
          </a:xfrm>
          <a:prstGeom prst="rect">
            <a:avLst/>
          </a:prstGeom>
          <a:noFill/>
          <a:ln>
            <a:noFill/>
          </a:ln>
        </p:spPr>
        <p:txBody>
          <a:bodyPr wrap="none" lIns="0" tIns="0" rIns="0" bIns="0" anchor="t" anchorCtr="0">
            <a:spAutoFit/>
          </a:bodyPr>
          <a:lstStyle/>
          <a:p>
            <a:pPr algn="l"/>
            <a:r>
              <a:rPr lang="en-US" sz="2250" dirty="0">
                <a:solidFill>
                  <a:srgbClr val="203864"/>
                </a:solidFill>
                <a:latin typeface="Cambria Math"/>
                <a:ea typeface="Cambria Math"/>
                <a:cs typeface="Cambria Math"/>
              </a:rPr>
              <a:t>V₃ = </a:t>
            </a:r>
            <a:r>
              <a:rPr lang="zh-CN" altLang="en-US" sz="2000" dirty="0">
                <a:solidFill>
                  <a:srgbClr val="203864"/>
                </a:solidFill>
                <a:latin typeface="Cambria Math"/>
                <a:ea typeface="Cambria Math"/>
                <a:cs typeface="Cambria Math"/>
              </a:rPr>
              <a:t>敌手可控任意集合</a:t>
            </a:r>
            <a:endParaRPr lang="en-US" sz="2250" dirty="0">
              <a:solidFill>
                <a:srgbClr val="203864"/>
              </a:solidFill>
              <a:latin typeface="Cambria Math"/>
              <a:ea typeface="Cambria Math"/>
              <a:cs typeface="Cambria Math"/>
            </a:endParaRPr>
          </a:p>
        </p:txBody>
      </p:sp>
      <p:sp>
        <p:nvSpPr>
          <p:cNvPr id="17" name="TextBox 17"/>
          <p:cNvSpPr txBox="1"/>
          <p:nvPr/>
        </p:nvSpPr>
        <p:spPr>
          <a:xfrm>
            <a:off x="1287018" y="5118026"/>
            <a:ext cx="4466377" cy="597087"/>
          </a:xfrm>
          <a:prstGeom prst="rect">
            <a:avLst/>
          </a:prstGeom>
          <a:noFill/>
          <a:ln>
            <a:noFill/>
          </a:ln>
        </p:spPr>
        <p:txBody>
          <a:bodyPr wrap="square" lIns="0" tIns="0" rIns="0" bIns="0" anchor="t" anchorCtr="0">
            <a:spAutoFit/>
          </a:bodyPr>
          <a:lstStyle/>
          <a:p>
            <a:pPr>
              <a:lnSpc>
                <a:spcPct val="125000"/>
              </a:lnSpc>
            </a:pPr>
            <a:r>
              <a:rPr lang="zh-CN" sz="1650" dirty="0">
                <a:solidFill>
                  <a:srgbClr val="24364A"/>
                </a:solidFill>
                <a:latin typeface="Microsoft YaHei"/>
                <a:ea typeface="Microsoft YaHei"/>
                <a:cs typeface="Microsoft YaHei"/>
              </a:rPr>
              <a:t>P₃、H₃ </a:t>
            </a:r>
            <a:r>
              <a:rPr lang="zh-CN" altLang="en-US" sz="1650" dirty="0">
                <a:solidFill>
                  <a:srgbClr val="24364A"/>
                </a:solidFill>
                <a:latin typeface="Microsoft YaHei"/>
                <a:ea typeface="Microsoft YaHei"/>
                <a:cs typeface="Microsoft YaHei"/>
              </a:rPr>
              <a:t>为</a:t>
            </a:r>
            <a:r>
              <a:rPr lang="zh-CN" sz="1650" dirty="0">
                <a:solidFill>
                  <a:srgbClr val="24364A"/>
                </a:solidFill>
                <a:latin typeface="Microsoft YaHei"/>
                <a:ea typeface="Microsoft YaHei"/>
                <a:cs typeface="Microsoft YaHei"/>
              </a:rPr>
              <a:t>恶意</a:t>
            </a:r>
            <a:r>
              <a:rPr lang="zh-CN" altLang="en-US" sz="1650" dirty="0">
                <a:solidFill>
                  <a:srgbClr val="24364A"/>
                </a:solidFill>
                <a:latin typeface="Microsoft YaHei"/>
                <a:ea typeface="Microsoft YaHei"/>
                <a:cs typeface="Microsoft YaHei"/>
              </a:rPr>
              <a:t>方</a:t>
            </a:r>
            <a:r>
              <a:rPr lang="zh-CN" sz="1650" dirty="0">
                <a:solidFill>
                  <a:srgbClr val="24364A"/>
                </a:solidFill>
                <a:latin typeface="Microsoft YaHei"/>
                <a:ea typeface="Microsoft YaHei"/>
                <a:cs typeface="Microsoft YaHei"/>
              </a:rPr>
              <a:t>：</a:t>
            </a:r>
            <a:r>
              <a:rPr lang="zh-CN" altLang="zh-CN" sz="1600" dirty="0"/>
              <a:t>不同解密者得到的有效客户端集合不一致， 破坏协议预设的安全阈值条件。</a:t>
            </a:r>
            <a:endParaRPr lang="zh-CN" sz="1650" dirty="0">
              <a:solidFill>
                <a:srgbClr val="24364A"/>
              </a:solidFill>
              <a:latin typeface="Microsoft YaHei"/>
              <a:ea typeface="Microsoft YaHei"/>
              <a:cs typeface="Microsoft YaHei"/>
            </a:endParaRPr>
          </a:p>
        </p:txBody>
      </p:sp>
      <p:sp>
        <p:nvSpPr>
          <p:cNvPr id="18" name="TextBox 18"/>
          <p:cNvSpPr txBox="1"/>
          <p:nvPr/>
        </p:nvSpPr>
        <p:spPr>
          <a:xfrm>
            <a:off x="7301440" y="2230804"/>
            <a:ext cx="2906245" cy="2783262"/>
          </a:xfrm>
          <a:prstGeom prst="rect">
            <a:avLst/>
          </a:prstGeom>
          <a:noFill/>
          <a:ln>
            <a:noFill/>
          </a:ln>
        </p:spPr>
        <p:txBody>
          <a:bodyPr wrap="none" lIns="0" tIns="0" rIns="0" bIns="0" anchor="t" anchorCtr="0">
            <a:spAutoFit/>
          </a:bodyPr>
          <a:lstStyle/>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解密者检测非法 share</a:t>
            </a:r>
            <a:endParaRPr lang="en-US" altLang="zh-CN" dirty="0">
              <a:solidFill>
                <a:srgbClr val="FFFFFF"/>
              </a:solidFill>
              <a:latin typeface="Microsoft YaHei"/>
              <a:ea typeface="Microsoft YaHei"/>
              <a:cs typeface="Microsoft YaHei"/>
            </a:endParaRPr>
          </a:p>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提交可验证的 complaint</a:t>
            </a:r>
            <a:endParaRPr lang="en-US" altLang="zh-CN" dirty="0">
              <a:solidFill>
                <a:srgbClr val="FFFFFF"/>
              </a:solidFill>
              <a:latin typeface="Microsoft YaHei"/>
              <a:ea typeface="Microsoft YaHei"/>
              <a:cs typeface="Microsoft YaHei"/>
            </a:endParaRPr>
          </a:p>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Server 核验投诉证据</a:t>
            </a:r>
            <a:endParaRPr lang="en-US" altLang="zh-CN" dirty="0">
              <a:solidFill>
                <a:srgbClr val="FFFFFF"/>
              </a:solidFill>
              <a:latin typeface="Microsoft YaHei"/>
              <a:ea typeface="Microsoft YaHei"/>
              <a:cs typeface="Microsoft YaHei"/>
            </a:endParaRPr>
          </a:p>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广播坏客户端集合 B</a:t>
            </a:r>
            <a:endParaRPr lang="en-US" altLang="zh-CN" dirty="0">
              <a:solidFill>
                <a:srgbClr val="FFFFFF"/>
              </a:solidFill>
              <a:latin typeface="Microsoft YaHei"/>
              <a:ea typeface="Microsoft YaHei"/>
              <a:cs typeface="Microsoft YaHei"/>
            </a:endParaRPr>
          </a:p>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诚实解密者统一排除 B</a:t>
            </a:r>
            <a:endParaRPr lang="en-US" altLang="zh-CN" sz="1800" dirty="0">
              <a:solidFill>
                <a:srgbClr val="FFFFFF"/>
              </a:solidFill>
              <a:latin typeface="Microsoft YaHei"/>
              <a:ea typeface="Microsoft YaHei"/>
              <a:cs typeface="Microsoft YaHei"/>
            </a:endParaRPr>
          </a:p>
          <a:p>
            <a:pPr marL="342900" indent="-342900" algn="l">
              <a:lnSpc>
                <a:spcPts val="3675"/>
              </a:lnSpc>
              <a:buFont typeface="+mj-lt"/>
              <a:buAutoNum type="arabicPeriod"/>
            </a:pPr>
            <a:r>
              <a:rPr lang="zh-CN" sz="1800" dirty="0">
                <a:solidFill>
                  <a:srgbClr val="FFFFFF"/>
                </a:solidFill>
                <a:latin typeface="Microsoft YaHei"/>
                <a:ea typeface="Microsoft YaHei"/>
                <a:cs typeface="Microsoft YaHei"/>
              </a:rPr>
              <a:t>纠错重构总密钥</a:t>
            </a:r>
          </a:p>
        </p:txBody>
      </p:sp>
      <p:pic>
        <p:nvPicPr>
          <p:cNvPr id="21" name="图片 20">
            <a:extLst>
              <a:ext uri="{FF2B5EF4-FFF2-40B4-BE49-F238E27FC236}">
                <a16:creationId xmlns:a16="http://schemas.microsoft.com/office/drawing/2014/main" id="{A5D9BD95-6387-424D-3627-941CF34472DB}"/>
              </a:ext>
            </a:extLst>
          </p:cNvPr>
          <p:cNvPicPr>
            <a:picLocks noChangeAspect="1"/>
          </p:cNvPicPr>
          <p:nvPr/>
        </p:nvPicPr>
        <p:blipFill>
          <a:blip r:embed="rId3">
            <a:extLst>
              <a:ext uri="{28A0092B-C50C-407E-A947-70E740481C1C}">
                <a14:useLocalDpi xmlns:a14="http://schemas.microsoft.com/office/drawing/2010/main" val="0"/>
              </a:ext>
            </a:extLst>
          </a:blip>
          <a:srcRect b="5908"/>
          <a:stretch>
            <a:fillRect/>
          </a:stretch>
        </p:blipFill>
        <p:spPr>
          <a:xfrm>
            <a:off x="1287018" y="1552083"/>
            <a:ext cx="5247430" cy="2243066"/>
          </a:xfrm>
          <a:prstGeom prst="rect">
            <a:avLst/>
          </a:prstGeom>
        </p:spPr>
      </p:pic>
    </p:spTree>
    <p:extLst>
      <p:ext uri="{BB962C8B-B14F-4D97-AF65-F5344CB8AC3E}">
        <p14:creationId xmlns:p14="http://schemas.microsoft.com/office/powerpoint/2010/main" val="33279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1836039" y="2037207"/>
            <a:ext cx="3835718" cy="3993643"/>
            <a:chOff x="1836039" y="2037207"/>
            <a:chExt cx="3835718" cy="3993643"/>
          </a:xfrm>
        </p:grpSpPr>
        <p:sp>
          <p:nvSpPr>
            <p:cNvPr id="2" name="shape-58"/>
            <p:cNvSpPr/>
            <p:nvPr/>
          </p:nvSpPr>
          <p:spPr>
            <a:xfrm>
              <a:off x="1836039" y="2165318"/>
              <a:ext cx="3835718" cy="3615214"/>
            </a:xfrm>
            <a:prstGeom prst="rect">
              <a:avLst/>
            </a:prstGeom>
            <a:solidFill>
              <a:srgbClr val="F2F2F2"/>
            </a:solidFill>
            <a:ln w="9525">
              <a:solidFill>
                <a:srgbClr val="C5C3C3"/>
              </a:solidFill>
            </a:ln>
          </p:spPr>
        </p:sp>
        <p:sp>
          <p:nvSpPr>
            <p:cNvPr id="99" name="shape-59"/>
            <p:cNvSpPr/>
            <p:nvPr/>
          </p:nvSpPr>
          <p:spPr>
            <a:xfrm>
              <a:off x="1977962" y="2037207"/>
              <a:ext cx="3562160" cy="127921"/>
            </a:xfrm>
            <a:custGeom>
              <a:avLst/>
              <a:gdLst/>
              <a:ahLst/>
              <a:cxnLst/>
              <a:rect l="l" t="t" r="r" b="b"/>
              <a:pathLst>
                <a:path w="3562160" h="127921">
                  <a:moveTo>
                    <a:pt x="239649" y="0"/>
                  </a:moveTo>
                  <a:lnTo>
                    <a:pt x="3335941" y="0"/>
                  </a:lnTo>
                  <a:lnTo>
                    <a:pt x="3562160" y="127921"/>
                  </a:lnTo>
                  <a:lnTo>
                    <a:pt x="0" y="127921"/>
                  </a:lnTo>
                  <a:lnTo>
                    <a:pt x="239649" y="0"/>
                  </a:lnTo>
                  <a:close/>
                </a:path>
              </a:pathLst>
            </a:custGeom>
            <a:solidFill>
              <a:srgbClr val="41464A"/>
            </a:solidFill>
            <a:ln>
              <a:noFill/>
            </a:ln>
          </p:spPr>
        </p:sp>
        <p:sp>
          <p:nvSpPr>
            <p:cNvPr id="100" name="shape-95"/>
            <p:cNvSpPr/>
            <p:nvPr/>
          </p:nvSpPr>
          <p:spPr>
            <a:xfrm>
              <a:off x="221589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8" name="shape-96"/>
            <p:cNvSpPr/>
            <p:nvPr/>
          </p:nvSpPr>
          <p:spPr>
            <a:xfrm>
              <a:off x="2806446" y="2207514"/>
              <a:ext cx="1915954" cy="497967"/>
            </a:xfrm>
            <a:prstGeom prst="rect">
              <a:avLst/>
            </a:prstGeom>
            <a:noFill/>
            <a:ln>
              <a:noFill/>
            </a:ln>
          </p:spPr>
        </p:sp>
        <p:sp>
          <p:nvSpPr>
            <p:cNvPr id="9" name="Freeform 9"/>
            <p:cNvSpPr/>
            <p:nvPr/>
          </p:nvSpPr>
          <p:spPr>
            <a:xfrm>
              <a:off x="221589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98" name="组合 97"/>
          <p:cNvGrpSpPr/>
          <p:nvPr/>
        </p:nvGrpSpPr>
        <p:grpSpPr>
          <a:xfrm>
            <a:off x="6432709" y="2037207"/>
            <a:ext cx="3835718" cy="3993643"/>
            <a:chOff x="6432709" y="2037207"/>
            <a:chExt cx="3835718" cy="3993643"/>
          </a:xfrm>
        </p:grpSpPr>
        <p:sp>
          <p:nvSpPr>
            <p:cNvPr id="10" name="shape-99"/>
            <p:cNvSpPr/>
            <p:nvPr/>
          </p:nvSpPr>
          <p:spPr>
            <a:xfrm>
              <a:off x="6432709" y="2165318"/>
              <a:ext cx="3835718" cy="3615214"/>
            </a:xfrm>
            <a:prstGeom prst="rect">
              <a:avLst/>
            </a:prstGeom>
            <a:solidFill>
              <a:srgbClr val="F2F2F2"/>
            </a:solidFill>
            <a:ln w="9525">
              <a:solidFill>
                <a:srgbClr val="C5C3C3"/>
              </a:solidFill>
            </a:ln>
          </p:spPr>
        </p:sp>
        <p:sp>
          <p:nvSpPr>
            <p:cNvPr id="11" name="shape-100"/>
            <p:cNvSpPr/>
            <p:nvPr/>
          </p:nvSpPr>
          <p:spPr>
            <a:xfrm>
              <a:off x="6574631" y="2037207"/>
              <a:ext cx="3562255" cy="127921"/>
            </a:xfrm>
            <a:custGeom>
              <a:avLst/>
              <a:gdLst/>
              <a:ahLst/>
              <a:cxnLst/>
              <a:rect l="l" t="t" r="r" b="b"/>
              <a:pathLst>
                <a:path w="3562255" h="127921">
                  <a:moveTo>
                    <a:pt x="239649" y="0"/>
                  </a:moveTo>
                  <a:lnTo>
                    <a:pt x="3336036" y="0"/>
                  </a:lnTo>
                  <a:lnTo>
                    <a:pt x="3562255" y="127921"/>
                  </a:lnTo>
                  <a:lnTo>
                    <a:pt x="0" y="127921"/>
                  </a:lnTo>
                  <a:lnTo>
                    <a:pt x="239649" y="0"/>
                  </a:lnTo>
                  <a:close/>
                </a:path>
              </a:pathLst>
            </a:custGeom>
            <a:solidFill>
              <a:srgbClr val="41464A"/>
            </a:solidFill>
            <a:ln>
              <a:noFill/>
            </a:ln>
          </p:spPr>
        </p:sp>
        <p:sp>
          <p:nvSpPr>
            <p:cNvPr id="12" name="shape-101"/>
            <p:cNvSpPr/>
            <p:nvPr/>
          </p:nvSpPr>
          <p:spPr>
            <a:xfrm>
              <a:off x="681256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13" name="shape-102"/>
            <p:cNvSpPr/>
            <p:nvPr/>
          </p:nvSpPr>
          <p:spPr>
            <a:xfrm>
              <a:off x="7403211" y="2207514"/>
              <a:ext cx="1915954" cy="497967"/>
            </a:xfrm>
            <a:prstGeom prst="rect">
              <a:avLst/>
            </a:prstGeom>
            <a:noFill/>
            <a:ln>
              <a:noFill/>
            </a:ln>
          </p:spPr>
        </p:sp>
        <p:sp>
          <p:nvSpPr>
            <p:cNvPr id="14" name="Freeform 14"/>
            <p:cNvSpPr/>
            <p:nvPr/>
          </p:nvSpPr>
          <p:spPr>
            <a:xfrm>
              <a:off x="681256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3" name="组合 2">
            <a:extLst>
              <a:ext uri="{FF2B5EF4-FFF2-40B4-BE49-F238E27FC236}">
                <a16:creationId xmlns:a16="http://schemas.microsoft.com/office/drawing/2014/main" id="{6585D9A8-CD27-667A-DDDF-710A03F80F0C}"/>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C30772D0-2FC8-BED1-151E-64C672212CC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AAB09C36-0CE8-37C2-7214-27833B6F10E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E1B4035E-E6C4-0ABE-E300-FD1FA32E18F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Input Validation：限制输入域</a:t>
            </a:r>
          </a:p>
        </p:txBody>
      </p:sp>
      <p:grpSp>
        <p:nvGrpSpPr>
          <p:cNvPr id="20" name="page-footer"/>
          <p:cNvGrpSpPr/>
          <p:nvPr/>
        </p:nvGrpSpPr>
        <p:grpSpPr>
          <a:xfrm>
            <a:off x="1194816" y="6426200"/>
            <a:ext cx="9954768" cy="205359"/>
            <a:chOff x="1194816" y="6426200"/>
            <a:chExt cx="9954768" cy="205359"/>
          </a:xfrm>
        </p:grpSpPr>
        <p:sp>
          <p:nvSpPr>
            <p:cNvPr id="18" name="TextBox 1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9" name="TextBox 1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17 / 23</a:t>
              </a:r>
            </a:p>
          </p:txBody>
        </p:sp>
      </p:grpSp>
      <p:grpSp>
        <p:nvGrpSpPr>
          <p:cNvPr id="22" name="page-lead"/>
          <p:cNvGrpSpPr/>
          <p:nvPr/>
        </p:nvGrpSpPr>
        <p:grpSpPr>
          <a:xfrm>
            <a:off x="1190625" y="1333500"/>
            <a:ext cx="6117059" cy="289310"/>
            <a:chOff x="1190625" y="1333500"/>
            <a:chExt cx="6117059" cy="289310"/>
          </a:xfrm>
        </p:grpSpPr>
        <p:sp>
          <p:nvSpPr>
            <p:cNvPr id="21" name="TextBox 21"/>
            <p:cNvSpPr txBox="1"/>
            <p:nvPr/>
          </p:nvSpPr>
          <p:spPr>
            <a:xfrm>
              <a:off x="1190625" y="1333500"/>
              <a:ext cx="6117059"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协议行为正确，不代表模型更新在机器学习意义上良性</a:t>
              </a:r>
            </a:p>
          </p:txBody>
        </p:sp>
      </p:grpSp>
      <p:grpSp>
        <p:nvGrpSpPr>
          <p:cNvPr id="33" name="panel-content"/>
          <p:cNvGrpSpPr/>
          <p:nvPr/>
        </p:nvGrpSpPr>
        <p:grpSpPr>
          <a:xfrm>
            <a:off x="2200275" y="2133016"/>
            <a:ext cx="7421178" cy="3341510"/>
            <a:chOff x="2200275" y="2133016"/>
            <a:chExt cx="7421178" cy="3341510"/>
          </a:xfrm>
        </p:grpSpPr>
        <p:sp>
          <p:nvSpPr>
            <p:cNvPr id="23" name="TextBox 23"/>
            <p:cNvSpPr txBox="1"/>
            <p:nvPr/>
          </p:nvSpPr>
          <p:spPr>
            <a:xfrm>
              <a:off x="3104540" y="2134053"/>
              <a:ext cx="1332224"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cs typeface="Microsoft YaHei"/>
                </a:rPr>
                <a:t>Robustness</a:t>
              </a:r>
            </a:p>
            <a:p>
              <a:pPr algn="ctr"/>
              <a:r>
                <a:rPr lang="zh-CN" altLang="en-US" b="1" dirty="0">
                  <a:solidFill>
                    <a:srgbClr val="FFFFFF"/>
                  </a:solidFill>
                  <a:latin typeface="Microsoft YaHei"/>
                  <a:ea typeface="Microsoft YaHei"/>
                  <a:cs typeface="Microsoft YaHei"/>
                </a:rPr>
                <a:t>鲁棒性</a:t>
              </a:r>
              <a:endParaRPr lang="en-US" b="1" dirty="0">
                <a:solidFill>
                  <a:srgbClr val="FFFFFF"/>
                </a:solidFill>
                <a:latin typeface="Microsoft YaHei"/>
                <a:ea typeface="Microsoft YaHei"/>
                <a:cs typeface="Microsoft YaHei"/>
              </a:endParaRPr>
            </a:p>
          </p:txBody>
        </p:sp>
        <p:sp>
          <p:nvSpPr>
            <p:cNvPr id="24" name="TextBox 24"/>
            <p:cNvSpPr txBox="1"/>
            <p:nvPr/>
          </p:nvSpPr>
          <p:spPr>
            <a:xfrm>
              <a:off x="7100827" y="2133016"/>
              <a:ext cx="2520626"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rPr>
                <a:t>Disruption Resistance</a:t>
              </a:r>
            </a:p>
            <a:p>
              <a:pPr algn="ctr"/>
              <a:r>
                <a:rPr lang="zh-CN" altLang="en-US" b="1" dirty="0">
                  <a:solidFill>
                    <a:srgbClr val="FFFFFF"/>
                  </a:solidFill>
                  <a:latin typeface="Microsoft YaHei"/>
                  <a:ea typeface="Microsoft YaHei"/>
                </a:rPr>
                <a:t>抗破坏性</a:t>
              </a:r>
              <a:endParaRPr lang="en-US" b="1" dirty="0">
                <a:solidFill>
                  <a:srgbClr val="FFFFFF"/>
                </a:solidFill>
                <a:latin typeface="Microsoft YaHei"/>
                <a:ea typeface="Microsoft YaHei"/>
              </a:endParaRPr>
            </a:p>
          </p:txBody>
        </p:sp>
        <p:sp>
          <p:nvSpPr>
            <p:cNvPr id="25" name="TextBox 25"/>
            <p:cNvSpPr txBox="1"/>
            <p:nvPr/>
          </p:nvSpPr>
          <p:spPr>
            <a:xfrm>
              <a:off x="2200275" y="3003550"/>
              <a:ext cx="2884170" cy="705802"/>
            </a:xfrm>
            <a:prstGeom prst="rect">
              <a:avLst/>
            </a:prstGeom>
            <a:noFill/>
            <a:ln>
              <a:noFill/>
            </a:ln>
          </p:spPr>
          <p:txBody>
            <a:bodyPr wrap="none" lIns="0" tIns="0" rIns="0" bIns="0" anchor="t" anchorCtr="0">
              <a:spAutoFit/>
            </a:bodyPr>
            <a:lstStyle/>
            <a:p>
              <a:pPr algn="l">
                <a:lnSpc>
                  <a:spcPts val="2662"/>
                </a:lnSpc>
              </a:pPr>
              <a:r>
                <a:rPr lang="zh-CN" sz="1880" dirty="0">
                  <a:solidFill>
                    <a:srgbClr val="24364A"/>
                  </a:solidFill>
                  <a:latin typeface="Microsoft YaHei"/>
                  <a:ea typeface="Microsoft YaHei"/>
                  <a:cs typeface="Microsoft YaHei"/>
                </a:rPr>
                <a:t>恶意客户端的影响</a:t>
              </a:r>
              <a:br>
                <a:rPr lang="zh-CN" sz="1880" dirty="0">
                  <a:solidFill>
                    <a:srgbClr val="24364A"/>
                  </a:solidFill>
                  <a:latin typeface="Microsoft YaHei"/>
                  <a:ea typeface="Microsoft YaHei"/>
                  <a:cs typeface="Microsoft YaHei"/>
                </a:rPr>
              </a:br>
              <a:r>
                <a:rPr lang="zh-CN" sz="1880" dirty="0">
                  <a:solidFill>
                    <a:srgbClr val="24364A"/>
                  </a:solidFill>
                  <a:latin typeface="Microsoft YaHei"/>
                  <a:ea typeface="Microsoft YaHei"/>
                  <a:cs typeface="Microsoft YaHei"/>
                </a:rPr>
                <a:t>必须等价于选择了某个输入</a:t>
              </a:r>
            </a:p>
          </p:txBody>
        </p:sp>
        <p:sp>
          <p:nvSpPr>
            <p:cNvPr id="26" name="TextBox 26"/>
            <p:cNvSpPr txBox="1"/>
            <p:nvPr/>
          </p:nvSpPr>
          <p:spPr>
            <a:xfrm>
              <a:off x="2200275" y="4232275"/>
              <a:ext cx="2406650" cy="705802"/>
            </a:xfrm>
            <a:prstGeom prst="rect">
              <a:avLst/>
            </a:prstGeom>
            <a:noFill/>
            <a:ln>
              <a:noFill/>
            </a:ln>
          </p:spPr>
          <p:txBody>
            <a:bodyPr wrap="none" lIns="0" tIns="0" rIns="0" bIns="0" anchor="t" anchorCtr="0">
              <a:spAutoFit/>
            </a:bodyPr>
            <a:lstStyle/>
            <a:p>
              <a:pPr algn="l">
                <a:lnSpc>
                  <a:spcPts val="2662"/>
                </a:lnSpc>
              </a:pPr>
              <a:r>
                <a:rPr lang="zh-CN" sz="1880" b="1" dirty="0">
                  <a:solidFill>
                    <a:srgbClr val="203864"/>
                  </a:solidFill>
                  <a:latin typeface="Microsoft YaHei"/>
                  <a:ea typeface="Microsoft YaHei"/>
                  <a:cs typeface="Microsoft YaHei"/>
                </a:rPr>
                <a:t>但输入仍可能异常</a:t>
              </a:r>
              <a:br>
                <a:rPr lang="zh-CN" sz="1880" b="1" dirty="0">
                  <a:solidFill>
                    <a:srgbClr val="203864"/>
                  </a:solidFill>
                  <a:latin typeface="Microsoft YaHei"/>
                  <a:ea typeface="Microsoft YaHei"/>
                  <a:cs typeface="Microsoft YaHei"/>
                </a:rPr>
              </a:br>
              <a:r>
                <a:rPr lang="zh-CN" sz="1880" b="1" dirty="0">
                  <a:solidFill>
                    <a:srgbClr val="203864"/>
                  </a:solidFill>
                  <a:latin typeface="Microsoft YaHei"/>
                  <a:ea typeface="Microsoft YaHei"/>
                  <a:cs typeface="Microsoft YaHei"/>
                </a:rPr>
                <a:t>需要进一步定义合法域</a:t>
              </a:r>
            </a:p>
          </p:txBody>
        </p:sp>
        <p:sp>
          <p:nvSpPr>
            <p:cNvPr id="27" name="TextBox 27"/>
            <p:cNvSpPr txBox="1"/>
            <p:nvPr/>
          </p:nvSpPr>
          <p:spPr>
            <a:xfrm>
              <a:off x="6807708" y="2917825"/>
              <a:ext cx="1692771" cy="369332"/>
            </a:xfrm>
            <a:prstGeom prst="rect">
              <a:avLst/>
            </a:prstGeom>
            <a:noFill/>
            <a:ln>
              <a:noFill/>
            </a:ln>
          </p:spPr>
          <p:txBody>
            <a:bodyPr wrap="none" lIns="0" tIns="0" rIns="0" bIns="0" anchor="t" anchorCtr="0">
              <a:spAutoFit/>
            </a:bodyPr>
            <a:lstStyle/>
            <a:p>
              <a:pPr marL="342900" indent="-342900" algn="l">
                <a:buFont typeface="Arial" panose="020B0604020202020204" pitchFamily="34" charset="0"/>
                <a:buChar char="•"/>
              </a:pPr>
              <a:r>
                <a:rPr lang="en-US" sz="2400" dirty="0">
                  <a:solidFill>
                    <a:srgbClr val="203864"/>
                  </a:solidFill>
                  <a:latin typeface="Cambria Math"/>
                  <a:ea typeface="Cambria Math"/>
                  <a:cs typeface="Cambria Math"/>
                </a:rPr>
                <a:t>‖xᵢ‖₂ &lt; B₂</a:t>
              </a:r>
            </a:p>
          </p:txBody>
        </p:sp>
        <p:sp>
          <p:nvSpPr>
            <p:cNvPr id="28" name="TextBox 28"/>
            <p:cNvSpPr txBox="1"/>
            <p:nvPr/>
          </p:nvSpPr>
          <p:spPr>
            <a:xfrm>
              <a:off x="6811137" y="3336925"/>
              <a:ext cx="1869897" cy="337376"/>
            </a:xfrm>
            <a:prstGeom prst="rect">
              <a:avLst/>
            </a:prstGeom>
            <a:noFill/>
            <a:ln>
              <a:noFill/>
            </a:ln>
          </p:spPr>
          <p:txBody>
            <a:bodyPr wrap="none" lIns="0" tIns="0" rIns="0" bIns="0" anchor="t" anchorCtr="0">
              <a:spAutoFit/>
            </a:bodyPr>
            <a:lstStyle/>
            <a:p>
              <a:pPr algn="l"/>
              <a:r>
                <a:rPr lang="zh-CN" sz="1720" dirty="0">
                  <a:solidFill>
                    <a:srgbClr val="24364A"/>
                  </a:solidFill>
                  <a:latin typeface="Microsoft YaHei"/>
                  <a:ea typeface="Microsoft YaHei"/>
                  <a:cs typeface="Microsoft YaHei"/>
                </a:rPr>
                <a:t>限制整体更新幅度</a:t>
              </a:r>
            </a:p>
          </p:txBody>
        </p:sp>
        <p:sp>
          <p:nvSpPr>
            <p:cNvPr id="29" name="TextBox 29"/>
            <p:cNvSpPr txBox="1"/>
            <p:nvPr/>
          </p:nvSpPr>
          <p:spPr>
            <a:xfrm>
              <a:off x="6807708" y="3813175"/>
              <a:ext cx="1965282" cy="369332"/>
            </a:xfrm>
            <a:prstGeom prst="rect">
              <a:avLst/>
            </a:prstGeom>
            <a:noFill/>
            <a:ln>
              <a:noFill/>
            </a:ln>
          </p:spPr>
          <p:txBody>
            <a:bodyPr wrap="none" lIns="0" tIns="0" rIns="0" bIns="0" anchor="t" anchorCtr="0">
              <a:spAutoFit/>
            </a:bodyPr>
            <a:lstStyle/>
            <a:p>
              <a:pPr marL="342900" indent="-342900" algn="l">
                <a:buFont typeface="Arial" panose="020B0604020202020204" pitchFamily="34" charset="0"/>
                <a:buChar char="•"/>
              </a:pPr>
              <a:r>
                <a:rPr lang="en-US" sz="2400" dirty="0">
                  <a:solidFill>
                    <a:srgbClr val="203864"/>
                  </a:solidFill>
                  <a:latin typeface="Cambria Math"/>
                  <a:ea typeface="Cambria Math"/>
                  <a:cs typeface="Cambria Math"/>
                </a:rPr>
                <a:t>‖xᵢ‖∞ &lt; B∞</a:t>
              </a:r>
            </a:p>
          </p:txBody>
        </p:sp>
        <p:sp>
          <p:nvSpPr>
            <p:cNvPr id="30" name="TextBox 30"/>
            <p:cNvSpPr txBox="1"/>
            <p:nvPr/>
          </p:nvSpPr>
          <p:spPr>
            <a:xfrm>
              <a:off x="6811137" y="4232275"/>
              <a:ext cx="2332990" cy="337376"/>
            </a:xfrm>
            <a:prstGeom prst="rect">
              <a:avLst/>
            </a:prstGeom>
            <a:noFill/>
            <a:ln>
              <a:noFill/>
            </a:ln>
          </p:spPr>
          <p:txBody>
            <a:bodyPr wrap="none" lIns="0" tIns="0" rIns="0" bIns="0" anchor="t" anchorCtr="0">
              <a:spAutoFit/>
            </a:bodyPr>
            <a:lstStyle/>
            <a:p>
              <a:pPr algn="l"/>
              <a:r>
                <a:rPr lang="zh-CN" sz="1720" dirty="0">
                  <a:solidFill>
                    <a:srgbClr val="24364A"/>
                  </a:solidFill>
                  <a:latin typeface="Microsoft YaHei"/>
                  <a:ea typeface="Microsoft YaHei"/>
                  <a:cs typeface="Microsoft YaHei"/>
                </a:rPr>
                <a:t>限制单个坐标的极端值</a:t>
              </a:r>
            </a:p>
          </p:txBody>
        </p:sp>
        <p:sp>
          <p:nvSpPr>
            <p:cNvPr id="31" name="TextBox 31"/>
            <p:cNvSpPr txBox="1"/>
            <p:nvPr/>
          </p:nvSpPr>
          <p:spPr>
            <a:xfrm>
              <a:off x="6807708" y="4708525"/>
              <a:ext cx="1817805" cy="369332"/>
            </a:xfrm>
            <a:prstGeom prst="rect">
              <a:avLst/>
            </a:prstGeom>
            <a:noFill/>
            <a:ln>
              <a:noFill/>
            </a:ln>
          </p:spPr>
          <p:txBody>
            <a:bodyPr wrap="none" lIns="0" tIns="0" rIns="0" bIns="0" anchor="t" anchorCtr="0">
              <a:spAutoFit/>
            </a:bodyPr>
            <a:lstStyle/>
            <a:p>
              <a:pPr marL="342900" indent="-342900" algn="l">
                <a:buFont typeface="Arial" panose="020B0604020202020204" pitchFamily="34" charset="0"/>
                <a:buChar char="•"/>
              </a:pPr>
              <a:r>
                <a:rPr lang="en-US" sz="2400" dirty="0">
                  <a:solidFill>
                    <a:srgbClr val="203864"/>
                  </a:solidFill>
                  <a:latin typeface="Cambria Math"/>
                  <a:ea typeface="Cambria Math"/>
                  <a:cs typeface="Cambria Math"/>
                </a:rPr>
                <a:t>‖eᵢ‖∞ &lt; Bₑ</a:t>
              </a:r>
            </a:p>
          </p:txBody>
        </p:sp>
        <p:sp>
          <p:nvSpPr>
            <p:cNvPr id="32" name="TextBox 32"/>
            <p:cNvSpPr txBox="1"/>
            <p:nvPr/>
          </p:nvSpPr>
          <p:spPr>
            <a:xfrm>
              <a:off x="6811137" y="5137150"/>
              <a:ext cx="2564536" cy="337376"/>
            </a:xfrm>
            <a:prstGeom prst="rect">
              <a:avLst/>
            </a:prstGeom>
            <a:noFill/>
            <a:ln>
              <a:noFill/>
            </a:ln>
          </p:spPr>
          <p:txBody>
            <a:bodyPr wrap="none" lIns="0" tIns="0" rIns="0" bIns="0" anchor="t" anchorCtr="0">
              <a:spAutoFit/>
            </a:bodyPr>
            <a:lstStyle/>
            <a:p>
              <a:pPr algn="l"/>
              <a:r>
                <a:rPr lang="zh-CN" sz="1720" dirty="0">
                  <a:solidFill>
                    <a:srgbClr val="24364A"/>
                  </a:solidFill>
                  <a:latin typeface="Microsoft YaHei"/>
                  <a:ea typeface="Microsoft YaHei"/>
                  <a:cs typeface="Microsoft YaHei"/>
                </a:rPr>
                <a:t>同时约束噪声以保证解密</a:t>
              </a:r>
            </a:p>
          </p:txBody>
        </p:sp>
      </p:grpSp>
      <p:grpSp>
        <p:nvGrpSpPr>
          <p:cNvPr id="35" name="takeaway"/>
          <p:cNvGrpSpPr/>
          <p:nvPr/>
        </p:nvGrpSpPr>
        <p:grpSpPr>
          <a:xfrm>
            <a:off x="3453514" y="5956300"/>
            <a:ext cx="5284972" cy="264688"/>
            <a:chOff x="3453514" y="5956300"/>
            <a:chExt cx="5284972" cy="264688"/>
          </a:xfrm>
        </p:grpSpPr>
        <p:sp>
          <p:nvSpPr>
            <p:cNvPr id="34" name="TextBox 34"/>
            <p:cNvSpPr txBox="1"/>
            <p:nvPr/>
          </p:nvSpPr>
          <p:spPr>
            <a:xfrm>
              <a:off x="3453514" y="5956300"/>
              <a:ext cx="5284972" cy="264688"/>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Valid ≠ Benign：范数验证不是完整的模型投毒防御</a:t>
              </a:r>
            </a:p>
          </p:txBody>
        </p:sp>
      </p:grpSp>
    </p:spTree>
    <p:extLst>
      <p:ext uri="{BB962C8B-B14F-4D97-AF65-F5344CB8AC3E}">
        <p14:creationId xmlns:p14="http://schemas.microsoft.com/office/powerpoint/2010/main" val="152978933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1836039" y="2037207"/>
            <a:ext cx="3835718" cy="3993643"/>
            <a:chOff x="1836039" y="2037207"/>
            <a:chExt cx="3835718" cy="3993643"/>
          </a:xfrm>
        </p:grpSpPr>
        <p:sp>
          <p:nvSpPr>
            <p:cNvPr id="2" name="shape-58"/>
            <p:cNvSpPr/>
            <p:nvPr/>
          </p:nvSpPr>
          <p:spPr>
            <a:xfrm>
              <a:off x="1836039" y="2165318"/>
              <a:ext cx="3835718" cy="3615214"/>
            </a:xfrm>
            <a:prstGeom prst="rect">
              <a:avLst/>
            </a:prstGeom>
            <a:solidFill>
              <a:srgbClr val="F2F2F2"/>
            </a:solidFill>
            <a:ln w="9525">
              <a:solidFill>
                <a:srgbClr val="C5C3C3"/>
              </a:solidFill>
            </a:ln>
          </p:spPr>
        </p:sp>
        <p:sp>
          <p:nvSpPr>
            <p:cNvPr id="99" name="shape-59"/>
            <p:cNvSpPr/>
            <p:nvPr/>
          </p:nvSpPr>
          <p:spPr>
            <a:xfrm>
              <a:off x="1977962" y="2037207"/>
              <a:ext cx="3562160" cy="127921"/>
            </a:xfrm>
            <a:custGeom>
              <a:avLst/>
              <a:gdLst/>
              <a:ahLst/>
              <a:cxnLst/>
              <a:rect l="l" t="t" r="r" b="b"/>
              <a:pathLst>
                <a:path w="3562160" h="127921">
                  <a:moveTo>
                    <a:pt x="239649" y="0"/>
                  </a:moveTo>
                  <a:lnTo>
                    <a:pt x="3335941" y="0"/>
                  </a:lnTo>
                  <a:lnTo>
                    <a:pt x="3562160" y="127921"/>
                  </a:lnTo>
                  <a:lnTo>
                    <a:pt x="0" y="127921"/>
                  </a:lnTo>
                  <a:lnTo>
                    <a:pt x="239649" y="0"/>
                  </a:lnTo>
                  <a:close/>
                </a:path>
              </a:pathLst>
            </a:custGeom>
            <a:solidFill>
              <a:srgbClr val="41464A"/>
            </a:solidFill>
            <a:ln>
              <a:noFill/>
            </a:ln>
          </p:spPr>
        </p:sp>
        <p:sp>
          <p:nvSpPr>
            <p:cNvPr id="100" name="shape-95"/>
            <p:cNvSpPr/>
            <p:nvPr/>
          </p:nvSpPr>
          <p:spPr>
            <a:xfrm>
              <a:off x="221589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8" name="shape-96"/>
            <p:cNvSpPr/>
            <p:nvPr/>
          </p:nvSpPr>
          <p:spPr>
            <a:xfrm>
              <a:off x="2806446" y="2207514"/>
              <a:ext cx="1915954" cy="497967"/>
            </a:xfrm>
            <a:prstGeom prst="rect">
              <a:avLst/>
            </a:prstGeom>
            <a:noFill/>
            <a:ln>
              <a:noFill/>
            </a:ln>
          </p:spPr>
        </p:sp>
        <p:sp>
          <p:nvSpPr>
            <p:cNvPr id="9" name="Freeform 9"/>
            <p:cNvSpPr/>
            <p:nvPr/>
          </p:nvSpPr>
          <p:spPr>
            <a:xfrm>
              <a:off x="221589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98" name="组合 97"/>
          <p:cNvGrpSpPr/>
          <p:nvPr/>
        </p:nvGrpSpPr>
        <p:grpSpPr>
          <a:xfrm>
            <a:off x="6432709" y="2037207"/>
            <a:ext cx="3835718" cy="3993643"/>
            <a:chOff x="6432709" y="2037207"/>
            <a:chExt cx="3835718" cy="3993643"/>
          </a:xfrm>
        </p:grpSpPr>
        <p:sp>
          <p:nvSpPr>
            <p:cNvPr id="10" name="shape-99"/>
            <p:cNvSpPr/>
            <p:nvPr/>
          </p:nvSpPr>
          <p:spPr>
            <a:xfrm>
              <a:off x="6432709" y="2165318"/>
              <a:ext cx="3835718" cy="3615214"/>
            </a:xfrm>
            <a:prstGeom prst="rect">
              <a:avLst/>
            </a:prstGeom>
            <a:solidFill>
              <a:srgbClr val="F2F2F2"/>
            </a:solidFill>
            <a:ln w="9525">
              <a:solidFill>
                <a:srgbClr val="C5C3C3"/>
              </a:solidFill>
            </a:ln>
          </p:spPr>
        </p:sp>
        <p:sp>
          <p:nvSpPr>
            <p:cNvPr id="11" name="shape-100"/>
            <p:cNvSpPr/>
            <p:nvPr/>
          </p:nvSpPr>
          <p:spPr>
            <a:xfrm>
              <a:off x="6574631" y="2037207"/>
              <a:ext cx="3562255" cy="127921"/>
            </a:xfrm>
            <a:custGeom>
              <a:avLst/>
              <a:gdLst/>
              <a:ahLst/>
              <a:cxnLst/>
              <a:rect l="l" t="t" r="r" b="b"/>
              <a:pathLst>
                <a:path w="3562255" h="127921">
                  <a:moveTo>
                    <a:pt x="239649" y="0"/>
                  </a:moveTo>
                  <a:lnTo>
                    <a:pt x="3336036" y="0"/>
                  </a:lnTo>
                  <a:lnTo>
                    <a:pt x="3562255" y="127921"/>
                  </a:lnTo>
                  <a:lnTo>
                    <a:pt x="0" y="127921"/>
                  </a:lnTo>
                  <a:lnTo>
                    <a:pt x="239649" y="0"/>
                  </a:lnTo>
                  <a:close/>
                </a:path>
              </a:pathLst>
            </a:custGeom>
            <a:solidFill>
              <a:srgbClr val="41464A"/>
            </a:solidFill>
            <a:ln>
              <a:noFill/>
            </a:ln>
          </p:spPr>
        </p:sp>
        <p:sp>
          <p:nvSpPr>
            <p:cNvPr id="12" name="shape-101"/>
            <p:cNvSpPr/>
            <p:nvPr/>
          </p:nvSpPr>
          <p:spPr>
            <a:xfrm>
              <a:off x="6812566" y="2037207"/>
              <a:ext cx="3097149" cy="745617"/>
            </a:xfrm>
            <a:custGeom>
              <a:avLst/>
              <a:gdLst/>
              <a:ahLst/>
              <a:cxnLst/>
              <a:rect l="l" t="t" r="r" b="b"/>
              <a:pathLst>
                <a:path w="3097149" h="745617">
                  <a:moveTo>
                    <a:pt x="0" y="0"/>
                  </a:moveTo>
                  <a:lnTo>
                    <a:pt x="3097149" y="0"/>
                  </a:lnTo>
                  <a:lnTo>
                    <a:pt x="3097149" y="604266"/>
                  </a:lnTo>
                  <a:lnTo>
                    <a:pt x="1533430" y="745617"/>
                  </a:lnTo>
                  <a:lnTo>
                    <a:pt x="0" y="604266"/>
                  </a:lnTo>
                  <a:lnTo>
                    <a:pt x="0" y="0"/>
                  </a:lnTo>
                  <a:close/>
                </a:path>
              </a:pathLst>
            </a:custGeom>
            <a:solidFill>
              <a:srgbClr val="203864"/>
            </a:solidFill>
            <a:ln>
              <a:noFill/>
            </a:ln>
          </p:spPr>
        </p:sp>
        <p:sp>
          <p:nvSpPr>
            <p:cNvPr id="13" name="shape-102"/>
            <p:cNvSpPr/>
            <p:nvPr/>
          </p:nvSpPr>
          <p:spPr>
            <a:xfrm>
              <a:off x="7403211" y="2207514"/>
              <a:ext cx="1915954" cy="497967"/>
            </a:xfrm>
            <a:prstGeom prst="rect">
              <a:avLst/>
            </a:prstGeom>
            <a:noFill/>
            <a:ln>
              <a:noFill/>
            </a:ln>
          </p:spPr>
        </p:sp>
        <p:sp>
          <p:nvSpPr>
            <p:cNvPr id="14" name="Freeform 14"/>
            <p:cNvSpPr/>
            <p:nvPr/>
          </p:nvSpPr>
          <p:spPr>
            <a:xfrm>
              <a:off x="6812566" y="3057716"/>
              <a:ext cx="3097149" cy="2973134"/>
            </a:xfrm>
            <a:custGeom>
              <a:avLst/>
              <a:gdLst/>
              <a:ahLst/>
              <a:cxnLst/>
              <a:rect l="l" t="t" r="r" b="b"/>
              <a:pathLst>
                <a:path w="3097149" h="2973134">
                  <a:moveTo>
                    <a:pt x="0" y="0"/>
                  </a:moveTo>
                  <a:lnTo>
                    <a:pt x="3097149" y="0"/>
                  </a:lnTo>
                  <a:lnTo>
                    <a:pt x="3097149" y="2973134"/>
                  </a:lnTo>
                  <a:lnTo>
                    <a:pt x="0" y="2973134"/>
                  </a:lnTo>
                  <a:close/>
                </a:path>
              </a:pathLst>
            </a:custGeom>
            <a:noFill/>
            <a:ln>
              <a:noFill/>
            </a:ln>
          </p:spPr>
        </p:sp>
      </p:grpSp>
      <p:grpSp>
        <p:nvGrpSpPr>
          <p:cNvPr id="3" name="组合 2">
            <a:extLst>
              <a:ext uri="{FF2B5EF4-FFF2-40B4-BE49-F238E27FC236}">
                <a16:creationId xmlns:a16="http://schemas.microsoft.com/office/drawing/2014/main" id="{6585D9A8-CD27-667A-DDDF-710A03F80F0C}"/>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C30772D0-2FC8-BED1-151E-64C672212CC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AAB09C36-0CE8-37C2-7214-27833B6F10E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E1B4035E-E6C4-0ABE-E300-FD1FA32E18F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实验设置与比较基线</a:t>
            </a:r>
          </a:p>
        </p:txBody>
      </p:sp>
      <p:grpSp>
        <p:nvGrpSpPr>
          <p:cNvPr id="20" name="page-footer"/>
          <p:cNvGrpSpPr/>
          <p:nvPr/>
        </p:nvGrpSpPr>
        <p:grpSpPr>
          <a:xfrm>
            <a:off x="1194816" y="6426200"/>
            <a:ext cx="9954768" cy="205359"/>
            <a:chOff x="1194816" y="6426200"/>
            <a:chExt cx="9954768" cy="205359"/>
          </a:xfrm>
        </p:grpSpPr>
        <p:sp>
          <p:nvSpPr>
            <p:cNvPr id="18" name="TextBox 18"/>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9" name="TextBox 19"/>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18 / 23</a:t>
              </a:r>
            </a:p>
          </p:txBody>
        </p:sp>
      </p:grpSp>
      <p:grpSp>
        <p:nvGrpSpPr>
          <p:cNvPr id="22" name="page-lead"/>
          <p:cNvGrpSpPr/>
          <p:nvPr/>
        </p:nvGrpSpPr>
        <p:grpSpPr>
          <a:xfrm>
            <a:off x="1190625" y="1333500"/>
            <a:ext cx="6644191" cy="289310"/>
            <a:chOff x="1190625" y="1333500"/>
            <a:chExt cx="6644191" cy="289310"/>
          </a:xfrm>
        </p:grpSpPr>
        <p:sp>
          <p:nvSpPr>
            <p:cNvPr id="21" name="TextBox 21"/>
            <p:cNvSpPr txBox="1"/>
            <p:nvPr/>
          </p:nvSpPr>
          <p:spPr>
            <a:xfrm>
              <a:off x="1190625" y="1333500"/>
              <a:ext cx="6644191"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基线：ACORN-robust；评测面向 mobile / edge 小模型</a:t>
              </a:r>
            </a:p>
          </p:txBody>
        </p:sp>
      </p:grpSp>
      <p:grpSp>
        <p:nvGrpSpPr>
          <p:cNvPr id="27" name="panel-content"/>
          <p:cNvGrpSpPr/>
          <p:nvPr/>
        </p:nvGrpSpPr>
        <p:grpSpPr>
          <a:xfrm>
            <a:off x="2209800" y="2114018"/>
            <a:ext cx="7885958" cy="2888414"/>
            <a:chOff x="2209800" y="2114018"/>
            <a:chExt cx="7885958" cy="2888414"/>
          </a:xfrm>
        </p:grpSpPr>
        <p:sp>
          <p:nvSpPr>
            <p:cNvPr id="23" name="TextBox 23"/>
            <p:cNvSpPr txBox="1"/>
            <p:nvPr/>
          </p:nvSpPr>
          <p:spPr>
            <a:xfrm>
              <a:off x="2820950" y="2130171"/>
              <a:ext cx="1865895"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cs typeface="Microsoft YaHei"/>
                </a:rPr>
                <a:t>Implementation</a:t>
              </a:r>
            </a:p>
            <a:p>
              <a:pPr algn="ctr"/>
              <a:r>
                <a:rPr lang="zh-CN" altLang="en-US" b="1" dirty="0">
                  <a:solidFill>
                    <a:srgbClr val="FFFFFF"/>
                  </a:solidFill>
                  <a:latin typeface="Microsoft YaHei"/>
                  <a:ea typeface="Microsoft YaHei"/>
                  <a:cs typeface="Microsoft YaHei"/>
                </a:rPr>
                <a:t>实现</a:t>
              </a:r>
              <a:endParaRPr lang="en-US" b="1" dirty="0">
                <a:solidFill>
                  <a:srgbClr val="FFFFFF"/>
                </a:solidFill>
                <a:latin typeface="Microsoft YaHei"/>
                <a:ea typeface="Microsoft YaHei"/>
                <a:cs typeface="Microsoft YaHei"/>
              </a:endParaRPr>
            </a:p>
          </p:txBody>
        </p:sp>
        <p:sp>
          <p:nvSpPr>
            <p:cNvPr id="24" name="TextBox 24"/>
            <p:cNvSpPr txBox="1"/>
            <p:nvPr/>
          </p:nvSpPr>
          <p:spPr>
            <a:xfrm>
              <a:off x="7704550" y="2114018"/>
              <a:ext cx="1313180" cy="553998"/>
            </a:xfrm>
            <a:prstGeom prst="rect">
              <a:avLst/>
            </a:prstGeom>
            <a:noFill/>
            <a:ln>
              <a:noFill/>
            </a:ln>
          </p:spPr>
          <p:txBody>
            <a:bodyPr wrap="none" lIns="0" tIns="0" rIns="0" bIns="0" anchor="t" anchorCtr="0">
              <a:spAutoFit/>
            </a:bodyPr>
            <a:lstStyle/>
            <a:p>
              <a:pPr algn="ctr"/>
              <a:r>
                <a:rPr lang="en-US" b="1" dirty="0">
                  <a:solidFill>
                    <a:srgbClr val="FFFFFF"/>
                  </a:solidFill>
                  <a:latin typeface="Microsoft YaHei"/>
                  <a:ea typeface="Microsoft YaHei"/>
                </a:rPr>
                <a:t>Parameters</a:t>
              </a:r>
            </a:p>
            <a:p>
              <a:pPr algn="ctr"/>
              <a:r>
                <a:rPr lang="zh-CN" altLang="en-US" b="1" dirty="0">
                  <a:solidFill>
                    <a:srgbClr val="FFFFFF"/>
                  </a:solidFill>
                  <a:latin typeface="Microsoft YaHei"/>
                  <a:ea typeface="Microsoft YaHei"/>
                </a:rPr>
                <a:t>参数</a:t>
              </a:r>
              <a:endParaRPr lang="en-US" b="1" dirty="0">
                <a:solidFill>
                  <a:srgbClr val="FFFFFF"/>
                </a:solidFill>
                <a:latin typeface="Microsoft YaHei"/>
                <a:ea typeface="Microsoft YaHei"/>
              </a:endParaRPr>
            </a:p>
          </p:txBody>
        </p:sp>
        <p:sp>
          <p:nvSpPr>
            <p:cNvPr id="25" name="TextBox 25"/>
            <p:cNvSpPr txBox="1"/>
            <p:nvPr/>
          </p:nvSpPr>
          <p:spPr>
            <a:xfrm>
              <a:off x="2209800" y="2813050"/>
              <a:ext cx="2854308" cy="2189382"/>
            </a:xfrm>
            <a:prstGeom prst="rect">
              <a:avLst/>
            </a:prstGeom>
            <a:noFill/>
            <a:ln>
              <a:noFill/>
            </a:ln>
          </p:spPr>
          <p:txBody>
            <a:bodyPr wrap="none" lIns="0" tIns="0" rIns="0" bIns="0" anchor="t" anchorCtr="0">
              <a:spAutoFit/>
            </a:bodyPr>
            <a:lstStyle/>
            <a:p>
              <a:pPr marL="342900" indent="-342900" algn="l">
                <a:lnSpc>
                  <a:spcPts val="3525"/>
                </a:lnSpc>
                <a:buFont typeface="Arial" panose="020B0604020202020204" pitchFamily="34" charset="0"/>
                <a:buChar char="•"/>
              </a:pPr>
              <a:r>
                <a:rPr lang="zh-CN" sz="1880" dirty="0">
                  <a:solidFill>
                    <a:srgbClr val="24364A"/>
                  </a:solidFill>
                  <a:latin typeface="Microsoft YaHei"/>
                  <a:ea typeface="Microsoft YaHei"/>
                  <a:cs typeface="Microsoft YaHei"/>
                </a:rPr>
                <a:t>Rust 实现</a:t>
              </a:r>
              <a:endParaRPr lang="en-US" altLang="zh-CN" sz="1880" dirty="0">
                <a:solidFill>
                  <a:srgbClr val="24364A"/>
                </a:solidFill>
                <a:latin typeface="Microsoft YaHei"/>
                <a:ea typeface="Microsoft YaHei"/>
                <a:cs typeface="Microsoft YaHei"/>
              </a:endParaRPr>
            </a:p>
            <a:p>
              <a:pPr marL="342900" indent="-342900" algn="l">
                <a:lnSpc>
                  <a:spcPts val="3525"/>
                </a:lnSpc>
                <a:buFont typeface="Arial" panose="020B0604020202020204" pitchFamily="34" charset="0"/>
                <a:buChar char="•"/>
              </a:pPr>
              <a:r>
                <a:rPr lang="en-US" sz="1880" dirty="0">
                  <a:solidFill>
                    <a:srgbClr val="24364A"/>
                  </a:solidFill>
                  <a:latin typeface="Microsoft YaHei"/>
                  <a:ea typeface="Microsoft YaHei"/>
                  <a:cs typeface="Microsoft YaHei"/>
                </a:rPr>
                <a:t>Bulletproof / Ristretto</a:t>
              </a:r>
            </a:p>
            <a:p>
              <a:pPr marL="342900" indent="-342900" algn="l">
                <a:lnSpc>
                  <a:spcPts val="3525"/>
                </a:lnSpc>
                <a:buFont typeface="Arial" panose="020B0604020202020204" pitchFamily="34" charset="0"/>
                <a:buChar char="•"/>
              </a:pPr>
              <a:r>
                <a:rPr lang="en-US" sz="1880" dirty="0">
                  <a:solidFill>
                    <a:srgbClr val="24364A"/>
                  </a:solidFill>
                  <a:latin typeface="Microsoft YaHei"/>
                  <a:ea typeface="Microsoft YaHei"/>
                  <a:cs typeface="Microsoft YaHei"/>
                </a:rPr>
                <a:t>2.4 GHz CPU</a:t>
              </a:r>
            </a:p>
            <a:p>
              <a:pPr marL="342900" indent="-342900" algn="l">
                <a:lnSpc>
                  <a:spcPts val="3525"/>
                </a:lnSpc>
                <a:buFont typeface="Arial" panose="020B0604020202020204" pitchFamily="34" charset="0"/>
                <a:buChar char="•"/>
              </a:pPr>
              <a:r>
                <a:rPr lang="zh-CN" sz="1880" dirty="0">
                  <a:solidFill>
                    <a:srgbClr val="24364A"/>
                  </a:solidFill>
                  <a:latin typeface="Microsoft YaHei"/>
                  <a:ea typeface="Microsoft YaHei"/>
                  <a:cs typeface="Microsoft YaHei"/>
                </a:rPr>
                <a:t>客户端：单线程</a:t>
              </a:r>
              <a:endParaRPr lang="en-US" altLang="zh-CN" sz="1880" dirty="0">
                <a:solidFill>
                  <a:srgbClr val="24364A"/>
                </a:solidFill>
                <a:latin typeface="Microsoft YaHei"/>
                <a:ea typeface="Microsoft YaHei"/>
                <a:cs typeface="Microsoft YaHei"/>
              </a:endParaRPr>
            </a:p>
            <a:p>
              <a:pPr marL="342900" indent="-342900" algn="l">
                <a:lnSpc>
                  <a:spcPts val="3525"/>
                </a:lnSpc>
                <a:buFont typeface="Arial" panose="020B0604020202020204" pitchFamily="34" charset="0"/>
                <a:buChar char="•"/>
              </a:pPr>
              <a:r>
                <a:rPr lang="zh-CN" sz="1880" dirty="0">
                  <a:solidFill>
                    <a:srgbClr val="24364A"/>
                  </a:solidFill>
                  <a:latin typeface="Microsoft YaHei"/>
                  <a:ea typeface="Microsoft YaHei"/>
                  <a:cs typeface="Microsoft YaHei"/>
                </a:rPr>
                <a:t>服务器：8 核</a:t>
              </a:r>
            </a:p>
          </p:txBody>
        </p:sp>
        <p:sp>
          <p:nvSpPr>
            <p:cNvPr id="26" name="TextBox 26"/>
            <p:cNvSpPr txBox="1"/>
            <p:nvPr/>
          </p:nvSpPr>
          <p:spPr>
            <a:xfrm>
              <a:off x="6810756" y="2755900"/>
              <a:ext cx="3285002" cy="2186496"/>
            </a:xfrm>
            <a:prstGeom prst="rect">
              <a:avLst/>
            </a:prstGeom>
            <a:noFill/>
            <a:ln>
              <a:noFill/>
            </a:ln>
          </p:spPr>
          <p:txBody>
            <a:bodyPr wrap="none" lIns="0" tIns="0" rIns="0" bIns="0" anchor="t" anchorCtr="0">
              <a:spAutoFit/>
            </a:bodyPr>
            <a:lstStyle/>
            <a:p>
              <a:pPr marL="285750" indent="-285750" algn="l">
                <a:lnSpc>
                  <a:spcPts val="3525"/>
                </a:lnSpc>
                <a:buFont typeface="Arial" panose="020B0604020202020204" pitchFamily="34" charset="0"/>
                <a:buChar char="•"/>
              </a:pPr>
              <a:r>
                <a:rPr lang="zh-CN" sz="1800" dirty="0">
                  <a:solidFill>
                    <a:srgbClr val="24364A"/>
                  </a:solidFill>
                  <a:latin typeface="Microsoft YaHei"/>
                  <a:ea typeface="Microsoft YaHei"/>
                  <a:cs typeface="Microsoft YaHei"/>
                </a:rPr>
                <a:t>q：253-bit 素数</a:t>
              </a:r>
              <a:endParaRPr lang="en-US" altLang="zh-CN" sz="1800" dirty="0">
                <a:solidFill>
                  <a:srgbClr val="24364A"/>
                </a:solidFill>
                <a:latin typeface="Microsoft YaHei"/>
                <a:ea typeface="Microsoft YaHei"/>
                <a:cs typeface="Microsoft YaHei"/>
              </a:endParaRPr>
            </a:p>
            <a:p>
              <a:pPr marL="285750" indent="-285750" algn="l">
                <a:lnSpc>
                  <a:spcPts val="3525"/>
                </a:lnSpc>
                <a:buFont typeface="Arial" panose="020B0604020202020204" pitchFamily="34" charset="0"/>
                <a:buChar char="•"/>
              </a:pPr>
              <a:r>
                <a:rPr lang="zh-CN" sz="1800" dirty="0">
                  <a:solidFill>
                    <a:srgbClr val="24364A"/>
                  </a:solidFill>
                  <a:latin typeface="Microsoft YaHei"/>
                  <a:ea typeface="Microsoft YaHei"/>
                  <a:cs typeface="Microsoft YaHei"/>
                </a:rPr>
                <a:t>p = 2¹⁶；λ = 256</a:t>
              </a:r>
              <a:endParaRPr lang="en-US" altLang="zh-CN" sz="1800" dirty="0">
                <a:solidFill>
                  <a:srgbClr val="24364A"/>
                </a:solidFill>
                <a:latin typeface="Microsoft YaHei"/>
                <a:ea typeface="Microsoft YaHei"/>
                <a:cs typeface="Microsoft YaHei"/>
              </a:endParaRPr>
            </a:p>
            <a:p>
              <a:pPr marL="285750" indent="-285750" algn="l">
                <a:lnSpc>
                  <a:spcPts val="3525"/>
                </a:lnSpc>
                <a:buFont typeface="Arial" panose="020B0604020202020204" pitchFamily="34" charset="0"/>
                <a:buChar char="•"/>
              </a:pPr>
              <a:r>
                <a:rPr lang="en-US" sz="1800" dirty="0">
                  <a:solidFill>
                    <a:srgbClr val="24364A"/>
                  </a:solidFill>
                  <a:latin typeface="Microsoft YaHei"/>
                  <a:ea typeface="Microsoft YaHei"/>
                  <a:cs typeface="Microsoft YaHei"/>
                </a:rPr>
                <a:t>n ≤ 5,000</a:t>
              </a:r>
            </a:p>
            <a:p>
              <a:pPr marL="285750" indent="-285750" algn="l">
                <a:lnSpc>
                  <a:spcPts val="3525"/>
                </a:lnSpc>
                <a:buFont typeface="Arial" panose="020B0604020202020204" pitchFamily="34" charset="0"/>
                <a:buChar char="•"/>
              </a:pPr>
              <a:r>
                <a:rPr lang="zh-CN" sz="1800" dirty="0">
                  <a:solidFill>
                    <a:srgbClr val="24364A"/>
                  </a:solidFill>
                  <a:latin typeface="Microsoft YaHei"/>
                  <a:ea typeface="Microsoft YaHei"/>
                  <a:cs typeface="Microsoft YaHei"/>
                </a:rPr>
                <a:t>LWE 估算安全性：约 132 bit</a:t>
              </a:r>
              <a:endParaRPr lang="en-US" altLang="zh-CN" sz="1800" dirty="0">
                <a:solidFill>
                  <a:srgbClr val="24364A"/>
                </a:solidFill>
                <a:latin typeface="Microsoft YaHei"/>
                <a:ea typeface="Microsoft YaHei"/>
                <a:cs typeface="Microsoft YaHei"/>
              </a:endParaRPr>
            </a:p>
            <a:p>
              <a:pPr marL="285750" indent="-285750" algn="l">
                <a:lnSpc>
                  <a:spcPts val="3525"/>
                </a:lnSpc>
                <a:buFont typeface="Arial" panose="020B0604020202020204" pitchFamily="34" charset="0"/>
                <a:buChar char="•"/>
              </a:pPr>
              <a:r>
                <a:rPr lang="zh-CN" sz="1800" dirty="0">
                  <a:solidFill>
                    <a:srgbClr val="24364A"/>
                  </a:solidFill>
                  <a:latin typeface="Microsoft YaHei"/>
                  <a:ea typeface="Microsoft YaHei"/>
                  <a:cs typeface="Microsoft YaHei"/>
                </a:rPr>
                <a:t>最大输入长度：10⁶</a:t>
              </a:r>
            </a:p>
          </p:txBody>
        </p:sp>
      </p:grpSp>
      <p:grpSp>
        <p:nvGrpSpPr>
          <p:cNvPr id="29" name="takeaway"/>
          <p:cNvGrpSpPr/>
          <p:nvPr/>
        </p:nvGrpSpPr>
        <p:grpSpPr>
          <a:xfrm>
            <a:off x="4448915" y="5956300"/>
            <a:ext cx="3489738" cy="246221"/>
            <a:chOff x="4448915" y="5956300"/>
            <a:chExt cx="3489738" cy="246221"/>
          </a:xfrm>
        </p:grpSpPr>
        <p:sp>
          <p:nvSpPr>
            <p:cNvPr id="28" name="TextBox 28"/>
            <p:cNvSpPr txBox="1"/>
            <p:nvPr/>
          </p:nvSpPr>
          <p:spPr>
            <a:xfrm>
              <a:off x="4448915" y="5956300"/>
              <a:ext cx="3489738" cy="246221"/>
            </a:xfrm>
            <a:prstGeom prst="rect">
              <a:avLst/>
            </a:prstGeom>
            <a:noFill/>
            <a:ln>
              <a:noFill/>
            </a:ln>
          </p:spPr>
          <p:txBody>
            <a:bodyPr wrap="none" lIns="0" tIns="0" rIns="0" bIns="0" anchor="t" anchorCtr="0">
              <a:spAutoFit/>
            </a:bodyPr>
            <a:lstStyle/>
            <a:p>
              <a:r>
                <a:rPr lang="zh-CN" altLang="zh-CN" sz="1600" dirty="0"/>
                <a:t>本实验</a:t>
              </a:r>
              <a:r>
                <a:rPr lang="zh-CN" altLang="en-US" sz="1600" dirty="0"/>
                <a:t>未</a:t>
              </a:r>
              <a:r>
                <a:rPr lang="zh-CN" altLang="zh-CN" sz="1600" dirty="0"/>
                <a:t>评估大语言模型（LLM）场景</a:t>
              </a:r>
            </a:p>
          </p:txBody>
        </p:sp>
      </p:grpSp>
    </p:spTree>
    <p:extLst>
      <p:ext uri="{BB962C8B-B14F-4D97-AF65-F5344CB8AC3E}">
        <p14:creationId xmlns:p14="http://schemas.microsoft.com/office/powerpoint/2010/main" val="152978933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047B166-7923-0510-A7B2-FABC959E71B0}"/>
              </a:ext>
            </a:extLst>
          </p:cNvPr>
          <p:cNvGrpSpPr/>
          <p:nvPr/>
        </p:nvGrpSpPr>
        <p:grpSpPr>
          <a:xfrm>
            <a:off x="0" y="9559"/>
            <a:ext cx="1857829" cy="1181101"/>
            <a:chOff x="0" y="0"/>
            <a:chExt cx="2590667" cy="4976958"/>
          </a:xfrm>
        </p:grpSpPr>
        <p:sp>
          <p:nvSpPr>
            <p:cNvPr id="4" name="矩形 1">
              <a:extLst>
                <a:ext uri="{FF2B5EF4-FFF2-40B4-BE49-F238E27FC236}">
                  <a16:creationId xmlns:a16="http://schemas.microsoft.com/office/drawing/2014/main" id="{ADD9FD3B-C963-44EA-1096-3F9E8B15F7BE}"/>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 name="矩形 1">
              <a:extLst>
                <a:ext uri="{FF2B5EF4-FFF2-40B4-BE49-F238E27FC236}">
                  <a16:creationId xmlns:a16="http://schemas.microsoft.com/office/drawing/2014/main" id="{39467C62-E85A-F405-C936-07B14F46052A}"/>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8" name="直接连接符 7">
            <a:extLst>
              <a:ext uri="{FF2B5EF4-FFF2-40B4-BE49-F238E27FC236}">
                <a16:creationId xmlns:a16="http://schemas.microsoft.com/office/drawing/2014/main" id="{2E2D8281-EE1E-CB04-8D20-C5DF003C2484}"/>
              </a:ext>
            </a:extLst>
          </p:cNvPr>
          <p:cNvCxnSpPr/>
          <p:nvPr/>
        </p:nvCxnSpPr>
        <p:spPr>
          <a:xfrm>
            <a:off x="1509485" y="106686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固定三轮，减少等待</a:t>
            </a:r>
          </a:p>
        </p:txBody>
      </p:sp>
      <p:grpSp>
        <p:nvGrpSpPr>
          <p:cNvPr id="10"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28"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19 / 23</a:t>
              </a:r>
            </a:p>
          </p:txBody>
        </p:sp>
      </p:grpSp>
      <p:grpSp>
        <p:nvGrpSpPr>
          <p:cNvPr id="26" name="rounds"/>
          <p:cNvGrpSpPr/>
          <p:nvPr/>
        </p:nvGrpSpPr>
        <p:grpSpPr>
          <a:xfrm>
            <a:off x="966265" y="1762125"/>
            <a:ext cx="10356984" cy="4538091"/>
            <a:chOff x="966265" y="1762125"/>
            <a:chExt cx="10356984" cy="4538091"/>
          </a:xfrm>
        </p:grpSpPr>
        <p:sp>
          <p:nvSpPr>
            <p:cNvPr id="11" name="Ellipse 11"/>
            <p:cNvSpPr/>
            <p:nvPr/>
          </p:nvSpPr>
          <p:spPr>
            <a:xfrm>
              <a:off x="1752600" y="1762125"/>
              <a:ext cx="800100" cy="800100"/>
            </a:xfrm>
            <a:prstGeom prst="ellipse">
              <a:avLst/>
            </a:prstGeom>
            <a:solidFill>
              <a:srgbClr val="203864"/>
            </a:solidFill>
            <a:ln>
              <a:noFill/>
            </a:ln>
          </p:spPr>
        </p:sp>
        <p:sp>
          <p:nvSpPr>
            <p:cNvPr id="12" name="TextBox 12"/>
            <p:cNvSpPr txBox="1"/>
            <p:nvPr/>
          </p:nvSpPr>
          <p:spPr>
            <a:xfrm>
              <a:off x="1953875" y="1984375"/>
              <a:ext cx="397551"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icrosoft YaHei"/>
                  <a:ea typeface="Microsoft YaHei"/>
                  <a:cs typeface="Microsoft YaHei"/>
                </a:rPr>
                <a:t>01</a:t>
              </a:r>
            </a:p>
          </p:txBody>
        </p:sp>
        <p:sp>
          <p:nvSpPr>
            <p:cNvPr id="13" name="TextBox 13"/>
            <p:cNvSpPr txBox="1"/>
            <p:nvPr/>
          </p:nvSpPr>
          <p:spPr>
            <a:xfrm>
              <a:off x="966265" y="2746375"/>
              <a:ext cx="2372771" cy="352044"/>
            </a:xfrm>
            <a:prstGeom prst="rect">
              <a:avLst/>
            </a:prstGeom>
            <a:noFill/>
            <a:ln>
              <a:noFill/>
            </a:ln>
          </p:spPr>
          <p:txBody>
            <a:bodyPr wrap="none" lIns="0" tIns="0" rIns="0" bIns="0" anchor="t" anchorCtr="0">
              <a:spAutoFit/>
            </a:bodyPr>
            <a:lstStyle/>
            <a:p>
              <a:pPr algn="ctr"/>
              <a:r>
                <a:rPr lang="zh-CN" sz="1800" b="1" dirty="0">
                  <a:solidFill>
                    <a:srgbClr val="203864"/>
                  </a:solidFill>
                  <a:latin typeface="Microsoft YaHei"/>
                  <a:ea typeface="Microsoft YaHei"/>
                  <a:cs typeface="Microsoft YaHei"/>
                </a:rPr>
                <a:t>所有客户端 → Server</a:t>
              </a:r>
            </a:p>
          </p:txBody>
        </p:sp>
        <p:sp>
          <p:nvSpPr>
            <p:cNvPr id="14" name="TextBox 14"/>
            <p:cNvSpPr txBox="1"/>
            <p:nvPr/>
          </p:nvSpPr>
          <p:spPr>
            <a:xfrm>
              <a:off x="1160526" y="3155950"/>
              <a:ext cx="1984248" cy="676656"/>
            </a:xfrm>
            <a:prstGeom prst="rect">
              <a:avLst/>
            </a:prstGeom>
            <a:noFill/>
            <a:ln>
              <a:noFill/>
            </a:ln>
          </p:spPr>
          <p:txBody>
            <a:bodyPr wrap="none" lIns="0" tIns="0" rIns="0" bIns="0" anchor="t" anchorCtr="0">
              <a:spAutoFit/>
            </a:bodyPr>
            <a:lstStyle/>
            <a:p>
              <a:pPr algn="ctr">
                <a:lnSpc>
                  <a:spcPts val="2556"/>
                </a:lnSpc>
              </a:pPr>
              <a:r>
                <a:rPr lang="zh-CN" sz="1800" dirty="0">
                  <a:solidFill>
                    <a:srgbClr val="24364A"/>
                  </a:solidFill>
                  <a:latin typeface="Microsoft YaHei"/>
                  <a:ea typeface="Microsoft YaHei"/>
                  <a:cs typeface="Microsoft YaHei"/>
                </a:rPr>
                <a:t>密文、承诺、证明</a:t>
              </a:r>
              <a:br>
                <a:rPr lang="zh-CN" sz="1800" dirty="0">
                  <a:solidFill>
                    <a:srgbClr val="24364A"/>
                  </a:solidFill>
                  <a:latin typeface="Microsoft YaHei"/>
                  <a:ea typeface="Microsoft YaHei"/>
                  <a:cs typeface="Microsoft YaHei"/>
                </a:rPr>
              </a:br>
              <a:r>
                <a:rPr lang="zh-CN" sz="1800" dirty="0">
                  <a:solidFill>
                    <a:srgbClr val="24364A"/>
                  </a:solidFill>
                  <a:latin typeface="Microsoft YaHei"/>
                  <a:ea typeface="Microsoft YaHei"/>
                  <a:cs typeface="Microsoft YaHei"/>
                </a:rPr>
                <a:t>以及加密的 shares</a:t>
              </a:r>
            </a:p>
          </p:txBody>
        </p:sp>
        <p:sp>
          <p:nvSpPr>
            <p:cNvPr id="15" name="Ellipse 15"/>
            <p:cNvSpPr/>
            <p:nvPr/>
          </p:nvSpPr>
          <p:spPr>
            <a:xfrm>
              <a:off x="5695950" y="1762125"/>
              <a:ext cx="800100" cy="800100"/>
            </a:xfrm>
            <a:prstGeom prst="ellipse">
              <a:avLst/>
            </a:prstGeom>
            <a:solidFill>
              <a:srgbClr val="203864"/>
            </a:solidFill>
            <a:ln>
              <a:noFill/>
            </a:ln>
          </p:spPr>
        </p:sp>
        <p:sp>
          <p:nvSpPr>
            <p:cNvPr id="16" name="TextBox 16"/>
            <p:cNvSpPr txBox="1"/>
            <p:nvPr/>
          </p:nvSpPr>
          <p:spPr>
            <a:xfrm>
              <a:off x="5897225" y="1984375"/>
              <a:ext cx="397551"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icrosoft YaHei"/>
                  <a:ea typeface="Microsoft YaHei"/>
                  <a:cs typeface="Microsoft YaHei"/>
                </a:rPr>
                <a:t>02</a:t>
              </a:r>
            </a:p>
          </p:txBody>
        </p:sp>
        <p:sp>
          <p:nvSpPr>
            <p:cNvPr id="17" name="TextBox 17"/>
            <p:cNvSpPr txBox="1"/>
            <p:nvPr/>
          </p:nvSpPr>
          <p:spPr>
            <a:xfrm>
              <a:off x="4812102" y="2746375"/>
              <a:ext cx="2567797" cy="352044"/>
            </a:xfrm>
            <a:prstGeom prst="rect">
              <a:avLst/>
            </a:prstGeom>
            <a:noFill/>
            <a:ln>
              <a:noFill/>
            </a:ln>
          </p:spPr>
          <p:txBody>
            <a:bodyPr wrap="none" lIns="0" tIns="0" rIns="0" bIns="0" anchor="t" anchorCtr="0">
              <a:spAutoFit/>
            </a:bodyPr>
            <a:lstStyle/>
            <a:p>
              <a:pPr algn="ctr"/>
              <a:r>
                <a:rPr lang="en-US" sz="1800" b="1" dirty="0">
                  <a:solidFill>
                    <a:srgbClr val="203864"/>
                  </a:solidFill>
                  <a:latin typeface="Microsoft YaHei"/>
                  <a:ea typeface="Microsoft YaHei"/>
                  <a:cs typeface="Microsoft YaHei"/>
                </a:rPr>
                <a:t>Server ↔ Decryptors</a:t>
              </a:r>
            </a:p>
          </p:txBody>
        </p:sp>
        <p:sp>
          <p:nvSpPr>
            <p:cNvPr id="18" name="TextBox 18"/>
            <p:cNvSpPr txBox="1"/>
            <p:nvPr/>
          </p:nvSpPr>
          <p:spPr>
            <a:xfrm>
              <a:off x="5286756" y="3155950"/>
              <a:ext cx="1618488" cy="676656"/>
            </a:xfrm>
            <a:prstGeom prst="rect">
              <a:avLst/>
            </a:prstGeom>
            <a:noFill/>
            <a:ln>
              <a:noFill/>
            </a:ln>
          </p:spPr>
          <p:txBody>
            <a:bodyPr wrap="none" lIns="0" tIns="0" rIns="0" bIns="0" anchor="t" anchorCtr="0">
              <a:spAutoFit/>
            </a:bodyPr>
            <a:lstStyle/>
            <a:p>
              <a:pPr algn="ctr">
                <a:lnSpc>
                  <a:spcPts val="2556"/>
                </a:lnSpc>
              </a:pPr>
              <a:r>
                <a:rPr lang="zh-CN" sz="1800" dirty="0">
                  <a:solidFill>
                    <a:srgbClr val="24364A"/>
                  </a:solidFill>
                  <a:latin typeface="Microsoft YaHei"/>
                  <a:ea typeface="Microsoft YaHei"/>
                  <a:cs typeface="Microsoft YaHei"/>
                </a:rPr>
                <a:t>验证 shares</a:t>
              </a:r>
              <a:br>
                <a:rPr lang="zh-CN" sz="1800" dirty="0">
                  <a:solidFill>
                    <a:srgbClr val="24364A"/>
                  </a:solidFill>
                  <a:latin typeface="Microsoft YaHei"/>
                  <a:ea typeface="Microsoft YaHei"/>
                  <a:cs typeface="Microsoft YaHei"/>
                </a:rPr>
              </a:br>
              <a:r>
                <a:rPr lang="zh-CN" sz="1800" dirty="0">
                  <a:solidFill>
                    <a:srgbClr val="24364A"/>
                  </a:solidFill>
                  <a:latin typeface="Microsoft YaHei"/>
                  <a:ea typeface="Microsoft YaHei"/>
                  <a:cs typeface="Microsoft YaHei"/>
                </a:rPr>
                <a:t>提交可验证投诉</a:t>
              </a:r>
            </a:p>
          </p:txBody>
        </p:sp>
        <p:sp>
          <p:nvSpPr>
            <p:cNvPr id="19" name="Ellipse 19"/>
            <p:cNvSpPr/>
            <p:nvPr/>
          </p:nvSpPr>
          <p:spPr>
            <a:xfrm>
              <a:off x="9639300" y="1762125"/>
              <a:ext cx="800100" cy="800100"/>
            </a:xfrm>
            <a:prstGeom prst="ellipse">
              <a:avLst/>
            </a:prstGeom>
            <a:solidFill>
              <a:srgbClr val="203864"/>
            </a:solidFill>
            <a:ln>
              <a:noFill/>
            </a:ln>
          </p:spPr>
        </p:sp>
        <p:sp>
          <p:nvSpPr>
            <p:cNvPr id="20" name="TextBox 20"/>
            <p:cNvSpPr txBox="1"/>
            <p:nvPr/>
          </p:nvSpPr>
          <p:spPr>
            <a:xfrm>
              <a:off x="9840575" y="1984375"/>
              <a:ext cx="397551"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icrosoft YaHei"/>
                  <a:ea typeface="Microsoft YaHei"/>
                  <a:cs typeface="Microsoft YaHei"/>
                </a:rPr>
                <a:t>03</a:t>
              </a:r>
            </a:p>
          </p:txBody>
        </p:sp>
        <p:sp>
          <p:nvSpPr>
            <p:cNvPr id="21" name="TextBox 21"/>
            <p:cNvSpPr txBox="1"/>
            <p:nvPr/>
          </p:nvSpPr>
          <p:spPr>
            <a:xfrm>
              <a:off x="8755452" y="2746375"/>
              <a:ext cx="2567797" cy="352044"/>
            </a:xfrm>
            <a:prstGeom prst="rect">
              <a:avLst/>
            </a:prstGeom>
            <a:noFill/>
            <a:ln>
              <a:noFill/>
            </a:ln>
          </p:spPr>
          <p:txBody>
            <a:bodyPr wrap="none" lIns="0" tIns="0" rIns="0" bIns="0" anchor="t" anchorCtr="0">
              <a:spAutoFit/>
            </a:bodyPr>
            <a:lstStyle/>
            <a:p>
              <a:pPr algn="ctr"/>
              <a:r>
                <a:rPr lang="en-US" sz="1800" b="1" dirty="0">
                  <a:solidFill>
                    <a:srgbClr val="203864"/>
                  </a:solidFill>
                  <a:latin typeface="Microsoft YaHei"/>
                  <a:ea typeface="Microsoft YaHei"/>
                  <a:cs typeface="Microsoft YaHei"/>
                </a:rPr>
                <a:t>Server ↔ Decryptors</a:t>
              </a:r>
            </a:p>
          </p:txBody>
        </p:sp>
        <p:sp>
          <p:nvSpPr>
            <p:cNvPr id="22" name="TextBox 22"/>
            <p:cNvSpPr txBox="1"/>
            <p:nvPr/>
          </p:nvSpPr>
          <p:spPr>
            <a:xfrm>
              <a:off x="8950071" y="3155950"/>
              <a:ext cx="2178558" cy="676656"/>
            </a:xfrm>
            <a:prstGeom prst="rect">
              <a:avLst/>
            </a:prstGeom>
            <a:noFill/>
            <a:ln>
              <a:noFill/>
            </a:ln>
          </p:spPr>
          <p:txBody>
            <a:bodyPr wrap="none" lIns="0" tIns="0" rIns="0" bIns="0" anchor="t" anchorCtr="0">
              <a:spAutoFit/>
            </a:bodyPr>
            <a:lstStyle/>
            <a:p>
              <a:pPr algn="ctr">
                <a:lnSpc>
                  <a:spcPts val="2556"/>
                </a:lnSpc>
              </a:pPr>
              <a:r>
                <a:rPr lang="zh-CN" sz="1800" dirty="0">
                  <a:solidFill>
                    <a:srgbClr val="24364A"/>
                  </a:solidFill>
                  <a:latin typeface="Microsoft YaHei"/>
                  <a:ea typeface="Microsoft YaHei"/>
                  <a:cs typeface="Microsoft YaHei"/>
                </a:rPr>
                <a:t>广播 B，聚合 shares</a:t>
              </a:r>
              <a:br>
                <a:rPr lang="zh-CN" sz="1800" dirty="0">
                  <a:solidFill>
                    <a:srgbClr val="24364A"/>
                  </a:solidFill>
                  <a:latin typeface="Microsoft YaHei"/>
                  <a:ea typeface="Microsoft YaHei"/>
                  <a:cs typeface="Microsoft YaHei"/>
                </a:rPr>
              </a:br>
              <a:r>
                <a:rPr lang="zh-CN" sz="1800" dirty="0">
                  <a:solidFill>
                    <a:srgbClr val="24364A"/>
                  </a:solidFill>
                  <a:latin typeface="Microsoft YaHei"/>
                  <a:ea typeface="Microsoft YaHei"/>
                  <a:cs typeface="Microsoft YaHei"/>
                </a:rPr>
                <a:t>重构总密钥并解密</a:t>
              </a:r>
            </a:p>
          </p:txBody>
        </p:sp>
        <p:sp>
          <p:nvSpPr>
            <p:cNvPr id="23" name="Line 23"/>
            <p:cNvSpPr/>
            <p:nvPr/>
          </p:nvSpPr>
          <p:spPr>
            <a:xfrm>
              <a:off x="2667000" y="2162175"/>
              <a:ext cx="2905125" cy="9525"/>
            </a:xfrm>
            <a:custGeom>
              <a:avLst/>
              <a:gdLst/>
              <a:ahLst/>
              <a:cxnLst/>
              <a:rect l="l" t="t" r="r" b="b"/>
              <a:pathLst>
                <a:path w="2905125" h="9525">
                  <a:moveTo>
                    <a:pt x="0" y="0"/>
                  </a:moveTo>
                  <a:lnTo>
                    <a:pt x="2905125" y="0"/>
                  </a:lnTo>
                </a:path>
              </a:pathLst>
            </a:custGeom>
            <a:noFill/>
            <a:ln w="28575">
              <a:solidFill>
                <a:srgbClr val="BDD7EE"/>
              </a:solidFill>
            </a:ln>
          </p:spPr>
        </p:sp>
        <p:sp>
          <p:nvSpPr>
            <p:cNvPr id="24" name="Line 24"/>
            <p:cNvSpPr/>
            <p:nvPr/>
          </p:nvSpPr>
          <p:spPr>
            <a:xfrm>
              <a:off x="6600825" y="2162175"/>
              <a:ext cx="2905125" cy="9525"/>
            </a:xfrm>
            <a:custGeom>
              <a:avLst/>
              <a:gdLst/>
              <a:ahLst/>
              <a:cxnLst/>
              <a:rect l="l" t="t" r="r" b="b"/>
              <a:pathLst>
                <a:path w="2905125" h="9525">
                  <a:moveTo>
                    <a:pt x="0" y="0"/>
                  </a:moveTo>
                  <a:lnTo>
                    <a:pt x="2905125" y="0"/>
                  </a:lnTo>
                </a:path>
              </a:pathLst>
            </a:custGeom>
            <a:noFill/>
            <a:ln w="28575">
              <a:solidFill>
                <a:srgbClr val="BDD7EE"/>
              </a:solidFill>
            </a:ln>
          </p:spPr>
        </p:sp>
        <p:sp>
          <p:nvSpPr>
            <p:cNvPr id="25" name="TextBox 25"/>
            <p:cNvSpPr txBox="1"/>
            <p:nvPr/>
          </p:nvSpPr>
          <p:spPr>
            <a:xfrm>
              <a:off x="1439799" y="5991225"/>
              <a:ext cx="5535557" cy="308991"/>
            </a:xfrm>
            <a:prstGeom prst="rect">
              <a:avLst/>
            </a:prstGeom>
            <a:noFill/>
            <a:ln>
              <a:noFill/>
            </a:ln>
          </p:spPr>
          <p:txBody>
            <a:bodyPr wrap="none" lIns="0" tIns="0" rIns="0" bIns="0" anchor="t" anchorCtr="0">
              <a:spAutoFit/>
            </a:bodyPr>
            <a:lstStyle/>
            <a:p>
              <a:pPr algn="l"/>
              <a:r>
                <a:rPr lang="zh-CN" sz="1580" dirty="0">
                  <a:solidFill>
                    <a:srgbClr val="64748B"/>
                  </a:solidFill>
                  <a:latin typeface="Microsoft YaHei"/>
                  <a:ea typeface="Microsoft YaHei"/>
                  <a:cs typeface="Microsoft YaHei"/>
                </a:rPr>
                <a:t>不含一次性设置；9–13 轮为论文测试条件下的 90% 分位界</a:t>
              </a:r>
            </a:p>
          </p:txBody>
        </p:sp>
      </p:grpSp>
      <p:graphicFrame>
        <p:nvGraphicFramePr>
          <p:cNvPr id="27" name="round-comparison"/>
          <p:cNvGraphicFramePr>
            <a:graphicFrameLocks noGrp="1"/>
          </p:cNvGraphicFramePr>
          <p:nvPr/>
        </p:nvGraphicFramePr>
        <p:xfrm>
          <a:off x="1447800" y="4333875"/>
          <a:ext cx="9296400" cy="1571625"/>
        </p:xfrm>
        <a:graphic>
          <a:graphicData uri="http://schemas.openxmlformats.org/drawingml/2006/table">
            <a:tbl>
              <a:tblPr firstRow="1">
                <a:tableStyleId>{5C22544A-7EE6-4342-B048-85BDC9FD1C3A}</a:tableStyleId>
              </a:tblPr>
              <a:tblGrid>
                <a:gridCol w="32956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523875">
                <a:tc>
                  <a:txBody>
                    <a:bodyPr/>
                    <a:lstStyle/>
                    <a:p>
                      <a:r>
                        <a:rPr lang="zh-CN" sz="1800" b="1">
                          <a:solidFill>
                            <a:srgbClr val="FFFFFF"/>
                          </a:solidFill>
                          <a:latin typeface="Microsoft YaHei"/>
                          <a:ea typeface="Microsoft YaHei"/>
                          <a:cs typeface="Microsoft YaHei"/>
                        </a:rPr>
                        <a:t>对比项</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tc>
                  <a:txBody>
                    <a:bodyPr/>
                    <a:lstStyle/>
                    <a:p>
                      <a:r>
                        <a:rPr lang="en-US" sz="1800" b="1">
                          <a:solidFill>
                            <a:srgbClr val="FFFFFF"/>
                          </a:solidFill>
                          <a:latin typeface="Microsoft YaHei"/>
                          <a:ea typeface="Microsoft YaHei"/>
                          <a:cs typeface="Microsoft YaHei"/>
                        </a:rPr>
                        <a:t>Armadillo</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tc>
                  <a:txBody>
                    <a:bodyPr/>
                    <a:lstStyle/>
                    <a:p>
                      <a:r>
                        <a:rPr lang="en-US" sz="1800" b="1">
                          <a:solidFill>
                            <a:srgbClr val="FFFFFF"/>
                          </a:solidFill>
                          <a:latin typeface="Microsoft YaHei"/>
                          <a:ea typeface="Microsoft YaHei"/>
                          <a:cs typeface="Microsoft YaHei"/>
                        </a:rPr>
                        <a:t>ACORN-robust</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extLst>
                  <a:ext uri="{0D108BD9-81ED-4DB2-BD59-A6C34878D82A}">
                    <a16:rowId xmlns:a16="http://schemas.microsoft.com/office/drawing/2014/main" val="10000"/>
                  </a:ext>
                </a:extLst>
              </a:tr>
              <a:tr h="523875">
                <a:tc>
                  <a:txBody>
                    <a:bodyPr/>
                    <a:lstStyle/>
                    <a:p>
                      <a:r>
                        <a:rPr lang="zh-CN" sz="1800" b="0" dirty="0">
                          <a:solidFill>
                            <a:srgbClr val="24364A"/>
                          </a:solidFill>
                          <a:latin typeface="Microsoft YaHei"/>
                          <a:ea typeface="Microsoft YaHei"/>
                          <a:cs typeface="Microsoft YaHei"/>
                        </a:rPr>
                        <a:t>交互轮数</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800" b="0">
                          <a:solidFill>
                            <a:srgbClr val="24364A"/>
                          </a:solidFill>
                          <a:latin typeface="Microsoft YaHei"/>
                          <a:ea typeface="Microsoft YaHei"/>
                          <a:cs typeface="Microsoft YaHei"/>
                        </a:rPr>
                        <a:t>3</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800" b="0" dirty="0">
                          <a:solidFill>
                            <a:srgbClr val="24364A"/>
                          </a:solidFill>
                          <a:latin typeface="Microsoft YaHei"/>
                          <a:ea typeface="Microsoft YaHei"/>
                          <a:cs typeface="Microsoft YaHei"/>
                        </a:rPr>
                        <a:t>9–13</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extLst>
                  <a:ext uri="{0D108BD9-81ED-4DB2-BD59-A6C34878D82A}">
                    <a16:rowId xmlns:a16="http://schemas.microsoft.com/office/drawing/2014/main" val="10001"/>
                  </a:ext>
                </a:extLst>
              </a:tr>
              <a:tr h="523875">
                <a:tc>
                  <a:txBody>
                    <a:bodyPr/>
                    <a:lstStyle/>
                    <a:p>
                      <a:r>
                        <a:rPr lang="zh-CN" sz="1800" b="0">
                          <a:solidFill>
                            <a:srgbClr val="24364A"/>
                          </a:solidFill>
                          <a:latin typeface="Microsoft YaHei"/>
                          <a:ea typeface="Microsoft YaHei"/>
                          <a:cs typeface="Microsoft YaHei"/>
                        </a:rPr>
                        <a:t>1,000 客户端等待</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zh-CN" sz="1800" b="0">
                          <a:solidFill>
                            <a:srgbClr val="24364A"/>
                          </a:solidFill>
                          <a:latin typeface="Microsoft YaHei"/>
                          <a:ea typeface="Microsoft YaHei"/>
                          <a:cs typeface="Microsoft YaHei"/>
                        </a:rPr>
                        <a:t>12 秒</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zh-CN" sz="1800" b="0" dirty="0">
                          <a:solidFill>
                            <a:srgbClr val="24364A"/>
                          </a:solidFill>
                          <a:latin typeface="Microsoft YaHei"/>
                          <a:ea typeface="Microsoft YaHei"/>
                          <a:cs typeface="Microsoft YaHei"/>
                        </a:rPr>
                        <a:t>90–130 秒</a:t>
                      </a:r>
                    </a:p>
                  </a:txBody>
                  <a:tcPr marL="114300" marR="114300" marT="101917" marB="101917"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756638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4AAAC5F-4032-5B15-DE9E-79A5D73859E4}"/>
              </a:ext>
            </a:extLst>
          </p:cNvPr>
          <p:cNvGrpSpPr/>
          <p:nvPr/>
        </p:nvGrpSpPr>
        <p:grpSpPr>
          <a:xfrm>
            <a:off x="0" y="-1"/>
            <a:ext cx="1857829" cy="1181101"/>
            <a:chOff x="0" y="0"/>
            <a:chExt cx="2590667" cy="4976958"/>
          </a:xfrm>
        </p:grpSpPr>
        <p:sp>
          <p:nvSpPr>
            <p:cNvPr id="4" name="矩形 1">
              <a:extLst>
                <a:ext uri="{FF2B5EF4-FFF2-40B4-BE49-F238E27FC236}">
                  <a16:creationId xmlns:a16="http://schemas.microsoft.com/office/drawing/2014/main" id="{734A8238-3D43-B2E2-2190-12E487A0A502}"/>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1">
              <a:extLst>
                <a:ext uri="{FF2B5EF4-FFF2-40B4-BE49-F238E27FC236}">
                  <a16:creationId xmlns:a16="http://schemas.microsoft.com/office/drawing/2014/main" id="{E21A4C6B-530D-E6EF-6268-837767AA114F}"/>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8" name="直接连接符 7">
            <a:extLst>
              <a:ext uri="{FF2B5EF4-FFF2-40B4-BE49-F238E27FC236}">
                <a16:creationId xmlns:a16="http://schemas.microsoft.com/office/drawing/2014/main" id="{5D5D0118-270D-3A3D-E207-DD15E49A9274}"/>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计算开销与端到端收益</a:t>
            </a:r>
          </a:p>
        </p:txBody>
      </p:sp>
      <p:grpSp>
        <p:nvGrpSpPr>
          <p:cNvPr id="10" name="page-footer"/>
          <p:cNvGrpSpPr/>
          <p:nvPr/>
        </p:nvGrpSpPr>
        <p:grpSpPr>
          <a:xfrm>
            <a:off x="1194816" y="6426200"/>
            <a:ext cx="9954768" cy="205359"/>
            <a:chOff x="1194816" y="6426200"/>
            <a:chExt cx="9954768" cy="205359"/>
          </a:xfrm>
        </p:grpSpPr>
        <p:sp>
          <p:nvSpPr>
            <p:cNvPr id="38"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7"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20 / 23</a:t>
              </a:r>
            </a:p>
          </p:txBody>
        </p:sp>
      </p:grpSp>
      <p:grpSp>
        <p:nvGrpSpPr>
          <p:cNvPr id="37" name="evaluation"/>
          <p:cNvGrpSpPr/>
          <p:nvPr/>
        </p:nvGrpSpPr>
        <p:grpSpPr>
          <a:xfrm>
            <a:off x="1194816" y="1603154"/>
            <a:ext cx="9774555" cy="4233922"/>
            <a:chOff x="1188720" y="1473200"/>
            <a:chExt cx="9774555" cy="4233922"/>
          </a:xfrm>
        </p:grpSpPr>
        <p:sp>
          <p:nvSpPr>
            <p:cNvPr id="11" name="TextBox 11"/>
            <p:cNvSpPr txBox="1"/>
            <p:nvPr/>
          </p:nvSpPr>
          <p:spPr>
            <a:xfrm>
              <a:off x="1188720" y="1473200"/>
              <a:ext cx="921772" cy="440055"/>
            </a:xfrm>
            <a:prstGeom prst="rect">
              <a:avLst/>
            </a:prstGeom>
            <a:noFill/>
            <a:ln>
              <a:noFill/>
            </a:ln>
          </p:spPr>
          <p:txBody>
            <a:bodyPr wrap="none" lIns="0" tIns="0" rIns="0" bIns="0" anchor="t" anchorCtr="0">
              <a:spAutoFit/>
            </a:bodyPr>
            <a:lstStyle/>
            <a:p>
              <a:pPr algn="l"/>
              <a:r>
                <a:rPr lang="en-US" sz="2250" b="1" dirty="0">
                  <a:solidFill>
                    <a:srgbClr val="203864"/>
                  </a:solidFill>
                  <a:latin typeface="Microsoft YaHei"/>
                  <a:ea typeface="Microsoft YaHei"/>
                  <a:cs typeface="Microsoft YaHei"/>
                </a:rPr>
                <a:t>Client</a:t>
              </a:r>
            </a:p>
          </p:txBody>
        </p:sp>
        <p:sp>
          <p:nvSpPr>
            <p:cNvPr id="12" name="Line 12"/>
            <p:cNvSpPr/>
            <p:nvPr/>
          </p:nvSpPr>
          <p:spPr>
            <a:xfrm>
              <a:off x="1200150" y="1914525"/>
              <a:ext cx="2943225" cy="9525"/>
            </a:xfrm>
            <a:custGeom>
              <a:avLst/>
              <a:gdLst/>
              <a:ahLst/>
              <a:cxnLst/>
              <a:rect l="l" t="t" r="r" b="b"/>
              <a:pathLst>
                <a:path w="2943225" h="9525">
                  <a:moveTo>
                    <a:pt x="0" y="0"/>
                  </a:moveTo>
                  <a:lnTo>
                    <a:pt x="2943225" y="0"/>
                  </a:lnTo>
                </a:path>
              </a:pathLst>
            </a:custGeom>
            <a:noFill/>
            <a:ln w="28575">
              <a:solidFill>
                <a:srgbClr val="BDD7EE"/>
              </a:solidFill>
            </a:ln>
          </p:spPr>
        </p:sp>
        <p:sp>
          <p:nvSpPr>
            <p:cNvPr id="13" name="TextBox 13"/>
            <p:cNvSpPr txBox="1"/>
            <p:nvPr/>
          </p:nvSpPr>
          <p:spPr>
            <a:xfrm>
              <a:off x="4598670" y="1473200"/>
              <a:ext cx="1607058" cy="440055"/>
            </a:xfrm>
            <a:prstGeom prst="rect">
              <a:avLst/>
            </a:prstGeom>
            <a:noFill/>
            <a:ln>
              <a:noFill/>
            </a:ln>
          </p:spPr>
          <p:txBody>
            <a:bodyPr wrap="none" lIns="0" tIns="0" rIns="0" bIns="0" anchor="t" anchorCtr="0">
              <a:spAutoFit/>
            </a:bodyPr>
            <a:lstStyle/>
            <a:p>
              <a:pPr algn="l"/>
              <a:r>
                <a:rPr lang="en-US" sz="2250" b="1" dirty="0">
                  <a:solidFill>
                    <a:srgbClr val="203864"/>
                  </a:solidFill>
                  <a:latin typeface="Microsoft YaHei"/>
                  <a:ea typeface="Microsoft YaHei"/>
                  <a:cs typeface="Microsoft YaHei"/>
                </a:rPr>
                <a:t>Decryptor</a:t>
              </a:r>
            </a:p>
          </p:txBody>
        </p:sp>
        <p:sp>
          <p:nvSpPr>
            <p:cNvPr id="14" name="Line 14"/>
            <p:cNvSpPr/>
            <p:nvPr/>
          </p:nvSpPr>
          <p:spPr>
            <a:xfrm>
              <a:off x="4610100" y="1914525"/>
              <a:ext cx="2943225" cy="9525"/>
            </a:xfrm>
            <a:custGeom>
              <a:avLst/>
              <a:gdLst/>
              <a:ahLst/>
              <a:cxnLst/>
              <a:rect l="l" t="t" r="r" b="b"/>
              <a:pathLst>
                <a:path w="2943225" h="9525">
                  <a:moveTo>
                    <a:pt x="0" y="0"/>
                  </a:moveTo>
                  <a:lnTo>
                    <a:pt x="2943225" y="0"/>
                  </a:lnTo>
                </a:path>
              </a:pathLst>
            </a:custGeom>
            <a:noFill/>
            <a:ln w="28575">
              <a:solidFill>
                <a:srgbClr val="BDD7EE"/>
              </a:solidFill>
            </a:ln>
          </p:spPr>
        </p:sp>
        <p:sp>
          <p:nvSpPr>
            <p:cNvPr id="15" name="TextBox 15"/>
            <p:cNvSpPr txBox="1"/>
            <p:nvPr/>
          </p:nvSpPr>
          <p:spPr>
            <a:xfrm>
              <a:off x="8008620" y="1473200"/>
              <a:ext cx="1796832" cy="440055"/>
            </a:xfrm>
            <a:prstGeom prst="rect">
              <a:avLst/>
            </a:prstGeom>
            <a:noFill/>
            <a:ln>
              <a:noFill/>
            </a:ln>
          </p:spPr>
          <p:txBody>
            <a:bodyPr wrap="none" lIns="0" tIns="0" rIns="0" bIns="0" anchor="t" anchorCtr="0">
              <a:spAutoFit/>
            </a:bodyPr>
            <a:lstStyle/>
            <a:p>
              <a:pPr algn="l"/>
              <a:r>
                <a:rPr lang="en-US" sz="2250" b="1" dirty="0">
                  <a:solidFill>
                    <a:srgbClr val="203864"/>
                  </a:solidFill>
                  <a:latin typeface="Microsoft YaHei"/>
                  <a:ea typeface="Microsoft YaHei"/>
                  <a:cs typeface="Microsoft YaHei"/>
                </a:rPr>
                <a:t>End-to-End</a:t>
              </a:r>
            </a:p>
          </p:txBody>
        </p:sp>
        <p:sp>
          <p:nvSpPr>
            <p:cNvPr id="16" name="Line 16"/>
            <p:cNvSpPr/>
            <p:nvPr/>
          </p:nvSpPr>
          <p:spPr>
            <a:xfrm>
              <a:off x="8020050" y="1914525"/>
              <a:ext cx="2943225" cy="9525"/>
            </a:xfrm>
            <a:custGeom>
              <a:avLst/>
              <a:gdLst/>
              <a:ahLst/>
              <a:cxnLst/>
              <a:rect l="l" t="t" r="r" b="b"/>
              <a:pathLst>
                <a:path w="2943225" h="9525">
                  <a:moveTo>
                    <a:pt x="0" y="0"/>
                  </a:moveTo>
                  <a:lnTo>
                    <a:pt x="2943225" y="0"/>
                  </a:lnTo>
                </a:path>
              </a:pathLst>
            </a:custGeom>
            <a:noFill/>
            <a:ln w="28575">
              <a:solidFill>
                <a:srgbClr val="BDD7EE"/>
              </a:solidFill>
            </a:ln>
          </p:spPr>
        </p:sp>
        <p:sp>
          <p:nvSpPr>
            <p:cNvPr id="17" name="TextBox 17"/>
            <p:cNvSpPr txBox="1"/>
            <p:nvPr/>
          </p:nvSpPr>
          <p:spPr>
            <a:xfrm>
              <a:off x="1191387" y="2089150"/>
              <a:ext cx="1760097" cy="264688"/>
            </a:xfrm>
            <a:prstGeom prst="rect">
              <a:avLst/>
            </a:prstGeom>
            <a:noFill/>
            <a:ln>
              <a:noFill/>
            </a:ln>
          </p:spPr>
          <p:txBody>
            <a:bodyPr wrap="none" lIns="0" tIns="0" rIns="0" bIns="0" anchor="t" anchorCtr="0">
              <a:spAutoFit/>
            </a:bodyPr>
            <a:lstStyle/>
            <a:p>
              <a:pPr marL="285750" indent="-285750" algn="l">
                <a:buFont typeface="Wingdings" panose="05000000000000000000" pitchFamily="2" charset="2"/>
                <a:buChar char="Ø"/>
              </a:pPr>
              <a:r>
                <a:rPr lang="zh-CN" sz="1720" i="1" dirty="0">
                  <a:solidFill>
                    <a:srgbClr val="64748B"/>
                  </a:solidFill>
                  <a:latin typeface="Microsoft YaHei"/>
                  <a:ea typeface="Microsoft YaHei"/>
                  <a:cs typeface="Microsoft YaHei"/>
                </a:rPr>
                <a:t>输入长度约 2¹⁴</a:t>
              </a:r>
            </a:p>
          </p:txBody>
        </p:sp>
        <p:sp>
          <p:nvSpPr>
            <p:cNvPr id="18" name="TextBox 18"/>
            <p:cNvSpPr txBox="1"/>
            <p:nvPr/>
          </p:nvSpPr>
          <p:spPr>
            <a:xfrm>
              <a:off x="1188720" y="2466975"/>
              <a:ext cx="2154436" cy="360227"/>
            </a:xfrm>
            <a:prstGeom prst="rect">
              <a:avLst/>
            </a:prstGeom>
            <a:noFill/>
            <a:ln>
              <a:noFill/>
            </a:ln>
          </p:spPr>
          <p:txBody>
            <a:bodyPr wrap="none" lIns="0" tIns="0" rIns="0" bIns="0" anchor="t" anchorCtr="0">
              <a:spAutoFit/>
            </a:bodyPr>
            <a:lstStyle/>
            <a:p>
              <a:pPr marL="342900" indent="-342900" algn="l">
                <a:lnSpc>
                  <a:spcPts val="3225"/>
                </a:lnSpc>
                <a:buFont typeface="Arial" panose="020B0604020202020204" pitchFamily="34" charset="0"/>
                <a:buChar char="•"/>
              </a:pPr>
              <a:r>
                <a:rPr lang="en-US" sz="1720" b="1" dirty="0">
                  <a:solidFill>
                    <a:srgbClr val="203864"/>
                  </a:solidFill>
                  <a:latin typeface="Microsoft YaHei"/>
                  <a:ea typeface="Microsoft YaHei"/>
                </a:rPr>
                <a:t>L∞ </a:t>
              </a:r>
              <a:r>
                <a:rPr lang="zh-CN" altLang="en-US" sz="1720" b="1" dirty="0">
                  <a:solidFill>
                    <a:srgbClr val="203864"/>
                  </a:solidFill>
                  <a:latin typeface="Microsoft YaHei"/>
                  <a:ea typeface="Microsoft YaHei"/>
                </a:rPr>
                <a:t>证明约占 </a:t>
              </a:r>
              <a:r>
                <a:rPr lang="en-US" altLang="zh-CN" sz="1720" b="1" dirty="0">
                  <a:solidFill>
                    <a:srgbClr val="203864"/>
                  </a:solidFill>
                  <a:latin typeface="Microsoft YaHei"/>
                  <a:ea typeface="Microsoft YaHei"/>
                </a:rPr>
                <a:t>81%</a:t>
              </a:r>
              <a:endParaRPr lang="en-US" sz="1720" b="1" dirty="0">
                <a:solidFill>
                  <a:srgbClr val="203864"/>
                </a:solidFill>
                <a:latin typeface="Microsoft YaHei"/>
                <a:ea typeface="Microsoft YaHei"/>
              </a:endParaRPr>
            </a:p>
          </p:txBody>
        </p:sp>
        <p:sp>
          <p:nvSpPr>
            <p:cNvPr id="19" name="TextBox 19"/>
            <p:cNvSpPr txBox="1"/>
            <p:nvPr/>
          </p:nvSpPr>
          <p:spPr>
            <a:xfrm>
              <a:off x="4601718" y="2101850"/>
              <a:ext cx="2455800" cy="253916"/>
            </a:xfrm>
            <a:prstGeom prst="rect">
              <a:avLst/>
            </a:prstGeom>
            <a:noFill/>
            <a:ln>
              <a:noFill/>
            </a:ln>
          </p:spPr>
          <p:txBody>
            <a:bodyPr wrap="none" lIns="0" tIns="0" rIns="0" bIns="0" anchor="t" anchorCtr="0">
              <a:spAutoFit/>
            </a:bodyPr>
            <a:lstStyle/>
            <a:p>
              <a:pPr marL="285750" indent="-285750" algn="l">
                <a:buFont typeface="Wingdings" panose="05000000000000000000" pitchFamily="2" charset="2"/>
                <a:buChar char="Ø"/>
              </a:pPr>
              <a:r>
                <a:rPr lang="zh-CN" sz="1650" i="1" dirty="0">
                  <a:solidFill>
                    <a:srgbClr val="64748B"/>
                  </a:solidFill>
                  <a:latin typeface="Microsoft YaHei"/>
                  <a:ea typeface="Microsoft YaHei"/>
                  <a:cs typeface="Microsoft YaHei"/>
                </a:rPr>
                <a:t>RSA 解密 / 单个解密者</a:t>
              </a:r>
            </a:p>
          </p:txBody>
        </p:sp>
        <p:sp>
          <p:nvSpPr>
            <p:cNvPr id="20" name="TextBox 20"/>
            <p:cNvSpPr txBox="1"/>
            <p:nvPr/>
          </p:nvSpPr>
          <p:spPr>
            <a:xfrm>
              <a:off x="4600576" y="2466975"/>
              <a:ext cx="2860674" cy="779188"/>
            </a:xfrm>
            <a:prstGeom prst="rect">
              <a:avLst/>
            </a:prstGeom>
            <a:noFill/>
            <a:ln>
              <a:noFill/>
            </a:ln>
          </p:spPr>
          <p:txBody>
            <a:bodyPr wrap="square" lIns="0" tIns="0" rIns="0" bIns="0" anchor="t" anchorCtr="0">
              <a:spAutoFit/>
            </a:bodyPr>
            <a:lstStyle/>
            <a:p>
              <a:pPr marL="342900" indent="-342900">
                <a:lnSpc>
                  <a:spcPts val="3225"/>
                </a:lnSpc>
                <a:buFont typeface="Arial" panose="020B0604020202020204" pitchFamily="34" charset="0"/>
                <a:buChar char="•"/>
              </a:pPr>
              <a:r>
                <a:rPr lang="zh-CN" altLang="en-US" sz="1720" b="1" dirty="0">
                  <a:solidFill>
                    <a:srgbClr val="203864"/>
                  </a:solidFill>
                  <a:latin typeface="Microsoft YaHei"/>
                  <a:ea typeface="Microsoft YaHei"/>
                </a:rPr>
                <a:t>解密耗时随客户端数线性增长</a:t>
              </a:r>
              <a:endParaRPr lang="en-US" sz="1720" b="1" dirty="0">
                <a:solidFill>
                  <a:srgbClr val="203864"/>
                </a:solidFill>
                <a:latin typeface="Microsoft YaHei"/>
                <a:ea typeface="Microsoft YaHei"/>
              </a:endParaRPr>
            </a:p>
          </p:txBody>
        </p:sp>
        <p:sp>
          <p:nvSpPr>
            <p:cNvPr id="21" name="TextBox 21"/>
            <p:cNvSpPr txBox="1"/>
            <p:nvPr/>
          </p:nvSpPr>
          <p:spPr>
            <a:xfrm>
              <a:off x="8011668" y="2101850"/>
              <a:ext cx="2109552" cy="253916"/>
            </a:xfrm>
            <a:prstGeom prst="rect">
              <a:avLst/>
            </a:prstGeom>
            <a:noFill/>
            <a:ln>
              <a:noFill/>
            </a:ln>
          </p:spPr>
          <p:txBody>
            <a:bodyPr wrap="none" lIns="0" tIns="0" rIns="0" bIns="0" anchor="t" anchorCtr="0">
              <a:spAutoFit/>
            </a:bodyPr>
            <a:lstStyle/>
            <a:p>
              <a:pPr marL="285750" indent="-285750" algn="l">
                <a:buFont typeface="Wingdings" panose="05000000000000000000" pitchFamily="2" charset="2"/>
                <a:buChar char="Ø"/>
              </a:pPr>
              <a:r>
                <a:rPr lang="en-US" altLang="zh-CN" sz="1650" i="1" dirty="0">
                  <a:solidFill>
                    <a:srgbClr val="64748B"/>
                  </a:solidFill>
                  <a:latin typeface="Microsoft YaHei"/>
                  <a:ea typeface="Microsoft YaHei"/>
                  <a:cs typeface="Microsoft YaHei"/>
                </a:rPr>
                <a:t>n=</a:t>
              </a:r>
              <a:r>
                <a:rPr lang="zh-CN" sz="1650" i="1" dirty="0">
                  <a:solidFill>
                    <a:srgbClr val="64748B"/>
                  </a:solidFill>
                  <a:latin typeface="Microsoft YaHei"/>
                  <a:ea typeface="Microsoft YaHei"/>
                  <a:cs typeface="Microsoft YaHei"/>
                </a:rPr>
                <a:t>1,000</a:t>
              </a:r>
              <a:r>
                <a:rPr lang="en-US" altLang="zh-CN" sz="1650" i="1" dirty="0">
                  <a:solidFill>
                    <a:srgbClr val="64748B"/>
                  </a:solidFill>
                  <a:latin typeface="Microsoft YaHei"/>
                  <a:ea typeface="Microsoft YaHei"/>
                  <a:cs typeface="Microsoft YaHei"/>
                </a:rPr>
                <a:t> </a:t>
              </a:r>
              <a:r>
                <a:rPr lang="zh-CN" sz="1650" i="1" dirty="0">
                  <a:solidFill>
                    <a:srgbClr val="64748B"/>
                  </a:solidFill>
                  <a:latin typeface="Microsoft YaHei"/>
                  <a:ea typeface="Microsoft YaHei"/>
                  <a:cs typeface="Microsoft YaHei"/>
                </a:rPr>
                <a:t>；δ = 0.1</a:t>
              </a:r>
            </a:p>
          </p:txBody>
        </p:sp>
        <p:sp>
          <p:nvSpPr>
            <p:cNvPr id="22" name="TextBox 22"/>
            <p:cNvSpPr txBox="1"/>
            <p:nvPr/>
          </p:nvSpPr>
          <p:spPr>
            <a:xfrm>
              <a:off x="8010906" y="2428875"/>
              <a:ext cx="2290692" cy="401200"/>
            </a:xfrm>
            <a:prstGeom prst="rect">
              <a:avLst/>
            </a:prstGeom>
            <a:noFill/>
            <a:ln>
              <a:noFill/>
            </a:ln>
          </p:spPr>
          <p:txBody>
            <a:bodyPr wrap="none" lIns="0" tIns="0" rIns="0" bIns="0" anchor="t" anchorCtr="0">
              <a:spAutoFit/>
            </a:bodyPr>
            <a:lstStyle/>
            <a:p>
              <a:pPr marL="285750" indent="-285750">
                <a:lnSpc>
                  <a:spcPts val="3600"/>
                </a:lnSpc>
                <a:buFont typeface="Arial" panose="020B0604020202020204" pitchFamily="34" charset="0"/>
                <a:buChar char="•"/>
              </a:pPr>
              <a:r>
                <a:rPr lang="zh-CN" altLang="en-US" b="1" dirty="0">
                  <a:solidFill>
                    <a:srgbClr val="203864"/>
                  </a:solidFill>
                  <a:latin typeface="Microsoft YaHei"/>
                  <a:ea typeface="Microsoft YaHei"/>
                </a:rPr>
                <a:t>端到端提升约</a:t>
              </a:r>
              <a:r>
                <a:rPr lang="en-US" altLang="zh-CN" b="1" dirty="0">
                  <a:solidFill>
                    <a:srgbClr val="203864"/>
                  </a:solidFill>
                  <a:latin typeface="Microsoft YaHei"/>
                  <a:ea typeface="Microsoft YaHei"/>
                </a:rPr>
                <a:t>5-7</a:t>
              </a:r>
              <a:r>
                <a:rPr lang="zh-CN" altLang="en-US" b="1" dirty="0">
                  <a:solidFill>
                    <a:srgbClr val="203864"/>
                  </a:solidFill>
                  <a:latin typeface="Microsoft YaHei"/>
                  <a:ea typeface="Microsoft YaHei"/>
                </a:rPr>
                <a:t>倍</a:t>
              </a:r>
              <a:endParaRPr lang="en-US" altLang="zh-CN" sz="1800" dirty="0">
                <a:solidFill>
                  <a:srgbClr val="24364A"/>
                </a:solidFill>
                <a:latin typeface="Microsoft YaHei"/>
                <a:ea typeface="Microsoft YaHei"/>
                <a:cs typeface="Microsoft YaHei"/>
              </a:endParaRPr>
            </a:p>
          </p:txBody>
        </p:sp>
        <p:sp>
          <p:nvSpPr>
            <p:cNvPr id="36" name="TextBox 36"/>
            <p:cNvSpPr txBox="1"/>
            <p:nvPr/>
          </p:nvSpPr>
          <p:spPr>
            <a:xfrm>
              <a:off x="1200150" y="5131580"/>
              <a:ext cx="4975721" cy="575542"/>
            </a:xfrm>
            <a:prstGeom prst="rect">
              <a:avLst/>
            </a:prstGeom>
            <a:noFill/>
            <a:ln>
              <a:noFill/>
            </a:ln>
          </p:spPr>
          <p:txBody>
            <a:bodyPr wrap="none" lIns="0" tIns="0" rIns="0" bIns="0" anchor="t" anchorCtr="0">
              <a:spAutoFit/>
            </a:bodyPr>
            <a:lstStyle/>
            <a:p>
              <a:pPr algn="l">
                <a:lnSpc>
                  <a:spcPct val="125000"/>
                </a:lnSpc>
              </a:pPr>
              <a:r>
                <a:rPr lang="zh-CN" altLang="en-US" sz="1720" b="1" dirty="0">
                  <a:solidFill>
                    <a:srgbClr val="203864"/>
                  </a:solidFill>
                  <a:latin typeface="Microsoft YaHei"/>
                  <a:ea typeface="Microsoft YaHei"/>
                  <a:cs typeface="Microsoft YaHei"/>
                </a:rPr>
                <a:t>提升主要</a:t>
              </a:r>
              <a:r>
                <a:rPr lang="zh-CN" sz="1720" b="1" dirty="0">
                  <a:solidFill>
                    <a:srgbClr val="203864"/>
                  </a:solidFill>
                  <a:latin typeface="Microsoft YaHei"/>
                  <a:ea typeface="Microsoft YaHei"/>
                  <a:cs typeface="Microsoft YaHei"/>
                </a:rPr>
                <a:t>来自减少网络等待；</a:t>
              </a:r>
              <a:endParaRPr lang="en-US" altLang="zh-CN" sz="1720" b="1" dirty="0">
                <a:solidFill>
                  <a:srgbClr val="203864"/>
                </a:solidFill>
                <a:latin typeface="Microsoft YaHei"/>
                <a:ea typeface="Microsoft YaHei"/>
                <a:cs typeface="Microsoft YaHei"/>
              </a:endParaRPr>
            </a:p>
            <a:p>
              <a:pPr algn="l">
                <a:lnSpc>
                  <a:spcPct val="125000"/>
                </a:lnSpc>
              </a:pPr>
              <a:r>
                <a:rPr lang="zh-CN" altLang="en-US" sz="1400" dirty="0">
                  <a:solidFill>
                    <a:srgbClr val="64748B"/>
                  </a:solidFill>
                  <a:latin typeface="Microsoft YaHei"/>
                  <a:ea typeface="Microsoft YaHei"/>
                </a:rPr>
                <a:t>等待时间及端到端提升</a:t>
              </a:r>
              <a:r>
                <a:rPr lang="en-US" altLang="zh-CN" sz="1400" dirty="0">
                  <a:solidFill>
                    <a:srgbClr val="64748B"/>
                  </a:solidFill>
                  <a:latin typeface="Microsoft YaHei"/>
                  <a:ea typeface="Microsoft YaHei"/>
                </a:rPr>
                <a:t>5–7</a:t>
              </a:r>
              <a:r>
                <a:rPr lang="zh-CN" altLang="en-US" sz="1400" dirty="0">
                  <a:solidFill>
                    <a:srgbClr val="64748B"/>
                  </a:solidFill>
                  <a:latin typeface="Microsoft YaHei"/>
                  <a:ea typeface="Microsoft YaHei"/>
                </a:rPr>
                <a:t>倍，为原文中指定模拟条件下的结果</a:t>
              </a:r>
            </a:p>
          </p:txBody>
        </p:sp>
      </p:grpSp>
      <p:pic>
        <p:nvPicPr>
          <p:cNvPr id="40" name="图片 39">
            <a:extLst>
              <a:ext uri="{FF2B5EF4-FFF2-40B4-BE49-F238E27FC236}">
                <a16:creationId xmlns:a16="http://schemas.microsoft.com/office/drawing/2014/main" id="{C1BF51C4-A2C1-DF88-9808-C78E4DD55364}"/>
              </a:ext>
            </a:extLst>
          </p:cNvPr>
          <p:cNvPicPr>
            <a:picLocks noChangeAspect="1"/>
          </p:cNvPicPr>
          <p:nvPr/>
        </p:nvPicPr>
        <p:blipFill>
          <a:blip r:embed="rId3">
            <a:extLst>
              <a:ext uri="{28A0092B-C50C-407E-A947-70E740481C1C}">
                <a14:useLocalDpi xmlns:a14="http://schemas.microsoft.com/office/drawing/2010/main" val="0"/>
              </a:ext>
            </a:extLst>
          </a:blip>
          <a:srcRect b="10571"/>
          <a:stretch>
            <a:fillRect/>
          </a:stretch>
        </p:blipFill>
        <p:spPr>
          <a:xfrm>
            <a:off x="990627" y="3325580"/>
            <a:ext cx="2987335" cy="1669708"/>
          </a:xfrm>
          <a:prstGeom prst="rect">
            <a:avLst/>
          </a:prstGeom>
        </p:spPr>
      </p:pic>
      <p:pic>
        <p:nvPicPr>
          <p:cNvPr id="42" name="图片 41">
            <a:extLst>
              <a:ext uri="{FF2B5EF4-FFF2-40B4-BE49-F238E27FC236}">
                <a16:creationId xmlns:a16="http://schemas.microsoft.com/office/drawing/2014/main" id="{8879E8D6-25BE-428B-247F-72AE6118D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945" y="3412638"/>
            <a:ext cx="2672640" cy="1670400"/>
          </a:xfrm>
          <a:prstGeom prst="rect">
            <a:avLst/>
          </a:prstGeom>
        </p:spPr>
      </p:pic>
      <p:pic>
        <p:nvPicPr>
          <p:cNvPr id="44" name="图片 43">
            <a:extLst>
              <a:ext uri="{FF2B5EF4-FFF2-40B4-BE49-F238E27FC236}">
                <a16:creationId xmlns:a16="http://schemas.microsoft.com/office/drawing/2014/main" id="{2E76F136-12EA-FD1E-E399-E13C6B11B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1438" y="3412638"/>
            <a:ext cx="2672640" cy="1670400"/>
          </a:xfrm>
          <a:prstGeom prst="rect">
            <a:avLst/>
          </a:prstGeom>
        </p:spPr>
      </p:pic>
    </p:spTree>
    <p:extLst>
      <p:ext uri="{BB962C8B-B14F-4D97-AF65-F5344CB8AC3E}">
        <p14:creationId xmlns:p14="http://schemas.microsoft.com/office/powerpoint/2010/main" val="1013580382"/>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A2AC639-FFEF-4E18-03AB-A1297A215657}"/>
              </a:ext>
            </a:extLst>
          </p:cNvPr>
          <p:cNvGrpSpPr/>
          <p:nvPr/>
        </p:nvGrpSpPr>
        <p:grpSpPr>
          <a:xfrm>
            <a:off x="0" y="-1"/>
            <a:ext cx="1857829" cy="1181101"/>
            <a:chOff x="0" y="0"/>
            <a:chExt cx="2590667" cy="4976958"/>
          </a:xfrm>
        </p:grpSpPr>
        <p:sp>
          <p:nvSpPr>
            <p:cNvPr id="7" name="矩形 1">
              <a:extLst>
                <a:ext uri="{FF2B5EF4-FFF2-40B4-BE49-F238E27FC236}">
                  <a16:creationId xmlns:a16="http://schemas.microsoft.com/office/drawing/2014/main" id="{E25EF265-AE7A-1C57-07E8-394857629B07}"/>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1">
              <a:extLst>
                <a:ext uri="{FF2B5EF4-FFF2-40B4-BE49-F238E27FC236}">
                  <a16:creationId xmlns:a16="http://schemas.microsoft.com/office/drawing/2014/main" id="{B00C0EC2-1C0E-8B5A-D8A4-56D604F3BC63}"/>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9" name="直接连接符 8">
            <a:extLst>
              <a:ext uri="{FF2B5EF4-FFF2-40B4-BE49-F238E27FC236}">
                <a16:creationId xmlns:a16="http://schemas.microsoft.com/office/drawing/2014/main" id="{BB0593E9-0105-4C31-26BC-3ABFB99B8850}"/>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挑战、设计与结果</a:t>
            </a:r>
          </a:p>
        </p:txBody>
      </p:sp>
      <p:grpSp>
        <p:nvGrpSpPr>
          <p:cNvPr id="16" name="page-footer"/>
          <p:cNvGrpSpPr/>
          <p:nvPr/>
        </p:nvGrpSpPr>
        <p:grpSpPr>
          <a:xfrm>
            <a:off x="1194816" y="6426200"/>
            <a:ext cx="9954768" cy="205359"/>
            <a:chOff x="1194816" y="6426200"/>
            <a:chExt cx="9954768" cy="205359"/>
          </a:xfrm>
        </p:grpSpPr>
        <p:sp>
          <p:nvSpPr>
            <p:cNvPr id="6" name="TextBox 6"/>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7" name="TextBox 7"/>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21 / 23</a:t>
              </a:r>
            </a:p>
          </p:txBody>
        </p:sp>
      </p:grpSp>
      <p:grpSp>
        <p:nvGrpSpPr>
          <p:cNvPr id="12" name="page-lead"/>
          <p:cNvGrpSpPr/>
          <p:nvPr/>
        </p:nvGrpSpPr>
        <p:grpSpPr>
          <a:xfrm>
            <a:off x="1190625" y="1333500"/>
            <a:ext cx="4433906" cy="289310"/>
            <a:chOff x="1190625" y="1333500"/>
            <a:chExt cx="4433906" cy="289310"/>
          </a:xfrm>
        </p:grpSpPr>
        <p:sp>
          <p:nvSpPr>
            <p:cNvPr id="11" name="TextBox 11"/>
            <p:cNvSpPr txBox="1"/>
            <p:nvPr/>
          </p:nvSpPr>
          <p:spPr>
            <a:xfrm>
              <a:off x="1190625" y="1333500"/>
              <a:ext cx="4433906"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贡献</a:t>
              </a:r>
              <a:r>
                <a:rPr lang="zh-CN" altLang="en-US" sz="1880" b="1" dirty="0">
                  <a:solidFill>
                    <a:srgbClr val="203864"/>
                  </a:solidFill>
                  <a:latin typeface="Microsoft YaHei"/>
                  <a:ea typeface="Microsoft YaHei"/>
                  <a:cs typeface="Microsoft YaHei"/>
                </a:rPr>
                <a:t>了</a:t>
              </a:r>
              <a:r>
                <a:rPr lang="zh-CN" sz="1880" b="1" dirty="0">
                  <a:solidFill>
                    <a:srgbClr val="203864"/>
                  </a:solidFill>
                  <a:latin typeface="Microsoft YaHei"/>
                  <a:ea typeface="Microsoft YaHei"/>
                  <a:cs typeface="Microsoft YaHei"/>
                </a:rPr>
                <a:t>一套可证明、低轮数的完整协议</a:t>
              </a:r>
            </a:p>
          </p:txBody>
        </p:sp>
      </p:grpSp>
      <p:graphicFrame>
        <p:nvGraphicFramePr>
          <p:cNvPr id="13" name="contribution-map"/>
          <p:cNvGraphicFramePr>
            <a:graphicFrameLocks noGrp="1"/>
          </p:cNvGraphicFramePr>
          <p:nvPr/>
        </p:nvGraphicFramePr>
        <p:xfrm>
          <a:off x="1200150" y="1971675"/>
          <a:ext cx="9944100" cy="3543300"/>
        </p:xfrm>
        <a:graphic>
          <a:graphicData uri="http://schemas.openxmlformats.org/drawingml/2006/table">
            <a:tbl>
              <a:tblPr firstRow="1">
                <a:tableStyleId>{5C22544A-7EE6-4342-B048-85BDC9FD1C3A}</a:tableStyleId>
              </a:tblPr>
              <a:tblGrid>
                <a:gridCol w="2971800">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3400425">
                  <a:extLst>
                    <a:ext uri="{9D8B030D-6E8A-4147-A177-3AD203B41FA5}">
                      <a16:colId xmlns:a16="http://schemas.microsoft.com/office/drawing/2014/main" val="20002"/>
                    </a:ext>
                  </a:extLst>
                </a:gridCol>
              </a:tblGrid>
              <a:tr h="590550">
                <a:tc>
                  <a:txBody>
                    <a:bodyPr/>
                    <a:lstStyle/>
                    <a:p>
                      <a:r>
                        <a:rPr lang="en-US" sz="1720" b="1">
                          <a:solidFill>
                            <a:srgbClr val="FFFFFF"/>
                          </a:solidFill>
                          <a:latin typeface="Microsoft YaHei"/>
                          <a:ea typeface="Microsoft YaHei"/>
                          <a:cs typeface="Microsoft YaHei"/>
                        </a:rPr>
                        <a:t>Challenge</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tc>
                  <a:txBody>
                    <a:bodyPr/>
                    <a:lstStyle/>
                    <a:p>
                      <a:r>
                        <a:rPr lang="en-US" sz="1720" b="1">
                          <a:solidFill>
                            <a:srgbClr val="FFFFFF"/>
                          </a:solidFill>
                          <a:latin typeface="Microsoft YaHei"/>
                          <a:ea typeface="Microsoft YaHei"/>
                          <a:cs typeface="Microsoft YaHei"/>
                        </a:rPr>
                        <a:t>Design</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tc>
                  <a:txBody>
                    <a:bodyPr/>
                    <a:lstStyle/>
                    <a:p>
                      <a:r>
                        <a:rPr lang="en-US" sz="1720" b="1">
                          <a:solidFill>
                            <a:srgbClr val="FFFFFF"/>
                          </a:solidFill>
                          <a:latin typeface="Microsoft YaHei"/>
                          <a:ea typeface="Microsoft YaHei"/>
                          <a:cs typeface="Microsoft YaHei"/>
                        </a:rPr>
                        <a:t>Result</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203864"/>
                    </a:solidFill>
                  </a:tcPr>
                </a:tc>
                <a:extLst>
                  <a:ext uri="{0D108BD9-81ED-4DB2-BD59-A6C34878D82A}">
                    <a16:rowId xmlns:a16="http://schemas.microsoft.com/office/drawing/2014/main" val="10000"/>
                  </a:ext>
                </a:extLst>
              </a:tr>
              <a:tr h="590550">
                <a:tc>
                  <a:txBody>
                    <a:bodyPr/>
                    <a:lstStyle/>
                    <a:p>
                      <a:r>
                        <a:rPr lang="zh-CN" sz="1720" b="0" dirty="0">
                          <a:solidFill>
                            <a:srgbClr val="24364A"/>
                          </a:solidFill>
                          <a:latin typeface="Microsoft YaHei"/>
                          <a:ea typeface="Microsoft YaHei"/>
                          <a:cs typeface="Microsoft YaHei"/>
                        </a:rPr>
                        <a:t>高维聚合成本高</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720" b="0" dirty="0">
                          <a:solidFill>
                            <a:srgbClr val="24364A"/>
                          </a:solidFill>
                          <a:latin typeface="Microsoft YaHei"/>
                          <a:ea typeface="Microsoft YaHei"/>
                          <a:cs typeface="Microsoft YaHei"/>
                        </a:rPr>
                        <a:t>双层聚合</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720" b="0" dirty="0">
                          <a:solidFill>
                            <a:srgbClr val="24364A"/>
                          </a:solidFill>
                          <a:latin typeface="Microsoft YaHei"/>
                          <a:ea typeface="Microsoft YaHei"/>
                          <a:cs typeface="Microsoft YaHei"/>
                        </a:rPr>
                        <a:t>大向量 → 小密钥</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extLst>
                  <a:ext uri="{0D108BD9-81ED-4DB2-BD59-A6C34878D82A}">
                    <a16:rowId xmlns:a16="http://schemas.microsoft.com/office/drawing/2014/main" val="10001"/>
                  </a:ext>
                </a:extLst>
              </a:tr>
              <a:tr h="590550">
                <a:tc>
                  <a:txBody>
                    <a:bodyPr/>
                    <a:lstStyle/>
                    <a:p>
                      <a:r>
                        <a:rPr lang="zh-CN" sz="1720" b="0">
                          <a:solidFill>
                            <a:srgbClr val="24364A"/>
                          </a:solidFill>
                          <a:latin typeface="Microsoft YaHei"/>
                          <a:ea typeface="Microsoft YaHei"/>
                          <a:cs typeface="Microsoft YaHei"/>
                        </a:rPr>
                        <a:t>恶意客户端乱算</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zh-CN" sz="1720" b="0">
                          <a:solidFill>
                            <a:srgbClr val="24364A"/>
                          </a:solidFill>
                          <a:latin typeface="Microsoft YaHei"/>
                          <a:ea typeface="Microsoft YaHei"/>
                          <a:cs typeface="Microsoft YaHei"/>
                        </a:rPr>
                        <a:t>Commit + 内积证明</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zh-CN" sz="1720" b="0">
                          <a:solidFill>
                            <a:srgbClr val="24364A"/>
                          </a:solidFill>
                          <a:latin typeface="Microsoft YaHei"/>
                          <a:ea typeface="Microsoft YaHei"/>
                          <a:cs typeface="Microsoft YaHei"/>
                        </a:rPr>
                        <a:t>约束协议行为</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extLst>
                  <a:ext uri="{0D108BD9-81ED-4DB2-BD59-A6C34878D82A}">
                    <a16:rowId xmlns:a16="http://schemas.microsoft.com/office/drawing/2014/main" val="10002"/>
                  </a:ext>
                </a:extLst>
              </a:tr>
              <a:tr h="590550">
                <a:tc>
                  <a:txBody>
                    <a:bodyPr/>
                    <a:lstStyle/>
                    <a:p>
                      <a:r>
                        <a:rPr lang="zh-CN" sz="1720" b="0">
                          <a:solidFill>
                            <a:srgbClr val="24364A"/>
                          </a:solidFill>
                          <a:latin typeface="Microsoft YaHei"/>
                          <a:ea typeface="Microsoft YaHei"/>
                          <a:cs typeface="Microsoft YaHei"/>
                        </a:rPr>
                        <a:t>解密者集合不一致</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en-US" sz="1720" b="0">
                          <a:solidFill>
                            <a:srgbClr val="24364A"/>
                          </a:solidFill>
                          <a:latin typeface="Microsoft YaHei"/>
                          <a:ea typeface="Microsoft YaHei"/>
                          <a:cs typeface="Microsoft YaHei"/>
                        </a:rPr>
                        <a:t>Agreement Protocol</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720" b="0">
                          <a:solidFill>
                            <a:srgbClr val="24364A"/>
                          </a:solidFill>
                          <a:latin typeface="Microsoft YaHei"/>
                          <a:ea typeface="Microsoft YaHei"/>
                          <a:cs typeface="Microsoft YaHei"/>
                        </a:rPr>
                        <a:t>聚合同一个有效集合</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extLst>
                  <a:ext uri="{0D108BD9-81ED-4DB2-BD59-A6C34878D82A}">
                    <a16:rowId xmlns:a16="http://schemas.microsoft.com/office/drawing/2014/main" val="10003"/>
                  </a:ext>
                </a:extLst>
              </a:tr>
              <a:tr h="590550">
                <a:tc>
                  <a:txBody>
                    <a:bodyPr/>
                    <a:lstStyle/>
                    <a:p>
                      <a:r>
                        <a:rPr lang="zh-CN" sz="1720" b="0">
                          <a:solidFill>
                            <a:srgbClr val="24364A"/>
                          </a:solidFill>
                          <a:latin typeface="Microsoft YaHei"/>
                          <a:ea typeface="Microsoft YaHei"/>
                          <a:cs typeface="Microsoft YaHei"/>
                        </a:rPr>
                        <a:t>输入本身越界</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zh-CN" sz="1720" b="0">
                          <a:solidFill>
                            <a:srgbClr val="24364A"/>
                          </a:solidFill>
                          <a:latin typeface="Microsoft YaHei"/>
                          <a:ea typeface="Microsoft YaHei"/>
                          <a:cs typeface="Microsoft YaHei"/>
                        </a:rPr>
                        <a:t>L₂ / L∞ 范数验证</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tc>
                  <a:txBody>
                    <a:bodyPr/>
                    <a:lstStyle/>
                    <a:p>
                      <a:r>
                        <a:rPr lang="en-US" sz="1720" b="0">
                          <a:solidFill>
                            <a:srgbClr val="24364A"/>
                          </a:solidFill>
                          <a:latin typeface="Microsoft YaHei"/>
                          <a:ea typeface="Microsoft YaHei"/>
                          <a:cs typeface="Microsoft YaHei"/>
                        </a:rPr>
                        <a:t>Disruption Resistance</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FFFFF"/>
                    </a:solidFill>
                  </a:tcPr>
                </a:tc>
                <a:extLst>
                  <a:ext uri="{0D108BD9-81ED-4DB2-BD59-A6C34878D82A}">
                    <a16:rowId xmlns:a16="http://schemas.microsoft.com/office/drawing/2014/main" val="10004"/>
                  </a:ext>
                </a:extLst>
              </a:tr>
              <a:tr h="590550">
                <a:tc>
                  <a:txBody>
                    <a:bodyPr/>
                    <a:lstStyle/>
                    <a:p>
                      <a:r>
                        <a:rPr lang="zh-CN" sz="1720" b="0">
                          <a:solidFill>
                            <a:srgbClr val="24364A"/>
                          </a:solidFill>
                          <a:latin typeface="Microsoft YaHei"/>
                          <a:ea typeface="Microsoft YaHei"/>
                          <a:cs typeface="Microsoft YaHei"/>
                        </a:rPr>
                        <a:t>多轮交互等待</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720" b="0">
                          <a:solidFill>
                            <a:srgbClr val="24364A"/>
                          </a:solidFill>
                          <a:latin typeface="Microsoft YaHei"/>
                          <a:ea typeface="Microsoft YaHei"/>
                          <a:cs typeface="Microsoft YaHei"/>
                        </a:rPr>
                        <a:t>固定三轮协议</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tc>
                  <a:txBody>
                    <a:bodyPr/>
                    <a:lstStyle/>
                    <a:p>
                      <a:r>
                        <a:rPr lang="zh-CN" sz="1720" b="0" dirty="0">
                          <a:solidFill>
                            <a:srgbClr val="24364A"/>
                          </a:solidFill>
                          <a:latin typeface="Microsoft YaHei"/>
                          <a:ea typeface="Microsoft YaHei"/>
                          <a:cs typeface="Microsoft YaHei"/>
                        </a:rPr>
                        <a:t>降低端到端延迟</a:t>
                      </a:r>
                    </a:p>
                  </a:txBody>
                  <a:tcPr marL="114300" marR="114300" marT="114300" marB="114300" anchor="ctr">
                    <a:lnL w="9525">
                      <a:solidFill>
                        <a:srgbClr val="D5DFEB"/>
                      </a:solidFill>
                      <a:prstDash val="solid"/>
                    </a:lnL>
                    <a:lnR w="9525">
                      <a:solidFill>
                        <a:srgbClr val="D5DFEB"/>
                      </a:solidFill>
                      <a:prstDash val="solid"/>
                    </a:lnR>
                    <a:lnT w="9525">
                      <a:solidFill>
                        <a:srgbClr val="D5DFEB"/>
                      </a:solidFill>
                      <a:prstDash val="solid"/>
                    </a:lnT>
                    <a:lnB w="9525">
                      <a:solidFill>
                        <a:srgbClr val="D5DFEB"/>
                      </a:solidFill>
                      <a:prstDash val="solid"/>
                    </a:lnB>
                    <a:solidFill>
                      <a:srgbClr val="F2F6FB"/>
                    </a:solidFill>
                  </a:tcPr>
                </a:tc>
                <a:extLst>
                  <a:ext uri="{0D108BD9-81ED-4DB2-BD59-A6C34878D82A}">
                    <a16:rowId xmlns:a16="http://schemas.microsoft.com/office/drawing/2014/main" val="10005"/>
                  </a:ext>
                </a:extLst>
              </a:tr>
            </a:tbl>
          </a:graphicData>
        </a:graphic>
      </p:graphicFrame>
      <p:grpSp>
        <p:nvGrpSpPr>
          <p:cNvPr id="15" name="takeaway"/>
          <p:cNvGrpSpPr/>
          <p:nvPr/>
        </p:nvGrpSpPr>
        <p:grpSpPr>
          <a:xfrm>
            <a:off x="2172792" y="5822950"/>
            <a:ext cx="7846416" cy="337376"/>
            <a:chOff x="2172792" y="5822950"/>
            <a:chExt cx="7846416" cy="337376"/>
          </a:xfrm>
        </p:grpSpPr>
        <p:sp>
          <p:nvSpPr>
            <p:cNvPr id="14" name="TextBox 14"/>
            <p:cNvSpPr txBox="1"/>
            <p:nvPr/>
          </p:nvSpPr>
          <p:spPr>
            <a:xfrm>
              <a:off x="2172792" y="5822950"/>
              <a:ext cx="7846416" cy="337376"/>
            </a:xfrm>
            <a:prstGeom prst="rect">
              <a:avLst/>
            </a:prstGeom>
            <a:noFill/>
            <a:ln>
              <a:noFill/>
            </a:ln>
          </p:spPr>
          <p:txBody>
            <a:bodyPr wrap="none" lIns="0" tIns="0" rIns="0" bIns="0" anchor="t" anchorCtr="0">
              <a:spAutoFit/>
            </a:bodyPr>
            <a:lstStyle/>
            <a:p>
              <a:pPr algn="ctr"/>
              <a:r>
                <a:rPr lang="en-US" sz="1720" b="1" dirty="0">
                  <a:solidFill>
                    <a:srgbClr val="203864"/>
                  </a:solidFill>
                  <a:latin typeface="Microsoft YaHei"/>
                  <a:ea typeface="Microsoft YaHei"/>
                  <a:cs typeface="Microsoft YaHei"/>
                </a:rPr>
                <a:t>Privacy · Dropout Resilience · Robustness · Disruption Resistance</a:t>
              </a:r>
            </a:p>
          </p:txBody>
        </p:sp>
      </p:grpSp>
    </p:spTree>
    <p:extLst>
      <p:ext uri="{BB962C8B-B14F-4D97-AF65-F5344CB8AC3E}">
        <p14:creationId xmlns:p14="http://schemas.microsoft.com/office/powerpoint/2010/main" val="194675197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p:cNvGrpSpPr/>
          <p:nvPr/>
        </p:nvGrpSpPr>
        <p:grpSpPr>
          <a:xfrm>
            <a:off x="4420351" y="2396175"/>
            <a:ext cx="1440160" cy="1440160"/>
            <a:chOff x="4066364" y="1514966"/>
            <a:chExt cx="1757290" cy="1757290"/>
          </a:xfrm>
        </p:grpSpPr>
        <p:sp>
          <p:nvSpPr>
            <p:cNvPr id="85" name="泪滴形 84"/>
            <p:cNvSpPr/>
            <p:nvPr/>
          </p:nvSpPr>
          <p:spPr>
            <a:xfrm flipH="1">
              <a:off x="4066364" y="1514966"/>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86" name="Oval 6"/>
            <p:cNvSpPr>
              <a:spLocks noChangeArrowheads="1"/>
            </p:cNvSpPr>
            <p:nvPr/>
          </p:nvSpPr>
          <p:spPr bwMode="auto">
            <a:xfrm>
              <a:off x="4536212"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87" name="文本框 86"/>
            <p:cNvSpPr txBox="1"/>
            <p:nvPr/>
          </p:nvSpPr>
          <p:spPr>
            <a:xfrm>
              <a:off x="4613791"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01</a:t>
              </a:r>
              <a:endParaRPr lang="zh-CN" altLang="en-US" sz="2400" dirty="0">
                <a:solidFill>
                  <a:schemeClr val="tx1">
                    <a:lumMod val="95000"/>
                    <a:lumOff val="5000"/>
                  </a:schemeClr>
                </a:solidFill>
                <a:cs typeface="+mn-ea"/>
                <a:sym typeface="+mn-lt"/>
              </a:endParaRPr>
            </a:p>
          </p:txBody>
        </p:sp>
      </p:grpSp>
      <p:grpSp>
        <p:nvGrpSpPr>
          <p:cNvPr id="88" name="组合 87"/>
          <p:cNvGrpSpPr/>
          <p:nvPr/>
        </p:nvGrpSpPr>
        <p:grpSpPr>
          <a:xfrm>
            <a:off x="6096420" y="2396175"/>
            <a:ext cx="1440160" cy="1440160"/>
            <a:chOff x="6027167" y="1514966"/>
            <a:chExt cx="1757290" cy="1757290"/>
          </a:xfrm>
        </p:grpSpPr>
        <p:sp>
          <p:nvSpPr>
            <p:cNvPr id="89" name="泪滴形 88"/>
            <p:cNvSpPr/>
            <p:nvPr/>
          </p:nvSpPr>
          <p:spPr>
            <a:xfrm>
              <a:off x="6027167" y="1514966"/>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0" name="Oval 6"/>
            <p:cNvSpPr>
              <a:spLocks noChangeArrowheads="1"/>
            </p:cNvSpPr>
            <p:nvPr/>
          </p:nvSpPr>
          <p:spPr bwMode="auto">
            <a:xfrm>
              <a:off x="6541475"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1" name="文本框 90"/>
            <p:cNvSpPr txBox="1"/>
            <p:nvPr/>
          </p:nvSpPr>
          <p:spPr>
            <a:xfrm>
              <a:off x="6602838"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02</a:t>
              </a:r>
              <a:endParaRPr lang="zh-CN" altLang="en-US" sz="2400" dirty="0">
                <a:solidFill>
                  <a:schemeClr val="tx1">
                    <a:lumMod val="95000"/>
                    <a:lumOff val="5000"/>
                  </a:schemeClr>
                </a:solidFill>
                <a:cs typeface="+mn-ea"/>
                <a:sym typeface="+mn-lt"/>
              </a:endParaRPr>
            </a:p>
          </p:txBody>
        </p:sp>
      </p:grpSp>
      <p:grpSp>
        <p:nvGrpSpPr>
          <p:cNvPr id="92" name="组合 91"/>
          <p:cNvGrpSpPr/>
          <p:nvPr/>
        </p:nvGrpSpPr>
        <p:grpSpPr>
          <a:xfrm>
            <a:off x="4420351" y="4070056"/>
            <a:ext cx="1440160" cy="1440160"/>
            <a:chOff x="4066364" y="3439143"/>
            <a:chExt cx="1757290" cy="1757290"/>
          </a:xfrm>
        </p:grpSpPr>
        <p:sp>
          <p:nvSpPr>
            <p:cNvPr id="93" name="泪滴形 92"/>
            <p:cNvSpPr/>
            <p:nvPr/>
          </p:nvSpPr>
          <p:spPr>
            <a:xfrm flipH="1" flipV="1">
              <a:off x="4066364" y="3439143"/>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4" name="Oval 6"/>
            <p:cNvSpPr>
              <a:spLocks noChangeArrowheads="1"/>
            </p:cNvSpPr>
            <p:nvPr/>
          </p:nvSpPr>
          <p:spPr bwMode="auto">
            <a:xfrm>
              <a:off x="4536212"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5" name="文本框 94"/>
            <p:cNvSpPr txBox="1"/>
            <p:nvPr/>
          </p:nvSpPr>
          <p:spPr>
            <a:xfrm>
              <a:off x="4600838"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03</a:t>
              </a:r>
              <a:endParaRPr lang="zh-CN" altLang="en-US" sz="2400" dirty="0">
                <a:solidFill>
                  <a:schemeClr val="tx1">
                    <a:lumMod val="95000"/>
                    <a:lumOff val="5000"/>
                  </a:schemeClr>
                </a:solidFill>
                <a:cs typeface="+mn-ea"/>
                <a:sym typeface="+mn-lt"/>
              </a:endParaRPr>
            </a:p>
          </p:txBody>
        </p:sp>
      </p:grpSp>
      <p:grpSp>
        <p:nvGrpSpPr>
          <p:cNvPr id="96" name="组合 95"/>
          <p:cNvGrpSpPr/>
          <p:nvPr/>
        </p:nvGrpSpPr>
        <p:grpSpPr>
          <a:xfrm>
            <a:off x="6096420" y="4070056"/>
            <a:ext cx="1440160" cy="1440160"/>
            <a:chOff x="6027167" y="3439143"/>
            <a:chExt cx="1757290" cy="1757290"/>
          </a:xfrm>
        </p:grpSpPr>
        <p:sp>
          <p:nvSpPr>
            <p:cNvPr id="97" name="泪滴形 96"/>
            <p:cNvSpPr/>
            <p:nvPr/>
          </p:nvSpPr>
          <p:spPr>
            <a:xfrm flipV="1">
              <a:off x="6027167" y="3439143"/>
              <a:ext cx="1757290" cy="1757290"/>
            </a:xfrm>
            <a:prstGeom prst="teardrop">
              <a:avLst/>
            </a:prstGeom>
            <a:solidFill>
              <a:schemeClr val="accent1">
                <a:lumMod val="50000"/>
              </a:schemeClr>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cs typeface="+mn-ea"/>
                <a:sym typeface="+mn-lt"/>
              </a:endParaRPr>
            </a:p>
          </p:txBody>
        </p:sp>
        <p:sp>
          <p:nvSpPr>
            <p:cNvPr id="98" name="Oval 6"/>
            <p:cNvSpPr>
              <a:spLocks noChangeArrowheads="1"/>
            </p:cNvSpPr>
            <p:nvPr/>
          </p:nvSpPr>
          <p:spPr bwMode="auto">
            <a:xfrm>
              <a:off x="6541475"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cs typeface="+mn-ea"/>
                <a:sym typeface="+mn-lt"/>
              </a:endParaRPr>
            </a:p>
          </p:txBody>
        </p:sp>
        <p:sp>
          <p:nvSpPr>
            <p:cNvPr id="99" name="文本框 98"/>
            <p:cNvSpPr txBox="1"/>
            <p:nvPr/>
          </p:nvSpPr>
          <p:spPr>
            <a:xfrm>
              <a:off x="6593735"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cs typeface="+mn-ea"/>
                  <a:sym typeface="+mn-lt"/>
                </a:rPr>
                <a:t>04</a:t>
              </a:r>
              <a:endParaRPr lang="zh-CN" altLang="en-US" sz="2400" dirty="0">
                <a:solidFill>
                  <a:schemeClr val="tx1">
                    <a:lumMod val="95000"/>
                    <a:lumOff val="5000"/>
                  </a:schemeClr>
                </a:solidFill>
                <a:cs typeface="+mn-ea"/>
                <a:sym typeface="+mn-lt"/>
              </a:endParaRPr>
            </a:p>
          </p:txBody>
        </p:sp>
      </p:grpSp>
      <p:grpSp>
        <p:nvGrpSpPr>
          <p:cNvPr id="2" name="组合 1">
            <a:extLst>
              <a:ext uri="{FF2B5EF4-FFF2-40B4-BE49-F238E27FC236}">
                <a16:creationId xmlns:a16="http://schemas.microsoft.com/office/drawing/2014/main" id="{B1A7844F-DF68-608C-B21A-8EFAF24F66DC}"/>
              </a:ext>
            </a:extLst>
          </p:cNvPr>
          <p:cNvGrpSpPr/>
          <p:nvPr/>
        </p:nvGrpSpPr>
        <p:grpSpPr>
          <a:xfrm>
            <a:off x="0" y="-1"/>
            <a:ext cx="1857829" cy="1181101"/>
            <a:chOff x="0" y="0"/>
            <a:chExt cx="2590667" cy="4976958"/>
          </a:xfrm>
        </p:grpSpPr>
        <p:sp>
          <p:nvSpPr>
            <p:cNvPr id="3" name="矩形 1">
              <a:extLst>
                <a:ext uri="{FF2B5EF4-FFF2-40B4-BE49-F238E27FC236}">
                  <a16:creationId xmlns:a16="http://schemas.microsoft.com/office/drawing/2014/main" id="{494A5369-B8AF-6C0C-DCAC-2F1157153C23}"/>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 name="矩形 1">
              <a:extLst>
                <a:ext uri="{FF2B5EF4-FFF2-40B4-BE49-F238E27FC236}">
                  <a16:creationId xmlns:a16="http://schemas.microsoft.com/office/drawing/2014/main" id="{EE241247-041E-17F1-B9F4-1B56C0105EF0}"/>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6" name="直接连接符 5">
            <a:extLst>
              <a:ext uri="{FF2B5EF4-FFF2-40B4-BE49-F238E27FC236}">
                <a16:creationId xmlns:a16="http://schemas.microsoft.com/office/drawing/2014/main" id="{2C2AC75A-ECF7-0691-18AD-D056113D4552}"/>
              </a:ext>
            </a:extLst>
          </p:cNvPr>
          <p:cNvCxnSpPr/>
          <p:nvPr/>
        </p:nvCxnSpPr>
        <p:spPr>
          <a:xfrm>
            <a:off x="1509485" y="1057309"/>
            <a:ext cx="10701867"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12"/>
          <p:cNvSpPr/>
          <p:nvPr/>
        </p:nvSpPr>
        <p:spPr>
          <a:xfrm>
            <a:off x="1397508" y="422053"/>
            <a:ext cx="7810500" cy="634936"/>
          </a:xfrm>
          <a:prstGeom prst="rect">
            <a:avLst/>
          </a:prstGeom>
          <a:noFill/>
          <a:ln>
            <a:noFill/>
          </a:ln>
        </p:spPr>
        <p:txBody>
          <a:bodyPr wrap="none" lIns="109728" tIns="137065" rIns="0" bIns="0" anchor="t" anchorCtr="0">
            <a:noAutofit/>
          </a:bodyPr>
          <a:lstStyle/>
          <a:p>
            <a:pPr algn="l"/>
            <a:r>
              <a:rPr lang="zh-CN" sz="2850" b="1" dirty="0">
                <a:solidFill>
                  <a:srgbClr val="203864"/>
                </a:solidFill>
                <a:latin typeface="Microsoft YaHei"/>
                <a:ea typeface="Microsoft YaHei"/>
                <a:cs typeface="Microsoft YaHei"/>
              </a:rPr>
              <a:t>Armadillo 的边界与思考</a:t>
            </a:r>
          </a:p>
        </p:txBody>
      </p:sp>
      <p:grpSp>
        <p:nvGrpSpPr>
          <p:cNvPr id="14" name="page-footer"/>
          <p:cNvGrpSpPr/>
          <p:nvPr/>
        </p:nvGrpSpPr>
        <p:grpSpPr>
          <a:xfrm>
            <a:off x="1194816" y="6426200"/>
            <a:ext cx="9954768" cy="205359"/>
            <a:chOff x="1194816" y="6426200"/>
            <a:chExt cx="9954768" cy="205359"/>
          </a:xfrm>
        </p:grpSpPr>
        <p:sp>
          <p:nvSpPr>
            <p:cNvPr id="12" name="TextBox 12"/>
            <p:cNvSpPr txBox="1"/>
            <p:nvPr/>
          </p:nvSpPr>
          <p:spPr>
            <a:xfrm>
              <a:off x="1194816" y="6426200"/>
              <a:ext cx="1407643" cy="205359"/>
            </a:xfrm>
            <a:prstGeom prst="rect">
              <a:avLst/>
            </a:prstGeom>
            <a:noFill/>
            <a:ln>
              <a:noFill/>
            </a:ln>
          </p:spPr>
          <p:txBody>
            <a:bodyPr wrap="none" lIns="0" tIns="0" rIns="0" bIns="0" anchor="t" anchorCtr="0">
              <a:spAutoFit/>
            </a:bodyPr>
            <a:lstStyle/>
            <a:p>
              <a:pPr algn="l"/>
              <a:r>
                <a:rPr lang="en-US" sz="1050" dirty="0">
                  <a:solidFill>
                    <a:srgbClr val="64748B"/>
                  </a:solidFill>
                  <a:latin typeface="Microsoft YaHei"/>
                  <a:ea typeface="Microsoft YaHei"/>
                  <a:cs typeface="Microsoft YaHei"/>
                </a:rPr>
                <a:t>Armadillo · CCS 2025</a:t>
              </a:r>
            </a:p>
          </p:txBody>
        </p:sp>
        <p:sp>
          <p:nvSpPr>
            <p:cNvPr id="13" name="TextBox 13"/>
            <p:cNvSpPr txBox="1"/>
            <p:nvPr/>
          </p:nvSpPr>
          <p:spPr>
            <a:xfrm>
              <a:off x="10665390" y="6426200"/>
              <a:ext cx="484194" cy="205359"/>
            </a:xfrm>
            <a:prstGeom prst="rect">
              <a:avLst/>
            </a:prstGeom>
            <a:noFill/>
            <a:ln>
              <a:noFill/>
            </a:ln>
          </p:spPr>
          <p:txBody>
            <a:bodyPr wrap="none" lIns="0" tIns="0" rIns="0" bIns="0" anchor="t" anchorCtr="0">
              <a:spAutoFit/>
            </a:bodyPr>
            <a:lstStyle/>
            <a:p>
              <a:pPr algn="r"/>
              <a:r>
                <a:rPr lang="zh-CN" sz="1050" dirty="0">
                  <a:solidFill>
                    <a:srgbClr val="64748B"/>
                  </a:solidFill>
                  <a:latin typeface="Microsoft YaHei"/>
                  <a:ea typeface="Microsoft YaHei"/>
                  <a:cs typeface="Microsoft YaHei"/>
                </a:rPr>
                <a:t>22 / 23</a:t>
              </a:r>
            </a:p>
          </p:txBody>
        </p:sp>
      </p:grpSp>
      <p:grpSp>
        <p:nvGrpSpPr>
          <p:cNvPr id="16" name="page-lead"/>
          <p:cNvGrpSpPr/>
          <p:nvPr/>
        </p:nvGrpSpPr>
        <p:grpSpPr>
          <a:xfrm>
            <a:off x="1190625" y="1333500"/>
            <a:ext cx="4674357" cy="289310"/>
            <a:chOff x="1190625" y="1333500"/>
            <a:chExt cx="4674357" cy="289310"/>
          </a:xfrm>
        </p:grpSpPr>
        <p:sp>
          <p:nvSpPr>
            <p:cNvPr id="15" name="TextBox 15"/>
            <p:cNvSpPr txBox="1"/>
            <p:nvPr/>
          </p:nvSpPr>
          <p:spPr>
            <a:xfrm>
              <a:off x="1190625" y="1333500"/>
              <a:ext cx="4674357" cy="289310"/>
            </a:xfrm>
            <a:prstGeom prst="rect">
              <a:avLst/>
            </a:prstGeom>
            <a:noFill/>
            <a:ln>
              <a:noFill/>
            </a:ln>
          </p:spPr>
          <p:txBody>
            <a:bodyPr wrap="none" lIns="0" tIns="0" rIns="0" bIns="0" anchor="t" anchorCtr="0">
              <a:spAutoFit/>
            </a:bodyPr>
            <a:lstStyle/>
            <a:p>
              <a:pPr marL="342900" indent="-342900" algn="l">
                <a:buFont typeface="Wingdings" panose="05000000000000000000" pitchFamily="2" charset="2"/>
                <a:buChar char="Ø"/>
              </a:pPr>
              <a:r>
                <a:rPr lang="zh-CN" sz="1880" b="1" dirty="0">
                  <a:solidFill>
                    <a:srgbClr val="203864"/>
                  </a:solidFill>
                  <a:latin typeface="Microsoft YaHei"/>
                  <a:ea typeface="Microsoft YaHei"/>
                  <a:cs typeface="Microsoft YaHei"/>
                </a:rPr>
                <a:t>基于</a:t>
              </a:r>
              <a:r>
                <a:rPr lang="zh-CN" altLang="en-US" sz="1880" b="1" dirty="0">
                  <a:solidFill>
                    <a:srgbClr val="203864"/>
                  </a:solidFill>
                  <a:latin typeface="Microsoft YaHei"/>
                  <a:ea typeface="Microsoft YaHei"/>
                  <a:cs typeface="Microsoft YaHei"/>
                </a:rPr>
                <a:t>原方案的</a:t>
              </a:r>
              <a:r>
                <a:rPr lang="zh-CN" sz="1880" b="1" dirty="0">
                  <a:solidFill>
                    <a:srgbClr val="203864"/>
                  </a:solidFill>
                  <a:latin typeface="Microsoft YaHei"/>
                  <a:ea typeface="Microsoft YaHei"/>
                  <a:cs typeface="Microsoft YaHei"/>
                </a:rPr>
                <a:t>结果</a:t>
              </a:r>
              <a:r>
                <a:rPr lang="zh-CN" altLang="en-US" sz="1880" b="1" dirty="0">
                  <a:solidFill>
                    <a:srgbClr val="203864"/>
                  </a:solidFill>
                  <a:latin typeface="Microsoft YaHei"/>
                  <a:ea typeface="Microsoft YaHei"/>
                  <a:cs typeface="Microsoft YaHei"/>
                </a:rPr>
                <a:t>，我有以下几点思考：</a:t>
              </a:r>
              <a:endParaRPr lang="zh-CN" sz="1880" b="1" dirty="0">
                <a:solidFill>
                  <a:srgbClr val="203864"/>
                </a:solidFill>
                <a:latin typeface="Microsoft YaHei"/>
                <a:ea typeface="Microsoft YaHei"/>
                <a:cs typeface="Microsoft YaHei"/>
              </a:endParaRPr>
            </a:p>
          </p:txBody>
        </p:sp>
      </p:grpSp>
      <p:grpSp>
        <p:nvGrpSpPr>
          <p:cNvPr id="25" name="four-points"/>
          <p:cNvGrpSpPr/>
          <p:nvPr/>
        </p:nvGrpSpPr>
        <p:grpSpPr>
          <a:xfrm>
            <a:off x="1441069" y="2409825"/>
            <a:ext cx="9006713" cy="3014218"/>
            <a:chOff x="1441069" y="2409825"/>
            <a:chExt cx="9006713" cy="3014218"/>
          </a:xfrm>
        </p:grpSpPr>
        <p:sp>
          <p:nvSpPr>
            <p:cNvPr id="17" name="TextBox 17"/>
            <p:cNvSpPr txBox="1"/>
            <p:nvPr/>
          </p:nvSpPr>
          <p:spPr>
            <a:xfrm>
              <a:off x="2200326" y="2409825"/>
              <a:ext cx="1790649" cy="367665"/>
            </a:xfrm>
            <a:prstGeom prst="rect">
              <a:avLst/>
            </a:prstGeom>
            <a:noFill/>
            <a:ln>
              <a:noFill/>
            </a:ln>
          </p:spPr>
          <p:txBody>
            <a:bodyPr wrap="none" lIns="0" tIns="0" rIns="0" bIns="0" anchor="t" anchorCtr="0">
              <a:spAutoFit/>
            </a:bodyPr>
            <a:lstStyle/>
            <a:p>
              <a:pPr algn="r"/>
              <a:r>
                <a:rPr lang="zh-CN" sz="1880" b="1" dirty="0">
                  <a:solidFill>
                    <a:srgbClr val="203864"/>
                  </a:solidFill>
                  <a:latin typeface="Microsoft YaHei"/>
                  <a:ea typeface="Microsoft YaHei"/>
                  <a:cs typeface="Microsoft YaHei"/>
                </a:rPr>
                <a:t>模型继续变大？</a:t>
              </a:r>
            </a:p>
          </p:txBody>
        </p:sp>
        <p:sp>
          <p:nvSpPr>
            <p:cNvPr id="18" name="TextBox 18"/>
            <p:cNvSpPr txBox="1"/>
            <p:nvPr/>
          </p:nvSpPr>
          <p:spPr>
            <a:xfrm>
              <a:off x="2045208" y="2832100"/>
              <a:ext cx="1944624" cy="620268"/>
            </a:xfrm>
            <a:prstGeom prst="rect">
              <a:avLst/>
            </a:prstGeom>
            <a:noFill/>
            <a:ln>
              <a:noFill/>
            </a:ln>
          </p:spPr>
          <p:txBody>
            <a:bodyPr wrap="none" lIns="0" tIns="0" rIns="0" bIns="0" anchor="t" anchorCtr="0">
              <a:spAutoFit/>
            </a:bodyPr>
            <a:lstStyle/>
            <a:p>
              <a:pPr algn="r">
                <a:lnSpc>
                  <a:spcPts val="2343"/>
                </a:lnSpc>
              </a:pPr>
              <a:r>
                <a:rPr lang="zh-CN" sz="1650" dirty="0">
                  <a:solidFill>
                    <a:srgbClr val="24364A"/>
                  </a:solidFill>
                  <a:latin typeface="Microsoft YaHei"/>
                  <a:ea typeface="Microsoft YaHei"/>
                  <a:cs typeface="Microsoft YaHei"/>
                </a:rPr>
                <a:t>Proof 成本随 ℓ 增长</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大模型不在评测范围</a:t>
              </a:r>
            </a:p>
          </p:txBody>
        </p:sp>
        <p:sp>
          <p:nvSpPr>
            <p:cNvPr id="19" name="TextBox 19"/>
            <p:cNvSpPr txBox="1"/>
            <p:nvPr/>
          </p:nvSpPr>
          <p:spPr>
            <a:xfrm>
              <a:off x="7867650" y="2409825"/>
              <a:ext cx="2043735" cy="367665"/>
            </a:xfrm>
            <a:prstGeom prst="rect">
              <a:avLst/>
            </a:prstGeom>
            <a:noFill/>
            <a:ln>
              <a:noFill/>
            </a:ln>
          </p:spPr>
          <p:txBody>
            <a:bodyPr wrap="none" lIns="0" tIns="0" rIns="0" bIns="0" anchor="t" anchorCtr="0">
              <a:spAutoFit/>
            </a:bodyPr>
            <a:lstStyle/>
            <a:p>
              <a:pPr algn="l"/>
              <a:r>
                <a:rPr lang="zh-CN" sz="1880" b="1" dirty="0">
                  <a:solidFill>
                    <a:srgbClr val="203864"/>
                  </a:solidFill>
                  <a:latin typeface="Microsoft YaHei"/>
                  <a:ea typeface="Microsoft YaHei"/>
                  <a:cs typeface="Microsoft YaHei"/>
                </a:rPr>
                <a:t>客户端数量增加？</a:t>
              </a:r>
            </a:p>
          </p:txBody>
        </p:sp>
        <p:sp>
          <p:nvSpPr>
            <p:cNvPr id="20" name="TextBox 20"/>
            <p:cNvSpPr txBox="1"/>
            <p:nvPr/>
          </p:nvSpPr>
          <p:spPr>
            <a:xfrm>
              <a:off x="7868793" y="2832100"/>
              <a:ext cx="2112264" cy="620268"/>
            </a:xfrm>
            <a:prstGeom prst="rect">
              <a:avLst/>
            </a:prstGeom>
            <a:noFill/>
            <a:ln>
              <a:noFill/>
            </a:ln>
          </p:spPr>
          <p:txBody>
            <a:bodyPr wrap="none" lIns="0" tIns="0" rIns="0" bIns="0" anchor="t" anchorCtr="0">
              <a:spAutoFit/>
            </a:bodyPr>
            <a:lstStyle/>
            <a:p>
              <a:pPr algn="l">
                <a:lnSpc>
                  <a:spcPts val="2343"/>
                </a:lnSpc>
              </a:pPr>
              <a:r>
                <a:rPr lang="zh-CN" sz="1650" dirty="0">
                  <a:solidFill>
                    <a:srgbClr val="24364A"/>
                  </a:solidFill>
                  <a:latin typeface="Microsoft YaHei"/>
                  <a:ea typeface="Microsoft YaHei"/>
                  <a:cs typeface="Microsoft YaHei"/>
                </a:rPr>
                <a:t>Decryptor 成本 O(n)</a:t>
              </a:r>
              <a:br>
                <a:rPr lang="zh-CN"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更多负担集中到委员会</a:t>
              </a:r>
            </a:p>
          </p:txBody>
        </p:sp>
        <p:sp>
          <p:nvSpPr>
            <p:cNvPr id="21" name="TextBox 21"/>
            <p:cNvSpPr txBox="1"/>
            <p:nvPr/>
          </p:nvSpPr>
          <p:spPr>
            <a:xfrm>
              <a:off x="1441069" y="4381500"/>
              <a:ext cx="2549906" cy="367665"/>
            </a:xfrm>
            <a:prstGeom prst="rect">
              <a:avLst/>
            </a:prstGeom>
            <a:noFill/>
            <a:ln>
              <a:noFill/>
            </a:ln>
          </p:spPr>
          <p:txBody>
            <a:bodyPr wrap="none" lIns="0" tIns="0" rIns="0" bIns="0" anchor="t" anchorCtr="0">
              <a:spAutoFit/>
            </a:bodyPr>
            <a:lstStyle/>
            <a:p>
              <a:pPr algn="r"/>
              <a:r>
                <a:rPr lang="zh-CN" sz="1880" b="1" dirty="0">
                  <a:solidFill>
                    <a:srgbClr val="203864"/>
                  </a:solidFill>
                  <a:latin typeface="Microsoft YaHei"/>
                  <a:ea typeface="Microsoft YaHei"/>
                  <a:cs typeface="Microsoft YaHei"/>
                </a:rPr>
                <a:t>合法输入一定安全吗？</a:t>
              </a:r>
            </a:p>
          </p:txBody>
        </p:sp>
        <p:sp>
          <p:nvSpPr>
            <p:cNvPr id="22" name="TextBox 22"/>
            <p:cNvSpPr txBox="1"/>
            <p:nvPr/>
          </p:nvSpPr>
          <p:spPr>
            <a:xfrm>
              <a:off x="2003298" y="4803775"/>
              <a:ext cx="1986534" cy="620268"/>
            </a:xfrm>
            <a:prstGeom prst="rect">
              <a:avLst/>
            </a:prstGeom>
            <a:noFill/>
            <a:ln>
              <a:noFill/>
            </a:ln>
          </p:spPr>
          <p:txBody>
            <a:bodyPr wrap="none" lIns="0" tIns="0" rIns="0" bIns="0" anchor="t" anchorCtr="0">
              <a:spAutoFit/>
            </a:bodyPr>
            <a:lstStyle/>
            <a:p>
              <a:pPr algn="r">
                <a:lnSpc>
                  <a:spcPts val="2343"/>
                </a:lnSpc>
              </a:pPr>
              <a:r>
                <a:rPr lang="en-US" sz="1650" dirty="0">
                  <a:solidFill>
                    <a:srgbClr val="24364A"/>
                  </a:solidFill>
                  <a:latin typeface="Microsoft YaHei"/>
                  <a:ea typeface="Microsoft YaHei"/>
                  <a:cs typeface="Microsoft YaHei"/>
                </a:rPr>
                <a:t>Norm-valid ≠ benign</a:t>
              </a:r>
              <a:br>
                <a:rPr lang="en-US"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仍可能存在有害方向</a:t>
              </a:r>
            </a:p>
          </p:txBody>
        </p:sp>
        <p:sp>
          <p:nvSpPr>
            <p:cNvPr id="23" name="TextBox 23"/>
            <p:cNvSpPr txBox="1"/>
            <p:nvPr/>
          </p:nvSpPr>
          <p:spPr>
            <a:xfrm>
              <a:off x="7915275" y="4381500"/>
              <a:ext cx="2043735" cy="367665"/>
            </a:xfrm>
            <a:prstGeom prst="rect">
              <a:avLst/>
            </a:prstGeom>
            <a:noFill/>
            <a:ln>
              <a:noFill/>
            </a:ln>
          </p:spPr>
          <p:txBody>
            <a:bodyPr wrap="none" lIns="0" tIns="0" rIns="0" bIns="0" anchor="t" anchorCtr="0">
              <a:spAutoFit/>
            </a:bodyPr>
            <a:lstStyle/>
            <a:p>
              <a:pPr algn="l"/>
              <a:r>
                <a:rPr lang="zh-CN" sz="1880" b="1" dirty="0">
                  <a:solidFill>
                    <a:srgbClr val="203864"/>
                  </a:solidFill>
                  <a:latin typeface="Microsoft YaHei"/>
                  <a:ea typeface="Microsoft YaHei"/>
                  <a:cs typeface="Microsoft YaHei"/>
                </a:rPr>
                <a:t>噪声参数怎么选？</a:t>
              </a:r>
            </a:p>
          </p:txBody>
        </p:sp>
        <p:sp>
          <p:nvSpPr>
            <p:cNvPr id="24" name="TextBox 24"/>
            <p:cNvSpPr txBox="1"/>
            <p:nvPr/>
          </p:nvSpPr>
          <p:spPr>
            <a:xfrm>
              <a:off x="7916418" y="4803775"/>
              <a:ext cx="2531364" cy="620268"/>
            </a:xfrm>
            <a:prstGeom prst="rect">
              <a:avLst/>
            </a:prstGeom>
            <a:noFill/>
            <a:ln>
              <a:noFill/>
            </a:ln>
          </p:spPr>
          <p:txBody>
            <a:bodyPr wrap="none" lIns="0" tIns="0" rIns="0" bIns="0" anchor="t" anchorCtr="0">
              <a:spAutoFit/>
            </a:bodyPr>
            <a:lstStyle/>
            <a:p>
              <a:pPr algn="l">
                <a:lnSpc>
                  <a:spcPts val="2343"/>
                </a:lnSpc>
              </a:pPr>
              <a:r>
                <a:rPr lang="el-GR" sz="1650" dirty="0">
                  <a:solidFill>
                    <a:srgbClr val="24364A"/>
                  </a:solidFill>
                  <a:latin typeface="Microsoft YaHei"/>
                  <a:ea typeface="Microsoft YaHei"/>
                  <a:cs typeface="Microsoft YaHei"/>
                </a:rPr>
                <a:t>nBₑ &lt; Δ/2</a:t>
              </a:r>
              <a:br>
                <a:rPr lang="el-GR" sz="1650" dirty="0">
                  <a:solidFill>
                    <a:srgbClr val="24364A"/>
                  </a:solidFill>
                  <a:latin typeface="Microsoft YaHei"/>
                  <a:ea typeface="Microsoft YaHei"/>
                  <a:cs typeface="Microsoft YaHei"/>
                </a:rPr>
              </a:br>
              <a:r>
                <a:rPr lang="zh-CN" sz="1650" dirty="0">
                  <a:solidFill>
                    <a:srgbClr val="24364A"/>
                  </a:solidFill>
                  <a:latin typeface="Microsoft YaHei"/>
                  <a:ea typeface="Microsoft YaHei"/>
                  <a:cs typeface="Microsoft YaHei"/>
                </a:rPr>
                <a:t>正确性、安全性与证明耦合</a:t>
              </a:r>
            </a:p>
          </p:txBody>
        </p:sp>
      </p:grpSp>
      <p:grpSp>
        <p:nvGrpSpPr>
          <p:cNvPr id="27" name="takeaway"/>
          <p:cNvGrpSpPr/>
          <p:nvPr/>
        </p:nvGrpSpPr>
        <p:grpSpPr>
          <a:xfrm>
            <a:off x="4658106" y="5873682"/>
            <a:ext cx="2875787" cy="264688"/>
            <a:chOff x="4658106" y="5873682"/>
            <a:chExt cx="2875787" cy="264688"/>
          </a:xfrm>
        </p:grpSpPr>
        <p:sp>
          <p:nvSpPr>
            <p:cNvPr id="26" name="TextBox 26"/>
            <p:cNvSpPr txBox="1"/>
            <p:nvPr/>
          </p:nvSpPr>
          <p:spPr>
            <a:xfrm>
              <a:off x="4658106" y="5873682"/>
              <a:ext cx="2875787" cy="264688"/>
            </a:xfrm>
            <a:prstGeom prst="rect">
              <a:avLst/>
            </a:prstGeom>
            <a:noFill/>
            <a:ln>
              <a:noFill/>
            </a:ln>
          </p:spPr>
          <p:txBody>
            <a:bodyPr wrap="none" lIns="0" tIns="0" rIns="0" bIns="0" anchor="t" anchorCtr="0">
              <a:spAutoFit/>
            </a:bodyPr>
            <a:lstStyle/>
            <a:p>
              <a:pPr algn="ctr"/>
              <a:r>
                <a:rPr lang="zh-CN" sz="1720" b="1" dirty="0">
                  <a:solidFill>
                    <a:srgbClr val="203864"/>
                  </a:solidFill>
                  <a:latin typeface="Microsoft YaHei"/>
                  <a:ea typeface="Microsoft YaHei"/>
                  <a:cs typeface="Microsoft YaHei"/>
                </a:rPr>
                <a:t>正式证明只覆盖半诚实服务器</a:t>
              </a:r>
            </a:p>
          </p:txBody>
        </p:sp>
      </p:grpSp>
    </p:spTree>
    <p:extLst>
      <p:ext uri="{BB962C8B-B14F-4D97-AF65-F5344CB8AC3E}">
        <p14:creationId xmlns:p14="http://schemas.microsoft.com/office/powerpoint/2010/main" val="633601713"/>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F98DB-5F11-CD36-64B0-2E8FC0F7184B}"/>
            </a:ext>
          </a:extLst>
        </p:cNvPr>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8779F13F-E7B6-FF6A-B8DD-319AA963575D}"/>
              </a:ext>
            </a:extLst>
          </p:cNvPr>
          <p:cNvCxnSpPr>
            <a:cxnSpLocks/>
          </p:cNvCxnSpPr>
          <p:nvPr/>
        </p:nvCxnSpPr>
        <p:spPr>
          <a:xfrm>
            <a:off x="2174437" y="4470640"/>
            <a:ext cx="7510272" cy="0"/>
          </a:xfrm>
          <a:prstGeom prst="line">
            <a:avLst/>
          </a:prstGeom>
          <a:ln w="95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99357B0B-7EA8-124F-3479-5078702B3AC9}"/>
              </a:ext>
            </a:extLst>
          </p:cNvPr>
          <p:cNvGrpSpPr/>
          <p:nvPr/>
        </p:nvGrpSpPr>
        <p:grpSpPr>
          <a:xfrm flipH="1">
            <a:off x="0" y="0"/>
            <a:ext cx="12192000" cy="6858001"/>
            <a:chOff x="2" y="0"/>
            <a:chExt cx="12192000" cy="6858001"/>
          </a:xfrm>
        </p:grpSpPr>
        <p:grpSp>
          <p:nvGrpSpPr>
            <p:cNvPr id="3" name="组合 2">
              <a:extLst>
                <a:ext uri="{FF2B5EF4-FFF2-40B4-BE49-F238E27FC236}">
                  <a16:creationId xmlns:a16="http://schemas.microsoft.com/office/drawing/2014/main" id="{BC592854-6ABF-2CE8-BD28-3FC6CD98CEF0}"/>
                </a:ext>
              </a:extLst>
            </p:cNvPr>
            <p:cNvGrpSpPr/>
            <p:nvPr/>
          </p:nvGrpSpPr>
          <p:grpSpPr>
            <a:xfrm>
              <a:off x="2" y="0"/>
              <a:ext cx="3135084" cy="5941181"/>
              <a:chOff x="0" y="0"/>
              <a:chExt cx="2590667" cy="4976958"/>
            </a:xfrm>
          </p:grpSpPr>
          <p:sp>
            <p:nvSpPr>
              <p:cNvPr id="12" name="矩形 1">
                <a:extLst>
                  <a:ext uri="{FF2B5EF4-FFF2-40B4-BE49-F238E27FC236}">
                    <a16:creationId xmlns:a16="http://schemas.microsoft.com/office/drawing/2014/main" id="{1563EF8A-5EF3-D3B1-A265-0D4293BC62FA}"/>
                  </a:ext>
                </a:extLst>
              </p:cNvPr>
              <p:cNvSpPr/>
              <p:nvPr/>
            </p:nvSpPr>
            <p:spPr>
              <a:xfrm>
                <a:off x="0" y="0"/>
                <a:ext cx="2590667" cy="4976958"/>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矩形 1">
                <a:extLst>
                  <a:ext uri="{FF2B5EF4-FFF2-40B4-BE49-F238E27FC236}">
                    <a16:creationId xmlns:a16="http://schemas.microsoft.com/office/drawing/2014/main" id="{FF9D3A36-DE95-259D-5A99-2F67CFCC2957}"/>
                  </a:ext>
                </a:extLst>
              </p:cNvPr>
              <p:cNvSpPr/>
              <p:nvPr/>
            </p:nvSpPr>
            <p:spPr>
              <a:xfrm>
                <a:off x="0" y="0"/>
                <a:ext cx="2590667" cy="368957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0 h 3689577"/>
                  <a:gd name="connsiteX1" fmla="*/ 2278743 w 2278743"/>
                  <a:gd name="connsiteY1" fmla="*/ 0 h 3689577"/>
                  <a:gd name="connsiteX2" fmla="*/ 0 w 2278743"/>
                  <a:gd name="connsiteY2" fmla="*/ 3689577 h 3689577"/>
                  <a:gd name="connsiteX3" fmla="*/ 0 w 2278743"/>
                  <a:gd name="connsiteY3" fmla="*/ 0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0"/>
                    </a:moveTo>
                    <a:lnTo>
                      <a:pt x="2278743" y="0"/>
                    </a:lnTo>
                    <a:lnTo>
                      <a:pt x="0" y="3689577"/>
                    </a:lnTo>
                    <a:lnTo>
                      <a:pt x="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grpSp>
          <p:nvGrpSpPr>
            <p:cNvPr id="7" name="组合 6">
              <a:extLst>
                <a:ext uri="{FF2B5EF4-FFF2-40B4-BE49-F238E27FC236}">
                  <a16:creationId xmlns:a16="http://schemas.microsoft.com/office/drawing/2014/main" id="{F56C3B86-B9E5-4E48-0115-8AAE48F5BE68}"/>
                </a:ext>
              </a:extLst>
            </p:cNvPr>
            <p:cNvGrpSpPr/>
            <p:nvPr/>
          </p:nvGrpSpPr>
          <p:grpSpPr>
            <a:xfrm>
              <a:off x="9463315" y="1664306"/>
              <a:ext cx="2728687" cy="5193695"/>
              <a:chOff x="7715421" y="1884933"/>
              <a:chExt cx="1428579" cy="3258567"/>
            </a:xfrm>
          </p:grpSpPr>
          <p:sp>
            <p:nvSpPr>
              <p:cNvPr id="13" name="矩形 10">
                <a:extLst>
                  <a:ext uri="{FF2B5EF4-FFF2-40B4-BE49-F238E27FC236}">
                    <a16:creationId xmlns:a16="http://schemas.microsoft.com/office/drawing/2014/main" id="{3F58161D-09B7-6F03-B989-C0D87F1EA7C3}"/>
                  </a:ext>
                </a:extLst>
              </p:cNvPr>
              <p:cNvSpPr/>
              <p:nvPr/>
            </p:nvSpPr>
            <p:spPr>
              <a:xfrm>
                <a:off x="7715421" y="1884933"/>
                <a:ext cx="1428579" cy="3258567"/>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3689577 h 3689577"/>
                  <a:gd name="connsiteX1" fmla="*/ 2278743 w 2278743"/>
                  <a:gd name="connsiteY1" fmla="*/ 0 h 3689577"/>
                  <a:gd name="connsiteX2" fmla="*/ 2278743 w 2278743"/>
                  <a:gd name="connsiteY2" fmla="*/ 3689577 h 3689577"/>
                  <a:gd name="connsiteX3" fmla="*/ 0 w 2278743"/>
                  <a:gd name="connsiteY3" fmla="*/ 3689577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3689577"/>
                    </a:moveTo>
                    <a:lnTo>
                      <a:pt x="2278743" y="0"/>
                    </a:lnTo>
                    <a:lnTo>
                      <a:pt x="2278743" y="3689577"/>
                    </a:lnTo>
                    <a:lnTo>
                      <a:pt x="0" y="3689577"/>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1" name="矩形 10">
                <a:extLst>
                  <a:ext uri="{FF2B5EF4-FFF2-40B4-BE49-F238E27FC236}">
                    <a16:creationId xmlns:a16="http://schemas.microsoft.com/office/drawing/2014/main" id="{86CEE1D3-FC73-9F57-97A0-D29F9897AB6E}"/>
                  </a:ext>
                </a:extLst>
              </p:cNvPr>
              <p:cNvSpPr/>
              <p:nvPr/>
            </p:nvSpPr>
            <p:spPr>
              <a:xfrm>
                <a:off x="7715421" y="2606134"/>
                <a:ext cx="1428579" cy="2537366"/>
              </a:xfrm>
              <a:custGeom>
                <a:avLst/>
                <a:gdLst>
                  <a:gd name="connsiteX0" fmla="*/ 0 w 2278743"/>
                  <a:gd name="connsiteY0" fmla="*/ 0 h 3689577"/>
                  <a:gd name="connsiteX1" fmla="*/ 2278743 w 2278743"/>
                  <a:gd name="connsiteY1" fmla="*/ 0 h 3689577"/>
                  <a:gd name="connsiteX2" fmla="*/ 2278743 w 2278743"/>
                  <a:gd name="connsiteY2" fmla="*/ 3689577 h 3689577"/>
                  <a:gd name="connsiteX3" fmla="*/ 0 w 2278743"/>
                  <a:gd name="connsiteY3" fmla="*/ 3689577 h 3689577"/>
                  <a:gd name="connsiteX4" fmla="*/ 0 w 2278743"/>
                  <a:gd name="connsiteY4" fmla="*/ 0 h 3689577"/>
                  <a:gd name="connsiteX0" fmla="*/ 0 w 2278743"/>
                  <a:gd name="connsiteY0" fmla="*/ 3689577 h 3689577"/>
                  <a:gd name="connsiteX1" fmla="*/ 2278743 w 2278743"/>
                  <a:gd name="connsiteY1" fmla="*/ 0 h 3689577"/>
                  <a:gd name="connsiteX2" fmla="*/ 2278743 w 2278743"/>
                  <a:gd name="connsiteY2" fmla="*/ 3689577 h 3689577"/>
                  <a:gd name="connsiteX3" fmla="*/ 0 w 2278743"/>
                  <a:gd name="connsiteY3" fmla="*/ 3689577 h 3689577"/>
                </a:gdLst>
                <a:ahLst/>
                <a:cxnLst>
                  <a:cxn ang="0">
                    <a:pos x="connsiteX0" y="connsiteY0"/>
                  </a:cxn>
                  <a:cxn ang="0">
                    <a:pos x="connsiteX1" y="connsiteY1"/>
                  </a:cxn>
                  <a:cxn ang="0">
                    <a:pos x="connsiteX2" y="connsiteY2"/>
                  </a:cxn>
                  <a:cxn ang="0">
                    <a:pos x="connsiteX3" y="connsiteY3"/>
                  </a:cxn>
                </a:cxnLst>
                <a:rect l="l" t="t" r="r" b="b"/>
                <a:pathLst>
                  <a:path w="2278743" h="3689577">
                    <a:moveTo>
                      <a:pt x="0" y="3689577"/>
                    </a:moveTo>
                    <a:lnTo>
                      <a:pt x="2278743" y="0"/>
                    </a:lnTo>
                    <a:lnTo>
                      <a:pt x="2278743" y="3689577"/>
                    </a:lnTo>
                    <a:lnTo>
                      <a:pt x="0" y="3689577"/>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sp>
        <p:nvSpPr>
          <p:cNvPr id="17" name="TextBox 11">
            <a:extLst>
              <a:ext uri="{FF2B5EF4-FFF2-40B4-BE49-F238E27FC236}">
                <a16:creationId xmlns:a16="http://schemas.microsoft.com/office/drawing/2014/main" id="{789195F8-9C90-6424-DF68-890EECBEFE7C}"/>
              </a:ext>
            </a:extLst>
          </p:cNvPr>
          <p:cNvSpPr txBox="1"/>
          <p:nvPr/>
        </p:nvSpPr>
        <p:spPr>
          <a:xfrm>
            <a:off x="10000968" y="4758049"/>
            <a:ext cx="65" cy="324453"/>
          </a:xfrm>
          <a:prstGeom prst="rect">
            <a:avLst/>
          </a:prstGeom>
          <a:noFill/>
          <a:ln>
            <a:noFill/>
          </a:ln>
        </p:spPr>
        <p:txBody>
          <a:bodyPr wrap="none" lIns="0" tIns="0" rIns="0" bIns="0" anchor="t" anchorCtr="0">
            <a:spAutoFit/>
          </a:bodyPr>
          <a:lstStyle/>
          <a:p>
            <a:pPr algn="ctr"/>
            <a:endParaRPr lang="en-US" sz="2180" dirty="0">
              <a:solidFill>
                <a:srgbClr val="203864"/>
              </a:solidFill>
              <a:latin typeface="Arial"/>
              <a:ea typeface="Arial"/>
              <a:cs typeface="Arial"/>
            </a:endParaRPr>
          </a:p>
        </p:txBody>
      </p:sp>
      <p:sp>
        <p:nvSpPr>
          <p:cNvPr id="18" name="TextBox 12">
            <a:extLst>
              <a:ext uri="{FF2B5EF4-FFF2-40B4-BE49-F238E27FC236}">
                <a16:creationId xmlns:a16="http://schemas.microsoft.com/office/drawing/2014/main" id="{856A46BA-D183-D0E1-882B-8FA23DE8BB62}"/>
              </a:ext>
            </a:extLst>
          </p:cNvPr>
          <p:cNvSpPr txBox="1"/>
          <p:nvPr/>
        </p:nvSpPr>
        <p:spPr>
          <a:xfrm>
            <a:off x="3021886" y="3762405"/>
            <a:ext cx="5815375" cy="567976"/>
          </a:xfrm>
          <a:prstGeom prst="rect">
            <a:avLst/>
          </a:prstGeom>
          <a:noFill/>
          <a:ln>
            <a:noFill/>
          </a:ln>
        </p:spPr>
        <p:txBody>
          <a:bodyPr wrap="none" lIns="0" tIns="0" rIns="0" bIns="0" anchor="t" anchorCtr="0">
            <a:spAutoFit/>
          </a:bodyPr>
          <a:lstStyle/>
          <a:p>
            <a:pPr algn="ctr">
              <a:lnSpc>
                <a:spcPct val="125000"/>
              </a:lnSpc>
            </a:pPr>
            <a:r>
              <a:rPr lang="en-US" altLang="zh-CN" sz="1600" b="1" i="1" dirty="0">
                <a:solidFill>
                  <a:srgbClr val="203864"/>
                </a:solidFill>
                <a:latin typeface="Microsoft YaHei"/>
                <a:ea typeface="Microsoft YaHei"/>
                <a:cs typeface="Microsoft YaHei"/>
              </a:rPr>
              <a:t>ACM </a:t>
            </a:r>
            <a:r>
              <a:rPr lang="zh-CN" altLang="zh-CN" sz="1600" b="1" i="1" dirty="0">
                <a:solidFill>
                  <a:srgbClr val="203864"/>
                </a:solidFill>
                <a:latin typeface="Microsoft YaHei"/>
                <a:ea typeface="Microsoft YaHei"/>
                <a:cs typeface="Microsoft YaHei"/>
              </a:rPr>
              <a:t>CCS 2025</a:t>
            </a:r>
            <a:endParaRPr lang="en-US" altLang="zh-CN" sz="1600" i="1" dirty="0">
              <a:solidFill>
                <a:srgbClr val="203864"/>
              </a:solidFill>
              <a:latin typeface="Microsoft YaHei"/>
              <a:ea typeface="Microsoft YaHei"/>
              <a:cs typeface="Microsoft YaHei"/>
            </a:endParaRPr>
          </a:p>
          <a:p>
            <a:pPr algn="ctr">
              <a:lnSpc>
                <a:spcPct val="125000"/>
              </a:lnSpc>
            </a:pPr>
            <a:r>
              <a:rPr lang="en-US" sz="1500" i="1" dirty="0">
                <a:solidFill>
                  <a:srgbClr val="24364A"/>
                </a:solidFill>
                <a:latin typeface="Arial"/>
                <a:ea typeface="Arial"/>
                <a:cs typeface="Arial"/>
              </a:rPr>
              <a:t>Yiping Ma · Yue Guo · Harish Karthikeyan · Antigoni Polychroniadou</a:t>
            </a:r>
          </a:p>
        </p:txBody>
      </p:sp>
      <p:sp>
        <p:nvSpPr>
          <p:cNvPr id="10" name="文本框 3">
            <a:extLst>
              <a:ext uri="{FF2B5EF4-FFF2-40B4-BE49-F238E27FC236}">
                <a16:creationId xmlns:a16="http://schemas.microsoft.com/office/drawing/2014/main" id="{E800B82D-B3DF-9288-991D-53D2AABFC1F7}"/>
              </a:ext>
            </a:extLst>
          </p:cNvPr>
          <p:cNvSpPr/>
          <p:nvPr/>
        </p:nvSpPr>
        <p:spPr>
          <a:xfrm>
            <a:off x="1848326" y="1844872"/>
            <a:ext cx="7970209" cy="668888"/>
          </a:xfrm>
          <a:prstGeom prst="rect">
            <a:avLst/>
          </a:prstGeom>
          <a:noFill/>
          <a:ln>
            <a:noFill/>
          </a:ln>
        </p:spPr>
        <p:txBody>
          <a:bodyPr wrap="none" lIns="409575" tIns="20955" rIns="0" bIns="0" anchor="t" anchorCtr="0">
            <a:noAutofit/>
          </a:bodyPr>
          <a:lstStyle/>
          <a:p>
            <a:pPr algn="ctr"/>
            <a:r>
              <a:rPr lang="zh-CN" altLang="zh-CN" sz="3200" b="1" dirty="0">
                <a:solidFill>
                  <a:srgbClr val="203864"/>
                </a:solidFill>
                <a:latin typeface="Microsoft YaHei"/>
                <a:ea typeface="Microsoft YaHei"/>
              </a:rPr>
              <a:t>恳请各位老师</a:t>
            </a:r>
            <a:r>
              <a:rPr lang="zh-CN" altLang="en-US" sz="3200" b="1" dirty="0">
                <a:solidFill>
                  <a:srgbClr val="203864"/>
                </a:solidFill>
                <a:latin typeface="Microsoft YaHei"/>
                <a:ea typeface="Microsoft YaHei"/>
              </a:rPr>
              <a:t>批评指正</a:t>
            </a:r>
            <a:r>
              <a:rPr lang="zh-CN" altLang="zh-CN" sz="3200" b="1" dirty="0">
                <a:solidFill>
                  <a:srgbClr val="203864"/>
                </a:solidFill>
                <a:latin typeface="Microsoft YaHei"/>
                <a:ea typeface="Microsoft YaHei"/>
              </a:rPr>
              <a:t>，欢迎同学们提问交流</a:t>
            </a:r>
          </a:p>
        </p:txBody>
      </p:sp>
      <p:pic>
        <p:nvPicPr>
          <p:cNvPr id="22" name="图片 21">
            <a:extLst>
              <a:ext uri="{FF2B5EF4-FFF2-40B4-BE49-F238E27FC236}">
                <a16:creationId xmlns:a16="http://schemas.microsoft.com/office/drawing/2014/main" id="{278F660B-983B-20E5-7BF0-74D334052500}"/>
              </a:ext>
            </a:extLst>
          </p:cNvPr>
          <p:cNvPicPr>
            <a:picLocks noChangeAspect="1"/>
          </p:cNvPicPr>
          <p:nvPr/>
        </p:nvPicPr>
        <p:blipFill>
          <a:blip r:embed="rId3"/>
          <a:stretch>
            <a:fillRect/>
          </a:stretch>
        </p:blipFill>
        <p:spPr>
          <a:xfrm>
            <a:off x="118742" y="12260"/>
            <a:ext cx="2491202" cy="851265"/>
          </a:xfrm>
          <a:prstGeom prst="rect">
            <a:avLst/>
          </a:prstGeom>
        </p:spPr>
      </p:pic>
      <p:sp>
        <p:nvSpPr>
          <p:cNvPr id="6" name="文本框 3">
            <a:extLst>
              <a:ext uri="{FF2B5EF4-FFF2-40B4-BE49-F238E27FC236}">
                <a16:creationId xmlns:a16="http://schemas.microsoft.com/office/drawing/2014/main" id="{FB6E81B0-895F-C543-59E1-D41785DE9724}"/>
              </a:ext>
            </a:extLst>
          </p:cNvPr>
          <p:cNvSpPr/>
          <p:nvPr/>
        </p:nvSpPr>
        <p:spPr>
          <a:xfrm>
            <a:off x="1473908" y="2754062"/>
            <a:ext cx="8837788" cy="1367143"/>
          </a:xfrm>
          <a:prstGeom prst="rect">
            <a:avLst/>
          </a:prstGeom>
          <a:noFill/>
          <a:ln>
            <a:noFill/>
          </a:ln>
        </p:spPr>
        <p:txBody>
          <a:bodyPr wrap="none" lIns="409575" tIns="20955" rIns="0" bIns="0" anchor="t" anchorCtr="0">
            <a:noAutofit/>
          </a:bodyPr>
          <a:lstStyle/>
          <a:p>
            <a:pPr algn="ctr"/>
            <a:r>
              <a:rPr lang="en-US" altLang="zh-CN" b="1" dirty="0">
                <a:solidFill>
                  <a:srgbClr val="203864"/>
                </a:solidFill>
                <a:latin typeface="Microsoft YaHei"/>
                <a:ea typeface="Microsoft YaHei"/>
              </a:rPr>
              <a:t>Armadillo: Robust Single-Server </a:t>
            </a:r>
          </a:p>
          <a:p>
            <a:pPr algn="ctr"/>
            <a:r>
              <a:rPr lang="en-US" altLang="zh-CN" b="1" dirty="0">
                <a:solidFill>
                  <a:srgbClr val="203864"/>
                </a:solidFill>
                <a:latin typeface="Microsoft YaHei"/>
                <a:ea typeface="Microsoft YaHei"/>
              </a:rPr>
              <a:t>Secure Aggregation </a:t>
            </a:r>
          </a:p>
          <a:p>
            <a:pPr algn="ctr"/>
            <a:r>
              <a:rPr lang="en-US" altLang="zh-CN" b="1" dirty="0">
                <a:solidFill>
                  <a:srgbClr val="203864"/>
                </a:solidFill>
                <a:latin typeface="Microsoft YaHei"/>
                <a:ea typeface="Microsoft YaHei"/>
              </a:rPr>
              <a:t>for Federated Learning with Input Validation</a:t>
            </a:r>
            <a:endParaRPr lang="zh-CN" altLang="zh-CN" b="1" dirty="0">
              <a:solidFill>
                <a:srgbClr val="203864"/>
              </a:solidFill>
              <a:latin typeface="Microsoft YaHei"/>
              <a:ea typeface="Microsoft YaHei"/>
            </a:endParaRPr>
          </a:p>
        </p:txBody>
      </p:sp>
      <p:sp>
        <p:nvSpPr>
          <p:cNvPr id="16" name="TextBox 13">
            <a:extLst>
              <a:ext uri="{FF2B5EF4-FFF2-40B4-BE49-F238E27FC236}">
                <a16:creationId xmlns:a16="http://schemas.microsoft.com/office/drawing/2014/main" id="{B882D52B-603D-5E92-842D-5A603F4BD076}"/>
              </a:ext>
            </a:extLst>
          </p:cNvPr>
          <p:cNvSpPr txBox="1"/>
          <p:nvPr/>
        </p:nvSpPr>
        <p:spPr>
          <a:xfrm>
            <a:off x="5087194" y="5574881"/>
            <a:ext cx="1684757" cy="276999"/>
          </a:xfrm>
          <a:prstGeom prst="rect">
            <a:avLst/>
          </a:prstGeom>
          <a:noFill/>
          <a:ln>
            <a:noFill/>
          </a:ln>
        </p:spPr>
        <p:txBody>
          <a:bodyPr wrap="none" lIns="0" tIns="0" rIns="0" bIns="0" anchor="t" anchorCtr="0">
            <a:spAutoFit/>
          </a:bodyPr>
          <a:lstStyle/>
          <a:p>
            <a:pPr algn="ctr"/>
            <a:r>
              <a:rPr lang="zh-CN" altLang="en-US" sz="1800" dirty="0">
                <a:solidFill>
                  <a:srgbClr val="64748B"/>
                </a:solidFill>
                <a:latin typeface="Microsoft YaHei"/>
                <a:ea typeface="Microsoft YaHei"/>
                <a:cs typeface="Microsoft YaHei"/>
              </a:rPr>
              <a:t>汇报人：王星宇</a:t>
            </a:r>
            <a:r>
              <a:rPr lang="zh-CN" altLang="en-US" dirty="0">
                <a:solidFill>
                  <a:srgbClr val="64748B"/>
                </a:solidFill>
                <a:latin typeface="Microsoft YaHei"/>
                <a:ea typeface="Microsoft YaHei"/>
                <a:cs typeface="Microsoft YaHei"/>
              </a:rPr>
              <a:t> </a:t>
            </a:r>
            <a:endParaRPr lang="zh-CN" sz="1800" dirty="0">
              <a:solidFill>
                <a:srgbClr val="64748B"/>
              </a:solidFill>
              <a:latin typeface="Microsoft YaHei"/>
              <a:ea typeface="Microsoft YaHei"/>
              <a:cs typeface="Microsoft YaHei"/>
            </a:endParaRPr>
          </a:p>
        </p:txBody>
      </p:sp>
      <p:sp>
        <p:nvSpPr>
          <p:cNvPr id="23" name="TextBox 13">
            <a:extLst>
              <a:ext uri="{FF2B5EF4-FFF2-40B4-BE49-F238E27FC236}">
                <a16:creationId xmlns:a16="http://schemas.microsoft.com/office/drawing/2014/main" id="{2B42C7AC-808E-AD5D-36F5-7BB477785DDD}"/>
              </a:ext>
            </a:extLst>
          </p:cNvPr>
          <p:cNvSpPr txBox="1"/>
          <p:nvPr/>
        </p:nvSpPr>
        <p:spPr>
          <a:xfrm>
            <a:off x="4723312" y="5983298"/>
            <a:ext cx="2412520" cy="276999"/>
          </a:xfrm>
          <a:prstGeom prst="rect">
            <a:avLst/>
          </a:prstGeom>
          <a:noFill/>
          <a:ln>
            <a:noFill/>
          </a:ln>
        </p:spPr>
        <p:txBody>
          <a:bodyPr wrap="none" lIns="0" tIns="0" rIns="0" bIns="0" anchor="t" anchorCtr="0">
            <a:spAutoFit/>
          </a:bodyPr>
          <a:lstStyle/>
          <a:p>
            <a:pPr algn="ctr"/>
            <a:r>
              <a:rPr lang="zh-CN" altLang="en-US" dirty="0">
                <a:solidFill>
                  <a:srgbClr val="64748B"/>
                </a:solidFill>
                <a:latin typeface="Microsoft YaHei"/>
                <a:ea typeface="Microsoft YaHei"/>
                <a:cs typeface="Microsoft YaHei"/>
              </a:rPr>
              <a:t>汇报日期：</a:t>
            </a:r>
            <a:r>
              <a:rPr lang="en-US" altLang="zh-CN" dirty="0">
                <a:solidFill>
                  <a:srgbClr val="64748B"/>
                </a:solidFill>
                <a:latin typeface="Microsoft YaHei"/>
                <a:ea typeface="Microsoft YaHei"/>
                <a:cs typeface="Microsoft YaHei"/>
              </a:rPr>
              <a:t>2026.10.11</a:t>
            </a:r>
            <a:r>
              <a:rPr lang="zh-CN" altLang="en-US" dirty="0">
                <a:solidFill>
                  <a:srgbClr val="64748B"/>
                </a:solidFill>
                <a:latin typeface="Microsoft YaHei"/>
                <a:ea typeface="Microsoft YaHei"/>
                <a:cs typeface="Microsoft YaHei"/>
              </a:rPr>
              <a:t> </a:t>
            </a:r>
            <a:endParaRPr lang="zh-CN" sz="1800" dirty="0">
              <a:solidFill>
                <a:srgbClr val="64748B"/>
              </a:solidFill>
              <a:latin typeface="Microsoft YaHei"/>
              <a:ea typeface="Microsoft YaHei"/>
              <a:cs typeface="Microsoft YaHei"/>
            </a:endParaRPr>
          </a:p>
        </p:txBody>
      </p:sp>
      <p:sp>
        <p:nvSpPr>
          <p:cNvPr id="25" name="TextBox 13">
            <a:extLst>
              <a:ext uri="{FF2B5EF4-FFF2-40B4-BE49-F238E27FC236}">
                <a16:creationId xmlns:a16="http://schemas.microsoft.com/office/drawing/2014/main" id="{E37755DE-4107-BF71-C3D5-E2CED6322A39}"/>
              </a:ext>
            </a:extLst>
          </p:cNvPr>
          <p:cNvSpPr txBox="1"/>
          <p:nvPr/>
        </p:nvSpPr>
        <p:spPr>
          <a:xfrm>
            <a:off x="5121659" y="5166465"/>
            <a:ext cx="1615827" cy="276999"/>
          </a:xfrm>
          <a:prstGeom prst="rect">
            <a:avLst/>
          </a:prstGeom>
          <a:noFill/>
          <a:ln>
            <a:noFill/>
          </a:ln>
        </p:spPr>
        <p:txBody>
          <a:bodyPr wrap="none" lIns="0" tIns="0" rIns="0" bIns="0" anchor="t" anchorCtr="0">
            <a:spAutoFit/>
          </a:bodyPr>
          <a:lstStyle/>
          <a:p>
            <a:pPr algn="ctr"/>
            <a:r>
              <a:rPr lang="zh-CN" altLang="en-US" sz="1800" dirty="0">
                <a:solidFill>
                  <a:srgbClr val="64748B"/>
                </a:solidFill>
                <a:latin typeface="Microsoft YaHei"/>
                <a:ea typeface="Microsoft YaHei"/>
                <a:cs typeface="Microsoft YaHei"/>
              </a:rPr>
              <a:t>指导老师：王强</a:t>
            </a:r>
            <a:endParaRPr lang="zh-CN" sz="1800" dirty="0">
              <a:solidFill>
                <a:srgbClr val="64748B"/>
              </a:solidFill>
              <a:latin typeface="Microsoft YaHei"/>
              <a:ea typeface="Microsoft YaHei"/>
              <a:cs typeface="Microsoft YaHei"/>
            </a:endParaRPr>
          </a:p>
        </p:txBody>
      </p:sp>
      <p:sp>
        <p:nvSpPr>
          <p:cNvPr id="27" name="TextBox 13">
            <a:extLst>
              <a:ext uri="{FF2B5EF4-FFF2-40B4-BE49-F238E27FC236}">
                <a16:creationId xmlns:a16="http://schemas.microsoft.com/office/drawing/2014/main" id="{4325F903-FB5B-61F0-D70C-9C3E42E9935A}"/>
              </a:ext>
            </a:extLst>
          </p:cNvPr>
          <p:cNvSpPr txBox="1"/>
          <p:nvPr/>
        </p:nvSpPr>
        <p:spPr>
          <a:xfrm>
            <a:off x="5121659" y="4758049"/>
            <a:ext cx="1615827" cy="276999"/>
          </a:xfrm>
          <a:prstGeom prst="rect">
            <a:avLst/>
          </a:prstGeom>
          <a:noFill/>
          <a:ln>
            <a:noFill/>
          </a:ln>
        </p:spPr>
        <p:txBody>
          <a:bodyPr wrap="none" lIns="0" tIns="0" rIns="0" bIns="0" anchor="t" anchorCtr="0">
            <a:spAutoFit/>
          </a:bodyPr>
          <a:lstStyle/>
          <a:p>
            <a:pPr algn="ctr"/>
            <a:r>
              <a:rPr lang="zh-CN" altLang="en-US" dirty="0">
                <a:solidFill>
                  <a:srgbClr val="64748B"/>
                </a:solidFill>
                <a:latin typeface="Microsoft YaHei"/>
                <a:ea typeface="Microsoft YaHei"/>
                <a:cs typeface="Microsoft YaHei"/>
              </a:rPr>
              <a:t>学校</a:t>
            </a:r>
            <a:r>
              <a:rPr lang="zh-CN" altLang="en-US" sz="1800" dirty="0">
                <a:solidFill>
                  <a:srgbClr val="64748B"/>
                </a:solidFill>
                <a:latin typeface="Microsoft YaHei"/>
                <a:ea typeface="Microsoft YaHei"/>
                <a:cs typeface="Microsoft YaHei"/>
              </a:rPr>
              <a:t>：东北大学</a:t>
            </a:r>
            <a:endParaRPr lang="zh-CN" sz="1800" dirty="0">
              <a:solidFill>
                <a:srgbClr val="64748B"/>
              </a:solidFill>
              <a:latin typeface="Microsoft YaHei"/>
              <a:ea typeface="Microsoft YaHei"/>
              <a:cs typeface="Microsoft YaHei"/>
            </a:endParaRPr>
          </a:p>
        </p:txBody>
      </p:sp>
    </p:spTree>
    <p:extLst>
      <p:ext uri="{BB962C8B-B14F-4D97-AF65-F5344CB8AC3E}">
        <p14:creationId xmlns:p14="http://schemas.microsoft.com/office/powerpoint/2010/main" val="18633831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xmlns:a14="http://schemas.microsoft.com/office/drawing/2010/main" xmlns:ns2="http://schemas.microsoft.com/office/drawing/2014/main">
      <p:transition spd="slow">
        <p:blinds dir="vert"/>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q2q5xqo">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12106</Words>
  <Application>Microsoft Office PowerPoint</Application>
  <PresentationFormat>宽屏</PresentationFormat>
  <Paragraphs>858</Paragraphs>
  <Slides>23</Slides>
  <Notes>23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23</vt:i4>
      </vt:variant>
    </vt:vector>
  </HeadingPairs>
  <TitlesOfParts>
    <vt:vector size="31" baseType="lpstr">
      <vt:lpstr>等线</vt:lpstr>
      <vt:lpstr>Microsoft YaHei</vt:lpstr>
      <vt:lpstr>Microsoft YaHei</vt:lpstr>
      <vt:lpstr>Arial</vt:lpstr>
      <vt:lpstr>Cambria Math</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国家奖学金</dc:title>
  <dc:creator/>
  <cp:keywords>www.1ppt.com</cp:keywords>
  <dc:description>www.1ppt.com</dc:description>
  <cp:lastModifiedBy/>
  <cp:revision>1</cp:revision>
  <dcterms:created xsi:type="dcterms:W3CDTF">2021-10-23T00:49:02Z</dcterms:created>
  <dcterms:modified xsi:type="dcterms:W3CDTF">2026-10-02T14:35:36Z</dcterms:modified>
</cp:coreProperties>
</file>