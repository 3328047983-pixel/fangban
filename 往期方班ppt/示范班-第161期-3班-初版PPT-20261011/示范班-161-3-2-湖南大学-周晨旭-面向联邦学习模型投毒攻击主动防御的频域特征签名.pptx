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35497a14674ed5c1cfb8e7b9f778f7976f82706c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各位老师同学好，今天我汇报的论文是SpecShield，发表在IEEE TIFS 2026上。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这篇论文针对联邦学习中的模型投毒攻击，提出了一种主动防御机制。核心思路是：服务器主动给客户端模型加扰动，然后在频域观察不同客户端的响应差异，以此区分良性和恶意客户端。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联邦学习的初衷是让各方在不共享原始数据的前提下协同训练模型，通信效率比同步SGD高10到100倍，Google早在2017年就把它用在了Gboard里。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但开放架构也引入了投毒攻击风险。现有防御分三类——影响降低、鲁棒聚合、检测过滤——但都是被动地看客户端提交了什么，无法应对会伪装的自适应攻击者，尤其在恶意客户端占多数时直接失效。这就是SpecShield要解决的核心问题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下面进入第一章，先看联邦学习面临的投毒威胁和现有防御为什么不够用。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现有防御看似五花八门，但都建立在"恶意更新在统计上是离群点"这个错误假设上。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关键洞察：良性和恶意模型在静态参数上可能一模一样，但给它加一点扰动，它们的反应完全不同。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下面进入第一章，先看联邦学习面临的投毒威胁和现有防御为什么不够用。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标准的FedAvg流程：服务器发模型，客户端本地训练后回传更新，服务器加权平均。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FGSM本来是用来攻击模型的，SpecShield反其道而行——把它变成探测客户端的探针。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小波变换像显微镜，从粗到细多级观察信号，SpecShield用Daubechies-4做三级分解。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下面进入第一章，先看联邦学习面临的投毒威胁和现有防御为什么不够用。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这就是SpecShield的完整流程：服务器主动扰动，客户端返回，服务器做小波分析+聚类，最后只聚合良性客户端。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服务器给每个客户端发的模型都带一点专属扰动，客户端训练后返回，良性和恶意的反应模式就不一样了。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把扰动前后的模型参数都做小波分解，然后算它们在频域上的差异——这个差异向量就是区分良性和恶意的指纹。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DBSCAN是密度聚类，不需要指定簇数，也不假设多数是好的。谁对扰动反应最强烈，谁就是良性。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SpecShield不是拍脑袋选扰动幅度，而是从优化理论上严格推导了最优ε上界，保证既能探测又不伤良性模型。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下面进入第一章，先看联邦学习面临的投毒威胁和现有防御为什么不够用。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实验覆盖4个数据集、9种防御、6种攻击，恶意比例从10%到80%都测了。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这是主结果表：在20%恶意客户端的默认设置下，SpecShield的准确率最接近无攻击上界。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TPR是抓恶意的能力，FPR是误杀良性的比例。SpecShield两个指标都比基线好。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小提琴图展示了两类客户端的特征范数分布——差距非常明显，这就是为什么聚类能分得开。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即使50%客户端都是恶意的，SpecShield还能保持95%以上准确率——这是对传统防御的颠覆。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左表是自适应攻击——攻击者知道我们的防御方法也模仿不了；右图是消融——三个组件都不能少。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SpecShield确实比FedAvg慢一些，但开销主要在服务器侧，而且换来的是不被投毒的安全性。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总结三个贡献：新范式、新方法、理论+实验全面验证。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先前的研究也是他们几个人搞的，是22年发表在ACM CCS的一篇poster论文，那篇文章只提出来静态后门攻击和移动后门攻击，并且没有评估任何防御策略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24年也有几篇新的研究，也是这几个人搞的，有一篇是针对联邦脉冲学习的时间分布式后门攻击，有一篇是</a:t>
            </a:r>
            <a:r>
              <a:rPr lang="en-US" sz="1200" b="0" i="0" u="none" strike="noStrike">
                <a:solidFill>
                  <a:srgbClr val="0563C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  <a:hlinkClick r:id="rId3" tooltip="https://www.semanticscholar.org/paper/35497a14674ed5c1cfb8e7b9f778f7976f82706c"/>
              </a:rPr>
              <a:t>利用</a:t>
            </a:r>
            <a:r>
              <a:rPr lang="en-US" sz="1200" b="0" i="0" u="none" strike="noStrike">
                <a:solidFill>
                  <a:srgbClr val="0563C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  <a:hlinkClick r:id="rId3" tooltip="https://www.semanticscholar.org/paper/35497a14674ed5c1cfb8e7b9f778f7976f82706c"/>
              </a:rPr>
              <a:t>DVS</a:t>
            </a:r>
            <a:r>
              <a:rPr lang="en-US" sz="1200" b="0" i="0" u="none" strike="noStrike">
                <a:solidFill>
                  <a:srgbClr val="0563C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  <a:hlinkClick r:id="rId3" tooltip="https://www.semanticscholar.org/paper/35497a14674ed5c1cfb8e7b9f778f7976f82706c"/>
              </a:rPr>
              <a:t>摄像头对</a:t>
            </a:r>
            <a:r>
              <a:rPr lang="en-US" sz="1200" b="0" i="0" u="none" strike="noStrike">
                <a:solidFill>
                  <a:srgbClr val="0563C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  <a:hlinkClick r:id="rId3" tooltip="https://www.semanticscholar.org/paper/35497a14674ed5c1cfb8e7b9f778f7976f82706c"/>
              </a:rPr>
              <a:t>SNN</a:t>
            </a:r>
            <a:r>
              <a:rPr lang="en-US" sz="1200" b="0" i="0" u="none" strike="noStrike">
                <a:solidFill>
                  <a:srgbClr val="0563C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  <a:hlinkClick r:id="rId3" tooltip="https://www.semanticscholar.org/paper/35497a14674ed5c1cfb8e7b9f778f7976f82706c"/>
              </a:rPr>
              <a:t>进行真实环境后门攻击</a:t>
            </a:r>
            <a:r>
              <a:rPr lang="en-US" sz="1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，发表在arXiv上</a:t>
            </a:r>
            <a:endParaRPr lang="en-US" sz="1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algn="l">
              <a:lnSpc>
                <a:spcPct val="100000"/>
              </a:lnSpc>
            </a:p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793C3F-9938-465D-A664-33F9804B0C8F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3F5529C-116F-4AEB-87AE-15CF9D414BA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44117" y="84715"/>
            <a:ext cx="1485961" cy="14738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0" y="1763712"/>
            <a:ext cx="12192000" cy="3971925"/>
          </a:xfrm>
          <a:prstGeom prst="rect">
            <a:avLst/>
          </a:prstGeom>
          <a:solidFill>
            <a:srgbClr val="C2262C">
              <a:alpha val="8502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>
            <p:ph type="body" sz="quarter" idx="14" hasCustomPrompt="1"/>
          </p:nvPr>
        </p:nvSpPr>
        <p:spPr>
          <a:xfrm>
            <a:off x="1524000" y="2070537"/>
            <a:ext cx="9144000" cy="14394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</a:t>
            </a:r>
            <a:endParaRPr lang="en-US" sz="60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8" name="AutoShape 8"/>
          <p:cNvSpPr/>
          <p:nvPr>
            <p:ph type="body" sz="quarter" idx="15" hasCustomPrompt="1"/>
          </p:nvPr>
        </p:nvSpPr>
        <p:spPr>
          <a:xfrm>
            <a:off x="3810000" y="4329114"/>
            <a:ext cx="4572000" cy="364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0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0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单击此处编辑母版副标题样式</a:t>
            </a:r>
            <a:endParaRPr lang="en-US" sz="20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9" name="AutoShape 9"/>
          <p:cNvSpPr/>
          <p:nvPr>
            <p:ph type="body" sz="quarter" idx="16"/>
          </p:nvPr>
        </p:nvSpPr>
        <p:spPr>
          <a:xfrm>
            <a:off x="3666331" y="3723381"/>
            <a:ext cx="4859337" cy="4369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4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18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0FDEA2F-8DCF-4AD3-AEA0-2D524BFEC43C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" y="0"/>
            <a:ext cx="3843337" cy="6858000"/>
          </a:xfrm>
          <a:prstGeom prst="rect">
            <a:avLst/>
          </a:prstGeom>
          <a:solidFill>
            <a:srgbClr val="CC4B4C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0" y="3482680"/>
            <a:ext cx="3843338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目录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25400" cap="flat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>
            <p:ph type="body" sz="quarter" idx="19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cxnSp>
        <p:nvCxnSpPr>
          <p:cNvPr id="8" name="Connector 8"/>
          <p:cNvCxnSpPr/>
          <p:nvPr/>
        </p:nvCxnSpPr>
        <p:spPr>
          <a:xfrm>
            <a:off x="4995083" y="2200857"/>
            <a:ext cx="5115400" cy="0"/>
          </a:xfrm>
          <a:prstGeom prst="lin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4995083" y="3103529"/>
            <a:ext cx="5115400" cy="0"/>
          </a:xfrm>
          <a:prstGeom prst="lin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4995083" y="4006201"/>
            <a:ext cx="5115400" cy="0"/>
          </a:xfrm>
          <a:prstGeom prst="lin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4995083" y="4908874"/>
            <a:ext cx="5115400" cy="0"/>
          </a:xfrm>
          <a:prstGeom prst="lin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ph type="body" sz="quarter" idx="20" hasCustomPrompt="1"/>
          </p:nvPr>
        </p:nvSpPr>
        <p:spPr>
          <a:xfrm>
            <a:off x="5829968" y="1546609"/>
            <a:ext cx="4280515" cy="4832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sp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输入标题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3" name="AutoShape 13"/>
          <p:cNvSpPr/>
          <p:nvPr>
            <p:ph type="body" sz="quarter" idx="21" hasCustomPrompt="1"/>
          </p:nvPr>
        </p:nvSpPr>
        <p:spPr>
          <a:xfrm>
            <a:off x="5829969" y="2452078"/>
            <a:ext cx="4280514" cy="4832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sp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输入标题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" name="AutoShape 14"/>
          <p:cNvSpPr/>
          <p:nvPr>
            <p:ph type="body" sz="quarter" idx="22" hasCustomPrompt="1"/>
          </p:nvPr>
        </p:nvSpPr>
        <p:spPr>
          <a:xfrm>
            <a:off x="5829968" y="3357547"/>
            <a:ext cx="4280513" cy="4832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sp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输入标题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5" name="AutoShape 15"/>
          <p:cNvSpPr/>
          <p:nvPr>
            <p:ph type="body" sz="quarter" idx="23" hasCustomPrompt="1"/>
          </p:nvPr>
        </p:nvSpPr>
        <p:spPr>
          <a:xfrm>
            <a:off x="5829969" y="4263016"/>
            <a:ext cx="4280512" cy="4832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sp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输入标题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4995081" y="1526603"/>
            <a:ext cx="676847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4995081" y="2430769"/>
            <a:ext cx="676847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4995081" y="3334935"/>
            <a:ext cx="676847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4995081" y="4239101"/>
            <a:ext cx="676847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4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25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6AA96AF-5D9F-4393-8657-7B3B2379DF4D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0" y="3482680"/>
            <a:ext cx="3843338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大纲</a:t>
            </a:r>
            <a:endParaRPr lang="en-US" sz="1100"/>
          </a:p>
        </p:txBody>
      </p:sp>
      <p:sp>
        <p:nvSpPr>
          <p:cNvPr id="5" name="AutoShape 5"/>
          <p:cNvSpPr/>
          <p:nvPr>
            <p:ph type="body" sz="quarter" idx="26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79325" y="3876401"/>
            <a:ext cx="906156" cy="3453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 txBox="1"/>
          <p:nvPr/>
        </p:nvSpPr>
        <p:spPr>
          <a:xfrm>
            <a:off x="4879325" y="2688983"/>
            <a:ext cx="5401881" cy="10597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6000" b="0" i="0" u="none" strike="noStrike">
                <a:solidFill>
                  <a:srgbClr val="59595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401" y="1141914"/>
            <a:ext cx="3308300" cy="4487366"/>
          </a:xfrm>
          <a:custGeom>
            <a:avLst/>
            <a:gdLst/>
            <a:ahLst/>
            <a:cxnLst/>
            <a:rect l="l" t="t" r="r" b="b"/>
            <a:pathLst>
              <a:path w="3308300" h="4487366">
                <a:moveTo>
                  <a:pt x="1078445" y="191980"/>
                </a:moveTo>
                <a:lnTo>
                  <a:pt x="1094875" y="192965"/>
                </a:lnTo>
                <a:cubicBezTo>
                  <a:pt x="1094875" y="192965"/>
                  <a:pt x="1094875" y="192965"/>
                  <a:pt x="1086984" y="192491"/>
                </a:cubicBezTo>
                <a:close/>
                <a:moveTo>
                  <a:pt x="1048178" y="190166"/>
                </a:moveTo>
                <a:lnTo>
                  <a:pt x="1068243" y="191369"/>
                </a:lnTo>
                <a:lnTo>
                  <a:pt x="1078445" y="191980"/>
                </a:lnTo>
                <a:lnTo>
                  <a:pt x="1058379" y="190777"/>
                </a:lnTo>
                <a:close/>
                <a:moveTo>
                  <a:pt x="1031748" y="189180"/>
                </a:moveTo>
                <a:cubicBezTo>
                  <a:pt x="1031748" y="189180"/>
                  <a:pt x="1031748" y="189180"/>
                  <a:pt x="1039639" y="189654"/>
                </a:cubicBezTo>
                <a:lnTo>
                  <a:pt x="1048178" y="190166"/>
                </a:lnTo>
                <a:close/>
                <a:moveTo>
                  <a:pt x="2909805" y="0"/>
                </a:moveTo>
                <a:cubicBezTo>
                  <a:pt x="2909805" y="0"/>
                  <a:pt x="2909805" y="0"/>
                  <a:pt x="2909805" y="15135"/>
                </a:cubicBezTo>
                <a:cubicBezTo>
                  <a:pt x="2909805" y="15135"/>
                  <a:pt x="2909805" y="15135"/>
                  <a:pt x="2933478" y="3806316"/>
                </a:cubicBezTo>
                <a:cubicBezTo>
                  <a:pt x="2933478" y="3806316"/>
                  <a:pt x="2933478" y="3806316"/>
                  <a:pt x="2933478" y="3829018"/>
                </a:cubicBezTo>
                <a:cubicBezTo>
                  <a:pt x="2933478" y="3829018"/>
                  <a:pt x="2933478" y="3829018"/>
                  <a:pt x="2913750" y="3836585"/>
                </a:cubicBezTo>
                <a:cubicBezTo>
                  <a:pt x="2854568" y="3863069"/>
                  <a:pt x="2795386" y="3881987"/>
                  <a:pt x="2736204" y="3904690"/>
                </a:cubicBezTo>
                <a:cubicBezTo>
                  <a:pt x="2680966" y="3923608"/>
                  <a:pt x="2621784" y="3942526"/>
                  <a:pt x="2558655" y="3961444"/>
                </a:cubicBezTo>
                <a:cubicBezTo>
                  <a:pt x="2531036" y="3969012"/>
                  <a:pt x="2499473" y="3976578"/>
                  <a:pt x="2467908" y="3984146"/>
                </a:cubicBezTo>
                <a:cubicBezTo>
                  <a:pt x="2440291" y="3991713"/>
                  <a:pt x="2408726" y="3999280"/>
                  <a:pt x="2377163" y="4006847"/>
                </a:cubicBezTo>
                <a:cubicBezTo>
                  <a:pt x="2349544" y="4014414"/>
                  <a:pt x="2317980" y="4018199"/>
                  <a:pt x="2286417" y="4025765"/>
                </a:cubicBezTo>
                <a:cubicBezTo>
                  <a:pt x="2286417" y="4025765"/>
                  <a:pt x="2286417" y="4025765"/>
                  <a:pt x="2239071" y="4033333"/>
                </a:cubicBezTo>
                <a:cubicBezTo>
                  <a:pt x="2239071" y="4033333"/>
                  <a:pt x="2239071" y="4033333"/>
                  <a:pt x="2191724" y="4037115"/>
                </a:cubicBezTo>
                <a:cubicBezTo>
                  <a:pt x="2128596" y="4048467"/>
                  <a:pt x="2065468" y="4052250"/>
                  <a:pt x="2002340" y="4052250"/>
                </a:cubicBezTo>
                <a:cubicBezTo>
                  <a:pt x="1998395" y="4052250"/>
                  <a:pt x="1994450" y="4052250"/>
                  <a:pt x="1990504" y="4052250"/>
                </a:cubicBezTo>
                <a:cubicBezTo>
                  <a:pt x="1990504" y="4052250"/>
                  <a:pt x="1990504" y="4052250"/>
                  <a:pt x="1978666" y="4052250"/>
                </a:cubicBezTo>
                <a:cubicBezTo>
                  <a:pt x="1978666" y="4052250"/>
                  <a:pt x="1978666" y="4052250"/>
                  <a:pt x="1954995" y="4052250"/>
                </a:cubicBezTo>
                <a:cubicBezTo>
                  <a:pt x="1939213" y="4052250"/>
                  <a:pt x="1923430" y="4052250"/>
                  <a:pt x="1907648" y="4048467"/>
                </a:cubicBezTo>
                <a:cubicBezTo>
                  <a:pt x="1880031" y="4048467"/>
                  <a:pt x="1844520" y="4048467"/>
                  <a:pt x="1816901" y="4044683"/>
                </a:cubicBezTo>
                <a:cubicBezTo>
                  <a:pt x="1753773" y="4040900"/>
                  <a:pt x="1690646" y="4037115"/>
                  <a:pt x="1627518" y="4029549"/>
                </a:cubicBezTo>
                <a:cubicBezTo>
                  <a:pt x="1627518" y="4029549"/>
                  <a:pt x="1627518" y="4029549"/>
                  <a:pt x="1446025" y="4014414"/>
                </a:cubicBezTo>
                <a:cubicBezTo>
                  <a:pt x="1446025" y="4014414"/>
                  <a:pt x="1446025" y="4014414"/>
                  <a:pt x="1351333" y="4003064"/>
                </a:cubicBezTo>
                <a:cubicBezTo>
                  <a:pt x="1323715" y="4003064"/>
                  <a:pt x="1292150" y="3999280"/>
                  <a:pt x="1260587" y="3999280"/>
                </a:cubicBezTo>
                <a:cubicBezTo>
                  <a:pt x="1232968" y="3995496"/>
                  <a:pt x="1201403" y="3995496"/>
                  <a:pt x="1169840" y="3991713"/>
                </a:cubicBezTo>
                <a:cubicBezTo>
                  <a:pt x="1169840" y="3991713"/>
                  <a:pt x="1169840" y="3991713"/>
                  <a:pt x="1126439" y="3991713"/>
                </a:cubicBezTo>
                <a:cubicBezTo>
                  <a:pt x="1126439" y="3991713"/>
                  <a:pt x="1126439" y="3991713"/>
                  <a:pt x="1079094" y="3991713"/>
                </a:cubicBezTo>
                <a:cubicBezTo>
                  <a:pt x="1019912" y="3991713"/>
                  <a:pt x="960728" y="3995496"/>
                  <a:pt x="897600" y="3999280"/>
                </a:cubicBezTo>
                <a:cubicBezTo>
                  <a:pt x="885764" y="3999280"/>
                  <a:pt x="869982" y="4003064"/>
                  <a:pt x="854201" y="4003064"/>
                </a:cubicBezTo>
                <a:cubicBezTo>
                  <a:pt x="838418" y="4006847"/>
                  <a:pt x="826582" y="4006847"/>
                  <a:pt x="810800" y="4010631"/>
                </a:cubicBezTo>
                <a:cubicBezTo>
                  <a:pt x="810800" y="4010631"/>
                  <a:pt x="810800" y="4010631"/>
                  <a:pt x="767399" y="4018199"/>
                </a:cubicBezTo>
                <a:cubicBezTo>
                  <a:pt x="767399" y="4018199"/>
                  <a:pt x="767399" y="4018199"/>
                  <a:pt x="755562" y="4021982"/>
                </a:cubicBezTo>
                <a:cubicBezTo>
                  <a:pt x="755562" y="4021982"/>
                  <a:pt x="755562" y="4021982"/>
                  <a:pt x="751618" y="4021982"/>
                </a:cubicBezTo>
                <a:cubicBezTo>
                  <a:pt x="751618" y="4021982"/>
                  <a:pt x="751618" y="4021982"/>
                  <a:pt x="747672" y="4021982"/>
                </a:cubicBezTo>
                <a:cubicBezTo>
                  <a:pt x="747672" y="4021982"/>
                  <a:pt x="747672" y="4021982"/>
                  <a:pt x="723998" y="4029549"/>
                </a:cubicBezTo>
                <a:cubicBezTo>
                  <a:pt x="723998" y="4029549"/>
                  <a:pt x="723998" y="4029549"/>
                  <a:pt x="680598" y="4040900"/>
                </a:cubicBezTo>
                <a:cubicBezTo>
                  <a:pt x="680598" y="4040900"/>
                  <a:pt x="680598" y="4040900"/>
                  <a:pt x="637197" y="4052250"/>
                </a:cubicBezTo>
                <a:cubicBezTo>
                  <a:pt x="609580" y="4059818"/>
                  <a:pt x="578015" y="4071169"/>
                  <a:pt x="550396" y="4078736"/>
                </a:cubicBezTo>
                <a:cubicBezTo>
                  <a:pt x="503051" y="4093870"/>
                  <a:pt x="459650" y="4112788"/>
                  <a:pt x="412304" y="4131706"/>
                </a:cubicBezTo>
                <a:cubicBezTo>
                  <a:pt x="447815" y="4124140"/>
                  <a:pt x="483323" y="4116572"/>
                  <a:pt x="514887" y="4112788"/>
                </a:cubicBezTo>
                <a:cubicBezTo>
                  <a:pt x="534615" y="4112788"/>
                  <a:pt x="550396" y="4109005"/>
                  <a:pt x="570125" y="4105222"/>
                </a:cubicBezTo>
                <a:cubicBezTo>
                  <a:pt x="570125" y="4105222"/>
                  <a:pt x="570125" y="4105222"/>
                  <a:pt x="625361" y="4101438"/>
                </a:cubicBezTo>
                <a:cubicBezTo>
                  <a:pt x="625361" y="4101438"/>
                  <a:pt x="625361" y="4101438"/>
                  <a:pt x="649033" y="4101438"/>
                </a:cubicBezTo>
                <a:cubicBezTo>
                  <a:pt x="649033" y="4101438"/>
                  <a:pt x="649033" y="4101438"/>
                  <a:pt x="676652" y="4097654"/>
                </a:cubicBezTo>
                <a:cubicBezTo>
                  <a:pt x="676652" y="4097654"/>
                  <a:pt x="676652" y="4097654"/>
                  <a:pt x="731890" y="4097654"/>
                </a:cubicBezTo>
                <a:cubicBezTo>
                  <a:pt x="747672" y="4097654"/>
                  <a:pt x="767399" y="4097654"/>
                  <a:pt x="787127" y="4097654"/>
                </a:cubicBezTo>
                <a:cubicBezTo>
                  <a:pt x="787127" y="4097654"/>
                  <a:pt x="787127" y="4097654"/>
                  <a:pt x="842363" y="4097654"/>
                </a:cubicBezTo>
                <a:cubicBezTo>
                  <a:pt x="850255" y="4097654"/>
                  <a:pt x="858147" y="4097654"/>
                  <a:pt x="869982" y="4097654"/>
                </a:cubicBezTo>
                <a:cubicBezTo>
                  <a:pt x="869982" y="4097654"/>
                  <a:pt x="869982" y="4097654"/>
                  <a:pt x="893655" y="4101438"/>
                </a:cubicBezTo>
                <a:cubicBezTo>
                  <a:pt x="893655" y="4101438"/>
                  <a:pt x="893655" y="4101438"/>
                  <a:pt x="944947" y="4105222"/>
                </a:cubicBezTo>
                <a:cubicBezTo>
                  <a:pt x="944947" y="4105222"/>
                  <a:pt x="944947" y="4105222"/>
                  <a:pt x="960728" y="4105222"/>
                </a:cubicBezTo>
                <a:cubicBezTo>
                  <a:pt x="960728" y="4105222"/>
                  <a:pt x="960728" y="4105222"/>
                  <a:pt x="972565" y="4109005"/>
                </a:cubicBezTo>
                <a:cubicBezTo>
                  <a:pt x="972565" y="4109005"/>
                  <a:pt x="972565" y="4109005"/>
                  <a:pt x="1000183" y="4112788"/>
                </a:cubicBezTo>
                <a:cubicBezTo>
                  <a:pt x="1000183" y="4112788"/>
                  <a:pt x="1000183" y="4112788"/>
                  <a:pt x="1051475" y="4116572"/>
                </a:cubicBezTo>
                <a:cubicBezTo>
                  <a:pt x="1118549" y="4127923"/>
                  <a:pt x="1189568" y="4139274"/>
                  <a:pt x="1256641" y="4150624"/>
                </a:cubicBezTo>
                <a:cubicBezTo>
                  <a:pt x="1288204" y="4158192"/>
                  <a:pt x="1323715" y="4165759"/>
                  <a:pt x="1355279" y="4173327"/>
                </a:cubicBezTo>
                <a:cubicBezTo>
                  <a:pt x="1355279" y="4173327"/>
                  <a:pt x="1355279" y="4173327"/>
                  <a:pt x="1453915" y="4192245"/>
                </a:cubicBezTo>
                <a:cubicBezTo>
                  <a:pt x="1453915" y="4192245"/>
                  <a:pt x="1453915" y="4192245"/>
                  <a:pt x="1651190" y="4230080"/>
                </a:cubicBezTo>
                <a:cubicBezTo>
                  <a:pt x="1714320" y="4241432"/>
                  <a:pt x="1781392" y="4256565"/>
                  <a:pt x="1844520" y="4264133"/>
                </a:cubicBezTo>
                <a:cubicBezTo>
                  <a:pt x="1911594" y="4275484"/>
                  <a:pt x="1974722" y="4283051"/>
                  <a:pt x="2041796" y="4294402"/>
                </a:cubicBezTo>
                <a:cubicBezTo>
                  <a:pt x="2041796" y="4294402"/>
                  <a:pt x="2041796" y="4294402"/>
                  <a:pt x="2140433" y="4301969"/>
                </a:cubicBezTo>
                <a:cubicBezTo>
                  <a:pt x="2140433" y="4301969"/>
                  <a:pt x="2140433" y="4301969"/>
                  <a:pt x="2187778" y="4309535"/>
                </a:cubicBezTo>
                <a:cubicBezTo>
                  <a:pt x="2187778" y="4309535"/>
                  <a:pt x="2187778" y="4309535"/>
                  <a:pt x="2239071" y="4313320"/>
                </a:cubicBezTo>
                <a:cubicBezTo>
                  <a:pt x="2239071" y="4313320"/>
                  <a:pt x="2239071" y="4313320"/>
                  <a:pt x="2337707" y="4317103"/>
                </a:cubicBezTo>
                <a:cubicBezTo>
                  <a:pt x="2369271" y="4320888"/>
                  <a:pt x="2400836" y="4320888"/>
                  <a:pt x="2432399" y="4320888"/>
                </a:cubicBezTo>
                <a:cubicBezTo>
                  <a:pt x="2499473" y="4324670"/>
                  <a:pt x="2566547" y="4320888"/>
                  <a:pt x="2629675" y="4320888"/>
                </a:cubicBezTo>
                <a:cubicBezTo>
                  <a:pt x="2665184" y="4320888"/>
                  <a:pt x="2696747" y="4317103"/>
                  <a:pt x="2728312" y="4313320"/>
                </a:cubicBezTo>
                <a:cubicBezTo>
                  <a:pt x="2728312" y="4313320"/>
                  <a:pt x="2728312" y="4313320"/>
                  <a:pt x="2826949" y="4309535"/>
                </a:cubicBezTo>
                <a:cubicBezTo>
                  <a:pt x="2894023" y="4301969"/>
                  <a:pt x="2961096" y="4294402"/>
                  <a:pt x="3024224" y="4286834"/>
                </a:cubicBezTo>
                <a:cubicBezTo>
                  <a:pt x="3024224" y="4286834"/>
                  <a:pt x="3024224" y="4286834"/>
                  <a:pt x="3166262" y="4264133"/>
                </a:cubicBezTo>
                <a:cubicBezTo>
                  <a:pt x="3166262" y="4264133"/>
                  <a:pt x="3166262" y="4264133"/>
                  <a:pt x="3233336" y="601595"/>
                </a:cubicBezTo>
                <a:cubicBezTo>
                  <a:pt x="3233336" y="601595"/>
                  <a:pt x="3233336" y="601595"/>
                  <a:pt x="3304355" y="4320888"/>
                </a:cubicBezTo>
                <a:lnTo>
                  <a:pt x="3308300" y="4377642"/>
                </a:lnTo>
                <a:cubicBezTo>
                  <a:pt x="3308300" y="4377642"/>
                  <a:pt x="3308300" y="4377642"/>
                  <a:pt x="3249117" y="4388992"/>
                </a:cubicBezTo>
                <a:cubicBezTo>
                  <a:pt x="3249117" y="4388992"/>
                  <a:pt x="3249117" y="4388992"/>
                  <a:pt x="3047897" y="4426828"/>
                </a:cubicBezTo>
                <a:cubicBezTo>
                  <a:pt x="2980825" y="4438180"/>
                  <a:pt x="2913750" y="4449530"/>
                  <a:pt x="2846677" y="4457097"/>
                </a:cubicBezTo>
                <a:cubicBezTo>
                  <a:pt x="2846677" y="4457097"/>
                  <a:pt x="2846677" y="4457097"/>
                  <a:pt x="2744094" y="4468448"/>
                </a:cubicBezTo>
                <a:cubicBezTo>
                  <a:pt x="2708585" y="4468448"/>
                  <a:pt x="2673074" y="4476016"/>
                  <a:pt x="2641511" y="4476016"/>
                </a:cubicBezTo>
                <a:cubicBezTo>
                  <a:pt x="2570493" y="4479799"/>
                  <a:pt x="2503418" y="4483583"/>
                  <a:pt x="2432399" y="4483583"/>
                </a:cubicBezTo>
                <a:cubicBezTo>
                  <a:pt x="2400836" y="4483583"/>
                  <a:pt x="2365325" y="4483583"/>
                  <a:pt x="2329816" y="4483583"/>
                </a:cubicBezTo>
                <a:cubicBezTo>
                  <a:pt x="2329816" y="4483583"/>
                  <a:pt x="2329816" y="4483583"/>
                  <a:pt x="2227233" y="4483583"/>
                </a:cubicBezTo>
                <a:cubicBezTo>
                  <a:pt x="2227233" y="4483583"/>
                  <a:pt x="2227233" y="4483583"/>
                  <a:pt x="2175942" y="4479799"/>
                </a:cubicBezTo>
                <a:cubicBezTo>
                  <a:pt x="2175942" y="4479799"/>
                  <a:pt x="2175942" y="4479799"/>
                  <a:pt x="2124652" y="4476016"/>
                </a:cubicBezTo>
                <a:cubicBezTo>
                  <a:pt x="2089141" y="4476016"/>
                  <a:pt x="2057577" y="4472231"/>
                  <a:pt x="2022067" y="4468448"/>
                </a:cubicBezTo>
                <a:cubicBezTo>
                  <a:pt x="1954995" y="4464665"/>
                  <a:pt x="1883975" y="4457097"/>
                  <a:pt x="1816901" y="4449530"/>
                </a:cubicBezTo>
                <a:cubicBezTo>
                  <a:pt x="1749829" y="4438180"/>
                  <a:pt x="1682755" y="4430612"/>
                  <a:pt x="1615681" y="4419261"/>
                </a:cubicBezTo>
                <a:cubicBezTo>
                  <a:pt x="1615681" y="4419261"/>
                  <a:pt x="1615681" y="4419261"/>
                  <a:pt x="1414461" y="4385208"/>
                </a:cubicBezTo>
                <a:cubicBezTo>
                  <a:pt x="1414461" y="4385208"/>
                  <a:pt x="1414461" y="4385208"/>
                  <a:pt x="1315823" y="4370074"/>
                </a:cubicBezTo>
                <a:cubicBezTo>
                  <a:pt x="1284260" y="4366290"/>
                  <a:pt x="1248750" y="4358724"/>
                  <a:pt x="1217186" y="4354939"/>
                </a:cubicBezTo>
                <a:cubicBezTo>
                  <a:pt x="1154058" y="4343589"/>
                  <a:pt x="1086984" y="4336021"/>
                  <a:pt x="1023857" y="4328455"/>
                </a:cubicBezTo>
                <a:cubicBezTo>
                  <a:pt x="1023857" y="4328455"/>
                  <a:pt x="1023857" y="4328455"/>
                  <a:pt x="976511" y="4324670"/>
                </a:cubicBezTo>
                <a:cubicBezTo>
                  <a:pt x="976511" y="4324670"/>
                  <a:pt x="976511" y="4324670"/>
                  <a:pt x="952838" y="4320888"/>
                </a:cubicBezTo>
                <a:cubicBezTo>
                  <a:pt x="952838" y="4320888"/>
                  <a:pt x="952838" y="4320888"/>
                  <a:pt x="941001" y="4320888"/>
                </a:cubicBezTo>
                <a:cubicBezTo>
                  <a:pt x="941001" y="4320888"/>
                  <a:pt x="941001" y="4320888"/>
                  <a:pt x="937056" y="4320888"/>
                </a:cubicBezTo>
                <a:cubicBezTo>
                  <a:pt x="937056" y="4320888"/>
                  <a:pt x="937056" y="4320888"/>
                  <a:pt x="929164" y="4320888"/>
                </a:cubicBezTo>
                <a:cubicBezTo>
                  <a:pt x="929164" y="4320888"/>
                  <a:pt x="929164" y="4320888"/>
                  <a:pt x="881819" y="4317103"/>
                </a:cubicBezTo>
                <a:cubicBezTo>
                  <a:pt x="881819" y="4317103"/>
                  <a:pt x="881819" y="4317103"/>
                  <a:pt x="854201" y="4317103"/>
                </a:cubicBezTo>
                <a:cubicBezTo>
                  <a:pt x="846309" y="4317103"/>
                  <a:pt x="838418" y="4317103"/>
                  <a:pt x="830528" y="4317103"/>
                </a:cubicBezTo>
                <a:cubicBezTo>
                  <a:pt x="830528" y="4317103"/>
                  <a:pt x="830528" y="4317103"/>
                  <a:pt x="787127" y="4317103"/>
                </a:cubicBezTo>
                <a:cubicBezTo>
                  <a:pt x="771345" y="4317103"/>
                  <a:pt x="755562" y="4317103"/>
                  <a:pt x="739780" y="4320888"/>
                </a:cubicBezTo>
                <a:cubicBezTo>
                  <a:pt x="739780" y="4320888"/>
                  <a:pt x="739780" y="4320888"/>
                  <a:pt x="692436" y="4324670"/>
                </a:cubicBezTo>
                <a:cubicBezTo>
                  <a:pt x="692436" y="4324670"/>
                  <a:pt x="692436" y="4324670"/>
                  <a:pt x="668762" y="4324670"/>
                </a:cubicBezTo>
                <a:cubicBezTo>
                  <a:pt x="668762" y="4324670"/>
                  <a:pt x="668762" y="4324670"/>
                  <a:pt x="645089" y="4328455"/>
                </a:cubicBezTo>
                <a:cubicBezTo>
                  <a:pt x="645089" y="4328455"/>
                  <a:pt x="645089" y="4328455"/>
                  <a:pt x="601688" y="4332238"/>
                </a:cubicBezTo>
                <a:cubicBezTo>
                  <a:pt x="585907" y="4336021"/>
                  <a:pt x="570125" y="4339805"/>
                  <a:pt x="554342" y="4339805"/>
                </a:cubicBezTo>
                <a:cubicBezTo>
                  <a:pt x="522779" y="4343589"/>
                  <a:pt x="491214" y="4351156"/>
                  <a:pt x="463596" y="4358724"/>
                </a:cubicBezTo>
                <a:cubicBezTo>
                  <a:pt x="404412" y="4373857"/>
                  <a:pt x="345230" y="4392776"/>
                  <a:pt x="286048" y="4411693"/>
                </a:cubicBezTo>
                <a:cubicBezTo>
                  <a:pt x="286048" y="4411693"/>
                  <a:pt x="286048" y="4411693"/>
                  <a:pt x="246593" y="4430612"/>
                </a:cubicBezTo>
                <a:cubicBezTo>
                  <a:pt x="230811" y="4438180"/>
                  <a:pt x="218975" y="4441962"/>
                  <a:pt x="207138" y="4449530"/>
                </a:cubicBezTo>
                <a:cubicBezTo>
                  <a:pt x="191356" y="4457097"/>
                  <a:pt x="179520" y="4460881"/>
                  <a:pt x="167684" y="4468448"/>
                </a:cubicBezTo>
                <a:cubicBezTo>
                  <a:pt x="159793" y="4472231"/>
                  <a:pt x="155847" y="4476016"/>
                  <a:pt x="147955" y="4479799"/>
                </a:cubicBezTo>
                <a:cubicBezTo>
                  <a:pt x="147955" y="4479799"/>
                  <a:pt x="144010" y="4483583"/>
                  <a:pt x="140066" y="4483583"/>
                </a:cubicBezTo>
                <a:cubicBezTo>
                  <a:pt x="140066" y="4483583"/>
                  <a:pt x="140066" y="4483583"/>
                  <a:pt x="136120" y="4487366"/>
                </a:cubicBezTo>
                <a:cubicBezTo>
                  <a:pt x="136120" y="4487366"/>
                  <a:pt x="136120" y="4487366"/>
                  <a:pt x="21269" y="4487366"/>
                </a:cubicBezTo>
                <a:lnTo>
                  <a:pt x="0" y="4487366"/>
                </a:lnTo>
                <a:lnTo>
                  <a:pt x="0" y="547434"/>
                </a:lnTo>
                <a:lnTo>
                  <a:pt x="1972" y="401063"/>
                </a:lnTo>
                <a:cubicBezTo>
                  <a:pt x="1972" y="401063"/>
                  <a:pt x="1972" y="401063"/>
                  <a:pt x="49318" y="4207379"/>
                </a:cubicBezTo>
                <a:cubicBezTo>
                  <a:pt x="61154" y="4196028"/>
                  <a:pt x="76937" y="4188461"/>
                  <a:pt x="88773" y="4180893"/>
                </a:cubicBezTo>
                <a:cubicBezTo>
                  <a:pt x="88773" y="4180893"/>
                  <a:pt x="88773" y="4180893"/>
                  <a:pt x="132174" y="4158192"/>
                </a:cubicBezTo>
                <a:cubicBezTo>
                  <a:pt x="132174" y="4158192"/>
                  <a:pt x="132174" y="4158192"/>
                  <a:pt x="171629" y="4135490"/>
                </a:cubicBezTo>
                <a:cubicBezTo>
                  <a:pt x="226866" y="4109005"/>
                  <a:pt x="286048" y="4082519"/>
                  <a:pt x="341286" y="4056035"/>
                </a:cubicBezTo>
                <a:cubicBezTo>
                  <a:pt x="400468" y="4033333"/>
                  <a:pt x="459650" y="4010631"/>
                  <a:pt x="518833" y="3991713"/>
                </a:cubicBezTo>
                <a:cubicBezTo>
                  <a:pt x="550396" y="3980362"/>
                  <a:pt x="578015" y="3972795"/>
                  <a:pt x="609580" y="3965227"/>
                </a:cubicBezTo>
                <a:cubicBezTo>
                  <a:pt x="609580" y="3965227"/>
                  <a:pt x="609580" y="3965227"/>
                  <a:pt x="656925" y="3950092"/>
                </a:cubicBezTo>
                <a:cubicBezTo>
                  <a:pt x="656925" y="3950092"/>
                  <a:pt x="656925" y="3950092"/>
                  <a:pt x="700325" y="3942526"/>
                </a:cubicBezTo>
                <a:cubicBezTo>
                  <a:pt x="700325" y="3942526"/>
                  <a:pt x="700325" y="3942526"/>
                  <a:pt x="723998" y="3934958"/>
                </a:cubicBezTo>
                <a:cubicBezTo>
                  <a:pt x="723998" y="3934958"/>
                  <a:pt x="723998" y="3934958"/>
                  <a:pt x="727944" y="3934958"/>
                </a:cubicBezTo>
                <a:cubicBezTo>
                  <a:pt x="727944" y="3934958"/>
                  <a:pt x="727944" y="3934958"/>
                  <a:pt x="731890" y="3934958"/>
                </a:cubicBezTo>
                <a:cubicBezTo>
                  <a:pt x="731890" y="3934958"/>
                  <a:pt x="731890" y="3934958"/>
                  <a:pt x="735834" y="3931176"/>
                </a:cubicBezTo>
                <a:cubicBezTo>
                  <a:pt x="735834" y="3931176"/>
                  <a:pt x="735834" y="3931176"/>
                  <a:pt x="747672" y="3931176"/>
                </a:cubicBezTo>
                <a:cubicBezTo>
                  <a:pt x="747672" y="3931176"/>
                  <a:pt x="747672" y="3931176"/>
                  <a:pt x="795017" y="3923608"/>
                </a:cubicBezTo>
                <a:cubicBezTo>
                  <a:pt x="810800" y="3919823"/>
                  <a:pt x="826582" y="3919823"/>
                  <a:pt x="842363" y="3916041"/>
                </a:cubicBezTo>
                <a:cubicBezTo>
                  <a:pt x="858147" y="3916041"/>
                  <a:pt x="873928" y="3912257"/>
                  <a:pt x="889710" y="3912257"/>
                </a:cubicBezTo>
                <a:cubicBezTo>
                  <a:pt x="952838" y="3904690"/>
                  <a:pt x="1015966" y="3904690"/>
                  <a:pt x="1079094" y="3904690"/>
                </a:cubicBezTo>
                <a:cubicBezTo>
                  <a:pt x="1079094" y="3904690"/>
                  <a:pt x="1079094" y="3904690"/>
                  <a:pt x="1126439" y="3904690"/>
                </a:cubicBezTo>
                <a:cubicBezTo>
                  <a:pt x="1126439" y="3904690"/>
                  <a:pt x="1126439" y="3904690"/>
                  <a:pt x="1173785" y="3908473"/>
                </a:cubicBezTo>
                <a:cubicBezTo>
                  <a:pt x="1205349" y="3908473"/>
                  <a:pt x="1236914" y="3912257"/>
                  <a:pt x="1268477" y="3912257"/>
                </a:cubicBezTo>
                <a:cubicBezTo>
                  <a:pt x="1300042" y="3916041"/>
                  <a:pt x="1331605" y="3919823"/>
                  <a:pt x="1363170" y="3919823"/>
                </a:cubicBezTo>
                <a:cubicBezTo>
                  <a:pt x="1363170" y="3919823"/>
                  <a:pt x="1363170" y="3919823"/>
                  <a:pt x="1453915" y="3931176"/>
                </a:cubicBezTo>
                <a:cubicBezTo>
                  <a:pt x="1453915" y="3931176"/>
                  <a:pt x="1453915" y="3931176"/>
                  <a:pt x="1639354" y="3950092"/>
                </a:cubicBezTo>
                <a:cubicBezTo>
                  <a:pt x="1698536" y="3957660"/>
                  <a:pt x="1761665" y="3961444"/>
                  <a:pt x="1820847" y="3965227"/>
                </a:cubicBezTo>
                <a:cubicBezTo>
                  <a:pt x="1852412" y="3969012"/>
                  <a:pt x="1880031" y="3969012"/>
                  <a:pt x="1911594" y="3972795"/>
                </a:cubicBezTo>
                <a:cubicBezTo>
                  <a:pt x="1927376" y="3972795"/>
                  <a:pt x="1943157" y="3972795"/>
                  <a:pt x="1958939" y="3972795"/>
                </a:cubicBezTo>
                <a:cubicBezTo>
                  <a:pt x="1958939" y="3972795"/>
                  <a:pt x="1958939" y="3972795"/>
                  <a:pt x="1982612" y="3976578"/>
                </a:cubicBezTo>
                <a:cubicBezTo>
                  <a:pt x="1982612" y="3976578"/>
                  <a:pt x="1982612" y="3976578"/>
                  <a:pt x="1994450" y="3976578"/>
                </a:cubicBezTo>
                <a:cubicBezTo>
                  <a:pt x="1994450" y="3976578"/>
                  <a:pt x="1998395" y="3976578"/>
                  <a:pt x="2002340" y="3976578"/>
                </a:cubicBezTo>
                <a:cubicBezTo>
                  <a:pt x="2061522" y="3976578"/>
                  <a:pt x="2124652" y="3972795"/>
                  <a:pt x="2183834" y="3965227"/>
                </a:cubicBezTo>
                <a:cubicBezTo>
                  <a:pt x="2183834" y="3965227"/>
                  <a:pt x="2183834" y="3965227"/>
                  <a:pt x="2227233" y="3957660"/>
                </a:cubicBezTo>
                <a:cubicBezTo>
                  <a:pt x="2227233" y="3957660"/>
                  <a:pt x="2227233" y="3957660"/>
                  <a:pt x="2274580" y="3953877"/>
                </a:cubicBezTo>
                <a:cubicBezTo>
                  <a:pt x="2302198" y="3946310"/>
                  <a:pt x="2333762" y="3942526"/>
                  <a:pt x="2361381" y="3934958"/>
                </a:cubicBezTo>
                <a:cubicBezTo>
                  <a:pt x="2392944" y="3931176"/>
                  <a:pt x="2420563" y="3923608"/>
                  <a:pt x="2452127" y="3916041"/>
                </a:cubicBezTo>
                <a:cubicBezTo>
                  <a:pt x="2479746" y="3908473"/>
                  <a:pt x="2511309" y="3900907"/>
                  <a:pt x="2538928" y="3893339"/>
                </a:cubicBezTo>
                <a:cubicBezTo>
                  <a:pt x="2598111" y="3878204"/>
                  <a:pt x="2657293" y="3859286"/>
                  <a:pt x="2712529" y="3840368"/>
                </a:cubicBezTo>
                <a:cubicBezTo>
                  <a:pt x="2763822" y="3821450"/>
                  <a:pt x="2815114" y="3806316"/>
                  <a:pt x="2862458" y="3783614"/>
                </a:cubicBezTo>
                <a:cubicBezTo>
                  <a:pt x="2862458" y="3783614"/>
                  <a:pt x="2862458" y="3783614"/>
                  <a:pt x="2886132" y="30269"/>
                </a:cubicBezTo>
                <a:cubicBezTo>
                  <a:pt x="2886132" y="30269"/>
                  <a:pt x="2886132" y="30269"/>
                  <a:pt x="2779603" y="60538"/>
                </a:cubicBezTo>
                <a:cubicBezTo>
                  <a:pt x="2759876" y="64322"/>
                  <a:pt x="2740148" y="71888"/>
                  <a:pt x="2720421" y="75673"/>
                </a:cubicBezTo>
                <a:cubicBezTo>
                  <a:pt x="2720421" y="75673"/>
                  <a:pt x="2720421" y="75673"/>
                  <a:pt x="2657293" y="90808"/>
                </a:cubicBezTo>
                <a:cubicBezTo>
                  <a:pt x="2657293" y="90808"/>
                  <a:pt x="2657293" y="90808"/>
                  <a:pt x="2598111" y="102158"/>
                </a:cubicBezTo>
                <a:cubicBezTo>
                  <a:pt x="2598111" y="102158"/>
                  <a:pt x="2598111" y="102158"/>
                  <a:pt x="2566547" y="109725"/>
                </a:cubicBezTo>
                <a:cubicBezTo>
                  <a:pt x="2554709" y="113509"/>
                  <a:pt x="2546819" y="113509"/>
                  <a:pt x="2534982" y="113509"/>
                </a:cubicBezTo>
                <a:cubicBezTo>
                  <a:pt x="2534982" y="113509"/>
                  <a:pt x="2534982" y="113509"/>
                  <a:pt x="2412672" y="136210"/>
                </a:cubicBezTo>
                <a:cubicBezTo>
                  <a:pt x="2392944" y="139995"/>
                  <a:pt x="2369271" y="143777"/>
                  <a:pt x="2349544" y="147561"/>
                </a:cubicBezTo>
                <a:cubicBezTo>
                  <a:pt x="2349544" y="147561"/>
                  <a:pt x="2349544" y="147561"/>
                  <a:pt x="2286417" y="155129"/>
                </a:cubicBezTo>
                <a:cubicBezTo>
                  <a:pt x="2286417" y="155129"/>
                  <a:pt x="2286417" y="155129"/>
                  <a:pt x="2227233" y="162696"/>
                </a:cubicBezTo>
                <a:cubicBezTo>
                  <a:pt x="2203560" y="166479"/>
                  <a:pt x="2183834" y="166479"/>
                  <a:pt x="2164105" y="170263"/>
                </a:cubicBezTo>
                <a:cubicBezTo>
                  <a:pt x="2120706" y="174046"/>
                  <a:pt x="2081251" y="177830"/>
                  <a:pt x="2037850" y="181614"/>
                </a:cubicBezTo>
                <a:cubicBezTo>
                  <a:pt x="2037850" y="181614"/>
                  <a:pt x="2037850" y="181614"/>
                  <a:pt x="1911594" y="192965"/>
                </a:cubicBezTo>
                <a:cubicBezTo>
                  <a:pt x="1891866" y="192965"/>
                  <a:pt x="1872139" y="196748"/>
                  <a:pt x="1848466" y="196748"/>
                </a:cubicBezTo>
                <a:cubicBezTo>
                  <a:pt x="1848466" y="196748"/>
                  <a:pt x="1848466" y="196748"/>
                  <a:pt x="1785338" y="200532"/>
                </a:cubicBezTo>
                <a:cubicBezTo>
                  <a:pt x="1785338" y="200532"/>
                  <a:pt x="1785338" y="200532"/>
                  <a:pt x="1722210" y="200532"/>
                </a:cubicBezTo>
                <a:cubicBezTo>
                  <a:pt x="1722210" y="200532"/>
                  <a:pt x="1722210" y="200532"/>
                  <a:pt x="1663027" y="204315"/>
                </a:cubicBezTo>
                <a:cubicBezTo>
                  <a:pt x="1619626" y="204315"/>
                  <a:pt x="1576226" y="204315"/>
                  <a:pt x="1536771" y="204315"/>
                </a:cubicBezTo>
                <a:cubicBezTo>
                  <a:pt x="1493370" y="204315"/>
                  <a:pt x="1449970" y="204315"/>
                  <a:pt x="1410515" y="204315"/>
                </a:cubicBezTo>
                <a:cubicBezTo>
                  <a:pt x="1367114" y="204315"/>
                  <a:pt x="1327661" y="204315"/>
                  <a:pt x="1284260" y="200532"/>
                </a:cubicBezTo>
                <a:cubicBezTo>
                  <a:pt x="1240860" y="200532"/>
                  <a:pt x="1201403" y="200532"/>
                  <a:pt x="1158004" y="196748"/>
                </a:cubicBezTo>
                <a:cubicBezTo>
                  <a:pt x="1158004" y="196748"/>
                  <a:pt x="1158004" y="196748"/>
                  <a:pt x="1094875" y="192965"/>
                </a:cubicBezTo>
                <a:cubicBezTo>
                  <a:pt x="1094875" y="192965"/>
                  <a:pt x="1094875" y="192965"/>
                  <a:pt x="1158004" y="192965"/>
                </a:cubicBezTo>
                <a:cubicBezTo>
                  <a:pt x="1201403" y="196748"/>
                  <a:pt x="1240860" y="196748"/>
                  <a:pt x="1284260" y="196748"/>
                </a:cubicBezTo>
                <a:cubicBezTo>
                  <a:pt x="1327661" y="196748"/>
                  <a:pt x="1367114" y="196748"/>
                  <a:pt x="1410515" y="200532"/>
                </a:cubicBezTo>
                <a:cubicBezTo>
                  <a:pt x="1449970" y="200532"/>
                  <a:pt x="1493370" y="196748"/>
                  <a:pt x="1536771" y="196748"/>
                </a:cubicBezTo>
                <a:cubicBezTo>
                  <a:pt x="1576226" y="196748"/>
                  <a:pt x="1619626" y="196748"/>
                  <a:pt x="1659082" y="192965"/>
                </a:cubicBezTo>
                <a:cubicBezTo>
                  <a:pt x="1659082" y="192965"/>
                  <a:pt x="1659082" y="192965"/>
                  <a:pt x="1722210" y="192965"/>
                </a:cubicBezTo>
                <a:cubicBezTo>
                  <a:pt x="1722210" y="192965"/>
                  <a:pt x="1722210" y="192965"/>
                  <a:pt x="1785338" y="189180"/>
                </a:cubicBezTo>
                <a:cubicBezTo>
                  <a:pt x="1785338" y="189180"/>
                  <a:pt x="1785338" y="189180"/>
                  <a:pt x="1848466" y="185397"/>
                </a:cubicBezTo>
                <a:cubicBezTo>
                  <a:pt x="1868193" y="185397"/>
                  <a:pt x="1891866" y="181614"/>
                  <a:pt x="1911594" y="181614"/>
                </a:cubicBezTo>
                <a:cubicBezTo>
                  <a:pt x="1911594" y="181614"/>
                  <a:pt x="1911594" y="181614"/>
                  <a:pt x="2037850" y="170263"/>
                </a:cubicBezTo>
                <a:cubicBezTo>
                  <a:pt x="2077305" y="166479"/>
                  <a:pt x="2120706" y="162696"/>
                  <a:pt x="2160161" y="155129"/>
                </a:cubicBezTo>
                <a:cubicBezTo>
                  <a:pt x="2179888" y="155129"/>
                  <a:pt x="2203560" y="151345"/>
                  <a:pt x="2223287" y="147561"/>
                </a:cubicBezTo>
                <a:cubicBezTo>
                  <a:pt x="2223287" y="147561"/>
                  <a:pt x="2223287" y="147561"/>
                  <a:pt x="2286417" y="139995"/>
                </a:cubicBezTo>
                <a:cubicBezTo>
                  <a:pt x="2286417" y="139995"/>
                  <a:pt x="2286417" y="139995"/>
                  <a:pt x="2345599" y="132427"/>
                </a:cubicBezTo>
                <a:cubicBezTo>
                  <a:pt x="2369271" y="128643"/>
                  <a:pt x="2388998" y="124860"/>
                  <a:pt x="2408726" y="121075"/>
                </a:cubicBezTo>
                <a:cubicBezTo>
                  <a:pt x="2408726" y="121075"/>
                  <a:pt x="2408726" y="121075"/>
                  <a:pt x="2531036" y="98374"/>
                </a:cubicBezTo>
                <a:cubicBezTo>
                  <a:pt x="2542874" y="94591"/>
                  <a:pt x="2550765" y="94591"/>
                  <a:pt x="2562601" y="90808"/>
                </a:cubicBezTo>
                <a:cubicBezTo>
                  <a:pt x="2562601" y="90808"/>
                  <a:pt x="2562601" y="90808"/>
                  <a:pt x="2594165" y="83240"/>
                </a:cubicBezTo>
                <a:cubicBezTo>
                  <a:pt x="2594165" y="83240"/>
                  <a:pt x="2594165" y="83240"/>
                  <a:pt x="2653347" y="71888"/>
                </a:cubicBezTo>
                <a:cubicBezTo>
                  <a:pt x="2653347" y="71888"/>
                  <a:pt x="2653347" y="71888"/>
                  <a:pt x="2716475" y="56754"/>
                </a:cubicBezTo>
                <a:cubicBezTo>
                  <a:pt x="2736204" y="52972"/>
                  <a:pt x="2755930" y="45404"/>
                  <a:pt x="2775657" y="37837"/>
                </a:cubicBezTo>
                <a:cubicBezTo>
                  <a:pt x="2775657" y="37837"/>
                  <a:pt x="2775657" y="37837"/>
                  <a:pt x="2894023" y="3783"/>
                </a:cubicBezTo>
                <a:cubicBezTo>
                  <a:pt x="2894023" y="3783"/>
                  <a:pt x="2894023" y="3783"/>
                  <a:pt x="2909805" y="0"/>
                </a:cubicBezTo>
                <a:close/>
              </a:path>
            </a:pathLst>
          </a:custGeom>
          <a:solidFill>
            <a:srgbClr val="CC4B4C">
              <a:alpha val="100000"/>
            </a:srgbClr>
          </a:solidFill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>
            <p:ph type="body" sz="quarter" idx="27" hasCustomPrompt="1"/>
          </p:nvPr>
        </p:nvSpPr>
        <p:spPr>
          <a:xfrm>
            <a:off x="543148" y="1700611"/>
            <a:ext cx="1927433" cy="54938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sp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CC4B4C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CC4B4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SECTION</a:t>
            </a:r>
            <a:endParaRPr lang="en-US" sz="3300" b="0" i="0" u="none" strike="noStrike">
              <a:solidFill>
                <a:srgbClr val="CC4B4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5000"/>
          </a:blip>
          <a:srcRect r="70602"/>
          <a:stretch>
            <a:fillRect/>
          </a:stretch>
        </p:blipFill>
        <p:spPr>
          <a:xfrm>
            <a:off x="279754" y="2249992"/>
            <a:ext cx="2663471" cy="262813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8" hasCustomPrompt="1"/>
          </p:nvPr>
        </p:nvSpPr>
        <p:spPr>
          <a:xfrm>
            <a:off x="224585" y="1047926"/>
            <a:ext cx="11648328" cy="653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26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29"/>
          </p:nvPr>
        </p:nvSpPr>
        <p:spPr>
          <a:xfrm>
            <a:off x="224585" y="1730259"/>
            <a:ext cx="11648328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33400" indent="-304800" algn="l">
              <a:lnSpc>
                <a:spcPct val="133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marL="228600" indent="-228600" algn="l">
              <a:lnSpc>
                <a:spcPct val="133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685800" lvl="1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143000" lvl="2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ü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三级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600200" lvl="3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2057400" lvl="4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p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" name="AutoShape 4"/>
          <p:cNvSpPr/>
          <p:nvPr>
            <p:ph type="body" sz="quarter" idx="30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31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0A44C-DFEC-46E6-8212-3AE501F18719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32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7" name="AutoShape 7"/>
          <p:cNvSpPr/>
          <p:nvPr/>
        </p:nvSpPr>
        <p:spPr>
          <a:xfrm>
            <a:off x="0" y="1"/>
            <a:ext cx="12192000" cy="829339"/>
          </a:xfrm>
          <a:prstGeom prst="rect">
            <a:avLst/>
          </a:prstGeom>
          <a:solidFill>
            <a:srgbClr val="C2262C">
              <a:alpha val="8502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608" y="90001"/>
            <a:ext cx="636680" cy="63668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25400" cap="flat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>
            <p:ph type="body" sz="quarter" idx="33" hasCustomPrompt="1"/>
          </p:nvPr>
        </p:nvSpPr>
        <p:spPr>
          <a:xfrm>
            <a:off x="930964" y="229756"/>
            <a:ext cx="8985546" cy="424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</a:t>
            </a:r>
            <a:endParaRPr lang="en-US" sz="24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4" hasCustomPrompt="1"/>
          </p:nvPr>
        </p:nvSpPr>
        <p:spPr>
          <a:xfrm>
            <a:off x="224585" y="1047926"/>
            <a:ext cx="11648328" cy="653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26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35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36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09EFAD4-4006-4D1D-ADEC-F0C060568A8B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37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/>
        </p:nvSpPr>
        <p:spPr>
          <a:xfrm>
            <a:off x="0" y="1"/>
            <a:ext cx="12192000" cy="829339"/>
          </a:xfrm>
          <a:prstGeom prst="rect">
            <a:avLst/>
          </a:prstGeom>
          <a:solidFill>
            <a:srgbClr val="C2262C">
              <a:alpha val="8502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608" y="90001"/>
            <a:ext cx="636680" cy="63668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25400" cap="flat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>
            <p:ph type="body" sz="quarter" idx="38" hasCustomPrompt="1"/>
          </p:nvPr>
        </p:nvSpPr>
        <p:spPr>
          <a:xfrm>
            <a:off x="930964" y="229756"/>
            <a:ext cx="9358930" cy="424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</a:t>
            </a:r>
            <a:endParaRPr lang="en-US" sz="24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224585" y="1047926"/>
            <a:ext cx="11648328" cy="653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26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40"/>
          </p:nvPr>
        </p:nvSpPr>
        <p:spPr>
          <a:xfrm>
            <a:off x="224585" y="1730259"/>
            <a:ext cx="11648328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33400" indent="-304800" algn="l">
              <a:lnSpc>
                <a:spcPct val="133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  <a:lvl2pPr marL="990600" indent="-304800"/>
            <a:lvl3pPr marL="1447800" indent="-304800"/>
            <a:lvl4pPr marL="1905000" indent="-304800"/>
            <a:lvl5pPr marL="2362200" indent="-304800"/>
            <a:lvl6pPr marL="2819400" indent="-304800"/>
            <a:lvl7pPr marL="3276600" indent="-304800"/>
            <a:lvl8pPr marL="3733800" indent="-304800"/>
            <a:lvl9pPr marL="4191000" indent="-304800"/>
          </a:lstStyle>
          <a:p>
            <a:pPr marL="228600" indent="-228600" algn="l">
              <a:lnSpc>
                <a:spcPct val="133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单击此处编辑母版文本样式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685800" lvl="1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143000" lvl="2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ü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三级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600200" lvl="3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2057400" lvl="4" indent="-228600" algn="l">
              <a:lnSpc>
                <a:spcPct val="133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/>
              <a:buChar char="p"/>
            </a:pPr>
            <a:r>
              <a:rPr lang="en-US" sz="2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42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700D70D-C5BF-4E05-8E4B-697E35DB977B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43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7" name="AutoShape 7"/>
          <p:cNvSpPr/>
          <p:nvPr/>
        </p:nvSpPr>
        <p:spPr>
          <a:xfrm>
            <a:off x="0" y="1"/>
            <a:ext cx="12192000" cy="829339"/>
          </a:xfrm>
          <a:prstGeom prst="rect">
            <a:avLst/>
          </a:prstGeom>
          <a:solidFill>
            <a:srgbClr val="C2262C">
              <a:alpha val="8502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608" y="90001"/>
            <a:ext cx="636680" cy="63668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25400" cap="flat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28000" y="229756"/>
            <a:ext cx="1368000" cy="435170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C226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Background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00091" y="218588"/>
            <a:ext cx="1368000" cy="435170"/>
          </a:xfrm>
          <a:prstGeom prst="roundRect">
            <a:avLst>
              <a:gd name="adj" fmla="val 16667"/>
            </a:avLst>
          </a:prstGeom>
          <a:noFill/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Motivation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61525" y="218587"/>
            <a:ext cx="1368000" cy="435170"/>
          </a:xfrm>
          <a:prstGeom prst="roundRect">
            <a:avLst>
              <a:gd name="adj" fmla="val 16667"/>
            </a:avLst>
          </a:prstGeom>
          <a:noFill/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Solution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22959" y="218587"/>
            <a:ext cx="1368000" cy="435170"/>
          </a:xfrm>
          <a:prstGeom prst="roundRect">
            <a:avLst>
              <a:gd name="adj" fmla="val 16667"/>
            </a:avLst>
          </a:prstGeom>
          <a:noFill/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Experiment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84392" y="218587"/>
            <a:ext cx="1368000" cy="435170"/>
          </a:xfrm>
          <a:prstGeom prst="roundRect">
            <a:avLst>
              <a:gd name="adj" fmla="val 16667"/>
            </a:avLst>
          </a:prstGeom>
          <a:noFill/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Conclusion</a:t>
            </a:r>
            <a:endParaRPr lang="en-US" sz="1100"/>
          </a:p>
        </p:txBody>
      </p:sp>
      <p:sp>
        <p:nvSpPr>
          <p:cNvPr id="14" name="AutoShape 14"/>
          <p:cNvSpPr/>
          <p:nvPr>
            <p:ph type="body" sz="quarter" idx="44" hasCustomPrompt="1"/>
          </p:nvPr>
        </p:nvSpPr>
        <p:spPr>
          <a:xfrm>
            <a:off x="838200" y="229756"/>
            <a:ext cx="3750192" cy="424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FFFFFF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</a:t>
            </a:r>
            <a:endParaRPr lang="en-US" sz="24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5" hasCustomPrompt="1"/>
          </p:nvPr>
        </p:nvSpPr>
        <p:spPr>
          <a:xfrm>
            <a:off x="4939862" y="365125"/>
            <a:ext cx="6413938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46"/>
          </p:nvPr>
        </p:nvSpPr>
        <p:spPr>
          <a:xfrm>
            <a:off x="4939862" y="1847849"/>
            <a:ext cx="6329855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47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48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7BF5B29-AF52-4452-BEE9-476D1E6B0594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0" y="3482680"/>
            <a:ext cx="3843338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大纲</a:t>
            </a:r>
            <a:endParaRPr lang="en-US" sz="1100"/>
          </a:p>
        </p:txBody>
      </p:sp>
      <p:sp>
        <p:nvSpPr>
          <p:cNvPr id="7" name="AutoShape 7"/>
          <p:cNvSpPr/>
          <p:nvPr>
            <p:ph type="body" sz="quarter" idx="49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0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5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4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52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53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54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A6FA9EE-74B4-4E97-9AA5-4450E743726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5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56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57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58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59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>
            <p:ph type="body" sz="quarter" idx="60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E2F38BB-AB47-42BB-B61A-8DFCED0160F1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1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62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63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64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65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>
            <p:ph type="body" sz="quarter" idx="66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67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9" name="AutoShape 9"/>
          <p:cNvSpPr/>
          <p:nvPr>
            <p:ph type="body" sz="quarter" idx="68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835A24D-0CDF-47C4-A1D8-AA7D4FB5BD32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70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84085BB-3F6C-498F-9358-BF9C3B02BF5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3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74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75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51E5D1-8A7B-47DE-87F7-429849ABCB86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6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77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35000" indent="-406400"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3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78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79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80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>
            <p:ph type="body" sz="quarter" idx="81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DBF3A6F-9276-49BD-A0CC-F23867CDF42D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2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pic" sz="quarter" idx="83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84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AutoShape 5"/>
          <p:cNvSpPr/>
          <p:nvPr>
            <p:ph type="body" sz="quarter" idx="85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86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>
            <p:ph type="body" sz="quarter" idx="87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F0F9F5A-23CC-4E4E-8857-09767B67AE92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8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89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90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1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92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560E1C2-5C2D-45D6-9E0C-B79A244E6384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3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94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>
            <p:ph type="body" sz="quarter" idx="95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6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6" name="AutoShape 6"/>
          <p:cNvSpPr/>
          <p:nvPr>
            <p:ph type="body" sz="quarter" idx="97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8FF262-A7CA-435C-92FF-C8EDE1FD5111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8" Type="http://schemas.openxmlformats.org/officeDocument/2006/relationships/theme" Target="../theme/theme3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>
            <p:ph type="body" sz="quarter" idx="3"/>
          </p:nvPr>
        </p:nvSpPr>
        <p:spPr>
          <a:xfrm>
            <a:off x="8382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4038600" y="6484942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EC022E6-5743-4541-B461-DF63D8F1C6DA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sz="1200" b="0" i="0" u="none" strike="noStrike">
              <a:solidFill>
                <a:srgbClr val="89898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44117" y="84715"/>
            <a:ext cx="1485961" cy="14738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651000"/>
            <a:ext cx="12192000" cy="4191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fld id="{07AECA91-0527-4C72-99B5-F72A54FE7D27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0" y="17526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SpecShield：频域签名驱动的联邦学习投毒主动防御</a:t>
            </a:r>
            <a:endParaRPr lang="en-US" sz="3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ctr" defTabSz="914400">
              <a:lnSpc>
                <a:spcPct val="90000"/>
              </a:lnSpc>
              <a:buClrTx/>
              <a:buSzTx/>
              <a:buFontTx/>
            </a:pPr>
            <a:r>
              <a:rPr lang="en-US" altLang="zh-CN" sz="1800" b="0" u="none" strike="noStrike" kern="12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Times New Roman" panose="02020603050405020304"/>
              </a:rPr>
              <a:t>Frequency-Domain Signatures for Proactive Defense Against Model Poisoning Attacks in FL</a:t>
            </a:r>
            <a:endParaRPr lang="en-US" altLang="zh-CN" sz="1800" b="0" u="none" strike="noStrike" kern="120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530876" y="3352800"/>
            <a:ext cx="9048088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主动探测 · 小波频域分析 · 无假设恶意客户端检测</a:t>
            </a:r>
            <a:endParaRPr lang="en-US"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72600" y="3835400"/>
            <a:ext cx="10446799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Fangjie Hu, Aiqing Zhang, Meng Li, Chen Wang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IEEE Transactions on Information Forensics and Security, Vol. 21, 2026</a:t>
            </a:r>
            <a:endParaRPr lang="en-US" sz="1500" b="0" i="0" u="none" strike="noStrike">
              <a:solidFill>
                <a:srgbClr val="FFFFFF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3947795" y="4826000"/>
            <a:ext cx="429641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汇报人：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周晨旭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   </a:t>
            </a:r>
            <a:r>
              <a:rPr lang="zh-CN" alt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指导老师：李谢华</a:t>
            </a:r>
            <a:r>
              <a:rPr lang="en-US" altLang="zh-CN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 </a:t>
            </a:r>
            <a:r>
              <a:rPr lang="zh-CN" alt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徐旸</a:t>
            </a:r>
            <a:endParaRPr lang="zh-CN" altLang="en-US" sz="160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所在学校：湖南大学</a:t>
            </a:r>
            <a:endParaRPr lang="zh-CN" alt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2026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年</a:t>
            </a:r>
            <a:r>
              <a:rPr 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10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月</a:t>
            </a:r>
            <a:r>
              <a:rPr lang="en-US" altLang="zh-CN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11</a:t>
            </a:r>
            <a:r>
              <a:rPr lang="zh-CN" altLang="en-US" sz="16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日</a:t>
            </a:r>
            <a:endParaRPr lang="zh-CN" alt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0"/>
            <a:ext cx="3843337" cy="6858000"/>
          </a:xfrm>
          <a:prstGeom prst="roundRect">
            <a:avLst>
              <a:gd name="adj" fmla="val 0"/>
            </a:avLst>
          </a:prstGeom>
          <a:solidFill>
            <a:srgbClr val="CC4B4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0" y="3482680"/>
            <a:ext cx="3843338" cy="7694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目录</a:t>
            </a:r>
            <a:endParaRPr lang="en-US" sz="4400" b="0" i="0" u="none" strike="noStrike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4995083" y="2200857"/>
            <a:ext cx="51154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>
            <a:off x="4995083" y="3103529"/>
            <a:ext cx="51154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>
            <a:off x="4995083" y="4006201"/>
            <a:ext cx="51154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4995083" y="4908874"/>
            <a:ext cx="51154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4995081" y="1526603"/>
            <a:ext cx="676847" cy="52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2800" b="1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4995081" y="2430769"/>
            <a:ext cx="676847" cy="52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2800" b="1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4995081" y="3334935"/>
            <a:ext cx="676847" cy="52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2800" b="1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4995081" y="4239101"/>
            <a:ext cx="676847" cy="52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2800" b="1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fld id="{8E3614FB-82AA-410F-938D-38607658AE5F}" type="slidenum">
              <a:rPr sz="1200" b="0" i="0" u="none" strike="noStrike">
                <a:solidFill>
                  <a:srgbClr val="89898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200" b="0" i="0" u="none" strike="noStrike">
              <a:solidFill>
                <a:srgbClr val="898989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829968" y="1546609"/>
            <a:ext cx="4280515" cy="478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sz="2800" b="1" i="0" u="none" strike="noStrike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Songti SC"/>
                <a:sym typeface="Songti SC"/>
              </a:rPr>
              <a:t>研究背景与问题</a:t>
            </a:r>
            <a:endParaRPr lang="en-US" sz="2800" b="1" i="0" u="none" strike="noStrike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5829969" y="2452078"/>
            <a:ext cx="4280514" cy="4832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Songti SC"/>
                <a:sym typeface="Songti SC"/>
              </a:rPr>
              <a:t>预备知识</a:t>
            </a:r>
            <a:endParaRPr lang="en-US" sz="2800" b="0" i="0" u="none" strike="noStrike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Songti SC"/>
              <a:sym typeface="Songti SC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5829968" y="3357547"/>
            <a:ext cx="4280513" cy="478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SpecShield方法</a:t>
            </a:r>
            <a:endParaRPr lang="en-US" sz="2800" b="0" i="0" u="none" strike="noStrike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5829969" y="4263016"/>
            <a:ext cx="4280512" cy="478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Songti SC"/>
                <a:sym typeface="Songti SC"/>
              </a:rPr>
              <a:t>实验评估</a:t>
            </a:r>
            <a:endParaRPr lang="en-US" sz="2800" b="0" i="0" u="none" strike="noStrike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Songti SC"/>
              <a:sym typeface="Songti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"/>
            <a:ext cx="12192000" cy="829339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608" y="90001"/>
            <a:ext cx="636680" cy="63668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研究背景：联邦学习的隐私优势与投毒威胁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spc="200">
                <a:solidFill>
                  <a:srgbClr val="C2262C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01 · BACKGROUND &amp; MOTIVATION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Connector 6"/>
          <p:cNvCxnSpPr/>
          <p:nvPr/>
        </p:nvCxnSpPr>
        <p:spPr>
          <a:xfrm rot="5379165">
            <a:off x="5048250" y="2311419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1270000"/>
            <a:ext cx="2286000" cy="4572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隐私优势</a:t>
            </a:r>
            <a:endParaRPr lang="en-US" sz="2000"/>
          </a:p>
        </p:txBody>
      </p:sp>
      <p:sp>
        <p:nvSpPr>
          <p:cNvPr id="8" name="AutoShape 8"/>
          <p:cNvSpPr txBox="1"/>
          <p:nvPr/>
        </p:nvSpPr>
        <p:spPr>
          <a:xfrm>
            <a:off x="762000" y="18796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原始数据不出本地，仅上传梯度统计摘要</a:t>
            </a:r>
            <a:endParaRPr lang="en-US" sz="1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通信轮数降低 10-100 倍（McMahan 2017）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已在 Gboard 下一词预测等场景落地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270000"/>
            <a:ext cx="2286000" cy="4572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lnSpc>
                <a:spcPct val="125000"/>
              </a:lnSpc>
              <a:buSzTx/>
              <a:defRPr/>
            </a:pPr>
            <a:r>
              <a:rPr lang="en-US" sz="20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投毒威胁</a:t>
            </a:r>
            <a:endParaRPr lang="en-US" sz="20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604000" y="18796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恶意客户端提交篡改的模型更新</a:t>
            </a:r>
            <a:endParaRPr lang="en-US" sz="1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非定向投毒：全局精度下降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▸ 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定向投毒：植入后门触发器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62000" y="35306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现有防御三类范式及其局限</a:t>
            </a:r>
            <a:endParaRPr lang="en-US" sz="20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3905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40386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1016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01　</a:t>
            </a:r>
            <a:r>
              <a:rPr lang="en-US" sz="12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影响降低</a:t>
            </a:r>
            <a:endParaRPr 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Clipping / 范数约束</a:t>
            </a:r>
            <a:endParaRPr lang="en-US" sz="12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局限：依赖先验上界，强攻击下被迫截断</a:t>
            </a:r>
            <a:endParaRPr lang="en-US" sz="1200" b="0" i="0" u="none" strike="noStrike">
              <a:solidFill>
                <a:srgbClr val="96969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45000" y="40386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1016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02　</a:t>
            </a:r>
            <a:r>
              <a:rPr lang="en-US" sz="12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鲁棒聚合</a:t>
            </a:r>
            <a:endParaRPr 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Krum / Bulyan / Median</a:t>
            </a:r>
            <a:endParaRPr lang="en-US" sz="12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局限：需诚实多数 (f &lt; n/2)，拜占庭多数崩溃</a:t>
            </a:r>
            <a:endParaRPr lang="en-US" sz="1200" b="0" i="0" u="none" strike="noStrike">
              <a:solidFill>
                <a:srgbClr val="96969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40386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77800" tIns="1016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03　</a:t>
            </a:r>
            <a:r>
              <a:rPr lang="en-US" sz="12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检测过滤</a:t>
            </a:r>
            <a:endParaRPr 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FLTrust / FLAME / 聚类</a:t>
            </a:r>
            <a:endParaRPr lang="en-US" sz="12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局限：需可信根数据或统计先验</a:t>
            </a:r>
            <a:endParaRPr lang="en-US" sz="1200" b="0" i="0" u="none" strike="noStrike">
              <a:solidFill>
                <a:srgbClr val="96969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975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76200" rIns="254000" bIns="76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核心缺口：</a:t>
            </a:r>
            <a:r>
              <a:rPr lang="en-US" sz="1800" b="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Songti SC"/>
                <a:sym typeface="Songti SC"/>
              </a:rPr>
              <a:t>均为被动快照分析，无法识别自适应伪装攻击；拜占庭多数场景下鲁棒聚合直接崩溃。</a:t>
            </a:r>
            <a:endParaRPr lang="en-US" sz="1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62000" y="61595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McMahan et al., AISTATS 2017; Blanchard et al., NeurIPS 2017; Cao et al., NDSS 2021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EF1E7BE9-48C7-4566-B62C-F20EE4B1BBFC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0"/>
            <a:ext cx="3843337" cy="6858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635000" y="3810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01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6944">
            <a:off x="4889506" y="3422650"/>
            <a:ext cx="628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85000"/>
              </a:srgbClr>
            </a:solidFill>
            <a:prstDash val="solid"/>
            <a:miter lim="800000"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4826000" y="2540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研究背景与问题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889500" y="3683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0" i="0" u="none" strike="noStrike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联邦学习投毒威胁 · 现有防御局限 · 主动防御动机</a:t>
            </a:r>
            <a:endParaRPr lang="en-US" sz="160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现有防御的四类假设缺陷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457962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spc="200">
                <a:solidFill>
                  <a:srgbClr val="C226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· LIMITATIONS OF EXISTING DEFENSES</a:t>
            </a:r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762000" y="1333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524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01　</a:t>
            </a: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Krum / Bulyan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选最接近邻居的梯度，只信任少数客户端，破坏协作本质；f &lt; n/2 上界脆弱。</a:t>
            </a:r>
            <a:endParaRPr lang="en-US" sz="18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33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524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02　</a:t>
            </a: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Median / Trimmed Mean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简单统计聚合，在 LIE、AGR 等自适应攻击下精度骤降，无法应对拜占庭多数。</a:t>
            </a:r>
            <a:endParaRPr lang="en-US" sz="18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524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03　</a:t>
            </a: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FLTrust / FLShield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假设服务器持有可信根数据集（Cao NDSS 2021），与 FL 隐私初衷矛盾。</a:t>
            </a:r>
            <a:endParaRPr lang="en-US" sz="18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2603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524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04　</a:t>
            </a: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FLAME / AUROR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聚类检测隐式假设多数诚实；恶意占多数时聚类直接失效。</a:t>
            </a:r>
            <a:endParaRPr lang="en-US" sz="18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共同根源：被动快照分析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所有方法只观察客户端"提交了什么"——静态参数。自适应攻击者可用梯度优化让恶意更新在统计上 mimic 良性贡献，被动检测完全失效。</a:t>
            </a:r>
            <a:endParaRPr lang="en-US" sz="18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62000" y="6223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Blanchard et al., NeurIPS 2017 (Krum); Cao et al., NDSS 2021 (FLTrust); Shejwalkar &amp; Houmansadr, ICLR 2021 (FLAME)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F82D5A0A-6A28-4748-8723-C8B0B4167402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核心洞察：静态不可区分，但动态响应截然不同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0" i="0" u="none" strike="noStrike" spc="200">
                <a:solidFill>
                  <a:srgbClr val="C226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· KEY INSIGHT</a:t>
            </a:r>
            <a:endParaRPr lang="en-US" sz="1400" spc="200">
              <a:solidFill>
                <a:srgbClr val="C226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333500"/>
            <a:ext cx="4826000" cy="2159000"/>
          </a:xfrm>
          <a:prstGeom prst="roundRect">
            <a:avLst>
              <a:gd name="adj" fmla="val 0"/>
            </a:avLst>
          </a:prstGeom>
          <a:solidFill>
            <a:srgbClr val="E6F0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28600" tIns="152400" rIns="228600" bIns="15240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32509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良性客户端</a:t>
            </a:r>
            <a:endParaRPr lang="en-US" sz="240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忠实训练，目标是全局模型收敛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对服务器注入的扰动</a:t>
            </a:r>
            <a:r>
              <a:rPr lang="en-US" sz="2000" b="0" i="0" u="none" strike="noStrike">
                <a:solidFill>
                  <a:srgbClr val="325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如实响应</a:t>
            </a:r>
            <a:endParaRPr lang="en-US" sz="2000" b="0" i="0" u="none" strike="noStrike">
              <a:solidFill>
                <a:srgbClr val="325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3250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→ 频域差分信号大且稳定</a:t>
            </a:r>
            <a:endParaRPr lang="en-US" sz="2000" b="0" i="0" u="none" strike="noStrike">
              <a:solidFill>
                <a:srgbClr val="3250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604000" y="1333500"/>
            <a:ext cx="4826000" cy="2159000"/>
          </a:xfrm>
          <a:prstGeom prst="roundRect">
            <a:avLst>
              <a:gd name="adj" fmla="val 0"/>
            </a:avLst>
          </a:prstGeom>
          <a:solidFill>
            <a:srgbClr val="FAE6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28600" tIns="152400" rIns="228600" bIns="15240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恶意客户端</a:t>
            </a:r>
            <a:endParaRPr lang="en-US" sz="240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目标是投毒/后门，有自己的优化方向</a:t>
            </a:r>
            <a:endParaRPr lang="en-US" sz="2000" b="0" i="0" u="none" strike="noStrike">
              <a:solidFill>
                <a:srgbClr val="1F2329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Songti SC"/>
                <a:ea typeface="Songti SC"/>
                <a:cs typeface="Songti SC"/>
                <a:sym typeface="Songti SC"/>
              </a:rPr>
              <a:t>面对扰动会</a:t>
            </a:r>
            <a:r>
              <a:rPr lang="en-US" sz="2000" b="0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试图抵消或利用</a:t>
            </a:r>
            <a:endParaRPr lang="en-US" sz="2000" b="0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→ 频域差分信号小或反常</a:t>
            </a:r>
            <a:endParaRPr lang="en-US" sz="2000" b="0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新范式：主动探测（Proactive Probing）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Songti SC"/>
                <a:sym typeface="Songti SC"/>
              </a:rPr>
              <a:t>服务器不再被动等待提交，而是主动给每个客户端模型注入受控扰动，观察其返回的动态响应。</a:t>
            </a:r>
            <a:r>
              <a:rPr lang="en-US" sz="1200" b="0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数据。</a:t>
            </a:r>
            <a:endParaRPr lang="en-US" sz="1200" b="0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6223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observation: adversarial clients can mimic static updates but cannot hide their dynamic response to controlled perturbations.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D5942206-7ACB-4A7D-A1D5-F84564889508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0"/>
            <a:ext cx="3843337" cy="6858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635000" y="3810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02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6944">
            <a:off x="4889506" y="3422650"/>
            <a:ext cx="628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85000"/>
              </a:srgbClr>
            </a:solidFill>
            <a:prstDash val="solid"/>
            <a:miter lim="800000"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4826000" y="2540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预备知识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889500" y="3683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联邦学习基础 · FGSM 对抗扰动 · 离散小波变换 DWT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预备知识：联邦学习（FL）训练流程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533336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0" i="0" u="none" strike="noStrike" spc="200">
                <a:solidFill>
                  <a:srgbClr val="C226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· PRELIMINARIES — FEDERATED LEARNING</a:t>
            </a:r>
            <a:endParaRPr lang="en-US" sz="1400" spc="200">
              <a:solidFill>
                <a:srgbClr val="C226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K 个客户端在本地数据上训练，服务器聚合模型参数，全程不共享原始数据：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① 服务器广播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发送全局模型 θ_t 给选中客户端</a:t>
            </a:r>
            <a:endParaRPr lang="en-US" sz="20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42969">
            <a:off x="3683040" y="259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4826000" y="1905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② 本地训练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SGD 在本地数据上更新 E 轮</a:t>
            </a:r>
            <a:endParaRPr lang="en-US" sz="20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69">
            <a:off x="7493040" y="259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8636000" y="1905000"/>
            <a:ext cx="2635250" cy="1397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③ 上传+聚合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加权平均 θ_{t+1}=Σp_k·θ_k</a:t>
            </a:r>
            <a:endParaRPr lang="en-US" sz="1800" b="0" i="0" u="none" strike="noStrike">
              <a:solidFill>
                <a:srgbClr val="505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400" b="0" i="1" u="none" strike="noStrike">
                <a:solidFill>
                  <a:srgbClr val="1F232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θ_k^{t+1} = θ_t − η · ∇L(θ_t, D_k)</a:t>
            </a:r>
            <a:endParaRPr lang="en-US" sz="2400"/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64646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客户端本地 SGD 更新（式1）· η 为学习率 · D_k 为客户端 k 的本地数据集</a:t>
            </a:r>
            <a:endParaRPr lang="en-US" sz="2000" b="0" i="0" u="none" strike="noStrike">
              <a:solidFill>
                <a:srgbClr val="64646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762000" y="6223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McMahan et al., Communication-Efficient Learning of Deep Networks from Decentralized Data, AISTATS 2017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3A6D76DF-CEEB-416E-9568-6044DC4C4907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预备知识：FGSM 快速梯度符号法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spc="200">
                <a:solidFill>
                  <a:srgbClr val="C226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· PRELIMINARIES — FGSM</a:t>
            </a:r>
            <a:endParaRPr lang="en-US"/>
          </a:p>
        </p:txBody>
      </p:sp>
      <p:sp>
        <p:nvSpPr>
          <p:cNvPr id="6" name="AutoShape 6"/>
          <p:cNvSpPr txBox="1"/>
          <p:nvPr/>
        </p:nvSpPr>
        <p:spPr>
          <a:xfrm>
            <a:off x="762000" y="2286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9144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原始用途：攻击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沿损失梯度方向对输入加微小扰动，使模型误分类（Goodfellow et al., ICLR 2015）。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本文复用：探测</a:t>
            </a:r>
            <a:endParaRPr lang="en-US" sz="2400" b="1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从攻击工具改造为</a:t>
            </a: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探测探针</a:t>
            </a: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——服务器给模型参数加受控扰动，观察客户端反应。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6223000" y="1524000"/>
            <a:ext cx="16740" cy="440561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1397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800" b="0" i="1" u="none" strike="noStrike">
                <a:solidFill>
                  <a:srgbClr val="1F232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Δθ = ε · sign(∇_θ L_induced)</a:t>
            </a:r>
            <a:endParaRPr lang="en-US" sz="1100"/>
          </a:p>
          <a:p>
            <a:pPr marL="0" indent="0" algn="ctr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64646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服务器生成的个性化扰动（式4）</a:t>
            </a:r>
            <a:endParaRPr lang="en-US" sz="1800" b="0" i="0" u="none" strike="noStrike">
              <a:solidFill>
                <a:srgbClr val="64646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Songti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0" y="3683000"/>
            <a:ext cx="5080000" cy="2265680"/>
          </a:xfrm>
          <a:prstGeom prst="roundRect">
            <a:avLst>
              <a:gd name="adj" fmla="val 0"/>
            </a:avLst>
          </a:prstGeom>
          <a:solidFill>
            <a:srgbClr val="FF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905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ε</a:t>
            </a:r>
            <a:r>
              <a:rPr lang="zh-CN" alt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的</a:t>
            </a: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取值权衡：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太小探测不到差异，太大会干扰良性训练。MNIST 典型ε=0.1~0.3；SpecShield 从理论推导最优ε上界。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6223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Goodfellow et al., Explaining and Harnessing Adversarial Examples, ICLR 2015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FA94BE40-EBEE-4FB3-91E6-9810EDA31351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预备知识：离散小波变换（DWT）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990600"/>
            <a:ext cx="5588000" cy="205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spc="200">
                <a:solidFill>
                  <a:srgbClr val="C226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· PRELIMINARIES — WAVELET ANALYSIS</a:t>
            </a:r>
            <a:endParaRPr 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7490" y="1488440"/>
            <a:ext cx="6382385" cy="3469005"/>
          </a:xfrm>
          <a:prstGeom prst="rect">
            <a:avLst/>
          </a:prstGeom>
          <a:noFill/>
          <a:ln w="6350" cap="flat" cmpd="sng">
            <a:solidFill>
              <a:schemeClr val="tx1"/>
            </a:solidFill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508000" y="5168900"/>
            <a:ext cx="584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Fig. 2 · 三级 Daubechies-4 小波分解流程</a:t>
            </a:r>
            <a:endParaRPr lang="en-US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817360" y="1401445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为什么用小波？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模型参数是高维信号，DWT 通过低通/高通滤波多级分解：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低频近似系数（整体趋势）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高频细节系数（局部突变）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相对 DCT 的优势</a:t>
            </a:r>
            <a:endParaRPr lang="en-US" sz="2000" b="1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DWT 同时保留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多尺度 + 局部性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，能捕捉非平稳扰动响应；DCT 只能抓全局频谱。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62230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Source: Daubechies, Ten Lectures on Wavelets, SIAM 1992; SpecShield uses Daubechies-4 (db4) 3-level decomposition.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4C9F3A3A-AD99-488A-B0E6-CAEAE862E90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0"/>
            <a:ext cx="3843337" cy="6858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635000" y="3810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03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6944">
            <a:off x="4889506" y="3422650"/>
            <a:ext cx="628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85000"/>
              </a:srgbClr>
            </a:solidFill>
            <a:prstDash val="solid"/>
            <a:miter lim="800000"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4826000" y="2540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 方法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889500" y="3683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框架总览 · 扰动生成 · DWT 频域特征 · DBSCAN 聚合 · 理论上界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 框架总览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016000"/>
            <a:ext cx="10668000" cy="368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90500" bIns="1016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四步闭环：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① FGSM 生成个性化扰动 Δθ → ② 客户端本地训练返回 θ' → ③ DWT 提取扰动前后频域差分特征 D_i → ④ DBSCAN 聚类，选响应最强的簇作为良性客户端聚合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21A36C43-0942-4E59-A941-39FDF960CBAE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步骤一：个性化扰动生成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1F232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Δθ_i = ε · sign(∇_{θ_i} L_induced)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2305050"/>
            <a:ext cx="533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9144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与传统 FL 的差异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Songti SC"/>
              </a:rPr>
              <a:t>传统：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服务器直接广播 θ_t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SpecShield：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给每个客户端 i 发送</a:t>
            </a: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θ_i + Δθ_i</a:t>
            </a:r>
            <a:endParaRPr lang="en-US" sz="18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扰动是个性化的——基于每个客户端自己的模型参数计算梯度。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8514">
            <a:off x="5207000" y="3422670"/>
            <a:ext cx="203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350000" y="2286000"/>
            <a:ext cx="569785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9144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客户端行为差异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良性客户端：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从扰动点继续训练，忠实反映扰动影响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恶意客户端：</a:t>
            </a: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会试图抵消扰动或利用扰动加强投毒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→ 两类客户端的返回模型θ'_i呈现可检测的差异模式</a:t>
            </a:r>
            <a:endParaRPr lang="en-US" sz="18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3459EFE3-1A89-4788-8AD0-7F2129A31568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步骤二：DWT 频域差分特征提取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① 归一化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对 θ_i 和 θ'_i 分别做 L2 归一化消除幅度差异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1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θ̃ = θ / ||θ||₂</a:t>
            </a:r>
            <a:endParaRPr lang="en-US" sz="2400" b="0" i="1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Times New Roman" panose="020206030504050203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② 三级小波分解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用 Daubechies-4 对扰动前后参数做 DWT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提取每级：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低频近似 A^(L)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高频细节 B^(l)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128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③ 差分特征 D_i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计算扰动前后的差异：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谱能量 E_i^(l)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频率熵 H_i^(l)（Shannon熵）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组成向量 D_i 送入聚类</a:t>
            </a:r>
            <a:endParaRPr lang="en-US" sz="24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241A74B8-BF68-40CD-82DB-DCCDE354238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步骤三：DBSCAN 安全聚合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z-score 标准化 → PCA 降到 2 维 → DBSCAN 密度聚类 → 选 R(C) 最大的簇为良性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E6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327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为什么选响应最强的簇？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良性客户端忠实反映扰动影响 → 差分特征 D_i 幅度大。</a:t>
            </a:r>
            <a:endParaRPr lang="en-US" sz="16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恶意客户端会抵消/利用扰动 → 差分特征幅度小。</a:t>
            </a:r>
            <a:endParaRPr lang="en-US" sz="16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3278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R(C) = (1/|C|) Σ ||D_j||²，R 最大的簇 = 良性簇。</a:t>
            </a:r>
            <a:endParaRPr lang="en-US" sz="1600" b="0" i="0" u="none" strike="noStrike">
              <a:solidFill>
                <a:srgbClr val="3278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286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FA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B4641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关键优势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不假设多数客户端诚实——DBSCAN 按密度自动分组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不需要可信根数据集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不依赖数据分布先验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拜占庭多数场景仍有效</a:t>
            </a:r>
            <a:endParaRPr lang="en-US" sz="18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1AA9530A-9A19-4C54-8D37-F2BB5BEA02A8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扰动幅度ε的理论上界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核心问题：扰动太小探测不到差异，太大损害良性客户端性能。最优ε</a:t>
            </a:r>
            <a:r>
              <a:rPr lang="zh-CN" alt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的计算方式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？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02000" cy="330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定理1：强凸 + L-smooth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μ-强凸、L-光滑假设下：</a:t>
            </a:r>
            <a:endParaRPr lang="en-US" sz="18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algn="ctr">
              <a:lnSpc>
                <a:spcPct val="133000"/>
              </a:lnSpc>
              <a:buSzTx/>
            </a:pPr>
            <a:r>
              <a:rPr lang="en-US" sz="1600" b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ε_max = (ΔF_max − R₀) / [L(1−μη)^E √d]</a:t>
            </a:r>
            <a:endParaRPr lang="en-US" sz="1600" b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Times New Roman" panose="02020603050405020304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扰动导致的额外损失有界</a:t>
            </a:r>
            <a:endParaRPr lang="en-US" sz="18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330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定理2：PL 条件推广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深度网络非凸，用 Polyak-</a:t>
            </a: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Lojasiewicz 条件（弱于强凸）：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ε_max = (ΔF_max − R₀) / [√(2μR₀)·(1−μη)^E·√d]</a:t>
            </a:r>
            <a:endParaRPr lang="en-US" sz="1600" b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Times New Roman" panose="02020603050405020304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适配真实 FL 非凸场景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0" y="1905000"/>
            <a:ext cx="3302000" cy="330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定理3：SGD 随机界</a:t>
            </a:r>
            <a:endParaRPr lang="en-US" sz="1100"/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用 Freedman 不等式刻画 mini-batch 梯度噪声：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以 1−δ 概率保证损失偏差有界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16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理论指导实际选ε</a:t>
            </a:r>
            <a:endParaRPr lang="en-US" sz="16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BF9190FE-F0F0-4521-8582-DB6377D0578F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0"/>
            <a:ext cx="3843337" cy="6858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51746" y="1679403"/>
            <a:ext cx="1539845" cy="14400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635000" y="3810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04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6944">
            <a:off x="4889506" y="3422650"/>
            <a:ext cx="6286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262C">
                <a:alpha val="85000"/>
              </a:srgbClr>
            </a:solidFill>
            <a:prstDash val="solid"/>
            <a:miter lim="800000"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4826000" y="2540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实验评估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889500" y="3683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0" i="0" u="none" strike="noStrike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实验设置 · 准确率对比 · TPR/FPR · 鲁棒性 · 自适应攻击 · 开销</a:t>
            </a:r>
            <a:endParaRPr lang="en-US" sz="160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实验设置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数据集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MNIST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Fashion-MNIST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CIFAR-10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Tiny-ImageNet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2000" b="0" i="0" u="none" strike="noStrike">
                <a:solidFill>
                  <a:srgbClr val="646464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Dirichlet β=0.5 Non-IID</a:t>
            </a:r>
            <a:endParaRPr lang="en-US" sz="2000" b="0" i="0" u="none" strike="noStrike">
              <a:solidFill>
                <a:srgbClr val="646464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algn="ctr">
              <a:lnSpc>
                <a:spcPct val="133000"/>
              </a:lnSpc>
              <a:buSzTx/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对比方法</a:t>
            </a:r>
            <a:endParaRPr lang="en-US" sz="2000" b="1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9 种基线防御：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FedAvg / Krum / Multi-Krum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Median / Trimmed-Mean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FLTrust / RFA / FoolsGold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FLAME / Norm-Bounding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128000" y="1143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algn="ctr">
              <a:lnSpc>
                <a:spcPct val="133000"/>
              </a:lnSpc>
              <a:buSzTx/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攻击设置</a:t>
            </a:r>
            <a:endParaRPr lang="en-US" sz="2000" b="1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6 种投毒攻击：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Label-Flip / Sign-Flip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ALIE / LIE / AGR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ongti SC"/>
              </a:rPr>
              <a:t>Bit-Flip / 自适应攻击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Songti SC"/>
            </a:endParaRPr>
          </a:p>
          <a:p>
            <a:pPr marL="0" algn="ctr">
              <a:lnSpc>
                <a:spcPct val="133000"/>
              </a:lnSpc>
              <a:buSzTx/>
              <a:buNone/>
            </a:pP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默认 20% 恶意客户端</a:t>
            </a:r>
            <a:endParaRPr lang="en-US" sz="2000" b="0" i="0" u="none" strike="noStrike">
              <a:solidFill>
                <a:srgbClr val="1F2329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AF8A33BB-373E-4C8A-ACDA-A05CB48D7F0E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主结果：全局模型准确率对比（20% 恶意客户端）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04060" y="901065"/>
            <a:ext cx="8183245" cy="4844415"/>
          </a:xfrm>
          <a:prstGeom prst="rect">
            <a:avLst/>
          </a:prstGeom>
          <a:noFill/>
          <a:ln w="6350" cap="flat" cmpd="sng">
            <a:solidFill>
              <a:schemeClr val="tx1"/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74700" y="5820410"/>
            <a:ext cx="10668000" cy="7620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结论：</a:t>
            </a:r>
            <a:r>
              <a:rPr lang="en-US" sz="1800" b="0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SpecShield 在 4 个数据集上均达到接近无攻击上限的准确率，显著优于所有被动防御基线。</a:t>
            </a:r>
            <a:endParaRPr lang="en-US" sz="18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2195C2B9-92DE-41A6-842E-0860737A56E6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检测性能：TPR / FPR 对比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746240" y="1143000"/>
            <a:ext cx="4826000" cy="4316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SpecShield 平均：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TPR = 0.93, FPR = 0.13</a:t>
            </a:r>
            <a:endParaRPr lang="en-US" sz="2400" b="1" i="0" u="none" strike="noStrike">
              <a:solidFill>
                <a:srgbClr val="1F232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Times New Roman" panose="020206030504050203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正确识别 93% 恶意客户端，仅误杀 13% 良性。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对比：</a:t>
            </a:r>
            <a:endParaRPr lang="en-US" sz="2400" b="1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FLTrust: TPR 0.81 / FPR 0.20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Mkrum: TPR 0.61 / FPR 0.40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检测率更高、误报更低，双优。</a:t>
            </a:r>
            <a:endParaRPr lang="en-US" sz="24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393B5EBF-E7BF-49FD-B64F-6275B1620010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143000"/>
            <a:ext cx="5321300" cy="506158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特征发散：良性 vs 恶意客户端的范数分布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23570" y="3227705"/>
            <a:ext cx="11156315" cy="4201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CIFAR-10 特征向量范数：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32509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良性客户端均值：8.1</a:t>
            </a:r>
            <a:endParaRPr lang="en-US" sz="2400" b="0" i="0" u="none" strike="noStrike">
              <a:solidFill>
                <a:srgbClr val="32509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恶意客户端均值：3.9</a:t>
            </a:r>
            <a:endParaRPr lang="en-US" sz="2400" b="0" i="0" u="none" strike="noStrike">
              <a:solidFill>
                <a:srgbClr val="C226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良性客户端对扰动的响应强度约为恶意的 2 倍，分布几乎不重叠。</a:t>
            </a:r>
            <a:endParaRPr lang="en-US" sz="24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这就是 DBSCAN 能有效区分两类的物理基础。</a:t>
            </a:r>
            <a:endParaRPr lang="en-US" sz="24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F3094E0A-CB2A-4058-BEBD-5A9734F56C85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0" y="993775"/>
            <a:ext cx="10784205" cy="31026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鲁棒性：恶意比例从 10% 到 80%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935355" y="3479800"/>
            <a:ext cx="10655935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关键结论：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MNIST 上恶意客户端占 50% 时，SpecShield 仍保持</a:t>
            </a: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 &gt; 95% 准确率</a:t>
            </a:r>
            <a:endParaRPr lang="en-US" sz="24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80% 恶意时仍有 93%。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同期 FedAvg 早已崩到 10% 以下。</a:t>
            </a:r>
            <a:endParaRPr lang="en-US" sz="24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4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突破了"多数诚实"假设——拜占庭多数场景仍有效。</a:t>
            </a:r>
            <a:endParaRPr lang="en-US" sz="24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B6D8C80D-B2D4-4DBE-8C95-55C4F90A6440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05" y="1079500"/>
            <a:ext cx="10337800" cy="286893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自适应攻击与消融实验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635" y="4620260"/>
            <a:ext cx="11430000" cy="157353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左·自适应攻击：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攻击者已知 SpecShield 机制并试图 mimic 良性响应——SpecShield 仍保持高检测率，证明频域签名难以伪造。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右·消融：</a:t>
            </a: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DWT + 主动扰动 + DBSCAN 三个组件缺一不可，去掉任一组件性能显著下降。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ED9BB46C-122D-4053-8F55-5222F381C53D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" y="1306195"/>
            <a:ext cx="5850255" cy="268160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90" y="1306195"/>
            <a:ext cx="5439410" cy="268160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开销分析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4128770"/>
            <a:ext cx="9088755" cy="27292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0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CIFAR-10 每轮耗时：</a:t>
            </a:r>
            <a:endParaRPr 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1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Times New Roman" panose="02020603050405020304"/>
              </a:rPr>
              <a:t>SpecShield: 54.63s vs FedAvg: 5.77s</a:t>
            </a:r>
            <a:endParaRPr lang="en-US" sz="2000" b="1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Times New Roman" panose="02020603050405020304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505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主要额外开销：</a:t>
            </a:r>
            <a:endParaRPr lang="en-US" sz="2000" b="0" i="0" u="none" strike="noStrike">
              <a:solidFill>
                <a:srgbClr val="505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服务器侧：FGSM 扰动 + DWT 分解 + DBSCAN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▸ 客户端侧：多一轮扰动后的训练</a:t>
            </a:r>
            <a:endParaRPr lang="en-US" sz="2000" b="0" i="0" u="none" strike="noStrike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2000" b="0" i="0" u="none" strike="noStrike">
                <a:solidFill>
                  <a:srgbClr val="C226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黑体" panose="02010609060101010101" charset="-122"/>
              </a:rPr>
              <a:t>开销集中在服务器侧，客户端几乎无感；可通过异步聚合优化。</a:t>
            </a:r>
            <a:endParaRPr lang="en-US" sz="2000" b="0" i="0" u="none" strike="noStrike">
              <a:solidFill>
                <a:srgbClr val="C226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黑体" panose="02010609060101010101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C7E26479-C6DF-4E7E-8786-82B938830953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35" y="1022350"/>
            <a:ext cx="10337165" cy="317119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5500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39700" y="88900"/>
            <a:ext cx="635000" cy="635000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45720" rIns="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结论与贡献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贡献一：新范式</a:t>
            </a:r>
            <a:r>
              <a:rPr lang="en-US" sz="2400" b="0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 —— 提出"主动探测"防御思路，将 FGSM 从攻击工具改造为探针，打破被动快照分析的局限。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781300"/>
            <a:ext cx="10668000" cy="151320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贡献二：新方法</a:t>
            </a:r>
            <a:r>
              <a:rPr lang="en-US" sz="2400" b="0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 —— SpecShield：FGSM 个性化扰动 + DWT 频域差分特征 + DBSCAN 安全聚合，无需诚实多数假设、无需可信根数据。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74700" y="4472305"/>
            <a:ext cx="10668000" cy="1623695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C226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贡献三：理论与实验</a:t>
            </a:r>
            <a:r>
              <a:rPr lang="en-US" sz="2400" b="0" i="0" u="none" strike="noStrike">
                <a:solidFill>
                  <a:srgbClr val="1F232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Songti SC"/>
              </a:rPr>
              <a:t> —— 从强凸/PL条件推导 ε 上界；4 数据集 9 基线 6 攻击全面验证，50% 恶意仍 &gt;95% 准确率。</a:t>
            </a:r>
            <a:endParaRPr 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610600" y="6477000"/>
            <a:ext cx="2743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fld id="{E16FA4EA-2C74-43A4-9673-C49CF54F4FC0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44117" y="84715"/>
            <a:ext cx="1485961" cy="14738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763712"/>
            <a:ext cx="12192000" cy="3971925"/>
          </a:xfrm>
          <a:prstGeom prst="roundRect">
            <a:avLst>
              <a:gd name="adj" fmla="val 0"/>
            </a:avLst>
          </a:prstGeom>
          <a:solidFill>
            <a:srgbClr val="C2262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8610600" y="6484942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fld id="{68D486C5-4015-45DB-8E05-6A50323BF74B}" type="slidenum">
              <a:rPr sz="1200" b="0" i="0" u="none" strike="noStrike">
                <a:solidFill>
                  <a:srgbClr val="8989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</a:fld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523999" y="2709287"/>
            <a:ext cx="9144000" cy="1439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b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6000" b="0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Thanks &amp; QA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5028</Words>
  <Application>WPS 演示</Application>
  <PresentationFormat/>
  <Paragraphs>370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5" baseType="lpstr">
      <vt:lpstr>Arial</vt:lpstr>
      <vt:lpstr>宋体</vt:lpstr>
      <vt:lpstr>Wingdings</vt:lpstr>
      <vt:lpstr>Arial</vt:lpstr>
      <vt:lpstr>StHeiti</vt:lpstr>
      <vt:lpstr>Segoe Print</vt:lpstr>
      <vt:lpstr>黑体</vt:lpstr>
      <vt:lpstr>等线</vt:lpstr>
      <vt:lpstr>Noto Sans SC</vt:lpstr>
      <vt:lpstr>微软雅黑</vt:lpstr>
      <vt:lpstr>Songti SC</vt:lpstr>
      <vt:lpstr>Wingdings</vt:lpstr>
      <vt:lpstr>Times New Roman</vt:lpstr>
      <vt:lpstr>Times New Roman</vt:lpstr>
      <vt:lpstr>Cambria</vt:lpstr>
      <vt:lpstr>Arial Unicode MS</vt:lpstr>
      <vt:lpstr>Office 主题​​</vt:lpstr>
      <vt:lpstr>自定义主题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辰九</cp:lastModifiedBy>
  <cp:revision>113</cp:revision>
  <dcterms:created xsi:type="dcterms:W3CDTF">2026-10-02T16:40:00Z</dcterms:created>
  <dcterms:modified xsi:type="dcterms:W3CDTF">2026-10-02T17:40:14Z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{"Label":"1","ContentProducer":"001191110102MACQD9K64010000","ProduceID":"7692110879790288112","ReservedCode1":"","ContentPropagator":"","PropagateID":"","ReservedCode2":""}</vt:lpwstr>
  </property>
  <property fmtid="{D5CDD505-2E9C-101B-9397-08002B2CF9AE}" pid="3" name="ICV">
    <vt:lpwstr>BA82E123BECB43F0BA55618F4AE26F65_12</vt:lpwstr>
  </property>
  <property fmtid="{D5CDD505-2E9C-101B-9397-08002B2CF9AE}" pid="4" name="KSOProductBuildVer">
    <vt:lpwstr>2052-12.1.0.28505</vt:lpwstr>
  </property>
</Properties>
</file>