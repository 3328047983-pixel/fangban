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6" r:id="rId1"/>
    <p:sldMasterId id="2147483698" r:id="rId2"/>
  </p:sldMasterIdLst>
  <p:notesMasterIdLst>
    <p:notesMasterId r:id="rId30"/>
  </p:notesMasterIdLst>
  <p:handoutMasterIdLst>
    <p:handoutMasterId r:id="rId31"/>
  </p:handoutMasterIdLst>
  <p:sldIdLst>
    <p:sldId id="256" r:id="rId3"/>
    <p:sldId id="257" r:id="rId4"/>
    <p:sldId id="258" r:id="rId5"/>
    <p:sldId id="259" r:id="rId6"/>
    <p:sldId id="260" r:id="rId7"/>
    <p:sldId id="261" r:id="rId8"/>
    <p:sldId id="262" r:id="rId9"/>
    <p:sldId id="263" r:id="rId10"/>
    <p:sldId id="264" r:id="rId11"/>
    <p:sldId id="280" r:id="rId12"/>
    <p:sldId id="265" r:id="rId13"/>
    <p:sldId id="266" r:id="rId14"/>
    <p:sldId id="267" r:id="rId15"/>
    <p:sldId id="281" r:id="rId16"/>
    <p:sldId id="268" r:id="rId17"/>
    <p:sldId id="282" r:id="rId18"/>
    <p:sldId id="269" r:id="rId19"/>
    <p:sldId id="270" r:id="rId20"/>
    <p:sldId id="271" r:id="rId21"/>
    <p:sldId id="272" r:id="rId22"/>
    <p:sldId id="273" r:id="rId23"/>
    <p:sldId id="274" r:id="rId24"/>
    <p:sldId id="283" r:id="rId25"/>
    <p:sldId id="275" r:id="rId26"/>
    <p:sldId id="276" r:id="rId27"/>
    <p:sldId id="278" r:id="rId28"/>
    <p:sldId id="279"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7F8BC0-FDFF-558C-3D55-7624F975BC3F}" name="昊 吴" initials="昊吴" userId="adf207d1274cbfd7" providerId="Windows Live"/>
  <p188:author id="{7E91F2C5-0807-AABB-C27F-442B88F63A73}" name="Yi He" initials="YH" userId="20d9ce051a46aef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84"/>
    <a:srgbClr val="F0F5F6"/>
    <a:srgbClr val="FEFEFE"/>
    <a:srgbClr val="E5F2ED"/>
    <a:srgbClr val="16735C"/>
    <a:srgbClr val="47917F"/>
    <a:srgbClr val="0E6B57"/>
    <a:srgbClr val="4F7C6C"/>
    <a:srgbClr val="B8483D"/>
    <a:srgbClr val="D6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16" dt="2026-09-19T12:07:39.528"/>
    <p1510:client id="{4767EB31-875C-5951-4BDB-812560FBD294}" v="14" dt="2026-09-19T07:21:48.490"/>
    <p1510:client id="{92F418BB-07EB-424E-98D3-4C3B57AFE546}" v="114" dt="2026-09-19T02:45:45.899"/>
    <p1510:client id="{CDC55B03-7D15-2995-F8FA-F378533C32CE}" v="1" dt="2026-09-19T10:00:21.757"/>
    <p1510:client id="{E6280278-A3F3-4587-83A0-C239AD389C14}" v="513" dt="2026-09-19T13:39:34.856"/>
  </p1510:revLst>
</p1510:revInfo>
</file>

<file path=ppt/tableStyles.xml><?xml version="1.0" encoding="utf-8"?>
<a:tblStyleLst xmlns:a="http://schemas.openxmlformats.org/drawingml/2006/main" def="{01689EBE-A8BA-4E9F-A005-15CF966D7EB2}">
  <a:tblStyle styleId="{01689EBE-A8BA-4E9F-A005-15CF966D7EB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79954" autoAdjust="0"/>
  </p:normalViewPr>
  <p:slideViewPr>
    <p:cSldViewPr snapToGrid="0">
      <p:cViewPr varScale="1">
        <p:scale>
          <a:sx n="93" d="100"/>
          <a:sy n="93" d="100"/>
        </p:scale>
        <p:origin x="900" y="33"/>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2829" y="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5B2E1EE-D647-E202-597F-E5D3D54C7B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EAD6CE68-3E6A-BCEF-9497-AB3F99C688F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809C8B-BF91-4B4B-8C63-00566E15A5A3}" type="datetimeFigureOut">
              <a:rPr lang="zh-CN" altLang="en-US" smtClean="0"/>
              <a:t>2026/10/2</a:t>
            </a:fld>
            <a:endParaRPr lang="zh-CN" altLang="en-US"/>
          </a:p>
        </p:txBody>
      </p:sp>
      <p:sp>
        <p:nvSpPr>
          <p:cNvPr id="4" name="页脚占位符 3">
            <a:extLst>
              <a:ext uri="{FF2B5EF4-FFF2-40B4-BE49-F238E27FC236}">
                <a16:creationId xmlns:a16="http://schemas.microsoft.com/office/drawing/2014/main" id="{81E881D6-A31D-D1A0-A133-6EDE0C79ED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47CD90A0-1B37-D23D-9398-84189C99A55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B3222E-3FF2-4195-A416-C35353A4C571}" type="slidenum">
              <a:rPr lang="zh-CN" altLang="en-US" smtClean="0"/>
              <a:t>‹#›</a:t>
            </a:fld>
            <a:endParaRPr lang="zh-CN" altLang="en-US"/>
          </a:p>
        </p:txBody>
      </p:sp>
    </p:spTree>
    <p:extLst>
      <p:ext uri="{BB962C8B-B14F-4D97-AF65-F5344CB8AC3E}">
        <p14:creationId xmlns:p14="http://schemas.microsoft.com/office/powerpoint/2010/main" val="8078689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大家好，今天汇报的是《Towards Automating Data Access Permissions in AI Agents》，中文可以概括为迈向人工智能代理的数据访问权限自动化，作者包括Yuhao Wu等六位研究者，发表于二〇二六年IEEE安全与隐私研讨会。论文关注一个具体问题：当代理替我们调用工具并分享个人数据时，能否从过去的授权记录中学会我们的偏好，减少反复询问？接下来大约二十分钟，我会介绍背景、用户研究、方法、实验，以及这项工作的局限。</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这次汇报分四段，先用订机票的例子解释权限问题，再看作者如何通过用户研究找到可学习的规律，然后拆解预测方法和实验，最后讨论实际部署还缺什么。方法部分有两个缩写，IC指上下文学习，也就是把示例放进提示词；CF指协同过滤，也就是参考偏好相近的其他用户。贯穿全篇要注意，预测某人愿不愿意分享数据，并不等于证明这次分享是必要的、安全的。</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设想我们只说了一句帮我订机票，代理就可能读取姓名、行程和付款信息，并把其中一些发送给订票工具。问题是，用户授权了一个任务，并不意味着同意把全部个人资料交给任何工具，工具也可能索要与任务无关的信息。论文讨论三类原因：第三方工具不可信，大模型自己理解错了，以及用户虽然需要功能却不愿采用某种数据共享方式。图中的权限判断点用于说明需要控制的环节，并不是论文已经部署并验证的拦截系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传统的安装时授权，是在使用之前决定应用能访问什么，但代理会根据任务动态组合工具，未来需要哪些数据往往不能提前列完。运行时逐次询问更贴近当前任务，却可能把一次任务拆成很多次确认，削弱自动化体验，并带来授权疲劳。作者因此提出第三条路，让助手学习用户的稳定偏好，在有把握时提供自动建议。这里并不是要取消传统权限，论文也承认安装时授权仍适合某些认证配置，实际系统更可能把几种机制组合起来。</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论文把问题拆成三个环节：理解用户偏好，预测未来决定，以及可靠地执行权限，实际重点是前两个。威胁模型中，第三方工具可能恶意、被攻陷或过度收集数据，大模型被认为没有恶意，但可能犯错；系统支撑层和权限助手则被假定可信。作者设想把权限助手放进代理的系统支撑层，使大模型不能直接控制它，不过安全隔离、数据流拦截和完整部署都没有在本文中解决。因此，我们应把结果理解为权限预测的概念验证，不能说它已经挡住了提示注入或数据窃取。</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作者采用情境问卷，也就是让参与者阅读具体任务，并设想自己在训练一个未来的个人助手。题库覆盖八个领域、二十一个工具和六十五个查询，涉及一百四十二种具体数据类型，归并为七十五种通用类型；每位参与者完成五道工具或数据选择题，以及二十道权限题，其中五道故意包含不必要数据。四个选项分别是始终分享、本次分享、本次不分享和从不分享，这样可以区分当前决定与长期偏好。论文招募二百零五名美国成年参与者，并说明剔除了两份无效回应，而且事先提醒了隐私风险，这些设置会影响后面对外推性的判断。</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这一页保留了原论文的累计分布图，横轴是某类授权在个人全部请求中所占比例，纵轴表示参与者的累计比例。按作者定义，过度授权是允许了不必要的数据，授权不足是拒绝了任务需要的数据，而恰当授权以研究者整理的必要性为参照。结果显示，只有百分之三的参与者完全没有过度授权，只有百分之十八点七的参与者能在至少百分之九十的请求上作出恰当决定。这里要保留一个价值判断的边界：拒绝必要数据可能是用户主动放弃功能，并不一定是错误；模型学会用户偏好，也可能学到原本过度分享的习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从表一看，娱乐领域始终分享的比例是百分之五十五点六，而金融领域只有百分之二十二点二，说明情境与隐私敏感程度有关。但仅仅记住娱乐开放、金融保守还不够，同一领域里的不同工具也有差异，例如旅行中的天气工具始终分享比例为百分之五十点八，而云盘只有百分之十七点八。论文解释，旅行云盘常涉及护照扫描件等敏感材料，用户可能同意本次使用，却不愿长期自动分享。这个发现直接影响方法设计：输入不能只有粗粒度领域标签，还要包含具体查询、工具和数据类型。</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虽然用户之间和场景之间存在差异，作者也发现可供学习的稳定性：娱乐和智能家居领域中，大约百分之八十四点五到八十五点六的参与者在该领域内保持一致的允许或拒绝偏好。跨用户看，原图用Jaccard相似度描述回答同一组请求的用户对，论文报告百分之六十九点七的用户对在至少百分之六十的数据类型上偏好相似。通俗来说，有些规律可以从这个人自己的历史学到，有些可以从与他相似的人那里补充。不过这种一致性来自本次受控调查，尚不能说明同一个人的偏好几年后仍然稳定。</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C5E2E-BD70-05AD-6BC0-9FB976435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20D95-7C08-CD1A-D11A-7CD972E19358}"/>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7E006217-9851-70D2-207B-9E9827CB5D5A}"/>
              </a:ext>
            </a:extLst>
          </p:cNvPr>
          <p:cNvSpPr>
            <a:spLocks noGrp="1"/>
          </p:cNvSpPr>
          <p:nvPr>
            <p:ph type="body" sz="quarter" idx="3"/>
          </p:nvPr>
        </p:nvSpPr>
        <p:spPr/>
        <p:txBody>
          <a:bodyPr/>
          <a:lstStyle/>
          <a:p>
            <a:r>
              <a:rPr lang="zh-CN" altLang="zh-CN" sz="1100" b="0" i="0" u="none" strike="noStrike" cap="none" dirty="0">
                <a:solidFill>
                  <a:srgbClr val="000000"/>
                </a:solidFill>
                <a:effectLst/>
                <a:latin typeface="Arial"/>
                <a:ea typeface="Arial"/>
                <a:cs typeface="Arial"/>
                <a:sym typeface="Arial"/>
              </a:rPr>
              <a:t>用户偏好存在可学规律。那接下来自然要问：这些规律怎么变成方法？</a:t>
            </a:r>
            <a:br>
              <a:rPr lang="zh-CN" altLang="zh-CN" dirty="0"/>
            </a:br>
            <a:r>
              <a:rPr lang="zh-CN" altLang="zh-CN" sz="1100" b="0" i="0" u="none" strike="noStrike" cap="none" dirty="0">
                <a:solidFill>
                  <a:srgbClr val="000000"/>
                </a:solidFill>
                <a:effectLst/>
                <a:latin typeface="Arial"/>
                <a:ea typeface="Arial"/>
                <a:cs typeface="Arial"/>
                <a:sym typeface="Arial"/>
              </a:rPr>
              <a:t>这里有两个关键信号：第一，个人在特定领域内比较一致，所以我们可以用个人历史做预测；第二，不同用户之间存在相似模式，所以我们可以借用相似用户的经验。</a:t>
            </a:r>
            <a:br>
              <a:rPr lang="zh-CN" altLang="zh-CN" dirty="0"/>
            </a:br>
            <a:r>
              <a:rPr lang="zh-CN" altLang="zh-CN" sz="1100" b="0" i="0" u="none" strike="noStrike" cap="none" dirty="0">
                <a:solidFill>
                  <a:srgbClr val="000000"/>
                </a:solidFill>
                <a:effectLst/>
                <a:latin typeface="Arial"/>
                <a:ea typeface="Arial"/>
                <a:cs typeface="Arial"/>
                <a:sym typeface="Arial"/>
              </a:rPr>
              <a:t>这就直接引出第三部分的 IC 和 CF：IC 学个人，CF 学群体。</a:t>
            </a:r>
            <a:br>
              <a:rPr lang="zh-CN" altLang="zh-CN" dirty="0"/>
            </a:br>
            <a:r>
              <a:rPr lang="zh-CN" altLang="zh-CN" sz="1100" b="0" i="0" u="none" strike="noStrike" cap="none" dirty="0">
                <a:solidFill>
                  <a:srgbClr val="000000"/>
                </a:solidFill>
                <a:effectLst/>
                <a:latin typeface="Arial"/>
                <a:ea typeface="Arial"/>
                <a:cs typeface="Arial"/>
                <a:sym typeface="Arial"/>
              </a:rPr>
              <a:t>同时，用户研究也告诉我们，有些人跨领域差异很大，敏感数据分歧也大，所以不能全自动，必须保留置信度和人工兜底。</a:t>
            </a:r>
            <a:endParaRPr lang="zh-CN" dirty="0"/>
          </a:p>
        </p:txBody>
      </p:sp>
    </p:spTree>
    <p:extLst>
      <p:ext uri="{BB962C8B-B14F-4D97-AF65-F5344CB8AC3E}">
        <p14:creationId xmlns:p14="http://schemas.microsoft.com/office/powerpoint/2010/main" val="350231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altLang="zh-CN" sz="1100" b="0" i="0" u="none" strike="noStrike" cap="none" dirty="0">
                <a:solidFill>
                  <a:srgbClr val="000000"/>
                </a:solidFill>
                <a:effectLst/>
                <a:latin typeface="Arial"/>
                <a:ea typeface="Arial"/>
                <a:cs typeface="Arial"/>
                <a:sym typeface="Arial"/>
              </a:rPr>
              <a:t>第三部分有三个方法：IC、CF 和混合。它们不是三个独立方案，而是递进关系。</a:t>
            </a:r>
            <a:br>
              <a:rPr lang="zh-CN" altLang="zh-CN" dirty="0"/>
            </a:br>
            <a:r>
              <a:rPr lang="zh-CN" altLang="zh-CN" sz="1100" b="0" i="0" u="none" strike="noStrike" cap="none" dirty="0">
                <a:solidFill>
                  <a:srgbClr val="000000"/>
                </a:solidFill>
                <a:effectLst/>
                <a:latin typeface="Arial"/>
                <a:ea typeface="Arial"/>
                <a:cs typeface="Arial"/>
                <a:sym typeface="Arial"/>
              </a:rPr>
              <a:t>IC 是基础，因为每个用户的历史很少，但 LLM 的 few-shot 能力很强，不需要重训练就能处理新数据类型。</a:t>
            </a:r>
            <a:br>
              <a:rPr lang="zh-CN" altLang="zh-CN" dirty="0"/>
            </a:br>
            <a:r>
              <a:rPr lang="zh-CN" altLang="zh-CN" sz="1100" b="0" i="0" u="none" strike="noStrike" cap="none" dirty="0">
                <a:solidFill>
                  <a:srgbClr val="000000"/>
                </a:solidFill>
                <a:effectLst/>
                <a:latin typeface="Arial"/>
                <a:ea typeface="Arial"/>
                <a:cs typeface="Arial"/>
                <a:sym typeface="Arial"/>
              </a:rPr>
              <a:t>CF 是补充，因为单个用户历史少，但相似用户的历史可以共享，CF 可以从群体中借经验。</a:t>
            </a:r>
            <a:br>
              <a:rPr lang="zh-CN" altLang="zh-CN" dirty="0"/>
            </a:br>
            <a:r>
              <a:rPr lang="zh-CN" altLang="zh-CN" sz="1100" b="0" i="0" u="none" strike="noStrike" cap="none" dirty="0">
                <a:solidFill>
                  <a:srgbClr val="000000"/>
                </a:solidFill>
                <a:effectLst/>
                <a:latin typeface="Arial"/>
                <a:ea typeface="Arial"/>
                <a:cs typeface="Arial"/>
                <a:sym typeface="Arial"/>
              </a:rPr>
              <a:t>最后是混合模型：CF 只提供高置信建议，IC 综合个人资料、历史和 CF 建议做最终判断。</a:t>
            </a:r>
            <a:br>
              <a:rPr lang="zh-CN" altLang="zh-CN" dirty="0"/>
            </a:br>
            <a:r>
              <a:rPr lang="zh-CN" altLang="zh-CN" sz="1100" b="0" i="0" u="none" strike="noStrike" cap="none" dirty="0">
                <a:solidFill>
                  <a:srgbClr val="000000"/>
                </a:solidFill>
                <a:effectLst/>
                <a:latin typeface="Arial"/>
                <a:ea typeface="Arial"/>
                <a:cs typeface="Arial"/>
                <a:sym typeface="Arial"/>
              </a:rPr>
              <a:t>所以这一部分不是“三个方法随便选一个”，而是“个人 → 群体 → 融合”的完整设计。</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上下文学习部分使用o3-mini，把权限助手作为角色，并把用户年龄范围、教育、性别、人工智能使用情况和隐私态度写成自然语言。每条历史则包含查询、请求数据的工具、数据类型，以及这个用户当时的长期允许或拒绝决定。新请求出现时，把这些已知信息与新请求一起交给模型，就能输出一个预测标签和置信度，页面右边只是便于理解的教学例子。所谓无需重新训练，指不用为每一种新数据类型重新更新大模型参数，并不意味着不需要提供上下文、收集历史或验证新场景下的效果。</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协同过滤可以类比推荐系统，只是它推荐的不是电影，而是某个用户可能作出的权限决定。作者用用户与带情境的权限请求构成关系图，已观察到的允许或拒绝构成学习信息，采用LightGCN聚合相邻节点的信息，形成用户和请求的向量表示，再根据二者的匹配分数预测许可。图中的问号表示尚未观察到的决定，并不自动等于拒绝。这个分支能借用其他人的经验，但对完全未见过的新请求或数据节点存在限制，所以作者还需要能理解文本语义的上下文学习分支。</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DE65-3DA2-21DB-E861-ADAD49A16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C4AE4-E84C-68E9-66EB-D95CB885E410}"/>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B4A48017-B6AF-29AE-D1D4-9AC42430CF8D}"/>
              </a:ext>
            </a:extLst>
          </p:cNvPr>
          <p:cNvSpPr>
            <a:spLocks noGrp="1"/>
          </p:cNvSpPr>
          <p:nvPr>
            <p:ph type="body" sz="quarter" idx="3"/>
          </p:nvPr>
        </p:nvSpPr>
        <p:spPr/>
        <p:txBody>
          <a:bodyPr/>
          <a:lstStyle/>
          <a:p>
            <a:r>
              <a:rPr lang="zh-CN" dirty="0"/>
              <a:t>模型整体可以理解为两路信息汇合：一路读取当前用户的基本资料、隐私态度和过去授权，交给上下文学习；另一路汇总多人授权记录，通过协同过滤产生建议。协同过滤的建议经过置信度筛选后，变成文字示例加入大模型提示词，大模型最终输出允许或拒绝，以及一个自报置信度分数。它并不是把两个模型的分数简单平均，也不是先微调一个新大模型。这个结构的用意，是让个人历史提供个性化判断，相似用户的可靠例子补足历史稀疏时的信息。</a:t>
            </a:r>
          </a:p>
        </p:txBody>
      </p:sp>
    </p:spTree>
    <p:extLst>
      <p:ext uri="{BB962C8B-B14F-4D97-AF65-F5344CB8AC3E}">
        <p14:creationId xmlns:p14="http://schemas.microsoft.com/office/powerpoint/2010/main" val="3918368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融合时最重要的一步，是先过滤协同过滤的建议，作者只保留能使误允许率和误拒绝率都低于百分之五的高置信度预测，这部分约覆盖百分之三十五的请求。保留下来的结果会被写成查询、工具、数据类型和允许或拒绝的文字示例，再加入IC的提示词中。作者说明，把所有协同过滤结果都加入，反而会降低准确率，后面的误差分析也发现大模型容易跟随错误建议。还要区分两个门槛：这里筛选的是送入大模型的CF建议，后面百分之九十四点四对应的是最终混合输出的高置信度筛选，两者的覆盖率不是同一个数。</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2DB62-8662-D9BE-7179-9BC1B814B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D0118-1B6D-1BA3-0801-D6A33826B53D}"/>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80C93846-58C8-4033-BC56-195099F1B73B}"/>
              </a:ext>
            </a:extLst>
          </p:cNvPr>
          <p:cNvSpPr>
            <a:spLocks noGrp="1"/>
          </p:cNvSpPr>
          <p:nvPr>
            <p:ph type="body" sz="quarter" idx="3"/>
          </p:nvPr>
        </p:nvSpPr>
        <p:spPr/>
        <p:txBody>
          <a:bodyPr/>
          <a:lstStyle/>
          <a:p>
            <a:r>
              <a:rPr lang="zh-CN" altLang="zh-CN" sz="1100" b="0" i="0" u="none" strike="noStrike" cap="none" dirty="0">
                <a:solidFill>
                  <a:srgbClr val="000000"/>
                </a:solidFill>
                <a:effectLst/>
                <a:latin typeface="Arial"/>
                <a:ea typeface="Arial"/>
                <a:cs typeface="Arial"/>
                <a:sym typeface="Arial"/>
              </a:rPr>
              <a:t>方法讲完了，接下来要问：我们怎么证明它可行？</a:t>
            </a:r>
            <a:br>
              <a:rPr lang="zh-CN" altLang="zh-CN" dirty="0"/>
            </a:br>
            <a:r>
              <a:rPr lang="zh-CN" altLang="zh-CN" sz="1100" b="0" i="0" u="none" strike="noStrike" cap="none" dirty="0">
                <a:solidFill>
                  <a:srgbClr val="000000"/>
                </a:solidFill>
                <a:effectLst/>
                <a:latin typeface="Arial"/>
                <a:ea typeface="Arial"/>
                <a:cs typeface="Arial"/>
                <a:sym typeface="Arial"/>
              </a:rPr>
              <a:t>实验有四个目标：第一，可行性，用户偏好能不能被自动预测；第二，互补性，IC 和 CF 混合是不是比单独用好；第三，边界，多少覆盖率下能达到多高准确率；第四，历史价值，少量历史是不是就够。</a:t>
            </a:r>
            <a:br>
              <a:rPr lang="zh-CN" altLang="zh-CN" dirty="0"/>
            </a:br>
            <a:r>
              <a:rPr lang="zh-CN" altLang="zh-CN" sz="1100" b="0" i="0" u="none" strike="noStrike" cap="none" dirty="0">
                <a:solidFill>
                  <a:srgbClr val="000000"/>
                </a:solidFill>
                <a:effectLst/>
                <a:latin typeface="Arial"/>
                <a:ea typeface="Arial"/>
                <a:cs typeface="Arial"/>
                <a:sym typeface="Arial"/>
              </a:rPr>
              <a:t>所以实验不是证明模型完美，而是验证自动化权限预测是否可行、在什么条件下可行。</a:t>
            </a:r>
            <a:endParaRPr lang="zh-CN" dirty="0"/>
          </a:p>
        </p:txBody>
      </p:sp>
    </p:spTree>
    <p:extLst>
      <p:ext uri="{BB962C8B-B14F-4D97-AF65-F5344CB8AC3E}">
        <p14:creationId xmlns:p14="http://schemas.microsoft.com/office/powerpoint/2010/main" val="3832504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建模时，作者只保留始终分享和从不分享两类长期偏好，并排除在少于五个查询上表达这种偏好的参与者，最终得到一百八十一人、七千五百六十三个权限决定。允许标签有五千二百四十四个，拒绝有两千三百一十九个，类别并不均衡，所以需要同时看误允许和误拒绝等指标。实验按用户回答过的查询划分五折，每轮四折作为历史，一折测试，同一轮的同一个问题不会同时用于训练和测试。这个设置测试的是留出查询上的预测，不等于整批全新用户、全新工具或长期上线环境的独立验证。</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为了避免误读结果，我们先明确正类是用户愿意分享数据，而不是这次访问客观上安全。准确率看所有预测中有多少符合用户标签；精确率看模型建议允许的请求中，有多少确实是用户愿意允许的。误允许率FPR的分母是用户实际拒绝的请求，表示这些拒绝被模型错误放行了多少；误拒绝率FNR的分母是实际允许的请求，表示有多少被错误挡住。二者可能分别导致非预期分享和功能受阻，所以一个百分之八十五的总体准确率，并不能直接回答隐私风险是否可以接受。</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在百分之百覆盖率下，协同过滤准确率为百分之八十三点三，IC为百分之八十四点四，混合模型达到百分之八十五点一。相对于IC，混合方法准确率增加零点七个百分点，误允许率从百分之十七点九降到十五点二，下降二点七个百分点；但召回率略低，误拒绝率也略高，所以不是每一项指标都最优。表格保留论文报告的均值及波动数值，没有把它们擅自解释成置信区间，也没有做额外显著性推断。这些结果支持两个分支可以互补，但提升幅度应如实表述，不能夸大为大幅领先。</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左侧是原论文中混合模型的阈值曲线，随着门槛提高，保留下来的预测更准确，但棕色覆盖率曲线明显下降。作者选取置信度零点九一时，准确率达到百分之九十四点四，而覆盖率只有百分之二十五点九，剩余百分之七十四点一的请求需要人工判断或其他明确策略处理。这里的准确率只对保留下来的预测计算，不能写成所有请求都能达到百分之九十四点四。置信度还是模型自报的分数，并不等于单次请求安全的概率，尤其需要进一步做校准和风险评估。</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表六分析的是当前用户历史量变化，无历史时准确率是百分之六十六点九，加入一到四个查询的历史后上升到百分之七十七点七，增加十点八个百分点。继续增加可用历史，准确率逐步达到百分之八十二点一、八十三点七和八十五点一，说明个性化历史确实有帮助。这里的一到四指查询，每个查询可以涉及多种数据，所以不能说只用一到四个单独权限样本就一定有同样效果。横轴百分之百也只表示该次交叉验证中可用的全部训练历史，不能把测试标签提前给模型。</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总体平均值之外，作者比较了表现最好和最差的各百分之二十用户，平均准确率分别达到百分之九十七点六和六十九点七，差距很大。较难预测的用户往往在不同领域之间有更明显的偏好变化，个人历史较少，收到的CF建议也较不准确，论文甚至给出一个准确率只有百分之四十九的个例。数据类型也不同，支付方式详情的准确率只有百分之五十九点一，而爱好兴趣等类型更容易预测。这里的分析主要揭示关联和失败模式，不能把观察到的关系直接当作增加某类数据就必然提高准确率的因果证明。</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D492-21B8-6436-C0F2-B720F0F36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EDF09-0B93-79EC-21DF-E35520FAE378}"/>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7DFF5DEB-AAC7-E524-32EA-2B12BF8DDE0C}"/>
              </a:ext>
            </a:extLst>
          </p:cNvPr>
          <p:cNvSpPr>
            <a:spLocks noGrp="1"/>
          </p:cNvSpPr>
          <p:nvPr>
            <p:ph type="body" sz="quarter" idx="3"/>
          </p:nvPr>
        </p:nvSpPr>
        <p:spPr/>
        <p:txBody>
          <a:bodyPr/>
          <a:lstStyle/>
          <a:p>
            <a:r>
              <a:rPr lang="zh-CN" altLang="zh-CN" sz="1100" b="0" i="0" u="none" strike="noStrike" cap="none" dirty="0">
                <a:solidFill>
                  <a:srgbClr val="000000"/>
                </a:solidFill>
                <a:effectLst/>
                <a:latin typeface="Arial"/>
                <a:ea typeface="Arial"/>
                <a:cs typeface="Arial"/>
                <a:sym typeface="Arial"/>
              </a:rPr>
              <a:t>最后回到实验收尾。我们得到四个结论：</a:t>
            </a:r>
            <a:br>
              <a:rPr lang="zh-CN" altLang="zh-CN" dirty="0"/>
            </a:br>
            <a:r>
              <a:rPr lang="zh-CN" altLang="zh-CN" sz="1100" b="0" i="0" u="none" strike="noStrike" cap="none" dirty="0">
                <a:solidFill>
                  <a:srgbClr val="000000"/>
                </a:solidFill>
                <a:effectLst/>
                <a:latin typeface="Arial"/>
                <a:ea typeface="Arial"/>
                <a:cs typeface="Arial"/>
                <a:sym typeface="Arial"/>
              </a:rPr>
              <a:t>第一，可行。全覆盖下混合模型准确率 85.1%，高置信度下 94.4%。</a:t>
            </a:r>
            <a:br>
              <a:rPr lang="zh-CN" altLang="zh-CN" dirty="0"/>
            </a:br>
            <a:r>
              <a:rPr lang="zh-CN" altLang="zh-CN" sz="1100" b="0" i="0" u="none" strike="noStrike" cap="none" dirty="0">
                <a:solidFill>
                  <a:srgbClr val="000000"/>
                </a:solidFill>
                <a:effectLst/>
                <a:latin typeface="Arial"/>
                <a:ea typeface="Arial"/>
                <a:cs typeface="Arial"/>
                <a:sym typeface="Arial"/>
              </a:rPr>
              <a:t>第二，有效。混合模型比单独 IC 降低 FPR 2.7 个百分点，误允许更少。</a:t>
            </a:r>
            <a:br>
              <a:rPr lang="zh-CN" altLang="zh-CN" dirty="0"/>
            </a:br>
            <a:r>
              <a:rPr lang="zh-CN" altLang="zh-CN" sz="1100" b="0" i="0" u="none" strike="noStrike" cap="none" dirty="0">
                <a:solidFill>
                  <a:srgbClr val="000000"/>
                </a:solidFill>
                <a:effectLst/>
                <a:latin typeface="Arial"/>
                <a:ea typeface="Arial"/>
                <a:cs typeface="Arial"/>
                <a:sym typeface="Arial"/>
              </a:rPr>
              <a:t>第三，可扩展。即使没有历史，也有 66.9%；1 到 4 个查询历史就能提升 10.8%。</a:t>
            </a:r>
            <a:br>
              <a:rPr lang="zh-CN" altLang="zh-CN" dirty="0"/>
            </a:br>
            <a:r>
              <a:rPr lang="zh-CN" altLang="zh-CN" sz="1100" b="0" i="0" u="none" strike="noStrike" cap="none" dirty="0">
                <a:solidFill>
                  <a:srgbClr val="000000"/>
                </a:solidFill>
                <a:effectLst/>
                <a:latin typeface="Arial"/>
                <a:ea typeface="Arial"/>
                <a:cs typeface="Arial"/>
                <a:sym typeface="Arial"/>
              </a:rPr>
              <a:t>第四，有边界。94.4% 只覆盖 25.9% 的请求，敏感和跨领域差异大的数据仍然难预测。</a:t>
            </a:r>
            <a:br>
              <a:rPr lang="zh-CN" altLang="zh-CN" dirty="0"/>
            </a:br>
            <a:r>
              <a:rPr lang="zh-CN" altLang="zh-CN" sz="1100" b="0" i="0" u="none" strike="noStrike" cap="none" dirty="0">
                <a:solidFill>
                  <a:srgbClr val="000000"/>
                </a:solidFill>
                <a:effectLst/>
                <a:latin typeface="Arial"/>
                <a:ea typeface="Arial"/>
                <a:cs typeface="Arial"/>
                <a:sym typeface="Arial"/>
              </a:rPr>
              <a:t>所以本文的核心主张不是“全自动”，而是“高置信度自动 + 低置信度人工兜底”。可行性已经初步验证，但可靠执行、风险控制和长期使用还需要后续工作。</a:t>
            </a:r>
            <a:endParaRPr lang="zh-CN" dirty="0"/>
          </a:p>
        </p:txBody>
      </p:sp>
    </p:spTree>
    <p:extLst>
      <p:ext uri="{BB962C8B-B14F-4D97-AF65-F5344CB8AC3E}">
        <p14:creationId xmlns:p14="http://schemas.microsoft.com/office/powerpoint/2010/main" val="938950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第一组局限来自研究设计，样本是美国成年线上参与者，情境问卷记录的是想象场景中的选择，并没有跟踪真实工作流中长期发生的授权行为。参与者事先被提醒隐私风险，这有助于认真考虑，但也可能让行为不同于日常使用；建模又只保留长期偏好足够多的人，较犹豫或希望逐次确认的用户可能代表不足。此外，题库由大模型辅助生成、研究者审核，必要性参照依赖这套任务设定，按查询留出的五折实验也不足以单独证明新用户、新工具或偏好随时间变化时的泛化效果。以上是基于原文实验设计提出的汇报评价，不是论文已经测出的性能下降数值。</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第二组局限是系统安全层面，本文并没有完整实现并验证权限执行器，也没有给出针对提示注入攻击的端到端防御成功率。自然语言可能含糊，用户历史可能变化，协同过滤的错误建议还可能传递给大模型，而模型自报高置信度并不能保证正确。要真正部署，还需要数据访问发生前的可靠拦截、明确的人工确认与撤销接口，以及对敏感权限的规则约束。即使未来系统完全准确地复制用户偏好，也仍然可能复制过度授权，因此偏好预测只能是控制体系的一部分。</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这篇论文的主要贡献有三点：把代理的权限自动化明确为研究问题，通过用户研究找到偏好规律，再用IC与CF的组合证明预测具有可行性。实验中，混合模型全覆盖准确率为百分之八十五点一，高置信度子集达到百分之九十四点四，但只覆盖百分之二十五点九。我的评价是，这是一项把可用安全与机器学习联系起来的有价值探索，而可靠执行、低风险误允许和长期用户控制，仍是从概念验证走向实际系统的关键。</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dirty="0"/>
              <a:t>我的汇报到这里，感谢大家聆听，欢迎提问。主要依据是用户提供的IEEE正式论文，右侧保留了论文与作者代码仓库入口；有关指标定义、实验口径和局限的详细回答，也整理在配套答辩文档中。</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422575" y="989475"/>
            <a:ext cx="8520600" cy="954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 name="Google Shape;64;p16">
            <a:extLst>
              <a:ext uri="{FF2B5EF4-FFF2-40B4-BE49-F238E27FC236}">
                <a16:creationId xmlns:a16="http://schemas.microsoft.com/office/drawing/2014/main" id="{12F37E8A-A3C1-48FF-12ED-86162A1BBA33}"/>
              </a:ext>
            </a:extLst>
          </p:cNvPr>
          <p:cNvSpPr txBox="1">
            <a:spLocks noGrp="1"/>
          </p:cNvSpPr>
          <p:nvPr>
            <p:ph type="sldNum" idx="12"/>
          </p:nvPr>
        </p:nvSpPr>
        <p:spPr>
          <a:xfrm>
            <a:off x="8604000" y="4866584"/>
            <a:ext cx="540000" cy="288000"/>
          </a:xfrm>
          <a:prstGeom prst="rect">
            <a:avLst/>
          </a:prstGeom>
        </p:spPr>
        <p:txBody>
          <a:bodyPr spcFirstLastPara="1" wrap="square" lIns="91425" tIns="91425" rIns="91425" bIns="91425" anchor="ctr" anchorCtr="0">
            <a:noAutofit/>
          </a:bodyPr>
          <a:lstStyle>
            <a:lvl1pPr lvl="0">
              <a:buNone/>
              <a:defRPr sz="1000">
                <a:latin typeface="微软雅黑" panose="020B0503020204020204" pitchFamily="34" charset="-122"/>
                <a:ea typeface="微软雅黑" panose="020B0503020204020204" pitchFamily="34" charset="-122"/>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 name="Google Shape;64;p16">
            <a:extLst>
              <a:ext uri="{FF2B5EF4-FFF2-40B4-BE49-F238E27FC236}">
                <a16:creationId xmlns:a16="http://schemas.microsoft.com/office/drawing/2014/main" id="{E000FB5B-B11B-8D3B-F998-F0BDE475C5F9}"/>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sz="1000">
                <a:latin typeface="微软雅黑" panose="020B0503020204020204" pitchFamily="34" charset="-122"/>
                <a:ea typeface="微软雅黑" panose="020B0503020204020204" pitchFamily="34" charset="-122"/>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标题页" type="tx">
  <p:cSld name="TITLE_AND_BODY">
    <p:spTree>
      <p:nvGrpSpPr>
        <p:cNvPr id="1" name="Shape 61"/>
        <p:cNvGrpSpPr/>
        <p:nvPr/>
      </p:nvGrpSpPr>
      <p:grpSpPr>
        <a:xfrm>
          <a:off x="0" y="0"/>
          <a:ext cx="0" cy="0"/>
          <a:chOff x="0" y="0"/>
          <a:chExt cx="0" cy="0"/>
        </a:xfrm>
      </p:grpSpPr>
      <p:pic>
        <p:nvPicPr>
          <p:cNvPr id="65" name="Google Shape;65;p16" title="ChatGPT Image 2026年5月18日 21_59_50 (2).png"/>
          <p:cNvPicPr preferRelativeResize="0"/>
          <p:nvPr/>
        </p:nvPicPr>
        <p:blipFill>
          <a:blip r:embed="rId2">
            <a:alphaModFix amt="60000"/>
          </a:blip>
          <a:stretch>
            <a:fillRect/>
          </a:stretch>
        </p:blipFill>
        <p:spPr>
          <a:xfrm>
            <a:off x="5145124" y="3049025"/>
            <a:ext cx="3998876" cy="2250550"/>
          </a:xfrm>
          <a:prstGeom prst="rect">
            <a:avLst/>
          </a:prstGeom>
          <a:noFill/>
          <a:ln>
            <a:noFill/>
          </a:ln>
        </p:spPr>
      </p:pic>
      <p:sp>
        <p:nvSpPr>
          <p:cNvPr id="62" name="Google Shape;62;p16"/>
          <p:cNvSpPr txBox="1">
            <a:spLocks noGrp="1"/>
          </p:cNvSpPr>
          <p:nvPr>
            <p:ph type="title"/>
          </p:nvPr>
        </p:nvSpPr>
        <p:spPr>
          <a:xfrm>
            <a:off x="423650" y="25687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212725"/>
              </a:buClr>
              <a:buSzPts val="2500"/>
              <a:buNone/>
              <a:defRPr sz="2500" b="1">
                <a:solidFill>
                  <a:srgbClr val="212725"/>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grpSp>
        <p:nvGrpSpPr>
          <p:cNvPr id="66" name="Google Shape;66;p16"/>
          <p:cNvGrpSpPr/>
          <p:nvPr/>
        </p:nvGrpSpPr>
        <p:grpSpPr>
          <a:xfrm>
            <a:off x="8069947" y="225216"/>
            <a:ext cx="834401" cy="320086"/>
            <a:chOff x="6226875" y="871088"/>
            <a:chExt cx="971816" cy="372800"/>
          </a:xfrm>
        </p:grpSpPr>
        <p:pic>
          <p:nvPicPr>
            <p:cNvPr id="67" name="Google Shape;67;p16" title="Screenshot 2026-05-18 at 22.00.56.png"/>
            <p:cNvPicPr preferRelativeResize="0"/>
            <p:nvPr/>
          </p:nvPicPr>
          <p:blipFill rotWithShape="1">
            <a:blip r:embed="rId3">
              <a:alphaModFix amt="75000"/>
            </a:blip>
            <a:srcRect r="65162"/>
            <a:stretch/>
          </p:blipFill>
          <p:spPr>
            <a:xfrm>
              <a:off x="6226875" y="910849"/>
              <a:ext cx="306550" cy="293275"/>
            </a:xfrm>
            <a:prstGeom prst="rect">
              <a:avLst/>
            </a:prstGeom>
            <a:noFill/>
            <a:ln>
              <a:noFill/>
            </a:ln>
          </p:spPr>
        </p:pic>
        <p:pic>
          <p:nvPicPr>
            <p:cNvPr id="68" name="Google Shape;68;p16" title="Screenshot 2026-05-18 at 22.00.56.png"/>
            <p:cNvPicPr preferRelativeResize="0"/>
            <p:nvPr/>
          </p:nvPicPr>
          <p:blipFill rotWithShape="1">
            <a:blip r:embed="rId3">
              <a:alphaModFix amt="75000"/>
            </a:blip>
            <a:srcRect l="34836" b="-12057"/>
            <a:stretch/>
          </p:blipFill>
          <p:spPr>
            <a:xfrm>
              <a:off x="6548290" y="871088"/>
              <a:ext cx="650400" cy="372800"/>
            </a:xfrm>
            <a:prstGeom prst="rect">
              <a:avLst/>
            </a:prstGeom>
            <a:noFill/>
            <a:ln>
              <a:noFill/>
            </a:ln>
          </p:spPr>
        </p:pic>
      </p:grpSp>
      <p:sp>
        <p:nvSpPr>
          <p:cNvPr id="69" name="Google Shape;69;p16"/>
          <p:cNvSpPr/>
          <p:nvPr/>
        </p:nvSpPr>
        <p:spPr>
          <a:xfrm>
            <a:off x="327043" y="356775"/>
            <a:ext cx="96600" cy="372900"/>
          </a:xfrm>
          <a:prstGeom prst="rect">
            <a:avLst/>
          </a:prstGeom>
          <a:solidFill>
            <a:srgbClr val="517B6C"/>
          </a:solidFill>
          <a:ln w="9525" cap="flat" cmpd="sng">
            <a:solidFill>
              <a:srgbClr val="517B6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Google Shape;64;p16">
            <a:extLst>
              <a:ext uri="{FF2B5EF4-FFF2-40B4-BE49-F238E27FC236}">
                <a16:creationId xmlns:a16="http://schemas.microsoft.com/office/drawing/2014/main" id="{BB889853-7C6E-93DD-54FB-83BB5E1E520D}"/>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sz="1000">
                <a:solidFill>
                  <a:srgbClr val="4F7C6C"/>
                </a:solidFill>
                <a:latin typeface="微软雅黑" panose="020B0503020204020204" pitchFamily="34" charset="-122"/>
                <a:ea typeface="微软雅黑" panose="020B0503020204020204" pitchFamily="34" charset="-122"/>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a:solidFill>
                <a:srgbClr val="4F7C6C"/>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标题幻灯片">
  <p:cSld name="TITLE_AND_BODY_1">
    <p:spTree>
      <p:nvGrpSpPr>
        <p:cNvPr id="1" name="Shape 70"/>
        <p:cNvGrpSpPr/>
        <p:nvPr/>
      </p:nvGrpSpPr>
      <p:grpSpPr>
        <a:xfrm>
          <a:off x="0" y="0"/>
          <a:ext cx="0" cy="0"/>
          <a:chOff x="0" y="0"/>
          <a:chExt cx="0" cy="0"/>
        </a:xfrm>
      </p:grpSpPr>
      <p:pic>
        <p:nvPicPr>
          <p:cNvPr id="73" name="Google Shape;73;p17" title="ChatGPT Image 2026年5月18日 21_59_50 (2).png"/>
          <p:cNvPicPr preferRelativeResize="0"/>
          <p:nvPr/>
        </p:nvPicPr>
        <p:blipFill>
          <a:blip r:embed="rId2">
            <a:alphaModFix amt="60000"/>
          </a:blip>
          <a:stretch>
            <a:fillRect/>
          </a:stretch>
        </p:blipFill>
        <p:spPr>
          <a:xfrm>
            <a:off x="5145124" y="3049025"/>
            <a:ext cx="3998876" cy="2250550"/>
          </a:xfrm>
          <a:prstGeom prst="rect">
            <a:avLst/>
          </a:prstGeom>
          <a:noFill/>
          <a:ln>
            <a:noFill/>
          </a:ln>
        </p:spPr>
      </p:pic>
      <p:sp>
        <p:nvSpPr>
          <p:cNvPr id="71" name="Google Shape;71;p17"/>
          <p:cNvSpPr txBox="1">
            <a:spLocks noGrp="1"/>
          </p:cNvSpPr>
          <p:nvPr>
            <p:ph type="title"/>
          </p:nvPr>
        </p:nvSpPr>
        <p:spPr>
          <a:xfrm>
            <a:off x="417900" y="17503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212725"/>
              </a:buClr>
              <a:buSzPts val="3200"/>
              <a:buNone/>
              <a:defRPr sz="3200" b="1">
                <a:solidFill>
                  <a:srgbClr val="212725"/>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74" name="Google Shape;74;p17"/>
          <p:cNvGrpSpPr/>
          <p:nvPr/>
        </p:nvGrpSpPr>
        <p:grpSpPr>
          <a:xfrm>
            <a:off x="8069947" y="225216"/>
            <a:ext cx="834401" cy="320086"/>
            <a:chOff x="6226875" y="871088"/>
            <a:chExt cx="971816" cy="372800"/>
          </a:xfrm>
        </p:grpSpPr>
        <p:pic>
          <p:nvPicPr>
            <p:cNvPr id="75" name="Google Shape;75;p17" title="Screenshot 2026-05-18 at 22.00.56.png"/>
            <p:cNvPicPr preferRelativeResize="0"/>
            <p:nvPr/>
          </p:nvPicPr>
          <p:blipFill rotWithShape="1">
            <a:blip r:embed="rId3">
              <a:alphaModFix amt="75000"/>
            </a:blip>
            <a:srcRect r="65162"/>
            <a:stretch/>
          </p:blipFill>
          <p:spPr>
            <a:xfrm>
              <a:off x="6226875" y="910849"/>
              <a:ext cx="306550" cy="293275"/>
            </a:xfrm>
            <a:prstGeom prst="rect">
              <a:avLst/>
            </a:prstGeom>
            <a:noFill/>
            <a:ln>
              <a:noFill/>
            </a:ln>
          </p:spPr>
        </p:pic>
        <p:pic>
          <p:nvPicPr>
            <p:cNvPr id="76" name="Google Shape;76;p17" title="Screenshot 2026-05-18 at 22.00.56.png"/>
            <p:cNvPicPr preferRelativeResize="0"/>
            <p:nvPr/>
          </p:nvPicPr>
          <p:blipFill rotWithShape="1">
            <a:blip r:embed="rId3">
              <a:alphaModFix amt="75000"/>
            </a:blip>
            <a:srcRect l="34836" b="-12057"/>
            <a:stretch/>
          </p:blipFill>
          <p:spPr>
            <a:xfrm>
              <a:off x="6548290" y="871088"/>
              <a:ext cx="650400" cy="372800"/>
            </a:xfrm>
            <a:prstGeom prst="rect">
              <a:avLst/>
            </a:prstGeom>
            <a:noFill/>
            <a:ln>
              <a:noFill/>
            </a:ln>
          </p:spPr>
        </p:pic>
      </p:grpSp>
      <p:sp>
        <p:nvSpPr>
          <p:cNvPr id="77" name="Google Shape;77;p17"/>
          <p:cNvSpPr/>
          <p:nvPr/>
        </p:nvSpPr>
        <p:spPr>
          <a:xfrm>
            <a:off x="263404" y="1774200"/>
            <a:ext cx="154500" cy="525000"/>
          </a:xfrm>
          <a:prstGeom prst="rect">
            <a:avLst/>
          </a:prstGeom>
          <a:solidFill>
            <a:srgbClr val="517B6C"/>
          </a:solidFill>
          <a:ln w="9525" cap="flat" cmpd="sng">
            <a:solidFill>
              <a:srgbClr val="517B6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Google Shape;64;p16">
            <a:extLst>
              <a:ext uri="{FF2B5EF4-FFF2-40B4-BE49-F238E27FC236}">
                <a16:creationId xmlns:a16="http://schemas.microsoft.com/office/drawing/2014/main" id="{A43FD957-B331-0621-E0D9-896EADE2C6C1}"/>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0" name="Google Shape;80;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1" name="Google Shape;81;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 name="Google Shape;64;p16">
            <a:extLst>
              <a:ext uri="{FF2B5EF4-FFF2-40B4-BE49-F238E27FC236}">
                <a16:creationId xmlns:a16="http://schemas.microsoft.com/office/drawing/2014/main" id="{09B518D6-17B4-1F99-6C45-7625F575E174}"/>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 name="Google Shape;64;p16">
            <a:extLst>
              <a:ext uri="{FF2B5EF4-FFF2-40B4-BE49-F238E27FC236}">
                <a16:creationId xmlns:a16="http://schemas.microsoft.com/office/drawing/2014/main" id="{26751853-3F74-1F47-3324-CA1FE26BEF21}"/>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sz="1000">
                <a:latin typeface="微软雅黑" panose="020B0503020204020204" pitchFamily="34" charset="-122"/>
                <a:ea typeface="微软雅黑" panose="020B0503020204020204" pitchFamily="34" charset="-122"/>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8" name="Google Shape;88;p2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 name="Google Shape;64;p16">
            <a:extLst>
              <a:ext uri="{FF2B5EF4-FFF2-40B4-BE49-F238E27FC236}">
                <a16:creationId xmlns:a16="http://schemas.microsoft.com/office/drawing/2014/main" id="{3C70EE76-7A48-7ACF-05EF-35AD6DBBD39D}"/>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2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 name="Google Shape;64;p16">
            <a:extLst>
              <a:ext uri="{FF2B5EF4-FFF2-40B4-BE49-F238E27FC236}">
                <a16:creationId xmlns:a16="http://schemas.microsoft.com/office/drawing/2014/main" id="{7C2A018D-E837-BEEE-8A29-3B9D8D90E574}"/>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6" name="Google Shape;96;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p2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 name="Google Shape;64;p16">
            <a:extLst>
              <a:ext uri="{FF2B5EF4-FFF2-40B4-BE49-F238E27FC236}">
                <a16:creationId xmlns:a16="http://schemas.microsoft.com/office/drawing/2014/main" id="{66DCD88F-7746-5933-F6B0-77D536BF87EB}"/>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sp>
        <p:nvSpPr>
          <p:cNvPr id="100" name="Google Shape;100;p2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2" name="Google Shape;64;p16">
            <a:extLst>
              <a:ext uri="{FF2B5EF4-FFF2-40B4-BE49-F238E27FC236}">
                <a16:creationId xmlns:a16="http://schemas.microsoft.com/office/drawing/2014/main" id="{2E2C42A7-983C-C601-166A-C4B8D3A296A8}"/>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4" name="Google Shape;104;p2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 name="Google Shape;64;p16">
            <a:extLst>
              <a:ext uri="{FF2B5EF4-FFF2-40B4-BE49-F238E27FC236}">
                <a16:creationId xmlns:a16="http://schemas.microsoft.com/office/drawing/2014/main" id="{0333DB9C-6FAA-4D23-C94B-E52C88E32502}"/>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2" name="Google Shape;64;p16">
            <a:extLst>
              <a:ext uri="{FF2B5EF4-FFF2-40B4-BE49-F238E27FC236}">
                <a16:creationId xmlns:a16="http://schemas.microsoft.com/office/drawing/2014/main" id="{38E9F35D-E46E-1086-ED5E-BD37397933BE}"/>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标题页" type="tx">
  <p:cSld name="TITLE_AND_BODY">
    <p:spTree>
      <p:nvGrpSpPr>
        <p:cNvPr id="1" name="Shape 170"/>
        <p:cNvGrpSpPr/>
        <p:nvPr/>
      </p:nvGrpSpPr>
      <p:grpSpPr>
        <a:xfrm>
          <a:off x="0" y="0"/>
          <a:ext cx="0" cy="0"/>
          <a:chOff x="0" y="0"/>
          <a:chExt cx="0" cy="0"/>
        </a:xfrm>
      </p:grpSpPr>
      <p:pic>
        <p:nvPicPr>
          <p:cNvPr id="174" name="Google Shape;174;p40" title="ChatGPT Image 2026年5月18日 21_59_50 (2).png"/>
          <p:cNvPicPr preferRelativeResize="0"/>
          <p:nvPr/>
        </p:nvPicPr>
        <p:blipFill rotWithShape="1">
          <a:blip r:embed="rId2">
            <a:alphaModFix amt="60000"/>
          </a:blip>
          <a:srcRect/>
          <a:stretch/>
        </p:blipFill>
        <p:spPr>
          <a:xfrm>
            <a:off x="5145124" y="3049025"/>
            <a:ext cx="3998876" cy="2250550"/>
          </a:xfrm>
          <a:prstGeom prst="rect">
            <a:avLst/>
          </a:prstGeom>
          <a:noFill/>
          <a:ln>
            <a:noFill/>
          </a:ln>
        </p:spPr>
      </p:pic>
      <p:sp>
        <p:nvSpPr>
          <p:cNvPr id="171" name="Google Shape;171;p40"/>
          <p:cNvSpPr txBox="1">
            <a:spLocks noGrp="1"/>
          </p:cNvSpPr>
          <p:nvPr>
            <p:ph type="title"/>
          </p:nvPr>
        </p:nvSpPr>
        <p:spPr>
          <a:xfrm>
            <a:off x="423650" y="256875"/>
            <a:ext cx="8520600" cy="5727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Clr>
                <a:srgbClr val="212725"/>
              </a:buClr>
              <a:buSzPts val="1900"/>
              <a:buNone/>
              <a:defRPr sz="2500" b="1">
                <a:solidFill>
                  <a:srgbClr val="212725"/>
                </a:solidFill>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72" name="Google Shape;172;p40"/>
          <p:cNvSpPr txBox="1">
            <a:spLocks noGrp="1"/>
          </p:cNvSpPr>
          <p:nvPr>
            <p:ph type="body" idx="1"/>
          </p:nvPr>
        </p:nvSpPr>
        <p:spPr>
          <a:xfrm>
            <a:off x="311700" y="1152475"/>
            <a:ext cx="8520600" cy="3416400"/>
          </a:xfrm>
          <a:prstGeom prst="rect">
            <a:avLst/>
          </a:prstGeom>
          <a:noFill/>
          <a:ln>
            <a:noFill/>
          </a:ln>
        </p:spPr>
        <p:txBody>
          <a:bodyPr spcFirstLastPara="1" wrap="square" lIns="68575" tIns="68575" rIns="68575" bIns="68575" anchor="t" anchorCtr="0">
            <a:normAutofit/>
          </a:bodyPr>
          <a:lstStyle>
            <a:lvl1pPr marL="457200" lvl="0" indent="-317500" algn="l">
              <a:lnSpc>
                <a:spcPct val="115000"/>
              </a:lnSpc>
              <a:spcBef>
                <a:spcPts val="0"/>
              </a:spcBef>
              <a:spcAft>
                <a:spcPts val="0"/>
              </a:spcAft>
              <a:buSzPts val="14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dirty="0"/>
          </a:p>
        </p:txBody>
      </p:sp>
      <p:grpSp>
        <p:nvGrpSpPr>
          <p:cNvPr id="175" name="Google Shape;175;p40"/>
          <p:cNvGrpSpPr/>
          <p:nvPr/>
        </p:nvGrpSpPr>
        <p:grpSpPr>
          <a:xfrm>
            <a:off x="8069948" y="225216"/>
            <a:ext cx="834400" cy="320086"/>
            <a:chOff x="6226875" y="871088"/>
            <a:chExt cx="971815" cy="372800"/>
          </a:xfrm>
        </p:grpSpPr>
        <p:pic>
          <p:nvPicPr>
            <p:cNvPr id="176" name="Google Shape;176;p40" title="Screenshot 2026-05-18 at 22.00.56.png"/>
            <p:cNvPicPr preferRelativeResize="0"/>
            <p:nvPr/>
          </p:nvPicPr>
          <p:blipFill rotWithShape="1">
            <a:blip r:embed="rId3">
              <a:alphaModFix amt="75000"/>
            </a:blip>
            <a:srcRect r="65162"/>
            <a:stretch/>
          </p:blipFill>
          <p:spPr>
            <a:xfrm>
              <a:off x="6226875" y="910849"/>
              <a:ext cx="306550" cy="293275"/>
            </a:xfrm>
            <a:prstGeom prst="rect">
              <a:avLst/>
            </a:prstGeom>
            <a:noFill/>
            <a:ln>
              <a:noFill/>
            </a:ln>
          </p:spPr>
        </p:pic>
        <p:pic>
          <p:nvPicPr>
            <p:cNvPr id="177" name="Google Shape;177;p40" title="Screenshot 2026-05-18 at 22.00.56.png"/>
            <p:cNvPicPr preferRelativeResize="0"/>
            <p:nvPr/>
          </p:nvPicPr>
          <p:blipFill rotWithShape="1">
            <a:blip r:embed="rId3">
              <a:alphaModFix amt="75000"/>
            </a:blip>
            <a:srcRect l="34836" b="-12057"/>
            <a:stretch/>
          </p:blipFill>
          <p:spPr>
            <a:xfrm>
              <a:off x="6548290" y="871088"/>
              <a:ext cx="650400" cy="372800"/>
            </a:xfrm>
            <a:prstGeom prst="rect">
              <a:avLst/>
            </a:prstGeom>
            <a:noFill/>
            <a:ln>
              <a:noFill/>
            </a:ln>
          </p:spPr>
        </p:pic>
      </p:grpSp>
      <p:sp>
        <p:nvSpPr>
          <p:cNvPr id="178" name="Google Shape;178;p40"/>
          <p:cNvSpPr/>
          <p:nvPr/>
        </p:nvSpPr>
        <p:spPr>
          <a:xfrm>
            <a:off x="327043" y="356775"/>
            <a:ext cx="96600" cy="372900"/>
          </a:xfrm>
          <a:prstGeom prst="rect">
            <a:avLst/>
          </a:prstGeom>
          <a:solidFill>
            <a:srgbClr val="517B6C"/>
          </a:solidFill>
          <a:ln w="9525" cap="flat" cmpd="sng">
            <a:solidFill>
              <a:srgbClr val="517B6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5" name="Google Shape;64;p16">
            <a:extLst>
              <a:ext uri="{FF2B5EF4-FFF2-40B4-BE49-F238E27FC236}">
                <a16:creationId xmlns:a16="http://schemas.microsoft.com/office/drawing/2014/main" id="{3196E472-4900-F2FE-BA36-F84D5421651F}"/>
              </a:ext>
            </a:extLst>
          </p:cNvPr>
          <p:cNvSpPr txBox="1">
            <a:spLocks/>
          </p:cNvSpPr>
          <p:nvPr userDrawn="1"/>
        </p:nvSpPr>
        <p:spPr>
          <a:xfrm>
            <a:off x="7971063" y="4646225"/>
            <a:ext cx="861237" cy="28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lang="en-US" altLang="zh-CN" sz="1000" b="0" i="0" u="none" strike="noStrike" cap="none" smtClean="0">
                <a:solidFill>
                  <a:schemeClr val="bg1">
                    <a:lumMod val="50000"/>
                  </a:schemeClr>
                </a:solidFill>
                <a:latin typeface="微软雅黑" panose="020B0503020204020204" pitchFamily="34" charset="-122"/>
                <a:ea typeface="微软雅黑" panose="020B0503020204020204" pitchFamily="34" charset="-122"/>
                <a:cs typeface="Arial"/>
                <a:sym typeface="Arial"/>
              </a:defRPr>
            </a:lvl1pPr>
            <a:lvl2pPr marR="0" lvl="1"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algn="r"/>
            <a:r>
              <a:rPr lang="zh-CN" altLang="en-US" dirty="0"/>
              <a:t> </a:t>
            </a:r>
            <a:fld id="{00000000-1234-1234-1234-123412341234}" type="slidenum">
              <a:rPr smtClean="0"/>
              <a:pPr algn="r"/>
              <a:t>‹#›</a:t>
            </a:fld>
            <a:r>
              <a:rPr dirty="0"/>
              <a:t> / 27</a:t>
            </a:r>
            <a:r>
              <a:rPr lang="zh-CN" altLang="en-US" dirty="0"/>
              <a:t> </a:t>
            </a:r>
            <a:endParaRPr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标题页" type="tx">
  <p:cSld name="TITLE_AND_BODY">
    <p:spTree>
      <p:nvGrpSpPr>
        <p:cNvPr id="1" name="Shape 170"/>
        <p:cNvGrpSpPr/>
        <p:nvPr/>
      </p:nvGrpSpPr>
      <p:grpSpPr>
        <a:xfrm>
          <a:off x="0" y="0"/>
          <a:ext cx="0" cy="0"/>
          <a:chOff x="0" y="0"/>
          <a:chExt cx="0" cy="0"/>
        </a:xfrm>
      </p:grpSpPr>
      <p:pic>
        <p:nvPicPr>
          <p:cNvPr id="174" name="Google Shape;174;p40" title="ChatGPT Image 2026年5月18日 21_59_50 (2).png"/>
          <p:cNvPicPr preferRelativeResize="0"/>
          <p:nvPr/>
        </p:nvPicPr>
        <p:blipFill rotWithShape="1">
          <a:blip r:embed="rId2">
            <a:alphaModFix amt="60000"/>
          </a:blip>
          <a:srcRect/>
          <a:stretch/>
        </p:blipFill>
        <p:spPr>
          <a:xfrm>
            <a:off x="5145124" y="3049025"/>
            <a:ext cx="3998876" cy="2250550"/>
          </a:xfrm>
          <a:prstGeom prst="rect">
            <a:avLst/>
          </a:prstGeom>
          <a:noFill/>
          <a:ln>
            <a:noFill/>
          </a:ln>
        </p:spPr>
      </p:pic>
      <p:sp>
        <p:nvSpPr>
          <p:cNvPr id="171" name="Google Shape;171;p40"/>
          <p:cNvSpPr txBox="1">
            <a:spLocks noGrp="1"/>
          </p:cNvSpPr>
          <p:nvPr>
            <p:ph type="title"/>
          </p:nvPr>
        </p:nvSpPr>
        <p:spPr>
          <a:xfrm>
            <a:off x="423650" y="256875"/>
            <a:ext cx="8520600" cy="5727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Clr>
                <a:srgbClr val="212725"/>
              </a:buClr>
              <a:buSzPts val="1900"/>
              <a:buNone/>
              <a:defRPr sz="2500" b="1">
                <a:solidFill>
                  <a:srgbClr val="212725"/>
                </a:solidFill>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72" name="Google Shape;172;p40"/>
          <p:cNvSpPr txBox="1">
            <a:spLocks noGrp="1"/>
          </p:cNvSpPr>
          <p:nvPr>
            <p:ph type="body" idx="1"/>
          </p:nvPr>
        </p:nvSpPr>
        <p:spPr>
          <a:xfrm>
            <a:off x="311700" y="1152475"/>
            <a:ext cx="8520600" cy="3416400"/>
          </a:xfrm>
          <a:prstGeom prst="rect">
            <a:avLst/>
          </a:prstGeom>
          <a:noFill/>
          <a:ln>
            <a:noFill/>
          </a:ln>
        </p:spPr>
        <p:txBody>
          <a:bodyPr spcFirstLastPara="1" wrap="square" lIns="68575" tIns="68575" rIns="68575" bIns="68575" anchor="t" anchorCtr="0">
            <a:normAutofit/>
          </a:bodyPr>
          <a:lstStyle>
            <a:lvl1pPr marL="457200" lvl="0" indent="-317500" algn="l">
              <a:lnSpc>
                <a:spcPct val="115000"/>
              </a:lnSpc>
              <a:spcBef>
                <a:spcPts val="0"/>
              </a:spcBef>
              <a:spcAft>
                <a:spcPts val="0"/>
              </a:spcAft>
              <a:buSzPts val="14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grpSp>
        <p:nvGrpSpPr>
          <p:cNvPr id="175" name="Google Shape;175;p40"/>
          <p:cNvGrpSpPr/>
          <p:nvPr/>
        </p:nvGrpSpPr>
        <p:grpSpPr>
          <a:xfrm>
            <a:off x="8069948" y="225216"/>
            <a:ext cx="834400" cy="320086"/>
            <a:chOff x="6226875" y="871088"/>
            <a:chExt cx="971815" cy="372800"/>
          </a:xfrm>
        </p:grpSpPr>
        <p:pic>
          <p:nvPicPr>
            <p:cNvPr id="176" name="Google Shape;176;p40" title="Screenshot 2026-05-18 at 22.00.56.png"/>
            <p:cNvPicPr preferRelativeResize="0"/>
            <p:nvPr/>
          </p:nvPicPr>
          <p:blipFill rotWithShape="1">
            <a:blip r:embed="rId3">
              <a:alphaModFix amt="75000"/>
            </a:blip>
            <a:srcRect r="65162"/>
            <a:stretch/>
          </p:blipFill>
          <p:spPr>
            <a:xfrm>
              <a:off x="6226875" y="910849"/>
              <a:ext cx="306550" cy="293275"/>
            </a:xfrm>
            <a:prstGeom prst="rect">
              <a:avLst/>
            </a:prstGeom>
            <a:noFill/>
            <a:ln>
              <a:noFill/>
            </a:ln>
          </p:spPr>
        </p:pic>
        <p:pic>
          <p:nvPicPr>
            <p:cNvPr id="177" name="Google Shape;177;p40" title="Screenshot 2026-05-18 at 22.00.56.png"/>
            <p:cNvPicPr preferRelativeResize="0"/>
            <p:nvPr/>
          </p:nvPicPr>
          <p:blipFill rotWithShape="1">
            <a:blip r:embed="rId3">
              <a:alphaModFix amt="75000"/>
            </a:blip>
            <a:srcRect l="34836" b="-12057"/>
            <a:stretch/>
          </p:blipFill>
          <p:spPr>
            <a:xfrm>
              <a:off x="6548290" y="871088"/>
              <a:ext cx="650400" cy="372800"/>
            </a:xfrm>
            <a:prstGeom prst="rect">
              <a:avLst/>
            </a:prstGeom>
            <a:noFill/>
            <a:ln>
              <a:noFill/>
            </a:ln>
          </p:spPr>
        </p:pic>
      </p:grpSp>
      <p:sp>
        <p:nvSpPr>
          <p:cNvPr id="178" name="Google Shape;178;p40"/>
          <p:cNvSpPr/>
          <p:nvPr/>
        </p:nvSpPr>
        <p:spPr>
          <a:xfrm>
            <a:off x="327043" y="356775"/>
            <a:ext cx="96600" cy="372900"/>
          </a:xfrm>
          <a:prstGeom prst="rect">
            <a:avLst/>
          </a:prstGeom>
          <a:solidFill>
            <a:srgbClr val="517B6C"/>
          </a:solidFill>
          <a:ln w="9525" cap="flat" cmpd="sng">
            <a:solidFill>
              <a:srgbClr val="517B6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3" name="Google Shape;64;p16">
            <a:extLst>
              <a:ext uri="{FF2B5EF4-FFF2-40B4-BE49-F238E27FC236}">
                <a16:creationId xmlns:a16="http://schemas.microsoft.com/office/drawing/2014/main" id="{07AA3A09-3525-F241-F05E-84E532786194}"/>
              </a:ext>
            </a:extLst>
          </p:cNvPr>
          <p:cNvSpPr txBox="1">
            <a:spLocks/>
          </p:cNvSpPr>
          <p:nvPr userDrawn="1"/>
        </p:nvSpPr>
        <p:spPr>
          <a:xfrm>
            <a:off x="8180350" y="4646225"/>
            <a:ext cx="651950" cy="28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lang="en-US" altLang="zh-CN" sz="1000" b="0" i="0" u="none" strike="noStrike" cap="none" smtClean="0">
                <a:solidFill>
                  <a:schemeClr val="bg1">
                    <a:lumMod val="50000"/>
                  </a:schemeClr>
                </a:solidFill>
                <a:latin typeface="微软雅黑" panose="020B0503020204020204" pitchFamily="34" charset="-122"/>
                <a:ea typeface="微软雅黑" panose="020B0503020204020204" pitchFamily="34" charset="-122"/>
                <a:cs typeface="Arial"/>
                <a:sym typeface="Arial"/>
              </a:defRPr>
            </a:lvl1pPr>
            <a:lvl2pPr marR="0" lvl="1"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algn="r"/>
            <a:fld id="{00000000-1234-1234-1234-123412341234}" type="slidenum">
              <a:rPr lang="en-US" altLang="zh-CN" smtClean="0"/>
              <a:pPr algn="r"/>
              <a:t>‹#›</a:t>
            </a:fld>
            <a:r>
              <a:rPr lang="zh-CN" altLang="en-US" dirty="0"/>
              <a:t> </a:t>
            </a:r>
            <a:r>
              <a:rPr lang="en-US" altLang="zh-CN" dirty="0"/>
              <a:t>/ 27</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3"/>
        <p:cNvGrpSpPr/>
        <p:nvPr/>
      </p:nvGrpSpPr>
      <p:grpSpPr>
        <a:xfrm>
          <a:off x="0" y="0"/>
          <a:ext cx="0" cy="0"/>
          <a:chOff x="0" y="0"/>
          <a:chExt cx="0" cy="0"/>
        </a:xfrm>
      </p:grpSpPr>
      <p:sp>
        <p:nvSpPr>
          <p:cNvPr id="184" name="Google Shape;184;p42"/>
          <p:cNvSpPr txBox="1">
            <a:spLocks noGrp="1"/>
          </p:cNvSpPr>
          <p:nvPr>
            <p:ph type="title"/>
          </p:nvPr>
        </p:nvSpPr>
        <p:spPr>
          <a:xfrm>
            <a:off x="311700" y="2150850"/>
            <a:ext cx="8520600" cy="841800"/>
          </a:xfrm>
          <a:prstGeom prst="rect">
            <a:avLst/>
          </a:prstGeom>
          <a:noFill/>
          <a:ln>
            <a:noFill/>
          </a:ln>
        </p:spPr>
        <p:txBody>
          <a:bodyPr spcFirstLastPara="1" wrap="square" lIns="68575" tIns="68575" rIns="68575" bIns="68575" anchor="ctr" anchorCtr="0">
            <a:normAutofit/>
          </a:bodyPr>
          <a:lstStyle>
            <a:lvl1pPr lvl="0" algn="ctr">
              <a:lnSpc>
                <a:spcPct val="100000"/>
              </a:lnSpc>
              <a:spcBef>
                <a:spcPts val="0"/>
              </a:spcBef>
              <a:spcAft>
                <a:spcPts val="0"/>
              </a:spcAft>
              <a:buSzPts val="2700"/>
              <a:buNone/>
              <a:defRPr sz="3600"/>
            </a:lvl1pPr>
            <a:lvl2pPr lvl="1" algn="ctr">
              <a:lnSpc>
                <a:spcPct val="100000"/>
              </a:lnSpc>
              <a:spcBef>
                <a:spcPts val="0"/>
              </a:spcBef>
              <a:spcAft>
                <a:spcPts val="0"/>
              </a:spcAft>
              <a:buSzPts val="2700"/>
              <a:buNone/>
              <a:defRPr sz="3600"/>
            </a:lvl2pPr>
            <a:lvl3pPr lvl="2" algn="ctr">
              <a:lnSpc>
                <a:spcPct val="100000"/>
              </a:lnSpc>
              <a:spcBef>
                <a:spcPts val="0"/>
              </a:spcBef>
              <a:spcAft>
                <a:spcPts val="0"/>
              </a:spcAft>
              <a:buSzPts val="2700"/>
              <a:buNone/>
              <a:defRPr sz="3600"/>
            </a:lvl3pPr>
            <a:lvl4pPr lvl="3" algn="ctr">
              <a:lnSpc>
                <a:spcPct val="100000"/>
              </a:lnSpc>
              <a:spcBef>
                <a:spcPts val="0"/>
              </a:spcBef>
              <a:spcAft>
                <a:spcPts val="0"/>
              </a:spcAft>
              <a:buSzPts val="2700"/>
              <a:buNone/>
              <a:defRPr sz="3600"/>
            </a:lvl4pPr>
            <a:lvl5pPr lvl="4" algn="ctr">
              <a:lnSpc>
                <a:spcPct val="100000"/>
              </a:lnSpc>
              <a:spcBef>
                <a:spcPts val="0"/>
              </a:spcBef>
              <a:spcAft>
                <a:spcPts val="0"/>
              </a:spcAft>
              <a:buSzPts val="2700"/>
              <a:buNone/>
              <a:defRPr sz="3600"/>
            </a:lvl5pPr>
            <a:lvl6pPr lvl="5" algn="ctr">
              <a:lnSpc>
                <a:spcPct val="100000"/>
              </a:lnSpc>
              <a:spcBef>
                <a:spcPts val="0"/>
              </a:spcBef>
              <a:spcAft>
                <a:spcPts val="0"/>
              </a:spcAft>
              <a:buSzPts val="2700"/>
              <a:buNone/>
              <a:defRPr sz="3600"/>
            </a:lvl6pPr>
            <a:lvl7pPr lvl="6" algn="ctr">
              <a:lnSpc>
                <a:spcPct val="100000"/>
              </a:lnSpc>
              <a:spcBef>
                <a:spcPts val="0"/>
              </a:spcBef>
              <a:spcAft>
                <a:spcPts val="0"/>
              </a:spcAft>
              <a:buSzPts val="2700"/>
              <a:buNone/>
              <a:defRPr sz="3600"/>
            </a:lvl7pPr>
            <a:lvl8pPr lvl="7" algn="ctr">
              <a:lnSpc>
                <a:spcPct val="100000"/>
              </a:lnSpc>
              <a:spcBef>
                <a:spcPts val="0"/>
              </a:spcBef>
              <a:spcAft>
                <a:spcPts val="0"/>
              </a:spcAft>
              <a:buSzPts val="2700"/>
              <a:buNone/>
              <a:defRPr sz="3600"/>
            </a:lvl8pPr>
            <a:lvl9pPr lvl="8" algn="ctr">
              <a:lnSpc>
                <a:spcPct val="100000"/>
              </a:lnSpc>
              <a:spcBef>
                <a:spcPts val="0"/>
              </a:spcBef>
              <a:spcAft>
                <a:spcPts val="0"/>
              </a:spcAft>
              <a:buSzPts val="2700"/>
              <a:buNone/>
              <a:defRPr sz="3600"/>
            </a:lvl9pPr>
          </a:lstStyle>
          <a:p>
            <a:endParaRPr/>
          </a:p>
        </p:txBody>
      </p:sp>
      <p:sp>
        <p:nvSpPr>
          <p:cNvPr id="2" name="Google Shape;64;p16">
            <a:extLst>
              <a:ext uri="{FF2B5EF4-FFF2-40B4-BE49-F238E27FC236}">
                <a16:creationId xmlns:a16="http://schemas.microsoft.com/office/drawing/2014/main" id="{DC561B8B-4CF9-D7A4-B315-C7D3E396CB7E}"/>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标题幻灯片">
  <p:cSld name="标题幻灯片">
    <p:spTree>
      <p:nvGrpSpPr>
        <p:cNvPr id="1" name="Shape 186"/>
        <p:cNvGrpSpPr/>
        <p:nvPr/>
      </p:nvGrpSpPr>
      <p:grpSpPr>
        <a:xfrm>
          <a:off x="0" y="0"/>
          <a:ext cx="0" cy="0"/>
          <a:chOff x="0" y="0"/>
          <a:chExt cx="0" cy="0"/>
        </a:xfrm>
      </p:grpSpPr>
      <p:pic>
        <p:nvPicPr>
          <p:cNvPr id="189" name="Google Shape;189;p43" title="ChatGPT Image 2026年5月18日 21_59_50 (2).png"/>
          <p:cNvPicPr preferRelativeResize="0"/>
          <p:nvPr/>
        </p:nvPicPr>
        <p:blipFill rotWithShape="1">
          <a:blip r:embed="rId2">
            <a:alphaModFix amt="60000"/>
          </a:blip>
          <a:srcRect/>
          <a:stretch/>
        </p:blipFill>
        <p:spPr>
          <a:xfrm>
            <a:off x="5145124" y="3049025"/>
            <a:ext cx="3998876" cy="2250550"/>
          </a:xfrm>
          <a:prstGeom prst="rect">
            <a:avLst/>
          </a:prstGeom>
          <a:noFill/>
          <a:ln>
            <a:noFill/>
          </a:ln>
        </p:spPr>
      </p:pic>
      <p:sp>
        <p:nvSpPr>
          <p:cNvPr id="187" name="Google Shape;187;p43"/>
          <p:cNvSpPr txBox="1">
            <a:spLocks noGrp="1"/>
          </p:cNvSpPr>
          <p:nvPr>
            <p:ph type="title"/>
          </p:nvPr>
        </p:nvSpPr>
        <p:spPr>
          <a:xfrm>
            <a:off x="417900" y="1750350"/>
            <a:ext cx="8520600" cy="5727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Clr>
                <a:srgbClr val="212725"/>
              </a:buClr>
              <a:buSzPts val="2400"/>
              <a:buNone/>
              <a:defRPr sz="3200" b="1">
                <a:solidFill>
                  <a:srgbClr val="212725"/>
                </a:solidFill>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grpSp>
        <p:nvGrpSpPr>
          <p:cNvPr id="190" name="Google Shape;190;p43"/>
          <p:cNvGrpSpPr/>
          <p:nvPr/>
        </p:nvGrpSpPr>
        <p:grpSpPr>
          <a:xfrm>
            <a:off x="8069948" y="225216"/>
            <a:ext cx="834400" cy="320086"/>
            <a:chOff x="6226875" y="871088"/>
            <a:chExt cx="971815" cy="372800"/>
          </a:xfrm>
        </p:grpSpPr>
        <p:pic>
          <p:nvPicPr>
            <p:cNvPr id="191" name="Google Shape;191;p43" title="Screenshot 2026-05-18 at 22.00.56.png"/>
            <p:cNvPicPr preferRelativeResize="0"/>
            <p:nvPr/>
          </p:nvPicPr>
          <p:blipFill rotWithShape="1">
            <a:blip r:embed="rId3">
              <a:alphaModFix amt="75000"/>
            </a:blip>
            <a:srcRect r="65162"/>
            <a:stretch/>
          </p:blipFill>
          <p:spPr>
            <a:xfrm>
              <a:off x="6226875" y="910849"/>
              <a:ext cx="306550" cy="293275"/>
            </a:xfrm>
            <a:prstGeom prst="rect">
              <a:avLst/>
            </a:prstGeom>
            <a:noFill/>
            <a:ln>
              <a:noFill/>
            </a:ln>
          </p:spPr>
        </p:pic>
        <p:pic>
          <p:nvPicPr>
            <p:cNvPr id="192" name="Google Shape;192;p43" title="Screenshot 2026-05-18 at 22.00.56.png"/>
            <p:cNvPicPr preferRelativeResize="0"/>
            <p:nvPr/>
          </p:nvPicPr>
          <p:blipFill rotWithShape="1">
            <a:blip r:embed="rId3">
              <a:alphaModFix amt="75000"/>
            </a:blip>
            <a:srcRect l="34836" b="-12057"/>
            <a:stretch/>
          </p:blipFill>
          <p:spPr>
            <a:xfrm>
              <a:off x="6548290" y="871088"/>
              <a:ext cx="650400" cy="372800"/>
            </a:xfrm>
            <a:prstGeom prst="rect">
              <a:avLst/>
            </a:prstGeom>
            <a:noFill/>
            <a:ln>
              <a:noFill/>
            </a:ln>
          </p:spPr>
        </p:pic>
      </p:grpSp>
      <p:sp>
        <p:nvSpPr>
          <p:cNvPr id="193" name="Google Shape;193;p43"/>
          <p:cNvSpPr/>
          <p:nvPr/>
        </p:nvSpPr>
        <p:spPr>
          <a:xfrm>
            <a:off x="263404" y="1774200"/>
            <a:ext cx="154500" cy="525000"/>
          </a:xfrm>
          <a:prstGeom prst="rect">
            <a:avLst/>
          </a:prstGeom>
          <a:solidFill>
            <a:srgbClr val="517B6C"/>
          </a:solidFill>
          <a:ln w="9525" cap="flat" cmpd="sng">
            <a:solidFill>
              <a:srgbClr val="517B6C"/>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Microsoft Yahei"/>
              <a:ea typeface="Microsoft Yahei"/>
              <a:cs typeface="Microsoft Yahei"/>
              <a:sym typeface="Microsoft Yahei"/>
            </a:endParaRPr>
          </a:p>
        </p:txBody>
      </p:sp>
      <p:sp>
        <p:nvSpPr>
          <p:cNvPr id="2" name="Google Shape;64;p16">
            <a:extLst>
              <a:ext uri="{FF2B5EF4-FFF2-40B4-BE49-F238E27FC236}">
                <a16:creationId xmlns:a16="http://schemas.microsoft.com/office/drawing/2014/main" id="{5122B578-D2D7-5286-F928-07D0921DF666}"/>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4"/>
        <p:cNvGrpSpPr/>
        <p:nvPr/>
      </p:nvGrpSpPr>
      <p:grpSpPr>
        <a:xfrm>
          <a:off x="0" y="0"/>
          <a:ext cx="0" cy="0"/>
          <a:chOff x="0" y="0"/>
          <a:chExt cx="0" cy="0"/>
        </a:xfrm>
      </p:grpSpPr>
      <p:sp>
        <p:nvSpPr>
          <p:cNvPr id="195" name="Google Shape;195;p44"/>
          <p:cNvSpPr txBox="1">
            <a:spLocks noGrp="1"/>
          </p:cNvSpPr>
          <p:nvPr>
            <p:ph type="title"/>
          </p:nvPr>
        </p:nvSpPr>
        <p:spPr>
          <a:xfrm>
            <a:off x="311700" y="445025"/>
            <a:ext cx="8520600" cy="5727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96" name="Google Shape;196;p44"/>
          <p:cNvSpPr txBox="1">
            <a:spLocks noGrp="1"/>
          </p:cNvSpPr>
          <p:nvPr>
            <p:ph type="body" idx="1"/>
          </p:nvPr>
        </p:nvSpPr>
        <p:spPr>
          <a:xfrm>
            <a:off x="311700" y="1152475"/>
            <a:ext cx="3999900" cy="3416400"/>
          </a:xfrm>
          <a:prstGeom prst="rect">
            <a:avLst/>
          </a:prstGeom>
          <a:noFill/>
          <a:ln>
            <a:noFill/>
          </a:ln>
        </p:spPr>
        <p:txBody>
          <a:bodyPr spcFirstLastPara="1" wrap="square" lIns="68575" tIns="68575" rIns="68575" bIns="68575" anchor="t" anchorCtr="0">
            <a:normAutofit/>
          </a:bodyPr>
          <a:lstStyle>
            <a:lvl1pPr marL="457200" lvl="0" indent="-298450" algn="l">
              <a:lnSpc>
                <a:spcPct val="115000"/>
              </a:lnSpc>
              <a:spcBef>
                <a:spcPts val="0"/>
              </a:spcBef>
              <a:spcAft>
                <a:spcPts val="0"/>
              </a:spcAft>
              <a:buSzPts val="1100"/>
              <a:buChar char="●"/>
              <a:defRPr sz="14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SzPts val="900"/>
              <a:buChar char="■"/>
              <a:defRPr sz="1200"/>
            </a:lvl3pPr>
            <a:lvl4pPr marL="1828800" lvl="3" indent="-285750" algn="l">
              <a:lnSpc>
                <a:spcPct val="115000"/>
              </a:lnSpc>
              <a:spcBef>
                <a:spcPts val="0"/>
              </a:spcBef>
              <a:spcAft>
                <a:spcPts val="0"/>
              </a:spcAft>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197" name="Google Shape;197;p44"/>
          <p:cNvSpPr txBox="1">
            <a:spLocks noGrp="1"/>
          </p:cNvSpPr>
          <p:nvPr>
            <p:ph type="body" idx="2"/>
          </p:nvPr>
        </p:nvSpPr>
        <p:spPr>
          <a:xfrm>
            <a:off x="4832400" y="1152475"/>
            <a:ext cx="3999900" cy="3416400"/>
          </a:xfrm>
          <a:prstGeom prst="rect">
            <a:avLst/>
          </a:prstGeom>
          <a:noFill/>
          <a:ln>
            <a:noFill/>
          </a:ln>
        </p:spPr>
        <p:txBody>
          <a:bodyPr spcFirstLastPara="1" wrap="square" lIns="68575" tIns="68575" rIns="68575" bIns="68575" anchor="t" anchorCtr="0">
            <a:normAutofit/>
          </a:bodyPr>
          <a:lstStyle>
            <a:lvl1pPr marL="457200" lvl="0" indent="-298450" algn="l">
              <a:lnSpc>
                <a:spcPct val="115000"/>
              </a:lnSpc>
              <a:spcBef>
                <a:spcPts val="0"/>
              </a:spcBef>
              <a:spcAft>
                <a:spcPts val="0"/>
              </a:spcAft>
              <a:buSzPts val="1100"/>
              <a:buChar char="●"/>
              <a:defRPr sz="14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SzPts val="900"/>
              <a:buChar char="■"/>
              <a:defRPr sz="1200"/>
            </a:lvl3pPr>
            <a:lvl4pPr marL="1828800" lvl="3" indent="-285750" algn="l">
              <a:lnSpc>
                <a:spcPct val="115000"/>
              </a:lnSpc>
              <a:spcBef>
                <a:spcPts val="0"/>
              </a:spcBef>
              <a:spcAft>
                <a:spcPts val="0"/>
              </a:spcAft>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2" name="Google Shape;64;p16">
            <a:extLst>
              <a:ext uri="{FF2B5EF4-FFF2-40B4-BE49-F238E27FC236}">
                <a16:creationId xmlns:a16="http://schemas.microsoft.com/office/drawing/2014/main" id="{865B11B4-9163-04D4-5A17-55668B18E585}"/>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p45"/>
          <p:cNvSpPr txBox="1">
            <a:spLocks noGrp="1"/>
          </p:cNvSpPr>
          <p:nvPr>
            <p:ph type="title"/>
          </p:nvPr>
        </p:nvSpPr>
        <p:spPr>
          <a:xfrm>
            <a:off x="311700" y="445025"/>
            <a:ext cx="8520600" cy="5727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2" name="Google Shape;64;p16">
            <a:extLst>
              <a:ext uri="{FF2B5EF4-FFF2-40B4-BE49-F238E27FC236}">
                <a16:creationId xmlns:a16="http://schemas.microsoft.com/office/drawing/2014/main" id="{E347408D-B32F-EE59-2D7B-554F3A18470F}"/>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02"/>
        <p:cNvGrpSpPr/>
        <p:nvPr/>
      </p:nvGrpSpPr>
      <p:grpSpPr>
        <a:xfrm>
          <a:off x="0" y="0"/>
          <a:ext cx="0" cy="0"/>
          <a:chOff x="0" y="0"/>
          <a:chExt cx="0" cy="0"/>
        </a:xfrm>
      </p:grpSpPr>
      <p:sp>
        <p:nvSpPr>
          <p:cNvPr id="203" name="Google Shape;203;p46"/>
          <p:cNvSpPr txBox="1">
            <a:spLocks noGrp="1"/>
          </p:cNvSpPr>
          <p:nvPr>
            <p:ph type="title"/>
          </p:nvPr>
        </p:nvSpPr>
        <p:spPr>
          <a:xfrm>
            <a:off x="311700" y="555600"/>
            <a:ext cx="2808000" cy="755700"/>
          </a:xfrm>
          <a:prstGeom prst="rect">
            <a:avLst/>
          </a:prstGeom>
          <a:noFill/>
          <a:ln>
            <a:noFill/>
          </a:ln>
        </p:spPr>
        <p:txBody>
          <a:bodyPr spcFirstLastPara="1" wrap="square" lIns="68575" tIns="68575" rIns="68575" bIns="68575" anchor="b" anchorCtr="0">
            <a:normAutofit/>
          </a:bodyPr>
          <a:lstStyle>
            <a:lvl1pPr lvl="0" algn="l">
              <a:lnSpc>
                <a:spcPct val="100000"/>
              </a:lnSpc>
              <a:spcBef>
                <a:spcPts val="0"/>
              </a:spcBef>
              <a:spcAft>
                <a:spcPts val="0"/>
              </a:spcAft>
              <a:buSzPts val="1800"/>
              <a:buNone/>
              <a:defRPr sz="2400"/>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a:endParaRPr/>
          </a:p>
        </p:txBody>
      </p:sp>
      <p:sp>
        <p:nvSpPr>
          <p:cNvPr id="204" name="Google Shape;204;p46"/>
          <p:cNvSpPr txBox="1">
            <a:spLocks noGrp="1"/>
          </p:cNvSpPr>
          <p:nvPr>
            <p:ph type="body" idx="1"/>
          </p:nvPr>
        </p:nvSpPr>
        <p:spPr>
          <a:xfrm>
            <a:off x="311700" y="1389600"/>
            <a:ext cx="2808000" cy="3179400"/>
          </a:xfrm>
          <a:prstGeom prst="rect">
            <a:avLst/>
          </a:prstGeom>
          <a:noFill/>
          <a:ln>
            <a:noFill/>
          </a:ln>
        </p:spPr>
        <p:txBody>
          <a:bodyPr spcFirstLastPara="1" wrap="square" lIns="68575" tIns="68575" rIns="68575" bIns="68575" anchor="t" anchorCtr="0">
            <a:normAutofit/>
          </a:bodyPr>
          <a:lstStyle>
            <a:lvl1pPr marL="457200" lvl="0" indent="-285750" algn="l">
              <a:lnSpc>
                <a:spcPct val="115000"/>
              </a:lnSpc>
              <a:spcBef>
                <a:spcPts val="0"/>
              </a:spcBef>
              <a:spcAft>
                <a:spcPts val="0"/>
              </a:spcAft>
              <a:buSzPts val="900"/>
              <a:buChar char="●"/>
              <a:defRPr sz="12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SzPts val="900"/>
              <a:buChar char="■"/>
              <a:defRPr sz="1200"/>
            </a:lvl3pPr>
            <a:lvl4pPr marL="1828800" lvl="3" indent="-285750" algn="l">
              <a:lnSpc>
                <a:spcPct val="115000"/>
              </a:lnSpc>
              <a:spcBef>
                <a:spcPts val="0"/>
              </a:spcBef>
              <a:spcAft>
                <a:spcPts val="0"/>
              </a:spcAft>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2" name="Google Shape;64;p16">
            <a:extLst>
              <a:ext uri="{FF2B5EF4-FFF2-40B4-BE49-F238E27FC236}">
                <a16:creationId xmlns:a16="http://schemas.microsoft.com/office/drawing/2014/main" id="{B4945BA0-74A6-A0BA-DB44-273B87310898}"/>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06"/>
        <p:cNvGrpSpPr/>
        <p:nvPr/>
      </p:nvGrpSpPr>
      <p:grpSpPr>
        <a:xfrm>
          <a:off x="0" y="0"/>
          <a:ext cx="0" cy="0"/>
          <a:chOff x="0" y="0"/>
          <a:chExt cx="0" cy="0"/>
        </a:xfrm>
      </p:grpSpPr>
      <p:sp>
        <p:nvSpPr>
          <p:cNvPr id="207" name="Google Shape;207;p47"/>
          <p:cNvSpPr txBox="1">
            <a:spLocks noGrp="1"/>
          </p:cNvSpPr>
          <p:nvPr>
            <p:ph type="title"/>
          </p:nvPr>
        </p:nvSpPr>
        <p:spPr>
          <a:xfrm>
            <a:off x="490250" y="450150"/>
            <a:ext cx="6367800" cy="4090800"/>
          </a:xfrm>
          <a:prstGeom prst="rect">
            <a:avLst/>
          </a:prstGeom>
          <a:noFill/>
          <a:ln>
            <a:noFill/>
          </a:ln>
        </p:spPr>
        <p:txBody>
          <a:bodyPr spcFirstLastPara="1" wrap="square" lIns="68575" tIns="68575" rIns="68575" bIns="68575" anchor="ctr" anchorCtr="0">
            <a:normAutofit/>
          </a:bodyPr>
          <a:lstStyle>
            <a:lvl1pPr lvl="0" algn="l">
              <a:lnSpc>
                <a:spcPct val="100000"/>
              </a:lnSpc>
              <a:spcBef>
                <a:spcPts val="0"/>
              </a:spcBef>
              <a:spcAft>
                <a:spcPts val="0"/>
              </a:spcAft>
              <a:buSzPts val="3600"/>
              <a:buNone/>
              <a:defRPr sz="4800"/>
            </a:lvl1pPr>
            <a:lvl2pPr lvl="1" algn="l">
              <a:lnSpc>
                <a:spcPct val="100000"/>
              </a:lnSpc>
              <a:spcBef>
                <a:spcPts val="0"/>
              </a:spcBef>
              <a:spcAft>
                <a:spcPts val="0"/>
              </a:spcAft>
              <a:buSzPts val="3600"/>
              <a:buNone/>
              <a:defRPr sz="4800"/>
            </a:lvl2pPr>
            <a:lvl3pPr lvl="2" algn="l">
              <a:lnSpc>
                <a:spcPct val="100000"/>
              </a:lnSpc>
              <a:spcBef>
                <a:spcPts val="0"/>
              </a:spcBef>
              <a:spcAft>
                <a:spcPts val="0"/>
              </a:spcAft>
              <a:buSzPts val="3600"/>
              <a:buNone/>
              <a:defRPr sz="4800"/>
            </a:lvl3pPr>
            <a:lvl4pPr lvl="3" algn="l">
              <a:lnSpc>
                <a:spcPct val="100000"/>
              </a:lnSpc>
              <a:spcBef>
                <a:spcPts val="0"/>
              </a:spcBef>
              <a:spcAft>
                <a:spcPts val="0"/>
              </a:spcAft>
              <a:buSzPts val="3600"/>
              <a:buNone/>
              <a:defRPr sz="4800"/>
            </a:lvl4pPr>
            <a:lvl5pPr lvl="4" algn="l">
              <a:lnSpc>
                <a:spcPct val="100000"/>
              </a:lnSpc>
              <a:spcBef>
                <a:spcPts val="0"/>
              </a:spcBef>
              <a:spcAft>
                <a:spcPts val="0"/>
              </a:spcAft>
              <a:buSzPts val="3600"/>
              <a:buNone/>
              <a:defRPr sz="4800"/>
            </a:lvl5pPr>
            <a:lvl6pPr lvl="5" algn="l">
              <a:lnSpc>
                <a:spcPct val="100000"/>
              </a:lnSpc>
              <a:spcBef>
                <a:spcPts val="0"/>
              </a:spcBef>
              <a:spcAft>
                <a:spcPts val="0"/>
              </a:spcAft>
              <a:buSzPts val="3600"/>
              <a:buNone/>
              <a:defRPr sz="4800"/>
            </a:lvl6pPr>
            <a:lvl7pPr lvl="6" algn="l">
              <a:lnSpc>
                <a:spcPct val="100000"/>
              </a:lnSpc>
              <a:spcBef>
                <a:spcPts val="0"/>
              </a:spcBef>
              <a:spcAft>
                <a:spcPts val="0"/>
              </a:spcAft>
              <a:buSzPts val="3600"/>
              <a:buNone/>
              <a:defRPr sz="4800"/>
            </a:lvl7pPr>
            <a:lvl8pPr lvl="7" algn="l">
              <a:lnSpc>
                <a:spcPct val="100000"/>
              </a:lnSpc>
              <a:spcBef>
                <a:spcPts val="0"/>
              </a:spcBef>
              <a:spcAft>
                <a:spcPts val="0"/>
              </a:spcAft>
              <a:buSzPts val="3600"/>
              <a:buNone/>
              <a:defRPr sz="4800"/>
            </a:lvl8pPr>
            <a:lvl9pPr lvl="8" algn="l">
              <a:lnSpc>
                <a:spcPct val="100000"/>
              </a:lnSpc>
              <a:spcBef>
                <a:spcPts val="0"/>
              </a:spcBef>
              <a:spcAft>
                <a:spcPts val="0"/>
              </a:spcAft>
              <a:buSzPts val="3600"/>
              <a:buNone/>
              <a:defRPr sz="4800"/>
            </a:lvl9pPr>
          </a:lstStyle>
          <a:p>
            <a:endParaRPr/>
          </a:p>
        </p:txBody>
      </p:sp>
      <p:sp>
        <p:nvSpPr>
          <p:cNvPr id="2" name="Google Shape;64;p16">
            <a:extLst>
              <a:ext uri="{FF2B5EF4-FFF2-40B4-BE49-F238E27FC236}">
                <a16:creationId xmlns:a16="http://schemas.microsoft.com/office/drawing/2014/main" id="{24238233-8D1B-B287-DB1B-038A0213449B}"/>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09"/>
        <p:cNvGrpSpPr/>
        <p:nvPr/>
      </p:nvGrpSpPr>
      <p:grpSpPr>
        <a:xfrm>
          <a:off x="0" y="0"/>
          <a:ext cx="0" cy="0"/>
          <a:chOff x="0" y="0"/>
          <a:chExt cx="0" cy="0"/>
        </a:xfrm>
      </p:grpSpPr>
      <p:sp>
        <p:nvSpPr>
          <p:cNvPr id="210" name="Google Shape;210;p4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Microsoft Yahei"/>
              <a:ea typeface="Microsoft Yahei"/>
              <a:cs typeface="Microsoft Yahei"/>
              <a:sym typeface="Microsoft Yahei"/>
            </a:endParaRPr>
          </a:p>
        </p:txBody>
      </p:sp>
      <p:sp>
        <p:nvSpPr>
          <p:cNvPr id="211" name="Google Shape;211;p48"/>
          <p:cNvSpPr txBox="1">
            <a:spLocks noGrp="1"/>
          </p:cNvSpPr>
          <p:nvPr>
            <p:ph type="title"/>
          </p:nvPr>
        </p:nvSpPr>
        <p:spPr>
          <a:xfrm>
            <a:off x="265500" y="1233175"/>
            <a:ext cx="4045200" cy="1482300"/>
          </a:xfrm>
          <a:prstGeom prst="rect">
            <a:avLst/>
          </a:prstGeom>
          <a:noFill/>
          <a:ln>
            <a:noFill/>
          </a:ln>
        </p:spPr>
        <p:txBody>
          <a:bodyPr spcFirstLastPara="1" wrap="square" lIns="68575" tIns="68575" rIns="68575" bIns="68575" anchor="b" anchorCtr="0">
            <a:normAutofit/>
          </a:bodyPr>
          <a:lstStyle>
            <a:lvl1pPr lvl="0" algn="ctr">
              <a:lnSpc>
                <a:spcPct val="100000"/>
              </a:lnSpc>
              <a:spcBef>
                <a:spcPts val="0"/>
              </a:spcBef>
              <a:spcAft>
                <a:spcPts val="0"/>
              </a:spcAft>
              <a:buSzPts val="3200"/>
              <a:buNone/>
              <a:defRPr sz="4200"/>
            </a:lvl1pPr>
            <a:lvl2pPr lvl="1" algn="ctr">
              <a:lnSpc>
                <a:spcPct val="100000"/>
              </a:lnSpc>
              <a:spcBef>
                <a:spcPts val="0"/>
              </a:spcBef>
              <a:spcAft>
                <a:spcPts val="0"/>
              </a:spcAft>
              <a:buSzPts val="3200"/>
              <a:buNone/>
              <a:defRPr sz="4200"/>
            </a:lvl2pPr>
            <a:lvl3pPr lvl="2" algn="ctr">
              <a:lnSpc>
                <a:spcPct val="100000"/>
              </a:lnSpc>
              <a:spcBef>
                <a:spcPts val="0"/>
              </a:spcBef>
              <a:spcAft>
                <a:spcPts val="0"/>
              </a:spcAft>
              <a:buSzPts val="3200"/>
              <a:buNone/>
              <a:defRPr sz="4200"/>
            </a:lvl3pPr>
            <a:lvl4pPr lvl="3" algn="ctr">
              <a:lnSpc>
                <a:spcPct val="100000"/>
              </a:lnSpc>
              <a:spcBef>
                <a:spcPts val="0"/>
              </a:spcBef>
              <a:spcAft>
                <a:spcPts val="0"/>
              </a:spcAft>
              <a:buSzPts val="3200"/>
              <a:buNone/>
              <a:defRPr sz="4200"/>
            </a:lvl4pPr>
            <a:lvl5pPr lvl="4" algn="ctr">
              <a:lnSpc>
                <a:spcPct val="100000"/>
              </a:lnSpc>
              <a:spcBef>
                <a:spcPts val="0"/>
              </a:spcBef>
              <a:spcAft>
                <a:spcPts val="0"/>
              </a:spcAft>
              <a:buSzPts val="3200"/>
              <a:buNone/>
              <a:defRPr sz="4200"/>
            </a:lvl5pPr>
            <a:lvl6pPr lvl="5" algn="ctr">
              <a:lnSpc>
                <a:spcPct val="100000"/>
              </a:lnSpc>
              <a:spcBef>
                <a:spcPts val="0"/>
              </a:spcBef>
              <a:spcAft>
                <a:spcPts val="0"/>
              </a:spcAft>
              <a:buSzPts val="3200"/>
              <a:buNone/>
              <a:defRPr sz="4200"/>
            </a:lvl6pPr>
            <a:lvl7pPr lvl="6" algn="ctr">
              <a:lnSpc>
                <a:spcPct val="100000"/>
              </a:lnSpc>
              <a:spcBef>
                <a:spcPts val="0"/>
              </a:spcBef>
              <a:spcAft>
                <a:spcPts val="0"/>
              </a:spcAft>
              <a:buSzPts val="3200"/>
              <a:buNone/>
              <a:defRPr sz="4200"/>
            </a:lvl7pPr>
            <a:lvl8pPr lvl="7" algn="ctr">
              <a:lnSpc>
                <a:spcPct val="100000"/>
              </a:lnSpc>
              <a:spcBef>
                <a:spcPts val="0"/>
              </a:spcBef>
              <a:spcAft>
                <a:spcPts val="0"/>
              </a:spcAft>
              <a:buSzPts val="3200"/>
              <a:buNone/>
              <a:defRPr sz="4200"/>
            </a:lvl8pPr>
            <a:lvl9pPr lvl="8" algn="ctr">
              <a:lnSpc>
                <a:spcPct val="100000"/>
              </a:lnSpc>
              <a:spcBef>
                <a:spcPts val="0"/>
              </a:spcBef>
              <a:spcAft>
                <a:spcPts val="0"/>
              </a:spcAft>
              <a:buSzPts val="3200"/>
              <a:buNone/>
              <a:defRPr sz="4200"/>
            </a:lvl9pPr>
          </a:lstStyle>
          <a:p>
            <a:endParaRPr/>
          </a:p>
        </p:txBody>
      </p:sp>
      <p:sp>
        <p:nvSpPr>
          <p:cNvPr id="212" name="Google Shape;212;p48"/>
          <p:cNvSpPr txBox="1">
            <a:spLocks noGrp="1"/>
          </p:cNvSpPr>
          <p:nvPr>
            <p:ph type="subTitle" idx="1"/>
          </p:nvPr>
        </p:nvSpPr>
        <p:spPr>
          <a:xfrm>
            <a:off x="265500" y="2803075"/>
            <a:ext cx="4045200" cy="1235100"/>
          </a:xfrm>
          <a:prstGeom prst="rect">
            <a:avLst/>
          </a:prstGeom>
          <a:noFill/>
          <a:ln>
            <a:noFill/>
          </a:ln>
        </p:spPr>
        <p:txBody>
          <a:bodyPr spcFirstLastPara="1" wrap="square" lIns="68575" tIns="68575" rIns="68575" bIns="68575" anchor="t" anchorCtr="0">
            <a:norm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sz="2100"/>
            </a:lvl2pPr>
            <a:lvl3pPr lvl="2" algn="ctr">
              <a:lnSpc>
                <a:spcPct val="100000"/>
              </a:lnSpc>
              <a:spcBef>
                <a:spcPts val="0"/>
              </a:spcBef>
              <a:spcAft>
                <a:spcPts val="0"/>
              </a:spcAft>
              <a:buSzPts val="1600"/>
              <a:buNone/>
              <a:defRPr sz="2100"/>
            </a:lvl3pPr>
            <a:lvl4pPr lvl="3" algn="ctr">
              <a:lnSpc>
                <a:spcPct val="100000"/>
              </a:lnSpc>
              <a:spcBef>
                <a:spcPts val="0"/>
              </a:spcBef>
              <a:spcAft>
                <a:spcPts val="0"/>
              </a:spcAft>
              <a:buSzPts val="1600"/>
              <a:buNone/>
              <a:defRPr sz="2100"/>
            </a:lvl4pPr>
            <a:lvl5pPr lvl="4" algn="ctr">
              <a:lnSpc>
                <a:spcPct val="100000"/>
              </a:lnSpc>
              <a:spcBef>
                <a:spcPts val="0"/>
              </a:spcBef>
              <a:spcAft>
                <a:spcPts val="0"/>
              </a:spcAft>
              <a:buSzPts val="1600"/>
              <a:buNone/>
              <a:defRPr sz="2100"/>
            </a:lvl5pPr>
            <a:lvl6pPr lvl="5" algn="ctr">
              <a:lnSpc>
                <a:spcPct val="100000"/>
              </a:lnSpc>
              <a:spcBef>
                <a:spcPts val="0"/>
              </a:spcBef>
              <a:spcAft>
                <a:spcPts val="0"/>
              </a:spcAft>
              <a:buSzPts val="1600"/>
              <a:buNone/>
              <a:defRPr sz="2100"/>
            </a:lvl6pPr>
            <a:lvl7pPr lvl="6" algn="ctr">
              <a:lnSpc>
                <a:spcPct val="100000"/>
              </a:lnSpc>
              <a:spcBef>
                <a:spcPts val="0"/>
              </a:spcBef>
              <a:spcAft>
                <a:spcPts val="0"/>
              </a:spcAft>
              <a:buSzPts val="1600"/>
              <a:buNone/>
              <a:defRPr sz="2100"/>
            </a:lvl7pPr>
            <a:lvl8pPr lvl="7" algn="ctr">
              <a:lnSpc>
                <a:spcPct val="100000"/>
              </a:lnSpc>
              <a:spcBef>
                <a:spcPts val="0"/>
              </a:spcBef>
              <a:spcAft>
                <a:spcPts val="0"/>
              </a:spcAft>
              <a:buSzPts val="1600"/>
              <a:buNone/>
              <a:defRPr sz="2100"/>
            </a:lvl8pPr>
            <a:lvl9pPr lvl="8" algn="ctr">
              <a:lnSpc>
                <a:spcPct val="100000"/>
              </a:lnSpc>
              <a:spcBef>
                <a:spcPts val="0"/>
              </a:spcBef>
              <a:spcAft>
                <a:spcPts val="0"/>
              </a:spcAft>
              <a:buSzPts val="1600"/>
              <a:buNone/>
              <a:defRPr sz="2100"/>
            </a:lvl9pPr>
          </a:lstStyle>
          <a:p>
            <a:endParaRPr/>
          </a:p>
        </p:txBody>
      </p:sp>
      <p:sp>
        <p:nvSpPr>
          <p:cNvPr id="213" name="Google Shape;213;p48"/>
          <p:cNvSpPr txBox="1">
            <a:spLocks noGrp="1"/>
          </p:cNvSpPr>
          <p:nvPr>
            <p:ph type="body" idx="2"/>
          </p:nvPr>
        </p:nvSpPr>
        <p:spPr>
          <a:xfrm>
            <a:off x="4939500" y="724075"/>
            <a:ext cx="3837000" cy="3695100"/>
          </a:xfrm>
          <a:prstGeom prst="rect">
            <a:avLst/>
          </a:prstGeom>
          <a:noFill/>
          <a:ln>
            <a:noFill/>
          </a:ln>
        </p:spPr>
        <p:txBody>
          <a:bodyPr spcFirstLastPara="1" wrap="square" lIns="68575" tIns="68575" rIns="68575" bIns="68575" anchor="ctr" anchorCtr="0">
            <a:normAutofit/>
          </a:bodyPr>
          <a:lstStyle>
            <a:lvl1pPr marL="457200" lvl="0" indent="-317500" algn="l">
              <a:lnSpc>
                <a:spcPct val="115000"/>
              </a:lnSpc>
              <a:spcBef>
                <a:spcPts val="0"/>
              </a:spcBef>
              <a:spcAft>
                <a:spcPts val="0"/>
              </a:spcAft>
              <a:buSzPts val="14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 name="Google Shape;64;p16">
            <a:extLst>
              <a:ext uri="{FF2B5EF4-FFF2-40B4-BE49-F238E27FC236}">
                <a16:creationId xmlns:a16="http://schemas.microsoft.com/office/drawing/2014/main" id="{E7824D51-502F-FACA-A25A-0B269BEE6B70}"/>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15"/>
        <p:cNvGrpSpPr/>
        <p:nvPr/>
      </p:nvGrpSpPr>
      <p:grpSpPr>
        <a:xfrm>
          <a:off x="0" y="0"/>
          <a:ext cx="0" cy="0"/>
          <a:chOff x="0" y="0"/>
          <a:chExt cx="0" cy="0"/>
        </a:xfrm>
      </p:grpSpPr>
      <p:sp>
        <p:nvSpPr>
          <p:cNvPr id="216" name="Google Shape;216;p49"/>
          <p:cNvSpPr txBox="1">
            <a:spLocks noGrp="1"/>
          </p:cNvSpPr>
          <p:nvPr>
            <p:ph type="body" idx="1"/>
          </p:nvPr>
        </p:nvSpPr>
        <p:spPr>
          <a:xfrm>
            <a:off x="311700" y="4230575"/>
            <a:ext cx="5998800" cy="605100"/>
          </a:xfrm>
          <a:prstGeom prst="rect">
            <a:avLst/>
          </a:prstGeom>
          <a:noFill/>
          <a:ln>
            <a:noFill/>
          </a:ln>
        </p:spPr>
        <p:txBody>
          <a:bodyPr spcFirstLastPara="1" wrap="square" lIns="68575" tIns="68575" rIns="68575" bIns="68575" anchor="ctr" anchorCtr="0">
            <a:normAutofit/>
          </a:bodyPr>
          <a:lstStyle>
            <a:lvl1pPr marL="457200" lvl="0" indent="-228600" algn="l">
              <a:lnSpc>
                <a:spcPct val="100000"/>
              </a:lnSpc>
              <a:spcBef>
                <a:spcPts val="0"/>
              </a:spcBef>
              <a:spcAft>
                <a:spcPts val="0"/>
              </a:spcAft>
              <a:buSzPts val="1400"/>
              <a:buNone/>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 name="Google Shape;64;p16">
            <a:extLst>
              <a:ext uri="{FF2B5EF4-FFF2-40B4-BE49-F238E27FC236}">
                <a16:creationId xmlns:a16="http://schemas.microsoft.com/office/drawing/2014/main" id="{7ED192F5-0E8F-E2C1-28BE-DCFBD3D00E11}"/>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18"/>
        <p:cNvGrpSpPr/>
        <p:nvPr/>
      </p:nvGrpSpPr>
      <p:grpSpPr>
        <a:xfrm>
          <a:off x="0" y="0"/>
          <a:ext cx="0" cy="0"/>
          <a:chOff x="0" y="0"/>
          <a:chExt cx="0" cy="0"/>
        </a:xfrm>
      </p:grpSpPr>
      <p:sp>
        <p:nvSpPr>
          <p:cNvPr id="219" name="Google Shape;219;p50"/>
          <p:cNvSpPr txBox="1">
            <a:spLocks noGrp="1"/>
          </p:cNvSpPr>
          <p:nvPr>
            <p:ph type="title"/>
          </p:nvPr>
        </p:nvSpPr>
        <p:spPr>
          <a:xfrm>
            <a:off x="311700" y="1106125"/>
            <a:ext cx="8520600" cy="1963500"/>
          </a:xfrm>
          <a:prstGeom prst="rect">
            <a:avLst/>
          </a:prstGeom>
          <a:noFill/>
          <a:ln>
            <a:noFill/>
          </a:ln>
        </p:spPr>
        <p:txBody>
          <a:bodyPr spcFirstLastPara="1" wrap="square" lIns="68575" tIns="68575" rIns="68575" bIns="68575" anchor="b" anchorCtr="0">
            <a:normAutofit/>
          </a:bodyPr>
          <a:lstStyle>
            <a:lvl1pPr lvl="0" algn="ctr">
              <a:lnSpc>
                <a:spcPct val="100000"/>
              </a:lnSpc>
              <a:spcBef>
                <a:spcPts val="0"/>
              </a:spcBef>
              <a:spcAft>
                <a:spcPts val="0"/>
              </a:spcAft>
              <a:buSzPts val="9000"/>
              <a:buNone/>
              <a:defRPr sz="12000"/>
            </a:lvl1pPr>
            <a:lvl2pPr lvl="1" algn="ctr">
              <a:lnSpc>
                <a:spcPct val="100000"/>
              </a:lnSpc>
              <a:spcBef>
                <a:spcPts val="0"/>
              </a:spcBef>
              <a:spcAft>
                <a:spcPts val="0"/>
              </a:spcAft>
              <a:buSzPts val="9000"/>
              <a:buNone/>
              <a:defRPr sz="12000"/>
            </a:lvl2pPr>
            <a:lvl3pPr lvl="2" algn="ctr">
              <a:lnSpc>
                <a:spcPct val="100000"/>
              </a:lnSpc>
              <a:spcBef>
                <a:spcPts val="0"/>
              </a:spcBef>
              <a:spcAft>
                <a:spcPts val="0"/>
              </a:spcAft>
              <a:buSzPts val="9000"/>
              <a:buNone/>
              <a:defRPr sz="12000"/>
            </a:lvl3pPr>
            <a:lvl4pPr lvl="3" algn="ctr">
              <a:lnSpc>
                <a:spcPct val="100000"/>
              </a:lnSpc>
              <a:spcBef>
                <a:spcPts val="0"/>
              </a:spcBef>
              <a:spcAft>
                <a:spcPts val="0"/>
              </a:spcAft>
              <a:buSzPts val="9000"/>
              <a:buNone/>
              <a:defRPr sz="12000"/>
            </a:lvl4pPr>
            <a:lvl5pPr lvl="4" algn="ctr">
              <a:lnSpc>
                <a:spcPct val="100000"/>
              </a:lnSpc>
              <a:spcBef>
                <a:spcPts val="0"/>
              </a:spcBef>
              <a:spcAft>
                <a:spcPts val="0"/>
              </a:spcAft>
              <a:buSzPts val="9000"/>
              <a:buNone/>
              <a:defRPr sz="12000"/>
            </a:lvl5pPr>
            <a:lvl6pPr lvl="5" algn="ctr">
              <a:lnSpc>
                <a:spcPct val="100000"/>
              </a:lnSpc>
              <a:spcBef>
                <a:spcPts val="0"/>
              </a:spcBef>
              <a:spcAft>
                <a:spcPts val="0"/>
              </a:spcAft>
              <a:buSzPts val="9000"/>
              <a:buNone/>
              <a:defRPr sz="12000"/>
            </a:lvl6pPr>
            <a:lvl7pPr lvl="6" algn="ctr">
              <a:lnSpc>
                <a:spcPct val="100000"/>
              </a:lnSpc>
              <a:spcBef>
                <a:spcPts val="0"/>
              </a:spcBef>
              <a:spcAft>
                <a:spcPts val="0"/>
              </a:spcAft>
              <a:buSzPts val="9000"/>
              <a:buNone/>
              <a:defRPr sz="12000"/>
            </a:lvl7pPr>
            <a:lvl8pPr lvl="7" algn="ctr">
              <a:lnSpc>
                <a:spcPct val="100000"/>
              </a:lnSpc>
              <a:spcBef>
                <a:spcPts val="0"/>
              </a:spcBef>
              <a:spcAft>
                <a:spcPts val="0"/>
              </a:spcAft>
              <a:buSzPts val="9000"/>
              <a:buNone/>
              <a:defRPr sz="12000"/>
            </a:lvl8pPr>
            <a:lvl9pPr lvl="8" algn="ctr">
              <a:lnSpc>
                <a:spcPct val="100000"/>
              </a:lnSpc>
              <a:spcBef>
                <a:spcPts val="0"/>
              </a:spcBef>
              <a:spcAft>
                <a:spcPts val="0"/>
              </a:spcAft>
              <a:buSzPts val="9000"/>
              <a:buNone/>
              <a:defRPr sz="12000"/>
            </a:lvl9pPr>
          </a:lstStyle>
          <a:p>
            <a:endParaRPr/>
          </a:p>
        </p:txBody>
      </p:sp>
      <p:sp>
        <p:nvSpPr>
          <p:cNvPr id="220" name="Google Shape;220;p50"/>
          <p:cNvSpPr txBox="1">
            <a:spLocks noGrp="1"/>
          </p:cNvSpPr>
          <p:nvPr>
            <p:ph type="body" idx="1"/>
          </p:nvPr>
        </p:nvSpPr>
        <p:spPr>
          <a:xfrm>
            <a:off x="311700" y="3152225"/>
            <a:ext cx="8520600" cy="1300800"/>
          </a:xfrm>
          <a:prstGeom prst="rect">
            <a:avLst/>
          </a:prstGeom>
          <a:noFill/>
          <a:ln>
            <a:noFill/>
          </a:ln>
        </p:spPr>
        <p:txBody>
          <a:bodyPr spcFirstLastPara="1" wrap="square" lIns="68575" tIns="68575" rIns="68575" bIns="68575" anchor="t" anchorCtr="0">
            <a:normAutofit/>
          </a:bodyPr>
          <a:lstStyle>
            <a:lvl1pPr marL="457200" lvl="0" indent="-317500" algn="ctr">
              <a:lnSpc>
                <a:spcPct val="115000"/>
              </a:lnSpc>
              <a:spcBef>
                <a:spcPts val="0"/>
              </a:spcBef>
              <a:spcAft>
                <a:spcPts val="0"/>
              </a:spcAft>
              <a:buSzPts val="1400"/>
              <a:buChar char="●"/>
              <a:defRPr/>
            </a:lvl1pPr>
            <a:lvl2pPr marL="914400" lvl="1" indent="-298450" algn="ctr">
              <a:lnSpc>
                <a:spcPct val="115000"/>
              </a:lnSpc>
              <a:spcBef>
                <a:spcPts val="0"/>
              </a:spcBef>
              <a:spcAft>
                <a:spcPts val="0"/>
              </a:spcAft>
              <a:buSzPts val="1100"/>
              <a:buChar char="○"/>
              <a:defRPr/>
            </a:lvl2pPr>
            <a:lvl3pPr marL="1371600" lvl="2" indent="-298450" algn="ctr">
              <a:lnSpc>
                <a:spcPct val="115000"/>
              </a:lnSpc>
              <a:spcBef>
                <a:spcPts val="0"/>
              </a:spcBef>
              <a:spcAft>
                <a:spcPts val="0"/>
              </a:spcAft>
              <a:buSzPts val="1100"/>
              <a:buChar char="■"/>
              <a:defRPr/>
            </a:lvl3pPr>
            <a:lvl4pPr marL="1828800" lvl="3" indent="-298450" algn="ctr">
              <a:lnSpc>
                <a:spcPct val="115000"/>
              </a:lnSpc>
              <a:spcBef>
                <a:spcPts val="0"/>
              </a:spcBef>
              <a:spcAft>
                <a:spcPts val="0"/>
              </a:spcAft>
              <a:buSzPts val="1100"/>
              <a:buChar char="●"/>
              <a:defRPr/>
            </a:lvl4pPr>
            <a:lvl5pPr marL="2286000" lvl="4" indent="-298450" algn="ctr">
              <a:lnSpc>
                <a:spcPct val="115000"/>
              </a:lnSpc>
              <a:spcBef>
                <a:spcPts val="0"/>
              </a:spcBef>
              <a:spcAft>
                <a:spcPts val="0"/>
              </a:spcAft>
              <a:buSzPts val="1100"/>
              <a:buChar char="○"/>
              <a:defRPr/>
            </a:lvl5pPr>
            <a:lvl6pPr marL="2743200" lvl="5" indent="-298450" algn="ctr">
              <a:lnSpc>
                <a:spcPct val="115000"/>
              </a:lnSpc>
              <a:spcBef>
                <a:spcPts val="0"/>
              </a:spcBef>
              <a:spcAft>
                <a:spcPts val="0"/>
              </a:spcAft>
              <a:buSzPts val="1100"/>
              <a:buChar char="■"/>
              <a:defRPr/>
            </a:lvl6pPr>
            <a:lvl7pPr marL="3200400" lvl="6" indent="-298450" algn="ctr">
              <a:lnSpc>
                <a:spcPct val="115000"/>
              </a:lnSpc>
              <a:spcBef>
                <a:spcPts val="0"/>
              </a:spcBef>
              <a:spcAft>
                <a:spcPts val="0"/>
              </a:spcAft>
              <a:buSzPts val="1100"/>
              <a:buChar char="●"/>
              <a:defRPr/>
            </a:lvl7pPr>
            <a:lvl8pPr marL="3657600" lvl="7" indent="-298450" algn="ctr">
              <a:lnSpc>
                <a:spcPct val="115000"/>
              </a:lnSpc>
              <a:spcBef>
                <a:spcPts val="0"/>
              </a:spcBef>
              <a:spcAft>
                <a:spcPts val="0"/>
              </a:spcAft>
              <a:buSzPts val="1100"/>
              <a:buChar char="○"/>
              <a:defRPr/>
            </a:lvl8pPr>
            <a:lvl9pPr marL="4114800" lvl="8" indent="-298450" algn="ctr">
              <a:lnSpc>
                <a:spcPct val="115000"/>
              </a:lnSpc>
              <a:spcBef>
                <a:spcPts val="0"/>
              </a:spcBef>
              <a:spcAft>
                <a:spcPts val="0"/>
              </a:spcAft>
              <a:buSzPts val="1100"/>
              <a:buChar char="■"/>
              <a:defRPr/>
            </a:lvl9pPr>
          </a:lstStyle>
          <a:p>
            <a:endParaRPr/>
          </a:p>
        </p:txBody>
      </p:sp>
      <p:sp>
        <p:nvSpPr>
          <p:cNvPr id="2" name="Google Shape;64;p16">
            <a:extLst>
              <a:ext uri="{FF2B5EF4-FFF2-40B4-BE49-F238E27FC236}">
                <a16:creationId xmlns:a16="http://schemas.microsoft.com/office/drawing/2014/main" id="{D0613DE8-6FA0-BC86-D47B-8F8B2CB092AA}"/>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2"/>
        <p:cNvGrpSpPr/>
        <p:nvPr/>
      </p:nvGrpSpPr>
      <p:grpSpPr>
        <a:xfrm>
          <a:off x="0" y="0"/>
          <a:ext cx="0" cy="0"/>
          <a:chOff x="0" y="0"/>
          <a:chExt cx="0" cy="0"/>
        </a:xfrm>
      </p:grpSpPr>
      <p:sp>
        <p:nvSpPr>
          <p:cNvPr id="2" name="Google Shape;64;p16">
            <a:extLst>
              <a:ext uri="{FF2B5EF4-FFF2-40B4-BE49-F238E27FC236}">
                <a16:creationId xmlns:a16="http://schemas.microsoft.com/office/drawing/2014/main" id="{2C05092A-0D8F-CAA8-97B4-03EB8DC0D1E0}"/>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Google Shape;64;p16">
            <a:extLst>
              <a:ext uri="{FF2B5EF4-FFF2-40B4-BE49-F238E27FC236}">
                <a16:creationId xmlns:a16="http://schemas.microsoft.com/office/drawing/2014/main" id="{AD9B6F03-260D-2B12-7F4B-715AFFE68DF5}"/>
              </a:ext>
            </a:extLst>
          </p:cNvPr>
          <p:cNvSpPr txBox="1">
            <a:spLocks noGrp="1"/>
          </p:cNvSpPr>
          <p:nvPr>
            <p:ph type="sldNum" idx="12"/>
          </p:nvPr>
        </p:nvSpPr>
        <p:spPr>
          <a:xfrm>
            <a:off x="8604000" y="4855500"/>
            <a:ext cx="540000"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rgbClr val="4F7C6C"/>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b="0" i="0" u="none" strike="noStrike" cap="none">
              <a:solidFill>
                <a:srgbClr val="4F7C6C"/>
              </a:solidFill>
              <a:latin typeface="微软雅黑" panose="020B0503020204020204" pitchFamily="34" charset="-122"/>
              <a:ea typeface="微软雅黑" panose="020B0503020204020204" pitchFamily="34" charset="-122"/>
              <a:cs typeface="Arial"/>
              <a:sym typeface="Arial"/>
            </a:endParaRPr>
          </a:p>
        </p:txBody>
      </p:sp>
    </p:spTree>
    <p:extLst>
      <p:ext uri="{BB962C8B-B14F-4D97-AF65-F5344CB8AC3E}">
        <p14:creationId xmlns:p14="http://schemas.microsoft.com/office/powerpoint/2010/main" val="30861145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标题页">
  <p:cSld name="1_标题页">
    <p:spTree>
      <p:nvGrpSpPr>
        <p:cNvPr id="1" name=""/>
        <p:cNvGrpSpPr/>
        <p:nvPr/>
      </p:nvGrpSpPr>
      <p:grpSpPr>
        <a:xfrm>
          <a:off x="0" y="0"/>
          <a:ext cx="0" cy="0"/>
          <a:chOff x="0" y="0"/>
          <a:chExt cx="0" cy="0"/>
        </a:xfrm>
      </p:grpSpPr>
      <p:pic>
        <p:nvPicPr>
          <p:cNvPr id="182" name="Google Shape;174;p40"/>
          <p:cNvPicPr>
            <a:picLocks noChangeAspect="1"/>
          </p:cNvPicPr>
          <p:nvPr/>
        </p:nvPicPr>
        <p:blipFill rotWithShape="1">
          <a:blip r:embed="rId2">
            <a:alphaModFix amt="60000"/>
          </a:blip>
          <a:srcRect/>
          <a:stretch/>
        </p:blipFill>
        <p:spPr>
          <a:xfrm>
            <a:off x="5145124" y="3049025"/>
            <a:ext cx="3998876" cy="2250550"/>
          </a:xfrm>
          <a:prstGeom prst="rect">
            <a:avLst/>
          </a:prstGeom>
          <a:ln>
            <a:noFill/>
          </a:ln>
        </p:spPr>
      </p:pic>
      <p:pic>
        <p:nvPicPr>
          <p:cNvPr id="183" name="Google Shape;176;p40"/>
          <p:cNvPicPr>
            <a:picLocks noChangeAspect="1"/>
          </p:cNvPicPr>
          <p:nvPr/>
        </p:nvPicPr>
        <p:blipFill rotWithShape="1">
          <a:blip r:embed="rId3">
            <a:alphaModFix amt="75000"/>
          </a:blip>
          <a:srcRect r="65162"/>
          <a:stretch/>
        </p:blipFill>
        <p:spPr>
          <a:xfrm>
            <a:off x="8069948" y="259355"/>
            <a:ext cx="263203" cy="251805"/>
          </a:xfrm>
          <a:prstGeom prst="rect">
            <a:avLst/>
          </a:prstGeom>
          <a:ln>
            <a:noFill/>
          </a:ln>
        </p:spPr>
      </p:pic>
      <p:pic>
        <p:nvPicPr>
          <p:cNvPr id="184" name="Google Shape;177;p40"/>
          <p:cNvPicPr>
            <a:picLocks noChangeAspect="1"/>
          </p:cNvPicPr>
          <p:nvPr/>
        </p:nvPicPr>
        <p:blipFill rotWithShape="1">
          <a:blip r:embed="rId3">
            <a:alphaModFix amt="75000"/>
          </a:blip>
          <a:srcRect l="34836" b="-12057"/>
          <a:stretch/>
        </p:blipFill>
        <p:spPr>
          <a:xfrm>
            <a:off x="8345915" y="225216"/>
            <a:ext cx="558433" cy="320086"/>
          </a:xfrm>
          <a:prstGeom prst="rect">
            <a:avLst/>
          </a:prstGeom>
          <a:ln>
            <a:noFill/>
          </a:ln>
        </p:spPr>
      </p:pic>
      <p:sp>
        <p:nvSpPr>
          <p:cNvPr id="178" name="Google Shape;178;p40">
            <a:extLst>
              <a:ext uri="{FF2B5EF4-FFF2-40B4-BE49-F238E27FC236}">
                <a16:creationId xmlns:a16="http://schemas.microsoft.com/office/drawing/2014/main" id="{4816394F-96D3-42C6-A988-36DC43BC90F2}"/>
              </a:ext>
            </a:extLst>
          </p:cNvPr>
          <p:cNvSpPr>
            <a:spLocks noGrp="1"/>
          </p:cNvSpPr>
          <p:nvPr/>
        </p:nvSpPr>
        <p:spPr>
          <a:xfrm>
            <a:off x="327043" y="356775"/>
            <a:ext cx="96600" cy="372900"/>
          </a:xfrm>
          <a:prstGeom prst="rect">
            <a:avLst/>
          </a:prstGeom>
          <a:solidFill>
            <a:srgbClr val="517B6C"/>
          </a:solidFill>
          <a:ln w="9525" cmpd="sng">
            <a:solidFill>
              <a:srgbClr val="517B6C"/>
            </a:solidFill>
            <a:prstDash val="solid"/>
            <a:headEnd type="none" w="sm" len="sm"/>
            <a:tailEnd type="none" w="sm" len="sm"/>
          </a:ln>
        </p:spPr>
        <p:txBody>
          <a:bodyPr spcFirstLastPara="1" wrap="square" lIns="91425" tIns="91425" rIns="91425" bIns="91425" anchor="ctr">
            <a:noAutofit/>
          </a:bodyPr>
          <a:lstStyle/>
          <a:p>
            <a:pPr marL="0" marR="0" lvl="0" indent="0" algn="ctr">
              <a:spcBef>
                <a:spcPts val="0"/>
              </a:spcBef>
              <a:spcAft>
                <a:spcPts val="0"/>
              </a:spcAft>
              <a:buClr>
                <a:schemeClr val="dk1"/>
              </a:buClr>
              <a:buSzPts val="1800"/>
              <a:buFont typeface="Arial"/>
              <a:buNone/>
            </a:pPr>
            <a:endParaRPr sz="1800" b="0" i="0" u="none" cap="none">
              <a:solidFill>
                <a:schemeClr val="dk1"/>
              </a:solidFill>
              <a:latin typeface="Microsoft Yahei"/>
              <a:ea typeface="Microsoft Yahei"/>
              <a:cs typeface="Microsoft Yahei"/>
            </a:endParaRPr>
          </a:p>
        </p:txBody>
      </p:sp>
      <p:sp>
        <p:nvSpPr>
          <p:cNvPr id="3" name="Google Shape;64;p16">
            <a:extLst>
              <a:ext uri="{FF2B5EF4-FFF2-40B4-BE49-F238E27FC236}">
                <a16:creationId xmlns:a16="http://schemas.microsoft.com/office/drawing/2014/main" id="{D27358E9-7245-1FEF-3F9E-6FA5C44494E3}"/>
              </a:ext>
            </a:extLst>
          </p:cNvPr>
          <p:cNvSpPr>
            <a:spLocks noGrp="1"/>
          </p:cNvSpPr>
          <p:nvPr>
            <p:ph type="sldNum" idx="12"/>
          </p:nvPr>
        </p:nvSpPr>
        <p:spPr>
          <a:xfrm>
            <a:off x="8604000" y="4855500"/>
            <a:ext cx="540000" cy="288000"/>
          </a:xfrm>
          <a:prstGeom prst="rect">
            <a:avLst/>
          </a:prstGeom>
        </p:spPr>
        <p:txBody>
          <a:bodyPr spcFirstLastPara="1" wrap="square" lIns="91425" tIns="91425" rIns="91425" bIns="91425" anchor="ctr">
            <a:noAutofit/>
          </a:bodyPr>
          <a:lstStyle>
            <a:lvl1pPr>
              <a:buNone/>
              <a:defRPr sz="1000" b="0" i="0" u="none" cap="none">
                <a:solidFill>
                  <a:srgbClr val="4F7C6C"/>
                </a:solidFill>
                <a:latin typeface="微软雅黑"/>
                <a:ea typeface="微软雅黑"/>
                <a:cs typeface="微软雅黑"/>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algn="r">
              <a:buNone/>
            </a:pPr>
            <a:fld id="{00000000-1234-1234-1234-123412341234}" type="slidenum">
              <a:t>‹#›</a:t>
            </a:fld>
            <a:endParaRPr sz="1000" b="0" i="0" u="none" cap="none">
              <a:solidFill>
                <a:srgbClr val="4F7C6C"/>
              </a:solidFill>
              <a:latin typeface="微软雅黑"/>
              <a:ea typeface="微软雅黑"/>
              <a:cs typeface="微软雅黑"/>
            </a:endParaRPr>
          </a:p>
        </p:txBody>
      </p:sp>
    </p:spTree>
    <p:extLst>
      <p:ext uri="{BB962C8B-B14F-4D97-AF65-F5344CB8AC3E}">
        <p14:creationId xmlns:p14="http://schemas.microsoft.com/office/powerpoint/2010/main" val="3483260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2" name="Google Shape;64;p16">
            <a:extLst>
              <a:ext uri="{FF2B5EF4-FFF2-40B4-BE49-F238E27FC236}">
                <a16:creationId xmlns:a16="http://schemas.microsoft.com/office/drawing/2014/main" id="{AB01D6D8-A20D-ADE0-CCC7-2F2950050161}"/>
              </a:ext>
            </a:extLst>
          </p:cNvPr>
          <p:cNvSpPr txBox="1">
            <a:spLocks noGrp="1"/>
          </p:cNvSpPr>
          <p:nvPr>
            <p:ph type="sldNum" idx="4"/>
          </p:nvPr>
        </p:nvSpPr>
        <p:spPr>
          <a:xfrm>
            <a:off x="8604000" y="4861042"/>
            <a:ext cx="540000" cy="288000"/>
          </a:xfrm>
          <a:prstGeom prst="rect">
            <a:avLst/>
          </a:prstGeom>
        </p:spPr>
        <p:txBody>
          <a:bodyPr spcFirstLastPara="1" wrap="square" lIns="91425" tIns="91425" rIns="91425" bIns="91425" anchor="ctr" anchorCtr="0">
            <a:noAutofit/>
          </a:bodyPr>
          <a:lstStyle>
            <a:lvl1pPr lvl="0">
              <a:buNone/>
              <a:defRPr sz="1000">
                <a:latin typeface="微软雅黑" panose="020B0503020204020204" pitchFamily="34" charset="-122"/>
                <a:ea typeface="微软雅黑" panose="020B0503020204020204" pitchFamily="34" charset="-122"/>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endParaRPr lang="en-US" sz="100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39"/>
          <p:cNvSpPr txBox="1">
            <a:spLocks noGrp="1"/>
          </p:cNvSpPr>
          <p:nvPr>
            <p:ph type="title"/>
          </p:nvPr>
        </p:nvSpPr>
        <p:spPr>
          <a:xfrm>
            <a:off x="311700" y="445025"/>
            <a:ext cx="8520600" cy="572700"/>
          </a:xfrm>
          <a:prstGeom prst="rect">
            <a:avLst/>
          </a:prstGeom>
          <a:noFill/>
          <a:ln>
            <a:noFill/>
          </a:ln>
        </p:spPr>
        <p:txBody>
          <a:bodyPr spcFirstLastPara="1" wrap="square" lIns="68575" tIns="68575" rIns="68575" bIns="68575" anchor="t" anchorCtr="0">
            <a:normAutofit/>
          </a:bodyPr>
          <a:lstStyle>
            <a:lvl1pPr marR="0" lvl="0"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9pPr>
          </a:lstStyle>
          <a:p>
            <a:endParaRPr/>
          </a:p>
        </p:txBody>
      </p:sp>
      <p:sp>
        <p:nvSpPr>
          <p:cNvPr id="168" name="Google Shape;168;p39"/>
          <p:cNvSpPr txBox="1">
            <a:spLocks noGrp="1"/>
          </p:cNvSpPr>
          <p:nvPr>
            <p:ph type="body" idx="1"/>
          </p:nvPr>
        </p:nvSpPr>
        <p:spPr>
          <a:xfrm>
            <a:off x="311700" y="1152475"/>
            <a:ext cx="8520600" cy="3416400"/>
          </a:xfrm>
          <a:prstGeom prst="rect">
            <a:avLst/>
          </a:prstGeom>
          <a:noFill/>
          <a:ln>
            <a:noFill/>
          </a:ln>
        </p:spPr>
        <p:txBody>
          <a:bodyPr spcFirstLastPara="1" wrap="square" lIns="68575" tIns="68575" rIns="68575" bIns="68575" anchor="t" anchorCtr="0">
            <a:normAutofit/>
          </a:bodyPr>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Microsoft Yahei"/>
                <a:ea typeface="Microsoft Yahei"/>
                <a:cs typeface="Microsoft Yahei"/>
                <a:sym typeface="Microsoft Yahei"/>
              </a:defRPr>
            </a:lvl1pPr>
            <a:lvl2pPr marL="914400" marR="0" lvl="1"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2pPr>
            <a:lvl3pPr marL="1371600" marR="0" lvl="2"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3pPr>
            <a:lvl4pPr marL="1828800" marR="0" lvl="3"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4pPr>
            <a:lvl5pPr marL="2286000" marR="0" lvl="4"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5pPr>
            <a:lvl6pPr marL="2743200" marR="0" lvl="5"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6pPr>
            <a:lvl7pPr marL="3200400" marR="0" lvl="6"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7pPr>
            <a:lvl8pPr marL="3657600" marR="0" lvl="7"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8pPr>
            <a:lvl9pPr marL="4114800" marR="0" lvl="8" indent="-298450" algn="l" rtl="0">
              <a:lnSpc>
                <a:spcPct val="115000"/>
              </a:lnSpc>
              <a:spcBef>
                <a:spcPts val="0"/>
              </a:spcBef>
              <a:spcAft>
                <a:spcPts val="0"/>
              </a:spcAft>
              <a:buClr>
                <a:schemeClr val="dk2"/>
              </a:buClr>
              <a:buSzPts val="11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2" name="Google Shape;64;p16">
            <a:extLst>
              <a:ext uri="{FF2B5EF4-FFF2-40B4-BE49-F238E27FC236}">
                <a16:creationId xmlns:a16="http://schemas.microsoft.com/office/drawing/2014/main" id="{E8BE27D7-77F0-ED4D-ED48-7BB8D8BCE985}"/>
              </a:ext>
            </a:extLst>
          </p:cNvPr>
          <p:cNvSpPr txBox="1">
            <a:spLocks noGrp="1"/>
          </p:cNvSpPr>
          <p:nvPr>
            <p:ph type="sldNum" idx="4"/>
          </p:nvPr>
        </p:nvSpPr>
        <p:spPr>
          <a:xfrm>
            <a:off x="7969102" y="4642848"/>
            <a:ext cx="863198" cy="288000"/>
          </a:xfrm>
          <a:prstGeom prst="rect">
            <a:avLst/>
          </a:prstGeom>
        </p:spPr>
        <p:txBody>
          <a:bodyPr spcFirstLastPara="1" wrap="square" lIns="91425" tIns="91425" rIns="91425" bIns="91425" anchor="ctr" anchorCtr="0">
            <a:noAutofit/>
          </a:bodyPr>
          <a:lstStyle>
            <a:lvl1pPr lvl="0">
              <a:buNone/>
              <a:defRPr lang="en-US" altLang="zh-CN" sz="1000" b="0" i="0" u="none" strike="noStrike" cap="none" smtClean="0">
                <a:solidFill>
                  <a:schemeClr val="bg1">
                    <a:lumMod val="50000"/>
                  </a:schemeClr>
                </a:solidFill>
                <a:latin typeface="微软雅黑" panose="020B0503020204020204" pitchFamily="34" charset="-122"/>
                <a:ea typeface="微软雅黑" panose="020B0503020204020204" pitchFamily="34" charset="-122"/>
                <a:cs typeface="Arial"/>
                <a:sym typeface="Aria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altLang="zh-CN" smtClean="0"/>
              <a:pPr algn="r"/>
              <a:t>‹#›</a:t>
            </a:fld>
            <a:r>
              <a:rPr lang="zh-CN" altLang="en-US" dirty="0"/>
              <a:t> </a:t>
            </a:r>
            <a:r>
              <a:rPr lang="en-US" altLang="zh-CN" dirty="0"/>
              <a:t>/ 28</a:t>
            </a:r>
            <a:endParaRPr lang="zh-CN" altLang="en-US" dirty="0">
              <a:solidFill>
                <a:schemeClr val="bg1">
                  <a:lumMod val="50000"/>
                </a:schemeClr>
              </a:solidFill>
            </a:endParaRPr>
          </a:p>
        </p:txBody>
      </p:sp>
    </p:spTree>
  </p:cSld>
  <p:clrMap bg1="lt1" tx1="dk1" bg2="dk2" tx2="lt2" accent1="accent1" accent2="accent2" accent3="accent3" accent4="accent4" accent5="accent5" accent6="accent6" hlink="hlink" folHlink="folHlink"/>
  <p:sldLayoutIdLst>
    <p:sldLayoutId id="2147483747" r:id="rId1"/>
    <p:sldLayoutId id="2147483683"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748"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1109/SP63933.2026.00018"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hyperlink" Target="https://github.com/llm-platform-security/ai-agent-permiss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A0551F4-9E20-256B-10B3-C9EB99F64BAA}"/>
            </a:ext>
          </a:extLst>
        </p:cNvPr>
        <p:cNvGrpSpPr/>
        <p:nvPr/>
      </p:nvGrpSpPr>
      <p:grpSpPr>
        <a:xfrm>
          <a:off x="0" y="0"/>
          <a:ext cx="0" cy="0"/>
          <a:chOff x="0" y="0"/>
          <a:chExt cx="0" cy="0"/>
        </a:xfrm>
      </p:grpSpPr>
      <p:pic>
        <p:nvPicPr>
          <p:cNvPr id="20" name="Image 3">
            <a:extLst>
              <a:ext uri="{FF2B5EF4-FFF2-40B4-BE49-F238E27FC236}">
                <a16:creationId xmlns:a16="http://schemas.microsoft.com/office/drawing/2014/main" id="{0FAF826D-C09E-3540-0898-887FB2123309}"/>
              </a:ext>
            </a:extLst>
          </p:cNvPr>
          <p:cNvPicPr>
            <a:picLocks noChangeAspect="1"/>
          </p:cNvPicPr>
          <p:nvPr/>
        </p:nvPicPr>
        <p:blipFill>
          <a:blip r:embed="rId3"/>
          <a:stretch>
            <a:fillRect/>
          </a:stretch>
        </p:blipFill>
        <p:spPr>
          <a:xfrm>
            <a:off x="233964" y="271462"/>
            <a:ext cx="2043112" cy="643580"/>
          </a:xfrm>
          <a:prstGeom prst="rect">
            <a:avLst/>
          </a:prstGeom>
        </p:spPr>
      </p:pic>
      <p:sp>
        <p:nvSpPr>
          <p:cNvPr id="21" name="Rectangle 2">
            <a:extLst>
              <a:ext uri="{FF2B5EF4-FFF2-40B4-BE49-F238E27FC236}">
                <a16:creationId xmlns:a16="http://schemas.microsoft.com/office/drawing/2014/main" id="{488EE41D-9D95-03D4-C673-C89922C73DDE}"/>
              </a:ext>
            </a:extLst>
          </p:cNvPr>
          <p:cNvSpPr/>
          <p:nvPr/>
        </p:nvSpPr>
        <p:spPr>
          <a:xfrm>
            <a:off x="0" y="0"/>
            <a:ext cx="9144000" cy="57150"/>
          </a:xfrm>
          <a:prstGeom prst="rect">
            <a:avLst/>
          </a:prstGeom>
          <a:solidFill>
            <a:srgbClr val="005A84"/>
          </a:solidFill>
          <a:ln>
            <a:noFill/>
          </a:ln>
        </p:spPr>
        <p:txBody>
          <a:bodyPr/>
          <a:lstStyle/>
          <a:p>
            <a:endParaRPr lang="zh-CN" altLang="en-US"/>
          </a:p>
        </p:txBody>
      </p:sp>
      <p:sp>
        <p:nvSpPr>
          <p:cNvPr id="4" name="TextBox 4"/>
          <p:cNvSpPr txBox="1"/>
          <p:nvPr/>
        </p:nvSpPr>
        <p:spPr>
          <a:xfrm>
            <a:off x="466725" y="4869656"/>
            <a:ext cx="2601563" cy="147161"/>
          </a:xfrm>
          <a:prstGeom prst="rect">
            <a:avLst/>
          </a:prstGeom>
          <a:noFill/>
          <a:ln>
            <a:noFill/>
          </a:ln>
        </p:spPr>
        <p:txBody>
          <a:bodyPr wrap="none" lIns="0" tIns="-48" rIns="0" bIns="0" anchor="t" anchorCtr="0">
            <a:noAutofit/>
          </a:bodyPr>
          <a:lstStyle/>
          <a:p>
            <a:pPr algn="l"/>
            <a:r>
              <a:rPr lang="zh-CN" sz="770" dirty="0">
                <a:solidFill>
                  <a:srgbClr val="5C6B73"/>
                </a:solidFill>
                <a:latin typeface="Arial"/>
                <a:ea typeface="Microsoft YaHei"/>
                <a:cs typeface="Arial"/>
              </a:rPr>
              <a:t>DOI：10.1109/SP63933.2026.00018</a:t>
            </a:r>
          </a:p>
        </p:txBody>
      </p:sp>
      <p:grpSp>
        <p:nvGrpSpPr>
          <p:cNvPr id="11" name="Group 11"/>
          <p:cNvGrpSpPr/>
          <p:nvPr/>
        </p:nvGrpSpPr>
        <p:grpSpPr>
          <a:xfrm>
            <a:off x="482737" y="1049666"/>
            <a:ext cx="8191500" cy="1614964"/>
            <a:chOff x="476250" y="1213961"/>
            <a:chExt cx="8191500" cy="1614964"/>
          </a:xfrm>
        </p:grpSpPr>
        <p:sp>
          <p:nvSpPr>
            <p:cNvPr id="7" name="TextBox 7"/>
            <p:cNvSpPr txBox="1"/>
            <p:nvPr/>
          </p:nvSpPr>
          <p:spPr>
            <a:xfrm>
              <a:off x="476250" y="1213961"/>
              <a:ext cx="5496592" cy="614362"/>
            </a:xfrm>
            <a:prstGeom prst="rect">
              <a:avLst/>
            </a:prstGeom>
            <a:noFill/>
            <a:ln>
              <a:noFill/>
            </a:ln>
          </p:spPr>
          <p:txBody>
            <a:bodyPr wrap="none" lIns="0" tIns="0" rIns="0" bIns="0" anchor="t" anchorCtr="0">
              <a:noAutofit/>
            </a:bodyPr>
            <a:lstStyle/>
            <a:p>
              <a:r>
                <a:rPr lang="zh-CN" altLang="en-US" sz="3220" b="1" dirty="0">
                  <a:solidFill>
                    <a:srgbClr val="005A84"/>
                  </a:solidFill>
                  <a:ea typeface="Microsoft YaHei"/>
                </a:rPr>
                <a:t>面向 </a:t>
              </a:r>
              <a:r>
                <a:rPr lang="en-US" altLang="zh-CN" sz="3220" b="1" dirty="0">
                  <a:solidFill>
                    <a:srgbClr val="005A84"/>
                  </a:solidFill>
                  <a:ea typeface="Microsoft YaHei"/>
                </a:rPr>
                <a:t>AI </a:t>
              </a:r>
              <a:r>
                <a:rPr lang="zh-CN" altLang="en-US" sz="3220" b="1" dirty="0">
                  <a:solidFill>
                    <a:srgbClr val="005A84"/>
                  </a:solidFill>
                  <a:ea typeface="Microsoft YaHei"/>
                </a:rPr>
                <a:t>代理的数据访问</a:t>
              </a:r>
              <a:endParaRPr lang="zh-CN" sz="3220" b="1" dirty="0">
                <a:solidFill>
                  <a:srgbClr val="005A84"/>
                </a:solidFill>
                <a:latin typeface="Arial"/>
                <a:ea typeface="Microsoft YaHei"/>
                <a:cs typeface="Arial"/>
              </a:endParaRPr>
            </a:p>
          </p:txBody>
        </p:sp>
        <p:sp>
          <p:nvSpPr>
            <p:cNvPr id="8" name="TextBox 8"/>
            <p:cNvSpPr txBox="1"/>
            <p:nvPr/>
          </p:nvSpPr>
          <p:spPr>
            <a:xfrm>
              <a:off x="476250" y="1741646"/>
              <a:ext cx="3358134" cy="557212"/>
            </a:xfrm>
            <a:prstGeom prst="rect">
              <a:avLst/>
            </a:prstGeom>
            <a:noFill/>
            <a:ln>
              <a:noFill/>
            </a:ln>
          </p:spPr>
          <p:txBody>
            <a:bodyPr wrap="none" lIns="0" tIns="0" rIns="0" bIns="0" anchor="t" anchorCtr="0">
              <a:noAutofit/>
            </a:bodyPr>
            <a:lstStyle/>
            <a:p>
              <a:r>
                <a:rPr lang="zh-CN" altLang="en-US" sz="3200" b="1" dirty="0">
                  <a:solidFill>
                    <a:schemeClr val="tx1"/>
                  </a:solidFill>
                  <a:ea typeface="Microsoft YaHei"/>
                </a:rPr>
                <a:t>权限</a:t>
              </a:r>
              <a:r>
                <a:rPr lang="zh-CN" altLang="en-US" sz="3200" b="1">
                  <a:solidFill>
                    <a:schemeClr val="tx1"/>
                  </a:solidFill>
                  <a:ea typeface="Microsoft YaHei"/>
                </a:rPr>
                <a:t>自动化</a:t>
              </a:r>
              <a:endParaRPr lang="zh-CN" sz="2920" b="1" dirty="0">
                <a:solidFill>
                  <a:schemeClr val="tx1"/>
                </a:solidFill>
                <a:latin typeface="Arial"/>
                <a:ea typeface="Microsoft YaHei"/>
                <a:cs typeface="Arial"/>
              </a:endParaRPr>
            </a:p>
          </p:txBody>
        </p:sp>
        <p:sp>
          <p:nvSpPr>
            <p:cNvPr id="9" name="TextBox 9"/>
            <p:cNvSpPr txBox="1"/>
            <p:nvPr/>
          </p:nvSpPr>
          <p:spPr>
            <a:xfrm>
              <a:off x="476250" y="2309336"/>
              <a:ext cx="7362254" cy="328612"/>
            </a:xfrm>
            <a:prstGeom prst="rect">
              <a:avLst/>
            </a:prstGeom>
            <a:noFill/>
            <a:ln>
              <a:noFill/>
            </a:ln>
          </p:spPr>
          <p:txBody>
            <a:bodyPr wrap="none" lIns="0" tIns="0" rIns="0" bIns="0" anchor="t" anchorCtr="0">
              <a:noAutofit/>
            </a:bodyPr>
            <a:lstStyle/>
            <a:p>
              <a:pPr algn="l"/>
              <a:r>
                <a:rPr lang="en-US" sz="1720" dirty="0">
                  <a:solidFill>
                    <a:srgbClr val="5C6B73"/>
                  </a:solidFill>
                  <a:latin typeface="Arial"/>
                  <a:ea typeface="Arial"/>
                  <a:cs typeface="Arial"/>
                </a:rPr>
                <a:t>Towards Automating Data Access Permissions in AI Agents</a:t>
              </a:r>
            </a:p>
          </p:txBody>
        </p:sp>
        <p:sp>
          <p:nvSpPr>
            <p:cNvPr id="10" name="Line 10"/>
            <p:cNvSpPr/>
            <p:nvPr/>
          </p:nvSpPr>
          <p:spPr>
            <a:xfrm>
              <a:off x="476250" y="2819400"/>
              <a:ext cx="8191500" cy="9525"/>
            </a:xfrm>
            <a:custGeom>
              <a:avLst/>
              <a:gdLst/>
              <a:ahLst/>
              <a:cxnLst/>
              <a:rect l="l" t="t" r="r" b="b"/>
              <a:pathLst>
                <a:path w="8191500" h="9525">
                  <a:moveTo>
                    <a:pt x="0" y="0"/>
                  </a:moveTo>
                  <a:lnTo>
                    <a:pt x="8191500" y="0"/>
                  </a:lnTo>
                </a:path>
              </a:pathLst>
            </a:custGeom>
            <a:noFill/>
            <a:ln w="13335">
              <a:solidFill>
                <a:srgbClr val="CFDBDF"/>
              </a:solidFill>
            </a:ln>
          </p:spPr>
        </p:sp>
      </p:grpSp>
      <p:grpSp>
        <p:nvGrpSpPr>
          <p:cNvPr id="17" name="Group 17"/>
          <p:cNvGrpSpPr/>
          <p:nvPr/>
        </p:nvGrpSpPr>
        <p:grpSpPr>
          <a:xfrm>
            <a:off x="466725" y="2709197"/>
            <a:ext cx="7821845" cy="1857470"/>
            <a:chOff x="460238" y="3071336"/>
            <a:chExt cx="7821845" cy="1857470"/>
          </a:xfrm>
        </p:grpSpPr>
        <p:sp>
          <p:nvSpPr>
            <p:cNvPr id="12" name="TextBox 12"/>
            <p:cNvSpPr txBox="1"/>
            <p:nvPr/>
          </p:nvSpPr>
          <p:spPr>
            <a:xfrm>
              <a:off x="476250" y="3071336"/>
              <a:ext cx="6281452" cy="328612"/>
            </a:xfrm>
            <a:prstGeom prst="rect">
              <a:avLst/>
            </a:prstGeom>
            <a:noFill/>
            <a:ln>
              <a:noFill/>
            </a:ln>
          </p:spPr>
          <p:txBody>
            <a:bodyPr wrap="none" lIns="0" tIns="0" rIns="0" bIns="0" anchor="t" anchorCtr="0">
              <a:noAutofit/>
            </a:bodyPr>
            <a:lstStyle/>
            <a:p>
              <a:pPr algn="l"/>
              <a:r>
                <a:rPr lang="en-US" sz="1720" b="1" dirty="0">
                  <a:solidFill>
                    <a:srgbClr val="16735C"/>
                  </a:solidFill>
                  <a:latin typeface="Arial"/>
                  <a:ea typeface="Arial"/>
                  <a:cs typeface="Arial"/>
                </a:rPr>
                <a:t>IEEE Symposium on Security and Privacy · 2026</a:t>
              </a:r>
            </a:p>
          </p:txBody>
        </p:sp>
        <p:sp>
          <p:nvSpPr>
            <p:cNvPr id="13" name="TextBox 13"/>
            <p:cNvSpPr txBox="1"/>
            <p:nvPr/>
          </p:nvSpPr>
          <p:spPr>
            <a:xfrm>
              <a:off x="476250" y="3434239"/>
              <a:ext cx="7805833" cy="242888"/>
            </a:xfrm>
            <a:prstGeom prst="rect">
              <a:avLst/>
            </a:prstGeom>
            <a:noFill/>
            <a:ln>
              <a:noFill/>
            </a:ln>
          </p:spPr>
          <p:txBody>
            <a:bodyPr wrap="none" lIns="0" tIns="0" rIns="0" bIns="0" anchor="t" anchorCtr="0">
              <a:noAutofit/>
            </a:bodyPr>
            <a:lstStyle/>
            <a:p>
              <a:pPr algn="l"/>
              <a:r>
                <a:rPr lang="en-US" sz="1280" dirty="0">
                  <a:solidFill>
                    <a:srgbClr val="202B33"/>
                  </a:solidFill>
                  <a:latin typeface="Arial"/>
                  <a:ea typeface="Arial"/>
                  <a:cs typeface="Arial"/>
                </a:rPr>
                <a:t>Yuhao Wu · Ke Yang · Franziska Roesner · Tadayoshi Kohno · Ning Zhang · Umar Iqbal</a:t>
              </a:r>
            </a:p>
          </p:txBody>
        </p:sp>
        <p:sp>
          <p:nvSpPr>
            <p:cNvPr id="14" name="TextBox 14"/>
            <p:cNvSpPr txBox="1"/>
            <p:nvPr/>
          </p:nvSpPr>
          <p:spPr>
            <a:xfrm>
              <a:off x="460238" y="3678830"/>
              <a:ext cx="6062853" cy="257175"/>
            </a:xfrm>
            <a:prstGeom prst="rect">
              <a:avLst/>
            </a:prstGeom>
            <a:noFill/>
            <a:ln>
              <a:noFill/>
            </a:ln>
          </p:spPr>
          <p:txBody>
            <a:bodyPr wrap="none" lIns="0" tIns="0" rIns="0" bIns="0" anchor="t" anchorCtr="0">
              <a:noAutofit/>
            </a:bodyPr>
            <a:lstStyle/>
            <a:p>
              <a:pPr algn="l"/>
              <a:r>
                <a:rPr lang="zh-CN" sz="1100" dirty="0">
                  <a:solidFill>
                    <a:srgbClr val="5C6B73"/>
                  </a:solidFill>
                  <a:latin typeface="Arial"/>
                  <a:ea typeface="Microsoft YaHei"/>
                  <a:cs typeface="Arial"/>
                </a:rPr>
                <a:t>圣路易斯华盛顿大学 · 加州大学欧文分校 · 华盛顿大学 · 乔治城大学</a:t>
              </a:r>
            </a:p>
          </p:txBody>
        </p:sp>
        <p:sp>
          <p:nvSpPr>
            <p:cNvPr id="16" name="TextBox 16"/>
            <p:cNvSpPr txBox="1"/>
            <p:nvPr/>
          </p:nvSpPr>
          <p:spPr>
            <a:xfrm>
              <a:off x="551303" y="3983140"/>
              <a:ext cx="3693404" cy="945666"/>
            </a:xfrm>
            <a:prstGeom prst="rect">
              <a:avLst/>
            </a:prstGeom>
            <a:noFill/>
            <a:ln>
              <a:noFill/>
            </a:ln>
          </p:spPr>
          <p:txBody>
            <a:bodyPr wrap="none" lIns="0" tIns="0" rIns="0" bIns="0" anchor="t" anchorCtr="0">
              <a:noAutofit/>
            </a:bodyPr>
            <a:lstStyle/>
            <a:p>
              <a:pPr algn="l">
                <a:lnSpc>
                  <a:spcPct val="125000"/>
                </a:lnSpc>
              </a:pPr>
              <a:r>
                <a:rPr lang="zh-CN" altLang="en-US" dirty="0">
                  <a:solidFill>
                    <a:srgbClr val="202B33"/>
                  </a:solidFill>
                  <a:latin typeface="微软雅黑" panose="020B0503020204020204" pitchFamily="34" charset="-122"/>
                  <a:ea typeface="微软雅黑" panose="020B0503020204020204" pitchFamily="34" charset="-122"/>
                </a:rPr>
                <a:t>指导老师：</a:t>
              </a:r>
              <a:r>
                <a:rPr lang="en-US" altLang="zh-CN" dirty="0">
                  <a:solidFill>
                    <a:srgbClr val="202B33"/>
                  </a:solidFill>
                  <a:latin typeface="微软雅黑" panose="020B0503020204020204" pitchFamily="34" charset="-122"/>
                  <a:ea typeface="微软雅黑" panose="020B0503020204020204" pitchFamily="34" charset="-122"/>
                </a:rPr>
                <a:t>		</a:t>
              </a:r>
              <a:r>
                <a:rPr lang="zh-CN" altLang="en-US" dirty="0">
                  <a:solidFill>
                    <a:srgbClr val="202B33"/>
                  </a:solidFill>
                  <a:latin typeface="微软雅黑" panose="020B0503020204020204" pitchFamily="34" charset="-122"/>
                  <a:ea typeface="微软雅黑" panose="020B0503020204020204" pitchFamily="34" charset="-122"/>
                </a:rPr>
                <a:t>赵莽  武汉大学</a:t>
              </a:r>
              <a:endParaRPr lang="en-US" altLang="zh-CN" dirty="0">
                <a:solidFill>
                  <a:srgbClr val="202B33"/>
                </a:solidFill>
                <a:latin typeface="微软雅黑" panose="020B0503020204020204" pitchFamily="34" charset="-122"/>
                <a:ea typeface="微软雅黑" panose="020B0503020204020204" pitchFamily="34" charset="-122"/>
              </a:endParaRPr>
            </a:p>
            <a:p>
              <a:pPr algn="l">
                <a:lnSpc>
                  <a:spcPct val="125000"/>
                </a:lnSpc>
              </a:pPr>
              <a:r>
                <a:rPr lang="zh-CN" dirty="0">
                  <a:solidFill>
                    <a:srgbClr val="202B33"/>
                  </a:solidFill>
                  <a:latin typeface="微软雅黑" panose="020B0503020204020204" pitchFamily="34" charset="-122"/>
                  <a:ea typeface="微软雅黑" panose="020B0503020204020204" pitchFamily="34" charset="-122"/>
                </a:rPr>
                <a:t>汇报人：</a:t>
              </a:r>
              <a:r>
                <a:rPr lang="en-US" altLang="zh-CN" dirty="0">
                  <a:solidFill>
                    <a:srgbClr val="202B33"/>
                  </a:solidFill>
                  <a:latin typeface="微软雅黑" panose="020B0503020204020204" pitchFamily="34" charset="-122"/>
                  <a:ea typeface="微软雅黑" panose="020B0503020204020204" pitchFamily="34" charset="-122"/>
                </a:rPr>
                <a:t>		</a:t>
              </a:r>
              <a:r>
                <a:rPr lang="zh-CN" altLang="en-US" dirty="0">
                  <a:solidFill>
                    <a:srgbClr val="202B33"/>
                  </a:solidFill>
                  <a:latin typeface="微软雅黑" panose="020B0503020204020204" pitchFamily="34" charset="-122"/>
                  <a:ea typeface="微软雅黑" panose="020B0503020204020204" pitchFamily="34" charset="-122"/>
                </a:rPr>
                <a:t>温江涛   </a:t>
              </a:r>
              <a:endParaRPr lang="en-US" altLang="zh-CN" dirty="0">
                <a:solidFill>
                  <a:srgbClr val="202B33"/>
                </a:solidFill>
                <a:latin typeface="微软雅黑" panose="020B0503020204020204" pitchFamily="34" charset="-122"/>
                <a:ea typeface="微软雅黑" panose="020B0503020204020204" pitchFamily="34" charset="-122"/>
              </a:endParaRPr>
            </a:p>
            <a:p>
              <a:pPr algn="l">
                <a:lnSpc>
                  <a:spcPct val="125000"/>
                </a:lnSpc>
              </a:pPr>
              <a:r>
                <a:rPr lang="zh-CN" altLang="en-US" dirty="0">
                  <a:solidFill>
                    <a:srgbClr val="202B33"/>
                  </a:solidFill>
                  <a:latin typeface="微软雅黑" panose="020B0503020204020204" pitchFamily="34" charset="-122"/>
                  <a:ea typeface="微软雅黑" panose="020B0503020204020204" pitchFamily="34" charset="-122"/>
                </a:rPr>
                <a:t>汇报日期：</a:t>
              </a:r>
              <a:r>
                <a:rPr lang="en-US" altLang="zh-CN" dirty="0">
                  <a:solidFill>
                    <a:srgbClr val="202B33"/>
                  </a:solidFill>
                  <a:latin typeface="微软雅黑" panose="020B0503020204020204" pitchFamily="34" charset="-122"/>
                  <a:ea typeface="微软雅黑" panose="020B0503020204020204" pitchFamily="34" charset="-122"/>
                </a:rPr>
                <a:t>		2026.10.11</a:t>
              </a:r>
              <a:endParaRPr lang="zh-CN" dirty="0">
                <a:solidFill>
                  <a:srgbClr val="202B33"/>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791633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890CFC28-135E-7297-AF8F-280A850AC77A}"/>
            </a:ext>
          </a:extLst>
        </p:cNvPr>
        <p:cNvGrpSpPr/>
        <p:nvPr/>
      </p:nvGrpSpPr>
      <p:grpSpPr>
        <a:xfrm>
          <a:off x="0" y="0"/>
          <a:ext cx="0" cy="0"/>
          <a:chOff x="0" y="0"/>
          <a:chExt cx="0" cy="0"/>
        </a:xfrm>
      </p:grpSpPr>
      <p:grpSp>
        <p:nvGrpSpPr>
          <p:cNvPr id="5" name="Group 5"/>
          <p:cNvGrpSpPr/>
          <p:nvPr/>
        </p:nvGrpSpPr>
        <p:grpSpPr>
          <a:xfrm>
            <a:off x="504825" y="392430"/>
            <a:ext cx="2189226" cy="415766"/>
            <a:chOff x="504825" y="392430"/>
            <a:chExt cx="2189226" cy="415766"/>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00</a:t>
              </a:r>
            </a:p>
          </p:txBody>
        </p:sp>
        <p:sp>
          <p:nvSpPr>
            <p:cNvPr id="3" name="TextBox 3"/>
            <p:cNvSpPr txBox="1"/>
            <p:nvPr/>
          </p:nvSpPr>
          <p:spPr>
            <a:xfrm>
              <a:off x="1219200" y="392430"/>
              <a:ext cx="1474851"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汇报路线</a:t>
              </a:r>
            </a:p>
          </p:txBody>
        </p:sp>
      </p:grpSp>
      <p:grpSp>
        <p:nvGrpSpPr>
          <p:cNvPr id="28" name="组合 27">
            <a:extLst>
              <a:ext uri="{FF2B5EF4-FFF2-40B4-BE49-F238E27FC236}">
                <a16:creationId xmlns:a16="http://schemas.microsoft.com/office/drawing/2014/main" id="{C0B0C448-05E8-3B02-3BB9-CCE6D4DE707C}"/>
              </a:ext>
            </a:extLst>
          </p:cNvPr>
          <p:cNvGrpSpPr/>
          <p:nvPr/>
        </p:nvGrpSpPr>
        <p:grpSpPr>
          <a:xfrm>
            <a:off x="1219200" y="1350017"/>
            <a:ext cx="2551938" cy="2745215"/>
            <a:chOff x="875581" y="1601734"/>
            <a:chExt cx="2551938" cy="2745215"/>
          </a:xfrm>
        </p:grpSpPr>
        <p:grpSp>
          <p:nvGrpSpPr>
            <p:cNvPr id="25" name="Group 25"/>
            <p:cNvGrpSpPr/>
            <p:nvPr/>
          </p:nvGrpSpPr>
          <p:grpSpPr>
            <a:xfrm>
              <a:off x="875581" y="2186678"/>
              <a:ext cx="2551938" cy="2160271"/>
              <a:chOff x="571500" y="1652111"/>
              <a:chExt cx="2551938" cy="2160271"/>
            </a:xfrm>
          </p:grpSpPr>
          <p:sp>
            <p:nvSpPr>
              <p:cNvPr id="9" name="TextBox 9"/>
              <p:cNvSpPr txBox="1"/>
              <p:nvPr/>
            </p:nvSpPr>
            <p:spPr>
              <a:xfrm>
                <a:off x="571500" y="1654969"/>
                <a:ext cx="546068" cy="357188"/>
              </a:xfrm>
              <a:prstGeom prst="rect">
                <a:avLst/>
              </a:prstGeom>
              <a:noFill/>
              <a:ln>
                <a:noFill/>
              </a:ln>
            </p:spPr>
            <p:txBody>
              <a:bodyPr wrap="none" lIns="0" tIns="0" rIns="0" bIns="0" anchor="t" anchorCtr="0">
                <a:noAutofit/>
              </a:bodyPr>
              <a:lstStyle/>
              <a:p>
                <a:pPr algn="l"/>
                <a:r>
                  <a:rPr lang="en-US" sz="1880" b="1" dirty="0">
                    <a:solidFill>
                      <a:srgbClr val="16735C"/>
                    </a:solidFill>
                    <a:latin typeface="Arial"/>
                    <a:ea typeface="Arial"/>
                    <a:cs typeface="Arial"/>
                  </a:rPr>
                  <a:t>02</a:t>
                </a:r>
              </a:p>
            </p:txBody>
          </p:sp>
          <p:sp>
            <p:nvSpPr>
              <p:cNvPr id="10" name="TextBox 10"/>
              <p:cNvSpPr txBox="1"/>
              <p:nvPr/>
            </p:nvSpPr>
            <p:spPr>
              <a:xfrm>
                <a:off x="1143000" y="1652111"/>
                <a:ext cx="1980438"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用户研究</a:t>
                </a:r>
              </a:p>
            </p:txBody>
          </p:sp>
          <p:sp>
            <p:nvSpPr>
              <p:cNvPr id="13" name="TextBox 13"/>
              <p:cNvSpPr txBox="1"/>
              <p:nvPr/>
            </p:nvSpPr>
            <p:spPr>
              <a:xfrm>
                <a:off x="571500" y="2255044"/>
                <a:ext cx="546068" cy="357188"/>
              </a:xfrm>
              <a:prstGeom prst="rect">
                <a:avLst/>
              </a:prstGeom>
              <a:noFill/>
              <a:ln>
                <a:noFill/>
              </a:ln>
            </p:spPr>
            <p:txBody>
              <a:bodyPr wrap="none" lIns="0" tIns="0" rIns="0" bIns="0" anchor="t" anchorCtr="0">
                <a:noAutofit/>
              </a:bodyPr>
              <a:lstStyle/>
              <a:p>
                <a:pPr algn="l"/>
                <a:r>
                  <a:rPr lang="en-US" sz="1880" b="1" dirty="0">
                    <a:solidFill>
                      <a:srgbClr val="16735C"/>
                    </a:solidFill>
                    <a:latin typeface="Arial"/>
                    <a:ea typeface="Arial"/>
                    <a:cs typeface="Arial"/>
                  </a:rPr>
                  <a:t>03</a:t>
                </a:r>
              </a:p>
            </p:txBody>
          </p:sp>
          <p:sp>
            <p:nvSpPr>
              <p:cNvPr id="14" name="TextBox 14"/>
              <p:cNvSpPr txBox="1"/>
              <p:nvPr/>
            </p:nvSpPr>
            <p:spPr>
              <a:xfrm>
                <a:off x="1143000" y="2252186"/>
                <a:ext cx="1467803"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方法与机制</a:t>
                </a:r>
              </a:p>
            </p:txBody>
          </p:sp>
          <p:sp>
            <p:nvSpPr>
              <p:cNvPr id="17" name="TextBox 17"/>
              <p:cNvSpPr txBox="1"/>
              <p:nvPr/>
            </p:nvSpPr>
            <p:spPr>
              <a:xfrm>
                <a:off x="571500" y="2855119"/>
                <a:ext cx="546068" cy="357188"/>
              </a:xfrm>
              <a:prstGeom prst="rect">
                <a:avLst/>
              </a:prstGeom>
              <a:noFill/>
              <a:ln>
                <a:noFill/>
              </a:ln>
            </p:spPr>
            <p:txBody>
              <a:bodyPr wrap="none" lIns="0" tIns="0" rIns="0" bIns="0" anchor="t" anchorCtr="0">
                <a:noAutofit/>
              </a:bodyPr>
              <a:lstStyle/>
              <a:p>
                <a:pPr algn="l"/>
                <a:r>
                  <a:rPr lang="en-US" sz="1880" b="1" dirty="0">
                    <a:solidFill>
                      <a:srgbClr val="16735C"/>
                    </a:solidFill>
                    <a:latin typeface="Arial"/>
                    <a:ea typeface="Arial"/>
                    <a:cs typeface="Arial"/>
                  </a:rPr>
                  <a:t>04</a:t>
                </a:r>
              </a:p>
            </p:txBody>
          </p:sp>
          <p:sp>
            <p:nvSpPr>
              <p:cNvPr id="18" name="TextBox 18"/>
              <p:cNvSpPr txBox="1"/>
              <p:nvPr/>
            </p:nvSpPr>
            <p:spPr>
              <a:xfrm>
                <a:off x="1143000" y="2852261"/>
                <a:ext cx="1467803"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实验与分析</a:t>
                </a:r>
              </a:p>
            </p:txBody>
          </p:sp>
          <p:sp>
            <p:nvSpPr>
              <p:cNvPr id="21" name="TextBox 21"/>
              <p:cNvSpPr txBox="1"/>
              <p:nvPr/>
            </p:nvSpPr>
            <p:spPr>
              <a:xfrm>
                <a:off x="571500" y="3455194"/>
                <a:ext cx="546068" cy="357188"/>
              </a:xfrm>
              <a:prstGeom prst="rect">
                <a:avLst/>
              </a:prstGeom>
              <a:noFill/>
              <a:ln>
                <a:noFill/>
              </a:ln>
            </p:spPr>
            <p:txBody>
              <a:bodyPr wrap="none" lIns="0" tIns="0" rIns="0" bIns="0" anchor="t" anchorCtr="0">
                <a:noAutofit/>
              </a:bodyPr>
              <a:lstStyle/>
              <a:p>
                <a:pPr algn="l"/>
                <a:r>
                  <a:rPr lang="en-US" sz="1880" b="1" dirty="0">
                    <a:solidFill>
                      <a:srgbClr val="16735C"/>
                    </a:solidFill>
                    <a:latin typeface="Arial"/>
                    <a:ea typeface="Arial"/>
                    <a:cs typeface="Arial"/>
                  </a:rPr>
                  <a:t>05</a:t>
                </a:r>
              </a:p>
            </p:txBody>
          </p:sp>
          <p:sp>
            <p:nvSpPr>
              <p:cNvPr id="22" name="TextBox 22"/>
              <p:cNvSpPr txBox="1"/>
              <p:nvPr/>
            </p:nvSpPr>
            <p:spPr>
              <a:xfrm>
                <a:off x="1143000" y="3452336"/>
                <a:ext cx="1467803"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局限与总结</a:t>
                </a:r>
              </a:p>
            </p:txBody>
          </p:sp>
        </p:grpSp>
        <p:sp>
          <p:nvSpPr>
            <p:cNvPr id="16" name="TextBox 9">
              <a:extLst>
                <a:ext uri="{FF2B5EF4-FFF2-40B4-BE49-F238E27FC236}">
                  <a16:creationId xmlns:a16="http://schemas.microsoft.com/office/drawing/2014/main" id="{9A161625-CFB9-2F84-F08F-10DC16A038F6}"/>
                </a:ext>
              </a:extLst>
            </p:cNvPr>
            <p:cNvSpPr txBox="1"/>
            <p:nvPr/>
          </p:nvSpPr>
          <p:spPr>
            <a:xfrm>
              <a:off x="875581" y="1604592"/>
              <a:ext cx="546068" cy="357188"/>
            </a:xfrm>
            <a:prstGeom prst="rect">
              <a:avLst/>
            </a:prstGeom>
            <a:noFill/>
            <a:ln>
              <a:noFill/>
            </a:ln>
          </p:spPr>
          <p:txBody>
            <a:bodyPr wrap="none" lIns="0" tIns="0" rIns="0" bIns="0" anchor="t" anchorCtr="0">
              <a:noAutofit/>
            </a:bodyPr>
            <a:lstStyle/>
            <a:p>
              <a:pPr algn="l"/>
              <a:r>
                <a:rPr lang="en-US" sz="1880" b="1" dirty="0">
                  <a:solidFill>
                    <a:srgbClr val="16735C"/>
                  </a:solidFill>
                  <a:latin typeface="Arial"/>
                  <a:ea typeface="Arial"/>
                  <a:cs typeface="Arial"/>
                </a:rPr>
                <a:t>01</a:t>
              </a:r>
            </a:p>
          </p:txBody>
        </p:sp>
        <p:sp>
          <p:nvSpPr>
            <p:cNvPr id="24" name="TextBox 10">
              <a:extLst>
                <a:ext uri="{FF2B5EF4-FFF2-40B4-BE49-F238E27FC236}">
                  <a16:creationId xmlns:a16="http://schemas.microsoft.com/office/drawing/2014/main" id="{22E030C3-D46B-C455-8F4B-C704DC07F32D}"/>
                </a:ext>
              </a:extLst>
            </p:cNvPr>
            <p:cNvSpPr txBox="1"/>
            <p:nvPr/>
          </p:nvSpPr>
          <p:spPr>
            <a:xfrm>
              <a:off x="1447081" y="1601734"/>
              <a:ext cx="1980438"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背景</a:t>
              </a:r>
            </a:p>
          </p:txBody>
        </p:sp>
      </p:grpSp>
    </p:spTree>
    <p:extLst>
      <p:ext uri="{BB962C8B-B14F-4D97-AF65-F5344CB8AC3E}">
        <p14:creationId xmlns:p14="http://schemas.microsoft.com/office/powerpoint/2010/main" val="51118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27C9C870-121C-B327-FCDA-387F97EAE4F6}"/>
            </a:ext>
          </a:extLst>
        </p:cNvPr>
        <p:cNvGrpSpPr/>
        <p:nvPr/>
      </p:nvGrpSpPr>
      <p:grpSpPr>
        <a:xfrm>
          <a:off x="0" y="0"/>
          <a:ext cx="0" cy="0"/>
          <a:chOff x="0" y="0"/>
          <a:chExt cx="0" cy="0"/>
        </a:xfrm>
      </p:grpSpPr>
      <p:grpSp>
        <p:nvGrpSpPr>
          <p:cNvPr id="5" name="Group 5"/>
          <p:cNvGrpSpPr/>
          <p:nvPr/>
        </p:nvGrpSpPr>
        <p:grpSpPr>
          <a:xfrm>
            <a:off x="476250" y="392430"/>
            <a:ext cx="6236494" cy="1012984"/>
            <a:chOff x="476250" y="392430"/>
            <a:chExt cx="623649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01</a:t>
              </a:r>
            </a:p>
          </p:txBody>
        </p:sp>
        <p:sp>
          <p:nvSpPr>
            <p:cNvPr id="3" name="TextBox 3"/>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背景：</a:t>
              </a:r>
              <a:r>
                <a:rPr lang="en-US" altLang="zh-CN" sz="2100" b="1" dirty="0">
                  <a:solidFill>
                    <a:srgbClr val="202B33"/>
                  </a:solidFill>
                  <a:latin typeface="Arial"/>
                  <a:ea typeface="Microsoft YaHei"/>
                  <a:cs typeface="Arial"/>
                </a:rPr>
                <a:t>Agent</a:t>
              </a:r>
              <a:r>
                <a:rPr lang="zh-CN" altLang="en-US" sz="2100" b="1" dirty="0">
                  <a:solidFill>
                    <a:srgbClr val="202B33"/>
                  </a:solidFill>
                  <a:latin typeface="Arial"/>
                  <a:ea typeface="Microsoft YaHei"/>
                  <a:cs typeface="Arial"/>
                </a:rPr>
                <a:t>权限风险</a:t>
              </a:r>
              <a:endParaRPr lang="zh-CN" sz="2100" b="1" dirty="0">
                <a:solidFill>
                  <a:srgbClr val="202B33"/>
                </a:solidFill>
                <a:latin typeface="Arial"/>
                <a:ea typeface="Microsoft YaHei"/>
                <a:cs typeface="Arial"/>
              </a:endParaRPr>
            </a:p>
          </p:txBody>
        </p:sp>
        <p:sp>
          <p:nvSpPr>
            <p:cNvPr id="4" name="TextBox 4"/>
            <p:cNvSpPr txBox="1"/>
            <p:nvPr/>
          </p:nvSpPr>
          <p:spPr>
            <a:xfrm>
              <a:off x="476250" y="1019651"/>
              <a:ext cx="6236494"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一句“帮我订机票”，可能</a:t>
              </a:r>
              <a:r>
                <a:rPr lang="zh-CN" altLang="en-US" sz="2020" b="1" dirty="0">
                  <a:solidFill>
                    <a:srgbClr val="005A84"/>
                  </a:solidFill>
                  <a:latin typeface="Arial"/>
                  <a:ea typeface="Microsoft YaHei"/>
                  <a:cs typeface="Arial"/>
                </a:rPr>
                <a:t>带来的安全隐私风险</a:t>
              </a:r>
              <a:endParaRPr lang="zh-CN" sz="2020" b="1" dirty="0">
                <a:solidFill>
                  <a:srgbClr val="005A84"/>
                </a:solidFill>
                <a:latin typeface="Arial"/>
                <a:ea typeface="Microsoft YaHei"/>
                <a:cs typeface="Arial"/>
              </a:endParaRPr>
            </a:p>
          </p:txBody>
        </p:sp>
      </p:grpSp>
      <p:grpSp>
        <p:nvGrpSpPr>
          <p:cNvPr id="25" name="Group 25"/>
          <p:cNvGrpSpPr/>
          <p:nvPr/>
        </p:nvGrpSpPr>
        <p:grpSpPr>
          <a:xfrm>
            <a:off x="552450" y="1790700"/>
            <a:ext cx="8039100" cy="2111693"/>
            <a:chOff x="552450" y="1790700"/>
            <a:chExt cx="8039100" cy="2111693"/>
          </a:xfrm>
        </p:grpSpPr>
        <p:sp>
          <p:nvSpPr>
            <p:cNvPr id="9" name="Rectangle 9"/>
            <p:cNvSpPr/>
            <p:nvPr/>
          </p:nvSpPr>
          <p:spPr>
            <a:xfrm>
              <a:off x="552450" y="1790700"/>
              <a:ext cx="2076450" cy="895350"/>
            </a:xfrm>
            <a:prstGeom prst="rect">
              <a:avLst/>
            </a:prstGeom>
            <a:solidFill>
              <a:srgbClr val="F0F5F6"/>
            </a:solidFill>
            <a:ln>
              <a:noFill/>
            </a:ln>
          </p:spPr>
        </p:sp>
        <p:sp>
          <p:nvSpPr>
            <p:cNvPr id="10" name="TextBox 10"/>
            <p:cNvSpPr txBox="1"/>
            <p:nvPr/>
          </p:nvSpPr>
          <p:spPr>
            <a:xfrm>
              <a:off x="704850" y="1909286"/>
              <a:ext cx="1211485"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用户任务</a:t>
              </a:r>
            </a:p>
          </p:txBody>
        </p:sp>
        <p:sp>
          <p:nvSpPr>
            <p:cNvPr id="11" name="TextBox 11"/>
            <p:cNvSpPr txBox="1"/>
            <p:nvPr/>
          </p:nvSpPr>
          <p:spPr>
            <a:xfrm>
              <a:off x="704850" y="2246471"/>
              <a:ext cx="1847755" cy="271463"/>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“帮我预订航班”</a:t>
              </a:r>
            </a:p>
          </p:txBody>
        </p:sp>
        <p:sp>
          <p:nvSpPr>
            <p:cNvPr id="12" name="Rectangle 12"/>
            <p:cNvSpPr/>
            <p:nvPr/>
          </p:nvSpPr>
          <p:spPr>
            <a:xfrm>
              <a:off x="3429000" y="1790700"/>
              <a:ext cx="2095500" cy="895350"/>
            </a:xfrm>
            <a:prstGeom prst="rect">
              <a:avLst/>
            </a:prstGeom>
            <a:solidFill>
              <a:srgbClr val="E5F2ED"/>
            </a:solidFill>
            <a:ln>
              <a:noFill/>
            </a:ln>
          </p:spPr>
        </p:sp>
        <p:sp>
          <p:nvSpPr>
            <p:cNvPr id="13" name="TextBox 13"/>
            <p:cNvSpPr txBox="1"/>
            <p:nvPr/>
          </p:nvSpPr>
          <p:spPr>
            <a:xfrm>
              <a:off x="3581400" y="1909286"/>
              <a:ext cx="1325785" cy="328612"/>
            </a:xfrm>
            <a:prstGeom prst="rect">
              <a:avLst/>
            </a:prstGeom>
            <a:noFill/>
            <a:ln>
              <a:noFill/>
            </a:ln>
          </p:spPr>
          <p:txBody>
            <a:bodyPr wrap="none" lIns="0" tIns="0" rIns="0" bIns="0" anchor="t" anchorCtr="0">
              <a:noAutofit/>
            </a:bodyPr>
            <a:lstStyle/>
            <a:p>
              <a:pPr algn="l"/>
              <a:r>
                <a:rPr lang="en-US" sz="1720" b="1" dirty="0">
                  <a:solidFill>
                    <a:srgbClr val="16735C"/>
                  </a:solidFill>
                  <a:latin typeface="Arial"/>
                  <a:ea typeface="Arial"/>
                  <a:cs typeface="Arial"/>
                </a:rPr>
                <a:t>AI Agent</a:t>
              </a:r>
            </a:p>
          </p:txBody>
        </p:sp>
        <p:sp>
          <p:nvSpPr>
            <p:cNvPr id="14" name="TextBox 14"/>
            <p:cNvSpPr txBox="1"/>
            <p:nvPr/>
          </p:nvSpPr>
          <p:spPr>
            <a:xfrm>
              <a:off x="3581400" y="2246471"/>
              <a:ext cx="2059496" cy="271463"/>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规划步骤、读取记忆</a:t>
              </a:r>
              <a:r>
                <a:rPr lang="zh-CN" altLang="en-US" sz="1420" dirty="0">
                  <a:solidFill>
                    <a:srgbClr val="202B33"/>
                  </a:solidFill>
                  <a:latin typeface="Arial"/>
                  <a:ea typeface="Microsoft YaHei"/>
                  <a:cs typeface="Arial"/>
                </a:rPr>
                <a:t>等</a:t>
              </a:r>
              <a:endParaRPr lang="zh-CN" sz="1420" dirty="0">
                <a:solidFill>
                  <a:srgbClr val="202B33"/>
                </a:solidFill>
                <a:latin typeface="Arial"/>
                <a:ea typeface="Microsoft YaHei"/>
                <a:cs typeface="Arial"/>
              </a:endParaRPr>
            </a:p>
          </p:txBody>
        </p:sp>
        <p:sp>
          <p:nvSpPr>
            <p:cNvPr id="15" name="Rectangle 15"/>
            <p:cNvSpPr/>
            <p:nvPr/>
          </p:nvSpPr>
          <p:spPr>
            <a:xfrm>
              <a:off x="6353175" y="1790700"/>
              <a:ext cx="2238375" cy="895350"/>
            </a:xfrm>
            <a:prstGeom prst="rect">
              <a:avLst/>
            </a:prstGeom>
            <a:solidFill>
              <a:srgbClr val="F0F5F6"/>
            </a:solidFill>
            <a:ln>
              <a:noFill/>
            </a:ln>
          </p:spPr>
        </p:sp>
        <p:sp>
          <p:nvSpPr>
            <p:cNvPr id="16" name="TextBox 16"/>
            <p:cNvSpPr txBox="1"/>
            <p:nvPr/>
          </p:nvSpPr>
          <p:spPr>
            <a:xfrm>
              <a:off x="6505575" y="1909286"/>
              <a:ext cx="1467803"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第三方工具</a:t>
              </a:r>
            </a:p>
          </p:txBody>
        </p:sp>
        <p:sp>
          <p:nvSpPr>
            <p:cNvPr id="17" name="TextBox 17"/>
            <p:cNvSpPr txBox="1"/>
            <p:nvPr/>
          </p:nvSpPr>
          <p:spPr>
            <a:xfrm>
              <a:off x="6505575" y="2246471"/>
              <a:ext cx="1847755" cy="271463"/>
            </a:xfrm>
            <a:prstGeom prst="rect">
              <a:avLst/>
            </a:prstGeom>
            <a:noFill/>
            <a:ln>
              <a:noFill/>
            </a:ln>
          </p:spPr>
          <p:txBody>
            <a:bodyPr wrap="none" lIns="0" tIns="0" rIns="0" bIns="0" anchor="t" anchorCtr="0">
              <a:noAutofit/>
            </a:bodyPr>
            <a:lstStyle/>
            <a:p>
              <a:pPr algn="l"/>
              <a:r>
                <a:rPr lang="zh-CN" altLang="en-US" sz="1420" dirty="0">
                  <a:solidFill>
                    <a:srgbClr val="202B33"/>
                  </a:solidFill>
                  <a:latin typeface="Arial"/>
                  <a:ea typeface="Microsoft YaHei"/>
                  <a:cs typeface="Arial"/>
                </a:rPr>
                <a:t>查询、</a:t>
              </a:r>
              <a:r>
                <a:rPr lang="zh-CN" sz="1420" dirty="0">
                  <a:solidFill>
                    <a:srgbClr val="202B33"/>
                  </a:solidFill>
                  <a:latin typeface="Arial"/>
                  <a:ea typeface="Microsoft YaHei"/>
                  <a:cs typeface="Arial"/>
                </a:rPr>
                <a:t>订票、支付</a:t>
              </a:r>
            </a:p>
          </p:txBody>
        </p:sp>
        <p:sp>
          <p:nvSpPr>
            <p:cNvPr id="18" name="Line 18"/>
            <p:cNvSpPr/>
            <p:nvPr/>
          </p:nvSpPr>
          <p:spPr>
            <a:xfrm>
              <a:off x="2705100" y="2238375"/>
              <a:ext cx="619125" cy="1"/>
            </a:xfrm>
            <a:prstGeom prst="line">
              <a:avLst/>
            </a:prstGeom>
            <a:noFill/>
            <a:ln w="19050">
              <a:solidFill>
                <a:srgbClr val="16735C"/>
              </a:solidFill>
              <a:tailEnd type="triangle" w="lg" len="lg"/>
            </a:ln>
          </p:spPr>
        </p:sp>
        <p:sp>
          <p:nvSpPr>
            <p:cNvPr id="19" name="Line 19"/>
            <p:cNvSpPr/>
            <p:nvPr/>
          </p:nvSpPr>
          <p:spPr>
            <a:xfrm>
              <a:off x="5619750" y="2238375"/>
              <a:ext cx="609600" cy="1"/>
            </a:xfrm>
            <a:prstGeom prst="line">
              <a:avLst/>
            </a:prstGeom>
            <a:noFill/>
            <a:ln w="19050">
              <a:solidFill>
                <a:srgbClr val="16735C"/>
              </a:solidFill>
              <a:tailEnd type="triangle" w="lg" len="lg"/>
            </a:ln>
          </p:spPr>
        </p:sp>
        <p:sp>
          <p:nvSpPr>
            <p:cNvPr id="20" name="TextBox 20"/>
            <p:cNvSpPr txBox="1"/>
            <p:nvPr/>
          </p:nvSpPr>
          <p:spPr>
            <a:xfrm>
              <a:off x="619125" y="2927032"/>
              <a:ext cx="1894332" cy="314325"/>
            </a:xfrm>
            <a:prstGeom prst="rect">
              <a:avLst/>
            </a:prstGeom>
            <a:noFill/>
            <a:ln>
              <a:noFill/>
            </a:ln>
          </p:spPr>
          <p:txBody>
            <a:bodyPr wrap="none" lIns="0" tIns="0" rIns="0" bIns="0" anchor="t" anchorCtr="0">
              <a:noAutofit/>
            </a:bodyPr>
            <a:lstStyle/>
            <a:p>
              <a:pPr algn="l"/>
              <a:r>
                <a:rPr lang="zh-CN" sz="1650" b="1" dirty="0">
                  <a:solidFill>
                    <a:srgbClr val="005A84"/>
                  </a:solidFill>
                  <a:latin typeface="Arial"/>
                  <a:ea typeface="Microsoft YaHei"/>
                  <a:cs typeface="Arial"/>
                </a:rPr>
                <a:t>可能涉及的数据</a:t>
              </a:r>
            </a:p>
          </p:txBody>
        </p:sp>
        <p:sp>
          <p:nvSpPr>
            <p:cNvPr id="21" name="TextBox 21"/>
            <p:cNvSpPr txBox="1"/>
            <p:nvPr/>
          </p:nvSpPr>
          <p:spPr>
            <a:xfrm>
              <a:off x="619125" y="3276600"/>
              <a:ext cx="2390775" cy="285750"/>
            </a:xfrm>
            <a:prstGeom prst="rect">
              <a:avLst/>
            </a:prstGeom>
            <a:noFill/>
            <a:ln>
              <a:noFill/>
            </a:ln>
          </p:spPr>
          <p:txBody>
            <a:bodyPr wrap="none" lIns="0" tIns="0" rIns="0" bIns="0" anchor="t" anchorCtr="0">
              <a:noAutofit/>
            </a:bodyPr>
            <a:lstStyle/>
            <a:p>
              <a:pPr algn="l"/>
              <a:r>
                <a:rPr lang="zh-CN" sz="1500" dirty="0">
                  <a:solidFill>
                    <a:srgbClr val="202B33"/>
                  </a:solidFill>
                  <a:latin typeface="Arial"/>
                  <a:ea typeface="Microsoft YaHei"/>
                  <a:cs typeface="Arial"/>
                </a:rPr>
                <a:t>姓名、行程、</a:t>
              </a:r>
              <a:r>
                <a:rPr lang="zh-CN" altLang="en-US" sz="1500" dirty="0">
                  <a:solidFill>
                    <a:srgbClr val="202B33"/>
                  </a:solidFill>
                  <a:latin typeface="Arial"/>
                  <a:ea typeface="Microsoft YaHei"/>
                  <a:cs typeface="Arial"/>
                </a:rPr>
                <a:t>支付</a:t>
              </a:r>
              <a:r>
                <a:rPr lang="zh-CN" sz="1500" dirty="0">
                  <a:solidFill>
                    <a:srgbClr val="202B33"/>
                  </a:solidFill>
                  <a:latin typeface="Arial"/>
                  <a:ea typeface="Microsoft YaHei"/>
                  <a:cs typeface="Arial"/>
                </a:rPr>
                <a:t>信息</a:t>
              </a:r>
            </a:p>
          </p:txBody>
        </p:sp>
        <p:sp>
          <p:nvSpPr>
            <p:cNvPr id="22" name="TextBox 22"/>
            <p:cNvSpPr txBox="1"/>
            <p:nvPr/>
          </p:nvSpPr>
          <p:spPr>
            <a:xfrm>
              <a:off x="4092864" y="2927032"/>
              <a:ext cx="1894332" cy="314325"/>
            </a:xfrm>
            <a:prstGeom prst="rect">
              <a:avLst/>
            </a:prstGeom>
            <a:noFill/>
            <a:ln>
              <a:noFill/>
            </a:ln>
          </p:spPr>
          <p:txBody>
            <a:bodyPr wrap="none" lIns="0" tIns="0" rIns="0" bIns="0" anchor="t" anchorCtr="0">
              <a:noAutofit/>
            </a:bodyPr>
            <a:lstStyle/>
            <a:p>
              <a:pPr algn="l"/>
              <a:r>
                <a:rPr lang="zh-CN" altLang="en-US" sz="1650" b="1" dirty="0">
                  <a:solidFill>
                    <a:srgbClr val="BE4B42"/>
                  </a:solidFill>
                  <a:latin typeface="Arial"/>
                  <a:ea typeface="Microsoft YaHei"/>
                  <a:cs typeface="Arial"/>
                </a:rPr>
                <a:t>数据隐私风险</a:t>
              </a:r>
              <a:endParaRPr lang="zh-CN" sz="1650" b="1" dirty="0">
                <a:solidFill>
                  <a:srgbClr val="BE4B42"/>
                </a:solidFill>
                <a:latin typeface="Arial"/>
                <a:ea typeface="Microsoft YaHei"/>
                <a:cs typeface="Arial"/>
              </a:endParaRPr>
            </a:p>
          </p:txBody>
        </p:sp>
        <p:sp>
          <p:nvSpPr>
            <p:cNvPr id="23" name="TextBox 23"/>
            <p:cNvSpPr txBox="1"/>
            <p:nvPr/>
          </p:nvSpPr>
          <p:spPr>
            <a:xfrm>
              <a:off x="4092864" y="3276600"/>
              <a:ext cx="3282315" cy="285750"/>
            </a:xfrm>
            <a:prstGeom prst="rect">
              <a:avLst/>
            </a:prstGeom>
            <a:noFill/>
            <a:ln>
              <a:noFill/>
            </a:ln>
          </p:spPr>
          <p:txBody>
            <a:bodyPr wrap="none" lIns="0" tIns="0" rIns="0" bIns="0" anchor="t" anchorCtr="0">
              <a:noAutofit/>
            </a:bodyPr>
            <a:lstStyle/>
            <a:p>
              <a:pPr algn="l"/>
              <a:r>
                <a:rPr lang="zh-CN" altLang="en-US" sz="1500" dirty="0">
                  <a:solidFill>
                    <a:srgbClr val="202B33"/>
                  </a:solidFill>
                  <a:ea typeface="Microsoft YaHei"/>
                </a:rPr>
                <a:t>不必要数据收集，三方工具不可信</a:t>
              </a:r>
              <a:endParaRPr lang="zh-CN" sz="1500" dirty="0">
                <a:solidFill>
                  <a:srgbClr val="202B33"/>
                </a:solidFill>
                <a:latin typeface="Arial"/>
                <a:ea typeface="Microsoft YaHei"/>
                <a:cs typeface="Arial"/>
              </a:endParaRPr>
            </a:p>
          </p:txBody>
        </p:sp>
        <p:sp>
          <p:nvSpPr>
            <p:cNvPr id="24" name="TextBox 24"/>
            <p:cNvSpPr txBox="1"/>
            <p:nvPr/>
          </p:nvSpPr>
          <p:spPr>
            <a:xfrm>
              <a:off x="4092864" y="3645218"/>
              <a:ext cx="3756470" cy="257175"/>
            </a:xfrm>
            <a:prstGeom prst="rect">
              <a:avLst/>
            </a:prstGeom>
            <a:noFill/>
            <a:ln>
              <a:noFill/>
            </a:ln>
          </p:spPr>
          <p:txBody>
            <a:bodyPr wrap="none" lIns="0" tIns="0" rIns="0" bIns="0" anchor="t" anchorCtr="0">
              <a:noAutofit/>
            </a:bodyPr>
            <a:lstStyle/>
            <a:p>
              <a:pPr algn="l"/>
              <a:r>
                <a:rPr lang="en-US" altLang="zh-CN" sz="1350" dirty="0">
                  <a:solidFill>
                    <a:srgbClr val="5C6B73"/>
                  </a:solidFill>
                  <a:ea typeface="Microsoft YaHei"/>
                </a:rPr>
                <a:t>LLM</a:t>
              </a:r>
              <a:r>
                <a:rPr lang="zh-CN" altLang="en-US" sz="1350" dirty="0">
                  <a:solidFill>
                    <a:srgbClr val="5C6B73"/>
                  </a:solidFill>
                  <a:ea typeface="Microsoft YaHei"/>
                </a:rPr>
                <a:t>误解意图收集敏感数据，三方工具窃取隐私数据</a:t>
              </a:r>
              <a:endParaRPr lang="zh-CN" sz="1350" dirty="0">
                <a:solidFill>
                  <a:srgbClr val="5C6B73"/>
                </a:solidFill>
                <a:latin typeface="Arial"/>
                <a:ea typeface="Microsoft YaHei"/>
                <a:cs typeface="Arial"/>
              </a:endParaRPr>
            </a:p>
          </p:txBody>
        </p:sp>
      </p:grpSp>
      <p:grpSp>
        <p:nvGrpSpPr>
          <p:cNvPr id="29" name="Group 29"/>
          <p:cNvGrpSpPr/>
          <p:nvPr/>
        </p:nvGrpSpPr>
        <p:grpSpPr>
          <a:xfrm>
            <a:off x="476250" y="4182867"/>
            <a:ext cx="8191500" cy="504825"/>
            <a:chOff x="476250" y="4229100"/>
            <a:chExt cx="8191500" cy="504825"/>
          </a:xfrm>
        </p:grpSpPr>
        <p:sp>
          <p:nvSpPr>
            <p:cNvPr id="26" name="Rectangle 26"/>
            <p:cNvSpPr/>
            <p:nvPr/>
          </p:nvSpPr>
          <p:spPr>
            <a:xfrm>
              <a:off x="476250" y="4229100"/>
              <a:ext cx="8191500" cy="504825"/>
            </a:xfrm>
            <a:prstGeom prst="rect">
              <a:avLst/>
            </a:prstGeom>
            <a:solidFill>
              <a:srgbClr val="F0F5F6"/>
            </a:solidFill>
            <a:ln>
              <a:noFill/>
            </a:ln>
          </p:spPr>
        </p:sp>
        <p:sp>
          <p:nvSpPr>
            <p:cNvPr id="27" name="Rectangle 27"/>
            <p:cNvSpPr/>
            <p:nvPr/>
          </p:nvSpPr>
          <p:spPr>
            <a:xfrm>
              <a:off x="476250" y="4229100"/>
              <a:ext cx="38100" cy="504825"/>
            </a:xfrm>
            <a:prstGeom prst="rect">
              <a:avLst/>
            </a:prstGeom>
            <a:solidFill>
              <a:srgbClr val="16735C"/>
            </a:solidFill>
            <a:ln>
              <a:noFill/>
            </a:ln>
          </p:spPr>
        </p:sp>
        <p:sp>
          <p:nvSpPr>
            <p:cNvPr id="28" name="TextBox 28"/>
            <p:cNvSpPr txBox="1"/>
            <p:nvPr/>
          </p:nvSpPr>
          <p:spPr>
            <a:xfrm>
              <a:off x="609600" y="4408646"/>
              <a:ext cx="5659088"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ea typeface="Microsoft YaHei"/>
                </a:rPr>
                <a:t>数据</a:t>
              </a:r>
              <a:r>
                <a:rPr lang="zh-CN" sz="1420" b="1" dirty="0">
                  <a:solidFill>
                    <a:srgbClr val="16735C"/>
                  </a:solidFill>
                  <a:latin typeface="Arial"/>
                  <a:ea typeface="Microsoft YaHei"/>
                  <a:cs typeface="Arial"/>
                </a:rPr>
                <a:t>授权不等于对所有数据、所有</a:t>
              </a:r>
              <a:r>
                <a:rPr lang="zh-CN" altLang="en-US" sz="1420" b="1" dirty="0">
                  <a:solidFill>
                    <a:srgbClr val="16735C"/>
                  </a:solidFill>
                  <a:ea typeface="Microsoft YaHei"/>
                </a:rPr>
                <a:t>工具</a:t>
              </a:r>
              <a:r>
                <a:rPr lang="zh-CN" sz="1420" b="1" dirty="0">
                  <a:solidFill>
                    <a:srgbClr val="16735C"/>
                  </a:solidFill>
                  <a:latin typeface="Arial"/>
                  <a:ea typeface="Microsoft YaHei"/>
                  <a:cs typeface="Arial"/>
                </a:rPr>
                <a:t>的授权。</a:t>
              </a:r>
            </a:p>
          </p:txBody>
        </p:sp>
      </p:grpSp>
    </p:spTree>
    <p:extLst>
      <p:ext uri="{BB962C8B-B14F-4D97-AF65-F5344CB8AC3E}">
        <p14:creationId xmlns:p14="http://schemas.microsoft.com/office/powerpoint/2010/main" val="3569396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B77BAD8F-CD78-8BDD-D711-3208A946ACC1}"/>
            </a:ext>
          </a:extLst>
        </p:cNvPr>
        <p:cNvGrpSpPr/>
        <p:nvPr/>
      </p:nvGrpSpPr>
      <p:grpSpPr>
        <a:xfrm>
          <a:off x="0" y="0"/>
          <a:ext cx="0" cy="0"/>
          <a:chOff x="0" y="0"/>
          <a:chExt cx="0" cy="0"/>
        </a:xfrm>
      </p:grpSpPr>
      <p:grpSp>
        <p:nvGrpSpPr>
          <p:cNvPr id="5" name="Group 5"/>
          <p:cNvGrpSpPr/>
          <p:nvPr/>
        </p:nvGrpSpPr>
        <p:grpSpPr>
          <a:xfrm>
            <a:off x="476250" y="392430"/>
            <a:ext cx="6236494" cy="1012984"/>
            <a:chOff x="476250" y="392430"/>
            <a:chExt cx="623649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01</a:t>
              </a:r>
            </a:p>
          </p:txBody>
        </p:sp>
        <p:sp>
          <p:nvSpPr>
            <p:cNvPr id="3" name="TextBox 3"/>
            <p:cNvSpPr txBox="1"/>
            <p:nvPr/>
          </p:nvSpPr>
          <p:spPr>
            <a:xfrm>
              <a:off x="1219200" y="392430"/>
              <a:ext cx="3347085"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背景：传统权限</a:t>
              </a:r>
              <a:r>
                <a:rPr lang="zh-CN" altLang="en-US" sz="2100" b="1" dirty="0">
                  <a:solidFill>
                    <a:srgbClr val="202B33"/>
                  </a:solidFill>
                  <a:latin typeface="Arial"/>
                  <a:ea typeface="Microsoft YaHei"/>
                  <a:cs typeface="Arial"/>
                </a:rPr>
                <a:t>控制</a:t>
              </a:r>
              <a:r>
                <a:rPr lang="zh-CN" sz="2100" b="1" dirty="0">
                  <a:solidFill>
                    <a:srgbClr val="202B33"/>
                  </a:solidFill>
                  <a:latin typeface="Arial"/>
                  <a:ea typeface="Microsoft YaHei"/>
                  <a:cs typeface="Arial"/>
                </a:rPr>
                <a:t>的局限</a:t>
              </a:r>
            </a:p>
          </p:txBody>
        </p:sp>
        <p:sp>
          <p:nvSpPr>
            <p:cNvPr id="4" name="TextBox 4"/>
            <p:cNvSpPr txBox="1"/>
            <p:nvPr/>
          </p:nvSpPr>
          <p:spPr>
            <a:xfrm>
              <a:off x="476250" y="1019651"/>
              <a:ext cx="6236494" cy="385763"/>
            </a:xfrm>
            <a:prstGeom prst="rect">
              <a:avLst/>
            </a:prstGeom>
            <a:noFill/>
            <a:ln>
              <a:noFill/>
            </a:ln>
          </p:spPr>
          <p:txBody>
            <a:bodyPr wrap="none" lIns="0" tIns="0" rIns="0" bIns="0" anchor="t" anchorCtr="0">
              <a:noAutofit/>
            </a:bodyPr>
            <a:lstStyle/>
            <a:p>
              <a:pPr algn="l"/>
              <a:r>
                <a:rPr lang="en-US" altLang="zh-CN" sz="2020" b="1" dirty="0">
                  <a:solidFill>
                    <a:srgbClr val="005A84"/>
                  </a:solidFill>
                  <a:latin typeface="Arial"/>
                  <a:ea typeface="Microsoft YaHei"/>
                  <a:cs typeface="Arial"/>
                </a:rPr>
                <a:t>Agent</a:t>
              </a:r>
              <a:r>
                <a:rPr lang="zh-CN" altLang="en-US" sz="2020" b="1" dirty="0">
                  <a:solidFill>
                    <a:srgbClr val="005A84"/>
                  </a:solidFill>
                  <a:latin typeface="Arial"/>
                  <a:ea typeface="Microsoft YaHei"/>
                  <a:cs typeface="Arial"/>
                </a:rPr>
                <a:t>运行轨迹不固定</a:t>
              </a:r>
              <a:r>
                <a:rPr lang="zh-CN" sz="2020" b="1" dirty="0">
                  <a:solidFill>
                    <a:srgbClr val="005A84"/>
                  </a:solidFill>
                  <a:latin typeface="Arial"/>
                  <a:ea typeface="Microsoft YaHei"/>
                  <a:cs typeface="Arial"/>
                </a:rPr>
                <a:t>，授权既要</a:t>
              </a:r>
              <a:r>
                <a:rPr lang="zh-CN" altLang="en-US" sz="2020" b="1" dirty="0">
                  <a:solidFill>
                    <a:srgbClr val="005A84"/>
                  </a:solidFill>
                  <a:latin typeface="Arial"/>
                  <a:ea typeface="Microsoft YaHei"/>
                  <a:cs typeface="Arial"/>
                </a:rPr>
                <a:t>灵活</a:t>
              </a:r>
              <a:r>
                <a:rPr lang="zh-CN" sz="2020" b="1" dirty="0">
                  <a:solidFill>
                    <a:srgbClr val="005A84"/>
                  </a:solidFill>
                  <a:latin typeface="Arial"/>
                  <a:ea typeface="Microsoft YaHei"/>
                  <a:cs typeface="Arial"/>
                </a:rPr>
                <a:t>，也要可控</a:t>
              </a:r>
            </a:p>
          </p:txBody>
        </p:sp>
      </p:grpSp>
      <p:grpSp>
        <p:nvGrpSpPr>
          <p:cNvPr id="15" name="Group 15"/>
          <p:cNvGrpSpPr/>
          <p:nvPr/>
        </p:nvGrpSpPr>
        <p:grpSpPr>
          <a:xfrm>
            <a:off x="552450" y="1685925"/>
            <a:ext cx="8039100" cy="1930241"/>
            <a:chOff x="552450" y="1685925"/>
            <a:chExt cx="8039100" cy="1930241"/>
          </a:xfrm>
        </p:grpSpPr>
        <p:sp>
          <p:nvSpPr>
            <p:cNvPr id="9" name="Rectangle 9"/>
            <p:cNvSpPr/>
            <p:nvPr/>
          </p:nvSpPr>
          <p:spPr>
            <a:xfrm>
              <a:off x="552450" y="1685925"/>
              <a:ext cx="3762375" cy="1930241"/>
            </a:xfrm>
            <a:prstGeom prst="rect">
              <a:avLst/>
            </a:prstGeom>
            <a:solidFill>
              <a:srgbClr val="F0F5F6"/>
            </a:solidFill>
            <a:ln>
              <a:noFill/>
            </a:ln>
          </p:spPr>
        </p:sp>
        <p:sp>
          <p:nvSpPr>
            <p:cNvPr id="10" name="TextBox 10"/>
            <p:cNvSpPr txBox="1"/>
            <p:nvPr/>
          </p:nvSpPr>
          <p:spPr>
            <a:xfrm>
              <a:off x="704850" y="1804511"/>
              <a:ext cx="1980438"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安装时统一授权</a:t>
              </a:r>
            </a:p>
          </p:txBody>
        </p:sp>
        <p:sp>
          <p:nvSpPr>
            <p:cNvPr id="11" name="TextBox 11"/>
            <p:cNvSpPr txBox="1"/>
            <p:nvPr/>
          </p:nvSpPr>
          <p:spPr>
            <a:xfrm>
              <a:off x="704850" y="2339794"/>
              <a:ext cx="3282315" cy="849630"/>
            </a:xfrm>
            <a:prstGeom prst="rect">
              <a:avLst/>
            </a:prstGeom>
            <a:noFill/>
            <a:ln>
              <a:noFill/>
            </a:ln>
          </p:spPr>
          <p:txBody>
            <a:bodyPr wrap="none" lIns="0" tIns="0" rIns="0" bIns="0" anchor="t" anchorCtr="0">
              <a:noAutofit/>
            </a:bodyPr>
            <a:lstStyle/>
            <a:p>
              <a:pPr marL="285750" indent="-285750">
                <a:lnSpc>
                  <a:spcPts val="2220"/>
                </a:lnSpc>
                <a:buFont typeface="Wingdings" panose="05000000000000000000" pitchFamily="2" charset="2"/>
                <a:buChar char="n"/>
              </a:pPr>
              <a:r>
                <a:rPr lang="en-US" altLang="zh-CN" dirty="0">
                  <a:solidFill>
                    <a:srgbClr val="202B33"/>
                  </a:solidFill>
                  <a:ea typeface="Microsoft YaHei"/>
                </a:rPr>
                <a:t>Agent</a:t>
              </a:r>
              <a:r>
                <a:rPr lang="zh-CN" dirty="0">
                  <a:solidFill>
                    <a:srgbClr val="202B33"/>
                  </a:solidFill>
                  <a:latin typeface="Arial"/>
                  <a:ea typeface="Microsoft YaHei"/>
                  <a:cs typeface="Arial"/>
                </a:rPr>
                <a:t>行为</a:t>
              </a:r>
              <a:r>
                <a:rPr lang="zh-CN" altLang="en-US" dirty="0">
                  <a:solidFill>
                    <a:srgbClr val="202B33"/>
                  </a:solidFill>
                  <a:latin typeface="Arial"/>
                  <a:ea typeface="Microsoft YaHei"/>
                  <a:cs typeface="Arial"/>
                </a:rPr>
                <a:t>随</a:t>
              </a:r>
              <a:r>
                <a:rPr lang="zh-CN" dirty="0">
                  <a:solidFill>
                    <a:srgbClr val="202B33"/>
                  </a:solidFill>
                  <a:latin typeface="Arial"/>
                  <a:ea typeface="Microsoft YaHei"/>
                  <a:cs typeface="Arial"/>
                </a:rPr>
                <a:t>任务动态生成</a:t>
              </a:r>
              <a:endParaRPr lang="en-US" altLang="zh-CN" dirty="0">
                <a:solidFill>
                  <a:srgbClr val="202B33"/>
                </a:solidFill>
                <a:latin typeface="Arial"/>
                <a:ea typeface="Microsoft YaHei"/>
                <a:cs typeface="Arial"/>
              </a:endParaRPr>
            </a:p>
            <a:p>
              <a:pPr>
                <a:lnSpc>
                  <a:spcPts val="2220"/>
                </a:lnSpc>
              </a:pPr>
              <a:r>
                <a:rPr lang="en-US" altLang="zh-CN" dirty="0">
                  <a:solidFill>
                    <a:srgbClr val="202B33"/>
                  </a:solidFill>
                  <a:ea typeface="Microsoft YaHei"/>
                </a:rPr>
                <a:t>      </a:t>
              </a:r>
              <a:r>
                <a:rPr lang="zh-CN" altLang="zh-CN" dirty="0">
                  <a:solidFill>
                    <a:srgbClr val="202B33"/>
                  </a:solidFill>
                  <a:ea typeface="Microsoft YaHei"/>
                </a:rPr>
                <a:t>所需资源</a:t>
              </a:r>
              <a:r>
                <a:rPr lang="zh-CN" altLang="en-US" dirty="0">
                  <a:solidFill>
                    <a:srgbClr val="202B33"/>
                  </a:solidFill>
                  <a:ea typeface="Microsoft YaHei"/>
                </a:rPr>
                <a:t>无法</a:t>
              </a:r>
              <a:r>
                <a:rPr lang="zh-CN" altLang="zh-CN" dirty="0">
                  <a:solidFill>
                    <a:srgbClr val="202B33"/>
                  </a:solidFill>
                  <a:ea typeface="Microsoft YaHei"/>
                </a:rPr>
                <a:t>提前列出</a:t>
              </a:r>
              <a:endParaRPr lang="en-US" altLang="zh-CN" dirty="0">
                <a:solidFill>
                  <a:srgbClr val="202B33"/>
                </a:solidFill>
                <a:ea typeface="Microsoft YaHei"/>
              </a:endParaRPr>
            </a:p>
            <a:p>
              <a:pPr marL="285750" indent="-285750">
                <a:lnSpc>
                  <a:spcPts val="2220"/>
                </a:lnSpc>
                <a:buFont typeface="Wingdings" panose="05000000000000000000" pitchFamily="2" charset="2"/>
                <a:buChar char="n"/>
              </a:pPr>
              <a:r>
                <a:rPr lang="zh-CN" altLang="en-US" dirty="0"/>
                <a:t>如果</a:t>
              </a:r>
              <a:r>
                <a:rPr lang="zh-CN" altLang="en-US" dirty="0">
                  <a:solidFill>
                    <a:srgbClr val="202B33"/>
                  </a:solidFill>
                  <a:ea typeface="Microsoft YaHei"/>
                </a:rPr>
                <a:t>提前过度授权</a:t>
              </a:r>
              <a:r>
                <a:rPr lang="zh-CN" dirty="0">
                  <a:solidFill>
                    <a:srgbClr val="202B33"/>
                  </a:solidFill>
                  <a:latin typeface="Arial"/>
                  <a:ea typeface="Microsoft YaHei"/>
                  <a:cs typeface="Arial"/>
                </a:rPr>
                <a:t>，容易扩大暴露面</a:t>
              </a:r>
            </a:p>
          </p:txBody>
        </p:sp>
        <p:sp>
          <p:nvSpPr>
            <p:cNvPr id="12" name="Rectangle 12"/>
            <p:cNvSpPr/>
            <p:nvPr/>
          </p:nvSpPr>
          <p:spPr>
            <a:xfrm>
              <a:off x="4695825" y="1685925"/>
              <a:ext cx="3895725" cy="1930241"/>
            </a:xfrm>
            <a:prstGeom prst="rect">
              <a:avLst/>
            </a:prstGeom>
            <a:solidFill>
              <a:srgbClr val="E5F2ED"/>
            </a:solidFill>
            <a:ln>
              <a:noFill/>
            </a:ln>
          </p:spPr>
        </p:sp>
        <p:sp>
          <p:nvSpPr>
            <p:cNvPr id="13" name="TextBox 13"/>
            <p:cNvSpPr txBox="1"/>
            <p:nvPr/>
          </p:nvSpPr>
          <p:spPr>
            <a:xfrm>
              <a:off x="4848225" y="1804511"/>
              <a:ext cx="1980438"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运行时逐次询问</a:t>
              </a:r>
            </a:p>
          </p:txBody>
        </p:sp>
        <p:sp>
          <p:nvSpPr>
            <p:cNvPr id="14" name="TextBox 14"/>
            <p:cNvSpPr txBox="1"/>
            <p:nvPr/>
          </p:nvSpPr>
          <p:spPr>
            <a:xfrm>
              <a:off x="4848225" y="2335892"/>
              <a:ext cx="3059430" cy="849630"/>
            </a:xfrm>
            <a:prstGeom prst="rect">
              <a:avLst/>
            </a:prstGeom>
            <a:noFill/>
            <a:ln>
              <a:noFill/>
            </a:ln>
          </p:spPr>
          <p:txBody>
            <a:bodyPr wrap="none" lIns="0" tIns="0" rIns="0" bIns="0" anchor="t" anchorCtr="0">
              <a:noAutofit/>
            </a:bodyPr>
            <a:lstStyle/>
            <a:p>
              <a:pPr marL="285750" indent="-285750" algn="l">
                <a:lnSpc>
                  <a:spcPts val="2220"/>
                </a:lnSpc>
                <a:buFont typeface="Wingdings" panose="05000000000000000000" pitchFamily="2" charset="2"/>
                <a:buChar char="n"/>
              </a:pPr>
              <a:r>
                <a:rPr lang="zh-CN" dirty="0">
                  <a:solidFill>
                    <a:srgbClr val="202B33"/>
                  </a:solidFill>
                  <a:latin typeface="Arial"/>
                  <a:ea typeface="Microsoft YaHei"/>
                  <a:cs typeface="Arial"/>
                </a:rPr>
                <a:t>复杂任务可能触发大量请求</a:t>
              </a:r>
              <a:endParaRPr lang="en-US" altLang="zh-CN" dirty="0">
                <a:solidFill>
                  <a:srgbClr val="202B33"/>
                </a:solidFill>
                <a:latin typeface="Arial"/>
                <a:ea typeface="Microsoft YaHei"/>
                <a:cs typeface="Arial"/>
              </a:endParaRPr>
            </a:p>
            <a:p>
              <a:pPr marL="285750" indent="-285750" algn="l">
                <a:lnSpc>
                  <a:spcPts val="2220"/>
                </a:lnSpc>
                <a:buFont typeface="Wingdings" panose="05000000000000000000" pitchFamily="2" charset="2"/>
                <a:buChar char="n"/>
              </a:pPr>
              <a:r>
                <a:rPr lang="zh-CN" dirty="0">
                  <a:solidFill>
                    <a:srgbClr val="202B33"/>
                  </a:solidFill>
                  <a:latin typeface="Arial"/>
                  <a:ea typeface="Microsoft YaHei"/>
                  <a:cs typeface="Arial"/>
                </a:rPr>
                <a:t>频繁打断</a:t>
              </a:r>
              <a:r>
                <a:rPr lang="zh-CN" altLang="en-US" dirty="0">
                  <a:solidFill>
                    <a:srgbClr val="202B33"/>
                  </a:solidFill>
                  <a:latin typeface="Arial"/>
                  <a:ea typeface="Microsoft YaHei"/>
                  <a:cs typeface="Arial"/>
                </a:rPr>
                <a:t>用户</a:t>
              </a:r>
              <a:r>
                <a:rPr lang="zh-CN" dirty="0">
                  <a:solidFill>
                    <a:srgbClr val="202B33"/>
                  </a:solidFill>
                  <a:latin typeface="Arial"/>
                  <a:ea typeface="Microsoft YaHei"/>
                  <a:cs typeface="Arial"/>
                </a:rPr>
                <a:t>，带来权限</a:t>
              </a:r>
              <a:r>
                <a:rPr lang="zh-CN" altLang="en-US" dirty="0">
                  <a:solidFill>
                    <a:srgbClr val="202B33"/>
                  </a:solidFill>
                  <a:ea typeface="Microsoft YaHei"/>
                </a:rPr>
                <a:t>决策</a:t>
              </a:r>
              <a:r>
                <a:rPr lang="zh-CN" dirty="0">
                  <a:solidFill>
                    <a:srgbClr val="202B33"/>
                  </a:solidFill>
                  <a:latin typeface="Arial"/>
                  <a:ea typeface="Microsoft YaHei"/>
                  <a:cs typeface="Arial"/>
                </a:rPr>
                <a:t>疲劳</a:t>
              </a:r>
            </a:p>
          </p:txBody>
        </p:sp>
      </p:grpSp>
      <p:grpSp>
        <p:nvGrpSpPr>
          <p:cNvPr id="20" name="Group 20"/>
          <p:cNvGrpSpPr/>
          <p:nvPr/>
        </p:nvGrpSpPr>
        <p:grpSpPr>
          <a:xfrm>
            <a:off x="476250" y="3836223"/>
            <a:ext cx="8191500" cy="721935"/>
            <a:chOff x="476250" y="4229100"/>
            <a:chExt cx="8191500" cy="504825"/>
          </a:xfrm>
        </p:grpSpPr>
        <p:sp>
          <p:nvSpPr>
            <p:cNvPr id="16" name="Rectangle 16"/>
            <p:cNvSpPr/>
            <p:nvPr/>
          </p:nvSpPr>
          <p:spPr>
            <a:xfrm>
              <a:off x="476250" y="4229100"/>
              <a:ext cx="8191500" cy="504825"/>
            </a:xfrm>
            <a:prstGeom prst="rect">
              <a:avLst/>
            </a:prstGeom>
            <a:solidFill>
              <a:srgbClr val="F0F5F6"/>
            </a:solidFill>
            <a:ln>
              <a:noFill/>
            </a:ln>
          </p:spPr>
        </p:sp>
        <p:sp>
          <p:nvSpPr>
            <p:cNvPr id="17" name="Rectangle 17"/>
            <p:cNvSpPr/>
            <p:nvPr/>
          </p:nvSpPr>
          <p:spPr>
            <a:xfrm>
              <a:off x="476250" y="4229100"/>
              <a:ext cx="38100" cy="504825"/>
            </a:xfrm>
            <a:prstGeom prst="rect">
              <a:avLst/>
            </a:prstGeom>
            <a:solidFill>
              <a:srgbClr val="16735C"/>
            </a:solidFill>
            <a:ln>
              <a:noFill/>
            </a:ln>
          </p:spPr>
        </p:sp>
        <p:sp>
          <p:nvSpPr>
            <p:cNvPr id="18" name="TextBox 18"/>
            <p:cNvSpPr txBox="1"/>
            <p:nvPr/>
          </p:nvSpPr>
          <p:spPr>
            <a:xfrm>
              <a:off x="630149" y="4393991"/>
              <a:ext cx="5659088"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权限</a:t>
              </a:r>
              <a:r>
                <a:rPr lang="zh-CN" sz="1420" b="1" dirty="0">
                  <a:solidFill>
                    <a:srgbClr val="16735C"/>
                  </a:solidFill>
                  <a:latin typeface="Arial"/>
                  <a:ea typeface="Microsoft YaHei"/>
                  <a:cs typeface="Arial"/>
                </a:rPr>
                <a:t>自动化</a:t>
              </a:r>
              <a:r>
                <a:rPr lang="zh-CN" altLang="en-US" sz="1420" b="1" dirty="0">
                  <a:solidFill>
                    <a:srgbClr val="16735C"/>
                  </a:solidFill>
                  <a:latin typeface="Arial"/>
                  <a:ea typeface="Microsoft YaHei"/>
                  <a:cs typeface="Arial"/>
                </a:rPr>
                <a:t>方向</a:t>
              </a:r>
              <a:r>
                <a:rPr lang="zh-CN" sz="1420" b="1" dirty="0">
                  <a:solidFill>
                    <a:srgbClr val="16735C"/>
                  </a:solidFill>
                  <a:latin typeface="Arial"/>
                  <a:ea typeface="Microsoft YaHei"/>
                  <a:cs typeface="Arial"/>
                </a:rPr>
                <a:t>：学习</a:t>
              </a:r>
              <a:r>
                <a:rPr lang="zh-CN" altLang="en-US" sz="1420" b="1" dirty="0">
                  <a:solidFill>
                    <a:srgbClr val="16735C"/>
                  </a:solidFill>
                  <a:latin typeface="Arial"/>
                  <a:ea typeface="Microsoft YaHei"/>
                  <a:cs typeface="Arial"/>
                </a:rPr>
                <a:t>用户</a:t>
              </a:r>
              <a:r>
                <a:rPr lang="zh-CN" sz="1420" b="1" dirty="0">
                  <a:solidFill>
                    <a:srgbClr val="16735C"/>
                  </a:solidFill>
                  <a:latin typeface="Arial"/>
                  <a:ea typeface="Microsoft YaHei"/>
                  <a:cs typeface="Arial"/>
                </a:rPr>
                <a:t>偏好，</a:t>
              </a:r>
              <a:r>
                <a:rPr lang="zh-CN" altLang="en-US" sz="1420" b="1" dirty="0">
                  <a:solidFill>
                    <a:srgbClr val="16735C"/>
                  </a:solidFill>
                  <a:latin typeface="Arial"/>
                  <a:ea typeface="Microsoft YaHei"/>
                  <a:cs typeface="Arial"/>
                </a:rPr>
                <a:t>代替用户决策，</a:t>
              </a:r>
              <a:r>
                <a:rPr lang="zh-CN" sz="1420" b="1" dirty="0">
                  <a:solidFill>
                    <a:srgbClr val="16735C"/>
                  </a:solidFill>
                  <a:latin typeface="Arial"/>
                  <a:ea typeface="Microsoft YaHei"/>
                  <a:cs typeface="Arial"/>
                </a:rPr>
                <a:t>对不确定请求保留人工决定。</a:t>
              </a:r>
            </a:p>
          </p:txBody>
        </p:sp>
      </p:grpSp>
    </p:spTree>
    <p:extLst>
      <p:ext uri="{BB962C8B-B14F-4D97-AF65-F5344CB8AC3E}">
        <p14:creationId xmlns:p14="http://schemas.microsoft.com/office/powerpoint/2010/main" val="995610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CE7143CB-07FF-329B-173B-911A050610F2}"/>
            </a:ext>
          </a:extLst>
        </p:cNvPr>
        <p:cNvGrpSpPr/>
        <p:nvPr/>
      </p:nvGrpSpPr>
      <p:grpSpPr>
        <a:xfrm>
          <a:off x="0" y="0"/>
          <a:ext cx="0" cy="0"/>
          <a:chOff x="0" y="0"/>
          <a:chExt cx="0" cy="0"/>
        </a:xfrm>
      </p:grpSpPr>
      <p:grpSp>
        <p:nvGrpSpPr>
          <p:cNvPr id="5" name="Group 5"/>
          <p:cNvGrpSpPr/>
          <p:nvPr/>
        </p:nvGrpSpPr>
        <p:grpSpPr>
          <a:xfrm>
            <a:off x="504825" y="392430"/>
            <a:ext cx="7000208" cy="951834"/>
            <a:chOff x="504825" y="392430"/>
            <a:chExt cx="7000208" cy="95183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01</a:t>
              </a:r>
            </a:p>
          </p:txBody>
        </p:sp>
        <p:sp>
          <p:nvSpPr>
            <p:cNvPr id="3" name="TextBox 3"/>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研究</a:t>
              </a:r>
              <a:r>
                <a:rPr lang="zh-CN" altLang="en-US" sz="2100" b="1" dirty="0">
                  <a:solidFill>
                    <a:srgbClr val="202B33"/>
                  </a:solidFill>
                  <a:ea typeface="Microsoft YaHei"/>
                </a:rPr>
                <a:t>目标</a:t>
              </a:r>
              <a:r>
                <a:rPr lang="zh-CN" sz="2100" b="1" dirty="0">
                  <a:solidFill>
                    <a:srgbClr val="202B33"/>
                  </a:solidFill>
                  <a:latin typeface="Arial"/>
                  <a:ea typeface="Microsoft YaHei"/>
                  <a:cs typeface="Arial"/>
                </a:rPr>
                <a:t>与威胁模型</a:t>
              </a:r>
            </a:p>
          </p:txBody>
        </p:sp>
        <p:sp>
          <p:nvSpPr>
            <p:cNvPr id="4" name="TextBox 4"/>
            <p:cNvSpPr txBox="1"/>
            <p:nvPr/>
          </p:nvSpPr>
          <p:spPr>
            <a:xfrm>
              <a:off x="666750" y="958501"/>
              <a:ext cx="6838283"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ea typeface="Microsoft YaHei"/>
                </a:rPr>
                <a:t>理解并预测用户决策偏好</a:t>
              </a:r>
              <a:endParaRPr lang="zh-CN" sz="2020" b="1" dirty="0">
                <a:solidFill>
                  <a:srgbClr val="005A84"/>
                </a:solidFill>
                <a:latin typeface="Arial"/>
                <a:ea typeface="Microsoft YaHei"/>
                <a:cs typeface="Arial"/>
              </a:endParaRPr>
            </a:p>
          </p:txBody>
        </p:sp>
      </p:grpSp>
      <p:grpSp>
        <p:nvGrpSpPr>
          <p:cNvPr id="20" name="Group 20"/>
          <p:cNvGrpSpPr/>
          <p:nvPr/>
        </p:nvGrpSpPr>
        <p:grpSpPr>
          <a:xfrm>
            <a:off x="552450" y="1619250"/>
            <a:ext cx="8029575" cy="2044542"/>
            <a:chOff x="552450" y="1619250"/>
            <a:chExt cx="8029575" cy="2044542"/>
          </a:xfrm>
        </p:grpSpPr>
        <p:sp>
          <p:nvSpPr>
            <p:cNvPr id="9" name="Rectangle 9"/>
            <p:cNvSpPr/>
            <p:nvPr/>
          </p:nvSpPr>
          <p:spPr>
            <a:xfrm>
              <a:off x="552450" y="1619250"/>
              <a:ext cx="2581275" cy="1123950"/>
            </a:xfrm>
            <a:prstGeom prst="rect">
              <a:avLst/>
            </a:prstGeom>
            <a:solidFill>
              <a:srgbClr val="F0F5F6"/>
            </a:solidFill>
            <a:ln>
              <a:noFill/>
            </a:ln>
          </p:spPr>
        </p:sp>
        <p:sp>
          <p:nvSpPr>
            <p:cNvPr id="10" name="TextBox 10"/>
            <p:cNvSpPr txBox="1"/>
            <p:nvPr/>
          </p:nvSpPr>
          <p:spPr>
            <a:xfrm>
              <a:off x="704850" y="1737836"/>
              <a:ext cx="1211485"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理解偏好</a:t>
              </a:r>
            </a:p>
          </p:txBody>
        </p:sp>
        <p:sp>
          <p:nvSpPr>
            <p:cNvPr id="11" name="TextBox 11"/>
            <p:cNvSpPr txBox="1"/>
            <p:nvPr/>
          </p:nvSpPr>
          <p:spPr>
            <a:xfrm>
              <a:off x="704850" y="2075021"/>
              <a:ext cx="2482977" cy="539305"/>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用户怎样作出数据分享决定？</a:t>
              </a:r>
              <a:endParaRPr lang="en-US" altLang="zh-CN" sz="1420" dirty="0">
                <a:solidFill>
                  <a:srgbClr val="202B33"/>
                </a:solidFill>
                <a:latin typeface="Arial"/>
                <a:ea typeface="Microsoft YaHei"/>
                <a:cs typeface="Arial"/>
              </a:endParaRPr>
            </a:p>
            <a:p>
              <a:pPr algn="l">
                <a:lnSpc>
                  <a:spcPts val="2109"/>
                </a:lnSpc>
              </a:pPr>
              <a:r>
                <a:rPr lang="zh-CN" altLang="en-US" sz="1420" dirty="0">
                  <a:solidFill>
                    <a:srgbClr val="202B33"/>
                  </a:solidFill>
                  <a:ea typeface="Microsoft YaHei"/>
                </a:rPr>
                <a:t>是否有可学习的固定模式？</a:t>
              </a:r>
              <a:endParaRPr lang="zh-CN" sz="1420" dirty="0">
                <a:solidFill>
                  <a:srgbClr val="202B33"/>
                </a:solidFill>
                <a:latin typeface="Arial"/>
                <a:ea typeface="Microsoft YaHei"/>
                <a:cs typeface="Arial"/>
              </a:endParaRPr>
            </a:p>
          </p:txBody>
        </p:sp>
        <p:sp>
          <p:nvSpPr>
            <p:cNvPr id="12" name="Rectangle 12"/>
            <p:cNvSpPr/>
            <p:nvPr/>
          </p:nvSpPr>
          <p:spPr>
            <a:xfrm>
              <a:off x="3276600" y="1619250"/>
              <a:ext cx="2581275" cy="1123950"/>
            </a:xfrm>
            <a:prstGeom prst="rect">
              <a:avLst/>
            </a:prstGeom>
            <a:solidFill>
              <a:srgbClr val="E5F2ED"/>
            </a:solidFill>
            <a:ln>
              <a:noFill/>
            </a:ln>
          </p:spPr>
        </p:sp>
        <p:sp>
          <p:nvSpPr>
            <p:cNvPr id="13" name="TextBox 13"/>
            <p:cNvSpPr txBox="1"/>
            <p:nvPr/>
          </p:nvSpPr>
          <p:spPr>
            <a:xfrm>
              <a:off x="3429000" y="1737836"/>
              <a:ext cx="1211485"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预测</a:t>
              </a:r>
              <a:r>
                <a:rPr lang="zh-CN" altLang="en-US" sz="1720" b="1" dirty="0">
                  <a:solidFill>
                    <a:srgbClr val="16735C"/>
                  </a:solidFill>
                  <a:latin typeface="Arial"/>
                  <a:ea typeface="Microsoft YaHei"/>
                  <a:cs typeface="Arial"/>
                </a:rPr>
                <a:t>偏好</a:t>
              </a:r>
              <a:endParaRPr lang="zh-CN" sz="1720" b="1" dirty="0">
                <a:solidFill>
                  <a:srgbClr val="16735C"/>
                </a:solidFill>
                <a:latin typeface="Arial"/>
                <a:ea typeface="Microsoft YaHei"/>
                <a:cs typeface="Arial"/>
              </a:endParaRPr>
            </a:p>
          </p:txBody>
        </p:sp>
        <p:sp>
          <p:nvSpPr>
            <p:cNvPr id="14" name="TextBox 14"/>
            <p:cNvSpPr txBox="1"/>
            <p:nvPr/>
          </p:nvSpPr>
          <p:spPr>
            <a:xfrm>
              <a:off x="3429000" y="2075021"/>
              <a:ext cx="2059496" cy="539305"/>
            </a:xfrm>
            <a:prstGeom prst="rect">
              <a:avLst/>
            </a:prstGeom>
            <a:noFill/>
            <a:ln>
              <a:noFill/>
            </a:ln>
          </p:spPr>
          <p:txBody>
            <a:bodyPr wrap="none" lIns="0" tIns="0" rIns="0" bIns="0" anchor="t" anchorCtr="0">
              <a:noAutofit/>
            </a:bodyPr>
            <a:lstStyle/>
            <a:p>
              <a:pPr algn="l">
                <a:lnSpc>
                  <a:spcPts val="2109"/>
                </a:lnSpc>
              </a:pPr>
              <a:r>
                <a:rPr lang="zh-CN" altLang="en-US" sz="1420" dirty="0">
                  <a:solidFill>
                    <a:srgbClr val="202B33"/>
                  </a:solidFill>
                  <a:ea typeface="Microsoft YaHei"/>
                </a:rPr>
                <a:t>少量决策历史能否学习偏好？</a:t>
              </a:r>
              <a:endParaRPr lang="en-US" altLang="zh-CN" sz="1420" dirty="0">
                <a:solidFill>
                  <a:srgbClr val="202B33"/>
                </a:solidFill>
                <a:ea typeface="Microsoft YaHei"/>
              </a:endParaRPr>
            </a:p>
            <a:p>
              <a:pPr algn="l">
                <a:lnSpc>
                  <a:spcPts val="2109"/>
                </a:lnSpc>
              </a:pPr>
              <a:r>
                <a:rPr lang="zh-CN" altLang="en-US" sz="1420" dirty="0">
                  <a:solidFill>
                    <a:srgbClr val="202B33"/>
                  </a:solidFill>
                  <a:ea typeface="Microsoft YaHei"/>
                </a:rPr>
                <a:t>能否在新场景稳定决策？</a:t>
              </a:r>
              <a:endParaRPr lang="zh-CN" sz="1420" dirty="0">
                <a:solidFill>
                  <a:srgbClr val="202B33"/>
                </a:solidFill>
                <a:latin typeface="Arial"/>
                <a:ea typeface="Microsoft YaHei"/>
                <a:cs typeface="Arial"/>
              </a:endParaRPr>
            </a:p>
          </p:txBody>
        </p:sp>
        <p:sp>
          <p:nvSpPr>
            <p:cNvPr id="15" name="Rectangle 15"/>
            <p:cNvSpPr/>
            <p:nvPr/>
          </p:nvSpPr>
          <p:spPr>
            <a:xfrm>
              <a:off x="6000750" y="1619250"/>
              <a:ext cx="2581275" cy="1123950"/>
            </a:xfrm>
            <a:prstGeom prst="rect">
              <a:avLst/>
            </a:prstGeom>
            <a:solidFill>
              <a:srgbClr val="F0F5F6"/>
            </a:solidFill>
            <a:ln>
              <a:noFill/>
            </a:ln>
          </p:spPr>
        </p:sp>
        <p:sp>
          <p:nvSpPr>
            <p:cNvPr id="16" name="TextBox 16"/>
            <p:cNvSpPr txBox="1"/>
            <p:nvPr/>
          </p:nvSpPr>
          <p:spPr>
            <a:xfrm>
              <a:off x="6153150" y="1737836"/>
              <a:ext cx="1211485" cy="328612"/>
            </a:xfrm>
            <a:prstGeom prst="rect">
              <a:avLst/>
            </a:prstGeom>
            <a:noFill/>
            <a:ln>
              <a:noFill/>
            </a:ln>
          </p:spPr>
          <p:txBody>
            <a:bodyPr wrap="none" lIns="0" tIns="0" rIns="0" bIns="0" anchor="t" anchorCtr="0">
              <a:noAutofit/>
            </a:bodyPr>
            <a:lstStyle/>
            <a:p>
              <a:pPr algn="l"/>
              <a:r>
                <a:rPr lang="zh-CN" sz="1720" b="1" dirty="0">
                  <a:solidFill>
                    <a:srgbClr val="5C6B73"/>
                  </a:solidFill>
                  <a:latin typeface="Arial"/>
                  <a:ea typeface="Microsoft YaHei"/>
                  <a:cs typeface="Arial"/>
                </a:rPr>
                <a:t>可靠执行</a:t>
              </a:r>
            </a:p>
          </p:txBody>
        </p:sp>
        <p:sp>
          <p:nvSpPr>
            <p:cNvPr id="17" name="TextBox 17"/>
            <p:cNvSpPr txBox="1"/>
            <p:nvPr/>
          </p:nvSpPr>
          <p:spPr>
            <a:xfrm>
              <a:off x="6153149" y="2075021"/>
              <a:ext cx="2358989" cy="539305"/>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在数据</a:t>
              </a:r>
              <a:r>
                <a:rPr lang="zh-CN" altLang="en-US" sz="1420" dirty="0">
                  <a:solidFill>
                    <a:srgbClr val="202B33"/>
                  </a:solidFill>
                  <a:latin typeface="Arial"/>
                  <a:ea typeface="Microsoft YaHei"/>
                  <a:cs typeface="Arial"/>
                </a:rPr>
                <a:t>接口执行权限控制</a:t>
              </a:r>
              <a:br>
                <a:rPr dirty="0"/>
              </a:br>
              <a:r>
                <a:rPr lang="zh-CN" sz="1420" dirty="0">
                  <a:solidFill>
                    <a:srgbClr val="202B33"/>
                  </a:solidFill>
                  <a:latin typeface="Arial"/>
                  <a:ea typeface="Microsoft YaHei"/>
                  <a:cs typeface="Arial"/>
                </a:rPr>
                <a:t>阻止</a:t>
              </a:r>
              <a:r>
                <a:rPr lang="zh-CN" altLang="en-US" sz="1420" dirty="0">
                  <a:solidFill>
                    <a:srgbClr val="202B33"/>
                  </a:solidFill>
                  <a:latin typeface="Arial"/>
                  <a:ea typeface="Microsoft YaHei"/>
                  <a:cs typeface="Arial"/>
                </a:rPr>
                <a:t>数据</a:t>
              </a:r>
              <a:r>
                <a:rPr lang="zh-CN" sz="1420" dirty="0">
                  <a:solidFill>
                    <a:srgbClr val="202B33"/>
                  </a:solidFill>
                  <a:latin typeface="Arial"/>
                  <a:ea typeface="Microsoft YaHei"/>
                  <a:cs typeface="Arial"/>
                </a:rPr>
                <a:t>越权访问</a:t>
              </a:r>
            </a:p>
          </p:txBody>
        </p:sp>
        <p:sp>
          <p:nvSpPr>
            <p:cNvPr id="18" name="TextBox 18"/>
            <p:cNvSpPr txBox="1"/>
            <p:nvPr/>
          </p:nvSpPr>
          <p:spPr>
            <a:xfrm>
              <a:off x="666750" y="2973229"/>
              <a:ext cx="5622703" cy="300038"/>
            </a:xfrm>
            <a:prstGeom prst="rect">
              <a:avLst/>
            </a:prstGeom>
            <a:noFill/>
            <a:ln>
              <a:noFill/>
            </a:ln>
          </p:spPr>
          <p:txBody>
            <a:bodyPr wrap="none" lIns="0" tIns="0" rIns="0" bIns="0" anchor="t" anchorCtr="0">
              <a:noAutofit/>
            </a:bodyPr>
            <a:lstStyle/>
            <a:p>
              <a:pPr algn="l"/>
              <a:r>
                <a:rPr lang="zh-CN" sz="1580" dirty="0">
                  <a:solidFill>
                    <a:srgbClr val="202B33"/>
                  </a:solidFill>
                  <a:latin typeface="Arial"/>
                  <a:ea typeface="Microsoft YaHei"/>
                  <a:cs typeface="Arial"/>
                </a:rPr>
                <a:t>威胁</a:t>
              </a:r>
              <a:r>
                <a:rPr lang="zh-CN" altLang="en-US" sz="1580" dirty="0">
                  <a:solidFill>
                    <a:srgbClr val="202B33"/>
                  </a:solidFill>
                  <a:latin typeface="Arial"/>
                  <a:ea typeface="Microsoft YaHei"/>
                  <a:cs typeface="Arial"/>
                </a:rPr>
                <a:t>方</a:t>
              </a:r>
              <a:r>
                <a:rPr lang="zh-CN" sz="1580" dirty="0">
                  <a:solidFill>
                    <a:srgbClr val="202B33"/>
                  </a:solidFill>
                  <a:latin typeface="Arial"/>
                  <a:ea typeface="Microsoft YaHei"/>
                  <a:cs typeface="Arial"/>
                </a:rPr>
                <a:t>：第三方工具不可信；LLM 无恶意但可能犯错。</a:t>
              </a:r>
            </a:p>
          </p:txBody>
        </p:sp>
        <p:sp>
          <p:nvSpPr>
            <p:cNvPr id="19" name="TextBox 19"/>
            <p:cNvSpPr txBox="1"/>
            <p:nvPr/>
          </p:nvSpPr>
          <p:spPr>
            <a:xfrm>
              <a:off x="666750" y="3363754"/>
              <a:ext cx="5786723" cy="300038"/>
            </a:xfrm>
            <a:prstGeom prst="rect">
              <a:avLst/>
            </a:prstGeom>
            <a:noFill/>
            <a:ln>
              <a:noFill/>
            </a:ln>
          </p:spPr>
          <p:txBody>
            <a:bodyPr wrap="none" lIns="0" tIns="0" rIns="0" bIns="0" anchor="t" anchorCtr="0">
              <a:noAutofit/>
            </a:bodyPr>
            <a:lstStyle/>
            <a:p>
              <a:pPr algn="l"/>
              <a:r>
                <a:rPr lang="zh-CN" altLang="en-US" sz="1580" dirty="0">
                  <a:solidFill>
                    <a:srgbClr val="202B33"/>
                  </a:solidFill>
                  <a:ea typeface="Microsoft YaHei"/>
                </a:rPr>
                <a:t>可信方</a:t>
              </a:r>
              <a:r>
                <a:rPr lang="zh-CN" sz="1580" dirty="0">
                  <a:solidFill>
                    <a:srgbClr val="202B33"/>
                  </a:solidFill>
                  <a:latin typeface="Arial"/>
                  <a:ea typeface="Microsoft YaHei"/>
                  <a:cs typeface="Arial"/>
                </a:rPr>
                <a:t>：</a:t>
              </a:r>
              <a:r>
                <a:rPr lang="en-US" altLang="zh-CN" sz="1580" dirty="0">
                  <a:solidFill>
                    <a:srgbClr val="202B33"/>
                  </a:solidFill>
                  <a:latin typeface="Arial"/>
                  <a:ea typeface="Microsoft YaHei"/>
                  <a:cs typeface="Arial"/>
                </a:rPr>
                <a:t>AI Agent</a:t>
              </a:r>
              <a:r>
                <a:rPr lang="zh-CN" altLang="en-US" sz="1580" dirty="0">
                  <a:solidFill>
                    <a:srgbClr val="202B33"/>
                  </a:solidFill>
                  <a:ea typeface="Microsoft YaHei"/>
                </a:rPr>
                <a:t>可信，权限执行方可信。</a:t>
              </a:r>
              <a:endParaRPr lang="zh-CN" sz="1580" dirty="0">
                <a:solidFill>
                  <a:srgbClr val="202B33"/>
                </a:solidFill>
                <a:latin typeface="Arial"/>
                <a:ea typeface="Microsoft YaHei"/>
                <a:cs typeface="Arial"/>
              </a:endParaRPr>
            </a:p>
          </p:txBody>
        </p:sp>
      </p:grpSp>
      <p:grpSp>
        <p:nvGrpSpPr>
          <p:cNvPr id="24" name="Group 24"/>
          <p:cNvGrpSpPr/>
          <p:nvPr/>
        </p:nvGrpSpPr>
        <p:grpSpPr>
          <a:xfrm>
            <a:off x="476250" y="4000501"/>
            <a:ext cx="8191500" cy="622870"/>
            <a:chOff x="476250" y="4229100"/>
            <a:chExt cx="8191500" cy="504825"/>
          </a:xfrm>
        </p:grpSpPr>
        <p:sp>
          <p:nvSpPr>
            <p:cNvPr id="21" name="Rectangle 21"/>
            <p:cNvSpPr/>
            <p:nvPr/>
          </p:nvSpPr>
          <p:spPr>
            <a:xfrm>
              <a:off x="476250" y="4229100"/>
              <a:ext cx="8191500" cy="504825"/>
            </a:xfrm>
            <a:prstGeom prst="rect">
              <a:avLst/>
            </a:prstGeom>
            <a:solidFill>
              <a:srgbClr val="F0F5F6"/>
            </a:solidFill>
            <a:ln>
              <a:noFill/>
            </a:ln>
          </p:spPr>
        </p:sp>
        <p:sp>
          <p:nvSpPr>
            <p:cNvPr id="22" name="Rectangle 22"/>
            <p:cNvSpPr/>
            <p:nvPr/>
          </p:nvSpPr>
          <p:spPr>
            <a:xfrm>
              <a:off x="476250" y="4229100"/>
              <a:ext cx="38100" cy="504825"/>
            </a:xfrm>
            <a:prstGeom prst="rect">
              <a:avLst/>
            </a:prstGeom>
            <a:solidFill>
              <a:srgbClr val="16735C"/>
            </a:solidFill>
            <a:ln>
              <a:noFill/>
            </a:ln>
          </p:spPr>
        </p:sp>
        <p:sp>
          <p:nvSpPr>
            <p:cNvPr id="23" name="TextBox 23"/>
            <p:cNvSpPr txBox="1"/>
            <p:nvPr/>
          </p:nvSpPr>
          <p:spPr>
            <a:xfrm>
              <a:off x="609600" y="4408646"/>
              <a:ext cx="5870829"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本文重点覆盖前两</a:t>
              </a:r>
              <a:r>
                <a:rPr lang="zh-CN" altLang="en-US" sz="1420" b="1" dirty="0">
                  <a:solidFill>
                    <a:srgbClr val="16735C"/>
                  </a:solidFill>
                  <a:latin typeface="Arial"/>
                  <a:ea typeface="Microsoft YaHei"/>
                  <a:cs typeface="Arial"/>
                </a:rPr>
                <a:t>部分</a:t>
              </a:r>
              <a:r>
                <a:rPr lang="zh-CN" sz="1420" b="1" dirty="0">
                  <a:solidFill>
                    <a:srgbClr val="16735C"/>
                  </a:solidFill>
                  <a:latin typeface="Arial"/>
                  <a:ea typeface="Microsoft YaHei"/>
                  <a:cs typeface="Arial"/>
                </a:rPr>
                <a:t>，</a:t>
              </a:r>
              <a:r>
                <a:rPr lang="zh-CN" altLang="en-US" sz="1420" b="1" dirty="0">
                  <a:solidFill>
                    <a:srgbClr val="16735C"/>
                  </a:solidFill>
                  <a:latin typeface="Arial"/>
                  <a:ea typeface="Microsoft YaHei"/>
                  <a:cs typeface="Arial"/>
                </a:rPr>
                <a:t>可靠执行部分</a:t>
              </a:r>
              <a:r>
                <a:rPr lang="zh-CN" sz="1420" b="1" dirty="0">
                  <a:solidFill>
                    <a:srgbClr val="16735C"/>
                  </a:solidFill>
                  <a:latin typeface="Arial"/>
                  <a:ea typeface="Microsoft YaHei"/>
                  <a:cs typeface="Arial"/>
                </a:rPr>
                <a:t>不在</a:t>
              </a:r>
              <a:r>
                <a:rPr lang="zh-CN" altLang="en-US" sz="1420" b="1" dirty="0">
                  <a:solidFill>
                    <a:srgbClr val="16735C"/>
                  </a:solidFill>
                  <a:latin typeface="Arial"/>
                  <a:ea typeface="Microsoft YaHei"/>
                  <a:cs typeface="Arial"/>
                </a:rPr>
                <a:t>本文</a:t>
              </a:r>
              <a:r>
                <a:rPr lang="zh-CN" sz="1420" b="1" dirty="0">
                  <a:solidFill>
                    <a:srgbClr val="16735C"/>
                  </a:solidFill>
                  <a:latin typeface="Arial"/>
                  <a:ea typeface="Microsoft YaHei"/>
                  <a:cs typeface="Arial"/>
                </a:rPr>
                <a:t>范围。</a:t>
              </a:r>
            </a:p>
          </p:txBody>
        </p:sp>
      </p:grpSp>
    </p:spTree>
    <p:extLst>
      <p:ext uri="{BB962C8B-B14F-4D97-AF65-F5344CB8AC3E}">
        <p14:creationId xmlns:p14="http://schemas.microsoft.com/office/powerpoint/2010/main" val="3547891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BD3A3C6-B3C2-5B6A-B8E6-1E109FBFDA30}"/>
            </a:ext>
          </a:extLst>
        </p:cNvPr>
        <p:cNvGrpSpPr/>
        <p:nvPr/>
      </p:nvGrpSpPr>
      <p:grpSpPr>
        <a:xfrm>
          <a:off x="0" y="0"/>
          <a:ext cx="0" cy="0"/>
          <a:chOff x="0" y="0"/>
          <a:chExt cx="0" cy="0"/>
        </a:xfrm>
      </p:grpSpPr>
      <p:grpSp>
        <p:nvGrpSpPr>
          <p:cNvPr id="5" name="Group 5"/>
          <p:cNvGrpSpPr/>
          <p:nvPr/>
        </p:nvGrpSpPr>
        <p:grpSpPr>
          <a:xfrm>
            <a:off x="504825" y="392430"/>
            <a:ext cx="5893805" cy="938213"/>
            <a:chOff x="504825" y="392430"/>
            <a:chExt cx="5893805" cy="938213"/>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02</a:t>
              </a:r>
            </a:p>
          </p:txBody>
        </p:sp>
        <p:sp>
          <p:nvSpPr>
            <p:cNvPr id="3" name="TextBox 3"/>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用户研究：实验设计</a:t>
              </a:r>
            </a:p>
          </p:txBody>
        </p:sp>
        <p:sp>
          <p:nvSpPr>
            <p:cNvPr id="4" name="TextBox 4"/>
            <p:cNvSpPr txBox="1"/>
            <p:nvPr/>
          </p:nvSpPr>
          <p:spPr>
            <a:xfrm>
              <a:off x="763926" y="944880"/>
              <a:ext cx="5634704"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观察</a:t>
              </a:r>
              <a:r>
                <a:rPr lang="zh-CN" altLang="en-US" sz="2020" b="1" dirty="0">
                  <a:solidFill>
                    <a:srgbClr val="005A84"/>
                  </a:solidFill>
                  <a:latin typeface="Arial"/>
                  <a:ea typeface="Microsoft YaHei"/>
                  <a:cs typeface="Arial"/>
                </a:rPr>
                <a:t>与研究</a:t>
              </a:r>
              <a:r>
                <a:rPr lang="zh-CN" sz="2020" b="1" dirty="0">
                  <a:solidFill>
                    <a:srgbClr val="005A84"/>
                  </a:solidFill>
                  <a:latin typeface="Arial"/>
                  <a:ea typeface="Microsoft YaHei"/>
                  <a:cs typeface="Arial"/>
                </a:rPr>
                <a:t>用户授权</a:t>
              </a:r>
              <a:r>
                <a:rPr lang="zh-CN" altLang="en-US" sz="2020" b="1" dirty="0">
                  <a:solidFill>
                    <a:srgbClr val="005A84"/>
                  </a:solidFill>
                  <a:ea typeface="Microsoft YaHei"/>
                </a:rPr>
                <a:t>模式</a:t>
              </a:r>
              <a:endParaRPr lang="zh-CN" sz="2020" b="1" dirty="0">
                <a:solidFill>
                  <a:srgbClr val="005A84"/>
                </a:solidFill>
                <a:latin typeface="Arial"/>
                <a:ea typeface="Microsoft YaHei"/>
                <a:cs typeface="Arial"/>
              </a:endParaRPr>
            </a:p>
          </p:txBody>
        </p:sp>
      </p:grpSp>
      <p:grpSp>
        <p:nvGrpSpPr>
          <p:cNvPr id="28" name="Group 28"/>
          <p:cNvGrpSpPr/>
          <p:nvPr/>
        </p:nvGrpSpPr>
        <p:grpSpPr>
          <a:xfrm>
            <a:off x="552450" y="1623536"/>
            <a:ext cx="8039100" cy="2281714"/>
            <a:chOff x="552450" y="1623536"/>
            <a:chExt cx="8039100" cy="2281714"/>
          </a:xfrm>
        </p:grpSpPr>
        <p:sp>
          <p:nvSpPr>
            <p:cNvPr id="9" name="TextBox 9"/>
            <p:cNvSpPr txBox="1"/>
            <p:nvPr/>
          </p:nvSpPr>
          <p:spPr>
            <a:xfrm>
              <a:off x="619125" y="1623536"/>
              <a:ext cx="1234726" cy="614362"/>
            </a:xfrm>
            <a:prstGeom prst="rect">
              <a:avLst/>
            </a:prstGeom>
            <a:noFill/>
            <a:ln>
              <a:noFill/>
            </a:ln>
          </p:spPr>
          <p:txBody>
            <a:bodyPr wrap="none" lIns="0" tIns="0" rIns="0" bIns="0" anchor="t" anchorCtr="0">
              <a:noAutofit/>
            </a:bodyPr>
            <a:lstStyle/>
            <a:p>
              <a:pPr algn="l"/>
              <a:r>
                <a:rPr lang="en-US" sz="3220" b="1" dirty="0">
                  <a:solidFill>
                    <a:srgbClr val="005A84"/>
                  </a:solidFill>
                  <a:latin typeface="Arial"/>
                  <a:ea typeface="Arial"/>
                  <a:cs typeface="Arial"/>
                </a:rPr>
                <a:t>205</a:t>
              </a:r>
            </a:p>
          </p:txBody>
        </p:sp>
        <p:sp>
          <p:nvSpPr>
            <p:cNvPr id="10" name="TextBox 10"/>
            <p:cNvSpPr txBox="1"/>
            <p:nvPr/>
          </p:nvSpPr>
          <p:spPr>
            <a:xfrm>
              <a:off x="619125" y="2130742"/>
              <a:ext cx="1148715" cy="257175"/>
            </a:xfrm>
            <a:prstGeom prst="rect">
              <a:avLst/>
            </a:prstGeom>
            <a:noFill/>
            <a:ln>
              <a:noFill/>
            </a:ln>
          </p:spPr>
          <p:txBody>
            <a:bodyPr wrap="none" lIns="0" tIns="0" rIns="0" bIns="0" anchor="t" anchorCtr="0">
              <a:noAutofit/>
            </a:bodyPr>
            <a:lstStyle/>
            <a:p>
              <a:pPr algn="l"/>
              <a:r>
                <a:rPr lang="zh-CN" sz="1350" dirty="0">
                  <a:solidFill>
                    <a:srgbClr val="5C6B73"/>
                  </a:solidFill>
                  <a:latin typeface="Arial"/>
                  <a:ea typeface="Microsoft YaHei"/>
                  <a:cs typeface="Arial"/>
                </a:rPr>
                <a:t>招募参与者</a:t>
              </a:r>
            </a:p>
          </p:txBody>
        </p:sp>
        <p:sp>
          <p:nvSpPr>
            <p:cNvPr id="11" name="TextBox 11"/>
            <p:cNvSpPr txBox="1"/>
            <p:nvPr/>
          </p:nvSpPr>
          <p:spPr>
            <a:xfrm>
              <a:off x="2762250" y="1623536"/>
              <a:ext cx="939165" cy="614362"/>
            </a:xfrm>
            <a:prstGeom prst="rect">
              <a:avLst/>
            </a:prstGeom>
            <a:noFill/>
            <a:ln>
              <a:noFill/>
            </a:ln>
          </p:spPr>
          <p:txBody>
            <a:bodyPr wrap="none" lIns="0" tIns="0" rIns="0" bIns="0" anchor="t" anchorCtr="0">
              <a:noAutofit/>
            </a:bodyPr>
            <a:lstStyle/>
            <a:p>
              <a:pPr algn="l"/>
              <a:r>
                <a:rPr lang="en-US" sz="3220" b="1" dirty="0">
                  <a:solidFill>
                    <a:srgbClr val="005A84"/>
                  </a:solidFill>
                  <a:latin typeface="Arial"/>
                  <a:ea typeface="Arial"/>
                  <a:cs typeface="Arial"/>
                </a:rPr>
                <a:t>65</a:t>
              </a:r>
            </a:p>
          </p:txBody>
        </p:sp>
        <p:sp>
          <p:nvSpPr>
            <p:cNvPr id="12" name="TextBox 12"/>
            <p:cNvSpPr txBox="1"/>
            <p:nvPr/>
          </p:nvSpPr>
          <p:spPr>
            <a:xfrm>
              <a:off x="2762250" y="2130742"/>
              <a:ext cx="948119" cy="257175"/>
            </a:xfrm>
            <a:prstGeom prst="rect">
              <a:avLst/>
            </a:prstGeom>
            <a:noFill/>
            <a:ln>
              <a:noFill/>
            </a:ln>
          </p:spPr>
          <p:txBody>
            <a:bodyPr wrap="none" lIns="0" tIns="0" rIns="0" bIns="0" anchor="t" anchorCtr="0">
              <a:noAutofit/>
            </a:bodyPr>
            <a:lstStyle/>
            <a:p>
              <a:pPr algn="l"/>
              <a:r>
                <a:rPr lang="zh-CN" altLang="en-US" sz="1350" dirty="0">
                  <a:solidFill>
                    <a:srgbClr val="5C6B73"/>
                  </a:solidFill>
                  <a:ea typeface="Microsoft YaHei"/>
                </a:rPr>
                <a:t>问题</a:t>
              </a:r>
              <a:endParaRPr lang="zh-CN" sz="1350" dirty="0">
                <a:solidFill>
                  <a:srgbClr val="5C6B73"/>
                </a:solidFill>
                <a:latin typeface="Arial"/>
                <a:ea typeface="Microsoft YaHei"/>
                <a:cs typeface="Arial"/>
              </a:endParaRPr>
            </a:p>
          </p:txBody>
        </p:sp>
        <p:sp>
          <p:nvSpPr>
            <p:cNvPr id="13" name="TextBox 13"/>
            <p:cNvSpPr txBox="1"/>
            <p:nvPr/>
          </p:nvSpPr>
          <p:spPr>
            <a:xfrm>
              <a:off x="4905375" y="1623536"/>
              <a:ext cx="939165" cy="614362"/>
            </a:xfrm>
            <a:prstGeom prst="rect">
              <a:avLst/>
            </a:prstGeom>
            <a:noFill/>
            <a:ln>
              <a:noFill/>
            </a:ln>
          </p:spPr>
          <p:txBody>
            <a:bodyPr wrap="none" lIns="0" tIns="0" rIns="0" bIns="0" anchor="t" anchorCtr="0">
              <a:noAutofit/>
            </a:bodyPr>
            <a:lstStyle/>
            <a:p>
              <a:pPr algn="l"/>
              <a:r>
                <a:rPr lang="en-US" sz="3220" b="1" dirty="0">
                  <a:solidFill>
                    <a:srgbClr val="005A84"/>
                  </a:solidFill>
                  <a:latin typeface="Arial"/>
                  <a:ea typeface="Arial"/>
                  <a:cs typeface="Arial"/>
                </a:rPr>
                <a:t>21</a:t>
              </a:r>
            </a:p>
          </p:txBody>
        </p:sp>
        <p:sp>
          <p:nvSpPr>
            <p:cNvPr id="14" name="TextBox 14"/>
            <p:cNvSpPr txBox="1"/>
            <p:nvPr/>
          </p:nvSpPr>
          <p:spPr>
            <a:xfrm>
              <a:off x="4905375" y="2130742"/>
              <a:ext cx="546925" cy="257175"/>
            </a:xfrm>
            <a:prstGeom prst="rect">
              <a:avLst/>
            </a:prstGeom>
            <a:noFill/>
            <a:ln>
              <a:noFill/>
            </a:ln>
          </p:spPr>
          <p:txBody>
            <a:bodyPr wrap="none" lIns="0" tIns="0" rIns="0" bIns="0" anchor="t" anchorCtr="0">
              <a:noAutofit/>
            </a:bodyPr>
            <a:lstStyle/>
            <a:p>
              <a:pPr algn="l"/>
              <a:r>
                <a:rPr lang="zh-CN" sz="1350" dirty="0">
                  <a:solidFill>
                    <a:srgbClr val="5C6B73"/>
                  </a:solidFill>
                  <a:latin typeface="Arial"/>
                  <a:ea typeface="Microsoft YaHei"/>
                  <a:cs typeface="Arial"/>
                </a:rPr>
                <a:t>工具</a:t>
              </a:r>
            </a:p>
          </p:txBody>
        </p:sp>
        <p:sp>
          <p:nvSpPr>
            <p:cNvPr id="15" name="TextBox 15"/>
            <p:cNvSpPr txBox="1"/>
            <p:nvPr/>
          </p:nvSpPr>
          <p:spPr>
            <a:xfrm>
              <a:off x="6953250" y="1623536"/>
              <a:ext cx="643700" cy="614362"/>
            </a:xfrm>
            <a:prstGeom prst="rect">
              <a:avLst/>
            </a:prstGeom>
            <a:noFill/>
            <a:ln>
              <a:noFill/>
            </a:ln>
          </p:spPr>
          <p:txBody>
            <a:bodyPr wrap="none" lIns="0" tIns="0" rIns="0" bIns="0" anchor="t" anchorCtr="0">
              <a:noAutofit/>
            </a:bodyPr>
            <a:lstStyle/>
            <a:p>
              <a:pPr algn="l"/>
              <a:r>
                <a:rPr lang="en-US" sz="3220" b="1" dirty="0">
                  <a:solidFill>
                    <a:srgbClr val="005A84"/>
                  </a:solidFill>
                  <a:latin typeface="Arial"/>
                  <a:ea typeface="Arial"/>
                  <a:cs typeface="Arial"/>
                </a:rPr>
                <a:t>8</a:t>
              </a:r>
            </a:p>
          </p:txBody>
        </p:sp>
        <p:sp>
          <p:nvSpPr>
            <p:cNvPr id="16" name="TextBox 16"/>
            <p:cNvSpPr txBox="1"/>
            <p:nvPr/>
          </p:nvSpPr>
          <p:spPr>
            <a:xfrm>
              <a:off x="6953250" y="2130742"/>
              <a:ext cx="546925" cy="257175"/>
            </a:xfrm>
            <a:prstGeom prst="rect">
              <a:avLst/>
            </a:prstGeom>
            <a:noFill/>
            <a:ln>
              <a:noFill/>
            </a:ln>
          </p:spPr>
          <p:txBody>
            <a:bodyPr wrap="none" lIns="0" tIns="0" rIns="0" bIns="0" anchor="t" anchorCtr="0">
              <a:noAutofit/>
            </a:bodyPr>
            <a:lstStyle/>
            <a:p>
              <a:pPr algn="l"/>
              <a:r>
                <a:rPr lang="zh-CN" sz="1350" dirty="0">
                  <a:solidFill>
                    <a:srgbClr val="5C6B73"/>
                  </a:solidFill>
                  <a:latin typeface="Arial"/>
                  <a:ea typeface="Microsoft YaHei"/>
                  <a:cs typeface="Arial"/>
                </a:rPr>
                <a:t>领域</a:t>
              </a:r>
            </a:p>
          </p:txBody>
        </p:sp>
        <p:sp>
          <p:nvSpPr>
            <p:cNvPr id="17" name="Line 17"/>
            <p:cNvSpPr/>
            <p:nvPr/>
          </p:nvSpPr>
          <p:spPr>
            <a:xfrm>
              <a:off x="552450" y="2476500"/>
              <a:ext cx="8039100" cy="9525"/>
            </a:xfrm>
            <a:custGeom>
              <a:avLst/>
              <a:gdLst/>
              <a:ahLst/>
              <a:cxnLst/>
              <a:rect l="l" t="t" r="r" b="b"/>
              <a:pathLst>
                <a:path w="8039100" h="9525">
                  <a:moveTo>
                    <a:pt x="0" y="0"/>
                  </a:moveTo>
                  <a:lnTo>
                    <a:pt x="8039100" y="0"/>
                  </a:lnTo>
                </a:path>
              </a:pathLst>
            </a:custGeom>
            <a:noFill/>
            <a:ln w="13335">
              <a:solidFill>
                <a:srgbClr val="CFDBDF"/>
              </a:solidFill>
            </a:ln>
          </p:spPr>
        </p:sp>
        <p:sp>
          <p:nvSpPr>
            <p:cNvPr id="18" name="TextBox 18"/>
            <p:cNvSpPr txBox="1"/>
            <p:nvPr/>
          </p:nvSpPr>
          <p:spPr>
            <a:xfrm>
              <a:off x="619125" y="2661761"/>
              <a:ext cx="5126831"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每人：5 道工具/数据选择题 + 20 道权限题</a:t>
              </a:r>
            </a:p>
          </p:txBody>
        </p:sp>
        <p:sp>
          <p:nvSpPr>
            <p:cNvPr id="19" name="TextBox 19"/>
            <p:cNvSpPr txBox="1"/>
            <p:nvPr/>
          </p:nvSpPr>
          <p:spPr>
            <a:xfrm>
              <a:off x="619125" y="3038475"/>
              <a:ext cx="3990689" cy="285750"/>
            </a:xfrm>
            <a:prstGeom prst="rect">
              <a:avLst/>
            </a:prstGeom>
            <a:noFill/>
            <a:ln>
              <a:noFill/>
            </a:ln>
          </p:spPr>
          <p:txBody>
            <a:bodyPr wrap="none" lIns="0" tIns="0" rIns="0" bIns="0" anchor="t" anchorCtr="0">
              <a:noAutofit/>
            </a:bodyPr>
            <a:lstStyle/>
            <a:p>
              <a:pPr algn="l"/>
              <a:r>
                <a:rPr lang="zh-CN" sz="1500" dirty="0">
                  <a:solidFill>
                    <a:srgbClr val="202B33"/>
                  </a:solidFill>
                  <a:latin typeface="Arial"/>
                  <a:ea typeface="Microsoft YaHei"/>
                  <a:cs typeface="Arial"/>
                </a:rPr>
                <a:t>其中 5 道权限</a:t>
              </a:r>
              <a:r>
                <a:rPr lang="zh-CN" altLang="en-US" sz="1500" dirty="0">
                  <a:solidFill>
                    <a:srgbClr val="202B33"/>
                  </a:solidFill>
                  <a:latin typeface="Arial"/>
                  <a:ea typeface="Microsoft YaHei"/>
                  <a:cs typeface="Arial"/>
                </a:rPr>
                <a:t>决策</a:t>
              </a:r>
              <a:r>
                <a:rPr lang="zh-CN" sz="1500" dirty="0">
                  <a:solidFill>
                    <a:srgbClr val="202B33"/>
                  </a:solidFill>
                  <a:latin typeface="Arial"/>
                  <a:ea typeface="Microsoft YaHei"/>
                  <a:cs typeface="Arial"/>
                </a:rPr>
                <a:t>题加入</a:t>
              </a:r>
              <a:r>
                <a:rPr lang="zh-CN" altLang="en-US" sz="1500" dirty="0">
                  <a:solidFill>
                    <a:srgbClr val="202B33"/>
                  </a:solidFill>
                  <a:latin typeface="Arial"/>
                  <a:ea typeface="Microsoft YaHei"/>
                  <a:cs typeface="Arial"/>
                </a:rPr>
                <a:t>不必要</a:t>
              </a:r>
              <a:r>
                <a:rPr lang="zh-CN" sz="1500" dirty="0">
                  <a:solidFill>
                    <a:srgbClr val="202B33"/>
                  </a:solidFill>
                  <a:latin typeface="Arial"/>
                  <a:ea typeface="Microsoft YaHei"/>
                  <a:cs typeface="Arial"/>
                </a:rPr>
                <a:t>的数据请求</a:t>
              </a:r>
              <a:r>
                <a:rPr lang="zh-CN" altLang="en-US" sz="1500" dirty="0">
                  <a:solidFill>
                    <a:srgbClr val="202B33"/>
                  </a:solidFill>
                  <a:latin typeface="Arial"/>
                  <a:ea typeface="Microsoft YaHei"/>
                  <a:cs typeface="Arial"/>
                </a:rPr>
                <a:t>，该题包括以下四个选项：</a:t>
              </a:r>
              <a:endParaRPr lang="zh-CN" sz="1500" dirty="0">
                <a:solidFill>
                  <a:srgbClr val="202B33"/>
                </a:solidFill>
                <a:latin typeface="Arial"/>
                <a:ea typeface="Microsoft YaHei"/>
                <a:cs typeface="Arial"/>
              </a:endParaRPr>
            </a:p>
          </p:txBody>
        </p:sp>
        <p:sp>
          <p:nvSpPr>
            <p:cNvPr id="20" name="Rectangle 20"/>
            <p:cNvSpPr/>
            <p:nvPr/>
          </p:nvSpPr>
          <p:spPr>
            <a:xfrm>
              <a:off x="590550" y="3476625"/>
              <a:ext cx="1866900" cy="428625"/>
            </a:xfrm>
            <a:prstGeom prst="rect">
              <a:avLst/>
            </a:prstGeom>
            <a:solidFill>
              <a:srgbClr val="E5F2ED"/>
            </a:solidFill>
            <a:ln>
              <a:noFill/>
            </a:ln>
          </p:spPr>
        </p:sp>
        <p:sp>
          <p:nvSpPr>
            <p:cNvPr id="21" name="TextBox 21"/>
            <p:cNvSpPr txBox="1"/>
            <p:nvPr/>
          </p:nvSpPr>
          <p:spPr>
            <a:xfrm>
              <a:off x="723900" y="3600450"/>
              <a:ext cx="1053465" cy="285750"/>
            </a:xfrm>
            <a:prstGeom prst="rect">
              <a:avLst/>
            </a:prstGeom>
            <a:noFill/>
            <a:ln>
              <a:noFill/>
            </a:ln>
          </p:spPr>
          <p:txBody>
            <a:bodyPr wrap="none" lIns="0" tIns="0" rIns="0" bIns="0" anchor="t" anchorCtr="0">
              <a:noAutofit/>
            </a:bodyPr>
            <a:lstStyle/>
            <a:p>
              <a:pPr algn="l"/>
              <a:r>
                <a:rPr lang="zh-CN" sz="1500" b="1" dirty="0">
                  <a:solidFill>
                    <a:srgbClr val="16735C"/>
                  </a:solidFill>
                  <a:latin typeface="Arial"/>
                  <a:ea typeface="Microsoft YaHei"/>
                  <a:cs typeface="Arial"/>
                </a:rPr>
                <a:t>始终分享</a:t>
              </a:r>
            </a:p>
          </p:txBody>
        </p:sp>
        <p:sp>
          <p:nvSpPr>
            <p:cNvPr id="22" name="Rectangle 22"/>
            <p:cNvSpPr/>
            <p:nvPr/>
          </p:nvSpPr>
          <p:spPr>
            <a:xfrm>
              <a:off x="2609850" y="3476625"/>
              <a:ext cx="1866900" cy="428625"/>
            </a:xfrm>
            <a:prstGeom prst="rect">
              <a:avLst/>
            </a:prstGeom>
            <a:solidFill>
              <a:srgbClr val="F0F5F6"/>
            </a:solidFill>
            <a:ln>
              <a:noFill/>
            </a:ln>
          </p:spPr>
        </p:sp>
        <p:sp>
          <p:nvSpPr>
            <p:cNvPr id="23" name="TextBox 23"/>
            <p:cNvSpPr txBox="1"/>
            <p:nvPr/>
          </p:nvSpPr>
          <p:spPr>
            <a:xfrm>
              <a:off x="2743200" y="3600450"/>
              <a:ext cx="1053465" cy="285750"/>
            </a:xfrm>
            <a:prstGeom prst="rect">
              <a:avLst/>
            </a:prstGeom>
            <a:noFill/>
            <a:ln>
              <a:noFill/>
            </a:ln>
          </p:spPr>
          <p:txBody>
            <a:bodyPr wrap="none" lIns="0" tIns="0" rIns="0" bIns="0" anchor="t" anchorCtr="0">
              <a:noAutofit/>
            </a:bodyPr>
            <a:lstStyle/>
            <a:p>
              <a:pPr algn="l"/>
              <a:r>
                <a:rPr lang="zh-CN" sz="1500" b="1" dirty="0">
                  <a:solidFill>
                    <a:srgbClr val="202B33"/>
                  </a:solidFill>
                  <a:latin typeface="Arial"/>
                  <a:ea typeface="Microsoft YaHei"/>
                  <a:cs typeface="Arial"/>
                </a:rPr>
                <a:t>本次分享</a:t>
              </a:r>
            </a:p>
          </p:txBody>
        </p:sp>
        <p:sp>
          <p:nvSpPr>
            <p:cNvPr id="24" name="Rectangle 24"/>
            <p:cNvSpPr/>
            <p:nvPr/>
          </p:nvSpPr>
          <p:spPr>
            <a:xfrm>
              <a:off x="4629150" y="3476625"/>
              <a:ext cx="1866900" cy="428625"/>
            </a:xfrm>
            <a:prstGeom prst="rect">
              <a:avLst/>
            </a:prstGeom>
            <a:solidFill>
              <a:srgbClr val="F0F5F6"/>
            </a:solidFill>
            <a:ln>
              <a:noFill/>
            </a:ln>
          </p:spPr>
        </p:sp>
        <p:sp>
          <p:nvSpPr>
            <p:cNvPr id="25" name="TextBox 25"/>
            <p:cNvSpPr txBox="1"/>
            <p:nvPr/>
          </p:nvSpPr>
          <p:spPr>
            <a:xfrm>
              <a:off x="4762500" y="3600450"/>
              <a:ext cx="1276350" cy="285750"/>
            </a:xfrm>
            <a:prstGeom prst="rect">
              <a:avLst/>
            </a:prstGeom>
            <a:noFill/>
            <a:ln>
              <a:noFill/>
            </a:ln>
          </p:spPr>
          <p:txBody>
            <a:bodyPr wrap="none" lIns="0" tIns="0" rIns="0" bIns="0" anchor="t" anchorCtr="0">
              <a:noAutofit/>
            </a:bodyPr>
            <a:lstStyle/>
            <a:p>
              <a:pPr algn="l"/>
              <a:r>
                <a:rPr lang="zh-CN" sz="1500" b="1" dirty="0">
                  <a:solidFill>
                    <a:srgbClr val="202B33"/>
                  </a:solidFill>
                  <a:latin typeface="Arial"/>
                  <a:ea typeface="Microsoft YaHei"/>
                  <a:cs typeface="Arial"/>
                </a:rPr>
                <a:t>本次不分享</a:t>
              </a:r>
            </a:p>
          </p:txBody>
        </p:sp>
        <p:sp>
          <p:nvSpPr>
            <p:cNvPr id="26" name="Rectangle 26"/>
            <p:cNvSpPr/>
            <p:nvPr/>
          </p:nvSpPr>
          <p:spPr>
            <a:xfrm>
              <a:off x="6648450" y="3476625"/>
              <a:ext cx="1866900" cy="428625"/>
            </a:xfrm>
            <a:prstGeom prst="rect">
              <a:avLst/>
            </a:prstGeom>
            <a:solidFill>
              <a:srgbClr val="E5F2ED"/>
            </a:solidFill>
            <a:ln>
              <a:noFill/>
            </a:ln>
          </p:spPr>
        </p:sp>
        <p:sp>
          <p:nvSpPr>
            <p:cNvPr id="27" name="TextBox 27"/>
            <p:cNvSpPr txBox="1"/>
            <p:nvPr/>
          </p:nvSpPr>
          <p:spPr>
            <a:xfrm>
              <a:off x="6781800" y="3600450"/>
              <a:ext cx="1053465" cy="285750"/>
            </a:xfrm>
            <a:prstGeom prst="rect">
              <a:avLst/>
            </a:prstGeom>
            <a:noFill/>
            <a:ln>
              <a:noFill/>
            </a:ln>
          </p:spPr>
          <p:txBody>
            <a:bodyPr wrap="none" lIns="0" tIns="0" rIns="0" bIns="0" anchor="t" anchorCtr="0">
              <a:noAutofit/>
            </a:bodyPr>
            <a:lstStyle/>
            <a:p>
              <a:pPr algn="l"/>
              <a:r>
                <a:rPr lang="zh-CN" sz="1500" b="1" dirty="0">
                  <a:solidFill>
                    <a:srgbClr val="16735C"/>
                  </a:solidFill>
                  <a:latin typeface="Arial"/>
                  <a:ea typeface="Microsoft YaHei"/>
                  <a:cs typeface="Arial"/>
                </a:rPr>
                <a:t>从不分享</a:t>
              </a:r>
            </a:p>
          </p:txBody>
        </p:sp>
      </p:grpSp>
      <p:grpSp>
        <p:nvGrpSpPr>
          <p:cNvPr id="33" name="Group 33"/>
          <p:cNvGrpSpPr/>
          <p:nvPr/>
        </p:nvGrpSpPr>
        <p:grpSpPr>
          <a:xfrm>
            <a:off x="476250" y="4114806"/>
            <a:ext cx="8191500" cy="619120"/>
            <a:chOff x="476250" y="4229100"/>
            <a:chExt cx="8191500" cy="504825"/>
          </a:xfrm>
        </p:grpSpPr>
        <p:sp>
          <p:nvSpPr>
            <p:cNvPr id="29" name="Rectangle 29"/>
            <p:cNvSpPr/>
            <p:nvPr/>
          </p:nvSpPr>
          <p:spPr>
            <a:xfrm>
              <a:off x="476250" y="4229100"/>
              <a:ext cx="8191500" cy="504825"/>
            </a:xfrm>
            <a:prstGeom prst="rect">
              <a:avLst/>
            </a:prstGeom>
            <a:solidFill>
              <a:srgbClr val="F0F5F6"/>
            </a:solidFill>
            <a:ln>
              <a:noFill/>
            </a:ln>
          </p:spPr>
        </p:sp>
        <p:sp>
          <p:nvSpPr>
            <p:cNvPr id="30" name="Rectangle 30"/>
            <p:cNvSpPr/>
            <p:nvPr/>
          </p:nvSpPr>
          <p:spPr>
            <a:xfrm>
              <a:off x="476250" y="4229100"/>
              <a:ext cx="38100" cy="504825"/>
            </a:xfrm>
            <a:prstGeom prst="rect">
              <a:avLst/>
            </a:prstGeom>
            <a:solidFill>
              <a:srgbClr val="16735C"/>
            </a:solidFill>
            <a:ln>
              <a:noFill/>
            </a:ln>
          </p:spPr>
        </p:sp>
        <p:sp>
          <p:nvSpPr>
            <p:cNvPr id="31" name="TextBox 31"/>
            <p:cNvSpPr txBox="1"/>
            <p:nvPr/>
          </p:nvSpPr>
          <p:spPr>
            <a:xfrm>
              <a:off x="619125" y="4392194"/>
              <a:ext cx="5734717"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采用</a:t>
              </a:r>
              <a:r>
                <a:rPr lang="zh-CN" sz="1420" b="1" dirty="0">
                  <a:solidFill>
                    <a:srgbClr val="16735C"/>
                  </a:solidFill>
                  <a:latin typeface="Arial"/>
                  <a:ea typeface="Microsoft YaHei"/>
                  <a:cs typeface="Arial"/>
                </a:rPr>
                <a:t>情境问卷</a:t>
              </a:r>
              <a:r>
                <a:rPr lang="zh-CN" altLang="en-US" sz="1420" b="1" dirty="0">
                  <a:solidFill>
                    <a:srgbClr val="16735C"/>
                  </a:solidFill>
                  <a:latin typeface="Arial"/>
                  <a:ea typeface="Microsoft YaHei"/>
                  <a:cs typeface="Arial"/>
                </a:rPr>
                <a:t>方式；回答前询问隐私意识相关问题进行预热</a:t>
              </a:r>
              <a:r>
                <a:rPr lang="zh-CN" sz="1420" b="1" dirty="0">
                  <a:solidFill>
                    <a:srgbClr val="16735C"/>
                  </a:solidFill>
                  <a:latin typeface="Arial"/>
                  <a:ea typeface="Microsoft YaHei"/>
                  <a:cs typeface="Arial"/>
                </a:rPr>
                <a:t>。</a:t>
              </a:r>
            </a:p>
          </p:txBody>
        </p:sp>
      </p:grpSp>
    </p:spTree>
    <p:extLst>
      <p:ext uri="{BB962C8B-B14F-4D97-AF65-F5344CB8AC3E}">
        <p14:creationId xmlns:p14="http://schemas.microsoft.com/office/powerpoint/2010/main" val="166543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3373BDFD-D778-6AAD-A0BB-6BD6F208BD4B}"/>
            </a:ext>
          </a:extLst>
        </p:cNvPr>
        <p:cNvGrpSpPr/>
        <p:nvPr/>
      </p:nvGrpSpPr>
      <p:grpSpPr>
        <a:xfrm>
          <a:off x="0" y="0"/>
          <a:ext cx="0" cy="0"/>
          <a:chOff x="0" y="0"/>
          <a:chExt cx="0" cy="0"/>
        </a:xfrm>
      </p:grpSpPr>
      <p:grpSp>
        <p:nvGrpSpPr>
          <p:cNvPr id="5" name="Group 5"/>
          <p:cNvGrpSpPr/>
          <p:nvPr/>
        </p:nvGrpSpPr>
        <p:grpSpPr>
          <a:xfrm>
            <a:off x="476250" y="392430"/>
            <a:ext cx="6236494" cy="1012984"/>
            <a:chOff x="476250" y="392430"/>
            <a:chExt cx="623649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02</a:t>
              </a:r>
            </a:p>
          </p:txBody>
        </p:sp>
        <p:sp>
          <p:nvSpPr>
            <p:cNvPr id="3" name="TextBox 3"/>
            <p:cNvSpPr txBox="1"/>
            <p:nvPr/>
          </p:nvSpPr>
          <p:spPr>
            <a:xfrm>
              <a:off x="1219200" y="392430"/>
              <a:ext cx="3971163"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发现一：</a:t>
              </a:r>
              <a:r>
                <a:rPr lang="zh-CN" altLang="en-US" sz="2100" b="1" dirty="0">
                  <a:solidFill>
                    <a:srgbClr val="202B33"/>
                  </a:solidFill>
                  <a:latin typeface="Arial"/>
                  <a:ea typeface="Microsoft YaHei"/>
                  <a:cs typeface="Arial"/>
                </a:rPr>
                <a:t>用户</a:t>
              </a:r>
              <a:r>
                <a:rPr lang="zh-CN" sz="2100" b="1" dirty="0">
                  <a:solidFill>
                    <a:srgbClr val="202B33"/>
                  </a:solidFill>
                  <a:latin typeface="Arial"/>
                  <a:ea typeface="Microsoft YaHei"/>
                  <a:cs typeface="Arial"/>
                </a:rPr>
                <a:t>授权并不总是恰当</a:t>
              </a:r>
            </a:p>
          </p:txBody>
        </p:sp>
        <p:sp>
          <p:nvSpPr>
            <p:cNvPr id="4" name="TextBox 4"/>
            <p:cNvSpPr txBox="1"/>
            <p:nvPr/>
          </p:nvSpPr>
          <p:spPr>
            <a:xfrm>
              <a:off x="476250" y="1019651"/>
              <a:ext cx="6236494"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过度授权</a:t>
              </a:r>
              <a:r>
                <a:rPr lang="zh-CN" altLang="en-US" sz="2020" b="1" dirty="0">
                  <a:solidFill>
                    <a:srgbClr val="005A84"/>
                  </a:solidFill>
                  <a:latin typeface="Arial"/>
                  <a:ea typeface="Microsoft YaHei"/>
                  <a:cs typeface="Arial"/>
                </a:rPr>
                <a:t>更常见</a:t>
              </a:r>
              <a:r>
                <a:rPr lang="zh-CN" sz="2020" b="1" dirty="0">
                  <a:solidFill>
                    <a:srgbClr val="005A84"/>
                  </a:solidFill>
                  <a:latin typeface="Arial"/>
                  <a:ea typeface="Microsoft YaHei"/>
                  <a:cs typeface="Arial"/>
                </a:rPr>
                <a:t>，</a:t>
              </a:r>
              <a:r>
                <a:rPr lang="zh-CN" altLang="en-US" sz="2020" b="1" dirty="0">
                  <a:solidFill>
                    <a:srgbClr val="005A84"/>
                  </a:solidFill>
                  <a:latin typeface="Arial"/>
                  <a:ea typeface="Microsoft YaHei"/>
                  <a:cs typeface="Arial"/>
                </a:rPr>
                <a:t>用户</a:t>
              </a:r>
              <a:r>
                <a:rPr lang="zh-CN" altLang="en-US" sz="2020" b="1" dirty="0">
                  <a:solidFill>
                    <a:srgbClr val="005A84"/>
                  </a:solidFill>
                  <a:ea typeface="Microsoft YaHei"/>
                </a:rPr>
                <a:t>偏好不等于</a:t>
              </a:r>
              <a:r>
                <a:rPr lang="zh-CN" sz="2020" b="1" dirty="0">
                  <a:solidFill>
                    <a:srgbClr val="005A84"/>
                  </a:solidFill>
                  <a:latin typeface="Arial"/>
                  <a:ea typeface="Microsoft YaHei"/>
                  <a:cs typeface="Arial"/>
                </a:rPr>
                <a:t>最小权限</a:t>
              </a:r>
            </a:p>
          </p:txBody>
        </p:sp>
      </p:grpSp>
      <p:grpSp>
        <p:nvGrpSpPr>
          <p:cNvPr id="15" name="Group 15"/>
          <p:cNvGrpSpPr/>
          <p:nvPr/>
        </p:nvGrpSpPr>
        <p:grpSpPr>
          <a:xfrm>
            <a:off x="571190" y="1545908"/>
            <a:ext cx="7753850" cy="2587942"/>
            <a:chOff x="571190" y="1545908"/>
            <a:chExt cx="7753850" cy="2587942"/>
          </a:xfrm>
        </p:grpSpPr>
        <p:pic>
          <p:nvPicPr>
            <p:cNvPr id="9" name="Image 9"/>
            <p:cNvPicPr>
              <a:picLocks noChangeAspect="1"/>
            </p:cNvPicPr>
            <p:nvPr/>
          </p:nvPicPr>
          <p:blipFill>
            <a:blip r:embed="rId3"/>
            <a:stretch>
              <a:fillRect/>
            </a:stretch>
          </p:blipFill>
          <p:spPr>
            <a:xfrm>
              <a:off x="571190" y="1628775"/>
              <a:ext cx="4725020" cy="2505075"/>
            </a:xfrm>
            <a:prstGeom prst="rect">
              <a:avLst/>
            </a:prstGeom>
          </p:spPr>
        </p:pic>
        <p:sp>
          <p:nvSpPr>
            <p:cNvPr id="10" name="TextBox 10"/>
            <p:cNvSpPr txBox="1"/>
            <p:nvPr/>
          </p:nvSpPr>
          <p:spPr>
            <a:xfrm>
              <a:off x="5772150" y="1545908"/>
              <a:ext cx="1486853" cy="600075"/>
            </a:xfrm>
            <a:prstGeom prst="rect">
              <a:avLst/>
            </a:prstGeom>
            <a:noFill/>
            <a:ln>
              <a:noFill/>
            </a:ln>
          </p:spPr>
          <p:txBody>
            <a:bodyPr wrap="none" lIns="0" tIns="0" rIns="0" bIns="0" anchor="t" anchorCtr="0">
              <a:noAutofit/>
            </a:bodyPr>
            <a:lstStyle/>
            <a:p>
              <a:pPr algn="l"/>
              <a:r>
                <a:rPr lang="en-US" sz="3150" b="1" dirty="0">
                  <a:solidFill>
                    <a:srgbClr val="BE4B42"/>
                  </a:solidFill>
                </a:rPr>
                <a:t>90</a:t>
              </a:r>
              <a:r>
                <a:rPr lang="en-US" sz="3150" b="1" dirty="0">
                  <a:solidFill>
                    <a:srgbClr val="BE4B42"/>
                  </a:solidFill>
                  <a:latin typeface="Arial"/>
                  <a:ea typeface="Arial"/>
                  <a:cs typeface="Arial"/>
                </a:rPr>
                <a:t>.0%</a:t>
              </a:r>
            </a:p>
          </p:txBody>
        </p:sp>
        <p:sp>
          <p:nvSpPr>
            <p:cNvPr id="11" name="TextBox 11"/>
            <p:cNvSpPr txBox="1"/>
            <p:nvPr/>
          </p:nvSpPr>
          <p:spPr>
            <a:xfrm>
              <a:off x="5772150" y="2054542"/>
              <a:ext cx="2552890" cy="257175"/>
            </a:xfrm>
            <a:prstGeom prst="rect">
              <a:avLst/>
            </a:prstGeom>
            <a:noFill/>
            <a:ln>
              <a:noFill/>
            </a:ln>
          </p:spPr>
          <p:txBody>
            <a:bodyPr wrap="none" lIns="0" tIns="0" rIns="0" bIns="0" anchor="t" anchorCtr="0">
              <a:noAutofit/>
            </a:bodyPr>
            <a:lstStyle/>
            <a:p>
              <a:pPr algn="l"/>
              <a:r>
                <a:rPr lang="zh-CN" altLang="en-US" sz="1350" dirty="0">
                  <a:solidFill>
                    <a:srgbClr val="202B33"/>
                  </a:solidFill>
                  <a:ea typeface="Microsoft YaHei"/>
                </a:rPr>
                <a:t>参与者至少</a:t>
              </a:r>
              <a:r>
                <a:rPr lang="en-US" altLang="zh-CN" sz="1350" dirty="0">
                  <a:solidFill>
                    <a:srgbClr val="202B33"/>
                  </a:solidFill>
                  <a:ea typeface="Microsoft YaHei"/>
                </a:rPr>
                <a:t>15.4%</a:t>
              </a:r>
              <a:r>
                <a:rPr lang="zh-CN" altLang="en-US" sz="1350" dirty="0">
                  <a:solidFill>
                    <a:srgbClr val="202B33"/>
                  </a:solidFill>
                  <a:ea typeface="Microsoft YaHei"/>
                </a:rPr>
                <a:t>请求过度授权</a:t>
              </a:r>
              <a:endParaRPr lang="zh-CN" sz="1350" dirty="0">
                <a:solidFill>
                  <a:srgbClr val="202B33"/>
                </a:solidFill>
                <a:latin typeface="Arial"/>
                <a:ea typeface="Microsoft YaHei"/>
                <a:cs typeface="Arial"/>
              </a:endParaRPr>
            </a:p>
          </p:txBody>
        </p:sp>
        <p:sp>
          <p:nvSpPr>
            <p:cNvPr id="12" name="TextBox 12"/>
            <p:cNvSpPr txBox="1"/>
            <p:nvPr/>
          </p:nvSpPr>
          <p:spPr>
            <a:xfrm>
              <a:off x="5772150" y="2393632"/>
              <a:ext cx="1775555" cy="600075"/>
            </a:xfrm>
            <a:prstGeom prst="rect">
              <a:avLst/>
            </a:prstGeom>
            <a:noFill/>
            <a:ln>
              <a:noFill/>
            </a:ln>
          </p:spPr>
          <p:txBody>
            <a:bodyPr wrap="none" lIns="0" tIns="0" rIns="0" bIns="0" anchor="t" anchorCtr="0">
              <a:noAutofit/>
            </a:bodyPr>
            <a:lstStyle/>
            <a:p>
              <a:pPr algn="l"/>
              <a:r>
                <a:rPr lang="en-US" sz="3150" b="1" dirty="0">
                  <a:solidFill>
                    <a:srgbClr val="005A84"/>
                  </a:solidFill>
                  <a:latin typeface="Arial"/>
                  <a:ea typeface="Arial"/>
                  <a:cs typeface="Arial"/>
                </a:rPr>
                <a:t>18.7%</a:t>
              </a:r>
            </a:p>
          </p:txBody>
        </p:sp>
        <p:sp>
          <p:nvSpPr>
            <p:cNvPr id="13" name="TextBox 13"/>
            <p:cNvSpPr txBox="1"/>
            <p:nvPr/>
          </p:nvSpPr>
          <p:spPr>
            <a:xfrm>
              <a:off x="5772150" y="2902268"/>
              <a:ext cx="2364867" cy="257175"/>
            </a:xfrm>
            <a:prstGeom prst="rect">
              <a:avLst/>
            </a:prstGeom>
            <a:noFill/>
            <a:ln>
              <a:noFill/>
            </a:ln>
          </p:spPr>
          <p:txBody>
            <a:bodyPr wrap="none" lIns="0" tIns="0" rIns="0" bIns="0" anchor="t" anchorCtr="0">
              <a:noAutofit/>
            </a:bodyPr>
            <a:lstStyle/>
            <a:p>
              <a:pPr algn="l"/>
              <a:r>
                <a:rPr lang="zh-CN" altLang="en-US" sz="1350" dirty="0">
                  <a:solidFill>
                    <a:srgbClr val="202B33"/>
                  </a:solidFill>
                  <a:latin typeface="Arial"/>
                  <a:ea typeface="Microsoft YaHei"/>
                  <a:cs typeface="Arial"/>
                </a:rPr>
                <a:t>参与者</a:t>
              </a:r>
              <a:r>
                <a:rPr lang="zh-CN" sz="1350" dirty="0">
                  <a:solidFill>
                    <a:srgbClr val="202B33"/>
                  </a:solidFill>
                  <a:latin typeface="Arial"/>
                  <a:ea typeface="Microsoft YaHei"/>
                  <a:cs typeface="Arial"/>
                </a:rPr>
                <a:t>至少90%的请求授权恰当</a:t>
              </a:r>
            </a:p>
          </p:txBody>
        </p:sp>
        <p:sp>
          <p:nvSpPr>
            <p:cNvPr id="14" name="TextBox 14"/>
            <p:cNvSpPr txBox="1"/>
            <p:nvPr/>
          </p:nvSpPr>
          <p:spPr>
            <a:xfrm>
              <a:off x="5772150" y="3385185"/>
              <a:ext cx="1912620" cy="454152"/>
            </a:xfrm>
            <a:prstGeom prst="rect">
              <a:avLst/>
            </a:prstGeom>
            <a:noFill/>
            <a:ln>
              <a:noFill/>
            </a:ln>
          </p:spPr>
          <p:txBody>
            <a:bodyPr wrap="none" lIns="0" tIns="0" rIns="0" bIns="0" anchor="t" anchorCtr="0">
              <a:noAutofit/>
            </a:bodyPr>
            <a:lstStyle/>
            <a:p>
              <a:pPr algn="l">
                <a:lnSpc>
                  <a:spcPts val="1776"/>
                </a:lnSpc>
              </a:pPr>
              <a:r>
                <a:rPr lang="zh-CN" sz="1200" dirty="0">
                  <a:solidFill>
                    <a:srgbClr val="5C6B73"/>
                  </a:solidFill>
                  <a:latin typeface="Arial"/>
                  <a:ea typeface="Microsoft YaHei"/>
                  <a:cs typeface="Arial"/>
                </a:rPr>
                <a:t>横轴：个人请求</a:t>
              </a:r>
              <a:r>
                <a:rPr lang="zh-CN" altLang="en-US" sz="1200" dirty="0">
                  <a:solidFill>
                    <a:srgbClr val="5C6B73"/>
                  </a:solidFill>
                  <a:latin typeface="Arial"/>
                  <a:ea typeface="Microsoft YaHei"/>
                  <a:cs typeface="Arial"/>
                </a:rPr>
                <a:t>比例</a:t>
              </a:r>
              <a:br>
                <a:rPr dirty="0"/>
              </a:br>
              <a:r>
                <a:rPr lang="zh-CN" sz="1200" dirty="0">
                  <a:solidFill>
                    <a:srgbClr val="5C6B73"/>
                  </a:solidFill>
                  <a:latin typeface="Arial"/>
                  <a:ea typeface="Microsoft YaHei"/>
                  <a:cs typeface="Arial"/>
                </a:rPr>
                <a:t>纵轴：参与者</a:t>
              </a:r>
              <a:r>
                <a:rPr lang="zh-CN" altLang="en-US" sz="1200" dirty="0">
                  <a:solidFill>
                    <a:srgbClr val="5C6B73"/>
                  </a:solidFill>
                  <a:latin typeface="Arial"/>
                  <a:ea typeface="Microsoft YaHei"/>
                  <a:cs typeface="Arial"/>
                </a:rPr>
                <a:t>累计</a:t>
              </a:r>
              <a:r>
                <a:rPr lang="zh-CN" sz="1200" dirty="0">
                  <a:solidFill>
                    <a:srgbClr val="5C6B73"/>
                  </a:solidFill>
                  <a:latin typeface="Arial"/>
                  <a:ea typeface="Microsoft YaHei"/>
                  <a:cs typeface="Arial"/>
                </a:rPr>
                <a:t>比例</a:t>
              </a:r>
            </a:p>
          </p:txBody>
        </p:sp>
      </p:grpSp>
      <p:grpSp>
        <p:nvGrpSpPr>
          <p:cNvPr id="20" name="Group 20"/>
          <p:cNvGrpSpPr/>
          <p:nvPr/>
        </p:nvGrpSpPr>
        <p:grpSpPr>
          <a:xfrm>
            <a:off x="476250" y="4229100"/>
            <a:ext cx="8191500" cy="504825"/>
            <a:chOff x="476250" y="4229100"/>
            <a:chExt cx="8191500" cy="504825"/>
          </a:xfrm>
        </p:grpSpPr>
        <p:sp>
          <p:nvSpPr>
            <p:cNvPr id="16" name="Rectangle 16"/>
            <p:cNvSpPr/>
            <p:nvPr/>
          </p:nvSpPr>
          <p:spPr>
            <a:xfrm>
              <a:off x="476250" y="4229100"/>
              <a:ext cx="8191500" cy="504825"/>
            </a:xfrm>
            <a:prstGeom prst="rect">
              <a:avLst/>
            </a:prstGeom>
            <a:solidFill>
              <a:srgbClr val="F0F5F6"/>
            </a:solidFill>
            <a:ln>
              <a:noFill/>
            </a:ln>
          </p:spPr>
        </p:sp>
        <p:sp>
          <p:nvSpPr>
            <p:cNvPr id="17" name="Rectangle 17"/>
            <p:cNvSpPr/>
            <p:nvPr/>
          </p:nvSpPr>
          <p:spPr>
            <a:xfrm>
              <a:off x="476250" y="4229100"/>
              <a:ext cx="38100" cy="504825"/>
            </a:xfrm>
            <a:prstGeom prst="rect">
              <a:avLst/>
            </a:prstGeom>
            <a:solidFill>
              <a:srgbClr val="16735C"/>
            </a:solidFill>
            <a:ln>
              <a:noFill/>
            </a:ln>
          </p:spPr>
        </p:sp>
        <p:sp>
          <p:nvSpPr>
            <p:cNvPr id="18" name="TextBox 18"/>
            <p:cNvSpPr txBox="1"/>
            <p:nvPr/>
          </p:nvSpPr>
          <p:spPr>
            <a:xfrm>
              <a:off x="609600" y="4361127"/>
              <a:ext cx="5235607"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学习</a:t>
              </a:r>
              <a:r>
                <a:rPr lang="zh-CN" sz="1420" b="1" dirty="0">
                  <a:solidFill>
                    <a:srgbClr val="16735C"/>
                  </a:solidFill>
                  <a:latin typeface="Arial"/>
                  <a:ea typeface="Microsoft YaHei"/>
                  <a:cs typeface="Arial"/>
                </a:rPr>
                <a:t>用户偏好</a:t>
              </a:r>
              <a:r>
                <a:rPr lang="zh-CN" altLang="en-US" sz="1420" b="1" dirty="0">
                  <a:solidFill>
                    <a:srgbClr val="16735C"/>
                  </a:solidFill>
                  <a:latin typeface="Arial"/>
                  <a:ea typeface="Microsoft YaHei"/>
                  <a:cs typeface="Arial"/>
                </a:rPr>
                <a:t>，</a:t>
              </a:r>
              <a:r>
                <a:rPr lang="zh-CN" sz="1420" b="1" dirty="0">
                  <a:solidFill>
                    <a:srgbClr val="16735C"/>
                  </a:solidFill>
                  <a:latin typeface="Arial"/>
                  <a:ea typeface="Microsoft YaHei"/>
                  <a:cs typeface="Arial"/>
                </a:rPr>
                <a:t>也可能</a:t>
              </a:r>
              <a:r>
                <a:rPr lang="zh-CN" altLang="en-US" sz="1420" b="1" dirty="0">
                  <a:solidFill>
                    <a:srgbClr val="16735C"/>
                  </a:solidFill>
                  <a:ea typeface="Microsoft YaHei"/>
                </a:rPr>
                <a:t>延续用户</a:t>
              </a:r>
              <a:r>
                <a:rPr lang="zh-CN" sz="1420" b="1" dirty="0">
                  <a:solidFill>
                    <a:srgbClr val="16735C"/>
                  </a:solidFill>
                  <a:latin typeface="Arial"/>
                  <a:ea typeface="Microsoft YaHei"/>
                  <a:cs typeface="Arial"/>
                </a:rPr>
                <a:t>原本的过度分享习惯。</a:t>
              </a:r>
            </a:p>
          </p:txBody>
        </p:sp>
      </p:grpSp>
    </p:spTree>
    <p:extLst>
      <p:ext uri="{BB962C8B-B14F-4D97-AF65-F5344CB8AC3E}">
        <p14:creationId xmlns:p14="http://schemas.microsoft.com/office/powerpoint/2010/main" val="1983751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BD3A3C6-B3C2-5B6A-B8E6-1E109FBFDA30}"/>
            </a:ext>
          </a:extLst>
        </p:cNvPr>
        <p:cNvGrpSpPr/>
        <p:nvPr/>
      </p:nvGrpSpPr>
      <p:grpSpPr>
        <a:xfrm>
          <a:off x="0" y="0"/>
          <a:ext cx="0" cy="0"/>
          <a:chOff x="0" y="0"/>
          <a:chExt cx="0" cy="0"/>
        </a:xfrm>
      </p:grpSpPr>
      <p:grpSp>
        <p:nvGrpSpPr>
          <p:cNvPr id="5" name="Group 5"/>
          <p:cNvGrpSpPr/>
          <p:nvPr/>
        </p:nvGrpSpPr>
        <p:grpSpPr>
          <a:xfrm>
            <a:off x="476250" y="392430"/>
            <a:ext cx="6236494" cy="1012984"/>
            <a:chOff x="476250" y="392430"/>
            <a:chExt cx="623649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02</a:t>
              </a:r>
            </a:p>
          </p:txBody>
        </p:sp>
        <p:sp>
          <p:nvSpPr>
            <p:cNvPr id="3" name="TextBox 3"/>
            <p:cNvSpPr txBox="1"/>
            <p:nvPr/>
          </p:nvSpPr>
          <p:spPr>
            <a:xfrm>
              <a:off x="1219200" y="392430"/>
              <a:ext cx="3659124"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发现二：</a:t>
              </a:r>
              <a:r>
                <a:rPr lang="zh-CN" altLang="en-US" sz="2100" b="1" dirty="0">
                  <a:solidFill>
                    <a:srgbClr val="202B33"/>
                  </a:solidFill>
                  <a:ea typeface="Microsoft YaHei"/>
                </a:rPr>
                <a:t>不同情境下决策偏好不同</a:t>
              </a:r>
              <a:endParaRPr lang="zh-CN" sz="2100" b="1" dirty="0">
                <a:solidFill>
                  <a:srgbClr val="202B33"/>
                </a:solidFill>
                <a:latin typeface="Arial"/>
                <a:ea typeface="Microsoft YaHei"/>
                <a:cs typeface="Arial"/>
              </a:endParaRPr>
            </a:p>
          </p:txBody>
        </p:sp>
        <p:sp>
          <p:nvSpPr>
            <p:cNvPr id="4" name="TextBox 4"/>
            <p:cNvSpPr txBox="1"/>
            <p:nvPr/>
          </p:nvSpPr>
          <p:spPr>
            <a:xfrm>
              <a:off x="476250" y="1019651"/>
              <a:ext cx="6236494"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同一个人、同一个领域，也可能作出不同决定</a:t>
              </a:r>
            </a:p>
          </p:txBody>
        </p:sp>
      </p:grpSp>
      <p:grpSp>
        <p:nvGrpSpPr>
          <p:cNvPr id="40" name="Group 40"/>
          <p:cNvGrpSpPr/>
          <p:nvPr/>
        </p:nvGrpSpPr>
        <p:grpSpPr>
          <a:xfrm>
            <a:off x="590550" y="1584008"/>
            <a:ext cx="7943850" cy="2378392"/>
            <a:chOff x="590550" y="1584008"/>
            <a:chExt cx="7943850" cy="2378392"/>
          </a:xfrm>
        </p:grpSpPr>
        <p:sp>
          <p:nvSpPr>
            <p:cNvPr id="9" name="TextBox 9"/>
            <p:cNvSpPr txBox="1"/>
            <p:nvPr/>
          </p:nvSpPr>
          <p:spPr>
            <a:xfrm>
              <a:off x="590550" y="1584008"/>
              <a:ext cx="1158812"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领域差异</a:t>
              </a:r>
            </a:p>
          </p:txBody>
        </p:sp>
        <p:sp>
          <p:nvSpPr>
            <p:cNvPr id="10" name="TextBox 10"/>
            <p:cNvSpPr txBox="1"/>
            <p:nvPr/>
          </p:nvSpPr>
          <p:spPr>
            <a:xfrm>
              <a:off x="590550" y="2064068"/>
              <a:ext cx="546926"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娱乐</a:t>
              </a:r>
            </a:p>
          </p:txBody>
        </p:sp>
        <p:sp>
          <p:nvSpPr>
            <p:cNvPr id="11" name="Rectangle 11"/>
            <p:cNvSpPr/>
            <p:nvPr/>
          </p:nvSpPr>
          <p:spPr>
            <a:xfrm>
              <a:off x="1514475" y="2009775"/>
              <a:ext cx="1905000" cy="228600"/>
            </a:xfrm>
            <a:prstGeom prst="rect">
              <a:avLst/>
            </a:prstGeom>
            <a:solidFill>
              <a:srgbClr val="F0F5F6"/>
            </a:solidFill>
            <a:ln>
              <a:noFill/>
            </a:ln>
          </p:spPr>
        </p:sp>
        <p:sp>
          <p:nvSpPr>
            <p:cNvPr id="12" name="Rectangle 12"/>
            <p:cNvSpPr/>
            <p:nvPr/>
          </p:nvSpPr>
          <p:spPr>
            <a:xfrm>
              <a:off x="1514475" y="2009775"/>
              <a:ext cx="1765300" cy="228600"/>
            </a:xfrm>
            <a:prstGeom prst="rect">
              <a:avLst/>
            </a:prstGeom>
            <a:solidFill>
              <a:srgbClr val="005A84"/>
            </a:solidFill>
            <a:ln>
              <a:noFill/>
            </a:ln>
          </p:spPr>
        </p:sp>
        <p:sp>
          <p:nvSpPr>
            <p:cNvPr id="13" name="TextBox 13"/>
            <p:cNvSpPr txBox="1"/>
            <p:nvPr/>
          </p:nvSpPr>
          <p:spPr>
            <a:xfrm>
              <a:off x="3562350" y="2054542"/>
              <a:ext cx="760952" cy="257175"/>
            </a:xfrm>
            <a:prstGeom prst="rect">
              <a:avLst/>
            </a:prstGeom>
            <a:noFill/>
            <a:ln>
              <a:noFill/>
            </a:ln>
          </p:spPr>
          <p:txBody>
            <a:bodyPr wrap="none" lIns="0" tIns="0" rIns="0" bIns="0" anchor="t" anchorCtr="0">
              <a:noAutofit/>
            </a:bodyPr>
            <a:lstStyle/>
            <a:p>
              <a:pPr algn="l"/>
              <a:r>
                <a:rPr lang="en-US" sz="1350" b="1" dirty="0">
                  <a:solidFill>
                    <a:srgbClr val="005A84"/>
                  </a:solidFill>
                  <a:latin typeface="Arial"/>
                  <a:ea typeface="Arial"/>
                  <a:cs typeface="Arial"/>
                </a:rPr>
                <a:t>55.6%</a:t>
              </a:r>
            </a:p>
          </p:txBody>
        </p:sp>
        <p:sp>
          <p:nvSpPr>
            <p:cNvPr id="14" name="TextBox 14"/>
            <p:cNvSpPr txBox="1"/>
            <p:nvPr/>
          </p:nvSpPr>
          <p:spPr>
            <a:xfrm>
              <a:off x="590550" y="2521268"/>
              <a:ext cx="948119"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健康健身</a:t>
              </a:r>
            </a:p>
          </p:txBody>
        </p:sp>
        <p:sp>
          <p:nvSpPr>
            <p:cNvPr id="15" name="Rectangle 15"/>
            <p:cNvSpPr/>
            <p:nvPr/>
          </p:nvSpPr>
          <p:spPr>
            <a:xfrm>
              <a:off x="1514475" y="2466975"/>
              <a:ext cx="1905000" cy="228600"/>
            </a:xfrm>
            <a:prstGeom prst="rect">
              <a:avLst/>
            </a:prstGeom>
            <a:solidFill>
              <a:srgbClr val="F0F5F6"/>
            </a:solidFill>
            <a:ln>
              <a:noFill/>
            </a:ln>
          </p:spPr>
        </p:sp>
        <p:sp>
          <p:nvSpPr>
            <p:cNvPr id="16" name="Rectangle 16"/>
            <p:cNvSpPr/>
            <p:nvPr/>
          </p:nvSpPr>
          <p:spPr>
            <a:xfrm>
              <a:off x="1514475" y="2466975"/>
              <a:ext cx="1552575" cy="228600"/>
            </a:xfrm>
            <a:prstGeom prst="rect">
              <a:avLst/>
            </a:prstGeom>
            <a:solidFill>
              <a:srgbClr val="005A84"/>
            </a:solidFill>
            <a:ln>
              <a:noFill/>
            </a:ln>
          </p:spPr>
        </p:sp>
        <p:sp>
          <p:nvSpPr>
            <p:cNvPr id="17" name="TextBox 17"/>
            <p:cNvSpPr txBox="1"/>
            <p:nvPr/>
          </p:nvSpPr>
          <p:spPr>
            <a:xfrm>
              <a:off x="3562350" y="2511742"/>
              <a:ext cx="760952" cy="257175"/>
            </a:xfrm>
            <a:prstGeom prst="rect">
              <a:avLst/>
            </a:prstGeom>
            <a:noFill/>
            <a:ln>
              <a:noFill/>
            </a:ln>
          </p:spPr>
          <p:txBody>
            <a:bodyPr wrap="none" lIns="0" tIns="0" rIns="0" bIns="0" anchor="t" anchorCtr="0">
              <a:noAutofit/>
            </a:bodyPr>
            <a:lstStyle/>
            <a:p>
              <a:pPr algn="l"/>
              <a:r>
                <a:rPr lang="en-US" sz="1350" b="1" dirty="0">
                  <a:solidFill>
                    <a:srgbClr val="005A84"/>
                  </a:solidFill>
                  <a:latin typeface="Arial"/>
                  <a:ea typeface="Arial"/>
                  <a:cs typeface="Arial"/>
                </a:rPr>
                <a:t>48.9%</a:t>
              </a:r>
            </a:p>
          </p:txBody>
        </p:sp>
        <p:sp>
          <p:nvSpPr>
            <p:cNvPr id="18" name="TextBox 18"/>
            <p:cNvSpPr txBox="1"/>
            <p:nvPr/>
          </p:nvSpPr>
          <p:spPr>
            <a:xfrm>
              <a:off x="590550" y="2978468"/>
              <a:ext cx="546926"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旅行</a:t>
              </a:r>
            </a:p>
          </p:txBody>
        </p:sp>
        <p:sp>
          <p:nvSpPr>
            <p:cNvPr id="19" name="Rectangle 19"/>
            <p:cNvSpPr/>
            <p:nvPr/>
          </p:nvSpPr>
          <p:spPr>
            <a:xfrm>
              <a:off x="1514475" y="2924175"/>
              <a:ext cx="1905000" cy="228600"/>
            </a:xfrm>
            <a:prstGeom prst="rect">
              <a:avLst/>
            </a:prstGeom>
            <a:solidFill>
              <a:srgbClr val="F0F5F6"/>
            </a:solidFill>
            <a:ln>
              <a:noFill/>
            </a:ln>
          </p:spPr>
        </p:sp>
        <p:sp>
          <p:nvSpPr>
            <p:cNvPr id="20" name="Rectangle 20"/>
            <p:cNvSpPr/>
            <p:nvPr/>
          </p:nvSpPr>
          <p:spPr>
            <a:xfrm>
              <a:off x="1514475" y="2924175"/>
              <a:ext cx="1143000" cy="228600"/>
            </a:xfrm>
            <a:prstGeom prst="rect">
              <a:avLst/>
            </a:prstGeom>
            <a:solidFill>
              <a:srgbClr val="005A84"/>
            </a:solidFill>
            <a:ln>
              <a:noFill/>
            </a:ln>
          </p:spPr>
        </p:sp>
        <p:sp>
          <p:nvSpPr>
            <p:cNvPr id="21" name="TextBox 21"/>
            <p:cNvSpPr txBox="1"/>
            <p:nvPr/>
          </p:nvSpPr>
          <p:spPr>
            <a:xfrm>
              <a:off x="3562350" y="2968942"/>
              <a:ext cx="760952" cy="257175"/>
            </a:xfrm>
            <a:prstGeom prst="rect">
              <a:avLst/>
            </a:prstGeom>
            <a:noFill/>
            <a:ln>
              <a:noFill/>
            </a:ln>
          </p:spPr>
          <p:txBody>
            <a:bodyPr wrap="none" lIns="0" tIns="0" rIns="0" bIns="0" anchor="t" anchorCtr="0">
              <a:noAutofit/>
            </a:bodyPr>
            <a:lstStyle/>
            <a:p>
              <a:pPr algn="l"/>
              <a:r>
                <a:rPr lang="en-US" sz="1350" b="1" dirty="0">
                  <a:solidFill>
                    <a:srgbClr val="005A84"/>
                  </a:solidFill>
                  <a:latin typeface="Arial"/>
                  <a:ea typeface="Arial"/>
                  <a:cs typeface="Arial"/>
                </a:rPr>
                <a:t>36.0%</a:t>
              </a:r>
            </a:p>
          </p:txBody>
        </p:sp>
        <p:sp>
          <p:nvSpPr>
            <p:cNvPr id="22" name="TextBox 22"/>
            <p:cNvSpPr txBox="1"/>
            <p:nvPr/>
          </p:nvSpPr>
          <p:spPr>
            <a:xfrm>
              <a:off x="590550" y="3435668"/>
              <a:ext cx="546926"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金融</a:t>
              </a:r>
            </a:p>
          </p:txBody>
        </p:sp>
        <p:sp>
          <p:nvSpPr>
            <p:cNvPr id="23" name="Rectangle 23"/>
            <p:cNvSpPr/>
            <p:nvPr/>
          </p:nvSpPr>
          <p:spPr>
            <a:xfrm>
              <a:off x="1514475" y="3381375"/>
              <a:ext cx="1905000" cy="228600"/>
            </a:xfrm>
            <a:prstGeom prst="rect">
              <a:avLst/>
            </a:prstGeom>
            <a:solidFill>
              <a:srgbClr val="F0F5F6"/>
            </a:solidFill>
            <a:ln>
              <a:noFill/>
            </a:ln>
          </p:spPr>
        </p:sp>
        <p:sp>
          <p:nvSpPr>
            <p:cNvPr id="24" name="Rectangle 24"/>
            <p:cNvSpPr/>
            <p:nvPr/>
          </p:nvSpPr>
          <p:spPr>
            <a:xfrm>
              <a:off x="1514475" y="3381375"/>
              <a:ext cx="704850" cy="228600"/>
            </a:xfrm>
            <a:prstGeom prst="rect">
              <a:avLst/>
            </a:prstGeom>
            <a:solidFill>
              <a:srgbClr val="005A84"/>
            </a:solidFill>
            <a:ln>
              <a:noFill/>
            </a:ln>
          </p:spPr>
        </p:sp>
        <p:sp>
          <p:nvSpPr>
            <p:cNvPr id="25" name="TextBox 25"/>
            <p:cNvSpPr txBox="1"/>
            <p:nvPr/>
          </p:nvSpPr>
          <p:spPr>
            <a:xfrm>
              <a:off x="3562350" y="3426142"/>
              <a:ext cx="760952" cy="257175"/>
            </a:xfrm>
            <a:prstGeom prst="rect">
              <a:avLst/>
            </a:prstGeom>
            <a:noFill/>
            <a:ln>
              <a:noFill/>
            </a:ln>
          </p:spPr>
          <p:txBody>
            <a:bodyPr wrap="none" lIns="0" tIns="0" rIns="0" bIns="0" anchor="t" anchorCtr="0">
              <a:noAutofit/>
            </a:bodyPr>
            <a:lstStyle/>
            <a:p>
              <a:pPr algn="l"/>
              <a:r>
                <a:rPr lang="en-US" sz="1350" b="1" dirty="0">
                  <a:solidFill>
                    <a:srgbClr val="005A84"/>
                  </a:solidFill>
                  <a:latin typeface="Arial"/>
                  <a:ea typeface="Arial"/>
                  <a:cs typeface="Arial"/>
                </a:rPr>
                <a:t>22.2%</a:t>
              </a:r>
            </a:p>
          </p:txBody>
        </p:sp>
        <p:sp>
          <p:nvSpPr>
            <p:cNvPr id="26" name="Line 26"/>
            <p:cNvSpPr/>
            <p:nvPr/>
          </p:nvSpPr>
          <p:spPr>
            <a:xfrm>
              <a:off x="4438650" y="1647825"/>
              <a:ext cx="9525" cy="2314575"/>
            </a:xfrm>
            <a:custGeom>
              <a:avLst/>
              <a:gdLst/>
              <a:ahLst/>
              <a:cxnLst/>
              <a:rect l="l" t="t" r="r" b="b"/>
              <a:pathLst>
                <a:path w="9525" h="2314575">
                  <a:moveTo>
                    <a:pt x="0" y="0"/>
                  </a:moveTo>
                  <a:lnTo>
                    <a:pt x="0" y="2314575"/>
                  </a:lnTo>
                </a:path>
              </a:pathLst>
            </a:custGeom>
            <a:noFill/>
            <a:ln w="13335">
              <a:solidFill>
                <a:srgbClr val="CFDBDF"/>
              </a:solidFill>
            </a:ln>
          </p:spPr>
        </p:sp>
        <p:sp>
          <p:nvSpPr>
            <p:cNvPr id="27" name="TextBox 27"/>
            <p:cNvSpPr txBox="1"/>
            <p:nvPr/>
          </p:nvSpPr>
          <p:spPr>
            <a:xfrm>
              <a:off x="4762500" y="1584008"/>
              <a:ext cx="3120199"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同一旅行领域，工具不同</a:t>
              </a:r>
            </a:p>
          </p:txBody>
        </p:sp>
        <p:sp>
          <p:nvSpPr>
            <p:cNvPr id="28" name="Rectangle 28"/>
            <p:cNvSpPr/>
            <p:nvPr/>
          </p:nvSpPr>
          <p:spPr>
            <a:xfrm>
              <a:off x="4705350" y="1971675"/>
              <a:ext cx="3829050" cy="342900"/>
            </a:xfrm>
            <a:prstGeom prst="rect">
              <a:avLst/>
            </a:prstGeom>
            <a:solidFill>
              <a:srgbClr val="005A84"/>
            </a:solidFill>
            <a:ln>
              <a:noFill/>
            </a:ln>
          </p:spPr>
        </p:sp>
        <p:sp>
          <p:nvSpPr>
            <p:cNvPr id="29" name="TextBox 29"/>
            <p:cNvSpPr txBox="1"/>
            <p:nvPr/>
          </p:nvSpPr>
          <p:spPr>
            <a:xfrm>
              <a:off x="4819650" y="2055971"/>
              <a:ext cx="577310" cy="271462"/>
            </a:xfrm>
            <a:prstGeom prst="rect">
              <a:avLst/>
            </a:prstGeom>
            <a:noFill/>
            <a:ln>
              <a:noFill/>
            </a:ln>
          </p:spPr>
          <p:txBody>
            <a:bodyPr wrap="none" lIns="0" tIns="0" rIns="0" bIns="0" anchor="t" anchorCtr="0">
              <a:noAutofit/>
            </a:bodyPr>
            <a:lstStyle/>
            <a:p>
              <a:pPr algn="l"/>
              <a:r>
                <a:rPr lang="zh-CN" sz="1420" b="1" dirty="0">
                  <a:solidFill>
                    <a:srgbClr val="FFFFFF"/>
                  </a:solidFill>
                  <a:latin typeface="Arial"/>
                  <a:ea typeface="Microsoft YaHei"/>
                  <a:cs typeface="Arial"/>
                </a:rPr>
                <a:t>工具</a:t>
              </a:r>
            </a:p>
          </p:txBody>
        </p:sp>
        <p:sp>
          <p:nvSpPr>
            <p:cNvPr id="30" name="TextBox 30"/>
            <p:cNvSpPr txBox="1"/>
            <p:nvPr/>
          </p:nvSpPr>
          <p:spPr>
            <a:xfrm>
              <a:off x="7058025" y="2055971"/>
              <a:ext cx="1000792" cy="271462"/>
            </a:xfrm>
            <a:prstGeom prst="rect">
              <a:avLst/>
            </a:prstGeom>
            <a:noFill/>
            <a:ln>
              <a:noFill/>
            </a:ln>
          </p:spPr>
          <p:txBody>
            <a:bodyPr wrap="none" lIns="0" tIns="0" rIns="0" bIns="0" anchor="t" anchorCtr="0">
              <a:noAutofit/>
            </a:bodyPr>
            <a:lstStyle/>
            <a:p>
              <a:pPr algn="l"/>
              <a:r>
                <a:rPr lang="zh-CN" sz="1420" b="1" dirty="0">
                  <a:solidFill>
                    <a:srgbClr val="FFFFFF"/>
                  </a:solidFill>
                  <a:latin typeface="Arial"/>
                  <a:ea typeface="Microsoft YaHei"/>
                  <a:cs typeface="Arial"/>
                </a:rPr>
                <a:t>始终分享</a:t>
              </a:r>
            </a:p>
          </p:txBody>
        </p:sp>
        <p:sp>
          <p:nvSpPr>
            <p:cNvPr id="31" name="Rectangle 31"/>
            <p:cNvSpPr/>
            <p:nvPr/>
          </p:nvSpPr>
          <p:spPr>
            <a:xfrm>
              <a:off x="4705350" y="2314575"/>
              <a:ext cx="3829050" cy="428625"/>
            </a:xfrm>
            <a:prstGeom prst="rect">
              <a:avLst/>
            </a:prstGeom>
            <a:solidFill>
              <a:srgbClr val="F0F5F6"/>
            </a:solidFill>
            <a:ln>
              <a:noFill/>
            </a:ln>
          </p:spPr>
        </p:sp>
        <p:sp>
          <p:nvSpPr>
            <p:cNvPr id="32" name="TextBox 32"/>
            <p:cNvSpPr txBox="1"/>
            <p:nvPr/>
          </p:nvSpPr>
          <p:spPr>
            <a:xfrm>
              <a:off x="4819650" y="2439352"/>
              <a:ext cx="577310" cy="271462"/>
            </a:xfrm>
            <a:prstGeom prst="rect">
              <a:avLst/>
            </a:prstGeom>
            <a:noFill/>
            <a:ln>
              <a:noFill/>
            </a:ln>
          </p:spPr>
          <p:txBody>
            <a:bodyPr wrap="none" lIns="0" tIns="0" rIns="0" bIns="0" anchor="t" anchorCtr="0">
              <a:noAutofit/>
            </a:bodyPr>
            <a:lstStyle/>
            <a:p>
              <a:pPr algn="l"/>
              <a:r>
                <a:rPr lang="zh-CN" sz="1420" b="1" dirty="0">
                  <a:solidFill>
                    <a:srgbClr val="005A84"/>
                  </a:solidFill>
                  <a:latin typeface="Arial"/>
                  <a:ea typeface="Microsoft YaHei"/>
                  <a:cs typeface="Arial"/>
                </a:rPr>
                <a:t>天气</a:t>
              </a:r>
            </a:p>
          </p:txBody>
        </p:sp>
        <p:sp>
          <p:nvSpPr>
            <p:cNvPr id="33" name="TextBox 33"/>
            <p:cNvSpPr txBox="1"/>
            <p:nvPr/>
          </p:nvSpPr>
          <p:spPr>
            <a:xfrm>
              <a:off x="7058025" y="2439352"/>
              <a:ext cx="765715" cy="271462"/>
            </a:xfrm>
            <a:prstGeom prst="rect">
              <a:avLst/>
            </a:prstGeom>
            <a:noFill/>
            <a:ln>
              <a:noFill/>
            </a:ln>
          </p:spPr>
          <p:txBody>
            <a:bodyPr wrap="none" lIns="0" tIns="0" rIns="0" bIns="0" anchor="t" anchorCtr="0">
              <a:noAutofit/>
            </a:bodyPr>
            <a:lstStyle/>
            <a:p>
              <a:pPr algn="l"/>
              <a:r>
                <a:rPr lang="en-US" sz="1420" dirty="0">
                  <a:solidFill>
                    <a:srgbClr val="202B33"/>
                  </a:solidFill>
                  <a:latin typeface="Arial"/>
                  <a:ea typeface="Arial"/>
                  <a:cs typeface="Arial"/>
                </a:rPr>
                <a:t>50.8%</a:t>
              </a:r>
            </a:p>
          </p:txBody>
        </p:sp>
        <p:sp>
          <p:nvSpPr>
            <p:cNvPr id="34" name="TextBox 34"/>
            <p:cNvSpPr txBox="1"/>
            <p:nvPr/>
          </p:nvSpPr>
          <p:spPr>
            <a:xfrm>
              <a:off x="4819650" y="2867978"/>
              <a:ext cx="1000792" cy="271462"/>
            </a:xfrm>
            <a:prstGeom prst="rect">
              <a:avLst/>
            </a:prstGeom>
            <a:noFill/>
            <a:ln>
              <a:noFill/>
            </a:ln>
          </p:spPr>
          <p:txBody>
            <a:bodyPr wrap="none" lIns="0" tIns="0" rIns="0" bIns="0" anchor="t" anchorCtr="0">
              <a:noAutofit/>
            </a:bodyPr>
            <a:lstStyle/>
            <a:p>
              <a:pPr algn="l"/>
              <a:r>
                <a:rPr lang="zh-CN" sz="1420" b="1" dirty="0">
                  <a:solidFill>
                    <a:srgbClr val="005A84"/>
                  </a:solidFill>
                  <a:latin typeface="Arial"/>
                  <a:ea typeface="Microsoft YaHei"/>
                  <a:cs typeface="Arial"/>
                </a:rPr>
                <a:t>旅行预订</a:t>
              </a:r>
            </a:p>
          </p:txBody>
        </p:sp>
        <p:sp>
          <p:nvSpPr>
            <p:cNvPr id="35" name="TextBox 35"/>
            <p:cNvSpPr txBox="1"/>
            <p:nvPr/>
          </p:nvSpPr>
          <p:spPr>
            <a:xfrm>
              <a:off x="7058025" y="2867978"/>
              <a:ext cx="765715" cy="271462"/>
            </a:xfrm>
            <a:prstGeom prst="rect">
              <a:avLst/>
            </a:prstGeom>
            <a:noFill/>
            <a:ln>
              <a:noFill/>
            </a:ln>
          </p:spPr>
          <p:txBody>
            <a:bodyPr wrap="none" lIns="0" tIns="0" rIns="0" bIns="0" anchor="t" anchorCtr="0">
              <a:noAutofit/>
            </a:bodyPr>
            <a:lstStyle/>
            <a:p>
              <a:pPr algn="l"/>
              <a:r>
                <a:rPr lang="en-US" sz="1420" dirty="0">
                  <a:solidFill>
                    <a:srgbClr val="202B33"/>
                  </a:solidFill>
                  <a:latin typeface="Arial"/>
                  <a:ea typeface="Arial"/>
                  <a:cs typeface="Arial"/>
                </a:rPr>
                <a:t>32.6%</a:t>
              </a:r>
            </a:p>
          </p:txBody>
        </p:sp>
        <p:sp>
          <p:nvSpPr>
            <p:cNvPr id="36" name="Rectangle 36"/>
            <p:cNvSpPr/>
            <p:nvPr/>
          </p:nvSpPr>
          <p:spPr>
            <a:xfrm>
              <a:off x="4705350" y="3171825"/>
              <a:ext cx="3829050" cy="428625"/>
            </a:xfrm>
            <a:prstGeom prst="rect">
              <a:avLst/>
            </a:prstGeom>
            <a:solidFill>
              <a:srgbClr val="F0F5F6"/>
            </a:solidFill>
            <a:ln>
              <a:noFill/>
            </a:ln>
          </p:spPr>
        </p:sp>
        <p:sp>
          <p:nvSpPr>
            <p:cNvPr id="37" name="TextBox 37"/>
            <p:cNvSpPr txBox="1"/>
            <p:nvPr/>
          </p:nvSpPr>
          <p:spPr>
            <a:xfrm>
              <a:off x="4819650" y="3296602"/>
              <a:ext cx="577310" cy="271462"/>
            </a:xfrm>
            <a:prstGeom prst="rect">
              <a:avLst/>
            </a:prstGeom>
            <a:noFill/>
            <a:ln>
              <a:noFill/>
            </a:ln>
          </p:spPr>
          <p:txBody>
            <a:bodyPr wrap="none" lIns="0" tIns="0" rIns="0" bIns="0" anchor="t" anchorCtr="0">
              <a:noAutofit/>
            </a:bodyPr>
            <a:lstStyle/>
            <a:p>
              <a:pPr algn="l"/>
              <a:r>
                <a:rPr lang="zh-CN" sz="1420" b="1" dirty="0">
                  <a:solidFill>
                    <a:srgbClr val="005A84"/>
                  </a:solidFill>
                  <a:latin typeface="Arial"/>
                  <a:ea typeface="Microsoft YaHei"/>
                  <a:cs typeface="Arial"/>
                </a:rPr>
                <a:t>云盘</a:t>
              </a:r>
            </a:p>
          </p:txBody>
        </p:sp>
        <p:sp>
          <p:nvSpPr>
            <p:cNvPr id="38" name="TextBox 38"/>
            <p:cNvSpPr txBox="1"/>
            <p:nvPr/>
          </p:nvSpPr>
          <p:spPr>
            <a:xfrm>
              <a:off x="7058025" y="3296602"/>
              <a:ext cx="765715" cy="271462"/>
            </a:xfrm>
            <a:prstGeom prst="rect">
              <a:avLst/>
            </a:prstGeom>
            <a:noFill/>
            <a:ln>
              <a:noFill/>
            </a:ln>
          </p:spPr>
          <p:txBody>
            <a:bodyPr wrap="none" lIns="0" tIns="0" rIns="0" bIns="0" anchor="t" anchorCtr="0">
              <a:noAutofit/>
            </a:bodyPr>
            <a:lstStyle/>
            <a:p>
              <a:pPr algn="l"/>
              <a:r>
                <a:rPr lang="en-US" sz="1420" dirty="0">
                  <a:solidFill>
                    <a:srgbClr val="202B33"/>
                  </a:solidFill>
                  <a:latin typeface="Arial"/>
                  <a:ea typeface="Arial"/>
                  <a:cs typeface="Arial"/>
                </a:rPr>
                <a:t>17.8%</a:t>
              </a:r>
            </a:p>
          </p:txBody>
        </p:sp>
        <p:sp>
          <p:nvSpPr>
            <p:cNvPr id="39" name="TextBox 39"/>
            <p:cNvSpPr txBox="1"/>
            <p:nvPr/>
          </p:nvSpPr>
          <p:spPr>
            <a:xfrm>
              <a:off x="4838700" y="3662839"/>
              <a:ext cx="2789968" cy="242888"/>
            </a:xfrm>
            <a:prstGeom prst="rect">
              <a:avLst/>
            </a:prstGeom>
            <a:noFill/>
            <a:ln>
              <a:noFill/>
            </a:ln>
          </p:spPr>
          <p:txBody>
            <a:bodyPr wrap="none" lIns="0" tIns="0" rIns="0" bIns="0" anchor="t" anchorCtr="0">
              <a:noAutofit/>
            </a:bodyPr>
            <a:lstStyle/>
            <a:p>
              <a:pPr algn="l"/>
              <a:r>
                <a:rPr lang="zh-CN" sz="1280" dirty="0">
                  <a:solidFill>
                    <a:srgbClr val="5C6B73"/>
                  </a:solidFill>
                  <a:latin typeface="Arial"/>
                  <a:ea typeface="Microsoft YaHei"/>
                  <a:cs typeface="Arial"/>
                </a:rPr>
                <a:t>云盘场景涉及护照扫描等材料。</a:t>
              </a:r>
            </a:p>
          </p:txBody>
        </p:sp>
      </p:grpSp>
      <p:grpSp>
        <p:nvGrpSpPr>
          <p:cNvPr id="44" name="Group 44"/>
          <p:cNvGrpSpPr/>
          <p:nvPr/>
        </p:nvGrpSpPr>
        <p:grpSpPr>
          <a:xfrm>
            <a:off x="476250" y="4162426"/>
            <a:ext cx="8191500" cy="571500"/>
            <a:chOff x="476250" y="4229100"/>
            <a:chExt cx="8191500" cy="504825"/>
          </a:xfrm>
        </p:grpSpPr>
        <p:sp>
          <p:nvSpPr>
            <p:cNvPr id="41" name="Rectangle 41"/>
            <p:cNvSpPr/>
            <p:nvPr/>
          </p:nvSpPr>
          <p:spPr>
            <a:xfrm>
              <a:off x="476250" y="4229100"/>
              <a:ext cx="8191500" cy="504825"/>
            </a:xfrm>
            <a:prstGeom prst="rect">
              <a:avLst/>
            </a:prstGeom>
            <a:solidFill>
              <a:srgbClr val="F0F5F6"/>
            </a:solidFill>
            <a:ln>
              <a:noFill/>
            </a:ln>
          </p:spPr>
        </p:sp>
        <p:sp>
          <p:nvSpPr>
            <p:cNvPr id="42" name="Rectangle 42"/>
            <p:cNvSpPr/>
            <p:nvPr/>
          </p:nvSpPr>
          <p:spPr>
            <a:xfrm>
              <a:off x="476250" y="4229100"/>
              <a:ext cx="38100" cy="504825"/>
            </a:xfrm>
            <a:prstGeom prst="rect">
              <a:avLst/>
            </a:prstGeom>
            <a:solidFill>
              <a:srgbClr val="16735C"/>
            </a:solidFill>
            <a:ln>
              <a:noFill/>
            </a:ln>
          </p:spPr>
        </p:sp>
        <p:sp>
          <p:nvSpPr>
            <p:cNvPr id="43" name="TextBox 43"/>
            <p:cNvSpPr txBox="1"/>
            <p:nvPr/>
          </p:nvSpPr>
          <p:spPr>
            <a:xfrm>
              <a:off x="609600" y="4408646"/>
              <a:ext cx="6233732"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预测</a:t>
              </a:r>
              <a:r>
                <a:rPr lang="zh-CN" altLang="en-US" sz="1420" b="1" dirty="0">
                  <a:solidFill>
                    <a:srgbClr val="16735C"/>
                  </a:solidFill>
                  <a:latin typeface="Arial"/>
                  <a:ea typeface="Microsoft YaHei"/>
                  <a:cs typeface="Arial"/>
                </a:rPr>
                <a:t>用户</a:t>
              </a:r>
              <a:r>
                <a:rPr lang="zh-CN" altLang="en-US" sz="1420" b="1" dirty="0">
                  <a:solidFill>
                    <a:srgbClr val="16735C"/>
                  </a:solidFill>
                  <a:ea typeface="Microsoft YaHei"/>
                </a:rPr>
                <a:t>决策</a:t>
              </a:r>
              <a:r>
                <a:rPr lang="zh-CN" sz="1420" b="1" dirty="0">
                  <a:solidFill>
                    <a:srgbClr val="16735C"/>
                  </a:solidFill>
                  <a:latin typeface="Arial"/>
                  <a:ea typeface="Microsoft YaHei"/>
                  <a:cs typeface="Arial"/>
                </a:rPr>
                <a:t>需要</a:t>
              </a:r>
              <a:r>
                <a:rPr lang="zh-CN" altLang="en-US" sz="1420" b="1" dirty="0">
                  <a:solidFill>
                    <a:srgbClr val="16735C"/>
                  </a:solidFill>
                  <a:ea typeface="Microsoft YaHei"/>
                </a:rPr>
                <a:t>考虑</a:t>
              </a:r>
              <a:r>
                <a:rPr lang="zh-CN" sz="1420" b="1" dirty="0">
                  <a:solidFill>
                    <a:srgbClr val="16735C"/>
                  </a:solidFill>
                  <a:latin typeface="Arial"/>
                  <a:ea typeface="Microsoft YaHei"/>
                  <a:cs typeface="Arial"/>
                </a:rPr>
                <a:t>“</a:t>
              </a:r>
              <a:r>
                <a:rPr lang="zh-CN" altLang="en-US" sz="1420" b="1" dirty="0">
                  <a:solidFill>
                    <a:srgbClr val="16735C"/>
                  </a:solidFill>
                  <a:latin typeface="Arial"/>
                  <a:ea typeface="Microsoft YaHei"/>
                  <a:cs typeface="Arial"/>
                </a:rPr>
                <a:t>领域</a:t>
              </a:r>
              <a:r>
                <a:rPr lang="zh-CN" sz="1420" b="1" dirty="0">
                  <a:solidFill>
                    <a:srgbClr val="16735C"/>
                  </a:solidFill>
                  <a:latin typeface="Arial"/>
                  <a:ea typeface="Microsoft YaHei"/>
                  <a:cs typeface="Arial"/>
                </a:rPr>
                <a:t> + 工具 + 数据类型”</a:t>
              </a:r>
              <a:r>
                <a:rPr lang="zh-CN" altLang="en-US" sz="1420" b="1" dirty="0">
                  <a:solidFill>
                    <a:srgbClr val="16735C"/>
                  </a:solidFill>
                  <a:latin typeface="Arial"/>
                  <a:ea typeface="Microsoft YaHei"/>
                  <a:cs typeface="Arial"/>
                </a:rPr>
                <a:t>，在细情境粒度下决策</a:t>
              </a:r>
              <a:endParaRPr lang="zh-CN" sz="1420" b="1" dirty="0">
                <a:solidFill>
                  <a:srgbClr val="16735C"/>
                </a:solidFill>
                <a:latin typeface="Arial"/>
                <a:ea typeface="Microsoft YaHei"/>
                <a:cs typeface="Arial"/>
              </a:endParaRPr>
            </a:p>
          </p:txBody>
        </p:sp>
      </p:grpSp>
      <p:sp>
        <p:nvSpPr>
          <p:cNvPr id="46" name="TextBox 39">
            <a:extLst>
              <a:ext uri="{FF2B5EF4-FFF2-40B4-BE49-F238E27FC236}">
                <a16:creationId xmlns:a16="http://schemas.microsoft.com/office/drawing/2014/main" id="{C584B009-2B5D-B998-BF55-DA9B4701AC01}"/>
              </a:ext>
            </a:extLst>
          </p:cNvPr>
          <p:cNvSpPr txBox="1"/>
          <p:nvPr/>
        </p:nvSpPr>
        <p:spPr>
          <a:xfrm>
            <a:off x="1949971" y="1655445"/>
            <a:ext cx="1108186" cy="242888"/>
          </a:xfrm>
          <a:prstGeom prst="rect">
            <a:avLst/>
          </a:prstGeom>
          <a:noFill/>
          <a:ln>
            <a:noFill/>
          </a:ln>
        </p:spPr>
        <p:txBody>
          <a:bodyPr wrap="none" lIns="0" tIns="0" rIns="0" bIns="0" anchor="t" anchorCtr="0">
            <a:noAutofit/>
          </a:bodyPr>
          <a:lstStyle/>
          <a:p>
            <a:pPr algn="l"/>
            <a:r>
              <a:rPr lang="zh-CN" altLang="en-US" sz="1000" dirty="0">
                <a:solidFill>
                  <a:srgbClr val="5C6B73"/>
                </a:solidFill>
                <a:latin typeface="Arial"/>
                <a:ea typeface="Microsoft YaHei"/>
                <a:cs typeface="Arial"/>
              </a:rPr>
              <a:t>“始终分享”比例</a:t>
            </a:r>
            <a:endParaRPr lang="zh-CN" sz="1000" dirty="0">
              <a:solidFill>
                <a:srgbClr val="5C6B73"/>
              </a:solidFill>
              <a:latin typeface="Arial"/>
              <a:ea typeface="Microsoft YaHei"/>
              <a:cs typeface="Arial"/>
            </a:endParaRPr>
          </a:p>
        </p:txBody>
      </p:sp>
    </p:spTree>
    <p:extLst>
      <p:ext uri="{BB962C8B-B14F-4D97-AF65-F5344CB8AC3E}">
        <p14:creationId xmlns:p14="http://schemas.microsoft.com/office/powerpoint/2010/main" val="1665432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27C9C870-121C-B327-FCDA-387F97EAE4F6}"/>
            </a:ext>
          </a:extLst>
        </p:cNvPr>
        <p:cNvGrpSpPr/>
        <p:nvPr/>
      </p:nvGrpSpPr>
      <p:grpSpPr>
        <a:xfrm>
          <a:off x="0" y="0"/>
          <a:ext cx="0" cy="0"/>
          <a:chOff x="0" y="0"/>
          <a:chExt cx="0" cy="0"/>
        </a:xfrm>
      </p:grpSpPr>
      <p:grpSp>
        <p:nvGrpSpPr>
          <p:cNvPr id="5" name="Group 5"/>
          <p:cNvGrpSpPr/>
          <p:nvPr/>
        </p:nvGrpSpPr>
        <p:grpSpPr>
          <a:xfrm>
            <a:off x="476250" y="392430"/>
            <a:ext cx="5032915" cy="1012984"/>
            <a:chOff x="476250" y="392430"/>
            <a:chExt cx="5032915"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02</a:t>
              </a:r>
            </a:p>
          </p:txBody>
        </p:sp>
        <p:sp>
          <p:nvSpPr>
            <p:cNvPr id="3" name="TextBox 3"/>
            <p:cNvSpPr txBox="1"/>
            <p:nvPr/>
          </p:nvSpPr>
          <p:spPr>
            <a:xfrm>
              <a:off x="1219200" y="392430"/>
              <a:ext cx="3971163"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发现三：</a:t>
              </a:r>
              <a:r>
                <a:rPr lang="zh-CN" altLang="en-US" sz="2100" b="1" dirty="0">
                  <a:solidFill>
                    <a:srgbClr val="202B33"/>
                  </a:solidFill>
                  <a:latin typeface="Arial"/>
                  <a:ea typeface="Microsoft YaHei"/>
                  <a:cs typeface="Arial"/>
                </a:rPr>
                <a:t>用户</a:t>
              </a:r>
              <a:r>
                <a:rPr lang="zh-CN" sz="2100" b="1" dirty="0">
                  <a:solidFill>
                    <a:srgbClr val="202B33"/>
                  </a:solidFill>
                  <a:latin typeface="Arial"/>
                  <a:ea typeface="Microsoft YaHei"/>
                  <a:cs typeface="Arial"/>
                </a:rPr>
                <a:t>偏好存在</a:t>
              </a:r>
              <a:r>
                <a:rPr lang="zh-CN" altLang="en-US" sz="2100" b="1" dirty="0">
                  <a:solidFill>
                    <a:srgbClr val="202B33"/>
                  </a:solidFill>
                  <a:latin typeface="Arial"/>
                  <a:ea typeface="Microsoft YaHei"/>
                  <a:cs typeface="Arial"/>
                </a:rPr>
                <a:t>可学习</a:t>
              </a:r>
              <a:r>
                <a:rPr lang="zh-CN" sz="2100" b="1" dirty="0">
                  <a:solidFill>
                    <a:srgbClr val="202B33"/>
                  </a:solidFill>
                  <a:latin typeface="Arial"/>
                  <a:ea typeface="Microsoft YaHei"/>
                  <a:cs typeface="Arial"/>
                </a:rPr>
                <a:t>规律</a:t>
              </a:r>
            </a:p>
          </p:txBody>
        </p:sp>
        <p:sp>
          <p:nvSpPr>
            <p:cNvPr id="4" name="TextBox 4"/>
            <p:cNvSpPr txBox="1"/>
            <p:nvPr/>
          </p:nvSpPr>
          <p:spPr>
            <a:xfrm>
              <a:off x="476250" y="1019651"/>
              <a:ext cx="5032915"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个人</a:t>
              </a:r>
              <a:r>
                <a:rPr lang="zh-CN" altLang="en-US" sz="2020" b="1" dirty="0">
                  <a:solidFill>
                    <a:srgbClr val="005A84"/>
                  </a:solidFill>
                  <a:latin typeface="Arial"/>
                  <a:ea typeface="Microsoft YaHei"/>
                  <a:cs typeface="Arial"/>
                </a:rPr>
                <a:t>决策</a:t>
              </a:r>
              <a:r>
                <a:rPr lang="zh-CN" sz="2020" b="1" dirty="0">
                  <a:solidFill>
                    <a:srgbClr val="005A84"/>
                  </a:solidFill>
                  <a:latin typeface="Arial"/>
                  <a:ea typeface="Microsoft YaHei"/>
                  <a:cs typeface="Arial"/>
                </a:rPr>
                <a:t>稳定性，相似用户</a:t>
              </a:r>
              <a:r>
                <a:rPr lang="zh-CN" altLang="en-US" sz="2020" b="1" dirty="0">
                  <a:solidFill>
                    <a:srgbClr val="005A84"/>
                  </a:solidFill>
                  <a:latin typeface="Arial"/>
                  <a:ea typeface="Microsoft YaHei"/>
                  <a:cs typeface="Arial"/>
                </a:rPr>
                <a:t>决策</a:t>
              </a:r>
              <a:r>
                <a:rPr lang="zh-CN" sz="2020" b="1" dirty="0">
                  <a:solidFill>
                    <a:srgbClr val="005A84"/>
                  </a:solidFill>
                  <a:latin typeface="Arial"/>
                  <a:ea typeface="Microsoft YaHei"/>
                  <a:cs typeface="Arial"/>
                </a:rPr>
                <a:t>共性</a:t>
              </a:r>
            </a:p>
          </p:txBody>
        </p:sp>
      </p:grpSp>
      <p:grpSp>
        <p:nvGrpSpPr>
          <p:cNvPr id="15" name="Group 15"/>
          <p:cNvGrpSpPr/>
          <p:nvPr/>
        </p:nvGrpSpPr>
        <p:grpSpPr>
          <a:xfrm>
            <a:off x="581025" y="1622108"/>
            <a:ext cx="8010525" cy="2210275"/>
            <a:chOff x="581025" y="1622108"/>
            <a:chExt cx="8010525" cy="2210275"/>
          </a:xfrm>
        </p:grpSpPr>
        <p:sp>
          <p:nvSpPr>
            <p:cNvPr id="9" name="TextBox 9"/>
            <p:cNvSpPr txBox="1"/>
            <p:nvPr/>
          </p:nvSpPr>
          <p:spPr>
            <a:xfrm>
              <a:off x="581025" y="1622108"/>
              <a:ext cx="3120200"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个人内部：特定领域较一致</a:t>
              </a:r>
            </a:p>
          </p:txBody>
        </p:sp>
        <p:sp>
          <p:nvSpPr>
            <p:cNvPr id="10" name="TextBox 10"/>
            <p:cNvSpPr txBox="1"/>
            <p:nvPr/>
          </p:nvSpPr>
          <p:spPr>
            <a:xfrm>
              <a:off x="688349" y="2420303"/>
              <a:ext cx="3451098" cy="557213"/>
            </a:xfrm>
            <a:prstGeom prst="rect">
              <a:avLst/>
            </a:prstGeom>
            <a:noFill/>
            <a:ln>
              <a:noFill/>
            </a:ln>
          </p:spPr>
          <p:txBody>
            <a:bodyPr wrap="none" lIns="0" tIns="0" rIns="0" bIns="0" anchor="t" anchorCtr="0">
              <a:noAutofit/>
            </a:bodyPr>
            <a:lstStyle/>
            <a:p>
              <a:pPr algn="l"/>
              <a:r>
                <a:rPr lang="en-US" sz="2920" b="1" dirty="0">
                  <a:solidFill>
                    <a:srgbClr val="005A84"/>
                  </a:solidFill>
                  <a:latin typeface="Arial"/>
                  <a:ea typeface="Arial"/>
                  <a:cs typeface="Arial"/>
                </a:rPr>
                <a:t>84.5%—85.6%</a:t>
              </a:r>
            </a:p>
          </p:txBody>
        </p:sp>
        <p:sp>
          <p:nvSpPr>
            <p:cNvPr id="11" name="TextBox 11"/>
            <p:cNvSpPr txBox="1"/>
            <p:nvPr/>
          </p:nvSpPr>
          <p:spPr>
            <a:xfrm>
              <a:off x="688349" y="2893696"/>
              <a:ext cx="2836545" cy="567690"/>
            </a:xfrm>
            <a:prstGeom prst="rect">
              <a:avLst/>
            </a:prstGeom>
            <a:noFill/>
            <a:ln>
              <a:noFill/>
            </a:ln>
          </p:spPr>
          <p:txBody>
            <a:bodyPr wrap="none" lIns="0" tIns="0" rIns="0" bIns="0" anchor="t" anchorCtr="0">
              <a:noAutofit/>
            </a:bodyPr>
            <a:lstStyle/>
            <a:p>
              <a:pPr algn="l">
                <a:lnSpc>
                  <a:spcPts val="2220"/>
                </a:lnSpc>
              </a:pPr>
              <a:r>
                <a:rPr lang="zh-CN" sz="1500" dirty="0">
                  <a:solidFill>
                    <a:srgbClr val="202B33"/>
                  </a:solidFill>
                  <a:latin typeface="Arial"/>
                  <a:ea typeface="Microsoft YaHei"/>
                  <a:cs typeface="Arial"/>
                </a:rPr>
                <a:t>娱乐与智能家居领域内</a:t>
              </a:r>
              <a:br>
                <a:rPr dirty="0"/>
              </a:br>
              <a:r>
                <a:rPr lang="zh-CN" altLang="en-US" dirty="0"/>
                <a:t>历史决策</a:t>
              </a:r>
              <a:r>
                <a:rPr lang="zh-CN" sz="1500" dirty="0">
                  <a:solidFill>
                    <a:srgbClr val="202B33"/>
                  </a:solidFill>
                  <a:latin typeface="Arial"/>
                  <a:ea typeface="Microsoft YaHei"/>
                  <a:cs typeface="Arial"/>
                </a:rPr>
                <a:t>偏好一致的参与者比例</a:t>
              </a:r>
            </a:p>
          </p:txBody>
        </p:sp>
        <p:sp>
          <p:nvSpPr>
            <p:cNvPr id="12" name="TextBox 12"/>
            <p:cNvSpPr txBox="1"/>
            <p:nvPr/>
          </p:nvSpPr>
          <p:spPr>
            <a:xfrm>
              <a:off x="4810125" y="1622108"/>
              <a:ext cx="2875026"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用户之间：存在相似模式</a:t>
              </a:r>
            </a:p>
          </p:txBody>
        </p:sp>
        <p:pic>
          <p:nvPicPr>
            <p:cNvPr id="13" name="Image 13"/>
            <p:cNvPicPr>
              <a:picLocks noChangeAspect="1"/>
            </p:cNvPicPr>
            <p:nvPr/>
          </p:nvPicPr>
          <p:blipFill>
            <a:blip r:embed="rId3"/>
            <a:stretch>
              <a:fillRect/>
            </a:stretch>
          </p:blipFill>
          <p:spPr>
            <a:xfrm>
              <a:off x="4733925" y="2090738"/>
              <a:ext cx="3857625" cy="1285875"/>
            </a:xfrm>
            <a:prstGeom prst="rect">
              <a:avLst/>
            </a:prstGeom>
          </p:spPr>
        </p:pic>
        <p:sp>
          <p:nvSpPr>
            <p:cNvPr id="14" name="TextBox 14"/>
            <p:cNvSpPr txBox="1"/>
            <p:nvPr/>
          </p:nvSpPr>
          <p:spPr>
            <a:xfrm>
              <a:off x="4829175" y="3560921"/>
              <a:ext cx="3531584"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69.7%的用户对，</a:t>
              </a:r>
              <a:r>
                <a:rPr lang="zh-CN" altLang="en-US" sz="1420" dirty="0">
                  <a:solidFill>
                    <a:srgbClr val="202B33"/>
                  </a:solidFill>
                  <a:latin typeface="Arial"/>
                  <a:ea typeface="Microsoft YaHei"/>
                  <a:cs typeface="Arial"/>
                </a:rPr>
                <a:t>决策</a:t>
              </a:r>
              <a:r>
                <a:rPr lang="zh-CN" sz="1420" dirty="0">
                  <a:solidFill>
                    <a:srgbClr val="202B33"/>
                  </a:solidFill>
                  <a:latin typeface="Arial"/>
                  <a:ea typeface="Microsoft YaHei"/>
                  <a:cs typeface="Arial"/>
                </a:rPr>
                <a:t>相似度</a:t>
              </a:r>
              <a:r>
                <a:rPr lang="zh-CN" altLang="en-US" sz="1420" dirty="0">
                  <a:solidFill>
                    <a:srgbClr val="202B33"/>
                  </a:solidFill>
                  <a:ea typeface="Microsoft YaHei"/>
                </a:rPr>
                <a:t>不低于</a:t>
              </a:r>
              <a:r>
                <a:rPr lang="zh-CN" sz="1420" dirty="0">
                  <a:solidFill>
                    <a:srgbClr val="202B33"/>
                  </a:solidFill>
                  <a:latin typeface="Arial"/>
                  <a:ea typeface="Microsoft YaHei"/>
                  <a:cs typeface="Arial"/>
                </a:rPr>
                <a:t>60%。</a:t>
              </a:r>
            </a:p>
          </p:txBody>
        </p:sp>
      </p:grpSp>
      <p:grpSp>
        <p:nvGrpSpPr>
          <p:cNvPr id="20" name="Group 20"/>
          <p:cNvGrpSpPr/>
          <p:nvPr/>
        </p:nvGrpSpPr>
        <p:grpSpPr>
          <a:xfrm>
            <a:off x="476250" y="3971384"/>
            <a:ext cx="8191500" cy="602108"/>
            <a:chOff x="476250" y="4229100"/>
            <a:chExt cx="8191500" cy="504825"/>
          </a:xfrm>
        </p:grpSpPr>
        <p:sp>
          <p:nvSpPr>
            <p:cNvPr id="16" name="Rectangle 16"/>
            <p:cNvSpPr/>
            <p:nvPr/>
          </p:nvSpPr>
          <p:spPr>
            <a:xfrm>
              <a:off x="476250" y="4229100"/>
              <a:ext cx="8191500" cy="504825"/>
            </a:xfrm>
            <a:prstGeom prst="rect">
              <a:avLst/>
            </a:prstGeom>
            <a:solidFill>
              <a:srgbClr val="F0F5F6"/>
            </a:solidFill>
            <a:ln>
              <a:noFill/>
            </a:ln>
          </p:spPr>
        </p:sp>
        <p:sp>
          <p:nvSpPr>
            <p:cNvPr id="17" name="Rectangle 17"/>
            <p:cNvSpPr/>
            <p:nvPr/>
          </p:nvSpPr>
          <p:spPr>
            <a:xfrm>
              <a:off x="476250" y="4229100"/>
              <a:ext cx="38100" cy="504825"/>
            </a:xfrm>
            <a:prstGeom prst="rect">
              <a:avLst/>
            </a:prstGeom>
            <a:solidFill>
              <a:srgbClr val="16735C"/>
            </a:solidFill>
            <a:ln>
              <a:noFill/>
            </a:ln>
          </p:spPr>
        </p:sp>
        <p:sp>
          <p:nvSpPr>
            <p:cNvPr id="18" name="TextBox 18"/>
            <p:cNvSpPr txBox="1"/>
            <p:nvPr/>
          </p:nvSpPr>
          <p:spPr>
            <a:xfrm>
              <a:off x="609600" y="4376179"/>
              <a:ext cx="5235607"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方法启示：既学习个人历史，也借用相似用户的</a:t>
              </a:r>
              <a:r>
                <a:rPr lang="zh-CN" altLang="en-US" sz="1420" b="1" dirty="0">
                  <a:solidFill>
                    <a:srgbClr val="16735C"/>
                  </a:solidFill>
                  <a:latin typeface="Arial"/>
                  <a:ea typeface="Microsoft YaHei"/>
                  <a:cs typeface="Arial"/>
                </a:rPr>
                <a:t>决策</a:t>
              </a:r>
              <a:r>
                <a:rPr lang="zh-CN" sz="1420" b="1" dirty="0">
                  <a:solidFill>
                    <a:srgbClr val="16735C"/>
                  </a:solidFill>
                  <a:latin typeface="Arial"/>
                  <a:ea typeface="Microsoft YaHei"/>
                  <a:cs typeface="Arial"/>
                </a:rPr>
                <a:t>。</a:t>
              </a:r>
            </a:p>
          </p:txBody>
        </p:sp>
      </p:grpSp>
    </p:spTree>
    <p:extLst>
      <p:ext uri="{BB962C8B-B14F-4D97-AF65-F5344CB8AC3E}">
        <p14:creationId xmlns:p14="http://schemas.microsoft.com/office/powerpoint/2010/main" val="3569396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39B7D59F-5B66-7387-858D-A1AA4557543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1866526-641E-FA1B-6821-3889DFCF934A}"/>
              </a:ext>
            </a:extLst>
          </p:cNvPr>
          <p:cNvGrpSpPr/>
          <p:nvPr/>
        </p:nvGrpSpPr>
        <p:grpSpPr>
          <a:xfrm>
            <a:off x="476250" y="392430"/>
            <a:ext cx="5032915" cy="1012984"/>
            <a:chOff x="476250" y="392430"/>
            <a:chExt cx="5032915" cy="1012984"/>
          </a:xfrm>
        </p:grpSpPr>
        <p:sp>
          <p:nvSpPr>
            <p:cNvPr id="2" name="TextBox 2">
              <a:extLst>
                <a:ext uri="{FF2B5EF4-FFF2-40B4-BE49-F238E27FC236}">
                  <a16:creationId xmlns:a16="http://schemas.microsoft.com/office/drawing/2014/main" id="{E54518CB-2903-D475-6C9F-A133623DD9E9}"/>
                </a:ext>
              </a:extLst>
            </p:cNvPr>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02</a:t>
              </a:r>
            </a:p>
          </p:txBody>
        </p:sp>
        <p:sp>
          <p:nvSpPr>
            <p:cNvPr id="3" name="TextBox 3">
              <a:extLst>
                <a:ext uri="{FF2B5EF4-FFF2-40B4-BE49-F238E27FC236}">
                  <a16:creationId xmlns:a16="http://schemas.microsoft.com/office/drawing/2014/main" id="{12A73F9A-8FF9-CE06-FD78-A98152C25830}"/>
                </a:ext>
              </a:extLst>
            </p:cNvPr>
            <p:cNvSpPr txBox="1"/>
            <p:nvPr/>
          </p:nvSpPr>
          <p:spPr>
            <a:xfrm>
              <a:off x="1219200" y="392430"/>
              <a:ext cx="3971163" cy="400050"/>
            </a:xfrm>
            <a:prstGeom prst="rect">
              <a:avLst/>
            </a:prstGeom>
            <a:noFill/>
            <a:ln>
              <a:noFill/>
            </a:ln>
          </p:spPr>
          <p:txBody>
            <a:bodyPr wrap="none" lIns="0" tIns="0" rIns="0" bIns="0" anchor="t" anchorCtr="0">
              <a:noAutofit/>
            </a:bodyPr>
            <a:lstStyle/>
            <a:p>
              <a:pPr algn="l"/>
              <a:r>
                <a:rPr lang="zh-CN" altLang="en-US" sz="2100" b="1" dirty="0">
                  <a:solidFill>
                    <a:srgbClr val="202B33"/>
                  </a:solidFill>
                  <a:latin typeface="Arial"/>
                  <a:ea typeface="Microsoft YaHei"/>
                  <a:cs typeface="Arial"/>
                </a:rPr>
                <a:t>用户偏好中可学习的两个信号</a:t>
              </a:r>
              <a:endParaRPr lang="zh-CN" sz="2100" b="1" dirty="0">
                <a:solidFill>
                  <a:srgbClr val="202B33"/>
                </a:solidFill>
                <a:latin typeface="Arial"/>
                <a:ea typeface="Microsoft YaHei"/>
                <a:cs typeface="Arial"/>
              </a:endParaRPr>
            </a:p>
          </p:txBody>
        </p:sp>
        <p:sp>
          <p:nvSpPr>
            <p:cNvPr id="4" name="TextBox 4">
              <a:extLst>
                <a:ext uri="{FF2B5EF4-FFF2-40B4-BE49-F238E27FC236}">
                  <a16:creationId xmlns:a16="http://schemas.microsoft.com/office/drawing/2014/main" id="{860BF300-0120-7625-381A-A9A32CDD4B1B}"/>
                </a:ext>
              </a:extLst>
            </p:cNvPr>
            <p:cNvSpPr txBox="1"/>
            <p:nvPr/>
          </p:nvSpPr>
          <p:spPr>
            <a:xfrm>
              <a:off x="476250" y="1019651"/>
              <a:ext cx="5032915"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latin typeface="Arial"/>
                  <a:ea typeface="Microsoft YaHei"/>
                  <a:cs typeface="Arial"/>
                </a:rPr>
                <a:t>用户研究告诉我们：偏好不仅存在，而且可以被学习。</a:t>
              </a:r>
              <a:endParaRPr lang="zh-CN" sz="2020" b="1" dirty="0">
                <a:solidFill>
                  <a:srgbClr val="005A84"/>
                </a:solidFill>
                <a:latin typeface="Arial"/>
                <a:ea typeface="Microsoft YaHei"/>
                <a:cs typeface="Arial"/>
              </a:endParaRPr>
            </a:p>
          </p:txBody>
        </p:sp>
      </p:grpSp>
      <p:sp>
        <p:nvSpPr>
          <p:cNvPr id="6" name="TextBox 6">
            <a:extLst>
              <a:ext uri="{FF2B5EF4-FFF2-40B4-BE49-F238E27FC236}">
                <a16:creationId xmlns:a16="http://schemas.microsoft.com/office/drawing/2014/main" id="{76C4772B-8F33-AEA6-6F62-D22BA181A76A}"/>
              </a:ext>
            </a:extLst>
          </p:cNvPr>
          <p:cNvSpPr txBox="1"/>
          <p:nvPr/>
        </p:nvSpPr>
        <p:spPr>
          <a:xfrm>
            <a:off x="466725" y="4869656"/>
            <a:ext cx="2147507" cy="147161"/>
          </a:xfrm>
          <a:prstGeom prst="rect">
            <a:avLst/>
          </a:prstGeom>
          <a:noFill/>
          <a:ln>
            <a:noFill/>
          </a:ln>
        </p:spPr>
        <p:txBody>
          <a:bodyPr wrap="none" lIns="0" tIns="-48" rIns="0" bIns="0" anchor="t" anchorCtr="0">
            <a:noAutofit/>
          </a:bodyPr>
          <a:lstStyle/>
          <a:p>
            <a:pPr algn="l"/>
            <a:endParaRPr lang="zh-CN" sz="770" dirty="0">
              <a:solidFill>
                <a:srgbClr val="5C6B73"/>
              </a:solidFill>
              <a:latin typeface="Arial"/>
              <a:ea typeface="Microsoft YaHei"/>
              <a:cs typeface="Arial"/>
            </a:endParaRPr>
          </a:p>
        </p:txBody>
      </p:sp>
      <p:grpSp>
        <p:nvGrpSpPr>
          <p:cNvPr id="20" name="Group 20">
            <a:extLst>
              <a:ext uri="{FF2B5EF4-FFF2-40B4-BE49-F238E27FC236}">
                <a16:creationId xmlns:a16="http://schemas.microsoft.com/office/drawing/2014/main" id="{564096FA-3949-EB06-9A7E-B924FB5E609F}"/>
              </a:ext>
            </a:extLst>
          </p:cNvPr>
          <p:cNvGrpSpPr/>
          <p:nvPr/>
        </p:nvGrpSpPr>
        <p:grpSpPr>
          <a:xfrm>
            <a:off x="476250" y="3971384"/>
            <a:ext cx="8191500" cy="602108"/>
            <a:chOff x="476250" y="4229100"/>
            <a:chExt cx="8191500" cy="504825"/>
          </a:xfrm>
        </p:grpSpPr>
        <p:sp>
          <p:nvSpPr>
            <p:cNvPr id="16" name="Rectangle 16">
              <a:extLst>
                <a:ext uri="{FF2B5EF4-FFF2-40B4-BE49-F238E27FC236}">
                  <a16:creationId xmlns:a16="http://schemas.microsoft.com/office/drawing/2014/main" id="{53547535-8CCC-611C-336D-9F2AEE7117F4}"/>
                </a:ext>
              </a:extLst>
            </p:cNvPr>
            <p:cNvSpPr/>
            <p:nvPr/>
          </p:nvSpPr>
          <p:spPr>
            <a:xfrm>
              <a:off x="476250" y="4229100"/>
              <a:ext cx="8191500" cy="504825"/>
            </a:xfrm>
            <a:prstGeom prst="rect">
              <a:avLst/>
            </a:prstGeom>
            <a:solidFill>
              <a:srgbClr val="F0F5F6"/>
            </a:solidFill>
            <a:ln>
              <a:noFill/>
            </a:ln>
          </p:spPr>
        </p:sp>
        <p:sp>
          <p:nvSpPr>
            <p:cNvPr id="17" name="Rectangle 17">
              <a:extLst>
                <a:ext uri="{FF2B5EF4-FFF2-40B4-BE49-F238E27FC236}">
                  <a16:creationId xmlns:a16="http://schemas.microsoft.com/office/drawing/2014/main" id="{79ACAF71-8101-B655-C292-154092A5882D}"/>
                </a:ext>
              </a:extLst>
            </p:cNvPr>
            <p:cNvSpPr/>
            <p:nvPr/>
          </p:nvSpPr>
          <p:spPr>
            <a:xfrm>
              <a:off x="476250" y="4229100"/>
              <a:ext cx="38100" cy="504825"/>
            </a:xfrm>
            <a:prstGeom prst="rect">
              <a:avLst/>
            </a:prstGeom>
            <a:solidFill>
              <a:srgbClr val="16735C"/>
            </a:solidFill>
            <a:ln>
              <a:noFill/>
            </a:ln>
          </p:spPr>
        </p:sp>
        <p:sp>
          <p:nvSpPr>
            <p:cNvPr id="18" name="TextBox 18">
              <a:extLst>
                <a:ext uri="{FF2B5EF4-FFF2-40B4-BE49-F238E27FC236}">
                  <a16:creationId xmlns:a16="http://schemas.microsoft.com/office/drawing/2014/main" id="{50102CBB-56AA-9729-D13E-E876A6C2B77C}"/>
                </a:ext>
              </a:extLst>
            </p:cNvPr>
            <p:cNvSpPr txBox="1"/>
            <p:nvPr/>
          </p:nvSpPr>
          <p:spPr>
            <a:xfrm>
              <a:off x="609600" y="4397716"/>
              <a:ext cx="7388831"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用户研究说明“偏好可以被学习”：个人有稳定性，群体有共性。</a:t>
              </a:r>
              <a:endParaRPr lang="zh-CN" sz="1420" b="1" dirty="0">
                <a:solidFill>
                  <a:srgbClr val="16735C"/>
                </a:solidFill>
                <a:latin typeface="Arial"/>
                <a:ea typeface="Microsoft YaHei"/>
                <a:cs typeface="Arial"/>
              </a:endParaRPr>
            </a:p>
          </p:txBody>
        </p:sp>
      </p:grpSp>
      <p:graphicFrame>
        <p:nvGraphicFramePr>
          <p:cNvPr id="21" name="表格 20">
            <a:extLst>
              <a:ext uri="{FF2B5EF4-FFF2-40B4-BE49-F238E27FC236}">
                <a16:creationId xmlns:a16="http://schemas.microsoft.com/office/drawing/2014/main" id="{476C7CBA-D2A3-A483-EB06-2151498E5CF2}"/>
              </a:ext>
            </a:extLst>
          </p:cNvPr>
          <p:cNvGraphicFramePr>
            <a:graphicFrameLocks noGrp="1"/>
          </p:cNvGraphicFramePr>
          <p:nvPr>
            <p:extLst>
              <p:ext uri="{D42A27DB-BD31-4B8C-83A1-F6EECF244321}">
                <p14:modId xmlns:p14="http://schemas.microsoft.com/office/powerpoint/2010/main" val="3947910399"/>
              </p:ext>
            </p:extLst>
          </p:nvPr>
        </p:nvGraphicFramePr>
        <p:xfrm>
          <a:off x="710645" y="1770321"/>
          <a:ext cx="7307674" cy="1719210"/>
        </p:xfrm>
        <a:graphic>
          <a:graphicData uri="http://schemas.openxmlformats.org/drawingml/2006/table">
            <a:tbl>
              <a:tblPr>
                <a:tableStyleId>{01689EBE-A8BA-4E9F-A005-15CF966D7EB2}</a:tableStyleId>
              </a:tblPr>
              <a:tblGrid>
                <a:gridCol w="3418726">
                  <a:extLst>
                    <a:ext uri="{9D8B030D-6E8A-4147-A177-3AD203B41FA5}">
                      <a16:colId xmlns:a16="http://schemas.microsoft.com/office/drawing/2014/main" val="1115044812"/>
                    </a:ext>
                  </a:extLst>
                </a:gridCol>
                <a:gridCol w="3888948">
                  <a:extLst>
                    <a:ext uri="{9D8B030D-6E8A-4147-A177-3AD203B41FA5}">
                      <a16:colId xmlns:a16="http://schemas.microsoft.com/office/drawing/2014/main" val="1180809470"/>
                    </a:ext>
                  </a:extLst>
                </a:gridCol>
              </a:tblGrid>
              <a:tr h="423210">
                <a:tc>
                  <a:txBody>
                    <a:bodyPr/>
                    <a:lstStyle/>
                    <a:p>
                      <a:pPr algn="ctr">
                        <a:lnSpc>
                          <a:spcPct val="138889"/>
                        </a:lnSpc>
                        <a:buNone/>
                      </a:pPr>
                      <a:r>
                        <a:rPr lang="zh-CN" sz="1400" b="1" dirty="0">
                          <a:solidFill>
                            <a:schemeClr val="bg1"/>
                          </a:solidFill>
                          <a:effectLst/>
                          <a:latin typeface="微软雅黑" panose="020B0503020204020204" pitchFamily="34" charset="-122"/>
                          <a:ea typeface="微软雅黑" panose="020B0503020204020204" pitchFamily="34" charset="-122"/>
                        </a:rPr>
                        <a:t>用户研究观察</a:t>
                      </a:r>
                      <a:endParaRPr lang="zh-CN" sz="1400" b="1" i="0" dirty="0">
                        <a:solidFill>
                          <a:schemeClr val="bg1"/>
                        </a:solidFill>
                        <a:effectLst/>
                        <a:latin typeface="微软雅黑" panose="020B0503020204020204" pitchFamily="34" charset="-122"/>
                        <a:ea typeface="微软雅黑" panose="020B0503020204020204" pitchFamily="34" charset="-122"/>
                      </a:endParaRP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005A84"/>
                    </a:solidFill>
                  </a:tcPr>
                </a:tc>
                <a:tc>
                  <a:txBody>
                    <a:bodyPr/>
                    <a:lstStyle/>
                    <a:p>
                      <a:pPr algn="ctr">
                        <a:lnSpc>
                          <a:spcPct val="138889"/>
                        </a:lnSpc>
                        <a:buNone/>
                      </a:pPr>
                      <a:r>
                        <a:rPr lang="zh-CN" sz="1400" b="1" dirty="0">
                          <a:solidFill>
                            <a:schemeClr val="bg1"/>
                          </a:solidFill>
                          <a:effectLst/>
                          <a:latin typeface="微软雅黑" panose="020B0503020204020204" pitchFamily="34" charset="-122"/>
                          <a:ea typeface="微软雅黑" panose="020B0503020204020204" pitchFamily="34" charset="-122"/>
                        </a:rPr>
                        <a:t>对方法设计的启发</a:t>
                      </a:r>
                      <a:endParaRPr lang="zh-CN" sz="1400" b="1" i="0" dirty="0">
                        <a:solidFill>
                          <a:schemeClr val="bg1"/>
                        </a:solidFill>
                        <a:effectLst/>
                        <a:latin typeface="微软雅黑" panose="020B0503020204020204" pitchFamily="34" charset="-122"/>
                        <a:ea typeface="微软雅黑" panose="020B0503020204020204" pitchFamily="34" charset="-122"/>
                      </a:endParaRPr>
                    </a:p>
                  </a:txBody>
                  <a:tcPr marL="76200"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005A84"/>
                    </a:solidFill>
                  </a:tcPr>
                </a:tc>
                <a:extLst>
                  <a:ext uri="{0D108BD9-81ED-4DB2-BD59-A6C34878D82A}">
                    <a16:rowId xmlns:a16="http://schemas.microsoft.com/office/drawing/2014/main" val="38408021"/>
                  </a:ext>
                </a:extLst>
              </a:tr>
              <a:tr h="432000">
                <a:tc>
                  <a:txBody>
                    <a:bodyPr/>
                    <a:lstStyle/>
                    <a:p>
                      <a:pPr algn="ctr">
                        <a:lnSpc>
                          <a:spcPct val="138889"/>
                        </a:lnSpc>
                        <a:buNone/>
                      </a:pPr>
                      <a:r>
                        <a:rPr lang="zh-CN" sz="1400" b="1" dirty="0">
                          <a:solidFill>
                            <a:srgbClr val="005A84"/>
                          </a:solidFill>
                          <a:effectLst/>
                          <a:latin typeface="微软雅黑" panose="020B0503020204020204" pitchFamily="34" charset="-122"/>
                          <a:ea typeface="微软雅黑" panose="020B0503020204020204" pitchFamily="34" charset="-122"/>
                        </a:rPr>
                        <a:t>个人在特定领域内偏好较一致</a:t>
                      </a:r>
                      <a:endParaRPr lang="zh-CN" sz="1400" b="1" i="0" dirty="0">
                        <a:solidFill>
                          <a:srgbClr val="005A84"/>
                        </a:solidFill>
                        <a:effectLst/>
                        <a:latin typeface="微软雅黑" panose="020B0503020204020204" pitchFamily="34" charset="-122"/>
                        <a:ea typeface="微软雅黑" panose="020B0503020204020204" pitchFamily="34" charset="-122"/>
                      </a:endParaRP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tc>
                  <a:txBody>
                    <a:bodyPr/>
                    <a:lstStyle/>
                    <a:p>
                      <a:pPr algn="ctr">
                        <a:lnSpc>
                          <a:spcPct val="138889"/>
                        </a:lnSpc>
                        <a:buNone/>
                      </a:pPr>
                      <a:r>
                        <a:rPr lang="zh-CN" sz="1400" dirty="0">
                          <a:effectLst/>
                          <a:latin typeface="微软雅黑" panose="020B0503020204020204" pitchFamily="34" charset="-122"/>
                          <a:ea typeface="微软雅黑" panose="020B0503020204020204" pitchFamily="34" charset="-122"/>
                        </a:rPr>
                        <a:t>可以用个人历史做个性化预测 → </a:t>
                      </a:r>
                      <a:r>
                        <a:rPr lang="en-US" altLang="zh-CN" sz="1400" dirty="0">
                          <a:effectLst/>
                          <a:latin typeface="微软雅黑" panose="020B0503020204020204" pitchFamily="34" charset="-122"/>
                          <a:ea typeface="微软雅黑" panose="020B0503020204020204" pitchFamily="34" charset="-122"/>
                        </a:rPr>
                        <a:t> </a:t>
                      </a:r>
                      <a:r>
                        <a:rPr lang="zh-CN" sz="1400" dirty="0">
                          <a:effectLst/>
                          <a:latin typeface="微软雅黑" panose="020B0503020204020204" pitchFamily="34" charset="-122"/>
                          <a:ea typeface="微软雅黑" panose="020B0503020204020204" pitchFamily="34" charset="-122"/>
                        </a:rPr>
                        <a:t>上下文学习</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extLst>
                  <a:ext uri="{0D108BD9-81ED-4DB2-BD59-A6C34878D82A}">
                    <a16:rowId xmlns:a16="http://schemas.microsoft.com/office/drawing/2014/main" val="2633011002"/>
                  </a:ext>
                </a:extLst>
              </a:tr>
              <a:tr h="432000">
                <a:tc>
                  <a:txBody>
                    <a:bodyPr/>
                    <a:lstStyle/>
                    <a:p>
                      <a:pPr algn="ctr">
                        <a:lnSpc>
                          <a:spcPct val="138889"/>
                        </a:lnSpc>
                        <a:buNone/>
                      </a:pPr>
                      <a:r>
                        <a:rPr lang="zh-CN" sz="1400" b="1" dirty="0">
                          <a:solidFill>
                            <a:srgbClr val="005A84"/>
                          </a:solidFill>
                          <a:effectLst/>
                          <a:latin typeface="微软雅黑" panose="020B0503020204020204" pitchFamily="34" charset="-122"/>
                          <a:ea typeface="微软雅黑" panose="020B0503020204020204" pitchFamily="34" charset="-122"/>
                        </a:rPr>
                        <a:t>不同用户之间存在相似模式</a:t>
                      </a:r>
                      <a:endParaRPr lang="zh-CN" sz="1400" b="1" i="0" dirty="0">
                        <a:solidFill>
                          <a:srgbClr val="005A84"/>
                        </a:solidFill>
                        <a:effectLst/>
                        <a:latin typeface="微软雅黑" panose="020B0503020204020204" pitchFamily="34" charset="-122"/>
                        <a:ea typeface="微软雅黑" panose="020B0503020204020204" pitchFamily="34" charset="-122"/>
                      </a:endParaRP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38889"/>
                        </a:lnSpc>
                        <a:buNone/>
                      </a:pPr>
                      <a:r>
                        <a:rPr lang="zh-CN" sz="1400" dirty="0">
                          <a:effectLst/>
                          <a:latin typeface="微软雅黑" panose="020B0503020204020204" pitchFamily="34" charset="-122"/>
                          <a:ea typeface="微软雅黑" panose="020B0503020204020204" pitchFamily="34" charset="-122"/>
                        </a:rPr>
                        <a:t>可以借用相似用户的</a:t>
                      </a:r>
                      <a:r>
                        <a:rPr lang="zh-CN" altLang="en-US" sz="1400" dirty="0">
                          <a:effectLst/>
                          <a:latin typeface="微软雅黑" panose="020B0503020204020204" pitchFamily="34" charset="-122"/>
                          <a:ea typeface="微软雅黑" panose="020B0503020204020204" pitchFamily="34" charset="-122"/>
                        </a:rPr>
                        <a:t>决策</a:t>
                      </a:r>
                      <a:r>
                        <a:rPr lang="zh-CN" sz="1400" dirty="0">
                          <a:effectLst/>
                          <a:latin typeface="微软雅黑" panose="020B0503020204020204" pitchFamily="34" charset="-122"/>
                          <a:ea typeface="微软雅黑" panose="020B0503020204020204" pitchFamily="34" charset="-122"/>
                        </a:rPr>
                        <a:t> → </a:t>
                      </a:r>
                      <a:r>
                        <a:rPr lang="en-US" altLang="zh-CN" sz="1400" dirty="0">
                          <a:effectLst/>
                          <a:latin typeface="微软雅黑" panose="020B0503020204020204" pitchFamily="34" charset="-122"/>
                          <a:ea typeface="微软雅黑" panose="020B0503020204020204" pitchFamily="34" charset="-122"/>
                        </a:rPr>
                        <a:t> </a:t>
                      </a:r>
                      <a:r>
                        <a:rPr lang="zh-CN" sz="1400" dirty="0">
                          <a:effectLst/>
                          <a:latin typeface="微软雅黑" panose="020B0503020204020204" pitchFamily="34" charset="-122"/>
                          <a:ea typeface="微软雅黑" panose="020B0503020204020204" pitchFamily="34" charset="-122"/>
                        </a:rPr>
                        <a:t>协同过滤</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84440705"/>
                  </a:ext>
                </a:extLst>
              </a:tr>
              <a:tr h="432000">
                <a:tc>
                  <a:txBody>
                    <a:bodyPr/>
                    <a:lstStyle/>
                    <a:p>
                      <a:pPr algn="ctr">
                        <a:lnSpc>
                          <a:spcPct val="138889"/>
                        </a:lnSpc>
                        <a:buNone/>
                      </a:pPr>
                      <a:r>
                        <a:rPr lang="zh-CN" altLang="en-US" sz="1400" b="1" dirty="0">
                          <a:solidFill>
                            <a:srgbClr val="005A84"/>
                          </a:solidFill>
                          <a:effectLst/>
                          <a:latin typeface="微软雅黑" panose="020B0503020204020204" pitchFamily="34" charset="-122"/>
                          <a:ea typeface="微软雅黑" panose="020B0503020204020204" pitchFamily="34" charset="-122"/>
                        </a:rPr>
                        <a:t>部分</a:t>
                      </a:r>
                      <a:r>
                        <a:rPr lang="zh-CN" sz="1400" b="1" dirty="0">
                          <a:solidFill>
                            <a:srgbClr val="005A84"/>
                          </a:solidFill>
                          <a:effectLst/>
                          <a:latin typeface="微软雅黑" panose="020B0503020204020204" pitchFamily="34" charset="-122"/>
                          <a:ea typeface="微软雅黑" panose="020B0503020204020204" pitchFamily="34" charset="-122"/>
                        </a:rPr>
                        <a:t>用户跨领域差异大、敏感数据分歧大</a:t>
                      </a:r>
                      <a:endParaRPr lang="zh-CN" sz="1400" b="1" i="0" dirty="0">
                        <a:solidFill>
                          <a:srgbClr val="005A84"/>
                        </a:solidFill>
                        <a:effectLst/>
                        <a:latin typeface="微软雅黑" panose="020B0503020204020204" pitchFamily="34" charset="-122"/>
                        <a:ea typeface="微软雅黑" panose="020B0503020204020204" pitchFamily="34" charset="-122"/>
                      </a:endParaRP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tc>
                  <a:txBody>
                    <a:bodyPr/>
                    <a:lstStyle/>
                    <a:p>
                      <a:pPr algn="ctr">
                        <a:lnSpc>
                          <a:spcPct val="138889"/>
                        </a:lnSpc>
                        <a:buNone/>
                      </a:pPr>
                      <a:r>
                        <a:rPr lang="zh-CN" sz="1400" dirty="0">
                          <a:effectLst/>
                          <a:latin typeface="微软雅黑" panose="020B0503020204020204" pitchFamily="34" charset="-122"/>
                          <a:ea typeface="微软雅黑" panose="020B0503020204020204" pitchFamily="34" charset="-122"/>
                        </a:rPr>
                        <a:t>不能全自动</a:t>
                      </a:r>
                      <a:r>
                        <a:rPr lang="zh-CN" altLang="en-US" sz="1400" dirty="0">
                          <a:effectLst/>
                          <a:latin typeface="微软雅黑" panose="020B0503020204020204" pitchFamily="34" charset="-122"/>
                          <a:ea typeface="微软雅黑" panose="020B0503020204020204" pitchFamily="34" charset="-122"/>
                        </a:rPr>
                        <a:t>决策</a:t>
                      </a:r>
                      <a:r>
                        <a:rPr lang="zh-CN" sz="1400" dirty="0">
                          <a:effectLst/>
                          <a:latin typeface="微软雅黑" panose="020B0503020204020204" pitchFamily="34" charset="-122"/>
                          <a:ea typeface="微软雅黑" panose="020B0503020204020204" pitchFamily="34" charset="-122"/>
                        </a:rPr>
                        <a:t>，需要人工兜底</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extLst>
                  <a:ext uri="{0D108BD9-81ED-4DB2-BD59-A6C34878D82A}">
                    <a16:rowId xmlns:a16="http://schemas.microsoft.com/office/drawing/2014/main" val="3336996530"/>
                  </a:ext>
                </a:extLst>
              </a:tr>
            </a:tbl>
          </a:graphicData>
        </a:graphic>
      </p:graphicFrame>
    </p:spTree>
    <p:extLst>
      <p:ext uri="{BB962C8B-B14F-4D97-AF65-F5344CB8AC3E}">
        <p14:creationId xmlns:p14="http://schemas.microsoft.com/office/powerpoint/2010/main" val="3225062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CE7143CB-07FF-329B-173B-911A050610F2}"/>
            </a:ext>
          </a:extLst>
        </p:cNvPr>
        <p:cNvGrpSpPr/>
        <p:nvPr/>
      </p:nvGrpSpPr>
      <p:grpSpPr>
        <a:xfrm>
          <a:off x="0" y="0"/>
          <a:ext cx="0" cy="0"/>
          <a:chOff x="0" y="0"/>
          <a:chExt cx="0" cy="0"/>
        </a:xfrm>
      </p:grpSpPr>
      <p:grpSp>
        <p:nvGrpSpPr>
          <p:cNvPr id="5" name="Group 5"/>
          <p:cNvGrpSpPr/>
          <p:nvPr/>
        </p:nvGrpSpPr>
        <p:grpSpPr>
          <a:xfrm>
            <a:off x="476250" y="392430"/>
            <a:ext cx="5634704" cy="1012984"/>
            <a:chOff x="476250" y="392430"/>
            <a:chExt cx="563470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03</a:t>
              </a:r>
            </a:p>
          </p:txBody>
        </p:sp>
        <p:sp>
          <p:nvSpPr>
            <p:cNvPr id="3" name="TextBox 3"/>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方法总览：</a:t>
              </a:r>
              <a:r>
                <a:rPr lang="zh-CN" altLang="en-US" sz="2100" b="1" dirty="0">
                  <a:solidFill>
                    <a:srgbClr val="202B33"/>
                  </a:solidFill>
                  <a:latin typeface="Arial"/>
                  <a:ea typeface="Microsoft YaHei"/>
                  <a:cs typeface="Arial"/>
                </a:rPr>
                <a:t> </a:t>
              </a:r>
              <a:r>
                <a:rPr lang="en-US" altLang="zh-CN" sz="2100" b="1" dirty="0">
                  <a:solidFill>
                    <a:srgbClr val="202B33"/>
                  </a:solidFill>
                  <a:latin typeface="Arial"/>
                  <a:ea typeface="Microsoft YaHei"/>
                  <a:cs typeface="Arial"/>
                </a:rPr>
                <a:t>IC </a:t>
              </a:r>
              <a:r>
                <a:rPr lang="zh-CN" altLang="en-US" sz="2100" b="1" dirty="0">
                  <a:solidFill>
                    <a:srgbClr val="202B33"/>
                  </a:solidFill>
                  <a:ea typeface="Microsoft YaHei"/>
                </a:rPr>
                <a:t>、</a:t>
              </a:r>
              <a:r>
                <a:rPr lang="en-US" altLang="zh-CN" sz="2100" b="1" dirty="0">
                  <a:solidFill>
                    <a:srgbClr val="202B33"/>
                  </a:solidFill>
                  <a:latin typeface="Arial"/>
                  <a:ea typeface="Microsoft YaHei"/>
                  <a:cs typeface="Arial"/>
                </a:rPr>
                <a:t>CF </a:t>
              </a:r>
              <a:r>
                <a:rPr lang="zh-CN" altLang="en-US" sz="2100" b="1" dirty="0">
                  <a:solidFill>
                    <a:srgbClr val="202B33"/>
                  </a:solidFill>
                  <a:latin typeface="Arial"/>
                  <a:ea typeface="Microsoft YaHei"/>
                  <a:cs typeface="Arial"/>
                </a:rPr>
                <a:t>与</a:t>
              </a:r>
              <a:r>
                <a:rPr lang="en-US" altLang="zh-CN" sz="2100" b="1" dirty="0">
                  <a:solidFill>
                    <a:srgbClr val="202B33"/>
                  </a:solidFill>
                  <a:latin typeface="Arial"/>
                  <a:ea typeface="Microsoft YaHei"/>
                  <a:cs typeface="Arial"/>
                </a:rPr>
                <a:t> </a:t>
              </a:r>
              <a:r>
                <a:rPr lang="zh-CN" altLang="en-US" sz="2100" b="1" dirty="0">
                  <a:solidFill>
                    <a:srgbClr val="202B33"/>
                  </a:solidFill>
                  <a:latin typeface="Arial"/>
                  <a:ea typeface="Microsoft YaHei"/>
                  <a:cs typeface="Arial"/>
                </a:rPr>
                <a:t>混合模型</a:t>
              </a:r>
              <a:endParaRPr lang="zh-CN" sz="2100" b="1" dirty="0">
                <a:solidFill>
                  <a:srgbClr val="202B33"/>
                </a:solidFill>
                <a:latin typeface="Arial"/>
                <a:ea typeface="Microsoft YaHei"/>
                <a:cs typeface="Arial"/>
              </a:endParaRPr>
            </a:p>
          </p:txBody>
        </p:sp>
        <p:sp>
          <p:nvSpPr>
            <p:cNvPr id="4" name="TextBox 4"/>
            <p:cNvSpPr txBox="1"/>
            <p:nvPr/>
          </p:nvSpPr>
          <p:spPr>
            <a:xfrm>
              <a:off x="476250" y="1019651"/>
              <a:ext cx="5634704"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latin typeface="Arial"/>
                  <a:ea typeface="Microsoft YaHei"/>
                  <a:cs typeface="Arial"/>
                </a:rPr>
                <a:t>利用有限的用户决策历史，在新情境做权限预测</a:t>
              </a:r>
              <a:endParaRPr lang="zh-CN" sz="2020" b="1" dirty="0">
                <a:solidFill>
                  <a:srgbClr val="005A84"/>
                </a:solidFill>
                <a:latin typeface="Arial"/>
                <a:ea typeface="Microsoft YaHei"/>
                <a:cs typeface="Arial"/>
              </a:endParaRPr>
            </a:p>
          </p:txBody>
        </p:sp>
      </p:grpSp>
      <p:grpSp>
        <p:nvGrpSpPr>
          <p:cNvPr id="33" name="Group 33"/>
          <p:cNvGrpSpPr/>
          <p:nvPr/>
        </p:nvGrpSpPr>
        <p:grpSpPr>
          <a:xfrm>
            <a:off x="533507" y="4020025"/>
            <a:ext cx="8076986" cy="504825"/>
            <a:chOff x="476250" y="4229100"/>
            <a:chExt cx="8191500" cy="504825"/>
          </a:xfrm>
        </p:grpSpPr>
        <p:sp>
          <p:nvSpPr>
            <p:cNvPr id="30" name="Rectangle 30"/>
            <p:cNvSpPr/>
            <p:nvPr/>
          </p:nvSpPr>
          <p:spPr>
            <a:xfrm>
              <a:off x="476250" y="4229100"/>
              <a:ext cx="8191500" cy="504825"/>
            </a:xfrm>
            <a:prstGeom prst="rect">
              <a:avLst/>
            </a:prstGeom>
            <a:solidFill>
              <a:srgbClr val="F0F5F6"/>
            </a:solidFill>
            <a:ln>
              <a:noFill/>
            </a:ln>
          </p:spPr>
        </p:sp>
        <p:sp>
          <p:nvSpPr>
            <p:cNvPr id="31" name="Rectangle 31"/>
            <p:cNvSpPr/>
            <p:nvPr/>
          </p:nvSpPr>
          <p:spPr>
            <a:xfrm>
              <a:off x="476250" y="4229100"/>
              <a:ext cx="38100" cy="504825"/>
            </a:xfrm>
            <a:prstGeom prst="rect">
              <a:avLst/>
            </a:prstGeom>
            <a:solidFill>
              <a:srgbClr val="16735C"/>
            </a:solidFill>
            <a:ln>
              <a:noFill/>
            </a:ln>
          </p:spPr>
        </p:sp>
        <p:sp>
          <p:nvSpPr>
            <p:cNvPr id="32" name="TextBox 32"/>
            <p:cNvSpPr txBox="1"/>
            <p:nvPr/>
          </p:nvSpPr>
          <p:spPr>
            <a:xfrm>
              <a:off x="609600" y="4408646"/>
              <a:ext cx="5836063"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三种方法分别是“个人 ”“群体”与“两者融合”的层面</a:t>
              </a:r>
            </a:p>
          </p:txBody>
        </p:sp>
      </p:grpSp>
      <p:graphicFrame>
        <p:nvGraphicFramePr>
          <p:cNvPr id="35" name="表格 34">
            <a:extLst>
              <a:ext uri="{FF2B5EF4-FFF2-40B4-BE49-F238E27FC236}">
                <a16:creationId xmlns:a16="http://schemas.microsoft.com/office/drawing/2014/main" id="{7CA1DA1A-F0D2-5078-5196-63441785E26B}"/>
              </a:ext>
            </a:extLst>
          </p:cNvPr>
          <p:cNvGraphicFramePr>
            <a:graphicFrameLocks noGrp="1"/>
          </p:cNvGraphicFramePr>
          <p:nvPr>
            <p:extLst>
              <p:ext uri="{D42A27DB-BD31-4B8C-83A1-F6EECF244321}">
                <p14:modId xmlns:p14="http://schemas.microsoft.com/office/powerpoint/2010/main" val="2420948518"/>
              </p:ext>
            </p:extLst>
          </p:nvPr>
        </p:nvGraphicFramePr>
        <p:xfrm>
          <a:off x="566350" y="1792308"/>
          <a:ext cx="7560522" cy="1872000"/>
        </p:xfrm>
        <a:graphic>
          <a:graphicData uri="http://schemas.openxmlformats.org/drawingml/2006/table">
            <a:tbl>
              <a:tblPr>
                <a:tableStyleId>{01689EBE-A8BA-4E9F-A005-15CF966D7EB2}</a:tableStyleId>
              </a:tblPr>
              <a:tblGrid>
                <a:gridCol w="1314857">
                  <a:extLst>
                    <a:ext uri="{9D8B030D-6E8A-4147-A177-3AD203B41FA5}">
                      <a16:colId xmlns:a16="http://schemas.microsoft.com/office/drawing/2014/main" val="1115044812"/>
                    </a:ext>
                  </a:extLst>
                </a:gridCol>
                <a:gridCol w="3221665">
                  <a:extLst>
                    <a:ext uri="{9D8B030D-6E8A-4147-A177-3AD203B41FA5}">
                      <a16:colId xmlns:a16="http://schemas.microsoft.com/office/drawing/2014/main" val="1180809470"/>
                    </a:ext>
                  </a:extLst>
                </a:gridCol>
                <a:gridCol w="3024000">
                  <a:extLst>
                    <a:ext uri="{9D8B030D-6E8A-4147-A177-3AD203B41FA5}">
                      <a16:colId xmlns:a16="http://schemas.microsoft.com/office/drawing/2014/main" val="1799066542"/>
                    </a:ext>
                  </a:extLst>
                </a:gridCol>
              </a:tblGrid>
              <a:tr h="468000">
                <a:tc>
                  <a:txBody>
                    <a:bodyPr/>
                    <a:lstStyle/>
                    <a:p>
                      <a:pPr algn="ctr">
                        <a:lnSpc>
                          <a:spcPct val="138889"/>
                        </a:lnSpc>
                        <a:buNone/>
                      </a:pPr>
                      <a:r>
                        <a:rPr lang="zh-CN" sz="1400" b="1" i="0" dirty="0">
                          <a:solidFill>
                            <a:schemeClr val="bg1"/>
                          </a:solidFill>
                          <a:effectLst/>
                          <a:latin typeface="微软雅黑" panose="020B0503020204020204" pitchFamily="34" charset="-122"/>
                          <a:ea typeface="微软雅黑" panose="020B0503020204020204" pitchFamily="34" charset="-122"/>
                        </a:rPr>
                        <a:t>方法</a:t>
                      </a:r>
                    </a:p>
                  </a:txBody>
                  <a:tcPr marR="76200" marT="47625" marB="47625" anchor="ctr">
                    <a:solidFill>
                      <a:srgbClr val="005A84"/>
                    </a:solidFill>
                  </a:tcPr>
                </a:tc>
                <a:tc>
                  <a:txBody>
                    <a:bodyPr/>
                    <a:lstStyle/>
                    <a:p>
                      <a:pPr algn="ctr">
                        <a:lnSpc>
                          <a:spcPct val="138889"/>
                        </a:lnSpc>
                        <a:buNone/>
                      </a:pPr>
                      <a:r>
                        <a:rPr lang="zh-CN" sz="1400" b="1" i="0" dirty="0">
                          <a:solidFill>
                            <a:schemeClr val="bg1"/>
                          </a:solidFill>
                          <a:effectLst/>
                          <a:latin typeface="微软雅黑" panose="020B0503020204020204" pitchFamily="34" charset="-122"/>
                          <a:ea typeface="微软雅黑" panose="020B0503020204020204" pitchFamily="34" charset="-122"/>
                        </a:rPr>
                        <a:t>解决什么问题</a:t>
                      </a:r>
                    </a:p>
                  </a:txBody>
                  <a:tcPr marL="76200" marR="76200" marT="47625" marB="47625" anchor="ctr">
                    <a:solidFill>
                      <a:srgbClr val="005A84"/>
                    </a:solidFill>
                  </a:tcPr>
                </a:tc>
                <a:tc>
                  <a:txBody>
                    <a:bodyPr/>
                    <a:lstStyle/>
                    <a:p>
                      <a:pPr algn="ctr">
                        <a:lnSpc>
                          <a:spcPct val="138889"/>
                        </a:lnSpc>
                        <a:buNone/>
                      </a:pPr>
                      <a:r>
                        <a:rPr lang="zh-CN" sz="1400" b="1" i="0" dirty="0">
                          <a:solidFill>
                            <a:schemeClr val="bg1"/>
                          </a:solidFill>
                          <a:effectLst/>
                          <a:latin typeface="微软雅黑" panose="020B0503020204020204" pitchFamily="34" charset="-122"/>
                          <a:ea typeface="微软雅黑" panose="020B0503020204020204" pitchFamily="34" charset="-122"/>
                        </a:rPr>
                        <a:t>为什么需要</a:t>
                      </a:r>
                    </a:p>
                  </a:txBody>
                  <a:tcPr marL="76200" marR="76200" marT="47625" marB="47625" anchor="ctr">
                    <a:solidFill>
                      <a:srgbClr val="005A84"/>
                    </a:solidFill>
                  </a:tcPr>
                </a:tc>
                <a:extLst>
                  <a:ext uri="{0D108BD9-81ED-4DB2-BD59-A6C34878D82A}">
                    <a16:rowId xmlns:a16="http://schemas.microsoft.com/office/drawing/2014/main" val="38408021"/>
                  </a:ext>
                </a:extLst>
              </a:tr>
              <a:tr h="468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IC 上下文学习</a:t>
                      </a:r>
                      <a:endParaRPr lang="zh-CN" sz="1400" b="0" i="0" dirty="0">
                        <a:solidFill>
                          <a:srgbClr val="005A84"/>
                        </a:solidFill>
                        <a:effectLst/>
                        <a:latin typeface="微软雅黑" panose="020B0503020204020204" pitchFamily="34" charset="-122"/>
                        <a:ea typeface="微软雅黑" panose="020B0503020204020204" pitchFamily="34" charset="-122"/>
                      </a:endParaRPr>
                    </a:p>
                  </a:txBody>
                  <a:tcPr marR="76200" marT="47625" marB="47625" anchor="ctr">
                    <a:solidFill>
                      <a:srgbClr val="F0F5F6"/>
                    </a:solidFill>
                  </a:tcPr>
                </a:tc>
                <a:tc>
                  <a:txBody>
                    <a:bodyPr/>
                    <a:lstStyle/>
                    <a:p>
                      <a:pPr algn="l">
                        <a:lnSpc>
                          <a:spcPct val="138889"/>
                        </a:lnSpc>
                        <a:buNone/>
                      </a:pPr>
                      <a:r>
                        <a:rPr lang="zh-CN" altLang="en-US" sz="1400" b="0" i="0" dirty="0">
                          <a:solidFill>
                            <a:srgbClr val="0F1115"/>
                          </a:solidFill>
                          <a:effectLst/>
                          <a:latin typeface="微软雅黑" panose="020B0503020204020204" pitchFamily="34" charset="-122"/>
                          <a:ea typeface="微软雅黑" panose="020B0503020204020204" pitchFamily="34" charset="-122"/>
                        </a:rPr>
                        <a:t>从用户自身决策历史中学习偏好</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R="76200" marT="47625" marB="47625" anchor="ctr">
                    <a:solidFill>
                      <a:srgbClr val="F0F5F6"/>
                    </a:solidFill>
                  </a:tcPr>
                </a:tc>
                <a:tc>
                  <a:txBody>
                    <a:bodyPr/>
                    <a:lstStyle/>
                    <a:p>
                      <a:pPr algn="l">
                        <a:lnSpc>
                          <a:spcPct val="138889"/>
                        </a:lnSpc>
                        <a:buNone/>
                      </a:pPr>
                      <a:r>
                        <a:rPr lang="zh-CN" altLang="en-US" sz="1400" b="0" i="0" dirty="0">
                          <a:solidFill>
                            <a:srgbClr val="0F1115"/>
                          </a:solidFill>
                          <a:effectLst/>
                          <a:latin typeface="微软雅黑" panose="020B0503020204020204" pitchFamily="34" charset="-122"/>
                          <a:ea typeface="微软雅黑" panose="020B0503020204020204" pitchFamily="34" charset="-122"/>
                        </a:rPr>
                        <a:t>利用</a:t>
                      </a:r>
                      <a:r>
                        <a:rPr lang="en-US" altLang="zh-CN" sz="1400" b="0" i="0" dirty="0">
                          <a:solidFill>
                            <a:srgbClr val="0F1115"/>
                          </a:solidFill>
                          <a:effectLst/>
                          <a:latin typeface="微软雅黑" panose="020B0503020204020204" pitchFamily="34" charset="-122"/>
                          <a:ea typeface="微软雅黑" panose="020B0503020204020204" pitchFamily="34" charset="-122"/>
                        </a:rPr>
                        <a:t>LLM</a:t>
                      </a:r>
                      <a:r>
                        <a:rPr lang="zh-CN" altLang="en-US" sz="1400" b="0" i="0" dirty="0">
                          <a:solidFill>
                            <a:srgbClr val="0F1115"/>
                          </a:solidFill>
                          <a:effectLst/>
                          <a:latin typeface="微软雅黑" panose="020B0503020204020204" pitchFamily="34" charset="-122"/>
                          <a:ea typeface="微软雅黑" panose="020B0503020204020204" pitchFamily="34" charset="-122"/>
                        </a:rPr>
                        <a:t>推理能力，</a:t>
                      </a:r>
                      <a:r>
                        <a:rPr lang="zh-CN" sz="1400" b="0" i="0" dirty="0">
                          <a:solidFill>
                            <a:srgbClr val="0F1115"/>
                          </a:solidFill>
                          <a:effectLst/>
                          <a:latin typeface="微软雅黑" panose="020B0503020204020204" pitchFamily="34" charset="-122"/>
                          <a:ea typeface="微软雅黑" panose="020B0503020204020204" pitchFamily="34" charset="-122"/>
                        </a:rPr>
                        <a:t>处理新数据类型</a:t>
                      </a:r>
                    </a:p>
                  </a:txBody>
                  <a:tcPr marL="76200" marT="47625" marB="47625" anchor="ctr">
                    <a:solidFill>
                      <a:srgbClr val="F0F5F6"/>
                    </a:solidFill>
                  </a:tcPr>
                </a:tc>
                <a:extLst>
                  <a:ext uri="{0D108BD9-81ED-4DB2-BD59-A6C34878D82A}">
                    <a16:rowId xmlns:a16="http://schemas.microsoft.com/office/drawing/2014/main" val="2633011002"/>
                  </a:ext>
                </a:extLst>
              </a:tr>
              <a:tr h="468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CF 协同过滤</a:t>
                      </a:r>
                      <a:endParaRPr lang="zh-CN" sz="1400" b="0" i="0" dirty="0">
                        <a:solidFill>
                          <a:srgbClr val="005A84"/>
                        </a:solidFill>
                        <a:effectLst/>
                        <a:latin typeface="微软雅黑" panose="020B0503020204020204" pitchFamily="34" charset="-122"/>
                        <a:ea typeface="微软雅黑" panose="020B0503020204020204" pitchFamily="34" charset="-122"/>
                      </a:endParaRPr>
                    </a:p>
                  </a:txBody>
                  <a:tcPr marR="76200" marT="47625" marB="47625" anchor="ctr"/>
                </a:tc>
                <a:tc>
                  <a:txBody>
                    <a:bodyPr/>
                    <a:lstStyle/>
                    <a:p>
                      <a:pPr algn="l">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个人历史稀疏，但相似用户有共性</a:t>
                      </a:r>
                    </a:p>
                  </a:txBody>
                  <a:tcPr marL="76200" marR="76200" marT="47625" marB="47625" anchor="ctr"/>
                </a:tc>
                <a:tc>
                  <a:txBody>
                    <a:bodyPr/>
                    <a:lstStyle/>
                    <a:p>
                      <a:pPr algn="l">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从群体中借经验，补足个人数据不足</a:t>
                      </a:r>
                    </a:p>
                  </a:txBody>
                  <a:tcPr marL="76200" marT="47625" marB="47625" anchor="ctr"/>
                </a:tc>
                <a:extLst>
                  <a:ext uri="{0D108BD9-81ED-4DB2-BD59-A6C34878D82A}">
                    <a16:rowId xmlns:a16="http://schemas.microsoft.com/office/drawing/2014/main" val="84440705"/>
                  </a:ext>
                </a:extLst>
              </a:tr>
              <a:tr h="468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混合模型</a:t>
                      </a:r>
                      <a:endParaRPr lang="zh-CN" sz="1400" b="0" i="0" dirty="0">
                        <a:solidFill>
                          <a:srgbClr val="005A84"/>
                        </a:solidFill>
                        <a:effectLst/>
                        <a:latin typeface="微软雅黑" panose="020B0503020204020204" pitchFamily="34" charset="-122"/>
                        <a:ea typeface="微软雅黑" panose="020B0503020204020204" pitchFamily="34" charset="-122"/>
                      </a:endParaRPr>
                    </a:p>
                  </a:txBody>
                  <a:tcPr marR="76200" marT="47625" marB="47625" anchor="ctr">
                    <a:solidFill>
                      <a:srgbClr val="F0F5F6"/>
                    </a:solidFill>
                  </a:tcPr>
                </a:tc>
                <a:tc>
                  <a:txBody>
                    <a:bodyPr/>
                    <a:lstStyle/>
                    <a:p>
                      <a:pPr algn="l">
                        <a:lnSpc>
                          <a:spcPct val="138889"/>
                        </a:lnSpc>
                        <a:buNone/>
                      </a:pPr>
                      <a:r>
                        <a:rPr lang="en-US" altLang="zh-CN" sz="1400" b="0" i="0" dirty="0">
                          <a:solidFill>
                            <a:srgbClr val="0F1115"/>
                          </a:solidFill>
                          <a:effectLst/>
                          <a:latin typeface="微软雅黑" panose="020B0503020204020204" pitchFamily="34" charset="-122"/>
                          <a:ea typeface="微软雅黑" panose="020B0503020204020204" pitchFamily="34" charset="-122"/>
                        </a:rPr>
                        <a:t>IC</a:t>
                      </a:r>
                      <a:r>
                        <a:rPr lang="zh-CN" altLang="en-US" sz="1400" b="0" i="0" dirty="0">
                          <a:solidFill>
                            <a:srgbClr val="0F1115"/>
                          </a:solidFill>
                          <a:effectLst/>
                          <a:latin typeface="微软雅黑" panose="020B0503020204020204" pitchFamily="34" charset="-122"/>
                          <a:ea typeface="微软雅黑" panose="020B0503020204020204" pitchFamily="34" charset="-122"/>
                        </a:rPr>
                        <a:t>数据少、</a:t>
                      </a:r>
                      <a:r>
                        <a:rPr lang="en-US" altLang="zh-CN" sz="1400" b="0" i="0" dirty="0">
                          <a:solidFill>
                            <a:srgbClr val="0F1115"/>
                          </a:solidFill>
                          <a:effectLst/>
                          <a:latin typeface="微软雅黑" panose="020B0503020204020204" pitchFamily="34" charset="-122"/>
                          <a:ea typeface="微软雅黑" panose="020B0503020204020204" pitchFamily="34" charset="-122"/>
                        </a:rPr>
                        <a:t>CF</a:t>
                      </a:r>
                      <a:r>
                        <a:rPr lang="zh-CN" altLang="en-US" sz="1400" b="0" i="0" dirty="0">
                          <a:solidFill>
                            <a:srgbClr val="0F1115"/>
                          </a:solidFill>
                          <a:effectLst/>
                          <a:latin typeface="微软雅黑" panose="020B0503020204020204" pitchFamily="34" charset="-122"/>
                          <a:ea typeface="微软雅黑" panose="020B0503020204020204" pitchFamily="34" charset="-122"/>
                        </a:rPr>
                        <a:t>无法推理到未见问题</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R="76200" marT="47625" marB="47625" anchor="ctr">
                    <a:solidFill>
                      <a:srgbClr val="F0F5F6"/>
                    </a:solidFill>
                  </a:tcPr>
                </a:tc>
                <a:tc>
                  <a:txBody>
                    <a:bodyPr/>
                    <a:lstStyle/>
                    <a:p>
                      <a:pPr algn="l">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CF </a:t>
                      </a:r>
                      <a:r>
                        <a:rPr lang="zh-CN" altLang="en-US" sz="1400" b="0" i="0" dirty="0">
                          <a:solidFill>
                            <a:srgbClr val="0F1115"/>
                          </a:solidFill>
                          <a:effectLst/>
                          <a:latin typeface="微软雅黑" panose="020B0503020204020204" pitchFamily="34" charset="-122"/>
                          <a:ea typeface="微软雅黑" panose="020B0503020204020204" pitchFamily="34" charset="-122"/>
                        </a:rPr>
                        <a:t>提供参考决策</a:t>
                      </a:r>
                      <a:r>
                        <a:rPr lang="zh-CN" sz="1400" b="0" i="0" dirty="0">
                          <a:solidFill>
                            <a:srgbClr val="0F1115"/>
                          </a:solidFill>
                          <a:effectLst/>
                          <a:latin typeface="微软雅黑" panose="020B0503020204020204" pitchFamily="34" charset="-122"/>
                          <a:ea typeface="微软雅黑" panose="020B0503020204020204" pitchFamily="34" charset="-122"/>
                        </a:rPr>
                        <a:t>，IC</a:t>
                      </a:r>
                      <a:r>
                        <a:rPr lang="zh-CN" altLang="en-US" sz="1400" b="0" i="0" dirty="0">
                          <a:solidFill>
                            <a:srgbClr val="0F1115"/>
                          </a:solidFill>
                          <a:effectLst/>
                          <a:latin typeface="微软雅黑" panose="020B0503020204020204" pitchFamily="34" charset="-122"/>
                          <a:ea typeface="微软雅黑" panose="020B0503020204020204" pitchFamily="34" charset="-122"/>
                        </a:rPr>
                        <a:t> 个性化推理</a:t>
                      </a:r>
                      <a:r>
                        <a:rPr lang="zh-CN" sz="1400" b="0" i="0" dirty="0">
                          <a:solidFill>
                            <a:srgbClr val="0F1115"/>
                          </a:solidFill>
                          <a:effectLst/>
                          <a:latin typeface="微软雅黑" panose="020B0503020204020204" pitchFamily="34" charset="-122"/>
                          <a:ea typeface="微软雅黑" panose="020B0503020204020204" pitchFamily="34" charset="-122"/>
                        </a:rPr>
                        <a:t> </a:t>
                      </a:r>
                    </a:p>
                  </a:txBody>
                  <a:tcPr marL="76200" marT="47625" marB="47625" anchor="ctr">
                    <a:solidFill>
                      <a:srgbClr val="F0F5F6"/>
                    </a:solidFill>
                  </a:tcPr>
                </a:tc>
                <a:extLst>
                  <a:ext uri="{0D108BD9-81ED-4DB2-BD59-A6C34878D82A}">
                    <a16:rowId xmlns:a16="http://schemas.microsoft.com/office/drawing/2014/main" val="3336996530"/>
                  </a:ext>
                </a:extLst>
              </a:tr>
            </a:tbl>
          </a:graphicData>
        </a:graphic>
      </p:graphicFrame>
    </p:spTree>
    <p:extLst>
      <p:ext uri="{BB962C8B-B14F-4D97-AF65-F5344CB8AC3E}">
        <p14:creationId xmlns:p14="http://schemas.microsoft.com/office/powerpoint/2010/main" val="3547891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CE7143CB-07FF-329B-173B-911A050610F2}"/>
            </a:ext>
          </a:extLst>
        </p:cNvPr>
        <p:cNvGrpSpPr/>
        <p:nvPr/>
      </p:nvGrpSpPr>
      <p:grpSpPr>
        <a:xfrm>
          <a:off x="0" y="0"/>
          <a:ext cx="0" cy="0"/>
          <a:chOff x="0" y="0"/>
          <a:chExt cx="0" cy="0"/>
        </a:xfrm>
      </p:grpSpPr>
      <p:grpSp>
        <p:nvGrpSpPr>
          <p:cNvPr id="5" name="Group 5"/>
          <p:cNvGrpSpPr/>
          <p:nvPr/>
        </p:nvGrpSpPr>
        <p:grpSpPr>
          <a:xfrm>
            <a:off x="476250" y="392430"/>
            <a:ext cx="5935599" cy="1012984"/>
            <a:chOff x="476250" y="392430"/>
            <a:chExt cx="5935599"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03</a:t>
              </a:r>
            </a:p>
          </p:txBody>
        </p:sp>
        <p:sp>
          <p:nvSpPr>
            <p:cNvPr id="3" name="TextBox 3"/>
            <p:cNvSpPr txBox="1"/>
            <p:nvPr/>
          </p:nvSpPr>
          <p:spPr>
            <a:xfrm>
              <a:off x="1219200" y="392430"/>
              <a:ext cx="3442811"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方法一：上下文学习 IC</a:t>
              </a:r>
              <a:r>
                <a:rPr lang="zh-CN" altLang="en-US" sz="2100" b="1" dirty="0">
                  <a:solidFill>
                    <a:srgbClr val="202B33"/>
                  </a:solidFill>
                  <a:latin typeface="Arial"/>
                  <a:ea typeface="Microsoft YaHei"/>
                  <a:cs typeface="Arial"/>
                </a:rPr>
                <a:t>（ </a:t>
              </a:r>
              <a:r>
                <a:rPr lang="en-US" altLang="zh-CN" sz="2100" b="1" dirty="0">
                  <a:solidFill>
                    <a:srgbClr val="202B33"/>
                  </a:solidFill>
                  <a:latin typeface="Arial"/>
                  <a:ea typeface="Microsoft YaHei"/>
                  <a:cs typeface="Arial"/>
                </a:rPr>
                <a:t>In-context learning</a:t>
              </a:r>
              <a:r>
                <a:rPr lang="zh-CN" altLang="en-US" sz="2100" b="1" dirty="0">
                  <a:solidFill>
                    <a:srgbClr val="202B33"/>
                  </a:solidFill>
                  <a:latin typeface="Arial"/>
                  <a:ea typeface="Microsoft YaHei"/>
                  <a:cs typeface="Arial"/>
                </a:rPr>
                <a:t>）</a:t>
              </a:r>
              <a:endParaRPr lang="zh-CN" sz="2100" b="1" dirty="0">
                <a:solidFill>
                  <a:srgbClr val="202B33"/>
                </a:solidFill>
                <a:latin typeface="Arial"/>
                <a:ea typeface="Microsoft YaHei"/>
                <a:cs typeface="Arial"/>
              </a:endParaRPr>
            </a:p>
          </p:txBody>
        </p:sp>
        <p:sp>
          <p:nvSpPr>
            <p:cNvPr id="4" name="TextBox 4"/>
            <p:cNvSpPr txBox="1"/>
            <p:nvPr/>
          </p:nvSpPr>
          <p:spPr>
            <a:xfrm>
              <a:off x="476250" y="1019651"/>
              <a:ext cx="5935599"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把“这个人是谁、以前怎么选”放进提示词</a:t>
              </a:r>
            </a:p>
          </p:txBody>
        </p:sp>
      </p:grpSp>
      <p:grpSp>
        <p:nvGrpSpPr>
          <p:cNvPr id="18" name="Group 18"/>
          <p:cNvGrpSpPr/>
          <p:nvPr/>
        </p:nvGrpSpPr>
        <p:grpSpPr>
          <a:xfrm>
            <a:off x="552450" y="1666875"/>
            <a:ext cx="8039100" cy="2324100"/>
            <a:chOff x="552450" y="1666875"/>
            <a:chExt cx="8039100" cy="2324100"/>
          </a:xfrm>
        </p:grpSpPr>
        <p:sp>
          <p:nvSpPr>
            <p:cNvPr id="9" name="Rectangle 9"/>
            <p:cNvSpPr/>
            <p:nvPr/>
          </p:nvSpPr>
          <p:spPr>
            <a:xfrm>
              <a:off x="552450" y="1666875"/>
              <a:ext cx="3686175" cy="2324100"/>
            </a:xfrm>
            <a:prstGeom prst="rect">
              <a:avLst/>
            </a:prstGeom>
            <a:solidFill>
              <a:srgbClr val="F0F5F6"/>
            </a:solidFill>
            <a:ln>
              <a:noFill/>
            </a:ln>
          </p:spPr>
        </p:sp>
        <p:sp>
          <p:nvSpPr>
            <p:cNvPr id="10" name="TextBox 10"/>
            <p:cNvSpPr txBox="1"/>
            <p:nvPr/>
          </p:nvSpPr>
          <p:spPr>
            <a:xfrm>
              <a:off x="704850" y="1829237"/>
              <a:ext cx="1980438"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提示词包含什么</a:t>
              </a:r>
            </a:p>
          </p:txBody>
        </p:sp>
        <p:sp>
          <p:nvSpPr>
            <p:cNvPr id="11" name="TextBox 11"/>
            <p:cNvSpPr txBox="1"/>
            <p:nvPr/>
          </p:nvSpPr>
          <p:spPr>
            <a:xfrm>
              <a:off x="704850" y="2329446"/>
              <a:ext cx="3354800" cy="1018413"/>
            </a:xfrm>
            <a:prstGeom prst="rect">
              <a:avLst/>
            </a:prstGeom>
            <a:noFill/>
            <a:ln>
              <a:noFill/>
            </a:ln>
          </p:spPr>
          <p:txBody>
            <a:bodyPr wrap="none" lIns="0" tIns="0" rIns="0" bIns="0" anchor="t" anchorCtr="0">
              <a:noAutofit/>
            </a:bodyPr>
            <a:lstStyle/>
            <a:p>
              <a:pPr algn="l">
                <a:lnSpc>
                  <a:spcPts val="1998"/>
                </a:lnSpc>
              </a:pPr>
              <a:r>
                <a:rPr lang="zh-CN" sz="1350" dirty="0">
                  <a:solidFill>
                    <a:srgbClr val="202B33"/>
                  </a:solidFill>
                  <a:latin typeface="Arial"/>
                  <a:ea typeface="Microsoft YaHei"/>
                  <a:cs typeface="Arial"/>
                </a:rPr>
                <a:t>角色：权限助手</a:t>
              </a:r>
              <a:br>
                <a:rPr dirty="0"/>
              </a:br>
              <a:r>
                <a:rPr lang="zh-CN" sz="1350" dirty="0">
                  <a:solidFill>
                    <a:srgbClr val="202B33"/>
                  </a:solidFill>
                  <a:latin typeface="Arial"/>
                  <a:ea typeface="Microsoft YaHei"/>
                  <a:cs typeface="Arial"/>
                </a:rPr>
                <a:t>用户：基本资料、AI使用、隐私态度</a:t>
              </a:r>
              <a:br>
                <a:rPr dirty="0"/>
              </a:br>
              <a:r>
                <a:rPr lang="zh-CN" sz="1350" dirty="0">
                  <a:solidFill>
                    <a:srgbClr val="202B33"/>
                  </a:solidFill>
                  <a:latin typeface="Arial"/>
                  <a:ea typeface="Microsoft YaHei"/>
                  <a:cs typeface="Arial"/>
                </a:rPr>
                <a:t>历史：查询 / 工具 / 数据 / 决定</a:t>
              </a:r>
              <a:br>
                <a:rPr dirty="0"/>
              </a:br>
              <a:r>
                <a:rPr lang="zh-CN" sz="1350" dirty="0">
                  <a:solidFill>
                    <a:srgbClr val="202B33"/>
                  </a:solidFill>
                  <a:latin typeface="Arial"/>
                  <a:ea typeface="Microsoft YaHei"/>
                  <a:cs typeface="Arial"/>
                </a:rPr>
                <a:t>当前：要预测的新权限请求</a:t>
              </a:r>
            </a:p>
          </p:txBody>
        </p:sp>
        <p:sp>
          <p:nvSpPr>
            <p:cNvPr id="12" name="Rectangle 12"/>
            <p:cNvSpPr/>
            <p:nvPr/>
          </p:nvSpPr>
          <p:spPr>
            <a:xfrm>
              <a:off x="4581525" y="1666875"/>
              <a:ext cx="4010025" cy="2324100"/>
            </a:xfrm>
            <a:prstGeom prst="rect">
              <a:avLst/>
            </a:prstGeom>
            <a:solidFill>
              <a:srgbClr val="E5F2ED"/>
            </a:solidFill>
            <a:ln>
              <a:noFill/>
            </a:ln>
          </p:spPr>
        </p:sp>
        <p:sp>
          <p:nvSpPr>
            <p:cNvPr id="13" name="TextBox 13"/>
            <p:cNvSpPr txBox="1"/>
            <p:nvPr/>
          </p:nvSpPr>
          <p:spPr>
            <a:xfrm>
              <a:off x="4743450" y="1812608"/>
              <a:ext cx="1158811"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示例</a:t>
              </a:r>
            </a:p>
          </p:txBody>
        </p:sp>
        <p:sp>
          <p:nvSpPr>
            <p:cNvPr id="14" name="TextBox 14"/>
            <p:cNvSpPr txBox="1"/>
            <p:nvPr/>
          </p:nvSpPr>
          <p:spPr>
            <a:xfrm>
              <a:off x="4743450" y="2198846"/>
              <a:ext cx="3329940" cy="807148"/>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当前请求：读取上一年的报税资料</a:t>
              </a:r>
              <a:br>
                <a:rPr dirty="0"/>
              </a:br>
              <a:r>
                <a:rPr lang="zh-CN" sz="1420" dirty="0">
                  <a:solidFill>
                    <a:srgbClr val="202B33"/>
                  </a:solidFill>
                  <a:latin typeface="Arial"/>
                  <a:ea typeface="Microsoft YaHei"/>
                  <a:cs typeface="Arial"/>
                </a:rPr>
                <a:t>工具：税务管理</a:t>
              </a:r>
              <a:br>
                <a:rPr dirty="0"/>
              </a:br>
              <a:r>
                <a:rPr lang="zh-CN" sz="1420" dirty="0">
                  <a:solidFill>
                    <a:srgbClr val="202B33"/>
                  </a:solidFill>
                  <a:latin typeface="Arial"/>
                  <a:ea typeface="Microsoft YaHei"/>
                  <a:cs typeface="Arial"/>
                </a:rPr>
                <a:t>数据：社会安全号码（SSN）</a:t>
              </a:r>
            </a:p>
          </p:txBody>
        </p:sp>
        <p:sp>
          <p:nvSpPr>
            <p:cNvPr id="15" name="Line 15"/>
            <p:cNvSpPr/>
            <p:nvPr/>
          </p:nvSpPr>
          <p:spPr>
            <a:xfrm>
              <a:off x="4743450" y="3152775"/>
              <a:ext cx="3629025" cy="9525"/>
            </a:xfrm>
            <a:custGeom>
              <a:avLst/>
              <a:gdLst/>
              <a:ahLst/>
              <a:cxnLst/>
              <a:rect l="l" t="t" r="r" b="b"/>
              <a:pathLst>
                <a:path w="3629025" h="9525">
                  <a:moveTo>
                    <a:pt x="0" y="0"/>
                  </a:moveTo>
                  <a:lnTo>
                    <a:pt x="3629025" y="0"/>
                  </a:lnTo>
                </a:path>
              </a:pathLst>
            </a:custGeom>
            <a:noFill/>
            <a:ln w="13335">
              <a:solidFill>
                <a:srgbClr val="CFDBDF"/>
              </a:solidFill>
            </a:ln>
          </p:spPr>
        </p:sp>
        <p:sp>
          <p:nvSpPr>
            <p:cNvPr id="16" name="TextBox 16"/>
            <p:cNvSpPr txBox="1"/>
            <p:nvPr/>
          </p:nvSpPr>
          <p:spPr>
            <a:xfrm>
              <a:off x="4743450" y="3415332"/>
              <a:ext cx="3274124"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结合该用户历史 → 预测允许或拒绝</a:t>
              </a:r>
            </a:p>
          </p:txBody>
        </p:sp>
      </p:grpSp>
      <p:grpSp>
        <p:nvGrpSpPr>
          <p:cNvPr id="23" name="Group 23"/>
          <p:cNvGrpSpPr/>
          <p:nvPr/>
        </p:nvGrpSpPr>
        <p:grpSpPr>
          <a:xfrm>
            <a:off x="476250" y="4137756"/>
            <a:ext cx="8191500" cy="596169"/>
            <a:chOff x="476250" y="4229100"/>
            <a:chExt cx="8191500" cy="504825"/>
          </a:xfrm>
        </p:grpSpPr>
        <p:sp>
          <p:nvSpPr>
            <p:cNvPr id="19" name="Rectangle 19"/>
            <p:cNvSpPr/>
            <p:nvPr/>
          </p:nvSpPr>
          <p:spPr>
            <a:xfrm>
              <a:off x="476250" y="4229100"/>
              <a:ext cx="8191500" cy="504825"/>
            </a:xfrm>
            <a:prstGeom prst="rect">
              <a:avLst/>
            </a:prstGeom>
            <a:solidFill>
              <a:srgbClr val="F0F5F6"/>
            </a:solidFill>
            <a:ln>
              <a:noFill/>
            </a:ln>
          </p:spPr>
        </p:sp>
        <p:sp>
          <p:nvSpPr>
            <p:cNvPr id="20" name="Rectangle 20"/>
            <p:cNvSpPr/>
            <p:nvPr/>
          </p:nvSpPr>
          <p:spPr>
            <a:xfrm>
              <a:off x="476250" y="4229100"/>
              <a:ext cx="38100" cy="504825"/>
            </a:xfrm>
            <a:prstGeom prst="rect">
              <a:avLst/>
            </a:prstGeom>
            <a:solidFill>
              <a:srgbClr val="16735C"/>
            </a:solidFill>
            <a:ln>
              <a:noFill/>
            </a:ln>
          </p:spPr>
        </p:sp>
        <p:sp>
          <p:nvSpPr>
            <p:cNvPr id="21" name="TextBox 21"/>
            <p:cNvSpPr txBox="1"/>
            <p:nvPr/>
          </p:nvSpPr>
          <p:spPr>
            <a:xfrm>
              <a:off x="609600" y="4368296"/>
              <a:ext cx="5237512"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IC：</a:t>
              </a:r>
              <a:r>
                <a:rPr lang="zh-CN" altLang="en-US" sz="1420" b="1" dirty="0">
                  <a:solidFill>
                    <a:srgbClr val="16735C"/>
                  </a:solidFill>
                  <a:latin typeface="Arial"/>
                  <a:ea typeface="Microsoft YaHei"/>
                  <a:cs typeface="Arial"/>
                </a:rPr>
                <a:t>将决策历史</a:t>
              </a:r>
              <a:r>
                <a:rPr lang="zh-CN" sz="1420" b="1" dirty="0">
                  <a:solidFill>
                    <a:srgbClr val="16735C"/>
                  </a:solidFill>
                  <a:latin typeface="Arial"/>
                  <a:ea typeface="Microsoft YaHei"/>
                  <a:cs typeface="Arial"/>
                </a:rPr>
                <a:t>示例放进上下文</a:t>
              </a:r>
              <a:r>
                <a:rPr lang="zh-CN" altLang="en-US" sz="1420" b="1" dirty="0">
                  <a:solidFill>
                    <a:srgbClr val="16735C"/>
                  </a:solidFill>
                  <a:ea typeface="Microsoft YaHei"/>
                </a:rPr>
                <a:t>。</a:t>
              </a:r>
              <a:endParaRPr lang="zh-CN" sz="1420" b="1" dirty="0">
                <a:solidFill>
                  <a:srgbClr val="16735C"/>
                </a:solidFill>
                <a:latin typeface="Arial"/>
                <a:ea typeface="Microsoft YaHei"/>
                <a:cs typeface="Arial"/>
              </a:endParaRPr>
            </a:p>
          </p:txBody>
        </p:sp>
      </p:grpSp>
    </p:spTree>
    <p:extLst>
      <p:ext uri="{BB962C8B-B14F-4D97-AF65-F5344CB8AC3E}">
        <p14:creationId xmlns:p14="http://schemas.microsoft.com/office/powerpoint/2010/main" val="3547891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27C9C870-121C-B327-FCDA-387F97EAE4F6}"/>
            </a:ext>
          </a:extLst>
        </p:cNvPr>
        <p:cNvGrpSpPr/>
        <p:nvPr/>
      </p:nvGrpSpPr>
      <p:grpSpPr>
        <a:xfrm>
          <a:off x="0" y="0"/>
          <a:ext cx="0" cy="0"/>
          <a:chOff x="0" y="0"/>
          <a:chExt cx="0" cy="0"/>
        </a:xfrm>
      </p:grpSpPr>
      <p:grpSp>
        <p:nvGrpSpPr>
          <p:cNvPr id="5" name="Group 5"/>
          <p:cNvGrpSpPr/>
          <p:nvPr/>
        </p:nvGrpSpPr>
        <p:grpSpPr>
          <a:xfrm>
            <a:off x="476250" y="392430"/>
            <a:ext cx="5357908" cy="1012984"/>
            <a:chOff x="476250" y="392430"/>
            <a:chExt cx="5357908"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03</a:t>
              </a:r>
            </a:p>
          </p:txBody>
        </p:sp>
        <p:sp>
          <p:nvSpPr>
            <p:cNvPr id="3" name="TextBox 3"/>
            <p:cNvSpPr txBox="1"/>
            <p:nvPr/>
          </p:nvSpPr>
          <p:spPr>
            <a:xfrm>
              <a:off x="1219200" y="392430"/>
              <a:ext cx="3200210"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方法二：协同过滤 CF</a:t>
              </a:r>
              <a:r>
                <a:rPr lang="zh-CN" altLang="en-US" sz="2100" b="1" dirty="0">
                  <a:solidFill>
                    <a:srgbClr val="202B33"/>
                  </a:solidFill>
                  <a:latin typeface="Arial"/>
                  <a:ea typeface="Microsoft YaHei"/>
                  <a:cs typeface="Arial"/>
                </a:rPr>
                <a:t>（</a:t>
              </a:r>
              <a:r>
                <a:rPr lang="en-US" altLang="zh-CN" sz="2100" b="1" dirty="0">
                  <a:solidFill>
                    <a:srgbClr val="202B33"/>
                  </a:solidFill>
                  <a:latin typeface="Arial"/>
                  <a:ea typeface="Microsoft YaHei"/>
                  <a:cs typeface="Arial"/>
                </a:rPr>
                <a:t>Collaborative filtering</a:t>
              </a:r>
              <a:r>
                <a:rPr lang="zh-CN" altLang="en-US" sz="2100" b="1" dirty="0">
                  <a:solidFill>
                    <a:srgbClr val="202B33"/>
                  </a:solidFill>
                  <a:latin typeface="Arial"/>
                  <a:ea typeface="Microsoft YaHei"/>
                  <a:cs typeface="Arial"/>
                </a:rPr>
                <a:t>）</a:t>
              </a:r>
              <a:endParaRPr lang="zh-CN" sz="2100" b="1" dirty="0">
                <a:solidFill>
                  <a:srgbClr val="202B33"/>
                </a:solidFill>
                <a:latin typeface="Arial"/>
                <a:ea typeface="Microsoft YaHei"/>
                <a:cs typeface="Arial"/>
              </a:endParaRPr>
            </a:p>
          </p:txBody>
        </p:sp>
        <p:sp>
          <p:nvSpPr>
            <p:cNvPr id="4" name="TextBox 4"/>
            <p:cNvSpPr txBox="1"/>
            <p:nvPr/>
          </p:nvSpPr>
          <p:spPr>
            <a:xfrm>
              <a:off x="476250" y="1019651"/>
              <a:ext cx="5357908"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从用户—权限</a:t>
              </a:r>
              <a:r>
                <a:rPr lang="zh-CN" altLang="en-US" sz="2020" b="1" dirty="0">
                  <a:solidFill>
                    <a:srgbClr val="005A84"/>
                  </a:solidFill>
                  <a:ea typeface="Microsoft YaHei"/>
                </a:rPr>
                <a:t>决策</a:t>
              </a:r>
              <a:r>
                <a:rPr lang="zh-CN" sz="2020" b="1" dirty="0">
                  <a:solidFill>
                    <a:srgbClr val="005A84"/>
                  </a:solidFill>
                  <a:latin typeface="Arial"/>
                  <a:ea typeface="Microsoft YaHei"/>
                  <a:cs typeface="Arial"/>
                </a:rPr>
                <a:t>关系中学习相似偏好</a:t>
              </a:r>
            </a:p>
          </p:txBody>
        </p:sp>
      </p:grpSp>
      <p:grpSp>
        <p:nvGrpSpPr>
          <p:cNvPr id="30" name="Group 30"/>
          <p:cNvGrpSpPr/>
          <p:nvPr/>
        </p:nvGrpSpPr>
        <p:grpSpPr>
          <a:xfrm>
            <a:off x="552450" y="1612582"/>
            <a:ext cx="8039100" cy="2149793"/>
            <a:chOff x="552450" y="1612582"/>
            <a:chExt cx="8039100" cy="2149793"/>
          </a:xfrm>
        </p:grpSpPr>
        <p:sp>
          <p:nvSpPr>
            <p:cNvPr id="9" name="TextBox 9"/>
            <p:cNvSpPr txBox="1"/>
            <p:nvPr/>
          </p:nvSpPr>
          <p:spPr>
            <a:xfrm>
              <a:off x="581025" y="1612582"/>
              <a:ext cx="2139506"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观察到的偏好矩阵</a:t>
              </a:r>
            </a:p>
          </p:txBody>
        </p:sp>
        <p:sp>
          <p:nvSpPr>
            <p:cNvPr id="10" name="Rectangle 10"/>
            <p:cNvSpPr/>
            <p:nvPr/>
          </p:nvSpPr>
          <p:spPr>
            <a:xfrm>
              <a:off x="552450" y="2019300"/>
              <a:ext cx="3429000" cy="342900"/>
            </a:xfrm>
            <a:prstGeom prst="rect">
              <a:avLst/>
            </a:prstGeom>
            <a:solidFill>
              <a:srgbClr val="005A84"/>
            </a:solidFill>
            <a:ln>
              <a:noFill/>
            </a:ln>
          </p:spPr>
        </p:sp>
        <p:sp>
          <p:nvSpPr>
            <p:cNvPr id="11" name="TextBox 11"/>
            <p:cNvSpPr txBox="1"/>
            <p:nvPr/>
          </p:nvSpPr>
          <p:spPr>
            <a:xfrm>
              <a:off x="666750" y="2103596"/>
              <a:ext cx="577310" cy="271462"/>
            </a:xfrm>
            <a:prstGeom prst="rect">
              <a:avLst/>
            </a:prstGeom>
            <a:noFill/>
            <a:ln>
              <a:noFill/>
            </a:ln>
          </p:spPr>
          <p:txBody>
            <a:bodyPr wrap="none" lIns="0" tIns="0" rIns="0" bIns="0" anchor="t" anchorCtr="0">
              <a:noAutofit/>
            </a:bodyPr>
            <a:lstStyle/>
            <a:p>
              <a:pPr algn="l"/>
              <a:r>
                <a:rPr lang="zh-CN" sz="1420" b="1" dirty="0">
                  <a:solidFill>
                    <a:srgbClr val="FFFFFF"/>
                  </a:solidFill>
                  <a:latin typeface="Arial"/>
                  <a:ea typeface="Microsoft YaHei"/>
                  <a:cs typeface="Arial"/>
                </a:rPr>
                <a:t>用户</a:t>
              </a:r>
            </a:p>
          </p:txBody>
        </p:sp>
        <p:sp>
          <p:nvSpPr>
            <p:cNvPr id="12" name="TextBox 12"/>
            <p:cNvSpPr txBox="1"/>
            <p:nvPr/>
          </p:nvSpPr>
          <p:spPr>
            <a:xfrm>
              <a:off x="1714500" y="2103596"/>
              <a:ext cx="736568" cy="271462"/>
            </a:xfrm>
            <a:prstGeom prst="rect">
              <a:avLst/>
            </a:prstGeom>
            <a:noFill/>
            <a:ln>
              <a:noFill/>
            </a:ln>
          </p:spPr>
          <p:txBody>
            <a:bodyPr wrap="none" lIns="0" tIns="0" rIns="0" bIns="0" anchor="t" anchorCtr="0">
              <a:noAutofit/>
            </a:bodyPr>
            <a:lstStyle/>
            <a:p>
              <a:pPr algn="l"/>
              <a:r>
                <a:rPr lang="zh-CN" sz="1420" b="1" dirty="0">
                  <a:solidFill>
                    <a:srgbClr val="FFFFFF"/>
                  </a:solidFill>
                  <a:latin typeface="Arial"/>
                  <a:ea typeface="Microsoft YaHei"/>
                  <a:cs typeface="Arial"/>
                </a:rPr>
                <a:t>请求A</a:t>
              </a:r>
            </a:p>
          </p:txBody>
        </p:sp>
        <p:sp>
          <p:nvSpPr>
            <p:cNvPr id="13" name="TextBox 13"/>
            <p:cNvSpPr txBox="1"/>
            <p:nvPr/>
          </p:nvSpPr>
          <p:spPr>
            <a:xfrm>
              <a:off x="2905125" y="2103596"/>
              <a:ext cx="722090" cy="271462"/>
            </a:xfrm>
            <a:prstGeom prst="rect">
              <a:avLst/>
            </a:prstGeom>
            <a:noFill/>
            <a:ln>
              <a:noFill/>
            </a:ln>
          </p:spPr>
          <p:txBody>
            <a:bodyPr wrap="none" lIns="0" tIns="0" rIns="0" bIns="0" anchor="t" anchorCtr="0">
              <a:noAutofit/>
            </a:bodyPr>
            <a:lstStyle/>
            <a:p>
              <a:pPr algn="l"/>
              <a:r>
                <a:rPr lang="zh-CN" sz="1420" b="1" dirty="0">
                  <a:solidFill>
                    <a:srgbClr val="FFFFFF"/>
                  </a:solidFill>
                  <a:latin typeface="Arial"/>
                  <a:ea typeface="Microsoft YaHei"/>
                  <a:cs typeface="Arial"/>
                </a:rPr>
                <a:t>请求B</a:t>
              </a:r>
            </a:p>
          </p:txBody>
        </p:sp>
        <p:sp>
          <p:nvSpPr>
            <p:cNvPr id="14" name="Rectangle 14"/>
            <p:cNvSpPr/>
            <p:nvPr/>
          </p:nvSpPr>
          <p:spPr>
            <a:xfrm>
              <a:off x="552450" y="2362200"/>
              <a:ext cx="3429000" cy="466725"/>
            </a:xfrm>
            <a:prstGeom prst="rect">
              <a:avLst/>
            </a:prstGeom>
            <a:solidFill>
              <a:srgbClr val="F0F5F6"/>
            </a:solidFill>
            <a:ln>
              <a:noFill/>
            </a:ln>
          </p:spPr>
        </p:sp>
        <p:sp>
          <p:nvSpPr>
            <p:cNvPr id="15" name="TextBox 15"/>
            <p:cNvSpPr txBox="1"/>
            <p:nvPr/>
          </p:nvSpPr>
          <p:spPr>
            <a:xfrm>
              <a:off x="666750" y="2511742"/>
              <a:ext cx="789051" cy="271462"/>
            </a:xfrm>
            <a:prstGeom prst="rect">
              <a:avLst/>
            </a:prstGeom>
            <a:noFill/>
            <a:ln>
              <a:noFill/>
            </a:ln>
          </p:spPr>
          <p:txBody>
            <a:bodyPr wrap="none" lIns="0" tIns="0" rIns="0" bIns="0" anchor="t" anchorCtr="0">
              <a:noAutofit/>
            </a:bodyPr>
            <a:lstStyle/>
            <a:p>
              <a:pPr algn="l"/>
              <a:r>
                <a:rPr lang="zh-CN" sz="1420" b="1" dirty="0">
                  <a:solidFill>
                    <a:srgbClr val="005A84"/>
                  </a:solidFill>
                  <a:latin typeface="Arial"/>
                  <a:ea typeface="Microsoft YaHei"/>
                  <a:cs typeface="Arial"/>
                </a:rPr>
                <a:t>用户甲</a:t>
              </a:r>
            </a:p>
          </p:txBody>
        </p:sp>
        <p:sp>
          <p:nvSpPr>
            <p:cNvPr id="16" name="TextBox 16"/>
            <p:cNvSpPr txBox="1"/>
            <p:nvPr/>
          </p:nvSpPr>
          <p:spPr>
            <a:xfrm>
              <a:off x="1714500" y="2511742"/>
              <a:ext cx="577310"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允许</a:t>
              </a:r>
            </a:p>
          </p:txBody>
        </p:sp>
        <p:sp>
          <p:nvSpPr>
            <p:cNvPr id="17" name="TextBox 17"/>
            <p:cNvSpPr txBox="1"/>
            <p:nvPr/>
          </p:nvSpPr>
          <p:spPr>
            <a:xfrm>
              <a:off x="2905125" y="2511742"/>
              <a:ext cx="577310"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拒绝</a:t>
              </a:r>
            </a:p>
          </p:txBody>
        </p:sp>
        <p:sp>
          <p:nvSpPr>
            <p:cNvPr id="18" name="TextBox 18"/>
            <p:cNvSpPr txBox="1"/>
            <p:nvPr/>
          </p:nvSpPr>
          <p:spPr>
            <a:xfrm>
              <a:off x="666750" y="2978468"/>
              <a:ext cx="789051" cy="271462"/>
            </a:xfrm>
            <a:prstGeom prst="rect">
              <a:avLst/>
            </a:prstGeom>
            <a:noFill/>
            <a:ln>
              <a:noFill/>
            </a:ln>
          </p:spPr>
          <p:txBody>
            <a:bodyPr wrap="none" lIns="0" tIns="0" rIns="0" bIns="0" anchor="t" anchorCtr="0">
              <a:noAutofit/>
            </a:bodyPr>
            <a:lstStyle/>
            <a:p>
              <a:pPr algn="l"/>
              <a:r>
                <a:rPr lang="zh-CN" sz="1420" b="1" dirty="0">
                  <a:solidFill>
                    <a:srgbClr val="005A84"/>
                  </a:solidFill>
                  <a:latin typeface="Arial"/>
                  <a:ea typeface="Microsoft YaHei"/>
                  <a:cs typeface="Arial"/>
                </a:rPr>
                <a:t>用户乙</a:t>
              </a:r>
            </a:p>
          </p:txBody>
        </p:sp>
        <p:sp>
          <p:nvSpPr>
            <p:cNvPr id="19" name="TextBox 19"/>
            <p:cNvSpPr txBox="1"/>
            <p:nvPr/>
          </p:nvSpPr>
          <p:spPr>
            <a:xfrm>
              <a:off x="1714500" y="2978468"/>
              <a:ext cx="577310"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允许</a:t>
              </a:r>
            </a:p>
          </p:txBody>
        </p:sp>
        <p:sp>
          <p:nvSpPr>
            <p:cNvPr id="20" name="TextBox 20"/>
            <p:cNvSpPr txBox="1"/>
            <p:nvPr/>
          </p:nvSpPr>
          <p:spPr>
            <a:xfrm>
              <a:off x="2905125" y="2978468"/>
              <a:ext cx="256032" cy="271462"/>
            </a:xfrm>
            <a:prstGeom prst="rect">
              <a:avLst/>
            </a:prstGeom>
            <a:noFill/>
            <a:ln>
              <a:noFill/>
            </a:ln>
          </p:spPr>
          <p:txBody>
            <a:bodyPr wrap="none" lIns="0" tIns="0" rIns="0" bIns="0" anchor="t" anchorCtr="0">
              <a:noAutofit/>
            </a:bodyPr>
            <a:lstStyle/>
            <a:p>
              <a:pPr algn="l"/>
              <a:r>
                <a:rPr lang="en-US" sz="1420" dirty="0">
                  <a:solidFill>
                    <a:srgbClr val="202B33"/>
                  </a:solidFill>
                  <a:latin typeface="Arial"/>
                  <a:ea typeface="Arial"/>
                  <a:cs typeface="Arial"/>
                </a:rPr>
                <a:t>?</a:t>
              </a:r>
            </a:p>
          </p:txBody>
        </p:sp>
        <p:sp>
          <p:nvSpPr>
            <p:cNvPr id="21" name="Rectangle 21"/>
            <p:cNvSpPr/>
            <p:nvPr/>
          </p:nvSpPr>
          <p:spPr>
            <a:xfrm>
              <a:off x="552450" y="3295650"/>
              <a:ext cx="3429000" cy="466725"/>
            </a:xfrm>
            <a:prstGeom prst="rect">
              <a:avLst/>
            </a:prstGeom>
            <a:solidFill>
              <a:srgbClr val="F0F5F6"/>
            </a:solidFill>
            <a:ln>
              <a:noFill/>
            </a:ln>
          </p:spPr>
        </p:sp>
        <p:sp>
          <p:nvSpPr>
            <p:cNvPr id="22" name="TextBox 22"/>
            <p:cNvSpPr txBox="1"/>
            <p:nvPr/>
          </p:nvSpPr>
          <p:spPr>
            <a:xfrm>
              <a:off x="666750" y="3445192"/>
              <a:ext cx="789051" cy="271462"/>
            </a:xfrm>
            <a:prstGeom prst="rect">
              <a:avLst/>
            </a:prstGeom>
            <a:noFill/>
            <a:ln>
              <a:noFill/>
            </a:ln>
          </p:spPr>
          <p:txBody>
            <a:bodyPr wrap="none" lIns="0" tIns="0" rIns="0" bIns="0" anchor="t" anchorCtr="0">
              <a:noAutofit/>
            </a:bodyPr>
            <a:lstStyle/>
            <a:p>
              <a:pPr algn="l"/>
              <a:r>
                <a:rPr lang="zh-CN" sz="1420" b="1" dirty="0">
                  <a:solidFill>
                    <a:srgbClr val="005A84"/>
                  </a:solidFill>
                  <a:latin typeface="Arial"/>
                  <a:ea typeface="Microsoft YaHei"/>
                  <a:cs typeface="Arial"/>
                </a:rPr>
                <a:t>用户丙</a:t>
              </a:r>
            </a:p>
          </p:txBody>
        </p:sp>
        <p:sp>
          <p:nvSpPr>
            <p:cNvPr id="23" name="TextBox 23"/>
            <p:cNvSpPr txBox="1"/>
            <p:nvPr/>
          </p:nvSpPr>
          <p:spPr>
            <a:xfrm>
              <a:off x="1714500" y="3445192"/>
              <a:ext cx="577310"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拒绝</a:t>
              </a:r>
            </a:p>
          </p:txBody>
        </p:sp>
        <p:sp>
          <p:nvSpPr>
            <p:cNvPr id="24" name="TextBox 24"/>
            <p:cNvSpPr txBox="1"/>
            <p:nvPr/>
          </p:nvSpPr>
          <p:spPr>
            <a:xfrm>
              <a:off x="2905125" y="3445192"/>
              <a:ext cx="577310"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允许</a:t>
              </a:r>
            </a:p>
          </p:txBody>
        </p:sp>
        <p:sp>
          <p:nvSpPr>
            <p:cNvPr id="25" name="TextBox 25"/>
            <p:cNvSpPr txBox="1"/>
            <p:nvPr/>
          </p:nvSpPr>
          <p:spPr>
            <a:xfrm>
              <a:off x="2944749" y="1770749"/>
              <a:ext cx="2949702" cy="228600"/>
            </a:xfrm>
            <a:prstGeom prst="rect">
              <a:avLst/>
            </a:prstGeom>
            <a:noFill/>
            <a:ln>
              <a:noFill/>
            </a:ln>
          </p:spPr>
          <p:txBody>
            <a:bodyPr wrap="none" lIns="0" tIns="0" rIns="0" bIns="0" anchor="t" anchorCtr="0">
              <a:noAutofit/>
            </a:bodyPr>
            <a:lstStyle/>
            <a:p>
              <a:pPr algn="l"/>
              <a:r>
                <a:rPr lang="zh-CN" sz="1200" dirty="0">
                  <a:solidFill>
                    <a:srgbClr val="5C6B73"/>
                  </a:solidFill>
                  <a:latin typeface="Arial"/>
                  <a:ea typeface="Microsoft YaHei"/>
                  <a:cs typeface="Arial"/>
                </a:rPr>
                <a:t>? = 尚未观察到</a:t>
              </a:r>
            </a:p>
          </p:txBody>
        </p:sp>
        <p:sp>
          <p:nvSpPr>
            <p:cNvPr id="26" name="Rectangle 26"/>
            <p:cNvSpPr/>
            <p:nvPr/>
          </p:nvSpPr>
          <p:spPr>
            <a:xfrm>
              <a:off x="4552950" y="1876425"/>
              <a:ext cx="4038600" cy="1762125"/>
            </a:xfrm>
            <a:prstGeom prst="rect">
              <a:avLst/>
            </a:prstGeom>
            <a:solidFill>
              <a:srgbClr val="E5F2ED"/>
            </a:solidFill>
            <a:ln>
              <a:noFill/>
            </a:ln>
          </p:spPr>
        </p:sp>
        <p:sp>
          <p:nvSpPr>
            <p:cNvPr id="27" name="TextBox 27"/>
            <p:cNvSpPr txBox="1"/>
            <p:nvPr/>
          </p:nvSpPr>
          <p:spPr>
            <a:xfrm>
              <a:off x="4705350" y="1995011"/>
              <a:ext cx="3480816"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LightGCN：从邻居聚合信息</a:t>
              </a:r>
            </a:p>
          </p:txBody>
        </p:sp>
        <p:sp>
          <p:nvSpPr>
            <p:cNvPr id="28" name="TextBox 28"/>
            <p:cNvSpPr txBox="1"/>
            <p:nvPr/>
          </p:nvSpPr>
          <p:spPr>
            <a:xfrm>
              <a:off x="4705350" y="2462799"/>
              <a:ext cx="3414236" cy="849630"/>
            </a:xfrm>
            <a:prstGeom prst="rect">
              <a:avLst/>
            </a:prstGeom>
            <a:noFill/>
            <a:ln>
              <a:noFill/>
            </a:ln>
          </p:spPr>
          <p:txBody>
            <a:bodyPr wrap="none" lIns="0" tIns="0" rIns="0" bIns="0" anchor="t" anchorCtr="0">
              <a:noAutofit/>
            </a:bodyPr>
            <a:lstStyle/>
            <a:p>
              <a:pPr algn="l">
                <a:lnSpc>
                  <a:spcPts val="2220"/>
                </a:lnSpc>
              </a:pPr>
              <a:r>
                <a:rPr lang="zh-CN" sz="1500" dirty="0">
                  <a:solidFill>
                    <a:srgbClr val="202B33"/>
                  </a:solidFill>
                  <a:latin typeface="Arial"/>
                  <a:ea typeface="Microsoft YaHei"/>
                  <a:cs typeface="Arial"/>
                </a:rPr>
                <a:t>用户与情境化请求形成关系图</a:t>
              </a:r>
              <a:br>
                <a:rPr dirty="0"/>
              </a:br>
              <a:r>
                <a:rPr lang="zh-CN" sz="1500" dirty="0">
                  <a:solidFill>
                    <a:srgbClr val="202B33"/>
                  </a:solidFill>
                  <a:latin typeface="Arial"/>
                  <a:ea typeface="Microsoft YaHei"/>
                  <a:cs typeface="Arial"/>
                </a:rPr>
                <a:t>聚合邻居</a:t>
              </a:r>
              <a:r>
                <a:rPr lang="zh-CN" altLang="en-US" sz="1500" dirty="0">
                  <a:solidFill>
                    <a:srgbClr val="202B33"/>
                  </a:solidFill>
                  <a:latin typeface="Arial"/>
                  <a:ea typeface="Microsoft YaHei"/>
                  <a:cs typeface="Arial"/>
                </a:rPr>
                <a:t>，</a:t>
              </a:r>
              <a:r>
                <a:rPr lang="zh-CN" altLang="en-US" sz="1500" dirty="0">
                  <a:solidFill>
                    <a:srgbClr val="202B33"/>
                  </a:solidFill>
                  <a:ea typeface="Microsoft YaHei"/>
                </a:rPr>
                <a:t>学习</a:t>
              </a:r>
              <a:r>
                <a:rPr lang="zh-CN" sz="1500" dirty="0">
                  <a:solidFill>
                    <a:srgbClr val="202B33"/>
                  </a:solidFill>
                  <a:latin typeface="Arial"/>
                  <a:ea typeface="Microsoft YaHei"/>
                  <a:cs typeface="Arial"/>
                </a:rPr>
                <a:t>向量表示</a:t>
              </a:r>
              <a:br>
                <a:rPr dirty="0"/>
              </a:br>
              <a:r>
                <a:rPr lang="zh-CN" sz="1500" dirty="0">
                  <a:solidFill>
                    <a:srgbClr val="202B33"/>
                  </a:solidFill>
                  <a:latin typeface="Arial"/>
                  <a:ea typeface="Microsoft YaHei"/>
                  <a:cs typeface="Arial"/>
                </a:rPr>
                <a:t>用户向量与请求向量匹配</a:t>
              </a:r>
              <a:r>
                <a:rPr lang="zh-CN" altLang="en-US" sz="1500" dirty="0">
                  <a:solidFill>
                    <a:srgbClr val="202B33"/>
                  </a:solidFill>
                  <a:latin typeface="Arial"/>
                  <a:ea typeface="Microsoft YaHei"/>
                  <a:cs typeface="Arial"/>
                </a:rPr>
                <a:t>，计算标签与置信度</a:t>
              </a:r>
              <a:endParaRPr lang="zh-CN" sz="1500" dirty="0">
                <a:solidFill>
                  <a:srgbClr val="202B33"/>
                </a:solidFill>
                <a:latin typeface="Arial"/>
                <a:ea typeface="Microsoft YaHei"/>
                <a:cs typeface="Arial"/>
              </a:endParaRPr>
            </a:p>
          </p:txBody>
        </p:sp>
        <p:sp>
          <p:nvSpPr>
            <p:cNvPr id="29" name="Line 29"/>
            <p:cNvSpPr/>
            <p:nvPr/>
          </p:nvSpPr>
          <p:spPr>
            <a:xfrm>
              <a:off x="4057650" y="2705100"/>
              <a:ext cx="390525" cy="1"/>
            </a:xfrm>
            <a:prstGeom prst="line">
              <a:avLst/>
            </a:prstGeom>
            <a:noFill/>
            <a:ln w="19050">
              <a:solidFill>
                <a:srgbClr val="16735C"/>
              </a:solidFill>
              <a:tailEnd type="triangle" w="lg" len="lg"/>
            </a:ln>
          </p:spPr>
        </p:sp>
      </p:grpSp>
      <p:grpSp>
        <p:nvGrpSpPr>
          <p:cNvPr id="34" name="Group 34"/>
          <p:cNvGrpSpPr/>
          <p:nvPr/>
        </p:nvGrpSpPr>
        <p:grpSpPr>
          <a:xfrm>
            <a:off x="476250" y="4093423"/>
            <a:ext cx="8191500" cy="541302"/>
            <a:chOff x="476250" y="4229100"/>
            <a:chExt cx="8191500" cy="504825"/>
          </a:xfrm>
        </p:grpSpPr>
        <p:sp>
          <p:nvSpPr>
            <p:cNvPr id="31" name="Rectangle 31"/>
            <p:cNvSpPr/>
            <p:nvPr/>
          </p:nvSpPr>
          <p:spPr>
            <a:xfrm>
              <a:off x="476250" y="4229100"/>
              <a:ext cx="8191500" cy="504825"/>
            </a:xfrm>
            <a:prstGeom prst="rect">
              <a:avLst/>
            </a:prstGeom>
            <a:solidFill>
              <a:srgbClr val="F0F5F6"/>
            </a:solidFill>
            <a:ln>
              <a:noFill/>
            </a:ln>
          </p:spPr>
        </p:sp>
        <p:sp>
          <p:nvSpPr>
            <p:cNvPr id="32" name="Rectangle 32"/>
            <p:cNvSpPr/>
            <p:nvPr/>
          </p:nvSpPr>
          <p:spPr>
            <a:xfrm>
              <a:off x="476250" y="4229100"/>
              <a:ext cx="38100" cy="504825"/>
            </a:xfrm>
            <a:prstGeom prst="rect">
              <a:avLst/>
            </a:prstGeom>
            <a:solidFill>
              <a:srgbClr val="16735C"/>
            </a:solidFill>
            <a:ln>
              <a:noFill/>
            </a:ln>
          </p:spPr>
        </p:sp>
        <p:sp>
          <p:nvSpPr>
            <p:cNvPr id="33" name="TextBox 33"/>
            <p:cNvSpPr txBox="1"/>
            <p:nvPr/>
          </p:nvSpPr>
          <p:spPr>
            <a:xfrm>
              <a:off x="609600" y="4408646"/>
              <a:ext cx="5771198"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CF 借助群体规律补足稀疏历史；</a:t>
              </a:r>
              <a:r>
                <a:rPr lang="zh-CN" altLang="en-US" sz="1420" b="1" dirty="0">
                  <a:solidFill>
                    <a:srgbClr val="16735C"/>
                  </a:solidFill>
                  <a:ea typeface="Microsoft YaHei"/>
                </a:rPr>
                <a:t>但无法预测</a:t>
              </a:r>
              <a:r>
                <a:rPr lang="zh-CN" sz="1420" b="1" dirty="0">
                  <a:solidFill>
                    <a:srgbClr val="16735C"/>
                  </a:solidFill>
                  <a:latin typeface="Arial"/>
                  <a:ea typeface="Microsoft YaHei"/>
                  <a:cs typeface="Arial"/>
                </a:rPr>
                <a:t>完全未见的请求。</a:t>
              </a:r>
            </a:p>
          </p:txBody>
        </p:sp>
      </p:grpSp>
    </p:spTree>
    <p:extLst>
      <p:ext uri="{BB962C8B-B14F-4D97-AF65-F5344CB8AC3E}">
        <p14:creationId xmlns:p14="http://schemas.microsoft.com/office/powerpoint/2010/main" val="356939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E82DD102-4007-E222-7743-F7FC6AE1BCE4}"/>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3098B99-F091-9CA7-024C-03FC33938AA7}"/>
              </a:ext>
            </a:extLst>
          </p:cNvPr>
          <p:cNvGrpSpPr/>
          <p:nvPr/>
        </p:nvGrpSpPr>
        <p:grpSpPr>
          <a:xfrm>
            <a:off x="476250" y="392430"/>
            <a:ext cx="5634704" cy="1012984"/>
            <a:chOff x="476250" y="392430"/>
            <a:chExt cx="5634704" cy="1012984"/>
          </a:xfrm>
        </p:grpSpPr>
        <p:sp>
          <p:nvSpPr>
            <p:cNvPr id="2" name="TextBox 2">
              <a:extLst>
                <a:ext uri="{FF2B5EF4-FFF2-40B4-BE49-F238E27FC236}">
                  <a16:creationId xmlns:a16="http://schemas.microsoft.com/office/drawing/2014/main" id="{F68D6ABD-19A1-1A16-96AF-A9CBB15469F2}"/>
                </a:ext>
              </a:extLst>
            </p:cNvPr>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03</a:t>
              </a:r>
            </a:p>
          </p:txBody>
        </p:sp>
        <p:sp>
          <p:nvSpPr>
            <p:cNvPr id="3" name="TextBox 3">
              <a:extLst>
                <a:ext uri="{FF2B5EF4-FFF2-40B4-BE49-F238E27FC236}">
                  <a16:creationId xmlns:a16="http://schemas.microsoft.com/office/drawing/2014/main" id="{8DB4B0D9-E18D-40CF-483F-2DB504C8295F}"/>
                </a:ext>
              </a:extLst>
            </p:cNvPr>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方法</a:t>
              </a:r>
              <a:r>
                <a:rPr lang="zh-CN" altLang="en-US" sz="2100" b="1" dirty="0">
                  <a:solidFill>
                    <a:srgbClr val="202B33"/>
                  </a:solidFill>
                  <a:ea typeface="Microsoft YaHei"/>
                </a:rPr>
                <a:t>三</a:t>
              </a:r>
              <a:r>
                <a:rPr lang="zh-CN" sz="2100" b="1" dirty="0">
                  <a:solidFill>
                    <a:srgbClr val="202B33"/>
                  </a:solidFill>
                  <a:latin typeface="Arial"/>
                  <a:ea typeface="Microsoft YaHei"/>
                  <a:cs typeface="Arial"/>
                </a:rPr>
                <a:t>：混合预测</a:t>
              </a:r>
            </a:p>
          </p:txBody>
        </p:sp>
        <p:sp>
          <p:nvSpPr>
            <p:cNvPr id="4" name="TextBox 4">
              <a:extLst>
                <a:ext uri="{FF2B5EF4-FFF2-40B4-BE49-F238E27FC236}">
                  <a16:creationId xmlns:a16="http://schemas.microsoft.com/office/drawing/2014/main" id="{04D0201D-B141-AC42-7AB0-33FDA0CC3A85}"/>
                </a:ext>
              </a:extLst>
            </p:cNvPr>
            <p:cNvSpPr txBox="1"/>
            <p:nvPr/>
          </p:nvSpPr>
          <p:spPr>
            <a:xfrm>
              <a:off x="476250" y="1019651"/>
              <a:ext cx="5634704"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个人历史负责个性化，相似用户补足</a:t>
              </a:r>
              <a:r>
                <a:rPr lang="zh-CN" altLang="en-US" sz="2020" b="1" dirty="0">
                  <a:solidFill>
                    <a:srgbClr val="005A84"/>
                  </a:solidFill>
                  <a:ea typeface="Microsoft YaHei"/>
                </a:rPr>
                <a:t>信息</a:t>
              </a:r>
              <a:endParaRPr lang="zh-CN" sz="2020" b="1" dirty="0">
                <a:solidFill>
                  <a:srgbClr val="005A84"/>
                </a:solidFill>
                <a:latin typeface="Arial"/>
                <a:ea typeface="Microsoft YaHei"/>
                <a:cs typeface="Arial"/>
              </a:endParaRPr>
            </a:p>
          </p:txBody>
        </p:sp>
      </p:grpSp>
      <p:grpSp>
        <p:nvGrpSpPr>
          <p:cNvPr id="29" name="Group 29">
            <a:extLst>
              <a:ext uri="{FF2B5EF4-FFF2-40B4-BE49-F238E27FC236}">
                <a16:creationId xmlns:a16="http://schemas.microsoft.com/office/drawing/2014/main" id="{907749D6-2492-C8AE-95DC-B2E2ACDAFE81}"/>
              </a:ext>
            </a:extLst>
          </p:cNvPr>
          <p:cNvGrpSpPr/>
          <p:nvPr/>
        </p:nvGrpSpPr>
        <p:grpSpPr>
          <a:xfrm>
            <a:off x="552450" y="1666875"/>
            <a:ext cx="8108251" cy="2333625"/>
            <a:chOff x="552450" y="1666875"/>
            <a:chExt cx="8108251" cy="2333625"/>
          </a:xfrm>
        </p:grpSpPr>
        <p:sp>
          <p:nvSpPr>
            <p:cNvPr id="9" name="Rectangle 9">
              <a:extLst>
                <a:ext uri="{FF2B5EF4-FFF2-40B4-BE49-F238E27FC236}">
                  <a16:creationId xmlns:a16="http://schemas.microsoft.com/office/drawing/2014/main" id="{DA0D78F1-4F13-47CA-AB23-4096DF11B442}"/>
                </a:ext>
              </a:extLst>
            </p:cNvPr>
            <p:cNvSpPr/>
            <p:nvPr/>
          </p:nvSpPr>
          <p:spPr>
            <a:xfrm>
              <a:off x="552450" y="1666875"/>
              <a:ext cx="2352675" cy="1133475"/>
            </a:xfrm>
            <a:prstGeom prst="rect">
              <a:avLst/>
            </a:prstGeom>
            <a:solidFill>
              <a:srgbClr val="E5F2ED"/>
            </a:solidFill>
            <a:ln>
              <a:noFill/>
            </a:ln>
          </p:spPr>
          <p:txBody>
            <a:bodyPr/>
            <a:lstStyle/>
            <a:p>
              <a:endParaRPr lang="zh-CN" altLang="en-US" dirty="0"/>
            </a:p>
          </p:txBody>
        </p:sp>
        <p:sp>
          <p:nvSpPr>
            <p:cNvPr id="10" name="TextBox 10">
              <a:extLst>
                <a:ext uri="{FF2B5EF4-FFF2-40B4-BE49-F238E27FC236}">
                  <a16:creationId xmlns:a16="http://schemas.microsoft.com/office/drawing/2014/main" id="{B57B7B56-259B-6D01-FEA7-B3019139D2FE}"/>
                </a:ext>
              </a:extLst>
            </p:cNvPr>
            <p:cNvSpPr txBox="1"/>
            <p:nvPr/>
          </p:nvSpPr>
          <p:spPr>
            <a:xfrm>
              <a:off x="704850" y="1785461"/>
              <a:ext cx="1980438"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个人资料与历史</a:t>
              </a:r>
            </a:p>
          </p:txBody>
        </p:sp>
        <p:sp>
          <p:nvSpPr>
            <p:cNvPr id="11" name="TextBox 11">
              <a:extLst>
                <a:ext uri="{FF2B5EF4-FFF2-40B4-BE49-F238E27FC236}">
                  <a16:creationId xmlns:a16="http://schemas.microsoft.com/office/drawing/2014/main" id="{2E411936-2948-AC27-3787-89577AE8B4F9}"/>
                </a:ext>
              </a:extLst>
            </p:cNvPr>
            <p:cNvSpPr txBox="1"/>
            <p:nvPr/>
          </p:nvSpPr>
          <p:spPr>
            <a:xfrm>
              <a:off x="704850" y="2122646"/>
              <a:ext cx="2271236" cy="539305"/>
            </a:xfrm>
            <a:prstGeom prst="rect">
              <a:avLst/>
            </a:prstGeom>
            <a:noFill/>
            <a:ln>
              <a:noFill/>
            </a:ln>
          </p:spPr>
          <p:txBody>
            <a:bodyPr wrap="none" lIns="0" tIns="0" rIns="0" bIns="0" anchor="t" anchorCtr="0">
              <a:noAutofit/>
            </a:bodyPr>
            <a:lstStyle/>
            <a:p>
              <a:pPr algn="l">
                <a:lnSpc>
                  <a:spcPts val="2109"/>
                </a:lnSpc>
              </a:pPr>
              <a:r>
                <a:rPr lang="zh-CN" altLang="en-US" sz="1420" dirty="0">
                  <a:solidFill>
                    <a:srgbClr val="202B33"/>
                  </a:solidFill>
                  <a:latin typeface="Arial"/>
                  <a:ea typeface="Microsoft YaHei"/>
                  <a:cs typeface="Arial"/>
                </a:rPr>
                <a:t>领域</a:t>
              </a:r>
              <a:r>
                <a:rPr lang="zh-CN" sz="1420" dirty="0">
                  <a:solidFill>
                    <a:srgbClr val="202B33"/>
                  </a:solidFill>
                  <a:latin typeface="Arial"/>
                  <a:ea typeface="Microsoft YaHei"/>
                  <a:cs typeface="Arial"/>
                </a:rPr>
                <a:t>、工具、数据类型</a:t>
              </a:r>
              <a:br>
                <a:rPr dirty="0"/>
              </a:br>
              <a:r>
                <a:rPr lang="zh-CN" sz="1420" dirty="0">
                  <a:solidFill>
                    <a:srgbClr val="202B33"/>
                  </a:solidFill>
                  <a:latin typeface="Arial"/>
                  <a:ea typeface="Microsoft YaHei"/>
                  <a:cs typeface="Arial"/>
                </a:rPr>
                <a:t>隐私态度与长期偏好</a:t>
              </a:r>
            </a:p>
          </p:txBody>
        </p:sp>
        <p:sp>
          <p:nvSpPr>
            <p:cNvPr id="12" name="Rectangle 12">
              <a:extLst>
                <a:ext uri="{FF2B5EF4-FFF2-40B4-BE49-F238E27FC236}">
                  <a16:creationId xmlns:a16="http://schemas.microsoft.com/office/drawing/2014/main" id="{1E0BDEFA-551A-2641-4057-A7DCAB843E90}"/>
                </a:ext>
              </a:extLst>
            </p:cNvPr>
            <p:cNvSpPr/>
            <p:nvPr/>
          </p:nvSpPr>
          <p:spPr>
            <a:xfrm>
              <a:off x="552450" y="2990850"/>
              <a:ext cx="2352675" cy="1009650"/>
            </a:xfrm>
            <a:prstGeom prst="rect">
              <a:avLst/>
            </a:prstGeom>
            <a:solidFill>
              <a:srgbClr val="F0F5F6"/>
            </a:solidFill>
            <a:ln>
              <a:noFill/>
            </a:ln>
          </p:spPr>
        </p:sp>
        <p:sp>
          <p:nvSpPr>
            <p:cNvPr id="13" name="TextBox 13">
              <a:extLst>
                <a:ext uri="{FF2B5EF4-FFF2-40B4-BE49-F238E27FC236}">
                  <a16:creationId xmlns:a16="http://schemas.microsoft.com/office/drawing/2014/main" id="{38755BD6-4268-D088-4F81-FA3DA5D1F472}"/>
                </a:ext>
              </a:extLst>
            </p:cNvPr>
            <p:cNvSpPr txBox="1"/>
            <p:nvPr/>
          </p:nvSpPr>
          <p:spPr>
            <a:xfrm>
              <a:off x="704850" y="3109436"/>
              <a:ext cx="1724120"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多人权限记录</a:t>
              </a:r>
            </a:p>
          </p:txBody>
        </p:sp>
        <p:sp>
          <p:nvSpPr>
            <p:cNvPr id="14" name="TextBox 14">
              <a:extLst>
                <a:ext uri="{FF2B5EF4-FFF2-40B4-BE49-F238E27FC236}">
                  <a16:creationId xmlns:a16="http://schemas.microsoft.com/office/drawing/2014/main" id="{5827A6C5-4EBD-8695-A3FD-FC03AE7C417F}"/>
                </a:ext>
              </a:extLst>
            </p:cNvPr>
            <p:cNvSpPr txBox="1"/>
            <p:nvPr/>
          </p:nvSpPr>
          <p:spPr>
            <a:xfrm>
              <a:off x="704850" y="3446621"/>
              <a:ext cx="2076450"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用户—请求偏好关系</a:t>
              </a:r>
            </a:p>
          </p:txBody>
        </p:sp>
        <p:sp>
          <p:nvSpPr>
            <p:cNvPr id="15" name="Rectangle 15">
              <a:extLst>
                <a:ext uri="{FF2B5EF4-FFF2-40B4-BE49-F238E27FC236}">
                  <a16:creationId xmlns:a16="http://schemas.microsoft.com/office/drawing/2014/main" id="{BF310642-0021-6213-7374-CA30531F86D1}"/>
                </a:ext>
              </a:extLst>
            </p:cNvPr>
            <p:cNvSpPr/>
            <p:nvPr/>
          </p:nvSpPr>
          <p:spPr>
            <a:xfrm>
              <a:off x="3714750" y="1666875"/>
              <a:ext cx="2333625" cy="1133475"/>
            </a:xfrm>
            <a:prstGeom prst="rect">
              <a:avLst/>
            </a:prstGeom>
            <a:solidFill>
              <a:srgbClr val="E5F2ED"/>
            </a:solidFill>
            <a:ln>
              <a:noFill/>
            </a:ln>
          </p:spPr>
        </p:sp>
        <p:sp>
          <p:nvSpPr>
            <p:cNvPr id="16" name="TextBox 16">
              <a:extLst>
                <a:ext uri="{FF2B5EF4-FFF2-40B4-BE49-F238E27FC236}">
                  <a16:creationId xmlns:a16="http://schemas.microsoft.com/office/drawing/2014/main" id="{A6F6F4FF-A187-9D6B-C97E-A99F6269AA1F}"/>
                </a:ext>
              </a:extLst>
            </p:cNvPr>
            <p:cNvSpPr txBox="1"/>
            <p:nvPr/>
          </p:nvSpPr>
          <p:spPr>
            <a:xfrm>
              <a:off x="3867150" y="1785461"/>
              <a:ext cx="1802702"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IC 上下文学习</a:t>
              </a:r>
            </a:p>
          </p:txBody>
        </p:sp>
        <p:sp>
          <p:nvSpPr>
            <p:cNvPr id="17" name="TextBox 17">
              <a:extLst>
                <a:ext uri="{FF2B5EF4-FFF2-40B4-BE49-F238E27FC236}">
                  <a16:creationId xmlns:a16="http://schemas.microsoft.com/office/drawing/2014/main" id="{30A019E4-D71F-37B4-41D9-7489D8446534}"/>
                </a:ext>
              </a:extLst>
            </p:cNvPr>
            <p:cNvSpPr txBox="1"/>
            <p:nvPr/>
          </p:nvSpPr>
          <p:spPr>
            <a:xfrm>
              <a:off x="3867150" y="2122646"/>
              <a:ext cx="2059496" cy="539305"/>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读取自然语言上下文</a:t>
              </a:r>
              <a:br>
                <a:rPr dirty="0"/>
              </a:br>
              <a:r>
                <a:rPr lang="zh-CN" sz="1420" dirty="0">
                  <a:solidFill>
                    <a:srgbClr val="202B33"/>
                  </a:solidFill>
                  <a:latin typeface="Arial"/>
                  <a:ea typeface="Microsoft YaHei"/>
                  <a:cs typeface="Arial"/>
                </a:rPr>
                <a:t>理解当前请求</a:t>
              </a:r>
            </a:p>
          </p:txBody>
        </p:sp>
        <p:sp>
          <p:nvSpPr>
            <p:cNvPr id="18" name="Rectangle 18">
              <a:extLst>
                <a:ext uri="{FF2B5EF4-FFF2-40B4-BE49-F238E27FC236}">
                  <a16:creationId xmlns:a16="http://schemas.microsoft.com/office/drawing/2014/main" id="{E098EE1B-7B7C-BF44-B9DB-AD4DEE2BE67A}"/>
                </a:ext>
              </a:extLst>
            </p:cNvPr>
            <p:cNvSpPr/>
            <p:nvPr/>
          </p:nvSpPr>
          <p:spPr>
            <a:xfrm>
              <a:off x="3714750" y="2990850"/>
              <a:ext cx="2333625" cy="1009650"/>
            </a:xfrm>
            <a:prstGeom prst="rect">
              <a:avLst/>
            </a:prstGeom>
            <a:solidFill>
              <a:srgbClr val="F0F5F6"/>
            </a:solidFill>
            <a:ln>
              <a:noFill/>
            </a:ln>
          </p:spPr>
        </p:sp>
        <p:sp>
          <p:nvSpPr>
            <p:cNvPr id="19" name="TextBox 19">
              <a:extLst>
                <a:ext uri="{FF2B5EF4-FFF2-40B4-BE49-F238E27FC236}">
                  <a16:creationId xmlns:a16="http://schemas.microsoft.com/office/drawing/2014/main" id="{0E59BA34-F8BF-B317-B508-3D91CDAB3832}"/>
                </a:ext>
              </a:extLst>
            </p:cNvPr>
            <p:cNvSpPr txBox="1"/>
            <p:nvPr/>
          </p:nvSpPr>
          <p:spPr>
            <a:xfrm>
              <a:off x="3867150" y="3109436"/>
              <a:ext cx="1603439"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CF 协同过滤</a:t>
              </a:r>
            </a:p>
          </p:txBody>
        </p:sp>
        <p:sp>
          <p:nvSpPr>
            <p:cNvPr id="20" name="TextBox 20">
              <a:extLst>
                <a:ext uri="{FF2B5EF4-FFF2-40B4-BE49-F238E27FC236}">
                  <a16:creationId xmlns:a16="http://schemas.microsoft.com/office/drawing/2014/main" id="{FA186797-33B0-4ACA-5F9D-8EDF4232461B}"/>
                </a:ext>
              </a:extLst>
            </p:cNvPr>
            <p:cNvSpPr txBox="1"/>
            <p:nvPr/>
          </p:nvSpPr>
          <p:spPr>
            <a:xfrm>
              <a:off x="3867150" y="3446621"/>
              <a:ext cx="1847755"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保留高置信度建议</a:t>
              </a:r>
            </a:p>
          </p:txBody>
        </p:sp>
        <p:sp>
          <p:nvSpPr>
            <p:cNvPr id="21" name="Rectangle 21">
              <a:extLst>
                <a:ext uri="{FF2B5EF4-FFF2-40B4-BE49-F238E27FC236}">
                  <a16:creationId xmlns:a16="http://schemas.microsoft.com/office/drawing/2014/main" id="{85664B21-0D1E-AA5E-6CD1-95AE9FCB4D21}"/>
                </a:ext>
              </a:extLst>
            </p:cNvPr>
            <p:cNvSpPr/>
            <p:nvPr/>
          </p:nvSpPr>
          <p:spPr>
            <a:xfrm>
              <a:off x="7000875" y="2019300"/>
              <a:ext cx="1590675" cy="1571625"/>
            </a:xfrm>
            <a:prstGeom prst="rect">
              <a:avLst/>
            </a:prstGeom>
            <a:solidFill>
              <a:srgbClr val="E5F2ED"/>
            </a:solidFill>
            <a:ln>
              <a:noFill/>
            </a:ln>
          </p:spPr>
        </p:sp>
        <p:sp>
          <p:nvSpPr>
            <p:cNvPr id="22" name="TextBox 22">
              <a:extLst>
                <a:ext uri="{FF2B5EF4-FFF2-40B4-BE49-F238E27FC236}">
                  <a16:creationId xmlns:a16="http://schemas.microsoft.com/office/drawing/2014/main" id="{601DA85E-3B4B-6B17-4D83-C5D72FA1473A}"/>
                </a:ext>
              </a:extLst>
            </p:cNvPr>
            <p:cNvSpPr txBox="1"/>
            <p:nvPr/>
          </p:nvSpPr>
          <p:spPr>
            <a:xfrm>
              <a:off x="7364654" y="2206862"/>
              <a:ext cx="1211485"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最终预测</a:t>
              </a:r>
            </a:p>
          </p:txBody>
        </p:sp>
        <p:sp>
          <p:nvSpPr>
            <p:cNvPr id="23" name="TextBox 23">
              <a:extLst>
                <a:ext uri="{FF2B5EF4-FFF2-40B4-BE49-F238E27FC236}">
                  <a16:creationId xmlns:a16="http://schemas.microsoft.com/office/drawing/2014/main" id="{0724FCD1-B5DB-A2F5-1DF6-530B5E74E1CC}"/>
                </a:ext>
              </a:extLst>
            </p:cNvPr>
            <p:cNvSpPr txBox="1"/>
            <p:nvPr/>
          </p:nvSpPr>
          <p:spPr>
            <a:xfrm>
              <a:off x="7380065" y="2707005"/>
              <a:ext cx="1280636" cy="567690"/>
            </a:xfrm>
            <a:prstGeom prst="rect">
              <a:avLst/>
            </a:prstGeom>
            <a:noFill/>
            <a:ln>
              <a:noFill/>
            </a:ln>
          </p:spPr>
          <p:txBody>
            <a:bodyPr wrap="none" lIns="0" tIns="0" rIns="0" bIns="0" anchor="t" anchorCtr="0">
              <a:noAutofit/>
            </a:bodyPr>
            <a:lstStyle/>
            <a:p>
              <a:pPr algn="l">
                <a:lnSpc>
                  <a:spcPts val="2220"/>
                </a:lnSpc>
              </a:pPr>
              <a:r>
                <a:rPr lang="zh-CN" sz="1500" dirty="0">
                  <a:solidFill>
                    <a:srgbClr val="202B33"/>
                  </a:solidFill>
                  <a:latin typeface="Arial"/>
                  <a:ea typeface="Microsoft YaHei"/>
                  <a:cs typeface="Arial"/>
                </a:rPr>
                <a:t>允许 / 拒绝</a:t>
              </a:r>
              <a:br>
                <a:rPr dirty="0"/>
              </a:br>
              <a:r>
                <a:rPr lang="zh-CN" sz="1500" dirty="0">
                  <a:solidFill>
                    <a:srgbClr val="202B33"/>
                  </a:solidFill>
                  <a:latin typeface="Arial"/>
                  <a:ea typeface="Microsoft YaHei"/>
                  <a:cs typeface="Arial"/>
                </a:rPr>
                <a:t>+ 置信度</a:t>
              </a:r>
            </a:p>
          </p:txBody>
        </p:sp>
        <p:sp>
          <p:nvSpPr>
            <p:cNvPr id="24" name="Line 24">
              <a:extLst>
                <a:ext uri="{FF2B5EF4-FFF2-40B4-BE49-F238E27FC236}">
                  <a16:creationId xmlns:a16="http://schemas.microsoft.com/office/drawing/2014/main" id="{5E36EFD2-E7A4-BD0C-B64E-E1066E38467F}"/>
                </a:ext>
              </a:extLst>
            </p:cNvPr>
            <p:cNvSpPr/>
            <p:nvPr/>
          </p:nvSpPr>
          <p:spPr>
            <a:xfrm>
              <a:off x="3000375" y="2219325"/>
              <a:ext cx="600075" cy="1"/>
            </a:xfrm>
            <a:prstGeom prst="line">
              <a:avLst/>
            </a:prstGeom>
            <a:noFill/>
            <a:ln w="19050">
              <a:solidFill>
                <a:srgbClr val="16735C"/>
              </a:solidFill>
              <a:tailEnd type="triangle" w="lg" len="lg"/>
            </a:ln>
          </p:spPr>
        </p:sp>
        <p:sp>
          <p:nvSpPr>
            <p:cNvPr id="25" name="Line 25">
              <a:extLst>
                <a:ext uri="{FF2B5EF4-FFF2-40B4-BE49-F238E27FC236}">
                  <a16:creationId xmlns:a16="http://schemas.microsoft.com/office/drawing/2014/main" id="{8980CE9F-D43B-877A-38E1-023F4B76FA0A}"/>
                </a:ext>
              </a:extLst>
            </p:cNvPr>
            <p:cNvSpPr/>
            <p:nvPr/>
          </p:nvSpPr>
          <p:spPr>
            <a:xfrm>
              <a:off x="3000375" y="3467100"/>
              <a:ext cx="600075" cy="1"/>
            </a:xfrm>
            <a:prstGeom prst="line">
              <a:avLst/>
            </a:prstGeom>
            <a:noFill/>
            <a:ln w="19050">
              <a:solidFill>
                <a:srgbClr val="16735C"/>
              </a:solidFill>
              <a:tailEnd type="triangle" w="lg" len="lg"/>
            </a:ln>
          </p:spPr>
        </p:sp>
        <p:sp>
          <p:nvSpPr>
            <p:cNvPr id="26" name="Line 26">
              <a:extLst>
                <a:ext uri="{FF2B5EF4-FFF2-40B4-BE49-F238E27FC236}">
                  <a16:creationId xmlns:a16="http://schemas.microsoft.com/office/drawing/2014/main" id="{30CBDAD1-7AD6-8607-F312-6F201A37D749}"/>
                </a:ext>
              </a:extLst>
            </p:cNvPr>
            <p:cNvSpPr/>
            <p:nvPr/>
          </p:nvSpPr>
          <p:spPr>
            <a:xfrm flipH="1" flipV="1">
              <a:off x="4876052" y="2832563"/>
              <a:ext cx="4173" cy="156857"/>
            </a:xfrm>
            <a:prstGeom prst="line">
              <a:avLst/>
            </a:prstGeom>
            <a:noFill/>
            <a:ln w="19050">
              <a:solidFill>
                <a:srgbClr val="16735C"/>
              </a:solidFill>
              <a:tailEnd type="triangle" w="lg" len="lg"/>
            </a:ln>
          </p:spPr>
        </p:sp>
        <p:sp>
          <p:nvSpPr>
            <p:cNvPr id="27" name="Line 27">
              <a:extLst>
                <a:ext uri="{FF2B5EF4-FFF2-40B4-BE49-F238E27FC236}">
                  <a16:creationId xmlns:a16="http://schemas.microsoft.com/office/drawing/2014/main" id="{7D4A5A1B-B16C-98CE-9CB2-5104590B999C}"/>
                </a:ext>
              </a:extLst>
            </p:cNvPr>
            <p:cNvSpPr/>
            <p:nvPr/>
          </p:nvSpPr>
          <p:spPr>
            <a:xfrm>
              <a:off x="6143625" y="2238375"/>
              <a:ext cx="742950" cy="352425"/>
            </a:xfrm>
            <a:prstGeom prst="line">
              <a:avLst/>
            </a:prstGeom>
            <a:noFill/>
            <a:ln w="19050">
              <a:solidFill>
                <a:srgbClr val="16735C"/>
              </a:solidFill>
              <a:tailEnd type="triangle" w="lg" len="lg"/>
            </a:ln>
          </p:spPr>
        </p:sp>
        <p:sp>
          <p:nvSpPr>
            <p:cNvPr id="28" name="TextBox 28">
              <a:extLst>
                <a:ext uri="{FF2B5EF4-FFF2-40B4-BE49-F238E27FC236}">
                  <a16:creationId xmlns:a16="http://schemas.microsoft.com/office/drawing/2014/main" id="{90ABB6E7-C4AC-34C7-AE31-AC8B3FFE7236}"/>
                </a:ext>
              </a:extLst>
            </p:cNvPr>
            <p:cNvSpPr txBox="1"/>
            <p:nvPr/>
          </p:nvSpPr>
          <p:spPr>
            <a:xfrm>
              <a:off x="5258276" y="2989421"/>
              <a:ext cx="790099" cy="425767"/>
            </a:xfrm>
            <a:prstGeom prst="rect">
              <a:avLst/>
            </a:prstGeom>
            <a:noFill/>
            <a:ln>
              <a:noFill/>
            </a:ln>
          </p:spPr>
          <p:txBody>
            <a:bodyPr wrap="none" lIns="0" tIns="0" rIns="0" bIns="0" anchor="t" anchorCtr="0">
              <a:noAutofit/>
            </a:bodyPr>
            <a:lstStyle/>
            <a:p>
              <a:pPr algn="l">
                <a:lnSpc>
                  <a:spcPts val="1665"/>
                </a:lnSpc>
              </a:pPr>
              <a:r>
                <a:rPr lang="zh-CN" sz="1120" dirty="0">
                  <a:solidFill>
                    <a:srgbClr val="5C6B73"/>
                  </a:solidFill>
                  <a:latin typeface="Arial"/>
                  <a:ea typeface="Microsoft YaHei"/>
                  <a:cs typeface="Arial"/>
                </a:rPr>
                <a:t>转为文字</a:t>
              </a:r>
              <a:br>
                <a:rPr dirty="0"/>
              </a:br>
              <a:r>
                <a:rPr lang="zh-CN" sz="1120" dirty="0">
                  <a:solidFill>
                    <a:srgbClr val="5C6B73"/>
                  </a:solidFill>
                  <a:latin typeface="Arial"/>
                  <a:ea typeface="Microsoft YaHei"/>
                  <a:cs typeface="Arial"/>
                </a:rPr>
                <a:t>加入 IC</a:t>
              </a:r>
            </a:p>
          </p:txBody>
        </p:sp>
      </p:grpSp>
      <p:grpSp>
        <p:nvGrpSpPr>
          <p:cNvPr id="33" name="Group 33">
            <a:extLst>
              <a:ext uri="{FF2B5EF4-FFF2-40B4-BE49-F238E27FC236}">
                <a16:creationId xmlns:a16="http://schemas.microsoft.com/office/drawing/2014/main" id="{2446B87F-A26D-03EE-375A-5C94C0841292}"/>
              </a:ext>
            </a:extLst>
          </p:cNvPr>
          <p:cNvGrpSpPr/>
          <p:nvPr/>
        </p:nvGrpSpPr>
        <p:grpSpPr>
          <a:xfrm>
            <a:off x="476250" y="4229100"/>
            <a:ext cx="8191500" cy="504825"/>
            <a:chOff x="476250" y="4229100"/>
            <a:chExt cx="8191500" cy="504825"/>
          </a:xfrm>
        </p:grpSpPr>
        <p:sp>
          <p:nvSpPr>
            <p:cNvPr id="30" name="Rectangle 30">
              <a:extLst>
                <a:ext uri="{FF2B5EF4-FFF2-40B4-BE49-F238E27FC236}">
                  <a16:creationId xmlns:a16="http://schemas.microsoft.com/office/drawing/2014/main" id="{9A770FA0-4A23-67B7-BB70-0E722AE4ADDE}"/>
                </a:ext>
              </a:extLst>
            </p:cNvPr>
            <p:cNvSpPr/>
            <p:nvPr/>
          </p:nvSpPr>
          <p:spPr>
            <a:xfrm>
              <a:off x="476250" y="4229100"/>
              <a:ext cx="8191500" cy="504825"/>
            </a:xfrm>
            <a:prstGeom prst="rect">
              <a:avLst/>
            </a:prstGeom>
            <a:solidFill>
              <a:srgbClr val="F0F5F6"/>
            </a:solidFill>
            <a:ln>
              <a:noFill/>
            </a:ln>
          </p:spPr>
        </p:sp>
        <p:sp>
          <p:nvSpPr>
            <p:cNvPr id="31" name="Rectangle 31">
              <a:extLst>
                <a:ext uri="{FF2B5EF4-FFF2-40B4-BE49-F238E27FC236}">
                  <a16:creationId xmlns:a16="http://schemas.microsoft.com/office/drawing/2014/main" id="{85B55240-DA5B-D2E5-736B-24038A2A131E}"/>
                </a:ext>
              </a:extLst>
            </p:cNvPr>
            <p:cNvSpPr/>
            <p:nvPr/>
          </p:nvSpPr>
          <p:spPr>
            <a:xfrm>
              <a:off x="476250" y="4229100"/>
              <a:ext cx="38100" cy="504825"/>
            </a:xfrm>
            <a:prstGeom prst="rect">
              <a:avLst/>
            </a:prstGeom>
            <a:solidFill>
              <a:srgbClr val="16735C"/>
            </a:solidFill>
            <a:ln>
              <a:noFill/>
            </a:ln>
          </p:spPr>
        </p:sp>
        <p:sp>
          <p:nvSpPr>
            <p:cNvPr id="32" name="TextBox 32">
              <a:extLst>
                <a:ext uri="{FF2B5EF4-FFF2-40B4-BE49-F238E27FC236}">
                  <a16:creationId xmlns:a16="http://schemas.microsoft.com/office/drawing/2014/main" id="{9B0E2BD3-06E7-D470-1281-2544D0D91F7D}"/>
                </a:ext>
              </a:extLst>
            </p:cNvPr>
            <p:cNvSpPr txBox="1"/>
            <p:nvPr/>
          </p:nvSpPr>
          <p:spPr>
            <a:xfrm>
              <a:off x="609600" y="4408646"/>
              <a:ext cx="5836063"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融合发生在提示词中：CF 提供参考示例，IC 作出最终预测。</a:t>
              </a:r>
            </a:p>
          </p:txBody>
        </p:sp>
      </p:grpSp>
    </p:spTree>
    <p:extLst>
      <p:ext uri="{BB962C8B-B14F-4D97-AF65-F5344CB8AC3E}">
        <p14:creationId xmlns:p14="http://schemas.microsoft.com/office/powerpoint/2010/main" val="2859589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BD3A3C6-B3C2-5B6A-B8E6-1E109FBFDA30}"/>
            </a:ext>
          </a:extLst>
        </p:cNvPr>
        <p:cNvGrpSpPr/>
        <p:nvPr/>
      </p:nvGrpSpPr>
      <p:grpSpPr>
        <a:xfrm>
          <a:off x="0" y="0"/>
          <a:ext cx="0" cy="0"/>
          <a:chOff x="0" y="0"/>
          <a:chExt cx="0" cy="0"/>
        </a:xfrm>
      </p:grpSpPr>
      <p:grpSp>
        <p:nvGrpSpPr>
          <p:cNvPr id="5" name="Group 5"/>
          <p:cNvGrpSpPr/>
          <p:nvPr/>
        </p:nvGrpSpPr>
        <p:grpSpPr>
          <a:xfrm>
            <a:off x="476250" y="392430"/>
            <a:ext cx="5764625" cy="1012984"/>
            <a:chOff x="476250" y="392430"/>
            <a:chExt cx="5764625"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03</a:t>
              </a:r>
            </a:p>
          </p:txBody>
        </p:sp>
        <p:sp>
          <p:nvSpPr>
            <p:cNvPr id="3" name="TextBox 3"/>
            <p:cNvSpPr txBox="1"/>
            <p:nvPr/>
          </p:nvSpPr>
          <p:spPr>
            <a:xfrm>
              <a:off x="1219200" y="392430"/>
              <a:ext cx="2723007"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方法三：如何融合</a:t>
              </a:r>
            </a:p>
          </p:txBody>
        </p:sp>
        <p:sp>
          <p:nvSpPr>
            <p:cNvPr id="4" name="TextBox 4"/>
            <p:cNvSpPr txBox="1"/>
            <p:nvPr/>
          </p:nvSpPr>
          <p:spPr>
            <a:xfrm>
              <a:off x="476250" y="1019651"/>
              <a:ext cx="5764625"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先筛选可靠的 CF 建议，再让 IC 综合判断</a:t>
              </a:r>
            </a:p>
          </p:txBody>
        </p:sp>
      </p:grpSp>
      <p:grpSp>
        <p:nvGrpSpPr>
          <p:cNvPr id="22" name="Group 22"/>
          <p:cNvGrpSpPr/>
          <p:nvPr/>
        </p:nvGrpSpPr>
        <p:grpSpPr>
          <a:xfrm>
            <a:off x="552450" y="1714500"/>
            <a:ext cx="8048625" cy="2278464"/>
            <a:chOff x="552450" y="1714500"/>
            <a:chExt cx="8048625" cy="2278464"/>
          </a:xfrm>
        </p:grpSpPr>
        <p:sp>
          <p:nvSpPr>
            <p:cNvPr id="9" name="Rectangle 9"/>
            <p:cNvSpPr/>
            <p:nvPr/>
          </p:nvSpPr>
          <p:spPr>
            <a:xfrm>
              <a:off x="552450" y="1714500"/>
              <a:ext cx="2486025" cy="1333500"/>
            </a:xfrm>
            <a:prstGeom prst="rect">
              <a:avLst/>
            </a:prstGeom>
            <a:solidFill>
              <a:srgbClr val="F0F5F6"/>
            </a:solidFill>
            <a:ln>
              <a:noFill/>
            </a:ln>
          </p:spPr>
        </p:sp>
        <p:sp>
          <p:nvSpPr>
            <p:cNvPr id="10" name="TextBox 10"/>
            <p:cNvSpPr txBox="1"/>
            <p:nvPr/>
          </p:nvSpPr>
          <p:spPr>
            <a:xfrm>
              <a:off x="704850" y="1833086"/>
              <a:ext cx="2072259"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01 产生 CF 建议</a:t>
              </a:r>
            </a:p>
          </p:txBody>
        </p:sp>
        <p:sp>
          <p:nvSpPr>
            <p:cNvPr id="11" name="TextBox 11"/>
            <p:cNvSpPr txBox="1"/>
            <p:nvPr/>
          </p:nvSpPr>
          <p:spPr>
            <a:xfrm>
              <a:off x="704850" y="2175408"/>
              <a:ext cx="1636014" cy="539305"/>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从多人历史得到</a:t>
              </a:r>
              <a:br>
                <a:rPr dirty="0"/>
              </a:br>
              <a:r>
                <a:rPr lang="zh-CN" sz="1420" dirty="0">
                  <a:solidFill>
                    <a:srgbClr val="202B33"/>
                  </a:solidFill>
                  <a:latin typeface="Arial"/>
                  <a:ea typeface="Microsoft YaHei"/>
                  <a:cs typeface="Arial"/>
                </a:rPr>
                <a:t>候选允许/拒绝</a:t>
              </a:r>
            </a:p>
          </p:txBody>
        </p:sp>
        <p:sp>
          <p:nvSpPr>
            <p:cNvPr id="12" name="Rectangle 12"/>
            <p:cNvSpPr/>
            <p:nvPr/>
          </p:nvSpPr>
          <p:spPr>
            <a:xfrm>
              <a:off x="3333750" y="1714500"/>
              <a:ext cx="2486025" cy="1333500"/>
            </a:xfrm>
            <a:prstGeom prst="rect">
              <a:avLst/>
            </a:prstGeom>
            <a:solidFill>
              <a:srgbClr val="E5F2ED"/>
            </a:solidFill>
            <a:ln>
              <a:noFill/>
            </a:ln>
          </p:spPr>
        </p:sp>
        <p:sp>
          <p:nvSpPr>
            <p:cNvPr id="13" name="TextBox 13"/>
            <p:cNvSpPr txBox="1"/>
            <p:nvPr/>
          </p:nvSpPr>
          <p:spPr>
            <a:xfrm>
              <a:off x="3486150" y="1833086"/>
              <a:ext cx="2116646"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02 筛选高置信度</a:t>
              </a:r>
            </a:p>
          </p:txBody>
        </p:sp>
        <p:sp>
          <p:nvSpPr>
            <p:cNvPr id="14" name="TextBox 14"/>
            <p:cNvSpPr txBox="1"/>
            <p:nvPr/>
          </p:nvSpPr>
          <p:spPr>
            <a:xfrm>
              <a:off x="3486150" y="2170271"/>
              <a:ext cx="2116455" cy="539305"/>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FPR、FNR均低于5%</a:t>
              </a:r>
              <a:br>
                <a:rPr dirty="0"/>
              </a:br>
              <a:r>
                <a:rPr lang="zh-CN" sz="1420" dirty="0">
                  <a:solidFill>
                    <a:srgbClr val="202B33"/>
                  </a:solidFill>
                  <a:latin typeface="Arial"/>
                  <a:ea typeface="Microsoft YaHei"/>
                  <a:cs typeface="Arial"/>
                </a:rPr>
                <a:t>保留约35.0%的</a:t>
              </a:r>
              <a:r>
                <a:rPr lang="zh-CN" altLang="en-US" sz="1420" dirty="0">
                  <a:solidFill>
                    <a:srgbClr val="202B33"/>
                  </a:solidFill>
                  <a:latin typeface="Arial"/>
                  <a:ea typeface="Microsoft YaHei"/>
                  <a:cs typeface="Arial"/>
                </a:rPr>
                <a:t>结果</a:t>
              </a:r>
              <a:endParaRPr lang="zh-CN" sz="1420" dirty="0">
                <a:solidFill>
                  <a:srgbClr val="202B33"/>
                </a:solidFill>
                <a:latin typeface="Arial"/>
                <a:ea typeface="Microsoft YaHei"/>
                <a:cs typeface="Arial"/>
              </a:endParaRPr>
            </a:p>
          </p:txBody>
        </p:sp>
        <p:sp>
          <p:nvSpPr>
            <p:cNvPr id="15" name="Rectangle 15"/>
            <p:cNvSpPr/>
            <p:nvPr/>
          </p:nvSpPr>
          <p:spPr>
            <a:xfrm>
              <a:off x="6115050" y="1714500"/>
              <a:ext cx="2486025" cy="1333500"/>
            </a:xfrm>
            <a:prstGeom prst="rect">
              <a:avLst/>
            </a:prstGeom>
            <a:solidFill>
              <a:srgbClr val="F0F5F6"/>
            </a:solidFill>
            <a:ln>
              <a:noFill/>
            </a:ln>
          </p:spPr>
        </p:sp>
        <p:sp>
          <p:nvSpPr>
            <p:cNvPr id="16" name="TextBox 16"/>
            <p:cNvSpPr txBox="1"/>
            <p:nvPr/>
          </p:nvSpPr>
          <p:spPr>
            <a:xfrm>
              <a:off x="6267450" y="1833086"/>
              <a:ext cx="2015204"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03 作为 IC </a:t>
              </a:r>
              <a:r>
                <a:rPr lang="zh-CN" altLang="en-US" sz="1720" b="1" dirty="0">
                  <a:solidFill>
                    <a:srgbClr val="005A84"/>
                  </a:solidFill>
                  <a:ea typeface="Microsoft YaHei"/>
                </a:rPr>
                <a:t>提示词</a:t>
              </a:r>
              <a:endParaRPr lang="zh-CN" sz="1720" b="1" dirty="0">
                <a:solidFill>
                  <a:srgbClr val="005A84"/>
                </a:solidFill>
                <a:latin typeface="Arial"/>
                <a:ea typeface="Microsoft YaHei"/>
                <a:cs typeface="Arial"/>
              </a:endParaRPr>
            </a:p>
          </p:txBody>
        </p:sp>
        <p:sp>
          <p:nvSpPr>
            <p:cNvPr id="17" name="TextBox 17"/>
            <p:cNvSpPr txBox="1"/>
            <p:nvPr/>
          </p:nvSpPr>
          <p:spPr>
            <a:xfrm>
              <a:off x="6267450" y="2170271"/>
              <a:ext cx="2059496" cy="539305"/>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把查询、工具、数据</a:t>
              </a:r>
              <a:br>
                <a:rPr dirty="0"/>
              </a:br>
              <a:r>
                <a:rPr lang="zh-CN" sz="1420" dirty="0">
                  <a:solidFill>
                    <a:srgbClr val="202B33"/>
                  </a:solidFill>
                  <a:latin typeface="Arial"/>
                  <a:ea typeface="Microsoft YaHei"/>
                  <a:cs typeface="Arial"/>
                </a:rPr>
                <a:t>与决定写入提示词</a:t>
              </a:r>
            </a:p>
          </p:txBody>
        </p:sp>
        <p:sp>
          <p:nvSpPr>
            <p:cNvPr id="18" name="Line 18"/>
            <p:cNvSpPr/>
            <p:nvPr/>
          </p:nvSpPr>
          <p:spPr>
            <a:xfrm>
              <a:off x="3086100" y="2381250"/>
              <a:ext cx="161925" cy="1"/>
            </a:xfrm>
            <a:prstGeom prst="line">
              <a:avLst/>
            </a:prstGeom>
            <a:noFill/>
            <a:ln w="19050">
              <a:solidFill>
                <a:srgbClr val="16735C"/>
              </a:solidFill>
              <a:tailEnd type="triangle" w="lg" len="lg"/>
            </a:ln>
          </p:spPr>
        </p:sp>
        <p:sp>
          <p:nvSpPr>
            <p:cNvPr id="19" name="Line 19"/>
            <p:cNvSpPr/>
            <p:nvPr/>
          </p:nvSpPr>
          <p:spPr>
            <a:xfrm>
              <a:off x="5848350" y="2381250"/>
              <a:ext cx="180975" cy="1"/>
            </a:xfrm>
            <a:prstGeom prst="line">
              <a:avLst/>
            </a:prstGeom>
            <a:noFill/>
            <a:ln w="19050">
              <a:solidFill>
                <a:srgbClr val="16735C"/>
              </a:solidFill>
              <a:tailEnd type="triangle" w="lg" len="lg"/>
            </a:ln>
          </p:spPr>
        </p:sp>
        <p:sp>
          <p:nvSpPr>
            <p:cNvPr id="20" name="TextBox 20"/>
            <p:cNvSpPr txBox="1"/>
            <p:nvPr/>
          </p:nvSpPr>
          <p:spPr>
            <a:xfrm>
              <a:off x="657225" y="3355658"/>
              <a:ext cx="6265069" cy="314325"/>
            </a:xfrm>
            <a:prstGeom prst="rect">
              <a:avLst/>
            </a:prstGeom>
            <a:noFill/>
            <a:ln>
              <a:noFill/>
            </a:ln>
          </p:spPr>
          <p:txBody>
            <a:bodyPr wrap="none" lIns="0" tIns="0" rIns="0" bIns="0" anchor="t" anchorCtr="0">
              <a:noAutofit/>
            </a:bodyPr>
            <a:lstStyle/>
            <a:p>
              <a:pPr algn="l"/>
              <a:r>
                <a:rPr lang="zh-CN" sz="1650" b="1" dirty="0">
                  <a:solidFill>
                    <a:srgbClr val="BE4B42"/>
                  </a:solidFill>
                  <a:latin typeface="Arial"/>
                  <a:ea typeface="Microsoft YaHei"/>
                  <a:cs typeface="Arial"/>
                </a:rPr>
                <a:t>作者发现：加入全部 CF 建议，会降低最终预测准确率。</a:t>
              </a:r>
            </a:p>
          </p:txBody>
        </p:sp>
        <p:sp>
          <p:nvSpPr>
            <p:cNvPr id="21" name="TextBox 21"/>
            <p:cNvSpPr txBox="1"/>
            <p:nvPr/>
          </p:nvSpPr>
          <p:spPr>
            <a:xfrm>
              <a:off x="657225" y="3721502"/>
              <a:ext cx="5659088" cy="271462"/>
            </a:xfrm>
            <a:prstGeom prst="rect">
              <a:avLst/>
            </a:prstGeom>
            <a:noFill/>
            <a:ln>
              <a:noFill/>
            </a:ln>
          </p:spPr>
          <p:txBody>
            <a:bodyPr wrap="none" lIns="0" tIns="0" rIns="0" bIns="0" anchor="t" anchorCtr="0">
              <a:noAutofit/>
            </a:bodyPr>
            <a:lstStyle/>
            <a:p>
              <a:pPr algn="l"/>
              <a:r>
                <a:rPr lang="zh-CN" sz="1420" dirty="0">
                  <a:solidFill>
                    <a:srgbClr val="5C6B73"/>
                  </a:solidFill>
                  <a:latin typeface="Arial"/>
                  <a:ea typeface="Microsoft YaHei"/>
                  <a:cs typeface="Arial"/>
                </a:rPr>
                <a:t>错误建议会传递到最终结果，因此建议质量比数量更重要。</a:t>
              </a:r>
            </a:p>
          </p:txBody>
        </p:sp>
      </p:grpSp>
      <p:grpSp>
        <p:nvGrpSpPr>
          <p:cNvPr id="26" name="Group 26"/>
          <p:cNvGrpSpPr/>
          <p:nvPr/>
        </p:nvGrpSpPr>
        <p:grpSpPr>
          <a:xfrm>
            <a:off x="476250" y="4218468"/>
            <a:ext cx="8191500" cy="504825"/>
            <a:chOff x="476250" y="4229100"/>
            <a:chExt cx="8191500" cy="504825"/>
          </a:xfrm>
        </p:grpSpPr>
        <p:sp>
          <p:nvSpPr>
            <p:cNvPr id="23" name="Rectangle 23"/>
            <p:cNvSpPr/>
            <p:nvPr/>
          </p:nvSpPr>
          <p:spPr>
            <a:xfrm>
              <a:off x="476250" y="4229100"/>
              <a:ext cx="8191500" cy="504825"/>
            </a:xfrm>
            <a:prstGeom prst="rect">
              <a:avLst/>
            </a:prstGeom>
            <a:solidFill>
              <a:srgbClr val="F0F5F6"/>
            </a:solidFill>
            <a:ln>
              <a:noFill/>
            </a:ln>
          </p:spPr>
        </p:sp>
        <p:sp>
          <p:nvSpPr>
            <p:cNvPr id="24" name="Rectangle 24"/>
            <p:cNvSpPr/>
            <p:nvPr/>
          </p:nvSpPr>
          <p:spPr>
            <a:xfrm>
              <a:off x="476250" y="4229100"/>
              <a:ext cx="38100" cy="504825"/>
            </a:xfrm>
            <a:prstGeom prst="rect">
              <a:avLst/>
            </a:prstGeom>
            <a:solidFill>
              <a:srgbClr val="16735C"/>
            </a:solidFill>
            <a:ln>
              <a:noFill/>
            </a:ln>
          </p:spPr>
        </p:sp>
        <p:sp>
          <p:nvSpPr>
            <p:cNvPr id="25" name="TextBox 25"/>
            <p:cNvSpPr txBox="1"/>
            <p:nvPr/>
          </p:nvSpPr>
          <p:spPr>
            <a:xfrm>
              <a:off x="614737" y="4388098"/>
              <a:ext cx="6123242" cy="271462"/>
            </a:xfrm>
            <a:prstGeom prst="rect">
              <a:avLst/>
            </a:prstGeom>
            <a:noFill/>
            <a:ln>
              <a:noFill/>
            </a:ln>
          </p:spPr>
          <p:txBody>
            <a:bodyPr wrap="none" lIns="0" tIns="0" rIns="0" bIns="0" anchor="t" anchorCtr="0">
              <a:noAutofit/>
            </a:bodyPr>
            <a:lstStyle/>
            <a:p>
              <a:pPr algn="l"/>
              <a:r>
                <a:rPr lang="en-US" altLang="zh-CN" sz="1420" b="1" dirty="0">
                  <a:solidFill>
                    <a:srgbClr val="16735C"/>
                  </a:solidFill>
                  <a:latin typeface="Arial"/>
                  <a:ea typeface="Microsoft YaHei"/>
                  <a:cs typeface="Arial"/>
                </a:rPr>
                <a:t>CF</a:t>
              </a:r>
              <a:r>
                <a:rPr lang="zh-CN" altLang="en-US" sz="1420" b="1" dirty="0">
                  <a:solidFill>
                    <a:srgbClr val="16735C"/>
                  </a:solidFill>
                  <a:latin typeface="Arial"/>
                  <a:ea typeface="Microsoft YaHei"/>
                  <a:cs typeface="Arial"/>
                </a:rPr>
                <a:t>传递可靠建议数据，</a:t>
              </a:r>
              <a:r>
                <a:rPr lang="en-US" altLang="zh-CN" sz="1420" b="1" dirty="0">
                  <a:solidFill>
                    <a:srgbClr val="16735C"/>
                  </a:solidFill>
                  <a:latin typeface="Arial"/>
                  <a:ea typeface="Microsoft YaHei"/>
                  <a:cs typeface="Arial"/>
                </a:rPr>
                <a:t>IC</a:t>
              </a:r>
              <a:r>
                <a:rPr lang="zh-CN" altLang="en-US" sz="1420" b="1" dirty="0">
                  <a:solidFill>
                    <a:srgbClr val="16735C"/>
                  </a:solidFill>
                  <a:latin typeface="Arial"/>
                  <a:ea typeface="Microsoft YaHei"/>
                  <a:cs typeface="Arial"/>
                </a:rPr>
                <a:t>结合个人决策历史综合输出决策结果与置信度。</a:t>
              </a:r>
              <a:endParaRPr lang="zh-CN" sz="1420" b="1" dirty="0">
                <a:solidFill>
                  <a:srgbClr val="16735C"/>
                </a:solidFill>
                <a:latin typeface="Arial"/>
                <a:ea typeface="Microsoft YaHei"/>
                <a:cs typeface="Arial"/>
              </a:endParaRPr>
            </a:p>
          </p:txBody>
        </p:sp>
      </p:grpSp>
    </p:spTree>
    <p:extLst>
      <p:ext uri="{BB962C8B-B14F-4D97-AF65-F5344CB8AC3E}">
        <p14:creationId xmlns:p14="http://schemas.microsoft.com/office/powerpoint/2010/main" val="1665432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C78DCFE-C0C2-5D8D-5B90-859A59A8CF8D}"/>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FFF0E4EE-5665-470F-7CFC-AE10267E1652}"/>
              </a:ext>
            </a:extLst>
          </p:cNvPr>
          <p:cNvGrpSpPr/>
          <p:nvPr/>
        </p:nvGrpSpPr>
        <p:grpSpPr>
          <a:xfrm>
            <a:off x="476250" y="392430"/>
            <a:ext cx="5935599" cy="1012984"/>
            <a:chOff x="476250" y="392430"/>
            <a:chExt cx="5935599" cy="1012984"/>
          </a:xfrm>
        </p:grpSpPr>
        <p:sp>
          <p:nvSpPr>
            <p:cNvPr id="2" name="TextBox 2">
              <a:extLst>
                <a:ext uri="{FF2B5EF4-FFF2-40B4-BE49-F238E27FC236}">
                  <a16:creationId xmlns:a16="http://schemas.microsoft.com/office/drawing/2014/main" id="{5C78F2C1-67A6-0B04-9CFA-444D1EE55306}"/>
                </a:ext>
              </a:extLst>
            </p:cNvPr>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a:extLst>
                <a:ext uri="{FF2B5EF4-FFF2-40B4-BE49-F238E27FC236}">
                  <a16:creationId xmlns:a16="http://schemas.microsoft.com/office/drawing/2014/main" id="{F707EC6A-F774-0216-FF16-5E075CDF8DBF}"/>
                </a:ext>
              </a:extLst>
            </p:cNvPr>
            <p:cNvSpPr txBox="1"/>
            <p:nvPr/>
          </p:nvSpPr>
          <p:spPr>
            <a:xfrm>
              <a:off x="1219200" y="392430"/>
              <a:ext cx="3347085"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a:t>
              </a:r>
              <a:r>
                <a:rPr lang="zh-CN" altLang="en-US" sz="2100" b="1" dirty="0">
                  <a:solidFill>
                    <a:srgbClr val="202B33"/>
                  </a:solidFill>
                  <a:latin typeface="Arial"/>
                  <a:ea typeface="Microsoft YaHei"/>
                  <a:cs typeface="Arial"/>
                </a:rPr>
                <a:t>我们要验证什么？</a:t>
              </a:r>
              <a:endParaRPr lang="zh-CN" sz="2100" b="1" dirty="0">
                <a:solidFill>
                  <a:srgbClr val="202B33"/>
                </a:solidFill>
                <a:latin typeface="Arial"/>
                <a:ea typeface="Microsoft YaHei"/>
                <a:cs typeface="Arial"/>
              </a:endParaRPr>
            </a:p>
          </p:txBody>
        </p:sp>
        <p:sp>
          <p:nvSpPr>
            <p:cNvPr id="4" name="TextBox 4">
              <a:extLst>
                <a:ext uri="{FF2B5EF4-FFF2-40B4-BE49-F238E27FC236}">
                  <a16:creationId xmlns:a16="http://schemas.microsoft.com/office/drawing/2014/main" id="{E6575002-DD28-37B9-9A32-0374A01C3B99}"/>
                </a:ext>
              </a:extLst>
            </p:cNvPr>
            <p:cNvSpPr txBox="1"/>
            <p:nvPr/>
          </p:nvSpPr>
          <p:spPr>
            <a:xfrm>
              <a:off x="476250" y="1019651"/>
              <a:ext cx="5935599"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latin typeface="Arial"/>
                  <a:ea typeface="Microsoft YaHei"/>
                  <a:cs typeface="Arial"/>
                </a:rPr>
                <a:t>自动化权限预测是否可行、在什么条件下可行</a:t>
              </a:r>
              <a:endParaRPr lang="zh-CN" sz="2020" b="1" dirty="0">
                <a:solidFill>
                  <a:srgbClr val="005A84"/>
                </a:solidFill>
                <a:latin typeface="Arial"/>
                <a:ea typeface="Microsoft YaHei"/>
                <a:cs typeface="Arial"/>
              </a:endParaRPr>
            </a:p>
          </p:txBody>
        </p:sp>
      </p:grpSp>
      <p:graphicFrame>
        <p:nvGraphicFramePr>
          <p:cNvPr id="28" name="表格 27">
            <a:extLst>
              <a:ext uri="{FF2B5EF4-FFF2-40B4-BE49-F238E27FC236}">
                <a16:creationId xmlns:a16="http://schemas.microsoft.com/office/drawing/2014/main" id="{56408895-508E-8E28-06F6-1EF7C64FC94F}"/>
              </a:ext>
            </a:extLst>
          </p:cNvPr>
          <p:cNvGraphicFramePr>
            <a:graphicFrameLocks noGrp="1"/>
          </p:cNvGraphicFramePr>
          <p:nvPr>
            <p:extLst>
              <p:ext uri="{D42A27DB-BD31-4B8C-83A1-F6EECF244321}">
                <p14:modId xmlns:p14="http://schemas.microsoft.com/office/powerpoint/2010/main" val="2339597795"/>
              </p:ext>
            </p:extLst>
          </p:nvPr>
        </p:nvGraphicFramePr>
        <p:xfrm>
          <a:off x="683290" y="1916488"/>
          <a:ext cx="7307674" cy="2151210"/>
        </p:xfrm>
        <a:graphic>
          <a:graphicData uri="http://schemas.openxmlformats.org/drawingml/2006/table">
            <a:tbl>
              <a:tblPr>
                <a:tableStyleId>{01689EBE-A8BA-4E9F-A005-15CF966D7EB2}</a:tableStyleId>
              </a:tblPr>
              <a:tblGrid>
                <a:gridCol w="3418726">
                  <a:extLst>
                    <a:ext uri="{9D8B030D-6E8A-4147-A177-3AD203B41FA5}">
                      <a16:colId xmlns:a16="http://schemas.microsoft.com/office/drawing/2014/main" val="1276913263"/>
                    </a:ext>
                  </a:extLst>
                </a:gridCol>
                <a:gridCol w="3888948">
                  <a:extLst>
                    <a:ext uri="{9D8B030D-6E8A-4147-A177-3AD203B41FA5}">
                      <a16:colId xmlns:a16="http://schemas.microsoft.com/office/drawing/2014/main" val="1100412646"/>
                    </a:ext>
                  </a:extLst>
                </a:gridCol>
              </a:tblGrid>
              <a:tr h="423210">
                <a:tc>
                  <a:txBody>
                    <a:bodyPr/>
                    <a:lstStyle/>
                    <a:p>
                      <a:pPr algn="ctr">
                        <a:lnSpc>
                          <a:spcPct val="138889"/>
                        </a:lnSpc>
                        <a:buNone/>
                      </a:pPr>
                      <a:r>
                        <a:rPr lang="zh-CN" sz="1400" b="1" i="0" dirty="0">
                          <a:solidFill>
                            <a:schemeClr val="bg1"/>
                          </a:solidFill>
                          <a:effectLst/>
                          <a:latin typeface="微软雅黑" panose="020B0503020204020204" pitchFamily="34" charset="-122"/>
                          <a:ea typeface="微软雅黑" panose="020B0503020204020204" pitchFamily="34" charset="-122"/>
                        </a:rPr>
                        <a:t>验证目标</a:t>
                      </a: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005A84"/>
                    </a:solidFill>
                  </a:tcPr>
                </a:tc>
                <a:tc>
                  <a:txBody>
                    <a:bodyPr/>
                    <a:lstStyle/>
                    <a:p>
                      <a:pPr algn="ctr">
                        <a:lnSpc>
                          <a:spcPct val="138889"/>
                        </a:lnSpc>
                        <a:buNone/>
                      </a:pPr>
                      <a:r>
                        <a:rPr lang="zh-CN" sz="1400" b="1" i="0" dirty="0">
                          <a:solidFill>
                            <a:schemeClr val="bg1"/>
                          </a:solidFill>
                          <a:effectLst/>
                          <a:latin typeface="微软雅黑" panose="020B0503020204020204" pitchFamily="34" charset="-122"/>
                          <a:ea typeface="微软雅黑" panose="020B0503020204020204" pitchFamily="34" charset="-122"/>
                        </a:rPr>
                        <a:t>实验设计</a:t>
                      </a:r>
                    </a:p>
                  </a:txBody>
                  <a:tcPr marL="76200"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005A84"/>
                    </a:solidFill>
                  </a:tcPr>
                </a:tc>
                <a:extLst>
                  <a:ext uri="{0D108BD9-81ED-4DB2-BD59-A6C34878D82A}">
                    <a16:rowId xmlns:a16="http://schemas.microsoft.com/office/drawing/2014/main" val="722464079"/>
                  </a:ext>
                </a:extLst>
              </a:tr>
              <a:tr h="432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可行性</a:t>
                      </a:r>
                      <a:r>
                        <a:rPr lang="zh-CN" sz="1400" b="0" i="0" dirty="0">
                          <a:solidFill>
                            <a:srgbClr val="005A84"/>
                          </a:solidFill>
                          <a:effectLst/>
                          <a:latin typeface="微软雅黑" panose="020B0503020204020204" pitchFamily="34" charset="-122"/>
                          <a:ea typeface="微软雅黑" panose="020B0503020204020204" pitchFamily="34" charset="-122"/>
                        </a:rPr>
                        <a:t>：</a:t>
                      </a:r>
                      <a:r>
                        <a:rPr lang="zh-CN" sz="1400" b="0" i="0" dirty="0">
                          <a:solidFill>
                            <a:schemeClr val="tx1"/>
                          </a:solidFill>
                          <a:effectLst/>
                          <a:latin typeface="微软雅黑" panose="020B0503020204020204" pitchFamily="34" charset="-122"/>
                          <a:ea typeface="微软雅黑" panose="020B0503020204020204" pitchFamily="34" charset="-122"/>
                        </a:rPr>
                        <a:t>用户偏好是否可以被自动预测？</a:t>
                      </a: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tc>
                  <a:txBody>
                    <a:bodyPr/>
                    <a:lstStyle/>
                    <a:p>
                      <a:pPr algn="ctr">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用用户研究数据</a:t>
                      </a:r>
                      <a:r>
                        <a:rPr lang="zh-CN" altLang="en-US" sz="1400" b="0" i="0" dirty="0">
                          <a:solidFill>
                            <a:srgbClr val="0F1115"/>
                          </a:solidFill>
                          <a:effectLst/>
                          <a:latin typeface="微软雅黑" panose="020B0503020204020204" pitchFamily="34" charset="-122"/>
                          <a:ea typeface="微软雅黑" panose="020B0503020204020204" pitchFamily="34" charset="-122"/>
                        </a:rPr>
                        <a:t>测试前文方法</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extLst>
                  <a:ext uri="{0D108BD9-81ED-4DB2-BD59-A6C34878D82A}">
                    <a16:rowId xmlns:a16="http://schemas.microsoft.com/office/drawing/2014/main" val="1768359182"/>
                  </a:ext>
                </a:extLst>
              </a:tr>
              <a:tr h="432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互补性</a:t>
                      </a:r>
                      <a:r>
                        <a:rPr lang="zh-CN" sz="1400" b="0" i="0" dirty="0">
                          <a:solidFill>
                            <a:srgbClr val="005A84"/>
                          </a:solidFill>
                          <a:effectLst/>
                          <a:latin typeface="微软雅黑" panose="020B0503020204020204" pitchFamily="34" charset="-122"/>
                          <a:ea typeface="微软雅黑" panose="020B0503020204020204" pitchFamily="34" charset="-122"/>
                        </a:rPr>
                        <a:t>：</a:t>
                      </a:r>
                      <a:r>
                        <a:rPr lang="zh-CN" sz="1400" b="0" i="0" dirty="0">
                          <a:solidFill>
                            <a:schemeClr val="tx1"/>
                          </a:solidFill>
                          <a:effectLst/>
                          <a:latin typeface="微软雅黑" panose="020B0503020204020204" pitchFamily="34" charset="-122"/>
                          <a:ea typeface="微软雅黑" panose="020B0503020204020204" pitchFamily="34" charset="-122"/>
                        </a:rPr>
                        <a:t>IC + CF 混合是否优于单独使用？</a:t>
                      </a: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对比 CF、IC、IC+CF 三种</a:t>
                      </a:r>
                      <a:r>
                        <a:rPr lang="zh-CN" altLang="en-US" sz="1400" b="0" i="0" dirty="0">
                          <a:solidFill>
                            <a:srgbClr val="0F1115"/>
                          </a:solidFill>
                          <a:effectLst/>
                          <a:latin typeface="微软雅黑" panose="020B0503020204020204" pitchFamily="34" charset="-122"/>
                          <a:ea typeface="微软雅黑" panose="020B0503020204020204" pitchFamily="34" charset="-122"/>
                        </a:rPr>
                        <a:t>方法结果</a:t>
                      </a:r>
                      <a:endParaRPr lang="zh-CN" sz="1400" b="0" i="0" dirty="0">
                        <a:solidFill>
                          <a:srgbClr val="0F1115"/>
                        </a:solidFill>
                        <a:effectLst/>
                        <a:latin typeface="微软雅黑" panose="020B0503020204020204" pitchFamily="34" charset="-122"/>
                        <a:ea typeface="微软雅黑" panose="020B0503020204020204" pitchFamily="34" charset="-122"/>
                      </a:endParaRP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061041781"/>
                  </a:ext>
                </a:extLst>
              </a:tr>
              <a:tr h="432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边界</a:t>
                      </a:r>
                      <a:r>
                        <a:rPr lang="zh-CN" sz="1400" b="0" i="0" dirty="0">
                          <a:solidFill>
                            <a:srgbClr val="005A84"/>
                          </a:solidFill>
                          <a:effectLst/>
                          <a:latin typeface="微软雅黑" panose="020B0503020204020204" pitchFamily="34" charset="-122"/>
                          <a:ea typeface="微软雅黑" panose="020B0503020204020204" pitchFamily="34" charset="-122"/>
                        </a:rPr>
                        <a:t>：</a:t>
                      </a:r>
                      <a:r>
                        <a:rPr lang="zh-CN" sz="1400" b="0" i="0" dirty="0">
                          <a:solidFill>
                            <a:schemeClr val="tx1"/>
                          </a:solidFill>
                          <a:effectLst/>
                          <a:latin typeface="微软雅黑" panose="020B0503020204020204" pitchFamily="34" charset="-122"/>
                          <a:ea typeface="微软雅黑" panose="020B0503020204020204" pitchFamily="34" charset="-122"/>
                        </a:rPr>
                        <a:t>多少覆盖率下能达到多高准确率？</a:t>
                      </a: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tc>
                  <a:txBody>
                    <a:bodyPr/>
                    <a:lstStyle/>
                    <a:p>
                      <a:pPr algn="ctr">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调整置信度阈值，观察准确率</a:t>
                      </a:r>
                      <a:r>
                        <a:rPr lang="zh-CN" altLang="en-US" sz="1400" b="0" i="0" dirty="0">
                          <a:solidFill>
                            <a:srgbClr val="0F1115"/>
                          </a:solidFill>
                          <a:effectLst/>
                          <a:latin typeface="微软雅黑" panose="020B0503020204020204" pitchFamily="34" charset="-122"/>
                          <a:ea typeface="微软雅黑" panose="020B0503020204020204" pitchFamily="34" charset="-122"/>
                        </a:rPr>
                        <a:t>与</a:t>
                      </a:r>
                      <a:r>
                        <a:rPr lang="zh-CN" sz="1400" b="0" i="0" dirty="0">
                          <a:solidFill>
                            <a:srgbClr val="0F1115"/>
                          </a:solidFill>
                          <a:effectLst/>
                          <a:latin typeface="微软雅黑" panose="020B0503020204020204" pitchFamily="34" charset="-122"/>
                          <a:ea typeface="微软雅黑" panose="020B0503020204020204" pitchFamily="34" charset="-122"/>
                        </a:rPr>
                        <a:t>覆盖率</a:t>
                      </a: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0F5F6"/>
                    </a:solidFill>
                  </a:tcPr>
                </a:tc>
                <a:extLst>
                  <a:ext uri="{0D108BD9-81ED-4DB2-BD59-A6C34878D82A}">
                    <a16:rowId xmlns:a16="http://schemas.microsoft.com/office/drawing/2014/main" val="4014093318"/>
                  </a:ext>
                </a:extLst>
              </a:tr>
              <a:tr h="432000">
                <a:tc>
                  <a:txBody>
                    <a:bodyPr/>
                    <a:lstStyle/>
                    <a:p>
                      <a:pPr algn="l">
                        <a:lnSpc>
                          <a:spcPct val="138889"/>
                        </a:lnSpc>
                        <a:buNone/>
                      </a:pPr>
                      <a:r>
                        <a:rPr lang="zh-CN" sz="1400" b="1" i="0" dirty="0">
                          <a:solidFill>
                            <a:srgbClr val="005A84"/>
                          </a:solidFill>
                          <a:effectLst/>
                          <a:latin typeface="微软雅黑" panose="020B0503020204020204" pitchFamily="34" charset="-122"/>
                          <a:ea typeface="微软雅黑" panose="020B0503020204020204" pitchFamily="34" charset="-122"/>
                        </a:rPr>
                        <a:t>历史价值</a:t>
                      </a:r>
                      <a:r>
                        <a:rPr lang="zh-CN" sz="1400" b="0" i="0" dirty="0">
                          <a:solidFill>
                            <a:srgbClr val="005A84"/>
                          </a:solidFill>
                          <a:effectLst/>
                          <a:latin typeface="微软雅黑" panose="020B0503020204020204" pitchFamily="34" charset="-122"/>
                          <a:ea typeface="微软雅黑" panose="020B0503020204020204" pitchFamily="34" charset="-122"/>
                        </a:rPr>
                        <a:t>：</a:t>
                      </a:r>
                      <a:r>
                        <a:rPr lang="zh-CN" sz="1400" b="0" i="0" dirty="0">
                          <a:solidFill>
                            <a:schemeClr val="tx1"/>
                          </a:solidFill>
                          <a:effectLst/>
                          <a:latin typeface="微软雅黑" panose="020B0503020204020204" pitchFamily="34" charset="-122"/>
                          <a:ea typeface="微软雅黑" panose="020B0503020204020204" pitchFamily="34" charset="-122"/>
                        </a:rPr>
                        <a:t>少量历史是否足够？</a:t>
                      </a:r>
                    </a:p>
                  </a:txBody>
                  <a:tcPr marR="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EFEFE"/>
                    </a:solidFill>
                  </a:tcPr>
                </a:tc>
                <a:tc>
                  <a:txBody>
                    <a:bodyPr/>
                    <a:lstStyle/>
                    <a:p>
                      <a:pPr algn="ctr">
                        <a:lnSpc>
                          <a:spcPct val="138889"/>
                        </a:lnSpc>
                        <a:buNone/>
                      </a:pPr>
                      <a:r>
                        <a:rPr lang="zh-CN" sz="1400" b="0" i="0" dirty="0">
                          <a:solidFill>
                            <a:srgbClr val="0F1115"/>
                          </a:solidFill>
                          <a:effectLst/>
                          <a:latin typeface="微软雅黑" panose="020B0503020204020204" pitchFamily="34" charset="-122"/>
                          <a:ea typeface="微软雅黑" panose="020B0503020204020204" pitchFamily="34" charset="-122"/>
                        </a:rPr>
                        <a:t>改变训练历史比例，观察准确率变化</a:t>
                      </a:r>
                    </a:p>
                  </a:txBody>
                  <a:tcPr marL="76200" marT="47625" marB="476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EFEFE"/>
                    </a:solidFill>
                  </a:tcPr>
                </a:tc>
                <a:extLst>
                  <a:ext uri="{0D108BD9-81ED-4DB2-BD59-A6C34878D82A}">
                    <a16:rowId xmlns:a16="http://schemas.microsoft.com/office/drawing/2014/main" val="2369958875"/>
                  </a:ext>
                </a:extLst>
              </a:tr>
            </a:tbl>
          </a:graphicData>
        </a:graphic>
      </p:graphicFrame>
    </p:spTree>
    <p:extLst>
      <p:ext uri="{BB962C8B-B14F-4D97-AF65-F5344CB8AC3E}">
        <p14:creationId xmlns:p14="http://schemas.microsoft.com/office/powerpoint/2010/main" val="3499895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BD3A3C6-B3C2-5B6A-B8E6-1E109FBFDA30}"/>
            </a:ext>
          </a:extLst>
        </p:cNvPr>
        <p:cNvGrpSpPr/>
        <p:nvPr/>
      </p:nvGrpSpPr>
      <p:grpSpPr>
        <a:xfrm>
          <a:off x="0" y="0"/>
          <a:ext cx="0" cy="0"/>
          <a:chOff x="0" y="0"/>
          <a:chExt cx="0" cy="0"/>
        </a:xfrm>
      </p:grpSpPr>
      <p:grpSp>
        <p:nvGrpSpPr>
          <p:cNvPr id="5" name="Group 5"/>
          <p:cNvGrpSpPr/>
          <p:nvPr/>
        </p:nvGrpSpPr>
        <p:grpSpPr>
          <a:xfrm>
            <a:off x="491661" y="392430"/>
            <a:ext cx="5935599" cy="971888"/>
            <a:chOff x="491661" y="392430"/>
            <a:chExt cx="5935599" cy="971888"/>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p:cNvSpPr txBox="1"/>
            <p:nvPr/>
          </p:nvSpPr>
          <p:spPr>
            <a:xfrm>
              <a:off x="1219200" y="392430"/>
              <a:ext cx="3347085"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实验：数据与验证方式</a:t>
              </a:r>
            </a:p>
          </p:txBody>
        </p:sp>
        <p:sp>
          <p:nvSpPr>
            <p:cNvPr id="4" name="TextBox 4"/>
            <p:cNvSpPr txBox="1"/>
            <p:nvPr/>
          </p:nvSpPr>
          <p:spPr>
            <a:xfrm>
              <a:off x="491661" y="978555"/>
              <a:ext cx="5935599"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只</a:t>
              </a:r>
              <a:r>
                <a:rPr lang="zh-CN" altLang="en-US" sz="2020" b="1" dirty="0">
                  <a:solidFill>
                    <a:srgbClr val="005A84"/>
                  </a:solidFill>
                  <a:ea typeface="Microsoft YaHei"/>
                </a:rPr>
                <a:t>关注</a:t>
              </a:r>
              <a:r>
                <a:rPr lang="zh-CN" sz="2020" b="1" dirty="0">
                  <a:solidFill>
                    <a:srgbClr val="005A84"/>
                  </a:solidFill>
                  <a:latin typeface="Arial"/>
                  <a:ea typeface="Microsoft YaHei"/>
                  <a:cs typeface="Arial"/>
                </a:rPr>
                <a:t>长期偏好，</a:t>
              </a:r>
              <a:r>
                <a:rPr lang="zh-CN" altLang="en-US" sz="2020" b="1" dirty="0">
                  <a:solidFill>
                    <a:srgbClr val="005A84"/>
                  </a:solidFill>
                  <a:latin typeface="Arial"/>
                  <a:ea typeface="Microsoft YaHei"/>
                  <a:cs typeface="Arial"/>
                </a:rPr>
                <a:t>训练与评估采用五折交叉验证</a:t>
              </a:r>
              <a:endParaRPr lang="zh-CN" sz="2020" b="1" dirty="0">
                <a:solidFill>
                  <a:srgbClr val="005A84"/>
                </a:solidFill>
                <a:latin typeface="Arial"/>
                <a:ea typeface="Microsoft YaHei"/>
                <a:cs typeface="Arial"/>
              </a:endParaRPr>
            </a:p>
          </p:txBody>
        </p:sp>
      </p:grpSp>
      <p:grpSp>
        <p:nvGrpSpPr>
          <p:cNvPr id="27" name="Group 27"/>
          <p:cNvGrpSpPr/>
          <p:nvPr/>
        </p:nvGrpSpPr>
        <p:grpSpPr>
          <a:xfrm>
            <a:off x="504825" y="1883772"/>
            <a:ext cx="8134350" cy="2459356"/>
            <a:chOff x="619125" y="1623536"/>
            <a:chExt cx="8134350" cy="2459356"/>
          </a:xfrm>
        </p:grpSpPr>
        <p:sp>
          <p:nvSpPr>
            <p:cNvPr id="9" name="TextBox 9"/>
            <p:cNvSpPr txBox="1"/>
            <p:nvPr/>
          </p:nvSpPr>
          <p:spPr>
            <a:xfrm>
              <a:off x="619125" y="1623536"/>
              <a:ext cx="1234726" cy="614362"/>
            </a:xfrm>
            <a:prstGeom prst="rect">
              <a:avLst/>
            </a:prstGeom>
            <a:noFill/>
            <a:ln>
              <a:noFill/>
            </a:ln>
          </p:spPr>
          <p:txBody>
            <a:bodyPr wrap="none" lIns="0" tIns="0" rIns="0" bIns="0" anchor="t" anchorCtr="0">
              <a:noAutofit/>
            </a:bodyPr>
            <a:lstStyle/>
            <a:p>
              <a:pPr algn="l"/>
              <a:r>
                <a:rPr lang="en-US" sz="3220" b="1" dirty="0">
                  <a:solidFill>
                    <a:srgbClr val="005A84"/>
                  </a:solidFill>
                  <a:latin typeface="Arial"/>
                  <a:ea typeface="Arial"/>
                  <a:cs typeface="Arial"/>
                </a:rPr>
                <a:t>181</a:t>
              </a:r>
            </a:p>
          </p:txBody>
        </p:sp>
        <p:sp>
          <p:nvSpPr>
            <p:cNvPr id="10" name="TextBox 10"/>
            <p:cNvSpPr txBox="1"/>
            <p:nvPr/>
          </p:nvSpPr>
          <p:spPr>
            <a:xfrm>
              <a:off x="619125" y="2132171"/>
              <a:ext cx="1847755" cy="271462"/>
            </a:xfrm>
            <a:prstGeom prst="rect">
              <a:avLst/>
            </a:prstGeom>
            <a:noFill/>
            <a:ln>
              <a:noFill/>
            </a:ln>
          </p:spPr>
          <p:txBody>
            <a:bodyPr wrap="none" lIns="0" tIns="0" rIns="0" bIns="0" anchor="t" anchorCtr="0">
              <a:noAutofit/>
            </a:bodyPr>
            <a:lstStyle/>
            <a:p>
              <a:pPr algn="l"/>
              <a:r>
                <a:rPr lang="zh-CN" sz="1420" dirty="0">
                  <a:solidFill>
                    <a:srgbClr val="5C6B73"/>
                  </a:solidFill>
                  <a:latin typeface="Arial"/>
                  <a:ea typeface="Microsoft YaHei"/>
                  <a:cs typeface="Arial"/>
                </a:rPr>
                <a:t>进入</a:t>
              </a:r>
              <a:r>
                <a:rPr lang="zh-CN" altLang="en-US" sz="1420" dirty="0">
                  <a:solidFill>
                    <a:srgbClr val="5C6B73"/>
                  </a:solidFill>
                  <a:latin typeface="Arial"/>
                  <a:ea typeface="Microsoft YaHei"/>
                  <a:cs typeface="Arial"/>
                </a:rPr>
                <a:t>评估</a:t>
              </a:r>
              <a:r>
                <a:rPr lang="zh-CN" sz="1420" dirty="0">
                  <a:solidFill>
                    <a:srgbClr val="5C6B73"/>
                  </a:solidFill>
                  <a:latin typeface="Arial"/>
                  <a:ea typeface="Microsoft YaHei"/>
                  <a:cs typeface="Arial"/>
                </a:rPr>
                <a:t>的参与者</a:t>
              </a:r>
            </a:p>
          </p:txBody>
        </p:sp>
        <p:sp>
          <p:nvSpPr>
            <p:cNvPr id="11" name="TextBox 11"/>
            <p:cNvSpPr txBox="1"/>
            <p:nvPr/>
          </p:nvSpPr>
          <p:spPr>
            <a:xfrm>
              <a:off x="3333750" y="1623536"/>
              <a:ext cx="1667161" cy="614362"/>
            </a:xfrm>
            <a:prstGeom prst="rect">
              <a:avLst/>
            </a:prstGeom>
            <a:noFill/>
            <a:ln>
              <a:noFill/>
            </a:ln>
          </p:spPr>
          <p:txBody>
            <a:bodyPr wrap="none" lIns="0" tIns="0" rIns="0" bIns="0" anchor="t" anchorCtr="0">
              <a:noAutofit/>
            </a:bodyPr>
            <a:lstStyle/>
            <a:p>
              <a:pPr algn="l"/>
              <a:r>
                <a:rPr lang="en-US" sz="3220" b="1" dirty="0">
                  <a:solidFill>
                    <a:srgbClr val="005A84"/>
                  </a:solidFill>
                  <a:latin typeface="Arial"/>
                  <a:ea typeface="Arial"/>
                  <a:cs typeface="Arial"/>
                </a:rPr>
                <a:t>7,563</a:t>
              </a:r>
            </a:p>
          </p:txBody>
        </p:sp>
        <p:sp>
          <p:nvSpPr>
            <p:cNvPr id="12" name="TextBox 12"/>
            <p:cNvSpPr txBox="1"/>
            <p:nvPr/>
          </p:nvSpPr>
          <p:spPr>
            <a:xfrm>
              <a:off x="3333750" y="2132171"/>
              <a:ext cx="1424273" cy="271462"/>
            </a:xfrm>
            <a:prstGeom prst="rect">
              <a:avLst/>
            </a:prstGeom>
            <a:noFill/>
            <a:ln>
              <a:noFill/>
            </a:ln>
          </p:spPr>
          <p:txBody>
            <a:bodyPr wrap="none" lIns="0" tIns="0" rIns="0" bIns="0" anchor="t" anchorCtr="0">
              <a:noAutofit/>
            </a:bodyPr>
            <a:lstStyle/>
            <a:p>
              <a:pPr algn="l"/>
              <a:r>
                <a:rPr lang="zh-CN" sz="1420" dirty="0">
                  <a:solidFill>
                    <a:srgbClr val="5C6B73"/>
                  </a:solidFill>
                  <a:latin typeface="Arial"/>
                  <a:ea typeface="Microsoft YaHei"/>
                  <a:cs typeface="Arial"/>
                </a:rPr>
                <a:t>长期偏好决定</a:t>
              </a:r>
              <a:r>
                <a:rPr lang="zh-CN" altLang="en-US" sz="1420" dirty="0">
                  <a:solidFill>
                    <a:srgbClr val="5C6B73"/>
                  </a:solidFill>
                  <a:latin typeface="Arial"/>
                  <a:ea typeface="Microsoft YaHei"/>
                  <a:cs typeface="Arial"/>
                </a:rPr>
                <a:t>数</a:t>
              </a:r>
              <a:endParaRPr lang="zh-CN" sz="1420" dirty="0">
                <a:solidFill>
                  <a:srgbClr val="5C6B73"/>
                </a:solidFill>
                <a:latin typeface="Arial"/>
                <a:ea typeface="Microsoft YaHei"/>
                <a:cs typeface="Arial"/>
              </a:endParaRPr>
            </a:p>
          </p:txBody>
        </p:sp>
        <p:sp>
          <p:nvSpPr>
            <p:cNvPr id="13" name="TextBox 13"/>
            <p:cNvSpPr txBox="1"/>
            <p:nvPr/>
          </p:nvSpPr>
          <p:spPr>
            <a:xfrm>
              <a:off x="6334125" y="1720691"/>
              <a:ext cx="2419350" cy="442912"/>
            </a:xfrm>
            <a:prstGeom prst="rect">
              <a:avLst/>
            </a:prstGeom>
            <a:noFill/>
            <a:ln>
              <a:noFill/>
            </a:ln>
          </p:spPr>
          <p:txBody>
            <a:bodyPr wrap="none" lIns="0" tIns="0" rIns="0" bIns="0" anchor="t" anchorCtr="0">
              <a:noAutofit/>
            </a:bodyPr>
            <a:lstStyle/>
            <a:p>
              <a:pPr algn="l"/>
              <a:r>
                <a:rPr lang="en-US" sz="2320" b="1" dirty="0">
                  <a:solidFill>
                    <a:srgbClr val="005A84"/>
                  </a:solidFill>
                  <a:latin typeface="Arial"/>
                  <a:ea typeface="Arial"/>
                  <a:cs typeface="Arial"/>
                </a:rPr>
                <a:t>5,244 / 2,319</a:t>
              </a:r>
            </a:p>
          </p:txBody>
        </p:sp>
        <p:sp>
          <p:nvSpPr>
            <p:cNvPr id="14" name="TextBox 14"/>
            <p:cNvSpPr txBox="1"/>
            <p:nvPr/>
          </p:nvSpPr>
          <p:spPr>
            <a:xfrm>
              <a:off x="6334125" y="2132171"/>
              <a:ext cx="1216533" cy="271462"/>
            </a:xfrm>
            <a:prstGeom prst="rect">
              <a:avLst/>
            </a:prstGeom>
            <a:noFill/>
            <a:ln>
              <a:noFill/>
            </a:ln>
          </p:spPr>
          <p:txBody>
            <a:bodyPr wrap="none" lIns="0" tIns="0" rIns="0" bIns="0" anchor="t" anchorCtr="0">
              <a:noAutofit/>
            </a:bodyPr>
            <a:lstStyle/>
            <a:p>
              <a:pPr algn="l"/>
              <a:r>
                <a:rPr lang="zh-CN" sz="1420" dirty="0">
                  <a:solidFill>
                    <a:srgbClr val="5C6B73"/>
                  </a:solidFill>
                  <a:latin typeface="Arial"/>
                  <a:ea typeface="Microsoft YaHei"/>
                  <a:cs typeface="Arial"/>
                </a:rPr>
                <a:t>允许 / 拒绝</a:t>
              </a:r>
              <a:r>
                <a:rPr lang="zh-CN" altLang="en-US" sz="1420" dirty="0">
                  <a:solidFill>
                    <a:srgbClr val="5C6B73"/>
                  </a:solidFill>
                  <a:latin typeface="Arial"/>
                  <a:ea typeface="Microsoft YaHei"/>
                  <a:cs typeface="Arial"/>
                </a:rPr>
                <a:t>数</a:t>
              </a:r>
              <a:endParaRPr lang="zh-CN" sz="1420" dirty="0">
                <a:solidFill>
                  <a:srgbClr val="5C6B73"/>
                </a:solidFill>
                <a:latin typeface="Arial"/>
                <a:ea typeface="Microsoft YaHei"/>
                <a:cs typeface="Arial"/>
              </a:endParaRPr>
            </a:p>
          </p:txBody>
        </p:sp>
        <p:sp>
          <p:nvSpPr>
            <p:cNvPr id="15" name="TextBox 15"/>
            <p:cNvSpPr txBox="1"/>
            <p:nvPr/>
          </p:nvSpPr>
          <p:spPr>
            <a:xfrm>
              <a:off x="628650" y="2600325"/>
              <a:ext cx="6310503" cy="285750"/>
            </a:xfrm>
            <a:prstGeom prst="rect">
              <a:avLst/>
            </a:prstGeom>
            <a:noFill/>
            <a:ln>
              <a:noFill/>
            </a:ln>
          </p:spPr>
          <p:txBody>
            <a:bodyPr wrap="none" lIns="0" tIns="0" rIns="0" bIns="0" anchor="t" anchorCtr="0">
              <a:noAutofit/>
            </a:bodyPr>
            <a:lstStyle/>
            <a:p>
              <a:pPr algn="l"/>
              <a:r>
                <a:rPr lang="zh-CN" sz="1500" dirty="0">
                  <a:solidFill>
                    <a:srgbClr val="202B33"/>
                  </a:solidFill>
                  <a:latin typeface="Arial"/>
                  <a:ea typeface="Microsoft YaHei"/>
                  <a:cs typeface="Arial"/>
                </a:rPr>
                <a:t>只保留“始终分享”与“从不分享”</a:t>
              </a:r>
              <a:r>
                <a:rPr lang="zh-CN" altLang="en-US" sz="1500" dirty="0">
                  <a:solidFill>
                    <a:srgbClr val="202B33"/>
                  </a:solidFill>
                  <a:latin typeface="Arial"/>
                  <a:ea typeface="Microsoft YaHei"/>
                  <a:cs typeface="Arial"/>
                </a:rPr>
                <a:t>标签</a:t>
              </a:r>
              <a:r>
                <a:rPr lang="zh-CN" sz="1500" dirty="0">
                  <a:solidFill>
                    <a:srgbClr val="202B33"/>
                  </a:solidFill>
                  <a:latin typeface="Arial"/>
                  <a:ea typeface="Microsoft YaHei"/>
                  <a:cs typeface="Arial"/>
                </a:rPr>
                <a:t>；</a:t>
              </a:r>
              <a:r>
                <a:rPr lang="zh-CN" altLang="en-US" sz="1500" dirty="0">
                  <a:solidFill>
                    <a:srgbClr val="202B33"/>
                  </a:solidFill>
                  <a:latin typeface="Arial"/>
                  <a:ea typeface="Microsoft YaHei"/>
                  <a:cs typeface="Arial"/>
                </a:rPr>
                <a:t>过滤样本数过少的用户</a:t>
              </a:r>
              <a:r>
                <a:rPr lang="zh-CN" sz="1500" dirty="0">
                  <a:solidFill>
                    <a:srgbClr val="202B33"/>
                  </a:solidFill>
                  <a:latin typeface="Arial"/>
                  <a:ea typeface="Microsoft YaHei"/>
                  <a:cs typeface="Arial"/>
                </a:rPr>
                <a:t>。</a:t>
              </a:r>
            </a:p>
          </p:txBody>
        </p:sp>
        <p:sp>
          <p:nvSpPr>
            <p:cNvPr id="16" name="Rectangle 16"/>
            <p:cNvSpPr/>
            <p:nvPr/>
          </p:nvSpPr>
          <p:spPr>
            <a:xfrm>
              <a:off x="619125" y="3095625"/>
              <a:ext cx="1466850" cy="485775"/>
            </a:xfrm>
            <a:prstGeom prst="rect">
              <a:avLst/>
            </a:prstGeom>
            <a:solidFill>
              <a:srgbClr val="E5F2ED"/>
            </a:solidFill>
            <a:ln>
              <a:noFill/>
            </a:ln>
          </p:spPr>
        </p:sp>
        <p:sp>
          <p:nvSpPr>
            <p:cNvPr id="17" name="TextBox 17"/>
            <p:cNvSpPr txBox="1"/>
            <p:nvPr/>
          </p:nvSpPr>
          <p:spPr>
            <a:xfrm>
              <a:off x="781050" y="3248025"/>
              <a:ext cx="1291590" cy="285750"/>
            </a:xfrm>
            <a:prstGeom prst="rect">
              <a:avLst/>
            </a:prstGeom>
            <a:noFill/>
            <a:ln>
              <a:noFill/>
            </a:ln>
          </p:spPr>
          <p:txBody>
            <a:bodyPr wrap="none" lIns="0" tIns="0" rIns="0" bIns="0" anchor="t" anchorCtr="0">
              <a:noAutofit/>
            </a:bodyPr>
            <a:lstStyle/>
            <a:p>
              <a:pPr algn="l"/>
              <a:r>
                <a:rPr lang="zh-CN" sz="1500" b="1" dirty="0">
                  <a:solidFill>
                    <a:srgbClr val="16735C"/>
                  </a:solidFill>
                  <a:latin typeface="Arial"/>
                  <a:ea typeface="Microsoft YaHei"/>
                  <a:cs typeface="Arial"/>
                </a:rPr>
                <a:t>历史 / 训练</a:t>
              </a:r>
            </a:p>
          </p:txBody>
        </p:sp>
        <p:sp>
          <p:nvSpPr>
            <p:cNvPr id="18" name="Rectangle 18"/>
            <p:cNvSpPr/>
            <p:nvPr/>
          </p:nvSpPr>
          <p:spPr>
            <a:xfrm>
              <a:off x="2228850" y="3095625"/>
              <a:ext cx="1466850" cy="485775"/>
            </a:xfrm>
            <a:prstGeom prst="rect">
              <a:avLst/>
            </a:prstGeom>
            <a:solidFill>
              <a:srgbClr val="E5F2ED"/>
            </a:solidFill>
            <a:ln>
              <a:noFill/>
            </a:ln>
          </p:spPr>
        </p:sp>
        <p:sp>
          <p:nvSpPr>
            <p:cNvPr id="19" name="TextBox 19"/>
            <p:cNvSpPr txBox="1"/>
            <p:nvPr/>
          </p:nvSpPr>
          <p:spPr>
            <a:xfrm>
              <a:off x="2390775" y="3248025"/>
              <a:ext cx="1291590" cy="285750"/>
            </a:xfrm>
            <a:prstGeom prst="rect">
              <a:avLst/>
            </a:prstGeom>
            <a:noFill/>
            <a:ln>
              <a:noFill/>
            </a:ln>
          </p:spPr>
          <p:txBody>
            <a:bodyPr wrap="none" lIns="0" tIns="0" rIns="0" bIns="0" anchor="t" anchorCtr="0">
              <a:noAutofit/>
            </a:bodyPr>
            <a:lstStyle/>
            <a:p>
              <a:pPr algn="l"/>
              <a:r>
                <a:rPr lang="zh-CN" sz="1500" b="1" dirty="0">
                  <a:solidFill>
                    <a:srgbClr val="16735C"/>
                  </a:solidFill>
                  <a:latin typeface="Arial"/>
                  <a:ea typeface="Microsoft YaHei"/>
                  <a:cs typeface="Arial"/>
                </a:rPr>
                <a:t>历史 / 训练</a:t>
              </a:r>
            </a:p>
          </p:txBody>
        </p:sp>
        <p:sp>
          <p:nvSpPr>
            <p:cNvPr id="20" name="Rectangle 20"/>
            <p:cNvSpPr/>
            <p:nvPr/>
          </p:nvSpPr>
          <p:spPr>
            <a:xfrm>
              <a:off x="3838575" y="3095625"/>
              <a:ext cx="1466850" cy="485775"/>
            </a:xfrm>
            <a:prstGeom prst="rect">
              <a:avLst/>
            </a:prstGeom>
            <a:solidFill>
              <a:srgbClr val="E5F2ED"/>
            </a:solidFill>
            <a:ln>
              <a:noFill/>
            </a:ln>
          </p:spPr>
        </p:sp>
        <p:sp>
          <p:nvSpPr>
            <p:cNvPr id="21" name="TextBox 21"/>
            <p:cNvSpPr txBox="1"/>
            <p:nvPr/>
          </p:nvSpPr>
          <p:spPr>
            <a:xfrm>
              <a:off x="4000500" y="3248025"/>
              <a:ext cx="1291590" cy="285750"/>
            </a:xfrm>
            <a:prstGeom prst="rect">
              <a:avLst/>
            </a:prstGeom>
            <a:noFill/>
            <a:ln>
              <a:noFill/>
            </a:ln>
          </p:spPr>
          <p:txBody>
            <a:bodyPr wrap="none" lIns="0" tIns="0" rIns="0" bIns="0" anchor="t" anchorCtr="0">
              <a:noAutofit/>
            </a:bodyPr>
            <a:lstStyle/>
            <a:p>
              <a:pPr algn="l"/>
              <a:r>
                <a:rPr lang="zh-CN" sz="1500" b="1" dirty="0">
                  <a:solidFill>
                    <a:srgbClr val="16735C"/>
                  </a:solidFill>
                  <a:latin typeface="Arial"/>
                  <a:ea typeface="Microsoft YaHei"/>
                  <a:cs typeface="Arial"/>
                </a:rPr>
                <a:t>历史 / 训练</a:t>
              </a:r>
            </a:p>
          </p:txBody>
        </p:sp>
        <p:sp>
          <p:nvSpPr>
            <p:cNvPr id="22" name="Rectangle 22"/>
            <p:cNvSpPr/>
            <p:nvPr/>
          </p:nvSpPr>
          <p:spPr>
            <a:xfrm>
              <a:off x="5448300" y="3095625"/>
              <a:ext cx="1466850" cy="485775"/>
            </a:xfrm>
            <a:prstGeom prst="rect">
              <a:avLst/>
            </a:prstGeom>
            <a:solidFill>
              <a:srgbClr val="E5F2ED"/>
            </a:solidFill>
            <a:ln>
              <a:noFill/>
            </a:ln>
          </p:spPr>
        </p:sp>
        <p:sp>
          <p:nvSpPr>
            <p:cNvPr id="23" name="TextBox 23"/>
            <p:cNvSpPr txBox="1"/>
            <p:nvPr/>
          </p:nvSpPr>
          <p:spPr>
            <a:xfrm>
              <a:off x="5610225" y="3248025"/>
              <a:ext cx="1291590" cy="285750"/>
            </a:xfrm>
            <a:prstGeom prst="rect">
              <a:avLst/>
            </a:prstGeom>
            <a:noFill/>
            <a:ln>
              <a:noFill/>
            </a:ln>
          </p:spPr>
          <p:txBody>
            <a:bodyPr wrap="none" lIns="0" tIns="0" rIns="0" bIns="0" anchor="t" anchorCtr="0">
              <a:noAutofit/>
            </a:bodyPr>
            <a:lstStyle/>
            <a:p>
              <a:pPr algn="l"/>
              <a:r>
                <a:rPr lang="zh-CN" sz="1500" b="1" dirty="0">
                  <a:solidFill>
                    <a:srgbClr val="16735C"/>
                  </a:solidFill>
                  <a:latin typeface="Arial"/>
                  <a:ea typeface="Microsoft YaHei"/>
                  <a:cs typeface="Arial"/>
                </a:rPr>
                <a:t>历史 / 训练</a:t>
              </a:r>
            </a:p>
          </p:txBody>
        </p:sp>
        <p:sp>
          <p:nvSpPr>
            <p:cNvPr id="24" name="Rectangle 24"/>
            <p:cNvSpPr/>
            <p:nvPr/>
          </p:nvSpPr>
          <p:spPr>
            <a:xfrm>
              <a:off x="7058025" y="3095625"/>
              <a:ext cx="1466850" cy="485775"/>
            </a:xfrm>
            <a:prstGeom prst="rect">
              <a:avLst/>
            </a:prstGeom>
            <a:solidFill>
              <a:srgbClr val="005A84"/>
            </a:solidFill>
            <a:ln>
              <a:noFill/>
            </a:ln>
          </p:spPr>
        </p:sp>
        <p:sp>
          <p:nvSpPr>
            <p:cNvPr id="25" name="TextBox 25"/>
            <p:cNvSpPr txBox="1"/>
            <p:nvPr/>
          </p:nvSpPr>
          <p:spPr>
            <a:xfrm>
              <a:off x="7219950" y="3248025"/>
              <a:ext cx="1053465" cy="285750"/>
            </a:xfrm>
            <a:prstGeom prst="rect">
              <a:avLst/>
            </a:prstGeom>
            <a:noFill/>
            <a:ln>
              <a:noFill/>
            </a:ln>
          </p:spPr>
          <p:txBody>
            <a:bodyPr wrap="none" lIns="0" tIns="0" rIns="0" bIns="0" anchor="t" anchorCtr="0">
              <a:noAutofit/>
            </a:bodyPr>
            <a:lstStyle/>
            <a:p>
              <a:pPr algn="l"/>
              <a:r>
                <a:rPr lang="zh-CN" sz="1500" b="1" dirty="0">
                  <a:solidFill>
                    <a:srgbClr val="FFFFFF"/>
                  </a:solidFill>
                  <a:latin typeface="Arial"/>
                  <a:ea typeface="Microsoft YaHei"/>
                  <a:cs typeface="Arial"/>
                </a:rPr>
                <a:t>留出测试</a:t>
              </a:r>
            </a:p>
          </p:txBody>
        </p:sp>
        <p:sp>
          <p:nvSpPr>
            <p:cNvPr id="26" name="TextBox 26"/>
            <p:cNvSpPr txBox="1"/>
            <p:nvPr/>
          </p:nvSpPr>
          <p:spPr>
            <a:xfrm>
              <a:off x="638175" y="3782854"/>
              <a:ext cx="5594414" cy="300038"/>
            </a:xfrm>
            <a:prstGeom prst="rect">
              <a:avLst/>
            </a:prstGeom>
            <a:noFill/>
            <a:ln>
              <a:noFill/>
            </a:ln>
          </p:spPr>
          <p:txBody>
            <a:bodyPr wrap="none" lIns="0" tIns="0" rIns="0" bIns="0" anchor="t" anchorCtr="0">
              <a:noAutofit/>
            </a:bodyPr>
            <a:lstStyle/>
            <a:p>
              <a:r>
                <a:rPr lang="zh-CN" sz="1580" dirty="0">
                  <a:solidFill>
                    <a:srgbClr val="202B33"/>
                  </a:solidFill>
                  <a:latin typeface="Arial"/>
                  <a:ea typeface="Microsoft YaHei"/>
                  <a:cs typeface="Arial"/>
                </a:rPr>
                <a:t>轮换 5 次；</a:t>
              </a:r>
              <a:r>
                <a:rPr lang="zh-CN" altLang="zh-CN" sz="1600" dirty="0"/>
                <a:t>同一轮的同一个问题不会同时用于训练和测试</a:t>
              </a:r>
              <a:r>
                <a:rPr lang="zh-CN" altLang="en-US" sz="1600" dirty="0"/>
                <a:t>。</a:t>
              </a:r>
              <a:endParaRPr lang="zh-CN" sz="1580" dirty="0">
                <a:solidFill>
                  <a:srgbClr val="202B33"/>
                </a:solidFill>
                <a:latin typeface="Arial"/>
                <a:ea typeface="Microsoft YaHei"/>
                <a:cs typeface="Arial"/>
              </a:endParaRPr>
            </a:p>
          </p:txBody>
        </p:sp>
      </p:grpSp>
    </p:spTree>
    <p:extLst>
      <p:ext uri="{BB962C8B-B14F-4D97-AF65-F5344CB8AC3E}">
        <p14:creationId xmlns:p14="http://schemas.microsoft.com/office/powerpoint/2010/main" val="1665432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CE7143CB-07FF-329B-173B-911A050610F2}"/>
            </a:ext>
          </a:extLst>
        </p:cNvPr>
        <p:cNvGrpSpPr/>
        <p:nvPr/>
      </p:nvGrpSpPr>
      <p:grpSpPr>
        <a:xfrm>
          <a:off x="0" y="0"/>
          <a:ext cx="0" cy="0"/>
          <a:chOff x="0" y="0"/>
          <a:chExt cx="0" cy="0"/>
        </a:xfrm>
      </p:grpSpPr>
      <p:grpSp>
        <p:nvGrpSpPr>
          <p:cNvPr id="5" name="Group 5"/>
          <p:cNvGrpSpPr/>
          <p:nvPr/>
        </p:nvGrpSpPr>
        <p:grpSpPr>
          <a:xfrm>
            <a:off x="476250" y="392430"/>
            <a:ext cx="6236494" cy="1012984"/>
            <a:chOff x="476250" y="392430"/>
            <a:chExt cx="623649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a:t>
              </a:r>
              <a:r>
                <a:rPr lang="zh-CN" altLang="en-US" sz="2100" b="1" dirty="0">
                  <a:solidFill>
                    <a:srgbClr val="202B33"/>
                  </a:solidFill>
                  <a:ea typeface="Microsoft YaHei"/>
                </a:rPr>
                <a:t>评估</a:t>
              </a:r>
              <a:r>
                <a:rPr lang="zh-CN" sz="2100" b="1" dirty="0">
                  <a:solidFill>
                    <a:srgbClr val="202B33"/>
                  </a:solidFill>
                  <a:latin typeface="Arial"/>
                  <a:ea typeface="Microsoft YaHei"/>
                  <a:cs typeface="Arial"/>
                </a:rPr>
                <a:t>指标</a:t>
              </a:r>
            </a:p>
          </p:txBody>
        </p:sp>
        <p:sp>
          <p:nvSpPr>
            <p:cNvPr id="4" name="TextBox 4"/>
            <p:cNvSpPr txBox="1"/>
            <p:nvPr/>
          </p:nvSpPr>
          <p:spPr>
            <a:xfrm>
              <a:off x="476250" y="1019651"/>
              <a:ext cx="6236494"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误允许与误拒绝的</a:t>
              </a:r>
              <a:r>
                <a:rPr lang="zh-CN" altLang="en-US" sz="2020" b="1" dirty="0">
                  <a:solidFill>
                    <a:srgbClr val="005A84"/>
                  </a:solidFill>
                  <a:latin typeface="Arial"/>
                  <a:ea typeface="Microsoft YaHei"/>
                  <a:cs typeface="Arial"/>
                </a:rPr>
                <a:t>安全</a:t>
              </a:r>
              <a:r>
                <a:rPr lang="zh-CN" sz="2020" b="1" dirty="0">
                  <a:solidFill>
                    <a:srgbClr val="005A84"/>
                  </a:solidFill>
                  <a:latin typeface="Arial"/>
                  <a:ea typeface="Microsoft YaHei"/>
                  <a:cs typeface="Arial"/>
                </a:rPr>
                <a:t>代价不同，不能只</a:t>
              </a:r>
              <a:r>
                <a:rPr lang="zh-CN" altLang="en-US" sz="2020" b="1" dirty="0">
                  <a:solidFill>
                    <a:srgbClr val="005A84"/>
                  </a:solidFill>
                  <a:latin typeface="Arial"/>
                  <a:ea typeface="Microsoft YaHei"/>
                  <a:cs typeface="Arial"/>
                </a:rPr>
                <a:t>关注</a:t>
              </a:r>
              <a:r>
                <a:rPr lang="zh-CN" sz="2020" b="1" dirty="0">
                  <a:solidFill>
                    <a:srgbClr val="005A84"/>
                  </a:solidFill>
                  <a:latin typeface="Arial"/>
                  <a:ea typeface="Microsoft YaHei"/>
                  <a:cs typeface="Arial"/>
                </a:rPr>
                <a:t>准确率</a:t>
              </a:r>
            </a:p>
          </p:txBody>
        </p:sp>
      </p:grpSp>
      <p:grpSp>
        <p:nvGrpSpPr>
          <p:cNvPr id="26" name="Group 26"/>
          <p:cNvGrpSpPr/>
          <p:nvPr/>
        </p:nvGrpSpPr>
        <p:grpSpPr>
          <a:xfrm>
            <a:off x="552450" y="1724025"/>
            <a:ext cx="8047768" cy="2036103"/>
            <a:chOff x="552450" y="1724025"/>
            <a:chExt cx="8047768" cy="2036103"/>
          </a:xfrm>
        </p:grpSpPr>
        <p:sp>
          <p:nvSpPr>
            <p:cNvPr id="9" name="Rectangle 9"/>
            <p:cNvSpPr/>
            <p:nvPr/>
          </p:nvSpPr>
          <p:spPr>
            <a:xfrm>
              <a:off x="552450" y="1724025"/>
              <a:ext cx="4924425" cy="342900"/>
            </a:xfrm>
            <a:prstGeom prst="rect">
              <a:avLst/>
            </a:prstGeom>
            <a:solidFill>
              <a:srgbClr val="005A84"/>
            </a:solidFill>
            <a:ln>
              <a:noFill/>
            </a:ln>
          </p:spPr>
        </p:sp>
        <p:sp>
          <p:nvSpPr>
            <p:cNvPr id="10" name="TextBox 10"/>
            <p:cNvSpPr txBox="1"/>
            <p:nvPr/>
          </p:nvSpPr>
          <p:spPr>
            <a:xfrm>
              <a:off x="666750" y="1816418"/>
              <a:ext cx="1563624" cy="257175"/>
            </a:xfrm>
            <a:prstGeom prst="rect">
              <a:avLst/>
            </a:prstGeom>
            <a:noFill/>
            <a:ln>
              <a:noFill/>
            </a:ln>
          </p:spPr>
          <p:txBody>
            <a:bodyPr wrap="none" lIns="0" tIns="0" rIns="0" bIns="0" anchor="t" anchorCtr="0">
              <a:noAutofit/>
            </a:bodyPr>
            <a:lstStyle/>
            <a:p>
              <a:pPr algn="l"/>
              <a:r>
                <a:rPr lang="zh-CN" sz="1350" b="1" dirty="0">
                  <a:solidFill>
                    <a:srgbClr val="FFFFFF"/>
                  </a:solidFill>
                  <a:latin typeface="Arial"/>
                  <a:ea typeface="Microsoft YaHei"/>
                  <a:cs typeface="Arial"/>
                </a:rPr>
                <a:t>实际偏好 / 预测</a:t>
              </a:r>
            </a:p>
          </p:txBody>
        </p:sp>
        <p:sp>
          <p:nvSpPr>
            <p:cNvPr id="11" name="TextBox 11"/>
            <p:cNvSpPr txBox="1"/>
            <p:nvPr/>
          </p:nvSpPr>
          <p:spPr>
            <a:xfrm>
              <a:off x="2428875" y="1816418"/>
              <a:ext cx="948119" cy="257175"/>
            </a:xfrm>
            <a:prstGeom prst="rect">
              <a:avLst/>
            </a:prstGeom>
            <a:noFill/>
            <a:ln>
              <a:noFill/>
            </a:ln>
          </p:spPr>
          <p:txBody>
            <a:bodyPr wrap="none" lIns="0" tIns="0" rIns="0" bIns="0" anchor="t" anchorCtr="0">
              <a:noAutofit/>
            </a:bodyPr>
            <a:lstStyle/>
            <a:p>
              <a:pPr algn="l"/>
              <a:r>
                <a:rPr lang="zh-CN" sz="1350" b="1" dirty="0">
                  <a:solidFill>
                    <a:srgbClr val="FFFFFF"/>
                  </a:solidFill>
                  <a:latin typeface="Arial"/>
                  <a:ea typeface="Microsoft YaHei"/>
                  <a:cs typeface="Arial"/>
                </a:rPr>
                <a:t>预测允许</a:t>
              </a:r>
            </a:p>
          </p:txBody>
        </p:sp>
        <p:sp>
          <p:nvSpPr>
            <p:cNvPr id="12" name="TextBox 12"/>
            <p:cNvSpPr txBox="1"/>
            <p:nvPr/>
          </p:nvSpPr>
          <p:spPr>
            <a:xfrm>
              <a:off x="4000500" y="1816418"/>
              <a:ext cx="948118" cy="257175"/>
            </a:xfrm>
            <a:prstGeom prst="rect">
              <a:avLst/>
            </a:prstGeom>
            <a:noFill/>
            <a:ln>
              <a:noFill/>
            </a:ln>
          </p:spPr>
          <p:txBody>
            <a:bodyPr wrap="none" lIns="0" tIns="0" rIns="0" bIns="0" anchor="t" anchorCtr="0">
              <a:noAutofit/>
            </a:bodyPr>
            <a:lstStyle/>
            <a:p>
              <a:pPr algn="l"/>
              <a:r>
                <a:rPr lang="zh-CN" sz="1350" b="1" dirty="0">
                  <a:solidFill>
                    <a:srgbClr val="FFFFFF"/>
                  </a:solidFill>
                  <a:latin typeface="Arial"/>
                  <a:ea typeface="Microsoft YaHei"/>
                  <a:cs typeface="Arial"/>
                </a:rPr>
                <a:t>预测拒绝</a:t>
              </a:r>
            </a:p>
          </p:txBody>
        </p:sp>
        <p:sp>
          <p:nvSpPr>
            <p:cNvPr id="13" name="Rectangle 13"/>
            <p:cNvSpPr/>
            <p:nvPr/>
          </p:nvSpPr>
          <p:spPr>
            <a:xfrm>
              <a:off x="552450" y="2066925"/>
              <a:ext cx="4924425" cy="533400"/>
            </a:xfrm>
            <a:prstGeom prst="rect">
              <a:avLst/>
            </a:prstGeom>
            <a:solidFill>
              <a:srgbClr val="F0F5F6"/>
            </a:solidFill>
            <a:ln>
              <a:noFill/>
            </a:ln>
          </p:spPr>
        </p:sp>
        <p:sp>
          <p:nvSpPr>
            <p:cNvPr id="14" name="TextBox 14"/>
            <p:cNvSpPr txBox="1"/>
            <p:nvPr/>
          </p:nvSpPr>
          <p:spPr>
            <a:xfrm>
              <a:off x="666750" y="2267902"/>
              <a:ext cx="948119"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用户允许</a:t>
              </a:r>
            </a:p>
          </p:txBody>
        </p:sp>
        <p:sp>
          <p:nvSpPr>
            <p:cNvPr id="15" name="TextBox 15"/>
            <p:cNvSpPr txBox="1"/>
            <p:nvPr/>
          </p:nvSpPr>
          <p:spPr>
            <a:xfrm>
              <a:off x="2428875" y="2267902"/>
              <a:ext cx="1245203"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正确允许 TP</a:t>
              </a:r>
            </a:p>
          </p:txBody>
        </p:sp>
        <p:sp>
          <p:nvSpPr>
            <p:cNvPr id="16" name="TextBox 16"/>
            <p:cNvSpPr txBox="1"/>
            <p:nvPr/>
          </p:nvSpPr>
          <p:spPr>
            <a:xfrm>
              <a:off x="4000500" y="2267902"/>
              <a:ext cx="1076515"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误拒绝 FN</a:t>
              </a:r>
            </a:p>
          </p:txBody>
        </p:sp>
        <p:sp>
          <p:nvSpPr>
            <p:cNvPr id="17" name="TextBox 17"/>
            <p:cNvSpPr txBox="1"/>
            <p:nvPr/>
          </p:nvSpPr>
          <p:spPr>
            <a:xfrm>
              <a:off x="666750" y="2801302"/>
              <a:ext cx="948119"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用户拒绝</a:t>
              </a:r>
            </a:p>
          </p:txBody>
        </p:sp>
        <p:sp>
          <p:nvSpPr>
            <p:cNvPr id="18" name="TextBox 18"/>
            <p:cNvSpPr txBox="1"/>
            <p:nvPr/>
          </p:nvSpPr>
          <p:spPr>
            <a:xfrm>
              <a:off x="2428875" y="2801302"/>
              <a:ext cx="1036129"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误允许 FP</a:t>
              </a:r>
            </a:p>
          </p:txBody>
        </p:sp>
        <p:sp>
          <p:nvSpPr>
            <p:cNvPr id="19" name="TextBox 19"/>
            <p:cNvSpPr txBox="1"/>
            <p:nvPr/>
          </p:nvSpPr>
          <p:spPr>
            <a:xfrm>
              <a:off x="4000500" y="2801302"/>
              <a:ext cx="1285589"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正确拒绝 TN</a:t>
              </a:r>
            </a:p>
          </p:txBody>
        </p:sp>
        <p:sp>
          <p:nvSpPr>
            <p:cNvPr id="20" name="TextBox 20"/>
            <p:cNvSpPr txBox="1"/>
            <p:nvPr/>
          </p:nvSpPr>
          <p:spPr>
            <a:xfrm>
              <a:off x="5810250" y="1758315"/>
              <a:ext cx="2043398" cy="342900"/>
            </a:xfrm>
            <a:prstGeom prst="rect">
              <a:avLst/>
            </a:prstGeom>
            <a:noFill/>
            <a:ln>
              <a:noFill/>
            </a:ln>
          </p:spPr>
          <p:txBody>
            <a:bodyPr wrap="none" lIns="0" tIns="0" rIns="0" bIns="0" anchor="t" anchorCtr="0">
              <a:noAutofit/>
            </a:bodyPr>
            <a:lstStyle/>
            <a:p>
              <a:pPr algn="l"/>
              <a:r>
                <a:rPr lang="zh-CN" sz="1800" b="1" dirty="0">
                  <a:solidFill>
                    <a:srgbClr val="BE4B42"/>
                  </a:solidFill>
                  <a:latin typeface="Arial"/>
                  <a:ea typeface="Microsoft YaHei"/>
                  <a:cs typeface="Arial"/>
                </a:rPr>
                <a:t>FPR：误允许率</a:t>
              </a:r>
              <a:r>
                <a:rPr lang="en-US" altLang="zh-CN" sz="1800" b="1" dirty="0">
                  <a:solidFill>
                    <a:srgbClr val="BE4B42"/>
                  </a:solidFill>
                  <a:latin typeface="Arial"/>
                  <a:ea typeface="Microsoft YaHei"/>
                  <a:cs typeface="Arial"/>
                </a:rPr>
                <a:t>(</a:t>
              </a:r>
              <a:r>
                <a:rPr lang="zh-CN" altLang="en-US" sz="1800" b="1" dirty="0">
                  <a:solidFill>
                    <a:srgbClr val="BE4B42"/>
                  </a:solidFill>
                  <a:latin typeface="Arial"/>
                  <a:ea typeface="Microsoft YaHei"/>
                  <a:cs typeface="Arial"/>
                </a:rPr>
                <a:t>非预期分享</a:t>
              </a:r>
              <a:r>
                <a:rPr lang="en-US" altLang="zh-CN" sz="1800" b="1" dirty="0">
                  <a:solidFill>
                    <a:srgbClr val="BE4B42"/>
                  </a:solidFill>
                  <a:latin typeface="Arial"/>
                  <a:ea typeface="Microsoft YaHei"/>
                  <a:cs typeface="Arial"/>
                </a:rPr>
                <a:t>)</a:t>
              </a:r>
              <a:endParaRPr lang="zh-CN" sz="1800" b="1" dirty="0">
                <a:solidFill>
                  <a:srgbClr val="BE4B42"/>
                </a:solidFill>
                <a:latin typeface="Arial"/>
                <a:ea typeface="Microsoft YaHei"/>
                <a:cs typeface="Arial"/>
              </a:endParaRPr>
            </a:p>
          </p:txBody>
        </p:sp>
        <p:sp>
          <p:nvSpPr>
            <p:cNvPr id="21" name="TextBox 21"/>
            <p:cNvSpPr txBox="1"/>
            <p:nvPr/>
          </p:nvSpPr>
          <p:spPr>
            <a:xfrm>
              <a:off x="5810250" y="2148364"/>
              <a:ext cx="2789968" cy="242888"/>
            </a:xfrm>
            <a:prstGeom prst="rect">
              <a:avLst/>
            </a:prstGeom>
            <a:noFill/>
            <a:ln>
              <a:noFill/>
            </a:ln>
          </p:spPr>
          <p:txBody>
            <a:bodyPr wrap="none" lIns="0" tIns="0" rIns="0" bIns="0" anchor="t" anchorCtr="0">
              <a:noAutofit/>
            </a:bodyPr>
            <a:lstStyle/>
            <a:p>
              <a:pPr algn="l"/>
              <a:r>
                <a:rPr lang="zh-CN" sz="1280" dirty="0">
                  <a:solidFill>
                    <a:srgbClr val="202B33"/>
                  </a:solidFill>
                  <a:latin typeface="Arial"/>
                  <a:ea typeface="Microsoft YaHei"/>
                  <a:cs typeface="Arial"/>
                </a:rPr>
                <a:t>实际拒绝中，被错误允许的比例</a:t>
              </a:r>
            </a:p>
          </p:txBody>
        </p:sp>
        <p:sp>
          <p:nvSpPr>
            <p:cNvPr id="22" name="TextBox 22"/>
            <p:cNvSpPr txBox="1"/>
            <p:nvPr/>
          </p:nvSpPr>
          <p:spPr>
            <a:xfrm>
              <a:off x="5810250" y="2577465"/>
              <a:ext cx="2094547" cy="342900"/>
            </a:xfrm>
            <a:prstGeom prst="rect">
              <a:avLst/>
            </a:prstGeom>
            <a:noFill/>
            <a:ln>
              <a:noFill/>
            </a:ln>
          </p:spPr>
          <p:txBody>
            <a:bodyPr wrap="none" lIns="0" tIns="0" rIns="0" bIns="0" anchor="t" anchorCtr="0">
              <a:noAutofit/>
            </a:bodyPr>
            <a:lstStyle/>
            <a:p>
              <a:pPr algn="l"/>
              <a:r>
                <a:rPr lang="zh-CN" sz="1800" b="1" dirty="0">
                  <a:solidFill>
                    <a:srgbClr val="005A84"/>
                  </a:solidFill>
                  <a:latin typeface="Arial"/>
                  <a:ea typeface="Microsoft YaHei"/>
                  <a:cs typeface="Arial"/>
                </a:rPr>
                <a:t>FNR：误拒绝率</a:t>
              </a:r>
              <a:r>
                <a:rPr lang="en-US" altLang="zh-CN" sz="1800" b="1" dirty="0">
                  <a:solidFill>
                    <a:srgbClr val="005A84"/>
                  </a:solidFill>
                  <a:latin typeface="Arial"/>
                  <a:ea typeface="Microsoft YaHei"/>
                  <a:cs typeface="Arial"/>
                </a:rPr>
                <a:t>(</a:t>
              </a:r>
              <a:r>
                <a:rPr lang="zh-CN" altLang="en-US" sz="1800" b="1" dirty="0">
                  <a:solidFill>
                    <a:srgbClr val="005A84"/>
                  </a:solidFill>
                  <a:latin typeface="Arial"/>
                  <a:ea typeface="Microsoft YaHei"/>
                  <a:cs typeface="Arial"/>
                </a:rPr>
                <a:t>影响功能</a:t>
              </a:r>
              <a:r>
                <a:rPr lang="en-US" altLang="zh-CN" sz="1800" b="1" dirty="0">
                  <a:solidFill>
                    <a:srgbClr val="005A84"/>
                  </a:solidFill>
                  <a:latin typeface="Arial"/>
                  <a:ea typeface="Microsoft YaHei"/>
                  <a:cs typeface="Arial"/>
                </a:rPr>
                <a:t>)</a:t>
              </a:r>
              <a:endParaRPr lang="zh-CN" sz="1800" b="1" dirty="0">
                <a:solidFill>
                  <a:srgbClr val="005A84"/>
                </a:solidFill>
                <a:latin typeface="Arial"/>
                <a:ea typeface="Microsoft YaHei"/>
                <a:cs typeface="Arial"/>
              </a:endParaRPr>
            </a:p>
          </p:txBody>
        </p:sp>
        <p:sp>
          <p:nvSpPr>
            <p:cNvPr id="23" name="TextBox 23"/>
            <p:cNvSpPr txBox="1"/>
            <p:nvPr/>
          </p:nvSpPr>
          <p:spPr>
            <a:xfrm>
              <a:off x="5810250" y="2967514"/>
              <a:ext cx="2789968" cy="242888"/>
            </a:xfrm>
            <a:prstGeom prst="rect">
              <a:avLst/>
            </a:prstGeom>
            <a:noFill/>
            <a:ln>
              <a:noFill/>
            </a:ln>
          </p:spPr>
          <p:txBody>
            <a:bodyPr wrap="none" lIns="0" tIns="0" rIns="0" bIns="0" anchor="t" anchorCtr="0">
              <a:noAutofit/>
            </a:bodyPr>
            <a:lstStyle/>
            <a:p>
              <a:pPr algn="l"/>
              <a:r>
                <a:rPr lang="zh-CN" sz="1280" dirty="0">
                  <a:solidFill>
                    <a:srgbClr val="202B33"/>
                  </a:solidFill>
                  <a:latin typeface="Arial"/>
                  <a:ea typeface="Microsoft YaHei"/>
                  <a:cs typeface="Arial"/>
                </a:rPr>
                <a:t>实际允许中，被错误拒绝的比例</a:t>
              </a:r>
            </a:p>
          </p:txBody>
        </p:sp>
        <p:sp>
          <p:nvSpPr>
            <p:cNvPr id="24" name="TextBox 24"/>
            <p:cNvSpPr txBox="1"/>
            <p:nvPr/>
          </p:nvSpPr>
          <p:spPr>
            <a:xfrm>
              <a:off x="638175" y="3474378"/>
              <a:ext cx="3198019" cy="285750"/>
            </a:xfrm>
            <a:prstGeom prst="rect">
              <a:avLst/>
            </a:prstGeom>
            <a:noFill/>
            <a:ln>
              <a:noFill/>
            </a:ln>
          </p:spPr>
          <p:txBody>
            <a:bodyPr wrap="none" lIns="0" tIns="0" rIns="0" bIns="0" anchor="t" anchorCtr="0">
              <a:noAutofit/>
            </a:bodyPr>
            <a:lstStyle/>
            <a:p>
              <a:r>
                <a:rPr lang="zh-CN" altLang="en-US" sz="1500" dirty="0">
                  <a:solidFill>
                    <a:srgbClr val="202B33"/>
                  </a:solidFill>
                  <a:latin typeface="Arial"/>
                  <a:ea typeface="Microsoft YaHei"/>
                  <a:cs typeface="Arial"/>
                </a:rPr>
                <a:t>准确率</a:t>
              </a:r>
              <a:r>
                <a:rPr lang="en-US" altLang="zh-CN" sz="1500" dirty="0">
                  <a:solidFill>
                    <a:srgbClr val="202B33"/>
                  </a:solidFill>
                  <a:latin typeface="Arial"/>
                  <a:ea typeface="Microsoft YaHei"/>
                  <a:cs typeface="Arial"/>
                </a:rPr>
                <a:t>(</a:t>
              </a:r>
              <a:r>
                <a:rPr lang="zh-CN" altLang="zh-CN" sz="1500" dirty="0">
                  <a:solidFill>
                    <a:srgbClr val="202B33"/>
                  </a:solidFill>
                  <a:ea typeface="Microsoft YaHei"/>
                </a:rPr>
                <a:t>Accuracy</a:t>
              </a:r>
              <a:r>
                <a:rPr lang="en-US" altLang="zh-CN" sz="1500" dirty="0">
                  <a:solidFill>
                    <a:srgbClr val="202B33"/>
                  </a:solidFill>
                  <a:latin typeface="Arial"/>
                  <a:ea typeface="Microsoft YaHei"/>
                  <a:cs typeface="Arial"/>
                </a:rPr>
                <a:t>)</a:t>
              </a:r>
              <a:r>
                <a:rPr lang="zh-CN" sz="1500" dirty="0">
                  <a:solidFill>
                    <a:srgbClr val="202B33"/>
                  </a:solidFill>
                  <a:latin typeface="Arial"/>
                  <a:ea typeface="Microsoft YaHei"/>
                  <a:cs typeface="Arial"/>
                </a:rPr>
                <a:t> = 全部预测正确比例</a:t>
              </a:r>
            </a:p>
          </p:txBody>
        </p:sp>
        <p:sp>
          <p:nvSpPr>
            <p:cNvPr id="25" name="TextBox 25"/>
            <p:cNvSpPr txBox="1"/>
            <p:nvPr/>
          </p:nvSpPr>
          <p:spPr>
            <a:xfrm>
              <a:off x="4695825" y="3477337"/>
              <a:ext cx="3463099" cy="271462"/>
            </a:xfrm>
            <a:prstGeom prst="rect">
              <a:avLst/>
            </a:prstGeom>
            <a:noFill/>
            <a:ln>
              <a:noFill/>
            </a:ln>
          </p:spPr>
          <p:txBody>
            <a:bodyPr wrap="none" lIns="0" tIns="0" rIns="0" bIns="0" anchor="t" anchorCtr="0">
              <a:noAutofit/>
            </a:bodyPr>
            <a:lstStyle/>
            <a:p>
              <a:r>
                <a:rPr lang="zh-CN" altLang="en-US" sz="1420" dirty="0">
                  <a:solidFill>
                    <a:srgbClr val="202B33"/>
                  </a:solidFill>
                  <a:latin typeface="Arial"/>
                  <a:ea typeface="Microsoft YaHei"/>
                  <a:cs typeface="Arial"/>
                </a:rPr>
                <a:t>精确率</a:t>
              </a:r>
              <a:r>
                <a:rPr lang="en-US" altLang="zh-CN" sz="1420" dirty="0">
                  <a:solidFill>
                    <a:srgbClr val="202B33"/>
                  </a:solidFill>
                  <a:latin typeface="Arial"/>
                  <a:ea typeface="Microsoft YaHei"/>
                  <a:cs typeface="Arial"/>
                </a:rPr>
                <a:t>(</a:t>
              </a:r>
              <a:r>
                <a:rPr lang="zh-CN" altLang="zh-CN" sz="1420" dirty="0">
                  <a:solidFill>
                    <a:srgbClr val="202B33"/>
                  </a:solidFill>
                  <a:ea typeface="Microsoft YaHei"/>
                </a:rPr>
                <a:t>Precision</a:t>
              </a:r>
              <a:r>
                <a:rPr lang="en-US" altLang="zh-CN" sz="1420" dirty="0">
                  <a:solidFill>
                    <a:srgbClr val="202B33"/>
                  </a:solidFill>
                  <a:latin typeface="Arial"/>
                  <a:ea typeface="Microsoft YaHei"/>
                  <a:cs typeface="Arial"/>
                </a:rPr>
                <a:t>)</a:t>
              </a:r>
              <a:r>
                <a:rPr lang="zh-CN" sz="1420" dirty="0">
                  <a:solidFill>
                    <a:srgbClr val="202B33"/>
                  </a:solidFill>
                  <a:latin typeface="Arial"/>
                  <a:ea typeface="Microsoft YaHei"/>
                  <a:cs typeface="Arial"/>
                </a:rPr>
                <a:t> = 预测允许中的正确比例</a:t>
              </a:r>
            </a:p>
          </p:txBody>
        </p:sp>
      </p:grpSp>
      <p:grpSp>
        <p:nvGrpSpPr>
          <p:cNvPr id="31" name="Group 31"/>
          <p:cNvGrpSpPr/>
          <p:nvPr/>
        </p:nvGrpSpPr>
        <p:grpSpPr>
          <a:xfrm>
            <a:off x="504825" y="3993355"/>
            <a:ext cx="8191500" cy="639604"/>
            <a:chOff x="476250" y="4229100"/>
            <a:chExt cx="8191500" cy="504825"/>
          </a:xfrm>
        </p:grpSpPr>
        <p:sp>
          <p:nvSpPr>
            <p:cNvPr id="27" name="Rectangle 27"/>
            <p:cNvSpPr/>
            <p:nvPr/>
          </p:nvSpPr>
          <p:spPr>
            <a:xfrm>
              <a:off x="476250" y="4229100"/>
              <a:ext cx="8191500" cy="504825"/>
            </a:xfrm>
            <a:prstGeom prst="rect">
              <a:avLst/>
            </a:prstGeom>
            <a:solidFill>
              <a:srgbClr val="F0F5F6"/>
            </a:solidFill>
            <a:ln>
              <a:noFill/>
            </a:ln>
          </p:spPr>
        </p:sp>
        <p:sp>
          <p:nvSpPr>
            <p:cNvPr id="28" name="Rectangle 28"/>
            <p:cNvSpPr/>
            <p:nvPr/>
          </p:nvSpPr>
          <p:spPr>
            <a:xfrm>
              <a:off x="476250" y="4229100"/>
              <a:ext cx="38100" cy="504825"/>
            </a:xfrm>
            <a:prstGeom prst="rect">
              <a:avLst/>
            </a:prstGeom>
            <a:solidFill>
              <a:srgbClr val="16735C"/>
            </a:solidFill>
            <a:ln>
              <a:noFill/>
            </a:ln>
          </p:spPr>
        </p:sp>
        <p:sp>
          <p:nvSpPr>
            <p:cNvPr id="29" name="TextBox 29"/>
            <p:cNvSpPr txBox="1"/>
            <p:nvPr/>
          </p:nvSpPr>
          <p:spPr>
            <a:xfrm>
              <a:off x="609600" y="4387599"/>
              <a:ext cx="5659088"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安全场景更关注误允许代价</a:t>
              </a:r>
              <a:r>
                <a:rPr lang="zh-CN" altLang="en-US" sz="1420" b="1" dirty="0">
                  <a:solidFill>
                    <a:srgbClr val="16735C"/>
                  </a:solidFill>
                  <a:latin typeface="Arial"/>
                  <a:ea typeface="Microsoft YaHei"/>
                  <a:cs typeface="Arial"/>
                </a:rPr>
                <a:t>，</a:t>
              </a:r>
              <a:r>
                <a:rPr lang="zh-CN" sz="1420" b="1" dirty="0">
                  <a:solidFill>
                    <a:srgbClr val="16735C"/>
                  </a:solidFill>
                  <a:latin typeface="Arial"/>
                  <a:ea typeface="Microsoft YaHei"/>
                  <a:cs typeface="Arial"/>
                </a:rPr>
                <a:t>高准确率不能替代风险评估。</a:t>
              </a:r>
            </a:p>
          </p:txBody>
        </p:sp>
      </p:grpSp>
    </p:spTree>
    <p:extLst>
      <p:ext uri="{BB962C8B-B14F-4D97-AF65-F5344CB8AC3E}">
        <p14:creationId xmlns:p14="http://schemas.microsoft.com/office/powerpoint/2010/main" val="3547891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BD3A3C6-B3C2-5B6A-B8E6-1E109FBFDA30}"/>
            </a:ext>
          </a:extLst>
        </p:cNvPr>
        <p:cNvGrpSpPr/>
        <p:nvPr/>
      </p:nvGrpSpPr>
      <p:grpSpPr>
        <a:xfrm>
          <a:off x="0" y="0"/>
          <a:ext cx="0" cy="0"/>
          <a:chOff x="0" y="0"/>
          <a:chExt cx="0" cy="0"/>
        </a:xfrm>
      </p:grpSpPr>
      <p:grpSp>
        <p:nvGrpSpPr>
          <p:cNvPr id="5" name="Group 5"/>
          <p:cNvGrpSpPr/>
          <p:nvPr/>
        </p:nvGrpSpPr>
        <p:grpSpPr>
          <a:xfrm>
            <a:off x="476250" y="392430"/>
            <a:ext cx="5935599" cy="1012984"/>
            <a:chOff x="476250" y="392430"/>
            <a:chExt cx="5935599"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p:cNvSpPr txBox="1"/>
            <p:nvPr/>
          </p:nvSpPr>
          <p:spPr>
            <a:xfrm>
              <a:off x="1219200" y="392430"/>
              <a:ext cx="3035046"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实验一：全覆盖结果</a:t>
              </a:r>
            </a:p>
          </p:txBody>
        </p:sp>
        <p:sp>
          <p:nvSpPr>
            <p:cNvPr id="4" name="TextBox 4"/>
            <p:cNvSpPr txBox="1"/>
            <p:nvPr/>
          </p:nvSpPr>
          <p:spPr>
            <a:xfrm>
              <a:off x="476250" y="1019651"/>
              <a:ext cx="5935599"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混合模型小幅提升准确率，并降低误允许率</a:t>
              </a:r>
            </a:p>
          </p:txBody>
        </p:sp>
      </p:grpSp>
      <p:grpSp>
        <p:nvGrpSpPr>
          <p:cNvPr id="37" name="Group 37"/>
          <p:cNvGrpSpPr/>
          <p:nvPr/>
        </p:nvGrpSpPr>
        <p:grpSpPr>
          <a:xfrm>
            <a:off x="552450" y="1666875"/>
            <a:ext cx="8039100" cy="2295525"/>
            <a:chOff x="552450" y="1666875"/>
            <a:chExt cx="8039100" cy="2295525"/>
          </a:xfrm>
        </p:grpSpPr>
        <p:sp>
          <p:nvSpPr>
            <p:cNvPr id="9" name="Rectangle 9"/>
            <p:cNvSpPr/>
            <p:nvPr/>
          </p:nvSpPr>
          <p:spPr>
            <a:xfrm>
              <a:off x="552450" y="1666875"/>
              <a:ext cx="8039100" cy="342900"/>
            </a:xfrm>
            <a:prstGeom prst="rect">
              <a:avLst/>
            </a:prstGeom>
            <a:solidFill>
              <a:srgbClr val="005A84"/>
            </a:solidFill>
            <a:ln>
              <a:noFill/>
            </a:ln>
          </p:spPr>
        </p:sp>
        <p:sp>
          <p:nvSpPr>
            <p:cNvPr id="10" name="TextBox 10"/>
            <p:cNvSpPr txBox="1"/>
            <p:nvPr/>
          </p:nvSpPr>
          <p:spPr>
            <a:xfrm>
              <a:off x="666750" y="1759268"/>
              <a:ext cx="1134904" cy="257175"/>
            </a:xfrm>
            <a:prstGeom prst="rect">
              <a:avLst/>
            </a:prstGeom>
            <a:noFill/>
            <a:ln>
              <a:noFill/>
            </a:ln>
          </p:spPr>
          <p:txBody>
            <a:bodyPr wrap="none" lIns="0" tIns="0" rIns="0" bIns="0" anchor="t" anchorCtr="0">
              <a:noAutofit/>
            </a:bodyPr>
            <a:lstStyle/>
            <a:p>
              <a:pPr algn="l"/>
              <a:r>
                <a:rPr lang="zh-CN" sz="1350" b="1" dirty="0">
                  <a:solidFill>
                    <a:srgbClr val="FFFFFF"/>
                  </a:solidFill>
                  <a:latin typeface="Arial"/>
                  <a:ea typeface="Microsoft YaHei"/>
                  <a:cs typeface="Arial"/>
                </a:rPr>
                <a:t>指标（%）</a:t>
              </a:r>
            </a:p>
          </p:txBody>
        </p:sp>
        <p:sp>
          <p:nvSpPr>
            <p:cNvPr id="11" name="TextBox 11"/>
            <p:cNvSpPr txBox="1"/>
            <p:nvPr/>
          </p:nvSpPr>
          <p:spPr>
            <a:xfrm>
              <a:off x="2333625" y="1759268"/>
              <a:ext cx="392716" cy="257175"/>
            </a:xfrm>
            <a:prstGeom prst="rect">
              <a:avLst/>
            </a:prstGeom>
            <a:noFill/>
            <a:ln>
              <a:noFill/>
            </a:ln>
          </p:spPr>
          <p:txBody>
            <a:bodyPr wrap="none" lIns="0" tIns="0" rIns="0" bIns="0" anchor="t" anchorCtr="0">
              <a:noAutofit/>
            </a:bodyPr>
            <a:lstStyle/>
            <a:p>
              <a:pPr algn="l"/>
              <a:r>
                <a:rPr lang="en-US" sz="1350" b="1" dirty="0">
                  <a:solidFill>
                    <a:srgbClr val="FFFFFF"/>
                  </a:solidFill>
                  <a:latin typeface="Arial"/>
                  <a:ea typeface="Arial"/>
                  <a:cs typeface="Arial"/>
                </a:rPr>
                <a:t>CF</a:t>
              </a:r>
            </a:p>
          </p:txBody>
        </p:sp>
        <p:sp>
          <p:nvSpPr>
            <p:cNvPr id="12" name="TextBox 12"/>
            <p:cNvSpPr txBox="1"/>
            <p:nvPr/>
          </p:nvSpPr>
          <p:spPr>
            <a:xfrm>
              <a:off x="4181475" y="1759268"/>
              <a:ext cx="348044" cy="257175"/>
            </a:xfrm>
            <a:prstGeom prst="rect">
              <a:avLst/>
            </a:prstGeom>
            <a:noFill/>
            <a:ln>
              <a:noFill/>
            </a:ln>
          </p:spPr>
          <p:txBody>
            <a:bodyPr wrap="none" lIns="0" tIns="0" rIns="0" bIns="0" anchor="t" anchorCtr="0">
              <a:noAutofit/>
            </a:bodyPr>
            <a:lstStyle/>
            <a:p>
              <a:pPr algn="l"/>
              <a:r>
                <a:rPr lang="en-US" sz="1350" b="1" dirty="0">
                  <a:solidFill>
                    <a:srgbClr val="FFFFFF"/>
                  </a:solidFill>
                  <a:latin typeface="Arial"/>
                  <a:ea typeface="Arial"/>
                  <a:cs typeface="Arial"/>
                </a:rPr>
                <a:t>IC</a:t>
              </a:r>
            </a:p>
          </p:txBody>
        </p:sp>
        <p:sp>
          <p:nvSpPr>
            <p:cNvPr id="13" name="TextBox 13"/>
            <p:cNvSpPr txBox="1"/>
            <p:nvPr/>
          </p:nvSpPr>
          <p:spPr>
            <a:xfrm>
              <a:off x="6029325" y="1759268"/>
              <a:ext cx="867251" cy="257175"/>
            </a:xfrm>
            <a:prstGeom prst="rect">
              <a:avLst/>
            </a:prstGeom>
            <a:noFill/>
            <a:ln>
              <a:noFill/>
            </a:ln>
          </p:spPr>
          <p:txBody>
            <a:bodyPr wrap="none" lIns="0" tIns="0" rIns="0" bIns="0" anchor="t" anchorCtr="0">
              <a:noAutofit/>
            </a:bodyPr>
            <a:lstStyle/>
            <a:p>
              <a:pPr algn="l"/>
              <a:r>
                <a:rPr lang="en-US" sz="1350" b="1" dirty="0">
                  <a:solidFill>
                    <a:srgbClr val="FFFFFF"/>
                  </a:solidFill>
                  <a:latin typeface="Arial"/>
                  <a:ea typeface="Arial"/>
                  <a:cs typeface="Arial"/>
                </a:rPr>
                <a:t>IC + CF</a:t>
              </a:r>
            </a:p>
          </p:txBody>
        </p:sp>
        <p:sp>
          <p:nvSpPr>
            <p:cNvPr id="14" name="Rectangle 14"/>
            <p:cNvSpPr/>
            <p:nvPr/>
          </p:nvSpPr>
          <p:spPr>
            <a:xfrm>
              <a:off x="552450" y="2009775"/>
              <a:ext cx="8039100" cy="390525"/>
            </a:xfrm>
            <a:prstGeom prst="rect">
              <a:avLst/>
            </a:prstGeom>
            <a:solidFill>
              <a:srgbClr val="F0F5F6"/>
            </a:solidFill>
            <a:ln>
              <a:noFill/>
            </a:ln>
          </p:spPr>
        </p:sp>
        <p:sp>
          <p:nvSpPr>
            <p:cNvPr id="15" name="TextBox 15"/>
            <p:cNvSpPr txBox="1"/>
            <p:nvPr/>
          </p:nvSpPr>
          <p:spPr>
            <a:xfrm>
              <a:off x="666750" y="2117884"/>
              <a:ext cx="747522"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准确率</a:t>
              </a:r>
            </a:p>
          </p:txBody>
        </p:sp>
        <p:sp>
          <p:nvSpPr>
            <p:cNvPr id="16" name="TextBox 16"/>
            <p:cNvSpPr txBox="1"/>
            <p:nvPr/>
          </p:nvSpPr>
          <p:spPr>
            <a:xfrm>
              <a:off x="2333625" y="2117884"/>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83.3 ± 1.4</a:t>
              </a:r>
            </a:p>
          </p:txBody>
        </p:sp>
        <p:sp>
          <p:nvSpPr>
            <p:cNvPr id="17" name="TextBox 17"/>
            <p:cNvSpPr txBox="1"/>
            <p:nvPr/>
          </p:nvSpPr>
          <p:spPr>
            <a:xfrm>
              <a:off x="4181475" y="2117884"/>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84.4 ± 0.7</a:t>
              </a:r>
            </a:p>
          </p:txBody>
        </p:sp>
        <p:sp>
          <p:nvSpPr>
            <p:cNvPr id="18" name="TextBox 18"/>
            <p:cNvSpPr txBox="1"/>
            <p:nvPr/>
          </p:nvSpPr>
          <p:spPr>
            <a:xfrm>
              <a:off x="6029325" y="2117884"/>
              <a:ext cx="1098042" cy="257175"/>
            </a:xfrm>
            <a:prstGeom prst="rect">
              <a:avLst/>
            </a:prstGeom>
            <a:noFill/>
            <a:ln>
              <a:noFill/>
            </a:ln>
          </p:spPr>
          <p:txBody>
            <a:bodyPr wrap="none" lIns="0" tIns="0" rIns="0" bIns="0" anchor="t" anchorCtr="0">
              <a:noAutofit/>
            </a:bodyPr>
            <a:lstStyle/>
            <a:p>
              <a:pPr algn="l"/>
              <a:r>
                <a:rPr lang="en-US" sz="1350" b="1" dirty="0">
                  <a:solidFill>
                    <a:srgbClr val="202B33"/>
                  </a:solidFill>
                  <a:latin typeface="Arial"/>
                  <a:ea typeface="Arial"/>
                  <a:cs typeface="Arial"/>
                </a:rPr>
                <a:t>85.1 ± 0.4</a:t>
              </a:r>
            </a:p>
          </p:txBody>
        </p:sp>
        <p:sp>
          <p:nvSpPr>
            <p:cNvPr id="19" name="TextBox 19"/>
            <p:cNvSpPr txBox="1"/>
            <p:nvPr/>
          </p:nvSpPr>
          <p:spPr>
            <a:xfrm>
              <a:off x="666750" y="2508409"/>
              <a:ext cx="747522"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精确率</a:t>
              </a:r>
            </a:p>
          </p:txBody>
        </p:sp>
        <p:sp>
          <p:nvSpPr>
            <p:cNvPr id="20" name="TextBox 20"/>
            <p:cNvSpPr txBox="1"/>
            <p:nvPr/>
          </p:nvSpPr>
          <p:spPr>
            <a:xfrm>
              <a:off x="2333625" y="2508409"/>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91.9 ± 0.5</a:t>
              </a:r>
            </a:p>
          </p:txBody>
        </p:sp>
        <p:sp>
          <p:nvSpPr>
            <p:cNvPr id="21" name="TextBox 21"/>
            <p:cNvSpPr txBox="1"/>
            <p:nvPr/>
          </p:nvSpPr>
          <p:spPr>
            <a:xfrm>
              <a:off x="4181475" y="2508409"/>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91.5 ± 1.1</a:t>
              </a:r>
            </a:p>
          </p:txBody>
        </p:sp>
        <p:sp>
          <p:nvSpPr>
            <p:cNvPr id="22" name="TextBox 22"/>
            <p:cNvSpPr txBox="1"/>
            <p:nvPr/>
          </p:nvSpPr>
          <p:spPr>
            <a:xfrm>
              <a:off x="6029325" y="2508409"/>
              <a:ext cx="1098042" cy="257175"/>
            </a:xfrm>
            <a:prstGeom prst="rect">
              <a:avLst/>
            </a:prstGeom>
            <a:noFill/>
            <a:ln>
              <a:noFill/>
            </a:ln>
          </p:spPr>
          <p:txBody>
            <a:bodyPr wrap="none" lIns="0" tIns="0" rIns="0" bIns="0" anchor="t" anchorCtr="0">
              <a:noAutofit/>
            </a:bodyPr>
            <a:lstStyle/>
            <a:p>
              <a:pPr algn="l"/>
              <a:r>
                <a:rPr lang="en-US" sz="1350" b="1" dirty="0">
                  <a:solidFill>
                    <a:srgbClr val="202B33"/>
                  </a:solidFill>
                  <a:latin typeface="Arial"/>
                  <a:ea typeface="Arial"/>
                  <a:cs typeface="Arial"/>
                </a:rPr>
                <a:t>92.8 ± 0.7</a:t>
              </a:r>
            </a:p>
          </p:txBody>
        </p:sp>
        <p:sp>
          <p:nvSpPr>
            <p:cNvPr id="23" name="Rectangle 23"/>
            <p:cNvSpPr/>
            <p:nvPr/>
          </p:nvSpPr>
          <p:spPr>
            <a:xfrm>
              <a:off x="552450" y="2790825"/>
              <a:ext cx="8039100" cy="390525"/>
            </a:xfrm>
            <a:prstGeom prst="rect">
              <a:avLst/>
            </a:prstGeom>
            <a:solidFill>
              <a:srgbClr val="F0F5F6"/>
            </a:solidFill>
            <a:ln>
              <a:noFill/>
            </a:ln>
          </p:spPr>
        </p:sp>
        <p:sp>
          <p:nvSpPr>
            <p:cNvPr id="24" name="TextBox 24"/>
            <p:cNvSpPr txBox="1"/>
            <p:nvPr/>
          </p:nvSpPr>
          <p:spPr>
            <a:xfrm>
              <a:off x="666750" y="2898934"/>
              <a:ext cx="747522"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召回率</a:t>
              </a:r>
            </a:p>
          </p:txBody>
        </p:sp>
        <p:sp>
          <p:nvSpPr>
            <p:cNvPr id="25" name="TextBox 25"/>
            <p:cNvSpPr txBox="1"/>
            <p:nvPr/>
          </p:nvSpPr>
          <p:spPr>
            <a:xfrm>
              <a:off x="2333625" y="2898934"/>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83.3 ± 1.4</a:t>
              </a:r>
            </a:p>
          </p:txBody>
        </p:sp>
        <p:sp>
          <p:nvSpPr>
            <p:cNvPr id="26" name="TextBox 26"/>
            <p:cNvSpPr txBox="1"/>
            <p:nvPr/>
          </p:nvSpPr>
          <p:spPr>
            <a:xfrm>
              <a:off x="4181475" y="2898934"/>
              <a:ext cx="1098042" cy="257175"/>
            </a:xfrm>
            <a:prstGeom prst="rect">
              <a:avLst/>
            </a:prstGeom>
            <a:noFill/>
            <a:ln>
              <a:noFill/>
            </a:ln>
          </p:spPr>
          <p:txBody>
            <a:bodyPr wrap="none" lIns="0" tIns="0" rIns="0" bIns="0" anchor="t" anchorCtr="0">
              <a:noAutofit/>
            </a:bodyPr>
            <a:lstStyle/>
            <a:p>
              <a:pPr algn="l"/>
              <a:r>
                <a:rPr lang="en-US" sz="1350" b="1" dirty="0">
                  <a:solidFill>
                    <a:srgbClr val="202B33"/>
                  </a:solidFill>
                  <a:latin typeface="Arial"/>
                  <a:ea typeface="Arial"/>
                  <a:cs typeface="Arial"/>
                </a:rPr>
                <a:t>85.4 ± 1.5</a:t>
              </a:r>
            </a:p>
          </p:txBody>
        </p:sp>
        <p:sp>
          <p:nvSpPr>
            <p:cNvPr id="27" name="TextBox 27"/>
            <p:cNvSpPr txBox="1"/>
            <p:nvPr/>
          </p:nvSpPr>
          <p:spPr>
            <a:xfrm>
              <a:off x="6029325" y="2898934"/>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85.2 ± 1.2</a:t>
              </a:r>
            </a:p>
          </p:txBody>
        </p:sp>
        <p:sp>
          <p:nvSpPr>
            <p:cNvPr id="28" name="TextBox 28"/>
            <p:cNvSpPr txBox="1"/>
            <p:nvPr/>
          </p:nvSpPr>
          <p:spPr>
            <a:xfrm>
              <a:off x="666750" y="3289459"/>
              <a:ext cx="1391698"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误允许率 FPR</a:t>
              </a:r>
            </a:p>
          </p:txBody>
        </p:sp>
        <p:sp>
          <p:nvSpPr>
            <p:cNvPr id="29" name="TextBox 29"/>
            <p:cNvSpPr txBox="1"/>
            <p:nvPr/>
          </p:nvSpPr>
          <p:spPr>
            <a:xfrm>
              <a:off x="2333625" y="3289459"/>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16.7 ± 1.5</a:t>
              </a:r>
            </a:p>
          </p:txBody>
        </p:sp>
        <p:sp>
          <p:nvSpPr>
            <p:cNvPr id="30" name="TextBox 30"/>
            <p:cNvSpPr txBox="1"/>
            <p:nvPr/>
          </p:nvSpPr>
          <p:spPr>
            <a:xfrm>
              <a:off x="4181475" y="3289459"/>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17.9 ± 2.3</a:t>
              </a:r>
            </a:p>
          </p:txBody>
        </p:sp>
        <p:sp>
          <p:nvSpPr>
            <p:cNvPr id="31" name="TextBox 31"/>
            <p:cNvSpPr txBox="1"/>
            <p:nvPr/>
          </p:nvSpPr>
          <p:spPr>
            <a:xfrm>
              <a:off x="6029325" y="3289459"/>
              <a:ext cx="1098042" cy="257175"/>
            </a:xfrm>
            <a:prstGeom prst="rect">
              <a:avLst/>
            </a:prstGeom>
            <a:noFill/>
            <a:ln>
              <a:noFill/>
            </a:ln>
          </p:spPr>
          <p:txBody>
            <a:bodyPr wrap="none" lIns="0" tIns="0" rIns="0" bIns="0" anchor="t" anchorCtr="0">
              <a:noAutofit/>
            </a:bodyPr>
            <a:lstStyle/>
            <a:p>
              <a:pPr algn="l"/>
              <a:r>
                <a:rPr lang="en-US" sz="1350" b="1" dirty="0">
                  <a:solidFill>
                    <a:srgbClr val="202B33"/>
                  </a:solidFill>
                  <a:latin typeface="Arial"/>
                  <a:ea typeface="Arial"/>
                  <a:cs typeface="Arial"/>
                </a:rPr>
                <a:t>15.2 ± 2.1</a:t>
              </a:r>
            </a:p>
          </p:txBody>
        </p:sp>
        <p:sp>
          <p:nvSpPr>
            <p:cNvPr id="32" name="Rectangle 32"/>
            <p:cNvSpPr/>
            <p:nvPr/>
          </p:nvSpPr>
          <p:spPr>
            <a:xfrm>
              <a:off x="552450" y="3571875"/>
              <a:ext cx="8039100" cy="390525"/>
            </a:xfrm>
            <a:prstGeom prst="rect">
              <a:avLst/>
            </a:prstGeom>
            <a:solidFill>
              <a:srgbClr val="F0F5F6"/>
            </a:solidFill>
            <a:ln>
              <a:noFill/>
            </a:ln>
          </p:spPr>
        </p:sp>
        <p:sp>
          <p:nvSpPr>
            <p:cNvPr id="33" name="TextBox 33"/>
            <p:cNvSpPr txBox="1"/>
            <p:nvPr/>
          </p:nvSpPr>
          <p:spPr>
            <a:xfrm>
              <a:off x="666750" y="3679984"/>
              <a:ext cx="1429988" cy="257175"/>
            </a:xfrm>
            <a:prstGeom prst="rect">
              <a:avLst/>
            </a:prstGeom>
            <a:noFill/>
            <a:ln>
              <a:noFill/>
            </a:ln>
          </p:spPr>
          <p:txBody>
            <a:bodyPr wrap="none" lIns="0" tIns="0" rIns="0" bIns="0" anchor="t" anchorCtr="0">
              <a:noAutofit/>
            </a:bodyPr>
            <a:lstStyle/>
            <a:p>
              <a:pPr algn="l"/>
              <a:r>
                <a:rPr lang="zh-CN" sz="1350" b="1" dirty="0">
                  <a:solidFill>
                    <a:srgbClr val="005A84"/>
                  </a:solidFill>
                  <a:latin typeface="Arial"/>
                  <a:ea typeface="Microsoft YaHei"/>
                  <a:cs typeface="Arial"/>
                </a:rPr>
                <a:t>误拒绝率 FNR</a:t>
              </a:r>
            </a:p>
          </p:txBody>
        </p:sp>
        <p:sp>
          <p:nvSpPr>
            <p:cNvPr id="34" name="TextBox 34"/>
            <p:cNvSpPr txBox="1"/>
            <p:nvPr/>
          </p:nvSpPr>
          <p:spPr>
            <a:xfrm>
              <a:off x="2333625" y="3679984"/>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16.7 ± 1.4</a:t>
              </a:r>
            </a:p>
          </p:txBody>
        </p:sp>
        <p:sp>
          <p:nvSpPr>
            <p:cNvPr id="35" name="TextBox 35"/>
            <p:cNvSpPr txBox="1"/>
            <p:nvPr/>
          </p:nvSpPr>
          <p:spPr>
            <a:xfrm>
              <a:off x="4181475" y="3679984"/>
              <a:ext cx="1098042" cy="257175"/>
            </a:xfrm>
            <a:prstGeom prst="rect">
              <a:avLst/>
            </a:prstGeom>
            <a:noFill/>
            <a:ln>
              <a:noFill/>
            </a:ln>
          </p:spPr>
          <p:txBody>
            <a:bodyPr wrap="none" lIns="0" tIns="0" rIns="0" bIns="0" anchor="t" anchorCtr="0">
              <a:noAutofit/>
            </a:bodyPr>
            <a:lstStyle/>
            <a:p>
              <a:pPr algn="l"/>
              <a:r>
                <a:rPr lang="en-US" sz="1350" b="1" dirty="0">
                  <a:solidFill>
                    <a:srgbClr val="202B33"/>
                  </a:solidFill>
                  <a:latin typeface="Arial"/>
                  <a:ea typeface="Arial"/>
                  <a:cs typeface="Arial"/>
                </a:rPr>
                <a:t>14.6 ± 1.5</a:t>
              </a:r>
            </a:p>
          </p:txBody>
        </p:sp>
        <p:sp>
          <p:nvSpPr>
            <p:cNvPr id="36" name="TextBox 36"/>
            <p:cNvSpPr txBox="1"/>
            <p:nvPr/>
          </p:nvSpPr>
          <p:spPr>
            <a:xfrm>
              <a:off x="6029325" y="3679984"/>
              <a:ext cx="1098042" cy="257175"/>
            </a:xfrm>
            <a:prstGeom prst="rect">
              <a:avLst/>
            </a:prstGeom>
            <a:noFill/>
            <a:ln>
              <a:noFill/>
            </a:ln>
          </p:spPr>
          <p:txBody>
            <a:bodyPr wrap="none" lIns="0" tIns="0" rIns="0" bIns="0" anchor="t" anchorCtr="0">
              <a:noAutofit/>
            </a:bodyPr>
            <a:lstStyle/>
            <a:p>
              <a:pPr algn="l"/>
              <a:r>
                <a:rPr lang="en-US" sz="1350" dirty="0">
                  <a:solidFill>
                    <a:srgbClr val="202B33"/>
                  </a:solidFill>
                  <a:latin typeface="Arial"/>
                  <a:ea typeface="Arial"/>
                  <a:cs typeface="Arial"/>
                </a:rPr>
                <a:t>14.8 ± 1.2</a:t>
              </a:r>
            </a:p>
          </p:txBody>
        </p:sp>
      </p:grpSp>
      <p:grpSp>
        <p:nvGrpSpPr>
          <p:cNvPr id="42" name="Group 42"/>
          <p:cNvGrpSpPr/>
          <p:nvPr/>
        </p:nvGrpSpPr>
        <p:grpSpPr>
          <a:xfrm>
            <a:off x="476249" y="4063365"/>
            <a:ext cx="7691705" cy="642199"/>
            <a:chOff x="476250" y="4229100"/>
            <a:chExt cx="8191500" cy="504825"/>
          </a:xfrm>
        </p:grpSpPr>
        <p:sp>
          <p:nvSpPr>
            <p:cNvPr id="38" name="Rectangle 38"/>
            <p:cNvSpPr/>
            <p:nvPr/>
          </p:nvSpPr>
          <p:spPr>
            <a:xfrm>
              <a:off x="476250" y="4229100"/>
              <a:ext cx="8191500" cy="504825"/>
            </a:xfrm>
            <a:prstGeom prst="rect">
              <a:avLst/>
            </a:prstGeom>
            <a:solidFill>
              <a:srgbClr val="F0F5F6"/>
            </a:solidFill>
            <a:ln>
              <a:noFill/>
            </a:ln>
          </p:spPr>
        </p:sp>
        <p:sp>
          <p:nvSpPr>
            <p:cNvPr id="39" name="Rectangle 39"/>
            <p:cNvSpPr/>
            <p:nvPr/>
          </p:nvSpPr>
          <p:spPr>
            <a:xfrm>
              <a:off x="476250" y="4229100"/>
              <a:ext cx="38100" cy="504825"/>
            </a:xfrm>
            <a:prstGeom prst="rect">
              <a:avLst/>
            </a:prstGeom>
            <a:solidFill>
              <a:srgbClr val="16735C"/>
            </a:solidFill>
            <a:ln>
              <a:noFill/>
            </a:ln>
          </p:spPr>
        </p:sp>
        <p:sp>
          <p:nvSpPr>
            <p:cNvPr id="40" name="TextBox 40"/>
            <p:cNvSpPr txBox="1"/>
            <p:nvPr/>
          </p:nvSpPr>
          <p:spPr>
            <a:xfrm>
              <a:off x="654147" y="4385037"/>
              <a:ext cx="5441442"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对比 IC：准确率 +0.7 个百分点，FPR −2.7 个百分点。</a:t>
              </a:r>
            </a:p>
          </p:txBody>
        </p:sp>
      </p:grpSp>
    </p:spTree>
    <p:extLst>
      <p:ext uri="{BB962C8B-B14F-4D97-AF65-F5344CB8AC3E}">
        <p14:creationId xmlns:p14="http://schemas.microsoft.com/office/powerpoint/2010/main" val="1665432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27C9C870-121C-B327-FCDA-387F97EAE4F6}"/>
            </a:ext>
          </a:extLst>
        </p:cNvPr>
        <p:cNvGrpSpPr/>
        <p:nvPr/>
      </p:nvGrpSpPr>
      <p:grpSpPr>
        <a:xfrm>
          <a:off x="0" y="0"/>
          <a:ext cx="0" cy="0"/>
          <a:chOff x="0" y="0"/>
          <a:chExt cx="0" cy="0"/>
        </a:xfrm>
      </p:grpSpPr>
      <p:grpSp>
        <p:nvGrpSpPr>
          <p:cNvPr id="5" name="Group 5"/>
          <p:cNvGrpSpPr/>
          <p:nvPr/>
        </p:nvGrpSpPr>
        <p:grpSpPr>
          <a:xfrm>
            <a:off x="476250" y="392430"/>
            <a:ext cx="6346222" cy="1012984"/>
            <a:chOff x="476250" y="392430"/>
            <a:chExt cx="6346222"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p:cNvSpPr txBox="1"/>
            <p:nvPr/>
          </p:nvSpPr>
          <p:spPr>
            <a:xfrm>
              <a:off x="1219200" y="392430"/>
              <a:ext cx="3659124"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实验二：准确率与覆盖率</a:t>
              </a:r>
            </a:p>
          </p:txBody>
        </p:sp>
        <p:sp>
          <p:nvSpPr>
            <p:cNvPr id="4" name="TextBox 4"/>
            <p:cNvSpPr txBox="1"/>
            <p:nvPr/>
          </p:nvSpPr>
          <p:spPr>
            <a:xfrm>
              <a:off x="476250" y="1019651"/>
              <a:ext cx="6346222"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ea typeface="Microsoft YaHei"/>
                </a:rPr>
                <a:t>更高的</a:t>
              </a:r>
              <a:r>
                <a:rPr lang="zh-CN" sz="2020" b="1" dirty="0">
                  <a:solidFill>
                    <a:srgbClr val="005A84"/>
                  </a:solidFill>
                  <a:latin typeface="Arial"/>
                  <a:ea typeface="Microsoft YaHei"/>
                  <a:cs typeface="Arial"/>
                </a:rPr>
                <a:t>准确率需要以更</a:t>
              </a:r>
              <a:r>
                <a:rPr lang="zh-CN" altLang="en-US" sz="2020" b="1" dirty="0">
                  <a:solidFill>
                    <a:srgbClr val="005A84"/>
                  </a:solidFill>
                  <a:latin typeface="Arial"/>
                  <a:ea typeface="Microsoft YaHei"/>
                  <a:cs typeface="Arial"/>
                </a:rPr>
                <a:t>低的覆盖率</a:t>
              </a:r>
              <a:r>
                <a:rPr lang="zh-CN" sz="2020" b="1" dirty="0">
                  <a:solidFill>
                    <a:srgbClr val="005A84"/>
                  </a:solidFill>
                  <a:latin typeface="Arial"/>
                  <a:ea typeface="Microsoft YaHei"/>
                  <a:cs typeface="Arial"/>
                </a:rPr>
                <a:t>换取</a:t>
              </a:r>
            </a:p>
          </p:txBody>
        </p:sp>
      </p:grpSp>
      <p:grpSp>
        <p:nvGrpSpPr>
          <p:cNvPr id="18" name="Group 18"/>
          <p:cNvGrpSpPr/>
          <p:nvPr/>
        </p:nvGrpSpPr>
        <p:grpSpPr>
          <a:xfrm>
            <a:off x="555488" y="1562100"/>
            <a:ext cx="7940812" cy="2581275"/>
            <a:chOff x="555488" y="1562100"/>
            <a:chExt cx="7940812" cy="2581275"/>
          </a:xfrm>
        </p:grpSpPr>
        <p:pic>
          <p:nvPicPr>
            <p:cNvPr id="9" name="Image 9"/>
            <p:cNvPicPr>
              <a:picLocks noChangeAspect="1"/>
            </p:cNvPicPr>
            <p:nvPr/>
          </p:nvPicPr>
          <p:blipFill>
            <a:blip r:embed="rId3"/>
            <a:stretch>
              <a:fillRect/>
            </a:stretch>
          </p:blipFill>
          <p:spPr>
            <a:xfrm>
              <a:off x="555488" y="1562100"/>
              <a:ext cx="2803799" cy="2581275"/>
            </a:xfrm>
            <a:prstGeom prst="rect">
              <a:avLst/>
            </a:prstGeom>
          </p:spPr>
        </p:pic>
        <p:sp>
          <p:nvSpPr>
            <p:cNvPr id="10" name="TextBox 10"/>
            <p:cNvSpPr txBox="1"/>
            <p:nvPr/>
          </p:nvSpPr>
          <p:spPr>
            <a:xfrm>
              <a:off x="3905250" y="1680686"/>
              <a:ext cx="2784157" cy="328612"/>
            </a:xfrm>
            <a:prstGeom prst="rect">
              <a:avLst/>
            </a:prstGeom>
            <a:noFill/>
            <a:ln>
              <a:noFill/>
            </a:ln>
          </p:spPr>
          <p:txBody>
            <a:bodyPr wrap="none" lIns="0" tIns="0" rIns="0" bIns="0" anchor="t" anchorCtr="0">
              <a:noAutofit/>
            </a:bodyPr>
            <a:lstStyle/>
            <a:p>
              <a:pPr algn="l"/>
              <a:r>
                <a:rPr lang="zh-CN" sz="1720" b="1" dirty="0">
                  <a:solidFill>
                    <a:srgbClr val="16735C"/>
                  </a:solidFill>
                  <a:latin typeface="Arial"/>
                  <a:ea typeface="Microsoft YaHei"/>
                  <a:cs typeface="Arial"/>
                </a:rPr>
                <a:t>最终置信度门槛：0.91</a:t>
              </a:r>
            </a:p>
          </p:txBody>
        </p:sp>
        <p:sp>
          <p:nvSpPr>
            <p:cNvPr id="11" name="TextBox 11"/>
            <p:cNvSpPr txBox="1"/>
            <p:nvPr/>
          </p:nvSpPr>
          <p:spPr>
            <a:xfrm>
              <a:off x="3905250" y="2095976"/>
              <a:ext cx="1986915" cy="671512"/>
            </a:xfrm>
            <a:prstGeom prst="rect">
              <a:avLst/>
            </a:prstGeom>
            <a:noFill/>
            <a:ln>
              <a:noFill/>
            </a:ln>
          </p:spPr>
          <p:txBody>
            <a:bodyPr wrap="none" lIns="0" tIns="0" rIns="0" bIns="0" anchor="t" anchorCtr="0">
              <a:noAutofit/>
            </a:bodyPr>
            <a:lstStyle/>
            <a:p>
              <a:pPr algn="l"/>
              <a:r>
                <a:rPr lang="en-US" sz="3520" b="1" dirty="0">
                  <a:solidFill>
                    <a:srgbClr val="005A84"/>
                  </a:solidFill>
                  <a:latin typeface="Arial"/>
                  <a:ea typeface="Arial"/>
                  <a:cs typeface="Arial"/>
                </a:rPr>
                <a:t>94.4%</a:t>
              </a:r>
            </a:p>
          </p:txBody>
        </p:sp>
        <p:sp>
          <p:nvSpPr>
            <p:cNvPr id="12" name="TextBox 12"/>
            <p:cNvSpPr txBox="1"/>
            <p:nvPr/>
          </p:nvSpPr>
          <p:spPr>
            <a:xfrm>
              <a:off x="6191250" y="2095976"/>
              <a:ext cx="1986915" cy="671512"/>
            </a:xfrm>
            <a:prstGeom prst="rect">
              <a:avLst/>
            </a:prstGeom>
            <a:noFill/>
            <a:ln>
              <a:noFill/>
            </a:ln>
          </p:spPr>
          <p:txBody>
            <a:bodyPr wrap="none" lIns="0" tIns="0" rIns="0" bIns="0" anchor="t" anchorCtr="0">
              <a:noAutofit/>
            </a:bodyPr>
            <a:lstStyle/>
            <a:p>
              <a:pPr algn="l"/>
              <a:r>
                <a:rPr lang="en-US" sz="3520" b="1" dirty="0">
                  <a:solidFill>
                    <a:srgbClr val="16735C"/>
                  </a:solidFill>
                  <a:latin typeface="Arial"/>
                  <a:ea typeface="Arial"/>
                  <a:cs typeface="Arial"/>
                </a:rPr>
                <a:t>25.9%</a:t>
              </a:r>
            </a:p>
          </p:txBody>
        </p:sp>
        <p:sp>
          <p:nvSpPr>
            <p:cNvPr id="13" name="TextBox 13"/>
            <p:cNvSpPr txBox="1"/>
            <p:nvPr/>
          </p:nvSpPr>
          <p:spPr>
            <a:xfrm>
              <a:off x="3933825" y="2617946"/>
              <a:ext cx="1847755"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保留预测的准确率</a:t>
              </a:r>
            </a:p>
          </p:txBody>
        </p:sp>
        <p:sp>
          <p:nvSpPr>
            <p:cNvPr id="14" name="TextBox 14"/>
            <p:cNvSpPr txBox="1"/>
            <p:nvPr/>
          </p:nvSpPr>
          <p:spPr>
            <a:xfrm>
              <a:off x="6219825" y="2617946"/>
              <a:ext cx="789051" cy="271462"/>
            </a:xfrm>
            <a:prstGeom prst="rect">
              <a:avLst/>
            </a:prstGeom>
            <a:noFill/>
            <a:ln>
              <a:noFill/>
            </a:ln>
          </p:spPr>
          <p:txBody>
            <a:bodyPr wrap="none" lIns="0" tIns="0" rIns="0" bIns="0" anchor="t" anchorCtr="0">
              <a:noAutofit/>
            </a:bodyPr>
            <a:lstStyle/>
            <a:p>
              <a:pPr algn="l"/>
              <a:r>
                <a:rPr lang="zh-CN" sz="1420" dirty="0">
                  <a:solidFill>
                    <a:srgbClr val="202B33"/>
                  </a:solidFill>
                  <a:latin typeface="Arial"/>
                  <a:ea typeface="Microsoft YaHei"/>
                  <a:cs typeface="Arial"/>
                </a:rPr>
                <a:t>覆盖率</a:t>
              </a:r>
            </a:p>
          </p:txBody>
        </p:sp>
        <p:sp>
          <p:nvSpPr>
            <p:cNvPr id="15" name="Rectangle 15"/>
            <p:cNvSpPr/>
            <p:nvPr/>
          </p:nvSpPr>
          <p:spPr>
            <a:xfrm>
              <a:off x="3952875" y="3067050"/>
              <a:ext cx="4543425" cy="276225"/>
            </a:xfrm>
            <a:prstGeom prst="rect">
              <a:avLst/>
            </a:prstGeom>
            <a:solidFill>
              <a:srgbClr val="F0F5F6"/>
            </a:solidFill>
            <a:ln>
              <a:noFill/>
            </a:ln>
          </p:spPr>
        </p:sp>
        <p:sp>
          <p:nvSpPr>
            <p:cNvPr id="16" name="Rectangle 16"/>
            <p:cNvSpPr/>
            <p:nvPr/>
          </p:nvSpPr>
          <p:spPr>
            <a:xfrm>
              <a:off x="3952875" y="3067050"/>
              <a:ext cx="1176747" cy="276225"/>
            </a:xfrm>
            <a:prstGeom prst="rect">
              <a:avLst/>
            </a:prstGeom>
            <a:solidFill>
              <a:srgbClr val="16735C"/>
            </a:solidFill>
            <a:ln>
              <a:noFill/>
            </a:ln>
          </p:spPr>
        </p:sp>
        <p:sp>
          <p:nvSpPr>
            <p:cNvPr id="17" name="TextBox 17"/>
            <p:cNvSpPr txBox="1"/>
            <p:nvPr/>
          </p:nvSpPr>
          <p:spPr>
            <a:xfrm>
              <a:off x="3952875" y="3552825"/>
              <a:ext cx="4321588" cy="285750"/>
            </a:xfrm>
            <a:prstGeom prst="rect">
              <a:avLst/>
            </a:prstGeom>
            <a:noFill/>
            <a:ln>
              <a:noFill/>
            </a:ln>
          </p:spPr>
          <p:txBody>
            <a:bodyPr wrap="none" lIns="0" tIns="0" rIns="0" bIns="0" anchor="t" anchorCtr="0">
              <a:noAutofit/>
            </a:bodyPr>
            <a:lstStyle/>
            <a:p>
              <a:pPr algn="l"/>
              <a:r>
                <a:rPr lang="zh-CN" sz="1500" b="1" dirty="0">
                  <a:solidFill>
                    <a:srgbClr val="BE4B42"/>
                  </a:solidFill>
                  <a:latin typeface="Arial"/>
                  <a:ea typeface="Microsoft YaHei"/>
                  <a:cs typeface="Arial"/>
                </a:rPr>
                <a:t>其余 74.1% 请求需人工或其他策略处理。</a:t>
              </a:r>
            </a:p>
          </p:txBody>
        </p:sp>
      </p:grpSp>
      <p:grpSp>
        <p:nvGrpSpPr>
          <p:cNvPr id="23" name="Group 23"/>
          <p:cNvGrpSpPr/>
          <p:nvPr/>
        </p:nvGrpSpPr>
        <p:grpSpPr>
          <a:xfrm>
            <a:off x="476250" y="4229100"/>
            <a:ext cx="8191500" cy="504825"/>
            <a:chOff x="476250" y="4229100"/>
            <a:chExt cx="8191500" cy="504825"/>
          </a:xfrm>
        </p:grpSpPr>
        <p:sp>
          <p:nvSpPr>
            <p:cNvPr id="19" name="Rectangle 19"/>
            <p:cNvSpPr/>
            <p:nvPr/>
          </p:nvSpPr>
          <p:spPr>
            <a:xfrm>
              <a:off x="476250" y="4229100"/>
              <a:ext cx="8191500" cy="504825"/>
            </a:xfrm>
            <a:prstGeom prst="rect">
              <a:avLst/>
            </a:prstGeom>
            <a:solidFill>
              <a:srgbClr val="F0F5F6"/>
            </a:solidFill>
            <a:ln>
              <a:noFill/>
            </a:ln>
          </p:spPr>
        </p:sp>
        <p:sp>
          <p:nvSpPr>
            <p:cNvPr id="20" name="Rectangle 20"/>
            <p:cNvSpPr/>
            <p:nvPr/>
          </p:nvSpPr>
          <p:spPr>
            <a:xfrm>
              <a:off x="476250" y="4229100"/>
              <a:ext cx="38100" cy="504825"/>
            </a:xfrm>
            <a:prstGeom prst="rect">
              <a:avLst/>
            </a:prstGeom>
            <a:solidFill>
              <a:srgbClr val="16735C"/>
            </a:solidFill>
            <a:ln>
              <a:noFill/>
            </a:ln>
          </p:spPr>
        </p:sp>
        <p:sp>
          <p:nvSpPr>
            <p:cNvPr id="21" name="TextBox 21"/>
            <p:cNvSpPr txBox="1"/>
            <p:nvPr/>
          </p:nvSpPr>
          <p:spPr>
            <a:xfrm>
              <a:off x="642699" y="4393883"/>
              <a:ext cx="4812125"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提高门槛减少错误，也会减少可自动建议的请求。</a:t>
              </a:r>
            </a:p>
          </p:txBody>
        </p:sp>
      </p:grpSp>
    </p:spTree>
    <p:extLst>
      <p:ext uri="{BB962C8B-B14F-4D97-AF65-F5344CB8AC3E}">
        <p14:creationId xmlns:p14="http://schemas.microsoft.com/office/powerpoint/2010/main" val="3569396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6D4E2C07-E130-0CB7-FC0F-50A6079C8529}"/>
            </a:ext>
          </a:extLst>
        </p:cNvPr>
        <p:cNvGrpSpPr/>
        <p:nvPr/>
      </p:nvGrpSpPr>
      <p:grpSpPr>
        <a:xfrm>
          <a:off x="0" y="0"/>
          <a:ext cx="0" cy="0"/>
          <a:chOff x="0" y="0"/>
          <a:chExt cx="0" cy="0"/>
        </a:xfrm>
      </p:grpSpPr>
      <p:grpSp>
        <p:nvGrpSpPr>
          <p:cNvPr id="5" name="Group 5"/>
          <p:cNvGrpSpPr/>
          <p:nvPr/>
        </p:nvGrpSpPr>
        <p:grpSpPr>
          <a:xfrm>
            <a:off x="476250" y="392430"/>
            <a:ext cx="5216842" cy="1012984"/>
            <a:chOff x="476250" y="392430"/>
            <a:chExt cx="5216842"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p:cNvSpPr txBox="1"/>
            <p:nvPr/>
          </p:nvSpPr>
          <p:spPr>
            <a:xfrm>
              <a:off x="1219200" y="392430"/>
              <a:ext cx="3659124"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实验三：历史记录的价值</a:t>
              </a:r>
            </a:p>
          </p:txBody>
        </p:sp>
        <p:sp>
          <p:nvSpPr>
            <p:cNvPr id="4" name="TextBox 4"/>
            <p:cNvSpPr txBox="1"/>
            <p:nvPr/>
          </p:nvSpPr>
          <p:spPr>
            <a:xfrm>
              <a:off x="476250" y="1019651"/>
              <a:ext cx="5216842" cy="385763"/>
            </a:xfrm>
            <a:prstGeom prst="rect">
              <a:avLst/>
            </a:prstGeom>
            <a:noFill/>
            <a:ln>
              <a:noFill/>
            </a:ln>
          </p:spPr>
          <p:txBody>
            <a:bodyPr wrap="none" lIns="0" tIns="0" rIns="0" bIns="0" anchor="t" anchorCtr="0">
              <a:noAutofit/>
            </a:bodyPr>
            <a:lstStyle/>
            <a:p>
              <a:pPr algn="l"/>
              <a:r>
                <a:rPr lang="zh-CN" sz="2020" b="1" dirty="0">
                  <a:solidFill>
                    <a:srgbClr val="005A84"/>
                  </a:solidFill>
                  <a:latin typeface="Arial"/>
                  <a:ea typeface="Microsoft YaHei"/>
                  <a:cs typeface="Arial"/>
                </a:rPr>
                <a:t>1—4 个</a:t>
              </a:r>
              <a:r>
                <a:rPr lang="zh-CN" altLang="en-US" sz="2020" b="1" dirty="0">
                  <a:solidFill>
                    <a:srgbClr val="005A84"/>
                  </a:solidFill>
                  <a:ea typeface="Microsoft YaHei"/>
                </a:rPr>
                <a:t>决策</a:t>
              </a:r>
              <a:r>
                <a:rPr lang="zh-CN" sz="2020" b="1" dirty="0">
                  <a:solidFill>
                    <a:srgbClr val="005A84"/>
                  </a:solidFill>
                  <a:latin typeface="Arial"/>
                  <a:ea typeface="Microsoft YaHei"/>
                  <a:cs typeface="Arial"/>
                </a:rPr>
                <a:t>历史，就带来</a:t>
              </a:r>
              <a:r>
                <a:rPr lang="zh-CN" altLang="en-US" sz="2020" b="1" dirty="0">
                  <a:solidFill>
                    <a:srgbClr val="005A84"/>
                  </a:solidFill>
                  <a:latin typeface="Arial"/>
                  <a:ea typeface="Microsoft YaHei"/>
                  <a:cs typeface="Arial"/>
                </a:rPr>
                <a:t>准确率</a:t>
              </a:r>
              <a:r>
                <a:rPr lang="zh-CN" sz="2020" b="1" dirty="0">
                  <a:solidFill>
                    <a:srgbClr val="005A84"/>
                  </a:solidFill>
                  <a:latin typeface="Arial"/>
                  <a:ea typeface="Microsoft YaHei"/>
                  <a:cs typeface="Arial"/>
                </a:rPr>
                <a:t>明显</a:t>
              </a:r>
              <a:r>
                <a:rPr lang="zh-CN" altLang="en-US" sz="2020" b="1" dirty="0">
                  <a:solidFill>
                    <a:srgbClr val="005A84"/>
                  </a:solidFill>
                  <a:latin typeface="Arial"/>
                  <a:ea typeface="Microsoft YaHei"/>
                  <a:cs typeface="Arial"/>
                </a:rPr>
                <a:t>提高</a:t>
              </a:r>
              <a:endParaRPr lang="zh-CN" sz="2020" b="1" dirty="0">
                <a:solidFill>
                  <a:srgbClr val="005A84"/>
                </a:solidFill>
                <a:latin typeface="Arial"/>
                <a:ea typeface="Microsoft YaHei"/>
                <a:cs typeface="Arial"/>
              </a:endParaRPr>
            </a:p>
          </p:txBody>
        </p:sp>
      </p:grpSp>
      <p:grpSp>
        <p:nvGrpSpPr>
          <p:cNvPr id="41" name="Group 41"/>
          <p:cNvGrpSpPr/>
          <p:nvPr/>
        </p:nvGrpSpPr>
        <p:grpSpPr>
          <a:xfrm>
            <a:off x="542925" y="1556385"/>
            <a:ext cx="7947470" cy="2511267"/>
            <a:chOff x="542925" y="1556385"/>
            <a:chExt cx="7947470" cy="2511267"/>
          </a:xfrm>
        </p:grpSpPr>
        <p:sp>
          <p:nvSpPr>
            <p:cNvPr id="9" name="Line 9"/>
            <p:cNvSpPr/>
            <p:nvPr/>
          </p:nvSpPr>
          <p:spPr>
            <a:xfrm>
              <a:off x="1028700" y="3695700"/>
              <a:ext cx="5591175" cy="9525"/>
            </a:xfrm>
            <a:custGeom>
              <a:avLst/>
              <a:gdLst/>
              <a:ahLst/>
              <a:cxnLst/>
              <a:rect l="l" t="t" r="r" b="b"/>
              <a:pathLst>
                <a:path w="5591175" h="9525">
                  <a:moveTo>
                    <a:pt x="0" y="0"/>
                  </a:moveTo>
                  <a:lnTo>
                    <a:pt x="5591175" y="0"/>
                  </a:lnTo>
                </a:path>
              </a:pathLst>
            </a:custGeom>
            <a:noFill/>
            <a:ln w="13335">
              <a:solidFill>
                <a:srgbClr val="CFDBDF"/>
              </a:solidFill>
            </a:ln>
          </p:spPr>
        </p:sp>
        <p:sp>
          <p:nvSpPr>
            <p:cNvPr id="10" name="TextBox 10"/>
            <p:cNvSpPr txBox="1"/>
            <p:nvPr/>
          </p:nvSpPr>
          <p:spPr>
            <a:xfrm>
              <a:off x="558832" y="3631406"/>
              <a:ext cx="317468" cy="214312"/>
            </a:xfrm>
            <a:prstGeom prst="rect">
              <a:avLst/>
            </a:prstGeom>
            <a:noFill/>
            <a:ln>
              <a:noFill/>
            </a:ln>
          </p:spPr>
          <p:txBody>
            <a:bodyPr wrap="none" lIns="0" tIns="0" rIns="0" bIns="0" anchor="t" anchorCtr="0">
              <a:noAutofit/>
            </a:bodyPr>
            <a:lstStyle/>
            <a:p>
              <a:pPr algn="r"/>
              <a:r>
                <a:rPr lang="en-US" sz="1120" dirty="0">
                  <a:solidFill>
                    <a:srgbClr val="5C6B73"/>
                  </a:solidFill>
                  <a:latin typeface="Arial"/>
                  <a:ea typeface="Arial"/>
                  <a:cs typeface="Arial"/>
                </a:rPr>
                <a:t>60</a:t>
              </a:r>
            </a:p>
          </p:txBody>
        </p:sp>
        <p:sp>
          <p:nvSpPr>
            <p:cNvPr id="11" name="Line 11"/>
            <p:cNvSpPr/>
            <p:nvPr/>
          </p:nvSpPr>
          <p:spPr>
            <a:xfrm>
              <a:off x="1028700" y="3086100"/>
              <a:ext cx="5591175" cy="9525"/>
            </a:xfrm>
            <a:custGeom>
              <a:avLst/>
              <a:gdLst/>
              <a:ahLst/>
              <a:cxnLst/>
              <a:rect l="l" t="t" r="r" b="b"/>
              <a:pathLst>
                <a:path w="5591175" h="9525">
                  <a:moveTo>
                    <a:pt x="0" y="0"/>
                  </a:moveTo>
                  <a:lnTo>
                    <a:pt x="5591175" y="0"/>
                  </a:lnTo>
                </a:path>
              </a:pathLst>
            </a:custGeom>
            <a:noFill/>
            <a:ln w="13335">
              <a:solidFill>
                <a:srgbClr val="CFDBDF"/>
              </a:solidFill>
            </a:ln>
          </p:spPr>
        </p:sp>
        <p:sp>
          <p:nvSpPr>
            <p:cNvPr id="12" name="TextBox 12"/>
            <p:cNvSpPr txBox="1"/>
            <p:nvPr/>
          </p:nvSpPr>
          <p:spPr>
            <a:xfrm>
              <a:off x="558832" y="3021806"/>
              <a:ext cx="317468" cy="214312"/>
            </a:xfrm>
            <a:prstGeom prst="rect">
              <a:avLst/>
            </a:prstGeom>
            <a:noFill/>
            <a:ln>
              <a:noFill/>
            </a:ln>
          </p:spPr>
          <p:txBody>
            <a:bodyPr wrap="none" lIns="0" tIns="0" rIns="0" bIns="0" anchor="t" anchorCtr="0">
              <a:noAutofit/>
            </a:bodyPr>
            <a:lstStyle/>
            <a:p>
              <a:pPr algn="r"/>
              <a:r>
                <a:rPr lang="en-US" sz="1120" dirty="0">
                  <a:solidFill>
                    <a:srgbClr val="5C6B73"/>
                  </a:solidFill>
                  <a:latin typeface="Arial"/>
                  <a:ea typeface="Arial"/>
                  <a:cs typeface="Arial"/>
                </a:rPr>
                <a:t>70</a:t>
              </a:r>
            </a:p>
          </p:txBody>
        </p:sp>
        <p:sp>
          <p:nvSpPr>
            <p:cNvPr id="13" name="Line 13"/>
            <p:cNvSpPr/>
            <p:nvPr/>
          </p:nvSpPr>
          <p:spPr>
            <a:xfrm>
              <a:off x="1028700" y="2476500"/>
              <a:ext cx="5591175" cy="9525"/>
            </a:xfrm>
            <a:custGeom>
              <a:avLst/>
              <a:gdLst/>
              <a:ahLst/>
              <a:cxnLst/>
              <a:rect l="l" t="t" r="r" b="b"/>
              <a:pathLst>
                <a:path w="5591175" h="9525">
                  <a:moveTo>
                    <a:pt x="0" y="0"/>
                  </a:moveTo>
                  <a:lnTo>
                    <a:pt x="5591175" y="0"/>
                  </a:lnTo>
                </a:path>
              </a:pathLst>
            </a:custGeom>
            <a:noFill/>
            <a:ln w="13335">
              <a:solidFill>
                <a:srgbClr val="CFDBDF"/>
              </a:solidFill>
            </a:ln>
          </p:spPr>
        </p:sp>
        <p:sp>
          <p:nvSpPr>
            <p:cNvPr id="14" name="TextBox 14"/>
            <p:cNvSpPr txBox="1"/>
            <p:nvPr/>
          </p:nvSpPr>
          <p:spPr>
            <a:xfrm>
              <a:off x="558832" y="2412206"/>
              <a:ext cx="317468" cy="214312"/>
            </a:xfrm>
            <a:prstGeom prst="rect">
              <a:avLst/>
            </a:prstGeom>
            <a:noFill/>
            <a:ln>
              <a:noFill/>
            </a:ln>
          </p:spPr>
          <p:txBody>
            <a:bodyPr wrap="none" lIns="0" tIns="0" rIns="0" bIns="0" anchor="t" anchorCtr="0">
              <a:noAutofit/>
            </a:bodyPr>
            <a:lstStyle/>
            <a:p>
              <a:pPr algn="r"/>
              <a:r>
                <a:rPr lang="en-US" sz="1120" dirty="0">
                  <a:solidFill>
                    <a:srgbClr val="5C6B73"/>
                  </a:solidFill>
                  <a:latin typeface="Arial"/>
                  <a:ea typeface="Arial"/>
                  <a:cs typeface="Arial"/>
                </a:rPr>
                <a:t>80</a:t>
              </a:r>
            </a:p>
          </p:txBody>
        </p:sp>
        <p:sp>
          <p:nvSpPr>
            <p:cNvPr id="15" name="Line 15"/>
            <p:cNvSpPr/>
            <p:nvPr/>
          </p:nvSpPr>
          <p:spPr>
            <a:xfrm>
              <a:off x="1028700" y="1866900"/>
              <a:ext cx="5591175" cy="9525"/>
            </a:xfrm>
            <a:custGeom>
              <a:avLst/>
              <a:gdLst/>
              <a:ahLst/>
              <a:cxnLst/>
              <a:rect l="l" t="t" r="r" b="b"/>
              <a:pathLst>
                <a:path w="5591175" h="9525">
                  <a:moveTo>
                    <a:pt x="0" y="0"/>
                  </a:moveTo>
                  <a:lnTo>
                    <a:pt x="5591175" y="0"/>
                  </a:lnTo>
                </a:path>
              </a:pathLst>
            </a:custGeom>
            <a:noFill/>
            <a:ln w="13335">
              <a:solidFill>
                <a:srgbClr val="CFDBDF"/>
              </a:solidFill>
            </a:ln>
          </p:spPr>
        </p:sp>
        <p:sp>
          <p:nvSpPr>
            <p:cNvPr id="16" name="TextBox 16"/>
            <p:cNvSpPr txBox="1"/>
            <p:nvPr/>
          </p:nvSpPr>
          <p:spPr>
            <a:xfrm>
              <a:off x="558832" y="1802606"/>
              <a:ext cx="317468" cy="214312"/>
            </a:xfrm>
            <a:prstGeom prst="rect">
              <a:avLst/>
            </a:prstGeom>
            <a:noFill/>
            <a:ln>
              <a:noFill/>
            </a:ln>
          </p:spPr>
          <p:txBody>
            <a:bodyPr wrap="none" lIns="0" tIns="0" rIns="0" bIns="0" anchor="t" anchorCtr="0">
              <a:noAutofit/>
            </a:bodyPr>
            <a:lstStyle/>
            <a:p>
              <a:pPr algn="r"/>
              <a:r>
                <a:rPr lang="en-US" sz="1120" dirty="0">
                  <a:solidFill>
                    <a:srgbClr val="5C6B73"/>
                  </a:solidFill>
                  <a:latin typeface="Arial"/>
                  <a:ea typeface="Arial"/>
                  <a:cs typeface="Arial"/>
                </a:rPr>
                <a:t>90</a:t>
              </a:r>
            </a:p>
          </p:txBody>
        </p:sp>
        <p:sp>
          <p:nvSpPr>
            <p:cNvPr id="17" name="TextBox 17"/>
            <p:cNvSpPr txBox="1"/>
            <p:nvPr/>
          </p:nvSpPr>
          <p:spPr>
            <a:xfrm>
              <a:off x="953452" y="3824764"/>
              <a:ext cx="417290" cy="242888"/>
            </a:xfrm>
            <a:prstGeom prst="rect">
              <a:avLst/>
            </a:prstGeom>
            <a:noFill/>
            <a:ln>
              <a:noFill/>
            </a:ln>
          </p:spPr>
          <p:txBody>
            <a:bodyPr wrap="none" lIns="0" tIns="0" rIns="95" bIns="0" anchor="t" anchorCtr="0">
              <a:noAutofit/>
            </a:bodyPr>
            <a:lstStyle/>
            <a:p>
              <a:pPr algn="ctr"/>
              <a:r>
                <a:rPr lang="en-US" sz="1280" dirty="0">
                  <a:solidFill>
                    <a:srgbClr val="5C6B73"/>
                  </a:solidFill>
                  <a:latin typeface="Arial"/>
                  <a:ea typeface="Arial"/>
                  <a:cs typeface="Arial"/>
                </a:rPr>
                <a:t>0%</a:t>
              </a:r>
            </a:p>
          </p:txBody>
        </p:sp>
        <p:sp>
          <p:nvSpPr>
            <p:cNvPr id="18" name="TextBox 18"/>
            <p:cNvSpPr txBox="1"/>
            <p:nvPr/>
          </p:nvSpPr>
          <p:spPr>
            <a:xfrm>
              <a:off x="2202752" y="3824764"/>
              <a:ext cx="528352" cy="242888"/>
            </a:xfrm>
            <a:prstGeom prst="rect">
              <a:avLst/>
            </a:prstGeom>
            <a:noFill/>
            <a:ln>
              <a:noFill/>
            </a:ln>
          </p:spPr>
          <p:txBody>
            <a:bodyPr wrap="none" lIns="95" tIns="0" rIns="0" bIns="0" anchor="t" anchorCtr="0">
              <a:noAutofit/>
            </a:bodyPr>
            <a:lstStyle/>
            <a:p>
              <a:pPr algn="ctr"/>
              <a:r>
                <a:rPr lang="en-US" sz="1280" dirty="0">
                  <a:solidFill>
                    <a:srgbClr val="5C6B73"/>
                  </a:solidFill>
                  <a:latin typeface="Arial"/>
                  <a:ea typeface="Arial"/>
                  <a:cs typeface="Arial"/>
                </a:rPr>
                <a:t>25%(1-4)</a:t>
              </a:r>
            </a:p>
          </p:txBody>
        </p:sp>
        <p:sp>
          <p:nvSpPr>
            <p:cNvPr id="19" name="TextBox 19"/>
            <p:cNvSpPr txBox="1"/>
            <p:nvPr/>
          </p:nvSpPr>
          <p:spPr>
            <a:xfrm>
              <a:off x="3507676" y="3824764"/>
              <a:ext cx="528352" cy="242888"/>
            </a:xfrm>
            <a:prstGeom prst="rect">
              <a:avLst/>
            </a:prstGeom>
            <a:noFill/>
            <a:ln>
              <a:noFill/>
            </a:ln>
          </p:spPr>
          <p:txBody>
            <a:bodyPr wrap="none" lIns="95" tIns="0" rIns="0" bIns="0" anchor="t" anchorCtr="0">
              <a:noAutofit/>
            </a:bodyPr>
            <a:lstStyle/>
            <a:p>
              <a:pPr algn="ctr"/>
              <a:r>
                <a:rPr lang="en-US" sz="1280" dirty="0">
                  <a:solidFill>
                    <a:srgbClr val="5C6B73"/>
                  </a:solidFill>
                  <a:latin typeface="Arial"/>
                  <a:ea typeface="Arial"/>
                  <a:cs typeface="Arial"/>
                </a:rPr>
                <a:t>50%(2-8)</a:t>
              </a:r>
            </a:p>
          </p:txBody>
        </p:sp>
        <p:sp>
          <p:nvSpPr>
            <p:cNvPr id="20" name="TextBox 20"/>
            <p:cNvSpPr txBox="1"/>
            <p:nvPr/>
          </p:nvSpPr>
          <p:spPr>
            <a:xfrm>
              <a:off x="4812602" y="3824764"/>
              <a:ext cx="528352" cy="242888"/>
            </a:xfrm>
            <a:prstGeom prst="rect">
              <a:avLst/>
            </a:prstGeom>
            <a:noFill/>
            <a:ln>
              <a:noFill/>
            </a:ln>
          </p:spPr>
          <p:txBody>
            <a:bodyPr wrap="none" lIns="95" tIns="0" rIns="0" bIns="0" anchor="t" anchorCtr="0">
              <a:noAutofit/>
            </a:bodyPr>
            <a:lstStyle/>
            <a:p>
              <a:pPr algn="ctr"/>
              <a:r>
                <a:rPr lang="en-US" sz="1280" dirty="0">
                  <a:solidFill>
                    <a:srgbClr val="5C6B73"/>
                  </a:solidFill>
                  <a:latin typeface="Arial"/>
                  <a:ea typeface="Arial"/>
                  <a:cs typeface="Arial"/>
                </a:rPr>
                <a:t>75%(3-12)</a:t>
              </a:r>
            </a:p>
          </p:txBody>
        </p:sp>
        <p:sp>
          <p:nvSpPr>
            <p:cNvPr id="21" name="TextBox 21"/>
            <p:cNvSpPr txBox="1"/>
            <p:nvPr/>
          </p:nvSpPr>
          <p:spPr>
            <a:xfrm>
              <a:off x="6061996" y="3824764"/>
              <a:ext cx="639413" cy="242888"/>
            </a:xfrm>
            <a:prstGeom prst="rect">
              <a:avLst/>
            </a:prstGeom>
            <a:noFill/>
            <a:ln>
              <a:noFill/>
            </a:ln>
          </p:spPr>
          <p:txBody>
            <a:bodyPr wrap="none" lIns="95" tIns="0" rIns="0" bIns="0" anchor="t" anchorCtr="0">
              <a:noAutofit/>
            </a:bodyPr>
            <a:lstStyle/>
            <a:p>
              <a:pPr algn="ctr"/>
              <a:r>
                <a:rPr lang="en-US" sz="1280" dirty="0">
                  <a:solidFill>
                    <a:srgbClr val="5C6B73"/>
                  </a:solidFill>
                  <a:latin typeface="Arial"/>
                  <a:ea typeface="Arial"/>
                  <a:cs typeface="Arial"/>
                </a:rPr>
                <a:t>100%(4-16)</a:t>
              </a:r>
            </a:p>
          </p:txBody>
        </p:sp>
        <p:sp>
          <p:nvSpPr>
            <p:cNvPr id="22" name="Line 22"/>
            <p:cNvSpPr/>
            <p:nvPr/>
          </p:nvSpPr>
          <p:spPr>
            <a:xfrm>
              <a:off x="1162050" y="2616708"/>
              <a:ext cx="1304925" cy="658368"/>
            </a:xfrm>
            <a:custGeom>
              <a:avLst/>
              <a:gdLst/>
              <a:ahLst/>
              <a:cxnLst/>
              <a:rect l="l" t="t" r="r" b="b"/>
              <a:pathLst>
                <a:path w="1304925" h="658368">
                  <a:moveTo>
                    <a:pt x="0" y="658368"/>
                  </a:moveTo>
                  <a:lnTo>
                    <a:pt x="1304925" y="0"/>
                  </a:lnTo>
                </a:path>
              </a:pathLst>
            </a:custGeom>
            <a:noFill/>
            <a:ln w="28575">
              <a:solidFill>
                <a:srgbClr val="16735C"/>
              </a:solidFill>
            </a:ln>
          </p:spPr>
        </p:sp>
        <p:sp>
          <p:nvSpPr>
            <p:cNvPr id="23" name="Line 23"/>
            <p:cNvSpPr/>
            <p:nvPr/>
          </p:nvSpPr>
          <p:spPr>
            <a:xfrm>
              <a:off x="2466975" y="2348484"/>
              <a:ext cx="1304925" cy="268224"/>
            </a:xfrm>
            <a:custGeom>
              <a:avLst/>
              <a:gdLst/>
              <a:ahLst/>
              <a:cxnLst/>
              <a:rect l="l" t="t" r="r" b="b"/>
              <a:pathLst>
                <a:path w="1304925" h="268224">
                  <a:moveTo>
                    <a:pt x="0" y="268224"/>
                  </a:moveTo>
                  <a:lnTo>
                    <a:pt x="1304925" y="0"/>
                  </a:lnTo>
                </a:path>
              </a:pathLst>
            </a:custGeom>
            <a:noFill/>
            <a:ln w="28575">
              <a:solidFill>
                <a:srgbClr val="16735C"/>
              </a:solidFill>
            </a:ln>
          </p:spPr>
        </p:sp>
        <p:sp>
          <p:nvSpPr>
            <p:cNvPr id="24" name="Line 24"/>
            <p:cNvSpPr/>
            <p:nvPr/>
          </p:nvSpPr>
          <p:spPr>
            <a:xfrm>
              <a:off x="3771900" y="2250948"/>
              <a:ext cx="1304925" cy="97536"/>
            </a:xfrm>
            <a:custGeom>
              <a:avLst/>
              <a:gdLst/>
              <a:ahLst/>
              <a:cxnLst/>
              <a:rect l="l" t="t" r="r" b="b"/>
              <a:pathLst>
                <a:path w="1304925" h="97536">
                  <a:moveTo>
                    <a:pt x="0" y="97536"/>
                  </a:moveTo>
                  <a:lnTo>
                    <a:pt x="1304925" y="0"/>
                  </a:lnTo>
                </a:path>
              </a:pathLst>
            </a:custGeom>
            <a:noFill/>
            <a:ln w="28575">
              <a:solidFill>
                <a:srgbClr val="16735C"/>
              </a:solidFill>
            </a:ln>
          </p:spPr>
        </p:sp>
        <p:sp>
          <p:nvSpPr>
            <p:cNvPr id="25" name="Line 25"/>
            <p:cNvSpPr/>
            <p:nvPr/>
          </p:nvSpPr>
          <p:spPr>
            <a:xfrm>
              <a:off x="5076825" y="2165604"/>
              <a:ext cx="1304925" cy="85344"/>
            </a:xfrm>
            <a:custGeom>
              <a:avLst/>
              <a:gdLst/>
              <a:ahLst/>
              <a:cxnLst/>
              <a:rect l="l" t="t" r="r" b="b"/>
              <a:pathLst>
                <a:path w="1304925" h="85344">
                  <a:moveTo>
                    <a:pt x="0" y="85344"/>
                  </a:moveTo>
                  <a:lnTo>
                    <a:pt x="1304925" y="0"/>
                  </a:lnTo>
                </a:path>
              </a:pathLst>
            </a:custGeom>
            <a:noFill/>
            <a:ln w="28575">
              <a:solidFill>
                <a:srgbClr val="16735C"/>
              </a:solidFill>
            </a:ln>
          </p:spPr>
        </p:sp>
        <p:sp>
          <p:nvSpPr>
            <p:cNvPr id="26" name="Ellipse 26"/>
            <p:cNvSpPr/>
            <p:nvPr/>
          </p:nvSpPr>
          <p:spPr>
            <a:xfrm>
              <a:off x="1114425" y="3227451"/>
              <a:ext cx="95250" cy="95250"/>
            </a:xfrm>
            <a:prstGeom prst="ellipse">
              <a:avLst/>
            </a:prstGeom>
            <a:solidFill>
              <a:srgbClr val="16735C"/>
            </a:solidFill>
            <a:ln>
              <a:noFill/>
            </a:ln>
          </p:spPr>
        </p:sp>
        <p:sp>
          <p:nvSpPr>
            <p:cNvPr id="27" name="TextBox 27"/>
            <p:cNvSpPr txBox="1"/>
            <p:nvPr/>
          </p:nvSpPr>
          <p:spPr>
            <a:xfrm>
              <a:off x="827151" y="2962180"/>
              <a:ext cx="669798" cy="300038"/>
            </a:xfrm>
            <a:prstGeom prst="rect">
              <a:avLst/>
            </a:prstGeom>
            <a:noFill/>
            <a:ln>
              <a:noFill/>
            </a:ln>
          </p:spPr>
          <p:txBody>
            <a:bodyPr wrap="none" lIns="0" tIns="0" rIns="0" bIns="0" anchor="t" anchorCtr="0">
              <a:noAutofit/>
            </a:bodyPr>
            <a:lstStyle/>
            <a:p>
              <a:pPr algn="ctr"/>
              <a:r>
                <a:rPr lang="en-US" sz="1580" b="1" dirty="0">
                  <a:solidFill>
                    <a:srgbClr val="005A84"/>
                  </a:solidFill>
                  <a:latin typeface="Arial"/>
                  <a:ea typeface="Arial"/>
                  <a:cs typeface="Arial"/>
                </a:rPr>
                <a:t>66.9</a:t>
              </a:r>
            </a:p>
          </p:txBody>
        </p:sp>
        <p:sp>
          <p:nvSpPr>
            <p:cNvPr id="28" name="Ellipse 28"/>
            <p:cNvSpPr/>
            <p:nvPr/>
          </p:nvSpPr>
          <p:spPr>
            <a:xfrm>
              <a:off x="2419350" y="2569083"/>
              <a:ext cx="95250" cy="95250"/>
            </a:xfrm>
            <a:prstGeom prst="ellipse">
              <a:avLst/>
            </a:prstGeom>
            <a:solidFill>
              <a:srgbClr val="16735C"/>
            </a:solidFill>
            <a:ln>
              <a:noFill/>
            </a:ln>
          </p:spPr>
        </p:sp>
        <p:sp>
          <p:nvSpPr>
            <p:cNvPr id="29" name="TextBox 29"/>
            <p:cNvSpPr txBox="1"/>
            <p:nvPr/>
          </p:nvSpPr>
          <p:spPr>
            <a:xfrm>
              <a:off x="2132076" y="2303812"/>
              <a:ext cx="669798" cy="300038"/>
            </a:xfrm>
            <a:prstGeom prst="rect">
              <a:avLst/>
            </a:prstGeom>
            <a:noFill/>
            <a:ln>
              <a:noFill/>
            </a:ln>
          </p:spPr>
          <p:txBody>
            <a:bodyPr wrap="none" lIns="0" tIns="0" rIns="0" bIns="0" anchor="t" anchorCtr="0">
              <a:noAutofit/>
            </a:bodyPr>
            <a:lstStyle/>
            <a:p>
              <a:pPr algn="ctr"/>
              <a:r>
                <a:rPr lang="en-US" sz="1580" b="1" dirty="0">
                  <a:solidFill>
                    <a:srgbClr val="005A84"/>
                  </a:solidFill>
                  <a:latin typeface="Arial"/>
                  <a:ea typeface="Arial"/>
                  <a:cs typeface="Arial"/>
                </a:rPr>
                <a:t>77.7</a:t>
              </a:r>
            </a:p>
          </p:txBody>
        </p:sp>
        <p:sp>
          <p:nvSpPr>
            <p:cNvPr id="30" name="Ellipse 30"/>
            <p:cNvSpPr/>
            <p:nvPr/>
          </p:nvSpPr>
          <p:spPr>
            <a:xfrm>
              <a:off x="3724275" y="2300859"/>
              <a:ext cx="95250" cy="95250"/>
            </a:xfrm>
            <a:prstGeom prst="ellipse">
              <a:avLst/>
            </a:prstGeom>
            <a:solidFill>
              <a:srgbClr val="16735C"/>
            </a:solidFill>
            <a:ln>
              <a:noFill/>
            </a:ln>
          </p:spPr>
        </p:sp>
        <p:sp>
          <p:nvSpPr>
            <p:cNvPr id="31" name="TextBox 31"/>
            <p:cNvSpPr txBox="1"/>
            <p:nvPr/>
          </p:nvSpPr>
          <p:spPr>
            <a:xfrm>
              <a:off x="3437001" y="2035588"/>
              <a:ext cx="669798" cy="300038"/>
            </a:xfrm>
            <a:prstGeom prst="rect">
              <a:avLst/>
            </a:prstGeom>
            <a:noFill/>
            <a:ln>
              <a:noFill/>
            </a:ln>
          </p:spPr>
          <p:txBody>
            <a:bodyPr wrap="none" lIns="0" tIns="0" rIns="0" bIns="0" anchor="t" anchorCtr="0">
              <a:noAutofit/>
            </a:bodyPr>
            <a:lstStyle/>
            <a:p>
              <a:pPr algn="ctr"/>
              <a:r>
                <a:rPr lang="en-US" sz="1580" b="1" dirty="0">
                  <a:solidFill>
                    <a:srgbClr val="005A84"/>
                  </a:solidFill>
                  <a:latin typeface="Arial"/>
                  <a:ea typeface="Arial"/>
                  <a:cs typeface="Arial"/>
                </a:rPr>
                <a:t>82.1</a:t>
              </a:r>
            </a:p>
          </p:txBody>
        </p:sp>
        <p:sp>
          <p:nvSpPr>
            <p:cNvPr id="32" name="Ellipse 32"/>
            <p:cNvSpPr/>
            <p:nvPr/>
          </p:nvSpPr>
          <p:spPr>
            <a:xfrm>
              <a:off x="5029200" y="2203323"/>
              <a:ext cx="95250" cy="95250"/>
            </a:xfrm>
            <a:prstGeom prst="ellipse">
              <a:avLst/>
            </a:prstGeom>
            <a:solidFill>
              <a:srgbClr val="16735C"/>
            </a:solidFill>
            <a:ln>
              <a:noFill/>
            </a:ln>
          </p:spPr>
        </p:sp>
        <p:sp>
          <p:nvSpPr>
            <p:cNvPr id="33" name="TextBox 33"/>
            <p:cNvSpPr txBox="1"/>
            <p:nvPr/>
          </p:nvSpPr>
          <p:spPr>
            <a:xfrm>
              <a:off x="4741926" y="1938052"/>
              <a:ext cx="669798" cy="300038"/>
            </a:xfrm>
            <a:prstGeom prst="rect">
              <a:avLst/>
            </a:prstGeom>
            <a:noFill/>
            <a:ln>
              <a:noFill/>
            </a:ln>
          </p:spPr>
          <p:txBody>
            <a:bodyPr wrap="none" lIns="0" tIns="0" rIns="0" bIns="0" anchor="t" anchorCtr="0">
              <a:noAutofit/>
            </a:bodyPr>
            <a:lstStyle/>
            <a:p>
              <a:pPr algn="ctr"/>
              <a:r>
                <a:rPr lang="en-US" sz="1580" b="1" dirty="0">
                  <a:solidFill>
                    <a:srgbClr val="005A84"/>
                  </a:solidFill>
                  <a:latin typeface="Arial"/>
                  <a:ea typeface="Arial"/>
                  <a:cs typeface="Arial"/>
                </a:rPr>
                <a:t>83.7</a:t>
              </a:r>
            </a:p>
          </p:txBody>
        </p:sp>
        <p:sp>
          <p:nvSpPr>
            <p:cNvPr id="34" name="Ellipse 34"/>
            <p:cNvSpPr/>
            <p:nvPr/>
          </p:nvSpPr>
          <p:spPr>
            <a:xfrm>
              <a:off x="6334125" y="2117979"/>
              <a:ext cx="95250" cy="95250"/>
            </a:xfrm>
            <a:prstGeom prst="ellipse">
              <a:avLst/>
            </a:prstGeom>
            <a:solidFill>
              <a:srgbClr val="16735C"/>
            </a:solidFill>
            <a:ln>
              <a:noFill/>
            </a:ln>
          </p:spPr>
        </p:sp>
        <p:sp>
          <p:nvSpPr>
            <p:cNvPr id="35" name="TextBox 35"/>
            <p:cNvSpPr txBox="1"/>
            <p:nvPr/>
          </p:nvSpPr>
          <p:spPr>
            <a:xfrm>
              <a:off x="6046851" y="1852708"/>
              <a:ext cx="669798" cy="300038"/>
            </a:xfrm>
            <a:prstGeom prst="rect">
              <a:avLst/>
            </a:prstGeom>
            <a:noFill/>
            <a:ln>
              <a:noFill/>
            </a:ln>
          </p:spPr>
          <p:txBody>
            <a:bodyPr wrap="none" lIns="0" tIns="0" rIns="0" bIns="0" anchor="t" anchorCtr="0">
              <a:noAutofit/>
            </a:bodyPr>
            <a:lstStyle/>
            <a:p>
              <a:pPr algn="ctr"/>
              <a:r>
                <a:rPr lang="en-US" sz="1580" b="1" dirty="0">
                  <a:solidFill>
                    <a:srgbClr val="005A84"/>
                  </a:solidFill>
                  <a:latin typeface="Arial"/>
                  <a:ea typeface="Arial"/>
                  <a:cs typeface="Arial"/>
                </a:rPr>
                <a:t>85.1</a:t>
              </a:r>
            </a:p>
          </p:txBody>
        </p:sp>
        <p:sp>
          <p:nvSpPr>
            <p:cNvPr id="36" name="TextBox 36"/>
            <p:cNvSpPr txBox="1"/>
            <p:nvPr/>
          </p:nvSpPr>
          <p:spPr>
            <a:xfrm>
              <a:off x="542925" y="1556385"/>
              <a:ext cx="1179671" cy="228600"/>
            </a:xfrm>
            <a:prstGeom prst="rect">
              <a:avLst/>
            </a:prstGeom>
            <a:noFill/>
            <a:ln>
              <a:noFill/>
            </a:ln>
          </p:spPr>
          <p:txBody>
            <a:bodyPr wrap="none" lIns="0" tIns="0" rIns="0" bIns="0" anchor="t" anchorCtr="0">
              <a:noAutofit/>
            </a:bodyPr>
            <a:lstStyle/>
            <a:p>
              <a:pPr algn="l"/>
              <a:r>
                <a:rPr lang="zh-CN" sz="1200" dirty="0">
                  <a:solidFill>
                    <a:srgbClr val="5C6B73"/>
                  </a:solidFill>
                  <a:latin typeface="Arial"/>
                  <a:ea typeface="Microsoft YaHei"/>
                  <a:cs typeface="Arial"/>
                </a:rPr>
                <a:t>准确率（%）</a:t>
              </a:r>
            </a:p>
          </p:txBody>
        </p:sp>
        <p:sp>
          <p:nvSpPr>
            <p:cNvPr id="37" name="TextBox 37"/>
            <p:cNvSpPr txBox="1"/>
            <p:nvPr/>
          </p:nvSpPr>
          <p:spPr>
            <a:xfrm>
              <a:off x="7077075" y="2582476"/>
              <a:ext cx="1413320" cy="500062"/>
            </a:xfrm>
            <a:prstGeom prst="rect">
              <a:avLst/>
            </a:prstGeom>
            <a:noFill/>
            <a:ln>
              <a:noFill/>
            </a:ln>
          </p:spPr>
          <p:txBody>
            <a:bodyPr wrap="none" lIns="0" tIns="0" rIns="0" bIns="0" anchor="t" anchorCtr="0">
              <a:noAutofit/>
            </a:bodyPr>
            <a:lstStyle/>
            <a:p>
              <a:pPr algn="l"/>
              <a:r>
                <a:rPr lang="en-US" sz="2620" b="1" dirty="0">
                  <a:solidFill>
                    <a:srgbClr val="16735C"/>
                  </a:solidFill>
                  <a:latin typeface="Arial"/>
                  <a:ea typeface="Arial"/>
                  <a:cs typeface="Arial"/>
                </a:rPr>
                <a:t>+10.8</a:t>
              </a:r>
            </a:p>
          </p:txBody>
        </p:sp>
        <p:sp>
          <p:nvSpPr>
            <p:cNvPr id="38" name="TextBox 38"/>
            <p:cNvSpPr txBox="1"/>
            <p:nvPr/>
          </p:nvSpPr>
          <p:spPr>
            <a:xfrm>
              <a:off x="7077075" y="3007291"/>
              <a:ext cx="1000792" cy="271463"/>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个百分点</a:t>
              </a:r>
            </a:p>
          </p:txBody>
        </p:sp>
        <p:sp>
          <p:nvSpPr>
            <p:cNvPr id="39" name="TextBox 39"/>
            <p:cNvSpPr txBox="1"/>
            <p:nvPr/>
          </p:nvSpPr>
          <p:spPr>
            <a:xfrm>
              <a:off x="7068312" y="1847189"/>
              <a:ext cx="1266063" cy="539306"/>
            </a:xfrm>
            <a:prstGeom prst="rect">
              <a:avLst/>
            </a:prstGeom>
            <a:noFill/>
            <a:ln>
              <a:noFill/>
            </a:ln>
          </p:spPr>
          <p:txBody>
            <a:bodyPr wrap="none" lIns="0" tIns="0" rIns="0" bIns="0" anchor="t" anchorCtr="0">
              <a:noAutofit/>
            </a:bodyPr>
            <a:lstStyle/>
            <a:p>
              <a:pPr algn="l">
                <a:lnSpc>
                  <a:spcPts val="2109"/>
                </a:lnSpc>
              </a:pPr>
              <a:r>
                <a:rPr lang="zh-CN" sz="1420" dirty="0">
                  <a:solidFill>
                    <a:srgbClr val="202B33"/>
                  </a:solidFill>
                  <a:latin typeface="Arial"/>
                  <a:ea typeface="Microsoft YaHei"/>
                  <a:cs typeface="Arial"/>
                </a:rPr>
                <a:t>从无历史到</a:t>
              </a:r>
              <a:br>
                <a:rPr dirty="0"/>
              </a:br>
              <a:r>
                <a:rPr lang="zh-CN" sz="1420" dirty="0">
                  <a:solidFill>
                    <a:srgbClr val="202B33"/>
                  </a:solidFill>
                  <a:latin typeface="Arial"/>
                  <a:ea typeface="Microsoft YaHei"/>
                  <a:cs typeface="Arial"/>
                </a:rPr>
                <a:t>1—4个查询</a:t>
              </a:r>
            </a:p>
          </p:txBody>
        </p:sp>
        <p:sp>
          <p:nvSpPr>
            <p:cNvPr id="40" name="TextBox 40"/>
            <p:cNvSpPr txBox="1"/>
            <p:nvPr/>
          </p:nvSpPr>
          <p:spPr>
            <a:xfrm>
              <a:off x="7041116" y="3571297"/>
              <a:ext cx="1199388" cy="454152"/>
            </a:xfrm>
            <a:prstGeom prst="rect">
              <a:avLst/>
            </a:prstGeom>
            <a:noFill/>
            <a:ln>
              <a:noFill/>
            </a:ln>
          </p:spPr>
          <p:txBody>
            <a:bodyPr wrap="none" lIns="0" tIns="0" rIns="0" bIns="0" anchor="t" anchorCtr="0">
              <a:noAutofit/>
            </a:bodyPr>
            <a:lstStyle/>
            <a:p>
              <a:pPr algn="l">
                <a:lnSpc>
                  <a:spcPts val="1776"/>
                </a:lnSpc>
              </a:pPr>
              <a:r>
                <a:rPr lang="zh-CN" sz="1200" dirty="0">
                  <a:solidFill>
                    <a:srgbClr val="5C6B73"/>
                  </a:solidFill>
                  <a:latin typeface="Arial"/>
                  <a:ea typeface="Microsoft YaHei"/>
                  <a:cs typeface="Arial"/>
                </a:rPr>
                <a:t>比例增加 →</a:t>
              </a:r>
              <a:br>
                <a:rPr dirty="0"/>
              </a:br>
              <a:r>
                <a:rPr lang="zh-CN" sz="1200" dirty="0">
                  <a:solidFill>
                    <a:srgbClr val="5C6B73"/>
                  </a:solidFill>
                  <a:latin typeface="Arial"/>
                  <a:ea typeface="Microsoft YaHei"/>
                  <a:cs typeface="Arial"/>
                </a:rPr>
                <a:t>个人历史更多</a:t>
              </a:r>
            </a:p>
          </p:txBody>
        </p:sp>
      </p:grpSp>
      <p:grpSp>
        <p:nvGrpSpPr>
          <p:cNvPr id="45" name="Group 45"/>
          <p:cNvGrpSpPr/>
          <p:nvPr/>
        </p:nvGrpSpPr>
        <p:grpSpPr>
          <a:xfrm>
            <a:off x="476250" y="4229100"/>
            <a:ext cx="8191500" cy="504825"/>
            <a:chOff x="476250" y="4229100"/>
            <a:chExt cx="8191500" cy="504825"/>
          </a:xfrm>
        </p:grpSpPr>
        <p:sp>
          <p:nvSpPr>
            <p:cNvPr id="42" name="Rectangle 42"/>
            <p:cNvSpPr/>
            <p:nvPr/>
          </p:nvSpPr>
          <p:spPr>
            <a:xfrm>
              <a:off x="476250" y="4229100"/>
              <a:ext cx="8191500" cy="504825"/>
            </a:xfrm>
            <a:prstGeom prst="rect">
              <a:avLst/>
            </a:prstGeom>
            <a:solidFill>
              <a:srgbClr val="F0F5F6"/>
            </a:solidFill>
            <a:ln>
              <a:noFill/>
            </a:ln>
          </p:spPr>
        </p:sp>
        <p:sp>
          <p:nvSpPr>
            <p:cNvPr id="43" name="Rectangle 43"/>
            <p:cNvSpPr/>
            <p:nvPr/>
          </p:nvSpPr>
          <p:spPr>
            <a:xfrm>
              <a:off x="476250" y="4229100"/>
              <a:ext cx="38100" cy="504825"/>
            </a:xfrm>
            <a:prstGeom prst="rect">
              <a:avLst/>
            </a:prstGeom>
            <a:solidFill>
              <a:srgbClr val="16735C"/>
            </a:solidFill>
            <a:ln>
              <a:noFill/>
            </a:ln>
          </p:spPr>
        </p:sp>
        <p:sp>
          <p:nvSpPr>
            <p:cNvPr id="44" name="TextBox 44"/>
            <p:cNvSpPr txBox="1"/>
            <p:nvPr/>
          </p:nvSpPr>
          <p:spPr>
            <a:xfrm>
              <a:off x="609600" y="4408646"/>
              <a:ext cx="6506051"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少量个性化历史有明显价值。</a:t>
              </a:r>
            </a:p>
          </p:txBody>
        </p:sp>
      </p:grpSp>
    </p:spTree>
    <p:extLst>
      <p:ext uri="{BB962C8B-B14F-4D97-AF65-F5344CB8AC3E}">
        <p14:creationId xmlns:p14="http://schemas.microsoft.com/office/powerpoint/2010/main" val="158221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B77BAD8F-CD78-8BDD-D711-3208A946ACC1}"/>
            </a:ext>
          </a:extLst>
        </p:cNvPr>
        <p:cNvGrpSpPr/>
        <p:nvPr/>
      </p:nvGrpSpPr>
      <p:grpSpPr>
        <a:xfrm>
          <a:off x="0" y="0"/>
          <a:ext cx="0" cy="0"/>
          <a:chOff x="0" y="0"/>
          <a:chExt cx="0" cy="0"/>
        </a:xfrm>
      </p:grpSpPr>
      <p:grpSp>
        <p:nvGrpSpPr>
          <p:cNvPr id="5" name="Group 5"/>
          <p:cNvGrpSpPr/>
          <p:nvPr/>
        </p:nvGrpSpPr>
        <p:grpSpPr>
          <a:xfrm>
            <a:off x="476250" y="392430"/>
            <a:ext cx="5032915" cy="1012984"/>
            <a:chOff x="476250" y="392430"/>
            <a:chExt cx="5032915"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p:cNvSpPr txBox="1"/>
            <p:nvPr/>
          </p:nvSpPr>
          <p:spPr>
            <a:xfrm>
              <a:off x="1219200" y="392430"/>
              <a:ext cx="3347085"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误差分析：谁更难预测</a:t>
              </a:r>
            </a:p>
          </p:txBody>
        </p:sp>
        <p:sp>
          <p:nvSpPr>
            <p:cNvPr id="4" name="TextBox 4"/>
            <p:cNvSpPr txBox="1"/>
            <p:nvPr/>
          </p:nvSpPr>
          <p:spPr>
            <a:xfrm>
              <a:off x="476250" y="1019651"/>
              <a:ext cx="5032915"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latin typeface="Arial"/>
                  <a:ea typeface="Microsoft YaHei"/>
                  <a:cs typeface="Arial"/>
                </a:rPr>
                <a:t>不同</a:t>
              </a:r>
              <a:r>
                <a:rPr lang="zh-CN" sz="2020" b="1" dirty="0">
                  <a:solidFill>
                    <a:srgbClr val="005A84"/>
                  </a:solidFill>
                  <a:latin typeface="Arial"/>
                  <a:ea typeface="Microsoft YaHei"/>
                  <a:cs typeface="Arial"/>
                </a:rPr>
                <a:t>用户的</a:t>
              </a:r>
              <a:r>
                <a:rPr lang="zh-CN" altLang="en-US" sz="2020" b="1" dirty="0">
                  <a:solidFill>
                    <a:srgbClr val="005A84"/>
                  </a:solidFill>
                  <a:latin typeface="Arial"/>
                  <a:ea typeface="Microsoft YaHei"/>
                  <a:cs typeface="Arial"/>
                </a:rPr>
                <a:t>预测表现存在</a:t>
              </a:r>
              <a:r>
                <a:rPr lang="zh-CN" sz="2020" b="1" dirty="0">
                  <a:solidFill>
                    <a:srgbClr val="005A84"/>
                  </a:solidFill>
                  <a:latin typeface="Arial"/>
                  <a:ea typeface="Microsoft YaHei"/>
                  <a:cs typeface="Arial"/>
                </a:rPr>
                <a:t>巨大差异</a:t>
              </a:r>
            </a:p>
          </p:txBody>
        </p:sp>
      </p:grpSp>
      <p:grpSp>
        <p:nvGrpSpPr>
          <p:cNvPr id="18" name="Group 18"/>
          <p:cNvGrpSpPr/>
          <p:nvPr/>
        </p:nvGrpSpPr>
        <p:grpSpPr>
          <a:xfrm>
            <a:off x="581025" y="1622108"/>
            <a:ext cx="8010526" cy="2197417"/>
            <a:chOff x="581025" y="1622108"/>
            <a:chExt cx="8010526" cy="2197417"/>
          </a:xfrm>
        </p:grpSpPr>
        <p:sp>
          <p:nvSpPr>
            <p:cNvPr id="9" name="TextBox 9"/>
            <p:cNvSpPr txBox="1"/>
            <p:nvPr/>
          </p:nvSpPr>
          <p:spPr>
            <a:xfrm>
              <a:off x="581025" y="1622108"/>
              <a:ext cx="3422523" cy="314325"/>
            </a:xfrm>
            <a:prstGeom prst="rect">
              <a:avLst/>
            </a:prstGeom>
            <a:noFill/>
            <a:ln>
              <a:noFill/>
            </a:ln>
          </p:spPr>
          <p:txBody>
            <a:bodyPr wrap="none" lIns="0" tIns="0" rIns="0" bIns="0" anchor="t" anchorCtr="0">
              <a:noAutofit/>
            </a:bodyPr>
            <a:lstStyle/>
            <a:p>
              <a:pPr algn="l"/>
              <a:r>
                <a:rPr lang="zh-CN" sz="1650" b="1" dirty="0">
                  <a:solidFill>
                    <a:srgbClr val="16735C"/>
                  </a:solidFill>
                  <a:latin typeface="Arial"/>
                  <a:ea typeface="Microsoft YaHei"/>
                  <a:cs typeface="Arial"/>
                </a:rPr>
                <a:t>用户层面：最好 / 最差各20%</a:t>
              </a:r>
            </a:p>
          </p:txBody>
        </p:sp>
        <p:sp>
          <p:nvSpPr>
            <p:cNvPr id="10" name="TextBox 10"/>
            <p:cNvSpPr txBox="1"/>
            <p:nvPr/>
          </p:nvSpPr>
          <p:spPr>
            <a:xfrm>
              <a:off x="647700" y="2083594"/>
              <a:ext cx="1902333" cy="642938"/>
            </a:xfrm>
            <a:prstGeom prst="rect">
              <a:avLst/>
            </a:prstGeom>
            <a:noFill/>
            <a:ln>
              <a:noFill/>
            </a:ln>
          </p:spPr>
          <p:txBody>
            <a:bodyPr wrap="none" lIns="0" tIns="0" rIns="0" bIns="0" anchor="t" anchorCtr="0">
              <a:noAutofit/>
            </a:bodyPr>
            <a:lstStyle/>
            <a:p>
              <a:pPr algn="l"/>
              <a:r>
                <a:rPr lang="en-US" sz="3380" b="1" dirty="0">
                  <a:solidFill>
                    <a:srgbClr val="005A84"/>
                  </a:solidFill>
                  <a:latin typeface="Arial"/>
                  <a:ea typeface="Arial"/>
                  <a:cs typeface="Arial"/>
                </a:rPr>
                <a:t>97.6%</a:t>
              </a:r>
            </a:p>
          </p:txBody>
        </p:sp>
        <p:sp>
          <p:nvSpPr>
            <p:cNvPr id="11" name="TextBox 11"/>
            <p:cNvSpPr txBox="1"/>
            <p:nvPr/>
          </p:nvSpPr>
          <p:spPr>
            <a:xfrm>
              <a:off x="647700" y="2645092"/>
              <a:ext cx="1750504"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高准确率组平均值</a:t>
              </a:r>
            </a:p>
          </p:txBody>
        </p:sp>
        <p:sp>
          <p:nvSpPr>
            <p:cNvPr id="12" name="TextBox 12"/>
            <p:cNvSpPr txBox="1"/>
            <p:nvPr/>
          </p:nvSpPr>
          <p:spPr>
            <a:xfrm>
              <a:off x="2876550" y="2083594"/>
              <a:ext cx="1902333" cy="642938"/>
            </a:xfrm>
            <a:prstGeom prst="rect">
              <a:avLst/>
            </a:prstGeom>
            <a:noFill/>
            <a:ln>
              <a:noFill/>
            </a:ln>
          </p:spPr>
          <p:txBody>
            <a:bodyPr wrap="none" lIns="0" tIns="0" rIns="0" bIns="0" anchor="t" anchorCtr="0">
              <a:noAutofit/>
            </a:bodyPr>
            <a:lstStyle/>
            <a:p>
              <a:pPr algn="l"/>
              <a:r>
                <a:rPr lang="en-US" sz="3380" b="1" dirty="0">
                  <a:solidFill>
                    <a:srgbClr val="BE4B42"/>
                  </a:solidFill>
                  <a:latin typeface="Arial"/>
                  <a:ea typeface="Arial"/>
                  <a:cs typeface="Arial"/>
                </a:rPr>
                <a:t>69.7%</a:t>
              </a:r>
            </a:p>
          </p:txBody>
        </p:sp>
        <p:sp>
          <p:nvSpPr>
            <p:cNvPr id="13" name="TextBox 13"/>
            <p:cNvSpPr txBox="1"/>
            <p:nvPr/>
          </p:nvSpPr>
          <p:spPr>
            <a:xfrm>
              <a:off x="2876550" y="2645092"/>
              <a:ext cx="1750504" cy="257175"/>
            </a:xfrm>
            <a:prstGeom prst="rect">
              <a:avLst/>
            </a:prstGeom>
            <a:noFill/>
            <a:ln>
              <a:noFill/>
            </a:ln>
          </p:spPr>
          <p:txBody>
            <a:bodyPr wrap="none" lIns="0" tIns="0" rIns="0" bIns="0" anchor="t" anchorCtr="0">
              <a:noAutofit/>
            </a:bodyPr>
            <a:lstStyle/>
            <a:p>
              <a:pPr algn="l"/>
              <a:r>
                <a:rPr lang="zh-CN" sz="1350" dirty="0">
                  <a:solidFill>
                    <a:srgbClr val="202B33"/>
                  </a:solidFill>
                  <a:latin typeface="Arial"/>
                  <a:ea typeface="Microsoft YaHei"/>
                  <a:cs typeface="Arial"/>
                </a:rPr>
                <a:t>低准确率组平均值</a:t>
              </a:r>
            </a:p>
          </p:txBody>
        </p:sp>
        <p:sp>
          <p:nvSpPr>
            <p:cNvPr id="14" name="TextBox 14"/>
            <p:cNvSpPr txBox="1"/>
            <p:nvPr/>
          </p:nvSpPr>
          <p:spPr>
            <a:xfrm>
              <a:off x="821531" y="3119197"/>
              <a:ext cx="3326987" cy="567690"/>
            </a:xfrm>
            <a:prstGeom prst="rect">
              <a:avLst/>
            </a:prstGeom>
            <a:noFill/>
            <a:ln>
              <a:noFill/>
            </a:ln>
          </p:spPr>
          <p:txBody>
            <a:bodyPr wrap="none" lIns="0" tIns="0" rIns="0" bIns="0" anchor="t" anchorCtr="0">
              <a:noAutofit/>
            </a:bodyPr>
            <a:lstStyle/>
            <a:p>
              <a:pPr marL="285750" indent="-285750" algn="l">
                <a:lnSpc>
                  <a:spcPts val="2220"/>
                </a:lnSpc>
                <a:buFont typeface="Wingdings" panose="05000000000000000000" pitchFamily="2" charset="2"/>
                <a:buChar char="n"/>
              </a:pPr>
              <a:r>
                <a:rPr lang="zh-CN" sz="1500" dirty="0">
                  <a:solidFill>
                    <a:srgbClr val="202B33"/>
                  </a:solidFill>
                  <a:latin typeface="Arial"/>
                  <a:ea typeface="Microsoft YaHei"/>
                  <a:cs typeface="Arial"/>
                </a:rPr>
                <a:t>跨领域偏好差异大</a:t>
              </a:r>
              <a:r>
                <a:rPr lang="zh-CN" altLang="en-US" sz="1500" dirty="0">
                  <a:solidFill>
                    <a:srgbClr val="202B33"/>
                  </a:solidFill>
                  <a:latin typeface="Arial"/>
                  <a:ea typeface="Microsoft YaHei"/>
                  <a:cs typeface="Arial"/>
                </a:rPr>
                <a:t>导致</a:t>
              </a:r>
              <a:r>
                <a:rPr lang="zh-CN" sz="1500" dirty="0">
                  <a:solidFill>
                    <a:srgbClr val="202B33"/>
                  </a:solidFill>
                  <a:latin typeface="Arial"/>
                  <a:ea typeface="Microsoft YaHei"/>
                  <a:cs typeface="Arial"/>
                </a:rPr>
                <a:t>更难预测</a:t>
              </a:r>
              <a:endParaRPr lang="en-US" altLang="zh-CN" sz="1500" dirty="0">
                <a:solidFill>
                  <a:srgbClr val="202B33"/>
                </a:solidFill>
                <a:latin typeface="Arial"/>
                <a:ea typeface="Microsoft YaHei"/>
                <a:cs typeface="Arial"/>
              </a:endParaRPr>
            </a:p>
            <a:p>
              <a:pPr marL="285750" indent="-285750" algn="l">
                <a:lnSpc>
                  <a:spcPts val="2220"/>
                </a:lnSpc>
                <a:buFont typeface="Wingdings" panose="05000000000000000000" pitchFamily="2" charset="2"/>
                <a:buChar char="n"/>
              </a:pPr>
              <a:r>
                <a:rPr lang="zh-CN" sz="1500" dirty="0">
                  <a:solidFill>
                    <a:srgbClr val="202B33"/>
                  </a:solidFill>
                  <a:latin typeface="Arial"/>
                  <a:ea typeface="Microsoft YaHei"/>
                  <a:cs typeface="Arial"/>
                </a:rPr>
                <a:t>CF</a:t>
              </a:r>
              <a:r>
                <a:rPr lang="zh-CN" altLang="en-US" sz="1500" dirty="0">
                  <a:solidFill>
                    <a:srgbClr val="202B33"/>
                  </a:solidFill>
                  <a:ea typeface="Microsoft YaHei"/>
                </a:rPr>
                <a:t>不可靠</a:t>
              </a:r>
              <a:r>
                <a:rPr lang="zh-CN" altLang="en-US" sz="1500" dirty="0">
                  <a:solidFill>
                    <a:srgbClr val="202B33"/>
                  </a:solidFill>
                  <a:latin typeface="Arial"/>
                  <a:ea typeface="Microsoft YaHei"/>
                  <a:cs typeface="Arial"/>
                </a:rPr>
                <a:t>建议</a:t>
              </a:r>
              <a:r>
                <a:rPr lang="zh-CN" sz="1500" dirty="0">
                  <a:solidFill>
                    <a:srgbClr val="202B33"/>
                  </a:solidFill>
                  <a:latin typeface="Arial"/>
                  <a:ea typeface="Microsoft YaHei"/>
                  <a:cs typeface="Arial"/>
                </a:rPr>
                <a:t>也可能误导最终判断</a:t>
              </a:r>
            </a:p>
          </p:txBody>
        </p:sp>
        <p:sp>
          <p:nvSpPr>
            <p:cNvPr id="15" name="Rectangle 15"/>
            <p:cNvSpPr/>
            <p:nvPr/>
          </p:nvSpPr>
          <p:spPr>
            <a:xfrm>
              <a:off x="4626865" y="1685925"/>
              <a:ext cx="3964686" cy="2133600"/>
            </a:xfrm>
            <a:prstGeom prst="rect">
              <a:avLst/>
            </a:prstGeom>
            <a:solidFill>
              <a:srgbClr val="F0F5F6"/>
            </a:solidFill>
            <a:ln>
              <a:noFill/>
            </a:ln>
          </p:spPr>
        </p:sp>
        <p:sp>
          <p:nvSpPr>
            <p:cNvPr id="16" name="TextBox 16"/>
            <p:cNvSpPr txBox="1"/>
            <p:nvPr/>
          </p:nvSpPr>
          <p:spPr>
            <a:xfrm>
              <a:off x="4891803" y="1832189"/>
              <a:ext cx="1724120" cy="328612"/>
            </a:xfrm>
            <a:prstGeom prst="rect">
              <a:avLst/>
            </a:prstGeom>
            <a:noFill/>
            <a:ln>
              <a:noFill/>
            </a:ln>
          </p:spPr>
          <p:txBody>
            <a:bodyPr wrap="none" lIns="0" tIns="0" rIns="0" bIns="0" anchor="t" anchorCtr="0">
              <a:noAutofit/>
            </a:bodyPr>
            <a:lstStyle/>
            <a:p>
              <a:pPr algn="l"/>
              <a:r>
                <a:rPr lang="zh-CN" altLang="en-US" sz="1650" b="1" dirty="0">
                  <a:solidFill>
                    <a:srgbClr val="005A84"/>
                  </a:solidFill>
                  <a:latin typeface="Arial"/>
                  <a:ea typeface="Microsoft YaHei"/>
                  <a:cs typeface="Arial"/>
                </a:rPr>
                <a:t>情境层面：</a:t>
              </a:r>
              <a:endParaRPr lang="zh-CN" sz="1650" b="1" dirty="0">
                <a:solidFill>
                  <a:srgbClr val="005A84"/>
                </a:solidFill>
                <a:latin typeface="Arial"/>
                <a:ea typeface="Microsoft YaHei"/>
                <a:cs typeface="Arial"/>
              </a:endParaRPr>
            </a:p>
          </p:txBody>
        </p:sp>
        <p:sp>
          <p:nvSpPr>
            <p:cNvPr id="17" name="TextBox 17"/>
            <p:cNvSpPr txBox="1"/>
            <p:nvPr/>
          </p:nvSpPr>
          <p:spPr>
            <a:xfrm>
              <a:off x="4888516" y="2412311"/>
              <a:ext cx="3433953" cy="1047525"/>
            </a:xfrm>
            <a:prstGeom prst="rect">
              <a:avLst/>
            </a:prstGeom>
            <a:noFill/>
            <a:ln>
              <a:noFill/>
            </a:ln>
          </p:spPr>
          <p:txBody>
            <a:bodyPr wrap="none" lIns="0" tIns="0" rIns="0" bIns="0" anchor="t" anchorCtr="0">
              <a:noAutofit/>
            </a:bodyPr>
            <a:lstStyle/>
            <a:p>
              <a:pPr algn="l">
                <a:lnSpc>
                  <a:spcPct val="150000"/>
                </a:lnSpc>
              </a:pPr>
              <a:r>
                <a:rPr lang="zh-CN" altLang="en-US" dirty="0">
                  <a:solidFill>
                    <a:srgbClr val="202B33"/>
                  </a:solidFill>
                  <a:latin typeface="微软雅黑" panose="020B0503020204020204" pitchFamily="34" charset="-122"/>
                  <a:ea typeface="微软雅黑" panose="020B0503020204020204" pitchFamily="34" charset="-122"/>
                </a:rPr>
                <a:t>领域：高敏感领域准确率更低（如金融、购物）</a:t>
              </a:r>
              <a:endParaRPr lang="en-US" altLang="zh-CN" dirty="0">
                <a:solidFill>
                  <a:srgbClr val="202B33"/>
                </a:solidFill>
                <a:latin typeface="微软雅黑" panose="020B0503020204020204" pitchFamily="34" charset="-122"/>
                <a:ea typeface="微软雅黑" panose="020B0503020204020204" pitchFamily="34" charset="-122"/>
              </a:endParaRPr>
            </a:p>
            <a:p>
              <a:pPr algn="l">
                <a:lnSpc>
                  <a:spcPct val="150000"/>
                </a:lnSpc>
              </a:pPr>
              <a:r>
                <a:rPr lang="zh-CN" altLang="en-US" dirty="0">
                  <a:solidFill>
                    <a:srgbClr val="202B33"/>
                  </a:solidFill>
                  <a:latin typeface="微软雅黑" panose="020B0503020204020204" pitchFamily="34" charset="-122"/>
                  <a:ea typeface="微软雅黑" panose="020B0503020204020204" pitchFamily="34" charset="-122"/>
                </a:rPr>
                <a:t>工具：隐私、金融金融相关工具准确率低</a:t>
              </a:r>
              <a:endParaRPr lang="en-US" altLang="zh-CN" dirty="0">
                <a:solidFill>
                  <a:srgbClr val="202B33"/>
                </a:solidFill>
                <a:latin typeface="微软雅黑" panose="020B0503020204020204" pitchFamily="34" charset="-122"/>
                <a:ea typeface="微软雅黑" panose="020B0503020204020204" pitchFamily="34" charset="-122"/>
              </a:endParaRPr>
            </a:p>
            <a:p>
              <a:pPr algn="l">
                <a:lnSpc>
                  <a:spcPct val="150000"/>
                </a:lnSpc>
              </a:pPr>
              <a:r>
                <a:rPr lang="zh-CN" altLang="en-US" dirty="0">
                  <a:solidFill>
                    <a:srgbClr val="202B33"/>
                  </a:solidFill>
                  <a:latin typeface="微软雅黑" panose="020B0503020204020204" pitchFamily="34" charset="-122"/>
                  <a:ea typeface="微软雅黑" panose="020B0503020204020204" pitchFamily="34" charset="-122"/>
                </a:rPr>
                <a:t>数据类型：敏感信息类准确率偏低</a:t>
              </a:r>
              <a:endParaRPr lang="zh-CN" dirty="0">
                <a:solidFill>
                  <a:srgbClr val="202B33"/>
                </a:solidFill>
                <a:latin typeface="微软雅黑" panose="020B0503020204020204" pitchFamily="34" charset="-122"/>
                <a:ea typeface="微软雅黑" panose="020B0503020204020204" pitchFamily="34" charset="-122"/>
              </a:endParaRPr>
            </a:p>
          </p:txBody>
        </p:sp>
      </p:grpSp>
      <p:grpSp>
        <p:nvGrpSpPr>
          <p:cNvPr id="22" name="Group 22"/>
          <p:cNvGrpSpPr/>
          <p:nvPr/>
        </p:nvGrpSpPr>
        <p:grpSpPr>
          <a:xfrm>
            <a:off x="476250" y="4182867"/>
            <a:ext cx="8191500" cy="504825"/>
            <a:chOff x="476250" y="4229100"/>
            <a:chExt cx="8191500" cy="504825"/>
          </a:xfrm>
        </p:grpSpPr>
        <p:sp>
          <p:nvSpPr>
            <p:cNvPr id="19" name="Rectangle 19"/>
            <p:cNvSpPr/>
            <p:nvPr/>
          </p:nvSpPr>
          <p:spPr>
            <a:xfrm>
              <a:off x="476250" y="4229100"/>
              <a:ext cx="8191500" cy="504825"/>
            </a:xfrm>
            <a:prstGeom prst="rect">
              <a:avLst/>
            </a:prstGeom>
            <a:solidFill>
              <a:srgbClr val="F0F5F6"/>
            </a:solidFill>
            <a:ln>
              <a:noFill/>
            </a:ln>
          </p:spPr>
        </p:sp>
        <p:sp>
          <p:nvSpPr>
            <p:cNvPr id="20" name="Rectangle 20"/>
            <p:cNvSpPr/>
            <p:nvPr/>
          </p:nvSpPr>
          <p:spPr>
            <a:xfrm>
              <a:off x="476250" y="4229100"/>
              <a:ext cx="38100" cy="504825"/>
            </a:xfrm>
            <a:prstGeom prst="rect">
              <a:avLst/>
            </a:prstGeom>
            <a:solidFill>
              <a:srgbClr val="16735C"/>
            </a:solidFill>
            <a:ln>
              <a:noFill/>
            </a:ln>
          </p:spPr>
        </p:sp>
        <p:sp>
          <p:nvSpPr>
            <p:cNvPr id="21" name="TextBox 21"/>
            <p:cNvSpPr txBox="1"/>
            <p:nvPr/>
          </p:nvSpPr>
          <p:spPr>
            <a:xfrm>
              <a:off x="609600" y="4403509"/>
              <a:ext cx="5870829"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评估</a:t>
              </a:r>
              <a:r>
                <a:rPr lang="zh-CN" sz="1420" b="1" dirty="0">
                  <a:solidFill>
                    <a:srgbClr val="16735C"/>
                  </a:solidFill>
                  <a:latin typeface="Arial"/>
                  <a:ea typeface="Microsoft YaHei"/>
                  <a:cs typeface="Arial"/>
                </a:rPr>
                <a:t>均值不能代表每个人；敏感数据需要单独评估。</a:t>
              </a:r>
            </a:p>
          </p:txBody>
        </p:sp>
      </p:grpSp>
    </p:spTree>
    <p:extLst>
      <p:ext uri="{BB962C8B-B14F-4D97-AF65-F5344CB8AC3E}">
        <p14:creationId xmlns:p14="http://schemas.microsoft.com/office/powerpoint/2010/main" val="995610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099C140F-C65C-ECED-DCC5-1C9BE13D9ED8}"/>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CA073774-095A-404F-719D-4C2E1C7AE0EF}"/>
              </a:ext>
            </a:extLst>
          </p:cNvPr>
          <p:cNvGrpSpPr/>
          <p:nvPr/>
        </p:nvGrpSpPr>
        <p:grpSpPr>
          <a:xfrm>
            <a:off x="504825" y="392430"/>
            <a:ext cx="5963531" cy="966751"/>
            <a:chOff x="504825" y="392430"/>
            <a:chExt cx="5963531" cy="966751"/>
          </a:xfrm>
        </p:grpSpPr>
        <p:sp>
          <p:nvSpPr>
            <p:cNvPr id="2" name="TextBox 2">
              <a:extLst>
                <a:ext uri="{FF2B5EF4-FFF2-40B4-BE49-F238E27FC236}">
                  <a16:creationId xmlns:a16="http://schemas.microsoft.com/office/drawing/2014/main" id="{7EC1EEE8-5702-EB48-E786-81E9AF0DC04A}"/>
                </a:ext>
              </a:extLst>
            </p:cNvPr>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04</a:t>
              </a:r>
            </a:p>
          </p:txBody>
        </p:sp>
        <p:sp>
          <p:nvSpPr>
            <p:cNvPr id="3" name="TextBox 3">
              <a:extLst>
                <a:ext uri="{FF2B5EF4-FFF2-40B4-BE49-F238E27FC236}">
                  <a16:creationId xmlns:a16="http://schemas.microsoft.com/office/drawing/2014/main" id="{E232E20E-306E-DE47-7FBF-8FAC9DC6FDE5}"/>
                </a:ext>
              </a:extLst>
            </p:cNvPr>
            <p:cNvSpPr txBox="1"/>
            <p:nvPr/>
          </p:nvSpPr>
          <p:spPr>
            <a:xfrm>
              <a:off x="1219200" y="392430"/>
              <a:ext cx="3347085"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实验</a:t>
              </a:r>
              <a:r>
                <a:rPr lang="zh-CN" altLang="en-US" sz="2100" b="1" dirty="0">
                  <a:solidFill>
                    <a:srgbClr val="202B33"/>
                  </a:solidFill>
                  <a:latin typeface="Arial"/>
                  <a:ea typeface="Microsoft YaHei"/>
                  <a:cs typeface="Arial"/>
                </a:rPr>
                <a:t>结论</a:t>
              </a:r>
              <a:r>
                <a:rPr lang="zh-CN" sz="2100" b="1" dirty="0">
                  <a:solidFill>
                    <a:srgbClr val="202B33"/>
                  </a:solidFill>
                  <a:latin typeface="Arial"/>
                  <a:ea typeface="Microsoft YaHei"/>
                  <a:cs typeface="Arial"/>
                </a:rPr>
                <a:t>：</a:t>
              </a:r>
              <a:r>
                <a:rPr lang="zh-CN" altLang="en-US" sz="2100" b="1" dirty="0">
                  <a:solidFill>
                    <a:srgbClr val="202B33"/>
                  </a:solidFill>
                  <a:latin typeface="Arial"/>
                  <a:ea typeface="Microsoft YaHei"/>
                  <a:cs typeface="Arial"/>
                </a:rPr>
                <a:t>自动化权限预测是可行的，但有边界</a:t>
              </a:r>
              <a:endParaRPr lang="zh-CN" sz="2100" b="1" dirty="0">
                <a:solidFill>
                  <a:srgbClr val="202B33"/>
                </a:solidFill>
                <a:latin typeface="Arial"/>
                <a:ea typeface="Microsoft YaHei"/>
                <a:cs typeface="Arial"/>
              </a:endParaRPr>
            </a:p>
          </p:txBody>
        </p:sp>
        <p:sp>
          <p:nvSpPr>
            <p:cNvPr id="4" name="TextBox 4">
              <a:extLst>
                <a:ext uri="{FF2B5EF4-FFF2-40B4-BE49-F238E27FC236}">
                  <a16:creationId xmlns:a16="http://schemas.microsoft.com/office/drawing/2014/main" id="{CC837F90-3048-0EAA-50FF-39F5373B8E84}"/>
                </a:ext>
              </a:extLst>
            </p:cNvPr>
            <p:cNvSpPr txBox="1"/>
            <p:nvPr/>
          </p:nvSpPr>
          <p:spPr>
            <a:xfrm>
              <a:off x="532757" y="973418"/>
              <a:ext cx="5935599" cy="385763"/>
            </a:xfrm>
            <a:prstGeom prst="rect">
              <a:avLst/>
            </a:prstGeom>
            <a:noFill/>
            <a:ln>
              <a:noFill/>
            </a:ln>
          </p:spPr>
          <p:txBody>
            <a:bodyPr wrap="none" lIns="0" tIns="0" rIns="0" bIns="0" anchor="t" anchorCtr="0">
              <a:noAutofit/>
            </a:bodyPr>
            <a:lstStyle/>
            <a:p>
              <a:pPr algn="l"/>
              <a:r>
                <a:rPr lang="zh-CN" altLang="en-US" sz="2020" b="1" dirty="0">
                  <a:solidFill>
                    <a:srgbClr val="005A84"/>
                  </a:solidFill>
                  <a:latin typeface="Arial"/>
                  <a:ea typeface="Microsoft YaHei"/>
                  <a:cs typeface="Arial"/>
                </a:rPr>
                <a:t>用户偏好可以被学习，自动化预测在多数场景下可行</a:t>
              </a:r>
              <a:endParaRPr lang="zh-CN" sz="2020" b="1" dirty="0">
                <a:solidFill>
                  <a:srgbClr val="005A84"/>
                </a:solidFill>
                <a:latin typeface="Arial"/>
                <a:ea typeface="Microsoft YaHei"/>
                <a:cs typeface="Arial"/>
              </a:endParaRPr>
            </a:p>
          </p:txBody>
        </p:sp>
      </p:grpSp>
      <p:grpSp>
        <p:nvGrpSpPr>
          <p:cNvPr id="9" name="Group 19">
            <a:extLst>
              <a:ext uri="{FF2B5EF4-FFF2-40B4-BE49-F238E27FC236}">
                <a16:creationId xmlns:a16="http://schemas.microsoft.com/office/drawing/2014/main" id="{489D1298-8D88-EB96-2E3C-D9282F7085A5}"/>
              </a:ext>
            </a:extLst>
          </p:cNvPr>
          <p:cNvGrpSpPr/>
          <p:nvPr/>
        </p:nvGrpSpPr>
        <p:grpSpPr>
          <a:xfrm>
            <a:off x="476250" y="4104198"/>
            <a:ext cx="8191500" cy="504825"/>
            <a:chOff x="476250" y="4229100"/>
            <a:chExt cx="8191500" cy="504825"/>
          </a:xfrm>
        </p:grpSpPr>
        <p:sp>
          <p:nvSpPr>
            <p:cNvPr id="10" name="Rectangle 16">
              <a:extLst>
                <a:ext uri="{FF2B5EF4-FFF2-40B4-BE49-F238E27FC236}">
                  <a16:creationId xmlns:a16="http://schemas.microsoft.com/office/drawing/2014/main" id="{4B9F8237-6DD7-F769-AF99-ACA73F8425D1}"/>
                </a:ext>
              </a:extLst>
            </p:cNvPr>
            <p:cNvSpPr/>
            <p:nvPr/>
          </p:nvSpPr>
          <p:spPr>
            <a:xfrm>
              <a:off x="476250" y="4229100"/>
              <a:ext cx="8191500" cy="504825"/>
            </a:xfrm>
            <a:prstGeom prst="rect">
              <a:avLst/>
            </a:prstGeom>
            <a:solidFill>
              <a:srgbClr val="F0F5F6"/>
            </a:solidFill>
            <a:ln>
              <a:noFill/>
            </a:ln>
          </p:spPr>
        </p:sp>
        <p:sp>
          <p:nvSpPr>
            <p:cNvPr id="11" name="Rectangle 17">
              <a:extLst>
                <a:ext uri="{FF2B5EF4-FFF2-40B4-BE49-F238E27FC236}">
                  <a16:creationId xmlns:a16="http://schemas.microsoft.com/office/drawing/2014/main" id="{1208E0E2-C29C-F843-1B3D-ED2580734584}"/>
                </a:ext>
              </a:extLst>
            </p:cNvPr>
            <p:cNvSpPr/>
            <p:nvPr/>
          </p:nvSpPr>
          <p:spPr>
            <a:xfrm>
              <a:off x="476250" y="4229100"/>
              <a:ext cx="38100" cy="504825"/>
            </a:xfrm>
            <a:prstGeom prst="rect">
              <a:avLst/>
            </a:prstGeom>
            <a:solidFill>
              <a:srgbClr val="16735C"/>
            </a:solidFill>
            <a:ln>
              <a:noFill/>
            </a:ln>
          </p:spPr>
        </p:sp>
        <p:sp>
          <p:nvSpPr>
            <p:cNvPr id="12" name="TextBox 18">
              <a:extLst>
                <a:ext uri="{FF2B5EF4-FFF2-40B4-BE49-F238E27FC236}">
                  <a16:creationId xmlns:a16="http://schemas.microsoft.com/office/drawing/2014/main" id="{38F7E2BA-A04B-E0F9-C312-60E1C3EA4875}"/>
                </a:ext>
              </a:extLst>
            </p:cNvPr>
            <p:cNvSpPr txBox="1"/>
            <p:nvPr/>
          </p:nvSpPr>
          <p:spPr>
            <a:xfrm>
              <a:off x="609600" y="4408646"/>
              <a:ext cx="6717792" cy="271462"/>
            </a:xfrm>
            <a:prstGeom prst="rect">
              <a:avLst/>
            </a:prstGeom>
            <a:noFill/>
            <a:ln>
              <a:noFill/>
            </a:ln>
          </p:spPr>
          <p:txBody>
            <a:bodyPr wrap="none" lIns="0" tIns="0" rIns="0" bIns="0" anchor="t" anchorCtr="0">
              <a:noAutofit/>
            </a:bodyPr>
            <a:lstStyle/>
            <a:p>
              <a:pPr algn="l"/>
              <a:r>
                <a:rPr lang="zh-CN" altLang="en-US" sz="1420" b="1" dirty="0">
                  <a:solidFill>
                    <a:srgbClr val="16735C"/>
                  </a:solidFill>
                  <a:latin typeface="Arial"/>
                  <a:ea typeface="Microsoft YaHei"/>
                  <a:cs typeface="Arial"/>
                </a:rPr>
                <a:t>自动化权限管理不是“全自动”，而是“高置信度自动 </a:t>
              </a:r>
              <a:r>
                <a:rPr lang="en-US" altLang="zh-CN" sz="1420" b="1" dirty="0">
                  <a:solidFill>
                    <a:srgbClr val="16735C"/>
                  </a:solidFill>
                  <a:latin typeface="Arial"/>
                  <a:ea typeface="Microsoft YaHei"/>
                  <a:cs typeface="Arial"/>
                </a:rPr>
                <a:t>+ </a:t>
              </a:r>
              <a:r>
                <a:rPr lang="zh-CN" altLang="en-US" sz="1420" b="1" dirty="0">
                  <a:solidFill>
                    <a:srgbClr val="16735C"/>
                  </a:solidFill>
                  <a:latin typeface="Arial"/>
                  <a:ea typeface="Microsoft YaHei"/>
                  <a:cs typeface="Arial"/>
                </a:rPr>
                <a:t>低置信度人工兜底”。</a:t>
              </a:r>
              <a:endParaRPr lang="zh-CN" sz="1420" b="1" dirty="0">
                <a:solidFill>
                  <a:srgbClr val="16735C"/>
                </a:solidFill>
                <a:latin typeface="Arial"/>
                <a:ea typeface="Microsoft YaHei"/>
                <a:cs typeface="Arial"/>
              </a:endParaRPr>
            </a:p>
          </p:txBody>
        </p:sp>
      </p:grpSp>
      <p:sp>
        <p:nvSpPr>
          <p:cNvPr id="14" name="文本框 13">
            <a:extLst>
              <a:ext uri="{FF2B5EF4-FFF2-40B4-BE49-F238E27FC236}">
                <a16:creationId xmlns:a16="http://schemas.microsoft.com/office/drawing/2014/main" id="{13F63DC6-9A26-875C-6763-2BCB74693E43}"/>
              </a:ext>
            </a:extLst>
          </p:cNvPr>
          <p:cNvSpPr txBox="1"/>
          <p:nvPr/>
        </p:nvSpPr>
        <p:spPr>
          <a:xfrm>
            <a:off x="816215" y="1699071"/>
            <a:ext cx="6033976" cy="2041585"/>
          </a:xfrm>
          <a:prstGeom prst="rect">
            <a:avLst/>
          </a:prstGeom>
          <a:solidFill>
            <a:srgbClr val="F0F5F6"/>
          </a:solidFill>
        </p:spPr>
        <p:txBody>
          <a:bodyPr wrap="square">
            <a:spAutoFit/>
          </a:bodyPr>
          <a:lstStyle/>
          <a:p>
            <a:pPr marR="0" lvl="0" algn="l">
              <a:spcBef>
                <a:spcPts val="1200"/>
              </a:spcBef>
              <a:spcAft>
                <a:spcPts val="1200"/>
              </a:spcAft>
            </a:pPr>
            <a:r>
              <a:rPr lang="zh-CN" altLang="zh-CN" sz="1400" b="1" i="0" dirty="0">
                <a:solidFill>
                  <a:srgbClr val="005A84"/>
                </a:solidFill>
                <a:effectLst/>
                <a:latin typeface="微软雅黑" panose="020B0503020204020204" pitchFamily="34" charset="-122"/>
                <a:ea typeface="微软雅黑" panose="020B0503020204020204" pitchFamily="34" charset="-122"/>
              </a:rPr>
              <a:t>可行</a:t>
            </a:r>
            <a:r>
              <a:rPr lang="zh-CN" altLang="zh-CN" sz="1400" b="0" i="0" dirty="0">
                <a:solidFill>
                  <a:srgbClr val="005A84"/>
                </a:solidFill>
                <a:effectLst/>
                <a:latin typeface="微软雅黑" panose="020B0503020204020204" pitchFamily="34" charset="-122"/>
                <a:ea typeface="微软雅黑" panose="020B0503020204020204" pitchFamily="34" charset="-122"/>
              </a:rPr>
              <a:t>：</a:t>
            </a:r>
            <a:r>
              <a:rPr lang="en-US" altLang="zh-CN" sz="1400" b="0" i="0" dirty="0">
                <a:solidFill>
                  <a:srgbClr val="000000"/>
                </a:solidFill>
                <a:effectLst/>
                <a:latin typeface="微软雅黑" panose="020B0503020204020204" pitchFamily="34" charset="-122"/>
                <a:ea typeface="微软雅黑" panose="020B0503020204020204" pitchFamily="34" charset="-122"/>
              </a:rPr>
              <a:t>	</a:t>
            </a:r>
            <a:r>
              <a:rPr lang="zh-CN" altLang="zh-CN" sz="1400" b="0" i="0" dirty="0">
                <a:solidFill>
                  <a:srgbClr val="000000"/>
                </a:solidFill>
                <a:effectLst/>
                <a:latin typeface="微软雅黑" panose="020B0503020204020204" pitchFamily="34" charset="-122"/>
                <a:ea typeface="微软雅黑" panose="020B0503020204020204" pitchFamily="34" charset="-122"/>
              </a:rPr>
              <a:t>全覆盖准确率 </a:t>
            </a:r>
            <a:r>
              <a:rPr lang="zh-CN" altLang="zh-CN" sz="1400" b="1" i="0" dirty="0">
                <a:solidFill>
                  <a:srgbClr val="000000"/>
                </a:solidFill>
                <a:effectLst/>
                <a:latin typeface="微软雅黑" panose="020B0503020204020204" pitchFamily="34" charset="-122"/>
                <a:ea typeface="微软雅黑" panose="020B0503020204020204" pitchFamily="34" charset="-122"/>
              </a:rPr>
              <a:t>85.1%</a:t>
            </a:r>
            <a:r>
              <a:rPr lang="zh-CN" altLang="zh-CN" sz="1400" b="0" i="0" dirty="0">
                <a:solidFill>
                  <a:srgbClr val="000000"/>
                </a:solidFill>
                <a:effectLst/>
                <a:latin typeface="微软雅黑" panose="020B0503020204020204" pitchFamily="34" charset="-122"/>
                <a:ea typeface="微软雅黑" panose="020B0503020204020204" pitchFamily="34" charset="-122"/>
              </a:rPr>
              <a:t>，高置信度</a:t>
            </a:r>
            <a:r>
              <a:rPr lang="zh-CN" altLang="en-US" sz="1400" b="0" i="0" dirty="0">
                <a:solidFill>
                  <a:srgbClr val="000000"/>
                </a:solidFill>
                <a:effectLst/>
                <a:latin typeface="微软雅黑" panose="020B0503020204020204" pitchFamily="34" charset="-122"/>
                <a:ea typeface="微软雅黑" panose="020B0503020204020204" pitchFamily="34" charset="-122"/>
              </a:rPr>
              <a:t>准确率</a:t>
            </a:r>
            <a:r>
              <a:rPr lang="zh-CN" altLang="zh-CN" sz="1400" b="0" i="0" dirty="0">
                <a:solidFill>
                  <a:srgbClr val="000000"/>
                </a:solidFill>
                <a:effectLst/>
                <a:latin typeface="微软雅黑" panose="020B0503020204020204" pitchFamily="34" charset="-122"/>
                <a:ea typeface="微软雅黑" panose="020B0503020204020204" pitchFamily="34" charset="-122"/>
              </a:rPr>
              <a:t> 94.4%</a:t>
            </a:r>
          </a:p>
          <a:p>
            <a:pPr marR="0" lvl="0" algn="l">
              <a:spcBef>
                <a:spcPts val="450"/>
              </a:spcBef>
              <a:spcAft>
                <a:spcPts val="1200"/>
              </a:spcAft>
            </a:pPr>
            <a:r>
              <a:rPr lang="zh-CN" altLang="zh-CN" sz="1400" b="1" i="0" dirty="0">
                <a:solidFill>
                  <a:srgbClr val="005A84"/>
                </a:solidFill>
                <a:effectLst/>
                <a:latin typeface="微软雅黑" panose="020B0503020204020204" pitchFamily="34" charset="-122"/>
                <a:ea typeface="微软雅黑" panose="020B0503020204020204" pitchFamily="34" charset="-122"/>
              </a:rPr>
              <a:t>互补</a:t>
            </a:r>
            <a:r>
              <a:rPr lang="zh-CN" altLang="zh-CN" sz="1400" b="0" i="0" dirty="0">
                <a:solidFill>
                  <a:srgbClr val="005A84"/>
                </a:solidFill>
                <a:effectLst/>
                <a:latin typeface="微软雅黑" panose="020B0503020204020204" pitchFamily="34" charset="-122"/>
                <a:ea typeface="微软雅黑" panose="020B0503020204020204" pitchFamily="34" charset="-122"/>
              </a:rPr>
              <a:t>：</a:t>
            </a:r>
            <a:r>
              <a:rPr lang="en-US" altLang="zh-CN" sz="1400" b="0" i="0" dirty="0">
                <a:solidFill>
                  <a:srgbClr val="000000"/>
                </a:solidFill>
                <a:effectLst/>
                <a:latin typeface="微软雅黑" panose="020B0503020204020204" pitchFamily="34" charset="-122"/>
                <a:ea typeface="微软雅黑" panose="020B0503020204020204" pitchFamily="34" charset="-122"/>
              </a:rPr>
              <a:t>	</a:t>
            </a:r>
            <a:r>
              <a:rPr lang="zh-CN" altLang="zh-CN" sz="1400" b="1" i="0" dirty="0">
                <a:solidFill>
                  <a:srgbClr val="000000"/>
                </a:solidFill>
                <a:effectLst/>
                <a:latin typeface="微软雅黑" panose="020B0503020204020204" pitchFamily="34" charset="-122"/>
                <a:ea typeface="微软雅黑" panose="020B0503020204020204" pitchFamily="34" charset="-122"/>
              </a:rPr>
              <a:t>IC + CF </a:t>
            </a:r>
            <a:r>
              <a:rPr lang="zh-CN" altLang="zh-CN" sz="1400" b="0" i="0" dirty="0">
                <a:solidFill>
                  <a:srgbClr val="000000"/>
                </a:solidFill>
                <a:effectLst/>
                <a:latin typeface="微软雅黑" panose="020B0503020204020204" pitchFamily="34" charset="-122"/>
                <a:ea typeface="微软雅黑" panose="020B0503020204020204" pitchFamily="34" charset="-122"/>
              </a:rPr>
              <a:t>整体最优，FPR 降低 2.7 个百分点</a:t>
            </a:r>
          </a:p>
          <a:p>
            <a:pPr marR="0" lvl="0" algn="l">
              <a:spcBef>
                <a:spcPts val="450"/>
              </a:spcBef>
              <a:spcAft>
                <a:spcPts val="1200"/>
              </a:spcAft>
            </a:pPr>
            <a:r>
              <a:rPr lang="zh-CN" altLang="zh-CN" sz="1400" b="1" i="0" dirty="0">
                <a:solidFill>
                  <a:srgbClr val="005A84"/>
                </a:solidFill>
                <a:effectLst/>
                <a:latin typeface="微软雅黑" panose="020B0503020204020204" pitchFamily="34" charset="-122"/>
                <a:ea typeface="微软雅黑" panose="020B0503020204020204" pitchFamily="34" charset="-122"/>
              </a:rPr>
              <a:t>冷启动</a:t>
            </a:r>
            <a:r>
              <a:rPr lang="zh-CN" altLang="zh-CN" sz="1400" b="0" i="0" dirty="0">
                <a:solidFill>
                  <a:srgbClr val="005A84"/>
                </a:solidFill>
                <a:effectLst/>
                <a:latin typeface="微软雅黑" panose="020B0503020204020204" pitchFamily="34" charset="-122"/>
                <a:ea typeface="微软雅黑" panose="020B0503020204020204" pitchFamily="34" charset="-122"/>
              </a:rPr>
              <a:t>：</a:t>
            </a:r>
            <a:r>
              <a:rPr lang="en-US" altLang="zh-CN" sz="1400" b="0" i="0" dirty="0">
                <a:solidFill>
                  <a:srgbClr val="000000"/>
                </a:solidFill>
                <a:effectLst/>
                <a:latin typeface="微软雅黑" panose="020B0503020204020204" pitchFamily="34" charset="-122"/>
                <a:ea typeface="微软雅黑" panose="020B0503020204020204" pitchFamily="34" charset="-122"/>
              </a:rPr>
              <a:t>	</a:t>
            </a:r>
            <a:r>
              <a:rPr lang="zh-CN" altLang="zh-CN" sz="1400" b="0" i="0" dirty="0">
                <a:solidFill>
                  <a:srgbClr val="000000"/>
                </a:solidFill>
                <a:effectLst/>
                <a:latin typeface="微软雅黑" panose="020B0503020204020204" pitchFamily="34" charset="-122"/>
                <a:ea typeface="微软雅黑" panose="020B0503020204020204" pitchFamily="34" charset="-122"/>
              </a:rPr>
              <a:t>无历史 66.9%，1–4 个查询历史</a:t>
            </a:r>
            <a:r>
              <a:rPr lang="zh-CN" altLang="en-US" sz="1400" b="0" i="0" dirty="0">
                <a:solidFill>
                  <a:srgbClr val="000000"/>
                </a:solidFill>
                <a:effectLst/>
                <a:latin typeface="微软雅黑" panose="020B0503020204020204" pitchFamily="34" charset="-122"/>
                <a:ea typeface="微软雅黑" panose="020B0503020204020204" pitchFamily="34" charset="-122"/>
              </a:rPr>
              <a:t>准确率</a:t>
            </a:r>
            <a:r>
              <a:rPr lang="zh-CN" altLang="zh-CN" sz="1400" b="1" i="0" dirty="0">
                <a:solidFill>
                  <a:srgbClr val="000000"/>
                </a:solidFill>
                <a:effectLst/>
                <a:latin typeface="微软雅黑" panose="020B0503020204020204" pitchFamily="34" charset="-122"/>
                <a:ea typeface="微软雅黑" panose="020B0503020204020204" pitchFamily="34" charset="-122"/>
              </a:rPr>
              <a:t>+10.8%</a:t>
            </a:r>
          </a:p>
          <a:p>
            <a:pPr marR="0" lvl="0" algn="l">
              <a:spcBef>
                <a:spcPts val="450"/>
              </a:spcBef>
              <a:spcAft>
                <a:spcPts val="1200"/>
              </a:spcAft>
            </a:pPr>
            <a:r>
              <a:rPr lang="zh-CN" altLang="zh-CN" sz="1400" b="1" i="0" dirty="0">
                <a:solidFill>
                  <a:srgbClr val="005A84"/>
                </a:solidFill>
                <a:effectLst/>
                <a:latin typeface="微软雅黑" panose="020B0503020204020204" pitchFamily="34" charset="-122"/>
                <a:ea typeface="微软雅黑" panose="020B0503020204020204" pitchFamily="34" charset="-122"/>
              </a:rPr>
              <a:t>权衡</a:t>
            </a:r>
            <a:r>
              <a:rPr lang="zh-CN" altLang="zh-CN" sz="1400" b="0" i="0" dirty="0">
                <a:solidFill>
                  <a:srgbClr val="005A84"/>
                </a:solidFill>
                <a:effectLst/>
                <a:latin typeface="微软雅黑" panose="020B0503020204020204" pitchFamily="34" charset="-122"/>
                <a:ea typeface="微软雅黑" panose="020B0503020204020204" pitchFamily="34" charset="-122"/>
              </a:rPr>
              <a:t>：</a:t>
            </a:r>
            <a:r>
              <a:rPr lang="en-US" altLang="zh-CN" sz="1400" b="0" i="0" dirty="0">
                <a:solidFill>
                  <a:srgbClr val="000000"/>
                </a:solidFill>
                <a:effectLst/>
                <a:latin typeface="微软雅黑" panose="020B0503020204020204" pitchFamily="34" charset="-122"/>
                <a:ea typeface="微软雅黑" panose="020B0503020204020204" pitchFamily="34" charset="-122"/>
              </a:rPr>
              <a:t>	</a:t>
            </a:r>
            <a:r>
              <a:rPr lang="zh-CN" altLang="en-US" sz="1400" b="0" i="0" dirty="0">
                <a:solidFill>
                  <a:srgbClr val="000000"/>
                </a:solidFill>
                <a:effectLst/>
                <a:latin typeface="微软雅黑" panose="020B0503020204020204" pitchFamily="34" charset="-122"/>
                <a:ea typeface="微软雅黑" panose="020B0503020204020204" pitchFamily="34" charset="-122"/>
              </a:rPr>
              <a:t>高置信度下，</a:t>
            </a:r>
            <a:r>
              <a:rPr lang="zh-CN" altLang="zh-CN" sz="1400" b="0" i="0" dirty="0">
                <a:solidFill>
                  <a:srgbClr val="000000"/>
                </a:solidFill>
                <a:effectLst/>
                <a:latin typeface="微软雅黑" panose="020B0503020204020204" pitchFamily="34" charset="-122"/>
                <a:ea typeface="微软雅黑" panose="020B0503020204020204" pitchFamily="34" charset="-122"/>
              </a:rPr>
              <a:t>94.4% 准确率只覆盖 25.9% 请求</a:t>
            </a:r>
          </a:p>
          <a:p>
            <a:pPr marR="0" lvl="0" algn="l">
              <a:spcBef>
                <a:spcPts val="450"/>
              </a:spcBef>
              <a:spcAft>
                <a:spcPts val="1200"/>
              </a:spcAft>
            </a:pPr>
            <a:r>
              <a:rPr lang="zh-CN" altLang="zh-CN" sz="1400" b="1" i="0" dirty="0">
                <a:solidFill>
                  <a:srgbClr val="005A84"/>
                </a:solidFill>
                <a:effectLst/>
                <a:latin typeface="微软雅黑" panose="020B0503020204020204" pitchFamily="34" charset="-122"/>
                <a:ea typeface="微软雅黑" panose="020B0503020204020204" pitchFamily="34" charset="-122"/>
              </a:rPr>
              <a:t>边界</a:t>
            </a:r>
            <a:r>
              <a:rPr lang="zh-CN" altLang="zh-CN" sz="1400" b="0" i="0" dirty="0">
                <a:solidFill>
                  <a:srgbClr val="005A84"/>
                </a:solidFill>
                <a:effectLst/>
                <a:latin typeface="微软雅黑" panose="020B0503020204020204" pitchFamily="34" charset="-122"/>
                <a:ea typeface="微软雅黑" panose="020B0503020204020204" pitchFamily="34" charset="-122"/>
              </a:rPr>
              <a:t>：</a:t>
            </a:r>
            <a:r>
              <a:rPr lang="en-US" altLang="zh-CN" sz="1400" b="0" i="0" dirty="0">
                <a:solidFill>
                  <a:srgbClr val="000000"/>
                </a:solidFill>
                <a:effectLst/>
                <a:latin typeface="微软雅黑" panose="020B0503020204020204" pitchFamily="34" charset="-122"/>
                <a:ea typeface="微软雅黑" panose="020B0503020204020204" pitchFamily="34" charset="-122"/>
              </a:rPr>
              <a:t>	</a:t>
            </a:r>
            <a:r>
              <a:rPr lang="zh-CN" altLang="zh-CN" sz="1400" b="0" i="0" dirty="0">
                <a:solidFill>
                  <a:srgbClr val="000000"/>
                </a:solidFill>
                <a:effectLst/>
                <a:latin typeface="微软雅黑" panose="020B0503020204020204" pitchFamily="34" charset="-122"/>
                <a:ea typeface="微软雅黑" panose="020B0503020204020204" pitchFamily="34" charset="-122"/>
              </a:rPr>
              <a:t>跨领域差异大</a:t>
            </a:r>
            <a:r>
              <a:rPr lang="zh-CN" altLang="en-US" sz="1400" b="0" i="0" dirty="0">
                <a:solidFill>
                  <a:srgbClr val="000000"/>
                </a:solidFill>
                <a:effectLst/>
                <a:latin typeface="微软雅黑" panose="020B0503020204020204" pitchFamily="34" charset="-122"/>
                <a:ea typeface="微软雅黑" panose="020B0503020204020204" pitchFamily="34" charset="-122"/>
              </a:rPr>
              <a:t>的用户</a:t>
            </a:r>
            <a:r>
              <a:rPr lang="zh-CN" altLang="zh-CN" sz="1400" b="0" i="0" dirty="0">
                <a:solidFill>
                  <a:srgbClr val="000000"/>
                </a:solidFill>
                <a:effectLst/>
                <a:latin typeface="微软雅黑" panose="020B0503020204020204" pitchFamily="34" charset="-122"/>
                <a:ea typeface="微软雅黑" panose="020B0503020204020204" pitchFamily="34" charset="-122"/>
              </a:rPr>
              <a:t>、敏感数据更难预测</a:t>
            </a:r>
            <a:endParaRPr lang="zh-CN" altLang="zh-CN" sz="1200" b="0" i="0" dirty="0">
              <a:solidFill>
                <a:srgbClr val="0F1115"/>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3076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B77BAD8F-CD78-8BDD-D711-3208A946ACC1}"/>
            </a:ext>
          </a:extLst>
        </p:cNvPr>
        <p:cNvGrpSpPr/>
        <p:nvPr/>
      </p:nvGrpSpPr>
      <p:grpSpPr>
        <a:xfrm>
          <a:off x="0" y="0"/>
          <a:ext cx="0" cy="0"/>
          <a:chOff x="0" y="0"/>
          <a:chExt cx="0" cy="0"/>
        </a:xfrm>
      </p:grpSpPr>
      <p:grpSp>
        <p:nvGrpSpPr>
          <p:cNvPr id="5" name="Group 5"/>
          <p:cNvGrpSpPr/>
          <p:nvPr/>
        </p:nvGrpSpPr>
        <p:grpSpPr>
          <a:xfrm>
            <a:off x="476250" y="392430"/>
            <a:ext cx="6236494" cy="1012984"/>
            <a:chOff x="476250" y="392430"/>
            <a:chExt cx="6236494"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05</a:t>
              </a:r>
            </a:p>
          </p:txBody>
        </p:sp>
        <p:sp>
          <p:nvSpPr>
            <p:cNvPr id="3" name="TextBox 3"/>
            <p:cNvSpPr txBox="1"/>
            <p:nvPr/>
          </p:nvSpPr>
          <p:spPr>
            <a:xfrm>
              <a:off x="1219200" y="392430"/>
              <a:ext cx="3659124"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局限一：研究设计与外推</a:t>
              </a:r>
            </a:p>
          </p:txBody>
        </p:sp>
        <p:sp>
          <p:nvSpPr>
            <p:cNvPr id="4" name="TextBox 4"/>
            <p:cNvSpPr txBox="1"/>
            <p:nvPr/>
          </p:nvSpPr>
          <p:spPr>
            <a:xfrm>
              <a:off x="476250" y="1019651"/>
              <a:ext cx="6236494" cy="385763"/>
            </a:xfrm>
            <a:prstGeom prst="rect">
              <a:avLst/>
            </a:prstGeom>
            <a:noFill/>
            <a:ln>
              <a:noFill/>
            </a:ln>
          </p:spPr>
          <p:txBody>
            <a:bodyPr wrap="none" lIns="0" tIns="0" rIns="0" bIns="0" anchor="t" anchorCtr="0">
              <a:noAutofit/>
            </a:bodyPr>
            <a:lstStyle/>
            <a:p>
              <a:pPr algn="l"/>
              <a:r>
                <a:rPr lang="zh-CN" sz="1800" b="1" dirty="0">
                  <a:solidFill>
                    <a:srgbClr val="005A84"/>
                  </a:solidFill>
                  <a:latin typeface="Arial"/>
                  <a:ea typeface="Microsoft YaHei"/>
                  <a:cs typeface="Arial"/>
                </a:rPr>
                <a:t>受控</a:t>
              </a:r>
              <a:r>
                <a:rPr lang="zh-CN" altLang="en-US" sz="1800" b="1" dirty="0">
                  <a:solidFill>
                    <a:srgbClr val="005A84"/>
                  </a:solidFill>
                  <a:ea typeface="Microsoft YaHei"/>
                </a:rPr>
                <a:t>情境</a:t>
              </a:r>
              <a:r>
                <a:rPr lang="zh-CN" sz="1800" b="1" dirty="0">
                  <a:solidFill>
                    <a:srgbClr val="005A84"/>
                  </a:solidFill>
                  <a:latin typeface="Arial"/>
                  <a:ea typeface="Microsoft YaHei"/>
                  <a:cs typeface="Arial"/>
                </a:rPr>
                <a:t>中的偏好，不</a:t>
              </a:r>
              <a:r>
                <a:rPr lang="zh-CN" altLang="en-US" sz="1800" b="1" dirty="0">
                  <a:solidFill>
                    <a:srgbClr val="005A84"/>
                  </a:solidFill>
                  <a:latin typeface="Arial"/>
                  <a:ea typeface="Microsoft YaHei"/>
                  <a:cs typeface="Arial"/>
                </a:rPr>
                <a:t>能</a:t>
              </a:r>
              <a:r>
                <a:rPr lang="zh-CN" sz="1800" b="1" dirty="0">
                  <a:solidFill>
                    <a:srgbClr val="005A84"/>
                  </a:solidFill>
                  <a:latin typeface="Arial"/>
                  <a:ea typeface="Microsoft YaHei"/>
                  <a:cs typeface="Arial"/>
                </a:rPr>
                <a:t>代表长期真实行为</a:t>
              </a:r>
            </a:p>
          </p:txBody>
        </p:sp>
      </p:grpSp>
      <p:grpSp>
        <p:nvGrpSpPr>
          <p:cNvPr id="27" name="Group 27"/>
          <p:cNvGrpSpPr/>
          <p:nvPr/>
        </p:nvGrpSpPr>
        <p:grpSpPr>
          <a:xfrm>
            <a:off x="552450" y="1767665"/>
            <a:ext cx="8039100" cy="2154840"/>
            <a:chOff x="552450" y="1666875"/>
            <a:chExt cx="8039100" cy="2154840"/>
          </a:xfrm>
        </p:grpSpPr>
        <p:sp>
          <p:nvSpPr>
            <p:cNvPr id="9" name="Rectangle 9"/>
            <p:cNvSpPr/>
            <p:nvPr/>
          </p:nvSpPr>
          <p:spPr>
            <a:xfrm>
              <a:off x="552450" y="1666875"/>
              <a:ext cx="8039100" cy="342900"/>
            </a:xfrm>
            <a:prstGeom prst="rect">
              <a:avLst/>
            </a:prstGeom>
            <a:solidFill>
              <a:srgbClr val="005A84"/>
            </a:solidFill>
            <a:ln>
              <a:noFill/>
            </a:ln>
          </p:spPr>
        </p:sp>
        <p:sp>
          <p:nvSpPr>
            <p:cNvPr id="10" name="TextBox 10"/>
            <p:cNvSpPr txBox="1"/>
            <p:nvPr/>
          </p:nvSpPr>
          <p:spPr>
            <a:xfrm>
              <a:off x="666750" y="1763268"/>
              <a:ext cx="921734" cy="250031"/>
            </a:xfrm>
            <a:prstGeom prst="rect">
              <a:avLst/>
            </a:prstGeom>
            <a:noFill/>
            <a:ln>
              <a:noFill/>
            </a:ln>
          </p:spPr>
          <p:txBody>
            <a:bodyPr wrap="none" lIns="0" tIns="48" rIns="0" bIns="0" anchor="t" anchorCtr="0">
              <a:noAutofit/>
            </a:bodyPr>
            <a:lstStyle/>
            <a:p>
              <a:pPr algn="l"/>
              <a:r>
                <a:rPr lang="zh-CN" sz="1310" b="1" dirty="0">
                  <a:solidFill>
                    <a:srgbClr val="FFFFFF"/>
                  </a:solidFill>
                  <a:latin typeface="Arial"/>
                  <a:ea typeface="Microsoft YaHei"/>
                  <a:cs typeface="Arial"/>
                </a:rPr>
                <a:t>研究设置</a:t>
              </a:r>
            </a:p>
          </p:txBody>
        </p:sp>
        <p:sp>
          <p:nvSpPr>
            <p:cNvPr id="11" name="TextBox 11"/>
            <p:cNvSpPr txBox="1"/>
            <p:nvPr/>
          </p:nvSpPr>
          <p:spPr>
            <a:xfrm>
              <a:off x="2743087" y="1763268"/>
              <a:ext cx="921734" cy="250031"/>
            </a:xfrm>
            <a:prstGeom prst="rect">
              <a:avLst/>
            </a:prstGeom>
            <a:noFill/>
            <a:ln>
              <a:noFill/>
            </a:ln>
          </p:spPr>
          <p:txBody>
            <a:bodyPr wrap="none" lIns="0" tIns="48" rIns="0" bIns="0" anchor="t" anchorCtr="0">
              <a:noAutofit/>
            </a:bodyPr>
            <a:lstStyle/>
            <a:p>
              <a:pPr algn="l"/>
              <a:r>
                <a:rPr lang="zh-CN" sz="1310" b="1" dirty="0">
                  <a:solidFill>
                    <a:srgbClr val="FFFFFF"/>
                  </a:solidFill>
                  <a:latin typeface="Arial"/>
                  <a:ea typeface="Microsoft YaHei"/>
                  <a:cs typeface="Arial"/>
                </a:rPr>
                <a:t>可能限制</a:t>
              </a:r>
            </a:p>
          </p:txBody>
        </p:sp>
        <p:sp>
          <p:nvSpPr>
            <p:cNvPr id="12" name="TextBox 12"/>
            <p:cNvSpPr txBox="1"/>
            <p:nvPr/>
          </p:nvSpPr>
          <p:spPr>
            <a:xfrm>
              <a:off x="5695950" y="1763268"/>
              <a:ext cx="921734" cy="250031"/>
            </a:xfrm>
            <a:prstGeom prst="rect">
              <a:avLst/>
            </a:prstGeom>
            <a:noFill/>
            <a:ln>
              <a:noFill/>
            </a:ln>
          </p:spPr>
          <p:txBody>
            <a:bodyPr wrap="none" lIns="0" tIns="48" rIns="0" bIns="0" anchor="t" anchorCtr="0">
              <a:noAutofit/>
            </a:bodyPr>
            <a:lstStyle/>
            <a:p>
              <a:pPr algn="l"/>
              <a:r>
                <a:rPr lang="zh-CN" sz="1310" b="1" dirty="0">
                  <a:solidFill>
                    <a:srgbClr val="FFFFFF"/>
                  </a:solidFill>
                  <a:latin typeface="Arial"/>
                  <a:ea typeface="Microsoft YaHei"/>
                  <a:cs typeface="Arial"/>
                </a:rPr>
                <a:t>需要补充</a:t>
              </a:r>
            </a:p>
          </p:txBody>
        </p:sp>
        <p:sp>
          <p:nvSpPr>
            <p:cNvPr id="13" name="Rectangle 13"/>
            <p:cNvSpPr/>
            <p:nvPr/>
          </p:nvSpPr>
          <p:spPr>
            <a:xfrm>
              <a:off x="552450" y="2009775"/>
              <a:ext cx="8039100" cy="466725"/>
            </a:xfrm>
            <a:prstGeom prst="rect">
              <a:avLst/>
            </a:prstGeom>
            <a:solidFill>
              <a:srgbClr val="F0F5F6"/>
            </a:solidFill>
            <a:ln>
              <a:noFill/>
            </a:ln>
          </p:spPr>
        </p:sp>
        <p:sp>
          <p:nvSpPr>
            <p:cNvPr id="14" name="TextBox 14"/>
            <p:cNvSpPr txBox="1"/>
            <p:nvPr/>
          </p:nvSpPr>
          <p:spPr>
            <a:xfrm>
              <a:off x="666750" y="2171414"/>
              <a:ext cx="1701832" cy="250031"/>
            </a:xfrm>
            <a:prstGeom prst="rect">
              <a:avLst/>
            </a:prstGeom>
            <a:noFill/>
            <a:ln>
              <a:noFill/>
            </a:ln>
          </p:spPr>
          <p:txBody>
            <a:bodyPr wrap="none" lIns="0" tIns="48" rIns="0" bIns="0" anchor="t" anchorCtr="0">
              <a:noAutofit/>
            </a:bodyPr>
            <a:lstStyle/>
            <a:p>
              <a:pPr algn="l"/>
              <a:r>
                <a:rPr lang="zh-CN" sz="1310" b="1" dirty="0">
                  <a:solidFill>
                    <a:srgbClr val="005A84"/>
                  </a:solidFill>
                  <a:latin typeface="Arial"/>
                  <a:ea typeface="Microsoft YaHei"/>
                  <a:cs typeface="Arial"/>
                </a:rPr>
                <a:t>美国成年线上样本</a:t>
              </a:r>
            </a:p>
          </p:txBody>
        </p:sp>
        <p:sp>
          <p:nvSpPr>
            <p:cNvPr id="15" name="TextBox 15"/>
            <p:cNvSpPr txBox="1"/>
            <p:nvPr/>
          </p:nvSpPr>
          <p:spPr>
            <a:xfrm>
              <a:off x="2743087" y="2171414"/>
              <a:ext cx="2677001"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文化与使用习惯的代表性有限</a:t>
              </a:r>
            </a:p>
          </p:txBody>
        </p:sp>
        <p:sp>
          <p:nvSpPr>
            <p:cNvPr id="16" name="TextBox 16"/>
            <p:cNvSpPr txBox="1"/>
            <p:nvPr/>
          </p:nvSpPr>
          <p:spPr>
            <a:xfrm>
              <a:off x="5695950" y="2171414"/>
              <a:ext cx="1701832"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更多地区与用户群</a:t>
              </a:r>
            </a:p>
          </p:txBody>
        </p:sp>
        <p:sp>
          <p:nvSpPr>
            <p:cNvPr id="17" name="TextBox 17"/>
            <p:cNvSpPr txBox="1"/>
            <p:nvPr/>
          </p:nvSpPr>
          <p:spPr>
            <a:xfrm>
              <a:off x="666750" y="2638234"/>
              <a:ext cx="1966532" cy="250031"/>
            </a:xfrm>
            <a:prstGeom prst="rect">
              <a:avLst/>
            </a:prstGeom>
            <a:noFill/>
            <a:ln>
              <a:noFill/>
            </a:ln>
          </p:spPr>
          <p:txBody>
            <a:bodyPr wrap="none" lIns="0" tIns="-48" rIns="0" bIns="0" anchor="t" anchorCtr="0">
              <a:noAutofit/>
            </a:bodyPr>
            <a:lstStyle/>
            <a:p>
              <a:pPr algn="l"/>
              <a:r>
                <a:rPr lang="zh-CN" sz="1310" b="1" dirty="0">
                  <a:solidFill>
                    <a:srgbClr val="005A84"/>
                  </a:solidFill>
                  <a:latin typeface="Arial"/>
                  <a:ea typeface="Microsoft YaHei"/>
                  <a:cs typeface="Arial"/>
                </a:rPr>
                <a:t>情境问卷 + 事先提醒</a:t>
              </a:r>
            </a:p>
          </p:txBody>
        </p:sp>
        <p:sp>
          <p:nvSpPr>
            <p:cNvPr id="18" name="TextBox 18"/>
            <p:cNvSpPr txBox="1"/>
            <p:nvPr/>
          </p:nvSpPr>
          <p:spPr>
            <a:xfrm>
              <a:off x="2743087" y="2638234"/>
              <a:ext cx="2677001" cy="250031"/>
            </a:xfrm>
            <a:prstGeom prst="rect">
              <a:avLst/>
            </a:prstGeom>
            <a:noFill/>
            <a:ln>
              <a:noFill/>
            </a:ln>
          </p:spPr>
          <p:txBody>
            <a:bodyPr wrap="none" lIns="0" tIns="-48" rIns="0" bIns="0" anchor="t" anchorCtr="0">
              <a:noAutofit/>
            </a:bodyPr>
            <a:lstStyle/>
            <a:p>
              <a:pPr algn="l"/>
              <a:r>
                <a:rPr lang="zh-CN" altLang="en-US" sz="1310" dirty="0">
                  <a:solidFill>
                    <a:srgbClr val="202B33"/>
                  </a:solidFill>
                  <a:ea typeface="Microsoft YaHei"/>
                </a:rPr>
                <a:t>实验</a:t>
              </a:r>
              <a:r>
                <a:rPr lang="zh-CN" sz="1310" dirty="0">
                  <a:solidFill>
                    <a:srgbClr val="202B33"/>
                  </a:solidFill>
                  <a:latin typeface="Arial"/>
                  <a:ea typeface="Microsoft YaHei"/>
                  <a:cs typeface="Arial"/>
                </a:rPr>
                <a:t>选择可能不同于真实行为</a:t>
              </a:r>
            </a:p>
          </p:txBody>
        </p:sp>
        <p:sp>
          <p:nvSpPr>
            <p:cNvPr id="19" name="TextBox 19"/>
            <p:cNvSpPr txBox="1"/>
            <p:nvPr/>
          </p:nvSpPr>
          <p:spPr>
            <a:xfrm>
              <a:off x="5695950" y="2638234"/>
              <a:ext cx="1701832"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长期真实任务观察</a:t>
              </a:r>
            </a:p>
          </p:txBody>
        </p:sp>
        <p:sp>
          <p:nvSpPr>
            <p:cNvPr id="20" name="Rectangle 20"/>
            <p:cNvSpPr/>
            <p:nvPr/>
          </p:nvSpPr>
          <p:spPr>
            <a:xfrm>
              <a:off x="552450" y="2943225"/>
              <a:ext cx="8039100" cy="466725"/>
            </a:xfrm>
            <a:prstGeom prst="rect">
              <a:avLst/>
            </a:prstGeom>
            <a:solidFill>
              <a:srgbClr val="F0F5F6"/>
            </a:solidFill>
            <a:ln>
              <a:noFill/>
            </a:ln>
          </p:spPr>
        </p:sp>
        <p:sp>
          <p:nvSpPr>
            <p:cNvPr id="21" name="TextBox 21"/>
            <p:cNvSpPr txBox="1"/>
            <p:nvPr/>
          </p:nvSpPr>
          <p:spPr>
            <a:xfrm>
              <a:off x="666750" y="3104960"/>
              <a:ext cx="1506855" cy="250031"/>
            </a:xfrm>
            <a:prstGeom prst="rect">
              <a:avLst/>
            </a:prstGeom>
            <a:noFill/>
            <a:ln>
              <a:noFill/>
            </a:ln>
          </p:spPr>
          <p:txBody>
            <a:bodyPr wrap="none" lIns="0" tIns="-48" rIns="0" bIns="0" anchor="t" anchorCtr="0">
              <a:noAutofit/>
            </a:bodyPr>
            <a:lstStyle/>
            <a:p>
              <a:pPr algn="l"/>
              <a:r>
                <a:rPr lang="zh-CN" sz="1310" b="1" dirty="0">
                  <a:solidFill>
                    <a:srgbClr val="005A84"/>
                  </a:solidFill>
                  <a:latin typeface="Arial"/>
                  <a:ea typeface="Microsoft YaHei"/>
                  <a:cs typeface="Arial"/>
                </a:rPr>
                <a:t>只保留长期偏好</a:t>
              </a:r>
            </a:p>
          </p:txBody>
        </p:sp>
        <p:sp>
          <p:nvSpPr>
            <p:cNvPr id="22" name="TextBox 22"/>
            <p:cNvSpPr txBox="1"/>
            <p:nvPr/>
          </p:nvSpPr>
          <p:spPr>
            <a:xfrm>
              <a:off x="2743087" y="3104960"/>
              <a:ext cx="2481929"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偏好不稳定者可能代表不足</a:t>
              </a:r>
            </a:p>
          </p:txBody>
        </p:sp>
        <p:sp>
          <p:nvSpPr>
            <p:cNvPr id="23" name="TextBox 23"/>
            <p:cNvSpPr txBox="1"/>
            <p:nvPr/>
          </p:nvSpPr>
          <p:spPr>
            <a:xfrm>
              <a:off x="5695950" y="3104960"/>
              <a:ext cx="1896904"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一次授权与犹豫用户</a:t>
              </a:r>
            </a:p>
          </p:txBody>
        </p:sp>
        <p:sp>
          <p:nvSpPr>
            <p:cNvPr id="24" name="TextBox 24"/>
            <p:cNvSpPr txBox="1"/>
            <p:nvPr/>
          </p:nvSpPr>
          <p:spPr>
            <a:xfrm>
              <a:off x="666750" y="3571684"/>
              <a:ext cx="1506855" cy="250031"/>
            </a:xfrm>
            <a:prstGeom prst="rect">
              <a:avLst/>
            </a:prstGeom>
            <a:noFill/>
            <a:ln>
              <a:noFill/>
            </a:ln>
          </p:spPr>
          <p:txBody>
            <a:bodyPr wrap="none" lIns="0" tIns="-48" rIns="0" bIns="0" anchor="t" anchorCtr="0">
              <a:noAutofit/>
            </a:bodyPr>
            <a:lstStyle/>
            <a:p>
              <a:pPr algn="l"/>
              <a:r>
                <a:rPr lang="zh-CN" altLang="en-US" sz="1310" b="1" dirty="0">
                  <a:solidFill>
                    <a:srgbClr val="005A84"/>
                  </a:solidFill>
                  <a:latin typeface="Arial"/>
                  <a:ea typeface="Microsoft YaHei"/>
                  <a:cs typeface="Arial"/>
                </a:rPr>
                <a:t>数据评估</a:t>
              </a:r>
              <a:r>
                <a:rPr lang="zh-CN" sz="1310" b="1" dirty="0">
                  <a:solidFill>
                    <a:srgbClr val="005A84"/>
                  </a:solidFill>
                  <a:latin typeface="Arial"/>
                  <a:ea typeface="Microsoft YaHei"/>
                  <a:cs typeface="Arial"/>
                </a:rPr>
                <a:t>五折划分</a:t>
              </a:r>
            </a:p>
          </p:txBody>
        </p:sp>
        <p:sp>
          <p:nvSpPr>
            <p:cNvPr id="25" name="TextBox 25"/>
            <p:cNvSpPr txBox="1"/>
            <p:nvPr/>
          </p:nvSpPr>
          <p:spPr>
            <a:xfrm>
              <a:off x="2743087" y="3571684"/>
              <a:ext cx="2565273"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未单独证明新用户/工具泛化</a:t>
              </a:r>
            </a:p>
          </p:txBody>
        </p:sp>
        <p:sp>
          <p:nvSpPr>
            <p:cNvPr id="26" name="TextBox 26"/>
            <p:cNvSpPr txBox="1"/>
            <p:nvPr/>
          </p:nvSpPr>
          <p:spPr>
            <a:xfrm>
              <a:off x="5695950" y="3571684"/>
              <a:ext cx="1896904" cy="250031"/>
            </a:xfrm>
            <a:prstGeom prst="rect">
              <a:avLst/>
            </a:prstGeom>
            <a:noFill/>
            <a:ln>
              <a:noFill/>
            </a:ln>
          </p:spPr>
          <p:txBody>
            <a:bodyPr wrap="none" lIns="0" tIns="-48" rIns="0" bIns="0" anchor="t" anchorCtr="0">
              <a:noAutofit/>
            </a:bodyPr>
            <a:lstStyle/>
            <a:p>
              <a:pPr algn="l"/>
              <a:r>
                <a:rPr lang="zh-CN" sz="1310" dirty="0">
                  <a:solidFill>
                    <a:srgbClr val="202B33"/>
                  </a:solidFill>
                  <a:latin typeface="Arial"/>
                  <a:ea typeface="Microsoft YaHei"/>
                  <a:cs typeface="Arial"/>
                </a:rPr>
                <a:t>跨用户、跨工具外测</a:t>
              </a:r>
            </a:p>
          </p:txBody>
        </p:sp>
      </p:grpSp>
    </p:spTree>
    <p:extLst>
      <p:ext uri="{BB962C8B-B14F-4D97-AF65-F5344CB8AC3E}">
        <p14:creationId xmlns:p14="http://schemas.microsoft.com/office/powerpoint/2010/main" val="995610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B77BAD8F-CD78-8BDD-D711-3208A946ACC1}"/>
            </a:ext>
          </a:extLst>
        </p:cNvPr>
        <p:cNvGrpSpPr/>
        <p:nvPr/>
      </p:nvGrpSpPr>
      <p:grpSpPr>
        <a:xfrm>
          <a:off x="0" y="0"/>
          <a:ext cx="0" cy="0"/>
          <a:chOff x="0" y="0"/>
          <a:chExt cx="0" cy="0"/>
        </a:xfrm>
      </p:grpSpPr>
      <p:grpSp>
        <p:nvGrpSpPr>
          <p:cNvPr id="5" name="Group 5"/>
          <p:cNvGrpSpPr/>
          <p:nvPr/>
        </p:nvGrpSpPr>
        <p:grpSpPr>
          <a:xfrm>
            <a:off x="486524" y="392430"/>
            <a:ext cx="5935599" cy="971888"/>
            <a:chOff x="486524" y="392430"/>
            <a:chExt cx="5935599" cy="971888"/>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05</a:t>
              </a:r>
            </a:p>
          </p:txBody>
        </p:sp>
        <p:sp>
          <p:nvSpPr>
            <p:cNvPr id="3" name="TextBox 3"/>
            <p:cNvSpPr txBox="1"/>
            <p:nvPr/>
          </p:nvSpPr>
          <p:spPr>
            <a:xfrm>
              <a:off x="1219200" y="392430"/>
              <a:ext cx="3659124"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局限二：</a:t>
              </a:r>
              <a:r>
                <a:rPr lang="zh-CN" altLang="en-US" sz="2100" b="1" dirty="0">
                  <a:solidFill>
                    <a:srgbClr val="202B33"/>
                  </a:solidFill>
                  <a:latin typeface="Arial"/>
                  <a:ea typeface="Microsoft YaHei"/>
                  <a:cs typeface="Arial"/>
                </a:rPr>
                <a:t>高置信度</a:t>
              </a:r>
              <a:r>
                <a:rPr lang="zh-CN" sz="2100" b="1" dirty="0">
                  <a:solidFill>
                    <a:srgbClr val="202B33"/>
                  </a:solidFill>
                  <a:latin typeface="Arial"/>
                  <a:ea typeface="Microsoft YaHei"/>
                  <a:cs typeface="Arial"/>
                </a:rPr>
                <a:t>不等于安全</a:t>
              </a:r>
            </a:p>
          </p:txBody>
        </p:sp>
        <p:sp>
          <p:nvSpPr>
            <p:cNvPr id="4" name="TextBox 4"/>
            <p:cNvSpPr txBox="1"/>
            <p:nvPr/>
          </p:nvSpPr>
          <p:spPr>
            <a:xfrm>
              <a:off x="486524" y="978555"/>
              <a:ext cx="5935599" cy="385763"/>
            </a:xfrm>
            <a:prstGeom prst="rect">
              <a:avLst/>
            </a:prstGeom>
            <a:noFill/>
            <a:ln>
              <a:noFill/>
            </a:ln>
          </p:spPr>
          <p:txBody>
            <a:bodyPr wrap="none" lIns="0" tIns="0" rIns="0" bIns="0" anchor="t" anchorCtr="0">
              <a:noAutofit/>
            </a:bodyPr>
            <a:lstStyle/>
            <a:p>
              <a:pPr algn="l"/>
              <a:r>
                <a:rPr lang="zh-CN" altLang="en-US" sz="1800" b="1" dirty="0">
                  <a:solidFill>
                    <a:srgbClr val="005A84"/>
                  </a:solidFill>
                  <a:latin typeface="Arial"/>
                  <a:ea typeface="Microsoft YaHei"/>
                  <a:cs typeface="Arial"/>
                </a:rPr>
                <a:t>高置信度下仍有错误预测案例，实际部署前需要评估风险</a:t>
              </a:r>
              <a:endParaRPr lang="zh-CN" sz="1800" b="1" dirty="0">
                <a:solidFill>
                  <a:srgbClr val="005A84"/>
                </a:solidFill>
                <a:latin typeface="Arial"/>
                <a:ea typeface="Microsoft YaHei"/>
                <a:cs typeface="Arial"/>
              </a:endParaRPr>
            </a:p>
          </p:txBody>
        </p:sp>
      </p:grpSp>
      <p:grpSp>
        <p:nvGrpSpPr>
          <p:cNvPr id="15" name="Group 15"/>
          <p:cNvGrpSpPr/>
          <p:nvPr/>
        </p:nvGrpSpPr>
        <p:grpSpPr>
          <a:xfrm>
            <a:off x="552450" y="1695450"/>
            <a:ext cx="8039100" cy="2247900"/>
            <a:chOff x="552450" y="1695450"/>
            <a:chExt cx="8039100" cy="2247900"/>
          </a:xfrm>
        </p:grpSpPr>
        <p:sp>
          <p:nvSpPr>
            <p:cNvPr id="9" name="Rectangle 9"/>
            <p:cNvSpPr/>
            <p:nvPr/>
          </p:nvSpPr>
          <p:spPr>
            <a:xfrm>
              <a:off x="552450" y="1695450"/>
              <a:ext cx="3790950" cy="2247900"/>
            </a:xfrm>
            <a:prstGeom prst="rect">
              <a:avLst/>
            </a:prstGeom>
            <a:solidFill>
              <a:srgbClr val="F0F5F6"/>
            </a:solidFill>
            <a:ln>
              <a:noFill/>
            </a:ln>
          </p:spPr>
        </p:sp>
        <p:sp>
          <p:nvSpPr>
            <p:cNvPr id="10" name="TextBox 10"/>
            <p:cNvSpPr txBox="1"/>
            <p:nvPr/>
          </p:nvSpPr>
          <p:spPr>
            <a:xfrm>
              <a:off x="715124" y="1906502"/>
              <a:ext cx="1724120"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论文</a:t>
              </a:r>
              <a:r>
                <a:rPr lang="zh-CN" altLang="en-US" sz="1720" b="1" dirty="0">
                  <a:solidFill>
                    <a:srgbClr val="005A84"/>
                  </a:solidFill>
                  <a:latin typeface="Arial"/>
                  <a:ea typeface="Microsoft YaHei"/>
                  <a:cs typeface="Arial"/>
                </a:rPr>
                <a:t>已有工作</a:t>
              </a:r>
              <a:endParaRPr lang="zh-CN" sz="1720" b="1" dirty="0">
                <a:solidFill>
                  <a:srgbClr val="005A84"/>
                </a:solidFill>
                <a:latin typeface="Arial"/>
                <a:ea typeface="Microsoft YaHei"/>
                <a:cs typeface="Arial"/>
              </a:endParaRPr>
            </a:p>
          </p:txBody>
        </p:sp>
        <p:sp>
          <p:nvSpPr>
            <p:cNvPr id="11" name="TextBox 11"/>
            <p:cNvSpPr txBox="1"/>
            <p:nvPr/>
          </p:nvSpPr>
          <p:spPr>
            <a:xfrm>
              <a:off x="704850" y="2379013"/>
              <a:ext cx="2295049" cy="1188148"/>
            </a:xfrm>
            <a:prstGeom prst="rect">
              <a:avLst/>
            </a:prstGeom>
            <a:noFill/>
            <a:ln>
              <a:noFill/>
            </a:ln>
          </p:spPr>
          <p:txBody>
            <a:bodyPr wrap="none" lIns="0" tIns="0" rIns="0" bIns="0" anchor="t" anchorCtr="0">
              <a:noAutofit/>
            </a:bodyPr>
            <a:lstStyle/>
            <a:p>
              <a:pPr marL="285750" indent="-285750" algn="l">
                <a:lnSpc>
                  <a:spcPts val="2331"/>
                </a:lnSpc>
                <a:buFont typeface="Wingdings" panose="05000000000000000000" pitchFamily="2" charset="2"/>
                <a:buChar char="l"/>
              </a:pPr>
              <a:r>
                <a:rPr lang="zh-CN" dirty="0">
                  <a:solidFill>
                    <a:srgbClr val="202B33"/>
                  </a:solidFill>
                  <a:latin typeface="Arial"/>
                  <a:ea typeface="Microsoft YaHei"/>
                  <a:cs typeface="Arial"/>
                </a:rPr>
                <a:t>用户研究与偏好规律</a:t>
              </a:r>
              <a:endParaRPr lang="en-US" altLang="zh-CN" dirty="0">
                <a:solidFill>
                  <a:srgbClr val="202B33"/>
                </a:solidFill>
                <a:latin typeface="Arial"/>
                <a:ea typeface="Microsoft YaHei"/>
                <a:cs typeface="Arial"/>
              </a:endParaRPr>
            </a:p>
            <a:p>
              <a:pPr marL="285750" indent="-285750" algn="l">
                <a:lnSpc>
                  <a:spcPts val="2331"/>
                </a:lnSpc>
                <a:buFont typeface="Wingdings" panose="05000000000000000000" pitchFamily="2" charset="2"/>
                <a:buChar char="l"/>
              </a:pPr>
              <a:r>
                <a:rPr lang="zh-CN" dirty="0">
                  <a:solidFill>
                    <a:srgbClr val="202B33"/>
                  </a:solidFill>
                  <a:latin typeface="Arial"/>
                  <a:ea typeface="Microsoft YaHei"/>
                  <a:cs typeface="Arial"/>
                </a:rPr>
                <a:t>个性化权限预测</a:t>
              </a:r>
              <a:r>
                <a:rPr lang="zh-CN" altLang="en-US" dirty="0">
                  <a:solidFill>
                    <a:srgbClr val="202B33"/>
                  </a:solidFill>
                  <a:ea typeface="Microsoft YaHei"/>
                </a:rPr>
                <a:t>方法</a:t>
              </a:r>
              <a:endParaRPr lang="en-US" altLang="zh-CN" dirty="0">
                <a:solidFill>
                  <a:srgbClr val="202B33"/>
                </a:solidFill>
                <a:ea typeface="Microsoft YaHei"/>
              </a:endParaRPr>
            </a:p>
            <a:p>
              <a:pPr marL="285750" indent="-285750" algn="l">
                <a:lnSpc>
                  <a:spcPts val="2331"/>
                </a:lnSpc>
                <a:buFont typeface="Wingdings" panose="05000000000000000000" pitchFamily="2" charset="2"/>
                <a:buChar char="l"/>
              </a:pPr>
              <a:r>
                <a:rPr lang="zh-CN" dirty="0">
                  <a:solidFill>
                    <a:srgbClr val="202B33"/>
                  </a:solidFill>
                  <a:latin typeface="Arial"/>
                  <a:ea typeface="Microsoft YaHei"/>
                  <a:cs typeface="Arial"/>
                </a:rPr>
                <a:t>准确率—覆盖率权衡</a:t>
              </a:r>
              <a:r>
                <a:rPr lang="zh-CN" altLang="en-US" dirty="0">
                  <a:solidFill>
                    <a:srgbClr val="202B33"/>
                  </a:solidFill>
                  <a:latin typeface="Arial"/>
                  <a:ea typeface="Microsoft YaHei"/>
                  <a:cs typeface="Arial"/>
                </a:rPr>
                <a:t>评估</a:t>
              </a:r>
              <a:endParaRPr lang="en-US" altLang="zh-CN" dirty="0">
                <a:solidFill>
                  <a:srgbClr val="202B33"/>
                </a:solidFill>
                <a:latin typeface="Arial"/>
                <a:ea typeface="Microsoft YaHei"/>
                <a:cs typeface="Arial"/>
              </a:endParaRPr>
            </a:p>
            <a:p>
              <a:pPr marL="285750" indent="-285750" algn="l">
                <a:lnSpc>
                  <a:spcPts val="2331"/>
                </a:lnSpc>
                <a:buFont typeface="Wingdings" panose="05000000000000000000" pitchFamily="2" charset="2"/>
                <a:buChar char="l"/>
              </a:pPr>
              <a:r>
                <a:rPr lang="zh-CN" dirty="0">
                  <a:solidFill>
                    <a:srgbClr val="202B33"/>
                  </a:solidFill>
                  <a:latin typeface="Arial"/>
                  <a:ea typeface="Microsoft YaHei"/>
                  <a:cs typeface="Arial"/>
                </a:rPr>
                <a:t>误差模式分析</a:t>
              </a:r>
            </a:p>
          </p:txBody>
        </p:sp>
        <p:sp>
          <p:nvSpPr>
            <p:cNvPr id="12" name="Rectangle 12"/>
            <p:cNvSpPr/>
            <p:nvPr/>
          </p:nvSpPr>
          <p:spPr>
            <a:xfrm>
              <a:off x="4686300" y="1695450"/>
              <a:ext cx="3905250" cy="2247900"/>
            </a:xfrm>
            <a:prstGeom prst="rect">
              <a:avLst/>
            </a:prstGeom>
            <a:solidFill>
              <a:srgbClr val="E5F2ED"/>
            </a:solidFill>
            <a:ln>
              <a:noFill/>
            </a:ln>
          </p:spPr>
        </p:sp>
        <p:sp>
          <p:nvSpPr>
            <p:cNvPr id="13" name="TextBox 13"/>
            <p:cNvSpPr txBox="1"/>
            <p:nvPr/>
          </p:nvSpPr>
          <p:spPr>
            <a:xfrm>
              <a:off x="4848974" y="1906502"/>
              <a:ext cx="2236756" cy="328612"/>
            </a:xfrm>
            <a:prstGeom prst="rect">
              <a:avLst/>
            </a:prstGeom>
            <a:noFill/>
            <a:ln>
              <a:noFill/>
            </a:ln>
          </p:spPr>
          <p:txBody>
            <a:bodyPr wrap="none" lIns="0" tIns="0" rIns="0" bIns="0" anchor="t" anchorCtr="0">
              <a:noAutofit/>
            </a:bodyPr>
            <a:lstStyle/>
            <a:p>
              <a:pPr algn="l"/>
              <a:r>
                <a:rPr lang="zh-CN" altLang="en-US" sz="1720" b="1" dirty="0">
                  <a:solidFill>
                    <a:srgbClr val="16735C"/>
                  </a:solidFill>
                  <a:ea typeface="Microsoft YaHei"/>
                </a:rPr>
                <a:t>实际部署还需要</a:t>
              </a:r>
              <a:endParaRPr lang="zh-CN" sz="1720" b="1" dirty="0">
                <a:solidFill>
                  <a:srgbClr val="16735C"/>
                </a:solidFill>
                <a:latin typeface="Arial"/>
                <a:ea typeface="Microsoft YaHei"/>
                <a:cs typeface="Arial"/>
              </a:endParaRPr>
            </a:p>
          </p:txBody>
        </p:sp>
        <p:sp>
          <p:nvSpPr>
            <p:cNvPr id="14" name="TextBox 14"/>
            <p:cNvSpPr txBox="1"/>
            <p:nvPr/>
          </p:nvSpPr>
          <p:spPr>
            <a:xfrm>
              <a:off x="4848974" y="2379013"/>
              <a:ext cx="2978372" cy="1188148"/>
            </a:xfrm>
            <a:prstGeom prst="rect">
              <a:avLst/>
            </a:prstGeom>
            <a:noFill/>
            <a:ln>
              <a:noFill/>
            </a:ln>
          </p:spPr>
          <p:txBody>
            <a:bodyPr wrap="none" lIns="0" tIns="0" rIns="0" bIns="0" anchor="t" anchorCtr="0">
              <a:noAutofit/>
            </a:bodyPr>
            <a:lstStyle/>
            <a:p>
              <a:pPr marL="285750" indent="-285750" algn="l">
                <a:lnSpc>
                  <a:spcPts val="2331"/>
                </a:lnSpc>
                <a:buFont typeface="Wingdings" panose="05000000000000000000" pitchFamily="2" charset="2"/>
                <a:buChar char="n"/>
              </a:pPr>
              <a:r>
                <a:rPr lang="zh-CN" altLang="en-US" dirty="0">
                  <a:solidFill>
                    <a:srgbClr val="202B33"/>
                  </a:solidFill>
                  <a:ea typeface="Microsoft YaHei"/>
                </a:rPr>
                <a:t>实际系统的权限控制与拦截工具</a:t>
              </a:r>
              <a:endParaRPr lang="en-US" altLang="zh-CN" dirty="0">
                <a:solidFill>
                  <a:srgbClr val="202B33"/>
                </a:solidFill>
                <a:ea typeface="Microsoft YaHei"/>
              </a:endParaRPr>
            </a:p>
            <a:p>
              <a:pPr marL="285750" indent="-285750" algn="l">
                <a:lnSpc>
                  <a:spcPts val="2331"/>
                </a:lnSpc>
                <a:buFont typeface="Wingdings" panose="05000000000000000000" pitchFamily="2" charset="2"/>
                <a:buChar char="n"/>
              </a:pPr>
              <a:r>
                <a:rPr lang="zh-CN" dirty="0">
                  <a:solidFill>
                    <a:srgbClr val="202B33"/>
                  </a:solidFill>
                  <a:latin typeface="Arial"/>
                  <a:ea typeface="Microsoft YaHei"/>
                  <a:cs typeface="Arial"/>
                </a:rPr>
                <a:t>提示注入下的端到端防御</a:t>
              </a:r>
              <a:r>
                <a:rPr lang="zh-CN" altLang="en-US" dirty="0">
                  <a:solidFill>
                    <a:srgbClr val="202B33"/>
                  </a:solidFill>
                  <a:latin typeface="Arial"/>
                  <a:ea typeface="Microsoft YaHei"/>
                  <a:cs typeface="Arial"/>
                </a:rPr>
                <a:t>策略</a:t>
              </a:r>
              <a:endParaRPr lang="en-US" altLang="zh-CN" dirty="0">
                <a:solidFill>
                  <a:srgbClr val="202B33"/>
                </a:solidFill>
                <a:latin typeface="Arial"/>
                <a:ea typeface="Microsoft YaHei"/>
                <a:cs typeface="Arial"/>
              </a:endParaRPr>
            </a:p>
            <a:p>
              <a:pPr marL="285750" indent="-285750" algn="l">
                <a:lnSpc>
                  <a:spcPts val="2331"/>
                </a:lnSpc>
                <a:buFont typeface="Wingdings" panose="05000000000000000000" pitchFamily="2" charset="2"/>
                <a:buChar char="n"/>
              </a:pPr>
              <a:r>
                <a:rPr lang="zh-CN" dirty="0">
                  <a:solidFill>
                    <a:srgbClr val="202B33"/>
                  </a:solidFill>
                  <a:latin typeface="Arial"/>
                  <a:ea typeface="Microsoft YaHei"/>
                  <a:cs typeface="Arial"/>
                </a:rPr>
                <a:t>置信度校准与风险阈值</a:t>
              </a:r>
              <a:r>
                <a:rPr lang="zh-CN" altLang="en-US" dirty="0">
                  <a:solidFill>
                    <a:srgbClr val="202B33"/>
                  </a:solidFill>
                  <a:latin typeface="Arial"/>
                  <a:ea typeface="Microsoft YaHei"/>
                  <a:cs typeface="Arial"/>
                </a:rPr>
                <a:t>评估</a:t>
              </a:r>
              <a:endParaRPr lang="en-US" altLang="zh-CN" dirty="0">
                <a:solidFill>
                  <a:srgbClr val="202B33"/>
                </a:solidFill>
                <a:latin typeface="Arial"/>
                <a:ea typeface="Microsoft YaHei"/>
                <a:cs typeface="Arial"/>
              </a:endParaRPr>
            </a:p>
            <a:p>
              <a:pPr marL="285750" indent="-285750" algn="l">
                <a:lnSpc>
                  <a:spcPts val="2331"/>
                </a:lnSpc>
                <a:buFont typeface="Wingdings" panose="05000000000000000000" pitchFamily="2" charset="2"/>
                <a:buChar char="n"/>
              </a:pPr>
              <a:r>
                <a:rPr lang="zh-CN" dirty="0">
                  <a:solidFill>
                    <a:srgbClr val="202B33"/>
                  </a:solidFill>
                  <a:latin typeface="Arial"/>
                  <a:ea typeface="Microsoft YaHei"/>
                  <a:cs typeface="Arial"/>
                </a:rPr>
                <a:t>长期反馈、</a:t>
              </a:r>
              <a:r>
                <a:rPr lang="zh-CN" altLang="en-US" dirty="0">
                  <a:solidFill>
                    <a:srgbClr val="202B33"/>
                  </a:solidFill>
                  <a:latin typeface="Arial"/>
                  <a:ea typeface="Microsoft YaHei"/>
                  <a:cs typeface="Arial"/>
                </a:rPr>
                <a:t>权限</a:t>
              </a:r>
              <a:r>
                <a:rPr lang="zh-CN" dirty="0">
                  <a:solidFill>
                    <a:srgbClr val="202B33"/>
                  </a:solidFill>
                  <a:latin typeface="Arial"/>
                  <a:ea typeface="Microsoft YaHei"/>
                  <a:cs typeface="Arial"/>
                </a:rPr>
                <a:t>撤销与偏好变化</a:t>
              </a:r>
            </a:p>
          </p:txBody>
        </p:sp>
      </p:grpSp>
      <p:grpSp>
        <p:nvGrpSpPr>
          <p:cNvPr id="19" name="Group 19"/>
          <p:cNvGrpSpPr/>
          <p:nvPr/>
        </p:nvGrpSpPr>
        <p:grpSpPr>
          <a:xfrm>
            <a:off x="476250" y="4229100"/>
            <a:ext cx="8191500" cy="504825"/>
            <a:chOff x="476250" y="4229100"/>
            <a:chExt cx="8191500" cy="504825"/>
          </a:xfrm>
        </p:grpSpPr>
        <p:sp>
          <p:nvSpPr>
            <p:cNvPr id="16" name="Rectangle 16"/>
            <p:cNvSpPr/>
            <p:nvPr/>
          </p:nvSpPr>
          <p:spPr>
            <a:xfrm>
              <a:off x="476250" y="4229100"/>
              <a:ext cx="8191500" cy="504825"/>
            </a:xfrm>
            <a:prstGeom prst="rect">
              <a:avLst/>
            </a:prstGeom>
            <a:solidFill>
              <a:srgbClr val="F0F5F6"/>
            </a:solidFill>
            <a:ln>
              <a:noFill/>
            </a:ln>
          </p:spPr>
        </p:sp>
        <p:sp>
          <p:nvSpPr>
            <p:cNvPr id="17" name="Rectangle 17"/>
            <p:cNvSpPr/>
            <p:nvPr/>
          </p:nvSpPr>
          <p:spPr>
            <a:xfrm>
              <a:off x="476250" y="4229100"/>
              <a:ext cx="38100" cy="504825"/>
            </a:xfrm>
            <a:prstGeom prst="rect">
              <a:avLst/>
            </a:prstGeom>
            <a:solidFill>
              <a:srgbClr val="16735C"/>
            </a:solidFill>
            <a:ln>
              <a:noFill/>
            </a:ln>
          </p:spPr>
        </p:sp>
        <p:sp>
          <p:nvSpPr>
            <p:cNvPr id="18" name="TextBox 18"/>
            <p:cNvSpPr txBox="1"/>
            <p:nvPr/>
          </p:nvSpPr>
          <p:spPr>
            <a:xfrm>
              <a:off x="609600" y="4408646"/>
              <a:ext cx="6717792"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用户偏好</a:t>
              </a:r>
              <a:r>
                <a:rPr lang="zh-CN" altLang="en-US" sz="1420" b="1" dirty="0">
                  <a:solidFill>
                    <a:srgbClr val="16735C"/>
                  </a:solidFill>
                  <a:latin typeface="Arial"/>
                  <a:ea typeface="Microsoft YaHei"/>
                  <a:cs typeface="Arial"/>
                </a:rPr>
                <a:t>研究与预测</a:t>
              </a:r>
              <a:r>
                <a:rPr lang="zh-CN" sz="1420" b="1" dirty="0">
                  <a:solidFill>
                    <a:srgbClr val="16735C"/>
                  </a:solidFill>
                  <a:latin typeface="Arial"/>
                  <a:ea typeface="Microsoft YaHei"/>
                  <a:cs typeface="Arial"/>
                </a:rPr>
                <a:t>只是</a:t>
              </a:r>
              <a:r>
                <a:rPr lang="zh-CN" altLang="en-US" sz="1420" b="1" dirty="0">
                  <a:solidFill>
                    <a:srgbClr val="16735C"/>
                  </a:solidFill>
                  <a:latin typeface="Arial"/>
                  <a:ea typeface="Microsoft YaHei"/>
                  <a:cs typeface="Arial"/>
                </a:rPr>
                <a:t>初步工作</a:t>
              </a:r>
              <a:r>
                <a:rPr lang="zh-CN" sz="1420" b="1" dirty="0">
                  <a:solidFill>
                    <a:srgbClr val="16735C"/>
                  </a:solidFill>
                  <a:latin typeface="Arial"/>
                  <a:ea typeface="Microsoft YaHei"/>
                  <a:cs typeface="Arial"/>
                </a:rPr>
                <a:t>；</a:t>
              </a:r>
              <a:r>
                <a:rPr lang="zh-CN" altLang="en-US" sz="1420" b="1" dirty="0">
                  <a:solidFill>
                    <a:srgbClr val="16735C"/>
                  </a:solidFill>
                  <a:latin typeface="Arial"/>
                  <a:ea typeface="Microsoft YaHei"/>
                  <a:cs typeface="Arial"/>
                </a:rPr>
                <a:t>实际部署</a:t>
              </a:r>
              <a:r>
                <a:rPr lang="zh-CN" sz="1420" b="1" dirty="0">
                  <a:solidFill>
                    <a:srgbClr val="16735C"/>
                  </a:solidFill>
                  <a:latin typeface="Arial"/>
                  <a:ea typeface="Microsoft YaHei"/>
                  <a:cs typeface="Arial"/>
                </a:rPr>
                <a:t>还需要</a:t>
              </a:r>
              <a:r>
                <a:rPr lang="zh-CN" altLang="en-US" sz="1420" b="1" dirty="0">
                  <a:solidFill>
                    <a:srgbClr val="16735C"/>
                  </a:solidFill>
                  <a:latin typeface="Arial"/>
                  <a:ea typeface="Microsoft YaHei"/>
                  <a:cs typeface="Arial"/>
                </a:rPr>
                <a:t>权限</a:t>
              </a:r>
              <a:r>
                <a:rPr lang="zh-CN" sz="1420" b="1" dirty="0">
                  <a:solidFill>
                    <a:srgbClr val="16735C"/>
                  </a:solidFill>
                  <a:latin typeface="Arial"/>
                  <a:ea typeface="Microsoft YaHei"/>
                  <a:cs typeface="Arial"/>
                </a:rPr>
                <a:t>执行</a:t>
              </a:r>
              <a:r>
                <a:rPr lang="zh-CN" altLang="en-US" sz="1420" b="1" dirty="0">
                  <a:solidFill>
                    <a:srgbClr val="16735C"/>
                  </a:solidFill>
                  <a:latin typeface="Arial"/>
                  <a:ea typeface="Microsoft YaHei"/>
                  <a:cs typeface="Arial"/>
                </a:rPr>
                <a:t>工具、</a:t>
              </a:r>
              <a:r>
                <a:rPr lang="zh-CN" sz="1420" b="1" dirty="0">
                  <a:solidFill>
                    <a:srgbClr val="16735C"/>
                  </a:solidFill>
                  <a:latin typeface="Arial"/>
                  <a:ea typeface="Microsoft YaHei"/>
                  <a:cs typeface="Arial"/>
                </a:rPr>
                <a:t>人工控制</a:t>
              </a:r>
              <a:r>
                <a:rPr lang="zh-CN" altLang="en-US" sz="1420" b="1" dirty="0">
                  <a:solidFill>
                    <a:srgbClr val="16735C"/>
                  </a:solidFill>
                  <a:ea typeface="Microsoft YaHei"/>
                </a:rPr>
                <a:t>和</a:t>
              </a:r>
              <a:r>
                <a:rPr lang="zh-CN" altLang="en-US" sz="1420" b="1" dirty="0">
                  <a:solidFill>
                    <a:srgbClr val="16735C"/>
                  </a:solidFill>
                  <a:latin typeface="Arial"/>
                  <a:ea typeface="Microsoft YaHei"/>
                  <a:cs typeface="Arial"/>
                </a:rPr>
                <a:t>长期反馈</a:t>
              </a:r>
              <a:r>
                <a:rPr lang="zh-CN" sz="1420" b="1" dirty="0">
                  <a:solidFill>
                    <a:srgbClr val="16735C"/>
                  </a:solidFill>
                  <a:latin typeface="Arial"/>
                  <a:ea typeface="Microsoft YaHei"/>
                  <a:cs typeface="Arial"/>
                </a:rPr>
                <a:t>。</a:t>
              </a:r>
            </a:p>
          </p:txBody>
        </p:sp>
      </p:grpSp>
    </p:spTree>
    <p:extLst>
      <p:ext uri="{BB962C8B-B14F-4D97-AF65-F5344CB8AC3E}">
        <p14:creationId xmlns:p14="http://schemas.microsoft.com/office/powerpoint/2010/main" val="995610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B77BAD8F-CD78-8BDD-D711-3208A946ACC1}"/>
            </a:ext>
          </a:extLst>
        </p:cNvPr>
        <p:cNvGrpSpPr/>
        <p:nvPr/>
      </p:nvGrpSpPr>
      <p:grpSpPr>
        <a:xfrm>
          <a:off x="0" y="0"/>
          <a:ext cx="0" cy="0"/>
          <a:chOff x="0" y="0"/>
          <a:chExt cx="0" cy="0"/>
        </a:xfrm>
      </p:grpSpPr>
      <p:grpSp>
        <p:nvGrpSpPr>
          <p:cNvPr id="5" name="Group 5"/>
          <p:cNvGrpSpPr/>
          <p:nvPr/>
        </p:nvGrpSpPr>
        <p:grpSpPr>
          <a:xfrm>
            <a:off x="476250" y="392430"/>
            <a:ext cx="5935599" cy="1012984"/>
            <a:chOff x="476250" y="392430"/>
            <a:chExt cx="5935599" cy="1012984"/>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dirty="0">
                  <a:solidFill>
                    <a:srgbClr val="4D7870"/>
                  </a:solidFill>
                  <a:latin typeface="Arial"/>
                  <a:ea typeface="Arial"/>
                  <a:cs typeface="Arial"/>
                </a:rPr>
                <a:t>05</a:t>
              </a:r>
            </a:p>
          </p:txBody>
        </p:sp>
        <p:sp>
          <p:nvSpPr>
            <p:cNvPr id="3" name="TextBox 3"/>
            <p:cNvSpPr txBox="1"/>
            <p:nvPr/>
          </p:nvSpPr>
          <p:spPr>
            <a:xfrm>
              <a:off x="1219200" y="392430"/>
              <a:ext cx="1786890" cy="400050"/>
            </a:xfrm>
            <a:prstGeom prst="rect">
              <a:avLst/>
            </a:prstGeom>
            <a:noFill/>
            <a:ln>
              <a:noFill/>
            </a:ln>
          </p:spPr>
          <p:txBody>
            <a:bodyPr wrap="none" lIns="0" tIns="0" rIns="0" bIns="0" anchor="t" anchorCtr="0">
              <a:noAutofit/>
            </a:bodyPr>
            <a:lstStyle/>
            <a:p>
              <a:pPr algn="l"/>
              <a:r>
                <a:rPr lang="zh-CN" sz="2100" b="1" dirty="0">
                  <a:solidFill>
                    <a:srgbClr val="202B33"/>
                  </a:solidFill>
                  <a:latin typeface="Arial"/>
                  <a:ea typeface="Microsoft YaHei"/>
                  <a:cs typeface="Arial"/>
                </a:rPr>
                <a:t>结论与评价</a:t>
              </a:r>
            </a:p>
          </p:txBody>
        </p:sp>
        <p:sp>
          <p:nvSpPr>
            <p:cNvPr id="4" name="TextBox 4"/>
            <p:cNvSpPr txBox="1"/>
            <p:nvPr/>
          </p:nvSpPr>
          <p:spPr>
            <a:xfrm>
              <a:off x="476250" y="1019651"/>
              <a:ext cx="5935599" cy="385763"/>
            </a:xfrm>
            <a:prstGeom prst="rect">
              <a:avLst/>
            </a:prstGeom>
            <a:noFill/>
            <a:ln>
              <a:noFill/>
            </a:ln>
          </p:spPr>
          <p:txBody>
            <a:bodyPr wrap="none" lIns="0" tIns="0" rIns="0" bIns="0" anchor="t" anchorCtr="0">
              <a:noAutofit/>
            </a:bodyPr>
            <a:lstStyle/>
            <a:p>
              <a:pPr algn="l"/>
              <a:r>
                <a:rPr lang="zh-CN" altLang="en-US" sz="1800" b="1" dirty="0">
                  <a:solidFill>
                    <a:srgbClr val="005A84"/>
                  </a:solidFill>
                  <a:latin typeface="Arial"/>
                  <a:ea typeface="Microsoft YaHei"/>
                  <a:cs typeface="Arial"/>
                </a:rPr>
                <a:t>论文</a:t>
              </a:r>
              <a:r>
                <a:rPr lang="zh-CN" sz="1800" b="1" dirty="0">
                  <a:solidFill>
                    <a:srgbClr val="005A84"/>
                  </a:solidFill>
                  <a:latin typeface="Arial"/>
                  <a:ea typeface="Microsoft YaHei"/>
                  <a:cs typeface="Arial"/>
                </a:rPr>
                <a:t>贡献在于证明</a:t>
              </a:r>
              <a:r>
                <a:rPr lang="zh-CN" altLang="en-US" sz="1800" b="1" dirty="0">
                  <a:solidFill>
                    <a:srgbClr val="005A84"/>
                  </a:solidFill>
                  <a:ea typeface="Microsoft YaHei"/>
                </a:rPr>
                <a:t>权限自动化</a:t>
              </a:r>
              <a:r>
                <a:rPr lang="zh-CN" sz="1800" b="1" dirty="0">
                  <a:solidFill>
                    <a:srgbClr val="005A84"/>
                  </a:solidFill>
                  <a:latin typeface="Arial"/>
                  <a:ea typeface="Microsoft YaHei"/>
                  <a:cs typeface="Arial"/>
                </a:rPr>
                <a:t>可行性，明确</a:t>
              </a:r>
              <a:r>
                <a:rPr lang="zh-CN" altLang="en-US" sz="1800" b="1" dirty="0">
                  <a:solidFill>
                    <a:srgbClr val="005A84"/>
                  </a:solidFill>
                  <a:latin typeface="Arial"/>
                  <a:ea typeface="Microsoft YaHei"/>
                  <a:cs typeface="Arial"/>
                </a:rPr>
                <a:t>了</a:t>
              </a:r>
              <a:r>
                <a:rPr lang="zh-CN" sz="1800" b="1" dirty="0">
                  <a:solidFill>
                    <a:srgbClr val="005A84"/>
                  </a:solidFill>
                  <a:latin typeface="Arial"/>
                  <a:ea typeface="Microsoft YaHei"/>
                  <a:cs typeface="Arial"/>
                </a:rPr>
                <a:t>下一步</a:t>
              </a:r>
              <a:r>
                <a:rPr lang="zh-CN" altLang="en-US" sz="1800" b="1" dirty="0">
                  <a:solidFill>
                    <a:srgbClr val="005A84"/>
                  </a:solidFill>
                  <a:latin typeface="Arial"/>
                  <a:ea typeface="Microsoft YaHei"/>
                  <a:cs typeface="Arial"/>
                </a:rPr>
                <a:t>工作</a:t>
              </a:r>
              <a:endParaRPr lang="zh-CN" sz="1800" b="1" dirty="0">
                <a:solidFill>
                  <a:srgbClr val="005A84"/>
                </a:solidFill>
                <a:latin typeface="Arial"/>
                <a:ea typeface="Microsoft YaHei"/>
                <a:cs typeface="Arial"/>
              </a:endParaRPr>
            </a:p>
          </p:txBody>
        </p:sp>
      </p:grpSp>
      <p:sp>
        <p:nvSpPr>
          <p:cNvPr id="7" name="TextBox 7"/>
          <p:cNvSpPr txBox="1"/>
          <p:nvPr/>
        </p:nvSpPr>
        <p:spPr>
          <a:xfrm>
            <a:off x="8139684" y="4855845"/>
            <a:ext cx="547116" cy="171450"/>
          </a:xfrm>
          <a:prstGeom prst="rect">
            <a:avLst/>
          </a:prstGeom>
          <a:noFill/>
          <a:ln>
            <a:noFill/>
          </a:ln>
        </p:spPr>
        <p:txBody>
          <a:bodyPr wrap="none" lIns="0" tIns="0" rIns="0" bIns="0" anchor="t" anchorCtr="0">
            <a:noAutofit/>
          </a:bodyPr>
          <a:lstStyle/>
          <a:p>
            <a:pPr algn="r"/>
            <a:endParaRPr lang="en-US" sz="900" dirty="0">
              <a:solidFill>
                <a:srgbClr val="5C6B73"/>
              </a:solidFill>
              <a:latin typeface="Arial"/>
              <a:ea typeface="Arial"/>
              <a:cs typeface="Arial"/>
            </a:endParaRPr>
          </a:p>
        </p:txBody>
      </p:sp>
      <p:grpSp>
        <p:nvGrpSpPr>
          <p:cNvPr id="18" name="Group 18"/>
          <p:cNvGrpSpPr/>
          <p:nvPr/>
        </p:nvGrpSpPr>
        <p:grpSpPr>
          <a:xfrm>
            <a:off x="590550" y="1704702"/>
            <a:ext cx="5861590" cy="2139316"/>
            <a:chOff x="590550" y="1714976"/>
            <a:chExt cx="5861590" cy="2139316"/>
          </a:xfrm>
        </p:grpSpPr>
        <p:sp>
          <p:nvSpPr>
            <p:cNvPr id="9" name="TextBox 9"/>
            <p:cNvSpPr txBox="1"/>
            <p:nvPr/>
          </p:nvSpPr>
          <p:spPr>
            <a:xfrm>
              <a:off x="590550" y="1714976"/>
              <a:ext cx="589693" cy="385762"/>
            </a:xfrm>
            <a:prstGeom prst="rect">
              <a:avLst/>
            </a:prstGeom>
            <a:noFill/>
            <a:ln>
              <a:noFill/>
            </a:ln>
          </p:spPr>
          <p:txBody>
            <a:bodyPr wrap="none" lIns="0" tIns="0" rIns="0" bIns="0" anchor="t" anchorCtr="0">
              <a:noAutofit/>
            </a:bodyPr>
            <a:lstStyle/>
            <a:p>
              <a:pPr algn="l"/>
              <a:r>
                <a:rPr lang="en-US" sz="2020" b="1" dirty="0">
                  <a:solidFill>
                    <a:srgbClr val="16735C"/>
                  </a:solidFill>
                  <a:latin typeface="Arial"/>
                  <a:ea typeface="Arial"/>
                  <a:cs typeface="Arial"/>
                </a:rPr>
                <a:t>01</a:t>
              </a:r>
            </a:p>
          </p:txBody>
        </p:sp>
        <p:sp>
          <p:nvSpPr>
            <p:cNvPr id="10" name="TextBox 10"/>
            <p:cNvSpPr txBox="1"/>
            <p:nvPr/>
          </p:nvSpPr>
          <p:spPr>
            <a:xfrm>
              <a:off x="1133475" y="1728311"/>
              <a:ext cx="1211485"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问题价值</a:t>
              </a:r>
            </a:p>
          </p:txBody>
        </p:sp>
        <p:sp>
          <p:nvSpPr>
            <p:cNvPr id="11" name="TextBox 11"/>
            <p:cNvSpPr txBox="1"/>
            <p:nvPr/>
          </p:nvSpPr>
          <p:spPr>
            <a:xfrm>
              <a:off x="1133475" y="2049304"/>
              <a:ext cx="5318665" cy="300038"/>
            </a:xfrm>
            <a:prstGeom prst="rect">
              <a:avLst/>
            </a:prstGeom>
            <a:noFill/>
            <a:ln>
              <a:noFill/>
            </a:ln>
          </p:spPr>
          <p:txBody>
            <a:bodyPr wrap="none" lIns="0" tIns="0" rIns="0" bIns="0" anchor="t" anchorCtr="0">
              <a:noAutofit/>
            </a:bodyPr>
            <a:lstStyle/>
            <a:p>
              <a:pPr algn="l"/>
              <a:r>
                <a:rPr lang="zh-CN" sz="1580" dirty="0">
                  <a:solidFill>
                    <a:srgbClr val="202B33"/>
                  </a:solidFill>
                  <a:latin typeface="Arial"/>
                  <a:ea typeface="Microsoft YaHei"/>
                  <a:cs typeface="Arial"/>
                </a:rPr>
                <a:t>把代理自动化与用户数据控制之间的矛盾明确化。</a:t>
              </a:r>
            </a:p>
          </p:txBody>
        </p:sp>
        <p:sp>
          <p:nvSpPr>
            <p:cNvPr id="12" name="TextBox 12"/>
            <p:cNvSpPr txBox="1"/>
            <p:nvPr/>
          </p:nvSpPr>
          <p:spPr>
            <a:xfrm>
              <a:off x="590550" y="2467451"/>
              <a:ext cx="589693" cy="385762"/>
            </a:xfrm>
            <a:prstGeom prst="rect">
              <a:avLst/>
            </a:prstGeom>
            <a:noFill/>
            <a:ln>
              <a:noFill/>
            </a:ln>
          </p:spPr>
          <p:txBody>
            <a:bodyPr wrap="none" lIns="0" tIns="0" rIns="0" bIns="0" anchor="t" anchorCtr="0">
              <a:noAutofit/>
            </a:bodyPr>
            <a:lstStyle/>
            <a:p>
              <a:pPr algn="l"/>
              <a:r>
                <a:rPr lang="en-US" sz="2020" b="1" dirty="0">
                  <a:solidFill>
                    <a:srgbClr val="16735C"/>
                  </a:solidFill>
                  <a:latin typeface="Arial"/>
                  <a:ea typeface="Arial"/>
                  <a:cs typeface="Arial"/>
                </a:rPr>
                <a:t>02</a:t>
              </a:r>
            </a:p>
          </p:txBody>
        </p:sp>
        <p:sp>
          <p:nvSpPr>
            <p:cNvPr id="13" name="TextBox 13"/>
            <p:cNvSpPr txBox="1"/>
            <p:nvPr/>
          </p:nvSpPr>
          <p:spPr>
            <a:xfrm>
              <a:off x="1133475" y="2480786"/>
              <a:ext cx="1211485"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技术贡献</a:t>
              </a:r>
            </a:p>
          </p:txBody>
        </p:sp>
        <p:sp>
          <p:nvSpPr>
            <p:cNvPr id="14" name="TextBox 14"/>
            <p:cNvSpPr txBox="1"/>
            <p:nvPr/>
          </p:nvSpPr>
          <p:spPr>
            <a:xfrm>
              <a:off x="1133475" y="2801779"/>
              <a:ext cx="4871276" cy="300038"/>
            </a:xfrm>
            <a:prstGeom prst="rect">
              <a:avLst/>
            </a:prstGeom>
            <a:noFill/>
            <a:ln>
              <a:noFill/>
            </a:ln>
          </p:spPr>
          <p:txBody>
            <a:bodyPr wrap="none" lIns="0" tIns="0" rIns="0" bIns="0" anchor="t" anchorCtr="0">
              <a:noAutofit/>
            </a:bodyPr>
            <a:lstStyle/>
            <a:p>
              <a:pPr algn="l"/>
              <a:r>
                <a:rPr lang="zh-CN" sz="1580" dirty="0">
                  <a:solidFill>
                    <a:srgbClr val="202B33"/>
                  </a:solidFill>
                  <a:latin typeface="Arial"/>
                  <a:ea typeface="Microsoft YaHei"/>
                  <a:cs typeface="Arial"/>
                </a:rPr>
                <a:t>用户研究驱动</a:t>
              </a:r>
              <a:r>
                <a:rPr lang="zh-CN" altLang="en-US" sz="1580" dirty="0">
                  <a:solidFill>
                    <a:srgbClr val="202B33"/>
                  </a:solidFill>
                  <a:latin typeface="Arial"/>
                  <a:ea typeface="Microsoft YaHei"/>
                  <a:cs typeface="Arial"/>
                </a:rPr>
                <a:t>的</a:t>
              </a:r>
              <a:r>
                <a:rPr lang="zh-CN" sz="1580" dirty="0">
                  <a:solidFill>
                    <a:srgbClr val="202B33"/>
                  </a:solidFill>
                  <a:latin typeface="Arial"/>
                  <a:ea typeface="Microsoft YaHei"/>
                  <a:cs typeface="Arial"/>
                </a:rPr>
                <a:t> IC + CF 的个性化权限预测。</a:t>
              </a:r>
            </a:p>
          </p:txBody>
        </p:sp>
        <p:sp>
          <p:nvSpPr>
            <p:cNvPr id="15" name="TextBox 15"/>
            <p:cNvSpPr txBox="1"/>
            <p:nvPr/>
          </p:nvSpPr>
          <p:spPr>
            <a:xfrm>
              <a:off x="590550" y="3219926"/>
              <a:ext cx="589693" cy="385762"/>
            </a:xfrm>
            <a:prstGeom prst="rect">
              <a:avLst/>
            </a:prstGeom>
            <a:noFill/>
            <a:ln>
              <a:noFill/>
            </a:ln>
          </p:spPr>
          <p:txBody>
            <a:bodyPr wrap="none" lIns="0" tIns="0" rIns="0" bIns="0" anchor="t" anchorCtr="0">
              <a:noAutofit/>
            </a:bodyPr>
            <a:lstStyle/>
            <a:p>
              <a:pPr algn="l"/>
              <a:r>
                <a:rPr lang="en-US" sz="2020" b="1" dirty="0">
                  <a:solidFill>
                    <a:srgbClr val="16735C"/>
                  </a:solidFill>
                  <a:latin typeface="Arial"/>
                  <a:ea typeface="Arial"/>
                  <a:cs typeface="Arial"/>
                </a:rPr>
                <a:t>03</a:t>
              </a:r>
            </a:p>
          </p:txBody>
        </p:sp>
        <p:sp>
          <p:nvSpPr>
            <p:cNvPr id="16" name="TextBox 16"/>
            <p:cNvSpPr txBox="1"/>
            <p:nvPr/>
          </p:nvSpPr>
          <p:spPr>
            <a:xfrm>
              <a:off x="1133475" y="3233261"/>
              <a:ext cx="1211485" cy="328612"/>
            </a:xfrm>
            <a:prstGeom prst="rect">
              <a:avLst/>
            </a:prstGeom>
            <a:noFill/>
            <a:ln>
              <a:noFill/>
            </a:ln>
          </p:spPr>
          <p:txBody>
            <a:bodyPr wrap="none" lIns="0" tIns="0" rIns="0" bIns="0" anchor="t" anchorCtr="0">
              <a:noAutofit/>
            </a:bodyPr>
            <a:lstStyle/>
            <a:p>
              <a:pPr algn="l"/>
              <a:r>
                <a:rPr lang="zh-CN" sz="1720" b="1" dirty="0">
                  <a:solidFill>
                    <a:srgbClr val="005A84"/>
                  </a:solidFill>
                  <a:latin typeface="Arial"/>
                  <a:ea typeface="Microsoft YaHei"/>
                  <a:cs typeface="Arial"/>
                </a:rPr>
                <a:t>实证边界</a:t>
              </a:r>
            </a:p>
          </p:txBody>
        </p:sp>
        <p:sp>
          <p:nvSpPr>
            <p:cNvPr id="17" name="TextBox 17"/>
            <p:cNvSpPr txBox="1"/>
            <p:nvPr/>
          </p:nvSpPr>
          <p:spPr>
            <a:xfrm>
              <a:off x="1133475" y="3554254"/>
              <a:ext cx="4773168" cy="300038"/>
            </a:xfrm>
            <a:prstGeom prst="rect">
              <a:avLst/>
            </a:prstGeom>
            <a:noFill/>
            <a:ln>
              <a:noFill/>
            </a:ln>
          </p:spPr>
          <p:txBody>
            <a:bodyPr wrap="none" lIns="0" tIns="0" rIns="0" bIns="0" anchor="t" anchorCtr="0">
              <a:noAutofit/>
            </a:bodyPr>
            <a:lstStyle/>
            <a:p>
              <a:r>
                <a:rPr lang="zh-CN" sz="1580" dirty="0">
                  <a:solidFill>
                    <a:srgbClr val="202B33"/>
                  </a:solidFill>
                  <a:latin typeface="Arial"/>
                  <a:ea typeface="Microsoft YaHei"/>
                  <a:cs typeface="Arial"/>
                </a:rPr>
                <a:t>全覆盖</a:t>
              </a:r>
              <a:r>
                <a:rPr lang="zh-CN" altLang="en-US" sz="1580" dirty="0">
                  <a:solidFill>
                    <a:srgbClr val="202B33"/>
                  </a:solidFill>
                  <a:ea typeface="Microsoft YaHei"/>
                </a:rPr>
                <a:t>达</a:t>
              </a:r>
              <a:r>
                <a:rPr lang="en-US" altLang="zh-CN" sz="1580" dirty="0">
                  <a:solidFill>
                    <a:srgbClr val="202B33"/>
                  </a:solidFill>
                  <a:ea typeface="Microsoft YaHei"/>
                </a:rPr>
                <a:t>85.1%</a:t>
              </a:r>
              <a:r>
                <a:rPr lang="zh-CN" altLang="en-US" sz="1580" dirty="0">
                  <a:solidFill>
                    <a:srgbClr val="202B33"/>
                  </a:solidFill>
                  <a:ea typeface="Microsoft YaHei"/>
                </a:rPr>
                <a:t>准确率</a:t>
              </a:r>
              <a:r>
                <a:rPr lang="zh-CN" sz="1580" dirty="0">
                  <a:solidFill>
                    <a:srgbClr val="202B33"/>
                  </a:solidFill>
                  <a:latin typeface="Arial"/>
                  <a:ea typeface="Microsoft YaHei"/>
                  <a:cs typeface="Arial"/>
                </a:rPr>
                <a:t>；</a:t>
              </a:r>
              <a:r>
                <a:rPr lang="zh-CN" altLang="en-US" sz="1580" dirty="0">
                  <a:solidFill>
                    <a:srgbClr val="202B33"/>
                  </a:solidFill>
                  <a:latin typeface="Arial"/>
                  <a:ea typeface="Microsoft YaHei"/>
                  <a:cs typeface="Arial"/>
                </a:rPr>
                <a:t>高置信度下达</a:t>
              </a:r>
              <a:r>
                <a:rPr lang="zh-CN" sz="1580" dirty="0">
                  <a:solidFill>
                    <a:srgbClr val="202B33"/>
                  </a:solidFill>
                  <a:latin typeface="Arial"/>
                  <a:ea typeface="Microsoft YaHei"/>
                  <a:cs typeface="Arial"/>
                </a:rPr>
                <a:t>94.4%</a:t>
              </a:r>
              <a:r>
                <a:rPr lang="zh-CN" altLang="en-US" sz="1580" dirty="0">
                  <a:solidFill>
                    <a:srgbClr val="202B33"/>
                  </a:solidFill>
                  <a:latin typeface="Arial"/>
                  <a:ea typeface="Microsoft YaHei"/>
                  <a:cs typeface="Arial"/>
                </a:rPr>
                <a:t>准确率（</a:t>
              </a:r>
              <a:r>
                <a:rPr lang="zh-CN" altLang="zh-CN" sz="1580" dirty="0">
                  <a:solidFill>
                    <a:srgbClr val="202B33"/>
                  </a:solidFill>
                  <a:ea typeface="Microsoft YaHei"/>
                </a:rPr>
                <a:t>覆盖</a:t>
              </a:r>
              <a:r>
                <a:rPr lang="zh-CN" altLang="en-US" sz="1580" dirty="0">
                  <a:solidFill>
                    <a:srgbClr val="202B33"/>
                  </a:solidFill>
                  <a:ea typeface="Microsoft YaHei"/>
                </a:rPr>
                <a:t>率</a:t>
              </a:r>
              <a:r>
                <a:rPr lang="zh-CN" altLang="zh-CN" sz="1580" dirty="0">
                  <a:solidFill>
                    <a:srgbClr val="202B33"/>
                  </a:solidFill>
                  <a:ea typeface="Microsoft YaHei"/>
                </a:rPr>
                <a:t>25.9% </a:t>
              </a:r>
              <a:r>
                <a:rPr lang="zh-CN" altLang="en-US" sz="1580" dirty="0">
                  <a:solidFill>
                    <a:srgbClr val="202B33"/>
                  </a:solidFill>
                  <a:latin typeface="Arial"/>
                  <a:ea typeface="Microsoft YaHei"/>
                  <a:cs typeface="Arial"/>
                </a:rPr>
                <a:t>）</a:t>
              </a:r>
              <a:r>
                <a:rPr lang="zh-CN" sz="1580" dirty="0">
                  <a:solidFill>
                    <a:srgbClr val="202B33"/>
                  </a:solidFill>
                  <a:latin typeface="Arial"/>
                  <a:ea typeface="Microsoft YaHei"/>
                  <a:cs typeface="Arial"/>
                </a:rPr>
                <a:t>。</a:t>
              </a:r>
            </a:p>
          </p:txBody>
        </p:sp>
      </p:grpSp>
      <p:grpSp>
        <p:nvGrpSpPr>
          <p:cNvPr id="22" name="Group 22"/>
          <p:cNvGrpSpPr/>
          <p:nvPr/>
        </p:nvGrpSpPr>
        <p:grpSpPr>
          <a:xfrm>
            <a:off x="476250" y="4110949"/>
            <a:ext cx="8191500" cy="504825"/>
            <a:chOff x="476250" y="4229100"/>
            <a:chExt cx="8191500" cy="504825"/>
          </a:xfrm>
        </p:grpSpPr>
        <p:sp>
          <p:nvSpPr>
            <p:cNvPr id="19" name="Rectangle 19"/>
            <p:cNvSpPr/>
            <p:nvPr/>
          </p:nvSpPr>
          <p:spPr>
            <a:xfrm>
              <a:off x="476250" y="4229100"/>
              <a:ext cx="8191500" cy="504825"/>
            </a:xfrm>
            <a:prstGeom prst="rect">
              <a:avLst/>
            </a:prstGeom>
            <a:solidFill>
              <a:srgbClr val="F0F5F6"/>
            </a:solidFill>
            <a:ln>
              <a:noFill/>
            </a:ln>
          </p:spPr>
        </p:sp>
        <p:sp>
          <p:nvSpPr>
            <p:cNvPr id="20" name="Rectangle 20"/>
            <p:cNvSpPr/>
            <p:nvPr/>
          </p:nvSpPr>
          <p:spPr>
            <a:xfrm>
              <a:off x="476250" y="4229100"/>
              <a:ext cx="38100" cy="504825"/>
            </a:xfrm>
            <a:prstGeom prst="rect">
              <a:avLst/>
            </a:prstGeom>
            <a:solidFill>
              <a:srgbClr val="16735C"/>
            </a:solidFill>
            <a:ln>
              <a:noFill/>
            </a:ln>
          </p:spPr>
        </p:sp>
        <p:sp>
          <p:nvSpPr>
            <p:cNvPr id="21" name="TextBox 21"/>
            <p:cNvSpPr txBox="1"/>
            <p:nvPr/>
          </p:nvSpPr>
          <p:spPr>
            <a:xfrm>
              <a:off x="609600" y="4408646"/>
              <a:ext cx="6506051" cy="271462"/>
            </a:xfrm>
            <a:prstGeom prst="rect">
              <a:avLst/>
            </a:prstGeom>
            <a:noFill/>
            <a:ln>
              <a:noFill/>
            </a:ln>
          </p:spPr>
          <p:txBody>
            <a:bodyPr wrap="none" lIns="0" tIns="0" rIns="0" bIns="0" anchor="t" anchorCtr="0">
              <a:noAutofit/>
            </a:bodyPr>
            <a:lstStyle/>
            <a:p>
              <a:pPr algn="l"/>
              <a:r>
                <a:rPr lang="zh-CN" sz="1420" b="1" dirty="0">
                  <a:solidFill>
                    <a:srgbClr val="16735C"/>
                  </a:solidFill>
                  <a:latin typeface="Arial"/>
                  <a:ea typeface="Microsoft YaHei"/>
                  <a:cs typeface="Arial"/>
                </a:rPr>
                <a:t>可行性已得到初步</a:t>
              </a:r>
              <a:r>
                <a:rPr lang="zh-CN" altLang="en-US" sz="1420" b="1" dirty="0">
                  <a:solidFill>
                    <a:srgbClr val="16735C"/>
                  </a:solidFill>
                  <a:ea typeface="Microsoft YaHei"/>
                </a:rPr>
                <a:t>证明</a:t>
              </a:r>
              <a:r>
                <a:rPr lang="zh-CN" sz="1420" b="1" dirty="0">
                  <a:solidFill>
                    <a:srgbClr val="16735C"/>
                  </a:solidFill>
                  <a:latin typeface="Arial"/>
                  <a:ea typeface="Microsoft YaHei"/>
                  <a:cs typeface="Arial"/>
                </a:rPr>
                <a:t>，可靠执行、风险控制与长期使用仍需</a:t>
              </a:r>
              <a:r>
                <a:rPr lang="zh-CN" altLang="en-US" sz="1420" b="1" dirty="0">
                  <a:solidFill>
                    <a:srgbClr val="16735C"/>
                  </a:solidFill>
                  <a:latin typeface="Arial"/>
                  <a:ea typeface="Microsoft YaHei"/>
                  <a:cs typeface="Arial"/>
                </a:rPr>
                <a:t>进一步工作</a:t>
              </a:r>
              <a:r>
                <a:rPr lang="zh-CN" sz="1420" b="1" dirty="0">
                  <a:solidFill>
                    <a:srgbClr val="16735C"/>
                  </a:solidFill>
                  <a:latin typeface="Arial"/>
                  <a:ea typeface="Microsoft YaHei"/>
                  <a:cs typeface="Arial"/>
                </a:rPr>
                <a:t>。</a:t>
              </a:r>
            </a:p>
          </p:txBody>
        </p:sp>
      </p:grpSp>
    </p:spTree>
    <p:extLst>
      <p:ext uri="{BB962C8B-B14F-4D97-AF65-F5344CB8AC3E}">
        <p14:creationId xmlns:p14="http://schemas.microsoft.com/office/powerpoint/2010/main" val="995610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35">
          <a:extLst>
            <a:ext uri="{FF2B5EF4-FFF2-40B4-BE49-F238E27FC236}">
              <a16:creationId xmlns:a16="http://schemas.microsoft.com/office/drawing/2014/main" id="{FC3A6B34-07E0-2855-8865-64DDA97C9109}"/>
            </a:ext>
          </a:extLst>
        </p:cNvPr>
        <p:cNvGrpSpPr/>
        <p:nvPr/>
      </p:nvGrpSpPr>
      <p:grpSpPr>
        <a:xfrm>
          <a:off x="0" y="0"/>
          <a:ext cx="0" cy="0"/>
          <a:chOff x="0" y="0"/>
          <a:chExt cx="0" cy="0"/>
        </a:xfrm>
      </p:grpSpPr>
      <p:grpSp>
        <p:nvGrpSpPr>
          <p:cNvPr id="5" name="Group 5"/>
          <p:cNvGrpSpPr/>
          <p:nvPr/>
        </p:nvGrpSpPr>
        <p:grpSpPr>
          <a:xfrm>
            <a:off x="504825" y="392430"/>
            <a:ext cx="3136297" cy="415766"/>
            <a:chOff x="504825" y="392430"/>
            <a:chExt cx="3136297" cy="415766"/>
          </a:xfrm>
        </p:grpSpPr>
        <p:sp>
          <p:nvSpPr>
            <p:cNvPr id="2" name="TextBox 2"/>
            <p:cNvSpPr txBox="1"/>
            <p:nvPr/>
          </p:nvSpPr>
          <p:spPr>
            <a:xfrm>
              <a:off x="504825" y="393859"/>
              <a:ext cx="633412" cy="414337"/>
            </a:xfrm>
            <a:prstGeom prst="rect">
              <a:avLst/>
            </a:prstGeom>
            <a:noFill/>
            <a:ln>
              <a:noFill/>
            </a:ln>
          </p:spPr>
          <p:txBody>
            <a:bodyPr wrap="none" lIns="0" tIns="0" rIns="0" bIns="0" anchor="t" anchorCtr="0">
              <a:noAutofit/>
            </a:bodyPr>
            <a:lstStyle/>
            <a:p>
              <a:pPr algn="l"/>
              <a:r>
                <a:rPr lang="en-US" sz="2180" b="1">
                  <a:solidFill>
                    <a:srgbClr val="4D7870"/>
                  </a:solidFill>
                  <a:latin typeface="Arial"/>
                  <a:ea typeface="Arial"/>
                  <a:cs typeface="Arial"/>
                </a:rPr>
                <a:t>05</a:t>
              </a:r>
              <a:endParaRPr lang="en-US" sz="2180" b="1" dirty="0">
                <a:solidFill>
                  <a:srgbClr val="4D7870"/>
                </a:solidFill>
                <a:latin typeface="Arial"/>
                <a:ea typeface="Arial"/>
                <a:cs typeface="Arial"/>
              </a:endParaRPr>
            </a:p>
          </p:txBody>
        </p:sp>
        <p:sp>
          <p:nvSpPr>
            <p:cNvPr id="3" name="TextBox 3"/>
            <p:cNvSpPr txBox="1"/>
            <p:nvPr/>
          </p:nvSpPr>
          <p:spPr>
            <a:xfrm>
              <a:off x="1219200" y="392430"/>
              <a:ext cx="2421922" cy="400050"/>
            </a:xfrm>
            <a:prstGeom prst="rect">
              <a:avLst/>
            </a:prstGeom>
            <a:noFill/>
            <a:ln>
              <a:noFill/>
            </a:ln>
          </p:spPr>
          <p:txBody>
            <a:bodyPr wrap="none" lIns="0" tIns="0" rIns="0" bIns="0" anchor="t" anchorCtr="0">
              <a:noAutofit/>
            </a:bodyPr>
            <a:lstStyle/>
            <a:p>
              <a:pPr algn="l"/>
              <a:r>
                <a:rPr lang="zh-CN" altLang="en-US" sz="2100" b="1" dirty="0">
                  <a:solidFill>
                    <a:srgbClr val="202B33"/>
                  </a:solidFill>
                  <a:ea typeface="Microsoft YaHei"/>
                </a:rPr>
                <a:t>总结</a:t>
              </a:r>
              <a:endParaRPr lang="zh-CN" sz="2100" b="1" dirty="0">
                <a:solidFill>
                  <a:srgbClr val="202B33"/>
                </a:solidFill>
                <a:latin typeface="Arial"/>
                <a:ea typeface="Microsoft YaHei"/>
                <a:cs typeface="Arial"/>
              </a:endParaRPr>
            </a:p>
          </p:txBody>
        </p:sp>
      </p:grpSp>
      <p:sp>
        <p:nvSpPr>
          <p:cNvPr id="7" name="TextBox 7"/>
          <p:cNvSpPr txBox="1"/>
          <p:nvPr/>
        </p:nvSpPr>
        <p:spPr>
          <a:xfrm>
            <a:off x="8139684" y="4855845"/>
            <a:ext cx="547116" cy="171450"/>
          </a:xfrm>
          <a:prstGeom prst="rect">
            <a:avLst/>
          </a:prstGeom>
          <a:noFill/>
          <a:ln>
            <a:noFill/>
          </a:ln>
        </p:spPr>
        <p:txBody>
          <a:bodyPr wrap="none" lIns="0" tIns="0" rIns="0" bIns="0" anchor="t" anchorCtr="0">
            <a:noAutofit/>
          </a:bodyPr>
          <a:lstStyle/>
          <a:p>
            <a:pPr algn="r"/>
            <a:endParaRPr lang="en-US" sz="900" dirty="0">
              <a:solidFill>
                <a:srgbClr val="5C6B73"/>
              </a:solidFill>
              <a:latin typeface="Arial"/>
              <a:ea typeface="Arial"/>
              <a:cs typeface="Arial"/>
            </a:endParaRPr>
          </a:p>
        </p:txBody>
      </p:sp>
      <p:grpSp>
        <p:nvGrpSpPr>
          <p:cNvPr id="14" name="Group 14"/>
          <p:cNvGrpSpPr/>
          <p:nvPr/>
        </p:nvGrpSpPr>
        <p:grpSpPr>
          <a:xfrm>
            <a:off x="1096281" y="1349931"/>
            <a:ext cx="6304026" cy="2443638"/>
            <a:chOff x="647700" y="1576389"/>
            <a:chExt cx="6304026" cy="2443638"/>
          </a:xfrm>
        </p:grpSpPr>
        <p:sp>
          <p:nvSpPr>
            <p:cNvPr id="9" name="TextBox 9"/>
            <p:cNvSpPr txBox="1"/>
            <p:nvPr/>
          </p:nvSpPr>
          <p:spPr>
            <a:xfrm>
              <a:off x="647700" y="1576389"/>
              <a:ext cx="4303395" cy="514350"/>
            </a:xfrm>
            <a:prstGeom prst="rect">
              <a:avLst/>
            </a:prstGeom>
            <a:noFill/>
            <a:ln>
              <a:noFill/>
            </a:ln>
          </p:spPr>
          <p:txBody>
            <a:bodyPr wrap="none" lIns="0" tIns="0" rIns="0" bIns="0" anchor="t" anchorCtr="0">
              <a:noAutofit/>
            </a:bodyPr>
            <a:lstStyle/>
            <a:p>
              <a:pPr algn="l"/>
              <a:r>
                <a:rPr lang="zh-CN" altLang="en-US" sz="2700" b="1" dirty="0">
                  <a:solidFill>
                    <a:srgbClr val="005A84"/>
                  </a:solidFill>
                  <a:latin typeface="Arial"/>
                  <a:ea typeface="Microsoft YaHei"/>
                  <a:cs typeface="Arial"/>
                </a:rPr>
                <a:t>权限</a:t>
              </a:r>
              <a:r>
                <a:rPr lang="zh-CN" sz="2700" b="1" dirty="0">
                  <a:solidFill>
                    <a:srgbClr val="005A84"/>
                  </a:solidFill>
                  <a:latin typeface="Arial"/>
                  <a:ea typeface="Microsoft YaHei"/>
                  <a:cs typeface="Arial"/>
                </a:rPr>
                <a:t>自动化应该减少打扰，</a:t>
              </a:r>
            </a:p>
          </p:txBody>
        </p:sp>
        <p:sp>
          <p:nvSpPr>
            <p:cNvPr id="10" name="TextBox 10"/>
            <p:cNvSpPr txBox="1"/>
            <p:nvPr/>
          </p:nvSpPr>
          <p:spPr>
            <a:xfrm>
              <a:off x="647700" y="2175035"/>
              <a:ext cx="5087588" cy="442912"/>
            </a:xfrm>
            <a:prstGeom prst="rect">
              <a:avLst/>
            </a:prstGeom>
            <a:noFill/>
            <a:ln>
              <a:noFill/>
            </a:ln>
          </p:spPr>
          <p:txBody>
            <a:bodyPr wrap="none" lIns="0" tIns="0" rIns="0" bIns="0" anchor="t" anchorCtr="0">
              <a:noAutofit/>
            </a:bodyPr>
            <a:lstStyle/>
            <a:p>
              <a:pPr algn="l"/>
              <a:r>
                <a:rPr lang="zh-CN" sz="2320" b="1" dirty="0">
                  <a:solidFill>
                    <a:srgbClr val="16735C"/>
                  </a:solidFill>
                  <a:latin typeface="Arial"/>
                  <a:ea typeface="Microsoft YaHei"/>
                  <a:cs typeface="Arial"/>
                </a:rPr>
                <a:t>也应该保留用户真正的控制权。</a:t>
              </a:r>
            </a:p>
          </p:txBody>
        </p:sp>
        <p:sp>
          <p:nvSpPr>
            <p:cNvPr id="11" name="TextBox 11"/>
            <p:cNvSpPr txBox="1"/>
            <p:nvPr/>
          </p:nvSpPr>
          <p:spPr>
            <a:xfrm>
              <a:off x="647700" y="2781774"/>
              <a:ext cx="6064807" cy="511520"/>
            </a:xfrm>
            <a:prstGeom prst="rect">
              <a:avLst/>
            </a:prstGeom>
            <a:noFill/>
            <a:ln>
              <a:noFill/>
            </a:ln>
          </p:spPr>
          <p:txBody>
            <a:bodyPr wrap="none" lIns="0" tIns="0" rIns="0" bIns="0" anchor="t" anchorCtr="0">
              <a:noAutofit/>
            </a:bodyPr>
            <a:lstStyle/>
            <a:p>
              <a:r>
                <a:rPr lang="zh-CN" sz="1650" b="1" dirty="0">
                  <a:solidFill>
                    <a:srgbClr val="202B33"/>
                  </a:solidFill>
                  <a:latin typeface="Arial"/>
                  <a:ea typeface="Microsoft YaHei"/>
                  <a:cs typeface="Arial"/>
                </a:rPr>
                <a:t>论文：Wu 等，IEEE S&amp;P 2026</a:t>
              </a:r>
              <a:endParaRPr lang="en-US" altLang="zh-CN" sz="1650" b="1" dirty="0">
                <a:solidFill>
                  <a:srgbClr val="202B33"/>
                </a:solidFill>
                <a:latin typeface="Arial"/>
                <a:ea typeface="Microsoft YaHei"/>
                <a:cs typeface="Arial"/>
              </a:endParaRPr>
            </a:p>
            <a:p>
              <a:r>
                <a:rPr lang="en-US" altLang="zh-CN" sz="1650" b="1" dirty="0">
                  <a:solidFill>
                    <a:srgbClr val="202B33"/>
                  </a:solidFill>
                  <a:ea typeface="Microsoft YaHei"/>
                </a:rPr>
                <a:t>Towards Automating Data Access Permissions in AI Agents</a:t>
              </a:r>
              <a:endParaRPr lang="zh-CN" sz="1650" b="1" dirty="0">
                <a:solidFill>
                  <a:srgbClr val="202B33"/>
                </a:solidFill>
                <a:latin typeface="Arial"/>
                <a:ea typeface="Microsoft YaHei"/>
                <a:cs typeface="Arial"/>
              </a:endParaRPr>
            </a:p>
          </p:txBody>
        </p:sp>
        <p:sp>
          <p:nvSpPr>
            <p:cNvPr id="12" name="TextBox 12"/>
            <p:cNvSpPr txBox="1"/>
            <p:nvPr/>
          </p:nvSpPr>
          <p:spPr>
            <a:xfrm>
              <a:off x="647700" y="3435668"/>
              <a:ext cx="3543490" cy="257175"/>
            </a:xfrm>
            <a:prstGeom prst="rect">
              <a:avLst/>
            </a:prstGeom>
            <a:noFill/>
            <a:ln>
              <a:noFill/>
            </a:ln>
          </p:spPr>
          <p:txBody>
            <a:bodyPr wrap="none" lIns="0" tIns="0" rIns="0" bIns="0" anchor="t" anchorCtr="0">
              <a:noAutofit/>
            </a:bodyPr>
            <a:lstStyle/>
            <a:p>
              <a:pPr algn="l"/>
              <a:r>
                <a:rPr lang="zh-CN" sz="1350" dirty="0">
                  <a:solidFill>
                    <a:srgbClr val="005A84"/>
                  </a:solidFill>
                  <a:latin typeface="Arial"/>
                  <a:ea typeface="Microsoft YaHei"/>
                  <a:cs typeface="Arial"/>
                  <a:hlinkClick r:id="rId3"/>
                </a:rPr>
                <a:t>DOI：10.1109/SP63933.2026.00018</a:t>
              </a:r>
            </a:p>
          </p:txBody>
        </p:sp>
        <p:sp>
          <p:nvSpPr>
            <p:cNvPr id="13" name="TextBox 13"/>
            <p:cNvSpPr txBox="1"/>
            <p:nvPr/>
          </p:nvSpPr>
          <p:spPr>
            <a:xfrm>
              <a:off x="647700" y="3777139"/>
              <a:ext cx="6304026" cy="242888"/>
            </a:xfrm>
            <a:prstGeom prst="rect">
              <a:avLst/>
            </a:prstGeom>
            <a:noFill/>
            <a:ln>
              <a:noFill/>
            </a:ln>
          </p:spPr>
          <p:txBody>
            <a:bodyPr wrap="none" lIns="0" tIns="0" rIns="0" bIns="0" anchor="t" anchorCtr="0">
              <a:noAutofit/>
            </a:bodyPr>
            <a:lstStyle/>
            <a:p>
              <a:pPr algn="l"/>
              <a:r>
                <a:rPr lang="zh-CN" sz="1280" dirty="0">
                  <a:solidFill>
                    <a:srgbClr val="005A84"/>
                  </a:solidFill>
                  <a:latin typeface="Arial"/>
                  <a:ea typeface="Microsoft YaHei"/>
                  <a:cs typeface="Arial"/>
                  <a:hlinkClick r:id="rId4"/>
                </a:rPr>
                <a:t>代码与数据：github.com/llm-platform-security/ai-agent-permissions</a:t>
              </a:r>
            </a:p>
          </p:txBody>
        </p:sp>
      </p:grpSp>
      <p:sp>
        <p:nvSpPr>
          <p:cNvPr id="20" name="TextBox 4">
            <a:extLst>
              <a:ext uri="{FF2B5EF4-FFF2-40B4-BE49-F238E27FC236}">
                <a16:creationId xmlns:a16="http://schemas.microsoft.com/office/drawing/2014/main" id="{C3C18267-95D7-53BA-66D9-FEDD5E4A2E83}"/>
              </a:ext>
            </a:extLst>
          </p:cNvPr>
          <p:cNvSpPr txBox="1"/>
          <p:nvPr/>
        </p:nvSpPr>
        <p:spPr>
          <a:xfrm>
            <a:off x="1822419" y="4114559"/>
            <a:ext cx="5634704" cy="385763"/>
          </a:xfrm>
          <a:prstGeom prst="rect">
            <a:avLst/>
          </a:prstGeom>
          <a:noFill/>
          <a:ln>
            <a:noFill/>
          </a:ln>
        </p:spPr>
        <p:txBody>
          <a:bodyPr wrap="none" lIns="0" tIns="0" rIns="0" bIns="0" anchor="t" anchorCtr="0">
            <a:noAutofit/>
          </a:bodyPr>
          <a:lstStyle/>
          <a:p>
            <a:pPr algn="ctr"/>
            <a:r>
              <a:rPr lang="zh-CN" altLang="en-US" sz="2020" b="1" dirty="0">
                <a:solidFill>
                  <a:srgbClr val="0E6B57"/>
                </a:solidFill>
                <a:latin typeface="Arial"/>
                <a:ea typeface="Microsoft YaHei"/>
                <a:cs typeface="Arial"/>
              </a:rPr>
              <a:t>欢迎提问</a:t>
            </a:r>
            <a:endParaRPr lang="zh-CN" sz="2020" b="1" dirty="0">
              <a:solidFill>
                <a:srgbClr val="0E6B57"/>
              </a:solidFill>
              <a:latin typeface="Arial"/>
              <a:ea typeface="Microsoft YaHei"/>
              <a:cs typeface="Arial"/>
            </a:endParaRPr>
          </a:p>
        </p:txBody>
      </p:sp>
    </p:spTree>
    <p:extLst>
      <p:ext uri="{BB962C8B-B14F-4D97-AF65-F5344CB8AC3E}">
        <p14:creationId xmlns:p14="http://schemas.microsoft.com/office/powerpoint/2010/main" val="367405702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9581</Words>
  <Application>Microsoft Office PowerPoint</Application>
  <PresentationFormat>全屏显示(16:9)</PresentationFormat>
  <Paragraphs>420</Paragraphs>
  <Slides>27</Slides>
  <Notes>27</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27</vt:i4>
      </vt:variant>
    </vt:vector>
  </HeadingPairs>
  <TitlesOfParts>
    <vt:vector size="34" baseType="lpstr">
      <vt:lpstr>Microsoft YaHei</vt:lpstr>
      <vt:lpstr>Microsoft YaHei</vt:lpstr>
      <vt:lpstr>Microsoft YaHei</vt:lpstr>
      <vt:lpstr>Arial</vt:lpstr>
      <vt:lpstr>Wingdings</vt:lpstr>
      <vt:lpstr>Simple Light</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温江涛</dc:creator>
  <cp:lastModifiedBy>江涛 温</cp:lastModifiedBy>
  <cp:revision>18</cp:revision>
  <dcterms:modified xsi:type="dcterms:W3CDTF">2026-10-02T07:36:26Z</dcterms:modified>
</cp:coreProperties>
</file>