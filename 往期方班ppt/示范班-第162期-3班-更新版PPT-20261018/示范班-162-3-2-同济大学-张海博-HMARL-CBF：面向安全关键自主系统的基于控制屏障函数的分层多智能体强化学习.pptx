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77" r:id="rId8"/>
    <p:sldId id="286" r:id="rId9"/>
    <p:sldId id="261" r:id="rId10"/>
    <p:sldId id="278" r:id="rId11"/>
    <p:sldId id="279" r:id="rId12"/>
    <p:sldId id="287" r:id="rId13"/>
    <p:sldId id="263" r:id="rId14"/>
    <p:sldId id="280" r:id="rId15"/>
    <p:sldId id="288" r:id="rId16"/>
    <p:sldId id="281" r:id="rId17"/>
    <p:sldId id="282" r:id="rId18"/>
    <p:sldId id="285" r:id="rId19"/>
    <p:sldId id="283" r:id="rId20"/>
    <p:sldId id="265" r:id="rId21"/>
    <p:sldId id="266" r:id="rId22"/>
    <p:sldId id="267" r:id="rId23"/>
    <p:sldId id="268" r:id="rId24"/>
    <p:sldId id="284" r:id="rId25"/>
    <p:sldId id="269" r:id="rId26"/>
    <p:sldId id="270" r:id="rId27"/>
    <p:sldId id="271" r:id="rId28"/>
    <p:sldId id="272" r:id="rId29"/>
    <p:sldId id="273" r:id="rId30"/>
    <p:sldId id="274" r:id="rId31"/>
    <p:sldId id="275" r:id="rId32"/>
    <p:sldId id="276" r:id="rId33"/>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MFPO</c:f>
              <c:strCache>
                <c:ptCount val="1"/>
                <c:pt idx="0">
                  <c:v>MFPO</c:v>
                </c:pt>
              </c:strCache>
            </c:strRef>
          </c:tx>
          <c:spPr>
            <a:solidFill>
              <a:srgbClr val="9DAEC5"/>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匝道汇入</c:v>
                </c:pt>
                <c:pt idx="1">
                  <c:v>交叉路口</c:v>
                </c:pt>
                <c:pt idx="2">
                  <c:v>环岛</c:v>
                </c:pt>
                <c:pt idx="3">
                  <c:v>瓶颈</c:v>
                </c:pt>
                <c:pt idx="4">
                  <c:v>收费站</c:v>
                </c:pt>
              </c:strCache>
            </c:strRef>
          </c:cat>
          <c:val>
            <c:numRef>
              <c:f>'Chart Data'!$B$2:$B$6</c:f>
              <c:numCache>
                <c:formatCode>0"%"</c:formatCode>
                <c:ptCount val="5"/>
                <c:pt idx="0">
                  <c:v>43</c:v>
                </c:pt>
                <c:pt idx="1">
                  <c:v>59</c:v>
                </c:pt>
                <c:pt idx="2">
                  <c:v>85</c:v>
                </c:pt>
                <c:pt idx="3">
                  <c:v>48</c:v>
                </c:pt>
                <c:pt idx="4">
                  <c:v>11</c:v>
                </c:pt>
              </c:numCache>
            </c:numRef>
          </c:val>
        </c:ser>
        <c:ser>
          <c:idx val="1"/>
          <c:order val="1"/>
          <c:tx>
            <c:strRef>
              <c:f>CoPo</c:f>
              <c:strCache>
                <c:ptCount val="1"/>
                <c:pt idx="0">
                  <c:v>CoPo</c:v>
                </c:pt>
              </c:strCache>
            </c:strRef>
          </c:tx>
          <c:spPr>
            <a:solidFill>
              <a:srgbClr val="EAA445"/>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Data'!$C$2:$C$6</c:f>
              <c:strCache>
                <c:ptCount val="5"/>
                <c:pt idx="0">
                  <c:v>匝道汇入</c:v>
                </c:pt>
                <c:pt idx="1">
                  <c:v>交叉路口</c:v>
                </c:pt>
                <c:pt idx="2">
                  <c:v>环岛</c:v>
                </c:pt>
                <c:pt idx="3">
                  <c:v>瓶颈</c:v>
                </c:pt>
                <c:pt idx="4">
                  <c:v>收费站</c:v>
                </c:pt>
              </c:strCache>
            </c:strRef>
          </c:cat>
          <c:val>
            <c:numRef>
              <c:f>'Chart Data'!$D$2:$D$6</c:f>
              <c:numCache>
                <c:formatCode>0"%"</c:formatCode>
                <c:ptCount val="5"/>
                <c:pt idx="0">
                  <c:v>48</c:v>
                </c:pt>
                <c:pt idx="1">
                  <c:v>73</c:v>
                </c:pt>
                <c:pt idx="2">
                  <c:v>80</c:v>
                </c:pt>
                <c:pt idx="3">
                  <c:v>75</c:v>
                </c:pt>
                <c:pt idx="4">
                  <c:v>0</c:v>
                </c:pt>
              </c:numCache>
            </c:numRef>
          </c:val>
        </c:ser>
        <c:ser>
          <c:idx val="2"/>
          <c:order val="2"/>
          <c:tx>
            <c:strRef>
              <c:f>HMARL-CBF 同策略</c:f>
              <c:strCache>
                <c:ptCount val="1"/>
                <c:pt idx="0">
                  <c:v>HMARL-CBF 同策略</c:v>
                </c:pt>
              </c:strCache>
            </c:strRef>
          </c:tx>
          <c:spPr>
            <a:solidFill>
              <a:srgbClr val="1F4C91"/>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Data'!$E$2:$E$6</c:f>
              <c:strCache>
                <c:ptCount val="5"/>
                <c:pt idx="0">
                  <c:v>匝道汇入</c:v>
                </c:pt>
                <c:pt idx="1">
                  <c:v>交叉路口</c:v>
                </c:pt>
                <c:pt idx="2">
                  <c:v>环岛</c:v>
                </c:pt>
                <c:pt idx="3">
                  <c:v>瓶颈</c:v>
                </c:pt>
                <c:pt idx="4">
                  <c:v>收费站</c:v>
                </c:pt>
              </c:strCache>
            </c:strRef>
          </c:cat>
          <c:val>
            <c:numRef>
              <c:f>'Chart Data'!$F$2:$F$6</c:f>
              <c:numCache>
                <c:formatCode>0"%"</c:formatCode>
                <c:ptCount val="5"/>
                <c:pt idx="0">
                  <c:v>99</c:v>
                </c:pt>
                <c:pt idx="1">
                  <c:v>97</c:v>
                </c:pt>
                <c:pt idx="2">
                  <c:v>99</c:v>
                </c:pt>
                <c:pt idx="3">
                  <c:v>99</c:v>
                </c:pt>
                <c:pt idx="4">
                  <c:v>99</c:v>
                </c:pt>
              </c:numCache>
            </c:numRef>
          </c:val>
        </c:ser>
        <c:dLbls>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500" b="0" i="0" u="none" strike="noStrike" kern="1200" baseline="0">
                <a:solidFill>
                  <a:srgbClr val="666666"/>
                </a:solidFill>
                <a:latin typeface="微软雅黑" panose="020B0503020204020204" charset="-122"/>
                <a:ea typeface="微软雅黑" panose="020B0503020204020204" charset="-122"/>
                <a:cs typeface="微软雅黑" panose="020B0503020204020204" charset="-122"/>
              </a:defRPr>
            </a:pPr>
          </a:p>
        </c:txPr>
        <c:crossAx val="48672768"/>
        <c:crosses val="autoZero"/>
        <c:auto val="1"/>
        <c:lblAlgn val="ctr"/>
        <c:lblOffset val="100"/>
        <c:noMultiLvlLbl val="0"/>
      </c:catAx>
      <c:valAx>
        <c:axId val="48672768"/>
        <c:scaling>
          <c:orientation val="minMax"/>
          <c:max val="100"/>
          <c:min val="0"/>
        </c:scaling>
        <c:delete val="0"/>
        <c:axPos val="l"/>
        <c:numFmt formatCode="0&quot;%&quot;"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666666"/>
                </a:solidFill>
                <a:latin typeface="微软雅黑" panose="020B0503020204020204" charset="-122"/>
                <a:ea typeface="微软雅黑" panose="020B0503020204020204" charset="-122"/>
                <a:cs typeface="微软雅黑" panose="020B0503020204020204" charset="-122"/>
              </a:defRPr>
            </a:pPr>
          </a:p>
        </c:txPr>
        <c:crossAx val="48650112"/>
        <c:crosses val="autoZero"/>
        <c:crossBetween val="between"/>
        <c:majorUnit val="20"/>
      </c:valAx>
    </c:plotArea>
    <c:legend>
      <c:legendPos val="b"/>
      <c:layout/>
      <c:overlay val="0"/>
      <c:txPr>
        <a:bodyPr rot="0" spcFirstLastPara="0" vertOverflow="ellipsis" vert="horz" wrap="square" anchor="ctr" anchorCtr="1"/>
        <a:lstStyle/>
        <a:p>
          <a:pPr>
            <a:defRPr lang="zh-CN" sz="1350" b="0" i="0" u="none" strike="noStrike" kern="1200" baseline="0">
              <a:solidFill>
                <a:schemeClr val="tx1"/>
              </a:solidFill>
              <a:latin typeface="微软雅黑" panose="020B0503020204020204" charset="-122"/>
              <a:ea typeface="微软雅黑" panose="020B0503020204020204" charset="-122"/>
              <a:cs typeface="微软雅黑" panose="020B0503020204020204" charset="-122"/>
            </a:defRPr>
          </a:pPr>
        </a:p>
      </c:txPr>
    </c:legend>
    <c:plotVisOnly val="1"/>
    <c:dispBlanksAs val="gap"/>
    <c:showDLblsOverMax val="0"/>
    <c:extLst>
      <c:ext uri="{0b15fc19-7d7d-44ad-8c2d-2c3a37ce22c3}">
        <chartProps xmlns="https://web.wps.cn/et/2018/main" chartId="{370cc5d6-882d-4550-af22-16671233af78}"/>
      </c:ext>
    </c:extLst>
  </c:chart>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主要依据：用户提供的HMARL-CBF中文论文与张海博学习汇报。</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图：论文中文版第37页，附录道路场景示意</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理论安全性依赖安全初值、模型与正则性条件，以及约束持续可行。</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依据论文中文翻译版第2、6页式(6)与式(7)。公式为便于汇报所作的符号化简。</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此图由汇报者提供。讲解时先说明原文方法的两层与集中训练、分散执行，再说明IGM只属于QMIX实现分支。图中的对手信念是个人延伸，不应当说成论文已完成模块。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技能七元组还包含邻域和回报定义，见论文第7页。所有技能均受安全约束，并设最大持续时间以避免不终止。</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依据论文中文翻译版第3–4页式(1)(2)和第7页。价值式为式(2)的简化表示。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依据论文中文翻译版第7–8页式(10)–(13)。回报和目标式为汇报用的简写。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依据英文论文第6页式（12）、式（13）和第8页实现细节。同策略使用集中评论家，异策略使用联合Q值与价值分解。</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此处展示相对阶一CBF形式，高阶情形见HOCBF定义。图中安全区域包含随速度变化的参数，不代表固定安全半径。</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依据论文中文翻译版第4–5页式(4)(5)，高阶形式见第9页式(15)及附录A.2。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依据英文论文附录A.4.2第31—32页式（36）、式（37）及五种技能描述。每个技能有限时终止设置。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依据论文中文翻译版第9页式(15)。安全与目标约束在本页使用紧凑记号；完整表达见原稿上一页。</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依据论文中文翻译版第9–10页参数化策略和附录A.3第29–30页式(21)–(24)。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依据英文论文第28页式（28）—（31）及第29页算法1。式（28）的LaTeX源代码存于公式对象替代文字。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依据论文中文翻译版第31–32页算法1；高层更新见式(12)(13)，低层更新见式(23)(24)。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本文训练30万迭代，基线100万迭代，基线另用先验驾驶数据。不同资源条件下不直接宣称固定倍数训练加速。</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表1仅绘均值，未绘误差。MFPO误差±9/16/4/16/4个百分点；CoPo ±1/9/3/7/0；完整同策略 ±1/4/1/0/2。分组版本交叉路口为93%±5%，不能将97%–99%推广至所有变体。</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成功加权指标为回合内所有智能体平均指标除以成功率。资源配置不同，曲线不直接证明等资源下固定倍数加速。</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随机约束掩蔽概率0.5。原表含误差，正文仅展示均值。</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依据论文中文翻译版第2页贡献、第10页定理5.1、第11–14页实验及消融。会议见论文首页。</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个人仿真素材不作为论文官方复现实验。未根据视频推断已实现强化学习训练或得到统计性能结论。</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个人仿真视频保留原始内嵌文件。正文说明评价重点和后续指标，不依据视频补造碰撞率、训练完成情况或算法性能结论。</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个人仿真视频保留原始内嵌文件。正文说明评价重点和后续指标，不依据视频补造碰撞率、训练完成情况或算法性能结论。</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个人仿真视频保留原始内嵌文件。正文说明评价重点和后续指标，不依据视频补造碰撞率、训练完成情况或算法性能结论。</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个人仿真视频保留原始内嵌文件。正文说明评价重点和后续指标，不依据视频补造碰撞率、训练完成情况或算法性能结论。</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指标为下一步建议，并非已采集结果。此页保留原稿对规则辅助设计和对手建模不足的自我评价。</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本页为研究设想，不是原论文贡献或既有实验结果。不能仅凭单个动作不可行排除整个对手模型，需要对信念更新和剪枝条件进行验证。</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主要参考：Ahmad et al., HMARL-CBF: Hierarchical Multi-Agent Reinforcement Learning with Control Barrier Functions for Safety-Critical Autonomous Systems, NeurIPS 2025；用户提供中文翻译版。项目主页 https://bu-depend-lab.github.io/HMARL-CBF/ 。</a:t>
            </a:r>
          </a:p>
          <a:p>
            <a:r>
              <a:t>学校标识：https://news.tongji.edu.cn/info/1008/94580.htm 。校园背景：https://www.tongji.edu.cn/images/DSC_8562.jpg 。</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1.jpe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chart" Target="../charts/chart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32.jpe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xml"/><Relationship Id="rId4" Type="http://schemas.openxmlformats.org/officeDocument/2006/relationships/image" Target="../media/image34.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image" Target="../media/image35.png"/><Relationship Id="rId3" Type="http://schemas.microsoft.com/office/2007/relationships/media" Target="../media/media2.mp4"/><Relationship Id="rId2" Type="http://schemas.openxmlformats.org/officeDocument/2006/relationships/video" Target="../media/media2.mp4"/><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xml"/><Relationship Id="rId4" Type="http://schemas.openxmlformats.org/officeDocument/2006/relationships/image" Target="../media/image36.png"/><Relationship Id="rId3" Type="http://schemas.microsoft.com/office/2007/relationships/media" Target="../media/media3.mp4"/><Relationship Id="rId2" Type="http://schemas.openxmlformats.org/officeDocument/2006/relationships/video" Target="../media/media3.mp4"/><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1.xml"/><Relationship Id="rId4" Type="http://schemas.openxmlformats.org/officeDocument/2006/relationships/image" Target="../media/image37.png"/><Relationship Id="rId3" Type="http://schemas.microsoft.com/office/2007/relationships/media" Target="../media/media4.mp4"/><Relationship Id="rId2" Type="http://schemas.openxmlformats.org/officeDocument/2006/relationships/video" Target="../media/media4.mp4"/><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l="13433" r="13433"/>
          <a:stretch>
            <a:fillRect/>
          </a:stretch>
        </p:blipFill>
        <p:spPr>
          <a:xfrm>
            <a:off x="0" y="0"/>
            <a:ext cx="12192000" cy="6858000"/>
          </a:xfrm>
          <a:prstGeom prst="rect">
            <a:avLst/>
          </a:prstGeom>
        </p:spPr>
      </p:pic>
      <p:sp>
        <p:nvSpPr>
          <p:cNvPr id="2" name="矩形 1"/>
          <p:cNvSpPr>
            <a:spLocks noGrp="1"/>
          </p:cNvSpPr>
          <p:nvPr/>
        </p:nvSpPr>
        <p:spPr>
          <a:xfrm>
            <a:off x="0" y="0"/>
            <a:ext cx="12192000" cy="6858000"/>
          </a:xfrm>
          <a:prstGeom prst="rect">
            <a:avLst/>
          </a:prstGeom>
          <a:solidFill>
            <a:srgbClr val="06245B">
              <a:alpha val="86000"/>
            </a:srgbClr>
          </a:solidFill>
          <a:ln w="0">
            <a:noFill/>
          </a:ln>
        </p:spPr>
      </p:sp>
      <p:pic>
        <p:nvPicPr>
          <p:cNvPr id="12" name="图片 11"/>
          <p:cNvPicPr>
            <a:picLocks noChangeAspect="1"/>
          </p:cNvPicPr>
          <p:nvPr/>
        </p:nvPicPr>
        <p:blipFill>
          <a:blip r:embed="rId2"/>
          <a:stretch>
            <a:fillRect/>
          </a:stretch>
        </p:blipFill>
        <p:spPr>
          <a:xfrm>
            <a:off x="671513" y="476250"/>
            <a:ext cx="2943225" cy="981075"/>
          </a:xfrm>
          <a:prstGeom prst="rect">
            <a:avLst/>
          </a:prstGeom>
        </p:spPr>
      </p:pic>
      <p:sp>
        <p:nvSpPr>
          <p:cNvPr id="4" name="矩形 3"/>
          <p:cNvSpPr>
            <a:spLocks noGrp="1"/>
          </p:cNvSpPr>
          <p:nvPr/>
        </p:nvSpPr>
        <p:spPr>
          <a:xfrm>
            <a:off x="685800" y="1993392"/>
            <a:ext cx="10479024" cy="786384"/>
          </a:xfrm>
          <a:prstGeom prst="rect">
            <a:avLst/>
          </a:prstGeom>
          <a:noFill/>
          <a:ln w="0">
            <a:noFill/>
          </a:ln>
        </p:spPr>
        <p:txBody>
          <a:bodyPr wrap="square" lIns="0" tIns="0" rIns="0" bIns="0" anchor="t">
            <a:noAutofit/>
          </a:bodyPr>
          <a:lstStyle/>
          <a:p>
            <a:pPr algn="l">
              <a:defRPr sz="4650" b="1">
                <a:solidFill>
                  <a:srgbClr val="FFFFFF"/>
                </a:solidFill>
                <a:latin typeface="微软雅黑" panose="020B0503020204020204" charset="-122"/>
                <a:ea typeface="微软雅黑" panose="020B0503020204020204" charset="-122"/>
                <a:cs typeface="微软雅黑" panose="020B0503020204020204" charset="-122"/>
              </a:defRPr>
            </a:pPr>
            <a:r>
              <a:rPr sz="4650" b="1">
                <a:solidFill>
                  <a:srgbClr val="FFFFFF"/>
                </a:solidFill>
                <a:latin typeface="微软雅黑" panose="020B0503020204020204" charset="-122"/>
                <a:ea typeface="微软雅黑" panose="020B0503020204020204" charset="-122"/>
                <a:cs typeface="微软雅黑" panose="020B0503020204020204" charset="-122"/>
              </a:rPr>
              <a:t>HMARL-CBF</a:t>
            </a:r>
            <a:endParaRPr sz="4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713232" y="2834640"/>
            <a:ext cx="10479024" cy="795528"/>
          </a:xfrm>
          <a:prstGeom prst="rect">
            <a:avLst/>
          </a:prstGeom>
          <a:noFill/>
          <a:ln w="0">
            <a:noFill/>
          </a:ln>
        </p:spPr>
        <p:txBody>
          <a:bodyPr wrap="square" lIns="0" tIns="0" rIns="0" bIns="0" anchor="t">
            <a:noAutofit/>
          </a:bodyPr>
          <a:lstStyle/>
          <a:p>
            <a:pPr algn="l">
              <a:defRPr sz="2850" b="1">
                <a:solidFill>
                  <a:srgbClr val="FFFFFF"/>
                </a:solidFill>
                <a:latin typeface="微软雅黑" panose="020B0503020204020204" charset="-122"/>
                <a:ea typeface="微软雅黑" panose="020B0503020204020204" charset="-122"/>
                <a:cs typeface="微软雅黑" panose="020B0503020204020204" charset="-122"/>
              </a:defRPr>
            </a:pPr>
            <a:r>
              <a:rPr sz="2300" b="1">
                <a:solidFill>
                  <a:srgbClr val="FFFFFF"/>
                </a:solidFill>
                <a:latin typeface="微软雅黑" panose="020B0503020204020204" charset="-122"/>
                <a:ea typeface="微软雅黑" panose="020B0503020204020204" charset="-122"/>
                <a:cs typeface="微软雅黑" panose="020B0503020204020204" charset="-122"/>
              </a:rPr>
              <a:t>面向安全关键自主系统的基于控制屏障函数的分层多智能体强化学习</a:t>
            </a:r>
            <a:endParaRPr sz="28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740664" y="3758184"/>
            <a:ext cx="10607040" cy="448056"/>
          </a:xfrm>
          <a:prstGeom prst="rect">
            <a:avLst/>
          </a:prstGeom>
          <a:noFill/>
          <a:ln w="0">
            <a:noFill/>
          </a:ln>
        </p:spPr>
        <p:txBody>
          <a:bodyPr wrap="square" lIns="0" tIns="0" rIns="0" bIns="0" anchor="t">
            <a:noAutofit/>
          </a:bodyPr>
          <a:lstStyle/>
          <a:p>
            <a:pPr algn="l">
              <a:defRPr sz="2025" b="0">
                <a:solidFill>
                  <a:srgbClr val="DBE7F8"/>
                </a:solidFill>
                <a:latin typeface="微软雅黑" panose="020B0503020204020204" charset="-122"/>
                <a:ea typeface="微软雅黑" panose="020B0503020204020204" charset="-122"/>
                <a:cs typeface="微软雅黑" panose="020B0503020204020204" charset="-122"/>
              </a:defRPr>
            </a:pPr>
            <a:r>
              <a:rPr sz="1325" b="0">
                <a:solidFill>
                  <a:srgbClr val="DBE7F8"/>
                </a:solidFill>
                <a:latin typeface="微软雅黑" panose="020B0503020204020204" charset="-122"/>
                <a:ea typeface="微软雅黑" panose="020B0503020204020204" charset="-122"/>
                <a:cs typeface="微软雅黑" panose="020B0503020204020204" charset="-122"/>
              </a:rPr>
              <a:t>Hierarchical Multi-Agent Reinforcement Learning with Control Barrier Functions for Safety-Critical Autonomous Systems</a:t>
            </a:r>
            <a:endParaRPr sz="2025" b="0">
              <a:solidFill>
                <a:srgbClr val="DBE7F8"/>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40664" y="4261104"/>
            <a:ext cx="10533888" cy="594360"/>
          </a:xfrm>
          <a:prstGeom prst="rect">
            <a:avLst/>
          </a:prstGeom>
          <a:noFill/>
          <a:ln w="0">
            <a:noFill/>
          </a:ln>
        </p:spPr>
        <p:txBody>
          <a:bodyPr wrap="square" lIns="0" tIns="0" rIns="0" bIns="0" anchor="t">
            <a:noAutofit/>
          </a:bodyPr>
          <a:lstStyle/>
          <a:p>
            <a:pPr algn="l">
              <a:defRPr sz="1800" b="0">
                <a:solidFill>
                  <a:srgbClr val="DBE7F8"/>
                </a:solidFill>
                <a:latin typeface="微软雅黑" panose="020B0503020204020204" charset="-122"/>
                <a:ea typeface="微软雅黑" panose="020B0503020204020204" charset="-122"/>
                <a:cs typeface="微软雅黑" panose="020B0503020204020204" charset="-122"/>
              </a:defRPr>
            </a:pPr>
            <a:r>
              <a:rPr sz="1350" b="0">
                <a:solidFill>
                  <a:srgbClr val="DBE7F8"/>
                </a:solidFill>
                <a:latin typeface="微软雅黑" panose="020B0503020204020204" charset="-122"/>
                <a:ea typeface="微软雅黑" panose="020B0503020204020204" charset="-122"/>
                <a:cs typeface="微软雅黑" panose="020B0503020204020204" charset="-122"/>
              </a:rPr>
              <a:t>论文作者：H. M. Sabbir Ahmad, Ehsan Sabouni, Alexander Wasilkoff, Param Budhraja, Zijian Guo, Songyuan Zhang, Chuchu Fan, Christos Cassandras, Wenchao Li</a:t>
            </a:r>
            <a:endParaRPr sz="1800" b="0">
              <a:solidFill>
                <a:srgbClr val="DBE7F8"/>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0" y="6172200"/>
            <a:ext cx="12192000" cy="314325"/>
          </a:xfrm>
          <a:prstGeom prst="rect">
            <a:avLst/>
          </a:prstGeom>
          <a:solidFill>
            <a:srgbClr val="FFFFFF"/>
          </a:solidFill>
          <a:ln w="0">
            <a:noFill/>
          </a:ln>
        </p:spPr>
      </p:sp>
      <p:sp>
        <p:nvSpPr>
          <p:cNvPr id="9" name="矩形 8"/>
          <p:cNvSpPr>
            <a:spLocks noGrp="1"/>
          </p:cNvSpPr>
          <p:nvPr/>
        </p:nvSpPr>
        <p:spPr>
          <a:xfrm>
            <a:off x="714375" y="6238875"/>
            <a:ext cx="10858500" cy="238125"/>
          </a:xfrm>
          <a:prstGeom prst="rect">
            <a:avLst/>
          </a:prstGeom>
          <a:noFill/>
          <a:ln w="0">
            <a:noFill/>
          </a:ln>
        </p:spPr>
        <p:txBody>
          <a:bodyPr wrap="square" lIns="0" tIns="0" rIns="0" bIns="0" anchor="t">
            <a:noAutofit/>
          </a:bodyPr>
          <a:lstStyle/>
          <a:p>
            <a:pPr algn="l">
              <a:defRPr sz="1275" b="0">
                <a:solidFill>
                  <a:srgbClr val="06245B"/>
                </a:solidFill>
                <a:latin typeface="微软雅黑" panose="020B0503020204020204" charset="-122"/>
                <a:ea typeface="微软雅黑" panose="020B0503020204020204" charset="-122"/>
                <a:cs typeface="微软雅黑" panose="020B0503020204020204" charset="-122"/>
              </a:defRPr>
            </a:pPr>
            <a:r>
              <a:rPr sz="1200" b="0">
                <a:solidFill>
                  <a:srgbClr val="06245B"/>
                </a:solidFill>
                <a:latin typeface="微软雅黑" panose="020B0503020204020204" charset="-122"/>
                <a:ea typeface="微软雅黑" panose="020B0503020204020204" charset="-122"/>
                <a:cs typeface="微软雅黑" panose="020B0503020204020204" charset="-122"/>
              </a:rPr>
              <a:t>同济大学电子与信息工程学院  ·  方班研讨厅学习汇报</a:t>
            </a:r>
            <a:endParaRPr sz="1275" b="0">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新增文本 13"/>
          <p:cNvSpPr>
            <a:spLocks noGrp="1"/>
          </p:cNvSpPr>
          <p:nvPr/>
        </p:nvSpPr>
        <p:spPr>
          <a:xfrm>
            <a:off x="740664" y="4901184"/>
            <a:ext cx="10479024" cy="283464"/>
          </a:xfrm>
          <a:prstGeom prst="rect">
            <a:avLst/>
          </a:prstGeom>
          <a:noFill/>
          <a:ln w="0">
            <a:noFill/>
          </a:ln>
        </p:spPr>
        <p:txBody>
          <a:bodyPr wrap="square" lIns="0" tIns="0" rIns="0" bIns="0" anchor="t">
            <a:noAutofit/>
          </a:bodyPr>
          <a:lstStyle/>
          <a:p>
            <a:pPr algn="l">
              <a:defRPr sz="1800" b="0">
                <a:solidFill>
                  <a:srgbClr val="DBE7F8"/>
                </a:solidFill>
                <a:latin typeface="微软雅黑" panose="020B0503020204020204" charset="-122"/>
                <a:ea typeface="微软雅黑" panose="020B0503020204020204" charset="-122"/>
                <a:cs typeface="微软雅黑" panose="020B0503020204020204" charset="-122"/>
              </a:defRPr>
            </a:pPr>
            <a:r>
              <a:rPr sz="1600" b="0">
                <a:solidFill>
                  <a:srgbClr val="DBE7F8"/>
                </a:solidFill>
                <a:latin typeface="微软雅黑" panose="020B0503020204020204" charset="-122"/>
                <a:ea typeface="微软雅黑" panose="020B0503020204020204" charset="-122"/>
                <a:cs typeface="微软雅黑" panose="020B0503020204020204" charset="-122"/>
              </a:rPr>
              <a:t>会议：第39届神经信息处理系统大会（NeurIPS 2025）</a:t>
            </a:r>
            <a:endParaRPr sz="1800" b="0">
              <a:solidFill>
                <a:srgbClr val="DBE7F8"/>
              </a:solidFill>
              <a:latin typeface="微软雅黑" panose="020B0503020204020204" charset="-122"/>
              <a:ea typeface="微软雅黑" panose="020B0503020204020204" charset="-122"/>
              <a:cs typeface="微软雅黑" panose="020B0503020204020204" charset="-122"/>
            </a:endParaRPr>
          </a:p>
        </p:txBody>
      </p:sp>
      <p:sp>
        <p:nvSpPr>
          <p:cNvPr id="14" name="新增文本 14"/>
          <p:cNvSpPr>
            <a:spLocks noGrp="1"/>
          </p:cNvSpPr>
          <p:nvPr/>
        </p:nvSpPr>
        <p:spPr>
          <a:xfrm>
            <a:off x="740664" y="5285232"/>
            <a:ext cx="10479024" cy="292608"/>
          </a:xfrm>
          <a:prstGeom prst="rect">
            <a:avLst/>
          </a:prstGeom>
          <a:noFill/>
          <a:ln w="0">
            <a:noFill/>
          </a:ln>
        </p:spPr>
        <p:txBody>
          <a:bodyPr wrap="square" lIns="0" tIns="0" rIns="0" bIns="0" anchor="t">
            <a:noAutofit/>
          </a:bodyPr>
          <a:lstStyle/>
          <a:p>
            <a:pPr algn="l">
              <a:defRPr sz="1800" b="0">
                <a:solidFill>
                  <a:srgbClr val="DBE7F8"/>
                </a:solidFill>
                <a:latin typeface="微软雅黑" panose="020B0503020204020204" charset="-122"/>
                <a:ea typeface="微软雅黑" panose="020B0503020204020204" charset="-122"/>
                <a:cs typeface="微软雅黑" panose="020B0503020204020204" charset="-122"/>
              </a:defRPr>
            </a:pPr>
            <a:r>
              <a:rPr sz="1600" b="0">
                <a:solidFill>
                  <a:srgbClr val="DBE7F8"/>
                </a:solidFill>
                <a:latin typeface="微软雅黑" panose="020B0503020204020204" charset="-122"/>
                <a:ea typeface="微软雅黑" panose="020B0503020204020204" charset="-122"/>
                <a:cs typeface="微软雅黑" panose="020B0503020204020204" charset="-122"/>
              </a:rPr>
              <a:t>汇报人：张海博     指导老师：曾一锋</a:t>
            </a:r>
            <a:endParaRPr sz="1800" b="0">
              <a:solidFill>
                <a:srgbClr val="DBE7F8"/>
              </a:solidFill>
              <a:latin typeface="微软雅黑" panose="020B0503020204020204" charset="-122"/>
              <a:ea typeface="微软雅黑" panose="020B0503020204020204" charset="-122"/>
              <a:cs typeface="微软雅黑" panose="020B0503020204020204" charset="-122"/>
            </a:endParaRPr>
          </a:p>
        </p:txBody>
      </p:sp>
      <p:sp>
        <p:nvSpPr>
          <p:cNvPr id="15" name="新增文本 15"/>
          <p:cNvSpPr>
            <a:spLocks noGrp="1"/>
          </p:cNvSpPr>
          <p:nvPr/>
        </p:nvSpPr>
        <p:spPr>
          <a:xfrm>
            <a:off x="740664" y="5641848"/>
            <a:ext cx="10479024" cy="283464"/>
          </a:xfrm>
          <a:prstGeom prst="rect">
            <a:avLst/>
          </a:prstGeom>
          <a:noFill/>
          <a:ln w="0">
            <a:noFill/>
          </a:ln>
        </p:spPr>
        <p:txBody>
          <a:bodyPr wrap="square" lIns="0" tIns="0" rIns="0" bIns="0" anchor="t">
            <a:noAutofit/>
          </a:bodyPr>
          <a:lstStyle/>
          <a:p>
            <a:pPr algn="l">
              <a:defRPr sz="1800" b="0">
                <a:solidFill>
                  <a:srgbClr val="DBE7F8"/>
                </a:solidFill>
                <a:latin typeface="微软雅黑" panose="020B0503020204020204" charset="-122"/>
                <a:ea typeface="微软雅黑" panose="020B0503020204020204" charset="-122"/>
                <a:cs typeface="微软雅黑" panose="020B0503020204020204" charset="-122"/>
              </a:defRPr>
            </a:pPr>
            <a:r>
              <a:rPr sz="1600" b="0">
                <a:solidFill>
                  <a:srgbClr val="DBE7F8"/>
                </a:solidFill>
                <a:latin typeface="微软雅黑" panose="020B0503020204020204" charset="-122"/>
                <a:ea typeface="微软雅黑" panose="020B0503020204020204" charset="-122"/>
                <a:cs typeface="微软雅黑" panose="020B0503020204020204" charset="-122"/>
              </a:rPr>
              <a:t>汇报日期：2026年10月18日</a:t>
            </a:r>
            <a:endParaRPr sz="1800" b="0">
              <a:solidFill>
                <a:srgbClr val="DBE7F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8" name="矩形 2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00</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汇报内容与研究逻辑</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PRESENTATION ROADMAP</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32" name="图片 3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02</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47750" y="1847850"/>
            <a:ext cx="904875" cy="476250"/>
          </a:xfrm>
          <a:prstGeom prst="rect">
            <a:avLst/>
          </a:prstGeom>
          <a:noFill/>
          <a:ln w="0">
            <a:noFill/>
          </a:ln>
        </p:spPr>
        <p:txBody>
          <a:bodyPr wrap="square" lIns="0" tIns="0" rIns="0" bIns="0" anchor="t">
            <a:noAutofit/>
          </a:bodyPr>
          <a:lstStyle/>
          <a:p>
            <a:pPr algn="l">
              <a:defRPr sz="2550" b="1">
                <a:solidFill>
                  <a:srgbClr val="1F4C91"/>
                </a:solidFill>
                <a:latin typeface="微软雅黑" panose="020B0503020204020204" charset="-122"/>
                <a:ea typeface="微软雅黑" panose="020B0503020204020204" charset="-122"/>
                <a:cs typeface="微软雅黑" panose="020B0503020204020204" charset="-122"/>
              </a:defRPr>
            </a:pPr>
            <a:r>
              <a:rPr sz="2550" b="1">
                <a:solidFill>
                  <a:srgbClr val="1F4C91"/>
                </a:solidFill>
                <a:latin typeface="微软雅黑" panose="020B0503020204020204" charset="-122"/>
                <a:ea typeface="微软雅黑" panose="020B0503020204020204" charset="-122"/>
                <a:cs typeface="微软雅黑" panose="020B0503020204020204" charset="-122"/>
              </a:rPr>
              <a:t>01</a:t>
            </a:r>
            <a:endParaRPr sz="25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2286000" y="1847850"/>
            <a:ext cx="4476750"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研究背景与问题定义</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6858000" y="1885950"/>
            <a:ext cx="4667250" cy="542925"/>
          </a:xfrm>
          <a:prstGeom prst="rect">
            <a:avLst/>
          </a:prstGeom>
          <a:noFill/>
          <a:ln w="0">
            <a:noFill/>
          </a:ln>
        </p:spPr>
        <p:txBody>
          <a:bodyPr wrap="square" lIns="0" tIns="0" rIns="0" bIns="0" anchor="t">
            <a:noAutofit/>
          </a:bodyPr>
          <a:lstStyle/>
          <a:p>
            <a:pPr algn="l">
              <a:defRPr sz="1725" b="0">
                <a:solidFill>
                  <a:srgbClr val="697991"/>
                </a:solidFill>
                <a:latin typeface="微软雅黑" panose="020B0503020204020204" charset="-122"/>
                <a:ea typeface="微软雅黑" panose="020B0503020204020204" charset="-122"/>
                <a:cs typeface="微软雅黑" panose="020B0503020204020204" charset="-122"/>
              </a:defRPr>
            </a:pPr>
            <a:r>
              <a:rPr sz="1725" b="0">
                <a:solidFill>
                  <a:srgbClr val="697991"/>
                </a:solidFill>
                <a:latin typeface="微软雅黑" panose="020B0503020204020204" charset="-122"/>
                <a:ea typeface="微软雅黑" panose="020B0503020204020204" charset="-122"/>
                <a:cs typeface="微软雅黑" panose="020B0503020204020204" charset="-122"/>
              </a:rPr>
              <a:t>从多车任务目标到逐时刻安全约束</a:t>
            </a:r>
            <a:endParaRPr sz="1725"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2286000" y="2466975"/>
            <a:ext cx="9191625" cy="9525"/>
          </a:xfrm>
          <a:prstGeom prst="roundRect">
            <a:avLst>
              <a:gd name="adj" fmla="val 50000"/>
            </a:avLst>
          </a:prstGeom>
          <a:solidFill>
            <a:srgbClr val="D6E1F1"/>
          </a:solidFill>
          <a:ln w="0">
            <a:noFill/>
          </a:ln>
        </p:spPr>
      </p:sp>
      <p:sp>
        <p:nvSpPr>
          <p:cNvPr id="12" name="矩形 11"/>
          <p:cNvSpPr>
            <a:spLocks noGrp="1"/>
          </p:cNvSpPr>
          <p:nvPr/>
        </p:nvSpPr>
        <p:spPr>
          <a:xfrm>
            <a:off x="1047750" y="2686050"/>
            <a:ext cx="904875" cy="476250"/>
          </a:xfrm>
          <a:prstGeom prst="rect">
            <a:avLst/>
          </a:prstGeom>
          <a:noFill/>
          <a:ln w="0">
            <a:noFill/>
          </a:ln>
        </p:spPr>
        <p:txBody>
          <a:bodyPr wrap="square" lIns="0" tIns="0" rIns="0" bIns="0" anchor="t">
            <a:noAutofit/>
          </a:bodyPr>
          <a:lstStyle/>
          <a:p>
            <a:pPr algn="l">
              <a:defRPr sz="2550" b="1">
                <a:solidFill>
                  <a:srgbClr val="1F4C91"/>
                </a:solidFill>
                <a:latin typeface="微软雅黑" panose="020B0503020204020204" charset="-122"/>
                <a:ea typeface="微软雅黑" panose="020B0503020204020204" charset="-122"/>
                <a:cs typeface="微软雅黑" panose="020B0503020204020204" charset="-122"/>
              </a:defRPr>
            </a:pPr>
            <a:r>
              <a:rPr sz="2550" b="1">
                <a:solidFill>
                  <a:srgbClr val="1F4C91"/>
                </a:solidFill>
                <a:latin typeface="微软雅黑" panose="020B0503020204020204" charset="-122"/>
                <a:ea typeface="微软雅黑" panose="020B0503020204020204" charset="-122"/>
                <a:cs typeface="微软雅黑" panose="020B0503020204020204" charset="-122"/>
              </a:rPr>
              <a:t>02</a:t>
            </a:r>
            <a:endParaRPr sz="25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2286000" y="2686050"/>
            <a:ext cx="4476750"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分层方法与安全约束</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858000" y="2724150"/>
            <a:ext cx="4667250" cy="542925"/>
          </a:xfrm>
          <a:prstGeom prst="rect">
            <a:avLst/>
          </a:prstGeom>
          <a:noFill/>
          <a:ln w="0">
            <a:noFill/>
          </a:ln>
        </p:spPr>
        <p:txBody>
          <a:bodyPr wrap="square" lIns="0" tIns="0" rIns="0" bIns="0" anchor="t">
            <a:noAutofit/>
          </a:bodyPr>
          <a:lstStyle/>
          <a:p>
            <a:pPr algn="l">
              <a:defRPr sz="1725" b="0">
                <a:solidFill>
                  <a:srgbClr val="697991"/>
                </a:solidFill>
                <a:latin typeface="微软雅黑" panose="020B0503020204020204" charset="-122"/>
                <a:ea typeface="微软雅黑" panose="020B0503020204020204" charset="-122"/>
                <a:cs typeface="微软雅黑" panose="020B0503020204020204" charset="-122"/>
              </a:defRPr>
            </a:pPr>
            <a:r>
              <a:rPr sz="1725" b="0">
                <a:solidFill>
                  <a:srgbClr val="697991"/>
                </a:solidFill>
                <a:latin typeface="微软雅黑" panose="020B0503020204020204" charset="-122"/>
                <a:ea typeface="微软雅黑" panose="020B0503020204020204" charset="-122"/>
                <a:cs typeface="微软雅黑" panose="020B0503020204020204" charset="-122"/>
              </a:rPr>
              <a:t>技能时间模型、双层策略与安全二次规划</a:t>
            </a:r>
            <a:endParaRPr sz="1725"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2286000" y="3305175"/>
            <a:ext cx="9191625" cy="9525"/>
          </a:xfrm>
          <a:prstGeom prst="roundRect">
            <a:avLst>
              <a:gd name="adj" fmla="val 50000"/>
            </a:avLst>
          </a:prstGeom>
          <a:solidFill>
            <a:srgbClr val="D6E1F1"/>
          </a:solidFill>
          <a:ln w="0">
            <a:noFill/>
          </a:ln>
        </p:spPr>
      </p:sp>
      <p:sp>
        <p:nvSpPr>
          <p:cNvPr id="16" name="矩形 15"/>
          <p:cNvSpPr>
            <a:spLocks noGrp="1"/>
          </p:cNvSpPr>
          <p:nvPr/>
        </p:nvSpPr>
        <p:spPr>
          <a:xfrm>
            <a:off x="1047750" y="3524250"/>
            <a:ext cx="904875" cy="476250"/>
          </a:xfrm>
          <a:prstGeom prst="rect">
            <a:avLst/>
          </a:prstGeom>
          <a:noFill/>
          <a:ln w="0">
            <a:noFill/>
          </a:ln>
        </p:spPr>
        <p:txBody>
          <a:bodyPr wrap="square" lIns="0" tIns="0" rIns="0" bIns="0" anchor="t">
            <a:noAutofit/>
          </a:bodyPr>
          <a:lstStyle/>
          <a:p>
            <a:pPr algn="l">
              <a:defRPr sz="2550" b="1">
                <a:solidFill>
                  <a:srgbClr val="1F4C91"/>
                </a:solidFill>
                <a:latin typeface="微软雅黑" panose="020B0503020204020204" charset="-122"/>
                <a:ea typeface="微软雅黑" panose="020B0503020204020204" charset="-122"/>
                <a:cs typeface="微软雅黑" panose="020B0503020204020204" charset="-122"/>
              </a:defRPr>
            </a:pPr>
            <a:r>
              <a:rPr sz="2550" b="1">
                <a:solidFill>
                  <a:srgbClr val="1F4C91"/>
                </a:solidFill>
                <a:latin typeface="微软雅黑" panose="020B0503020204020204" charset="-122"/>
                <a:ea typeface="微软雅黑" panose="020B0503020204020204" charset="-122"/>
                <a:cs typeface="微软雅黑" panose="020B0503020204020204" charset="-122"/>
              </a:rPr>
              <a:t>03</a:t>
            </a:r>
            <a:endParaRPr sz="25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2286000" y="3524250"/>
            <a:ext cx="4476750"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论文实验与结果分析</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6858000" y="3562350"/>
            <a:ext cx="4667250" cy="542925"/>
          </a:xfrm>
          <a:prstGeom prst="rect">
            <a:avLst/>
          </a:prstGeom>
          <a:noFill/>
          <a:ln w="0">
            <a:noFill/>
          </a:ln>
        </p:spPr>
        <p:txBody>
          <a:bodyPr wrap="square" lIns="0" tIns="0" rIns="0" bIns="0" anchor="t">
            <a:noAutofit/>
          </a:bodyPr>
          <a:lstStyle/>
          <a:p>
            <a:pPr algn="l">
              <a:defRPr sz="1725" b="0">
                <a:solidFill>
                  <a:srgbClr val="697991"/>
                </a:solidFill>
                <a:latin typeface="微软雅黑" panose="020B0503020204020204" charset="-122"/>
                <a:ea typeface="微软雅黑" panose="020B0503020204020204" charset="-122"/>
                <a:cs typeface="微软雅黑" panose="020B0503020204020204" charset="-122"/>
              </a:defRPr>
            </a:pPr>
            <a:r>
              <a:rPr sz="1725" b="0">
                <a:solidFill>
                  <a:srgbClr val="697991"/>
                </a:solidFill>
                <a:latin typeface="微软雅黑" panose="020B0503020204020204" charset="-122"/>
                <a:ea typeface="微软雅黑" panose="020B0503020204020204" charset="-122"/>
                <a:cs typeface="微软雅黑" panose="020B0503020204020204" charset="-122"/>
              </a:rPr>
              <a:t>任务成功率、模块消融与适用边界</a:t>
            </a:r>
            <a:endParaRPr sz="1725"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2286000" y="4143375"/>
            <a:ext cx="9191625" cy="9525"/>
          </a:xfrm>
          <a:prstGeom prst="roundRect">
            <a:avLst>
              <a:gd name="adj" fmla="val 50000"/>
            </a:avLst>
          </a:prstGeom>
          <a:solidFill>
            <a:srgbClr val="D6E1F1"/>
          </a:solidFill>
          <a:ln w="0">
            <a:noFill/>
          </a:ln>
        </p:spPr>
      </p:sp>
      <p:sp>
        <p:nvSpPr>
          <p:cNvPr id="20" name="矩形 19"/>
          <p:cNvSpPr>
            <a:spLocks noGrp="1"/>
          </p:cNvSpPr>
          <p:nvPr/>
        </p:nvSpPr>
        <p:spPr>
          <a:xfrm>
            <a:off x="1047750" y="4362450"/>
            <a:ext cx="904875" cy="476250"/>
          </a:xfrm>
          <a:prstGeom prst="rect">
            <a:avLst/>
          </a:prstGeom>
          <a:noFill/>
          <a:ln w="0">
            <a:noFill/>
          </a:ln>
        </p:spPr>
        <p:txBody>
          <a:bodyPr wrap="square" lIns="0" tIns="0" rIns="0" bIns="0" anchor="t">
            <a:noAutofit/>
          </a:bodyPr>
          <a:lstStyle/>
          <a:p>
            <a:pPr algn="l">
              <a:defRPr sz="2550" b="1">
                <a:solidFill>
                  <a:srgbClr val="1F4C91"/>
                </a:solidFill>
                <a:latin typeface="微软雅黑" panose="020B0503020204020204" charset="-122"/>
                <a:ea typeface="微软雅黑" panose="020B0503020204020204" charset="-122"/>
                <a:cs typeface="微软雅黑" panose="020B0503020204020204" charset="-122"/>
              </a:defRPr>
            </a:pPr>
            <a:r>
              <a:rPr sz="2550" b="1">
                <a:solidFill>
                  <a:srgbClr val="1F4C91"/>
                </a:solidFill>
                <a:latin typeface="微软雅黑" panose="020B0503020204020204" charset="-122"/>
                <a:ea typeface="微软雅黑" panose="020B0503020204020204" charset="-122"/>
                <a:cs typeface="微软雅黑" panose="020B0503020204020204" charset="-122"/>
              </a:rPr>
              <a:t>04</a:t>
            </a:r>
            <a:endParaRPr sz="25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2286000" y="4362450"/>
            <a:ext cx="4476750"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算法迁移与仿真展示</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6858000" y="4400550"/>
            <a:ext cx="4667250" cy="542925"/>
          </a:xfrm>
          <a:prstGeom prst="rect">
            <a:avLst/>
          </a:prstGeom>
          <a:noFill/>
          <a:ln w="0">
            <a:noFill/>
          </a:ln>
        </p:spPr>
        <p:txBody>
          <a:bodyPr wrap="square" lIns="0" tIns="0" rIns="0" bIns="0" anchor="t">
            <a:noAutofit/>
          </a:bodyPr>
          <a:lstStyle/>
          <a:p>
            <a:pPr algn="l">
              <a:defRPr sz="1725" b="0">
                <a:solidFill>
                  <a:srgbClr val="697991"/>
                </a:solidFill>
                <a:latin typeface="微软雅黑" panose="020B0503020204020204" charset="-122"/>
                <a:ea typeface="微软雅黑" panose="020B0503020204020204" charset="-122"/>
                <a:cs typeface="微软雅黑" panose="020B0503020204020204" charset="-122"/>
              </a:defRPr>
            </a:pPr>
            <a:r>
              <a:rPr sz="1725" b="0">
                <a:solidFill>
                  <a:srgbClr val="697991"/>
                </a:solidFill>
                <a:latin typeface="微软雅黑" panose="020B0503020204020204" charset="-122"/>
                <a:ea typeface="微软雅黑" panose="020B0503020204020204" charset="-122"/>
                <a:cs typeface="微软雅黑" panose="020B0503020204020204" charset="-122"/>
              </a:rPr>
              <a:t>四类交通场景中的交互行为分析</a:t>
            </a:r>
            <a:endParaRPr sz="1725"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23" name="圆角矩形 22"/>
          <p:cNvSpPr>
            <a:spLocks noGrp="1"/>
          </p:cNvSpPr>
          <p:nvPr/>
        </p:nvSpPr>
        <p:spPr>
          <a:xfrm>
            <a:off x="2286000" y="4981575"/>
            <a:ext cx="9191625" cy="9525"/>
          </a:xfrm>
          <a:prstGeom prst="roundRect">
            <a:avLst>
              <a:gd name="adj" fmla="val 50000"/>
            </a:avLst>
          </a:prstGeom>
          <a:solidFill>
            <a:srgbClr val="D6E1F1"/>
          </a:solidFill>
          <a:ln w="0">
            <a:noFill/>
          </a:ln>
        </p:spPr>
      </p:sp>
      <p:sp>
        <p:nvSpPr>
          <p:cNvPr id="24" name="矩形 23"/>
          <p:cNvSpPr>
            <a:spLocks noGrp="1"/>
          </p:cNvSpPr>
          <p:nvPr/>
        </p:nvSpPr>
        <p:spPr>
          <a:xfrm>
            <a:off x="1047750" y="5200650"/>
            <a:ext cx="904875" cy="476250"/>
          </a:xfrm>
          <a:prstGeom prst="rect">
            <a:avLst/>
          </a:prstGeom>
          <a:noFill/>
          <a:ln w="0">
            <a:noFill/>
          </a:ln>
        </p:spPr>
        <p:txBody>
          <a:bodyPr wrap="square" lIns="0" tIns="0" rIns="0" bIns="0" anchor="t">
            <a:noAutofit/>
          </a:bodyPr>
          <a:lstStyle/>
          <a:p>
            <a:pPr algn="l">
              <a:defRPr sz="2550" b="1">
                <a:solidFill>
                  <a:srgbClr val="1F4C91"/>
                </a:solidFill>
                <a:latin typeface="微软雅黑" panose="020B0503020204020204" charset="-122"/>
                <a:ea typeface="微软雅黑" panose="020B0503020204020204" charset="-122"/>
                <a:cs typeface="微软雅黑" panose="020B0503020204020204" charset="-122"/>
              </a:defRPr>
            </a:pPr>
            <a:r>
              <a:rPr sz="2550" b="1">
                <a:solidFill>
                  <a:srgbClr val="1F4C91"/>
                </a:solidFill>
                <a:latin typeface="微软雅黑" panose="020B0503020204020204" charset="-122"/>
                <a:ea typeface="微软雅黑" panose="020B0503020204020204" charset="-122"/>
                <a:cs typeface="微软雅黑" panose="020B0503020204020204" charset="-122"/>
              </a:rPr>
              <a:t>05</a:t>
            </a:r>
            <a:endParaRPr sz="25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2286000" y="5200650"/>
            <a:ext cx="4476750"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研究总结与未来方向</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6858000" y="5238750"/>
            <a:ext cx="4667250" cy="542925"/>
          </a:xfrm>
          <a:prstGeom prst="rect">
            <a:avLst/>
          </a:prstGeom>
          <a:noFill/>
          <a:ln w="0">
            <a:noFill/>
          </a:ln>
        </p:spPr>
        <p:txBody>
          <a:bodyPr wrap="square" lIns="0" tIns="0" rIns="0" bIns="0" anchor="t">
            <a:noAutofit/>
          </a:bodyPr>
          <a:lstStyle/>
          <a:p>
            <a:pPr algn="l">
              <a:defRPr sz="1725" b="0">
                <a:solidFill>
                  <a:srgbClr val="697991"/>
                </a:solidFill>
                <a:latin typeface="微软雅黑" panose="020B0503020204020204" charset="-122"/>
                <a:ea typeface="微软雅黑" panose="020B0503020204020204" charset="-122"/>
                <a:cs typeface="微软雅黑" panose="020B0503020204020204" charset="-122"/>
              </a:defRPr>
            </a:pPr>
            <a:r>
              <a:rPr sz="1725" b="0">
                <a:solidFill>
                  <a:srgbClr val="697991"/>
                </a:solidFill>
                <a:latin typeface="微软雅黑" panose="020B0503020204020204" charset="-122"/>
                <a:ea typeface="微软雅黑" panose="020B0503020204020204" charset="-122"/>
                <a:cs typeface="微软雅黑" panose="020B0503020204020204" charset="-122"/>
              </a:rPr>
              <a:t>对手建模、多智能体学习与安全控制融合</a:t>
            </a:r>
            <a:endParaRPr sz="1725"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27" name="圆角矩形 26"/>
          <p:cNvSpPr>
            <a:spLocks noGrp="1"/>
          </p:cNvSpPr>
          <p:nvPr/>
        </p:nvSpPr>
        <p:spPr>
          <a:xfrm>
            <a:off x="2286000" y="5819775"/>
            <a:ext cx="9191625" cy="9525"/>
          </a:xfrm>
          <a:prstGeom prst="roundRect">
            <a:avLst>
              <a:gd name="adj" fmla="val 50000"/>
            </a:avLst>
          </a:prstGeom>
          <a:solidFill>
            <a:srgbClr val="D6E1F1"/>
          </a:solidFill>
          <a:ln w="0">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01</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研究背景：由单车安全控制扩展至多车交互</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RESEARCH MOTIVATION</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0" name="图片 19"/>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03</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图：论文中文版第37页，附录道路场景示意</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4" name="图片 23"/>
          <p:cNvPicPr>
            <a:picLocks noChangeAspect="1"/>
          </p:cNvPicPr>
          <p:nvPr/>
        </p:nvPicPr>
        <p:blipFill>
          <a:blip r:embed="rId2"/>
          <a:stretch>
            <a:fillRect/>
          </a:stretch>
        </p:blipFill>
        <p:spPr>
          <a:xfrm>
            <a:off x="5762876" y="1952625"/>
            <a:ext cx="5609724" cy="3552825"/>
          </a:xfrm>
          <a:prstGeom prst="rect">
            <a:avLst/>
          </a:prstGeom>
        </p:spPr>
      </p:pic>
      <p:sp>
        <p:nvSpPr>
          <p:cNvPr id="10" name="矩形 9"/>
          <p:cNvSpPr>
            <a:spLocks noGrp="1"/>
          </p:cNvSpPr>
          <p:nvPr/>
        </p:nvSpPr>
        <p:spPr>
          <a:xfrm>
            <a:off x="1000125" y="1990725"/>
            <a:ext cx="4238625"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前期研究基础</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00125" y="2533650"/>
            <a:ext cx="4333875" cy="1143000"/>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基于控制李雅普诺夫函数、控制屏障函数与二次规划的轨迹跟踪与避障控制，能够在满足安全约束的条件下实现单车运动控制。</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000125" y="3905250"/>
            <a:ext cx="4333875" cy="400050"/>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多车场景的新增问题</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000125" y="4448175"/>
            <a:ext cx="4333875" cy="1143000"/>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车辆具有独立的行为意图，交互决策会改变彼此的可行运动空间，需要联合考虑通行顺序与安全执行。</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1047750" y="5657850"/>
            <a:ext cx="10477500" cy="457200"/>
          </a:xfrm>
          <a:prstGeom prst="roundRect">
            <a:avLst>
              <a:gd name="adj" fmla="val 14583"/>
            </a:avLst>
          </a:prstGeom>
          <a:solidFill>
            <a:srgbClr val="EFF4FC"/>
          </a:solidFill>
          <a:ln w="0">
            <a:noFill/>
          </a:ln>
        </p:spPr>
      </p:sp>
      <p:sp>
        <p:nvSpPr>
          <p:cNvPr id="15" name="矩形 14"/>
          <p:cNvSpPr>
            <a:spLocks noGrp="1"/>
          </p:cNvSpPr>
          <p:nvPr/>
        </p:nvSpPr>
        <p:spPr>
          <a:xfrm>
            <a:off x="1257300" y="5753100"/>
            <a:ext cx="10048875" cy="323850"/>
          </a:xfrm>
          <a:prstGeom prst="rect">
            <a:avLst/>
          </a:prstGeom>
          <a:noFill/>
          <a:ln w="0">
            <a:noFill/>
          </a:ln>
        </p:spPr>
        <p:txBody>
          <a:bodyPr wrap="square" lIns="0" tIns="0" rIns="0" bIns="0" anchor="t">
            <a:noAutofit/>
          </a:bodyPr>
          <a:lstStyle/>
          <a:p>
            <a:pPr algn="ctr">
              <a:defRPr sz="1725" b="1">
                <a:solidFill>
                  <a:srgbClr val="06245B"/>
                </a:solidFill>
                <a:latin typeface="微软雅黑" panose="020B0503020204020204" charset="-122"/>
                <a:ea typeface="微软雅黑" panose="020B0503020204020204" charset="-122"/>
                <a:cs typeface="微软雅黑" panose="020B0503020204020204" charset="-122"/>
              </a:defRPr>
            </a:pPr>
            <a:r>
              <a:rPr sz="1725" b="1">
                <a:solidFill>
                  <a:srgbClr val="06245B"/>
                </a:solidFill>
                <a:latin typeface="微软雅黑" panose="020B0503020204020204" charset="-122"/>
                <a:ea typeface="微软雅黑" panose="020B0503020204020204" charset="-122"/>
                <a:cs typeface="微软雅黑" panose="020B0503020204020204" charset="-122"/>
              </a:rPr>
              <a:t>研究动机：在已有安全控制框架上，引入能够表达车辆交互的分层决策机制</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01</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冲突道路中的两个难题：协作通行与逐时刻安全</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PROBLEM AND CONTRIBUTION</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7" name="图片 16"/>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04</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来源：论文中文版第2–3页、第7–10页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019175" y="1724025"/>
            <a:ext cx="10429875" cy="619125"/>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冲突路口中，每辆车都要决定何时通行、何时让行；同时，防碰撞和道路边界约束必须在每个控制步满足。</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p:graphicFrame>
        <p:nvGraphicFramePr>
          <p:cNvPr id="22" name="表格 21"/>
          <p:cNvGraphicFramePr/>
          <p:nvPr/>
        </p:nvGraphicFramePr>
        <p:xfrm>
          <a:off x="1000125" y="2609850"/>
          <a:ext cx="10477500" cy="2581276"/>
        </p:xfrm>
        <a:graphic>
          <a:graphicData uri="http://schemas.openxmlformats.org/drawingml/2006/table">
            <a:tbl>
              <a:tblPr/>
              <a:tblGrid>
                <a:gridCol w="3714750"/>
                <a:gridCol w="6762750"/>
              </a:tblGrid>
              <a:tr h="645319">
                <a:tc>
                  <a:txBody>
                    <a:bodyPr/>
                    <a:lstStyle/>
                    <a:p>
                      <a:pPr algn="l"/>
                      <a:r>
                        <a:rPr sz="1800" b="1">
                          <a:solidFill>
                            <a:srgbClr val="FFFFFF"/>
                          </a:solidFill>
                          <a:latin typeface="微软雅黑" panose="020B0503020204020204" charset="-122"/>
                          <a:ea typeface="微软雅黑" panose="020B0503020204020204" charset="-122"/>
                          <a:cs typeface="微软雅黑" panose="020B0503020204020204" charset="-122"/>
                        </a:rPr>
                        <a:t>关键难点</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方法设计与作用</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r>
              <a:tr h="645319">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联合动作空间随车辆数量增大</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通过语义技能进行时间抽象，降低高层决策复杂度</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r h="645319">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奖励惩罚难以提供逐时刻保证</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将 CBF 条件显式纳入 QP，约束低层控制动作</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645319">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局部观测与分散部署要求</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采用集中训练与分散执行，学习可部署的协作策略</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bl>
          </a:graphicData>
        </a:graphic>
      </p:graphicFrame>
      <p:sp>
        <p:nvSpPr>
          <p:cNvPr id="11" name="圆角矩形 10"/>
          <p:cNvSpPr>
            <a:spLocks noGrp="1"/>
          </p:cNvSpPr>
          <p:nvPr/>
        </p:nvSpPr>
        <p:spPr>
          <a:xfrm>
            <a:off x="1047750" y="5657850"/>
            <a:ext cx="10477500" cy="457200"/>
          </a:xfrm>
          <a:prstGeom prst="roundRect">
            <a:avLst>
              <a:gd name="adj" fmla="val 14583"/>
            </a:avLst>
          </a:prstGeom>
          <a:solidFill>
            <a:srgbClr val="EFF4FC"/>
          </a:solidFill>
          <a:ln w="0">
            <a:noFill/>
          </a:ln>
        </p:spPr>
      </p:sp>
      <p:sp>
        <p:nvSpPr>
          <p:cNvPr id="12" name="矩形 11"/>
          <p:cNvSpPr>
            <a:spLocks noGrp="1"/>
          </p:cNvSpPr>
          <p:nvPr/>
        </p:nvSpPr>
        <p:spPr>
          <a:xfrm>
            <a:off x="1257300" y="5753100"/>
            <a:ext cx="10048875" cy="323850"/>
          </a:xfrm>
          <a:prstGeom prst="rect">
            <a:avLst/>
          </a:prstGeom>
          <a:noFill/>
          <a:ln w="0">
            <a:noFill/>
          </a:ln>
        </p:spPr>
        <p:txBody>
          <a:bodyPr wrap="square" lIns="0" tIns="0" rIns="0" bIns="0" anchor="t">
            <a:noAutofit/>
          </a:bodyPr>
          <a:lstStyle/>
          <a:p>
            <a:pPr algn="ctr">
              <a:defRPr sz="1725" b="1">
                <a:solidFill>
                  <a:srgbClr val="06245B"/>
                </a:solidFill>
                <a:latin typeface="微软雅黑" panose="020B0503020204020204" charset="-122"/>
                <a:ea typeface="微软雅黑" panose="020B0503020204020204" charset="-122"/>
                <a:cs typeface="微软雅黑" panose="020B0503020204020204" charset="-122"/>
              </a:defRPr>
            </a:pPr>
            <a:r>
              <a:rPr sz="1725" b="1">
                <a:solidFill>
                  <a:srgbClr val="06245B"/>
                </a:solidFill>
                <a:latin typeface="微软雅黑" panose="020B0503020204020204" charset="-122"/>
                <a:ea typeface="微软雅黑" panose="020B0503020204020204" charset="-122"/>
                <a:cs typeface="微软雅黑" panose="020B0503020204020204" charset="-122"/>
              </a:rPr>
              <a:t>论文解法：高层决定谁先走、选什么技能；低层计算满足安全约束的实际动作。</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01</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研究目标的数学表述：任务代价与逐时刻安全</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PROBLEM FORMULATION</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05</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任务目标</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min_{\pi}\,\mathbb{E}_{\pi}[\sum_{t=0}^{\infty}\gamma^t\ell(s_t,a_t)]"/>
              <p:cNvSpPr>
                <a:spLocks noGrp="1"/>
              </p:cNvSpPr>
              <p:nvPr/>
            </p:nvSpPr>
            <p:spPr>
              <a:xfrm>
                <a:off x="3236976" y="1801368"/>
                <a:ext cx="8129016" cy="521208"/>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m:rPr>
                              <m:sty m:val="p"/>
                            </m:rPr>
                            <a:rPr lang="en-US" sz="1720">
                              <a:solidFill>
                                <a:srgbClr val="06245B"/>
                              </a:solidFill>
                              <a:latin typeface="Cambria Math" panose="02040503050406030204"/>
                            </a:rPr>
                            <m:t>min</m:t>
                          </m:r>
                        </m:e>
                        <m:sub>
                          <m:r>
                            <a:rPr lang="en-US" sz="1720">
                              <a:solidFill>
                                <a:srgbClr val="06245B"/>
                              </a:solidFill>
                              <a:latin typeface="Cambria Math" panose="02040503050406030204"/>
                            </a:rPr>
                            <m:t>𝜋</m:t>
                          </m:r>
                        </m:sub>
                      </m:sSub>
                      <m:r>
                        <a:rPr lang="en-US" sz="1720">
                          <a:solidFill>
                            <a:srgbClr val="06245B"/>
                          </a:solidFill>
                          <a:latin typeface="Cambria Math" panose="02040503050406030204"/>
                        </a:rPr>
                        <m:t> </m:t>
                      </m:r>
                      <m:sSub>
                        <m:sSubPr>
                          <m:ctrlPr>
                            <a:rPr/>
                          </m:ctrlPr>
                        </m:sSubPr>
                        <m:e>
                          <m:r>
                            <a:rPr lang="en-US" sz="1720">
                              <a:solidFill>
                                <a:srgbClr val="06245B"/>
                              </a:solidFill>
                              <a:latin typeface="Cambria Math" panose="02040503050406030204"/>
                            </a:rPr>
                            <m:t>𝔼</m:t>
                          </m:r>
                        </m:e>
                        <m:sub>
                          <m:r>
                            <a:rPr lang="en-US" sz="1720">
                              <a:solidFill>
                                <a:srgbClr val="06245B"/>
                              </a:solidFill>
                              <a:latin typeface="Cambria Math" panose="02040503050406030204"/>
                            </a:rPr>
                            <m:t>𝜋</m:t>
                          </m:r>
                        </m:sub>
                      </m:sSub>
                      <m:r>
                        <a:rPr lang="en-US" sz="1720">
                          <a:solidFill>
                            <a:srgbClr val="06245B"/>
                          </a:solidFill>
                          <a:latin typeface="Cambria Math" panose="02040503050406030204"/>
                        </a:rPr>
                        <m:t>[</m:t>
                      </m:r>
                      <m:sSubSup>
                        <m:sSubSupPr>
                          <m:ctrlPr>
                            <a:rPr/>
                          </m:ctrlPr>
                        </m:sSubSupPr>
                        <m:e>
                          <m:r>
                            <a:rPr lang="en-US" sz="1720">
                              <a:solidFill>
                                <a:srgbClr val="06245B"/>
                              </a:solidFill>
                              <a:latin typeface="Cambria Math" panose="02040503050406030204"/>
                            </a:rPr>
                            <m:t>∑</m:t>
                          </m:r>
                        </m:e>
                        <m:sub>
                          <m:r>
                            <a:rPr lang="en-US" sz="1720">
                              <a:solidFill>
                                <a:srgbClr val="06245B"/>
                              </a:solidFill>
                              <a:latin typeface="Cambria Math" panose="02040503050406030204"/>
                            </a:rPr>
                            <m:t>𝑡</m:t>
                          </m:r>
                          <m:r>
                            <a:rPr lang="en-US" sz="1720">
                              <a:solidFill>
                                <a:srgbClr val="06245B"/>
                              </a:solidFill>
                              <a:latin typeface="Cambria Math" panose="02040503050406030204"/>
                            </a:rPr>
                            <m:t>=</m:t>
                          </m:r>
                          <m:r>
                            <a:rPr lang="en-US" sz="1720">
                              <a:solidFill>
                                <a:srgbClr val="06245B"/>
                              </a:solidFill>
                              <a:latin typeface="Cambria Math" panose="02040503050406030204"/>
                            </a:rPr>
                            <m:t>0</m:t>
                          </m:r>
                        </m:sub>
                        <m:sup>
                          <m:r>
                            <a:rPr lang="en-US" sz="1720">
                              <a:solidFill>
                                <a:srgbClr val="06245B"/>
                              </a:solidFill>
                              <a:latin typeface="Cambria Math" panose="02040503050406030204"/>
                            </a:rPr>
                            <m:t>∞</m:t>
                          </m:r>
                        </m:sup>
                      </m:sSubSup>
                      <m:sSup>
                        <m:sSupPr>
                          <m:ctrlPr>
                            <a:rPr/>
                          </m:ctrlPr>
                        </m:sSupPr>
                        <m:e>
                          <m:r>
                            <a:rPr lang="en-US" sz="1720">
                              <a:solidFill>
                                <a:srgbClr val="06245B"/>
                              </a:solidFill>
                              <a:latin typeface="Cambria Math" panose="02040503050406030204"/>
                            </a:rPr>
                            <m:t>𝛾</m:t>
                          </m:r>
                        </m:e>
                        <m:sup>
                          <m:r>
                            <a:rPr lang="en-US" sz="1720">
                              <a:solidFill>
                                <a:srgbClr val="06245B"/>
                              </a:solidFill>
                              <a:latin typeface="Cambria Math" panose="02040503050406030204"/>
                            </a:rPr>
                            <m:t>𝑡</m:t>
                          </m:r>
                        </m:sup>
                      </m:sSup>
                      <m:r>
                        <a:rPr lang="en-US" sz="1720">
                          <a:solidFill>
                            <a:srgbClr val="06245B"/>
                          </a:solidFill>
                          <a:latin typeface="Cambria Math" panose="02040503050406030204"/>
                        </a:rPr>
                        <m:t>ℓ</m:t>
                      </m:r>
                      <m:r>
                        <a:rPr lang="en-US" sz="1720">
                          <a:solidFill>
                            <a:srgbClr val="06245B"/>
                          </a:solidFill>
                          <a:latin typeface="Cambria Math" panose="02040503050406030204"/>
                        </a:rPr>
                        <m:t>(</m:t>
                      </m:r>
                      <m:sSub>
                        <m:sSubPr>
                          <m:ctrlPr>
                            <a:rPr/>
                          </m:ctrlPr>
                        </m:sSubPr>
                        <m:e>
                          <m:r>
                            <a:rPr lang="en-US" sz="1720">
                              <a:solidFill>
                                <a:srgbClr val="06245B"/>
                              </a:solidFill>
                              <a:latin typeface="Cambria Math" panose="02040503050406030204"/>
                            </a:rPr>
                            <m:t>𝑠</m:t>
                          </m:r>
                        </m:e>
                        <m:sub>
                          <m:r>
                            <a:rPr lang="en-US" sz="1720">
                              <a:solidFill>
                                <a:srgbClr val="06245B"/>
                              </a:solidFill>
                              <a:latin typeface="Cambria Math" panose="02040503050406030204"/>
                            </a:rPr>
                            <m:t>𝑡</m:t>
                          </m:r>
                        </m:sub>
                      </m:sSub>
                      <m:r>
                        <a:rPr lang="en-US" sz="1720">
                          <a:solidFill>
                            <a:srgbClr val="06245B"/>
                          </a:solidFill>
                          <a:latin typeface="Cambria Math" panose="02040503050406030204"/>
                        </a:rPr>
                        <m:t>,</m:t>
                      </m:r>
                      <m:sSub>
                        <m:sSubPr>
                          <m:ctrlPr>
                            <a:rPr/>
                          </m:ctrlPr>
                        </m:sSubPr>
                        <m:e>
                          <m:r>
                            <a:rPr lang="en-US" sz="1720">
                              <a:solidFill>
                                <a:srgbClr val="06245B"/>
                              </a:solidFill>
                              <a:latin typeface="Cambria Math" panose="02040503050406030204"/>
                            </a:rPr>
                            <m:t>𝑎</m:t>
                          </m:r>
                        </m:e>
                        <m:sub>
                          <m:r>
                            <a:rPr lang="en-US" sz="1720">
                              <a:solidFill>
                                <a:srgbClr val="06245B"/>
                              </a:solidFill>
                              <a:latin typeface="Cambria Math" panose="02040503050406030204"/>
                            </a:rPr>
                            <m:t>𝑡</m:t>
                          </m:r>
                        </m:sub>
                      </m:sSub>
                      <m:r>
                        <a:rPr lang="en-US" sz="1720">
                          <a:solidFill>
                            <a:srgbClr val="06245B"/>
                          </a:solidFill>
                          <a:latin typeface="Cambria Math" panose="02040503050406030204"/>
                        </a:rPr>
                        <m:t>)</m:t>
                      </m:r>
                      <m:r>
                        <a:rPr lang="en-US" sz="172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min_{\pi}\,\mathbb{E}_{\pi}[\sum_{t=0}^{\infty}\gamma^t\ell(s_t,a_t)]"/>
              <p:cNvSpPr>
                <a:spLocks noRot="1" noChangeAspect="1" noMove="1" noResize="1" noEditPoints="1" noAdjustHandles="1" noChangeArrowheads="1" noChangeShapeType="1" noTextEdit="1"/>
              </p:cNvSpPr>
              <p:nvPr/>
            </p:nvSpPr>
            <p:spPr>
              <a:xfrm>
                <a:off x="3236976" y="1801368"/>
                <a:ext cx="8129016" cy="521208"/>
              </a:xfrm>
              <a:prstGeom prst="rect">
                <a:avLst/>
              </a:prstGeom>
              <a:blipFill rotWithShape="1">
                <a:blip r:embed="rId2"/>
                <a:stretch>
                  <a:fillRect l="-5" t="-97" r="2" b="73"/>
                </a:stretch>
              </a:blipFill>
              <a:ln w="0">
                <a:noFill/>
              </a:ln>
            </p:spPr>
            <p:txBody>
              <a:bodyPr/>
              <a:lstStyle/>
              <a:p>
                <a:r>
                  <a:rPr lang="zh-CN" altLang="en-US">
                    <a:noFill/>
                  </a:rPr>
                  <a:t> </a:t>
                </a:r>
              </a:p>
            </p:txBody>
          </p:sp>
        </mc:Fallback>
      </mc:AlternateContent>
      <p:sp>
        <p:nvSpPr>
          <p:cNvPr id="10" name="矩形 9"/>
          <p:cNvSpPr>
            <a:spLocks noGrp="1"/>
          </p:cNvSpPr>
          <p:nvPr/>
        </p:nvSpPr>
        <p:spPr>
          <a:xfrm>
            <a:off x="3236976" y="2368296"/>
            <a:ext cx="8092440" cy="603504"/>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论文式(6)的任务项：多车共同降低通行代价。s 为联合状态，a 为联合控制，l 汇总行驶与控制代价。</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硬安全</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b_j^i(o_t^i)\geq 0,\quad\forall i,j,t"/>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Sup>
                        <m:sSubSupPr>
                          <m:ctrlPr>
                            <a:rPr/>
                          </m:ctrlPr>
                        </m:sSubSupPr>
                        <m:e>
                          <m:r>
                            <a:rPr lang="en-US" sz="1920">
                              <a:solidFill>
                                <a:srgbClr val="06245B"/>
                              </a:solidFill>
                              <a:latin typeface="Cambria Math" panose="02040503050406030204"/>
                            </a:rPr>
                            <m:t>𝑏</m:t>
                          </m:r>
                        </m:e>
                        <m:sub>
                          <m:r>
                            <a:rPr lang="en-US" sz="1920">
                              <a:solidFill>
                                <a:srgbClr val="06245B"/>
                              </a:solidFill>
                              <a:latin typeface="Cambria Math" panose="02040503050406030204"/>
                            </a:rPr>
                            <m:t>𝑗</m:t>
                          </m:r>
                        </m:sub>
                        <m:sup>
                          <m:r>
                            <a:rPr lang="en-US" sz="1920">
                              <a:solidFill>
                                <a:srgbClr val="06245B"/>
                              </a:solidFill>
                              <a:latin typeface="Cambria Math" panose="02040503050406030204"/>
                            </a:rPr>
                            <m:t>𝑖</m:t>
                          </m:r>
                        </m:sup>
                      </m:sSubSup>
                      <m:r>
                        <a:rPr lang="en-US" sz="1920">
                          <a:solidFill>
                            <a:srgbClr val="06245B"/>
                          </a:solidFill>
                          <a:latin typeface="Cambria Math" panose="02040503050406030204"/>
                        </a:rPr>
                        <m:t>(</m:t>
                      </m:r>
                      <m:sSubSup>
                        <m:sSubSupPr>
                          <m:ctrlPr>
                            <a:rPr/>
                          </m:ctrlPr>
                        </m:sSubSupPr>
                        <m:e>
                          <m:r>
                            <a:rPr lang="en-US" sz="1920">
                              <a:solidFill>
                                <a:srgbClr val="06245B"/>
                              </a:solidFill>
                              <a:latin typeface="Cambria Math" panose="02040503050406030204"/>
                            </a:rPr>
                            <m:t>𝑜</m:t>
                          </m:r>
                        </m:e>
                        <m:sub>
                          <m:r>
                            <a:rPr lang="en-US" sz="1920">
                              <a:solidFill>
                                <a:srgbClr val="06245B"/>
                              </a:solidFill>
                              <a:latin typeface="Cambria Math" panose="02040503050406030204"/>
                            </a:rPr>
                            <m:t>𝑡</m:t>
                          </m:r>
                        </m:sub>
                        <m:sup>
                          <m:r>
                            <a:rPr lang="en-US" sz="1920">
                              <a:solidFill>
                                <a:srgbClr val="06245B"/>
                              </a:solidFill>
                              <a:latin typeface="Cambria Math" panose="02040503050406030204"/>
                            </a:rPr>
                            <m:t>𝑖</m:t>
                          </m:r>
                        </m:sup>
                      </m:sSubSup>
                      <m:r>
                        <a:rPr lang="en-US" sz="1920">
                          <a:solidFill>
                            <a:srgbClr val="06245B"/>
                          </a:solidFill>
                          <a:latin typeface="Cambria Math" panose="02040503050406030204"/>
                        </a:rPr>
                        <m:t>)</m:t>
                      </m:r>
                      <m:r>
                        <a:rPr lang="en-US" sz="1920">
                          <a:solidFill>
                            <a:srgbClr val="06245B"/>
                          </a:solidFill>
                          <a:latin typeface="Cambria Math" panose="02040503050406030204"/>
                        </a:rPr>
                        <m:t>≥</m:t>
                      </m:r>
                      <m:r>
                        <a:rPr lang="en-US" sz="1920">
                          <a:solidFill>
                            <a:srgbClr val="06245B"/>
                          </a:solidFill>
                          <a:latin typeface="Cambria Math" panose="02040503050406030204"/>
                        </a:rPr>
                        <m:t>0</m:t>
                      </m:r>
                      <m:r>
                        <a:rPr lang="en-US" sz="1920">
                          <a:solidFill>
                            <a:srgbClr val="06245B"/>
                          </a:solidFill>
                          <a:latin typeface="Cambria Math" panose="02040503050406030204"/>
                        </a:rPr>
                        <m:t>,</m:t>
                      </m:r>
                      <m:r>
                        <a:rPr lang="en-US" sz="1920">
                          <a:solidFill>
                            <a:srgbClr val="06245B"/>
                          </a:solidFill>
                          <a:latin typeface="Cambria Math" panose="02040503050406030204"/>
                        </a:rPr>
                        <m:t> </m:t>
                      </m:r>
                      <m:r>
                        <a:rPr lang="en-US" sz="1920">
                          <a:solidFill>
                            <a:srgbClr val="06245B"/>
                          </a:solidFill>
                          <a:latin typeface="Cambria Math" panose="02040503050406030204"/>
                        </a:rPr>
                        <m:t>∀</m:t>
                      </m:r>
                      <m:r>
                        <a:rPr lang="en-US" sz="1920">
                          <a:solidFill>
                            <a:srgbClr val="06245B"/>
                          </a:solidFill>
                          <a:latin typeface="Cambria Math" panose="02040503050406030204"/>
                        </a:rPr>
                        <m:t>𝑖</m:t>
                      </m:r>
                      <m:r>
                        <a:rPr lang="en-US" sz="1920">
                          <a:solidFill>
                            <a:srgbClr val="06245B"/>
                          </a:solidFill>
                          <a:latin typeface="Cambria Math" panose="02040503050406030204"/>
                        </a:rPr>
                        <m:t>,</m:t>
                      </m:r>
                      <m:r>
                        <a:rPr lang="en-US" sz="1920">
                          <a:solidFill>
                            <a:srgbClr val="06245B"/>
                          </a:solidFill>
                          <a:latin typeface="Cambria Math" panose="02040503050406030204"/>
                        </a:rPr>
                        <m:t>𝑗</m:t>
                      </m:r>
                      <m:r>
                        <a:rPr lang="en-US" sz="1920">
                          <a:solidFill>
                            <a:srgbClr val="06245B"/>
                          </a:solidFill>
                          <a:latin typeface="Cambria Math" panose="02040503050406030204"/>
                        </a:rPr>
                        <m:t>,</m:t>
                      </m:r>
                      <m:r>
                        <a:rPr lang="en-US" sz="1920">
                          <a:solidFill>
                            <a:srgbClr val="06245B"/>
                          </a:solidFill>
                          <a:latin typeface="Cambria Math" panose="02040503050406030204"/>
                        </a:rPr>
                        <m:t>𝑡</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b_j^i(o_t^i)\geq 0,\quad\forall i,j,t"/>
              <p:cNvSpPr>
                <a:spLocks noRot="1" noChangeAspect="1" noMove="1" noResize="1" noEditPoints="1" noAdjustHandles="1" noChangeArrowheads="1" noChangeShapeType="1" noTextEdit="1"/>
              </p:cNvSpPr>
              <p:nvPr/>
            </p:nvSpPr>
            <p:spPr>
              <a:xfrm>
                <a:off x="3238500" y="3038475"/>
                <a:ext cx="8124825" cy="400050"/>
              </a:xfrm>
              <a:prstGeom prst="rect">
                <a:avLst/>
              </a:prstGeom>
              <a:blipFill rotWithShape="1">
                <a:blip r:embed="rId3"/>
                <a:stretch>
                  <a:fillRect b="-10159"/>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每辆车对可观测邻车与道路边界构造安全函数。要求每条轨迹在每个控制步都留在安全集合内。</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问题缺口</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累计期望约束不能替代逐步安全</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约束马尔可夫决策过程（CMDP）常限制平均累计代价；个别碰撞仍可能被其他安全时刻抵消。</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论文将任务和安全分给两个层级：高层协调车辆技能，低层在每个控制步约束动作。</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完整信息流：论文方法与个人延伸的边界</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METHOD FLOW AND EXTENSION</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8" name="图片 17"/>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06</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0976" y="6208776"/>
            <a:ext cx="5431536"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220" b="0">
                <a:solidFill>
                  <a:srgbClr val="697991"/>
                </a:solidFill>
                <a:latin typeface="微软雅黑" panose="020B0503020204020204" charset="-122"/>
                <a:ea typeface="微软雅黑" panose="020B0503020204020204" charset="-122"/>
                <a:cs typeface="微软雅黑" panose="020B0503020204020204" charset="-122"/>
              </a:rPr>
              <a:t>图：汇报者提供的结构示意；论文方法参见图1与式（12）—（15）</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2" name="图片 21" descr="汇报者提供的HMARL-CBF完整框架示意；旁侧说明区分论文方法与个人延伸。"/>
          <p:cNvPicPr>
            <a:picLocks noChangeAspect="1"/>
          </p:cNvPicPr>
          <p:nvPr/>
        </p:nvPicPr>
        <p:blipFill>
          <a:blip r:embed="rId2"/>
          <a:stretch>
            <a:fillRect/>
          </a:stretch>
        </p:blipFill>
        <p:spPr>
          <a:xfrm>
            <a:off x="1033272" y="1591056"/>
            <a:ext cx="5010912" cy="4498848"/>
          </a:xfrm>
          <a:prstGeom prst="rect">
            <a:avLst/>
          </a:prstGeom>
        </p:spPr>
      </p:pic>
      <p:sp>
        <p:nvSpPr>
          <p:cNvPr id="10" name="矩形 9"/>
          <p:cNvSpPr>
            <a:spLocks noGrp="1"/>
          </p:cNvSpPr>
          <p:nvPr/>
        </p:nvSpPr>
        <p:spPr>
          <a:xfrm>
            <a:off x="6519672" y="1856232"/>
            <a:ext cx="4718304" cy="438912"/>
          </a:xfrm>
          <a:prstGeom prst="rect">
            <a:avLst/>
          </a:prstGeom>
          <a:noFill/>
          <a:ln w="0">
            <a:noFill/>
          </a:ln>
        </p:spPr>
        <p:txBody>
          <a:bodyPr wrap="square" lIns="0" tIns="0" rIns="0" bIns="0" anchor="t">
            <a:noAutofit/>
          </a:bodyPr>
          <a:lstStyle/>
          <a:p>
            <a:pPr algn="l">
              <a:defRPr sz="1950" b="1">
                <a:solidFill>
                  <a:srgbClr val="06245B"/>
                </a:solidFill>
                <a:latin typeface="微软雅黑" panose="020B0503020204020204" charset="-122"/>
                <a:ea typeface="微软雅黑" panose="020B0503020204020204" charset="-122"/>
                <a:cs typeface="微软雅黑" panose="020B0503020204020204" charset="-122"/>
              </a:defRPr>
            </a:pPr>
            <a:r>
              <a:rPr sz="1950" b="1">
                <a:solidFill>
                  <a:srgbClr val="06245B"/>
                </a:solidFill>
                <a:latin typeface="微软雅黑" panose="020B0503020204020204" charset="-122"/>
                <a:ea typeface="微软雅黑" panose="020B0503020204020204" charset="-122"/>
                <a:cs typeface="微软雅黑" panose="020B0503020204020204" charset="-122"/>
              </a:rPr>
              <a:t>① 集中训练：学习协作</a:t>
            </a:r>
            <a:endParaRPr sz="195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519672" y="2468880"/>
            <a:ext cx="4709160" cy="1243584"/>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420" b="0">
                <a:solidFill>
                  <a:srgbClr val="263247"/>
                </a:solidFill>
                <a:latin typeface="微软雅黑" panose="020B0503020204020204" charset="-122"/>
                <a:ea typeface="微软雅黑" panose="020B0503020204020204" charset="-122"/>
                <a:cs typeface="微软雅黑" panose="020B0503020204020204" charset="-122"/>
              </a:rPr>
              <a:t>联合状态与联合技能用于训练阶段的价值评估。图中的价值分解（IGM）只对应异策略分支；同策略分支采用集中评论家。</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6519672" y="3849624"/>
            <a:ext cx="4718304" cy="438912"/>
          </a:xfrm>
          <a:prstGeom prst="rect">
            <a:avLst/>
          </a:prstGeom>
          <a:noFill/>
          <a:ln w="0">
            <a:noFill/>
          </a:ln>
        </p:spPr>
        <p:txBody>
          <a:bodyPr wrap="square" lIns="0" tIns="0" rIns="0" bIns="0" anchor="t">
            <a:noAutofit/>
          </a:bodyPr>
          <a:lstStyle/>
          <a:p>
            <a:pPr algn="l">
              <a:defRPr sz="1950" b="1">
                <a:solidFill>
                  <a:srgbClr val="06245B"/>
                </a:solidFill>
                <a:latin typeface="微软雅黑" panose="020B0503020204020204" charset="-122"/>
                <a:ea typeface="微软雅黑" panose="020B0503020204020204" charset="-122"/>
                <a:cs typeface="微软雅黑" panose="020B0503020204020204" charset="-122"/>
              </a:defRPr>
            </a:pPr>
            <a:r>
              <a:rPr sz="1950" b="1">
                <a:solidFill>
                  <a:srgbClr val="06245B"/>
                </a:solidFill>
                <a:latin typeface="微软雅黑" panose="020B0503020204020204" charset="-122"/>
                <a:ea typeface="微软雅黑" panose="020B0503020204020204" charset="-122"/>
                <a:cs typeface="微软雅黑" panose="020B0503020204020204" charset="-122"/>
              </a:rPr>
              <a:t>② 分散执行：逐步安全控制</a:t>
            </a:r>
            <a:endParaRPr sz="195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519672" y="4416552"/>
            <a:ext cx="4709160" cy="1517904"/>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360" b="0">
                <a:solidFill>
                  <a:srgbClr val="263247"/>
                </a:solidFill>
                <a:latin typeface="微软雅黑" panose="020B0503020204020204" charset="-122"/>
                <a:ea typeface="微软雅黑" panose="020B0503020204020204" charset="-122"/>
                <a:cs typeface="微软雅黑" panose="020B0503020204020204" charset="-122"/>
              </a:rPr>
              <a:t>各车用局部观测选技能；参数网络生成优化参数，控制屏障函数—李雅普诺夫函数二次规划（CBF–CLF–QP）每步求动作。图中的“对手信念”是个人延伸，不属于论文原方法。</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23" name="中文图例 23"/>
          <p:cNvSpPr>
            <a:spLocks noGrp="1"/>
          </p:cNvSpPr>
          <p:nvPr/>
        </p:nvSpPr>
        <p:spPr>
          <a:xfrm>
            <a:off x="6519672" y="5961888"/>
            <a:ext cx="4709160" cy="41148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180" b="0">
                <a:solidFill>
                  <a:srgbClr val="263247"/>
                </a:solidFill>
                <a:latin typeface="微软雅黑" panose="020B0503020204020204" charset="-122"/>
                <a:ea typeface="微软雅黑" panose="020B0503020204020204" charset="-122"/>
                <a:cs typeface="微软雅黑" panose="020B0503020204020204" charset="-122"/>
              </a:rPr>
              <a:t>图中英文：Global State＝全局状态；Agent＝智能体；IGM＝个体—全局最大值原则。</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技能建模：让行与变道怎样成为高层动作</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SEMANTIC SKILLS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1" name="图片 20"/>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07</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图：论文中文版第37页；技能定义见第7页及附录 A.4.2</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000125" y="1695450"/>
            <a:ext cx="10429875" cy="666750"/>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520" b="0">
                <a:solidFill>
                  <a:srgbClr val="263247"/>
                </a:solidFill>
                <a:latin typeface="微软雅黑" panose="020B0503020204020204" charset="-122"/>
                <a:ea typeface="微软雅黑" panose="020B0503020204020204" charset="-122"/>
                <a:cs typeface="微软雅黑" panose="020B0503020204020204" charset="-122"/>
              </a:rPr>
              <a:t>论文以启动集、终止集、最长时长、终止函数、安全约束、内在奖励和低层策略定义技能；每种技能可持续多个控制步。</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p:pic>
        <p:nvPicPr>
          <p:cNvPr id="26" name="图片 25"/>
          <p:cNvPicPr>
            <a:picLocks noChangeAspect="1"/>
          </p:cNvPicPr>
          <p:nvPr/>
        </p:nvPicPr>
        <p:blipFill>
          <a:blip r:embed="rId2"/>
          <a:stretch>
            <a:fillRect/>
          </a:stretch>
        </p:blipFill>
        <p:spPr>
          <a:xfrm>
            <a:off x="1229661" y="2476500"/>
            <a:ext cx="9923178" cy="2000250"/>
          </a:xfrm>
          <a:prstGeom prst="rect">
            <a:avLst/>
          </a:prstGeom>
        </p:spPr>
      </p:pic>
      <p:sp>
        <p:nvSpPr>
          <p:cNvPr id="11" name="矩形 10"/>
          <p:cNvSpPr>
            <a:spLocks noGrp="1"/>
          </p:cNvSpPr>
          <p:nvPr/>
        </p:nvSpPr>
        <p:spPr>
          <a:xfrm>
            <a:off x="1047750" y="4629150"/>
            <a:ext cx="331470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巡航 / 加速</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047750" y="5124450"/>
            <a:ext cx="3314700" cy="666750"/>
          </a:xfrm>
          <a:prstGeom prst="rect">
            <a:avLst/>
          </a:prstGeom>
          <a:noFill/>
          <a:ln w="0">
            <a:noFill/>
          </a:ln>
        </p:spPr>
        <p:txBody>
          <a:bodyPr wrap="square" lIns="0" tIns="0" rIns="0" bIns="0" anchor="t">
            <a:noAutofit/>
          </a:bodyPr>
          <a:lstStyle/>
          <a:p>
            <a:pPr algn="l">
              <a:defRPr sz="1650" b="0">
                <a:solidFill>
                  <a:srgbClr val="263247"/>
                </a:solidFill>
                <a:latin typeface="微软雅黑" panose="020B0503020204020204" charset="-122"/>
                <a:ea typeface="微软雅黑" panose="020B0503020204020204" charset="-122"/>
                <a:cs typeface="微软雅黑" panose="020B0503020204020204" charset="-122"/>
              </a:defRPr>
            </a:pPr>
            <a:r>
              <a:rPr sz="1650" b="0">
                <a:solidFill>
                  <a:srgbClr val="263247"/>
                </a:solidFill>
                <a:latin typeface="微软雅黑" panose="020B0503020204020204" charset="-122"/>
                <a:ea typeface="微软雅黑" panose="020B0503020204020204" charset="-122"/>
                <a:cs typeface="微软雅黑" panose="020B0503020204020204" charset="-122"/>
              </a:rPr>
              <a:t>维持或提高参考速度，</a:t>
            </a:r>
            <a:endParaRPr sz="1650" b="0">
              <a:solidFill>
                <a:srgbClr val="263247"/>
              </a:solidFill>
              <a:latin typeface="微软雅黑" panose="020B0503020204020204" charset="-122"/>
              <a:ea typeface="微软雅黑" panose="020B0503020204020204" charset="-122"/>
              <a:cs typeface="微软雅黑" panose="020B0503020204020204" charset="-122"/>
            </a:endParaRPr>
          </a:p>
          <a:p>
            <a:pPr algn="l">
              <a:defRPr sz="1650" b="0">
                <a:solidFill>
                  <a:srgbClr val="263247"/>
                </a:solidFill>
                <a:latin typeface="微软雅黑" panose="020B0503020204020204" charset="-122"/>
                <a:ea typeface="微软雅黑" panose="020B0503020204020204" charset="-122"/>
                <a:cs typeface="微软雅黑" panose="020B0503020204020204" charset="-122"/>
              </a:defRPr>
            </a:pPr>
            <a:r>
              <a:rPr sz="1650" b="0">
                <a:solidFill>
                  <a:srgbClr val="263247"/>
                </a:solidFill>
                <a:latin typeface="微软雅黑" panose="020B0503020204020204" charset="-122"/>
                <a:ea typeface="微软雅黑" panose="020B0503020204020204" charset="-122"/>
                <a:cs typeface="微软雅黑" panose="020B0503020204020204" charset="-122"/>
              </a:rPr>
              <a:t>达到距离或速度条件后终止。</a:t>
            </a:r>
            <a:endParaRPr sz="1650"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4591050" y="4629150"/>
            <a:ext cx="331470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减速 / 让行</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4591050" y="5124450"/>
            <a:ext cx="3314700" cy="666750"/>
          </a:xfrm>
          <a:prstGeom prst="rect">
            <a:avLst/>
          </a:prstGeom>
          <a:noFill/>
          <a:ln w="0">
            <a:noFill/>
          </a:ln>
        </p:spPr>
        <p:txBody>
          <a:bodyPr wrap="square" lIns="0" tIns="0" rIns="0" bIns="0" anchor="t">
            <a:noAutofit/>
          </a:bodyPr>
          <a:lstStyle/>
          <a:p>
            <a:pPr algn="l">
              <a:defRPr sz="1650" b="0">
                <a:solidFill>
                  <a:srgbClr val="263247"/>
                </a:solidFill>
                <a:latin typeface="微软雅黑" panose="020B0503020204020204" charset="-122"/>
                <a:ea typeface="微软雅黑" panose="020B0503020204020204" charset="-122"/>
                <a:cs typeface="微软雅黑" panose="020B0503020204020204" charset="-122"/>
              </a:defRPr>
            </a:pPr>
            <a:r>
              <a:rPr sz="1650" b="0">
                <a:solidFill>
                  <a:srgbClr val="263247"/>
                </a:solidFill>
                <a:latin typeface="微软雅黑" panose="020B0503020204020204" charset="-122"/>
                <a:ea typeface="微软雅黑" panose="020B0503020204020204" charset="-122"/>
                <a:cs typeface="微软雅黑" panose="020B0503020204020204" charset="-122"/>
              </a:rPr>
              <a:t>降低参考速度，</a:t>
            </a:r>
            <a:endParaRPr sz="1650" b="0">
              <a:solidFill>
                <a:srgbClr val="263247"/>
              </a:solidFill>
              <a:latin typeface="微软雅黑" panose="020B0503020204020204" charset="-122"/>
              <a:ea typeface="微软雅黑" panose="020B0503020204020204" charset="-122"/>
              <a:cs typeface="微软雅黑" panose="020B0503020204020204" charset="-122"/>
            </a:endParaRPr>
          </a:p>
          <a:p>
            <a:pPr algn="l">
              <a:defRPr sz="1650" b="0">
                <a:solidFill>
                  <a:srgbClr val="263247"/>
                </a:solidFill>
                <a:latin typeface="微软雅黑" panose="020B0503020204020204" charset="-122"/>
                <a:ea typeface="微软雅黑" panose="020B0503020204020204" charset="-122"/>
                <a:cs typeface="微软雅黑" panose="020B0503020204020204" charset="-122"/>
              </a:defRPr>
            </a:pPr>
            <a:r>
              <a:rPr sz="1650" b="0">
                <a:solidFill>
                  <a:srgbClr val="263247"/>
                </a:solidFill>
                <a:latin typeface="微软雅黑" panose="020B0503020204020204" charset="-122"/>
                <a:ea typeface="微软雅黑" panose="020B0503020204020204" charset="-122"/>
                <a:cs typeface="微软雅黑" panose="020B0503020204020204" charset="-122"/>
              </a:rPr>
              <a:t>为冲突车辆提供通行空间。</a:t>
            </a:r>
            <a:endParaRPr sz="1650"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134350" y="4629150"/>
            <a:ext cx="331470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向左 / 向右变道</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8134350" y="5124450"/>
            <a:ext cx="3314700" cy="666750"/>
          </a:xfrm>
          <a:prstGeom prst="rect">
            <a:avLst/>
          </a:prstGeom>
          <a:noFill/>
          <a:ln w="0">
            <a:noFill/>
          </a:ln>
        </p:spPr>
        <p:txBody>
          <a:bodyPr wrap="square" lIns="0" tIns="0" rIns="0" bIns="0" anchor="t">
            <a:noAutofit/>
          </a:bodyPr>
          <a:lstStyle/>
          <a:p>
            <a:pPr algn="l">
              <a:defRPr sz="1650" b="0">
                <a:solidFill>
                  <a:srgbClr val="263247"/>
                </a:solidFill>
                <a:latin typeface="微软雅黑" panose="020B0503020204020204" charset="-122"/>
                <a:ea typeface="微软雅黑" panose="020B0503020204020204" charset="-122"/>
                <a:cs typeface="微软雅黑" panose="020B0503020204020204" charset="-122"/>
              </a:defRPr>
            </a:pPr>
            <a:r>
              <a:rPr sz="1540" b="0">
                <a:solidFill>
                  <a:srgbClr val="263247"/>
                </a:solidFill>
                <a:latin typeface="微软雅黑" panose="020B0503020204020204" charset="-122"/>
                <a:ea typeface="微软雅黑" panose="020B0503020204020204" charset="-122"/>
                <a:cs typeface="微软雅黑" panose="020B0503020204020204" charset="-122"/>
              </a:rPr>
              <a:t>由目标车道的横向误差生成期望航向，再由航向李雅普诺夫函数推动变道；达到目标车道状态后终止。</a:t>
            </a:r>
            <a:endParaRPr sz="1650" b="0">
              <a:solidFill>
                <a:srgbClr val="26324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技能为何需要多智能体半马尔可夫模型</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MULTI-AGENT SEMI-MARKOV MODEL</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08</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联合技能</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Cambria Math" panose="02040503050406030204" charset="-122"/>
                <a:ea typeface="微软雅黑" panose="020B0503020204020204" charset="-122"/>
                <a:cs typeface="微软雅黑" panose="020B0503020204020204" charset="-122"/>
              </a:rPr>
              <a:t>z=(z¹,…,zᴺ)；k 为各技能推动的控制步数</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每辆车选择巡航、减速或换道等技能；联合技能 z 可能持续多个控制步，持续时间由终止条件决定。</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价值递推</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Q^\pi(s,z)=\mathbb E[R(s,z,k)+\gamma^kV^\pi(s\prime)]"/>
              <p:cNvSpPr>
                <a:spLocks noGrp="1"/>
              </p:cNvSpPr>
              <p:nvPr/>
            </p:nvSpPr>
            <p:spPr>
              <a:xfrm>
                <a:off x="3236976" y="2999232"/>
                <a:ext cx="8129016" cy="475488"/>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p>
                        <m:sSupPr>
                          <m:ctrlPr>
                            <a:rPr/>
                          </m:ctrlPr>
                        </m:sSupPr>
                        <m:e>
                          <m:r>
                            <a:rPr lang="en-US" sz="1820">
                              <a:solidFill>
                                <a:srgbClr val="06245B"/>
                              </a:solidFill>
                              <a:latin typeface="Cambria Math" panose="02040503050406030204"/>
                            </a:rPr>
                            <m:t>𝑄</m:t>
                          </m:r>
                        </m:e>
                        <m:sup>
                          <m:r>
                            <a:rPr lang="en-US" sz="1820">
                              <a:solidFill>
                                <a:srgbClr val="06245B"/>
                              </a:solidFill>
                              <a:latin typeface="Cambria Math" panose="02040503050406030204"/>
                            </a:rPr>
                            <m:t>𝜋</m:t>
                          </m:r>
                        </m:sup>
                      </m:sSup>
                      <m:r>
                        <a:rPr lang="en-US" sz="1820">
                          <a:solidFill>
                            <a:srgbClr val="06245B"/>
                          </a:solidFill>
                          <a:latin typeface="Cambria Math" panose="02040503050406030204"/>
                        </a:rPr>
                        <m:t>(</m:t>
                      </m:r>
                      <m:r>
                        <a:rPr lang="en-US" sz="1820">
                          <a:solidFill>
                            <a:srgbClr val="06245B"/>
                          </a:solidFill>
                          <a:latin typeface="Cambria Math" panose="02040503050406030204"/>
                        </a:rPr>
                        <m:t>𝑠</m:t>
                      </m:r>
                      <m:r>
                        <a:rPr lang="en-US" sz="1820">
                          <a:solidFill>
                            <a:srgbClr val="06245B"/>
                          </a:solidFill>
                          <a:latin typeface="Cambria Math" panose="02040503050406030204"/>
                        </a:rPr>
                        <m:t>,</m:t>
                      </m:r>
                      <m:r>
                        <a:rPr lang="en-US" sz="1820">
                          <a:solidFill>
                            <a:srgbClr val="06245B"/>
                          </a:solidFill>
                          <a:latin typeface="Cambria Math" panose="02040503050406030204"/>
                        </a:rPr>
                        <m:t>𝑧</m:t>
                      </m:r>
                      <m:r>
                        <a:rPr lang="en-US" sz="1820">
                          <a:solidFill>
                            <a:srgbClr val="06245B"/>
                          </a:solidFill>
                          <a:latin typeface="Cambria Math" panose="02040503050406030204"/>
                        </a:rPr>
                        <m:t>)</m:t>
                      </m:r>
                      <m:r>
                        <a:rPr lang="en-US" sz="1820">
                          <a:solidFill>
                            <a:srgbClr val="06245B"/>
                          </a:solidFill>
                          <a:latin typeface="Cambria Math" panose="02040503050406030204"/>
                        </a:rPr>
                        <m:t>=</m:t>
                      </m:r>
                      <m:r>
                        <a:rPr lang="en-US" sz="1820">
                          <a:solidFill>
                            <a:srgbClr val="06245B"/>
                          </a:solidFill>
                          <a:latin typeface="Cambria Math" panose="02040503050406030204"/>
                        </a:rPr>
                        <m:t>𝔼</m:t>
                      </m:r>
                      <m:r>
                        <a:rPr lang="en-US" sz="1820">
                          <a:solidFill>
                            <a:srgbClr val="06245B"/>
                          </a:solidFill>
                          <a:latin typeface="Cambria Math" panose="02040503050406030204"/>
                        </a:rPr>
                        <m:t>[</m:t>
                      </m:r>
                      <m:r>
                        <a:rPr lang="en-US" sz="1820">
                          <a:solidFill>
                            <a:srgbClr val="06245B"/>
                          </a:solidFill>
                          <a:latin typeface="Cambria Math" panose="02040503050406030204"/>
                        </a:rPr>
                        <m:t>𝑅</m:t>
                      </m:r>
                      <m:r>
                        <a:rPr lang="en-US" sz="1820">
                          <a:solidFill>
                            <a:srgbClr val="06245B"/>
                          </a:solidFill>
                          <a:latin typeface="Cambria Math" panose="02040503050406030204"/>
                        </a:rPr>
                        <m:t>(</m:t>
                      </m:r>
                      <m:r>
                        <a:rPr lang="en-US" sz="1820">
                          <a:solidFill>
                            <a:srgbClr val="06245B"/>
                          </a:solidFill>
                          <a:latin typeface="Cambria Math" panose="02040503050406030204"/>
                        </a:rPr>
                        <m:t>𝑠</m:t>
                      </m:r>
                      <m:r>
                        <a:rPr lang="en-US" sz="1820">
                          <a:solidFill>
                            <a:srgbClr val="06245B"/>
                          </a:solidFill>
                          <a:latin typeface="Cambria Math" panose="02040503050406030204"/>
                        </a:rPr>
                        <m:t>,</m:t>
                      </m:r>
                      <m:r>
                        <a:rPr lang="en-US" sz="1820">
                          <a:solidFill>
                            <a:srgbClr val="06245B"/>
                          </a:solidFill>
                          <a:latin typeface="Cambria Math" panose="02040503050406030204"/>
                        </a:rPr>
                        <m:t>𝑧</m:t>
                      </m:r>
                      <m:r>
                        <a:rPr lang="en-US" sz="1820">
                          <a:solidFill>
                            <a:srgbClr val="06245B"/>
                          </a:solidFill>
                          <a:latin typeface="Cambria Math" panose="02040503050406030204"/>
                        </a:rPr>
                        <m:t>,</m:t>
                      </m:r>
                      <m:r>
                        <a:rPr lang="en-US" sz="1820">
                          <a:solidFill>
                            <a:srgbClr val="06245B"/>
                          </a:solidFill>
                          <a:latin typeface="Cambria Math" panose="02040503050406030204"/>
                        </a:rPr>
                        <m:t>𝑘</m:t>
                      </m:r>
                      <m:r>
                        <a:rPr lang="en-US" sz="1820">
                          <a:solidFill>
                            <a:srgbClr val="06245B"/>
                          </a:solidFill>
                          <a:latin typeface="Cambria Math" panose="02040503050406030204"/>
                        </a:rPr>
                        <m:t>)</m:t>
                      </m:r>
                      <m:r>
                        <a:rPr lang="en-US" sz="1820">
                          <a:solidFill>
                            <a:srgbClr val="06245B"/>
                          </a:solidFill>
                          <a:latin typeface="Cambria Math" panose="02040503050406030204"/>
                        </a:rPr>
                        <m:t>+</m:t>
                      </m:r>
                      <m:sSup>
                        <m:sSupPr>
                          <m:ctrlPr>
                            <a:rPr/>
                          </m:ctrlPr>
                        </m:sSupPr>
                        <m:e>
                          <m:r>
                            <a:rPr lang="en-US" sz="1820">
                              <a:solidFill>
                                <a:srgbClr val="06245B"/>
                              </a:solidFill>
                              <a:latin typeface="Cambria Math" panose="02040503050406030204"/>
                            </a:rPr>
                            <m:t>𝛾</m:t>
                          </m:r>
                        </m:e>
                        <m:sup>
                          <m:r>
                            <a:rPr lang="en-US" sz="1820">
                              <a:solidFill>
                                <a:srgbClr val="06245B"/>
                              </a:solidFill>
                              <a:latin typeface="Cambria Math" panose="02040503050406030204"/>
                            </a:rPr>
                            <m:t>𝑘</m:t>
                          </m:r>
                        </m:sup>
                      </m:sSup>
                      <m:sSup>
                        <m:sSupPr>
                          <m:ctrlPr>
                            <a:rPr/>
                          </m:ctrlPr>
                        </m:sSupPr>
                        <m:e>
                          <m:r>
                            <a:rPr lang="en-US" sz="1820">
                              <a:solidFill>
                                <a:srgbClr val="06245B"/>
                              </a:solidFill>
                              <a:latin typeface="Cambria Math" panose="02040503050406030204"/>
                            </a:rPr>
                            <m:t>𝑉</m:t>
                          </m:r>
                        </m:e>
                        <m:sup>
                          <m:r>
                            <a:rPr lang="en-US" sz="1820">
                              <a:solidFill>
                                <a:srgbClr val="06245B"/>
                              </a:solidFill>
                              <a:latin typeface="Cambria Math" panose="02040503050406030204"/>
                            </a:rPr>
                            <m:t>𝜋</m:t>
                          </m:r>
                        </m:sup>
                      </m:sSup>
                      <m:r>
                        <a:rPr lang="en-US" sz="1820">
                          <a:solidFill>
                            <a:srgbClr val="06245B"/>
                          </a:solidFill>
                          <a:latin typeface="Cambria Math" panose="02040503050406030204"/>
                        </a:rPr>
                        <m:t>(</m:t>
                      </m:r>
                      <m:r>
                        <a:rPr lang="en-US" sz="1820">
                          <a:solidFill>
                            <a:srgbClr val="06245B"/>
                          </a:solidFill>
                          <a:latin typeface="Cambria Math" panose="02040503050406030204"/>
                        </a:rPr>
                        <m:t>𝑠</m:t>
                      </m:r>
                      <m:r>
                        <a:rPr lang="en-US" sz="1820">
                          <a:solidFill>
                            <a:srgbClr val="06245B"/>
                          </a:solidFill>
                          <a:latin typeface="Cambria Math" panose="02040503050406030204"/>
                        </a:rPr>
                        <m:t>′</m:t>
                      </m:r>
                      <m:r>
                        <a:rPr lang="en-US" sz="1820">
                          <a:solidFill>
                            <a:srgbClr val="06245B"/>
                          </a:solidFill>
                          <a:latin typeface="Cambria Math" panose="02040503050406030204"/>
                        </a:rPr>
                        <m:t>)</m:t>
                      </m:r>
                      <m:r>
                        <a:rPr lang="en-US" sz="182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Q^\pi(s,z)=\mathbb E[R(s,z,k)+\gamma^kV^\pi(s\prime)]"/>
              <p:cNvSpPr>
                <a:spLocks noRot="1" noChangeAspect="1" noMove="1" noResize="1" noEditPoints="1" noAdjustHandles="1" noChangeArrowheads="1" noChangeShapeType="1" noTextEdit="1"/>
              </p:cNvSpPr>
              <p:nvPr/>
            </p:nvSpPr>
            <p:spPr>
              <a:xfrm>
                <a:off x="3236976" y="2999232"/>
                <a:ext cx="8129016" cy="475488"/>
              </a:xfrm>
              <a:prstGeom prst="rect">
                <a:avLst/>
              </a:prstGeom>
              <a:blipFill rotWithShape="1">
                <a:blip r:embed="rId2"/>
                <a:stretch>
                  <a:fillRect l="-5" t="-27" r="2"/>
                </a:stretch>
              </a:blipFill>
              <a:ln w="0">
                <a:noFill/>
              </a:ln>
            </p:spPr>
            <p:txBody>
              <a:bodyPr/>
              <a:lstStyle/>
              <a:p>
                <a:r>
                  <a:rPr lang="zh-CN" altLang="en-US">
                    <a:noFill/>
                  </a:rPr>
                  <a:t> </a:t>
                </a:r>
              </a:p>
            </p:txBody>
          </p:sp>
        </mc:Fallback>
      </mc:AlternateContent>
      <p:sp>
        <p:nvSpPr>
          <p:cNvPr id="13" name="矩形 12"/>
          <p:cNvSpPr>
            <a:spLocks noGrp="1"/>
          </p:cNvSpPr>
          <p:nvPr/>
        </p:nvSpPr>
        <p:spPr>
          <a:xfrm>
            <a:off x="3236976" y="3529584"/>
            <a:ext cx="8092440" cy="630936"/>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R 是技能期间的累计回报；γᵏ按持续步数折扣下一状态价值。高层因此无需每个控制步重选技能。</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异步终止</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τ_continue：只更新已完成技能的车辆</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570" b="0">
                <a:solidFill>
                  <a:srgbClr val="263247"/>
                </a:solidFill>
                <a:latin typeface="微软雅黑" panose="020B0503020204020204" charset="-122"/>
                <a:ea typeface="微软雅黑" panose="020B0503020204020204" charset="-122"/>
                <a:cs typeface="微软雅黑" panose="020B0503020204020204" charset="-122"/>
              </a:rPr>
              <a:t>完成终止条件或达到最长时长 T_max 后，该车重选技能；其他车辆继续原技能，从而允许异步决策。</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多智能体半马尔可夫决策过程（MSMDP）把可变长技能与异步协作纳入同一时间模型。</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高层策略：技能回报、联合目标与分散执行</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HIGH-LEVEL POLICY</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09</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技能回报</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R(s,z,k)=\mathbb E[\sum_{u=0}^{k-1}\gamma^u r_H(s_u,a_u)]"/>
              <p:cNvSpPr>
                <a:spLocks noGrp="1"/>
              </p:cNvSpPr>
              <p:nvPr/>
            </p:nvSpPr>
            <p:spPr>
              <a:xfrm>
                <a:off x="3236976" y="1801368"/>
                <a:ext cx="8129016" cy="521208"/>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r>
                        <a:rPr lang="en-US" sz="1730">
                          <a:solidFill>
                            <a:srgbClr val="06245B"/>
                          </a:solidFill>
                          <a:latin typeface="Cambria Math" panose="02040503050406030204"/>
                        </a:rPr>
                        <m:t>𝑅</m:t>
                      </m:r>
                      <m:r>
                        <a:rPr lang="en-US" sz="1730">
                          <a:solidFill>
                            <a:srgbClr val="06245B"/>
                          </a:solidFill>
                          <a:latin typeface="Cambria Math" panose="02040503050406030204"/>
                        </a:rPr>
                        <m:t>(</m:t>
                      </m:r>
                      <m:r>
                        <a:rPr lang="en-US" sz="1730">
                          <a:solidFill>
                            <a:srgbClr val="06245B"/>
                          </a:solidFill>
                          <a:latin typeface="Cambria Math" panose="02040503050406030204"/>
                        </a:rPr>
                        <m:t>𝑠</m:t>
                      </m:r>
                      <m:r>
                        <a:rPr lang="en-US" sz="1730">
                          <a:solidFill>
                            <a:srgbClr val="06245B"/>
                          </a:solidFill>
                          <a:latin typeface="Cambria Math" panose="02040503050406030204"/>
                        </a:rPr>
                        <m:t>,</m:t>
                      </m:r>
                      <m:r>
                        <a:rPr lang="en-US" sz="1730">
                          <a:solidFill>
                            <a:srgbClr val="06245B"/>
                          </a:solidFill>
                          <a:latin typeface="Cambria Math" panose="02040503050406030204"/>
                        </a:rPr>
                        <m:t>𝑧</m:t>
                      </m:r>
                      <m:r>
                        <a:rPr lang="en-US" sz="1730">
                          <a:solidFill>
                            <a:srgbClr val="06245B"/>
                          </a:solidFill>
                          <a:latin typeface="Cambria Math" panose="02040503050406030204"/>
                        </a:rPr>
                        <m:t>,</m:t>
                      </m:r>
                      <m:r>
                        <a:rPr lang="en-US" sz="1730">
                          <a:solidFill>
                            <a:srgbClr val="06245B"/>
                          </a:solidFill>
                          <a:latin typeface="Cambria Math" panose="02040503050406030204"/>
                        </a:rPr>
                        <m:t>𝑘</m:t>
                      </m:r>
                      <m:r>
                        <a:rPr lang="en-US" sz="1730">
                          <a:solidFill>
                            <a:srgbClr val="06245B"/>
                          </a:solidFill>
                          <a:latin typeface="Cambria Math" panose="02040503050406030204"/>
                        </a:rPr>
                        <m:t>)</m:t>
                      </m:r>
                      <m:r>
                        <a:rPr lang="en-US" sz="1730">
                          <a:solidFill>
                            <a:srgbClr val="06245B"/>
                          </a:solidFill>
                          <a:latin typeface="Cambria Math" panose="02040503050406030204"/>
                        </a:rPr>
                        <m:t>=</m:t>
                      </m:r>
                      <m:r>
                        <a:rPr lang="en-US" sz="1730">
                          <a:solidFill>
                            <a:srgbClr val="06245B"/>
                          </a:solidFill>
                          <a:latin typeface="Cambria Math" panose="02040503050406030204"/>
                        </a:rPr>
                        <m:t>𝔼</m:t>
                      </m:r>
                      <m:r>
                        <a:rPr lang="en-US" sz="1730">
                          <a:solidFill>
                            <a:srgbClr val="06245B"/>
                          </a:solidFill>
                          <a:latin typeface="Cambria Math" panose="02040503050406030204"/>
                        </a:rPr>
                        <m:t>[</m:t>
                      </m:r>
                      <m:sSubSup>
                        <m:sSubSupPr>
                          <m:ctrlPr>
                            <a:rPr/>
                          </m:ctrlPr>
                        </m:sSubSupPr>
                        <m:e>
                          <m:r>
                            <a:rPr lang="en-US" sz="1730">
                              <a:solidFill>
                                <a:srgbClr val="06245B"/>
                              </a:solidFill>
                              <a:latin typeface="Cambria Math" panose="02040503050406030204"/>
                            </a:rPr>
                            <m:t>∑</m:t>
                          </m:r>
                        </m:e>
                        <m:sub>
                          <m:r>
                            <a:rPr lang="en-US" sz="1730">
                              <a:solidFill>
                                <a:srgbClr val="06245B"/>
                              </a:solidFill>
                              <a:latin typeface="Cambria Math" panose="02040503050406030204"/>
                            </a:rPr>
                            <m:t>𝑢</m:t>
                          </m:r>
                          <m:r>
                            <a:rPr lang="en-US" sz="1730">
                              <a:solidFill>
                                <a:srgbClr val="06245B"/>
                              </a:solidFill>
                              <a:latin typeface="Cambria Math" panose="02040503050406030204"/>
                            </a:rPr>
                            <m:t>=</m:t>
                          </m:r>
                          <m:r>
                            <a:rPr lang="en-US" sz="1730">
                              <a:solidFill>
                                <a:srgbClr val="06245B"/>
                              </a:solidFill>
                              <a:latin typeface="Cambria Math" panose="02040503050406030204"/>
                            </a:rPr>
                            <m:t>0</m:t>
                          </m:r>
                        </m:sub>
                        <m:sup>
                          <m:r>
                            <a:rPr lang="en-US" sz="1730">
                              <a:solidFill>
                                <a:srgbClr val="06245B"/>
                              </a:solidFill>
                              <a:latin typeface="Cambria Math" panose="02040503050406030204"/>
                            </a:rPr>
                            <m:t>𝑘</m:t>
                          </m:r>
                          <m:r>
                            <a:rPr lang="en-US" sz="1730">
                              <a:solidFill>
                                <a:srgbClr val="06245B"/>
                              </a:solidFill>
                              <a:latin typeface="Cambria Math" panose="02040503050406030204"/>
                            </a:rPr>
                            <m:t>−</m:t>
                          </m:r>
                          <m:r>
                            <a:rPr lang="en-US" sz="1730">
                              <a:solidFill>
                                <a:srgbClr val="06245B"/>
                              </a:solidFill>
                              <a:latin typeface="Cambria Math" panose="02040503050406030204"/>
                            </a:rPr>
                            <m:t>1</m:t>
                          </m:r>
                        </m:sup>
                      </m:sSubSup>
                      <m:sSup>
                        <m:sSupPr>
                          <m:ctrlPr>
                            <a:rPr/>
                          </m:ctrlPr>
                        </m:sSupPr>
                        <m:e>
                          <m:r>
                            <a:rPr lang="en-US" sz="1730">
                              <a:solidFill>
                                <a:srgbClr val="06245B"/>
                              </a:solidFill>
                              <a:latin typeface="Cambria Math" panose="02040503050406030204"/>
                            </a:rPr>
                            <m:t>𝛾</m:t>
                          </m:r>
                        </m:e>
                        <m:sup>
                          <m:r>
                            <a:rPr lang="en-US" sz="1730">
                              <a:solidFill>
                                <a:srgbClr val="06245B"/>
                              </a:solidFill>
                              <a:latin typeface="Cambria Math" panose="02040503050406030204"/>
                            </a:rPr>
                            <m:t>𝑢</m:t>
                          </m:r>
                        </m:sup>
                      </m:sSup>
                      <m:sSub>
                        <m:sSubPr>
                          <m:ctrlPr>
                            <a:rPr/>
                          </m:ctrlPr>
                        </m:sSubPr>
                        <m:e>
                          <m:r>
                            <a:rPr lang="en-US" sz="1730">
                              <a:solidFill>
                                <a:srgbClr val="06245B"/>
                              </a:solidFill>
                              <a:latin typeface="Cambria Math" panose="02040503050406030204"/>
                            </a:rPr>
                            <m:t>𝑟</m:t>
                          </m:r>
                        </m:e>
                        <m:sub>
                          <m:r>
                            <a:rPr lang="en-US" sz="1730">
                              <a:solidFill>
                                <a:srgbClr val="06245B"/>
                              </a:solidFill>
                              <a:latin typeface="Cambria Math" panose="02040503050406030204"/>
                            </a:rPr>
                            <m:t>𝐻</m:t>
                          </m:r>
                        </m:sub>
                      </m:sSub>
                      <m:r>
                        <a:rPr lang="en-US" sz="1730">
                          <a:solidFill>
                            <a:srgbClr val="06245B"/>
                          </a:solidFill>
                          <a:latin typeface="Cambria Math" panose="02040503050406030204"/>
                        </a:rPr>
                        <m:t>(</m:t>
                      </m:r>
                      <m:sSub>
                        <m:sSubPr>
                          <m:ctrlPr>
                            <a:rPr/>
                          </m:ctrlPr>
                        </m:sSubPr>
                        <m:e>
                          <m:r>
                            <a:rPr lang="en-US" sz="1730">
                              <a:solidFill>
                                <a:srgbClr val="06245B"/>
                              </a:solidFill>
                              <a:latin typeface="Cambria Math" panose="02040503050406030204"/>
                            </a:rPr>
                            <m:t>𝑠</m:t>
                          </m:r>
                        </m:e>
                        <m:sub>
                          <m:r>
                            <a:rPr lang="en-US" sz="1730">
                              <a:solidFill>
                                <a:srgbClr val="06245B"/>
                              </a:solidFill>
                              <a:latin typeface="Cambria Math" panose="02040503050406030204"/>
                            </a:rPr>
                            <m:t>𝑢</m:t>
                          </m:r>
                        </m:sub>
                      </m:sSub>
                      <m:r>
                        <a:rPr lang="en-US" sz="1730">
                          <a:solidFill>
                            <a:srgbClr val="06245B"/>
                          </a:solidFill>
                          <a:latin typeface="Cambria Math" panose="02040503050406030204"/>
                        </a:rPr>
                        <m:t>,</m:t>
                      </m:r>
                      <m:sSub>
                        <m:sSubPr>
                          <m:ctrlPr>
                            <a:rPr/>
                          </m:ctrlPr>
                        </m:sSubPr>
                        <m:e>
                          <m:r>
                            <a:rPr lang="en-US" sz="1730">
                              <a:solidFill>
                                <a:srgbClr val="06245B"/>
                              </a:solidFill>
                              <a:latin typeface="Cambria Math" panose="02040503050406030204"/>
                            </a:rPr>
                            <m:t>𝑎</m:t>
                          </m:r>
                        </m:e>
                        <m:sub>
                          <m:r>
                            <a:rPr lang="en-US" sz="1730">
                              <a:solidFill>
                                <a:srgbClr val="06245B"/>
                              </a:solidFill>
                              <a:latin typeface="Cambria Math" panose="02040503050406030204"/>
                            </a:rPr>
                            <m:t>𝑢</m:t>
                          </m:r>
                        </m:sub>
                      </m:sSub>
                      <m:r>
                        <a:rPr lang="en-US" sz="1730">
                          <a:solidFill>
                            <a:srgbClr val="06245B"/>
                          </a:solidFill>
                          <a:latin typeface="Cambria Math" panose="02040503050406030204"/>
                        </a:rPr>
                        <m:t>)</m:t>
                      </m:r>
                      <m:r>
                        <a:rPr lang="en-US" sz="173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R(s,z,k)=\mathbb E[\sum_{u=0}^{k-1}\gamma^u r_H(s_u,a_u)]"/>
              <p:cNvSpPr>
                <a:spLocks noRot="1" noChangeAspect="1" noMove="1" noResize="1" noEditPoints="1" noAdjustHandles="1" noChangeArrowheads="1" noChangeShapeType="1" noTextEdit="1"/>
              </p:cNvSpPr>
              <p:nvPr/>
            </p:nvSpPr>
            <p:spPr>
              <a:xfrm>
                <a:off x="3236976" y="1801368"/>
                <a:ext cx="8129016" cy="521208"/>
              </a:xfrm>
              <a:prstGeom prst="rect">
                <a:avLst/>
              </a:prstGeom>
              <a:blipFill rotWithShape="1">
                <a:blip r:embed="rId2"/>
                <a:stretch>
                  <a:fillRect l="-5" t="-97" r="2" b="73"/>
                </a:stretch>
              </a:blipFill>
              <a:ln w="0">
                <a:noFill/>
              </a:ln>
            </p:spPr>
            <p:txBody>
              <a:bodyPr/>
              <a:lstStyle/>
              <a:p>
                <a:r>
                  <a:rPr lang="zh-CN" altLang="en-US">
                    <a:noFill/>
                  </a:rPr>
                  <a:t> </a:t>
                </a:r>
              </a:p>
            </p:txBody>
          </p:sp>
        </mc:Fallback>
      </mc:AlternateContent>
      <p:sp>
        <p:nvSpPr>
          <p:cNvPr id="10" name="矩形 9"/>
          <p:cNvSpPr>
            <a:spLocks noGrp="1"/>
          </p:cNvSpPr>
          <p:nvPr/>
        </p:nvSpPr>
        <p:spPr>
          <a:xfrm>
            <a:off x="3236976" y="2368296"/>
            <a:ext cx="8092440" cy="603504"/>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高层累计技能期间的任务奖励；论文式(10)还加入违规惩罚，逐步安全则由低层约束负责。</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联合目标</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J(\pi_H,\pi_z)=\mathbb E[R_H(\tau)]"/>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r>
                        <a:rPr lang="en-US" sz="1940">
                          <a:solidFill>
                            <a:srgbClr val="06245B"/>
                          </a:solidFill>
                          <a:latin typeface="Cambria Math" panose="02040503050406030204"/>
                        </a:rPr>
                        <m:t>𝐽</m:t>
                      </m:r>
                      <m:r>
                        <a:rPr lang="en-US" sz="1940">
                          <a:solidFill>
                            <a:srgbClr val="06245B"/>
                          </a:solidFill>
                          <a:latin typeface="Cambria Math" panose="02040503050406030204"/>
                        </a:rPr>
                        <m:t>(</m:t>
                      </m:r>
                      <m:sSub>
                        <m:sSubPr>
                          <m:ctrlPr>
                            <a:rPr/>
                          </m:ctrlPr>
                        </m:sSubPr>
                        <m:e>
                          <m:r>
                            <a:rPr lang="en-US" sz="1940">
                              <a:solidFill>
                                <a:srgbClr val="06245B"/>
                              </a:solidFill>
                              <a:latin typeface="Cambria Math" panose="02040503050406030204"/>
                            </a:rPr>
                            <m:t>𝜋</m:t>
                          </m:r>
                        </m:e>
                        <m:sub>
                          <m:r>
                            <a:rPr lang="en-US" sz="1940">
                              <a:solidFill>
                                <a:srgbClr val="06245B"/>
                              </a:solidFill>
                              <a:latin typeface="Cambria Math" panose="02040503050406030204"/>
                            </a:rPr>
                            <m:t>𝐻</m:t>
                          </m:r>
                        </m:sub>
                      </m:sSub>
                      <m:r>
                        <a:rPr lang="en-US" sz="1940">
                          <a:solidFill>
                            <a:srgbClr val="06245B"/>
                          </a:solidFill>
                          <a:latin typeface="Cambria Math" panose="02040503050406030204"/>
                        </a:rPr>
                        <m:t>,</m:t>
                      </m:r>
                      <m:sSub>
                        <m:sSubPr>
                          <m:ctrlPr>
                            <a:rPr/>
                          </m:ctrlPr>
                        </m:sSubPr>
                        <m:e>
                          <m:r>
                            <a:rPr lang="en-US" sz="1940">
                              <a:solidFill>
                                <a:srgbClr val="06245B"/>
                              </a:solidFill>
                              <a:latin typeface="Cambria Math" panose="02040503050406030204"/>
                            </a:rPr>
                            <m:t>𝜋</m:t>
                          </m:r>
                        </m:e>
                        <m:sub>
                          <m:r>
                            <a:rPr lang="en-US" sz="1940">
                              <a:solidFill>
                                <a:srgbClr val="06245B"/>
                              </a:solidFill>
                              <a:latin typeface="Cambria Math" panose="02040503050406030204"/>
                            </a:rPr>
                            <m:t>𝑧</m:t>
                          </m:r>
                        </m:sub>
                      </m:sSub>
                      <m:r>
                        <a:rPr lang="en-US" sz="1940">
                          <a:solidFill>
                            <a:srgbClr val="06245B"/>
                          </a:solidFill>
                          <a:latin typeface="Cambria Math" panose="02040503050406030204"/>
                        </a:rPr>
                        <m:t>)</m:t>
                      </m:r>
                      <m:r>
                        <a:rPr lang="en-US" sz="1940">
                          <a:solidFill>
                            <a:srgbClr val="06245B"/>
                          </a:solidFill>
                          <a:latin typeface="Cambria Math" panose="02040503050406030204"/>
                        </a:rPr>
                        <m:t>=</m:t>
                      </m:r>
                      <m:r>
                        <a:rPr lang="en-US" sz="1940">
                          <a:solidFill>
                            <a:srgbClr val="06245B"/>
                          </a:solidFill>
                          <a:latin typeface="Cambria Math" panose="02040503050406030204"/>
                        </a:rPr>
                        <m:t>𝔼</m:t>
                      </m:r>
                      <m:r>
                        <a:rPr lang="en-US" sz="1940">
                          <a:solidFill>
                            <a:srgbClr val="06245B"/>
                          </a:solidFill>
                          <a:latin typeface="Cambria Math" panose="02040503050406030204"/>
                        </a:rPr>
                        <m:t>[</m:t>
                      </m:r>
                      <m:sSub>
                        <m:sSubPr>
                          <m:ctrlPr>
                            <a:rPr/>
                          </m:ctrlPr>
                        </m:sSubPr>
                        <m:e>
                          <m:r>
                            <a:rPr lang="en-US" sz="1940">
                              <a:solidFill>
                                <a:srgbClr val="06245B"/>
                              </a:solidFill>
                              <a:latin typeface="Cambria Math" panose="02040503050406030204"/>
                            </a:rPr>
                            <m:t>𝑅</m:t>
                          </m:r>
                        </m:e>
                        <m:sub>
                          <m:r>
                            <a:rPr lang="en-US" sz="1940">
                              <a:solidFill>
                                <a:srgbClr val="06245B"/>
                              </a:solidFill>
                              <a:latin typeface="Cambria Math" panose="02040503050406030204"/>
                            </a:rPr>
                            <m:t>𝐻</m:t>
                          </m:r>
                        </m:sub>
                      </m:sSub>
                      <m:r>
                        <a:rPr lang="en-US" sz="1940">
                          <a:solidFill>
                            <a:srgbClr val="06245B"/>
                          </a:solidFill>
                          <a:latin typeface="Cambria Math" panose="02040503050406030204"/>
                        </a:rPr>
                        <m:t>(</m:t>
                      </m:r>
                      <m:r>
                        <a:rPr lang="en-US" sz="1940">
                          <a:solidFill>
                            <a:srgbClr val="06245B"/>
                          </a:solidFill>
                          <a:latin typeface="Cambria Math" panose="02040503050406030204"/>
                        </a:rPr>
                        <m:t>𝜏</m:t>
                      </m:r>
                      <m:r>
                        <a:rPr lang="en-US" sz="1940">
                          <a:solidFill>
                            <a:srgbClr val="06245B"/>
                          </a:solidFill>
                          <a:latin typeface="Cambria Math" panose="02040503050406030204"/>
                        </a:rPr>
                        <m:t>)</m:t>
                      </m:r>
                      <m:r>
                        <a:rPr lang="en-US" sz="194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J(\pi_H,\pi_z)=\mathbb E[R_H(\tau)]"/>
              <p:cNvSpPr>
                <a:spLocks noRot="1" noChangeAspect="1" noMove="1" noResize="1" noEditPoints="1" noAdjustHandles="1" noChangeArrowheads="1" noChangeShapeType="1" noTextEdit="1"/>
              </p:cNvSpPr>
              <p:nvPr/>
            </p:nvSpPr>
            <p:spPr>
              <a:xfrm>
                <a:off x="3238500" y="3038475"/>
                <a:ext cx="8124825" cy="400050"/>
              </a:xfrm>
              <a:prstGeom prst="rect">
                <a:avLst/>
              </a:prstGeom>
              <a:blipFill rotWithShape="1">
                <a:blip r:embed="rId3"/>
                <a:stretch>
                  <a:fillRect/>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式(11)：高层策略 π_H 选联合技能，低层技能策略 π_z 执行，组合后产生轨迹 τ 与任务回报。</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执行信息</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1900" b="1">
                <a:solidFill>
                  <a:srgbClr val="06245B"/>
                </a:solidFill>
                <a:latin typeface="微软雅黑" panose="020B0503020204020204" charset="-122"/>
                <a:ea typeface="微软雅黑" panose="020B0503020204020204" charset="-122"/>
                <a:cs typeface="微软雅黑" panose="020B0503020204020204" charset="-122"/>
              </a:rPr>
              <a:t>训练使用联合信息；执行由各车依据自身观测选技能</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550" b="0">
                <a:solidFill>
                  <a:srgbClr val="263247"/>
                </a:solidFill>
                <a:latin typeface="微软雅黑" panose="020B0503020204020204" charset="-122"/>
                <a:ea typeface="微软雅黑" panose="020B0503020204020204" charset="-122"/>
                <a:cs typeface="微软雅黑" panose="020B0503020204020204" charset="-122"/>
              </a:rPr>
              <a:t>同策略路线以集中评论家评估联合回报；异策略路线用联合价值函数和价值分解。两者都服务于分散执行。</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外在任务奖励训练高层，内在技能奖励训练低层；两层通过同一条交互轨迹连接。</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高层协作如何训练：同策略与异策略两条路线</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TWO HIGH-LEVEL LEARNING ROUTES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10</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同策略路线</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nabla_\theta J=\mathbb E_\tau[\sum_t\nabla_\theta\log\pi_{H,\theta}(z_t\mid s_t)G_t]"/>
              <p:cNvSpPr>
                <a:spLocks noGrp="1"/>
              </p:cNvSpPr>
              <p:nvPr/>
            </p:nvSpPr>
            <p:spPr>
              <a:xfrm>
                <a:off x="3236976" y="1847088"/>
                <a:ext cx="8129016" cy="438912"/>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670">
                              <a:solidFill>
                                <a:srgbClr val="06245B"/>
                              </a:solidFill>
                              <a:latin typeface="Cambria Math" panose="02040503050406030204"/>
                            </a:rPr>
                            <m:t>𝛻</m:t>
                          </m:r>
                        </m:e>
                        <m:sub>
                          <m:r>
                            <a:rPr lang="en-US" sz="1670">
                              <a:solidFill>
                                <a:srgbClr val="06245B"/>
                              </a:solidFill>
                              <a:latin typeface="Cambria Math" panose="02040503050406030204"/>
                            </a:rPr>
                            <m:t>𝜃</m:t>
                          </m:r>
                        </m:sub>
                      </m:sSub>
                      <m:r>
                        <a:rPr lang="en-US" sz="1670">
                          <a:solidFill>
                            <a:srgbClr val="06245B"/>
                          </a:solidFill>
                          <a:latin typeface="Cambria Math" panose="02040503050406030204"/>
                        </a:rPr>
                        <m:t>𝐽</m:t>
                      </m:r>
                      <m:r>
                        <a:rPr lang="en-US" sz="1670">
                          <a:solidFill>
                            <a:srgbClr val="06245B"/>
                          </a:solidFill>
                          <a:latin typeface="Cambria Math" panose="02040503050406030204"/>
                        </a:rPr>
                        <m:t>=</m:t>
                      </m:r>
                      <m:sSub>
                        <m:sSubPr>
                          <m:ctrlPr>
                            <a:rPr/>
                          </m:ctrlPr>
                        </m:sSubPr>
                        <m:e>
                          <m:r>
                            <a:rPr lang="en-US" sz="1670">
                              <a:solidFill>
                                <a:srgbClr val="06245B"/>
                              </a:solidFill>
                              <a:latin typeface="Cambria Math" panose="02040503050406030204"/>
                            </a:rPr>
                            <m:t>𝔼</m:t>
                          </m:r>
                        </m:e>
                        <m:sub>
                          <m:r>
                            <a:rPr lang="en-US" sz="1670">
                              <a:solidFill>
                                <a:srgbClr val="06245B"/>
                              </a:solidFill>
                              <a:latin typeface="Cambria Math" panose="02040503050406030204"/>
                            </a:rPr>
                            <m:t>𝜏</m:t>
                          </m:r>
                        </m:sub>
                      </m:sSub>
                      <m:r>
                        <a:rPr lang="en-US" sz="1670">
                          <a:solidFill>
                            <a:srgbClr val="06245B"/>
                          </a:solidFill>
                          <a:latin typeface="Cambria Math" panose="02040503050406030204"/>
                        </a:rPr>
                        <m:t>[</m:t>
                      </m:r>
                      <m:sSub>
                        <m:sSubPr>
                          <m:ctrlPr>
                            <a:rPr/>
                          </m:ctrlPr>
                        </m:sSubPr>
                        <m:e>
                          <m:r>
                            <a:rPr lang="en-US" sz="1670">
                              <a:solidFill>
                                <a:srgbClr val="06245B"/>
                              </a:solidFill>
                              <a:latin typeface="Cambria Math" panose="02040503050406030204"/>
                            </a:rPr>
                            <m:t>∑</m:t>
                          </m:r>
                        </m:e>
                        <m:sub>
                          <m:r>
                            <a:rPr lang="en-US" sz="1670">
                              <a:solidFill>
                                <a:srgbClr val="06245B"/>
                              </a:solidFill>
                              <a:latin typeface="Cambria Math" panose="02040503050406030204"/>
                            </a:rPr>
                            <m:t>𝑡</m:t>
                          </m:r>
                        </m:sub>
                      </m:sSub>
                      <m:sSub>
                        <m:sSubPr>
                          <m:ctrlPr>
                            <a:rPr/>
                          </m:ctrlPr>
                        </m:sSubPr>
                        <m:e>
                          <m:r>
                            <a:rPr lang="en-US" sz="1670">
                              <a:solidFill>
                                <a:srgbClr val="06245B"/>
                              </a:solidFill>
                              <a:latin typeface="Cambria Math" panose="02040503050406030204"/>
                            </a:rPr>
                            <m:t>𝛻</m:t>
                          </m:r>
                        </m:e>
                        <m:sub>
                          <m:r>
                            <a:rPr lang="en-US" sz="1670">
                              <a:solidFill>
                                <a:srgbClr val="06245B"/>
                              </a:solidFill>
                              <a:latin typeface="Cambria Math" panose="02040503050406030204"/>
                            </a:rPr>
                            <m:t>𝜃</m:t>
                          </m:r>
                        </m:sub>
                      </m:sSub>
                      <m:r>
                        <m:rPr>
                          <m:sty m:val="p"/>
                        </m:rPr>
                        <a:rPr lang="en-US" sz="1670">
                          <a:solidFill>
                            <a:srgbClr val="06245B"/>
                          </a:solidFill>
                          <a:latin typeface="Cambria Math" panose="02040503050406030204"/>
                        </a:rPr>
                        <m:t>log</m:t>
                      </m:r>
                      <m:sSub>
                        <m:sSubPr>
                          <m:ctrlPr>
                            <a:rPr/>
                          </m:ctrlPr>
                        </m:sSubPr>
                        <m:e>
                          <m:r>
                            <a:rPr lang="en-US" sz="1670">
                              <a:solidFill>
                                <a:srgbClr val="06245B"/>
                              </a:solidFill>
                              <a:latin typeface="Cambria Math" panose="02040503050406030204"/>
                            </a:rPr>
                            <m:t>𝜋</m:t>
                          </m:r>
                        </m:e>
                        <m:sub>
                          <m:r>
                            <a:rPr lang="en-US" sz="1670">
                              <a:solidFill>
                                <a:srgbClr val="06245B"/>
                              </a:solidFill>
                              <a:latin typeface="Cambria Math" panose="02040503050406030204"/>
                            </a:rPr>
                            <m:t>𝐻</m:t>
                          </m:r>
                          <m:r>
                            <a:rPr lang="en-US" sz="1670">
                              <a:solidFill>
                                <a:srgbClr val="06245B"/>
                              </a:solidFill>
                              <a:latin typeface="Cambria Math" panose="02040503050406030204"/>
                            </a:rPr>
                            <m:t>,</m:t>
                          </m:r>
                          <m:r>
                            <a:rPr lang="en-US" sz="1670">
                              <a:solidFill>
                                <a:srgbClr val="06245B"/>
                              </a:solidFill>
                              <a:latin typeface="Cambria Math" panose="02040503050406030204"/>
                            </a:rPr>
                            <m:t>𝜃</m:t>
                          </m:r>
                        </m:sub>
                      </m:sSub>
                      <m:r>
                        <a:rPr lang="en-US" sz="1670">
                          <a:solidFill>
                            <a:srgbClr val="06245B"/>
                          </a:solidFill>
                          <a:latin typeface="Cambria Math" panose="02040503050406030204"/>
                        </a:rPr>
                        <m:t>(</m:t>
                      </m:r>
                      <m:sSub>
                        <m:sSubPr>
                          <m:ctrlPr>
                            <a:rPr/>
                          </m:ctrlPr>
                        </m:sSubPr>
                        <m:e>
                          <m:r>
                            <a:rPr lang="en-US" sz="1670">
                              <a:solidFill>
                                <a:srgbClr val="06245B"/>
                              </a:solidFill>
                              <a:latin typeface="Cambria Math" panose="02040503050406030204"/>
                            </a:rPr>
                            <m:t>𝑧</m:t>
                          </m:r>
                        </m:e>
                        <m:sub>
                          <m:r>
                            <a:rPr lang="en-US" sz="1670">
                              <a:solidFill>
                                <a:srgbClr val="06245B"/>
                              </a:solidFill>
                              <a:latin typeface="Cambria Math" panose="02040503050406030204"/>
                            </a:rPr>
                            <m:t>𝑡</m:t>
                          </m:r>
                        </m:sub>
                      </m:sSub>
                      <m:r>
                        <a:rPr lang="en-US" sz="1670">
                          <a:solidFill>
                            <a:srgbClr val="06245B"/>
                          </a:solidFill>
                          <a:latin typeface="Cambria Math" panose="02040503050406030204"/>
                        </a:rPr>
                        <m:t>∣</m:t>
                      </m:r>
                      <m:sSub>
                        <m:sSubPr>
                          <m:ctrlPr>
                            <a:rPr/>
                          </m:ctrlPr>
                        </m:sSubPr>
                        <m:e>
                          <m:r>
                            <a:rPr lang="en-US" sz="1670">
                              <a:solidFill>
                                <a:srgbClr val="06245B"/>
                              </a:solidFill>
                              <a:latin typeface="Cambria Math" panose="02040503050406030204"/>
                            </a:rPr>
                            <m:t>𝑠</m:t>
                          </m:r>
                        </m:e>
                        <m:sub>
                          <m:r>
                            <a:rPr lang="en-US" sz="1670">
                              <a:solidFill>
                                <a:srgbClr val="06245B"/>
                              </a:solidFill>
                              <a:latin typeface="Cambria Math" panose="02040503050406030204"/>
                            </a:rPr>
                            <m:t>𝑡</m:t>
                          </m:r>
                        </m:sub>
                      </m:sSub>
                      <m:r>
                        <a:rPr lang="en-US" sz="1670">
                          <a:solidFill>
                            <a:srgbClr val="06245B"/>
                          </a:solidFill>
                          <a:latin typeface="Cambria Math" panose="02040503050406030204"/>
                        </a:rPr>
                        <m:t>)</m:t>
                      </m:r>
                      <m:sSub>
                        <m:sSubPr>
                          <m:ctrlPr>
                            <a:rPr/>
                          </m:ctrlPr>
                        </m:sSubPr>
                        <m:e>
                          <m:r>
                            <a:rPr lang="en-US" sz="1670">
                              <a:solidFill>
                                <a:srgbClr val="06245B"/>
                              </a:solidFill>
                              <a:latin typeface="Cambria Math" panose="02040503050406030204"/>
                            </a:rPr>
                            <m:t>𝐺</m:t>
                          </m:r>
                        </m:e>
                        <m:sub>
                          <m:r>
                            <a:rPr lang="en-US" sz="1670">
                              <a:solidFill>
                                <a:srgbClr val="06245B"/>
                              </a:solidFill>
                              <a:latin typeface="Cambria Math" panose="02040503050406030204"/>
                            </a:rPr>
                            <m:t>𝑡</m:t>
                          </m:r>
                        </m:sub>
                      </m:sSub>
                      <m:r>
                        <a:rPr lang="en-US" sz="167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nabla_\theta J=\mathbb E_\tau[\sum_t\nabla_\theta\log\pi_{H,\theta}(z_t\mid s_t)G_t]"/>
              <p:cNvSpPr>
                <a:spLocks noRot="1" noChangeAspect="1" noMove="1" noResize="1" noEditPoints="1" noAdjustHandles="1" noChangeArrowheads="1" noChangeShapeType="1" noTextEdit="1"/>
              </p:cNvSpPr>
              <p:nvPr/>
            </p:nvSpPr>
            <p:spPr>
              <a:xfrm>
                <a:off x="3236976" y="1847088"/>
                <a:ext cx="8129016" cy="438912"/>
              </a:xfrm>
              <a:prstGeom prst="rect">
                <a:avLst/>
              </a:prstGeom>
              <a:blipFill rotWithShape="1">
                <a:blip r:embed="rId2"/>
                <a:stretch>
                  <a:fillRect l="-5" t="-116" r="2"/>
                </a:stretch>
              </a:blipFill>
              <a:ln w="0">
                <a:noFill/>
              </a:ln>
            </p:spPr>
            <p:txBody>
              <a:bodyPr/>
              <a:lstStyle/>
              <a:p>
                <a:r>
                  <a:rPr lang="zh-CN" altLang="en-US">
                    <a:noFill/>
                  </a:rPr>
                  <a:t> </a:t>
                </a:r>
              </a:p>
            </p:txBody>
          </p:sp>
        </mc:Fallback>
      </mc:AlternateContent>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论文式（12）：联合轨迹回报评价技能选择；集中评论家在训练时提供全局信息，执行时各车仍根据局部观测行动。</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异策略路线</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L(\theta)=\mathbb E[(R+\gamma^k\max_z Q_{\mathrm{tot}}(s\prime,z)-Q_{\mathrm{tot}}(s,z))^2]"/>
              <p:cNvSpPr>
                <a:spLocks noGrp="1"/>
              </p:cNvSpPr>
              <p:nvPr/>
            </p:nvSpPr>
            <p:spPr>
              <a:xfrm>
                <a:off x="3236976" y="3035808"/>
                <a:ext cx="8129016" cy="438912"/>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r>
                        <a:rPr lang="en-US" sz="1520">
                          <a:solidFill>
                            <a:srgbClr val="06245B"/>
                          </a:solidFill>
                          <a:latin typeface="Cambria Math" panose="02040503050406030204"/>
                        </a:rPr>
                        <m:t>𝐿</m:t>
                      </m:r>
                      <m:r>
                        <a:rPr lang="en-US" sz="1520">
                          <a:solidFill>
                            <a:srgbClr val="06245B"/>
                          </a:solidFill>
                          <a:latin typeface="Cambria Math" panose="02040503050406030204"/>
                        </a:rPr>
                        <m:t>(</m:t>
                      </m:r>
                      <m:r>
                        <a:rPr lang="en-US" sz="1520">
                          <a:solidFill>
                            <a:srgbClr val="06245B"/>
                          </a:solidFill>
                          <a:latin typeface="Cambria Math" panose="02040503050406030204"/>
                        </a:rPr>
                        <m:t>𝜃</m:t>
                      </m:r>
                      <m:r>
                        <a:rPr lang="en-US" sz="1520">
                          <a:solidFill>
                            <a:srgbClr val="06245B"/>
                          </a:solidFill>
                          <a:latin typeface="Cambria Math" panose="02040503050406030204"/>
                        </a:rPr>
                        <m:t>)</m:t>
                      </m:r>
                      <m:r>
                        <a:rPr lang="en-US" sz="1520">
                          <a:solidFill>
                            <a:srgbClr val="06245B"/>
                          </a:solidFill>
                          <a:latin typeface="Cambria Math" panose="02040503050406030204"/>
                        </a:rPr>
                        <m:t>=</m:t>
                      </m:r>
                      <m:r>
                        <a:rPr lang="en-US" sz="1520">
                          <a:solidFill>
                            <a:srgbClr val="06245B"/>
                          </a:solidFill>
                          <a:latin typeface="Cambria Math" panose="02040503050406030204"/>
                        </a:rPr>
                        <m:t>𝔼</m:t>
                      </m:r>
                      <m:r>
                        <a:rPr lang="en-US" sz="1520">
                          <a:solidFill>
                            <a:srgbClr val="06245B"/>
                          </a:solidFill>
                          <a:latin typeface="Cambria Math" panose="02040503050406030204"/>
                        </a:rPr>
                        <m:t>[</m:t>
                      </m:r>
                      <m:r>
                        <a:rPr lang="en-US" sz="1520">
                          <a:solidFill>
                            <a:srgbClr val="06245B"/>
                          </a:solidFill>
                          <a:latin typeface="Cambria Math" panose="02040503050406030204"/>
                        </a:rPr>
                        <m:t>(</m:t>
                      </m:r>
                      <m:r>
                        <a:rPr lang="en-US" sz="1520">
                          <a:solidFill>
                            <a:srgbClr val="06245B"/>
                          </a:solidFill>
                          <a:latin typeface="Cambria Math" panose="02040503050406030204"/>
                        </a:rPr>
                        <m:t>𝑅</m:t>
                      </m:r>
                      <m:r>
                        <a:rPr lang="en-US" sz="1520">
                          <a:solidFill>
                            <a:srgbClr val="06245B"/>
                          </a:solidFill>
                          <a:latin typeface="Cambria Math" panose="02040503050406030204"/>
                        </a:rPr>
                        <m:t>+</m:t>
                      </m:r>
                      <m:sSup>
                        <m:sSupPr>
                          <m:ctrlPr>
                            <a:rPr/>
                          </m:ctrlPr>
                        </m:sSupPr>
                        <m:e>
                          <m:r>
                            <a:rPr lang="en-US" sz="1520">
                              <a:solidFill>
                                <a:srgbClr val="06245B"/>
                              </a:solidFill>
                              <a:latin typeface="Cambria Math" panose="02040503050406030204"/>
                            </a:rPr>
                            <m:t>𝛾</m:t>
                          </m:r>
                        </m:e>
                        <m:sup>
                          <m:r>
                            <a:rPr lang="en-US" sz="1520">
                              <a:solidFill>
                                <a:srgbClr val="06245B"/>
                              </a:solidFill>
                              <a:latin typeface="Cambria Math" panose="02040503050406030204"/>
                            </a:rPr>
                            <m:t>𝑘</m:t>
                          </m:r>
                        </m:sup>
                      </m:sSup>
                      <m:sSub>
                        <m:sSubPr>
                          <m:ctrlPr>
                            <a:rPr/>
                          </m:ctrlPr>
                        </m:sSubPr>
                        <m:e>
                          <m:r>
                            <m:rPr>
                              <m:sty m:val="p"/>
                            </m:rPr>
                            <a:rPr lang="en-US" sz="1520">
                              <a:solidFill>
                                <a:srgbClr val="06245B"/>
                              </a:solidFill>
                              <a:latin typeface="Cambria Math" panose="02040503050406030204"/>
                            </a:rPr>
                            <m:t>max</m:t>
                          </m:r>
                        </m:e>
                        <m:sub>
                          <m:r>
                            <a:rPr lang="en-US" sz="1520">
                              <a:solidFill>
                                <a:srgbClr val="06245B"/>
                              </a:solidFill>
                              <a:latin typeface="Cambria Math" panose="02040503050406030204"/>
                            </a:rPr>
                            <m:t>𝑧</m:t>
                          </m:r>
                        </m:sub>
                      </m:sSub>
                      <m:sSub>
                        <m:sSubPr>
                          <m:ctrlPr>
                            <a:rPr/>
                          </m:ctrlPr>
                        </m:sSubPr>
                        <m:e>
                          <m:r>
                            <a:rPr lang="en-US" sz="1520">
                              <a:solidFill>
                                <a:srgbClr val="06245B"/>
                              </a:solidFill>
                              <a:latin typeface="Cambria Math" panose="02040503050406030204"/>
                            </a:rPr>
                            <m:t>𝑄</m:t>
                          </m:r>
                        </m:e>
                        <m:sub>
                          <m:r>
                            <m:rPr>
                              <m:sty m:val="p"/>
                            </m:rPr>
                            <a:rPr lang="en-US" sz="1520">
                              <a:solidFill>
                                <a:srgbClr val="06245B"/>
                              </a:solidFill>
                              <a:latin typeface="Cambria Math" panose="02040503050406030204"/>
                            </a:rPr>
                            <m:t>tot</m:t>
                          </m:r>
                        </m:sub>
                      </m:sSub>
                      <m:r>
                        <a:rPr lang="en-US" sz="1520">
                          <a:solidFill>
                            <a:srgbClr val="06245B"/>
                          </a:solidFill>
                          <a:latin typeface="Cambria Math" panose="02040503050406030204"/>
                        </a:rPr>
                        <m:t>(</m:t>
                      </m:r>
                      <m:r>
                        <a:rPr lang="en-US" sz="1520">
                          <a:solidFill>
                            <a:srgbClr val="06245B"/>
                          </a:solidFill>
                          <a:latin typeface="Cambria Math" panose="02040503050406030204"/>
                        </a:rPr>
                        <m:t>𝑠</m:t>
                      </m:r>
                      <m:r>
                        <a:rPr lang="en-US" sz="1520">
                          <a:solidFill>
                            <a:srgbClr val="06245B"/>
                          </a:solidFill>
                          <a:latin typeface="Cambria Math" panose="02040503050406030204"/>
                        </a:rPr>
                        <m:t>′</m:t>
                      </m:r>
                      <m:r>
                        <a:rPr lang="en-US" sz="1520">
                          <a:solidFill>
                            <a:srgbClr val="06245B"/>
                          </a:solidFill>
                          <a:latin typeface="Cambria Math" panose="02040503050406030204"/>
                        </a:rPr>
                        <m:t>,</m:t>
                      </m:r>
                      <m:r>
                        <a:rPr lang="en-US" sz="1520">
                          <a:solidFill>
                            <a:srgbClr val="06245B"/>
                          </a:solidFill>
                          <a:latin typeface="Cambria Math" panose="02040503050406030204"/>
                        </a:rPr>
                        <m:t>𝑧</m:t>
                      </m:r>
                      <m:r>
                        <a:rPr lang="en-US" sz="1520">
                          <a:solidFill>
                            <a:srgbClr val="06245B"/>
                          </a:solidFill>
                          <a:latin typeface="Cambria Math" panose="02040503050406030204"/>
                        </a:rPr>
                        <m:t>)</m:t>
                      </m:r>
                      <m:r>
                        <a:rPr lang="en-US" sz="1520">
                          <a:solidFill>
                            <a:srgbClr val="06245B"/>
                          </a:solidFill>
                          <a:latin typeface="Cambria Math" panose="02040503050406030204"/>
                        </a:rPr>
                        <m:t>−</m:t>
                      </m:r>
                      <m:sSub>
                        <m:sSubPr>
                          <m:ctrlPr>
                            <a:rPr/>
                          </m:ctrlPr>
                        </m:sSubPr>
                        <m:e>
                          <m:r>
                            <a:rPr lang="en-US" sz="1520">
                              <a:solidFill>
                                <a:srgbClr val="06245B"/>
                              </a:solidFill>
                              <a:latin typeface="Cambria Math" panose="02040503050406030204"/>
                            </a:rPr>
                            <m:t>𝑄</m:t>
                          </m:r>
                        </m:e>
                        <m:sub>
                          <m:r>
                            <m:rPr>
                              <m:sty m:val="p"/>
                            </m:rPr>
                            <a:rPr lang="en-US" sz="1520">
                              <a:solidFill>
                                <a:srgbClr val="06245B"/>
                              </a:solidFill>
                              <a:latin typeface="Cambria Math" panose="02040503050406030204"/>
                            </a:rPr>
                            <m:t>tot</m:t>
                          </m:r>
                        </m:sub>
                      </m:sSub>
                      <m:r>
                        <a:rPr lang="en-US" sz="1520">
                          <a:solidFill>
                            <a:srgbClr val="06245B"/>
                          </a:solidFill>
                          <a:latin typeface="Cambria Math" panose="02040503050406030204"/>
                        </a:rPr>
                        <m:t>(</m:t>
                      </m:r>
                      <m:r>
                        <a:rPr lang="en-US" sz="1520">
                          <a:solidFill>
                            <a:srgbClr val="06245B"/>
                          </a:solidFill>
                          <a:latin typeface="Cambria Math" panose="02040503050406030204"/>
                        </a:rPr>
                        <m:t>𝑠</m:t>
                      </m:r>
                      <m:r>
                        <a:rPr lang="en-US" sz="1520">
                          <a:solidFill>
                            <a:srgbClr val="06245B"/>
                          </a:solidFill>
                          <a:latin typeface="Cambria Math" panose="02040503050406030204"/>
                        </a:rPr>
                        <m:t>,</m:t>
                      </m:r>
                      <m:r>
                        <a:rPr lang="en-US" sz="1520">
                          <a:solidFill>
                            <a:srgbClr val="06245B"/>
                          </a:solidFill>
                          <a:latin typeface="Cambria Math" panose="02040503050406030204"/>
                        </a:rPr>
                        <m:t>𝑧</m:t>
                      </m:r>
                      <m:r>
                        <a:rPr lang="en-US" sz="1520">
                          <a:solidFill>
                            <a:srgbClr val="06245B"/>
                          </a:solidFill>
                          <a:latin typeface="Cambria Math" panose="02040503050406030204"/>
                        </a:rPr>
                        <m:t>)</m:t>
                      </m:r>
                      <m:sSup>
                        <m:sSupPr>
                          <m:ctrlPr>
                            <a:rPr/>
                          </m:ctrlPr>
                        </m:sSupPr>
                        <m:e>
                          <m:r>
                            <a:rPr lang="en-US" sz="1520">
                              <a:solidFill>
                                <a:srgbClr val="06245B"/>
                              </a:solidFill>
                              <a:latin typeface="Cambria Math" panose="02040503050406030204"/>
                            </a:rPr>
                            <m:t>)</m:t>
                          </m:r>
                        </m:e>
                        <m:sup>
                          <m:r>
                            <a:rPr lang="en-US" sz="1520">
                              <a:solidFill>
                                <a:srgbClr val="06245B"/>
                              </a:solidFill>
                              <a:latin typeface="Cambria Math" panose="02040503050406030204"/>
                            </a:rPr>
                            <m:t>2</m:t>
                          </m:r>
                        </m:sup>
                      </m:sSup>
                      <m:r>
                        <a:rPr lang="en-US" sz="152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L(\theta)=\mathbb E[(R+\gamma^k\max_z Q_{\mathrm{tot}}(s\prime,z)-Q_{\mathrm{tot}}(s,z))^2]"/>
              <p:cNvSpPr>
                <a:spLocks noRot="1" noChangeAspect="1" noMove="1" noResize="1" noEditPoints="1" noAdjustHandles="1" noChangeArrowheads="1" noChangeShapeType="1" noTextEdit="1"/>
              </p:cNvSpPr>
              <p:nvPr/>
            </p:nvSpPr>
            <p:spPr>
              <a:xfrm>
                <a:off x="3236976" y="3035808"/>
                <a:ext cx="8129016" cy="438912"/>
              </a:xfrm>
              <a:prstGeom prst="rect">
                <a:avLst/>
              </a:prstGeom>
              <a:blipFill rotWithShape="1">
                <a:blip r:embed="rId3"/>
                <a:stretch>
                  <a:fillRect l="-5" t="-116" r="2"/>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论文式（13）：以技能持续时间折扣的目标更新联合价值函数；价值分解满足个体—全局最大值原则（IGM）。</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信息边界</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执行仅需本车观测与历史</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550" b="0">
                <a:solidFill>
                  <a:srgbClr val="263247"/>
                </a:solidFill>
                <a:latin typeface="微软雅黑" panose="020B0503020204020204" charset="-122"/>
                <a:ea typeface="微软雅黑" panose="020B0503020204020204" charset="-122"/>
                <a:cs typeface="微软雅黑" panose="020B0503020204020204" charset="-122"/>
              </a:rPr>
              <a:t>多智能体近端策略优化（MAPPO）与Q值混合（QMIX）是高层的两种实现，不应将IGM讲成所有方法共有模块。</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同一个高层问题可用不同学习算法求解；低层安全技能接口保持一致。</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安全函数示意与安全结论的适用条件</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SAFETY CONSTRAINTS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0" name="图片 19"/>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11</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200" b="0">
                <a:solidFill>
                  <a:srgbClr val="697991"/>
                </a:solidFill>
                <a:latin typeface="微软雅黑" panose="020B0503020204020204" charset="-122"/>
                <a:ea typeface="微软雅黑" panose="020B0503020204020204" charset="-122"/>
                <a:cs typeface="微软雅黑" panose="020B0503020204020204" charset="-122"/>
              </a:rPr>
              <a:t>图：英文论文附录第31页图9；安全定理与条件见英文论文第3、5、7、28页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4" name="图片 23"/>
          <p:cNvPicPr>
            <a:picLocks noChangeAspect="1"/>
          </p:cNvPicPr>
          <p:nvPr/>
        </p:nvPicPr>
        <p:blipFill>
          <a:blip r:embed="rId2"/>
          <a:stretch>
            <a:fillRect/>
          </a:stretch>
        </p:blipFill>
        <p:spPr>
          <a:xfrm>
            <a:off x="952500" y="2089799"/>
            <a:ext cx="6572250" cy="2792703"/>
          </a:xfrm>
          <a:prstGeom prst="rect">
            <a:avLst/>
          </a:prstGeom>
        </p:spPr>
      </p:pic>
      <p:sp>
        <p:nvSpPr>
          <p:cNvPr id="10" name="矩形 9"/>
          <p:cNvSpPr>
            <a:spLocks noGrp="1"/>
          </p:cNvSpPr>
          <p:nvPr/>
        </p:nvSpPr>
        <p:spPr>
          <a:xfrm>
            <a:off x="7909560" y="1911096"/>
            <a:ext cx="3566160" cy="393192"/>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图中英文与符号</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1" name="矩形 10" descr="PowerPoint可编辑数学公式（OMML）；LaTeX源代码：b(x) ; b(x) \geq 0"/>
              <p:cNvSpPr>
                <a:spLocks noGrp="1"/>
              </p:cNvSpPr>
              <p:nvPr/>
            </p:nvSpPr>
            <p:spPr>
              <a:xfrm>
                <a:off x="7953375" y="2505075"/>
                <a:ext cx="3476625" cy="1257300"/>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针对车间距离、静态障碍和道路边界构造安全函数 </a:t>
                </a:r>
                <a14:m>
                  <m:oMath xmlns:m="http://schemas.openxmlformats.org/officeDocument/2006/math">
                    <m:r>
                      <a:rPr lang="en-US" sz="1800">
                        <a:solidFill>
                          <a:srgbClr val="263247"/>
                        </a:solidFill>
                        <a:latin typeface="Cambria Math" panose="02040503050406030204"/>
                      </a:rPr>
                      <m:t>𝑏</m:t>
                    </m:r>
                    <m:d>
                      <m:dPr>
                        <m:sepChr m:val=""/>
                        <m:ctrlPr>
                          <a:rPr/>
                        </m:ctrlPr>
                      </m:dPr>
                      <m:e>
                        <m:r>
                          <a:rPr lang="en-US" sz="1800">
                            <a:solidFill>
                              <a:srgbClr val="263247"/>
                            </a:solidFill>
                            <a:latin typeface="Cambria Math" panose="02040503050406030204"/>
                          </a:rPr>
                          <m:t>𝑥</m:t>
                        </m:r>
                      </m:e>
                    </m:d>
                  </m:oMath>
                </a14:m>
                <a:r>
                  <a:rPr sz="1800" b="0">
                    <a:solidFill>
                      <a:srgbClr val="263247"/>
                    </a:solidFill>
                    <a:latin typeface="微软雅黑" panose="020B0503020204020204" charset="-122"/>
                    <a:ea typeface="微软雅黑" panose="020B0503020204020204" charset="-122"/>
                    <a:cs typeface="微软雅黑" panose="020B0503020204020204" charset="-122"/>
                  </a:rPr>
                  <a:t>，以 </a:t>
                </a:r>
                <a14:m>
                  <m:oMath xmlns:m="http://schemas.openxmlformats.org/officeDocument/2006/math">
                    <m:r>
                      <a:rPr lang="en-US" sz="1800">
                        <a:solidFill>
                          <a:srgbClr val="263247"/>
                        </a:solidFill>
                        <a:latin typeface="Cambria Math" panose="02040503050406030204"/>
                      </a:rPr>
                      <m:t>𝑏</m:t>
                    </m:r>
                    <m:d>
                      <m:dPr>
                        <m:sepChr m:val=""/>
                        <m:ctrlPr>
                          <a:rPr/>
                        </m:ctrlPr>
                      </m:dPr>
                      <m:e>
                        <m:r>
                          <a:rPr lang="en-US" sz="1800">
                            <a:solidFill>
                              <a:srgbClr val="263247"/>
                            </a:solidFill>
                            <a:latin typeface="Cambria Math" panose="02040503050406030204"/>
                          </a:rPr>
                          <m:t>𝑥</m:t>
                        </m:r>
                      </m:e>
                    </m:d>
                    <m:r>
                      <a:rPr lang="en-US" sz="1800">
                        <a:solidFill>
                          <a:srgbClr val="263247"/>
                        </a:solidFill>
                        <a:latin typeface="Cambria Math" panose="02040503050406030204"/>
                      </a:rPr>
                      <m:t>≥</m:t>
                    </m:r>
                    <m:r>
                      <a:rPr lang="en-US" sz="1800">
                        <a:solidFill>
                          <a:srgbClr val="263247"/>
                        </a:solidFill>
                        <a:latin typeface="Cambria Math" panose="02040503050406030204"/>
                      </a:rPr>
                      <m:t>0</m:t>
                    </m:r>
                  </m:oMath>
                </a14:m>
                <a:r>
                  <a:rPr sz="1800" b="0">
                    <a:solidFill>
                      <a:srgbClr val="263247"/>
                    </a:solidFill>
                    <a:latin typeface="微软雅黑" panose="020B0503020204020204" charset="-122"/>
                    <a:ea typeface="微软雅黑" panose="020B0503020204020204" charset="-122"/>
                    <a:cs typeface="微软雅黑" panose="020B0503020204020204" charset="-122"/>
                  </a:rPr>
                  <a:t> 定义允许的状态集合。</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mc:Choice>
        <mc:Fallback>
          <p:sp>
            <p:nvSpPr>
              <p:cNvPr id="11" name="矩形 10" descr="PowerPoint可编辑数学公式（OMML）；LaTeX源代码：b(x) ; b(x) \geq 0"/>
              <p:cNvSpPr>
                <a:spLocks noRot="1" noChangeAspect="1" noMove="1" noResize="1" noEditPoints="1" noAdjustHandles="1" noChangeArrowheads="1" noChangeShapeType="1" noTextEdit="1"/>
              </p:cNvSpPr>
              <p:nvPr/>
            </p:nvSpPr>
            <p:spPr>
              <a:xfrm>
                <a:off x="7953375" y="2505075"/>
                <a:ext cx="3476625" cy="1257300"/>
              </a:xfrm>
              <a:prstGeom prst="rect">
                <a:avLst/>
              </a:prstGeom>
              <a:blipFill rotWithShape="1">
                <a:blip r:embed="rId3"/>
                <a:stretch>
                  <a:fillRect t="-1515"/>
                </a:stretch>
              </a:blipFill>
              <a:ln w="0">
                <a:noFill/>
              </a:ln>
            </p:spPr>
            <p:txBody>
              <a:bodyPr/>
              <a:lstStyle/>
              <a:p>
                <a:r>
                  <a:rPr lang="zh-CN" altLang="en-US">
                    <a:noFill/>
                  </a:rPr>
                  <a:t> </a:t>
                </a:r>
              </a:p>
            </p:txBody>
          </p:sp>
        </mc:Fallback>
      </mc:AlternateContent>
      <p:sp>
        <p:nvSpPr>
          <p:cNvPr id="13" name="圆角矩形 12"/>
          <p:cNvSpPr>
            <a:spLocks noGrp="1"/>
          </p:cNvSpPr>
          <p:nvPr/>
        </p:nvSpPr>
        <p:spPr>
          <a:xfrm>
            <a:off x="1047750" y="5276850"/>
            <a:ext cx="6257925" cy="762000"/>
          </a:xfrm>
          <a:prstGeom prst="roundRect">
            <a:avLst>
              <a:gd name="adj" fmla="val 8750"/>
            </a:avLst>
          </a:prstGeom>
          <a:solidFill>
            <a:srgbClr val="EFF4FC"/>
          </a:solidFill>
          <a:ln w="9525">
            <a:solidFill>
              <a:srgbClr val="D6E1F1"/>
            </a:solidFill>
          </a:ln>
        </p:spPr>
      </p:sp>
      <mc:AlternateContent xmlns:mc="http://schemas.openxmlformats.org/markup-compatibility/2006">
        <mc:Choice xmlns:a14="http://schemas.microsoft.com/office/drawing/2010/main" Requires="a14">
          <p:sp>
            <p:nvSpPr>
              <p:cNvPr id="14" name="矩形 13" descr="PowerPoint可编辑数学公式（OMML）；LaTeX源代码：L_f b + L_g b\,u + \alpha(b) \geq 0"/>
              <p:cNvSpPr>
                <a:spLocks noGrp="1"/>
              </p:cNvSpPr>
              <p:nvPr/>
            </p:nvSpPr>
            <p:spPr>
              <a:xfrm>
                <a:off x="1238250" y="5467350"/>
                <a:ext cx="5876925" cy="476250"/>
              </a:xfrm>
              <a:prstGeom prst="rect">
                <a:avLst/>
              </a:prstGeom>
              <a:noFill/>
              <a:ln w="0">
                <a:noFill/>
              </a:ln>
            </p:spPr>
            <p:txBody>
              <a:bodyPr wrap="square" lIns="0" tIns="0" rIns="0" bIns="0" anchor="t">
                <a:noAutofit/>
              </a:bodyPr>
              <a:lstStyle/>
              <a:p>
                <a:pPr algn="l">
                  <a:defRPr sz="2100" b="0">
                    <a:solidFill>
                      <a:srgbClr val="06245B"/>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b>
                        <m:sSubPr>
                          <m:ctrlPr>
                            <a:rPr/>
                          </m:ctrlPr>
                        </m:sSubPr>
                        <m:e>
                          <m:r>
                            <a:rPr lang="en-US" sz="2100">
                              <a:solidFill>
                                <a:srgbClr val="06245B"/>
                              </a:solidFill>
                              <a:latin typeface="Cambria Math" panose="02040503050406030204"/>
                            </a:rPr>
                            <m:t>𝐿</m:t>
                          </m:r>
                        </m:e>
                        <m:sub>
                          <m:r>
                            <a:rPr lang="en-US" sz="2100">
                              <a:solidFill>
                                <a:srgbClr val="06245B"/>
                              </a:solidFill>
                              <a:latin typeface="Cambria Math" panose="02040503050406030204"/>
                            </a:rPr>
                            <m:t>𝑓</m:t>
                          </m:r>
                        </m:sub>
                      </m:sSub>
                      <m:r>
                        <a:rPr lang="en-US" sz="2100">
                          <a:solidFill>
                            <a:srgbClr val="06245B"/>
                          </a:solidFill>
                          <a:latin typeface="Cambria Math" panose="02040503050406030204"/>
                        </a:rPr>
                        <m:t>𝑏</m:t>
                      </m:r>
                      <m:r>
                        <a:rPr lang="en-US" sz="2100">
                          <a:solidFill>
                            <a:srgbClr val="06245B"/>
                          </a:solidFill>
                          <a:latin typeface="Cambria Math" panose="02040503050406030204"/>
                        </a:rPr>
                        <m:t>+</m:t>
                      </m:r>
                      <m:sSub>
                        <m:sSubPr>
                          <m:ctrlPr>
                            <a:rPr/>
                          </m:ctrlPr>
                        </m:sSubPr>
                        <m:e>
                          <m:r>
                            <a:rPr lang="en-US" sz="2100">
                              <a:solidFill>
                                <a:srgbClr val="06245B"/>
                              </a:solidFill>
                              <a:latin typeface="Cambria Math" panose="02040503050406030204"/>
                            </a:rPr>
                            <m:t>𝐿</m:t>
                          </m:r>
                        </m:e>
                        <m:sub>
                          <m:r>
                            <a:rPr lang="en-US" sz="2100">
                              <a:solidFill>
                                <a:srgbClr val="06245B"/>
                              </a:solidFill>
                              <a:latin typeface="Cambria Math" panose="02040503050406030204"/>
                            </a:rPr>
                            <m:t>𝑔</m:t>
                          </m:r>
                        </m:sub>
                      </m:sSub>
                      <m:r>
                        <a:rPr lang="en-US" sz="2100">
                          <a:solidFill>
                            <a:srgbClr val="06245B"/>
                          </a:solidFill>
                          <a:latin typeface="Cambria Math" panose="02040503050406030204"/>
                        </a:rPr>
                        <m:t>𝑏</m:t>
                      </m:r>
                      <m:r>
                        <a:rPr lang="en-US" sz="2100">
                          <a:solidFill>
                            <a:srgbClr val="06245B"/>
                          </a:solidFill>
                          <a:latin typeface="Cambria Math" panose="02040503050406030204"/>
                        </a:rPr>
                        <m:t> </m:t>
                      </m:r>
                      <m:r>
                        <a:rPr lang="en-US" sz="2100">
                          <a:solidFill>
                            <a:srgbClr val="06245B"/>
                          </a:solidFill>
                          <a:latin typeface="Cambria Math" panose="02040503050406030204"/>
                        </a:rPr>
                        <m:t>𝑢</m:t>
                      </m:r>
                      <m:r>
                        <a:rPr lang="en-US" sz="2100">
                          <a:solidFill>
                            <a:srgbClr val="06245B"/>
                          </a:solidFill>
                          <a:latin typeface="Cambria Math" panose="02040503050406030204"/>
                        </a:rPr>
                        <m:t>+</m:t>
                      </m:r>
                      <m:r>
                        <a:rPr lang="en-US" sz="2100">
                          <a:solidFill>
                            <a:srgbClr val="06245B"/>
                          </a:solidFill>
                          <a:latin typeface="Cambria Math" panose="02040503050406030204"/>
                        </a:rPr>
                        <m:t>𝛼</m:t>
                      </m:r>
                      <m:d>
                        <m:dPr>
                          <m:sepChr m:val=""/>
                          <m:ctrlPr>
                            <a:rPr/>
                          </m:ctrlPr>
                        </m:dPr>
                        <m:e>
                          <m:r>
                            <a:rPr lang="en-US" sz="2100">
                              <a:solidFill>
                                <a:srgbClr val="06245B"/>
                              </a:solidFill>
                              <a:latin typeface="Cambria Math" panose="02040503050406030204"/>
                            </a:rPr>
                            <m:t>𝑏</m:t>
                          </m:r>
                        </m:e>
                      </m:d>
                      <m:r>
                        <a:rPr lang="en-US" sz="2100">
                          <a:solidFill>
                            <a:srgbClr val="06245B"/>
                          </a:solidFill>
                          <a:latin typeface="Cambria Math" panose="02040503050406030204"/>
                        </a:rPr>
                        <m:t>≥</m:t>
                      </m:r>
                      <m:r>
                        <a:rPr lang="en-US" sz="2100">
                          <a:solidFill>
                            <a:srgbClr val="06245B"/>
                          </a:solidFill>
                          <a:latin typeface="Cambria Math" panose="02040503050406030204"/>
                        </a:rPr>
                        <m:t>0</m:t>
                      </m:r>
                    </m:oMath>
                  </m:oMathPara>
                </a14:m>
                <a:endParaRPr sz="2100" b="0">
                  <a:solidFill>
                    <a:srgbClr val="06245B"/>
                  </a:solidFill>
                  <a:latin typeface="Cambria Math" panose="02040503050406030204"/>
                  <a:ea typeface="Cambria Math" panose="02040503050406030204"/>
                  <a:cs typeface="Cambria Math" panose="02040503050406030204"/>
                </a:endParaRPr>
              </a:p>
            </p:txBody>
          </p:sp>
        </mc:Choice>
        <mc:Fallback>
          <p:sp>
            <p:nvSpPr>
              <p:cNvPr id="14" name="矩形 13" descr="PowerPoint可编辑数学公式（OMML）；LaTeX源代码：L_f b + L_g b\,u + \alpha(b) \geq 0"/>
              <p:cNvSpPr>
                <a:spLocks noRot="1" noChangeAspect="1" noMove="1" noResize="1" noEditPoints="1" noAdjustHandles="1" noChangeArrowheads="1" noChangeShapeType="1" noTextEdit="1"/>
              </p:cNvSpPr>
              <p:nvPr/>
            </p:nvSpPr>
            <p:spPr>
              <a:xfrm>
                <a:off x="1238250" y="5467350"/>
                <a:ext cx="5876925" cy="476250"/>
              </a:xfrm>
              <a:prstGeom prst="rect">
                <a:avLst/>
              </a:prstGeom>
              <a:blipFill rotWithShape="1">
                <a:blip r:embed="rId4"/>
                <a:stretch>
                  <a:fillRect/>
                </a:stretch>
              </a:blipFill>
              <a:ln w="0">
                <a:noFill/>
              </a:ln>
            </p:spPr>
            <p:txBody>
              <a:bodyPr/>
              <a:lstStyle/>
              <a:p>
                <a:r>
                  <a:rPr lang="zh-CN" altLang="en-US">
                    <a:noFill/>
                  </a:rPr>
                  <a:t> </a:t>
                </a:r>
              </a:p>
            </p:txBody>
          </p:sp>
        </mc:Fallback>
      </mc:AlternateContent>
      <p:sp>
        <p:nvSpPr>
          <p:cNvPr id="15" name="矩形 14"/>
          <p:cNvSpPr>
            <a:spLocks noGrp="1"/>
          </p:cNvSpPr>
          <p:nvPr/>
        </p:nvSpPr>
        <p:spPr>
          <a:xfrm>
            <a:off x="7909560" y="4736592"/>
            <a:ext cx="3566160" cy="896112"/>
          </a:xfrm>
          <a:prstGeom prst="rect">
            <a:avLst/>
          </a:prstGeom>
          <a:noFill/>
          <a:ln w="0">
            <a:noFill/>
          </a:ln>
        </p:spPr>
        <p:txBody>
          <a:bodyPr wrap="square" lIns="0" tIns="0" rIns="0" bIns="0" anchor="t">
            <a:noAutofit/>
          </a:bodyPr>
          <a:lstStyle/>
          <a:p>
            <a:pPr algn="l">
              <a:defRPr sz="1575" b="0">
                <a:solidFill>
                  <a:srgbClr val="697991"/>
                </a:solidFill>
                <a:latin typeface="微软雅黑" panose="020B0503020204020204" charset="-122"/>
                <a:ea typeface="微软雅黑" panose="020B0503020204020204" charset="-122"/>
                <a:cs typeface="微软雅黑" panose="020B0503020204020204" charset="-122"/>
              </a:defRPr>
            </a:pPr>
            <a:r>
              <a:rPr sz="1550" b="0">
                <a:solidFill>
                  <a:srgbClr val="697991"/>
                </a:solidFill>
                <a:latin typeface="微软雅黑" panose="020B0503020204020204" charset="-122"/>
                <a:ea typeface="微软雅黑" panose="020B0503020204020204" charset="-122"/>
                <a:cs typeface="微软雅黑" panose="020B0503020204020204" charset="-122"/>
              </a:rPr>
              <a:t>定理前提：约束初始满足、模型与观测有效，并且安全优化持续有解。</a:t>
            </a:r>
            <a:endParaRPr sz="1575" b="0">
              <a:solidFill>
                <a:srgbClr val="6979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安全与目标：控制屏障函数和李雅普诺夫函数</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CBF AND CLF CONDITIONS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12</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式(4)</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L_fb(s)+L_gb(s)a+\alpha(b(s))\geq0"/>
              <p:cNvSpPr>
                <a:spLocks noGrp="1"/>
              </p:cNvSpPr>
              <p:nvPr/>
            </p:nvSpPr>
            <p:spPr>
              <a:xfrm>
                <a:off x="3236976" y="1828800"/>
                <a:ext cx="8129016" cy="45720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𝑓</m:t>
                          </m:r>
                        </m:sub>
                      </m:sSub>
                      <m:r>
                        <a:rPr lang="en-US" sz="1880">
                          <a:solidFill>
                            <a:srgbClr val="06245B"/>
                          </a:solidFill>
                          <a:latin typeface="Cambria Math" panose="02040503050406030204"/>
                        </a:rPr>
                        <m:t>𝑏</m:t>
                      </m:r>
                      <m:r>
                        <a:rPr lang="en-US" sz="1880">
                          <a:solidFill>
                            <a:srgbClr val="06245B"/>
                          </a:solidFill>
                          <a:latin typeface="Cambria Math" panose="02040503050406030204"/>
                        </a:rPr>
                        <m:t>(</m:t>
                      </m:r>
                      <m:r>
                        <a:rPr lang="en-US" sz="1880">
                          <a:solidFill>
                            <a:srgbClr val="06245B"/>
                          </a:solidFill>
                          <a:latin typeface="Cambria Math" panose="02040503050406030204"/>
                        </a:rPr>
                        <m:t>𝑠</m:t>
                      </m:r>
                      <m:r>
                        <a:rPr lang="en-US" sz="1880">
                          <a:solidFill>
                            <a:srgbClr val="06245B"/>
                          </a:solidFill>
                          <a:latin typeface="Cambria Math" panose="02040503050406030204"/>
                        </a:rPr>
                        <m:t>)</m:t>
                      </m:r>
                      <m:r>
                        <a:rPr lang="en-US" sz="1880">
                          <a:solidFill>
                            <a:srgbClr val="06245B"/>
                          </a:solidFill>
                          <a:latin typeface="Cambria Math" panose="02040503050406030204"/>
                        </a:rPr>
                        <m:t>+</m:t>
                      </m:r>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𝑔</m:t>
                          </m:r>
                        </m:sub>
                      </m:sSub>
                      <m:r>
                        <a:rPr lang="en-US" sz="1880">
                          <a:solidFill>
                            <a:srgbClr val="06245B"/>
                          </a:solidFill>
                          <a:latin typeface="Cambria Math" panose="02040503050406030204"/>
                        </a:rPr>
                        <m:t>𝑏</m:t>
                      </m:r>
                      <m:r>
                        <a:rPr lang="en-US" sz="1880">
                          <a:solidFill>
                            <a:srgbClr val="06245B"/>
                          </a:solidFill>
                          <a:latin typeface="Cambria Math" panose="02040503050406030204"/>
                        </a:rPr>
                        <m:t>(</m:t>
                      </m:r>
                      <m:r>
                        <a:rPr lang="en-US" sz="1880">
                          <a:solidFill>
                            <a:srgbClr val="06245B"/>
                          </a:solidFill>
                          <a:latin typeface="Cambria Math" panose="02040503050406030204"/>
                        </a:rPr>
                        <m:t>𝑠</m:t>
                      </m:r>
                      <m:r>
                        <a:rPr lang="en-US" sz="1880">
                          <a:solidFill>
                            <a:srgbClr val="06245B"/>
                          </a:solidFill>
                          <a:latin typeface="Cambria Math" panose="02040503050406030204"/>
                        </a:rPr>
                        <m:t>)</m:t>
                      </m:r>
                      <m:r>
                        <a:rPr lang="en-US" sz="1880">
                          <a:solidFill>
                            <a:srgbClr val="06245B"/>
                          </a:solidFill>
                          <a:latin typeface="Cambria Math" panose="02040503050406030204"/>
                        </a:rPr>
                        <m:t>𝑎</m:t>
                      </m:r>
                      <m:r>
                        <a:rPr lang="en-US" sz="1880">
                          <a:solidFill>
                            <a:srgbClr val="06245B"/>
                          </a:solidFill>
                          <a:latin typeface="Cambria Math" panose="02040503050406030204"/>
                        </a:rPr>
                        <m:t>+</m:t>
                      </m:r>
                      <m:r>
                        <a:rPr lang="en-US" sz="1880">
                          <a:solidFill>
                            <a:srgbClr val="06245B"/>
                          </a:solidFill>
                          <a:latin typeface="Cambria Math" panose="02040503050406030204"/>
                        </a:rPr>
                        <m:t>𝛼</m:t>
                      </m:r>
                      <m:r>
                        <a:rPr lang="en-US" sz="1880">
                          <a:solidFill>
                            <a:srgbClr val="06245B"/>
                          </a:solidFill>
                          <a:latin typeface="Cambria Math" panose="02040503050406030204"/>
                        </a:rPr>
                        <m:t>(</m:t>
                      </m:r>
                      <m:r>
                        <a:rPr lang="en-US" sz="1880">
                          <a:solidFill>
                            <a:srgbClr val="06245B"/>
                          </a:solidFill>
                          <a:latin typeface="Cambria Math" panose="02040503050406030204"/>
                        </a:rPr>
                        <m:t>𝑏</m:t>
                      </m:r>
                      <m:r>
                        <a:rPr lang="en-US" sz="1880">
                          <a:solidFill>
                            <a:srgbClr val="06245B"/>
                          </a:solidFill>
                          <a:latin typeface="Cambria Math" panose="02040503050406030204"/>
                        </a:rPr>
                        <m:t>(</m:t>
                      </m:r>
                      <m:r>
                        <a:rPr lang="en-US" sz="1880">
                          <a:solidFill>
                            <a:srgbClr val="06245B"/>
                          </a:solidFill>
                          <a:latin typeface="Cambria Math" panose="02040503050406030204"/>
                        </a:rPr>
                        <m:t>𝑠</m:t>
                      </m:r>
                      <m:r>
                        <a:rPr lang="en-US" sz="1880">
                          <a:solidFill>
                            <a:srgbClr val="06245B"/>
                          </a:solidFill>
                          <a:latin typeface="Cambria Math" panose="02040503050406030204"/>
                        </a:rPr>
                        <m:t>)</m:t>
                      </m:r>
                      <m:r>
                        <a:rPr lang="en-US" sz="1880">
                          <a:solidFill>
                            <a:srgbClr val="06245B"/>
                          </a:solidFill>
                          <a:latin typeface="Cambria Math" panose="02040503050406030204"/>
                        </a:rPr>
                        <m:t>)</m:t>
                      </m:r>
                      <m:r>
                        <a:rPr lang="en-US" sz="1880">
                          <a:solidFill>
                            <a:srgbClr val="06245B"/>
                          </a:solidFill>
                          <a:latin typeface="Cambria Math" panose="02040503050406030204"/>
                        </a:rPr>
                        <m:t>≥</m:t>
                      </m:r>
                      <m:r>
                        <a:rPr lang="en-US" sz="1880">
                          <a:solidFill>
                            <a:srgbClr val="06245B"/>
                          </a:solidFill>
                          <a:latin typeface="Cambria Math" panose="02040503050406030204"/>
                        </a:rPr>
                        <m:t>0</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L_fb(s)+L_gb(s)a+\alpha(b(s))\geq0"/>
              <p:cNvSpPr>
                <a:spLocks noRot="1" noChangeAspect="1" noMove="1" noResize="1" noEditPoints="1" noAdjustHandles="1" noChangeArrowheads="1" noChangeShapeType="1" noTextEdit="1"/>
              </p:cNvSpPr>
              <p:nvPr/>
            </p:nvSpPr>
            <p:spPr>
              <a:xfrm>
                <a:off x="3236976" y="1828800"/>
                <a:ext cx="8129016" cy="457200"/>
              </a:xfrm>
              <a:prstGeom prst="rect">
                <a:avLst/>
              </a:prstGeom>
              <a:blipFill rotWithShape="1">
                <a:blip r:embed="rId2"/>
                <a:stretch>
                  <a:fillRect l="-5" r="2"/>
                </a:stretch>
              </a:blipFill>
              <a:ln w="0">
                <a:noFill/>
              </a:ln>
            </p:spPr>
            <p:txBody>
              <a:bodyPr/>
              <a:lstStyle/>
              <a:p>
                <a:r>
                  <a:rPr lang="zh-CN" altLang="en-US">
                    <a:noFill/>
                  </a:rPr>
                  <a:t> </a:t>
                </a:r>
              </a:p>
            </p:txBody>
          </p:sp>
        </mc:Fallback>
      </mc:AlternateContent>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C={s:b(s)≥0}；L_f、L_g 是沿动力学的导数。初始安全且条件持续成立时，集合 C 前向不变。</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式(5)</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L_fV(s)+L_gV(s)a+\eta(s)\leq e"/>
              <p:cNvSpPr>
                <a:spLocks noGrp="1"/>
              </p:cNvSpPr>
              <p:nvPr/>
            </p:nvSpPr>
            <p:spPr>
              <a:xfrm>
                <a:off x="3236976" y="3017520"/>
                <a:ext cx="8129016" cy="45720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𝑓</m:t>
                          </m:r>
                        </m:sub>
                      </m:sSub>
                      <m:r>
                        <a:rPr lang="en-US" sz="1880">
                          <a:solidFill>
                            <a:srgbClr val="06245B"/>
                          </a:solidFill>
                          <a:latin typeface="Cambria Math" panose="02040503050406030204"/>
                        </a:rPr>
                        <m:t>𝑉</m:t>
                      </m:r>
                      <m:r>
                        <a:rPr lang="en-US" sz="1880">
                          <a:solidFill>
                            <a:srgbClr val="06245B"/>
                          </a:solidFill>
                          <a:latin typeface="Cambria Math" panose="02040503050406030204"/>
                        </a:rPr>
                        <m:t>(</m:t>
                      </m:r>
                      <m:r>
                        <a:rPr lang="en-US" sz="1880">
                          <a:solidFill>
                            <a:srgbClr val="06245B"/>
                          </a:solidFill>
                          <a:latin typeface="Cambria Math" panose="02040503050406030204"/>
                        </a:rPr>
                        <m:t>𝑠</m:t>
                      </m:r>
                      <m:r>
                        <a:rPr lang="en-US" sz="1880">
                          <a:solidFill>
                            <a:srgbClr val="06245B"/>
                          </a:solidFill>
                          <a:latin typeface="Cambria Math" panose="02040503050406030204"/>
                        </a:rPr>
                        <m:t>)</m:t>
                      </m:r>
                      <m:r>
                        <a:rPr lang="en-US" sz="1880">
                          <a:solidFill>
                            <a:srgbClr val="06245B"/>
                          </a:solidFill>
                          <a:latin typeface="Cambria Math" panose="02040503050406030204"/>
                        </a:rPr>
                        <m:t>+</m:t>
                      </m:r>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𝑔</m:t>
                          </m:r>
                        </m:sub>
                      </m:sSub>
                      <m:r>
                        <a:rPr lang="en-US" sz="1880">
                          <a:solidFill>
                            <a:srgbClr val="06245B"/>
                          </a:solidFill>
                          <a:latin typeface="Cambria Math" panose="02040503050406030204"/>
                        </a:rPr>
                        <m:t>𝑉</m:t>
                      </m:r>
                      <m:r>
                        <a:rPr lang="en-US" sz="1880">
                          <a:solidFill>
                            <a:srgbClr val="06245B"/>
                          </a:solidFill>
                          <a:latin typeface="Cambria Math" panose="02040503050406030204"/>
                        </a:rPr>
                        <m:t>(</m:t>
                      </m:r>
                      <m:r>
                        <a:rPr lang="en-US" sz="1880">
                          <a:solidFill>
                            <a:srgbClr val="06245B"/>
                          </a:solidFill>
                          <a:latin typeface="Cambria Math" panose="02040503050406030204"/>
                        </a:rPr>
                        <m:t>𝑠</m:t>
                      </m:r>
                      <m:r>
                        <a:rPr lang="en-US" sz="1880">
                          <a:solidFill>
                            <a:srgbClr val="06245B"/>
                          </a:solidFill>
                          <a:latin typeface="Cambria Math" panose="02040503050406030204"/>
                        </a:rPr>
                        <m:t>)</m:t>
                      </m:r>
                      <m:r>
                        <a:rPr lang="en-US" sz="1880">
                          <a:solidFill>
                            <a:srgbClr val="06245B"/>
                          </a:solidFill>
                          <a:latin typeface="Cambria Math" panose="02040503050406030204"/>
                        </a:rPr>
                        <m:t>𝑎</m:t>
                      </m:r>
                      <m:r>
                        <a:rPr lang="en-US" sz="1880">
                          <a:solidFill>
                            <a:srgbClr val="06245B"/>
                          </a:solidFill>
                          <a:latin typeface="Cambria Math" panose="02040503050406030204"/>
                        </a:rPr>
                        <m:t>+</m:t>
                      </m:r>
                      <m:r>
                        <a:rPr lang="en-US" sz="1880">
                          <a:solidFill>
                            <a:srgbClr val="06245B"/>
                          </a:solidFill>
                          <a:latin typeface="Cambria Math" panose="02040503050406030204"/>
                        </a:rPr>
                        <m:t>𝜂</m:t>
                      </m:r>
                      <m:r>
                        <a:rPr lang="en-US" sz="1880">
                          <a:solidFill>
                            <a:srgbClr val="06245B"/>
                          </a:solidFill>
                          <a:latin typeface="Cambria Math" panose="02040503050406030204"/>
                        </a:rPr>
                        <m:t>(</m:t>
                      </m:r>
                      <m:r>
                        <a:rPr lang="en-US" sz="1880">
                          <a:solidFill>
                            <a:srgbClr val="06245B"/>
                          </a:solidFill>
                          <a:latin typeface="Cambria Math" panose="02040503050406030204"/>
                        </a:rPr>
                        <m:t>𝑠</m:t>
                      </m:r>
                      <m:r>
                        <a:rPr lang="en-US" sz="1880">
                          <a:solidFill>
                            <a:srgbClr val="06245B"/>
                          </a:solidFill>
                          <a:latin typeface="Cambria Math" panose="02040503050406030204"/>
                        </a:rPr>
                        <m:t>)</m:t>
                      </m:r>
                      <m:r>
                        <a:rPr lang="en-US" sz="1880">
                          <a:solidFill>
                            <a:srgbClr val="06245B"/>
                          </a:solidFill>
                          <a:latin typeface="Cambria Math" panose="02040503050406030204"/>
                        </a:rPr>
                        <m:t>≤</m:t>
                      </m:r>
                      <m:r>
                        <a:rPr lang="en-US" sz="1880">
                          <a:solidFill>
                            <a:srgbClr val="06245B"/>
                          </a:solidFill>
                          <a:latin typeface="Cambria Math" panose="02040503050406030204"/>
                        </a:rPr>
                        <m:t>𝑒</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L_fV(s)+L_gV(s)a+\eta(s)\leq e"/>
              <p:cNvSpPr>
                <a:spLocks noRot="1" noChangeAspect="1" noMove="1" noResize="1" noEditPoints="1" noAdjustHandles="1" noChangeArrowheads="1" noChangeShapeType="1" noTextEdit="1"/>
              </p:cNvSpPr>
              <p:nvPr/>
            </p:nvSpPr>
            <p:spPr>
              <a:xfrm>
                <a:off x="3236976" y="3017520"/>
                <a:ext cx="8129016" cy="457200"/>
              </a:xfrm>
              <a:prstGeom prst="rect">
                <a:avLst/>
              </a:prstGeom>
              <a:blipFill rotWithShape="1">
                <a:blip r:embed="rId3"/>
                <a:stretch>
                  <a:fillRect l="-5" r="2"/>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V 衡量与技能目标的偏差，η 要求偏差下降；e 为松弛量，允许安全冲突时暂缓收敛。</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优先关系</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安全约束必须满足；技能目标允许让步</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碰撞避免优先于技能完成。对高相对阶条件，论文使用高阶控制屏障函数（HOCBF）。</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安全边界和技能目标各有数学角色，随后一起进入低层二次规划。</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五种驾驶技能：速度目标与航向目标怎样进入优化</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SKILL-SPECIFIC CLF TARGETS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13</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速度参考</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V_v=(v-v_{\mathrm{des}})^2"/>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900">
                              <a:solidFill>
                                <a:srgbClr val="06245B"/>
                              </a:solidFill>
                              <a:latin typeface="Cambria Math" panose="02040503050406030204"/>
                            </a:rPr>
                            <m:t>𝑉</m:t>
                          </m:r>
                        </m:e>
                        <m:sub>
                          <m:r>
                            <a:rPr lang="en-US" sz="1900">
                              <a:solidFill>
                                <a:srgbClr val="06245B"/>
                              </a:solidFill>
                              <a:latin typeface="Cambria Math" panose="02040503050406030204"/>
                            </a:rPr>
                            <m:t>𝑣</m:t>
                          </m:r>
                        </m:sub>
                      </m:sSub>
                      <m:r>
                        <a:rPr lang="en-US" sz="1900">
                          <a:solidFill>
                            <a:srgbClr val="06245B"/>
                          </a:solidFill>
                          <a:latin typeface="Cambria Math" panose="02040503050406030204"/>
                        </a:rPr>
                        <m:t>=</m:t>
                      </m:r>
                      <m:r>
                        <a:rPr lang="en-US" sz="1900">
                          <a:solidFill>
                            <a:srgbClr val="06245B"/>
                          </a:solidFill>
                          <a:latin typeface="Cambria Math" panose="02040503050406030204"/>
                        </a:rPr>
                        <m:t>(</m:t>
                      </m:r>
                      <m:r>
                        <a:rPr lang="en-US" sz="1900">
                          <a:solidFill>
                            <a:srgbClr val="06245B"/>
                          </a:solidFill>
                          <a:latin typeface="Cambria Math" panose="02040503050406030204"/>
                        </a:rPr>
                        <m:t>𝑣</m:t>
                      </m:r>
                      <m:r>
                        <a:rPr lang="en-US" sz="1900">
                          <a:solidFill>
                            <a:srgbClr val="06245B"/>
                          </a:solidFill>
                          <a:latin typeface="Cambria Math" panose="02040503050406030204"/>
                        </a:rPr>
                        <m:t>−</m:t>
                      </m:r>
                      <m:sSub>
                        <m:sSubPr>
                          <m:ctrlPr>
                            <a:rPr/>
                          </m:ctrlPr>
                        </m:sSubPr>
                        <m:e>
                          <m:r>
                            <a:rPr lang="en-US" sz="1900">
                              <a:solidFill>
                                <a:srgbClr val="06245B"/>
                              </a:solidFill>
                              <a:latin typeface="Cambria Math" panose="02040503050406030204"/>
                            </a:rPr>
                            <m:t>𝑣</m:t>
                          </m:r>
                        </m:e>
                        <m:sub>
                          <m:r>
                            <m:rPr>
                              <m:sty m:val="p"/>
                            </m:rPr>
                            <a:rPr lang="en-US" sz="1900">
                              <a:solidFill>
                                <a:srgbClr val="06245B"/>
                              </a:solidFill>
                              <a:latin typeface="Cambria Math" panose="02040503050406030204"/>
                            </a:rPr>
                            <m:t>des</m:t>
                          </m:r>
                        </m:sub>
                      </m:sSub>
                      <m:sSup>
                        <m:sSupPr>
                          <m:ctrlPr>
                            <a:rPr/>
                          </m:ctrlPr>
                        </m:sSupPr>
                        <m:e>
                          <m:r>
                            <a:rPr lang="en-US" sz="1900">
                              <a:solidFill>
                                <a:srgbClr val="06245B"/>
                              </a:solidFill>
                              <a:latin typeface="Cambria Math" panose="02040503050406030204"/>
                            </a:rPr>
                            <m:t>)</m:t>
                          </m:r>
                        </m:e>
                        <m:sup>
                          <m:r>
                            <a:rPr lang="en-US" sz="1900">
                              <a:solidFill>
                                <a:srgbClr val="06245B"/>
                              </a:solidFill>
                              <a:latin typeface="Cambria Math" panose="02040503050406030204"/>
                            </a:rPr>
                            <m:t>2</m:t>
                          </m:r>
                        </m:sup>
                      </m:sSup>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V_v=(v-v_{\mathrm{des}})^2"/>
              <p:cNvSpPr>
                <a:spLocks noRot="1" noChangeAspect="1" noMove="1" noResize="1" noEditPoints="1" noAdjustHandles="1" noChangeArrowheads="1" noChangeShapeType="1" noTextEdit="1"/>
              </p:cNvSpPr>
              <p:nvPr/>
            </p:nvSpPr>
            <p:spPr>
              <a:xfrm>
                <a:off x="3238500" y="1847850"/>
                <a:ext cx="8124825" cy="400050"/>
              </a:xfrm>
              <a:prstGeom prst="rect">
                <a:avLst/>
              </a:prstGeom>
              <a:blipFill rotWithShape="1">
                <a:blip r:embed="rId2"/>
                <a:stretch>
                  <a:fillRect b="-5873"/>
                </a:stretch>
              </a:blipFill>
              <a:ln w="0">
                <a:noFill/>
              </a:ln>
            </p:spPr>
            <p:txBody>
              <a:bodyPr/>
              <a:lstStyle/>
              <a:p>
                <a:r>
                  <a:rPr lang="zh-CN" altLang="en-US">
                    <a:noFill/>
                  </a:rPr>
                  <a:t> </a:t>
                </a:r>
              </a:p>
            </p:txBody>
          </p:sp>
        </mc:Fallback>
      </mc:AlternateContent>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巡航设定技能开始时的速度；加速设 v_des=v₀+Δv；减速或让行设 v_des=v₀−Δv。三者使用速度参考李雅普诺夫函数。</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航向参考</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V_\psi=(\psi-\psi_{\mathrm{des}})^2"/>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900">
                              <a:solidFill>
                                <a:srgbClr val="06245B"/>
                              </a:solidFill>
                              <a:latin typeface="Cambria Math" panose="02040503050406030204"/>
                            </a:rPr>
                            <m:t>𝑉</m:t>
                          </m:r>
                        </m:e>
                        <m:sub>
                          <m:r>
                            <a:rPr lang="en-US" sz="1900">
                              <a:solidFill>
                                <a:srgbClr val="06245B"/>
                              </a:solidFill>
                              <a:latin typeface="Cambria Math" panose="02040503050406030204"/>
                            </a:rPr>
                            <m:t>𝜓</m:t>
                          </m:r>
                        </m:sub>
                      </m:sSub>
                      <m:r>
                        <a:rPr lang="en-US" sz="1900">
                          <a:solidFill>
                            <a:srgbClr val="06245B"/>
                          </a:solidFill>
                          <a:latin typeface="Cambria Math" panose="02040503050406030204"/>
                        </a:rPr>
                        <m:t>=</m:t>
                      </m:r>
                      <m:r>
                        <a:rPr lang="en-US" sz="1900">
                          <a:solidFill>
                            <a:srgbClr val="06245B"/>
                          </a:solidFill>
                          <a:latin typeface="Cambria Math" panose="02040503050406030204"/>
                        </a:rPr>
                        <m:t>(</m:t>
                      </m:r>
                      <m:r>
                        <a:rPr lang="en-US" sz="1900">
                          <a:solidFill>
                            <a:srgbClr val="06245B"/>
                          </a:solidFill>
                          <a:latin typeface="Cambria Math" panose="02040503050406030204"/>
                        </a:rPr>
                        <m:t>𝜓</m:t>
                      </m:r>
                      <m:r>
                        <a:rPr lang="en-US" sz="1900">
                          <a:solidFill>
                            <a:srgbClr val="06245B"/>
                          </a:solidFill>
                          <a:latin typeface="Cambria Math" panose="02040503050406030204"/>
                        </a:rPr>
                        <m:t>−</m:t>
                      </m:r>
                      <m:sSub>
                        <m:sSubPr>
                          <m:ctrlPr>
                            <a:rPr/>
                          </m:ctrlPr>
                        </m:sSubPr>
                        <m:e>
                          <m:r>
                            <a:rPr lang="en-US" sz="1900">
                              <a:solidFill>
                                <a:srgbClr val="06245B"/>
                              </a:solidFill>
                              <a:latin typeface="Cambria Math" panose="02040503050406030204"/>
                            </a:rPr>
                            <m:t>𝜓</m:t>
                          </m:r>
                        </m:e>
                        <m:sub>
                          <m:r>
                            <m:rPr>
                              <m:sty m:val="p"/>
                            </m:rPr>
                            <a:rPr lang="en-US" sz="1900">
                              <a:solidFill>
                                <a:srgbClr val="06245B"/>
                              </a:solidFill>
                              <a:latin typeface="Cambria Math" panose="02040503050406030204"/>
                            </a:rPr>
                            <m:t>des</m:t>
                          </m:r>
                        </m:sub>
                      </m:sSub>
                      <m:sSup>
                        <m:sSupPr>
                          <m:ctrlPr>
                            <a:rPr/>
                          </m:ctrlPr>
                        </m:sSupPr>
                        <m:e>
                          <m:r>
                            <a:rPr lang="en-US" sz="1900">
                              <a:solidFill>
                                <a:srgbClr val="06245B"/>
                              </a:solidFill>
                              <a:latin typeface="Cambria Math" panose="02040503050406030204"/>
                            </a:rPr>
                            <m:t>)</m:t>
                          </m:r>
                        </m:e>
                        <m:sup>
                          <m:r>
                            <a:rPr lang="en-US" sz="1900">
                              <a:solidFill>
                                <a:srgbClr val="06245B"/>
                              </a:solidFill>
                              <a:latin typeface="Cambria Math" panose="02040503050406030204"/>
                            </a:rPr>
                            <m:t>2</m:t>
                          </m:r>
                        </m:sup>
                      </m:sSup>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V_\psi=(\psi-\psi_{\mathrm{des}})^2"/>
              <p:cNvSpPr>
                <a:spLocks noRot="1" noChangeAspect="1" noMove="1" noResize="1" noEditPoints="1" noAdjustHandles="1" noChangeArrowheads="1" noChangeShapeType="1" noTextEdit="1"/>
              </p:cNvSpPr>
              <p:nvPr/>
            </p:nvSpPr>
            <p:spPr>
              <a:xfrm>
                <a:off x="3238500" y="3038475"/>
                <a:ext cx="8124825" cy="400050"/>
              </a:xfrm>
              <a:prstGeom prst="rect">
                <a:avLst/>
              </a:prstGeom>
              <a:blipFill rotWithShape="1">
                <a:blip r:embed="rId3"/>
                <a:stretch>
                  <a:fillRect b="-8095"/>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左右变道由目标车道的横向误差 e_lat 生成期望航向 ψ_des=f(e_lat)，再用航向参考李雅普诺夫函数推动变道。</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终止规则</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5" name="矩形 14" descr="PowerPoint可编辑数学公式（OMML）；LaTeX源代码：s_k^i\in J_z^i\quad\mathrm{or}\quad k=T_{\max}"/>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Sup>
                        <m:sSubSupPr>
                          <m:ctrlPr>
                            <a:rPr/>
                          </m:ctrlPr>
                        </m:sSubSupPr>
                        <m:e>
                          <m:r>
                            <a:rPr lang="en-US" sz="1850">
                              <a:solidFill>
                                <a:srgbClr val="06245B"/>
                              </a:solidFill>
                              <a:latin typeface="Cambria Math" panose="02040503050406030204"/>
                            </a:rPr>
                            <m:t>𝑠</m:t>
                          </m:r>
                        </m:e>
                        <m:sub>
                          <m:r>
                            <a:rPr lang="en-US" sz="1850">
                              <a:solidFill>
                                <a:srgbClr val="06245B"/>
                              </a:solidFill>
                              <a:latin typeface="Cambria Math" panose="02040503050406030204"/>
                            </a:rPr>
                            <m:t>𝑘</m:t>
                          </m:r>
                        </m:sub>
                        <m:sup>
                          <m:r>
                            <a:rPr lang="en-US" sz="1850">
                              <a:solidFill>
                                <a:srgbClr val="06245B"/>
                              </a:solidFill>
                              <a:latin typeface="Cambria Math" panose="02040503050406030204"/>
                            </a:rPr>
                            <m:t>𝑖</m:t>
                          </m:r>
                        </m:sup>
                      </m:sSubSup>
                      <m:r>
                        <a:rPr lang="en-US" sz="1850">
                          <a:solidFill>
                            <a:srgbClr val="06245B"/>
                          </a:solidFill>
                          <a:latin typeface="Cambria Math" panose="02040503050406030204"/>
                        </a:rPr>
                        <m:t>∈</m:t>
                      </m:r>
                      <m:sSubSup>
                        <m:sSubSupPr>
                          <m:ctrlPr>
                            <a:rPr/>
                          </m:ctrlPr>
                        </m:sSubSupPr>
                        <m:e>
                          <m:r>
                            <a:rPr lang="en-US" sz="1850">
                              <a:solidFill>
                                <a:srgbClr val="06245B"/>
                              </a:solidFill>
                              <a:latin typeface="Cambria Math" panose="02040503050406030204"/>
                            </a:rPr>
                            <m:t>𝐽</m:t>
                          </m:r>
                        </m:e>
                        <m:sub>
                          <m:r>
                            <a:rPr lang="en-US" sz="1850">
                              <a:solidFill>
                                <a:srgbClr val="06245B"/>
                              </a:solidFill>
                              <a:latin typeface="Cambria Math" panose="02040503050406030204"/>
                            </a:rPr>
                            <m:t>𝑧</m:t>
                          </m:r>
                        </m:sub>
                        <m:sup>
                          <m:r>
                            <a:rPr lang="en-US" sz="1850">
                              <a:solidFill>
                                <a:srgbClr val="06245B"/>
                              </a:solidFill>
                              <a:latin typeface="Cambria Math" panose="02040503050406030204"/>
                            </a:rPr>
                            <m:t>𝑖</m:t>
                          </m:r>
                        </m:sup>
                      </m:sSubSup>
                      <m:r>
                        <a:rPr lang="en-US" sz="1850">
                          <a:solidFill>
                            <a:srgbClr val="06245B"/>
                          </a:solidFill>
                          <a:latin typeface="Cambria Math" panose="02040503050406030204"/>
                        </a:rPr>
                        <m:t> </m:t>
                      </m:r>
                      <m:r>
                        <m:rPr>
                          <m:sty m:val="p"/>
                        </m:rPr>
                        <a:rPr lang="en-US" sz="1850">
                          <a:solidFill>
                            <a:srgbClr val="06245B"/>
                          </a:solidFill>
                          <a:latin typeface="Cambria Math" panose="02040503050406030204"/>
                        </a:rPr>
                        <m:t>or</m:t>
                      </m:r>
                      <m:r>
                        <a:rPr lang="en-US" sz="1850">
                          <a:solidFill>
                            <a:srgbClr val="06245B"/>
                          </a:solidFill>
                          <a:latin typeface="Cambria Math" panose="02040503050406030204"/>
                        </a:rPr>
                        <m:t> </m:t>
                      </m:r>
                      <m:r>
                        <a:rPr lang="en-US" sz="1850">
                          <a:solidFill>
                            <a:srgbClr val="06245B"/>
                          </a:solidFill>
                          <a:latin typeface="Cambria Math" panose="02040503050406030204"/>
                        </a:rPr>
                        <m:t>𝑘</m:t>
                      </m:r>
                      <m:r>
                        <a:rPr lang="en-US" sz="1850">
                          <a:solidFill>
                            <a:srgbClr val="06245B"/>
                          </a:solidFill>
                          <a:latin typeface="Cambria Math" panose="02040503050406030204"/>
                        </a:rPr>
                        <m:t>=</m:t>
                      </m:r>
                      <m:sSub>
                        <m:sSubPr>
                          <m:ctrlPr>
                            <a:rPr/>
                          </m:ctrlPr>
                        </m:sSubPr>
                        <m:e>
                          <m:r>
                            <a:rPr lang="en-US" sz="1850">
                              <a:solidFill>
                                <a:srgbClr val="06245B"/>
                              </a:solidFill>
                              <a:latin typeface="Cambria Math" panose="02040503050406030204"/>
                            </a:rPr>
                            <m:t>𝑇</m:t>
                          </m:r>
                        </m:e>
                        <m:sub>
                          <m:r>
                            <m:rPr>
                              <m:sty m:val="p"/>
                            </m:rPr>
                            <a:rPr lang="en-US" sz="1850">
                              <a:solidFill>
                                <a:srgbClr val="06245B"/>
                              </a:solidFill>
                              <a:latin typeface="Cambria Math" panose="02040503050406030204"/>
                            </a:rPr>
                            <m:t>max</m:t>
                          </m:r>
                        </m:sub>
                      </m:sSub>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5" name="矩形 14" descr="PowerPoint可编辑数学公式（OMML）；LaTeX源代码：s_k^i\in J_z^i\quad\mathrm{or}\quad k=T_{\max}"/>
              <p:cNvSpPr>
                <a:spLocks noRot="1" noChangeAspect="1" noMove="1" noResize="1" noEditPoints="1" noAdjustHandles="1" noChangeArrowheads="1" noChangeShapeType="1" noTextEdit="1"/>
              </p:cNvSpPr>
              <p:nvPr/>
            </p:nvSpPr>
            <p:spPr>
              <a:xfrm>
                <a:off x="3238500" y="4229100"/>
                <a:ext cx="8124825" cy="400050"/>
              </a:xfrm>
              <a:prstGeom prst="rect">
                <a:avLst/>
              </a:prstGeom>
              <a:blipFill rotWithShape="1">
                <a:blip r:embed="rId4"/>
                <a:stretch>
                  <a:fillRect b="-5873"/>
                </a:stretch>
              </a:blipFill>
              <a:ln w="0">
                <a:noFill/>
              </a:ln>
            </p:spPr>
            <p:txBody>
              <a:bodyPr/>
              <a:lstStyle/>
              <a:p>
                <a:r>
                  <a:rPr lang="zh-CN" altLang="en-US">
                    <a:noFill/>
                  </a:rPr>
                  <a:t> </a:t>
                </a:r>
              </a:p>
            </p:txBody>
          </p:sp>
        </mc:Fallback>
      </mc:AlternateContent>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550" b="0">
                <a:solidFill>
                  <a:srgbClr val="263247"/>
                </a:solidFill>
                <a:latin typeface="微软雅黑" panose="020B0503020204020204" charset="-122"/>
                <a:ea typeface="微软雅黑" panose="020B0503020204020204" charset="-122"/>
                <a:cs typeface="微软雅黑" panose="020B0503020204020204" charset="-122"/>
              </a:rPr>
              <a:t>达到技能终止集合或超时后，只有该车重新选择技能；邻车原技能可继续，形成异步交互。</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控制屏障函数（CBF）始终约束车距与道路边界；控制李雅普诺夫函数（CLF）引导当前技能目标。</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低层二次规划：目标、硬约束与软约束</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CBF–CLF–QP MECHANISM</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14</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优化目标</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min_{a,e}\;a^\top H(\phi_H)a+F(\phi_F)^\top a+\phi_e^\top e"/>
              <p:cNvSpPr>
                <a:spLocks noGrp="1"/>
              </p:cNvSpPr>
              <p:nvPr/>
            </p:nvSpPr>
            <p:spPr>
              <a:xfrm>
                <a:off x="3236976" y="1801368"/>
                <a:ext cx="8129016" cy="530352"/>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m:rPr>
                              <m:sty m:val="p"/>
                            </m:rPr>
                            <a:rPr lang="en-US" sz="1710">
                              <a:solidFill>
                                <a:srgbClr val="06245B"/>
                              </a:solidFill>
                              <a:latin typeface="Cambria Math" panose="02040503050406030204"/>
                            </a:rPr>
                            <m:t>min</m:t>
                          </m:r>
                        </m:e>
                        <m:sub>
                          <m:r>
                            <a:rPr lang="en-US" sz="1710">
                              <a:solidFill>
                                <a:srgbClr val="06245B"/>
                              </a:solidFill>
                              <a:latin typeface="Cambria Math" panose="02040503050406030204"/>
                            </a:rPr>
                            <m:t>𝑎</m:t>
                          </m:r>
                          <m:r>
                            <a:rPr lang="en-US" sz="1710">
                              <a:solidFill>
                                <a:srgbClr val="06245B"/>
                              </a:solidFill>
                              <a:latin typeface="Cambria Math" panose="02040503050406030204"/>
                            </a:rPr>
                            <m:t>,</m:t>
                          </m:r>
                          <m:r>
                            <a:rPr lang="en-US" sz="1710">
                              <a:solidFill>
                                <a:srgbClr val="06245B"/>
                              </a:solidFill>
                              <a:latin typeface="Cambria Math" panose="02040503050406030204"/>
                            </a:rPr>
                            <m:t>𝑒</m:t>
                          </m:r>
                        </m:sub>
                      </m:sSub>
                      <m:r>
                        <a:rPr lang="en-US" sz="1710">
                          <a:solidFill>
                            <a:srgbClr val="06245B"/>
                          </a:solidFill>
                          <a:latin typeface="Cambria Math" panose="02040503050406030204"/>
                        </a:rPr>
                        <m:t> </m:t>
                      </m:r>
                      <m:sSup>
                        <m:sSupPr>
                          <m:ctrlPr>
                            <a:rPr/>
                          </m:ctrlPr>
                        </m:sSupPr>
                        <m:e>
                          <m:r>
                            <a:rPr lang="en-US" sz="1710">
                              <a:solidFill>
                                <a:srgbClr val="06245B"/>
                              </a:solidFill>
                              <a:latin typeface="Cambria Math" panose="02040503050406030204"/>
                            </a:rPr>
                            <m:t>𝑎</m:t>
                          </m:r>
                        </m:e>
                        <m:sup>
                          <m:r>
                            <a:rPr lang="en-US" sz="1710">
                              <a:solidFill>
                                <a:srgbClr val="06245B"/>
                              </a:solidFill>
                              <a:latin typeface="Cambria Math" panose="02040503050406030204"/>
                            </a:rPr>
                            <m:t>⊤</m:t>
                          </m:r>
                        </m:sup>
                      </m:sSup>
                      <m:r>
                        <a:rPr lang="en-US" sz="1710">
                          <a:solidFill>
                            <a:srgbClr val="06245B"/>
                          </a:solidFill>
                          <a:latin typeface="Cambria Math" panose="02040503050406030204"/>
                        </a:rPr>
                        <m:t>𝐻</m:t>
                      </m:r>
                      <m:r>
                        <a:rPr lang="en-US" sz="1710">
                          <a:solidFill>
                            <a:srgbClr val="06245B"/>
                          </a:solidFill>
                          <a:latin typeface="Cambria Math" panose="02040503050406030204"/>
                        </a:rPr>
                        <m:t>(</m:t>
                      </m:r>
                      <m:sSub>
                        <m:sSubPr>
                          <m:ctrlPr>
                            <a:rPr/>
                          </m:ctrlPr>
                        </m:sSubPr>
                        <m:e>
                          <m:r>
                            <a:rPr lang="en-US" sz="1710">
                              <a:solidFill>
                                <a:srgbClr val="06245B"/>
                              </a:solidFill>
                              <a:latin typeface="Cambria Math" panose="02040503050406030204"/>
                            </a:rPr>
                            <m:t>𝜑</m:t>
                          </m:r>
                        </m:e>
                        <m:sub>
                          <m:r>
                            <a:rPr lang="en-US" sz="1710">
                              <a:solidFill>
                                <a:srgbClr val="06245B"/>
                              </a:solidFill>
                              <a:latin typeface="Cambria Math" panose="02040503050406030204"/>
                            </a:rPr>
                            <m:t>𝐻</m:t>
                          </m:r>
                        </m:sub>
                      </m:sSub>
                      <m:r>
                        <a:rPr lang="en-US" sz="1710">
                          <a:solidFill>
                            <a:srgbClr val="06245B"/>
                          </a:solidFill>
                          <a:latin typeface="Cambria Math" panose="02040503050406030204"/>
                        </a:rPr>
                        <m:t>)</m:t>
                      </m:r>
                      <m:r>
                        <a:rPr lang="en-US" sz="1710">
                          <a:solidFill>
                            <a:srgbClr val="06245B"/>
                          </a:solidFill>
                          <a:latin typeface="Cambria Math" panose="02040503050406030204"/>
                        </a:rPr>
                        <m:t>𝑎</m:t>
                      </m:r>
                      <m:r>
                        <a:rPr lang="en-US" sz="1710">
                          <a:solidFill>
                            <a:srgbClr val="06245B"/>
                          </a:solidFill>
                          <a:latin typeface="Cambria Math" panose="02040503050406030204"/>
                        </a:rPr>
                        <m:t>+</m:t>
                      </m:r>
                      <m:r>
                        <a:rPr lang="en-US" sz="1710">
                          <a:solidFill>
                            <a:srgbClr val="06245B"/>
                          </a:solidFill>
                          <a:latin typeface="Cambria Math" panose="02040503050406030204"/>
                        </a:rPr>
                        <m:t>𝐹</m:t>
                      </m:r>
                      <m:r>
                        <a:rPr lang="en-US" sz="1710">
                          <a:solidFill>
                            <a:srgbClr val="06245B"/>
                          </a:solidFill>
                          <a:latin typeface="Cambria Math" panose="02040503050406030204"/>
                        </a:rPr>
                        <m:t>(</m:t>
                      </m:r>
                      <m:sSub>
                        <m:sSubPr>
                          <m:ctrlPr>
                            <a:rPr/>
                          </m:ctrlPr>
                        </m:sSubPr>
                        <m:e>
                          <m:r>
                            <a:rPr lang="en-US" sz="1710">
                              <a:solidFill>
                                <a:srgbClr val="06245B"/>
                              </a:solidFill>
                              <a:latin typeface="Cambria Math" panose="02040503050406030204"/>
                            </a:rPr>
                            <m:t>𝜑</m:t>
                          </m:r>
                        </m:e>
                        <m:sub>
                          <m:r>
                            <a:rPr lang="en-US" sz="1710">
                              <a:solidFill>
                                <a:srgbClr val="06245B"/>
                              </a:solidFill>
                              <a:latin typeface="Cambria Math" panose="02040503050406030204"/>
                            </a:rPr>
                            <m:t>𝐹</m:t>
                          </m:r>
                        </m:sub>
                      </m:sSub>
                      <m:sSup>
                        <m:sSupPr>
                          <m:ctrlPr>
                            <a:rPr/>
                          </m:ctrlPr>
                        </m:sSupPr>
                        <m:e>
                          <m:r>
                            <a:rPr lang="en-US" sz="1710">
                              <a:solidFill>
                                <a:srgbClr val="06245B"/>
                              </a:solidFill>
                              <a:latin typeface="Cambria Math" panose="02040503050406030204"/>
                            </a:rPr>
                            <m:t>)</m:t>
                          </m:r>
                        </m:e>
                        <m:sup>
                          <m:r>
                            <a:rPr lang="en-US" sz="1710">
                              <a:solidFill>
                                <a:srgbClr val="06245B"/>
                              </a:solidFill>
                              <a:latin typeface="Cambria Math" panose="02040503050406030204"/>
                            </a:rPr>
                            <m:t>⊤</m:t>
                          </m:r>
                        </m:sup>
                      </m:sSup>
                      <m:r>
                        <a:rPr lang="en-US" sz="1710">
                          <a:solidFill>
                            <a:srgbClr val="06245B"/>
                          </a:solidFill>
                          <a:latin typeface="Cambria Math" panose="02040503050406030204"/>
                        </a:rPr>
                        <m:t>𝑎</m:t>
                      </m:r>
                      <m:r>
                        <a:rPr lang="en-US" sz="1710">
                          <a:solidFill>
                            <a:srgbClr val="06245B"/>
                          </a:solidFill>
                          <a:latin typeface="Cambria Math" panose="02040503050406030204"/>
                        </a:rPr>
                        <m:t>+</m:t>
                      </m:r>
                      <m:sSubSup>
                        <m:sSubSupPr>
                          <m:ctrlPr>
                            <a:rPr/>
                          </m:ctrlPr>
                        </m:sSubSupPr>
                        <m:e>
                          <m:r>
                            <a:rPr lang="en-US" sz="1710">
                              <a:solidFill>
                                <a:srgbClr val="06245B"/>
                              </a:solidFill>
                              <a:latin typeface="Cambria Math" panose="02040503050406030204"/>
                            </a:rPr>
                            <m:t>𝜑</m:t>
                          </m:r>
                        </m:e>
                        <m:sub>
                          <m:r>
                            <a:rPr lang="en-US" sz="1710">
                              <a:solidFill>
                                <a:srgbClr val="06245B"/>
                              </a:solidFill>
                              <a:latin typeface="Cambria Math" panose="02040503050406030204"/>
                            </a:rPr>
                            <m:t>𝑒</m:t>
                          </m:r>
                        </m:sub>
                        <m:sup>
                          <m:r>
                            <a:rPr lang="en-US" sz="1710">
                              <a:solidFill>
                                <a:srgbClr val="06245B"/>
                              </a:solidFill>
                              <a:latin typeface="Cambria Math" panose="02040503050406030204"/>
                            </a:rPr>
                            <m:t>⊤</m:t>
                          </m:r>
                        </m:sup>
                      </m:sSubSup>
                      <m:r>
                        <a:rPr lang="en-US" sz="1710">
                          <a:solidFill>
                            <a:srgbClr val="06245B"/>
                          </a:solidFill>
                          <a:latin typeface="Cambria Math" panose="02040503050406030204"/>
                        </a:rPr>
                        <m:t>𝑒</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min_{a,e}\;a^\top H(\phi_H)a+F(\phi_F)^\top a+\phi_e^\top e"/>
              <p:cNvSpPr>
                <a:spLocks noRot="1" noChangeAspect="1" noMove="1" noResize="1" noEditPoints="1" noAdjustHandles="1" noChangeArrowheads="1" noChangeShapeType="1" noTextEdit="1"/>
              </p:cNvSpPr>
              <p:nvPr/>
            </p:nvSpPr>
            <p:spPr>
              <a:xfrm>
                <a:off x="3236976" y="1801368"/>
                <a:ext cx="8129016" cy="530352"/>
              </a:xfrm>
              <a:prstGeom prst="rect">
                <a:avLst/>
              </a:prstGeom>
              <a:blipFill rotWithShape="1">
                <a:blip r:embed="rId2"/>
                <a:stretch>
                  <a:fillRect l="-5" t="-96" r="2"/>
                </a:stretch>
              </a:blipFill>
              <a:ln w="0">
                <a:noFill/>
              </a:ln>
            </p:spPr>
            <p:txBody>
              <a:bodyPr/>
              <a:lstStyle/>
              <a:p>
                <a:r>
                  <a:rPr lang="zh-CN" altLang="en-US">
                    <a:noFill/>
                  </a:rPr>
                  <a:t> </a:t>
                </a:r>
              </a:p>
            </p:txBody>
          </p:sp>
        </mc:Fallback>
      </mc:AlternateContent>
      <p:sp>
        <p:nvSpPr>
          <p:cNvPr id="10" name="矩形 9"/>
          <p:cNvSpPr>
            <a:spLocks noGrp="1"/>
          </p:cNvSpPr>
          <p:nvPr/>
        </p:nvSpPr>
        <p:spPr>
          <a:xfrm>
            <a:off x="3236976" y="2377440"/>
            <a:ext cx="8092440" cy="585216"/>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论文式（15）：H 正定使动作代价对 a 严格凸；松弛项对偏离技能目标进行惩罚。</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安全硬约束</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L_fb+L_gb\,a+\alpha(b;\phi_b)\geq0"/>
              <p:cNvSpPr>
                <a:spLocks noGrp="1"/>
              </p:cNvSpPr>
              <p:nvPr/>
            </p:nvSpPr>
            <p:spPr>
              <a:xfrm>
                <a:off x="3236976" y="3017520"/>
                <a:ext cx="8129016" cy="45720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𝑓</m:t>
                          </m:r>
                        </m:sub>
                      </m:sSub>
                      <m:r>
                        <a:rPr lang="en-US" sz="1880">
                          <a:solidFill>
                            <a:srgbClr val="06245B"/>
                          </a:solidFill>
                          <a:latin typeface="Cambria Math" panose="02040503050406030204"/>
                        </a:rPr>
                        <m:t>𝑏</m:t>
                      </m:r>
                      <m:r>
                        <a:rPr lang="en-US" sz="1880">
                          <a:solidFill>
                            <a:srgbClr val="06245B"/>
                          </a:solidFill>
                          <a:latin typeface="Cambria Math" panose="02040503050406030204"/>
                        </a:rPr>
                        <m:t>+</m:t>
                      </m:r>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𝑔</m:t>
                          </m:r>
                        </m:sub>
                      </m:sSub>
                      <m:r>
                        <a:rPr lang="en-US" sz="1880">
                          <a:solidFill>
                            <a:srgbClr val="06245B"/>
                          </a:solidFill>
                          <a:latin typeface="Cambria Math" panose="02040503050406030204"/>
                        </a:rPr>
                        <m:t>𝑏</m:t>
                      </m:r>
                      <m:r>
                        <a:rPr lang="en-US" sz="1880">
                          <a:solidFill>
                            <a:srgbClr val="06245B"/>
                          </a:solidFill>
                          <a:latin typeface="Cambria Math" panose="02040503050406030204"/>
                        </a:rPr>
                        <m:t> </m:t>
                      </m:r>
                      <m:r>
                        <a:rPr lang="en-US" sz="1880">
                          <a:solidFill>
                            <a:srgbClr val="06245B"/>
                          </a:solidFill>
                          <a:latin typeface="Cambria Math" panose="02040503050406030204"/>
                        </a:rPr>
                        <m:t>𝑎</m:t>
                      </m:r>
                      <m:r>
                        <a:rPr lang="en-US" sz="1880">
                          <a:solidFill>
                            <a:srgbClr val="06245B"/>
                          </a:solidFill>
                          <a:latin typeface="Cambria Math" panose="02040503050406030204"/>
                        </a:rPr>
                        <m:t>+</m:t>
                      </m:r>
                      <m:r>
                        <a:rPr lang="en-US" sz="1880">
                          <a:solidFill>
                            <a:srgbClr val="06245B"/>
                          </a:solidFill>
                          <a:latin typeface="Cambria Math" panose="02040503050406030204"/>
                        </a:rPr>
                        <m:t>𝛼</m:t>
                      </m:r>
                      <m:r>
                        <a:rPr lang="en-US" sz="1880">
                          <a:solidFill>
                            <a:srgbClr val="06245B"/>
                          </a:solidFill>
                          <a:latin typeface="Cambria Math" panose="02040503050406030204"/>
                        </a:rPr>
                        <m:t>(</m:t>
                      </m:r>
                      <m:r>
                        <a:rPr lang="en-US" sz="1880">
                          <a:solidFill>
                            <a:srgbClr val="06245B"/>
                          </a:solidFill>
                          <a:latin typeface="Cambria Math" panose="02040503050406030204"/>
                        </a:rPr>
                        <m:t>𝑏</m:t>
                      </m:r>
                      <m:r>
                        <a:rPr lang="en-US" sz="1880">
                          <a:solidFill>
                            <a:srgbClr val="06245B"/>
                          </a:solidFill>
                          <a:latin typeface="Cambria Math" panose="02040503050406030204"/>
                        </a:rPr>
                        <m:t>;</m:t>
                      </m:r>
                      <m:sSub>
                        <m:sSubPr>
                          <m:ctrlPr>
                            <a:rPr/>
                          </m:ctrlPr>
                        </m:sSubPr>
                        <m:e>
                          <m:r>
                            <a:rPr lang="en-US" sz="1880">
                              <a:solidFill>
                                <a:srgbClr val="06245B"/>
                              </a:solidFill>
                              <a:latin typeface="Cambria Math" panose="02040503050406030204"/>
                            </a:rPr>
                            <m:t>𝜑</m:t>
                          </m:r>
                        </m:e>
                        <m:sub>
                          <m:r>
                            <a:rPr lang="en-US" sz="1880">
                              <a:solidFill>
                                <a:srgbClr val="06245B"/>
                              </a:solidFill>
                              <a:latin typeface="Cambria Math" panose="02040503050406030204"/>
                            </a:rPr>
                            <m:t>𝑏</m:t>
                          </m:r>
                        </m:sub>
                      </m:sSub>
                      <m:r>
                        <a:rPr lang="en-US" sz="1880">
                          <a:solidFill>
                            <a:srgbClr val="06245B"/>
                          </a:solidFill>
                          <a:latin typeface="Cambria Math" panose="02040503050406030204"/>
                        </a:rPr>
                        <m:t>)</m:t>
                      </m:r>
                      <m:r>
                        <a:rPr lang="en-US" sz="1880">
                          <a:solidFill>
                            <a:srgbClr val="06245B"/>
                          </a:solidFill>
                          <a:latin typeface="Cambria Math" panose="02040503050406030204"/>
                        </a:rPr>
                        <m:t>≥</m:t>
                      </m:r>
                      <m:r>
                        <a:rPr lang="en-US" sz="1880">
                          <a:solidFill>
                            <a:srgbClr val="06245B"/>
                          </a:solidFill>
                          <a:latin typeface="Cambria Math" panose="02040503050406030204"/>
                        </a:rPr>
                        <m:t>0</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L_fb+L_gb\,a+\alpha(b;\phi_b)\geq0"/>
              <p:cNvSpPr>
                <a:spLocks noRot="1" noChangeAspect="1" noMove="1" noResize="1" noEditPoints="1" noAdjustHandles="1" noChangeArrowheads="1" noChangeShapeType="1" noTextEdit="1"/>
              </p:cNvSpPr>
              <p:nvPr/>
            </p:nvSpPr>
            <p:spPr>
              <a:xfrm>
                <a:off x="3236976" y="3017520"/>
                <a:ext cx="8129016" cy="457200"/>
              </a:xfrm>
              <a:prstGeom prst="rect">
                <a:avLst/>
              </a:prstGeom>
              <a:blipFill rotWithShape="1">
                <a:blip r:embed="rId3"/>
                <a:stretch>
                  <a:fillRect l="-5" r="2"/>
                </a:stretch>
              </a:blipFill>
              <a:ln w="0">
                <a:noFill/>
              </a:ln>
            </p:spPr>
            <p:txBody>
              <a:bodyPr/>
              <a:lstStyle/>
              <a:p>
                <a:r>
                  <a:rPr lang="zh-CN" altLang="en-US">
                    <a:noFill/>
                  </a:rPr>
                  <a:t> </a:t>
                </a:r>
              </a:p>
            </p:txBody>
          </p:sp>
        </mc:Fallback>
      </mc:AlternateContent>
      <p:sp>
        <p:nvSpPr>
          <p:cNvPr id="13" name="矩形 12"/>
          <p:cNvSpPr>
            <a:spLocks noGrp="1"/>
          </p:cNvSpPr>
          <p:nvPr/>
        </p:nvSpPr>
        <p:spPr>
          <a:xfrm>
            <a:off x="3236976" y="3529584"/>
            <a:ext cx="8092440" cy="621792"/>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这是便于讲解的一阶形式。原文式（15）用高阶控制屏障函数处理高相对阶约束，并限制控制输入范围。</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目标软约束</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5" name="矩形 14" descr="PowerPoint可编辑数学公式（OMML）；LaTeX源代码：L_fV+L_gV\,a+\eta(\cdot;\phi_v)\leq e"/>
              <p:cNvSpPr>
                <a:spLocks noGrp="1"/>
              </p:cNvSpPr>
              <p:nvPr/>
            </p:nvSpPr>
            <p:spPr>
              <a:xfrm>
                <a:off x="3236976" y="4206240"/>
                <a:ext cx="8129016" cy="45720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𝑓</m:t>
                          </m:r>
                        </m:sub>
                      </m:sSub>
                      <m:r>
                        <a:rPr lang="en-US" sz="1880">
                          <a:solidFill>
                            <a:srgbClr val="06245B"/>
                          </a:solidFill>
                          <a:latin typeface="Cambria Math" panose="02040503050406030204"/>
                        </a:rPr>
                        <m:t>𝑉</m:t>
                      </m:r>
                      <m:r>
                        <a:rPr lang="en-US" sz="1880">
                          <a:solidFill>
                            <a:srgbClr val="06245B"/>
                          </a:solidFill>
                          <a:latin typeface="Cambria Math" panose="02040503050406030204"/>
                        </a:rPr>
                        <m:t>+</m:t>
                      </m:r>
                      <m:sSub>
                        <m:sSubPr>
                          <m:ctrlPr>
                            <a:rPr/>
                          </m:ctrlPr>
                        </m:sSubPr>
                        <m:e>
                          <m:r>
                            <a:rPr lang="en-US" sz="1880">
                              <a:solidFill>
                                <a:srgbClr val="06245B"/>
                              </a:solidFill>
                              <a:latin typeface="Cambria Math" panose="02040503050406030204"/>
                            </a:rPr>
                            <m:t>𝐿</m:t>
                          </m:r>
                        </m:e>
                        <m:sub>
                          <m:r>
                            <a:rPr lang="en-US" sz="1880">
                              <a:solidFill>
                                <a:srgbClr val="06245B"/>
                              </a:solidFill>
                              <a:latin typeface="Cambria Math" panose="02040503050406030204"/>
                            </a:rPr>
                            <m:t>𝑔</m:t>
                          </m:r>
                        </m:sub>
                      </m:sSub>
                      <m:r>
                        <a:rPr lang="en-US" sz="1880">
                          <a:solidFill>
                            <a:srgbClr val="06245B"/>
                          </a:solidFill>
                          <a:latin typeface="Cambria Math" panose="02040503050406030204"/>
                        </a:rPr>
                        <m:t>𝑉</m:t>
                      </m:r>
                      <m:r>
                        <a:rPr lang="en-US" sz="1880">
                          <a:solidFill>
                            <a:srgbClr val="06245B"/>
                          </a:solidFill>
                          <a:latin typeface="Cambria Math" panose="02040503050406030204"/>
                        </a:rPr>
                        <m:t> </m:t>
                      </m:r>
                      <m:r>
                        <a:rPr lang="en-US" sz="1880">
                          <a:solidFill>
                            <a:srgbClr val="06245B"/>
                          </a:solidFill>
                          <a:latin typeface="Cambria Math" panose="02040503050406030204"/>
                        </a:rPr>
                        <m:t>𝑎</m:t>
                      </m:r>
                      <m:r>
                        <a:rPr lang="en-US" sz="1880">
                          <a:solidFill>
                            <a:srgbClr val="06245B"/>
                          </a:solidFill>
                          <a:latin typeface="Cambria Math" panose="02040503050406030204"/>
                        </a:rPr>
                        <m:t>+</m:t>
                      </m:r>
                      <m:r>
                        <a:rPr lang="en-US" sz="1880">
                          <a:solidFill>
                            <a:srgbClr val="06245B"/>
                          </a:solidFill>
                          <a:latin typeface="Cambria Math" panose="02040503050406030204"/>
                        </a:rPr>
                        <m:t>𝜂</m:t>
                      </m:r>
                      <m:r>
                        <a:rPr lang="en-US" sz="1880">
                          <a:solidFill>
                            <a:srgbClr val="06245B"/>
                          </a:solidFill>
                          <a:latin typeface="Cambria Math" panose="02040503050406030204"/>
                        </a:rPr>
                        <m:t>(</m:t>
                      </m:r>
                      <m:r>
                        <a:rPr lang="en-US" sz="1880">
                          <a:solidFill>
                            <a:srgbClr val="06245B"/>
                          </a:solidFill>
                          <a:latin typeface="Cambria Math" panose="02040503050406030204"/>
                        </a:rPr>
                        <m:t>·</m:t>
                      </m:r>
                      <m:r>
                        <a:rPr lang="en-US" sz="1880">
                          <a:solidFill>
                            <a:srgbClr val="06245B"/>
                          </a:solidFill>
                          <a:latin typeface="Cambria Math" panose="02040503050406030204"/>
                        </a:rPr>
                        <m:t>;</m:t>
                      </m:r>
                      <m:sSub>
                        <m:sSubPr>
                          <m:ctrlPr>
                            <a:rPr/>
                          </m:ctrlPr>
                        </m:sSubPr>
                        <m:e>
                          <m:r>
                            <a:rPr lang="en-US" sz="1880">
                              <a:solidFill>
                                <a:srgbClr val="06245B"/>
                              </a:solidFill>
                              <a:latin typeface="Cambria Math" panose="02040503050406030204"/>
                            </a:rPr>
                            <m:t>𝜑</m:t>
                          </m:r>
                        </m:e>
                        <m:sub>
                          <m:r>
                            <a:rPr lang="en-US" sz="1880">
                              <a:solidFill>
                                <a:srgbClr val="06245B"/>
                              </a:solidFill>
                              <a:latin typeface="Cambria Math" panose="02040503050406030204"/>
                            </a:rPr>
                            <m:t>𝑣</m:t>
                          </m:r>
                        </m:sub>
                      </m:sSub>
                      <m:r>
                        <a:rPr lang="en-US" sz="1880">
                          <a:solidFill>
                            <a:srgbClr val="06245B"/>
                          </a:solidFill>
                          <a:latin typeface="Cambria Math" panose="02040503050406030204"/>
                        </a:rPr>
                        <m:t>)</m:t>
                      </m:r>
                      <m:r>
                        <a:rPr lang="en-US" sz="1880">
                          <a:solidFill>
                            <a:srgbClr val="06245B"/>
                          </a:solidFill>
                          <a:latin typeface="Cambria Math" panose="02040503050406030204"/>
                        </a:rPr>
                        <m:t>≤</m:t>
                      </m:r>
                      <m:r>
                        <a:rPr lang="en-US" sz="1880">
                          <a:solidFill>
                            <a:srgbClr val="06245B"/>
                          </a:solidFill>
                          <a:latin typeface="Cambria Math" panose="02040503050406030204"/>
                        </a:rPr>
                        <m:t>𝑒</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5" name="矩形 14" descr="PowerPoint可编辑数学公式（OMML）；LaTeX源代码：L_fV+L_gV\,a+\eta(\cdot;\phi_v)\leq e"/>
              <p:cNvSpPr>
                <a:spLocks noRot="1" noChangeAspect="1" noMove="1" noResize="1" noEditPoints="1" noAdjustHandles="1" noChangeArrowheads="1" noChangeShapeType="1" noTextEdit="1"/>
              </p:cNvSpPr>
              <p:nvPr/>
            </p:nvSpPr>
            <p:spPr>
              <a:xfrm>
                <a:off x="3236976" y="4206240"/>
                <a:ext cx="8129016" cy="457200"/>
              </a:xfrm>
              <a:prstGeom prst="rect">
                <a:avLst/>
              </a:prstGeom>
              <a:blipFill rotWithShape="1">
                <a:blip r:embed="rId4"/>
                <a:stretch>
                  <a:fillRect l="-5" r="2"/>
                </a:stretch>
              </a:blipFill>
              <a:ln w="0">
                <a:noFill/>
              </a:ln>
            </p:spPr>
            <p:txBody>
              <a:bodyPr/>
              <a:lstStyle/>
              <a:p>
                <a:r>
                  <a:rPr lang="zh-CN" altLang="en-US">
                    <a:noFill/>
                  </a:rPr>
                  <a:t> </a:t>
                </a:r>
              </a:p>
            </p:txBody>
          </p:sp>
        </mc:Fallback>
      </mc:AlternateContent>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技能目标的下降条件由 e 松弛。当目标与安全冲突时，允许放宽跟踪要求。</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式（15）就是低层策略：网络调节参数，优化器每一步生成满足安全约束的动作。</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可微安全策略：网络怎样学会设置二次规划</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DIFFERENTIABLE SAFE POLICY</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15</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参数生成</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矩形 8" descr="PowerPoint可编辑数学公式（OMML）；LaTeX源代码：\phi^i=\Gamma_\nu(o^i\mid z^i)"/>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p>
                        <m:sSupPr>
                          <m:ctrlPr>
                            <a:rPr/>
                          </m:ctrlPr>
                        </m:sSupPr>
                        <m:e>
                          <m:r>
                            <a:rPr lang="en-US" sz="1950">
                              <a:solidFill>
                                <a:srgbClr val="06245B"/>
                              </a:solidFill>
                              <a:latin typeface="Cambria Math" panose="02040503050406030204"/>
                            </a:rPr>
                            <m:t>𝜑</m:t>
                          </m:r>
                        </m:e>
                        <m:sup>
                          <m:r>
                            <a:rPr lang="en-US" sz="1950">
                              <a:solidFill>
                                <a:srgbClr val="06245B"/>
                              </a:solidFill>
                              <a:latin typeface="Cambria Math" panose="02040503050406030204"/>
                            </a:rPr>
                            <m:t>𝑖</m:t>
                          </m:r>
                        </m:sup>
                      </m:sSup>
                      <m:r>
                        <a:rPr lang="en-US" sz="1950">
                          <a:solidFill>
                            <a:srgbClr val="06245B"/>
                          </a:solidFill>
                          <a:latin typeface="Cambria Math" panose="02040503050406030204"/>
                        </a:rPr>
                        <m:t>=</m:t>
                      </m:r>
                      <m:sSub>
                        <m:sSubPr>
                          <m:ctrlPr>
                            <a:rPr/>
                          </m:ctrlPr>
                        </m:sSubPr>
                        <m:e>
                          <m:r>
                            <a:rPr lang="en-US" sz="1950">
                              <a:solidFill>
                                <a:srgbClr val="06245B"/>
                              </a:solidFill>
                              <a:latin typeface="Cambria Math" panose="02040503050406030204"/>
                            </a:rPr>
                            <m:t>𝛤</m:t>
                          </m:r>
                        </m:e>
                        <m:sub>
                          <m:r>
                            <a:rPr lang="en-US" sz="1950">
                              <a:solidFill>
                                <a:srgbClr val="06245B"/>
                              </a:solidFill>
                              <a:latin typeface="Cambria Math" panose="02040503050406030204"/>
                            </a:rPr>
                            <m:t>𝜈</m:t>
                          </m:r>
                        </m:sub>
                      </m:sSub>
                      <m:r>
                        <a:rPr lang="en-US" sz="1950">
                          <a:solidFill>
                            <a:srgbClr val="06245B"/>
                          </a:solidFill>
                          <a:latin typeface="Cambria Math" panose="02040503050406030204"/>
                        </a:rPr>
                        <m:t>(</m:t>
                      </m:r>
                      <m:sSup>
                        <m:sSupPr>
                          <m:ctrlPr>
                            <a:rPr/>
                          </m:ctrlPr>
                        </m:sSupPr>
                        <m:e>
                          <m:r>
                            <a:rPr lang="en-US" sz="1950">
                              <a:solidFill>
                                <a:srgbClr val="06245B"/>
                              </a:solidFill>
                              <a:latin typeface="Cambria Math" panose="02040503050406030204"/>
                            </a:rPr>
                            <m:t>𝑜</m:t>
                          </m:r>
                        </m:e>
                        <m:sup>
                          <m:r>
                            <a:rPr lang="en-US" sz="1950">
                              <a:solidFill>
                                <a:srgbClr val="06245B"/>
                              </a:solidFill>
                              <a:latin typeface="Cambria Math" panose="02040503050406030204"/>
                            </a:rPr>
                            <m:t>𝑖</m:t>
                          </m:r>
                        </m:sup>
                      </m:sSup>
                      <m:r>
                        <a:rPr lang="en-US" sz="1950">
                          <a:solidFill>
                            <a:srgbClr val="06245B"/>
                          </a:solidFill>
                          <a:latin typeface="Cambria Math" panose="02040503050406030204"/>
                        </a:rPr>
                        <m:t>∣</m:t>
                      </m:r>
                      <m:sSup>
                        <m:sSupPr>
                          <m:ctrlPr>
                            <a:rPr/>
                          </m:ctrlPr>
                        </m:sSupPr>
                        <m:e>
                          <m:r>
                            <a:rPr lang="en-US" sz="1950">
                              <a:solidFill>
                                <a:srgbClr val="06245B"/>
                              </a:solidFill>
                              <a:latin typeface="Cambria Math" panose="02040503050406030204"/>
                            </a:rPr>
                            <m:t>𝑧</m:t>
                          </m:r>
                        </m:e>
                        <m:sup>
                          <m:r>
                            <a:rPr lang="en-US" sz="1950">
                              <a:solidFill>
                                <a:srgbClr val="06245B"/>
                              </a:solidFill>
                              <a:latin typeface="Cambria Math" panose="02040503050406030204"/>
                            </a:rPr>
                            <m:t>𝑖</m:t>
                          </m:r>
                        </m:sup>
                      </m:sSup>
                      <m:r>
                        <a:rPr lang="en-US" sz="195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9" name="矩形 8" descr="PowerPoint可编辑数学公式（OMML）；LaTeX源代码：\phi^i=\Gamma_\nu(o^i\mid z^i)"/>
              <p:cNvSpPr>
                <a:spLocks noRot="1" noChangeAspect="1" noMove="1" noResize="1" noEditPoints="1" noAdjustHandles="1" noChangeArrowheads="1" noChangeShapeType="1" noTextEdit="1"/>
              </p:cNvSpPr>
              <p:nvPr/>
            </p:nvSpPr>
            <p:spPr>
              <a:xfrm>
                <a:off x="3238500" y="1847850"/>
                <a:ext cx="8124825" cy="400050"/>
              </a:xfrm>
              <a:prstGeom prst="rect">
                <a:avLst/>
              </a:prstGeom>
              <a:blipFill rotWithShape="1">
                <a:blip r:embed="rId2"/>
                <a:stretch>
                  <a:fillRect b="-5873"/>
                </a:stretch>
              </a:blipFill>
              <a:ln w="0">
                <a:noFill/>
              </a:ln>
            </p:spPr>
            <p:txBody>
              <a:bodyPr/>
              <a:lstStyle/>
              <a:p>
                <a:r>
                  <a:rPr lang="zh-CN" altLang="en-US">
                    <a:noFill/>
                  </a:rPr>
                  <a:t> </a:t>
                </a:r>
              </a:p>
            </p:txBody>
          </p:sp>
        </mc:Fallback>
      </mc:AlternateContent>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低层参数网络读取车辆观测 oⁱ 与当前技能 zⁱ，输出目标函数和安全、目标约束中的参数 φⁱ。</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动作映射</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a^i=\mu^i(o^i\mid z^i;\phi^i)"/>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p>
                        <m:sSupPr>
                          <m:ctrlPr>
                            <a:rPr/>
                          </m:ctrlPr>
                        </m:sSupPr>
                        <m:e>
                          <m:r>
                            <a:rPr lang="en-US" sz="1900">
                              <a:solidFill>
                                <a:srgbClr val="06245B"/>
                              </a:solidFill>
                              <a:latin typeface="Cambria Math" panose="02040503050406030204"/>
                            </a:rPr>
                            <m:t>𝑎</m:t>
                          </m:r>
                        </m:e>
                        <m:sup>
                          <m:r>
                            <a:rPr lang="en-US" sz="1900">
                              <a:solidFill>
                                <a:srgbClr val="06245B"/>
                              </a:solidFill>
                              <a:latin typeface="Cambria Math" panose="02040503050406030204"/>
                            </a:rPr>
                            <m:t>𝑖</m:t>
                          </m:r>
                        </m:sup>
                      </m:sSup>
                      <m:r>
                        <a:rPr lang="en-US" sz="1900">
                          <a:solidFill>
                            <a:srgbClr val="06245B"/>
                          </a:solidFill>
                          <a:latin typeface="Cambria Math" panose="02040503050406030204"/>
                        </a:rPr>
                        <m:t>=</m:t>
                      </m:r>
                      <m:sSup>
                        <m:sSupPr>
                          <m:ctrlPr>
                            <a:rPr/>
                          </m:ctrlPr>
                        </m:sSupPr>
                        <m:e>
                          <m:r>
                            <a:rPr lang="en-US" sz="1900">
                              <a:solidFill>
                                <a:srgbClr val="06245B"/>
                              </a:solidFill>
                              <a:latin typeface="Cambria Math" panose="02040503050406030204"/>
                            </a:rPr>
                            <m:t>𝜇</m:t>
                          </m:r>
                        </m:e>
                        <m:sup>
                          <m:r>
                            <a:rPr lang="en-US" sz="1900">
                              <a:solidFill>
                                <a:srgbClr val="06245B"/>
                              </a:solidFill>
                              <a:latin typeface="Cambria Math" panose="02040503050406030204"/>
                            </a:rPr>
                            <m:t>𝑖</m:t>
                          </m:r>
                        </m:sup>
                      </m:sSup>
                      <m:r>
                        <a:rPr lang="en-US" sz="1900">
                          <a:solidFill>
                            <a:srgbClr val="06245B"/>
                          </a:solidFill>
                          <a:latin typeface="Cambria Math" panose="02040503050406030204"/>
                        </a:rPr>
                        <m:t>(</m:t>
                      </m:r>
                      <m:sSup>
                        <m:sSupPr>
                          <m:ctrlPr>
                            <a:rPr/>
                          </m:ctrlPr>
                        </m:sSupPr>
                        <m:e>
                          <m:r>
                            <a:rPr lang="en-US" sz="1900">
                              <a:solidFill>
                                <a:srgbClr val="06245B"/>
                              </a:solidFill>
                              <a:latin typeface="Cambria Math" panose="02040503050406030204"/>
                            </a:rPr>
                            <m:t>𝑜</m:t>
                          </m:r>
                        </m:e>
                        <m:sup>
                          <m:r>
                            <a:rPr lang="en-US" sz="1900">
                              <a:solidFill>
                                <a:srgbClr val="06245B"/>
                              </a:solidFill>
                              <a:latin typeface="Cambria Math" panose="02040503050406030204"/>
                            </a:rPr>
                            <m:t>𝑖</m:t>
                          </m:r>
                        </m:sup>
                      </m:sSup>
                      <m:r>
                        <a:rPr lang="en-US" sz="1900">
                          <a:solidFill>
                            <a:srgbClr val="06245B"/>
                          </a:solidFill>
                          <a:latin typeface="Cambria Math" panose="02040503050406030204"/>
                        </a:rPr>
                        <m:t>∣</m:t>
                      </m:r>
                      <m:sSup>
                        <m:sSupPr>
                          <m:ctrlPr>
                            <a:rPr/>
                          </m:ctrlPr>
                        </m:sSupPr>
                        <m:e>
                          <m:r>
                            <a:rPr lang="en-US" sz="1900">
                              <a:solidFill>
                                <a:srgbClr val="06245B"/>
                              </a:solidFill>
                              <a:latin typeface="Cambria Math" panose="02040503050406030204"/>
                            </a:rPr>
                            <m:t>𝑧</m:t>
                          </m:r>
                        </m:e>
                        <m:sup>
                          <m:r>
                            <a:rPr lang="en-US" sz="1900">
                              <a:solidFill>
                                <a:srgbClr val="06245B"/>
                              </a:solidFill>
                              <a:latin typeface="Cambria Math" panose="02040503050406030204"/>
                            </a:rPr>
                            <m:t>𝑖</m:t>
                          </m:r>
                        </m:sup>
                      </m:sSup>
                      <m:r>
                        <a:rPr lang="en-US" sz="1900">
                          <a:solidFill>
                            <a:srgbClr val="06245B"/>
                          </a:solidFill>
                          <a:latin typeface="Cambria Math" panose="02040503050406030204"/>
                        </a:rPr>
                        <m:t>;</m:t>
                      </m:r>
                      <m:sSup>
                        <m:sSupPr>
                          <m:ctrlPr>
                            <a:rPr/>
                          </m:ctrlPr>
                        </m:sSupPr>
                        <m:e>
                          <m:r>
                            <a:rPr lang="en-US" sz="1900">
                              <a:solidFill>
                                <a:srgbClr val="06245B"/>
                              </a:solidFill>
                              <a:latin typeface="Cambria Math" panose="02040503050406030204"/>
                            </a:rPr>
                            <m:t>𝜑</m:t>
                          </m:r>
                        </m:e>
                        <m:sup>
                          <m:r>
                            <a:rPr lang="en-US" sz="1900">
                              <a:solidFill>
                                <a:srgbClr val="06245B"/>
                              </a:solidFill>
                              <a:latin typeface="Cambria Math" panose="02040503050406030204"/>
                            </a:rPr>
                            <m:t>𝑖</m:t>
                          </m:r>
                        </m:sup>
                      </m:sSup>
                      <m:r>
                        <a:rPr lang="en-US" sz="190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a^i=\mu^i(o^i\mid z^i;\phi^i)"/>
              <p:cNvSpPr>
                <a:spLocks noRot="1" noChangeAspect="1" noMove="1" noResize="1" noEditPoints="1" noAdjustHandles="1" noChangeArrowheads="1" noChangeShapeType="1" noTextEdit="1"/>
              </p:cNvSpPr>
              <p:nvPr/>
            </p:nvSpPr>
            <p:spPr>
              <a:xfrm>
                <a:off x="3238500" y="3038475"/>
                <a:ext cx="8124825" cy="400050"/>
              </a:xfrm>
              <a:prstGeom prst="rect">
                <a:avLst/>
              </a:prstGeom>
              <a:blipFill rotWithShape="1">
                <a:blip r:embed="rId3"/>
                <a:stretch>
                  <a:fillRect b="-5873"/>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动作由带约束的二次规划求解。低层学习目标函数与约束参数，使同一技能适应不同交通状态。</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梯度回传</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5" name="矩形 14" descr="PowerPoint可编辑数学公式（OMML）；LaTeX源代码：\frac{\partial a}{\partial\phi}"/>
              <p:cNvSpPr>
                <a:spLocks noGrp="1"/>
              </p:cNvSpPr>
              <p:nvPr/>
            </p:nvSpPr>
            <p:spPr>
              <a:xfrm>
                <a:off x="3236976" y="4160520"/>
                <a:ext cx="8129016" cy="521208"/>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f>
                        <m:fPr>
                          <m:ctrlPr>
                            <a:rPr/>
                          </m:ctrlPr>
                        </m:fPr>
                        <m:num>
                          <m:r>
                            <a:rPr lang="en-US" sz="1870">
                              <a:solidFill>
                                <a:srgbClr val="06245B"/>
                              </a:solidFill>
                              <a:latin typeface="Cambria Math" panose="02040503050406030204"/>
                            </a:rPr>
                            <m:t>𝜕</m:t>
                          </m:r>
                          <m:r>
                            <a:rPr lang="en-US" sz="1870">
                              <a:solidFill>
                                <a:srgbClr val="06245B"/>
                              </a:solidFill>
                              <a:latin typeface="Cambria Math" panose="02040503050406030204"/>
                            </a:rPr>
                            <m:t>𝑎</m:t>
                          </m:r>
                        </m:num>
                        <m:den>
                          <m:r>
                            <a:rPr lang="en-US" sz="1870">
                              <a:solidFill>
                                <a:srgbClr val="06245B"/>
                              </a:solidFill>
                              <a:latin typeface="Cambria Math" panose="02040503050406030204"/>
                            </a:rPr>
                            <m:t>𝜕</m:t>
                          </m:r>
                          <m:r>
                            <a:rPr lang="en-US" sz="1870">
                              <a:solidFill>
                                <a:srgbClr val="06245B"/>
                              </a:solidFill>
                              <a:latin typeface="Cambria Math" panose="02040503050406030204"/>
                            </a:rPr>
                            <m:t>𝜑</m:t>
                          </m:r>
                        </m:den>
                      </m:f>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5" name="矩形 14" descr="PowerPoint可编辑数学公式（OMML）；LaTeX源代码：\frac{\partial a}{\partial\phi}"/>
              <p:cNvSpPr>
                <a:spLocks noRot="1" noChangeAspect="1" noMove="1" noResize="1" noEditPoints="1" noAdjustHandles="1" noChangeArrowheads="1" noChangeShapeType="1" noTextEdit="1"/>
              </p:cNvSpPr>
              <p:nvPr/>
            </p:nvSpPr>
            <p:spPr>
              <a:xfrm>
                <a:off x="3236976" y="4160520"/>
                <a:ext cx="8129016" cy="521208"/>
              </a:xfrm>
              <a:prstGeom prst="rect">
                <a:avLst/>
              </a:prstGeom>
              <a:blipFill rotWithShape="1">
                <a:blip r:embed="rId4"/>
                <a:stretch>
                  <a:fillRect l="-5" r="2" b="-18299"/>
                </a:stretch>
              </a:blipFill>
              <a:ln w="0">
                <a:noFill/>
              </a:ln>
            </p:spPr>
            <p:txBody>
              <a:bodyPr/>
              <a:lstStyle/>
              <a:p>
                <a:r>
                  <a:rPr lang="zh-CN" altLang="en-US">
                    <a:noFill/>
                  </a:rPr>
                  <a:t> </a:t>
                </a:r>
              </a:p>
            </p:txBody>
          </p:sp>
        </mc:Fallback>
      </mc:AlternateContent>
      <p:sp>
        <p:nvSpPr>
          <p:cNvPr id="16" name="矩形 15"/>
          <p:cNvSpPr>
            <a:spLocks noGrp="1"/>
          </p:cNvSpPr>
          <p:nvPr/>
        </p:nvSpPr>
        <p:spPr>
          <a:xfrm>
            <a:off x="3236976" y="4745736"/>
            <a:ext cx="8092440" cy="566928"/>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借助卡罗什—库恩—塔克条件（KKT）求动作对参数的梯度，再用技能奖励更新网络参数。</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可学习参数与显式安全约束结合，是论文区别于固定安全控制器和普通动作网络的关键。</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上下层奖励对齐：技能执行服务于整体协作</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HIGH–LOW REWARD ALIGNMENT</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16</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技能奖励</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每辆车先学会执行当前技能</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低层的内在奖励衡量跟踪、速度或换道目标完成情况，但局部技能成功还需服务于多车整体通行。</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任务反馈</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tilde r_L^i=(1-\lambda)r_L^i+\frac{\lambda}{N}A_H(s,z)"/>
              <p:cNvSpPr>
                <a:spLocks noGrp="1"/>
              </p:cNvSpPr>
              <p:nvPr/>
            </p:nvSpPr>
            <p:spPr>
              <a:xfrm>
                <a:off x="3236976" y="2990088"/>
                <a:ext cx="8129016" cy="539496"/>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Sup>
                        <m:sSubSupPr>
                          <m:ctrlPr>
                            <a:rPr/>
                          </m:ctrlPr>
                        </m:sSubSupPr>
                        <m:e>
                          <m:acc>
                            <m:accPr>
                              <m:chr m:val="˜"/>
                              <m:ctrlPr>
                                <a:rPr/>
                              </m:ctrlPr>
                            </m:accPr>
                            <m:e>
                              <m:r>
                                <a:rPr lang="en-US" sz="1830">
                                  <a:solidFill>
                                    <a:srgbClr val="06245B"/>
                                  </a:solidFill>
                                  <a:latin typeface="Cambria Math" panose="02040503050406030204"/>
                                </a:rPr>
                                <m:t>𝑟</m:t>
                              </m:r>
                            </m:e>
                          </m:acc>
                        </m:e>
                        <m:sub>
                          <m:r>
                            <a:rPr lang="en-US" sz="1830">
                              <a:solidFill>
                                <a:srgbClr val="06245B"/>
                              </a:solidFill>
                              <a:latin typeface="Cambria Math" panose="02040503050406030204"/>
                            </a:rPr>
                            <m:t>𝐿</m:t>
                          </m:r>
                        </m:sub>
                        <m:sup>
                          <m:r>
                            <a:rPr lang="en-US" sz="1830">
                              <a:solidFill>
                                <a:srgbClr val="06245B"/>
                              </a:solidFill>
                              <a:latin typeface="Cambria Math" panose="02040503050406030204"/>
                            </a:rPr>
                            <m:t>𝑖</m:t>
                          </m:r>
                        </m:sup>
                      </m:sSubSup>
                      <m:r>
                        <a:rPr lang="en-US" sz="1830">
                          <a:solidFill>
                            <a:srgbClr val="06245B"/>
                          </a:solidFill>
                          <a:latin typeface="Cambria Math" panose="02040503050406030204"/>
                        </a:rPr>
                        <m:t>=</m:t>
                      </m:r>
                      <m:r>
                        <a:rPr lang="en-US" sz="1830">
                          <a:solidFill>
                            <a:srgbClr val="06245B"/>
                          </a:solidFill>
                          <a:latin typeface="Cambria Math" panose="02040503050406030204"/>
                        </a:rPr>
                        <m:t>(</m:t>
                      </m:r>
                      <m:r>
                        <a:rPr lang="en-US" sz="1830">
                          <a:solidFill>
                            <a:srgbClr val="06245B"/>
                          </a:solidFill>
                          <a:latin typeface="Cambria Math" panose="02040503050406030204"/>
                        </a:rPr>
                        <m:t>1</m:t>
                      </m:r>
                      <m:r>
                        <a:rPr lang="en-US" sz="1830">
                          <a:solidFill>
                            <a:srgbClr val="06245B"/>
                          </a:solidFill>
                          <a:latin typeface="Cambria Math" panose="02040503050406030204"/>
                        </a:rPr>
                        <m:t>−</m:t>
                      </m:r>
                      <m:r>
                        <a:rPr lang="en-US" sz="1830">
                          <a:solidFill>
                            <a:srgbClr val="06245B"/>
                          </a:solidFill>
                          <a:latin typeface="Cambria Math" panose="02040503050406030204"/>
                        </a:rPr>
                        <m:t>𝜆</m:t>
                      </m:r>
                      <m:r>
                        <a:rPr lang="en-US" sz="1830">
                          <a:solidFill>
                            <a:srgbClr val="06245B"/>
                          </a:solidFill>
                          <a:latin typeface="Cambria Math" panose="02040503050406030204"/>
                        </a:rPr>
                        <m:t>)</m:t>
                      </m:r>
                      <m:sSubSup>
                        <m:sSubSupPr>
                          <m:ctrlPr>
                            <a:rPr/>
                          </m:ctrlPr>
                        </m:sSubSupPr>
                        <m:e>
                          <m:r>
                            <a:rPr lang="en-US" sz="1830">
                              <a:solidFill>
                                <a:srgbClr val="06245B"/>
                              </a:solidFill>
                              <a:latin typeface="Cambria Math" panose="02040503050406030204"/>
                            </a:rPr>
                            <m:t>𝑟</m:t>
                          </m:r>
                        </m:e>
                        <m:sub>
                          <m:r>
                            <a:rPr lang="en-US" sz="1830">
                              <a:solidFill>
                                <a:srgbClr val="06245B"/>
                              </a:solidFill>
                              <a:latin typeface="Cambria Math" panose="02040503050406030204"/>
                            </a:rPr>
                            <m:t>𝐿</m:t>
                          </m:r>
                        </m:sub>
                        <m:sup>
                          <m:r>
                            <a:rPr lang="en-US" sz="1830">
                              <a:solidFill>
                                <a:srgbClr val="06245B"/>
                              </a:solidFill>
                              <a:latin typeface="Cambria Math" panose="02040503050406030204"/>
                            </a:rPr>
                            <m:t>𝑖</m:t>
                          </m:r>
                        </m:sup>
                      </m:sSubSup>
                      <m:r>
                        <a:rPr lang="en-US" sz="1830">
                          <a:solidFill>
                            <a:srgbClr val="06245B"/>
                          </a:solidFill>
                          <a:latin typeface="Cambria Math" panose="02040503050406030204"/>
                        </a:rPr>
                        <m:t>+</m:t>
                      </m:r>
                      <m:f>
                        <m:fPr>
                          <m:ctrlPr>
                            <a:rPr/>
                          </m:ctrlPr>
                        </m:fPr>
                        <m:num>
                          <m:r>
                            <a:rPr lang="en-US" sz="1830">
                              <a:solidFill>
                                <a:srgbClr val="06245B"/>
                              </a:solidFill>
                              <a:latin typeface="Cambria Math" panose="02040503050406030204"/>
                            </a:rPr>
                            <m:t>𝜆</m:t>
                          </m:r>
                        </m:num>
                        <m:den>
                          <m:r>
                            <a:rPr lang="en-US" sz="1830">
                              <a:solidFill>
                                <a:srgbClr val="06245B"/>
                              </a:solidFill>
                              <a:latin typeface="Cambria Math" panose="02040503050406030204"/>
                            </a:rPr>
                            <m:t>𝑁</m:t>
                          </m:r>
                        </m:den>
                      </m:f>
                      <m:sSub>
                        <m:sSubPr>
                          <m:ctrlPr>
                            <a:rPr/>
                          </m:ctrlPr>
                        </m:sSubPr>
                        <m:e>
                          <m:r>
                            <a:rPr lang="en-US" sz="1830">
                              <a:solidFill>
                                <a:srgbClr val="06245B"/>
                              </a:solidFill>
                              <a:latin typeface="Cambria Math" panose="02040503050406030204"/>
                            </a:rPr>
                            <m:t>𝐴</m:t>
                          </m:r>
                        </m:e>
                        <m:sub>
                          <m:r>
                            <a:rPr lang="en-US" sz="1830">
                              <a:solidFill>
                                <a:srgbClr val="06245B"/>
                              </a:solidFill>
                              <a:latin typeface="Cambria Math" panose="02040503050406030204"/>
                            </a:rPr>
                            <m:t>𝐻</m:t>
                          </m:r>
                        </m:sub>
                      </m:sSub>
                      <m:r>
                        <a:rPr lang="en-US" sz="1830">
                          <a:solidFill>
                            <a:srgbClr val="06245B"/>
                          </a:solidFill>
                          <a:latin typeface="Cambria Math" panose="02040503050406030204"/>
                        </a:rPr>
                        <m:t>(</m:t>
                      </m:r>
                      <m:r>
                        <a:rPr lang="en-US" sz="1830">
                          <a:solidFill>
                            <a:srgbClr val="06245B"/>
                          </a:solidFill>
                          <a:latin typeface="Cambria Math" panose="02040503050406030204"/>
                        </a:rPr>
                        <m:t>𝑠</m:t>
                      </m:r>
                      <m:r>
                        <a:rPr lang="en-US" sz="1830">
                          <a:solidFill>
                            <a:srgbClr val="06245B"/>
                          </a:solidFill>
                          <a:latin typeface="Cambria Math" panose="02040503050406030204"/>
                        </a:rPr>
                        <m:t>,</m:t>
                      </m:r>
                      <m:r>
                        <a:rPr lang="en-US" sz="1830">
                          <a:solidFill>
                            <a:srgbClr val="06245B"/>
                          </a:solidFill>
                          <a:latin typeface="Cambria Math" panose="02040503050406030204"/>
                        </a:rPr>
                        <m:t>𝑧</m:t>
                      </m:r>
                      <m:r>
                        <a:rPr lang="en-US" sz="183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tilde r_L^i=(1-\lambda)r_L^i+\frac{\lambda}{N}A_H(s,z)"/>
              <p:cNvSpPr>
                <a:spLocks noRot="1" noChangeAspect="1" noMove="1" noResize="1" noEditPoints="1" noAdjustHandles="1" noChangeArrowheads="1" noChangeShapeType="1" noTextEdit="1"/>
              </p:cNvSpPr>
              <p:nvPr/>
            </p:nvSpPr>
            <p:spPr>
              <a:xfrm>
                <a:off x="3236976" y="2990088"/>
                <a:ext cx="8129016" cy="539496"/>
              </a:xfrm>
              <a:prstGeom prst="rect">
                <a:avLst/>
              </a:prstGeom>
              <a:blipFill rotWithShape="1">
                <a:blip r:embed="rId2"/>
                <a:stretch>
                  <a:fillRect l="-5" t="-94" r="2" b="-4190"/>
                </a:stretch>
              </a:blipFill>
              <a:ln w="0">
                <a:noFill/>
              </a:ln>
            </p:spPr>
            <p:txBody>
              <a:bodyPr/>
              <a:lstStyle/>
              <a:p>
                <a:r>
                  <a:rPr lang="zh-CN" altLang="en-US">
                    <a:noFill/>
                  </a:rPr>
                  <a:t> </a:t>
                </a:r>
              </a:p>
            </p:txBody>
          </p:sp>
        </mc:Fallback>
      </mc:AlternateContent>
      <p:sp>
        <p:nvSpPr>
          <p:cNvPr id="13" name="矩形 12"/>
          <p:cNvSpPr>
            <a:spLocks noGrp="1"/>
          </p:cNvSpPr>
          <p:nvPr/>
        </p:nvSpPr>
        <p:spPr>
          <a:xfrm>
            <a:off x="3236976" y="3584448"/>
            <a:ext cx="8092440" cy="576072"/>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高层优势 A_H 衡量本次联合技能选择相对平均水平的贡献；将其分配给低层，帮助技能适应整体任务。</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平衡权重</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5" name="矩形 14" descr="PowerPoint可编辑数学公式（OMML）；LaTeX源代码：0\leq\lambda\leq1"/>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r>
                        <a:rPr lang="en-US" sz="1950">
                          <a:solidFill>
                            <a:srgbClr val="06245B"/>
                          </a:solidFill>
                          <a:latin typeface="Cambria Math" panose="02040503050406030204"/>
                        </a:rPr>
                        <m:t>0</m:t>
                      </m:r>
                      <m:r>
                        <a:rPr lang="en-US" sz="1950">
                          <a:solidFill>
                            <a:srgbClr val="06245B"/>
                          </a:solidFill>
                          <a:latin typeface="Cambria Math" panose="02040503050406030204"/>
                        </a:rPr>
                        <m:t>≤</m:t>
                      </m:r>
                      <m:r>
                        <a:rPr lang="en-US" sz="1950">
                          <a:solidFill>
                            <a:srgbClr val="06245B"/>
                          </a:solidFill>
                          <a:latin typeface="Cambria Math" panose="02040503050406030204"/>
                        </a:rPr>
                        <m:t>𝜆</m:t>
                      </m:r>
                      <m:r>
                        <a:rPr lang="en-US" sz="1950">
                          <a:solidFill>
                            <a:srgbClr val="06245B"/>
                          </a:solidFill>
                          <a:latin typeface="Cambria Math" panose="02040503050406030204"/>
                        </a:rPr>
                        <m:t>≤</m:t>
                      </m:r>
                      <m:r>
                        <a:rPr lang="en-US" sz="1950">
                          <a:solidFill>
                            <a:srgbClr val="06245B"/>
                          </a:solidFill>
                          <a:latin typeface="Cambria Math" panose="02040503050406030204"/>
                        </a:rPr>
                        <m:t>1</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5" name="矩形 14" descr="PowerPoint可编辑数学公式（OMML）；LaTeX源代码：0\leq\lambda\leq1"/>
              <p:cNvSpPr>
                <a:spLocks noRot="1" noChangeAspect="1" noMove="1" noResize="1" noEditPoints="1" noAdjustHandles="1" noChangeArrowheads="1" noChangeShapeType="1" noTextEdit="1"/>
              </p:cNvSpPr>
              <p:nvPr/>
            </p:nvSpPr>
            <p:spPr>
              <a:xfrm>
                <a:off x="3238500" y="4229100"/>
                <a:ext cx="8124825" cy="400050"/>
              </a:xfrm>
              <a:prstGeom prst="rect">
                <a:avLst/>
              </a:prstGeom>
              <a:blipFill rotWithShape="1">
                <a:blip r:embed="rId3"/>
                <a:stretch>
                  <a:fillRect/>
                </a:stretch>
              </a:blipFill>
              <a:ln w="0">
                <a:noFill/>
              </a:ln>
            </p:spPr>
            <p:txBody>
              <a:bodyPr/>
              <a:lstStyle/>
              <a:p>
                <a:r>
                  <a:rPr lang="zh-CN" altLang="en-US">
                    <a:noFill/>
                  </a:rPr>
                  <a:t> </a:t>
                </a:r>
              </a:p>
            </p:txBody>
          </p:sp>
        </mc:Fallback>
      </mc:AlternateContent>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λ 控制技能目标和联合任务反馈的比重。论文式（31）是近似目标关系，不是严格的性能改进定理。</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低层仍以技能执行为基础，同时利用高层反馈改善协作；算法1用同一批轨迹交替更新两层参数。</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02</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算法：从技能选择到双层参数更新</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END-TO-END TRAINING LOOP</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17</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① 选技能</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1900" b="1">
                <a:solidFill>
                  <a:srgbClr val="06245B"/>
                </a:solidFill>
                <a:latin typeface="微软雅黑" panose="020B0503020204020204" charset="-122"/>
                <a:ea typeface="微软雅黑" panose="020B0503020204020204" charset="-122"/>
                <a:cs typeface="微软雅黑" panose="020B0503020204020204" charset="-122"/>
              </a:rPr>
              <a:t>初始化高、低层网络；高层先为每车选技能</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θ 表示高层策略参数，ν 表示低层参数网络。每个回合先给各车采样初始技能。</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000" b="1">
                <a:solidFill>
                  <a:srgbClr val="1F4C91"/>
                </a:solidFill>
                <a:latin typeface="微软雅黑" panose="020B0503020204020204" charset="-122"/>
                <a:ea typeface="微软雅黑" panose="020B0503020204020204" charset="-122"/>
                <a:cs typeface="微软雅黑" panose="020B0503020204020204" charset="-122"/>
              </a:rPr>
              <a:t>② 逐步控制</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2" name="矩形 11" descr="PowerPoint可编辑数学公式（OMML）；LaTeX源代码：\phi_t^i=\Gamma_\nu(o_t^i\mid z^i),\quad a_t^i=\mu^i(o_t^i\mid z^i;\phi_t^i)"/>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14:m>
                  <m:oMathPara xmlns:m="http://schemas.openxmlformats.org/officeDocument/2006/math">
                    <m:oMathParaPr>
                      <m:jc m:val="left"/>
                    </m:oMathParaPr>
                    <m:oMath xmlns:m="http://schemas.openxmlformats.org/officeDocument/2006/math">
                      <m:sSubSup>
                        <m:sSubSupPr>
                          <m:ctrlPr>
                            <a:rPr/>
                          </m:ctrlPr>
                        </m:sSubSupPr>
                        <m:e>
                          <m:r>
                            <a:rPr lang="en-US" sz="1740">
                              <a:solidFill>
                                <a:srgbClr val="06245B"/>
                              </a:solidFill>
                              <a:latin typeface="Cambria Math" panose="02040503050406030204"/>
                            </a:rPr>
                            <m:t>𝜑</m:t>
                          </m:r>
                        </m:e>
                        <m:sub>
                          <m:r>
                            <a:rPr lang="en-US" sz="1740">
                              <a:solidFill>
                                <a:srgbClr val="06245B"/>
                              </a:solidFill>
                              <a:latin typeface="Cambria Math" panose="02040503050406030204"/>
                            </a:rPr>
                            <m:t>𝑡</m:t>
                          </m:r>
                        </m:sub>
                        <m:sup>
                          <m:r>
                            <a:rPr lang="en-US" sz="1740">
                              <a:solidFill>
                                <a:srgbClr val="06245B"/>
                              </a:solidFill>
                              <a:latin typeface="Cambria Math" panose="02040503050406030204"/>
                            </a:rPr>
                            <m:t>𝑖</m:t>
                          </m:r>
                        </m:sup>
                      </m:sSubSup>
                      <m:r>
                        <a:rPr lang="en-US" sz="1740">
                          <a:solidFill>
                            <a:srgbClr val="06245B"/>
                          </a:solidFill>
                          <a:latin typeface="Cambria Math" panose="02040503050406030204"/>
                        </a:rPr>
                        <m:t>=</m:t>
                      </m:r>
                      <m:sSub>
                        <m:sSubPr>
                          <m:ctrlPr>
                            <a:rPr/>
                          </m:ctrlPr>
                        </m:sSubPr>
                        <m:e>
                          <m:r>
                            <a:rPr lang="en-US" sz="1740">
                              <a:solidFill>
                                <a:srgbClr val="06245B"/>
                              </a:solidFill>
                              <a:latin typeface="Cambria Math" panose="02040503050406030204"/>
                            </a:rPr>
                            <m:t>𝛤</m:t>
                          </m:r>
                        </m:e>
                        <m:sub>
                          <m:r>
                            <a:rPr lang="en-US" sz="1740">
                              <a:solidFill>
                                <a:srgbClr val="06245B"/>
                              </a:solidFill>
                              <a:latin typeface="Cambria Math" panose="02040503050406030204"/>
                            </a:rPr>
                            <m:t>𝜈</m:t>
                          </m:r>
                        </m:sub>
                      </m:sSub>
                      <m:r>
                        <a:rPr lang="en-US" sz="1740">
                          <a:solidFill>
                            <a:srgbClr val="06245B"/>
                          </a:solidFill>
                          <a:latin typeface="Cambria Math" panose="02040503050406030204"/>
                        </a:rPr>
                        <m:t>(</m:t>
                      </m:r>
                      <m:sSubSup>
                        <m:sSubSupPr>
                          <m:ctrlPr>
                            <a:rPr/>
                          </m:ctrlPr>
                        </m:sSubSupPr>
                        <m:e>
                          <m:r>
                            <a:rPr lang="en-US" sz="1740">
                              <a:solidFill>
                                <a:srgbClr val="06245B"/>
                              </a:solidFill>
                              <a:latin typeface="Cambria Math" panose="02040503050406030204"/>
                            </a:rPr>
                            <m:t>𝑜</m:t>
                          </m:r>
                        </m:e>
                        <m:sub>
                          <m:r>
                            <a:rPr lang="en-US" sz="1740">
                              <a:solidFill>
                                <a:srgbClr val="06245B"/>
                              </a:solidFill>
                              <a:latin typeface="Cambria Math" panose="02040503050406030204"/>
                            </a:rPr>
                            <m:t>𝑡</m:t>
                          </m:r>
                        </m:sub>
                        <m:sup>
                          <m:r>
                            <a:rPr lang="en-US" sz="1740">
                              <a:solidFill>
                                <a:srgbClr val="06245B"/>
                              </a:solidFill>
                              <a:latin typeface="Cambria Math" panose="02040503050406030204"/>
                            </a:rPr>
                            <m:t>𝑖</m:t>
                          </m:r>
                        </m:sup>
                      </m:sSubSup>
                      <m:r>
                        <a:rPr lang="en-US" sz="1740">
                          <a:solidFill>
                            <a:srgbClr val="06245B"/>
                          </a:solidFill>
                          <a:latin typeface="Cambria Math" panose="02040503050406030204"/>
                        </a:rPr>
                        <m:t>∣</m:t>
                      </m:r>
                      <m:sSup>
                        <m:sSupPr>
                          <m:ctrlPr>
                            <a:rPr/>
                          </m:ctrlPr>
                        </m:sSupPr>
                        <m:e>
                          <m:r>
                            <a:rPr lang="en-US" sz="1740">
                              <a:solidFill>
                                <a:srgbClr val="06245B"/>
                              </a:solidFill>
                              <a:latin typeface="Cambria Math" panose="02040503050406030204"/>
                            </a:rPr>
                            <m:t>𝑧</m:t>
                          </m:r>
                        </m:e>
                        <m:sup>
                          <m:r>
                            <a:rPr lang="en-US" sz="1740">
                              <a:solidFill>
                                <a:srgbClr val="06245B"/>
                              </a:solidFill>
                              <a:latin typeface="Cambria Math" panose="02040503050406030204"/>
                            </a:rPr>
                            <m:t>𝑖</m:t>
                          </m:r>
                        </m:sup>
                      </m:sSup>
                      <m:r>
                        <a:rPr lang="en-US" sz="1740">
                          <a:solidFill>
                            <a:srgbClr val="06245B"/>
                          </a:solidFill>
                          <a:latin typeface="Cambria Math" panose="02040503050406030204"/>
                        </a:rPr>
                        <m:t>)</m:t>
                      </m:r>
                      <m:r>
                        <a:rPr lang="en-US" sz="1740">
                          <a:solidFill>
                            <a:srgbClr val="06245B"/>
                          </a:solidFill>
                          <a:latin typeface="Cambria Math" panose="02040503050406030204"/>
                        </a:rPr>
                        <m:t>,</m:t>
                      </m:r>
                      <m:r>
                        <a:rPr lang="en-US" sz="1740">
                          <a:solidFill>
                            <a:srgbClr val="06245B"/>
                          </a:solidFill>
                          <a:latin typeface="Cambria Math" panose="02040503050406030204"/>
                        </a:rPr>
                        <m:t> </m:t>
                      </m:r>
                      <m:sSubSup>
                        <m:sSubSupPr>
                          <m:ctrlPr>
                            <a:rPr/>
                          </m:ctrlPr>
                        </m:sSubSupPr>
                        <m:e>
                          <m:r>
                            <a:rPr lang="en-US" sz="1740">
                              <a:solidFill>
                                <a:srgbClr val="06245B"/>
                              </a:solidFill>
                              <a:latin typeface="Cambria Math" panose="02040503050406030204"/>
                            </a:rPr>
                            <m:t>𝑎</m:t>
                          </m:r>
                        </m:e>
                        <m:sub>
                          <m:r>
                            <a:rPr lang="en-US" sz="1740">
                              <a:solidFill>
                                <a:srgbClr val="06245B"/>
                              </a:solidFill>
                              <a:latin typeface="Cambria Math" panose="02040503050406030204"/>
                            </a:rPr>
                            <m:t>𝑡</m:t>
                          </m:r>
                        </m:sub>
                        <m:sup>
                          <m:r>
                            <a:rPr lang="en-US" sz="1740">
                              <a:solidFill>
                                <a:srgbClr val="06245B"/>
                              </a:solidFill>
                              <a:latin typeface="Cambria Math" panose="02040503050406030204"/>
                            </a:rPr>
                            <m:t>𝑖</m:t>
                          </m:r>
                        </m:sup>
                      </m:sSubSup>
                      <m:r>
                        <a:rPr lang="en-US" sz="1740">
                          <a:solidFill>
                            <a:srgbClr val="06245B"/>
                          </a:solidFill>
                          <a:latin typeface="Cambria Math" panose="02040503050406030204"/>
                        </a:rPr>
                        <m:t>=</m:t>
                      </m:r>
                      <m:sSup>
                        <m:sSupPr>
                          <m:ctrlPr>
                            <a:rPr/>
                          </m:ctrlPr>
                        </m:sSupPr>
                        <m:e>
                          <m:r>
                            <a:rPr lang="en-US" sz="1740">
                              <a:solidFill>
                                <a:srgbClr val="06245B"/>
                              </a:solidFill>
                              <a:latin typeface="Cambria Math" panose="02040503050406030204"/>
                            </a:rPr>
                            <m:t>𝜇</m:t>
                          </m:r>
                        </m:e>
                        <m:sup>
                          <m:r>
                            <a:rPr lang="en-US" sz="1740">
                              <a:solidFill>
                                <a:srgbClr val="06245B"/>
                              </a:solidFill>
                              <a:latin typeface="Cambria Math" panose="02040503050406030204"/>
                            </a:rPr>
                            <m:t>𝑖</m:t>
                          </m:r>
                        </m:sup>
                      </m:sSup>
                      <m:r>
                        <a:rPr lang="en-US" sz="1740">
                          <a:solidFill>
                            <a:srgbClr val="06245B"/>
                          </a:solidFill>
                          <a:latin typeface="Cambria Math" panose="02040503050406030204"/>
                        </a:rPr>
                        <m:t>(</m:t>
                      </m:r>
                      <m:sSubSup>
                        <m:sSubSupPr>
                          <m:ctrlPr>
                            <a:rPr/>
                          </m:ctrlPr>
                        </m:sSubSupPr>
                        <m:e>
                          <m:r>
                            <a:rPr lang="en-US" sz="1740">
                              <a:solidFill>
                                <a:srgbClr val="06245B"/>
                              </a:solidFill>
                              <a:latin typeface="Cambria Math" panose="02040503050406030204"/>
                            </a:rPr>
                            <m:t>𝑜</m:t>
                          </m:r>
                        </m:e>
                        <m:sub>
                          <m:r>
                            <a:rPr lang="en-US" sz="1740">
                              <a:solidFill>
                                <a:srgbClr val="06245B"/>
                              </a:solidFill>
                              <a:latin typeface="Cambria Math" panose="02040503050406030204"/>
                            </a:rPr>
                            <m:t>𝑡</m:t>
                          </m:r>
                        </m:sub>
                        <m:sup>
                          <m:r>
                            <a:rPr lang="en-US" sz="1740">
                              <a:solidFill>
                                <a:srgbClr val="06245B"/>
                              </a:solidFill>
                              <a:latin typeface="Cambria Math" panose="02040503050406030204"/>
                            </a:rPr>
                            <m:t>𝑖</m:t>
                          </m:r>
                        </m:sup>
                      </m:sSubSup>
                      <m:r>
                        <a:rPr lang="en-US" sz="1740">
                          <a:solidFill>
                            <a:srgbClr val="06245B"/>
                          </a:solidFill>
                          <a:latin typeface="Cambria Math" panose="02040503050406030204"/>
                        </a:rPr>
                        <m:t>∣</m:t>
                      </m:r>
                      <m:sSup>
                        <m:sSupPr>
                          <m:ctrlPr>
                            <a:rPr/>
                          </m:ctrlPr>
                        </m:sSupPr>
                        <m:e>
                          <m:r>
                            <a:rPr lang="en-US" sz="1740">
                              <a:solidFill>
                                <a:srgbClr val="06245B"/>
                              </a:solidFill>
                              <a:latin typeface="Cambria Math" panose="02040503050406030204"/>
                            </a:rPr>
                            <m:t>𝑧</m:t>
                          </m:r>
                        </m:e>
                        <m:sup>
                          <m:r>
                            <a:rPr lang="en-US" sz="1740">
                              <a:solidFill>
                                <a:srgbClr val="06245B"/>
                              </a:solidFill>
                              <a:latin typeface="Cambria Math" panose="02040503050406030204"/>
                            </a:rPr>
                            <m:t>𝑖</m:t>
                          </m:r>
                        </m:sup>
                      </m:sSup>
                      <m:r>
                        <a:rPr lang="en-US" sz="1740">
                          <a:solidFill>
                            <a:srgbClr val="06245B"/>
                          </a:solidFill>
                          <a:latin typeface="Cambria Math" panose="02040503050406030204"/>
                        </a:rPr>
                        <m:t>;</m:t>
                      </m:r>
                      <m:sSubSup>
                        <m:sSubSupPr>
                          <m:ctrlPr>
                            <a:rPr/>
                          </m:ctrlPr>
                        </m:sSubSupPr>
                        <m:e>
                          <m:r>
                            <a:rPr lang="en-US" sz="1740">
                              <a:solidFill>
                                <a:srgbClr val="06245B"/>
                              </a:solidFill>
                              <a:latin typeface="Cambria Math" panose="02040503050406030204"/>
                            </a:rPr>
                            <m:t>𝜑</m:t>
                          </m:r>
                        </m:e>
                        <m:sub>
                          <m:r>
                            <a:rPr lang="en-US" sz="1740">
                              <a:solidFill>
                                <a:srgbClr val="06245B"/>
                              </a:solidFill>
                              <a:latin typeface="Cambria Math" panose="02040503050406030204"/>
                            </a:rPr>
                            <m:t>𝑡</m:t>
                          </m:r>
                        </m:sub>
                        <m:sup>
                          <m:r>
                            <a:rPr lang="en-US" sz="1740">
                              <a:solidFill>
                                <a:srgbClr val="06245B"/>
                              </a:solidFill>
                              <a:latin typeface="Cambria Math" panose="02040503050406030204"/>
                            </a:rPr>
                            <m:t>𝑖</m:t>
                          </m:r>
                        </m:sup>
                      </m:sSubSup>
                      <m:r>
                        <a:rPr lang="en-US" sz="1740">
                          <a:solidFill>
                            <a:srgbClr val="06245B"/>
                          </a:solidFill>
                          <a:latin typeface="Cambria Math" panose="02040503050406030204"/>
                        </a:rPr>
                        <m:t>)</m:t>
                      </m:r>
                    </m:oMath>
                  </m:oMathPara>
                </a14:m>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mc:Choice>
        <mc:Fallback>
          <p:sp>
            <p:nvSpPr>
              <p:cNvPr id="12" name="矩形 11" descr="PowerPoint可编辑数学公式（OMML）；LaTeX源代码：\phi_t^i=\Gamma_\nu(o_t^i\mid z^i),\quad a_t^i=\mu^i(o_t^i\mid z^i;\phi_t^i)"/>
              <p:cNvSpPr>
                <a:spLocks noRot="1" noChangeAspect="1" noMove="1" noResize="1" noEditPoints="1" noAdjustHandles="1" noChangeArrowheads="1" noChangeShapeType="1" noTextEdit="1"/>
              </p:cNvSpPr>
              <p:nvPr/>
            </p:nvSpPr>
            <p:spPr>
              <a:xfrm>
                <a:off x="3238500" y="3038475"/>
                <a:ext cx="8124825" cy="400050"/>
              </a:xfrm>
              <a:prstGeom prst="rect">
                <a:avLst/>
              </a:prstGeom>
              <a:blipFill rotWithShape="1">
                <a:blip r:embed="rId2"/>
                <a:stretch>
                  <a:fillRect b="-5873"/>
                </a:stretch>
              </a:blipFill>
              <a:ln w="0">
                <a:noFill/>
              </a:ln>
            </p:spPr>
            <p:txBody>
              <a:bodyPr/>
              <a:lstStyle/>
              <a:p>
                <a:r>
                  <a:rPr lang="zh-CN" altLang="en-US">
                    <a:noFill/>
                  </a:rPr>
                  <a:t> </a:t>
                </a:r>
              </a:p>
            </p:txBody>
          </p:sp>
        </mc:Fallback>
      </mc:AlternateContent>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每个控制步解二次规划、与环境交互并记录联合任务奖励 r_H 和个体技能奖励 r_Lⁱ。</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000" b="1">
                <a:solidFill>
                  <a:srgbClr val="1F4C91"/>
                </a:solidFill>
                <a:latin typeface="微软雅黑" panose="020B0503020204020204" charset="-122"/>
                <a:ea typeface="微软雅黑" panose="020B0503020204020204" charset="-122"/>
                <a:cs typeface="微软雅黑" panose="020B0503020204020204" charset="-122"/>
              </a:rPr>
              <a:t>③ 更新策略</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技能结束才重选；再分别更新 θ 与 ν</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按异步终止规则换技能。回合后用同一批轨迹更新高层协作策略和低层安全技能参数。</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讲述顺序：高层选技能 → 低层解安全动作 → 环境反馈 → 异步换技能 → 双层学习。</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03</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实验设计：多类冲突道路与综合评价指标</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EXPERIMENTAL SETTINGS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18</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图：论文中文版第10页图2；实验设置见第11页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3" name="图片 22"/>
          <p:cNvPicPr>
            <a:picLocks noChangeAspect="1"/>
          </p:cNvPicPr>
          <p:nvPr/>
        </p:nvPicPr>
        <p:blipFill>
          <a:blip r:embed="rId2"/>
          <a:stretch>
            <a:fillRect/>
          </a:stretch>
        </p:blipFill>
        <p:spPr>
          <a:xfrm>
            <a:off x="952500" y="2135832"/>
            <a:ext cx="7000875" cy="3281660"/>
          </a:xfrm>
          <a:prstGeom prst="rect">
            <a:avLst/>
          </a:prstGeom>
        </p:spPr>
      </p:pic>
      <p:sp>
        <p:nvSpPr>
          <p:cNvPr id="10" name="矩形 9"/>
          <p:cNvSpPr>
            <a:spLocks noGrp="1"/>
          </p:cNvSpPr>
          <p:nvPr/>
        </p:nvSpPr>
        <p:spPr>
          <a:xfrm>
            <a:off x="8334375" y="1962150"/>
            <a:ext cx="3124200" cy="409575"/>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实验设置</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334375" y="2543175"/>
            <a:ext cx="3124200" cy="9620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600" b="0">
                <a:solidFill>
                  <a:srgbClr val="263247"/>
                </a:solidFill>
                <a:latin typeface="微软雅黑" panose="020B0503020204020204" charset="-122"/>
                <a:ea typeface="微软雅黑" panose="020B0503020204020204" charset="-122"/>
                <a:cs typeface="微软雅黑" panose="020B0503020204020204" charset="-122"/>
              </a:rPr>
              <a:t>五类道路；每种方法训练 5 个随机种子，每个种子评估 5 次。</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334375" y="3771900"/>
            <a:ext cx="3124200" cy="409575"/>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评价指标</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334375" y="4352925"/>
            <a:ext cx="3124200" cy="127635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550" b="0">
                <a:solidFill>
                  <a:srgbClr val="263247"/>
                </a:solidFill>
                <a:latin typeface="微软雅黑" panose="020B0503020204020204" charset="-122"/>
                <a:ea typeface="微软雅黑" panose="020B0503020204020204" charset="-122"/>
                <a:cs typeface="微软雅黑" panose="020B0503020204020204" charset="-122"/>
              </a:rPr>
              <a:t>成功率＝成功到达车辆数 / 生成车辆数；时间、能耗的均值再除以成功率，避免碰撞早退被误判为高效。</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5753100"/>
            <a:ext cx="10382250" cy="352425"/>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25" b="1">
                <a:solidFill>
                  <a:srgbClr val="06245B"/>
                </a:solidFill>
                <a:latin typeface="微软雅黑" panose="020B0503020204020204" charset="-122"/>
                <a:ea typeface="微软雅黑" panose="020B0503020204020204" charset="-122"/>
                <a:cs typeface="微软雅黑" panose="020B0503020204020204" charset="-122"/>
              </a:rPr>
              <a:t>场景覆盖汇入、交叉冲突、环岛通行、瓶颈合流与收费口汇聚等交互模式。</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03</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完整同策略模型成功率达到 97%–99%</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TASK SUCCESS RATE</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5" name="图片 14"/>
          <p:cNvPicPr>
            <a:picLocks noChangeAspect="1"/>
          </p:cNvPicPr>
          <p:nvPr/>
        </p:nvPicPr>
        <p:blipFill>
          <a:blip r:embed="rId2"/>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19</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来源：论文中文版第12页表1；图示均值</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graphicFrame>
        <p:nvGraphicFramePr>
          <p:cNvPr id="19" name="Chart"/>
          <p:cNvGraphicFramePr/>
          <p:nvPr/>
        </p:nvGraphicFramePr>
        <p:xfrm>
          <a:off x="952500" y="1971675"/>
          <a:ext cx="10572750" cy="3314700"/>
        </p:xfrm>
        <a:graphic>
          <a:graphicData uri="http://schemas.openxmlformats.org/drawingml/2006/chart">
            <c:chart xmlns:c="http://schemas.openxmlformats.org/drawingml/2006/chart" xmlns:r="http://schemas.openxmlformats.org/officeDocument/2006/relationships" r:id="rId1"/>
          </a:graphicData>
        </a:graphic>
      </p:graphicFrame>
      <p:sp>
        <p:nvSpPr>
          <p:cNvPr id="10" name="矩形 9"/>
          <p:cNvSpPr>
            <a:spLocks noGrp="1"/>
          </p:cNvSpPr>
          <p:nvPr/>
        </p:nvSpPr>
        <p:spPr>
          <a:xfrm>
            <a:off x="1057275" y="5505450"/>
            <a:ext cx="10382250" cy="657225"/>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520" b="1">
                <a:solidFill>
                  <a:srgbClr val="06245B"/>
                </a:solidFill>
                <a:latin typeface="微软雅黑" panose="020B0503020204020204" charset="-122"/>
                <a:ea typeface="微软雅黑" panose="020B0503020204020204" charset="-122"/>
                <a:cs typeface="微软雅黑" panose="020B0503020204020204" charset="-122"/>
              </a:rPr>
              <a:t>图例：MFPO＝平均场策略优化；CoPo＝协调策略优化；HMARL-CBF＝本文方法。五类场景的本文成功到达率为 97%–99%；这一指标不是逐时刻安全证明。</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03</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结果分析：学习稳定性与成功加权效率</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LEARNING AND EFFICIENCY</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8" name="图片 17"/>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20</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图：论文中文版第11页图3；效率定义与结果见表1</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2"/>
          <a:stretch>
            <a:fillRect/>
          </a:stretch>
        </p:blipFill>
        <p:spPr>
          <a:xfrm>
            <a:off x="952500" y="2047365"/>
            <a:ext cx="10572750" cy="1896496"/>
          </a:xfrm>
          <a:prstGeom prst="rect">
            <a:avLst/>
          </a:prstGeom>
        </p:spPr>
      </p:pic>
      <p:sp>
        <p:nvSpPr>
          <p:cNvPr id="10" name="矩形 9"/>
          <p:cNvSpPr>
            <a:spLocks noGrp="1"/>
          </p:cNvSpPr>
          <p:nvPr/>
        </p:nvSpPr>
        <p:spPr>
          <a:xfrm>
            <a:off x="1066800" y="4352925"/>
            <a:ext cx="4667250" cy="409575"/>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图中英文与坐标</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69848" y="4837176"/>
            <a:ext cx="4700016" cy="1207008"/>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420" b="0">
                <a:solidFill>
                  <a:srgbClr val="263247"/>
                </a:solidFill>
                <a:latin typeface="微软雅黑" panose="020B0503020204020204" charset="-122"/>
                <a:ea typeface="微软雅黑" panose="020B0503020204020204" charset="-122"/>
                <a:cs typeface="微软雅黑" panose="020B0503020204020204" charset="-122"/>
              </a:rPr>
              <a:t>横轴 Iterations＝训练迭代；纵轴 Average Success Rate＝平均成功率；Ours＝本文方法。蓝、绿曲线在约30万次迭代内保持较高成功率。</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6743700" y="4352925"/>
            <a:ext cx="4667250" cy="409575"/>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左／中／右：合流／收费站／瓶颈</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748272" y="4837176"/>
            <a:ext cx="4663440" cy="1216152"/>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380" b="0">
                <a:solidFill>
                  <a:srgbClr val="263247"/>
                </a:solidFill>
                <a:latin typeface="微软雅黑" panose="020B0503020204020204" charset="-122"/>
                <a:ea typeface="微软雅黑" panose="020B0503020204020204" charset="-122"/>
                <a:cs typeface="微软雅黑" panose="020B0503020204020204" charset="-122"/>
              </a:rPr>
              <a:t>蓝／绿：本文多智能体近端策略优化（MAPPO）／Q值混合（QMIX）；紫：独立近端策略优化（IPPO）；红：平均场策略优化（MFPO）；黑：协调策略优化（CoPo）。</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03</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消融分析：协作策略与安全约束的作用</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ABLATION STUDY</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5" name="图片 14"/>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21</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来源：论文中文版第13–14页表2；节选成功率均值</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graphicFrame>
        <p:nvGraphicFramePr>
          <p:cNvPr id="19" name="表格 18"/>
          <p:cNvGraphicFramePr/>
          <p:nvPr/>
        </p:nvGraphicFramePr>
        <p:xfrm>
          <a:off x="952500" y="1914525"/>
          <a:ext cx="10477500" cy="2952750"/>
        </p:xfrm>
        <a:graphic>
          <a:graphicData uri="http://schemas.openxmlformats.org/drawingml/2006/table">
            <a:tbl>
              <a:tblPr/>
              <a:tblGrid>
                <a:gridCol w="4333875"/>
                <a:gridCol w="2047875"/>
                <a:gridCol w="2047875"/>
                <a:gridCol w="2047875"/>
              </a:tblGrid>
              <a:tr h="492125">
                <a:tc>
                  <a:txBody>
                    <a:bodyPr/>
                    <a:lstStyle/>
                    <a:p>
                      <a:pPr algn="l"/>
                      <a:r>
                        <a:rPr sz="1800" b="1">
                          <a:solidFill>
                            <a:srgbClr val="FFFFFF"/>
                          </a:solidFill>
                          <a:latin typeface="微软雅黑" panose="020B0503020204020204" charset="-122"/>
                          <a:ea typeface="微软雅黑" panose="020B0503020204020204" charset="-122"/>
                          <a:cs typeface="微软雅黑" panose="020B0503020204020204" charset="-122"/>
                        </a:rPr>
                        <a:t>方法设置</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汇入</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交叉路口</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环岛</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r>
              <a:tr h="492125">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完整模型</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0.99</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0.97</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0.99</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r h="492125">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高层随机选技能</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0.94</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0.86</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0.68</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492125">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随机丢弃道路约束</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0.91</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0.80</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0.60</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r h="492125">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低层改为 LQR</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0.00</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0.14</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0.00</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492125">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固定低层参数</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0.52</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0.00</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0.00</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bl>
          </a:graphicData>
        </a:graphic>
      </p:graphicFrame>
      <p:sp>
        <p:nvSpPr>
          <p:cNvPr id="10" name="矩形 9"/>
          <p:cNvSpPr>
            <a:spLocks noGrp="1"/>
          </p:cNvSpPr>
          <p:nvPr/>
        </p:nvSpPr>
        <p:spPr>
          <a:xfrm>
            <a:off x="1057275" y="5181600"/>
            <a:ext cx="10382250" cy="866775"/>
          </a:xfrm>
          <a:prstGeom prst="rect">
            <a:avLst/>
          </a:prstGeom>
          <a:noFill/>
          <a:ln w="0">
            <a:noFill/>
          </a:ln>
        </p:spPr>
        <p:txBody>
          <a:bodyPr wrap="square" lIns="0" tIns="0" rIns="0" bIns="0" anchor="t">
            <a:noAutofit/>
          </a:bodyPr>
          <a:lstStyle/>
          <a:p>
            <a:pPr algn="l">
              <a:defRPr sz="1800" b="1">
                <a:solidFill>
                  <a:srgbClr val="06245B"/>
                </a:solidFill>
                <a:latin typeface="微软雅黑" panose="020B0503020204020204" charset="-122"/>
                <a:ea typeface="微软雅黑" panose="020B0503020204020204" charset="-122"/>
                <a:cs typeface="微软雅黑" panose="020B0503020204020204" charset="-122"/>
              </a:defRPr>
            </a:pPr>
            <a:r>
              <a:rPr sz="1600" b="1">
                <a:solidFill>
                  <a:srgbClr val="06245B"/>
                </a:solidFill>
                <a:latin typeface="微软雅黑" panose="020B0503020204020204" charset="-122"/>
                <a:ea typeface="微软雅黑" panose="020B0503020204020204" charset="-122"/>
                <a:cs typeface="微软雅黑" panose="020B0503020204020204" charset="-122"/>
              </a:rPr>
              <a:t>环岛成功率：完整方法 99%；随机选技能 68%；随机丢弃道路边界约束 60%；用线性二次调节器（LQR）替代低层或固定其参数均为 0%。</a:t>
            </a:r>
            <a:endParaRPr sz="1800"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03</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为什么具备会议贡献：方法闭环与实验检验</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CONTRIBUTION AND EVIDENCE</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22</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研究缺口</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多车协作与逐时刻安全需同时解决</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冲突道路要求车辆在局部观测下协作，并对每个控制步施加安全条件。论文的分层设计对应这一问题。</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方法贡献</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高层协作、可学习低层与安全约束相连接</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00" b="0">
                <a:solidFill>
                  <a:srgbClr val="263247"/>
                </a:solidFill>
                <a:latin typeface="微软雅黑" panose="020B0503020204020204" charset="-122"/>
                <a:ea typeface="微软雅黑" panose="020B0503020204020204" charset="-122"/>
                <a:cs typeface="微软雅黑" panose="020B0503020204020204" charset="-122"/>
              </a:rPr>
              <a:t>控制屏障函数、集中训练分散执行和可微优化均有先例；本文的贡献是将它们组织为能共同训练的安全技能框架。</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验证证据</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五类场景对照与消融支撑方法判断</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550" b="0">
                <a:solidFill>
                  <a:srgbClr val="263247"/>
                </a:solidFill>
                <a:latin typeface="微软雅黑" panose="020B0503020204020204" charset="-122"/>
                <a:ea typeface="微软雅黑" panose="020B0503020204020204" charset="-122"/>
                <a:cs typeface="微软雅黑" panose="020B0503020204020204" charset="-122"/>
              </a:rPr>
              <a:t>五类场景成功到达率为 97%–99%；消融分别检验高层选技能、约束保持及可学习低层参数的贡献。</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00" b="1">
                <a:solidFill>
                  <a:srgbClr val="06245B"/>
                </a:solidFill>
                <a:latin typeface="微软雅黑" panose="020B0503020204020204" charset="-122"/>
                <a:ea typeface="微软雅黑" panose="020B0503020204020204" charset="-122"/>
                <a:cs typeface="微软雅黑" panose="020B0503020204020204" charset="-122"/>
              </a:rPr>
              <a:t>理论保证依赖初始安全、模型和约束可行；仿真高成功率仍需与严格安全证明区分。</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04</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算法迁移：由单车控制扩展至分层交互</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FROM PAPER TO PERSONAL SIMULATION</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0" name="图片 19"/>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23</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图：前期单车仿真素材；迁移思路依据张海博原稿</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4" name="图片 23"/>
          <p:cNvPicPr>
            <a:picLocks noChangeAspect="1"/>
          </p:cNvPicPr>
          <p:nvPr/>
        </p:nvPicPr>
        <p:blipFill>
          <a:blip r:embed="rId2"/>
          <a:stretch>
            <a:fillRect/>
          </a:stretch>
        </p:blipFill>
        <p:spPr>
          <a:xfrm>
            <a:off x="1249780" y="2047875"/>
            <a:ext cx="4548940" cy="3209925"/>
          </a:xfrm>
          <a:prstGeom prst="rect">
            <a:avLst/>
          </a:prstGeom>
        </p:spPr>
      </p:pic>
      <p:sp>
        <p:nvSpPr>
          <p:cNvPr id="10" name="矩形 9"/>
          <p:cNvSpPr>
            <a:spLocks noGrp="1"/>
          </p:cNvSpPr>
          <p:nvPr/>
        </p:nvSpPr>
        <p:spPr>
          <a:xfrm>
            <a:off x="6524625" y="1971675"/>
            <a:ext cx="4857750" cy="409575"/>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已有控制基础</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524625" y="2524125"/>
            <a:ext cx="4857750" cy="1009650"/>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前期框架包含路径规划、局部跟踪与 控制李雅普诺夫函数、控制屏障函数与二次规划，为轨迹执行和安全约束处理提供基础。</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6524625" y="3857625"/>
            <a:ext cx="4857750" cy="409575"/>
          </a:xfrm>
          <a:prstGeom prst="rect">
            <a:avLst/>
          </a:prstGeom>
          <a:noFill/>
          <a:ln w="0">
            <a:noFill/>
          </a:ln>
        </p:spPr>
        <p:txBody>
          <a:bodyPr wrap="square" lIns="0" tIns="0" rIns="0" bIns="0" anchor="t">
            <a:noAutofit/>
          </a:bodyPr>
          <a:lstStyle/>
          <a:p>
            <a:pPr algn="l">
              <a:defRPr sz="2100" b="1">
                <a:solidFill>
                  <a:srgbClr val="06245B"/>
                </a:solidFill>
                <a:latin typeface="微软雅黑" panose="020B0503020204020204" charset="-122"/>
                <a:ea typeface="微软雅黑" panose="020B0503020204020204" charset="-122"/>
                <a:cs typeface="微软雅黑" panose="020B0503020204020204" charset="-122"/>
              </a:defRPr>
            </a:pPr>
            <a:r>
              <a:rPr sz="2100" b="1">
                <a:solidFill>
                  <a:srgbClr val="06245B"/>
                </a:solidFill>
                <a:latin typeface="微软雅黑" panose="020B0503020204020204" charset="-122"/>
                <a:ea typeface="微软雅黑" panose="020B0503020204020204" charset="-122"/>
                <a:cs typeface="微软雅黑" panose="020B0503020204020204" charset="-122"/>
              </a:rPr>
              <a:t>分层扩展思路</a:t>
            </a:r>
            <a:endParaRPr sz="2100"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524625" y="4410075"/>
            <a:ext cx="4857750" cy="1171575"/>
          </a:xfrm>
          <a:prstGeom prst="rect">
            <a:avLst/>
          </a:prstGeom>
          <a:noFill/>
          <a:ln w="0">
            <a:noFill/>
          </a:ln>
        </p:spPr>
        <p:txBody>
          <a:bodyPr wrap="square" lIns="0" tIns="0" rIns="0" bIns="0" anchor="t">
            <a:noAutofit/>
          </a:bodyPr>
          <a:lstStyle/>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高层引入等待、跟车、让行与换道行为，</a:t>
            </a:r>
            <a:endParaRPr sz="1800" b="0">
              <a:solidFill>
                <a:srgbClr val="263247"/>
              </a:solidFill>
              <a:latin typeface="微软雅黑" panose="020B0503020204020204" charset="-122"/>
              <a:ea typeface="微软雅黑" panose="020B0503020204020204" charset="-122"/>
              <a:cs typeface="微软雅黑" panose="020B0503020204020204" charset="-122"/>
            </a:endParaRPr>
          </a:p>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将交互决策转换为低层跟踪目标。</a:t>
            </a:r>
            <a:endParaRPr sz="1800" b="0">
              <a:solidFill>
                <a:srgbClr val="263247"/>
              </a:solidFill>
              <a:latin typeface="微软雅黑" panose="020B0503020204020204" charset="-122"/>
              <a:ea typeface="微软雅黑" panose="020B0503020204020204" charset="-122"/>
              <a:cs typeface="微软雅黑" panose="020B0503020204020204" charset="-122"/>
            </a:endParaRPr>
          </a:p>
          <a:p>
            <a:pPr algn="l">
              <a:defRPr sz="1800" b="0">
                <a:solidFill>
                  <a:srgbClr val="263247"/>
                </a:solidFill>
                <a:latin typeface="微软雅黑" panose="020B0503020204020204" charset="-122"/>
                <a:ea typeface="微软雅黑" panose="020B0503020204020204" charset="-122"/>
                <a:cs typeface="微软雅黑" panose="020B0503020204020204" charset="-122"/>
              </a:defRPr>
            </a:pPr>
            <a:r>
              <a:rPr sz="1800" b="0">
                <a:solidFill>
                  <a:srgbClr val="263247"/>
                </a:solidFill>
                <a:latin typeface="微软雅黑" panose="020B0503020204020204" charset="-122"/>
                <a:ea typeface="微软雅黑" panose="020B0503020204020204" charset="-122"/>
                <a:cs typeface="微软雅黑" panose="020B0503020204020204" charset="-122"/>
              </a:rPr>
              <a:t>低层在安全约束下完成目标执行。</a:t>
            </a:r>
            <a:endParaRPr sz="1800"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1047750" y="5657850"/>
            <a:ext cx="10477500" cy="457200"/>
          </a:xfrm>
          <a:prstGeom prst="roundRect">
            <a:avLst>
              <a:gd name="adj" fmla="val 14583"/>
            </a:avLst>
          </a:prstGeom>
          <a:solidFill>
            <a:srgbClr val="EFF4FC"/>
          </a:solidFill>
          <a:ln w="0">
            <a:noFill/>
          </a:ln>
        </p:spPr>
      </p:sp>
      <p:sp>
        <p:nvSpPr>
          <p:cNvPr id="15" name="矩形 14"/>
          <p:cNvSpPr>
            <a:spLocks noGrp="1"/>
          </p:cNvSpPr>
          <p:nvPr/>
        </p:nvSpPr>
        <p:spPr>
          <a:xfrm>
            <a:off x="1257300" y="5753100"/>
            <a:ext cx="10048875" cy="323850"/>
          </a:xfrm>
          <a:prstGeom prst="rect">
            <a:avLst/>
          </a:prstGeom>
          <a:noFill/>
          <a:ln w="0">
            <a:noFill/>
          </a:ln>
        </p:spPr>
        <p:txBody>
          <a:bodyPr wrap="square" lIns="0" tIns="0" rIns="0" bIns="0" anchor="t">
            <a:noAutofit/>
          </a:bodyPr>
          <a:lstStyle/>
          <a:p>
            <a:pPr algn="ctr">
              <a:defRPr sz="1725" b="1">
                <a:solidFill>
                  <a:srgbClr val="06245B"/>
                </a:solidFill>
                <a:latin typeface="微软雅黑" panose="020B0503020204020204" charset="-122"/>
                <a:ea typeface="微软雅黑" panose="020B0503020204020204" charset="-122"/>
                <a:cs typeface="微软雅黑" panose="020B0503020204020204" charset="-122"/>
              </a:defRPr>
            </a:pPr>
            <a:r>
              <a:rPr sz="1725" b="1">
                <a:solidFill>
                  <a:srgbClr val="06245B"/>
                </a:solidFill>
                <a:latin typeface="微软雅黑" panose="020B0503020204020204" charset="-122"/>
                <a:ea typeface="微软雅黑" panose="020B0503020204020204" charset="-122"/>
                <a:cs typeface="微软雅黑" panose="020B0503020204020204" charset="-122"/>
              </a:rPr>
              <a:t>当前仿真侧重交互行为展示，策略训练效果仍需通过定量对照实验评估</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04</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双向单行道：局部观测下的交互行为</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PERSONAL SIMULATION 01</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24</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视频：张海博原稿第15页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784957" y="1962150"/>
            <a:ext cx="5135936" cy="3695700"/>
          </a:xfrm>
          <a:prstGeom prst="rect">
            <a:avLst/>
          </a:prstGeom>
        </p:spPr>
      </p:pic>
      <p:sp>
        <p:nvSpPr>
          <p:cNvPr id="10" name="矩形 9"/>
          <p:cNvSpPr>
            <a:spLocks noGrp="1"/>
          </p:cNvSpPr>
          <p:nvPr/>
        </p:nvSpPr>
        <p:spPr>
          <a:xfrm>
            <a:off x="8115300" y="1857375"/>
            <a:ext cx="333375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场景特征</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115300" y="2400300"/>
            <a:ext cx="3333750" cy="13335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单通道通行受到对向车辆与局部障碍的共同限制，适合观察局部信息下的交互响应。</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115300" y="3914775"/>
            <a:ext cx="3333750" cy="409575"/>
          </a:xfrm>
          <a:prstGeom prst="rect">
            <a:avLst/>
          </a:prstGeom>
          <a:noFill/>
          <a:ln w="0">
            <a:noFill/>
          </a:ln>
        </p:spPr>
        <p:txBody>
          <a:bodyPr wrap="square" lIns="0" tIns="0" rIns="0" bIns="0" anchor="t">
            <a:noAutofit/>
          </a:bodyPr>
          <a:lstStyle/>
          <a:p>
            <a:pPr algn="l">
              <a:defRPr sz="1950" b="1">
                <a:solidFill>
                  <a:srgbClr val="1F4C91"/>
                </a:solidFill>
                <a:latin typeface="微软雅黑" panose="020B0503020204020204" charset="-122"/>
                <a:ea typeface="微软雅黑" panose="020B0503020204020204" charset="-122"/>
                <a:cs typeface="微软雅黑" panose="020B0503020204020204" charset="-122"/>
              </a:defRPr>
            </a:pPr>
            <a:r>
              <a:rPr sz="1950" b="1">
                <a:solidFill>
                  <a:srgbClr val="1F4C91"/>
                </a:solidFill>
                <a:latin typeface="微软雅黑" panose="020B0503020204020204" charset="-122"/>
                <a:ea typeface="微软雅黑" panose="020B0503020204020204" charset="-122"/>
                <a:cs typeface="微软雅黑" panose="020B0503020204020204" charset="-122"/>
              </a:rPr>
              <a:t>等待、跟车与重启</a:t>
            </a:r>
            <a:endParaRPr sz="19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15300" y="4467225"/>
            <a:ext cx="3333750" cy="15621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重点分析遇障减速、队列形成和等待后重启过程，并关注最小车间距与响应平稳性。</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38225" y="5867400"/>
            <a:ext cx="6667500" cy="276225"/>
          </a:xfrm>
          <a:prstGeom prst="rect">
            <a:avLst/>
          </a:prstGeom>
          <a:noFill/>
          <a:ln w="0">
            <a:noFill/>
          </a:ln>
        </p:spPr>
        <p:txBody>
          <a:bodyPr wrap="square" lIns="0" tIns="0" rIns="0" bIns="0" anchor="t">
            <a:noAutofit/>
          </a:bodyPr>
          <a:lstStyle/>
          <a:p>
            <a:pPr algn="l">
              <a:defRPr sz="1425" b="1">
                <a:solidFill>
                  <a:srgbClr val="1F4C91"/>
                </a:solidFill>
                <a:latin typeface="微软雅黑" panose="020B0503020204020204" charset="-122"/>
                <a:ea typeface="微软雅黑" panose="020B0503020204020204" charset="-122"/>
                <a:cs typeface="微软雅黑" panose="020B0503020204020204" charset="-122"/>
              </a:defRPr>
            </a:pPr>
            <a:r>
              <a:rPr sz="1425" b="1">
                <a:solidFill>
                  <a:srgbClr val="1F4C91"/>
                </a:solidFill>
                <a:latin typeface="微软雅黑" panose="020B0503020204020204" charset="-122"/>
                <a:ea typeface="微软雅黑" panose="020B0503020204020204" charset="-122"/>
                <a:cs typeface="微软雅黑" panose="020B0503020204020204" charset="-122"/>
              </a:rPr>
              <a:t>放映时点击画面播放</a:t>
            </a:r>
            <a:endParaRPr sz="1425" b="1">
              <a:solidFill>
                <a:srgbClr val="1F4C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04</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十字路口：冲突区域内的通行协调</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PERSONAL SIMULATION 02</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25</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视频：张海博原稿第16页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2117623" y="1962150"/>
            <a:ext cx="4470605" cy="3695700"/>
          </a:xfrm>
          <a:prstGeom prst="rect">
            <a:avLst/>
          </a:prstGeom>
        </p:spPr>
      </p:pic>
      <p:sp>
        <p:nvSpPr>
          <p:cNvPr id="10" name="矩形 9"/>
          <p:cNvSpPr>
            <a:spLocks noGrp="1"/>
          </p:cNvSpPr>
          <p:nvPr/>
        </p:nvSpPr>
        <p:spPr>
          <a:xfrm>
            <a:off x="8115300" y="1857375"/>
            <a:ext cx="333375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场景特征</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115300" y="2400300"/>
            <a:ext cx="3333750" cy="13335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多方向车辆共享交叉冲突区，进入时机与让行顺序直接影响通行安全和等待时间。</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115300" y="3914775"/>
            <a:ext cx="3333750" cy="409575"/>
          </a:xfrm>
          <a:prstGeom prst="rect">
            <a:avLst/>
          </a:prstGeom>
          <a:noFill/>
          <a:ln w="0">
            <a:noFill/>
          </a:ln>
        </p:spPr>
        <p:txBody>
          <a:bodyPr wrap="square" lIns="0" tIns="0" rIns="0" bIns="0" anchor="t">
            <a:noAutofit/>
          </a:bodyPr>
          <a:lstStyle/>
          <a:p>
            <a:pPr algn="l">
              <a:defRPr sz="1950" b="1">
                <a:solidFill>
                  <a:srgbClr val="1F4C91"/>
                </a:solidFill>
                <a:latin typeface="微软雅黑" panose="020B0503020204020204" charset="-122"/>
                <a:ea typeface="微软雅黑" panose="020B0503020204020204" charset="-122"/>
                <a:cs typeface="微软雅黑" panose="020B0503020204020204" charset="-122"/>
              </a:defRPr>
            </a:pPr>
            <a:r>
              <a:rPr sz="1950" b="1">
                <a:solidFill>
                  <a:srgbClr val="1F4C91"/>
                </a:solidFill>
                <a:latin typeface="微软雅黑" panose="020B0503020204020204" charset="-122"/>
                <a:ea typeface="微软雅黑" panose="020B0503020204020204" charset="-122"/>
                <a:cs typeface="微软雅黑" panose="020B0503020204020204" charset="-122"/>
              </a:rPr>
              <a:t>让行决策与进入时机</a:t>
            </a:r>
            <a:endParaRPr sz="19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15300" y="4467225"/>
            <a:ext cx="3333750" cy="15621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重点观察冲突区占用顺序及车辆重新启动过程，后续通过冲突次数和平均延误评价协调效果。</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38225" y="5867400"/>
            <a:ext cx="6667500" cy="276225"/>
          </a:xfrm>
          <a:prstGeom prst="rect">
            <a:avLst/>
          </a:prstGeom>
          <a:noFill/>
          <a:ln w="0">
            <a:noFill/>
          </a:ln>
        </p:spPr>
        <p:txBody>
          <a:bodyPr wrap="square" lIns="0" tIns="0" rIns="0" bIns="0" anchor="t">
            <a:noAutofit/>
          </a:bodyPr>
          <a:lstStyle/>
          <a:p>
            <a:pPr algn="l">
              <a:defRPr sz="1425" b="1">
                <a:solidFill>
                  <a:srgbClr val="1F4C91"/>
                </a:solidFill>
                <a:latin typeface="微软雅黑" panose="020B0503020204020204" charset="-122"/>
                <a:ea typeface="微软雅黑" panose="020B0503020204020204" charset="-122"/>
                <a:cs typeface="微软雅黑" panose="020B0503020204020204" charset="-122"/>
              </a:defRPr>
            </a:pPr>
            <a:r>
              <a:rPr sz="1425" b="1">
                <a:solidFill>
                  <a:srgbClr val="1F4C91"/>
                </a:solidFill>
                <a:latin typeface="微软雅黑" panose="020B0503020204020204" charset="-122"/>
                <a:ea typeface="微软雅黑" panose="020B0503020204020204" charset="-122"/>
                <a:cs typeface="微软雅黑" panose="020B0503020204020204" charset="-122"/>
              </a:rPr>
              <a:t>放映时点击画面播放</a:t>
            </a:r>
            <a:endParaRPr sz="1425" b="1">
              <a:solidFill>
                <a:srgbClr val="1F4C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04</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收费站：非均衡流量下的排队组织</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PERSONAL SIMULATION 03</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26</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视频：张海博原稿第17页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952500" y="2170003"/>
            <a:ext cx="6800850" cy="3279993"/>
          </a:xfrm>
          <a:prstGeom prst="rect">
            <a:avLst/>
          </a:prstGeom>
        </p:spPr>
      </p:pic>
      <p:sp>
        <p:nvSpPr>
          <p:cNvPr id="10" name="矩形 9"/>
          <p:cNvSpPr>
            <a:spLocks noGrp="1"/>
          </p:cNvSpPr>
          <p:nvPr/>
        </p:nvSpPr>
        <p:spPr>
          <a:xfrm>
            <a:off x="8115300" y="1857375"/>
            <a:ext cx="333375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场景特征</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115300" y="2400300"/>
            <a:ext cx="3333750" cy="13335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多车道向有限收费口汇聚，车辆需要在空间约束下完成通道选择和队列组织。</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115300" y="3914775"/>
            <a:ext cx="3333750" cy="409575"/>
          </a:xfrm>
          <a:prstGeom prst="rect">
            <a:avLst/>
          </a:prstGeom>
          <a:noFill/>
          <a:ln w="0">
            <a:noFill/>
          </a:ln>
        </p:spPr>
        <p:txBody>
          <a:bodyPr wrap="square" lIns="0" tIns="0" rIns="0" bIns="0" anchor="t">
            <a:noAutofit/>
          </a:bodyPr>
          <a:lstStyle/>
          <a:p>
            <a:pPr algn="l">
              <a:defRPr sz="1950" b="1">
                <a:solidFill>
                  <a:srgbClr val="1F4C91"/>
                </a:solidFill>
                <a:latin typeface="微软雅黑" panose="020B0503020204020204" charset="-122"/>
                <a:ea typeface="微软雅黑" panose="020B0503020204020204" charset="-122"/>
                <a:cs typeface="微软雅黑" panose="020B0503020204020204" charset="-122"/>
              </a:defRPr>
            </a:pPr>
            <a:r>
              <a:rPr sz="1950" b="1">
                <a:solidFill>
                  <a:srgbClr val="1F4C91"/>
                </a:solidFill>
                <a:latin typeface="微软雅黑" panose="020B0503020204020204" charset="-122"/>
                <a:ea typeface="微软雅黑" panose="020B0503020204020204" charset="-122"/>
                <a:cs typeface="微软雅黑" panose="020B0503020204020204" charset="-122"/>
              </a:rPr>
              <a:t>通道选择与流量分配</a:t>
            </a:r>
            <a:endParaRPr sz="19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15300" y="4467225"/>
            <a:ext cx="3333750" cy="15621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重点观察非均衡流量下的排队稳定性与拥堵形成，后续以吞吐量和队列长度评价通行效率。</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38225" y="5867400"/>
            <a:ext cx="6667500" cy="276225"/>
          </a:xfrm>
          <a:prstGeom prst="rect">
            <a:avLst/>
          </a:prstGeom>
          <a:noFill/>
          <a:ln w="0">
            <a:noFill/>
          </a:ln>
        </p:spPr>
        <p:txBody>
          <a:bodyPr wrap="square" lIns="0" tIns="0" rIns="0" bIns="0" anchor="t">
            <a:noAutofit/>
          </a:bodyPr>
          <a:lstStyle/>
          <a:p>
            <a:pPr algn="l">
              <a:defRPr sz="1425" b="1">
                <a:solidFill>
                  <a:srgbClr val="1F4C91"/>
                </a:solidFill>
                <a:latin typeface="微软雅黑" panose="020B0503020204020204" charset="-122"/>
                <a:ea typeface="微软雅黑" panose="020B0503020204020204" charset="-122"/>
                <a:cs typeface="微软雅黑" panose="020B0503020204020204" charset="-122"/>
              </a:defRPr>
            </a:pPr>
            <a:r>
              <a:rPr sz="1425" b="1">
                <a:solidFill>
                  <a:srgbClr val="1F4C91"/>
                </a:solidFill>
                <a:latin typeface="微软雅黑" panose="020B0503020204020204" charset="-122"/>
                <a:ea typeface="微软雅黑" panose="020B0503020204020204" charset="-122"/>
                <a:cs typeface="微软雅黑" panose="020B0503020204020204" charset="-122"/>
              </a:rPr>
              <a:t>放映时点击画面播放</a:t>
            </a:r>
            <a:endParaRPr sz="1425" b="1">
              <a:solidFill>
                <a:srgbClr val="1F4C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04</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连通路网：跨场景的连续交互</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PERSONAL SIMULATION 04</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27</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952500" y="6219825"/>
            <a:ext cx="10096500" cy="228600"/>
          </a:xfrm>
          <a:prstGeom prst="rect">
            <a:avLst/>
          </a:prstGeom>
          <a:noFill/>
          <a:ln w="0">
            <a:noFill/>
          </a:ln>
        </p:spPr>
        <p:txBody>
          <a:bodyPr wrap="square" lIns="0" tIns="0" rIns="0" bIns="0" anchor="t">
            <a:noAutofit/>
          </a:bodyPr>
          <a:lstStyle/>
          <a:p>
            <a:pPr algn="l">
              <a:defRPr sz="1050" b="0">
                <a:solidFill>
                  <a:srgbClr val="697991"/>
                </a:solidFill>
                <a:latin typeface="微软雅黑" panose="020B0503020204020204" charset="-122"/>
                <a:ea typeface="微软雅黑" panose="020B0503020204020204" charset="-122"/>
                <a:cs typeface="微软雅黑" panose="020B0503020204020204" charset="-122"/>
              </a:defRPr>
            </a:pPr>
            <a:r>
              <a:rPr sz="1050" b="0">
                <a:solidFill>
                  <a:srgbClr val="697991"/>
                </a:solidFill>
                <a:latin typeface="微软雅黑" panose="020B0503020204020204" charset="-122"/>
                <a:ea typeface="微软雅黑" panose="020B0503020204020204" charset="-122"/>
                <a:cs typeface="微软雅黑" panose="020B0503020204020204" charset="-122"/>
              </a:rPr>
              <a:t>视频：张海博原稿第18页</a:t>
            </a:r>
            <a:endParaRPr sz="1050" b="0">
              <a:solidFill>
                <a:srgbClr val="697991"/>
              </a:solidFill>
              <a:latin typeface="微软雅黑" panose="020B0503020204020204" charset="-122"/>
              <a:ea typeface="微软雅黑" panose="020B0503020204020204" charset="-122"/>
              <a:cs typeface="微软雅黑" panose="020B0503020204020204" charset="-122"/>
            </a:endParaRPr>
          </a:p>
        </p:txBody>
      </p:sp>
      <p:pic>
        <p:nvPicPr>
          <p:cNvPr id="2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952500" y="2169295"/>
            <a:ext cx="6800850" cy="3281410"/>
          </a:xfrm>
          <a:prstGeom prst="rect">
            <a:avLst/>
          </a:prstGeom>
        </p:spPr>
      </p:pic>
      <p:sp>
        <p:nvSpPr>
          <p:cNvPr id="10" name="矩形 9"/>
          <p:cNvSpPr>
            <a:spLocks noGrp="1"/>
          </p:cNvSpPr>
          <p:nvPr/>
        </p:nvSpPr>
        <p:spPr>
          <a:xfrm>
            <a:off x="8115300" y="1857375"/>
            <a:ext cx="3333750"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场景特征</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115300" y="2400300"/>
            <a:ext cx="3333750" cy="13335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连通路网将收费站、交叉口、环岛和瓶颈等区域组合，用于观察不同交互规则之间的连续切换。</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115300" y="3914775"/>
            <a:ext cx="3333750" cy="409575"/>
          </a:xfrm>
          <a:prstGeom prst="rect">
            <a:avLst/>
          </a:prstGeom>
          <a:noFill/>
          <a:ln w="0">
            <a:noFill/>
          </a:ln>
        </p:spPr>
        <p:txBody>
          <a:bodyPr wrap="square" lIns="0" tIns="0" rIns="0" bIns="0" anchor="t">
            <a:noAutofit/>
          </a:bodyPr>
          <a:lstStyle/>
          <a:p>
            <a:pPr algn="l">
              <a:defRPr sz="1950" b="1">
                <a:solidFill>
                  <a:srgbClr val="1F4C91"/>
                </a:solidFill>
                <a:latin typeface="微软雅黑" panose="020B0503020204020204" charset="-122"/>
                <a:ea typeface="微软雅黑" panose="020B0503020204020204" charset="-122"/>
                <a:cs typeface="微软雅黑" panose="020B0503020204020204" charset="-122"/>
              </a:defRPr>
            </a:pPr>
            <a:r>
              <a:rPr sz="1950" b="1">
                <a:solidFill>
                  <a:srgbClr val="1F4C91"/>
                </a:solidFill>
                <a:latin typeface="微软雅黑" panose="020B0503020204020204" charset="-122"/>
                <a:ea typeface="微软雅黑" panose="020B0503020204020204" charset="-122"/>
                <a:cs typeface="微软雅黑" panose="020B0503020204020204" charset="-122"/>
              </a:rPr>
              <a:t>技能切换与运行稳定性</a:t>
            </a:r>
            <a:endParaRPr sz="19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15300" y="4467225"/>
            <a:ext cx="3333750" cy="1562100"/>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重点分析场景转换时的行为连续性与长时运行稳定性，并记录任务完成率和 QP 不可行情况。</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38225" y="5867400"/>
            <a:ext cx="6667500" cy="276225"/>
          </a:xfrm>
          <a:prstGeom prst="rect">
            <a:avLst/>
          </a:prstGeom>
          <a:noFill/>
          <a:ln w="0">
            <a:noFill/>
          </a:ln>
        </p:spPr>
        <p:txBody>
          <a:bodyPr wrap="square" lIns="0" tIns="0" rIns="0" bIns="0" anchor="t">
            <a:noAutofit/>
          </a:bodyPr>
          <a:lstStyle/>
          <a:p>
            <a:pPr algn="l">
              <a:defRPr sz="1425" b="1">
                <a:solidFill>
                  <a:srgbClr val="1F4C91"/>
                </a:solidFill>
                <a:latin typeface="微软雅黑" panose="020B0503020204020204" charset="-122"/>
                <a:ea typeface="微软雅黑" panose="020B0503020204020204" charset="-122"/>
                <a:cs typeface="微软雅黑" panose="020B0503020204020204" charset="-122"/>
              </a:defRPr>
            </a:pPr>
            <a:r>
              <a:rPr sz="1425" b="1">
                <a:solidFill>
                  <a:srgbClr val="1F4C91"/>
                </a:solidFill>
                <a:latin typeface="微软雅黑" panose="020B0503020204020204" charset="-122"/>
                <a:ea typeface="微软雅黑" panose="020B0503020204020204" charset="-122"/>
                <a:cs typeface="微软雅黑" panose="020B0503020204020204" charset="-122"/>
              </a:rPr>
              <a:t>放映时点击画面播放</a:t>
            </a:r>
            <a:endParaRPr sz="1425" b="1">
              <a:solidFill>
                <a:srgbClr val="1F4C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04</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仿真评价：行为表现、局限与验证方案</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SIMULATION TAKEAWAYS</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28</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graphicFrame>
        <p:nvGraphicFramePr>
          <p:cNvPr id="17" name="表格 16"/>
          <p:cNvGraphicFramePr/>
          <p:nvPr/>
        </p:nvGraphicFramePr>
        <p:xfrm>
          <a:off x="952500" y="1885950"/>
          <a:ext cx="10477500" cy="2895600"/>
        </p:xfrm>
        <a:graphic>
          <a:graphicData uri="http://schemas.openxmlformats.org/drawingml/2006/table">
            <a:tbl>
              <a:tblPr/>
              <a:tblGrid>
                <a:gridCol w="2286000"/>
                <a:gridCol w="3810000"/>
                <a:gridCol w="4381500"/>
              </a:tblGrid>
              <a:tr h="579120">
                <a:tc>
                  <a:txBody>
                    <a:bodyPr/>
                    <a:lstStyle/>
                    <a:p>
                      <a:pPr algn="l"/>
                      <a:r>
                        <a:rPr sz="1800" b="1">
                          <a:solidFill>
                            <a:srgbClr val="FFFFFF"/>
                          </a:solidFill>
                          <a:latin typeface="微软雅黑" panose="020B0503020204020204" charset="-122"/>
                          <a:ea typeface="微软雅黑" panose="020B0503020204020204" charset="-122"/>
                          <a:cs typeface="微软雅黑" panose="020B0503020204020204" charset="-122"/>
                        </a:rPr>
                        <a:t>场景</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行为观察</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后续定量评价指标</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1F4C91"/>
                    </a:solidFill>
                  </a:tcPr>
                </a:tc>
              </a:tr>
              <a:tr h="579120">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单行道</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等待、跟车与重启</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等待时间、最小车间距</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r h="579120">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交叉路口</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让行与通行顺序</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冲突次数、平均延误</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579120">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收费站</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排队与流量分配</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吞吐量、队列长度</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FF4FC"/>
                    </a:solidFill>
                  </a:tcPr>
                </a:tc>
              </a:tr>
              <a:tr h="579120">
                <a:tc>
                  <a:txBody>
                    <a:bodyPr/>
                    <a:lstStyle/>
                    <a:p>
                      <a:pPr algn="l"/>
                      <a:r>
                        <a:rPr sz="1800" b="0">
                          <a:solidFill>
                            <a:srgbClr val="263247"/>
                          </a:solidFill>
                          <a:latin typeface="微软雅黑" panose="020B0503020204020204" charset="-122"/>
                          <a:ea typeface="微软雅黑" panose="020B0503020204020204" charset="-122"/>
                          <a:cs typeface="微软雅黑" panose="020B0503020204020204" charset="-122"/>
                        </a:rPr>
                        <a:t>连通路网</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跨场景切换</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c>
                  <a:txBody>
                    <a:bodyPr/>
                    <a:lstStyle/>
                    <a:p>
                      <a:pPr algn="ctr"/>
                      <a:r>
                        <a:rPr sz="1800" b="0">
                          <a:solidFill>
                            <a:srgbClr val="263247"/>
                          </a:solidFill>
                          <a:latin typeface="微软雅黑" panose="020B0503020204020204" charset="-122"/>
                          <a:ea typeface="微软雅黑" panose="020B0503020204020204" charset="-122"/>
                          <a:cs typeface="微软雅黑" panose="020B0503020204020204" charset="-122"/>
                        </a:rPr>
                        <a:t>完成率、QP 不可行率</a:t>
                      </a:r>
                      <a:endParaRPr sz="1800" b="0">
                        <a:solidFill>
                          <a:srgbClr val="263247"/>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bl>
          </a:graphicData>
        </a:graphic>
      </p:graphicFrame>
      <p:sp>
        <p:nvSpPr>
          <p:cNvPr id="9" name="矩形 8"/>
          <p:cNvSpPr>
            <a:spLocks noGrp="1"/>
          </p:cNvSpPr>
          <p:nvPr/>
        </p:nvSpPr>
        <p:spPr>
          <a:xfrm>
            <a:off x="1057275" y="5095875"/>
            <a:ext cx="10382250" cy="981075"/>
          </a:xfrm>
          <a:prstGeom prst="rect">
            <a:avLst/>
          </a:prstGeom>
          <a:noFill/>
          <a:ln w="0">
            <a:noFill/>
          </a:ln>
        </p:spPr>
        <p:txBody>
          <a:bodyPr wrap="square" lIns="0" tIns="0" rIns="0" bIns="0" anchor="t">
            <a:noAutofit/>
          </a:bodyPr>
          <a:lstStyle/>
          <a:p>
            <a:pPr algn="l">
              <a:defRPr sz="1800" b="1">
                <a:solidFill>
                  <a:srgbClr val="06245B"/>
                </a:solidFill>
                <a:latin typeface="微软雅黑" panose="020B0503020204020204" charset="-122"/>
                <a:ea typeface="微软雅黑" panose="020B0503020204020204" charset="-122"/>
                <a:cs typeface="微软雅黑" panose="020B0503020204020204" charset="-122"/>
              </a:defRPr>
            </a:pPr>
            <a:r>
              <a:rPr sz="1800" b="1">
                <a:solidFill>
                  <a:srgbClr val="06245B"/>
                </a:solidFill>
                <a:latin typeface="微软雅黑" panose="020B0503020204020204" charset="-122"/>
                <a:ea typeface="微软雅黑" panose="020B0503020204020204" charset="-122"/>
                <a:cs typeface="微软雅黑" panose="020B0503020204020204" charset="-122"/>
              </a:rPr>
              <a:t>当前局限：仿真以合作式或规则辅助协调为主，尚缺少对异质目标与驾驶风格的系统建模。验证方案：补充多随机种子对照，联合统计任务完成、安全裕度、通行效率与 二次规划（QP）求解性能。</a:t>
            </a:r>
            <a:endParaRPr sz="1800"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0" y="457200"/>
            <a:ext cx="704850" cy="904875"/>
          </a:xfrm>
          <a:prstGeom prst="rect">
            <a:avLst/>
          </a:prstGeom>
          <a:solidFill>
            <a:srgbClr val="1F4C91"/>
          </a:solidFill>
          <a:ln w="0">
            <a:noFill/>
          </a:ln>
        </p:spPr>
      </p:sp>
      <p:sp>
        <p:nvSpPr>
          <p:cNvPr id="2" name="矩形 1"/>
          <p:cNvSpPr>
            <a:spLocks noGrp="1"/>
          </p:cNvSpPr>
          <p:nvPr/>
        </p:nvSpPr>
        <p:spPr>
          <a:xfrm>
            <a:off x="133350" y="714375"/>
            <a:ext cx="571500" cy="523875"/>
          </a:xfrm>
          <a:prstGeom prst="rect">
            <a:avLst/>
          </a:prstGeom>
          <a:noFill/>
          <a:ln w="0">
            <a:noFill/>
          </a:ln>
        </p:spPr>
        <p:txBody>
          <a:bodyPr wrap="square" lIns="0" tIns="0" rIns="0" bIns="0" anchor="t">
            <a:noAutofit/>
          </a:bodyPr>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05</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28700" y="457200"/>
            <a:ext cx="8286750" cy="666750"/>
          </a:xfrm>
          <a:prstGeom prst="rect">
            <a:avLst/>
          </a:prstGeom>
          <a:noFill/>
          <a:ln w="0">
            <a:noFill/>
          </a:ln>
        </p:spPr>
        <p:txBody>
          <a:bodyPr wrap="square" lIns="0" tIns="0" rIns="0" bIns="0" anchor="t">
            <a:noAutofit/>
          </a:bodyPr>
          <a:lstStyle/>
          <a:p>
            <a:pPr algn="l">
              <a:defRPr sz="2475" b="1">
                <a:solidFill>
                  <a:srgbClr val="06245B"/>
                </a:solidFill>
                <a:latin typeface="微软雅黑" panose="020B0503020204020204" charset="-122"/>
                <a:ea typeface="微软雅黑" panose="020B0503020204020204" charset="-122"/>
                <a:cs typeface="微软雅黑" panose="020B0503020204020204" charset="-122"/>
              </a:defRPr>
            </a:pPr>
            <a:r>
              <a:rPr sz="2475" b="1">
                <a:solidFill>
                  <a:srgbClr val="06245B"/>
                </a:solidFill>
                <a:latin typeface="微软雅黑" panose="020B0503020204020204" charset="-122"/>
                <a:ea typeface="微软雅黑" panose="020B0503020204020204" charset="-122"/>
                <a:cs typeface="微软雅黑" panose="020B0503020204020204" charset="-122"/>
              </a:rPr>
              <a:t>研究展望：面向不确定对手的安全交互决策</a:t>
            </a:r>
            <a:endParaRPr sz="247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47750" y="1076325"/>
            <a:ext cx="8286750" cy="247650"/>
          </a:xfrm>
          <a:prstGeom prst="rect">
            <a:avLst/>
          </a:prstGeom>
          <a:noFill/>
          <a:ln w="0">
            <a:noFill/>
          </a:ln>
        </p:spPr>
        <p:txBody>
          <a:bodyPr wrap="square" lIns="0" tIns="0" rIns="0" bIns="0" anchor="t">
            <a:noAutofit/>
          </a:bodyPr>
          <a:lstStyle/>
          <a:p>
            <a:pPr algn="l">
              <a:defRPr sz="1125" b="1">
                <a:solidFill>
                  <a:srgbClr val="1F4C91"/>
                </a:solidFill>
                <a:latin typeface="微软雅黑" panose="020B0503020204020204" charset="-122"/>
                <a:ea typeface="微软雅黑" panose="020B0503020204020204" charset="-122"/>
                <a:cs typeface="微软雅黑" panose="020B0503020204020204" charset="-122"/>
              </a:defRPr>
            </a:pPr>
            <a:r>
              <a:rPr sz="1125" b="1">
                <a:solidFill>
                  <a:srgbClr val="1F4C91"/>
                </a:solidFill>
                <a:latin typeface="微软雅黑" panose="020B0503020204020204" charset="-122"/>
                <a:ea typeface="微软雅黑" panose="020B0503020204020204" charset="-122"/>
                <a:cs typeface="微软雅黑" panose="020B0503020204020204" charset="-122"/>
              </a:rPr>
              <a:t>FUTURE RESEARCH PROPOSAL</a:t>
            </a:r>
            <a:endParaRPr sz="1125" b="1">
              <a:solidFill>
                <a:srgbClr val="1F4C91"/>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1"/>
          <a:stretch>
            <a:fillRect/>
          </a:stretch>
        </p:blipFill>
        <p:spPr>
          <a:xfrm>
            <a:off x="9525000" y="630931"/>
            <a:ext cx="2143125" cy="519313"/>
          </a:xfrm>
          <a:prstGeom prst="rect">
            <a:avLst/>
          </a:prstGeom>
        </p:spPr>
      </p:pic>
      <p:sp>
        <p:nvSpPr>
          <p:cNvPr id="6" name="矩形 5"/>
          <p:cNvSpPr>
            <a:spLocks noGrp="1"/>
          </p:cNvSpPr>
          <p:nvPr/>
        </p:nvSpPr>
        <p:spPr>
          <a:xfrm>
            <a:off x="952500" y="1438275"/>
            <a:ext cx="10906125" cy="9525"/>
          </a:xfrm>
          <a:prstGeom prst="rect">
            <a:avLst/>
          </a:prstGeom>
          <a:solidFill>
            <a:srgbClr val="D6E1F1"/>
          </a:solidFill>
          <a:ln w="0">
            <a:noFill/>
          </a:ln>
        </p:spPr>
      </p:sp>
      <p:sp>
        <p:nvSpPr>
          <p:cNvPr id="7" name="矩形 6"/>
          <p:cNvSpPr>
            <a:spLocks noGrp="1"/>
          </p:cNvSpPr>
          <p:nvPr/>
        </p:nvSpPr>
        <p:spPr>
          <a:xfrm>
            <a:off x="11525250" y="6486525"/>
            <a:ext cx="400050" cy="171450"/>
          </a:xfrm>
          <a:prstGeom prst="rect">
            <a:avLst/>
          </a:prstGeom>
          <a:noFill/>
          <a:ln w="0">
            <a:noFill/>
          </a:ln>
        </p:spPr>
        <p:txBody>
          <a:bodyPr wrap="square" lIns="0" tIns="0" rIns="0" bIns="0" anchor="t">
            <a:noAutofit/>
          </a:bodyPr>
          <a:lstStyle/>
          <a:p>
            <a:pPr algn="l">
              <a:defRPr sz="900" b="0">
                <a:solidFill>
                  <a:srgbClr val="697991"/>
                </a:solidFill>
                <a:latin typeface="微软雅黑" panose="020B0503020204020204" charset="-122"/>
                <a:ea typeface="微软雅黑" panose="020B0503020204020204" charset="-122"/>
                <a:cs typeface="微软雅黑" panose="020B0503020204020204" charset="-122"/>
              </a:defRPr>
            </a:pPr>
            <a:r>
              <a:rPr sz="900" b="0">
                <a:solidFill>
                  <a:srgbClr val="697991"/>
                </a:solidFill>
                <a:latin typeface="微软雅黑" panose="020B0503020204020204" charset="-122"/>
                <a:ea typeface="微软雅黑" panose="020B0503020204020204" charset="-122"/>
                <a:cs typeface="微软雅黑" panose="020B0503020204020204" charset="-122"/>
              </a:rPr>
              <a:t>29</a:t>
            </a:r>
            <a:endParaRPr sz="900" b="0">
              <a:solidFill>
                <a:srgbClr val="69799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28700" y="184785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对手信念</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238500" y="184785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交互式动态影响图（I-DID）与信念更新</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3238500" y="231457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描述对手目标及驾驶风格，根据观测动作更新模型概率，为交互决策提供不确定性信息。</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28700" y="3038475"/>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协作学习</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3238500" y="3038475"/>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多智能体强化学习（MARL）的高层决策</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3238500" y="3505200"/>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将对手信念与局部观测共同作为策略输入，学习不同交互条件下的让行、通行与换道行为。</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28700" y="4229100"/>
            <a:ext cx="1952625" cy="476250"/>
          </a:xfrm>
          <a:prstGeom prst="rect">
            <a:avLst/>
          </a:prstGeom>
          <a:noFill/>
          <a:ln w="0">
            <a:noFill/>
          </a:ln>
        </p:spPr>
        <p:txBody>
          <a:bodyPr wrap="square" lIns="0" tIns="0" rIns="0" bIns="0" anchor="t">
            <a:noAutofit/>
          </a:bodyPr>
          <a:lstStyle/>
          <a:p>
            <a:pPr algn="l">
              <a:defRPr sz="2250" b="1">
                <a:solidFill>
                  <a:srgbClr val="1F4C91"/>
                </a:solidFill>
                <a:latin typeface="微软雅黑" panose="020B0503020204020204" charset="-122"/>
                <a:ea typeface="微软雅黑" panose="020B0503020204020204" charset="-122"/>
                <a:cs typeface="微软雅黑" panose="020B0503020204020204" charset="-122"/>
              </a:defRPr>
            </a:pPr>
            <a:r>
              <a:rPr sz="2250" b="1">
                <a:solidFill>
                  <a:srgbClr val="1F4C91"/>
                </a:solidFill>
                <a:latin typeface="微软雅黑" panose="020B0503020204020204" charset="-122"/>
                <a:ea typeface="微软雅黑" panose="020B0503020204020204" charset="-122"/>
                <a:cs typeface="微软雅黑" panose="020B0503020204020204" charset="-122"/>
              </a:rPr>
              <a:t>安全控制</a:t>
            </a:r>
            <a:endParaRPr sz="2250" b="1">
              <a:solidFill>
                <a:srgbClr val="1F4C9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38500" y="4229100"/>
            <a:ext cx="8124825" cy="400050"/>
          </a:xfrm>
          <a:prstGeom prst="rect">
            <a:avLst/>
          </a:prstGeom>
          <a:noFill/>
          <a:ln w="0">
            <a:noFill/>
          </a:ln>
        </p:spPr>
        <p:txBody>
          <a:bodyPr wrap="square" lIns="0" tIns="0" rIns="0" bIns="0" anchor="t">
            <a:noAutofit/>
          </a:bodyPr>
          <a:lstStyle/>
          <a:p>
            <a:pPr algn="l">
              <a:defRPr sz="2025" b="1">
                <a:solidFill>
                  <a:srgbClr val="06245B"/>
                </a:solidFill>
                <a:latin typeface="微软雅黑" panose="020B0503020204020204" charset="-122"/>
                <a:ea typeface="微软雅黑" panose="020B0503020204020204" charset="-122"/>
                <a:cs typeface="微软雅黑" panose="020B0503020204020204" charset="-122"/>
              </a:defRPr>
            </a:pPr>
            <a:r>
              <a:rPr sz="2025" b="1">
                <a:solidFill>
                  <a:srgbClr val="06245B"/>
                </a:solidFill>
                <a:latin typeface="微软雅黑" panose="020B0503020204020204" charset="-122"/>
                <a:ea typeface="微软雅黑" panose="020B0503020204020204" charset="-122"/>
                <a:cs typeface="微软雅黑" panose="020B0503020204020204" charset="-122"/>
              </a:rPr>
              <a:t>控制屏障函数与二次规划（CBF-QP）安全执行</a:t>
            </a:r>
            <a:endParaRPr sz="2025" b="1">
              <a:solidFill>
                <a:srgbClr val="0624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238500" y="4695825"/>
            <a:ext cx="8096250" cy="657225"/>
          </a:xfrm>
          <a:prstGeom prst="rect">
            <a:avLst/>
          </a:prstGeom>
          <a:noFill/>
          <a:ln w="0">
            <a:noFill/>
          </a:ln>
        </p:spPr>
        <p:txBody>
          <a:bodyPr wrap="square" lIns="0" tIns="0" rIns="0" bIns="0" anchor="t">
            <a:noAutofit/>
          </a:bodyPr>
          <a:lstStyle/>
          <a:p>
            <a:pPr algn="l">
              <a:defRPr sz="1725" b="0">
                <a:solidFill>
                  <a:srgbClr val="263247"/>
                </a:solidFill>
                <a:latin typeface="微软雅黑" panose="020B0503020204020204" charset="-122"/>
                <a:ea typeface="微软雅黑" panose="020B0503020204020204" charset="-122"/>
                <a:cs typeface="微软雅黑" panose="020B0503020204020204" charset="-122"/>
              </a:defRPr>
            </a:pPr>
            <a:r>
              <a:rPr sz="1725" b="0">
                <a:solidFill>
                  <a:srgbClr val="263247"/>
                </a:solidFill>
                <a:latin typeface="微软雅黑" panose="020B0503020204020204" charset="-122"/>
                <a:ea typeface="微软雅黑" panose="020B0503020204020204" charset="-122"/>
                <a:cs typeface="微软雅黑" panose="020B0503020204020204" charset="-122"/>
              </a:rPr>
              <a:t>约束低层动作，并将可行性信息反馈至候选行为筛选，减少高层决策与控制约束之间的冲突。</a:t>
            </a:r>
            <a:endParaRPr sz="1725" b="0">
              <a:solidFill>
                <a:srgbClr val="26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057275" y="5581650"/>
            <a:ext cx="10382250" cy="609600"/>
          </a:xfrm>
          <a:prstGeom prst="rect">
            <a:avLst/>
          </a:prstGeom>
          <a:noFill/>
          <a:ln w="0">
            <a:noFill/>
          </a:ln>
        </p:spPr>
        <p:txBody>
          <a:bodyPr wrap="square" lIns="0" tIns="0" rIns="0" bIns="0" anchor="t">
            <a:noAutofit/>
          </a:bodyPr>
          <a:lstStyle/>
          <a:p>
            <a:pPr algn="l">
              <a:defRPr sz="1725" b="1">
                <a:solidFill>
                  <a:srgbClr val="06245B"/>
                </a:solidFill>
                <a:latin typeface="微软雅黑" panose="020B0503020204020204" charset="-122"/>
                <a:ea typeface="微软雅黑" panose="020B0503020204020204" charset="-122"/>
                <a:cs typeface="微软雅黑" panose="020B0503020204020204" charset="-122"/>
              </a:defRPr>
            </a:pPr>
            <a:r>
              <a:rPr sz="1725" b="1">
                <a:solidFill>
                  <a:srgbClr val="06245B"/>
                </a:solidFill>
                <a:latin typeface="微软雅黑" panose="020B0503020204020204" charset="-122"/>
                <a:ea typeface="微软雅黑" panose="020B0503020204020204" charset="-122"/>
                <a:cs typeface="微软雅黑" panose="020B0503020204020204" charset="-122"/>
              </a:rPr>
              <a:t>待验证问题：可行性反馈能否在模型误差与信念不确定性下有效缩小搜索空间，并改善交互效率。</a:t>
            </a:r>
            <a:endParaRPr sz="1725" b="1">
              <a:solidFill>
                <a:srgbClr val="0624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l="13433" r="13433"/>
          <a:stretch>
            <a:fillRect/>
          </a:stretch>
        </p:blipFill>
        <p:spPr>
          <a:xfrm>
            <a:off x="0" y="0"/>
            <a:ext cx="12192000" cy="6858000"/>
          </a:xfrm>
          <a:prstGeom prst="rect">
            <a:avLst/>
          </a:prstGeom>
        </p:spPr>
      </p:pic>
      <p:sp>
        <p:nvSpPr>
          <p:cNvPr id="2" name="矩形 1"/>
          <p:cNvSpPr>
            <a:spLocks noGrp="1"/>
          </p:cNvSpPr>
          <p:nvPr/>
        </p:nvSpPr>
        <p:spPr>
          <a:xfrm>
            <a:off x="0" y="0"/>
            <a:ext cx="12192000" cy="6858000"/>
          </a:xfrm>
          <a:prstGeom prst="rect">
            <a:avLst/>
          </a:prstGeom>
          <a:solidFill>
            <a:srgbClr val="06245B">
              <a:alpha val="88000"/>
            </a:srgbClr>
          </a:solidFill>
          <a:ln w="0">
            <a:noFill/>
          </a:ln>
        </p:spPr>
      </p:sp>
      <p:pic>
        <p:nvPicPr>
          <p:cNvPr id="9" name="图片 8"/>
          <p:cNvPicPr>
            <a:picLocks noChangeAspect="1"/>
          </p:cNvPicPr>
          <p:nvPr/>
        </p:nvPicPr>
        <p:blipFill>
          <a:blip r:embed="rId2"/>
          <a:stretch>
            <a:fillRect/>
          </a:stretch>
        </p:blipFill>
        <p:spPr>
          <a:xfrm>
            <a:off x="666750" y="527050"/>
            <a:ext cx="2952750" cy="984250"/>
          </a:xfrm>
          <a:prstGeom prst="rect">
            <a:avLst/>
          </a:prstGeom>
        </p:spPr>
      </p:pic>
      <p:sp>
        <p:nvSpPr>
          <p:cNvPr id="4" name="矩形 3"/>
          <p:cNvSpPr>
            <a:spLocks noGrp="1"/>
          </p:cNvSpPr>
          <p:nvPr/>
        </p:nvSpPr>
        <p:spPr>
          <a:xfrm>
            <a:off x="714375" y="2533650"/>
            <a:ext cx="10477500" cy="952500"/>
          </a:xfrm>
          <a:prstGeom prst="rect">
            <a:avLst/>
          </a:prstGeom>
          <a:noFill/>
          <a:ln w="0">
            <a:noFill/>
          </a:ln>
        </p:spPr>
        <p:txBody>
          <a:bodyPr wrap="square" lIns="0" tIns="0" rIns="0" bIns="0" anchor="t">
            <a:noAutofit/>
          </a:bodyPr>
          <a:lstStyle/>
          <a:p>
            <a:pPr algn="l">
              <a:defRPr sz="4275" b="1">
                <a:solidFill>
                  <a:srgbClr val="FFFFFF"/>
                </a:solidFill>
                <a:latin typeface="微软雅黑" panose="020B0503020204020204" charset="-122"/>
                <a:ea typeface="微软雅黑" panose="020B0503020204020204" charset="-122"/>
                <a:cs typeface="微软雅黑" panose="020B0503020204020204" charset="-122"/>
              </a:defRPr>
            </a:pPr>
            <a:r>
              <a:rPr sz="4275" b="1">
                <a:solidFill>
                  <a:srgbClr val="FFFFFF"/>
                </a:solidFill>
                <a:latin typeface="微软雅黑" panose="020B0503020204020204" charset="-122"/>
                <a:ea typeface="微软雅黑" panose="020B0503020204020204" charset="-122"/>
                <a:cs typeface="微软雅黑" panose="020B0503020204020204" charset="-122"/>
              </a:rPr>
              <a:t>感谢聆听</a:t>
            </a:r>
            <a:endParaRPr sz="4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762000" y="3667125"/>
            <a:ext cx="10382250" cy="542925"/>
          </a:xfrm>
          <a:prstGeom prst="rect">
            <a:avLst/>
          </a:prstGeom>
          <a:noFill/>
          <a:ln w="0">
            <a:noFill/>
          </a:ln>
        </p:spPr>
        <p:txBody>
          <a:bodyPr wrap="square" lIns="0" tIns="0" rIns="0" bIns="0" anchor="t">
            <a:noAutofit/>
          </a:bodyPr>
          <a:lstStyle/>
          <a:p>
            <a:pPr algn="l">
              <a:defRPr sz="2250" b="0">
                <a:solidFill>
                  <a:srgbClr val="DAE7FA"/>
                </a:solidFill>
                <a:latin typeface="微软雅黑" panose="020B0503020204020204" charset="-122"/>
                <a:ea typeface="微软雅黑" panose="020B0503020204020204" charset="-122"/>
                <a:cs typeface="微软雅黑" panose="020B0503020204020204" charset="-122"/>
              </a:defRPr>
            </a:pPr>
            <a:r>
              <a:rPr sz="2250" b="0">
                <a:solidFill>
                  <a:srgbClr val="DAE7FA"/>
                </a:solidFill>
                <a:latin typeface="微软雅黑" panose="020B0503020204020204" charset="-122"/>
                <a:ea typeface="微软雅黑" panose="020B0503020204020204" charset="-122"/>
                <a:cs typeface="微软雅黑" panose="020B0503020204020204" charset="-122"/>
              </a:rPr>
              <a:t>欢迎老师和同学批评指正</a:t>
            </a:r>
            <a:endParaRPr sz="2250" b="0">
              <a:solidFill>
                <a:srgbClr val="DAE7FA"/>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762000" y="4591050"/>
            <a:ext cx="10382250" cy="400050"/>
          </a:xfrm>
          <a:prstGeom prst="rect">
            <a:avLst/>
          </a:prstGeom>
          <a:noFill/>
          <a:ln w="0">
            <a:noFill/>
          </a:ln>
        </p:spPr>
        <p:txBody>
          <a:bodyPr wrap="square" lIns="0" tIns="0" rIns="0" bIns="0" anchor="t">
            <a:noAutofit/>
          </a:bodyPr>
          <a:lstStyle/>
          <a:p>
            <a:pPr algn="l">
              <a:defRPr sz="1725" b="0">
                <a:solidFill>
                  <a:srgbClr val="DAE7FA"/>
                </a:solidFill>
                <a:latin typeface="微软雅黑" panose="020B0503020204020204" charset="-122"/>
                <a:ea typeface="微软雅黑" panose="020B0503020204020204" charset="-122"/>
                <a:cs typeface="微软雅黑" panose="020B0503020204020204" charset="-122"/>
              </a:defRPr>
            </a:pPr>
            <a:r>
              <a:rPr sz="1725" b="0">
                <a:solidFill>
                  <a:srgbClr val="DAE7FA"/>
                </a:solidFill>
                <a:latin typeface="微软雅黑" panose="020B0503020204020204" charset="-122"/>
                <a:ea typeface="微软雅黑" panose="020B0503020204020204" charset="-122"/>
                <a:cs typeface="微软雅黑" panose="020B0503020204020204" charset="-122"/>
              </a:rPr>
              <a:t>张海博　同济大学电子与信息工程学院</a:t>
            </a:r>
            <a:endParaRPr sz="1725" b="0">
              <a:solidFill>
                <a:srgbClr val="DAE7F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7646</Words>
  <Application>WPS 演示</Application>
  <PresentationFormat>Converted Presentation</PresentationFormat>
  <Paragraphs>762</Paragraphs>
  <Slides>30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Arial</vt:lpstr>
      <vt:lpstr>宋体</vt:lpstr>
      <vt:lpstr>Wingdings</vt:lpstr>
      <vt:lpstr>微软雅黑</vt:lpstr>
      <vt:lpstr>Cambria Math</vt:lpstr>
      <vt:lpstr>Cambria Math</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逸致</cp:lastModifiedBy>
  <cp:revision>4</cp:revision>
  <dcterms:created xsi:type="dcterms:W3CDTF">2026-10-09T15:12:00Z</dcterms:created>
  <dcterms:modified xsi:type="dcterms:W3CDTF">2026-10-16T09:59:17Z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8870274160E94DA8956865A8447913A6_13</vt:lpwstr>
  </property>
  <property fmtid="{D5CDD505-2E9C-101B-9397-08002B2CF9AE}" pid="3" name="KSOProductBuildVer">
    <vt:lpwstr>2052-12.1.0.28505</vt:lpwstr>
  </property>
</Properties>
</file>