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563" r:id="rId2"/>
    <p:sldId id="3564" r:id="rId3"/>
    <p:sldId id="3572" r:id="rId4"/>
    <p:sldId id="3573" r:id="rId5"/>
    <p:sldId id="3603" r:id="rId6"/>
    <p:sldId id="3571" r:id="rId7"/>
    <p:sldId id="3581" r:id="rId8"/>
    <p:sldId id="3578" r:id="rId9"/>
    <p:sldId id="3580" r:id="rId10"/>
    <p:sldId id="3582" r:id="rId11"/>
    <p:sldId id="3583" r:id="rId12"/>
    <p:sldId id="3595" r:id="rId13"/>
    <p:sldId id="3596" r:id="rId14"/>
    <p:sldId id="3600" r:id="rId15"/>
    <p:sldId id="3599" r:id="rId16"/>
    <p:sldId id="3601" r:id="rId17"/>
    <p:sldId id="3568" r:id="rId18"/>
    <p:sldId id="3569" r:id="rId19"/>
    <p:sldId id="3591" r:id="rId20"/>
    <p:sldId id="3570" r:id="rId21"/>
    <p:sldId id="1630" r:id="rId22"/>
    <p:sldId id="1196" r:id="rId23"/>
    <p:sldId id="27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A0E6249-D5FB-4180-ACA0-87D3FD990EEA}">
          <p14:sldIdLst>
            <p14:sldId id="3563"/>
            <p14:sldId id="3564"/>
          </p14:sldIdLst>
        </p14:section>
        <p14:section name="背景与问题" id="{EEF8818F-7937-4218-A984-C0C35EB9582C}">
          <p14:sldIdLst>
            <p14:sldId id="3572"/>
            <p14:sldId id="3573"/>
            <p14:sldId id="3603"/>
            <p14:sldId id="3571"/>
            <p14:sldId id="3581"/>
            <p14:sldId id="3578"/>
            <p14:sldId id="3580"/>
          </p14:sldIdLst>
        </p14:section>
        <p14:section name="本文方法" id="{19552EA4-5314-42DC-84FE-5244BAF03C70}">
          <p14:sldIdLst>
            <p14:sldId id="3582"/>
            <p14:sldId id="3583"/>
            <p14:sldId id="3595"/>
            <p14:sldId id="3596"/>
            <p14:sldId id="3600"/>
            <p14:sldId id="3599"/>
          </p14:sldIdLst>
        </p14:section>
        <p14:section name="实验结果分析" id="{2959334B-73D2-4160-B3FB-C8C933BF1FBD}">
          <p14:sldIdLst>
            <p14:sldId id="3601"/>
            <p14:sldId id="3568"/>
            <p14:sldId id="3569"/>
            <p14:sldId id="3591"/>
            <p14:sldId id="3570"/>
          </p14:sldIdLst>
        </p14:section>
        <p14:section name="总结与展望" id="{D0113FE4-9E1A-4E28-AE87-EA769EF3A8FC}">
          <p14:sldIdLst>
            <p14:sldId id="1630"/>
            <p14:sldId id="1196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pos="166" userDrawn="1">
          <p15:clr>
            <a:srgbClr val="A4A3A4"/>
          </p15:clr>
        </p15:guide>
        <p15:guide id="2" pos="7514" userDrawn="1">
          <p15:clr>
            <a:srgbClr val="A4A3A4"/>
          </p15:clr>
        </p15:guide>
        <p15:guide id="3" orient="horz" pos="4156" userDrawn="1">
          <p15:clr>
            <a:srgbClr val="A4A3A4"/>
          </p15:clr>
        </p15:guide>
        <p15:guide id="4" pos="7310" userDrawn="1">
          <p15:clr>
            <a:srgbClr val="A4A3A4"/>
          </p15:clr>
        </p15:guide>
        <p15:guide id="5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C000"/>
    <a:srgbClr val="FFFFFF"/>
    <a:srgbClr val="1D4276"/>
    <a:srgbClr val="DAE3F3"/>
    <a:srgbClr val="7790BB"/>
    <a:srgbClr val="385723"/>
    <a:srgbClr val="A2EAA0"/>
    <a:srgbClr val="172B45"/>
    <a:srgbClr val="FA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35" autoAdjust="0"/>
    <p:restoredTop sz="92354" autoAdjust="0"/>
  </p:normalViewPr>
  <p:slideViewPr>
    <p:cSldViewPr snapToGrid="0" showGuides="1">
      <p:cViewPr varScale="1">
        <p:scale>
          <a:sx n="102" d="100"/>
          <a:sy n="102" d="100"/>
        </p:scale>
        <p:origin x="1152" y="102"/>
      </p:cViewPr>
      <p:guideLst>
        <p:guide pos="166"/>
        <p:guide pos="7514"/>
        <p:guide orient="horz" pos="4156"/>
        <p:guide pos="7310"/>
        <p:guide pos="3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Image F1</c:v>
          </c:tx>
          <c:spPr>
            <a:ln w="28575">
              <a:solidFill>
                <a:srgbClr val="316AA6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316AA6"/>
              </a:solidFill>
            </c:spPr>
          </c:marker>
          <c:dLbls>
            <c:dLbl>
              <c:idx val="2"/>
              <c:layout>
                <c:manualLayout>
                  <c:x val="-7.7745383867832843E-3"/>
                  <c:y val="-7.58807588075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35-4F4E-AE9C-B4127F1C2FF0}"/>
                </c:ext>
              </c:extLst>
            </c:dLbl>
            <c:dLbl>
              <c:idx val="3"/>
              <c:layout>
                <c:manualLayout>
                  <c:x val="-1.9436345966958211E-3"/>
                  <c:y val="-4.33604336043360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35-4F4E-AE9C-B4127F1C2F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 b="1">
                    <a:solidFill>
                      <a:srgbClr val="172B4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Baseline</c:v>
                </c:pt>
                <c:pt idx="1">
                  <c:v>+Prompt</c:v>
                </c:pt>
                <c:pt idx="2">
                  <c:v>+VSA</c:v>
                </c:pt>
                <c:pt idx="3">
                  <c:v>+VCA</c:v>
                </c:pt>
                <c:pt idx="4">
                  <c:v>+TVCA</c:v>
                </c:pt>
              </c:strCache>
            </c:strRef>
          </c:cat>
          <c:val>
            <c:numRef>
              <c:f>'Chart Data'!$B$2:$B$6</c:f>
              <c:numCache>
                <c:formatCode>0.0000</c:formatCode>
                <c:ptCount val="5"/>
                <c:pt idx="0">
                  <c:v>0.76129999999999998</c:v>
                </c:pt>
                <c:pt idx="1">
                  <c:v>0.85760000000000003</c:v>
                </c:pt>
                <c:pt idx="2">
                  <c:v>0.9083</c:v>
                </c:pt>
                <c:pt idx="3">
                  <c:v>0.93430000000000002</c:v>
                </c:pt>
                <c:pt idx="4">
                  <c:v>0.9264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7E-4EF6-9379-AE71CE1AC5A3}"/>
            </c:ext>
          </c:extLst>
        </c:ser>
        <c:ser>
          <c:idx val="1"/>
          <c:order val="1"/>
          <c:tx>
            <c:v>Pixel F1</c:v>
          </c:tx>
          <c:spPr>
            <a:ln w="28575">
              <a:solidFill>
                <a:srgbClr val="E88B2F"/>
              </a:solidFill>
              <a:prstDash val="solid"/>
            </a:ln>
          </c:spPr>
          <c:marker>
            <c:symbol val="diamond"/>
            <c:size val="8"/>
            <c:spPr>
              <a:solidFill>
                <a:srgbClr val="E88B2F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 b="1">
                    <a:solidFill>
                      <a:srgbClr val="172B4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Data'!$C$2:$C$6</c:f>
              <c:strCache>
                <c:ptCount val="5"/>
                <c:pt idx="0">
                  <c:v>Baseline</c:v>
                </c:pt>
                <c:pt idx="1">
                  <c:v>+Prompt</c:v>
                </c:pt>
                <c:pt idx="2">
                  <c:v>+VSA</c:v>
                </c:pt>
                <c:pt idx="3">
                  <c:v>+VCA</c:v>
                </c:pt>
                <c:pt idx="4">
                  <c:v>+TVCA</c:v>
                </c:pt>
              </c:strCache>
            </c:strRef>
          </c:cat>
          <c:val>
            <c:numRef>
              <c:f>'Chart Data'!$D$2:$D$6</c:f>
              <c:numCache>
                <c:formatCode>0.0000</c:formatCode>
                <c:ptCount val="5"/>
                <c:pt idx="0">
                  <c:v>0.42899999999999999</c:v>
                </c:pt>
                <c:pt idx="1">
                  <c:v>0.44850000000000001</c:v>
                </c:pt>
                <c:pt idx="2">
                  <c:v>0.4259</c:v>
                </c:pt>
                <c:pt idx="3">
                  <c:v>0.6532</c:v>
                </c:pt>
                <c:pt idx="4">
                  <c:v>0.75629999999999997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7E-4EF6-9379-AE71CE1AC5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EBBC9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w="9525">
              <a:solidFill>
                <a:srgbClr val="DCE5EF"/>
              </a:solidFill>
              <a:prstDash val="solid"/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900">
              <a:solidFill>
                <a:srgbClr val="687A90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01EFD-EABE-4631-BCBF-210F4569D05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FD175-15BC-45CF-B60E-301752FD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51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038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666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A9A4D-2416-2CE3-A758-9F4B7D14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9A8434-A1AE-74CB-750D-005EC7847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3F0620-2224-87BF-7998-10825A505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6E9A54-CC97-A6F3-54CA-83F8D3A2F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305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1E28-FC52-0B01-E09D-41D69E1F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E9BA05-0152-5EB8-B3CB-F14429245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97BC0F-51AD-FEBF-EDE5-CE869635A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297DFF-43A6-978E-1783-309ADB3AD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28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1DAFF-8A83-895F-2728-317A60E1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A84010-6000-7CCB-F36F-DBF23F4E9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F6F141-2C07-884B-5674-C5BF9BE46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216DFF-CEBA-9E40-9CA6-E3E5DAC38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525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DA14-79E6-EA2A-66AA-45134318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EB3DFB-69A9-906E-8F4A-D43667D8A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5A7B41-44FC-FE45-4816-AF80F2A8D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8789E-6665-8B4A-7194-30EB6A11E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243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193C-168F-337F-450E-8E44AD0E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F6F349-80C5-14D8-C8E0-AB0EFE519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8D0CB9-1A06-487F-3FEB-AF85AAAC7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81372C-D5EC-C74F-EE5E-B419938C9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714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2C20-A004-87CA-3A62-3F9C1744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EED408-FD5C-2218-E22B-670D16CCA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589360-3A86-5598-5AE7-2C4717EA7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C7386-A811-49A3-1C21-0F57615FD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09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D9C-7F1B-A108-A09F-BC8BE6D0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26DC6B-BD8B-652C-994F-EB9BAFA10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C501C5-5C0C-FB1A-6D01-BA56E233F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A134B2-9EF2-4B56-A4D1-C0D9F1A51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739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4EFF-119D-C395-9697-1AD51F25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2B6B4-5E8C-444F-13AA-42863B4D2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A77A28-2692-09C6-3B07-C7AA18927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889B6-8B9C-5D67-34BF-619E6D07F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182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C2AE8-8BFA-2F12-FE51-8DD9ECAC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45A078-86E6-C037-C600-F0BA1B3AD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025E91-191B-5383-9D72-275086BCB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B882B4-2A00-8524-E3DE-5EAA2CF8B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6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1F97-AA9A-A281-0A67-CCAFDB41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65D9D3-18F9-B670-DE11-1098EFCC4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1B109D-E144-C877-7A5E-00F2ED4E6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F6D5B3-E076-247B-5CE7-6FC1EA7B8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275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EDD4-F773-F704-3BDC-2F804B87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31F1E9-87EC-A803-E177-25DC1A804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12A1BA-DAD4-DAB4-AE90-0376ECE42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FBFCFF-E428-189E-3A72-C913355C0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611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B568-FFD3-D069-6B04-F0F424F2B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717BCF-F0FB-A210-2D4E-9C88A589C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5D9F81-3EC2-FF36-F95E-96624E7E4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2DDA0-96EA-2DC9-D57D-CF070D840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300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0653-46AC-AC9D-FE30-CAB64B08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5BFB03-D606-BCD1-E280-9D76E962B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D91D38-3C4D-DE6F-BADC-F5E7D980B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3F656-8325-759F-31B8-0C265B528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563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7A891-2E75-0439-AB9D-19F13EE4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DE0809-12F5-8F9C-5512-C4423F272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060ADC-E6BA-9905-5B2B-7695A5711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4DCBC-D50A-C759-B842-65208834E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861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9B39-6EEF-AF98-720A-5B45FDA5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07D864-BD9F-EFAE-A767-18088C3BF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03D610-E090-53BA-44E9-23A2F7048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7DA489-CB55-3A1F-3FF1-F436BFA20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63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FC90-25AF-16AE-6984-F0267765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024251-AC29-BA1D-36B1-98F9E900F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E2BC93-EC19-BCC0-3823-3B91BAD30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0A599D-2D01-1B82-FC22-E0C20501E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50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CAF8-E41D-353E-4316-61266425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3E3F8C-F146-6346-52DD-6DB0803E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1C0CFE-014C-EACE-E7A5-3129BF88F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6FBAE9-CE00-FAD5-4AD6-8EAB212C7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656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CB30-DA07-9203-FC02-BF3B22E7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7F1B20-E646-9409-B760-9C2ACD37B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A08084-BAAF-DB76-A3A6-9421C6CCF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F11CFF-E45E-C549-5DA5-A659EBDF6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010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475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54D71-4D79-39EC-9F65-8EB23266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E58E82-1DDA-A338-7C14-FAA95CA8F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7AF1F7-ABD7-3C00-47D2-D81358492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985CC0-5F20-2C9A-1A63-BEEB4F7D8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75CAC-2AE5-4CA1-95C9-68C0ACE32F7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677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FD175-15BC-45CF-B60E-301752FDDFC8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764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D7E7C3F-52B9-4993-BD28-A93C35607FA9}"/>
              </a:ext>
            </a:extLst>
          </p:cNvPr>
          <p:cNvSpPr/>
          <p:nvPr userDrawn="1"/>
        </p:nvSpPr>
        <p:spPr>
          <a:xfrm>
            <a:off x="0" y="0"/>
            <a:ext cx="12192000" cy="9524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DDAFDE-3FA7-4196-87E4-5223E75C2D37}"/>
              </a:ext>
            </a:extLst>
          </p:cNvPr>
          <p:cNvCxnSpPr>
            <a:cxnSpLocks/>
          </p:cNvCxnSpPr>
          <p:nvPr userDrawn="1"/>
        </p:nvCxnSpPr>
        <p:spPr>
          <a:xfrm>
            <a:off x="0" y="952495"/>
            <a:ext cx="12192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校徽-1">
            <a:extLst>
              <a:ext uri="{FF2B5EF4-FFF2-40B4-BE49-F238E27FC236}">
                <a16:creationId xmlns:a16="http://schemas.microsoft.com/office/drawing/2014/main" id="{A78D69AC-94BB-02E7-9216-7530BE897D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  <a14:imgEffect>
                      <a14:colorTemperature colorTemp="1500"/>
                    </a14:imgEffect>
                    <a14:imgEffect>
                      <a14:saturation sat="101000"/>
                    </a14:imgEffect>
                    <a14:imgEffect>
                      <a14:brightnessContrast bright="-100000" contrast="-100000"/>
                    </a14:imgEffect>
                  </a14:imgLayer>
                </a14:imgProps>
              </a:ext>
            </a:extLst>
          </a:blip>
          <a:srcRect r="65169"/>
          <a:stretch>
            <a:fillRect/>
          </a:stretch>
        </p:blipFill>
        <p:spPr>
          <a:xfrm>
            <a:off x="66675" y="14925"/>
            <a:ext cx="966581" cy="92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5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15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A6DCE04-52CB-40C6-B683-625C1E10EAB9}"/>
              </a:ext>
            </a:extLst>
          </p:cNvPr>
          <p:cNvCxnSpPr/>
          <p:nvPr userDrawn="1"/>
        </p:nvCxnSpPr>
        <p:spPr>
          <a:xfrm>
            <a:off x="263525" y="1058679"/>
            <a:ext cx="1166494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CF2219-34CB-4A16-9E65-55ABF745E4E4}"/>
              </a:ext>
            </a:extLst>
          </p:cNvPr>
          <p:cNvGrpSpPr/>
          <p:nvPr userDrawn="1"/>
        </p:nvGrpSpPr>
        <p:grpSpPr>
          <a:xfrm>
            <a:off x="263525" y="297823"/>
            <a:ext cx="635651" cy="522101"/>
            <a:chOff x="301625" y="297823"/>
            <a:chExt cx="635651" cy="522101"/>
          </a:xfrm>
        </p:grpSpPr>
        <p:sp>
          <p:nvSpPr>
            <p:cNvPr id="4" name="graduate-hat_59495">
              <a:extLst>
                <a:ext uri="{FF2B5EF4-FFF2-40B4-BE49-F238E27FC236}">
                  <a16:creationId xmlns:a16="http://schemas.microsoft.com/office/drawing/2014/main" id="{6C6C4283-EC3D-4A54-804E-CED77259069B}"/>
                </a:ext>
              </a:extLst>
            </p:cNvPr>
            <p:cNvSpPr/>
            <p:nvPr userDrawn="1"/>
          </p:nvSpPr>
          <p:spPr>
            <a:xfrm>
              <a:off x="301625" y="346963"/>
              <a:ext cx="635651" cy="472961"/>
            </a:xfrm>
            <a:custGeom>
              <a:avLst/>
              <a:gdLst>
                <a:gd name="connsiteX0" fmla="*/ 10223 w 596651"/>
                <a:gd name="connsiteY0" fmla="*/ 332075 h 443943"/>
                <a:gd name="connsiteX1" fmla="*/ 57217 w 596651"/>
                <a:gd name="connsiteY1" fmla="*/ 332075 h 443943"/>
                <a:gd name="connsiteX2" fmla="*/ 67353 w 596651"/>
                <a:gd name="connsiteY2" fmla="*/ 427370 h 443943"/>
                <a:gd name="connsiteX3" fmla="*/ 63667 w 596651"/>
                <a:gd name="connsiteY3" fmla="*/ 438879 h 443943"/>
                <a:gd name="connsiteX4" fmla="*/ 52149 w 596651"/>
                <a:gd name="connsiteY4" fmla="*/ 443943 h 443943"/>
                <a:gd name="connsiteX5" fmla="*/ 15291 w 596651"/>
                <a:gd name="connsiteY5" fmla="*/ 443943 h 443943"/>
                <a:gd name="connsiteX6" fmla="*/ 4233 w 596651"/>
                <a:gd name="connsiteY6" fmla="*/ 438879 h 443943"/>
                <a:gd name="connsiteX7" fmla="*/ 87 w 596651"/>
                <a:gd name="connsiteY7" fmla="*/ 427370 h 443943"/>
                <a:gd name="connsiteX8" fmla="*/ 528865 w 596651"/>
                <a:gd name="connsiteY8" fmla="*/ 191185 h 443943"/>
                <a:gd name="connsiteX9" fmla="*/ 541774 w 596651"/>
                <a:gd name="connsiteY9" fmla="*/ 309970 h 443943"/>
                <a:gd name="connsiteX10" fmla="*/ 526559 w 596651"/>
                <a:gd name="connsiteY10" fmla="*/ 325163 h 443943"/>
                <a:gd name="connsiteX11" fmla="*/ 523793 w 596651"/>
                <a:gd name="connsiteY11" fmla="*/ 325163 h 443943"/>
                <a:gd name="connsiteX12" fmla="*/ 486909 w 596651"/>
                <a:gd name="connsiteY12" fmla="*/ 322401 h 443943"/>
                <a:gd name="connsiteX13" fmla="*/ 322773 w 596651"/>
                <a:gd name="connsiteY13" fmla="*/ 399749 h 443943"/>
                <a:gd name="connsiteX14" fmla="*/ 309403 w 596651"/>
                <a:gd name="connsiteY14" fmla="*/ 408036 h 443943"/>
                <a:gd name="connsiteX15" fmla="*/ 304792 w 596651"/>
                <a:gd name="connsiteY15" fmla="*/ 408036 h 443943"/>
                <a:gd name="connsiteX16" fmla="*/ 290960 w 596651"/>
                <a:gd name="connsiteY16" fmla="*/ 399749 h 443943"/>
                <a:gd name="connsiteX17" fmla="*/ 126825 w 596651"/>
                <a:gd name="connsiteY17" fmla="*/ 322401 h 443943"/>
                <a:gd name="connsiteX18" fmla="*/ 89940 w 596651"/>
                <a:gd name="connsiteY18" fmla="*/ 325163 h 443943"/>
                <a:gd name="connsiteX19" fmla="*/ 77031 w 596651"/>
                <a:gd name="connsiteY19" fmla="*/ 320559 h 443943"/>
                <a:gd name="connsiteX20" fmla="*/ 72420 w 596651"/>
                <a:gd name="connsiteY20" fmla="*/ 307668 h 443943"/>
                <a:gd name="connsiteX21" fmla="*/ 85330 w 596651"/>
                <a:gd name="connsiteY21" fmla="*/ 192106 h 443943"/>
                <a:gd name="connsiteX22" fmla="*/ 307097 w 596651"/>
                <a:gd name="connsiteY22" fmla="*/ 275439 h 443943"/>
                <a:gd name="connsiteX23" fmla="*/ 301581 w 596651"/>
                <a:gd name="connsiteY23" fmla="*/ 1035 h 443943"/>
                <a:gd name="connsiteX24" fmla="*/ 312185 w 596651"/>
                <a:gd name="connsiteY24" fmla="*/ 1035 h 443943"/>
                <a:gd name="connsiteX25" fmla="*/ 586508 w 596651"/>
                <a:gd name="connsiteY25" fmla="*/ 104161 h 443943"/>
                <a:gd name="connsiteX26" fmla="*/ 596651 w 596651"/>
                <a:gd name="connsiteY26" fmla="*/ 118433 h 443943"/>
                <a:gd name="connsiteX27" fmla="*/ 586508 w 596651"/>
                <a:gd name="connsiteY27" fmla="*/ 132705 h 443943"/>
                <a:gd name="connsiteX28" fmla="*/ 312185 w 596651"/>
                <a:gd name="connsiteY28" fmla="*/ 235830 h 443943"/>
                <a:gd name="connsiteX29" fmla="*/ 301581 w 596651"/>
                <a:gd name="connsiteY29" fmla="*/ 235830 h 443943"/>
                <a:gd name="connsiteX30" fmla="*/ 51233 w 596651"/>
                <a:gd name="connsiteY30" fmla="*/ 141912 h 443943"/>
                <a:gd name="connsiteX31" fmla="*/ 51233 w 596651"/>
                <a:gd name="connsiteY31" fmla="*/ 305348 h 443943"/>
                <a:gd name="connsiteX32" fmla="*/ 16654 w 596651"/>
                <a:gd name="connsiteY32" fmla="*/ 305348 h 443943"/>
                <a:gd name="connsiteX33" fmla="*/ 16654 w 596651"/>
                <a:gd name="connsiteY33" fmla="*/ 118433 h 443943"/>
                <a:gd name="connsiteX34" fmla="*/ 26336 w 596651"/>
                <a:gd name="connsiteY34" fmla="*/ 104161 h 443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6651" h="443943">
                  <a:moveTo>
                    <a:pt x="10223" y="332075"/>
                  </a:moveTo>
                  <a:lnTo>
                    <a:pt x="57217" y="332075"/>
                  </a:lnTo>
                  <a:lnTo>
                    <a:pt x="67353" y="427370"/>
                  </a:lnTo>
                  <a:cubicBezTo>
                    <a:pt x="67813" y="431513"/>
                    <a:pt x="66431" y="435656"/>
                    <a:pt x="63667" y="438879"/>
                  </a:cubicBezTo>
                  <a:cubicBezTo>
                    <a:pt x="60902" y="442102"/>
                    <a:pt x="56756" y="443943"/>
                    <a:pt x="52149" y="443943"/>
                  </a:cubicBezTo>
                  <a:lnTo>
                    <a:pt x="15291" y="443943"/>
                  </a:lnTo>
                  <a:cubicBezTo>
                    <a:pt x="11144" y="443943"/>
                    <a:pt x="6998" y="442102"/>
                    <a:pt x="4233" y="438879"/>
                  </a:cubicBezTo>
                  <a:cubicBezTo>
                    <a:pt x="1008" y="435656"/>
                    <a:pt x="-374" y="431513"/>
                    <a:pt x="87" y="427370"/>
                  </a:cubicBezTo>
                  <a:close/>
                  <a:moveTo>
                    <a:pt x="528865" y="191185"/>
                  </a:moveTo>
                  <a:cubicBezTo>
                    <a:pt x="528865" y="191185"/>
                    <a:pt x="541774" y="308588"/>
                    <a:pt x="541774" y="309970"/>
                  </a:cubicBezTo>
                  <a:cubicBezTo>
                    <a:pt x="542235" y="318717"/>
                    <a:pt x="534858" y="325163"/>
                    <a:pt x="526559" y="325163"/>
                  </a:cubicBezTo>
                  <a:cubicBezTo>
                    <a:pt x="526098" y="325163"/>
                    <a:pt x="524715" y="325163"/>
                    <a:pt x="523793" y="325163"/>
                  </a:cubicBezTo>
                  <a:cubicBezTo>
                    <a:pt x="511806" y="323321"/>
                    <a:pt x="499357" y="322401"/>
                    <a:pt x="486909" y="322401"/>
                  </a:cubicBezTo>
                  <a:cubicBezTo>
                    <a:pt x="413140" y="322401"/>
                    <a:pt x="347209" y="353708"/>
                    <a:pt x="322773" y="399749"/>
                  </a:cubicBezTo>
                  <a:cubicBezTo>
                    <a:pt x="320468" y="404813"/>
                    <a:pt x="314935" y="408036"/>
                    <a:pt x="309403" y="408036"/>
                  </a:cubicBezTo>
                  <a:lnTo>
                    <a:pt x="304792" y="408036"/>
                  </a:lnTo>
                  <a:cubicBezTo>
                    <a:pt x="298798" y="408036"/>
                    <a:pt x="293727" y="404813"/>
                    <a:pt x="290960" y="399749"/>
                  </a:cubicBezTo>
                  <a:cubicBezTo>
                    <a:pt x="266524" y="353248"/>
                    <a:pt x="200594" y="322401"/>
                    <a:pt x="126825" y="322401"/>
                  </a:cubicBezTo>
                  <a:cubicBezTo>
                    <a:pt x="114376" y="322401"/>
                    <a:pt x="101928" y="323321"/>
                    <a:pt x="89940" y="325163"/>
                  </a:cubicBezTo>
                  <a:cubicBezTo>
                    <a:pt x="85330" y="325623"/>
                    <a:pt x="80258" y="324242"/>
                    <a:pt x="77031" y="320559"/>
                  </a:cubicBezTo>
                  <a:cubicBezTo>
                    <a:pt x="73342" y="317336"/>
                    <a:pt x="71959" y="312732"/>
                    <a:pt x="72420" y="307668"/>
                  </a:cubicBezTo>
                  <a:lnTo>
                    <a:pt x="85330" y="192106"/>
                  </a:lnTo>
                  <a:lnTo>
                    <a:pt x="307097" y="275439"/>
                  </a:lnTo>
                  <a:close/>
                  <a:moveTo>
                    <a:pt x="301581" y="1035"/>
                  </a:moveTo>
                  <a:cubicBezTo>
                    <a:pt x="305270" y="-346"/>
                    <a:pt x="308958" y="-346"/>
                    <a:pt x="312185" y="1035"/>
                  </a:cubicBezTo>
                  <a:lnTo>
                    <a:pt x="586508" y="104161"/>
                  </a:lnTo>
                  <a:cubicBezTo>
                    <a:pt x="592502" y="106463"/>
                    <a:pt x="596651" y="111987"/>
                    <a:pt x="596651" y="118433"/>
                  </a:cubicBezTo>
                  <a:cubicBezTo>
                    <a:pt x="596651" y="124878"/>
                    <a:pt x="592502" y="130403"/>
                    <a:pt x="586508" y="132705"/>
                  </a:cubicBezTo>
                  <a:lnTo>
                    <a:pt x="312185" y="235830"/>
                  </a:lnTo>
                  <a:cubicBezTo>
                    <a:pt x="308958" y="237211"/>
                    <a:pt x="305270" y="237211"/>
                    <a:pt x="301581" y="235830"/>
                  </a:cubicBezTo>
                  <a:lnTo>
                    <a:pt x="51233" y="141912"/>
                  </a:lnTo>
                  <a:lnTo>
                    <a:pt x="51233" y="305348"/>
                  </a:lnTo>
                  <a:lnTo>
                    <a:pt x="16654" y="305348"/>
                  </a:lnTo>
                  <a:lnTo>
                    <a:pt x="16654" y="118433"/>
                  </a:lnTo>
                  <a:cubicBezTo>
                    <a:pt x="16654" y="112448"/>
                    <a:pt x="20343" y="106463"/>
                    <a:pt x="26336" y="10416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graduate-hat_59495">
              <a:extLst>
                <a:ext uri="{FF2B5EF4-FFF2-40B4-BE49-F238E27FC236}">
                  <a16:creationId xmlns:a16="http://schemas.microsoft.com/office/drawing/2014/main" id="{DC8B5560-6D6D-452E-8076-F07C7149C3EF}"/>
                </a:ext>
              </a:extLst>
            </p:cNvPr>
            <p:cNvSpPr/>
            <p:nvPr userDrawn="1"/>
          </p:nvSpPr>
          <p:spPr>
            <a:xfrm>
              <a:off x="301625" y="297823"/>
              <a:ext cx="635651" cy="472961"/>
            </a:xfrm>
            <a:custGeom>
              <a:avLst/>
              <a:gdLst>
                <a:gd name="connsiteX0" fmla="*/ 10223 w 596651"/>
                <a:gd name="connsiteY0" fmla="*/ 332075 h 443943"/>
                <a:gd name="connsiteX1" fmla="*/ 57217 w 596651"/>
                <a:gd name="connsiteY1" fmla="*/ 332075 h 443943"/>
                <a:gd name="connsiteX2" fmla="*/ 67353 w 596651"/>
                <a:gd name="connsiteY2" fmla="*/ 427370 h 443943"/>
                <a:gd name="connsiteX3" fmla="*/ 63667 w 596651"/>
                <a:gd name="connsiteY3" fmla="*/ 438879 h 443943"/>
                <a:gd name="connsiteX4" fmla="*/ 52149 w 596651"/>
                <a:gd name="connsiteY4" fmla="*/ 443943 h 443943"/>
                <a:gd name="connsiteX5" fmla="*/ 15291 w 596651"/>
                <a:gd name="connsiteY5" fmla="*/ 443943 h 443943"/>
                <a:gd name="connsiteX6" fmla="*/ 4233 w 596651"/>
                <a:gd name="connsiteY6" fmla="*/ 438879 h 443943"/>
                <a:gd name="connsiteX7" fmla="*/ 87 w 596651"/>
                <a:gd name="connsiteY7" fmla="*/ 427370 h 443943"/>
                <a:gd name="connsiteX8" fmla="*/ 528865 w 596651"/>
                <a:gd name="connsiteY8" fmla="*/ 191185 h 443943"/>
                <a:gd name="connsiteX9" fmla="*/ 541774 w 596651"/>
                <a:gd name="connsiteY9" fmla="*/ 309970 h 443943"/>
                <a:gd name="connsiteX10" fmla="*/ 526559 w 596651"/>
                <a:gd name="connsiteY10" fmla="*/ 325163 h 443943"/>
                <a:gd name="connsiteX11" fmla="*/ 523793 w 596651"/>
                <a:gd name="connsiteY11" fmla="*/ 325163 h 443943"/>
                <a:gd name="connsiteX12" fmla="*/ 486909 w 596651"/>
                <a:gd name="connsiteY12" fmla="*/ 322401 h 443943"/>
                <a:gd name="connsiteX13" fmla="*/ 322773 w 596651"/>
                <a:gd name="connsiteY13" fmla="*/ 399749 h 443943"/>
                <a:gd name="connsiteX14" fmla="*/ 309403 w 596651"/>
                <a:gd name="connsiteY14" fmla="*/ 408036 h 443943"/>
                <a:gd name="connsiteX15" fmla="*/ 304792 w 596651"/>
                <a:gd name="connsiteY15" fmla="*/ 408036 h 443943"/>
                <a:gd name="connsiteX16" fmla="*/ 290960 w 596651"/>
                <a:gd name="connsiteY16" fmla="*/ 399749 h 443943"/>
                <a:gd name="connsiteX17" fmla="*/ 126825 w 596651"/>
                <a:gd name="connsiteY17" fmla="*/ 322401 h 443943"/>
                <a:gd name="connsiteX18" fmla="*/ 89940 w 596651"/>
                <a:gd name="connsiteY18" fmla="*/ 325163 h 443943"/>
                <a:gd name="connsiteX19" fmla="*/ 77031 w 596651"/>
                <a:gd name="connsiteY19" fmla="*/ 320559 h 443943"/>
                <a:gd name="connsiteX20" fmla="*/ 72420 w 596651"/>
                <a:gd name="connsiteY20" fmla="*/ 307668 h 443943"/>
                <a:gd name="connsiteX21" fmla="*/ 85330 w 596651"/>
                <a:gd name="connsiteY21" fmla="*/ 192106 h 443943"/>
                <a:gd name="connsiteX22" fmla="*/ 307097 w 596651"/>
                <a:gd name="connsiteY22" fmla="*/ 275439 h 443943"/>
                <a:gd name="connsiteX23" fmla="*/ 301581 w 596651"/>
                <a:gd name="connsiteY23" fmla="*/ 1035 h 443943"/>
                <a:gd name="connsiteX24" fmla="*/ 312185 w 596651"/>
                <a:gd name="connsiteY24" fmla="*/ 1035 h 443943"/>
                <a:gd name="connsiteX25" fmla="*/ 586508 w 596651"/>
                <a:gd name="connsiteY25" fmla="*/ 104161 h 443943"/>
                <a:gd name="connsiteX26" fmla="*/ 596651 w 596651"/>
                <a:gd name="connsiteY26" fmla="*/ 118433 h 443943"/>
                <a:gd name="connsiteX27" fmla="*/ 586508 w 596651"/>
                <a:gd name="connsiteY27" fmla="*/ 132705 h 443943"/>
                <a:gd name="connsiteX28" fmla="*/ 312185 w 596651"/>
                <a:gd name="connsiteY28" fmla="*/ 235830 h 443943"/>
                <a:gd name="connsiteX29" fmla="*/ 301581 w 596651"/>
                <a:gd name="connsiteY29" fmla="*/ 235830 h 443943"/>
                <a:gd name="connsiteX30" fmla="*/ 51233 w 596651"/>
                <a:gd name="connsiteY30" fmla="*/ 141912 h 443943"/>
                <a:gd name="connsiteX31" fmla="*/ 51233 w 596651"/>
                <a:gd name="connsiteY31" fmla="*/ 305348 h 443943"/>
                <a:gd name="connsiteX32" fmla="*/ 16654 w 596651"/>
                <a:gd name="connsiteY32" fmla="*/ 305348 h 443943"/>
                <a:gd name="connsiteX33" fmla="*/ 16654 w 596651"/>
                <a:gd name="connsiteY33" fmla="*/ 118433 h 443943"/>
                <a:gd name="connsiteX34" fmla="*/ 26336 w 596651"/>
                <a:gd name="connsiteY34" fmla="*/ 104161 h 443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6651" h="443943">
                  <a:moveTo>
                    <a:pt x="10223" y="332075"/>
                  </a:moveTo>
                  <a:lnTo>
                    <a:pt x="57217" y="332075"/>
                  </a:lnTo>
                  <a:lnTo>
                    <a:pt x="67353" y="427370"/>
                  </a:lnTo>
                  <a:cubicBezTo>
                    <a:pt x="67813" y="431513"/>
                    <a:pt x="66431" y="435656"/>
                    <a:pt x="63667" y="438879"/>
                  </a:cubicBezTo>
                  <a:cubicBezTo>
                    <a:pt x="60902" y="442102"/>
                    <a:pt x="56756" y="443943"/>
                    <a:pt x="52149" y="443943"/>
                  </a:cubicBezTo>
                  <a:lnTo>
                    <a:pt x="15291" y="443943"/>
                  </a:lnTo>
                  <a:cubicBezTo>
                    <a:pt x="11144" y="443943"/>
                    <a:pt x="6998" y="442102"/>
                    <a:pt x="4233" y="438879"/>
                  </a:cubicBezTo>
                  <a:cubicBezTo>
                    <a:pt x="1008" y="435656"/>
                    <a:pt x="-374" y="431513"/>
                    <a:pt x="87" y="427370"/>
                  </a:cubicBezTo>
                  <a:close/>
                  <a:moveTo>
                    <a:pt x="528865" y="191185"/>
                  </a:moveTo>
                  <a:cubicBezTo>
                    <a:pt x="528865" y="191185"/>
                    <a:pt x="541774" y="308588"/>
                    <a:pt x="541774" y="309970"/>
                  </a:cubicBezTo>
                  <a:cubicBezTo>
                    <a:pt x="542235" y="318717"/>
                    <a:pt x="534858" y="325163"/>
                    <a:pt x="526559" y="325163"/>
                  </a:cubicBezTo>
                  <a:cubicBezTo>
                    <a:pt x="526098" y="325163"/>
                    <a:pt x="524715" y="325163"/>
                    <a:pt x="523793" y="325163"/>
                  </a:cubicBezTo>
                  <a:cubicBezTo>
                    <a:pt x="511806" y="323321"/>
                    <a:pt x="499357" y="322401"/>
                    <a:pt x="486909" y="322401"/>
                  </a:cubicBezTo>
                  <a:cubicBezTo>
                    <a:pt x="413140" y="322401"/>
                    <a:pt x="347209" y="353708"/>
                    <a:pt x="322773" y="399749"/>
                  </a:cubicBezTo>
                  <a:cubicBezTo>
                    <a:pt x="320468" y="404813"/>
                    <a:pt x="314935" y="408036"/>
                    <a:pt x="309403" y="408036"/>
                  </a:cubicBezTo>
                  <a:lnTo>
                    <a:pt x="304792" y="408036"/>
                  </a:lnTo>
                  <a:cubicBezTo>
                    <a:pt x="298798" y="408036"/>
                    <a:pt x="293727" y="404813"/>
                    <a:pt x="290960" y="399749"/>
                  </a:cubicBezTo>
                  <a:cubicBezTo>
                    <a:pt x="266524" y="353248"/>
                    <a:pt x="200594" y="322401"/>
                    <a:pt x="126825" y="322401"/>
                  </a:cubicBezTo>
                  <a:cubicBezTo>
                    <a:pt x="114376" y="322401"/>
                    <a:pt x="101928" y="323321"/>
                    <a:pt x="89940" y="325163"/>
                  </a:cubicBezTo>
                  <a:cubicBezTo>
                    <a:pt x="85330" y="325623"/>
                    <a:pt x="80258" y="324242"/>
                    <a:pt x="77031" y="320559"/>
                  </a:cubicBezTo>
                  <a:cubicBezTo>
                    <a:pt x="73342" y="317336"/>
                    <a:pt x="71959" y="312732"/>
                    <a:pt x="72420" y="307668"/>
                  </a:cubicBezTo>
                  <a:lnTo>
                    <a:pt x="85330" y="192106"/>
                  </a:lnTo>
                  <a:lnTo>
                    <a:pt x="307097" y="275439"/>
                  </a:lnTo>
                  <a:close/>
                  <a:moveTo>
                    <a:pt x="301581" y="1035"/>
                  </a:moveTo>
                  <a:cubicBezTo>
                    <a:pt x="305270" y="-346"/>
                    <a:pt x="308958" y="-346"/>
                    <a:pt x="312185" y="1035"/>
                  </a:cubicBezTo>
                  <a:lnTo>
                    <a:pt x="586508" y="104161"/>
                  </a:lnTo>
                  <a:cubicBezTo>
                    <a:pt x="592502" y="106463"/>
                    <a:pt x="596651" y="111987"/>
                    <a:pt x="596651" y="118433"/>
                  </a:cubicBezTo>
                  <a:cubicBezTo>
                    <a:pt x="596651" y="124878"/>
                    <a:pt x="592502" y="130403"/>
                    <a:pt x="586508" y="132705"/>
                  </a:cubicBezTo>
                  <a:lnTo>
                    <a:pt x="312185" y="235830"/>
                  </a:lnTo>
                  <a:cubicBezTo>
                    <a:pt x="308958" y="237211"/>
                    <a:pt x="305270" y="237211"/>
                    <a:pt x="301581" y="235830"/>
                  </a:cubicBezTo>
                  <a:lnTo>
                    <a:pt x="51233" y="141912"/>
                  </a:lnTo>
                  <a:lnTo>
                    <a:pt x="51233" y="305348"/>
                  </a:lnTo>
                  <a:lnTo>
                    <a:pt x="16654" y="305348"/>
                  </a:lnTo>
                  <a:lnTo>
                    <a:pt x="16654" y="118433"/>
                  </a:lnTo>
                  <a:cubicBezTo>
                    <a:pt x="16654" y="112448"/>
                    <a:pt x="20343" y="106463"/>
                    <a:pt x="26336" y="104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0496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54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F8CAF3-EF18-9798-3AFE-60DF60F7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CD529B-6367-AF4A-676A-42CD15F8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484E8B-AAB7-3F83-F35C-4564178C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453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65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83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60" r:id="rId4"/>
    <p:sldLayoutId id="2147483661" r:id="rId5"/>
    <p:sldLayoutId id="214748366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1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5" Type="http://schemas.openxmlformats.org/officeDocument/2006/relationships/image" Target="../media/image5.jpe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9.png"/><Relationship Id="rId18" Type="http://schemas.openxmlformats.org/officeDocument/2006/relationships/image" Target="../media/image28.png"/><Relationship Id="rId26" Type="http://schemas.openxmlformats.org/officeDocument/2006/relationships/image" Target="../media/image25.svg"/><Relationship Id="rId3" Type="http://schemas.openxmlformats.org/officeDocument/2006/relationships/image" Target="../media/image4.png"/><Relationship Id="rId21" Type="http://schemas.openxmlformats.org/officeDocument/2006/relationships/image" Target="../media/image19.sv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27.png"/><Relationship Id="rId25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2.png"/><Relationship Id="rId23" Type="http://schemas.openxmlformats.org/officeDocument/2006/relationships/image" Target="../media/image22.svg"/><Relationship Id="rId10" Type="http://schemas.openxmlformats.org/officeDocument/2006/relationships/image" Target="../media/image15.png"/><Relationship Id="rId19" Type="http://schemas.openxmlformats.org/officeDocument/2006/relationships/image" Target="../media/image17.svg"/><Relationship Id="rId4" Type="http://schemas.openxmlformats.org/officeDocument/2006/relationships/image" Target="../media/image5.jpeg"/><Relationship Id="rId9" Type="http://schemas.openxmlformats.org/officeDocument/2006/relationships/image" Target="../media/image14.png"/><Relationship Id="rId14" Type="http://schemas.openxmlformats.org/officeDocument/2006/relationships/image" Target="../media/image10.png"/><Relationship Id="rId22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47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slide" Target="slide15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9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49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11" Type="http://schemas.openxmlformats.org/officeDocument/2006/relationships/image" Target="../media/image59.png"/><Relationship Id="rId5" Type="http://schemas.openxmlformats.org/officeDocument/2006/relationships/image" Target="../media/image51.png"/><Relationship Id="rId10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49.png"/><Relationship Id="rId7" Type="http://schemas.openxmlformats.org/officeDocument/2006/relationships/image" Target="../media/image64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11" Type="http://schemas.openxmlformats.org/officeDocument/2006/relationships/image" Target="../media/image68.png"/><Relationship Id="rId5" Type="http://schemas.openxmlformats.org/officeDocument/2006/relationships/image" Target="../media/image51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50.png"/><Relationship Id="rId9" Type="http://schemas.openxmlformats.org/officeDocument/2006/relationships/image" Target="../media/image66.png"/><Relationship Id="rId1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slide" Target="slide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5CE6086-4E30-6A55-E460-21046CA683C9}"/>
              </a:ext>
            </a:extLst>
          </p:cNvPr>
          <p:cNvGrpSpPr/>
          <p:nvPr/>
        </p:nvGrpSpPr>
        <p:grpSpPr>
          <a:xfrm>
            <a:off x="1513491" y="5522470"/>
            <a:ext cx="261541" cy="229272"/>
            <a:chOff x="1143409" y="5756683"/>
            <a:chExt cx="226164" cy="198260"/>
          </a:xfrm>
          <a:solidFill>
            <a:schemeClr val="accent1"/>
          </a:solidFill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F2CEEF57-A972-B845-03A5-167FB6CA15FC}"/>
                </a:ext>
              </a:extLst>
            </p:cNvPr>
            <p:cNvSpPr/>
            <p:nvPr/>
          </p:nvSpPr>
          <p:spPr>
            <a:xfrm>
              <a:off x="1143409" y="5756683"/>
              <a:ext cx="226164" cy="130990"/>
            </a:xfrm>
            <a:custGeom>
              <a:avLst/>
              <a:gdLst>
                <a:gd name="connsiteX0" fmla="*/ 109937 w 226164"/>
                <a:gd name="connsiteY0" fmla="*/ 130990 h 130990"/>
                <a:gd name="connsiteX1" fmla="*/ 105971 w 226164"/>
                <a:gd name="connsiteY1" fmla="*/ 129954 h 130990"/>
                <a:gd name="connsiteX2" fmla="*/ 4118 w 226164"/>
                <a:gd name="connsiteY2" fmla="*/ 72586 h 130990"/>
                <a:gd name="connsiteX3" fmla="*/ 0 w 226164"/>
                <a:gd name="connsiteY3" fmla="*/ 65538 h 130990"/>
                <a:gd name="connsiteX4" fmla="*/ 4118 w 226164"/>
                <a:gd name="connsiteY4" fmla="*/ 58490 h 130990"/>
                <a:gd name="connsiteX5" fmla="*/ 105971 w 226164"/>
                <a:gd name="connsiteY5" fmla="*/ 1046 h 130990"/>
                <a:gd name="connsiteX6" fmla="*/ 113727 w 226164"/>
                <a:gd name="connsiteY6" fmla="*/ 945 h 130990"/>
                <a:gd name="connsiteX7" fmla="*/ 221870 w 226164"/>
                <a:gd name="connsiteY7" fmla="*/ 58439 h 130990"/>
                <a:gd name="connsiteX8" fmla="*/ 226165 w 226164"/>
                <a:gd name="connsiteY8" fmla="*/ 65588 h 130990"/>
                <a:gd name="connsiteX9" fmla="*/ 221870 w 226164"/>
                <a:gd name="connsiteY9" fmla="*/ 72737 h 130990"/>
                <a:gd name="connsiteX10" fmla="*/ 113701 w 226164"/>
                <a:gd name="connsiteY10" fmla="*/ 130081 h 130990"/>
                <a:gd name="connsiteX11" fmla="*/ 109937 w 226164"/>
                <a:gd name="connsiteY11" fmla="*/ 130990 h 130990"/>
                <a:gd name="connsiteX12" fmla="*/ 24529 w 226164"/>
                <a:gd name="connsiteY12" fmla="*/ 65538 h 130990"/>
                <a:gd name="connsiteX13" fmla="*/ 110038 w 226164"/>
                <a:gd name="connsiteY13" fmla="*/ 113711 h 130990"/>
                <a:gd name="connsiteX14" fmla="*/ 200828 w 226164"/>
                <a:gd name="connsiteY14" fmla="*/ 65563 h 130990"/>
                <a:gd name="connsiteX15" fmla="*/ 110038 w 226164"/>
                <a:gd name="connsiteY15" fmla="*/ 17339 h 130990"/>
                <a:gd name="connsiteX16" fmla="*/ 24529 w 226164"/>
                <a:gd name="connsiteY16" fmla="*/ 65538 h 130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6164" h="130990">
                  <a:moveTo>
                    <a:pt x="109937" y="130990"/>
                  </a:moveTo>
                  <a:cubicBezTo>
                    <a:pt x="108573" y="130990"/>
                    <a:pt x="107209" y="130636"/>
                    <a:pt x="105971" y="129954"/>
                  </a:cubicBezTo>
                  <a:lnTo>
                    <a:pt x="4118" y="72586"/>
                  </a:lnTo>
                  <a:cubicBezTo>
                    <a:pt x="1566" y="71146"/>
                    <a:pt x="0" y="68468"/>
                    <a:pt x="0" y="65538"/>
                  </a:cubicBezTo>
                  <a:cubicBezTo>
                    <a:pt x="0" y="62608"/>
                    <a:pt x="1566" y="59930"/>
                    <a:pt x="4118" y="58490"/>
                  </a:cubicBezTo>
                  <a:lnTo>
                    <a:pt x="105971" y="1046"/>
                  </a:lnTo>
                  <a:cubicBezTo>
                    <a:pt x="108371" y="-318"/>
                    <a:pt x="111301" y="-344"/>
                    <a:pt x="113727" y="945"/>
                  </a:cubicBezTo>
                  <a:lnTo>
                    <a:pt x="221870" y="58439"/>
                  </a:lnTo>
                  <a:cubicBezTo>
                    <a:pt x="224523" y="59854"/>
                    <a:pt x="226165" y="62582"/>
                    <a:pt x="226165" y="65588"/>
                  </a:cubicBezTo>
                  <a:cubicBezTo>
                    <a:pt x="226165" y="68595"/>
                    <a:pt x="224523" y="71323"/>
                    <a:pt x="221870" y="72737"/>
                  </a:cubicBezTo>
                  <a:lnTo>
                    <a:pt x="113701" y="130081"/>
                  </a:lnTo>
                  <a:cubicBezTo>
                    <a:pt x="112539" y="130687"/>
                    <a:pt x="111226" y="130990"/>
                    <a:pt x="109937" y="130990"/>
                  </a:cubicBezTo>
                  <a:close/>
                  <a:moveTo>
                    <a:pt x="24529" y="65538"/>
                  </a:moveTo>
                  <a:lnTo>
                    <a:pt x="110038" y="113711"/>
                  </a:lnTo>
                  <a:lnTo>
                    <a:pt x="200828" y="65563"/>
                  </a:lnTo>
                  <a:lnTo>
                    <a:pt x="110038" y="17339"/>
                  </a:lnTo>
                  <a:lnTo>
                    <a:pt x="24529" y="65538"/>
                  </a:ln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A9C5FA93-74EF-5398-BC52-F4EFCE475915}"/>
                </a:ext>
              </a:extLst>
            </p:cNvPr>
            <p:cNvSpPr/>
            <p:nvPr/>
          </p:nvSpPr>
          <p:spPr>
            <a:xfrm>
              <a:off x="1177840" y="5839828"/>
              <a:ext cx="157302" cy="87858"/>
            </a:xfrm>
            <a:custGeom>
              <a:avLst/>
              <a:gdLst>
                <a:gd name="connsiteX0" fmla="*/ 8084 w 157302"/>
                <a:gd name="connsiteY0" fmla="*/ 87859 h 87858"/>
                <a:gd name="connsiteX1" fmla="*/ 0 w 157302"/>
                <a:gd name="connsiteY1" fmla="*/ 79775 h 87858"/>
                <a:gd name="connsiteX2" fmla="*/ 0 w 157302"/>
                <a:gd name="connsiteY2" fmla="*/ 8084 h 87858"/>
                <a:gd name="connsiteX3" fmla="*/ 8084 w 157302"/>
                <a:gd name="connsiteY3" fmla="*/ 0 h 87858"/>
                <a:gd name="connsiteX4" fmla="*/ 16167 w 157302"/>
                <a:gd name="connsiteY4" fmla="*/ 8084 h 87858"/>
                <a:gd name="connsiteX5" fmla="*/ 16167 w 157302"/>
                <a:gd name="connsiteY5" fmla="*/ 79775 h 87858"/>
                <a:gd name="connsiteX6" fmla="*/ 8084 w 157302"/>
                <a:gd name="connsiteY6" fmla="*/ 87859 h 87858"/>
                <a:gd name="connsiteX7" fmla="*/ 149219 w 157302"/>
                <a:gd name="connsiteY7" fmla="*/ 87859 h 87858"/>
                <a:gd name="connsiteX8" fmla="*/ 141135 w 157302"/>
                <a:gd name="connsiteY8" fmla="*/ 79775 h 87858"/>
                <a:gd name="connsiteX9" fmla="*/ 141135 w 157302"/>
                <a:gd name="connsiteY9" fmla="*/ 8084 h 87858"/>
                <a:gd name="connsiteX10" fmla="*/ 149219 w 157302"/>
                <a:gd name="connsiteY10" fmla="*/ 0 h 87858"/>
                <a:gd name="connsiteX11" fmla="*/ 157302 w 157302"/>
                <a:gd name="connsiteY11" fmla="*/ 8084 h 87858"/>
                <a:gd name="connsiteX12" fmla="*/ 157302 w 157302"/>
                <a:gd name="connsiteY12" fmla="*/ 79775 h 87858"/>
                <a:gd name="connsiteX13" fmla="*/ 149219 w 157302"/>
                <a:gd name="connsiteY13" fmla="*/ 87859 h 8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02" h="87858">
                  <a:moveTo>
                    <a:pt x="8084" y="87859"/>
                  </a:moveTo>
                  <a:cubicBezTo>
                    <a:pt x="3612" y="87859"/>
                    <a:pt x="0" y="84247"/>
                    <a:pt x="0" y="79775"/>
                  </a:cubicBezTo>
                  <a:lnTo>
                    <a:pt x="0" y="8084"/>
                  </a:lnTo>
                  <a:cubicBezTo>
                    <a:pt x="0" y="3612"/>
                    <a:pt x="3612" y="0"/>
                    <a:pt x="8084" y="0"/>
                  </a:cubicBezTo>
                  <a:cubicBezTo>
                    <a:pt x="12555" y="0"/>
                    <a:pt x="16167" y="3612"/>
                    <a:pt x="16167" y="8084"/>
                  </a:cubicBezTo>
                  <a:lnTo>
                    <a:pt x="16167" y="79775"/>
                  </a:lnTo>
                  <a:cubicBezTo>
                    <a:pt x="16167" y="84247"/>
                    <a:pt x="12555" y="87859"/>
                    <a:pt x="8084" y="87859"/>
                  </a:cubicBezTo>
                  <a:close/>
                  <a:moveTo>
                    <a:pt x="149219" y="87859"/>
                  </a:moveTo>
                  <a:cubicBezTo>
                    <a:pt x="144747" y="87859"/>
                    <a:pt x="141135" y="84247"/>
                    <a:pt x="141135" y="79775"/>
                  </a:cubicBezTo>
                  <a:lnTo>
                    <a:pt x="141135" y="8084"/>
                  </a:lnTo>
                  <a:cubicBezTo>
                    <a:pt x="141135" y="3612"/>
                    <a:pt x="144747" y="0"/>
                    <a:pt x="149219" y="0"/>
                  </a:cubicBezTo>
                  <a:cubicBezTo>
                    <a:pt x="153690" y="0"/>
                    <a:pt x="157302" y="3612"/>
                    <a:pt x="157302" y="8084"/>
                  </a:cubicBezTo>
                  <a:lnTo>
                    <a:pt x="157302" y="79775"/>
                  </a:lnTo>
                  <a:cubicBezTo>
                    <a:pt x="157302" y="84247"/>
                    <a:pt x="153665" y="87859"/>
                    <a:pt x="149219" y="87859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0EFDFE9D-942A-0BF1-22B8-9717ABBDC0E0}"/>
                </a:ext>
              </a:extLst>
            </p:cNvPr>
            <p:cNvSpPr/>
            <p:nvPr/>
          </p:nvSpPr>
          <p:spPr>
            <a:xfrm>
              <a:off x="1177840" y="5848391"/>
              <a:ext cx="189459" cy="106552"/>
            </a:xfrm>
            <a:custGeom>
              <a:avLst/>
              <a:gdLst>
                <a:gd name="connsiteX0" fmla="*/ 78639 w 189459"/>
                <a:gd name="connsiteY0" fmla="*/ 106552 h 106552"/>
                <a:gd name="connsiteX1" fmla="*/ 26044 w 189459"/>
                <a:gd name="connsiteY1" fmla="*/ 98747 h 106552"/>
                <a:gd name="connsiteX2" fmla="*/ 8437 w 189459"/>
                <a:gd name="connsiteY2" fmla="*/ 89349 h 106552"/>
                <a:gd name="connsiteX3" fmla="*/ 0 w 189459"/>
                <a:gd name="connsiteY3" fmla="*/ 73409 h 106552"/>
                <a:gd name="connsiteX4" fmla="*/ 8084 w 189459"/>
                <a:gd name="connsiteY4" fmla="*/ 65326 h 106552"/>
                <a:gd name="connsiteX5" fmla="*/ 16167 w 189459"/>
                <a:gd name="connsiteY5" fmla="*/ 73409 h 106552"/>
                <a:gd name="connsiteX6" fmla="*/ 31450 w 189459"/>
                <a:gd name="connsiteY6" fmla="*/ 83539 h 106552"/>
                <a:gd name="connsiteX7" fmla="*/ 78639 w 189459"/>
                <a:gd name="connsiteY7" fmla="*/ 90410 h 106552"/>
                <a:gd name="connsiteX8" fmla="*/ 125827 w 189459"/>
                <a:gd name="connsiteY8" fmla="*/ 83539 h 106552"/>
                <a:gd name="connsiteX9" fmla="*/ 141110 w 189459"/>
                <a:gd name="connsiteY9" fmla="*/ 73409 h 106552"/>
                <a:gd name="connsiteX10" fmla="*/ 149193 w 189459"/>
                <a:gd name="connsiteY10" fmla="*/ 65326 h 106552"/>
                <a:gd name="connsiteX11" fmla="*/ 157277 w 189459"/>
                <a:gd name="connsiteY11" fmla="*/ 73409 h 106552"/>
                <a:gd name="connsiteX12" fmla="*/ 148840 w 189459"/>
                <a:gd name="connsiteY12" fmla="*/ 89349 h 106552"/>
                <a:gd name="connsiteX13" fmla="*/ 131233 w 189459"/>
                <a:gd name="connsiteY13" fmla="*/ 98747 h 106552"/>
                <a:gd name="connsiteX14" fmla="*/ 78639 w 189459"/>
                <a:gd name="connsiteY14" fmla="*/ 106552 h 106552"/>
                <a:gd name="connsiteX15" fmla="*/ 181376 w 189459"/>
                <a:gd name="connsiteY15" fmla="*/ 90183 h 106552"/>
                <a:gd name="connsiteX16" fmla="*/ 173293 w 189459"/>
                <a:gd name="connsiteY16" fmla="*/ 82099 h 106552"/>
                <a:gd name="connsiteX17" fmla="*/ 173293 w 189459"/>
                <a:gd name="connsiteY17" fmla="*/ 8084 h 106552"/>
                <a:gd name="connsiteX18" fmla="*/ 181376 w 189459"/>
                <a:gd name="connsiteY18" fmla="*/ 0 h 106552"/>
                <a:gd name="connsiteX19" fmla="*/ 189460 w 189459"/>
                <a:gd name="connsiteY19" fmla="*/ 8084 h 106552"/>
                <a:gd name="connsiteX20" fmla="*/ 189460 w 189459"/>
                <a:gd name="connsiteY20" fmla="*/ 82099 h 106552"/>
                <a:gd name="connsiteX21" fmla="*/ 181376 w 189459"/>
                <a:gd name="connsiteY21" fmla="*/ 90183 h 1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459" h="106552">
                  <a:moveTo>
                    <a:pt x="78639" y="106552"/>
                  </a:moveTo>
                  <a:cubicBezTo>
                    <a:pt x="58884" y="106552"/>
                    <a:pt x="40216" y="103774"/>
                    <a:pt x="26044" y="98747"/>
                  </a:cubicBezTo>
                  <a:cubicBezTo>
                    <a:pt x="18643" y="96119"/>
                    <a:pt x="12732" y="92962"/>
                    <a:pt x="8437" y="89349"/>
                  </a:cubicBezTo>
                  <a:cubicBezTo>
                    <a:pt x="1465" y="83489"/>
                    <a:pt x="0" y="77451"/>
                    <a:pt x="0" y="73409"/>
                  </a:cubicBezTo>
                  <a:cubicBezTo>
                    <a:pt x="0" y="68938"/>
                    <a:pt x="3612" y="65326"/>
                    <a:pt x="8084" y="65326"/>
                  </a:cubicBezTo>
                  <a:cubicBezTo>
                    <a:pt x="12555" y="65326"/>
                    <a:pt x="16167" y="68938"/>
                    <a:pt x="16167" y="73409"/>
                  </a:cubicBezTo>
                  <a:cubicBezTo>
                    <a:pt x="16167" y="74925"/>
                    <a:pt x="19906" y="79422"/>
                    <a:pt x="31450" y="83539"/>
                  </a:cubicBezTo>
                  <a:cubicBezTo>
                    <a:pt x="43929" y="87985"/>
                    <a:pt x="60678" y="90410"/>
                    <a:pt x="78639" y="90410"/>
                  </a:cubicBezTo>
                  <a:cubicBezTo>
                    <a:pt x="96599" y="90410"/>
                    <a:pt x="113348" y="87960"/>
                    <a:pt x="125827" y="83539"/>
                  </a:cubicBezTo>
                  <a:cubicBezTo>
                    <a:pt x="137371" y="79422"/>
                    <a:pt x="141110" y="74950"/>
                    <a:pt x="141110" y="73409"/>
                  </a:cubicBezTo>
                  <a:cubicBezTo>
                    <a:pt x="141110" y="68938"/>
                    <a:pt x="144722" y="65326"/>
                    <a:pt x="149193" y="65326"/>
                  </a:cubicBezTo>
                  <a:cubicBezTo>
                    <a:pt x="153665" y="65326"/>
                    <a:pt x="157277" y="68938"/>
                    <a:pt x="157277" y="73409"/>
                  </a:cubicBezTo>
                  <a:cubicBezTo>
                    <a:pt x="157277" y="77451"/>
                    <a:pt x="155812" y="83514"/>
                    <a:pt x="148840" y="89349"/>
                  </a:cubicBezTo>
                  <a:cubicBezTo>
                    <a:pt x="144545" y="92962"/>
                    <a:pt x="138609" y="96119"/>
                    <a:pt x="131233" y="98747"/>
                  </a:cubicBezTo>
                  <a:cubicBezTo>
                    <a:pt x="117086" y="103774"/>
                    <a:pt x="98393" y="106552"/>
                    <a:pt x="78639" y="106552"/>
                  </a:cubicBezTo>
                  <a:close/>
                  <a:moveTo>
                    <a:pt x="181376" y="90183"/>
                  </a:moveTo>
                  <a:cubicBezTo>
                    <a:pt x="176905" y="90183"/>
                    <a:pt x="173293" y="86571"/>
                    <a:pt x="173293" y="82099"/>
                  </a:cubicBezTo>
                  <a:lnTo>
                    <a:pt x="173293" y="8084"/>
                  </a:lnTo>
                  <a:cubicBezTo>
                    <a:pt x="173293" y="3612"/>
                    <a:pt x="176905" y="0"/>
                    <a:pt x="181376" y="0"/>
                  </a:cubicBezTo>
                  <a:cubicBezTo>
                    <a:pt x="185848" y="0"/>
                    <a:pt x="189460" y="3612"/>
                    <a:pt x="189460" y="8084"/>
                  </a:cubicBezTo>
                  <a:lnTo>
                    <a:pt x="189460" y="82099"/>
                  </a:lnTo>
                  <a:cubicBezTo>
                    <a:pt x="189460" y="86545"/>
                    <a:pt x="185848" y="90183"/>
                    <a:pt x="181376" y="90183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5534B36D-7C3F-5FB5-99DA-9315B6B14769}"/>
              </a:ext>
            </a:extLst>
          </p:cNvPr>
          <p:cNvSpPr txBox="1"/>
          <p:nvPr/>
        </p:nvSpPr>
        <p:spPr>
          <a:xfrm>
            <a:off x="1855879" y="5465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汇报人：张壹铭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297969-F9F0-3B54-355D-5BED2B7F17CC}"/>
              </a:ext>
            </a:extLst>
          </p:cNvPr>
          <p:cNvGrpSpPr/>
          <p:nvPr/>
        </p:nvGrpSpPr>
        <p:grpSpPr>
          <a:xfrm>
            <a:off x="4975651" y="5523845"/>
            <a:ext cx="192178" cy="233007"/>
            <a:chOff x="4967232" y="5717182"/>
            <a:chExt cx="236980" cy="287327"/>
          </a:xfrm>
          <a:solidFill>
            <a:schemeClr val="accent1"/>
          </a:solidFill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1EC9275F-CAA1-4E47-C064-BC1FB012789B}"/>
                </a:ext>
              </a:extLst>
            </p:cNvPr>
            <p:cNvSpPr/>
            <p:nvPr/>
          </p:nvSpPr>
          <p:spPr>
            <a:xfrm>
              <a:off x="4967232" y="5884576"/>
              <a:ext cx="236980" cy="119933"/>
            </a:xfrm>
            <a:custGeom>
              <a:avLst/>
              <a:gdLst>
                <a:gd name="connsiteX0" fmla="*/ 236981 w 236980"/>
                <a:gd name="connsiteY0" fmla="*/ 119933 h 119933"/>
                <a:gd name="connsiteX1" fmla="*/ 0 w 236980"/>
                <a:gd name="connsiteY1" fmla="*/ 119933 h 119933"/>
                <a:gd name="connsiteX2" fmla="*/ 0 w 236980"/>
                <a:gd name="connsiteY2" fmla="*/ 112558 h 119933"/>
                <a:gd name="connsiteX3" fmla="*/ 9364 w 236980"/>
                <a:gd name="connsiteY3" fmla="*/ 68593 h 119933"/>
                <a:gd name="connsiteX4" fmla="*/ 34826 w 236980"/>
                <a:gd name="connsiteY4" fmla="*/ 32805 h 119933"/>
                <a:gd name="connsiteX5" fmla="*/ 72473 w 236980"/>
                <a:gd name="connsiteY5" fmla="*/ 8787 h 119933"/>
                <a:gd name="connsiteX6" fmla="*/ 118458 w 236980"/>
                <a:gd name="connsiteY6" fmla="*/ 0 h 119933"/>
                <a:gd name="connsiteX7" fmla="*/ 164444 w 236980"/>
                <a:gd name="connsiteY7" fmla="*/ 8787 h 119933"/>
                <a:gd name="connsiteX8" fmla="*/ 202091 w 236980"/>
                <a:gd name="connsiteY8" fmla="*/ 32805 h 119933"/>
                <a:gd name="connsiteX9" fmla="*/ 227553 w 236980"/>
                <a:gd name="connsiteY9" fmla="*/ 68593 h 119933"/>
                <a:gd name="connsiteX10" fmla="*/ 236981 w 236980"/>
                <a:gd name="connsiteY10" fmla="*/ 112558 h 119933"/>
                <a:gd name="connsiteX11" fmla="*/ 236981 w 236980"/>
                <a:gd name="connsiteY11" fmla="*/ 119933 h 119933"/>
                <a:gd name="connsiteX12" fmla="*/ 15040 w 236980"/>
                <a:gd name="connsiteY12" fmla="*/ 105182 h 119933"/>
                <a:gd name="connsiteX13" fmla="*/ 221941 w 236980"/>
                <a:gd name="connsiteY13" fmla="*/ 105182 h 119933"/>
                <a:gd name="connsiteX14" fmla="*/ 191990 w 236980"/>
                <a:gd name="connsiteY14" fmla="*/ 43548 h 119933"/>
                <a:gd name="connsiteX15" fmla="*/ 118490 w 236980"/>
                <a:gd name="connsiteY15" fmla="*/ 14751 h 119933"/>
                <a:gd name="connsiteX16" fmla="*/ 44991 w 236980"/>
                <a:gd name="connsiteY16" fmla="*/ 43548 h 119933"/>
                <a:gd name="connsiteX17" fmla="*/ 15040 w 236980"/>
                <a:gd name="connsiteY17" fmla="*/ 105182 h 119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980" h="119933">
                  <a:moveTo>
                    <a:pt x="236981" y="119933"/>
                  </a:moveTo>
                  <a:lnTo>
                    <a:pt x="0" y="119933"/>
                  </a:lnTo>
                  <a:lnTo>
                    <a:pt x="0" y="112558"/>
                  </a:lnTo>
                  <a:cubicBezTo>
                    <a:pt x="0" y="97326"/>
                    <a:pt x="3143" y="82542"/>
                    <a:pt x="9364" y="68593"/>
                  </a:cubicBezTo>
                  <a:cubicBezTo>
                    <a:pt x="15360" y="55189"/>
                    <a:pt x="23923" y="43131"/>
                    <a:pt x="34826" y="32805"/>
                  </a:cubicBezTo>
                  <a:cubicBezTo>
                    <a:pt x="45697" y="22512"/>
                    <a:pt x="58363" y="14430"/>
                    <a:pt x="72473" y="8787"/>
                  </a:cubicBezTo>
                  <a:cubicBezTo>
                    <a:pt x="87032" y="2950"/>
                    <a:pt x="102521" y="0"/>
                    <a:pt x="118458" y="0"/>
                  </a:cubicBezTo>
                  <a:cubicBezTo>
                    <a:pt x="134396" y="0"/>
                    <a:pt x="149885" y="2950"/>
                    <a:pt x="164444" y="8787"/>
                  </a:cubicBezTo>
                  <a:cubicBezTo>
                    <a:pt x="178553" y="14430"/>
                    <a:pt x="191220" y="22512"/>
                    <a:pt x="202091" y="32805"/>
                  </a:cubicBezTo>
                  <a:cubicBezTo>
                    <a:pt x="212994" y="43131"/>
                    <a:pt x="221588" y="55189"/>
                    <a:pt x="227553" y="68593"/>
                  </a:cubicBezTo>
                  <a:cubicBezTo>
                    <a:pt x="233838" y="82542"/>
                    <a:pt x="236981" y="97326"/>
                    <a:pt x="236981" y="112558"/>
                  </a:cubicBezTo>
                  <a:lnTo>
                    <a:pt x="236981" y="119933"/>
                  </a:lnTo>
                  <a:close/>
                  <a:moveTo>
                    <a:pt x="15040" y="105182"/>
                  </a:moveTo>
                  <a:lnTo>
                    <a:pt x="221941" y="105182"/>
                  </a:lnTo>
                  <a:cubicBezTo>
                    <a:pt x="220113" y="81901"/>
                    <a:pt x="209627" y="60255"/>
                    <a:pt x="191990" y="43548"/>
                  </a:cubicBezTo>
                  <a:cubicBezTo>
                    <a:pt x="172364" y="24981"/>
                    <a:pt x="146261" y="14751"/>
                    <a:pt x="118490" y="14751"/>
                  </a:cubicBezTo>
                  <a:cubicBezTo>
                    <a:pt x="90720" y="14751"/>
                    <a:pt x="64617" y="24981"/>
                    <a:pt x="44991" y="43548"/>
                  </a:cubicBezTo>
                  <a:cubicBezTo>
                    <a:pt x="27354" y="60255"/>
                    <a:pt x="16868" y="81901"/>
                    <a:pt x="15040" y="105182"/>
                  </a:cubicBez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84338B46-D875-E5E0-C07F-C52451CF7746}"/>
                </a:ext>
              </a:extLst>
            </p:cNvPr>
            <p:cNvSpPr/>
            <p:nvPr/>
          </p:nvSpPr>
          <p:spPr>
            <a:xfrm>
              <a:off x="5027520" y="5790938"/>
              <a:ext cx="116726" cy="93958"/>
            </a:xfrm>
            <a:custGeom>
              <a:avLst/>
              <a:gdLst>
                <a:gd name="connsiteX0" fmla="*/ 58363 w 116726"/>
                <a:gd name="connsiteY0" fmla="*/ 93959 h 93958"/>
                <a:gd name="connsiteX1" fmla="*/ 0 w 116726"/>
                <a:gd name="connsiteY1" fmla="*/ 38674 h 93958"/>
                <a:gd name="connsiteX2" fmla="*/ 14591 w 116726"/>
                <a:gd name="connsiteY2" fmla="*/ 2373 h 93958"/>
                <a:gd name="connsiteX3" fmla="*/ 20010 w 116726"/>
                <a:gd name="connsiteY3" fmla="*/ 0 h 93958"/>
                <a:gd name="connsiteX4" fmla="*/ 97197 w 116726"/>
                <a:gd name="connsiteY4" fmla="*/ 0 h 93958"/>
                <a:gd name="connsiteX5" fmla="*/ 102553 w 116726"/>
                <a:gd name="connsiteY5" fmla="*/ 2309 h 93958"/>
                <a:gd name="connsiteX6" fmla="*/ 116727 w 116726"/>
                <a:gd name="connsiteY6" fmla="*/ 38674 h 93958"/>
                <a:gd name="connsiteX7" fmla="*/ 58363 w 116726"/>
                <a:gd name="connsiteY7" fmla="*/ 93959 h 93958"/>
                <a:gd name="connsiteX8" fmla="*/ 23409 w 116726"/>
                <a:gd name="connsiteY8" fmla="*/ 14751 h 93958"/>
                <a:gd name="connsiteX9" fmla="*/ 14751 w 116726"/>
                <a:gd name="connsiteY9" fmla="*/ 38674 h 93958"/>
                <a:gd name="connsiteX10" fmla="*/ 58363 w 116726"/>
                <a:gd name="connsiteY10" fmla="*/ 79207 h 93958"/>
                <a:gd name="connsiteX11" fmla="*/ 101976 w 116726"/>
                <a:gd name="connsiteY11" fmla="*/ 38674 h 93958"/>
                <a:gd name="connsiteX12" fmla="*/ 93862 w 116726"/>
                <a:gd name="connsiteY12" fmla="*/ 14751 h 93958"/>
                <a:gd name="connsiteX13" fmla="*/ 23409 w 116726"/>
                <a:gd name="connsiteY13" fmla="*/ 14751 h 9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726" h="93958">
                  <a:moveTo>
                    <a:pt x="58363" y="93959"/>
                  </a:moveTo>
                  <a:cubicBezTo>
                    <a:pt x="26167" y="93959"/>
                    <a:pt x="0" y="69170"/>
                    <a:pt x="0" y="38674"/>
                  </a:cubicBezTo>
                  <a:cubicBezTo>
                    <a:pt x="0" y="25494"/>
                    <a:pt x="5163" y="12603"/>
                    <a:pt x="14591" y="2373"/>
                  </a:cubicBezTo>
                  <a:cubicBezTo>
                    <a:pt x="16002" y="866"/>
                    <a:pt x="17958" y="0"/>
                    <a:pt x="20010" y="0"/>
                  </a:cubicBezTo>
                  <a:lnTo>
                    <a:pt x="97197" y="0"/>
                  </a:lnTo>
                  <a:cubicBezTo>
                    <a:pt x="99218" y="0"/>
                    <a:pt x="101142" y="834"/>
                    <a:pt x="102553" y="2309"/>
                  </a:cubicBezTo>
                  <a:cubicBezTo>
                    <a:pt x="111820" y="12090"/>
                    <a:pt x="116727" y="24660"/>
                    <a:pt x="116727" y="38674"/>
                  </a:cubicBezTo>
                  <a:cubicBezTo>
                    <a:pt x="116727" y="69170"/>
                    <a:pt x="90559" y="93959"/>
                    <a:pt x="58363" y="93959"/>
                  </a:cubicBezTo>
                  <a:close/>
                  <a:moveTo>
                    <a:pt x="23409" y="14751"/>
                  </a:moveTo>
                  <a:cubicBezTo>
                    <a:pt x="17798" y="21806"/>
                    <a:pt x="14751" y="30176"/>
                    <a:pt x="14751" y="38674"/>
                  </a:cubicBezTo>
                  <a:cubicBezTo>
                    <a:pt x="14751" y="61025"/>
                    <a:pt x="34313" y="79207"/>
                    <a:pt x="58363" y="79207"/>
                  </a:cubicBezTo>
                  <a:cubicBezTo>
                    <a:pt x="82414" y="79207"/>
                    <a:pt x="101976" y="61025"/>
                    <a:pt x="101976" y="38674"/>
                  </a:cubicBezTo>
                  <a:cubicBezTo>
                    <a:pt x="101976" y="29438"/>
                    <a:pt x="99250" y="21421"/>
                    <a:pt x="93862" y="14751"/>
                  </a:cubicBezTo>
                  <a:lnTo>
                    <a:pt x="23409" y="14751"/>
                  </a:ln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D7F79AFA-683A-BA1A-735E-804DF300FB3D}"/>
                </a:ext>
              </a:extLst>
            </p:cNvPr>
            <p:cNvSpPr/>
            <p:nvPr/>
          </p:nvSpPr>
          <p:spPr>
            <a:xfrm>
              <a:off x="5031688" y="5738988"/>
              <a:ext cx="106144" cy="66700"/>
            </a:xfrm>
            <a:custGeom>
              <a:avLst/>
              <a:gdLst>
                <a:gd name="connsiteX0" fmla="*/ 96588 w 106144"/>
                <a:gd name="connsiteY0" fmla="*/ 66701 h 66700"/>
                <a:gd name="connsiteX1" fmla="*/ 9556 w 106144"/>
                <a:gd name="connsiteY1" fmla="*/ 66701 h 66700"/>
                <a:gd name="connsiteX2" fmla="*/ 0 w 106144"/>
                <a:gd name="connsiteY2" fmla="*/ 56664 h 66700"/>
                <a:gd name="connsiteX3" fmla="*/ 0 w 106144"/>
                <a:gd name="connsiteY3" fmla="*/ 7376 h 66700"/>
                <a:gd name="connsiteX4" fmla="*/ 7376 w 106144"/>
                <a:gd name="connsiteY4" fmla="*/ 0 h 66700"/>
                <a:gd name="connsiteX5" fmla="*/ 14751 w 106144"/>
                <a:gd name="connsiteY5" fmla="*/ 7376 h 66700"/>
                <a:gd name="connsiteX6" fmla="*/ 14751 w 106144"/>
                <a:gd name="connsiteY6" fmla="*/ 51950 h 66700"/>
                <a:gd name="connsiteX7" fmla="*/ 91393 w 106144"/>
                <a:gd name="connsiteY7" fmla="*/ 51950 h 66700"/>
                <a:gd name="connsiteX8" fmla="*/ 91393 w 106144"/>
                <a:gd name="connsiteY8" fmla="*/ 7376 h 66700"/>
                <a:gd name="connsiteX9" fmla="*/ 98769 w 106144"/>
                <a:gd name="connsiteY9" fmla="*/ 0 h 66700"/>
                <a:gd name="connsiteX10" fmla="*/ 106144 w 106144"/>
                <a:gd name="connsiteY10" fmla="*/ 7376 h 66700"/>
                <a:gd name="connsiteX11" fmla="*/ 106144 w 106144"/>
                <a:gd name="connsiteY11" fmla="*/ 56664 h 66700"/>
                <a:gd name="connsiteX12" fmla="*/ 96588 w 106144"/>
                <a:gd name="connsiteY12" fmla="*/ 66701 h 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144" h="66700">
                  <a:moveTo>
                    <a:pt x="96588" y="66701"/>
                  </a:moveTo>
                  <a:lnTo>
                    <a:pt x="9556" y="66701"/>
                  </a:lnTo>
                  <a:cubicBezTo>
                    <a:pt x="4297" y="66701"/>
                    <a:pt x="0" y="62211"/>
                    <a:pt x="0" y="56664"/>
                  </a:cubicBezTo>
                  <a:lnTo>
                    <a:pt x="0" y="7376"/>
                  </a:lnTo>
                  <a:cubicBezTo>
                    <a:pt x="0" y="3303"/>
                    <a:pt x="3303" y="0"/>
                    <a:pt x="7376" y="0"/>
                  </a:cubicBezTo>
                  <a:cubicBezTo>
                    <a:pt x="11448" y="0"/>
                    <a:pt x="14751" y="3303"/>
                    <a:pt x="14751" y="7376"/>
                  </a:cubicBezTo>
                  <a:lnTo>
                    <a:pt x="14751" y="51950"/>
                  </a:lnTo>
                  <a:lnTo>
                    <a:pt x="91393" y="51950"/>
                  </a:lnTo>
                  <a:lnTo>
                    <a:pt x="91393" y="7376"/>
                  </a:lnTo>
                  <a:cubicBezTo>
                    <a:pt x="91393" y="3303"/>
                    <a:pt x="94696" y="0"/>
                    <a:pt x="98769" y="0"/>
                  </a:cubicBezTo>
                  <a:cubicBezTo>
                    <a:pt x="102841" y="0"/>
                    <a:pt x="106144" y="3303"/>
                    <a:pt x="106144" y="7376"/>
                  </a:cubicBezTo>
                  <a:lnTo>
                    <a:pt x="106144" y="56664"/>
                  </a:lnTo>
                  <a:cubicBezTo>
                    <a:pt x="106144" y="62211"/>
                    <a:pt x="101879" y="66701"/>
                    <a:pt x="96588" y="66701"/>
                  </a:cubicBez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81244D2A-CF5B-99A8-477F-E31DBF8081D8}"/>
                </a:ext>
              </a:extLst>
            </p:cNvPr>
            <p:cNvSpPr/>
            <p:nvPr/>
          </p:nvSpPr>
          <p:spPr>
            <a:xfrm>
              <a:off x="4996093" y="5717182"/>
              <a:ext cx="178617" cy="122178"/>
            </a:xfrm>
            <a:custGeom>
              <a:avLst/>
              <a:gdLst>
                <a:gd name="connsiteX0" fmla="*/ 89309 w 178617"/>
                <a:gd name="connsiteY0" fmla="*/ 57401 h 122178"/>
                <a:gd name="connsiteX1" fmla="*/ 81677 w 178617"/>
                <a:gd name="connsiteY1" fmla="*/ 56343 h 122178"/>
                <a:gd name="connsiteX2" fmla="*/ 0 w 178617"/>
                <a:gd name="connsiteY2" fmla="*/ 28701 h 122178"/>
                <a:gd name="connsiteX3" fmla="*/ 81677 w 178617"/>
                <a:gd name="connsiteY3" fmla="*/ 1058 h 122178"/>
                <a:gd name="connsiteX4" fmla="*/ 96973 w 178617"/>
                <a:gd name="connsiteY4" fmla="*/ 1058 h 122178"/>
                <a:gd name="connsiteX5" fmla="*/ 178618 w 178617"/>
                <a:gd name="connsiteY5" fmla="*/ 28701 h 122178"/>
                <a:gd name="connsiteX6" fmla="*/ 96973 w 178617"/>
                <a:gd name="connsiteY6" fmla="*/ 56343 h 122178"/>
                <a:gd name="connsiteX7" fmla="*/ 89309 w 178617"/>
                <a:gd name="connsiteY7" fmla="*/ 57401 h 122178"/>
                <a:gd name="connsiteX8" fmla="*/ 46049 w 178617"/>
                <a:gd name="connsiteY8" fmla="*/ 28701 h 122178"/>
                <a:gd name="connsiteX9" fmla="*/ 86423 w 178617"/>
                <a:gd name="connsiteY9" fmla="*/ 42362 h 122178"/>
                <a:gd name="connsiteX10" fmla="*/ 92259 w 178617"/>
                <a:gd name="connsiteY10" fmla="*/ 42362 h 122178"/>
                <a:gd name="connsiteX11" fmla="*/ 132632 w 178617"/>
                <a:gd name="connsiteY11" fmla="*/ 28701 h 122178"/>
                <a:gd name="connsiteX12" fmla="*/ 92227 w 178617"/>
                <a:gd name="connsiteY12" fmla="*/ 15040 h 122178"/>
                <a:gd name="connsiteX13" fmla="*/ 86391 w 178617"/>
                <a:gd name="connsiteY13" fmla="*/ 15040 h 122178"/>
                <a:gd name="connsiteX14" fmla="*/ 46049 w 178617"/>
                <a:gd name="connsiteY14" fmla="*/ 28701 h 122178"/>
                <a:gd name="connsiteX15" fmla="*/ 166432 w 178617"/>
                <a:gd name="connsiteY15" fmla="*/ 40085 h 122178"/>
                <a:gd name="connsiteX16" fmla="*/ 167073 w 178617"/>
                <a:gd name="connsiteY16" fmla="*/ 40085 h 122178"/>
                <a:gd name="connsiteX17" fmla="*/ 174128 w 178617"/>
                <a:gd name="connsiteY17" fmla="*/ 47140 h 122178"/>
                <a:gd name="connsiteX18" fmla="*/ 174128 w 178617"/>
                <a:gd name="connsiteY18" fmla="*/ 115123 h 122178"/>
                <a:gd name="connsiteX19" fmla="*/ 167073 w 178617"/>
                <a:gd name="connsiteY19" fmla="*/ 122178 h 122178"/>
                <a:gd name="connsiteX20" fmla="*/ 166432 w 178617"/>
                <a:gd name="connsiteY20" fmla="*/ 122178 h 122178"/>
                <a:gd name="connsiteX21" fmla="*/ 159377 w 178617"/>
                <a:gd name="connsiteY21" fmla="*/ 115123 h 122178"/>
                <a:gd name="connsiteX22" fmla="*/ 159377 w 178617"/>
                <a:gd name="connsiteY22" fmla="*/ 47140 h 122178"/>
                <a:gd name="connsiteX23" fmla="*/ 166432 w 178617"/>
                <a:gd name="connsiteY23" fmla="*/ 40085 h 122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617" h="122178">
                  <a:moveTo>
                    <a:pt x="89309" y="57401"/>
                  </a:moveTo>
                  <a:cubicBezTo>
                    <a:pt x="86551" y="57401"/>
                    <a:pt x="83761" y="57049"/>
                    <a:pt x="81677" y="56343"/>
                  </a:cubicBezTo>
                  <a:lnTo>
                    <a:pt x="0" y="28701"/>
                  </a:lnTo>
                  <a:lnTo>
                    <a:pt x="81677" y="1058"/>
                  </a:lnTo>
                  <a:cubicBezTo>
                    <a:pt x="85877" y="-353"/>
                    <a:pt x="92740" y="-353"/>
                    <a:pt x="96973" y="1058"/>
                  </a:cubicBezTo>
                  <a:lnTo>
                    <a:pt x="178618" y="28701"/>
                  </a:lnTo>
                  <a:lnTo>
                    <a:pt x="96973" y="56343"/>
                  </a:lnTo>
                  <a:cubicBezTo>
                    <a:pt x="94856" y="57049"/>
                    <a:pt x="92067" y="57401"/>
                    <a:pt x="89309" y="57401"/>
                  </a:cubicBezTo>
                  <a:close/>
                  <a:moveTo>
                    <a:pt x="46049" y="28701"/>
                  </a:moveTo>
                  <a:lnTo>
                    <a:pt x="86423" y="42362"/>
                  </a:lnTo>
                  <a:cubicBezTo>
                    <a:pt x="87609" y="42746"/>
                    <a:pt x="91072" y="42746"/>
                    <a:pt x="92259" y="42362"/>
                  </a:cubicBezTo>
                  <a:lnTo>
                    <a:pt x="132632" y="28701"/>
                  </a:lnTo>
                  <a:lnTo>
                    <a:pt x="92227" y="15040"/>
                  </a:lnTo>
                  <a:cubicBezTo>
                    <a:pt x="91040" y="14655"/>
                    <a:pt x="87577" y="14655"/>
                    <a:pt x="86391" y="15040"/>
                  </a:cubicBezTo>
                  <a:lnTo>
                    <a:pt x="46049" y="28701"/>
                  </a:lnTo>
                  <a:close/>
                  <a:moveTo>
                    <a:pt x="166432" y="40085"/>
                  </a:moveTo>
                  <a:lnTo>
                    <a:pt x="167073" y="40085"/>
                  </a:lnTo>
                  <a:cubicBezTo>
                    <a:pt x="170985" y="40085"/>
                    <a:pt x="174128" y="43227"/>
                    <a:pt x="174128" y="47140"/>
                  </a:cubicBezTo>
                  <a:lnTo>
                    <a:pt x="174128" y="115123"/>
                  </a:lnTo>
                  <a:cubicBezTo>
                    <a:pt x="174128" y="119036"/>
                    <a:pt x="170985" y="122178"/>
                    <a:pt x="167073" y="122178"/>
                  </a:cubicBezTo>
                  <a:lnTo>
                    <a:pt x="166432" y="122178"/>
                  </a:lnTo>
                  <a:cubicBezTo>
                    <a:pt x="162519" y="122178"/>
                    <a:pt x="159377" y="119036"/>
                    <a:pt x="159377" y="115123"/>
                  </a:cubicBezTo>
                  <a:lnTo>
                    <a:pt x="159377" y="47140"/>
                  </a:lnTo>
                  <a:cubicBezTo>
                    <a:pt x="159377" y="43227"/>
                    <a:pt x="162519" y="40085"/>
                    <a:pt x="166432" y="40085"/>
                  </a:cubicBez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09C6ADB-7080-3DB3-388D-7796298F7121}"/>
              </a:ext>
            </a:extLst>
          </p:cNvPr>
          <p:cNvSpPr txBox="1"/>
          <p:nvPr/>
        </p:nvSpPr>
        <p:spPr>
          <a:xfrm>
            <a:off x="5216431" y="546524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指导教师：李谢华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03819D-D0AF-626B-46F5-6E641D1E5EEC}"/>
              </a:ext>
            </a:extLst>
          </p:cNvPr>
          <p:cNvSpPr txBox="1"/>
          <p:nvPr/>
        </p:nvSpPr>
        <p:spPr>
          <a:xfrm>
            <a:off x="8567035" y="5465245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日期：</a:t>
            </a:r>
            <a:r>
              <a:rPr lang="en-US" altLang="zh-CN" b="1" dirty="0">
                <a:latin typeface="+mn-ea"/>
              </a:rPr>
              <a:t>2026</a:t>
            </a:r>
            <a:r>
              <a:rPr lang="zh-CN" altLang="en-US" b="1" dirty="0">
                <a:latin typeface="+mn-ea"/>
              </a:rPr>
              <a:t>年</a:t>
            </a:r>
            <a:r>
              <a:rPr lang="en-US" altLang="zh-CN" b="1" dirty="0">
                <a:latin typeface="+mn-ea"/>
              </a:rPr>
              <a:t>10</a:t>
            </a:r>
            <a:r>
              <a:rPr lang="zh-CN" altLang="en-US" b="1" dirty="0">
                <a:latin typeface="+mn-ea"/>
              </a:rPr>
              <a:t>月</a:t>
            </a:r>
            <a:r>
              <a:rPr lang="en-US" altLang="zh-CN" b="1" dirty="0">
                <a:latin typeface="+mn-ea"/>
              </a:rPr>
              <a:t>18</a:t>
            </a:r>
            <a:r>
              <a:rPr lang="zh-CN" altLang="en-US" b="1" dirty="0">
                <a:latin typeface="+mn-ea"/>
              </a:rPr>
              <a:t>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9EA1A2-C05B-2000-1E8A-606BC70ECAB0}"/>
              </a:ext>
            </a:extLst>
          </p:cNvPr>
          <p:cNvGrpSpPr/>
          <p:nvPr/>
        </p:nvGrpSpPr>
        <p:grpSpPr>
          <a:xfrm>
            <a:off x="8236952" y="5522470"/>
            <a:ext cx="246915" cy="254882"/>
            <a:chOff x="7677146" y="5098017"/>
            <a:chExt cx="892968" cy="921781"/>
          </a:xfrm>
          <a:solidFill>
            <a:schemeClr val="accent1"/>
          </a:solidFill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245FCB07-34F2-F1DC-0A7F-1552EE56C391}"/>
                </a:ext>
              </a:extLst>
            </p:cNvPr>
            <p:cNvSpPr/>
            <p:nvPr/>
          </p:nvSpPr>
          <p:spPr>
            <a:xfrm>
              <a:off x="7836630" y="5476636"/>
              <a:ext cx="574059" cy="427970"/>
            </a:xfrm>
            <a:custGeom>
              <a:avLst/>
              <a:gdLst>
                <a:gd name="connsiteX0" fmla="*/ 334863 w 574059"/>
                <a:gd name="connsiteY0" fmla="*/ 263366 h 427970"/>
                <a:gd name="connsiteX1" fmla="*/ 398562 w 574059"/>
                <a:gd name="connsiteY1" fmla="*/ 263366 h 427970"/>
                <a:gd name="connsiteX2" fmla="*/ 414516 w 574059"/>
                <a:gd name="connsiteY2" fmla="*/ 246876 h 427970"/>
                <a:gd name="connsiteX3" fmla="*/ 414516 w 574059"/>
                <a:gd name="connsiteY3" fmla="*/ 181035 h 427970"/>
                <a:gd name="connsiteX4" fmla="*/ 398562 w 574059"/>
                <a:gd name="connsiteY4" fmla="*/ 164604 h 427970"/>
                <a:gd name="connsiteX5" fmla="*/ 334863 w 574059"/>
                <a:gd name="connsiteY5" fmla="*/ 164604 h 427970"/>
                <a:gd name="connsiteX6" fmla="*/ 318909 w 574059"/>
                <a:gd name="connsiteY6" fmla="*/ 181035 h 427970"/>
                <a:gd name="connsiteX7" fmla="*/ 318909 w 574059"/>
                <a:gd name="connsiteY7" fmla="*/ 246876 h 427970"/>
                <a:gd name="connsiteX8" fmla="*/ 334863 w 574059"/>
                <a:gd name="connsiteY8" fmla="*/ 263366 h 427970"/>
                <a:gd name="connsiteX9" fmla="*/ 334863 w 574059"/>
                <a:gd name="connsiteY9" fmla="*/ 98762 h 427970"/>
                <a:gd name="connsiteX10" fmla="*/ 398562 w 574059"/>
                <a:gd name="connsiteY10" fmla="*/ 98762 h 427970"/>
                <a:gd name="connsiteX11" fmla="*/ 414516 w 574059"/>
                <a:gd name="connsiteY11" fmla="*/ 82272 h 427970"/>
                <a:gd name="connsiteX12" fmla="*/ 414516 w 574059"/>
                <a:gd name="connsiteY12" fmla="*/ 16431 h 427970"/>
                <a:gd name="connsiteX13" fmla="*/ 398562 w 574059"/>
                <a:gd name="connsiteY13" fmla="*/ 0 h 427970"/>
                <a:gd name="connsiteX14" fmla="*/ 334863 w 574059"/>
                <a:gd name="connsiteY14" fmla="*/ 0 h 427970"/>
                <a:gd name="connsiteX15" fmla="*/ 318909 w 574059"/>
                <a:gd name="connsiteY15" fmla="*/ 16431 h 427970"/>
                <a:gd name="connsiteX16" fmla="*/ 318909 w 574059"/>
                <a:gd name="connsiteY16" fmla="*/ 82272 h 427970"/>
                <a:gd name="connsiteX17" fmla="*/ 334863 w 574059"/>
                <a:gd name="connsiteY17" fmla="*/ 98762 h 427970"/>
                <a:gd name="connsiteX18" fmla="*/ 494288 w 574059"/>
                <a:gd name="connsiteY18" fmla="*/ 98762 h 427970"/>
                <a:gd name="connsiteX19" fmla="*/ 558106 w 574059"/>
                <a:gd name="connsiteY19" fmla="*/ 98762 h 427970"/>
                <a:gd name="connsiteX20" fmla="*/ 574060 w 574059"/>
                <a:gd name="connsiteY20" fmla="*/ 82272 h 427970"/>
                <a:gd name="connsiteX21" fmla="*/ 574060 w 574059"/>
                <a:gd name="connsiteY21" fmla="*/ 16431 h 427970"/>
                <a:gd name="connsiteX22" fmla="*/ 558106 w 574059"/>
                <a:gd name="connsiteY22" fmla="*/ 0 h 427970"/>
                <a:gd name="connsiteX23" fmla="*/ 494288 w 574059"/>
                <a:gd name="connsiteY23" fmla="*/ 0 h 427970"/>
                <a:gd name="connsiteX24" fmla="*/ 478334 w 574059"/>
                <a:gd name="connsiteY24" fmla="*/ 16431 h 427970"/>
                <a:gd name="connsiteX25" fmla="*/ 478334 w 574059"/>
                <a:gd name="connsiteY25" fmla="*/ 82272 h 427970"/>
                <a:gd name="connsiteX26" fmla="*/ 494288 w 574059"/>
                <a:gd name="connsiteY26" fmla="*/ 98762 h 427970"/>
                <a:gd name="connsiteX27" fmla="*/ 175379 w 574059"/>
                <a:gd name="connsiteY27" fmla="*/ 98762 h 427970"/>
                <a:gd name="connsiteX28" fmla="*/ 239197 w 574059"/>
                <a:gd name="connsiteY28" fmla="*/ 98762 h 427970"/>
                <a:gd name="connsiteX29" fmla="*/ 255091 w 574059"/>
                <a:gd name="connsiteY29" fmla="*/ 82272 h 427970"/>
                <a:gd name="connsiteX30" fmla="*/ 255091 w 574059"/>
                <a:gd name="connsiteY30" fmla="*/ 16431 h 427970"/>
                <a:gd name="connsiteX31" fmla="*/ 239197 w 574059"/>
                <a:gd name="connsiteY31" fmla="*/ 0 h 427970"/>
                <a:gd name="connsiteX32" fmla="*/ 175320 w 574059"/>
                <a:gd name="connsiteY32" fmla="*/ 0 h 427970"/>
                <a:gd name="connsiteX33" fmla="*/ 159365 w 574059"/>
                <a:gd name="connsiteY33" fmla="*/ 16431 h 427970"/>
                <a:gd name="connsiteX34" fmla="*/ 159365 w 574059"/>
                <a:gd name="connsiteY34" fmla="*/ 82272 h 427970"/>
                <a:gd name="connsiteX35" fmla="*/ 175320 w 574059"/>
                <a:gd name="connsiteY35" fmla="*/ 98762 h 427970"/>
                <a:gd name="connsiteX36" fmla="*/ 494288 w 574059"/>
                <a:gd name="connsiteY36" fmla="*/ 263366 h 427970"/>
                <a:gd name="connsiteX37" fmla="*/ 558106 w 574059"/>
                <a:gd name="connsiteY37" fmla="*/ 263366 h 427970"/>
                <a:gd name="connsiteX38" fmla="*/ 574060 w 574059"/>
                <a:gd name="connsiteY38" fmla="*/ 246876 h 427970"/>
                <a:gd name="connsiteX39" fmla="*/ 574060 w 574059"/>
                <a:gd name="connsiteY39" fmla="*/ 181035 h 427970"/>
                <a:gd name="connsiteX40" fmla="*/ 558106 w 574059"/>
                <a:gd name="connsiteY40" fmla="*/ 164604 h 427970"/>
                <a:gd name="connsiteX41" fmla="*/ 494288 w 574059"/>
                <a:gd name="connsiteY41" fmla="*/ 164604 h 427970"/>
                <a:gd name="connsiteX42" fmla="*/ 478334 w 574059"/>
                <a:gd name="connsiteY42" fmla="*/ 181035 h 427970"/>
                <a:gd name="connsiteX43" fmla="*/ 478334 w 574059"/>
                <a:gd name="connsiteY43" fmla="*/ 246876 h 427970"/>
                <a:gd name="connsiteX44" fmla="*/ 494288 w 574059"/>
                <a:gd name="connsiteY44" fmla="*/ 263366 h 427970"/>
                <a:gd name="connsiteX45" fmla="*/ 494288 w 574059"/>
                <a:gd name="connsiteY45" fmla="*/ 427970 h 427970"/>
                <a:gd name="connsiteX46" fmla="*/ 558106 w 574059"/>
                <a:gd name="connsiteY46" fmla="*/ 427970 h 427970"/>
                <a:gd name="connsiteX47" fmla="*/ 574060 w 574059"/>
                <a:gd name="connsiteY47" fmla="*/ 411480 h 427970"/>
                <a:gd name="connsiteX48" fmla="*/ 574060 w 574059"/>
                <a:gd name="connsiteY48" fmla="*/ 345638 h 427970"/>
                <a:gd name="connsiteX49" fmla="*/ 558106 w 574059"/>
                <a:gd name="connsiteY49" fmla="*/ 329208 h 427970"/>
                <a:gd name="connsiteX50" fmla="*/ 494288 w 574059"/>
                <a:gd name="connsiteY50" fmla="*/ 329208 h 427970"/>
                <a:gd name="connsiteX51" fmla="*/ 478334 w 574059"/>
                <a:gd name="connsiteY51" fmla="*/ 345638 h 427970"/>
                <a:gd name="connsiteX52" fmla="*/ 478334 w 574059"/>
                <a:gd name="connsiteY52" fmla="*/ 411480 h 427970"/>
                <a:gd name="connsiteX53" fmla="*/ 494288 w 574059"/>
                <a:gd name="connsiteY53" fmla="*/ 427970 h 427970"/>
                <a:gd name="connsiteX54" fmla="*/ 334863 w 574059"/>
                <a:gd name="connsiteY54" fmla="*/ 427970 h 427970"/>
                <a:gd name="connsiteX55" fmla="*/ 398562 w 574059"/>
                <a:gd name="connsiteY55" fmla="*/ 427970 h 427970"/>
                <a:gd name="connsiteX56" fmla="*/ 414516 w 574059"/>
                <a:gd name="connsiteY56" fmla="*/ 411480 h 427970"/>
                <a:gd name="connsiteX57" fmla="*/ 414516 w 574059"/>
                <a:gd name="connsiteY57" fmla="*/ 345638 h 427970"/>
                <a:gd name="connsiteX58" fmla="*/ 398562 w 574059"/>
                <a:gd name="connsiteY58" fmla="*/ 329208 h 427970"/>
                <a:gd name="connsiteX59" fmla="*/ 334863 w 574059"/>
                <a:gd name="connsiteY59" fmla="*/ 329208 h 427970"/>
                <a:gd name="connsiteX60" fmla="*/ 318909 w 574059"/>
                <a:gd name="connsiteY60" fmla="*/ 345638 h 427970"/>
                <a:gd name="connsiteX61" fmla="*/ 318909 w 574059"/>
                <a:gd name="connsiteY61" fmla="*/ 411480 h 427970"/>
                <a:gd name="connsiteX62" fmla="*/ 334863 w 574059"/>
                <a:gd name="connsiteY62" fmla="*/ 427970 h 427970"/>
                <a:gd name="connsiteX63" fmla="*/ 15954 w 574059"/>
                <a:gd name="connsiteY63" fmla="*/ 427970 h 427970"/>
                <a:gd name="connsiteX64" fmla="*/ 79712 w 574059"/>
                <a:gd name="connsiteY64" fmla="*/ 427970 h 427970"/>
                <a:gd name="connsiteX65" fmla="*/ 95667 w 574059"/>
                <a:gd name="connsiteY65" fmla="*/ 411480 h 427970"/>
                <a:gd name="connsiteX66" fmla="*/ 95667 w 574059"/>
                <a:gd name="connsiteY66" fmla="*/ 345638 h 427970"/>
                <a:gd name="connsiteX67" fmla="*/ 79712 w 574059"/>
                <a:gd name="connsiteY67" fmla="*/ 329208 h 427970"/>
                <a:gd name="connsiteX68" fmla="*/ 15954 w 574059"/>
                <a:gd name="connsiteY68" fmla="*/ 329208 h 427970"/>
                <a:gd name="connsiteX69" fmla="*/ 0 w 574059"/>
                <a:gd name="connsiteY69" fmla="*/ 345638 h 427970"/>
                <a:gd name="connsiteX70" fmla="*/ 0 w 574059"/>
                <a:gd name="connsiteY70" fmla="*/ 411480 h 427970"/>
                <a:gd name="connsiteX71" fmla="*/ 15954 w 574059"/>
                <a:gd name="connsiteY71" fmla="*/ 427970 h 427970"/>
                <a:gd name="connsiteX72" fmla="*/ 15954 w 574059"/>
                <a:gd name="connsiteY72" fmla="*/ 263366 h 427970"/>
                <a:gd name="connsiteX73" fmla="*/ 79712 w 574059"/>
                <a:gd name="connsiteY73" fmla="*/ 263366 h 427970"/>
                <a:gd name="connsiteX74" fmla="*/ 95667 w 574059"/>
                <a:gd name="connsiteY74" fmla="*/ 246876 h 427970"/>
                <a:gd name="connsiteX75" fmla="*/ 95667 w 574059"/>
                <a:gd name="connsiteY75" fmla="*/ 181035 h 427970"/>
                <a:gd name="connsiteX76" fmla="*/ 79712 w 574059"/>
                <a:gd name="connsiteY76" fmla="*/ 164604 h 427970"/>
                <a:gd name="connsiteX77" fmla="*/ 15954 w 574059"/>
                <a:gd name="connsiteY77" fmla="*/ 164604 h 427970"/>
                <a:gd name="connsiteX78" fmla="*/ 0 w 574059"/>
                <a:gd name="connsiteY78" fmla="*/ 181035 h 427970"/>
                <a:gd name="connsiteX79" fmla="*/ 0 w 574059"/>
                <a:gd name="connsiteY79" fmla="*/ 246876 h 427970"/>
                <a:gd name="connsiteX80" fmla="*/ 15954 w 574059"/>
                <a:gd name="connsiteY80" fmla="*/ 263366 h 42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74059" h="427970">
                  <a:moveTo>
                    <a:pt x="334863" y="263366"/>
                  </a:moveTo>
                  <a:lnTo>
                    <a:pt x="398562" y="263366"/>
                  </a:lnTo>
                  <a:cubicBezTo>
                    <a:pt x="408087" y="263366"/>
                    <a:pt x="414516" y="256818"/>
                    <a:pt x="414516" y="246876"/>
                  </a:cubicBezTo>
                  <a:lnTo>
                    <a:pt x="414516" y="181035"/>
                  </a:lnTo>
                  <a:cubicBezTo>
                    <a:pt x="414516" y="171152"/>
                    <a:pt x="408146" y="164604"/>
                    <a:pt x="398562" y="164604"/>
                  </a:cubicBezTo>
                  <a:lnTo>
                    <a:pt x="334863" y="164604"/>
                  </a:lnTo>
                  <a:cubicBezTo>
                    <a:pt x="325279" y="164604"/>
                    <a:pt x="318909" y="171152"/>
                    <a:pt x="318909" y="181035"/>
                  </a:cubicBezTo>
                  <a:lnTo>
                    <a:pt x="318909" y="246876"/>
                  </a:lnTo>
                  <a:cubicBezTo>
                    <a:pt x="318909" y="256758"/>
                    <a:pt x="325279" y="263366"/>
                    <a:pt x="334863" y="263366"/>
                  </a:cubicBezTo>
                  <a:close/>
                  <a:moveTo>
                    <a:pt x="334863" y="98762"/>
                  </a:moveTo>
                  <a:lnTo>
                    <a:pt x="398562" y="98762"/>
                  </a:lnTo>
                  <a:cubicBezTo>
                    <a:pt x="408087" y="98762"/>
                    <a:pt x="414516" y="92214"/>
                    <a:pt x="414516" y="82272"/>
                  </a:cubicBezTo>
                  <a:lnTo>
                    <a:pt x="414516" y="16431"/>
                  </a:lnTo>
                  <a:cubicBezTo>
                    <a:pt x="414516" y="6548"/>
                    <a:pt x="408146" y="0"/>
                    <a:pt x="398562" y="0"/>
                  </a:cubicBezTo>
                  <a:lnTo>
                    <a:pt x="334863" y="0"/>
                  </a:lnTo>
                  <a:cubicBezTo>
                    <a:pt x="325279" y="0"/>
                    <a:pt x="318909" y="6548"/>
                    <a:pt x="318909" y="16431"/>
                  </a:cubicBezTo>
                  <a:lnTo>
                    <a:pt x="318909" y="82272"/>
                  </a:lnTo>
                  <a:cubicBezTo>
                    <a:pt x="318909" y="92154"/>
                    <a:pt x="325279" y="98762"/>
                    <a:pt x="334863" y="98762"/>
                  </a:cubicBezTo>
                  <a:close/>
                  <a:moveTo>
                    <a:pt x="494288" y="98762"/>
                  </a:moveTo>
                  <a:lnTo>
                    <a:pt x="558106" y="98762"/>
                  </a:lnTo>
                  <a:cubicBezTo>
                    <a:pt x="567630" y="98762"/>
                    <a:pt x="574060" y="92214"/>
                    <a:pt x="574060" y="82272"/>
                  </a:cubicBezTo>
                  <a:lnTo>
                    <a:pt x="574060" y="16431"/>
                  </a:lnTo>
                  <a:cubicBezTo>
                    <a:pt x="574060" y="6548"/>
                    <a:pt x="567630" y="0"/>
                    <a:pt x="558106" y="0"/>
                  </a:cubicBezTo>
                  <a:lnTo>
                    <a:pt x="494288" y="0"/>
                  </a:lnTo>
                  <a:cubicBezTo>
                    <a:pt x="484763" y="0"/>
                    <a:pt x="478334" y="6548"/>
                    <a:pt x="478334" y="16431"/>
                  </a:cubicBezTo>
                  <a:lnTo>
                    <a:pt x="478334" y="82272"/>
                  </a:lnTo>
                  <a:cubicBezTo>
                    <a:pt x="478334" y="92154"/>
                    <a:pt x="484763" y="98762"/>
                    <a:pt x="494288" y="98762"/>
                  </a:cubicBezTo>
                  <a:close/>
                  <a:moveTo>
                    <a:pt x="175379" y="98762"/>
                  </a:moveTo>
                  <a:lnTo>
                    <a:pt x="239197" y="98762"/>
                  </a:lnTo>
                  <a:cubicBezTo>
                    <a:pt x="248722" y="98762"/>
                    <a:pt x="255091" y="92214"/>
                    <a:pt x="255091" y="82272"/>
                  </a:cubicBezTo>
                  <a:lnTo>
                    <a:pt x="255091" y="16431"/>
                  </a:lnTo>
                  <a:cubicBezTo>
                    <a:pt x="255091" y="6548"/>
                    <a:pt x="248722" y="0"/>
                    <a:pt x="239197" y="0"/>
                  </a:cubicBezTo>
                  <a:lnTo>
                    <a:pt x="175320" y="0"/>
                  </a:lnTo>
                  <a:cubicBezTo>
                    <a:pt x="165795" y="0"/>
                    <a:pt x="159365" y="6548"/>
                    <a:pt x="159365" y="16431"/>
                  </a:cubicBezTo>
                  <a:lnTo>
                    <a:pt x="159365" y="82272"/>
                  </a:lnTo>
                  <a:cubicBezTo>
                    <a:pt x="159365" y="92154"/>
                    <a:pt x="165735" y="98762"/>
                    <a:pt x="175320" y="98762"/>
                  </a:cubicBezTo>
                  <a:close/>
                  <a:moveTo>
                    <a:pt x="494288" y="263366"/>
                  </a:moveTo>
                  <a:lnTo>
                    <a:pt x="558106" y="263366"/>
                  </a:lnTo>
                  <a:cubicBezTo>
                    <a:pt x="567630" y="263366"/>
                    <a:pt x="574060" y="256818"/>
                    <a:pt x="574060" y="246876"/>
                  </a:cubicBezTo>
                  <a:lnTo>
                    <a:pt x="574060" y="181035"/>
                  </a:lnTo>
                  <a:cubicBezTo>
                    <a:pt x="574060" y="171152"/>
                    <a:pt x="567630" y="164604"/>
                    <a:pt x="558106" y="164604"/>
                  </a:cubicBezTo>
                  <a:lnTo>
                    <a:pt x="494288" y="164604"/>
                  </a:lnTo>
                  <a:cubicBezTo>
                    <a:pt x="484763" y="164604"/>
                    <a:pt x="478334" y="171152"/>
                    <a:pt x="478334" y="181035"/>
                  </a:cubicBezTo>
                  <a:lnTo>
                    <a:pt x="478334" y="246876"/>
                  </a:lnTo>
                  <a:cubicBezTo>
                    <a:pt x="478334" y="256758"/>
                    <a:pt x="484763" y="263366"/>
                    <a:pt x="494288" y="263366"/>
                  </a:cubicBezTo>
                  <a:close/>
                  <a:moveTo>
                    <a:pt x="494288" y="427970"/>
                  </a:moveTo>
                  <a:lnTo>
                    <a:pt x="558106" y="427970"/>
                  </a:lnTo>
                  <a:cubicBezTo>
                    <a:pt x="567630" y="427970"/>
                    <a:pt x="574060" y="421422"/>
                    <a:pt x="574060" y="411480"/>
                  </a:cubicBezTo>
                  <a:lnTo>
                    <a:pt x="574060" y="345638"/>
                  </a:lnTo>
                  <a:cubicBezTo>
                    <a:pt x="574060" y="335756"/>
                    <a:pt x="567630" y="329208"/>
                    <a:pt x="558106" y="329208"/>
                  </a:cubicBezTo>
                  <a:lnTo>
                    <a:pt x="494288" y="329208"/>
                  </a:lnTo>
                  <a:cubicBezTo>
                    <a:pt x="484763" y="329208"/>
                    <a:pt x="478334" y="335756"/>
                    <a:pt x="478334" y="345638"/>
                  </a:cubicBezTo>
                  <a:lnTo>
                    <a:pt x="478334" y="411480"/>
                  </a:lnTo>
                  <a:cubicBezTo>
                    <a:pt x="478334" y="421362"/>
                    <a:pt x="484763" y="427970"/>
                    <a:pt x="494288" y="427970"/>
                  </a:cubicBezTo>
                  <a:close/>
                  <a:moveTo>
                    <a:pt x="334863" y="427970"/>
                  </a:moveTo>
                  <a:lnTo>
                    <a:pt x="398562" y="427970"/>
                  </a:lnTo>
                  <a:cubicBezTo>
                    <a:pt x="408087" y="427970"/>
                    <a:pt x="414516" y="421422"/>
                    <a:pt x="414516" y="411480"/>
                  </a:cubicBezTo>
                  <a:lnTo>
                    <a:pt x="414516" y="345638"/>
                  </a:lnTo>
                  <a:cubicBezTo>
                    <a:pt x="414516" y="335756"/>
                    <a:pt x="408146" y="329208"/>
                    <a:pt x="398562" y="329208"/>
                  </a:cubicBezTo>
                  <a:lnTo>
                    <a:pt x="334863" y="329208"/>
                  </a:lnTo>
                  <a:cubicBezTo>
                    <a:pt x="325279" y="329208"/>
                    <a:pt x="318909" y="335756"/>
                    <a:pt x="318909" y="345638"/>
                  </a:cubicBezTo>
                  <a:lnTo>
                    <a:pt x="318909" y="411480"/>
                  </a:lnTo>
                  <a:cubicBezTo>
                    <a:pt x="318909" y="421362"/>
                    <a:pt x="325279" y="427970"/>
                    <a:pt x="334863" y="427970"/>
                  </a:cubicBezTo>
                  <a:close/>
                  <a:moveTo>
                    <a:pt x="15954" y="427970"/>
                  </a:moveTo>
                  <a:lnTo>
                    <a:pt x="79712" y="427970"/>
                  </a:lnTo>
                  <a:cubicBezTo>
                    <a:pt x="89237" y="427970"/>
                    <a:pt x="95667" y="421422"/>
                    <a:pt x="95667" y="411480"/>
                  </a:cubicBezTo>
                  <a:lnTo>
                    <a:pt x="95667" y="345638"/>
                  </a:lnTo>
                  <a:cubicBezTo>
                    <a:pt x="95667" y="335756"/>
                    <a:pt x="89297" y="329208"/>
                    <a:pt x="79712" y="329208"/>
                  </a:cubicBezTo>
                  <a:lnTo>
                    <a:pt x="15954" y="329208"/>
                  </a:lnTo>
                  <a:cubicBezTo>
                    <a:pt x="6370" y="329208"/>
                    <a:pt x="0" y="335756"/>
                    <a:pt x="0" y="345638"/>
                  </a:cubicBezTo>
                  <a:lnTo>
                    <a:pt x="0" y="411480"/>
                  </a:lnTo>
                  <a:cubicBezTo>
                    <a:pt x="0" y="421362"/>
                    <a:pt x="6370" y="427970"/>
                    <a:pt x="15954" y="427970"/>
                  </a:cubicBezTo>
                  <a:close/>
                  <a:moveTo>
                    <a:pt x="15954" y="263366"/>
                  </a:moveTo>
                  <a:lnTo>
                    <a:pt x="79712" y="263366"/>
                  </a:lnTo>
                  <a:cubicBezTo>
                    <a:pt x="89237" y="263366"/>
                    <a:pt x="95667" y="256818"/>
                    <a:pt x="95667" y="246876"/>
                  </a:cubicBezTo>
                  <a:lnTo>
                    <a:pt x="95667" y="181035"/>
                  </a:lnTo>
                  <a:cubicBezTo>
                    <a:pt x="95667" y="171152"/>
                    <a:pt x="89297" y="164604"/>
                    <a:pt x="79712" y="164604"/>
                  </a:cubicBezTo>
                  <a:lnTo>
                    <a:pt x="15954" y="164604"/>
                  </a:lnTo>
                  <a:cubicBezTo>
                    <a:pt x="6370" y="164604"/>
                    <a:pt x="0" y="171152"/>
                    <a:pt x="0" y="181035"/>
                  </a:cubicBezTo>
                  <a:lnTo>
                    <a:pt x="0" y="246876"/>
                  </a:lnTo>
                  <a:cubicBezTo>
                    <a:pt x="0" y="256758"/>
                    <a:pt x="6370" y="263366"/>
                    <a:pt x="15954" y="263366"/>
                  </a:cubicBez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0486202-9C66-8B24-B665-D2AB824EE52F}"/>
                </a:ext>
              </a:extLst>
            </p:cNvPr>
            <p:cNvSpPr/>
            <p:nvPr/>
          </p:nvSpPr>
          <p:spPr>
            <a:xfrm>
              <a:off x="7677146" y="5098017"/>
              <a:ext cx="892968" cy="921781"/>
            </a:xfrm>
            <a:custGeom>
              <a:avLst/>
              <a:gdLst>
                <a:gd name="connsiteX0" fmla="*/ 829211 w 892968"/>
                <a:gd name="connsiteY0" fmla="*/ 65842 h 921781"/>
                <a:gd name="connsiteX1" fmla="*/ 701635 w 892968"/>
                <a:gd name="connsiteY1" fmla="*/ 65842 h 921781"/>
                <a:gd name="connsiteX2" fmla="*/ 701635 w 892968"/>
                <a:gd name="connsiteY2" fmla="*/ 32921 h 921781"/>
                <a:gd name="connsiteX3" fmla="*/ 669727 w 892968"/>
                <a:gd name="connsiteY3" fmla="*/ 0 h 921781"/>
                <a:gd name="connsiteX4" fmla="*/ 637818 w 892968"/>
                <a:gd name="connsiteY4" fmla="*/ 32921 h 921781"/>
                <a:gd name="connsiteX5" fmla="*/ 637818 w 892968"/>
                <a:gd name="connsiteY5" fmla="*/ 65842 h 921781"/>
                <a:gd name="connsiteX6" fmla="*/ 255151 w 892968"/>
                <a:gd name="connsiteY6" fmla="*/ 65842 h 921781"/>
                <a:gd name="connsiteX7" fmla="*/ 255151 w 892968"/>
                <a:gd name="connsiteY7" fmla="*/ 32921 h 921781"/>
                <a:gd name="connsiteX8" fmla="*/ 223242 w 892968"/>
                <a:gd name="connsiteY8" fmla="*/ 0 h 921781"/>
                <a:gd name="connsiteX9" fmla="*/ 191333 w 892968"/>
                <a:gd name="connsiteY9" fmla="*/ 32921 h 921781"/>
                <a:gd name="connsiteX10" fmla="*/ 191333 w 892968"/>
                <a:gd name="connsiteY10" fmla="*/ 65842 h 921781"/>
                <a:gd name="connsiteX11" fmla="*/ 63818 w 892968"/>
                <a:gd name="connsiteY11" fmla="*/ 65842 h 921781"/>
                <a:gd name="connsiteX12" fmla="*/ 0 w 892968"/>
                <a:gd name="connsiteY12" fmla="*/ 131683 h 921781"/>
                <a:gd name="connsiteX13" fmla="*/ 0 w 892968"/>
                <a:gd name="connsiteY13" fmla="*/ 855940 h 921781"/>
                <a:gd name="connsiteX14" fmla="*/ 63818 w 892968"/>
                <a:gd name="connsiteY14" fmla="*/ 921782 h 921781"/>
                <a:gd name="connsiteX15" fmla="*/ 829211 w 892968"/>
                <a:gd name="connsiteY15" fmla="*/ 921782 h 921781"/>
                <a:gd name="connsiteX16" fmla="*/ 892969 w 892968"/>
                <a:gd name="connsiteY16" fmla="*/ 855940 h 921781"/>
                <a:gd name="connsiteX17" fmla="*/ 892969 w 892968"/>
                <a:gd name="connsiteY17" fmla="*/ 131683 h 921781"/>
                <a:gd name="connsiteX18" fmla="*/ 829211 w 892968"/>
                <a:gd name="connsiteY18" fmla="*/ 65842 h 921781"/>
                <a:gd name="connsiteX19" fmla="*/ 829211 w 892968"/>
                <a:gd name="connsiteY19" fmla="*/ 823079 h 921781"/>
                <a:gd name="connsiteX20" fmla="*/ 797302 w 892968"/>
                <a:gd name="connsiteY20" fmla="*/ 855940 h 921781"/>
                <a:gd name="connsiteX21" fmla="*/ 95667 w 892968"/>
                <a:gd name="connsiteY21" fmla="*/ 855940 h 921781"/>
                <a:gd name="connsiteX22" fmla="*/ 63818 w 892968"/>
                <a:gd name="connsiteY22" fmla="*/ 823020 h 921781"/>
                <a:gd name="connsiteX23" fmla="*/ 63818 w 892968"/>
                <a:gd name="connsiteY23" fmla="*/ 312777 h 921781"/>
                <a:gd name="connsiteX24" fmla="*/ 829211 w 892968"/>
                <a:gd name="connsiteY24" fmla="*/ 312777 h 921781"/>
                <a:gd name="connsiteX25" fmla="*/ 829211 w 892968"/>
                <a:gd name="connsiteY25" fmla="*/ 823020 h 921781"/>
                <a:gd name="connsiteX26" fmla="*/ 829211 w 892968"/>
                <a:gd name="connsiteY26" fmla="*/ 246936 h 921781"/>
                <a:gd name="connsiteX27" fmla="*/ 63818 w 892968"/>
                <a:gd name="connsiteY27" fmla="*/ 246936 h 921781"/>
                <a:gd name="connsiteX28" fmla="*/ 63818 w 892968"/>
                <a:gd name="connsiteY28" fmla="*/ 164604 h 921781"/>
                <a:gd name="connsiteX29" fmla="*/ 95667 w 892968"/>
                <a:gd name="connsiteY29" fmla="*/ 131683 h 921781"/>
                <a:gd name="connsiteX30" fmla="*/ 191333 w 892968"/>
                <a:gd name="connsiteY30" fmla="*/ 131683 h 921781"/>
                <a:gd name="connsiteX31" fmla="*/ 191333 w 892968"/>
                <a:gd name="connsiteY31" fmla="*/ 164604 h 921781"/>
                <a:gd name="connsiteX32" fmla="*/ 223242 w 892968"/>
                <a:gd name="connsiteY32" fmla="*/ 197525 h 921781"/>
                <a:gd name="connsiteX33" fmla="*/ 255151 w 892968"/>
                <a:gd name="connsiteY33" fmla="*/ 164604 h 921781"/>
                <a:gd name="connsiteX34" fmla="*/ 255151 w 892968"/>
                <a:gd name="connsiteY34" fmla="*/ 131683 h 921781"/>
                <a:gd name="connsiteX35" fmla="*/ 637818 w 892968"/>
                <a:gd name="connsiteY35" fmla="*/ 131683 h 921781"/>
                <a:gd name="connsiteX36" fmla="*/ 637818 w 892968"/>
                <a:gd name="connsiteY36" fmla="*/ 164604 h 921781"/>
                <a:gd name="connsiteX37" fmla="*/ 669727 w 892968"/>
                <a:gd name="connsiteY37" fmla="*/ 197525 h 921781"/>
                <a:gd name="connsiteX38" fmla="*/ 701635 w 892968"/>
                <a:gd name="connsiteY38" fmla="*/ 164604 h 921781"/>
                <a:gd name="connsiteX39" fmla="*/ 701635 w 892968"/>
                <a:gd name="connsiteY39" fmla="*/ 131683 h 921781"/>
                <a:gd name="connsiteX40" fmla="*/ 797302 w 892968"/>
                <a:gd name="connsiteY40" fmla="*/ 131683 h 921781"/>
                <a:gd name="connsiteX41" fmla="*/ 829211 w 892968"/>
                <a:gd name="connsiteY41" fmla="*/ 164604 h 921781"/>
                <a:gd name="connsiteX42" fmla="*/ 829211 w 892968"/>
                <a:gd name="connsiteY42" fmla="*/ 246936 h 92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92968" h="921781">
                  <a:moveTo>
                    <a:pt x="829211" y="65842"/>
                  </a:moveTo>
                  <a:lnTo>
                    <a:pt x="701635" y="65842"/>
                  </a:lnTo>
                  <a:lnTo>
                    <a:pt x="701635" y="32921"/>
                  </a:lnTo>
                  <a:cubicBezTo>
                    <a:pt x="701635" y="16490"/>
                    <a:pt x="688896" y="0"/>
                    <a:pt x="669727" y="0"/>
                  </a:cubicBezTo>
                  <a:cubicBezTo>
                    <a:pt x="650617" y="0"/>
                    <a:pt x="637818" y="13156"/>
                    <a:pt x="637818" y="32921"/>
                  </a:cubicBezTo>
                  <a:lnTo>
                    <a:pt x="637818" y="65842"/>
                  </a:lnTo>
                  <a:lnTo>
                    <a:pt x="255151" y="65842"/>
                  </a:lnTo>
                  <a:lnTo>
                    <a:pt x="255151" y="32921"/>
                  </a:lnTo>
                  <a:cubicBezTo>
                    <a:pt x="255151" y="16490"/>
                    <a:pt x="242411" y="0"/>
                    <a:pt x="223242" y="0"/>
                  </a:cubicBezTo>
                  <a:cubicBezTo>
                    <a:pt x="204133" y="0"/>
                    <a:pt x="191333" y="13156"/>
                    <a:pt x="191333" y="32921"/>
                  </a:cubicBezTo>
                  <a:lnTo>
                    <a:pt x="191333" y="65842"/>
                  </a:lnTo>
                  <a:lnTo>
                    <a:pt x="63818" y="65842"/>
                  </a:lnTo>
                  <a:cubicBezTo>
                    <a:pt x="28694" y="65842"/>
                    <a:pt x="0" y="95488"/>
                    <a:pt x="0" y="131683"/>
                  </a:cubicBezTo>
                  <a:lnTo>
                    <a:pt x="0" y="855940"/>
                  </a:lnTo>
                  <a:cubicBezTo>
                    <a:pt x="0" y="892195"/>
                    <a:pt x="28694" y="921782"/>
                    <a:pt x="63818" y="921782"/>
                  </a:cubicBezTo>
                  <a:lnTo>
                    <a:pt x="829211" y="921782"/>
                  </a:lnTo>
                  <a:cubicBezTo>
                    <a:pt x="864334" y="921782"/>
                    <a:pt x="892969" y="892195"/>
                    <a:pt x="892969" y="855940"/>
                  </a:cubicBezTo>
                  <a:lnTo>
                    <a:pt x="892969" y="131683"/>
                  </a:lnTo>
                  <a:cubicBezTo>
                    <a:pt x="892969" y="95488"/>
                    <a:pt x="864275" y="65842"/>
                    <a:pt x="829211" y="65842"/>
                  </a:cubicBezTo>
                  <a:close/>
                  <a:moveTo>
                    <a:pt x="829211" y="823079"/>
                  </a:moveTo>
                  <a:cubicBezTo>
                    <a:pt x="829211" y="842784"/>
                    <a:pt x="816412" y="855940"/>
                    <a:pt x="797302" y="855940"/>
                  </a:cubicBezTo>
                  <a:lnTo>
                    <a:pt x="95667" y="855940"/>
                  </a:lnTo>
                  <a:cubicBezTo>
                    <a:pt x="76557" y="855940"/>
                    <a:pt x="63818" y="842784"/>
                    <a:pt x="63818" y="823020"/>
                  </a:cubicBezTo>
                  <a:lnTo>
                    <a:pt x="63818" y="312777"/>
                  </a:lnTo>
                  <a:lnTo>
                    <a:pt x="829211" y="312777"/>
                  </a:lnTo>
                  <a:lnTo>
                    <a:pt x="829211" y="823020"/>
                  </a:lnTo>
                  <a:close/>
                  <a:moveTo>
                    <a:pt x="829211" y="246936"/>
                  </a:moveTo>
                  <a:lnTo>
                    <a:pt x="63818" y="246936"/>
                  </a:lnTo>
                  <a:lnTo>
                    <a:pt x="63818" y="164604"/>
                  </a:lnTo>
                  <a:cubicBezTo>
                    <a:pt x="63818" y="144899"/>
                    <a:pt x="76557" y="131683"/>
                    <a:pt x="95667" y="131683"/>
                  </a:cubicBezTo>
                  <a:lnTo>
                    <a:pt x="191333" y="131683"/>
                  </a:lnTo>
                  <a:lnTo>
                    <a:pt x="191333" y="164604"/>
                  </a:lnTo>
                  <a:cubicBezTo>
                    <a:pt x="191333" y="181094"/>
                    <a:pt x="204133" y="197525"/>
                    <a:pt x="223242" y="197525"/>
                  </a:cubicBezTo>
                  <a:cubicBezTo>
                    <a:pt x="242411" y="197525"/>
                    <a:pt x="255151" y="184428"/>
                    <a:pt x="255151" y="164604"/>
                  </a:cubicBezTo>
                  <a:lnTo>
                    <a:pt x="255151" y="131683"/>
                  </a:lnTo>
                  <a:lnTo>
                    <a:pt x="637818" y="131683"/>
                  </a:lnTo>
                  <a:lnTo>
                    <a:pt x="637818" y="164604"/>
                  </a:lnTo>
                  <a:cubicBezTo>
                    <a:pt x="637818" y="181094"/>
                    <a:pt x="650617" y="197525"/>
                    <a:pt x="669727" y="197525"/>
                  </a:cubicBezTo>
                  <a:cubicBezTo>
                    <a:pt x="688896" y="197525"/>
                    <a:pt x="701635" y="184428"/>
                    <a:pt x="701635" y="164604"/>
                  </a:cubicBezTo>
                  <a:lnTo>
                    <a:pt x="701635" y="131683"/>
                  </a:lnTo>
                  <a:lnTo>
                    <a:pt x="797302" y="131683"/>
                  </a:lnTo>
                  <a:cubicBezTo>
                    <a:pt x="816412" y="131683"/>
                    <a:pt x="829211" y="144899"/>
                    <a:pt x="829211" y="164604"/>
                  </a:cubicBezTo>
                  <a:lnTo>
                    <a:pt x="829211" y="246936"/>
                  </a:ln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F74921D9-66CF-02CD-5FB3-8B770DD4A620}"/>
                </a:ext>
              </a:extLst>
            </p:cNvPr>
            <p:cNvSpPr/>
            <p:nvPr/>
          </p:nvSpPr>
          <p:spPr>
            <a:xfrm>
              <a:off x="7836630" y="5476636"/>
              <a:ext cx="255091" cy="427970"/>
            </a:xfrm>
            <a:custGeom>
              <a:avLst/>
              <a:gdLst>
                <a:gd name="connsiteX0" fmla="*/ 15954 w 255091"/>
                <a:gd name="connsiteY0" fmla="*/ 98762 h 427970"/>
                <a:gd name="connsiteX1" fmla="*/ 79712 w 255091"/>
                <a:gd name="connsiteY1" fmla="*/ 98762 h 427970"/>
                <a:gd name="connsiteX2" fmla="*/ 95667 w 255091"/>
                <a:gd name="connsiteY2" fmla="*/ 82272 h 427970"/>
                <a:gd name="connsiteX3" fmla="*/ 95667 w 255091"/>
                <a:gd name="connsiteY3" fmla="*/ 16431 h 427970"/>
                <a:gd name="connsiteX4" fmla="*/ 79712 w 255091"/>
                <a:gd name="connsiteY4" fmla="*/ 0 h 427970"/>
                <a:gd name="connsiteX5" fmla="*/ 15954 w 255091"/>
                <a:gd name="connsiteY5" fmla="*/ 0 h 427970"/>
                <a:gd name="connsiteX6" fmla="*/ 0 w 255091"/>
                <a:gd name="connsiteY6" fmla="*/ 16431 h 427970"/>
                <a:gd name="connsiteX7" fmla="*/ 0 w 255091"/>
                <a:gd name="connsiteY7" fmla="*/ 82272 h 427970"/>
                <a:gd name="connsiteX8" fmla="*/ 15954 w 255091"/>
                <a:gd name="connsiteY8" fmla="*/ 98762 h 427970"/>
                <a:gd name="connsiteX9" fmla="*/ 175379 w 255091"/>
                <a:gd name="connsiteY9" fmla="*/ 263366 h 427970"/>
                <a:gd name="connsiteX10" fmla="*/ 239197 w 255091"/>
                <a:gd name="connsiteY10" fmla="*/ 263366 h 427970"/>
                <a:gd name="connsiteX11" fmla="*/ 255091 w 255091"/>
                <a:gd name="connsiteY11" fmla="*/ 246876 h 427970"/>
                <a:gd name="connsiteX12" fmla="*/ 255091 w 255091"/>
                <a:gd name="connsiteY12" fmla="*/ 181035 h 427970"/>
                <a:gd name="connsiteX13" fmla="*/ 239197 w 255091"/>
                <a:gd name="connsiteY13" fmla="*/ 164604 h 427970"/>
                <a:gd name="connsiteX14" fmla="*/ 175320 w 255091"/>
                <a:gd name="connsiteY14" fmla="*/ 164604 h 427970"/>
                <a:gd name="connsiteX15" fmla="*/ 159365 w 255091"/>
                <a:gd name="connsiteY15" fmla="*/ 181035 h 427970"/>
                <a:gd name="connsiteX16" fmla="*/ 159365 w 255091"/>
                <a:gd name="connsiteY16" fmla="*/ 246876 h 427970"/>
                <a:gd name="connsiteX17" fmla="*/ 175320 w 255091"/>
                <a:gd name="connsiteY17" fmla="*/ 263366 h 427970"/>
                <a:gd name="connsiteX18" fmla="*/ 175379 w 255091"/>
                <a:gd name="connsiteY18" fmla="*/ 427970 h 427970"/>
                <a:gd name="connsiteX19" fmla="*/ 239197 w 255091"/>
                <a:gd name="connsiteY19" fmla="*/ 427970 h 427970"/>
                <a:gd name="connsiteX20" fmla="*/ 255091 w 255091"/>
                <a:gd name="connsiteY20" fmla="*/ 411480 h 427970"/>
                <a:gd name="connsiteX21" fmla="*/ 255091 w 255091"/>
                <a:gd name="connsiteY21" fmla="*/ 345638 h 427970"/>
                <a:gd name="connsiteX22" fmla="*/ 239197 w 255091"/>
                <a:gd name="connsiteY22" fmla="*/ 329208 h 427970"/>
                <a:gd name="connsiteX23" fmla="*/ 175320 w 255091"/>
                <a:gd name="connsiteY23" fmla="*/ 329208 h 427970"/>
                <a:gd name="connsiteX24" fmla="*/ 159365 w 255091"/>
                <a:gd name="connsiteY24" fmla="*/ 345638 h 427970"/>
                <a:gd name="connsiteX25" fmla="*/ 159365 w 255091"/>
                <a:gd name="connsiteY25" fmla="*/ 411480 h 427970"/>
                <a:gd name="connsiteX26" fmla="*/ 175320 w 255091"/>
                <a:gd name="connsiteY26" fmla="*/ 427970 h 42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5091" h="427970">
                  <a:moveTo>
                    <a:pt x="15954" y="98762"/>
                  </a:moveTo>
                  <a:lnTo>
                    <a:pt x="79712" y="98762"/>
                  </a:lnTo>
                  <a:cubicBezTo>
                    <a:pt x="89237" y="98762"/>
                    <a:pt x="95667" y="92214"/>
                    <a:pt x="95667" y="82272"/>
                  </a:cubicBezTo>
                  <a:lnTo>
                    <a:pt x="95667" y="16431"/>
                  </a:lnTo>
                  <a:cubicBezTo>
                    <a:pt x="95667" y="6548"/>
                    <a:pt x="89297" y="0"/>
                    <a:pt x="79712" y="0"/>
                  </a:cubicBezTo>
                  <a:lnTo>
                    <a:pt x="15954" y="0"/>
                  </a:lnTo>
                  <a:cubicBezTo>
                    <a:pt x="6370" y="0"/>
                    <a:pt x="0" y="6548"/>
                    <a:pt x="0" y="16431"/>
                  </a:cubicBezTo>
                  <a:lnTo>
                    <a:pt x="0" y="82272"/>
                  </a:lnTo>
                  <a:cubicBezTo>
                    <a:pt x="0" y="92154"/>
                    <a:pt x="6370" y="98762"/>
                    <a:pt x="15954" y="98762"/>
                  </a:cubicBezTo>
                  <a:close/>
                  <a:moveTo>
                    <a:pt x="175379" y="263366"/>
                  </a:moveTo>
                  <a:lnTo>
                    <a:pt x="239197" y="263366"/>
                  </a:lnTo>
                  <a:cubicBezTo>
                    <a:pt x="248722" y="263366"/>
                    <a:pt x="255091" y="256818"/>
                    <a:pt x="255091" y="246876"/>
                  </a:cubicBezTo>
                  <a:lnTo>
                    <a:pt x="255091" y="181035"/>
                  </a:lnTo>
                  <a:cubicBezTo>
                    <a:pt x="255091" y="171152"/>
                    <a:pt x="248722" y="164604"/>
                    <a:pt x="239197" y="164604"/>
                  </a:cubicBezTo>
                  <a:lnTo>
                    <a:pt x="175320" y="164604"/>
                  </a:lnTo>
                  <a:cubicBezTo>
                    <a:pt x="165795" y="164604"/>
                    <a:pt x="159365" y="171152"/>
                    <a:pt x="159365" y="181035"/>
                  </a:cubicBezTo>
                  <a:lnTo>
                    <a:pt x="159365" y="246876"/>
                  </a:lnTo>
                  <a:cubicBezTo>
                    <a:pt x="159365" y="256758"/>
                    <a:pt x="165735" y="263366"/>
                    <a:pt x="175320" y="263366"/>
                  </a:cubicBezTo>
                  <a:close/>
                  <a:moveTo>
                    <a:pt x="175379" y="427970"/>
                  </a:moveTo>
                  <a:lnTo>
                    <a:pt x="239197" y="427970"/>
                  </a:lnTo>
                  <a:cubicBezTo>
                    <a:pt x="248722" y="427970"/>
                    <a:pt x="255091" y="421422"/>
                    <a:pt x="255091" y="411480"/>
                  </a:cubicBezTo>
                  <a:lnTo>
                    <a:pt x="255091" y="345638"/>
                  </a:lnTo>
                  <a:cubicBezTo>
                    <a:pt x="255091" y="335756"/>
                    <a:pt x="248722" y="329208"/>
                    <a:pt x="239197" y="329208"/>
                  </a:cubicBezTo>
                  <a:lnTo>
                    <a:pt x="175320" y="329208"/>
                  </a:lnTo>
                  <a:cubicBezTo>
                    <a:pt x="165795" y="329208"/>
                    <a:pt x="159365" y="335756"/>
                    <a:pt x="159365" y="345638"/>
                  </a:cubicBezTo>
                  <a:lnTo>
                    <a:pt x="159365" y="411480"/>
                  </a:lnTo>
                  <a:cubicBezTo>
                    <a:pt x="159365" y="421362"/>
                    <a:pt x="165735" y="427970"/>
                    <a:pt x="175320" y="427970"/>
                  </a:cubicBez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</p:grpSp>
      <p:sp>
        <p:nvSpPr>
          <p:cNvPr id="93" name="矩形 92">
            <a:extLst>
              <a:ext uri="{FF2B5EF4-FFF2-40B4-BE49-F238E27FC236}">
                <a16:creationId xmlns:a16="http://schemas.microsoft.com/office/drawing/2014/main" id="{E9AF02B6-10C7-0B9B-DBD6-60AD3BAC6830}"/>
              </a:ext>
            </a:extLst>
          </p:cNvPr>
          <p:cNvSpPr/>
          <p:nvPr/>
        </p:nvSpPr>
        <p:spPr>
          <a:xfrm>
            <a:off x="-11953" y="2175310"/>
            <a:ext cx="12192000" cy="226334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CC44A7D-2D4A-7FBD-FD0C-928E6AFF0FE7}"/>
              </a:ext>
            </a:extLst>
          </p:cNvPr>
          <p:cNvSpPr txBox="1"/>
          <p:nvPr/>
        </p:nvSpPr>
        <p:spPr>
          <a:xfrm>
            <a:off x="2687502" y="3636045"/>
            <a:ext cx="681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b="1" dirty="0" err="1"/>
              <a:t>OpenSDI</a:t>
            </a:r>
            <a:r>
              <a:rPr lang="en-US" altLang="zh-CN" sz="1800" b="1" dirty="0"/>
              <a:t>: Spotting Diffusion-Generated Images in the Open World</a:t>
            </a:r>
            <a:endParaRPr lang="zh-CN" altLang="en-US" sz="1800" b="1" dirty="0"/>
          </a:p>
        </p:txBody>
      </p:sp>
      <p:pic>
        <p:nvPicPr>
          <p:cNvPr id="104" name="图片 103" descr="校徽-1">
            <a:extLst>
              <a:ext uri="{FF2B5EF4-FFF2-40B4-BE49-F238E27FC236}">
                <a16:creationId xmlns:a16="http://schemas.microsoft.com/office/drawing/2014/main" id="{EF5898FE-9234-63EC-2485-67C5B568AF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detail="2"/>
                    </a14:imgEffect>
                    <a14:imgEffect>
                      <a14:colorTemperature colorTemp="1500"/>
                    </a14:imgEffect>
                    <a14:imgEffect>
                      <a14:saturation sat="101000"/>
                    </a14:imgEffect>
                    <a14:imgEffect>
                      <a14:brightnessContrast bright="-2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75055" y="899993"/>
            <a:ext cx="2992322" cy="994873"/>
          </a:xfrm>
          <a:prstGeom prst="rect">
            <a:avLst/>
          </a:prstGeom>
        </p:spPr>
      </p:pic>
      <p:sp>
        <p:nvSpPr>
          <p:cNvPr id="19" name="Yabin Wang  ·  Zhiwu Huang  · ">
            <a:extLst>
              <a:ext uri="{FF2B5EF4-FFF2-40B4-BE49-F238E27FC236}">
                <a16:creationId xmlns:a16="http://schemas.microsoft.com/office/drawing/2014/main" id="{E22625F6-B92B-D371-2C55-431E7AF3484F}"/>
              </a:ext>
            </a:extLst>
          </p:cNvPr>
          <p:cNvSpPr>
            <a:spLocks noGrp="1"/>
          </p:cNvSpPr>
          <p:nvPr/>
        </p:nvSpPr>
        <p:spPr>
          <a:xfrm>
            <a:off x="1782697" y="4214741"/>
            <a:ext cx="8898792" cy="2026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Yabin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Wang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(Xi‘an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Jiaotong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University) ,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Zhiwu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Huang*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(University of Southampton) ,  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Xiaopeng Hong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(Harbin Institute of Technology).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20" name="CVPR 2025">
            <a:extLst>
              <a:ext uri="{FF2B5EF4-FFF2-40B4-BE49-F238E27FC236}">
                <a16:creationId xmlns:a16="http://schemas.microsoft.com/office/drawing/2014/main" id="{E2B44643-3842-6F56-FFEF-8CD66BCB65DD}"/>
              </a:ext>
            </a:extLst>
          </p:cNvPr>
          <p:cNvSpPr>
            <a:spLocks noGrp="1"/>
          </p:cNvSpPr>
          <p:nvPr/>
        </p:nvSpPr>
        <p:spPr>
          <a:xfrm>
            <a:off x="11370463" y="4216440"/>
            <a:ext cx="840553" cy="2329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CVPR 2025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1BA152-3F6A-CA26-FCED-0BB6DBE96C9D}"/>
              </a:ext>
            </a:extLst>
          </p:cNvPr>
          <p:cNvSpPr txBox="1"/>
          <p:nvPr/>
        </p:nvSpPr>
        <p:spPr>
          <a:xfrm>
            <a:off x="4813437" y="6468307"/>
            <a:ext cx="25651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方班示范班研讨厅第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162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F3B424-8F11-ED89-273E-18CDED3A2B8A}"/>
              </a:ext>
            </a:extLst>
          </p:cNvPr>
          <p:cNvSpPr txBox="1"/>
          <p:nvPr/>
        </p:nvSpPr>
        <p:spPr>
          <a:xfrm>
            <a:off x="1038746" y="2773827"/>
            <a:ext cx="9989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dirty="0">
                <a:solidFill>
                  <a:schemeClr val="bg1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Times New Roman" panose="02020603050405020304" pitchFamily="18" charset="0"/>
              </a:rPr>
              <a:t>OpenSDI</a:t>
            </a:r>
            <a:r>
              <a:rPr lang="zh-CN" altLang="zh-CN" sz="3600" b="1" dirty="0">
                <a:solidFill>
                  <a:schemeClr val="bg1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：开放世界中的扩散模型生成图像检测</a:t>
            </a:r>
            <a:endParaRPr lang="zh-CN" altLang="en-US" sz="3600" b="1" dirty="0">
              <a:solidFill>
                <a:schemeClr val="bg1"/>
              </a:soli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20EF2BC-0E9C-B407-1C16-B658EB68CF5A}"/>
              </a:ext>
            </a:extLst>
          </p:cNvPr>
          <p:cNvCxnSpPr>
            <a:cxnSpLocks/>
          </p:cNvCxnSpPr>
          <p:nvPr/>
        </p:nvCxnSpPr>
        <p:spPr>
          <a:xfrm>
            <a:off x="1038746" y="3531010"/>
            <a:ext cx="99897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81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1B2E22-B845-BBDB-4737-B3BF0BC558C6}"/>
              </a:ext>
            </a:extLst>
          </p:cNvPr>
          <p:cNvSpPr/>
          <p:nvPr/>
        </p:nvSpPr>
        <p:spPr>
          <a:xfrm>
            <a:off x="150471" y="0"/>
            <a:ext cx="4247909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3B61A5-721C-A486-CC49-A829242C4B2C}"/>
              </a:ext>
            </a:extLst>
          </p:cNvPr>
          <p:cNvSpPr/>
          <p:nvPr/>
        </p:nvSpPr>
        <p:spPr>
          <a:xfrm>
            <a:off x="0" y="0"/>
            <a:ext cx="4247909" cy="6858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95E61C20-3FAB-9308-32F2-FE09D0A8734B}"/>
              </a:ext>
            </a:extLst>
          </p:cNvPr>
          <p:cNvSpPr/>
          <p:nvPr/>
        </p:nvSpPr>
        <p:spPr>
          <a:xfrm>
            <a:off x="5788885" y="1700505"/>
            <a:ext cx="6403115" cy="695588"/>
          </a:xfrm>
          <a:custGeom>
            <a:avLst/>
            <a:gdLst>
              <a:gd name="connsiteX0" fmla="*/ 347794 w 6403115"/>
              <a:gd name="connsiteY0" fmla="*/ 0 h 695588"/>
              <a:gd name="connsiteX1" fmla="*/ 6403115 w 6403115"/>
              <a:gd name="connsiteY1" fmla="*/ 0 h 695588"/>
              <a:gd name="connsiteX2" fmla="*/ 6403115 w 6403115"/>
              <a:gd name="connsiteY2" fmla="*/ 695588 h 695588"/>
              <a:gd name="connsiteX3" fmla="*/ 347794 w 6403115"/>
              <a:gd name="connsiteY3" fmla="*/ 695588 h 695588"/>
              <a:gd name="connsiteX4" fmla="*/ 0 w 6403115"/>
              <a:gd name="connsiteY4" fmla="*/ 347794 h 695588"/>
              <a:gd name="connsiteX5" fmla="*/ 347794 w 6403115"/>
              <a:gd name="connsiteY5" fmla="*/ 0 h 69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3115" h="695588">
                <a:moveTo>
                  <a:pt x="347794" y="0"/>
                </a:moveTo>
                <a:lnTo>
                  <a:pt x="6403115" y="0"/>
                </a:lnTo>
                <a:lnTo>
                  <a:pt x="6403115" y="695588"/>
                </a:lnTo>
                <a:lnTo>
                  <a:pt x="347794" y="695588"/>
                </a:lnTo>
                <a:cubicBezTo>
                  <a:pt x="155713" y="695588"/>
                  <a:pt x="0" y="539875"/>
                  <a:pt x="0" y="347794"/>
                </a:cubicBezTo>
                <a:cubicBezTo>
                  <a:pt x="0" y="155713"/>
                  <a:pt x="155713" y="0"/>
                  <a:pt x="34779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64000" tIns="45720" rIns="91440" bIns="45720" rtlCol="0" anchor="ctr">
            <a:noAutofit/>
          </a:bodyPr>
          <a:lstStyle/>
          <a:p>
            <a:r>
              <a:rPr lang="zh-CN" altLang="en-US" sz="2400" b="1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背景问题</a:t>
            </a:r>
          </a:p>
        </p:txBody>
      </p:sp>
      <p:sp>
        <p:nvSpPr>
          <p:cNvPr id="11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8F1D931-84E6-1303-6979-28A84CEFC994}"/>
              </a:ext>
            </a:extLst>
          </p:cNvPr>
          <p:cNvSpPr/>
          <p:nvPr/>
        </p:nvSpPr>
        <p:spPr>
          <a:xfrm>
            <a:off x="5883570" y="1759727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b="1" spc="1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2C289AD6-8485-398D-6D38-E67AF9E9D2A1}"/>
              </a:ext>
            </a:extLst>
          </p:cNvPr>
          <p:cNvSpPr/>
          <p:nvPr/>
        </p:nvSpPr>
        <p:spPr>
          <a:xfrm>
            <a:off x="5788885" y="2668430"/>
            <a:ext cx="6403115" cy="695588"/>
          </a:xfrm>
          <a:custGeom>
            <a:avLst/>
            <a:gdLst>
              <a:gd name="connsiteX0" fmla="*/ 347794 w 6403115"/>
              <a:gd name="connsiteY0" fmla="*/ 0 h 695588"/>
              <a:gd name="connsiteX1" fmla="*/ 6403115 w 6403115"/>
              <a:gd name="connsiteY1" fmla="*/ 0 h 695588"/>
              <a:gd name="connsiteX2" fmla="*/ 6403115 w 6403115"/>
              <a:gd name="connsiteY2" fmla="*/ 695588 h 695588"/>
              <a:gd name="connsiteX3" fmla="*/ 347794 w 6403115"/>
              <a:gd name="connsiteY3" fmla="*/ 695588 h 695588"/>
              <a:gd name="connsiteX4" fmla="*/ 0 w 6403115"/>
              <a:gd name="connsiteY4" fmla="*/ 347794 h 695588"/>
              <a:gd name="connsiteX5" fmla="*/ 347794 w 6403115"/>
              <a:gd name="connsiteY5" fmla="*/ 0 h 69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3115" h="695588">
                <a:moveTo>
                  <a:pt x="347794" y="0"/>
                </a:moveTo>
                <a:lnTo>
                  <a:pt x="6403115" y="0"/>
                </a:lnTo>
                <a:lnTo>
                  <a:pt x="6403115" y="695588"/>
                </a:lnTo>
                <a:lnTo>
                  <a:pt x="347794" y="695588"/>
                </a:lnTo>
                <a:cubicBezTo>
                  <a:pt x="155713" y="695588"/>
                  <a:pt x="0" y="539875"/>
                  <a:pt x="0" y="347794"/>
                </a:cubicBezTo>
                <a:cubicBezTo>
                  <a:pt x="0" y="155713"/>
                  <a:pt x="155713" y="0"/>
                  <a:pt x="34779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64000" tIns="45720" rIns="91440" bIns="45720" rtlCol="0" anchor="ctr">
            <a:noAutofit/>
          </a:bodyPr>
          <a:lstStyle/>
          <a:p>
            <a:r>
              <a:rPr lang="zh-CN" altLang="en-US" sz="2400" b="1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核心方法</a:t>
            </a:r>
          </a:p>
        </p:txBody>
      </p:sp>
      <p:sp>
        <p:nvSpPr>
          <p:cNvPr id="13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8A6AC336-AB4F-8D09-D28A-03FF9308C940}"/>
              </a:ext>
            </a:extLst>
          </p:cNvPr>
          <p:cNvSpPr/>
          <p:nvPr/>
        </p:nvSpPr>
        <p:spPr>
          <a:xfrm>
            <a:off x="5883570" y="2727652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b="1" spc="1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5241D19E-9905-D15C-9744-8EB9FF689D45}"/>
              </a:ext>
            </a:extLst>
          </p:cNvPr>
          <p:cNvSpPr/>
          <p:nvPr/>
        </p:nvSpPr>
        <p:spPr>
          <a:xfrm>
            <a:off x="5788885" y="3636355"/>
            <a:ext cx="6403115" cy="695588"/>
          </a:xfrm>
          <a:custGeom>
            <a:avLst/>
            <a:gdLst>
              <a:gd name="connsiteX0" fmla="*/ 347794 w 6403115"/>
              <a:gd name="connsiteY0" fmla="*/ 0 h 695588"/>
              <a:gd name="connsiteX1" fmla="*/ 6403115 w 6403115"/>
              <a:gd name="connsiteY1" fmla="*/ 0 h 695588"/>
              <a:gd name="connsiteX2" fmla="*/ 6403115 w 6403115"/>
              <a:gd name="connsiteY2" fmla="*/ 695588 h 695588"/>
              <a:gd name="connsiteX3" fmla="*/ 347794 w 6403115"/>
              <a:gd name="connsiteY3" fmla="*/ 695588 h 695588"/>
              <a:gd name="connsiteX4" fmla="*/ 0 w 6403115"/>
              <a:gd name="connsiteY4" fmla="*/ 347794 h 695588"/>
              <a:gd name="connsiteX5" fmla="*/ 347794 w 6403115"/>
              <a:gd name="connsiteY5" fmla="*/ 0 h 69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3115" h="695588">
                <a:moveTo>
                  <a:pt x="347794" y="0"/>
                </a:moveTo>
                <a:lnTo>
                  <a:pt x="6403115" y="0"/>
                </a:lnTo>
                <a:lnTo>
                  <a:pt x="6403115" y="695588"/>
                </a:lnTo>
                <a:lnTo>
                  <a:pt x="347794" y="695588"/>
                </a:lnTo>
                <a:cubicBezTo>
                  <a:pt x="155713" y="695588"/>
                  <a:pt x="0" y="539875"/>
                  <a:pt x="0" y="347794"/>
                </a:cubicBezTo>
                <a:cubicBezTo>
                  <a:pt x="0" y="155713"/>
                  <a:pt x="155713" y="0"/>
                  <a:pt x="34779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64000" tIns="45720" rIns="91440" bIns="45720" rtlCol="0" anchor="ctr">
            <a:noAutofit/>
          </a:bodyPr>
          <a:lstStyle/>
          <a:p>
            <a:r>
              <a:rPr lang="zh-CN" altLang="en-US" sz="2400" b="1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实验分析</a:t>
            </a:r>
          </a:p>
        </p:txBody>
      </p:sp>
      <p:sp>
        <p:nvSpPr>
          <p:cNvPr id="14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D77EA2F-3EFD-008B-A100-C73F7B6B168E}"/>
              </a:ext>
            </a:extLst>
          </p:cNvPr>
          <p:cNvSpPr/>
          <p:nvPr/>
        </p:nvSpPr>
        <p:spPr>
          <a:xfrm>
            <a:off x="5883570" y="3695577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b="1" spc="1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ACB063-6AD9-991D-3000-DD3E9E397DE4}"/>
              </a:ext>
            </a:extLst>
          </p:cNvPr>
          <p:cNvSpPr txBox="1"/>
          <p:nvPr/>
        </p:nvSpPr>
        <p:spPr>
          <a:xfrm>
            <a:off x="1390261" y="2836923"/>
            <a:ext cx="1467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9DB17B-4767-22A7-9516-D289207563CE}"/>
              </a:ext>
            </a:extLst>
          </p:cNvPr>
          <p:cNvSpPr txBox="1"/>
          <p:nvPr/>
        </p:nvSpPr>
        <p:spPr>
          <a:xfrm>
            <a:off x="1360346" y="3636355"/>
            <a:ext cx="154721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2ED9B1D-6E9A-BFEA-11DE-D9DEE2D5C055}"/>
              </a:ext>
            </a:extLst>
          </p:cNvPr>
          <p:cNvCxnSpPr>
            <a:cxnSpLocks/>
          </p:cNvCxnSpPr>
          <p:nvPr/>
        </p:nvCxnSpPr>
        <p:spPr>
          <a:xfrm>
            <a:off x="1410238" y="2457450"/>
            <a:ext cx="1427432" cy="0"/>
          </a:xfrm>
          <a:prstGeom prst="line">
            <a:avLst/>
          </a:prstGeom>
          <a:ln w="9525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B6D363B-6258-047A-6A50-404CE70AD48F}"/>
              </a:ext>
            </a:extLst>
          </p:cNvPr>
          <p:cNvCxnSpPr>
            <a:cxnSpLocks/>
          </p:cNvCxnSpPr>
          <p:nvPr/>
        </p:nvCxnSpPr>
        <p:spPr>
          <a:xfrm>
            <a:off x="1410238" y="4400550"/>
            <a:ext cx="1427432" cy="0"/>
          </a:xfrm>
          <a:prstGeom prst="line">
            <a:avLst/>
          </a:prstGeom>
          <a:ln w="9525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5932CE7-D42C-C232-4A87-EFF784967F73}"/>
              </a:ext>
            </a:extLst>
          </p:cNvPr>
          <p:cNvSpPr/>
          <p:nvPr/>
        </p:nvSpPr>
        <p:spPr>
          <a:xfrm>
            <a:off x="5788885" y="4604280"/>
            <a:ext cx="6403115" cy="695588"/>
          </a:xfrm>
          <a:custGeom>
            <a:avLst/>
            <a:gdLst>
              <a:gd name="connsiteX0" fmla="*/ 347794 w 6403115"/>
              <a:gd name="connsiteY0" fmla="*/ 0 h 695588"/>
              <a:gd name="connsiteX1" fmla="*/ 6403115 w 6403115"/>
              <a:gd name="connsiteY1" fmla="*/ 0 h 695588"/>
              <a:gd name="connsiteX2" fmla="*/ 6403115 w 6403115"/>
              <a:gd name="connsiteY2" fmla="*/ 695588 h 695588"/>
              <a:gd name="connsiteX3" fmla="*/ 347794 w 6403115"/>
              <a:gd name="connsiteY3" fmla="*/ 695588 h 695588"/>
              <a:gd name="connsiteX4" fmla="*/ 0 w 6403115"/>
              <a:gd name="connsiteY4" fmla="*/ 347794 h 695588"/>
              <a:gd name="connsiteX5" fmla="*/ 347794 w 6403115"/>
              <a:gd name="connsiteY5" fmla="*/ 0 h 69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3115" h="695588">
                <a:moveTo>
                  <a:pt x="347794" y="0"/>
                </a:moveTo>
                <a:lnTo>
                  <a:pt x="6403115" y="0"/>
                </a:lnTo>
                <a:lnTo>
                  <a:pt x="6403115" y="695588"/>
                </a:lnTo>
                <a:lnTo>
                  <a:pt x="347794" y="695588"/>
                </a:lnTo>
                <a:cubicBezTo>
                  <a:pt x="155713" y="695588"/>
                  <a:pt x="0" y="539875"/>
                  <a:pt x="0" y="347794"/>
                </a:cubicBezTo>
                <a:cubicBezTo>
                  <a:pt x="0" y="155713"/>
                  <a:pt x="155713" y="0"/>
                  <a:pt x="34779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64000" tIns="45720" rIns="91440" bIns="45720" rtlCol="0" anchor="ctr">
            <a:noAutofit/>
          </a:bodyPr>
          <a:lstStyle/>
          <a:p>
            <a:r>
              <a:rPr lang="zh-CN" altLang="en-US" sz="2400" b="1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总结展望</a:t>
            </a:r>
          </a:p>
        </p:txBody>
      </p:sp>
      <p:sp>
        <p:nvSpPr>
          <p:cNvPr id="5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A61029E-711B-FBAD-7312-1DAC3F397EBC}"/>
              </a:ext>
            </a:extLst>
          </p:cNvPr>
          <p:cNvSpPr/>
          <p:nvPr/>
        </p:nvSpPr>
        <p:spPr>
          <a:xfrm>
            <a:off x="5883570" y="4663502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zh-CN" altLang="en-US" b="1" spc="1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91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2334-AE6B-8445-A8A9-4DDF1490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84BD230-E5C2-1F46-1FB8-5F679603AEB1}"/>
              </a:ext>
            </a:extLst>
          </p:cNvPr>
          <p:cNvSpPr/>
          <p:nvPr/>
        </p:nvSpPr>
        <p:spPr>
          <a:xfrm>
            <a:off x="593487" y="1977009"/>
            <a:ext cx="3488135" cy="379557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9F4227E-E7ED-AF46-E58E-49268CD3FD36}"/>
              </a:ext>
            </a:extLst>
          </p:cNvPr>
          <p:cNvSpPr/>
          <p:nvPr/>
        </p:nvSpPr>
        <p:spPr>
          <a:xfrm>
            <a:off x="591312" y="6024679"/>
            <a:ext cx="11009376" cy="577402"/>
          </a:xfrm>
          <a:prstGeom prst="roundRect">
            <a:avLst>
              <a:gd name="adj" fmla="val 116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FD5245D-D6F2-8743-C4E3-837D68C16F20}"/>
              </a:ext>
            </a:extLst>
          </p:cNvPr>
          <p:cNvSpPr/>
          <p:nvPr/>
        </p:nvSpPr>
        <p:spPr>
          <a:xfrm>
            <a:off x="647700" y="6076403"/>
            <a:ext cx="1691822" cy="473954"/>
          </a:xfrm>
          <a:prstGeom prst="roundRect">
            <a:avLst>
              <a:gd name="adj" fmla="val 1160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核心挑战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A50CA082-603F-A2DD-B676-932E25168D60}"/>
              </a:ext>
            </a:extLst>
          </p:cNvPr>
          <p:cNvSpPr/>
          <p:nvPr/>
        </p:nvSpPr>
        <p:spPr>
          <a:xfrm>
            <a:off x="2206866" y="1225707"/>
            <a:ext cx="9393822" cy="476900"/>
          </a:xfrm>
          <a:prstGeom prst="roundRect">
            <a:avLst>
              <a:gd name="adj" fmla="val 116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D89248D-7EF4-AF7E-038F-564754A5B26E}"/>
              </a:ext>
            </a:extLst>
          </p:cNvPr>
          <p:cNvSpPr/>
          <p:nvPr/>
        </p:nvSpPr>
        <p:spPr>
          <a:xfrm>
            <a:off x="8112553" y="1977009"/>
            <a:ext cx="3488135" cy="379557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2495E0-DCEF-1460-224A-E6D093FA0896}"/>
              </a:ext>
            </a:extLst>
          </p:cNvPr>
          <p:cNvSpPr txBox="1"/>
          <p:nvPr/>
        </p:nvSpPr>
        <p:spPr>
          <a:xfrm>
            <a:off x="177212" y="1233325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939CD3D-1BD2-2927-B636-FC0627B1FF63}"/>
              </a:ext>
            </a:extLst>
          </p:cNvPr>
          <p:cNvSpPr/>
          <p:nvPr/>
        </p:nvSpPr>
        <p:spPr>
          <a:xfrm>
            <a:off x="4351933" y="1977009"/>
            <a:ext cx="3488135" cy="379557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08E252-4192-A1BD-478D-1643544450C6}"/>
              </a:ext>
            </a:extLst>
          </p:cNvPr>
          <p:cNvSpPr txBox="1"/>
          <p:nvPr/>
        </p:nvSpPr>
        <p:spPr>
          <a:xfrm>
            <a:off x="2311415" y="1307617"/>
            <a:ext cx="9108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扩散模型推动图像生成与编辑快速普及</a:t>
            </a: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F1DCC484-2435-781C-979C-5511F31C8C11}"/>
              </a:ext>
            </a:extLst>
          </p:cNvPr>
          <p:cNvSpPr/>
          <p:nvPr/>
        </p:nvSpPr>
        <p:spPr>
          <a:xfrm>
            <a:off x="1227712" y="1970913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生成门槛持续降低</a:t>
            </a:r>
          </a:p>
        </p:txBody>
      </p:sp>
      <p:sp>
        <p:nvSpPr>
          <p:cNvPr id="36" name="矩形: 圆顶角 35">
            <a:extLst>
              <a:ext uri="{FF2B5EF4-FFF2-40B4-BE49-F238E27FC236}">
                <a16:creationId xmlns:a16="http://schemas.microsoft.com/office/drawing/2014/main" id="{35DB922E-4178-F78B-3993-8906BEC8C38B}"/>
              </a:ext>
            </a:extLst>
          </p:cNvPr>
          <p:cNvSpPr/>
          <p:nvPr/>
        </p:nvSpPr>
        <p:spPr>
          <a:xfrm>
            <a:off x="8754033" y="1970913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局部区域定向修改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37066E-B480-8F9E-067B-47E04A93BCE1}"/>
              </a:ext>
            </a:extLst>
          </p:cNvPr>
          <p:cNvSpPr txBox="1"/>
          <p:nvPr/>
        </p:nvSpPr>
        <p:spPr>
          <a:xfrm>
            <a:off x="8293100" y="5300611"/>
            <a:ext cx="3127042" cy="308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/>
              <a:t>局部生成使真实内容与合成区域共存</a:t>
            </a:r>
          </a:p>
        </p:txBody>
      </p:sp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B79844CC-017F-A88B-6728-D239A2FEF679}"/>
              </a:ext>
            </a:extLst>
          </p:cNvPr>
          <p:cNvSpPr/>
          <p:nvPr/>
        </p:nvSpPr>
        <p:spPr>
          <a:xfrm>
            <a:off x="4993413" y="1970913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生成图像日趋逼真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F96F680-B353-DA49-1AA7-349FFB1439B6}"/>
              </a:ext>
            </a:extLst>
          </p:cNvPr>
          <p:cNvSpPr txBox="1"/>
          <p:nvPr/>
        </p:nvSpPr>
        <p:spPr>
          <a:xfrm>
            <a:off x="2395910" y="6144103"/>
            <a:ext cx="9781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未知用户意图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未知生成模型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多样操纵范围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，实现可泛化的生成图像检测与区域定位。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9088DB5-029D-0E67-845F-2372F8F94CDA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96471D3-9AD8-27A8-CEE9-BDD474399D95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47F0691-2A03-5577-5A80-0817658D54BB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F07A419-7505-4D8D-1748-9BBEAE62F406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F6D81A4-54BE-E3CE-805A-317015BA4D56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77817F7-7D29-AD56-5C3B-17EDBB89F171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C6DE8DA-F91E-E4E5-6014-4A04257F4735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6079253-C75D-7EB0-92C1-1EEB629C53BC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DB5389-CA0E-E2CD-CEFF-C40546E621D1}"/>
              </a:ext>
            </a:extLst>
          </p:cNvPr>
          <p:cNvGrpSpPr/>
          <p:nvPr/>
        </p:nvGrpSpPr>
        <p:grpSpPr>
          <a:xfrm>
            <a:off x="1681000" y="787091"/>
            <a:ext cx="1826148" cy="99594"/>
            <a:chOff x="1185700" y="827567"/>
            <a:chExt cx="1826148" cy="9959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005619DF-0EFD-062E-C1F5-FC9276AF74A2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88A392F1-C31A-8AB8-95A7-C8772923A4A7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9A52A74E-76EA-5A78-8A23-D8FC61DC0112}"/>
              </a:ext>
            </a:extLst>
          </p:cNvPr>
          <p:cNvSpPr txBox="1"/>
          <p:nvPr/>
        </p:nvSpPr>
        <p:spPr>
          <a:xfrm>
            <a:off x="4627089" y="4960875"/>
            <a:ext cx="3127042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/>
              <a:t>生成内容覆盖人物、动物与复杂场景，视觉真实度不断提升。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3209396-1917-B9B7-989C-FBBB6E5506AB}"/>
              </a:ext>
            </a:extLst>
          </p:cNvPr>
          <p:cNvSpPr txBox="1"/>
          <p:nvPr/>
        </p:nvSpPr>
        <p:spPr>
          <a:xfrm>
            <a:off x="862422" y="4960876"/>
            <a:ext cx="3127042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自然语言交互与集成化工具，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非专业用户也能快速生成和编辑图像。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440387-E622-BD78-A13D-77A807D5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06" y="2811070"/>
            <a:ext cx="900000" cy="9000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BADA260-7AEC-57EA-E9C6-EE8F94644F30}"/>
              </a:ext>
            </a:extLst>
          </p:cNvPr>
          <p:cNvSpPr/>
          <p:nvPr/>
        </p:nvSpPr>
        <p:spPr>
          <a:xfrm>
            <a:off x="2371317" y="3069127"/>
            <a:ext cx="1397041" cy="1264131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 descr="豆包ai是哪个公司旗下_豆包ai是哪个公司的_单词乎">
            <a:extLst>
              <a:ext uri="{FF2B5EF4-FFF2-40B4-BE49-F238E27FC236}">
                <a16:creationId xmlns:a16="http://schemas.microsoft.com/office/drawing/2014/main" id="{9246A3B4-D47F-B5E0-8A85-4BF338B49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426" y="3169653"/>
            <a:ext cx="533426" cy="52403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 descr="Midjourney 初学者通用快速入门指南_midjounery-CSDN博客">
            <a:extLst>
              <a:ext uri="{FF2B5EF4-FFF2-40B4-BE49-F238E27FC236}">
                <a16:creationId xmlns:a16="http://schemas.microsoft.com/office/drawing/2014/main" id="{CBEFBAC6-289F-3344-12E6-5FBC56B011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4" t="3564" r="29494" b="32476"/>
          <a:stretch>
            <a:fillRect/>
          </a:stretch>
        </p:blipFill>
        <p:spPr>
          <a:xfrm>
            <a:off x="3161623" y="3814026"/>
            <a:ext cx="505583" cy="43911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图片 17" descr="通义万象">
            <a:extLst>
              <a:ext uri="{FF2B5EF4-FFF2-40B4-BE49-F238E27FC236}">
                <a16:creationId xmlns:a16="http://schemas.microsoft.com/office/drawing/2014/main" id="{DC04D772-9F21-5CDE-513E-56E713821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7379" y="3222670"/>
            <a:ext cx="450349" cy="43911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图片 18" descr="ChatGPT Business 已认证优惠 2026 | AIPromotions">
            <a:extLst>
              <a:ext uri="{FF2B5EF4-FFF2-40B4-BE49-F238E27FC236}">
                <a16:creationId xmlns:a16="http://schemas.microsoft.com/office/drawing/2014/main" id="{DF024C5A-FAF6-B2A5-269F-6014ECD750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995" y="3794903"/>
            <a:ext cx="446988" cy="43911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4899E31-C112-9D0A-8326-78C66C7C7957}"/>
              </a:ext>
            </a:extLst>
          </p:cNvPr>
          <p:cNvSpPr txBox="1"/>
          <p:nvPr/>
        </p:nvSpPr>
        <p:spPr>
          <a:xfrm>
            <a:off x="747404" y="4024805"/>
            <a:ext cx="884692" cy="29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用户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315FA25-4E97-C531-405C-14F900832D09}"/>
              </a:ext>
            </a:extLst>
          </p:cNvPr>
          <p:cNvSpPr txBox="1"/>
          <p:nvPr/>
        </p:nvSpPr>
        <p:spPr>
          <a:xfrm>
            <a:off x="2425943" y="4333258"/>
            <a:ext cx="1259107" cy="29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生成与编辑工具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7255825-6C13-2D60-E1E0-C115606E88C1}"/>
              </a:ext>
            </a:extLst>
          </p:cNvPr>
          <p:cNvCxnSpPr>
            <a:cxnSpLocks/>
          </p:cNvCxnSpPr>
          <p:nvPr/>
        </p:nvCxnSpPr>
        <p:spPr>
          <a:xfrm>
            <a:off x="1594776" y="3735748"/>
            <a:ext cx="692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1FBB589-7F0D-8C2B-AB03-27A2D3328BF2}"/>
              </a:ext>
            </a:extLst>
          </p:cNvPr>
          <p:cNvSpPr txBox="1"/>
          <p:nvPr/>
        </p:nvSpPr>
        <p:spPr>
          <a:xfrm>
            <a:off x="1498610" y="3429000"/>
            <a:ext cx="884692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语言指令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802988D-85C2-70A8-0578-1A1CAFDFCA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8637" y="2806780"/>
            <a:ext cx="900000" cy="9000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B684A94-92DE-6A36-8E06-0602D7F640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8637" y="3763857"/>
            <a:ext cx="900000" cy="90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2D8C6E04-BF85-B069-E5EE-1E88132CD0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0742" y="3761223"/>
            <a:ext cx="900000" cy="9000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BA78752-9C4C-3593-ACCF-0A9AC0029C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5007" y="2798710"/>
            <a:ext cx="900000" cy="900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B593944-CFCE-4DD8-1BBE-9CCB4F50D3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5007" y="3761223"/>
            <a:ext cx="900000" cy="90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EE41B26-2726-D7DE-638A-D3F1DE280C8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9729" t="3100" r="1217" b="1234"/>
          <a:stretch>
            <a:fillRect/>
          </a:stretch>
        </p:blipFill>
        <p:spPr>
          <a:xfrm>
            <a:off x="10187854" y="2393685"/>
            <a:ext cx="946871" cy="888561"/>
          </a:xfrm>
          <a:prstGeom prst="rect">
            <a:avLst/>
          </a:prstGeom>
        </p:spPr>
      </p:pic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1C6C693-0800-B938-B84B-84A537A10E34}"/>
              </a:ext>
            </a:extLst>
          </p:cNvPr>
          <p:cNvCxnSpPr/>
          <p:nvPr/>
        </p:nvCxnSpPr>
        <p:spPr>
          <a:xfrm>
            <a:off x="9592849" y="2855396"/>
            <a:ext cx="534533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EC0F1E6-863E-4352-98D7-5D8390112C5F}"/>
              </a:ext>
            </a:extLst>
          </p:cNvPr>
          <p:cNvSpPr txBox="1"/>
          <p:nvPr/>
        </p:nvSpPr>
        <p:spPr>
          <a:xfrm>
            <a:off x="9505785" y="2513611"/>
            <a:ext cx="683021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移除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9336B52D-9403-72BC-B175-B12186C47DD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6682" r="50000" b="651"/>
          <a:stretch>
            <a:fillRect/>
          </a:stretch>
        </p:blipFill>
        <p:spPr>
          <a:xfrm>
            <a:off x="8585506" y="3338661"/>
            <a:ext cx="946871" cy="926814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944B9996-C8F2-0DF5-34B4-6D34996929B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50000" t="16682" b="651"/>
          <a:stretch>
            <a:fillRect/>
          </a:stretch>
        </p:blipFill>
        <p:spPr>
          <a:xfrm>
            <a:off x="10187854" y="3336454"/>
            <a:ext cx="946871" cy="926814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1F168D96-3B33-CA5C-B095-5346A8BD5C7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469" t="17093" r="50000"/>
          <a:stretch>
            <a:fillRect/>
          </a:stretch>
        </p:blipFill>
        <p:spPr>
          <a:xfrm>
            <a:off x="8600487" y="4298967"/>
            <a:ext cx="931890" cy="948931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057CA260-64A1-4820-A6A5-353C1044506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9760" t="17093"/>
          <a:stretch>
            <a:fillRect/>
          </a:stretch>
        </p:blipFill>
        <p:spPr>
          <a:xfrm>
            <a:off x="10170002" y="4291968"/>
            <a:ext cx="964723" cy="948931"/>
          </a:xfrm>
          <a:prstGeom prst="rect">
            <a:avLst/>
          </a:prstGeom>
        </p:spPr>
      </p:pic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09DAE46-DD6D-4A95-C060-A91F9A6E90CE}"/>
              </a:ext>
            </a:extLst>
          </p:cNvPr>
          <p:cNvCxnSpPr/>
          <p:nvPr/>
        </p:nvCxnSpPr>
        <p:spPr>
          <a:xfrm>
            <a:off x="9594913" y="3831751"/>
            <a:ext cx="534533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5328190-B992-3ACA-AA6C-ABF0D390573C}"/>
              </a:ext>
            </a:extLst>
          </p:cNvPr>
          <p:cNvSpPr txBox="1"/>
          <p:nvPr/>
        </p:nvSpPr>
        <p:spPr>
          <a:xfrm>
            <a:off x="9507849" y="3489966"/>
            <a:ext cx="683021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替换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6E3CD146-AD07-E835-8D53-FC5FEC715305}"/>
              </a:ext>
            </a:extLst>
          </p:cNvPr>
          <p:cNvCxnSpPr/>
          <p:nvPr/>
        </p:nvCxnSpPr>
        <p:spPr>
          <a:xfrm>
            <a:off x="9591897" y="4794061"/>
            <a:ext cx="534533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ED9A9921-DA4B-BAFB-FC0D-75AEABAB84EF}"/>
              </a:ext>
            </a:extLst>
          </p:cNvPr>
          <p:cNvSpPr txBox="1"/>
          <p:nvPr/>
        </p:nvSpPr>
        <p:spPr>
          <a:xfrm>
            <a:off x="9504833" y="4452276"/>
            <a:ext cx="683021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重绘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BAD07EF-AAC7-7D74-D32A-12D3358FA1A7}"/>
              </a:ext>
            </a:extLst>
          </p:cNvPr>
          <p:cNvSpPr txBox="1"/>
          <p:nvPr/>
        </p:nvSpPr>
        <p:spPr>
          <a:xfrm>
            <a:off x="4611129" y="2593786"/>
            <a:ext cx="8701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50" dirty="0">
                <a:latin typeface="楷体" panose="02010609060101010101" pitchFamily="49" charset="-122"/>
                <a:ea typeface="楷体" panose="02010609060101010101" pitchFamily="49" charset="-122"/>
              </a:rPr>
              <a:t>均为AI生成</a:t>
            </a:r>
            <a:r>
              <a:rPr lang="zh-CN" altLang="en-US" sz="105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F697C61-1B1C-D623-2EE9-53A296085B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00487" y="2416405"/>
            <a:ext cx="915587" cy="857344"/>
          </a:xfrm>
          <a:prstGeom prst="rect">
            <a:avLst/>
          </a:prstGeom>
        </p:spPr>
      </p:pic>
      <p:pic>
        <p:nvPicPr>
          <p:cNvPr id="28" name="图形 27" descr="用户 纯色填充">
            <a:extLst>
              <a:ext uri="{FF2B5EF4-FFF2-40B4-BE49-F238E27FC236}">
                <a16:creationId xmlns:a16="http://schemas.microsoft.com/office/drawing/2014/main" id="{955FB0FB-26D1-6049-B4E0-2469C18C6C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2389" y="3398131"/>
            <a:ext cx="684589" cy="684589"/>
          </a:xfrm>
          <a:prstGeom prst="rect">
            <a:avLst/>
          </a:prstGeom>
        </p:spPr>
      </p:pic>
      <p:pic>
        <p:nvPicPr>
          <p:cNvPr id="34" name="图形 33" descr="用户 纯色填充">
            <a:extLst>
              <a:ext uri="{FF2B5EF4-FFF2-40B4-BE49-F238E27FC236}">
                <a16:creationId xmlns:a16="http://schemas.microsoft.com/office/drawing/2014/main" id="{99B2B055-301E-D11A-49AE-FBE9E1BE0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2389" y="3398131"/>
            <a:ext cx="684589" cy="684589"/>
          </a:xfrm>
          <a:prstGeom prst="rect">
            <a:avLst/>
          </a:prstGeom>
        </p:spPr>
      </p:pic>
      <p:pic>
        <p:nvPicPr>
          <p:cNvPr id="35" name="图形 34" descr="用户 纯色填充">
            <a:extLst>
              <a:ext uri="{FF2B5EF4-FFF2-40B4-BE49-F238E27FC236}">
                <a16:creationId xmlns:a16="http://schemas.microsoft.com/office/drawing/2014/main" id="{40C17DA8-063E-3EEF-AC00-6FF05C93F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2389" y="3395997"/>
            <a:ext cx="684589" cy="684589"/>
          </a:xfrm>
          <a:prstGeom prst="rect">
            <a:avLst/>
          </a:prstGeom>
        </p:spPr>
      </p:pic>
      <p:pic>
        <p:nvPicPr>
          <p:cNvPr id="11" name="图形 10" descr="用户 纯色填充">
            <a:extLst>
              <a:ext uri="{FF2B5EF4-FFF2-40B4-BE49-F238E27FC236}">
                <a16:creationId xmlns:a16="http://schemas.microsoft.com/office/drawing/2014/main" id="{0B25C6CA-7B69-0F2C-F65D-91577442F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2389" y="3398131"/>
            <a:ext cx="684589" cy="684589"/>
          </a:xfrm>
          <a:prstGeom prst="rect">
            <a:avLst/>
          </a:prstGeom>
        </p:spPr>
      </p:pic>
      <p:pic>
        <p:nvPicPr>
          <p:cNvPr id="39" name="图形 38" descr="图片预览">
            <a:extLst>
              <a:ext uri="{FF2B5EF4-FFF2-40B4-BE49-F238E27FC236}">
                <a16:creationId xmlns:a16="http://schemas.microsoft.com/office/drawing/2014/main" id="{35D38BE5-3D5D-C41A-6331-7B0E9DF1E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996779" y="3726368"/>
            <a:ext cx="80495" cy="73177"/>
          </a:xfrm>
          <a:prstGeom prst="rect">
            <a:avLst/>
          </a:prstGeom>
        </p:spPr>
      </p:pic>
      <p:pic>
        <p:nvPicPr>
          <p:cNvPr id="40" name="图形 39" descr="图片预览">
            <a:extLst>
              <a:ext uri="{FF2B5EF4-FFF2-40B4-BE49-F238E27FC236}">
                <a16:creationId xmlns:a16="http://schemas.microsoft.com/office/drawing/2014/main" id="{9503C2B1-76DE-4BCC-F12E-9A2C57E5E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89502" y="3662610"/>
            <a:ext cx="82845" cy="82845"/>
          </a:xfrm>
          <a:prstGeom prst="rect">
            <a:avLst/>
          </a:prstGeom>
        </p:spPr>
      </p:pic>
      <p:pic>
        <p:nvPicPr>
          <p:cNvPr id="54" name="图片 53" descr="图片预览">
            <a:extLst>
              <a:ext uri="{FF2B5EF4-FFF2-40B4-BE49-F238E27FC236}">
                <a16:creationId xmlns:a16="http://schemas.microsoft.com/office/drawing/2014/main" id="{7CACF746-B2C1-A9D4-E4FA-7F37139A78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96780" y="3669729"/>
            <a:ext cx="82845" cy="83342"/>
          </a:xfrm>
          <a:prstGeom prst="rect">
            <a:avLst/>
          </a:prstGeom>
        </p:spPr>
      </p:pic>
      <p:pic>
        <p:nvPicPr>
          <p:cNvPr id="56" name="图形 55" descr="图片预览">
            <a:extLst>
              <a:ext uri="{FF2B5EF4-FFF2-40B4-BE49-F238E27FC236}">
                <a16:creationId xmlns:a16="http://schemas.microsoft.com/office/drawing/2014/main" id="{969045BD-BF81-4BBB-860F-B3E03B78B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059904" y="3700094"/>
            <a:ext cx="70739" cy="70739"/>
          </a:xfrm>
          <a:prstGeom prst="rect">
            <a:avLst/>
          </a:prstGeom>
        </p:spPr>
      </p:pic>
      <p:pic>
        <p:nvPicPr>
          <p:cNvPr id="68" name="图形 67" descr="图片预览">
            <a:extLst>
              <a:ext uri="{FF2B5EF4-FFF2-40B4-BE49-F238E27FC236}">
                <a16:creationId xmlns:a16="http://schemas.microsoft.com/office/drawing/2014/main" id="{57F0ACC9-E2CB-49D9-7301-C576DA675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005232" y="3691436"/>
            <a:ext cx="81905" cy="81905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31F4C5DA-3B35-EF5B-CD3B-D237D66427B8}"/>
              </a:ext>
            </a:extLst>
          </p:cNvPr>
          <p:cNvSpPr/>
          <p:nvPr/>
        </p:nvSpPr>
        <p:spPr>
          <a:xfrm>
            <a:off x="2931319" y="3636169"/>
            <a:ext cx="262173" cy="176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81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D52A1-C4E8-0C7A-D631-E46EB6A2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20B0DEBE-8134-0F58-2EF4-C905C5DD9574}"/>
              </a:ext>
            </a:extLst>
          </p:cNvPr>
          <p:cNvSpPr/>
          <p:nvPr/>
        </p:nvSpPr>
        <p:spPr>
          <a:xfrm>
            <a:off x="593487" y="1977009"/>
            <a:ext cx="3488135" cy="379557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7801339-665A-E655-B34A-73D5B2E922D1}"/>
              </a:ext>
            </a:extLst>
          </p:cNvPr>
          <p:cNvSpPr/>
          <p:nvPr/>
        </p:nvSpPr>
        <p:spPr>
          <a:xfrm>
            <a:off x="591312" y="6024679"/>
            <a:ext cx="11009376" cy="577402"/>
          </a:xfrm>
          <a:prstGeom prst="roundRect">
            <a:avLst>
              <a:gd name="adj" fmla="val 116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1846A75-479D-BFBE-6C65-30C2AC3A3BDA}"/>
              </a:ext>
            </a:extLst>
          </p:cNvPr>
          <p:cNvSpPr/>
          <p:nvPr/>
        </p:nvSpPr>
        <p:spPr>
          <a:xfrm>
            <a:off x="647700" y="6076403"/>
            <a:ext cx="2209800" cy="473954"/>
          </a:xfrm>
          <a:prstGeom prst="roundRect">
            <a:avLst>
              <a:gd name="adj" fmla="val 1160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OpenSDI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开放世界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0DACA2A-8E2B-2AC3-7085-AAF5C46A6CFA}"/>
              </a:ext>
            </a:extLst>
          </p:cNvPr>
          <p:cNvSpPr/>
          <p:nvPr/>
        </p:nvSpPr>
        <p:spPr>
          <a:xfrm>
            <a:off x="8112553" y="1977009"/>
            <a:ext cx="3488135" cy="379557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F7455E-9DE1-FDD1-AE9F-1AF527852CB4}"/>
              </a:ext>
            </a:extLst>
          </p:cNvPr>
          <p:cNvSpPr txBox="1"/>
          <p:nvPr/>
        </p:nvSpPr>
        <p:spPr>
          <a:xfrm>
            <a:off x="177212" y="1233325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248CD62-9907-D6CF-6DC1-D3D7859F2952}"/>
              </a:ext>
            </a:extLst>
          </p:cNvPr>
          <p:cNvSpPr/>
          <p:nvPr/>
        </p:nvSpPr>
        <p:spPr>
          <a:xfrm>
            <a:off x="4351933" y="1977009"/>
            <a:ext cx="3488135" cy="379557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3DFB0D55-6630-B990-BD7E-8B2052FAF974}"/>
              </a:ext>
            </a:extLst>
          </p:cNvPr>
          <p:cNvSpPr/>
          <p:nvPr/>
        </p:nvSpPr>
        <p:spPr>
          <a:xfrm>
            <a:off x="1227712" y="1970913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用户与智能体多样性</a:t>
            </a:r>
          </a:p>
        </p:txBody>
      </p:sp>
      <p:sp>
        <p:nvSpPr>
          <p:cNvPr id="36" name="矩形: 圆顶角 35">
            <a:extLst>
              <a:ext uri="{FF2B5EF4-FFF2-40B4-BE49-F238E27FC236}">
                <a16:creationId xmlns:a16="http://schemas.microsoft.com/office/drawing/2014/main" id="{2B589D99-9334-4B70-9B09-5E481D0AB7ED}"/>
              </a:ext>
            </a:extLst>
          </p:cNvPr>
          <p:cNvSpPr/>
          <p:nvPr/>
        </p:nvSpPr>
        <p:spPr>
          <a:xfrm>
            <a:off x="8754033" y="1970913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操纵范围多样性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2862F44-09DA-5BE2-84E8-9276EC3CDEC7}"/>
              </a:ext>
            </a:extLst>
          </p:cNvPr>
          <p:cNvSpPr txBox="1"/>
          <p:nvPr/>
        </p:nvSpPr>
        <p:spPr>
          <a:xfrm>
            <a:off x="8282822" y="5303422"/>
            <a:ext cx="3127042" cy="308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/>
              <a:t>全图生成与局部编辑并存</a:t>
            </a:r>
          </a:p>
        </p:txBody>
      </p:sp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D22DD935-924B-6E66-DC1D-26929372E030}"/>
              </a:ext>
            </a:extLst>
          </p:cNvPr>
          <p:cNvSpPr/>
          <p:nvPr/>
        </p:nvSpPr>
        <p:spPr>
          <a:xfrm>
            <a:off x="4993413" y="1970913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生成模型多样性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29A99A1-4C91-01BD-3DBD-959A50F5817B}"/>
              </a:ext>
            </a:extLst>
          </p:cNvPr>
          <p:cNvSpPr txBox="1"/>
          <p:nvPr/>
        </p:nvSpPr>
        <p:spPr>
          <a:xfrm>
            <a:off x="2988315" y="6145585"/>
            <a:ext cx="7186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操纵范围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均开放的条件下，同时完成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图像级检测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像素级定位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CEBAF21-4442-1273-D22F-193CE7EAEFD3}"/>
              </a:ext>
            </a:extLst>
          </p:cNvPr>
          <p:cNvSpPr txBox="1"/>
          <p:nvPr/>
        </p:nvSpPr>
        <p:spPr>
          <a:xfrm>
            <a:off x="4627089" y="4960875"/>
            <a:ext cx="3127042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/>
              <a:t>生成器持续迭代，测试阶段</a:t>
            </a:r>
            <a:endParaRPr lang="en-US" altLang="zh-CN" sz="1200" dirty="0"/>
          </a:p>
          <a:p>
            <a:r>
              <a:rPr lang="zh-CN" altLang="en-US" sz="1200" dirty="0"/>
              <a:t>可能出现未知模型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250A110-0733-AD32-BE7F-47C4EE961966}"/>
              </a:ext>
            </a:extLst>
          </p:cNvPr>
          <p:cNvSpPr txBox="1"/>
          <p:nvPr/>
        </p:nvSpPr>
        <p:spPr>
          <a:xfrm>
            <a:off x="900905" y="5114806"/>
            <a:ext cx="3127042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不同用户与多模态智能体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产生不可预知的生成、编辑意图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A2A18F-8FA9-BF07-8F4B-E0C0471F6261}"/>
              </a:ext>
            </a:extLst>
          </p:cNvPr>
          <p:cNvSpPr/>
          <p:nvPr/>
        </p:nvSpPr>
        <p:spPr>
          <a:xfrm>
            <a:off x="2057780" y="2881666"/>
            <a:ext cx="1842680" cy="1783621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 descr="豆包ai是哪个公司旗下_豆包ai是哪个公司的_单词乎">
            <a:extLst>
              <a:ext uri="{FF2B5EF4-FFF2-40B4-BE49-F238E27FC236}">
                <a16:creationId xmlns:a16="http://schemas.microsoft.com/office/drawing/2014/main" id="{F3C55ACD-8A47-5E09-DDFA-4828F6D5A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473" y="2964148"/>
            <a:ext cx="533426" cy="52403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 descr="Midjourney 初学者通用快速入门指南_midjounery-CSDN博客">
            <a:extLst>
              <a:ext uri="{FF2B5EF4-FFF2-40B4-BE49-F238E27FC236}">
                <a16:creationId xmlns:a16="http://schemas.microsoft.com/office/drawing/2014/main" id="{494CA49A-4140-2DAD-6EED-A6066A4D3F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784" t="3564" r="29494" b="32476"/>
          <a:stretch>
            <a:fillRect/>
          </a:stretch>
        </p:blipFill>
        <p:spPr>
          <a:xfrm>
            <a:off x="3284506" y="4107143"/>
            <a:ext cx="505583" cy="43911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图片 17" descr="通义万象">
            <a:extLst>
              <a:ext uri="{FF2B5EF4-FFF2-40B4-BE49-F238E27FC236}">
                <a16:creationId xmlns:a16="http://schemas.microsoft.com/office/drawing/2014/main" id="{752670AB-5100-0744-FADE-6C5355832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3846" y="3020245"/>
            <a:ext cx="450349" cy="43911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图片 18" descr="ChatGPT Business 已认证优惠 2026 | AIPromotions">
            <a:extLst>
              <a:ext uri="{FF2B5EF4-FFF2-40B4-BE49-F238E27FC236}">
                <a16:creationId xmlns:a16="http://schemas.microsoft.com/office/drawing/2014/main" id="{DE28AE6C-3703-F464-B5E9-0718FE1EC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5983" y="4110168"/>
            <a:ext cx="446988" cy="43911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B74503D-2E31-5BBB-26F4-27EF8E2F9811}"/>
              </a:ext>
            </a:extLst>
          </p:cNvPr>
          <p:cNvSpPr txBox="1"/>
          <p:nvPr/>
        </p:nvSpPr>
        <p:spPr>
          <a:xfrm>
            <a:off x="799028" y="4046429"/>
            <a:ext cx="884692" cy="29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用户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B18866-953A-E2E0-752B-95FDB57823F8}"/>
              </a:ext>
            </a:extLst>
          </p:cNvPr>
          <p:cNvSpPr txBox="1"/>
          <p:nvPr/>
        </p:nvSpPr>
        <p:spPr>
          <a:xfrm>
            <a:off x="2325695" y="4713656"/>
            <a:ext cx="1259107" cy="29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生成与编辑工具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542C7A6E-7A49-5586-3CB4-3CEF0C7557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9012" y="2974797"/>
            <a:ext cx="900000" cy="90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E3D4A9D-C649-9CA9-9CC3-C7C0EFDD94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9729" t="3100" r="1217" b="1234"/>
          <a:stretch>
            <a:fillRect/>
          </a:stretch>
        </p:blipFill>
        <p:spPr>
          <a:xfrm>
            <a:off x="8282482" y="2611540"/>
            <a:ext cx="1060156" cy="99487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C8DF8F33-3411-A41D-3C4B-D49CC7398FB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000" t="16682" b="651"/>
          <a:stretch>
            <a:fillRect/>
          </a:stretch>
        </p:blipFill>
        <p:spPr>
          <a:xfrm>
            <a:off x="9414525" y="2611540"/>
            <a:ext cx="1016400" cy="99487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36371113-F3CC-E081-4AFD-C02F9E4109E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9760" t="17093"/>
          <a:stretch>
            <a:fillRect/>
          </a:stretch>
        </p:blipFill>
        <p:spPr>
          <a:xfrm>
            <a:off x="10498113" y="2608775"/>
            <a:ext cx="1011426" cy="99487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4755D45-B014-8D01-EBBC-586EFECC2A76}"/>
              </a:ext>
            </a:extLst>
          </p:cNvPr>
          <p:cNvSpPr/>
          <p:nvPr/>
        </p:nvSpPr>
        <p:spPr>
          <a:xfrm>
            <a:off x="2200864" y="1226949"/>
            <a:ext cx="9399823" cy="476900"/>
          </a:xfrm>
          <a:prstGeom prst="roundRect">
            <a:avLst>
              <a:gd name="adj" fmla="val 116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C19D2F-DF76-B219-BDB9-031C73FD9A70}"/>
              </a:ext>
            </a:extLst>
          </p:cNvPr>
          <p:cNvSpPr txBox="1"/>
          <p:nvPr/>
        </p:nvSpPr>
        <p:spPr>
          <a:xfrm>
            <a:off x="2265793" y="1308859"/>
            <a:ext cx="7842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现实应用中的用户、生成模型与操纵范围均难以预先穷举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B70B5A-2D70-B176-1ABA-3D978754BA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0312" y="3038179"/>
            <a:ext cx="900000" cy="9000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D06BB5A-4336-F5B5-0D96-1600ACCAAB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7617" y="3139055"/>
            <a:ext cx="900000" cy="9000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63AAADE-936B-A681-BB3B-997C2FB154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5820" y="3258280"/>
            <a:ext cx="900000" cy="90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4D26400-5EBF-6AA9-7004-D76EE8A19CA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5228" y="3368755"/>
            <a:ext cx="900000" cy="900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2182588-EBAF-5318-D6FA-01822B4F87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1471" y="3488179"/>
            <a:ext cx="900000" cy="900000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703A3594-3717-3B2A-575D-BDDD0F3AF092}"/>
              </a:ext>
            </a:extLst>
          </p:cNvPr>
          <p:cNvGrpSpPr/>
          <p:nvPr/>
        </p:nvGrpSpPr>
        <p:grpSpPr>
          <a:xfrm>
            <a:off x="6682977" y="2900062"/>
            <a:ext cx="970639" cy="1729975"/>
            <a:chOff x="6625327" y="3069127"/>
            <a:chExt cx="970639" cy="172997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A601891-C089-0535-41F2-3ECA5458DC7D}"/>
                </a:ext>
              </a:extLst>
            </p:cNvPr>
            <p:cNvSpPr txBox="1"/>
            <p:nvPr/>
          </p:nvSpPr>
          <p:spPr>
            <a:xfrm>
              <a:off x="6625327" y="3069127"/>
              <a:ext cx="97063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SD1.5</a:t>
              </a:r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SD2.1</a:t>
              </a:r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SDXL</a:t>
              </a:r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SD3</a:t>
              </a:r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FLUX.1</a:t>
              </a: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……</a:t>
              </a:r>
              <a:endParaRPr lang="zh-CN" altLang="en-US" sz="1400" dirty="0"/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0568EC03-0D04-0E27-D22F-D840582DC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669298" y="4432315"/>
              <a:ext cx="355143" cy="366787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754ECC73-C254-619A-A487-CEDD8BFAA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093112" y="4429149"/>
              <a:ext cx="372800" cy="366787"/>
            </a:xfrm>
            <a:prstGeom prst="rect">
              <a:avLst/>
            </a:prstGeom>
          </p:spPr>
        </p:pic>
      </p:grp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93AD8A3-D5BE-501B-CB39-51076CD92220}"/>
              </a:ext>
            </a:extLst>
          </p:cNvPr>
          <p:cNvCxnSpPr>
            <a:cxnSpLocks/>
          </p:cNvCxnSpPr>
          <p:nvPr/>
        </p:nvCxnSpPr>
        <p:spPr>
          <a:xfrm flipH="1">
            <a:off x="6186820" y="3678819"/>
            <a:ext cx="340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8DEC0394-18C7-78BE-5BF6-58E3BD1A5957}"/>
              </a:ext>
            </a:extLst>
          </p:cNvPr>
          <p:cNvSpPr txBox="1"/>
          <p:nvPr/>
        </p:nvSpPr>
        <p:spPr>
          <a:xfrm>
            <a:off x="6118065" y="3330985"/>
            <a:ext cx="518317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</a:t>
            </a: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9DA96ED3-8D87-4FFC-589B-8E10488E3B9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17581" y="3892886"/>
            <a:ext cx="1925339" cy="1210085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647FB650-7441-E6F4-8DA5-C820B7EE884E}"/>
              </a:ext>
            </a:extLst>
          </p:cNvPr>
          <p:cNvSpPr txBox="1"/>
          <p:nvPr/>
        </p:nvSpPr>
        <p:spPr>
          <a:xfrm>
            <a:off x="8210595" y="2365056"/>
            <a:ext cx="996905" cy="306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局部编辑：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DAF3E49-348D-A536-B084-5F0741DBEE82}"/>
              </a:ext>
            </a:extLst>
          </p:cNvPr>
          <p:cNvSpPr txBox="1"/>
          <p:nvPr/>
        </p:nvSpPr>
        <p:spPr>
          <a:xfrm>
            <a:off x="8806281" y="3631073"/>
            <a:ext cx="996905" cy="306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整图生成：</a:t>
            </a:r>
          </a:p>
        </p:txBody>
      </p:sp>
      <p:pic>
        <p:nvPicPr>
          <p:cNvPr id="79" name="图形 78" descr="用户 纯色填充">
            <a:extLst>
              <a:ext uri="{FF2B5EF4-FFF2-40B4-BE49-F238E27FC236}">
                <a16:creationId xmlns:a16="http://schemas.microsoft.com/office/drawing/2014/main" id="{A0099837-4C67-53B1-88DB-3BE1B733A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0100" y="3369553"/>
            <a:ext cx="684589" cy="684589"/>
          </a:xfrm>
          <a:prstGeom prst="rect">
            <a:avLst/>
          </a:prstGeom>
        </p:spPr>
      </p:pic>
      <p:pic>
        <p:nvPicPr>
          <p:cNvPr id="80" name="图形 79" descr="用户 纯色填充">
            <a:extLst>
              <a:ext uri="{FF2B5EF4-FFF2-40B4-BE49-F238E27FC236}">
                <a16:creationId xmlns:a16="http://schemas.microsoft.com/office/drawing/2014/main" id="{DEBEA7CA-4B1A-322D-A00D-DDB8FD3D2D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05698" y="3395415"/>
            <a:ext cx="684589" cy="684589"/>
          </a:xfrm>
          <a:prstGeom prst="rect">
            <a:avLst/>
          </a:prstGeom>
        </p:spPr>
      </p:pic>
      <p:pic>
        <p:nvPicPr>
          <p:cNvPr id="81" name="图形 80" descr="用户 纯色填充">
            <a:extLst>
              <a:ext uri="{FF2B5EF4-FFF2-40B4-BE49-F238E27FC236}">
                <a16:creationId xmlns:a16="http://schemas.microsoft.com/office/drawing/2014/main" id="{FA74DD59-DB7E-892E-8723-58A8452F7F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1513" y="3421277"/>
            <a:ext cx="684589" cy="684589"/>
          </a:xfrm>
          <a:prstGeom prst="rect">
            <a:avLst/>
          </a:prstGeom>
        </p:spPr>
      </p:pic>
      <p:pic>
        <p:nvPicPr>
          <p:cNvPr id="82" name="图形 81" descr="图片预览">
            <a:extLst>
              <a:ext uri="{FF2B5EF4-FFF2-40B4-BE49-F238E27FC236}">
                <a16:creationId xmlns:a16="http://schemas.microsoft.com/office/drawing/2014/main" id="{CC19B373-EC9B-2AF7-B5BF-839FD794F9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72649" y="3040277"/>
            <a:ext cx="419100" cy="381000"/>
          </a:xfrm>
          <a:prstGeom prst="rect">
            <a:avLst/>
          </a:prstGeom>
        </p:spPr>
      </p:pic>
      <p:pic>
        <p:nvPicPr>
          <p:cNvPr id="83" name="图形 82" descr="图片预览">
            <a:extLst>
              <a:ext uri="{FF2B5EF4-FFF2-40B4-BE49-F238E27FC236}">
                <a16:creationId xmlns:a16="http://schemas.microsoft.com/office/drawing/2014/main" id="{4B6F8B1E-6909-F30F-64C0-CE677761E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06771" y="3559408"/>
            <a:ext cx="431336" cy="431336"/>
          </a:xfrm>
          <a:prstGeom prst="rect">
            <a:avLst/>
          </a:prstGeom>
        </p:spPr>
      </p:pic>
      <p:pic>
        <p:nvPicPr>
          <p:cNvPr id="84" name="图片 83" descr="图片预览">
            <a:extLst>
              <a:ext uri="{FF2B5EF4-FFF2-40B4-BE49-F238E27FC236}">
                <a16:creationId xmlns:a16="http://schemas.microsoft.com/office/drawing/2014/main" id="{19FD9936-943D-1583-4B44-FD01D02A60C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72649" y="3559408"/>
            <a:ext cx="431335" cy="433924"/>
          </a:xfrm>
          <a:prstGeom prst="rect">
            <a:avLst/>
          </a:prstGeom>
        </p:spPr>
      </p:pic>
      <p:pic>
        <p:nvPicPr>
          <p:cNvPr id="85" name="图形 84" descr="图片预览">
            <a:extLst>
              <a:ext uri="{FF2B5EF4-FFF2-40B4-BE49-F238E27FC236}">
                <a16:creationId xmlns:a16="http://schemas.microsoft.com/office/drawing/2014/main" id="{8E736803-EA8D-16AA-92A7-0E7173D49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60896" y="3582458"/>
            <a:ext cx="368306" cy="368306"/>
          </a:xfrm>
          <a:prstGeom prst="rect">
            <a:avLst/>
          </a:prstGeom>
        </p:spPr>
      </p:pic>
      <p:pic>
        <p:nvPicPr>
          <p:cNvPr id="86" name="图形 85" descr="图片预览">
            <a:extLst>
              <a:ext uri="{FF2B5EF4-FFF2-40B4-BE49-F238E27FC236}">
                <a16:creationId xmlns:a16="http://schemas.microsoft.com/office/drawing/2014/main" id="{6B8B78DB-6202-F852-98D8-3DC84F2E6A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775094" y="4119815"/>
            <a:ext cx="426443" cy="42644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F789BB-855A-8AF8-8EE4-035FE85E49FB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DF3F66-D048-2B54-F55B-3CAD536ED413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9DFF52-066A-1844-8DA9-D87409E05B14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DCA65-1E53-A6D6-1C89-357F4ED9577C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9036AA-D9A0-1DE3-A701-847FD31FEC22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7D4B33D-B1E5-16D2-C9E7-A9E8AD0B3BAC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9304E1-C866-099A-3B74-410D728D2B6A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6B1C157-2A86-2685-8A49-7A8DBCBC2079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99CE445-0D01-83E9-388F-D44382FE702D}"/>
              </a:ext>
            </a:extLst>
          </p:cNvPr>
          <p:cNvGrpSpPr/>
          <p:nvPr/>
        </p:nvGrpSpPr>
        <p:grpSpPr>
          <a:xfrm>
            <a:off x="1681000" y="787091"/>
            <a:ext cx="1826148" cy="99594"/>
            <a:chOff x="1185700" y="827567"/>
            <a:chExt cx="1826148" cy="99594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EECD251F-CA96-9EC3-7011-7D900CB172A6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7685A370-4D4E-4B09-15A7-D1ACDE0B3AFC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50630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F165-7B89-0143-441F-1C1FCDCB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FD11491-5A2B-4054-C622-E03EFEC22E80}"/>
              </a:ext>
            </a:extLst>
          </p:cNvPr>
          <p:cNvSpPr/>
          <p:nvPr/>
        </p:nvSpPr>
        <p:spPr>
          <a:xfrm>
            <a:off x="8054033" y="2735901"/>
            <a:ext cx="3470212" cy="1281236"/>
          </a:xfrm>
          <a:prstGeom prst="roundRect">
            <a:avLst>
              <a:gd name="adj" fmla="val 2964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判断整张图像是否为生成图像；现有方法容易依赖特定生成器痕迹，面对未见生成模型时泛化能力有限。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15EFDA-C933-8E8E-01D2-18CFE3990CED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0956F5-ECAB-D9E7-3385-2FCD6136B4ED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3F70B9-FC18-1E71-FCFA-48FBB8623CCA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DDC76E-D38D-2B97-26B7-E0E22A3ED556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69FC72-BD81-D01B-4484-10ADCC9A0DF6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BD7836-A42C-B9CB-C9D9-194F97FED857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866146-EA9C-65B4-E2E0-A0FEAA917709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260A1F-199A-CF7F-8784-FE68D5D47B08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5ACC9B5-16AA-392C-5C63-21DD35718F4A}"/>
              </a:ext>
            </a:extLst>
          </p:cNvPr>
          <p:cNvGrpSpPr/>
          <p:nvPr/>
        </p:nvGrpSpPr>
        <p:grpSpPr>
          <a:xfrm>
            <a:off x="1681000" y="787091"/>
            <a:ext cx="1826148" cy="99594"/>
            <a:chOff x="1185700" y="827567"/>
            <a:chExt cx="1826148" cy="99594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3CEF7EF-7A82-0DB8-967C-FC80CF680633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75A862A4-31E9-5219-EA22-CE6A0FEC7BE2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FB9264FB-92C7-BAC1-12A3-2EB004D5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564"/>
          <a:stretch>
            <a:fillRect/>
          </a:stretch>
        </p:blipFill>
        <p:spPr>
          <a:xfrm>
            <a:off x="103641" y="2167643"/>
            <a:ext cx="7089965" cy="410599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7F962C4-0F04-C9B1-E5AE-5B673211B94A}"/>
              </a:ext>
            </a:extLst>
          </p:cNvPr>
          <p:cNvSpPr txBox="1"/>
          <p:nvPr/>
        </p:nvSpPr>
        <p:spPr>
          <a:xfrm>
            <a:off x="0" y="6651527"/>
            <a:ext cx="933495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800"/>
            </a:lvl1pPr>
          </a:lstStyle>
          <a:p>
            <a:r>
              <a:rPr lang="zh-CN" altLang="en-US" sz="1050" dirty="0"/>
              <a:t>来源：央视网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6D06A1-E4F4-FF2D-E95A-38BD3EEF4058}"/>
              </a:ext>
            </a:extLst>
          </p:cNvPr>
          <p:cNvSpPr txBox="1"/>
          <p:nvPr/>
        </p:nvSpPr>
        <p:spPr>
          <a:xfrm>
            <a:off x="8319739" y="1649367"/>
            <a:ext cx="2735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现有方法：两条技术路线 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FEA050A-76A4-5D2E-E820-36B094ACE20D}"/>
              </a:ext>
            </a:extLst>
          </p:cNvPr>
          <p:cNvSpPr/>
          <p:nvPr/>
        </p:nvSpPr>
        <p:spPr>
          <a:xfrm>
            <a:off x="7553694" y="2532397"/>
            <a:ext cx="4177290" cy="1688245"/>
          </a:xfrm>
          <a:prstGeom prst="roundRect">
            <a:avLst>
              <a:gd name="adj" fmla="val 540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: 圆顶角 32">
            <a:extLst>
              <a:ext uri="{FF2B5EF4-FFF2-40B4-BE49-F238E27FC236}">
                <a16:creationId xmlns:a16="http://schemas.microsoft.com/office/drawing/2014/main" id="{6CA65781-C5C7-A836-818C-A3D20A8A1D27}"/>
              </a:ext>
            </a:extLst>
          </p:cNvPr>
          <p:cNvSpPr/>
          <p:nvPr/>
        </p:nvSpPr>
        <p:spPr>
          <a:xfrm>
            <a:off x="8542579" y="2532396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36A9299-7E2B-8868-0CBA-5C2360886BA9}"/>
              </a:ext>
            </a:extLst>
          </p:cNvPr>
          <p:cNvSpPr txBox="1"/>
          <p:nvPr/>
        </p:nvSpPr>
        <p:spPr>
          <a:xfrm>
            <a:off x="9043678" y="2496988"/>
            <a:ext cx="1463794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图像级检测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B51CF22-124F-C5B4-FFED-DC292418C838}"/>
              </a:ext>
            </a:extLst>
          </p:cNvPr>
          <p:cNvSpPr/>
          <p:nvPr/>
        </p:nvSpPr>
        <p:spPr>
          <a:xfrm>
            <a:off x="7553694" y="4484993"/>
            <a:ext cx="4177290" cy="1688245"/>
          </a:xfrm>
          <a:prstGeom prst="roundRect">
            <a:avLst>
              <a:gd name="adj" fmla="val 540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矩形: 圆顶角 43">
            <a:extLst>
              <a:ext uri="{FF2B5EF4-FFF2-40B4-BE49-F238E27FC236}">
                <a16:creationId xmlns:a16="http://schemas.microsoft.com/office/drawing/2014/main" id="{6D7326F4-6650-7057-52C8-0A736D6E4AAA}"/>
              </a:ext>
            </a:extLst>
          </p:cNvPr>
          <p:cNvSpPr/>
          <p:nvPr/>
        </p:nvSpPr>
        <p:spPr>
          <a:xfrm>
            <a:off x="8542579" y="4484992"/>
            <a:ext cx="2205174" cy="376049"/>
          </a:xfrm>
          <a:prstGeom prst="round2SameRect">
            <a:avLst>
              <a:gd name="adj1" fmla="val 0"/>
              <a:gd name="adj2" fmla="val 192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A1EA1BD-6F9C-8E0A-620E-D8A306AFF667}"/>
              </a:ext>
            </a:extLst>
          </p:cNvPr>
          <p:cNvSpPr txBox="1"/>
          <p:nvPr/>
        </p:nvSpPr>
        <p:spPr>
          <a:xfrm>
            <a:off x="9043678" y="4449584"/>
            <a:ext cx="1463794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像素级定位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24D93EF-2BF7-8A52-92DA-34AB3333E323}"/>
              </a:ext>
            </a:extLst>
          </p:cNvPr>
          <p:cNvSpPr txBox="1"/>
          <p:nvPr/>
        </p:nvSpPr>
        <p:spPr>
          <a:xfrm>
            <a:off x="7587999" y="3734857"/>
            <a:ext cx="4108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判断图像是否包含生成内容，完成整体真实性筛查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0CD8227-E593-3E02-1707-C2B5E4B2E4B1}"/>
              </a:ext>
            </a:extLst>
          </p:cNvPr>
          <p:cNvSpPr txBox="1"/>
          <p:nvPr/>
        </p:nvSpPr>
        <p:spPr>
          <a:xfrm>
            <a:off x="7643884" y="5683663"/>
            <a:ext cx="4087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定位生成或编辑区域，为真假判定提供空间证据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1983007-F30E-3567-899E-A50CB3A12A08}"/>
              </a:ext>
            </a:extLst>
          </p:cNvPr>
          <p:cNvSpPr txBox="1"/>
          <p:nvPr/>
        </p:nvSpPr>
        <p:spPr>
          <a:xfrm>
            <a:off x="8954589" y="3156480"/>
            <a:ext cx="1375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判“真假”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F97B31D-00CB-987C-2918-9CECAA89422F}"/>
              </a:ext>
            </a:extLst>
          </p:cNvPr>
          <p:cNvSpPr txBox="1"/>
          <p:nvPr/>
        </p:nvSpPr>
        <p:spPr>
          <a:xfrm>
            <a:off x="8954589" y="5125392"/>
            <a:ext cx="1375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找“位置”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AD2CA8-8675-0DBF-DAF8-324F7AB88C4F}"/>
              </a:ext>
            </a:extLst>
          </p:cNvPr>
          <p:cNvSpPr txBox="1"/>
          <p:nvPr/>
        </p:nvSpPr>
        <p:spPr>
          <a:xfrm>
            <a:off x="271610" y="1649367"/>
            <a:ext cx="5163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现实问题：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图像真假难辨，篡改区域难寻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03D7BDC-573A-095E-2A61-E699B374783C}"/>
              </a:ext>
            </a:extLst>
          </p:cNvPr>
          <p:cNvSpPr/>
          <p:nvPr/>
        </p:nvSpPr>
        <p:spPr>
          <a:xfrm>
            <a:off x="5813989" y="1748128"/>
            <a:ext cx="1429497" cy="171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99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D761-88B2-3968-5260-ABBA5AE6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70BE258-5CE6-4E57-9B6B-AAD9A75D89E8}"/>
              </a:ext>
            </a:extLst>
          </p:cNvPr>
          <p:cNvSpPr/>
          <p:nvPr/>
        </p:nvSpPr>
        <p:spPr>
          <a:xfrm>
            <a:off x="339242" y="1295002"/>
            <a:ext cx="5548684" cy="5206418"/>
          </a:xfrm>
          <a:prstGeom prst="roundRect">
            <a:avLst>
              <a:gd name="adj" fmla="val 2964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/>
              <a:t>判断整张图像是否为生成图像；现有方法容易依赖特定生成器痕迹，面对未见生成模型时泛化能力有限。</a:t>
            </a:r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480049-8583-A883-565F-300596DFF1E2}"/>
              </a:ext>
            </a:extLst>
          </p:cNvPr>
          <p:cNvSpPr/>
          <p:nvPr/>
        </p:nvSpPr>
        <p:spPr>
          <a:xfrm>
            <a:off x="6248975" y="1300744"/>
            <a:ext cx="5548684" cy="5206418"/>
          </a:xfrm>
          <a:prstGeom prst="roundRect">
            <a:avLst>
              <a:gd name="adj" fmla="val 2964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41C4D0D-0E0E-39BB-518D-7BE2EE55E923}"/>
              </a:ext>
            </a:extLst>
          </p:cNvPr>
          <p:cNvGrpSpPr/>
          <p:nvPr/>
        </p:nvGrpSpPr>
        <p:grpSpPr>
          <a:xfrm>
            <a:off x="459397" y="1436797"/>
            <a:ext cx="5389998" cy="4145858"/>
            <a:chOff x="459397" y="1436797"/>
            <a:chExt cx="5389998" cy="4145858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CC3E9B3-FA66-A63E-6566-1A77166360E6}"/>
                </a:ext>
              </a:extLst>
            </p:cNvPr>
            <p:cNvSpPr txBox="1"/>
            <p:nvPr/>
          </p:nvSpPr>
          <p:spPr>
            <a:xfrm>
              <a:off x="470496" y="1436797"/>
              <a:ext cx="5378899" cy="91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预训练表征检测｜</a:t>
              </a:r>
              <a:r>
                <a:rPr lang="en-US" altLang="zh-CN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UniFD</a:t>
              </a: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RINE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1400" dirty="0">
                  <a:latin typeface="等线" panose="02010600030101010101" pitchFamily="2" charset="-122"/>
                </a:rPr>
                <a:t>利用冻结的</a:t>
              </a:r>
              <a:r>
                <a:rPr lang="en-US" altLang="zh-CN" sz="1400" dirty="0">
                  <a:latin typeface="等线" panose="02010600030101010101" pitchFamily="2" charset="-122"/>
                </a:rPr>
                <a:t>CLIP</a:t>
              </a:r>
              <a:r>
                <a:rPr lang="zh-CN" altLang="en-US" sz="1400" dirty="0">
                  <a:latin typeface="等线" panose="02010600030101010101" pitchFamily="2" charset="-122"/>
                </a:rPr>
                <a:t>特征完成整图判断，</a:t>
              </a:r>
              <a:r>
                <a:rPr lang="en-US" altLang="zh-CN" sz="1400" dirty="0">
                  <a:latin typeface="等线" panose="02010600030101010101" pitchFamily="2" charset="-122"/>
                </a:rPr>
                <a:t>RINE</a:t>
              </a:r>
              <a:r>
                <a:rPr lang="zh-CN" altLang="en-US" sz="1400" dirty="0">
                  <a:latin typeface="等线" panose="02010600030101010101" pitchFamily="2" charset="-122"/>
                </a:rPr>
                <a:t>进一步聚合中间层信息。</a:t>
              </a:r>
              <a:r>
                <a:rPr lang="zh-CN" altLang="en-US" sz="1400" b="1" dirty="0">
                  <a:highlight>
                    <a:srgbClr val="F3C5C7"/>
                  </a:highlight>
                  <a:latin typeface="等线" panose="02010600030101010101" pitchFamily="2" charset="-122"/>
                </a:rPr>
                <a:t>局限：</a:t>
              </a:r>
              <a:r>
                <a:rPr lang="zh-CN" altLang="en-US" sz="1400" dirty="0">
                  <a:highlight>
                    <a:srgbClr val="F3C5C7"/>
                  </a:highlight>
                  <a:latin typeface="等线" panose="02010600030101010101" pitchFamily="2" charset="-122"/>
                </a:rPr>
                <a:t>只能输出整图标签，难以提供具体的局部伪造证据。</a:t>
              </a:r>
              <a:endParaRPr lang="zh-CN" altLang="en-US" sz="1400" dirty="0">
                <a:highlight>
                  <a:srgbClr val="F3C5C7"/>
                </a:highligh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221D802-3AD3-6A4C-4230-E5931EE3849C}"/>
                </a:ext>
              </a:extLst>
            </p:cNvPr>
            <p:cNvSpPr txBox="1"/>
            <p:nvPr/>
          </p:nvSpPr>
          <p:spPr>
            <a:xfrm>
              <a:off x="459397" y="3611881"/>
              <a:ext cx="5274538" cy="91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局部生成痕迹检测｜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NPR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1400" dirty="0">
                  <a:latin typeface="等线" panose="02010600030101010101" pitchFamily="2" charset="-122"/>
                </a:rPr>
                <a:t>建模相邻像素关系，捕捉上采样伪影。</a:t>
              </a:r>
              <a:endParaRPr lang="en-US" altLang="zh-CN" sz="1400" dirty="0">
                <a:latin typeface="等线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400" b="1" dirty="0">
                  <a:highlight>
                    <a:srgbClr val="F3C5C7"/>
                  </a:highlight>
                  <a:latin typeface="等线" panose="02010600030101010101" pitchFamily="2" charset="-122"/>
                </a:rPr>
                <a:t>局限：</a:t>
              </a:r>
              <a:r>
                <a:rPr lang="zh-CN" altLang="en-US" sz="1400" dirty="0">
                  <a:highlight>
                    <a:srgbClr val="F3C5C7"/>
                  </a:highlight>
                  <a:latin typeface="等线" panose="02010600030101010101" pitchFamily="2" charset="-122"/>
                </a:rPr>
                <a:t>依赖低层生成痕迹，生成架构变化时稳定性可能下降。</a:t>
              </a:r>
            </a:p>
          </p:txBody>
        </p:sp>
        <p:pic>
          <p:nvPicPr>
            <p:cNvPr id="68" name="图片 67" descr="图片预览">
              <a:extLst>
                <a:ext uri="{FF2B5EF4-FFF2-40B4-BE49-F238E27FC236}">
                  <a16:creationId xmlns:a16="http://schemas.microsoft.com/office/drawing/2014/main" id="{657F6CCC-3EC9-FC60-60F8-6EDA72ADA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789" y="2407076"/>
              <a:ext cx="4735376" cy="1288343"/>
            </a:xfrm>
            <a:prstGeom prst="rect">
              <a:avLst/>
            </a:prstGeom>
          </p:spPr>
        </p:pic>
        <p:pic>
          <p:nvPicPr>
            <p:cNvPr id="69" name="图片 68" descr="图片预览">
              <a:extLst>
                <a:ext uri="{FF2B5EF4-FFF2-40B4-BE49-F238E27FC236}">
                  <a16:creationId xmlns:a16="http://schemas.microsoft.com/office/drawing/2014/main" id="{EE70393A-EC68-5A17-EE40-E1ACFE7A7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3815"/>
            <a:stretch>
              <a:fillRect/>
            </a:stretch>
          </p:blipFill>
          <p:spPr>
            <a:xfrm>
              <a:off x="1536762" y="4626152"/>
              <a:ext cx="3035430" cy="956503"/>
            </a:xfrm>
            <a:prstGeom prst="rect">
              <a:avLst/>
            </a:prstGeom>
          </p:spPr>
        </p:pic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C9CC87E-A81A-A112-C19C-3A3C7AF8F9D6}"/>
              </a:ext>
            </a:extLst>
          </p:cNvPr>
          <p:cNvGrpSpPr/>
          <p:nvPr/>
        </p:nvGrpSpPr>
        <p:grpSpPr>
          <a:xfrm>
            <a:off x="6390492" y="1422006"/>
            <a:ext cx="5274538" cy="4045303"/>
            <a:chOff x="6390492" y="1422006"/>
            <a:chExt cx="5274538" cy="4045303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C2B0CF69-DC4B-5254-62F9-CF10D3DC5000}"/>
                </a:ext>
              </a:extLst>
            </p:cNvPr>
            <p:cNvSpPr txBox="1"/>
            <p:nvPr/>
          </p:nvSpPr>
          <p:spPr>
            <a:xfrm>
              <a:off x="6390492" y="1422006"/>
              <a:ext cx="5274538" cy="91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Transformer</a:t>
              </a: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表征定位｜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IML-</a:t>
              </a:r>
              <a:r>
                <a:rPr lang="en-US" altLang="zh-CN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ViT</a:t>
              </a: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DeCLIP</a:t>
              </a:r>
              <a:endPara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400" dirty="0">
                  <a:latin typeface="等线" panose="02010600030101010101" pitchFamily="2" charset="-122"/>
                </a:rPr>
                <a:t>利用</a:t>
              </a:r>
              <a:r>
                <a:rPr lang="en-US" altLang="zh-CN" sz="1400" dirty="0" err="1">
                  <a:latin typeface="等线" panose="02010600030101010101" pitchFamily="2" charset="-122"/>
                </a:rPr>
                <a:t>ViT</a:t>
              </a:r>
              <a:r>
                <a:rPr lang="zh-CN" altLang="en-US" sz="1400" dirty="0">
                  <a:latin typeface="等线" panose="02010600030101010101" pitchFamily="2" charset="-122"/>
                </a:rPr>
                <a:t>或冻结</a:t>
              </a:r>
              <a:r>
                <a:rPr lang="en-US" altLang="zh-CN" sz="1400" dirty="0">
                  <a:latin typeface="等线" panose="02010600030101010101" pitchFamily="2" charset="-122"/>
                </a:rPr>
                <a:t>CLIP</a:t>
              </a:r>
              <a:r>
                <a:rPr lang="zh-CN" altLang="en-US" sz="1400" dirty="0">
                  <a:latin typeface="等线" panose="02010600030101010101" pitchFamily="2" charset="-122"/>
                </a:rPr>
                <a:t>表征解码像素级掩码。</a:t>
              </a:r>
              <a:endParaRPr lang="en-US" altLang="zh-CN" sz="1400" dirty="0">
                <a:latin typeface="等线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400" b="1" dirty="0">
                  <a:highlight>
                    <a:srgbClr val="F3C5C7"/>
                  </a:highlight>
                  <a:latin typeface="等线" panose="02010600030101010101" pitchFamily="2" charset="-122"/>
                </a:rPr>
                <a:t>局限：</a:t>
              </a:r>
              <a:r>
                <a:rPr lang="zh-CN" altLang="en-US" sz="1400" dirty="0">
                  <a:highlight>
                    <a:srgbClr val="F3C5C7"/>
                  </a:highlight>
                  <a:latin typeface="等线" panose="02010600030101010101" pitchFamily="2" charset="-122"/>
                </a:rPr>
                <a:t>在不同扩散生成器上的定位结果波动明显。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A77D4BBF-08F0-A25A-0E51-008F37A50A1A}"/>
                </a:ext>
              </a:extLst>
            </p:cNvPr>
            <p:cNvSpPr txBox="1"/>
            <p:nvPr/>
          </p:nvSpPr>
          <p:spPr>
            <a:xfrm>
              <a:off x="6390492" y="3056791"/>
              <a:ext cx="5274538" cy="919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可信异常定位｜</a:t>
              </a:r>
              <a:r>
                <a:rPr lang="en-US" altLang="zh-CN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TruFor</a:t>
              </a:r>
              <a:endPara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400" dirty="0">
                  <a:latin typeface="等线" panose="02010600030101010101" pitchFamily="2" charset="-122"/>
                </a:rPr>
                <a:t>融合</a:t>
              </a:r>
              <a:r>
                <a:rPr lang="en-US" altLang="zh-CN" sz="1400" dirty="0">
                  <a:latin typeface="等线" panose="02010600030101010101" pitchFamily="2" charset="-122"/>
                </a:rPr>
                <a:t>RGB</a:t>
              </a:r>
              <a:r>
                <a:rPr lang="zh-CN" altLang="en-US" sz="1400" dirty="0">
                  <a:latin typeface="等线" panose="02010600030101010101" pitchFamily="2" charset="-122"/>
                </a:rPr>
                <a:t>语义、噪声指纹与置信度信息。</a:t>
              </a:r>
              <a:endParaRPr lang="en-US" altLang="zh-CN" sz="1400" dirty="0">
                <a:latin typeface="等线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1400" b="1" dirty="0">
                  <a:highlight>
                    <a:srgbClr val="F3C5C7"/>
                  </a:highlight>
                  <a:latin typeface="等线" panose="02010600030101010101" pitchFamily="2" charset="-122"/>
                </a:rPr>
                <a:t>局限：</a:t>
              </a:r>
              <a:r>
                <a:rPr lang="zh-CN" altLang="en-US" sz="1400" dirty="0">
                  <a:highlight>
                    <a:srgbClr val="F3C5C7"/>
                  </a:highlight>
                  <a:latin typeface="等线" panose="02010600030101010101" pitchFamily="2" charset="-122"/>
                </a:rPr>
                <a:t>异常线索在新生成模型间的迁移仍不稳定。</a:t>
              </a:r>
            </a:p>
          </p:txBody>
        </p:sp>
        <p:pic>
          <p:nvPicPr>
            <p:cNvPr id="72" name="图片 71" descr="图片预览">
              <a:extLst>
                <a:ext uri="{FF2B5EF4-FFF2-40B4-BE49-F238E27FC236}">
                  <a16:creationId xmlns:a16="http://schemas.microsoft.com/office/drawing/2014/main" id="{1D2984F8-BA4E-C9CF-E725-F6F721F1B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29509" y="2356151"/>
              <a:ext cx="4680445" cy="771905"/>
            </a:xfrm>
            <a:prstGeom prst="rect">
              <a:avLst/>
            </a:prstGeom>
          </p:spPr>
        </p:pic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8D78757D-2757-71F5-72DB-CC33CF99B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390" r="12592" b="53750"/>
            <a:stretch>
              <a:fillRect/>
            </a:stretch>
          </p:blipFill>
          <p:spPr>
            <a:xfrm>
              <a:off x="6926172" y="4006859"/>
              <a:ext cx="4042878" cy="1460450"/>
            </a:xfrm>
            <a:prstGeom prst="rect">
              <a:avLst/>
            </a:prstGeom>
          </p:spPr>
        </p:pic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713EE0E7-7A79-88F7-543D-3829A51BE15E}"/>
              </a:ext>
            </a:extLst>
          </p:cNvPr>
          <p:cNvSpPr/>
          <p:nvPr/>
        </p:nvSpPr>
        <p:spPr>
          <a:xfrm>
            <a:off x="2400691" y="1282297"/>
            <a:ext cx="1353918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6D17EF2-732E-89E8-1D6A-BCC618B84DA4}"/>
              </a:ext>
            </a:extLst>
          </p:cNvPr>
          <p:cNvSpPr/>
          <p:nvPr/>
        </p:nvSpPr>
        <p:spPr>
          <a:xfrm>
            <a:off x="8344343" y="1270030"/>
            <a:ext cx="1353918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2B4358B-FF6F-90B5-55AB-EF9E77B24094}"/>
              </a:ext>
            </a:extLst>
          </p:cNvPr>
          <p:cNvSpPr txBox="1"/>
          <p:nvPr/>
        </p:nvSpPr>
        <p:spPr>
          <a:xfrm>
            <a:off x="8305609" y="1074548"/>
            <a:ext cx="1484040" cy="45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像素级定位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AA7DCE5-04C8-DBCF-A46C-D7BB91C5C6CC}"/>
              </a:ext>
            </a:extLst>
          </p:cNvPr>
          <p:cNvSpPr txBox="1"/>
          <p:nvPr/>
        </p:nvSpPr>
        <p:spPr>
          <a:xfrm>
            <a:off x="2361957" y="1079324"/>
            <a:ext cx="1463794" cy="45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图像级检测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604531-92FD-6BB2-32AB-EA569FB58210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D3BC0E-EC51-E74D-FC4B-F6049B435134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C2A241-4337-2B3C-D96B-0381D4765AE8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67C8EB-2AC3-5D9E-28D0-4D4EFED3D9EA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75C790-2780-8384-E3BE-6CE8E6754BD1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CFFE22-46FD-EBB7-BF7B-5A20A17E277D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D6588D-139D-1DAE-041C-7CC03C8CCDF4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EE27B7-66E9-E23C-5621-B0DF396117B7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B779F2D-EAFF-F356-4448-03909F9308A2}"/>
              </a:ext>
            </a:extLst>
          </p:cNvPr>
          <p:cNvGrpSpPr/>
          <p:nvPr/>
        </p:nvGrpSpPr>
        <p:grpSpPr>
          <a:xfrm>
            <a:off x="1681000" y="787091"/>
            <a:ext cx="1826148" cy="99594"/>
            <a:chOff x="1185700" y="827567"/>
            <a:chExt cx="1826148" cy="99594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F6379E0-F641-FA43-129B-DFA55F8AB560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441709C5-98D1-A474-B1A2-62FEA00606D6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E8963D00-4001-BA52-B189-7DD448544CDC}"/>
              </a:ext>
            </a:extLst>
          </p:cNvPr>
          <p:cNvSpPr txBox="1"/>
          <p:nvPr/>
        </p:nvSpPr>
        <p:spPr>
          <a:xfrm>
            <a:off x="822294" y="5953475"/>
            <a:ext cx="4675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判断图像是否包含生成内容，完成整体真实性筛查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C383A7-B97F-5C31-4F89-3FCD9AC03DD8}"/>
              </a:ext>
            </a:extLst>
          </p:cNvPr>
          <p:cNvSpPr txBox="1"/>
          <p:nvPr/>
        </p:nvSpPr>
        <p:spPr>
          <a:xfrm>
            <a:off x="6951821" y="5938919"/>
            <a:ext cx="4467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定位生成或编辑区域，为真假判定提供空间证据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1929624-97E1-8888-56B4-44FC24319587}"/>
              </a:ext>
            </a:extLst>
          </p:cNvPr>
          <p:cNvSpPr txBox="1"/>
          <p:nvPr/>
        </p:nvSpPr>
        <p:spPr>
          <a:xfrm>
            <a:off x="-63019" y="6637046"/>
            <a:ext cx="126256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/>
              <a:t>参考文献：[1] Ojha et al., CVPR 2023 (UniFD); [2] Koutlis &amp; Papadopoulos, ECCV 2024 (RINE); [3] Tan et al., CVPR 2024 (NPR); [4] Ma et al., arXiv 2023 (IML-ViT); [5] Smeu et al., WACV 2025 (DeCLIP); [6] Guillaro et al., CVPR 2023 (TruFor).</a:t>
            </a:r>
          </a:p>
        </p:txBody>
      </p:sp>
    </p:spTree>
    <p:extLst>
      <p:ext uri="{BB962C8B-B14F-4D97-AF65-F5344CB8AC3E}">
        <p14:creationId xmlns:p14="http://schemas.microsoft.com/office/powerpoint/2010/main" val="822462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4DBD-C538-6159-8D45-B1D87224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BB76265-4D6E-B147-4C40-FBECA3C46282}"/>
              </a:ext>
            </a:extLst>
          </p:cNvPr>
          <p:cNvSpPr txBox="1"/>
          <p:nvPr/>
        </p:nvSpPr>
        <p:spPr>
          <a:xfrm>
            <a:off x="176806" y="1254789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本文贡献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9AB11FD-8FEC-8EF9-0615-83F07BBF9F1D}"/>
              </a:ext>
            </a:extLst>
          </p:cNvPr>
          <p:cNvSpPr>
            <a:spLocks noGrp="1"/>
          </p:cNvSpPr>
          <p:nvPr/>
        </p:nvSpPr>
        <p:spPr>
          <a:xfrm>
            <a:off x="1479678" y="1842569"/>
            <a:ext cx="3553546" cy="552450"/>
          </a:xfrm>
          <a:prstGeom prst="roundRect">
            <a:avLst>
              <a:gd name="adj" fmla="val 22414"/>
            </a:avLst>
          </a:prstGeom>
          <a:solidFill>
            <a:srgbClr val="EAF2FC"/>
          </a:solidFill>
          <a:ln w="14288">
            <a:solidFill>
              <a:srgbClr val="B9CC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519FA3-F85F-D8B7-A066-7B79B61B3101}"/>
              </a:ext>
            </a:extLst>
          </p:cNvPr>
          <p:cNvSpPr>
            <a:spLocks noGrp="1"/>
          </p:cNvSpPr>
          <p:nvPr/>
        </p:nvSpPr>
        <p:spPr>
          <a:xfrm>
            <a:off x="1531379" y="2003500"/>
            <a:ext cx="3381598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latin typeface="Microsoft YaHei"/>
                <a:ea typeface="Microsoft YaHei"/>
                <a:cs typeface="Microsoft YaHei"/>
              </a:rPr>
              <a:t>现有不足：数据</a:t>
            </a:r>
            <a:r>
              <a:rPr lang="zh-CN" altLang="en-US" sz="1650" b="1" dirty="0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rPr>
              <a:t>多样性</a:t>
            </a:r>
            <a:r>
              <a:rPr lang="zh-CN" altLang="zh-CN" sz="1650" b="1" dirty="0">
                <a:solidFill>
                  <a:srgbClr val="173F83"/>
                </a:solidFill>
                <a:latin typeface="Microsoft YaHei"/>
              </a:rPr>
              <a:t>覆盖有限</a:t>
            </a:r>
            <a:endParaRPr sz="1650" b="1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8940911B-E713-E590-1ADD-AD74FE6CA0A5}"/>
              </a:ext>
            </a:extLst>
          </p:cNvPr>
          <p:cNvSpPr>
            <a:spLocks noGrp="1"/>
          </p:cNvSpPr>
          <p:nvPr/>
        </p:nvSpPr>
        <p:spPr>
          <a:xfrm>
            <a:off x="3163400" y="2391895"/>
            <a:ext cx="171450" cy="421088"/>
          </a:xfrm>
          <a:prstGeom prst="downArrow">
            <a:avLst/>
          </a:prstGeom>
          <a:solidFill>
            <a:srgbClr val="173F83"/>
          </a:solidFill>
          <a:ln w="0">
            <a:noFill/>
          </a:ln>
        </p:spPr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D842DA57-1FBA-1E2E-5B3D-F755B796D4C5}"/>
              </a:ext>
            </a:extLst>
          </p:cNvPr>
          <p:cNvSpPr>
            <a:spLocks noGrp="1"/>
          </p:cNvSpPr>
          <p:nvPr/>
        </p:nvSpPr>
        <p:spPr>
          <a:xfrm>
            <a:off x="8935550" y="2388964"/>
            <a:ext cx="171450" cy="424019"/>
          </a:xfrm>
          <a:prstGeom prst="downArrow">
            <a:avLst/>
          </a:prstGeom>
          <a:solidFill>
            <a:srgbClr val="173F83"/>
          </a:solidFill>
          <a:ln w="0">
            <a:noFill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7D4ECE3-4D6F-0C3C-FCC0-D4ED25A7986B}"/>
              </a:ext>
            </a:extLst>
          </p:cNvPr>
          <p:cNvSpPr>
            <a:spLocks noGrp="1"/>
          </p:cNvSpPr>
          <p:nvPr/>
        </p:nvSpPr>
        <p:spPr>
          <a:xfrm>
            <a:off x="705950" y="2812983"/>
            <a:ext cx="5095875" cy="3162300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 w="14288">
            <a:solidFill>
              <a:srgbClr val="AFC4DF"/>
            </a:solidFill>
            <a:prstDash val="solid"/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713BCEF3-CC0B-23BB-8342-E0F5E3ECA450}"/>
              </a:ext>
            </a:extLst>
          </p:cNvPr>
          <p:cNvSpPr>
            <a:spLocks noGrp="1"/>
          </p:cNvSpPr>
          <p:nvPr/>
        </p:nvSpPr>
        <p:spPr>
          <a:xfrm>
            <a:off x="1115526" y="3741816"/>
            <a:ext cx="647700" cy="647700"/>
          </a:xfrm>
          <a:prstGeom prst="ellipse">
            <a:avLst/>
          </a:prstGeom>
          <a:solidFill>
            <a:srgbClr val="DCEAF9"/>
          </a:solidFill>
          <a:ln w="19050">
            <a:solidFill>
              <a:srgbClr val="5D8FC8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096E025-DEE6-FF45-2DD6-D9ACB86EA227}"/>
              </a:ext>
            </a:extLst>
          </p:cNvPr>
          <p:cNvSpPr>
            <a:spLocks noGrp="1"/>
          </p:cNvSpPr>
          <p:nvPr/>
        </p:nvSpPr>
        <p:spPr>
          <a:xfrm>
            <a:off x="677379" y="4453661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1830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 dirty="0">
                <a:solidFill>
                  <a:srgbClr val="18304D"/>
                </a:solidFill>
                <a:latin typeface="Microsoft YaHei"/>
                <a:ea typeface="Microsoft YaHei"/>
                <a:cs typeface="Microsoft YaHei"/>
              </a:rPr>
              <a:t>多样编辑意图</a:t>
            </a:r>
            <a:endParaRPr sz="1350" b="1" dirty="0">
              <a:solidFill>
                <a:srgbClr val="1830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E63848A-9F14-9AC3-D2D1-8ABD036CC2B0}"/>
              </a:ext>
            </a:extLst>
          </p:cNvPr>
          <p:cNvSpPr>
            <a:spLocks noGrp="1"/>
          </p:cNvSpPr>
          <p:nvPr/>
        </p:nvSpPr>
        <p:spPr>
          <a:xfrm>
            <a:off x="2887176" y="3741816"/>
            <a:ext cx="647700" cy="647700"/>
          </a:xfrm>
          <a:prstGeom prst="ellipse">
            <a:avLst/>
          </a:prstGeom>
          <a:solidFill>
            <a:srgbClr val="E7E2F8"/>
          </a:solidFill>
          <a:ln w="19050">
            <a:solidFill>
              <a:srgbClr val="7866B2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4D3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D3C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C2B4307-371D-F685-385C-9B6B08623D82}"/>
              </a:ext>
            </a:extLst>
          </p:cNvPr>
          <p:cNvSpPr>
            <a:spLocks noGrp="1"/>
          </p:cNvSpPr>
          <p:nvPr/>
        </p:nvSpPr>
        <p:spPr>
          <a:xfrm>
            <a:off x="2449027" y="4446666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1830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 dirty="0">
                <a:solidFill>
                  <a:srgbClr val="18304D"/>
                </a:solidFill>
                <a:latin typeface="Microsoft YaHei"/>
                <a:ea typeface="Microsoft YaHei"/>
                <a:cs typeface="Microsoft YaHei"/>
              </a:rPr>
              <a:t>多种生成模型</a:t>
            </a:r>
            <a:endParaRPr sz="1350" b="1" dirty="0">
              <a:solidFill>
                <a:srgbClr val="1830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C83F0E14-820A-A0E9-80E6-64C1A2C2CF5A}"/>
              </a:ext>
            </a:extLst>
          </p:cNvPr>
          <p:cNvSpPr>
            <a:spLocks noGrp="1"/>
          </p:cNvSpPr>
          <p:nvPr/>
        </p:nvSpPr>
        <p:spPr>
          <a:xfrm>
            <a:off x="4658826" y="3741816"/>
            <a:ext cx="647700" cy="647700"/>
          </a:xfrm>
          <a:prstGeom prst="ellipse">
            <a:avLst/>
          </a:prstGeom>
          <a:solidFill>
            <a:srgbClr val="DFF2EB"/>
          </a:solidFill>
          <a:ln w="19050">
            <a:solidFill>
              <a:srgbClr val="4F9B7C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28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6A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43BEC36-4EA1-DF5D-43C2-CBF3DBC66EE6}"/>
              </a:ext>
            </a:extLst>
          </p:cNvPr>
          <p:cNvSpPr>
            <a:spLocks noGrp="1"/>
          </p:cNvSpPr>
          <p:nvPr/>
        </p:nvSpPr>
        <p:spPr>
          <a:xfrm>
            <a:off x="4220676" y="4446666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1830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 dirty="0">
                <a:solidFill>
                  <a:srgbClr val="18304D"/>
                </a:solidFill>
                <a:latin typeface="Microsoft YaHei"/>
                <a:ea typeface="Microsoft YaHei"/>
                <a:cs typeface="Microsoft YaHei"/>
              </a:rPr>
              <a:t>多种编辑方式</a:t>
            </a:r>
            <a:endParaRPr sz="1350" b="1" dirty="0">
              <a:solidFill>
                <a:srgbClr val="1830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333977AF-DA2A-7B3F-F8B5-0994B51D5E87}"/>
              </a:ext>
            </a:extLst>
          </p:cNvPr>
          <p:cNvSpPr>
            <a:spLocks noGrp="1"/>
          </p:cNvSpPr>
          <p:nvPr/>
        </p:nvSpPr>
        <p:spPr>
          <a:xfrm>
            <a:off x="1115525" y="5156133"/>
            <a:ext cx="4276725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383">
            <a:solidFill>
              <a:srgbClr val="C8D7E9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3818CEF-2E80-B715-A616-F80681625E1D}"/>
              </a:ext>
            </a:extLst>
          </p:cNvPr>
          <p:cNvSpPr>
            <a:spLocks noGrp="1"/>
          </p:cNvSpPr>
          <p:nvPr/>
        </p:nvSpPr>
        <p:spPr>
          <a:xfrm>
            <a:off x="1115525" y="5270433"/>
            <a:ext cx="42767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rPr>
              <a:t>构建更贴近真实编辑场景的检测与定位基准</a:t>
            </a:r>
            <a:endParaRPr sz="1500" b="1" dirty="0">
              <a:solidFill>
                <a:srgbClr val="173F8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7F392A25-C5C0-5D37-F249-E2BCBA91EE27}"/>
              </a:ext>
            </a:extLst>
          </p:cNvPr>
          <p:cNvSpPr>
            <a:spLocks noGrp="1"/>
          </p:cNvSpPr>
          <p:nvPr/>
        </p:nvSpPr>
        <p:spPr>
          <a:xfrm>
            <a:off x="6468575" y="2812983"/>
            <a:ext cx="5095875" cy="3162300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 w="14288">
            <a:solidFill>
              <a:srgbClr val="AFC4DF"/>
            </a:solidFill>
            <a:prstDash val="solid"/>
          </a:ln>
        </p:spPr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A52B66C-CB21-0612-0A92-5055023F14D2}"/>
              </a:ext>
            </a:extLst>
          </p:cNvPr>
          <p:cNvSpPr>
            <a:spLocks noGrp="1"/>
          </p:cNvSpPr>
          <p:nvPr/>
        </p:nvSpPr>
        <p:spPr>
          <a:xfrm>
            <a:off x="6868625" y="3622608"/>
            <a:ext cx="1466850" cy="714375"/>
          </a:xfrm>
          <a:prstGeom prst="roundRect">
            <a:avLst>
              <a:gd name="adj" fmla="val 14667"/>
            </a:avLst>
          </a:prstGeom>
          <a:solidFill>
            <a:srgbClr val="DCEAF9"/>
          </a:solidFill>
          <a:ln w="17145">
            <a:solidFill>
              <a:srgbClr val="5D8FC8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7499959-8AA4-D346-9F58-E3F20826F255}"/>
              </a:ext>
            </a:extLst>
          </p:cNvPr>
          <p:cNvSpPr>
            <a:spLocks noGrp="1"/>
          </p:cNvSpPr>
          <p:nvPr/>
        </p:nvSpPr>
        <p:spPr>
          <a:xfrm>
            <a:off x="6868625" y="3717858"/>
            <a:ext cx="14668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rPr>
              <a:t>CLIP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B966F69-3EFF-5824-75D1-BE681F1547ED}"/>
              </a:ext>
            </a:extLst>
          </p:cNvPr>
          <p:cNvSpPr>
            <a:spLocks noGrp="1"/>
          </p:cNvSpPr>
          <p:nvPr/>
        </p:nvSpPr>
        <p:spPr>
          <a:xfrm>
            <a:off x="6868625" y="4041708"/>
            <a:ext cx="14668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365A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65A86"/>
                </a:solidFill>
                <a:latin typeface="Microsoft YaHei"/>
                <a:ea typeface="Microsoft YaHei"/>
                <a:cs typeface="Microsoft YaHei"/>
              </a:rPr>
              <a:t>图像级语义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D4DCD4DB-5035-9FE5-143E-6DE749DFD3C6}"/>
              </a:ext>
            </a:extLst>
          </p:cNvPr>
          <p:cNvSpPr>
            <a:spLocks noGrp="1"/>
          </p:cNvSpPr>
          <p:nvPr/>
        </p:nvSpPr>
        <p:spPr>
          <a:xfrm>
            <a:off x="9707075" y="3622608"/>
            <a:ext cx="1466850" cy="714375"/>
          </a:xfrm>
          <a:prstGeom prst="roundRect">
            <a:avLst>
              <a:gd name="adj" fmla="val 14667"/>
            </a:avLst>
          </a:prstGeom>
          <a:solidFill>
            <a:srgbClr val="DFF2EB"/>
          </a:solidFill>
          <a:ln w="17145">
            <a:solidFill>
              <a:srgbClr val="4F9B7C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951406-B382-2729-56A0-343C0D6F6D3A}"/>
              </a:ext>
            </a:extLst>
          </p:cNvPr>
          <p:cNvSpPr>
            <a:spLocks noGrp="1"/>
          </p:cNvSpPr>
          <p:nvPr/>
        </p:nvSpPr>
        <p:spPr>
          <a:xfrm>
            <a:off x="9707075" y="3717858"/>
            <a:ext cx="14668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28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6A53"/>
                </a:solidFill>
                <a:latin typeface="Microsoft YaHei"/>
                <a:ea typeface="Microsoft YaHei"/>
                <a:cs typeface="Microsoft YaHei"/>
              </a:rPr>
              <a:t>MAE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B4D160A-7547-2E4B-25D4-20EC1E93D084}"/>
              </a:ext>
            </a:extLst>
          </p:cNvPr>
          <p:cNvSpPr>
            <a:spLocks noGrp="1"/>
          </p:cNvSpPr>
          <p:nvPr/>
        </p:nvSpPr>
        <p:spPr>
          <a:xfrm>
            <a:off x="9707075" y="4041708"/>
            <a:ext cx="14668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397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7762"/>
                </a:solidFill>
                <a:latin typeface="Microsoft YaHei"/>
                <a:ea typeface="Microsoft YaHei"/>
                <a:cs typeface="Microsoft YaHei"/>
              </a:rPr>
              <a:t>空间细节</a:t>
            </a: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1B59F327-2CC4-1836-E5CF-1D6222FE755A}"/>
              </a:ext>
            </a:extLst>
          </p:cNvPr>
          <p:cNvSpPr>
            <a:spLocks noGrp="1"/>
          </p:cNvSpPr>
          <p:nvPr/>
        </p:nvSpPr>
        <p:spPr>
          <a:xfrm>
            <a:off x="8621225" y="3584508"/>
            <a:ext cx="800100" cy="8001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B6424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B642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4249"/>
                </a:solidFill>
                <a:latin typeface="Microsoft YaHei"/>
                <a:ea typeface="Microsoft YaHei"/>
                <a:cs typeface="Microsoft YaHei"/>
              </a:rPr>
              <a:t>SPM</a:t>
            </a:r>
          </a:p>
          <a:p>
            <a:pPr algn="ctr">
              <a:defRPr sz="1275" b="1">
                <a:solidFill>
                  <a:srgbClr val="B642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4249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93023818-B5B9-3812-0A56-51E3ECA4C820}"/>
              </a:ext>
            </a:extLst>
          </p:cNvPr>
          <p:cNvSpPr>
            <a:spLocks noGrp="1"/>
          </p:cNvSpPr>
          <p:nvPr/>
        </p:nvSpPr>
        <p:spPr>
          <a:xfrm>
            <a:off x="8392625" y="3870258"/>
            <a:ext cx="190500" cy="209550"/>
          </a:xfrm>
          <a:prstGeom prst="rightArrow">
            <a:avLst/>
          </a:prstGeom>
          <a:solidFill>
            <a:srgbClr val="173F83"/>
          </a:solidFill>
          <a:ln w="0">
            <a:noFill/>
          </a:ln>
        </p:spPr>
      </p:sp>
      <p:sp>
        <p:nvSpPr>
          <p:cNvPr id="83" name="箭头: 左 82">
            <a:extLst>
              <a:ext uri="{FF2B5EF4-FFF2-40B4-BE49-F238E27FC236}">
                <a16:creationId xmlns:a16="http://schemas.microsoft.com/office/drawing/2014/main" id="{EC764B7B-AEFB-1CAC-EC7A-344F18AF1E90}"/>
              </a:ext>
            </a:extLst>
          </p:cNvPr>
          <p:cNvSpPr>
            <a:spLocks noGrp="1"/>
          </p:cNvSpPr>
          <p:nvPr/>
        </p:nvSpPr>
        <p:spPr>
          <a:xfrm>
            <a:off x="9459425" y="3870258"/>
            <a:ext cx="190500" cy="209550"/>
          </a:xfrm>
          <a:prstGeom prst="leftArrow">
            <a:avLst/>
          </a:prstGeom>
          <a:solidFill>
            <a:srgbClr val="173F83"/>
          </a:solidFill>
          <a:ln w="0">
            <a:noFill/>
          </a:ln>
        </p:spPr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98870FCB-F694-E3E9-06A3-C82EEEA43F72}"/>
              </a:ext>
            </a:extLst>
          </p:cNvPr>
          <p:cNvSpPr>
            <a:spLocks noGrp="1"/>
          </p:cNvSpPr>
          <p:nvPr/>
        </p:nvSpPr>
        <p:spPr>
          <a:xfrm>
            <a:off x="7001975" y="4908483"/>
            <a:ext cx="2085975" cy="600075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383">
            <a:solidFill>
              <a:srgbClr val="C8D7E9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57F6F29-BB95-66AC-2CA7-F39A567B3BE0}"/>
              </a:ext>
            </a:extLst>
          </p:cNvPr>
          <p:cNvSpPr>
            <a:spLocks noGrp="1"/>
          </p:cNvSpPr>
          <p:nvPr/>
        </p:nvSpPr>
        <p:spPr>
          <a:xfrm>
            <a:off x="7001975" y="4975158"/>
            <a:ext cx="20859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2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38A"/>
                </a:solidFill>
                <a:latin typeface="Microsoft YaHei"/>
                <a:ea typeface="Microsoft YaHei"/>
                <a:cs typeface="Microsoft YaHei"/>
              </a:rPr>
              <a:t>图像级任务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4C2D4B3-886D-B0B5-70FE-8B125F8B6B23}"/>
              </a:ext>
            </a:extLst>
          </p:cNvPr>
          <p:cNvSpPr>
            <a:spLocks noGrp="1"/>
          </p:cNvSpPr>
          <p:nvPr/>
        </p:nvSpPr>
        <p:spPr>
          <a:xfrm>
            <a:off x="7001975" y="5213283"/>
            <a:ext cx="20859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rPr>
              <a:t>生成图像检测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A0ED8B7D-DF6F-5EE6-6157-AD2EFCCC2A26}"/>
              </a:ext>
            </a:extLst>
          </p:cNvPr>
          <p:cNvSpPr>
            <a:spLocks noGrp="1"/>
          </p:cNvSpPr>
          <p:nvPr/>
        </p:nvSpPr>
        <p:spPr>
          <a:xfrm>
            <a:off x="9211775" y="4908483"/>
            <a:ext cx="2085975" cy="600075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383">
            <a:solidFill>
              <a:srgbClr val="C8D7E9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35175D-E570-3CF4-9390-F21F2191270C}"/>
              </a:ext>
            </a:extLst>
          </p:cNvPr>
          <p:cNvSpPr>
            <a:spLocks noGrp="1"/>
          </p:cNvSpPr>
          <p:nvPr/>
        </p:nvSpPr>
        <p:spPr>
          <a:xfrm>
            <a:off x="9211775" y="4975158"/>
            <a:ext cx="20859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2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38A"/>
                </a:solidFill>
                <a:latin typeface="Microsoft YaHei"/>
                <a:ea typeface="Microsoft YaHei"/>
                <a:cs typeface="Microsoft YaHei"/>
              </a:rPr>
              <a:t>像素级任务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384E420-EDD1-27C6-A9EA-6104198965D7}"/>
              </a:ext>
            </a:extLst>
          </p:cNvPr>
          <p:cNvSpPr>
            <a:spLocks noGrp="1"/>
          </p:cNvSpPr>
          <p:nvPr/>
        </p:nvSpPr>
        <p:spPr>
          <a:xfrm>
            <a:off x="9211775" y="5213283"/>
            <a:ext cx="20859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rPr>
              <a:t>伪造区域定位</a:t>
            </a:r>
          </a:p>
        </p:txBody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9324B822-B31C-4A75-9826-062C78DE9F3B}"/>
              </a:ext>
            </a:extLst>
          </p:cNvPr>
          <p:cNvSpPr>
            <a:spLocks noGrp="1"/>
          </p:cNvSpPr>
          <p:nvPr/>
        </p:nvSpPr>
        <p:spPr>
          <a:xfrm>
            <a:off x="9021275" y="4384608"/>
            <a:ext cx="0" cy="266700"/>
          </a:xfrm>
          <a:prstGeom prst="line">
            <a:avLst/>
          </a:prstGeom>
          <a:noFill/>
          <a:ln w="20955">
            <a:solidFill>
              <a:srgbClr val="173F83"/>
            </a:solidFill>
            <a:prstDash val="solid"/>
          </a:ln>
        </p:spPr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9A73653D-84C5-AB1C-3FF1-148BBE6FFF31}"/>
              </a:ext>
            </a:extLst>
          </p:cNvPr>
          <p:cNvSpPr>
            <a:spLocks noGrp="1"/>
          </p:cNvSpPr>
          <p:nvPr/>
        </p:nvSpPr>
        <p:spPr>
          <a:xfrm>
            <a:off x="8040200" y="4651308"/>
            <a:ext cx="2209800" cy="0"/>
          </a:xfrm>
          <a:prstGeom prst="line">
            <a:avLst/>
          </a:prstGeom>
          <a:noFill/>
          <a:ln w="20955">
            <a:solidFill>
              <a:srgbClr val="173F83"/>
            </a:solidFill>
            <a:prstDash val="solid"/>
          </a:ln>
        </p:spPr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B413715A-8A9B-FE63-E8D6-9EED8D6FF2D5}"/>
              </a:ext>
            </a:extLst>
          </p:cNvPr>
          <p:cNvSpPr>
            <a:spLocks noGrp="1"/>
          </p:cNvSpPr>
          <p:nvPr/>
        </p:nvSpPr>
        <p:spPr>
          <a:xfrm>
            <a:off x="8040200" y="4651308"/>
            <a:ext cx="0" cy="123825"/>
          </a:xfrm>
          <a:prstGeom prst="line">
            <a:avLst/>
          </a:prstGeom>
          <a:noFill/>
          <a:ln w="20955">
            <a:solidFill>
              <a:srgbClr val="173F83"/>
            </a:solidFill>
            <a:prstDash val="solid"/>
          </a:ln>
        </p:spPr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4B3F44D4-30A5-9CC0-F416-57A75F7C8807}"/>
              </a:ext>
            </a:extLst>
          </p:cNvPr>
          <p:cNvSpPr>
            <a:spLocks noGrp="1"/>
          </p:cNvSpPr>
          <p:nvPr/>
        </p:nvSpPr>
        <p:spPr>
          <a:xfrm>
            <a:off x="10250000" y="4651308"/>
            <a:ext cx="0" cy="123825"/>
          </a:xfrm>
          <a:prstGeom prst="line">
            <a:avLst/>
          </a:prstGeom>
          <a:noFill/>
          <a:ln w="20955">
            <a:solidFill>
              <a:srgbClr val="173F83"/>
            </a:solidFill>
            <a:prstDash val="solid"/>
          </a:ln>
        </p:spPr>
      </p:sp>
      <p:sp>
        <p:nvSpPr>
          <p:cNvPr id="94" name="箭头: 下 93">
            <a:extLst>
              <a:ext uri="{FF2B5EF4-FFF2-40B4-BE49-F238E27FC236}">
                <a16:creationId xmlns:a16="http://schemas.microsoft.com/office/drawing/2014/main" id="{61B8B35C-1788-6B95-98C3-990BA1D03920}"/>
              </a:ext>
            </a:extLst>
          </p:cNvPr>
          <p:cNvSpPr>
            <a:spLocks noGrp="1"/>
          </p:cNvSpPr>
          <p:nvPr/>
        </p:nvSpPr>
        <p:spPr>
          <a:xfrm>
            <a:off x="7954475" y="4746558"/>
            <a:ext cx="171450" cy="133350"/>
          </a:xfrm>
          <a:prstGeom prst="downArrow">
            <a:avLst/>
          </a:prstGeom>
          <a:solidFill>
            <a:srgbClr val="173F83"/>
          </a:solidFill>
          <a:ln w="0">
            <a:noFill/>
          </a:ln>
        </p:spPr>
      </p:sp>
      <p:sp>
        <p:nvSpPr>
          <p:cNvPr id="95" name="箭头: 下 94">
            <a:extLst>
              <a:ext uri="{FF2B5EF4-FFF2-40B4-BE49-F238E27FC236}">
                <a16:creationId xmlns:a16="http://schemas.microsoft.com/office/drawing/2014/main" id="{00292F06-6B6F-E888-632D-1C34C7276178}"/>
              </a:ext>
            </a:extLst>
          </p:cNvPr>
          <p:cNvSpPr>
            <a:spLocks noGrp="1"/>
          </p:cNvSpPr>
          <p:nvPr/>
        </p:nvSpPr>
        <p:spPr>
          <a:xfrm>
            <a:off x="10164275" y="4746558"/>
            <a:ext cx="171450" cy="133350"/>
          </a:xfrm>
          <a:prstGeom prst="downArrow">
            <a:avLst/>
          </a:prstGeom>
          <a:solidFill>
            <a:srgbClr val="173F83"/>
          </a:solidFill>
          <a:ln w="0">
            <a:noFill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69EDC81-F742-7E9F-14B3-18CD4A4A40E0}"/>
              </a:ext>
            </a:extLst>
          </p:cNvPr>
          <p:cNvSpPr>
            <a:spLocks noGrp="1"/>
          </p:cNvSpPr>
          <p:nvPr/>
        </p:nvSpPr>
        <p:spPr>
          <a:xfrm>
            <a:off x="2170250" y="6223390"/>
            <a:ext cx="2224416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650" b="1">
                <a:solidFill>
                  <a:srgbClr val="B6424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构建</a:t>
            </a:r>
            <a:r>
              <a:rPr lang="en-US" altLang="zh-CN" sz="1650" dirty="0" err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OpenSDID</a:t>
            </a:r>
            <a:r>
              <a:rPr lang="zh-CN" altLang="en-US" sz="1650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endParaRPr sz="1650" dirty="0">
              <a:solidFill>
                <a:schemeClr val="accent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FCD8A3D-4B78-598C-1871-C2FA62141979}"/>
              </a:ext>
            </a:extLst>
          </p:cNvPr>
          <p:cNvSpPr>
            <a:spLocks noGrp="1"/>
          </p:cNvSpPr>
          <p:nvPr/>
        </p:nvSpPr>
        <p:spPr>
          <a:xfrm>
            <a:off x="7783656" y="6222228"/>
            <a:ext cx="246571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830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提出</a:t>
            </a:r>
            <a:r>
              <a:rPr lang="en-US" altLang="zh-CN" sz="16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SPM</a:t>
            </a:r>
            <a:r>
              <a:rPr lang="zh-CN" altLang="en-US" sz="16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协同框架及方法</a:t>
            </a:r>
            <a:endParaRPr sz="1650" b="1" dirty="0">
              <a:solidFill>
                <a:schemeClr val="accent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矩形: 圆顶角 101">
            <a:extLst>
              <a:ext uri="{FF2B5EF4-FFF2-40B4-BE49-F238E27FC236}">
                <a16:creationId xmlns:a16="http://schemas.microsoft.com/office/drawing/2014/main" id="{2ADF5B2C-80A1-33EA-BB78-D6F4744CD4F4}"/>
              </a:ext>
            </a:extLst>
          </p:cNvPr>
          <p:cNvSpPr/>
          <p:nvPr/>
        </p:nvSpPr>
        <p:spPr>
          <a:xfrm rot="10800000">
            <a:off x="705947" y="2810672"/>
            <a:ext cx="5095874" cy="578567"/>
          </a:xfrm>
          <a:prstGeom prst="round2SameRect">
            <a:avLst>
              <a:gd name="adj1" fmla="val 0"/>
              <a:gd name="adj2" fmla="val 2959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429C9A-B2DA-0391-8425-88AC222A19FD}"/>
              </a:ext>
            </a:extLst>
          </p:cNvPr>
          <p:cNvSpPr>
            <a:spLocks noGrp="1"/>
          </p:cNvSpPr>
          <p:nvPr/>
        </p:nvSpPr>
        <p:spPr>
          <a:xfrm>
            <a:off x="734521" y="2936808"/>
            <a:ext cx="5095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贡献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矩形: 圆顶角 102">
            <a:extLst>
              <a:ext uri="{FF2B5EF4-FFF2-40B4-BE49-F238E27FC236}">
                <a16:creationId xmlns:a16="http://schemas.microsoft.com/office/drawing/2014/main" id="{7CDFC081-801A-C999-F3EF-1E25ED5751D8}"/>
              </a:ext>
            </a:extLst>
          </p:cNvPr>
          <p:cNvSpPr/>
          <p:nvPr/>
        </p:nvSpPr>
        <p:spPr>
          <a:xfrm rot="10800000">
            <a:off x="6473338" y="2810672"/>
            <a:ext cx="5095874" cy="578567"/>
          </a:xfrm>
          <a:prstGeom prst="round2SameRect">
            <a:avLst>
              <a:gd name="adj1" fmla="val 0"/>
              <a:gd name="adj2" fmla="val 2959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5134DE5-ADE0-02C0-8723-CA9CE3C1D97A}"/>
              </a:ext>
            </a:extLst>
          </p:cNvPr>
          <p:cNvSpPr>
            <a:spLocks noGrp="1"/>
          </p:cNvSpPr>
          <p:nvPr/>
        </p:nvSpPr>
        <p:spPr>
          <a:xfrm>
            <a:off x="6468575" y="2935651"/>
            <a:ext cx="5095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贡献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687CD8-6D74-0248-EF9C-45FAA9301CDF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F26B32-65DF-78BD-F986-88E69878EB5A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2B9A45-71BA-4050-66DF-49ECC28F8782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41759A-B0FD-A09A-F40C-77F09512F594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D4A0C8-CF6D-0D03-46D2-74FB615CB355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8B359A-AA77-6D98-F6A6-E04B9EA8921E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8A4B5F-9EE3-7E5E-9343-2CBDD15C47A0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636175-FCDD-4A29-6C25-17D1E6B268C9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5661263-0D12-52DA-553F-203D4431968F}"/>
              </a:ext>
            </a:extLst>
          </p:cNvPr>
          <p:cNvGrpSpPr/>
          <p:nvPr/>
        </p:nvGrpSpPr>
        <p:grpSpPr>
          <a:xfrm>
            <a:off x="1681000" y="787091"/>
            <a:ext cx="1826148" cy="99594"/>
            <a:chOff x="1185700" y="827567"/>
            <a:chExt cx="1826148" cy="9959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D77D54-DC16-494E-D2DB-7160797332F6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58211DBE-6AFF-6227-4292-3C333CCE8BE9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4094F31-7B00-87ED-E3BA-899428242BBD}"/>
              </a:ext>
            </a:extLst>
          </p:cNvPr>
          <p:cNvSpPr>
            <a:spLocks noGrp="1"/>
          </p:cNvSpPr>
          <p:nvPr/>
        </p:nvSpPr>
        <p:spPr>
          <a:xfrm>
            <a:off x="7243486" y="1836513"/>
            <a:ext cx="3553546" cy="552450"/>
          </a:xfrm>
          <a:prstGeom prst="roundRect">
            <a:avLst>
              <a:gd name="adj" fmla="val 22414"/>
            </a:avLst>
          </a:prstGeom>
          <a:solidFill>
            <a:srgbClr val="EAF2FC"/>
          </a:solidFill>
          <a:ln w="14288">
            <a:solidFill>
              <a:srgbClr val="B9CC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D603D6-0AE4-BEFD-B6E0-BE6F93950DF6}"/>
              </a:ext>
            </a:extLst>
          </p:cNvPr>
          <p:cNvSpPr>
            <a:spLocks noGrp="1"/>
          </p:cNvSpPr>
          <p:nvPr/>
        </p:nvSpPr>
        <p:spPr>
          <a:xfrm>
            <a:off x="7295187" y="1997444"/>
            <a:ext cx="3381598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173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latin typeface="Microsoft YaHei"/>
                <a:ea typeface="Microsoft YaHei"/>
                <a:cs typeface="Microsoft YaHei"/>
              </a:rPr>
              <a:t>现有不足：</a:t>
            </a:r>
            <a:r>
              <a:rPr lang="zh-CN" altLang="zh-CN" sz="1650" b="1" dirty="0">
                <a:solidFill>
                  <a:srgbClr val="173F83"/>
                </a:solidFill>
                <a:latin typeface="Microsoft YaHei"/>
              </a:rPr>
              <a:t>检测与定位协同不足</a:t>
            </a:r>
            <a:endParaRPr sz="1650" b="1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7174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/>
      <p:bldP spid="38" grpId="0" animBg="1"/>
      <p:bldP spid="45" grpId="0"/>
      <p:bldP spid="48" grpId="0" animBg="1"/>
      <p:bldP spid="49" grpId="0"/>
      <p:bldP spid="54" grpId="0"/>
      <p:bldP spid="60" grpId="0"/>
      <p:bldP spid="61" grpId="0"/>
      <p:bldP spid="63" grpId="0"/>
      <p:bldP spid="80" grpId="0"/>
      <p:bldP spid="81" grpId="0" animBg="1"/>
      <p:bldP spid="85" grpId="0"/>
      <p:bldP spid="86" grpId="0"/>
      <p:bldP spid="88" grpId="0"/>
      <p:bldP spid="89" grpId="0"/>
      <p:bldP spid="97" grpId="0"/>
      <p:bldP spid="100" grpId="0"/>
      <p:bldP spid="102" grpId="0" animBg="1"/>
      <p:bldP spid="31" grpId="0"/>
      <p:bldP spid="103" grpId="0" animBg="1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4D4D1-5FF4-30EB-DC6D-A325B41C3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0A1B6EFB-F303-75DF-B862-280F23E155C2}"/>
              </a:ext>
            </a:extLst>
          </p:cNvPr>
          <p:cNvSpPr/>
          <p:nvPr/>
        </p:nvSpPr>
        <p:spPr>
          <a:xfrm>
            <a:off x="3279343" y="4479682"/>
            <a:ext cx="3057934" cy="6611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FF9270A-36F9-E00C-FB67-58DC8597F217}"/>
              </a:ext>
            </a:extLst>
          </p:cNvPr>
          <p:cNvSpPr txBox="1"/>
          <p:nvPr/>
        </p:nvSpPr>
        <p:spPr>
          <a:xfrm>
            <a:off x="3281852" y="4481599"/>
            <a:ext cx="29998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Bahnschrift Light Condensed" panose="020B0502040204020203" pitchFamily="34" charset="0"/>
              </a:rPr>
              <a:t>Edition</a:t>
            </a:r>
            <a:r>
              <a:rPr lang="zh-CN" altLang="en-US" sz="2000" dirty="0">
                <a:latin typeface="Bahnschrift Light Condensed" panose="020B0502040204020203" pitchFamily="34" charset="0"/>
              </a:rPr>
              <a:t>：</a:t>
            </a:r>
            <a:endParaRPr lang="en-US" altLang="zh-CN" sz="2000" dirty="0">
              <a:latin typeface="Bahnschrift Light Condensed" panose="020B0502040204020203" pitchFamily="34" charset="0"/>
            </a:endParaRPr>
          </a:p>
          <a:p>
            <a:r>
              <a:rPr lang="en-US" altLang="zh-CN" sz="2000" b="1" dirty="0"/>
              <a:t>a modern glass pavilion</a:t>
            </a:r>
          </a:p>
          <a:p>
            <a:endParaRPr lang="en-US" altLang="zh-CN" sz="2000" dirty="0"/>
          </a:p>
          <a:p>
            <a:r>
              <a:rPr lang="en-US" altLang="zh-CN" sz="2000" dirty="0">
                <a:latin typeface="Bahnschrift Light Condensed" panose="020B0502040204020203" pitchFamily="34" charset="0"/>
              </a:rPr>
              <a:t>Selected region</a:t>
            </a:r>
            <a:r>
              <a:rPr lang="zh-CN" altLang="en-US" sz="2000" dirty="0">
                <a:latin typeface="Bahnschrift Light Condensed" panose="020B0502040204020203" pitchFamily="34" charset="0"/>
              </a:rPr>
              <a:t>：</a:t>
            </a:r>
            <a:endParaRPr lang="en-US" altLang="zh-CN" sz="2000" dirty="0">
              <a:latin typeface="Bahnschrift Light Condensed" panose="020B0502040204020203" pitchFamily="34" charset="0"/>
            </a:endParaRPr>
          </a:p>
          <a:p>
            <a:r>
              <a:rPr lang="en-US" altLang="zh-CN" sz="2000" b="1" dirty="0"/>
              <a:t>the brick structure</a:t>
            </a:r>
            <a:endParaRPr lang="zh-CN" altLang="en-US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9A4137-F50A-EDD6-1D91-736F85F70FE9}"/>
              </a:ext>
            </a:extLst>
          </p:cNvPr>
          <p:cNvSpPr txBox="1"/>
          <p:nvPr/>
        </p:nvSpPr>
        <p:spPr>
          <a:xfrm>
            <a:off x="177212" y="1233325"/>
            <a:ext cx="3102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OpenSDID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图片预览">
            <a:extLst>
              <a:ext uri="{FF2B5EF4-FFF2-40B4-BE49-F238E27FC236}">
                <a16:creationId xmlns:a16="http://schemas.microsoft.com/office/drawing/2014/main" id="{0018871E-2599-7EDC-068A-3DF802368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20" y="2490497"/>
            <a:ext cx="1134907" cy="117733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F1D09CA-D6C6-A7CE-3F94-3F9245435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023" y="2334786"/>
            <a:ext cx="3594100" cy="14752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FE42938-9A22-8673-62EB-6F5760BDC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609" y="4428683"/>
            <a:ext cx="2798181" cy="181209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3175AC0-7F33-18B4-CFDD-8AA612FD42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44"/>
          <a:stretch>
            <a:fillRect/>
          </a:stretch>
        </p:blipFill>
        <p:spPr>
          <a:xfrm>
            <a:off x="10042122" y="4590349"/>
            <a:ext cx="1577558" cy="1488757"/>
          </a:xfrm>
          <a:prstGeom prst="rect">
            <a:avLst/>
          </a:prstGeom>
        </p:spPr>
      </p:pic>
      <p:pic>
        <p:nvPicPr>
          <p:cNvPr id="15" name="图片 14" descr="图片预览">
            <a:extLst>
              <a:ext uri="{FF2B5EF4-FFF2-40B4-BE49-F238E27FC236}">
                <a16:creationId xmlns:a16="http://schemas.microsoft.com/office/drawing/2014/main" id="{79114382-4A36-C05D-C7D3-3ACAAE9070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355" y="4014635"/>
            <a:ext cx="2307953" cy="2565144"/>
          </a:xfrm>
          <a:prstGeom prst="rect">
            <a:avLst/>
          </a:prstGeom>
        </p:spPr>
      </p:pic>
      <p:pic>
        <p:nvPicPr>
          <p:cNvPr id="16" name="图片 15" descr="图片预览">
            <a:extLst>
              <a:ext uri="{FF2B5EF4-FFF2-40B4-BE49-F238E27FC236}">
                <a16:creationId xmlns:a16="http://schemas.microsoft.com/office/drawing/2014/main" id="{D5B26E26-6A27-9F6C-1059-C9E5ED0F93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1588" y="3438340"/>
            <a:ext cx="930627" cy="8084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15B23C6-F997-45C0-D4FE-CFD591733F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638" y="2575407"/>
            <a:ext cx="543034" cy="89212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7460FFE-F3AE-8C77-968A-8259C428B0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206" y="3651843"/>
            <a:ext cx="983346" cy="9622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02A7CA5-EE52-7308-B88B-2C69E13EAA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951" y="2594398"/>
            <a:ext cx="519915" cy="85414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FC43150-62A3-01B8-6F2B-75FBBD3584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308" y="4794769"/>
            <a:ext cx="403625" cy="97000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AA44AC5-9676-1C01-555B-2F288A603F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213" y="5410146"/>
            <a:ext cx="846465" cy="66110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EB81457-5839-CEAA-D716-1A6B7ABA87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361" y="4898296"/>
            <a:ext cx="397761" cy="87286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9D543D7C-1096-1BB1-A78A-D862434740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62" y="3842581"/>
            <a:ext cx="681727" cy="87286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CE295956-F657-7CA5-9FFE-6E9C19BAF8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175" y="2636672"/>
            <a:ext cx="543034" cy="892127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10135A9F-4CFE-0656-64FC-6FEF5F13FEB4}"/>
              </a:ext>
            </a:extLst>
          </p:cNvPr>
          <p:cNvGrpSpPr/>
          <p:nvPr/>
        </p:nvGrpSpPr>
        <p:grpSpPr>
          <a:xfrm>
            <a:off x="2784848" y="2197003"/>
            <a:ext cx="1652432" cy="1987018"/>
            <a:chOff x="2784848" y="1818725"/>
            <a:chExt cx="1652432" cy="1987018"/>
          </a:xfrm>
        </p:grpSpPr>
        <p:pic>
          <p:nvPicPr>
            <p:cNvPr id="4" name="图片 3" descr="图片预览">
              <a:extLst>
                <a:ext uri="{FF2B5EF4-FFF2-40B4-BE49-F238E27FC236}">
                  <a16:creationId xmlns:a16="http://schemas.microsoft.com/office/drawing/2014/main" id="{5E49C07B-42B9-6042-0630-09360556F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b="14619"/>
            <a:stretch>
              <a:fillRect/>
            </a:stretch>
          </p:blipFill>
          <p:spPr>
            <a:xfrm>
              <a:off x="2784848" y="1818725"/>
              <a:ext cx="1652432" cy="1679849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689F416-6DF3-74DE-0316-F92FBD39EEF7}"/>
                </a:ext>
              </a:extLst>
            </p:cNvPr>
            <p:cNvSpPr txBox="1"/>
            <p:nvPr/>
          </p:nvSpPr>
          <p:spPr>
            <a:xfrm>
              <a:off x="3218295" y="3436411"/>
              <a:ext cx="7993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Image</a:t>
              </a:r>
              <a:endParaRPr lang="zh-CN" altLang="en-US" sz="1400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568FF27-F593-209A-B89B-FA7CBFD5277E}"/>
              </a:ext>
            </a:extLst>
          </p:cNvPr>
          <p:cNvGrpSpPr/>
          <p:nvPr/>
        </p:nvGrpSpPr>
        <p:grpSpPr>
          <a:xfrm>
            <a:off x="9750692" y="2197003"/>
            <a:ext cx="1768788" cy="2282679"/>
            <a:chOff x="9750692" y="1818725"/>
            <a:chExt cx="1768788" cy="228267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0B7396E-CC28-072F-8569-700929A0D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33"/>
            <a:stretch>
              <a:fillRect/>
            </a:stretch>
          </p:blipFill>
          <p:spPr>
            <a:xfrm>
              <a:off x="9750692" y="1818725"/>
              <a:ext cx="1768788" cy="1675336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B0FA092-DE0C-4FE4-6339-5A4E8B69F66A}"/>
                </a:ext>
              </a:extLst>
            </p:cNvPr>
            <p:cNvSpPr txBox="1"/>
            <p:nvPr/>
          </p:nvSpPr>
          <p:spPr>
            <a:xfrm>
              <a:off x="9986552" y="3455073"/>
              <a:ext cx="13297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Generated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Image</a:t>
              </a:r>
              <a:endParaRPr lang="zh-CN" altLang="en-US" sz="14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C77BDB74-3C44-B0BA-7E43-F1D11427BE9A}"/>
              </a:ext>
            </a:extLst>
          </p:cNvPr>
          <p:cNvSpPr txBox="1"/>
          <p:nvPr/>
        </p:nvSpPr>
        <p:spPr>
          <a:xfrm>
            <a:off x="10205006" y="6056111"/>
            <a:ext cx="1329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Mask</a:t>
            </a:r>
            <a:endParaRPr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4397B95-630C-5B70-F734-11811821FFCC}"/>
              </a:ext>
            </a:extLst>
          </p:cNvPr>
          <p:cNvSpPr/>
          <p:nvPr/>
        </p:nvSpPr>
        <p:spPr>
          <a:xfrm>
            <a:off x="3276782" y="5397040"/>
            <a:ext cx="2302104" cy="6611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F6FDDC-2466-6467-A2E6-A686155E3C36}"/>
              </a:ext>
            </a:extLst>
          </p:cNvPr>
          <p:cNvSpPr txBox="1"/>
          <p:nvPr/>
        </p:nvSpPr>
        <p:spPr>
          <a:xfrm>
            <a:off x="659861" y="1754189"/>
            <a:ext cx="1421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区域修改图像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7D8A57-D2F5-312B-A3AB-D0B0928284AA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FDB932-BC69-FDB0-AD2F-74880CB9F076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ADF374-9919-BA0A-A2D9-ADE864F4CC0C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0A6307-0641-D302-BFC1-0CD8C03B6FC8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DF0E1B-B2C7-E6AE-3416-5D9A1930FD76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099FCE-E33E-E514-E7AF-6C81827C46CA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6C7BA7-DBB9-41F0-02F9-7CBD8376157D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46E42D-258C-1F27-2ABF-D7D2125AACA9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52CE5D6-8184-CCCA-8E62-34AA1A7752B8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AC7B876-C93D-1910-41F9-6C5741291C0D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913D611F-E409-4095-9710-2E9311BECAD0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3928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5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75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36" grpId="0"/>
      <p:bldP spid="41" grpId="0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FC03-3615-6084-9800-90D08B2F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8A5B4D-A25B-B2AA-6739-A2B84200C131}"/>
              </a:ext>
            </a:extLst>
          </p:cNvPr>
          <p:cNvSpPr txBox="1"/>
          <p:nvPr/>
        </p:nvSpPr>
        <p:spPr>
          <a:xfrm>
            <a:off x="177212" y="1233325"/>
            <a:ext cx="3102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OpenSDID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图片预览">
            <a:extLst>
              <a:ext uri="{FF2B5EF4-FFF2-40B4-BE49-F238E27FC236}">
                <a16:creationId xmlns:a16="http://schemas.microsoft.com/office/drawing/2014/main" id="{64967030-A47B-1D1A-5BB3-21D682B4F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688" y="2116363"/>
            <a:ext cx="1134907" cy="117733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72FA8BB-A1DA-CFB6-613B-DDBF9DC6C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119" y="2220264"/>
            <a:ext cx="519915" cy="854146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C5C992BE-DCDB-0F39-5AEB-DF0180FE03D1}"/>
              </a:ext>
            </a:extLst>
          </p:cNvPr>
          <p:cNvGrpSpPr/>
          <p:nvPr/>
        </p:nvGrpSpPr>
        <p:grpSpPr>
          <a:xfrm>
            <a:off x="5176016" y="1822869"/>
            <a:ext cx="1652432" cy="1987018"/>
            <a:chOff x="2784848" y="1818725"/>
            <a:chExt cx="1652432" cy="1987018"/>
          </a:xfrm>
        </p:grpSpPr>
        <p:pic>
          <p:nvPicPr>
            <p:cNvPr id="4" name="图片 3" descr="图片预览">
              <a:extLst>
                <a:ext uri="{FF2B5EF4-FFF2-40B4-BE49-F238E27FC236}">
                  <a16:creationId xmlns:a16="http://schemas.microsoft.com/office/drawing/2014/main" id="{3FC6AFCF-8FD6-F133-C741-40093044F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4619"/>
            <a:stretch>
              <a:fillRect/>
            </a:stretch>
          </p:blipFill>
          <p:spPr>
            <a:xfrm>
              <a:off x="2784848" y="1818725"/>
              <a:ext cx="1652432" cy="1679849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7712509-3E91-C2FB-BF5B-D46F06C18769}"/>
                </a:ext>
              </a:extLst>
            </p:cNvPr>
            <p:cNvSpPr txBox="1"/>
            <p:nvPr/>
          </p:nvSpPr>
          <p:spPr>
            <a:xfrm>
              <a:off x="3218295" y="3436411"/>
              <a:ext cx="7993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Image</a:t>
              </a:r>
              <a:endParaRPr lang="zh-CN" altLang="en-US" sz="1400" dirty="0"/>
            </a:p>
          </p:txBody>
        </p:sp>
      </p:grpSp>
      <p:sp>
        <p:nvSpPr>
          <p:cNvPr id="5" name="箭头: 左 4">
            <a:extLst>
              <a:ext uri="{FF2B5EF4-FFF2-40B4-BE49-F238E27FC236}">
                <a16:creationId xmlns:a16="http://schemas.microsoft.com/office/drawing/2014/main" id="{6E6BE8DC-9EBC-205E-0619-941C20E910F9}"/>
              </a:ext>
            </a:extLst>
          </p:cNvPr>
          <p:cNvSpPr/>
          <p:nvPr/>
        </p:nvSpPr>
        <p:spPr>
          <a:xfrm>
            <a:off x="2178343" y="2286389"/>
            <a:ext cx="477722" cy="788021"/>
          </a:xfrm>
          <a:prstGeom prst="lef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E00147-F6C9-2B39-8F34-2A0C8212044A}"/>
              </a:ext>
            </a:extLst>
          </p:cNvPr>
          <p:cNvSpPr txBox="1"/>
          <p:nvPr/>
        </p:nvSpPr>
        <p:spPr>
          <a:xfrm>
            <a:off x="1476060" y="2520362"/>
            <a:ext cx="642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Real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1E676ED-C0E7-288A-159C-CC50A3123DDF}"/>
              </a:ext>
            </a:extLst>
          </p:cNvPr>
          <p:cNvGrpSpPr/>
          <p:nvPr/>
        </p:nvGrpSpPr>
        <p:grpSpPr>
          <a:xfrm>
            <a:off x="6948430" y="2268782"/>
            <a:ext cx="1348575" cy="788021"/>
            <a:chOff x="8620293" y="3581419"/>
            <a:chExt cx="1348575" cy="788021"/>
          </a:xfrm>
        </p:grpSpPr>
        <p:sp>
          <p:nvSpPr>
            <p:cNvPr id="8" name="箭头: 左 7">
              <a:extLst>
                <a:ext uri="{FF2B5EF4-FFF2-40B4-BE49-F238E27FC236}">
                  <a16:creationId xmlns:a16="http://schemas.microsoft.com/office/drawing/2014/main" id="{E49450B6-EE3E-3040-F386-B0F027CC50EA}"/>
                </a:ext>
              </a:extLst>
            </p:cNvPr>
            <p:cNvSpPr/>
            <p:nvPr/>
          </p:nvSpPr>
          <p:spPr>
            <a:xfrm rot="10800000">
              <a:off x="8620293" y="3581419"/>
              <a:ext cx="477722" cy="788021"/>
            </a:xfrm>
            <a:prstGeom prst="leftArrow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FD15409-56D5-859F-08C0-96573B996D7F}"/>
                </a:ext>
              </a:extLst>
            </p:cNvPr>
            <p:cNvSpPr txBox="1"/>
            <p:nvPr/>
          </p:nvSpPr>
          <p:spPr>
            <a:xfrm>
              <a:off x="9326576" y="3711304"/>
              <a:ext cx="6422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……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9F9770F-4C15-4CC6-04B9-C69701EA8367}"/>
              </a:ext>
            </a:extLst>
          </p:cNvPr>
          <p:cNvSpPr txBox="1"/>
          <p:nvPr/>
        </p:nvSpPr>
        <p:spPr>
          <a:xfrm>
            <a:off x="9038009" y="2477305"/>
            <a:ext cx="642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Fake</a:t>
            </a:r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E83838F6-9FEB-4D5C-67AD-B8F1963467A9}"/>
              </a:ext>
            </a:extLst>
          </p:cNvPr>
          <p:cNvSpPr/>
          <p:nvPr/>
        </p:nvSpPr>
        <p:spPr>
          <a:xfrm rot="10800000">
            <a:off x="8428646" y="2267961"/>
            <a:ext cx="477722" cy="788021"/>
          </a:xfrm>
          <a:prstGeom prst="lef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5712F7-A891-47F8-8F33-DA08E2E2EFF5}"/>
              </a:ext>
            </a:extLst>
          </p:cNvPr>
          <p:cNvSpPr txBox="1"/>
          <p:nvPr/>
        </p:nvSpPr>
        <p:spPr>
          <a:xfrm>
            <a:off x="3086926" y="4955731"/>
            <a:ext cx="2999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Bahnschrift Light Condensed" panose="020B0502040204020203" pitchFamily="34" charset="0"/>
              </a:rPr>
              <a:t>Promt</a:t>
            </a:r>
            <a:r>
              <a:rPr lang="zh-CN" altLang="en-US" sz="2000" dirty="0">
                <a:latin typeface="Bahnschrift Light Condensed" panose="020B0502040204020203" pitchFamily="34" charset="0"/>
              </a:rPr>
              <a:t>：</a:t>
            </a:r>
            <a:endParaRPr lang="en-US" altLang="zh-CN" sz="2000" dirty="0">
              <a:latin typeface="Bahnschrift Light Condensed" panose="020B0502040204020203" pitchFamily="34" charset="0"/>
            </a:endParaRPr>
          </a:p>
          <a:p>
            <a:r>
              <a:rPr lang="en-US" altLang="zh-CN" sz="2000" b="1" dirty="0"/>
              <a:t>a dog on the grass</a:t>
            </a: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B4674C-6305-9714-9186-445E6A084E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28" y="4704361"/>
            <a:ext cx="2689621" cy="1104017"/>
          </a:xfrm>
          <a:prstGeom prst="rect">
            <a:avLst/>
          </a:prstGeom>
        </p:spPr>
      </p:pic>
      <p:pic>
        <p:nvPicPr>
          <p:cNvPr id="12" name="图片 11" descr="图片预览">
            <a:extLst>
              <a:ext uri="{FF2B5EF4-FFF2-40B4-BE49-F238E27FC236}">
                <a16:creationId xmlns:a16="http://schemas.microsoft.com/office/drawing/2014/main" id="{1C1F4E54-9CCC-4AF0-B715-EDBF6ABD64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500" y="4276324"/>
            <a:ext cx="1843964" cy="20494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003B310-D669-5DF0-F2A2-E13BC8E64E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40" y="4854986"/>
            <a:ext cx="543034" cy="89212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CE47B64-A814-889D-D769-80BBD992A3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655" y="4843614"/>
            <a:ext cx="403625" cy="9700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9423C2D-80D9-4B49-23E0-B55A8FC9F7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826" y="4854986"/>
            <a:ext cx="543034" cy="89212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75C44FD-8070-25EE-D3F0-5574DEB1436C}"/>
              </a:ext>
            </a:extLst>
          </p:cNvPr>
          <p:cNvSpPr txBox="1"/>
          <p:nvPr/>
        </p:nvSpPr>
        <p:spPr>
          <a:xfrm>
            <a:off x="10085914" y="6051665"/>
            <a:ext cx="1329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Generated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</a:t>
            </a:r>
            <a:endParaRPr lang="zh-CN" altLang="en-US" sz="14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14B4811-3ADF-3973-BAE8-6BFDC7CFBE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8423" y="4586255"/>
            <a:ext cx="1484718" cy="148471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D50B07E-6612-98D7-5AD5-3F8926951014}"/>
              </a:ext>
            </a:extLst>
          </p:cNvPr>
          <p:cNvSpPr txBox="1"/>
          <p:nvPr/>
        </p:nvSpPr>
        <p:spPr>
          <a:xfrm>
            <a:off x="659861" y="1754189"/>
            <a:ext cx="1421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真实图像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D9C977-83C9-DABE-78D6-4A27BAB22C42}"/>
              </a:ext>
            </a:extLst>
          </p:cNvPr>
          <p:cNvSpPr txBox="1"/>
          <p:nvPr/>
        </p:nvSpPr>
        <p:spPr>
          <a:xfrm>
            <a:off x="659860" y="3814888"/>
            <a:ext cx="1421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整张生成图像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4571D0-EA49-6F97-9CF9-122F7CCDD8E7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BD424B-375E-A782-4167-F58521F102DD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9228C6C-43AD-5EFF-54D4-1CD811E38138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3C9980F-0E21-0A9D-3568-742C1EDBE893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D35067-6F68-072D-E60D-08858490AD0A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B716E5-C5D8-20DC-5159-6951350A2424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D138BF-6309-DAAF-39A6-6A18409E2827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743B041-54E6-E091-9EF8-3824CFDF4F6A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0FC1778-2005-5CEE-D23B-70E35B65D58C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6B7E2930-F98E-0448-51B7-91EC77076B8F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CC8F1825-A2EA-66FB-7575-2EA8A73B49E7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97155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3" grpId="0"/>
      <p:bldP spid="17" grpId="0" animBg="1"/>
      <p:bldP spid="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FAAD-1C43-35C5-FD90-D737EEB5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矩形: 圆角 263">
            <a:extLst>
              <a:ext uri="{FF2B5EF4-FFF2-40B4-BE49-F238E27FC236}">
                <a16:creationId xmlns:a16="http://schemas.microsoft.com/office/drawing/2014/main" id="{5203066B-3342-756F-C520-94DC9BF0591E}"/>
              </a:ext>
            </a:extLst>
          </p:cNvPr>
          <p:cNvSpPr>
            <a:spLocks noGrp="1"/>
          </p:cNvSpPr>
          <p:nvPr/>
        </p:nvSpPr>
        <p:spPr>
          <a:xfrm>
            <a:off x="6524625" y="1809750"/>
            <a:ext cx="5238750" cy="3524250"/>
          </a:xfrm>
          <a:prstGeom prst="roundRect">
            <a:avLst>
              <a:gd name="adj" fmla="val 4324"/>
            </a:avLst>
          </a:prstGeom>
          <a:solidFill>
            <a:srgbClr val="E8F5EF"/>
          </a:solidFill>
          <a:ln w="11430">
            <a:solidFill>
              <a:srgbClr val="BDD0E6"/>
            </a:solidFill>
            <a:prstDash val="solid"/>
          </a:ln>
        </p:spPr>
      </p:sp>
      <p:sp>
        <p:nvSpPr>
          <p:cNvPr id="321" name="矩形: 圆顶角 320">
            <a:extLst>
              <a:ext uri="{FF2B5EF4-FFF2-40B4-BE49-F238E27FC236}">
                <a16:creationId xmlns:a16="http://schemas.microsoft.com/office/drawing/2014/main" id="{D5A9E0FD-D6EF-1449-3519-EF957077BE0D}"/>
              </a:ext>
            </a:extLst>
          </p:cNvPr>
          <p:cNvSpPr/>
          <p:nvPr/>
        </p:nvSpPr>
        <p:spPr>
          <a:xfrm rot="10800000">
            <a:off x="6524625" y="1810212"/>
            <a:ext cx="5238750" cy="494838"/>
          </a:xfrm>
          <a:prstGeom prst="round2SameRect">
            <a:avLst>
              <a:gd name="adj1" fmla="val 0"/>
              <a:gd name="adj2" fmla="val 29599"/>
            </a:avLst>
          </a:prstGeom>
          <a:solidFill>
            <a:srgbClr val="267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CE4322-F028-2181-935D-AFC74E16D991}"/>
              </a:ext>
            </a:extLst>
          </p:cNvPr>
          <p:cNvSpPr txBox="1"/>
          <p:nvPr/>
        </p:nvSpPr>
        <p:spPr>
          <a:xfrm>
            <a:off x="177212" y="1233325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预备知识：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CLIP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MAE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E744CBD6-9E6A-B3FD-1CD1-6451317CEFF3}"/>
              </a:ext>
            </a:extLst>
          </p:cNvPr>
          <p:cNvSpPr>
            <a:spLocks noGrp="1"/>
          </p:cNvSpPr>
          <p:nvPr/>
        </p:nvSpPr>
        <p:spPr>
          <a:xfrm>
            <a:off x="8734425" y="1504950"/>
            <a:ext cx="3028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050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从“是否伪造”到“伪造在哪里</a:t>
            </a:r>
            <a:r>
              <a:rPr sz="1050" b="0" dirty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3B3806F8-26A2-E8E6-035B-7528E536592B}"/>
              </a:ext>
            </a:extLst>
          </p:cNvPr>
          <p:cNvSpPr>
            <a:spLocks noGrp="1"/>
          </p:cNvSpPr>
          <p:nvPr/>
        </p:nvSpPr>
        <p:spPr>
          <a:xfrm>
            <a:off x="428625" y="1809750"/>
            <a:ext cx="5238750" cy="3524250"/>
          </a:xfrm>
          <a:prstGeom prst="roundRect">
            <a:avLst>
              <a:gd name="adj" fmla="val 4324"/>
            </a:avLst>
          </a:prstGeom>
          <a:solidFill>
            <a:srgbClr val="E9F2FC"/>
          </a:solidFill>
          <a:ln w="11430">
            <a:solidFill>
              <a:srgbClr val="BDD0E6"/>
            </a:solidFill>
            <a:prstDash val="solid"/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BF9881E-577B-C00A-AC62-55CCA7620091}"/>
              </a:ext>
            </a:extLst>
          </p:cNvPr>
          <p:cNvSpPr>
            <a:spLocks noGrp="1"/>
          </p:cNvSpPr>
          <p:nvPr/>
        </p:nvSpPr>
        <p:spPr>
          <a:xfrm>
            <a:off x="857247" y="3328987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图像</a:t>
            </a:r>
            <a:endParaRPr sz="1050" b="1" dirty="0">
              <a:solidFill>
                <a:srgbClr val="6575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3166098D-99DA-106D-5374-8869BE5305C8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000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E82BC"/>
            </a:solidFill>
            <a:prstDash val="solid"/>
          </a:ln>
        </p:spPr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F7EC31D2-40A8-1519-2325-DE10F428A3EA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847725" cy="533400"/>
          </a:xfrm>
          <a:prstGeom prst="roundRect">
            <a:avLst>
              <a:gd name="adj" fmla="val 8929"/>
            </a:avLst>
          </a:prstGeom>
          <a:solidFill>
            <a:srgbClr val="BFD9F4"/>
          </a:solidFill>
          <a:ln w="0">
            <a:noFill/>
            <a:prstDash val="solid"/>
          </a:ln>
        </p:spPr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370F7A2B-5269-A58B-32A7-2DBA33FF9662}"/>
              </a:ext>
            </a:extLst>
          </p:cNvPr>
          <p:cNvSpPr>
            <a:spLocks noGrp="1"/>
          </p:cNvSpPr>
          <p:nvPr/>
        </p:nvSpPr>
        <p:spPr>
          <a:xfrm>
            <a:off x="1371600" y="2771775"/>
            <a:ext cx="114300" cy="114300"/>
          </a:xfrm>
          <a:prstGeom prst="ellipse">
            <a:avLst/>
          </a:prstGeom>
          <a:solidFill>
            <a:srgbClr val="F3C64E"/>
          </a:solidFill>
          <a:ln w="0">
            <a:noFill/>
            <a:prstDash val="solid"/>
          </a:ln>
        </p:spPr>
      </p:sp>
      <p:sp>
        <p:nvSpPr>
          <p:cNvPr id="161" name="等腰三角形 160">
            <a:extLst>
              <a:ext uri="{FF2B5EF4-FFF2-40B4-BE49-F238E27FC236}">
                <a16:creationId xmlns:a16="http://schemas.microsoft.com/office/drawing/2014/main" id="{49634285-25E0-9A58-B46B-47A3BFE9547F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457200" cy="295275"/>
          </a:xfrm>
          <a:prstGeom prst="triangle">
            <a:avLst/>
          </a:prstGeom>
          <a:solidFill>
            <a:srgbClr val="6FA97A"/>
          </a:solidFill>
          <a:ln w="0">
            <a:noFill/>
          </a:ln>
        </p:spPr>
      </p:sp>
      <p:sp>
        <p:nvSpPr>
          <p:cNvPr id="162" name="等腰三角形 161">
            <a:extLst>
              <a:ext uri="{FF2B5EF4-FFF2-40B4-BE49-F238E27FC236}">
                <a16:creationId xmlns:a16="http://schemas.microsoft.com/office/drawing/2014/main" id="{DC449602-5ABD-D3A2-13C1-55F214A57A62}"/>
              </a:ext>
            </a:extLst>
          </p:cNvPr>
          <p:cNvSpPr>
            <a:spLocks noGrp="1"/>
          </p:cNvSpPr>
          <p:nvPr/>
        </p:nvSpPr>
        <p:spPr>
          <a:xfrm>
            <a:off x="1057275" y="2838450"/>
            <a:ext cx="457200" cy="361950"/>
          </a:xfrm>
          <a:prstGeom prst="triangle">
            <a:avLst/>
          </a:prstGeom>
          <a:solidFill>
            <a:srgbClr val="4B80A8"/>
          </a:solidFill>
          <a:ln w="0">
            <a:noFill/>
          </a:ln>
        </p:spPr>
      </p:sp>
      <p:sp>
        <p:nvSpPr>
          <p:cNvPr id="163" name="箭头: 右 162">
            <a:extLst>
              <a:ext uri="{FF2B5EF4-FFF2-40B4-BE49-F238E27FC236}">
                <a16:creationId xmlns:a16="http://schemas.microsoft.com/office/drawing/2014/main" id="{91B05B7A-2A5F-C510-2778-EBDE12CE9A8A}"/>
              </a:ext>
            </a:extLst>
          </p:cNvPr>
          <p:cNvSpPr>
            <a:spLocks noGrp="1"/>
          </p:cNvSpPr>
          <p:nvPr/>
        </p:nvSpPr>
        <p:spPr>
          <a:xfrm>
            <a:off x="1752600" y="2857500"/>
            <a:ext cx="333375" cy="171450"/>
          </a:xfrm>
          <a:prstGeom prst="rightArrow">
            <a:avLst/>
          </a:prstGeom>
          <a:solidFill>
            <a:srgbClr val="285F9B"/>
          </a:solidFill>
          <a:ln w="0">
            <a:noFill/>
          </a:ln>
        </p:spPr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1554A620-322E-D8FE-89EC-989582CFB7C5}"/>
              </a:ext>
            </a:extLst>
          </p:cNvPr>
          <p:cNvSpPr>
            <a:spLocks noGrp="1"/>
          </p:cNvSpPr>
          <p:nvPr/>
        </p:nvSpPr>
        <p:spPr>
          <a:xfrm>
            <a:off x="2190750" y="2647950"/>
            <a:ext cx="125730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3335">
            <a:solidFill>
              <a:srgbClr val="4E82BC"/>
            </a:solidFill>
            <a:prstDash val="solid"/>
          </a:ln>
        </p:spPr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DB664A6B-3AAD-E995-A728-4F6A34B248E8}"/>
              </a:ext>
            </a:extLst>
          </p:cNvPr>
          <p:cNvSpPr>
            <a:spLocks noGrp="1"/>
          </p:cNvSpPr>
          <p:nvPr/>
        </p:nvSpPr>
        <p:spPr>
          <a:xfrm>
            <a:off x="2190750" y="2771775"/>
            <a:ext cx="12573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视觉编码器</a:t>
            </a:r>
            <a:endParaRPr sz="1200" b="1" dirty="0">
              <a:solidFill>
                <a:srgbClr val="1D42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43AF2B56-0501-FFFE-6FB7-6F0DA0E7F826}"/>
              </a:ext>
            </a:extLst>
          </p:cNvPr>
          <p:cNvSpPr>
            <a:spLocks noGrp="1"/>
          </p:cNvSpPr>
          <p:nvPr/>
        </p:nvSpPr>
        <p:spPr>
          <a:xfrm>
            <a:off x="2190750" y="3028950"/>
            <a:ext cx="12573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Vision Encoder</a:t>
            </a:r>
          </a:p>
        </p:txBody>
      </p:sp>
      <p:sp>
        <p:nvSpPr>
          <p:cNvPr id="167" name="箭头: 右 166">
            <a:extLst>
              <a:ext uri="{FF2B5EF4-FFF2-40B4-BE49-F238E27FC236}">
                <a16:creationId xmlns:a16="http://schemas.microsoft.com/office/drawing/2014/main" id="{831AF362-1039-C35D-3A2F-8D6E453E5B0B}"/>
              </a:ext>
            </a:extLst>
          </p:cNvPr>
          <p:cNvSpPr>
            <a:spLocks noGrp="1"/>
          </p:cNvSpPr>
          <p:nvPr/>
        </p:nvSpPr>
        <p:spPr>
          <a:xfrm>
            <a:off x="3543300" y="2857500"/>
            <a:ext cx="285750" cy="171450"/>
          </a:xfrm>
          <a:prstGeom prst="rightArrow">
            <a:avLst/>
          </a:prstGeom>
          <a:solidFill>
            <a:srgbClr val="285F9B"/>
          </a:solidFill>
          <a:ln w="0">
            <a:noFill/>
          </a:ln>
        </p:spPr>
      </p:sp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36F5D3AC-78CB-9610-BAC3-BEF6A43B5FE7}"/>
              </a:ext>
            </a:extLst>
          </p:cNvPr>
          <p:cNvSpPr>
            <a:spLocks noGrp="1"/>
          </p:cNvSpPr>
          <p:nvPr/>
        </p:nvSpPr>
        <p:spPr>
          <a:xfrm>
            <a:off x="3914775" y="2686050"/>
            <a:ext cx="704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478">
            <a:solidFill>
              <a:srgbClr val="BDD0E6"/>
            </a:solidFill>
            <a:prstDash val="solid"/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C7A05747-B93E-B072-C7A2-AD90B32B6FCD}"/>
              </a:ext>
            </a:extLst>
          </p:cNvPr>
          <p:cNvSpPr>
            <a:spLocks noGrp="1"/>
          </p:cNvSpPr>
          <p:nvPr/>
        </p:nvSpPr>
        <p:spPr>
          <a:xfrm>
            <a:off x="4019550" y="2841625"/>
            <a:ext cx="47625" cy="257175"/>
          </a:xfrm>
          <a:prstGeom prst="rect">
            <a:avLst/>
          </a:prstGeom>
          <a:solidFill>
            <a:srgbClr val="4E82BC"/>
          </a:solidFill>
          <a:ln w="0">
            <a:noFill/>
            <a:prstDash val="solid"/>
          </a:ln>
        </p:spPr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B8C97618-B402-869D-F092-FAE527A9FB68}"/>
              </a:ext>
            </a:extLst>
          </p:cNvPr>
          <p:cNvSpPr>
            <a:spLocks noGrp="1"/>
          </p:cNvSpPr>
          <p:nvPr/>
        </p:nvSpPr>
        <p:spPr>
          <a:xfrm>
            <a:off x="4105275" y="2889250"/>
            <a:ext cx="47625" cy="161925"/>
          </a:xfrm>
          <a:prstGeom prst="rect">
            <a:avLst/>
          </a:prstGeom>
          <a:solidFill>
            <a:srgbClr val="4E82BC"/>
          </a:solidFill>
          <a:ln w="0">
            <a:noFill/>
            <a:prstDash val="solid"/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64682F11-CC30-D302-63D8-CBD64D1B1BFE}"/>
              </a:ext>
            </a:extLst>
          </p:cNvPr>
          <p:cNvSpPr>
            <a:spLocks noGrp="1"/>
          </p:cNvSpPr>
          <p:nvPr/>
        </p:nvSpPr>
        <p:spPr>
          <a:xfrm>
            <a:off x="4191000" y="2841625"/>
            <a:ext cx="47625" cy="257175"/>
          </a:xfrm>
          <a:prstGeom prst="rect">
            <a:avLst/>
          </a:prstGeom>
          <a:solidFill>
            <a:srgbClr val="4E82BC"/>
          </a:solidFill>
          <a:ln w="0">
            <a:noFill/>
            <a:prstDash val="solid"/>
          </a:ln>
        </p:spPr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189ECD22-873F-943C-63C7-0087DD104359}"/>
              </a:ext>
            </a:extLst>
          </p:cNvPr>
          <p:cNvSpPr>
            <a:spLocks noGrp="1"/>
          </p:cNvSpPr>
          <p:nvPr/>
        </p:nvSpPr>
        <p:spPr>
          <a:xfrm>
            <a:off x="4276725" y="2889250"/>
            <a:ext cx="47625" cy="161925"/>
          </a:xfrm>
          <a:prstGeom prst="rect">
            <a:avLst/>
          </a:prstGeom>
          <a:solidFill>
            <a:srgbClr val="4E82BC"/>
          </a:solidFill>
          <a:ln w="0">
            <a:noFill/>
            <a:prstDash val="solid"/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21DC48AD-5466-CA13-B8CE-6BAB38EA6549}"/>
              </a:ext>
            </a:extLst>
          </p:cNvPr>
          <p:cNvSpPr>
            <a:spLocks noGrp="1"/>
          </p:cNvSpPr>
          <p:nvPr/>
        </p:nvSpPr>
        <p:spPr>
          <a:xfrm>
            <a:off x="4362450" y="2841625"/>
            <a:ext cx="47625" cy="257175"/>
          </a:xfrm>
          <a:prstGeom prst="rect">
            <a:avLst/>
          </a:prstGeom>
          <a:solidFill>
            <a:srgbClr val="4E82BC"/>
          </a:solidFill>
          <a:ln w="0">
            <a:noFill/>
            <a:prstDash val="solid"/>
          </a:ln>
        </p:spPr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B1432730-B109-37C6-0287-6845A061B283}"/>
              </a:ext>
            </a:extLst>
          </p:cNvPr>
          <p:cNvSpPr>
            <a:spLocks noGrp="1"/>
          </p:cNvSpPr>
          <p:nvPr/>
        </p:nvSpPr>
        <p:spPr>
          <a:xfrm>
            <a:off x="4448175" y="2889250"/>
            <a:ext cx="47625" cy="161925"/>
          </a:xfrm>
          <a:prstGeom prst="rect">
            <a:avLst/>
          </a:prstGeom>
          <a:solidFill>
            <a:srgbClr val="4E82BC"/>
          </a:solidFill>
          <a:ln w="0">
            <a:noFill/>
            <a:prstDash val="solid"/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620DD0B1-ED5A-D76B-1292-ECE2CA7DFFE7}"/>
              </a:ext>
            </a:extLst>
          </p:cNvPr>
          <p:cNvSpPr>
            <a:spLocks noGrp="1"/>
          </p:cNvSpPr>
          <p:nvPr/>
        </p:nvSpPr>
        <p:spPr>
          <a:xfrm>
            <a:off x="3857625" y="3238500"/>
            <a:ext cx="8191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图像特征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64F27B2E-2B99-15B0-F9A7-0982F094C60C}"/>
              </a:ext>
            </a:extLst>
          </p:cNvPr>
          <p:cNvSpPr>
            <a:spLocks noGrp="1"/>
          </p:cNvSpPr>
          <p:nvPr/>
        </p:nvSpPr>
        <p:spPr>
          <a:xfrm>
            <a:off x="666748" y="4362450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类别文本</a:t>
            </a:r>
            <a:endParaRPr sz="1050" b="1" dirty="0">
              <a:solidFill>
                <a:srgbClr val="6575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7DBC6EFE-51A9-86E6-DF8F-F3630D733C82}"/>
              </a:ext>
            </a:extLst>
          </p:cNvPr>
          <p:cNvSpPr>
            <a:spLocks noGrp="1"/>
          </p:cNvSpPr>
          <p:nvPr/>
        </p:nvSpPr>
        <p:spPr>
          <a:xfrm>
            <a:off x="666750" y="3724275"/>
            <a:ext cx="1000125" cy="28575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4E82BC"/>
            </a:solidFill>
            <a:prstDash val="solid"/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F04623F-AC1D-2737-AB45-B53FBB66A68A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10001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“real image”</a:t>
            </a: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99DEE719-AB4A-014A-66D8-DAC09E65B63C}"/>
              </a:ext>
            </a:extLst>
          </p:cNvPr>
          <p:cNvSpPr>
            <a:spLocks noGrp="1"/>
          </p:cNvSpPr>
          <p:nvPr/>
        </p:nvSpPr>
        <p:spPr>
          <a:xfrm>
            <a:off x="666750" y="4067175"/>
            <a:ext cx="1000125" cy="28575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C9444B"/>
            </a:solidFill>
            <a:prstDash val="solid"/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4E63C5C7-4007-B4BC-F992-604BB148DE8A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10001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C94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444B"/>
                </a:solidFill>
                <a:latin typeface="Microsoft YaHei"/>
                <a:ea typeface="Microsoft YaHei"/>
                <a:cs typeface="Microsoft YaHei"/>
              </a:rPr>
              <a:t>“fake image”</a:t>
            </a:r>
          </a:p>
        </p:txBody>
      </p:sp>
      <p:sp>
        <p:nvSpPr>
          <p:cNvPr id="181" name="箭头: 右 180">
            <a:extLst>
              <a:ext uri="{FF2B5EF4-FFF2-40B4-BE49-F238E27FC236}">
                <a16:creationId xmlns:a16="http://schemas.microsoft.com/office/drawing/2014/main" id="{7A1347F2-D9FD-7DAF-7C39-F30BF557FF57}"/>
              </a:ext>
            </a:extLst>
          </p:cNvPr>
          <p:cNvSpPr>
            <a:spLocks noGrp="1"/>
          </p:cNvSpPr>
          <p:nvPr/>
        </p:nvSpPr>
        <p:spPr>
          <a:xfrm>
            <a:off x="1752600" y="3914775"/>
            <a:ext cx="333375" cy="171450"/>
          </a:xfrm>
          <a:prstGeom prst="rightArrow">
            <a:avLst/>
          </a:prstGeom>
          <a:solidFill>
            <a:srgbClr val="285F9B"/>
          </a:solidFill>
          <a:ln w="0">
            <a:noFill/>
          </a:ln>
        </p:spPr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4C2EF3CD-682B-B756-C2A5-1F068BA7FBFC}"/>
              </a:ext>
            </a:extLst>
          </p:cNvPr>
          <p:cNvSpPr>
            <a:spLocks noGrp="1"/>
          </p:cNvSpPr>
          <p:nvPr/>
        </p:nvSpPr>
        <p:spPr>
          <a:xfrm>
            <a:off x="2190750" y="3705225"/>
            <a:ext cx="125730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3335">
            <a:solidFill>
              <a:srgbClr val="4E82BC"/>
            </a:solidFill>
            <a:prstDash val="solid"/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57C31454-7EC7-D2BE-DE85-43661CE3A645}"/>
              </a:ext>
            </a:extLst>
          </p:cNvPr>
          <p:cNvSpPr>
            <a:spLocks noGrp="1"/>
          </p:cNvSpPr>
          <p:nvPr/>
        </p:nvSpPr>
        <p:spPr>
          <a:xfrm>
            <a:off x="2200275" y="3843338"/>
            <a:ext cx="12573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文本编码器</a:t>
            </a:r>
            <a:endParaRPr sz="1200" b="1" dirty="0">
              <a:solidFill>
                <a:srgbClr val="1D42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20C71784-0A1E-E5FA-BCBB-42EFE8032715}"/>
              </a:ext>
            </a:extLst>
          </p:cNvPr>
          <p:cNvSpPr>
            <a:spLocks noGrp="1"/>
          </p:cNvSpPr>
          <p:nvPr/>
        </p:nvSpPr>
        <p:spPr>
          <a:xfrm>
            <a:off x="2200275" y="4100513"/>
            <a:ext cx="12573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Text Encoder</a:t>
            </a:r>
          </a:p>
        </p:txBody>
      </p:sp>
      <p:sp>
        <p:nvSpPr>
          <p:cNvPr id="185" name="箭头: 右 184">
            <a:extLst>
              <a:ext uri="{FF2B5EF4-FFF2-40B4-BE49-F238E27FC236}">
                <a16:creationId xmlns:a16="http://schemas.microsoft.com/office/drawing/2014/main" id="{4B5E734E-0CD4-D670-3D49-EF946C87FFE5}"/>
              </a:ext>
            </a:extLst>
          </p:cNvPr>
          <p:cNvSpPr>
            <a:spLocks noGrp="1"/>
          </p:cNvSpPr>
          <p:nvPr/>
        </p:nvSpPr>
        <p:spPr>
          <a:xfrm>
            <a:off x="3543300" y="3914775"/>
            <a:ext cx="285750" cy="171450"/>
          </a:xfrm>
          <a:prstGeom prst="rightArrow">
            <a:avLst/>
          </a:prstGeom>
          <a:solidFill>
            <a:srgbClr val="285F9B"/>
          </a:solidFill>
          <a:ln w="0">
            <a:noFill/>
          </a:ln>
        </p:spPr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65AAAD43-D3E6-0DA4-D45B-6B5956DBF0D7}"/>
              </a:ext>
            </a:extLst>
          </p:cNvPr>
          <p:cNvSpPr>
            <a:spLocks noGrp="1"/>
          </p:cNvSpPr>
          <p:nvPr/>
        </p:nvSpPr>
        <p:spPr>
          <a:xfrm>
            <a:off x="3914775" y="3743325"/>
            <a:ext cx="704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478">
            <a:solidFill>
              <a:srgbClr val="BDD0E6"/>
            </a:solidFill>
            <a:prstDash val="solid"/>
          </a:ln>
        </p:spPr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FA7FE12-801B-5077-5686-C46D8F35B5DE}"/>
              </a:ext>
            </a:extLst>
          </p:cNvPr>
          <p:cNvSpPr>
            <a:spLocks noGrp="1"/>
          </p:cNvSpPr>
          <p:nvPr/>
        </p:nvSpPr>
        <p:spPr>
          <a:xfrm>
            <a:off x="4019550" y="3903662"/>
            <a:ext cx="47625" cy="257175"/>
          </a:xfrm>
          <a:prstGeom prst="rect">
            <a:avLst/>
          </a:prstGeom>
          <a:solidFill>
            <a:srgbClr val="E39038"/>
          </a:solidFill>
          <a:ln w="0">
            <a:noFill/>
            <a:prstDash val="solid"/>
          </a:ln>
        </p:spPr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E2B8E5A1-46AE-3AFB-FC10-5BF1F5B94656}"/>
              </a:ext>
            </a:extLst>
          </p:cNvPr>
          <p:cNvSpPr>
            <a:spLocks noGrp="1"/>
          </p:cNvSpPr>
          <p:nvPr/>
        </p:nvSpPr>
        <p:spPr>
          <a:xfrm>
            <a:off x="4105275" y="3951287"/>
            <a:ext cx="47625" cy="161925"/>
          </a:xfrm>
          <a:prstGeom prst="rect">
            <a:avLst/>
          </a:prstGeom>
          <a:solidFill>
            <a:srgbClr val="E39038"/>
          </a:solidFill>
          <a:ln w="0">
            <a:noFill/>
            <a:prstDash val="solid"/>
          </a:ln>
        </p:spPr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B860E0DA-EDE0-18D7-B990-D13D890A22F5}"/>
              </a:ext>
            </a:extLst>
          </p:cNvPr>
          <p:cNvSpPr>
            <a:spLocks noGrp="1"/>
          </p:cNvSpPr>
          <p:nvPr/>
        </p:nvSpPr>
        <p:spPr>
          <a:xfrm>
            <a:off x="4191000" y="3903662"/>
            <a:ext cx="47625" cy="257175"/>
          </a:xfrm>
          <a:prstGeom prst="rect">
            <a:avLst/>
          </a:prstGeom>
          <a:solidFill>
            <a:srgbClr val="E39038"/>
          </a:solidFill>
          <a:ln w="0">
            <a:noFill/>
            <a:prstDash val="solid"/>
          </a:ln>
        </p:spPr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C4EB88FA-6710-2E14-8C5D-C1764EFB4FF6}"/>
              </a:ext>
            </a:extLst>
          </p:cNvPr>
          <p:cNvSpPr>
            <a:spLocks noGrp="1"/>
          </p:cNvSpPr>
          <p:nvPr/>
        </p:nvSpPr>
        <p:spPr>
          <a:xfrm>
            <a:off x="4276725" y="3951287"/>
            <a:ext cx="47625" cy="161925"/>
          </a:xfrm>
          <a:prstGeom prst="rect">
            <a:avLst/>
          </a:prstGeom>
          <a:solidFill>
            <a:srgbClr val="E39038"/>
          </a:solidFill>
          <a:ln w="0">
            <a:noFill/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FD8BB0A8-3F2A-05FA-6F80-9E4260EA6759}"/>
              </a:ext>
            </a:extLst>
          </p:cNvPr>
          <p:cNvSpPr>
            <a:spLocks noGrp="1"/>
          </p:cNvSpPr>
          <p:nvPr/>
        </p:nvSpPr>
        <p:spPr>
          <a:xfrm>
            <a:off x="4362450" y="3903662"/>
            <a:ext cx="47625" cy="257175"/>
          </a:xfrm>
          <a:prstGeom prst="rect">
            <a:avLst/>
          </a:prstGeom>
          <a:solidFill>
            <a:srgbClr val="E39038"/>
          </a:solidFill>
          <a:ln w="0">
            <a:noFill/>
            <a:prstDash val="solid"/>
          </a:ln>
        </p:spPr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5049E744-32A9-501F-3401-5177B8259325}"/>
              </a:ext>
            </a:extLst>
          </p:cNvPr>
          <p:cNvSpPr>
            <a:spLocks noGrp="1"/>
          </p:cNvSpPr>
          <p:nvPr/>
        </p:nvSpPr>
        <p:spPr>
          <a:xfrm>
            <a:off x="4448175" y="3951287"/>
            <a:ext cx="47625" cy="161925"/>
          </a:xfrm>
          <a:prstGeom prst="rect">
            <a:avLst/>
          </a:prstGeom>
          <a:solidFill>
            <a:srgbClr val="E39038"/>
          </a:solidFill>
          <a:ln w="0">
            <a:noFill/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840E2C59-38C5-700D-7E3C-8E7E7753FC51}"/>
              </a:ext>
            </a:extLst>
          </p:cNvPr>
          <p:cNvSpPr>
            <a:spLocks noGrp="1"/>
          </p:cNvSpPr>
          <p:nvPr/>
        </p:nvSpPr>
        <p:spPr>
          <a:xfrm>
            <a:off x="3857625" y="4295775"/>
            <a:ext cx="8191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文本特征</a:t>
            </a:r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F58C9AE5-38CD-4C7E-E344-523A3328F81C}"/>
              </a:ext>
            </a:extLst>
          </p:cNvPr>
          <p:cNvSpPr>
            <a:spLocks noGrp="1"/>
          </p:cNvSpPr>
          <p:nvPr/>
        </p:nvSpPr>
        <p:spPr>
          <a:xfrm>
            <a:off x="4886325" y="3251200"/>
            <a:ext cx="571500" cy="571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5F9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8E706F9-DC2A-831B-2C03-25FF5C49582B}"/>
              </a:ext>
            </a:extLst>
          </p:cNvPr>
          <p:cNvSpPr>
            <a:spLocks noGrp="1"/>
          </p:cNvSpPr>
          <p:nvPr/>
        </p:nvSpPr>
        <p:spPr>
          <a:xfrm>
            <a:off x="4895850" y="3443287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相似度</a:t>
            </a:r>
            <a:endParaRPr sz="1050" b="1" dirty="0">
              <a:solidFill>
                <a:srgbClr val="1D42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8558CE1F-1E2B-CCEF-F709-3636D66C6811}"/>
              </a:ext>
            </a:extLst>
          </p:cNvPr>
          <p:cNvSpPr>
            <a:spLocks noGrp="1"/>
          </p:cNvSpPr>
          <p:nvPr/>
        </p:nvSpPr>
        <p:spPr>
          <a:xfrm>
            <a:off x="4495800" y="4270375"/>
            <a:ext cx="8763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C94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C9444B"/>
                </a:solidFill>
                <a:latin typeface="Microsoft YaHei"/>
                <a:ea typeface="Microsoft YaHei"/>
                <a:cs typeface="Microsoft YaHei"/>
              </a:rPr>
              <a:t>真假语义</a:t>
            </a:r>
            <a:endParaRPr sz="1125" b="1" dirty="0">
              <a:solidFill>
                <a:srgbClr val="C9444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9277FE50-2CFB-4584-6D6C-477F5BD64989}"/>
              </a:ext>
            </a:extLst>
          </p:cNvPr>
          <p:cNvSpPr>
            <a:spLocks noGrp="1"/>
          </p:cNvSpPr>
          <p:nvPr/>
        </p:nvSpPr>
        <p:spPr>
          <a:xfrm>
            <a:off x="1090612" y="4760912"/>
            <a:ext cx="4714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2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选择理由：</a:t>
            </a:r>
            <a:r>
              <a:rPr lang="zh-CN" altLang="en-US" sz="1200" b="0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大规模图文预训练，提供丰富语义与迁移基础</a:t>
            </a:r>
            <a:endParaRPr lang="en-US" altLang="zh-CN" sz="1200" b="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单独使用的不足：</a:t>
            </a:r>
            <a:r>
              <a:rPr lang="zh-CN" altLang="en-US" sz="1200" b="0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全局真假判断难以直接给出精确位置</a:t>
            </a:r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6717B62C-E24F-DEE4-E473-B34802A3BA53}"/>
              </a:ext>
            </a:extLst>
          </p:cNvPr>
          <p:cNvSpPr>
            <a:spLocks noGrp="1"/>
          </p:cNvSpPr>
          <p:nvPr/>
        </p:nvSpPr>
        <p:spPr>
          <a:xfrm>
            <a:off x="5781675" y="3248025"/>
            <a:ext cx="628650" cy="62865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D4276"/>
            </a:solidFill>
            <a:prstDash val="solid"/>
          </a:ln>
        </p:spPr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8769DC5-EF1A-9892-0057-E8984B3F972E}"/>
              </a:ext>
            </a:extLst>
          </p:cNvPr>
          <p:cNvSpPr>
            <a:spLocks noGrp="1"/>
          </p:cNvSpPr>
          <p:nvPr/>
        </p:nvSpPr>
        <p:spPr>
          <a:xfrm>
            <a:off x="5781675" y="3276600"/>
            <a:ext cx="6286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8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DB8129CF-C45E-9CC1-91D7-E34905E3FB63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2619375" cy="409575"/>
          </a:xfrm>
          <a:prstGeom prst="roundRect">
            <a:avLst>
              <a:gd name="adj" fmla="val 23256"/>
            </a:avLst>
          </a:prstGeom>
          <a:solidFill>
            <a:srgbClr val="E9F2FC"/>
          </a:solidFill>
          <a:ln w="11430">
            <a:solidFill>
              <a:srgbClr val="4E82BC"/>
            </a:solidFill>
            <a:prstDash val="solid"/>
          </a:ln>
        </p:spPr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A950A4D0-36F1-5E94-C329-8D6CB332634B}"/>
              </a:ext>
            </a:extLst>
          </p:cNvPr>
          <p:cNvSpPr>
            <a:spLocks noGrp="1"/>
          </p:cNvSpPr>
          <p:nvPr/>
        </p:nvSpPr>
        <p:spPr>
          <a:xfrm>
            <a:off x="666750" y="5743575"/>
            <a:ext cx="26193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CLIP：全局真假语义</a:t>
            </a: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7DF3ECFB-DE97-0898-E229-B73B09285BA4}"/>
              </a:ext>
            </a:extLst>
          </p:cNvPr>
          <p:cNvSpPr>
            <a:spLocks noGrp="1"/>
          </p:cNvSpPr>
          <p:nvPr/>
        </p:nvSpPr>
        <p:spPr>
          <a:xfrm>
            <a:off x="3438525" y="57435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D6AB1FCC-B489-9344-4563-E3DBB16EF800}"/>
              </a:ext>
            </a:extLst>
          </p:cNvPr>
          <p:cNvSpPr>
            <a:spLocks noGrp="1"/>
          </p:cNvSpPr>
          <p:nvPr/>
        </p:nvSpPr>
        <p:spPr>
          <a:xfrm>
            <a:off x="3990975" y="5695950"/>
            <a:ext cx="2619375" cy="409575"/>
          </a:xfrm>
          <a:prstGeom prst="roundRect">
            <a:avLst>
              <a:gd name="adj" fmla="val 23256"/>
            </a:avLst>
          </a:prstGeom>
          <a:solidFill>
            <a:srgbClr val="E8F5EF"/>
          </a:solidFill>
          <a:ln w="11430">
            <a:solidFill>
              <a:srgbClr val="3E9275"/>
            </a:solidFill>
            <a:prstDash val="solid"/>
          </a:ln>
        </p:spPr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D15B55B2-39D0-90DB-F667-4206EE32C153}"/>
              </a:ext>
            </a:extLst>
          </p:cNvPr>
          <p:cNvSpPr>
            <a:spLocks noGrp="1"/>
          </p:cNvSpPr>
          <p:nvPr/>
        </p:nvSpPr>
        <p:spPr>
          <a:xfrm>
            <a:off x="3990975" y="5743575"/>
            <a:ext cx="26193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rPr>
              <a:t>MAE：局部空间结构</a:t>
            </a:r>
          </a:p>
        </p:txBody>
      </p:sp>
      <p:sp>
        <p:nvSpPr>
          <p:cNvPr id="252" name="箭头: 右 251">
            <a:extLst>
              <a:ext uri="{FF2B5EF4-FFF2-40B4-BE49-F238E27FC236}">
                <a16:creationId xmlns:a16="http://schemas.microsoft.com/office/drawing/2014/main" id="{3D8CB5BF-B2D7-BC58-259F-45156A2CCC1B}"/>
              </a:ext>
            </a:extLst>
          </p:cNvPr>
          <p:cNvSpPr>
            <a:spLocks noGrp="1"/>
          </p:cNvSpPr>
          <p:nvPr/>
        </p:nvSpPr>
        <p:spPr>
          <a:xfrm>
            <a:off x="6819900" y="5791200"/>
            <a:ext cx="523875" cy="209550"/>
          </a:xfrm>
          <a:prstGeom prst="rightArrow">
            <a:avLst/>
          </a:prstGeom>
          <a:solidFill>
            <a:srgbClr val="1D4276"/>
          </a:solidFill>
          <a:ln w="0">
            <a:noFill/>
          </a:ln>
        </p:spPr>
      </p:sp>
      <p:sp>
        <p:nvSpPr>
          <p:cNvPr id="253" name="矩形: 圆角 252">
            <a:extLst>
              <a:ext uri="{FF2B5EF4-FFF2-40B4-BE49-F238E27FC236}">
                <a16:creationId xmlns:a16="http://schemas.microsoft.com/office/drawing/2014/main" id="{5CBABDB0-6AE8-B4C1-B093-B775B30F796B}"/>
              </a:ext>
            </a:extLst>
          </p:cNvPr>
          <p:cNvSpPr>
            <a:spLocks noGrp="1"/>
          </p:cNvSpPr>
          <p:nvPr/>
        </p:nvSpPr>
        <p:spPr>
          <a:xfrm>
            <a:off x="7553325" y="5667375"/>
            <a:ext cx="1762125" cy="457200"/>
          </a:xfrm>
          <a:prstGeom prst="roundRect">
            <a:avLst>
              <a:gd name="adj" fmla="val 22917"/>
            </a:avLst>
          </a:prstGeom>
          <a:solidFill>
            <a:srgbClr val="1D4276"/>
          </a:solidFill>
          <a:ln w="0">
            <a:solidFill>
              <a:srgbClr val="1D4276"/>
            </a:solidFill>
            <a:prstDash val="solid"/>
          </a:ln>
        </p:spPr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9985B263-A442-869C-F7F9-121DC7D26876}"/>
              </a:ext>
            </a:extLst>
          </p:cNvPr>
          <p:cNvSpPr>
            <a:spLocks noGrp="1"/>
          </p:cNvSpPr>
          <p:nvPr/>
        </p:nvSpPr>
        <p:spPr>
          <a:xfrm>
            <a:off x="7553325" y="5724525"/>
            <a:ext cx="17621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MaskCLIP</a:t>
            </a:r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31657366-8F54-B3F6-2844-4C64E09CC591}"/>
              </a:ext>
            </a:extLst>
          </p:cNvPr>
          <p:cNvSpPr>
            <a:spLocks noGrp="1"/>
          </p:cNvSpPr>
          <p:nvPr/>
        </p:nvSpPr>
        <p:spPr>
          <a:xfrm>
            <a:off x="9505950" y="5676900"/>
            <a:ext cx="933450" cy="4286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478">
            <a:solidFill>
              <a:srgbClr val="4E82BC"/>
            </a:solidFill>
            <a:prstDash val="solid"/>
          </a:ln>
        </p:spPr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996B2B3B-05BB-74A5-0246-3F7BC47A6E6D}"/>
              </a:ext>
            </a:extLst>
          </p:cNvPr>
          <p:cNvSpPr>
            <a:spLocks noGrp="1"/>
          </p:cNvSpPr>
          <p:nvPr/>
        </p:nvSpPr>
        <p:spPr>
          <a:xfrm>
            <a:off x="9505950" y="5715000"/>
            <a:ext cx="9334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图像级检测</a:t>
            </a:r>
            <a:endParaRPr sz="1050" b="1" dirty="0">
              <a:solidFill>
                <a:srgbClr val="1D42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35B82251-6311-C15F-6927-F3F0718F1039}"/>
              </a:ext>
            </a:extLst>
          </p:cNvPr>
          <p:cNvSpPr>
            <a:spLocks noGrp="1"/>
          </p:cNvSpPr>
          <p:nvPr/>
        </p:nvSpPr>
        <p:spPr>
          <a:xfrm>
            <a:off x="10544175" y="5676900"/>
            <a:ext cx="981075" cy="4286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478">
            <a:solidFill>
              <a:srgbClr val="3E9275"/>
            </a:solidFill>
            <a:prstDash val="solid"/>
          </a:ln>
        </p:spPr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F5CF9349-BA6F-DE8A-B423-81DF8902241C}"/>
              </a:ext>
            </a:extLst>
          </p:cNvPr>
          <p:cNvSpPr>
            <a:spLocks noGrp="1"/>
          </p:cNvSpPr>
          <p:nvPr/>
        </p:nvSpPr>
        <p:spPr>
          <a:xfrm>
            <a:off x="10544175" y="5715000"/>
            <a:ext cx="9810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rPr>
              <a:t>像素级定位</a:t>
            </a: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F3C34990-B290-BDDE-ADB5-8C7D8CE01364}"/>
              </a:ext>
            </a:extLst>
          </p:cNvPr>
          <p:cNvSpPr>
            <a:spLocks noGrp="1"/>
          </p:cNvSpPr>
          <p:nvPr/>
        </p:nvSpPr>
        <p:spPr>
          <a:xfrm>
            <a:off x="781050" y="6381750"/>
            <a:ext cx="10858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C94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C9444B"/>
                </a:solidFill>
                <a:latin typeface="Microsoft YaHei"/>
                <a:ea typeface="Microsoft YaHei"/>
                <a:cs typeface="Microsoft YaHei"/>
              </a:rPr>
              <a:t>关键问题：两类特征空间不同，如何实现有效交互与协同</a:t>
            </a:r>
            <a:r>
              <a:rPr sz="1425" b="1" dirty="0">
                <a:solidFill>
                  <a:srgbClr val="C9444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260" name="箭头: 右 259">
            <a:extLst>
              <a:ext uri="{FF2B5EF4-FFF2-40B4-BE49-F238E27FC236}">
                <a16:creationId xmlns:a16="http://schemas.microsoft.com/office/drawing/2014/main" id="{10D91791-6A8D-F081-CE36-E2CB57A7A052}"/>
              </a:ext>
            </a:extLst>
          </p:cNvPr>
          <p:cNvSpPr>
            <a:spLocks noGrp="1"/>
          </p:cNvSpPr>
          <p:nvPr/>
        </p:nvSpPr>
        <p:spPr>
          <a:xfrm rot="1990720">
            <a:off x="4667636" y="2986086"/>
            <a:ext cx="285750" cy="171450"/>
          </a:xfrm>
          <a:prstGeom prst="rightArrow">
            <a:avLst/>
          </a:prstGeom>
          <a:solidFill>
            <a:srgbClr val="285F9B"/>
          </a:solidFill>
          <a:ln w="0">
            <a:noFill/>
          </a:ln>
        </p:spPr>
      </p:sp>
      <p:sp>
        <p:nvSpPr>
          <p:cNvPr id="261" name="箭头: 右 260">
            <a:extLst>
              <a:ext uri="{FF2B5EF4-FFF2-40B4-BE49-F238E27FC236}">
                <a16:creationId xmlns:a16="http://schemas.microsoft.com/office/drawing/2014/main" id="{8034B602-13FC-4CB5-8BA3-F7D67599C4DC}"/>
              </a:ext>
            </a:extLst>
          </p:cNvPr>
          <p:cNvSpPr>
            <a:spLocks noGrp="1"/>
          </p:cNvSpPr>
          <p:nvPr/>
        </p:nvSpPr>
        <p:spPr>
          <a:xfrm rot="19318065">
            <a:off x="4669919" y="3851328"/>
            <a:ext cx="285750" cy="171450"/>
          </a:xfrm>
          <a:prstGeom prst="rightArrow">
            <a:avLst/>
          </a:prstGeom>
          <a:solidFill>
            <a:srgbClr val="285F9B"/>
          </a:solidFill>
          <a:ln w="0">
            <a:noFill/>
          </a:ln>
        </p:spPr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7C74E987-01B1-B08F-48AF-A3EFB8E8F6F9}"/>
              </a:ext>
            </a:extLst>
          </p:cNvPr>
          <p:cNvSpPr>
            <a:spLocks noGrp="1"/>
          </p:cNvSpPr>
          <p:nvPr/>
        </p:nvSpPr>
        <p:spPr>
          <a:xfrm>
            <a:off x="6705600" y="2409825"/>
            <a:ext cx="9144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遮挡图像</a:t>
            </a:r>
          </a:p>
        </p:txBody>
      </p:sp>
      <p:sp>
        <p:nvSpPr>
          <p:cNvPr id="271" name="矩形: 圆角 270">
            <a:extLst>
              <a:ext uri="{FF2B5EF4-FFF2-40B4-BE49-F238E27FC236}">
                <a16:creationId xmlns:a16="http://schemas.microsoft.com/office/drawing/2014/main" id="{BB6C7209-2B5D-9012-1940-DF9E63621C0A}"/>
              </a:ext>
            </a:extLst>
          </p:cNvPr>
          <p:cNvSpPr>
            <a:spLocks noGrp="1"/>
          </p:cNvSpPr>
          <p:nvPr/>
        </p:nvSpPr>
        <p:spPr>
          <a:xfrm>
            <a:off x="6762750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8F2DC439-6E86-6DC8-E78F-8A67DDC70542}"/>
              </a:ext>
            </a:extLst>
          </p:cNvPr>
          <p:cNvSpPr>
            <a:spLocks noGrp="1"/>
          </p:cNvSpPr>
          <p:nvPr/>
        </p:nvSpPr>
        <p:spPr>
          <a:xfrm>
            <a:off x="6962775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B879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3" name="矩形: 圆角 272">
            <a:extLst>
              <a:ext uri="{FF2B5EF4-FFF2-40B4-BE49-F238E27FC236}">
                <a16:creationId xmlns:a16="http://schemas.microsoft.com/office/drawing/2014/main" id="{67875112-3B2D-44C4-825C-41EE4720384A}"/>
              </a:ext>
            </a:extLst>
          </p:cNvPr>
          <p:cNvSpPr>
            <a:spLocks noGrp="1"/>
          </p:cNvSpPr>
          <p:nvPr/>
        </p:nvSpPr>
        <p:spPr>
          <a:xfrm>
            <a:off x="7162800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4" name="矩形: 圆角 273">
            <a:extLst>
              <a:ext uri="{FF2B5EF4-FFF2-40B4-BE49-F238E27FC236}">
                <a16:creationId xmlns:a16="http://schemas.microsoft.com/office/drawing/2014/main" id="{30961DE3-4E0D-F13B-BD2E-2CE3FDE3D091}"/>
              </a:ext>
            </a:extLst>
          </p:cNvPr>
          <p:cNvSpPr>
            <a:spLocks noGrp="1"/>
          </p:cNvSpPr>
          <p:nvPr/>
        </p:nvSpPr>
        <p:spPr>
          <a:xfrm>
            <a:off x="7362825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5" name="矩形: 圆角 274">
            <a:extLst>
              <a:ext uri="{FF2B5EF4-FFF2-40B4-BE49-F238E27FC236}">
                <a16:creationId xmlns:a16="http://schemas.microsoft.com/office/drawing/2014/main" id="{35C3DB4C-5C07-BA05-4EC4-DE7E2972E480}"/>
              </a:ext>
            </a:extLst>
          </p:cNvPr>
          <p:cNvSpPr>
            <a:spLocks noGrp="1"/>
          </p:cNvSpPr>
          <p:nvPr/>
        </p:nvSpPr>
        <p:spPr>
          <a:xfrm>
            <a:off x="6762750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B879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6" name="矩形: 圆角 275">
            <a:extLst>
              <a:ext uri="{FF2B5EF4-FFF2-40B4-BE49-F238E27FC236}">
                <a16:creationId xmlns:a16="http://schemas.microsoft.com/office/drawing/2014/main" id="{A878D5FD-7993-D507-47D6-062BDD937DB6}"/>
              </a:ext>
            </a:extLst>
          </p:cNvPr>
          <p:cNvSpPr>
            <a:spLocks noGrp="1"/>
          </p:cNvSpPr>
          <p:nvPr/>
        </p:nvSpPr>
        <p:spPr>
          <a:xfrm>
            <a:off x="6962775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7" name="矩形: 圆角 276">
            <a:extLst>
              <a:ext uri="{FF2B5EF4-FFF2-40B4-BE49-F238E27FC236}">
                <a16:creationId xmlns:a16="http://schemas.microsoft.com/office/drawing/2014/main" id="{E8017234-0687-AB11-39C5-D945F7E58F52}"/>
              </a:ext>
            </a:extLst>
          </p:cNvPr>
          <p:cNvSpPr>
            <a:spLocks noGrp="1"/>
          </p:cNvSpPr>
          <p:nvPr/>
        </p:nvSpPr>
        <p:spPr>
          <a:xfrm>
            <a:off x="7162800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B879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8" name="矩形: 圆角 277">
            <a:extLst>
              <a:ext uri="{FF2B5EF4-FFF2-40B4-BE49-F238E27FC236}">
                <a16:creationId xmlns:a16="http://schemas.microsoft.com/office/drawing/2014/main" id="{FC35B5A8-DAB5-74BD-8CBC-00D677401FAA}"/>
              </a:ext>
            </a:extLst>
          </p:cNvPr>
          <p:cNvSpPr>
            <a:spLocks noGrp="1"/>
          </p:cNvSpPr>
          <p:nvPr/>
        </p:nvSpPr>
        <p:spPr>
          <a:xfrm>
            <a:off x="7362825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9A90A037-EB04-67B8-7D47-8DC281C81677}"/>
              </a:ext>
            </a:extLst>
          </p:cNvPr>
          <p:cNvSpPr>
            <a:spLocks noGrp="1"/>
          </p:cNvSpPr>
          <p:nvPr/>
        </p:nvSpPr>
        <p:spPr>
          <a:xfrm>
            <a:off x="6762750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C5C61F42-5CE9-1200-D02D-3896372AF219}"/>
              </a:ext>
            </a:extLst>
          </p:cNvPr>
          <p:cNvSpPr>
            <a:spLocks noGrp="1"/>
          </p:cNvSpPr>
          <p:nvPr/>
        </p:nvSpPr>
        <p:spPr>
          <a:xfrm>
            <a:off x="6962775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B879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1" name="矩形: 圆角 280">
            <a:extLst>
              <a:ext uri="{FF2B5EF4-FFF2-40B4-BE49-F238E27FC236}">
                <a16:creationId xmlns:a16="http://schemas.microsoft.com/office/drawing/2014/main" id="{32FC15CC-4734-01AF-F3CB-4BA77DE305A9}"/>
              </a:ext>
            </a:extLst>
          </p:cNvPr>
          <p:cNvSpPr>
            <a:spLocks noGrp="1"/>
          </p:cNvSpPr>
          <p:nvPr/>
        </p:nvSpPr>
        <p:spPr>
          <a:xfrm>
            <a:off x="7162800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2" name="矩形: 圆角 281">
            <a:extLst>
              <a:ext uri="{FF2B5EF4-FFF2-40B4-BE49-F238E27FC236}">
                <a16:creationId xmlns:a16="http://schemas.microsoft.com/office/drawing/2014/main" id="{A6580425-6A48-38AC-BB02-6E116BFA68AE}"/>
              </a:ext>
            </a:extLst>
          </p:cNvPr>
          <p:cNvSpPr>
            <a:spLocks noGrp="1"/>
          </p:cNvSpPr>
          <p:nvPr/>
        </p:nvSpPr>
        <p:spPr>
          <a:xfrm>
            <a:off x="7362825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B879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82497CD9-2EAB-2C8A-93D2-AFA3FD229FD5}"/>
              </a:ext>
            </a:extLst>
          </p:cNvPr>
          <p:cNvSpPr>
            <a:spLocks noGrp="1"/>
          </p:cNvSpPr>
          <p:nvPr/>
        </p:nvSpPr>
        <p:spPr>
          <a:xfrm>
            <a:off x="6762750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9B944295-A982-1D35-BEB6-6D6D3137A47F}"/>
              </a:ext>
            </a:extLst>
          </p:cNvPr>
          <p:cNvSpPr>
            <a:spLocks noGrp="1"/>
          </p:cNvSpPr>
          <p:nvPr/>
        </p:nvSpPr>
        <p:spPr>
          <a:xfrm>
            <a:off x="6962775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73FBF4F0-2FBF-E76F-CE86-6CADBC519A5F}"/>
              </a:ext>
            </a:extLst>
          </p:cNvPr>
          <p:cNvSpPr>
            <a:spLocks noGrp="1"/>
          </p:cNvSpPr>
          <p:nvPr/>
        </p:nvSpPr>
        <p:spPr>
          <a:xfrm>
            <a:off x="7162800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B8796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6" name="矩形: 圆角 285">
            <a:extLst>
              <a:ext uri="{FF2B5EF4-FFF2-40B4-BE49-F238E27FC236}">
                <a16:creationId xmlns:a16="http://schemas.microsoft.com/office/drawing/2014/main" id="{52F06B97-8ABB-7B94-DAD9-27F5B6AC8F5E}"/>
              </a:ext>
            </a:extLst>
          </p:cNvPr>
          <p:cNvSpPr>
            <a:spLocks noGrp="1"/>
          </p:cNvSpPr>
          <p:nvPr/>
        </p:nvSpPr>
        <p:spPr>
          <a:xfrm>
            <a:off x="7362825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87" name="箭头: 右 286">
            <a:extLst>
              <a:ext uri="{FF2B5EF4-FFF2-40B4-BE49-F238E27FC236}">
                <a16:creationId xmlns:a16="http://schemas.microsoft.com/office/drawing/2014/main" id="{BA61D6F8-901D-3ABF-32BE-2AA6F11F9B14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266700" cy="171450"/>
          </a:xfrm>
          <a:prstGeom prst="rightArrow">
            <a:avLst/>
          </a:prstGeom>
          <a:solidFill>
            <a:srgbClr val="26735A"/>
          </a:solidFill>
          <a:ln w="0">
            <a:noFill/>
          </a:ln>
        </p:spPr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17FB0756-9ADA-2BF0-A371-2720964F88F9}"/>
              </a:ext>
            </a:extLst>
          </p:cNvPr>
          <p:cNvSpPr>
            <a:spLocks noGrp="1"/>
          </p:cNvSpPr>
          <p:nvPr/>
        </p:nvSpPr>
        <p:spPr>
          <a:xfrm>
            <a:off x="7962900" y="2781300"/>
            <a:ext cx="1066800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3335">
            <a:solidFill>
              <a:srgbClr val="3E9275"/>
            </a:solidFill>
            <a:prstDash val="solid"/>
          </a:ln>
        </p:spPr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7CFB94EA-5B65-EB9D-E092-53D9C1FFC9E5}"/>
              </a:ext>
            </a:extLst>
          </p:cNvPr>
          <p:cNvSpPr>
            <a:spLocks noGrp="1"/>
          </p:cNvSpPr>
          <p:nvPr/>
        </p:nvSpPr>
        <p:spPr>
          <a:xfrm>
            <a:off x="7962900" y="284797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25" b="1" dirty="0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rPr>
              <a:t>Encoder</a:t>
            </a:r>
            <a:endParaRPr sz="1125" b="1" dirty="0">
              <a:solidFill>
                <a:srgbClr val="2673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5CB1C958-EA3C-93BD-ED34-4BCA6D98B5CD}"/>
              </a:ext>
            </a:extLst>
          </p:cNvPr>
          <p:cNvSpPr>
            <a:spLocks noGrp="1"/>
          </p:cNvSpPr>
          <p:nvPr/>
        </p:nvSpPr>
        <p:spPr>
          <a:xfrm>
            <a:off x="7962900" y="3114675"/>
            <a:ext cx="106680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提取可见图块特征</a:t>
            </a:r>
          </a:p>
        </p:txBody>
      </p:sp>
      <p:sp>
        <p:nvSpPr>
          <p:cNvPr id="291" name="箭头: 右 290">
            <a:extLst>
              <a:ext uri="{FF2B5EF4-FFF2-40B4-BE49-F238E27FC236}">
                <a16:creationId xmlns:a16="http://schemas.microsoft.com/office/drawing/2014/main" id="{6AB2D846-885B-6811-72F4-E41D3D980434}"/>
              </a:ext>
            </a:extLst>
          </p:cNvPr>
          <p:cNvSpPr>
            <a:spLocks noGrp="1"/>
          </p:cNvSpPr>
          <p:nvPr/>
        </p:nvSpPr>
        <p:spPr>
          <a:xfrm>
            <a:off x="9105900" y="3019425"/>
            <a:ext cx="266700" cy="171450"/>
          </a:xfrm>
          <a:prstGeom prst="rightArrow">
            <a:avLst/>
          </a:prstGeom>
          <a:solidFill>
            <a:srgbClr val="CDD5DF"/>
          </a:solidFill>
          <a:ln w="0">
            <a:noFill/>
          </a:ln>
        </p:spPr>
      </p:sp>
      <p:sp>
        <p:nvSpPr>
          <p:cNvPr id="292" name="矩形: 圆角 291">
            <a:extLst>
              <a:ext uri="{FF2B5EF4-FFF2-40B4-BE49-F238E27FC236}">
                <a16:creationId xmlns:a16="http://schemas.microsoft.com/office/drawing/2014/main" id="{E95E4C50-6E0B-0B52-2B4B-3BF2A5F9F9C9}"/>
              </a:ext>
            </a:extLst>
          </p:cNvPr>
          <p:cNvSpPr>
            <a:spLocks noGrp="1"/>
          </p:cNvSpPr>
          <p:nvPr/>
        </p:nvSpPr>
        <p:spPr>
          <a:xfrm>
            <a:off x="9448800" y="2781300"/>
            <a:ext cx="914400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1430">
            <a:solidFill>
              <a:srgbClr val="CDD5DF"/>
            </a:solidFill>
            <a:prstDash val="solid"/>
          </a:ln>
        </p:spPr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66E699ED-38C3-E033-23D0-21C2BC10FE83}"/>
              </a:ext>
            </a:extLst>
          </p:cNvPr>
          <p:cNvSpPr>
            <a:spLocks noGrp="1"/>
          </p:cNvSpPr>
          <p:nvPr/>
        </p:nvSpPr>
        <p:spPr>
          <a:xfrm>
            <a:off x="9448800" y="2847975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7B87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7B8796"/>
                </a:solidFill>
                <a:latin typeface="Microsoft YaHei"/>
                <a:ea typeface="Microsoft YaHei"/>
                <a:cs typeface="Microsoft YaHei"/>
              </a:rPr>
              <a:t>Decoder</a:t>
            </a: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D3B97722-255B-B039-C38A-DE25D7C7111C}"/>
              </a:ext>
            </a:extLst>
          </p:cNvPr>
          <p:cNvSpPr>
            <a:spLocks noGrp="1"/>
          </p:cNvSpPr>
          <p:nvPr/>
        </p:nvSpPr>
        <p:spPr>
          <a:xfrm>
            <a:off x="9448800" y="3114675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25" b="0" dirty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重建被遮挡图块</a:t>
            </a:r>
            <a:endParaRPr sz="825" b="0" dirty="0">
              <a:solidFill>
                <a:srgbClr val="6575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5" name="箭头: 右 294">
            <a:extLst>
              <a:ext uri="{FF2B5EF4-FFF2-40B4-BE49-F238E27FC236}">
                <a16:creationId xmlns:a16="http://schemas.microsoft.com/office/drawing/2014/main" id="{6332C11B-1E4C-FA62-DA9D-DE6778CA1D5A}"/>
              </a:ext>
            </a:extLst>
          </p:cNvPr>
          <p:cNvSpPr>
            <a:spLocks noGrp="1"/>
          </p:cNvSpPr>
          <p:nvPr/>
        </p:nvSpPr>
        <p:spPr>
          <a:xfrm>
            <a:off x="10439400" y="3019425"/>
            <a:ext cx="266700" cy="171450"/>
          </a:xfrm>
          <a:prstGeom prst="rightArrow">
            <a:avLst/>
          </a:prstGeom>
          <a:solidFill>
            <a:srgbClr val="CDD5DF"/>
          </a:solidFill>
          <a:ln w="0">
            <a:noFill/>
          </a:ln>
        </p:spPr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CB1434C5-9C9C-6658-EE43-F195556B1970}"/>
              </a:ext>
            </a:extLst>
          </p:cNvPr>
          <p:cNvSpPr>
            <a:spLocks noGrp="1"/>
          </p:cNvSpPr>
          <p:nvPr/>
        </p:nvSpPr>
        <p:spPr>
          <a:xfrm>
            <a:off x="10744200" y="2409825"/>
            <a:ext cx="8382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重建图像</a:t>
            </a:r>
          </a:p>
        </p:txBody>
      </p:sp>
      <p:sp>
        <p:nvSpPr>
          <p:cNvPr id="297" name="矩形: 圆角 296">
            <a:extLst>
              <a:ext uri="{FF2B5EF4-FFF2-40B4-BE49-F238E27FC236}">
                <a16:creationId xmlns:a16="http://schemas.microsoft.com/office/drawing/2014/main" id="{5D8A0750-4159-ED8D-FB62-1AF73289BAFF}"/>
              </a:ext>
            </a:extLst>
          </p:cNvPr>
          <p:cNvSpPr>
            <a:spLocks noGrp="1"/>
          </p:cNvSpPr>
          <p:nvPr/>
        </p:nvSpPr>
        <p:spPr>
          <a:xfrm>
            <a:off x="10763250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98" name="矩形: 圆角 297">
            <a:extLst>
              <a:ext uri="{FF2B5EF4-FFF2-40B4-BE49-F238E27FC236}">
                <a16:creationId xmlns:a16="http://schemas.microsoft.com/office/drawing/2014/main" id="{64C57B09-9DC2-1AA6-9B4D-073F0567F845}"/>
              </a:ext>
            </a:extLst>
          </p:cNvPr>
          <p:cNvSpPr>
            <a:spLocks noGrp="1"/>
          </p:cNvSpPr>
          <p:nvPr/>
        </p:nvSpPr>
        <p:spPr>
          <a:xfrm>
            <a:off x="10963275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99" name="矩形: 圆角 298">
            <a:extLst>
              <a:ext uri="{FF2B5EF4-FFF2-40B4-BE49-F238E27FC236}">
                <a16:creationId xmlns:a16="http://schemas.microsoft.com/office/drawing/2014/main" id="{AFC85489-5EA9-65FD-B065-98F5F9DDBE2E}"/>
              </a:ext>
            </a:extLst>
          </p:cNvPr>
          <p:cNvSpPr>
            <a:spLocks noGrp="1"/>
          </p:cNvSpPr>
          <p:nvPr/>
        </p:nvSpPr>
        <p:spPr>
          <a:xfrm>
            <a:off x="11163300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0" name="矩形: 圆角 299">
            <a:extLst>
              <a:ext uri="{FF2B5EF4-FFF2-40B4-BE49-F238E27FC236}">
                <a16:creationId xmlns:a16="http://schemas.microsoft.com/office/drawing/2014/main" id="{9CF16F78-C747-030F-B490-D7D2931A9E12}"/>
              </a:ext>
            </a:extLst>
          </p:cNvPr>
          <p:cNvSpPr>
            <a:spLocks noGrp="1"/>
          </p:cNvSpPr>
          <p:nvPr/>
        </p:nvSpPr>
        <p:spPr>
          <a:xfrm>
            <a:off x="11363325" y="270510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1" name="矩形: 圆角 300">
            <a:extLst>
              <a:ext uri="{FF2B5EF4-FFF2-40B4-BE49-F238E27FC236}">
                <a16:creationId xmlns:a16="http://schemas.microsoft.com/office/drawing/2014/main" id="{31CA17A0-23DC-EAF9-1D56-BDD3C06FBD2E}"/>
              </a:ext>
            </a:extLst>
          </p:cNvPr>
          <p:cNvSpPr>
            <a:spLocks noGrp="1"/>
          </p:cNvSpPr>
          <p:nvPr/>
        </p:nvSpPr>
        <p:spPr>
          <a:xfrm>
            <a:off x="10763250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1419A573-4A6C-FCF1-1B9E-31B89F61056E}"/>
              </a:ext>
            </a:extLst>
          </p:cNvPr>
          <p:cNvSpPr>
            <a:spLocks noGrp="1"/>
          </p:cNvSpPr>
          <p:nvPr/>
        </p:nvSpPr>
        <p:spPr>
          <a:xfrm>
            <a:off x="10963275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7B46CF0B-13A4-3581-A04D-AA1E8018E525}"/>
              </a:ext>
            </a:extLst>
          </p:cNvPr>
          <p:cNvSpPr>
            <a:spLocks noGrp="1"/>
          </p:cNvSpPr>
          <p:nvPr/>
        </p:nvSpPr>
        <p:spPr>
          <a:xfrm>
            <a:off x="11163300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4" name="矩形: 圆角 303">
            <a:extLst>
              <a:ext uri="{FF2B5EF4-FFF2-40B4-BE49-F238E27FC236}">
                <a16:creationId xmlns:a16="http://schemas.microsoft.com/office/drawing/2014/main" id="{00BDA464-19D6-5984-AA52-7FB417644C2C}"/>
              </a:ext>
            </a:extLst>
          </p:cNvPr>
          <p:cNvSpPr>
            <a:spLocks noGrp="1"/>
          </p:cNvSpPr>
          <p:nvPr/>
        </p:nvSpPr>
        <p:spPr>
          <a:xfrm>
            <a:off x="11363325" y="290512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BFD9F4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5" name="矩形: 圆角 304">
            <a:extLst>
              <a:ext uri="{FF2B5EF4-FFF2-40B4-BE49-F238E27FC236}">
                <a16:creationId xmlns:a16="http://schemas.microsoft.com/office/drawing/2014/main" id="{FD4ED78D-9B46-BFA5-6E42-3CA360F64A24}"/>
              </a:ext>
            </a:extLst>
          </p:cNvPr>
          <p:cNvSpPr>
            <a:spLocks noGrp="1"/>
          </p:cNvSpPr>
          <p:nvPr/>
        </p:nvSpPr>
        <p:spPr>
          <a:xfrm>
            <a:off x="10763250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6" name="矩形: 圆角 305">
            <a:extLst>
              <a:ext uri="{FF2B5EF4-FFF2-40B4-BE49-F238E27FC236}">
                <a16:creationId xmlns:a16="http://schemas.microsoft.com/office/drawing/2014/main" id="{51F7D089-2721-F792-14DD-2A190F550B5F}"/>
              </a:ext>
            </a:extLst>
          </p:cNvPr>
          <p:cNvSpPr>
            <a:spLocks noGrp="1"/>
          </p:cNvSpPr>
          <p:nvPr/>
        </p:nvSpPr>
        <p:spPr>
          <a:xfrm>
            <a:off x="10963275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7" name="矩形: 圆角 306">
            <a:extLst>
              <a:ext uri="{FF2B5EF4-FFF2-40B4-BE49-F238E27FC236}">
                <a16:creationId xmlns:a16="http://schemas.microsoft.com/office/drawing/2014/main" id="{854729D2-A4D0-B002-19F6-C3BF741ED10D}"/>
              </a:ext>
            </a:extLst>
          </p:cNvPr>
          <p:cNvSpPr>
            <a:spLocks noGrp="1"/>
          </p:cNvSpPr>
          <p:nvPr/>
        </p:nvSpPr>
        <p:spPr>
          <a:xfrm>
            <a:off x="11163300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8" name="矩形: 圆角 307">
            <a:extLst>
              <a:ext uri="{FF2B5EF4-FFF2-40B4-BE49-F238E27FC236}">
                <a16:creationId xmlns:a16="http://schemas.microsoft.com/office/drawing/2014/main" id="{ED53114E-17B5-E4FC-1FDA-1FDC59B8D047}"/>
              </a:ext>
            </a:extLst>
          </p:cNvPr>
          <p:cNvSpPr>
            <a:spLocks noGrp="1"/>
          </p:cNvSpPr>
          <p:nvPr/>
        </p:nvSpPr>
        <p:spPr>
          <a:xfrm>
            <a:off x="11363325" y="3105150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09" name="矩形: 圆角 308">
            <a:extLst>
              <a:ext uri="{FF2B5EF4-FFF2-40B4-BE49-F238E27FC236}">
                <a16:creationId xmlns:a16="http://schemas.microsoft.com/office/drawing/2014/main" id="{BCC98649-C87D-67F5-D7B9-0FBAC5044CD1}"/>
              </a:ext>
            </a:extLst>
          </p:cNvPr>
          <p:cNvSpPr>
            <a:spLocks noGrp="1"/>
          </p:cNvSpPr>
          <p:nvPr/>
        </p:nvSpPr>
        <p:spPr>
          <a:xfrm>
            <a:off x="10763250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10" name="矩形: 圆角 309">
            <a:extLst>
              <a:ext uri="{FF2B5EF4-FFF2-40B4-BE49-F238E27FC236}">
                <a16:creationId xmlns:a16="http://schemas.microsoft.com/office/drawing/2014/main" id="{975CC3AB-1678-30B8-6CFF-9805FF90A578}"/>
              </a:ext>
            </a:extLst>
          </p:cNvPr>
          <p:cNvSpPr>
            <a:spLocks noGrp="1"/>
          </p:cNvSpPr>
          <p:nvPr/>
        </p:nvSpPr>
        <p:spPr>
          <a:xfrm>
            <a:off x="10963275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11" name="矩形: 圆角 310">
            <a:extLst>
              <a:ext uri="{FF2B5EF4-FFF2-40B4-BE49-F238E27FC236}">
                <a16:creationId xmlns:a16="http://schemas.microsoft.com/office/drawing/2014/main" id="{CF092A9D-BC36-C5C7-7A0B-CC77FFA0A7F0}"/>
              </a:ext>
            </a:extLst>
          </p:cNvPr>
          <p:cNvSpPr>
            <a:spLocks noGrp="1"/>
          </p:cNvSpPr>
          <p:nvPr/>
        </p:nvSpPr>
        <p:spPr>
          <a:xfrm>
            <a:off x="11163300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12" name="矩形: 圆角 311">
            <a:extLst>
              <a:ext uri="{FF2B5EF4-FFF2-40B4-BE49-F238E27FC236}">
                <a16:creationId xmlns:a16="http://schemas.microsoft.com/office/drawing/2014/main" id="{7FD020FC-9824-EAE6-EBB5-7AEB72EE3598}"/>
              </a:ext>
            </a:extLst>
          </p:cNvPr>
          <p:cNvSpPr>
            <a:spLocks noGrp="1"/>
          </p:cNvSpPr>
          <p:nvPr/>
        </p:nvSpPr>
        <p:spPr>
          <a:xfrm>
            <a:off x="11363325" y="3305175"/>
            <a:ext cx="180975" cy="180975"/>
          </a:xfrm>
          <a:prstGeom prst="roundRect">
            <a:avLst>
              <a:gd name="adj" fmla="val 10526"/>
            </a:avLst>
          </a:prstGeom>
          <a:solidFill>
            <a:srgbClr val="78AA7F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13" name="直接连接符 312">
            <a:extLst>
              <a:ext uri="{FF2B5EF4-FFF2-40B4-BE49-F238E27FC236}">
                <a16:creationId xmlns:a16="http://schemas.microsoft.com/office/drawing/2014/main" id="{2FB91DBA-3F2E-444B-9164-3A4500D15615}"/>
              </a:ext>
            </a:extLst>
          </p:cNvPr>
          <p:cNvSpPr>
            <a:spLocks noGrp="1"/>
          </p:cNvSpPr>
          <p:nvPr/>
        </p:nvSpPr>
        <p:spPr>
          <a:xfrm>
            <a:off x="8496300" y="3429000"/>
            <a:ext cx="0" cy="238125"/>
          </a:xfrm>
          <a:prstGeom prst="line">
            <a:avLst/>
          </a:prstGeom>
          <a:noFill/>
          <a:ln w="17145">
            <a:solidFill>
              <a:srgbClr val="3E9275"/>
            </a:solidFill>
            <a:prstDash val="solid"/>
          </a:ln>
        </p:spPr>
      </p:sp>
      <p:sp>
        <p:nvSpPr>
          <p:cNvPr id="314" name="箭头: 下 313">
            <a:extLst>
              <a:ext uri="{FF2B5EF4-FFF2-40B4-BE49-F238E27FC236}">
                <a16:creationId xmlns:a16="http://schemas.microsoft.com/office/drawing/2014/main" id="{5CCCFA35-324C-485D-C76E-E35842CE16FB}"/>
              </a:ext>
            </a:extLst>
          </p:cNvPr>
          <p:cNvSpPr>
            <a:spLocks noGrp="1"/>
          </p:cNvSpPr>
          <p:nvPr/>
        </p:nvSpPr>
        <p:spPr>
          <a:xfrm>
            <a:off x="8420100" y="3609975"/>
            <a:ext cx="152400" cy="142875"/>
          </a:xfrm>
          <a:prstGeom prst="downArrow">
            <a:avLst/>
          </a:prstGeom>
          <a:solidFill>
            <a:srgbClr val="3E9275"/>
          </a:solidFill>
          <a:ln w="0">
            <a:noFill/>
          </a:ln>
        </p:spPr>
      </p:sp>
      <p:sp>
        <p:nvSpPr>
          <p:cNvPr id="315" name="矩形: 圆角 314">
            <a:extLst>
              <a:ext uri="{FF2B5EF4-FFF2-40B4-BE49-F238E27FC236}">
                <a16:creationId xmlns:a16="http://schemas.microsoft.com/office/drawing/2014/main" id="{EB0F93B3-24BF-3841-77F4-3BDDFCFA2856}"/>
              </a:ext>
            </a:extLst>
          </p:cNvPr>
          <p:cNvSpPr>
            <a:spLocks noGrp="1"/>
          </p:cNvSpPr>
          <p:nvPr/>
        </p:nvSpPr>
        <p:spPr>
          <a:xfrm>
            <a:off x="7410450" y="3781425"/>
            <a:ext cx="2171700" cy="47625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>
            <a:solidFill>
              <a:srgbClr val="3E9275"/>
            </a:solidFill>
            <a:prstDash val="solid"/>
          </a:ln>
        </p:spPr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31C0994E-4DA6-D451-99EB-62B2B2544B0C}"/>
              </a:ext>
            </a:extLst>
          </p:cNvPr>
          <p:cNvSpPr>
            <a:spLocks noGrp="1"/>
          </p:cNvSpPr>
          <p:nvPr/>
        </p:nvSpPr>
        <p:spPr>
          <a:xfrm>
            <a:off x="7410450" y="3819525"/>
            <a:ext cx="21717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rPr>
              <a:t>MaskCLIP 保留</a:t>
            </a: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3CF1D5D6-2408-78A5-B98E-C4D02AB7BBCA}"/>
              </a:ext>
            </a:extLst>
          </p:cNvPr>
          <p:cNvSpPr>
            <a:spLocks noGrp="1"/>
          </p:cNvSpPr>
          <p:nvPr/>
        </p:nvSpPr>
        <p:spPr>
          <a:xfrm>
            <a:off x="7410450" y="4038600"/>
            <a:ext cx="21717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A"/>
                </a:solidFill>
                <a:latin typeface="Microsoft YaHei"/>
                <a:ea typeface="Microsoft YaHei"/>
                <a:cs typeface="Microsoft YaHei"/>
              </a:rPr>
              <a:t>MAE 编码器的中间层空间特征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F2E756B1-4A41-5959-E2F2-F55AFED75A0B}"/>
              </a:ext>
            </a:extLst>
          </p:cNvPr>
          <p:cNvSpPr>
            <a:spLocks noGrp="1"/>
          </p:cNvSpPr>
          <p:nvPr/>
        </p:nvSpPr>
        <p:spPr>
          <a:xfrm>
            <a:off x="9705975" y="3790950"/>
            <a:ext cx="17811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0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通过重建任务学习</a:t>
            </a:r>
          </a:p>
          <a:p>
            <a:pPr algn="ctr">
              <a:defRPr sz="10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局部纹理与结构关系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6A0E3F83-E6AD-5E6A-EAC6-B540A6E2997E}"/>
              </a:ext>
            </a:extLst>
          </p:cNvPr>
          <p:cNvSpPr>
            <a:spLocks noGrp="1"/>
          </p:cNvSpPr>
          <p:nvPr/>
        </p:nvSpPr>
        <p:spPr>
          <a:xfrm>
            <a:off x="7362825" y="4743450"/>
            <a:ext cx="4051024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2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选择理由：</a:t>
            </a:r>
            <a:r>
              <a:rPr lang="zh-CN" altLang="en-US" sz="1200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通过遮挡重建学习局部纹理与空间关系</a:t>
            </a:r>
            <a:endParaRPr lang="en-US" altLang="zh-CN" sz="120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单独使用的不足：</a:t>
            </a:r>
            <a:r>
              <a:rPr lang="zh-CN" altLang="en-US" sz="1200" b="0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重建表征不直接等于伪造判别能力</a:t>
            </a:r>
            <a:endParaRPr sz="1200" b="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0" name="矩形: 圆顶角 319">
            <a:extLst>
              <a:ext uri="{FF2B5EF4-FFF2-40B4-BE49-F238E27FC236}">
                <a16:creationId xmlns:a16="http://schemas.microsoft.com/office/drawing/2014/main" id="{9E1604F4-FE19-1A97-BCF4-2E99AD488C2D}"/>
              </a:ext>
            </a:extLst>
          </p:cNvPr>
          <p:cNvSpPr/>
          <p:nvPr/>
        </p:nvSpPr>
        <p:spPr>
          <a:xfrm rot="10800000">
            <a:off x="428625" y="1809750"/>
            <a:ext cx="5238750" cy="494838"/>
          </a:xfrm>
          <a:prstGeom prst="round2SameRect">
            <a:avLst>
              <a:gd name="adj1" fmla="val 0"/>
              <a:gd name="adj2" fmla="val 2959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68" name="矩形: 圆角 267">
            <a:extLst>
              <a:ext uri="{FF2B5EF4-FFF2-40B4-BE49-F238E27FC236}">
                <a16:creationId xmlns:a16="http://schemas.microsoft.com/office/drawing/2014/main" id="{8F2F919A-5B49-2A18-8330-FFCCFE8B0678}"/>
              </a:ext>
            </a:extLst>
          </p:cNvPr>
          <p:cNvSpPr>
            <a:spLocks noGrp="1"/>
          </p:cNvSpPr>
          <p:nvPr/>
        </p:nvSpPr>
        <p:spPr>
          <a:xfrm>
            <a:off x="10334625" y="1914525"/>
            <a:ext cx="1190625" cy="276225"/>
          </a:xfrm>
          <a:prstGeom prst="roundRect">
            <a:avLst>
              <a:gd name="adj" fmla="val 27586"/>
            </a:avLst>
          </a:prstGeom>
          <a:solidFill>
            <a:srgbClr val="D7EEE5"/>
          </a:solidFill>
          <a:ln w="0">
            <a:noFill/>
            <a:prstDash val="solid"/>
          </a:ln>
        </p:spPr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7706250B-A244-8A33-97D8-54A8F1550992}"/>
              </a:ext>
            </a:extLst>
          </p:cNvPr>
          <p:cNvSpPr>
            <a:spLocks noGrp="1"/>
          </p:cNvSpPr>
          <p:nvPr/>
        </p:nvSpPr>
        <p:spPr>
          <a:xfrm>
            <a:off x="10334625" y="1933575"/>
            <a:ext cx="1190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 dirty="0">
                <a:solidFill>
                  <a:srgbClr val="26735A"/>
                </a:solidFill>
                <a:latin typeface="Microsoft YaHei"/>
                <a:ea typeface="Microsoft YaHei"/>
                <a:cs typeface="Microsoft YaHei"/>
              </a:rPr>
              <a:t>像素级定位</a:t>
            </a:r>
            <a:endParaRPr sz="1125" b="1" dirty="0">
              <a:solidFill>
                <a:srgbClr val="2673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F2314671-D91F-474A-4C3E-4AC204933278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CLIP｜</a:t>
            </a:r>
            <a:r>
              <a:rPr lang="zh-CN" altLang="en-US" sz="17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可提供语义特征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7C30A823-6928-60D7-3E2C-01050DED203E}"/>
              </a:ext>
            </a:extLst>
          </p:cNvPr>
          <p:cNvSpPr>
            <a:spLocks noGrp="1"/>
          </p:cNvSpPr>
          <p:nvPr/>
        </p:nvSpPr>
        <p:spPr>
          <a:xfrm>
            <a:off x="4238625" y="1914525"/>
            <a:ext cx="1190625" cy="276225"/>
          </a:xfrm>
          <a:prstGeom prst="roundRect">
            <a:avLst>
              <a:gd name="adj" fmla="val 27586"/>
            </a:avLst>
          </a:prstGeom>
          <a:solidFill>
            <a:srgbClr val="D8E8FA"/>
          </a:solidFill>
          <a:ln w="0">
            <a:noFill/>
            <a:prstDash val="solid"/>
          </a:ln>
        </p:spPr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EA3999B-9EBA-7E6C-02B7-FA27C5F23BD1}"/>
              </a:ext>
            </a:extLst>
          </p:cNvPr>
          <p:cNvSpPr>
            <a:spLocks noGrp="1"/>
          </p:cNvSpPr>
          <p:nvPr/>
        </p:nvSpPr>
        <p:spPr>
          <a:xfrm>
            <a:off x="4238625" y="1933575"/>
            <a:ext cx="11906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 dirty="0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图像级检测</a:t>
            </a:r>
            <a:endParaRPr sz="1125" b="1" dirty="0">
              <a:solidFill>
                <a:srgbClr val="1D42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F38B3D3A-C5D2-1ECD-84D5-91C04ECBE69D}"/>
              </a:ext>
            </a:extLst>
          </p:cNvPr>
          <p:cNvSpPr>
            <a:spLocks noGrp="1"/>
          </p:cNvSpPr>
          <p:nvPr/>
        </p:nvSpPr>
        <p:spPr>
          <a:xfrm>
            <a:off x="6762750" y="18859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MAE｜</a:t>
            </a:r>
            <a:r>
              <a:rPr lang="zh-CN" altLang="en-US" sz="17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</a:t>
            </a:r>
            <a:r>
              <a:rPr lang="zh-CN" altLang="zh-CN" sz="1725" b="1" dirty="0">
                <a:solidFill>
                  <a:srgbClr val="FFFFFF"/>
                </a:solidFill>
                <a:latin typeface="Microsoft YaHei"/>
              </a:rPr>
              <a:t>提供细粒度空间表征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FB7C3A-FEBF-AFB9-4A6A-598B6F485B34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DCF98A-BA7A-D818-6EDE-057582C3DB80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FCB0E7-3D6C-1045-7E53-EE7DEA260564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396C25-6994-06D8-D300-5CAE3779C35D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666ABC-19F6-7FD3-255E-F25D5D406D41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819828-9E95-19B0-B957-BDC0052DB037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B98616-97BD-3C2D-A2CD-DC7E2916C68E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D7BBC3-445E-2766-6CA6-BBECFAF2C333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759257-53CE-06E1-FE46-CE4974AE5135}"/>
              </a:ext>
            </a:extLst>
          </p:cNvPr>
          <p:cNvGrpSpPr/>
          <p:nvPr/>
        </p:nvGrpSpPr>
        <p:grpSpPr>
          <a:xfrm>
            <a:off x="1461934" y="1150353"/>
            <a:ext cx="1826148" cy="99594"/>
            <a:chOff x="1461934" y="1150353"/>
            <a:chExt cx="1826148" cy="99594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F74F8DB-BD3D-C683-E63F-1E567FABDE09}"/>
                </a:ext>
              </a:extLst>
            </p:cNvPr>
            <p:cNvSpPr/>
            <p:nvPr/>
          </p:nvSpPr>
          <p:spPr>
            <a:xfrm>
              <a:off x="1461934" y="1200411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9F0C033F-4EE8-31D3-D3B3-F7A39B1589B2}"/>
                </a:ext>
              </a:extLst>
            </p:cNvPr>
            <p:cNvSpPr/>
            <p:nvPr/>
          </p:nvSpPr>
          <p:spPr>
            <a:xfrm>
              <a:off x="2299929" y="1150353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F8EB38E-3692-D008-B259-73D3681404F2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5AC7EDE-3E58-B521-2C47-DB329888D1CC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C0AC74B3-F747-C0EF-9411-83AD296C4DBC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017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E9A0-556E-DC81-5198-886DC8DB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12DBDB4-4811-0624-6B32-902A9B7812A1}"/>
              </a:ext>
            </a:extLst>
          </p:cNvPr>
          <p:cNvSpPr txBox="1"/>
          <p:nvPr/>
        </p:nvSpPr>
        <p:spPr>
          <a:xfrm>
            <a:off x="177212" y="1233325"/>
            <a:ext cx="5517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本文核心方法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MaskCLIP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总体框架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DACCCC-438D-E66E-E342-25E86604D9AA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endParaRPr sz="1875" b="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42E4D71-6E66-4E03-7707-2A812F6F8B1C}"/>
              </a:ext>
            </a:extLst>
          </p:cNvPr>
          <p:cNvSpPr>
            <a:spLocks noGrp="1"/>
          </p:cNvSpPr>
          <p:nvPr/>
        </p:nvSpPr>
        <p:spPr>
          <a:xfrm>
            <a:off x="85725" y="1840721"/>
            <a:ext cx="11687175" cy="4829175"/>
          </a:xfrm>
          <a:prstGeom prst="roundRect">
            <a:avLst>
              <a:gd name="adj" fmla="val 2367"/>
            </a:avLst>
          </a:prstGeom>
          <a:solidFill>
            <a:srgbClr val="F5F8FC"/>
          </a:solidFill>
          <a:ln w="9525">
            <a:solidFill>
              <a:srgbClr val="B9CDE4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541A431-03A1-A49C-2EC2-7A6DC2614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11447"/>
            <a:ext cx="11258550" cy="4687724"/>
          </a:xfrm>
          <a:prstGeom prst="roundRect">
            <a:avLst>
              <a:gd name="adj" fmla="val 1616"/>
            </a:avLst>
          </a:prstGeom>
        </p:spPr>
      </p:pic>
      <p:sp>
        <p:nvSpPr>
          <p:cNvPr id="36" name="文本框 35">
            <a:hlinkClick r:id="rId4" action="ppaction://hlinksldjump"/>
            <a:extLst>
              <a:ext uri="{FF2B5EF4-FFF2-40B4-BE49-F238E27FC236}">
                <a16:creationId xmlns:a16="http://schemas.microsoft.com/office/drawing/2014/main" id="{354B2D2D-296B-0804-2E12-0433DEFF5541}"/>
              </a:ext>
            </a:extLst>
          </p:cNvPr>
          <p:cNvSpPr txBox="1"/>
          <p:nvPr/>
        </p:nvSpPr>
        <p:spPr>
          <a:xfrm>
            <a:off x="33163" y="2833726"/>
            <a:ext cx="20298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① 图像级真假检测模块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0D26CD-D00E-AE6F-5923-A00E8322FFE7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FE0D63-8C8A-CA50-BAF3-89CA1687E03D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B0BB03-F9A2-076B-A775-771C06514E0F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9D9D91-32AB-AFF7-9284-2C8FE4F3C533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23B9B5-FFFB-A0FE-8766-BB7076077206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80D025-F160-68AE-D575-70B2886EFFBC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C18A6E-52C1-4C41-B8B7-54F390D41A1F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F48176-2091-2218-050D-FE3D6EBB446B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D6FFB76-9FEA-EDD8-4CC7-99BE134E2028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D712A1F-5948-9A6E-76C8-DF1948145446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94F514D7-29BA-F67E-D2A0-4CC3C3DA0C07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6B49FF27-27E5-9B6F-3718-EC83A1952207}"/>
              </a:ext>
            </a:extLst>
          </p:cNvPr>
          <p:cNvSpPr/>
          <p:nvPr/>
        </p:nvSpPr>
        <p:spPr>
          <a:xfrm>
            <a:off x="2057400" y="1929438"/>
            <a:ext cx="9456420" cy="2209175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A7BAD3-7BFF-FFD7-F48F-C044777B2A68}"/>
              </a:ext>
            </a:extLst>
          </p:cNvPr>
          <p:cNvSpPr/>
          <p:nvPr/>
        </p:nvSpPr>
        <p:spPr>
          <a:xfrm>
            <a:off x="7071360" y="2667000"/>
            <a:ext cx="4343400" cy="1402079"/>
          </a:xfrm>
          <a:prstGeom prst="rect">
            <a:avLst/>
          </a:prstGeom>
          <a:noFill/>
          <a:ln w="28575">
            <a:solidFill>
              <a:srgbClr val="C63E46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885788-A7F7-6870-FB7C-566DB20D1C11}"/>
              </a:ext>
            </a:extLst>
          </p:cNvPr>
          <p:cNvSpPr txBox="1"/>
          <p:nvPr/>
        </p:nvSpPr>
        <p:spPr>
          <a:xfrm>
            <a:off x="8063213" y="2367338"/>
            <a:ext cx="2367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C63E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文本提示学习模块</a:t>
            </a:r>
          </a:p>
        </p:txBody>
      </p:sp>
      <p:sp>
        <p:nvSpPr>
          <p:cNvPr id="15" name="文本框 14">
            <a:hlinkClick r:id="rId5" action="ppaction://hlinksldjump"/>
            <a:extLst>
              <a:ext uri="{FF2B5EF4-FFF2-40B4-BE49-F238E27FC236}">
                <a16:creationId xmlns:a16="http://schemas.microsoft.com/office/drawing/2014/main" id="{4C4F8B06-2133-1D85-A709-868CBFC1124E}"/>
              </a:ext>
            </a:extLst>
          </p:cNvPr>
          <p:cNvSpPr txBox="1"/>
          <p:nvPr/>
        </p:nvSpPr>
        <p:spPr>
          <a:xfrm>
            <a:off x="0" y="5641816"/>
            <a:ext cx="2096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② 像素级伪造定位模块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00B9EC-1B11-9C50-2241-B1F5B8D032B7}"/>
              </a:ext>
            </a:extLst>
          </p:cNvPr>
          <p:cNvSpPr/>
          <p:nvPr/>
        </p:nvSpPr>
        <p:spPr>
          <a:xfrm>
            <a:off x="2057400" y="4214809"/>
            <a:ext cx="9456420" cy="2384361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7FCB85-CB86-A66F-C988-786CB9EAC36D}"/>
              </a:ext>
            </a:extLst>
          </p:cNvPr>
          <p:cNvSpPr txBox="1"/>
          <p:nvPr/>
        </p:nvSpPr>
        <p:spPr>
          <a:xfrm>
            <a:off x="5253275" y="2055504"/>
            <a:ext cx="1818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highlight>
                  <a:srgbClr val="00FF00"/>
                </a:highlight>
              </a:rPr>
              <a:t>VSA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FF00"/>
                </a:highlight>
              </a:rPr>
              <a:t>：视觉自注意力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96442F-F37F-6FA3-5A53-6BB92096AE10}"/>
              </a:ext>
            </a:extLst>
          </p:cNvPr>
          <p:cNvSpPr txBox="1"/>
          <p:nvPr/>
        </p:nvSpPr>
        <p:spPr>
          <a:xfrm>
            <a:off x="7243485" y="6308166"/>
            <a:ext cx="27380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TVCA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：文本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视觉交叉注意力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80B3BC2-E4C3-2FC4-8B4F-DBAAFAE770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5872" y="1526068"/>
            <a:ext cx="230832" cy="23083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2A574CC-BD85-F07B-5BFD-D7FC3371A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852" y="1519803"/>
            <a:ext cx="208723" cy="20607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D7C85432-7013-0CA0-0D77-558C1615E8A1}"/>
              </a:ext>
            </a:extLst>
          </p:cNvPr>
          <p:cNvSpPr txBox="1"/>
          <p:nvPr/>
        </p:nvSpPr>
        <p:spPr>
          <a:xfrm>
            <a:off x="8193694" y="1501813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参与训练，参数更新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255F0B-0B06-42A1-5225-C98E7E4A8203}"/>
              </a:ext>
            </a:extLst>
          </p:cNvPr>
          <p:cNvSpPr txBox="1"/>
          <p:nvPr/>
        </p:nvSpPr>
        <p:spPr>
          <a:xfrm>
            <a:off x="10045829" y="1504760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，参数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B1A35C0-9370-8A6E-D115-C760D5041C56}"/>
              </a:ext>
            </a:extLst>
          </p:cNvPr>
          <p:cNvSpPr/>
          <p:nvPr/>
        </p:nvSpPr>
        <p:spPr>
          <a:xfrm>
            <a:off x="4299109" y="4347136"/>
            <a:ext cx="2829546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hlinkClick r:id="rId8" action="ppaction://hlinksldjump"/>
            <a:extLst>
              <a:ext uri="{FF2B5EF4-FFF2-40B4-BE49-F238E27FC236}">
                <a16:creationId xmlns:a16="http://schemas.microsoft.com/office/drawing/2014/main" id="{6A12C8A7-5327-D6DF-9252-0C8016A17E7E}"/>
              </a:ext>
            </a:extLst>
          </p:cNvPr>
          <p:cNvSpPr txBox="1"/>
          <p:nvPr/>
        </p:nvSpPr>
        <p:spPr>
          <a:xfrm>
            <a:off x="4249948" y="4331688"/>
            <a:ext cx="3296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VCA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：视觉交叉注意力（跨模型协同）</a:t>
            </a:r>
          </a:p>
        </p:txBody>
      </p:sp>
    </p:spTree>
    <p:extLst>
      <p:ext uri="{BB962C8B-B14F-4D97-AF65-F5344CB8AC3E}">
        <p14:creationId xmlns:p14="http://schemas.microsoft.com/office/powerpoint/2010/main" val="134520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7242-37EE-78BE-218B-BF46CD36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7F0714-6858-FF76-D406-E6B83CAC945E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endParaRPr sz="1875" b="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9CA55F8-0DD0-1760-7B2A-DDB344CE0446}"/>
              </a:ext>
            </a:extLst>
          </p:cNvPr>
          <p:cNvSpPr>
            <a:spLocks noGrp="1"/>
          </p:cNvSpPr>
          <p:nvPr/>
        </p:nvSpPr>
        <p:spPr>
          <a:xfrm>
            <a:off x="400050" y="1840721"/>
            <a:ext cx="11372850" cy="4829175"/>
          </a:xfrm>
          <a:prstGeom prst="roundRect">
            <a:avLst>
              <a:gd name="adj" fmla="val 2367"/>
            </a:avLst>
          </a:prstGeom>
          <a:solidFill>
            <a:srgbClr val="F5F8FC"/>
          </a:solidFill>
          <a:ln w="9525">
            <a:solidFill>
              <a:srgbClr val="B9CDE4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7C2981F-8E6C-5307-14A1-A8AAA9E3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11447"/>
            <a:ext cx="11258550" cy="4687724"/>
          </a:xfrm>
          <a:prstGeom prst="roundRect">
            <a:avLst>
              <a:gd name="adj" fmla="val 1616"/>
            </a:avLst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960219D-E6EA-8B7D-57C5-9650EF7CE0BD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ED940B-D160-FDFC-EEE4-7F445F907FD4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F05C2A-6F63-8E93-A880-DA9EC777B57A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06747B-E08E-2A2C-0579-ED5F43E51642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7F5D56-8703-A20E-D84A-348B5A090C9C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F24B33-AF0C-302E-43D3-22BE1A527523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21481E-E2AC-3481-7F8D-A807AD9B132E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FA10A7-11A2-6168-B128-7C22DE220670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86BECD5-4622-C6D7-98D1-7CB9B1B0C42F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4C6E403-F17C-50C5-48AB-FF25C904E97D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75467337-43B5-5196-5A00-E8C67EB66BBC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88F1458-A190-DDEF-6815-7EC6C7242C18}"/>
              </a:ext>
            </a:extLst>
          </p:cNvPr>
          <p:cNvSpPr/>
          <p:nvPr/>
        </p:nvSpPr>
        <p:spPr>
          <a:xfrm>
            <a:off x="7071360" y="2667000"/>
            <a:ext cx="4343400" cy="1402079"/>
          </a:xfrm>
          <a:prstGeom prst="rect">
            <a:avLst/>
          </a:prstGeom>
          <a:noFill/>
          <a:ln w="28575">
            <a:solidFill>
              <a:srgbClr val="C63E46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741351B-42B7-4CDA-4337-0757A56F6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5872" y="1526068"/>
            <a:ext cx="230832" cy="23083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EC6A962-C638-8CC9-6041-DA8590840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852" y="1519803"/>
            <a:ext cx="208723" cy="20607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63E5E383-8815-B240-613F-0E2ADF925971}"/>
              </a:ext>
            </a:extLst>
          </p:cNvPr>
          <p:cNvSpPr txBox="1"/>
          <p:nvPr/>
        </p:nvSpPr>
        <p:spPr>
          <a:xfrm>
            <a:off x="8193694" y="1501813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参与训练，参数更新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B403EA1-1D9F-296F-5667-4D2265CE66D6}"/>
              </a:ext>
            </a:extLst>
          </p:cNvPr>
          <p:cNvSpPr txBox="1"/>
          <p:nvPr/>
        </p:nvSpPr>
        <p:spPr>
          <a:xfrm>
            <a:off x="10045829" y="1504760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，参数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A0D04B-091D-5CAE-ABB6-2B58E8B6E342}"/>
              </a:ext>
            </a:extLst>
          </p:cNvPr>
          <p:cNvSpPr txBox="1"/>
          <p:nvPr/>
        </p:nvSpPr>
        <p:spPr>
          <a:xfrm>
            <a:off x="2000250" y="6335969"/>
            <a:ext cx="16722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② 像素级伪造定位模块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122DD1-D9F6-3FBF-F964-EFBEC281B513}"/>
              </a:ext>
            </a:extLst>
          </p:cNvPr>
          <p:cNvSpPr/>
          <p:nvPr/>
        </p:nvSpPr>
        <p:spPr>
          <a:xfrm>
            <a:off x="2057400" y="4214809"/>
            <a:ext cx="9456420" cy="2384361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249CC3-9739-1F2D-42C1-15B9F7C6F4BC}"/>
              </a:ext>
            </a:extLst>
          </p:cNvPr>
          <p:cNvSpPr/>
          <p:nvPr/>
        </p:nvSpPr>
        <p:spPr>
          <a:xfrm>
            <a:off x="4299109" y="4350974"/>
            <a:ext cx="1956947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VCA</a:t>
            </a:r>
            <a:r>
              <a:rPr lang="zh-CN" altLang="en-US" sz="1200" b="1" dirty="0">
                <a:solidFill>
                  <a:schemeClr val="accent6">
                    <a:lumMod val="50000"/>
                  </a:schemeClr>
                </a:solidFill>
              </a:rPr>
              <a:t>：视觉交叉注意力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7857CCA-DA1A-5CF9-BDAB-EB9FE6B394F1}"/>
              </a:ext>
            </a:extLst>
          </p:cNvPr>
          <p:cNvSpPr txBox="1"/>
          <p:nvPr/>
        </p:nvSpPr>
        <p:spPr>
          <a:xfrm>
            <a:off x="7243486" y="6308166"/>
            <a:ext cx="2193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385723"/>
                </a:solidFill>
              </a:rPr>
              <a:t>TVCA</a:t>
            </a:r>
            <a:r>
              <a:rPr lang="zh-CN" altLang="en-US" sz="1200" b="1" dirty="0">
                <a:solidFill>
                  <a:srgbClr val="385723"/>
                </a:solidFill>
              </a:rPr>
              <a:t>：文本</a:t>
            </a:r>
            <a:r>
              <a:rPr lang="en-US" altLang="zh-CN" sz="1200" b="1" dirty="0">
                <a:solidFill>
                  <a:srgbClr val="385723"/>
                </a:solidFill>
              </a:rPr>
              <a:t>-</a:t>
            </a:r>
            <a:r>
              <a:rPr lang="zh-CN" altLang="en-US" sz="1200" b="1" dirty="0">
                <a:solidFill>
                  <a:srgbClr val="385723"/>
                </a:solidFill>
              </a:rPr>
              <a:t>视觉交叉注意力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FE6CF59-98F5-3D2D-FA58-8FE9D2715B92}"/>
              </a:ext>
            </a:extLst>
          </p:cNvPr>
          <p:cNvGrpSpPr/>
          <p:nvPr/>
        </p:nvGrpSpPr>
        <p:grpSpPr>
          <a:xfrm>
            <a:off x="584995" y="3082780"/>
            <a:ext cx="11149805" cy="3571238"/>
            <a:chOff x="513335" y="3103500"/>
            <a:chExt cx="11149805" cy="3396212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ABEA77C-EA65-CCC1-F56D-768A23BE6E92}"/>
                </a:ext>
              </a:extLst>
            </p:cNvPr>
            <p:cNvSpPr/>
            <p:nvPr/>
          </p:nvSpPr>
          <p:spPr>
            <a:xfrm>
              <a:off x="528861" y="3103500"/>
              <a:ext cx="1418780" cy="13514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3AAA24-16E5-F3F4-7EE1-558856D7FA05}"/>
                </a:ext>
              </a:extLst>
            </p:cNvPr>
            <p:cNvSpPr/>
            <p:nvPr/>
          </p:nvSpPr>
          <p:spPr>
            <a:xfrm>
              <a:off x="513335" y="4131036"/>
              <a:ext cx="11149805" cy="23686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65E7CA9-A330-2880-4E18-F3366555C0D7}"/>
              </a:ext>
            </a:extLst>
          </p:cNvPr>
          <p:cNvSpPr txBox="1"/>
          <p:nvPr/>
        </p:nvSpPr>
        <p:spPr>
          <a:xfrm>
            <a:off x="399206" y="1148108"/>
            <a:ext cx="3899903" cy="761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lang="zh-CN"/>
            </a:defPPr>
            <a:lvl1pPr>
              <a:defRPr sz="21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rPr lang="zh-CN" altLang="en-US" dirty="0">
                <a:solidFill>
                  <a:srgbClr val="FFC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① 图像级真假检测模块</a:t>
            </a:r>
          </a:p>
        </p:txBody>
      </p:sp>
      <p:sp>
        <p:nvSpPr>
          <p:cNvPr id="4" name="动作按钮: 后退或前一项 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DF513284-F158-C946-3236-9AB443A53285}"/>
              </a:ext>
            </a:extLst>
          </p:cNvPr>
          <p:cNvSpPr/>
          <p:nvPr/>
        </p:nvSpPr>
        <p:spPr>
          <a:xfrm>
            <a:off x="39560" y="6517496"/>
            <a:ext cx="250730" cy="285135"/>
          </a:xfrm>
          <a:prstGeom prst="actionButtonBackPrevious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312A9B0-97DB-4D83-29DB-E64C691D784F}"/>
              </a:ext>
            </a:extLst>
          </p:cNvPr>
          <p:cNvGrpSpPr/>
          <p:nvPr/>
        </p:nvGrpSpPr>
        <p:grpSpPr>
          <a:xfrm>
            <a:off x="1828845" y="4424197"/>
            <a:ext cx="2411386" cy="1179507"/>
            <a:chOff x="1828845" y="4424197"/>
            <a:chExt cx="2411386" cy="1179507"/>
          </a:xfrm>
        </p:grpSpPr>
        <p:sp>
          <p:nvSpPr>
            <p:cNvPr id="44" name="对话气泡: 圆角矩形 43">
              <a:extLst>
                <a:ext uri="{FF2B5EF4-FFF2-40B4-BE49-F238E27FC236}">
                  <a16:creationId xmlns:a16="http://schemas.microsoft.com/office/drawing/2014/main" id="{F42710E5-6178-AA06-2D03-768B71F0959C}"/>
                </a:ext>
              </a:extLst>
            </p:cNvPr>
            <p:cNvSpPr/>
            <p:nvPr/>
          </p:nvSpPr>
          <p:spPr>
            <a:xfrm>
              <a:off x="1828845" y="4424197"/>
              <a:ext cx="2411385" cy="1179507"/>
            </a:xfrm>
            <a:prstGeom prst="wedgeRoundRectCallout">
              <a:avLst>
                <a:gd name="adj1" fmla="val -9566"/>
                <a:gd name="adj2" fmla="val -85157"/>
                <a:gd name="adj3" fmla="val 16667"/>
              </a:avLst>
            </a:prstGeom>
            <a:solidFill>
              <a:srgbClr val="FFFFFF"/>
            </a:solidFill>
            <a:ln w="19050">
              <a:solidFill>
                <a:srgbClr val="00B0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1026A04-7DA0-AFB9-09F9-8BAC213A6D05}"/>
                </a:ext>
              </a:extLst>
            </p:cNvPr>
            <p:cNvSpPr txBox="1"/>
            <p:nvPr/>
          </p:nvSpPr>
          <p:spPr>
            <a:xfrm>
              <a:off x="1887724" y="4510478"/>
              <a:ext cx="2352507" cy="10278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rgbClr val="00B0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zh-CN" sz="1400" b="1" dirty="0">
                  <a:solidFill>
                    <a:srgbClr val="00B0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CLIP视觉编码器</a:t>
              </a:r>
              <a:endParaRPr lang="en-US" altLang="zh-CN" sz="1400" b="1" dirty="0">
                <a:solidFill>
                  <a:srgbClr val="00B0E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400" dirty="0"/>
                <a:t>提取不同层级的视觉特征和</a:t>
              </a:r>
              <a:r>
                <a:rPr lang="zh-CN" altLang="zh-CN" sz="1400" b="1" dirty="0"/>
                <a:t>CLS Token</a:t>
              </a:r>
              <a:r>
                <a:rPr lang="zh-CN" altLang="zh-CN" sz="1400" dirty="0"/>
                <a:t>。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A4D69DC-2106-D05F-8F75-A2E983EA4294}"/>
              </a:ext>
            </a:extLst>
          </p:cNvPr>
          <p:cNvGrpSpPr/>
          <p:nvPr/>
        </p:nvGrpSpPr>
        <p:grpSpPr>
          <a:xfrm>
            <a:off x="4697010" y="4510479"/>
            <a:ext cx="2239295" cy="1571759"/>
            <a:chOff x="4697010" y="4510479"/>
            <a:chExt cx="2239295" cy="1571759"/>
          </a:xfrm>
        </p:grpSpPr>
        <p:sp>
          <p:nvSpPr>
            <p:cNvPr id="45" name="对话气泡: 圆角矩形 44">
              <a:extLst>
                <a:ext uri="{FF2B5EF4-FFF2-40B4-BE49-F238E27FC236}">
                  <a16:creationId xmlns:a16="http://schemas.microsoft.com/office/drawing/2014/main" id="{45A9034B-6BF3-EA2B-5759-DA9AEBB101E2}"/>
                </a:ext>
              </a:extLst>
            </p:cNvPr>
            <p:cNvSpPr/>
            <p:nvPr/>
          </p:nvSpPr>
          <p:spPr>
            <a:xfrm>
              <a:off x="4697010" y="4510479"/>
              <a:ext cx="2194245" cy="1571759"/>
            </a:xfrm>
            <a:prstGeom prst="wedgeRoundRectCallout">
              <a:avLst>
                <a:gd name="adj1" fmla="val 1766"/>
                <a:gd name="adj2" fmla="val -73738"/>
                <a:gd name="adj3" fmla="val 16667"/>
              </a:avLst>
            </a:prstGeom>
            <a:solidFill>
              <a:srgbClr val="FFFFFF"/>
            </a:solidFill>
            <a:ln w="19050">
              <a:solidFill>
                <a:srgbClr val="FA01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DDBB7C0-6CAC-6E7C-C757-34EBA575A59A}"/>
                </a:ext>
              </a:extLst>
            </p:cNvPr>
            <p:cNvSpPr txBox="1"/>
            <p:nvPr/>
          </p:nvSpPr>
          <p:spPr>
            <a:xfrm>
              <a:off x="4734046" y="4604383"/>
              <a:ext cx="2202259" cy="1351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rgbClr val="FD000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VSA </a:t>
              </a:r>
              <a:r>
                <a:rPr lang="zh-CN" altLang="en-US" sz="1400" b="1" dirty="0">
                  <a:solidFill>
                    <a:srgbClr val="FD000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视觉自注意力</a:t>
              </a:r>
              <a:endParaRPr lang="en-US" altLang="zh-CN" sz="1400" b="1" dirty="0">
                <a:solidFill>
                  <a:srgbClr val="FD000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/>
                <a:t>拼接不同层的</a:t>
              </a:r>
              <a:r>
                <a:rPr lang="zh-CN" altLang="zh-CN" sz="1400" dirty="0"/>
                <a:t>CLS Token</a:t>
              </a:r>
              <a:r>
                <a:rPr lang="zh-CN" altLang="en-US" sz="1400" dirty="0"/>
                <a:t>，利用自注意力机制融合信息，得到</a:t>
              </a:r>
              <a:r>
                <a:rPr lang="zh-CN" altLang="en-US" sz="1400" b="1" dirty="0"/>
                <a:t>全局图像表示</a:t>
              </a:r>
              <a:r>
                <a:rPr lang="zh-CN" altLang="en-US" sz="1400" dirty="0"/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1F206E1-5D3E-6BBE-19FD-900FAF8A24D6}"/>
              </a:ext>
            </a:extLst>
          </p:cNvPr>
          <p:cNvGrpSpPr/>
          <p:nvPr/>
        </p:nvGrpSpPr>
        <p:grpSpPr>
          <a:xfrm>
            <a:off x="7156593" y="4289730"/>
            <a:ext cx="2008883" cy="1571759"/>
            <a:chOff x="7156593" y="4289730"/>
            <a:chExt cx="2008883" cy="1571759"/>
          </a:xfrm>
        </p:grpSpPr>
        <p:sp>
          <p:nvSpPr>
            <p:cNvPr id="46" name="对话气泡: 圆角矩形 45">
              <a:extLst>
                <a:ext uri="{FF2B5EF4-FFF2-40B4-BE49-F238E27FC236}">
                  <a16:creationId xmlns:a16="http://schemas.microsoft.com/office/drawing/2014/main" id="{59058885-A876-E5F9-E464-85FB3002F50D}"/>
                </a:ext>
              </a:extLst>
            </p:cNvPr>
            <p:cNvSpPr/>
            <p:nvPr/>
          </p:nvSpPr>
          <p:spPr>
            <a:xfrm>
              <a:off x="7156593" y="4289730"/>
              <a:ext cx="2008883" cy="1571759"/>
            </a:xfrm>
            <a:prstGeom prst="wedgeRoundRectCallout">
              <a:avLst>
                <a:gd name="adj1" fmla="val -1981"/>
                <a:gd name="adj2" fmla="val -77582"/>
                <a:gd name="adj3" fmla="val 16667"/>
              </a:avLst>
            </a:prstGeom>
            <a:solidFill>
              <a:srgbClr val="FFFFFF"/>
            </a:solidFill>
            <a:ln w="19050">
              <a:solidFill>
                <a:srgbClr val="00B0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62A7497-6CB2-2B52-7108-22D0DEB2B9A7}"/>
                    </a:ext>
                  </a:extLst>
                </p:cNvPr>
                <p:cNvSpPr txBox="1"/>
                <p:nvPr/>
              </p:nvSpPr>
              <p:spPr>
                <a:xfrm>
                  <a:off x="7250278" y="4410801"/>
                  <a:ext cx="1846860" cy="13510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1400" b="1" dirty="0">
                      <a:solidFill>
                        <a:srgbClr val="00B0EB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4. </a:t>
                  </a:r>
                  <a:r>
                    <a:rPr lang="zh-CN" altLang="zh-CN" sz="1400" b="1" dirty="0">
                      <a:solidFill>
                        <a:srgbClr val="00B0EB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CLIP</a:t>
                  </a:r>
                  <a:r>
                    <a:rPr lang="zh-CN" altLang="en-US" sz="1400" b="1" dirty="0">
                      <a:solidFill>
                        <a:srgbClr val="00B0EB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文本</a:t>
                  </a:r>
                  <a:r>
                    <a:rPr lang="zh-CN" altLang="zh-CN" sz="1400" b="1" dirty="0">
                      <a:solidFill>
                        <a:srgbClr val="00B0EB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编码器</a:t>
                  </a:r>
                  <a:endParaRPr lang="en-US" altLang="zh-CN" sz="1400" b="1" dirty="0">
                    <a:solidFill>
                      <a:srgbClr val="00B0E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/>
                    <a:t>将真假提示编码到</a:t>
                  </a:r>
                  <a:r>
                    <a:rPr lang="en-US" altLang="zh-CN" sz="1400" dirty="0"/>
                    <a:t>CLIP</a:t>
                  </a:r>
                  <a:r>
                    <a:rPr lang="zh-CN" altLang="en-US" sz="1400" dirty="0"/>
                    <a:t>语义空间，得到</a:t>
                  </a:r>
                  <a:r>
                    <a:rPr lang="zh-CN" altLang="en-US" sz="1400" b="1" dirty="0"/>
                    <a:t>文本特征</a:t>
                  </a:r>
                  <a:r>
                    <a:rPr lang="zh-CN" altLang="en-US" sz="14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real</m:t>
                          </m:r>
                        </m:sub>
                      </m:sSub>
                    </m:oMath>
                  </a14:m>
                  <a:r>
                    <a:rPr lang="zh-CN" altLang="en-US" sz="1400" dirty="0"/>
                    <a:t>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1400" b="1" i="0" dirty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400" i="1" dirty="0" smtClean="0">
                              <a:latin typeface="Cambria Math" panose="02040503050406030204" pitchFamily="18" charset="0"/>
                            </a:rPr>
                            <m:t>fake</m:t>
                          </m:r>
                        </m:sub>
                      </m:sSub>
                    </m:oMath>
                  </a14:m>
                  <a:endPara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62A7497-6CB2-2B52-7108-22D0DEB2B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0278" y="4410801"/>
                  <a:ext cx="1846860" cy="1351011"/>
                </a:xfrm>
                <a:prstGeom prst="rect">
                  <a:avLst/>
                </a:prstGeom>
                <a:blipFill>
                  <a:blip r:embed="rId7"/>
                  <a:stretch>
                    <a:fillRect l="-990" b="-40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D5B598D-F91B-9B73-7725-5D39CF145739}"/>
              </a:ext>
            </a:extLst>
          </p:cNvPr>
          <p:cNvGrpSpPr/>
          <p:nvPr/>
        </p:nvGrpSpPr>
        <p:grpSpPr>
          <a:xfrm>
            <a:off x="9426283" y="4417918"/>
            <a:ext cx="2194245" cy="1638074"/>
            <a:chOff x="9426283" y="4417918"/>
            <a:chExt cx="2194245" cy="1638074"/>
          </a:xfrm>
        </p:grpSpPr>
        <p:sp>
          <p:nvSpPr>
            <p:cNvPr id="47" name="对话气泡: 圆角矩形 46">
              <a:extLst>
                <a:ext uri="{FF2B5EF4-FFF2-40B4-BE49-F238E27FC236}">
                  <a16:creationId xmlns:a16="http://schemas.microsoft.com/office/drawing/2014/main" id="{DED5F903-9BA7-AF36-49D1-1B3B30A60DA6}"/>
                </a:ext>
              </a:extLst>
            </p:cNvPr>
            <p:cNvSpPr/>
            <p:nvPr/>
          </p:nvSpPr>
          <p:spPr>
            <a:xfrm>
              <a:off x="9426283" y="4417918"/>
              <a:ext cx="2194245" cy="1638074"/>
            </a:xfrm>
            <a:prstGeom prst="wedgeRoundRectCallout">
              <a:avLst>
                <a:gd name="adj1" fmla="val -16915"/>
                <a:gd name="adj2" fmla="val -67963"/>
                <a:gd name="adj3" fmla="val 16667"/>
              </a:avLst>
            </a:prstGeom>
            <a:solidFill>
              <a:srgbClr val="FFFFFF"/>
            </a:solidFill>
            <a:ln w="19050">
              <a:solidFill>
                <a:srgbClr val="FA01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37C14E9-9332-F424-1355-F6356D482054}"/>
                    </a:ext>
                  </a:extLst>
                </p:cNvPr>
                <p:cNvSpPr txBox="1"/>
                <p:nvPr/>
              </p:nvSpPr>
              <p:spPr>
                <a:xfrm>
                  <a:off x="9511388" y="4548896"/>
                  <a:ext cx="2096117" cy="13510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1400" b="1" dirty="0">
                      <a:solidFill>
                        <a:srgbClr val="FD000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3. </a:t>
                  </a:r>
                  <a:r>
                    <a:rPr lang="zh-CN" altLang="en-US" sz="1400" b="1" dirty="0">
                      <a:solidFill>
                        <a:srgbClr val="FD000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文本提示学习</a:t>
                  </a:r>
                  <a:endParaRPr lang="en-US" altLang="zh-CN" sz="1400" b="1" dirty="0">
                    <a:solidFill>
                      <a:srgbClr val="FD000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/>
                    <a:t>学习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1400" b="1" i="0" dirty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400" i="0" dirty="0" smtClean="0">
                              <a:latin typeface="Cambria Math" panose="02040503050406030204" pitchFamily="18" charset="0"/>
                            </a:rPr>
                            <m:t>real</m:t>
                          </m:r>
                        </m:sub>
                      </m:sSub>
                    </m:oMath>
                  </a14:m>
                  <a:r>
                    <a:rPr lang="zh-CN" altLang="en-US" sz="1400" dirty="0"/>
                    <a:t>和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fake</m:t>
                          </m:r>
                        </m:sub>
                      </m:sSub>
                    </m:oMath>
                  </a14:m>
                  <a:r>
                    <a:rPr lang="zh-CN" altLang="en-US" sz="1400" dirty="0"/>
                    <a:t>两组提示向量，与“</a:t>
                  </a:r>
                  <a:r>
                    <a:rPr lang="en-US" altLang="zh-CN" sz="1400" dirty="0"/>
                    <a:t>an image”</a:t>
                  </a:r>
                  <a:r>
                    <a:rPr lang="zh-CN" altLang="en-US" sz="1400" dirty="0"/>
                    <a:t>组成真假提示。</a:t>
                  </a:r>
                  <a:endPara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37C14E9-9332-F424-1355-F6356D482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388" y="4548896"/>
                  <a:ext cx="2096117" cy="1351011"/>
                </a:xfrm>
                <a:prstGeom prst="rect">
                  <a:avLst/>
                </a:prstGeom>
                <a:blipFill>
                  <a:blip r:embed="rId8"/>
                  <a:stretch>
                    <a:fillRect l="-872"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1F81A33-5CD2-0FDC-C429-29FFBC8E99A6}"/>
                  </a:ext>
                </a:extLst>
              </p:cNvPr>
              <p:cNvSpPr txBox="1"/>
              <p:nvPr/>
            </p:nvSpPr>
            <p:spPr>
              <a:xfrm>
                <a:off x="1221300" y="6222635"/>
                <a:ext cx="982803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/>
                  <a:t>图像表示 </a:t>
                </a:r>
                <a14:m>
                  <m:oMath xmlns:m="http://schemas.openxmlformats.org/officeDocument/2006/math">
                    <m:r>
                      <a:rPr lang="en-US" altLang="zh-CN" sz="1600" b="1" i="0" dirty="0" smtClean="0"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US" altLang="zh-CN" sz="1600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b="1" dirty="0"/>
                  <a:t>分别与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 dirty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1" i="0" dirty="0">
                            <a:latin typeface="Cambria Math" panose="02040503050406030204" pitchFamily="18" charset="0"/>
                          </a:rPr>
                          <m:t>real</m:t>
                        </m:r>
                      </m:sub>
                    </m:sSub>
                  </m:oMath>
                </a14:m>
                <a:r>
                  <a:rPr lang="zh-CN" altLang="en-US" sz="1600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 dirty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1" i="0" dirty="0">
                            <a:latin typeface="Cambria Math" panose="02040503050406030204" pitchFamily="18" charset="0"/>
                          </a:rPr>
                          <m:t>fake</m:t>
                        </m:r>
                      </m:sub>
                    </m:sSub>
                  </m:oMath>
                </a14:m>
                <a:r>
                  <a:rPr lang="zh-CN" altLang="en-US" sz="1600" b="1" dirty="0"/>
                  <a:t>计算余弦相似度，形成两类分类 </a:t>
                </a:r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logits</a:t>
                </a:r>
                <a:r>
                  <a:rPr lang="zh-CN" altLang="en-US" sz="1600" b="1" dirty="0"/>
                  <a:t>；再结合真假标签计算交叉熵损失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b="1" i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b="1" i="0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sz="1600" b="1" i="1" dirty="0"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</m:oMath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1F81A33-5CD2-0FDC-C429-29FFBC8E9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300" y="6222635"/>
                <a:ext cx="9828039" cy="338554"/>
              </a:xfrm>
              <a:prstGeom prst="rect">
                <a:avLst/>
              </a:prstGeom>
              <a:blipFill>
                <a:blip r:embed="rId9"/>
                <a:stretch>
                  <a:fillRect l="-310" t="-7273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A1DBCAE6-8E4C-B668-30D9-F77E89204237}"/>
              </a:ext>
            </a:extLst>
          </p:cNvPr>
          <p:cNvSpPr txBox="1"/>
          <p:nvPr/>
        </p:nvSpPr>
        <p:spPr>
          <a:xfrm>
            <a:off x="856792" y="2689601"/>
            <a:ext cx="461665" cy="29441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zh-CN" b="1" dirty="0">
                <a:solidFill>
                  <a:srgbClr val="172B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判断整张图像是真是假</a:t>
            </a:r>
            <a:endParaRPr lang="zh-CN" altLang="en-US" b="1" dirty="0">
              <a:solidFill>
                <a:srgbClr val="172B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392EA5-05BA-148D-C26A-3E633914EE8F}"/>
              </a:ext>
            </a:extLst>
          </p:cNvPr>
          <p:cNvSpPr txBox="1"/>
          <p:nvPr/>
        </p:nvSpPr>
        <p:spPr>
          <a:xfrm>
            <a:off x="8063213" y="2367338"/>
            <a:ext cx="2367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C63E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文本提示学习模块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3FCF06-21CF-A0F0-0EC7-052D7876C534}"/>
              </a:ext>
            </a:extLst>
          </p:cNvPr>
          <p:cNvSpPr/>
          <p:nvPr/>
        </p:nvSpPr>
        <p:spPr>
          <a:xfrm>
            <a:off x="2057400" y="1929438"/>
            <a:ext cx="9456420" cy="2209175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559051-E4BA-45A2-9B0B-CC43A88A2AEE}"/>
              </a:ext>
            </a:extLst>
          </p:cNvPr>
          <p:cNvSpPr txBox="1"/>
          <p:nvPr/>
        </p:nvSpPr>
        <p:spPr>
          <a:xfrm>
            <a:off x="5253275" y="2055504"/>
            <a:ext cx="1818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highlight>
                  <a:srgbClr val="00FF00"/>
                </a:highlight>
              </a:rPr>
              <a:t>VSA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FF00"/>
                </a:highlight>
              </a:rPr>
              <a:t>：视觉自注意力</a:t>
            </a:r>
          </a:p>
        </p:txBody>
      </p:sp>
    </p:spTree>
    <p:extLst>
      <p:ext uri="{BB962C8B-B14F-4D97-AF65-F5344CB8AC3E}">
        <p14:creationId xmlns:p14="http://schemas.microsoft.com/office/powerpoint/2010/main" val="2283201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A33A8-6EB7-3DB0-BE5C-ADA098D5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F32704-FD3F-263C-006D-E81A83D2FA42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endParaRPr sz="1875" b="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81CB0E0-5B29-7183-D55E-88DA06056B08}"/>
              </a:ext>
            </a:extLst>
          </p:cNvPr>
          <p:cNvSpPr>
            <a:spLocks noGrp="1"/>
          </p:cNvSpPr>
          <p:nvPr/>
        </p:nvSpPr>
        <p:spPr>
          <a:xfrm>
            <a:off x="299831" y="1840721"/>
            <a:ext cx="11473069" cy="4829175"/>
          </a:xfrm>
          <a:prstGeom prst="roundRect">
            <a:avLst>
              <a:gd name="adj" fmla="val 2367"/>
            </a:avLst>
          </a:prstGeom>
          <a:solidFill>
            <a:srgbClr val="F5F8FC"/>
          </a:solidFill>
          <a:ln w="9525">
            <a:solidFill>
              <a:srgbClr val="B9CDE4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F3B1D76-8118-3268-00CA-64BAA4495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11447"/>
            <a:ext cx="11258550" cy="4687724"/>
          </a:xfrm>
          <a:prstGeom prst="roundRect">
            <a:avLst>
              <a:gd name="adj" fmla="val 1616"/>
            </a:avLst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380FA703-B47A-59B0-C33D-AB93B6C18C27}"/>
              </a:ext>
            </a:extLst>
          </p:cNvPr>
          <p:cNvSpPr txBox="1"/>
          <p:nvPr/>
        </p:nvSpPr>
        <p:spPr>
          <a:xfrm>
            <a:off x="262609" y="2860653"/>
            <a:ext cx="1805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defRPr>
            </a:lvl1pPr>
          </a:lstStyle>
          <a:p>
            <a:r>
              <a:rPr lang="zh-CN" altLang="en-US" dirty="0"/>
              <a:t>① </a:t>
            </a:r>
            <a:r>
              <a:rPr lang="en-US" altLang="zh-CN" dirty="0"/>
              <a:t>CLIP </a:t>
            </a:r>
            <a:r>
              <a:rPr lang="zh-CN" altLang="en-US" dirty="0"/>
              <a:t>视觉编码器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F089B6-69A0-C025-11DD-61C622FF7E9C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8B8D37-CB97-1710-B542-D90586F19E14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E1C30F-E7BC-3477-42BC-6ABBF1611FA5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48F1F9-AE56-8497-FEC5-C7ED747BD0B1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9683F3-E807-4AB1-C691-D0ADAC1723E8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1995D4-25C0-31D5-C8D7-8C8A7D81F316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4F2F07-6BAE-30D2-EE03-BCEB9941D4CF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A6C0AB-7F91-D6C6-D11A-D7830597A29A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678200D-22CE-3422-FD2D-3B38E06A3862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635F302E-D506-5EA1-FACB-656AD2C248F9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AFE5AC13-E5E6-F9B9-4C7C-D3BCD2D7E95E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D5F98F1-C235-3A5B-AB39-61783351ECB6}"/>
              </a:ext>
            </a:extLst>
          </p:cNvPr>
          <p:cNvSpPr/>
          <p:nvPr/>
        </p:nvSpPr>
        <p:spPr>
          <a:xfrm>
            <a:off x="2057400" y="2091882"/>
            <a:ext cx="3276395" cy="2048657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8F2984-2D22-1054-AC14-1CE5E925CB37}"/>
              </a:ext>
            </a:extLst>
          </p:cNvPr>
          <p:cNvSpPr/>
          <p:nvPr/>
        </p:nvSpPr>
        <p:spPr>
          <a:xfrm>
            <a:off x="7071360" y="2667000"/>
            <a:ext cx="4343400" cy="1402079"/>
          </a:xfrm>
          <a:prstGeom prst="rect">
            <a:avLst/>
          </a:prstGeom>
          <a:noFill/>
          <a:ln w="28575">
            <a:solidFill>
              <a:srgbClr val="C63E46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B794E4-D335-700D-5273-6BCDF42C204E}"/>
              </a:ext>
            </a:extLst>
          </p:cNvPr>
          <p:cNvSpPr txBox="1"/>
          <p:nvPr/>
        </p:nvSpPr>
        <p:spPr>
          <a:xfrm>
            <a:off x="6936305" y="2659856"/>
            <a:ext cx="16722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C63E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文本提示学习模块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3E8EDB-EEC7-52DF-9A46-AD6DF8EE426A}"/>
              </a:ext>
            </a:extLst>
          </p:cNvPr>
          <p:cNvSpPr txBox="1"/>
          <p:nvPr/>
        </p:nvSpPr>
        <p:spPr>
          <a:xfrm>
            <a:off x="360690" y="5564916"/>
            <a:ext cx="17077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defRPr>
            </a:lvl1pPr>
          </a:lstStyle>
          <a:p>
            <a:r>
              <a:rPr lang="zh-CN" altLang="en-US" dirty="0"/>
              <a:t>② </a:t>
            </a:r>
            <a:r>
              <a:rPr lang="en-US" altLang="zh-CN" dirty="0"/>
              <a:t>MAE</a:t>
            </a:r>
            <a:r>
              <a:rPr lang="zh-CN" altLang="en-US" dirty="0"/>
              <a:t>编码器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A84830-90F2-8836-877A-C13293E3B225}"/>
              </a:ext>
            </a:extLst>
          </p:cNvPr>
          <p:cNvSpPr/>
          <p:nvPr/>
        </p:nvSpPr>
        <p:spPr>
          <a:xfrm>
            <a:off x="2057400" y="4917226"/>
            <a:ext cx="3276395" cy="1483574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4A84CD-0F77-1558-0BB4-229582569C7E}"/>
              </a:ext>
            </a:extLst>
          </p:cNvPr>
          <p:cNvSpPr txBox="1"/>
          <p:nvPr/>
        </p:nvSpPr>
        <p:spPr>
          <a:xfrm>
            <a:off x="5118220" y="2208995"/>
            <a:ext cx="18180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D4276"/>
                </a:solidFill>
              </a:rPr>
              <a:t>VSA</a:t>
            </a:r>
            <a:r>
              <a:rPr lang="zh-CN" altLang="en-US" sz="1200" b="1" dirty="0">
                <a:solidFill>
                  <a:srgbClr val="1D4276"/>
                </a:solidFill>
              </a:rPr>
              <a:t>：视觉自注意力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C55348-EDC1-419E-BFFA-4FB810453FD1}"/>
              </a:ext>
            </a:extLst>
          </p:cNvPr>
          <p:cNvSpPr txBox="1"/>
          <p:nvPr/>
        </p:nvSpPr>
        <p:spPr>
          <a:xfrm>
            <a:off x="7243486" y="6308166"/>
            <a:ext cx="2193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385723"/>
                </a:solidFill>
              </a:rPr>
              <a:t>TVCA</a:t>
            </a:r>
            <a:r>
              <a:rPr lang="zh-CN" altLang="en-US" sz="1200" b="1" dirty="0">
                <a:solidFill>
                  <a:srgbClr val="385723"/>
                </a:solidFill>
              </a:rPr>
              <a:t>：文本</a:t>
            </a:r>
            <a:r>
              <a:rPr lang="en-US" altLang="zh-CN" sz="1200" b="1" dirty="0">
                <a:solidFill>
                  <a:srgbClr val="385723"/>
                </a:solidFill>
              </a:rPr>
              <a:t>-</a:t>
            </a:r>
            <a:r>
              <a:rPr lang="zh-CN" altLang="en-US" sz="1200" b="1" dirty="0">
                <a:solidFill>
                  <a:srgbClr val="385723"/>
                </a:solidFill>
              </a:rPr>
              <a:t>视觉交叉注意力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B9DDD0C-6485-8B18-057E-43A3FDA55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5872" y="1526068"/>
            <a:ext cx="230832" cy="23083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8E264B7-A6DB-8FB2-E470-409D346BC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852" y="1519803"/>
            <a:ext cx="208723" cy="20607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DB83949-8ED8-0198-3BA0-80C238239450}"/>
              </a:ext>
            </a:extLst>
          </p:cNvPr>
          <p:cNvSpPr txBox="1"/>
          <p:nvPr/>
        </p:nvSpPr>
        <p:spPr>
          <a:xfrm>
            <a:off x="8193694" y="1501813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参与训练，参数更新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3B910B6-6F0C-0867-87D3-EDAE3AD3E910}"/>
              </a:ext>
            </a:extLst>
          </p:cNvPr>
          <p:cNvSpPr txBox="1"/>
          <p:nvPr/>
        </p:nvSpPr>
        <p:spPr>
          <a:xfrm>
            <a:off x="10045829" y="1504760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，参数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294112-A1E2-D796-8BAC-91151B7A10AC}"/>
              </a:ext>
            </a:extLst>
          </p:cNvPr>
          <p:cNvSpPr txBox="1"/>
          <p:nvPr/>
        </p:nvSpPr>
        <p:spPr>
          <a:xfrm>
            <a:off x="216116" y="1282268"/>
            <a:ext cx="6105832" cy="42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75" b="1" dirty="0">
                <a:solidFill>
                  <a:srgbClr val="385723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VCA</a:t>
            </a:r>
            <a:r>
              <a:rPr lang="zh-CN" altLang="en-US" sz="2175" b="1" dirty="0">
                <a:solidFill>
                  <a:srgbClr val="385723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：视觉交叉注意力（跨模型协同）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06B878E-4A57-AD98-9DA5-7C95788FA675}"/>
              </a:ext>
            </a:extLst>
          </p:cNvPr>
          <p:cNvGrpSpPr/>
          <p:nvPr/>
        </p:nvGrpSpPr>
        <p:grpSpPr>
          <a:xfrm>
            <a:off x="5375275" y="1894697"/>
            <a:ext cx="6273005" cy="4687723"/>
            <a:chOff x="5353050" y="1894698"/>
            <a:chExt cx="6273005" cy="4687723"/>
          </a:xfrm>
        </p:grpSpPr>
        <p:sp>
          <p:nvSpPr>
            <p:cNvPr id="18" name="这挡块">
              <a:extLst>
                <a:ext uri="{FF2B5EF4-FFF2-40B4-BE49-F238E27FC236}">
                  <a16:creationId xmlns:a16="http://schemas.microsoft.com/office/drawing/2014/main" id="{13AF1E63-784E-2A6B-FBAC-FF96706EDBF8}"/>
                </a:ext>
              </a:extLst>
            </p:cNvPr>
            <p:cNvSpPr/>
            <p:nvPr/>
          </p:nvSpPr>
          <p:spPr>
            <a:xfrm>
              <a:off x="5353050" y="1894698"/>
              <a:ext cx="6273005" cy="4687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这挡块">
              <a:extLst>
                <a:ext uri="{FF2B5EF4-FFF2-40B4-BE49-F238E27FC236}">
                  <a16:creationId xmlns:a16="http://schemas.microsoft.com/office/drawing/2014/main" id="{EFE8E798-319F-152B-B529-3024FAAE6D0A}"/>
                </a:ext>
              </a:extLst>
            </p:cNvPr>
            <p:cNvSpPr/>
            <p:nvPr/>
          </p:nvSpPr>
          <p:spPr>
            <a:xfrm flipV="1">
              <a:off x="5648909" y="2226270"/>
              <a:ext cx="447091" cy="589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动作按钮: 后退或前一项 3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66BD0C6-573B-818C-3A9D-C6BD606EA5C4}"/>
              </a:ext>
            </a:extLst>
          </p:cNvPr>
          <p:cNvSpPr/>
          <p:nvPr/>
        </p:nvSpPr>
        <p:spPr>
          <a:xfrm>
            <a:off x="39560" y="6517496"/>
            <a:ext cx="250730" cy="285135"/>
          </a:xfrm>
          <a:prstGeom prst="actionButtonBackPrevious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887D830C-CF16-ADC9-FF8E-F6C889DE12A4}"/>
                  </a:ext>
                </a:extLst>
              </p:cNvPr>
              <p:cNvSpPr/>
              <p:nvPr/>
            </p:nvSpPr>
            <p:spPr>
              <a:xfrm>
                <a:off x="6299609" y="1966938"/>
                <a:ext cx="4081637" cy="392289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zh-CN" altLang="zh-CN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zh-CN" altLang="zh-CN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zh-CN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𝟏𝟎𝟐𝟒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887D830C-CF16-ADC9-FF8E-F6C889DE1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609" y="1966938"/>
                <a:ext cx="4081637" cy="3922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C000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614EF56-C303-EDF5-E965-0BA1987A6AF9}"/>
                  </a:ext>
                </a:extLst>
              </p:cNvPr>
              <p:cNvSpPr txBox="1"/>
              <p:nvPr/>
            </p:nvSpPr>
            <p:spPr>
              <a:xfrm>
                <a:off x="6967961" y="5665552"/>
                <a:ext cx="2744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zh-CN" b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b="1" dirty="0"/>
                  <a:t> </a:t>
                </a:r>
                <a:r>
                  <a:rPr lang="zh-CN" altLang="en-US" b="1" dirty="0"/>
                  <a:t>卷积 </a:t>
                </a:r>
                <a:r>
                  <a:rPr lang="en-US" altLang="zh-CN" b="1" dirty="0"/>
                  <a:t>+ </a:t>
                </a:r>
                <a:r>
                  <a:rPr lang="zh-CN" altLang="zh-CN" b="1" dirty="0"/>
                  <a:t>LayerNorm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614EF56-C303-EDF5-E965-0BA1987A6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961" y="5665552"/>
                <a:ext cx="2744929" cy="369332"/>
              </a:xfrm>
              <a:prstGeom prst="rect">
                <a:avLst/>
              </a:prstGeom>
              <a:blipFill>
                <a:blip r:embed="rId8"/>
                <a:stretch>
                  <a:fillRect t="-8197" r="-222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4" name="组合 213">
            <a:extLst>
              <a:ext uri="{FF2B5EF4-FFF2-40B4-BE49-F238E27FC236}">
                <a16:creationId xmlns:a16="http://schemas.microsoft.com/office/drawing/2014/main" id="{BD1A72AA-2259-9A05-E3FD-F956B5C3847F}"/>
              </a:ext>
            </a:extLst>
          </p:cNvPr>
          <p:cNvGrpSpPr/>
          <p:nvPr/>
        </p:nvGrpSpPr>
        <p:grpSpPr>
          <a:xfrm>
            <a:off x="5614175" y="2705484"/>
            <a:ext cx="5734506" cy="2119148"/>
            <a:chOff x="5614175" y="2705484"/>
            <a:chExt cx="5734506" cy="2119148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ECE7C652-3F34-A68C-0443-B56AB4D5BE97}"/>
                </a:ext>
              </a:extLst>
            </p:cNvPr>
            <p:cNvSpPr/>
            <p:nvPr/>
          </p:nvSpPr>
          <p:spPr>
            <a:xfrm>
              <a:off x="5614175" y="2705484"/>
              <a:ext cx="5619691" cy="2119148"/>
            </a:xfrm>
            <a:prstGeom prst="rect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chemeClr val="bg1"/>
                </a:solidFill>
              </a:endParaRPr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886C6F38-7DD5-AD76-F7B6-1AC071ED92B3}"/>
                </a:ext>
              </a:extLst>
            </p:cNvPr>
            <p:cNvGrpSpPr/>
            <p:nvPr/>
          </p:nvGrpSpPr>
          <p:grpSpPr>
            <a:xfrm>
              <a:off x="5877509" y="2852187"/>
              <a:ext cx="5471172" cy="1780191"/>
              <a:chOff x="5877509" y="2852187"/>
              <a:chExt cx="5471172" cy="1780191"/>
            </a:xfrm>
          </p:grpSpPr>
          <p:grpSp>
            <p:nvGrpSpPr>
              <p:cNvPr id="201" name="组合 200">
                <a:extLst>
                  <a:ext uri="{FF2B5EF4-FFF2-40B4-BE49-F238E27FC236}">
                    <a16:creationId xmlns:a16="http://schemas.microsoft.com/office/drawing/2014/main" id="{68FF8873-3AA3-6489-4CA7-E383ABD5257E}"/>
                  </a:ext>
                </a:extLst>
              </p:cNvPr>
              <p:cNvGrpSpPr/>
              <p:nvPr/>
            </p:nvGrpSpPr>
            <p:grpSpPr>
              <a:xfrm>
                <a:off x="5877509" y="2852187"/>
                <a:ext cx="5327666" cy="1780191"/>
                <a:chOff x="5648909" y="2854602"/>
                <a:chExt cx="5327666" cy="1780191"/>
              </a:xfrm>
            </p:grpSpPr>
            <p:pic>
              <p:nvPicPr>
                <p:cNvPr id="195" name="图片 194">
                  <a:extLst>
                    <a:ext uri="{FF2B5EF4-FFF2-40B4-BE49-F238E27FC236}">
                      <a16:creationId xmlns:a16="http://schemas.microsoft.com/office/drawing/2014/main" id="{47A74994-ACE0-2E63-3E87-49BD7BA9BF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48909" y="3050774"/>
                  <a:ext cx="1201420" cy="1317347"/>
                </a:xfrm>
                <a:prstGeom prst="rect">
                  <a:avLst/>
                </a:prstGeom>
              </p:spPr>
            </p:pic>
            <p:pic>
              <p:nvPicPr>
                <p:cNvPr id="196" name="图片 195">
                  <a:extLst>
                    <a:ext uri="{FF2B5EF4-FFF2-40B4-BE49-F238E27FC236}">
                      <a16:creationId xmlns:a16="http://schemas.microsoft.com/office/drawing/2014/main" id="{6A008CA6-2558-CB48-7219-FA27F65604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04988" y="2854602"/>
                  <a:ext cx="1640019" cy="1780191"/>
                </a:xfrm>
                <a:prstGeom prst="rect">
                  <a:avLst/>
                </a:prstGeom>
              </p:spPr>
            </p:pic>
            <p:pic>
              <p:nvPicPr>
                <p:cNvPr id="197" name="图片 196">
                  <a:extLst>
                    <a:ext uri="{FF2B5EF4-FFF2-40B4-BE49-F238E27FC236}">
                      <a16:creationId xmlns:a16="http://schemas.microsoft.com/office/drawing/2014/main" id="{0C0F9FA2-4B0F-1C47-C738-BD294E1EB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53377" y="2877091"/>
                  <a:ext cx="1523198" cy="817232"/>
                </a:xfrm>
                <a:prstGeom prst="rect">
                  <a:avLst/>
                </a:prstGeom>
              </p:spPr>
            </p:pic>
            <p:cxnSp>
              <p:nvCxnSpPr>
                <p:cNvPr id="199" name="直接箭头连接符 198">
                  <a:extLst>
                    <a:ext uri="{FF2B5EF4-FFF2-40B4-BE49-F238E27FC236}">
                      <a16:creationId xmlns:a16="http://schemas.microsoft.com/office/drawing/2014/main" id="{DC6CC35B-1700-9290-6C92-5CBC77B551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73641" y="3655914"/>
                  <a:ext cx="590205" cy="495"/>
                </a:xfrm>
                <a:prstGeom prst="straightConnector1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898BF24E-ADB1-CD3B-32E7-59A1A87B4558}"/>
                  </a:ext>
                </a:extLst>
              </p:cNvPr>
              <p:cNvSpPr txBox="1"/>
              <p:nvPr/>
            </p:nvSpPr>
            <p:spPr>
              <a:xfrm>
                <a:off x="9708662" y="3899584"/>
                <a:ext cx="16400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/>
                  <a:t>p</a:t>
                </a:r>
                <a:r>
                  <a:rPr lang="zh-CN" altLang="en-US" sz="1000" b="1" dirty="0"/>
                  <a:t>：</a:t>
                </a:r>
                <a:r>
                  <a:rPr lang="zh-CN" altLang="en-US" sz="1000" dirty="0"/>
                  <a:t>周围四个黑色原始点按距离加权计算得出</a:t>
                </a:r>
              </a:p>
            </p:txBody>
          </p:sp>
        </p:grpSp>
      </p:grpSp>
      <p:sp>
        <p:nvSpPr>
          <p:cNvPr id="207" name="文本框 206">
            <a:extLst>
              <a:ext uri="{FF2B5EF4-FFF2-40B4-BE49-F238E27FC236}">
                <a16:creationId xmlns:a16="http://schemas.microsoft.com/office/drawing/2014/main" id="{2E977A1B-9682-0DBA-953C-F816D7C98F15}"/>
              </a:ext>
            </a:extLst>
          </p:cNvPr>
          <p:cNvSpPr txBox="1"/>
          <p:nvPr/>
        </p:nvSpPr>
        <p:spPr>
          <a:xfrm>
            <a:off x="5648909" y="4523508"/>
            <a:ext cx="1103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双线性插值</a:t>
            </a:r>
          </a:p>
        </p:txBody>
      </p:sp>
      <p:sp>
        <p:nvSpPr>
          <p:cNvPr id="208" name="箭头: 下 207">
            <a:extLst>
              <a:ext uri="{FF2B5EF4-FFF2-40B4-BE49-F238E27FC236}">
                <a16:creationId xmlns:a16="http://schemas.microsoft.com/office/drawing/2014/main" id="{6B2A1029-D1B5-0CD5-1C64-08F1A7CB05F8}"/>
              </a:ext>
            </a:extLst>
          </p:cNvPr>
          <p:cNvSpPr/>
          <p:nvPr/>
        </p:nvSpPr>
        <p:spPr>
          <a:xfrm>
            <a:off x="8130156" y="2404855"/>
            <a:ext cx="288919" cy="245394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B09DF6E0-7108-EA1C-2B1E-294669ABDE6B}"/>
                  </a:ext>
                </a:extLst>
              </p:cNvPr>
              <p:cNvSpPr/>
              <p:nvPr/>
            </p:nvSpPr>
            <p:spPr>
              <a:xfrm>
                <a:off x="6299609" y="6187068"/>
                <a:ext cx="4081637" cy="392289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zh-CN" altLang="zh-CN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𝟕𝟔𝟖</m:t>
                    </m:r>
                  </m:oMath>
                </a14:m>
                <a:endParaRPr lang="en-US" altLang="zh-CN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B09DF6E0-7108-EA1C-2B1E-294669ABD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609" y="6187068"/>
                <a:ext cx="4081637" cy="392289"/>
              </a:xfrm>
              <a:prstGeom prst="rect">
                <a:avLst/>
              </a:prstGeom>
              <a:blipFill>
                <a:blip r:embed="rId12"/>
                <a:stretch>
                  <a:fillRect t="-2899" b="-14493"/>
                </a:stretch>
              </a:blipFill>
              <a:ln w="2857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12A5D796-372D-1BAB-B747-0416BFDFC978}"/>
                  </a:ext>
                </a:extLst>
              </p:cNvPr>
              <p:cNvSpPr/>
              <p:nvPr/>
            </p:nvSpPr>
            <p:spPr>
              <a:xfrm>
                <a:off x="6299608" y="5118419"/>
                <a:ext cx="4081637" cy="39228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zh-CN" altLang="zh-CN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zh-CN" altLang="zh-CN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zh-CN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𝟏𝟎𝟐𝟒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12A5D796-372D-1BAB-B747-0416BFDFC9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608" y="5118419"/>
                <a:ext cx="4081637" cy="39228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箭头: 下 210">
            <a:extLst>
              <a:ext uri="{FF2B5EF4-FFF2-40B4-BE49-F238E27FC236}">
                <a16:creationId xmlns:a16="http://schemas.microsoft.com/office/drawing/2014/main" id="{A69C0568-5D22-646D-72BA-EAB3F068B89C}"/>
              </a:ext>
            </a:extLst>
          </p:cNvPr>
          <p:cNvSpPr/>
          <p:nvPr/>
        </p:nvSpPr>
        <p:spPr>
          <a:xfrm>
            <a:off x="8113115" y="4856274"/>
            <a:ext cx="288919" cy="245394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箭头: 下 211">
            <a:extLst>
              <a:ext uri="{FF2B5EF4-FFF2-40B4-BE49-F238E27FC236}">
                <a16:creationId xmlns:a16="http://schemas.microsoft.com/office/drawing/2014/main" id="{F79E59C5-30BB-2760-795E-C7E5C6E212A3}"/>
              </a:ext>
            </a:extLst>
          </p:cNvPr>
          <p:cNvSpPr/>
          <p:nvPr/>
        </p:nvSpPr>
        <p:spPr>
          <a:xfrm>
            <a:off x="8113114" y="5473411"/>
            <a:ext cx="288919" cy="245394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箭头: 下 212">
            <a:extLst>
              <a:ext uri="{FF2B5EF4-FFF2-40B4-BE49-F238E27FC236}">
                <a16:creationId xmlns:a16="http://schemas.microsoft.com/office/drawing/2014/main" id="{3DEAEA02-1F5D-0178-405F-8F2EDF8238E2}"/>
              </a:ext>
            </a:extLst>
          </p:cNvPr>
          <p:cNvSpPr/>
          <p:nvPr/>
        </p:nvSpPr>
        <p:spPr>
          <a:xfrm>
            <a:off x="8113114" y="6006951"/>
            <a:ext cx="288919" cy="245394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78802759-129C-D275-78E9-E75AF4226414}"/>
              </a:ext>
            </a:extLst>
          </p:cNvPr>
          <p:cNvSpPr txBox="1"/>
          <p:nvPr/>
        </p:nvSpPr>
        <p:spPr>
          <a:xfrm>
            <a:off x="10518792" y="1990563"/>
            <a:ext cx="1170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CLIP</a:t>
            </a:r>
            <a:r>
              <a:rPr lang="zh-CN" altLang="en-US" b="1" dirty="0"/>
              <a:t>尺寸</a:t>
            </a:r>
            <a:endParaRPr lang="zh-CN" altLang="en-US" dirty="0"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18D4CEE9-14E4-E7B2-D7ED-3C29D1D39994}"/>
              </a:ext>
            </a:extLst>
          </p:cNvPr>
          <p:cNvSpPr txBox="1"/>
          <p:nvPr/>
        </p:nvSpPr>
        <p:spPr>
          <a:xfrm>
            <a:off x="10515025" y="6193427"/>
            <a:ext cx="1170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MAE</a:t>
            </a:r>
            <a:r>
              <a:rPr lang="zh-CN" altLang="en-US" b="1" dirty="0"/>
              <a:t>尺寸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450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0.0004 -0.6152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40" grpId="0"/>
      <p:bldP spid="40" grpId="1"/>
      <p:bldP spid="207" grpId="0"/>
      <p:bldP spid="207" grpId="1"/>
      <p:bldP spid="208" grpId="0" animBg="1"/>
      <p:bldP spid="208" grpId="1" animBg="1"/>
      <p:bldP spid="209" grpId="0" animBg="1"/>
      <p:bldP spid="210" grpId="0" animBg="1"/>
      <p:bldP spid="210" grpId="1" animBg="1"/>
      <p:bldP spid="211" grpId="0" animBg="1"/>
      <p:bldP spid="211" grpId="1" animBg="1"/>
      <p:bldP spid="212" grpId="0" animBg="1"/>
      <p:bldP spid="212" grpId="1" animBg="1"/>
      <p:bldP spid="213" grpId="0" animBg="1"/>
      <p:bldP spid="213" grpId="1" animBg="1"/>
      <p:bldP spid="216" grpId="0"/>
      <p:bldP spid="2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D7137-0400-9FEE-5B48-71AE6098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35268B-C097-9886-19D2-E017E86BD36A}"/>
              </a:ext>
            </a:extLst>
          </p:cNvPr>
          <p:cNvSpPr>
            <a:spLocks noGrp="1"/>
          </p:cNvSpPr>
          <p:nvPr/>
        </p:nvSpPr>
        <p:spPr>
          <a:xfrm>
            <a:off x="299831" y="1840721"/>
            <a:ext cx="11473069" cy="4829175"/>
          </a:xfrm>
          <a:prstGeom prst="roundRect">
            <a:avLst>
              <a:gd name="adj" fmla="val 2367"/>
            </a:avLst>
          </a:prstGeom>
          <a:solidFill>
            <a:srgbClr val="F5F8FC"/>
          </a:solidFill>
          <a:ln w="9525">
            <a:solidFill>
              <a:srgbClr val="B9CDE4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19EE51-DF1A-7F76-F4A5-B95084DC2D64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endParaRPr sz="1875" b="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F27F1D0-8AB3-3307-187D-29C25626E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11447"/>
            <a:ext cx="11258550" cy="4687724"/>
          </a:xfrm>
          <a:prstGeom prst="roundRect">
            <a:avLst>
              <a:gd name="adj" fmla="val 1616"/>
            </a:avLst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4ECCB7F-1131-EDF0-93DB-8836DFCA28C7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0F4A9D-DCA4-BB9A-5A55-84362502D546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B66548-F77B-3F81-202A-FE702CEA712E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7983CF-E221-BC63-D5B7-94B2917D29D1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273BFA-95C7-6747-26D9-BC62F34ABBB7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FE8BF0-44DE-CAE1-BED8-BC0AD10B07ED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16CDBC-0795-6FE8-8A45-460538C67FCC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5DBD47-4683-64F3-9194-A4CAA1B79140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1BAA021-97FC-546B-2F60-C0BFFEA1646E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44D8B02-6E95-0404-F919-FD6287512697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D5AEC344-CA0F-A499-F784-ADFB80D32532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E1A11170-74C2-3936-DF81-C6A3FD3C1EF7}"/>
              </a:ext>
            </a:extLst>
          </p:cNvPr>
          <p:cNvSpPr/>
          <p:nvPr/>
        </p:nvSpPr>
        <p:spPr>
          <a:xfrm>
            <a:off x="7071360" y="2667000"/>
            <a:ext cx="4343400" cy="1402079"/>
          </a:xfrm>
          <a:prstGeom prst="rect">
            <a:avLst/>
          </a:prstGeom>
          <a:noFill/>
          <a:ln w="28575">
            <a:solidFill>
              <a:srgbClr val="C63E46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6B1545-183B-6247-CB38-4A573F7E8967}"/>
              </a:ext>
            </a:extLst>
          </p:cNvPr>
          <p:cNvSpPr txBox="1"/>
          <p:nvPr/>
        </p:nvSpPr>
        <p:spPr>
          <a:xfrm>
            <a:off x="6936305" y="2659856"/>
            <a:ext cx="16722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C63E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文本提示学习模块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FC0DBD-CA74-C98C-713E-8EB01B90CD06}"/>
              </a:ext>
            </a:extLst>
          </p:cNvPr>
          <p:cNvSpPr txBox="1"/>
          <p:nvPr/>
        </p:nvSpPr>
        <p:spPr>
          <a:xfrm>
            <a:off x="5118220" y="2208995"/>
            <a:ext cx="18180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D4276"/>
                </a:solidFill>
              </a:rPr>
              <a:t>VSA</a:t>
            </a:r>
            <a:r>
              <a:rPr lang="zh-CN" altLang="en-US" sz="1200" b="1" dirty="0">
                <a:solidFill>
                  <a:srgbClr val="1D4276"/>
                </a:solidFill>
              </a:rPr>
              <a:t>：视觉自注意力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D22703-1000-A30F-0A34-E4C9BAE097C2}"/>
              </a:ext>
            </a:extLst>
          </p:cNvPr>
          <p:cNvSpPr txBox="1"/>
          <p:nvPr/>
        </p:nvSpPr>
        <p:spPr>
          <a:xfrm>
            <a:off x="7243486" y="6308166"/>
            <a:ext cx="2193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385723"/>
                </a:solidFill>
              </a:rPr>
              <a:t>TVCA</a:t>
            </a:r>
            <a:r>
              <a:rPr lang="zh-CN" altLang="en-US" sz="1200" b="1" dirty="0">
                <a:solidFill>
                  <a:srgbClr val="385723"/>
                </a:solidFill>
              </a:rPr>
              <a:t>：文本</a:t>
            </a:r>
            <a:r>
              <a:rPr lang="en-US" altLang="zh-CN" sz="1200" b="1" dirty="0">
                <a:solidFill>
                  <a:srgbClr val="385723"/>
                </a:solidFill>
              </a:rPr>
              <a:t>-</a:t>
            </a:r>
            <a:r>
              <a:rPr lang="zh-CN" altLang="en-US" sz="1200" b="1" dirty="0">
                <a:solidFill>
                  <a:srgbClr val="385723"/>
                </a:solidFill>
              </a:rPr>
              <a:t>视觉交叉注意力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6D03507-0FA2-E1D4-7CD9-51E4D1C84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5872" y="1526068"/>
            <a:ext cx="230832" cy="23083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8737CBD-B301-D71E-69E7-9B7849503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852" y="1519803"/>
            <a:ext cx="208723" cy="20607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D906356-498B-2665-0A09-E99376EF5ACC}"/>
              </a:ext>
            </a:extLst>
          </p:cNvPr>
          <p:cNvSpPr txBox="1"/>
          <p:nvPr/>
        </p:nvSpPr>
        <p:spPr>
          <a:xfrm>
            <a:off x="8193694" y="1501813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参与训练，参数更新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C9B07EC-A03E-C398-6B42-612D75D437D8}"/>
              </a:ext>
            </a:extLst>
          </p:cNvPr>
          <p:cNvSpPr txBox="1"/>
          <p:nvPr/>
        </p:nvSpPr>
        <p:spPr>
          <a:xfrm>
            <a:off x="10045829" y="1504760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，参数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80E8308-313E-7FC7-E4FE-31A0E0FA2EF2}"/>
              </a:ext>
            </a:extLst>
          </p:cNvPr>
          <p:cNvSpPr txBox="1"/>
          <p:nvPr/>
        </p:nvSpPr>
        <p:spPr>
          <a:xfrm>
            <a:off x="216116" y="1282268"/>
            <a:ext cx="6105832" cy="42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75" b="1" dirty="0">
                <a:solidFill>
                  <a:srgbClr val="385723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VCA</a:t>
            </a:r>
            <a:r>
              <a:rPr lang="zh-CN" altLang="en-US" sz="2175" b="1" dirty="0">
                <a:solidFill>
                  <a:srgbClr val="385723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：视觉交叉注意力（跨模型协同）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BBB2ECA-BADD-6DC1-1E00-B9F79439CC75}"/>
              </a:ext>
            </a:extLst>
          </p:cNvPr>
          <p:cNvGrpSpPr/>
          <p:nvPr/>
        </p:nvGrpSpPr>
        <p:grpSpPr>
          <a:xfrm>
            <a:off x="5353050" y="1898736"/>
            <a:ext cx="6273005" cy="4687723"/>
            <a:chOff x="5353050" y="1894698"/>
            <a:chExt cx="6273005" cy="4687723"/>
          </a:xfrm>
        </p:grpSpPr>
        <p:sp>
          <p:nvSpPr>
            <p:cNvPr id="18" name="这挡块">
              <a:extLst>
                <a:ext uri="{FF2B5EF4-FFF2-40B4-BE49-F238E27FC236}">
                  <a16:creationId xmlns:a16="http://schemas.microsoft.com/office/drawing/2014/main" id="{41402989-D5A5-615E-418A-CACC75D2FACE}"/>
                </a:ext>
              </a:extLst>
            </p:cNvPr>
            <p:cNvSpPr/>
            <p:nvPr/>
          </p:nvSpPr>
          <p:spPr>
            <a:xfrm>
              <a:off x="5353050" y="1894698"/>
              <a:ext cx="6273005" cy="4687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这挡块">
              <a:extLst>
                <a:ext uri="{FF2B5EF4-FFF2-40B4-BE49-F238E27FC236}">
                  <a16:creationId xmlns:a16="http://schemas.microsoft.com/office/drawing/2014/main" id="{4980F615-EF57-53D3-A228-54A91B8282C4}"/>
                </a:ext>
              </a:extLst>
            </p:cNvPr>
            <p:cNvSpPr/>
            <p:nvPr/>
          </p:nvSpPr>
          <p:spPr>
            <a:xfrm flipV="1">
              <a:off x="5648909" y="2226270"/>
              <a:ext cx="447091" cy="589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" name="动作按钮: 后退或前一项 3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B559275-7C4D-4757-5F45-4DFC7C5C8927}"/>
              </a:ext>
            </a:extLst>
          </p:cNvPr>
          <p:cNvSpPr/>
          <p:nvPr/>
        </p:nvSpPr>
        <p:spPr>
          <a:xfrm>
            <a:off x="39560" y="6517496"/>
            <a:ext cx="250730" cy="285135"/>
          </a:xfrm>
          <a:prstGeom prst="actionButtonBackPrevious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F5EFB00-6CB1-9ECB-E674-FE97A6F96656}"/>
                  </a:ext>
                </a:extLst>
              </p:cNvPr>
              <p:cNvSpPr/>
              <p:nvPr/>
            </p:nvSpPr>
            <p:spPr>
              <a:xfrm>
                <a:off x="8618169" y="1971470"/>
                <a:ext cx="2855319" cy="392289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zh-CN" altLang="zh-CN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𝟕𝟔𝟖</m:t>
                    </m:r>
                  </m:oMath>
                </a14:m>
                <a:endParaRPr lang="en-US" altLang="zh-CN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F5EFB00-6CB1-9ECB-E674-FE97A6F966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169" y="1971470"/>
                <a:ext cx="2855319" cy="392289"/>
              </a:xfrm>
              <a:prstGeom prst="rect">
                <a:avLst/>
              </a:prstGeom>
              <a:blipFill>
                <a:blip r:embed="rId7"/>
                <a:stretch>
                  <a:fillRect t="-2857" b="-14286"/>
                </a:stretch>
              </a:blipFill>
              <a:ln w="2857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7ECD0FB-4F57-34F2-1211-AD4563F40501}"/>
                  </a:ext>
                </a:extLst>
              </p:cNvPr>
              <p:cNvSpPr/>
              <p:nvPr/>
            </p:nvSpPr>
            <p:spPr>
              <a:xfrm>
                <a:off x="5575002" y="1970871"/>
                <a:ext cx="2855319" cy="392289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zh-CN" altLang="zh-CN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𝟕𝟔𝟖</m:t>
                    </m:r>
                  </m:oMath>
                </a14:m>
                <a:endParaRPr lang="en-US" altLang="zh-CN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7ECD0FB-4F57-34F2-1211-AD4563F40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02" y="1970871"/>
                <a:ext cx="2855319" cy="392289"/>
              </a:xfrm>
              <a:prstGeom prst="rect">
                <a:avLst/>
              </a:prstGeom>
              <a:blipFill>
                <a:blip r:embed="rId8"/>
                <a:stretch>
                  <a:fillRect t="-2857" b="-12857"/>
                </a:stretch>
              </a:blipFill>
              <a:ln w="28575">
                <a:solidFill>
                  <a:srgbClr val="FFC000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81B23B5B-0D42-01F8-F5A3-7A524303A374}"/>
              </a:ext>
            </a:extLst>
          </p:cNvPr>
          <p:cNvSpPr txBox="1"/>
          <p:nvPr/>
        </p:nvSpPr>
        <p:spPr>
          <a:xfrm>
            <a:off x="5514994" y="1915328"/>
            <a:ext cx="5408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CLIP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533F80F-34A3-F9A0-825B-95EA3530BA99}"/>
              </a:ext>
            </a:extLst>
          </p:cNvPr>
          <p:cNvSpPr txBox="1"/>
          <p:nvPr/>
        </p:nvSpPr>
        <p:spPr>
          <a:xfrm>
            <a:off x="8568939" y="1916650"/>
            <a:ext cx="616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MAE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11883EE7-D921-E03F-DC0D-1BA3E85D1CC7}"/>
              </a:ext>
            </a:extLst>
          </p:cNvPr>
          <p:cNvGrpSpPr/>
          <p:nvPr/>
        </p:nvGrpSpPr>
        <p:grpSpPr>
          <a:xfrm>
            <a:off x="5575002" y="2363160"/>
            <a:ext cx="5898486" cy="1041327"/>
            <a:chOff x="5575002" y="2363160"/>
            <a:chExt cx="5898486" cy="10413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D265589D-8540-684A-BAFF-13BCA3E5D0E0}"/>
                    </a:ext>
                  </a:extLst>
                </p:cNvPr>
                <p:cNvSpPr/>
                <p:nvPr/>
              </p:nvSpPr>
              <p:spPr>
                <a:xfrm>
                  <a:off x="8618169" y="3012198"/>
                  <a:ext cx="2855319" cy="392289"/>
                </a:xfrm>
                <a:prstGeom prst="rect">
                  <a:avLst/>
                </a:prstGeom>
                <a:solidFill>
                  <a:srgbClr val="00B050"/>
                </a:solidFill>
                <a:ln w="28575">
                  <a:solidFill>
                    <a:srgbClr val="00B05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altLang="zh-CN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𝟎𝟐𝟒</m:t>
                      </m:r>
                      <m:r>
                        <a:rPr lang="zh-CN" altLang="zh-CN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𝟕𝟔𝟖</m:t>
                      </m:r>
                    </m:oMath>
                  </a14:m>
                  <a:endParaRPr lang="en-US" altLang="zh-CN" b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D265589D-8540-684A-BAFF-13BCA3E5D0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8169" y="3012198"/>
                  <a:ext cx="2855319" cy="392289"/>
                </a:xfrm>
                <a:prstGeom prst="rect">
                  <a:avLst/>
                </a:prstGeom>
                <a:blipFill>
                  <a:blip r:embed="rId9"/>
                  <a:stretch>
                    <a:fillRect t="-2899" b="-14493"/>
                  </a:stretch>
                </a:blipFill>
                <a:ln w="28575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A2F4C5D2-E6A8-45D4-C974-29BF7908B3A1}"/>
                    </a:ext>
                  </a:extLst>
                </p:cNvPr>
                <p:cNvSpPr/>
                <p:nvPr/>
              </p:nvSpPr>
              <p:spPr>
                <a:xfrm>
                  <a:off x="5575002" y="3011599"/>
                  <a:ext cx="2855319" cy="392289"/>
                </a:xfrm>
                <a:prstGeom prst="rect">
                  <a:avLst/>
                </a:prstGeom>
                <a:solidFill>
                  <a:srgbClr val="FFC000"/>
                </a:solidFill>
                <a:ln w="28575">
                  <a:solidFill>
                    <a:srgbClr val="FFC00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𝟎𝟐𝟒</m:t>
                      </m:r>
                      <m:r>
                        <a:rPr lang="zh-CN" altLang="zh-CN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𝟕𝟔𝟖</m:t>
                      </m:r>
                    </m:oMath>
                  </a14:m>
                  <a:endParaRPr lang="en-US" altLang="zh-CN" b="1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A2F4C5D2-E6A8-45D4-C974-29BF7908B3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5002" y="3011599"/>
                  <a:ext cx="2855319" cy="392289"/>
                </a:xfrm>
                <a:prstGeom prst="rect">
                  <a:avLst/>
                </a:prstGeom>
                <a:blipFill>
                  <a:blip r:embed="rId10"/>
                  <a:stretch>
                    <a:fillRect t="-2899" b="-14493"/>
                  </a:stretch>
                </a:blipFill>
                <a:ln w="28575">
                  <a:solidFill>
                    <a:srgbClr val="FFC00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AC1FDA4-B24F-E162-22A5-8925C2E85F4F}"/>
                </a:ext>
              </a:extLst>
            </p:cNvPr>
            <p:cNvSpPr txBox="1"/>
            <p:nvPr/>
          </p:nvSpPr>
          <p:spPr>
            <a:xfrm>
              <a:off x="8154457" y="2494573"/>
              <a:ext cx="7701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展平</a:t>
              </a:r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B0E39A57-0139-0505-F567-CC27AACA59F4}"/>
                </a:ext>
              </a:extLst>
            </p:cNvPr>
            <p:cNvCxnSpPr>
              <a:cxnSpLocks/>
              <a:stCxn id="17" idx="2"/>
              <a:endCxn id="39" idx="0"/>
            </p:cNvCxnSpPr>
            <p:nvPr/>
          </p:nvCxnSpPr>
          <p:spPr>
            <a:xfrm>
              <a:off x="7002662" y="2363160"/>
              <a:ext cx="0" cy="6484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15FBA8F4-67F9-BC22-BFD6-6F15018AFF58}"/>
                </a:ext>
              </a:extLst>
            </p:cNvPr>
            <p:cNvCxnSpPr>
              <a:cxnSpLocks/>
              <a:stCxn id="4" idx="2"/>
              <a:endCxn id="38" idx="0"/>
            </p:cNvCxnSpPr>
            <p:nvPr/>
          </p:nvCxnSpPr>
          <p:spPr>
            <a:xfrm>
              <a:off x="10045829" y="2363759"/>
              <a:ext cx="0" cy="6484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A282ABF-1480-9977-8820-E67DAEB7499D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7002662" y="3403888"/>
            <a:ext cx="617580" cy="47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76F967E-6AB5-4769-F420-5C62FA45C9F3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9392173" y="3404487"/>
            <a:ext cx="653656" cy="4537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7F7689E-BA33-DFE0-19CD-A3F03AB9F017}"/>
              </a:ext>
            </a:extLst>
          </p:cNvPr>
          <p:cNvSpPr txBox="1"/>
          <p:nvPr/>
        </p:nvSpPr>
        <p:spPr>
          <a:xfrm>
            <a:off x="7636898" y="3802543"/>
            <a:ext cx="403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ED14700-7F72-4FF5-2DDB-2B0B34816529}"/>
              </a:ext>
            </a:extLst>
          </p:cNvPr>
          <p:cNvSpPr txBox="1"/>
          <p:nvPr/>
        </p:nvSpPr>
        <p:spPr>
          <a:xfrm>
            <a:off x="8728647" y="3802543"/>
            <a:ext cx="659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 V</a:t>
            </a:r>
            <a:endParaRPr lang="zh-CN" alt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FEC2EB6A-BF69-7C47-8113-375606DA00F1}"/>
              </a:ext>
            </a:extLst>
          </p:cNvPr>
          <p:cNvSpPr/>
          <p:nvPr/>
        </p:nvSpPr>
        <p:spPr>
          <a:xfrm>
            <a:off x="7603587" y="3817799"/>
            <a:ext cx="1805242" cy="369332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4D5ED341-4533-F657-6472-5D98C64545BC}"/>
                  </a:ext>
                </a:extLst>
              </p:cNvPr>
              <p:cNvSpPr txBox="1"/>
              <p:nvPr/>
            </p:nvSpPr>
            <p:spPr>
              <a:xfrm>
                <a:off x="9462884" y="3815285"/>
                <a:ext cx="18666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1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𝟎𝟐𝟒</m:t>
                    </m:r>
                    <m:r>
                      <a:rPr lang="zh-CN" altLang="zh-CN" sz="1800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𝟗𝟔</m:t>
                    </m:r>
                    <m:r>
                      <a:rPr lang="zh-CN" altLang="zh-CN" b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en-US" altLang="zh-CN" sz="18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4D5ED341-4533-F657-6472-5D98C6454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884" y="3815285"/>
                <a:ext cx="1866651" cy="369332"/>
              </a:xfrm>
              <a:prstGeom prst="rect">
                <a:avLst/>
              </a:prstGeom>
              <a:blipFill>
                <a:blip r:embed="rId11"/>
                <a:stretch>
                  <a:fillRect l="-2606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文本框 223">
            <a:extLst>
              <a:ext uri="{FF2B5EF4-FFF2-40B4-BE49-F238E27FC236}">
                <a16:creationId xmlns:a16="http://schemas.microsoft.com/office/drawing/2014/main" id="{ABF8D555-7878-922B-D9AD-864B288A18C2}"/>
              </a:ext>
            </a:extLst>
          </p:cNvPr>
          <p:cNvSpPr txBox="1"/>
          <p:nvPr/>
        </p:nvSpPr>
        <p:spPr>
          <a:xfrm>
            <a:off x="9941056" y="4137633"/>
            <a:ext cx="9840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个注意力头</a:t>
            </a:r>
          </a:p>
        </p:txBody>
      </p: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8501D806-F943-414A-F91D-7035CD705BED}"/>
              </a:ext>
            </a:extLst>
          </p:cNvPr>
          <p:cNvGrpSpPr/>
          <p:nvPr/>
        </p:nvGrpSpPr>
        <p:grpSpPr>
          <a:xfrm>
            <a:off x="5428972" y="4231608"/>
            <a:ext cx="6225658" cy="948344"/>
            <a:chOff x="5428972" y="4231608"/>
            <a:chExt cx="6225658" cy="948344"/>
          </a:xfrm>
        </p:grpSpPr>
        <p:pic>
          <p:nvPicPr>
            <p:cNvPr id="198" name="图片 197">
              <a:extLst>
                <a:ext uri="{FF2B5EF4-FFF2-40B4-BE49-F238E27FC236}">
                  <a16:creationId xmlns:a16="http://schemas.microsoft.com/office/drawing/2014/main" id="{FBA8ACCE-C25C-C3D7-F1B8-D8B5C05E6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28972" y="4726613"/>
              <a:ext cx="2089300" cy="453339"/>
            </a:xfrm>
            <a:prstGeom prst="rect">
              <a:avLst/>
            </a:prstGeom>
          </p:spPr>
        </p:pic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F8DF6DE9-F455-3A4A-D4F9-C5A61845EF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551" y="4231608"/>
              <a:ext cx="1" cy="5216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42058C26-2FD1-6E5F-1267-3AFBC82CEC02}"/>
                    </a:ext>
                  </a:extLst>
                </p:cNvPr>
                <p:cNvSpPr txBox="1"/>
                <p:nvPr/>
              </p:nvSpPr>
              <p:spPr>
                <a:xfrm>
                  <a:off x="7772320" y="4768616"/>
                  <a:ext cx="15049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800" b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n-US" altLang="zh-CN" sz="18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𝟎𝟐𝟒</m:t>
                      </m:r>
                      <m:r>
                        <a:rPr lang="zh-CN" altLang="zh-CN" sz="18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𝟕𝟔𝟖</m:t>
                      </m:r>
                    </m:oMath>
                  </a14:m>
                  <a:endParaRPr lang="en-US" altLang="zh-CN" sz="1800" b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42058C26-2FD1-6E5F-1267-3AFBC82CEC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2320" y="4768616"/>
                  <a:ext cx="1504904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3644" t="-9836" b="-229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68774A45-E609-890F-0753-9A8B6CA65B47}"/>
                </a:ext>
              </a:extLst>
            </p:cNvPr>
            <p:cNvSpPr txBox="1"/>
            <p:nvPr/>
          </p:nvSpPr>
          <p:spPr>
            <a:xfrm>
              <a:off x="9460747" y="4837023"/>
              <a:ext cx="219388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注意力计算后，拼接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个注意力头</a:t>
              </a:r>
            </a:p>
          </p:txBody>
        </p:sp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869CAB18-ABDF-1C2F-C24E-158B46750F53}"/>
              </a:ext>
            </a:extLst>
          </p:cNvPr>
          <p:cNvGrpSpPr/>
          <p:nvPr/>
        </p:nvGrpSpPr>
        <p:grpSpPr>
          <a:xfrm>
            <a:off x="5683359" y="5205859"/>
            <a:ext cx="5971271" cy="993639"/>
            <a:chOff x="5683359" y="5205859"/>
            <a:chExt cx="5971271" cy="993639"/>
          </a:xfrm>
        </p:grpSpPr>
        <p:pic>
          <p:nvPicPr>
            <p:cNvPr id="202" name="图片 201">
              <a:extLst>
                <a:ext uri="{FF2B5EF4-FFF2-40B4-BE49-F238E27FC236}">
                  <a16:creationId xmlns:a16="http://schemas.microsoft.com/office/drawing/2014/main" id="{406EE58D-379D-1F5C-AA2D-0A5E6B2E6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683359" y="5893904"/>
              <a:ext cx="1580525" cy="276999"/>
            </a:xfrm>
            <a:prstGeom prst="rect">
              <a:avLst/>
            </a:prstGeom>
          </p:spPr>
        </p:pic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FDB7C934-8F2B-C8EC-6A8B-3B39B06AAA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6207" y="5205859"/>
              <a:ext cx="1" cy="5216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258A7628-C81E-5BD8-7826-03FA0E76E690}"/>
                    </a:ext>
                  </a:extLst>
                </p:cNvPr>
                <p:cNvSpPr txBox="1"/>
                <p:nvPr/>
              </p:nvSpPr>
              <p:spPr>
                <a:xfrm>
                  <a:off x="7690104" y="5830166"/>
                  <a:ext cx="170952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800" b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en-US" altLang="zh-CN" sz="18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CN" altLang="zh-CN" sz="18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zh-CN" altLang="zh-CN" b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𝟕𝟔𝟖</m:t>
                      </m:r>
                    </m:oMath>
                  </a14:m>
                  <a:endParaRPr lang="en-US" altLang="zh-CN" sz="1800" b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258A7628-C81E-5BD8-7826-03FA0E76E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0104" y="5830166"/>
                  <a:ext cx="1709523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3214" t="-9836" b="-229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5126D7FD-CD6A-1A9E-FDCE-57113CC1FD0F}"/>
                </a:ext>
              </a:extLst>
            </p:cNvPr>
            <p:cNvSpPr txBox="1"/>
            <p:nvPr/>
          </p:nvSpPr>
          <p:spPr>
            <a:xfrm>
              <a:off x="9460747" y="5893904"/>
              <a:ext cx="219388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恢复空间结构后，进行残差注入</a:t>
              </a: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EA0887BA-4DB9-94C2-FB44-A107DDB472B7}"/>
              </a:ext>
            </a:extLst>
          </p:cNvPr>
          <p:cNvSpPr txBox="1"/>
          <p:nvPr/>
        </p:nvSpPr>
        <p:spPr>
          <a:xfrm>
            <a:off x="262609" y="2860653"/>
            <a:ext cx="1805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defRPr>
            </a:lvl1pPr>
          </a:lstStyle>
          <a:p>
            <a:r>
              <a:rPr lang="zh-CN" altLang="en-US" dirty="0"/>
              <a:t>① </a:t>
            </a:r>
            <a:r>
              <a:rPr lang="en-US" altLang="zh-CN" dirty="0"/>
              <a:t>CLIP </a:t>
            </a:r>
            <a:r>
              <a:rPr lang="zh-CN" altLang="en-US" dirty="0"/>
              <a:t>视觉编码器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B4EC0CF-DA47-DA5C-49F5-78930EF035A1}"/>
              </a:ext>
            </a:extLst>
          </p:cNvPr>
          <p:cNvSpPr txBox="1"/>
          <p:nvPr/>
        </p:nvSpPr>
        <p:spPr>
          <a:xfrm>
            <a:off x="360690" y="5564916"/>
            <a:ext cx="17077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defRPr>
            </a:lvl1pPr>
          </a:lstStyle>
          <a:p>
            <a:r>
              <a:rPr lang="zh-CN" altLang="en-US" dirty="0"/>
              <a:t>② </a:t>
            </a:r>
            <a:r>
              <a:rPr lang="en-US" altLang="zh-CN" dirty="0"/>
              <a:t>MAE</a:t>
            </a:r>
            <a:r>
              <a:rPr lang="zh-CN" altLang="en-US" dirty="0"/>
              <a:t>编码器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48E4F35-80FC-24FD-0B94-85BA50A72B76}"/>
              </a:ext>
            </a:extLst>
          </p:cNvPr>
          <p:cNvSpPr/>
          <p:nvPr/>
        </p:nvSpPr>
        <p:spPr>
          <a:xfrm>
            <a:off x="2057400" y="2091882"/>
            <a:ext cx="3276395" cy="2048657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A13492C-AC0F-81E6-3614-73BCFB8FAC85}"/>
              </a:ext>
            </a:extLst>
          </p:cNvPr>
          <p:cNvSpPr/>
          <p:nvPr/>
        </p:nvSpPr>
        <p:spPr>
          <a:xfrm>
            <a:off x="2057400" y="4917226"/>
            <a:ext cx="3276395" cy="1483574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858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  <p:bldP spid="56" grpId="0"/>
      <p:bldP spid="63" grpId="0"/>
      <p:bldP spid="194" grpId="0" animBg="1"/>
      <p:bldP spid="223" grpId="0"/>
      <p:bldP spid="2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40273-AB43-C896-E49A-674A9E08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0B8044-98F3-47C0-86EE-CD8492CD4293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endParaRPr sz="1875" b="0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E2C4849-F262-1F27-8ACC-98B3D2563CB6}"/>
              </a:ext>
            </a:extLst>
          </p:cNvPr>
          <p:cNvSpPr>
            <a:spLocks noGrp="1"/>
          </p:cNvSpPr>
          <p:nvPr/>
        </p:nvSpPr>
        <p:spPr>
          <a:xfrm>
            <a:off x="400050" y="1840721"/>
            <a:ext cx="11372850" cy="4829175"/>
          </a:xfrm>
          <a:prstGeom prst="roundRect">
            <a:avLst>
              <a:gd name="adj" fmla="val 2367"/>
            </a:avLst>
          </a:prstGeom>
          <a:solidFill>
            <a:srgbClr val="F5F8FC"/>
          </a:solidFill>
          <a:ln w="9525">
            <a:solidFill>
              <a:srgbClr val="B9CDE4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ECFE3D9-2EBA-6B97-6846-DCB543EFE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11447"/>
            <a:ext cx="11258550" cy="4687724"/>
          </a:xfrm>
          <a:prstGeom prst="roundRect">
            <a:avLst>
              <a:gd name="adj" fmla="val 1616"/>
            </a:avLst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3BB82ADC-4FE8-1B3B-4A22-CE94E19E4BE5}"/>
              </a:ext>
            </a:extLst>
          </p:cNvPr>
          <p:cNvSpPr txBox="1"/>
          <p:nvPr/>
        </p:nvSpPr>
        <p:spPr>
          <a:xfrm>
            <a:off x="2000250" y="1929438"/>
            <a:ext cx="16722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D42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① 图像级真假检测模块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927DDB-67DA-462A-3525-2E2586B0173C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64A0BC-0D8F-2A41-352E-B20497830A74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FA3F86-E981-8B6C-3148-4DCAAC059876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1CCDCF-A75D-38C9-BEA7-A85D8A9B84C3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71B485-E501-1A26-36D0-65FC6C663A8E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6BFAC-A466-4AA0-CACA-04103DE8EDB2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1EFD3C-B8DD-C9CD-1DB6-A1F637222B43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7E5CF7-773E-CCE0-12AC-D608441D8FBF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529F632-8491-9B90-E72A-8147DFA3C94F}"/>
              </a:ext>
            </a:extLst>
          </p:cNvPr>
          <p:cNvGrpSpPr/>
          <p:nvPr/>
        </p:nvGrpSpPr>
        <p:grpSpPr>
          <a:xfrm>
            <a:off x="4495800" y="800100"/>
            <a:ext cx="1826148" cy="99594"/>
            <a:chOff x="1185700" y="827567"/>
            <a:chExt cx="1826148" cy="99594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7F23FA09-4BDA-3C4C-E56D-3336A86BD69E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B0F7DFE0-219D-1C72-7FCC-F8FC5FEDD877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8A93951B-47EA-03D6-0D9C-368BA4599F8C}"/>
              </a:ext>
            </a:extLst>
          </p:cNvPr>
          <p:cNvSpPr/>
          <p:nvPr/>
        </p:nvSpPr>
        <p:spPr>
          <a:xfrm>
            <a:off x="7071360" y="2667000"/>
            <a:ext cx="4343400" cy="1402079"/>
          </a:xfrm>
          <a:prstGeom prst="rect">
            <a:avLst/>
          </a:prstGeom>
          <a:noFill/>
          <a:ln w="28575">
            <a:solidFill>
              <a:srgbClr val="C63E46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C7C6D4-0338-DC60-88F5-4A763EFBEE39}"/>
              </a:ext>
            </a:extLst>
          </p:cNvPr>
          <p:cNvSpPr/>
          <p:nvPr/>
        </p:nvSpPr>
        <p:spPr>
          <a:xfrm>
            <a:off x="2057400" y="4214809"/>
            <a:ext cx="9456420" cy="2384361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D99779-C56F-1A9F-CDE3-7663E52FD72B}"/>
              </a:ext>
            </a:extLst>
          </p:cNvPr>
          <p:cNvSpPr txBox="1"/>
          <p:nvPr/>
        </p:nvSpPr>
        <p:spPr>
          <a:xfrm>
            <a:off x="5118220" y="2208995"/>
            <a:ext cx="18180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D4276"/>
                </a:solidFill>
              </a:rPr>
              <a:t>VSA</a:t>
            </a:r>
            <a:r>
              <a:rPr lang="zh-CN" altLang="en-US" sz="1200" b="1" dirty="0">
                <a:solidFill>
                  <a:srgbClr val="1D4276"/>
                </a:solidFill>
              </a:rPr>
              <a:t>：视觉自注意力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D624E2A-EFA1-4147-E7FC-C58EAA8FA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5872" y="1526068"/>
            <a:ext cx="230832" cy="23083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4B9CAB6-39B8-EAEF-3FC0-C883A79BB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852" y="1519803"/>
            <a:ext cx="208723" cy="20607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D0439327-827C-403E-9B3D-D003627D40FD}"/>
              </a:ext>
            </a:extLst>
          </p:cNvPr>
          <p:cNvSpPr txBox="1"/>
          <p:nvPr/>
        </p:nvSpPr>
        <p:spPr>
          <a:xfrm>
            <a:off x="8193694" y="1501813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参与训练，参数更新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37D90C-60A1-5C33-AC22-B69690505709}"/>
              </a:ext>
            </a:extLst>
          </p:cNvPr>
          <p:cNvSpPr txBox="1"/>
          <p:nvPr/>
        </p:nvSpPr>
        <p:spPr>
          <a:xfrm>
            <a:off x="10045829" y="1504760"/>
            <a:ext cx="158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，参数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4AA028-1BAB-133E-E4CF-2D5FBB8C8728}"/>
              </a:ext>
            </a:extLst>
          </p:cNvPr>
          <p:cNvSpPr/>
          <p:nvPr/>
        </p:nvSpPr>
        <p:spPr>
          <a:xfrm>
            <a:off x="4299109" y="4347136"/>
            <a:ext cx="2829546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F782F0-6CA1-298C-B3EA-532DAE65FEF0}"/>
              </a:ext>
            </a:extLst>
          </p:cNvPr>
          <p:cNvSpPr txBox="1"/>
          <p:nvPr/>
        </p:nvSpPr>
        <p:spPr>
          <a:xfrm>
            <a:off x="392584" y="1115709"/>
            <a:ext cx="3215332" cy="761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lang="zh-CN"/>
            </a:defPPr>
            <a:lvl1pPr>
              <a:defRPr sz="2175" b="1">
                <a:solidFill>
                  <a:srgbClr val="172B45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cs typeface="Microsoft YaHei"/>
              </a:defRPr>
            </a:lvl1pPr>
          </a:lstStyle>
          <a:p>
            <a:r>
              <a:rPr lang="zh-CN" altLang="en-US" dirty="0">
                <a:solidFill>
                  <a:srgbClr val="385723"/>
                </a:solidFill>
              </a:rPr>
              <a:t>② 像素级伪造定位模块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01DAE3A-F751-ED65-4DC3-8400A1D0AC2F}"/>
              </a:ext>
            </a:extLst>
          </p:cNvPr>
          <p:cNvGrpSpPr/>
          <p:nvPr/>
        </p:nvGrpSpPr>
        <p:grpSpPr>
          <a:xfrm>
            <a:off x="518341" y="1973667"/>
            <a:ext cx="11107714" cy="3662224"/>
            <a:chOff x="518341" y="1973667"/>
            <a:chExt cx="11107714" cy="366222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D7219ED-AC22-3164-EC78-8467870C1CD7}"/>
                </a:ext>
              </a:extLst>
            </p:cNvPr>
            <p:cNvSpPr/>
            <p:nvPr/>
          </p:nvSpPr>
          <p:spPr>
            <a:xfrm>
              <a:off x="518342" y="4138613"/>
              <a:ext cx="1507109" cy="14972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9551194-7AA9-43E0-7522-8B7D7184729E}"/>
                </a:ext>
              </a:extLst>
            </p:cNvPr>
            <p:cNvSpPr/>
            <p:nvPr/>
          </p:nvSpPr>
          <p:spPr>
            <a:xfrm>
              <a:off x="518341" y="1978816"/>
              <a:ext cx="6534921" cy="21652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8079348-FA1B-12A8-77E4-4F50CC7DCDD3}"/>
                </a:ext>
              </a:extLst>
            </p:cNvPr>
            <p:cNvSpPr/>
            <p:nvPr/>
          </p:nvSpPr>
          <p:spPr>
            <a:xfrm>
              <a:off x="4975860" y="1973667"/>
              <a:ext cx="6650195" cy="6695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动作按钮: 后退或前一项 34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C05A199-D21B-D594-AD34-1912C0F318AC}"/>
              </a:ext>
            </a:extLst>
          </p:cNvPr>
          <p:cNvSpPr/>
          <p:nvPr/>
        </p:nvSpPr>
        <p:spPr>
          <a:xfrm>
            <a:off x="39560" y="6517496"/>
            <a:ext cx="250730" cy="285135"/>
          </a:xfrm>
          <a:prstGeom prst="actionButtonBackPrevious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35A68C3-612C-A7EE-4145-16697AB4E30B}"/>
              </a:ext>
            </a:extLst>
          </p:cNvPr>
          <p:cNvCxnSpPr>
            <a:cxnSpLocks/>
          </p:cNvCxnSpPr>
          <p:nvPr/>
        </p:nvCxnSpPr>
        <p:spPr>
          <a:xfrm flipH="1">
            <a:off x="6667362" y="3563129"/>
            <a:ext cx="5378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1CF6809-0B5D-B4B8-2F52-99331E23BF5C}"/>
              </a:ext>
            </a:extLst>
          </p:cNvPr>
          <p:cNvSpPr txBox="1"/>
          <p:nvPr/>
        </p:nvSpPr>
        <p:spPr>
          <a:xfrm>
            <a:off x="6321948" y="3352981"/>
            <a:ext cx="403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04C78A9-3104-A597-0358-C850459770A9}"/>
              </a:ext>
            </a:extLst>
          </p:cNvPr>
          <p:cNvCxnSpPr>
            <a:cxnSpLocks/>
          </p:cNvCxnSpPr>
          <p:nvPr/>
        </p:nvCxnSpPr>
        <p:spPr>
          <a:xfrm flipV="1">
            <a:off x="7511138" y="4608687"/>
            <a:ext cx="0" cy="400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67F0762D-3014-1AAD-C852-4F424FF3089C}"/>
              </a:ext>
            </a:extLst>
          </p:cNvPr>
          <p:cNvSpPr txBox="1"/>
          <p:nvPr/>
        </p:nvSpPr>
        <p:spPr>
          <a:xfrm>
            <a:off x="7337074" y="4295820"/>
            <a:ext cx="63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 V</a:t>
            </a:r>
            <a:endParaRPr lang="zh-CN" alt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823BA17-439A-E7AE-5171-8384E3F83503}"/>
              </a:ext>
            </a:extLst>
          </p:cNvPr>
          <p:cNvGrpSpPr/>
          <p:nvPr/>
        </p:nvGrpSpPr>
        <p:grpSpPr>
          <a:xfrm>
            <a:off x="825142" y="2275462"/>
            <a:ext cx="5478708" cy="1595272"/>
            <a:chOff x="832239" y="2102599"/>
            <a:chExt cx="2336020" cy="1497278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860B48AE-5EAE-8EB3-50BB-EAB8E475D66A}"/>
                </a:ext>
              </a:extLst>
            </p:cNvPr>
            <p:cNvGrpSpPr/>
            <p:nvPr/>
          </p:nvGrpSpPr>
          <p:grpSpPr>
            <a:xfrm>
              <a:off x="832239" y="2102599"/>
              <a:ext cx="2336020" cy="1497278"/>
              <a:chOff x="832239" y="2102599"/>
              <a:chExt cx="2336020" cy="1497278"/>
            </a:xfrm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8932C1E2-BAFB-3210-55CC-783F916E7092}"/>
                  </a:ext>
                </a:extLst>
              </p:cNvPr>
              <p:cNvSpPr/>
              <p:nvPr/>
            </p:nvSpPr>
            <p:spPr>
              <a:xfrm>
                <a:off x="832239" y="2102599"/>
                <a:ext cx="2336020" cy="1497278"/>
              </a:xfrm>
              <a:prstGeom prst="roundRect">
                <a:avLst>
                  <a:gd name="adj" fmla="val 4847"/>
                </a:avLst>
              </a:prstGeom>
              <a:solidFill>
                <a:srgbClr val="DAE3F3"/>
              </a:solidFill>
              <a:ln w="19050">
                <a:solidFill>
                  <a:srgbClr val="7790B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D1311C2-26F9-9632-F332-FD9AE94973EB}"/>
                  </a:ext>
                </a:extLst>
              </p:cNvPr>
              <p:cNvSpPr txBox="1"/>
              <p:nvPr/>
            </p:nvSpPr>
            <p:spPr>
              <a:xfrm>
                <a:off x="877862" y="2554942"/>
                <a:ext cx="2244773" cy="657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粗粒度：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捕获整体结构与上下文；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细粒度：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保留局部纹理与边界。融合多尺度信息，实现精细定位。</a:t>
                </a:r>
                <a:endParaRPr lang="en-US" altLang="zh-CN" sz="14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8D41D2D-54D3-CD3D-8EC3-9F2B72A20F56}"/>
                </a:ext>
              </a:extLst>
            </p:cNvPr>
            <p:cNvSpPr txBox="1"/>
            <p:nvPr/>
          </p:nvSpPr>
          <p:spPr>
            <a:xfrm>
              <a:off x="1297320" y="3257270"/>
              <a:ext cx="14428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FPN Decoder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77E8E7B-B6A6-19E8-F8B1-BB507318F071}"/>
              </a:ext>
            </a:extLst>
          </p:cNvPr>
          <p:cNvSpPr txBox="1"/>
          <p:nvPr/>
        </p:nvSpPr>
        <p:spPr>
          <a:xfrm>
            <a:off x="8063213" y="2367338"/>
            <a:ext cx="2367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8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C63E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文本提示学习模块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706B48-8B6B-557F-7D6C-F088CC088844}"/>
              </a:ext>
            </a:extLst>
          </p:cNvPr>
          <p:cNvSpPr txBox="1"/>
          <p:nvPr/>
        </p:nvSpPr>
        <p:spPr>
          <a:xfrm>
            <a:off x="2484039" y="2352784"/>
            <a:ext cx="2247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多尺度特征提取与融合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777E390-F56B-BC16-D5A0-EEC14F0C7A33}"/>
              </a:ext>
            </a:extLst>
          </p:cNvPr>
          <p:cNvSpPr txBox="1"/>
          <p:nvPr/>
        </p:nvSpPr>
        <p:spPr>
          <a:xfrm>
            <a:off x="1026468" y="4331688"/>
            <a:ext cx="461665" cy="21258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172B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定位局部伪造区域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24DBD7-2544-2137-3BEC-628AAC1D93D7}"/>
              </a:ext>
            </a:extLst>
          </p:cNvPr>
          <p:cNvSpPr txBox="1"/>
          <p:nvPr/>
        </p:nvSpPr>
        <p:spPr>
          <a:xfrm>
            <a:off x="7243485" y="6308166"/>
            <a:ext cx="27380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TVCA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：文本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视觉交叉注意力</a:t>
            </a:r>
          </a:p>
        </p:txBody>
      </p:sp>
      <p:sp>
        <p:nvSpPr>
          <p:cNvPr id="42" name="文本框 41">
            <a:hlinkClick r:id="rId7" action="ppaction://hlinksldjump"/>
            <a:extLst>
              <a:ext uri="{FF2B5EF4-FFF2-40B4-BE49-F238E27FC236}">
                <a16:creationId xmlns:a16="http://schemas.microsoft.com/office/drawing/2014/main" id="{AD8AC2C1-8BB8-04EF-3916-8841FACB43A2}"/>
              </a:ext>
            </a:extLst>
          </p:cNvPr>
          <p:cNvSpPr txBox="1"/>
          <p:nvPr/>
        </p:nvSpPr>
        <p:spPr>
          <a:xfrm>
            <a:off x="4249948" y="4331688"/>
            <a:ext cx="3296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VCA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B050"/>
                </a:highlight>
              </a:rPr>
              <a:t>：视觉交叉注意力（跨模型协同）</a:t>
            </a:r>
          </a:p>
        </p:txBody>
      </p:sp>
    </p:spTree>
    <p:extLst>
      <p:ext uri="{BB962C8B-B14F-4D97-AF65-F5344CB8AC3E}">
        <p14:creationId xmlns:p14="http://schemas.microsoft.com/office/powerpoint/2010/main" val="3048335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85BB-7218-F351-404F-4DE8878C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236A8B5-9250-30A6-0F71-6FD8BC21B95E}"/>
              </a:ext>
            </a:extLst>
          </p:cNvPr>
          <p:cNvSpPr/>
          <p:nvPr/>
        </p:nvSpPr>
        <p:spPr>
          <a:xfrm>
            <a:off x="6648529" y="4903118"/>
            <a:ext cx="5254552" cy="8121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D9FDAFE-12A6-9B1C-DD23-AE10EDF7ABC0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3590925" cy="323850"/>
          </a:xfrm>
          <a:prstGeom prst="roundRect">
            <a:avLst>
              <a:gd name="adj" fmla="val 29412"/>
            </a:avLst>
          </a:prstGeom>
          <a:solidFill>
            <a:srgbClr val="1D4276"/>
          </a:solidFill>
          <a:ln w="0">
            <a:solidFill>
              <a:srgbClr val="1D427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2400DD-69D3-D8CF-1AC8-6F6B67195190}"/>
              </a:ext>
            </a:extLst>
          </p:cNvPr>
          <p:cNvSpPr>
            <a:spLocks noGrp="1"/>
          </p:cNvSpPr>
          <p:nvPr/>
        </p:nvSpPr>
        <p:spPr>
          <a:xfrm>
            <a:off x="571499" y="1994801"/>
            <a:ext cx="35909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局部编辑：真实图像</a:t>
            </a:r>
            <a:r>
              <a:rPr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1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区域掩码</a:t>
            </a:r>
            <a:r>
              <a:rPr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→ Partial Fake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BCB5517-B41F-D1B6-B260-339B81884A23}"/>
              </a:ext>
            </a:extLst>
          </p:cNvPr>
          <p:cNvSpPr>
            <a:spLocks noGrp="1"/>
          </p:cNvSpPr>
          <p:nvPr/>
        </p:nvSpPr>
        <p:spPr>
          <a:xfrm>
            <a:off x="4229100" y="1952625"/>
            <a:ext cx="2171700" cy="323850"/>
          </a:xfrm>
          <a:prstGeom prst="roundRect">
            <a:avLst>
              <a:gd name="adj" fmla="val 29412"/>
            </a:avLst>
          </a:prstGeom>
          <a:solidFill>
            <a:srgbClr val="3E8E72"/>
          </a:solidFill>
          <a:ln w="0">
            <a:solidFill>
              <a:srgbClr val="3E8E7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46C5D5-4E1D-C38F-2966-6E97569BBB67}"/>
              </a:ext>
            </a:extLst>
          </p:cNvPr>
          <p:cNvSpPr>
            <a:spLocks noGrp="1"/>
          </p:cNvSpPr>
          <p:nvPr/>
        </p:nvSpPr>
        <p:spPr>
          <a:xfrm>
            <a:off x="4247000" y="1994801"/>
            <a:ext cx="21717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全图生成：Full</a:t>
            </a:r>
            <a:r>
              <a:rPr sz="11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Fake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9AAC2A7-1BEF-5297-5B4D-F2C53EB88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004" y="2381250"/>
            <a:ext cx="5828292" cy="30384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6E00C92-EBD6-909E-35F8-2DE7D1E53414}"/>
              </a:ext>
            </a:extLst>
          </p:cNvPr>
          <p:cNvSpPr>
            <a:spLocks noGrp="1"/>
          </p:cNvSpPr>
          <p:nvPr/>
        </p:nvSpPr>
        <p:spPr>
          <a:xfrm>
            <a:off x="685296" y="54292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rPr>
              <a:t>同一数据集同时覆盖像素级局部编辑与图像级全图生成</a:t>
            </a:r>
            <a:endParaRPr sz="1125" b="0" dirty="0">
              <a:solidFill>
                <a:srgbClr val="6676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84FC1E47-8D6F-A757-69B7-6EFE23EF5049}"/>
              </a:ext>
            </a:extLst>
          </p:cNvPr>
          <p:cNvSpPr>
            <a:spLocks noGrp="1"/>
          </p:cNvSpPr>
          <p:nvPr/>
        </p:nvSpPr>
        <p:spPr>
          <a:xfrm>
            <a:off x="485775" y="6153150"/>
            <a:ext cx="1676400" cy="438150"/>
          </a:xfrm>
          <a:prstGeom prst="roundRect">
            <a:avLst>
              <a:gd name="adj" fmla="val 17391"/>
            </a:avLst>
          </a:prstGeom>
          <a:solidFill>
            <a:srgbClr val="1D4276"/>
          </a:solidFill>
          <a:ln w="0">
            <a:solidFill>
              <a:srgbClr val="1D4276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4E74C4D-3062-D41A-9EE8-726F2ED6EBE1}"/>
              </a:ext>
            </a:extLst>
          </p:cNvPr>
          <p:cNvSpPr>
            <a:spLocks noGrp="1"/>
          </p:cNvSpPr>
          <p:nvPr/>
        </p:nvSpPr>
        <p:spPr>
          <a:xfrm>
            <a:off x="485775" y="6191250"/>
            <a:ext cx="16764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核心设置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321EF2E-D071-EE8D-6AE9-BD2C469A600C}"/>
              </a:ext>
            </a:extLst>
          </p:cNvPr>
          <p:cNvSpPr>
            <a:spLocks noGrp="1"/>
          </p:cNvSpPr>
          <p:nvPr/>
        </p:nvSpPr>
        <p:spPr>
          <a:xfrm>
            <a:off x="2381250" y="6191250"/>
            <a:ext cx="91249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训练仅使用</a:t>
            </a:r>
            <a:r>
              <a:rPr sz="1500" b="0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 SD1.5，测试覆盖四种未见生成器，重点评估跨生成器检测与定位能力。</a:t>
            </a:r>
          </a:p>
        </p:txBody>
      </p:sp>
      <p:pic>
        <p:nvPicPr>
          <p:cNvPr id="86" name="图片 85" descr="用户附件">
            <a:extLst>
              <a:ext uri="{FF2B5EF4-FFF2-40B4-BE49-F238E27FC236}">
                <a16:creationId xmlns:a16="http://schemas.microsoft.com/office/drawing/2014/main" id="{3156D58C-4E14-B59D-78C1-AA5665865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821" y="2141001"/>
            <a:ext cx="5038932" cy="2342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C4763F6F-333D-48C2-632B-593A720E9C29}"/>
              </a:ext>
            </a:extLst>
          </p:cNvPr>
          <p:cNvSpPr>
            <a:spLocks noGrp="1"/>
          </p:cNvSpPr>
          <p:nvPr/>
        </p:nvSpPr>
        <p:spPr>
          <a:xfrm>
            <a:off x="7005393" y="4985559"/>
            <a:ext cx="8001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训练集：</a:t>
            </a:r>
            <a:endParaRPr sz="1200" b="1" dirty="0">
              <a:solidFill>
                <a:srgbClr val="1D42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1EF271D0-12EF-2287-5C23-DC719AD82893}"/>
              </a:ext>
            </a:extLst>
          </p:cNvPr>
          <p:cNvSpPr>
            <a:spLocks noGrp="1"/>
          </p:cNvSpPr>
          <p:nvPr/>
        </p:nvSpPr>
        <p:spPr>
          <a:xfrm>
            <a:off x="7843593" y="4985559"/>
            <a:ext cx="723900" cy="257175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478">
            <a:solidFill>
              <a:srgbClr val="4E82BC"/>
            </a:solidFill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F2A71D8-FEEB-7798-FC2E-356B7C559589}"/>
              </a:ext>
            </a:extLst>
          </p:cNvPr>
          <p:cNvSpPr>
            <a:spLocks noGrp="1"/>
          </p:cNvSpPr>
          <p:nvPr/>
        </p:nvSpPr>
        <p:spPr>
          <a:xfrm>
            <a:off x="7793097" y="4999846"/>
            <a:ext cx="774396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 SD1.5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46F9D99-4459-E12C-B554-61D8D735C89D}"/>
              </a:ext>
            </a:extLst>
          </p:cNvPr>
          <p:cNvSpPr>
            <a:spLocks noGrp="1"/>
          </p:cNvSpPr>
          <p:nvPr/>
        </p:nvSpPr>
        <p:spPr>
          <a:xfrm>
            <a:off x="8745597" y="5004609"/>
            <a:ext cx="24288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dirty="0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rPr>
              <a:t>只</a:t>
            </a:r>
            <a:r>
              <a:rPr sz="1050" b="0" dirty="0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lang="zh-CN" altLang="en-US" sz="1050" b="1" dirty="0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rPr>
              <a:t>一种</a:t>
            </a:r>
            <a:r>
              <a:rPr lang="zh-CN" altLang="en-US" sz="1050" b="0" dirty="0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rPr>
              <a:t>生成模型生成的图像</a:t>
            </a:r>
            <a:r>
              <a:rPr sz="1050" b="0" dirty="0" err="1">
                <a:solidFill>
                  <a:srgbClr val="66768C"/>
                </a:solidFill>
                <a:latin typeface="Microsoft YaHei"/>
                <a:ea typeface="Microsoft YaHei"/>
                <a:cs typeface="Microsoft YaHei"/>
              </a:rPr>
              <a:t>训练</a:t>
            </a:r>
            <a:endParaRPr sz="1050" b="0" dirty="0">
              <a:solidFill>
                <a:srgbClr val="6676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F43B125-DA6B-B4F7-3F5B-2A295A2E96FE}"/>
              </a:ext>
            </a:extLst>
          </p:cNvPr>
          <p:cNvSpPr>
            <a:spLocks noGrp="1"/>
          </p:cNvSpPr>
          <p:nvPr/>
        </p:nvSpPr>
        <p:spPr>
          <a:xfrm>
            <a:off x="7005393" y="5374654"/>
            <a:ext cx="8763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rPr>
              <a:t>测试</a:t>
            </a:r>
            <a:r>
              <a:rPr lang="zh-CN" altLang="en-US" sz="1200" b="1" dirty="0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rPr>
              <a:t>集：</a:t>
            </a:r>
            <a:endParaRPr sz="1200" b="1" dirty="0">
              <a:solidFill>
                <a:srgbClr val="C63E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0391E9DB-86DF-7718-CF81-2CAD83B8C97C}"/>
              </a:ext>
            </a:extLst>
          </p:cNvPr>
          <p:cNvSpPr>
            <a:spLocks noGrp="1"/>
          </p:cNvSpPr>
          <p:nvPr/>
        </p:nvSpPr>
        <p:spPr>
          <a:xfrm>
            <a:off x="8650553" y="5345299"/>
            <a:ext cx="723900" cy="276225"/>
          </a:xfrm>
          <a:prstGeom prst="roundRect">
            <a:avLst>
              <a:gd name="adj" fmla="val 24138"/>
            </a:avLst>
          </a:prstGeom>
          <a:solidFill>
            <a:srgbClr val="FFF3ED"/>
          </a:solidFill>
          <a:ln w="9525">
            <a:solidFill>
              <a:srgbClr val="E6A079"/>
            </a:solidFill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BCAD267-21CD-C2EB-8F1C-2CEF44268ED8}"/>
              </a:ext>
            </a:extLst>
          </p:cNvPr>
          <p:cNvSpPr>
            <a:spLocks noGrp="1"/>
          </p:cNvSpPr>
          <p:nvPr/>
        </p:nvSpPr>
        <p:spPr>
          <a:xfrm>
            <a:off x="8650553" y="5364349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rPr>
              <a:t>SD2.1</a:t>
            </a: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3C56D98F-9AF7-64E1-6A6E-94795B18552E}"/>
              </a:ext>
            </a:extLst>
          </p:cNvPr>
          <p:cNvSpPr>
            <a:spLocks noGrp="1"/>
          </p:cNvSpPr>
          <p:nvPr/>
        </p:nvSpPr>
        <p:spPr>
          <a:xfrm>
            <a:off x="9450653" y="5345299"/>
            <a:ext cx="723900" cy="276225"/>
          </a:xfrm>
          <a:prstGeom prst="roundRect">
            <a:avLst>
              <a:gd name="adj" fmla="val 24138"/>
            </a:avLst>
          </a:prstGeom>
          <a:solidFill>
            <a:srgbClr val="FFF3ED"/>
          </a:solidFill>
          <a:ln w="9525">
            <a:solidFill>
              <a:srgbClr val="E6A079"/>
            </a:solidFill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183B5B1-0572-7318-964B-E4E6F40539E5}"/>
              </a:ext>
            </a:extLst>
          </p:cNvPr>
          <p:cNvSpPr>
            <a:spLocks noGrp="1"/>
          </p:cNvSpPr>
          <p:nvPr/>
        </p:nvSpPr>
        <p:spPr>
          <a:xfrm>
            <a:off x="9450653" y="5362919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rPr>
              <a:t>SDXL</a:t>
            </a: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066B6F8B-17F4-2EE0-DD4E-2136CD891750}"/>
              </a:ext>
            </a:extLst>
          </p:cNvPr>
          <p:cNvSpPr>
            <a:spLocks noGrp="1"/>
          </p:cNvSpPr>
          <p:nvPr/>
        </p:nvSpPr>
        <p:spPr>
          <a:xfrm>
            <a:off x="10250753" y="5345299"/>
            <a:ext cx="723900" cy="276225"/>
          </a:xfrm>
          <a:prstGeom prst="roundRect">
            <a:avLst>
              <a:gd name="adj" fmla="val 24138"/>
            </a:avLst>
          </a:prstGeom>
          <a:solidFill>
            <a:srgbClr val="FFF3ED"/>
          </a:solidFill>
          <a:ln w="9525">
            <a:solidFill>
              <a:srgbClr val="E6A079"/>
            </a:solidFill>
            <a:prstDash val="solid"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DCB2CA1-30B2-28F3-70EF-18D7360D1D86}"/>
              </a:ext>
            </a:extLst>
          </p:cNvPr>
          <p:cNvSpPr>
            <a:spLocks noGrp="1"/>
          </p:cNvSpPr>
          <p:nvPr/>
        </p:nvSpPr>
        <p:spPr>
          <a:xfrm>
            <a:off x="10250753" y="5362919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rPr>
              <a:t>SD3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5ABC0084-E948-F85E-F280-BB4A7ED2F2D1}"/>
              </a:ext>
            </a:extLst>
          </p:cNvPr>
          <p:cNvSpPr>
            <a:spLocks noGrp="1"/>
          </p:cNvSpPr>
          <p:nvPr/>
        </p:nvSpPr>
        <p:spPr>
          <a:xfrm>
            <a:off x="11050853" y="5345299"/>
            <a:ext cx="723900" cy="276225"/>
          </a:xfrm>
          <a:prstGeom prst="roundRect">
            <a:avLst>
              <a:gd name="adj" fmla="val 24138"/>
            </a:avLst>
          </a:prstGeom>
          <a:solidFill>
            <a:srgbClr val="FFF3ED"/>
          </a:solidFill>
          <a:ln w="9525">
            <a:solidFill>
              <a:srgbClr val="E6A079"/>
            </a:solidFill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008A8F6-CA66-5B14-42D7-363B61C16E1A}"/>
              </a:ext>
            </a:extLst>
          </p:cNvPr>
          <p:cNvSpPr>
            <a:spLocks noGrp="1"/>
          </p:cNvSpPr>
          <p:nvPr/>
        </p:nvSpPr>
        <p:spPr>
          <a:xfrm>
            <a:off x="11050853" y="5362919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C63E46"/>
                </a:solidFill>
                <a:latin typeface="Microsoft YaHei"/>
                <a:ea typeface="Microsoft YaHei"/>
                <a:cs typeface="Microsoft YaHei"/>
              </a:rPr>
              <a:t>Flux.1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61E1648-0C22-3523-07B4-8634D9009E01}"/>
              </a:ext>
            </a:extLst>
          </p:cNvPr>
          <p:cNvSpPr>
            <a:spLocks noGrp="1"/>
          </p:cNvSpPr>
          <p:nvPr/>
        </p:nvSpPr>
        <p:spPr>
          <a:xfrm>
            <a:off x="7843593" y="5352271"/>
            <a:ext cx="723900" cy="257175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478">
            <a:solidFill>
              <a:srgbClr val="4E82B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D311FA-22ED-10FD-B494-4ED2F61B0A42}"/>
              </a:ext>
            </a:extLst>
          </p:cNvPr>
          <p:cNvSpPr>
            <a:spLocks noGrp="1"/>
          </p:cNvSpPr>
          <p:nvPr/>
        </p:nvSpPr>
        <p:spPr>
          <a:xfrm>
            <a:off x="7793097" y="5366558"/>
            <a:ext cx="774396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 SD1.5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35EA2F9-3578-C20F-1B0F-25DA5E0D192E}"/>
              </a:ext>
            </a:extLst>
          </p:cNvPr>
          <p:cNvGrpSpPr/>
          <p:nvPr/>
        </p:nvGrpSpPr>
        <p:grpSpPr>
          <a:xfrm>
            <a:off x="7243486" y="2761488"/>
            <a:ext cx="1941907" cy="2224071"/>
            <a:chOff x="7243486" y="2761488"/>
            <a:chExt cx="1941907" cy="2224071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BA2CBA5E-E464-920F-D7AE-B59AF6261237}"/>
                </a:ext>
              </a:extLst>
            </p:cNvPr>
            <p:cNvSpPr/>
            <p:nvPr/>
          </p:nvSpPr>
          <p:spPr>
            <a:xfrm>
              <a:off x="7793097" y="2761488"/>
              <a:ext cx="1392296" cy="256031"/>
            </a:xfrm>
            <a:prstGeom prst="rect">
              <a:avLst/>
            </a:prstGeom>
            <a:noFill/>
            <a:ln w="28575">
              <a:solidFill>
                <a:srgbClr val="1D427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7CD1D236-7342-F3DB-DD5B-F01EA5D6B756}"/>
                </a:ext>
              </a:extLst>
            </p:cNvPr>
            <p:cNvCxnSpPr>
              <a:stCxn id="101" idx="2"/>
            </p:cNvCxnSpPr>
            <p:nvPr/>
          </p:nvCxnSpPr>
          <p:spPr>
            <a:xfrm flipH="1">
              <a:off x="7243486" y="3017519"/>
              <a:ext cx="1245759" cy="196804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C00BE84-6DA3-51A0-7631-050488247FF8}"/>
              </a:ext>
            </a:extLst>
          </p:cNvPr>
          <p:cNvGrpSpPr/>
          <p:nvPr/>
        </p:nvGrpSpPr>
        <p:grpSpPr>
          <a:xfrm>
            <a:off x="7243486" y="2769900"/>
            <a:ext cx="3381842" cy="2593019"/>
            <a:chOff x="7243486" y="2769900"/>
            <a:chExt cx="3381842" cy="259301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7F5F334-EF6B-9A41-A920-196E58482EB5}"/>
                </a:ext>
              </a:extLst>
            </p:cNvPr>
            <p:cNvSpPr/>
            <p:nvPr/>
          </p:nvSpPr>
          <p:spPr>
            <a:xfrm>
              <a:off x="9374453" y="2769900"/>
              <a:ext cx="1250875" cy="1358335"/>
            </a:xfrm>
            <a:prstGeom prst="rect">
              <a:avLst/>
            </a:prstGeom>
            <a:noFill/>
            <a:ln w="28575">
              <a:solidFill>
                <a:srgbClr val="C63E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B171BD59-1536-39FA-C62D-D0F9718BDB47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flipH="1">
              <a:off x="7243486" y="4128235"/>
              <a:ext cx="2756405" cy="1234684"/>
            </a:xfrm>
            <a:prstGeom prst="straightConnector1">
              <a:avLst/>
            </a:prstGeom>
            <a:ln w="28575">
              <a:solidFill>
                <a:srgbClr val="C63E4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CC2C23BE-CEF1-07A6-49E0-30692423A183}"/>
              </a:ext>
            </a:extLst>
          </p:cNvPr>
          <p:cNvSpPr/>
          <p:nvPr/>
        </p:nvSpPr>
        <p:spPr>
          <a:xfrm>
            <a:off x="6764728" y="2769391"/>
            <a:ext cx="950121" cy="243365"/>
          </a:xfrm>
          <a:prstGeom prst="rect">
            <a:avLst/>
          </a:prstGeom>
          <a:noFill/>
          <a:ln w="28575">
            <a:solidFill>
              <a:srgbClr val="1D42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BE50BF5-55EF-288F-955D-146A8AEB8D3D}"/>
              </a:ext>
            </a:extLst>
          </p:cNvPr>
          <p:cNvSpPr/>
          <p:nvPr/>
        </p:nvSpPr>
        <p:spPr>
          <a:xfrm>
            <a:off x="6732736" y="2724150"/>
            <a:ext cx="1014264" cy="1406467"/>
          </a:xfrm>
          <a:prstGeom prst="rect">
            <a:avLst/>
          </a:prstGeom>
          <a:noFill/>
          <a:ln w="28575">
            <a:solidFill>
              <a:srgbClr val="C63E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E92BBA-A98E-DD2E-7E3E-9EE72968AA6E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F367387-F34C-C64C-7A80-A4D8DC9FDA40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AD7B35-C668-1E13-4AA0-3D0D2135A9DC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0C02B49-D7A3-9AF8-556F-E0DC9FBFD922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8DCB519-2866-73B4-18A0-48ADAA4036D0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C747FEF-7F6E-734B-F4BA-FD9112BB1BD4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1123F98-CE30-0CC2-5BFC-419D26DFEDE7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584742D-CEAA-0115-B88F-F4BE55EBC55D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01E14A1-E8DB-7586-0148-4FAA1BD0783D}"/>
              </a:ext>
            </a:extLst>
          </p:cNvPr>
          <p:cNvGrpSpPr/>
          <p:nvPr/>
        </p:nvGrpSpPr>
        <p:grpSpPr>
          <a:xfrm>
            <a:off x="7258050" y="810044"/>
            <a:ext cx="1826148" cy="99594"/>
            <a:chOff x="1185700" y="827567"/>
            <a:chExt cx="1826148" cy="99594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8CA1C947-697D-35D1-3D84-A16D6D7A8ADF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B4503576-EA15-6175-7F98-0714A3AAC85F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F14E59A1-FDE8-281E-FF65-D37E813865B5}"/>
              </a:ext>
            </a:extLst>
          </p:cNvPr>
          <p:cNvSpPr>
            <a:spLocks noGrp="1"/>
          </p:cNvSpPr>
          <p:nvPr/>
        </p:nvSpPr>
        <p:spPr>
          <a:xfrm>
            <a:off x="476250" y="13756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➤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C1ED19D-C57E-876D-EB8D-03B99F942BF5}"/>
              </a:ext>
            </a:extLst>
          </p:cNvPr>
          <p:cNvSpPr>
            <a:spLocks noGrp="1"/>
          </p:cNvSpPr>
          <p:nvPr/>
        </p:nvSpPr>
        <p:spPr>
          <a:xfrm>
            <a:off x="838200" y="13470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实验设置：</a:t>
            </a:r>
            <a:r>
              <a:rPr lang="en-US" altLang="zh-CN" sz="21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OpenSDID</a:t>
            </a:r>
            <a:r>
              <a:rPr lang="zh-CN" altLang="en-US" sz="21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数据划分</a:t>
            </a:r>
          </a:p>
        </p:txBody>
      </p:sp>
    </p:spTree>
    <p:extLst>
      <p:ext uri="{BB962C8B-B14F-4D97-AF65-F5344CB8AC3E}">
        <p14:creationId xmlns:p14="http://schemas.microsoft.com/office/powerpoint/2010/main" val="222148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8DA6-A600-E22C-5DAA-FF67E02F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5127E09-30D7-FDC1-BFCB-BFDF539922BE}"/>
              </a:ext>
            </a:extLst>
          </p:cNvPr>
          <p:cNvSpPr>
            <a:spLocks noGrp="1"/>
          </p:cNvSpPr>
          <p:nvPr/>
        </p:nvSpPr>
        <p:spPr>
          <a:xfrm>
            <a:off x="476250" y="13756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706C75-5EAA-A1BD-ACF4-7E650EBCD070}"/>
              </a:ext>
            </a:extLst>
          </p:cNvPr>
          <p:cNvSpPr>
            <a:spLocks noGrp="1"/>
          </p:cNvSpPr>
          <p:nvPr/>
        </p:nvSpPr>
        <p:spPr>
          <a:xfrm>
            <a:off x="838200" y="13470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实验结果：图像级检测</a:t>
            </a:r>
            <a:endParaRPr sz="2175" b="1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688FE95-1072-303E-93AC-7BA32DF3D7A7}"/>
              </a:ext>
            </a:extLst>
          </p:cNvPr>
          <p:cNvSpPr>
            <a:spLocks noGrp="1"/>
          </p:cNvSpPr>
          <p:nvPr/>
        </p:nvSpPr>
        <p:spPr>
          <a:xfrm>
            <a:off x="9564569" y="18423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EAF2FC"/>
          </a:solidFill>
          <a:ln w="9525">
            <a:solidFill>
              <a:srgbClr val="316AA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A36C28-A315-CBF7-378C-D65DE438C2DD}"/>
              </a:ext>
            </a:extLst>
          </p:cNvPr>
          <p:cNvSpPr>
            <a:spLocks noGrp="1"/>
          </p:cNvSpPr>
          <p:nvPr/>
        </p:nvSpPr>
        <p:spPr>
          <a:xfrm>
            <a:off x="9774119" y="1804250"/>
            <a:ext cx="7429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00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域内测试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2D7F3A3-0AB2-152A-9CE2-B4A8A42A4457}"/>
              </a:ext>
            </a:extLst>
          </p:cNvPr>
          <p:cNvSpPr>
            <a:spLocks noGrp="1"/>
          </p:cNvSpPr>
          <p:nvPr/>
        </p:nvSpPr>
        <p:spPr>
          <a:xfrm>
            <a:off x="10574219" y="18423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CEBEC"/>
          </a:solidFill>
          <a:ln w="9525">
            <a:solidFill>
              <a:srgbClr val="C5535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61A97A-B267-A86A-42B3-21FE40E1A4ED}"/>
              </a:ext>
            </a:extLst>
          </p:cNvPr>
          <p:cNvSpPr>
            <a:spLocks noGrp="1"/>
          </p:cNvSpPr>
          <p:nvPr/>
        </p:nvSpPr>
        <p:spPr>
          <a:xfrm>
            <a:off x="10783769" y="18042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00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 err="1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跨域测试</a:t>
            </a:r>
            <a:endParaRPr sz="900" b="0" dirty="0">
              <a:solidFill>
                <a:srgbClr val="687A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ECE905E-9685-8527-5392-42D78E1B5D2F}"/>
              </a:ext>
            </a:extLst>
          </p:cNvPr>
          <p:cNvSpPr>
            <a:spLocks noGrp="1"/>
          </p:cNvSpPr>
          <p:nvPr/>
        </p:nvSpPr>
        <p:spPr>
          <a:xfrm>
            <a:off x="838200" y="2075436"/>
            <a:ext cx="10525125" cy="3848901"/>
          </a:xfrm>
          <a:prstGeom prst="roundRect">
            <a:avLst>
              <a:gd name="adj" fmla="val 2865"/>
            </a:avLst>
          </a:prstGeom>
          <a:solidFill>
            <a:srgbClr val="FFFFFF"/>
          </a:solidFill>
          <a:ln w="9525">
            <a:solidFill>
              <a:srgbClr val="BCD0E6"/>
            </a:solidFill>
            <a:prstDash val="solid"/>
          </a:ln>
        </p:spPr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D924CA8-0385-791B-7393-24D6B70E0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5557" y="2147027"/>
            <a:ext cx="10320886" cy="3700862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E15C51E-1D82-D9F4-CA9F-B68731170D7C}"/>
              </a:ext>
            </a:extLst>
          </p:cNvPr>
          <p:cNvSpPr>
            <a:spLocks noGrp="1"/>
          </p:cNvSpPr>
          <p:nvPr/>
        </p:nvSpPr>
        <p:spPr>
          <a:xfrm>
            <a:off x="9846343" y="5550106"/>
            <a:ext cx="1410100" cy="229643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FF6FD43-00AA-5D6D-AE97-7B57EB5B694C}"/>
              </a:ext>
            </a:extLst>
          </p:cNvPr>
          <p:cNvSpPr>
            <a:spLocks noGrp="1"/>
          </p:cNvSpPr>
          <p:nvPr/>
        </p:nvSpPr>
        <p:spPr>
          <a:xfrm>
            <a:off x="1868278" y="6195523"/>
            <a:ext cx="8455443" cy="3003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3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350" b="1" dirty="0">
                <a:solidFill>
                  <a:srgbClr val="172B45"/>
                </a:solidFill>
                <a:latin typeface="Microsoft YaHei"/>
              </a:rPr>
              <a:t>MaskCLIP在四个未见生成器上均取得最优结果，并以最高平均</a:t>
            </a:r>
            <a:r>
              <a:rPr lang="en-US" altLang="zh-CN" sz="1350" b="1" dirty="0">
                <a:solidFill>
                  <a:srgbClr val="172B45"/>
                </a:solidFill>
                <a:latin typeface="Microsoft YaHei"/>
              </a:rPr>
              <a:t> </a:t>
            </a:r>
            <a:r>
              <a:rPr lang="zh-CN" altLang="zh-CN" sz="1350" b="1" dirty="0">
                <a:solidFill>
                  <a:srgbClr val="172B45"/>
                </a:solidFill>
                <a:latin typeface="Microsoft YaHei"/>
              </a:rPr>
              <a:t>F1</a:t>
            </a:r>
            <a:r>
              <a:rPr lang="en-US" altLang="zh-CN" sz="1350" b="1" dirty="0">
                <a:solidFill>
                  <a:srgbClr val="172B45"/>
                </a:solidFill>
                <a:latin typeface="Microsoft YaHei"/>
              </a:rPr>
              <a:t> </a:t>
            </a:r>
            <a:r>
              <a:rPr lang="zh-CN" altLang="zh-CN" sz="1350" b="1" dirty="0">
                <a:solidFill>
                  <a:srgbClr val="172B45"/>
                </a:solidFill>
                <a:latin typeface="Microsoft YaHei"/>
              </a:rPr>
              <a:t>和</a:t>
            </a:r>
            <a:r>
              <a:rPr lang="en-US" altLang="zh-CN" sz="1350" b="1" dirty="0">
                <a:solidFill>
                  <a:srgbClr val="172B45"/>
                </a:solidFill>
                <a:latin typeface="Microsoft YaHei"/>
              </a:rPr>
              <a:t> </a:t>
            </a:r>
            <a:r>
              <a:rPr lang="zh-CN" altLang="zh-CN" sz="1350" b="1" dirty="0">
                <a:solidFill>
                  <a:srgbClr val="172B45"/>
                </a:solidFill>
                <a:latin typeface="Microsoft YaHei"/>
              </a:rPr>
              <a:t>Acc</a:t>
            </a:r>
            <a:r>
              <a:rPr lang="en-US" altLang="zh-CN" sz="1350" b="1" dirty="0">
                <a:solidFill>
                  <a:srgbClr val="172B45"/>
                </a:solidFill>
                <a:latin typeface="Microsoft YaHei"/>
              </a:rPr>
              <a:t> </a:t>
            </a:r>
            <a:r>
              <a:rPr lang="zh-CN" altLang="zh-CN" sz="1350" b="1" dirty="0">
                <a:solidFill>
                  <a:srgbClr val="172B45"/>
                </a:solidFill>
                <a:latin typeface="Microsoft YaHei"/>
              </a:rPr>
              <a:t>展现出更稳定的跨生成器泛化能力。</a:t>
            </a:r>
            <a:endParaRPr sz="1350" b="1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C1553F7-F473-BC46-5ECC-B5ED36E3D8C1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1D04016-5DA5-1093-7870-BD30B756B6A6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06CC5B1-9135-23F8-2320-153DF737537F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2CD7EA1-C09C-4253-AA6B-3C94C1E2FDB3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56CCD68-EACD-D22A-A21E-69079892E789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5BC7FA3-8328-9900-D0CF-13830352B8B4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9103B4A-01E4-BE4E-F894-554EC36191D5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ED7A872-55C2-A5D5-9428-8B002C2267A4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BD2A35C4-F35C-27EF-8F2D-29FB98C25278}"/>
              </a:ext>
            </a:extLst>
          </p:cNvPr>
          <p:cNvGrpSpPr/>
          <p:nvPr/>
        </p:nvGrpSpPr>
        <p:grpSpPr>
          <a:xfrm>
            <a:off x="7258050" y="810044"/>
            <a:ext cx="1826148" cy="99594"/>
            <a:chOff x="1185700" y="827567"/>
            <a:chExt cx="1826148" cy="99594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628597C2-B03E-2D6F-B759-89FD500EB61F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E3B3818C-B40C-D104-B32B-C9F3F0073391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B7BD9B6-ADA8-01DD-8B27-369F8C465BD7}"/>
              </a:ext>
            </a:extLst>
          </p:cNvPr>
          <p:cNvSpPr txBox="1"/>
          <p:nvPr/>
        </p:nvSpPr>
        <p:spPr>
          <a:xfrm>
            <a:off x="358241" y="2698750"/>
            <a:ext cx="352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图像级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0BA593-0CD0-D4A9-6F32-DFBBB3B12AAE}"/>
              </a:ext>
            </a:extLst>
          </p:cNvPr>
          <p:cNvSpPr txBox="1"/>
          <p:nvPr/>
        </p:nvSpPr>
        <p:spPr>
          <a:xfrm>
            <a:off x="351891" y="4375150"/>
            <a:ext cx="352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图像级</a:t>
            </a:r>
          </a:p>
        </p:txBody>
      </p:sp>
    </p:spTree>
    <p:extLst>
      <p:ext uri="{BB962C8B-B14F-4D97-AF65-F5344CB8AC3E}">
        <p14:creationId xmlns:p14="http://schemas.microsoft.com/office/powerpoint/2010/main" val="3627144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939A7-455E-3FD2-7C78-819A71C5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ECB89C3-6E16-A56D-22BC-19C9F0484CEF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AD343B-A31D-F489-E85E-4E90656404A7}"/>
              </a:ext>
            </a:extLst>
          </p:cNvPr>
          <p:cNvSpPr>
            <a:spLocks noGrp="1"/>
          </p:cNvSpPr>
          <p:nvPr/>
        </p:nvSpPr>
        <p:spPr>
          <a:xfrm>
            <a:off x="838200" y="1228725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实验结果：像素级定位</a:t>
            </a:r>
            <a:endParaRPr sz="2175" b="1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3E02A0E-AA78-5B88-439B-9673A45946FF}"/>
              </a:ext>
            </a:extLst>
          </p:cNvPr>
          <p:cNvSpPr>
            <a:spLocks noGrp="1"/>
          </p:cNvSpPr>
          <p:nvPr/>
        </p:nvSpPr>
        <p:spPr>
          <a:xfrm>
            <a:off x="476250" y="1809750"/>
            <a:ext cx="11239500" cy="260985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9525">
            <a:solidFill>
              <a:srgbClr val="BCD0E6"/>
            </a:solidFill>
            <a:prstDash val="solid"/>
          </a:ln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5457510-C1B1-98B0-E998-077F93191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890158"/>
            <a:ext cx="11087100" cy="2449034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0BFA126-8B2F-E6B6-AF49-3227B3B1728B}"/>
              </a:ext>
            </a:extLst>
          </p:cNvPr>
          <p:cNvSpPr>
            <a:spLocks noGrp="1"/>
          </p:cNvSpPr>
          <p:nvPr/>
        </p:nvSpPr>
        <p:spPr>
          <a:xfrm>
            <a:off x="8572500" y="4039155"/>
            <a:ext cx="1438275" cy="257175"/>
          </a:xfrm>
          <a:prstGeom prst="roundRect">
            <a:avLst>
              <a:gd name="adj" fmla="val 14815"/>
            </a:avLst>
          </a:prstGeom>
          <a:noFill/>
          <a:ln w="38100">
            <a:solidFill>
              <a:srgbClr val="316AA6"/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7331923-2DB7-2037-ABCB-84237FAFCC32}"/>
              </a:ext>
            </a:extLst>
          </p:cNvPr>
          <p:cNvSpPr>
            <a:spLocks noGrp="1"/>
          </p:cNvSpPr>
          <p:nvPr/>
        </p:nvSpPr>
        <p:spPr>
          <a:xfrm>
            <a:off x="10086975" y="4032804"/>
            <a:ext cx="1590675" cy="257175"/>
          </a:xfrm>
          <a:prstGeom prst="roundRect">
            <a:avLst>
              <a:gd name="adj" fmla="val 14815"/>
            </a:avLst>
          </a:prstGeom>
          <a:noFill/>
          <a:ln w="38100">
            <a:solidFill>
              <a:srgbClr val="2E8066"/>
            </a:solidFill>
            <a:prstDash val="solid"/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4B77E86-DA22-391F-FFA3-C5C260B50FB3}"/>
              </a:ext>
            </a:extLst>
          </p:cNvPr>
          <p:cNvSpPr>
            <a:spLocks noGrp="1"/>
          </p:cNvSpPr>
          <p:nvPr/>
        </p:nvSpPr>
        <p:spPr>
          <a:xfrm>
            <a:off x="476250" y="4591050"/>
            <a:ext cx="3543300" cy="1200150"/>
          </a:xfrm>
          <a:prstGeom prst="roundRect">
            <a:avLst>
              <a:gd name="adj" fmla="val 7937"/>
            </a:avLst>
          </a:prstGeom>
          <a:solidFill>
            <a:srgbClr val="E8F4EE"/>
          </a:solidFill>
          <a:ln w="9525">
            <a:solidFill>
              <a:srgbClr val="2E8066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ACAA55-A996-E8DB-F597-EA0869E78C6F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1">
                <a:solidFill>
                  <a:srgbClr val="2E8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2E8066"/>
                </a:solidFill>
                <a:latin typeface="Microsoft YaHei"/>
                <a:ea typeface="Microsoft YaHei"/>
                <a:cs typeface="Microsoft YaHei"/>
              </a:rPr>
              <a:t>①</a:t>
            </a:r>
            <a:r>
              <a:rPr lang="en-US" sz="1275" b="1" dirty="0">
                <a:solidFill>
                  <a:srgbClr val="2E806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zh-CN" sz="1275" b="1" dirty="0">
                <a:solidFill>
                  <a:srgbClr val="2E8066"/>
                </a:solidFill>
                <a:latin typeface="Microsoft YaHei"/>
              </a:rPr>
              <a:t>各生成器上的表现</a:t>
            </a:r>
            <a:endParaRPr sz="1275" b="1" dirty="0">
              <a:solidFill>
                <a:srgbClr val="2E80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F39CFFC-D488-D524-BB28-46A8823C0724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3143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42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425" b="1" dirty="0">
                <a:solidFill>
                  <a:srgbClr val="172B45"/>
                </a:solidFill>
                <a:latin typeface="Microsoft YaHei"/>
              </a:rPr>
              <a:t>5个测试子集均取得最优结果</a:t>
            </a:r>
            <a:endParaRPr sz="1425" b="1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E430B65-237E-94C0-6E06-C7CA1C341829}"/>
              </a:ext>
            </a:extLst>
          </p:cNvPr>
          <p:cNvSpPr>
            <a:spLocks noGrp="1"/>
          </p:cNvSpPr>
          <p:nvPr/>
        </p:nvSpPr>
        <p:spPr>
          <a:xfrm>
            <a:off x="647700" y="5457825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75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 dirty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lang="zh-CN" altLang="en-US" sz="975" b="0" dirty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个测试子集均取得最优结果</a:t>
            </a:r>
            <a:endParaRPr sz="975" b="0" dirty="0">
              <a:solidFill>
                <a:srgbClr val="687A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3B6AF8E-4D07-2158-5AA4-3B4EEB1EDEBE}"/>
              </a:ext>
            </a:extLst>
          </p:cNvPr>
          <p:cNvSpPr>
            <a:spLocks noGrp="1"/>
          </p:cNvSpPr>
          <p:nvPr/>
        </p:nvSpPr>
        <p:spPr>
          <a:xfrm>
            <a:off x="4171950" y="4591050"/>
            <a:ext cx="3619500" cy="1200150"/>
          </a:xfrm>
          <a:prstGeom prst="roundRect">
            <a:avLst>
              <a:gd name="adj" fmla="val 7937"/>
            </a:avLst>
          </a:prstGeom>
          <a:solidFill>
            <a:srgbClr val="FFF2E5"/>
          </a:solidFill>
          <a:ln w="9525">
            <a:solidFill>
              <a:srgbClr val="E88B2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F03A078-BE31-0215-08B6-5082E2B85FF1}"/>
              </a:ext>
            </a:extLst>
          </p:cNvPr>
          <p:cNvSpPr>
            <a:spLocks noGrp="1"/>
          </p:cNvSpPr>
          <p:nvPr/>
        </p:nvSpPr>
        <p:spPr>
          <a:xfrm>
            <a:off x="4343400" y="4667250"/>
            <a:ext cx="3257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E88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E88B2F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lang="zh-CN" altLang="en-US" sz="1275" b="1" dirty="0">
                <a:solidFill>
                  <a:srgbClr val="E88B2F"/>
                </a:solidFill>
                <a:latin typeface="Microsoft YaHei"/>
                <a:ea typeface="Microsoft YaHei"/>
                <a:cs typeface="Microsoft YaHei"/>
              </a:rPr>
              <a:t>整体平均性能</a:t>
            </a:r>
            <a:endParaRPr sz="1275" b="1" dirty="0">
              <a:solidFill>
                <a:srgbClr val="E88B2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D3949C-2486-C88F-EC6B-480D3B258AAD}"/>
              </a:ext>
            </a:extLst>
          </p:cNvPr>
          <p:cNvSpPr>
            <a:spLocks noGrp="1"/>
          </p:cNvSpPr>
          <p:nvPr/>
        </p:nvSpPr>
        <p:spPr>
          <a:xfrm>
            <a:off x="4343400" y="5000625"/>
            <a:ext cx="3257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AVG </a:t>
            </a:r>
            <a:r>
              <a:rPr lang="en-US" altLang="zh-CN" sz="12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IoU</a:t>
            </a:r>
            <a:r>
              <a:rPr lang="zh-CN" altLang="en-US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lang="en-US" altLang="zh-CN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0.4271</a:t>
            </a:r>
          </a:p>
          <a:p>
            <a:pPr algn="l">
              <a:def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AVG F1</a:t>
            </a:r>
            <a:r>
              <a:rPr lang="zh-CN" altLang="en-US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　  </a:t>
            </a:r>
            <a:r>
              <a:rPr lang="en-US" altLang="zh-CN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0.4941</a:t>
            </a:r>
            <a:endParaRPr sz="1275" b="1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8380D3-8689-555D-0E15-F31079A6E01B}"/>
              </a:ext>
            </a:extLst>
          </p:cNvPr>
          <p:cNvSpPr>
            <a:spLocks noGrp="1"/>
          </p:cNvSpPr>
          <p:nvPr/>
        </p:nvSpPr>
        <p:spPr>
          <a:xfrm>
            <a:off x="4343400" y="5457825"/>
            <a:ext cx="32575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75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 dirty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在全部方法中整体最优</a:t>
            </a:r>
            <a:endParaRPr sz="975" b="0" dirty="0">
              <a:solidFill>
                <a:srgbClr val="687A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CA1702A-AAE5-F6BE-0030-B0E09A1EE138}"/>
              </a:ext>
            </a:extLst>
          </p:cNvPr>
          <p:cNvSpPr>
            <a:spLocks noGrp="1"/>
          </p:cNvSpPr>
          <p:nvPr/>
        </p:nvSpPr>
        <p:spPr>
          <a:xfrm>
            <a:off x="7943850" y="4591050"/>
            <a:ext cx="3771900" cy="1200150"/>
          </a:xfrm>
          <a:prstGeom prst="roundRect">
            <a:avLst>
              <a:gd name="adj" fmla="val 7937"/>
            </a:avLst>
          </a:prstGeom>
          <a:solidFill>
            <a:srgbClr val="EAF2FC"/>
          </a:solidFill>
          <a:ln w="9525">
            <a:solidFill>
              <a:srgbClr val="316AA6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E50EF8F-43EB-CF6D-932C-A092148DBC4D}"/>
              </a:ext>
            </a:extLst>
          </p:cNvPr>
          <p:cNvSpPr>
            <a:spLocks noGrp="1"/>
          </p:cNvSpPr>
          <p:nvPr/>
        </p:nvSpPr>
        <p:spPr>
          <a:xfrm>
            <a:off x="8115300" y="4667250"/>
            <a:ext cx="34099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316AA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316AA6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1275" b="1" dirty="0">
                <a:solidFill>
                  <a:srgbClr val="316AA6"/>
                </a:solidFill>
                <a:latin typeface="Microsoft YaHei"/>
                <a:ea typeface="Microsoft YaHei"/>
                <a:cs typeface="Microsoft YaHei"/>
              </a:rPr>
              <a:t>跨域难点：Flux.1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C1FE20-B8B2-4FE2-2D03-81B1907BA5B0}"/>
              </a:ext>
            </a:extLst>
          </p:cNvPr>
          <p:cNvSpPr>
            <a:spLocks noGrp="1"/>
          </p:cNvSpPr>
          <p:nvPr/>
        </p:nvSpPr>
        <p:spPr>
          <a:xfrm>
            <a:off x="8115300" y="5000625"/>
            <a:ext cx="34099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IoU 0.1622　F1 0.2034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176D2F6-CBC0-2724-4A9E-94ABF811C063}"/>
              </a:ext>
            </a:extLst>
          </p:cNvPr>
          <p:cNvSpPr>
            <a:spLocks noGrp="1"/>
          </p:cNvSpPr>
          <p:nvPr/>
        </p:nvSpPr>
        <p:spPr>
          <a:xfrm>
            <a:off x="8115300" y="5381625"/>
            <a:ext cx="34099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75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虽仍为最优，但</a:t>
            </a:r>
            <a:r>
              <a:rPr lang="zh-CN" altLang="en-US" sz="975" dirty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检测结果</a:t>
            </a:r>
            <a:r>
              <a:rPr sz="975" b="0" dirty="0" err="1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明显</a:t>
            </a:r>
            <a:r>
              <a:rPr lang="zh-CN" altLang="en-US" sz="975" b="0" dirty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差于</a:t>
            </a:r>
            <a:r>
              <a:rPr sz="975" b="0" dirty="0" err="1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其他</a:t>
            </a:r>
            <a:r>
              <a:rPr lang="zh-CN" altLang="en-US" sz="975" b="0" dirty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endParaRPr sz="975" b="0" dirty="0">
              <a:solidFill>
                <a:srgbClr val="687A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85C010D-85A9-29DB-6CD9-2C3B616B68D4}"/>
              </a:ext>
            </a:extLst>
          </p:cNvPr>
          <p:cNvSpPr>
            <a:spLocks noGrp="1"/>
          </p:cNvSpPr>
          <p:nvPr/>
        </p:nvSpPr>
        <p:spPr>
          <a:xfrm>
            <a:off x="476250" y="5962650"/>
            <a:ext cx="11239500" cy="476250"/>
          </a:xfrm>
          <a:prstGeom prst="roundRect">
            <a:avLst>
              <a:gd name="adj" fmla="val 18000"/>
            </a:avLst>
          </a:prstGeom>
          <a:solidFill>
            <a:srgbClr val="F0F4F9"/>
          </a:solidFill>
          <a:ln w="0">
            <a:noFill/>
            <a:prstDash val="solid"/>
          </a:ln>
        </p:spPr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75A23D1-405D-D77D-9CF5-F852E5E44410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1200150" cy="361950"/>
          </a:xfrm>
          <a:prstGeom prst="roundRect">
            <a:avLst>
              <a:gd name="adj" fmla="val 18421"/>
            </a:avLst>
          </a:prstGeom>
          <a:solidFill>
            <a:srgbClr val="1D4276"/>
          </a:solidFill>
          <a:ln w="0">
            <a:solidFill>
              <a:srgbClr val="1D4276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360B8E6-4F93-D68B-E382-E5011F9FB46B}"/>
              </a:ext>
            </a:extLst>
          </p:cNvPr>
          <p:cNvSpPr>
            <a:spLocks noGrp="1"/>
          </p:cNvSpPr>
          <p:nvPr/>
        </p:nvSpPr>
        <p:spPr>
          <a:xfrm>
            <a:off x="533400" y="6048375"/>
            <a:ext cx="1200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</a:t>
            </a:r>
            <a:r>
              <a:rPr sz="12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  <a:endParaRPr sz="12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49A0F2B-3743-721E-87A8-5166A18B9314}"/>
              </a:ext>
            </a:extLst>
          </p:cNvPr>
          <p:cNvSpPr>
            <a:spLocks noGrp="1"/>
          </p:cNvSpPr>
          <p:nvPr/>
        </p:nvSpPr>
        <p:spPr>
          <a:xfrm>
            <a:off x="1924050" y="6019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MaskCLIP在所有生成器上均取得最佳定位结果，跨模型泛化优势更明显</a:t>
            </a:r>
            <a:r>
              <a:rPr sz="1350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36C7FC-EE9F-DDF9-A733-00D4BB313432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098F2E-E6AB-9191-336F-562633FD4339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4CEBAB-4178-BA51-9623-3C579AD5F3ED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74EE01-0F49-84D8-BE92-3A658931066D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041990D-AD5D-6516-D9D7-E9ECC21FDE80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0EF6CB0-1E9E-BA4D-3341-29FAB4946CAA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EDA68DD-B1AE-A2BA-554A-5664F6C909B8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9C37322-D8B2-0F85-5497-A0F52E2505D9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8728EB6-0949-25EE-94C5-C622EC866A36}"/>
              </a:ext>
            </a:extLst>
          </p:cNvPr>
          <p:cNvGrpSpPr/>
          <p:nvPr/>
        </p:nvGrpSpPr>
        <p:grpSpPr>
          <a:xfrm>
            <a:off x="7258050" y="810044"/>
            <a:ext cx="1826148" cy="99594"/>
            <a:chOff x="1185700" y="827567"/>
            <a:chExt cx="1826148" cy="99594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0304E7BD-498D-CF99-5F0F-14957FF792F8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0F3F7D4C-FDA2-916A-5E45-8EDCC9704E6E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06471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D07CD-BAB6-1910-DF0A-E0D48671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B98EF1-4037-2307-5177-AAF414397343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634686-1750-9A9B-9603-3BD2CC57571B}"/>
              </a:ext>
            </a:extLst>
          </p:cNvPr>
          <p:cNvSpPr>
            <a:spLocks noGrp="1"/>
          </p:cNvSpPr>
          <p:nvPr/>
        </p:nvSpPr>
        <p:spPr>
          <a:xfrm>
            <a:off x="838200" y="1228725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实验结果：像素级定位</a:t>
            </a:r>
            <a:endParaRPr sz="2175" b="1" dirty="0">
              <a:solidFill>
                <a:srgbClr val="172B4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CAE5A0B-A59A-76BC-9CBC-9DA0B5B76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7572" y="1791895"/>
            <a:ext cx="9492025" cy="4452653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6DC4F9E-7C62-8506-93D9-4E77BAB5C1CA}"/>
              </a:ext>
            </a:extLst>
          </p:cNvPr>
          <p:cNvSpPr>
            <a:spLocks noGrp="1"/>
          </p:cNvSpPr>
          <p:nvPr/>
        </p:nvSpPr>
        <p:spPr>
          <a:xfrm>
            <a:off x="9981535" y="1791895"/>
            <a:ext cx="874881" cy="4452653"/>
          </a:xfrm>
          <a:prstGeom prst="roundRect">
            <a:avLst>
              <a:gd name="adj" fmla="val 5682"/>
            </a:avLst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684C30-FB52-AF69-5E51-0F114665A2A3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A66603-754C-DC9C-B840-0ED9DF88038B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3D77B4-2CFB-EB89-3763-7AB4B3297EC9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11E469-1399-8436-16E3-B4199D273B00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006580-5E91-583F-1C72-8CFE0F942103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E86677-150B-85BA-C0D3-B084D6A35BD1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E0399A4-D2F9-0950-BC62-5A0EE01244DD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2F0ADE2-94CE-9FA9-D0CA-94BED329B6EC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F20513E-DA94-DEB2-7223-B9009B77CAF9}"/>
              </a:ext>
            </a:extLst>
          </p:cNvPr>
          <p:cNvGrpSpPr/>
          <p:nvPr/>
        </p:nvGrpSpPr>
        <p:grpSpPr>
          <a:xfrm>
            <a:off x="7258050" y="810044"/>
            <a:ext cx="1826148" cy="99594"/>
            <a:chOff x="1185700" y="827567"/>
            <a:chExt cx="1826148" cy="99594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8B597F5C-2C89-3C67-D5B9-BE09CD0EE873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DB2AA409-E0EE-53CB-B34D-90A5BBB6FB68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EFF7C39-C429-3578-FA9A-D6DDA185E49B}"/>
              </a:ext>
            </a:extLst>
          </p:cNvPr>
          <p:cNvSpPr>
            <a:spLocks noGrp="1"/>
          </p:cNvSpPr>
          <p:nvPr/>
        </p:nvSpPr>
        <p:spPr>
          <a:xfrm>
            <a:off x="3171825" y="1791895"/>
            <a:ext cx="874881" cy="4452654"/>
          </a:xfrm>
          <a:prstGeom prst="roundRect">
            <a:avLst>
              <a:gd name="adj" fmla="val 5682"/>
            </a:avLst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580F5D-81F1-D477-3076-2D1F0F827CDB}"/>
              </a:ext>
            </a:extLst>
          </p:cNvPr>
          <p:cNvSpPr txBox="1"/>
          <p:nvPr/>
        </p:nvSpPr>
        <p:spPr>
          <a:xfrm>
            <a:off x="2320218" y="6420368"/>
            <a:ext cx="8098757" cy="3000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lang="zh-CN"/>
            </a:defPPr>
            <a:lvl1pPr>
              <a:defRPr sz="135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rPr lang="zh-CN" altLang="zh-CN" dirty="0"/>
              <a:t>MaskCLIP在多数生成器上能更准确、完整地恢复伪造区域，但在Flux.1上仍存在明显漏检。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315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70A4-09D8-BB89-1C00-F14EDEFC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76EE3FA-936B-5E15-AD3A-FBE14D1664B7}"/>
              </a:ext>
            </a:extLst>
          </p:cNvPr>
          <p:cNvSpPr>
            <a:spLocks noGrp="1"/>
          </p:cNvSpPr>
          <p:nvPr/>
        </p:nvSpPr>
        <p:spPr>
          <a:xfrm>
            <a:off x="7922675" y="4895850"/>
            <a:ext cx="3619500" cy="990600"/>
          </a:xfrm>
          <a:prstGeom prst="roundRect">
            <a:avLst>
              <a:gd name="adj" fmla="val 9615"/>
            </a:avLst>
          </a:prstGeom>
          <a:solidFill>
            <a:srgbClr val="FFF2E5"/>
          </a:solidFill>
          <a:ln w="9525">
            <a:solidFill>
              <a:srgbClr val="E88B2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BA3152-8419-C85C-9D66-EF6F1797CE23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42073F-82CD-F156-A4C9-F1070EF01B1B}"/>
              </a:ext>
            </a:extLst>
          </p:cNvPr>
          <p:cNvSpPr>
            <a:spLocks noGrp="1"/>
          </p:cNvSpPr>
          <p:nvPr/>
        </p:nvSpPr>
        <p:spPr>
          <a:xfrm>
            <a:off x="838200" y="1228725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消融实验：各模块的贡献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5DA8B31-A3FF-C88A-E514-CBB78A2A860A}"/>
              </a:ext>
            </a:extLst>
          </p:cNvPr>
          <p:cNvSpPr>
            <a:spLocks noGrp="1"/>
          </p:cNvSpPr>
          <p:nvPr/>
        </p:nvSpPr>
        <p:spPr>
          <a:xfrm>
            <a:off x="476250" y="1828800"/>
            <a:ext cx="4191000" cy="28575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BCD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E5318B-747D-13C2-6F4D-BBAC11E719A1}"/>
              </a:ext>
            </a:extLst>
          </p:cNvPr>
          <p:cNvSpPr>
            <a:spLocks noGrp="1"/>
          </p:cNvSpPr>
          <p:nvPr/>
        </p:nvSpPr>
        <p:spPr>
          <a:xfrm>
            <a:off x="664576" y="2014537"/>
            <a:ext cx="2000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 dirty="0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  <a:endParaRPr sz="1350" b="1" dirty="0">
              <a:solidFill>
                <a:srgbClr val="1D4276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4FA17D0-5C5F-AA65-E725-1F144830EA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9"/>
          <a:stretch>
            <a:fillRect/>
          </a:stretch>
        </p:blipFill>
        <p:spPr>
          <a:xfrm>
            <a:off x="590550" y="2697180"/>
            <a:ext cx="3886200" cy="1437205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A8A7C2A-3135-449E-7D21-66C802428A68}"/>
              </a:ext>
            </a:extLst>
          </p:cNvPr>
          <p:cNvSpPr>
            <a:spLocks noGrp="1"/>
          </p:cNvSpPr>
          <p:nvPr/>
        </p:nvSpPr>
        <p:spPr>
          <a:xfrm>
            <a:off x="4857750" y="1828800"/>
            <a:ext cx="68580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CD0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ACC4790-540F-9597-75EC-69096429B548}"/>
              </a:ext>
            </a:extLst>
          </p:cNvPr>
          <p:cNvSpPr>
            <a:spLocks noGrp="1"/>
          </p:cNvSpPr>
          <p:nvPr/>
        </p:nvSpPr>
        <p:spPr>
          <a:xfrm>
            <a:off x="5065126" y="2014537"/>
            <a:ext cx="3333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逐步加入</a:t>
            </a:r>
            <a:r>
              <a:rPr lang="zh-CN" altLang="en-US" sz="1350" b="1" dirty="0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各</a:t>
            </a:r>
            <a:r>
              <a:rPr sz="1350" b="1" dirty="0">
                <a:solidFill>
                  <a:srgbClr val="1D4276"/>
                </a:solidFill>
                <a:latin typeface="Microsoft YaHei"/>
                <a:ea typeface="Microsoft YaHei"/>
                <a:cs typeface="Microsoft YaHei"/>
              </a:rPr>
              <a:t>模块后的F1变化</a:t>
            </a:r>
          </a:p>
        </p:txBody>
      </p:sp>
      <p:graphicFrame>
        <p:nvGraphicFramePr>
          <p:cNvPr id="31" name="Chart">
            <a:extLst>
              <a:ext uri="{FF2B5EF4-FFF2-40B4-BE49-F238E27FC236}">
                <a16:creationId xmlns:a16="http://schemas.microsoft.com/office/drawing/2014/main" id="{E147A145-F51B-258B-B8C1-1EC96ABC05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888560"/>
              </p:ext>
            </p:extLst>
          </p:nvPr>
        </p:nvGraphicFramePr>
        <p:xfrm>
          <a:off x="4991100" y="2289594"/>
          <a:ext cx="6534150" cy="2343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744DDEF-4025-7F40-7257-96B069926EF0}"/>
              </a:ext>
            </a:extLst>
          </p:cNvPr>
          <p:cNvSpPr>
            <a:spLocks noGrp="1"/>
          </p:cNvSpPr>
          <p:nvPr/>
        </p:nvSpPr>
        <p:spPr>
          <a:xfrm>
            <a:off x="476250" y="4895850"/>
            <a:ext cx="3543300" cy="990600"/>
          </a:xfrm>
          <a:prstGeom prst="roundRect">
            <a:avLst>
              <a:gd name="adj" fmla="val 9615"/>
            </a:avLst>
          </a:prstGeom>
          <a:solidFill>
            <a:srgbClr val="EAF2FC"/>
          </a:solidFill>
          <a:ln w="9525">
            <a:solidFill>
              <a:srgbClr val="316AA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066628-3CC4-C9F2-C6E7-DEC1B59D59BF}"/>
              </a:ext>
            </a:extLst>
          </p:cNvPr>
          <p:cNvSpPr>
            <a:spLocks noGrp="1"/>
          </p:cNvSpPr>
          <p:nvPr/>
        </p:nvSpPr>
        <p:spPr>
          <a:xfrm>
            <a:off x="649825" y="5105097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316A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316AA6"/>
                </a:solidFill>
                <a:latin typeface="Microsoft YaHei"/>
                <a:ea typeface="Microsoft YaHei"/>
                <a:cs typeface="Microsoft YaHei"/>
              </a:rPr>
              <a:t>① Prompt</a:t>
            </a:r>
            <a:r>
              <a:rPr lang="zh-CN" altLang="en-US" sz="1275" b="1" dirty="0">
                <a:solidFill>
                  <a:srgbClr val="316AA6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75" b="1" dirty="0">
                <a:solidFill>
                  <a:srgbClr val="316AA6"/>
                </a:solidFill>
                <a:latin typeface="Microsoft YaHei"/>
                <a:ea typeface="Microsoft YaHei"/>
                <a:cs typeface="Microsoft YaHei"/>
              </a:rPr>
              <a:t>VSA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E6D68BF-0FF5-7F43-3A68-B4D2157F6036}"/>
              </a:ext>
            </a:extLst>
          </p:cNvPr>
          <p:cNvSpPr>
            <a:spLocks noGrp="1"/>
          </p:cNvSpPr>
          <p:nvPr/>
        </p:nvSpPr>
        <p:spPr>
          <a:xfrm>
            <a:off x="649825" y="5381322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Image F1：0.7613 → 0.9083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2C7B610-92C7-DF54-8FE1-F2B27771A8EA}"/>
              </a:ext>
            </a:extLst>
          </p:cNvPr>
          <p:cNvSpPr>
            <a:spLocks noGrp="1"/>
          </p:cNvSpPr>
          <p:nvPr/>
        </p:nvSpPr>
        <p:spPr>
          <a:xfrm>
            <a:off x="4171950" y="4895850"/>
            <a:ext cx="3619500" cy="990600"/>
          </a:xfrm>
          <a:prstGeom prst="roundRect">
            <a:avLst>
              <a:gd name="adj" fmla="val 9615"/>
            </a:avLst>
          </a:prstGeom>
          <a:solidFill>
            <a:srgbClr val="FFF2E5"/>
          </a:solidFill>
          <a:ln w="9525">
            <a:solidFill>
              <a:srgbClr val="E88B2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760776-8E1F-3B27-06FB-01ECD40557B0}"/>
              </a:ext>
            </a:extLst>
          </p:cNvPr>
          <p:cNvSpPr>
            <a:spLocks noGrp="1"/>
          </p:cNvSpPr>
          <p:nvPr/>
        </p:nvSpPr>
        <p:spPr>
          <a:xfrm>
            <a:off x="4360325" y="5105097"/>
            <a:ext cx="32575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E88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E88B2F"/>
                </a:solidFill>
                <a:latin typeface="Microsoft YaHei"/>
                <a:ea typeface="Microsoft YaHei"/>
                <a:cs typeface="Microsoft YaHei"/>
              </a:rPr>
              <a:t>② VCA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F477E9-20F0-9DD0-A0F2-D2C65A346282}"/>
              </a:ext>
            </a:extLst>
          </p:cNvPr>
          <p:cNvSpPr>
            <a:spLocks noGrp="1"/>
          </p:cNvSpPr>
          <p:nvPr/>
        </p:nvSpPr>
        <p:spPr>
          <a:xfrm>
            <a:off x="4360325" y="5381322"/>
            <a:ext cx="32575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Pixel F1：0.4259 → 0.6532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184C2B3-CF0F-E18A-AC14-3ED61E4B7FBE}"/>
              </a:ext>
            </a:extLst>
          </p:cNvPr>
          <p:cNvSpPr>
            <a:spLocks noGrp="1"/>
          </p:cNvSpPr>
          <p:nvPr/>
        </p:nvSpPr>
        <p:spPr>
          <a:xfrm>
            <a:off x="8132225" y="5105097"/>
            <a:ext cx="3409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2E8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2E8066"/>
                </a:solidFill>
                <a:latin typeface="Microsoft YaHei"/>
                <a:ea typeface="Microsoft YaHei"/>
                <a:cs typeface="Microsoft YaHei"/>
              </a:rPr>
              <a:t>③ TVCA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B2327C0-9A69-C127-CB49-DCB744B6BB6F}"/>
              </a:ext>
            </a:extLst>
          </p:cNvPr>
          <p:cNvSpPr>
            <a:spLocks noGrp="1"/>
          </p:cNvSpPr>
          <p:nvPr/>
        </p:nvSpPr>
        <p:spPr>
          <a:xfrm>
            <a:off x="8132225" y="5381322"/>
            <a:ext cx="3409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Pixel F1：0.6532 → 0.7563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6F4FAAF-46B4-15E9-A44D-C4A42AF8B1D2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239500" cy="400050"/>
          </a:xfrm>
          <a:prstGeom prst="roundRect">
            <a:avLst>
              <a:gd name="adj" fmla="val 21429"/>
            </a:avLst>
          </a:prstGeom>
          <a:solidFill>
            <a:srgbClr val="F0F4F9"/>
          </a:solidFill>
          <a:ln w="0">
            <a:noFill/>
            <a:prstDash val="solid"/>
          </a:ln>
        </p:spPr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5C31B6F-FD97-ED1B-E50D-0605DCEB3D95}"/>
              </a:ext>
            </a:extLst>
          </p:cNvPr>
          <p:cNvSpPr>
            <a:spLocks noGrp="1"/>
          </p:cNvSpPr>
          <p:nvPr/>
        </p:nvSpPr>
        <p:spPr>
          <a:xfrm>
            <a:off x="533400" y="6105525"/>
            <a:ext cx="1200150" cy="304800"/>
          </a:xfrm>
          <a:prstGeom prst="roundRect">
            <a:avLst>
              <a:gd name="adj" fmla="val 21875"/>
            </a:avLst>
          </a:prstGeom>
          <a:solidFill>
            <a:srgbClr val="1D4276"/>
          </a:solidFill>
          <a:ln w="0">
            <a:solidFill>
              <a:srgbClr val="1D4276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E5E9B72-8055-D1CC-B1C7-BEF7A817EBB8}"/>
              </a:ext>
            </a:extLst>
          </p:cNvPr>
          <p:cNvSpPr>
            <a:spLocks noGrp="1"/>
          </p:cNvSpPr>
          <p:nvPr/>
        </p:nvSpPr>
        <p:spPr>
          <a:xfrm>
            <a:off x="533400" y="6124575"/>
            <a:ext cx="12001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  <a:endParaRPr sz="12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BA1DCEA-A13F-C689-2477-78E828C18EF0}"/>
              </a:ext>
            </a:extLst>
          </p:cNvPr>
          <p:cNvSpPr>
            <a:spLocks noGrp="1"/>
          </p:cNvSpPr>
          <p:nvPr/>
        </p:nvSpPr>
        <p:spPr>
          <a:xfrm>
            <a:off x="1924050" y="609600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Prompt与VSA强化</a:t>
            </a:r>
            <a:r>
              <a:rPr lang="zh-CN" altLang="en-US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图像级真假</a:t>
            </a:r>
            <a:r>
              <a:rPr sz="12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检测，VCA与TVCA决定</a:t>
            </a:r>
            <a:r>
              <a:rPr lang="zh-CN" altLang="en-US"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像素级定位</a:t>
            </a:r>
            <a:r>
              <a:rPr sz="1275" b="1" dirty="0" err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性能，四类模块分工互补</a:t>
            </a:r>
            <a:r>
              <a:rPr sz="1275" b="1" dirty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E7F5C9A-46EC-9A0E-F859-3102E1CB7029}"/>
              </a:ext>
            </a:extLst>
          </p:cNvPr>
          <p:cNvSpPr>
            <a:spLocks noGrp="1"/>
          </p:cNvSpPr>
          <p:nvPr/>
        </p:nvSpPr>
        <p:spPr>
          <a:xfrm>
            <a:off x="10096500" y="6534150"/>
            <a:ext cx="15716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675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87A90"/>
                </a:solidFill>
                <a:latin typeface="Microsoft YaHei"/>
                <a:ea typeface="Microsoft YaHei"/>
                <a:cs typeface="Microsoft YaHei"/>
              </a:rPr>
              <a:t>来源：OpenSDI，Table 5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DB15537-2E1B-3A22-5B5D-54E60F835DAC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538CA81-44F2-1F34-DA0C-7D972E1F8F51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B142587-07D4-7EAC-73DA-754BEC920FB9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E0A6FBC-0BCB-22C1-E25B-F443C8E8D91E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353BFEF-7FDC-B426-4892-B6A3D31EF932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9990ADD-7DA2-0096-0FDB-A1F447F82153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C6046CA-A675-A70D-6FF5-1D77F6B8193C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19D939A-C03C-09FC-67FD-F2A0F8DA314D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AC56034A-11C5-AE48-E7F0-BDB423398A9F}"/>
              </a:ext>
            </a:extLst>
          </p:cNvPr>
          <p:cNvGrpSpPr/>
          <p:nvPr/>
        </p:nvGrpSpPr>
        <p:grpSpPr>
          <a:xfrm>
            <a:off x="7258050" y="810044"/>
            <a:ext cx="1826148" cy="99594"/>
            <a:chOff x="1185700" y="827567"/>
            <a:chExt cx="1826148" cy="99594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F83E95B8-C117-FD43-9E84-E0F5F0355631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97689535-4F62-0F89-00FB-46DEB9A87308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74577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5BCD397-5ED7-435C-C996-B5909E7B957F}"/>
              </a:ext>
            </a:extLst>
          </p:cNvPr>
          <p:cNvSpPr/>
          <p:nvPr/>
        </p:nvSpPr>
        <p:spPr>
          <a:xfrm>
            <a:off x="69770" y="968374"/>
            <a:ext cx="4979258" cy="5889625"/>
          </a:xfrm>
          <a:custGeom>
            <a:avLst/>
            <a:gdLst>
              <a:gd name="connsiteX0" fmla="*/ 538877 w 5953097"/>
              <a:gd name="connsiteY0" fmla="*/ 0 h 6858000"/>
              <a:gd name="connsiteX1" fmla="*/ 3516715 w 5953097"/>
              <a:gd name="connsiteY1" fmla="*/ 0 h 6858000"/>
              <a:gd name="connsiteX2" fmla="*/ 3555701 w 5953097"/>
              <a:gd name="connsiteY2" fmla="*/ 15372 h 6858000"/>
              <a:gd name="connsiteX3" fmla="*/ 5953097 w 5953097"/>
              <a:gd name="connsiteY3" fmla="*/ 3632200 h 6858000"/>
              <a:gd name="connsiteX4" fmla="*/ 4524652 w 5953097"/>
              <a:gd name="connsiteY4" fmla="*/ 6661151 h 6858000"/>
              <a:gd name="connsiteX5" fmla="*/ 4261410 w 5953097"/>
              <a:gd name="connsiteY5" fmla="*/ 6858000 h 6858000"/>
              <a:gd name="connsiteX6" fmla="*/ 0 w 5953097"/>
              <a:gd name="connsiteY6" fmla="*/ 6858000 h 6858000"/>
              <a:gd name="connsiteX7" fmla="*/ 0 w 5953097"/>
              <a:gd name="connsiteY7" fmla="*/ 270802 h 6858000"/>
              <a:gd name="connsiteX8" fmla="*/ 156765 w 5953097"/>
              <a:gd name="connsiteY8" fmla="*/ 180664 h 6858000"/>
              <a:gd name="connsiteX9" fmla="*/ 499892 w 5953097"/>
              <a:gd name="connsiteY9" fmla="*/ 153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53097" h="6858000">
                <a:moveTo>
                  <a:pt x="538877" y="0"/>
                </a:moveTo>
                <a:lnTo>
                  <a:pt x="3516715" y="0"/>
                </a:lnTo>
                <a:lnTo>
                  <a:pt x="3555701" y="15372"/>
                </a:lnTo>
                <a:cubicBezTo>
                  <a:pt x="4964550" y="611264"/>
                  <a:pt x="5953097" y="2006289"/>
                  <a:pt x="5953097" y="3632200"/>
                </a:cubicBezTo>
                <a:cubicBezTo>
                  <a:pt x="5953097" y="4851634"/>
                  <a:pt x="5397040" y="5941194"/>
                  <a:pt x="4524652" y="6661151"/>
                </a:cubicBezTo>
                <a:lnTo>
                  <a:pt x="4261410" y="6858000"/>
                </a:lnTo>
                <a:lnTo>
                  <a:pt x="0" y="6858000"/>
                </a:lnTo>
                <a:lnTo>
                  <a:pt x="0" y="270802"/>
                </a:lnTo>
                <a:lnTo>
                  <a:pt x="156765" y="180664"/>
                </a:lnTo>
                <a:cubicBezTo>
                  <a:pt x="268002" y="120237"/>
                  <a:pt x="382488" y="65029"/>
                  <a:pt x="499892" y="1537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 w="12700">
            <a:noFill/>
          </a:ln>
          <a:effectLst>
            <a:outerShdw blurRad="304800" dist="228600" dir="738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85FEF12-D33E-5A5D-C4A1-BC6281DB9323}"/>
              </a:ext>
            </a:extLst>
          </p:cNvPr>
          <p:cNvGrpSpPr/>
          <p:nvPr/>
        </p:nvGrpSpPr>
        <p:grpSpPr>
          <a:xfrm>
            <a:off x="585118" y="1743348"/>
            <a:ext cx="10551996" cy="4362317"/>
            <a:chOff x="0" y="973278"/>
            <a:chExt cx="12102031" cy="5002060"/>
          </a:xfrm>
        </p:grpSpPr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0692769F-DD07-396E-2D50-4163702C23F9}"/>
                </a:ext>
              </a:extLst>
            </p:cNvPr>
            <p:cNvSpPr/>
            <p:nvPr/>
          </p:nvSpPr>
          <p:spPr>
            <a:xfrm>
              <a:off x="0" y="1111826"/>
              <a:ext cx="4377298" cy="4699000"/>
            </a:xfrm>
            <a:custGeom>
              <a:avLst/>
              <a:gdLst>
                <a:gd name="connsiteX0" fmla="*/ 2027796 w 4377298"/>
                <a:gd name="connsiteY0" fmla="*/ 0 h 4699000"/>
                <a:gd name="connsiteX1" fmla="*/ 4377298 w 4377298"/>
                <a:gd name="connsiteY1" fmla="*/ 2349500 h 4699000"/>
                <a:gd name="connsiteX2" fmla="*/ 2027796 w 4377298"/>
                <a:gd name="connsiteY2" fmla="*/ 4699000 h 4699000"/>
                <a:gd name="connsiteX3" fmla="*/ 79552 w 4377298"/>
                <a:gd name="connsiteY3" fmla="*/ 3663128 h 4699000"/>
                <a:gd name="connsiteX4" fmla="*/ 0 w 4377298"/>
                <a:gd name="connsiteY4" fmla="*/ 3532181 h 4699000"/>
                <a:gd name="connsiteX5" fmla="*/ 0 w 4377298"/>
                <a:gd name="connsiteY5" fmla="*/ 1166819 h 4699000"/>
                <a:gd name="connsiteX6" fmla="*/ 79552 w 4377298"/>
                <a:gd name="connsiteY6" fmla="*/ 1035872 h 4699000"/>
                <a:gd name="connsiteX7" fmla="*/ 2027796 w 4377298"/>
                <a:gd name="connsiteY7" fmla="*/ 0 h 469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7298" h="4699000">
                  <a:moveTo>
                    <a:pt x="2027796" y="0"/>
                  </a:moveTo>
                  <a:cubicBezTo>
                    <a:pt x="3325390" y="0"/>
                    <a:pt x="4377298" y="1051907"/>
                    <a:pt x="4377298" y="2349500"/>
                  </a:cubicBezTo>
                  <a:cubicBezTo>
                    <a:pt x="4377298" y="3647093"/>
                    <a:pt x="3325390" y="4699000"/>
                    <a:pt x="2027796" y="4699000"/>
                  </a:cubicBezTo>
                  <a:cubicBezTo>
                    <a:pt x="1216800" y="4699000"/>
                    <a:pt x="501775" y="4288099"/>
                    <a:pt x="79552" y="3663128"/>
                  </a:cubicBezTo>
                  <a:lnTo>
                    <a:pt x="0" y="3532181"/>
                  </a:lnTo>
                  <a:lnTo>
                    <a:pt x="0" y="1166819"/>
                  </a:lnTo>
                  <a:lnTo>
                    <a:pt x="79552" y="1035872"/>
                  </a:lnTo>
                  <a:cubicBezTo>
                    <a:pt x="501775" y="410901"/>
                    <a:pt x="1216800" y="0"/>
                    <a:pt x="2027796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gradFill flip="none" rotWithShape="1">
                <a:gsLst>
                  <a:gs pos="97248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10800000" scaled="1"/>
                <a:tileRect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sz="1600" dirty="0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32011AF-8E77-1C87-93FD-1AE1E3916FDC}"/>
                </a:ext>
              </a:extLst>
            </p:cNvPr>
            <p:cNvGrpSpPr/>
            <p:nvPr/>
          </p:nvGrpSpPr>
          <p:grpSpPr>
            <a:xfrm>
              <a:off x="327671" y="973278"/>
              <a:ext cx="11774360" cy="5002060"/>
              <a:chOff x="327671" y="940952"/>
              <a:chExt cx="11774360" cy="5002060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286A7555-7B45-2561-7500-7A2B69A97E1C}"/>
                  </a:ext>
                </a:extLst>
              </p:cNvPr>
              <p:cNvGrpSpPr/>
              <p:nvPr/>
            </p:nvGrpSpPr>
            <p:grpSpPr>
              <a:xfrm>
                <a:off x="5447305" y="942540"/>
                <a:ext cx="6654725" cy="1119755"/>
                <a:chOff x="126736" y="1677846"/>
                <a:chExt cx="5590955" cy="2012643"/>
              </a:xfrm>
            </p:grpSpPr>
            <p:sp>
              <p:nvSpPr>
                <p:cNvPr id="31" name="矩形: 圆角 30">
                  <a:extLst>
                    <a:ext uri="{FF2B5EF4-FFF2-40B4-BE49-F238E27FC236}">
                      <a16:creationId xmlns:a16="http://schemas.microsoft.com/office/drawing/2014/main" id="{A11EF945-E334-A87F-CF01-EADB0A4C6FD1}"/>
                    </a:ext>
                  </a:extLst>
                </p:cNvPr>
                <p:cNvSpPr/>
                <p:nvPr/>
              </p:nvSpPr>
              <p:spPr>
                <a:xfrm>
                  <a:off x="126736" y="1677846"/>
                  <a:ext cx="5590955" cy="2012643"/>
                </a:xfrm>
                <a:prstGeom prst="roundRect">
                  <a:avLst>
                    <a:gd name="adj" fmla="val 5843"/>
                  </a:avLst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600" dirty="0"/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1D9ACC2-CF28-CE9B-1E97-BD633B68EC1F}"/>
                    </a:ext>
                  </a:extLst>
                </p:cNvPr>
                <p:cNvSpPr txBox="1"/>
                <p:nvPr/>
              </p:nvSpPr>
              <p:spPr bwMode="auto">
                <a:xfrm>
                  <a:off x="1380030" y="1832933"/>
                  <a:ext cx="4173254" cy="15559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5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问题定义：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基于生成器、用户意图与生成范围持续变化，提出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开放世界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中扩散图像取证问题。</a:t>
                  </a:r>
                  <a:endPara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10013295-7396-858B-34E2-438D84A9F2B1}"/>
                  </a:ext>
                </a:extLst>
              </p:cNvPr>
              <p:cNvSpPr/>
              <p:nvPr/>
            </p:nvSpPr>
            <p:spPr>
              <a:xfrm>
                <a:off x="5447306" y="2226929"/>
                <a:ext cx="6654725" cy="1119755"/>
              </a:xfrm>
              <a:prstGeom prst="roundRect">
                <a:avLst>
                  <a:gd name="adj" fmla="val 5843"/>
                </a:avLst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600" dirty="0"/>
              </a:p>
            </p:txBody>
          </p:sp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0CA52655-D218-0202-658F-FCD2303AA931}"/>
                  </a:ext>
                </a:extLst>
              </p:cNvPr>
              <p:cNvSpPr/>
              <p:nvPr/>
            </p:nvSpPr>
            <p:spPr>
              <a:xfrm>
                <a:off x="5447306" y="3511318"/>
                <a:ext cx="6654725" cy="1119755"/>
              </a:xfrm>
              <a:prstGeom prst="roundRect">
                <a:avLst>
                  <a:gd name="adj" fmla="val 5843"/>
                </a:avLst>
              </a:prstGeom>
              <a:gradFill flip="none" rotWithShape="1">
                <a:gsLst>
                  <a:gs pos="0">
                    <a:schemeClr val="accent3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600" dirty="0"/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14B7D3D8-BF7D-E66B-F8F8-F5906CC53A32}"/>
                  </a:ext>
                </a:extLst>
              </p:cNvPr>
              <p:cNvSpPr/>
              <p:nvPr/>
            </p:nvSpPr>
            <p:spPr>
              <a:xfrm>
                <a:off x="5447306" y="4795706"/>
                <a:ext cx="6654725" cy="1119755"/>
              </a:xfrm>
              <a:prstGeom prst="roundRect">
                <a:avLst>
                  <a:gd name="adj" fmla="val 5843"/>
                </a:avLst>
              </a:prstGeom>
              <a:gradFill flip="none" rotWithShape="1">
                <a:gsLst>
                  <a:gs pos="0">
                    <a:schemeClr val="accent4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4"/>
                    </a:gs>
                    <a:gs pos="100000">
                      <a:schemeClr val="accent4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600" dirty="0"/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9B6FCED-2422-CF25-CD58-A104C78D43DA}"/>
                  </a:ext>
                </a:extLst>
              </p:cNvPr>
              <p:cNvGrpSpPr/>
              <p:nvPr/>
            </p:nvGrpSpPr>
            <p:grpSpPr>
              <a:xfrm>
                <a:off x="2886475" y="940952"/>
                <a:ext cx="3824618" cy="5002060"/>
                <a:chOff x="2886475" y="1167528"/>
                <a:chExt cx="3824618" cy="5002060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974DCBE9-3FB4-01DD-4962-0C7127BB6248}"/>
                    </a:ext>
                  </a:extLst>
                </p:cNvPr>
                <p:cNvGrpSpPr/>
                <p:nvPr/>
              </p:nvGrpSpPr>
              <p:grpSpPr>
                <a:xfrm>
                  <a:off x="2886475" y="1167528"/>
                  <a:ext cx="3824617" cy="2598048"/>
                  <a:chOff x="2886475" y="1167528"/>
                  <a:chExt cx="3824617" cy="2598048"/>
                </a:xfrm>
              </p:grpSpPr>
              <p:sp>
                <p:nvSpPr>
                  <p:cNvPr id="20" name="任意多边形: 形状 19">
                    <a:extLst>
                      <a:ext uri="{FF2B5EF4-FFF2-40B4-BE49-F238E27FC236}">
                        <a16:creationId xmlns:a16="http://schemas.microsoft.com/office/drawing/2014/main" id="{7E8C3EB4-75D8-FB61-3029-1F7C363D89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47307" y="1167528"/>
                    <a:ext cx="1263785" cy="1119755"/>
                  </a:xfrm>
                  <a:custGeom>
                    <a:avLst/>
                    <a:gdLst>
                      <a:gd name="T0" fmla="*/ 0 w 1745"/>
                      <a:gd name="T1" fmla="*/ 1320 h 1320"/>
                      <a:gd name="T2" fmla="*/ 1498 w 1745"/>
                      <a:gd name="T3" fmla="*/ 1320 h 1320"/>
                      <a:gd name="T4" fmla="*/ 1745 w 1745"/>
                      <a:gd name="T5" fmla="*/ 1072 h 1320"/>
                      <a:gd name="T6" fmla="*/ 1745 w 1745"/>
                      <a:gd name="T7" fmla="*/ 248 h 1320"/>
                      <a:gd name="T8" fmla="*/ 1498 w 1745"/>
                      <a:gd name="T9" fmla="*/ 0 h 1320"/>
                      <a:gd name="T10" fmla="*/ 0 w 1745"/>
                      <a:gd name="T11" fmla="*/ 0 h 1320"/>
                      <a:gd name="T12" fmla="*/ 0 w 1745"/>
                      <a:gd name="T13" fmla="*/ 1320 h 13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45" h="1320">
                        <a:moveTo>
                          <a:pt x="0" y="1320"/>
                        </a:moveTo>
                        <a:lnTo>
                          <a:pt x="1498" y="1320"/>
                        </a:lnTo>
                        <a:cubicBezTo>
                          <a:pt x="1634" y="1320"/>
                          <a:pt x="1745" y="1209"/>
                          <a:pt x="1745" y="1072"/>
                        </a:cubicBezTo>
                        <a:lnTo>
                          <a:pt x="1745" y="248"/>
                        </a:lnTo>
                        <a:cubicBezTo>
                          <a:pt x="1745" y="111"/>
                          <a:pt x="1634" y="0"/>
                          <a:pt x="1498" y="0"/>
                        </a:cubicBezTo>
                        <a:lnTo>
                          <a:pt x="0" y="0"/>
                        </a:lnTo>
                        <a:lnTo>
                          <a:pt x="0" y="1320"/>
                        </a:lnTo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/>
                    <a:r>
                      <a:rPr lang="en-US" altLang="zh-CN" sz="3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36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" name="任意多边形: 形状 20">
                    <a:extLst>
                      <a:ext uri="{FF2B5EF4-FFF2-40B4-BE49-F238E27FC236}">
                        <a16:creationId xmlns:a16="http://schemas.microsoft.com/office/drawing/2014/main" id="{7D320EC1-E25C-8FBD-E832-473575D320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6475" y="1167528"/>
                    <a:ext cx="2560829" cy="2598048"/>
                  </a:xfrm>
                  <a:custGeom>
                    <a:avLst/>
                    <a:gdLst>
                      <a:gd name="T0" fmla="*/ 1118 w 1118"/>
                      <a:gd name="T1" fmla="*/ 0 h 1453"/>
                      <a:gd name="T2" fmla="*/ 0 w 1118"/>
                      <a:gd name="T3" fmla="*/ 1453 h 1453"/>
                      <a:gd name="T4" fmla="*/ 1118 w 1118"/>
                      <a:gd name="T5" fmla="*/ 633 h 1453"/>
                      <a:gd name="T6" fmla="*/ 1118 w 1118"/>
                      <a:gd name="T7" fmla="*/ 0 h 14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18" h="1453">
                        <a:moveTo>
                          <a:pt x="1118" y="0"/>
                        </a:moveTo>
                        <a:lnTo>
                          <a:pt x="0" y="1453"/>
                        </a:lnTo>
                        <a:lnTo>
                          <a:pt x="1118" y="633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3600" b="1" dirty="0">
                      <a:solidFill>
                        <a:srgbClr val="FFFFFF"/>
                      </a:solidFill>
                    </a:endParaRPr>
                  </a:p>
                </p:txBody>
              </p: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847D7EBB-EE43-D9CA-C0AF-1624C979D050}"/>
                    </a:ext>
                  </a:extLst>
                </p:cNvPr>
                <p:cNvGrpSpPr/>
                <p:nvPr/>
              </p:nvGrpSpPr>
              <p:grpSpPr>
                <a:xfrm>
                  <a:off x="2886475" y="2453565"/>
                  <a:ext cx="3824617" cy="1298130"/>
                  <a:chOff x="2886475" y="2453565"/>
                  <a:chExt cx="3824617" cy="1298130"/>
                </a:xfrm>
              </p:grpSpPr>
              <p:sp>
                <p:nvSpPr>
                  <p:cNvPr id="18" name="任意多边形: 形状 17">
                    <a:extLst>
                      <a:ext uri="{FF2B5EF4-FFF2-40B4-BE49-F238E27FC236}">
                        <a16:creationId xmlns:a16="http://schemas.microsoft.com/office/drawing/2014/main" id="{7BC1260D-0801-0A72-9FB5-5800A8A4496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47307" y="2453565"/>
                    <a:ext cx="1263785" cy="1119755"/>
                  </a:xfrm>
                  <a:custGeom>
                    <a:avLst/>
                    <a:gdLst>
                      <a:gd name="T0" fmla="*/ 0 w 1745"/>
                      <a:gd name="T1" fmla="*/ 1319 h 1319"/>
                      <a:gd name="T2" fmla="*/ 1498 w 1745"/>
                      <a:gd name="T3" fmla="*/ 1319 h 1319"/>
                      <a:gd name="T4" fmla="*/ 1745 w 1745"/>
                      <a:gd name="T5" fmla="*/ 1071 h 1319"/>
                      <a:gd name="T6" fmla="*/ 1745 w 1745"/>
                      <a:gd name="T7" fmla="*/ 247 h 1319"/>
                      <a:gd name="T8" fmla="*/ 1498 w 1745"/>
                      <a:gd name="T9" fmla="*/ 0 h 1319"/>
                      <a:gd name="T10" fmla="*/ 0 w 1745"/>
                      <a:gd name="T11" fmla="*/ 0 h 1319"/>
                      <a:gd name="T12" fmla="*/ 0 w 1745"/>
                      <a:gd name="T13" fmla="*/ 1319 h 1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45" h="1319">
                        <a:moveTo>
                          <a:pt x="0" y="1319"/>
                        </a:moveTo>
                        <a:lnTo>
                          <a:pt x="1498" y="1319"/>
                        </a:lnTo>
                        <a:cubicBezTo>
                          <a:pt x="1634" y="1319"/>
                          <a:pt x="1745" y="1208"/>
                          <a:pt x="1745" y="1071"/>
                        </a:cubicBezTo>
                        <a:lnTo>
                          <a:pt x="1745" y="247"/>
                        </a:lnTo>
                        <a:cubicBezTo>
                          <a:pt x="1745" y="110"/>
                          <a:pt x="1634" y="0"/>
                          <a:pt x="1498" y="0"/>
                        </a:cubicBezTo>
                        <a:lnTo>
                          <a:pt x="0" y="0"/>
                        </a:lnTo>
                        <a:lnTo>
                          <a:pt x="0" y="1319"/>
                        </a:lnTo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/>
                    <a:r>
                      <a:rPr lang="en-US" altLang="zh-CN" sz="3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rPr>
                      <a:t>2</a:t>
                    </a:r>
                    <a:endParaRPr lang="zh-CN" altLang="en-US" sz="36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" name="任意多边形: 形状 18">
                    <a:extLst>
                      <a:ext uri="{FF2B5EF4-FFF2-40B4-BE49-F238E27FC236}">
                        <a16:creationId xmlns:a16="http://schemas.microsoft.com/office/drawing/2014/main" id="{E10F11BE-3525-2564-131F-3921399B93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6475" y="2453565"/>
                    <a:ext cx="2560829" cy="1298130"/>
                  </a:xfrm>
                  <a:custGeom>
                    <a:avLst/>
                    <a:gdLst>
                      <a:gd name="T0" fmla="*/ 1118 w 1118"/>
                      <a:gd name="T1" fmla="*/ 0 h 726"/>
                      <a:gd name="T2" fmla="*/ 0 w 1118"/>
                      <a:gd name="T3" fmla="*/ 726 h 726"/>
                      <a:gd name="T4" fmla="*/ 1118 w 1118"/>
                      <a:gd name="T5" fmla="*/ 633 h 726"/>
                      <a:gd name="T6" fmla="*/ 1118 w 1118"/>
                      <a:gd name="T7" fmla="*/ 0 h 7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18" h="726">
                        <a:moveTo>
                          <a:pt x="1118" y="0"/>
                        </a:moveTo>
                        <a:lnTo>
                          <a:pt x="0" y="726"/>
                        </a:lnTo>
                        <a:lnTo>
                          <a:pt x="1118" y="633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3600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7519D465-D150-C96F-D9A8-1E75C06C88CE}"/>
                    </a:ext>
                  </a:extLst>
                </p:cNvPr>
                <p:cNvGrpSpPr/>
                <p:nvPr/>
              </p:nvGrpSpPr>
              <p:grpSpPr>
                <a:xfrm>
                  <a:off x="2886475" y="3737832"/>
                  <a:ext cx="3824618" cy="1131841"/>
                  <a:chOff x="2886475" y="3737832"/>
                  <a:chExt cx="3824618" cy="1131841"/>
                </a:xfrm>
              </p:grpSpPr>
              <p:sp>
                <p:nvSpPr>
                  <p:cNvPr id="16" name="任意多边形: 形状 15">
                    <a:extLst>
                      <a:ext uri="{FF2B5EF4-FFF2-40B4-BE49-F238E27FC236}">
                        <a16:creationId xmlns:a16="http://schemas.microsoft.com/office/drawing/2014/main" id="{BED41929-CE86-CE7E-2611-8DBF94E723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47307" y="3737832"/>
                    <a:ext cx="1263786" cy="1119755"/>
                  </a:xfrm>
                  <a:custGeom>
                    <a:avLst/>
                    <a:gdLst>
                      <a:gd name="T0" fmla="*/ 0 w 1745"/>
                      <a:gd name="T1" fmla="*/ 1319 h 1319"/>
                      <a:gd name="T2" fmla="*/ 1498 w 1745"/>
                      <a:gd name="T3" fmla="*/ 1319 h 1319"/>
                      <a:gd name="T4" fmla="*/ 1745 w 1745"/>
                      <a:gd name="T5" fmla="*/ 1071 h 1319"/>
                      <a:gd name="T6" fmla="*/ 1745 w 1745"/>
                      <a:gd name="T7" fmla="*/ 247 h 1319"/>
                      <a:gd name="T8" fmla="*/ 1498 w 1745"/>
                      <a:gd name="T9" fmla="*/ 0 h 1319"/>
                      <a:gd name="T10" fmla="*/ 0 w 1745"/>
                      <a:gd name="T11" fmla="*/ 0 h 1319"/>
                      <a:gd name="T12" fmla="*/ 0 w 1745"/>
                      <a:gd name="T13" fmla="*/ 1319 h 1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45" h="1319">
                        <a:moveTo>
                          <a:pt x="0" y="1319"/>
                        </a:moveTo>
                        <a:lnTo>
                          <a:pt x="1498" y="1319"/>
                        </a:lnTo>
                        <a:cubicBezTo>
                          <a:pt x="1634" y="1319"/>
                          <a:pt x="1745" y="1208"/>
                          <a:pt x="1745" y="1071"/>
                        </a:cubicBezTo>
                        <a:lnTo>
                          <a:pt x="1745" y="247"/>
                        </a:lnTo>
                        <a:cubicBezTo>
                          <a:pt x="1745" y="111"/>
                          <a:pt x="1634" y="0"/>
                          <a:pt x="1498" y="0"/>
                        </a:cubicBezTo>
                        <a:lnTo>
                          <a:pt x="0" y="0"/>
                        </a:lnTo>
                        <a:lnTo>
                          <a:pt x="0" y="1319"/>
                        </a:lnTo>
                      </a:path>
                    </a:pathLst>
                  </a:custGeom>
                  <a:gradFill flip="none" rotWithShape="1"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75000">
                        <a:schemeClr val="accent3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3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/>
                    <a:r>
                      <a:rPr lang="en-US" altLang="zh-CN" sz="3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rPr>
                      <a:t>3</a:t>
                    </a:r>
                    <a:endParaRPr lang="zh-CN" altLang="en-US" sz="36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任意多边形: 形状 16">
                    <a:extLst>
                      <a:ext uri="{FF2B5EF4-FFF2-40B4-BE49-F238E27FC236}">
                        <a16:creationId xmlns:a16="http://schemas.microsoft.com/office/drawing/2014/main" id="{820C2458-6859-4685-C9FB-0A758DDB1F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6475" y="3737832"/>
                    <a:ext cx="2560829" cy="1131841"/>
                  </a:xfrm>
                  <a:custGeom>
                    <a:avLst/>
                    <a:gdLst>
                      <a:gd name="T0" fmla="*/ 1118 w 1118"/>
                      <a:gd name="T1" fmla="*/ 0 h 633"/>
                      <a:gd name="T2" fmla="*/ 0 w 1118"/>
                      <a:gd name="T3" fmla="*/ 0 h 633"/>
                      <a:gd name="T4" fmla="*/ 1118 w 1118"/>
                      <a:gd name="T5" fmla="*/ 633 h 633"/>
                      <a:gd name="T6" fmla="*/ 1118 w 1118"/>
                      <a:gd name="T7" fmla="*/ 0 h 6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18" h="633">
                        <a:moveTo>
                          <a:pt x="1118" y="0"/>
                        </a:moveTo>
                        <a:lnTo>
                          <a:pt x="0" y="0"/>
                        </a:lnTo>
                        <a:lnTo>
                          <a:pt x="1118" y="633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75000">
                        <a:schemeClr val="accent3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3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3600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grpSp>
              <p:nvGrpSpPr>
                <p:cNvPr id="13" name="组合 12">
                  <a:extLst>
                    <a:ext uri="{FF2B5EF4-FFF2-40B4-BE49-F238E27FC236}">
                      <a16:creationId xmlns:a16="http://schemas.microsoft.com/office/drawing/2014/main" id="{FD0EA987-6FB6-8983-AEC9-B4F4A2CC64C9}"/>
                    </a:ext>
                  </a:extLst>
                </p:cNvPr>
                <p:cNvGrpSpPr/>
                <p:nvPr/>
              </p:nvGrpSpPr>
              <p:grpSpPr>
                <a:xfrm>
                  <a:off x="2886475" y="3737831"/>
                  <a:ext cx="3824617" cy="2431757"/>
                  <a:chOff x="2886475" y="3737831"/>
                  <a:chExt cx="3824617" cy="2431757"/>
                </a:xfrm>
              </p:grpSpPr>
              <p:sp>
                <p:nvSpPr>
                  <p:cNvPr id="14" name="任意多边形: 形状 13">
                    <a:extLst>
                      <a:ext uri="{FF2B5EF4-FFF2-40B4-BE49-F238E27FC236}">
                        <a16:creationId xmlns:a16="http://schemas.microsoft.com/office/drawing/2014/main" id="{F80CE4B9-D1A8-D583-0F21-35FF70124D8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47307" y="5023870"/>
                    <a:ext cx="1263785" cy="1119755"/>
                  </a:xfrm>
                  <a:custGeom>
                    <a:avLst/>
                    <a:gdLst>
                      <a:gd name="T0" fmla="*/ 0 w 1745"/>
                      <a:gd name="T1" fmla="*/ 1319 h 1319"/>
                      <a:gd name="T2" fmla="*/ 1498 w 1745"/>
                      <a:gd name="T3" fmla="*/ 1319 h 1319"/>
                      <a:gd name="T4" fmla="*/ 1745 w 1745"/>
                      <a:gd name="T5" fmla="*/ 1071 h 1319"/>
                      <a:gd name="T6" fmla="*/ 1745 w 1745"/>
                      <a:gd name="T7" fmla="*/ 248 h 1319"/>
                      <a:gd name="T8" fmla="*/ 1498 w 1745"/>
                      <a:gd name="T9" fmla="*/ 0 h 1319"/>
                      <a:gd name="T10" fmla="*/ 0 w 1745"/>
                      <a:gd name="T11" fmla="*/ 0 h 1319"/>
                      <a:gd name="T12" fmla="*/ 0 w 1745"/>
                      <a:gd name="T13" fmla="*/ 1319 h 1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45" h="1319">
                        <a:moveTo>
                          <a:pt x="0" y="1319"/>
                        </a:moveTo>
                        <a:lnTo>
                          <a:pt x="1498" y="1319"/>
                        </a:lnTo>
                        <a:cubicBezTo>
                          <a:pt x="1634" y="1319"/>
                          <a:pt x="1745" y="1208"/>
                          <a:pt x="1745" y="1071"/>
                        </a:cubicBezTo>
                        <a:lnTo>
                          <a:pt x="1745" y="248"/>
                        </a:lnTo>
                        <a:cubicBezTo>
                          <a:pt x="1745" y="111"/>
                          <a:pt x="1634" y="0"/>
                          <a:pt x="1498" y="0"/>
                        </a:cubicBezTo>
                        <a:lnTo>
                          <a:pt x="0" y="0"/>
                        </a:lnTo>
                        <a:lnTo>
                          <a:pt x="0" y="1319"/>
                        </a:lnTo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75000">
                        <a:schemeClr val="accent4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4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/>
                    <a:r>
                      <a:rPr lang="en-US" altLang="zh-CN" sz="3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rPr>
                      <a:t>4</a:t>
                    </a:r>
                    <a:endParaRPr lang="zh-CN" altLang="en-US" sz="36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" name="任意多边形: 形状 14">
                    <a:extLst>
                      <a:ext uri="{FF2B5EF4-FFF2-40B4-BE49-F238E27FC236}">
                        <a16:creationId xmlns:a16="http://schemas.microsoft.com/office/drawing/2014/main" id="{174D8A75-D70B-5A1D-7F14-7A3F08F2D33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6475" y="3737831"/>
                    <a:ext cx="2560829" cy="2431757"/>
                  </a:xfrm>
                  <a:custGeom>
                    <a:avLst/>
                    <a:gdLst>
                      <a:gd name="T0" fmla="*/ 1118 w 1118"/>
                      <a:gd name="T1" fmla="*/ 727 h 1360"/>
                      <a:gd name="T2" fmla="*/ 0 w 1118"/>
                      <a:gd name="T3" fmla="*/ 0 h 1360"/>
                      <a:gd name="T4" fmla="*/ 1118 w 1118"/>
                      <a:gd name="T5" fmla="*/ 1360 h 1360"/>
                      <a:gd name="T6" fmla="*/ 1118 w 1118"/>
                      <a:gd name="T7" fmla="*/ 727 h 13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18" h="1360">
                        <a:moveTo>
                          <a:pt x="1118" y="727"/>
                        </a:moveTo>
                        <a:lnTo>
                          <a:pt x="0" y="0"/>
                        </a:lnTo>
                        <a:lnTo>
                          <a:pt x="1118" y="1360"/>
                        </a:lnTo>
                        <a:lnTo>
                          <a:pt x="1118" y="727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75000">
                        <a:schemeClr val="accent4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4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1600" b="1">
                      <a:solidFill>
                        <a:srgbClr val="FFFFFF"/>
                      </a:solidFill>
                    </a:endParaRPr>
                  </a:p>
                </p:txBody>
              </p:sp>
            </p:grpSp>
          </p:grp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9D149E27-8904-75C1-E15C-D33B05F79A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7671" y="1806181"/>
                <a:ext cx="3312104" cy="324563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r>
                  <a:rPr lang="zh-CN" altLang="en-US" sz="28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本文总结</a:t>
                </a:r>
                <a:endParaRPr lang="en-US" altLang="zh-CN" sz="28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CBB6FD2-D338-5847-7394-F2133D777E91}"/>
                </a:ext>
              </a:extLst>
            </p:cNvPr>
            <p:cNvSpPr txBox="1"/>
            <p:nvPr/>
          </p:nvSpPr>
          <p:spPr bwMode="auto">
            <a:xfrm>
              <a:off x="6939060" y="2482445"/>
              <a:ext cx="4967284" cy="706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b" anchorCtr="0">
              <a:no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spcBef>
                  <a:spcPct val="0"/>
                </a:spcBef>
                <a:buFontTx/>
                <a:buNone/>
                <a:defRPr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dirty="0"/>
                <a:t>数据基准：</a:t>
              </a:r>
              <a:r>
                <a:rPr lang="zh-CN" altLang="en-US" sz="1600" b="0" dirty="0"/>
                <a:t>构建 </a:t>
              </a:r>
              <a:r>
                <a:rPr lang="en-US" altLang="zh-CN" sz="1600" b="0" dirty="0" err="1">
                  <a:solidFill>
                    <a:srgbClr val="FF0000"/>
                  </a:solidFill>
                </a:rPr>
                <a:t>OpenSDID</a:t>
              </a:r>
              <a:r>
                <a:rPr lang="en-US" altLang="zh-CN" sz="1600" b="0" dirty="0">
                  <a:solidFill>
                    <a:srgbClr val="FF0000"/>
                  </a:solidFill>
                </a:rPr>
                <a:t> </a:t>
              </a:r>
              <a:r>
                <a:rPr lang="zh-CN" altLang="en-US" sz="1600" b="0" dirty="0"/>
                <a:t>数据集，同时支持图像级真假检测与像素级伪造定位。</a:t>
              </a:r>
              <a:endParaRPr lang="en-US" altLang="zh-CN" sz="1600" b="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AF5A14C-B6F6-DCF9-C4E9-6FB7CC8070D7}"/>
                </a:ext>
              </a:extLst>
            </p:cNvPr>
            <p:cNvSpPr txBox="1"/>
            <p:nvPr/>
          </p:nvSpPr>
          <p:spPr bwMode="auto">
            <a:xfrm>
              <a:off x="6355930" y="3616398"/>
              <a:ext cx="4967283" cy="865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endParaRPr lang="en-US" altLang="zh-CN" sz="1600" b="1" dirty="0">
                <a:latin typeface="+mn-ea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263CE6A-4CDF-8FD7-E238-78EDA5EBF185}"/>
                </a:ext>
              </a:extLst>
            </p:cNvPr>
            <p:cNvSpPr txBox="1"/>
            <p:nvPr/>
          </p:nvSpPr>
          <p:spPr bwMode="auto">
            <a:xfrm>
              <a:off x="6939060" y="4866077"/>
              <a:ext cx="4967283" cy="944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spcBef>
                  <a:spcPct val="0"/>
                </a:spcBef>
                <a:buFontTx/>
                <a:buNone/>
                <a:defRPr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dirty="0"/>
                <a:t>实验结论：</a:t>
              </a:r>
              <a:r>
                <a:rPr lang="en-US" altLang="zh-CN" sz="1600" b="0" dirty="0" err="1"/>
                <a:t>MaskCLIP</a:t>
              </a:r>
              <a:r>
                <a:rPr lang="en-US" altLang="zh-CN" sz="1600" b="0" dirty="0"/>
                <a:t> </a:t>
              </a:r>
              <a:r>
                <a:rPr lang="zh-CN" altLang="en-US" sz="1600" b="0" dirty="0"/>
                <a:t>在未见生成器上取得领先结果，但面对</a:t>
              </a:r>
              <a:r>
                <a:rPr lang="en-US" altLang="zh-CN" sz="1600" b="0" dirty="0"/>
                <a:t>Flux.1</a:t>
              </a:r>
              <a:r>
                <a:rPr lang="zh-CN" altLang="en-US" sz="1600" b="0" dirty="0"/>
                <a:t>仍存在一定泛化局限。</a:t>
              </a:r>
              <a:endParaRPr lang="en-US" altLang="zh-CN" sz="1600" b="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5D79849-DD4D-BC22-6EED-49CDB4816F66}"/>
                </a:ext>
              </a:extLst>
            </p:cNvPr>
            <p:cNvSpPr txBox="1"/>
            <p:nvPr/>
          </p:nvSpPr>
          <p:spPr>
            <a:xfrm>
              <a:off x="6939060" y="3723144"/>
              <a:ext cx="4967283" cy="8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 anchor="b" anchorCtr="0">
              <a:no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spcBef>
                  <a:spcPct val="0"/>
                </a:spcBef>
                <a:buFontTx/>
                <a:buNone/>
                <a:defRPr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dirty="0"/>
                <a:t>统一方法：</a:t>
              </a:r>
              <a:r>
                <a:rPr lang="zh-CN" altLang="en-US" sz="1600" b="0" dirty="0"/>
                <a:t>提出 </a:t>
              </a:r>
              <a:r>
                <a:rPr lang="en-US" altLang="zh-CN" sz="1600" b="0" dirty="0" err="1">
                  <a:solidFill>
                    <a:srgbClr val="FF0000"/>
                  </a:solidFill>
                </a:rPr>
                <a:t>MaskCLIP</a:t>
              </a:r>
              <a:r>
                <a:rPr lang="zh-CN" altLang="en-US" sz="1600" b="0" dirty="0"/>
                <a:t>，协同利用</a:t>
              </a:r>
              <a:r>
                <a:rPr lang="en-US" altLang="zh-CN" sz="1600" b="0" dirty="0"/>
                <a:t>CLIP</a:t>
              </a:r>
              <a:r>
                <a:rPr lang="zh-CN" altLang="en-US" sz="1600" b="0" dirty="0"/>
                <a:t>全局语义与</a:t>
              </a:r>
              <a:r>
                <a:rPr lang="en-US" altLang="zh-CN" sz="1600" b="0" dirty="0"/>
                <a:t>MAE</a:t>
              </a:r>
              <a:r>
                <a:rPr lang="zh-CN" altLang="en-US" sz="1600" b="0" dirty="0"/>
                <a:t>局部空间结构完成检测和定位。</a:t>
              </a:r>
            </a:p>
          </p:txBody>
        </p: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0EE6568-FA0D-C880-5D7B-BBE00C671DBD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BECE0B7-023D-FC9C-D067-0CA71A9A2999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70B6FA2B-D87D-5E86-286A-BBF3BB4095B5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E26C393-CE72-3A6E-1F3A-048637448C41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64DD4466-CD20-AFCA-058F-934573D315C3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4D0C07C-AA1A-F888-A392-148A0C58926D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9DEE863F-176A-158C-49AB-A9BE842D9DAA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D2EC5FBB-8E3F-F82B-B354-C1DCB6E42DAA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9C6B3FA3-7AC4-A223-0065-A872EF49D0F2}"/>
              </a:ext>
            </a:extLst>
          </p:cNvPr>
          <p:cNvGrpSpPr/>
          <p:nvPr/>
        </p:nvGrpSpPr>
        <p:grpSpPr>
          <a:xfrm>
            <a:off x="9981535" y="812876"/>
            <a:ext cx="1826148" cy="99594"/>
            <a:chOff x="1185700" y="827567"/>
            <a:chExt cx="1826148" cy="99594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9EA030CD-2113-F908-C433-F820E922C4E9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等腰三角形 128">
              <a:extLst>
                <a:ext uri="{FF2B5EF4-FFF2-40B4-BE49-F238E27FC236}">
                  <a16:creationId xmlns:a16="http://schemas.microsoft.com/office/drawing/2014/main" id="{70DF2BF5-CA5F-9A4A-45D5-C5EE06DDC647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268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CD0F-2EE3-11D6-B5DD-0B25DDE42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29D6D4DB-17B4-FEFF-CE7E-A4241AFEE9E7}"/>
              </a:ext>
            </a:extLst>
          </p:cNvPr>
          <p:cNvGrpSpPr/>
          <p:nvPr/>
        </p:nvGrpSpPr>
        <p:grpSpPr>
          <a:xfrm>
            <a:off x="363325" y="1130300"/>
            <a:ext cx="11276547" cy="5727700"/>
            <a:chOff x="363325" y="1130300"/>
            <a:chExt cx="11276547" cy="5727700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F6C493A8-4B88-318B-C565-3F4271629237}"/>
                </a:ext>
              </a:extLst>
            </p:cNvPr>
            <p:cNvGrpSpPr/>
            <p:nvPr/>
          </p:nvGrpSpPr>
          <p:grpSpPr>
            <a:xfrm>
              <a:off x="4133159" y="1974196"/>
              <a:ext cx="3912982" cy="4883804"/>
              <a:chOff x="4133159" y="1974196"/>
              <a:chExt cx="3912982" cy="4883804"/>
            </a:xfrm>
          </p:grpSpPr>
          <p:sp>
            <p:nvSpPr>
              <p:cNvPr id="3" name="islide-1-1">
                <a:extLst>
                  <a:ext uri="{FF2B5EF4-FFF2-40B4-BE49-F238E27FC236}">
                    <a16:creationId xmlns:a16="http://schemas.microsoft.com/office/drawing/2014/main" id="{90EB72DF-F9D8-5ECE-7FCA-67E068D22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6398" y="4312082"/>
                <a:ext cx="1535473" cy="2545918"/>
              </a:xfrm>
              <a:custGeom>
                <a:avLst/>
                <a:gdLst>
                  <a:gd name="T0" fmla="*/ 0 w 130"/>
                  <a:gd name="T1" fmla="*/ 3 h 216"/>
                  <a:gd name="T2" fmla="*/ 44 w 130"/>
                  <a:gd name="T3" fmla="*/ 61 h 216"/>
                  <a:gd name="T4" fmla="*/ 36 w 130"/>
                  <a:gd name="T5" fmla="*/ 216 h 216"/>
                  <a:gd name="T6" fmla="*/ 93 w 130"/>
                  <a:gd name="T7" fmla="*/ 216 h 216"/>
                  <a:gd name="T8" fmla="*/ 83 w 130"/>
                  <a:gd name="T9" fmla="*/ 63 h 216"/>
                  <a:gd name="T10" fmla="*/ 130 w 130"/>
                  <a:gd name="T11" fmla="*/ 2 h 216"/>
                  <a:gd name="T12" fmla="*/ 64 w 130"/>
                  <a:gd name="T13" fmla="*/ 52 h 216"/>
                  <a:gd name="T14" fmla="*/ 0 w 130"/>
                  <a:gd name="T15" fmla="*/ 3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0" h="216">
                    <a:moveTo>
                      <a:pt x="0" y="3"/>
                    </a:moveTo>
                    <a:cubicBezTo>
                      <a:pt x="0" y="3"/>
                      <a:pt x="34" y="33"/>
                      <a:pt x="44" y="61"/>
                    </a:cubicBezTo>
                    <a:cubicBezTo>
                      <a:pt x="64" y="112"/>
                      <a:pt x="52" y="171"/>
                      <a:pt x="36" y="216"/>
                    </a:cubicBezTo>
                    <a:cubicBezTo>
                      <a:pt x="93" y="216"/>
                      <a:pt x="93" y="216"/>
                      <a:pt x="93" y="216"/>
                    </a:cubicBezTo>
                    <a:cubicBezTo>
                      <a:pt x="93" y="216"/>
                      <a:pt x="64" y="121"/>
                      <a:pt x="83" y="63"/>
                    </a:cubicBezTo>
                    <a:cubicBezTo>
                      <a:pt x="101" y="9"/>
                      <a:pt x="130" y="2"/>
                      <a:pt x="130" y="2"/>
                    </a:cubicBezTo>
                    <a:cubicBezTo>
                      <a:pt x="130" y="2"/>
                      <a:pt x="98" y="0"/>
                      <a:pt x="64" y="52"/>
                    </a:cubicBezTo>
                    <a:cubicBezTo>
                      <a:pt x="64" y="52"/>
                      <a:pt x="34" y="15"/>
                      <a:pt x="0" y="3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" name="islide-1-2">
                <a:extLst>
                  <a:ext uri="{FF2B5EF4-FFF2-40B4-BE49-F238E27FC236}">
                    <a16:creationId xmlns:a16="http://schemas.microsoft.com/office/drawing/2014/main" id="{63749B99-A368-FA8A-10D8-5DE5BEE42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5915" y="4346754"/>
                <a:ext cx="326908" cy="341767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" name="islide-1-3">
                <a:extLst>
                  <a:ext uri="{FF2B5EF4-FFF2-40B4-BE49-F238E27FC236}">
                    <a16:creationId xmlns:a16="http://schemas.microsoft.com/office/drawing/2014/main" id="{FA2A6804-8374-AD9A-5FC9-CA65636A9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0480" y="4252645"/>
                <a:ext cx="1515661" cy="906426"/>
              </a:xfrm>
              <a:custGeom>
                <a:avLst/>
                <a:gdLst>
                  <a:gd name="T0" fmla="*/ 60 w 128"/>
                  <a:gd name="T1" fmla="*/ 7 h 77"/>
                  <a:gd name="T2" fmla="*/ 128 w 128"/>
                  <a:gd name="T3" fmla="*/ 16 h 77"/>
                  <a:gd name="T4" fmla="*/ 64 w 128"/>
                  <a:gd name="T5" fmla="*/ 60 h 77"/>
                  <a:gd name="T6" fmla="*/ 0 w 128"/>
                  <a:gd name="T7" fmla="*/ 54 h 77"/>
                  <a:gd name="T8" fmla="*/ 60 w 128"/>
                  <a:gd name="T9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77">
                    <a:moveTo>
                      <a:pt x="60" y="7"/>
                    </a:moveTo>
                    <a:cubicBezTo>
                      <a:pt x="93" y="0"/>
                      <a:pt x="128" y="16"/>
                      <a:pt x="128" y="16"/>
                    </a:cubicBezTo>
                    <a:cubicBezTo>
                      <a:pt x="110" y="23"/>
                      <a:pt x="94" y="48"/>
                      <a:pt x="64" y="60"/>
                    </a:cubicBezTo>
                    <a:cubicBezTo>
                      <a:pt x="19" y="77"/>
                      <a:pt x="0" y="54"/>
                      <a:pt x="0" y="54"/>
                    </a:cubicBezTo>
                    <a:cubicBezTo>
                      <a:pt x="5" y="40"/>
                      <a:pt x="20" y="16"/>
                      <a:pt x="60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" name="islide-1-4">
                <a:extLst>
                  <a:ext uri="{FF2B5EF4-FFF2-40B4-BE49-F238E27FC236}">
                    <a16:creationId xmlns:a16="http://schemas.microsoft.com/office/drawing/2014/main" id="{58CDA5AF-FD49-8899-D8F4-4700AADDF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331" y="4237785"/>
                <a:ext cx="1416598" cy="931192"/>
              </a:xfrm>
              <a:custGeom>
                <a:avLst/>
                <a:gdLst>
                  <a:gd name="T0" fmla="*/ 41 w 120"/>
                  <a:gd name="T1" fmla="*/ 56 h 79"/>
                  <a:gd name="T2" fmla="*/ 0 w 120"/>
                  <a:gd name="T3" fmla="*/ 0 h 79"/>
                  <a:gd name="T4" fmla="*/ 76 w 120"/>
                  <a:gd name="T5" fmla="*/ 17 h 79"/>
                  <a:gd name="T6" fmla="*/ 116 w 120"/>
                  <a:gd name="T7" fmla="*/ 67 h 79"/>
                  <a:gd name="T8" fmla="*/ 41 w 120"/>
                  <a:gd name="T9" fmla="*/ 5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79">
                    <a:moveTo>
                      <a:pt x="41" y="56"/>
                    </a:moveTo>
                    <a:cubicBezTo>
                      <a:pt x="13" y="37"/>
                      <a:pt x="0" y="0"/>
                      <a:pt x="0" y="0"/>
                    </a:cubicBezTo>
                    <a:cubicBezTo>
                      <a:pt x="17" y="9"/>
                      <a:pt x="47" y="3"/>
                      <a:pt x="76" y="17"/>
                    </a:cubicBezTo>
                    <a:cubicBezTo>
                      <a:pt x="120" y="38"/>
                      <a:pt x="116" y="67"/>
                      <a:pt x="116" y="67"/>
                    </a:cubicBezTo>
                    <a:cubicBezTo>
                      <a:pt x="102" y="73"/>
                      <a:pt x="74" y="79"/>
                      <a:pt x="41" y="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" name="islide-1-5">
                <a:extLst>
                  <a:ext uri="{FF2B5EF4-FFF2-40B4-BE49-F238E27FC236}">
                    <a16:creationId xmlns:a16="http://schemas.microsoft.com/office/drawing/2014/main" id="{01499B7F-25E4-7298-B5C0-557D7C06D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9998" y="3579016"/>
                <a:ext cx="921284" cy="693441"/>
              </a:xfrm>
              <a:custGeom>
                <a:avLst/>
                <a:gdLst>
                  <a:gd name="T0" fmla="*/ 33 w 78"/>
                  <a:gd name="T1" fmla="*/ 9 h 59"/>
                  <a:gd name="T2" fmla="*/ 78 w 78"/>
                  <a:gd name="T3" fmla="*/ 7 h 59"/>
                  <a:gd name="T4" fmla="*/ 42 w 78"/>
                  <a:gd name="T5" fmla="*/ 43 h 59"/>
                  <a:gd name="T6" fmla="*/ 0 w 78"/>
                  <a:gd name="T7" fmla="*/ 47 h 59"/>
                  <a:gd name="T8" fmla="*/ 33 w 78"/>
                  <a:gd name="T9" fmla="*/ 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59">
                    <a:moveTo>
                      <a:pt x="33" y="9"/>
                    </a:moveTo>
                    <a:cubicBezTo>
                      <a:pt x="53" y="0"/>
                      <a:pt x="78" y="7"/>
                      <a:pt x="78" y="7"/>
                    </a:cubicBezTo>
                    <a:cubicBezTo>
                      <a:pt x="67" y="13"/>
                      <a:pt x="60" y="31"/>
                      <a:pt x="42" y="43"/>
                    </a:cubicBezTo>
                    <a:cubicBezTo>
                      <a:pt x="14" y="59"/>
                      <a:pt x="0" y="47"/>
                      <a:pt x="0" y="47"/>
                    </a:cubicBezTo>
                    <a:cubicBezTo>
                      <a:pt x="1" y="37"/>
                      <a:pt x="8" y="20"/>
                      <a:pt x="33" y="9"/>
                    </a:cubicBez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islide-1-6">
                <a:extLst>
                  <a:ext uri="{FF2B5EF4-FFF2-40B4-BE49-F238E27FC236}">
                    <a16:creationId xmlns:a16="http://schemas.microsoft.com/office/drawing/2014/main" id="{C215BCDF-38E2-BFF3-A183-4EA2CC57C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159" y="3544344"/>
                <a:ext cx="911377" cy="673629"/>
              </a:xfrm>
              <a:custGeom>
                <a:avLst/>
                <a:gdLst>
                  <a:gd name="T0" fmla="*/ 23 w 77"/>
                  <a:gd name="T1" fmla="*/ 40 h 57"/>
                  <a:gd name="T2" fmla="*/ 0 w 77"/>
                  <a:gd name="T3" fmla="*/ 0 h 57"/>
                  <a:gd name="T4" fmla="*/ 49 w 77"/>
                  <a:gd name="T5" fmla="*/ 16 h 57"/>
                  <a:gd name="T6" fmla="*/ 72 w 77"/>
                  <a:gd name="T7" fmla="*/ 52 h 57"/>
                  <a:gd name="T8" fmla="*/ 23 w 77"/>
                  <a:gd name="T9" fmla="*/ 4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57">
                    <a:moveTo>
                      <a:pt x="23" y="40"/>
                    </a:moveTo>
                    <a:cubicBezTo>
                      <a:pt x="6" y="25"/>
                      <a:pt x="0" y="0"/>
                      <a:pt x="0" y="0"/>
                    </a:cubicBezTo>
                    <a:cubicBezTo>
                      <a:pt x="11" y="7"/>
                      <a:pt x="31" y="5"/>
                      <a:pt x="49" y="16"/>
                    </a:cubicBezTo>
                    <a:cubicBezTo>
                      <a:pt x="77" y="33"/>
                      <a:pt x="72" y="52"/>
                      <a:pt x="72" y="52"/>
                    </a:cubicBezTo>
                    <a:cubicBezTo>
                      <a:pt x="63" y="55"/>
                      <a:pt x="44" y="57"/>
                      <a:pt x="23" y="40"/>
                    </a:cubicBez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islide-1-7">
                <a:extLst>
                  <a:ext uri="{FF2B5EF4-FFF2-40B4-BE49-F238E27FC236}">
                    <a16:creationId xmlns:a16="http://schemas.microsoft.com/office/drawing/2014/main" id="{FEFA4A4A-8723-F13B-9F25-416EF2E979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164" y="1998962"/>
                <a:ext cx="341767" cy="742972"/>
              </a:xfrm>
              <a:custGeom>
                <a:avLst/>
                <a:gdLst>
                  <a:gd name="T0" fmla="*/ 1 w 29"/>
                  <a:gd name="T1" fmla="*/ 31 h 63"/>
                  <a:gd name="T2" fmla="*/ 11 w 29"/>
                  <a:gd name="T3" fmla="*/ 0 h 63"/>
                  <a:gd name="T4" fmla="*/ 25 w 29"/>
                  <a:gd name="T5" fmla="*/ 34 h 63"/>
                  <a:gd name="T6" fmla="*/ 17 w 29"/>
                  <a:gd name="T7" fmla="*/ 63 h 63"/>
                  <a:gd name="T8" fmla="*/ 1 w 29"/>
                  <a:gd name="T9" fmla="*/ 3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63">
                    <a:moveTo>
                      <a:pt x="1" y="31"/>
                    </a:moveTo>
                    <a:cubicBezTo>
                      <a:pt x="0" y="15"/>
                      <a:pt x="11" y="0"/>
                      <a:pt x="11" y="0"/>
                    </a:cubicBezTo>
                    <a:cubicBezTo>
                      <a:pt x="12" y="9"/>
                      <a:pt x="23" y="19"/>
                      <a:pt x="25" y="34"/>
                    </a:cubicBezTo>
                    <a:cubicBezTo>
                      <a:pt x="29" y="57"/>
                      <a:pt x="17" y="63"/>
                      <a:pt x="17" y="63"/>
                    </a:cubicBezTo>
                    <a:cubicBezTo>
                      <a:pt x="11" y="60"/>
                      <a:pt x="1" y="51"/>
                      <a:pt x="1" y="31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islide-1-8">
                <a:extLst>
                  <a:ext uri="{FF2B5EF4-FFF2-40B4-BE49-F238E27FC236}">
                    <a16:creationId xmlns:a16="http://schemas.microsoft.com/office/drawing/2014/main" id="{5BBEA4BA-ACDD-D05A-A75B-2991CAF76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5755" y="2469512"/>
                <a:ext cx="292236" cy="450736"/>
              </a:xfrm>
              <a:custGeom>
                <a:avLst/>
                <a:gdLst>
                  <a:gd name="T0" fmla="*/ 3 w 25"/>
                  <a:gd name="T1" fmla="*/ 21 h 38"/>
                  <a:gd name="T2" fmla="*/ 4 w 25"/>
                  <a:gd name="T3" fmla="*/ 0 h 38"/>
                  <a:gd name="T4" fmla="*/ 19 w 25"/>
                  <a:gd name="T5" fmla="*/ 19 h 38"/>
                  <a:gd name="T6" fmla="*/ 19 w 25"/>
                  <a:gd name="T7" fmla="*/ 38 h 38"/>
                  <a:gd name="T8" fmla="*/ 3 w 25"/>
                  <a:gd name="T9" fmla="*/ 2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8">
                    <a:moveTo>
                      <a:pt x="3" y="21"/>
                    </a:moveTo>
                    <a:cubicBezTo>
                      <a:pt x="0" y="11"/>
                      <a:pt x="4" y="0"/>
                      <a:pt x="4" y="0"/>
                    </a:cubicBezTo>
                    <a:cubicBezTo>
                      <a:pt x="7" y="5"/>
                      <a:pt x="15" y="10"/>
                      <a:pt x="19" y="19"/>
                    </a:cubicBezTo>
                    <a:cubicBezTo>
                      <a:pt x="25" y="32"/>
                      <a:pt x="19" y="38"/>
                      <a:pt x="19" y="38"/>
                    </a:cubicBezTo>
                    <a:cubicBezTo>
                      <a:pt x="14" y="37"/>
                      <a:pt x="7" y="33"/>
                      <a:pt x="3" y="21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islide-1-9">
                <a:extLst>
                  <a:ext uri="{FF2B5EF4-FFF2-40B4-BE49-F238E27FC236}">
                    <a16:creationId xmlns:a16="http://schemas.microsoft.com/office/drawing/2014/main" id="{3AF906EB-F05E-E03C-AF35-9E4270526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9529" y="2494277"/>
                <a:ext cx="326908" cy="401205"/>
              </a:xfrm>
              <a:custGeom>
                <a:avLst/>
                <a:gdLst>
                  <a:gd name="T0" fmla="*/ 9 w 28"/>
                  <a:gd name="T1" fmla="*/ 9 h 34"/>
                  <a:gd name="T2" fmla="*/ 28 w 28"/>
                  <a:gd name="T3" fmla="*/ 0 h 34"/>
                  <a:gd name="T4" fmla="*/ 19 w 28"/>
                  <a:gd name="T5" fmla="*/ 22 h 34"/>
                  <a:gd name="T6" fmla="*/ 2 w 28"/>
                  <a:gd name="T7" fmla="*/ 31 h 34"/>
                  <a:gd name="T8" fmla="*/ 9 w 28"/>
                  <a:gd name="T9" fmla="*/ 9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4">
                    <a:moveTo>
                      <a:pt x="9" y="9"/>
                    </a:moveTo>
                    <a:cubicBezTo>
                      <a:pt x="17" y="2"/>
                      <a:pt x="28" y="0"/>
                      <a:pt x="28" y="0"/>
                    </a:cubicBezTo>
                    <a:cubicBezTo>
                      <a:pt x="25" y="5"/>
                      <a:pt x="25" y="14"/>
                      <a:pt x="19" y="22"/>
                    </a:cubicBezTo>
                    <a:cubicBezTo>
                      <a:pt x="10" y="34"/>
                      <a:pt x="2" y="31"/>
                      <a:pt x="2" y="31"/>
                    </a:cubicBezTo>
                    <a:cubicBezTo>
                      <a:pt x="1" y="27"/>
                      <a:pt x="0" y="18"/>
                      <a:pt x="9" y="9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islide-1-10">
                <a:extLst>
                  <a:ext uri="{FF2B5EF4-FFF2-40B4-BE49-F238E27FC236}">
                    <a16:creationId xmlns:a16="http://schemas.microsoft.com/office/drawing/2014/main" id="{0BE8F3A7-0DAB-3279-CDD5-972D65DBD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2355" y="1974196"/>
                <a:ext cx="401205" cy="698394"/>
              </a:xfrm>
              <a:custGeom>
                <a:avLst/>
                <a:gdLst>
                  <a:gd name="T0" fmla="*/ 8 w 34"/>
                  <a:gd name="T1" fmla="*/ 23 h 59"/>
                  <a:gd name="T2" fmla="*/ 32 w 34"/>
                  <a:gd name="T3" fmla="*/ 0 h 59"/>
                  <a:gd name="T4" fmla="*/ 29 w 34"/>
                  <a:gd name="T5" fmla="*/ 37 h 59"/>
                  <a:gd name="T6" fmla="*/ 8 w 34"/>
                  <a:gd name="T7" fmla="*/ 59 h 59"/>
                  <a:gd name="T8" fmla="*/ 8 w 34"/>
                  <a:gd name="T9" fmla="*/ 2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59">
                    <a:moveTo>
                      <a:pt x="8" y="23"/>
                    </a:moveTo>
                    <a:cubicBezTo>
                      <a:pt x="15" y="8"/>
                      <a:pt x="32" y="0"/>
                      <a:pt x="32" y="0"/>
                    </a:cubicBezTo>
                    <a:cubicBezTo>
                      <a:pt x="29" y="8"/>
                      <a:pt x="34" y="22"/>
                      <a:pt x="29" y="37"/>
                    </a:cubicBezTo>
                    <a:cubicBezTo>
                      <a:pt x="22" y="58"/>
                      <a:pt x="8" y="59"/>
                      <a:pt x="8" y="59"/>
                    </a:cubicBezTo>
                    <a:cubicBezTo>
                      <a:pt x="4" y="53"/>
                      <a:pt x="0" y="40"/>
                      <a:pt x="8" y="23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islide-1-11">
                <a:extLst>
                  <a:ext uri="{FF2B5EF4-FFF2-40B4-BE49-F238E27FC236}">
                    <a16:creationId xmlns:a16="http://schemas.microsoft.com/office/drawing/2014/main" id="{396D2440-FDD7-CBC7-12C2-E6E48BFF9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6879" y="2930154"/>
                <a:ext cx="1074832" cy="1391835"/>
              </a:xfrm>
              <a:custGeom>
                <a:avLst/>
                <a:gdLst>
                  <a:gd name="T0" fmla="*/ 14 w 91"/>
                  <a:gd name="T1" fmla="*/ 69 h 118"/>
                  <a:gd name="T2" fmla="*/ 9 w 91"/>
                  <a:gd name="T3" fmla="*/ 0 h 118"/>
                  <a:gd name="T4" fmla="*/ 65 w 91"/>
                  <a:gd name="T5" fmla="*/ 54 h 118"/>
                  <a:gd name="T6" fmla="*/ 72 w 91"/>
                  <a:gd name="T7" fmla="*/ 118 h 118"/>
                  <a:gd name="T8" fmla="*/ 14 w 91"/>
                  <a:gd name="T9" fmla="*/ 69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118">
                    <a:moveTo>
                      <a:pt x="14" y="69"/>
                    </a:moveTo>
                    <a:cubicBezTo>
                      <a:pt x="0" y="38"/>
                      <a:pt x="9" y="0"/>
                      <a:pt x="9" y="0"/>
                    </a:cubicBezTo>
                    <a:cubicBezTo>
                      <a:pt x="19" y="16"/>
                      <a:pt x="47" y="27"/>
                      <a:pt x="65" y="54"/>
                    </a:cubicBezTo>
                    <a:cubicBezTo>
                      <a:pt x="91" y="95"/>
                      <a:pt x="72" y="118"/>
                      <a:pt x="72" y="118"/>
                    </a:cubicBezTo>
                    <a:cubicBezTo>
                      <a:pt x="58" y="116"/>
                      <a:pt x="31" y="106"/>
                      <a:pt x="14" y="69"/>
                    </a:cubicBez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islide-1-12">
                <a:extLst>
                  <a:ext uri="{FF2B5EF4-FFF2-40B4-BE49-F238E27FC236}">
                    <a16:creationId xmlns:a16="http://schemas.microsoft.com/office/drawing/2014/main" id="{19A7280F-114F-DC89-440B-8B5796E66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7522" y="2221853"/>
                <a:ext cx="554752" cy="1059973"/>
              </a:xfrm>
              <a:custGeom>
                <a:avLst/>
                <a:gdLst>
                  <a:gd name="T0" fmla="*/ 3 w 47"/>
                  <a:gd name="T1" fmla="*/ 46 h 90"/>
                  <a:gd name="T2" fmla="*/ 14 w 47"/>
                  <a:gd name="T3" fmla="*/ 0 h 90"/>
                  <a:gd name="T4" fmla="*/ 39 w 47"/>
                  <a:gd name="T5" fmla="*/ 47 h 90"/>
                  <a:gd name="T6" fmla="*/ 30 w 47"/>
                  <a:gd name="T7" fmla="*/ 90 h 90"/>
                  <a:gd name="T8" fmla="*/ 3 w 47"/>
                  <a:gd name="T9" fmla="*/ 46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90">
                    <a:moveTo>
                      <a:pt x="3" y="46"/>
                    </a:moveTo>
                    <a:cubicBezTo>
                      <a:pt x="0" y="23"/>
                      <a:pt x="14" y="0"/>
                      <a:pt x="14" y="0"/>
                    </a:cubicBezTo>
                    <a:cubicBezTo>
                      <a:pt x="17" y="13"/>
                      <a:pt x="33" y="25"/>
                      <a:pt x="39" y="47"/>
                    </a:cubicBezTo>
                    <a:cubicBezTo>
                      <a:pt x="47" y="79"/>
                      <a:pt x="30" y="90"/>
                      <a:pt x="30" y="90"/>
                    </a:cubicBezTo>
                    <a:cubicBezTo>
                      <a:pt x="21" y="85"/>
                      <a:pt x="6" y="73"/>
                      <a:pt x="3" y="46"/>
                    </a:cubicBez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islide-1-13">
                <a:extLst>
                  <a:ext uri="{FF2B5EF4-FFF2-40B4-BE49-F238E27FC236}">
                    <a16:creationId xmlns:a16="http://schemas.microsoft.com/office/drawing/2014/main" id="{6F5B80A6-7B21-F5E9-C367-51CBD78D0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0668" y="2256525"/>
                <a:ext cx="658768" cy="946052"/>
              </a:xfrm>
              <a:custGeom>
                <a:avLst/>
                <a:gdLst>
                  <a:gd name="T0" fmla="*/ 17 w 56"/>
                  <a:gd name="T1" fmla="*/ 26 h 80"/>
                  <a:gd name="T2" fmla="*/ 56 w 56"/>
                  <a:gd name="T3" fmla="*/ 0 h 80"/>
                  <a:gd name="T4" fmla="*/ 42 w 56"/>
                  <a:gd name="T5" fmla="*/ 51 h 80"/>
                  <a:gd name="T6" fmla="*/ 7 w 56"/>
                  <a:gd name="T7" fmla="*/ 76 h 80"/>
                  <a:gd name="T8" fmla="*/ 17 w 56"/>
                  <a:gd name="T9" fmla="*/ 2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80">
                    <a:moveTo>
                      <a:pt x="17" y="26"/>
                    </a:moveTo>
                    <a:cubicBezTo>
                      <a:pt x="31" y="7"/>
                      <a:pt x="56" y="0"/>
                      <a:pt x="56" y="0"/>
                    </a:cubicBezTo>
                    <a:cubicBezTo>
                      <a:pt x="50" y="11"/>
                      <a:pt x="53" y="31"/>
                      <a:pt x="42" y="51"/>
                    </a:cubicBezTo>
                    <a:cubicBezTo>
                      <a:pt x="27" y="80"/>
                      <a:pt x="7" y="76"/>
                      <a:pt x="7" y="76"/>
                    </a:cubicBezTo>
                    <a:cubicBezTo>
                      <a:pt x="4" y="67"/>
                      <a:pt x="0" y="48"/>
                      <a:pt x="17" y="26"/>
                    </a:cubicBez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islide-1-14">
                <a:extLst>
                  <a:ext uri="{FF2B5EF4-FFF2-40B4-BE49-F238E27FC236}">
                    <a16:creationId xmlns:a16="http://schemas.microsoft.com/office/drawing/2014/main" id="{C6F03C0C-CE67-9B8E-9C54-83515D12A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6370" y="2940060"/>
                <a:ext cx="1005488" cy="1357163"/>
              </a:xfrm>
              <a:custGeom>
                <a:avLst/>
                <a:gdLst>
                  <a:gd name="T0" fmla="*/ 25 w 85"/>
                  <a:gd name="T1" fmla="*/ 35 h 115"/>
                  <a:gd name="T2" fmla="*/ 85 w 85"/>
                  <a:gd name="T3" fmla="*/ 0 h 115"/>
                  <a:gd name="T4" fmla="*/ 61 w 85"/>
                  <a:gd name="T5" fmla="*/ 74 h 115"/>
                  <a:gd name="T6" fmla="*/ 8 w 85"/>
                  <a:gd name="T7" fmla="*/ 109 h 115"/>
                  <a:gd name="T8" fmla="*/ 25 w 85"/>
                  <a:gd name="T9" fmla="*/ 3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115">
                    <a:moveTo>
                      <a:pt x="25" y="35"/>
                    </a:moveTo>
                    <a:cubicBezTo>
                      <a:pt x="47" y="9"/>
                      <a:pt x="85" y="0"/>
                      <a:pt x="85" y="0"/>
                    </a:cubicBezTo>
                    <a:cubicBezTo>
                      <a:pt x="75" y="16"/>
                      <a:pt x="78" y="46"/>
                      <a:pt x="61" y="74"/>
                    </a:cubicBezTo>
                    <a:cubicBezTo>
                      <a:pt x="36" y="115"/>
                      <a:pt x="8" y="109"/>
                      <a:pt x="8" y="109"/>
                    </a:cubicBezTo>
                    <a:cubicBezTo>
                      <a:pt x="3" y="95"/>
                      <a:pt x="0" y="67"/>
                      <a:pt x="25" y="35"/>
                    </a:cubicBez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islide-1-15">
                <a:extLst>
                  <a:ext uri="{FF2B5EF4-FFF2-40B4-BE49-F238E27FC236}">
                    <a16:creationId xmlns:a16="http://schemas.microsoft.com/office/drawing/2014/main" id="{B8679569-5A01-0C4F-FD43-FD0DF2581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5676" y="2989592"/>
                <a:ext cx="445783" cy="599330"/>
              </a:xfrm>
              <a:custGeom>
                <a:avLst/>
                <a:gdLst>
                  <a:gd name="T0" fmla="*/ 6 w 38"/>
                  <a:gd name="T1" fmla="*/ 29 h 51"/>
                  <a:gd name="T2" fmla="*/ 4 w 38"/>
                  <a:gd name="T3" fmla="*/ 0 h 51"/>
                  <a:gd name="T4" fmla="*/ 28 w 38"/>
                  <a:gd name="T5" fmla="*/ 24 h 51"/>
                  <a:gd name="T6" fmla="*/ 30 w 38"/>
                  <a:gd name="T7" fmla="*/ 51 h 51"/>
                  <a:gd name="T8" fmla="*/ 6 w 38"/>
                  <a:gd name="T9" fmla="*/ 2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1">
                    <a:moveTo>
                      <a:pt x="6" y="29"/>
                    </a:moveTo>
                    <a:cubicBezTo>
                      <a:pt x="0" y="16"/>
                      <a:pt x="4" y="0"/>
                      <a:pt x="4" y="0"/>
                    </a:cubicBezTo>
                    <a:cubicBezTo>
                      <a:pt x="9" y="7"/>
                      <a:pt x="20" y="12"/>
                      <a:pt x="28" y="24"/>
                    </a:cubicBezTo>
                    <a:cubicBezTo>
                      <a:pt x="38" y="41"/>
                      <a:pt x="30" y="51"/>
                      <a:pt x="30" y="51"/>
                    </a:cubicBezTo>
                    <a:cubicBezTo>
                      <a:pt x="24" y="49"/>
                      <a:pt x="13" y="45"/>
                      <a:pt x="6" y="29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islide-1-16">
                <a:extLst>
                  <a:ext uri="{FF2B5EF4-FFF2-40B4-BE49-F238E27FC236}">
                    <a16:creationId xmlns:a16="http://schemas.microsoft.com/office/drawing/2014/main" id="{38658163-8FC4-B872-578A-09082369A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7093" y="3128279"/>
                <a:ext cx="529986" cy="495316"/>
              </a:xfrm>
              <a:custGeom>
                <a:avLst/>
                <a:gdLst>
                  <a:gd name="T0" fmla="*/ 16 w 45"/>
                  <a:gd name="T1" fmla="*/ 8 h 42"/>
                  <a:gd name="T2" fmla="*/ 45 w 45"/>
                  <a:gd name="T3" fmla="*/ 1 h 42"/>
                  <a:gd name="T4" fmla="*/ 26 w 45"/>
                  <a:gd name="T5" fmla="*/ 28 h 42"/>
                  <a:gd name="T6" fmla="*/ 0 w 45"/>
                  <a:gd name="T7" fmla="*/ 35 h 42"/>
                  <a:gd name="T8" fmla="*/ 16 w 45"/>
                  <a:gd name="T9" fmla="*/ 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2">
                    <a:moveTo>
                      <a:pt x="16" y="8"/>
                    </a:moveTo>
                    <a:cubicBezTo>
                      <a:pt x="28" y="0"/>
                      <a:pt x="45" y="1"/>
                      <a:pt x="45" y="1"/>
                    </a:cubicBezTo>
                    <a:cubicBezTo>
                      <a:pt x="39" y="6"/>
                      <a:pt x="36" y="19"/>
                      <a:pt x="26" y="28"/>
                    </a:cubicBezTo>
                    <a:cubicBezTo>
                      <a:pt x="11" y="42"/>
                      <a:pt x="0" y="35"/>
                      <a:pt x="0" y="35"/>
                    </a:cubicBezTo>
                    <a:cubicBezTo>
                      <a:pt x="0" y="29"/>
                      <a:pt x="2" y="17"/>
                      <a:pt x="16" y="8"/>
                    </a:cubicBez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islide-1-17">
                <a:extLst>
                  <a:ext uri="{FF2B5EF4-FFF2-40B4-BE49-F238E27FC236}">
                    <a16:creationId xmlns:a16="http://schemas.microsoft.com/office/drawing/2014/main" id="{DDD7E5AC-3ED5-DE2D-970D-4BCEB9ACB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2743" y="2623058"/>
                <a:ext cx="673628" cy="1570148"/>
              </a:xfrm>
              <a:custGeom>
                <a:avLst/>
                <a:gdLst>
                  <a:gd name="T0" fmla="*/ 39 w 57"/>
                  <a:gd name="T1" fmla="*/ 0 h 133"/>
                  <a:gd name="T2" fmla="*/ 6 w 57"/>
                  <a:gd name="T3" fmla="*/ 61 h 133"/>
                  <a:gd name="T4" fmla="*/ 29 w 57"/>
                  <a:gd name="T5" fmla="*/ 133 h 133"/>
                  <a:gd name="T6" fmla="*/ 57 w 57"/>
                  <a:gd name="T7" fmla="*/ 75 h 133"/>
                  <a:gd name="T8" fmla="*/ 39 w 57"/>
                  <a:gd name="T9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133">
                    <a:moveTo>
                      <a:pt x="39" y="0"/>
                    </a:moveTo>
                    <a:cubicBezTo>
                      <a:pt x="39" y="0"/>
                      <a:pt x="11" y="27"/>
                      <a:pt x="6" y="61"/>
                    </a:cubicBezTo>
                    <a:cubicBezTo>
                      <a:pt x="0" y="101"/>
                      <a:pt x="18" y="123"/>
                      <a:pt x="29" y="133"/>
                    </a:cubicBezTo>
                    <a:cubicBezTo>
                      <a:pt x="29" y="133"/>
                      <a:pt x="57" y="124"/>
                      <a:pt x="57" y="75"/>
                    </a:cubicBezTo>
                    <a:cubicBezTo>
                      <a:pt x="57" y="43"/>
                      <a:pt x="39" y="19"/>
                      <a:pt x="39" y="0"/>
                    </a:cubicBezTo>
                  </a:path>
                </a:pathLst>
              </a:cu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US" sz="1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" name="Title">
              <a:extLst>
                <a:ext uri="{FF2B5EF4-FFF2-40B4-BE49-F238E27FC236}">
                  <a16:creationId xmlns:a16="http://schemas.microsoft.com/office/drawing/2014/main" id="{B55E9952-F974-B197-530D-07FE003B2A56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>
                <a:defRPr sz="3200" spc="300">
                  <a:gradFill>
                    <a:gsLst>
                      <a:gs pos="0">
                        <a:schemeClr val="bg1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spc="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思考与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展望</a:t>
              </a:r>
            </a:p>
          </p:txBody>
        </p:sp>
        <p:sp>
          <p:nvSpPr>
            <p:cNvPr id="28" name="Bullet1">
              <a:extLst>
                <a:ext uri="{FF2B5EF4-FFF2-40B4-BE49-F238E27FC236}">
                  <a16:creationId xmlns:a16="http://schemas.microsoft.com/office/drawing/2014/main" id="{4BFA9BF0-4FAC-35B5-5F39-A4A0462E7935}"/>
                </a:ext>
              </a:extLst>
            </p:cNvPr>
            <p:cNvSpPr/>
            <p:nvPr/>
          </p:nvSpPr>
          <p:spPr>
            <a:xfrm>
              <a:off x="660399" y="1841872"/>
              <a:ext cx="4005794" cy="523220"/>
            </a:xfrm>
            <a:prstGeom prst="rect">
              <a:avLst/>
            </a:prstGeom>
          </p:spPr>
          <p:txBody>
            <a:bodyPr wrap="square" lIns="91440" tIns="45720" rIns="91440" bIns="45720" anchor="b">
              <a:noAutofit/>
            </a:bodyPr>
            <a:lstStyle/>
            <a:p>
              <a:pPr algn="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本文方法在 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FLUX.1 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上检测表现不佳</a:t>
              </a:r>
            </a:p>
          </p:txBody>
        </p:sp>
        <p:sp>
          <p:nvSpPr>
            <p:cNvPr id="30" name="Bullet3">
              <a:extLst>
                <a:ext uri="{FF2B5EF4-FFF2-40B4-BE49-F238E27FC236}">
                  <a16:creationId xmlns:a16="http://schemas.microsoft.com/office/drawing/2014/main" id="{AAA24632-13A6-BA6B-C772-38776E020AF3}"/>
                </a:ext>
              </a:extLst>
            </p:cNvPr>
            <p:cNvSpPr/>
            <p:nvPr/>
          </p:nvSpPr>
          <p:spPr>
            <a:xfrm>
              <a:off x="7569811" y="5126319"/>
              <a:ext cx="4070061" cy="369332"/>
            </a:xfrm>
            <a:prstGeom prst="rect">
              <a:avLst/>
            </a:prstGeom>
          </p:spPr>
          <p:txBody>
            <a:bodyPr wrap="square" lIns="91440" tIns="45720" rIns="91440" bIns="45720" anchor="b">
              <a:noAutofit/>
            </a:bodyPr>
            <a:lstStyle/>
            <a:p>
              <a:pPr algn="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“开放世界”评测能否反映真实环境？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Bullet4">
              <a:extLst>
                <a:ext uri="{FF2B5EF4-FFF2-40B4-BE49-F238E27FC236}">
                  <a16:creationId xmlns:a16="http://schemas.microsoft.com/office/drawing/2014/main" id="{5401291F-032C-A762-49A3-4A14C4F76D8E}"/>
                </a:ext>
              </a:extLst>
            </p:cNvPr>
            <p:cNvSpPr/>
            <p:nvPr/>
          </p:nvSpPr>
          <p:spPr>
            <a:xfrm>
              <a:off x="363325" y="3451312"/>
              <a:ext cx="3566757" cy="369332"/>
            </a:xfrm>
            <a:prstGeom prst="rect">
              <a:avLst/>
            </a:prstGeom>
          </p:spPr>
          <p:txBody>
            <a:bodyPr wrap="square" lIns="91440" tIns="45720" rIns="91440" bIns="45720" anchor="b">
              <a:noAutofit/>
            </a:bodyPr>
            <a:lstStyle/>
            <a:p>
              <a:pPr algn="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局部修改可能改变非编辑区域</a:t>
              </a:r>
            </a:p>
          </p:txBody>
        </p:sp>
        <p:sp>
          <p:nvSpPr>
            <p:cNvPr id="20" name="Bullet5">
              <a:extLst>
                <a:ext uri="{FF2B5EF4-FFF2-40B4-BE49-F238E27FC236}">
                  <a16:creationId xmlns:a16="http://schemas.microsoft.com/office/drawing/2014/main" id="{948833E7-E580-FC1E-2576-5A75C62DE537}"/>
                </a:ext>
              </a:extLst>
            </p:cNvPr>
            <p:cNvSpPr/>
            <p:nvPr/>
          </p:nvSpPr>
          <p:spPr>
            <a:xfrm>
              <a:off x="781000" y="5126319"/>
              <a:ext cx="3732477" cy="369332"/>
            </a:xfrm>
            <a:prstGeom prst="rect">
              <a:avLst/>
            </a:prstGeom>
          </p:spPr>
          <p:txBody>
            <a:bodyPr wrap="square" lIns="91440" tIns="45720" rIns="91440" bIns="45720" anchor="b">
              <a:noAutofit/>
            </a:bodyPr>
            <a:lstStyle/>
            <a:p>
              <a:pPr algn="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未见生成器仍是预先选定的</a:t>
              </a:r>
            </a:p>
          </p:txBody>
        </p:sp>
        <p:sp>
          <p:nvSpPr>
            <p:cNvPr id="24" name="Bullet6">
              <a:extLst>
                <a:ext uri="{FF2B5EF4-FFF2-40B4-BE49-F238E27FC236}">
                  <a16:creationId xmlns:a16="http://schemas.microsoft.com/office/drawing/2014/main" id="{ADC16001-D703-F9BF-FA65-6D8A4AB0D5A4}"/>
                </a:ext>
              </a:extLst>
            </p:cNvPr>
            <p:cNvSpPr/>
            <p:nvPr/>
          </p:nvSpPr>
          <p:spPr>
            <a:xfrm>
              <a:off x="7558047" y="3426941"/>
              <a:ext cx="3960853" cy="418075"/>
            </a:xfrm>
            <a:prstGeom prst="rect">
              <a:avLst/>
            </a:prstGeom>
          </p:spPr>
          <p:txBody>
            <a:bodyPr wrap="square" lIns="91440" tIns="45720" rIns="91440" bIns="45720" anchor="b">
              <a:noAutofit/>
            </a:bodyPr>
            <a:lstStyle/>
            <a:p>
              <a:pPr algn="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背景痕迹是否成为检测捷径？</a:t>
              </a:r>
            </a:p>
          </p:txBody>
        </p:sp>
      </p:grpSp>
      <p:sp>
        <p:nvSpPr>
          <p:cNvPr id="21" name="Bullet5">
            <a:extLst>
              <a:ext uri="{FF2B5EF4-FFF2-40B4-BE49-F238E27FC236}">
                <a16:creationId xmlns:a16="http://schemas.microsoft.com/office/drawing/2014/main" id="{8C6EAC92-586C-9D9A-806C-2E44C0A409C2}"/>
              </a:ext>
            </a:extLst>
          </p:cNvPr>
          <p:cNvSpPr/>
          <p:nvPr/>
        </p:nvSpPr>
        <p:spPr>
          <a:xfrm>
            <a:off x="7324889" y="2009850"/>
            <a:ext cx="4446500" cy="369332"/>
          </a:xfrm>
          <a:prstGeom prst="rect">
            <a:avLst/>
          </a:prstGeom>
        </p:spPr>
        <p:txBody>
          <a:bodyPr wrap="square" lIns="91440" tIns="45720" rIns="91440" bIns="45720" anchor="b">
            <a:no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模型学到的是伪造规律，还是生成器指纹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6656AC-4FB7-E738-ED18-AFD72C1C3AE6}"/>
              </a:ext>
            </a:extLst>
          </p:cNvPr>
          <p:cNvSpPr txBox="1"/>
          <p:nvPr/>
        </p:nvSpPr>
        <p:spPr>
          <a:xfrm>
            <a:off x="9981535" y="212426"/>
            <a:ext cx="18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总结展望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18EF00-8A71-3920-1819-0945DDC1A9DE}"/>
              </a:ext>
            </a:extLst>
          </p:cNvPr>
          <p:cNvSpPr txBox="1"/>
          <p:nvPr/>
        </p:nvSpPr>
        <p:spPr>
          <a:xfrm>
            <a:off x="7243486" y="217412"/>
            <a:ext cx="182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实验分析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0153293-BCC7-B357-05B1-C737BA13E761}"/>
              </a:ext>
            </a:extLst>
          </p:cNvPr>
          <p:cNvSpPr txBox="1"/>
          <p:nvPr/>
        </p:nvSpPr>
        <p:spPr>
          <a:xfrm>
            <a:off x="4513477" y="226512"/>
            <a:ext cx="1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核心方法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0E02D5-6188-64D5-7066-BBE80153C50F}"/>
              </a:ext>
            </a:extLst>
          </p:cNvPr>
          <p:cNvSpPr txBox="1"/>
          <p:nvPr/>
        </p:nvSpPr>
        <p:spPr>
          <a:xfrm>
            <a:off x="1681000" y="220954"/>
            <a:ext cx="182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背景问题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BDFC1B-523B-D9D8-5C0F-AEEB3580FDD5}"/>
              </a:ext>
            </a:extLst>
          </p:cNvPr>
          <p:cNvSpPr txBox="1"/>
          <p:nvPr/>
        </p:nvSpPr>
        <p:spPr>
          <a:xfrm>
            <a:off x="4527437" y="539461"/>
            <a:ext cx="1816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Proposed Method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553D076-F986-54BF-3837-DDBAB983BEC9}"/>
              </a:ext>
            </a:extLst>
          </p:cNvPr>
          <p:cNvSpPr txBox="1"/>
          <p:nvPr/>
        </p:nvSpPr>
        <p:spPr>
          <a:xfrm>
            <a:off x="7128655" y="530767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Experimental Results and Analysis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E32288-32DA-C3EA-E1F4-5C8C96B1ED5C}"/>
              </a:ext>
            </a:extLst>
          </p:cNvPr>
          <p:cNvSpPr txBox="1"/>
          <p:nvPr/>
        </p:nvSpPr>
        <p:spPr>
          <a:xfrm>
            <a:off x="9846343" y="543138"/>
            <a:ext cx="2056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Conclusions and Future Work</a:t>
            </a:r>
            <a:endParaRPr lang="zh-CN" altLang="en-US" sz="900" dirty="0">
              <a:solidFill>
                <a:schemeClr val="bg1">
                  <a:alpha val="4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80B7D06-5B9C-9DC0-0FF7-542299F3A113}"/>
              </a:ext>
            </a:extLst>
          </p:cNvPr>
          <p:cNvSpPr txBox="1"/>
          <p:nvPr/>
        </p:nvSpPr>
        <p:spPr>
          <a:xfrm>
            <a:off x="1336545" y="534474"/>
            <a:ext cx="2515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alpha val="4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en-US" altLang="zh-CN" dirty="0"/>
              <a:t>Background and Problem Statement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C885462-C8FF-1A35-274D-F71D800CA8D5}"/>
              </a:ext>
            </a:extLst>
          </p:cNvPr>
          <p:cNvGrpSpPr/>
          <p:nvPr/>
        </p:nvGrpSpPr>
        <p:grpSpPr>
          <a:xfrm>
            <a:off x="9981535" y="812876"/>
            <a:ext cx="1826148" cy="99594"/>
            <a:chOff x="1185700" y="827567"/>
            <a:chExt cx="1826148" cy="9959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E3A228AB-6DC9-C47B-4E9D-52BB860DC892}"/>
                </a:ext>
              </a:extLst>
            </p:cNvPr>
            <p:cNvSpPr/>
            <p:nvPr/>
          </p:nvSpPr>
          <p:spPr>
            <a:xfrm>
              <a:off x="1185700" y="877625"/>
              <a:ext cx="1826148" cy="49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5B621780-7160-E870-C8CA-E2C37C254143}"/>
                </a:ext>
              </a:extLst>
            </p:cNvPr>
            <p:cNvSpPr/>
            <p:nvPr/>
          </p:nvSpPr>
          <p:spPr>
            <a:xfrm>
              <a:off x="2023695" y="827567"/>
              <a:ext cx="130324" cy="5647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5880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D88D9DE-9CCF-4F00-882E-E723033C8EC2}"/>
              </a:ext>
            </a:extLst>
          </p:cNvPr>
          <p:cNvCxnSpPr>
            <a:cxnSpLocks/>
          </p:cNvCxnSpPr>
          <p:nvPr/>
        </p:nvCxnSpPr>
        <p:spPr>
          <a:xfrm>
            <a:off x="-1" y="1776374"/>
            <a:ext cx="121920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1287225-8C43-42AF-B9C8-A7100BF0358A}"/>
              </a:ext>
            </a:extLst>
          </p:cNvPr>
          <p:cNvSpPr/>
          <p:nvPr/>
        </p:nvSpPr>
        <p:spPr>
          <a:xfrm>
            <a:off x="-1" y="1849120"/>
            <a:ext cx="12192001" cy="2854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392A81-7D49-426B-BFCB-CE36A99CF227}"/>
              </a:ext>
            </a:extLst>
          </p:cNvPr>
          <p:cNvSpPr txBox="1"/>
          <p:nvPr/>
        </p:nvSpPr>
        <p:spPr>
          <a:xfrm>
            <a:off x="2156459" y="2549129"/>
            <a:ext cx="78790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敬请各位老师批评指正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B85967-7F6B-48D0-A5B3-A6F279C471BC}"/>
              </a:ext>
            </a:extLst>
          </p:cNvPr>
          <p:cNvSpPr txBox="1"/>
          <p:nvPr/>
        </p:nvSpPr>
        <p:spPr>
          <a:xfrm>
            <a:off x="3664786" y="3850828"/>
            <a:ext cx="4862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 err="1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OpenSDI</a:t>
            </a:r>
            <a:r>
              <a:rPr lang="en-US" altLang="zh-CN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 Spotting Diffusion-Generated Images in the Open World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785E71-9968-49B1-9D54-9E3E3F39A9EE}"/>
              </a:ext>
            </a:extLst>
          </p:cNvPr>
          <p:cNvCxnSpPr/>
          <p:nvPr/>
        </p:nvCxnSpPr>
        <p:spPr>
          <a:xfrm>
            <a:off x="2316480" y="3656911"/>
            <a:ext cx="7565136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9F431524-D83A-ACCE-F6AF-8369A3B71486}"/>
              </a:ext>
            </a:extLst>
          </p:cNvPr>
          <p:cNvGrpSpPr/>
          <p:nvPr/>
        </p:nvGrpSpPr>
        <p:grpSpPr>
          <a:xfrm>
            <a:off x="1513491" y="5522470"/>
            <a:ext cx="261541" cy="229272"/>
            <a:chOff x="1143409" y="5756683"/>
            <a:chExt cx="226164" cy="198260"/>
          </a:xfrm>
          <a:solidFill>
            <a:schemeClr val="accent1"/>
          </a:solidFill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BF81ADB1-5F17-BF18-D62A-506361E47140}"/>
                </a:ext>
              </a:extLst>
            </p:cNvPr>
            <p:cNvSpPr/>
            <p:nvPr/>
          </p:nvSpPr>
          <p:spPr>
            <a:xfrm>
              <a:off x="1143409" y="5756683"/>
              <a:ext cx="226164" cy="130990"/>
            </a:xfrm>
            <a:custGeom>
              <a:avLst/>
              <a:gdLst>
                <a:gd name="connsiteX0" fmla="*/ 109937 w 226164"/>
                <a:gd name="connsiteY0" fmla="*/ 130990 h 130990"/>
                <a:gd name="connsiteX1" fmla="*/ 105971 w 226164"/>
                <a:gd name="connsiteY1" fmla="*/ 129954 h 130990"/>
                <a:gd name="connsiteX2" fmla="*/ 4118 w 226164"/>
                <a:gd name="connsiteY2" fmla="*/ 72586 h 130990"/>
                <a:gd name="connsiteX3" fmla="*/ 0 w 226164"/>
                <a:gd name="connsiteY3" fmla="*/ 65538 h 130990"/>
                <a:gd name="connsiteX4" fmla="*/ 4118 w 226164"/>
                <a:gd name="connsiteY4" fmla="*/ 58490 h 130990"/>
                <a:gd name="connsiteX5" fmla="*/ 105971 w 226164"/>
                <a:gd name="connsiteY5" fmla="*/ 1046 h 130990"/>
                <a:gd name="connsiteX6" fmla="*/ 113727 w 226164"/>
                <a:gd name="connsiteY6" fmla="*/ 945 h 130990"/>
                <a:gd name="connsiteX7" fmla="*/ 221870 w 226164"/>
                <a:gd name="connsiteY7" fmla="*/ 58439 h 130990"/>
                <a:gd name="connsiteX8" fmla="*/ 226165 w 226164"/>
                <a:gd name="connsiteY8" fmla="*/ 65588 h 130990"/>
                <a:gd name="connsiteX9" fmla="*/ 221870 w 226164"/>
                <a:gd name="connsiteY9" fmla="*/ 72737 h 130990"/>
                <a:gd name="connsiteX10" fmla="*/ 113701 w 226164"/>
                <a:gd name="connsiteY10" fmla="*/ 130081 h 130990"/>
                <a:gd name="connsiteX11" fmla="*/ 109937 w 226164"/>
                <a:gd name="connsiteY11" fmla="*/ 130990 h 130990"/>
                <a:gd name="connsiteX12" fmla="*/ 24529 w 226164"/>
                <a:gd name="connsiteY12" fmla="*/ 65538 h 130990"/>
                <a:gd name="connsiteX13" fmla="*/ 110038 w 226164"/>
                <a:gd name="connsiteY13" fmla="*/ 113711 h 130990"/>
                <a:gd name="connsiteX14" fmla="*/ 200828 w 226164"/>
                <a:gd name="connsiteY14" fmla="*/ 65563 h 130990"/>
                <a:gd name="connsiteX15" fmla="*/ 110038 w 226164"/>
                <a:gd name="connsiteY15" fmla="*/ 17339 h 130990"/>
                <a:gd name="connsiteX16" fmla="*/ 24529 w 226164"/>
                <a:gd name="connsiteY16" fmla="*/ 65538 h 130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6164" h="130990">
                  <a:moveTo>
                    <a:pt x="109937" y="130990"/>
                  </a:moveTo>
                  <a:cubicBezTo>
                    <a:pt x="108573" y="130990"/>
                    <a:pt x="107209" y="130636"/>
                    <a:pt x="105971" y="129954"/>
                  </a:cubicBezTo>
                  <a:lnTo>
                    <a:pt x="4118" y="72586"/>
                  </a:lnTo>
                  <a:cubicBezTo>
                    <a:pt x="1566" y="71146"/>
                    <a:pt x="0" y="68468"/>
                    <a:pt x="0" y="65538"/>
                  </a:cubicBezTo>
                  <a:cubicBezTo>
                    <a:pt x="0" y="62608"/>
                    <a:pt x="1566" y="59930"/>
                    <a:pt x="4118" y="58490"/>
                  </a:cubicBezTo>
                  <a:lnTo>
                    <a:pt x="105971" y="1046"/>
                  </a:lnTo>
                  <a:cubicBezTo>
                    <a:pt x="108371" y="-318"/>
                    <a:pt x="111301" y="-344"/>
                    <a:pt x="113727" y="945"/>
                  </a:cubicBezTo>
                  <a:lnTo>
                    <a:pt x="221870" y="58439"/>
                  </a:lnTo>
                  <a:cubicBezTo>
                    <a:pt x="224523" y="59854"/>
                    <a:pt x="226165" y="62582"/>
                    <a:pt x="226165" y="65588"/>
                  </a:cubicBezTo>
                  <a:cubicBezTo>
                    <a:pt x="226165" y="68595"/>
                    <a:pt x="224523" y="71323"/>
                    <a:pt x="221870" y="72737"/>
                  </a:cubicBezTo>
                  <a:lnTo>
                    <a:pt x="113701" y="130081"/>
                  </a:lnTo>
                  <a:cubicBezTo>
                    <a:pt x="112539" y="130687"/>
                    <a:pt x="111226" y="130990"/>
                    <a:pt x="109937" y="130990"/>
                  </a:cubicBezTo>
                  <a:close/>
                  <a:moveTo>
                    <a:pt x="24529" y="65538"/>
                  </a:moveTo>
                  <a:lnTo>
                    <a:pt x="110038" y="113711"/>
                  </a:lnTo>
                  <a:lnTo>
                    <a:pt x="200828" y="65563"/>
                  </a:lnTo>
                  <a:lnTo>
                    <a:pt x="110038" y="17339"/>
                  </a:lnTo>
                  <a:lnTo>
                    <a:pt x="24529" y="65538"/>
                  </a:ln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2EE7B3CB-DF96-784D-5C76-34FBD0E51E9C}"/>
                </a:ext>
              </a:extLst>
            </p:cNvPr>
            <p:cNvSpPr/>
            <p:nvPr/>
          </p:nvSpPr>
          <p:spPr>
            <a:xfrm>
              <a:off x="1177840" y="5839828"/>
              <a:ext cx="157302" cy="87858"/>
            </a:xfrm>
            <a:custGeom>
              <a:avLst/>
              <a:gdLst>
                <a:gd name="connsiteX0" fmla="*/ 8084 w 157302"/>
                <a:gd name="connsiteY0" fmla="*/ 87859 h 87858"/>
                <a:gd name="connsiteX1" fmla="*/ 0 w 157302"/>
                <a:gd name="connsiteY1" fmla="*/ 79775 h 87858"/>
                <a:gd name="connsiteX2" fmla="*/ 0 w 157302"/>
                <a:gd name="connsiteY2" fmla="*/ 8084 h 87858"/>
                <a:gd name="connsiteX3" fmla="*/ 8084 w 157302"/>
                <a:gd name="connsiteY3" fmla="*/ 0 h 87858"/>
                <a:gd name="connsiteX4" fmla="*/ 16167 w 157302"/>
                <a:gd name="connsiteY4" fmla="*/ 8084 h 87858"/>
                <a:gd name="connsiteX5" fmla="*/ 16167 w 157302"/>
                <a:gd name="connsiteY5" fmla="*/ 79775 h 87858"/>
                <a:gd name="connsiteX6" fmla="*/ 8084 w 157302"/>
                <a:gd name="connsiteY6" fmla="*/ 87859 h 87858"/>
                <a:gd name="connsiteX7" fmla="*/ 149219 w 157302"/>
                <a:gd name="connsiteY7" fmla="*/ 87859 h 87858"/>
                <a:gd name="connsiteX8" fmla="*/ 141135 w 157302"/>
                <a:gd name="connsiteY8" fmla="*/ 79775 h 87858"/>
                <a:gd name="connsiteX9" fmla="*/ 141135 w 157302"/>
                <a:gd name="connsiteY9" fmla="*/ 8084 h 87858"/>
                <a:gd name="connsiteX10" fmla="*/ 149219 w 157302"/>
                <a:gd name="connsiteY10" fmla="*/ 0 h 87858"/>
                <a:gd name="connsiteX11" fmla="*/ 157302 w 157302"/>
                <a:gd name="connsiteY11" fmla="*/ 8084 h 87858"/>
                <a:gd name="connsiteX12" fmla="*/ 157302 w 157302"/>
                <a:gd name="connsiteY12" fmla="*/ 79775 h 87858"/>
                <a:gd name="connsiteX13" fmla="*/ 149219 w 157302"/>
                <a:gd name="connsiteY13" fmla="*/ 87859 h 8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02" h="87858">
                  <a:moveTo>
                    <a:pt x="8084" y="87859"/>
                  </a:moveTo>
                  <a:cubicBezTo>
                    <a:pt x="3612" y="87859"/>
                    <a:pt x="0" y="84247"/>
                    <a:pt x="0" y="79775"/>
                  </a:cubicBezTo>
                  <a:lnTo>
                    <a:pt x="0" y="8084"/>
                  </a:lnTo>
                  <a:cubicBezTo>
                    <a:pt x="0" y="3612"/>
                    <a:pt x="3612" y="0"/>
                    <a:pt x="8084" y="0"/>
                  </a:cubicBezTo>
                  <a:cubicBezTo>
                    <a:pt x="12555" y="0"/>
                    <a:pt x="16167" y="3612"/>
                    <a:pt x="16167" y="8084"/>
                  </a:cubicBezTo>
                  <a:lnTo>
                    <a:pt x="16167" y="79775"/>
                  </a:lnTo>
                  <a:cubicBezTo>
                    <a:pt x="16167" y="84247"/>
                    <a:pt x="12555" y="87859"/>
                    <a:pt x="8084" y="87859"/>
                  </a:cubicBezTo>
                  <a:close/>
                  <a:moveTo>
                    <a:pt x="149219" y="87859"/>
                  </a:moveTo>
                  <a:cubicBezTo>
                    <a:pt x="144747" y="87859"/>
                    <a:pt x="141135" y="84247"/>
                    <a:pt x="141135" y="79775"/>
                  </a:cubicBezTo>
                  <a:lnTo>
                    <a:pt x="141135" y="8084"/>
                  </a:lnTo>
                  <a:cubicBezTo>
                    <a:pt x="141135" y="3612"/>
                    <a:pt x="144747" y="0"/>
                    <a:pt x="149219" y="0"/>
                  </a:cubicBezTo>
                  <a:cubicBezTo>
                    <a:pt x="153690" y="0"/>
                    <a:pt x="157302" y="3612"/>
                    <a:pt x="157302" y="8084"/>
                  </a:cubicBezTo>
                  <a:lnTo>
                    <a:pt x="157302" y="79775"/>
                  </a:lnTo>
                  <a:cubicBezTo>
                    <a:pt x="157302" y="84247"/>
                    <a:pt x="153665" y="87859"/>
                    <a:pt x="149219" y="87859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F24BD520-8AE7-152E-BC14-F3124E4267A5}"/>
                </a:ext>
              </a:extLst>
            </p:cNvPr>
            <p:cNvSpPr/>
            <p:nvPr/>
          </p:nvSpPr>
          <p:spPr>
            <a:xfrm>
              <a:off x="1177840" y="5848391"/>
              <a:ext cx="189459" cy="106552"/>
            </a:xfrm>
            <a:custGeom>
              <a:avLst/>
              <a:gdLst>
                <a:gd name="connsiteX0" fmla="*/ 78639 w 189459"/>
                <a:gd name="connsiteY0" fmla="*/ 106552 h 106552"/>
                <a:gd name="connsiteX1" fmla="*/ 26044 w 189459"/>
                <a:gd name="connsiteY1" fmla="*/ 98747 h 106552"/>
                <a:gd name="connsiteX2" fmla="*/ 8437 w 189459"/>
                <a:gd name="connsiteY2" fmla="*/ 89349 h 106552"/>
                <a:gd name="connsiteX3" fmla="*/ 0 w 189459"/>
                <a:gd name="connsiteY3" fmla="*/ 73409 h 106552"/>
                <a:gd name="connsiteX4" fmla="*/ 8084 w 189459"/>
                <a:gd name="connsiteY4" fmla="*/ 65326 h 106552"/>
                <a:gd name="connsiteX5" fmla="*/ 16167 w 189459"/>
                <a:gd name="connsiteY5" fmla="*/ 73409 h 106552"/>
                <a:gd name="connsiteX6" fmla="*/ 31450 w 189459"/>
                <a:gd name="connsiteY6" fmla="*/ 83539 h 106552"/>
                <a:gd name="connsiteX7" fmla="*/ 78639 w 189459"/>
                <a:gd name="connsiteY7" fmla="*/ 90410 h 106552"/>
                <a:gd name="connsiteX8" fmla="*/ 125827 w 189459"/>
                <a:gd name="connsiteY8" fmla="*/ 83539 h 106552"/>
                <a:gd name="connsiteX9" fmla="*/ 141110 w 189459"/>
                <a:gd name="connsiteY9" fmla="*/ 73409 h 106552"/>
                <a:gd name="connsiteX10" fmla="*/ 149193 w 189459"/>
                <a:gd name="connsiteY10" fmla="*/ 65326 h 106552"/>
                <a:gd name="connsiteX11" fmla="*/ 157277 w 189459"/>
                <a:gd name="connsiteY11" fmla="*/ 73409 h 106552"/>
                <a:gd name="connsiteX12" fmla="*/ 148840 w 189459"/>
                <a:gd name="connsiteY12" fmla="*/ 89349 h 106552"/>
                <a:gd name="connsiteX13" fmla="*/ 131233 w 189459"/>
                <a:gd name="connsiteY13" fmla="*/ 98747 h 106552"/>
                <a:gd name="connsiteX14" fmla="*/ 78639 w 189459"/>
                <a:gd name="connsiteY14" fmla="*/ 106552 h 106552"/>
                <a:gd name="connsiteX15" fmla="*/ 181376 w 189459"/>
                <a:gd name="connsiteY15" fmla="*/ 90183 h 106552"/>
                <a:gd name="connsiteX16" fmla="*/ 173293 w 189459"/>
                <a:gd name="connsiteY16" fmla="*/ 82099 h 106552"/>
                <a:gd name="connsiteX17" fmla="*/ 173293 w 189459"/>
                <a:gd name="connsiteY17" fmla="*/ 8084 h 106552"/>
                <a:gd name="connsiteX18" fmla="*/ 181376 w 189459"/>
                <a:gd name="connsiteY18" fmla="*/ 0 h 106552"/>
                <a:gd name="connsiteX19" fmla="*/ 189460 w 189459"/>
                <a:gd name="connsiteY19" fmla="*/ 8084 h 106552"/>
                <a:gd name="connsiteX20" fmla="*/ 189460 w 189459"/>
                <a:gd name="connsiteY20" fmla="*/ 82099 h 106552"/>
                <a:gd name="connsiteX21" fmla="*/ 181376 w 189459"/>
                <a:gd name="connsiteY21" fmla="*/ 90183 h 1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459" h="106552">
                  <a:moveTo>
                    <a:pt x="78639" y="106552"/>
                  </a:moveTo>
                  <a:cubicBezTo>
                    <a:pt x="58884" y="106552"/>
                    <a:pt x="40216" y="103774"/>
                    <a:pt x="26044" y="98747"/>
                  </a:cubicBezTo>
                  <a:cubicBezTo>
                    <a:pt x="18643" y="96119"/>
                    <a:pt x="12732" y="92962"/>
                    <a:pt x="8437" y="89349"/>
                  </a:cubicBezTo>
                  <a:cubicBezTo>
                    <a:pt x="1465" y="83489"/>
                    <a:pt x="0" y="77451"/>
                    <a:pt x="0" y="73409"/>
                  </a:cubicBezTo>
                  <a:cubicBezTo>
                    <a:pt x="0" y="68938"/>
                    <a:pt x="3612" y="65326"/>
                    <a:pt x="8084" y="65326"/>
                  </a:cubicBezTo>
                  <a:cubicBezTo>
                    <a:pt x="12555" y="65326"/>
                    <a:pt x="16167" y="68938"/>
                    <a:pt x="16167" y="73409"/>
                  </a:cubicBezTo>
                  <a:cubicBezTo>
                    <a:pt x="16167" y="74925"/>
                    <a:pt x="19906" y="79422"/>
                    <a:pt x="31450" y="83539"/>
                  </a:cubicBezTo>
                  <a:cubicBezTo>
                    <a:pt x="43929" y="87985"/>
                    <a:pt x="60678" y="90410"/>
                    <a:pt x="78639" y="90410"/>
                  </a:cubicBezTo>
                  <a:cubicBezTo>
                    <a:pt x="96599" y="90410"/>
                    <a:pt x="113348" y="87960"/>
                    <a:pt x="125827" y="83539"/>
                  </a:cubicBezTo>
                  <a:cubicBezTo>
                    <a:pt x="137371" y="79422"/>
                    <a:pt x="141110" y="74950"/>
                    <a:pt x="141110" y="73409"/>
                  </a:cubicBezTo>
                  <a:cubicBezTo>
                    <a:pt x="141110" y="68938"/>
                    <a:pt x="144722" y="65326"/>
                    <a:pt x="149193" y="65326"/>
                  </a:cubicBezTo>
                  <a:cubicBezTo>
                    <a:pt x="153665" y="65326"/>
                    <a:pt x="157277" y="68938"/>
                    <a:pt x="157277" y="73409"/>
                  </a:cubicBezTo>
                  <a:cubicBezTo>
                    <a:pt x="157277" y="77451"/>
                    <a:pt x="155812" y="83514"/>
                    <a:pt x="148840" y="89349"/>
                  </a:cubicBezTo>
                  <a:cubicBezTo>
                    <a:pt x="144545" y="92962"/>
                    <a:pt x="138609" y="96119"/>
                    <a:pt x="131233" y="98747"/>
                  </a:cubicBezTo>
                  <a:cubicBezTo>
                    <a:pt x="117086" y="103774"/>
                    <a:pt x="98393" y="106552"/>
                    <a:pt x="78639" y="106552"/>
                  </a:cubicBezTo>
                  <a:close/>
                  <a:moveTo>
                    <a:pt x="181376" y="90183"/>
                  </a:moveTo>
                  <a:cubicBezTo>
                    <a:pt x="176905" y="90183"/>
                    <a:pt x="173293" y="86571"/>
                    <a:pt x="173293" y="82099"/>
                  </a:cubicBezTo>
                  <a:lnTo>
                    <a:pt x="173293" y="8084"/>
                  </a:lnTo>
                  <a:cubicBezTo>
                    <a:pt x="173293" y="3612"/>
                    <a:pt x="176905" y="0"/>
                    <a:pt x="181376" y="0"/>
                  </a:cubicBezTo>
                  <a:cubicBezTo>
                    <a:pt x="185848" y="0"/>
                    <a:pt x="189460" y="3612"/>
                    <a:pt x="189460" y="8084"/>
                  </a:cubicBezTo>
                  <a:lnTo>
                    <a:pt x="189460" y="82099"/>
                  </a:lnTo>
                  <a:cubicBezTo>
                    <a:pt x="189460" y="86545"/>
                    <a:pt x="185848" y="90183"/>
                    <a:pt x="181376" y="90183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D75531E0-CFCC-3D86-34E9-CB24E77D64A5}"/>
              </a:ext>
            </a:extLst>
          </p:cNvPr>
          <p:cNvSpPr txBox="1"/>
          <p:nvPr/>
        </p:nvSpPr>
        <p:spPr>
          <a:xfrm>
            <a:off x="1855879" y="5465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汇报人：张壹铭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DC52600-0C17-8C91-31B7-40C56D3E58F1}"/>
              </a:ext>
            </a:extLst>
          </p:cNvPr>
          <p:cNvGrpSpPr/>
          <p:nvPr/>
        </p:nvGrpSpPr>
        <p:grpSpPr>
          <a:xfrm>
            <a:off x="4975651" y="5523845"/>
            <a:ext cx="192178" cy="233007"/>
            <a:chOff x="4967232" y="5717182"/>
            <a:chExt cx="236980" cy="287327"/>
          </a:xfrm>
          <a:solidFill>
            <a:schemeClr val="accent1"/>
          </a:solidFill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50AD2D30-41A1-7D6F-A9B5-AA833E6EAD05}"/>
                </a:ext>
              </a:extLst>
            </p:cNvPr>
            <p:cNvSpPr/>
            <p:nvPr/>
          </p:nvSpPr>
          <p:spPr>
            <a:xfrm>
              <a:off x="4967232" y="5884576"/>
              <a:ext cx="236980" cy="119933"/>
            </a:xfrm>
            <a:custGeom>
              <a:avLst/>
              <a:gdLst>
                <a:gd name="connsiteX0" fmla="*/ 236981 w 236980"/>
                <a:gd name="connsiteY0" fmla="*/ 119933 h 119933"/>
                <a:gd name="connsiteX1" fmla="*/ 0 w 236980"/>
                <a:gd name="connsiteY1" fmla="*/ 119933 h 119933"/>
                <a:gd name="connsiteX2" fmla="*/ 0 w 236980"/>
                <a:gd name="connsiteY2" fmla="*/ 112558 h 119933"/>
                <a:gd name="connsiteX3" fmla="*/ 9364 w 236980"/>
                <a:gd name="connsiteY3" fmla="*/ 68593 h 119933"/>
                <a:gd name="connsiteX4" fmla="*/ 34826 w 236980"/>
                <a:gd name="connsiteY4" fmla="*/ 32805 h 119933"/>
                <a:gd name="connsiteX5" fmla="*/ 72473 w 236980"/>
                <a:gd name="connsiteY5" fmla="*/ 8787 h 119933"/>
                <a:gd name="connsiteX6" fmla="*/ 118458 w 236980"/>
                <a:gd name="connsiteY6" fmla="*/ 0 h 119933"/>
                <a:gd name="connsiteX7" fmla="*/ 164444 w 236980"/>
                <a:gd name="connsiteY7" fmla="*/ 8787 h 119933"/>
                <a:gd name="connsiteX8" fmla="*/ 202091 w 236980"/>
                <a:gd name="connsiteY8" fmla="*/ 32805 h 119933"/>
                <a:gd name="connsiteX9" fmla="*/ 227553 w 236980"/>
                <a:gd name="connsiteY9" fmla="*/ 68593 h 119933"/>
                <a:gd name="connsiteX10" fmla="*/ 236981 w 236980"/>
                <a:gd name="connsiteY10" fmla="*/ 112558 h 119933"/>
                <a:gd name="connsiteX11" fmla="*/ 236981 w 236980"/>
                <a:gd name="connsiteY11" fmla="*/ 119933 h 119933"/>
                <a:gd name="connsiteX12" fmla="*/ 15040 w 236980"/>
                <a:gd name="connsiteY12" fmla="*/ 105182 h 119933"/>
                <a:gd name="connsiteX13" fmla="*/ 221941 w 236980"/>
                <a:gd name="connsiteY13" fmla="*/ 105182 h 119933"/>
                <a:gd name="connsiteX14" fmla="*/ 191990 w 236980"/>
                <a:gd name="connsiteY14" fmla="*/ 43548 h 119933"/>
                <a:gd name="connsiteX15" fmla="*/ 118490 w 236980"/>
                <a:gd name="connsiteY15" fmla="*/ 14751 h 119933"/>
                <a:gd name="connsiteX16" fmla="*/ 44991 w 236980"/>
                <a:gd name="connsiteY16" fmla="*/ 43548 h 119933"/>
                <a:gd name="connsiteX17" fmla="*/ 15040 w 236980"/>
                <a:gd name="connsiteY17" fmla="*/ 105182 h 119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980" h="119933">
                  <a:moveTo>
                    <a:pt x="236981" y="119933"/>
                  </a:moveTo>
                  <a:lnTo>
                    <a:pt x="0" y="119933"/>
                  </a:lnTo>
                  <a:lnTo>
                    <a:pt x="0" y="112558"/>
                  </a:lnTo>
                  <a:cubicBezTo>
                    <a:pt x="0" y="97326"/>
                    <a:pt x="3143" y="82542"/>
                    <a:pt x="9364" y="68593"/>
                  </a:cubicBezTo>
                  <a:cubicBezTo>
                    <a:pt x="15360" y="55189"/>
                    <a:pt x="23923" y="43131"/>
                    <a:pt x="34826" y="32805"/>
                  </a:cubicBezTo>
                  <a:cubicBezTo>
                    <a:pt x="45697" y="22512"/>
                    <a:pt x="58363" y="14430"/>
                    <a:pt x="72473" y="8787"/>
                  </a:cubicBezTo>
                  <a:cubicBezTo>
                    <a:pt x="87032" y="2950"/>
                    <a:pt x="102521" y="0"/>
                    <a:pt x="118458" y="0"/>
                  </a:cubicBezTo>
                  <a:cubicBezTo>
                    <a:pt x="134396" y="0"/>
                    <a:pt x="149885" y="2950"/>
                    <a:pt x="164444" y="8787"/>
                  </a:cubicBezTo>
                  <a:cubicBezTo>
                    <a:pt x="178553" y="14430"/>
                    <a:pt x="191220" y="22512"/>
                    <a:pt x="202091" y="32805"/>
                  </a:cubicBezTo>
                  <a:cubicBezTo>
                    <a:pt x="212994" y="43131"/>
                    <a:pt x="221588" y="55189"/>
                    <a:pt x="227553" y="68593"/>
                  </a:cubicBezTo>
                  <a:cubicBezTo>
                    <a:pt x="233838" y="82542"/>
                    <a:pt x="236981" y="97326"/>
                    <a:pt x="236981" y="112558"/>
                  </a:cubicBezTo>
                  <a:lnTo>
                    <a:pt x="236981" y="119933"/>
                  </a:lnTo>
                  <a:close/>
                  <a:moveTo>
                    <a:pt x="15040" y="105182"/>
                  </a:moveTo>
                  <a:lnTo>
                    <a:pt x="221941" y="105182"/>
                  </a:lnTo>
                  <a:cubicBezTo>
                    <a:pt x="220113" y="81901"/>
                    <a:pt x="209627" y="60255"/>
                    <a:pt x="191990" y="43548"/>
                  </a:cubicBezTo>
                  <a:cubicBezTo>
                    <a:pt x="172364" y="24981"/>
                    <a:pt x="146261" y="14751"/>
                    <a:pt x="118490" y="14751"/>
                  </a:cubicBezTo>
                  <a:cubicBezTo>
                    <a:pt x="90720" y="14751"/>
                    <a:pt x="64617" y="24981"/>
                    <a:pt x="44991" y="43548"/>
                  </a:cubicBezTo>
                  <a:cubicBezTo>
                    <a:pt x="27354" y="60255"/>
                    <a:pt x="16868" y="81901"/>
                    <a:pt x="15040" y="105182"/>
                  </a:cubicBez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022F380E-41E6-3D90-865F-598A689616AB}"/>
                </a:ext>
              </a:extLst>
            </p:cNvPr>
            <p:cNvSpPr/>
            <p:nvPr/>
          </p:nvSpPr>
          <p:spPr>
            <a:xfrm>
              <a:off x="5027520" y="5790938"/>
              <a:ext cx="116726" cy="93958"/>
            </a:xfrm>
            <a:custGeom>
              <a:avLst/>
              <a:gdLst>
                <a:gd name="connsiteX0" fmla="*/ 58363 w 116726"/>
                <a:gd name="connsiteY0" fmla="*/ 93959 h 93958"/>
                <a:gd name="connsiteX1" fmla="*/ 0 w 116726"/>
                <a:gd name="connsiteY1" fmla="*/ 38674 h 93958"/>
                <a:gd name="connsiteX2" fmla="*/ 14591 w 116726"/>
                <a:gd name="connsiteY2" fmla="*/ 2373 h 93958"/>
                <a:gd name="connsiteX3" fmla="*/ 20010 w 116726"/>
                <a:gd name="connsiteY3" fmla="*/ 0 h 93958"/>
                <a:gd name="connsiteX4" fmla="*/ 97197 w 116726"/>
                <a:gd name="connsiteY4" fmla="*/ 0 h 93958"/>
                <a:gd name="connsiteX5" fmla="*/ 102553 w 116726"/>
                <a:gd name="connsiteY5" fmla="*/ 2309 h 93958"/>
                <a:gd name="connsiteX6" fmla="*/ 116727 w 116726"/>
                <a:gd name="connsiteY6" fmla="*/ 38674 h 93958"/>
                <a:gd name="connsiteX7" fmla="*/ 58363 w 116726"/>
                <a:gd name="connsiteY7" fmla="*/ 93959 h 93958"/>
                <a:gd name="connsiteX8" fmla="*/ 23409 w 116726"/>
                <a:gd name="connsiteY8" fmla="*/ 14751 h 93958"/>
                <a:gd name="connsiteX9" fmla="*/ 14751 w 116726"/>
                <a:gd name="connsiteY9" fmla="*/ 38674 h 93958"/>
                <a:gd name="connsiteX10" fmla="*/ 58363 w 116726"/>
                <a:gd name="connsiteY10" fmla="*/ 79207 h 93958"/>
                <a:gd name="connsiteX11" fmla="*/ 101976 w 116726"/>
                <a:gd name="connsiteY11" fmla="*/ 38674 h 93958"/>
                <a:gd name="connsiteX12" fmla="*/ 93862 w 116726"/>
                <a:gd name="connsiteY12" fmla="*/ 14751 h 93958"/>
                <a:gd name="connsiteX13" fmla="*/ 23409 w 116726"/>
                <a:gd name="connsiteY13" fmla="*/ 14751 h 9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726" h="93958">
                  <a:moveTo>
                    <a:pt x="58363" y="93959"/>
                  </a:moveTo>
                  <a:cubicBezTo>
                    <a:pt x="26167" y="93959"/>
                    <a:pt x="0" y="69170"/>
                    <a:pt x="0" y="38674"/>
                  </a:cubicBezTo>
                  <a:cubicBezTo>
                    <a:pt x="0" y="25494"/>
                    <a:pt x="5163" y="12603"/>
                    <a:pt x="14591" y="2373"/>
                  </a:cubicBezTo>
                  <a:cubicBezTo>
                    <a:pt x="16002" y="866"/>
                    <a:pt x="17958" y="0"/>
                    <a:pt x="20010" y="0"/>
                  </a:cubicBezTo>
                  <a:lnTo>
                    <a:pt x="97197" y="0"/>
                  </a:lnTo>
                  <a:cubicBezTo>
                    <a:pt x="99218" y="0"/>
                    <a:pt x="101142" y="834"/>
                    <a:pt x="102553" y="2309"/>
                  </a:cubicBezTo>
                  <a:cubicBezTo>
                    <a:pt x="111820" y="12090"/>
                    <a:pt x="116727" y="24660"/>
                    <a:pt x="116727" y="38674"/>
                  </a:cubicBezTo>
                  <a:cubicBezTo>
                    <a:pt x="116727" y="69170"/>
                    <a:pt x="90559" y="93959"/>
                    <a:pt x="58363" y="93959"/>
                  </a:cubicBezTo>
                  <a:close/>
                  <a:moveTo>
                    <a:pt x="23409" y="14751"/>
                  </a:moveTo>
                  <a:cubicBezTo>
                    <a:pt x="17798" y="21806"/>
                    <a:pt x="14751" y="30176"/>
                    <a:pt x="14751" y="38674"/>
                  </a:cubicBezTo>
                  <a:cubicBezTo>
                    <a:pt x="14751" y="61025"/>
                    <a:pt x="34313" y="79207"/>
                    <a:pt x="58363" y="79207"/>
                  </a:cubicBezTo>
                  <a:cubicBezTo>
                    <a:pt x="82414" y="79207"/>
                    <a:pt x="101976" y="61025"/>
                    <a:pt x="101976" y="38674"/>
                  </a:cubicBezTo>
                  <a:cubicBezTo>
                    <a:pt x="101976" y="29438"/>
                    <a:pt x="99250" y="21421"/>
                    <a:pt x="93862" y="14751"/>
                  </a:cubicBezTo>
                  <a:lnTo>
                    <a:pt x="23409" y="14751"/>
                  </a:ln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4D6095E9-9958-AC8C-964E-252BC0EA3E64}"/>
                </a:ext>
              </a:extLst>
            </p:cNvPr>
            <p:cNvSpPr/>
            <p:nvPr/>
          </p:nvSpPr>
          <p:spPr>
            <a:xfrm>
              <a:off x="5031688" y="5738988"/>
              <a:ext cx="106144" cy="66700"/>
            </a:xfrm>
            <a:custGeom>
              <a:avLst/>
              <a:gdLst>
                <a:gd name="connsiteX0" fmla="*/ 96588 w 106144"/>
                <a:gd name="connsiteY0" fmla="*/ 66701 h 66700"/>
                <a:gd name="connsiteX1" fmla="*/ 9556 w 106144"/>
                <a:gd name="connsiteY1" fmla="*/ 66701 h 66700"/>
                <a:gd name="connsiteX2" fmla="*/ 0 w 106144"/>
                <a:gd name="connsiteY2" fmla="*/ 56664 h 66700"/>
                <a:gd name="connsiteX3" fmla="*/ 0 w 106144"/>
                <a:gd name="connsiteY3" fmla="*/ 7376 h 66700"/>
                <a:gd name="connsiteX4" fmla="*/ 7376 w 106144"/>
                <a:gd name="connsiteY4" fmla="*/ 0 h 66700"/>
                <a:gd name="connsiteX5" fmla="*/ 14751 w 106144"/>
                <a:gd name="connsiteY5" fmla="*/ 7376 h 66700"/>
                <a:gd name="connsiteX6" fmla="*/ 14751 w 106144"/>
                <a:gd name="connsiteY6" fmla="*/ 51950 h 66700"/>
                <a:gd name="connsiteX7" fmla="*/ 91393 w 106144"/>
                <a:gd name="connsiteY7" fmla="*/ 51950 h 66700"/>
                <a:gd name="connsiteX8" fmla="*/ 91393 w 106144"/>
                <a:gd name="connsiteY8" fmla="*/ 7376 h 66700"/>
                <a:gd name="connsiteX9" fmla="*/ 98769 w 106144"/>
                <a:gd name="connsiteY9" fmla="*/ 0 h 66700"/>
                <a:gd name="connsiteX10" fmla="*/ 106144 w 106144"/>
                <a:gd name="connsiteY10" fmla="*/ 7376 h 66700"/>
                <a:gd name="connsiteX11" fmla="*/ 106144 w 106144"/>
                <a:gd name="connsiteY11" fmla="*/ 56664 h 66700"/>
                <a:gd name="connsiteX12" fmla="*/ 96588 w 106144"/>
                <a:gd name="connsiteY12" fmla="*/ 66701 h 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144" h="66700">
                  <a:moveTo>
                    <a:pt x="96588" y="66701"/>
                  </a:moveTo>
                  <a:lnTo>
                    <a:pt x="9556" y="66701"/>
                  </a:lnTo>
                  <a:cubicBezTo>
                    <a:pt x="4297" y="66701"/>
                    <a:pt x="0" y="62211"/>
                    <a:pt x="0" y="56664"/>
                  </a:cubicBezTo>
                  <a:lnTo>
                    <a:pt x="0" y="7376"/>
                  </a:lnTo>
                  <a:cubicBezTo>
                    <a:pt x="0" y="3303"/>
                    <a:pt x="3303" y="0"/>
                    <a:pt x="7376" y="0"/>
                  </a:cubicBezTo>
                  <a:cubicBezTo>
                    <a:pt x="11448" y="0"/>
                    <a:pt x="14751" y="3303"/>
                    <a:pt x="14751" y="7376"/>
                  </a:cubicBezTo>
                  <a:lnTo>
                    <a:pt x="14751" y="51950"/>
                  </a:lnTo>
                  <a:lnTo>
                    <a:pt x="91393" y="51950"/>
                  </a:lnTo>
                  <a:lnTo>
                    <a:pt x="91393" y="7376"/>
                  </a:lnTo>
                  <a:cubicBezTo>
                    <a:pt x="91393" y="3303"/>
                    <a:pt x="94696" y="0"/>
                    <a:pt x="98769" y="0"/>
                  </a:cubicBezTo>
                  <a:cubicBezTo>
                    <a:pt x="102841" y="0"/>
                    <a:pt x="106144" y="3303"/>
                    <a:pt x="106144" y="7376"/>
                  </a:cubicBezTo>
                  <a:lnTo>
                    <a:pt x="106144" y="56664"/>
                  </a:lnTo>
                  <a:cubicBezTo>
                    <a:pt x="106144" y="62211"/>
                    <a:pt x="101879" y="66701"/>
                    <a:pt x="96588" y="66701"/>
                  </a:cubicBez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58A96456-139C-B287-B13B-D2E80E22E883}"/>
                </a:ext>
              </a:extLst>
            </p:cNvPr>
            <p:cNvSpPr/>
            <p:nvPr/>
          </p:nvSpPr>
          <p:spPr>
            <a:xfrm>
              <a:off x="4996093" y="5717182"/>
              <a:ext cx="178617" cy="122178"/>
            </a:xfrm>
            <a:custGeom>
              <a:avLst/>
              <a:gdLst>
                <a:gd name="connsiteX0" fmla="*/ 89309 w 178617"/>
                <a:gd name="connsiteY0" fmla="*/ 57401 h 122178"/>
                <a:gd name="connsiteX1" fmla="*/ 81677 w 178617"/>
                <a:gd name="connsiteY1" fmla="*/ 56343 h 122178"/>
                <a:gd name="connsiteX2" fmla="*/ 0 w 178617"/>
                <a:gd name="connsiteY2" fmla="*/ 28701 h 122178"/>
                <a:gd name="connsiteX3" fmla="*/ 81677 w 178617"/>
                <a:gd name="connsiteY3" fmla="*/ 1058 h 122178"/>
                <a:gd name="connsiteX4" fmla="*/ 96973 w 178617"/>
                <a:gd name="connsiteY4" fmla="*/ 1058 h 122178"/>
                <a:gd name="connsiteX5" fmla="*/ 178618 w 178617"/>
                <a:gd name="connsiteY5" fmla="*/ 28701 h 122178"/>
                <a:gd name="connsiteX6" fmla="*/ 96973 w 178617"/>
                <a:gd name="connsiteY6" fmla="*/ 56343 h 122178"/>
                <a:gd name="connsiteX7" fmla="*/ 89309 w 178617"/>
                <a:gd name="connsiteY7" fmla="*/ 57401 h 122178"/>
                <a:gd name="connsiteX8" fmla="*/ 46049 w 178617"/>
                <a:gd name="connsiteY8" fmla="*/ 28701 h 122178"/>
                <a:gd name="connsiteX9" fmla="*/ 86423 w 178617"/>
                <a:gd name="connsiteY9" fmla="*/ 42362 h 122178"/>
                <a:gd name="connsiteX10" fmla="*/ 92259 w 178617"/>
                <a:gd name="connsiteY10" fmla="*/ 42362 h 122178"/>
                <a:gd name="connsiteX11" fmla="*/ 132632 w 178617"/>
                <a:gd name="connsiteY11" fmla="*/ 28701 h 122178"/>
                <a:gd name="connsiteX12" fmla="*/ 92227 w 178617"/>
                <a:gd name="connsiteY12" fmla="*/ 15040 h 122178"/>
                <a:gd name="connsiteX13" fmla="*/ 86391 w 178617"/>
                <a:gd name="connsiteY13" fmla="*/ 15040 h 122178"/>
                <a:gd name="connsiteX14" fmla="*/ 46049 w 178617"/>
                <a:gd name="connsiteY14" fmla="*/ 28701 h 122178"/>
                <a:gd name="connsiteX15" fmla="*/ 166432 w 178617"/>
                <a:gd name="connsiteY15" fmla="*/ 40085 h 122178"/>
                <a:gd name="connsiteX16" fmla="*/ 167073 w 178617"/>
                <a:gd name="connsiteY16" fmla="*/ 40085 h 122178"/>
                <a:gd name="connsiteX17" fmla="*/ 174128 w 178617"/>
                <a:gd name="connsiteY17" fmla="*/ 47140 h 122178"/>
                <a:gd name="connsiteX18" fmla="*/ 174128 w 178617"/>
                <a:gd name="connsiteY18" fmla="*/ 115123 h 122178"/>
                <a:gd name="connsiteX19" fmla="*/ 167073 w 178617"/>
                <a:gd name="connsiteY19" fmla="*/ 122178 h 122178"/>
                <a:gd name="connsiteX20" fmla="*/ 166432 w 178617"/>
                <a:gd name="connsiteY20" fmla="*/ 122178 h 122178"/>
                <a:gd name="connsiteX21" fmla="*/ 159377 w 178617"/>
                <a:gd name="connsiteY21" fmla="*/ 115123 h 122178"/>
                <a:gd name="connsiteX22" fmla="*/ 159377 w 178617"/>
                <a:gd name="connsiteY22" fmla="*/ 47140 h 122178"/>
                <a:gd name="connsiteX23" fmla="*/ 166432 w 178617"/>
                <a:gd name="connsiteY23" fmla="*/ 40085 h 122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8617" h="122178">
                  <a:moveTo>
                    <a:pt x="89309" y="57401"/>
                  </a:moveTo>
                  <a:cubicBezTo>
                    <a:pt x="86551" y="57401"/>
                    <a:pt x="83761" y="57049"/>
                    <a:pt x="81677" y="56343"/>
                  </a:cubicBezTo>
                  <a:lnTo>
                    <a:pt x="0" y="28701"/>
                  </a:lnTo>
                  <a:lnTo>
                    <a:pt x="81677" y="1058"/>
                  </a:lnTo>
                  <a:cubicBezTo>
                    <a:pt x="85877" y="-353"/>
                    <a:pt x="92740" y="-353"/>
                    <a:pt x="96973" y="1058"/>
                  </a:cubicBezTo>
                  <a:lnTo>
                    <a:pt x="178618" y="28701"/>
                  </a:lnTo>
                  <a:lnTo>
                    <a:pt x="96973" y="56343"/>
                  </a:lnTo>
                  <a:cubicBezTo>
                    <a:pt x="94856" y="57049"/>
                    <a:pt x="92067" y="57401"/>
                    <a:pt x="89309" y="57401"/>
                  </a:cubicBezTo>
                  <a:close/>
                  <a:moveTo>
                    <a:pt x="46049" y="28701"/>
                  </a:moveTo>
                  <a:lnTo>
                    <a:pt x="86423" y="42362"/>
                  </a:lnTo>
                  <a:cubicBezTo>
                    <a:pt x="87609" y="42746"/>
                    <a:pt x="91072" y="42746"/>
                    <a:pt x="92259" y="42362"/>
                  </a:cubicBezTo>
                  <a:lnTo>
                    <a:pt x="132632" y="28701"/>
                  </a:lnTo>
                  <a:lnTo>
                    <a:pt x="92227" y="15040"/>
                  </a:lnTo>
                  <a:cubicBezTo>
                    <a:pt x="91040" y="14655"/>
                    <a:pt x="87577" y="14655"/>
                    <a:pt x="86391" y="15040"/>
                  </a:cubicBezTo>
                  <a:lnTo>
                    <a:pt x="46049" y="28701"/>
                  </a:lnTo>
                  <a:close/>
                  <a:moveTo>
                    <a:pt x="166432" y="40085"/>
                  </a:moveTo>
                  <a:lnTo>
                    <a:pt x="167073" y="40085"/>
                  </a:lnTo>
                  <a:cubicBezTo>
                    <a:pt x="170985" y="40085"/>
                    <a:pt x="174128" y="43227"/>
                    <a:pt x="174128" y="47140"/>
                  </a:cubicBezTo>
                  <a:lnTo>
                    <a:pt x="174128" y="115123"/>
                  </a:lnTo>
                  <a:cubicBezTo>
                    <a:pt x="174128" y="119036"/>
                    <a:pt x="170985" y="122178"/>
                    <a:pt x="167073" y="122178"/>
                  </a:cubicBezTo>
                  <a:lnTo>
                    <a:pt x="166432" y="122178"/>
                  </a:lnTo>
                  <a:cubicBezTo>
                    <a:pt x="162519" y="122178"/>
                    <a:pt x="159377" y="119036"/>
                    <a:pt x="159377" y="115123"/>
                  </a:cubicBezTo>
                  <a:lnTo>
                    <a:pt x="159377" y="47140"/>
                  </a:lnTo>
                  <a:cubicBezTo>
                    <a:pt x="159377" y="43227"/>
                    <a:pt x="162519" y="40085"/>
                    <a:pt x="166432" y="40085"/>
                  </a:cubicBezTo>
                  <a:close/>
                </a:path>
              </a:pathLst>
            </a:custGeom>
            <a:grpFill/>
            <a:ln w="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D3AAE4D-42E1-76B4-16F7-92D089B0C8E3}"/>
              </a:ext>
            </a:extLst>
          </p:cNvPr>
          <p:cNvSpPr txBox="1"/>
          <p:nvPr/>
        </p:nvSpPr>
        <p:spPr>
          <a:xfrm>
            <a:off x="5216431" y="546524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指导教师：李谢华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F76539D-DB00-D588-5667-C015E5FEB198}"/>
              </a:ext>
            </a:extLst>
          </p:cNvPr>
          <p:cNvSpPr txBox="1"/>
          <p:nvPr/>
        </p:nvSpPr>
        <p:spPr>
          <a:xfrm>
            <a:off x="8567035" y="5465245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日期：</a:t>
            </a:r>
            <a:r>
              <a:rPr lang="en-US" altLang="zh-CN" b="1" dirty="0">
                <a:latin typeface="+mn-ea"/>
              </a:rPr>
              <a:t>2026</a:t>
            </a:r>
            <a:r>
              <a:rPr lang="zh-CN" altLang="en-US" b="1" dirty="0">
                <a:latin typeface="+mn-ea"/>
              </a:rPr>
              <a:t>年</a:t>
            </a:r>
            <a:r>
              <a:rPr lang="en-US" altLang="zh-CN" b="1" dirty="0">
                <a:latin typeface="+mn-ea"/>
              </a:rPr>
              <a:t>10</a:t>
            </a:r>
            <a:r>
              <a:rPr lang="zh-CN" altLang="en-US" b="1" dirty="0">
                <a:latin typeface="+mn-ea"/>
              </a:rPr>
              <a:t>月</a:t>
            </a:r>
            <a:r>
              <a:rPr lang="en-US" altLang="zh-CN" b="1" dirty="0">
                <a:latin typeface="+mn-ea"/>
              </a:rPr>
              <a:t>18</a:t>
            </a:r>
            <a:r>
              <a:rPr lang="zh-CN" altLang="en-US" b="1" dirty="0">
                <a:latin typeface="+mn-ea"/>
              </a:rPr>
              <a:t>日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4D404AB-2986-D151-F304-065E02DB0539}"/>
              </a:ext>
            </a:extLst>
          </p:cNvPr>
          <p:cNvGrpSpPr/>
          <p:nvPr/>
        </p:nvGrpSpPr>
        <p:grpSpPr>
          <a:xfrm>
            <a:off x="8236952" y="5522470"/>
            <a:ext cx="246915" cy="254882"/>
            <a:chOff x="7677146" y="5098017"/>
            <a:chExt cx="892968" cy="921781"/>
          </a:xfrm>
          <a:solidFill>
            <a:schemeClr val="accent1"/>
          </a:solidFill>
        </p:grpSpPr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5D50DC37-95F9-E459-306B-A7BD3B3B8660}"/>
                </a:ext>
              </a:extLst>
            </p:cNvPr>
            <p:cNvSpPr/>
            <p:nvPr/>
          </p:nvSpPr>
          <p:spPr>
            <a:xfrm>
              <a:off x="7836630" y="5476636"/>
              <a:ext cx="574059" cy="427970"/>
            </a:xfrm>
            <a:custGeom>
              <a:avLst/>
              <a:gdLst>
                <a:gd name="connsiteX0" fmla="*/ 334863 w 574059"/>
                <a:gd name="connsiteY0" fmla="*/ 263366 h 427970"/>
                <a:gd name="connsiteX1" fmla="*/ 398562 w 574059"/>
                <a:gd name="connsiteY1" fmla="*/ 263366 h 427970"/>
                <a:gd name="connsiteX2" fmla="*/ 414516 w 574059"/>
                <a:gd name="connsiteY2" fmla="*/ 246876 h 427970"/>
                <a:gd name="connsiteX3" fmla="*/ 414516 w 574059"/>
                <a:gd name="connsiteY3" fmla="*/ 181035 h 427970"/>
                <a:gd name="connsiteX4" fmla="*/ 398562 w 574059"/>
                <a:gd name="connsiteY4" fmla="*/ 164604 h 427970"/>
                <a:gd name="connsiteX5" fmla="*/ 334863 w 574059"/>
                <a:gd name="connsiteY5" fmla="*/ 164604 h 427970"/>
                <a:gd name="connsiteX6" fmla="*/ 318909 w 574059"/>
                <a:gd name="connsiteY6" fmla="*/ 181035 h 427970"/>
                <a:gd name="connsiteX7" fmla="*/ 318909 w 574059"/>
                <a:gd name="connsiteY7" fmla="*/ 246876 h 427970"/>
                <a:gd name="connsiteX8" fmla="*/ 334863 w 574059"/>
                <a:gd name="connsiteY8" fmla="*/ 263366 h 427970"/>
                <a:gd name="connsiteX9" fmla="*/ 334863 w 574059"/>
                <a:gd name="connsiteY9" fmla="*/ 98762 h 427970"/>
                <a:gd name="connsiteX10" fmla="*/ 398562 w 574059"/>
                <a:gd name="connsiteY10" fmla="*/ 98762 h 427970"/>
                <a:gd name="connsiteX11" fmla="*/ 414516 w 574059"/>
                <a:gd name="connsiteY11" fmla="*/ 82272 h 427970"/>
                <a:gd name="connsiteX12" fmla="*/ 414516 w 574059"/>
                <a:gd name="connsiteY12" fmla="*/ 16431 h 427970"/>
                <a:gd name="connsiteX13" fmla="*/ 398562 w 574059"/>
                <a:gd name="connsiteY13" fmla="*/ 0 h 427970"/>
                <a:gd name="connsiteX14" fmla="*/ 334863 w 574059"/>
                <a:gd name="connsiteY14" fmla="*/ 0 h 427970"/>
                <a:gd name="connsiteX15" fmla="*/ 318909 w 574059"/>
                <a:gd name="connsiteY15" fmla="*/ 16431 h 427970"/>
                <a:gd name="connsiteX16" fmla="*/ 318909 w 574059"/>
                <a:gd name="connsiteY16" fmla="*/ 82272 h 427970"/>
                <a:gd name="connsiteX17" fmla="*/ 334863 w 574059"/>
                <a:gd name="connsiteY17" fmla="*/ 98762 h 427970"/>
                <a:gd name="connsiteX18" fmla="*/ 494288 w 574059"/>
                <a:gd name="connsiteY18" fmla="*/ 98762 h 427970"/>
                <a:gd name="connsiteX19" fmla="*/ 558106 w 574059"/>
                <a:gd name="connsiteY19" fmla="*/ 98762 h 427970"/>
                <a:gd name="connsiteX20" fmla="*/ 574060 w 574059"/>
                <a:gd name="connsiteY20" fmla="*/ 82272 h 427970"/>
                <a:gd name="connsiteX21" fmla="*/ 574060 w 574059"/>
                <a:gd name="connsiteY21" fmla="*/ 16431 h 427970"/>
                <a:gd name="connsiteX22" fmla="*/ 558106 w 574059"/>
                <a:gd name="connsiteY22" fmla="*/ 0 h 427970"/>
                <a:gd name="connsiteX23" fmla="*/ 494288 w 574059"/>
                <a:gd name="connsiteY23" fmla="*/ 0 h 427970"/>
                <a:gd name="connsiteX24" fmla="*/ 478334 w 574059"/>
                <a:gd name="connsiteY24" fmla="*/ 16431 h 427970"/>
                <a:gd name="connsiteX25" fmla="*/ 478334 w 574059"/>
                <a:gd name="connsiteY25" fmla="*/ 82272 h 427970"/>
                <a:gd name="connsiteX26" fmla="*/ 494288 w 574059"/>
                <a:gd name="connsiteY26" fmla="*/ 98762 h 427970"/>
                <a:gd name="connsiteX27" fmla="*/ 175379 w 574059"/>
                <a:gd name="connsiteY27" fmla="*/ 98762 h 427970"/>
                <a:gd name="connsiteX28" fmla="*/ 239197 w 574059"/>
                <a:gd name="connsiteY28" fmla="*/ 98762 h 427970"/>
                <a:gd name="connsiteX29" fmla="*/ 255091 w 574059"/>
                <a:gd name="connsiteY29" fmla="*/ 82272 h 427970"/>
                <a:gd name="connsiteX30" fmla="*/ 255091 w 574059"/>
                <a:gd name="connsiteY30" fmla="*/ 16431 h 427970"/>
                <a:gd name="connsiteX31" fmla="*/ 239197 w 574059"/>
                <a:gd name="connsiteY31" fmla="*/ 0 h 427970"/>
                <a:gd name="connsiteX32" fmla="*/ 175320 w 574059"/>
                <a:gd name="connsiteY32" fmla="*/ 0 h 427970"/>
                <a:gd name="connsiteX33" fmla="*/ 159365 w 574059"/>
                <a:gd name="connsiteY33" fmla="*/ 16431 h 427970"/>
                <a:gd name="connsiteX34" fmla="*/ 159365 w 574059"/>
                <a:gd name="connsiteY34" fmla="*/ 82272 h 427970"/>
                <a:gd name="connsiteX35" fmla="*/ 175320 w 574059"/>
                <a:gd name="connsiteY35" fmla="*/ 98762 h 427970"/>
                <a:gd name="connsiteX36" fmla="*/ 494288 w 574059"/>
                <a:gd name="connsiteY36" fmla="*/ 263366 h 427970"/>
                <a:gd name="connsiteX37" fmla="*/ 558106 w 574059"/>
                <a:gd name="connsiteY37" fmla="*/ 263366 h 427970"/>
                <a:gd name="connsiteX38" fmla="*/ 574060 w 574059"/>
                <a:gd name="connsiteY38" fmla="*/ 246876 h 427970"/>
                <a:gd name="connsiteX39" fmla="*/ 574060 w 574059"/>
                <a:gd name="connsiteY39" fmla="*/ 181035 h 427970"/>
                <a:gd name="connsiteX40" fmla="*/ 558106 w 574059"/>
                <a:gd name="connsiteY40" fmla="*/ 164604 h 427970"/>
                <a:gd name="connsiteX41" fmla="*/ 494288 w 574059"/>
                <a:gd name="connsiteY41" fmla="*/ 164604 h 427970"/>
                <a:gd name="connsiteX42" fmla="*/ 478334 w 574059"/>
                <a:gd name="connsiteY42" fmla="*/ 181035 h 427970"/>
                <a:gd name="connsiteX43" fmla="*/ 478334 w 574059"/>
                <a:gd name="connsiteY43" fmla="*/ 246876 h 427970"/>
                <a:gd name="connsiteX44" fmla="*/ 494288 w 574059"/>
                <a:gd name="connsiteY44" fmla="*/ 263366 h 427970"/>
                <a:gd name="connsiteX45" fmla="*/ 494288 w 574059"/>
                <a:gd name="connsiteY45" fmla="*/ 427970 h 427970"/>
                <a:gd name="connsiteX46" fmla="*/ 558106 w 574059"/>
                <a:gd name="connsiteY46" fmla="*/ 427970 h 427970"/>
                <a:gd name="connsiteX47" fmla="*/ 574060 w 574059"/>
                <a:gd name="connsiteY47" fmla="*/ 411480 h 427970"/>
                <a:gd name="connsiteX48" fmla="*/ 574060 w 574059"/>
                <a:gd name="connsiteY48" fmla="*/ 345638 h 427970"/>
                <a:gd name="connsiteX49" fmla="*/ 558106 w 574059"/>
                <a:gd name="connsiteY49" fmla="*/ 329208 h 427970"/>
                <a:gd name="connsiteX50" fmla="*/ 494288 w 574059"/>
                <a:gd name="connsiteY50" fmla="*/ 329208 h 427970"/>
                <a:gd name="connsiteX51" fmla="*/ 478334 w 574059"/>
                <a:gd name="connsiteY51" fmla="*/ 345638 h 427970"/>
                <a:gd name="connsiteX52" fmla="*/ 478334 w 574059"/>
                <a:gd name="connsiteY52" fmla="*/ 411480 h 427970"/>
                <a:gd name="connsiteX53" fmla="*/ 494288 w 574059"/>
                <a:gd name="connsiteY53" fmla="*/ 427970 h 427970"/>
                <a:gd name="connsiteX54" fmla="*/ 334863 w 574059"/>
                <a:gd name="connsiteY54" fmla="*/ 427970 h 427970"/>
                <a:gd name="connsiteX55" fmla="*/ 398562 w 574059"/>
                <a:gd name="connsiteY55" fmla="*/ 427970 h 427970"/>
                <a:gd name="connsiteX56" fmla="*/ 414516 w 574059"/>
                <a:gd name="connsiteY56" fmla="*/ 411480 h 427970"/>
                <a:gd name="connsiteX57" fmla="*/ 414516 w 574059"/>
                <a:gd name="connsiteY57" fmla="*/ 345638 h 427970"/>
                <a:gd name="connsiteX58" fmla="*/ 398562 w 574059"/>
                <a:gd name="connsiteY58" fmla="*/ 329208 h 427970"/>
                <a:gd name="connsiteX59" fmla="*/ 334863 w 574059"/>
                <a:gd name="connsiteY59" fmla="*/ 329208 h 427970"/>
                <a:gd name="connsiteX60" fmla="*/ 318909 w 574059"/>
                <a:gd name="connsiteY60" fmla="*/ 345638 h 427970"/>
                <a:gd name="connsiteX61" fmla="*/ 318909 w 574059"/>
                <a:gd name="connsiteY61" fmla="*/ 411480 h 427970"/>
                <a:gd name="connsiteX62" fmla="*/ 334863 w 574059"/>
                <a:gd name="connsiteY62" fmla="*/ 427970 h 427970"/>
                <a:gd name="connsiteX63" fmla="*/ 15954 w 574059"/>
                <a:gd name="connsiteY63" fmla="*/ 427970 h 427970"/>
                <a:gd name="connsiteX64" fmla="*/ 79712 w 574059"/>
                <a:gd name="connsiteY64" fmla="*/ 427970 h 427970"/>
                <a:gd name="connsiteX65" fmla="*/ 95667 w 574059"/>
                <a:gd name="connsiteY65" fmla="*/ 411480 h 427970"/>
                <a:gd name="connsiteX66" fmla="*/ 95667 w 574059"/>
                <a:gd name="connsiteY66" fmla="*/ 345638 h 427970"/>
                <a:gd name="connsiteX67" fmla="*/ 79712 w 574059"/>
                <a:gd name="connsiteY67" fmla="*/ 329208 h 427970"/>
                <a:gd name="connsiteX68" fmla="*/ 15954 w 574059"/>
                <a:gd name="connsiteY68" fmla="*/ 329208 h 427970"/>
                <a:gd name="connsiteX69" fmla="*/ 0 w 574059"/>
                <a:gd name="connsiteY69" fmla="*/ 345638 h 427970"/>
                <a:gd name="connsiteX70" fmla="*/ 0 w 574059"/>
                <a:gd name="connsiteY70" fmla="*/ 411480 h 427970"/>
                <a:gd name="connsiteX71" fmla="*/ 15954 w 574059"/>
                <a:gd name="connsiteY71" fmla="*/ 427970 h 427970"/>
                <a:gd name="connsiteX72" fmla="*/ 15954 w 574059"/>
                <a:gd name="connsiteY72" fmla="*/ 263366 h 427970"/>
                <a:gd name="connsiteX73" fmla="*/ 79712 w 574059"/>
                <a:gd name="connsiteY73" fmla="*/ 263366 h 427970"/>
                <a:gd name="connsiteX74" fmla="*/ 95667 w 574059"/>
                <a:gd name="connsiteY74" fmla="*/ 246876 h 427970"/>
                <a:gd name="connsiteX75" fmla="*/ 95667 w 574059"/>
                <a:gd name="connsiteY75" fmla="*/ 181035 h 427970"/>
                <a:gd name="connsiteX76" fmla="*/ 79712 w 574059"/>
                <a:gd name="connsiteY76" fmla="*/ 164604 h 427970"/>
                <a:gd name="connsiteX77" fmla="*/ 15954 w 574059"/>
                <a:gd name="connsiteY77" fmla="*/ 164604 h 427970"/>
                <a:gd name="connsiteX78" fmla="*/ 0 w 574059"/>
                <a:gd name="connsiteY78" fmla="*/ 181035 h 427970"/>
                <a:gd name="connsiteX79" fmla="*/ 0 w 574059"/>
                <a:gd name="connsiteY79" fmla="*/ 246876 h 427970"/>
                <a:gd name="connsiteX80" fmla="*/ 15954 w 574059"/>
                <a:gd name="connsiteY80" fmla="*/ 263366 h 42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74059" h="427970">
                  <a:moveTo>
                    <a:pt x="334863" y="263366"/>
                  </a:moveTo>
                  <a:lnTo>
                    <a:pt x="398562" y="263366"/>
                  </a:lnTo>
                  <a:cubicBezTo>
                    <a:pt x="408087" y="263366"/>
                    <a:pt x="414516" y="256818"/>
                    <a:pt x="414516" y="246876"/>
                  </a:cubicBezTo>
                  <a:lnTo>
                    <a:pt x="414516" y="181035"/>
                  </a:lnTo>
                  <a:cubicBezTo>
                    <a:pt x="414516" y="171152"/>
                    <a:pt x="408146" y="164604"/>
                    <a:pt x="398562" y="164604"/>
                  </a:cubicBezTo>
                  <a:lnTo>
                    <a:pt x="334863" y="164604"/>
                  </a:lnTo>
                  <a:cubicBezTo>
                    <a:pt x="325279" y="164604"/>
                    <a:pt x="318909" y="171152"/>
                    <a:pt x="318909" y="181035"/>
                  </a:cubicBezTo>
                  <a:lnTo>
                    <a:pt x="318909" y="246876"/>
                  </a:lnTo>
                  <a:cubicBezTo>
                    <a:pt x="318909" y="256758"/>
                    <a:pt x="325279" y="263366"/>
                    <a:pt x="334863" y="263366"/>
                  </a:cubicBezTo>
                  <a:close/>
                  <a:moveTo>
                    <a:pt x="334863" y="98762"/>
                  </a:moveTo>
                  <a:lnTo>
                    <a:pt x="398562" y="98762"/>
                  </a:lnTo>
                  <a:cubicBezTo>
                    <a:pt x="408087" y="98762"/>
                    <a:pt x="414516" y="92214"/>
                    <a:pt x="414516" y="82272"/>
                  </a:cubicBezTo>
                  <a:lnTo>
                    <a:pt x="414516" y="16431"/>
                  </a:lnTo>
                  <a:cubicBezTo>
                    <a:pt x="414516" y="6548"/>
                    <a:pt x="408146" y="0"/>
                    <a:pt x="398562" y="0"/>
                  </a:cubicBezTo>
                  <a:lnTo>
                    <a:pt x="334863" y="0"/>
                  </a:lnTo>
                  <a:cubicBezTo>
                    <a:pt x="325279" y="0"/>
                    <a:pt x="318909" y="6548"/>
                    <a:pt x="318909" y="16431"/>
                  </a:cubicBezTo>
                  <a:lnTo>
                    <a:pt x="318909" y="82272"/>
                  </a:lnTo>
                  <a:cubicBezTo>
                    <a:pt x="318909" y="92154"/>
                    <a:pt x="325279" y="98762"/>
                    <a:pt x="334863" y="98762"/>
                  </a:cubicBezTo>
                  <a:close/>
                  <a:moveTo>
                    <a:pt x="494288" y="98762"/>
                  </a:moveTo>
                  <a:lnTo>
                    <a:pt x="558106" y="98762"/>
                  </a:lnTo>
                  <a:cubicBezTo>
                    <a:pt x="567630" y="98762"/>
                    <a:pt x="574060" y="92214"/>
                    <a:pt x="574060" y="82272"/>
                  </a:cubicBezTo>
                  <a:lnTo>
                    <a:pt x="574060" y="16431"/>
                  </a:lnTo>
                  <a:cubicBezTo>
                    <a:pt x="574060" y="6548"/>
                    <a:pt x="567630" y="0"/>
                    <a:pt x="558106" y="0"/>
                  </a:cubicBezTo>
                  <a:lnTo>
                    <a:pt x="494288" y="0"/>
                  </a:lnTo>
                  <a:cubicBezTo>
                    <a:pt x="484763" y="0"/>
                    <a:pt x="478334" y="6548"/>
                    <a:pt x="478334" y="16431"/>
                  </a:cubicBezTo>
                  <a:lnTo>
                    <a:pt x="478334" y="82272"/>
                  </a:lnTo>
                  <a:cubicBezTo>
                    <a:pt x="478334" y="92154"/>
                    <a:pt x="484763" y="98762"/>
                    <a:pt x="494288" y="98762"/>
                  </a:cubicBezTo>
                  <a:close/>
                  <a:moveTo>
                    <a:pt x="175379" y="98762"/>
                  </a:moveTo>
                  <a:lnTo>
                    <a:pt x="239197" y="98762"/>
                  </a:lnTo>
                  <a:cubicBezTo>
                    <a:pt x="248722" y="98762"/>
                    <a:pt x="255091" y="92214"/>
                    <a:pt x="255091" y="82272"/>
                  </a:cubicBezTo>
                  <a:lnTo>
                    <a:pt x="255091" y="16431"/>
                  </a:lnTo>
                  <a:cubicBezTo>
                    <a:pt x="255091" y="6548"/>
                    <a:pt x="248722" y="0"/>
                    <a:pt x="239197" y="0"/>
                  </a:cubicBezTo>
                  <a:lnTo>
                    <a:pt x="175320" y="0"/>
                  </a:lnTo>
                  <a:cubicBezTo>
                    <a:pt x="165795" y="0"/>
                    <a:pt x="159365" y="6548"/>
                    <a:pt x="159365" y="16431"/>
                  </a:cubicBezTo>
                  <a:lnTo>
                    <a:pt x="159365" y="82272"/>
                  </a:lnTo>
                  <a:cubicBezTo>
                    <a:pt x="159365" y="92154"/>
                    <a:pt x="165735" y="98762"/>
                    <a:pt x="175320" y="98762"/>
                  </a:cubicBezTo>
                  <a:close/>
                  <a:moveTo>
                    <a:pt x="494288" y="263366"/>
                  </a:moveTo>
                  <a:lnTo>
                    <a:pt x="558106" y="263366"/>
                  </a:lnTo>
                  <a:cubicBezTo>
                    <a:pt x="567630" y="263366"/>
                    <a:pt x="574060" y="256818"/>
                    <a:pt x="574060" y="246876"/>
                  </a:cubicBezTo>
                  <a:lnTo>
                    <a:pt x="574060" y="181035"/>
                  </a:lnTo>
                  <a:cubicBezTo>
                    <a:pt x="574060" y="171152"/>
                    <a:pt x="567630" y="164604"/>
                    <a:pt x="558106" y="164604"/>
                  </a:cubicBezTo>
                  <a:lnTo>
                    <a:pt x="494288" y="164604"/>
                  </a:lnTo>
                  <a:cubicBezTo>
                    <a:pt x="484763" y="164604"/>
                    <a:pt x="478334" y="171152"/>
                    <a:pt x="478334" y="181035"/>
                  </a:cubicBezTo>
                  <a:lnTo>
                    <a:pt x="478334" y="246876"/>
                  </a:lnTo>
                  <a:cubicBezTo>
                    <a:pt x="478334" y="256758"/>
                    <a:pt x="484763" y="263366"/>
                    <a:pt x="494288" y="263366"/>
                  </a:cubicBezTo>
                  <a:close/>
                  <a:moveTo>
                    <a:pt x="494288" y="427970"/>
                  </a:moveTo>
                  <a:lnTo>
                    <a:pt x="558106" y="427970"/>
                  </a:lnTo>
                  <a:cubicBezTo>
                    <a:pt x="567630" y="427970"/>
                    <a:pt x="574060" y="421422"/>
                    <a:pt x="574060" y="411480"/>
                  </a:cubicBezTo>
                  <a:lnTo>
                    <a:pt x="574060" y="345638"/>
                  </a:lnTo>
                  <a:cubicBezTo>
                    <a:pt x="574060" y="335756"/>
                    <a:pt x="567630" y="329208"/>
                    <a:pt x="558106" y="329208"/>
                  </a:cubicBezTo>
                  <a:lnTo>
                    <a:pt x="494288" y="329208"/>
                  </a:lnTo>
                  <a:cubicBezTo>
                    <a:pt x="484763" y="329208"/>
                    <a:pt x="478334" y="335756"/>
                    <a:pt x="478334" y="345638"/>
                  </a:cubicBezTo>
                  <a:lnTo>
                    <a:pt x="478334" y="411480"/>
                  </a:lnTo>
                  <a:cubicBezTo>
                    <a:pt x="478334" y="421362"/>
                    <a:pt x="484763" y="427970"/>
                    <a:pt x="494288" y="427970"/>
                  </a:cubicBezTo>
                  <a:close/>
                  <a:moveTo>
                    <a:pt x="334863" y="427970"/>
                  </a:moveTo>
                  <a:lnTo>
                    <a:pt x="398562" y="427970"/>
                  </a:lnTo>
                  <a:cubicBezTo>
                    <a:pt x="408087" y="427970"/>
                    <a:pt x="414516" y="421422"/>
                    <a:pt x="414516" y="411480"/>
                  </a:cubicBezTo>
                  <a:lnTo>
                    <a:pt x="414516" y="345638"/>
                  </a:lnTo>
                  <a:cubicBezTo>
                    <a:pt x="414516" y="335756"/>
                    <a:pt x="408146" y="329208"/>
                    <a:pt x="398562" y="329208"/>
                  </a:cubicBezTo>
                  <a:lnTo>
                    <a:pt x="334863" y="329208"/>
                  </a:lnTo>
                  <a:cubicBezTo>
                    <a:pt x="325279" y="329208"/>
                    <a:pt x="318909" y="335756"/>
                    <a:pt x="318909" y="345638"/>
                  </a:cubicBezTo>
                  <a:lnTo>
                    <a:pt x="318909" y="411480"/>
                  </a:lnTo>
                  <a:cubicBezTo>
                    <a:pt x="318909" y="421362"/>
                    <a:pt x="325279" y="427970"/>
                    <a:pt x="334863" y="427970"/>
                  </a:cubicBezTo>
                  <a:close/>
                  <a:moveTo>
                    <a:pt x="15954" y="427970"/>
                  </a:moveTo>
                  <a:lnTo>
                    <a:pt x="79712" y="427970"/>
                  </a:lnTo>
                  <a:cubicBezTo>
                    <a:pt x="89237" y="427970"/>
                    <a:pt x="95667" y="421422"/>
                    <a:pt x="95667" y="411480"/>
                  </a:cubicBezTo>
                  <a:lnTo>
                    <a:pt x="95667" y="345638"/>
                  </a:lnTo>
                  <a:cubicBezTo>
                    <a:pt x="95667" y="335756"/>
                    <a:pt x="89297" y="329208"/>
                    <a:pt x="79712" y="329208"/>
                  </a:cubicBezTo>
                  <a:lnTo>
                    <a:pt x="15954" y="329208"/>
                  </a:lnTo>
                  <a:cubicBezTo>
                    <a:pt x="6370" y="329208"/>
                    <a:pt x="0" y="335756"/>
                    <a:pt x="0" y="345638"/>
                  </a:cubicBezTo>
                  <a:lnTo>
                    <a:pt x="0" y="411480"/>
                  </a:lnTo>
                  <a:cubicBezTo>
                    <a:pt x="0" y="421362"/>
                    <a:pt x="6370" y="427970"/>
                    <a:pt x="15954" y="427970"/>
                  </a:cubicBezTo>
                  <a:close/>
                  <a:moveTo>
                    <a:pt x="15954" y="263366"/>
                  </a:moveTo>
                  <a:lnTo>
                    <a:pt x="79712" y="263366"/>
                  </a:lnTo>
                  <a:cubicBezTo>
                    <a:pt x="89237" y="263366"/>
                    <a:pt x="95667" y="256818"/>
                    <a:pt x="95667" y="246876"/>
                  </a:cubicBezTo>
                  <a:lnTo>
                    <a:pt x="95667" y="181035"/>
                  </a:lnTo>
                  <a:cubicBezTo>
                    <a:pt x="95667" y="171152"/>
                    <a:pt x="89297" y="164604"/>
                    <a:pt x="79712" y="164604"/>
                  </a:cubicBezTo>
                  <a:lnTo>
                    <a:pt x="15954" y="164604"/>
                  </a:lnTo>
                  <a:cubicBezTo>
                    <a:pt x="6370" y="164604"/>
                    <a:pt x="0" y="171152"/>
                    <a:pt x="0" y="181035"/>
                  </a:cubicBezTo>
                  <a:lnTo>
                    <a:pt x="0" y="246876"/>
                  </a:lnTo>
                  <a:cubicBezTo>
                    <a:pt x="0" y="256758"/>
                    <a:pt x="6370" y="263366"/>
                    <a:pt x="15954" y="263366"/>
                  </a:cubicBez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04BDADE8-D93E-8611-3A6A-18CC508784F3}"/>
                </a:ext>
              </a:extLst>
            </p:cNvPr>
            <p:cNvSpPr/>
            <p:nvPr/>
          </p:nvSpPr>
          <p:spPr>
            <a:xfrm>
              <a:off x="7677146" y="5098017"/>
              <a:ext cx="892968" cy="921781"/>
            </a:xfrm>
            <a:custGeom>
              <a:avLst/>
              <a:gdLst>
                <a:gd name="connsiteX0" fmla="*/ 829211 w 892968"/>
                <a:gd name="connsiteY0" fmla="*/ 65842 h 921781"/>
                <a:gd name="connsiteX1" fmla="*/ 701635 w 892968"/>
                <a:gd name="connsiteY1" fmla="*/ 65842 h 921781"/>
                <a:gd name="connsiteX2" fmla="*/ 701635 w 892968"/>
                <a:gd name="connsiteY2" fmla="*/ 32921 h 921781"/>
                <a:gd name="connsiteX3" fmla="*/ 669727 w 892968"/>
                <a:gd name="connsiteY3" fmla="*/ 0 h 921781"/>
                <a:gd name="connsiteX4" fmla="*/ 637818 w 892968"/>
                <a:gd name="connsiteY4" fmla="*/ 32921 h 921781"/>
                <a:gd name="connsiteX5" fmla="*/ 637818 w 892968"/>
                <a:gd name="connsiteY5" fmla="*/ 65842 h 921781"/>
                <a:gd name="connsiteX6" fmla="*/ 255151 w 892968"/>
                <a:gd name="connsiteY6" fmla="*/ 65842 h 921781"/>
                <a:gd name="connsiteX7" fmla="*/ 255151 w 892968"/>
                <a:gd name="connsiteY7" fmla="*/ 32921 h 921781"/>
                <a:gd name="connsiteX8" fmla="*/ 223242 w 892968"/>
                <a:gd name="connsiteY8" fmla="*/ 0 h 921781"/>
                <a:gd name="connsiteX9" fmla="*/ 191333 w 892968"/>
                <a:gd name="connsiteY9" fmla="*/ 32921 h 921781"/>
                <a:gd name="connsiteX10" fmla="*/ 191333 w 892968"/>
                <a:gd name="connsiteY10" fmla="*/ 65842 h 921781"/>
                <a:gd name="connsiteX11" fmla="*/ 63818 w 892968"/>
                <a:gd name="connsiteY11" fmla="*/ 65842 h 921781"/>
                <a:gd name="connsiteX12" fmla="*/ 0 w 892968"/>
                <a:gd name="connsiteY12" fmla="*/ 131683 h 921781"/>
                <a:gd name="connsiteX13" fmla="*/ 0 w 892968"/>
                <a:gd name="connsiteY13" fmla="*/ 855940 h 921781"/>
                <a:gd name="connsiteX14" fmla="*/ 63818 w 892968"/>
                <a:gd name="connsiteY14" fmla="*/ 921782 h 921781"/>
                <a:gd name="connsiteX15" fmla="*/ 829211 w 892968"/>
                <a:gd name="connsiteY15" fmla="*/ 921782 h 921781"/>
                <a:gd name="connsiteX16" fmla="*/ 892969 w 892968"/>
                <a:gd name="connsiteY16" fmla="*/ 855940 h 921781"/>
                <a:gd name="connsiteX17" fmla="*/ 892969 w 892968"/>
                <a:gd name="connsiteY17" fmla="*/ 131683 h 921781"/>
                <a:gd name="connsiteX18" fmla="*/ 829211 w 892968"/>
                <a:gd name="connsiteY18" fmla="*/ 65842 h 921781"/>
                <a:gd name="connsiteX19" fmla="*/ 829211 w 892968"/>
                <a:gd name="connsiteY19" fmla="*/ 823079 h 921781"/>
                <a:gd name="connsiteX20" fmla="*/ 797302 w 892968"/>
                <a:gd name="connsiteY20" fmla="*/ 855940 h 921781"/>
                <a:gd name="connsiteX21" fmla="*/ 95667 w 892968"/>
                <a:gd name="connsiteY21" fmla="*/ 855940 h 921781"/>
                <a:gd name="connsiteX22" fmla="*/ 63818 w 892968"/>
                <a:gd name="connsiteY22" fmla="*/ 823020 h 921781"/>
                <a:gd name="connsiteX23" fmla="*/ 63818 w 892968"/>
                <a:gd name="connsiteY23" fmla="*/ 312777 h 921781"/>
                <a:gd name="connsiteX24" fmla="*/ 829211 w 892968"/>
                <a:gd name="connsiteY24" fmla="*/ 312777 h 921781"/>
                <a:gd name="connsiteX25" fmla="*/ 829211 w 892968"/>
                <a:gd name="connsiteY25" fmla="*/ 823020 h 921781"/>
                <a:gd name="connsiteX26" fmla="*/ 829211 w 892968"/>
                <a:gd name="connsiteY26" fmla="*/ 246936 h 921781"/>
                <a:gd name="connsiteX27" fmla="*/ 63818 w 892968"/>
                <a:gd name="connsiteY27" fmla="*/ 246936 h 921781"/>
                <a:gd name="connsiteX28" fmla="*/ 63818 w 892968"/>
                <a:gd name="connsiteY28" fmla="*/ 164604 h 921781"/>
                <a:gd name="connsiteX29" fmla="*/ 95667 w 892968"/>
                <a:gd name="connsiteY29" fmla="*/ 131683 h 921781"/>
                <a:gd name="connsiteX30" fmla="*/ 191333 w 892968"/>
                <a:gd name="connsiteY30" fmla="*/ 131683 h 921781"/>
                <a:gd name="connsiteX31" fmla="*/ 191333 w 892968"/>
                <a:gd name="connsiteY31" fmla="*/ 164604 h 921781"/>
                <a:gd name="connsiteX32" fmla="*/ 223242 w 892968"/>
                <a:gd name="connsiteY32" fmla="*/ 197525 h 921781"/>
                <a:gd name="connsiteX33" fmla="*/ 255151 w 892968"/>
                <a:gd name="connsiteY33" fmla="*/ 164604 h 921781"/>
                <a:gd name="connsiteX34" fmla="*/ 255151 w 892968"/>
                <a:gd name="connsiteY34" fmla="*/ 131683 h 921781"/>
                <a:gd name="connsiteX35" fmla="*/ 637818 w 892968"/>
                <a:gd name="connsiteY35" fmla="*/ 131683 h 921781"/>
                <a:gd name="connsiteX36" fmla="*/ 637818 w 892968"/>
                <a:gd name="connsiteY36" fmla="*/ 164604 h 921781"/>
                <a:gd name="connsiteX37" fmla="*/ 669727 w 892968"/>
                <a:gd name="connsiteY37" fmla="*/ 197525 h 921781"/>
                <a:gd name="connsiteX38" fmla="*/ 701635 w 892968"/>
                <a:gd name="connsiteY38" fmla="*/ 164604 h 921781"/>
                <a:gd name="connsiteX39" fmla="*/ 701635 w 892968"/>
                <a:gd name="connsiteY39" fmla="*/ 131683 h 921781"/>
                <a:gd name="connsiteX40" fmla="*/ 797302 w 892968"/>
                <a:gd name="connsiteY40" fmla="*/ 131683 h 921781"/>
                <a:gd name="connsiteX41" fmla="*/ 829211 w 892968"/>
                <a:gd name="connsiteY41" fmla="*/ 164604 h 921781"/>
                <a:gd name="connsiteX42" fmla="*/ 829211 w 892968"/>
                <a:gd name="connsiteY42" fmla="*/ 246936 h 92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92968" h="921781">
                  <a:moveTo>
                    <a:pt x="829211" y="65842"/>
                  </a:moveTo>
                  <a:lnTo>
                    <a:pt x="701635" y="65842"/>
                  </a:lnTo>
                  <a:lnTo>
                    <a:pt x="701635" y="32921"/>
                  </a:lnTo>
                  <a:cubicBezTo>
                    <a:pt x="701635" y="16490"/>
                    <a:pt x="688896" y="0"/>
                    <a:pt x="669727" y="0"/>
                  </a:cubicBezTo>
                  <a:cubicBezTo>
                    <a:pt x="650617" y="0"/>
                    <a:pt x="637818" y="13156"/>
                    <a:pt x="637818" y="32921"/>
                  </a:cubicBezTo>
                  <a:lnTo>
                    <a:pt x="637818" y="65842"/>
                  </a:lnTo>
                  <a:lnTo>
                    <a:pt x="255151" y="65842"/>
                  </a:lnTo>
                  <a:lnTo>
                    <a:pt x="255151" y="32921"/>
                  </a:lnTo>
                  <a:cubicBezTo>
                    <a:pt x="255151" y="16490"/>
                    <a:pt x="242411" y="0"/>
                    <a:pt x="223242" y="0"/>
                  </a:cubicBezTo>
                  <a:cubicBezTo>
                    <a:pt x="204133" y="0"/>
                    <a:pt x="191333" y="13156"/>
                    <a:pt x="191333" y="32921"/>
                  </a:cubicBezTo>
                  <a:lnTo>
                    <a:pt x="191333" y="65842"/>
                  </a:lnTo>
                  <a:lnTo>
                    <a:pt x="63818" y="65842"/>
                  </a:lnTo>
                  <a:cubicBezTo>
                    <a:pt x="28694" y="65842"/>
                    <a:pt x="0" y="95488"/>
                    <a:pt x="0" y="131683"/>
                  </a:cubicBezTo>
                  <a:lnTo>
                    <a:pt x="0" y="855940"/>
                  </a:lnTo>
                  <a:cubicBezTo>
                    <a:pt x="0" y="892195"/>
                    <a:pt x="28694" y="921782"/>
                    <a:pt x="63818" y="921782"/>
                  </a:cubicBezTo>
                  <a:lnTo>
                    <a:pt x="829211" y="921782"/>
                  </a:lnTo>
                  <a:cubicBezTo>
                    <a:pt x="864334" y="921782"/>
                    <a:pt x="892969" y="892195"/>
                    <a:pt x="892969" y="855940"/>
                  </a:cubicBezTo>
                  <a:lnTo>
                    <a:pt x="892969" y="131683"/>
                  </a:lnTo>
                  <a:cubicBezTo>
                    <a:pt x="892969" y="95488"/>
                    <a:pt x="864275" y="65842"/>
                    <a:pt x="829211" y="65842"/>
                  </a:cubicBezTo>
                  <a:close/>
                  <a:moveTo>
                    <a:pt x="829211" y="823079"/>
                  </a:moveTo>
                  <a:cubicBezTo>
                    <a:pt x="829211" y="842784"/>
                    <a:pt x="816412" y="855940"/>
                    <a:pt x="797302" y="855940"/>
                  </a:cubicBezTo>
                  <a:lnTo>
                    <a:pt x="95667" y="855940"/>
                  </a:lnTo>
                  <a:cubicBezTo>
                    <a:pt x="76557" y="855940"/>
                    <a:pt x="63818" y="842784"/>
                    <a:pt x="63818" y="823020"/>
                  </a:cubicBezTo>
                  <a:lnTo>
                    <a:pt x="63818" y="312777"/>
                  </a:lnTo>
                  <a:lnTo>
                    <a:pt x="829211" y="312777"/>
                  </a:lnTo>
                  <a:lnTo>
                    <a:pt x="829211" y="823020"/>
                  </a:lnTo>
                  <a:close/>
                  <a:moveTo>
                    <a:pt x="829211" y="246936"/>
                  </a:moveTo>
                  <a:lnTo>
                    <a:pt x="63818" y="246936"/>
                  </a:lnTo>
                  <a:lnTo>
                    <a:pt x="63818" y="164604"/>
                  </a:lnTo>
                  <a:cubicBezTo>
                    <a:pt x="63818" y="144899"/>
                    <a:pt x="76557" y="131683"/>
                    <a:pt x="95667" y="131683"/>
                  </a:cubicBezTo>
                  <a:lnTo>
                    <a:pt x="191333" y="131683"/>
                  </a:lnTo>
                  <a:lnTo>
                    <a:pt x="191333" y="164604"/>
                  </a:lnTo>
                  <a:cubicBezTo>
                    <a:pt x="191333" y="181094"/>
                    <a:pt x="204133" y="197525"/>
                    <a:pt x="223242" y="197525"/>
                  </a:cubicBezTo>
                  <a:cubicBezTo>
                    <a:pt x="242411" y="197525"/>
                    <a:pt x="255151" y="184428"/>
                    <a:pt x="255151" y="164604"/>
                  </a:cubicBezTo>
                  <a:lnTo>
                    <a:pt x="255151" y="131683"/>
                  </a:lnTo>
                  <a:lnTo>
                    <a:pt x="637818" y="131683"/>
                  </a:lnTo>
                  <a:lnTo>
                    <a:pt x="637818" y="164604"/>
                  </a:lnTo>
                  <a:cubicBezTo>
                    <a:pt x="637818" y="181094"/>
                    <a:pt x="650617" y="197525"/>
                    <a:pt x="669727" y="197525"/>
                  </a:cubicBezTo>
                  <a:cubicBezTo>
                    <a:pt x="688896" y="197525"/>
                    <a:pt x="701635" y="184428"/>
                    <a:pt x="701635" y="164604"/>
                  </a:cubicBezTo>
                  <a:lnTo>
                    <a:pt x="701635" y="131683"/>
                  </a:lnTo>
                  <a:lnTo>
                    <a:pt x="797302" y="131683"/>
                  </a:lnTo>
                  <a:cubicBezTo>
                    <a:pt x="816412" y="131683"/>
                    <a:pt x="829211" y="144899"/>
                    <a:pt x="829211" y="164604"/>
                  </a:cubicBezTo>
                  <a:lnTo>
                    <a:pt x="829211" y="246936"/>
                  </a:ln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812CA157-6726-1BC2-FBE8-F9EE3BBD6645}"/>
                </a:ext>
              </a:extLst>
            </p:cNvPr>
            <p:cNvSpPr/>
            <p:nvPr/>
          </p:nvSpPr>
          <p:spPr>
            <a:xfrm>
              <a:off x="7836630" y="5476636"/>
              <a:ext cx="255091" cy="427970"/>
            </a:xfrm>
            <a:custGeom>
              <a:avLst/>
              <a:gdLst>
                <a:gd name="connsiteX0" fmla="*/ 15954 w 255091"/>
                <a:gd name="connsiteY0" fmla="*/ 98762 h 427970"/>
                <a:gd name="connsiteX1" fmla="*/ 79712 w 255091"/>
                <a:gd name="connsiteY1" fmla="*/ 98762 h 427970"/>
                <a:gd name="connsiteX2" fmla="*/ 95667 w 255091"/>
                <a:gd name="connsiteY2" fmla="*/ 82272 h 427970"/>
                <a:gd name="connsiteX3" fmla="*/ 95667 w 255091"/>
                <a:gd name="connsiteY3" fmla="*/ 16431 h 427970"/>
                <a:gd name="connsiteX4" fmla="*/ 79712 w 255091"/>
                <a:gd name="connsiteY4" fmla="*/ 0 h 427970"/>
                <a:gd name="connsiteX5" fmla="*/ 15954 w 255091"/>
                <a:gd name="connsiteY5" fmla="*/ 0 h 427970"/>
                <a:gd name="connsiteX6" fmla="*/ 0 w 255091"/>
                <a:gd name="connsiteY6" fmla="*/ 16431 h 427970"/>
                <a:gd name="connsiteX7" fmla="*/ 0 w 255091"/>
                <a:gd name="connsiteY7" fmla="*/ 82272 h 427970"/>
                <a:gd name="connsiteX8" fmla="*/ 15954 w 255091"/>
                <a:gd name="connsiteY8" fmla="*/ 98762 h 427970"/>
                <a:gd name="connsiteX9" fmla="*/ 175379 w 255091"/>
                <a:gd name="connsiteY9" fmla="*/ 263366 h 427970"/>
                <a:gd name="connsiteX10" fmla="*/ 239197 w 255091"/>
                <a:gd name="connsiteY10" fmla="*/ 263366 h 427970"/>
                <a:gd name="connsiteX11" fmla="*/ 255091 w 255091"/>
                <a:gd name="connsiteY11" fmla="*/ 246876 h 427970"/>
                <a:gd name="connsiteX12" fmla="*/ 255091 w 255091"/>
                <a:gd name="connsiteY12" fmla="*/ 181035 h 427970"/>
                <a:gd name="connsiteX13" fmla="*/ 239197 w 255091"/>
                <a:gd name="connsiteY13" fmla="*/ 164604 h 427970"/>
                <a:gd name="connsiteX14" fmla="*/ 175320 w 255091"/>
                <a:gd name="connsiteY14" fmla="*/ 164604 h 427970"/>
                <a:gd name="connsiteX15" fmla="*/ 159365 w 255091"/>
                <a:gd name="connsiteY15" fmla="*/ 181035 h 427970"/>
                <a:gd name="connsiteX16" fmla="*/ 159365 w 255091"/>
                <a:gd name="connsiteY16" fmla="*/ 246876 h 427970"/>
                <a:gd name="connsiteX17" fmla="*/ 175320 w 255091"/>
                <a:gd name="connsiteY17" fmla="*/ 263366 h 427970"/>
                <a:gd name="connsiteX18" fmla="*/ 175379 w 255091"/>
                <a:gd name="connsiteY18" fmla="*/ 427970 h 427970"/>
                <a:gd name="connsiteX19" fmla="*/ 239197 w 255091"/>
                <a:gd name="connsiteY19" fmla="*/ 427970 h 427970"/>
                <a:gd name="connsiteX20" fmla="*/ 255091 w 255091"/>
                <a:gd name="connsiteY20" fmla="*/ 411480 h 427970"/>
                <a:gd name="connsiteX21" fmla="*/ 255091 w 255091"/>
                <a:gd name="connsiteY21" fmla="*/ 345638 h 427970"/>
                <a:gd name="connsiteX22" fmla="*/ 239197 w 255091"/>
                <a:gd name="connsiteY22" fmla="*/ 329208 h 427970"/>
                <a:gd name="connsiteX23" fmla="*/ 175320 w 255091"/>
                <a:gd name="connsiteY23" fmla="*/ 329208 h 427970"/>
                <a:gd name="connsiteX24" fmla="*/ 159365 w 255091"/>
                <a:gd name="connsiteY24" fmla="*/ 345638 h 427970"/>
                <a:gd name="connsiteX25" fmla="*/ 159365 w 255091"/>
                <a:gd name="connsiteY25" fmla="*/ 411480 h 427970"/>
                <a:gd name="connsiteX26" fmla="*/ 175320 w 255091"/>
                <a:gd name="connsiteY26" fmla="*/ 427970 h 42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5091" h="427970">
                  <a:moveTo>
                    <a:pt x="15954" y="98762"/>
                  </a:moveTo>
                  <a:lnTo>
                    <a:pt x="79712" y="98762"/>
                  </a:lnTo>
                  <a:cubicBezTo>
                    <a:pt x="89237" y="98762"/>
                    <a:pt x="95667" y="92214"/>
                    <a:pt x="95667" y="82272"/>
                  </a:cubicBezTo>
                  <a:lnTo>
                    <a:pt x="95667" y="16431"/>
                  </a:lnTo>
                  <a:cubicBezTo>
                    <a:pt x="95667" y="6548"/>
                    <a:pt x="89297" y="0"/>
                    <a:pt x="79712" y="0"/>
                  </a:cubicBezTo>
                  <a:lnTo>
                    <a:pt x="15954" y="0"/>
                  </a:lnTo>
                  <a:cubicBezTo>
                    <a:pt x="6370" y="0"/>
                    <a:pt x="0" y="6548"/>
                    <a:pt x="0" y="16431"/>
                  </a:cubicBezTo>
                  <a:lnTo>
                    <a:pt x="0" y="82272"/>
                  </a:lnTo>
                  <a:cubicBezTo>
                    <a:pt x="0" y="92154"/>
                    <a:pt x="6370" y="98762"/>
                    <a:pt x="15954" y="98762"/>
                  </a:cubicBezTo>
                  <a:close/>
                  <a:moveTo>
                    <a:pt x="175379" y="263366"/>
                  </a:moveTo>
                  <a:lnTo>
                    <a:pt x="239197" y="263366"/>
                  </a:lnTo>
                  <a:cubicBezTo>
                    <a:pt x="248722" y="263366"/>
                    <a:pt x="255091" y="256818"/>
                    <a:pt x="255091" y="246876"/>
                  </a:cubicBezTo>
                  <a:lnTo>
                    <a:pt x="255091" y="181035"/>
                  </a:lnTo>
                  <a:cubicBezTo>
                    <a:pt x="255091" y="171152"/>
                    <a:pt x="248722" y="164604"/>
                    <a:pt x="239197" y="164604"/>
                  </a:cubicBezTo>
                  <a:lnTo>
                    <a:pt x="175320" y="164604"/>
                  </a:lnTo>
                  <a:cubicBezTo>
                    <a:pt x="165795" y="164604"/>
                    <a:pt x="159365" y="171152"/>
                    <a:pt x="159365" y="181035"/>
                  </a:cubicBezTo>
                  <a:lnTo>
                    <a:pt x="159365" y="246876"/>
                  </a:lnTo>
                  <a:cubicBezTo>
                    <a:pt x="159365" y="256758"/>
                    <a:pt x="165735" y="263366"/>
                    <a:pt x="175320" y="263366"/>
                  </a:cubicBezTo>
                  <a:close/>
                  <a:moveTo>
                    <a:pt x="175379" y="427970"/>
                  </a:moveTo>
                  <a:lnTo>
                    <a:pt x="239197" y="427970"/>
                  </a:lnTo>
                  <a:cubicBezTo>
                    <a:pt x="248722" y="427970"/>
                    <a:pt x="255091" y="421422"/>
                    <a:pt x="255091" y="411480"/>
                  </a:cubicBezTo>
                  <a:lnTo>
                    <a:pt x="255091" y="345638"/>
                  </a:lnTo>
                  <a:cubicBezTo>
                    <a:pt x="255091" y="335756"/>
                    <a:pt x="248722" y="329208"/>
                    <a:pt x="239197" y="329208"/>
                  </a:cubicBezTo>
                  <a:lnTo>
                    <a:pt x="175320" y="329208"/>
                  </a:lnTo>
                  <a:cubicBezTo>
                    <a:pt x="165795" y="329208"/>
                    <a:pt x="159365" y="335756"/>
                    <a:pt x="159365" y="345638"/>
                  </a:cubicBezTo>
                  <a:lnTo>
                    <a:pt x="159365" y="411480"/>
                  </a:lnTo>
                  <a:cubicBezTo>
                    <a:pt x="159365" y="421362"/>
                    <a:pt x="165735" y="427970"/>
                    <a:pt x="175320" y="427970"/>
                  </a:cubicBezTo>
                  <a:close/>
                </a:path>
              </a:pathLst>
            </a:custGeom>
            <a:grpFill/>
            <a:ln w="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687C5216-56D9-CC72-4446-A5142262A682}"/>
              </a:ext>
            </a:extLst>
          </p:cNvPr>
          <p:cNvSpPr txBox="1"/>
          <p:nvPr/>
        </p:nvSpPr>
        <p:spPr>
          <a:xfrm>
            <a:off x="4813437" y="6468307"/>
            <a:ext cx="25651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方班示范班研讨厅第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162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期</a:t>
            </a:r>
          </a:p>
        </p:txBody>
      </p:sp>
      <p:pic>
        <p:nvPicPr>
          <p:cNvPr id="11" name="图片 10" descr="校徽-1">
            <a:extLst>
              <a:ext uri="{FF2B5EF4-FFF2-40B4-BE49-F238E27FC236}">
                <a16:creationId xmlns:a16="http://schemas.microsoft.com/office/drawing/2014/main" id="{CE935132-F127-11BA-213E-5B3DDB135F6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detail="2"/>
                    </a14:imgEffect>
                    <a14:imgEffect>
                      <a14:colorTemperature colorTemp="1500"/>
                    </a14:imgEffect>
                    <a14:imgEffect>
                      <a14:saturation sat="101000"/>
                    </a14:imgEffect>
                    <a14:imgEffect>
                      <a14:brightnessContrast bright="-2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9835" y="708756"/>
            <a:ext cx="2992322" cy="994873"/>
          </a:xfrm>
          <a:prstGeom prst="rect">
            <a:avLst/>
          </a:prstGeom>
        </p:spPr>
      </p:pic>
      <p:sp>
        <p:nvSpPr>
          <p:cNvPr id="28" name="Yabin Wang  ·  Zhiwu Huang  · ">
            <a:extLst>
              <a:ext uri="{FF2B5EF4-FFF2-40B4-BE49-F238E27FC236}">
                <a16:creationId xmlns:a16="http://schemas.microsoft.com/office/drawing/2014/main" id="{05E55CD4-16DF-7AF6-1EAB-FFA51CE74AAD}"/>
              </a:ext>
            </a:extLst>
          </p:cNvPr>
          <p:cNvSpPr>
            <a:spLocks noGrp="1"/>
          </p:cNvSpPr>
          <p:nvPr/>
        </p:nvSpPr>
        <p:spPr>
          <a:xfrm>
            <a:off x="1782697" y="4334400"/>
            <a:ext cx="8898792" cy="2026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Yabin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Wang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(Xi‘an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Jiaotong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University) ,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Zhiwu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Huang*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(University of Southampton) ,  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Xiaopeng Hong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(Harbin Institute of Technology).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A6A"/>
      </a:accent1>
      <a:accent2>
        <a:srgbClr val="112B4F"/>
      </a:accent2>
      <a:accent3>
        <a:srgbClr val="4580D4"/>
      </a:accent3>
      <a:accent4>
        <a:srgbClr val="4580D4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5" id="{155595E4-B6C9-43FA-8F66-D514507D5E1C}" vid="{C19EAAD9-8615-4479-80EE-9CA0F401BEA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空白-母钉板</Template>
  <TotalTime>10624</TotalTime>
  <Words>3598</Words>
  <Application>Microsoft Office PowerPoint</Application>
  <PresentationFormat>宽屏</PresentationFormat>
  <Paragraphs>509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等线</vt:lpstr>
      <vt:lpstr>方正小标宋简体</vt:lpstr>
      <vt:lpstr>华文中宋</vt:lpstr>
      <vt:lpstr>楷体</vt:lpstr>
      <vt:lpstr>思源黑体 CN Bold</vt:lpstr>
      <vt:lpstr>思源黑体 CN Regular</vt:lpstr>
      <vt:lpstr>宋体</vt:lpstr>
      <vt:lpstr>微软雅黑</vt:lpstr>
      <vt:lpstr>微软雅黑</vt:lpstr>
      <vt:lpstr>Arial</vt:lpstr>
      <vt:lpstr>Bahnschrift Light Condensed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荣标 徐</dc:creator>
  <cp:lastModifiedBy>壹铭 张</cp:lastModifiedBy>
  <cp:revision>582</cp:revision>
  <dcterms:created xsi:type="dcterms:W3CDTF">2025-12-29T13:01:08Z</dcterms:created>
  <dcterms:modified xsi:type="dcterms:W3CDTF">2026-10-16T07:26:09Z</dcterms:modified>
</cp:coreProperties>
</file>