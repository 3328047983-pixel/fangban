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notesSlides/notesSlide17.xml" ContentType="application/vnd.openxmlformats-officedocument.presentationml.notesSlide+xml"/>
  <Override PartName="/ppt/charts/chart8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7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36594202898599998"/>
          <c:y val="7.5187969924800004E-3"/>
          <c:w val="0.489130434783"/>
          <c:h val="0.902255639098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E12-428B-A9FA-FD58FC2C585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E12-428B-A9FA-FD58FC2C585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E12-428B-A9FA-FD58FC2C585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E12-428B-A9FA-FD58FC2C585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E12-428B-A9FA-FD58FC2C585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2E12-428B-A9FA-FD58FC2C585F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2E12-428B-A9FA-FD58FC2C585F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2E12-428B-A9FA-FD58FC2C585F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2E12-428B-A9FA-FD58FC2C585F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Llama3.1-8B</c:v>
                </c:pt>
                <c:pt idx="1">
                  <c:v>Mistral-Nemo-12B</c:v>
                </c:pt>
                <c:pt idx="2">
                  <c:v>Qwen2.5-14B</c:v>
                </c:pt>
                <c:pt idx="3">
                  <c:v>Self-Refine</c:v>
                </c:pt>
                <c:pt idx="4">
                  <c:v>AFlow</c:v>
                </c:pt>
                <c:pt idx="5">
                  <c:v>MacNet</c:v>
                </c:pt>
                <c:pt idx="6">
                  <c:v>EvoAgent</c:v>
                </c:pt>
                <c:pt idx="7">
                  <c:v>Puppeteer-Mono</c:v>
                </c:pt>
                <c:pt idx="8">
                  <c:v>Puppeteer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0.4214</c:v>
                </c:pt>
                <c:pt idx="1">
                  <c:v>0.3523</c:v>
                </c:pt>
                <c:pt idx="2">
                  <c:v>0.3972</c:v>
                </c:pt>
                <c:pt idx="3">
                  <c:v>0.46949999999999997</c:v>
                </c:pt>
                <c:pt idx="4">
                  <c:v>0.53639999999999999</c:v>
                </c:pt>
                <c:pt idx="5">
                  <c:v>0.28620000000000001</c:v>
                </c:pt>
                <c:pt idx="6">
                  <c:v>0.39810000000000001</c:v>
                </c:pt>
                <c:pt idx="7">
                  <c:v>0.61470000000000002</c:v>
                </c:pt>
                <c:pt idx="8">
                  <c:v>0.63239999999999996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E12-428B-A9FA-FD58FC2C58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2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0.9"/>
          <c:min val="0"/>
        </c:scaling>
        <c:delete val="0"/>
        <c:axPos val="b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max"/>
        <c:crossBetween val="between"/>
        <c:majorUnit val="0.3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369963369963"/>
          <c:y val="7.5187969924800004E-3"/>
          <c:w val="0.49450549450499998"/>
          <c:h val="0.902255639098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450-4467-80B4-C84A1D863FE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450-4467-80B4-C84A1D863FE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8450-4467-80B4-C84A1D863FE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8450-4467-80B4-C84A1D863FE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8450-4467-80B4-C84A1D863FE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8450-4467-80B4-C84A1D863FE0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8450-4467-80B4-C84A1D863FE0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8450-4467-80B4-C84A1D863FE0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8450-4467-80B4-C84A1D863FE0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Llama3.1-405B</c:v>
                </c:pt>
                <c:pt idx="1">
                  <c:v>GPT4o-mini</c:v>
                </c:pt>
                <c:pt idx="2">
                  <c:v>GPT4-Turbo</c:v>
                </c:pt>
                <c:pt idx="3">
                  <c:v>Self-Refine</c:v>
                </c:pt>
                <c:pt idx="4">
                  <c:v>AFlow</c:v>
                </c:pt>
                <c:pt idx="5">
                  <c:v>MacNet</c:v>
                </c:pt>
                <c:pt idx="6">
                  <c:v>EvoAgent</c:v>
                </c:pt>
                <c:pt idx="7">
                  <c:v>Puppeteer-Mono</c:v>
                </c:pt>
                <c:pt idx="8">
                  <c:v>Puppeteer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0.57809999999999995</c:v>
                </c:pt>
                <c:pt idx="1">
                  <c:v>0.51280000000000003</c:v>
                </c:pt>
                <c:pt idx="2">
                  <c:v>0.58560000000000001</c:v>
                </c:pt>
                <c:pt idx="3">
                  <c:v>0.61570000000000003</c:v>
                </c:pt>
                <c:pt idx="4">
                  <c:v>0.68989999999999996</c:v>
                </c:pt>
                <c:pt idx="5">
                  <c:v>0.51870000000000005</c:v>
                </c:pt>
                <c:pt idx="6">
                  <c:v>0.49940000000000001</c:v>
                </c:pt>
                <c:pt idx="7">
                  <c:v>0.74529999999999996</c:v>
                </c:pt>
                <c:pt idx="8">
                  <c:v>0.77310000000000001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450-4467-80B4-C84A1D863F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2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0.9"/>
          <c:min val="0"/>
        </c:scaling>
        <c:delete val="0"/>
        <c:axPos val="b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max"/>
        <c:crossBetween val="between"/>
        <c:majorUnit val="0.3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7671232876700003E-2"/>
          <c:y val="3.8251366120199998E-2"/>
          <c:w val="0.92465753424700003"/>
          <c:h val="0.81967213114799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Puppeteer（异构）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</c:v>
                </c:pt>
                <c:pt idx="1">
                  <c:v>0.83</c:v>
                </c:pt>
                <c:pt idx="2">
                  <c:v>0.76370000000000005</c:v>
                </c:pt>
                <c:pt idx="3">
                  <c:v>0.79869999999999997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DF-4755-822C-1BAE8E4BFB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Puppeteer-Mono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</c:v>
                </c:pt>
                <c:pt idx="1">
                  <c:v>0.76</c:v>
                </c:pt>
                <c:pt idx="2">
                  <c:v>0.76970000000000005</c:v>
                </c:pt>
                <c:pt idx="3">
                  <c:v>0.8417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DF-4755-822C-1BAE8E4BFB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AFlow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0.54</c:v>
                </c:pt>
                <c:pt idx="1">
                  <c:v>0.75</c:v>
                </c:pt>
                <c:pt idx="2">
                  <c:v>0.64780000000000004</c:v>
                </c:pt>
                <c:pt idx="3">
                  <c:v>0.82179999999999997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DF-4755-822C-1BAE8E4BFB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MacNet</c:v>
                </c:pt>
              </c:strCache>
            </c:strRef>
          </c:tx>
          <c:spPr>
            <a:solidFill>
              <a:srgbClr val="A5A5A5"/>
            </a:solidFill>
            <a:ln>
              <a:solidFill>
                <a:srgbClr val="A5A5A5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0.29049999999999998</c:v>
                </c:pt>
                <c:pt idx="1">
                  <c:v>0.48</c:v>
                </c:pt>
                <c:pt idx="2">
                  <c:v>0.42280000000000001</c:v>
                </c:pt>
                <c:pt idx="3">
                  <c:v>0.88170000000000004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ADF-4755-822C-1BAE8E4BFB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7"/>
        <c:overlap val="-2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0.2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7671232876700003E-2"/>
          <c:y val="3.8251366120199998E-2"/>
          <c:w val="0.92465753424700003"/>
          <c:h val="0.81967213114799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Puppeteer（异构）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0.63</c:v>
                </c:pt>
                <c:pt idx="2">
                  <c:v>0.62660000000000005</c:v>
                </c:pt>
                <c:pt idx="3">
                  <c:v>0.73329999999999995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3D-46CB-80B2-2E05DEBE97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Puppeteer-Mono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0.48</c:v>
                </c:pt>
                <c:pt idx="1">
                  <c:v>0.52</c:v>
                </c:pt>
                <c:pt idx="2">
                  <c:v>0.72489999999999999</c:v>
                </c:pt>
                <c:pt idx="3">
                  <c:v>0.73409999999999997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3D-46CB-80B2-2E05DEBE97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AFlow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0.28999999999999998</c:v>
                </c:pt>
                <c:pt idx="1">
                  <c:v>0.5</c:v>
                </c:pt>
                <c:pt idx="2">
                  <c:v>0.63619999999999999</c:v>
                </c:pt>
                <c:pt idx="3">
                  <c:v>0.71940000000000004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3D-46CB-80B2-2E05DEBE97C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MacNet</c:v>
                </c:pt>
              </c:strCache>
            </c:strRef>
          </c:tx>
          <c:spPr>
            <a:solidFill>
              <a:srgbClr val="A5A5A5"/>
            </a:solidFill>
            <a:ln>
              <a:solidFill>
                <a:srgbClr val="A5A5A5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0.2</c:v>
                </c:pt>
                <c:pt idx="2">
                  <c:v>0.20169999999999999</c:v>
                </c:pt>
                <c:pt idx="3">
                  <c:v>0.74339999999999995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93D-46CB-80B2-2E05DEBE97C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7"/>
        <c:overlap val="-2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0.2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7671232876700003E-2"/>
          <c:y val="6.7357512953400006E-2"/>
          <c:w val="0.92465753424700003"/>
          <c:h val="0.82901554404099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Initialized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Mimas Mono</c:v>
                </c:pt>
                <c:pt idx="1">
                  <c:v>Mimas 异构</c:v>
                </c:pt>
                <c:pt idx="2">
                  <c:v>Titan Mono</c:v>
                </c:pt>
                <c:pt idx="3">
                  <c:v>Titan 异构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0.50680000000000003</c:v>
                </c:pt>
                <c:pt idx="1">
                  <c:v>0.62729999999999997</c:v>
                </c:pt>
                <c:pt idx="2">
                  <c:v>0.66710000000000003</c:v>
                </c:pt>
                <c:pt idx="3">
                  <c:v>0.68930000000000002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8F-4D17-99E2-3EFF45592B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Evolved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Mimas Mono</c:v>
                </c:pt>
                <c:pt idx="1">
                  <c:v>Mimas 异构</c:v>
                </c:pt>
                <c:pt idx="2">
                  <c:v>Titan Mono</c:v>
                </c:pt>
                <c:pt idx="3">
                  <c:v>Titan 异构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0.61470000000000002</c:v>
                </c:pt>
                <c:pt idx="1">
                  <c:v>0.63239999999999996</c:v>
                </c:pt>
                <c:pt idx="2">
                  <c:v>0.74529999999999996</c:v>
                </c:pt>
                <c:pt idx="3">
                  <c:v>0.77310000000000001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8F-4D17-99E2-3EFF45592B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9"/>
        <c:overlap val="-2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0.8"/>
          <c:min val="0"/>
        </c:scaling>
        <c:delete val="0"/>
        <c:axPos val="l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0.2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7671232876700003E-2"/>
          <c:y val="6.7692307692300002E-2"/>
          <c:w val="0.92465753424700003"/>
          <c:h val="0.73846153846200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异构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</c:v>
                </c:pt>
                <c:pt idx="1">
                  <c:v>0.09</c:v>
                </c:pt>
                <c:pt idx="2">
                  <c:v>0.14460000000000001</c:v>
                </c:pt>
                <c:pt idx="3">
                  <c:v>6.0600000000000001E-2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B4-49BA-A8D4-64811C8C27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Mono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7.0000000000000007E-2</c:v>
                </c:pt>
                <c:pt idx="1">
                  <c:v>6.9000000000000006E-2</c:v>
                </c:pt>
                <c:pt idx="2">
                  <c:v>0.14330000000000001</c:v>
                </c:pt>
                <c:pt idx="3">
                  <c:v>3.0599999999999999E-2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B4-49BA-A8D4-64811C8C27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9"/>
        <c:overlap val="-2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0.16"/>
          <c:min val="0"/>
        </c:scaling>
        <c:delete val="0"/>
        <c:axPos val="l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0.04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7671232876700003E-2"/>
          <c:y val="4.5325779036799997E-2"/>
          <c:w val="0.92465753424700003"/>
          <c:h val="0.849858356940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异构：初始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0.56000000000000005</c:v>
                </c:pt>
                <c:pt idx="1">
                  <c:v>0.56999999999999995</c:v>
                </c:pt>
                <c:pt idx="2">
                  <c:v>0.6653</c:v>
                </c:pt>
                <c:pt idx="3">
                  <c:v>0.71389999999999998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EE-4FF3-A368-CD9D2A4DC7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异构：演化后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</c:v>
                </c:pt>
                <c:pt idx="1">
                  <c:v>0.63</c:v>
                </c:pt>
                <c:pt idx="2">
                  <c:v>0.62660000000000005</c:v>
                </c:pt>
                <c:pt idx="3">
                  <c:v>0.73329999999999995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EE-4FF3-A368-CD9D2A4DC7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6"/>
        <c:overlap val="-33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536078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0.8"/>
          <c:min val="0"/>
        </c:scaling>
        <c:delete val="0"/>
        <c:axPos val="l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9525" cap="flat" cmpd="sng" algn="ctr">
            <a:solidFill>
              <a:srgbClr val="536078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0.2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7671232876700003E-2"/>
          <c:y val="4.8780487804899998E-2"/>
          <c:w val="0.92465753424700003"/>
          <c:h val="0.813008130081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Mimas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</c:v>
                </c:pt>
                <c:pt idx="1">
                  <c:v>0.11</c:v>
                </c:pt>
                <c:pt idx="2">
                  <c:v>-9.8299999999999998E-2</c:v>
                </c:pt>
                <c:pt idx="3">
                  <c:v>-8.0000000000000004E-4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A8-4226-AAE1-C670B93A46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Titan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GSM-Hard</c:v>
                </c:pt>
                <c:pt idx="1">
                  <c:v>MMLU-Pro</c:v>
                </c:pt>
                <c:pt idx="2">
                  <c:v>SRDD</c:v>
                </c:pt>
                <c:pt idx="3">
                  <c:v>CommonGen-Hard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0.09</c:v>
                </c:pt>
                <c:pt idx="1">
                  <c:v>7.0000000000000007E-2</c:v>
                </c:pt>
                <c:pt idx="2">
                  <c:v>-6.0000000000000001E-3</c:v>
                </c:pt>
                <c:pt idx="3">
                  <c:v>-4.2999999999999997E-2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A8-4226-AAE1-C670B93A46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29"/>
        <c:overlap val="-2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536078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0.12"/>
          <c:min val="-0.12"/>
        </c:scaling>
        <c:delete val="0"/>
        <c:axPos val="l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9525" cap="flat" cmpd="sng" algn="ctr">
            <a:solidFill>
              <a:srgbClr val="536078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0.06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168724279800001"/>
          <c:y val="0.12429378531099999"/>
          <c:w val="0.72016460905299995"/>
          <c:h val="0.73446327683599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Initialized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800">
                    <a:solidFill>
                      <a:srgbClr val="536078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图密度均值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9D-4B95-8824-E4BAA18388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Evolved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800">
                    <a:solidFill>
                      <a:srgbClr val="536078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图密度均值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1.4479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9D-4B95-8824-E4BAA183883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9"/>
        <c:overlap val="-52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36078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"/>
          <c:min val="0"/>
        </c:scaling>
        <c:delete val="0"/>
        <c:axPos val="l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36078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536078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44876325088"/>
          <c:y val="0.12429378531099999"/>
          <c:w val="0.77738515901100003"/>
          <c:h val="0.73446327683599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Initialized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长度1</c:v>
                </c:pt>
                <c:pt idx="1">
                  <c:v>长度2</c:v>
                </c:pt>
                <c:pt idx="2">
                  <c:v>长度3</c:v>
                </c:pt>
                <c:pt idx="3">
                  <c:v>长度4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</c:v>
                </c:pt>
                <c:pt idx="1">
                  <c:v>1.17</c:v>
                </c:pt>
                <c:pt idx="2">
                  <c:v>0.17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40-4E1D-9B49-03EE8CAB9D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Evolved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350">
                    <a:solidFill>
                      <a:srgbClr val="17243A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长度1</c:v>
                </c:pt>
                <c:pt idx="1">
                  <c:v>长度2</c:v>
                </c:pt>
                <c:pt idx="2">
                  <c:v>长度3</c:v>
                </c:pt>
                <c:pt idx="3">
                  <c:v>长度4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0.62</c:v>
                </c:pt>
                <c:pt idx="1">
                  <c:v>1.4</c:v>
                </c:pt>
                <c:pt idx="2">
                  <c:v>0.38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40-4E1D-9B49-03EE8CAB9D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33"/>
        <c:overlap val="-36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.6"/>
          <c:min val="0"/>
        </c:scaling>
        <c:delete val="0"/>
        <c:axPos val="l"/>
        <c:majorGridlines>
          <c:spPr>
            <a:ln w="6350" cap="flat" cmpd="sng" algn="ctr">
              <a:solidFill>
                <a:srgbClr val="E8EDF5"/>
              </a:solidFill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9525" cap="flat" cmpd="sng" algn="ctr">
            <a:solidFill>
              <a:srgbClr val="D5DDEA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7243A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0.4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350">
          <a:solidFill>
            <a:srgbClr val="17243A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今天汇报的是 NeurIPS 二〇二五年的论文《Multi-Agent Collaboration via Evolving Orchestration》，作者包括 Yufan Dang、Xueheng Luo、Jingru Fan 等。论文研究如何让多个大语言模型智能体在协作中取得更好的效果，同时控制计算开销。它采用一个中心编排器，根据任务正在发生的变化，选择接下来调用哪一个智能体，并用强化学习更新这种选择策略。封面的中心与分支是概念示意，表示策略对智能体的调度。接下来先解释机制，再分别检查性能、效率和结构证据，最后讨论这些结论的边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论文的出发点是，已有多智能体系统常依赖预先指定或者预先生成的组织拓扑。这种结构在执行中不够灵活，当任务种类和智能体数量增加时，可能出现协调开销、冗余计算以及无效通信。因而作者把问题从增加多少智能体，转向下一步应该调用谁。动态编排要根据当前任务状态做出选择，而不是将整条协作路线一次性固定。这里的新增插图用于解释静态组织与动态选择的差别，不代表新的实验。论文要回答的核心问题是：动态编排能否同时提高协作效果和计算效率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解论文需要区分两个时间尺度。第一个发生在一次任务的推理内部，编排器把智能体协作表示为顺序决策，随着任务进展调整下一个激活对象。第二个发生在多条轨迹之间，系统利用已完成轨迹的反馈更新策略，让后续决策更偏向有效和经济的调用。这两项贡献互相配合，前者提供灵活性，后者让灵活的选择可以被优化。后面的实验也按三个问题展开：协作效果有没有提高，推理开销怎样变化，以及学习后的交互结构发生了什么变化。这是对论文论证顺序的汇报整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进入编排机制之前，先明确被选择的对象。论文把一个智能体表示为模型、推理模式和工具组成的三元组。模型可以来自不同规模以及开放或闭源的能力空间；推理模式包括分解、反思、批评、修改、总结和终止；外部工具包括网页与学术搜索、代码解释以及文件读取。因此这里的异质性不只意味着混合不同底座模型，也包括思考方式和外部能力的组合。中心策略选择的是这样一个完整智能体，而不是只选择模型名称。论文附录里的角色提示属于研究对象，本汇报仅解释其作用，不把它们当作我们的执行指令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单步机制可以分为选择、生成和更新三个动作。给定任务与当前全局状态，策略先抽样选择下一位智能体；被选中的智能体结合其局部状态与全局状态生成输出；汇总函数再把这个输出纳入新的全局状态。新的状态会影响下一步的选择，所以决策与任务进展之间形成了闭合的信息反馈。满足终止条件或者达到预算后，系统聚合轨迹输出。页面公式对应论文第二点一节的状态决策过程，插图是依据这一机制绘制的解释图。这里还没有发生策略参数更新，策略训练属于下一层时间尺度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把执行写成序列，并不意味着最终的交互结构只能是一条链。上方用先激活 A、再激活 B、再次激活 A、接着激活 C 的序列解释这一点。若把重复出现的身份合并，下方就能看到 A 与 B 之间的来回关系，以及从 A 到 C 的连接。这个例子只用于说明表示转换，不是新增实验轨迹。论文通过逐步展开协作来避免穷举完整拓扑空间，而重复激活、跨分支连接和回溯等行为，使折叠后的交互图仍然可以包含回路。后面讨论紧凑性和循环性时，分析的正是这样的结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现在从一次推理内部转向多条轨迹之间。论文通过 REINFORCE 最大化轨迹的期望回报，使用完成轨迹后的反馈改变后续选择。反馈同时考虑任务质量和计算开销，因此高贡献、低成本的选择会更受偏好，低增益或高成本的调用则可能逐渐减少。学习对象主要是编排策略与剪枝偏好；不要把它误读为对所有基础模型进行同样的训练。页面中的新增插图解释的是轨迹完成之后的学习反馈，与前一页的单步状态更新是两个层次。接下来要看质量和成本具体怎样进入回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奖励函数把任务质量和计算成本放在同一个目标里。终态回报由最终质量奖励减去成本惩罚得到；在更早的步骤，回报由后续回报的折扣值再减去当前成本惩罚递归计算。参数伽马控制未来回报折扣，参数兰姆达控制成本惩罚强度。成本项还随计算开销和归一化步因子变化，因此推理拖得更长也会影响目标。闭域任务的质量奖励可以来自正确性，开放任务则使用相应质量评分。兰姆达等于零时，没有这项显式计算成本惩罚；增加它也不能预先保证每项任务都能无损降本，必须由实验检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论文使用四个任务，覆盖闭域推理和开放生成。GSM-Hard 检验大数多步算术，MMLU-Pro 检验多学科知识推理，两者采用准确率。SRDD 关注软件需求实现，综合完整性、可执行性和一致性。CommonGen-Hard 则要求在概念约束下生成文本，并综合语法、相关性、逻辑与覆盖等指标。这个差别会直接影响后面图表的解读：表一中的平均分是跨任务指标的综合平均，并不是一个统一意义上的准确率。可以在相同任务或相同子空间内比较方法，但不能把不同指标的平均数说成同一种正确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实验把模型能力空间分为 Mimas 与 Titan。Mimas 主要包含三十亿至一百四十亿参数规模的模型，Titan 则包含更强的开放或闭源模型。Mono 配置分别固定使用 Llama 三点一的八十亿和四千零五十亿模型，但仍可搭配不同推理模式和工具；异构配置混合不同底座。基线包含纯模型、Self-Refine、AFlow、MacNet 与 EvoAgent，因此比较需要保持在同一子空间内。正文实现段给出单次轨迹长度为四、并行探索最多三、成本系数零点一、折扣系数零点九九。后面会单独提醒图七图注与正文设置的表述差异。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先看表一的总体结果，两组横向柱图使用相同的分数范围，分别比较 Mimas 和 Titan 内部的方法。演化后的异构 Puppeteer 平均分分别为零点六三二四和零点七七三一，Mono 分别为零点六一四七和零点七四五三。作为较强协作基线，AFlow 在两个子空间中的平均分分别为零点五三六四和零点六八九九。因此，两个 Puppeteer 配置的总体表现都较突出，异构配置取得各自子空间的最高平均分。不过这仍是跨任务综合分，不能直接当成准确率，也不能据此断言每一个任务都最优。下一步把平均值拆开。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 Titan 的逐任务比较中，异构 Puppeteer 在 GSM-Hard 和 MMLU-Pro 分别达到零点七和零点八三，超过这里并列展示的 Mono 与 AFlow。这支持它在多步数学和综合知识任务上的优势。另一方面，在 SRDD 上 Mono 的零点七六九七略高于异构的零点七六三七；在 CommonGen-Hard 上，异构的零点七九八七也不是最高，Mono 和 AFlow 都更高。整个表一中，MacNet 在这一生成任务达到零点八八一七。因而更稳妥的表述是总体平均占优，同时保留各任务的不同排名，而不是声称全面胜出。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Mimas 也呈现明显的任务差异。异构配置在 GSM-Hard 和 MMLU-Pro 的演化后分数高于 Mono，但在 SRDD 上只有零点六二六六，低于 Mono 的零点七二四九，也略低于 AFlow。CommonGen-Hard 上两种 Puppeteer 配置非常接近，异构为零点七三三三，Mono 为零点七三四一；MacNet 则达到零点七四三四。由此可以看到，最高平均分背后并不是所有任务同向领先。接下来我们还要把配置差异与持续训练的收益分开，否则容易把混合模型带来的效果全部归到策略学习上。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这里固定配置，比较初始化与演化之后的平均分。Mimas Mono 从零点五〇六八提高到零点六一四七，增量零点一〇七九；Mimas 异构只从零点六二七三升到零点六三二四，增量零点〇〇五一。Titan Mono 和异构的增量分别为零点〇七八二与零点〇八三八，其中 Titan 异构从零点六八九三升到零点七七三一。四种配置的平均值都改善，但改善幅度差异很大。这些增量由论文表一原始数值相减得到。附录说明，初始化和演化阶段的划分服务于评估便利，不代表系统在某一点发生了内在突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进一步拆开 Titan 的训练收益，图中纵轴表示演化后减去初始化的分数增量，下方保留对应的原始分数。异构与 Mono 在四个任务上都提高，但最大改善均出现在 SRDD：异构从零点六一九一到零点七六三七，增量零点一四四六；Mono 从零点六二六四到零点七六九七，增量零点一四三三。数学与知识任务的收益也不相同，例如异构在 MMLU-Pro 增加零点〇九，而 Mono 增加零点〇六九。CommonGen-Hard 的改善相对较小。因此学习收益需要结合任务与配置解释，单个平均值不足以说明它发生在哪里。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Mimas 提供了一个必须保留的负向结果。这页只比较同一异构配置初始与演化后的实际得分，两根并列柱对应两个阶段。GSM-Hard 从零点五六下降到零点五四，SRDD 从零点六六五三下降到零点六二六六；MMLU-Pro 从零点五七上升到零点六三，CommonGen-Hard 从零点七一三九上升到零点七三三三。因此平均值略有改善，并不意味着每个任务都受益。纵轴表示实际得分，柱顶为两位小数的显示值，底层数据保留论文精度。这也提醒我们进一步分析底座能力与优化条件。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这页固定在演化后阶段，比较异构相对 Mono 的差值。Mimas 和 Titan 的平均差分别是正零点〇一七七与正零点〇二七八，但逐任务并不均匀。两组在 GSM-Hard 和 MMLU-Pro 上的差值为正，在 SRDD 和 CommonGen-Hard 上则为负，Mimas 的 SRDD 差距尤其明显，为负零点〇九八三。这表明模型互补是否产生收益，取决于任务和能力空间。这里必须明确比较的性质：它是配置比较，不是隔离了所有因素的因果消融。因此可以报告异构平均优势，但不能把每一项变化都单独归因于异构性本身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性能之外，再看论文的效率证据。这是图二中 Titan 异构配置在四个任务上的原始曲线，同时展示 Token 消耗和智能体激活数量随学习过程的变化。多数情况下，Token 消耗呈下降趋势，说明性能改善可以与推理开销降低同时出现。论文把它解释为逐步偏好更节约 Token 的行为，以及在适当时机终止。原图中的 LOWESS 曲线只是一种趋势平滑，不是额外实验，也不能据此从像素估出论文未报告的精确节省百分比。我们保留原始坐标和图例，重点观察变化方向及不同任务之间的差异。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降本的方式还依赖基础模型能力。论文指出，Titan 通常能通过缩短推理路径提高效率，而 Mimas 的激活数量相对稳定，异构配置可以更多依赖选择较低成本的智能体。这里从图八选取两个完整的 GSM-Hard 面板，左侧是 Titan Mono，右侧是 Mimas Mono，并明确保留条件标签。这两个面板还提醒我们不要把一般解释说成没有例外的定律：Titan Mono 在这个任务上的激活数也相对稳定，Mimas Mono 在部分任务上并没有持续下降的开销趋势。由于 Mono 固定底座，它也缺少异构配置在模型成本之间切换的空间。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图三进一步比较成本系数兰姆达的作用，条件固定为 Titan Mono、MMLU-Pro，对照零点一与零点〇三。较大的系数意味着策略更重视计算开销，因而 Token 消耗和智能体激活数量的趋势会随之变化。这与前面奖励函数的设计一致，说明质量和成本之间的偏好可以通过目标参数调节。但是，这个实验的条件是明确的，不能由它推出任意任务都能在完全不损失质量的情况下减少成本。图中保留论文原始曲线，我们不补造采样点，也不把一个任务上的对照外推到整个任务集合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论文不仅报告分数，还尝试解释学习后协作结构的变化。紧凑性表现为多条分离路径逐渐集中为少数有效反馈路径，某些例子还会从双智能体通信凝聚为单智能体持续推理。循环性则来自重复激活、回溯和跨分支边，既可以是自环，也可以是多节点环。这些关系说明结构由状态驱动的选择逐步产生，并非预先固定的组织模板。这里使用第四张新增插图，依据图四与图五的分析概念进行说明；它不是新的实验样本，不能用来替代论文的定量证据。下一页再看论文实际报告的结构统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根据图六报告的均值重绘，可以看到图密度从一点〇八二九升到一点四四七九。长度为一、二、三、四的环，其平均数量分别从零点五二、一点一七、零点一七、零，升到零点六二、一点四、零点三八、零点〇六。这些数值支持论文关于结构更紧凑、循环更多的经验观察。密度这里必须沿用原文口径，因为报告值超过一，不能把它解释为标准简单图零到一区间的归一化密度。还有一层证据边界：结构统计与性能变化相关，并不等于已经证明增加循环本身会导致性能提高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附录还用性能与成本的比值综合考察学习过程。多数任务的比值改善，但也有先下降后回升，以及没有明显改善的曲线。这里保留图九的两个 SRDD 面板，分别对应 Titan Mono 和 Mimas Mono，帮助观察不同条件下的趋势。论文解释，只有二百个优化样本可能不足以充分探索，较弱底座也可能需要更长的协作或者不同超参数。这些属于作者对局限的讨论，不能当作已完成的额外验证。比值还可能掩盖分子与分母各自的变化，所以最终判断仍要回到质量和 Token 两项分别检查。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图七检验了探索宽度和深度的影响，对照包括宽四深二、宽四深三，以及宽六深二。它显示增加探索预算并不保证更好的准确率：更深或更宽的搜索可能增加冗余，消耗更多 Token，却降低任务表现。因此不能把更多探索当成普遍有效的解决方法。还有一个复现时需要留意的来源差异：图七图注把宽四深二称为默认设置，而正文实现段写的是轨迹长度四、并行探索最多三。本汇报分别保留两处来源的表述，不自行把它们解释成同一组参数，也不以未经验证的推测消除差异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最后把推理效率放回完整计算资源背景。附录报告使用八张 NVIDIA A800，单卡峰值显存约二十八点八至七十八点四 GB，训练时长为二至六小时。不过在线优化和推理交错进行，训练 GPU 小时很难被完全隔离；与搜索式基线相比，计算范式也不同，因此不宜直接据此对比全流程成本。方法还受到终态奖励较粗粒度、智能体和工具池固定，以及偶发误协调或欺骗性共识等问题限制。我们能支持的结论是一些配置中的推理 Token 减少，而不是已经证明全生命周期成本必然更低。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篇论文把动态选择、成本反馈和结构演化连接成一条完整论证。中心编排器让协作依任务状态变化，强化学习通过质量与成本反馈优化选择，实验中多个配置取得平均收益，并观察到更紧凑和含循环的推理结构。值得带走的是对编排本身进行学习的思路，同时保留已经看到的边界：各任务收益不同，训练成本不能忽略，能力池仍然固定，结构观察也不能直接升级为因果结论。页面给出了论文代码仓库，可以作为进一步复现和阅读实现的入口。讨论可以围绕状态表示、奖励粒度与可变智能体池这些论文尚未充分解决的问题展开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volving_orchestr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10/16/2026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volving_orchestra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10/16/2026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chart" Target="../charts/char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BMB/ChatDev/tree/puppeteer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DFECF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over-title"/>
          <p:cNvGrpSpPr/>
          <p:nvPr/>
        </p:nvGrpSpPr>
        <p:grpSpPr>
          <a:xfrm>
            <a:off x="514350" y="711518"/>
            <a:ext cx="6438900" cy="1806130"/>
            <a:chOff x="514350" y="711518"/>
            <a:chExt cx="6438900" cy="1806130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711518"/>
              <a:ext cx="2132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NEURIPS 2025 · 论文精读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4350" y="1247775"/>
              <a:ext cx="64389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让协作结构随任务演化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0832" y="210693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由动态编排走向更紧凑的集体推理</a:t>
              </a:r>
            </a:p>
          </p:txBody>
        </p:sp>
      </p:grpSp>
      <p:grpSp>
        <p:nvGrpSpPr>
          <p:cNvPr id="10" name="paper-identity"/>
          <p:cNvGrpSpPr/>
          <p:nvPr/>
        </p:nvGrpSpPr>
        <p:grpSpPr>
          <a:xfrm>
            <a:off x="522732" y="3373755"/>
            <a:ext cx="4560951" cy="1659446"/>
            <a:chOff x="522732" y="3373755"/>
            <a:chExt cx="4560951" cy="1659446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3373755"/>
              <a:ext cx="35669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Multi-Agent Collaboration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2732" y="3773805"/>
              <a:ext cx="37137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via Evolving Orchestration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6542" y="4407218"/>
              <a:ext cx="4109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Yufan Dang · Xueheng Luo · Jingru Fan · et al.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6542" y="47691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中心策略按任务状态选择智能体，并由强化学习持续优化</a:t>
              </a:r>
            </a:p>
          </p:txBody>
        </p:sp>
      </p:grpSp>
      <p:grpSp>
        <p:nvGrpSpPr>
          <p:cNvPr id="24" name="orchestration-motif"/>
          <p:cNvGrpSpPr/>
          <p:nvPr/>
        </p:nvGrpSpPr>
        <p:grpSpPr>
          <a:xfrm>
            <a:off x="7734300" y="3181350"/>
            <a:ext cx="3562350" cy="2419350"/>
            <a:chOff x="7734300" y="3181350"/>
            <a:chExt cx="3562350" cy="2419350"/>
          </a:xfrm>
        </p:grpSpPr>
        <p:grpSp>
          <p:nvGrpSpPr>
            <p:cNvPr id="14" name="Group 14"/>
            <p:cNvGrpSpPr/>
            <p:nvPr/>
          </p:nvGrpSpPr>
          <p:grpSpPr>
            <a:xfrm>
              <a:off x="8153400" y="3962400"/>
              <a:ext cx="2724150" cy="971550"/>
              <a:chOff x="8153400" y="3962400"/>
              <a:chExt cx="2724150" cy="971550"/>
            </a:xfrm>
          </p:grpSpPr>
          <p:sp>
            <p:nvSpPr>
              <p:cNvPr id="11" name="Line 11"/>
              <p:cNvSpPr/>
              <p:nvPr/>
            </p:nvSpPr>
            <p:spPr>
              <a:xfrm flipH="1">
                <a:off x="8153400" y="3962400"/>
                <a:ext cx="1352550" cy="85725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505950" y="3962400"/>
                <a:ext cx="19050" cy="97155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9505950" y="3962400"/>
                <a:ext cx="1371600" cy="85725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sp>
          <p:nvSpPr>
            <p:cNvPr id="15" name="Ellipse 15"/>
            <p:cNvSpPr/>
            <p:nvPr/>
          </p:nvSpPr>
          <p:spPr>
            <a:xfrm>
              <a:off x="9001125" y="3181350"/>
              <a:ext cx="1009650" cy="1009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734300" y="4914900"/>
              <a:ext cx="3562350" cy="685800"/>
              <a:chOff x="7734300" y="4914900"/>
              <a:chExt cx="3562350" cy="6858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734300" y="4914900"/>
                <a:ext cx="571500" cy="571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9239250" y="5029200"/>
                <a:ext cx="571500" cy="571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10725150" y="4914900"/>
                <a:ext cx="571500" cy="571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913237" y="51120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18187" y="52263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a₂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904087" y="51120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a₃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9151506" y="3558540"/>
              <a:ext cx="708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 π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7304" y="6318885"/>
            <a:ext cx="11137392" cy="234696"/>
            <a:chOff x="527304" y="6318885"/>
            <a:chExt cx="111373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527304" y="6318885"/>
              <a:ext cx="3814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来源：论文 p.1，Abstract · 新增结构图为概念示意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11332" y="63188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26</a:t>
              </a:r>
            </a:p>
          </p:txBody>
        </p:sp>
      </p:grpSp>
      <p:pic>
        <p:nvPicPr>
          <p:cNvPr id="28" name="Imag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5292"/>
            <a:ext cx="7648956" cy="945643"/>
            <a:chOff x="517398" y="435292"/>
            <a:chExt cx="7648956" cy="945643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35292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研究问题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64858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静态结构难以适应不断变化的推理状态</a:t>
              </a:r>
            </a:p>
          </p:txBody>
        </p:sp>
      </p:grpSp>
      <p:grpSp>
        <p:nvGrpSpPr>
          <p:cNvPr id="6" name="comparison-illustration"/>
          <p:cNvGrpSpPr/>
          <p:nvPr/>
        </p:nvGrpSpPr>
        <p:grpSpPr>
          <a:xfrm>
            <a:off x="533400" y="1581150"/>
            <a:ext cx="6858000" cy="4572000"/>
            <a:chOff x="533400" y="1581150"/>
            <a:chExt cx="6858000" cy="4572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1581150"/>
              <a:ext cx="6858000" cy="4572000"/>
            </a:xfrm>
            <a:prstGeom prst="rect">
              <a:avLst/>
            </a:prstGeom>
          </p:spPr>
        </p:pic>
      </p:grpSp>
      <p:grpSp>
        <p:nvGrpSpPr>
          <p:cNvPr id="15" name="problem-argument"/>
          <p:cNvGrpSpPr/>
          <p:nvPr/>
        </p:nvGrpSpPr>
        <p:grpSpPr>
          <a:xfrm>
            <a:off x="7837932" y="1783080"/>
            <a:ext cx="3782568" cy="3887343"/>
            <a:chOff x="7837932" y="1783080"/>
            <a:chExt cx="3782568" cy="3887343"/>
          </a:xfrm>
        </p:grpSpPr>
        <p:sp>
          <p:nvSpPr>
            <p:cNvPr id="7" name="TextBox 7"/>
            <p:cNvSpPr txBox="1"/>
            <p:nvPr/>
          </p:nvSpPr>
          <p:spPr>
            <a:xfrm>
              <a:off x="7837932" y="1783080"/>
              <a:ext cx="2181606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从“有多少智能体”</a:t>
              </a:r>
              <a:br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到“下一步调用谁”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848600" y="2676525"/>
              <a:ext cx="3771900" cy="9525"/>
            </a:xfrm>
            <a:custGeom>
              <a:avLst/>
              <a:gdLst/>
              <a:ahLst/>
              <a:cxnLst/>
              <a:rect l="l" t="t" r="r" b="b"/>
              <a:pathLst>
                <a:path w="3771900" h="9525">
                  <a:moveTo>
                    <a:pt x="0" y="0"/>
                  </a:moveTo>
                  <a:lnTo>
                    <a:pt x="3771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39456" y="29108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预设拓扑缺乏灵活性，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456" y="32537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规模扩大易增加协调开销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9456" y="3596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与冗余计算。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39456" y="42824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动态编排依据当前状态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39456" y="46253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选择下一位智能体。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37932" y="525970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能否兼顾效果与效率？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6356985"/>
              <a:ext cx="4357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来源：p.2，§1 · 插图：依据论文绘制的示意图，非实验数据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26</a:t>
              </a:r>
            </a:p>
          </p:txBody>
        </p:sp>
      </p:grp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6752844" cy="945642"/>
            <a:chOff x="517398" y="444818"/>
            <a:chExt cx="6752844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核心贡献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两项创新：动态编排与自适应演化</a:t>
              </a:r>
            </a:p>
          </p:txBody>
        </p:sp>
      </p:grpSp>
      <p:grpSp>
        <p:nvGrpSpPr>
          <p:cNvPr id="9" name="within-episode"/>
          <p:cNvGrpSpPr/>
          <p:nvPr/>
        </p:nvGrpSpPr>
        <p:grpSpPr>
          <a:xfrm>
            <a:off x="514350" y="2169795"/>
            <a:ext cx="3103626" cy="2398014"/>
            <a:chOff x="514350" y="2169795"/>
            <a:chExt cx="3103626" cy="239801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169795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208" y="3198495"/>
              <a:ext cx="30967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一次推理内部：选择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38728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把协作转化为顺序决策，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256" y="42157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随任务进展调整激活对象。</a:t>
              </a:r>
            </a:p>
          </p:txBody>
        </p:sp>
      </p:grpSp>
      <p:grpSp>
        <p:nvGrpSpPr>
          <p:cNvPr id="14" name="across-trajectory"/>
          <p:cNvGrpSpPr/>
          <p:nvPr/>
        </p:nvGrpSpPr>
        <p:grpSpPr>
          <a:xfrm>
            <a:off x="6438900" y="2169795"/>
            <a:ext cx="3103626" cy="2398014"/>
            <a:chOff x="6438900" y="2169795"/>
            <a:chExt cx="3103626" cy="2398014"/>
          </a:xfrm>
        </p:grpSpPr>
        <p:sp>
          <p:nvSpPr>
            <p:cNvPr id="10" name="TextBox 10"/>
            <p:cNvSpPr txBox="1"/>
            <p:nvPr/>
          </p:nvSpPr>
          <p:spPr>
            <a:xfrm>
              <a:off x="6438900" y="2169795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45758" y="3198495"/>
              <a:ext cx="30967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多条轨迹之间：学习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48806" y="38728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利用已完成轨迹的反馈，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48806" y="42157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更新策略与调用偏好。</a:t>
              </a:r>
            </a:p>
          </p:txBody>
        </p:sp>
      </p:grpSp>
      <p:grpSp>
        <p:nvGrpSpPr>
          <p:cNvPr id="17" name="evidence-route"/>
          <p:cNvGrpSpPr/>
          <p:nvPr/>
        </p:nvGrpSpPr>
        <p:grpSpPr>
          <a:xfrm>
            <a:off x="522732" y="5305425"/>
            <a:ext cx="11135868" cy="631698"/>
            <a:chOff x="522732" y="5305425"/>
            <a:chExt cx="11135868" cy="631698"/>
          </a:xfrm>
        </p:grpSpPr>
        <p:sp>
          <p:nvSpPr>
            <p:cNvPr id="15" name="Line 15"/>
            <p:cNvSpPr/>
            <p:nvPr/>
          </p:nvSpPr>
          <p:spPr>
            <a:xfrm>
              <a:off x="533400" y="53054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" y="5526405"/>
              <a:ext cx="62690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验证路径：协作效果　/　推理效率　/　拓扑演化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527304" y="6356985"/>
              <a:ext cx="3760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来源：pp.2–4，§§1–2 · 以上为论文贡献的汇报整理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26</a:t>
              </a:r>
            </a:p>
          </p:txBody>
        </p:sp>
      </p:grpSp>
      <p:pic>
        <p:nvPicPr>
          <p:cNvPr id="21" name="Imag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8097012" cy="945642"/>
            <a:chOff x="517398" y="444818"/>
            <a:chExt cx="8097012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动作空间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80970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智能体由模型、推理模式与工具共同定义</a:t>
              </a:r>
            </a:p>
          </p:txBody>
        </p:sp>
      </p:grpSp>
      <p:grpSp>
        <p:nvGrpSpPr>
          <p:cNvPr id="16" name="agent-definition"/>
          <p:cNvGrpSpPr/>
          <p:nvPr/>
        </p:nvGrpSpPr>
        <p:grpSpPr>
          <a:xfrm>
            <a:off x="521208" y="2638425"/>
            <a:ext cx="2202180" cy="1596009"/>
            <a:chOff x="521208" y="2638425"/>
            <a:chExt cx="2202180" cy="1596009"/>
          </a:xfrm>
        </p:grpSpPr>
        <p:grpSp>
          <p:nvGrpSpPr>
            <p:cNvPr id="13" name="Group 13"/>
            <p:cNvGrpSpPr/>
            <p:nvPr/>
          </p:nvGrpSpPr>
          <p:grpSpPr>
            <a:xfrm>
              <a:off x="590550" y="2638425"/>
              <a:ext cx="342900" cy="361950"/>
              <a:chOff x="590550" y="2638425"/>
              <a:chExt cx="342900" cy="3619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47700" y="263842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62000" y="2638425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0" y="0"/>
                    </a:moveTo>
                    <a:cubicBezTo>
                      <a:pt x="25394" y="6344"/>
                      <a:pt x="38100" y="44444"/>
                      <a:pt x="38100" y="114300"/>
                    </a:cubicBezTo>
                    <a:cubicBezTo>
                      <a:pt x="38100" y="184156"/>
                      <a:pt x="25394" y="222256"/>
                      <a:pt x="0" y="2286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23900" y="2638425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100" y="0"/>
                    </a:moveTo>
                    <a:cubicBezTo>
                      <a:pt x="12706" y="6344"/>
                      <a:pt x="0" y="44444"/>
                      <a:pt x="0" y="114300"/>
                    </a:cubicBezTo>
                    <a:cubicBezTo>
                      <a:pt x="0" y="184156"/>
                      <a:pt x="12706" y="222256"/>
                      <a:pt x="38100" y="2286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7700" y="275272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90550" y="29622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0100" y="29622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23900" y="29241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2000" y="286702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521208" y="3303270"/>
              <a:ext cx="20759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= (m, r, t)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4256" y="3882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策略选择的完整单位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3238500" y="2047875"/>
            <a:ext cx="457200" cy="3238500"/>
          </a:xfrm>
          <a:prstGeom prst="leftBrace">
            <a:avLst/>
          </a:prstGeom>
          <a:noFill/>
          <a:ln w="19050">
            <a:solidFill>
              <a:schemeClr val="accent1"/>
            </a:solidFill>
          </a:ln>
        </p:spPr>
      </p:sp>
      <p:grpSp>
        <p:nvGrpSpPr>
          <p:cNvPr id="20" name="model"/>
          <p:cNvGrpSpPr/>
          <p:nvPr/>
        </p:nvGrpSpPr>
        <p:grpSpPr>
          <a:xfrm>
            <a:off x="3989832" y="2068830"/>
            <a:ext cx="4689653" cy="803529"/>
            <a:chOff x="3989832" y="2068830"/>
            <a:chExt cx="4689653" cy="803529"/>
          </a:xfrm>
        </p:grpSpPr>
        <p:sp>
          <p:nvSpPr>
            <p:cNvPr id="18" name="TextBox 18"/>
            <p:cNvSpPr txBox="1"/>
            <p:nvPr/>
          </p:nvSpPr>
          <p:spPr>
            <a:xfrm>
              <a:off x="3989832" y="2068830"/>
              <a:ext cx="16892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 / 基础模型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1356" y="2520315"/>
              <a:ext cx="4688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能力空间包含不同规模、开放或闭源的 LLM</a:t>
              </a:r>
            </a:p>
          </p:txBody>
        </p:sp>
      </p:grpSp>
      <p:grpSp>
        <p:nvGrpSpPr>
          <p:cNvPr id="23" name="reasoning"/>
          <p:cNvGrpSpPr/>
          <p:nvPr/>
        </p:nvGrpSpPr>
        <p:grpSpPr>
          <a:xfrm>
            <a:off x="3989832" y="3288030"/>
            <a:ext cx="4139184" cy="803529"/>
            <a:chOff x="3989832" y="3288030"/>
            <a:chExt cx="4139184" cy="803529"/>
          </a:xfrm>
        </p:grpSpPr>
        <p:sp>
          <p:nvSpPr>
            <p:cNvPr id="21" name="TextBox 21"/>
            <p:cNvSpPr txBox="1"/>
            <p:nvPr/>
          </p:nvSpPr>
          <p:spPr>
            <a:xfrm>
              <a:off x="3989832" y="3288030"/>
              <a:ext cx="16327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 / 推理模式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1356" y="373951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分解、反思、批评、修改、总结与终止</a:t>
              </a:r>
            </a:p>
          </p:txBody>
        </p:sp>
      </p:grpSp>
      <p:grpSp>
        <p:nvGrpSpPr>
          <p:cNvPr id="26" name="tools"/>
          <p:cNvGrpSpPr/>
          <p:nvPr/>
        </p:nvGrpSpPr>
        <p:grpSpPr>
          <a:xfrm>
            <a:off x="3989832" y="4507230"/>
            <a:ext cx="4139184" cy="803529"/>
            <a:chOff x="3989832" y="4507230"/>
            <a:chExt cx="4139184" cy="803529"/>
          </a:xfrm>
        </p:grpSpPr>
        <p:sp>
          <p:nvSpPr>
            <p:cNvPr id="24" name="TextBox 24"/>
            <p:cNvSpPr txBox="1"/>
            <p:nvPr/>
          </p:nvSpPr>
          <p:spPr>
            <a:xfrm>
              <a:off x="3989832" y="4507230"/>
              <a:ext cx="16327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 / 外部工具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91356" y="495871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网页与学术搜索、代码解释、文件读取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522732" y="5688330"/>
            <a:ext cx="6523482" cy="410718"/>
            <a:chOff x="522732" y="5688330"/>
            <a:chExt cx="6523482" cy="410718"/>
          </a:xfrm>
        </p:grpSpPr>
        <p:sp>
          <p:nvSpPr>
            <p:cNvPr id="27" name="TextBox 27"/>
            <p:cNvSpPr txBox="1"/>
            <p:nvPr/>
          </p:nvSpPr>
          <p:spPr>
            <a:xfrm>
              <a:off x="522732" y="5688330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异质性同时来自：模型能力、思考方式和外部能力。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527304" y="6356985"/>
              <a:ext cx="2740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来源：pp.2, 5, 29，§2 / Appendix 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26</a:t>
              </a:r>
            </a:p>
          </p:txBody>
        </p:sp>
      </p:grpSp>
      <p:pic>
        <p:nvPicPr>
          <p:cNvPr id="32" name="Imag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8097012" cy="945642"/>
            <a:chOff x="517398" y="444818"/>
            <a:chExt cx="8097012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单步机制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80970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编排器每步观察状态并选择下一位智能体</a:t>
              </a:r>
            </a:p>
          </p:txBody>
        </p:sp>
      </p:grpSp>
      <p:grpSp>
        <p:nvGrpSpPr>
          <p:cNvPr id="6" name="state-illustration"/>
          <p:cNvGrpSpPr/>
          <p:nvPr/>
        </p:nvGrpSpPr>
        <p:grpSpPr>
          <a:xfrm>
            <a:off x="533400" y="1562100"/>
            <a:ext cx="6858000" cy="4572000"/>
            <a:chOff x="533400" y="1562100"/>
            <a:chExt cx="6858000" cy="4572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1562100"/>
              <a:ext cx="6858000" cy="4572000"/>
            </a:xfrm>
            <a:prstGeom prst="rect">
              <a:avLst/>
            </a:prstGeom>
          </p:spPr>
        </p:pic>
      </p:grpSp>
      <p:grpSp>
        <p:nvGrpSpPr>
          <p:cNvPr id="15" name="state-process"/>
          <p:cNvGrpSpPr/>
          <p:nvPr/>
        </p:nvGrpSpPr>
        <p:grpSpPr>
          <a:xfrm>
            <a:off x="7837932" y="1878330"/>
            <a:ext cx="2531669" cy="3793045"/>
            <a:chOff x="7837932" y="1878330"/>
            <a:chExt cx="2531669" cy="3793045"/>
          </a:xfrm>
        </p:grpSpPr>
        <p:sp>
          <p:nvSpPr>
            <p:cNvPr id="7" name="TextBox 7"/>
            <p:cNvSpPr txBox="1"/>
            <p:nvPr/>
          </p:nvSpPr>
          <p:spPr>
            <a:xfrm>
              <a:off x="7837932" y="1878330"/>
              <a:ext cx="18730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　选择智能体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39456" y="2339340"/>
              <a:ext cx="1591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aₜ ∼ π(Sₜ, τ)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37932" y="2964180"/>
              <a:ext cx="15903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　生成输出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456" y="3425190"/>
              <a:ext cx="25301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oₜ = fₐₜ(sₜ(aₜ), Sₜ)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7932" y="4050030"/>
              <a:ext cx="21557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　汇总更新状态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39456" y="4511040"/>
              <a:ext cx="2051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Sₜ₊₁ = Φ(Sₜ, oₜ)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41742" y="5131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达到终止条件或预算后，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41742" y="54073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聚合轨迹输出。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6356985"/>
              <a:ext cx="4364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来源：p.3，§2.1，Eqs.1–4 · 插图为依据论文绘制的示意图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26</a:t>
              </a:r>
            </a:p>
          </p:txBody>
        </p:sp>
      </p:grp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7648956" cy="945642"/>
            <a:chOff x="517398" y="444818"/>
            <a:chExt cx="7648956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表示方式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序列展开降低搜索难度，折叠后仍是图</a:t>
              </a:r>
            </a:p>
          </p:txBody>
        </p:sp>
      </p:grpSp>
      <p:grpSp>
        <p:nvGrpSpPr>
          <p:cNvPr id="23" name="unfolded-trajectory"/>
          <p:cNvGrpSpPr/>
          <p:nvPr/>
        </p:nvGrpSpPr>
        <p:grpSpPr>
          <a:xfrm>
            <a:off x="522732" y="1906905"/>
            <a:ext cx="10164318" cy="1293495"/>
            <a:chOff x="522732" y="1906905"/>
            <a:chExt cx="10164318" cy="1293495"/>
          </a:xfrm>
        </p:grpSpPr>
        <p:sp>
          <p:nvSpPr>
            <p:cNvPr id="5" name="TextBox 5"/>
            <p:cNvSpPr txBox="1"/>
            <p:nvPr/>
          </p:nvSpPr>
          <p:spPr>
            <a:xfrm>
              <a:off x="522732" y="190690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执行视角：逐步选择，允许重复激活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152650" y="2867025"/>
              <a:ext cx="7391400" cy="1"/>
              <a:chOff x="2152650" y="2867025"/>
              <a:chExt cx="7391400" cy="1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2152650" y="2867025"/>
                <a:ext cx="9906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4286250" y="2867025"/>
                <a:ext cx="9906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6419850" y="2867025"/>
                <a:ext cx="9906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8553450" y="2867025"/>
                <a:ext cx="99060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009650" y="2533650"/>
              <a:ext cx="9677400" cy="666750"/>
              <a:chOff x="1009650" y="2533650"/>
              <a:chExt cx="9677400" cy="666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009650" y="2533650"/>
                <a:ext cx="11430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143250" y="2533650"/>
                <a:ext cx="11430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276850" y="2533650"/>
                <a:ext cx="11430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410450" y="2533650"/>
                <a:ext cx="11430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544050" y="2533650"/>
                <a:ext cx="1143000" cy="666750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1501597" y="2748915"/>
              <a:ext cx="8865413" cy="352044"/>
              <a:chOff x="1501597" y="2748915"/>
              <a:chExt cx="8865413" cy="35204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501597" y="274891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35197" y="274891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768797" y="274891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902397" y="274891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864090" y="274891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终止</a:t>
                </a:r>
              </a:p>
            </p:txBody>
          </p:sp>
        </p:grpSp>
      </p:grpSp>
      <p:grpSp>
        <p:nvGrpSpPr>
          <p:cNvPr id="37" name="folded-graph"/>
          <p:cNvGrpSpPr/>
          <p:nvPr/>
        </p:nvGrpSpPr>
        <p:grpSpPr>
          <a:xfrm>
            <a:off x="522732" y="3878580"/>
            <a:ext cx="3439668" cy="2055495"/>
            <a:chOff x="522732" y="3878580"/>
            <a:chExt cx="3439668" cy="2055495"/>
          </a:xfrm>
        </p:grpSpPr>
        <p:sp>
          <p:nvSpPr>
            <p:cNvPr id="24" name="TextBox 24"/>
            <p:cNvSpPr txBox="1"/>
            <p:nvPr/>
          </p:nvSpPr>
          <p:spPr>
            <a:xfrm>
              <a:off x="522732" y="387858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交互视角：合并重复身份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657350" y="4743450"/>
              <a:ext cx="1562100" cy="781050"/>
              <a:chOff x="1657350" y="4743450"/>
              <a:chExt cx="1562100" cy="78105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1762125" y="4743450"/>
                <a:ext cx="1457325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26" name="Line 26"/>
              <p:cNvSpPr/>
              <p:nvPr/>
            </p:nvSpPr>
            <p:spPr>
              <a:xfrm flipH="1">
                <a:off x="1762125" y="4981575"/>
                <a:ext cx="1457325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657350" y="5143500"/>
                <a:ext cx="866775" cy="38100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1019175" y="4495800"/>
              <a:ext cx="2943225" cy="1438275"/>
              <a:chOff x="1019175" y="4495800"/>
              <a:chExt cx="2943225" cy="143827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1019175" y="4495800"/>
                <a:ext cx="723900" cy="7239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3238500" y="4495800"/>
                <a:ext cx="723900" cy="7239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581275" y="5324475"/>
                <a:ext cx="609600" cy="6096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1301572" y="4739640"/>
              <a:ext cx="2378431" cy="1123569"/>
              <a:chOff x="1301572" y="4739640"/>
              <a:chExt cx="2378431" cy="1123569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1301572" y="4739640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520897" y="4739640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806522" y="551116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</p:grpSp>
      </p:grpSp>
      <p:grpSp>
        <p:nvGrpSpPr>
          <p:cNvPr id="41" name="graph-reading"/>
          <p:cNvGrpSpPr/>
          <p:nvPr/>
        </p:nvGrpSpPr>
        <p:grpSpPr>
          <a:xfrm>
            <a:off x="6448806" y="4091940"/>
            <a:ext cx="3960038" cy="1760411"/>
            <a:chOff x="6448806" y="4091940"/>
            <a:chExt cx="3960038" cy="1760411"/>
          </a:xfrm>
        </p:grpSpPr>
        <p:sp>
          <p:nvSpPr>
            <p:cNvPr id="38" name="TextBox 38"/>
            <p:cNvSpPr txBox="1"/>
            <p:nvPr/>
          </p:nvSpPr>
          <p:spPr>
            <a:xfrm>
              <a:off x="6448806" y="40919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逐步决策避免穷举完整拓扑空间。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8806" y="4672965"/>
              <a:ext cx="34472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重复激活与跨分支联系，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可在折叠交互图中形成反馈回路。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1092" y="5588318"/>
              <a:ext cx="3957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左图仅解释 A→B→A→C 的折叠关系，非实验样本。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527304" y="6356985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来源：pp.3, 8，§2.1 / §3.3 · 机制示意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26</a:t>
              </a:r>
            </a:p>
          </p:txBody>
        </p:sp>
      </p:grpSp>
      <p:pic>
        <p:nvPicPr>
          <p:cNvPr id="45" name="Imag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8097012" cy="945642"/>
            <a:chOff x="517398" y="444818"/>
            <a:chExt cx="8097012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策略优化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80970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强化学习用完成轨迹的反馈优化后续选择</a:t>
              </a:r>
            </a:p>
          </p:txBody>
        </p:sp>
      </p:grpSp>
      <p:grpSp>
        <p:nvGrpSpPr>
          <p:cNvPr id="6" name="learning-illustration"/>
          <p:cNvGrpSpPr/>
          <p:nvPr/>
        </p:nvGrpSpPr>
        <p:grpSpPr>
          <a:xfrm>
            <a:off x="533400" y="1562100"/>
            <a:ext cx="6858000" cy="4572000"/>
            <a:chOff x="533400" y="1562100"/>
            <a:chExt cx="6858000" cy="4572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1562100"/>
              <a:ext cx="6858000" cy="4572000"/>
            </a:xfrm>
            <a:prstGeom prst="rect">
              <a:avLst/>
            </a:prstGeom>
          </p:spPr>
        </p:pic>
      </p:grpSp>
      <p:grpSp>
        <p:nvGrpSpPr>
          <p:cNvPr id="15" name="policy-learning"/>
          <p:cNvGrpSpPr/>
          <p:nvPr/>
        </p:nvGrpSpPr>
        <p:grpSpPr>
          <a:xfrm>
            <a:off x="7837932" y="1830975"/>
            <a:ext cx="2991612" cy="4040426"/>
            <a:chOff x="7837932" y="1830975"/>
            <a:chExt cx="2991612" cy="4040426"/>
          </a:xfrm>
        </p:grpSpPr>
        <p:grpSp>
          <p:nvGrpSpPr>
            <p:cNvPr id="9" name="Group 9"/>
            <p:cNvGrpSpPr/>
            <p:nvPr/>
          </p:nvGrpSpPr>
          <p:grpSpPr>
            <a:xfrm>
              <a:off x="7924800" y="1830975"/>
              <a:ext cx="304800" cy="319500"/>
              <a:chOff x="7924800" y="1830975"/>
              <a:chExt cx="304800" cy="319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924800" y="1830975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924800" y="2009775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837932" y="2545080"/>
              <a:ext cx="14849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REINFORCE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9456" y="30822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最大化轨迹的期望回报。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39456" y="3758565"/>
              <a:ext cx="20756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质量与成本共同改变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后续调用偏好：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39456" y="4701540"/>
              <a:ext cx="2990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更偏好高贡献、低成本选择；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减少低增益或高成本调用。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41742" y="56073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学习对象：编排策略与剪枝偏好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6356985"/>
              <a:ext cx="4098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来源：p.4，§2.2，Eq.5 · 插图为依据论文绘制的示意图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26</a:t>
              </a:r>
            </a:p>
          </p:txBody>
        </p:sp>
      </p:grp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8626038" cy="945642"/>
            <a:chOff x="517398" y="444818"/>
            <a:chExt cx="8626038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优化目标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86260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奖励同时衡量质量、Token 开销与推理步数</a:t>
              </a:r>
            </a:p>
          </p:txBody>
        </p:sp>
      </p:grpSp>
      <p:sp>
        <p:nvSpPr>
          <p:cNvPr id="5" name="reward-field"/>
          <p:cNvSpPr/>
          <p:nvPr/>
        </p:nvSpPr>
        <p:spPr>
          <a:xfrm>
            <a:off x="533400" y="1733550"/>
            <a:ext cx="7124700" cy="2857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ward-formula"/>
          <p:cNvSpPr txBox="1">
            <a:spLocks noGrp="1"/>
          </p:cNvSpPr>
          <p:nvPr/>
        </p:nvSpPr>
        <p:spPr>
          <a:xfrm>
            <a:off x="838200" y="2095500"/>
            <a:ext cx="6438900" cy="2000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/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 xmlns:m="http://schemas.openxmlformats.org/officeDocument/2006/math">
                  <m:sSub>
                    <m:sSubPr>
                      <m:ctrlPr>
                        <a:rPr lang="zh-CN" sz="2400" dirty="0">
                          <a:solidFill>
                            <a:srgbClr val="072B86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</m:ctrlPr>
                    </m:sSubPr>
                    <m:e>
                      <m:r>
                        <a:rPr lang="zh-CN" sz="2400" dirty="0">
                          <a:solidFill>
                            <a:srgbClr val="072B8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𝑅</m:t>
                      </m:r>
                    </m:e>
                    <m:sub>
                      <m:r>
                        <a:rPr lang="zh-CN" sz="2400" dirty="0">
                          <a:solidFill>
                            <a:srgbClr val="072B8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lang="zh-CN" sz="2400" dirty="0">
                      <a:solidFill>
                        <a:srgbClr val="072B86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d>
                    <m:dPr>
                      <m:begChr m:val="{"/>
                      <m:endChr m:val=""/>
                      <m:ctrlPr>
                        <a:rPr lang="zh-CN" sz="2400" i="1" dirty="0">
                          <a:solidFill>
                            <a:srgbClr val="072B86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</m:ctrlPr>
                    </m:dPr>
                    <m:e>
                      <m:eqArr>
                        <m:eqArrPr>
                          <m:ctrlPr>
                            <a:rPr lang="zh-CN" sz="2400" i="1" dirty="0">
                              <a:solidFill>
                                <a:srgbClr val="072B86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eqArrPr>
                        <m:e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𝑟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𝜆</m:t>
                          </m:r>
                          <m:sSub>
                            <m:sSubPr>
                              <m:ctrlPr>
                                <a:rPr lang="zh-CN" sz="2400" i="1" dirty="0">
                                  <a:solidFill>
                                    <a:srgbClr val="072B86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zh-CN" sz="2400" dirty="0">
                                  <a:solidFill>
                                    <a:srgbClr val="072B8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sz="2400" dirty="0">
                                  <a:solidFill>
                                    <a:srgbClr val="072B8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𝑇</m:t>
                              </m:r>
                            </m:sub>
                          </m:sSub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,&amp;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𝑇</m:t>
                          </m:r>
                        </m:e>
                        <m:e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𝛾</m:t>
                          </m:r>
                          <m:sSub>
                            <m:sSubPr>
                              <m:ctrlPr>
                                <a:rPr lang="zh-CN" sz="2400" i="1" dirty="0">
                                  <a:solidFill>
                                    <a:srgbClr val="072B86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zh-CN" sz="2400" dirty="0">
                                  <a:solidFill>
                                    <a:srgbClr val="072B8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sz="2400" dirty="0">
                                  <a:solidFill>
                                    <a:srgbClr val="072B8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  <m:r>
                                <a:rPr lang="zh-CN" sz="2400" dirty="0">
                                  <a:solidFill>
                                    <a:srgbClr val="072B8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𝜆</m:t>
                          </m:r>
                          <m:sSub>
                            <m:sSubPr>
                              <m:ctrlPr>
                                <a:rPr lang="zh-CN" sz="2400" i="1" dirty="0">
                                  <a:solidFill>
                                    <a:srgbClr val="072B86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zh-CN" sz="2400" dirty="0">
                                  <a:solidFill>
                                    <a:srgbClr val="072B8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sz="2400" dirty="0">
                                  <a:solidFill>
                                    <a:srgbClr val="072B8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,&amp;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2400" dirty="0">
                              <a:solidFill>
                                <a:srgbClr val="072B8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𝑇</m:t>
                          </m:r>
                        </m:e>
                      </m:eqArr>
                    </m:e>
                  </m:d>
                </m:oMath>
              </m:oMathPara>
            </a14:m>
            <a:endParaRPr/>
          </a:p>
        </p:txBody>
      </p:sp>
      <p:grpSp>
        <p:nvGrpSpPr>
          <p:cNvPr id="9" name="step-cost"/>
          <p:cNvGrpSpPr/>
          <p:nvPr/>
        </p:nvGrpSpPr>
        <p:grpSpPr>
          <a:xfrm>
            <a:off x="826008" y="4836795"/>
            <a:ext cx="2962787" cy="806006"/>
            <a:chOff x="826008" y="4836795"/>
            <a:chExt cx="2962787" cy="806006"/>
          </a:xfrm>
        </p:grpSpPr>
        <p:sp>
          <p:nvSpPr>
            <p:cNvPr id="7" name="TextBox 7"/>
            <p:cNvSpPr txBox="1"/>
            <p:nvPr/>
          </p:nvSpPr>
          <p:spPr>
            <a:xfrm>
              <a:off x="826008" y="4836795"/>
              <a:ext cx="29627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Cₜ = F log(1 + t/φ)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1342" y="5378768"/>
              <a:ext cx="278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F：计算开销；t/φ：归一化步因子</a:t>
              </a:r>
            </a:p>
          </p:txBody>
        </p:sp>
      </p:grpSp>
      <p:grpSp>
        <p:nvGrpSpPr>
          <p:cNvPr id="17" name="reward-interpretation"/>
          <p:cNvGrpSpPr/>
          <p:nvPr/>
        </p:nvGrpSpPr>
        <p:grpSpPr>
          <a:xfrm>
            <a:off x="8104632" y="1964055"/>
            <a:ext cx="2927604" cy="3745420"/>
            <a:chOff x="8104632" y="1964055"/>
            <a:chExt cx="2927604" cy="3745420"/>
          </a:xfrm>
        </p:grpSpPr>
        <p:sp>
          <p:nvSpPr>
            <p:cNvPr id="10" name="TextBox 10"/>
            <p:cNvSpPr txBox="1"/>
            <p:nvPr/>
          </p:nvSpPr>
          <p:spPr>
            <a:xfrm>
              <a:off x="8104632" y="1964055"/>
              <a:ext cx="15903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r：终态质量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6156" y="24155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正确性或开放任务质量分。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04632" y="3097530"/>
              <a:ext cx="21557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λ：成本惩罚强度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06156" y="3549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越大越重视效率。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4632" y="4231005"/>
              <a:ext cx="21557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γ：未来回报折扣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06156" y="46824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将后续回报传回早期决策。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08442" y="5445442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λ=0 时不再显式惩罚计算开销。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527304" y="6356985"/>
              <a:ext cx="4207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来源：p.4，Eq.6；p.7，§3.2 · 终态分支中的成本为 C_T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26</a:t>
              </a:r>
            </a:p>
          </p:txBody>
        </p:sp>
      </p:grpSp>
      <p:pic>
        <p:nvPicPr>
          <p:cNvPr id="21" name="Imag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6752844" cy="945642"/>
            <a:chOff x="517398" y="444818"/>
            <a:chExt cx="6752844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/ 评测设计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四个任务覆盖闭域推理与开放生成</a:t>
              </a:r>
            </a:p>
          </p:txBody>
        </p:sp>
      </p:grpSp>
      <p:graphicFrame>
        <p:nvGraphicFramePr>
          <p:cNvPr id="5" name="benchmarks"/>
          <p:cNvGraphicFramePr>
            <a:graphicFrameLocks noGrp="1"/>
          </p:cNvGraphicFramePr>
          <p:nvPr/>
        </p:nvGraphicFramePr>
        <p:xfrm>
          <a:off x="533400" y="1781175"/>
          <a:ext cx="11125200" cy="37147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基准</a:t>
                      </a:r>
                    </a:p>
                  </a:txBody>
                  <a:tcPr marL="152400" marR="152400" marT="116205" marB="116205" anchor="ctr"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检验能力</a:t>
                      </a:r>
                    </a:p>
                  </a:txBody>
                  <a:tcPr marL="152400" marR="152400" marT="116205" marB="116205" anchor="ctr"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评估指标</a:t>
                      </a:r>
                    </a:p>
                  </a:txBody>
                  <a:tcPr marL="152400" marR="152400" marT="116205" marB="116205" anchor="ctr"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GSM-Hard</a:t>
                      </a:r>
                    </a:p>
                  </a:txBody>
                  <a:tcPr marL="152400" marR="152400" marT="152400" marB="152400" anchor="ctr"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大数、多步算术</a:t>
                      </a:r>
                    </a:p>
                  </a:txBody>
                  <a:tcPr marL="152400" marR="152400" marT="152400" marB="152400" anchor="ctr"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准确率</a:t>
                      </a:r>
                    </a:p>
                  </a:txBody>
                  <a:tcPr marL="152400" marR="152400" marT="152400" marB="152400" anchor="ctr"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MMLU-Pro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多学科知识推理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准确率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SRDD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软件需求实现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完整性、可执行性、一致性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CommonGen-Hard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概念约束生成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语法、相关性、逻辑与覆盖综合指标</a:t>
                      </a:r>
                    </a:p>
                  </a:txBody>
                  <a:tcPr marL="152400" marR="152400" marT="152400" marB="1524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metrics-caveat"/>
          <p:cNvGrpSpPr/>
          <p:nvPr/>
        </p:nvGrpSpPr>
        <p:grpSpPr>
          <a:xfrm>
            <a:off x="522732" y="5764530"/>
            <a:ext cx="7506538" cy="410718"/>
            <a:chOff x="522732" y="5764530"/>
            <a:chExt cx="750653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5764530"/>
              <a:ext cx="75065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跨任务 AVG 是论文的综合平均分，不能统一称为“准确率”。</a:t>
              </a:r>
            </a:p>
          </p:txBody>
        </p:sp>
      </p:grpSp>
      <p:grpSp>
        <p:nvGrpSpPr>
          <p:cNvPr id="10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6356985"/>
              <a:ext cx="322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来源：pp.4–5，§3，Datasets and Metrics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26</a:t>
              </a:r>
            </a:p>
          </p:txBody>
        </p:sp>
      </p:grp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8343443" cy="945642"/>
            <a:chOff x="517398" y="444818"/>
            <a:chExt cx="8343443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/ 比较条件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83434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两个模型子空间与同构/异构配置分开比较</a:t>
              </a:r>
            </a:p>
          </p:txBody>
        </p:sp>
      </p:grpSp>
      <p:grpSp>
        <p:nvGrpSpPr>
          <p:cNvPr id="9" name="mimas-space"/>
          <p:cNvGrpSpPr/>
          <p:nvPr/>
        </p:nvGrpSpPr>
        <p:grpSpPr>
          <a:xfrm>
            <a:off x="533400" y="1800225"/>
            <a:ext cx="5238750" cy="1981200"/>
            <a:chOff x="533400" y="1800225"/>
            <a:chExt cx="5238750" cy="1981200"/>
          </a:xfrm>
        </p:grpSpPr>
        <p:sp>
          <p:nvSpPr>
            <p:cNvPr id="5" name="Rectangle 5"/>
            <p:cNvSpPr/>
            <p:nvPr/>
          </p:nvSpPr>
          <p:spPr>
            <a:xfrm>
              <a:off x="533400" y="1800225"/>
              <a:ext cx="5238750" cy="198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808" y="2017395"/>
              <a:ext cx="10568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Mimas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2558415"/>
              <a:ext cx="2228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主要为 3B–14B 模型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3063240"/>
              <a:ext cx="24675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Mono：Llama-3.1-8B</a:t>
              </a:r>
            </a:p>
          </p:txBody>
        </p:sp>
      </p:grpSp>
      <p:grpSp>
        <p:nvGrpSpPr>
          <p:cNvPr id="14" name="titan-space"/>
          <p:cNvGrpSpPr/>
          <p:nvPr/>
        </p:nvGrpSpPr>
        <p:grpSpPr>
          <a:xfrm>
            <a:off x="6419850" y="1800225"/>
            <a:ext cx="5238750" cy="1981200"/>
            <a:chOff x="6419850" y="1800225"/>
            <a:chExt cx="5238750" cy="1981200"/>
          </a:xfrm>
        </p:grpSpPr>
        <p:sp>
          <p:nvSpPr>
            <p:cNvPr id="10" name="Rectangle 10"/>
            <p:cNvSpPr/>
            <p:nvPr/>
          </p:nvSpPr>
          <p:spPr>
            <a:xfrm>
              <a:off x="6419850" y="1800225"/>
              <a:ext cx="5238750" cy="198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36258" y="2017395"/>
              <a:ext cx="9144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Titan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39306" y="25584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更强的开放或闭源模型集合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39306" y="3063240"/>
              <a:ext cx="27390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Mono：Llama-3.1-405B</a:t>
              </a:r>
            </a:p>
          </p:txBody>
        </p:sp>
      </p:grpSp>
      <p:grpSp>
        <p:nvGrpSpPr>
          <p:cNvPr id="18" name="baseline-set"/>
          <p:cNvGrpSpPr/>
          <p:nvPr/>
        </p:nvGrpSpPr>
        <p:grpSpPr>
          <a:xfrm>
            <a:off x="522732" y="4202430"/>
            <a:ext cx="7694343" cy="745045"/>
            <a:chOff x="522732" y="4202430"/>
            <a:chExt cx="7694343" cy="745045"/>
          </a:xfrm>
        </p:grpSpPr>
        <p:sp>
          <p:nvSpPr>
            <p:cNvPr id="15" name="TextBox 15"/>
            <p:cNvSpPr txBox="1"/>
            <p:nvPr/>
          </p:nvSpPr>
          <p:spPr>
            <a:xfrm>
              <a:off x="522732" y="420243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81556" y="4234815"/>
              <a:ext cx="585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纯模型 / Self-Refine / AFlow / MacNet / EvoAgent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83842" y="4683442"/>
              <a:ext cx="6433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异构 Puppeteer 混合底座；Mono 固定基础模型，但保留多种推理模式与工具。</a:t>
              </a:r>
            </a:p>
          </p:txBody>
        </p:sp>
      </p:grpSp>
      <p:grpSp>
        <p:nvGrpSpPr>
          <p:cNvPr id="21" name="implementation-settings"/>
          <p:cNvGrpSpPr/>
          <p:nvPr/>
        </p:nvGrpSpPr>
        <p:grpSpPr>
          <a:xfrm>
            <a:off x="524256" y="5286375"/>
            <a:ext cx="11134344" cy="576834"/>
            <a:chOff x="524256" y="5286375"/>
            <a:chExt cx="11134344" cy="576834"/>
          </a:xfrm>
        </p:grpSpPr>
        <p:sp>
          <p:nvSpPr>
            <p:cNvPr id="19" name="Line 19"/>
            <p:cNvSpPr/>
            <p:nvPr/>
          </p:nvSpPr>
          <p:spPr>
            <a:xfrm>
              <a:off x="533400" y="5286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4256" y="5511165"/>
              <a:ext cx="96503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正文实现：episode length = 4　/　parallel exploration ≤ 3　/　λ = 0.1　/　γ = 0.99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356985"/>
              <a:ext cx="4232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来源：pp.5–6，§3 / Table 1 · 比较需在同一子空间内进行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26</a:t>
              </a:r>
            </a:p>
          </p:txBody>
        </p:sp>
      </p:grpSp>
      <p:pic>
        <p:nvPicPr>
          <p:cNvPr id="25" name="Imag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9746818" cy="945642"/>
            <a:chOff x="517398" y="444818"/>
            <a:chExt cx="9746818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效果证据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97468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演化后 Puppeteer 在两个子空间取得最高平均分</a:t>
              </a:r>
            </a:p>
          </p:txBody>
        </p:sp>
      </p:grpSp>
      <p:grpSp>
        <p:nvGrpSpPr>
          <p:cNvPr id="7" name="panel-heads"/>
          <p:cNvGrpSpPr/>
          <p:nvPr/>
        </p:nvGrpSpPr>
        <p:grpSpPr>
          <a:xfrm>
            <a:off x="522732" y="1640205"/>
            <a:ext cx="7486612" cy="410718"/>
            <a:chOff x="522732" y="1640205"/>
            <a:chExt cx="7486612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22732" y="1640205"/>
              <a:ext cx="16783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Mimas / AVG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47282" y="1640205"/>
              <a:ext cx="15620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Titan / AVG</a:t>
              </a:r>
            </a:p>
          </p:txBody>
        </p:sp>
      </p:grpSp>
      <p:graphicFrame>
        <p:nvGraphicFramePr>
          <p:cNvPr id="8" name="mimas-average"/>
          <p:cNvGraphicFramePr>
            <a:graphicFrameLocks noGrp="1"/>
          </p:cNvGraphicFramePr>
          <p:nvPr/>
        </p:nvGraphicFramePr>
        <p:xfrm>
          <a:off x="533400" y="2047875"/>
          <a:ext cx="5257800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itan-average"/>
          <p:cNvGraphicFramePr>
            <a:graphicFrameLocks noGrp="1"/>
          </p:cNvGraphicFramePr>
          <p:nvPr/>
        </p:nvGraphicFramePr>
        <p:xfrm>
          <a:off x="6457950" y="2047875"/>
          <a:ext cx="5200650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footer"/>
          <p:cNvGrpSpPr/>
          <p:nvPr/>
        </p:nvGrpSpPr>
        <p:grpSpPr>
          <a:xfrm>
            <a:off x="527304" y="6261735"/>
            <a:ext cx="11137392" cy="329946"/>
            <a:chOff x="527304" y="6261735"/>
            <a:chExt cx="11137392" cy="329946"/>
          </a:xfrm>
        </p:grpSpPr>
        <p:sp>
          <p:nvSpPr>
            <p:cNvPr id="10" name="TextBox 10"/>
            <p:cNvSpPr txBox="1"/>
            <p:nvPr/>
          </p:nvSpPr>
          <p:spPr>
            <a:xfrm>
              <a:off x="527304" y="6261735"/>
              <a:ext cx="6108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来源：p.6，Table 1 · Puppeteer 两种配置均为 evolved 阶段；AVG 为跨任务平均分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26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9713214" cy="945642"/>
            <a:chOff x="517398" y="444818"/>
            <a:chExt cx="9713214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892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TITAN 逐任务比较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97132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Titan：优势主要体现在多步数学与综合知识任务</a:t>
              </a:r>
            </a:p>
          </p:txBody>
        </p:sp>
      </p:grpSp>
      <p:grpSp>
        <p:nvGrpSpPr>
          <p:cNvPr id="13" name="legend"/>
          <p:cNvGrpSpPr/>
          <p:nvPr/>
        </p:nvGrpSpPr>
        <p:grpSpPr>
          <a:xfrm>
            <a:off x="952500" y="1685925"/>
            <a:ext cx="8255889" cy="270700"/>
            <a:chOff x="952500" y="1685925"/>
            <a:chExt cx="8255889" cy="270700"/>
          </a:xfrm>
        </p:grpSpPr>
        <p:sp>
          <p:nvSpPr>
            <p:cNvPr id="5" name="Rectangle 5"/>
            <p:cNvSpPr/>
            <p:nvPr/>
          </p:nvSpPr>
          <p:spPr>
            <a:xfrm>
              <a:off x="952500" y="1685925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12342" y="1692592"/>
              <a:ext cx="164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Puppeteer（异构）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429000" y="1685925"/>
              <a:ext cx="17145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688842" y="1692592"/>
              <a:ext cx="1461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Puppeteer-Mono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905500" y="1685925"/>
              <a:ext cx="17145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65342" y="1692592"/>
              <a:ext cx="515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AFlow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286750" y="1685925"/>
              <a:ext cx="171450" cy="17145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46592" y="1692592"/>
              <a:ext cx="661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MacNet</a:t>
              </a:r>
            </a:p>
          </p:txBody>
        </p:sp>
      </p:grpSp>
      <p:graphicFrame>
        <p:nvGraphicFramePr>
          <p:cNvPr id="14" name="titan-task"/>
          <p:cNvGraphicFramePr>
            <a:graphicFrameLocks noGrp="1"/>
          </p:cNvGraphicFramePr>
          <p:nvPr/>
        </p:nvGraphicFramePr>
        <p:xfrm>
          <a:off x="533400" y="2057400"/>
          <a:ext cx="11125200" cy="348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exception"/>
          <p:cNvGrpSpPr/>
          <p:nvPr/>
        </p:nvGrpSpPr>
        <p:grpSpPr>
          <a:xfrm>
            <a:off x="943356" y="5815965"/>
            <a:ext cx="8637071" cy="352044"/>
            <a:chOff x="943356" y="5815965"/>
            <a:chExt cx="8637071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943356" y="5815965"/>
              <a:ext cx="8637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单项最优并非全部属于 Puppeteer：MacNet 在 CommonGen-Hard 达 0.8817。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527304" y="6356985"/>
              <a:ext cx="4471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来源：p.6，Table 1，Titan · Puppeteer / Mono 均为演化后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26</a:t>
              </a:r>
            </a:p>
          </p:txBody>
        </p:sp>
      </p:grpSp>
      <p:pic>
        <p:nvPicPr>
          <p:cNvPr id="20" name="Imag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7659837" cy="945642"/>
            <a:chOff x="517398" y="444818"/>
            <a:chExt cx="7659837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968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MIMAS 逐任务比较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76598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Mimas：最高平均分掩盖了任务间差异</a:t>
              </a:r>
            </a:p>
          </p:txBody>
        </p:sp>
      </p:grpSp>
      <p:grpSp>
        <p:nvGrpSpPr>
          <p:cNvPr id="13" name="legend"/>
          <p:cNvGrpSpPr/>
          <p:nvPr/>
        </p:nvGrpSpPr>
        <p:grpSpPr>
          <a:xfrm>
            <a:off x="952500" y="1685925"/>
            <a:ext cx="8255889" cy="270700"/>
            <a:chOff x="952500" y="1685925"/>
            <a:chExt cx="8255889" cy="270700"/>
          </a:xfrm>
        </p:grpSpPr>
        <p:sp>
          <p:nvSpPr>
            <p:cNvPr id="5" name="Rectangle 5"/>
            <p:cNvSpPr/>
            <p:nvPr/>
          </p:nvSpPr>
          <p:spPr>
            <a:xfrm>
              <a:off x="952500" y="1685925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12342" y="1692592"/>
              <a:ext cx="164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Puppeteer（异构）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429000" y="1685925"/>
              <a:ext cx="17145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688842" y="1692592"/>
              <a:ext cx="1461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Puppeteer-Mono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905500" y="1685925"/>
              <a:ext cx="17145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65342" y="1692592"/>
              <a:ext cx="515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AFlow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286750" y="1685925"/>
              <a:ext cx="171450" cy="17145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46592" y="1692592"/>
              <a:ext cx="661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MacNet</a:t>
              </a:r>
            </a:p>
          </p:txBody>
        </p:sp>
      </p:grpSp>
      <p:graphicFrame>
        <p:nvGraphicFramePr>
          <p:cNvPr id="14" name="mimas-task"/>
          <p:cNvGraphicFramePr>
            <a:graphicFrameLocks noGrp="1"/>
          </p:cNvGraphicFramePr>
          <p:nvPr/>
        </p:nvGraphicFramePr>
        <p:xfrm>
          <a:off x="533400" y="2057400"/>
          <a:ext cx="11125200" cy="348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exception"/>
          <p:cNvGrpSpPr/>
          <p:nvPr/>
        </p:nvGrpSpPr>
        <p:grpSpPr>
          <a:xfrm>
            <a:off x="943356" y="5815965"/>
            <a:ext cx="7429825" cy="352044"/>
            <a:chOff x="943356" y="5815965"/>
            <a:chExt cx="7429825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943356" y="5815965"/>
              <a:ext cx="74298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异构在 SRDD 低于 Mono；MacNet 的 CommonGen-Hard = 0.7434。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527304" y="6356985"/>
              <a:ext cx="4536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来源：p.6，Table 1，Mimas · Puppeteer / Mono 均为演化后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26</a:t>
              </a:r>
            </a:p>
          </p:txBody>
        </p:sp>
      </p:grpSp>
      <p:pic>
        <p:nvPicPr>
          <p:cNvPr id="20" name="Imag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7200900" cy="945642"/>
            <a:chOff x="517398" y="444818"/>
            <a:chExt cx="7200900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演化前后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持续演化提高了四种配置的平均表现</a:t>
              </a:r>
            </a:p>
          </p:txBody>
        </p:sp>
      </p:grpSp>
      <p:grpSp>
        <p:nvGrpSpPr>
          <p:cNvPr id="10" name="legend"/>
          <p:cNvGrpSpPr/>
          <p:nvPr/>
        </p:nvGrpSpPr>
        <p:grpSpPr>
          <a:xfrm>
            <a:off x="952500" y="1666875"/>
            <a:ext cx="9050503" cy="270700"/>
            <a:chOff x="952500" y="1666875"/>
            <a:chExt cx="9050503" cy="270700"/>
          </a:xfrm>
        </p:grpSpPr>
        <p:sp>
          <p:nvSpPr>
            <p:cNvPr id="5" name="Rectangle 5"/>
            <p:cNvSpPr/>
            <p:nvPr/>
          </p:nvSpPr>
          <p:spPr>
            <a:xfrm>
              <a:off x="952500" y="1666875"/>
              <a:ext cx="17145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12342" y="1673542"/>
              <a:ext cx="890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Initialized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143250" y="1666875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03092" y="1673542"/>
              <a:ext cx="673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Evolved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46392" y="1673542"/>
              <a:ext cx="3056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AVG：跨任务平均分；差值为分数增量</a:t>
              </a:r>
            </a:p>
          </p:txBody>
        </p:sp>
      </p:grpSp>
      <p:graphicFrame>
        <p:nvGraphicFramePr>
          <p:cNvPr id="11" name="learning-average"/>
          <p:cNvGraphicFramePr>
            <a:graphicFrameLocks noGrp="1"/>
          </p:cNvGraphicFramePr>
          <p:nvPr/>
        </p:nvGraphicFramePr>
        <p:xfrm>
          <a:off x="533400" y="2038350"/>
          <a:ext cx="11125200" cy="367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gains"/>
          <p:cNvGrpSpPr/>
          <p:nvPr/>
        </p:nvGrpSpPr>
        <p:grpSpPr>
          <a:xfrm>
            <a:off x="1762773" y="5873115"/>
            <a:ext cx="8666455" cy="352044"/>
            <a:chOff x="1762773" y="5873115"/>
            <a:chExt cx="8666455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1762773" y="587311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+0.1079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4523" y="587311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+0.0051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06273" y="587311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+0.0782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78023" y="587311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+0.0838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527304" y="6356985"/>
              <a:ext cx="5697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来源：p.6，Table 1（差值由原值计算）；p.24，A.2 · 阶段划分仅为评估便利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26</a:t>
              </a:r>
            </a:p>
          </p:txBody>
        </p:sp>
      </p:grpSp>
      <p:pic>
        <p:nvPicPr>
          <p:cNvPr id="20" name="Imag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7024878" cy="945642"/>
            <a:chOff x="517398" y="444818"/>
            <a:chExt cx="7024878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710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TITAN 学习增益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70248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Titan：训练增益随任务和配置变化</a:t>
              </a:r>
            </a:p>
          </p:txBody>
        </p:sp>
      </p:grpSp>
      <p:grpSp>
        <p:nvGrpSpPr>
          <p:cNvPr id="9" name="legend"/>
          <p:cNvGrpSpPr/>
          <p:nvPr/>
        </p:nvGrpSpPr>
        <p:grpSpPr>
          <a:xfrm>
            <a:off x="952500" y="1666875"/>
            <a:ext cx="6644640" cy="270700"/>
            <a:chOff x="952500" y="1666875"/>
            <a:chExt cx="6644640" cy="270700"/>
          </a:xfrm>
        </p:grpSpPr>
        <p:sp>
          <p:nvSpPr>
            <p:cNvPr id="5" name="Rectangle 5"/>
            <p:cNvSpPr/>
            <p:nvPr/>
          </p:nvSpPr>
          <p:spPr>
            <a:xfrm>
              <a:off x="952500" y="1666875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12342" y="1673542"/>
              <a:ext cx="2305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异构：Evolved − Initialized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1666875"/>
              <a:ext cx="17145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12842" y="1673542"/>
              <a:ext cx="2384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Mono：Evolved − Initialized</a:t>
              </a:r>
            </a:p>
          </p:txBody>
        </p:sp>
      </p:grpSp>
      <p:graphicFrame>
        <p:nvGraphicFramePr>
          <p:cNvPr id="10" name="titan-learning"/>
          <p:cNvGraphicFramePr>
            <a:graphicFrameLocks noGrp="1"/>
          </p:cNvGraphicFramePr>
          <p:nvPr/>
        </p:nvGraphicFramePr>
        <p:xfrm>
          <a:off x="533400" y="2076450"/>
          <a:ext cx="1112520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9" name="underlying-scores"/>
          <p:cNvGrpSpPr/>
          <p:nvPr/>
        </p:nvGrpSpPr>
        <p:grpSpPr>
          <a:xfrm>
            <a:off x="1369874" y="5331142"/>
            <a:ext cx="9452253" cy="625983"/>
            <a:chOff x="1369874" y="5331142"/>
            <a:chExt cx="9452253" cy="625983"/>
          </a:xfrm>
        </p:grpSpPr>
        <p:sp>
          <p:nvSpPr>
            <p:cNvPr id="11" name="TextBox 11"/>
            <p:cNvSpPr txBox="1"/>
            <p:nvPr/>
          </p:nvSpPr>
          <p:spPr>
            <a:xfrm>
              <a:off x="1418244" y="5331142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异构 .6600 → .7000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9994" y="5331142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异构 .7400 → .8300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1744" y="5331142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异构 .6191 → .7637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33494" y="5331142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异构 .7381 → .7987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9874" y="5693092"/>
              <a:ext cx="1737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Mono .5400 → .6100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41624" y="5693092"/>
              <a:ext cx="1737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Mono .6910 → .7600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13374" y="5693092"/>
              <a:ext cx="1737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Mono .6264 → .7697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5124" y="5693092"/>
              <a:ext cx="1737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Mono .8111 → .8417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27304" y="6356985"/>
              <a:ext cx="5726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来源：p.6，Table 1，Titan · 差值由原值计算；两种配置的最大改善均在 SRDD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26</a:t>
              </a:r>
            </a:p>
          </p:txBody>
        </p:sp>
      </p:grpSp>
      <p:pic>
        <p:nvPicPr>
          <p:cNvPr id="23" name="Imag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8107893" cy="945642"/>
            <a:chOff x="517398" y="444818"/>
            <a:chExt cx="8107893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787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MIMAS 学习增益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81078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Mimas：异构训练并非在所有任务都增益</a:t>
              </a:r>
            </a:p>
          </p:txBody>
        </p:sp>
      </p:grpSp>
      <p:grpSp>
        <p:nvGrpSpPr>
          <p:cNvPr id="9" name="legend"/>
          <p:cNvGrpSpPr/>
          <p:nvPr/>
        </p:nvGrpSpPr>
        <p:grpSpPr>
          <a:xfrm>
            <a:off x="952500" y="1666875"/>
            <a:ext cx="5173980" cy="270700"/>
            <a:chOff x="952500" y="1666875"/>
            <a:chExt cx="5173980" cy="270700"/>
          </a:xfrm>
        </p:grpSpPr>
        <p:sp>
          <p:nvSpPr>
            <p:cNvPr id="5" name="Rectangle 5"/>
            <p:cNvSpPr/>
            <p:nvPr/>
          </p:nvSpPr>
          <p:spPr>
            <a:xfrm>
              <a:off x="952500" y="1666875"/>
              <a:ext cx="17145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123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异构：初始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0" y="1666875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22342" y="1673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异构：演化后</a:t>
              </a:r>
            </a:p>
          </p:txBody>
        </p:sp>
      </p:grpSp>
      <p:graphicFrame>
        <p:nvGraphicFramePr>
          <p:cNvPr id="10" name="mimas-learning"/>
          <p:cNvGraphicFramePr>
            <a:graphicFrameLocks noGrp="1"/>
          </p:cNvGraphicFramePr>
          <p:nvPr/>
        </p:nvGraphicFramePr>
        <p:xfrm>
          <a:off x="533400" y="2038350"/>
          <a:ext cx="11125200" cy="336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2" name="takeaway"/>
          <p:cNvGrpSpPr/>
          <p:nvPr/>
        </p:nvGrpSpPr>
        <p:grpSpPr>
          <a:xfrm>
            <a:off x="945642" y="5664518"/>
            <a:ext cx="6944588" cy="264033"/>
            <a:chOff x="945642" y="5664518"/>
            <a:chExt cx="6944588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945642" y="5664518"/>
              <a:ext cx="6944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同一异构配置下，MMLU-Pro 与 CommonGen-Hard 上升；GSM-Hard 与 SRDD 下降。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27304" y="6356985"/>
              <a:ext cx="4072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来源：p.6，Table 1，Mimas · 异构配置初始与演化阶段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26</a:t>
              </a:r>
            </a:p>
          </p:txBody>
        </p:sp>
      </p:grpSp>
      <p:pic>
        <p:nvPicPr>
          <p:cNvPr id="16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7200900" cy="945642"/>
            <a:chOff x="517398" y="444818"/>
            <a:chExt cx="7200900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异构与同构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异构带来平均优势，但收益并不均匀</a:t>
              </a:r>
            </a:p>
          </p:txBody>
        </p:sp>
      </p:grpSp>
      <p:grpSp>
        <p:nvGrpSpPr>
          <p:cNvPr id="10" name="legend"/>
          <p:cNvGrpSpPr/>
          <p:nvPr/>
        </p:nvGrpSpPr>
        <p:grpSpPr>
          <a:xfrm>
            <a:off x="952500" y="1666875"/>
            <a:ext cx="8755151" cy="270700"/>
            <a:chOff x="952500" y="1666875"/>
            <a:chExt cx="8755151" cy="270700"/>
          </a:xfrm>
        </p:grpSpPr>
        <p:sp>
          <p:nvSpPr>
            <p:cNvPr id="5" name="Rectangle 5"/>
            <p:cNvSpPr/>
            <p:nvPr/>
          </p:nvSpPr>
          <p:spPr>
            <a:xfrm>
              <a:off x="952500" y="1666875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12342" y="1673542"/>
              <a:ext cx="17462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Mimas：异构 − Mono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286250" y="1666875"/>
              <a:ext cx="171450" cy="17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46092" y="1673542"/>
              <a:ext cx="1672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Titan：异构 − Mono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03692" y="1673542"/>
              <a:ext cx="15039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均为 evolved 阶段</a:t>
              </a:r>
            </a:p>
          </p:txBody>
        </p:sp>
      </p:grpSp>
      <p:graphicFrame>
        <p:nvGraphicFramePr>
          <p:cNvPr id="11" name="heterogeneity"/>
          <p:cNvGraphicFramePr>
            <a:graphicFrameLocks noGrp="1"/>
          </p:cNvGraphicFramePr>
          <p:nvPr/>
        </p:nvGraphicFramePr>
        <p:xfrm>
          <a:off x="533400" y="2114550"/>
          <a:ext cx="11125200" cy="351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3" name="configuration-caveat"/>
          <p:cNvGrpSpPr/>
          <p:nvPr/>
        </p:nvGrpSpPr>
        <p:grpSpPr>
          <a:xfrm>
            <a:off x="943356" y="5854065"/>
            <a:ext cx="8948867" cy="352044"/>
            <a:chOff x="943356" y="5854065"/>
            <a:chExt cx="8948867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943356" y="5854065"/>
              <a:ext cx="89488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平均差：Mimas +0.0177；Titan +0.0278。配置比较不等于隔离因素的因果消融。</a:t>
              </a:r>
            </a:p>
          </p:txBody>
        </p:sp>
      </p:grpSp>
      <p:grpSp>
        <p:nvGrpSpPr>
          <p:cNvPr id="16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527304" y="6356985"/>
              <a:ext cx="3661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来源：p.6，Table 1 / §3.1 · 差值由论文原值计算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26</a:t>
              </a:r>
            </a:p>
          </p:txBody>
        </p:sp>
      </p:grp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6833814" cy="945642"/>
            <a:chOff x="517398" y="444818"/>
            <a:chExt cx="6833814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/ 推理效率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68338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Token 消耗在多数学习过程中下降</a:t>
              </a:r>
            </a:p>
          </p:txBody>
        </p:sp>
      </p:grpSp>
      <p:grpSp>
        <p:nvGrpSpPr>
          <p:cNvPr id="6" name="figure-context"/>
          <p:cNvGrpSpPr/>
          <p:nvPr/>
        </p:nvGrpSpPr>
        <p:grpSpPr>
          <a:xfrm>
            <a:off x="522732" y="1630680"/>
            <a:ext cx="5497647" cy="410718"/>
            <a:chOff x="522732" y="1630680"/>
            <a:chExt cx="5497647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22732" y="1630680"/>
              <a:ext cx="54976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Titan 异构配置 · 四任务 · 原论文 Figure 2</a:t>
              </a:r>
            </a:p>
          </p:txBody>
        </p:sp>
      </p:grpSp>
      <p:grpSp>
        <p:nvGrpSpPr>
          <p:cNvPr id="8" name="fig2-evidence"/>
          <p:cNvGrpSpPr/>
          <p:nvPr/>
        </p:nvGrpSpPr>
        <p:grpSpPr>
          <a:xfrm>
            <a:off x="533400" y="2190750"/>
            <a:ext cx="11125200" cy="3032665"/>
            <a:chOff x="533400" y="2190750"/>
            <a:chExt cx="11125200" cy="3032665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190750"/>
              <a:ext cx="11125200" cy="3032665"/>
            </a:xfrm>
            <a:prstGeom prst="rect">
              <a:avLst/>
            </a:prstGeom>
          </p:spPr>
        </p:pic>
      </p:grpSp>
      <p:grpSp>
        <p:nvGrpSpPr>
          <p:cNvPr id="11" name="efficiency-reading"/>
          <p:cNvGrpSpPr/>
          <p:nvPr/>
        </p:nvGrpSpPr>
        <p:grpSpPr>
          <a:xfrm>
            <a:off x="524256" y="5558790"/>
            <a:ext cx="5685556" cy="645985"/>
            <a:chOff x="524256" y="5558790"/>
            <a:chExt cx="5685556" cy="645985"/>
          </a:xfrm>
        </p:grpSpPr>
        <p:sp>
          <p:nvSpPr>
            <p:cNvPr id="9" name="TextBox 9"/>
            <p:cNvSpPr txBox="1"/>
            <p:nvPr/>
          </p:nvSpPr>
          <p:spPr>
            <a:xfrm>
              <a:off x="524256" y="5558790"/>
              <a:ext cx="5685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策略更偏好节约 Token 的行为，并在合适时机终止。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6542" y="5940742"/>
              <a:ext cx="55069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LOWESS 为趋势平滑；不从曲线截图推算未报告的精确节省百分比。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527304" y="6356985"/>
              <a:ext cx="4394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来源：p.7，Figure 2 / §3.2 · 图像保留论文原始坐标与图例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26</a:t>
              </a:r>
            </a:p>
          </p:txBody>
        </p:sp>
      </p:grpSp>
      <p:pic>
        <p:nvPicPr>
          <p:cNvPr id="15" name="Imag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6304788" cy="945642"/>
            <a:chOff x="517398" y="444818"/>
            <a:chExt cx="6304788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/ 能力与效率机制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降低开销的路径随底座能力变化</a:t>
              </a:r>
            </a:p>
          </p:txBody>
        </p:sp>
      </p:grpSp>
      <p:grpSp>
        <p:nvGrpSpPr>
          <p:cNvPr id="7" name="condition-labels"/>
          <p:cNvGrpSpPr/>
          <p:nvPr/>
        </p:nvGrpSpPr>
        <p:grpSpPr>
          <a:xfrm>
            <a:off x="755142" y="1606868"/>
            <a:ext cx="6025465" cy="264033"/>
            <a:chOff x="755142" y="1606868"/>
            <a:chExt cx="6025465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1606868"/>
              <a:ext cx="2045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Titan Mono · GSM-Hard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60392" y="1606868"/>
              <a:ext cx="2120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Mimas Mono · GSM-Hard</a:t>
              </a:r>
            </a:p>
          </p:txBody>
        </p:sp>
      </p:grpSp>
      <p:grpSp>
        <p:nvGrpSpPr>
          <p:cNvPr id="9" name="fig8-evidence"/>
          <p:cNvGrpSpPr/>
          <p:nvPr/>
        </p:nvGrpSpPr>
        <p:grpSpPr>
          <a:xfrm>
            <a:off x="533400" y="1905000"/>
            <a:ext cx="7620000" cy="4138232"/>
            <a:chOff x="533400" y="1905000"/>
            <a:chExt cx="7620000" cy="4138232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1905000"/>
              <a:ext cx="7620000" cy="4138232"/>
            </a:xfrm>
            <a:prstGeom prst="rect">
              <a:avLst/>
            </a:prstGeom>
          </p:spPr>
        </p:pic>
      </p:grpSp>
      <p:grpSp>
        <p:nvGrpSpPr>
          <p:cNvPr id="13" name="mechanism-and-exceptions"/>
          <p:cNvGrpSpPr/>
          <p:nvPr/>
        </p:nvGrpSpPr>
        <p:grpSpPr>
          <a:xfrm>
            <a:off x="8561832" y="2087880"/>
            <a:ext cx="2282952" cy="3269171"/>
            <a:chOff x="8561832" y="2087880"/>
            <a:chExt cx="2282952" cy="3269171"/>
          </a:xfrm>
        </p:grpSpPr>
        <p:sp>
          <p:nvSpPr>
            <p:cNvPr id="10" name="TextBox 10"/>
            <p:cNvSpPr txBox="1"/>
            <p:nvPr/>
          </p:nvSpPr>
          <p:spPr>
            <a:xfrm>
              <a:off x="8561832" y="208788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能力决定降本路径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63356" y="2701290"/>
              <a:ext cx="184708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Titan 通常更易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缩短推理路径；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Mimas 更依赖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低成本调用选择。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65642" y="4540568"/>
              <a:ext cx="224256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此处 Titan Mono 的激活数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相对稳定；Mimas Mono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部分任务没有持续下降趋势。</a:t>
              </a:r>
            </a:p>
          </p:txBody>
        </p:sp>
      </p:grpSp>
      <p:grpSp>
        <p:nvGrpSpPr>
          <p:cNvPr id="16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527304" y="6356985"/>
              <a:ext cx="5183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来源：pp.7, 24–25，§3.2 / A.1 / Figure 8（选取两个完整任务面板）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26</a:t>
              </a:r>
            </a:p>
          </p:txBody>
        </p:sp>
      </p:grp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5475884" cy="945642"/>
            <a:chOff x="517398" y="444818"/>
            <a:chExt cx="5475884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/ 超参数对照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5475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更大的 λ 使策略更重视成本</a:t>
              </a:r>
            </a:p>
          </p:txBody>
        </p:sp>
      </p:grpSp>
      <p:grpSp>
        <p:nvGrpSpPr>
          <p:cNvPr id="6" name="lambda-evidence"/>
          <p:cNvGrpSpPr/>
          <p:nvPr/>
        </p:nvGrpSpPr>
        <p:grpSpPr>
          <a:xfrm>
            <a:off x="988595" y="1743075"/>
            <a:ext cx="5757111" cy="4191000"/>
            <a:chOff x="988595" y="1743075"/>
            <a:chExt cx="5757111" cy="4191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595" y="1743075"/>
              <a:ext cx="5757111" cy="4191000"/>
            </a:xfrm>
            <a:prstGeom prst="rect">
              <a:avLst/>
            </a:prstGeom>
          </p:spPr>
        </p:pic>
      </p:grpSp>
      <p:grpSp>
        <p:nvGrpSpPr>
          <p:cNvPr id="12" name="lambda-argument"/>
          <p:cNvGrpSpPr/>
          <p:nvPr/>
        </p:nvGrpSpPr>
        <p:grpSpPr>
          <a:xfrm>
            <a:off x="7836408" y="1992630"/>
            <a:ext cx="3253047" cy="3821621"/>
            <a:chOff x="7836408" y="1992630"/>
            <a:chExt cx="3253047" cy="3821621"/>
          </a:xfrm>
        </p:grpSpPr>
        <p:sp>
          <p:nvSpPr>
            <p:cNvPr id="7" name="TextBox 7"/>
            <p:cNvSpPr txBox="1"/>
            <p:nvPr/>
          </p:nvSpPr>
          <p:spPr>
            <a:xfrm>
              <a:off x="7837932" y="1992630"/>
              <a:ext cx="32515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Titan Mono · MMLU-Pro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36408" y="2626995"/>
              <a:ext cx="25444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λ = 0.10 vs 0.03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39456" y="3377565"/>
              <a:ext cx="254431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成本惩罚强度改变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与激活数量趋势。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456" y="4358640"/>
              <a:ext cx="272719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λ 是效果与开销的调节项，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不能据此推出任意任务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都能无损降本。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41742" y="55502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精确曲线保留原图，不补造采样点。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27304" y="6356985"/>
              <a:ext cx="2107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来源：p.7，Figure 3 / §3.2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26</a:t>
              </a:r>
            </a:p>
          </p:txBody>
        </p:sp>
      </p:grpSp>
      <p:pic>
        <p:nvPicPr>
          <p:cNvPr id="16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6304788" cy="945642"/>
            <a:chOff x="517398" y="444818"/>
            <a:chExt cx="6304788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 / 结构演化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拓扑演化趋向紧凑、重复与反馈</a:t>
              </a:r>
            </a:p>
          </p:txBody>
        </p:sp>
      </p:grpSp>
      <p:grpSp>
        <p:nvGrpSpPr>
          <p:cNvPr id="6" name="topology-illustration"/>
          <p:cNvGrpSpPr/>
          <p:nvPr/>
        </p:nvGrpSpPr>
        <p:grpSpPr>
          <a:xfrm>
            <a:off x="533400" y="1562100"/>
            <a:ext cx="6858000" cy="4572000"/>
            <a:chOff x="533400" y="1562100"/>
            <a:chExt cx="6858000" cy="4572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1562100"/>
              <a:ext cx="6858000" cy="4572000"/>
            </a:xfrm>
            <a:prstGeom prst="rect">
              <a:avLst/>
            </a:prstGeom>
          </p:spPr>
        </p:pic>
      </p:grpSp>
      <p:grpSp>
        <p:nvGrpSpPr>
          <p:cNvPr id="12" name="topology-reading"/>
          <p:cNvGrpSpPr/>
          <p:nvPr/>
        </p:nvGrpSpPr>
        <p:grpSpPr>
          <a:xfrm>
            <a:off x="7837932" y="1897380"/>
            <a:ext cx="2991612" cy="3993071"/>
            <a:chOff x="7837932" y="1897380"/>
            <a:chExt cx="2991612" cy="3993071"/>
          </a:xfrm>
        </p:grpSpPr>
        <p:sp>
          <p:nvSpPr>
            <p:cNvPr id="7" name="TextBox 7"/>
            <p:cNvSpPr txBox="1"/>
            <p:nvPr/>
          </p:nvSpPr>
          <p:spPr>
            <a:xfrm>
              <a:off x="7837932" y="18973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紧凑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39456" y="2396490"/>
              <a:ext cx="27614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多条分离路径逐步集中，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也可凝聚为单智能体推理。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37932" y="34213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456" y="3920490"/>
              <a:ext cx="2990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重复激活、回溯与跨分支边，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形成自环或多节点反馈。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41742" y="5073968"/>
              <a:ext cx="224256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结构由状态驱动的选择产生；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示意图不是新的实验样本，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也不是固定组织模板。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27304" y="6356985"/>
              <a:ext cx="5089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来源：pp.8–9，Figures 4–5 / §3.3 · 插图为依据论文绘制的结构示意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 / 26</a:t>
              </a:r>
            </a:p>
          </p:txBody>
        </p:sp>
      </p:grpSp>
      <p:pic>
        <p:nvPicPr>
          <p:cNvPr id="16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8097012" cy="945642"/>
            <a:chOff x="517398" y="444818"/>
            <a:chExt cx="8097012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 / 结构定量证据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80970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论文报告的结构统计支持紧凑与循环增多</a:t>
              </a:r>
            </a:p>
          </p:txBody>
        </p:sp>
      </p:grpSp>
      <p:grpSp>
        <p:nvGrpSpPr>
          <p:cNvPr id="9" name="legend"/>
          <p:cNvGrpSpPr/>
          <p:nvPr/>
        </p:nvGrpSpPr>
        <p:grpSpPr>
          <a:xfrm>
            <a:off x="533400" y="1666875"/>
            <a:ext cx="3047652" cy="270700"/>
            <a:chOff x="533400" y="1666875"/>
            <a:chExt cx="3047652" cy="270700"/>
          </a:xfrm>
        </p:grpSpPr>
        <p:sp>
          <p:nvSpPr>
            <p:cNvPr id="5" name="Rectangle 5"/>
            <p:cNvSpPr/>
            <p:nvPr/>
          </p:nvSpPr>
          <p:spPr>
            <a:xfrm>
              <a:off x="533400" y="1666875"/>
              <a:ext cx="17145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3242" y="1673542"/>
              <a:ext cx="890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Initialized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647950" y="1666875"/>
              <a:ext cx="1714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07792" y="1673542"/>
              <a:ext cx="673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Evolved</a:t>
              </a:r>
            </a:p>
          </p:txBody>
        </p:sp>
      </p:grpSp>
      <p:graphicFrame>
        <p:nvGraphicFramePr>
          <p:cNvPr id="10" name="density-stat"/>
          <p:cNvGraphicFramePr>
            <a:graphicFrameLocks noGrp="1"/>
          </p:cNvGraphicFramePr>
          <p:nvPr/>
        </p:nvGraphicFramePr>
        <p:xfrm>
          <a:off x="533400" y="2057400"/>
          <a:ext cx="4629150" cy="337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ycle-stat"/>
          <p:cNvGraphicFramePr>
            <a:graphicFrameLocks noGrp="1"/>
          </p:cNvGraphicFramePr>
          <p:nvPr/>
        </p:nvGraphicFramePr>
        <p:xfrm>
          <a:off x="6267450" y="2057400"/>
          <a:ext cx="5391150" cy="337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4" name="interpretation-boundary"/>
          <p:cNvGrpSpPr/>
          <p:nvPr/>
        </p:nvGrpSpPr>
        <p:grpSpPr>
          <a:xfrm>
            <a:off x="526542" y="5693092"/>
            <a:ext cx="5711171" cy="540259"/>
            <a:chOff x="526542" y="5693092"/>
            <a:chExt cx="5711171" cy="540259"/>
          </a:xfrm>
        </p:grpSpPr>
        <p:sp>
          <p:nvSpPr>
            <p:cNvPr id="12" name="TextBox 12"/>
            <p:cNvSpPr txBox="1"/>
            <p:nvPr/>
          </p:nvSpPr>
          <p:spPr>
            <a:xfrm>
              <a:off x="526542" y="5693092"/>
              <a:ext cx="57111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密度沿用论文报告口径，不能解释为标准简单图的 [0,1] 归一化密度。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6542" y="596931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结构统计与性能相关，尚不能证明“更多循环”本身导致性能提升。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527304" y="6356985"/>
              <a:ext cx="3475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来源：p.8，Figure 6（均值重绘）；p.9，§3.3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 / 26</a:t>
              </a:r>
            </a:p>
          </p:txBody>
        </p:sp>
      </p:grpSp>
      <p:pic>
        <p:nvPicPr>
          <p:cNvPr id="18" name="Imag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8343443" cy="945642"/>
            <a:chOff x="517398" y="444818"/>
            <a:chExt cx="8343443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 / 综合收益与边界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83434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性能/成本比在多数任务上改善，仍有例外</a:t>
              </a:r>
            </a:p>
          </p:txBody>
        </p:sp>
      </p:grpSp>
      <p:grpSp>
        <p:nvGrpSpPr>
          <p:cNvPr id="7" name="condition-labels"/>
          <p:cNvGrpSpPr/>
          <p:nvPr/>
        </p:nvGrpSpPr>
        <p:grpSpPr>
          <a:xfrm>
            <a:off x="846582" y="1649730"/>
            <a:ext cx="8713619" cy="410718"/>
            <a:chOff x="846582" y="1649730"/>
            <a:chExt cx="8713619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846582" y="1649730"/>
              <a:ext cx="25015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Titan Mono · SRDD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942582" y="1649730"/>
              <a:ext cx="26176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Mimas Mono · SRDD</a:t>
              </a:r>
            </a:p>
          </p:txBody>
        </p:sp>
      </p:grpSp>
      <p:grpSp>
        <p:nvGrpSpPr>
          <p:cNvPr id="9" name="fig9-evidence"/>
          <p:cNvGrpSpPr/>
          <p:nvPr/>
        </p:nvGrpSpPr>
        <p:grpSpPr>
          <a:xfrm>
            <a:off x="2014711" y="2114550"/>
            <a:ext cx="8162578" cy="2905125"/>
            <a:chOff x="2014711" y="2114550"/>
            <a:chExt cx="8162578" cy="2905125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4711" y="2114550"/>
              <a:ext cx="8162578" cy="2905125"/>
            </a:xfrm>
            <a:prstGeom prst="rect">
              <a:avLst/>
            </a:prstGeom>
          </p:spPr>
        </p:pic>
      </p:grpSp>
      <p:grpSp>
        <p:nvGrpSpPr>
          <p:cNvPr id="12" name="efficiency-limit"/>
          <p:cNvGrpSpPr/>
          <p:nvPr/>
        </p:nvGrpSpPr>
        <p:grpSpPr>
          <a:xfrm>
            <a:off x="524256" y="5358765"/>
            <a:ext cx="8317611" cy="750760"/>
            <a:chOff x="524256" y="5358765"/>
            <a:chExt cx="8317611" cy="750760"/>
          </a:xfrm>
        </p:grpSpPr>
        <p:sp>
          <p:nvSpPr>
            <p:cNvPr id="10" name="TextBox 10"/>
            <p:cNvSpPr txBox="1"/>
            <p:nvPr/>
          </p:nvSpPr>
          <p:spPr>
            <a:xfrm>
              <a:off x="524256" y="5358765"/>
              <a:ext cx="83176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200 个优化样本，可能不足以充分探索；部分曲线先降后升或无明显改善。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6542" y="5845492"/>
              <a:ext cx="7843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论文指出弱底座可能需要更长协作或不同超参数。综合比值仍需结合质量、Token 两项分别判断。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27304" y="6356985"/>
              <a:ext cx="4610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来源：pp.24, 26，A.2 / Figure 9（选取 SRDD 两个完整面板）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 / 26</a:t>
              </a:r>
            </a:p>
          </p:txBody>
        </p:sp>
      </p:grpSp>
      <p:pic>
        <p:nvPicPr>
          <p:cNvPr id="16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5856732" cy="945642"/>
            <a:chOff x="517398" y="444818"/>
            <a:chExt cx="5856732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 / 探索宽度与深度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更深或更宽的探索不保证更好</a:t>
              </a:r>
            </a:p>
          </p:txBody>
        </p:sp>
      </p:grpSp>
      <p:grpSp>
        <p:nvGrpSpPr>
          <p:cNvPr id="6" name="fig7-evidence"/>
          <p:cNvGrpSpPr/>
          <p:nvPr/>
        </p:nvGrpSpPr>
        <p:grpSpPr>
          <a:xfrm>
            <a:off x="533400" y="1876425"/>
            <a:ext cx="7124700" cy="3597021"/>
            <a:chOff x="533400" y="1876425"/>
            <a:chExt cx="7124700" cy="3597021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1876425"/>
              <a:ext cx="7124700" cy="3597021"/>
            </a:xfrm>
            <a:prstGeom prst="rect">
              <a:avLst/>
            </a:prstGeom>
          </p:spPr>
        </p:pic>
      </p:grpSp>
      <p:grpSp>
        <p:nvGrpSpPr>
          <p:cNvPr id="12" name="budget-reading"/>
          <p:cNvGrpSpPr/>
          <p:nvPr/>
        </p:nvGrpSpPr>
        <p:grpSpPr>
          <a:xfrm>
            <a:off x="8104632" y="1964055"/>
            <a:ext cx="2763012" cy="3354896"/>
            <a:chOff x="8104632" y="1964055"/>
            <a:chExt cx="2763012" cy="3354896"/>
          </a:xfrm>
        </p:grpSpPr>
        <p:sp>
          <p:nvSpPr>
            <p:cNvPr id="7" name="TextBox 7"/>
            <p:cNvSpPr txBox="1"/>
            <p:nvPr/>
          </p:nvSpPr>
          <p:spPr>
            <a:xfrm>
              <a:off x="8104632" y="196405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预算收益并非单调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6156" y="2596515"/>
              <a:ext cx="276148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加深或加宽可能带来冗余，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消耗更多 Token，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却降低准确率。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8442" y="41500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原图配置：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8442" y="452151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W4D2 / W4D3 / W6D2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8442" y="50549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不能将“更多探索”视作通用解法。</a:t>
              </a:r>
            </a:p>
          </p:txBody>
        </p:sp>
      </p:grpSp>
      <p:grpSp>
        <p:nvGrpSpPr>
          <p:cNvPr id="15" name="source-discrepancy"/>
          <p:cNvGrpSpPr/>
          <p:nvPr/>
        </p:nvGrpSpPr>
        <p:grpSpPr>
          <a:xfrm>
            <a:off x="526542" y="5693092"/>
            <a:ext cx="8563070" cy="549783"/>
            <a:chOff x="526542" y="5693092"/>
            <a:chExt cx="8563070" cy="549783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5693092"/>
              <a:ext cx="856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来源表述保留：Figure 7 图注称默认 W4D2；正文实现段写 episode length=4、parallel exploration≤3。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542" y="597884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这里分别引用两处设置，不自行消解其差异。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6356985"/>
              <a:ext cx="3888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来源：p.9，Figure 7 / §3.4；p.5，Implementation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 / 26</a:t>
              </a:r>
            </a:p>
          </p:txBody>
        </p:sp>
      </p:grp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44818"/>
            <a:ext cx="7200900" cy="945642"/>
            <a:chOff x="517398" y="444818"/>
            <a:chExt cx="7200900" cy="94564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44818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 / 结论的适用范围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74383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计算资源与方法局限限定了结论范围</a:t>
              </a:r>
            </a:p>
          </p:txBody>
        </p:sp>
      </p:grpSp>
      <p:grpSp>
        <p:nvGrpSpPr>
          <p:cNvPr id="11" name="resource-facts"/>
          <p:cNvGrpSpPr/>
          <p:nvPr/>
        </p:nvGrpSpPr>
        <p:grpSpPr>
          <a:xfrm>
            <a:off x="533400" y="1819275"/>
            <a:ext cx="4476750" cy="3848100"/>
            <a:chOff x="533400" y="1819275"/>
            <a:chExt cx="4476750" cy="3848100"/>
          </a:xfrm>
        </p:grpSpPr>
        <p:sp>
          <p:nvSpPr>
            <p:cNvPr id="5" name="Rectangle 5"/>
            <p:cNvSpPr/>
            <p:nvPr/>
          </p:nvSpPr>
          <p:spPr>
            <a:xfrm>
              <a:off x="533400" y="1819275"/>
              <a:ext cx="4476750" cy="384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1332" y="208788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论文报告的计算资源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2588895"/>
              <a:ext cx="303367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× A800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3653790"/>
              <a:ext cx="2855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单卡峰值：28.8–78.4 GB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856" y="4196715"/>
              <a:ext cx="21870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训练时长：2–6 小时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142" y="4978718"/>
              <a:ext cx="1942528" cy="540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在线优化与推理交错，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难以隔离训练 GPU 小时。</a:t>
              </a:r>
            </a:p>
          </p:txBody>
        </p:sp>
      </p:grpSp>
      <p:grpSp>
        <p:nvGrpSpPr>
          <p:cNvPr id="21" name="limitations"/>
          <p:cNvGrpSpPr/>
          <p:nvPr/>
        </p:nvGrpSpPr>
        <p:grpSpPr>
          <a:xfrm>
            <a:off x="5705856" y="1890201"/>
            <a:ext cx="3192628" cy="3543049"/>
            <a:chOff x="5705856" y="1890201"/>
            <a:chExt cx="3192628" cy="3543049"/>
          </a:xfrm>
        </p:grpSpPr>
        <p:grpSp>
          <p:nvGrpSpPr>
            <p:cNvPr id="15" name="Group 15"/>
            <p:cNvGrpSpPr/>
            <p:nvPr/>
          </p:nvGrpSpPr>
          <p:grpSpPr>
            <a:xfrm>
              <a:off x="5745399" y="1890201"/>
              <a:ext cx="320191" cy="275086"/>
              <a:chOff x="5745399" y="1890201"/>
              <a:chExt cx="320191" cy="27508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905500" y="19907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45399" y="1890201"/>
                <a:ext cx="320191" cy="275086"/>
              </a:xfrm>
              <a:custGeom>
                <a:avLst/>
                <a:gdLst/>
                <a:ahLst/>
                <a:cxnLst/>
                <a:rect l="l" t="t" r="r" b="b"/>
                <a:pathLst>
                  <a:path w="320191" h="275086">
                    <a:moveTo>
                      <a:pt x="134114" y="14656"/>
                    </a:moveTo>
                    <a:lnTo>
                      <a:pt x="5431" y="229509"/>
                    </a:lnTo>
                    <a:cubicBezTo>
                      <a:pt x="33" y="238857"/>
                      <a:pt x="0" y="250368"/>
                      <a:pt x="5345" y="259747"/>
                    </a:cubicBezTo>
                    <a:cubicBezTo>
                      <a:pt x="10689" y="269126"/>
                      <a:pt x="20608" y="274965"/>
                      <a:pt x="31403" y="275086"/>
                    </a:cubicBezTo>
                    <a:lnTo>
                      <a:pt x="288800" y="275086"/>
                    </a:lnTo>
                    <a:cubicBezTo>
                      <a:pt x="299590" y="274962"/>
                      <a:pt x="309504" y="269125"/>
                      <a:pt x="314847" y="259751"/>
                    </a:cubicBezTo>
                    <a:cubicBezTo>
                      <a:pt x="320191" y="250377"/>
                      <a:pt x="320162" y="238872"/>
                      <a:pt x="314772" y="229525"/>
                    </a:cubicBezTo>
                    <a:lnTo>
                      <a:pt x="186089" y="14640"/>
                    </a:lnTo>
                    <a:cubicBezTo>
                      <a:pt x="180583" y="5552"/>
                      <a:pt x="170728" y="0"/>
                      <a:pt x="160102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05500" y="21018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275832" y="19259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仍待解决的问题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05856" y="2720340"/>
              <a:ext cx="2465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终态奖励较粗粒度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05856" y="3406140"/>
              <a:ext cx="27079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智能体与工具池固定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5856" y="4091940"/>
              <a:ext cx="31926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偶发误协调或欺骗性共识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8142" y="4892992"/>
              <a:ext cx="2414016" cy="540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与搜索式基线的计算范式不同，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不宜直接比较全流程计算成本。</a:t>
              </a:r>
            </a:p>
          </p:txBody>
        </p:sp>
      </p:grpSp>
      <p:grpSp>
        <p:nvGrpSpPr>
          <p:cNvPr id="23" name="cost-boundary"/>
          <p:cNvGrpSpPr/>
          <p:nvPr/>
        </p:nvGrpSpPr>
        <p:grpSpPr>
          <a:xfrm>
            <a:off x="522732" y="5840730"/>
            <a:ext cx="6915851" cy="410718"/>
            <a:chOff x="522732" y="5840730"/>
            <a:chExt cx="6915851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522732" y="5840730"/>
              <a:ext cx="69158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推理 Token 降低，不能直接推出全生命周期成本更低。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527304" y="6356985"/>
              <a:ext cx="2548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来源：pp.29–30，Appendices C–D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 / 26</a:t>
              </a:r>
            </a:p>
          </p:txBody>
        </p:sp>
      </p:grpSp>
      <p:pic>
        <p:nvPicPr>
          <p:cNvPr id="27" name="Imag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DFECF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losing-title"/>
          <p:cNvGrpSpPr/>
          <p:nvPr/>
        </p:nvGrpSpPr>
        <p:grpSpPr>
          <a:xfrm>
            <a:off x="515112" y="730568"/>
            <a:ext cx="7205472" cy="1327975"/>
            <a:chOff x="515112" y="730568"/>
            <a:chExt cx="7205472" cy="1327975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730568"/>
              <a:ext cx="5926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 / MULTI-AGENT COLLABORATION VIA EVOLVING ORCHESTRATION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1354455"/>
              <a:ext cx="7205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更有效的协作来自可学习的编排</a:t>
              </a:r>
            </a:p>
          </p:txBody>
        </p:sp>
      </p:grpSp>
      <p:grpSp>
        <p:nvGrpSpPr>
          <p:cNvPr id="16" name="contribution-chain"/>
          <p:cNvGrpSpPr/>
          <p:nvPr/>
        </p:nvGrpSpPr>
        <p:grpSpPr>
          <a:xfrm>
            <a:off x="521208" y="2731770"/>
            <a:ext cx="11137392" cy="1786128"/>
            <a:chOff x="521208" y="2731770"/>
            <a:chExt cx="11137392" cy="1786128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2731770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动态选择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26458" y="2731770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成本反馈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31708" y="2731770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结构演化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533400" y="3238500"/>
              <a:ext cx="11125200" cy="9525"/>
              <a:chOff x="533400" y="3238500"/>
              <a:chExt cx="11125200" cy="952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533400" y="3238500"/>
                <a:ext cx="3314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14700" h="9525">
                    <a:moveTo>
                      <a:pt x="0" y="0"/>
                    </a:moveTo>
                    <a:lnTo>
                      <a:pt x="33147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4438650" y="3238500"/>
                <a:ext cx="3314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14700" h="9525">
                    <a:moveTo>
                      <a:pt x="0" y="0"/>
                    </a:moveTo>
                    <a:lnTo>
                      <a:pt x="33147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8343900" y="3238500"/>
                <a:ext cx="3314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14700" h="9525">
                    <a:moveTo>
                      <a:pt x="0" y="0"/>
                    </a:moveTo>
                    <a:lnTo>
                      <a:pt x="33147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524256" y="35585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依任务状态调整协作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29506" y="35585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强化学习平衡质量与成本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756" y="35585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观察到更紧凑且含循环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2732" y="4107180"/>
              <a:ext cx="93505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多个配置取得平均收益，但</a:t>
              </a:r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任务差异、训练成本与固定能力池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仍限定结论。</a:t>
              </a:r>
            </a:p>
          </p:txBody>
        </p:sp>
      </p:grpSp>
      <p:grpSp>
        <p:nvGrpSpPr>
          <p:cNvPr id="19" name="code-link"/>
          <p:cNvGrpSpPr/>
          <p:nvPr/>
        </p:nvGrpSpPr>
        <p:grpSpPr>
          <a:xfrm>
            <a:off x="524256" y="5321618"/>
            <a:ext cx="5619674" cy="617791"/>
            <a:chOff x="524256" y="5321618"/>
            <a:chExt cx="5619674" cy="617791"/>
          </a:xfrm>
        </p:grpSpPr>
        <p:sp>
          <p:nvSpPr>
            <p:cNvPr id="17" name="TextBox 17">
              <a:hlinkClick r:id="rId3"/>
            </p:cNvPr>
            <p:cNvSpPr txBox="1"/>
            <p:nvPr/>
          </p:nvSpPr>
          <p:spPr>
            <a:xfrm>
              <a:off x="526542" y="5321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论文代码</a:t>
              </a:r>
            </a:p>
          </p:txBody>
        </p:sp>
        <p:sp>
          <p:nvSpPr>
            <p:cNvPr id="18" name="TextBox 18">
              <a:hlinkClick r:id="rId3"/>
            </p:cNvPr>
            <p:cNvSpPr txBox="1"/>
            <p:nvPr/>
          </p:nvSpPr>
          <p:spPr>
            <a:xfrm>
              <a:off x="524256" y="5587365"/>
              <a:ext cx="5619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github.com/OpenBMB/ChatDev/tree/puppeteer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527304" y="6356985"/>
            <a:ext cx="11137392" cy="234696"/>
            <a:chOff x="527304" y="6356985"/>
            <a:chExt cx="111373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27304" y="6356985"/>
              <a:ext cx="3241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来源：p.10，§5；Table 1；Appendices C–D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11332" y="635698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 / 26</a:t>
              </a:r>
            </a:p>
          </p:txBody>
        </p:sp>
      </p:grpSp>
      <p:pic>
        <p:nvPicPr>
          <p:cNvPr id="23" name="Imag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228600"/>
            <a:ext cx="590550" cy="59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evolving_orchestration">
  <a:themeElements>
    <a:clrScheme name="evolving_orchestration">
      <a:dk1>
        <a:srgbClr val="17243A"/>
      </a:dk1>
      <a:lt1>
        <a:srgbClr val="FFFFFF"/>
      </a:lt1>
      <a:dk2>
        <a:srgbClr val="1F497D"/>
      </a:dk2>
      <a:lt2>
        <a:srgbClr val="F4F7FC"/>
      </a:lt2>
      <a:accent1>
        <a:srgbClr val="072B86"/>
      </a:accent1>
      <a:accent2>
        <a:srgbClr val="ED7D31"/>
      </a:accent2>
      <a:accent3>
        <a:srgbClr val="5B9BD5"/>
      </a:accent3>
      <a:accent4>
        <a:srgbClr val="072B86"/>
      </a:accent4>
      <a:accent5>
        <a:srgbClr val="536078"/>
      </a:accent5>
      <a:accent6>
        <a:srgbClr val="D5DDEA"/>
      </a:accent6>
      <a:hlink>
        <a:srgbClr val="ED7D31"/>
      </a:hlink>
      <a:folHlink>
        <a:srgbClr val="5B9BD5"/>
      </a:folHlink>
    </a:clrScheme>
    <a:fontScheme name="evolving_orchestration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olving_orchestr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volving_orchestration">
  <a:themeElements>
    <a:clrScheme name="evolving_orchestration">
      <a:dk1>
        <a:srgbClr val="17243A"/>
      </a:dk1>
      <a:lt1>
        <a:srgbClr val="FFFFFF"/>
      </a:lt1>
      <a:dk2>
        <a:srgbClr val="1F497D"/>
      </a:dk2>
      <a:lt2>
        <a:srgbClr val="F4F7FC"/>
      </a:lt2>
      <a:accent1>
        <a:srgbClr val="072B86"/>
      </a:accent1>
      <a:accent2>
        <a:srgbClr val="ED7D31"/>
      </a:accent2>
      <a:accent3>
        <a:srgbClr val="5B9BD5"/>
      </a:accent3>
      <a:accent4>
        <a:srgbClr val="072B86"/>
      </a:accent4>
      <a:accent5>
        <a:srgbClr val="536078"/>
      </a:accent5>
      <a:accent6>
        <a:srgbClr val="D5DDEA"/>
      </a:accent6>
      <a:hlink>
        <a:srgbClr val="ED7D31"/>
      </a:hlink>
      <a:folHlink>
        <a:srgbClr val="5B9BD5"/>
      </a:folHlink>
    </a:clrScheme>
    <a:fontScheme name="evolving_orchestration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olving_orchestr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5637</Words>
  <Application>Microsoft Office PowerPoint</Application>
  <PresentationFormat>宽屏</PresentationFormat>
  <Paragraphs>315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9" baseType="lpstr">
      <vt:lpstr>Arial</vt:lpstr>
      <vt:lpstr>Cambria Math</vt:lpstr>
      <vt:lpstr>evolving_orchestration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世博 符</cp:lastModifiedBy>
  <cp:revision>2</cp:revision>
  <dcterms:created xsi:type="dcterms:W3CDTF">2026-10-16T08:44:19Z</dcterms:created>
  <dcterms:modified xsi:type="dcterms:W3CDTF">2026-10-16T10:18:36Z</dcterms:modified>
  <cp:category/>
  <cp:contentStatus/>
  <dc:language>zh-CN</dc:language>
</cp:coreProperties>
</file>