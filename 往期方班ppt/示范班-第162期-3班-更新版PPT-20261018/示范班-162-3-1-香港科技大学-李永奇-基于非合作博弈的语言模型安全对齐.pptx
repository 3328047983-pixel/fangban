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sldIdLst>
    <p:sldId id="256" r:id="rId3"/>
    <p:sldId id="1001" r:id="rId5"/>
    <p:sldId id="1002" r:id="rId6"/>
    <p:sldId id="257" r:id="rId7"/>
    <p:sldId id="258" r:id="rId8"/>
    <p:sldId id="259" r:id="rId9"/>
    <p:sldId id="260" r:id="rId10"/>
    <p:sldId id="1003" r:id="rId11"/>
    <p:sldId id="285" r:id="rId12"/>
    <p:sldId id="290" r:id="rId13"/>
    <p:sldId id="289" r:id="rId14"/>
    <p:sldId id="287" r:id="rId15"/>
    <p:sldId id="1004" r:id="rId16"/>
    <p:sldId id="268" r:id="rId17"/>
    <p:sldId id="269" r:id="rId18"/>
    <p:sldId id="270" r:id="rId19"/>
    <p:sldId id="283" r:id="rId20"/>
    <p:sldId id="271" r:id="rId21"/>
    <p:sldId id="275" r:id="rId22"/>
    <p:sldId id="276" r:id="rId23"/>
    <p:sldId id="1005" r:id="rId24"/>
    <p:sldId id="278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DBF7FA"/>
    <a:srgbClr val="C00000"/>
    <a:srgbClr val="FFFFFF"/>
    <a:srgbClr val="1B6FFF"/>
    <a:srgbClr val="F8EAF9"/>
    <a:srgbClr val="DD2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037"/>
    <p:restoredTop sz="87782"/>
  </p:normalViewPr>
  <p:slideViewPr>
    <p:cSldViewPr snapToGrid="0">
      <p:cViewPr varScale="1">
        <p:scale>
          <a:sx n="64" d="100"/>
          <a:sy n="64" d="100"/>
        </p:scale>
        <p:origin x="17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AC9EA-921B-9E46-A28F-79D5EE399B8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今天汇报 AdvGame：基于非合作博弈的语言模型安全对齐。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重点看两个变化：攻防参数分离，以及非零和目标设计。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汇报分四部分：先讲背景与挑战，再讲方法，随后看实验，最后总结与展望。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先介绍安全对齐的背景，以及现有自博弈方法的两个挑战。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安全对齐要兼顾有用性与安全性，不能只靠拒绝所有请求。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图中对比说明：减少有害输出的同时，也要尽量保留模型能力。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现有方法还没有彻底解决这一权衡。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从人工红队，到专门训练攻击者，再到在线自博弈，攻击生成逐步自动化。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人工成本高，固定攻击者又可能跟不上防御者。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Self-RedTeam 持续迭代，但共享参数和零和目标带来了两个问题。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同一套参数既要生成有效攻击，又要拒绝有害请求，两个角色的目标会相互干扰。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极端情况下，攻击者也学会拒绝生成攻击，样本难度随之下降。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因此需要分离参数，同时保留双方的在线适应。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零和设定直接把防御者奖励取负，变成攻击者奖励。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看表中后两行：有害回复和无效乱码都可能让防御失分、攻击获奖。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我们希望奖励真正暴露漏洞的攻击，而不是制造无效输出。问题在直接取负的目标设计。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接下来介绍 AdvGame，重点对应参数共享和零和目标这两个挑战。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两个挑战对应两个变化：共享参数改为独立参数，零和目标改为独立设计的非零和偏好。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参数分离减少角色纠缠；目标分离区分真实安全失败与无效输出。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下面分别说明这两个变化如何实现，再串起完整流程。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先看左侧：当前模型用于训练，另维护两套 EMA，也就是参数滑动平均模型，用于采样。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本轮先由 EMA 生成攻防数据，再分别更新当前攻击者和防御者，参数互不共享。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最后把旧 EMA 与更新后的当前参数加权平均，得到下一轮采样模型。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EMA 缓和采样策略的变化，不参与梯度更新，也不代表严格收敛保证。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防御者希望：良性请求正常回答，有害请求安全引导。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攻击者寻找相反的指定失败：良性请求过度拒绝，或有害请求被执行。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攻击奖励不再直接取负，因此乱码不会仅因防御失分而自动获奖。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一个种子生成两条攻击，每条攻击生成两个回复，共四个回复。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先在每条攻击内部比较回复，得到两对回复偏好，用于训练防御者。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再用两条攻击各自的胜出回复比较攻击，得到一对攻击偏好，用于训练攻击者。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最后更新双方 EMA，进入下一轮。胜出回复是防御判别选出的，并不等于攻击成功。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下面看实验：先比较整体结果，再看消融，最后分析训练得到的攻击者。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实验使用 Qwen 和 Llama 两类模型，训练数据含良性与有害请求。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评价分三个维度：Utility 看能力，ASR 看安全，Compliance 看良性请求能否正常回答。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ASR 越低越好，其他两类通常越高越好，需要一起看。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先看有用性：Self-RedTeam 的多个指标明显下降，AdvGame 总体保留得更好。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例如 Qwen 的 ArenaHard 从 55.5 提升到 61.3，Llama 从 33.6 提升到 41.0。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也不是所有指标都提升，例如 Qwen 的 AlpacaEval 从 29.9 降到 27.6。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固定攻击下，Qwen 的四项 ASR 都明显下降，整体优于 Self-RedTeam。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Llama 也有改善，但 DAN 是例外：本文 42.0，Self-RedTeam 32.3。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因此应说整体安全性改善，不能说所有攻击下都最优。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PAIR 和 TAP 会针对防御者自适应生成攻击，GCG 则包含非可读攻击。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本文对自然语言攻击的改进更明显，但 GCG 仍有残余风险。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例如 Qwen 的 GCG ASR 为 25.3，略高于 Self-RedTeam 的 23.4。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Compliance 衡量良性请求能否得到正常回答，用于观察过度拒绝。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结果有分布差异：Llama 的 XSTest 从 84.4 提升到 88.0，但 WJB 从 98.8 降到 69.9。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因此，安全提升并不意味着良性请求上的过度拒绝全面改善。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看固定攻击者的消融：WJB ASR 从 8.5 升到 16.6，说明持续更新攻击者有帮助。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去掉 EMA 后，HarmBench 从 4.7 升到 19.9，WJB 从 8.5 升到 49.5，支持 EMA 的作用。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这些结果支持在线适应与采样稳定化，不是参数分离或非零和目标的单独因果验证。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训练不仅得到防御者，也得到可用于红队测试的攻击者。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红框中，每个输入生成十个攻击，只要一个成功就计为成功。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对原始 Qwen，ASR 为 55.6，高于 PAIR 和 TAP，但低于 GCG，说明攻击者仍有实际测试价值。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最后总结方法的两项变化，并讨论当前局限与后续方向。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总结两点：独立参数减少攻防角色纠缠，非零和目标减少无效输出的奖励捷径。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实验总体改善安全与能力的权衡，但过度拒绝和非可读攻击仍有不足。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后续关注分布外鲁棒性、双模型训练的收敛条件，以及计算成本。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以上是本次汇报，谢谢大家。</a:t>
            </a:r>
            <a:endParaRPr lang="zh-CN" sz="1800">
              <a:latin typeface="Microsoft YaHei"/>
              <a:ea typeface="Microsoft YaHei"/>
            </a:endParaRPr>
          </a:p>
          <a:p>
            <a:pPr>
              <a:buNone/>
            </a:pPr>
            <a:r>
              <a:rPr lang="zh-CN" sz="1800">
                <a:latin typeface="Microsoft YaHei"/>
                <a:ea typeface="Microsoft YaHei"/>
              </a:rPr>
              <a:t>欢迎老师和同学提出问题。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8DC12-3300-7E4F-8B74-652BC358930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39469" y="115094"/>
            <a:ext cx="2743200" cy="365125"/>
          </a:xfrm>
        </p:spPr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65" b="1" i="0">
                <a:solidFill>
                  <a:srgbClr val="003366"/>
                </a:solidFill>
                <a:latin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2344266-8042-B845-91E3-E9201FAB5F9D}" type="slidenum">
              <a:rPr lang="en-US" smtClean="0"/>
            </a:fld>
            <a:endParaRPr lang="en-US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1330" y="720090"/>
            <a:ext cx="11261725" cy="2229485"/>
          </a:xfrm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b="1" dirty="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基于非合作博弈的语言模型安全对齐</a:t>
            </a:r>
            <a:br>
              <a:rPr lang="zh-CN" altLang="en-US" sz="3600" dirty="0">
                <a:solidFill>
                  <a:srgbClr val="C00000"/>
                </a:solidFill>
                <a:latin typeface="Aptos" panose="020B0004020202020204" pitchFamily="34" charset="0"/>
              </a:rPr>
            </a:br>
            <a:r>
              <a:rPr lang="en-US" altLang="zh-CN" sz="3600" dirty="0">
                <a:solidFill>
                  <a:srgbClr val="C00000"/>
                </a:solidFill>
                <a:latin typeface="Aptos" panose="020B0004020202020204" pitchFamily="34" charset="0"/>
              </a:rPr>
              <a:t>Safety Alignment of LMs via Non-cooperative Game</a:t>
            </a:r>
            <a:endParaRPr lang="en-US" altLang="zh-CN" sz="3600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96360"/>
            <a:ext cx="9144000" cy="1509395"/>
          </a:xfrm>
        </p:spPr>
        <p:txBody>
          <a:bodyPr anchor="ctr" anchorCtr="0">
            <a:normAutofit/>
          </a:bodyPr>
          <a:lstStyle/>
          <a:p>
            <a:r>
              <a:rPr lang="zh-CN" altLang="en-US" sz="2000" dirty="0">
                <a:latin typeface="+mn-ea"/>
                <a:cs typeface="+mn-ea"/>
              </a:rPr>
              <a:t>汇报人</a:t>
            </a:r>
            <a:r>
              <a:rPr lang="en-US" altLang="zh-CN" sz="2000" dirty="0">
                <a:latin typeface="+mn-ea"/>
                <a:cs typeface="+mn-ea"/>
              </a:rPr>
              <a:t>：</a:t>
            </a:r>
            <a:r>
              <a:rPr lang="zh-CN" altLang="en-US" sz="2000" dirty="0">
                <a:latin typeface="+mn-ea"/>
                <a:cs typeface="+mn-ea"/>
              </a:rPr>
              <a:t>李永奇</a:t>
            </a:r>
            <a:endParaRPr lang="zh-CN" altLang="en-US" sz="2000" dirty="0">
              <a:latin typeface="+mn-ea"/>
              <a:cs typeface="+mn-ea"/>
            </a:endParaRPr>
          </a:p>
          <a:p>
            <a:r>
              <a:rPr lang="zh-CN" altLang="en-US" sz="2000" dirty="0">
                <a:latin typeface="+mn-ea"/>
                <a:cs typeface="+mn-ea"/>
              </a:rPr>
              <a:t>导师</a:t>
            </a:r>
            <a:r>
              <a:rPr lang="en-US" altLang="zh-CN" sz="2000" dirty="0">
                <a:latin typeface="+mn-ea"/>
                <a:cs typeface="+mn-ea"/>
              </a:rPr>
              <a:t>：</a:t>
            </a:r>
            <a:r>
              <a:rPr lang="zh-CN" altLang="en-US" sz="2000" dirty="0">
                <a:latin typeface="+mn-ea"/>
                <a:cs typeface="+mn-ea"/>
              </a:rPr>
              <a:t>周晓方</a:t>
            </a:r>
            <a:r>
              <a:rPr lang="en-US" altLang="zh-CN" sz="2000" dirty="0">
                <a:latin typeface="+mn-ea"/>
                <a:cs typeface="+mn-ea"/>
              </a:rPr>
              <a:t> </a:t>
            </a:r>
            <a:r>
              <a:rPr lang="zh-CN" altLang="en-US" sz="2000" dirty="0">
                <a:latin typeface="+mn-ea"/>
                <a:cs typeface="+mn-ea"/>
              </a:rPr>
              <a:t>教授</a:t>
            </a:r>
            <a:endParaRPr lang="en-US" altLang="zh-CN" sz="2000" dirty="0">
              <a:latin typeface="+mn-ea"/>
              <a:cs typeface="+mn-ea"/>
            </a:endParaRPr>
          </a:p>
          <a:p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+mn-ea"/>
                <a:cs typeface="+mn-ea"/>
              </a:rPr>
              <a:t>香港科技大学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n-ea"/>
                <a:cs typeface="+mn-ea"/>
              </a:rPr>
              <a:t> 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+mn-ea"/>
                <a:cs typeface="+mn-ea"/>
              </a:rPr>
              <a:t>计算机科学与工程系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5" name="Picture 2" descr="大学校徽系列：香港科技大学标志矢量图- 设计之家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9" t="36836" r="7339" b="37853"/>
          <a:stretch>
            <a:fillRect/>
          </a:stretch>
        </p:blipFill>
        <p:spPr bwMode="auto">
          <a:xfrm>
            <a:off x="481163" y="5691140"/>
            <a:ext cx="3593470" cy="77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Text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162" y="5552183"/>
            <a:ext cx="3797492" cy="907131"/>
          </a:xfrm>
          <a:prstGeom prst="rect">
            <a:avLst/>
          </a:prstGeom>
        </p:spPr>
      </p:pic>
      <p:pic>
        <p:nvPicPr>
          <p:cNvPr id="4" name="Picture 3" descr="A close-up of a 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184" y="5695693"/>
            <a:ext cx="3301082" cy="907131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/>
        </p:nvSpPr>
        <p:spPr>
          <a:xfrm>
            <a:off x="608330" y="2784475"/>
            <a:ext cx="11261725" cy="77343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C00000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ICML 2026</a:t>
            </a:r>
            <a:endParaRPr lang="zh-CN" altLang="en-US" sz="1600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作者</a:t>
            </a:r>
            <a:r>
              <a:rPr lang="en-US" altLang="zh-CN" sz="16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：Anselm Paulus, Ilia Kulikov, Brandon Amos, R</a:t>
            </a:r>
            <a:r>
              <a:rPr lang="en-US" altLang="en-US" sz="16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é</a:t>
            </a:r>
            <a:r>
              <a:rPr lang="en-US" altLang="zh-CN" sz="16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mi Munos, Ivan Evtimov, Kamalika Chaudhuri, Arman Zharmagambeto</a:t>
            </a:r>
            <a:r>
              <a:rPr lang="en-US" altLang="zh-CN" sz="16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v</a:t>
            </a:r>
            <a:endParaRPr lang="en-US" altLang="zh-CN" sz="1600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65118" y="326422"/>
            <a:ext cx="3893153" cy="64512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目录</a:t>
            </a:r>
            <a:endParaRPr sz="3600" b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76325" y="1952625"/>
            <a:ext cx="952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28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2333625" y="1952625"/>
            <a:ext cx="3238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 sz="2700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0" y="2000250"/>
            <a:ext cx="494347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安全对齐问题与两个挑战</a:t>
            </a:r>
            <a:endParaRPr sz="2100" b="0">
              <a:solidFill>
                <a:srgbClr val="77777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76325" y="2952750"/>
            <a:ext cx="952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28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33625" y="2952750"/>
            <a:ext cx="3238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本文方法</a:t>
            </a:r>
            <a:endParaRPr sz="2700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0" y="3000375"/>
            <a:ext cx="494347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独立参数、非零和目标在线训练</a:t>
            </a:r>
            <a:endParaRPr sz="2100" b="0">
              <a:solidFill>
                <a:srgbClr val="77777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76325" y="3952875"/>
            <a:ext cx="952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28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333625" y="3952875"/>
            <a:ext cx="3238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</a:t>
            </a:r>
            <a:endParaRPr sz="2700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4000500"/>
            <a:ext cx="494347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主要结果、消融实验与攻击者分析</a:t>
            </a:r>
            <a:endParaRPr sz="2100" b="0">
              <a:solidFill>
                <a:srgbClr val="77777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76325" y="4953000"/>
            <a:ext cx="952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28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33625" y="4953000"/>
            <a:ext cx="3238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  <a:endParaRPr sz="2700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86500" y="5000625"/>
            <a:ext cx="494347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方法贡献与后续方向</a:t>
            </a:r>
            <a:endParaRPr sz="2100" b="0">
              <a:solidFill>
                <a:srgbClr val="777777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1076325" y="2419350"/>
            <a:ext cx="1666875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5700" b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143250" y="2600325"/>
            <a:ext cx="8086725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 sz="3900" b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143250" y="3638550"/>
            <a:ext cx="8086725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两个挑战</a:t>
            </a:r>
            <a:endParaRPr sz="2250" b="0">
              <a:solidFill>
                <a:srgbClr val="55555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1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研究背景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76960" y="1049655"/>
            <a:ext cx="1015809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2800">
                <a:latin typeface="Microsoft YaHei" charset="0"/>
                <a:ea typeface="Microsoft YaHei" charset="0"/>
              </a:rPr>
              <a:t>大语言模型已广泛应用于对话助手</a:t>
            </a:r>
            <a:r>
              <a:rPr lang="en-US" altLang="zh-CN" sz="2800">
                <a:latin typeface="Microsoft YaHei" charset="0"/>
                <a:ea typeface="Microsoft YaHei" charset="0"/>
              </a:rPr>
              <a:t>、</a:t>
            </a:r>
            <a:r>
              <a:rPr lang="zh-CN" altLang="en-US" sz="2800">
                <a:latin typeface="Microsoft YaHei" charset="0"/>
                <a:ea typeface="Microsoft YaHei" charset="0"/>
              </a:rPr>
              <a:t>各类智能决策系统等</a:t>
            </a:r>
            <a:endParaRPr lang="zh-CN" altLang="en-US" sz="2800">
              <a:latin typeface="Microsoft YaHei" charset="0"/>
              <a:ea typeface="Microsoft YaHei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2800">
                <a:latin typeface="Microsoft YaHei" charset="0"/>
                <a:ea typeface="Microsoft YaHei" charset="0"/>
              </a:rPr>
              <a:t>实现模型回复的</a:t>
            </a:r>
            <a:r>
              <a:rPr lang="zh-CN" altLang="en-US" sz="28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有用性</a:t>
            </a:r>
            <a:r>
              <a:rPr lang="zh-CN" altLang="en-US" sz="2800">
                <a:latin typeface="Microsoft YaHei" charset="0"/>
                <a:ea typeface="Microsoft YaHei" charset="0"/>
              </a:rPr>
              <a:t>与</a:t>
            </a:r>
            <a:r>
              <a:rPr lang="zh-CN" altLang="en-US" sz="28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防止有害输出</a:t>
            </a:r>
            <a:r>
              <a:rPr lang="zh-CN" altLang="en-US" sz="2800">
                <a:latin typeface="Microsoft YaHei" charset="0"/>
                <a:ea typeface="Microsoft YaHei" charset="0"/>
              </a:rPr>
              <a:t>之间的平衡对语言模型的可靠部署至关重要</a:t>
            </a:r>
            <a:endParaRPr lang="zh-CN" altLang="en-US" sz="2800">
              <a:latin typeface="Microsoft YaHei" charset="0"/>
              <a:ea typeface="Microsoft YaHei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5595" y="3037840"/>
            <a:ext cx="6600190" cy="31750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277870" y="6055995"/>
            <a:ext cx="6177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b="1">
                <a:solidFill>
                  <a:srgbClr val="C00000"/>
                </a:solidFill>
                <a:latin typeface="Kaiti SC Bold" panose="02010600040101010101" charset="-122"/>
                <a:ea typeface="Kaiti SC Bold" panose="02010600040101010101" charset="-122"/>
              </a:rPr>
              <a:t>语言模型的安全对齐问题尚未得到彻底解决</a:t>
            </a:r>
            <a:endParaRPr lang="zh-CN" altLang="en-US" sz="2400" b="1">
              <a:solidFill>
                <a:srgbClr val="C00000"/>
              </a:solidFill>
              <a:latin typeface="Kaiti SC Bold" panose="02010600040101010101" charset="-122"/>
              <a:ea typeface="Kaiti SC Bold" panose="0201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1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研究背景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76960" y="1049655"/>
            <a:ext cx="101580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</a:rPr>
              <a:t>现有语言模型安全对齐方法</a:t>
            </a:r>
            <a:r>
              <a:rPr lang="en-US" altLang="zh-CN" sz="2800">
                <a:latin typeface="Microsoft YaHei" charset="0"/>
                <a:ea typeface="Microsoft YaHei" charset="0"/>
              </a:rPr>
              <a:t>：</a:t>
            </a:r>
            <a:r>
              <a:rPr lang="zh-CN" altLang="en-US" sz="2800">
                <a:latin typeface="Microsoft YaHei" charset="0"/>
                <a:ea typeface="Microsoft YaHei" charset="0"/>
              </a:rPr>
              <a:t>从人工到自动化博弈</a:t>
            </a:r>
            <a:endParaRPr lang="zh-CN" altLang="en-US" sz="2800">
              <a:latin typeface="Microsoft YaHei" charset="0"/>
              <a:ea typeface="Microsoft YaHei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2044065"/>
            <a:ext cx="11010900" cy="19050"/>
          </a:xfrm>
          <a:prstGeom prst="rect">
            <a:avLst/>
          </a:prstGeom>
          <a:solidFill>
            <a:srgbClr val="B8C7CB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2237105"/>
            <a:ext cx="71501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850" b="1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01</a:t>
            </a:r>
            <a:endParaRPr sz="2850" b="1">
              <a:solidFill>
                <a:srgbClr val="64737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2808605"/>
            <a:ext cx="328866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400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人工红队</a:t>
            </a:r>
            <a:r>
              <a:rPr lang="en-US" sz="2400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[1]</a:t>
            </a:r>
            <a:endParaRPr lang="en-US" sz="2400" b="1">
              <a:solidFill>
                <a:srgbClr val="172D3B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3380105"/>
            <a:ext cx="328866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lang="zh-CN"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不足</a:t>
            </a:r>
            <a:r>
              <a:rPr lang="en-US" altLang="zh-CN"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：</a:t>
            </a:r>
            <a:r>
              <a:rPr lang="zh-CN" altLang="en-US"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样本收集成本高</a:t>
            </a:r>
            <a:r>
              <a:rPr lang="en-US" altLang="zh-CN"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，</a:t>
            </a:r>
            <a:r>
              <a:rPr lang="zh-CN" altLang="en-US"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覆盖</a:t>
            </a:r>
            <a:r>
              <a:rPr lang="zh-CN" altLang="en-US"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有限</a:t>
            </a:r>
            <a:endParaRPr lang="zh-CN" altLang="en-US" sz="1575" b="0">
              <a:solidFill>
                <a:srgbClr val="64737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194175" y="2303780"/>
            <a:ext cx="19050" cy="3333750"/>
          </a:xfrm>
          <a:prstGeom prst="rect">
            <a:avLst/>
          </a:prstGeom>
          <a:solidFill>
            <a:srgbClr val="DCE3E4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403725" y="2237105"/>
            <a:ext cx="71501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26D86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>
                <a:solidFill>
                  <a:srgbClr val="64737D"/>
                </a:solidFill>
                <a:sym typeface="+mn-ea"/>
              </a:rPr>
              <a:t>0</a:t>
            </a:r>
            <a:r>
              <a:rPr lang="en-US">
                <a:solidFill>
                  <a:srgbClr val="64737D"/>
                </a:solidFill>
                <a:sym typeface="+mn-ea"/>
              </a:rPr>
              <a:t>2</a:t>
            </a:r>
            <a:endParaRPr lang="en-US" sz="2850" b="1">
              <a:solidFill>
                <a:srgbClr val="64737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3725" y="2808605"/>
            <a:ext cx="328866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400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专门</a:t>
            </a:r>
            <a:r>
              <a:rPr lang="zh-CN" sz="2400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训练</a:t>
            </a:r>
            <a:r>
              <a:rPr sz="2400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的攻击者</a:t>
            </a:r>
            <a:r>
              <a:rPr lang="en-US" sz="2400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[2]</a:t>
            </a:r>
            <a:endParaRPr lang="en-US" sz="2400" b="1">
              <a:solidFill>
                <a:srgbClr val="172D3B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03725" y="3380105"/>
            <a:ext cx="3416300" cy="59563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lang="zh-CN"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不足</a:t>
            </a:r>
            <a:r>
              <a:rPr lang="en-US" altLang="zh-CN"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：</a:t>
            </a:r>
            <a:r>
              <a:rPr lang="zh-CN" altLang="en-US"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随着被对齐模型防御能力提升</a:t>
            </a:r>
            <a:r>
              <a:rPr lang="en-US" altLang="zh-CN"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，</a:t>
            </a:r>
            <a:r>
              <a:rPr lang="zh-CN" altLang="en-US"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攻击者生成的</a:t>
            </a:r>
            <a:r>
              <a:rPr lang="zh-CN" altLang="en-US">
                <a:sym typeface="+mn-ea"/>
              </a:rPr>
              <a:t>攻击样本难度</a:t>
            </a:r>
            <a:r>
              <a:rPr lang="zh-CN" altLang="en-US">
                <a:sym typeface="+mn-ea"/>
              </a:rPr>
              <a:t>有限</a:t>
            </a:r>
            <a:endParaRPr lang="zh-CN" altLang="en-US">
              <a:sym typeface="+mn-ea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7350" y="2303780"/>
            <a:ext cx="19050" cy="3333750"/>
          </a:xfrm>
          <a:prstGeom prst="rect">
            <a:avLst/>
          </a:prstGeom>
          <a:solidFill>
            <a:srgbClr val="DCE3E4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216900" y="2237105"/>
            <a:ext cx="71501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BC5B45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>
                <a:solidFill>
                  <a:srgbClr val="64737D"/>
                </a:solidFill>
                <a:sym typeface="+mn-ea"/>
              </a:rPr>
              <a:t>0</a:t>
            </a:r>
            <a:r>
              <a:rPr lang="en-US">
                <a:solidFill>
                  <a:srgbClr val="64737D"/>
                </a:solidFill>
                <a:sym typeface="+mn-ea"/>
              </a:rPr>
              <a:t>3</a:t>
            </a:r>
            <a:endParaRPr lang="en-US" sz="2850" b="1">
              <a:solidFill>
                <a:srgbClr val="64737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16900" y="2808605"/>
            <a:ext cx="328866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lang="zh-CN" altLang="en-US" sz="2400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Self-RedTeam[3]</a:t>
            </a:r>
            <a:endParaRPr lang="en-US" sz="2400" b="1">
              <a:solidFill>
                <a:srgbClr val="172D3B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16900" y="3380105"/>
            <a:ext cx="3865880" cy="59563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lang="zh-CN"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不足：攻防角色纠缠；零和目标导致乱码等</a:t>
            </a:r>
            <a:r>
              <a:rPr lang="zh-CN"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无效输出</a:t>
            </a:r>
            <a:endParaRPr lang="zh-CN" sz="1575" b="0">
              <a:solidFill>
                <a:srgbClr val="64737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 rot="0">
            <a:off x="590550" y="4180205"/>
            <a:ext cx="3435350" cy="1472565"/>
            <a:chOff x="930" y="6609"/>
            <a:chExt cx="5406" cy="2319"/>
          </a:xfrm>
        </p:grpSpPr>
        <p:sp>
          <p:nvSpPr>
            <p:cNvPr id="19" name="矩形 18"/>
            <p:cNvSpPr>
              <a:spLocks noGrp="1"/>
            </p:cNvSpPr>
            <p:nvPr/>
          </p:nvSpPr>
          <p:spPr>
            <a:xfrm>
              <a:off x="930" y="6609"/>
              <a:ext cx="2025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1950" b="1">
                  <a:solidFill>
                    <a:srgbClr val="172D3B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sz="1950" b="1">
                  <a:solidFill>
                    <a:srgbClr val="172D3B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人工攻击</a:t>
              </a:r>
              <a:endParaRPr sz="1950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20" name="矩形 19"/>
            <p:cNvSpPr>
              <a:spLocks noGrp="1"/>
            </p:cNvSpPr>
            <p:nvPr/>
          </p:nvSpPr>
          <p:spPr>
            <a:xfrm>
              <a:off x="2955" y="6609"/>
              <a:ext cx="645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2325" b="0">
                  <a:solidFill>
                    <a:srgbClr val="64737D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sz="2325" b="0">
                  <a:solidFill>
                    <a:srgbClr val="64737D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→</a:t>
              </a:r>
              <a:endParaRPr sz="232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21" name="矩形 20"/>
            <p:cNvSpPr>
              <a:spLocks noGrp="1"/>
            </p:cNvSpPr>
            <p:nvPr/>
          </p:nvSpPr>
          <p:spPr>
            <a:xfrm>
              <a:off x="3630" y="6609"/>
              <a:ext cx="2707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1950" b="1">
                  <a:solidFill>
                    <a:srgbClr val="172D3B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lang="zh-CN" sz="1950" b="1">
                  <a:solidFill>
                    <a:srgbClr val="172D3B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安全</a:t>
              </a:r>
              <a:r>
                <a:rPr sz="1950" b="1">
                  <a:solidFill>
                    <a:srgbClr val="172D3B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失败样例</a:t>
              </a:r>
              <a:endParaRPr sz="1950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22" name="矩形 21"/>
            <p:cNvSpPr>
              <a:spLocks noGrp="1"/>
            </p:cNvSpPr>
            <p:nvPr/>
          </p:nvSpPr>
          <p:spPr>
            <a:xfrm>
              <a:off x="3300" y="7434"/>
              <a:ext cx="675" cy="63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2250" b="0">
                  <a:solidFill>
                    <a:srgbClr val="64737D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sz="2250" b="0">
                  <a:solidFill>
                    <a:srgbClr val="64737D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↓</a:t>
              </a:r>
              <a:endParaRPr sz="2250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23" name="矩形 22"/>
            <p:cNvSpPr>
              <a:spLocks noGrp="1"/>
            </p:cNvSpPr>
            <p:nvPr/>
          </p:nvSpPr>
          <p:spPr>
            <a:xfrm>
              <a:off x="1812" y="8148"/>
              <a:ext cx="3652" cy="78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2025" b="1">
                  <a:solidFill>
                    <a:srgbClr val="126D86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sz="2025" b="1">
                  <a:solidFill>
                    <a:srgbClr val="126D86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训练</a:t>
              </a:r>
              <a:r>
                <a:rPr lang="zh-CN" sz="2025" b="1">
                  <a:solidFill>
                    <a:srgbClr val="126D86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被对齐</a:t>
              </a:r>
              <a:r>
                <a:rPr sz="2025" b="1">
                  <a:solidFill>
                    <a:srgbClr val="126D86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模型</a:t>
              </a:r>
              <a:endParaRPr sz="2025" b="1">
                <a:solidFill>
                  <a:srgbClr val="126D86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 rot="0">
            <a:off x="4403725" y="4142105"/>
            <a:ext cx="3460750" cy="1504950"/>
            <a:chOff x="6930" y="6549"/>
            <a:chExt cx="5445" cy="2370"/>
          </a:xfrm>
        </p:grpSpPr>
        <p:sp>
          <p:nvSpPr>
            <p:cNvPr id="24" name="矩形 23"/>
            <p:cNvSpPr>
              <a:spLocks noGrp="1"/>
            </p:cNvSpPr>
            <p:nvPr/>
          </p:nvSpPr>
          <p:spPr>
            <a:xfrm>
              <a:off x="6930" y="6549"/>
              <a:ext cx="1950" cy="63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2025" b="1">
                  <a:solidFill>
                    <a:srgbClr val="172D3B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sz="2025" b="1">
                  <a:solidFill>
                    <a:srgbClr val="172D3B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攻击数据</a:t>
              </a:r>
              <a:endParaRPr sz="2025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25" name="矩形 24"/>
            <p:cNvSpPr>
              <a:spLocks noGrp="1"/>
            </p:cNvSpPr>
            <p:nvPr/>
          </p:nvSpPr>
          <p:spPr>
            <a:xfrm>
              <a:off x="8805" y="6549"/>
              <a:ext cx="675" cy="675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2400" b="0">
                  <a:solidFill>
                    <a:srgbClr val="64737D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sz="2400" b="0">
                  <a:solidFill>
                    <a:srgbClr val="64737D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→</a:t>
              </a:r>
              <a:endParaRPr sz="2400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26" name="矩形 25"/>
            <p:cNvSpPr>
              <a:spLocks noGrp="1"/>
            </p:cNvSpPr>
            <p:nvPr/>
          </p:nvSpPr>
          <p:spPr>
            <a:xfrm>
              <a:off x="9525" y="6549"/>
              <a:ext cx="2850" cy="63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2025" b="1">
                  <a:solidFill>
                    <a:srgbClr val="172D3B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sz="2025" b="1">
                  <a:solidFill>
                    <a:srgbClr val="172D3B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训练</a:t>
              </a:r>
              <a:r>
                <a:rPr>
                  <a:solidFill>
                    <a:srgbClr val="BC5B45"/>
                  </a:solidFill>
                  <a:sym typeface="+mn-ea"/>
                </a:rPr>
                <a:t>攻击者</a:t>
              </a:r>
              <a:endParaRPr sz="2025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27" name="矩形 26"/>
            <p:cNvSpPr>
              <a:spLocks noGrp="1"/>
            </p:cNvSpPr>
            <p:nvPr/>
          </p:nvSpPr>
          <p:spPr>
            <a:xfrm>
              <a:off x="9615" y="7440"/>
              <a:ext cx="645" cy="60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2250" b="0">
                  <a:solidFill>
                    <a:srgbClr val="64737D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sz="2250" b="0">
                  <a:solidFill>
                    <a:srgbClr val="64737D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↓</a:t>
              </a:r>
              <a:endParaRPr sz="2250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30" name="矩形 29"/>
            <p:cNvSpPr>
              <a:spLocks noGrp="1"/>
            </p:cNvSpPr>
            <p:nvPr/>
          </p:nvSpPr>
          <p:spPr>
            <a:xfrm>
              <a:off x="8648" y="8289"/>
              <a:ext cx="3457" cy="63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2025" b="1">
                  <a:solidFill>
                    <a:srgbClr val="126D86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sz="2025" b="1">
                  <a:solidFill>
                    <a:srgbClr val="126D86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训练</a:t>
              </a:r>
              <a:r>
                <a:rPr lang="zh-CN">
                  <a:sym typeface="+mn-ea"/>
                </a:rPr>
                <a:t>被对齐</a:t>
              </a:r>
              <a:r>
                <a:rPr>
                  <a:sym typeface="+mn-ea"/>
                </a:rPr>
                <a:t>模型</a:t>
              </a:r>
              <a:endParaRPr sz="2025" b="1">
                <a:solidFill>
                  <a:srgbClr val="126D86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 rot="0">
            <a:off x="8216900" y="4104005"/>
            <a:ext cx="3602990" cy="1356995"/>
            <a:chOff x="12930" y="6489"/>
            <a:chExt cx="5669" cy="2137"/>
          </a:xfrm>
        </p:grpSpPr>
        <p:sp>
          <p:nvSpPr>
            <p:cNvPr id="31" name="矩形 30"/>
            <p:cNvSpPr>
              <a:spLocks noGrp="1"/>
            </p:cNvSpPr>
            <p:nvPr/>
          </p:nvSpPr>
          <p:spPr>
            <a:xfrm>
              <a:off x="12930" y="6504"/>
              <a:ext cx="2325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2175" b="1">
                  <a:solidFill>
                    <a:srgbClr val="BC5B45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sz="2175" b="1">
                  <a:solidFill>
                    <a:srgbClr val="BC5B45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攻击者 ρ</a:t>
              </a:r>
              <a:endParaRPr sz="2175" b="1">
                <a:solidFill>
                  <a:srgbClr val="BC5B45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32" name="矩形 31"/>
            <p:cNvSpPr>
              <a:spLocks noGrp="1"/>
            </p:cNvSpPr>
            <p:nvPr/>
          </p:nvSpPr>
          <p:spPr>
            <a:xfrm>
              <a:off x="15225" y="6489"/>
              <a:ext cx="945" cy="78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2775" b="0">
                  <a:solidFill>
                    <a:srgbClr val="64737D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sz="2775" b="0">
                  <a:solidFill>
                    <a:srgbClr val="64737D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⇄</a:t>
              </a:r>
              <a:endParaRPr sz="27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33" name="矩形 32"/>
            <p:cNvSpPr>
              <a:spLocks noGrp="1"/>
            </p:cNvSpPr>
            <p:nvPr/>
          </p:nvSpPr>
          <p:spPr>
            <a:xfrm>
              <a:off x="16125" y="6504"/>
              <a:ext cx="2475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2175" b="1">
                  <a:solidFill>
                    <a:srgbClr val="126D86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sz="2175" b="1">
                  <a:solidFill>
                    <a:srgbClr val="126D86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防御者 π</a:t>
              </a:r>
              <a:endParaRPr sz="2175" b="1">
                <a:solidFill>
                  <a:srgbClr val="126D86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37" name="矩形 36"/>
            <p:cNvSpPr>
              <a:spLocks noGrp="1"/>
            </p:cNvSpPr>
            <p:nvPr/>
          </p:nvSpPr>
          <p:spPr>
            <a:xfrm>
              <a:off x="14272" y="7464"/>
              <a:ext cx="2850" cy="1162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 algn="ctr">
                <a:defRPr sz="1875" b="0">
                  <a:solidFill>
                    <a:srgbClr val="172D3B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lang="zh-CN" sz="1875" b="1">
                  <a:solidFill>
                    <a:srgbClr val="172D3B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共享参数的</a:t>
              </a:r>
              <a:endParaRPr lang="zh-CN" sz="1875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  <a:p>
              <a:pPr algn="ctr">
                <a:defRPr sz="1875" b="0">
                  <a:solidFill>
                    <a:srgbClr val="172D3B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defRPr>
              </a:pPr>
              <a:r>
                <a:rPr lang="zh-CN" altLang="en-US" sz="1875" b="1">
                  <a:solidFill>
                    <a:srgbClr val="172D3B"/>
                  </a:solidFill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rPr>
                <a:t>零和自博弈</a:t>
              </a:r>
              <a:endParaRPr lang="zh-CN" altLang="en-US" sz="1875" b="1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sp>
        <p:nvSpPr>
          <p:cNvPr id="38" name="矩形 37"/>
          <p:cNvSpPr>
            <a:spLocks noGrp="1"/>
          </p:cNvSpPr>
          <p:nvPr/>
        </p:nvSpPr>
        <p:spPr>
          <a:xfrm>
            <a:off x="485775" y="6052185"/>
            <a:ext cx="11010900" cy="644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lang="en-US" sz="1200" b="0">
                <a:solidFill>
                  <a:srgbClr val="64737D"/>
                </a:solidFill>
                <a:latin typeface="Times New Roman Regular" panose="02020503050405090304" charset="0"/>
                <a:ea typeface="Arial Unicode MS" panose="020B0604020202020204" charset="-122"/>
                <a:cs typeface="Arial Unicode MS" panose="020B0604020202020204" charset="-122"/>
              </a:rPr>
              <a:t>[1] </a:t>
            </a:r>
            <a:r>
              <a:rPr lang="en-US" altLang="zh-CN" sz="1200" b="0">
                <a:solidFill>
                  <a:srgbClr val="64737D"/>
                </a:solidFill>
                <a:latin typeface="Times New Roman Regular" panose="02020503050405090304" charset="0"/>
                <a:ea typeface="Arial Unicode MS" panose="020B0604020202020204" charset="-122"/>
                <a:cs typeface="Arial Unicode MS" panose="020B0604020202020204" charset="-122"/>
              </a:rPr>
              <a:t>Ganguli, D., et al. Red teaming language models to reduce harms: Methods, scaling behaviors, and lessons learned, 2022.</a:t>
            </a:r>
            <a:r>
              <a:rPr lang="en-US" sz="1200" b="0">
                <a:solidFill>
                  <a:srgbClr val="64737D"/>
                </a:solidFill>
                <a:latin typeface="Times New Roman Regular" panose="02020503050405090304" charset="0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endParaRPr lang="en-US" sz="1200" b="0">
              <a:solidFill>
                <a:srgbClr val="64737D"/>
              </a:solidFill>
              <a:latin typeface="Times New Roman Regular" panose="02020503050405090304" charset="0"/>
              <a:ea typeface="Arial Unicode MS" panose="020B0604020202020204" charset="-122"/>
              <a:cs typeface="Arial Unicode MS" panose="020B0604020202020204" charset="-122"/>
            </a:endParaRPr>
          </a:p>
          <a:p>
            <a:pPr>
              <a:defRPr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lang="en-US" altLang="zh-CN" sz="1200" b="0">
                <a:solidFill>
                  <a:srgbClr val="64737D"/>
                </a:solidFill>
                <a:latin typeface="Times New Roman Regular" panose="02020503050405090304" charset="0"/>
                <a:ea typeface="Arial Unicode MS" panose="020B0604020202020204" charset="-122"/>
                <a:cs typeface="Arial Unicode MS" panose="020B0604020202020204" charset="-122"/>
              </a:rPr>
              <a:t>[2] Paulus, A.</a:t>
            </a:r>
            <a:r>
              <a:rPr lang="en-US" altLang="zh-CN" sz="1200">
                <a:latin typeface="Times New Roman Regular" panose="02020503050405090304" charset="0"/>
                <a:sym typeface="+mn-ea"/>
              </a:rPr>
              <a:t>, et al.</a:t>
            </a:r>
            <a:r>
              <a:rPr lang="en-US" altLang="zh-CN" sz="1200" b="0">
                <a:solidFill>
                  <a:srgbClr val="64737D"/>
                </a:solidFill>
                <a:latin typeface="Times New Roman Regular" panose="02020503050405090304" charset="0"/>
                <a:ea typeface="Arial Unicode MS" panose="020B0604020202020204" charset="-122"/>
                <a:cs typeface="Arial Unicode MS" panose="020B0604020202020204" charset="-122"/>
              </a:rPr>
              <a:t> AdvPrompter: Fast adaptive adversarial prompting for LLMs. In International Conference on Machine Learning, pp. 48439–48469, 2025.</a:t>
            </a:r>
            <a:endParaRPr lang="en-US" altLang="zh-CN" sz="1200" b="0">
              <a:solidFill>
                <a:srgbClr val="64737D"/>
              </a:solidFill>
              <a:latin typeface="Times New Roman Regular" panose="02020503050405090304" charset="0"/>
              <a:ea typeface="Arial Unicode MS" panose="020B0604020202020204" charset="-122"/>
              <a:cs typeface="Arial Unicode MS" panose="020B0604020202020204" charset="-122"/>
            </a:endParaRPr>
          </a:p>
          <a:p>
            <a:pPr>
              <a:defRPr sz="1575" b="0">
                <a:solidFill>
                  <a:srgbClr val="64737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lang="en-US" altLang="zh-CN" sz="1200" b="0">
                <a:solidFill>
                  <a:srgbClr val="64737D"/>
                </a:solidFill>
                <a:latin typeface="Times New Roman Regular" panose="02020503050405090304" charset="0"/>
                <a:ea typeface="Arial Unicode MS" panose="020B0604020202020204" charset="-122"/>
                <a:cs typeface="Arial Unicode MS" panose="020B0604020202020204" charset="-122"/>
              </a:rPr>
              <a:t>[3] Liu, M.</a:t>
            </a:r>
            <a:r>
              <a:rPr lang="en-US" altLang="zh-CN" sz="1200">
                <a:latin typeface="Times New Roman Regular" panose="02020503050405090304" charset="0"/>
                <a:sym typeface="+mn-ea"/>
              </a:rPr>
              <a:t>, et al.</a:t>
            </a:r>
            <a:r>
              <a:rPr lang="en-US" altLang="zh-CN" sz="1200" b="0">
                <a:solidFill>
                  <a:srgbClr val="64737D"/>
                </a:solidFill>
                <a:latin typeface="Times New Roman Regular" panose="02020503050405090304" charset="0"/>
                <a:ea typeface="Arial Unicode MS" panose="020B0604020202020204" charset="-122"/>
                <a:cs typeface="Arial Unicode MS" panose="020B0604020202020204" charset="-122"/>
              </a:rPr>
              <a:t> Chasing moving targets with online self-play reinforcement learning for safer language models, 2025.</a:t>
            </a:r>
            <a:endParaRPr lang="en-US" altLang="zh-CN" sz="1200" b="0">
              <a:solidFill>
                <a:srgbClr val="64737D"/>
              </a:solidFill>
              <a:latin typeface="Times New Roman Regular" panose="02020503050405090304" charset="0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489065" y="4593590"/>
            <a:ext cx="1098550" cy="559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875" b="0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lang="zh-CN" sz="1500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+mn-ea"/>
              </a:rPr>
              <a:t>批量生成</a:t>
            </a:r>
            <a:br>
              <a:rPr lang="zh-CN" sz="1500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+mn-ea"/>
              </a:rPr>
            </a:br>
            <a:r>
              <a:rPr lang="zh-CN" sz="1500">
                <a:solidFill>
                  <a:srgbClr val="172D3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+mn-ea"/>
              </a:rPr>
              <a:t>攻击样本</a:t>
            </a:r>
            <a:endParaRPr lang="zh-CN" altLang="en-US" sz="1500">
              <a:solidFill>
                <a:srgbClr val="172D3B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1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研究背景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1076960" y="1049655"/>
            <a:ext cx="101580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</a:rPr>
              <a:t>挑战 1：共享参数使攻击与防御角色纠缠</a:t>
            </a:r>
            <a:endParaRPr lang="en-US" altLang="zh-CN" sz="2800">
              <a:latin typeface="Microsoft YaHei" charset="0"/>
              <a:ea typeface="Microsoft YaHei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6960" y="1864995"/>
            <a:ext cx="101580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>
                <a:latin typeface="Microsoft YaHei" charset="0"/>
                <a:ea typeface="Microsoft YaHei" charset="0"/>
              </a:rPr>
              <a:t>共享参数导致攻击防御目标纠缠</a:t>
            </a:r>
            <a:r>
              <a:rPr lang="en-US" sz="2400">
                <a:latin typeface="Microsoft YaHei" charset="0"/>
                <a:ea typeface="Microsoft YaHei" charset="0"/>
              </a:rPr>
              <a:t>，</a:t>
            </a:r>
            <a:r>
              <a:rPr lang="zh-CN" altLang="en-US" sz="2400">
                <a:latin typeface="Microsoft YaHei" charset="0"/>
                <a:ea typeface="Microsoft YaHei" charset="0"/>
              </a:rPr>
              <a:t>甚至会</a:t>
            </a:r>
            <a:r>
              <a:rPr lang="zh-CN" altLang="en-US" sz="2400">
                <a:latin typeface="Microsoft YaHei" charset="0"/>
                <a:ea typeface="Microsoft YaHei" charset="0"/>
                <a:sym typeface="+mn-ea"/>
              </a:rPr>
              <a:t>诱使模型走向退化的“解”（例如攻击者拒绝生成有害攻击</a:t>
            </a:r>
            <a:r>
              <a:rPr lang="en-US" altLang="zh-CN" sz="2400">
                <a:latin typeface="Microsoft YaHei" charset="0"/>
                <a:ea typeface="Microsoft YaHei" charset="0"/>
                <a:sym typeface="+mn-ea"/>
              </a:rPr>
              <a:t>）</a:t>
            </a:r>
            <a:endParaRPr lang="en-US" altLang="zh-CN" sz="2400">
              <a:latin typeface="Microsoft YaHei" charset="0"/>
              <a:ea typeface="Microsoft YaHei" charset="0"/>
              <a:sym typeface="+mn-ea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509395" y="3141980"/>
            <a:ext cx="1015365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•同一组参数既要生成有效攻击，又要学习拒绝有害请求</a:t>
            </a:r>
            <a:endParaRPr sz="2325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509395" y="3949700"/>
            <a:ext cx="1015365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•防御目标可能压制攻击探索，攻击样本逐渐失去难度</a:t>
            </a:r>
            <a:endParaRPr sz="2325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76325" y="5297170"/>
            <a:ext cx="101536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需要分离角色参数，同时让两个模型持续适应彼此</a:t>
            </a:r>
            <a:endParaRPr sz="21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1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研究背景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1076960" y="1049655"/>
            <a:ext cx="101580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</a:rPr>
              <a:t>挑战 2：零和奖励把“回复失效”也当作“攻击成功”</a:t>
            </a:r>
            <a:endParaRPr lang="en-US" altLang="zh-CN" sz="2800">
              <a:latin typeface="Microsoft YaHei" charset="0"/>
              <a:ea typeface="Microsoft YaHei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76325" y="1857375"/>
            <a:ext cx="60102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i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零和</a:t>
            </a:r>
            <a:r>
              <a:rPr lang="zh-CN" sz="2250" b="0" i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目标下</a:t>
            </a:r>
            <a:r>
              <a:rPr lang="en-US" altLang="zh-CN" sz="2250" b="0" i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250" b="0" i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攻击者奖励 = </a:t>
            </a:r>
            <a:r>
              <a:rPr lang="en-US" sz="2250" b="0" i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 </a:t>
            </a:r>
            <a:r>
              <a:rPr sz="2250" b="0" i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−</a:t>
            </a:r>
            <a:r>
              <a:rPr lang="en-US" sz="2250" b="0" i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250" b="0" i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防御者奖励</a:t>
            </a:r>
            <a:endParaRPr sz="2250" b="0" i="1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1191260" y="2519045"/>
          <a:ext cx="10153650" cy="2890520"/>
        </p:xfrm>
        <a:graphic>
          <a:graphicData uri="http://schemas.openxmlformats.org/drawingml/2006/table">
            <a:tbl>
              <a:tblPr/>
              <a:tblGrid>
                <a:gridCol w="2472118"/>
                <a:gridCol w="2472118"/>
                <a:gridCol w="1873544"/>
                <a:gridCol w="2096929"/>
              </a:tblGrid>
              <a:tr h="762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75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  <a:r>
                        <a:rPr lang="zh-CN" altLang="en-US" sz="1875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请求类型</a:t>
                      </a:r>
                      <a:endParaRPr lang="zh-CN" altLang="en-US" sz="1875" b="1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防御者</a:t>
                      </a:r>
                      <a:r>
                        <a:rPr lang="zh-CN" sz="1875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  <a:endParaRPr lang="zh-CN" sz="1875" b="1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lang="zh-CN" sz="1875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攻击者奖励</a:t>
                      </a:r>
                      <a:endParaRPr lang="zh-CN" sz="1875" b="1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lang="zh-CN" sz="1875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防御者奖励</a:t>
                      </a:r>
                      <a:endParaRPr lang="zh-CN" sz="1875" b="1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62000">
                <a:tc>
                  <a:txBody>
                    <a:bodyPr/>
                    <a:p>
                      <a:pPr>
                        <a:buNone/>
                      </a:pPr>
                      <a:r>
                        <a:rPr sz="1875">
                          <a:latin typeface="Microsoft YaHei"/>
                          <a:ea typeface="Microsoft YaHei"/>
                          <a:cs typeface="Microsoft YaHei"/>
                          <a:sym typeface="+mn-ea"/>
                        </a:rPr>
                        <a:t>有害请求</a:t>
                      </a:r>
                      <a:endParaRPr lang="zh-CN" altLang="en-US" sz="1875" b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lang="zh-CN" sz="1875" b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拒绝有害请求</a:t>
                      </a:r>
                      <a:endParaRPr lang="zh-CN" sz="1875" b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lang="zh-CN" sz="1875" b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负值</a:t>
                      </a:r>
                      <a:endParaRPr lang="zh-CN" sz="1875" b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lang="zh-CN" sz="1875" b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正值</a:t>
                      </a:r>
                      <a:endParaRPr lang="zh-CN" sz="1875" b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p>
                      <a:pPr>
                        <a:buNone/>
                      </a:pPr>
                      <a:r>
                        <a:rPr sz="1875">
                          <a:latin typeface="Microsoft YaHei"/>
                          <a:ea typeface="Microsoft YaHei"/>
                          <a:cs typeface="Microsoft YaHei"/>
                          <a:sym typeface="+mn-ea"/>
                        </a:rPr>
                        <a:t>有害请求</a:t>
                      </a:r>
                      <a:endParaRPr lang="zh-CN" altLang="en-US" sz="1875" b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lang="zh-CN" sz="1875" b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有害</a:t>
                      </a:r>
                      <a:r>
                        <a:rPr lang="zh-CN" sz="1875" b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回复</a:t>
                      </a:r>
                      <a:endParaRPr lang="zh-CN" sz="1875" b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lang="zh-CN" sz="1875" b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正值</a:t>
                      </a:r>
                      <a:endParaRPr lang="zh-CN" sz="1875" b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lang="zh-CN" sz="1875" b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负值</a:t>
                      </a:r>
                      <a:endParaRPr lang="zh-CN" sz="1875" b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45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sz="1875">
                          <a:latin typeface="Microsoft YaHei"/>
                          <a:ea typeface="Microsoft YaHei"/>
                          <a:cs typeface="Microsoft YaHei"/>
                          <a:sym typeface="+mn-ea"/>
                        </a:rPr>
                        <a:t>无害</a:t>
                      </a:r>
                      <a:r>
                        <a:rPr sz="1875">
                          <a:latin typeface="Microsoft YaHei"/>
                          <a:ea typeface="Microsoft YaHei"/>
                          <a:cs typeface="Microsoft YaHei"/>
                          <a:sym typeface="+mn-ea"/>
                        </a:rPr>
                        <a:t>请求</a:t>
                      </a:r>
                      <a:endParaRPr lang="zh-CN" altLang="en-US" sz="1875" b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75" b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乱码等无效</a:t>
                      </a:r>
                      <a:r>
                        <a:rPr lang="zh-CN" altLang="en-US" sz="1875" b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回复</a:t>
                      </a:r>
                      <a:endParaRPr lang="zh-CN" altLang="en-US" sz="1875" b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75" b="0">
                          <a:solidFill>
                            <a:srgbClr val="C00000"/>
                          </a:solidFill>
                          <a:highlight>
                            <a:srgbClr val="C0C0C0"/>
                          </a:highlight>
                          <a:latin typeface="Microsoft YaHei"/>
                          <a:ea typeface="Microsoft YaHei"/>
                          <a:cs typeface="Microsoft YaHei"/>
                        </a:rPr>
                        <a:t>正值</a:t>
                      </a:r>
                      <a:endParaRPr lang="zh-CN" altLang="en-US" sz="1875" b="0">
                        <a:solidFill>
                          <a:srgbClr val="C00000"/>
                        </a:solidFill>
                        <a:highlight>
                          <a:srgbClr val="C0C0C0"/>
                        </a:highlight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75" b="0">
                          <a:solidFill>
                            <a:srgbClr val="C00000"/>
                          </a:solidFill>
                          <a:highlight>
                            <a:srgbClr val="C0C0C0"/>
                          </a:highlight>
                          <a:latin typeface="Microsoft YaHei"/>
                          <a:ea typeface="Microsoft YaHei"/>
                          <a:cs typeface="Microsoft YaHei"/>
                        </a:rPr>
                        <a:t>负值</a:t>
                      </a:r>
                      <a:endParaRPr lang="zh-CN" altLang="en-US" sz="1875" b="0">
                        <a:solidFill>
                          <a:srgbClr val="C00000"/>
                        </a:solidFill>
                        <a:highlight>
                          <a:srgbClr val="C0C0C0"/>
                        </a:highlight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1076960" y="5702935"/>
            <a:ext cx="9322435" cy="47688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无法区分“真实安全失败”与“单纯回复失效”，给了乱码奖励捷径</a:t>
            </a:r>
            <a:endParaRPr sz="210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1076325" y="2419350"/>
            <a:ext cx="1666875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5700" b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143250" y="2600325"/>
            <a:ext cx="8086725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本文方法</a:t>
            </a:r>
            <a:endParaRPr sz="3900" b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143250" y="3638550"/>
            <a:ext cx="8086725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独立参数、非零和目标在线训练</a:t>
            </a:r>
            <a:endParaRPr sz="2250" b="0">
              <a:solidFill>
                <a:srgbClr val="55555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2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本文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方法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</a:endParaRPr>
          </a:p>
        </p:txBody>
      </p:sp>
      <p:sp>
        <p:nvSpPr>
          <p:cNvPr id="3" name="文本框 10"/>
          <p:cNvSpPr txBox="1"/>
          <p:nvPr/>
        </p:nvSpPr>
        <p:spPr>
          <a:xfrm>
            <a:off x="980440" y="1159510"/>
            <a:ext cx="109861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</a:rPr>
              <a:t>两个挑战与两个主要变化</a:t>
            </a:r>
            <a:endParaRPr lang="en-US" altLang="zh-CN" sz="2800">
              <a:latin typeface="Microsoft YaHei" charset="0"/>
              <a:ea typeface="Microsoft YaHei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76325" y="2000250"/>
            <a:ext cx="414337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Self-RedTeam</a:t>
            </a:r>
            <a:endParaRPr sz="2325" b="1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76325" y="2495550"/>
            <a:ext cx="41433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共享参数的零和自博弈</a:t>
            </a:r>
            <a:endParaRPr sz="2100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62600" y="2457450"/>
            <a:ext cx="7143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sz="3000" b="0">
              <a:solidFill>
                <a:srgbClr val="77777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57975" y="2000250"/>
            <a:ext cx="4572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AdvGame</a:t>
            </a:r>
            <a:endParaRPr sz="232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57975" y="2495550"/>
            <a:ext cx="4572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独立参数的非零和攻防博弈</a:t>
            </a:r>
            <a:endParaRPr sz="210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1076325" y="3457575"/>
          <a:ext cx="10153650" cy="2352675"/>
        </p:xfrm>
        <a:graphic>
          <a:graphicData uri="http://schemas.openxmlformats.org/drawingml/2006/table">
            <a:tbl>
              <a:tblPr/>
              <a:tblGrid>
                <a:gridCol w="3371850"/>
                <a:gridCol w="3333750"/>
                <a:gridCol w="3448050"/>
              </a:tblGrid>
              <a:tr h="7842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前面的挑战</a:t>
                      </a:r>
                      <a:endParaRPr sz="1875" b="1">
                        <a:solidFill>
                          <a:srgbClr val="C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对应的主要变化</a:t>
                      </a:r>
                      <a:endParaRPr sz="1875" b="1">
                        <a:solidFill>
                          <a:srgbClr val="C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需要解决的实现问题</a:t>
                      </a:r>
                      <a:endParaRPr sz="1875" b="1">
                        <a:solidFill>
                          <a:srgbClr val="C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842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共享参数使角色目标纠缠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攻击探索可能退化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独立的参数 ϕ 与 θ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保持共同在线训练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各自优化，避免梯度跨角色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42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防御失分直接变成攻击收益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乱码也可能获奖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独立设计攻击 / 防御偏好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不再把攻击奖励直接取负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保留对真实安全失败的激励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排除无效输出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2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本文方法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76325" y="2076450"/>
            <a:ext cx="37623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第 t 轮：已有状态</a:t>
            </a:r>
            <a:endParaRPr sz="21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39100" y="2076450"/>
            <a:ext cx="33337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第 t+1 轮：更新后的状态</a:t>
            </a:r>
            <a:endParaRPr sz="21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762875" y="2609850"/>
            <a:ext cx="14288" cy="3524250"/>
          </a:xfrm>
          <a:prstGeom prst="rect">
            <a:avLst/>
          </a:prstGeom>
          <a:solidFill>
            <a:srgbClr val="BBBBBB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76325" y="2962275"/>
            <a:ext cx="2905125" cy="885825"/>
          </a:xfrm>
          <a:prstGeom prst="rect">
            <a:avLst/>
          </a:prstGeom>
          <a:solidFill>
            <a:srgbClr val="F7F7F7"/>
          </a:solidFill>
          <a:ln w="9525">
            <a:solidFill>
              <a:srgbClr val="BBBBBB"/>
            </a:solidFill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当前模型</a:t>
            </a:r>
            <a:endParaRPr sz="1950" b="1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攻击者 ϕ、防御者 θ</a:t>
            </a:r>
            <a:endParaRPr sz="1950" b="1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76325" y="4953000"/>
            <a:ext cx="2905125" cy="885825"/>
          </a:xfrm>
          <a:prstGeom prst="rect">
            <a:avLst/>
          </a:prstGeom>
          <a:solidFill>
            <a:srgbClr val="F7F7F7"/>
          </a:solidFill>
          <a:ln w="9525">
            <a:solidFill>
              <a:srgbClr val="BBBBBB"/>
            </a:solidFill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EMA 采样模型</a:t>
            </a:r>
            <a:endParaRPr sz="1875" b="1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攻击、防御各维护一套</a:t>
            </a:r>
            <a:endParaRPr sz="1875" b="1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39100" y="2962275"/>
            <a:ext cx="3190875" cy="885825"/>
          </a:xfrm>
          <a:prstGeom prst="rect">
            <a:avLst/>
          </a:prstGeom>
          <a:solidFill>
            <a:srgbClr val="F7F7F7"/>
          </a:solidFill>
          <a:ln w="9525">
            <a:solidFill>
              <a:srgbClr val="BBBBBB"/>
            </a:solidFill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新的当前模型</a:t>
            </a:r>
            <a:endParaRPr sz="1950" b="1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分别更新后的 ϕ、θ</a:t>
            </a:r>
            <a:endParaRPr sz="1950" b="1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39100" y="4953000"/>
            <a:ext cx="3190875" cy="885825"/>
          </a:xfrm>
          <a:prstGeom prst="rect">
            <a:avLst/>
          </a:prstGeom>
          <a:solidFill>
            <a:srgbClr val="F7F7F7"/>
          </a:solidFill>
          <a:ln w="9525">
            <a:solidFill>
              <a:srgbClr val="BBBBBB"/>
            </a:solidFill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新的 EMA 模型</a:t>
            </a:r>
            <a:endParaRPr sz="18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8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保留用于下一轮采样</a:t>
            </a:r>
            <a:endParaRPr sz="18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981450" y="3476625"/>
            <a:ext cx="3848100" cy="19050"/>
          </a:xfrm>
          <a:prstGeom prst="rect">
            <a:avLst/>
          </a:prstGeom>
          <a:solidFill>
            <a:srgbClr val="888888"/>
          </a:solidFill>
          <a:ln w="0">
            <a:noFill/>
          </a:ln>
        </p:spPr>
      </p:sp>
      <p:sp>
        <p:nvSpPr>
          <p:cNvPr id="12" name="右箭头 11"/>
          <p:cNvSpPr>
            <a:spLocks noGrp="1"/>
          </p:cNvSpPr>
          <p:nvPr/>
        </p:nvSpPr>
        <p:spPr>
          <a:xfrm>
            <a:off x="7829550" y="3400425"/>
            <a:ext cx="209550" cy="161925"/>
          </a:xfrm>
          <a:prstGeom prst="rightArrow">
            <a:avLst/>
          </a:prstGeom>
          <a:solidFill>
            <a:srgbClr val="888888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538980" y="2701925"/>
            <a:ext cx="2905760" cy="68643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② 用偏好</a:t>
            </a:r>
            <a:r>
              <a:rPr lang="zh-CN" sz="1875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奖励信号分别做参数</a:t>
            </a:r>
            <a:r>
              <a:rPr sz="1875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更新</a:t>
            </a:r>
            <a:endParaRPr sz="1875" b="0">
              <a:solidFill>
                <a:schemeClr val="tx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981450" y="5229225"/>
            <a:ext cx="1104900" cy="19050"/>
          </a:xfrm>
          <a:prstGeom prst="rect">
            <a:avLst/>
          </a:prstGeom>
          <a:solidFill>
            <a:srgbClr val="888888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067300" y="3495675"/>
            <a:ext cx="19050" cy="1743075"/>
          </a:xfrm>
          <a:prstGeom prst="rect">
            <a:avLst/>
          </a:prstGeom>
          <a:solidFill>
            <a:srgbClr val="888888"/>
          </a:solidFill>
          <a:ln w="0">
            <a:noFill/>
          </a:ln>
        </p:spPr>
      </p:sp>
      <p:sp>
        <p:nvSpPr>
          <p:cNvPr id="17" name="上箭头 16"/>
          <p:cNvSpPr>
            <a:spLocks noGrp="1"/>
          </p:cNvSpPr>
          <p:nvPr/>
        </p:nvSpPr>
        <p:spPr>
          <a:xfrm>
            <a:off x="4991100" y="3505200"/>
            <a:ext cx="171450" cy="238125"/>
          </a:xfrm>
          <a:prstGeom prst="upArrow">
            <a:avLst/>
          </a:prstGeom>
          <a:solidFill>
            <a:srgbClr val="888888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086350" y="3938905"/>
            <a:ext cx="233362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采样攻击与回复</a:t>
            </a:r>
            <a:r>
              <a:rPr lang="en-US"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并获得偏好奖励</a:t>
            </a:r>
            <a:r>
              <a:rPr lang="zh-CN" altLang="en-US"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信号</a:t>
            </a:r>
            <a:endParaRPr lang="zh-CN" altLang="en-US" sz="1800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981450" y="5629275"/>
            <a:ext cx="3848100" cy="19050"/>
          </a:xfrm>
          <a:prstGeom prst="rect">
            <a:avLst/>
          </a:prstGeom>
          <a:solidFill>
            <a:srgbClr val="888888"/>
          </a:solidFill>
          <a:ln w="0">
            <a:noFill/>
          </a:ln>
        </p:spPr>
      </p:sp>
      <p:sp>
        <p:nvSpPr>
          <p:cNvPr id="21" name="右箭头 20"/>
          <p:cNvSpPr>
            <a:spLocks noGrp="1"/>
          </p:cNvSpPr>
          <p:nvPr/>
        </p:nvSpPr>
        <p:spPr>
          <a:xfrm>
            <a:off x="7829550" y="5553075"/>
            <a:ext cx="209550" cy="161925"/>
          </a:xfrm>
          <a:prstGeom prst="rightArrow">
            <a:avLst/>
          </a:prstGeom>
          <a:solidFill>
            <a:srgbClr val="888888"/>
          </a:solidFill>
          <a:ln w="0">
            <a:noFill/>
          </a:ln>
        </p:spPr>
      </p:sp>
      <p:sp>
        <p:nvSpPr>
          <p:cNvPr id="23" name="下箭头 22"/>
          <p:cNvSpPr>
            <a:spLocks noGrp="1"/>
          </p:cNvSpPr>
          <p:nvPr/>
        </p:nvSpPr>
        <p:spPr>
          <a:xfrm>
            <a:off x="9505950" y="3905250"/>
            <a:ext cx="209550" cy="952500"/>
          </a:xfrm>
          <a:prstGeom prst="downArrow">
            <a:avLst/>
          </a:prstGeom>
          <a:solidFill>
            <a:srgbClr val="C00000"/>
          </a:solidFill>
          <a:ln w="0"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915525" y="4048125"/>
            <a:ext cx="1894840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③ 加权平均</a:t>
            </a:r>
            <a:endParaRPr sz="1725" b="0">
              <a:solidFill>
                <a:schemeClr val="tx1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维护 EMA 参数</a:t>
            </a:r>
            <a:endParaRPr sz="1725" b="0">
              <a:solidFill>
                <a:schemeClr val="tx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229975" y="5362575"/>
            <a:ext cx="180975" cy="19050"/>
          </a:xfrm>
          <a:prstGeom prst="rect">
            <a:avLst/>
          </a:prstGeom>
          <a:solidFill>
            <a:srgbClr val="888888"/>
          </a:solidFill>
          <a:ln w="0">
            <a:noFill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1391900" y="5362575"/>
            <a:ext cx="19050" cy="952500"/>
          </a:xfrm>
          <a:prstGeom prst="rect">
            <a:avLst/>
          </a:prstGeom>
          <a:solidFill>
            <a:srgbClr val="888888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33450" y="6296025"/>
            <a:ext cx="10477500" cy="19050"/>
          </a:xfrm>
          <a:prstGeom prst="rect">
            <a:avLst/>
          </a:prstGeom>
          <a:solidFill>
            <a:srgbClr val="888888"/>
          </a:solidFill>
          <a:ln w="0">
            <a:noFill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33450" y="5362575"/>
            <a:ext cx="19050" cy="952500"/>
          </a:xfrm>
          <a:prstGeom prst="rect">
            <a:avLst/>
          </a:prstGeom>
          <a:solidFill>
            <a:srgbClr val="888888"/>
          </a:solidFill>
          <a:ln w="0">
            <a:noFill/>
          </a:ln>
        </p:spPr>
      </p:sp>
      <p:sp>
        <p:nvSpPr>
          <p:cNvPr id="29" name="右箭头 28"/>
          <p:cNvSpPr>
            <a:spLocks noGrp="1"/>
          </p:cNvSpPr>
          <p:nvPr/>
        </p:nvSpPr>
        <p:spPr>
          <a:xfrm>
            <a:off x="933450" y="5295900"/>
            <a:ext cx="142875" cy="161925"/>
          </a:xfrm>
          <a:prstGeom prst="rightArrow">
            <a:avLst/>
          </a:prstGeom>
          <a:solidFill>
            <a:srgbClr val="888888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76325" y="6448425"/>
            <a:ext cx="101536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EMA 更新（</a:t>
            </a: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</a:t>
            </a: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式 10）：新 EMA = (1−γ) × 旧 EMA + γ × 新的当前模型，γ = 0.95</a:t>
            </a:r>
            <a:endParaRPr sz="1650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文本框 10"/>
          <p:cNvSpPr txBox="1"/>
          <p:nvPr/>
        </p:nvSpPr>
        <p:spPr>
          <a:xfrm>
            <a:off x="824230" y="1120140"/>
            <a:ext cx="109861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解决挑战 1：分离参数，数据层面在线交互</a:t>
            </a:r>
            <a:r>
              <a:rPr lang="en-US" altLang="zh-CN" sz="2800">
                <a:latin typeface="Microsoft YaHei" charset="0"/>
                <a:ea typeface="Microsoft YaHei" charset="0"/>
                <a:sym typeface="+mn-ea"/>
              </a:rPr>
              <a:t>，</a:t>
            </a: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维护滑动平均</a:t>
            </a:r>
            <a:r>
              <a:rPr lang="en-US" altLang="zh-CN" sz="2800">
                <a:latin typeface="Microsoft YaHei" charset="0"/>
                <a:ea typeface="Microsoft YaHei" charset="0"/>
                <a:sym typeface="+mn-ea"/>
              </a:rPr>
              <a:t>EMA</a:t>
            </a: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模型</a:t>
            </a:r>
            <a:endParaRPr lang="en-US" altLang="zh-CN" sz="2800">
              <a:latin typeface="Microsoft YaHei" charset="0"/>
              <a:ea typeface="Microsoft YaHei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2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本文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</a:rPr>
              <a:t>方法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</a:endParaRPr>
          </a:p>
        </p:txBody>
      </p:sp>
      <p:sp>
        <p:nvSpPr>
          <p:cNvPr id="3" name="文本框 10"/>
          <p:cNvSpPr txBox="1"/>
          <p:nvPr/>
        </p:nvSpPr>
        <p:spPr>
          <a:xfrm>
            <a:off x="980440" y="1159510"/>
            <a:ext cx="109861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</a:rPr>
              <a:t>解决挑战 2：分别定义非零和偏好</a:t>
            </a:r>
            <a:endParaRPr lang="en-US" altLang="zh-CN" sz="2800">
              <a:latin typeface="Microsoft YaHei" charset="0"/>
              <a:ea typeface="Microsoft YaHei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76325" y="1971675"/>
            <a:ext cx="101536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/>
        </p:txBody>
      </p:sp>
      <p:graphicFrame>
        <p:nvGraphicFramePr>
          <p:cNvPr id="5" name="表格 4"/>
          <p:cNvGraphicFramePr/>
          <p:nvPr/>
        </p:nvGraphicFramePr>
        <p:xfrm>
          <a:off x="1076325" y="2817495"/>
          <a:ext cx="10153650" cy="2124075"/>
        </p:xfrm>
        <a:graphic>
          <a:graphicData uri="http://schemas.openxmlformats.org/drawingml/2006/table">
            <a:tbl>
              <a:tblPr/>
              <a:tblGrid>
                <a:gridCol w="2095500"/>
                <a:gridCol w="3810000"/>
                <a:gridCol w="4248150"/>
              </a:tblGrid>
              <a:tr h="7080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种子请求</a:t>
                      </a:r>
                      <a:endParaRPr sz="1875" b="1">
                        <a:solidFill>
                          <a:srgbClr val="C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防御</a:t>
                      </a:r>
                      <a:r>
                        <a:rPr lang="zh-CN" sz="187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者高奖励行为</a:t>
                      </a:r>
                      <a:endParaRPr sz="1875" b="1">
                        <a:solidFill>
                          <a:srgbClr val="C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攻击</a:t>
                      </a:r>
                      <a:r>
                        <a:rPr lang="zh-CN" sz="187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者高奖励行为</a:t>
                      </a:r>
                      <a:endParaRPr sz="1875" b="1">
                        <a:solidFill>
                          <a:srgbClr val="C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080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良性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lang="zh-CN"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对于良性回复给出</a:t>
                      </a:r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有效回答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lang="zh-CN"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给出</a:t>
                      </a:r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安全引导</a:t>
                      </a:r>
                      <a:r>
                        <a:rPr lang="zh-CN"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却</a:t>
                      </a:r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诱发</a:t>
                      </a:r>
                      <a:r>
                        <a:rPr lang="zh-CN"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了防御者的</a:t>
                      </a:r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不必要的过度拒绝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0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有害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lang="zh-CN"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对于有害回复给出</a:t>
                      </a:r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安全引导</a:t>
                      </a:r>
                      <a:r>
                        <a:rPr lang="zh-CN"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且不是乱码等无效</a:t>
                      </a:r>
                      <a:r>
                        <a:rPr lang="zh-CN"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回复</a:t>
                      </a:r>
                      <a:endParaRPr lang="zh-CN"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诱发</a:t>
                      </a:r>
                      <a:r>
                        <a:rPr lang="zh-CN"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防御者回复</a:t>
                      </a:r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有害</a:t>
                      </a:r>
                      <a:r>
                        <a:rPr lang="zh-CN"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内容或执行有害</a:t>
                      </a:r>
                      <a:r>
                        <a:rPr lang="zh-CN"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  <a:endParaRPr lang="zh-CN"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1076325" y="5285740"/>
            <a:ext cx="101536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对于同一样本</a:t>
            </a:r>
            <a:r>
              <a:rPr lang="en-US" altLang="zh-CN"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攻击者和防御者的奖励并不总是严格相反</a:t>
            </a:r>
            <a:r>
              <a:rPr lang="en-US" altLang="zh-CN"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非</a:t>
            </a:r>
            <a:r>
              <a:rPr lang="zh-CN" altLang="en-US"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零和</a:t>
            </a:r>
            <a:endParaRPr lang="zh-CN" altLang="en-US" sz="1950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EditableMathPart"/>
          <p:cNvSpPr>
            <a:spLocks noGrp="1"/>
          </p:cNvSpPr>
          <p:nvPr/>
        </p:nvSpPr>
        <p:spPr>
          <a:xfrm>
            <a:off x="1224280" y="2084705"/>
            <a:ext cx="5569585" cy="3867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sz="21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+mn-ea"/>
              </a:rPr>
              <a:t>不再直接取负</a:t>
            </a: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；双方分别偏好不同的合格行为</a:t>
            </a:r>
            <a:endParaRPr sz="2100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2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本文方法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</a:endParaRPr>
          </a:p>
        </p:txBody>
      </p:sp>
      <p:sp>
        <p:nvSpPr>
          <p:cNvPr id="3" name="文本框 10"/>
          <p:cNvSpPr txBox="1"/>
          <p:nvPr/>
        </p:nvSpPr>
        <p:spPr>
          <a:xfrm>
            <a:off x="980440" y="1112520"/>
            <a:ext cx="109861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800">
                <a:latin typeface="Microsoft YaHei" charset="0"/>
                <a:ea typeface="Microsoft YaHei" charset="0"/>
                <a:sym typeface="+mn-ea"/>
              </a:rPr>
              <a:t>AdvGame-DPO-MD：一轮训练的完整流程</a:t>
            </a:r>
            <a:endParaRPr lang="zh-CN" altLang="en-US" sz="2800">
              <a:latin typeface="Microsoft YaHei" charset="0"/>
              <a:ea typeface="Microsoft YaHei" charset="0"/>
              <a:sym typeface="+mn-ea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80440" y="6229350"/>
            <a:ext cx="10153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⑦ </a:t>
            </a:r>
            <a:r>
              <a:rPr lang="zh-CN" sz="16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更新滑动平均版本</a:t>
            </a:r>
            <a:r>
              <a:rPr lang="zh-CN" sz="16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的攻击者</a:t>
            </a:r>
            <a:r>
              <a:rPr lang="en-US" altLang="zh-CN" sz="16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6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EMA</a:t>
            </a:r>
            <a:r>
              <a:rPr lang="en-US" sz="16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lang="zh-CN" altLang="en-US" sz="16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和防御者</a:t>
            </a:r>
            <a:r>
              <a:rPr lang="en-US" altLang="zh-CN" sz="16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（EMA），</a:t>
            </a:r>
            <a:r>
              <a:rPr sz="16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用于</a:t>
            </a:r>
            <a:r>
              <a:rPr lang="zh-CN" sz="16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下一时刻的</a:t>
            </a:r>
            <a:r>
              <a:rPr sz="16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采样</a:t>
            </a:r>
            <a:endParaRPr sz="1650" b="0">
              <a:solidFill>
                <a:srgbClr val="777777"/>
              </a:solidFill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866775" y="2003425"/>
            <a:ext cx="10382250" cy="4055904"/>
            <a:chOff x="1365" y="3569"/>
            <a:chExt cx="16350" cy="6387"/>
          </a:xfrm>
        </p:grpSpPr>
        <p:sp>
          <p:nvSpPr>
            <p:cNvPr id="5" name="矩形 4"/>
            <p:cNvSpPr>
              <a:spLocks noGrp="1"/>
            </p:cNvSpPr>
            <p:nvPr/>
          </p:nvSpPr>
          <p:spPr>
            <a:xfrm>
              <a:off x="1365" y="3855"/>
              <a:ext cx="3075" cy="57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① 攻击者</a:t>
              </a:r>
              <a:r>
                <a:rPr lang="en-US"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（EMA）</a:t>
              </a:r>
              <a:endParaRPr lang="en-US"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" name="矩形 5"/>
            <p:cNvSpPr>
              <a:spLocks noGrp="1"/>
            </p:cNvSpPr>
            <p:nvPr/>
          </p:nvSpPr>
          <p:spPr>
            <a:xfrm>
              <a:off x="4642" y="3855"/>
              <a:ext cx="3151" cy="57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② 防御者</a:t>
              </a:r>
              <a:r>
                <a:rPr lang="zh-CN"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（</a:t>
              </a:r>
              <a:r>
                <a:rPr lang="en-US" altLang="zh-CN"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EMA</a:t>
              </a:r>
              <a:r>
                <a:rPr lang="zh-CN"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lang="zh-CN"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7" name="矩形 6"/>
            <p:cNvSpPr>
              <a:spLocks noGrp="1"/>
            </p:cNvSpPr>
            <p:nvPr/>
          </p:nvSpPr>
          <p:spPr>
            <a:xfrm>
              <a:off x="8475" y="3625"/>
              <a:ext cx="3150" cy="1017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③ 防御</a:t>
              </a:r>
              <a:r>
                <a:rPr lang="zh-CN"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者高奖励行为</a:t>
              </a:r>
              <a:r>
                <a:rPr lang="zh-CN"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判别</a:t>
              </a:r>
              <a:endParaRPr lang="zh-CN"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" name="矩形 7"/>
            <p:cNvSpPr>
              <a:spLocks noGrp="1"/>
            </p:cNvSpPr>
            <p:nvPr/>
          </p:nvSpPr>
          <p:spPr>
            <a:xfrm>
              <a:off x="14865" y="3569"/>
              <a:ext cx="2850" cy="856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>
              <a:pPr>
                <a:defRPr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④ 攻击</a:t>
              </a:r>
              <a:r>
                <a:rPr lang="zh-CN"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者高奖励行为</a:t>
              </a:r>
              <a:r>
                <a:rPr lang="zh-CN" sz="1800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判别</a:t>
              </a:r>
              <a:endParaRPr lang="zh-CN"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9" name="矩形 8"/>
            <p:cNvSpPr>
              <a:spLocks noGrp="1"/>
            </p:cNvSpPr>
            <p:nvPr/>
          </p:nvSpPr>
          <p:spPr>
            <a:xfrm>
              <a:off x="1695" y="4995"/>
              <a:ext cx="2460" cy="855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BBBBBB"/>
              </a:solidFill>
            </a:ln>
          </p:spPr>
          <p:txBody>
            <a:bodyPr>
              <a:noAutofit/>
            </a:bodyPr>
            <a:lstStyle/>
            <a:p/>
          </p:txBody>
        </p:sp>
        <p:sp>
          <p:nvSpPr>
            <p:cNvPr id="10" name="矩形 9"/>
            <p:cNvSpPr>
              <a:spLocks noGrp="1"/>
            </p:cNvSpPr>
            <p:nvPr/>
          </p:nvSpPr>
          <p:spPr>
            <a:xfrm>
              <a:off x="4155" y="5498"/>
              <a:ext cx="525" cy="15"/>
            </a:xfrm>
            <a:prstGeom prst="rect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11" name="矩形 10"/>
            <p:cNvSpPr>
              <a:spLocks noGrp="1"/>
            </p:cNvSpPr>
            <p:nvPr/>
          </p:nvSpPr>
          <p:spPr>
            <a:xfrm>
              <a:off x="4680" y="5070"/>
              <a:ext cx="15" cy="855"/>
            </a:xfrm>
            <a:prstGeom prst="rect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12" name="右箭头 11"/>
            <p:cNvSpPr>
              <a:spLocks noGrp="1"/>
            </p:cNvSpPr>
            <p:nvPr/>
          </p:nvSpPr>
          <p:spPr>
            <a:xfrm>
              <a:off x="4680" y="4995"/>
              <a:ext cx="255" cy="150"/>
            </a:xfrm>
            <a:prstGeom prst="rightArrow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13" name="右箭头 12"/>
            <p:cNvSpPr>
              <a:spLocks noGrp="1"/>
            </p:cNvSpPr>
            <p:nvPr/>
          </p:nvSpPr>
          <p:spPr>
            <a:xfrm>
              <a:off x="4680" y="5850"/>
              <a:ext cx="255" cy="150"/>
            </a:xfrm>
            <a:prstGeom prst="rightArrow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14" name="矩形 13"/>
            <p:cNvSpPr>
              <a:spLocks noGrp="1"/>
            </p:cNvSpPr>
            <p:nvPr/>
          </p:nvSpPr>
          <p:spPr>
            <a:xfrm>
              <a:off x="4950" y="4650"/>
              <a:ext cx="2625" cy="72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BBBBBB"/>
              </a:solidFill>
            </a:ln>
          </p:spPr>
          <p:txBody>
            <a:bodyPr>
              <a:noAutofit/>
            </a:bodyPr>
            <a:lstStyle/>
            <a:p/>
          </p:txBody>
        </p:sp>
        <p:sp>
          <p:nvSpPr>
            <p:cNvPr id="15" name="矩形 14"/>
            <p:cNvSpPr>
              <a:spLocks noGrp="1"/>
            </p:cNvSpPr>
            <p:nvPr/>
          </p:nvSpPr>
          <p:spPr>
            <a:xfrm>
              <a:off x="4950" y="5565"/>
              <a:ext cx="2625" cy="72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BBBBBB"/>
              </a:solidFill>
            </a:ln>
          </p:spPr>
          <p:txBody>
            <a:bodyPr>
              <a:noAutofit/>
            </a:bodyPr>
            <a:lstStyle/>
            <a:p/>
          </p:txBody>
        </p:sp>
        <p:sp>
          <p:nvSpPr>
            <p:cNvPr id="16" name="右箭头 15"/>
            <p:cNvSpPr>
              <a:spLocks noGrp="1"/>
            </p:cNvSpPr>
            <p:nvPr/>
          </p:nvSpPr>
          <p:spPr>
            <a:xfrm>
              <a:off x="7770" y="5310"/>
              <a:ext cx="450" cy="240"/>
            </a:xfrm>
            <a:prstGeom prst="rightArrow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17" name="矩形 16"/>
            <p:cNvSpPr>
              <a:spLocks noGrp="1"/>
            </p:cNvSpPr>
            <p:nvPr/>
          </p:nvSpPr>
          <p:spPr>
            <a:xfrm>
              <a:off x="8475" y="4845"/>
              <a:ext cx="3150" cy="129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BBBBBB"/>
              </a:solidFill>
            </a:ln>
          </p:spPr>
          <p:txBody>
            <a:bodyPr>
              <a:noAutofit/>
            </a:bodyPr>
            <a:lstStyle/>
            <a:p/>
          </p:txBody>
        </p:sp>
        <p:sp>
          <p:nvSpPr>
            <p:cNvPr id="18" name="右箭头 17"/>
            <p:cNvSpPr>
              <a:spLocks noGrp="1"/>
            </p:cNvSpPr>
            <p:nvPr/>
          </p:nvSpPr>
          <p:spPr>
            <a:xfrm>
              <a:off x="11835" y="5310"/>
              <a:ext cx="450" cy="240"/>
            </a:xfrm>
            <a:prstGeom prst="rightArrow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19" name="矩形 18"/>
            <p:cNvSpPr>
              <a:spLocks noGrp="1"/>
            </p:cNvSpPr>
            <p:nvPr/>
          </p:nvSpPr>
          <p:spPr>
            <a:xfrm>
              <a:off x="12480" y="5115"/>
              <a:ext cx="2250" cy="75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/>
          </p:txBody>
        </p:sp>
        <p:sp>
          <p:nvSpPr>
            <p:cNvPr id="20" name="右箭头 19"/>
            <p:cNvSpPr>
              <a:spLocks noGrp="1"/>
            </p:cNvSpPr>
            <p:nvPr/>
          </p:nvSpPr>
          <p:spPr>
            <a:xfrm>
              <a:off x="14580" y="5310"/>
              <a:ext cx="255" cy="240"/>
            </a:xfrm>
            <a:prstGeom prst="rightArrow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21" name="矩形 20"/>
            <p:cNvSpPr>
              <a:spLocks noGrp="1"/>
            </p:cNvSpPr>
            <p:nvPr/>
          </p:nvSpPr>
          <p:spPr>
            <a:xfrm>
              <a:off x="1695" y="7005"/>
              <a:ext cx="2460" cy="855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BBBBBB"/>
              </a:solidFill>
            </a:ln>
          </p:spPr>
          <p:txBody>
            <a:bodyPr>
              <a:noAutofit/>
            </a:bodyPr>
            <a:lstStyle/>
            <a:p/>
          </p:txBody>
        </p:sp>
        <p:sp>
          <p:nvSpPr>
            <p:cNvPr id="22" name="矩形 21"/>
            <p:cNvSpPr>
              <a:spLocks noGrp="1"/>
            </p:cNvSpPr>
            <p:nvPr/>
          </p:nvSpPr>
          <p:spPr>
            <a:xfrm>
              <a:off x="4155" y="7508"/>
              <a:ext cx="525" cy="15"/>
            </a:xfrm>
            <a:prstGeom prst="rect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23" name="矩形 22"/>
            <p:cNvSpPr>
              <a:spLocks noGrp="1"/>
            </p:cNvSpPr>
            <p:nvPr/>
          </p:nvSpPr>
          <p:spPr>
            <a:xfrm>
              <a:off x="4680" y="7080"/>
              <a:ext cx="15" cy="855"/>
            </a:xfrm>
            <a:prstGeom prst="rect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24" name="右箭头 23"/>
            <p:cNvSpPr>
              <a:spLocks noGrp="1"/>
            </p:cNvSpPr>
            <p:nvPr/>
          </p:nvSpPr>
          <p:spPr>
            <a:xfrm>
              <a:off x="4680" y="7005"/>
              <a:ext cx="255" cy="150"/>
            </a:xfrm>
            <a:prstGeom prst="rightArrow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25" name="右箭头 24"/>
            <p:cNvSpPr>
              <a:spLocks noGrp="1"/>
            </p:cNvSpPr>
            <p:nvPr/>
          </p:nvSpPr>
          <p:spPr>
            <a:xfrm>
              <a:off x="4680" y="7860"/>
              <a:ext cx="255" cy="150"/>
            </a:xfrm>
            <a:prstGeom prst="rightArrow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26" name="矩形 25"/>
            <p:cNvSpPr>
              <a:spLocks noGrp="1"/>
            </p:cNvSpPr>
            <p:nvPr/>
          </p:nvSpPr>
          <p:spPr>
            <a:xfrm>
              <a:off x="4950" y="6660"/>
              <a:ext cx="2625" cy="72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BBBBBB"/>
              </a:solidFill>
            </a:ln>
          </p:spPr>
          <p:txBody>
            <a:bodyPr>
              <a:noAutofit/>
            </a:bodyPr>
            <a:lstStyle/>
            <a:p/>
          </p:txBody>
        </p:sp>
        <p:sp>
          <p:nvSpPr>
            <p:cNvPr id="27" name="矩形 26"/>
            <p:cNvSpPr>
              <a:spLocks noGrp="1"/>
            </p:cNvSpPr>
            <p:nvPr/>
          </p:nvSpPr>
          <p:spPr>
            <a:xfrm>
              <a:off x="4950" y="7575"/>
              <a:ext cx="2625" cy="72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BBBBBB"/>
              </a:solidFill>
            </a:ln>
          </p:spPr>
          <p:txBody>
            <a:bodyPr>
              <a:noAutofit/>
            </a:bodyPr>
            <a:lstStyle/>
            <a:p/>
          </p:txBody>
        </p:sp>
        <p:sp>
          <p:nvSpPr>
            <p:cNvPr id="28" name="右箭头 27"/>
            <p:cNvSpPr>
              <a:spLocks noGrp="1"/>
            </p:cNvSpPr>
            <p:nvPr/>
          </p:nvSpPr>
          <p:spPr>
            <a:xfrm>
              <a:off x="7770" y="7320"/>
              <a:ext cx="450" cy="240"/>
            </a:xfrm>
            <a:prstGeom prst="rightArrow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29" name="矩形 28"/>
            <p:cNvSpPr>
              <a:spLocks noGrp="1"/>
            </p:cNvSpPr>
            <p:nvPr/>
          </p:nvSpPr>
          <p:spPr>
            <a:xfrm>
              <a:off x="8475" y="6855"/>
              <a:ext cx="3150" cy="129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BBBBBB"/>
              </a:solidFill>
            </a:ln>
          </p:spPr>
          <p:txBody>
            <a:bodyPr>
              <a:noAutofit/>
            </a:bodyPr>
            <a:lstStyle/>
            <a:p/>
          </p:txBody>
        </p:sp>
        <p:sp>
          <p:nvSpPr>
            <p:cNvPr id="30" name="右箭头 29"/>
            <p:cNvSpPr>
              <a:spLocks noGrp="1"/>
            </p:cNvSpPr>
            <p:nvPr/>
          </p:nvSpPr>
          <p:spPr>
            <a:xfrm>
              <a:off x="11835" y="7320"/>
              <a:ext cx="450" cy="240"/>
            </a:xfrm>
            <a:prstGeom prst="rightArrow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31" name="矩形 30"/>
            <p:cNvSpPr>
              <a:spLocks noGrp="1"/>
            </p:cNvSpPr>
            <p:nvPr/>
          </p:nvSpPr>
          <p:spPr>
            <a:xfrm>
              <a:off x="12480" y="7125"/>
              <a:ext cx="2250" cy="750"/>
            </a:xfrm>
            <a:prstGeom prst="rect">
              <a:avLst/>
            </a:prstGeom>
            <a:noFill/>
            <a:ln w="0">
              <a:noFill/>
            </a:ln>
          </p:spPr>
          <p:txBody>
            <a:bodyPr>
              <a:noAutofit/>
            </a:bodyPr>
            <a:lstStyle/>
            <a:p/>
          </p:txBody>
        </p:sp>
        <p:sp>
          <p:nvSpPr>
            <p:cNvPr id="32" name="右箭头 31"/>
            <p:cNvSpPr>
              <a:spLocks noGrp="1"/>
            </p:cNvSpPr>
            <p:nvPr/>
          </p:nvSpPr>
          <p:spPr>
            <a:xfrm>
              <a:off x="14580" y="7320"/>
              <a:ext cx="255" cy="240"/>
            </a:xfrm>
            <a:prstGeom prst="rightArrow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33" name="矩形 32"/>
            <p:cNvSpPr>
              <a:spLocks noGrp="1"/>
            </p:cNvSpPr>
            <p:nvPr/>
          </p:nvSpPr>
          <p:spPr>
            <a:xfrm>
              <a:off x="14865" y="4650"/>
              <a:ext cx="2820" cy="351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BBBBBB"/>
              </a:solidFill>
            </a:ln>
          </p:spPr>
          <p:txBody>
            <a:bodyPr>
              <a:noAutofit/>
            </a:bodyPr>
            <a:lstStyle/>
            <a:p/>
          </p:txBody>
        </p:sp>
        <p:sp>
          <p:nvSpPr>
            <p:cNvPr id="34" name="下箭头 33"/>
            <p:cNvSpPr>
              <a:spLocks noGrp="1"/>
            </p:cNvSpPr>
            <p:nvPr/>
          </p:nvSpPr>
          <p:spPr>
            <a:xfrm>
              <a:off x="9930" y="8280"/>
              <a:ext cx="255" cy="360"/>
            </a:xfrm>
            <a:prstGeom prst="downArrow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35" name="下箭头 34"/>
            <p:cNvSpPr>
              <a:spLocks noGrp="1"/>
            </p:cNvSpPr>
            <p:nvPr/>
          </p:nvSpPr>
          <p:spPr>
            <a:xfrm>
              <a:off x="16125" y="8280"/>
              <a:ext cx="255" cy="360"/>
            </a:xfrm>
            <a:prstGeom prst="downArrow">
              <a:avLst/>
            </a:prstGeom>
            <a:solidFill>
              <a:srgbClr val="888888"/>
            </a:solidFill>
            <a:ln w="0">
              <a:noFill/>
            </a:ln>
          </p:spPr>
        </p:sp>
        <p:sp>
          <p:nvSpPr>
            <p:cNvPr id="36" name="矩形 35"/>
            <p:cNvSpPr>
              <a:spLocks noGrp="1"/>
            </p:cNvSpPr>
            <p:nvPr/>
          </p:nvSpPr>
          <p:spPr>
            <a:xfrm>
              <a:off x="4950" y="8715"/>
              <a:ext cx="6675" cy="1161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BBBBBB"/>
              </a:solidFill>
            </a:ln>
          </p:spPr>
          <p:txBody>
            <a:bodyPr>
              <a:noAutofit/>
            </a:bodyPr>
            <a:lstStyle/>
            <a:p/>
          </p:txBody>
        </p:sp>
        <p:sp>
          <p:nvSpPr>
            <p:cNvPr id="37" name="矩形 36"/>
            <p:cNvSpPr>
              <a:spLocks noGrp="1"/>
            </p:cNvSpPr>
            <p:nvPr/>
          </p:nvSpPr>
          <p:spPr>
            <a:xfrm>
              <a:off x="12480" y="8715"/>
              <a:ext cx="5205" cy="1161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BBBBBB"/>
              </a:solidFill>
            </a:ln>
          </p:spPr>
          <p:txBody>
            <a:bodyPr>
              <a:noAutofit/>
            </a:bodyPr>
            <a:lstStyle/>
            <a:p/>
          </p:txBody>
        </p:sp>
        <p:sp>
          <p:nvSpPr>
            <p:cNvPr id="39" name="EditableMathPart"/>
            <p:cNvSpPr>
              <a:spLocks noGrp="1"/>
            </p:cNvSpPr>
            <p:nvPr/>
          </p:nvSpPr>
          <p:spPr>
            <a:xfrm>
              <a:off x="1830" y="5115"/>
              <a:ext cx="1241" cy="6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2100" b="1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攻击 x</a:t>
              </a:r>
              <a:endPara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0" name="EditableMathPart"/>
            <p:cNvSpPr>
              <a:spLocks noGrp="1"/>
            </p:cNvSpPr>
            <p:nvPr/>
          </p:nvSpPr>
          <p:spPr>
            <a:xfrm>
              <a:off x="2996" y="5346"/>
              <a:ext cx="221" cy="6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470" b="1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1</a:t>
              </a:r>
              <a:endParaRPr sz="1470" b="1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41" name="EditableMathPart"/>
            <p:cNvSpPr>
              <a:spLocks noGrp="1"/>
            </p:cNvSpPr>
            <p:nvPr/>
          </p:nvSpPr>
          <p:spPr>
            <a:xfrm>
              <a:off x="5085" y="4770"/>
              <a:ext cx="1117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75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回复 y</a:t>
              </a:r>
              <a:endPara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" name="EditableMathPart"/>
            <p:cNvSpPr>
              <a:spLocks noGrp="1"/>
            </p:cNvSpPr>
            <p:nvPr/>
          </p:nvSpPr>
          <p:spPr>
            <a:xfrm>
              <a:off x="6127" y="4976"/>
              <a:ext cx="20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1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43" name="EditableMathPart"/>
            <p:cNvSpPr>
              <a:spLocks noGrp="1"/>
            </p:cNvSpPr>
            <p:nvPr/>
          </p:nvSpPr>
          <p:spPr>
            <a:xfrm>
              <a:off x="6127" y="4740"/>
              <a:ext cx="20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1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44" name="EditableMathPart"/>
            <p:cNvSpPr>
              <a:spLocks noGrp="1"/>
            </p:cNvSpPr>
            <p:nvPr/>
          </p:nvSpPr>
          <p:spPr>
            <a:xfrm>
              <a:off x="5085" y="5685"/>
              <a:ext cx="1117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75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回复 y</a:t>
              </a:r>
              <a:endPara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5" name="EditableMathPart"/>
            <p:cNvSpPr>
              <a:spLocks noGrp="1"/>
            </p:cNvSpPr>
            <p:nvPr/>
          </p:nvSpPr>
          <p:spPr>
            <a:xfrm>
              <a:off x="6127" y="5891"/>
              <a:ext cx="20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1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46" name="EditableMathPart"/>
            <p:cNvSpPr>
              <a:spLocks noGrp="1"/>
            </p:cNvSpPr>
            <p:nvPr/>
          </p:nvSpPr>
          <p:spPr>
            <a:xfrm>
              <a:off x="6127" y="5655"/>
              <a:ext cx="20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2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47" name="EditableMathPart"/>
            <p:cNvSpPr>
              <a:spLocks noGrp="1"/>
            </p:cNvSpPr>
            <p:nvPr/>
          </p:nvSpPr>
          <p:spPr>
            <a:xfrm>
              <a:off x="8610" y="4965"/>
              <a:ext cx="2700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75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同一攻击内比较</a:t>
              </a:r>
              <a:endPara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8" name="EditableMathPart"/>
            <p:cNvSpPr>
              <a:spLocks noGrp="1"/>
            </p:cNvSpPr>
            <p:nvPr/>
          </p:nvSpPr>
          <p:spPr>
            <a:xfrm>
              <a:off x="8610" y="5434"/>
              <a:ext cx="263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75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y</a:t>
              </a:r>
              <a:endPara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9" name="EditableMathPart"/>
            <p:cNvSpPr>
              <a:spLocks noGrp="1"/>
            </p:cNvSpPr>
            <p:nvPr/>
          </p:nvSpPr>
          <p:spPr>
            <a:xfrm>
              <a:off x="8797" y="5640"/>
              <a:ext cx="20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1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50" name="EditableMathPart"/>
            <p:cNvSpPr>
              <a:spLocks noGrp="1"/>
            </p:cNvSpPr>
            <p:nvPr/>
          </p:nvSpPr>
          <p:spPr>
            <a:xfrm>
              <a:off x="8797" y="5404"/>
              <a:ext cx="26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w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51" name="EditableMathPart"/>
            <p:cNvSpPr>
              <a:spLocks noGrp="1"/>
            </p:cNvSpPr>
            <p:nvPr/>
          </p:nvSpPr>
          <p:spPr>
            <a:xfrm>
              <a:off x="8989" y="5434"/>
              <a:ext cx="690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75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 ≻ y</a:t>
              </a:r>
              <a:endPara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2" name="EditableMathPart"/>
            <p:cNvSpPr>
              <a:spLocks noGrp="1"/>
            </p:cNvSpPr>
            <p:nvPr/>
          </p:nvSpPr>
          <p:spPr>
            <a:xfrm>
              <a:off x="9604" y="5640"/>
              <a:ext cx="20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1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53" name="EditableMathPart"/>
            <p:cNvSpPr>
              <a:spLocks noGrp="1"/>
            </p:cNvSpPr>
            <p:nvPr/>
          </p:nvSpPr>
          <p:spPr>
            <a:xfrm>
              <a:off x="9604" y="5404"/>
              <a:ext cx="14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l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54" name="EditableMathPart"/>
            <p:cNvSpPr>
              <a:spLocks noGrp="1"/>
            </p:cNvSpPr>
            <p:nvPr/>
          </p:nvSpPr>
          <p:spPr>
            <a:xfrm>
              <a:off x="12615" y="5235"/>
              <a:ext cx="375" cy="5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00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(x</a:t>
              </a:r>
              <a:endPara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5" name="EditableMathPart"/>
            <p:cNvSpPr>
              <a:spLocks noGrp="1"/>
            </p:cNvSpPr>
            <p:nvPr/>
          </p:nvSpPr>
          <p:spPr>
            <a:xfrm>
              <a:off x="12915" y="5433"/>
              <a:ext cx="203" cy="5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6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1</a:t>
              </a:r>
              <a:endParaRPr sz="126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56" name="EditableMathPart"/>
            <p:cNvSpPr>
              <a:spLocks noGrp="1"/>
            </p:cNvSpPr>
            <p:nvPr/>
          </p:nvSpPr>
          <p:spPr>
            <a:xfrm>
              <a:off x="13043" y="5235"/>
              <a:ext cx="457" cy="5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00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, y</a:t>
              </a:r>
              <a:endPara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7" name="EditableMathPart"/>
            <p:cNvSpPr>
              <a:spLocks noGrp="1"/>
            </p:cNvSpPr>
            <p:nvPr/>
          </p:nvSpPr>
          <p:spPr>
            <a:xfrm>
              <a:off x="13425" y="5433"/>
              <a:ext cx="203" cy="5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6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1</a:t>
              </a:r>
              <a:endParaRPr sz="126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58" name="EditableMathPart"/>
            <p:cNvSpPr>
              <a:spLocks noGrp="1"/>
            </p:cNvSpPr>
            <p:nvPr/>
          </p:nvSpPr>
          <p:spPr>
            <a:xfrm>
              <a:off x="13425" y="5206"/>
              <a:ext cx="255" cy="5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6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w</a:t>
              </a:r>
              <a:endParaRPr sz="126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59" name="EditableMathPart"/>
            <p:cNvSpPr>
              <a:spLocks noGrp="1"/>
            </p:cNvSpPr>
            <p:nvPr/>
          </p:nvSpPr>
          <p:spPr>
            <a:xfrm>
              <a:off x="13605" y="5235"/>
              <a:ext cx="195" cy="5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00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)</a:t>
              </a:r>
              <a:endPara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0" name="EditableMathPart"/>
            <p:cNvSpPr>
              <a:spLocks noGrp="1"/>
            </p:cNvSpPr>
            <p:nvPr/>
          </p:nvSpPr>
          <p:spPr>
            <a:xfrm>
              <a:off x="1830" y="7125"/>
              <a:ext cx="1241" cy="6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2100" b="1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攻击 x</a:t>
              </a:r>
              <a:endPara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1" name="EditableMathPart"/>
            <p:cNvSpPr>
              <a:spLocks noGrp="1"/>
            </p:cNvSpPr>
            <p:nvPr/>
          </p:nvSpPr>
          <p:spPr>
            <a:xfrm>
              <a:off x="2996" y="7356"/>
              <a:ext cx="221" cy="6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470" b="1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2</a:t>
              </a:r>
              <a:endParaRPr sz="1470" b="1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62" name="EditableMathPart"/>
            <p:cNvSpPr>
              <a:spLocks noGrp="1"/>
            </p:cNvSpPr>
            <p:nvPr/>
          </p:nvSpPr>
          <p:spPr>
            <a:xfrm>
              <a:off x="5085" y="6780"/>
              <a:ext cx="1117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75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回复 y</a:t>
              </a:r>
              <a:endPara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3" name="EditableMathPart"/>
            <p:cNvSpPr>
              <a:spLocks noGrp="1"/>
            </p:cNvSpPr>
            <p:nvPr/>
          </p:nvSpPr>
          <p:spPr>
            <a:xfrm>
              <a:off x="6127" y="6986"/>
              <a:ext cx="20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2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64" name="EditableMathPart"/>
            <p:cNvSpPr>
              <a:spLocks noGrp="1"/>
            </p:cNvSpPr>
            <p:nvPr/>
          </p:nvSpPr>
          <p:spPr>
            <a:xfrm>
              <a:off x="6127" y="6750"/>
              <a:ext cx="20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1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65" name="EditableMathPart"/>
            <p:cNvSpPr>
              <a:spLocks noGrp="1"/>
            </p:cNvSpPr>
            <p:nvPr/>
          </p:nvSpPr>
          <p:spPr>
            <a:xfrm>
              <a:off x="5085" y="7695"/>
              <a:ext cx="1117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75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回复 y</a:t>
              </a:r>
              <a:endPara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6" name="EditableMathPart"/>
            <p:cNvSpPr>
              <a:spLocks noGrp="1"/>
            </p:cNvSpPr>
            <p:nvPr/>
          </p:nvSpPr>
          <p:spPr>
            <a:xfrm>
              <a:off x="6127" y="7901"/>
              <a:ext cx="20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2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67" name="EditableMathPart"/>
            <p:cNvSpPr>
              <a:spLocks noGrp="1"/>
            </p:cNvSpPr>
            <p:nvPr/>
          </p:nvSpPr>
          <p:spPr>
            <a:xfrm>
              <a:off x="6127" y="7665"/>
              <a:ext cx="20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2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68" name="EditableMathPart"/>
            <p:cNvSpPr>
              <a:spLocks noGrp="1"/>
            </p:cNvSpPr>
            <p:nvPr/>
          </p:nvSpPr>
          <p:spPr>
            <a:xfrm>
              <a:off x="8610" y="6975"/>
              <a:ext cx="2700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75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同一攻击内比较</a:t>
              </a:r>
              <a:endPara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9" name="EditableMathPart"/>
            <p:cNvSpPr>
              <a:spLocks noGrp="1"/>
            </p:cNvSpPr>
            <p:nvPr/>
          </p:nvSpPr>
          <p:spPr>
            <a:xfrm>
              <a:off x="8610" y="7444"/>
              <a:ext cx="263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75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y</a:t>
              </a:r>
              <a:endPara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70" name="EditableMathPart"/>
            <p:cNvSpPr>
              <a:spLocks noGrp="1"/>
            </p:cNvSpPr>
            <p:nvPr/>
          </p:nvSpPr>
          <p:spPr>
            <a:xfrm>
              <a:off x="8797" y="7650"/>
              <a:ext cx="20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2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71" name="EditableMathPart"/>
            <p:cNvSpPr>
              <a:spLocks noGrp="1"/>
            </p:cNvSpPr>
            <p:nvPr/>
          </p:nvSpPr>
          <p:spPr>
            <a:xfrm>
              <a:off x="8797" y="7414"/>
              <a:ext cx="26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w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72" name="EditableMathPart"/>
            <p:cNvSpPr>
              <a:spLocks noGrp="1"/>
            </p:cNvSpPr>
            <p:nvPr/>
          </p:nvSpPr>
          <p:spPr>
            <a:xfrm>
              <a:off x="8989" y="7444"/>
              <a:ext cx="690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75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 ≻ y</a:t>
              </a:r>
              <a:endPara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73" name="EditableMathPart"/>
            <p:cNvSpPr>
              <a:spLocks noGrp="1"/>
            </p:cNvSpPr>
            <p:nvPr/>
          </p:nvSpPr>
          <p:spPr>
            <a:xfrm>
              <a:off x="9604" y="7650"/>
              <a:ext cx="20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2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74" name="EditableMathPart"/>
            <p:cNvSpPr>
              <a:spLocks noGrp="1"/>
            </p:cNvSpPr>
            <p:nvPr/>
          </p:nvSpPr>
          <p:spPr>
            <a:xfrm>
              <a:off x="9604" y="7414"/>
              <a:ext cx="146" cy="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31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l</a:t>
              </a:r>
              <a:endParaRPr sz="131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75" name="EditableMathPart"/>
            <p:cNvSpPr>
              <a:spLocks noGrp="1"/>
            </p:cNvSpPr>
            <p:nvPr/>
          </p:nvSpPr>
          <p:spPr>
            <a:xfrm>
              <a:off x="12615" y="7245"/>
              <a:ext cx="375" cy="5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00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(x</a:t>
              </a:r>
              <a:endPara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76" name="EditableMathPart"/>
            <p:cNvSpPr>
              <a:spLocks noGrp="1"/>
            </p:cNvSpPr>
            <p:nvPr/>
          </p:nvSpPr>
          <p:spPr>
            <a:xfrm>
              <a:off x="12915" y="7443"/>
              <a:ext cx="203" cy="5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6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2</a:t>
              </a:r>
              <a:endParaRPr sz="126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77" name="EditableMathPart"/>
            <p:cNvSpPr>
              <a:spLocks noGrp="1"/>
            </p:cNvSpPr>
            <p:nvPr/>
          </p:nvSpPr>
          <p:spPr>
            <a:xfrm>
              <a:off x="13043" y="7245"/>
              <a:ext cx="457" cy="5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00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, y</a:t>
              </a:r>
              <a:endPara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78" name="EditableMathPart"/>
            <p:cNvSpPr>
              <a:spLocks noGrp="1"/>
            </p:cNvSpPr>
            <p:nvPr/>
          </p:nvSpPr>
          <p:spPr>
            <a:xfrm>
              <a:off x="13425" y="7443"/>
              <a:ext cx="203" cy="5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6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2</a:t>
              </a:r>
              <a:endParaRPr sz="126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79" name="EditableMathPart"/>
            <p:cNvSpPr>
              <a:spLocks noGrp="1"/>
            </p:cNvSpPr>
            <p:nvPr/>
          </p:nvSpPr>
          <p:spPr>
            <a:xfrm>
              <a:off x="13425" y="7216"/>
              <a:ext cx="255" cy="5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60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w</a:t>
              </a:r>
              <a:endParaRPr sz="1260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80" name="EditableMathPart"/>
            <p:cNvSpPr>
              <a:spLocks noGrp="1"/>
            </p:cNvSpPr>
            <p:nvPr/>
          </p:nvSpPr>
          <p:spPr>
            <a:xfrm>
              <a:off x="13605" y="7245"/>
              <a:ext cx="195" cy="5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800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)</a:t>
              </a:r>
              <a:endPara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1" name="EditableMathPart"/>
            <p:cNvSpPr>
              <a:spLocks noGrp="1"/>
            </p:cNvSpPr>
            <p:nvPr/>
          </p:nvSpPr>
          <p:spPr>
            <a:xfrm>
              <a:off x="15000" y="4770"/>
              <a:ext cx="2625" cy="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sz="1650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比较两条攻击</a:t>
              </a:r>
              <a:r>
                <a:rPr lang="zh-CN"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  <a:sym typeface="+mn-ea"/>
                </a:rPr>
                <a:t>分别</a:t>
              </a:r>
              <a:endParaRPr lang="zh-CN" sz="16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+mn-ea"/>
              </a:endParaRPr>
            </a:p>
            <a:p>
              <a:pPr algn="l"/>
              <a:r>
                <a:rPr lang="zh-CN"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  <a:sym typeface="+mn-ea"/>
                </a:rPr>
                <a:t>对应的</a:t>
              </a:r>
              <a:r>
                <a: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  <a:sym typeface="+mn-ea"/>
                </a:rPr>
                <a:t>的胜出回复</a:t>
              </a:r>
              <a:endPara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  <a:p>
              <a:endPara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3" name="EditableMathPart"/>
            <p:cNvSpPr>
              <a:spLocks noGrp="1"/>
            </p:cNvSpPr>
            <p:nvPr/>
          </p:nvSpPr>
          <p:spPr>
            <a:xfrm>
              <a:off x="15000" y="5595"/>
              <a:ext cx="990" cy="4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650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得到 x</a:t>
              </a:r>
              <a:endPara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4" name="EditableMathPart"/>
            <p:cNvSpPr>
              <a:spLocks noGrp="1"/>
            </p:cNvSpPr>
            <p:nvPr/>
          </p:nvSpPr>
          <p:spPr>
            <a:xfrm>
              <a:off x="15915" y="5569"/>
              <a:ext cx="244" cy="4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155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w</a:t>
              </a:r>
              <a:endParaRPr sz="1155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85" name="EditableMathPart"/>
            <p:cNvSpPr>
              <a:spLocks noGrp="1"/>
            </p:cNvSpPr>
            <p:nvPr/>
          </p:nvSpPr>
          <p:spPr>
            <a:xfrm>
              <a:off x="16084" y="5595"/>
              <a:ext cx="611" cy="4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650" b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 ≻ x</a:t>
              </a:r>
              <a:endPara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6" name="EditableMathPart"/>
            <p:cNvSpPr>
              <a:spLocks noGrp="1"/>
            </p:cNvSpPr>
            <p:nvPr/>
          </p:nvSpPr>
          <p:spPr>
            <a:xfrm>
              <a:off x="16620" y="5569"/>
              <a:ext cx="139" cy="4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155" b="0">
                  <a:solidFill>
                    <a:srgbClr val="111111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l</a:t>
              </a:r>
              <a:endParaRPr sz="1155" b="0">
                <a:solidFill>
                  <a:srgbClr val="11111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87" name="EditableMathPart"/>
            <p:cNvSpPr>
              <a:spLocks noGrp="1"/>
            </p:cNvSpPr>
            <p:nvPr/>
          </p:nvSpPr>
          <p:spPr>
            <a:xfrm>
              <a:off x="5085" y="8835"/>
              <a:ext cx="2573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725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⑤ 更新防御者 π</a:t>
              </a:r>
              <a:endPara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8" name="EditableMathPart"/>
            <p:cNvSpPr>
              <a:spLocks noGrp="1"/>
            </p:cNvSpPr>
            <p:nvPr/>
          </p:nvSpPr>
          <p:spPr>
            <a:xfrm>
              <a:off x="7583" y="9025"/>
              <a:ext cx="191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05" b="1">
                  <a:solidFill>
                    <a:srgbClr val="C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θ</a:t>
              </a:r>
              <a:endParaRPr sz="1205" b="1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89" name="EditableMathPart"/>
            <p:cNvSpPr>
              <a:spLocks noGrp="1"/>
            </p:cNvSpPr>
            <p:nvPr/>
          </p:nvSpPr>
          <p:spPr>
            <a:xfrm>
              <a:off x="7699" y="8835"/>
              <a:ext cx="1399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725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（式 8）</a:t>
              </a:r>
              <a:endPara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90" name="EditableMathPart"/>
            <p:cNvSpPr>
              <a:spLocks noGrp="1"/>
            </p:cNvSpPr>
            <p:nvPr/>
          </p:nvSpPr>
          <p:spPr>
            <a:xfrm>
              <a:off x="5085" y="9266"/>
              <a:ext cx="2033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725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2 对回复：(x</a:t>
              </a:r>
              <a:endPara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91" name="EditableMathPart"/>
            <p:cNvSpPr>
              <a:spLocks noGrp="1"/>
            </p:cNvSpPr>
            <p:nvPr/>
          </p:nvSpPr>
          <p:spPr>
            <a:xfrm>
              <a:off x="7043" y="9456"/>
              <a:ext cx="195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05" b="1">
                  <a:solidFill>
                    <a:srgbClr val="C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1</a:t>
              </a:r>
              <a:endParaRPr sz="1205" b="1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92" name="EditableMathPart"/>
            <p:cNvSpPr>
              <a:spLocks noGrp="1"/>
            </p:cNvSpPr>
            <p:nvPr/>
          </p:nvSpPr>
          <p:spPr>
            <a:xfrm>
              <a:off x="7163" y="9266"/>
              <a:ext cx="345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725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,y</a:t>
              </a:r>
              <a:endPara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93" name="EditableMathPart"/>
            <p:cNvSpPr>
              <a:spLocks noGrp="1"/>
            </p:cNvSpPr>
            <p:nvPr/>
          </p:nvSpPr>
          <p:spPr>
            <a:xfrm>
              <a:off x="7433" y="9456"/>
              <a:ext cx="195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05" b="1">
                  <a:solidFill>
                    <a:srgbClr val="C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1</a:t>
              </a:r>
              <a:endParaRPr sz="1205" b="1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94" name="EditableMathPart"/>
            <p:cNvSpPr>
              <a:spLocks noGrp="1"/>
            </p:cNvSpPr>
            <p:nvPr/>
          </p:nvSpPr>
          <p:spPr>
            <a:xfrm>
              <a:off x="7433" y="9239"/>
              <a:ext cx="247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05" b="1">
                  <a:solidFill>
                    <a:srgbClr val="C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w</a:t>
              </a:r>
              <a:endParaRPr sz="1205" b="1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95" name="EditableMathPart"/>
            <p:cNvSpPr>
              <a:spLocks noGrp="1"/>
            </p:cNvSpPr>
            <p:nvPr/>
          </p:nvSpPr>
          <p:spPr>
            <a:xfrm>
              <a:off x="7605" y="9266"/>
              <a:ext cx="345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725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,y</a:t>
              </a:r>
              <a:endPara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96" name="EditableMathPart"/>
            <p:cNvSpPr>
              <a:spLocks noGrp="1"/>
            </p:cNvSpPr>
            <p:nvPr/>
          </p:nvSpPr>
          <p:spPr>
            <a:xfrm>
              <a:off x="7875" y="9456"/>
              <a:ext cx="195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05" b="1">
                  <a:solidFill>
                    <a:srgbClr val="C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1</a:t>
              </a:r>
              <a:endParaRPr sz="1205" b="1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97" name="EditableMathPart"/>
            <p:cNvSpPr>
              <a:spLocks noGrp="1"/>
            </p:cNvSpPr>
            <p:nvPr/>
          </p:nvSpPr>
          <p:spPr>
            <a:xfrm>
              <a:off x="7875" y="9239"/>
              <a:ext cx="143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05" b="1">
                  <a:solidFill>
                    <a:srgbClr val="C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l</a:t>
              </a:r>
              <a:endParaRPr sz="1205" b="1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98" name="EditableMathPart"/>
            <p:cNvSpPr>
              <a:spLocks noGrp="1"/>
            </p:cNvSpPr>
            <p:nvPr/>
          </p:nvSpPr>
          <p:spPr>
            <a:xfrm>
              <a:off x="7995" y="9266"/>
              <a:ext cx="825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725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)、(x</a:t>
              </a:r>
              <a:endPara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99" name="EditableMathPart"/>
            <p:cNvSpPr>
              <a:spLocks noGrp="1"/>
            </p:cNvSpPr>
            <p:nvPr/>
          </p:nvSpPr>
          <p:spPr>
            <a:xfrm>
              <a:off x="8745" y="9456"/>
              <a:ext cx="195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05" b="1">
                  <a:solidFill>
                    <a:srgbClr val="C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2</a:t>
              </a:r>
              <a:endParaRPr sz="1205" b="1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100" name="EditableMathPart"/>
            <p:cNvSpPr>
              <a:spLocks noGrp="1"/>
            </p:cNvSpPr>
            <p:nvPr/>
          </p:nvSpPr>
          <p:spPr>
            <a:xfrm>
              <a:off x="8865" y="9266"/>
              <a:ext cx="345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725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,y</a:t>
              </a:r>
              <a:endPara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01" name="EditableMathPart"/>
            <p:cNvSpPr>
              <a:spLocks noGrp="1"/>
            </p:cNvSpPr>
            <p:nvPr/>
          </p:nvSpPr>
          <p:spPr>
            <a:xfrm>
              <a:off x="9135" y="9456"/>
              <a:ext cx="195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05" b="1">
                  <a:solidFill>
                    <a:srgbClr val="C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2</a:t>
              </a:r>
              <a:endParaRPr sz="1205" b="1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102" name="EditableMathPart"/>
            <p:cNvSpPr>
              <a:spLocks noGrp="1"/>
            </p:cNvSpPr>
            <p:nvPr/>
          </p:nvSpPr>
          <p:spPr>
            <a:xfrm>
              <a:off x="9135" y="9239"/>
              <a:ext cx="247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05" b="1">
                  <a:solidFill>
                    <a:srgbClr val="C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w</a:t>
              </a:r>
              <a:endParaRPr sz="1205" b="1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103" name="EditableMathPart"/>
            <p:cNvSpPr>
              <a:spLocks noGrp="1"/>
            </p:cNvSpPr>
            <p:nvPr/>
          </p:nvSpPr>
          <p:spPr>
            <a:xfrm>
              <a:off x="9307" y="9266"/>
              <a:ext cx="345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725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,y</a:t>
              </a:r>
              <a:endPara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04" name="EditableMathPart"/>
            <p:cNvSpPr>
              <a:spLocks noGrp="1"/>
            </p:cNvSpPr>
            <p:nvPr/>
          </p:nvSpPr>
          <p:spPr>
            <a:xfrm>
              <a:off x="9577" y="9456"/>
              <a:ext cx="195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05" b="1">
                  <a:solidFill>
                    <a:srgbClr val="C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2</a:t>
              </a:r>
              <a:endParaRPr sz="1205" b="1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105" name="EditableMathPart"/>
            <p:cNvSpPr>
              <a:spLocks noGrp="1"/>
            </p:cNvSpPr>
            <p:nvPr/>
          </p:nvSpPr>
          <p:spPr>
            <a:xfrm>
              <a:off x="9577" y="9239"/>
              <a:ext cx="143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05" b="1">
                  <a:solidFill>
                    <a:srgbClr val="C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l</a:t>
              </a:r>
              <a:endParaRPr sz="1205" b="1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106" name="EditableMathPart"/>
            <p:cNvSpPr>
              <a:spLocks noGrp="1"/>
            </p:cNvSpPr>
            <p:nvPr/>
          </p:nvSpPr>
          <p:spPr>
            <a:xfrm>
              <a:off x="9697" y="9266"/>
              <a:ext cx="191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725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)</a:t>
              </a:r>
              <a:endPara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08" name="EditableMathPart"/>
            <p:cNvSpPr>
              <a:spLocks noGrp="1"/>
            </p:cNvSpPr>
            <p:nvPr/>
          </p:nvSpPr>
          <p:spPr>
            <a:xfrm>
              <a:off x="12615" y="8835"/>
              <a:ext cx="2539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725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⑥ 更新攻击者 ρ</a:t>
              </a:r>
              <a:endPara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09" name="EditableMathPart"/>
            <p:cNvSpPr>
              <a:spLocks noGrp="1"/>
            </p:cNvSpPr>
            <p:nvPr/>
          </p:nvSpPr>
          <p:spPr>
            <a:xfrm>
              <a:off x="15079" y="9025"/>
              <a:ext cx="203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05" b="1">
                  <a:solidFill>
                    <a:srgbClr val="C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ϕ</a:t>
              </a:r>
              <a:endParaRPr sz="1205" b="1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110" name="EditableMathPart"/>
            <p:cNvSpPr>
              <a:spLocks noGrp="1"/>
            </p:cNvSpPr>
            <p:nvPr/>
          </p:nvSpPr>
          <p:spPr>
            <a:xfrm>
              <a:off x="15206" y="8835"/>
              <a:ext cx="1399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725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（式 9）</a:t>
              </a:r>
              <a:endPara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11" name="EditableMathPart"/>
            <p:cNvSpPr>
              <a:spLocks noGrp="1"/>
            </p:cNvSpPr>
            <p:nvPr/>
          </p:nvSpPr>
          <p:spPr>
            <a:xfrm>
              <a:off x="12615" y="9266"/>
              <a:ext cx="2573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725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1 对攻击：(c,s,x</a:t>
              </a:r>
              <a:endPara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12" name="EditableMathPart"/>
            <p:cNvSpPr>
              <a:spLocks noGrp="1"/>
            </p:cNvSpPr>
            <p:nvPr/>
          </p:nvSpPr>
          <p:spPr>
            <a:xfrm>
              <a:off x="15113" y="9239"/>
              <a:ext cx="247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05" b="1">
                  <a:solidFill>
                    <a:srgbClr val="C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w</a:t>
              </a:r>
              <a:endParaRPr sz="1205" b="1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113" name="EditableMathPart"/>
            <p:cNvSpPr>
              <a:spLocks noGrp="1"/>
            </p:cNvSpPr>
            <p:nvPr/>
          </p:nvSpPr>
          <p:spPr>
            <a:xfrm>
              <a:off x="15285" y="9266"/>
              <a:ext cx="345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725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,x</a:t>
              </a:r>
              <a:endPara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14" name="EditableMathPart"/>
            <p:cNvSpPr>
              <a:spLocks noGrp="1"/>
            </p:cNvSpPr>
            <p:nvPr/>
          </p:nvSpPr>
          <p:spPr>
            <a:xfrm>
              <a:off x="15555" y="9239"/>
              <a:ext cx="143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205" b="1">
                  <a:solidFill>
                    <a:srgbClr val="C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l</a:t>
              </a:r>
              <a:endParaRPr sz="1205" b="1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115" name="EditableMathPart"/>
            <p:cNvSpPr>
              <a:spLocks noGrp="1"/>
            </p:cNvSpPr>
            <p:nvPr/>
          </p:nvSpPr>
          <p:spPr>
            <a:xfrm>
              <a:off x="15623" y="9266"/>
              <a:ext cx="191" cy="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r>
                <a:rPr sz="1725" b="1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</a:rPr>
                <a:t>)</a:t>
              </a:r>
              <a:endPara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1076325" y="2419350"/>
            <a:ext cx="1666875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5700" b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143250" y="2600325"/>
            <a:ext cx="8086725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</a:t>
            </a:r>
            <a:endParaRPr sz="3900" b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143250" y="3638550"/>
            <a:ext cx="8086725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主要结果、消融实验与攻击者分析</a:t>
            </a:r>
            <a:endParaRPr sz="2250" b="0">
              <a:solidFill>
                <a:srgbClr val="55555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3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实验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  <a:sym typeface="+mn-ea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980440" y="1112520"/>
            <a:ext cx="603821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实验设置与评价维度</a:t>
            </a:r>
            <a:endParaRPr lang="zh-CN" altLang="en-US" sz="2800">
              <a:latin typeface="Microsoft YaHei" charset="0"/>
              <a:ea typeface="Microsoft YaHei" charset="0"/>
              <a:sym typeface="+mn-ea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76325" y="1971675"/>
            <a:ext cx="101536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模型：Qwen2.5-7B、Llama3.1-8B</a:t>
            </a:r>
            <a:endParaRPr sz="2025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76325" y="2714625"/>
            <a:ext cx="8103235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训练</a:t>
            </a:r>
            <a:r>
              <a:rPr lang="zh-CN"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和测试</a:t>
            </a: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：WildJailbreak vanilla 良性 / 有害子集</a:t>
            </a:r>
            <a:endParaRPr sz="2025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" y="3457575"/>
            <a:ext cx="101536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lang="zh-CN"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指标</a:t>
            </a:r>
            <a:r>
              <a:rPr lang="zh-CN"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如下</a:t>
            </a:r>
            <a:endParaRPr lang="zh-CN" sz="2025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1076325" y="4511675"/>
          <a:ext cx="10153650" cy="1095376"/>
        </p:xfrm>
        <a:graphic>
          <a:graphicData uri="http://schemas.openxmlformats.org/drawingml/2006/table">
            <a:tbl>
              <a:tblPr/>
              <a:tblGrid>
                <a:gridCol w="3381375"/>
                <a:gridCol w="3390900"/>
                <a:gridCol w="3381375"/>
              </a:tblGrid>
              <a:tr h="547688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Utility ↑</a:t>
                      </a:r>
                      <a:endParaRPr sz="1875" b="1">
                        <a:solidFill>
                          <a:srgbClr val="C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Safety：ASR ↓</a:t>
                      </a:r>
                      <a:endParaRPr sz="1875" b="1">
                        <a:solidFill>
                          <a:srgbClr val="C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Compliance ↑</a:t>
                      </a:r>
                      <a:endParaRPr sz="1875" b="1">
                        <a:solidFill>
                          <a:srgbClr val="C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7688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知识、指令遵循、对话质量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MMLU / IFBench / Arena 等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有害行为发生比例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固定攻击 + 自适应攻击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良性请求的正常回答比例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WJB / XSTest</a:t>
                      </a:r>
                      <a:endParaRPr sz="1875" b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3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实验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  <a:sym typeface="+mn-ea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980440" y="1112520"/>
            <a:ext cx="890143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一、主要结果：在无害数据集上测试模型有用性的</a:t>
            </a: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保持</a:t>
            </a:r>
            <a:endParaRPr lang="zh-CN" altLang="en-US" sz="2800">
              <a:latin typeface="Microsoft YaHei" charset="0"/>
              <a:ea typeface="Microsoft YaHei" charset="0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440" y="2042795"/>
            <a:ext cx="7394575" cy="4396740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7839710" y="2793365"/>
            <a:ext cx="4243070" cy="193421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"/>
              <a:defRPr sz="2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基于零和博弈的</a:t>
            </a:r>
            <a:r>
              <a:rPr lang="en-US" altLang="zh-CN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Self-RedTeam</a:t>
            </a:r>
            <a:r>
              <a:rPr lang="zh-CN" altLang="en-US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方法在有用性上降低</a:t>
            </a:r>
            <a:r>
              <a:rPr lang="zh-CN" altLang="en-US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明显</a:t>
            </a:r>
            <a:endParaRPr lang="zh-CN" altLang="en-US" sz="2100" b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"/>
              <a:defRPr sz="2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本文方法有效保持模型</a:t>
            </a:r>
            <a:r>
              <a:rPr lang="zh-CN" altLang="en-US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有用性</a:t>
            </a:r>
            <a:endParaRPr lang="zh-CN" altLang="en-US" sz="2100" b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3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实验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  <a:sym typeface="+mn-ea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980440" y="1112520"/>
            <a:ext cx="109861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一、主要结果：在固定攻击</a:t>
            </a: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数据集上的安全性表现</a:t>
            </a:r>
            <a:endParaRPr lang="zh-CN" altLang="en-US" sz="2800">
              <a:latin typeface="Microsoft YaHei" charset="0"/>
              <a:ea typeface="Microsoft YaHei" charset="0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9390" y="2185670"/>
            <a:ext cx="74676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3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实验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  <a:sym typeface="+mn-ea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980440" y="1112520"/>
            <a:ext cx="109861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一、主要结果：面对自适应攻击的模型</a:t>
            </a: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鲁棒性</a:t>
            </a:r>
            <a:endParaRPr lang="zh-CN" altLang="en-US" sz="2800">
              <a:latin typeface="Microsoft YaHei" charset="0"/>
              <a:ea typeface="Microsoft YaHei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0025" y="1915795"/>
            <a:ext cx="7467600" cy="4521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3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实验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  <a:sym typeface="+mn-ea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980440" y="1112520"/>
            <a:ext cx="109861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一、主要结果：模型是否改善了过度拒绝现象</a:t>
            </a:r>
            <a:r>
              <a:rPr lang="en-US" altLang="zh-CN" sz="2800">
                <a:latin typeface="Microsoft YaHei" charset="0"/>
                <a:ea typeface="Microsoft YaHei" charset="0"/>
                <a:sym typeface="+mn-ea"/>
              </a:rPr>
              <a:t>？</a:t>
            </a:r>
            <a:endParaRPr lang="en-US" altLang="zh-CN" sz="2800">
              <a:latin typeface="Microsoft YaHei" charset="0"/>
              <a:ea typeface="Microsoft YaHei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200" y="1849755"/>
            <a:ext cx="7467600" cy="4775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3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实验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  <a:sym typeface="+mn-ea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980440" y="1112520"/>
            <a:ext cx="109861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二、消融</a:t>
            </a: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实验</a:t>
            </a:r>
            <a:endParaRPr lang="zh-CN" altLang="en-US" sz="2800">
              <a:latin typeface="Microsoft YaHei" charset="0"/>
              <a:ea typeface="Microsoft YaHei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50" y="1849755"/>
            <a:ext cx="7538720" cy="4792345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8189595" y="2793365"/>
            <a:ext cx="3893185" cy="24968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"/>
              <a:defRPr sz="2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迭代训练</a:t>
            </a:r>
            <a:r>
              <a:rPr lang="en-US" altLang="zh-CN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attacker</a:t>
            </a:r>
            <a:r>
              <a:rPr lang="zh-CN" altLang="en-US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比固定</a:t>
            </a:r>
            <a:r>
              <a:rPr lang="en-US" altLang="zh-CN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attacker</a:t>
            </a:r>
            <a:r>
              <a:rPr lang="zh-CN" altLang="en-US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更有效</a:t>
            </a:r>
            <a:endParaRPr lang="zh-CN" altLang="en-US" sz="2100" b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"/>
              <a:defRPr sz="2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滑动平均</a:t>
            </a:r>
            <a:r>
              <a:rPr lang="en-US" altLang="zh-CN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(EMA)</a:t>
            </a:r>
            <a:r>
              <a:rPr lang="zh-CN" altLang="en-US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对于两套参数迭代优化时的稳定性</a:t>
            </a:r>
            <a:r>
              <a:rPr lang="zh-CN" altLang="en-US" sz="21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至关重要</a:t>
            </a:r>
            <a:endParaRPr lang="zh-CN" altLang="en-US" sz="2100" b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3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实验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  <a:sym typeface="+mn-ea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980440" y="1112520"/>
            <a:ext cx="109861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三、分析实验：训练得到的攻击者是否可以用于其他模型的红队测试</a:t>
            </a:r>
            <a:r>
              <a:rPr lang="en-US" altLang="zh-CN" sz="2800">
                <a:latin typeface="Microsoft YaHei" charset="0"/>
                <a:ea typeface="Microsoft YaHei" charset="0"/>
                <a:sym typeface="+mn-ea"/>
              </a:rPr>
              <a:t>？</a:t>
            </a:r>
            <a:endParaRPr lang="en-US" altLang="zh-CN" sz="2800">
              <a:latin typeface="Microsoft YaHei" charset="0"/>
              <a:ea typeface="Microsoft YaHei" charset="0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0025" y="1915795"/>
            <a:ext cx="7467600" cy="45212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672830" y="2818130"/>
            <a:ext cx="1141095" cy="72136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634730" y="4062730"/>
            <a:ext cx="1141095" cy="72136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1076325" y="2419350"/>
            <a:ext cx="1666875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5700" b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143250" y="2600325"/>
            <a:ext cx="8086725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  <a:endParaRPr sz="3900" b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143250" y="3638550"/>
            <a:ext cx="8086725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方法贡献与后续方向</a:t>
            </a:r>
            <a:endParaRPr sz="2250" b="0">
              <a:solidFill>
                <a:srgbClr val="55555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4266-8042-B845-91E3-E9201FAB5F9D}" type="slidenum">
              <a:rPr lang="en-US" smtClean="0"/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565150" y="326390"/>
            <a:ext cx="3893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4 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总结与</a:t>
            </a:r>
            <a:r>
              <a:rPr lang="zh-CN" altLang="en-US" sz="3600">
                <a:solidFill>
                  <a:srgbClr val="C00000"/>
                </a:solidFill>
                <a:latin typeface="Microsoft YaHei" charset="0"/>
                <a:ea typeface="Microsoft YaHei" charset="0"/>
                <a:sym typeface="+mn-ea"/>
              </a:rPr>
              <a:t>展望</a:t>
            </a:r>
            <a:endParaRPr lang="zh-CN" altLang="en-US" sz="3600">
              <a:solidFill>
                <a:srgbClr val="C00000"/>
              </a:solidFill>
              <a:latin typeface="Microsoft YaHei" charset="0"/>
              <a:ea typeface="Microsoft YaHei" charset="0"/>
              <a:sym typeface="+mn-ea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980440" y="1112520"/>
            <a:ext cx="109861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总结</a:t>
            </a:r>
            <a:endParaRPr lang="zh-CN" altLang="en-US" sz="2800">
              <a:latin typeface="Microsoft YaHei" charset="0"/>
              <a:ea typeface="Microsoft YaHei" charset="0"/>
              <a:sym typeface="+mn-ea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92225" y="1918970"/>
            <a:ext cx="10153650" cy="181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  <a:def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本文提出 </a:t>
            </a:r>
            <a:r>
              <a:rPr lang="en-US" altLang="zh-CN"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AdvGame：</a:t>
            </a:r>
            <a:endParaRPr lang="en-US" altLang="zh-CN" sz="2325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indent="457200">
              <a:lnSpc>
                <a:spcPct val="150000"/>
              </a:lnSpc>
              <a:def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通过独立参数的攻击者与防御者共同在线训练</a:t>
            </a:r>
            <a:endParaRPr lang="zh-CN" altLang="en-US" sz="2325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indent="457200">
              <a:lnSpc>
                <a:spcPct val="150000"/>
              </a:lnSpc>
              <a:def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通过设计非零和</a:t>
            </a:r>
            <a:r>
              <a:rPr lang="zh-CN" altLang="en-US"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目标，区分真实安全失败与乱码等无效输出</a:t>
            </a:r>
            <a:endParaRPr lang="zh-CN" altLang="en-US" sz="2325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80440" y="4055110"/>
            <a:ext cx="109861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latin typeface="Microsoft YaHei" charset="0"/>
                <a:ea typeface="Microsoft YaHei" charset="0"/>
                <a:sym typeface="+mn-ea"/>
              </a:rPr>
              <a:t>展望</a:t>
            </a:r>
            <a:endParaRPr lang="zh-CN" altLang="en-US" sz="2800">
              <a:latin typeface="Microsoft YaHei" charset="0"/>
              <a:ea typeface="Microsoft YaHei" charset="0"/>
              <a:sym typeface="+mn-ea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92225" y="4861560"/>
            <a:ext cx="10153650" cy="162115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"/>
              <a:def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进一步改善良性请求上的过度拒绝</a:t>
            </a:r>
            <a:endParaRPr lang="zh-CN" altLang="en-US" sz="2325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"/>
              <a:def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增强对非可读攻击和分布外攻击的鲁棒性</a:t>
            </a:r>
            <a:endParaRPr lang="zh-CN" altLang="en-US" sz="2325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"/>
              <a:def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双模型在线训练时的收敛条件判断</a:t>
            </a:r>
            <a:r>
              <a:rPr lang="en-US" altLang="zh-CN"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降低</a:t>
            </a:r>
            <a:r>
              <a:rPr lang="zh-CN" altLang="en-US"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训练成本</a:t>
            </a:r>
            <a:endParaRPr lang="zh-CN" altLang="en-US" sz="2325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64304" y="2567225"/>
            <a:ext cx="656408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rgbClr val="C00000"/>
                </a:solidFill>
              </a:rPr>
              <a:t>Thank You!</a:t>
            </a:r>
            <a:endParaRPr lang="en-US" sz="4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2817</Words>
  <Application>WPS 文字</Application>
  <PresentationFormat>Widescreen</PresentationFormat>
  <Paragraphs>528</Paragraphs>
  <Slides>23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4" baseType="lpstr">
      <vt:lpstr>Arial</vt:lpstr>
      <vt:lpstr>SimSun</vt:lpstr>
      <vt:lpstr>Wingdings</vt:lpstr>
      <vt:lpstr>Aptos</vt:lpstr>
      <vt:lpstr>Helvetica Neue</vt:lpstr>
      <vt:lpstr>Arial</vt:lpstr>
      <vt:lpstr>Microsoft YaHei</vt:lpstr>
      <vt:lpstr>汉仪旗黑</vt:lpstr>
      <vt:lpstr>Times New Roman Regular</vt:lpstr>
      <vt:lpstr>Microsoft YaHei</vt:lpstr>
      <vt:lpstr>Wingdings</vt:lpstr>
      <vt:lpstr>Kaiti SC Bold</vt:lpstr>
      <vt:lpstr>Arial Unicode MS</vt:lpstr>
      <vt:lpstr>等线</vt:lpstr>
      <vt:lpstr>苹方-简</vt:lpstr>
      <vt:lpstr>等线 Light</vt:lpstr>
      <vt:lpstr>Microsoft YaHei</vt:lpstr>
      <vt:lpstr>SimSun</vt:lpstr>
      <vt:lpstr>Calibri</vt:lpstr>
      <vt:lpstr>Times New Roman</vt:lpstr>
      <vt:lpstr>Office Theme</vt:lpstr>
      <vt:lpstr>基于非合作博弈的语言模型安全对齐 Safety Alignment of LMs via Non-cooperative Game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基于非合作博弈的语言模型安全对齐</dc:title>
  <dc:creator>ZHOU Xiaofang</dc:creator>
  <cp:lastModifiedBy>Yongqi Li</cp:lastModifiedBy>
  <cp:revision>246</cp:revision>
  <cp:lastPrinted>2026-10-16T11:23:28Z</cp:lastPrinted>
  <dcterms:created xsi:type="dcterms:W3CDTF">2026-10-16T11:23:28Z</dcterms:created>
  <dcterms:modified xsi:type="dcterms:W3CDTF">2026-10-16T11:23:28Z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08E36E52026988249B55C86A89667636_43</vt:lpwstr>
  </property>
  <property fmtid="{D5CDD505-2E9C-101B-9397-08002B2CF9AE}" pid="3" name="KSOProductBuildVer">
    <vt:lpwstr>2052-12.1.28496.28496</vt:lpwstr>
  </property>
</Properties>
</file>