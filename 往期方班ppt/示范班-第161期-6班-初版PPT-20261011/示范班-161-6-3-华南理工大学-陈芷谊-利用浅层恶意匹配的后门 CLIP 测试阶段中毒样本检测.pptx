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5" r:id="rId3"/>
    <p:sldMasterId id="2147483688" r:id="rId4"/>
    <p:sldMasterId id="2147483701" r:id="rId5"/>
  </p:sldMasterIdLst>
  <p:notesMasterIdLst>
    <p:notesMasterId r:id="rId38"/>
  </p:notesMasterIdLst>
  <p:sldIdLst>
    <p:sldId id="348" r:id="rId6"/>
    <p:sldId id="394" r:id="rId7"/>
    <p:sldId id="625" r:id="rId8"/>
    <p:sldId id="626" r:id="rId9"/>
    <p:sldId id="627" r:id="rId10"/>
    <p:sldId id="628" r:id="rId11"/>
    <p:sldId id="629" r:id="rId12"/>
    <p:sldId id="630" r:id="rId13"/>
    <p:sldId id="631" r:id="rId14"/>
    <p:sldId id="632" r:id="rId15"/>
    <p:sldId id="633" r:id="rId16"/>
    <p:sldId id="634" r:id="rId17"/>
    <p:sldId id="635" r:id="rId18"/>
    <p:sldId id="636" r:id="rId19"/>
    <p:sldId id="637" r:id="rId20"/>
    <p:sldId id="638" r:id="rId21"/>
    <p:sldId id="639" r:id="rId22"/>
    <p:sldId id="640" r:id="rId23"/>
    <p:sldId id="641" r:id="rId24"/>
    <p:sldId id="642" r:id="rId25"/>
    <p:sldId id="643" r:id="rId26"/>
    <p:sldId id="644" r:id="rId27"/>
    <p:sldId id="645" r:id="rId28"/>
    <p:sldId id="646" r:id="rId29"/>
    <p:sldId id="647" r:id="rId30"/>
    <p:sldId id="648" r:id="rId31"/>
    <p:sldId id="649" r:id="rId32"/>
    <p:sldId id="650" r:id="rId33"/>
    <p:sldId id="651" r:id="rId34"/>
    <p:sldId id="652" r:id="rId35"/>
    <p:sldId id="653" r:id="rId36"/>
    <p:sldId id="54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N" initials="X" lastIdx="1" clrIdx="0"/>
  <p:cmAuthor id="2" name="翔 张" initials="翔张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BEE5"/>
    <a:srgbClr val="538234"/>
    <a:srgbClr val="D20119"/>
    <a:srgbClr val="848484"/>
    <a:srgbClr val="4371C2"/>
    <a:srgbClr val="DBDBDB"/>
    <a:srgbClr val="439829"/>
    <a:srgbClr val="C5E0B4"/>
    <a:srgbClr val="92D051"/>
    <a:srgbClr val="F6A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34703-3848-4A4E-ACF2-E9834BE85BD1}" v="4" dt="2026-01-04T13:25:14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ㅤ ㅤ" userId="585289ea0ef7a626" providerId="LiveId" clId="{BEAC2CF5-43AB-4235-BB62-449A15D6FBA2}"/>
    <pc:docChg chg="custSel addSld delSld modSld">
      <pc:chgData name="ㅤ ㅤ" userId="585289ea0ef7a626" providerId="LiveId" clId="{BEAC2CF5-43AB-4235-BB62-449A15D6FBA2}" dt="2026-01-04T13:25:18.662" v="7" actId="20577"/>
      <pc:docMkLst>
        <pc:docMk/>
      </pc:docMkLst>
      <pc:sldChg chg="delSp modSp add del mod">
        <pc:chgData name="ㅤ ㅤ" userId="585289ea0ef7a626" providerId="LiveId" clId="{BEAC2CF5-43AB-4235-BB62-449A15D6FBA2}" dt="2026-01-04T13:25:18.662" v="7" actId="20577"/>
        <pc:sldMkLst>
          <pc:docMk/>
          <pc:sldMk cId="0" sldId="348"/>
        </pc:sldMkLst>
        <pc:spChg chg="mod">
          <ac:chgData name="ㅤ ㅤ" userId="585289ea0ef7a626" providerId="LiveId" clId="{BEAC2CF5-43AB-4235-BB62-449A15D6FBA2}" dt="2026-01-04T13:25:18.662" v="7" actId="20577"/>
          <ac:spMkLst>
            <pc:docMk/>
            <pc:sldMk cId="0" sldId="348"/>
            <ac:spMk id="12" creationId="{00000000-0000-0000-0000-000000000000}"/>
          </ac:spMkLst>
        </pc:spChg>
        <pc:picChg chg="del">
          <ac:chgData name="ㅤ ㅤ" userId="585289ea0ef7a626" providerId="LiveId" clId="{BEAC2CF5-43AB-4235-BB62-449A15D6FBA2}" dt="2026-01-04T12:46:51.362" v="4" actId="478"/>
          <ac:picMkLst>
            <pc:docMk/>
            <pc:sldMk cId="0" sldId="348"/>
            <ac:picMk id="3" creationId="{35C92C60-C263-9A0C-E067-73F23239A698}"/>
          </ac:picMkLst>
        </pc:picChg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394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44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51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60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61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67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68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69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71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95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599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2233895242" sldId="610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3655299788" sldId="611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4186913891" sldId="612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2806095618" sldId="613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3730537141" sldId="616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1288411974" sldId="617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80286727" sldId="618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2760491256" sldId="619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3993884946" sldId="620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1594689891" sldId="621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0" sldId="623"/>
        </pc:sldMkLst>
      </pc:sldChg>
      <pc:sldChg chg="add del">
        <pc:chgData name="ㅤ ㅤ" userId="585289ea0ef7a626" providerId="LiveId" clId="{BEAC2CF5-43AB-4235-BB62-449A15D6FBA2}" dt="2026-01-04T12:46:48.930" v="3"/>
        <pc:sldMkLst>
          <pc:docMk/>
          <pc:sldMk cId="274197298" sldId="6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80438-1FC3-4D90-850A-6A1E09A7719C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5959B-2D79-421D-B40A-2A839472EE4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5959B-2D79-421D-B40A-2A839472EE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5959B-2D79-421D-B40A-2A839472EE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99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15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5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9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29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7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69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56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54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45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98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75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3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98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24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9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10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43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54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27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72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82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66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02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54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495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345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5959B-2D79-421D-B40A-2A839472EE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9D75214-6A55-FBC0-87F7-A04B84293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8946566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38D09C7-0EF3-DD37-873A-5336419839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774092" y="190500"/>
            <a:ext cx="5612988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2E7412E-4E36-99EC-C7CA-83DC97FDC3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6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C79A511-CF04-43E2-7D44-722E915A3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C7A9430-8F7F-3D46-25F0-2357B715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EF89C41-26B2-AC96-C0E5-2596F38B9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12AAA5-EB06-E225-082F-4F0E3A9719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5812" y="6244400"/>
            <a:ext cx="365760" cy="365760"/>
          </a:xfrm>
          <a:prstGeom prst="ellipse">
            <a:avLst/>
          </a:prstGeom>
        </p:spPr>
        <p:txBody>
          <a:bodyPr/>
          <a:lstStyle>
            <a:lvl1pPr algn="ctr">
              <a:defRPr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D887DD-1A7A-4B76-9413-0E9017422220}" type="slidenum">
              <a:rPr lang="en-US" altLang="zh-CN" smtClean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244475" y="117938"/>
            <a:ext cx="8299797" cy="8935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1" i="0" u="none" strike="noStrike" cap="none" spc="0" normalizeH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44475" y="1275050"/>
            <a:ext cx="11707097" cy="467423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None/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6800" y="6356350"/>
            <a:ext cx="382952" cy="365125"/>
          </a:xfrm>
        </p:spPr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8E6D5D-B4B2-A1F9-2D98-09859A3B7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5812" y="6244400"/>
            <a:ext cx="365760" cy="365760"/>
          </a:xfrm>
          <a:prstGeom prst="ellipse">
            <a:avLst/>
          </a:prstGeom>
        </p:spPr>
        <p:txBody>
          <a:bodyPr/>
          <a:lstStyle>
            <a:lvl1pPr algn="ctr">
              <a:defRPr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D887DD-1A7A-4B76-9413-0E9017422220}" type="slidenum">
              <a:rPr lang="en-US" altLang="zh-CN" smtClean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244475" y="117938"/>
            <a:ext cx="8299797" cy="8935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1" i="0" u="none" strike="noStrike" cap="none" spc="0" normalizeH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44475" y="1275050"/>
            <a:ext cx="11707097" cy="467423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None/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1715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5812" y="6244400"/>
            <a:ext cx="365760" cy="365760"/>
          </a:xfrm>
          <a:prstGeom prst="ellipse">
            <a:avLst/>
          </a:prstGeom>
        </p:spPr>
        <p:txBody>
          <a:bodyPr/>
          <a:lstStyle>
            <a:lvl1pPr algn="ctr">
              <a:defRPr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D887DD-1A7A-4B76-9413-0E9017422220}" type="slidenum">
              <a:rPr lang="en-US" altLang="zh-CN" smtClean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244475" y="117938"/>
            <a:ext cx="8299797" cy="8935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1" i="0" u="none" strike="noStrike" cap="none" spc="0" normalizeH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44475" y="1275050"/>
            <a:ext cx="11707097" cy="467423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None/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5812" y="6244400"/>
            <a:ext cx="365760" cy="365760"/>
          </a:xfrm>
          <a:prstGeom prst="ellipse">
            <a:avLst/>
          </a:prstGeom>
        </p:spPr>
        <p:txBody>
          <a:bodyPr/>
          <a:lstStyle>
            <a:lvl1pPr algn="ctr">
              <a:defRPr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D887DD-1A7A-4B76-9413-0E9017422220}" type="slidenum">
              <a:rPr lang="en-US" altLang="zh-CN" smtClean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244475" y="117938"/>
            <a:ext cx="8299797" cy="8935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1" i="0" u="none" strike="noStrike" cap="none" spc="0" normalizeH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44475" y="1275050"/>
            <a:ext cx="11707097" cy="467423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None/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82246" y="6356349"/>
            <a:ext cx="1064455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2001520" y="190500"/>
            <a:ext cx="6385560" cy="60801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eaLnBrk="1" hangingPunct="1">
              <a:defRPr/>
            </a:pPr>
            <a:endParaRPr lang="en-US" altLang="zh-CN" sz="12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5812" y="6244400"/>
            <a:ext cx="365760" cy="365760"/>
          </a:xfrm>
          <a:prstGeom prst="ellipse">
            <a:avLst/>
          </a:prstGeom>
        </p:spPr>
        <p:txBody>
          <a:bodyPr/>
          <a:lstStyle>
            <a:lvl1pPr algn="ctr">
              <a:defRPr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D887DD-1A7A-4B76-9413-0E9017422220}" type="slidenum">
              <a:rPr lang="en-US" altLang="zh-CN" smtClean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244475" y="117938"/>
            <a:ext cx="8299797" cy="8935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1" i="0" u="none" strike="noStrike" cap="none" spc="0" normalizeH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44475" y="1275050"/>
            <a:ext cx="11707097" cy="467423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None/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chemeClr val="accent1">
                  <a:lumMod val="75000"/>
                </a:schemeClr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1"/>
            <a:ext cx="8428075" cy="103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988595" y="889000"/>
            <a:ext cx="4203405" cy="14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6800" y="6356350"/>
            <a:ext cx="382952" cy="365125"/>
          </a:xfrm>
        </p:spPr>
        <p:txBody>
          <a:bodyPr/>
          <a:lstStyle/>
          <a:p>
            <a:fld id="{B2344549-DF7E-4361-92BE-6B27710FD17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ags" Target="../tags/tag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ags" Target="../tags/tag5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47" y="1825625"/>
            <a:ext cx="11027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0" y="6356350"/>
            <a:ext cx="382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rcRect l="22009" t="24493" r="22295" b="36324"/>
          <a:stretch>
            <a:fillRect/>
          </a:stretch>
        </p:blipFill>
        <p:spPr>
          <a:xfrm>
            <a:off x="8450548" y="154334"/>
            <a:ext cx="685130" cy="681719"/>
          </a:xfrm>
          <a:prstGeom prst="rect">
            <a:avLst/>
          </a:prstGeom>
        </p:spPr>
      </p:pic>
      <p:pic>
        <p:nvPicPr>
          <p:cNvPr id="9" name="图片 3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 rotWithShape="1">
          <a:blip r:embed="rId19"/>
          <a:srcRect l="25440"/>
          <a:stretch>
            <a:fillRect/>
          </a:stretch>
        </p:blipFill>
        <p:spPr>
          <a:xfrm>
            <a:off x="9188455" y="135501"/>
            <a:ext cx="2421297" cy="7193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Arrow: Chevron 16"/>
          <p:cNvSpPr/>
          <p:nvPr userDrawn="1"/>
        </p:nvSpPr>
        <p:spPr>
          <a:xfrm>
            <a:off x="1905000" y="191247"/>
            <a:ext cx="6519159" cy="612027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6C14E1-07D6-F3B6-1B67-0FAC4C47F6E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47" y="1825625"/>
            <a:ext cx="11027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0" y="6356350"/>
            <a:ext cx="382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rcRect l="22009" t="24493" r="22295" b="36324"/>
          <a:stretch>
            <a:fillRect/>
          </a:stretch>
        </p:blipFill>
        <p:spPr>
          <a:xfrm>
            <a:off x="8450548" y="154334"/>
            <a:ext cx="685130" cy="681719"/>
          </a:xfrm>
          <a:prstGeom prst="rect">
            <a:avLst/>
          </a:prstGeom>
        </p:spPr>
      </p:pic>
      <p:pic>
        <p:nvPicPr>
          <p:cNvPr id="9" name="图片 3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8"/>
          <a:srcRect l="25440"/>
          <a:stretch>
            <a:fillRect/>
          </a:stretch>
        </p:blipFill>
        <p:spPr>
          <a:xfrm>
            <a:off x="9188455" y="135501"/>
            <a:ext cx="2421297" cy="7193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Arrow: Chevron 16"/>
          <p:cNvSpPr/>
          <p:nvPr userDrawn="1"/>
        </p:nvSpPr>
        <p:spPr>
          <a:xfrm>
            <a:off x="1905000" y="191247"/>
            <a:ext cx="6519159" cy="612027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716" r:id="rId13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47" y="1825625"/>
            <a:ext cx="11027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0" y="6356350"/>
            <a:ext cx="382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 l="22009" t="24493" r="22295" b="36324"/>
          <a:stretch>
            <a:fillRect/>
          </a:stretch>
        </p:blipFill>
        <p:spPr>
          <a:xfrm>
            <a:off x="8450548" y="154334"/>
            <a:ext cx="685130" cy="681719"/>
          </a:xfrm>
          <a:prstGeom prst="rect">
            <a:avLst/>
          </a:prstGeom>
        </p:spPr>
      </p:pic>
      <p:pic>
        <p:nvPicPr>
          <p:cNvPr id="9" name="图片 31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7"/>
          <a:srcRect l="25440"/>
          <a:stretch>
            <a:fillRect/>
          </a:stretch>
        </p:blipFill>
        <p:spPr>
          <a:xfrm>
            <a:off x="9188455" y="135501"/>
            <a:ext cx="2421297" cy="7193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Arrow: Chevron 16"/>
          <p:cNvSpPr/>
          <p:nvPr userDrawn="1"/>
        </p:nvSpPr>
        <p:spPr>
          <a:xfrm>
            <a:off x="1905000" y="191247"/>
            <a:ext cx="6519159" cy="612027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5C04DE-EFC0-F38A-0D26-B92102B38026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47" y="1825625"/>
            <a:ext cx="11027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0" y="6356350"/>
            <a:ext cx="382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 l="22009" t="24493" r="22295" b="36324"/>
          <a:stretch>
            <a:fillRect/>
          </a:stretch>
        </p:blipFill>
        <p:spPr>
          <a:xfrm>
            <a:off x="8450548" y="154334"/>
            <a:ext cx="685130" cy="681719"/>
          </a:xfrm>
          <a:prstGeom prst="rect">
            <a:avLst/>
          </a:prstGeom>
        </p:spPr>
      </p:pic>
      <p:pic>
        <p:nvPicPr>
          <p:cNvPr id="9" name="图片 31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7"/>
          <a:srcRect l="25440"/>
          <a:stretch>
            <a:fillRect/>
          </a:stretch>
        </p:blipFill>
        <p:spPr>
          <a:xfrm>
            <a:off x="9188455" y="135501"/>
            <a:ext cx="2421297" cy="7193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Arrow: Chevron 16"/>
          <p:cNvSpPr/>
          <p:nvPr userDrawn="1"/>
        </p:nvSpPr>
        <p:spPr>
          <a:xfrm>
            <a:off x="1905000" y="191247"/>
            <a:ext cx="6519159" cy="612027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A37182-8B7A-F91D-C496-2707840E478A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831" y="191247"/>
            <a:ext cx="1665849" cy="607890"/>
          </a:xfrm>
          <a:prstGeom prst="rect">
            <a:avLst/>
          </a:prstGeom>
          <a:noFill/>
          <a:ln w="7620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47" y="1825625"/>
            <a:ext cx="11027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0" y="6356350"/>
            <a:ext cx="382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rcRect l="22009" t="24493" r="22295" b="36324"/>
          <a:stretch>
            <a:fillRect/>
          </a:stretch>
        </p:blipFill>
        <p:spPr>
          <a:xfrm>
            <a:off x="8450548" y="154334"/>
            <a:ext cx="685130" cy="681719"/>
          </a:xfrm>
          <a:prstGeom prst="rect">
            <a:avLst/>
          </a:prstGeom>
        </p:spPr>
      </p:pic>
      <p:pic>
        <p:nvPicPr>
          <p:cNvPr id="9" name="图片 3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8"/>
          <a:srcRect l="25440"/>
          <a:stretch>
            <a:fillRect/>
          </a:stretch>
        </p:blipFill>
        <p:spPr>
          <a:xfrm>
            <a:off x="9188455" y="135501"/>
            <a:ext cx="2421297" cy="7193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0" y="945661"/>
            <a:ext cx="1219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Arrow: Chevron 16"/>
          <p:cNvSpPr/>
          <p:nvPr userDrawn="1"/>
        </p:nvSpPr>
        <p:spPr>
          <a:xfrm>
            <a:off x="1905000" y="191247"/>
            <a:ext cx="6519159" cy="612027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5B0616-2960-A2C4-59D1-48E14C072B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894673" y="161475"/>
            <a:ext cx="10134630" cy="7626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558265" y="5959789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汇报人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：陈芷谊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      日期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：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2026.10.11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8"/>
          <p:cNvSpPr txBox="1">
            <a:spLocks noChangeArrowheads="1"/>
          </p:cNvSpPr>
          <p:nvPr/>
        </p:nvSpPr>
        <p:spPr bwMode="auto">
          <a:xfrm>
            <a:off x="-3048" y="976604"/>
            <a:ext cx="12192000" cy="3031957"/>
          </a:xfrm>
          <a:prstGeom prst="rect">
            <a:avLst/>
          </a:prstGeom>
          <a:solidFill>
            <a:srgbClr val="244E81"/>
          </a:solidFill>
          <a:ln>
            <a:noFill/>
          </a:ln>
        </p:spPr>
        <p:txBody>
          <a:bodyPr lIns="91440" tIns="45720" rIns="91440" bIns="45720" anchor="t"/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marL="457200" marR="0" lvl="1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32000" indent="0">
              <a:lnSpc>
                <a:spcPts val="5100"/>
              </a:lnSpc>
              <a:spcBef>
                <a:spcPts val="0"/>
              </a:spcBef>
              <a:buNone/>
            </a:pPr>
            <a:r>
              <a:rPr lang="en-US" altLang="zh-CN" sz="36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Test-Time </a:t>
            </a:r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Poisoned Sample Detection by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ts val="5100"/>
              </a:lnSpc>
              <a:spcBef>
                <a:spcPts val="0"/>
              </a:spcBef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Exploiting Shallow Malicious </a:t>
            </a:r>
            <a:r>
              <a:rPr lang="en-US" altLang="zh-CN" sz="36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Matching</a:t>
            </a:r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32000" indent="0">
              <a:lnSpc>
                <a:spcPts val="5100"/>
              </a:lnSpc>
              <a:spcBef>
                <a:spcPts val="0"/>
              </a:spcBef>
              <a:buNone/>
            </a:pPr>
            <a:r>
              <a:rPr lang="en-US" altLang="zh-CN" sz="36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in </a:t>
            </a:r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Backdoored CLIP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10939" y="74351"/>
            <a:ext cx="3819330" cy="864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2"/>
          <p:cNvSpPr/>
          <p:nvPr/>
        </p:nvSpPr>
        <p:spPr>
          <a:xfrm>
            <a:off x="558265" y="323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ICLR 2026 · ORAL / POSTER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558265" y="332794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Detection：</a:t>
            </a:r>
            <a:r>
              <a:rPr 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利用浅层恶意匹配检测</a:t>
            </a:r>
            <a:r>
              <a:rPr lang="en-US" altLang="zh-CN" sz="15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</a:t>
            </a:r>
            <a:r>
              <a:rPr 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后门 </a:t>
            </a:r>
            <a:r>
              <a:rPr lang="en-US" sz="15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CLIP </a:t>
            </a:r>
            <a:r>
              <a:rPr 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测试时</a:t>
            </a:r>
            <a:r>
              <a:rPr lang="zh-CN" alt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r>
              <a:rPr 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毒样本</a:t>
            </a:r>
            <a:r>
              <a:rPr lang="zh-CN" altLang="en-US" sz="1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3" name="Text 5"/>
          <p:cNvSpPr/>
          <p:nvPr/>
        </p:nvSpPr>
        <p:spPr>
          <a:xfrm>
            <a:off x="642486" y="440355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Zhengyao Song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¹   Meixi Zheng²   Ke Xu⁴   Yongqiang Li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¹   Baoyuan Wu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²˒³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642486" y="4981435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¹ Harbin Institute of Technology    ² CUHK, Shenzhen    ³ Shenzhen Loop Area Institute    ⁴ Huawei Technologies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97">
        <p:cut/>
      </p:transition>
    </mc:Choice>
    <mc:Fallback xmlns="">
      <p:transition spd="slow" advTm="11997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sym typeface="+mn-ea"/>
              </a:rPr>
              <a:t>Research Direction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CE888F6F-81E2-55E2-38F2-78E02852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84C2F071-C4ED-C27D-8B46-AFD47E400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Arrow: Chevron 16"/>
          <p:cNvSpPr/>
          <p:nvPr/>
        </p:nvSpPr>
        <p:spPr>
          <a:xfrm>
            <a:off x="261257" y="136526"/>
            <a:ext cx="8198931" cy="707480"/>
          </a:xfrm>
          <a:custGeom>
            <a:avLst/>
            <a:gdLst>
              <a:gd name="connsiteX0" fmla="*/ 0 w 6556271"/>
              <a:gd name="connsiteY0" fmla="*/ 0 h 612027"/>
              <a:gd name="connsiteX1" fmla="*/ 6438352 w 6556271"/>
              <a:gd name="connsiteY1" fmla="*/ 0 h 612027"/>
              <a:gd name="connsiteX2" fmla="*/ 6556271 w 6556271"/>
              <a:gd name="connsiteY2" fmla="*/ 306014 h 612027"/>
              <a:gd name="connsiteX3" fmla="*/ 6438352 w 6556271"/>
              <a:gd name="connsiteY3" fmla="*/ 612027 h 612027"/>
              <a:gd name="connsiteX4" fmla="*/ 0 w 6556271"/>
              <a:gd name="connsiteY4" fmla="*/ 612027 h 612027"/>
              <a:gd name="connsiteX5" fmla="*/ 117919 w 6556271"/>
              <a:gd name="connsiteY5" fmla="*/ 306014 h 612027"/>
              <a:gd name="connsiteX6" fmla="*/ 0 w 6556271"/>
              <a:gd name="connsiteY6" fmla="*/ 0 h 612027"/>
              <a:gd name="connsiteX0-1" fmla="*/ 0 w 6556271"/>
              <a:gd name="connsiteY0-2" fmla="*/ 0 h 612027"/>
              <a:gd name="connsiteX1-3" fmla="*/ 6438352 w 6556271"/>
              <a:gd name="connsiteY1-4" fmla="*/ 0 h 612027"/>
              <a:gd name="connsiteX2-5" fmla="*/ 6556271 w 6556271"/>
              <a:gd name="connsiteY2-6" fmla="*/ 306014 h 612027"/>
              <a:gd name="connsiteX3-7" fmla="*/ 6438352 w 6556271"/>
              <a:gd name="connsiteY3-8" fmla="*/ 612027 h 612027"/>
              <a:gd name="connsiteX4-9" fmla="*/ 0 w 6556271"/>
              <a:gd name="connsiteY4-10" fmla="*/ 612027 h 612027"/>
              <a:gd name="connsiteX5-11" fmla="*/ 117919 w 6556271"/>
              <a:gd name="connsiteY5-12" fmla="*/ 306014 h 612027"/>
              <a:gd name="connsiteX6-13" fmla="*/ 0 w 6556271"/>
              <a:gd name="connsiteY6-14" fmla="*/ 0 h 612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56271" h="612027">
                <a:moveTo>
                  <a:pt x="0" y="0"/>
                </a:moveTo>
                <a:lnTo>
                  <a:pt x="6438352" y="0"/>
                </a:lnTo>
                <a:lnTo>
                  <a:pt x="6556271" y="306014"/>
                </a:lnTo>
                <a:lnTo>
                  <a:pt x="6438352" y="612027"/>
                </a:lnTo>
                <a:lnTo>
                  <a:pt x="0" y="612027"/>
                </a:lnTo>
                <a:lnTo>
                  <a:pt x="117919" y="3060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Report Table of 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16"/>
          <p:cNvSpPr/>
          <p:nvPr/>
        </p:nvSpPr>
        <p:spPr>
          <a:xfrm>
            <a:off x="1294518" y="1861240"/>
            <a:ext cx="3420000" cy="884391"/>
          </a:xfrm>
          <a:prstGeom prst="roundRect">
            <a:avLst>
              <a:gd name="adj" fmla="val 647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Report Table of Contents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518" y="3074489"/>
            <a:ext cx="3420000" cy="22791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CEA34A-EC09-92A0-1644-9EA4D8AC1B6D}"/>
              </a:ext>
            </a:extLst>
          </p:cNvPr>
          <p:cNvSpPr txBox="1"/>
          <p:nvPr/>
        </p:nvSpPr>
        <p:spPr>
          <a:xfrm>
            <a:off x="5930566" y="1875722"/>
            <a:ext cx="730567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en-US" altLang="zh-CN" sz="36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Background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US" altLang="zh-CN" sz="3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Motivation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Aft>
                <a:spcPts val="1200"/>
              </a:spcAft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sz="3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Method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en-US" altLang="zh-CN" sz="3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Experiments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en-US" altLang="zh-CN" sz="36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Discussion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0188" y="136526"/>
            <a:ext cx="3246538" cy="707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1967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24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</a:t>
            </a: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 </a:t>
            </a:r>
            <a:r>
              <a:rPr lang="en-US" sz="900" dirty="0" smtClean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0">
        <p:cut/>
      </p:transition>
    </mc:Choice>
    <mc:Fallback xmlns="">
      <p:transition spd="slow" advTm="357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1"/>
          <p:cNvSpPr/>
          <p:nvPr/>
        </p:nvSpPr>
        <p:spPr>
          <a:xfrm>
            <a:off x="365760" y="373941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51" name="Text 2"/>
          <p:cNvSpPr/>
          <p:nvPr/>
        </p:nvSpPr>
        <p:spPr>
          <a:xfrm>
            <a:off x="2389473" y="1554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 smtClean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CLIP 对比语言</a:t>
            </a:r>
            <a:r>
              <a:rPr lang="en-US" sz="25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–图像预训练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53" name="Shape 4"/>
          <p:cNvSpPr/>
          <p:nvPr/>
        </p:nvSpPr>
        <p:spPr>
          <a:xfrm>
            <a:off x="64008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AF0F8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4" name="Text 5"/>
          <p:cNvSpPr/>
          <p:nvPr/>
        </p:nvSpPr>
        <p:spPr>
          <a:xfrm>
            <a:off x="676656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  v</a:t>
            </a:r>
            <a:endParaRPr lang="en-US" sz="1300" dirty="0"/>
          </a:p>
        </p:txBody>
      </p:sp>
      <p:sp>
        <p:nvSpPr>
          <p:cNvPr id="155" name="Shape 6"/>
          <p:cNvSpPr/>
          <p:nvPr/>
        </p:nvSpPr>
        <p:spPr>
          <a:xfrm>
            <a:off x="1783080" y="2697480"/>
            <a:ext cx="0" cy="292608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6" name="Shape 7"/>
          <p:cNvSpPr/>
          <p:nvPr/>
        </p:nvSpPr>
        <p:spPr>
          <a:xfrm>
            <a:off x="64008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7" name="Text 8"/>
          <p:cNvSpPr/>
          <p:nvPr/>
        </p:nvSpPr>
        <p:spPr>
          <a:xfrm>
            <a:off x="676656" y="301752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 Encoder  fᵥ(·;θᵥ)</a:t>
            </a:r>
            <a:endParaRPr lang="en-US" sz="1200" dirty="0"/>
          </a:p>
        </p:txBody>
      </p:sp>
      <p:sp>
        <p:nvSpPr>
          <p:cNvPr id="158" name="Shape 9"/>
          <p:cNvSpPr/>
          <p:nvPr/>
        </p:nvSpPr>
        <p:spPr>
          <a:xfrm>
            <a:off x="365760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AF0F8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9" name="Text 10"/>
          <p:cNvSpPr/>
          <p:nvPr/>
        </p:nvSpPr>
        <p:spPr>
          <a:xfrm>
            <a:off x="3694176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  t</a:t>
            </a:r>
            <a:endParaRPr lang="en-US" sz="1300" dirty="0"/>
          </a:p>
        </p:txBody>
      </p:sp>
      <p:sp>
        <p:nvSpPr>
          <p:cNvPr id="160" name="Shape 11"/>
          <p:cNvSpPr/>
          <p:nvPr/>
        </p:nvSpPr>
        <p:spPr>
          <a:xfrm>
            <a:off x="4800600" y="2697480"/>
            <a:ext cx="0" cy="292608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1" name="Shape 12"/>
          <p:cNvSpPr/>
          <p:nvPr/>
        </p:nvSpPr>
        <p:spPr>
          <a:xfrm>
            <a:off x="365760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2" name="Text 13"/>
          <p:cNvSpPr/>
          <p:nvPr/>
        </p:nvSpPr>
        <p:spPr>
          <a:xfrm>
            <a:off x="3694176" y="301752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 Encoder  fₜ(·;θₜ)</a:t>
            </a:r>
            <a:endParaRPr lang="en-US" sz="1200" dirty="0"/>
          </a:p>
        </p:txBody>
      </p:sp>
      <p:sp>
        <p:nvSpPr>
          <p:cNvPr id="163" name="Shape 14"/>
          <p:cNvSpPr/>
          <p:nvPr/>
        </p:nvSpPr>
        <p:spPr>
          <a:xfrm>
            <a:off x="1828800" y="43434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4" name="Text 15"/>
          <p:cNvSpPr/>
          <p:nvPr/>
        </p:nvSpPr>
        <p:spPr>
          <a:xfrm>
            <a:off x="1865376" y="43434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Joint Feature Space  ℝᵈ</a:t>
            </a:r>
            <a:endParaRPr lang="en-US" sz="1300" dirty="0"/>
          </a:p>
        </p:txBody>
      </p:sp>
      <p:sp>
        <p:nvSpPr>
          <p:cNvPr id="165" name="Shape 16"/>
          <p:cNvSpPr/>
          <p:nvPr/>
        </p:nvSpPr>
        <p:spPr>
          <a:xfrm>
            <a:off x="2926080" y="3456432"/>
            <a:ext cx="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6" name="Shape 17"/>
          <p:cNvSpPr/>
          <p:nvPr/>
        </p:nvSpPr>
        <p:spPr>
          <a:xfrm>
            <a:off x="1783080" y="3886200"/>
            <a:ext cx="0" cy="45720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7" name="Shape 18"/>
          <p:cNvSpPr/>
          <p:nvPr/>
        </p:nvSpPr>
        <p:spPr>
          <a:xfrm>
            <a:off x="4800600" y="3886200"/>
            <a:ext cx="0" cy="45720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8" name="Text 19"/>
          <p:cNvSpPr/>
          <p:nvPr/>
        </p:nvSpPr>
        <p:spPr>
          <a:xfrm>
            <a:off x="6766560" y="18288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 Encoder 将图文映射到共同特征空间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zᵥ = fᵥ(v) ∈ ℝᵈ ， zₜ = fₜ(t) ∈ ℝᵈ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预测时取与图像特征最相似的文本（余弦相似度）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400M image-text pairs 上对比学习</a:t>
            </a:r>
            <a:endParaRPr lang="en-US" sz="1350" dirty="0"/>
          </a:p>
        </p:txBody>
      </p:sp>
      <p:sp>
        <p:nvSpPr>
          <p:cNvPr id="169" name="Shape 20"/>
          <p:cNvSpPr/>
          <p:nvPr/>
        </p:nvSpPr>
        <p:spPr>
          <a:xfrm>
            <a:off x="6766560" y="425196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Shape 21"/>
          <p:cNvSpPr/>
          <p:nvPr/>
        </p:nvSpPr>
        <p:spPr>
          <a:xfrm>
            <a:off x="6766560" y="4251960"/>
            <a:ext cx="91440" cy="141732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Text 22"/>
          <p:cNvSpPr/>
          <p:nvPr/>
        </p:nvSpPr>
        <p:spPr>
          <a:xfrm>
            <a:off x="704088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余弦相似度（Cosine Similarity）</a:t>
            </a:r>
            <a:endParaRPr lang="en-US" sz="1200" dirty="0"/>
          </a:p>
        </p:txBody>
      </p:sp>
      <p:pic>
        <p:nvPicPr>
          <p:cNvPr id="172" name="Image 0" descr="/workspace/ppt_clip/assets/f_co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572000"/>
            <a:ext cx="4206240" cy="1138420"/>
          </a:xfrm>
          <a:prstGeom prst="rect">
            <a:avLst/>
          </a:prstGeom>
        </p:spPr>
      </p:pic>
      <p:sp>
        <p:nvSpPr>
          <p:cNvPr id="173" name="Text 23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74" name="Text 24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</a:t>
            </a: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 </a:t>
            </a:r>
            <a:r>
              <a:rPr lang="en-US" sz="900" dirty="0" smtClean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900" dirty="0"/>
          </a:p>
        </p:txBody>
      </p:sp>
      <p:sp>
        <p:nvSpPr>
          <p:cNvPr id="2" name="矩形 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403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2"/>
          <p:cNvSpPr/>
          <p:nvPr/>
        </p:nvSpPr>
        <p:spPr>
          <a:xfrm>
            <a:off x="2245092" y="12801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Backdoor Attack in CLIP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69" name="Shape 4"/>
          <p:cNvSpPr/>
          <p:nvPr/>
        </p:nvSpPr>
        <p:spPr>
          <a:xfrm>
            <a:off x="640080" y="2011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8F5F0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0" name="Text 5"/>
          <p:cNvSpPr/>
          <p:nvPr/>
        </p:nvSpPr>
        <p:spPr>
          <a:xfrm>
            <a:off x="676656" y="201168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Clean Image + Trigger Δ</a:t>
            </a:r>
            <a:endParaRPr lang="en-US" sz="1200" dirty="0"/>
          </a:p>
        </p:txBody>
      </p:sp>
      <p:sp>
        <p:nvSpPr>
          <p:cNvPr id="371" name="Shape 6"/>
          <p:cNvSpPr/>
          <p:nvPr/>
        </p:nvSpPr>
        <p:spPr>
          <a:xfrm>
            <a:off x="2743200" y="2441448"/>
            <a:ext cx="32004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2" name="Shape 7"/>
          <p:cNvSpPr/>
          <p:nvPr/>
        </p:nvSpPr>
        <p:spPr>
          <a:xfrm>
            <a:off x="3063240" y="2011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C8445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3" name="Text 8"/>
          <p:cNvSpPr/>
          <p:nvPr/>
        </p:nvSpPr>
        <p:spPr>
          <a:xfrm>
            <a:off x="3099816" y="201168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 Image</a:t>
            </a:r>
            <a:endParaRPr lang="en-US" sz="1250" dirty="0"/>
          </a:p>
        </p:txBody>
      </p:sp>
      <p:sp>
        <p:nvSpPr>
          <p:cNvPr id="374" name="Shape 9"/>
          <p:cNvSpPr/>
          <p:nvPr/>
        </p:nvSpPr>
        <p:spPr>
          <a:xfrm>
            <a:off x="5166360" y="2441448"/>
            <a:ext cx="32004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5" name="Shape 10"/>
          <p:cNvSpPr/>
          <p:nvPr/>
        </p:nvSpPr>
        <p:spPr>
          <a:xfrm>
            <a:off x="5486400" y="20116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6" name="Text 11"/>
          <p:cNvSpPr/>
          <p:nvPr/>
        </p:nvSpPr>
        <p:spPr>
          <a:xfrm>
            <a:off x="5522976" y="201168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Backdoored CLIP (f̂ᵥ, f̂ₜ)</a:t>
            </a:r>
            <a:endParaRPr lang="en-US" sz="1300" dirty="0"/>
          </a:p>
        </p:txBody>
      </p:sp>
      <p:sp>
        <p:nvSpPr>
          <p:cNvPr id="377" name="Shape 12"/>
          <p:cNvSpPr/>
          <p:nvPr/>
        </p:nvSpPr>
        <p:spPr>
          <a:xfrm>
            <a:off x="8595360" y="2441448"/>
            <a:ext cx="32004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8" name="Shape 13"/>
          <p:cNvSpPr/>
          <p:nvPr/>
        </p:nvSpPr>
        <p:spPr>
          <a:xfrm>
            <a:off x="8915400" y="20116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9" name="Text 14"/>
          <p:cNvSpPr/>
          <p:nvPr/>
        </p:nvSpPr>
        <p:spPr>
          <a:xfrm>
            <a:off x="8951976" y="20116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Text / Label</a:t>
            </a:r>
            <a:endParaRPr lang="en-US" sz="1250" dirty="0"/>
          </a:p>
        </p:txBody>
      </p:sp>
      <p:sp>
        <p:nvSpPr>
          <p:cNvPr id="380" name="Shape 15"/>
          <p:cNvSpPr/>
          <p:nvPr/>
        </p:nvSpPr>
        <p:spPr>
          <a:xfrm>
            <a:off x="640080" y="32918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Shape 16"/>
          <p:cNvSpPr/>
          <p:nvPr/>
        </p:nvSpPr>
        <p:spPr>
          <a:xfrm>
            <a:off x="640080" y="3291840"/>
            <a:ext cx="91440" cy="82296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2" name="Text 17"/>
          <p:cNvSpPr/>
          <p:nvPr/>
        </p:nvSpPr>
        <p:spPr>
          <a:xfrm>
            <a:off x="91440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Trigger  Δ  →  Poisoned Image  →  Attacker-defined Target Label  y_t   （强制关联）</a:t>
            </a:r>
            <a:endParaRPr lang="en-US" sz="1350" dirty="0"/>
          </a:p>
        </p:txBody>
      </p:sp>
      <p:sp>
        <p:nvSpPr>
          <p:cNvPr id="383" name="Text 18"/>
          <p:cNvSpPr/>
          <p:nvPr/>
        </p:nvSpPr>
        <p:spPr>
          <a:xfrm>
            <a:off x="640080" y="43434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训练阶段：将少量投毒样本 (v̂, t̂) 注入预训练数据，微调 CLIP。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下游测试：带 trigger 的图像被误分类为目标标签；干净图像保持正常 → 攻击具有隐蔽性 (Stealthiness)。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本工作聚焦分类任务：本文的 “poisoned sample” 即指投毒图像。</a:t>
            </a:r>
            <a:endParaRPr lang="en-US" sz="1350" dirty="0"/>
          </a:p>
        </p:txBody>
      </p:sp>
      <p:sp>
        <p:nvSpPr>
          <p:cNvPr id="384" name="Text 19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85" name="Text 20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30</a:t>
            </a:r>
            <a:endParaRPr lang="en-US" sz="900" dirty="0"/>
          </a:p>
        </p:txBody>
      </p:sp>
      <p:sp>
        <p:nvSpPr>
          <p:cNvPr id="23" name="Text 1"/>
          <p:cNvSpPr/>
          <p:nvPr/>
        </p:nvSpPr>
        <p:spPr>
          <a:xfrm>
            <a:off x="365760" y="373941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24" name="矩形 23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9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0" name="Text 1"/>
          <p:cNvSpPr/>
          <p:nvPr/>
        </p:nvSpPr>
        <p:spPr>
          <a:xfrm>
            <a:off x="416292" y="382123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11" name="Text 2"/>
          <p:cNvSpPr/>
          <p:nvPr/>
        </p:nvSpPr>
        <p:spPr>
          <a:xfrm>
            <a:off x="2286000" y="117971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Existing Detection Is Difficult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13" name="Image 0" descr="/workspace/ppt_clip/assets/d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949440" cy="3611880"/>
          </a:xfrm>
          <a:prstGeom prst="rect">
            <a:avLst/>
          </a:prstGeom>
        </p:spPr>
      </p:pic>
      <p:sp>
        <p:nvSpPr>
          <p:cNvPr id="414" name="Shape 4"/>
          <p:cNvSpPr/>
          <p:nvPr/>
        </p:nvSpPr>
        <p:spPr>
          <a:xfrm>
            <a:off x="7726680" y="18288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5" name="Shape 5"/>
          <p:cNvSpPr/>
          <p:nvPr/>
        </p:nvSpPr>
        <p:spPr>
          <a:xfrm>
            <a:off x="7726680" y="1828800"/>
            <a:ext cx="91440" cy="146304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6" name="Text 6"/>
          <p:cNvSpPr/>
          <p:nvPr/>
        </p:nvSpPr>
        <p:spPr>
          <a:xfrm>
            <a:off x="8001000" y="18288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仅判断图像特征与单个 Target Text 的距离，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无法区分 benign / poisoned。</a:t>
            </a:r>
            <a:endParaRPr lang="en-US" sz="1350" dirty="0"/>
          </a:p>
        </p:txBody>
      </p:sp>
      <p:sp>
        <p:nvSpPr>
          <p:cNvPr id="417" name="Text 7"/>
          <p:cNvSpPr/>
          <p:nvPr/>
        </p:nvSpPr>
        <p:spPr>
          <a:xfrm>
            <a:off x="7726680" y="34747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 2(a)：原始文本下，poisoned 甚至比 benign 更接近预测文本（后门过拟合）。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 “离 target text 近 = benign” 这一单一判据失效。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需要更结构化的判别依据 —— 不止看一个点，而看一个 neighborhood。</a:t>
            </a:r>
            <a:endParaRPr lang="en-US" sz="1250" dirty="0"/>
          </a:p>
        </p:txBody>
      </p:sp>
      <p:sp>
        <p:nvSpPr>
          <p:cNvPr id="418" name="Text 8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19" name="Text 9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30</a:t>
            </a:r>
            <a:endParaRPr lang="en-US" sz="900" dirty="0"/>
          </a:p>
        </p:txBody>
      </p:sp>
      <p:sp>
        <p:nvSpPr>
          <p:cNvPr id="14" name="矩形 13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90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2"/>
          <p:cNvSpPr/>
          <p:nvPr/>
        </p:nvSpPr>
        <p:spPr>
          <a:xfrm>
            <a:off x="2317282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Research Question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25" name="Image 0" descr="/workspace/ppt_clip/assets/d_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83080"/>
            <a:ext cx="9601200" cy="4114800"/>
          </a:xfrm>
          <a:prstGeom prst="rect">
            <a:avLst/>
          </a:prstGeom>
        </p:spPr>
      </p:pic>
      <p:sp>
        <p:nvSpPr>
          <p:cNvPr id="426" name="Shape 4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Shape 5"/>
          <p:cNvSpPr/>
          <p:nvPr/>
        </p:nvSpPr>
        <p:spPr>
          <a:xfrm>
            <a:off x="548640" y="5989320"/>
            <a:ext cx="91440" cy="50292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8" name="Text 6"/>
          <p:cNvSpPr/>
          <p:nvPr/>
        </p:nvSpPr>
        <p:spPr>
          <a:xfrm>
            <a:off x="82296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核心问题：poisoned image 是否只能匹配特定的 target text？它能否匹配整个 semantic neighborhood？</a:t>
            </a:r>
            <a:endParaRPr lang="en-US" sz="1350" dirty="0"/>
          </a:p>
        </p:txBody>
      </p:sp>
      <p:sp>
        <p:nvSpPr>
          <p:cNvPr id="429" name="Text 7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30" name="Text 8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30</a:t>
            </a:r>
            <a:endParaRPr lang="en-US" sz="900" dirty="0"/>
          </a:p>
        </p:txBody>
      </p:sp>
      <p:sp>
        <p:nvSpPr>
          <p:cNvPr id="12" name="矩形 1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1"/>
          <p:cNvSpPr/>
          <p:nvPr/>
        </p:nvSpPr>
        <p:spPr>
          <a:xfrm>
            <a:off x="416292" y="382123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6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903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2"/>
          <p:cNvSpPr/>
          <p:nvPr/>
        </p:nvSpPr>
        <p:spPr>
          <a:xfrm>
            <a:off x="2269156" y="131275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 vs. Shallow Matching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36" name="Image 0" descr="/workspace/ppt_clip/assets/d_deepsha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10058400" cy="3657600"/>
          </a:xfrm>
          <a:prstGeom prst="rect">
            <a:avLst/>
          </a:prstGeom>
        </p:spPr>
      </p:pic>
      <p:sp>
        <p:nvSpPr>
          <p:cNvPr id="437" name="Shape 4"/>
          <p:cNvSpPr/>
          <p:nvPr/>
        </p:nvSpPr>
        <p:spPr>
          <a:xfrm>
            <a:off x="640080" y="5532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8" name="Shape 5"/>
          <p:cNvSpPr/>
          <p:nvPr/>
        </p:nvSpPr>
        <p:spPr>
          <a:xfrm>
            <a:off x="640080" y="5532120"/>
            <a:ext cx="91440" cy="86868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9" name="Text 6"/>
          <p:cNvSpPr/>
          <p:nvPr/>
        </p:nvSpPr>
        <p:spPr>
          <a:xfrm>
            <a:off x="914400" y="5532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Benign：Deep Benign Matching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图像特征接近预测文本及其语义等价变体的整体邻域</a:t>
            </a:r>
            <a:endParaRPr lang="en-US" sz="1200" dirty="0"/>
          </a:p>
        </p:txBody>
      </p:sp>
      <p:sp>
        <p:nvSpPr>
          <p:cNvPr id="440" name="Shape 7"/>
          <p:cNvSpPr/>
          <p:nvPr/>
        </p:nvSpPr>
        <p:spPr>
          <a:xfrm>
            <a:off x="6126480" y="55321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1" name="Shape 8"/>
          <p:cNvSpPr/>
          <p:nvPr/>
        </p:nvSpPr>
        <p:spPr>
          <a:xfrm>
            <a:off x="6126480" y="5532120"/>
            <a:ext cx="91440" cy="868680"/>
          </a:xfrm>
          <a:prstGeom prst="rect">
            <a:avLst/>
          </a:prstGeom>
          <a:solidFill>
            <a:srgbClr val="C844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2" name="Text 9"/>
          <p:cNvSpPr/>
          <p:nvPr/>
        </p:nvSpPr>
        <p:spPr>
          <a:xfrm>
            <a:off x="6400800" y="5532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Poisoned：Shallow Malicious Matching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特征仅与目标文本单点对齐，远离其语义邻域</a:t>
            </a:r>
            <a:endParaRPr lang="en-US" sz="1200" dirty="0"/>
          </a:p>
        </p:txBody>
      </p:sp>
      <p:sp>
        <p:nvSpPr>
          <p:cNvPr id="443" name="Text 1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44" name="Text 1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30</a:t>
            </a:r>
            <a:endParaRPr lang="en-US" sz="900" dirty="0"/>
          </a:p>
        </p:txBody>
      </p:sp>
      <p:sp>
        <p:nvSpPr>
          <p:cNvPr id="15" name="矩形 1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1"/>
          <p:cNvSpPr/>
          <p:nvPr/>
        </p:nvSpPr>
        <p:spPr>
          <a:xfrm>
            <a:off x="416292" y="382123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9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447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2"/>
          <p:cNvSpPr/>
          <p:nvPr/>
        </p:nvSpPr>
        <p:spPr>
          <a:xfrm>
            <a:off x="2353377" y="117971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Empirical Observation (Figure 2)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50" name="Image 0" descr="/workspace/ppt_clip/assets/d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83080"/>
            <a:ext cx="9601200" cy="4023360"/>
          </a:xfrm>
          <a:prstGeom prst="rect">
            <a:avLst/>
          </a:prstGeom>
        </p:spPr>
      </p:pic>
      <p:sp>
        <p:nvSpPr>
          <p:cNvPr id="451" name="Shape 4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2" name="Shape 5"/>
          <p:cNvSpPr/>
          <p:nvPr/>
        </p:nvSpPr>
        <p:spPr>
          <a:xfrm>
            <a:off x="548640" y="5943600"/>
            <a:ext cx="91440" cy="54864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3" name="Text 6"/>
          <p:cNvSpPr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Semantic-preserving 文本变换（改述 / 字体 / 翻译）会暴露 benign 与 poisoned 的差异：poisoned 距离显著增大，benign 基本不变。</a:t>
            </a:r>
            <a:endParaRPr lang="en-US" sz="1250" dirty="0"/>
          </a:p>
        </p:txBody>
      </p:sp>
      <p:sp>
        <p:nvSpPr>
          <p:cNvPr id="454" name="Text 7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55" name="Text 8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30</a:t>
            </a:r>
            <a:endParaRPr lang="en-US" sz="900" dirty="0"/>
          </a:p>
        </p:txBody>
      </p:sp>
      <p:sp>
        <p:nvSpPr>
          <p:cNvPr id="12" name="矩形 1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1"/>
          <p:cNvSpPr/>
          <p:nvPr/>
        </p:nvSpPr>
        <p:spPr>
          <a:xfrm>
            <a:off x="416292" y="382123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6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29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2"/>
          <p:cNvSpPr/>
          <p:nvPr/>
        </p:nvSpPr>
        <p:spPr>
          <a:xfrm>
            <a:off x="2281187" y="117971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Hypothesis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61" name="Image 0" descr="/workspace/ppt_clip/assets/d_hypo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10058400" cy="3383280"/>
          </a:xfrm>
          <a:prstGeom prst="rect">
            <a:avLst/>
          </a:prstGeom>
        </p:spPr>
      </p:pic>
      <p:sp>
        <p:nvSpPr>
          <p:cNvPr id="462" name="Shape 4"/>
          <p:cNvSpPr/>
          <p:nvPr/>
        </p:nvSpPr>
        <p:spPr>
          <a:xfrm>
            <a:off x="640080" y="53035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3" name="Shape 5"/>
          <p:cNvSpPr/>
          <p:nvPr/>
        </p:nvSpPr>
        <p:spPr>
          <a:xfrm>
            <a:off x="640080" y="5303520"/>
            <a:ext cx="91440" cy="105156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4" name="Text 6"/>
          <p:cNvSpPr/>
          <p:nvPr/>
        </p:nvSpPr>
        <p:spPr>
          <a:xfrm>
            <a:off x="914400" y="53035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Benign：matching extends to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semantic neighborhood</a:t>
            </a:r>
            <a:endParaRPr lang="en-US" sz="1300" dirty="0"/>
          </a:p>
        </p:txBody>
      </p:sp>
      <p:sp>
        <p:nvSpPr>
          <p:cNvPr id="465" name="Shape 7"/>
          <p:cNvSpPr/>
          <p:nvPr/>
        </p:nvSpPr>
        <p:spPr>
          <a:xfrm>
            <a:off x="6126480" y="53035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Shape 8"/>
          <p:cNvSpPr/>
          <p:nvPr/>
        </p:nvSpPr>
        <p:spPr>
          <a:xfrm>
            <a:off x="6126480" y="5303520"/>
            <a:ext cx="91440" cy="1051560"/>
          </a:xfrm>
          <a:prstGeom prst="rect">
            <a:avLst/>
          </a:prstGeom>
          <a:solidFill>
            <a:srgbClr val="C844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Text 9"/>
          <p:cNvSpPr/>
          <p:nvPr/>
        </p:nvSpPr>
        <p:spPr>
          <a:xfrm>
            <a:off x="6400800" y="53035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Poisoned：matching concentrated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around the target text</a:t>
            </a:r>
            <a:endParaRPr lang="en-US" sz="1300" dirty="0"/>
          </a:p>
        </p:txBody>
      </p:sp>
      <p:sp>
        <p:nvSpPr>
          <p:cNvPr id="468" name="Text 1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69" name="Text 1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30</a:t>
            </a:r>
            <a:endParaRPr lang="en-US" sz="900" dirty="0"/>
          </a:p>
        </p:txBody>
      </p:sp>
      <p:sp>
        <p:nvSpPr>
          <p:cNvPr id="15" name="矩形 1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1"/>
          <p:cNvSpPr/>
          <p:nvPr/>
        </p:nvSpPr>
        <p:spPr>
          <a:xfrm>
            <a:off x="416292" y="382123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2691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3" name="Text 2"/>
          <p:cNvSpPr/>
          <p:nvPr/>
        </p:nvSpPr>
        <p:spPr>
          <a:xfrm>
            <a:off x="2281187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Overview of Subspace Detection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475" name="Shape 4"/>
          <p:cNvSpPr/>
          <p:nvPr/>
        </p:nvSpPr>
        <p:spPr>
          <a:xfrm>
            <a:off x="5669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6" name="Text 5"/>
          <p:cNvSpPr/>
          <p:nvPr/>
        </p:nvSpPr>
        <p:spPr>
          <a:xfrm>
            <a:off x="6035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Image v</a:t>
            </a:r>
            <a:endParaRPr lang="en-US" sz="1100" dirty="0"/>
          </a:p>
        </p:txBody>
      </p:sp>
      <p:sp>
        <p:nvSpPr>
          <p:cNvPr id="477" name="Shape 6"/>
          <p:cNvSpPr/>
          <p:nvPr/>
        </p:nvSpPr>
        <p:spPr>
          <a:xfrm>
            <a:off x="17922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8" name="Shape 7"/>
          <p:cNvSpPr/>
          <p:nvPr/>
        </p:nvSpPr>
        <p:spPr>
          <a:xfrm>
            <a:off x="19385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9" name="Text 8"/>
          <p:cNvSpPr/>
          <p:nvPr/>
        </p:nvSpPr>
        <p:spPr>
          <a:xfrm>
            <a:off x="19751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Predicted Text t</a:t>
            </a:r>
            <a:endParaRPr lang="en-US" sz="1100" dirty="0"/>
          </a:p>
        </p:txBody>
      </p:sp>
      <p:sp>
        <p:nvSpPr>
          <p:cNvPr id="480" name="Shape 9"/>
          <p:cNvSpPr/>
          <p:nvPr/>
        </p:nvSpPr>
        <p:spPr>
          <a:xfrm>
            <a:off x="31638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1" name="Shape 10"/>
          <p:cNvSpPr/>
          <p:nvPr/>
        </p:nvSpPr>
        <p:spPr>
          <a:xfrm>
            <a:off x="33101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4A7BC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2" name="Text 11"/>
          <p:cNvSpPr/>
          <p:nvPr/>
        </p:nvSpPr>
        <p:spPr>
          <a:xfrm>
            <a:off x="33467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 Variants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(rephrase/font/translate)</a:t>
            </a:r>
            <a:endParaRPr lang="en-US" sz="1100" dirty="0"/>
          </a:p>
        </p:txBody>
      </p:sp>
      <p:sp>
        <p:nvSpPr>
          <p:cNvPr id="483" name="Shape 12"/>
          <p:cNvSpPr/>
          <p:nvPr/>
        </p:nvSpPr>
        <p:spPr>
          <a:xfrm>
            <a:off x="45354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4" name="Shape 13"/>
          <p:cNvSpPr/>
          <p:nvPr/>
        </p:nvSpPr>
        <p:spPr>
          <a:xfrm>
            <a:off x="46817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4A7BC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5" name="Text 14"/>
          <p:cNvSpPr/>
          <p:nvPr/>
        </p:nvSpPr>
        <p:spPr>
          <a:xfrm>
            <a:off x="47183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PCA → K-dim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S</a:t>
            </a:r>
            <a:endParaRPr lang="en-US" sz="1100" dirty="0"/>
          </a:p>
        </p:txBody>
      </p:sp>
      <p:sp>
        <p:nvSpPr>
          <p:cNvPr id="486" name="Shape 15"/>
          <p:cNvSpPr/>
          <p:nvPr/>
        </p:nvSpPr>
        <p:spPr>
          <a:xfrm>
            <a:off x="59070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7" name="Shape 16"/>
          <p:cNvSpPr/>
          <p:nvPr/>
        </p:nvSpPr>
        <p:spPr>
          <a:xfrm>
            <a:off x="60533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8" name="Text 17"/>
          <p:cNvSpPr/>
          <p:nvPr/>
        </p:nvSpPr>
        <p:spPr>
          <a:xfrm>
            <a:off x="60899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Region-of-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Interest</a:t>
            </a:r>
            <a:endParaRPr lang="en-US" sz="1100" dirty="0"/>
          </a:p>
        </p:txBody>
      </p:sp>
      <p:sp>
        <p:nvSpPr>
          <p:cNvPr id="489" name="Shape 18"/>
          <p:cNvSpPr/>
          <p:nvPr/>
        </p:nvSpPr>
        <p:spPr>
          <a:xfrm>
            <a:off x="72786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0" name="Shape 19"/>
          <p:cNvSpPr/>
          <p:nvPr/>
        </p:nvSpPr>
        <p:spPr>
          <a:xfrm>
            <a:off x="74249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1" name="Text 20"/>
          <p:cNvSpPr/>
          <p:nvPr/>
        </p:nvSpPr>
        <p:spPr>
          <a:xfrm>
            <a:off x="74615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Gaussian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Mixture p_mix</a:t>
            </a:r>
            <a:endParaRPr lang="en-US" sz="1100" dirty="0"/>
          </a:p>
        </p:txBody>
      </p:sp>
      <p:sp>
        <p:nvSpPr>
          <p:cNvPr id="492" name="Shape 21"/>
          <p:cNvSpPr/>
          <p:nvPr/>
        </p:nvSpPr>
        <p:spPr>
          <a:xfrm>
            <a:off x="86502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3" name="Shape 22"/>
          <p:cNvSpPr/>
          <p:nvPr/>
        </p:nvSpPr>
        <p:spPr>
          <a:xfrm>
            <a:off x="87965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4" name="Text 23"/>
          <p:cNvSpPr/>
          <p:nvPr/>
        </p:nvSpPr>
        <p:spPr>
          <a:xfrm>
            <a:off x="88331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Sampling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Distance</a:t>
            </a:r>
            <a:endParaRPr lang="en-US" sz="1100" dirty="0"/>
          </a:p>
        </p:txBody>
      </p:sp>
      <p:sp>
        <p:nvSpPr>
          <p:cNvPr id="495" name="Shape 24"/>
          <p:cNvSpPr/>
          <p:nvPr/>
        </p:nvSpPr>
        <p:spPr>
          <a:xfrm>
            <a:off x="10021824" y="281178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6" name="Shape 25"/>
          <p:cNvSpPr/>
          <p:nvPr/>
        </p:nvSpPr>
        <p:spPr>
          <a:xfrm>
            <a:off x="10168128" y="228600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7" name="Text 26"/>
          <p:cNvSpPr/>
          <p:nvPr/>
        </p:nvSpPr>
        <p:spPr>
          <a:xfrm>
            <a:off x="10204704" y="2286000"/>
            <a:ext cx="1133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</a:t>
            </a:r>
            <a:endParaRPr lang="en-US" sz="1100" dirty="0"/>
          </a:p>
        </p:txBody>
      </p:sp>
      <p:sp>
        <p:nvSpPr>
          <p:cNvPr id="498" name="Shape 27"/>
          <p:cNvSpPr/>
          <p:nvPr/>
        </p:nvSpPr>
        <p:spPr>
          <a:xfrm>
            <a:off x="566928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9" name="Shape 28"/>
          <p:cNvSpPr/>
          <p:nvPr/>
        </p:nvSpPr>
        <p:spPr>
          <a:xfrm>
            <a:off x="566928" y="3794760"/>
            <a:ext cx="91440" cy="91440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0" name="Text 29"/>
          <p:cNvSpPr/>
          <p:nvPr/>
        </p:nvSpPr>
        <p:spPr>
          <a:xfrm>
            <a:off x="841248" y="3794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完整方法链：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 Variants → PCA Subspace → Region-of-Interest → Gaussian Mixture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Sampling → L2 Distance → Threshold τ′</a:t>
            </a:r>
            <a:endParaRPr lang="en-US" sz="1350" dirty="0"/>
          </a:p>
        </p:txBody>
      </p:sp>
      <p:sp>
        <p:nvSpPr>
          <p:cNvPr id="501" name="Text 30"/>
          <p:cNvSpPr/>
          <p:nvPr/>
        </p:nvSpPr>
        <p:spPr>
          <a:xfrm>
            <a:off x="566928" y="4937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思想：用局部文本流形近似 (subspace) 描述语义邻域，并在其中寻找判别性 ROI。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 因 deep matching 贴近 ROI；poisoned 因 shallow matching 偏离 ROI。</a:t>
            </a:r>
            <a:endParaRPr lang="en-US" sz="1300" dirty="0"/>
          </a:p>
        </p:txBody>
      </p:sp>
      <p:sp>
        <p:nvSpPr>
          <p:cNvPr id="502" name="Text 31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503" name="Text 32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30</a:t>
            </a:r>
            <a:endParaRPr lang="en-US" sz="900" dirty="0"/>
          </a:p>
        </p:txBody>
      </p:sp>
      <p:sp>
        <p:nvSpPr>
          <p:cNvPr id="35" name="矩形 3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98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"/>
          <p:cNvSpPr/>
          <p:nvPr/>
        </p:nvSpPr>
        <p:spPr>
          <a:xfrm>
            <a:off x="2350008" y="117971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Threat Model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5" name="Shape 4"/>
          <p:cNvSpPr/>
          <p:nvPr/>
        </p:nvSpPr>
        <p:spPr>
          <a:xfrm>
            <a:off x="566928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5"/>
          <p:cNvSpPr/>
          <p:nvPr/>
        </p:nvSpPr>
        <p:spPr>
          <a:xfrm>
            <a:off x="566928" y="1920240"/>
            <a:ext cx="3566160" cy="109728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6"/>
          <p:cNvSpPr/>
          <p:nvPr/>
        </p:nvSpPr>
        <p:spPr>
          <a:xfrm>
            <a:off x="749808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Backdoored CLIP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749808" y="2788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攻击者完全掌握架构与参数，公开发布后门模型；防御者可查询模型、获取图文特征。</a:t>
            </a:r>
            <a:endParaRPr lang="en-US" sz="1250" dirty="0"/>
          </a:p>
        </p:txBody>
      </p:sp>
      <p:sp>
        <p:nvSpPr>
          <p:cNvPr id="19" name="Shape 8"/>
          <p:cNvSpPr/>
          <p:nvPr/>
        </p:nvSpPr>
        <p:spPr>
          <a:xfrm>
            <a:off x="4334256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9"/>
          <p:cNvSpPr/>
          <p:nvPr/>
        </p:nvSpPr>
        <p:spPr>
          <a:xfrm>
            <a:off x="4334256" y="1920240"/>
            <a:ext cx="3566160" cy="109728"/>
          </a:xfrm>
          <a:prstGeom prst="rect">
            <a:avLst/>
          </a:prstGeom>
          <a:solidFill>
            <a:srgbClr val="4A7B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0"/>
          <p:cNvSpPr/>
          <p:nvPr/>
        </p:nvSpPr>
        <p:spPr>
          <a:xfrm>
            <a:off x="4517136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Image v</a:t>
            </a:r>
            <a:endParaRPr lang="en-US" sz="1500" dirty="0"/>
          </a:p>
        </p:txBody>
      </p:sp>
      <p:sp>
        <p:nvSpPr>
          <p:cNvPr id="22" name="Text 11"/>
          <p:cNvSpPr/>
          <p:nvPr/>
        </p:nvSpPr>
        <p:spPr>
          <a:xfrm>
            <a:off x="4517136" y="2788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测试时给定后门 CLIP 与图像 v，目标是构建二分类器判断 benign / poisoned。</a:t>
            </a:r>
            <a:endParaRPr lang="en-US" sz="1250" dirty="0"/>
          </a:p>
        </p:txBody>
      </p:sp>
      <p:sp>
        <p:nvSpPr>
          <p:cNvPr id="23" name="Shape 12"/>
          <p:cNvSpPr/>
          <p:nvPr/>
        </p:nvSpPr>
        <p:spPr>
          <a:xfrm>
            <a:off x="8101584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3"/>
          <p:cNvSpPr/>
          <p:nvPr/>
        </p:nvSpPr>
        <p:spPr>
          <a:xfrm>
            <a:off x="8101584" y="1920240"/>
            <a:ext cx="3566160" cy="109728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4"/>
          <p:cNvSpPr/>
          <p:nvPr/>
        </p:nvSpPr>
        <p:spPr>
          <a:xfrm>
            <a:off x="8284464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 benign ref. D_ref</a:t>
            </a:r>
            <a:endParaRPr lang="en-US" sz="1500" dirty="0"/>
          </a:p>
        </p:txBody>
      </p:sp>
      <p:sp>
        <p:nvSpPr>
          <p:cNvPr id="26" name="Text 15"/>
          <p:cNvSpPr/>
          <p:nvPr/>
        </p:nvSpPr>
        <p:spPr>
          <a:xfrm>
            <a:off x="8284464" y="2788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防御者拥有一小部分良性下游数据，用于确定阈值 τ′（而非已知投毒数据）。</a:t>
            </a:r>
            <a:endParaRPr lang="en-US" sz="1250" dirty="0"/>
          </a:p>
        </p:txBody>
      </p:sp>
      <p:pic>
        <p:nvPicPr>
          <p:cNvPr id="27" name="Image 0" descr="/workspace/ppt_clip/assets/f_th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5669280" cy="1091972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6583680" y="443484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17"/>
          <p:cNvSpPr/>
          <p:nvPr/>
        </p:nvSpPr>
        <p:spPr>
          <a:xfrm>
            <a:off x="681228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 τ′ 由良性参考集 D_ref 的最大距离决定，不依赖任何已知的 poisoned 样本。</a:t>
            </a:r>
            <a:endParaRPr lang="en-US" sz="1300" dirty="0"/>
          </a:p>
        </p:txBody>
      </p:sp>
      <p:sp>
        <p:nvSpPr>
          <p:cNvPr id="30" name="Text 18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30</a:t>
            </a:r>
            <a:endParaRPr lang="en-US" sz="900" dirty="0"/>
          </a:p>
        </p:txBody>
      </p:sp>
      <p:sp>
        <p:nvSpPr>
          <p:cNvPr id="32" name="矩形 3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222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2"/>
          <p:cNvSpPr/>
          <p:nvPr/>
        </p:nvSpPr>
        <p:spPr>
          <a:xfrm>
            <a:off x="2350008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1: Variants Collection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7" name="Shape 4"/>
          <p:cNvSpPr/>
          <p:nvPr/>
        </p:nvSpPr>
        <p:spPr>
          <a:xfrm>
            <a:off x="566928" y="1828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5"/>
          <p:cNvSpPr/>
          <p:nvPr/>
        </p:nvSpPr>
        <p:spPr>
          <a:xfrm>
            <a:off x="566928" y="1828800"/>
            <a:ext cx="3566160" cy="10972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6"/>
          <p:cNvSpPr/>
          <p:nvPr/>
        </p:nvSpPr>
        <p:spPr>
          <a:xfrm>
            <a:off x="749808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5C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Font Styling</a:t>
            </a:r>
            <a:endParaRPr lang="en-US" sz="1450" dirty="0"/>
          </a:p>
        </p:txBody>
      </p:sp>
      <p:sp>
        <p:nvSpPr>
          <p:cNvPr id="40" name="Text 7"/>
          <p:cNvSpPr/>
          <p:nvPr/>
        </p:nvSpPr>
        <p:spPr>
          <a:xfrm>
            <a:off x="749808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字体变换（如加粗 / 斜体）</a:t>
            </a:r>
            <a:endParaRPr lang="en-US" sz="1250" dirty="0"/>
          </a:p>
        </p:txBody>
      </p:sp>
      <p:sp>
        <p:nvSpPr>
          <p:cNvPr id="41" name="Text 8"/>
          <p:cNvSpPr/>
          <p:nvPr/>
        </p:nvSpPr>
        <p:spPr>
          <a:xfrm>
            <a:off x="749808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m_f = 2</a:t>
            </a:r>
            <a:endParaRPr lang="en-US" sz="1400" dirty="0"/>
          </a:p>
        </p:txBody>
      </p:sp>
      <p:sp>
        <p:nvSpPr>
          <p:cNvPr id="42" name="Shape 9"/>
          <p:cNvSpPr/>
          <p:nvPr/>
        </p:nvSpPr>
        <p:spPr>
          <a:xfrm>
            <a:off x="4334256" y="1828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10"/>
          <p:cNvSpPr/>
          <p:nvPr/>
        </p:nvSpPr>
        <p:spPr>
          <a:xfrm>
            <a:off x="4334256" y="1828800"/>
            <a:ext cx="3566160" cy="109728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11"/>
          <p:cNvSpPr/>
          <p:nvPr/>
        </p:nvSpPr>
        <p:spPr>
          <a:xfrm>
            <a:off x="4517136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Descriptive Rephrasing</a:t>
            </a:r>
            <a:endParaRPr lang="en-US" sz="1450" dirty="0"/>
          </a:p>
        </p:txBody>
      </p:sp>
      <p:sp>
        <p:nvSpPr>
          <p:cNvPr id="45" name="Text 12"/>
          <p:cNvSpPr/>
          <p:nvPr/>
        </p:nvSpPr>
        <p:spPr>
          <a:xfrm>
            <a:off x="4517136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LLM（GPT-4）生成同类描述</a:t>
            </a:r>
            <a:endParaRPr lang="en-US" sz="1250" dirty="0"/>
          </a:p>
        </p:txBody>
      </p:sp>
      <p:sp>
        <p:nvSpPr>
          <p:cNvPr id="46" name="Text 13"/>
          <p:cNvSpPr/>
          <p:nvPr/>
        </p:nvSpPr>
        <p:spPr>
          <a:xfrm>
            <a:off x="4517136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m_d = 6</a:t>
            </a:r>
            <a:endParaRPr lang="en-US" sz="1400" dirty="0"/>
          </a:p>
        </p:txBody>
      </p:sp>
      <p:sp>
        <p:nvSpPr>
          <p:cNvPr id="47" name="Shape 14"/>
          <p:cNvSpPr/>
          <p:nvPr/>
        </p:nvSpPr>
        <p:spPr>
          <a:xfrm>
            <a:off x="8101584" y="1828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15"/>
          <p:cNvSpPr/>
          <p:nvPr/>
        </p:nvSpPr>
        <p:spPr>
          <a:xfrm>
            <a:off x="8101584" y="1828800"/>
            <a:ext cx="3566160" cy="109728"/>
          </a:xfrm>
          <a:prstGeom prst="rect">
            <a:avLst/>
          </a:prstGeom>
          <a:solidFill>
            <a:srgbClr val="4A7B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16"/>
          <p:cNvSpPr/>
          <p:nvPr/>
        </p:nvSpPr>
        <p:spPr>
          <a:xfrm>
            <a:off x="8284464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Language Translation</a:t>
            </a:r>
            <a:endParaRPr lang="en-US" sz="1450" dirty="0"/>
          </a:p>
        </p:txBody>
      </p:sp>
      <p:sp>
        <p:nvSpPr>
          <p:cNvPr id="50" name="Text 17"/>
          <p:cNvSpPr/>
          <p:nvPr/>
        </p:nvSpPr>
        <p:spPr>
          <a:xfrm>
            <a:off x="8284464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翻译为目标语言（如阿拉伯语）</a:t>
            </a:r>
            <a:endParaRPr lang="en-US" sz="1250" dirty="0"/>
          </a:p>
        </p:txBody>
      </p:sp>
      <p:sp>
        <p:nvSpPr>
          <p:cNvPr id="51" name="Text 18"/>
          <p:cNvSpPr/>
          <p:nvPr/>
        </p:nvSpPr>
        <p:spPr>
          <a:xfrm>
            <a:off x="8284464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m_l = 1</a:t>
            </a:r>
            <a:endParaRPr lang="en-US" sz="1400" dirty="0"/>
          </a:p>
        </p:txBody>
      </p:sp>
      <p:sp>
        <p:nvSpPr>
          <p:cNvPr id="52" name="Shape 19"/>
          <p:cNvSpPr/>
          <p:nvPr/>
        </p:nvSpPr>
        <p:spPr>
          <a:xfrm>
            <a:off x="566928" y="43434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20"/>
          <p:cNvSpPr/>
          <p:nvPr/>
        </p:nvSpPr>
        <p:spPr>
          <a:xfrm>
            <a:off x="566928" y="4343400"/>
            <a:ext cx="91440" cy="114300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21"/>
          <p:cNvSpPr/>
          <p:nvPr/>
        </p:nvSpPr>
        <p:spPr>
          <a:xfrm>
            <a:off x="841248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语义等价变体总数</a:t>
            </a:r>
            <a:endParaRPr lang="en-US" sz="1200" dirty="0"/>
          </a:p>
        </p:txBody>
      </p:sp>
      <p:pic>
        <p:nvPicPr>
          <p:cNvPr id="55" name="Image 0" descr="/workspace/ppt_clip/assets/f_vari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63440"/>
            <a:ext cx="4389120" cy="442600"/>
          </a:xfrm>
          <a:prstGeom prst="rect">
            <a:avLst/>
          </a:prstGeom>
        </p:spPr>
      </p:pic>
      <p:sp>
        <p:nvSpPr>
          <p:cNvPr id="56" name="Shape 22"/>
          <p:cNvSpPr/>
          <p:nvPr/>
        </p:nvSpPr>
        <p:spPr>
          <a:xfrm>
            <a:off x="5852160" y="434340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Text 23"/>
          <p:cNvSpPr/>
          <p:nvPr/>
        </p:nvSpPr>
        <p:spPr>
          <a:xfrm>
            <a:off x="6080760" y="434340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9 个变体，其特征构成 Z_t′，与主文本特征 Z_t = {z_t} ∪ Z_t′ 共同近似局部流形。超参：K 保留 95% 方差；L = 3；n = 90；n_s = 15；η = 0.001。</a:t>
            </a:r>
            <a:endParaRPr lang="en-US" sz="1250" dirty="0"/>
          </a:p>
        </p:txBody>
      </p:sp>
      <p:sp>
        <p:nvSpPr>
          <p:cNvPr id="58" name="Text 24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59" name="Text 25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30</a:t>
            </a:r>
            <a:endParaRPr lang="en-US" sz="900" dirty="0"/>
          </a:p>
        </p:txBody>
      </p:sp>
      <p:sp>
        <p:nvSpPr>
          <p:cNvPr id="29" name="矩形 28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8926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2"/>
          <p:cNvSpPr/>
          <p:nvPr/>
        </p:nvSpPr>
        <p:spPr>
          <a:xfrm>
            <a:off x="2341345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Semantic Variants?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65" name="Image 0" descr="/workspace/ppt_clip/assets/d_neighborh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766560" cy="4114800"/>
          </a:xfrm>
          <a:prstGeom prst="rect">
            <a:avLst/>
          </a:prstGeom>
        </p:spPr>
      </p:pic>
      <p:sp>
        <p:nvSpPr>
          <p:cNvPr id="66" name="Text 4"/>
          <p:cNvSpPr/>
          <p:nvPr/>
        </p:nvSpPr>
        <p:spPr>
          <a:xfrm>
            <a:off x="7406640" y="19202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Original Text → Semantic-preserving Variants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多个变体散布于同一局部流形上，共同刻画一个语义邻域。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若图像是 benign（deep matching），其特性能贴近整个邻域。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若图像是 poisoned（shallow matching），仅贴近原 target，远离变体。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用变体集合近似 neighborhood，是把“单点匹配”升级为“邻域匹配”的关键。</a:t>
            </a:r>
            <a:endParaRPr lang="en-US" sz="1300" dirty="0"/>
          </a:p>
        </p:txBody>
      </p:sp>
      <p:sp>
        <p:nvSpPr>
          <p:cNvPr id="67" name="Text 5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68" name="Text 6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30</a:t>
            </a:r>
            <a:endParaRPr lang="en-US" sz="900" dirty="0"/>
          </a:p>
        </p:txBody>
      </p:sp>
      <p:sp>
        <p:nvSpPr>
          <p:cNvPr id="10" name="矩形 9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7561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2"/>
          <p:cNvSpPr/>
          <p:nvPr/>
        </p:nvSpPr>
        <p:spPr>
          <a:xfrm>
            <a:off x="2305251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2: Manifold Approximation (PCA)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74" name="Image 0" descr="/workspace/ppt_clip/assets/d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400800" cy="4023360"/>
          </a:xfrm>
          <a:prstGeom prst="rect">
            <a:avLst/>
          </a:prstGeom>
        </p:spPr>
      </p:pic>
      <p:sp>
        <p:nvSpPr>
          <p:cNvPr id="75" name="Text 4"/>
          <p:cNvSpPr/>
          <p:nvPr/>
        </p:nvSpPr>
        <p:spPr>
          <a:xfrm>
            <a:off x="704088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Z_t = {z_t} ∪ Z_t′ 做 PCA，拟合 K 维仿射子空间 S 作为局部流形近似：</a:t>
            </a:r>
            <a:endParaRPr lang="en-US" sz="1300" dirty="0"/>
          </a:p>
        </p:txBody>
      </p:sp>
      <p:pic>
        <p:nvPicPr>
          <p:cNvPr id="76" name="Image 1" descr="/workspace/ppt_clip/assets/f_pc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743200"/>
            <a:ext cx="4572000" cy="791308"/>
          </a:xfrm>
          <a:prstGeom prst="rect">
            <a:avLst/>
          </a:prstGeom>
        </p:spPr>
      </p:pic>
      <p:pic>
        <p:nvPicPr>
          <p:cNvPr id="77" name="Image 2" descr="/workspace/ppt_clip/assets/f_pc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611880"/>
            <a:ext cx="4572000" cy="631458"/>
          </a:xfrm>
          <a:prstGeom prst="rect">
            <a:avLst/>
          </a:prstGeom>
        </p:spPr>
      </p:pic>
      <p:sp>
        <p:nvSpPr>
          <p:cNvPr id="78" name="Shape 5"/>
          <p:cNvSpPr/>
          <p:nvPr/>
        </p:nvSpPr>
        <p:spPr>
          <a:xfrm>
            <a:off x="7040880" y="461772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Shape 6"/>
          <p:cNvSpPr/>
          <p:nvPr/>
        </p:nvSpPr>
        <p:spPr>
          <a:xfrm>
            <a:off x="7040880" y="4617720"/>
            <a:ext cx="91440" cy="109728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" name="Text 7"/>
          <p:cNvSpPr/>
          <p:nvPr/>
        </p:nvSpPr>
        <p:spPr>
          <a:xfrm>
            <a:off x="7315200" y="4617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= { μ_t + U_K α ∣ α∈ℝ^K }：μ_t 为均值，U_K 为前 K 个主方向。论文以仿射子空间近似局部流形（非认为流形就是仿射的）。</a:t>
            </a:r>
            <a:endParaRPr lang="en-US" sz="1200" dirty="0"/>
          </a:p>
        </p:txBody>
      </p:sp>
      <p:sp>
        <p:nvSpPr>
          <p:cNvPr id="81" name="Text 8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82" name="Text 9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30</a:t>
            </a:r>
            <a:endParaRPr lang="en-US" sz="900" dirty="0"/>
          </a:p>
        </p:txBody>
      </p:sp>
      <p:sp>
        <p:nvSpPr>
          <p:cNvPr id="15" name="矩形 1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133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2"/>
          <p:cNvSpPr/>
          <p:nvPr/>
        </p:nvSpPr>
        <p:spPr>
          <a:xfrm>
            <a:off x="2317282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PCA Projection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88" name="Text 4"/>
          <p:cNvSpPr/>
          <p:nvPr/>
        </p:nvSpPr>
        <p:spPr>
          <a:xfrm>
            <a:off x="64008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低维投影（K 维表示）：</a:t>
            </a:r>
            <a:endParaRPr lang="en-US" sz="1400" dirty="0"/>
          </a:p>
        </p:txBody>
      </p:sp>
      <p:pic>
        <p:nvPicPr>
          <p:cNvPr id="89" name="Image 0" descr="/workspace/ppt_clip/assets/f_pc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5486400" cy="949569"/>
          </a:xfrm>
          <a:prstGeom prst="rect">
            <a:avLst/>
          </a:prstGeom>
        </p:spPr>
      </p:pic>
      <p:sp>
        <p:nvSpPr>
          <p:cNvPr id="90" name="Text 5"/>
          <p:cNvSpPr/>
          <p:nvPr/>
        </p:nvSpPr>
        <p:spPr>
          <a:xfrm>
            <a:off x="64008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重构回 d 维（reconstruction）：</a:t>
            </a:r>
            <a:endParaRPr lang="en-US" sz="1400" dirty="0"/>
          </a:p>
        </p:txBody>
      </p:sp>
      <p:pic>
        <p:nvPicPr>
          <p:cNvPr id="91" name="Image 1" descr="/workspace/ppt_clip/assets/f_pc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5486400" cy="757750"/>
          </a:xfrm>
          <a:prstGeom prst="rect">
            <a:avLst/>
          </a:prstGeom>
        </p:spPr>
      </p:pic>
      <p:sp>
        <p:nvSpPr>
          <p:cNvPr id="92" name="Shape 6"/>
          <p:cNvSpPr/>
          <p:nvPr/>
        </p:nvSpPr>
        <p:spPr>
          <a:xfrm>
            <a:off x="7040880" y="182880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" name="Text 7"/>
          <p:cNvSpPr/>
          <p:nvPr/>
        </p:nvSpPr>
        <p:spPr>
          <a:xfrm>
            <a:off x="7315200" y="201168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Π_K(u)：将特征投影到 K 维主子空间，得到其低维坐标。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Π_d(u)：用 U_K 与 μ_t 重构回原 d 维空间，便于计算与原始文本特征的相似度。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采样点 z″ 先经 Π_K 在子空间内移动，再经 Π_d 重构用于约束判断。</a:t>
            </a:r>
            <a:endParaRPr lang="en-US" sz="1300" dirty="0"/>
          </a:p>
        </p:txBody>
      </p:sp>
      <p:sp>
        <p:nvSpPr>
          <p:cNvPr id="94" name="Text 8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95" name="Text 9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30</a:t>
            </a:r>
            <a:endParaRPr lang="en-US" sz="900" dirty="0"/>
          </a:p>
        </p:txBody>
      </p:sp>
      <p:sp>
        <p:nvSpPr>
          <p:cNvPr id="14" name="矩形 13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056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2"/>
          <p:cNvSpPr/>
          <p:nvPr/>
        </p:nvSpPr>
        <p:spPr>
          <a:xfrm>
            <a:off x="2281187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Is the Subspace Not Enough?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01" name="Image 0" descr="/workspace/ppt_clip/assets/d_wides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583680" cy="4023360"/>
          </a:xfrm>
          <a:prstGeom prst="rect">
            <a:avLst/>
          </a:prstGeom>
        </p:spPr>
      </p:pic>
      <p:sp>
        <p:nvSpPr>
          <p:cNvPr id="102" name="Text 4"/>
          <p:cNvSpPr/>
          <p:nvPr/>
        </p:nvSpPr>
        <p:spPr>
          <a:xfrm>
            <a:off x="7223760" y="201168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仿射子空间 S 是无限延伸的，整体并非同等判别。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S 上均匀随机采样，可能得到远离原语义概念的点，丧失判别力。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因此需在 S 内进一步定位 Region-of-Interest：一个最能放大 benign / poisoned 分离的区域。</a:t>
            </a:r>
            <a:endParaRPr lang="en-US" sz="1300" dirty="0"/>
          </a:p>
        </p:txBody>
      </p:sp>
      <p:sp>
        <p:nvSpPr>
          <p:cNvPr id="103" name="Text 5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04" name="Text 6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30</a:t>
            </a:r>
            <a:endParaRPr lang="en-US" sz="900" dirty="0"/>
          </a:p>
        </p:txBody>
      </p:sp>
      <p:sp>
        <p:nvSpPr>
          <p:cNvPr id="10" name="矩形 9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41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2"/>
          <p:cNvSpPr/>
          <p:nvPr/>
        </p:nvSpPr>
        <p:spPr>
          <a:xfrm>
            <a:off x="2269155" y="13030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3: Region-of-Interest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10" name="Image 0" descr="/workspace/ppt_clip/assets/d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6858000" cy="4114800"/>
          </a:xfrm>
          <a:prstGeom prst="rect">
            <a:avLst/>
          </a:prstGeom>
        </p:spPr>
      </p:pic>
      <p:sp>
        <p:nvSpPr>
          <p:cNvPr id="111" name="Text 4"/>
          <p:cNvSpPr/>
          <p:nvPr/>
        </p:nvSpPr>
        <p:spPr>
          <a:xfrm>
            <a:off x="740664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对每个变体特征（蓝色方块），定义 positive direction：</a:t>
            </a:r>
            <a:endParaRPr lang="en-US" sz="1300" dirty="0"/>
          </a:p>
        </p:txBody>
      </p:sp>
      <p:pic>
        <p:nvPicPr>
          <p:cNvPr id="112" name="Image 1" descr="/workspace/ppt_clip/assets/f_posd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286000"/>
            <a:ext cx="4206240" cy="543345"/>
          </a:xfrm>
          <a:prstGeom prst="rect">
            <a:avLst/>
          </a:prstGeom>
        </p:spPr>
      </p:pic>
      <p:sp>
        <p:nvSpPr>
          <p:cNvPr id="113" name="Text 5"/>
          <p:cNvSpPr/>
          <p:nvPr/>
        </p:nvSpPr>
        <p:spPr>
          <a:xfrm>
            <a:off x="7406640" y="320040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沿该方向继续采样 z″ₜ，并加 Cosine Similarity 约束过滤。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benign（绿）贴近整个邻域 → 贴近 ROI；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poisoned（红）只贴近 target → 远离 ROI。</a:t>
            </a:r>
            <a:endParaRPr lang="en-US" sz="1250" dirty="0"/>
          </a:p>
        </p:txBody>
      </p:sp>
      <p:sp>
        <p:nvSpPr>
          <p:cNvPr id="114" name="Text 6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15" name="Text 7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30</a:t>
            </a:r>
            <a:endParaRPr lang="en-US" sz="900" dirty="0"/>
          </a:p>
        </p:txBody>
      </p:sp>
      <p:sp>
        <p:nvSpPr>
          <p:cNvPr id="12" name="矩形 1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6433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2"/>
          <p:cNvSpPr/>
          <p:nvPr/>
        </p:nvSpPr>
        <p:spPr>
          <a:xfrm>
            <a:off x="2305251" y="13030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Positive Direction? (Table 3)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21" name="Image 0" descr="/workspace/ppt_clip/assets/d_posn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360"/>
            <a:ext cx="5760720" cy="3108960"/>
          </a:xfrm>
          <a:prstGeom prst="rect">
            <a:avLst/>
          </a:prstGeom>
        </p:spPr>
      </p:pic>
      <p:graphicFrame>
        <p:nvGraphicFramePr>
          <p:cNvPr id="122" name="Table 0"/>
          <p:cNvGraphicFramePr>
            <a:graphicFrameLocks noGrp="1"/>
          </p:cNvGraphicFramePr>
          <p:nvPr/>
        </p:nvGraphicFramePr>
        <p:xfrm>
          <a:off x="6355080" y="1828800"/>
          <a:ext cx="521208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Attack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Positive (AUROC/F1)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Negative (AUROC/F1)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BadNets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0.962 / 0.920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0.525 / 0.703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Carlini &amp; Terzis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0.994 / 0.968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0.702 / 0.749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WaNet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0.931 / 0.901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0.246 / 0.701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123" name="Shape 4"/>
          <p:cNvSpPr/>
          <p:nvPr/>
        </p:nvSpPr>
        <p:spPr>
          <a:xfrm>
            <a:off x="6355080" y="39776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Shape 5"/>
          <p:cNvSpPr/>
          <p:nvPr/>
        </p:nvSpPr>
        <p:spPr>
          <a:xfrm>
            <a:off x="6355080" y="3977640"/>
            <a:ext cx="91440" cy="128016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Text 6"/>
          <p:cNvSpPr/>
          <p:nvPr/>
        </p:nvSpPr>
        <p:spPr>
          <a:xfrm>
            <a:off x="6629400" y="3977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 positive direction（朝变体）采样能最大化 benign/poisoned 分离；负方向（朝 target）几乎失效。故方法采用 positive direction。</a:t>
            </a:r>
            <a:endParaRPr lang="en-US" sz="1200" dirty="0"/>
          </a:p>
        </p:txBody>
      </p:sp>
      <p:sp>
        <p:nvSpPr>
          <p:cNvPr id="126" name="Text 7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27" name="Text 8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30</a:t>
            </a:r>
            <a:endParaRPr lang="en-US" sz="900" dirty="0"/>
          </a:p>
        </p:txBody>
      </p:sp>
      <p:sp>
        <p:nvSpPr>
          <p:cNvPr id="13" name="矩形 12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062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2"/>
          <p:cNvSpPr/>
          <p:nvPr/>
        </p:nvSpPr>
        <p:spPr>
          <a:xfrm>
            <a:off x="2305251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Semantic Deviation Constraint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33" name="Image 0" descr="/workspace/ppt_clip/assets/d_constr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583680" cy="4023360"/>
          </a:xfrm>
          <a:prstGeom prst="rect">
            <a:avLst/>
          </a:prstGeom>
        </p:spPr>
      </p:pic>
      <p:sp>
        <p:nvSpPr>
          <p:cNvPr id="134" name="Text 4"/>
          <p:cNvSpPr/>
          <p:nvPr/>
        </p:nvSpPr>
        <p:spPr>
          <a:xfrm>
            <a:off x="722376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采样点须满足（约束其相对 target 的语义漂移）：</a:t>
            </a:r>
            <a:endParaRPr lang="en-US" sz="1300" dirty="0"/>
          </a:p>
        </p:txBody>
      </p:sp>
      <p:pic>
        <p:nvPicPr>
          <p:cNvPr id="135" name="Image 1" descr="/workspace/ppt_clip/assets/f_constr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514600"/>
            <a:ext cx="4389120" cy="910755"/>
          </a:xfrm>
          <a:prstGeom prst="rect">
            <a:avLst/>
          </a:prstGeom>
        </p:spPr>
      </p:pic>
      <p:sp>
        <p:nvSpPr>
          <p:cNvPr id="136" name="Text 5"/>
          <p:cNvSpPr/>
          <p:nvPr/>
        </p:nvSpPr>
        <p:spPr>
          <a:xfrm>
            <a:off x="7223760" y="3749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比值过低的采样点（语义漂移过大）被过滤。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 ROI 偏离原语义邻域太远，保持判别性。</a:t>
            </a:r>
            <a:endParaRPr lang="en-US" sz="1300" dirty="0"/>
          </a:p>
        </p:txBody>
      </p:sp>
      <p:sp>
        <p:nvSpPr>
          <p:cNvPr id="137" name="Text 6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38" name="Text 7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30</a:t>
            </a:r>
            <a:endParaRPr lang="en-US" sz="900" dirty="0"/>
          </a:p>
        </p:txBody>
      </p:sp>
      <p:sp>
        <p:nvSpPr>
          <p:cNvPr id="12" name="矩形 1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7868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2"/>
          <p:cNvSpPr/>
          <p:nvPr/>
        </p:nvSpPr>
        <p:spPr>
          <a:xfrm>
            <a:off x="2293219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ROI Distribution Modeling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44" name="Image 0" descr="/workspace/ppt_clip/assets/d_gau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583680" cy="4023360"/>
          </a:xfrm>
          <a:prstGeom prst="rect">
            <a:avLst/>
          </a:prstGeom>
        </p:spPr>
      </p:pic>
      <p:sp>
        <p:nvSpPr>
          <p:cNvPr id="145" name="Text 4"/>
          <p:cNvSpPr/>
          <p:nvPr/>
        </p:nvSpPr>
        <p:spPr>
          <a:xfrm>
            <a:off x="7223760" y="192024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对“变体特征 + 沿正方向采样点”的并集合，用高斯分布 p 建模 ROI。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为何用高斯建模？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PCA 重构在 L2 意义下最优，局部文本特征变化可用高斯结构刻画（见 S23）。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clean 图像特征贴近 ROI，其残差 ≈ 近高斯噪声；poisoned 残差更大/有偏。</a:t>
            </a:r>
            <a:endParaRPr lang="en-US" sz="1250" dirty="0"/>
          </a:p>
        </p:txBody>
      </p:sp>
      <p:sp>
        <p:nvSpPr>
          <p:cNvPr id="146" name="Text 5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47" name="Text 6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30</a:t>
            </a:r>
            <a:endParaRPr lang="en-US" sz="900" dirty="0"/>
          </a:p>
        </p:txBody>
      </p:sp>
      <p:sp>
        <p:nvSpPr>
          <p:cNvPr id="10" name="矩形 9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9303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2"/>
          <p:cNvSpPr/>
          <p:nvPr/>
        </p:nvSpPr>
        <p:spPr>
          <a:xfrm>
            <a:off x="2281187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Gaussian Mixture?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80" name="Text 4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单一高斯可能不足以描述 ROI 的复杂形状。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论文重复 L 次 “采样 → 过滤 → 建模” 过程，得到 L 个高斯，合并为均匀混合：</a:t>
            </a:r>
            <a:endParaRPr lang="en-US" sz="1350" dirty="0"/>
          </a:p>
        </p:txBody>
      </p:sp>
      <p:pic>
        <p:nvPicPr>
          <p:cNvPr id="181" name="Image 0" descr="/workspace/ppt_clip/assets/f_p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4572000" cy="2270861"/>
          </a:xfrm>
          <a:prstGeom prst="rect">
            <a:avLst/>
          </a:prstGeom>
        </p:spPr>
      </p:pic>
      <p:sp>
        <p:nvSpPr>
          <p:cNvPr id="182" name="Shape 5"/>
          <p:cNvSpPr/>
          <p:nvPr/>
        </p:nvSpPr>
        <p:spPr>
          <a:xfrm>
            <a:off x="5943600" y="27432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Text 6"/>
          <p:cNvSpPr/>
          <p:nvPr/>
        </p:nvSpPr>
        <p:spPr>
          <a:xfrm>
            <a:off x="6217920" y="27432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Algorithm 1 中 p_mix ← (l·p_mix + N(μ_bias⁽ˡ⁾, η² D_bias⁽ˡ⁾ D_bias⁽ˡ⁾ᵀ)) / (l+1)，即 L 个高斯的均匀混合，更好地刻画 ROI。实验中 L = 3。</a:t>
            </a:r>
            <a:endParaRPr lang="en-US" sz="1250" dirty="0"/>
          </a:p>
        </p:txBody>
      </p:sp>
      <p:sp>
        <p:nvSpPr>
          <p:cNvPr id="184" name="Shape 7"/>
          <p:cNvSpPr/>
          <p:nvPr/>
        </p:nvSpPr>
        <p:spPr>
          <a:xfrm>
            <a:off x="640080" y="45720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Shape 8"/>
          <p:cNvSpPr/>
          <p:nvPr/>
        </p:nvSpPr>
        <p:spPr>
          <a:xfrm>
            <a:off x="640080" y="4572000"/>
            <a:ext cx="91440" cy="109728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Text 9"/>
          <p:cNvSpPr/>
          <p:nvPr/>
        </p:nvSpPr>
        <p:spPr>
          <a:xfrm>
            <a:off x="91440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重复采样建模（L 从 1→2→3→4）时检测性能单调递增；考虑计算开销取 L = 3。</a:t>
            </a:r>
            <a:endParaRPr lang="en-US" sz="1300" dirty="0"/>
          </a:p>
        </p:txBody>
      </p:sp>
      <p:sp>
        <p:nvSpPr>
          <p:cNvPr id="187" name="Text 1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188" name="Text 1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30</a:t>
            </a:r>
            <a:endParaRPr lang="en-US" sz="900" dirty="0"/>
          </a:p>
        </p:txBody>
      </p:sp>
      <p:sp>
        <p:nvSpPr>
          <p:cNvPr id="15" name="矩形 1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08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2"/>
          <p:cNvSpPr/>
          <p:nvPr/>
        </p:nvSpPr>
        <p:spPr>
          <a:xfrm>
            <a:off x="2276856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Test-Time Detection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66928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5" name="Text 5"/>
          <p:cNvSpPr/>
          <p:nvPr/>
        </p:nvSpPr>
        <p:spPr>
          <a:xfrm>
            <a:off x="603504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Image v</a:t>
            </a:r>
            <a:endParaRPr lang="en-US" sz="1150" dirty="0"/>
          </a:p>
        </p:txBody>
      </p:sp>
      <p:sp>
        <p:nvSpPr>
          <p:cNvPr id="196" name="Shape 6"/>
          <p:cNvSpPr/>
          <p:nvPr/>
        </p:nvSpPr>
        <p:spPr>
          <a:xfrm>
            <a:off x="2276856" y="2743200"/>
            <a:ext cx="13716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7" name="Shape 7"/>
          <p:cNvSpPr/>
          <p:nvPr/>
        </p:nvSpPr>
        <p:spPr>
          <a:xfrm>
            <a:off x="2432304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8" name="Text 8"/>
          <p:cNvSpPr/>
          <p:nvPr/>
        </p:nvSpPr>
        <p:spPr>
          <a:xfrm>
            <a:off x="2468880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zᵥ = f̂ᵥ(v)</a:t>
            </a:r>
            <a:endParaRPr lang="en-US" sz="1150" dirty="0"/>
          </a:p>
        </p:txBody>
      </p:sp>
      <p:sp>
        <p:nvSpPr>
          <p:cNvPr id="199" name="Shape 9"/>
          <p:cNvSpPr/>
          <p:nvPr/>
        </p:nvSpPr>
        <p:spPr>
          <a:xfrm>
            <a:off x="4142232" y="2743200"/>
            <a:ext cx="13716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0" name="Shape 10"/>
          <p:cNvSpPr/>
          <p:nvPr/>
        </p:nvSpPr>
        <p:spPr>
          <a:xfrm>
            <a:off x="4297680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4A7BC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Text 11"/>
          <p:cNvSpPr/>
          <p:nvPr/>
        </p:nvSpPr>
        <p:spPr>
          <a:xfrm>
            <a:off x="4334256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 {z_d⁽ⁱ⁾}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p_mix</a:t>
            </a:r>
            <a:endParaRPr lang="en-US" sz="1150" dirty="0"/>
          </a:p>
        </p:txBody>
      </p:sp>
      <p:sp>
        <p:nvSpPr>
          <p:cNvPr id="202" name="Shape 12"/>
          <p:cNvSpPr/>
          <p:nvPr/>
        </p:nvSpPr>
        <p:spPr>
          <a:xfrm>
            <a:off x="6007608" y="2743200"/>
            <a:ext cx="13716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3" name="Shape 13"/>
          <p:cNvSpPr/>
          <p:nvPr/>
        </p:nvSpPr>
        <p:spPr>
          <a:xfrm>
            <a:off x="6163056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4" name="Text 14"/>
          <p:cNvSpPr/>
          <p:nvPr/>
        </p:nvSpPr>
        <p:spPr>
          <a:xfrm>
            <a:off x="6199632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Avg 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Distance d̄</a:t>
            </a:r>
            <a:endParaRPr lang="en-US" sz="1150" dirty="0"/>
          </a:p>
        </p:txBody>
      </p:sp>
      <p:sp>
        <p:nvSpPr>
          <p:cNvPr id="205" name="Shape 15"/>
          <p:cNvSpPr/>
          <p:nvPr/>
        </p:nvSpPr>
        <p:spPr>
          <a:xfrm>
            <a:off x="7872984" y="2743200"/>
            <a:ext cx="13716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6" name="Shape 16"/>
          <p:cNvSpPr/>
          <p:nvPr/>
        </p:nvSpPr>
        <p:spPr>
          <a:xfrm>
            <a:off x="8028432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7" name="Text 17"/>
          <p:cNvSpPr/>
          <p:nvPr/>
        </p:nvSpPr>
        <p:spPr>
          <a:xfrm>
            <a:off x="8065008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Compare τ′</a:t>
            </a:r>
            <a:endParaRPr lang="en-US" sz="1150" dirty="0"/>
          </a:p>
        </p:txBody>
      </p:sp>
      <p:sp>
        <p:nvSpPr>
          <p:cNvPr id="208" name="Shape 18"/>
          <p:cNvSpPr/>
          <p:nvPr/>
        </p:nvSpPr>
        <p:spPr>
          <a:xfrm>
            <a:off x="9738360" y="2743200"/>
            <a:ext cx="137160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9" name="Shape 19"/>
          <p:cNvSpPr/>
          <p:nvPr/>
        </p:nvSpPr>
        <p:spPr>
          <a:xfrm>
            <a:off x="9893808" y="219456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0" name="Text 20"/>
          <p:cNvSpPr/>
          <p:nvPr/>
        </p:nvSpPr>
        <p:spPr>
          <a:xfrm>
            <a:off x="9930384" y="219456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Benign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Poisoned</a:t>
            </a:r>
            <a:endParaRPr lang="en-US" sz="1150" dirty="0"/>
          </a:p>
        </p:txBody>
      </p:sp>
      <p:sp>
        <p:nvSpPr>
          <p:cNvPr id="211" name="Shape 21"/>
          <p:cNvSpPr/>
          <p:nvPr/>
        </p:nvSpPr>
        <p:spPr>
          <a:xfrm>
            <a:off x="566928" y="3657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Shape 22"/>
          <p:cNvSpPr/>
          <p:nvPr/>
        </p:nvSpPr>
        <p:spPr>
          <a:xfrm>
            <a:off x="566928" y="3657600"/>
            <a:ext cx="91440" cy="91440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Text 23"/>
          <p:cNvSpPr/>
          <p:nvPr/>
        </p:nvSpPr>
        <p:spPr>
          <a:xfrm>
            <a:off x="841248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p_mix 采样 n_s = 15 个文本特征，计算图像特征到这些采样点的平均 L2 距离作为检测分数。</a:t>
            </a:r>
            <a:endParaRPr lang="en-US" sz="1300" dirty="0"/>
          </a:p>
        </p:txBody>
      </p:sp>
      <p:pic>
        <p:nvPicPr>
          <p:cNvPr id="214" name="Image 0" descr="/workspace/ppt_clip/assets/f_d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0"/>
            <a:ext cx="5120640" cy="1663828"/>
          </a:xfrm>
          <a:prstGeom prst="rect">
            <a:avLst/>
          </a:prstGeom>
        </p:spPr>
      </p:pic>
      <p:sp>
        <p:nvSpPr>
          <p:cNvPr id="215" name="Text 24"/>
          <p:cNvSpPr/>
          <p:nvPr/>
        </p:nvSpPr>
        <p:spPr>
          <a:xfrm>
            <a:off x="6217920" y="4754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d̄ 越大 → 越偏离 ROI → 越可能是 poisoned。</a:t>
            </a:r>
            <a:endParaRPr lang="en-US" sz="1400" dirty="0"/>
          </a:p>
        </p:txBody>
      </p:sp>
      <p:sp>
        <p:nvSpPr>
          <p:cNvPr id="216" name="Text 25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217" name="Text 26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30</a:t>
            </a:r>
            <a:endParaRPr lang="en-US" sz="900" dirty="0"/>
          </a:p>
        </p:txBody>
      </p:sp>
      <p:sp>
        <p:nvSpPr>
          <p:cNvPr id="30" name="矩形 29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287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1" name="Text 2"/>
          <p:cNvSpPr/>
          <p:nvPr/>
        </p:nvSpPr>
        <p:spPr>
          <a:xfrm>
            <a:off x="2341345" y="13030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Distance to Detection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23" name="Text 4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检测器（Eq. 1）：</a:t>
            </a:r>
            <a:endParaRPr lang="en-US" sz="1400" dirty="0"/>
          </a:p>
        </p:txBody>
      </p:sp>
      <p:pic>
        <p:nvPicPr>
          <p:cNvPr id="224" name="Image 0" descr="/workspace/ppt_clip/assets/f_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5669280" cy="1122630"/>
          </a:xfrm>
          <a:prstGeom prst="rect">
            <a:avLst/>
          </a:prstGeom>
        </p:spPr>
      </p:pic>
      <p:pic>
        <p:nvPicPr>
          <p:cNvPr id="225" name="Image 1" descr="/workspace/ppt_clip/assets/f_d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4114800" cy="1337005"/>
          </a:xfrm>
          <a:prstGeom prst="rect">
            <a:avLst/>
          </a:prstGeom>
        </p:spPr>
      </p:pic>
      <p:sp>
        <p:nvSpPr>
          <p:cNvPr id="226" name="Shape 5"/>
          <p:cNvSpPr/>
          <p:nvPr/>
        </p:nvSpPr>
        <p:spPr>
          <a:xfrm>
            <a:off x="6583680" y="228600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7" name="Text 6"/>
          <p:cNvSpPr/>
          <p:nvPr/>
        </p:nvSpPr>
        <p:spPr>
          <a:xfrm>
            <a:off x="685800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= 1 ⟹ poisoned；B = 0 ⟹ benign。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 τ′ 由 D_ref 决定（S10），不依赖 poisoned 数据。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距离度量采用 L2（d₂），理论依据见 S23。</a:t>
            </a:r>
            <a:endParaRPr lang="en-US" sz="1300" dirty="0"/>
          </a:p>
        </p:txBody>
      </p:sp>
      <p:sp>
        <p:nvSpPr>
          <p:cNvPr id="228" name="Shape 7"/>
          <p:cNvSpPr/>
          <p:nvPr/>
        </p:nvSpPr>
        <p:spPr>
          <a:xfrm>
            <a:off x="566928" y="5074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Shape 8"/>
          <p:cNvSpPr/>
          <p:nvPr/>
        </p:nvSpPr>
        <p:spPr>
          <a:xfrm>
            <a:off x="566928" y="5074920"/>
            <a:ext cx="91440" cy="82296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Text 9"/>
          <p:cNvSpPr/>
          <p:nvPr/>
        </p:nvSpPr>
        <p:spPr>
          <a:xfrm>
            <a:off x="841248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整个流程在测试时进行，无需重训练或修复后门 CLIP —— 仅分析输入与模型特征。</a:t>
            </a:r>
            <a:endParaRPr lang="en-US" sz="1300" dirty="0"/>
          </a:p>
        </p:txBody>
      </p:sp>
      <p:sp>
        <p:nvSpPr>
          <p:cNvPr id="231" name="Text 1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232" name="Text 1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30</a:t>
            </a:r>
            <a:endParaRPr lang="en-US" sz="900" dirty="0"/>
          </a:p>
        </p:txBody>
      </p:sp>
      <p:sp>
        <p:nvSpPr>
          <p:cNvPr id="16" name="矩形 15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24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2"/>
          <p:cNvSpPr/>
          <p:nvPr/>
        </p:nvSpPr>
        <p:spPr>
          <a:xfrm>
            <a:off x="2257124" y="13030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L2 Distance? (Table 10)</a:t>
            </a:r>
            <a:endParaRPr lang="en-US" sz="2500" dirty="0">
              <a:solidFill>
                <a:schemeClr val="bg1"/>
              </a:solidFill>
            </a:endParaRPr>
          </a:p>
        </p:txBody>
      </p:sp>
      <p:graphicFrame>
        <p:nvGraphicFramePr>
          <p:cNvPr id="238" name="Table 0"/>
          <p:cNvGraphicFramePr>
            <a:graphicFrameLocks noGrp="1"/>
          </p:cNvGraphicFramePr>
          <p:nvPr/>
        </p:nvGraphicFramePr>
        <p:xfrm>
          <a:off x="640080" y="1828800"/>
          <a:ext cx="4023360" cy="201168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Attack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L1 AUROC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L2 AUROC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BadNets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0.671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SIG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0.525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0.692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WaNet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0.872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0.931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BadCLIP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0.490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0.966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239" name="Shape 4"/>
          <p:cNvSpPr/>
          <p:nvPr/>
        </p:nvSpPr>
        <p:spPr>
          <a:xfrm>
            <a:off x="5029200" y="182880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0" name="Text 5"/>
          <p:cNvSpPr/>
          <p:nvPr/>
        </p:nvSpPr>
        <p:spPr>
          <a:xfrm>
            <a:off x="5303520" y="201168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与 PCA / 高斯建模一致：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PCA 在 L2 意义下最小化重构误差 → 子空间构造与距离度量同几何。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残差 δ = zᵥ − z_d ≈ N(0,σ²I)；其负对数似然 ∝ ‖δ‖₂²，L2 是充分统计量。</a:t>
            </a:r>
            <a:endParaRPr lang="en-US" sz="1250" dirty="0"/>
          </a:p>
        </p:txBody>
      </p:sp>
      <p:pic>
        <p:nvPicPr>
          <p:cNvPr id="241" name="Image 0" descr="/workspace/ppt_clip/assets/f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4023360" cy="669487"/>
          </a:xfrm>
          <a:prstGeom prst="rect">
            <a:avLst/>
          </a:prstGeom>
        </p:spPr>
      </p:pic>
      <p:sp>
        <p:nvSpPr>
          <p:cNvPr id="242" name="Shape 6"/>
          <p:cNvSpPr/>
          <p:nvPr/>
        </p:nvSpPr>
        <p:spPr>
          <a:xfrm>
            <a:off x="5029200" y="406908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FC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3" name="Shape 7"/>
          <p:cNvSpPr/>
          <p:nvPr/>
        </p:nvSpPr>
        <p:spPr>
          <a:xfrm>
            <a:off x="5029200" y="4069080"/>
            <a:ext cx="91440" cy="146304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Text 8"/>
          <p:cNvSpPr/>
          <p:nvPr/>
        </p:nvSpPr>
        <p:spPr>
          <a:xfrm>
            <a:off x="5303520" y="406908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实证：用 L1 替换 L2 后各攻击检测性能明显下降（Table 10）。故 Subspace Detection 采用 Euclidean / L2 距离。</a:t>
            </a:r>
            <a:endParaRPr lang="en-US" sz="1250" dirty="0"/>
          </a:p>
        </p:txBody>
      </p:sp>
      <p:sp>
        <p:nvSpPr>
          <p:cNvPr id="245" name="Text 9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246" name="Text 10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30</a:t>
            </a:r>
            <a:endParaRPr lang="en-US" sz="900" dirty="0"/>
          </a:p>
        </p:txBody>
      </p:sp>
      <p:sp>
        <p:nvSpPr>
          <p:cNvPr id="15" name="矩形 14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2053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2"/>
          <p:cNvSpPr/>
          <p:nvPr/>
        </p:nvSpPr>
        <p:spPr>
          <a:xfrm>
            <a:off x="2249424" y="14690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Complete Algorithm (Algorithm 1)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52" name="Shape 4"/>
          <p:cNvSpPr/>
          <p:nvPr/>
        </p:nvSpPr>
        <p:spPr>
          <a:xfrm>
            <a:off x="45720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3" name="Text 5"/>
          <p:cNvSpPr/>
          <p:nvPr/>
        </p:nvSpPr>
        <p:spPr>
          <a:xfrm>
            <a:off x="49377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 label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text t, zₜ</a:t>
            </a:r>
            <a:endParaRPr lang="en-US" sz="1050" dirty="0"/>
          </a:p>
        </p:txBody>
      </p:sp>
      <p:sp>
        <p:nvSpPr>
          <p:cNvPr id="254" name="Shape 6"/>
          <p:cNvSpPr/>
          <p:nvPr/>
        </p:nvSpPr>
        <p:spPr>
          <a:xfrm>
            <a:off x="195681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5" name="Shape 7"/>
          <p:cNvSpPr/>
          <p:nvPr/>
        </p:nvSpPr>
        <p:spPr>
          <a:xfrm>
            <a:off x="210312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4A7BC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6" name="Text 8"/>
          <p:cNvSpPr/>
          <p:nvPr/>
        </p:nvSpPr>
        <p:spPr>
          <a:xfrm>
            <a:off x="213969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 m=9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variants → Zₜ</a:t>
            </a:r>
            <a:endParaRPr lang="en-US" sz="1050" dirty="0"/>
          </a:p>
        </p:txBody>
      </p:sp>
      <p:sp>
        <p:nvSpPr>
          <p:cNvPr id="257" name="Shape 9"/>
          <p:cNvSpPr/>
          <p:nvPr/>
        </p:nvSpPr>
        <p:spPr>
          <a:xfrm>
            <a:off x="360273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8" name="Shape 10"/>
          <p:cNvSpPr/>
          <p:nvPr/>
        </p:nvSpPr>
        <p:spPr>
          <a:xfrm>
            <a:off x="374904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4A7BC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9" name="Text 11"/>
          <p:cNvSpPr/>
          <p:nvPr/>
        </p:nvSpPr>
        <p:spPr>
          <a:xfrm>
            <a:off x="378561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PCA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K-dim subspace S</a:t>
            </a:r>
            <a:endParaRPr lang="en-US" sz="1050" dirty="0"/>
          </a:p>
        </p:txBody>
      </p:sp>
      <p:sp>
        <p:nvSpPr>
          <p:cNvPr id="260" name="Shape 12"/>
          <p:cNvSpPr/>
          <p:nvPr/>
        </p:nvSpPr>
        <p:spPr>
          <a:xfrm>
            <a:off x="524865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1" name="Shape 13"/>
          <p:cNvSpPr/>
          <p:nvPr/>
        </p:nvSpPr>
        <p:spPr>
          <a:xfrm>
            <a:off x="539496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2" name="Text 14"/>
          <p:cNvSpPr/>
          <p:nvPr/>
        </p:nvSpPr>
        <p:spPr>
          <a:xfrm>
            <a:off x="543153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 L=3: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 +ROI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+Gaussian pₗ</a:t>
            </a:r>
            <a:endParaRPr lang="en-US" sz="1050" dirty="0"/>
          </a:p>
        </p:txBody>
      </p:sp>
      <p:sp>
        <p:nvSpPr>
          <p:cNvPr id="263" name="Shape 15"/>
          <p:cNvSpPr/>
          <p:nvPr/>
        </p:nvSpPr>
        <p:spPr>
          <a:xfrm>
            <a:off x="689457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4" name="Shape 16"/>
          <p:cNvSpPr/>
          <p:nvPr/>
        </p:nvSpPr>
        <p:spPr>
          <a:xfrm>
            <a:off x="704088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8743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5" name="Text 17"/>
          <p:cNvSpPr/>
          <p:nvPr/>
        </p:nvSpPr>
        <p:spPr>
          <a:xfrm>
            <a:off x="707745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p_mix =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uniform mixture</a:t>
            </a:r>
            <a:endParaRPr lang="en-US" sz="1050" dirty="0"/>
          </a:p>
        </p:txBody>
      </p:sp>
      <p:sp>
        <p:nvSpPr>
          <p:cNvPr id="266" name="Shape 18"/>
          <p:cNvSpPr/>
          <p:nvPr/>
        </p:nvSpPr>
        <p:spPr>
          <a:xfrm>
            <a:off x="854049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7" name="Shape 19"/>
          <p:cNvSpPr/>
          <p:nvPr/>
        </p:nvSpPr>
        <p:spPr>
          <a:xfrm>
            <a:off x="868680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8" name="Text 20"/>
          <p:cNvSpPr/>
          <p:nvPr/>
        </p:nvSpPr>
        <p:spPr>
          <a:xfrm>
            <a:off x="872337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 nₛ=15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d̄ → τ′</a:t>
            </a:r>
            <a:endParaRPr lang="en-US" sz="1050" dirty="0"/>
          </a:p>
        </p:txBody>
      </p:sp>
      <p:sp>
        <p:nvSpPr>
          <p:cNvPr id="269" name="Shape 21"/>
          <p:cNvSpPr/>
          <p:nvPr/>
        </p:nvSpPr>
        <p:spPr>
          <a:xfrm>
            <a:off x="10186416" y="2857500"/>
            <a:ext cx="128016" cy="0"/>
          </a:xfrm>
          <a:prstGeom prst="line">
            <a:avLst/>
          </a:prstGeom>
          <a:noFill/>
          <a:ln w="27940">
            <a:solidFill>
              <a:srgbClr val="6B778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0" name="Shape 22"/>
          <p:cNvSpPr/>
          <p:nvPr/>
        </p:nvSpPr>
        <p:spPr>
          <a:xfrm>
            <a:off x="10332720" y="228600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2E9E7B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1" name="Text 23"/>
          <p:cNvSpPr/>
          <p:nvPr/>
        </p:nvSpPr>
        <p:spPr>
          <a:xfrm>
            <a:off x="10369296" y="228600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B∈{0,1}</a:t>
            </a:r>
            <a:endParaRPr lang="en-US" sz="1050" dirty="0"/>
          </a:p>
        </p:txBody>
      </p:sp>
      <p:sp>
        <p:nvSpPr>
          <p:cNvPr id="272" name="Shape 24"/>
          <p:cNvSpPr/>
          <p:nvPr/>
        </p:nvSpPr>
        <p:spPr>
          <a:xfrm>
            <a:off x="457200" y="384048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BEF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3" name="Shape 25"/>
          <p:cNvSpPr/>
          <p:nvPr/>
        </p:nvSpPr>
        <p:spPr>
          <a:xfrm>
            <a:off x="457200" y="3840480"/>
            <a:ext cx="91440" cy="100584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Text 26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一次完整推理：从测试图像 v 出发，经变体收集、PCA 子空间、ROI 高斯混合、采样与 L2 距离，最终输出二值判定 B。</a:t>
            </a:r>
            <a:endParaRPr lang="en-US" sz="1300" dirty="0"/>
          </a:p>
        </p:txBody>
      </p:sp>
      <p:sp>
        <p:nvSpPr>
          <p:cNvPr id="275" name="Text 27"/>
          <p:cNvSpPr/>
          <p:nvPr/>
        </p:nvSpPr>
        <p:spPr>
          <a:xfrm>
            <a:off x="457200" y="5029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ROI 建模以“类”为单位、可离线预计算一次，在线检测仅采样+算距，效率高（S28 计算开销）。</a:t>
            </a:r>
            <a:endParaRPr lang="en-US" sz="1250" dirty="0"/>
          </a:p>
        </p:txBody>
      </p:sp>
      <p:sp>
        <p:nvSpPr>
          <p:cNvPr id="276" name="Text 28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277" name="Text 29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/ 30</a:t>
            </a:r>
            <a:endParaRPr lang="en-US" sz="900" dirty="0"/>
          </a:p>
        </p:txBody>
      </p:sp>
      <p:sp>
        <p:nvSpPr>
          <p:cNvPr id="32" name="矩形 3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1"/>
          <p:cNvSpPr/>
          <p:nvPr/>
        </p:nvSpPr>
        <p:spPr>
          <a:xfrm>
            <a:off x="566928" y="36804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tx2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5446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Text 1"/>
          <p:cNvSpPr/>
          <p:nvPr/>
        </p:nvSpPr>
        <p:spPr>
          <a:xfrm>
            <a:off x="384048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1" name="Text 2"/>
          <p:cNvSpPr/>
          <p:nvPr/>
        </p:nvSpPr>
        <p:spPr>
          <a:xfrm>
            <a:off x="2269156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Experimental Setup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83" name="Shape 4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4" name="Shape 5"/>
          <p:cNvSpPr/>
          <p:nvPr/>
        </p:nvSpPr>
        <p:spPr>
          <a:xfrm>
            <a:off x="566928" y="1828800"/>
            <a:ext cx="109728" cy="178308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Text 6"/>
          <p:cNvSpPr/>
          <p:nvPr/>
        </p:nvSpPr>
        <p:spPr>
          <a:xfrm>
            <a:off x="841248" y="2029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&amp; Data</a:t>
            </a:r>
            <a:endParaRPr lang="en-US" sz="1500" dirty="0"/>
          </a:p>
        </p:txBody>
      </p:sp>
      <p:sp>
        <p:nvSpPr>
          <p:cNvPr id="286" name="Text 7"/>
          <p:cNvSpPr/>
          <p:nvPr/>
        </p:nvSpPr>
        <p:spPr>
          <a:xfrm>
            <a:off x="841248" y="25420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CLIP + ResNet-50（ViT-B/32 见附录）；500K CC3M image-text pairs 预训练。</a:t>
            </a:r>
            <a:endParaRPr lang="en-US" sz="1250" dirty="0"/>
          </a:p>
        </p:txBody>
      </p:sp>
      <p:sp>
        <p:nvSpPr>
          <p:cNvPr id="287" name="Shape 8"/>
          <p:cNvSpPr/>
          <p:nvPr/>
        </p:nvSpPr>
        <p:spPr>
          <a:xfrm>
            <a:off x="6190488" y="18288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8" name="Shape 9"/>
          <p:cNvSpPr/>
          <p:nvPr/>
        </p:nvSpPr>
        <p:spPr>
          <a:xfrm>
            <a:off x="6190488" y="1828800"/>
            <a:ext cx="109728" cy="178308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Text 10"/>
          <p:cNvSpPr/>
          <p:nvPr/>
        </p:nvSpPr>
        <p:spPr>
          <a:xfrm>
            <a:off x="6464808" y="2029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Backdoor Attacks</a:t>
            </a:r>
            <a:endParaRPr lang="en-US" sz="1500" dirty="0"/>
          </a:p>
        </p:txBody>
      </p:sp>
      <p:sp>
        <p:nvSpPr>
          <p:cNvPr id="290" name="Text 11"/>
          <p:cNvSpPr/>
          <p:nvPr/>
        </p:nvSpPr>
        <p:spPr>
          <a:xfrm>
            <a:off x="6464808" y="25420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BadNets, Blended, SIG, WaNet, TrojVQA, Carlini&amp;Terzis, BadCLIP；target label = banana。</a:t>
            </a:r>
            <a:endParaRPr lang="en-US" sz="1250" dirty="0"/>
          </a:p>
        </p:txBody>
      </p:sp>
      <p:sp>
        <p:nvSpPr>
          <p:cNvPr id="291" name="Shape 12"/>
          <p:cNvSpPr/>
          <p:nvPr/>
        </p:nvSpPr>
        <p:spPr>
          <a:xfrm>
            <a:off x="566928" y="381304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2" name="Shape 13"/>
          <p:cNvSpPr/>
          <p:nvPr/>
        </p:nvSpPr>
        <p:spPr>
          <a:xfrm>
            <a:off x="566928" y="3813048"/>
            <a:ext cx="109728" cy="1783080"/>
          </a:xfrm>
          <a:prstGeom prst="rect">
            <a:avLst/>
          </a:prstGeom>
          <a:solidFill>
            <a:srgbClr val="4A7B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3" name="Text 14"/>
          <p:cNvSpPr/>
          <p:nvPr/>
        </p:nvSpPr>
        <p:spPr>
          <a:xfrm>
            <a:off x="841248" y="40142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Downstream Sets</a:t>
            </a:r>
            <a:endParaRPr lang="en-US" sz="1500" dirty="0"/>
          </a:p>
        </p:txBody>
      </p:sp>
      <p:sp>
        <p:nvSpPr>
          <p:cNvPr id="294" name="Text 15"/>
          <p:cNvSpPr/>
          <p:nvPr/>
        </p:nvSpPr>
        <p:spPr>
          <a:xfrm>
            <a:off x="841248" y="4526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ImageNet-1K / ImageNet-R / ImageNet-Sketch（零样本分类）。</a:t>
            </a:r>
            <a:endParaRPr lang="en-US" sz="1250" dirty="0"/>
          </a:p>
        </p:txBody>
      </p:sp>
      <p:sp>
        <p:nvSpPr>
          <p:cNvPr id="295" name="Shape 16"/>
          <p:cNvSpPr/>
          <p:nvPr/>
        </p:nvSpPr>
        <p:spPr>
          <a:xfrm>
            <a:off x="6190488" y="381304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6" name="Shape 17"/>
          <p:cNvSpPr/>
          <p:nvPr/>
        </p:nvSpPr>
        <p:spPr>
          <a:xfrm>
            <a:off x="6190488" y="3813048"/>
            <a:ext cx="109728" cy="178308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7" name="Text 18"/>
          <p:cNvSpPr/>
          <p:nvPr/>
        </p:nvSpPr>
        <p:spPr>
          <a:xfrm>
            <a:off x="6464808" y="40142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Metrics</a:t>
            </a:r>
            <a:endParaRPr lang="en-US" sz="1500" dirty="0"/>
          </a:p>
        </p:txBody>
      </p:sp>
      <p:sp>
        <p:nvSpPr>
          <p:cNvPr id="298" name="Text 19"/>
          <p:cNvSpPr/>
          <p:nvPr/>
        </p:nvSpPr>
        <p:spPr>
          <a:xfrm>
            <a:off x="6464808" y="4526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AUROC 与 F1-score（权衡 TPR/FPR 与 precision/recall）。</a:t>
            </a:r>
            <a:endParaRPr lang="en-US" sz="1250" dirty="0"/>
          </a:p>
        </p:txBody>
      </p:sp>
      <p:sp>
        <p:nvSpPr>
          <p:cNvPr id="299" name="Text 2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00" name="Text 2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/ 30</a:t>
            </a:r>
            <a:endParaRPr lang="en-US" sz="900" dirty="0"/>
          </a:p>
        </p:txBody>
      </p:sp>
      <p:sp>
        <p:nvSpPr>
          <p:cNvPr id="24" name="矩形 23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475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2"/>
          <p:cNvSpPr/>
          <p:nvPr/>
        </p:nvSpPr>
        <p:spPr>
          <a:xfrm>
            <a:off x="2269156" y="12801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 Results (Table 2, ResNet-50)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306" name="Image 0" descr="/workspace/ppt_clip/assets/d_main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5852160" cy="3566160"/>
          </a:xfrm>
          <a:prstGeom prst="rect">
            <a:avLst/>
          </a:prstGeom>
        </p:spPr>
      </p:pic>
      <p:graphicFrame>
        <p:nvGraphicFramePr>
          <p:cNvPr id="307" name="Table 0"/>
          <p:cNvGraphicFramePr>
            <a:graphicFrameLocks noGrp="1"/>
          </p:cNvGraphicFramePr>
          <p:nvPr/>
        </p:nvGraphicFramePr>
        <p:xfrm>
          <a:off x="6675120" y="2194560"/>
          <a:ext cx="493776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Dataset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AUROC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F1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ImageNet-1K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0.922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0.913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ImageNet-R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0.858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0.875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ImageNet-Sketch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0.873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0.882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308" name="Shape 4"/>
          <p:cNvSpPr/>
          <p:nvPr/>
        </p:nvSpPr>
        <p:spPr>
          <a:xfrm>
            <a:off x="6675120" y="411480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9" name="Shape 5"/>
          <p:cNvSpPr/>
          <p:nvPr/>
        </p:nvSpPr>
        <p:spPr>
          <a:xfrm>
            <a:off x="6675120" y="4114800"/>
            <a:ext cx="91440" cy="146304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0" name="Text 6"/>
          <p:cNvSpPr/>
          <p:nvPr/>
        </p:nvSpPr>
        <p:spPr>
          <a:xfrm>
            <a:off x="6949440" y="41148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在 7 种攻击 × 3 个数据集上一致领先：平均 AUROC 远超 SCALE-UP / STRIP 及单变换多模态基线。</a:t>
            </a:r>
            <a:endParaRPr lang="en-US" sz="1250" dirty="0"/>
          </a:p>
        </p:txBody>
      </p:sp>
      <p:sp>
        <p:nvSpPr>
          <p:cNvPr id="311" name="Text 7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12" name="Text 8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/ 30</a:t>
            </a:r>
            <a:endParaRPr lang="en-US" sz="900" dirty="0"/>
          </a:p>
        </p:txBody>
      </p:sp>
      <p:sp>
        <p:nvSpPr>
          <p:cNvPr id="13" name="矩形 12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"/>
          <p:cNvSpPr/>
          <p:nvPr/>
        </p:nvSpPr>
        <p:spPr>
          <a:xfrm>
            <a:off x="384048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638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2"/>
          <p:cNvSpPr/>
          <p:nvPr/>
        </p:nvSpPr>
        <p:spPr>
          <a:xfrm>
            <a:off x="2212848" y="128989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Ablation Studies (Table 3 &amp; 4)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18" name="Text 4"/>
          <p:cNvSpPr/>
          <p:nvPr/>
        </p:nvSpPr>
        <p:spPr>
          <a:xfrm>
            <a:off x="566928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Positive vs Negative Direction (Table 3)</a:t>
            </a:r>
            <a:endParaRPr lang="en-US" sz="1300" dirty="0"/>
          </a:p>
        </p:txBody>
      </p:sp>
      <p:graphicFrame>
        <p:nvGraphicFramePr>
          <p:cNvPr id="319" name="Table 0"/>
          <p:cNvGraphicFramePr>
            <a:graphicFrameLocks noGrp="1"/>
          </p:cNvGraphicFramePr>
          <p:nvPr/>
        </p:nvGraphicFramePr>
        <p:xfrm>
          <a:off x="566928" y="2148840"/>
          <a:ext cx="329184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Attack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Pos.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Neg.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BadNets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0.525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C&amp;T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0.994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WaNet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0.931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0.246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320" name="Text 5"/>
          <p:cNvSpPr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Individual vs Subspace (Table 4, AUROC)</a:t>
            </a:r>
            <a:endParaRPr lang="en-US" sz="1300" dirty="0"/>
          </a:p>
        </p:txBody>
      </p:sp>
      <p:graphicFrame>
        <p:nvGraphicFramePr>
          <p:cNvPr id="321" name="Table 1"/>
          <p:cNvGraphicFramePr>
            <a:graphicFrameLocks noGrp="1"/>
          </p:cNvGraphicFramePr>
          <p:nvPr/>
        </p:nvGraphicFramePr>
        <p:xfrm>
          <a:off x="6035040" y="2148840"/>
          <a:ext cx="5394960" cy="146304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Setting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BadNets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BadCLIP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Min(single)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0.749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0.949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Font+Desc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0.953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0.968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All (3)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0.962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0.966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322" name="Shape 6"/>
          <p:cNvSpPr/>
          <p:nvPr/>
        </p:nvSpPr>
        <p:spPr>
          <a:xfrm>
            <a:off x="566928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3" name="Shape 7"/>
          <p:cNvSpPr/>
          <p:nvPr/>
        </p:nvSpPr>
        <p:spPr>
          <a:xfrm>
            <a:off x="566928" y="3931920"/>
            <a:ext cx="91440" cy="91440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4" name="Text 8"/>
          <p:cNvSpPr/>
          <p:nvPr/>
        </p:nvSpPr>
        <p:spPr>
          <a:xfrm>
            <a:off x="841248" y="3931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正方向采样是 ROI 判别力的来源；多变换协同（synergy）优于单变换 —— 性能主要来自 manifold approximation 与 positive direction。</a:t>
            </a:r>
            <a:endParaRPr lang="en-US" sz="1250" dirty="0"/>
          </a:p>
        </p:txBody>
      </p:sp>
      <p:sp>
        <p:nvSpPr>
          <p:cNvPr id="325" name="Text 9"/>
          <p:cNvSpPr/>
          <p:nvPr/>
        </p:nvSpPr>
        <p:spPr>
          <a:xfrm>
            <a:off x="566928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（另：建模采样数 n 与检测采样数 n_s 增大均提升 AUROC/F1；L 从 1→3 性能上升后趋稳。）</a:t>
            </a:r>
            <a:endParaRPr lang="en-US" sz="1150" dirty="0"/>
          </a:p>
        </p:txBody>
      </p:sp>
      <p:sp>
        <p:nvSpPr>
          <p:cNvPr id="326" name="Text 10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27" name="Text 11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/ 30</a:t>
            </a:r>
            <a:endParaRPr lang="en-US" sz="900" dirty="0"/>
          </a:p>
        </p:txBody>
      </p:sp>
      <p:sp>
        <p:nvSpPr>
          <p:cNvPr id="16" name="矩形 15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"/>
          <p:cNvSpPr/>
          <p:nvPr/>
        </p:nvSpPr>
        <p:spPr>
          <a:xfrm>
            <a:off x="384048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409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2"/>
          <p:cNvSpPr/>
          <p:nvPr/>
        </p:nvSpPr>
        <p:spPr>
          <a:xfrm>
            <a:off x="2305250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Adaptive Attack &amp; Generalization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333" name="Image 0" descr="/workspace/ppt_clip/assets/d_ada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400800" cy="3657600"/>
          </a:xfrm>
          <a:prstGeom prst="rect">
            <a:avLst/>
          </a:prstGeom>
        </p:spPr>
      </p:pic>
      <p:sp>
        <p:nvSpPr>
          <p:cNvPr id="334" name="Text 4"/>
          <p:cNvSpPr/>
          <p:nvPr/>
        </p:nvSpPr>
        <p:spPr>
          <a:xfrm>
            <a:off x="71323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Generalization (ViT-B/32, Table 8)</a:t>
            </a:r>
            <a:endParaRPr lang="en-US" sz="1300" dirty="0"/>
          </a:p>
        </p:txBody>
      </p:sp>
      <p:sp>
        <p:nvSpPr>
          <p:cNvPr id="335" name="Shape 5"/>
          <p:cNvSpPr/>
          <p:nvPr/>
        </p:nvSpPr>
        <p:spPr>
          <a:xfrm>
            <a:off x="7132320" y="219456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EA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6" name="Text 6"/>
          <p:cNvSpPr/>
          <p:nvPr/>
        </p:nvSpPr>
        <p:spPr>
          <a:xfrm>
            <a:off x="7315200" y="21945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ImageNet-1K</a:t>
            </a:r>
            <a:endParaRPr lang="en-US" sz="1300" dirty="0"/>
          </a:p>
        </p:txBody>
      </p:sp>
      <p:sp>
        <p:nvSpPr>
          <p:cNvPr id="337" name="Text 7"/>
          <p:cNvSpPr/>
          <p:nvPr/>
        </p:nvSpPr>
        <p:spPr>
          <a:xfrm>
            <a:off x="9692640" y="21945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AUROC 0.934</a:t>
            </a:r>
            <a:endParaRPr lang="en-US" sz="1500" dirty="0"/>
          </a:p>
        </p:txBody>
      </p:sp>
      <p:sp>
        <p:nvSpPr>
          <p:cNvPr id="338" name="Shape 8"/>
          <p:cNvSpPr/>
          <p:nvPr/>
        </p:nvSpPr>
        <p:spPr>
          <a:xfrm>
            <a:off x="7132320" y="306324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EA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9" name="Text 9"/>
          <p:cNvSpPr/>
          <p:nvPr/>
        </p:nvSpPr>
        <p:spPr>
          <a:xfrm>
            <a:off x="7315200" y="30632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ImageNet-R</a:t>
            </a:r>
            <a:endParaRPr lang="en-US" sz="1300" dirty="0"/>
          </a:p>
        </p:txBody>
      </p:sp>
      <p:sp>
        <p:nvSpPr>
          <p:cNvPr id="340" name="Text 10"/>
          <p:cNvSpPr/>
          <p:nvPr/>
        </p:nvSpPr>
        <p:spPr>
          <a:xfrm>
            <a:off x="9692640" y="30632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AUROC 0.933</a:t>
            </a:r>
            <a:endParaRPr lang="en-US" sz="1500" dirty="0"/>
          </a:p>
        </p:txBody>
      </p:sp>
      <p:sp>
        <p:nvSpPr>
          <p:cNvPr id="341" name="Shape 11"/>
          <p:cNvSpPr/>
          <p:nvPr/>
        </p:nvSpPr>
        <p:spPr>
          <a:xfrm>
            <a:off x="7132320" y="393192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EAF0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2" name="Text 12"/>
          <p:cNvSpPr/>
          <p:nvPr/>
        </p:nvSpPr>
        <p:spPr>
          <a:xfrm>
            <a:off x="7315200" y="39319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ImageNet-Sketch</a:t>
            </a:r>
            <a:endParaRPr lang="en-US" sz="1300" dirty="0"/>
          </a:p>
        </p:txBody>
      </p:sp>
      <p:sp>
        <p:nvSpPr>
          <p:cNvPr id="343" name="Text 13"/>
          <p:cNvSpPr/>
          <p:nvPr/>
        </p:nvSpPr>
        <p:spPr>
          <a:xfrm>
            <a:off x="9692640" y="39319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AUROC 0.928</a:t>
            </a:r>
            <a:endParaRPr lang="en-US" sz="1500" dirty="0"/>
          </a:p>
        </p:txBody>
      </p:sp>
      <p:sp>
        <p:nvSpPr>
          <p:cNvPr id="344" name="Shape 14"/>
          <p:cNvSpPr/>
          <p:nvPr/>
        </p:nvSpPr>
        <p:spPr>
          <a:xfrm>
            <a:off x="7132320" y="48920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Shape 15"/>
          <p:cNvSpPr/>
          <p:nvPr/>
        </p:nvSpPr>
        <p:spPr>
          <a:xfrm>
            <a:off x="7132320" y="4892040"/>
            <a:ext cx="91440" cy="960120"/>
          </a:xfrm>
          <a:prstGeom prst="rect">
            <a:avLst/>
          </a:prstGeom>
          <a:solidFill>
            <a:srgbClr val="2E9E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Text 16"/>
          <p:cNvSpPr/>
          <p:nvPr/>
        </p:nvSpPr>
        <p:spPr>
          <a:xfrm>
            <a:off x="7406640" y="48920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完全知晓三种变换时 AUROC = 0.6559：仍不彻底失效 —— 这是方法的重要 robustness boundary。</a:t>
            </a:r>
            <a:endParaRPr lang="en-US" sz="1150" dirty="0"/>
          </a:p>
        </p:txBody>
      </p:sp>
      <p:sp>
        <p:nvSpPr>
          <p:cNvPr id="347" name="Text 17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48" name="Text 18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/ 30</a:t>
            </a:r>
            <a:endParaRPr lang="en-US" sz="900" dirty="0"/>
          </a:p>
        </p:txBody>
      </p:sp>
      <p:sp>
        <p:nvSpPr>
          <p:cNvPr id="22" name="矩形 21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"/>
          <p:cNvSpPr/>
          <p:nvPr/>
        </p:nvSpPr>
        <p:spPr>
          <a:xfrm>
            <a:off x="384048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EXPERIMENTS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433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Text 1"/>
          <p:cNvSpPr/>
          <p:nvPr/>
        </p:nvSpPr>
        <p:spPr>
          <a:xfrm>
            <a:off x="502920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DISCUSSION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2" name="Text 2"/>
          <p:cNvSpPr/>
          <p:nvPr/>
        </p:nvSpPr>
        <p:spPr>
          <a:xfrm>
            <a:off x="2245092" y="1417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Limitations &amp; My Analysis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54" name="Shape 4"/>
          <p:cNvSpPr/>
          <p:nvPr/>
        </p:nvSpPr>
        <p:spPr>
          <a:xfrm>
            <a:off x="566928" y="182880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5" name="Shape 5"/>
          <p:cNvSpPr/>
          <p:nvPr/>
        </p:nvSpPr>
        <p:spPr>
          <a:xfrm>
            <a:off x="566928" y="1828800"/>
            <a:ext cx="5440680" cy="45720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6" name="Text 6"/>
          <p:cNvSpPr/>
          <p:nvPr/>
        </p:nvSpPr>
        <p:spPr>
          <a:xfrm>
            <a:off x="749808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论文明确局限 (Sec. G)</a:t>
            </a:r>
            <a:endParaRPr lang="en-US" sz="1400" dirty="0"/>
          </a:p>
        </p:txBody>
      </p:sp>
      <p:sp>
        <p:nvSpPr>
          <p:cNvPr id="357" name="Text 7"/>
          <p:cNvSpPr/>
          <p:nvPr/>
        </p:nvSpPr>
        <p:spPr>
          <a:xfrm>
            <a:off x="777240" y="24231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生成变体（尤其改述与翻译）依赖 LLM，产生 API 开销。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依赖可能限制方法在实际中的可扩展性 (scalability)。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作者计划接入外部翻译系统或自训描述模型以降本。</a:t>
            </a:r>
            <a:endParaRPr lang="en-US" sz="1250" dirty="0"/>
          </a:p>
        </p:txBody>
      </p:sp>
      <p:sp>
        <p:nvSpPr>
          <p:cNvPr id="358" name="Shape 8"/>
          <p:cNvSpPr/>
          <p:nvPr/>
        </p:nvSpPr>
        <p:spPr>
          <a:xfrm>
            <a:off x="612648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1ECF8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9" name="Shape 9"/>
          <p:cNvSpPr/>
          <p:nvPr/>
        </p:nvSpPr>
        <p:spPr>
          <a:xfrm>
            <a:off x="6126480" y="1828800"/>
            <a:ext cx="5486400" cy="4572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Text 10"/>
          <p:cNvSpPr/>
          <p:nvPr/>
        </p:nvSpPr>
        <p:spPr>
          <a:xfrm>
            <a:off x="630936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【个人思考 · 非论文结论】</a:t>
            </a:r>
            <a:endParaRPr lang="en-US" sz="1400" dirty="0"/>
          </a:p>
        </p:txBody>
      </p:sp>
      <p:sp>
        <p:nvSpPr>
          <p:cNvPr id="361" name="Text 11"/>
          <p:cNvSpPr/>
          <p:nvPr/>
        </p:nvSpPr>
        <p:spPr>
          <a:xfrm>
            <a:off x="635508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若攻击者直接针对整个 semantic neighborhood 优化（而不只是单点 target），检测是否仍然有效？论文假设攻击者仅建立 target 单点关联。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PCA 是局部线性近似；真实 text manifold 可能具非线性结构，复杂语义下近似误差或削弱 ROI 判别力。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文本变换质量直接影响流形近似：LLM 生成的变体若偏离真实语义邻域，可能引入偏差。</a:t>
            </a:r>
            <a:endParaRPr lang="en-US" sz="1250" dirty="0"/>
          </a:p>
        </p:txBody>
      </p:sp>
      <p:sp>
        <p:nvSpPr>
          <p:cNvPr id="362" name="Text 12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363" name="Text 13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/ 30</a:t>
            </a:r>
            <a:endParaRPr lang="en-US" sz="900" dirty="0"/>
          </a:p>
        </p:txBody>
      </p:sp>
      <p:sp>
        <p:nvSpPr>
          <p:cNvPr id="16" name="矩形 15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367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 2"/>
          <p:cNvSpPr/>
          <p:nvPr/>
        </p:nvSpPr>
        <p:spPr>
          <a:xfrm>
            <a:off x="2233061" y="108044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Takeaways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91" name="Shape 4"/>
          <p:cNvSpPr/>
          <p:nvPr/>
        </p:nvSpPr>
        <p:spPr>
          <a:xfrm>
            <a:off x="566928" y="1828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2" name="Shape 5"/>
          <p:cNvSpPr/>
          <p:nvPr/>
        </p:nvSpPr>
        <p:spPr>
          <a:xfrm>
            <a:off x="566928" y="1828800"/>
            <a:ext cx="109728" cy="822960"/>
          </a:xfrm>
          <a:prstGeom prst="rect">
            <a:avLst/>
          </a:prstGeom>
          <a:solidFill>
            <a:srgbClr val="2233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3" name="Text 6"/>
          <p:cNvSpPr/>
          <p:nvPr/>
        </p:nvSpPr>
        <p:spPr>
          <a:xfrm>
            <a:off x="8229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insight</a:t>
            </a:r>
            <a:endParaRPr lang="en-US" sz="1400" dirty="0"/>
          </a:p>
        </p:txBody>
      </p:sp>
      <p:sp>
        <p:nvSpPr>
          <p:cNvPr id="394" name="Text 7"/>
          <p:cNvSpPr/>
          <p:nvPr/>
        </p:nvSpPr>
        <p:spPr>
          <a:xfrm>
            <a:off x="3291840" y="18288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 benign matching vs. Shallow malicious matching：后门让 poisoned 仅浅层匹配 target 单点。</a:t>
            </a:r>
            <a:endParaRPr lang="en-US" sz="1300" dirty="0"/>
          </a:p>
        </p:txBody>
      </p:sp>
      <p:sp>
        <p:nvSpPr>
          <p:cNvPr id="395" name="Shape 8"/>
          <p:cNvSpPr/>
          <p:nvPr/>
        </p:nvSpPr>
        <p:spPr>
          <a:xfrm>
            <a:off x="566928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6" name="Shape 9"/>
          <p:cNvSpPr/>
          <p:nvPr/>
        </p:nvSpPr>
        <p:spPr>
          <a:xfrm>
            <a:off x="566928" y="2788920"/>
            <a:ext cx="109728" cy="82296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Text 10"/>
          <p:cNvSpPr/>
          <p:nvPr/>
        </p:nvSpPr>
        <p:spPr>
          <a:xfrm>
            <a:off x="82296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Paradigm shift</a:t>
            </a:r>
            <a:endParaRPr lang="en-US" sz="1400" dirty="0"/>
          </a:p>
        </p:txBody>
      </p:sp>
      <p:sp>
        <p:nvSpPr>
          <p:cNvPr id="398" name="Text 11"/>
          <p:cNvSpPr/>
          <p:nvPr/>
        </p:nvSpPr>
        <p:spPr>
          <a:xfrm>
            <a:off x="3291840" y="27889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single-point matching → semantic-neighborhood matching。</a:t>
            </a:r>
            <a:endParaRPr lang="en-US" sz="1300" dirty="0"/>
          </a:p>
        </p:txBody>
      </p:sp>
      <p:sp>
        <p:nvSpPr>
          <p:cNvPr id="399" name="Shape 12"/>
          <p:cNvSpPr/>
          <p:nvPr/>
        </p:nvSpPr>
        <p:spPr>
          <a:xfrm>
            <a:off x="566928" y="3749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0" name="Shape 13"/>
          <p:cNvSpPr/>
          <p:nvPr/>
        </p:nvSpPr>
        <p:spPr>
          <a:xfrm>
            <a:off x="566928" y="3749040"/>
            <a:ext cx="109728" cy="822960"/>
          </a:xfrm>
          <a:prstGeom prst="rect">
            <a:avLst/>
          </a:prstGeom>
          <a:solidFill>
            <a:srgbClr val="4A7B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1" name="Text 14"/>
          <p:cNvSpPr/>
          <p:nvPr/>
        </p:nvSpPr>
        <p:spPr>
          <a:xfrm>
            <a:off x="8229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method</a:t>
            </a:r>
            <a:endParaRPr lang="en-US" sz="1400" dirty="0"/>
          </a:p>
        </p:txBody>
      </p:sp>
      <p:sp>
        <p:nvSpPr>
          <p:cNvPr id="402" name="Text 15"/>
          <p:cNvSpPr/>
          <p:nvPr/>
        </p:nvSpPr>
        <p:spPr>
          <a:xfrm>
            <a:off x="3291840" y="3749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Variants → PCA Subspace → ROI → Gaussian Mixture → Sampling → L2 Distance → Detection。</a:t>
            </a:r>
            <a:endParaRPr lang="en-US" sz="1300" dirty="0"/>
          </a:p>
        </p:txBody>
      </p:sp>
      <p:sp>
        <p:nvSpPr>
          <p:cNvPr id="403" name="Shape 16"/>
          <p:cNvSpPr/>
          <p:nvPr/>
        </p:nvSpPr>
        <p:spPr>
          <a:xfrm>
            <a:off x="566928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2335E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4" name="Text 17"/>
          <p:cNvSpPr/>
          <p:nvPr/>
        </p:nvSpPr>
        <p:spPr>
          <a:xfrm>
            <a:off x="822960" y="48920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“Subspace Detection tests whether image–text matching generalizes locally across a semantic neighborhood.”</a:t>
            </a:r>
            <a:endParaRPr lang="en-US" sz="1500" dirty="0"/>
          </a:p>
        </p:txBody>
      </p:sp>
      <p:sp>
        <p:nvSpPr>
          <p:cNvPr id="405" name="Text 18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 论文结论（one-line summary）</a:t>
            </a:r>
            <a:endParaRPr lang="en-US" sz="1100" dirty="0"/>
          </a:p>
        </p:txBody>
      </p:sp>
      <p:sp>
        <p:nvSpPr>
          <p:cNvPr id="406" name="Text 19"/>
          <p:cNvSpPr/>
          <p:nvPr/>
        </p:nvSpPr>
        <p:spPr>
          <a:xfrm>
            <a:off x="548640" y="6510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Subspace Detection · CLIP Backdoor Test-Time Detection</a:t>
            </a:r>
            <a:endParaRPr lang="en-US" sz="900" dirty="0"/>
          </a:p>
        </p:txBody>
      </p:sp>
      <p:sp>
        <p:nvSpPr>
          <p:cNvPr id="407" name="Text 20"/>
          <p:cNvSpPr/>
          <p:nvPr/>
        </p:nvSpPr>
        <p:spPr>
          <a:xfrm>
            <a:off x="10058400" y="651052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30</a:t>
            </a:r>
            <a:endParaRPr lang="en-US" sz="900" dirty="0"/>
          </a:p>
        </p:txBody>
      </p:sp>
      <p:sp>
        <p:nvSpPr>
          <p:cNvPr id="23" name="矩形 22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1"/>
          <p:cNvSpPr/>
          <p:nvPr/>
        </p:nvSpPr>
        <p:spPr>
          <a:xfrm>
            <a:off x="502920" y="3794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 smtClean="0">
                <a:solidFill>
                  <a:schemeClr val="accent1">
                    <a:lumMod val="50000"/>
                  </a:scheme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DISCUSSION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71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11809413" y="6356350"/>
            <a:ext cx="38258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44549-DF7E-4361-92BE-6B27710FD1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0" y="2749639"/>
            <a:ext cx="12192000" cy="1139781"/>
          </a:xfrm>
          <a:prstGeom prst="rect">
            <a:avLst/>
          </a:prstGeom>
          <a:solidFill>
            <a:srgbClr val="244E81"/>
          </a:solidFill>
          <a:ln>
            <a:noFill/>
          </a:ln>
        </p:spPr>
        <p:txBody>
          <a:bodyPr/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Thanks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22105" y="141732"/>
            <a:ext cx="3501190" cy="7498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6757694-AB2F-EDC7-5168-5A485B86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309" y="117971"/>
            <a:ext cx="3159960" cy="71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2">
        <p:cut/>
      </p:transition>
    </mc:Choice>
    <mc:Fallback xmlns="">
      <p:transition spd="slow" advTm="3642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3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1918</Words>
  <Application>Microsoft Office PowerPoint</Application>
  <PresentationFormat>宽屏</PresentationFormat>
  <Paragraphs>405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Noto Sans CJK SC</vt:lpstr>
      <vt:lpstr>等线</vt:lpstr>
      <vt:lpstr>宋体</vt:lpstr>
      <vt:lpstr>微软雅黑</vt:lpstr>
      <vt:lpstr>Arial</vt:lpstr>
      <vt:lpstr>Calibri</vt:lpstr>
      <vt:lpstr>Times New Roman</vt:lpstr>
      <vt:lpstr>Office Theme</vt:lpstr>
      <vt:lpstr>2_Office Theme</vt:lpstr>
      <vt:lpstr>7_Office Theme</vt:lpstr>
      <vt:lpstr>8_Office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 Fang</dc:creator>
  <cp:lastModifiedBy>Administrator</cp:lastModifiedBy>
  <cp:revision>91</cp:revision>
  <dcterms:created xsi:type="dcterms:W3CDTF">2023-10-26T08:33:00Z</dcterms:created>
  <dcterms:modified xsi:type="dcterms:W3CDTF">2026-10-03T03:26:05Z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0C1890A0ACCF4B6DB5478F5E469EB73B_12</vt:lpwstr>
  </property>
  <property fmtid="{D5CDD505-2E9C-101B-9397-08002B2CF9AE}" pid="3" name="KSOProductBuildVer">
    <vt:lpwstr>2052-12.1.0.19770</vt:lpwstr>
  </property>
</Properties>
</file>