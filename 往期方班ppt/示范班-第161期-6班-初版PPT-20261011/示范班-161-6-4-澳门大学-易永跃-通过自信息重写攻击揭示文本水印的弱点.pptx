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5" r:id="rId32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94" userDrawn="1">
          <p15:clr>
            <a:srgbClr val="A4A3A4"/>
          </p15:clr>
        </p15:guide>
        <p15:guide id="2" pos="286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94"/>
        <p:guide pos="2868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34" Type="http://schemas.openxmlformats.org/officeDocument/2006/relationships/viewProps" Target="viewProps.xml"/><Relationship Id="rId33" Type="http://schemas.openxmlformats.org/officeDocument/2006/relationships/presProps" Target="presProps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3" Type="http://schemas.openxmlformats.org/officeDocument/2006/relationships/notesSlide" Target="../notesSlides/notesSlide3.xml"/><Relationship Id="rId12" Type="http://schemas.openxmlformats.org/officeDocument/2006/relationships/slideLayout" Target="../slideLayouts/slideLayout7.xml"/><Relationship Id="rId11" Type="http://schemas.openxmlformats.org/officeDocument/2006/relationships/image" Target="../media/image1.png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7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1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2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2.xml"/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1.png"/><Relationship Id="rId4" Type="http://schemas.openxmlformats.org/officeDocument/2006/relationships/tags" Target="../tags/tag14.xml"/><Relationship Id="rId3" Type="http://schemas.openxmlformats.org/officeDocument/2006/relationships/tags" Target="../tags/tag13.xml"/><Relationship Id="rId2" Type="http://schemas.openxmlformats.org/officeDocument/2006/relationships/tags" Target="../tags/tag12.xml"/><Relationship Id="rId1" Type="http://schemas.openxmlformats.org/officeDocument/2006/relationships/tags" Target="../tags/tag1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4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1" Type="http://schemas.openxmlformats.org/officeDocument/2006/relationships/image" Target="../media/image3.png"/></Relationships>
</file>

<file path=ppt/slides/_rels/slide2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5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1" Type="http://schemas.openxmlformats.org/officeDocument/2006/relationships/image" Target="../media/image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188720"/>
            <a:ext cx="8778240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</a:pPr>
            <a:r>
              <a:rPr sz="3100" b="1">
                <a:solidFill>
                  <a:srgbClr val="1B2A41"/>
                </a:solidFill>
                <a:latin typeface="Times New Roman" panose="02020603050405020304"/>
                <a:ea typeface="微软雅黑" panose="020B0503020204020204" charset="-122"/>
              </a:rPr>
              <a:t>Revealing Weaknesses in Text Watermarking</a:t>
            </a:r>
            <a:endParaRPr sz="3100" b="1">
              <a:solidFill>
                <a:srgbClr val="1B2A41"/>
              </a:solidFill>
              <a:latin typeface="Times New Roman" panose="02020603050405020304"/>
              <a:ea typeface="微软雅黑" panose="020B0503020204020204" charset="-122"/>
            </a:endParaRP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1B2A41"/>
                </a:solidFill>
                <a:latin typeface="Times New Roman" panose="02020603050405020304"/>
                <a:ea typeface="微软雅黑" panose="020B0503020204020204" charset="-122"/>
              </a:rPr>
              <a:t>Through Self-Information Rewrite Attacks</a:t>
            </a:r>
            <a:endParaRPr sz="3100" b="1">
              <a:solidFill>
                <a:srgbClr val="1B2A41"/>
              </a:solidFill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188720" y="2798064"/>
            <a:ext cx="5943600" cy="35560"/>
          </a:xfrm>
          <a:prstGeom prst="rect">
            <a:avLst/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3054096"/>
            <a:ext cx="8778240" cy="3549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33455E"/>
                </a:solidFill>
                <a:latin typeface="微软雅黑" panose="020B0503020204020204" charset="-122"/>
                <a:ea typeface="微软雅黑" panose="020B0503020204020204" charset="-122"/>
              </a:rPr>
              <a:t>通过自信息重写攻击揭示文本水印的弱点</a:t>
            </a:r>
            <a:endParaRPr sz="2100" b="0">
              <a:solidFill>
                <a:srgbClr val="33455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88720" y="3931920"/>
            <a:ext cx="8778240" cy="2114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B70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ICML 2025  ·  CCF A 类会议  ·  PMLR 267, pp. 9982–10009</a:t>
            </a:r>
            <a:endParaRPr sz="1250" b="0">
              <a:solidFill>
                <a:srgbClr val="5B708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1188720" y="6089904"/>
            <a:ext cx="9784080" cy="9525"/>
          </a:xfrm>
          <a:prstGeom prst="rect">
            <a:avLst/>
          </a:prstGeom>
          <a:solidFill>
            <a:srgbClr val="DCE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6236208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B2A41"/>
                </a:solidFill>
                <a:latin typeface="Times New Roman" panose="02020603050405020304"/>
                <a:ea typeface="微软雅黑" panose="020B0503020204020204" charset="-122"/>
              </a:rPr>
              <a:t>汇报人：易永跃     指导老师：王也     2026 年 10 月 11 日</a:t>
            </a:r>
            <a:endParaRPr sz="1200" b="1">
              <a:solidFill>
                <a:srgbClr val="1B2A41"/>
              </a:solidFill>
              <a:latin typeface="Times New Roman" panose="02020603050405020304"/>
              <a:ea typeface="微软雅黑" panose="020B0503020204020204" charset="-122"/>
            </a:endParaRPr>
          </a:p>
        </p:txBody>
      </p:sp>
      <p:pic>
        <p:nvPicPr>
          <p:cNvPr id="16" name="Picture 15" descr="um_h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96805" y="365760"/>
            <a:ext cx="1481328" cy="43115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566928"/>
            <a:ext cx="8936431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B2A41"/>
                </a:solidFill>
                <a:latin typeface="Times New Roman" panose="02020603050405020304"/>
                <a:ea typeface="微软雅黑" panose="020B0503020204020204" charset="-122"/>
              </a:rPr>
              <a:t>论文信息</a:t>
            </a:r>
            <a:endParaRPr sz="2500" b="1">
              <a:solidFill>
                <a:srgbClr val="1B2A41"/>
              </a:solidFill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13105" y="1390015"/>
            <a:ext cx="7223760" cy="28676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1B2A41"/>
                </a:solidFill>
                <a:latin typeface="Times New Roman" panose="02020603050405020304"/>
                <a:ea typeface="微软雅黑" panose="020B0503020204020204" charset="-122"/>
              </a:rPr>
              <a:t>Revealing Weaknesses in Text Watermarking Through Self-Information Rewrite Attacks</a:t>
            </a:r>
            <a:endParaRPr sz="1700" b="1">
              <a:solidFill>
                <a:srgbClr val="1B2A41"/>
              </a:solidFill>
              <a:latin typeface="Times New Roman" panose="02020603050405020304"/>
              <a:ea typeface="微软雅黑" panose="020B0503020204020204" charset="-122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0"/>
              </a:spcAft>
            </a:pPr>
            <a:r>
              <a:rPr sz="1400" b="0">
                <a:solidFill>
                  <a:srgbClr val="33455E"/>
                </a:solidFill>
                <a:latin typeface="Times New Roman" panose="02020603050405020304"/>
                <a:ea typeface="微软雅黑" panose="020B0503020204020204" charset="-122"/>
              </a:rPr>
              <a:t>《通过自</a:t>
            </a:r>
            <a:r>
              <a:rPr lang="zh-CN" sz="1400" b="0">
                <a:solidFill>
                  <a:srgbClr val="33455E"/>
                </a:solidFill>
                <a:latin typeface="Times New Roman" panose="02020603050405020304"/>
                <a:ea typeface="微软雅黑" panose="020B0503020204020204" charset="-122"/>
              </a:rPr>
              <a:t>信息</a:t>
            </a:r>
            <a:r>
              <a:rPr sz="1400" b="0">
                <a:solidFill>
                  <a:srgbClr val="33455E"/>
                </a:solidFill>
                <a:latin typeface="Times New Roman" panose="02020603050405020304"/>
                <a:ea typeface="微软雅黑" panose="020B0503020204020204" charset="-122"/>
              </a:rPr>
              <a:t>重写攻击揭示文本水印的弱点》</a:t>
            </a:r>
            <a:endParaRPr sz="1400" b="0">
              <a:solidFill>
                <a:srgbClr val="33455E"/>
              </a:solidFill>
              <a:latin typeface="Times New Roman" panose="02020603050405020304"/>
              <a:ea typeface="微软雅黑" panose="020B0503020204020204" charset="-122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>
                <a:solidFill>
                  <a:srgbClr val="1B2A41"/>
                </a:solidFill>
                <a:latin typeface="Times New Roman" panose="02020603050405020304"/>
                <a:ea typeface="微软雅黑" panose="020B0503020204020204" charset="-122"/>
              </a:rPr>
              <a:t>Yixin Cheng ¹,²    Hongcheng Guo ³    Yangming Li ⁴    Leonid Sigal ¹,²,⁵,⁶</a:t>
            </a:r>
            <a:endParaRPr sz="1350" b="1">
              <a:solidFill>
                <a:srgbClr val="1B2A41"/>
              </a:solidFill>
              <a:latin typeface="Times New Roman" panose="02020603050405020304"/>
              <a:ea typeface="微软雅黑" panose="020B0503020204020204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5B7089"/>
                </a:solidFill>
                <a:latin typeface="Times New Roman" panose="02020603050405020304"/>
                <a:ea typeface="微软雅黑" panose="020B0503020204020204" charset="-122"/>
              </a:rPr>
              <a:t>¹ 不列颠哥伦比亚大学   ² Vector Institute   ³ 复旦大学</a:t>
            </a:r>
            <a:endParaRPr sz="1100" b="0">
              <a:solidFill>
                <a:srgbClr val="5B7089"/>
              </a:solidFill>
              <a:latin typeface="Times New Roman" panose="02020603050405020304"/>
              <a:ea typeface="微软雅黑" panose="020B0503020204020204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B7089"/>
                </a:solidFill>
                <a:latin typeface="Times New Roman" panose="02020603050405020304"/>
                <a:ea typeface="微软雅黑" panose="020B0503020204020204" charset="-122"/>
              </a:rPr>
              <a:t>⁴ 剑桥大学   ⁵ CIFAR AI Chair   ⁶ NSERC CRC Chair</a:t>
            </a:r>
            <a:endParaRPr sz="1100" b="0">
              <a:solidFill>
                <a:srgbClr val="5B7089"/>
              </a:solidFill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8412480" y="1389888"/>
            <a:ext cx="9525" cy="3383280"/>
          </a:xfrm>
          <a:prstGeom prst="rect">
            <a:avLst/>
          </a:prstGeom>
          <a:solidFill>
            <a:srgbClr val="DCE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96528" y="1389888"/>
            <a:ext cx="2651760" cy="37712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400" b="1">
                <a:solidFill>
                  <a:srgbClr val="94A3B8"/>
                </a:solidFill>
                <a:latin typeface="Times New Roman" panose="02020603050405020304"/>
                <a:ea typeface="微软雅黑" panose="020B0503020204020204" charset="-122"/>
              </a:rPr>
              <a:t>会议</a:t>
            </a:r>
            <a:endParaRPr sz="1400" b="1">
              <a:solidFill>
                <a:srgbClr val="94A3B8"/>
              </a:solidFill>
              <a:latin typeface="Times New Roman" panose="02020603050405020304"/>
              <a:ea typeface="微软雅黑" panose="020B0503020204020204" charset="-122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100"/>
              </a:spcAft>
            </a:pPr>
            <a:r>
              <a:rPr sz="1600" b="1">
                <a:solidFill>
                  <a:srgbClr val="1B2A41"/>
                </a:solidFill>
                <a:latin typeface="Times New Roman" panose="02020603050405020304"/>
                <a:ea typeface="微软雅黑" panose="020B0503020204020204" charset="-122"/>
              </a:rPr>
              <a:t>ICML 2025</a:t>
            </a:r>
            <a:endParaRPr sz="1600" b="1">
              <a:solidFill>
                <a:srgbClr val="1B2A41"/>
              </a:solidFill>
              <a:latin typeface="Times New Roman" panose="02020603050405020304"/>
              <a:ea typeface="微软雅黑" panose="020B0503020204020204" charset="-122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400" b="1">
                <a:solidFill>
                  <a:srgbClr val="94A3B8"/>
                </a:solidFill>
                <a:latin typeface="Times New Roman" panose="02020603050405020304"/>
                <a:ea typeface="微软雅黑" panose="020B0503020204020204" charset="-122"/>
              </a:rPr>
              <a:t>届次</a:t>
            </a:r>
            <a:endParaRPr sz="1400" b="1">
              <a:solidFill>
                <a:srgbClr val="94A3B8"/>
              </a:solidFill>
              <a:latin typeface="Times New Roman" panose="02020603050405020304"/>
              <a:ea typeface="微软雅黑" panose="020B0503020204020204" charset="-122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100"/>
              </a:spcAft>
            </a:pPr>
            <a:r>
              <a:rPr sz="1600" b="1">
                <a:solidFill>
                  <a:srgbClr val="1B2A41"/>
                </a:solidFill>
                <a:latin typeface="Times New Roman" panose="02020603050405020304"/>
                <a:ea typeface="微软雅黑" panose="020B0503020204020204" charset="-122"/>
              </a:rPr>
              <a:t>第 42 届</a:t>
            </a:r>
            <a:endParaRPr sz="1600" b="1">
              <a:solidFill>
                <a:srgbClr val="1B2A41"/>
              </a:solidFill>
              <a:latin typeface="Times New Roman" panose="02020603050405020304"/>
              <a:ea typeface="微软雅黑" panose="020B0503020204020204" charset="-122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400" b="1">
                <a:solidFill>
                  <a:srgbClr val="94A3B8"/>
                </a:solidFill>
                <a:latin typeface="Times New Roman" panose="02020603050405020304"/>
                <a:ea typeface="微软雅黑" panose="020B0503020204020204" charset="-122"/>
              </a:rPr>
              <a:t>等级</a:t>
            </a:r>
            <a:endParaRPr sz="1400" b="1">
              <a:solidFill>
                <a:srgbClr val="94A3B8"/>
              </a:solidFill>
              <a:latin typeface="Times New Roman" panose="02020603050405020304"/>
              <a:ea typeface="微软雅黑" panose="020B0503020204020204" charset="-122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100"/>
              </a:spcAft>
            </a:pPr>
            <a:r>
              <a:rPr sz="1600" b="1">
                <a:solidFill>
                  <a:srgbClr val="1B2A41"/>
                </a:solidFill>
                <a:latin typeface="Times New Roman" panose="02020603050405020304"/>
                <a:ea typeface="微软雅黑" panose="020B0503020204020204" charset="-122"/>
              </a:rPr>
              <a:t>CCF A 类</a:t>
            </a:r>
            <a:endParaRPr sz="1600" b="1">
              <a:solidFill>
                <a:srgbClr val="1B2A41"/>
              </a:solidFill>
              <a:latin typeface="Times New Roman" panose="02020603050405020304"/>
              <a:ea typeface="微软雅黑" panose="020B0503020204020204" charset="-122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400" b="1">
                <a:solidFill>
                  <a:srgbClr val="94A3B8"/>
                </a:solidFill>
                <a:latin typeface="Times New Roman" panose="02020603050405020304"/>
                <a:ea typeface="微软雅黑" panose="020B0503020204020204" charset="-122"/>
              </a:rPr>
              <a:t>出版</a:t>
            </a:r>
            <a:endParaRPr sz="1400" b="1">
              <a:solidFill>
                <a:srgbClr val="94A3B8"/>
              </a:solidFill>
              <a:latin typeface="Times New Roman" panose="02020603050405020304"/>
              <a:ea typeface="微软雅黑" panose="020B0503020204020204" charset="-122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100"/>
              </a:spcAft>
            </a:pPr>
            <a:r>
              <a:rPr sz="1600" b="1">
                <a:solidFill>
                  <a:srgbClr val="1B2A41"/>
                </a:solidFill>
                <a:latin typeface="Times New Roman" panose="02020603050405020304"/>
                <a:ea typeface="微软雅黑" panose="020B0503020204020204" charset="-122"/>
              </a:rPr>
              <a:t>PMLR 267</a:t>
            </a:r>
            <a:endParaRPr sz="1600" b="1">
              <a:solidFill>
                <a:srgbClr val="1B2A41"/>
              </a:solidFill>
              <a:latin typeface="Times New Roman" panose="02020603050405020304"/>
              <a:ea typeface="微软雅黑" panose="020B0503020204020204" charset="-122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400" b="1">
                <a:solidFill>
                  <a:srgbClr val="94A3B8"/>
                </a:solidFill>
                <a:latin typeface="Times New Roman" panose="02020603050405020304"/>
                <a:ea typeface="微软雅黑" panose="020B0503020204020204" charset="-122"/>
              </a:rPr>
              <a:t>页码</a:t>
            </a:r>
            <a:endParaRPr sz="1400" b="1">
              <a:solidFill>
                <a:srgbClr val="94A3B8"/>
              </a:solidFill>
              <a:latin typeface="Times New Roman" panose="02020603050405020304"/>
              <a:ea typeface="微软雅黑" panose="020B0503020204020204" charset="-122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100"/>
              </a:spcAft>
            </a:pPr>
            <a:r>
              <a:rPr sz="1600" b="1">
                <a:solidFill>
                  <a:srgbClr val="1B2A41"/>
                </a:solidFill>
                <a:latin typeface="Times New Roman" panose="02020603050405020304"/>
                <a:ea typeface="微软雅黑" panose="020B0503020204020204" charset="-122"/>
              </a:rPr>
              <a:t>9982–10009</a:t>
            </a:r>
            <a:endParaRPr sz="1600" b="1">
              <a:solidFill>
                <a:srgbClr val="1B2A41"/>
              </a:solidFill>
              <a:latin typeface="Times New Roman" panose="02020603050405020304"/>
              <a:ea typeface="微软雅黑" panose="020B0503020204020204" charset="-122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400" b="1">
                <a:solidFill>
                  <a:srgbClr val="94A3B8"/>
                </a:solidFill>
                <a:latin typeface="Times New Roman" panose="02020603050405020304"/>
                <a:ea typeface="微软雅黑" panose="020B0503020204020204" charset="-122"/>
              </a:rPr>
              <a:t>时间</a:t>
            </a:r>
            <a:endParaRPr sz="1400" b="1">
              <a:solidFill>
                <a:srgbClr val="94A3B8"/>
              </a:solidFill>
              <a:latin typeface="Times New Roman" panose="02020603050405020304"/>
              <a:ea typeface="微软雅黑" panose="020B0503020204020204" charset="-122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100"/>
              </a:spcAft>
            </a:pPr>
            <a:r>
              <a:rPr sz="1600" b="1">
                <a:solidFill>
                  <a:srgbClr val="1B2A41"/>
                </a:solidFill>
                <a:latin typeface="Times New Roman" panose="02020603050405020304"/>
                <a:ea typeface="微软雅黑" panose="020B0503020204020204" charset="-122"/>
              </a:rPr>
              <a:t>2025 年</a:t>
            </a:r>
            <a:endParaRPr sz="1600" b="1">
              <a:solidFill>
                <a:srgbClr val="1B2A41"/>
              </a:solidFill>
              <a:latin typeface="Times New Roman" panose="02020603050405020304"/>
              <a:ea typeface="微软雅黑" panose="020B0503020204020204" charset="-122"/>
            </a:endParaRPr>
          </a:p>
        </p:txBody>
      </p:sp>
      <p:pic>
        <p:nvPicPr>
          <p:cNvPr id="6" name="Picture 5" descr="um_h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96805" y="365760"/>
            <a:ext cx="1481328" cy="43115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566928"/>
            <a:ext cx="8936431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B2A41"/>
                </a:solidFill>
                <a:latin typeface="Times New Roman" panose="02020603050405020304"/>
                <a:ea typeface="微软雅黑" panose="020B0503020204020204" charset="-122"/>
              </a:rPr>
              <a:t>目录</a:t>
            </a:r>
            <a:endParaRPr sz="2500" b="1">
              <a:solidFill>
                <a:srgbClr val="1B2A41"/>
              </a:solidFill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3" name="TextBox 2"/>
          <p:cNvSpPr txBox="1"/>
          <p:nvPr>
            <p:custDataLst>
              <p:tags r:id="rId1"/>
            </p:custDataLst>
          </p:nvPr>
        </p:nvSpPr>
        <p:spPr>
          <a:xfrm>
            <a:off x="731647" y="1481328"/>
            <a:ext cx="822960" cy="2609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00" b="1">
                <a:solidFill>
                  <a:srgbClr val="B23A2E"/>
                </a:solidFill>
                <a:latin typeface="Times New Roman" panose="02020603050405020304"/>
                <a:ea typeface="微软雅黑" panose="020B0503020204020204" charset="-122"/>
              </a:rPr>
              <a:t>一</a:t>
            </a:r>
            <a:endParaRPr lang="zh-CN" sz="1700" b="1">
              <a:solidFill>
                <a:srgbClr val="B23A2E"/>
              </a:solidFill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>
            <p:custDataLst>
              <p:tags r:id="rId2"/>
            </p:custDataLst>
          </p:nvPr>
        </p:nvSpPr>
        <p:spPr>
          <a:xfrm>
            <a:off x="1109980" y="1456817"/>
            <a:ext cx="9509760" cy="5568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1">
                <a:solidFill>
                  <a:srgbClr val="1B2A41"/>
                </a:solidFill>
                <a:latin typeface="Times New Roman" panose="02020603050405020304"/>
                <a:ea typeface="微软雅黑" panose="020B0503020204020204" charset="-122"/>
              </a:rPr>
              <a:t>研究背景与问题</a:t>
            </a:r>
            <a:endParaRPr sz="1900" b="1">
              <a:solidFill>
                <a:srgbClr val="1B2A41"/>
              </a:solidFill>
              <a:latin typeface="Times New Roman" panose="02020603050405020304"/>
              <a:ea typeface="微软雅黑" panose="020B0503020204020204" charset="-122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sz="1200" b="0">
              <a:solidFill>
                <a:srgbClr val="5B7089"/>
              </a:solidFill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>
            <p:custDataLst>
              <p:tags r:id="rId3"/>
            </p:custDataLst>
          </p:nvPr>
        </p:nvSpPr>
        <p:spPr>
          <a:xfrm>
            <a:off x="731647" y="2395728"/>
            <a:ext cx="822960" cy="2609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00" b="1">
                <a:solidFill>
                  <a:srgbClr val="B23A2E"/>
                </a:solidFill>
                <a:latin typeface="Times New Roman" panose="02020603050405020304"/>
                <a:ea typeface="微软雅黑" panose="020B0503020204020204" charset="-122"/>
              </a:rPr>
              <a:t>二</a:t>
            </a:r>
            <a:endParaRPr lang="zh-CN" sz="1700" b="1">
              <a:solidFill>
                <a:srgbClr val="B23A2E"/>
              </a:solidFill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>
            <p:custDataLst>
              <p:tags r:id="rId4"/>
            </p:custDataLst>
          </p:nvPr>
        </p:nvSpPr>
        <p:spPr>
          <a:xfrm>
            <a:off x="1109980" y="2371217"/>
            <a:ext cx="9509760" cy="5568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1">
                <a:solidFill>
                  <a:srgbClr val="1B2A41"/>
                </a:solidFill>
                <a:latin typeface="Times New Roman" panose="02020603050405020304"/>
                <a:ea typeface="微软雅黑" panose="020B0503020204020204" charset="-122"/>
              </a:rPr>
              <a:t>核心洞察与威胁模型</a:t>
            </a:r>
            <a:endParaRPr sz="1900" b="1">
              <a:solidFill>
                <a:srgbClr val="1B2A41"/>
              </a:solidFill>
              <a:latin typeface="Times New Roman" panose="02020603050405020304"/>
              <a:ea typeface="微软雅黑" panose="020B0503020204020204" charset="-122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sz="1200" b="0">
              <a:solidFill>
                <a:srgbClr val="5B7089"/>
              </a:solidFill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>
            <p:custDataLst>
              <p:tags r:id="rId5"/>
            </p:custDataLst>
          </p:nvPr>
        </p:nvSpPr>
        <p:spPr>
          <a:xfrm>
            <a:off x="731647" y="3310128"/>
            <a:ext cx="822960" cy="2609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00" b="1">
                <a:solidFill>
                  <a:srgbClr val="B23A2E"/>
                </a:solidFill>
                <a:latin typeface="Times New Roman" panose="02020603050405020304"/>
                <a:ea typeface="微软雅黑" panose="020B0503020204020204" charset="-122"/>
              </a:rPr>
              <a:t>三</a:t>
            </a:r>
            <a:endParaRPr lang="zh-CN" sz="1700" b="1">
              <a:solidFill>
                <a:srgbClr val="B23A2E"/>
              </a:solidFill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>
            <p:custDataLst>
              <p:tags r:id="rId6"/>
            </p:custDataLst>
          </p:nvPr>
        </p:nvSpPr>
        <p:spPr>
          <a:xfrm>
            <a:off x="1109980" y="3285617"/>
            <a:ext cx="9509760" cy="5568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1">
                <a:solidFill>
                  <a:srgbClr val="1B2A41"/>
                </a:solidFill>
                <a:latin typeface="Times New Roman" panose="02020603050405020304"/>
                <a:ea typeface="微软雅黑" panose="020B0503020204020204" charset="-122"/>
              </a:rPr>
              <a:t>攻击方法 SIRA</a:t>
            </a:r>
            <a:endParaRPr sz="1900" b="1">
              <a:solidFill>
                <a:srgbClr val="1B2A41"/>
              </a:solidFill>
              <a:latin typeface="Times New Roman" panose="02020603050405020304"/>
              <a:ea typeface="微软雅黑" panose="020B0503020204020204" charset="-122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sz="1200" b="0">
              <a:solidFill>
                <a:srgbClr val="5B7089"/>
              </a:solidFill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9" name="TextBox 8"/>
          <p:cNvSpPr txBox="1"/>
          <p:nvPr>
            <p:custDataLst>
              <p:tags r:id="rId7"/>
            </p:custDataLst>
          </p:nvPr>
        </p:nvSpPr>
        <p:spPr>
          <a:xfrm>
            <a:off x="731647" y="4224528"/>
            <a:ext cx="822960" cy="2609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00" b="1">
                <a:solidFill>
                  <a:srgbClr val="B23A2E"/>
                </a:solidFill>
                <a:latin typeface="Times New Roman" panose="02020603050405020304"/>
                <a:ea typeface="微软雅黑" panose="020B0503020204020204" charset="-122"/>
              </a:rPr>
              <a:t>四</a:t>
            </a:r>
            <a:endParaRPr lang="zh-CN" sz="1700" b="1">
              <a:solidFill>
                <a:srgbClr val="B23A2E"/>
              </a:solidFill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10" name="TextBox 9"/>
          <p:cNvSpPr txBox="1"/>
          <p:nvPr>
            <p:custDataLst>
              <p:tags r:id="rId8"/>
            </p:custDataLst>
          </p:nvPr>
        </p:nvSpPr>
        <p:spPr>
          <a:xfrm>
            <a:off x="1109980" y="4200017"/>
            <a:ext cx="9509760" cy="5568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1">
                <a:solidFill>
                  <a:srgbClr val="1B2A41"/>
                </a:solidFill>
                <a:latin typeface="Times New Roman" panose="02020603050405020304"/>
                <a:ea typeface="微软雅黑" panose="020B0503020204020204" charset="-122"/>
              </a:rPr>
              <a:t>实验评估</a:t>
            </a:r>
            <a:endParaRPr sz="1900" b="1">
              <a:solidFill>
                <a:srgbClr val="1B2A41"/>
              </a:solidFill>
              <a:latin typeface="Times New Roman" panose="02020603050405020304"/>
              <a:ea typeface="微软雅黑" panose="020B0503020204020204" charset="-122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sz="1200" b="0">
              <a:solidFill>
                <a:srgbClr val="5B7089"/>
              </a:solidFill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>
            <p:custDataLst>
              <p:tags r:id="rId9"/>
            </p:custDataLst>
          </p:nvPr>
        </p:nvSpPr>
        <p:spPr>
          <a:xfrm>
            <a:off x="731647" y="5138928"/>
            <a:ext cx="822960" cy="2609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00" b="1">
                <a:solidFill>
                  <a:srgbClr val="B23A2E"/>
                </a:solidFill>
                <a:latin typeface="Times New Roman" panose="02020603050405020304"/>
                <a:ea typeface="微软雅黑" panose="020B0503020204020204" charset="-122"/>
              </a:rPr>
              <a:t>五</a:t>
            </a:r>
            <a:endParaRPr lang="zh-CN" sz="1700" b="1">
              <a:solidFill>
                <a:srgbClr val="B23A2E"/>
              </a:solidFill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>
            <p:custDataLst>
              <p:tags r:id="rId10"/>
            </p:custDataLst>
          </p:nvPr>
        </p:nvSpPr>
        <p:spPr>
          <a:xfrm>
            <a:off x="1109980" y="5114417"/>
            <a:ext cx="9509760" cy="5568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1">
                <a:solidFill>
                  <a:srgbClr val="1B2A41"/>
                </a:solidFill>
                <a:latin typeface="Times New Roman" panose="02020603050405020304"/>
                <a:ea typeface="微软雅黑" panose="020B0503020204020204" charset="-122"/>
              </a:rPr>
              <a:t>总结与思考</a:t>
            </a:r>
            <a:endParaRPr sz="1900" b="1">
              <a:solidFill>
                <a:srgbClr val="1B2A41"/>
              </a:solidFill>
              <a:latin typeface="Times New Roman" panose="02020603050405020304"/>
              <a:ea typeface="微软雅黑" panose="020B0503020204020204" charset="-122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sz="1200" b="0">
              <a:solidFill>
                <a:srgbClr val="5B7089"/>
              </a:solidFill>
              <a:latin typeface="Times New Roman" panose="02020603050405020304"/>
              <a:ea typeface="微软雅黑" panose="020B0503020204020204" charset="-122"/>
            </a:endParaRPr>
          </a:p>
        </p:txBody>
      </p:sp>
      <p:pic>
        <p:nvPicPr>
          <p:cNvPr id="13" name="Picture 12" descr="um_h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996805" y="365760"/>
            <a:ext cx="1481328" cy="43115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2103120"/>
            <a:ext cx="822960" cy="40640"/>
          </a:xfrm>
          <a:prstGeom prst="rect">
            <a:avLst/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395728"/>
            <a:ext cx="89611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1B2A41"/>
                </a:solidFill>
                <a:latin typeface="Times New Roman" panose="02020603050405020304"/>
                <a:ea typeface="微软雅黑" panose="020B0503020204020204" charset="-122"/>
              </a:rPr>
              <a:t>研究背景与问题</a:t>
            </a:r>
            <a:endParaRPr sz="3800" b="1">
              <a:solidFill>
                <a:srgbClr val="1B2A41"/>
              </a:solidFill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13105" y="3584575"/>
            <a:ext cx="8595360" cy="13239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5B7089"/>
                </a:solidFill>
                <a:latin typeface="Times New Roman" panose="02020603050405020304"/>
                <a:ea typeface="微软雅黑" panose="020B0503020204020204" charset="-122"/>
              </a:rPr>
              <a:t>大模型怎么写字、水印怎么加上去</a:t>
            </a:r>
            <a:endParaRPr sz="1400" b="0">
              <a:solidFill>
                <a:srgbClr val="5B7089"/>
              </a:solidFill>
              <a:latin typeface="Times New Roman" panose="02020603050405020304"/>
              <a:ea typeface="微软雅黑" panose="020B0503020204020204" charset="-122"/>
            </a:endParaRP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5B7089"/>
                </a:solidFill>
                <a:latin typeface="Times New Roman" panose="02020603050405020304"/>
                <a:ea typeface="微软雅黑" panose="020B0503020204020204" charset="-122"/>
              </a:rPr>
              <a:t>什么叫"高熵"，为什么水印只能加在高熵位置</a:t>
            </a:r>
            <a:endParaRPr sz="1400" b="0">
              <a:solidFill>
                <a:srgbClr val="5B7089"/>
              </a:solidFill>
              <a:latin typeface="Times New Roman" panose="02020603050405020304"/>
              <a:ea typeface="微软雅黑" panose="020B0503020204020204" charset="-122"/>
            </a:endParaRP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5B7089"/>
                </a:solidFill>
                <a:latin typeface="Times New Roman" panose="02020603050405020304"/>
                <a:ea typeface="微软雅黑" panose="020B0503020204020204" charset="-122"/>
              </a:rPr>
              <a:t>现有攻击为什么不够用，本文要解决什么</a:t>
            </a:r>
            <a:endParaRPr sz="1400" b="0">
              <a:solidFill>
                <a:srgbClr val="5B7089"/>
              </a:solidFill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13232" y="1316736"/>
            <a:ext cx="2743200" cy="6153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4000" b="1">
                <a:solidFill>
                  <a:srgbClr val="B23A2E"/>
                </a:solidFill>
                <a:latin typeface="Times New Roman" panose="02020603050405020304"/>
                <a:ea typeface="微软雅黑" panose="020B0503020204020204" charset="-122"/>
              </a:rPr>
              <a:t>一</a:t>
            </a:r>
            <a:endParaRPr lang="zh-CN" sz="4000" b="1">
              <a:solidFill>
                <a:srgbClr val="B23A2E"/>
              </a:solidFill>
              <a:latin typeface="Times New Roman" panose="02020603050405020304"/>
              <a:ea typeface="微软雅黑" panose="020B0503020204020204" charset="-122"/>
            </a:endParaRPr>
          </a:p>
        </p:txBody>
      </p:sp>
      <p:pic>
        <p:nvPicPr>
          <p:cNvPr id="7" name="Picture 6" descr="um_h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96805" y="365760"/>
            <a:ext cx="1481328" cy="43115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617728"/>
            <a:ext cx="8936431" cy="415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500" b="1">
                <a:solidFill>
                  <a:srgbClr val="1B2A41"/>
                </a:solidFill>
                <a:latin typeface="微软雅黑" panose="020B0503020204020204" charset="-122"/>
                <a:ea typeface="微软雅黑" panose="020B0503020204020204" charset="-122"/>
              </a:rPr>
              <a:t>大模型的逐词生成机制</a:t>
            </a:r>
            <a:endParaRPr lang="zh-CN" altLang="en-US" sz="2500" b="1">
              <a:solidFill>
                <a:srgbClr val="1B2A4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713232" y="1243584"/>
            <a:ext cx="10765231" cy="9525"/>
          </a:xfrm>
          <a:prstGeom prst="rect">
            <a:avLst/>
          </a:prstGeom>
          <a:solidFill>
            <a:srgbClr val="DCE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13105" y="1463040"/>
            <a:ext cx="3747135" cy="6718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1">
                <a:solidFill>
                  <a:srgbClr val="1B2A41"/>
                </a:solidFill>
                <a:latin typeface="微软雅黑" panose="020B0503020204020204" charset="-122"/>
                <a:ea typeface="微软雅黑" panose="020B0503020204020204" charset="-122"/>
              </a:rPr>
              <a:t>它不是一次写一整段，而是一次只预测一个词，再接着预测下一个。</a:t>
            </a:r>
            <a:endParaRPr sz="1900" b="1">
              <a:solidFill>
                <a:srgbClr val="1B2A4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13232" y="2432304"/>
            <a:ext cx="3749039" cy="35560"/>
          </a:xfrm>
          <a:prstGeom prst="rect">
            <a:avLst/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13232" y="2743200"/>
            <a:ext cx="5577840" cy="18929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</a:pPr>
            <a:r>
              <a:rPr sz="1300" b="0">
                <a:solidFill>
                  <a:srgbClr val="3345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每一步都在做同一件事：给定前文，给词表里每个词打一个概率分，然后按这个分布挑一个词写上去。</a:t>
            </a:r>
            <a:endParaRPr sz="1300" b="0">
              <a:solidFill>
                <a:srgbClr val="3345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lang="zh-CN" sz="1500" b="1">
                <a:solidFill>
                  <a:srgbClr val="1B2A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举例</a:t>
            </a:r>
            <a:r>
              <a:rPr lang="en-US" altLang="zh-CN" sz="1500" b="1">
                <a:solidFill>
                  <a:srgbClr val="1B2A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</a:t>
            </a:r>
            <a:r>
              <a:rPr sz="1500" b="1">
                <a:solidFill>
                  <a:srgbClr val="1B2A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今天天气真</a:t>
            </a:r>
            <a:r>
              <a:rPr lang="zh-CN" sz="1500" b="1">
                <a:solidFill>
                  <a:srgbClr val="1B2A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（）？</a:t>
            </a:r>
            <a:endParaRPr sz="1500" b="1">
              <a:solidFill>
                <a:srgbClr val="1B2A4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400"/>
              </a:spcAft>
            </a:pPr>
            <a:r>
              <a:rPr sz="1300" b="1">
                <a:solidFill>
                  <a:srgbClr val="B23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好 62%　热 15%　不错 12%　冷 8%　其他 3%</a:t>
            </a:r>
            <a:endParaRPr sz="1300" b="1">
              <a:solidFill>
                <a:srgbClr val="B23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B2A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模型每一步手里都握着一个概率分布 —— 这正是水印下手的地方。</a:t>
            </a:r>
            <a:endParaRPr sz="1250" b="1">
              <a:solidFill>
                <a:srgbClr val="1B2A4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675120" y="4824730"/>
            <a:ext cx="4754880" cy="184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7089"/>
                </a:solidFill>
                <a:latin typeface="微软雅黑" panose="020B0503020204020204" charset="-122"/>
                <a:ea typeface="微软雅黑" panose="020B0503020204020204" charset="-122"/>
              </a:rPr>
              <a:t>下一个词的概率分布</a:t>
            </a:r>
            <a:endParaRPr sz="1200" b="0">
              <a:solidFill>
                <a:srgbClr val="5B708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675120" y="3148280"/>
            <a:ext cx="870508" cy="1332280"/>
          </a:xfrm>
          <a:prstGeom prst="rect">
            <a:avLst/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629400" y="2937968"/>
            <a:ext cx="96194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B23A2E"/>
                </a:solidFill>
                <a:latin typeface="微软雅黑" panose="020B0503020204020204" charset="-122"/>
                <a:ea typeface="微软雅黑" panose="020B0503020204020204" charset="-122"/>
              </a:rPr>
              <a:t>62%</a:t>
            </a:r>
            <a:endParaRPr sz="950" b="1">
              <a:solidFill>
                <a:srgbClr val="B23A2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629400" y="4517136"/>
            <a:ext cx="96194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B2A41"/>
                </a:solidFill>
                <a:latin typeface="微软雅黑" panose="020B0503020204020204" charset="-122"/>
                <a:ea typeface="微软雅黑" panose="020B0503020204020204" charset="-122"/>
              </a:rPr>
              <a:t>好</a:t>
            </a:r>
            <a:endParaRPr sz="1100" b="1">
              <a:solidFill>
                <a:srgbClr val="1B2A4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7646212" y="4158234"/>
            <a:ext cx="870508" cy="322326"/>
          </a:xfrm>
          <a:prstGeom prst="rect">
            <a:avLst/>
          </a:prstGeom>
          <a:solidFill>
            <a:srgbClr val="C9D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600492" y="3947922"/>
            <a:ext cx="96194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B7089"/>
                </a:solidFill>
                <a:latin typeface="微软雅黑" panose="020B0503020204020204" charset="-122"/>
                <a:ea typeface="微软雅黑" panose="020B0503020204020204" charset="-122"/>
              </a:rPr>
              <a:t>15%</a:t>
            </a:r>
            <a:endParaRPr sz="950" b="0">
              <a:solidFill>
                <a:srgbClr val="5B708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600492" y="4517136"/>
            <a:ext cx="96194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B7089"/>
                </a:solidFill>
                <a:latin typeface="微软雅黑" panose="020B0503020204020204" charset="-122"/>
                <a:ea typeface="微软雅黑" panose="020B0503020204020204" charset="-122"/>
              </a:rPr>
              <a:t>热</a:t>
            </a:r>
            <a:endParaRPr sz="1100" b="0">
              <a:solidFill>
                <a:srgbClr val="5B708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8617304" y="4222700"/>
            <a:ext cx="870508" cy="257860"/>
          </a:xfrm>
          <a:prstGeom prst="rect">
            <a:avLst/>
          </a:prstGeom>
          <a:solidFill>
            <a:srgbClr val="C9D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571584" y="4012388"/>
            <a:ext cx="96194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B7089"/>
                </a:solidFill>
                <a:latin typeface="微软雅黑" panose="020B0503020204020204" charset="-122"/>
                <a:ea typeface="微软雅黑" panose="020B0503020204020204" charset="-122"/>
              </a:rPr>
              <a:t>12%</a:t>
            </a:r>
            <a:endParaRPr sz="950" b="0">
              <a:solidFill>
                <a:srgbClr val="5B708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571584" y="4517136"/>
            <a:ext cx="96194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B7089"/>
                </a:solidFill>
                <a:latin typeface="微软雅黑" panose="020B0503020204020204" charset="-122"/>
                <a:ea typeface="微软雅黑" panose="020B0503020204020204" charset="-122"/>
              </a:rPr>
              <a:t>不错</a:t>
            </a:r>
            <a:endParaRPr sz="1100" b="0">
              <a:solidFill>
                <a:srgbClr val="5B708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9588396" y="4308653"/>
            <a:ext cx="870508" cy="171907"/>
          </a:xfrm>
          <a:prstGeom prst="rect">
            <a:avLst/>
          </a:prstGeom>
          <a:solidFill>
            <a:srgbClr val="C9D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542676" y="4098341"/>
            <a:ext cx="96194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B7089"/>
                </a:solidFill>
                <a:latin typeface="微软雅黑" panose="020B0503020204020204" charset="-122"/>
                <a:ea typeface="微软雅黑" panose="020B0503020204020204" charset="-122"/>
              </a:rPr>
              <a:t>8%</a:t>
            </a:r>
            <a:endParaRPr sz="950" b="0">
              <a:solidFill>
                <a:srgbClr val="5B708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9542676" y="4517136"/>
            <a:ext cx="96194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B7089"/>
                </a:solidFill>
                <a:latin typeface="微软雅黑" panose="020B0503020204020204" charset="-122"/>
                <a:ea typeface="微软雅黑" panose="020B0503020204020204" charset="-122"/>
              </a:rPr>
              <a:t>冷</a:t>
            </a:r>
            <a:endParaRPr sz="1100" b="0">
              <a:solidFill>
                <a:srgbClr val="5B708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10559488" y="4416095"/>
            <a:ext cx="870508" cy="64465"/>
          </a:xfrm>
          <a:prstGeom prst="rect">
            <a:avLst/>
          </a:prstGeom>
          <a:solidFill>
            <a:srgbClr val="C9D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0513768" y="4205783"/>
            <a:ext cx="96194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B7089"/>
                </a:solidFill>
                <a:latin typeface="微软雅黑" panose="020B0503020204020204" charset="-122"/>
                <a:ea typeface="微软雅黑" panose="020B0503020204020204" charset="-122"/>
              </a:rPr>
              <a:t>3%</a:t>
            </a:r>
            <a:endParaRPr sz="950" b="0">
              <a:solidFill>
                <a:srgbClr val="5B708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0513768" y="4517136"/>
            <a:ext cx="96194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B7089"/>
                </a:solidFill>
                <a:latin typeface="微软雅黑" panose="020B0503020204020204" charset="-122"/>
                <a:ea typeface="微软雅黑" panose="020B0503020204020204" charset="-122"/>
              </a:rPr>
              <a:t>其他</a:t>
            </a:r>
            <a:endParaRPr sz="1100" b="0">
              <a:solidFill>
                <a:srgbClr val="5B708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4" name="Picture 23" descr="um_h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96805" y="365760"/>
            <a:ext cx="1481328" cy="43115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566928"/>
            <a:ext cx="8936431" cy="415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500" b="1">
                <a:solidFill>
                  <a:srgbClr val="1B2A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 </a:t>
            </a:r>
            <a:r>
              <a:rPr lang="zh-CN" altLang="en-US" sz="2500" b="1">
                <a:solidFill>
                  <a:srgbClr val="1B2A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文本的溯源难题</a:t>
            </a:r>
            <a:endParaRPr lang="zh-CN" altLang="en-US" sz="2500" b="1">
              <a:solidFill>
                <a:srgbClr val="1B2A4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713232" y="1243584"/>
            <a:ext cx="10765231" cy="9525"/>
          </a:xfrm>
          <a:prstGeom prst="rect">
            <a:avLst/>
          </a:prstGeom>
          <a:solidFill>
            <a:srgbClr val="DCE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13105" y="1481455"/>
            <a:ext cx="6035040" cy="229933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</a:pPr>
            <a:r>
              <a:rPr sz="2400" b="1">
                <a:solidFill>
                  <a:srgbClr val="B23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这件事为什么重要</a:t>
            </a:r>
            <a:endParaRPr sz="2400" b="1">
              <a:solidFill>
                <a:srgbClr val="B23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altLang="zh-CN" sz="1300" b="0">
                <a:solidFill>
                  <a:srgbClr val="1B2A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</a:t>
            </a:r>
            <a:r>
              <a:rPr sz="1300" b="0">
                <a:solidFill>
                  <a:srgbClr val="1B2A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错误信息传播：批量生成的假新闻难以甄别</a:t>
            </a:r>
            <a:endParaRPr sz="1300" b="0">
              <a:solidFill>
                <a:srgbClr val="1B2A4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altLang="zh-CN" sz="1300" b="0">
                <a:solidFill>
                  <a:srgbClr val="1B2A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</a:t>
            </a:r>
            <a:r>
              <a:rPr sz="1300" b="0">
                <a:solidFill>
                  <a:srgbClr val="1B2A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学术诚信：作业与论文代写难以查证</a:t>
            </a:r>
            <a:endParaRPr sz="1300" b="0">
              <a:solidFill>
                <a:srgbClr val="1B2A4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altLang="zh-CN" sz="1300" b="0">
                <a:solidFill>
                  <a:srgbClr val="1B2A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</a:t>
            </a:r>
            <a:r>
              <a:rPr sz="1300" b="0">
                <a:solidFill>
                  <a:srgbClr val="1B2A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内容版权：AI 生成的图文归属不明</a:t>
            </a:r>
            <a:endParaRPr sz="1300" b="0">
              <a:solidFill>
                <a:srgbClr val="1B2A4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300" b="0">
                <a:solidFill>
                  <a:srgbClr val="1B2A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4.</a:t>
            </a:r>
            <a:r>
              <a:rPr sz="1300" b="0">
                <a:solidFill>
                  <a:srgbClr val="1B2A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责任追溯：要能查清是哪个模型生成的</a:t>
            </a:r>
            <a:endParaRPr sz="1300" b="0">
              <a:solidFill>
                <a:srgbClr val="1B2A4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45000"/>
              </a:lnSpc>
              <a:spcBef>
                <a:spcPts val="1200"/>
              </a:spcBef>
              <a:spcAft>
                <a:spcPts val="0"/>
              </a:spcAft>
            </a:pPr>
            <a:endParaRPr sz="1250" b="0">
              <a:solidFill>
                <a:srgbClr val="5B708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250305" y="1481328"/>
            <a:ext cx="9525" cy="4023360"/>
          </a:xfrm>
          <a:prstGeom prst="rect">
            <a:avLst/>
          </a:prstGeom>
          <a:solidFill>
            <a:srgbClr val="DCE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545580" y="1481455"/>
            <a:ext cx="3703320" cy="311086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</a:pPr>
            <a:r>
              <a:rPr sz="2400" b="1">
                <a:solidFill>
                  <a:srgbClr val="B23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换个思路</a:t>
            </a:r>
            <a:endParaRPr sz="2400" b="1">
              <a:solidFill>
                <a:srgbClr val="B23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2200"/>
              </a:spcAft>
            </a:pPr>
            <a:r>
              <a:rPr sz="1400" b="1">
                <a:solidFill>
                  <a:srgbClr val="1B2A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与其事后猜，不如让模型在生成时就偷偷留一个记号。</a:t>
            </a:r>
            <a:endParaRPr sz="1400" b="1">
              <a:solidFill>
                <a:srgbClr val="1B2A4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2200"/>
              </a:spcAft>
              <a:buClrTx/>
              <a:buSzTx/>
              <a:buFontTx/>
            </a:pPr>
            <a:r>
              <a:rPr sz="1400" b="1">
                <a:solidFill>
                  <a:srgbClr val="1B2A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举例</a:t>
            </a:r>
            <a:endParaRPr sz="1400" b="1">
              <a:solidFill>
                <a:srgbClr val="1B2A4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3345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钞票上的防伪线。仿制者知道有防伪线</a:t>
            </a:r>
            <a:r>
              <a:rPr lang="zh-CN" sz="1250" b="0">
                <a:solidFill>
                  <a:srgbClr val="3345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存在</a:t>
            </a:r>
            <a:r>
              <a:rPr sz="1250" b="0">
                <a:solidFill>
                  <a:srgbClr val="3345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，却不知道具体的工艺参数。</a:t>
            </a:r>
            <a:endParaRPr sz="1250" b="0">
              <a:solidFill>
                <a:srgbClr val="3345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8" name="Picture 7" descr="um_h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96805" y="365760"/>
            <a:ext cx="1481328" cy="43115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566928"/>
            <a:ext cx="8936431" cy="415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500" b="1">
                <a:solidFill>
                  <a:srgbClr val="1B2A41"/>
                </a:solidFill>
                <a:latin typeface="微软雅黑" panose="020B0503020204020204" charset="-122"/>
                <a:ea typeface="微软雅黑" panose="020B0503020204020204" charset="-122"/>
              </a:rPr>
              <a:t>水印的嵌入与检测机制</a:t>
            </a:r>
            <a:endParaRPr lang="zh-CN" altLang="en-US" sz="2500" b="1">
              <a:solidFill>
                <a:srgbClr val="1B2A4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713232" y="1243584"/>
            <a:ext cx="10765231" cy="9525"/>
          </a:xfrm>
          <a:prstGeom prst="rect">
            <a:avLst/>
          </a:prstGeom>
          <a:solidFill>
            <a:srgbClr val="DCE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13232" y="1572768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B23A2E"/>
                </a:solidFill>
                <a:latin typeface="微软雅黑" panose="020B0503020204020204" charset="-122"/>
                <a:ea typeface="微软雅黑" panose="020B0503020204020204" charset="-122"/>
              </a:rPr>
              <a:t>①</a:t>
            </a:r>
            <a:endParaRPr sz="1700" b="1">
              <a:solidFill>
                <a:srgbClr val="B23A2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50722" y="1576705"/>
            <a:ext cx="248716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B2A41"/>
                </a:solidFill>
                <a:latin typeface="微软雅黑" panose="020B0503020204020204" charset="-122"/>
                <a:ea typeface="微软雅黑" panose="020B0503020204020204" charset="-122"/>
              </a:rPr>
              <a:t>词表分成两半</a:t>
            </a:r>
            <a:endParaRPr sz="1500" b="1">
              <a:solidFill>
                <a:srgbClr val="1B2A4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35965" y="2066290"/>
            <a:ext cx="1508760" cy="918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用密钥把词表随机分成"绿名单"和"红名单"。密钥不同，绿名单就不同。</a:t>
            </a:r>
            <a:endParaRPr sz="1150" b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236976" y="2377440"/>
            <a:ext cx="146304" cy="20320"/>
          </a:xfrm>
          <a:prstGeom prst="rect">
            <a:avLst/>
          </a:prstGeom>
          <a:solidFill>
            <a:srgbClr val="DCE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438144" y="1572768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B23A2E"/>
                </a:solidFill>
                <a:latin typeface="微软雅黑" panose="020B0503020204020204" charset="-122"/>
                <a:ea typeface="微软雅黑" panose="020B0503020204020204" charset="-122"/>
              </a:rPr>
              <a:t>②</a:t>
            </a:r>
            <a:endParaRPr sz="1700" b="1">
              <a:solidFill>
                <a:srgbClr val="B23A2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676269" y="1572895"/>
            <a:ext cx="248716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B2A41"/>
                </a:solidFill>
                <a:latin typeface="微软雅黑" panose="020B0503020204020204" charset="-122"/>
                <a:ea typeface="微软雅黑" panose="020B0503020204020204" charset="-122"/>
              </a:rPr>
              <a:t>给绿名单加分</a:t>
            </a:r>
            <a:endParaRPr sz="1500" b="1">
              <a:solidFill>
                <a:srgbClr val="1B2A4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460750" y="2066290"/>
            <a:ext cx="1504950" cy="6883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生成时，把绿名单里每个词的概率稍微抬高一点点。</a:t>
            </a:r>
            <a:endParaRPr sz="1150" b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5961888" y="2377440"/>
            <a:ext cx="146304" cy="20320"/>
          </a:xfrm>
          <a:prstGeom prst="rect">
            <a:avLst/>
          </a:prstGeom>
          <a:solidFill>
            <a:srgbClr val="DCE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163056" y="1572768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B23A2E"/>
                </a:solidFill>
                <a:latin typeface="微软雅黑" panose="020B0503020204020204" charset="-122"/>
                <a:ea typeface="微软雅黑" panose="020B0503020204020204" charset="-122"/>
              </a:rPr>
              <a:t>③</a:t>
            </a:r>
            <a:endParaRPr sz="1700" b="1">
              <a:solidFill>
                <a:srgbClr val="B23A2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401181" y="1572895"/>
            <a:ext cx="248716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B2A41"/>
                </a:solidFill>
                <a:latin typeface="微软雅黑" panose="020B0503020204020204" charset="-122"/>
                <a:ea typeface="微软雅黑" panose="020B0503020204020204" charset="-122"/>
              </a:rPr>
              <a:t>照常选词</a:t>
            </a:r>
            <a:endParaRPr sz="1500" b="1">
              <a:solidFill>
                <a:srgbClr val="1B2A4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186170" y="2066290"/>
            <a:ext cx="1445895" cy="6883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仍按概率挑词，所以句子完全自然，人眼察觉不到。</a:t>
            </a:r>
            <a:endParaRPr sz="1150" b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8686800" y="2377440"/>
            <a:ext cx="146304" cy="20320"/>
          </a:xfrm>
          <a:prstGeom prst="rect">
            <a:avLst/>
          </a:prstGeom>
          <a:solidFill>
            <a:srgbClr val="DCE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887968" y="1572768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B23A2E"/>
                </a:solidFill>
                <a:latin typeface="微软雅黑" panose="020B0503020204020204" charset="-122"/>
                <a:ea typeface="微软雅黑" panose="020B0503020204020204" charset="-122"/>
              </a:rPr>
              <a:t>④</a:t>
            </a:r>
            <a:endParaRPr sz="1700" b="1">
              <a:solidFill>
                <a:srgbClr val="B23A2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9126093" y="1572895"/>
            <a:ext cx="248716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B2A41"/>
                </a:solidFill>
                <a:latin typeface="微软雅黑" panose="020B0503020204020204" charset="-122"/>
                <a:ea typeface="微软雅黑" panose="020B0503020204020204" charset="-122"/>
              </a:rPr>
              <a:t>数绿色词</a:t>
            </a:r>
            <a:endParaRPr sz="1500" b="1">
              <a:solidFill>
                <a:srgbClr val="1B2A4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910955" y="2066290"/>
            <a:ext cx="1647825" cy="4591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写完统计绿色词比例。明显偏高，就判定带水印"。</a:t>
            </a:r>
            <a:endParaRPr sz="1150" b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13232" y="3913632"/>
            <a:ext cx="10424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B2A41"/>
                </a:solidFill>
                <a:latin typeface="微软雅黑" panose="020B0503020204020204" charset="-122"/>
                <a:ea typeface="微软雅黑" panose="020B0503020204020204" charset="-122"/>
              </a:rPr>
              <a:t>检测器只看一件事：绿色词占多大比例。</a:t>
            </a:r>
            <a:endParaRPr sz="1400" b="1">
              <a:solidFill>
                <a:srgbClr val="1B2A4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13232" y="4443984"/>
            <a:ext cx="42062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5B7089"/>
                </a:solidFill>
                <a:latin typeface="微软雅黑" panose="020B0503020204020204" charset="-122"/>
                <a:ea typeface="微软雅黑" panose="020B0503020204020204" charset="-122"/>
              </a:rPr>
              <a:t>没有水印，绿词大约一半</a:t>
            </a:r>
            <a:endParaRPr sz="1200" b="1">
              <a:solidFill>
                <a:srgbClr val="5B708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713232" y="5349240"/>
            <a:ext cx="2052828" cy="557784"/>
          </a:xfrm>
          <a:prstGeom prst="rect">
            <a:avLst/>
          </a:prstGeom>
          <a:solidFill>
            <a:srgbClr val="C9D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67512" y="5138928"/>
            <a:ext cx="214426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B7089"/>
                </a:solidFill>
                <a:latin typeface="微软雅黑" panose="020B0503020204020204" charset="-122"/>
                <a:ea typeface="微软雅黑" panose="020B0503020204020204" charset="-122"/>
              </a:rPr>
              <a:t>50%</a:t>
            </a:r>
            <a:endParaRPr sz="950" b="0">
              <a:solidFill>
                <a:srgbClr val="5B708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67512" y="5943600"/>
            <a:ext cx="214426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B7089"/>
                </a:solidFill>
                <a:latin typeface="微软雅黑" panose="020B0503020204020204" charset="-122"/>
                <a:ea typeface="微软雅黑" panose="020B0503020204020204" charset="-122"/>
              </a:rPr>
              <a:t>绿词</a:t>
            </a:r>
            <a:endParaRPr sz="1100" b="0">
              <a:solidFill>
                <a:srgbClr val="5B708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2866644" y="5349240"/>
            <a:ext cx="2052828" cy="557784"/>
          </a:xfrm>
          <a:prstGeom prst="rect">
            <a:avLst/>
          </a:prstGeom>
          <a:solidFill>
            <a:srgbClr val="C9D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2820924" y="5138928"/>
            <a:ext cx="214426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B7089"/>
                </a:solidFill>
                <a:latin typeface="微软雅黑" panose="020B0503020204020204" charset="-122"/>
                <a:ea typeface="微软雅黑" panose="020B0503020204020204" charset="-122"/>
              </a:rPr>
              <a:t>50%</a:t>
            </a:r>
            <a:endParaRPr sz="950" b="0">
              <a:solidFill>
                <a:srgbClr val="5B708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2820924" y="5943600"/>
            <a:ext cx="214426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B7089"/>
                </a:solidFill>
                <a:latin typeface="微软雅黑" panose="020B0503020204020204" charset="-122"/>
                <a:ea typeface="微软雅黑" panose="020B0503020204020204" charset="-122"/>
              </a:rPr>
              <a:t>红词</a:t>
            </a:r>
            <a:endParaRPr sz="1100" b="0">
              <a:solidFill>
                <a:srgbClr val="5B708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949440" y="4443984"/>
            <a:ext cx="42062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23A2E"/>
                </a:solidFill>
                <a:latin typeface="微软雅黑" panose="020B0503020204020204" charset="-122"/>
                <a:ea typeface="微软雅黑" panose="020B0503020204020204" charset="-122"/>
              </a:rPr>
              <a:t>加过水印，绿词明显偏多</a:t>
            </a:r>
            <a:endParaRPr sz="1200" b="1">
              <a:solidFill>
                <a:srgbClr val="B23A2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6949440" y="5036881"/>
            <a:ext cx="2052828" cy="870143"/>
          </a:xfrm>
          <a:prstGeom prst="rect">
            <a:avLst/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903720" y="4826569"/>
            <a:ext cx="214426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B23A2E"/>
                </a:solidFill>
                <a:latin typeface="微软雅黑" panose="020B0503020204020204" charset="-122"/>
                <a:ea typeface="微软雅黑" panose="020B0503020204020204" charset="-122"/>
              </a:rPr>
              <a:t>78%</a:t>
            </a:r>
            <a:endParaRPr sz="950" b="1">
              <a:solidFill>
                <a:srgbClr val="B23A2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903720" y="5943600"/>
            <a:ext cx="214426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B2A41"/>
                </a:solidFill>
                <a:latin typeface="微软雅黑" panose="020B0503020204020204" charset="-122"/>
                <a:ea typeface="微软雅黑" panose="020B0503020204020204" charset="-122"/>
              </a:rPr>
              <a:t>绿词</a:t>
            </a:r>
            <a:endParaRPr sz="1100" b="1">
              <a:solidFill>
                <a:srgbClr val="1B2A4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9102852" y="5661600"/>
            <a:ext cx="2052828" cy="245424"/>
          </a:xfrm>
          <a:prstGeom prst="rect">
            <a:avLst/>
          </a:prstGeom>
          <a:solidFill>
            <a:srgbClr val="C9D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9057132" y="5451288"/>
            <a:ext cx="214426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B7089"/>
                </a:solidFill>
                <a:latin typeface="微软雅黑" panose="020B0503020204020204" charset="-122"/>
                <a:ea typeface="微软雅黑" panose="020B0503020204020204" charset="-122"/>
              </a:rPr>
              <a:t>22%</a:t>
            </a:r>
            <a:endParaRPr sz="950" b="0">
              <a:solidFill>
                <a:srgbClr val="5B708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9057132" y="5943600"/>
            <a:ext cx="214426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B7089"/>
                </a:solidFill>
                <a:latin typeface="微软雅黑" panose="020B0503020204020204" charset="-122"/>
                <a:ea typeface="微软雅黑" panose="020B0503020204020204" charset="-122"/>
              </a:rPr>
              <a:t>红词</a:t>
            </a:r>
            <a:endParaRPr sz="1100" b="0">
              <a:solidFill>
                <a:srgbClr val="5B708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35" name="Picture 34" descr="um_h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96805" y="365760"/>
            <a:ext cx="1481328" cy="43115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566928"/>
            <a:ext cx="8936431" cy="415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B2A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什么叫"高熵"位置？</a:t>
            </a:r>
            <a:endParaRPr sz="2500" b="1">
              <a:solidFill>
                <a:srgbClr val="1B2A4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713232" y="1243584"/>
            <a:ext cx="10765231" cy="9525"/>
          </a:xfrm>
          <a:prstGeom prst="rect">
            <a:avLst/>
          </a:prstGeom>
          <a:solidFill>
            <a:srgbClr val="DCE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13232" y="1426464"/>
            <a:ext cx="10765231" cy="2393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听起来抽象，其实就是</a:t>
            </a:r>
            <a:r>
              <a:rPr lang="en-US" sz="130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------</a:t>
            </a:r>
            <a:r>
              <a:rPr sz="130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模型有多不确定。</a:t>
            </a:r>
            <a:endParaRPr sz="1300" b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13232" y="1874519"/>
            <a:ext cx="35560" cy="288036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87552" y="1847088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E7D6B"/>
                </a:solidFill>
                <a:latin typeface="微软雅黑" panose="020B0503020204020204" charset="-122"/>
                <a:ea typeface="微软雅黑" panose="020B0503020204020204" charset="-122"/>
              </a:rPr>
              <a:t>低熵：模型很确定</a:t>
            </a:r>
            <a:endParaRPr sz="1400" b="1">
              <a:solidFill>
                <a:srgbClr val="2E7D6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87552" y="2231136"/>
            <a:ext cx="4937760" cy="2825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B2A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中国的首都是</a:t>
            </a:r>
            <a:r>
              <a:rPr lang="zh-CN" sz="1600" b="1">
                <a:solidFill>
                  <a:srgbClr val="1B2A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（）？</a:t>
            </a:r>
            <a:endParaRPr lang="zh-CN" sz="1600" b="1">
              <a:solidFill>
                <a:srgbClr val="1B2A4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987552" y="2850002"/>
            <a:ext cx="1113282" cy="124651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41832" y="2639690"/>
            <a:ext cx="120472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E7D6B"/>
                </a:solidFill>
                <a:latin typeface="微软雅黑" panose="020B0503020204020204" charset="-122"/>
                <a:ea typeface="微软雅黑" panose="020B0503020204020204" charset="-122"/>
              </a:rPr>
              <a:t>96%</a:t>
            </a:r>
            <a:endParaRPr sz="900" b="1">
              <a:solidFill>
                <a:srgbClr val="2E7D6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41832" y="4133088"/>
            <a:ext cx="120472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B2A41"/>
                </a:solidFill>
                <a:latin typeface="微软雅黑" panose="020B0503020204020204" charset="-122"/>
                <a:ea typeface="微软雅黑" panose="020B0503020204020204" charset="-122"/>
              </a:rPr>
              <a:t>北京</a:t>
            </a:r>
            <a:endParaRPr sz="1050" b="1">
              <a:solidFill>
                <a:srgbClr val="1B2A4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2201418" y="4064508"/>
            <a:ext cx="1113282" cy="32004"/>
          </a:xfrm>
          <a:prstGeom prst="rect">
            <a:avLst/>
          </a:prstGeom>
          <a:solidFill>
            <a:srgbClr val="C9D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155698" y="3854196"/>
            <a:ext cx="120472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B7089"/>
                </a:solidFill>
                <a:latin typeface="微软雅黑" panose="020B0503020204020204" charset="-122"/>
                <a:ea typeface="微软雅黑" panose="020B0503020204020204" charset="-122"/>
              </a:rPr>
              <a:t>2%</a:t>
            </a:r>
            <a:endParaRPr sz="900" b="0">
              <a:solidFill>
                <a:srgbClr val="5B708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155698" y="4133088"/>
            <a:ext cx="120472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B7089"/>
                </a:solidFill>
                <a:latin typeface="微软雅黑" panose="020B0503020204020204" charset="-122"/>
                <a:ea typeface="微软雅黑" panose="020B0503020204020204" charset="-122"/>
              </a:rPr>
              <a:t>上海</a:t>
            </a:r>
            <a:endParaRPr sz="1050" b="0">
              <a:solidFill>
                <a:srgbClr val="5B708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3415284" y="4064508"/>
            <a:ext cx="1113282" cy="32004"/>
          </a:xfrm>
          <a:prstGeom prst="rect">
            <a:avLst/>
          </a:prstGeom>
          <a:solidFill>
            <a:srgbClr val="C9D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369564" y="3854196"/>
            <a:ext cx="120472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B7089"/>
                </a:solidFill>
                <a:latin typeface="微软雅黑" panose="020B0503020204020204" charset="-122"/>
                <a:ea typeface="微软雅黑" panose="020B0503020204020204" charset="-122"/>
              </a:rPr>
              <a:t>1%</a:t>
            </a:r>
            <a:endParaRPr sz="900" b="0">
              <a:solidFill>
                <a:srgbClr val="5B708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369564" y="4133088"/>
            <a:ext cx="120472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B7089"/>
                </a:solidFill>
                <a:latin typeface="微软雅黑" panose="020B0503020204020204" charset="-122"/>
                <a:ea typeface="微软雅黑" panose="020B0503020204020204" charset="-122"/>
              </a:rPr>
              <a:t>南京</a:t>
            </a:r>
            <a:endParaRPr sz="1050" b="0">
              <a:solidFill>
                <a:srgbClr val="5B708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4629150" y="4064508"/>
            <a:ext cx="1113282" cy="32004"/>
          </a:xfrm>
          <a:prstGeom prst="rect">
            <a:avLst/>
          </a:prstGeom>
          <a:solidFill>
            <a:srgbClr val="C9D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583430" y="3854196"/>
            <a:ext cx="120472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B7089"/>
                </a:solidFill>
                <a:latin typeface="微软雅黑" panose="020B0503020204020204" charset="-122"/>
                <a:ea typeface="微软雅黑" panose="020B0503020204020204" charset="-122"/>
              </a:rPr>
              <a:t>1%</a:t>
            </a:r>
            <a:endParaRPr sz="900" b="0">
              <a:solidFill>
                <a:srgbClr val="5B708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583430" y="4133088"/>
            <a:ext cx="120472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B7089"/>
                </a:solidFill>
                <a:latin typeface="微软雅黑" panose="020B0503020204020204" charset="-122"/>
                <a:ea typeface="微软雅黑" panose="020B0503020204020204" charset="-122"/>
              </a:rPr>
              <a:t>其他</a:t>
            </a:r>
            <a:endParaRPr sz="1050" b="0">
              <a:solidFill>
                <a:srgbClr val="5B708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987425" y="4316095"/>
            <a:ext cx="4947920" cy="257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答案几乎是唯一的，模型没有选择余地。</a:t>
            </a:r>
            <a:r>
              <a:rPr lang="zh-CN" sz="120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意味着</a:t>
            </a:r>
            <a:r>
              <a:rPr sz="120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一改就露馅，加不了水印</a:t>
            </a:r>
            <a:r>
              <a:rPr sz="1200" b="0">
                <a:solidFill>
                  <a:srgbClr val="3345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sz="1200" b="0">
              <a:solidFill>
                <a:srgbClr val="3345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6291072" y="1874519"/>
            <a:ext cx="35560" cy="2880360"/>
          </a:xfrm>
          <a:prstGeom prst="rect">
            <a:avLst/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565392" y="1847088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B23A2E"/>
                </a:solidFill>
                <a:latin typeface="微软雅黑" panose="020B0503020204020204" charset="-122"/>
                <a:ea typeface="微软雅黑" panose="020B0503020204020204" charset="-122"/>
              </a:rPr>
              <a:t>高熵：模型很犹豫</a:t>
            </a:r>
            <a:endParaRPr sz="1400" b="1">
              <a:solidFill>
                <a:srgbClr val="B23A2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565392" y="2231136"/>
            <a:ext cx="4937760" cy="2825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B2A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这道菜的味道非常</a:t>
            </a:r>
            <a:r>
              <a:rPr lang="en-US" sz="1600" b="1">
                <a:solidFill>
                  <a:srgbClr val="1B2A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1600" b="1">
                <a:solidFill>
                  <a:srgbClr val="1B2A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（）？</a:t>
            </a:r>
            <a:endParaRPr lang="zh-CN" altLang="en-US" sz="1600" b="1">
              <a:solidFill>
                <a:srgbClr val="1B2A4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6565392" y="3732947"/>
            <a:ext cx="870508" cy="363565"/>
          </a:xfrm>
          <a:prstGeom prst="rect">
            <a:avLst/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519672" y="3522635"/>
            <a:ext cx="96194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B23A2E"/>
                </a:solidFill>
                <a:latin typeface="微软雅黑" panose="020B0503020204020204" charset="-122"/>
                <a:ea typeface="微软雅黑" panose="020B0503020204020204" charset="-122"/>
              </a:rPr>
              <a:t>28%</a:t>
            </a:r>
            <a:endParaRPr sz="900" b="1">
              <a:solidFill>
                <a:srgbClr val="B23A2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519672" y="4133088"/>
            <a:ext cx="96194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B2A41"/>
                </a:solidFill>
                <a:latin typeface="微软雅黑" panose="020B0503020204020204" charset="-122"/>
                <a:ea typeface="微软雅黑" panose="020B0503020204020204" charset="-122"/>
              </a:rPr>
              <a:t>美味</a:t>
            </a:r>
            <a:endParaRPr sz="1050" b="1">
              <a:solidFill>
                <a:srgbClr val="1B2A4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7536484" y="3784885"/>
            <a:ext cx="870508" cy="311627"/>
          </a:xfrm>
          <a:prstGeom prst="rect">
            <a:avLst/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7490764" y="3574573"/>
            <a:ext cx="96194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B23A2E"/>
                </a:solidFill>
                <a:latin typeface="微软雅黑" panose="020B0503020204020204" charset="-122"/>
                <a:ea typeface="微软雅黑" panose="020B0503020204020204" charset="-122"/>
              </a:rPr>
              <a:t>24%</a:t>
            </a:r>
            <a:endParaRPr sz="900" b="1">
              <a:solidFill>
                <a:srgbClr val="B23A2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7490764" y="4133088"/>
            <a:ext cx="96194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B2A41"/>
                </a:solidFill>
                <a:latin typeface="微软雅黑" panose="020B0503020204020204" charset="-122"/>
                <a:ea typeface="微软雅黑" panose="020B0503020204020204" charset="-122"/>
              </a:rPr>
              <a:t>奇怪</a:t>
            </a:r>
            <a:endParaRPr sz="1050" b="1">
              <a:solidFill>
                <a:srgbClr val="1B2A4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8507576" y="3836823"/>
            <a:ext cx="870508" cy="259689"/>
          </a:xfrm>
          <a:prstGeom prst="rect">
            <a:avLst/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8461856" y="3626511"/>
            <a:ext cx="96194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B23A2E"/>
                </a:solidFill>
                <a:latin typeface="微软雅黑" panose="020B0503020204020204" charset="-122"/>
                <a:ea typeface="微软雅黑" panose="020B0503020204020204" charset="-122"/>
              </a:rPr>
              <a:t>20%</a:t>
            </a:r>
            <a:endParaRPr sz="900" b="1">
              <a:solidFill>
                <a:srgbClr val="B23A2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8461856" y="4133088"/>
            <a:ext cx="96194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B2A41"/>
                </a:solidFill>
                <a:latin typeface="微软雅黑" panose="020B0503020204020204" charset="-122"/>
                <a:ea typeface="微软雅黑" panose="020B0503020204020204" charset="-122"/>
              </a:rPr>
              <a:t>一般</a:t>
            </a:r>
            <a:endParaRPr sz="1050" b="1">
              <a:solidFill>
                <a:srgbClr val="1B2A4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9478668" y="3901745"/>
            <a:ext cx="870508" cy="194767"/>
          </a:xfrm>
          <a:prstGeom prst="rect">
            <a:avLst/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9432948" y="3691433"/>
            <a:ext cx="96194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B23A2E"/>
                </a:solidFill>
                <a:latin typeface="微软雅黑" panose="020B0503020204020204" charset="-122"/>
                <a:ea typeface="微软雅黑" panose="020B0503020204020204" charset="-122"/>
              </a:rPr>
              <a:t>15%</a:t>
            </a:r>
            <a:endParaRPr sz="900" b="1">
              <a:solidFill>
                <a:srgbClr val="B23A2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9432948" y="4133088"/>
            <a:ext cx="96194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B2A41"/>
                </a:solidFill>
                <a:latin typeface="微软雅黑" panose="020B0503020204020204" charset="-122"/>
                <a:ea typeface="微软雅黑" panose="020B0503020204020204" charset="-122"/>
              </a:rPr>
              <a:t>独特</a:t>
            </a:r>
            <a:endParaRPr sz="1050" b="1">
              <a:solidFill>
                <a:srgbClr val="1B2A4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10449760" y="3927714"/>
            <a:ext cx="870508" cy="168798"/>
          </a:xfrm>
          <a:prstGeom prst="rect">
            <a:avLst/>
          </a:prstGeom>
          <a:solidFill>
            <a:srgbClr val="C9D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10404040" y="3717402"/>
            <a:ext cx="96194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B7089"/>
                </a:solidFill>
                <a:latin typeface="微软雅黑" panose="020B0503020204020204" charset="-122"/>
                <a:ea typeface="微软雅黑" panose="020B0503020204020204" charset="-122"/>
              </a:rPr>
              <a:t>13%</a:t>
            </a:r>
            <a:endParaRPr sz="900" b="0">
              <a:solidFill>
                <a:srgbClr val="5B708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10404040" y="4133088"/>
            <a:ext cx="96194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B7089"/>
                </a:solidFill>
                <a:latin typeface="微软雅黑" panose="020B0503020204020204" charset="-122"/>
                <a:ea typeface="微软雅黑" panose="020B0503020204020204" charset="-122"/>
              </a:rPr>
              <a:t>其他</a:t>
            </a:r>
            <a:endParaRPr sz="1050" b="0">
              <a:solidFill>
                <a:srgbClr val="5B708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6565265" y="4316095"/>
            <a:ext cx="4942840" cy="257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好几个词都说得通，概率分散。</a:t>
            </a:r>
            <a:r>
              <a:rPr lang="zh-CN" sz="120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意味着</a:t>
            </a:r>
            <a:r>
              <a:rPr sz="120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换个词句子依然通顺，可以加水印</a:t>
            </a:r>
            <a:r>
              <a:rPr sz="1200" b="0">
                <a:solidFill>
                  <a:srgbClr val="3345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sz="1200" b="0">
              <a:solidFill>
                <a:srgbClr val="3345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41" name="Picture 40" descr="um_h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96805" y="365760"/>
            <a:ext cx="1481328" cy="43115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1005840"/>
            <a:ext cx="10607040" cy="384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500" b="1">
                <a:solidFill>
                  <a:srgbClr val="B23A2E"/>
                </a:solidFill>
                <a:latin typeface="Times New Roman" panose="02020603050405020304"/>
                <a:ea typeface="微软雅黑" panose="020B0503020204020204" charset="-122"/>
              </a:rPr>
              <a:t>嵌入位置的必然选择</a:t>
            </a:r>
            <a:endParaRPr lang="zh-CN" altLang="en-US" sz="2500" b="1">
              <a:solidFill>
                <a:srgbClr val="B23A2E"/>
              </a:solidFill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13232" y="1700784"/>
            <a:ext cx="10241280" cy="8718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2000" b="0">
                <a:solidFill>
                  <a:schemeClr val="tx1"/>
                </a:solidFill>
                <a:latin typeface="Times New Roman" panose="02020603050405020304"/>
                <a:ea typeface="微软雅黑" panose="020B0503020204020204" charset="-122"/>
              </a:rPr>
              <a:t>水印有两个互相拉扯的要求：</a:t>
            </a:r>
            <a:endParaRPr sz="2000" b="0">
              <a:solidFill>
                <a:schemeClr val="tx1"/>
              </a:solidFill>
              <a:latin typeface="Times New Roman" panose="02020603050405020304"/>
              <a:ea typeface="微软雅黑" panose="020B0503020204020204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B2A41"/>
                </a:solidFill>
                <a:latin typeface="Times New Roman" panose="02020603050405020304"/>
                <a:ea typeface="微软雅黑" panose="020B0503020204020204" charset="-122"/>
              </a:rPr>
              <a:t>既要让人看不出来，又要真的改变选词。</a:t>
            </a:r>
            <a:endParaRPr sz="2000" b="1">
              <a:solidFill>
                <a:srgbClr val="1B2A41"/>
              </a:solidFill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13232" y="3017520"/>
            <a:ext cx="6949440" cy="35560"/>
          </a:xfrm>
          <a:prstGeom prst="rect">
            <a:avLst/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3438144"/>
            <a:ext cx="4846320" cy="737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b="1">
                <a:solidFill>
                  <a:srgbClr val="2E7D6B"/>
                </a:solidFill>
                <a:latin typeface="Times New Roman" panose="02020603050405020304"/>
                <a:ea typeface="微软雅黑" panose="020B0503020204020204" charset="-122"/>
              </a:rPr>
              <a:t>低熵位置</a:t>
            </a:r>
            <a:endParaRPr b="1">
              <a:solidFill>
                <a:srgbClr val="2E7D6B"/>
              </a:solidFill>
              <a:latin typeface="Times New Roman" panose="02020603050405020304"/>
              <a:ea typeface="微软雅黑" panose="020B0503020204020204" charset="-122"/>
            </a:endParaRP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chemeClr val="tx1"/>
                </a:solidFill>
                <a:latin typeface="Times New Roman" panose="02020603050405020304"/>
                <a:ea typeface="微软雅黑" panose="020B0503020204020204" charset="-122"/>
              </a:rPr>
              <a:t>一改语义就错，一眼就假；不改又埋不进任何标记。</a:t>
            </a:r>
            <a:endParaRPr sz="1600" b="0">
              <a:solidFill>
                <a:schemeClr val="tx1"/>
              </a:solidFill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675120" y="3438144"/>
            <a:ext cx="4846320" cy="737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b="1">
                <a:solidFill>
                  <a:srgbClr val="B23A2E"/>
                </a:solidFill>
                <a:latin typeface="Times New Roman" panose="02020603050405020304"/>
                <a:ea typeface="微软雅黑" panose="020B0503020204020204" charset="-122"/>
              </a:rPr>
              <a:t>高熵位置</a:t>
            </a:r>
            <a:endParaRPr b="1">
              <a:solidFill>
                <a:srgbClr val="B23A2E"/>
              </a:solidFill>
              <a:latin typeface="Times New Roman" panose="02020603050405020304"/>
              <a:ea typeface="微软雅黑" panose="020B0503020204020204" charset="-122"/>
            </a:endParaRP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chemeClr val="tx1"/>
                </a:solidFill>
                <a:latin typeface="Times New Roman" panose="02020603050405020304"/>
                <a:ea typeface="微软雅黑" panose="020B0503020204020204" charset="-122"/>
              </a:rPr>
              <a:t>改动不影响自然度，又确实改变了绿名单词的比例。</a:t>
            </a:r>
            <a:endParaRPr sz="1600" b="0">
              <a:solidFill>
                <a:schemeClr val="tx1"/>
              </a:solidFill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13232" y="5138928"/>
            <a:ext cx="10765231" cy="9525"/>
          </a:xfrm>
          <a:prstGeom prst="rect">
            <a:avLst/>
          </a:prstGeom>
          <a:solidFill>
            <a:srgbClr val="DCE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5340096"/>
            <a:ext cx="10424160" cy="3733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b="1">
                <a:solidFill>
                  <a:schemeClr val="tx1"/>
                </a:solidFill>
                <a:latin typeface="Times New Roman" panose="02020603050405020304"/>
                <a:ea typeface="微软雅黑" panose="020B0503020204020204" charset="-122"/>
              </a:rPr>
              <a:t>所以当前主流的水印方案，全都把水印嵌在高熵位置</a:t>
            </a:r>
            <a:r>
              <a:rPr lang="en-US" b="1">
                <a:solidFill>
                  <a:schemeClr val="tx1"/>
                </a:solidFill>
                <a:latin typeface="Times New Roman" panose="02020603050405020304"/>
                <a:ea typeface="微软雅黑" panose="020B0503020204020204" charset="-122"/>
              </a:rPr>
              <a:t>-——</a:t>
            </a:r>
            <a:r>
              <a:rPr b="1">
                <a:solidFill>
                  <a:schemeClr val="tx1"/>
                </a:solidFill>
                <a:latin typeface="Times New Roman" panose="02020603050405020304"/>
                <a:ea typeface="微软雅黑" panose="020B0503020204020204" charset="-122"/>
              </a:rPr>
              <a:t>这就是这篇论文全部攻击的立足点。</a:t>
            </a:r>
            <a:endParaRPr b="1">
              <a:solidFill>
                <a:schemeClr val="tx1"/>
              </a:solidFill>
              <a:latin typeface="Times New Roman" panose="02020603050405020304"/>
              <a:ea typeface="微软雅黑" panose="020B0503020204020204" charset="-122"/>
            </a:endParaRPr>
          </a:p>
        </p:txBody>
      </p:sp>
      <p:pic>
        <p:nvPicPr>
          <p:cNvPr id="9" name="Picture 8" descr="um_h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96805" y="365760"/>
            <a:ext cx="1481328" cy="43115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566928"/>
            <a:ext cx="8936431" cy="415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B2A41"/>
                </a:solidFill>
                <a:latin typeface="微软雅黑" panose="020B0503020204020204" charset="-122"/>
                <a:ea typeface="微软雅黑" panose="020B0503020204020204" charset="-122"/>
              </a:rPr>
              <a:t>水印的两大</a:t>
            </a:r>
            <a:r>
              <a:rPr lang="zh-CN" sz="2500" b="1">
                <a:solidFill>
                  <a:srgbClr val="1B2A41"/>
                </a:solidFill>
                <a:latin typeface="微软雅黑" panose="020B0503020204020204" charset="-122"/>
                <a:ea typeface="微软雅黑" panose="020B0503020204020204" charset="-122"/>
              </a:rPr>
              <a:t>主流</a:t>
            </a:r>
            <a:endParaRPr lang="zh-CN" sz="2500" b="1">
              <a:solidFill>
                <a:srgbClr val="1B2A4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713232" y="1243584"/>
            <a:ext cx="10765231" cy="9525"/>
          </a:xfrm>
          <a:prstGeom prst="rect">
            <a:avLst/>
          </a:prstGeom>
          <a:solidFill>
            <a:srgbClr val="DCE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13232" y="1883664"/>
            <a:ext cx="35560" cy="1572768"/>
          </a:xfrm>
          <a:prstGeom prst="rect">
            <a:avLst/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87552" y="1865376"/>
            <a:ext cx="3108960" cy="610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B23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KGW 家族</a:t>
            </a:r>
            <a:endParaRPr sz="2000" b="1">
              <a:solidFill>
                <a:srgbClr val="B23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70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在"打分"环节动手</a:t>
            </a:r>
            <a:endParaRPr sz="1200" b="0">
              <a:solidFill>
                <a:srgbClr val="5B708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279392" y="1901952"/>
            <a:ext cx="7680960" cy="10248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1B2A41"/>
                </a:solidFill>
                <a:latin typeface="微软雅黑" panose="020B0503020204020204" charset="-122"/>
                <a:ea typeface="微软雅黑" panose="020B0503020204020204" charset="-122"/>
              </a:rPr>
              <a:t>模型先算出每个词的原始分数</a:t>
            </a:r>
            <a:endParaRPr sz="1400" b="0">
              <a:solidFill>
                <a:srgbClr val="1B2A4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1B2A41"/>
                </a:solidFill>
                <a:latin typeface="微软雅黑" panose="020B0503020204020204" charset="-122"/>
                <a:ea typeface="微软雅黑" panose="020B0503020204020204" charset="-122"/>
              </a:rPr>
              <a:t>在转成概率之前，给绿名单的词加偏置</a:t>
            </a:r>
            <a:endParaRPr sz="1400" b="0">
              <a:solidFill>
                <a:srgbClr val="1B2A4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1B2A41"/>
                </a:solidFill>
                <a:latin typeface="微软雅黑" panose="020B0503020204020204" charset="-122"/>
                <a:ea typeface="微软雅黑" panose="020B0503020204020204" charset="-122"/>
              </a:rPr>
              <a:t>相当于提前改好分数表，再照常抽签</a:t>
            </a:r>
            <a:endParaRPr sz="1400" b="0">
              <a:solidFill>
                <a:srgbClr val="1B2A4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279392" y="3108960"/>
            <a:ext cx="7680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代表：KGW · Unigram · UPV · EWD · DIP · SIR　｜　实现简单，当前主流</a:t>
            </a:r>
            <a:endParaRPr sz="1100" b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13232" y="3803904"/>
            <a:ext cx="35560" cy="1572768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87552" y="3785616"/>
            <a:ext cx="3108960" cy="610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2E7D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Christ 家族</a:t>
            </a:r>
            <a:endParaRPr sz="2000" b="1">
              <a:solidFill>
                <a:srgbClr val="2E7D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70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在"抽签"环节动手</a:t>
            </a:r>
            <a:endParaRPr sz="1200" b="0">
              <a:solidFill>
                <a:srgbClr val="5B708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279392" y="3822192"/>
            <a:ext cx="7680960" cy="10248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1B2A41"/>
                </a:solidFill>
                <a:latin typeface="微软雅黑" panose="020B0503020204020204" charset="-122"/>
                <a:ea typeface="微软雅黑" panose="020B0503020204020204" charset="-122"/>
              </a:rPr>
              <a:t>不改分数表，分数保持原样</a:t>
            </a:r>
            <a:endParaRPr sz="1400" b="0">
              <a:solidFill>
                <a:srgbClr val="1B2A4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1B2A41"/>
                </a:solidFill>
                <a:latin typeface="微软雅黑" panose="020B0503020204020204" charset="-122"/>
                <a:ea typeface="微软雅黑" panose="020B0503020204020204" charset="-122"/>
              </a:rPr>
              <a:t>在真正选词的那一刻做干预</a:t>
            </a:r>
            <a:endParaRPr sz="1400" b="0">
              <a:solidFill>
                <a:srgbClr val="1B2A4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1B2A41"/>
                </a:solidFill>
                <a:latin typeface="微软雅黑" panose="020B0503020204020204" charset="-122"/>
                <a:ea typeface="微软雅黑" panose="020B0503020204020204" charset="-122"/>
              </a:rPr>
              <a:t>相当于规则变了，强制偏好绿名单</a:t>
            </a:r>
            <a:endParaRPr sz="1400" b="0">
              <a:solidFill>
                <a:srgbClr val="1B2A4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279392" y="5029200"/>
            <a:ext cx="7680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代表：Aaronson &amp; Kirchner · Christ　｜　对改写更鲁棒</a:t>
            </a:r>
            <a:endParaRPr sz="1100" b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4" name="Picture 13" descr="um_h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96805" y="365760"/>
            <a:ext cx="1481328" cy="43115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566928"/>
            <a:ext cx="8936431" cy="415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500" b="1">
                <a:solidFill>
                  <a:srgbClr val="1B2A41"/>
                </a:solidFill>
                <a:latin typeface="微软雅黑" panose="020B0503020204020204" charset="-122"/>
                <a:ea typeface="微软雅黑" panose="020B0503020204020204" charset="-122"/>
              </a:rPr>
              <a:t>水印鲁棒性的评估手段</a:t>
            </a:r>
            <a:endParaRPr lang="zh-CN" altLang="en-US" sz="2500" b="1">
              <a:solidFill>
                <a:srgbClr val="1B2A4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713232" y="1243584"/>
            <a:ext cx="10765231" cy="9525"/>
          </a:xfrm>
          <a:prstGeom prst="rect">
            <a:avLst/>
          </a:prstGeom>
          <a:solidFill>
            <a:srgbClr val="DCE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13232" y="1444752"/>
            <a:ext cx="10765231" cy="2393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要证明水印有用，就得有人扮演攻击者去破坏它：</a:t>
            </a:r>
            <a:endParaRPr sz="1300" b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13232" y="1920240"/>
            <a:ext cx="3200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1B2A41"/>
                </a:solidFill>
                <a:latin typeface="微软雅黑" panose="020B0503020204020204" charset="-122"/>
                <a:ea typeface="微软雅黑" panose="020B0503020204020204" charset="-122"/>
              </a:rPr>
              <a:t>词语删除</a:t>
            </a:r>
            <a:endParaRPr sz="1350" b="1">
              <a:solidFill>
                <a:srgbClr val="1B2A4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096512" y="1920240"/>
            <a:ext cx="72237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水印有冗余，删几个词破坏不了整体统计</a:t>
            </a:r>
            <a:endParaRPr sz="1250" b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13232" y="2578608"/>
            <a:ext cx="3200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1B2A41"/>
                </a:solidFill>
                <a:latin typeface="微软雅黑" panose="020B0503020204020204" charset="-122"/>
                <a:ea typeface="微软雅黑" panose="020B0503020204020204" charset="-122"/>
              </a:rPr>
              <a:t>同义词替换</a:t>
            </a:r>
            <a:endParaRPr sz="1350" b="1">
              <a:solidFill>
                <a:srgbClr val="1B2A4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096512" y="2578608"/>
            <a:ext cx="72237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换的词多半不在水印位置，改动无效</a:t>
            </a:r>
            <a:endParaRPr sz="1250" b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13232" y="3236976"/>
            <a:ext cx="3200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1B2A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表情符号 / 复制粘贴</a:t>
            </a:r>
            <a:endParaRPr sz="1350" b="1">
              <a:solidFill>
                <a:srgbClr val="1B2A4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096512" y="3236976"/>
            <a:ext cx="72237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容易被内容过滤器拦下，还会改变语义</a:t>
            </a:r>
            <a:endParaRPr sz="1250" b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713232" y="4041648"/>
            <a:ext cx="10765231" cy="9525"/>
          </a:xfrm>
          <a:prstGeom prst="rect">
            <a:avLst/>
          </a:prstGeom>
          <a:solidFill>
            <a:srgbClr val="DCE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13232" y="4261104"/>
            <a:ext cx="10424160" cy="2482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50" b="1">
                <a:solidFill>
                  <a:srgbClr val="B23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新方法</a:t>
            </a:r>
            <a:r>
              <a:rPr sz="1350" b="1">
                <a:solidFill>
                  <a:srgbClr val="B23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"让另一个 AI 整段重写"（如 DIPPER）但</a:t>
            </a:r>
            <a:r>
              <a:rPr lang="zh-CN" sz="1350" b="1">
                <a:solidFill>
                  <a:srgbClr val="B23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同样存在</a:t>
            </a:r>
            <a:r>
              <a:rPr sz="1350" b="1">
                <a:solidFill>
                  <a:srgbClr val="B23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问题：</a:t>
            </a:r>
            <a:endParaRPr sz="1350" b="1">
              <a:solidFill>
                <a:srgbClr val="B23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68096" y="4754880"/>
            <a:ext cx="1033272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改哪些词完全随机，经常漏掉水印位置，攻击就失败</a:t>
            </a:r>
            <a:endParaRPr sz="1400" b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68096" y="5230368"/>
            <a:ext cx="1033272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依赖大模型反复生成，算力开销大</a:t>
            </a:r>
            <a:endParaRPr sz="1400" b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68096" y="5705856"/>
            <a:ext cx="1033272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靠专门数据微调而来，换一个模型就不灵</a:t>
            </a:r>
            <a:endParaRPr sz="1400" b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7" name="Picture 16" descr="um_h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96805" y="365760"/>
            <a:ext cx="1481328" cy="43115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822960"/>
            <a:ext cx="10607040" cy="384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500" b="1">
                <a:solidFill>
                  <a:srgbClr val="B23A2E"/>
                </a:solidFill>
                <a:latin typeface="微软雅黑" panose="020B0503020204020204" charset="-122"/>
                <a:ea typeface="微软雅黑" panose="020B0503020204020204" charset="-122"/>
              </a:rPr>
              <a:t>本文的问题与答案</a:t>
            </a:r>
            <a:endParaRPr lang="zh-CN" altLang="en-US" sz="2500" b="1">
              <a:solidFill>
                <a:srgbClr val="B23A2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13232" y="1463040"/>
            <a:ext cx="10332720" cy="5060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B2A41"/>
                </a:solidFill>
                <a:latin typeface="微软雅黑" panose="020B0503020204020204" charset="-122"/>
                <a:ea typeface="微软雅黑" panose="020B0503020204020204" charset="-122"/>
              </a:rPr>
              <a:t>设计一种攻击，既有针对性、又轻量、又通用？</a:t>
            </a:r>
            <a:endParaRPr sz="2700" b="1">
              <a:solidFill>
                <a:srgbClr val="1B2A4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13232" y="2224786"/>
            <a:ext cx="7315200" cy="35560"/>
          </a:xfrm>
          <a:prstGeom prst="rect">
            <a:avLst/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13105" y="2560320"/>
            <a:ext cx="8648700" cy="1181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indent="45720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但这件事没那么容易。攻击者并不知道水印藏在哪 —— 算法和密钥都是秘密</a:t>
            </a:r>
            <a:r>
              <a:rPr lang="zh-CN" sz="160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sz="160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就算侥幸找到了位置，只改那几个词，还得保证整句话依然通顺</a:t>
            </a:r>
            <a:r>
              <a:rPr lang="zh-CN" sz="160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sz="160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而且他不想动用那种专门微调过的大模型，因为换个模型就不灵了。</a:t>
            </a:r>
            <a:endParaRPr sz="1600" b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13232" y="5248656"/>
            <a:ext cx="10765231" cy="9525"/>
          </a:xfrm>
          <a:prstGeom prst="rect">
            <a:avLst/>
          </a:prstGeom>
          <a:solidFill>
            <a:srgbClr val="DCE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7" name="Picture 6" descr="um_h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96805" y="365760"/>
            <a:ext cx="1481328" cy="43115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713232" y="2103120"/>
            <a:ext cx="822960" cy="40640"/>
          </a:xfrm>
          <a:prstGeom prst="rect">
            <a:avLst/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13232" y="2395728"/>
            <a:ext cx="89611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1B2A41"/>
                </a:solidFill>
                <a:latin typeface="微软雅黑" panose="020B0503020204020204" charset="-122"/>
                <a:ea typeface="微软雅黑" panose="020B0503020204020204" charset="-122"/>
              </a:rPr>
              <a:t>核心洞察与威胁模型</a:t>
            </a:r>
            <a:endParaRPr sz="3800" b="1">
              <a:solidFill>
                <a:srgbClr val="1B2A4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13232" y="3584448"/>
            <a:ext cx="859536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5B70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为求隐蔽只能藏在高熵处，而高熵处反而最"显眼"</a:t>
            </a:r>
            <a:endParaRPr sz="1400" b="0">
              <a:solidFill>
                <a:srgbClr val="5B708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5B70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顺带把威胁模型交代清楚：纯黑盒，不需要密钥、检测器与算法信息</a:t>
            </a:r>
            <a:endParaRPr sz="1400" b="0">
              <a:solidFill>
                <a:srgbClr val="5B708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13232" y="1316736"/>
            <a:ext cx="2743200" cy="6153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4000" b="1">
                <a:solidFill>
                  <a:srgbClr val="B23A2E"/>
                </a:solidFill>
                <a:latin typeface="微软雅黑" panose="020B0503020204020204" charset="-122"/>
                <a:ea typeface="微软雅黑" panose="020B0503020204020204" charset="-122"/>
              </a:rPr>
              <a:t>二</a:t>
            </a:r>
            <a:endParaRPr lang="zh-CN" sz="4000" b="1">
              <a:solidFill>
                <a:srgbClr val="B23A2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7" name="Picture 6" descr="um_h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96805" y="365760"/>
            <a:ext cx="1481328" cy="43115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566928"/>
            <a:ext cx="8936431" cy="415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反直觉的破绽</a:t>
            </a:r>
            <a:endParaRPr sz="25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713232" y="1243584"/>
            <a:ext cx="10765231" cy="9525"/>
          </a:xfrm>
          <a:prstGeom prst="rect">
            <a:avLst/>
          </a:prstGeom>
          <a:solidFill>
            <a:srgbClr val="DCE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13867" y="1514094"/>
            <a:ext cx="3474720" cy="6178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1B2A41"/>
                </a:solidFill>
                <a:latin typeface="微软雅黑" panose="020B0503020204020204" charset="-122"/>
                <a:ea typeface="微软雅黑" panose="020B0503020204020204" charset="-122"/>
              </a:rPr>
              <a:t>高</a:t>
            </a:r>
            <a:r>
              <a:rPr sz="16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熵是</a:t>
            </a:r>
            <a:r>
              <a:rPr sz="1600" b="1">
                <a:solidFill>
                  <a:srgbClr val="1B2A41"/>
                </a:solidFill>
                <a:latin typeface="微软雅黑" panose="020B0503020204020204" charset="-122"/>
                <a:ea typeface="微软雅黑" panose="020B0503020204020204" charset="-122"/>
              </a:rPr>
              <a:t>什么意思</a:t>
            </a:r>
            <a:endParaRPr sz="1600" b="1">
              <a:solidFill>
                <a:srgbClr val="1B2A4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模型不确定，这个词的概率很低</a:t>
            </a:r>
            <a:endParaRPr sz="1200" b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426330" y="1514094"/>
            <a:ext cx="3474720" cy="6178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1B2A41"/>
                </a:solidFill>
                <a:latin typeface="微软雅黑" panose="020B0503020204020204" charset="-122"/>
                <a:ea typeface="微软雅黑" panose="020B0503020204020204" charset="-122"/>
              </a:rPr>
              <a:t>低概率意味着什么</a:t>
            </a:r>
            <a:endParaRPr sz="1600" b="1">
              <a:solidFill>
                <a:srgbClr val="1B2A4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信息论里概率越低，自信息越高</a:t>
            </a:r>
            <a:endParaRPr sz="1200" b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138793" y="1514094"/>
            <a:ext cx="3474720" cy="6178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1B2A41"/>
                </a:solidFill>
                <a:latin typeface="微软雅黑" panose="020B0503020204020204" charset="-122"/>
                <a:ea typeface="微软雅黑" panose="020B0503020204020204" charset="-122"/>
              </a:rPr>
              <a:t>自信息能算出来吗</a:t>
            </a:r>
            <a:endParaRPr sz="1600" b="1">
              <a:solidFill>
                <a:srgbClr val="1B2A4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能。任意模型给每个词算概率即可</a:t>
            </a:r>
            <a:endParaRPr sz="1200" b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713232" y="2483866"/>
            <a:ext cx="45720" cy="2103120"/>
          </a:xfrm>
          <a:prstGeom prst="rect">
            <a:avLst/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024128" y="2502154"/>
            <a:ext cx="100584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B23A2E"/>
                </a:solidFill>
                <a:latin typeface="微软雅黑" panose="020B0503020204020204" charset="-122"/>
                <a:ea typeface="微软雅黑" panose="020B0503020204020204" charset="-122"/>
              </a:rPr>
              <a:t>水印藏得越隐蔽，这些词在信息论上就越显眼。</a:t>
            </a:r>
            <a:endParaRPr sz="2300" b="1">
              <a:solidFill>
                <a:srgbClr val="B23A2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24255" y="3307080"/>
            <a:ext cx="7604760" cy="80200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</a:pPr>
            <a:r>
              <a:rPr sz="130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攻击者不需要破解水印算法。只要拿任意一个模型给每个词算一遍概率，概率最低的那批词，就极大概率是水印所在。</a:t>
            </a:r>
            <a:r>
              <a:rPr lang="zh-CN" sz="130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意味着</a:t>
            </a:r>
            <a:r>
              <a:rPr sz="13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设计者为了"让用户看不出"所做的选择，反过来成了给攻击者的地图。</a:t>
            </a:r>
            <a:endParaRPr sz="13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13232" y="4939411"/>
            <a:ext cx="10424160" cy="2901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这篇论文让我印象最深的其实不是攻击本身，而是这个结构：一个为了 A 目的做出的妥协，往往会在 B 维度上付出代价。</a:t>
            </a:r>
            <a:endParaRPr sz="1400" b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5" name="Picture 14" descr="um_h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96805" y="365760"/>
            <a:ext cx="1481328" cy="43115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566928"/>
            <a:ext cx="8936431" cy="415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B2A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威胁模型：一个非常"克制"的黑盒设定</a:t>
            </a:r>
            <a:endParaRPr sz="2500" b="1">
              <a:solidFill>
                <a:srgbClr val="1B2A4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713232" y="1243584"/>
            <a:ext cx="10765231" cy="9525"/>
          </a:xfrm>
          <a:prstGeom prst="rect">
            <a:avLst/>
          </a:prstGeom>
          <a:solidFill>
            <a:srgbClr val="DCE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13232" y="1426464"/>
            <a:ext cx="10765231" cy="294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论文</a:t>
            </a:r>
            <a:r>
              <a:rPr lang="zh-CN" sz="160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中对</a:t>
            </a:r>
            <a:r>
              <a:rPr sz="160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攻击者能力的</a:t>
            </a:r>
            <a:r>
              <a:rPr lang="zh-CN" sz="160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设定相对</a:t>
            </a:r>
            <a:r>
              <a:rPr sz="160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保守</a:t>
            </a:r>
            <a:r>
              <a:rPr sz="1300" b="0">
                <a:solidFill>
                  <a:srgbClr val="5B70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endParaRPr sz="1300" b="0">
              <a:solidFill>
                <a:srgbClr val="5B708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13105" y="1938655"/>
            <a:ext cx="6035040" cy="25241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攻击者</a:t>
            </a:r>
            <a:r>
              <a:rPr lang="zh-CN" sz="16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的工具</a:t>
            </a:r>
            <a:endParaRPr sz="16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B2A41"/>
                </a:solidFill>
                <a:latin typeface="微软雅黑" panose="020B0503020204020204" charset="-122"/>
                <a:ea typeface="微软雅黑" panose="020B0503020204020204" charset="-122"/>
              </a:rPr>
              <a:t>一段带水印的文本</a:t>
            </a:r>
            <a:r>
              <a:rPr lang="en-US" sz="1400" b="1">
                <a:solidFill>
                  <a:srgbClr val="1B2A41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sz="1400">
                <a:solidFill>
                  <a:srgbClr val="5B7089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任何人都能看到，是公开的</a:t>
            </a:r>
            <a:endParaRPr sz="1400" b="1">
              <a:solidFill>
                <a:srgbClr val="1B2A4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1B2A41"/>
                </a:solidFill>
                <a:latin typeface="微软雅黑" panose="020B0503020204020204" charset="-122"/>
                <a:ea typeface="微软雅黑" panose="020B0503020204020204" charset="-122"/>
              </a:rPr>
              <a:t>任意一个语言模型</a:t>
            </a:r>
            <a:r>
              <a:rPr lang="en-US" sz="1350" b="1">
                <a:solidFill>
                  <a:srgbClr val="1B2A41"/>
                </a:solidFill>
                <a:latin typeface="微软雅黑" panose="020B0503020204020204" charset="-122"/>
                <a:ea typeface="微软雅黑" panose="020B0503020204020204" charset="-122"/>
              </a:rPr>
              <a:t>  </a:t>
            </a:r>
            <a:r>
              <a:rPr sz="1350">
                <a:solidFill>
                  <a:srgbClr val="5B7089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用来给每个词算概率，从而得到自信息</a:t>
            </a:r>
            <a:endParaRPr sz="1350" b="0">
              <a:solidFill>
                <a:srgbClr val="5B708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endParaRPr sz="1350" b="1">
              <a:solidFill>
                <a:srgbClr val="1B2A4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</a:pPr>
            <a:r>
              <a:rPr sz="1600" b="1">
                <a:latin typeface="微软雅黑" panose="020B0503020204020204" charset="-122"/>
                <a:ea typeface="微软雅黑" panose="020B0503020204020204" charset="-122"/>
              </a:rPr>
              <a:t>攻击者不知道什么</a:t>
            </a:r>
            <a:endParaRPr sz="1600" b="1"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水印算法、密钥、检测器，以及模型内部结构。检测器只在最后评估时用一下</a:t>
            </a:r>
            <a:r>
              <a:rPr sz="1250" b="0">
                <a:solidFill>
                  <a:srgbClr val="33455E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sz="1250" b="0">
              <a:solidFill>
                <a:srgbClr val="33455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879590" y="1894078"/>
            <a:ext cx="9525" cy="3566160"/>
          </a:xfrm>
          <a:prstGeom prst="rect">
            <a:avLst/>
          </a:prstGeom>
          <a:solidFill>
            <a:srgbClr val="DCE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394575" y="1938655"/>
            <a:ext cx="4081145" cy="18199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</a:pPr>
            <a:r>
              <a:rPr sz="16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用三个对象说清楚</a:t>
            </a:r>
            <a:endParaRPr sz="16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B2A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水印算法 </a:t>
            </a:r>
            <a:r>
              <a:rPr lang="en-US" sz="1400" b="1">
                <a:solidFill>
                  <a:srgbClr val="1B2A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b="0">
                <a:solidFill>
                  <a:srgbClr val="5B70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在给定提示下修改输出，嵌入水印</a:t>
            </a:r>
            <a:endParaRPr sz="1400" b="0">
              <a:solidFill>
                <a:srgbClr val="5B708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B2A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检测器 </a:t>
            </a:r>
            <a:r>
              <a:rPr lang="en-US" sz="1400" b="1">
                <a:solidFill>
                  <a:srgbClr val="1B2A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</a:t>
            </a:r>
            <a:r>
              <a:rPr sz="1400" b="0">
                <a:solidFill>
                  <a:srgbClr val="5B70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判断一段文本是否带水印，输出是 / 否</a:t>
            </a:r>
            <a:endParaRPr sz="1400" b="0">
              <a:solidFill>
                <a:srgbClr val="5B708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B2A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扰动函数 </a:t>
            </a:r>
            <a:r>
              <a:rPr lang="en-US" sz="1400" b="1">
                <a:solidFill>
                  <a:srgbClr val="1B2A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b="0">
                <a:solidFill>
                  <a:srgbClr val="5B70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攻击者用来改写文本的函数，即要设计的攻击</a:t>
            </a:r>
            <a:endParaRPr sz="1400" b="0">
              <a:solidFill>
                <a:srgbClr val="5B708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目标：不明显破坏语义的前提下，让检测器认不出。</a:t>
            </a:r>
            <a:endParaRPr sz="14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9" name="Picture 8" descr="um_h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96805" y="365760"/>
            <a:ext cx="1481328" cy="431152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2103120"/>
            <a:ext cx="822960" cy="40640"/>
          </a:xfrm>
          <a:prstGeom prst="rect">
            <a:avLst/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395728"/>
            <a:ext cx="89611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1B2A41"/>
                </a:solidFill>
                <a:latin typeface="Times New Roman" panose="02020603050405020304"/>
                <a:ea typeface="微软雅黑" panose="020B0503020204020204" charset="-122"/>
              </a:rPr>
              <a:t>攻击方法 SIRA</a:t>
            </a:r>
            <a:endParaRPr sz="3800" b="1">
              <a:solidFill>
                <a:srgbClr val="1B2A41"/>
              </a:solidFill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13232" y="3584448"/>
            <a:ext cx="859536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5B7089"/>
                </a:solidFill>
                <a:latin typeface="Times New Roman" panose="02020603050405020304"/>
                <a:ea typeface="微软雅黑" panose="020B0503020204020204" charset="-122"/>
              </a:rPr>
              <a:t>先用自信息找出可疑的水印位置，挖空成填空模板</a:t>
            </a:r>
            <a:endParaRPr sz="1400" b="0">
              <a:solidFill>
                <a:srgbClr val="5B7089"/>
              </a:solidFill>
              <a:latin typeface="Times New Roman" panose="02020603050405020304"/>
              <a:ea typeface="微软雅黑" panose="020B0503020204020204" charset="-122"/>
            </a:endParaRP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5B7089"/>
                </a:solidFill>
                <a:latin typeface="Times New Roman" panose="02020603050405020304"/>
                <a:ea typeface="微软雅黑" panose="020B0503020204020204" charset="-122"/>
              </a:rPr>
              <a:t>再让模型做填空式重写，语义不变、水印消失</a:t>
            </a:r>
            <a:endParaRPr sz="1400" b="0">
              <a:solidFill>
                <a:srgbClr val="5B7089"/>
              </a:solidFill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13232" y="1316736"/>
            <a:ext cx="2743200" cy="6153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4000" b="1">
                <a:solidFill>
                  <a:srgbClr val="B23A2E"/>
                </a:solidFill>
                <a:latin typeface="Times New Roman" panose="02020603050405020304"/>
                <a:ea typeface="微软雅黑" panose="020B0503020204020204" charset="-122"/>
              </a:rPr>
              <a:t>三</a:t>
            </a:r>
            <a:endParaRPr lang="zh-CN" sz="4000" b="1">
              <a:solidFill>
                <a:srgbClr val="B23A2E"/>
              </a:solidFill>
              <a:latin typeface="Times New Roman" panose="02020603050405020304"/>
              <a:ea typeface="微软雅黑" panose="020B0503020204020204" charset="-122"/>
            </a:endParaRPr>
          </a:p>
        </p:txBody>
      </p:sp>
      <p:pic>
        <p:nvPicPr>
          <p:cNvPr id="7" name="Picture 6" descr="um_h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96805" y="365760"/>
            <a:ext cx="1481328" cy="431152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566928"/>
            <a:ext cx="8936431" cy="415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B2A41"/>
                </a:solidFill>
                <a:latin typeface="微软雅黑" panose="020B0503020204020204" charset="-122"/>
                <a:ea typeface="微软雅黑" panose="020B0503020204020204" charset="-122"/>
              </a:rPr>
              <a:t>方法全貌：先挖空，再填空</a:t>
            </a:r>
            <a:endParaRPr sz="2500" b="1">
              <a:solidFill>
                <a:srgbClr val="1B2A4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713232" y="1243584"/>
            <a:ext cx="10765231" cy="9525"/>
          </a:xfrm>
          <a:prstGeom prst="rect">
            <a:avLst/>
          </a:prstGeom>
          <a:solidFill>
            <a:srgbClr val="DCE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13232" y="1371600"/>
            <a:ext cx="10424160" cy="294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SIRA = Self-Information Rewrite Attack。把"无针对性的整段改写"，转化为"有针对性的填空题"。</a:t>
            </a:r>
            <a:endParaRPr sz="1600" b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13232" y="5779008"/>
            <a:ext cx="10424160" cy="2495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</a:t>
            </a:r>
            <a:r>
              <a:rPr sz="13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算自信息 → 挖空　　　　</a:t>
            </a:r>
            <a:r>
              <a:rPr lang="en-US" sz="13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</a:t>
            </a:r>
            <a:r>
              <a:rPr sz="13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参考文本引导下填空，语义保留、绿名单位置被替换</a:t>
            </a:r>
            <a:endParaRPr sz="13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105" y="1666240"/>
            <a:ext cx="9791700" cy="4057650"/>
          </a:xfrm>
          <a:prstGeom prst="rect">
            <a:avLst/>
          </a:prstGeom>
        </p:spPr>
      </p:pic>
      <p:pic>
        <p:nvPicPr>
          <p:cNvPr id="10" name="Picture 9" descr="um_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6805" y="365760"/>
            <a:ext cx="1481328" cy="431152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566928"/>
            <a:ext cx="8936431" cy="415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B2A41"/>
                </a:solidFill>
                <a:latin typeface="微软雅黑" panose="020B0503020204020204" charset="-122"/>
                <a:ea typeface="微软雅黑" panose="020B0503020204020204" charset="-122"/>
              </a:rPr>
              <a:t>第一步：用自信息找出水印藏在哪</a:t>
            </a:r>
            <a:endParaRPr sz="2500" b="1">
              <a:solidFill>
                <a:srgbClr val="1B2A4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713232" y="1243584"/>
            <a:ext cx="10765231" cy="9525"/>
          </a:xfrm>
          <a:prstGeom prst="rect">
            <a:avLst/>
          </a:prstGeom>
          <a:solidFill>
            <a:srgbClr val="DCE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13232" y="1426464"/>
            <a:ext cx="6309360" cy="3321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把"哪些词带水印"，变成一个可以算出来的数</a:t>
            </a:r>
            <a:r>
              <a:rPr sz="18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sz="18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13232" y="2202434"/>
            <a:ext cx="6309360" cy="7042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>
                <a:solidFill>
                  <a:srgbClr val="B23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自信息 = − log（该词在当前语境下出现的概率）</a:t>
            </a:r>
            <a:endParaRPr sz="2000" b="1">
              <a:solidFill>
                <a:srgbClr val="B23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概率越低 → 越"意外" → 自信息越高 → 越可能是水印位置</a:t>
            </a:r>
            <a:endParaRPr sz="1400" b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13232" y="3730752"/>
            <a:ext cx="6309360" cy="863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1B2A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阈值怎么定？</a:t>
            </a:r>
            <a:endParaRPr sz="1300" b="1">
              <a:solidFill>
                <a:srgbClr val="1B2A4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345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不是拍脑袋定一个数，而是把所有词的自信息排序、取百分位。实验取 30%，即挖掉自信息最高的 30% 的词。这样不管文本长短都</a:t>
            </a:r>
            <a:r>
              <a:rPr lang="zh-CN" sz="1200" b="0">
                <a:solidFill>
                  <a:srgbClr val="3345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会相对</a:t>
            </a:r>
            <a:r>
              <a:rPr sz="1200" b="0">
                <a:solidFill>
                  <a:srgbClr val="3345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稳定。</a:t>
            </a:r>
            <a:endParaRPr sz="1200" b="0">
              <a:solidFill>
                <a:srgbClr val="3345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360920" y="1426464"/>
            <a:ext cx="9525" cy="4114800"/>
          </a:xfrm>
          <a:prstGeom prst="rect">
            <a:avLst/>
          </a:prstGeom>
          <a:solidFill>
            <a:srgbClr val="DCE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772400" y="1869059"/>
            <a:ext cx="3703320" cy="22466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b="1">
                <a:solidFill>
                  <a:srgbClr val="1B2A41"/>
                </a:solidFill>
                <a:latin typeface="微软雅黑" panose="020B0503020204020204" charset="-122"/>
                <a:ea typeface="微软雅黑" panose="020B0503020204020204" charset="-122"/>
              </a:rPr>
              <a:t>为什么用自信息，不直接用熵</a:t>
            </a:r>
            <a:endParaRPr b="1">
              <a:solidFill>
                <a:srgbClr val="1B2A4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1200"/>
              </a:spcAft>
            </a:pPr>
            <a:r>
              <a:rPr lang="zh-CN" altLang="en-US" sz="140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水印只能加在高熵位置，因为那里熵几乎不变，文本质量才不受影响。但"熵几乎不变"正是它能藏住的原因。自信息的变化量概率越小时反而越大。所以真正读得出痕迹的是自信息，不是熵。</a:t>
            </a:r>
            <a:endParaRPr lang="zh-CN" altLang="en-US" sz="1400" b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endParaRPr sz="1100" b="0">
              <a:solidFill>
                <a:srgbClr val="5B708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0" name="Picture 9" descr="um_h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96805" y="365760"/>
            <a:ext cx="1481328" cy="431152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566928"/>
            <a:ext cx="8936431" cy="415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B2A41"/>
                </a:solidFill>
                <a:latin typeface="微软雅黑" panose="020B0503020204020204" charset="-122"/>
                <a:ea typeface="微软雅黑" panose="020B0503020204020204" charset="-122"/>
              </a:rPr>
              <a:t>第二步：让模型做填空</a:t>
            </a:r>
            <a:endParaRPr sz="2500" b="1">
              <a:solidFill>
                <a:srgbClr val="1B2A4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713232" y="1243584"/>
            <a:ext cx="10765231" cy="9525"/>
          </a:xfrm>
          <a:prstGeom prst="rect">
            <a:avLst/>
          </a:prstGeom>
          <a:solidFill>
            <a:srgbClr val="DCE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13232" y="1389888"/>
            <a:ext cx="10424160" cy="257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论文附了 13 行伪代码，我把它转成流程，方便看清整条数据流。</a:t>
            </a:r>
            <a:endParaRPr sz="1400" b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13232" y="2048256"/>
            <a:ext cx="1554480" cy="1225296"/>
          </a:xfrm>
          <a:prstGeom prst="rect">
            <a:avLst/>
          </a:prstGeom>
          <a:solidFill>
            <a:srgbClr val="F2F5F9"/>
          </a:solidFill>
          <a:ln w="13970">
            <a:solidFill>
              <a:srgbClr val="B23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13232" y="2048256"/>
            <a:ext cx="1554480" cy="33020"/>
          </a:xfrm>
          <a:prstGeom prst="rect">
            <a:avLst/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41248" y="2194560"/>
            <a:ext cx="129844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B23A2E"/>
                </a:solidFill>
                <a:latin typeface="微软雅黑" panose="020B0503020204020204" charset="-122"/>
                <a:ea typeface="微软雅黑" panose="020B0503020204020204" charset="-122"/>
              </a:rPr>
              <a:t>输入</a:t>
            </a:r>
            <a:endParaRPr sz="1000" b="1">
              <a:solidFill>
                <a:srgbClr val="B23A2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41248" y="2505456"/>
            <a:ext cx="1298448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>
                <a:solidFill>
                  <a:srgbClr val="1B2A41"/>
                </a:solidFill>
                <a:latin typeface="微软雅黑" panose="020B0503020204020204" charset="-122"/>
                <a:ea typeface="微软雅黑" panose="020B0503020204020204" charset="-122"/>
              </a:rPr>
              <a:t>带水印的文本</a:t>
            </a:r>
            <a:endParaRPr sz="1050" b="1">
              <a:solidFill>
                <a:srgbClr val="1B2A4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>
                <a:solidFill>
                  <a:srgbClr val="1B2A41"/>
                </a:solidFill>
                <a:latin typeface="微软雅黑" panose="020B0503020204020204" charset="-122"/>
                <a:ea typeface="微软雅黑" panose="020B0503020204020204" charset="-122"/>
              </a:rPr>
              <a:t>一个普通模型</a:t>
            </a:r>
            <a:endParaRPr sz="1050" b="1">
              <a:solidFill>
                <a:srgbClr val="1B2A4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>
                <a:solidFill>
                  <a:srgbClr val="1B2A41"/>
                </a:solidFill>
                <a:latin typeface="微软雅黑" panose="020B0503020204020204" charset="-122"/>
                <a:ea typeface="微软雅黑" panose="020B0503020204020204" charset="-122"/>
              </a:rPr>
              <a:t>百分位阈值</a:t>
            </a:r>
            <a:endParaRPr sz="1050" b="1">
              <a:solidFill>
                <a:srgbClr val="1B2A4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Right Arrow 9"/>
          <p:cNvSpPr/>
          <p:nvPr/>
        </p:nvSpPr>
        <p:spPr>
          <a:xfrm>
            <a:off x="2299716" y="2596896"/>
            <a:ext cx="173736" cy="128016"/>
          </a:xfrm>
          <a:prstGeom prst="rightArrow">
            <a:avLst/>
          </a:prstGeom>
          <a:solidFill>
            <a:srgbClr val="DCE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505456" y="2048256"/>
            <a:ext cx="1554480" cy="1225296"/>
          </a:xfrm>
          <a:prstGeom prst="rect">
            <a:avLst/>
          </a:prstGeom>
          <a:solidFill>
            <a:srgbClr val="FFFFFF"/>
          </a:solidFill>
          <a:ln w="1143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633472" y="2194560"/>
            <a:ext cx="129844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 1 步</a:t>
            </a:r>
            <a:endParaRPr sz="1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633472" y="2505456"/>
            <a:ext cx="1298448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33455E"/>
                </a:solidFill>
                <a:latin typeface="微软雅黑" panose="020B0503020204020204" charset="-122"/>
                <a:ea typeface="微软雅黑" panose="020B0503020204020204" charset="-122"/>
              </a:rPr>
              <a:t>整段改写</a:t>
            </a:r>
            <a:endParaRPr sz="1050" b="0">
              <a:solidFill>
                <a:srgbClr val="33455E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33455E"/>
                </a:solidFill>
                <a:latin typeface="微软雅黑" panose="020B0503020204020204" charset="-122"/>
                <a:ea typeface="微软雅黑" panose="020B0503020204020204" charset="-122"/>
              </a:rPr>
              <a:t>得到参考文本</a:t>
            </a:r>
            <a:endParaRPr sz="1050" b="0">
              <a:solidFill>
                <a:srgbClr val="33455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Right Arrow 13"/>
          <p:cNvSpPr/>
          <p:nvPr/>
        </p:nvSpPr>
        <p:spPr>
          <a:xfrm>
            <a:off x="4091940" y="2596896"/>
            <a:ext cx="173736" cy="128016"/>
          </a:xfrm>
          <a:prstGeom prst="rightArrow">
            <a:avLst/>
          </a:prstGeom>
          <a:solidFill>
            <a:srgbClr val="DCE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4297680" y="2048256"/>
            <a:ext cx="1554480" cy="1225296"/>
          </a:xfrm>
          <a:prstGeom prst="rect">
            <a:avLst/>
          </a:prstGeom>
          <a:solidFill>
            <a:srgbClr val="FFFFFF"/>
          </a:solidFill>
          <a:ln w="1143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425696" y="2194560"/>
            <a:ext cx="129844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 2 步</a:t>
            </a:r>
            <a:endParaRPr sz="1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425696" y="2505456"/>
            <a:ext cx="1298448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33455E"/>
                </a:solidFill>
                <a:latin typeface="微软雅黑" panose="020B0503020204020204" charset="-122"/>
                <a:ea typeface="微软雅黑" panose="020B0503020204020204" charset="-122"/>
              </a:rPr>
              <a:t>逐词计算</a:t>
            </a:r>
            <a:endParaRPr sz="1050" b="0">
              <a:solidFill>
                <a:srgbClr val="33455E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33455E"/>
                </a:solidFill>
                <a:latin typeface="微软雅黑" panose="020B0503020204020204" charset="-122"/>
                <a:ea typeface="微软雅黑" panose="020B0503020204020204" charset="-122"/>
              </a:rPr>
              <a:t>自信息</a:t>
            </a:r>
            <a:endParaRPr sz="1050" b="0">
              <a:solidFill>
                <a:srgbClr val="33455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Right Arrow 17"/>
          <p:cNvSpPr/>
          <p:nvPr/>
        </p:nvSpPr>
        <p:spPr>
          <a:xfrm>
            <a:off x="5884164" y="2596896"/>
            <a:ext cx="173736" cy="128016"/>
          </a:xfrm>
          <a:prstGeom prst="rightArrow">
            <a:avLst/>
          </a:prstGeom>
          <a:solidFill>
            <a:srgbClr val="DCE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6089904" y="2048256"/>
            <a:ext cx="1554480" cy="1225296"/>
          </a:xfrm>
          <a:prstGeom prst="rect">
            <a:avLst/>
          </a:prstGeom>
          <a:solidFill>
            <a:srgbClr val="FFFFFF"/>
          </a:solidFill>
          <a:ln w="1143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217920" y="2194560"/>
            <a:ext cx="129844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 3 步</a:t>
            </a:r>
            <a:endParaRPr sz="1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217920" y="2505456"/>
            <a:ext cx="1298448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33455E"/>
                </a:solidFill>
                <a:latin typeface="微软雅黑" panose="020B0503020204020204" charset="-122"/>
                <a:ea typeface="微软雅黑" panose="020B0503020204020204" charset="-122"/>
              </a:rPr>
              <a:t>取百分位</a:t>
            </a:r>
            <a:endParaRPr sz="1050" b="0">
              <a:solidFill>
                <a:srgbClr val="33455E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33455E"/>
                </a:solidFill>
                <a:latin typeface="微软雅黑" panose="020B0503020204020204" charset="-122"/>
                <a:ea typeface="微软雅黑" panose="020B0503020204020204" charset="-122"/>
              </a:rPr>
              <a:t>确定挖空线</a:t>
            </a:r>
            <a:endParaRPr sz="1050" b="0">
              <a:solidFill>
                <a:srgbClr val="33455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7882128" y="2048256"/>
            <a:ext cx="1554480" cy="1225296"/>
          </a:xfrm>
          <a:prstGeom prst="rect">
            <a:avLst/>
          </a:prstGeom>
          <a:solidFill>
            <a:srgbClr val="FFFFFF"/>
          </a:solidFill>
          <a:ln w="1143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010144" y="2194560"/>
            <a:ext cx="129844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 4 步</a:t>
            </a:r>
            <a:endParaRPr sz="1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010144" y="2505456"/>
            <a:ext cx="1298448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33455E"/>
                </a:solidFill>
                <a:latin typeface="微软雅黑" panose="020B0503020204020204" charset="-122"/>
                <a:ea typeface="微软雅黑" panose="020B0503020204020204" charset="-122"/>
              </a:rPr>
              <a:t>超过阈值的词</a:t>
            </a:r>
            <a:endParaRPr sz="1050" b="0">
              <a:solidFill>
                <a:srgbClr val="33455E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33455E"/>
                </a:solidFill>
                <a:latin typeface="微软雅黑" panose="020B0503020204020204" charset="-122"/>
                <a:ea typeface="微软雅黑" panose="020B0503020204020204" charset="-122"/>
              </a:rPr>
              <a:t>全部挖空</a:t>
            </a:r>
            <a:endParaRPr sz="1050" b="0">
              <a:solidFill>
                <a:srgbClr val="33455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9674352" y="2048256"/>
            <a:ext cx="1554480" cy="1225296"/>
          </a:xfrm>
          <a:prstGeom prst="rect">
            <a:avLst/>
          </a:prstGeom>
          <a:solidFill>
            <a:srgbClr val="F2F5F9"/>
          </a:solidFill>
          <a:ln w="13970">
            <a:solidFill>
              <a:srgbClr val="B23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9674352" y="2048256"/>
            <a:ext cx="1554480" cy="33020"/>
          </a:xfrm>
          <a:prstGeom prst="rect">
            <a:avLst/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9802368" y="2194560"/>
            <a:ext cx="129844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B23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 5 步</a:t>
            </a:r>
            <a:endParaRPr sz="1000" b="1">
              <a:solidFill>
                <a:srgbClr val="B23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9802368" y="2505456"/>
            <a:ext cx="1298448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>
                <a:solidFill>
                  <a:srgbClr val="1B2A41"/>
                </a:solidFill>
                <a:latin typeface="微软雅黑" panose="020B0503020204020204" charset="-122"/>
                <a:ea typeface="微软雅黑" panose="020B0503020204020204" charset="-122"/>
              </a:rPr>
              <a:t>参考文本引导</a:t>
            </a:r>
            <a:endParaRPr sz="1050" b="1">
              <a:solidFill>
                <a:srgbClr val="1B2A4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>
                <a:solidFill>
                  <a:srgbClr val="1B2A41"/>
                </a:solidFill>
                <a:latin typeface="微软雅黑" panose="020B0503020204020204" charset="-122"/>
                <a:ea typeface="微软雅黑" panose="020B0503020204020204" charset="-122"/>
              </a:rPr>
              <a:t>填空并输出</a:t>
            </a:r>
            <a:endParaRPr sz="1050" b="1">
              <a:solidFill>
                <a:srgbClr val="1B2A4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713232" y="3986784"/>
            <a:ext cx="10765231" cy="9525"/>
          </a:xfrm>
          <a:prstGeom prst="rect">
            <a:avLst/>
          </a:prstGeom>
          <a:solidFill>
            <a:srgbClr val="DCE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Right Arrow 17"/>
          <p:cNvSpPr/>
          <p:nvPr/>
        </p:nvSpPr>
        <p:spPr>
          <a:xfrm>
            <a:off x="7676769" y="2596896"/>
            <a:ext cx="173736" cy="128016"/>
          </a:xfrm>
          <a:prstGeom prst="rightArrow">
            <a:avLst/>
          </a:prstGeom>
          <a:solidFill>
            <a:srgbClr val="DCE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Right Arrow 17"/>
          <p:cNvSpPr/>
          <p:nvPr/>
        </p:nvSpPr>
        <p:spPr>
          <a:xfrm>
            <a:off x="9469374" y="2592451"/>
            <a:ext cx="173736" cy="128016"/>
          </a:xfrm>
          <a:prstGeom prst="rightArrow">
            <a:avLst/>
          </a:prstGeom>
          <a:solidFill>
            <a:srgbClr val="DCE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38" name="Picture 37" descr="um_h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96805" y="365760"/>
            <a:ext cx="1481328" cy="431152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713232" y="675513"/>
            <a:ext cx="10332720" cy="4768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B2A41"/>
                </a:solidFill>
                <a:latin typeface="微软雅黑" panose="020B0503020204020204" charset="-122"/>
                <a:ea typeface="微软雅黑" panose="020B0503020204020204" charset="-122"/>
              </a:rPr>
              <a:t>这个漏洞是结构性的</a:t>
            </a:r>
            <a:endParaRPr sz="2500" b="1">
              <a:solidFill>
                <a:srgbClr val="1B2A4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13232" y="1388745"/>
            <a:ext cx="7680960" cy="35560"/>
          </a:xfrm>
          <a:prstGeom prst="rect">
            <a:avLst/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13232" y="1900809"/>
            <a:ext cx="10332720" cy="14738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indent="457200" algn="l">
              <a:lnSpc>
                <a:spcPct val="165000"/>
              </a:lnSpc>
              <a:spcBef>
                <a:spcPts val="0"/>
              </a:spcBef>
              <a:spcAft>
                <a:spcPts val="2000"/>
              </a:spcAft>
            </a:pPr>
            <a:r>
              <a:rPr sz="1600" b="0">
                <a:solidFill>
                  <a:srgbClr val="1B2A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水印为了不影响可读性，只能嵌在高熵位置；高熵就意味着低概率，低概率又意味着高自信息；偏偏自信息这个东西，任何一个模型都能免费算出来。</a:t>
            </a:r>
            <a:endParaRPr sz="1600" b="0">
              <a:solidFill>
                <a:srgbClr val="1B2A4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45720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3345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所以攻击者根本不需要知道算法和密钥。</a:t>
            </a:r>
            <a:r>
              <a:rPr lang="zh-CN" altLang="en-US" sz="1600" b="0">
                <a:solidFill>
                  <a:srgbClr val="3345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他只要找出自信息偏高的那批词，水印就极可能混在里面</a:t>
            </a:r>
            <a:endParaRPr lang="zh-CN" altLang="en-US" sz="1600" b="0">
              <a:solidFill>
                <a:srgbClr val="3345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13232" y="4176776"/>
            <a:ext cx="10765231" cy="6883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换句话说，设计者为了隐蔽做的妥协，反而给攻击者画了一张地图。这不是某一款水印的问题，而是这一代水印共同的问题。</a:t>
            </a:r>
            <a:endParaRPr sz="16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7" name="Picture 6" descr="um_h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96805" y="365760"/>
            <a:ext cx="1481328" cy="431152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713232" y="2103120"/>
            <a:ext cx="822960" cy="40640"/>
          </a:xfrm>
          <a:prstGeom prst="rect">
            <a:avLst/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13232" y="2395728"/>
            <a:ext cx="89611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1B2A41"/>
                </a:solidFill>
                <a:latin typeface="微软雅黑" panose="020B0503020204020204" charset="-122"/>
                <a:ea typeface="微软雅黑" panose="020B0503020204020204" charset="-122"/>
              </a:rPr>
              <a:t>实验评估</a:t>
            </a:r>
            <a:endParaRPr sz="3800" b="1">
              <a:solidFill>
                <a:srgbClr val="1B2A4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13232" y="3584448"/>
            <a:ext cx="859536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5B70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实验设置：7 种水印算法、C4 数据集、3 个规模档次的攻击模型</a:t>
            </a:r>
            <a:endParaRPr sz="1400" b="0">
              <a:solidFill>
                <a:srgbClr val="5B708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5B70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主结果：SIRA 在全部 7 种水印上实现约 100% 的移除成功率</a:t>
            </a:r>
            <a:endParaRPr sz="1400" b="0">
              <a:solidFill>
                <a:srgbClr val="5B708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5B70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稳健性、文本质量与消融：验证攻击有效且不是靠调阈值造出来的</a:t>
            </a:r>
            <a:endParaRPr sz="1400" b="0">
              <a:solidFill>
                <a:srgbClr val="5B708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13232" y="1316736"/>
            <a:ext cx="2743200" cy="6153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4000" b="1">
                <a:solidFill>
                  <a:srgbClr val="B23A2E"/>
                </a:solidFill>
                <a:latin typeface="微软雅黑" panose="020B0503020204020204" charset="-122"/>
                <a:ea typeface="微软雅黑" panose="020B0503020204020204" charset="-122"/>
              </a:rPr>
              <a:t>四</a:t>
            </a:r>
            <a:endParaRPr lang="zh-CN" sz="4000" b="1">
              <a:solidFill>
                <a:srgbClr val="B23A2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7" name="Picture 6" descr="um_h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96805" y="365760"/>
            <a:ext cx="1481328" cy="431152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566928"/>
            <a:ext cx="8936431" cy="415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B2A41"/>
                </a:solidFill>
                <a:latin typeface="微软雅黑" panose="020B0503020204020204" charset="-122"/>
                <a:ea typeface="微软雅黑" panose="020B0503020204020204" charset="-122"/>
              </a:rPr>
              <a:t>实验设置</a:t>
            </a:r>
            <a:endParaRPr sz="2500" b="1">
              <a:solidFill>
                <a:srgbClr val="1B2A4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713232" y="1243584"/>
            <a:ext cx="10765231" cy="9525"/>
          </a:xfrm>
          <a:prstGeom prst="rect">
            <a:avLst/>
          </a:prstGeom>
          <a:solidFill>
            <a:srgbClr val="DCE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>
            <p:custDataLst>
              <p:tags r:id="rId1"/>
            </p:custDataLst>
          </p:nvPr>
        </p:nvSpPr>
        <p:spPr>
          <a:xfrm>
            <a:off x="724535" y="1645920"/>
            <a:ext cx="4015105" cy="1017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lang="zh-CN" sz="2000" b="1">
                <a:solidFill>
                  <a:srgbClr val="1B2A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七</a:t>
            </a:r>
            <a:r>
              <a:rPr sz="2000" b="1">
                <a:solidFill>
                  <a:srgbClr val="1B2A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种水印算法</a:t>
            </a:r>
            <a:endParaRPr sz="2000" b="1">
              <a:solidFill>
                <a:srgbClr val="1B2A4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KGW · Unigram · UPV · EWD · DIP · SIR · EXP，覆盖两大家族</a:t>
            </a:r>
            <a:endParaRPr sz="1400" b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>
            <p:custDataLst>
              <p:tags r:id="rId2"/>
            </p:custDataLst>
          </p:nvPr>
        </p:nvSpPr>
        <p:spPr>
          <a:xfrm>
            <a:off x="6266180" y="1645920"/>
            <a:ext cx="3665855" cy="716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lang="zh-CN" sz="2000" b="1">
                <a:solidFill>
                  <a:srgbClr val="1B2A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</a:t>
            </a:r>
            <a:r>
              <a:rPr sz="2000" b="1">
                <a:solidFill>
                  <a:srgbClr val="1B2A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个规模档次</a:t>
            </a:r>
            <a:endParaRPr sz="2000" b="1">
              <a:solidFill>
                <a:srgbClr val="1B2A4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3B / 8B / 70B，用来检验"轻量"这一主张</a:t>
            </a:r>
            <a:endParaRPr sz="1400" b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/>
          <p:cNvSpPr txBox="1"/>
          <p:nvPr>
            <p:custDataLst>
              <p:tags r:id="rId3"/>
            </p:custDataLst>
          </p:nvPr>
        </p:nvSpPr>
        <p:spPr>
          <a:xfrm>
            <a:off x="724535" y="2915285"/>
            <a:ext cx="4019550" cy="631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500" b="1">
                <a:solidFill>
                  <a:srgbClr val="1B2A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500</a:t>
            </a:r>
            <a:r>
              <a:rPr sz="1500" b="1">
                <a:solidFill>
                  <a:srgbClr val="1B2A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条 C4 提示</a:t>
            </a:r>
            <a:endParaRPr sz="1500" b="1">
              <a:solidFill>
                <a:srgbClr val="1B2A4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各生成 230 个词，生成模型为 OPT-1.3B</a:t>
            </a:r>
            <a:endParaRPr sz="1400" b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>
            <p:custDataLst>
              <p:tags r:id="rId4"/>
            </p:custDataLst>
          </p:nvPr>
        </p:nvSpPr>
        <p:spPr>
          <a:xfrm>
            <a:off x="6266180" y="2915285"/>
            <a:ext cx="3675380" cy="631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lang="zh-CN" sz="1500" b="1">
                <a:solidFill>
                  <a:srgbClr val="1B2A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四</a:t>
            </a:r>
            <a:r>
              <a:rPr sz="1500" b="1">
                <a:solidFill>
                  <a:srgbClr val="1B2A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类对比基线</a:t>
            </a:r>
            <a:endParaRPr sz="1500" b="1">
              <a:solidFill>
                <a:srgbClr val="1B2A4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删词、同义替换、DIPPER、GPT 改述</a:t>
            </a:r>
            <a:endParaRPr sz="1400" b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713232" y="5614416"/>
            <a:ext cx="10765231" cy="9525"/>
          </a:xfrm>
          <a:prstGeom prst="rect">
            <a:avLst/>
          </a:prstGeom>
          <a:solidFill>
            <a:srgbClr val="DCE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4" name="Picture 13" descr="um_h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96805" y="365760"/>
            <a:ext cx="1481328" cy="431152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566928"/>
            <a:ext cx="8936431" cy="415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B2A41"/>
                </a:solidFill>
                <a:latin typeface="微软雅黑" panose="020B0503020204020204" charset="-122"/>
                <a:ea typeface="微软雅黑" panose="020B0503020204020204" charset="-122"/>
              </a:rPr>
              <a:t>主结果：七种水印算法上的移除成功率</a:t>
            </a:r>
            <a:endParaRPr sz="2500" b="1">
              <a:solidFill>
                <a:srgbClr val="1B2A4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713232" y="1243584"/>
            <a:ext cx="10765231" cy="9525"/>
          </a:xfrm>
          <a:prstGeom prst="rect">
            <a:avLst/>
          </a:prstGeom>
          <a:solidFill>
            <a:srgbClr val="DCE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13232" y="1353312"/>
            <a:ext cx="10765231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数字越高表示水印越容易被移除。上四行为已有方法，下三行为本文方法。</a:t>
            </a:r>
            <a:endParaRPr sz="1200" b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13232" y="1773936"/>
          <a:ext cx="10765229" cy="2633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1720"/>
                <a:gridCol w="1204787"/>
                <a:gridCol w="1204787"/>
                <a:gridCol w="1204787"/>
                <a:gridCol w="1204787"/>
                <a:gridCol w="1204787"/>
                <a:gridCol w="1204787"/>
                <a:gridCol w="1204787"/>
              </a:tblGrid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攻击方法</a:t>
                      </a:r>
                      <a:endParaRPr sz="11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0" marB="0" anchor="ctr"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KGW-1</a:t>
                      </a:r>
                      <a:endParaRPr sz="11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0" marB="0" anchor="ctr"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Unigram</a:t>
                      </a:r>
                      <a:endParaRPr sz="11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0" marB="0" anchor="ctr"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UPV</a:t>
                      </a:r>
                      <a:endParaRPr sz="11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0" marB="0" anchor="ctr"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EWD</a:t>
                      </a:r>
                      <a:endParaRPr sz="11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0" marB="0" anchor="ctr"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DIP</a:t>
                      </a:r>
                      <a:endParaRPr sz="11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0" marB="0" anchor="ctr"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SIR</a:t>
                      </a:r>
                      <a:endParaRPr sz="11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0" marB="0" anchor="ctr"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EXP</a:t>
                      </a:r>
                      <a:endParaRPr sz="11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0" marB="0" anchor="ctr">
                    <a:solidFill>
                      <a:srgbClr val="1B2A41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5B7089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词语删除</a:t>
                      </a:r>
                      <a:r>
                        <a:rPr lang="en-US" altLang="zh-CN" sz="1100" b="0">
                          <a:solidFill>
                            <a:srgbClr val="5B7089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(Welbl et al., 2020)</a:t>
                      </a:r>
                      <a:endParaRPr lang="en-US" altLang="zh-CN" sz="1100" b="0">
                        <a:solidFill>
                          <a:srgbClr val="5B7089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0" marB="0" anchor="ctr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5B7089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22.4%</a:t>
                      </a:r>
                      <a:endParaRPr sz="1100" b="0">
                        <a:solidFill>
                          <a:srgbClr val="5B7089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0" marB="0" anchor="ctr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5B7089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1.6%</a:t>
                      </a:r>
                      <a:endParaRPr sz="1100" b="0">
                        <a:solidFill>
                          <a:srgbClr val="5B7089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0" marB="0" anchor="ctr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5B7089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6.6%</a:t>
                      </a:r>
                      <a:endParaRPr sz="1100" b="0">
                        <a:solidFill>
                          <a:srgbClr val="5B7089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0" marB="0" anchor="ctr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5B7089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22.8%</a:t>
                      </a:r>
                      <a:endParaRPr sz="1100" b="0">
                        <a:solidFill>
                          <a:srgbClr val="5B7089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0" marB="0" anchor="ctr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5B7089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57.4%</a:t>
                      </a:r>
                      <a:endParaRPr sz="1100" b="0">
                        <a:solidFill>
                          <a:srgbClr val="5B7089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0" marB="0" anchor="ctr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5B7089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44.0%</a:t>
                      </a:r>
                      <a:endParaRPr sz="1100" b="0">
                        <a:solidFill>
                          <a:srgbClr val="5B7089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0" marB="0" anchor="ctr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5B7089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9.4%</a:t>
                      </a:r>
                      <a:endParaRPr sz="1100" b="0">
                        <a:solidFill>
                          <a:srgbClr val="5B7089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0" marB="0" anchor="ctr">
                    <a:solidFill>
                      <a:srgbClr val="F7F9F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5B7089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同义词替换</a:t>
                      </a:r>
                      <a:r>
                        <a:rPr lang="zh-CN" altLang="en-US" sz="1100" b="0">
                          <a:solidFill>
                            <a:srgbClr val="5B7089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换 (</a:t>
                      </a:r>
                      <a:r>
                        <a:rPr lang="en-US" altLang="zh-CN" sz="1100" b="0">
                          <a:solidFill>
                            <a:srgbClr val="5B7089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Yu et al., 2010)</a:t>
                      </a:r>
                      <a:endParaRPr lang="en-US" altLang="zh-CN" sz="1100" b="0">
                        <a:solidFill>
                          <a:srgbClr val="5B7089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5B7089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83.2%</a:t>
                      </a:r>
                      <a:endParaRPr sz="1100" b="0">
                        <a:solidFill>
                          <a:srgbClr val="5B7089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5B7089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17.4%</a:t>
                      </a:r>
                      <a:endParaRPr sz="1100" b="0">
                        <a:solidFill>
                          <a:srgbClr val="5B7089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5B7089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65.2%</a:t>
                      </a:r>
                      <a:endParaRPr sz="1100" b="0">
                        <a:solidFill>
                          <a:srgbClr val="5B7089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5B7089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76.2%</a:t>
                      </a:r>
                      <a:endParaRPr sz="1100" b="0">
                        <a:solidFill>
                          <a:srgbClr val="5B7089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5B7089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99.6%</a:t>
                      </a:r>
                      <a:endParaRPr sz="1100" b="0">
                        <a:solidFill>
                          <a:srgbClr val="5B7089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5B7089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82.0%</a:t>
                      </a:r>
                      <a:endParaRPr sz="1100" b="0">
                        <a:solidFill>
                          <a:srgbClr val="5B7089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5B7089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51.0%</a:t>
                      </a:r>
                      <a:endParaRPr sz="1100" b="0">
                        <a:solidFill>
                          <a:srgbClr val="5B7089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0" marB="0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5B708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GPT 改述</a:t>
                      </a:r>
                      <a:endParaRPr sz="1100" b="0">
                        <a:solidFill>
                          <a:srgbClr val="5B708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5720" marR="45720" marT="0" marB="0" anchor="ctr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5B7089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100%</a:t>
                      </a:r>
                      <a:endParaRPr sz="1100" b="0">
                        <a:solidFill>
                          <a:srgbClr val="5B7089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0" marB="0" anchor="ctr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5B7089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63.9%</a:t>
                      </a:r>
                      <a:endParaRPr sz="1100" b="0">
                        <a:solidFill>
                          <a:srgbClr val="5B7089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0" marB="0" anchor="ctr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5B7089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71.9%</a:t>
                      </a:r>
                      <a:endParaRPr sz="1100" b="0">
                        <a:solidFill>
                          <a:srgbClr val="5B7089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0" marB="0" anchor="ctr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5B7089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90.8%</a:t>
                      </a:r>
                      <a:endParaRPr sz="1100" b="0">
                        <a:solidFill>
                          <a:srgbClr val="5B7089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0" marB="0" anchor="ctr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5B7089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99.8%</a:t>
                      </a:r>
                      <a:endParaRPr sz="1100" b="0">
                        <a:solidFill>
                          <a:srgbClr val="5B7089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0" marB="0" anchor="ctr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5B7089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58.8%</a:t>
                      </a:r>
                      <a:endParaRPr sz="1100" b="0">
                        <a:solidFill>
                          <a:srgbClr val="5B7089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0" marB="0" anchor="ctr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5B7089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72.2%</a:t>
                      </a:r>
                      <a:endParaRPr sz="1100" b="0">
                        <a:solidFill>
                          <a:srgbClr val="5B7089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0" marB="0" anchor="ctr">
                    <a:solidFill>
                      <a:srgbClr val="F7F9FB"/>
                    </a:solidFill>
                  </a:tcPr>
                </a:tc>
              </a:tr>
              <a:tr h="292608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1100" b="0">
                          <a:solidFill>
                            <a:srgbClr val="5B708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DIPPER-1 (Krishna et al., 2024)</a:t>
                      </a:r>
                      <a:endParaRPr lang="en-US" altLang="zh-CN" sz="1100" b="0">
                        <a:solidFill>
                          <a:srgbClr val="5B708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5720" marR="45720" marT="0" marB="0" anchor="ctr">
                    <a:solidFill>
                      <a:srgbClr val="F7F9FB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100" b="0">
                          <a:solidFill>
                            <a:srgbClr val="5B7089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82.4%</a:t>
                      </a:r>
                      <a:endParaRPr lang="en-US" altLang="zh-CN" sz="1100" b="0">
                        <a:solidFill>
                          <a:srgbClr val="5B7089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0" marB="0" anchor="ctr">
                    <a:solidFill>
                      <a:srgbClr val="F7F9FB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100" b="0">
                          <a:solidFill>
                            <a:srgbClr val="5B7089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37.0%</a:t>
                      </a:r>
                      <a:endParaRPr lang="en-US" altLang="zh-CN" sz="1100" b="0">
                        <a:solidFill>
                          <a:srgbClr val="5B7089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0" marB="0" anchor="ctr">
                    <a:solidFill>
                      <a:srgbClr val="F7F9FB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100" b="0">
                          <a:solidFill>
                            <a:srgbClr val="5B7089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58.6%</a:t>
                      </a:r>
                      <a:endParaRPr lang="en-US" altLang="zh-CN" sz="1100" b="0">
                        <a:solidFill>
                          <a:srgbClr val="5B7089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0" marB="0" anchor="ctr">
                    <a:solidFill>
                      <a:srgbClr val="F7F9FB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100" b="0">
                          <a:solidFill>
                            <a:srgbClr val="5B7089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82.2%</a:t>
                      </a:r>
                      <a:endParaRPr lang="en-US" altLang="zh-CN" sz="1100" b="0">
                        <a:solidFill>
                          <a:srgbClr val="5B7089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0" marB="0" anchor="ctr">
                    <a:solidFill>
                      <a:srgbClr val="F7F9FB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100" b="0">
                          <a:solidFill>
                            <a:srgbClr val="5B7089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99.6%</a:t>
                      </a:r>
                      <a:endParaRPr lang="en-US" altLang="zh-CN" sz="1100" b="0">
                        <a:solidFill>
                          <a:srgbClr val="5B7089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0" marB="0" anchor="ctr">
                    <a:solidFill>
                      <a:srgbClr val="F7F9FB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100" b="0">
                          <a:solidFill>
                            <a:srgbClr val="5B7089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61.2%</a:t>
                      </a:r>
                      <a:endParaRPr lang="en-US" altLang="zh-CN" sz="1100" b="0">
                        <a:solidFill>
                          <a:srgbClr val="5B7089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0" marB="0" anchor="ctr">
                    <a:solidFill>
                      <a:srgbClr val="F7F9FB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100" b="0">
                          <a:solidFill>
                            <a:srgbClr val="5B7089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73.6%</a:t>
                      </a:r>
                      <a:endParaRPr lang="en-US" altLang="zh-CN" sz="1100" b="0">
                        <a:solidFill>
                          <a:srgbClr val="5B7089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0" marB="0" anchor="ctr">
                    <a:solidFill>
                      <a:srgbClr val="F7F9F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 b="0">
                          <a:solidFill>
                            <a:srgbClr val="5B708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DIPPER-2 (Krishna et al., 2024)</a:t>
                      </a:r>
                      <a:endParaRPr lang="en-US" altLang="zh-CN" sz="1100" b="0">
                        <a:solidFill>
                          <a:srgbClr val="5B708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5720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5B7089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95.8%</a:t>
                      </a:r>
                      <a:endParaRPr sz="1100" b="0">
                        <a:solidFill>
                          <a:srgbClr val="5B7089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5B7089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45.6%</a:t>
                      </a:r>
                      <a:endParaRPr sz="1100" b="0">
                        <a:solidFill>
                          <a:srgbClr val="5B7089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5B7089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61.8%</a:t>
                      </a:r>
                      <a:endParaRPr sz="1100" b="0">
                        <a:solidFill>
                          <a:srgbClr val="5B7089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5B7089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89.0%</a:t>
                      </a:r>
                      <a:endParaRPr sz="1100" b="0">
                        <a:solidFill>
                          <a:srgbClr val="5B7089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5B7089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99.8%</a:t>
                      </a:r>
                      <a:endParaRPr sz="1100" b="0">
                        <a:solidFill>
                          <a:srgbClr val="5B7089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5B7089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63.6%</a:t>
                      </a:r>
                      <a:endParaRPr sz="1100" b="0">
                        <a:solidFill>
                          <a:srgbClr val="5B7089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5B7089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82.2%</a:t>
                      </a:r>
                      <a:endParaRPr sz="1100" b="0">
                        <a:solidFill>
                          <a:srgbClr val="5B7089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0" marB="0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B2A4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SIRA-Tiny</a:t>
                      </a:r>
                      <a:r>
                        <a:rPr lang="zh-CN" altLang="en-US" sz="1100" b="0">
                          <a:solidFill>
                            <a:srgbClr val="1B2A4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（本文）</a:t>
                      </a:r>
                      <a:endParaRPr lang="zh-CN" altLang="en-US" sz="1100" b="0">
                        <a:solidFill>
                          <a:srgbClr val="1B2A4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5720" marR="45720" marT="0" marB="0" anchor="ctr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B2A4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96.4%</a:t>
                      </a:r>
                      <a:endParaRPr sz="1100" b="0">
                        <a:solidFill>
                          <a:srgbClr val="1B2A4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0" marB="0" anchor="ctr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B2A4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87.6%</a:t>
                      </a:r>
                      <a:endParaRPr sz="1100" b="0">
                        <a:solidFill>
                          <a:srgbClr val="1B2A4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0" marB="0" anchor="ctr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B2A4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84.4%</a:t>
                      </a:r>
                      <a:endParaRPr sz="1100" b="0">
                        <a:solidFill>
                          <a:srgbClr val="1B2A4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0" marB="0" anchor="ctr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B2A4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97.8%</a:t>
                      </a:r>
                      <a:endParaRPr sz="1100" b="0">
                        <a:solidFill>
                          <a:srgbClr val="1B2A4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0" marB="0" anchor="ctr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B2A4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99.8%</a:t>
                      </a:r>
                      <a:endParaRPr sz="1100" b="0">
                        <a:solidFill>
                          <a:srgbClr val="1B2A4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0" marB="0" anchor="ctr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B2A4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75.0%</a:t>
                      </a:r>
                      <a:endParaRPr sz="1100" b="0">
                        <a:solidFill>
                          <a:srgbClr val="1B2A4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0" marB="0" anchor="ctr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B2A4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90.6%</a:t>
                      </a:r>
                      <a:endParaRPr sz="1100" b="0">
                        <a:solidFill>
                          <a:srgbClr val="1B2A4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0" marB="0" anchor="ctr">
                    <a:solidFill>
                      <a:srgbClr val="F6F9F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B2A4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SIRA-Small</a:t>
                      </a:r>
                      <a:r>
                        <a:rPr lang="zh-CN" altLang="en-US" sz="1100" b="0">
                          <a:solidFill>
                            <a:srgbClr val="1B2A4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（本文）</a:t>
                      </a:r>
                      <a:endParaRPr lang="zh-CN" altLang="en-US" sz="1100" b="0">
                        <a:solidFill>
                          <a:srgbClr val="1B2A4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5720" marR="45720" marT="0" marB="0" anchor="ctr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B2A4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100%</a:t>
                      </a:r>
                      <a:endParaRPr sz="1100" b="0">
                        <a:solidFill>
                          <a:srgbClr val="1B2A4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0" marB="0" anchor="ctr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B2A4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93.8%</a:t>
                      </a:r>
                      <a:endParaRPr sz="1100" b="0">
                        <a:solidFill>
                          <a:srgbClr val="1B2A4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0" marB="0" anchor="ctr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B2A4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93.0%</a:t>
                      </a:r>
                      <a:endParaRPr sz="1100" b="0">
                        <a:solidFill>
                          <a:srgbClr val="1B2A4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0" marB="0" anchor="ctr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B2A4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100%</a:t>
                      </a:r>
                      <a:endParaRPr sz="1100" b="0">
                        <a:solidFill>
                          <a:srgbClr val="1B2A4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0" marB="0" anchor="ctr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B2A4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99.8%</a:t>
                      </a:r>
                      <a:endParaRPr sz="1100" b="0">
                        <a:solidFill>
                          <a:srgbClr val="1B2A4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0" marB="0" anchor="ctr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B2A4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83.4%</a:t>
                      </a:r>
                      <a:endParaRPr sz="1100" b="0">
                        <a:solidFill>
                          <a:srgbClr val="1B2A4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0" marB="0" anchor="ctr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B2A4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93.4%</a:t>
                      </a:r>
                      <a:endParaRPr sz="1100" b="0">
                        <a:solidFill>
                          <a:srgbClr val="1B2A4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0" marB="0" anchor="ctr">
                    <a:solidFill>
                      <a:srgbClr val="F6F9F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B2A4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SIRA-Large</a:t>
                      </a:r>
                      <a:r>
                        <a:rPr lang="zh-CN" altLang="en-US" sz="1100" b="1">
                          <a:solidFill>
                            <a:srgbClr val="1B2A4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（本文）</a:t>
                      </a:r>
                      <a:endParaRPr lang="zh-CN" altLang="en-US" sz="1100" b="1">
                        <a:solidFill>
                          <a:srgbClr val="1B2A4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5720" marR="45720" marT="0" marB="0" anchor="ctr">
                    <a:solidFill>
                      <a:srgbClr val="E8CFC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B2A4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100%</a:t>
                      </a:r>
                      <a:endParaRPr sz="1100" b="1">
                        <a:solidFill>
                          <a:srgbClr val="1B2A4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0" marB="0" anchor="ctr">
                    <a:solidFill>
                      <a:srgbClr val="E8CFC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B2A4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100%</a:t>
                      </a:r>
                      <a:endParaRPr sz="1100" b="1">
                        <a:solidFill>
                          <a:srgbClr val="1B2A4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0" marB="0" anchor="ctr">
                    <a:solidFill>
                      <a:srgbClr val="E8CFC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B2A4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99.6%</a:t>
                      </a:r>
                      <a:endParaRPr sz="1100" b="1">
                        <a:solidFill>
                          <a:srgbClr val="1B2A4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0" marB="0" anchor="ctr">
                    <a:solidFill>
                      <a:srgbClr val="E8CFC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B2A4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100%</a:t>
                      </a:r>
                      <a:endParaRPr sz="1100" b="1">
                        <a:solidFill>
                          <a:srgbClr val="1B2A4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0" marB="0" anchor="ctr">
                    <a:solidFill>
                      <a:srgbClr val="E8CFC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B2A4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100%</a:t>
                      </a:r>
                      <a:endParaRPr sz="1100" b="1">
                        <a:solidFill>
                          <a:srgbClr val="1B2A4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0" marB="0" anchor="ctr">
                    <a:solidFill>
                      <a:srgbClr val="E8CFC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B2A4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98.8%</a:t>
                      </a:r>
                      <a:endParaRPr sz="1100" b="1">
                        <a:solidFill>
                          <a:srgbClr val="1B2A4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0" marB="0" anchor="ctr">
                    <a:solidFill>
                      <a:srgbClr val="E8CFC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B2A4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99.8%</a:t>
                      </a:r>
                      <a:endParaRPr sz="1100" b="1">
                        <a:solidFill>
                          <a:srgbClr val="1B2A4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0" marB="0" anchor="ctr">
                    <a:solidFill>
                      <a:srgbClr val="E8CFCB"/>
                    </a:solidFill>
                  </a:tcPr>
                </a:tc>
              </a:tr>
            </a:tbl>
          </a:graphicData>
        </a:graphic>
      </p:graphicFrame>
      <p:pic>
        <p:nvPicPr>
          <p:cNvPr id="7" name="Picture 6" descr="um_h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96805" y="365760"/>
            <a:ext cx="1481328" cy="431152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566928"/>
            <a:ext cx="8936431" cy="415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500" b="1">
                <a:solidFill>
                  <a:srgbClr val="1B2A41"/>
                </a:solidFill>
                <a:latin typeface="Times New Roman" panose="02020603050405020304"/>
                <a:ea typeface="微软雅黑" panose="020B0503020204020204" charset="-122"/>
              </a:rPr>
              <a:t>回应质疑：固定误报率的对照检验</a:t>
            </a:r>
            <a:endParaRPr lang="zh-CN" altLang="en-US" sz="2500" b="1">
              <a:solidFill>
                <a:srgbClr val="1B2A41"/>
              </a:solidFill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713232" y="1243584"/>
            <a:ext cx="10765231" cy="9525"/>
          </a:xfrm>
          <a:prstGeom prst="rect">
            <a:avLst/>
          </a:prstGeom>
          <a:solidFill>
            <a:srgbClr val="DCE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353312"/>
            <a:ext cx="10424160" cy="257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chemeClr val="tx1"/>
                </a:solidFill>
                <a:latin typeface="Times New Roman" panose="02020603050405020304"/>
                <a:ea typeface="微软雅黑" panose="020B0503020204020204" charset="-122"/>
              </a:rPr>
              <a:t>论文把误报率固定在 1% 与 10% 两档，再看真阳性率：越低，说明检测器越分不清攻击文本与人类文本。</a:t>
            </a:r>
            <a:endParaRPr sz="1400" b="0">
              <a:solidFill>
                <a:schemeClr val="tx1"/>
              </a:solidFill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13232" y="5870448"/>
            <a:ext cx="10424160" cy="3073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这几张图里 SIRA 的柱子都是最矮的</a:t>
            </a:r>
            <a:r>
              <a:rPr lang="zh-CN" sz="16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说明</a:t>
            </a:r>
            <a:r>
              <a:rPr sz="16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攻击效果是真实的，不是靠把门槛调松。</a:t>
            </a:r>
            <a:endParaRPr sz="16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105" y="1701800"/>
            <a:ext cx="10587355" cy="3841750"/>
          </a:xfrm>
          <a:prstGeom prst="rect">
            <a:avLst/>
          </a:prstGeom>
        </p:spPr>
      </p:pic>
      <p:pic>
        <p:nvPicPr>
          <p:cNvPr id="9" name="Picture 8" descr="um_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6805" y="365760"/>
            <a:ext cx="1481328" cy="431152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566928"/>
            <a:ext cx="8936431" cy="415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500" b="1">
                <a:solidFill>
                  <a:srgbClr val="1B2A41"/>
                </a:solidFill>
                <a:latin typeface="微软雅黑" panose="020B0503020204020204" charset="-122"/>
                <a:ea typeface="微软雅黑" panose="020B0503020204020204" charset="-122"/>
              </a:rPr>
              <a:t>攻击的代价：文本质量评估</a:t>
            </a:r>
            <a:endParaRPr lang="zh-CN" altLang="en-US" sz="2500" b="1">
              <a:solidFill>
                <a:srgbClr val="1B2A4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713232" y="1243584"/>
            <a:ext cx="10765231" cy="9525"/>
          </a:xfrm>
          <a:prstGeom prst="rect">
            <a:avLst/>
          </a:prstGeom>
          <a:solidFill>
            <a:srgbClr val="DCE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13232" y="1353312"/>
            <a:ext cx="10424160" cy="257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用两个指标衡量：困惑度 PPL（越低越自然）与句向量相似度 s-BERT（越高语义保留越好）。</a:t>
            </a:r>
            <a:endParaRPr sz="1400" b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13232" y="5815584"/>
            <a:ext cx="10424160" cy="6394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删词与同义替换让 PPL 大幅升高；而 SIRA 的 PPL 反而优于原始水印文本 —— 因为水印本身就在扭曲模型的自然输出，移除它等于让文本回到更自然的状态。</a:t>
            </a:r>
            <a:endParaRPr sz="16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105" y="1711325"/>
            <a:ext cx="9544050" cy="4032250"/>
          </a:xfrm>
          <a:prstGeom prst="rect">
            <a:avLst/>
          </a:prstGeom>
        </p:spPr>
      </p:pic>
      <p:pic>
        <p:nvPicPr>
          <p:cNvPr id="9" name="Picture 8" descr="um_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6805" y="365760"/>
            <a:ext cx="1481328" cy="431152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566928"/>
            <a:ext cx="8936431" cy="415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B2A41"/>
                </a:solidFill>
                <a:latin typeface="微软雅黑" panose="020B0503020204020204" charset="-122"/>
                <a:ea typeface="微软雅黑" panose="020B0503020204020204" charset="-122"/>
              </a:rPr>
              <a:t>消融实验：把设计一个个拆掉看看</a:t>
            </a:r>
            <a:endParaRPr sz="2500" b="1">
              <a:solidFill>
                <a:srgbClr val="1B2A4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713232" y="1243584"/>
            <a:ext cx="10765231" cy="9525"/>
          </a:xfrm>
          <a:prstGeom prst="rect">
            <a:avLst/>
          </a:prstGeom>
          <a:solidFill>
            <a:srgbClr val="DCE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13232" y="1353312"/>
            <a:ext cx="10765231" cy="2470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消融就是"把某个部件拆掉，看效果掉多少"，用来验证每个设计是不是真有必要。</a:t>
            </a:r>
            <a:endParaRPr sz="1400" b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13232" y="1847088"/>
            <a:ext cx="5669280" cy="2197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B2A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按自信息挑词 vs 随机挑词</a:t>
            </a:r>
            <a:endParaRPr sz="1300" b="1">
              <a:solidFill>
                <a:srgbClr val="1B2A4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13232" y="2212848"/>
          <a:ext cx="5486400" cy="12984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097280"/>
                <a:gridCol w="1097280"/>
                <a:gridCol w="1097280"/>
                <a:gridCol w="1097280"/>
              </a:tblGrid>
              <a:tr h="432816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挖空比例</a:t>
                      </a:r>
                      <a:endParaRPr sz="10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7432" marR="27432" anchor="ctr"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50%</a:t>
                      </a:r>
                      <a:endParaRPr sz="10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7432" marR="27432" anchor="ctr"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60%</a:t>
                      </a:r>
                      <a:endParaRPr sz="10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7432" marR="27432" anchor="ctr"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70%</a:t>
                      </a:r>
                      <a:endParaRPr sz="10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7432" marR="27432" anchor="ctr"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80%</a:t>
                      </a:r>
                      <a:endParaRPr sz="10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7432" marR="27432" anchor="ctr">
                    <a:solidFill>
                      <a:srgbClr val="1B2A41"/>
                    </a:solidFill>
                  </a:tcPr>
                </a:tc>
              </a:tr>
              <a:tr h="432816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5B7089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随机挑词</a:t>
                      </a:r>
                      <a:endParaRPr sz="1000" b="0">
                        <a:solidFill>
                          <a:srgbClr val="5B7089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B7089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66%</a:t>
                      </a:r>
                      <a:endParaRPr sz="1000" b="0">
                        <a:solidFill>
                          <a:srgbClr val="5B7089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B7089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78%</a:t>
                      </a:r>
                      <a:endParaRPr sz="1000" b="0">
                        <a:solidFill>
                          <a:srgbClr val="5B7089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B7089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80%</a:t>
                      </a:r>
                      <a:endParaRPr sz="1000" b="0">
                        <a:solidFill>
                          <a:srgbClr val="5B7089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B7089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82%</a:t>
                      </a:r>
                      <a:endParaRPr sz="1000" b="0">
                        <a:solidFill>
                          <a:srgbClr val="5B7089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</a:tr>
              <a:tr h="432816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B2A4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按自信息挑词</a:t>
                      </a:r>
                      <a:endParaRPr sz="1000" b="1">
                        <a:solidFill>
                          <a:srgbClr val="1B2A4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7432" marR="27432" anchor="ctr">
                    <a:solidFill>
                      <a:srgbClr val="E8CFC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B2A4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88%</a:t>
                      </a:r>
                      <a:endParaRPr sz="1000" b="1">
                        <a:solidFill>
                          <a:srgbClr val="1B2A4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7432" marR="27432" anchor="ctr">
                    <a:solidFill>
                      <a:srgbClr val="E8CFC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B2A4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92%</a:t>
                      </a:r>
                      <a:endParaRPr sz="1000" b="1">
                        <a:solidFill>
                          <a:srgbClr val="1B2A4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7432" marR="27432" anchor="ctr">
                    <a:solidFill>
                      <a:srgbClr val="E8CFC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B2A4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96%</a:t>
                      </a:r>
                      <a:endParaRPr sz="1000" b="1">
                        <a:solidFill>
                          <a:srgbClr val="1B2A4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7432" marR="27432" anchor="ctr">
                    <a:solidFill>
                      <a:srgbClr val="E8CFC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B2A4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100%</a:t>
                      </a:r>
                      <a:endParaRPr sz="1000" b="1">
                        <a:solidFill>
                          <a:srgbClr val="1B2A4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7432" marR="27432" anchor="ctr">
                    <a:solidFill>
                      <a:srgbClr val="E8CFCB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6492240" y="1847088"/>
            <a:ext cx="9525" cy="3931920"/>
          </a:xfrm>
          <a:prstGeom prst="rect">
            <a:avLst/>
          </a:prstGeom>
          <a:solidFill>
            <a:srgbClr val="DCE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912864" y="1847088"/>
            <a:ext cx="4480560" cy="25482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1B2A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挖空比例的影响</a:t>
            </a:r>
            <a:endParaRPr sz="1300" b="1">
              <a:solidFill>
                <a:srgbClr val="1B2A4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0">
                <a:solidFill>
                  <a:srgbClr val="3345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25% → 成功率 96%，但语义保留分仅 0.68，丢信息较多</a:t>
            </a:r>
            <a:endParaRPr sz="1150" b="0">
              <a:solidFill>
                <a:srgbClr val="3345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0">
                <a:solidFill>
                  <a:srgbClr val="B23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30% → 94% 与 0.77，论文推荐的平衡点</a:t>
            </a:r>
            <a:endParaRPr sz="1150" b="0">
              <a:solidFill>
                <a:srgbClr val="B23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1600"/>
              </a:spcAft>
            </a:pPr>
            <a:r>
              <a:rPr sz="1150" b="0">
                <a:solidFill>
                  <a:srgbClr val="3345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≥60% → 成功率骤降，65% 时仅剩 58%</a:t>
            </a:r>
            <a:endParaRPr sz="1150" b="0">
              <a:solidFill>
                <a:srgbClr val="3345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1B2A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效果是否只是"改写了两遍"带来的？</a:t>
            </a:r>
            <a:endParaRPr sz="1300" b="1">
              <a:solidFill>
                <a:srgbClr val="1B2A4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3345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只做改写的参考文本成功率 64%、平均 z-score 3.75；走完两步的攻击文本 94%、1.85（人类为 0.12）。说明功劳来自自信息挑词，而不是多改写了一遍。</a:t>
            </a:r>
            <a:endParaRPr sz="1150" b="0">
              <a:solidFill>
                <a:srgbClr val="3345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0" name="Picture 9" descr="um_h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96805" y="365760"/>
            <a:ext cx="1481328" cy="431152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713232" y="2103120"/>
            <a:ext cx="822960" cy="40640"/>
          </a:xfrm>
          <a:prstGeom prst="rect">
            <a:avLst/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13232" y="2395728"/>
            <a:ext cx="89611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1B2A41"/>
                </a:solidFill>
                <a:latin typeface="微软雅黑" panose="020B0503020204020204" charset="-122"/>
                <a:ea typeface="微软雅黑" panose="020B0503020204020204" charset="-122"/>
              </a:rPr>
              <a:t>总结与思考</a:t>
            </a:r>
            <a:endParaRPr sz="3800" b="1">
              <a:solidFill>
                <a:srgbClr val="1B2A4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13232" y="1316736"/>
            <a:ext cx="2743200" cy="6153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4000" b="1">
                <a:solidFill>
                  <a:srgbClr val="B23A2E"/>
                </a:solidFill>
                <a:latin typeface="微软雅黑" panose="020B0503020204020204" charset="-122"/>
                <a:ea typeface="微软雅黑" panose="020B0503020204020204" charset="-122"/>
              </a:rPr>
              <a:t>五</a:t>
            </a:r>
            <a:endParaRPr lang="zh-CN" sz="4000" b="1">
              <a:solidFill>
                <a:srgbClr val="B23A2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7" name="Picture 6" descr="um_h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96805" y="365760"/>
            <a:ext cx="1481328" cy="431152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566928"/>
            <a:ext cx="8936431" cy="415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B2A41"/>
                </a:solidFill>
                <a:latin typeface="微软雅黑" panose="020B0503020204020204" charset="-122"/>
                <a:ea typeface="微软雅黑" panose="020B0503020204020204" charset="-122"/>
              </a:rPr>
              <a:t>论文的贡献与局限</a:t>
            </a:r>
            <a:endParaRPr sz="2500" b="1">
              <a:solidFill>
                <a:srgbClr val="1B2A4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713232" y="1243584"/>
            <a:ext cx="10765231" cy="9525"/>
          </a:xfrm>
          <a:prstGeom prst="rect">
            <a:avLst/>
          </a:prstGeom>
          <a:solidFill>
            <a:srgbClr val="DCE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13232" y="1463040"/>
            <a:ext cx="5943600" cy="346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400"/>
              </a:spcAft>
            </a:pPr>
            <a:r>
              <a:rPr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贡献</a:t>
            </a:r>
            <a:endParaRPr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B2A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形式化了一个威胁模型</a:t>
            </a:r>
            <a:endParaRPr sz="1600" b="1">
              <a:solidFill>
                <a:srgbClr val="1B2A4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1500"/>
              </a:spcAft>
            </a:pPr>
            <a:r>
              <a:rPr sz="120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把黑盒改述攻击与依赖探测、在线攻击的方法清楚区分开</a:t>
            </a:r>
            <a:endParaRPr sz="1200" b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B2A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揭示了一个结构性漏洞</a:t>
            </a:r>
            <a:endParaRPr sz="1600" b="1">
              <a:solidFill>
                <a:srgbClr val="1B2A4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1500"/>
              </a:spcAft>
            </a:pPr>
            <a:r>
              <a:rPr sz="120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提出首个针对性改述攻击，指出高熵嵌入这条路线共同的软肋</a:t>
            </a:r>
            <a:endParaRPr sz="1200" b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B2A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系统评估了既有攻击</a:t>
            </a:r>
            <a:endParaRPr sz="1600" b="1">
              <a:solidFill>
                <a:srgbClr val="1B2A4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1500"/>
              </a:spcAft>
            </a:pPr>
            <a:r>
              <a:rPr sz="120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证明现有改述攻击已不足以检验新一代水印的鲁棒性</a:t>
            </a:r>
            <a:endParaRPr sz="1200" b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B2A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轻量、通用、成本低</a:t>
            </a:r>
            <a:endParaRPr sz="1600" b="1">
              <a:solidFill>
                <a:srgbClr val="1B2A4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1500"/>
              </a:spcAft>
            </a:pPr>
            <a:r>
              <a:rPr sz="120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3B 模型即可奏效，成本仅 0.88 美元 / 百万词</a:t>
            </a:r>
            <a:endParaRPr sz="1200" b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132320" y="1463040"/>
            <a:ext cx="9525" cy="4206240"/>
          </a:xfrm>
          <a:prstGeom prst="rect">
            <a:avLst/>
          </a:prstGeom>
          <a:solidFill>
            <a:srgbClr val="DCE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552690" y="1463040"/>
            <a:ext cx="3935730" cy="3804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400"/>
              </a:spcAft>
            </a:pPr>
            <a:r>
              <a:rPr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局限</a:t>
            </a:r>
            <a:endParaRPr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lang="zh-CN" altLang="en-US" sz="1350" b="1">
                <a:solidFill>
                  <a:srgbClr val="1B2A41"/>
                </a:solidFill>
                <a:latin typeface="微软雅黑" panose="020B0503020204020204" charset="-122"/>
                <a:ea typeface="微软雅黑" panose="020B0503020204020204" charset="-122"/>
              </a:rPr>
              <a:t>最优阈值依赖未知的水印参数</a:t>
            </a:r>
            <a:endParaRPr lang="zh-CN" altLang="en-US" sz="1350" b="1">
              <a:solidFill>
                <a:srgbClr val="1B2A4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1500"/>
              </a:spcAft>
            </a:pPr>
            <a:r>
              <a:rPr lang="zh-CN" altLang="en-US" sz="120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论文证了攻击成功率的下界，但要求阈值与水印的目标分位数吻合——而分位数是未知的，实践中只能试参</a:t>
            </a:r>
            <a:endParaRPr lang="zh-CN" altLang="en-US" sz="1200" b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1B2A41"/>
                </a:solidFill>
                <a:latin typeface="微软雅黑" panose="020B0503020204020204" charset="-122"/>
                <a:ea typeface="微软雅黑" panose="020B0503020204020204" charset="-122"/>
              </a:rPr>
              <a:t>只做攻击，未做防御</a:t>
            </a:r>
            <a:endParaRPr sz="1350" b="1">
              <a:solidFill>
                <a:srgbClr val="1B2A4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1500"/>
              </a:spcAft>
            </a:pPr>
            <a:r>
              <a:rPr sz="120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指出问题但未给修复方案，也是留给后续研究的机会</a:t>
            </a:r>
            <a:endParaRPr sz="1200" b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lang="zh-CN" altLang="en-US" sz="1350" b="1">
                <a:solidFill>
                  <a:srgbClr val="1B2A41"/>
                </a:solidFill>
                <a:latin typeface="微软雅黑" panose="020B0503020204020204" charset="-122"/>
                <a:ea typeface="微软雅黑" panose="020B0503020204020204" charset="-122"/>
              </a:rPr>
              <a:t>理论下界依赖独立性假设</a:t>
            </a:r>
            <a:endParaRPr lang="zh-CN" altLang="en-US" sz="1350" b="1">
              <a:solidFill>
                <a:srgbClr val="1B2A4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1500"/>
              </a:spcAft>
            </a:pPr>
            <a:r>
              <a:rPr lang="zh-CN" altLang="en-US" sz="120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下界是在条件独立性假设下给出的，真实文本的 </a:t>
            </a:r>
            <a:r>
              <a:rPr lang="en-US" altLang="zh-CN" sz="120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token </a:t>
            </a:r>
            <a:r>
              <a:rPr lang="zh-CN" altLang="en-US" sz="120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强相关，假设并不严格成立</a:t>
            </a:r>
            <a:endParaRPr lang="zh-CN" altLang="en-US" sz="1200" b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1B2A41"/>
                </a:solidFill>
                <a:latin typeface="微软雅黑" panose="020B0503020204020204" charset="-122"/>
                <a:ea typeface="微软雅黑" panose="020B0503020204020204" charset="-122"/>
              </a:rPr>
              <a:t>实验范围仍可扩大</a:t>
            </a:r>
            <a:endParaRPr sz="1350" b="1">
              <a:solidFill>
                <a:srgbClr val="1B2A4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1500"/>
              </a:spcAft>
            </a:pPr>
            <a:r>
              <a:rPr sz="120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水印算法与语言模型的覆盖可进一步扩展</a:t>
            </a:r>
            <a:endParaRPr sz="1200" b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8" name="Picture 7" descr="um_h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96805" y="365760"/>
            <a:ext cx="1481328" cy="431152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713232" y="2395728"/>
            <a:ext cx="822960" cy="40640"/>
          </a:xfrm>
          <a:prstGeom prst="rect">
            <a:avLst/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13232" y="2688336"/>
            <a:ext cx="104241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>
                <a:solidFill>
                  <a:srgbClr val="1B2A41"/>
                </a:solidFill>
                <a:latin typeface="微软雅黑" panose="020B0503020204020204" charset="-122"/>
                <a:ea typeface="微软雅黑" panose="020B0503020204020204" charset="-122"/>
              </a:rPr>
              <a:t>恳请各位老师、同学批评指正</a:t>
            </a:r>
            <a:endParaRPr sz="3300" b="1">
              <a:solidFill>
                <a:srgbClr val="1B2A4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13232" y="3931920"/>
            <a:ext cx="1042416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Revealing Weaknesses in Text Watermarking Through Self-Information Rewrite Attacks</a:t>
            </a:r>
            <a:endParaRPr sz="1250" b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0"/>
              </a:spcAft>
            </a:pPr>
            <a:r>
              <a:rPr sz="115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ICML 2025  ·  CCF A 类会议  ·  PMLR 267, pp. 9982–10009</a:t>
            </a:r>
            <a:endParaRPr sz="1150" b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1B2A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汇报人：易永跃　　指导老师：王也　　2026 年 10 月 11 日</a:t>
            </a:r>
            <a:endParaRPr sz="1350" b="1">
              <a:solidFill>
                <a:srgbClr val="1B2A4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6" name="Picture 5" descr="um_h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96805" y="365760"/>
            <a:ext cx="1481328" cy="431152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41.30000000000007,&quot;left&quot;:56.160000000000004,&quot;top&quot;:110.85999999999999,&quot;width&quot;:815.04}"/>
</p:tagLst>
</file>

<file path=ppt/tags/tag2.xml><?xml version="1.0" encoding="utf-8"?>
<p:tagLst xmlns:p="http://schemas.openxmlformats.org/presentationml/2006/main">
  <p:tag name="KSO_WM_DIAGRAM_VIRTUALLY_FRAME" val="{&quot;height&quot;:341.30000000000007,&quot;left&quot;:56.160000000000004,&quot;top&quot;:110.85999999999999,&quot;width&quot;:815.04}"/>
</p:tagLst>
</file>

<file path=ppt/tags/tag3.xml><?xml version="1.0" encoding="utf-8"?>
<p:tagLst xmlns:p="http://schemas.openxmlformats.org/presentationml/2006/main">
  <p:tag name="KSO_WM_DIAGRAM_VIRTUALLY_FRAME" val="{&quot;height&quot;:341.30000000000007,&quot;left&quot;:56.160000000000004,&quot;top&quot;:110.85999999999999,&quot;width&quot;:815.04}"/>
</p:tagLst>
</file>

<file path=ppt/tags/tag4.xml><?xml version="1.0" encoding="utf-8"?>
<p:tagLst xmlns:p="http://schemas.openxmlformats.org/presentationml/2006/main">
  <p:tag name="KSO_WM_DIAGRAM_VIRTUALLY_FRAME" val="{&quot;height&quot;:341.30000000000007,&quot;left&quot;:56.160000000000004,&quot;top&quot;:110.85999999999999,&quot;width&quot;:815.04}"/>
</p:tagLst>
</file>

<file path=ppt/tags/tag5.xml><?xml version="1.0" encoding="utf-8"?>
<p:tagLst xmlns:p="http://schemas.openxmlformats.org/presentationml/2006/main">
  <p:tag name="KSO_WM_DIAGRAM_VIRTUALLY_FRAME" val="{&quot;height&quot;:341.30000000000007,&quot;left&quot;:56.160000000000004,&quot;top&quot;:110.85999999999999,&quot;width&quot;:815.04}"/>
</p:tagLst>
</file>

<file path=ppt/tags/tag6.xml><?xml version="1.0" encoding="utf-8"?>
<p:tagLst xmlns:p="http://schemas.openxmlformats.org/presentationml/2006/main">
  <p:tag name="KSO_WM_DIAGRAM_VIRTUALLY_FRAME" val="{&quot;height&quot;:341.30000000000007,&quot;left&quot;:56.160000000000004,&quot;top&quot;:110.85999999999999,&quot;width&quot;:815.04}"/>
</p:tagLst>
</file>

<file path=ppt/tags/tag7.xml><?xml version="1.0" encoding="utf-8"?>
<p:tagLst xmlns:p="http://schemas.openxmlformats.org/presentationml/2006/main">
  <p:tag name="KSO_WM_DIAGRAM_VIRTUALLY_FRAME" val="{&quot;height&quot;:341.30000000000007,&quot;left&quot;:56.160000000000004,&quot;top&quot;:110.85999999999999,&quot;width&quot;:815.04}"/>
</p:tagLst>
</file>

<file path=ppt/tags/tag8.xml><?xml version="1.0" encoding="utf-8"?>
<p:tagLst xmlns:p="http://schemas.openxmlformats.org/presentationml/2006/main">
  <p:tag name="KSO_WM_DIAGRAM_VIRTUALLY_FRAME" val="{&quot;height&quot;:341.30000000000007,&quot;left&quot;:56.160000000000004,&quot;top&quot;:110.85999999999999,&quot;width&quot;:815.04}"/>
</p:tagLst>
</file>

<file path=ppt/tags/tag9.xml><?xml version="1.0" encoding="utf-8"?>
<p:tagLst xmlns:p="http://schemas.openxmlformats.org/presentationml/2006/main">
  <p:tag name="KSO_WM_DIAGRAM_VIRTUALLY_FRAME" val="{&quot;height&quot;:341.30000000000007,&quot;left&quot;:56.160000000000004,&quot;top&quot;:110.85999999999999,&quot;width&quot;:815.04}"/>
</p:tagLst>
</file>

<file path=ppt/tags/tag10.xml><?xml version="1.0" encoding="utf-8"?>
<p:tagLst xmlns:p="http://schemas.openxmlformats.org/presentationml/2006/main">
  <p:tag name="KSO_WM_DIAGRAM_VIRTUALLY_FRAME" val="{&quot;height&quot;:341.30000000000007,&quot;left&quot;:56.160000000000004,&quot;top&quot;:110.85999999999999,&quot;width&quot;:815.04}"/>
</p:tagLst>
</file>

<file path=ppt/tags/tag11.xml><?xml version="1.0" encoding="utf-8"?>
<p:tagLst xmlns:p="http://schemas.openxmlformats.org/presentationml/2006/main">
  <p:tag name="KSO_WM_DIAGRAM_VIRTUALLY_FRAME" val="{&quot;height&quot;:285.1199212598425,&quot;left&quot;:49.959999999999994,&quot;top&quot;:123.84,&quot;width&quot;:860.1199999999999}"/>
</p:tagLst>
</file>

<file path=ppt/tags/tag12.xml><?xml version="1.0" encoding="utf-8"?>
<p:tagLst xmlns:p="http://schemas.openxmlformats.org/presentationml/2006/main">
  <p:tag name="KSO_WM_DIAGRAM_VIRTUALLY_FRAME" val="{&quot;height&quot;:285.1199212598425,&quot;left&quot;:49.959999999999994,&quot;top&quot;:123.84,&quot;width&quot;:860.1199999999999}"/>
</p:tagLst>
</file>

<file path=ppt/tags/tag13.xml><?xml version="1.0" encoding="utf-8"?>
<p:tagLst xmlns:p="http://schemas.openxmlformats.org/presentationml/2006/main">
  <p:tag name="KSO_WM_DIAGRAM_VIRTUALLY_FRAME" val="{&quot;height&quot;:285.1199212598425,&quot;left&quot;:49.959999999999994,&quot;top&quot;:123.84,&quot;width&quot;:860.1199999999999}"/>
</p:tagLst>
</file>

<file path=ppt/tags/tag14.xml><?xml version="1.0" encoding="utf-8"?>
<p:tagLst xmlns:p="http://schemas.openxmlformats.org/presentationml/2006/main">
  <p:tag name="KSO_WM_DIAGRAM_VIRTUALLY_FRAME" val="{&quot;height&quot;:285.1199212598425,&quot;left&quot;:49.959999999999994,&quot;top&quot;:123.84,&quot;width&quot;:860.1199999999999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5108</Words>
  <Application>WPS 演示</Application>
  <PresentationFormat>On-screen Show (4:3)</PresentationFormat>
  <Paragraphs>640</Paragraphs>
  <Slides>29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29</vt:i4>
      </vt:variant>
    </vt:vector>
  </HeadingPairs>
  <TitlesOfParts>
    <vt:vector size="38" baseType="lpstr">
      <vt:lpstr>Arial</vt:lpstr>
      <vt:lpstr>宋体</vt:lpstr>
      <vt:lpstr>Wingdings</vt:lpstr>
      <vt:lpstr>Arial</vt:lpstr>
      <vt:lpstr>Times New Roman</vt:lpstr>
      <vt:lpstr>微软雅黑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溟澈</cp:lastModifiedBy>
  <cp:revision>6</cp:revision>
  <dcterms:created xsi:type="dcterms:W3CDTF">2013-01-27T09:14:00Z</dcterms:created>
  <dcterms:modified xsi:type="dcterms:W3CDTF">2026-10-02T15:22:59Z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4A7E76F47E0848A1800BF6F0A1DF07AB_13</vt:lpwstr>
  </property>
</Properties>
</file>