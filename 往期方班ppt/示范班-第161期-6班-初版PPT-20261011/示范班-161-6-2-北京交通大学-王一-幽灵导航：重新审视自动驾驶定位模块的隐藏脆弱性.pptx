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微软雅黑" panose="020B0503020204020204" charset="-122"/>
      <p:regular r:id="rId37"/>
      <p:bold r:id="rId38"/>
    </p:embeddedFont>
    <p:embeddedFont>
      <p:font typeface="Cambria Math" panose="02040503050406030204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00" b="1">
                <a:solidFill>
                  <a:srgbClr val="001C54"/>
                </a:solidFill>
              </a:rPr>
              <a:t>Apollo_MSF / Baidu-64 攻击成功率 (%)</a:t>
            </a:r>
            <a:endParaRPr sz="1200" b="1">
              <a:solidFill>
                <a:srgbClr val="001C54"/>
              </a:solidFill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Off-road</c:f>
              <c:strCache>
                <c:ptCount val="1"/>
                <c:pt idx="0">
                  <c:v>Off-road</c:v>
                </c:pt>
              </c:strCache>
            </c:strRef>
          </c:tx>
          <c:spPr>
            <a:solidFill>
              <a:srgbClr val="1C479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{"Acceleration","Cruising"}</c:f>
              <c:strCache>
                <c:ptCount val="2"/>
                <c:pt idx="0">
                  <c:v>Acceleration</c:v>
                </c:pt>
                <c:pt idx="1">
                  <c:v>Cruising</c:v>
                </c:pt>
              </c:strCache>
            </c:strRef>
          </c:cat>
          <c:val>
            <c:numRef>
              <c:f>{98,91}</c:f>
              <c:numCache>
                <c:formatCode>General</c:formatCode>
                <c:ptCount val="2"/>
                <c:pt idx="0">
                  <c:v>98</c:v>
                </c:pt>
                <c:pt idx="1">
                  <c:v>91</c:v>
                </c:pt>
              </c:numCache>
            </c:numRef>
          </c:val>
        </c:ser>
        <c:ser>
          <c:idx val="1"/>
          <c:order val="1"/>
          <c:tx>
            <c:strRef>
              <c:f>Wrong-way</c:f>
              <c:strCache>
                <c:ptCount val="1"/>
                <c:pt idx="0">
                  <c:v>Wrong-way</c:v>
                </c:pt>
              </c:strCache>
            </c:strRef>
          </c:tx>
          <c:spPr>
            <a:solidFill>
              <a:srgbClr val="F4A34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{"Acceleration","Cruising"}</c:f>
              <c:strCache>
                <c:ptCount val="2"/>
                <c:pt idx="0">
                  <c:v>Acceleration</c:v>
                </c:pt>
                <c:pt idx="1">
                  <c:v>Cruising</c:v>
                </c:pt>
              </c:strCache>
            </c:strRef>
          </c:cat>
          <c:val>
            <c:numRef>
              <c:f>{92.7,85}</c:f>
              <c:numCache>
                <c:formatCode>General</c:formatCode>
                <c:ptCount val="2"/>
                <c:pt idx="0">
                  <c:v>92.7</c:v>
                </c:pt>
                <c:pt idx="1">
                  <c:v>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5DF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00">
                    <a:solidFill>
                      <a:srgbClr val="667085"/>
                    </a:solidFill>
                  </a:rPr>
                  <a:t>Success rate (%)</a:t>
                </a:r>
                <a:endParaRPr sz="900">
                  <a:solidFill>
                    <a:srgbClr val="667085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303848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04947a-9886-48ed-bdf2-8b402fd768d8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论文：Zhang et al., The Ghost Navigator, USENIX Security 2025。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来源与讲解提示：内容组织对应论文 Sec.1–6；两段对话记录用于强化 Sec.2–6 的讲解重点。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Sec.1–2；Figure 14 展示定位误差传递到规划与控制后的物理后果。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Sec.2.2、Figure 1（PDF p.4）。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Sec.3.1、Figures 2–3（PDF p.5）；对话一重点：车辆动态改变 F，从而改变 P 与 K。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Sec.3.2；对话一将三项挑战对应到 MSAF 的四个模块。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Sec.2.1，公式 (1)–(3)（PDF p.4）。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来源与讲解提示：论文公式 (3)；对话一重点解释：F → P → K → GPS 权重。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Sec.3.1，公式 (4)（PDF p.5）；F 为 5×5 个 3×3 子块组成的 15×15 矩阵。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来源与讲解提示：论文公式 (5)；对话一把 F23 解释为比力的叉乘矩阵。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来源与讲解提示：自绘解释图；依据论文公式 (5)。示例用于解释耦合，不替代论文实验结果。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来源与讲解提示：论文公式 (6)（PDF p.5）；对话一强调 F33 与 F23 的串联效应。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来源与讲解提示：综合论文公式 (2)–(6)、(13)；对话一的核心因果链：motion → F/G → P/K → GPS weight → deviation。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Sec.4、Figure 4（PDF p.7）。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Sec.4.1，公式 (7)–(10)（PDF pp.6–7）。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Sec.4.2，公式 (11)–(13)（PDF p.7）；对话一重点：速度同时影响 F 与 G。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Sec.4.3，公式 (14)（PDF p.8）。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Sec.4.3，公式 (15)（PDF p.8）；对话一重点解释 SVD 与伪逆的含义。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Sec.4.4，公式 (16)（PDF pp.8–9）。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来源与讲解提示：综合论文 Sec.4.1–4.4 与 Sec.5.4；自绘流程图。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Sec.5.1–5.2，Figures 5–7（PDF pp.9–11）；对话二重点：速度是关键变量。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Sec.5.3–5.4，Figures 8–9（PDF pp.11–12）；对话二总结了 16.43%、30.96%、&lt;2% 与消融结果。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Sec.6.1–6.2，Figure 10、Tables 2–3（PDF p.13）；图表数值均来自原论文。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来源与讲解提示：论文 Sec.6.3–6.5，Figures 11–14、Table 4（PDF pp.14–15）；对话二汇总成功率、时长和真实车配置。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来源与讲解提示：参考文献编号沿用论文；完整条目见原论文 References。局限与防御来自 Sec.7。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总结：运动状态改变融合系统内部权重；MSAF 对这一窗口进行离线画像与在线利用。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9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8.png"/><Relationship Id="rId33" Type="http://schemas.openxmlformats.org/officeDocument/2006/relationships/notesSlide" Target="../notesSlides/notesSlide25.xml"/><Relationship Id="rId32" Type="http://schemas.openxmlformats.org/officeDocument/2006/relationships/slideLayout" Target="../slideLayouts/slideLayout1.xml"/><Relationship Id="rId31" Type="http://schemas.openxmlformats.org/officeDocument/2006/relationships/image" Target="../media/image43.png"/><Relationship Id="rId30" Type="http://schemas.openxmlformats.org/officeDocument/2006/relationships/tags" Target="../tags/tag24.xml"/><Relationship Id="rId3" Type="http://schemas.openxmlformats.org/officeDocument/2006/relationships/tags" Target="../tags/tag2.xml"/><Relationship Id="rId29" Type="http://schemas.openxmlformats.org/officeDocument/2006/relationships/tags" Target="../tags/tag23.xml"/><Relationship Id="rId28" Type="http://schemas.openxmlformats.org/officeDocument/2006/relationships/image" Target="../media/image42.png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image" Target="../media/image41.png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0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2000">
              <a:srgbClr val="1C4792"/>
            </a:gs>
            <a:gs pos="100000">
              <a:srgbClr val="315EA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6337300"/>
            <a:ext cx="12192000" cy="520700"/>
          </a:xfrm>
          <a:prstGeom prst="rect">
            <a:avLst/>
          </a:prstGeom>
          <a:solidFill>
            <a:srgbClr val="001C54"/>
          </a:solidFill>
          <a:ln w="0">
            <a:noFill/>
            <a:prstDash val="solid"/>
          </a:ln>
        </p:spPr>
      </p:sp>
      <p:sp>
        <p:nvSpPr>
          <p:cNvPr id="3" name="text"/>
          <p:cNvSpPr>
            <a:spLocks noGrp="1"/>
          </p:cNvSpPr>
          <p:nvPr/>
        </p:nvSpPr>
        <p:spPr>
          <a:xfrm>
            <a:off x="571500" y="1206500"/>
            <a:ext cx="6858000" cy="36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50" b="1">
                <a:solidFill>
                  <a:srgbClr val="BFD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BFD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GHOST NAVIGATOR</a:t>
            </a:r>
            <a:endParaRPr sz="1550" b="1">
              <a:solidFill>
                <a:srgbClr val="BFD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546100" y="1727200"/>
            <a:ext cx="7429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幽灵导航：重新审视自动驾驶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定位模块的隐藏脆弱性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571500" y="3505200"/>
            <a:ext cx="66675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论文汇报 · 34th USENIX Security Symposium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571500" y="4013200"/>
            <a:ext cx="2921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Motion-Sensitive GPS Spoofing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5967" b="5967"/>
          <a:stretch>
            <a:fillRect/>
          </a:stretch>
        </p:blipFill>
        <p:spPr>
          <a:xfrm>
            <a:off x="8064500" y="1301750"/>
            <a:ext cx="3365500" cy="3302000"/>
          </a:xfrm>
          <a:prstGeom prst="roundRect">
            <a:avLst>
              <a:gd name="adj" fmla="val 4615"/>
            </a:avLst>
          </a:prstGeom>
        </p:spPr>
      </p:pic>
      <p:sp>
        <p:nvSpPr>
          <p:cNvPr id="9" name="text"/>
          <p:cNvSpPr>
            <a:spLocks noGrp="1"/>
          </p:cNvSpPr>
          <p:nvPr/>
        </p:nvSpPr>
        <p:spPr>
          <a:xfrm>
            <a:off x="603250" y="6083300"/>
            <a:ext cx="2159000" cy="31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汇报人：_</a:t>
            </a:r>
            <a:r>
              <a:rPr lang="zh-CN"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王一</a:t>
            </a:r>
            <a:r>
              <a: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</a:t>
            </a:r>
            <a:endParaRPr sz="13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2921000" y="6083300"/>
            <a:ext cx="1524000" cy="31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00" b="0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300" b="0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panel"/>
          <p:cNvSpPr>
            <a:spLocks noGrp="1"/>
          </p:cNvSpPr>
          <p:nvPr/>
        </p:nvSpPr>
        <p:spPr>
          <a:xfrm>
            <a:off x="8013700" y="1250950"/>
            <a:ext cx="3467100" cy="340360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0" y="1659207"/>
            <a:ext cx="3365500" cy="2587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汇报结构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PRESENTATION ROADMAP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2500" y="2063750"/>
            <a:ext cx="2476500" cy="3429000"/>
          </a:xfrm>
          <a:prstGeom prst="roundRect">
            <a:avLst>
              <a:gd name="adj" fmla="val 3077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1155700" y="2286000"/>
            <a:ext cx="889000" cy="63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55700" y="3270250"/>
            <a:ext cx="20320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155700" y="3905250"/>
            <a:ext cx="203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定位为何成为自动驾驶攻击的放大器</a:t>
            </a:r>
            <a:endParaRPr sz="12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714750" y="2063750"/>
            <a:ext cx="2476500" cy="3429000"/>
          </a:xfrm>
          <a:prstGeom prst="roundRect">
            <a:avLst>
              <a:gd name="adj" fmla="val 3077"/>
            </a:avLst>
          </a:prstGeom>
          <a:solidFill>
            <a:srgbClr val="001C54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3917950" y="2286000"/>
            <a:ext cx="889000" cy="63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3917950" y="3270250"/>
            <a:ext cx="20320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攻击原理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3917950" y="3905250"/>
            <a:ext cx="203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ESKF、F/G 矩阵与运动敏感性</a:t>
            </a:r>
            <a:endParaRPr sz="12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77000" y="2063750"/>
            <a:ext cx="2476500" cy="3429000"/>
          </a:xfrm>
          <a:prstGeom prst="roundRect">
            <a:avLst>
              <a:gd name="adj" fmla="val 3077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7" name="text"/>
          <p:cNvSpPr>
            <a:spLocks noGrp="1"/>
          </p:cNvSpPr>
          <p:nvPr/>
        </p:nvSpPr>
        <p:spPr>
          <a:xfrm>
            <a:off x="6680200" y="2286000"/>
            <a:ext cx="889000" cy="63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6680200" y="3270250"/>
            <a:ext cx="20320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6680200" y="3905250"/>
            <a:ext cx="203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离线画像与在线触发</a:t>
            </a:r>
            <a:endParaRPr sz="12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239250" y="2063750"/>
            <a:ext cx="2476500" cy="3429000"/>
          </a:xfrm>
          <a:prstGeom prst="roundRect">
            <a:avLst>
              <a:gd name="adj" fmla="val 3077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1" name="text"/>
          <p:cNvSpPr>
            <a:spLocks noGrp="1"/>
          </p:cNvSpPr>
          <p:nvPr/>
        </p:nvSpPr>
        <p:spPr>
          <a:xfrm>
            <a:off x="9442450" y="2286000"/>
            <a:ext cx="889000" cy="63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442450" y="3270250"/>
            <a:ext cx="20320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9442450" y="3905250"/>
            <a:ext cx="203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稳定性、可观测性与真实车验证</a:t>
            </a:r>
            <a:endParaRPr sz="12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vision"/>
          <p:cNvSpPr>
            <a:spLocks noGrp="1"/>
          </p:cNvSpPr>
          <p:nvPr/>
        </p:nvSpPr>
        <p:spPr>
          <a:xfrm>
            <a:off x="793750" y="1619250"/>
            <a:ext cx="10731500" cy="444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revision-panel"/>
          <p:cNvSpPr>
            <a:spLocks noGrp="1"/>
          </p:cNvSpPr>
          <p:nvPr/>
        </p:nvSpPr>
        <p:spPr>
          <a:xfrm>
            <a:off x="952500" y="2032000"/>
            <a:ext cx="2444750" cy="3302000"/>
          </a:xfrm>
          <a:prstGeom prst="roundRect">
            <a:avLst>
              <a:gd name="adj" fmla="val 3117"/>
            </a:avLst>
          </a:prstGeom>
          <a:solidFill>
            <a:srgbClr val="1C4792"/>
          </a:solidFill>
          <a:ln w="762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revision-text"/>
          <p:cNvSpPr>
            <a:spLocks noGrp="1"/>
          </p:cNvSpPr>
          <p:nvPr/>
        </p:nvSpPr>
        <p:spPr>
          <a:xfrm>
            <a:off x="1130300" y="2222500"/>
            <a:ext cx="82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vision-text"/>
          <p:cNvSpPr>
            <a:spLocks noGrp="1"/>
          </p:cNvSpPr>
          <p:nvPr/>
        </p:nvSpPr>
        <p:spPr>
          <a:xfrm>
            <a:off x="1130300" y="3111500"/>
            <a:ext cx="20955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 + 问题描述 + 动机目标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vision-text"/>
          <p:cNvSpPr>
            <a:spLocks noGrp="1"/>
          </p:cNvSpPr>
          <p:nvPr/>
        </p:nvSpPr>
        <p:spPr>
          <a:xfrm>
            <a:off x="1130300" y="4095750"/>
            <a:ext cx="20955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定位攻击为何会被融合系统放大</a:t>
            </a:r>
            <a:endParaRPr sz="11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vision-panel"/>
          <p:cNvSpPr>
            <a:spLocks noGrp="1"/>
          </p:cNvSpPr>
          <p:nvPr/>
        </p:nvSpPr>
        <p:spPr>
          <a:xfrm>
            <a:off x="3683000" y="2032000"/>
            <a:ext cx="2444750" cy="3302000"/>
          </a:xfrm>
          <a:prstGeom prst="roundRect">
            <a:avLst>
              <a:gd name="adj" fmla="val 3117"/>
            </a:avLst>
          </a:prstGeom>
          <a:solidFill>
            <a:srgbClr val="001C54"/>
          </a:solidFill>
          <a:ln w="7620">
            <a:solidFill>
              <a:srgbClr val="001C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3" name="revision-text"/>
          <p:cNvSpPr>
            <a:spLocks noGrp="1"/>
          </p:cNvSpPr>
          <p:nvPr/>
        </p:nvSpPr>
        <p:spPr>
          <a:xfrm>
            <a:off x="3860800" y="2222500"/>
            <a:ext cx="82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vision-text"/>
          <p:cNvSpPr>
            <a:spLocks noGrp="1"/>
          </p:cNvSpPr>
          <p:nvPr/>
        </p:nvSpPr>
        <p:spPr>
          <a:xfrm>
            <a:off x="3860800" y="3111500"/>
            <a:ext cx="20955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背景知识 + 基本原理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vision-text"/>
          <p:cNvSpPr>
            <a:spLocks noGrp="1"/>
          </p:cNvSpPr>
          <p:nvPr/>
        </p:nvSpPr>
        <p:spPr>
          <a:xfrm>
            <a:off x="3860800" y="4095750"/>
            <a:ext cx="20955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ESKF 中 F / G / P / K 的运动耦合</a:t>
            </a:r>
            <a:endParaRPr sz="11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vision-panel"/>
          <p:cNvSpPr>
            <a:spLocks noGrp="1"/>
          </p:cNvSpPr>
          <p:nvPr/>
        </p:nvSpPr>
        <p:spPr>
          <a:xfrm>
            <a:off x="6413500" y="2032000"/>
            <a:ext cx="2444750" cy="3302000"/>
          </a:xfrm>
          <a:prstGeom prst="roundRect">
            <a:avLst>
              <a:gd name="adj" fmla="val 3117"/>
            </a:avLst>
          </a:prstGeom>
          <a:solidFill>
            <a:srgbClr val="1C4792"/>
          </a:solidFill>
          <a:ln w="762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revision-text"/>
          <p:cNvSpPr>
            <a:spLocks noGrp="1"/>
          </p:cNvSpPr>
          <p:nvPr/>
        </p:nvSpPr>
        <p:spPr>
          <a:xfrm>
            <a:off x="6591300" y="2222500"/>
            <a:ext cx="82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vision-text"/>
          <p:cNvSpPr>
            <a:spLocks noGrp="1"/>
          </p:cNvSpPr>
          <p:nvPr/>
        </p:nvSpPr>
        <p:spPr>
          <a:xfrm>
            <a:off x="6591300" y="3111500"/>
            <a:ext cx="20955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 + 实验方法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vision-text"/>
          <p:cNvSpPr>
            <a:spLocks noGrp="1"/>
          </p:cNvSpPr>
          <p:nvPr/>
        </p:nvSpPr>
        <p:spPr>
          <a:xfrm>
            <a:off x="6591300" y="4095750"/>
            <a:ext cx="20955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四模块、攻击流程与实验设计</a:t>
            </a:r>
            <a:endParaRPr sz="11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vision-panel"/>
          <p:cNvSpPr>
            <a:spLocks noGrp="1"/>
          </p:cNvSpPr>
          <p:nvPr/>
        </p:nvSpPr>
        <p:spPr>
          <a:xfrm>
            <a:off x="9144000" y="2032000"/>
            <a:ext cx="2444750" cy="3302000"/>
          </a:xfrm>
          <a:prstGeom prst="roundRect">
            <a:avLst>
              <a:gd name="adj" fmla="val 3117"/>
            </a:avLst>
          </a:prstGeom>
          <a:solidFill>
            <a:srgbClr val="1C4792"/>
          </a:solidFill>
          <a:ln w="762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1" name="revision-text"/>
          <p:cNvSpPr>
            <a:spLocks noGrp="1"/>
          </p:cNvSpPr>
          <p:nvPr/>
        </p:nvSpPr>
        <p:spPr>
          <a:xfrm>
            <a:off x="9321800" y="2222500"/>
            <a:ext cx="82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vision-text"/>
          <p:cNvSpPr>
            <a:spLocks noGrp="1"/>
          </p:cNvSpPr>
          <p:nvPr/>
        </p:nvSpPr>
        <p:spPr>
          <a:xfrm>
            <a:off x="9321800" y="3111500"/>
            <a:ext cx="20955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 + 总结展望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vision-text"/>
          <p:cNvSpPr>
            <a:spLocks noGrp="1"/>
          </p:cNvSpPr>
          <p:nvPr/>
        </p:nvSpPr>
        <p:spPr>
          <a:xfrm>
            <a:off x="9321800" y="4095750"/>
            <a:ext cx="20955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E4E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有效性、鲁棒性、局限与防御方向</a:t>
            </a:r>
            <a:endParaRPr sz="1150" b="0">
              <a:solidFill>
                <a:srgbClr val="E4E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0000">
              <a:srgbClr val="1C4792"/>
            </a:gs>
            <a:gs pos="100000">
              <a:srgbClr val="4472C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1930400"/>
            <a:ext cx="12192000" cy="2971800"/>
          </a:xfrm>
          <a:prstGeom prst="rect">
            <a:avLst/>
          </a:prstGeom>
          <a:solidFill>
            <a:srgbClr val="001C54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1524000" y="2063750"/>
            <a:ext cx="2095500" cy="139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85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3651250" y="2362200"/>
            <a:ext cx="698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3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3670300" y="31242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BACKGROUND &amp; THREAT MODEL</a:t>
            </a:r>
            <a:endParaRPr sz="140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3670300" y="3587750"/>
            <a:ext cx="62230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从“GPS 能被欺骗”推进到“融合权重何时会被运动状态改写”。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710" y="222250"/>
            <a:ext cx="2926080" cy="1143000"/>
          </a:xfrm>
          <a:prstGeom prst="rect">
            <a:avLst/>
          </a:prstGeom>
        </p:spPr>
      </p:pic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D7E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54"/>
              </a:gs>
              <a:gs pos="72000">
                <a:srgbClr val="1C4792"/>
              </a:gs>
              <a:gs pos="100000">
                <a:srgbClr val="4472C4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" name="revision"/>
          <p:cNvSpPr>
            <a:spLocks noGrp="1"/>
          </p:cNvSpPr>
          <p:nvPr/>
        </p:nvSpPr>
        <p:spPr>
          <a:xfrm>
            <a:off x="0" y="1936750"/>
            <a:ext cx="12192000" cy="2984500"/>
          </a:xfrm>
          <a:prstGeom prst="rect">
            <a:avLst/>
          </a:prstGeom>
          <a:solidFill>
            <a:srgbClr val="001C5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2" name="revision-text"/>
          <p:cNvSpPr>
            <a:spLocks noGrp="1"/>
          </p:cNvSpPr>
          <p:nvPr/>
        </p:nvSpPr>
        <p:spPr>
          <a:xfrm>
            <a:off x="1492250" y="2095500"/>
            <a:ext cx="2095500" cy="136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84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vision-text"/>
          <p:cNvSpPr>
            <a:spLocks noGrp="1"/>
          </p:cNvSpPr>
          <p:nvPr/>
        </p:nvSpPr>
        <p:spPr>
          <a:xfrm>
            <a:off x="3651250" y="2317750"/>
            <a:ext cx="711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 · 问题描述 · 动机目标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text"/>
          <p:cNvSpPr>
            <a:spLocks noGrp="1"/>
          </p:cNvSpPr>
          <p:nvPr/>
        </p:nvSpPr>
        <p:spPr>
          <a:xfrm>
            <a:off x="3670300" y="3175000"/>
            <a:ext cx="698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BACKGROUND · PROBLEM · MOTIVATION</a:t>
            </a:r>
            <a:endParaRPr sz="135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vision-text"/>
          <p:cNvSpPr>
            <a:spLocks noGrp="1"/>
          </p:cNvSpPr>
          <p:nvPr/>
        </p:nvSpPr>
        <p:spPr>
          <a:xfrm>
            <a:off x="3670300" y="3587750"/>
            <a:ext cx="660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从“GPS 可被欺骗”推进到“运动状态会重写融合权重”的研究问题。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定位误差会沿自动驾驶栈向下游传播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LOCALIZATION MATTERS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low"/>
          <p:cNvSpPr>
            <a:spLocks noGrp="1"/>
          </p:cNvSpPr>
          <p:nvPr/>
        </p:nvSpPr>
        <p:spPr>
          <a:xfrm>
            <a:off x="1079500" y="2476500"/>
            <a:ext cx="1905000" cy="825500"/>
          </a:xfrm>
          <a:prstGeom prst="roundRect">
            <a:avLst>
              <a:gd name="adj" fmla="val 9231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1130300" y="2527300"/>
            <a:ext cx="1803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传感器输入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/ GPS / LiDAR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984500" y="2825750"/>
            <a:ext cx="28575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1" name="flow"/>
          <p:cNvSpPr>
            <a:spLocks noGrp="1"/>
          </p:cNvSpPr>
          <p:nvPr/>
        </p:nvSpPr>
        <p:spPr>
          <a:xfrm>
            <a:off x="3397250" y="2476500"/>
            <a:ext cx="1905000" cy="825500"/>
          </a:xfrm>
          <a:prstGeom prst="roundRect">
            <a:avLst>
              <a:gd name="adj" fmla="val 9231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3448050" y="2527300"/>
            <a:ext cx="1803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多传感器融合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位置·速度·姿态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5302250" y="2825750"/>
            <a:ext cx="28575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4" name="flow"/>
          <p:cNvSpPr>
            <a:spLocks noGrp="1"/>
          </p:cNvSpPr>
          <p:nvPr/>
        </p:nvSpPr>
        <p:spPr>
          <a:xfrm>
            <a:off x="5715000" y="2476500"/>
            <a:ext cx="1905000" cy="825500"/>
          </a:xfrm>
          <a:prstGeom prst="roundRect">
            <a:avLst>
              <a:gd name="adj" fmla="val 9231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5765800" y="2527300"/>
            <a:ext cx="1803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规划与控制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车道/轨迹决策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620000" y="2825750"/>
            <a:ext cx="285750" cy="127000"/>
          </a:xfrm>
          <a:prstGeom prst="right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17" name="flow"/>
          <p:cNvSpPr>
            <a:spLocks noGrp="1"/>
          </p:cNvSpPr>
          <p:nvPr/>
        </p:nvSpPr>
        <p:spPr>
          <a:xfrm>
            <a:off x="8032750" y="2476500"/>
            <a:ext cx="1905000" cy="825500"/>
          </a:xfrm>
          <a:prstGeom prst="roundRect">
            <a:avLst>
              <a:gd name="adj" fmla="val 9231"/>
            </a:avLst>
          </a:prstGeom>
          <a:solidFill>
            <a:srgbClr val="FCECEC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8083550" y="2527300"/>
            <a:ext cx="1803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物理后果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偏离·越线·碰撞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ard"/>
          <p:cNvSpPr>
            <a:spLocks noGrp="1"/>
          </p:cNvSpPr>
          <p:nvPr/>
        </p:nvSpPr>
        <p:spPr>
          <a:xfrm>
            <a:off x="1079500" y="4064000"/>
            <a:ext cx="8858250" cy="1365250"/>
          </a:xfrm>
          <a:prstGeom prst="roundRect">
            <a:avLst>
              <a:gd name="adj" fmla="val 5581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text"/>
          <p:cNvSpPr>
            <a:spLocks noGrp="1"/>
          </p:cNvSpPr>
          <p:nvPr/>
        </p:nvSpPr>
        <p:spPr>
          <a:xfrm>
            <a:off x="1231900" y="4191000"/>
            <a:ext cx="92075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1231900" y="4495800"/>
            <a:ext cx="8553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核心安全问题</a:t>
            </a:r>
            <a:endParaRPr sz="17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1231900" y="4838700"/>
            <a:ext cx="8553450" cy="45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攻击者不必篡改感知或规划；只要让融合定位对 GPS 的依赖在特定运动窗口升高，错误位置就会被后级模块当作真实状态。</a:t>
            </a:r>
            <a:endParaRPr sz="14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metric"/>
          <p:cNvSpPr>
            <a:spLocks noGrp="1"/>
          </p:cNvSpPr>
          <p:nvPr/>
        </p:nvSpPr>
        <p:spPr>
          <a:xfrm>
            <a:off x="10096500" y="4064000"/>
            <a:ext cx="1524000" cy="939800"/>
          </a:xfrm>
          <a:prstGeom prst="roundRect">
            <a:avLst>
              <a:gd name="adj" fmla="val 8108"/>
            </a:avLst>
          </a:prstGeom>
          <a:solidFill>
            <a:srgbClr val="001C54"/>
          </a:solidFill>
          <a:ln w="0">
            <a:solidFill>
              <a:srgbClr val="001C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text"/>
          <p:cNvSpPr>
            <a:spLocks noGrp="1"/>
          </p:cNvSpPr>
          <p:nvPr/>
        </p:nvSpPr>
        <p:spPr>
          <a:xfrm>
            <a:off x="10198100" y="4140200"/>
            <a:ext cx="1320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15D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10198100" y="4603750"/>
            <a:ext cx="1320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ESKF 误差状态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威胁模型：目标不是瞬时跳变，而是隐蔽地夺取融合主导权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SURFACE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01700" y="1727200"/>
            <a:ext cx="5816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8" y="1778000"/>
            <a:ext cx="3704804" cy="4127500"/>
          </a:xfrm>
          <a:prstGeom prst="roundRect">
            <a:avLst>
              <a:gd name="adj" fmla="val 2769"/>
            </a:avLst>
          </a:prstGeom>
        </p:spPr>
      </p:pic>
      <p:sp>
        <p:nvSpPr>
          <p:cNvPr id="10" name="card"/>
          <p:cNvSpPr>
            <a:spLocks noGrp="1"/>
          </p:cNvSpPr>
          <p:nvPr/>
        </p:nvSpPr>
        <p:spPr>
          <a:xfrm>
            <a:off x="7048500" y="1873250"/>
            <a:ext cx="4127500" cy="117475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text"/>
          <p:cNvSpPr>
            <a:spLocks noGrp="1"/>
          </p:cNvSpPr>
          <p:nvPr/>
        </p:nvSpPr>
        <p:spPr>
          <a:xfrm>
            <a:off x="7200900" y="20002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7200900" y="2305050"/>
            <a:ext cx="3822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攻击目标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7200900" y="2647950"/>
            <a:ext cx="3822700" cy="26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将车辆推向路缘（off-road）或对向车道（wrong-way）。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ard"/>
          <p:cNvSpPr>
            <a:spLocks noGrp="1"/>
          </p:cNvSpPr>
          <p:nvPr/>
        </p:nvSpPr>
        <p:spPr>
          <a:xfrm>
            <a:off x="7048500" y="3206750"/>
            <a:ext cx="4127500" cy="117475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text"/>
          <p:cNvSpPr>
            <a:spLocks noGrp="1"/>
          </p:cNvSpPr>
          <p:nvPr/>
        </p:nvSpPr>
        <p:spPr>
          <a:xfrm>
            <a:off x="7200900" y="33337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7200900" y="3638550"/>
            <a:ext cx="3822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攻击能力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200900" y="3981450"/>
            <a:ext cx="3822700" cy="26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保持近似正常的信号质量；通过目标跟踪估计速度与航向。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>
            <a:spLocks noGrp="1"/>
          </p:cNvSpPr>
          <p:nvPr/>
        </p:nvSpPr>
        <p:spPr>
          <a:xfrm>
            <a:off x="7048500" y="4540250"/>
            <a:ext cx="4127500" cy="1174750"/>
          </a:xfrm>
          <a:prstGeom prst="roundRect">
            <a:avLst>
              <a:gd name="adj" fmla="val 6486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text"/>
          <p:cNvSpPr>
            <a:spLocks noGrp="1"/>
          </p:cNvSpPr>
          <p:nvPr/>
        </p:nvSpPr>
        <p:spPr>
          <a:xfrm>
            <a:off x="7200900" y="46672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7200900" y="4972050"/>
            <a:ext cx="3822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三个运动窗口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200900" y="5314950"/>
            <a:ext cx="3822700" cy="26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高速直行；静止→加速；转弯中减速→加速。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-panel"/>
          <p:cNvSpPr>
            <a:spLocks noGrp="1"/>
          </p:cNvSpPr>
          <p:nvPr/>
        </p:nvSpPr>
        <p:spPr>
          <a:xfrm>
            <a:off x="901700" y="1727200"/>
            <a:ext cx="5816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99" y="1778000"/>
            <a:ext cx="5369403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被忽略的变量：IMU 动态并非“影响可忽略”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MOTIVATION EXPERIMENT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01700" y="1790700"/>
            <a:ext cx="4864100" cy="372110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64" y="1841500"/>
            <a:ext cx="4517571" cy="3619500"/>
          </a:xfrm>
          <a:prstGeom prst="roundRect">
            <a:avLst>
              <a:gd name="adj" fmla="val 3158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235700" y="1758950"/>
            <a:ext cx="4864100" cy="283210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223" y="1809750"/>
            <a:ext cx="3773055" cy="2730500"/>
          </a:xfrm>
          <a:prstGeom prst="roundRect">
            <a:avLst>
              <a:gd name="adj" fmla="val 4186"/>
            </a:avLst>
          </a:prstGeom>
        </p:spPr>
      </p:pic>
      <p:sp>
        <p:nvSpPr>
          <p:cNvPr id="12" name="metric"/>
          <p:cNvSpPr>
            <a:spLocks noGrp="1"/>
          </p:cNvSpPr>
          <p:nvPr/>
        </p:nvSpPr>
        <p:spPr>
          <a:xfrm>
            <a:off x="6286500" y="4762500"/>
            <a:ext cx="4762500" cy="939800"/>
          </a:xfrm>
          <a:prstGeom prst="roundRect">
            <a:avLst>
              <a:gd name="adj" fmla="val 8108"/>
            </a:avLst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6388100" y="4838700"/>
            <a:ext cx="455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16.7%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388100" y="5302250"/>
            <a:ext cx="45593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转弯中同时改变加速度与角速度时出现 take-over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477000" y="5765800"/>
            <a:ext cx="43815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被判为离群值 → GPS 成为主导观测</a:t>
            </a:r>
            <a:endParaRPr sz="14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vision-panel"/>
          <p:cNvSpPr>
            <a:spLocks noGrp="1"/>
          </p:cNvSpPr>
          <p:nvPr/>
        </p:nvSpPr>
        <p:spPr>
          <a:xfrm>
            <a:off x="901700" y="1790700"/>
            <a:ext cx="4864100" cy="372110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554622"/>
            <a:ext cx="4762500" cy="2193257"/>
          </a:xfrm>
          <a:prstGeom prst="rect">
            <a:avLst/>
          </a:prstGeom>
        </p:spPr>
      </p:pic>
      <p:sp>
        <p:nvSpPr>
          <p:cNvPr id="23" name="revision-panel"/>
          <p:cNvSpPr>
            <a:spLocks noGrp="1"/>
          </p:cNvSpPr>
          <p:nvPr/>
        </p:nvSpPr>
        <p:spPr>
          <a:xfrm>
            <a:off x="6235700" y="1758950"/>
            <a:ext cx="4864100" cy="2832100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842832"/>
            <a:ext cx="4762500" cy="2664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研究问题与三项挑战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OBSERVATION TO FRAMEWORK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ard"/>
          <p:cNvSpPr>
            <a:spLocks noGrp="1"/>
          </p:cNvSpPr>
          <p:nvPr/>
        </p:nvSpPr>
        <p:spPr>
          <a:xfrm>
            <a:off x="984250" y="2000250"/>
            <a:ext cx="3238500" cy="3048000"/>
          </a:xfrm>
          <a:prstGeom prst="roundRect">
            <a:avLst>
              <a:gd name="adj" fmla="val 25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1136650" y="2127250"/>
            <a:ext cx="4699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36650" y="24320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如何去掉噪声干扰？</a:t>
            </a:r>
            <a:endParaRPr sz="16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136650" y="2774950"/>
            <a:ext cx="29337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生成时间同步、物理一致的 IMU/GPS/LiDAR 数据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ard"/>
          <p:cNvSpPr>
            <a:spLocks noGrp="1"/>
          </p:cNvSpPr>
          <p:nvPr/>
        </p:nvSpPr>
        <p:spPr>
          <a:xfrm>
            <a:off x="4572000" y="2000250"/>
            <a:ext cx="3238500" cy="3048000"/>
          </a:xfrm>
          <a:prstGeom prst="roundRect">
            <a:avLst>
              <a:gd name="adj" fmla="val 25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4724400" y="2127250"/>
            <a:ext cx="4699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724400" y="24320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如何复现黑盒融合？</a:t>
            </a:r>
            <a:endParaRPr sz="16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724400" y="2774950"/>
            <a:ext cx="29337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构建含/不含 GPS 速度观测的 ESKF 融合结构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ard"/>
          <p:cNvSpPr>
            <a:spLocks noGrp="1"/>
          </p:cNvSpPr>
          <p:nvPr/>
        </p:nvSpPr>
        <p:spPr>
          <a:xfrm>
            <a:off x="8159750" y="2000250"/>
            <a:ext cx="3238500" cy="3048000"/>
          </a:xfrm>
          <a:prstGeom prst="roundRect">
            <a:avLst>
              <a:gd name="adj" fmla="val 2500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text"/>
          <p:cNvSpPr>
            <a:spLocks noGrp="1"/>
          </p:cNvSpPr>
          <p:nvPr/>
        </p:nvSpPr>
        <p:spPr>
          <a:xfrm>
            <a:off x="8312150" y="2127250"/>
            <a:ext cx="4699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8312150" y="24320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如何量化脆弱状态？</a:t>
            </a:r>
            <a:endParaRPr sz="16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312150" y="2774950"/>
            <a:ext cx="29337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以条件数、可观测性与 Kalman 增益建立指标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555750" y="5365750"/>
            <a:ext cx="9017000" cy="546100"/>
          </a:xfrm>
          <a:prstGeom prst="roundRect">
            <a:avLst>
              <a:gd name="adj" fmla="val 2093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回答：MSAF = 离线脆弱性画像 + 在线运动感知注入</a:t>
            </a:r>
            <a:endParaRPr sz="19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vision"/>
          <p:cNvSpPr>
            <a:spLocks noGrp="1"/>
          </p:cNvSpPr>
          <p:nvPr/>
        </p:nvSpPr>
        <p:spPr>
          <a:xfrm>
            <a:off x="889000" y="349250"/>
            <a:ext cx="8001000" cy="1047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5" name="revision-text"/>
          <p:cNvSpPr>
            <a:spLocks noGrp="1"/>
          </p:cNvSpPr>
          <p:nvPr/>
        </p:nvSpPr>
        <p:spPr>
          <a:xfrm>
            <a:off x="965200" y="444500"/>
            <a:ext cx="78105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研究问题与目标：从现象到可复现的分析框架</a:t>
            </a:r>
            <a:endParaRPr sz="23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-text"/>
          <p:cNvSpPr>
            <a:spLocks noGrp="1"/>
          </p:cNvSpPr>
          <p:nvPr/>
        </p:nvSpPr>
        <p:spPr>
          <a:xfrm>
            <a:off x="977900" y="996950"/>
            <a:ext cx="711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PROBLEM STATEMENT · OBJECTIVES · CONTRIBUTIONS</a:t>
            </a:r>
            <a:endParaRPr sz="10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0000">
              <a:srgbClr val="1C4792"/>
            </a:gs>
            <a:gs pos="100000">
              <a:srgbClr val="4472C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1930400"/>
            <a:ext cx="12192000" cy="2971800"/>
          </a:xfrm>
          <a:prstGeom prst="rect">
            <a:avLst/>
          </a:prstGeom>
          <a:solidFill>
            <a:srgbClr val="001C54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1524000" y="2063750"/>
            <a:ext cx="2095500" cy="139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5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3651250" y="2362200"/>
            <a:ext cx="698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攻击原理</a:t>
            </a:r>
            <a:endParaRPr sz="3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3670300" y="31242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MOTION-SENSITIVE ESKF VULNERABILITY</a:t>
            </a:r>
            <a:endParaRPr sz="140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3670300" y="3587750"/>
            <a:ext cx="62230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重点：运动状态如何经 F、G、P 与 K 改写传感器权重。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710" y="222250"/>
            <a:ext cx="2926080" cy="1143000"/>
          </a:xfrm>
          <a:prstGeom prst="rect">
            <a:avLst/>
          </a:prstGeom>
        </p:spPr>
      </p:pic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D7E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54"/>
              </a:gs>
              <a:gs pos="72000">
                <a:srgbClr val="1C4792"/>
              </a:gs>
              <a:gs pos="100000">
                <a:srgbClr val="4472C4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" name="revision"/>
          <p:cNvSpPr>
            <a:spLocks noGrp="1"/>
          </p:cNvSpPr>
          <p:nvPr/>
        </p:nvSpPr>
        <p:spPr>
          <a:xfrm>
            <a:off x="0" y="1936750"/>
            <a:ext cx="12192000" cy="2984500"/>
          </a:xfrm>
          <a:prstGeom prst="rect">
            <a:avLst/>
          </a:prstGeom>
          <a:solidFill>
            <a:srgbClr val="001C5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2" name="revision-text"/>
          <p:cNvSpPr>
            <a:spLocks noGrp="1"/>
          </p:cNvSpPr>
          <p:nvPr/>
        </p:nvSpPr>
        <p:spPr>
          <a:xfrm>
            <a:off x="1492250" y="2095500"/>
            <a:ext cx="2095500" cy="136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4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vision-text"/>
          <p:cNvSpPr>
            <a:spLocks noGrp="1"/>
          </p:cNvSpPr>
          <p:nvPr/>
        </p:nvSpPr>
        <p:spPr>
          <a:xfrm>
            <a:off x="3651250" y="2317750"/>
            <a:ext cx="711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背景知识 · 基本原理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text"/>
          <p:cNvSpPr>
            <a:spLocks noGrp="1"/>
          </p:cNvSpPr>
          <p:nvPr/>
        </p:nvSpPr>
        <p:spPr>
          <a:xfrm>
            <a:off x="3670300" y="3175000"/>
            <a:ext cx="698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BACKGROUND KNOWLEDGE · PRINCIPLES</a:t>
            </a:r>
            <a:endParaRPr sz="135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vision-text"/>
          <p:cNvSpPr>
            <a:spLocks noGrp="1"/>
          </p:cNvSpPr>
          <p:nvPr/>
        </p:nvSpPr>
        <p:spPr>
          <a:xfrm>
            <a:off x="3670300" y="3587750"/>
            <a:ext cx="660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重点解释 ESKF 中运动状态如何经 F、G 改变 P 与 K，并放大 GPS 注入。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ESKF 的 15 维误差状态与两步循环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SEC.2 — ERROR-STATE KALMAN FILTER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9950" y="1695450"/>
            <a:ext cx="4927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470" y="1746250"/>
            <a:ext cx="3256560" cy="4127500"/>
          </a:xfrm>
          <a:prstGeom prst="roundRect">
            <a:avLst>
              <a:gd name="adj" fmla="val 2769"/>
            </a:avLst>
          </a:prstGeom>
        </p:spPr>
      </p:pic>
      <p:sp>
        <p:nvSpPr>
          <p:cNvPr id="10" name="text"/>
          <p:cNvSpPr>
            <a:spLocks noGrp="1"/>
          </p:cNvSpPr>
          <p:nvPr/>
        </p:nvSpPr>
        <p:spPr>
          <a:xfrm>
            <a:off x="6318250" y="1905000"/>
            <a:ext cx="2159000" cy="266700"/>
          </a:xfrm>
          <a:prstGeom prst="roundRect">
            <a:avLst>
              <a:gd name="adj" fmla="val 50000"/>
            </a:avLst>
          </a:prstGeom>
          <a:solidFill>
            <a:srgbClr val="001C54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位置误差 δp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8731250" y="1905000"/>
            <a:ext cx="2159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速度误差 δv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318250" y="2571750"/>
            <a:ext cx="2159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姿态误差 δq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8731250" y="2571750"/>
            <a:ext cx="2159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加计偏置 δbₐ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318250" y="3238500"/>
            <a:ext cx="2159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陀螺偏置 δbω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low"/>
          <p:cNvSpPr>
            <a:spLocks noGrp="1"/>
          </p:cNvSpPr>
          <p:nvPr/>
        </p:nvSpPr>
        <p:spPr>
          <a:xfrm>
            <a:off x="6413500" y="4381500"/>
            <a:ext cx="1714500" cy="825500"/>
          </a:xfrm>
          <a:prstGeom prst="roundRect">
            <a:avLst>
              <a:gd name="adj" fmla="val 9231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464300" y="4432300"/>
            <a:ext cx="1612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δx⁻, P⁻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8128000" y="4730750"/>
            <a:ext cx="85725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8" name="flow"/>
          <p:cNvSpPr>
            <a:spLocks noGrp="1"/>
          </p:cNvSpPr>
          <p:nvPr/>
        </p:nvSpPr>
        <p:spPr>
          <a:xfrm>
            <a:off x="9080500" y="4381500"/>
            <a:ext cx="1905000" cy="825500"/>
          </a:xfrm>
          <a:prstGeom prst="roundRect">
            <a:avLst>
              <a:gd name="adj" fmla="val 9231"/>
            </a:avLst>
          </a:prstGeom>
          <a:solidFill>
            <a:srgbClr val="E7F5F0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9131300" y="4432300"/>
            <a:ext cx="1803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C8C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C8C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校正</a:t>
            </a:r>
            <a:endParaRPr sz="1200" b="1">
              <a:solidFill>
                <a:srgbClr val="1C8C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C8C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C8C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K, δx⁺, P⁺</a:t>
            </a:r>
            <a:endParaRPr sz="1200" b="1">
              <a:solidFill>
                <a:srgbClr val="1C8C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6223000" y="5492750"/>
            <a:ext cx="4953000" cy="469900"/>
          </a:xfrm>
          <a:prstGeom prst="roundRect">
            <a:avLst>
              <a:gd name="adj" fmla="val 24324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F：误差如何传播　G：状态如何被观测　K：相信哪一个传感器</a:t>
            </a:r>
            <a:endParaRPr sz="13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vision"/>
          <p:cNvSpPr>
            <a:spLocks noGrp="1"/>
          </p:cNvSpPr>
          <p:nvPr/>
        </p:nvSpPr>
        <p:spPr>
          <a:xfrm>
            <a:off x="793750" y="1587500"/>
            <a:ext cx="5207000" cy="444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6" name="revision-panel"/>
          <p:cNvSpPr>
            <a:spLocks noGrp="1"/>
          </p:cNvSpPr>
          <p:nvPr/>
        </p:nvSpPr>
        <p:spPr>
          <a:xfrm>
            <a:off x="990600" y="1841500"/>
            <a:ext cx="4813300" cy="698500"/>
          </a:xfrm>
          <a:prstGeom prst="roundRect">
            <a:avLst>
              <a:gd name="adj" fmla="val 1090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25" y="1905000"/>
            <a:ext cx="3992451" cy="571500"/>
          </a:xfrm>
          <a:prstGeom prst="rect">
            <a:avLst/>
          </a:prstGeom>
        </p:spPr>
      </p:pic>
      <p:sp>
        <p:nvSpPr>
          <p:cNvPr id="28" name="revision-text"/>
          <p:cNvSpPr>
            <a:spLocks noGrp="1"/>
          </p:cNvSpPr>
          <p:nvPr/>
        </p:nvSpPr>
        <p:spPr>
          <a:xfrm>
            <a:off x="1079500" y="1727200"/>
            <a:ext cx="4635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(1) · 15维误差状态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vision-panel"/>
          <p:cNvSpPr>
            <a:spLocks noGrp="1"/>
          </p:cNvSpPr>
          <p:nvPr/>
        </p:nvSpPr>
        <p:spPr>
          <a:xfrm>
            <a:off x="990600" y="2952750"/>
            <a:ext cx="4813300" cy="793750"/>
          </a:xfrm>
          <a:prstGeom prst="roundRect">
            <a:avLst>
              <a:gd name="adj" fmla="val 96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061367"/>
            <a:ext cx="4635500" cy="576516"/>
          </a:xfrm>
          <a:prstGeom prst="rect">
            <a:avLst/>
          </a:prstGeom>
        </p:spPr>
      </p:pic>
      <p:sp>
        <p:nvSpPr>
          <p:cNvPr id="31" name="revision-text"/>
          <p:cNvSpPr>
            <a:spLocks noGrp="1"/>
          </p:cNvSpPr>
          <p:nvPr/>
        </p:nvSpPr>
        <p:spPr>
          <a:xfrm>
            <a:off x="1079500" y="2838450"/>
            <a:ext cx="4635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(2) · 预测协方差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vision-panel"/>
          <p:cNvSpPr>
            <a:spLocks noGrp="1"/>
          </p:cNvSpPr>
          <p:nvPr/>
        </p:nvSpPr>
        <p:spPr>
          <a:xfrm>
            <a:off x="990600" y="4191000"/>
            <a:ext cx="4813300" cy="7620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147" y="4254500"/>
            <a:ext cx="4202206" cy="635000"/>
          </a:xfrm>
          <a:prstGeom prst="rect">
            <a:avLst/>
          </a:prstGeom>
        </p:spPr>
      </p:pic>
      <p:sp>
        <p:nvSpPr>
          <p:cNvPr id="34" name="revision-text"/>
          <p:cNvSpPr>
            <a:spLocks noGrp="1"/>
          </p:cNvSpPr>
          <p:nvPr/>
        </p:nvSpPr>
        <p:spPr>
          <a:xfrm>
            <a:off x="1079500" y="4076700"/>
            <a:ext cx="4635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(3) · 观测校正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vision-text"/>
          <p:cNvSpPr>
            <a:spLocks noGrp="1"/>
          </p:cNvSpPr>
          <p:nvPr/>
        </p:nvSpPr>
        <p:spPr>
          <a:xfrm>
            <a:off x="1111250" y="5397500"/>
            <a:ext cx="4572000" cy="476250"/>
          </a:xfrm>
          <a:prstGeom prst="roundRect">
            <a:avLst>
              <a:gd name="adj" fmla="val 24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同一闭环：F 决定误差如何传播，G 决定误差如何被观测，K 决定传感器权重。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隐藏脆弱性落在 Kalman 增益：它决定“更相信谁”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COVARIANCE TO SENSOR TRUST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1651000" y="1873250"/>
            <a:ext cx="8890000" cy="635000"/>
          </a:xfrm>
          <a:prstGeom prst="roundRect">
            <a:avLst>
              <a:gd name="adj" fmla="val 18000"/>
            </a:avLst>
          </a:prstGeom>
          <a:solidFill>
            <a:srgbClr val="F5F8F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Kₖ = P̌ₖ Gₖᵀ ( Gₖ P̌ₖ Gₖᵀ + Cₖ Rₖ Cₖᵀ )⁻¹</a:t>
            </a:r>
            <a:endParaRPr sz="210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9" name="card"/>
          <p:cNvSpPr>
            <a:spLocks noGrp="1"/>
          </p:cNvSpPr>
          <p:nvPr/>
        </p:nvSpPr>
        <p:spPr>
          <a:xfrm>
            <a:off x="1111250" y="3206750"/>
            <a:ext cx="3238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text"/>
          <p:cNvSpPr>
            <a:spLocks noGrp="1"/>
          </p:cNvSpPr>
          <p:nvPr/>
        </p:nvSpPr>
        <p:spPr>
          <a:xfrm>
            <a:off x="1263650" y="33337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P̌ₖ ↑</a:t>
            </a:r>
            <a:endParaRPr sz="2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263650" y="3727450"/>
            <a:ext cx="2933700" cy="124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预测不确定性增大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动态变化被 F 累积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4349750" y="4095750"/>
            <a:ext cx="3175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3" name="card"/>
          <p:cNvSpPr>
            <a:spLocks noGrp="1"/>
          </p:cNvSpPr>
          <p:nvPr/>
        </p:nvSpPr>
        <p:spPr>
          <a:xfrm>
            <a:off x="4730750" y="3206750"/>
            <a:ext cx="3238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text"/>
          <p:cNvSpPr>
            <a:spLocks noGrp="1"/>
          </p:cNvSpPr>
          <p:nvPr/>
        </p:nvSpPr>
        <p:spPr>
          <a:xfrm>
            <a:off x="4883150" y="33337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Kₖ ↑</a:t>
            </a:r>
            <a:endParaRPr sz="2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883150" y="3727450"/>
            <a:ext cx="2933700" cy="124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外部观测权重上升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 误差更易进入状态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969250" y="4095750"/>
            <a:ext cx="317500" cy="127000"/>
          </a:xfrm>
          <a:prstGeom prst="right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17" name="card"/>
          <p:cNvSpPr>
            <a:spLocks noGrp="1"/>
          </p:cNvSpPr>
          <p:nvPr/>
        </p:nvSpPr>
        <p:spPr>
          <a:xfrm>
            <a:off x="8350250" y="3206750"/>
            <a:ext cx="3238500" cy="1905000"/>
          </a:xfrm>
          <a:prstGeom prst="roundRect">
            <a:avLst>
              <a:gd name="adj" fmla="val 4000"/>
            </a:avLst>
          </a:prstGeom>
          <a:solidFill>
            <a:srgbClr val="FCECEC"/>
          </a:solidFill>
          <a:ln w="7620">
            <a:solidFill>
              <a:srgbClr val="E79B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text"/>
          <p:cNvSpPr>
            <a:spLocks noGrp="1"/>
          </p:cNvSpPr>
          <p:nvPr/>
        </p:nvSpPr>
        <p:spPr>
          <a:xfrm>
            <a:off x="8502650" y="333375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 注入</a:t>
            </a:r>
            <a:endParaRPr sz="20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502650" y="3727450"/>
            <a:ext cx="2933700" cy="124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创新项被放大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融合轨迹产生更大侧偏</a:t>
            </a:r>
            <a:endParaRPr sz="13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2222500" y="5429250"/>
            <a:ext cx="7747000" cy="393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因此，运动状态不是攻击载荷；它是改变滤波器权重的“门控条件”。</a:t>
            </a:r>
            <a:endParaRPr sz="155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vision"/>
          <p:cNvSpPr>
            <a:spLocks noGrp="1"/>
          </p:cNvSpPr>
          <p:nvPr/>
        </p:nvSpPr>
        <p:spPr>
          <a:xfrm>
            <a:off x="1492250" y="1651000"/>
            <a:ext cx="9207500" cy="1111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5" name="revision-panel"/>
          <p:cNvSpPr>
            <a:spLocks noGrp="1"/>
          </p:cNvSpPr>
          <p:nvPr/>
        </p:nvSpPr>
        <p:spPr>
          <a:xfrm>
            <a:off x="1816100" y="1841500"/>
            <a:ext cx="8559800" cy="793750"/>
          </a:xfrm>
          <a:prstGeom prst="roundRect">
            <a:avLst>
              <a:gd name="adj" fmla="val 96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531" y="1905000"/>
            <a:ext cx="5216937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矩阵是一张 15 维误差传播“接线图”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SEC.3 — STATE TRANSITION COUPLING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65200" y="1854200"/>
            <a:ext cx="5118100" cy="3276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939774"/>
            <a:ext cx="5016500" cy="3105452"/>
          </a:xfrm>
          <a:prstGeom prst="roundRect">
            <a:avLst>
              <a:gd name="adj" fmla="val 3600"/>
            </a:avLst>
          </a:prstGeom>
        </p:spPr>
      </p:pic>
      <p:sp>
        <p:nvSpPr>
          <p:cNvPr id="10" name="text"/>
          <p:cNvSpPr>
            <a:spLocks noGrp="1"/>
          </p:cNvSpPr>
          <p:nvPr/>
        </p:nvSpPr>
        <p:spPr>
          <a:xfrm>
            <a:off x="6604000" y="1873250"/>
            <a:ext cx="749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δp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7493000" y="1873250"/>
            <a:ext cx="749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δv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8382000" y="1873250"/>
            <a:ext cx="749300" cy="266700"/>
          </a:xfrm>
          <a:prstGeom prst="roundRect">
            <a:avLst>
              <a:gd name="adj" fmla="val 50000"/>
            </a:avLst>
          </a:prstGeom>
          <a:solidFill>
            <a:srgbClr val="001C54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δq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9271000" y="1873250"/>
            <a:ext cx="749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δbₐ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10160000" y="1873250"/>
            <a:ext cx="749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δbω</a:t>
            </a:r>
            <a:endParaRPr sz="10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ard"/>
          <p:cNvSpPr>
            <a:spLocks noGrp="1"/>
          </p:cNvSpPr>
          <p:nvPr/>
        </p:nvSpPr>
        <p:spPr>
          <a:xfrm>
            <a:off x="6540500" y="2286000"/>
            <a:ext cx="4445000" cy="749300"/>
          </a:xfrm>
          <a:prstGeom prst="roundRect">
            <a:avLst>
              <a:gd name="adj" fmla="val 1016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692900" y="2413000"/>
            <a:ext cx="414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δṗ：I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6692900" y="2806700"/>
            <a:ext cx="4140200" cy="8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速度误差积分成位置误差</a:t>
            </a:r>
            <a:endParaRPr sz="11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>
            <a:spLocks noGrp="1"/>
          </p:cNvSpPr>
          <p:nvPr/>
        </p:nvSpPr>
        <p:spPr>
          <a:xfrm>
            <a:off x="6540500" y="3206750"/>
            <a:ext cx="4445000" cy="749300"/>
          </a:xfrm>
          <a:prstGeom prst="roundRect">
            <a:avLst>
              <a:gd name="adj" fmla="val 10169"/>
            </a:avLst>
          </a:prstGeom>
          <a:solidFill>
            <a:srgbClr val="FFF7E7"/>
          </a:solidFill>
          <a:ln w="7620">
            <a:solidFill>
              <a:srgbClr val="F0C36D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6692900" y="3333750"/>
            <a:ext cx="414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δv̇：F₂₃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6692900" y="3727450"/>
            <a:ext cx="4140200" cy="8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姿态误差 × 比力 → 速度误差</a:t>
            </a:r>
            <a:endParaRPr sz="11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ard"/>
          <p:cNvSpPr>
            <a:spLocks noGrp="1"/>
          </p:cNvSpPr>
          <p:nvPr/>
        </p:nvSpPr>
        <p:spPr>
          <a:xfrm>
            <a:off x="6540500" y="4127500"/>
            <a:ext cx="4445000" cy="749300"/>
          </a:xfrm>
          <a:prstGeom prst="roundRect">
            <a:avLst>
              <a:gd name="adj" fmla="val 10169"/>
            </a:avLst>
          </a:prstGeom>
          <a:solidFill>
            <a:srgbClr val="FFF7E7"/>
          </a:solidFill>
          <a:ln w="7620">
            <a:solidFill>
              <a:srgbClr val="F0C36D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6692900" y="4254500"/>
            <a:ext cx="414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δq̇：F₃₃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6692900" y="4648200"/>
            <a:ext cx="4140200" cy="8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角速度/地球旋转 → 姿态误差</a:t>
            </a:r>
            <a:endParaRPr sz="11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card"/>
          <p:cNvSpPr>
            <a:spLocks noGrp="1"/>
          </p:cNvSpPr>
          <p:nvPr/>
        </p:nvSpPr>
        <p:spPr>
          <a:xfrm>
            <a:off x="6540500" y="5048250"/>
            <a:ext cx="4445000" cy="749300"/>
          </a:xfrm>
          <a:prstGeom prst="roundRect">
            <a:avLst>
              <a:gd name="adj" fmla="val 1016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</p:sp>
      <p:sp>
        <p:nvSpPr>
          <p:cNvPr id="25" name="text"/>
          <p:cNvSpPr>
            <a:spLocks noGrp="1"/>
          </p:cNvSpPr>
          <p:nvPr/>
        </p:nvSpPr>
        <p:spPr>
          <a:xfrm>
            <a:off x="6692900" y="5175250"/>
            <a:ext cx="414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偏置：0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6692900" y="5568950"/>
            <a:ext cx="4140200" cy="8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短时随机游走近似</a:t>
            </a:r>
            <a:endParaRPr sz="11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vision"/>
          <p:cNvSpPr>
            <a:spLocks noGrp="1"/>
          </p:cNvSpPr>
          <p:nvPr/>
        </p:nvSpPr>
        <p:spPr>
          <a:xfrm>
            <a:off x="825500" y="1714500"/>
            <a:ext cx="5397500" cy="3587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2" name="revision-panel"/>
          <p:cNvSpPr>
            <a:spLocks noGrp="1"/>
          </p:cNvSpPr>
          <p:nvPr/>
        </p:nvSpPr>
        <p:spPr>
          <a:xfrm>
            <a:off x="990600" y="1936750"/>
            <a:ext cx="5067300" cy="3016250"/>
          </a:xfrm>
          <a:prstGeom prst="roundRect">
            <a:avLst>
              <a:gd name="adj" fmla="val 252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363003"/>
            <a:ext cx="4889500" cy="2163744"/>
          </a:xfrm>
          <a:prstGeom prst="rect">
            <a:avLst/>
          </a:prstGeom>
        </p:spPr>
      </p:pic>
      <p:sp>
        <p:nvSpPr>
          <p:cNvPr id="34" name="revision-text"/>
          <p:cNvSpPr>
            <a:spLocks noGrp="1"/>
          </p:cNvSpPr>
          <p:nvPr/>
        </p:nvSpPr>
        <p:spPr>
          <a:xfrm>
            <a:off x="1079500" y="1822450"/>
            <a:ext cx="4889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(4) · 15×15 分块状态转移矩阵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vision-text"/>
          <p:cNvSpPr>
            <a:spLocks noGrp="1"/>
          </p:cNvSpPr>
          <p:nvPr/>
        </p:nvSpPr>
        <p:spPr>
          <a:xfrm>
            <a:off x="2032000" y="5016500"/>
            <a:ext cx="2921000" cy="266700"/>
          </a:xfrm>
          <a:prstGeom prst="roundRect">
            <a:avLst>
              <a:gd name="adj" fmla="val 50000"/>
            </a:avLst>
          </a:prstGeom>
          <a:solidFill>
            <a:srgbClr val="FFF7E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重点块：F₂₃ 与 F₃₃</a:t>
            </a:r>
            <a:endParaRPr sz="10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F₂₃：加速度把姿态误差“旋进”速度误差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PRINCIPLE 1 — SPECIFIC-FORCE COUPLING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28700" y="1949450"/>
            <a:ext cx="46101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149231"/>
            <a:ext cx="4508500" cy="1734038"/>
          </a:xfrm>
          <a:prstGeom prst="roundRect">
            <a:avLst>
              <a:gd name="adj" fmla="val 5625"/>
            </a:avLst>
          </a:prstGeom>
        </p:spPr>
      </p:pic>
      <p:sp>
        <p:nvSpPr>
          <p:cNvPr id="10" name="text"/>
          <p:cNvSpPr>
            <a:spLocks noGrp="1"/>
          </p:cNvSpPr>
          <p:nvPr/>
        </p:nvSpPr>
        <p:spPr>
          <a:xfrm>
            <a:off x="1428750" y="4222750"/>
            <a:ext cx="3810000" cy="508000"/>
          </a:xfrm>
          <a:prstGeom prst="roundRect">
            <a:avLst>
              <a:gd name="adj" fmla="val 225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本质：F₂₃ ≈ −[f]×</a:t>
            </a:r>
            <a:endParaRPr sz="210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1" name="flow"/>
          <p:cNvSpPr>
            <a:spLocks noGrp="1"/>
          </p:cNvSpPr>
          <p:nvPr/>
        </p:nvSpPr>
        <p:spPr>
          <a:xfrm>
            <a:off x="6413500" y="2032000"/>
            <a:ext cx="1651000" cy="762000"/>
          </a:xfrm>
          <a:prstGeom prst="roundRect">
            <a:avLst>
              <a:gd name="adj" fmla="val 10000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464300" y="2082800"/>
            <a:ext cx="1549400" cy="66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比力 f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(fN, fE, fU)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low"/>
          <p:cNvSpPr>
            <a:spLocks noGrp="1"/>
          </p:cNvSpPr>
          <p:nvPr/>
        </p:nvSpPr>
        <p:spPr>
          <a:xfrm>
            <a:off x="9080500" y="2032000"/>
            <a:ext cx="1587500" cy="7620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9131300" y="2082800"/>
            <a:ext cx="1485900" cy="66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姿态小误差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δθ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low"/>
          <p:cNvSpPr>
            <a:spLocks noGrp="1"/>
          </p:cNvSpPr>
          <p:nvPr/>
        </p:nvSpPr>
        <p:spPr>
          <a:xfrm>
            <a:off x="7683500" y="3873500"/>
            <a:ext cx="1905000" cy="857250"/>
          </a:xfrm>
          <a:prstGeom prst="roundRect">
            <a:avLst>
              <a:gd name="adj" fmla="val 8889"/>
            </a:avLst>
          </a:prstGeom>
          <a:solidFill>
            <a:srgbClr val="FCECEC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7734300" y="3924300"/>
            <a:ext cx="1803400" cy="755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速度误差变化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δv̇ = −[f]×δθ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064500" y="2794000"/>
            <a:ext cx="381000" cy="952500"/>
          </a:xfrm>
          <a:prstGeom prst="line">
            <a:avLst/>
          </a:prstGeom>
          <a:noFill/>
          <a:ln w="25400">
            <a:solidFill>
              <a:srgbClr val="F4A340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 rot="2580000">
            <a:off x="9190355" y="2794000"/>
            <a:ext cx="254000" cy="95250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6064250" y="5016500"/>
            <a:ext cx="5016500" cy="9525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交叉乘积意味着：只有“与加速度方向垂直”的姿态误差被放大。</a:t>
            </a:r>
            <a:endParaRPr sz="1450" b="1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加速度越大，同样的航向/俯仰误差在下一步形成更大的速度误差。</a:t>
            </a:r>
            <a:endParaRPr sz="1450" b="1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vision"/>
          <p:cNvSpPr>
            <a:spLocks noGrp="1"/>
          </p:cNvSpPr>
          <p:nvPr/>
        </p:nvSpPr>
        <p:spPr>
          <a:xfrm>
            <a:off x="825500" y="1714500"/>
            <a:ext cx="5080000" cy="3302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5" name="revision-panel"/>
          <p:cNvSpPr>
            <a:spLocks noGrp="1"/>
          </p:cNvSpPr>
          <p:nvPr/>
        </p:nvSpPr>
        <p:spPr>
          <a:xfrm>
            <a:off x="1022350" y="2032000"/>
            <a:ext cx="4686300" cy="1841500"/>
          </a:xfrm>
          <a:prstGeom prst="roundRect">
            <a:avLst>
              <a:gd name="adj" fmla="val 4138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96" y="2095500"/>
            <a:ext cx="4168009" cy="1714500"/>
          </a:xfrm>
          <a:prstGeom prst="rect">
            <a:avLst/>
          </a:prstGeom>
        </p:spPr>
      </p:pic>
      <p:sp>
        <p:nvSpPr>
          <p:cNvPr id="27" name="revision-text"/>
          <p:cNvSpPr>
            <a:spLocks noGrp="1"/>
          </p:cNvSpPr>
          <p:nvPr/>
        </p:nvSpPr>
        <p:spPr>
          <a:xfrm>
            <a:off x="1111250" y="1917700"/>
            <a:ext cx="4508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(5) · 比力—姿态误差耦合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vision-text"/>
          <p:cNvSpPr>
            <a:spLocks noGrp="1"/>
          </p:cNvSpPr>
          <p:nvPr/>
        </p:nvSpPr>
        <p:spPr>
          <a:xfrm>
            <a:off x="1174750" y="4222750"/>
            <a:ext cx="4381500" cy="603250"/>
          </a:xfrm>
          <a:prstGeom prst="roundRect">
            <a:avLst>
              <a:gd name="adj" fmla="val 18947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本质：比力的反对称交叉耦合；加速度越大，姿态小误差向速度误差传播越快。</a:t>
            </a:r>
            <a:endParaRPr sz="13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数值直觉：小小航向误差，如何在加速时变成横向漂移？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WORKED EXAMPLE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etric"/>
          <p:cNvSpPr>
            <a:spLocks noGrp="1"/>
          </p:cNvSpPr>
          <p:nvPr/>
        </p:nvSpPr>
        <p:spPr>
          <a:xfrm>
            <a:off x="1047750" y="1968500"/>
            <a:ext cx="2286000" cy="939800"/>
          </a:xfrm>
          <a:prstGeom prst="roundRect">
            <a:avLst>
              <a:gd name="adj" fmla="val 8108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1149350" y="2044700"/>
            <a:ext cx="208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m/s²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49350" y="2508250"/>
            <a:ext cx="2082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车辆纵向加速度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etric"/>
          <p:cNvSpPr>
            <a:spLocks noGrp="1"/>
          </p:cNvSpPr>
          <p:nvPr/>
        </p:nvSpPr>
        <p:spPr>
          <a:xfrm>
            <a:off x="1047750" y="3175000"/>
            <a:ext cx="2286000" cy="939800"/>
          </a:xfrm>
          <a:prstGeom prst="roundRect">
            <a:avLst>
              <a:gd name="adj" fmla="val 8108"/>
            </a:avLst>
          </a:prstGeom>
          <a:solidFill>
            <a:srgbClr val="2F528F"/>
          </a:solidFill>
          <a:ln w="0">
            <a:solidFill>
              <a:srgbClr val="2F528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text"/>
          <p:cNvSpPr>
            <a:spLocks noGrp="1"/>
          </p:cNvSpPr>
          <p:nvPr/>
        </p:nvSpPr>
        <p:spPr>
          <a:xfrm>
            <a:off x="1149350" y="3251200"/>
            <a:ext cx="208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1°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1149350" y="3714750"/>
            <a:ext cx="2082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航向误差（0.017 rad）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etric"/>
          <p:cNvSpPr>
            <a:spLocks noGrp="1"/>
          </p:cNvSpPr>
          <p:nvPr/>
        </p:nvSpPr>
        <p:spPr>
          <a:xfrm>
            <a:off x="1047750" y="4381500"/>
            <a:ext cx="2286000" cy="939800"/>
          </a:xfrm>
          <a:prstGeom prst="roundRect">
            <a:avLst>
              <a:gd name="adj" fmla="val 8108"/>
            </a:avLst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text"/>
          <p:cNvSpPr>
            <a:spLocks noGrp="1"/>
          </p:cNvSpPr>
          <p:nvPr/>
        </p:nvSpPr>
        <p:spPr>
          <a:xfrm>
            <a:off x="1149350" y="4457700"/>
            <a:ext cx="208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0.034 m/s²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1149350" y="4921250"/>
            <a:ext cx="2082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诱发横向加速度误差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3397250" y="2444750"/>
            <a:ext cx="1333500" cy="104775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3397250" y="3587750"/>
            <a:ext cx="13335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4572000" y="3048000"/>
            <a:ext cx="3556000" cy="825500"/>
          </a:xfrm>
          <a:prstGeom prst="roundRect">
            <a:avLst>
              <a:gd name="adj" fmla="val 13846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δv̇⊥ ≈ a · δψ = 2 × 0.017</a:t>
            </a:r>
            <a:endParaRPr sz="210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8128000" y="3397250"/>
            <a:ext cx="730250" cy="127000"/>
          </a:xfrm>
          <a:prstGeom prst="right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21" name="card"/>
          <p:cNvSpPr>
            <a:spLocks noGrp="1"/>
          </p:cNvSpPr>
          <p:nvPr/>
        </p:nvSpPr>
        <p:spPr>
          <a:xfrm>
            <a:off x="8921750" y="2635250"/>
            <a:ext cx="2286000" cy="1714500"/>
          </a:xfrm>
          <a:prstGeom prst="roundRect">
            <a:avLst>
              <a:gd name="adj" fmla="val 4444"/>
            </a:avLst>
          </a:prstGeom>
          <a:solidFill>
            <a:srgbClr val="FCECEC"/>
          </a:solidFill>
          <a:ln w="7620">
            <a:solidFill>
              <a:srgbClr val="E79B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text"/>
          <p:cNvSpPr>
            <a:spLocks noGrp="1"/>
          </p:cNvSpPr>
          <p:nvPr/>
        </p:nvSpPr>
        <p:spPr>
          <a:xfrm>
            <a:off x="9074150" y="27622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s 后</a:t>
            </a:r>
            <a:endParaRPr sz="19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9074150" y="3155950"/>
            <a:ext cx="1981200" cy="105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0.34 m/s 横向速度误差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1.7 m 横向位移（量级估算）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4572000" y="4826000"/>
            <a:ext cx="66675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这不是论文实验的直接数值，而是依据 F₂₃ 耦合关系给出的量级示例。</a:t>
            </a:r>
            <a:endParaRPr sz="12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vision"/>
          <p:cNvSpPr>
            <a:spLocks noGrp="1"/>
          </p:cNvSpPr>
          <p:nvPr/>
        </p:nvSpPr>
        <p:spPr>
          <a:xfrm>
            <a:off x="4254500" y="2794000"/>
            <a:ext cx="4508500" cy="1301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revision-panel"/>
          <p:cNvSpPr>
            <a:spLocks noGrp="1"/>
          </p:cNvSpPr>
          <p:nvPr/>
        </p:nvSpPr>
        <p:spPr>
          <a:xfrm>
            <a:off x="4356100" y="3048000"/>
            <a:ext cx="4305300" cy="793750"/>
          </a:xfrm>
          <a:prstGeom prst="roundRect">
            <a:avLst>
              <a:gd name="adj" fmla="val 96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0" y="3222094"/>
            <a:ext cx="4127500" cy="4455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F₃₃：角速度与纬度决定姿态误差如何互相耦合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PRINCIPLE 2 — ANGULAR COUPLING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33450" y="1854200"/>
            <a:ext cx="4927600" cy="235585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985523"/>
            <a:ext cx="4826000" cy="2093205"/>
          </a:xfrm>
          <a:prstGeom prst="roundRect">
            <a:avLst>
              <a:gd name="adj" fmla="val 5070"/>
            </a:avLst>
          </a:prstGeom>
        </p:spPr>
      </p:pic>
      <p:sp>
        <p:nvSpPr>
          <p:cNvPr id="10" name="flow"/>
          <p:cNvSpPr>
            <a:spLocks noGrp="1"/>
          </p:cNvSpPr>
          <p:nvPr/>
        </p:nvSpPr>
        <p:spPr>
          <a:xfrm>
            <a:off x="7683500" y="3206750"/>
            <a:ext cx="1841500" cy="825500"/>
          </a:xfrm>
          <a:prstGeom prst="roundRect">
            <a:avLst>
              <a:gd name="adj" fmla="val 9231"/>
            </a:avLst>
          </a:prstGeom>
          <a:solidFill>
            <a:srgbClr val="001C5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7734300" y="3257550"/>
            <a:ext cx="1739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姿态误差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δq / δθ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low"/>
          <p:cNvSpPr>
            <a:spLocks noGrp="1"/>
          </p:cNvSpPr>
          <p:nvPr/>
        </p:nvSpPr>
        <p:spPr>
          <a:xfrm>
            <a:off x="6350000" y="1905000"/>
            <a:ext cx="1587500" cy="6350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6400800" y="1955800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地球自转 ω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low"/>
          <p:cNvSpPr>
            <a:spLocks noGrp="1"/>
          </p:cNvSpPr>
          <p:nvPr/>
        </p:nvSpPr>
        <p:spPr>
          <a:xfrm>
            <a:off x="9302750" y="1905000"/>
            <a:ext cx="1587500" cy="6350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9353550" y="1955800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纬度 L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low"/>
          <p:cNvSpPr>
            <a:spLocks noGrp="1"/>
          </p:cNvSpPr>
          <p:nvPr/>
        </p:nvSpPr>
        <p:spPr>
          <a:xfrm>
            <a:off x="7683500" y="4826000"/>
            <a:ext cx="1841500" cy="698500"/>
          </a:xfrm>
          <a:prstGeom prst="roundRect">
            <a:avLst>
              <a:gd name="adj" fmla="val 10909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7734300" y="4876800"/>
            <a:ext cx="173990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车辆转弯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角速率变化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143750" y="2540000"/>
            <a:ext cx="857250" cy="66675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 rot="6000000">
            <a:off x="9207500" y="2540000"/>
            <a:ext cx="825500" cy="66675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20" name="上箭头 19"/>
          <p:cNvSpPr>
            <a:spLocks noGrp="1"/>
          </p:cNvSpPr>
          <p:nvPr/>
        </p:nvSpPr>
        <p:spPr>
          <a:xfrm>
            <a:off x="8540750" y="4127500"/>
            <a:ext cx="127000" cy="698500"/>
          </a:xfrm>
          <a:prstGeom prst="upArrow">
            <a:avLst/>
          </a:prstGeom>
          <a:solidFill>
            <a:srgbClr val="F4A340"/>
          </a:solidFill>
          <a:ln w="0">
            <a:solidFill>
              <a:srgbClr val="F4A340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6223000" y="5556250"/>
            <a:ext cx="4889500" cy="55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F₃₃ 直接进入姿态误差传播；姿态再通过 F₂₃ 影响速度。</a:t>
            </a:r>
            <a:endParaRPr sz="14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因此“转弯 + 加速”形成一条双重耦合链。</a:t>
            </a:r>
            <a:endParaRPr sz="14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"/>
          <p:cNvSpPr>
            <a:spLocks noGrp="1"/>
          </p:cNvSpPr>
          <p:nvPr/>
        </p:nvSpPr>
        <p:spPr>
          <a:xfrm>
            <a:off x="793750" y="1714500"/>
            <a:ext cx="5302250" cy="2857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revision-panel"/>
          <p:cNvSpPr>
            <a:spLocks noGrp="1"/>
          </p:cNvSpPr>
          <p:nvPr/>
        </p:nvSpPr>
        <p:spPr>
          <a:xfrm>
            <a:off x="958850" y="2000250"/>
            <a:ext cx="4972050" cy="2127250"/>
          </a:xfrm>
          <a:prstGeom prst="roundRect">
            <a:avLst>
              <a:gd name="adj" fmla="val 3582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403797"/>
            <a:ext cx="4794250" cy="1320156"/>
          </a:xfrm>
          <a:prstGeom prst="rect">
            <a:avLst/>
          </a:prstGeom>
        </p:spPr>
      </p:pic>
      <p:sp>
        <p:nvSpPr>
          <p:cNvPr id="29" name="revision-text"/>
          <p:cNvSpPr>
            <a:spLocks noGrp="1"/>
          </p:cNvSpPr>
          <p:nvPr/>
        </p:nvSpPr>
        <p:spPr>
          <a:xfrm>
            <a:off x="1047750" y="1885950"/>
            <a:ext cx="479425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(6) · 角速度—姿态误差耦合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整体机理：运动同时改变预测模型 F 与观测模型 G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COMPLETE ALGORITHM PATH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low"/>
          <p:cNvSpPr>
            <a:spLocks noGrp="1"/>
          </p:cNvSpPr>
          <p:nvPr/>
        </p:nvSpPr>
        <p:spPr>
          <a:xfrm>
            <a:off x="8572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9080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运动状态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 v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加速度 f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角速度 ω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413000" y="3016250"/>
            <a:ext cx="2540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1" name="flow"/>
          <p:cNvSpPr>
            <a:spLocks noGrp="1"/>
          </p:cNvSpPr>
          <p:nvPr/>
        </p:nvSpPr>
        <p:spPr>
          <a:xfrm>
            <a:off x="26987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27495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模型矩阵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F₂₃(f), F₃₃(ω,L)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G(v)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254500" y="3016250"/>
            <a:ext cx="2540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4" name="flow"/>
          <p:cNvSpPr>
            <a:spLocks noGrp="1"/>
          </p:cNvSpPr>
          <p:nvPr/>
        </p:nvSpPr>
        <p:spPr>
          <a:xfrm>
            <a:off x="45402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45910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协方差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P⁻ = F P⁺ Fᵀ + BQBᵀ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096000" y="3016250"/>
            <a:ext cx="2540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7" name="flow"/>
          <p:cNvSpPr>
            <a:spLocks noGrp="1"/>
          </p:cNvSpPr>
          <p:nvPr/>
        </p:nvSpPr>
        <p:spPr>
          <a:xfrm>
            <a:off x="63817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64325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Kalman 增益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= P⁻Gᵀ(GP⁻Gᵀ+R)⁻¹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7937500" y="3016250"/>
            <a:ext cx="2540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0" name="flow"/>
          <p:cNvSpPr>
            <a:spLocks noGrp="1"/>
          </p:cNvSpPr>
          <p:nvPr/>
        </p:nvSpPr>
        <p:spPr>
          <a:xfrm>
            <a:off x="82232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82740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传感器权重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 依赖↑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可被拒绝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9779000" y="3016250"/>
            <a:ext cx="254000" cy="127000"/>
          </a:xfrm>
          <a:prstGeom prst="right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23" name="flow"/>
          <p:cNvSpPr>
            <a:spLocks noGrp="1"/>
          </p:cNvSpPr>
          <p:nvPr/>
        </p:nvSpPr>
        <p:spPr>
          <a:xfrm>
            <a:off x="10064750" y="2476500"/>
            <a:ext cx="1555750" cy="1206500"/>
          </a:xfrm>
          <a:prstGeom prst="roundRect">
            <a:avLst>
              <a:gd name="adj" fmla="val 6316"/>
            </a:avLst>
          </a:prstGeom>
          <a:solidFill>
            <a:srgbClr val="FCECEC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10115550" y="2527300"/>
            <a:ext cx="14541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攻击放大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同等注入 → 更大侧偏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1873250" y="4349750"/>
            <a:ext cx="8445500" cy="457200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5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5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关键补充：G 的 −C⁽ᵇ⁾ₙV× 项使速度不仅影响预测，也影响观测映射。</a:t>
            </a:r>
            <a:endParaRPr sz="155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2127250" y="5238750"/>
            <a:ext cx="793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攻击不是寻找最大的 d，而是寻找滤波器最“愿意相信 GPS”的时刻。</a:t>
            </a:r>
            <a:endParaRPr sz="17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0000">
              <a:srgbClr val="1C4792"/>
            </a:gs>
            <a:gs pos="100000">
              <a:srgbClr val="4472C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1930400"/>
            <a:ext cx="12192000" cy="2971800"/>
          </a:xfrm>
          <a:prstGeom prst="rect">
            <a:avLst/>
          </a:prstGeom>
          <a:solidFill>
            <a:srgbClr val="001C54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1524000" y="2063750"/>
            <a:ext cx="2095500" cy="139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85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3651250" y="2362200"/>
            <a:ext cx="698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</a:t>
            </a:r>
            <a:endParaRPr sz="3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3670300" y="31242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MOTION SENSITIVE ANALYSIS FRAMEWORK</a:t>
            </a:r>
            <a:endParaRPr sz="140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3670300" y="3587750"/>
            <a:ext cx="62230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离线识别脆弱运动状态，在线等待窗口并执行运动感知注入。 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710" y="222250"/>
            <a:ext cx="2926080" cy="1143000"/>
          </a:xfrm>
          <a:prstGeom prst="rect">
            <a:avLst/>
          </a:prstGeom>
        </p:spPr>
      </p:pic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D7E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54"/>
              </a:gs>
              <a:gs pos="72000">
                <a:srgbClr val="1C4792"/>
              </a:gs>
              <a:gs pos="100000">
                <a:srgbClr val="4472C4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" name="revision"/>
          <p:cNvSpPr>
            <a:spLocks noGrp="1"/>
          </p:cNvSpPr>
          <p:nvPr/>
        </p:nvSpPr>
        <p:spPr>
          <a:xfrm>
            <a:off x="0" y="1936750"/>
            <a:ext cx="12192000" cy="2984500"/>
          </a:xfrm>
          <a:prstGeom prst="rect">
            <a:avLst/>
          </a:prstGeom>
          <a:solidFill>
            <a:srgbClr val="001C5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2" name="revision-text"/>
          <p:cNvSpPr>
            <a:spLocks noGrp="1"/>
          </p:cNvSpPr>
          <p:nvPr/>
        </p:nvSpPr>
        <p:spPr>
          <a:xfrm>
            <a:off x="1492250" y="2095500"/>
            <a:ext cx="2095500" cy="136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84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vision-text"/>
          <p:cNvSpPr>
            <a:spLocks noGrp="1"/>
          </p:cNvSpPr>
          <p:nvPr/>
        </p:nvSpPr>
        <p:spPr>
          <a:xfrm>
            <a:off x="3651250" y="2317750"/>
            <a:ext cx="711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 · 实验方法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text"/>
          <p:cNvSpPr>
            <a:spLocks noGrp="1"/>
          </p:cNvSpPr>
          <p:nvPr/>
        </p:nvSpPr>
        <p:spPr>
          <a:xfrm>
            <a:off x="3670300" y="3175000"/>
            <a:ext cx="698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ALGORITHM · EXPERIMENTAL METHOD</a:t>
            </a:r>
            <a:endParaRPr sz="135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vision-text"/>
          <p:cNvSpPr>
            <a:spLocks noGrp="1"/>
          </p:cNvSpPr>
          <p:nvPr/>
        </p:nvSpPr>
        <p:spPr>
          <a:xfrm>
            <a:off x="3670300" y="3587750"/>
            <a:ext cx="660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离线刻画脆弱运动窗口，在线识别窗口并执行运动感知注入。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全景：离线画像与在线利用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SEC.4 — FRAMEWORK OVERVIEW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01700" y="1758950"/>
            <a:ext cx="10388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49" y="1809750"/>
            <a:ext cx="9151102" cy="4127500"/>
          </a:xfrm>
          <a:prstGeom prst="roundRect">
            <a:avLst>
              <a:gd name="adj" fmla="val 2769"/>
            </a:avLst>
          </a:prstGeom>
        </p:spPr>
      </p:pic>
      <p:sp>
        <p:nvSpPr>
          <p:cNvPr id="10" name="text"/>
          <p:cNvSpPr>
            <a:spLocks noGrp="1"/>
          </p:cNvSpPr>
          <p:nvPr/>
        </p:nvSpPr>
        <p:spPr>
          <a:xfrm>
            <a:off x="1651000" y="5746750"/>
            <a:ext cx="4572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离线：生成 → 融合 → 依赖分析</a:t>
            </a:r>
            <a:endParaRPr sz="14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6858000" y="5746750"/>
            <a:ext cx="38735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在线：识别运动 → 生成 GPS′ → 注入</a:t>
            </a:r>
            <a:endParaRPr sz="14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vision-panel"/>
          <p:cNvSpPr>
            <a:spLocks noGrp="1"/>
          </p:cNvSpPr>
          <p:nvPr/>
        </p:nvSpPr>
        <p:spPr>
          <a:xfrm>
            <a:off x="901700" y="1758950"/>
            <a:ext cx="10388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128108"/>
            <a:ext cx="10287000" cy="34907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Motion Data Generator：先建立可控、同步的动态数据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 — DATA GENERATION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ard"/>
          <p:cNvSpPr>
            <a:spLocks noGrp="1"/>
          </p:cNvSpPr>
          <p:nvPr/>
        </p:nvSpPr>
        <p:spPr>
          <a:xfrm>
            <a:off x="984250" y="1841500"/>
            <a:ext cx="3175000" cy="1714500"/>
          </a:xfrm>
          <a:prstGeom prst="roundRect">
            <a:avLst>
              <a:gd name="adj" fmla="val 4444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1136650" y="19685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Eq.7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36650" y="2273300"/>
            <a:ext cx="287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位置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136650" y="2616200"/>
            <a:ext cx="2870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p_lidar = p_gt + n_pos</a:t>
            </a:r>
            <a:endParaRPr sz="14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n_pos ~ N(0, σ_pos²I)</a:t>
            </a:r>
            <a:endParaRPr sz="14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ard"/>
          <p:cNvSpPr>
            <a:spLocks noGrp="1"/>
          </p:cNvSpPr>
          <p:nvPr/>
        </p:nvSpPr>
        <p:spPr>
          <a:xfrm>
            <a:off x="4508500" y="1841500"/>
            <a:ext cx="3175000" cy="1714500"/>
          </a:xfrm>
          <a:prstGeom prst="roundRect">
            <a:avLst>
              <a:gd name="adj" fmla="val 4444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4660900" y="19685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Eq.8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660900" y="2273300"/>
            <a:ext cx="287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姿态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4660900" y="2616200"/>
            <a:ext cx="2870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q_lidar = q_gt ⊗ exp(½σ_rotη)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η ~ N(0,I)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ard"/>
          <p:cNvSpPr>
            <a:spLocks noGrp="1"/>
          </p:cNvSpPr>
          <p:nvPr/>
        </p:nvSpPr>
        <p:spPr>
          <a:xfrm>
            <a:off x="8032750" y="1841500"/>
            <a:ext cx="3175000" cy="1714500"/>
          </a:xfrm>
          <a:prstGeom prst="roundRect">
            <a:avLst>
              <a:gd name="adj" fmla="val 4444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text"/>
          <p:cNvSpPr>
            <a:spLocks noGrp="1"/>
          </p:cNvSpPr>
          <p:nvPr/>
        </p:nvSpPr>
        <p:spPr>
          <a:xfrm>
            <a:off x="8185150" y="1968500"/>
            <a:ext cx="79375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Eq.9–10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8185150" y="2273300"/>
            <a:ext cx="287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恶意 GPS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8185150" y="2616200"/>
            <a:ext cx="2870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直行：+δ_straight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转弯：+δ_turning[cosθ,sinθ]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flow"/>
          <p:cNvSpPr>
            <a:spLocks noGrp="1"/>
          </p:cNvSpPr>
          <p:nvPr/>
        </p:nvSpPr>
        <p:spPr>
          <a:xfrm>
            <a:off x="1651000" y="4381500"/>
            <a:ext cx="1968500" cy="603250"/>
          </a:xfrm>
          <a:prstGeom prst="roundRect">
            <a:avLst>
              <a:gd name="adj" fmla="val 12632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1701800" y="4432300"/>
            <a:ext cx="1866900" cy="50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100 Hz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flow"/>
          <p:cNvSpPr>
            <a:spLocks noGrp="1"/>
          </p:cNvSpPr>
          <p:nvPr/>
        </p:nvSpPr>
        <p:spPr>
          <a:xfrm>
            <a:off x="4603750" y="4381500"/>
            <a:ext cx="1968500" cy="603250"/>
          </a:xfrm>
          <a:prstGeom prst="roundRect">
            <a:avLst>
              <a:gd name="adj" fmla="val 12632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4654550" y="4432300"/>
            <a:ext cx="1866900" cy="50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 10 Hz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low"/>
          <p:cNvSpPr>
            <a:spLocks noGrp="1"/>
          </p:cNvSpPr>
          <p:nvPr/>
        </p:nvSpPr>
        <p:spPr>
          <a:xfrm>
            <a:off x="7556500" y="4381500"/>
            <a:ext cx="1968500" cy="603250"/>
          </a:xfrm>
          <a:prstGeom prst="roundRect">
            <a:avLst>
              <a:gd name="adj" fmla="val 12632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5" name="text"/>
          <p:cNvSpPr>
            <a:spLocks noGrp="1"/>
          </p:cNvSpPr>
          <p:nvPr/>
        </p:nvSpPr>
        <p:spPr>
          <a:xfrm>
            <a:off x="7607300" y="4432300"/>
            <a:ext cx="1866900" cy="50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10 Hz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3619500" y="4622800"/>
            <a:ext cx="8255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7" name="右箭头 26"/>
          <p:cNvSpPr>
            <a:spLocks noGrp="1"/>
          </p:cNvSpPr>
          <p:nvPr/>
        </p:nvSpPr>
        <p:spPr>
          <a:xfrm>
            <a:off x="6572250" y="4622800"/>
            <a:ext cx="8255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1746250" y="5397500"/>
            <a:ext cx="8699500" cy="546100"/>
          </a:xfrm>
          <a:prstGeom prst="roundRect">
            <a:avLst>
              <a:gd name="adj" fmla="val 20930"/>
            </a:avLst>
          </a:prstGeom>
          <a:solidFill>
            <a:srgbClr val="F5F8F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GPS 时间戳为参考，线性插值对齐；目标是隔离运动效应，而不是制造“无噪声现实”。</a:t>
            </a:r>
            <a:endParaRPr sz="14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vision"/>
          <p:cNvSpPr>
            <a:spLocks noGrp="1"/>
          </p:cNvSpPr>
          <p:nvPr/>
        </p:nvSpPr>
        <p:spPr>
          <a:xfrm>
            <a:off x="1047750" y="2317750"/>
            <a:ext cx="3048000" cy="1143000"/>
          </a:xfrm>
          <a:prstGeom prst="rect">
            <a:avLst/>
          </a:prstGeom>
          <a:solidFill>
            <a:srgbClr val="F5F8FD"/>
          </a:solidFill>
          <a:ln w="0">
            <a:solidFill>
              <a:srgbClr val="F5F8FD"/>
            </a:solidFill>
            <a:prstDash val="solid"/>
          </a:ln>
        </p:spPr>
      </p:sp>
      <p:sp>
        <p:nvSpPr>
          <p:cNvPr id="33" name="revision-panel"/>
          <p:cNvSpPr>
            <a:spLocks noGrp="1"/>
          </p:cNvSpPr>
          <p:nvPr/>
        </p:nvSpPr>
        <p:spPr>
          <a:xfrm>
            <a:off x="1022350" y="2413000"/>
            <a:ext cx="3098800" cy="857250"/>
          </a:xfrm>
          <a:prstGeom prst="roundRect">
            <a:avLst>
              <a:gd name="adj" fmla="val 888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2659537"/>
            <a:ext cx="2921000" cy="364177"/>
          </a:xfrm>
          <a:prstGeom prst="rect">
            <a:avLst/>
          </a:prstGeom>
        </p:spPr>
      </p:pic>
      <p:sp>
        <p:nvSpPr>
          <p:cNvPr id="35" name="revision"/>
          <p:cNvSpPr>
            <a:spLocks noGrp="1"/>
          </p:cNvSpPr>
          <p:nvPr/>
        </p:nvSpPr>
        <p:spPr>
          <a:xfrm>
            <a:off x="4572000" y="2317750"/>
            <a:ext cx="3048000" cy="1143000"/>
          </a:xfrm>
          <a:prstGeom prst="rect">
            <a:avLst/>
          </a:prstGeom>
          <a:solidFill>
            <a:srgbClr val="F5F8FD"/>
          </a:solidFill>
          <a:ln w="0">
            <a:solidFill>
              <a:srgbClr val="F5F8FD"/>
            </a:solidFill>
            <a:prstDash val="solid"/>
          </a:ln>
        </p:spPr>
      </p:sp>
      <p:sp>
        <p:nvSpPr>
          <p:cNvPr id="36" name="revision-panel"/>
          <p:cNvSpPr>
            <a:spLocks noGrp="1"/>
          </p:cNvSpPr>
          <p:nvPr/>
        </p:nvSpPr>
        <p:spPr>
          <a:xfrm>
            <a:off x="4546600" y="2381250"/>
            <a:ext cx="3098800" cy="889000"/>
          </a:xfrm>
          <a:prstGeom prst="roundRect">
            <a:avLst>
              <a:gd name="adj" fmla="val 8571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2629742"/>
            <a:ext cx="2921000" cy="392016"/>
          </a:xfrm>
          <a:prstGeom prst="rect">
            <a:avLst/>
          </a:prstGeom>
        </p:spPr>
      </p:pic>
      <p:sp>
        <p:nvSpPr>
          <p:cNvPr id="38" name="revision"/>
          <p:cNvSpPr>
            <a:spLocks noGrp="1"/>
          </p:cNvSpPr>
          <p:nvPr/>
        </p:nvSpPr>
        <p:spPr>
          <a:xfrm>
            <a:off x="8096250" y="2222500"/>
            <a:ext cx="3048000" cy="1809750"/>
          </a:xfrm>
          <a:prstGeom prst="rect">
            <a:avLst/>
          </a:prstGeom>
          <a:solidFill>
            <a:srgbClr val="FFF7E7"/>
          </a:solidFill>
          <a:ln w="0">
            <a:solidFill>
              <a:srgbClr val="FFF7E7"/>
            </a:solidFill>
            <a:prstDash val="solid"/>
          </a:ln>
        </p:spPr>
      </p:sp>
      <p:sp>
        <p:nvSpPr>
          <p:cNvPr id="39" name="revision-panel"/>
          <p:cNvSpPr>
            <a:spLocks noGrp="1"/>
          </p:cNvSpPr>
          <p:nvPr/>
        </p:nvSpPr>
        <p:spPr>
          <a:xfrm>
            <a:off x="8070850" y="2254250"/>
            <a:ext cx="3098800" cy="558800"/>
          </a:xfrm>
          <a:prstGeom prst="roundRect">
            <a:avLst>
              <a:gd name="adj" fmla="val 1363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402" y="2317750"/>
            <a:ext cx="2719696" cy="431800"/>
          </a:xfrm>
          <a:prstGeom prst="rect">
            <a:avLst/>
          </a:prstGeom>
        </p:spPr>
      </p:pic>
      <p:sp>
        <p:nvSpPr>
          <p:cNvPr id="41" name="revision-panel"/>
          <p:cNvSpPr>
            <a:spLocks noGrp="1"/>
          </p:cNvSpPr>
          <p:nvPr/>
        </p:nvSpPr>
        <p:spPr>
          <a:xfrm>
            <a:off x="8070850" y="2825750"/>
            <a:ext cx="3098800" cy="558800"/>
          </a:xfrm>
          <a:prstGeom prst="roundRect">
            <a:avLst>
              <a:gd name="adj" fmla="val 1363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750" y="2904012"/>
            <a:ext cx="2921000" cy="402275"/>
          </a:xfrm>
          <a:prstGeom prst="rect">
            <a:avLst/>
          </a:prstGeom>
        </p:spPr>
      </p:pic>
      <p:sp>
        <p:nvSpPr>
          <p:cNvPr id="43" name="revision-panel"/>
          <p:cNvSpPr>
            <a:spLocks noGrp="1"/>
          </p:cNvSpPr>
          <p:nvPr/>
        </p:nvSpPr>
        <p:spPr>
          <a:xfrm>
            <a:off x="8070850" y="3397250"/>
            <a:ext cx="3098800" cy="558800"/>
          </a:xfrm>
          <a:prstGeom prst="roundRect">
            <a:avLst>
              <a:gd name="adj" fmla="val 1363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9750" y="3473424"/>
            <a:ext cx="2921000" cy="4064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Sensor Fusion Engine：速度进入 G，地球模型进入 F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 — BLACK-BOX EMULATION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9950" y="1727200"/>
            <a:ext cx="46736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891" y="1778000"/>
            <a:ext cx="2321719" cy="4127500"/>
          </a:xfrm>
          <a:prstGeom prst="roundRect">
            <a:avLst>
              <a:gd name="adj" fmla="val 2769"/>
            </a:avLst>
          </a:prstGeom>
        </p:spPr>
      </p:pic>
      <p:sp>
        <p:nvSpPr>
          <p:cNvPr id="10" name="flow"/>
          <p:cNvSpPr>
            <a:spLocks noGrp="1"/>
          </p:cNvSpPr>
          <p:nvPr/>
        </p:nvSpPr>
        <p:spPr>
          <a:xfrm>
            <a:off x="6223000" y="2095500"/>
            <a:ext cx="1524000" cy="698500"/>
          </a:xfrm>
          <a:prstGeom prst="roundRect">
            <a:avLst>
              <a:gd name="adj" fmla="val 10909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273800" y="2146300"/>
            <a:ext cx="142240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Prediction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low"/>
          <p:cNvSpPr>
            <a:spLocks noGrp="1"/>
          </p:cNvSpPr>
          <p:nvPr/>
        </p:nvSpPr>
        <p:spPr>
          <a:xfrm>
            <a:off x="6223000" y="3397250"/>
            <a:ext cx="1524000" cy="698500"/>
          </a:xfrm>
          <a:prstGeom prst="roundRect">
            <a:avLst>
              <a:gd name="adj" fmla="val 10909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6273800" y="3448050"/>
            <a:ext cx="142240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位置+姿态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low"/>
          <p:cNvSpPr>
            <a:spLocks noGrp="1"/>
          </p:cNvSpPr>
          <p:nvPr/>
        </p:nvSpPr>
        <p:spPr>
          <a:xfrm>
            <a:off x="6223000" y="4699000"/>
            <a:ext cx="1524000" cy="698500"/>
          </a:xfrm>
          <a:prstGeom prst="roundRect">
            <a:avLst>
              <a:gd name="adj" fmla="val 10909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6273800" y="4749800"/>
            <a:ext cx="1422400" cy="59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位置+速度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low"/>
          <p:cNvSpPr>
            <a:spLocks noGrp="1"/>
          </p:cNvSpPr>
          <p:nvPr/>
        </p:nvSpPr>
        <p:spPr>
          <a:xfrm>
            <a:off x="9144000" y="3079750"/>
            <a:ext cx="1905000" cy="1143000"/>
          </a:xfrm>
          <a:prstGeom prst="roundRect">
            <a:avLst>
              <a:gd name="adj" fmla="val 6667"/>
            </a:avLst>
          </a:prstGeom>
          <a:solidFill>
            <a:srgbClr val="001C5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9194800" y="3130550"/>
            <a:ext cx="1803400" cy="1041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ESKF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PVA Correction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747000" y="2444750"/>
            <a:ext cx="1333500" cy="92075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7747000" y="3683000"/>
            <a:ext cx="13335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 rot="7140000">
            <a:off x="7747000" y="4127500"/>
            <a:ext cx="1333500" cy="920750"/>
          </a:xfrm>
          <a:prstGeom prst="line">
            <a:avLst/>
          </a:prstGeom>
          <a:noFill/>
          <a:ln w="25400">
            <a:solidFill>
              <a:srgbClr val="C53B3B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8255000" y="4794250"/>
            <a:ext cx="3048000" cy="952500"/>
          </a:xfrm>
          <a:prstGeom prst="roundRect">
            <a:avLst>
              <a:gd name="adj" fmla="val 12000"/>
            </a:avLst>
          </a:prstGeom>
          <a:solidFill>
            <a:srgbClr val="FCECE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C53B3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400" b="1">
                <a:solidFill>
                  <a:srgbClr val="C53B3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G 第二行含 −C⁽ᵇ⁾ₙ V×：</a:t>
            </a:r>
            <a:endParaRPr sz="1400" b="1">
              <a:solidFill>
                <a:srgbClr val="C53B3B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ctr">
              <a:buNone/>
              <a:defRPr sz="1400" b="1">
                <a:solidFill>
                  <a:srgbClr val="C53B3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400" b="1">
                <a:solidFill>
                  <a:srgbClr val="C53B3B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速度变化会改变“可观测关系”，而不仅是 F。</a:t>
            </a:r>
            <a:endParaRPr sz="1400" b="1">
              <a:solidFill>
                <a:srgbClr val="C53B3B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"/>
          <p:cNvSpPr>
            <a:spLocks noGrp="1"/>
          </p:cNvSpPr>
          <p:nvPr/>
        </p:nvSpPr>
        <p:spPr>
          <a:xfrm>
            <a:off x="793750" y="1587500"/>
            <a:ext cx="4953000" cy="444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revision-panel"/>
          <p:cNvSpPr>
            <a:spLocks noGrp="1"/>
          </p:cNvSpPr>
          <p:nvPr/>
        </p:nvSpPr>
        <p:spPr>
          <a:xfrm>
            <a:off x="927100" y="1841500"/>
            <a:ext cx="4686300" cy="666750"/>
          </a:xfrm>
          <a:prstGeom prst="roundRect">
            <a:avLst>
              <a:gd name="adj" fmla="val 1142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972" y="1905000"/>
            <a:ext cx="3118556" cy="539750"/>
          </a:xfrm>
          <a:prstGeom prst="rect">
            <a:avLst/>
          </a:prstGeom>
        </p:spPr>
      </p:pic>
      <p:sp>
        <p:nvSpPr>
          <p:cNvPr id="29" name="revision-text"/>
          <p:cNvSpPr>
            <a:spLocks noGrp="1"/>
          </p:cNvSpPr>
          <p:nvPr/>
        </p:nvSpPr>
        <p:spPr>
          <a:xfrm>
            <a:off x="1016000" y="1727200"/>
            <a:ext cx="4508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(11) · 地球自转角速度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vision-panel"/>
          <p:cNvSpPr>
            <a:spLocks noGrp="1"/>
          </p:cNvSpPr>
          <p:nvPr/>
        </p:nvSpPr>
        <p:spPr>
          <a:xfrm>
            <a:off x="927100" y="2889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170" y="2952750"/>
            <a:ext cx="3060160" cy="635000"/>
          </a:xfrm>
          <a:prstGeom prst="rect">
            <a:avLst/>
          </a:prstGeom>
        </p:spPr>
      </p:pic>
      <p:sp>
        <p:nvSpPr>
          <p:cNvPr id="32" name="revision-text"/>
          <p:cNvSpPr>
            <a:spLocks noGrp="1"/>
          </p:cNvSpPr>
          <p:nvPr/>
        </p:nvSpPr>
        <p:spPr>
          <a:xfrm>
            <a:off x="1016000" y="2774950"/>
            <a:ext cx="4508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(12) · 运输角速度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vision-panel"/>
          <p:cNvSpPr>
            <a:spLocks noGrp="1"/>
          </p:cNvSpPr>
          <p:nvPr/>
        </p:nvSpPr>
        <p:spPr>
          <a:xfrm>
            <a:off x="927100" y="4064000"/>
            <a:ext cx="4686300" cy="1809750"/>
          </a:xfrm>
          <a:prstGeom prst="roundRect">
            <a:avLst>
              <a:gd name="adj" fmla="val 4211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960" y="4127500"/>
            <a:ext cx="4026580" cy="1682750"/>
          </a:xfrm>
          <a:prstGeom prst="rect">
            <a:avLst/>
          </a:prstGeom>
        </p:spPr>
      </p:pic>
      <p:sp>
        <p:nvSpPr>
          <p:cNvPr id="35" name="revision-text"/>
          <p:cNvSpPr>
            <a:spLocks noGrp="1"/>
          </p:cNvSpPr>
          <p:nvPr/>
        </p:nvSpPr>
        <p:spPr>
          <a:xfrm>
            <a:off x="1016000" y="3949700"/>
            <a:ext cx="4508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Eq. (13) · 观测矩阵 G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 系统矩阵构造：把多时刻的动力学“叠加起来”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3A — PWCS ACCUMULATION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1746250" y="1809750"/>
            <a:ext cx="8699500" cy="603250"/>
          </a:xfrm>
          <a:prstGeom prst="roundRect">
            <a:avLst>
              <a:gd name="adj" fmla="val 18947"/>
            </a:avLst>
          </a:prstGeom>
          <a:solidFill>
            <a:srgbClr val="F5F8F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5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15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Q_som = Σᵢ Gᵢ · F_accumulate⁽ⁱ⁾　　　y_som = Σᵢ yᵢ</a:t>
            </a:r>
            <a:endParaRPr sz="215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9" name="flow"/>
          <p:cNvSpPr>
            <a:spLocks noGrp="1"/>
          </p:cNvSpPr>
          <p:nvPr/>
        </p:nvSpPr>
        <p:spPr>
          <a:xfrm>
            <a:off x="1143000" y="3111500"/>
            <a:ext cx="1968500" cy="793750"/>
          </a:xfrm>
          <a:prstGeom prst="roundRect">
            <a:avLst>
              <a:gd name="adj" fmla="val 96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1193800" y="3162300"/>
            <a:ext cx="1866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 1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 · Facc(1)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3124200" y="3333750"/>
            <a:ext cx="412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low"/>
          <p:cNvSpPr>
            <a:spLocks noGrp="1"/>
          </p:cNvSpPr>
          <p:nvPr/>
        </p:nvSpPr>
        <p:spPr>
          <a:xfrm>
            <a:off x="3619500" y="3111500"/>
            <a:ext cx="1968500" cy="793750"/>
          </a:xfrm>
          <a:prstGeom prst="roundRect">
            <a:avLst>
              <a:gd name="adj" fmla="val 96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3670300" y="3162300"/>
            <a:ext cx="1866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 2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· Facc(2)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600700" y="3333750"/>
            <a:ext cx="412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low"/>
          <p:cNvSpPr>
            <a:spLocks noGrp="1"/>
          </p:cNvSpPr>
          <p:nvPr/>
        </p:nvSpPr>
        <p:spPr>
          <a:xfrm>
            <a:off x="6096000" y="3111500"/>
            <a:ext cx="1968500" cy="793750"/>
          </a:xfrm>
          <a:prstGeom prst="roundRect">
            <a:avLst>
              <a:gd name="adj" fmla="val 9600"/>
            </a:avLst>
          </a:prstGeom>
          <a:solidFill>
            <a:srgbClr val="EAF1FB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146800" y="3162300"/>
            <a:ext cx="1866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 3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 · Facc(3)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077200" y="3333750"/>
            <a:ext cx="412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0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low"/>
          <p:cNvSpPr>
            <a:spLocks noGrp="1"/>
          </p:cNvSpPr>
          <p:nvPr/>
        </p:nvSpPr>
        <p:spPr>
          <a:xfrm>
            <a:off x="8572500" y="3111500"/>
            <a:ext cx="1968500" cy="793750"/>
          </a:xfrm>
          <a:prstGeom prst="roundRect">
            <a:avLst>
              <a:gd name="adj" fmla="val 9600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8623300" y="3162300"/>
            <a:ext cx="1866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 4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 · Facc(4)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下箭头 19"/>
          <p:cNvSpPr>
            <a:spLocks noGrp="1"/>
          </p:cNvSpPr>
          <p:nvPr/>
        </p:nvSpPr>
        <p:spPr>
          <a:xfrm>
            <a:off x="5175250" y="4127500"/>
            <a:ext cx="127000" cy="762000"/>
          </a:xfrm>
          <a:prstGeom prst="down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3873500" y="4953000"/>
            <a:ext cx="2730500" cy="793750"/>
          </a:xfrm>
          <a:prstGeom prst="roundRect">
            <a:avLst>
              <a:gd name="adj" fmla="val 9600"/>
            </a:avLst>
          </a:prstGeom>
          <a:solidFill>
            <a:srgbClr val="001C5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3924300" y="5003800"/>
            <a:ext cx="2628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Q_som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整段运动的系统信息矩阵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flow"/>
          <p:cNvSpPr>
            <a:spLocks noGrp="1"/>
          </p:cNvSpPr>
          <p:nvPr/>
        </p:nvSpPr>
        <p:spPr>
          <a:xfrm>
            <a:off x="7112000" y="4953000"/>
            <a:ext cx="2730500" cy="793750"/>
          </a:xfrm>
          <a:prstGeom prst="roundRect">
            <a:avLst>
              <a:gd name="adj" fmla="val 9600"/>
            </a:avLst>
          </a:prstGeom>
          <a:solidFill>
            <a:srgbClr val="F5F8FD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7162800" y="5003800"/>
            <a:ext cx="26289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y_som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整段观测残差汇总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2984500" y="5905500"/>
            <a:ext cx="6223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关键：不是看某一帧，而是看一个运动片段中状态信息如何累计。</a:t>
            </a:r>
            <a:endParaRPr sz="1350" b="1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vision"/>
          <p:cNvSpPr>
            <a:spLocks noGrp="1"/>
          </p:cNvSpPr>
          <p:nvPr/>
        </p:nvSpPr>
        <p:spPr>
          <a:xfrm>
            <a:off x="1524000" y="1651000"/>
            <a:ext cx="9144000" cy="984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revision-panel"/>
          <p:cNvSpPr>
            <a:spLocks noGrp="1"/>
          </p:cNvSpPr>
          <p:nvPr/>
        </p:nvSpPr>
        <p:spPr>
          <a:xfrm>
            <a:off x="1752600" y="1873250"/>
            <a:ext cx="8686800" cy="666750"/>
          </a:xfrm>
          <a:prstGeom prst="roundRect">
            <a:avLst>
              <a:gd name="adj" fmla="val 1142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660" y="1936750"/>
            <a:ext cx="5302679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 SVD：同一组奇异值，回答两个不同问题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3B — STABILITY &amp; OBSERVABILITY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4381500" y="1809750"/>
            <a:ext cx="3429000" cy="520700"/>
          </a:xfrm>
          <a:prstGeom prst="roundRect">
            <a:avLst>
              <a:gd name="adj" fmla="val 21951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200" b="1">
                <a:solidFill>
                  <a:srgbClr val="001C54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Q_som = U S Vᵀ</a:t>
            </a:r>
            <a:endParaRPr sz="2200" b="1">
              <a:solidFill>
                <a:srgbClr val="001C54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9" name="card"/>
          <p:cNvSpPr>
            <a:spLocks noGrp="1"/>
          </p:cNvSpPr>
          <p:nvPr/>
        </p:nvSpPr>
        <p:spPr>
          <a:xfrm>
            <a:off x="1143000" y="2889250"/>
            <a:ext cx="4381500" cy="2286000"/>
          </a:xfrm>
          <a:prstGeom prst="roundRect">
            <a:avLst>
              <a:gd name="adj" fmla="val 3333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text"/>
          <p:cNvSpPr>
            <a:spLocks noGrp="1"/>
          </p:cNvSpPr>
          <p:nvPr/>
        </p:nvSpPr>
        <p:spPr>
          <a:xfrm>
            <a:off x="1295400" y="30162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295400" y="3321050"/>
            <a:ext cx="407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稳定性：条件数</a:t>
            </a:r>
            <a:endParaRPr sz="17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295400" y="3663950"/>
            <a:ext cx="40767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 = σ_max / σ_min</a:t>
            </a:r>
            <a:endParaRPr sz="15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 越大，系统整体对微小扰动越敏感。</a:t>
            </a:r>
            <a:endParaRPr sz="15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ard"/>
          <p:cNvSpPr>
            <a:spLocks noGrp="1"/>
          </p:cNvSpPr>
          <p:nvPr/>
        </p:nvSpPr>
        <p:spPr>
          <a:xfrm>
            <a:off x="6667500" y="2889250"/>
            <a:ext cx="4381500" cy="2286000"/>
          </a:xfrm>
          <a:prstGeom prst="roundRect">
            <a:avLst>
              <a:gd name="adj" fmla="val 3333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text"/>
          <p:cNvSpPr>
            <a:spLocks noGrp="1"/>
          </p:cNvSpPr>
          <p:nvPr/>
        </p:nvSpPr>
        <p:spPr>
          <a:xfrm>
            <a:off x="6819900" y="301625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状态级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819900" y="3321050"/>
            <a:ext cx="407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可观测性：状态级画像</a:t>
            </a:r>
            <a:endParaRPr sz="17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6819900" y="3663950"/>
            <a:ext cx="40767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= V S⁻¹ Uᵀ y_som</a:t>
            </a:r>
            <a:endParaRPr sz="14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小奇异值经 S⁻¹ 被放大 → 对应状态弱可观测。</a:t>
            </a:r>
            <a:endParaRPr sz="14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1905000" y="546100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 告诉我们“整体是否脆弱”；X 与奇异向量映射告诉我们“哪一维状态脆弱”。</a:t>
            </a:r>
            <a:endParaRPr sz="155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vision"/>
          <p:cNvSpPr>
            <a:spLocks noGrp="1"/>
          </p:cNvSpPr>
          <p:nvPr/>
        </p:nvSpPr>
        <p:spPr>
          <a:xfrm>
            <a:off x="3556000" y="1587500"/>
            <a:ext cx="5080000" cy="920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2" name="revision-panel"/>
          <p:cNvSpPr>
            <a:spLocks noGrp="1"/>
          </p:cNvSpPr>
          <p:nvPr/>
        </p:nvSpPr>
        <p:spPr>
          <a:xfrm>
            <a:off x="3784600" y="1778000"/>
            <a:ext cx="4622800" cy="635000"/>
          </a:xfrm>
          <a:prstGeom prst="roundRect">
            <a:avLst>
              <a:gd name="adj" fmla="val 12000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797" y="1841500"/>
            <a:ext cx="2710405" cy="508000"/>
          </a:xfrm>
          <a:prstGeom prst="rect">
            <a:avLst/>
          </a:prstGeom>
        </p:spPr>
      </p:pic>
      <p:sp>
        <p:nvSpPr>
          <p:cNvPr id="24" name="revision"/>
          <p:cNvSpPr>
            <a:spLocks noGrp="1"/>
          </p:cNvSpPr>
          <p:nvPr/>
        </p:nvSpPr>
        <p:spPr>
          <a:xfrm>
            <a:off x="1270000" y="3651250"/>
            <a:ext cx="4000500" cy="1111250"/>
          </a:xfrm>
          <a:prstGeom prst="rect">
            <a:avLst/>
          </a:prstGeom>
          <a:solidFill>
            <a:srgbClr val="F5F8FD"/>
          </a:solidFill>
          <a:ln w="0">
            <a:solidFill>
              <a:srgbClr val="F5F8FD"/>
            </a:solidFill>
            <a:prstDash val="solid"/>
          </a:ln>
        </p:spPr>
      </p:sp>
      <p:sp>
        <p:nvSpPr>
          <p:cNvPr id="25" name="revision-text"/>
          <p:cNvSpPr>
            <a:spLocks noGrp="1"/>
          </p:cNvSpPr>
          <p:nvPr/>
        </p:nvSpPr>
        <p:spPr>
          <a:xfrm>
            <a:off x="1428750" y="3810000"/>
            <a:ext cx="368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 越大，系统整体对微小扰动越敏感。</a:t>
            </a:r>
            <a:endParaRPr sz="13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它回答“这组运动是否脆弱”。</a:t>
            </a:r>
            <a:endParaRPr sz="13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"/>
          <p:cNvSpPr>
            <a:spLocks noGrp="1"/>
          </p:cNvSpPr>
          <p:nvPr/>
        </p:nvSpPr>
        <p:spPr>
          <a:xfrm>
            <a:off x="6858000" y="3619500"/>
            <a:ext cx="3968750" cy="1301750"/>
          </a:xfrm>
          <a:prstGeom prst="rect">
            <a:avLst/>
          </a:prstGeom>
          <a:solidFill>
            <a:srgbClr val="FFF7E7"/>
          </a:solidFill>
          <a:ln w="0">
            <a:solidFill>
              <a:srgbClr val="FFF7E7"/>
            </a:solidFill>
            <a:prstDash val="solid"/>
          </a:ln>
        </p:spPr>
      </p:sp>
      <p:sp>
        <p:nvSpPr>
          <p:cNvPr id="27" name="revision-panel"/>
          <p:cNvSpPr>
            <a:spLocks noGrp="1"/>
          </p:cNvSpPr>
          <p:nvPr/>
        </p:nvSpPr>
        <p:spPr>
          <a:xfrm>
            <a:off x="6959600" y="3778250"/>
            <a:ext cx="3765550" cy="603250"/>
          </a:xfrm>
          <a:prstGeom prst="roundRect">
            <a:avLst>
              <a:gd name="adj" fmla="val 12632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987" y="3841750"/>
            <a:ext cx="1860777" cy="476250"/>
          </a:xfrm>
          <a:prstGeom prst="rect">
            <a:avLst/>
          </a:prstGeom>
        </p:spPr>
      </p:pic>
      <p:sp>
        <p:nvSpPr>
          <p:cNvPr id="29" name="revision-text"/>
          <p:cNvSpPr>
            <a:spLocks noGrp="1"/>
          </p:cNvSpPr>
          <p:nvPr/>
        </p:nvSpPr>
        <p:spPr>
          <a:xfrm>
            <a:off x="7048500" y="4445000"/>
            <a:ext cx="3587750" cy="36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状态向量与奇异向量的映射指出：哪一维状态最脆弱。</a:t>
            </a:r>
            <a:endParaRPr sz="105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4.4 Injector：先识别运动窗口，再生成指数型注入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4 — MOTION-AWARE INJECTION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38200" y="1854200"/>
            <a:ext cx="467360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42" y="1905000"/>
            <a:ext cx="4449116" cy="2984500"/>
          </a:xfrm>
          <a:prstGeom prst="roundRect">
            <a:avLst>
              <a:gd name="adj" fmla="val 3830"/>
            </a:avLst>
          </a:prstGeom>
        </p:spPr>
      </p:pic>
      <p:sp>
        <p:nvSpPr>
          <p:cNvPr id="10" name="card"/>
          <p:cNvSpPr>
            <a:spLocks noGrp="1"/>
          </p:cNvSpPr>
          <p:nvPr/>
        </p:nvSpPr>
        <p:spPr>
          <a:xfrm>
            <a:off x="5969000" y="1809750"/>
            <a:ext cx="2349500" cy="1333500"/>
          </a:xfrm>
          <a:prstGeom prst="roundRect">
            <a:avLst>
              <a:gd name="adj" fmla="val 5714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text"/>
          <p:cNvSpPr>
            <a:spLocks noGrp="1"/>
          </p:cNvSpPr>
          <p:nvPr/>
        </p:nvSpPr>
        <p:spPr>
          <a:xfrm>
            <a:off x="6121400" y="1936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YAW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121400" y="2241550"/>
            <a:ext cx="204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航向识别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121400" y="2584450"/>
            <a:ext cx="2044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ψ = atan2(sinψ, cosψ)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由归一化四元数计算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ard"/>
          <p:cNvSpPr>
            <a:spLocks noGrp="1"/>
          </p:cNvSpPr>
          <p:nvPr/>
        </p:nvSpPr>
        <p:spPr>
          <a:xfrm>
            <a:off x="8699500" y="1809750"/>
            <a:ext cx="2349500" cy="1333500"/>
          </a:xfrm>
          <a:prstGeom prst="roundRect">
            <a:avLst>
              <a:gd name="adj" fmla="val 5714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text"/>
          <p:cNvSpPr>
            <a:spLocks noGrp="1"/>
          </p:cNvSpPr>
          <p:nvPr/>
        </p:nvSpPr>
        <p:spPr>
          <a:xfrm>
            <a:off x="8851900" y="19367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8851900" y="2241550"/>
            <a:ext cx="204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速度识别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851900" y="2584450"/>
            <a:ext cx="2044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= √(vₓ² + vᵧ²)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持续跟踪速度模式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143750" y="3206750"/>
            <a:ext cx="1047750" cy="73025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 rot="5940000">
            <a:off x="8953500" y="3206750"/>
            <a:ext cx="920750" cy="73025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20" name="flow"/>
          <p:cNvSpPr>
            <a:spLocks noGrp="1"/>
          </p:cNvSpPr>
          <p:nvPr/>
        </p:nvSpPr>
        <p:spPr>
          <a:xfrm>
            <a:off x="7556500" y="3937000"/>
            <a:ext cx="2286000" cy="793750"/>
          </a:xfrm>
          <a:prstGeom prst="roundRect">
            <a:avLst>
              <a:gd name="adj" fmla="val 9600"/>
            </a:avLst>
          </a:prstGeom>
          <a:solidFill>
            <a:srgbClr val="FFF7E7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7607300" y="3987800"/>
            <a:ext cx="2184400" cy="69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条件满足？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高速巡航 / 加速窗口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下箭头 21"/>
          <p:cNvSpPr>
            <a:spLocks noGrp="1"/>
          </p:cNvSpPr>
          <p:nvPr/>
        </p:nvSpPr>
        <p:spPr>
          <a:xfrm>
            <a:off x="8636000" y="4730750"/>
            <a:ext cx="127000" cy="539750"/>
          </a:xfrm>
          <a:prstGeom prst="down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23" name="flow"/>
          <p:cNvSpPr>
            <a:spLocks noGrp="1"/>
          </p:cNvSpPr>
          <p:nvPr/>
        </p:nvSpPr>
        <p:spPr>
          <a:xfrm>
            <a:off x="7556500" y="5302250"/>
            <a:ext cx="2286000" cy="666750"/>
          </a:xfrm>
          <a:prstGeom prst="roundRect">
            <a:avLst>
              <a:gd name="adj" fmla="val 11429"/>
            </a:avLst>
          </a:prstGeom>
          <a:solidFill>
            <a:srgbClr val="FCECEC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7607300" y="5353050"/>
            <a:ext cx="2184400" cy="56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A(t)=d·fⁱ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沿横向生成 GPS′</a:t>
            </a:r>
            <a:endParaRPr sz="12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5651500" y="6127750"/>
            <a:ext cx="5397500" cy="24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创新点是“何时触发”，不是指数函数本身。</a:t>
            </a:r>
            <a:endParaRPr sz="135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vision"/>
          <p:cNvSpPr>
            <a:spLocks noGrp="1"/>
          </p:cNvSpPr>
          <p:nvPr/>
        </p:nvSpPr>
        <p:spPr>
          <a:xfrm>
            <a:off x="730250" y="1714500"/>
            <a:ext cx="4953000" cy="4127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1" name="revision-panel"/>
          <p:cNvSpPr>
            <a:spLocks noGrp="1"/>
          </p:cNvSpPr>
          <p:nvPr/>
        </p:nvSpPr>
        <p:spPr>
          <a:xfrm>
            <a:off x="895350" y="1968500"/>
            <a:ext cx="4622800" cy="730250"/>
          </a:xfrm>
          <a:prstGeom prst="roundRect">
            <a:avLst>
              <a:gd name="adj" fmla="val 10435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103711"/>
            <a:ext cx="4445000" cy="459828"/>
          </a:xfrm>
          <a:prstGeom prst="rect">
            <a:avLst/>
          </a:prstGeom>
        </p:spPr>
      </p:pic>
      <p:sp>
        <p:nvSpPr>
          <p:cNvPr id="33" name="revision-text"/>
          <p:cNvSpPr>
            <a:spLocks noGrp="1"/>
          </p:cNvSpPr>
          <p:nvPr/>
        </p:nvSpPr>
        <p:spPr>
          <a:xfrm>
            <a:off x="984250" y="1854200"/>
            <a:ext cx="44450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运动状态识别：航向角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vision-panel"/>
          <p:cNvSpPr>
            <a:spLocks noGrp="1"/>
          </p:cNvSpPr>
          <p:nvPr/>
        </p:nvSpPr>
        <p:spPr>
          <a:xfrm>
            <a:off x="895350" y="3175000"/>
            <a:ext cx="4622800" cy="666750"/>
          </a:xfrm>
          <a:prstGeom prst="roundRect">
            <a:avLst>
              <a:gd name="adj" fmla="val 11429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807" y="3238500"/>
            <a:ext cx="1545886" cy="539750"/>
          </a:xfrm>
          <a:prstGeom prst="rect">
            <a:avLst/>
          </a:prstGeom>
        </p:spPr>
      </p:pic>
      <p:sp>
        <p:nvSpPr>
          <p:cNvPr id="36" name="revision-text"/>
          <p:cNvSpPr>
            <a:spLocks noGrp="1"/>
          </p:cNvSpPr>
          <p:nvPr/>
        </p:nvSpPr>
        <p:spPr>
          <a:xfrm>
            <a:off x="984250" y="3060700"/>
            <a:ext cx="44450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运动状态识别：速度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vision-panel"/>
          <p:cNvSpPr>
            <a:spLocks noGrp="1"/>
          </p:cNvSpPr>
          <p:nvPr/>
        </p:nvSpPr>
        <p:spPr>
          <a:xfrm>
            <a:off x="895350" y="4318000"/>
            <a:ext cx="4622800" cy="1333500"/>
          </a:xfrm>
          <a:prstGeom prst="roundRect">
            <a:avLst>
              <a:gd name="adj" fmla="val 5714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4539902"/>
            <a:ext cx="4445000" cy="889695"/>
          </a:xfrm>
          <a:prstGeom prst="rect">
            <a:avLst/>
          </a:prstGeom>
        </p:spPr>
      </p:pic>
      <p:sp>
        <p:nvSpPr>
          <p:cNvPr id="39" name="revision-text"/>
          <p:cNvSpPr>
            <a:spLocks noGrp="1"/>
          </p:cNvSpPr>
          <p:nvPr/>
        </p:nvSpPr>
        <p:spPr>
          <a:xfrm>
            <a:off x="984250" y="4203700"/>
            <a:ext cx="44450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满足运动条件后执行指数型注入</a:t>
            </a:r>
            <a:endParaRPr sz="9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99515" y="652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完整攻击算法：离线找窗口，在线等窗口，命中后注入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END-TO-END ATTACK PIPELINE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ard"/>
          <p:cNvSpPr>
            <a:spLocks noGrp="1"/>
          </p:cNvSpPr>
          <p:nvPr/>
        </p:nvSpPr>
        <p:spPr>
          <a:xfrm>
            <a:off x="76200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91440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91440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生成运动片段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91440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直行/转弯/加减速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同步三类传感器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2381250" y="3492500"/>
            <a:ext cx="2032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3" name="card"/>
          <p:cNvSpPr>
            <a:spLocks noGrp="1"/>
          </p:cNvSpPr>
          <p:nvPr/>
        </p:nvSpPr>
        <p:spPr>
          <a:xfrm>
            <a:off x="263525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text"/>
          <p:cNvSpPr>
            <a:spLocks noGrp="1"/>
          </p:cNvSpPr>
          <p:nvPr/>
        </p:nvSpPr>
        <p:spPr>
          <a:xfrm>
            <a:off x="278765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278765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运行融合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278765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 F、G、y、P、K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4254500" y="3492500"/>
            <a:ext cx="2032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18" name="card"/>
          <p:cNvSpPr>
            <a:spLocks noGrp="1"/>
          </p:cNvSpPr>
          <p:nvPr/>
        </p:nvSpPr>
        <p:spPr>
          <a:xfrm>
            <a:off x="450850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text"/>
          <p:cNvSpPr>
            <a:spLocks noGrp="1"/>
          </p:cNvSpPr>
          <p:nvPr/>
        </p:nvSpPr>
        <p:spPr>
          <a:xfrm>
            <a:off x="466090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66090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计算画像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466090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Q_som → SVD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 / 15维可观测性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6127750" y="3492500"/>
            <a:ext cx="2032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23" name="card"/>
          <p:cNvSpPr>
            <a:spLocks noGrp="1"/>
          </p:cNvSpPr>
          <p:nvPr/>
        </p:nvSpPr>
        <p:spPr>
          <a:xfrm>
            <a:off x="638175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text"/>
          <p:cNvSpPr>
            <a:spLocks noGrp="1"/>
          </p:cNvSpPr>
          <p:nvPr/>
        </p:nvSpPr>
        <p:spPr>
          <a:xfrm>
            <a:off x="653415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653415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选择策略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653415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高速巡航攻击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加速攻击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8001000" y="3492500"/>
            <a:ext cx="203200" cy="127000"/>
          </a:xfrm>
          <a:prstGeom prst="rightArrow">
            <a:avLst/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</p:sp>
      <p:sp>
        <p:nvSpPr>
          <p:cNvPr id="28" name="card"/>
          <p:cNvSpPr>
            <a:spLocks noGrp="1"/>
          </p:cNvSpPr>
          <p:nvPr/>
        </p:nvSpPr>
        <p:spPr>
          <a:xfrm>
            <a:off x="825500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text"/>
          <p:cNvSpPr>
            <a:spLocks noGrp="1"/>
          </p:cNvSpPr>
          <p:nvPr/>
        </p:nvSpPr>
        <p:spPr>
          <a:xfrm>
            <a:off x="840740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840740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在线跟踪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"/>
          <p:cNvSpPr>
            <a:spLocks noGrp="1"/>
          </p:cNvSpPr>
          <p:nvPr/>
        </p:nvSpPr>
        <p:spPr>
          <a:xfrm>
            <a:off x="840740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 yaw 与 speed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判定运动窗口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右箭头 31"/>
          <p:cNvSpPr>
            <a:spLocks noGrp="1"/>
          </p:cNvSpPr>
          <p:nvPr/>
        </p:nvSpPr>
        <p:spPr>
          <a:xfrm>
            <a:off x="9874250" y="3492500"/>
            <a:ext cx="203200" cy="12700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33" name="card"/>
          <p:cNvSpPr>
            <a:spLocks noGrp="1"/>
          </p:cNvSpPr>
          <p:nvPr/>
        </p:nvSpPr>
        <p:spPr>
          <a:xfrm>
            <a:off x="10128250" y="2222500"/>
            <a:ext cx="1619250" cy="2667000"/>
          </a:xfrm>
          <a:prstGeom prst="roundRect">
            <a:avLst>
              <a:gd name="adj" fmla="val 4706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text"/>
          <p:cNvSpPr>
            <a:spLocks noGrp="1"/>
          </p:cNvSpPr>
          <p:nvPr/>
        </p:nvSpPr>
        <p:spPr>
          <a:xfrm>
            <a:off x="10280650" y="2349500"/>
            <a:ext cx="3683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"/>
          <p:cNvSpPr>
            <a:spLocks noGrp="1"/>
          </p:cNvSpPr>
          <p:nvPr/>
        </p:nvSpPr>
        <p:spPr>
          <a:xfrm>
            <a:off x="10280650" y="2654300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横向注入</a:t>
            </a:r>
            <a:endParaRPr sz="14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"/>
          <p:cNvSpPr>
            <a:spLocks noGrp="1"/>
          </p:cNvSpPr>
          <p:nvPr/>
        </p:nvSpPr>
        <p:spPr>
          <a:xfrm>
            <a:off x="10280650" y="2997200"/>
            <a:ext cx="13144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GPS′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直到越过目标阈值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30250" y="5207000"/>
            <a:ext cx="7270750" cy="546100"/>
          </a:xfrm>
          <a:prstGeom prst="roundRect">
            <a:avLst>
              <a:gd name="adj" fmla="val 13953"/>
            </a:avLst>
          </a:prstGeom>
          <a:solidFill>
            <a:srgbClr val="EAF1FB"/>
          </a:solidFill>
          <a:ln w="7620">
            <a:solidFill>
              <a:srgbClr val="4472C4"/>
            </a:solidFill>
            <a:prstDash val="solid"/>
          </a:ln>
        </p:spPr>
      </p:sp>
      <p:sp>
        <p:nvSpPr>
          <p:cNvPr id="38" name="text"/>
          <p:cNvSpPr>
            <a:spLocks noGrp="1"/>
          </p:cNvSpPr>
          <p:nvPr/>
        </p:nvSpPr>
        <p:spPr>
          <a:xfrm>
            <a:off x="920750" y="5308600"/>
            <a:ext cx="6889750" cy="31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OFFLINE VULNERABILITY PROFILING</a:t>
            </a:r>
            <a:endParaRPr sz="14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286750" y="5207000"/>
            <a:ext cx="2984500" cy="546100"/>
          </a:xfrm>
          <a:prstGeom prst="roundRect">
            <a:avLst>
              <a:gd name="adj" fmla="val 13953"/>
            </a:avLst>
          </a:prstGeom>
          <a:solidFill>
            <a:srgbClr val="FCECEC"/>
          </a:solidFill>
          <a:ln w="7620">
            <a:solidFill>
              <a:srgbClr val="E79B9B"/>
            </a:solidFill>
            <a:prstDash val="solid"/>
          </a:ln>
        </p:spPr>
      </p:sp>
      <p:sp>
        <p:nvSpPr>
          <p:cNvPr id="40" name="text"/>
          <p:cNvSpPr>
            <a:spLocks noGrp="1"/>
          </p:cNvSpPr>
          <p:nvPr/>
        </p:nvSpPr>
        <p:spPr>
          <a:xfrm>
            <a:off x="8413750" y="5308600"/>
            <a:ext cx="2730500" cy="31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EXPLOITATION</a:t>
            </a:r>
            <a:endParaRPr sz="14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vision"/>
          <p:cNvSpPr>
            <a:spLocks noGrp="1"/>
          </p:cNvSpPr>
          <p:nvPr/>
        </p:nvSpPr>
        <p:spPr>
          <a:xfrm>
            <a:off x="889000" y="349250"/>
            <a:ext cx="8001000" cy="1047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5" name="revision-text"/>
          <p:cNvSpPr>
            <a:spLocks noGrp="1"/>
          </p:cNvSpPr>
          <p:nvPr/>
        </p:nvSpPr>
        <p:spPr>
          <a:xfrm>
            <a:off x="965200" y="444500"/>
            <a:ext cx="78105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核心算法与实验方法：端到端攻击流程</a:t>
            </a:r>
            <a:endParaRPr sz="23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vision-text"/>
          <p:cNvSpPr>
            <a:spLocks noGrp="1"/>
          </p:cNvSpPr>
          <p:nvPr/>
        </p:nvSpPr>
        <p:spPr>
          <a:xfrm>
            <a:off x="977900" y="996950"/>
            <a:ext cx="711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END-TO-END PIPELINE · EXPERIMENTAL DESIGN</a:t>
            </a:r>
            <a:endParaRPr sz="10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0000">
              <a:srgbClr val="1C4792"/>
            </a:gs>
            <a:gs pos="100000">
              <a:srgbClr val="4472C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1930400"/>
            <a:ext cx="12192000" cy="2971800"/>
          </a:xfrm>
          <a:prstGeom prst="rect">
            <a:avLst/>
          </a:prstGeom>
          <a:solidFill>
            <a:srgbClr val="001C54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1524000" y="2063750"/>
            <a:ext cx="2095500" cy="139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85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3651250" y="2362200"/>
            <a:ext cx="698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实验结果分析</a:t>
            </a:r>
            <a:endParaRPr sz="3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3670300" y="31242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 — OFFLINE &amp; ONLINE</a:t>
            </a:r>
            <a:endParaRPr sz="140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3670300" y="3587750"/>
            <a:ext cx="62230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指标链：矩阵敏感性 → 状态可观测性 → 传感器权重 → 攻击侧偏。 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710" y="222250"/>
            <a:ext cx="2926080" cy="1143000"/>
          </a:xfrm>
          <a:prstGeom prst="rect">
            <a:avLst/>
          </a:prstGeom>
        </p:spPr>
      </p:pic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D7E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00" b="0">
              <a:solidFill>
                <a:srgbClr val="D7E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vision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54"/>
              </a:gs>
              <a:gs pos="72000">
                <a:srgbClr val="1C4792"/>
              </a:gs>
              <a:gs pos="100000">
                <a:srgbClr val="4472C4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" name="revision"/>
          <p:cNvSpPr>
            <a:spLocks noGrp="1"/>
          </p:cNvSpPr>
          <p:nvPr/>
        </p:nvSpPr>
        <p:spPr>
          <a:xfrm>
            <a:off x="0" y="1936750"/>
            <a:ext cx="12192000" cy="2984500"/>
          </a:xfrm>
          <a:prstGeom prst="rect">
            <a:avLst/>
          </a:prstGeom>
          <a:solidFill>
            <a:srgbClr val="001C5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2" name="revision-text"/>
          <p:cNvSpPr>
            <a:spLocks noGrp="1"/>
          </p:cNvSpPr>
          <p:nvPr/>
        </p:nvSpPr>
        <p:spPr>
          <a:xfrm>
            <a:off x="1492250" y="2095500"/>
            <a:ext cx="2095500" cy="136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0" b="1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8400" b="1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vision-text"/>
          <p:cNvSpPr>
            <a:spLocks noGrp="1"/>
          </p:cNvSpPr>
          <p:nvPr/>
        </p:nvSpPr>
        <p:spPr>
          <a:xfrm>
            <a:off x="3651250" y="2317750"/>
            <a:ext cx="711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 · 总结展望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vision-text"/>
          <p:cNvSpPr>
            <a:spLocks noGrp="1"/>
          </p:cNvSpPr>
          <p:nvPr/>
        </p:nvSpPr>
        <p:spPr>
          <a:xfrm>
            <a:off x="3670300" y="3175000"/>
            <a:ext cx="698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D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 · CONCLUSION · OUTLOOK</a:t>
            </a:r>
            <a:endParaRPr sz="1350" b="1">
              <a:solidFill>
                <a:srgbClr val="C7D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vision-text"/>
          <p:cNvSpPr>
            <a:spLocks noGrp="1"/>
          </p:cNvSpPr>
          <p:nvPr/>
        </p:nvSpPr>
        <p:spPr>
          <a:xfrm>
            <a:off x="3670300" y="3587750"/>
            <a:ext cx="660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从稳定性、可观测性、攻击效果到防御启示，形成证据闭环。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离线画像验证：高速与加速让系统更不稳定、更依赖 GPS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SEC.5 — VULNERABILITY PROFILING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9950" y="1758950"/>
            <a:ext cx="3276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6" name="图片 4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86758" y="1809750"/>
            <a:ext cx="2242984" cy="190500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30700" y="1758950"/>
            <a:ext cx="3784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8" name="图片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81500" y="1990884"/>
            <a:ext cx="3683000" cy="1542732"/>
          </a:xfrm>
          <a:prstGeom prst="roundRect">
            <a:avLst>
              <a:gd name="adj" fmla="val 6000"/>
            </a:avLst>
          </a:prstGeom>
        </p:spPr>
      </p:pic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299450" y="1758950"/>
            <a:ext cx="3149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0" name="图片 4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022773" y="1809750"/>
            <a:ext cx="1702955" cy="1905000"/>
          </a:xfrm>
          <a:prstGeom prst="roundRect">
            <a:avLst>
              <a:gd name="adj" fmla="val 6000"/>
            </a:avLst>
          </a:prstGeom>
        </p:spPr>
      </p:pic>
      <p:sp>
        <p:nvSpPr>
          <p:cNvPr id="14" name="card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0750" y="4159250"/>
            <a:ext cx="3175000" cy="14605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text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073150" y="4286250"/>
            <a:ext cx="444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73150" y="4591050"/>
            <a:ext cx="287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73150" y="4933950"/>
            <a:ext cx="2870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直行速度升至 15 m/s 时，条件数接近 900；角速度单独变化影响较小。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ard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381500" y="4159250"/>
            <a:ext cx="3683000" cy="14605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text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533900" y="42862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SVD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533900" y="4591050"/>
            <a:ext cx="3378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可观测性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533900" y="4933950"/>
            <a:ext cx="3378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高速与加速使位置维度的可观测性下降；偏置维度变化较小。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ard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350250" y="4159250"/>
            <a:ext cx="3048000" cy="1460500"/>
          </a:xfrm>
          <a:prstGeom prst="roundRect">
            <a:avLst>
              <a:gd name="adj" fmla="val 5217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text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502650" y="4286250"/>
            <a:ext cx="4445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502650" y="45910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Kalman 增益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502650" y="4933950"/>
            <a:ext cx="2743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加速度增加时，GPS 位置对应 K(1,10) 上升。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vision-panel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69950" y="1758950"/>
            <a:ext cx="3276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5" name="图片 64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88531" y="1809750"/>
            <a:ext cx="3039438" cy="1905000"/>
          </a:xfrm>
          <a:prstGeom prst="rect">
            <a:avLst/>
          </a:prstGeom>
        </p:spPr>
      </p:pic>
      <p:sp>
        <p:nvSpPr>
          <p:cNvPr id="34" name="revision-panel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4330700" y="1758950"/>
            <a:ext cx="3784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7" name="图片 6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381500" y="2172308"/>
            <a:ext cx="3683000" cy="1179883"/>
          </a:xfrm>
          <a:prstGeom prst="rect">
            <a:avLst/>
          </a:prstGeom>
        </p:spPr>
      </p:pic>
      <p:sp>
        <p:nvSpPr>
          <p:cNvPr id="36" name="revision-panel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8299450" y="1758950"/>
            <a:ext cx="31496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9" name="图片 6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661977" y="1809750"/>
            <a:ext cx="242454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恒定欺骗验证与策略设计：速度决定放大，角速度单独作用有限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SEC.5.3–5.4 — FROM OBSERVATION TO ATTACK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9950" y="1758950"/>
            <a:ext cx="3848100" cy="340360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178" y="1809750"/>
            <a:ext cx="1739644" cy="3302000"/>
          </a:xfrm>
          <a:prstGeom prst="roundRect">
            <a:avLst>
              <a:gd name="adj" fmla="val 3462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4965700" y="1758950"/>
            <a:ext cx="3022600" cy="23241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97" y="1809750"/>
            <a:ext cx="2361406" cy="2222500"/>
          </a:xfrm>
          <a:prstGeom prst="roundRect">
            <a:avLst>
              <a:gd name="adj" fmla="val 5143"/>
            </a:avLst>
          </a:prstGeom>
        </p:spPr>
      </p:pic>
      <p:sp>
        <p:nvSpPr>
          <p:cNvPr id="12" name="metric"/>
          <p:cNvSpPr>
            <a:spLocks noGrp="1"/>
          </p:cNvSpPr>
          <p:nvPr/>
        </p:nvSpPr>
        <p:spPr>
          <a:xfrm>
            <a:off x="8255000" y="1905000"/>
            <a:ext cx="3016250" cy="939800"/>
          </a:xfrm>
          <a:prstGeom prst="roundRect">
            <a:avLst>
              <a:gd name="adj" fmla="val 8108"/>
            </a:avLst>
          </a:prstGeom>
          <a:solidFill>
            <a:srgbClr val="C53B3B"/>
          </a:solidFill>
          <a:ln w="0">
            <a:solidFill>
              <a:srgbClr val="C53B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8356600" y="1981200"/>
            <a:ext cx="281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+16.43%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8356600" y="2444750"/>
            <a:ext cx="281305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直行加速度 2 m/s² 时侧偏放大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etric"/>
          <p:cNvSpPr>
            <a:spLocks noGrp="1"/>
          </p:cNvSpPr>
          <p:nvPr/>
        </p:nvSpPr>
        <p:spPr>
          <a:xfrm>
            <a:off x="8255000" y="3048000"/>
            <a:ext cx="3016250" cy="939800"/>
          </a:xfrm>
          <a:prstGeom prst="roundRect">
            <a:avLst>
              <a:gd name="adj" fmla="val 8108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text"/>
          <p:cNvSpPr>
            <a:spLocks noGrp="1"/>
          </p:cNvSpPr>
          <p:nvPr/>
        </p:nvSpPr>
        <p:spPr>
          <a:xfrm>
            <a:off x="8356600" y="3124200"/>
            <a:ext cx="281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+30.96%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356600" y="3587750"/>
            <a:ext cx="281305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转弯+速度变化时最大放大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etric"/>
          <p:cNvSpPr>
            <a:spLocks noGrp="1"/>
          </p:cNvSpPr>
          <p:nvPr/>
        </p:nvSpPr>
        <p:spPr>
          <a:xfrm>
            <a:off x="8255000" y="4191000"/>
            <a:ext cx="3016250" cy="939800"/>
          </a:xfrm>
          <a:prstGeom prst="roundRect">
            <a:avLst>
              <a:gd name="adj" fmla="val 8108"/>
            </a:avLst>
          </a:prstGeom>
          <a:solidFill>
            <a:srgbClr val="2F528F"/>
          </a:solidFill>
          <a:ln w="0">
            <a:solidFill>
              <a:srgbClr val="2F528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text"/>
          <p:cNvSpPr>
            <a:spLocks noGrp="1"/>
          </p:cNvSpPr>
          <p:nvPr/>
        </p:nvSpPr>
        <p:spPr>
          <a:xfrm>
            <a:off x="8356600" y="4267200"/>
            <a:ext cx="281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&lt;2%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8356600" y="4730750"/>
            <a:ext cx="281305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恒速下仅改变角速度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4826000" y="4349750"/>
            <a:ext cx="3302000" cy="57150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消融：移除速度观测后，各加速度场景统一为 +16.68%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016500" y="5302250"/>
            <a:ext cx="2984500" cy="266700"/>
          </a:xfrm>
          <a:prstGeom prst="roundRect">
            <a:avLst>
              <a:gd name="adj" fmla="val 50000"/>
            </a:avLst>
          </a:prstGeom>
          <a:solidFill>
            <a:srgbClr val="001C54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Cruising Attack：高速直行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8255000" y="5302250"/>
            <a:ext cx="3016250" cy="266700"/>
          </a:xfrm>
          <a:prstGeom prst="roundRect">
            <a:avLst>
              <a:gd name="adj" fmla="val 50000"/>
            </a:avLst>
          </a:prstGeom>
          <a:solidFill>
            <a:srgbClr val="FFF7E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Acceleration Attack：起步/转弯再加速</a:t>
            </a:r>
            <a:endParaRPr sz="100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vision-panel"/>
          <p:cNvSpPr>
            <a:spLocks noGrp="1"/>
          </p:cNvSpPr>
          <p:nvPr/>
        </p:nvSpPr>
        <p:spPr>
          <a:xfrm>
            <a:off x="869950" y="1758950"/>
            <a:ext cx="3848100" cy="340360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4"/>
          <a:srcRect b="14808"/>
          <a:stretch>
            <a:fillRect/>
          </a:stretch>
        </p:blipFill>
        <p:spPr>
          <a:xfrm>
            <a:off x="1600200" y="1936750"/>
            <a:ext cx="2300605" cy="2813050"/>
          </a:xfrm>
          <a:prstGeom prst="rect">
            <a:avLst/>
          </a:prstGeom>
        </p:spPr>
      </p:pic>
      <p:sp>
        <p:nvSpPr>
          <p:cNvPr id="31" name="revision-panel"/>
          <p:cNvSpPr>
            <a:spLocks noGrp="1"/>
          </p:cNvSpPr>
          <p:nvPr/>
        </p:nvSpPr>
        <p:spPr>
          <a:xfrm>
            <a:off x="4965700" y="1758950"/>
            <a:ext cx="3022600" cy="23241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00" y="1881626"/>
            <a:ext cx="2921000" cy="20787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在线攻击有效性：模拟预测准确，多数配置成功率接近 100%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SEC.6.1–6.2 — ACCURACY &amp; EFFECTIVENESS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69950" y="1854200"/>
            <a:ext cx="3975100" cy="2895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15" y="1905000"/>
            <a:ext cx="3438769" cy="2794000"/>
          </a:xfrm>
          <a:prstGeom prst="roundRect">
            <a:avLst>
              <a:gd name="adj" fmla="val 4091"/>
            </a:avLst>
          </a:prstGeom>
        </p:spPr>
      </p:pic>
      <p:sp>
        <p:nvSpPr>
          <p:cNvPr id="10" name="metric"/>
          <p:cNvSpPr>
            <a:spLocks noGrp="1"/>
          </p:cNvSpPr>
          <p:nvPr/>
        </p:nvSpPr>
        <p:spPr>
          <a:xfrm>
            <a:off x="1143000" y="4953000"/>
            <a:ext cx="1905000" cy="939800"/>
          </a:xfrm>
          <a:prstGeom prst="roundRect">
            <a:avLst>
              <a:gd name="adj" fmla="val 8108"/>
            </a:avLst>
          </a:prstGeom>
          <a:solidFill>
            <a:srgbClr val="1C8C6A"/>
          </a:solidFill>
          <a:ln w="0">
            <a:solidFill>
              <a:srgbClr val="1C8C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text"/>
          <p:cNvSpPr>
            <a:spLocks noGrp="1"/>
          </p:cNvSpPr>
          <p:nvPr/>
        </p:nvSpPr>
        <p:spPr>
          <a:xfrm>
            <a:off x="1244600" y="5029200"/>
            <a:ext cx="1701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1.33%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1244600" y="5492750"/>
            <a:ext cx="1701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平均预测误差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etric"/>
          <p:cNvSpPr>
            <a:spLocks noGrp="1"/>
          </p:cNvSpPr>
          <p:nvPr/>
        </p:nvSpPr>
        <p:spPr>
          <a:xfrm>
            <a:off x="3302000" y="4953000"/>
            <a:ext cx="2159000" cy="939800"/>
          </a:xfrm>
          <a:prstGeom prst="roundRect">
            <a:avLst>
              <a:gd name="adj" fmla="val 8108"/>
            </a:avLst>
          </a:prstGeom>
          <a:solidFill>
            <a:srgbClr val="001C54"/>
          </a:solidFill>
          <a:ln w="0">
            <a:solidFill>
              <a:srgbClr val="001C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text"/>
          <p:cNvSpPr>
            <a:spLocks noGrp="1"/>
          </p:cNvSpPr>
          <p:nvPr/>
        </p:nvSpPr>
        <p:spPr>
          <a:xfrm>
            <a:off x="3403600" y="5029200"/>
            <a:ext cx="195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 / 92.7%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3403600" y="5492750"/>
            <a:ext cx="1955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Apollo/Baidu-64 加速攻击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 / 逆行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0" name="Chart"/>
          <p:cNvGraphicFramePr/>
          <p:nvPr/>
        </p:nvGraphicFramePr>
        <p:xfrm>
          <a:off x="5842000" y="1968500"/>
          <a:ext cx="52705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"/>
          <p:cNvSpPr>
            <a:spLocks noGrp="1"/>
          </p:cNvSpPr>
          <p:nvPr/>
        </p:nvSpPr>
        <p:spPr>
          <a:xfrm>
            <a:off x="6032500" y="5397500"/>
            <a:ext cx="4889500" cy="476250"/>
          </a:xfrm>
          <a:prstGeom prst="roundRect">
            <a:avLst>
              <a:gd name="adj" fmla="val 24000"/>
            </a:avLst>
          </a:prstGeom>
          <a:solidFill>
            <a:srgbClr val="F5F8FD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 Apollo/Baidu-128、Shenlan_MSF 与 MSAF_MSF 多数组合均为 100%</a:t>
            </a:r>
            <a:endParaRPr sz="12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vision-panel"/>
          <p:cNvSpPr>
            <a:spLocks noGrp="1"/>
          </p:cNvSpPr>
          <p:nvPr/>
        </p:nvSpPr>
        <p:spPr>
          <a:xfrm>
            <a:off x="869950" y="1854200"/>
            <a:ext cx="3975100" cy="2895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2308472"/>
            <a:ext cx="3873500" cy="19870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鲁棒性、对比与端到端：误差存在时仍有效，真实车出现物理后果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SEC.6.3–6.5 — ROBUSTNESS &amp; REAL VEHICLE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4700" y="1727200"/>
            <a:ext cx="31496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5" y="1778000"/>
            <a:ext cx="2762250" cy="2095500"/>
          </a:xfrm>
          <a:prstGeom prst="roundRect">
            <a:avLst>
              <a:gd name="adj" fmla="val 5455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4076700" y="1727200"/>
            <a:ext cx="31496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89" y="1778000"/>
            <a:ext cx="1945821" cy="2095500"/>
          </a:xfrm>
          <a:prstGeom prst="roundRect">
            <a:avLst>
              <a:gd name="adj" fmla="val 5455"/>
            </a:avLst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7378700" y="1727200"/>
            <a:ext cx="39751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635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201" y="1778000"/>
            <a:ext cx="2302099" cy="2095500"/>
          </a:xfrm>
          <a:prstGeom prst="roundRect">
            <a:avLst>
              <a:gd name="adj" fmla="val 5455"/>
            </a:avLst>
          </a:prstGeom>
        </p:spPr>
      </p:pic>
      <p:sp>
        <p:nvSpPr>
          <p:cNvPr id="14" name="metric"/>
          <p:cNvSpPr>
            <a:spLocks noGrp="1"/>
          </p:cNvSpPr>
          <p:nvPr/>
        </p:nvSpPr>
        <p:spPr>
          <a:xfrm>
            <a:off x="825500" y="4222750"/>
            <a:ext cx="3048000" cy="939800"/>
          </a:xfrm>
          <a:prstGeom prst="roundRect">
            <a:avLst>
              <a:gd name="adj" fmla="val 8108"/>
            </a:avLst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text"/>
          <p:cNvSpPr>
            <a:spLocks noGrp="1"/>
          </p:cNvSpPr>
          <p:nvPr/>
        </p:nvSpPr>
        <p:spPr>
          <a:xfrm>
            <a:off x="927100" y="4298950"/>
            <a:ext cx="284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78.3 / 76.8%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927100" y="4762500"/>
            <a:ext cx="2844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3σ：越界 / 逆行成功率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etric"/>
          <p:cNvSpPr>
            <a:spLocks noGrp="1"/>
          </p:cNvSpPr>
          <p:nvPr/>
        </p:nvSpPr>
        <p:spPr>
          <a:xfrm>
            <a:off x="4127500" y="4222750"/>
            <a:ext cx="3048000" cy="939800"/>
          </a:xfrm>
          <a:prstGeom prst="roundRect">
            <a:avLst>
              <a:gd name="adj" fmla="val 8108"/>
            </a:avLst>
          </a:prstGeom>
          <a:solidFill>
            <a:srgbClr val="1C8C6A"/>
          </a:solidFill>
          <a:ln w="0">
            <a:solidFill>
              <a:srgbClr val="1C8C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text"/>
          <p:cNvSpPr>
            <a:spLocks noGrp="1"/>
          </p:cNvSpPr>
          <p:nvPr/>
        </p:nvSpPr>
        <p:spPr>
          <a:xfrm>
            <a:off x="4229100" y="4298950"/>
            <a:ext cx="284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82.0 / 73.5%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229100" y="4762500"/>
            <a:ext cx="28448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对比 FusionRipper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59.5 / 45.5%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etric"/>
          <p:cNvSpPr>
            <a:spLocks noGrp="1"/>
          </p:cNvSpPr>
          <p:nvPr/>
        </p:nvSpPr>
        <p:spPr>
          <a:xfrm>
            <a:off x="7429500" y="4222750"/>
            <a:ext cx="3873500" cy="939800"/>
          </a:xfrm>
          <a:prstGeom prst="roundRect">
            <a:avLst>
              <a:gd name="adj" fmla="val 8108"/>
            </a:avLst>
          </a:prstGeom>
          <a:solidFill>
            <a:srgbClr val="001C54"/>
          </a:solidFill>
          <a:ln w="0">
            <a:solidFill>
              <a:srgbClr val="001C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text"/>
          <p:cNvSpPr>
            <a:spLocks noGrp="1"/>
          </p:cNvSpPr>
          <p:nvPr/>
        </p:nvSpPr>
        <p:spPr>
          <a:xfrm>
            <a:off x="7531100" y="4298950"/>
            <a:ext cx="367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16.6 / 21.8 s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7531100" y="4762500"/>
            <a:ext cx="3670300" cy="29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平均攻击时长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 / 逆行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1555750" y="5524500"/>
            <a:ext cx="90805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50" b="1">
                <a:solidFill>
                  <a:srgbClr val="C5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MSAF 通过运动窗口缩短等待时间；FusionRipper 的长尾接近 80 s。真实车实验中，定位误差传到规划/控制并导致碰撞。</a:t>
            </a:r>
            <a:endParaRPr sz="1450" b="1">
              <a:solidFill>
                <a:srgbClr val="C5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vision-panel"/>
          <p:cNvSpPr>
            <a:spLocks noGrp="1"/>
          </p:cNvSpPr>
          <p:nvPr/>
        </p:nvSpPr>
        <p:spPr>
          <a:xfrm>
            <a:off x="774700" y="1727200"/>
            <a:ext cx="31496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1922301"/>
            <a:ext cx="3048000" cy="1806898"/>
          </a:xfrm>
          <a:prstGeom prst="rect">
            <a:avLst/>
          </a:prstGeom>
        </p:spPr>
      </p:pic>
      <p:sp>
        <p:nvSpPr>
          <p:cNvPr id="32" name="revision-panel"/>
          <p:cNvSpPr>
            <a:spLocks noGrp="1"/>
          </p:cNvSpPr>
          <p:nvPr/>
        </p:nvSpPr>
        <p:spPr>
          <a:xfrm>
            <a:off x="4076700" y="1727200"/>
            <a:ext cx="31496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9955" y="1778000"/>
            <a:ext cx="2563091" cy="2095500"/>
          </a:xfrm>
          <a:prstGeom prst="rect">
            <a:avLst/>
          </a:prstGeom>
        </p:spPr>
      </p:pic>
      <p:sp>
        <p:nvSpPr>
          <p:cNvPr id="34" name="revision-panel"/>
          <p:cNvSpPr>
            <a:spLocks noGrp="1"/>
          </p:cNvSpPr>
          <p:nvPr/>
        </p:nvSpPr>
        <p:spPr>
          <a:xfrm>
            <a:off x="7378700" y="1727200"/>
            <a:ext cx="3975100" cy="219710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6818" y="1778000"/>
            <a:ext cx="2878864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457200"/>
            <a:ext cx="711200" cy="901700"/>
          </a:xfrm>
          <a:prstGeom prst="rect">
            <a:avLst/>
          </a:prstGeom>
          <a:solidFill>
            <a:srgbClr val="2F528F"/>
          </a:solidFill>
          <a:ln w="0">
            <a:noFill/>
            <a:prstDash val="solid"/>
          </a:ln>
        </p:spPr>
      </p:sp>
      <p:sp>
        <p:nvSpPr>
          <p:cNvPr id="2" name="text"/>
          <p:cNvSpPr>
            <a:spLocks noGrp="1"/>
          </p:cNvSpPr>
          <p:nvPr/>
        </p:nvSpPr>
        <p:spPr>
          <a:xfrm>
            <a:off x="63500" y="615950"/>
            <a:ext cx="5842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965200" y="444500"/>
            <a:ext cx="74930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参考文献与讨论边界</a:t>
            </a:r>
            <a:endParaRPr sz="2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977900" y="996950"/>
            <a:ext cx="6604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REFERENCES &amp; LIMITATIONS</a:t>
            </a:r>
            <a:endParaRPr sz="11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67122"/>
            <a:ext cx="2794000" cy="1091406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965200" y="1447800"/>
            <a:ext cx="10972800" cy="6350"/>
          </a:xfrm>
          <a:prstGeom prst="line">
            <a:avLst/>
          </a:prstGeom>
          <a:noFill/>
          <a:ln w="6350">
            <a:solidFill>
              <a:srgbClr val="D5DFEF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11493500" y="6445250"/>
            <a:ext cx="4445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ard"/>
          <p:cNvSpPr>
            <a:spLocks noGrp="1"/>
          </p:cNvSpPr>
          <p:nvPr/>
        </p:nvSpPr>
        <p:spPr>
          <a:xfrm>
            <a:off x="952500" y="1809750"/>
            <a:ext cx="5905500" cy="3619500"/>
          </a:xfrm>
          <a:prstGeom prst="roundRect">
            <a:avLst>
              <a:gd name="adj" fmla="val 2105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text"/>
          <p:cNvSpPr>
            <a:spLocks noGrp="1"/>
          </p:cNvSpPr>
          <p:nvPr/>
        </p:nvSpPr>
        <p:spPr>
          <a:xfrm>
            <a:off x="1104900" y="19367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04900" y="2241550"/>
            <a:ext cx="5600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核心文献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104900" y="2584450"/>
            <a:ext cx="56007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Zhang et al. The Ghost Navigator: Revisiting the Hidden Vulnerability of Localization in Autonomous Driving. USENIX Security, 2025.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50"/>
          </a:p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Shen et al. High-precision integrated navigation / ESKF references cited in the paper.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50"/>
          </a:p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FusionRipper: prior two-stage GPS spoofing attack, cited as [10] in the paper.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50"/>
          </a:p>
          <a:p>
            <a:pPr algn="l">
              <a:buNone/>
              <a:def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PWCS / SVD observability literature, cited as [28]–[35] in the paper.</a:t>
            </a:r>
            <a:endParaRPr sz="12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ard"/>
          <p:cNvSpPr>
            <a:spLocks noGrp="1"/>
          </p:cNvSpPr>
          <p:nvPr/>
        </p:nvSpPr>
        <p:spPr>
          <a:xfrm>
            <a:off x="7175500" y="1809750"/>
            <a:ext cx="4064000" cy="1714500"/>
          </a:xfrm>
          <a:prstGeom prst="roundRect">
            <a:avLst>
              <a:gd name="adj" fmla="val 4444"/>
            </a:avLst>
          </a:prstGeom>
          <a:solidFill>
            <a:srgbClr val="FFF7E7"/>
          </a:solidFill>
          <a:ln w="7620">
            <a:solidFill>
              <a:srgbClr val="F3C67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text"/>
          <p:cNvSpPr>
            <a:spLocks noGrp="1"/>
          </p:cNvSpPr>
          <p:nvPr/>
        </p:nvSpPr>
        <p:spPr>
          <a:xfrm>
            <a:off x="7327900" y="19367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327900" y="2241550"/>
            <a:ext cx="375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适用边界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7327900" y="2584450"/>
            <a:ext cx="3759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论文未实施真实射频 GPS 欺骗，而是以扰动与延迟模拟；真实车最高速度受平台限制。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ard"/>
          <p:cNvSpPr>
            <a:spLocks noGrp="1"/>
          </p:cNvSpPr>
          <p:nvPr/>
        </p:nvSpPr>
        <p:spPr>
          <a:xfrm>
            <a:off x="7175500" y="3778250"/>
            <a:ext cx="4064000" cy="1651000"/>
          </a:xfrm>
          <a:prstGeom prst="roundRect">
            <a:avLst>
              <a:gd name="adj" fmla="val 4615"/>
            </a:avLst>
          </a:prstGeom>
          <a:solidFill>
            <a:srgbClr val="E7F5F0"/>
          </a:solidFill>
          <a:ln w="7620">
            <a:solidFill>
              <a:srgbClr val="8BCDB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text"/>
          <p:cNvSpPr>
            <a:spLocks noGrp="1"/>
          </p:cNvSpPr>
          <p:nvPr/>
        </p:nvSpPr>
        <p:spPr>
          <a:xfrm>
            <a:off x="7327900" y="3905250"/>
            <a:ext cx="635000" cy="2667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1C4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</a:t>
            </a:r>
            <a:endParaRPr sz="1000" b="1">
              <a:solidFill>
                <a:srgbClr val="1C4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327900" y="4210050"/>
            <a:ext cx="375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防御启示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7327900" y="4552950"/>
            <a:ext cx="3759200" cy="73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同时监测内部状态/Kalman 增益变化与 LiDAR–GPS 残差；单纯位置差阈值可能错过渐进式攻击。</a:t>
            </a:r>
            <a:endParaRPr sz="13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965200" y="6426200"/>
            <a:ext cx="9842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7A84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850" b="0">
              <a:solidFill>
                <a:srgbClr val="7A84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vision"/>
          <p:cNvSpPr>
            <a:spLocks noGrp="1"/>
          </p:cNvSpPr>
          <p:nvPr/>
        </p:nvSpPr>
        <p:spPr>
          <a:xfrm>
            <a:off x="889000" y="349250"/>
            <a:ext cx="8001000" cy="1047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4" name="revision-text"/>
          <p:cNvSpPr>
            <a:spLocks noGrp="1"/>
          </p:cNvSpPr>
          <p:nvPr/>
        </p:nvSpPr>
        <p:spPr>
          <a:xfrm>
            <a:off x="965200" y="444500"/>
            <a:ext cx="7810500" cy="52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总结、展望与参考文献</a:t>
            </a:r>
            <a:endParaRPr sz="235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vision-text"/>
          <p:cNvSpPr>
            <a:spLocks noGrp="1"/>
          </p:cNvSpPr>
          <p:nvPr/>
        </p:nvSpPr>
        <p:spPr>
          <a:xfrm>
            <a:off x="977900" y="996950"/>
            <a:ext cx="711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CONCLUSION · OUTLOOK · REFERENCES</a:t>
            </a:r>
            <a:endParaRPr sz="105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vision"/>
          <p:cNvSpPr>
            <a:spLocks noGrp="1"/>
          </p:cNvSpPr>
          <p:nvPr/>
        </p:nvSpPr>
        <p:spPr>
          <a:xfrm>
            <a:off x="762000" y="1587500"/>
            <a:ext cx="10858500" cy="4572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revision-panel"/>
          <p:cNvSpPr>
            <a:spLocks noGrp="1"/>
          </p:cNvSpPr>
          <p:nvPr/>
        </p:nvSpPr>
        <p:spPr>
          <a:xfrm>
            <a:off x="952500" y="1809750"/>
            <a:ext cx="4826000" cy="1651000"/>
          </a:xfrm>
          <a:prstGeom prst="roundRect">
            <a:avLst>
              <a:gd name="adj" fmla="val 4615"/>
            </a:avLst>
          </a:prstGeom>
          <a:solidFill>
            <a:srgbClr val="F5F8FD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revision"/>
          <p:cNvSpPr>
            <a:spLocks noGrp="1"/>
          </p:cNvSpPr>
          <p:nvPr/>
        </p:nvSpPr>
        <p:spPr>
          <a:xfrm>
            <a:off x="952500" y="1809750"/>
            <a:ext cx="76200" cy="1651000"/>
          </a:xfrm>
          <a:prstGeom prst="rect">
            <a:avLst/>
          </a:prstGeom>
          <a:solidFill>
            <a:srgbClr val="1C4792"/>
          </a:solidFill>
          <a:ln w="0">
            <a:solidFill>
              <a:srgbClr val="1C4792"/>
            </a:solidFill>
            <a:prstDash val="solid"/>
          </a:ln>
        </p:spPr>
      </p:sp>
      <p:sp>
        <p:nvSpPr>
          <p:cNvPr id="29" name="revision-text"/>
          <p:cNvSpPr>
            <a:spLocks noGrp="1"/>
          </p:cNvSpPr>
          <p:nvPr/>
        </p:nvSpPr>
        <p:spPr>
          <a:xfrm>
            <a:off x="1143000" y="1936750"/>
            <a:ext cx="4476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vision-text"/>
          <p:cNvSpPr>
            <a:spLocks noGrp="1"/>
          </p:cNvSpPr>
          <p:nvPr/>
        </p:nvSpPr>
        <p:spPr>
          <a:xfrm>
            <a:off x="1143000" y="2368550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运动状态通过 F / G 改写 P 与 K；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高速巡航和加速/转弯是高风险窗口；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MSAF 将机理分析转化为可执行的运动感知攻击。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vision-panel"/>
          <p:cNvSpPr>
            <a:spLocks noGrp="1"/>
          </p:cNvSpPr>
          <p:nvPr/>
        </p:nvSpPr>
        <p:spPr>
          <a:xfrm>
            <a:off x="952500" y="3714750"/>
            <a:ext cx="4826000" cy="1905000"/>
          </a:xfrm>
          <a:prstGeom prst="roundRect">
            <a:avLst>
              <a:gd name="adj" fmla="val 4000"/>
            </a:avLst>
          </a:prstGeom>
          <a:solidFill>
            <a:srgbClr val="E7F5F0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revision"/>
          <p:cNvSpPr>
            <a:spLocks noGrp="1"/>
          </p:cNvSpPr>
          <p:nvPr/>
        </p:nvSpPr>
        <p:spPr>
          <a:xfrm>
            <a:off x="952500" y="3714750"/>
            <a:ext cx="76200" cy="1905000"/>
          </a:xfrm>
          <a:prstGeom prst="rect">
            <a:avLst/>
          </a:prstGeom>
          <a:solidFill>
            <a:srgbClr val="1C8C6A"/>
          </a:solidFill>
          <a:ln w="0">
            <a:solidFill>
              <a:srgbClr val="1C8C6A"/>
            </a:solidFill>
            <a:prstDash val="solid"/>
          </a:ln>
        </p:spPr>
      </p:sp>
      <p:sp>
        <p:nvSpPr>
          <p:cNvPr id="33" name="revision-text"/>
          <p:cNvSpPr>
            <a:spLocks noGrp="1"/>
          </p:cNvSpPr>
          <p:nvPr/>
        </p:nvSpPr>
        <p:spPr>
          <a:xfrm>
            <a:off x="1143000" y="3841750"/>
            <a:ext cx="4476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展望与防御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vision-text"/>
          <p:cNvSpPr>
            <a:spLocks noGrp="1"/>
          </p:cNvSpPr>
          <p:nvPr/>
        </p:nvSpPr>
        <p:spPr>
          <a:xfrm>
            <a:off x="1143000" y="4273550"/>
            <a:ext cx="4476750" cy="120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联合监测 Kalman 增益、创新项和 LiDAR–GPS 残差；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加入运动状态条件化的门限与权重约束；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在更多天气、道路和车型上验证迁移性，并研究实时检测与恢复。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vision-panel"/>
          <p:cNvSpPr>
            <a:spLocks noGrp="1"/>
          </p:cNvSpPr>
          <p:nvPr/>
        </p:nvSpPr>
        <p:spPr>
          <a:xfrm>
            <a:off x="6159500" y="1809750"/>
            <a:ext cx="5080000" cy="27305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revision"/>
          <p:cNvSpPr>
            <a:spLocks noGrp="1"/>
          </p:cNvSpPr>
          <p:nvPr/>
        </p:nvSpPr>
        <p:spPr>
          <a:xfrm>
            <a:off x="6159500" y="1809750"/>
            <a:ext cx="76200" cy="273050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</p:sp>
      <p:sp>
        <p:nvSpPr>
          <p:cNvPr id="37" name="revision-text"/>
          <p:cNvSpPr>
            <a:spLocks noGrp="1"/>
          </p:cNvSpPr>
          <p:nvPr/>
        </p:nvSpPr>
        <p:spPr>
          <a:xfrm>
            <a:off x="6350000" y="1936750"/>
            <a:ext cx="4730750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核心参考文献</a:t>
            </a:r>
            <a:endParaRPr sz="15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vision-text"/>
          <p:cNvSpPr>
            <a:spLocks noGrp="1"/>
          </p:cNvSpPr>
          <p:nvPr/>
        </p:nvSpPr>
        <p:spPr>
          <a:xfrm>
            <a:off x="6350000" y="2368550"/>
            <a:ext cx="4730750" cy="203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Zhang et al. The Ghost Navigator. USENIX Security, 2025.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论文引用的 ESKF / 组合导航基础文献。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FusionRipper：论文引用的两阶段 GPS 欺骗工作。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pPr algn="l">
              <a:def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论文引用的 PWCS / SVD 可观测性分析文献。</a:t>
            </a:r>
            <a:endParaRPr sz="120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vision-panel"/>
          <p:cNvSpPr>
            <a:spLocks noGrp="1"/>
          </p:cNvSpPr>
          <p:nvPr/>
        </p:nvSpPr>
        <p:spPr>
          <a:xfrm>
            <a:off x="6159500" y="4667250"/>
            <a:ext cx="5080000" cy="1079500"/>
          </a:xfrm>
          <a:prstGeom prst="roundRect">
            <a:avLst>
              <a:gd name="adj" fmla="val 7059"/>
            </a:avLst>
          </a:prstGeom>
          <a:solidFill>
            <a:srgbClr val="FFF7E7"/>
          </a:solidFill>
          <a:ln w="7620">
            <a:solidFill>
              <a:srgbClr val="D5DF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revision"/>
          <p:cNvSpPr>
            <a:spLocks noGrp="1"/>
          </p:cNvSpPr>
          <p:nvPr/>
        </p:nvSpPr>
        <p:spPr>
          <a:xfrm>
            <a:off x="6159500" y="4667250"/>
            <a:ext cx="76200" cy="1079500"/>
          </a:xfrm>
          <a:prstGeom prst="rect">
            <a:avLst/>
          </a:prstGeom>
          <a:solidFill>
            <a:srgbClr val="F4A340"/>
          </a:solidFill>
          <a:ln w="0">
            <a:solidFill>
              <a:srgbClr val="F4A340"/>
            </a:solidFill>
            <a:prstDash val="solid"/>
          </a:ln>
        </p:spPr>
      </p:sp>
      <p:sp>
        <p:nvSpPr>
          <p:cNvPr id="41" name="revision-text"/>
          <p:cNvSpPr>
            <a:spLocks noGrp="1"/>
          </p:cNvSpPr>
          <p:nvPr/>
        </p:nvSpPr>
        <p:spPr>
          <a:xfrm>
            <a:off x="6350000" y="4794250"/>
            <a:ext cx="463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实验边界</a:t>
            </a:r>
            <a:endParaRPr sz="14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vision-text"/>
          <p:cNvSpPr>
            <a:spLocks noGrp="1"/>
          </p:cNvSpPr>
          <p:nvPr/>
        </p:nvSpPr>
        <p:spPr>
          <a:xfrm>
            <a:off x="6350000" y="5175250"/>
            <a:ext cx="463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03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论文未实施实频 GPS 欺骗，信号注入为软件级；实车速度受平台限制。</a:t>
            </a:r>
            <a:endParaRPr sz="1050" b="0">
              <a:solidFill>
                <a:srgbClr val="303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C54"/>
            </a:gs>
            <a:gs pos="75000">
              <a:srgbClr val="1C4792"/>
            </a:gs>
            <a:gs pos="100000">
              <a:srgbClr val="315EA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571500" y="1555750"/>
            <a:ext cx="4572000" cy="73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603250" y="2393950"/>
            <a:ext cx="2540000" cy="44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00" b="1">
                <a:solidFill>
                  <a:srgbClr val="C8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C8D8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2000" b="1">
              <a:solidFill>
                <a:srgbClr val="C8D8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6318250"/>
            <a:ext cx="12192000" cy="539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571500" y="6426200"/>
            <a:ext cx="5397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Ghost Navigator · USENIX Security 2025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6350000" y="6426200"/>
            <a:ext cx="52070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1C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定位安全的盲点，不在静态精度，而在动态权重。</a:t>
            </a:r>
            <a:endParaRPr sz="1200" b="1">
              <a:solidFill>
                <a:srgbClr val="001C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3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4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5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6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7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8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9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0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1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2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3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4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5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6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7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8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19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0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1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2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3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ags/tag24.xml><?xml version="1.0" encoding="utf-8"?>
<p:tagLst xmlns:p="http://schemas.openxmlformats.org/presentationml/2006/main">
  <p:tag name="KSO_WM_DIAGRAM_VIRTUALLY_FRAME" val="{&quot;height&quot;:304,&quot;left&quot;:68.5,&quot;top&quot;:138.5,&quot;width&quot;:83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6517</Words>
  <Application>WPS 演示</Application>
  <PresentationFormat>Converted Presentation</PresentationFormat>
  <Paragraphs>893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Cambria Math</vt:lpstr>
      <vt:lpstr>Arial Unicode MS</vt:lpstr>
      <vt:lpstr>Calibri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北氢®</cp:lastModifiedBy>
  <cp:revision>2</cp:revision>
  <dcterms:created xsi:type="dcterms:W3CDTF">2026-10-03T02:48:19Z</dcterms:created>
  <dcterms:modified xsi:type="dcterms:W3CDTF">2026-10-03T03:29:40Z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3D5AA56496D04A6596A3B016E1AC2BD7_13</vt:lpwstr>
  </property>
</Properties>
</file>