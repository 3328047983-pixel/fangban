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72" r:id="rId4"/>
  </p:sldMasterIdLst>
  <p:notesMasterIdLst>
    <p:notesMasterId r:id="rId28"/>
  </p:notesMasterIdLst>
  <p:handoutMasterIdLst>
    <p:handoutMasterId r:id="rId29"/>
  </p:handoutMasterIdLst>
  <p:sldIdLst>
    <p:sldId id="297" r:id="rId5"/>
    <p:sldId id="298" r:id="rId6"/>
    <p:sldId id="299" r:id="rId7"/>
    <p:sldId id="300" r:id="rId8"/>
    <p:sldId id="422" r:id="rId9"/>
    <p:sldId id="423" r:id="rId10"/>
    <p:sldId id="335" r:id="rId11"/>
    <p:sldId id="424" r:id="rId12"/>
    <p:sldId id="425" r:id="rId13"/>
    <p:sldId id="436" r:id="rId14"/>
    <p:sldId id="349" r:id="rId15"/>
    <p:sldId id="426" r:id="rId16"/>
    <p:sldId id="435" r:id="rId17"/>
    <p:sldId id="427" r:id="rId18"/>
    <p:sldId id="428" r:id="rId19"/>
    <p:sldId id="429" r:id="rId20"/>
    <p:sldId id="353" r:id="rId21"/>
    <p:sldId id="430" r:id="rId22"/>
    <p:sldId id="431" r:id="rId23"/>
    <p:sldId id="432" r:id="rId24"/>
    <p:sldId id="433" r:id="rId25"/>
    <p:sldId id="434" r:id="rId26"/>
    <p:sldId id="354" r:id="rId27"/>
  </p:sldIdLst>
  <p:sldSz cx="12192000" cy="6858000"/>
  <p:notesSz cx="6858000" cy="9144000"/>
  <p:embeddedFontLst>
    <p:embeddedFont>
      <p:font typeface="MiSans Bold" panose="00000800000000000000" charset="-122"/>
      <p:bold r:id="rId33"/>
    </p:embeddedFont>
    <p:embeddedFont>
      <p:font typeface="微软雅黑" panose="020B0503020204020204" charset="-122"/>
      <p:regular r:id="rId34"/>
      <p:bold r:id="rId35"/>
    </p:embeddedFont>
    <p:embeddedFont>
      <p:font typeface="方正风雅楷宋简体 Medium" panose="02000600000000000000" charset="-122"/>
      <p:regular r:id="rId36"/>
    </p:embeddedFont>
    <p:embeddedFont>
      <p:font typeface="Broadway" panose="04040905080B02020502" charset="0"/>
      <p:regular r:id="rId37"/>
    </p:embeddedFont>
    <p:embeddedFont>
      <p:font typeface="思源宋体 CN" panose="02020400000000000000" charset="-122"/>
      <p:regular r:id="rId38"/>
    </p:embeddedFont>
    <p:embeddedFont>
      <p:font typeface="Bodoni MT Black" panose="02070A03080606020203" charset="0"/>
      <p:bold r:id="rId39"/>
    </p:embeddedFont>
    <p:embeddedFont>
      <p:font typeface="指尖隶书体" panose="02010600010101010101" charset="-122"/>
      <p:regular r:id="rId40"/>
    </p:embeddedFont>
  </p:embeddedFontLst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0CB"/>
    <a:srgbClr val="0D68D9"/>
    <a:srgbClr val="1954A5"/>
    <a:srgbClr val="A0C2F1"/>
    <a:srgbClr val="C6DBF7"/>
    <a:srgbClr val="67A1E9"/>
    <a:srgbClr val="DDE9FA"/>
    <a:srgbClr val="8AB5EE"/>
    <a:srgbClr val="1954F9"/>
    <a:srgbClr val="268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>
        <p:scale>
          <a:sx n="106" d="100"/>
          <a:sy n="106" d="100"/>
        </p:scale>
        <p:origin x="2514" y="1248"/>
      </p:cViewPr>
      <p:guideLst>
        <p:guide orient="horz" pos="225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1" Type="http://schemas.openxmlformats.org/officeDocument/2006/relationships/tags" Target="tags/tag325.xml"/><Relationship Id="rId40" Type="http://schemas.openxmlformats.org/officeDocument/2006/relationships/font" Target="fonts/font8.fntdata"/><Relationship Id="rId4" Type="http://schemas.openxmlformats.org/officeDocument/2006/relationships/slideMaster" Target="slideMasters/slideMaster3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00"/>
              <a:t>各检测器 / MOT 的平均攻击成功率 (%)</a:t>
            </a:r>
            <a:endParaRPr sz="160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 ASR (%)</c:v>
                </c:pt>
              </c:strCache>
            </c:strRef>
          </c:tx>
          <c:spPr>
            <a:solidFill>
              <a:srgbClr val="4370CB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ApoD</c:v>
                </c:pt>
                <c:pt idx="1">
                  <c:v>YOLOv3</c:v>
                </c:pt>
                <c:pt idx="2">
                  <c:v>YOLOv5</c:v>
                </c:pt>
                <c:pt idx="3">
                  <c:v>YOLOX</c:v>
                </c:pt>
                <c:pt idx="4">
                  <c:v>ApoT</c:v>
                </c:pt>
                <c:pt idx="5">
                  <c:v>BoT-SORT</c:v>
                </c:pt>
                <c:pt idx="6">
                  <c:v>ByteTrack</c:v>
                </c:pt>
                <c:pt idx="7">
                  <c:v>StrongSORT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97.6</c:v>
                </c:pt>
                <c:pt idx="1">
                  <c:v>100</c:v>
                </c:pt>
                <c:pt idx="2">
                  <c:v>100</c:v>
                </c:pt>
                <c:pt idx="3">
                  <c:v>95.1</c:v>
                </c:pt>
                <c:pt idx="4">
                  <c:v>96.9</c:v>
                </c:pt>
                <c:pt idx="5">
                  <c:v>98.8</c:v>
                </c:pt>
                <c:pt idx="6">
                  <c:v>99.4</c:v>
                </c:pt>
                <c:pt idx="7">
                  <c:v>97.5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90"/>
        </c:scaling>
        <c:delete val="0"/>
        <c:axPos val="l"/>
        <c:majorGridlines>
          <c:spPr>
            <a:ln w="6350" cap="flat" cmpd="sng" algn="ctr">
              <a:solidFill>
                <a:srgbClr val="C6DBF7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8d05eab-1873-4bfb-bb35-8e29c83b73a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/>
              <a:t>物理世界平均 ASR (%)</a:t>
            </a:r>
            <a:endParaRPr sz="180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ControlLoc</c:v>
                </c:pt>
              </c:strCache>
            </c:strRef>
          </c:tx>
          <c:spPr>
            <a:solidFill>
              <a:srgbClr val="1954A5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晴天</c:v>
                </c:pt>
                <c:pt idx="1">
                  <c:v>阴天</c:v>
                </c:pt>
                <c:pt idx="2">
                  <c:v>夜晚</c:v>
                </c:pt>
                <c:pt idx="3">
                  <c:v>总体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</c:v>
                </c:pt>
                <c:pt idx="1">
                  <c:v>87</c:v>
                </c:pt>
                <c:pt idx="2">
                  <c:v>73</c:v>
                </c:pt>
                <c:pt idx="3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基线[25]</c:v>
                </c:pt>
              </c:strCache>
            </c:strRef>
          </c:tx>
          <c:spPr>
            <a:solidFill>
              <a:srgbClr val="A0A8B5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晴天</c:v>
                </c:pt>
                <c:pt idx="1">
                  <c:v>阴天</c:v>
                </c:pt>
                <c:pt idx="2">
                  <c:v>夜晚</c:v>
                </c:pt>
                <c:pt idx="3">
                  <c:v>总体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C6DBF7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23417f-9636-40da-8264-57ba78f0d24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Bold" panose="00000800000000000000" charset="-122"/>
              <a:ea typeface="MiSans Bold" panose="0000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Bold" panose="00000800000000000000" charset="-122"/>
              </a:rPr>
            </a:fld>
            <a:endParaRPr lang="zh-CN" altLang="en-US">
              <a:latin typeface="MiSans Bold" panose="0000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Bold" panose="00000800000000000000" charset="-122"/>
              <a:ea typeface="MiSans Bold" panose="0000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Bold" panose="00000800000000000000" charset="-122"/>
              </a:rPr>
            </a:fld>
            <a:endParaRPr lang="zh-CN" altLang="en-US">
              <a:latin typeface="MiSans Bold" panose="0000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Bold" panose="00000800000000000000" charset="-122"/>
                <a:ea typeface="MiSans Bold" panose="0000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Bold" panose="00000800000000000000" charset="-122"/>
                <a:ea typeface="MiSans Bold" panose="000008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Bold" panose="00000800000000000000" charset="-122"/>
                <a:ea typeface="MiSans Bold" panose="0000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Bold" panose="00000800000000000000" charset="-122"/>
                <a:ea typeface="MiSans Bold" panose="000008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Bold" panose="00000800000000000000" charset="-122"/>
        <a:ea typeface="MiSans Bold" panose="000008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Bold" panose="00000800000000000000" charset="-122"/>
        <a:ea typeface="MiSans Bold" panose="000008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Bold" panose="00000800000000000000" charset="-122"/>
        <a:ea typeface="MiSans Bold" panose="000008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Bold" panose="00000800000000000000" charset="-122"/>
        <a:ea typeface="MiSans Bold" panose="000008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Bold" panose="00000800000000000000" charset="-122"/>
        <a:ea typeface="MiSans Bold" panose="000008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MiSans Bold" panose="000008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MiSans Bold" panose="000008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MiSans Bold" panose="0000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MiSans Bold" panose="00000800000000000000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MiSans Bold" panose="000008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MiSans Bold" panose="000008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MiSans Bold" panose="0000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MiSans Bold" panose="00000800000000000000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MiSans Bold" panose="000008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image" Target="../media/image2.png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0" Type="http://schemas.openxmlformats.org/officeDocument/2006/relationships/slideLayout" Target="../slideLayouts/slideLayout13.xml"/><Relationship Id="rId3" Type="http://schemas.openxmlformats.org/officeDocument/2006/relationships/tags" Target="../tags/tag143.xml"/><Relationship Id="rId29" Type="http://schemas.openxmlformats.org/officeDocument/2006/relationships/tags" Target="../tags/tag168.xml"/><Relationship Id="rId28" Type="http://schemas.openxmlformats.org/officeDocument/2006/relationships/image" Target="../media/image3.png"/><Relationship Id="rId27" Type="http://schemas.openxmlformats.org/officeDocument/2006/relationships/tags" Target="../tags/tag167.xml"/><Relationship Id="rId26" Type="http://schemas.openxmlformats.org/officeDocument/2006/relationships/tags" Target="../tags/tag166.xml"/><Relationship Id="rId25" Type="http://schemas.openxmlformats.org/officeDocument/2006/relationships/tags" Target="../tags/tag165.xml"/><Relationship Id="rId24" Type="http://schemas.openxmlformats.org/officeDocument/2006/relationships/tags" Target="../tags/tag164.xml"/><Relationship Id="rId23" Type="http://schemas.openxmlformats.org/officeDocument/2006/relationships/tags" Target="../tags/tag163.xml"/><Relationship Id="rId22" Type="http://schemas.openxmlformats.org/officeDocument/2006/relationships/tags" Target="../tags/tag162.xml"/><Relationship Id="rId21" Type="http://schemas.openxmlformats.org/officeDocument/2006/relationships/tags" Target="../tags/tag161.xml"/><Relationship Id="rId20" Type="http://schemas.openxmlformats.org/officeDocument/2006/relationships/tags" Target="../tags/tag160.xml"/><Relationship Id="rId2" Type="http://schemas.openxmlformats.org/officeDocument/2006/relationships/tags" Target="../tags/tag142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tags" Target="../tags/tag157.xml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4.jpe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image" Target="../media/image2.png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image" Target="../media/image2.png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image" Target="../media/image2.png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image" Target="../media/image4.jpeg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image" Target="../media/image2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206.xml"/><Relationship Id="rId7" Type="http://schemas.openxmlformats.org/officeDocument/2006/relationships/image" Target="../media/image5.png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image" Target="../media/image2.png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image" Target="../media/image2.png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image" Target="../media/image4.jpeg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222.xml"/><Relationship Id="rId7" Type="http://schemas.openxmlformats.org/officeDocument/2006/relationships/image" Target="../media/image6.png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image" Target="../media/image2.png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image" Target="../media/image2.png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image" Target="../media/image2.png"/><Relationship Id="rId2" Type="http://schemas.openxmlformats.org/officeDocument/2006/relationships/tags" Target="../tags/tag230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tags" Target="../tags/tag240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image" Target="../media/image2.png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image" Target="../media/image2.png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image" Target="../media/image4.jpeg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image" Target="../media/image2.png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image" Target="../media/image2.png"/><Relationship Id="rId3" Type="http://schemas.openxmlformats.org/officeDocument/2006/relationships/tags" Target="../tags/tag272.xml"/><Relationship Id="rId21" Type="http://schemas.openxmlformats.org/officeDocument/2006/relationships/slideLayout" Target="../slideLayouts/slideLayout13.xml"/><Relationship Id="rId20" Type="http://schemas.openxmlformats.org/officeDocument/2006/relationships/tags" Target="../tags/tag288.xml"/><Relationship Id="rId2" Type="http://schemas.openxmlformats.org/officeDocument/2006/relationships/tags" Target="../tags/tag271.xml"/><Relationship Id="rId19" Type="http://schemas.openxmlformats.org/officeDocument/2006/relationships/tags" Target="../tags/tag287.xml"/><Relationship Id="rId18" Type="http://schemas.openxmlformats.org/officeDocument/2006/relationships/tags" Target="../tags/tag286.xml"/><Relationship Id="rId17" Type="http://schemas.openxmlformats.org/officeDocument/2006/relationships/tags" Target="../tags/tag285.xml"/><Relationship Id="rId16" Type="http://schemas.openxmlformats.org/officeDocument/2006/relationships/tags" Target="../tags/tag284.xml"/><Relationship Id="rId15" Type="http://schemas.openxmlformats.org/officeDocument/2006/relationships/tags" Target="../tags/tag283.xml"/><Relationship Id="rId14" Type="http://schemas.openxmlformats.org/officeDocument/2006/relationships/tags" Target="../tags/tag282.xml"/><Relationship Id="rId13" Type="http://schemas.openxmlformats.org/officeDocument/2006/relationships/tags" Target="../tags/tag281.xml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image" Target="../media/image2.png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image" Target="../media/image2.png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image" Target="../media/image2.png"/><Relationship Id="rId20" Type="http://schemas.openxmlformats.org/officeDocument/2006/relationships/slideLayout" Target="../slideLayouts/slideLayout13.xml"/><Relationship Id="rId2" Type="http://schemas.openxmlformats.org/officeDocument/2006/relationships/tags" Target="../tags/tag302.xml"/><Relationship Id="rId19" Type="http://schemas.openxmlformats.org/officeDocument/2006/relationships/tags" Target="../tags/tag318.xml"/><Relationship Id="rId18" Type="http://schemas.openxmlformats.org/officeDocument/2006/relationships/tags" Target="../tags/tag317.xml"/><Relationship Id="rId17" Type="http://schemas.openxmlformats.org/officeDocument/2006/relationships/tags" Target="../tags/tag316.xml"/><Relationship Id="rId16" Type="http://schemas.openxmlformats.org/officeDocument/2006/relationships/tags" Target="../tags/tag315.xml"/><Relationship Id="rId15" Type="http://schemas.openxmlformats.org/officeDocument/2006/relationships/tags" Target="../tags/tag314.xml"/><Relationship Id="rId14" Type="http://schemas.openxmlformats.org/officeDocument/2006/relationships/tags" Target="../tags/tag313.xml"/><Relationship Id="rId13" Type="http://schemas.openxmlformats.org/officeDocument/2006/relationships/tags" Target="../tags/tag312.xml"/><Relationship Id="rId12" Type="http://schemas.openxmlformats.org/officeDocument/2006/relationships/tags" Target="../tags/tag311.xml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image" Target="../media/image2.png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Desktop/北交2.jpg北交2"/>
          <p:cNvPicPr>
            <a:picLocks noChangeAspect="1"/>
          </p:cNvPicPr>
          <p:nvPr/>
        </p:nvPicPr>
        <p:blipFill>
          <a:blip r:embed="rId1"/>
          <a:srcRect l="23734" r="3556" b="14407"/>
          <a:stretch>
            <a:fillRect/>
          </a:stretch>
        </p:blipFill>
        <p:spPr>
          <a:xfrm>
            <a:off x="0" y="0"/>
            <a:ext cx="8775065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9525" y="-18415"/>
            <a:ext cx="12182475" cy="6876415"/>
          </a:xfrm>
          <a:prstGeom prst="rect">
            <a:avLst/>
          </a:prstGeom>
          <a:gradFill>
            <a:gsLst>
              <a:gs pos="30000">
                <a:srgbClr val="1954A5"/>
              </a:gs>
              <a:gs pos="30000">
                <a:srgbClr val="1954A5"/>
              </a:gs>
              <a:gs pos="100000">
                <a:schemeClr val="accent1">
                  <a:alpha val="0"/>
                </a:schemeClr>
              </a:gs>
            </a:gsLst>
            <a:lin ang="97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0880" y="1785938"/>
            <a:ext cx="10820400" cy="30200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 fontAlgn="ctr">
              <a:lnSpc>
                <a:spcPct val="140000"/>
              </a:lnSpc>
            </a:pPr>
            <a:r>
              <a:rPr lang="zh-CN" altLang="en-US" sz="32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  <a:sym typeface="+mn-ea"/>
              </a:rPr>
              <a:t>ControlLoc: Physical-World Hijacking Attack on Camera-based Perception in Autonomous Driving</a:t>
            </a:r>
            <a:endParaRPr lang="zh-CN" altLang="en-US" sz="6600">
              <a:solidFill>
                <a:schemeClr val="lt1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  <a:sym typeface="+mn-ea"/>
            </a:endParaRPr>
          </a:p>
          <a:p>
            <a:pPr algn="r" fontAlgn="ctr">
              <a:lnSpc>
                <a:spcPct val="140000"/>
              </a:lnSpc>
            </a:pPr>
            <a:r>
              <a:rPr lang="zh-CN" altLang="en-US" sz="36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  <a:sym typeface="+mn-ea"/>
              </a:rPr>
              <a:t>ControlLoc：面向自动驾驶视觉感知的物理世界劫持攻击</a:t>
            </a:r>
            <a:endParaRPr lang="zh-CN" altLang="en-US" sz="6600">
              <a:solidFill>
                <a:schemeClr val="lt1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8433435" y="5838825"/>
            <a:ext cx="307784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 fontAlgn="ctr">
              <a:lnSpc>
                <a:spcPct val="100000"/>
              </a:lnSpc>
            </a:pPr>
            <a:r>
              <a:rPr lang="zh-CN" altLang="en-US" sz="24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2026年10月</a:t>
            </a:r>
            <a:r>
              <a:rPr lang="en-US" altLang="zh-CN" sz="24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11</a:t>
            </a:r>
            <a:r>
              <a:rPr lang="zh-CN" altLang="en-US" sz="24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日</a:t>
            </a:r>
            <a:endParaRPr lang="zh-CN" altLang="en-US" sz="2400">
              <a:solidFill>
                <a:schemeClr val="lt1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037195" y="4916488"/>
            <a:ext cx="3418840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457200" lvl="1" indent="457200" algn="r" fontAlgn="ctr">
              <a:lnSpc>
                <a:spcPct val="120000"/>
              </a:lnSpc>
            </a:pP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汇报人：</a:t>
            </a: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陈周涵</a:t>
            </a:r>
            <a:endParaRPr lang="zh-CN" altLang="en-US" sz="2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MiSans Bold" panose="00000800000000000000" charset="-122"/>
              <a:sym typeface="方正风雅楷宋简体 Medium" panose="02000600000000000000" charset="-122"/>
            </a:endParaRPr>
          </a:p>
          <a:p>
            <a:pPr marL="457200" lvl="1" indent="457200" algn="r" fontAlgn="ctr">
              <a:lnSpc>
                <a:spcPct val="120000"/>
              </a:lnSpc>
            </a:pP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指导老师：</a:t>
            </a: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牛温佳</a:t>
            </a:r>
            <a:endParaRPr lang="zh-CN" altLang="en-US" sz="2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MiSans Bold" panose="00000800000000000000" charset="-122"/>
              <a:sym typeface="方正风雅楷宋简体 Medium" panose="020006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5"/>
            </p:custDataLst>
          </p:nvPr>
        </p:nvPicPr>
        <p:blipFill>
          <a:blip r:embed="rId6">
            <a:biLevel thresh="50000"/>
            <a:lum bright="100000" contrast="6000"/>
          </a:blip>
          <a:stretch>
            <a:fillRect/>
          </a:stretch>
        </p:blipFill>
        <p:spPr>
          <a:xfrm>
            <a:off x="8181340" y="875030"/>
            <a:ext cx="3274695" cy="891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半闭框 8"/>
          <p:cNvSpPr/>
          <p:nvPr/>
        </p:nvSpPr>
        <p:spPr>
          <a:xfrm rot="5400000">
            <a:off x="11163935" y="264160"/>
            <a:ext cx="653415" cy="719455"/>
          </a:xfrm>
          <a:prstGeom prst="halfFrame">
            <a:avLst>
              <a:gd name="adj1" fmla="val 2437"/>
              <a:gd name="adj2" fmla="val 1886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半闭框 9"/>
          <p:cNvSpPr/>
          <p:nvPr>
            <p:custDataLst>
              <p:tags r:id="rId7"/>
            </p:custDataLst>
          </p:nvPr>
        </p:nvSpPr>
        <p:spPr>
          <a:xfrm rot="16200000">
            <a:off x="349250" y="5912485"/>
            <a:ext cx="653415" cy="719455"/>
          </a:xfrm>
          <a:prstGeom prst="halfFrame">
            <a:avLst>
              <a:gd name="adj1" fmla="val 2437"/>
              <a:gd name="adj2" fmla="val 1886"/>
            </a:avLst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94944" y="4343400"/>
            <a:ext cx="73152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Chen Ma, Ningfei Wang, Zhengyu Zhao, Qian Wang, Qi Alfred Chen, Chao Shen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Xi'an Jiaotong University · UC Irvine · Wuhan University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ACM CCS 2025（Taipei）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796665" y="2927350"/>
            <a:ext cx="8280000" cy="298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600">
                <a:solidFill>
                  <a:srgbClr val="596A89">
                    <a:alpha val="33000"/>
                  </a:srgbClr>
                </a:solidFill>
                <a:latin typeface="Broadway" panose="04040905080B02020502" charset="0"/>
                <a:cs typeface="Broadway" panose="04040905080B02020502" charset="0"/>
              </a:rPr>
              <a:t>ontent</a:t>
            </a:r>
            <a:endParaRPr lang="en-US" altLang="zh-CN" sz="16600">
              <a:solidFill>
                <a:srgbClr val="596A89">
                  <a:alpha val="33000"/>
                </a:srgbClr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3524885" cy="685927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805180"/>
            <a:ext cx="5426710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4400">
                <a:solidFill>
                  <a:srgbClr val="596A89"/>
                </a:solidFill>
                <a:latin typeface="Broadway" panose="04040905080B02020502" charset="0"/>
                <a:cs typeface="Broadway" panose="04040905080B02020502" charset="0"/>
              </a:rPr>
              <a:t>C</a:t>
            </a:r>
            <a:endParaRPr lang="en-US" altLang="zh-CN" sz="34400">
              <a:solidFill>
                <a:srgbClr val="596A89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48385" y="1734185"/>
            <a:ext cx="1290320" cy="3704590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pPr algn="ctr"/>
            <a:r>
              <a:rPr lang="zh-CN" altLang="en-US" sz="7200" spc="2000">
                <a:solidFill>
                  <a:srgbClr val="FFFFFF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目录</a:t>
            </a:r>
            <a:endParaRPr lang="zh-CN" altLang="en-US" sz="7200" spc="2000">
              <a:solidFill>
                <a:srgbClr val="FFFFFF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7478395" y="1473835"/>
            <a:ext cx="4008684" cy="1933575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  <a:effectLst>
            <a:outerShdw blurRad="304800" sx="102000" sy="102000" algn="ctr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147" name="组合 146"/>
          <p:cNvGrpSpPr/>
          <p:nvPr>
            <p:custDataLst>
              <p:tags r:id="rId4"/>
            </p:custDataLst>
          </p:nvPr>
        </p:nvGrpSpPr>
        <p:grpSpPr>
          <a:xfrm>
            <a:off x="3060700" y="1473835"/>
            <a:ext cx="4077263" cy="1933575"/>
            <a:chOff x="4809" y="2482"/>
            <a:chExt cx="6421" cy="3045"/>
          </a:xfrm>
        </p:grpSpPr>
        <p:sp>
          <p:nvSpPr>
            <p:cNvPr id="2" name="矩形 1"/>
            <p:cNvSpPr/>
            <p:nvPr>
              <p:custDataLst>
                <p:tags r:id="rId5"/>
              </p:custDataLst>
            </p:nvPr>
          </p:nvSpPr>
          <p:spPr>
            <a:xfrm>
              <a:off x="4832" y="2482"/>
              <a:ext cx="6313" cy="3045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>
              <a:noFill/>
            </a:ln>
            <a:effectLst>
              <a:outerShdw blurRad="304800" sx="102000" sy="102000" algn="ctr" rotWithShape="0">
                <a:schemeClr val="accent1"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895" y="2731"/>
              <a:ext cx="6335" cy="2303"/>
              <a:chOff x="11185" y="6972"/>
              <a:chExt cx="6156" cy="2303"/>
            </a:xfrm>
          </p:grpSpPr>
          <p:sp>
            <p:nvSpPr>
              <p:cNvPr id="14" name="文本框 1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935" y="7891"/>
                <a:ext cx="451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dk1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研究背景与问题</a:t>
                </a:r>
                <a:endParaRPr lang="zh-CN" altLang="en-US" sz="2800" dirty="0">
                  <a:solidFill>
                    <a:schemeClr val="dk1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3398" y="6972"/>
                <a:ext cx="1588" cy="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4000" spc="100">
                    <a:gradFill flip="none" rotWithShape="1">
                      <a:gsLst>
                        <a:gs pos="51304">
                          <a:srgbClr val="7AD1EF"/>
                        </a:gs>
                        <a:gs pos="17000">
                          <a:srgbClr val="3795FE"/>
                        </a:gs>
                        <a:gs pos="84000">
                          <a:srgbClr val="8DF8EA"/>
                        </a:gs>
                      </a:gsLst>
                      <a:lin ang="2700000" scaled="1"/>
                      <a:tileRect/>
                    </a:gradFill>
                    <a:latin typeface="汉仪雅酷黑 55W" panose="020B0504020202020204" pitchFamily="34" charset="-122"/>
                    <a:ea typeface="汉仪雅酷黑 55W" panose="020B0504020202020204" pitchFamily="34" charset="-122"/>
                  </a:defRPr>
                </a:lvl1pPr>
              </a:lstStyle>
              <a:p>
                <a:pPr algn="ctr"/>
                <a:r>
                  <a:rPr lang="en-US" altLang="zh-CN" sz="3200" dirty="0">
                    <a:solidFill>
                      <a:srgbClr val="1954A5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</a:rPr>
                  <a:t>01</a:t>
                </a:r>
                <a:endParaRPr lang="en-US" altLang="zh-CN" sz="3200" dirty="0">
                  <a:solidFill>
                    <a:srgbClr val="1954A5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8"/>
                </p:custDataLst>
              </p:nvPr>
            </p:nvSpPr>
            <p:spPr>
              <a:xfrm>
                <a:off x="11185" y="8623"/>
                <a:ext cx="6156" cy="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思源宋体 CN" panose="02020400000000000000" charset="-122"/>
                    <a:ea typeface="思源宋体 CN" panose="02020400000000000000" charset="-122"/>
                    <a:cs typeface="MiSans Bold" panose="00000800000000000000" charset="-122"/>
                    <a:sym typeface="+mn-ea"/>
                  </a:rPr>
                  <a:t>Topic 01</a:t>
                </a:r>
                <a:endParaRPr lang="en-US" altLang="zh-CN" sz="1400">
                  <a:solidFill>
                    <a:schemeClr val="dk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  <a:cs typeface="MiSans Bold" panose="00000800000000000000" charset="-122"/>
                  <a:sym typeface="+mn-ea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9"/>
              </p:custDataLst>
            </p:nvPr>
          </p:nvSpPr>
          <p:spPr>
            <a:xfrm>
              <a:off x="4809" y="5414"/>
              <a:ext cx="6357" cy="113"/>
            </a:xfrm>
            <a:prstGeom prst="rect">
              <a:avLst/>
            </a:prstGeom>
            <a:solidFill>
              <a:srgbClr val="195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156" name="组合 155"/>
          <p:cNvGrpSpPr/>
          <p:nvPr>
            <p:custDataLst>
              <p:tags r:id="rId10"/>
            </p:custDataLst>
          </p:nvPr>
        </p:nvGrpSpPr>
        <p:grpSpPr>
          <a:xfrm>
            <a:off x="7492365" y="1631950"/>
            <a:ext cx="4036695" cy="1775460"/>
            <a:chOff x="4832" y="2731"/>
            <a:chExt cx="6357" cy="2796"/>
          </a:xfrm>
          <a:solidFill>
            <a:schemeClr val="bg1">
              <a:alpha val="62000"/>
            </a:schemeClr>
          </a:solidFill>
        </p:grpSpPr>
        <p:grpSp>
          <p:nvGrpSpPr>
            <p:cNvPr id="159" name="组合 158"/>
            <p:cNvGrpSpPr/>
            <p:nvPr/>
          </p:nvGrpSpPr>
          <p:grpSpPr>
            <a:xfrm>
              <a:off x="4832" y="2731"/>
              <a:ext cx="6162" cy="2303"/>
              <a:chOff x="11124" y="6972"/>
              <a:chExt cx="5988" cy="2303"/>
            </a:xfrm>
            <a:grpFill/>
          </p:grpSpPr>
          <p:sp>
            <p:nvSpPr>
              <p:cNvPr id="160" name="文本框 15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124" y="7891"/>
                <a:ext cx="5988" cy="7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dk1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背景知识与基本原理</a:t>
                </a:r>
                <a:endParaRPr lang="zh-CN" altLang="en-US" sz="2800" dirty="0">
                  <a:solidFill>
                    <a:schemeClr val="dk1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61" name="文本框 16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3398" y="6972"/>
                <a:ext cx="1588" cy="9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4000" spc="100">
                    <a:gradFill flip="none" rotWithShape="1">
                      <a:gsLst>
                        <a:gs pos="51304">
                          <a:srgbClr val="7AD1EF"/>
                        </a:gs>
                        <a:gs pos="17000">
                          <a:srgbClr val="3795FE"/>
                        </a:gs>
                        <a:gs pos="84000">
                          <a:srgbClr val="8DF8EA"/>
                        </a:gs>
                      </a:gsLst>
                      <a:lin ang="2700000" scaled="1"/>
                      <a:tileRect/>
                    </a:gradFill>
                    <a:latin typeface="汉仪雅酷黑 55W" panose="020B0504020202020204" pitchFamily="34" charset="-122"/>
                    <a:ea typeface="汉仪雅酷黑 55W" panose="020B0504020202020204" pitchFamily="34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1954A5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02</a:t>
                </a:r>
                <a:endParaRPr lang="en-US" altLang="zh-CN" sz="3200" dirty="0">
                  <a:solidFill>
                    <a:srgbClr val="1954A5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62" name="矩形 161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935" y="8623"/>
                <a:ext cx="4514" cy="6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思源宋体 CN" panose="02020400000000000000" charset="-122"/>
                    <a:ea typeface="思源宋体 CN" panose="02020400000000000000" charset="-122"/>
                    <a:cs typeface="MiSans Bold" panose="00000800000000000000" charset="-122"/>
                    <a:sym typeface="+mn-ea"/>
                  </a:rPr>
                  <a:t>Topic 02</a:t>
                </a:r>
                <a:endParaRPr lang="en-US" altLang="zh-CN" sz="1400">
                  <a:solidFill>
                    <a:schemeClr val="dk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  <a:cs typeface="MiSans Bold" panose="00000800000000000000" charset="-122"/>
                  <a:sym typeface="+mn-ea"/>
                </a:endParaRPr>
              </a:p>
            </p:txBody>
          </p:sp>
        </p:grpSp>
        <p:sp>
          <p:nvSpPr>
            <p:cNvPr id="163" name="矩形 162"/>
            <p:cNvSpPr/>
            <p:nvPr>
              <p:custDataLst>
                <p:tags r:id="rId14"/>
              </p:custDataLst>
            </p:nvPr>
          </p:nvSpPr>
          <p:spPr>
            <a:xfrm>
              <a:off x="4832" y="5414"/>
              <a:ext cx="6357" cy="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164" name="组合 163"/>
          <p:cNvGrpSpPr/>
          <p:nvPr>
            <p:custDataLst>
              <p:tags r:id="rId15"/>
            </p:custDataLst>
          </p:nvPr>
        </p:nvGrpSpPr>
        <p:grpSpPr>
          <a:xfrm>
            <a:off x="3060065" y="3648710"/>
            <a:ext cx="4036695" cy="1933575"/>
            <a:chOff x="4809" y="2482"/>
            <a:chExt cx="6357" cy="3045"/>
          </a:xfrm>
        </p:grpSpPr>
        <p:sp>
          <p:nvSpPr>
            <p:cNvPr id="165" name="矩形 164"/>
            <p:cNvSpPr/>
            <p:nvPr>
              <p:custDataLst>
                <p:tags r:id="rId16"/>
              </p:custDataLst>
            </p:nvPr>
          </p:nvSpPr>
          <p:spPr>
            <a:xfrm>
              <a:off x="4832" y="2482"/>
              <a:ext cx="6313" cy="3045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>
              <a:noFill/>
            </a:ln>
            <a:effectLst>
              <a:outerShdw blurRad="304800" sx="102000" sy="102000" algn="ctr" rotWithShape="0">
                <a:schemeClr val="accent1"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67" name="组合 166"/>
            <p:cNvGrpSpPr/>
            <p:nvPr/>
          </p:nvGrpSpPr>
          <p:grpSpPr>
            <a:xfrm>
              <a:off x="5070" y="2731"/>
              <a:ext cx="5802" cy="2374"/>
              <a:chOff x="11355" y="6972"/>
              <a:chExt cx="5638" cy="2374"/>
            </a:xfrm>
          </p:grpSpPr>
          <p:sp>
            <p:nvSpPr>
              <p:cNvPr id="168" name="文本框 16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1355" y="7891"/>
                <a:ext cx="5638" cy="1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dk1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核心算法与实验方法</a:t>
                </a:r>
                <a:endParaRPr lang="zh-CN" altLang="en-US" sz="2800" dirty="0">
                  <a:solidFill>
                    <a:schemeClr val="dk1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69" name="文本框 16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3398" y="6972"/>
                <a:ext cx="1588" cy="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4000" spc="100">
                    <a:gradFill flip="none" rotWithShape="1">
                      <a:gsLst>
                        <a:gs pos="51304">
                          <a:srgbClr val="7AD1EF"/>
                        </a:gs>
                        <a:gs pos="17000">
                          <a:srgbClr val="3795FE"/>
                        </a:gs>
                        <a:gs pos="84000">
                          <a:srgbClr val="8DF8EA"/>
                        </a:gs>
                      </a:gsLst>
                      <a:lin ang="2700000" scaled="1"/>
                      <a:tileRect/>
                    </a:gradFill>
                    <a:latin typeface="汉仪雅酷黑 55W" panose="020B0504020202020204" pitchFamily="34" charset="-122"/>
                    <a:ea typeface="汉仪雅酷黑 55W" panose="020B0504020202020204" pitchFamily="34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1954A5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03</a:t>
                </a:r>
                <a:endParaRPr lang="en-US" altLang="zh-CN" sz="3200" dirty="0">
                  <a:solidFill>
                    <a:srgbClr val="1954A5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70" name="矩形 1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935" y="8623"/>
                <a:ext cx="4514" cy="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思源宋体 CN" panose="02020400000000000000" charset="-122"/>
                    <a:ea typeface="思源宋体 CN" panose="02020400000000000000" charset="-122"/>
                    <a:cs typeface="MiSans Bold" panose="00000800000000000000" charset="-122"/>
                    <a:sym typeface="+mn-ea"/>
                  </a:rPr>
                  <a:t>Topic 03</a:t>
                </a:r>
                <a:endParaRPr lang="en-US" altLang="zh-CN" sz="1400">
                  <a:solidFill>
                    <a:schemeClr val="dk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  <a:cs typeface="MiSans Bold" panose="00000800000000000000" charset="-122"/>
                  <a:sym typeface="+mn-ea"/>
                </a:endParaRPr>
              </a:p>
            </p:txBody>
          </p:sp>
        </p:grpSp>
        <p:sp>
          <p:nvSpPr>
            <p:cNvPr id="171" name="矩形 170"/>
            <p:cNvSpPr/>
            <p:nvPr>
              <p:custDataLst>
                <p:tags r:id="rId20"/>
              </p:custDataLst>
            </p:nvPr>
          </p:nvSpPr>
          <p:spPr>
            <a:xfrm>
              <a:off x="4809" y="5414"/>
              <a:ext cx="6357" cy="113"/>
            </a:xfrm>
            <a:prstGeom prst="rect">
              <a:avLst/>
            </a:prstGeom>
            <a:solidFill>
              <a:srgbClr val="195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172" name="组合 171"/>
          <p:cNvGrpSpPr/>
          <p:nvPr>
            <p:custDataLst>
              <p:tags r:id="rId21"/>
            </p:custDataLst>
          </p:nvPr>
        </p:nvGrpSpPr>
        <p:grpSpPr>
          <a:xfrm>
            <a:off x="7478395" y="3648710"/>
            <a:ext cx="4036695" cy="1933575"/>
            <a:chOff x="4809" y="2482"/>
            <a:chExt cx="6357" cy="3045"/>
          </a:xfrm>
        </p:grpSpPr>
        <p:sp>
          <p:nvSpPr>
            <p:cNvPr id="173" name="矩形 172"/>
            <p:cNvSpPr/>
            <p:nvPr>
              <p:custDataLst>
                <p:tags r:id="rId22"/>
              </p:custDataLst>
            </p:nvPr>
          </p:nvSpPr>
          <p:spPr>
            <a:xfrm>
              <a:off x="4832" y="2482"/>
              <a:ext cx="6313" cy="3045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>
              <a:noFill/>
            </a:ln>
            <a:effectLst>
              <a:outerShdw blurRad="304800" sx="102000" sy="102000" algn="ctr" rotWithShape="0">
                <a:schemeClr val="accent1"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75" name="组合 174"/>
            <p:cNvGrpSpPr/>
            <p:nvPr/>
          </p:nvGrpSpPr>
          <p:grpSpPr>
            <a:xfrm>
              <a:off x="5155" y="2731"/>
              <a:ext cx="5551" cy="2496"/>
              <a:chOff x="11437" y="6972"/>
              <a:chExt cx="5394" cy="2496"/>
            </a:xfrm>
          </p:grpSpPr>
          <p:sp>
            <p:nvSpPr>
              <p:cNvPr id="176" name="文本框 175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1437" y="7891"/>
                <a:ext cx="5394" cy="1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dk1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结果分析与总结展望</a:t>
                </a:r>
                <a:endParaRPr lang="zh-CN" altLang="en-US" sz="2800" dirty="0">
                  <a:solidFill>
                    <a:schemeClr val="dk1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77" name="文本框 176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3398" y="6972"/>
                <a:ext cx="1588" cy="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4000" spc="100">
                    <a:gradFill flip="none" rotWithShape="1">
                      <a:gsLst>
                        <a:gs pos="51304">
                          <a:srgbClr val="7AD1EF"/>
                        </a:gs>
                        <a:gs pos="17000">
                          <a:srgbClr val="3795FE"/>
                        </a:gs>
                        <a:gs pos="84000">
                          <a:srgbClr val="8DF8EA"/>
                        </a:gs>
                      </a:gsLst>
                      <a:lin ang="2700000" scaled="1"/>
                      <a:tileRect/>
                    </a:gradFill>
                    <a:latin typeface="汉仪雅酷黑 55W" panose="020B0504020202020204" pitchFamily="34" charset="-122"/>
                    <a:ea typeface="汉仪雅酷黑 55W" panose="020B0504020202020204" pitchFamily="34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1954A5"/>
                    </a:solidFill>
                    <a:latin typeface="MiSans Bold" panose="00000800000000000000" charset="-122"/>
                    <a:ea typeface="MiSans Bold" panose="00000800000000000000" charset="-122"/>
                    <a:cs typeface="MiSans Bold" panose="00000800000000000000" charset="-122"/>
                    <a:sym typeface="+mn-ea"/>
                  </a:rPr>
                  <a:t>04</a:t>
                </a:r>
                <a:endParaRPr lang="en-US" altLang="zh-CN" sz="3200" dirty="0">
                  <a:solidFill>
                    <a:srgbClr val="1954A5"/>
                  </a:solidFill>
                  <a:latin typeface="MiSans Bold" panose="00000800000000000000" charset="-122"/>
                  <a:ea typeface="MiSans Bold" panose="00000800000000000000" charset="-122"/>
                  <a:cs typeface="MiSans Bold" panose="00000800000000000000" charset="-122"/>
                  <a:sym typeface="+mn-ea"/>
                </a:endParaRPr>
              </a:p>
            </p:txBody>
          </p:sp>
          <p:sp>
            <p:nvSpPr>
              <p:cNvPr id="178" name="矩形 177"/>
              <p:cNvSpPr/>
              <p:nvPr>
                <p:custDataLst>
                  <p:tags r:id="rId25"/>
                </p:custDataLst>
              </p:nvPr>
            </p:nvSpPr>
            <p:spPr>
              <a:xfrm>
                <a:off x="11935" y="8623"/>
                <a:ext cx="4514" cy="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40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思源宋体 CN" panose="02020400000000000000" charset="-122"/>
                    <a:ea typeface="思源宋体 CN" panose="02020400000000000000" charset="-122"/>
                    <a:cs typeface="MiSans Bold" panose="00000800000000000000" charset="-122"/>
                    <a:sym typeface="+mn-ea"/>
                  </a:rPr>
                  <a:t>Topic 04</a:t>
                </a:r>
                <a:endParaRPr lang="en-US" altLang="zh-CN" sz="1400">
                  <a:solidFill>
                    <a:schemeClr val="dk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  <a:cs typeface="MiSans Bold" panose="00000800000000000000" charset="-122"/>
                  <a:sym typeface="+mn-ea"/>
                </a:endParaRPr>
              </a:p>
            </p:txBody>
          </p:sp>
        </p:grpSp>
        <p:sp>
          <p:nvSpPr>
            <p:cNvPr id="179" name="矩形 178"/>
            <p:cNvSpPr/>
            <p:nvPr>
              <p:custDataLst>
                <p:tags r:id="rId26"/>
              </p:custDataLst>
            </p:nvPr>
          </p:nvSpPr>
          <p:spPr>
            <a:xfrm>
              <a:off x="4809" y="5414"/>
              <a:ext cx="6357" cy="113"/>
            </a:xfrm>
            <a:prstGeom prst="rect">
              <a:avLst/>
            </a:prstGeom>
            <a:solidFill>
              <a:srgbClr val="1954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1" name="矩形 10"/>
          <p:cNvSpPr/>
          <p:nvPr>
            <p:custDataLst>
              <p:tags r:id="rId27"/>
            </p:custDataLst>
          </p:nvPr>
        </p:nvSpPr>
        <p:spPr>
          <a:xfrm>
            <a:off x="7450455" y="3335655"/>
            <a:ext cx="4036624" cy="71755"/>
          </a:xfrm>
          <a:prstGeom prst="rect">
            <a:avLst/>
          </a:prstGeom>
          <a:solidFill>
            <a:srgbClr val="195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22" name="图片 21" descr="北交论文标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27975" y="-177165"/>
            <a:ext cx="4758055" cy="1716405"/>
          </a:xfrm>
          <a:prstGeom prst="rect">
            <a:avLst/>
          </a:prstGeom>
        </p:spPr>
      </p:pic>
    </p:spTree>
    <p:custDataLst>
      <p:tags r:id="rId2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-7620" y="-8890"/>
            <a:ext cx="12192000" cy="2708275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66708" y="3058160"/>
            <a:ext cx="6458585" cy="2341245"/>
            <a:chOff x="4538" y="3754"/>
            <a:chExt cx="10171" cy="3687"/>
          </a:xfrm>
        </p:grpSpPr>
        <p:sp>
          <p:nvSpPr>
            <p:cNvPr id="12" name="文本框 11"/>
            <p:cNvSpPr txBox="1"/>
            <p:nvPr/>
          </p:nvSpPr>
          <p:spPr>
            <a:xfrm>
              <a:off x="4538" y="5477"/>
              <a:ext cx="10171" cy="12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zh-CN" altLang="en-US" sz="4400">
                  <a:solidFill>
                    <a:srgbClr val="1954A5"/>
                  </a:solidFill>
                  <a:latin typeface="华康俪金黑W8" panose="020B0809000000000000" charset="-122"/>
                  <a:ea typeface="华康俪金黑W8" panose="020B0809000000000000" charset="-122"/>
                </a:rPr>
                <a:t>研究背景与问题</a:t>
              </a:r>
              <a:endParaRPr lang="zh-CN" altLang="en-US" sz="4400">
                <a:solidFill>
                  <a:srgbClr val="1954A5"/>
                </a:solidFill>
                <a:latin typeface="华康俪金黑W8" panose="020B0809000000000000" charset="-122"/>
                <a:ea typeface="华康俪金黑W8" panose="020B0809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4877" y="6910"/>
              <a:ext cx="9493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16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</a:rPr>
                <a:t>Topic 01</a:t>
              </a:r>
              <a:endPara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思源宋体 CN" panose="02020400000000000000" charset="-122"/>
                <a:ea typeface="思源宋体 CN" panose="020204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95" y="3754"/>
              <a:ext cx="3811" cy="18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7200" b="1">
                  <a:solidFill>
                    <a:srgbClr val="000000"/>
                  </a:solidFill>
                  <a:latin typeface="Bodoni MT Black" panose="02070A03080606020203" charset="0"/>
                  <a:ea typeface="MiSans Bold" panose="00000800000000000000" charset="-122"/>
                  <a:cs typeface="Bodoni MT Black" panose="02070A03080606020203" charset="0"/>
                </a:rPr>
                <a:t>01</a:t>
              </a:r>
              <a:endParaRPr lang="en-US" altLang="zh-CN" sz="7200" b="1">
                <a:solidFill>
                  <a:srgbClr val="000000"/>
                </a:solidFill>
                <a:latin typeface="Bodoni MT Black" panose="02070A03080606020203" charset="0"/>
                <a:ea typeface="MiSans Bold" panose="00000800000000000000" charset="-122"/>
                <a:cs typeface="Bodoni MT Black" panose="02070A03080606020203" charset="0"/>
              </a:endParaRPr>
            </a:p>
          </p:txBody>
        </p:sp>
      </p:grpSp>
      <p:pic>
        <p:nvPicPr>
          <p:cNvPr id="2" name="图片 1" descr="D:/Desktop/mmexport1676437857862 - 副本.jpgmmexport1676437857862 - 副本"/>
          <p:cNvPicPr>
            <a:picLocks noChangeAspect="1"/>
          </p:cNvPicPr>
          <p:nvPr/>
        </p:nvPicPr>
        <p:blipFill>
          <a:blip r:embed="rId3"/>
          <a:srcRect t="4929" b="4929"/>
          <a:stretch>
            <a:fillRect/>
          </a:stretch>
        </p:blipFill>
        <p:spPr>
          <a:xfrm>
            <a:off x="-7620" y="-8890"/>
            <a:ext cx="12199620" cy="2421255"/>
          </a:xfrm>
          <a:prstGeom prst="rect">
            <a:avLst/>
          </a:prstGeom>
        </p:spPr>
      </p:pic>
      <p:sp>
        <p:nvSpPr>
          <p:cNvPr id="3" name="平行四边形 2"/>
          <p:cNvSpPr/>
          <p:nvPr>
            <p:custDataLst>
              <p:tags r:id="rId4"/>
            </p:custDataLst>
          </p:nvPr>
        </p:nvSpPr>
        <p:spPr>
          <a:xfrm>
            <a:off x="0" y="2546350"/>
            <a:ext cx="12191365" cy="4311650"/>
          </a:xfrm>
          <a:prstGeom prst="parallelogram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alpha val="7000"/>
                </a:schemeClr>
              </a:gs>
              <a:gs pos="0">
                <a:srgbClr val="A0C2F1">
                  <a:alpha val="9000"/>
                </a:srgbClr>
              </a:gs>
            </a:gsLst>
            <a:lin ang="7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1.1  研究背景：摄像头感知 = 检测 + 跟踪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ounded Rectangle 101"/>
          <p:cNvSpPr/>
          <p:nvPr/>
        </p:nvSpPr>
        <p:spPr>
          <a:xfrm>
            <a:off x="640080" y="1234440"/>
            <a:ext cx="2286000" cy="1005840"/>
          </a:xfrm>
          <a:prstGeom prst="roundRect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1234440"/>
            <a:ext cx="228600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摄像头图像序列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4" name="Right Arrow 103"/>
          <p:cNvSpPr/>
          <p:nvPr/>
        </p:nvSpPr>
        <p:spPr>
          <a:xfrm>
            <a:off x="2971800" y="15544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566160" y="1234440"/>
            <a:ext cx="2286000" cy="100584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66160" y="1234440"/>
            <a:ext cx="228600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目标检测
（YOLO / Faster R-CNN 等 DNN）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7" name="Right Arrow 106"/>
          <p:cNvSpPr/>
          <p:nvPr/>
        </p:nvSpPr>
        <p:spPr>
          <a:xfrm>
            <a:off x="5897879" y="15544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492240" y="1234440"/>
            <a:ext cx="2286000" cy="100584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92240" y="1234440"/>
            <a:ext cx="228600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多目标跟踪 MOT
（关联、位置、速度、ID）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0" name="Right Arrow 109"/>
          <p:cNvSpPr/>
          <p:nvPr/>
        </p:nvSpPr>
        <p:spPr>
          <a:xfrm>
            <a:off x="8823959" y="15544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418320" y="1234440"/>
            <a:ext cx="2286000" cy="1005840"/>
          </a:xfrm>
          <a:prstGeom prst="roundRect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18320" y="1234440"/>
            <a:ext cx="228600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规划与控制
（刹车 / 避障）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40080" y="2651760"/>
            <a:ext cx="5394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0080" y="2651760"/>
            <a:ext cx="53949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2651760"/>
            <a:ext cx="53949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MOT 的容错机制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31519" y="3246120"/>
            <a:ext cx="5212080" cy="22951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建立：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目标连续 H 帧被检测到，才创建 tracker，防止误检产生“幽灵目标”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保留：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已有 tracker 连续 R 帧未被检测到才删除，防止漏检丢失真实目标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结果：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只有多帧一致、稳定的检测才会影响跟踪与驾驶决策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6309360" y="2651760"/>
            <a:ext cx="5212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309360" y="2651760"/>
            <a:ext cx="521208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09360" y="2651760"/>
            <a:ext cx="5212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对攻击者意味着什么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400800" y="3246120"/>
            <a:ext cx="5029200" cy="229514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只攻击检测器：需</a:t>
            </a: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连续 60 帧、成功率≥98%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才能真正影响感知结果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现有物理对抗补丁攻击（隐身、伪造、误分类）几乎无法满足该要求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机会：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容错机制本身可被利用——攻击几帧，效果持续数十帧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1.2  问题描述：如何让“劫持攻击”真正落地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954A5"/>
                </a:solidFill>
                <a:latin typeface="微软雅黑" panose="020B0503020204020204" charset="-122"/>
              </a:rPr>
              <a:t>核心问题：</a:t>
            </a: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能否用一块屏幕上的对抗补丁，只成功攻击少数几帧，就精确控制目标的位置与形状，借 MOT 的 H/R 机制劫持 tracker？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40080" y="2286000"/>
            <a:ext cx="3474720" cy="14173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2359152"/>
            <a:ext cx="347472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954A5"/>
                </a:solidFill>
                <a:latin typeface="微软雅黑" panose="020B0503020204020204" charset="-122"/>
              </a:rPr>
              <a:t>20.69%</a:t>
            </a:r>
            <a:endParaRPr sz="34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3108960"/>
            <a:ext cx="347472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63245"/>
                </a:solidFill>
                <a:latin typeface="微软雅黑" panose="020B0503020204020204" charset="-122"/>
              </a:rPr>
              <a:t>前作[25]的劫持补丁：数字空间成功率</a:t>
            </a:r>
            <a:endParaRPr sz="13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343400" y="2286000"/>
            <a:ext cx="3474720" cy="14173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43400" y="2359152"/>
            <a:ext cx="347472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D96B1E"/>
                </a:solidFill>
                <a:latin typeface="微软雅黑" panose="020B0503020204020204" charset="-122"/>
              </a:rPr>
              <a:t>0%</a:t>
            </a:r>
            <a:endParaRPr sz="3400" b="1">
              <a:solidFill>
                <a:srgbClr val="D96B1E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343400" y="3108960"/>
            <a:ext cx="347472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63245"/>
                </a:solidFill>
                <a:latin typeface="微软雅黑" panose="020B0503020204020204" charset="-122"/>
              </a:rPr>
              <a:t>前作[25]：物理世界实验成功率</a:t>
            </a:r>
            <a:endParaRPr sz="13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8046720" y="2286000"/>
            <a:ext cx="3474720" cy="14173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46720" y="2359152"/>
            <a:ext cx="347472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954A5"/>
                </a:solidFill>
                <a:latin typeface="微软雅黑" panose="020B0503020204020204" charset="-122"/>
              </a:rPr>
              <a:t>手工指定</a:t>
            </a:r>
            <a:endParaRPr sz="34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046720" y="3108960"/>
            <a:ext cx="347472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63245"/>
                </a:solidFill>
                <a:latin typeface="微软雅黑" panose="020B0503020204020204" charset="-122"/>
              </a:rPr>
              <a:t>[25]直接设定 BBOX 位置，未真正由对抗样本驱动检测器</a:t>
            </a:r>
            <a:endParaRPr sz="13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三个技术难点</a:t>
            </a:r>
            <a:endParaRPr sz="18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40080" y="429768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40080" y="4297680"/>
            <a:ext cx="347472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0080" y="4297680"/>
            <a:ext cx="34747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难点 1：三者耦合冲突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1519" y="4846320"/>
            <a:ext cx="3291839" cy="11064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63245"/>
                </a:solidFill>
                <a:latin typeface="微软雅黑" panose="020B0503020204020204" charset="-122"/>
              </a:rPr>
              <a:t>伪造框的位置、形状、置信度相互冲突，且需同时擦除原框</a:t>
            </a:r>
            <a:endParaRPr sz="15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343400" y="429768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343400" y="4297680"/>
            <a:ext cx="347472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343400" y="4297680"/>
            <a:ext cx="34747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难点 2：既关联又偏离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434840" y="4846320"/>
            <a:ext cx="3291839" cy="11064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63245"/>
                </a:solidFill>
                <a:latin typeface="微软雅黑" panose="020B0503020204020204" charset="-122"/>
              </a:rPr>
              <a:t>伪造框须与原 tracker 关联（IOU 够大），又要尽量远离原位置</a:t>
            </a:r>
            <a:endParaRPr sz="15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8046719" y="429768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046719" y="4297680"/>
            <a:ext cx="347472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46719" y="4297680"/>
            <a:ext cx="34747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难点 3：候选框过滤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138159" y="4846320"/>
            <a:ext cx="3291839" cy="11064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63245"/>
                </a:solidFill>
                <a:latin typeface="微软雅黑" panose="020B0503020204020204" charset="-122"/>
              </a:rPr>
              <a:t>检测器候选框极多，需精确筛出要伪造/要擦除的框</a:t>
            </a:r>
            <a:endParaRPr sz="15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1.3  动机与目标：物理世界可用的劫持攻击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8872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0080" y="1188720"/>
            <a:ext cx="512064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1188720"/>
            <a:ext cx="512064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研究动机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19" y="1783080"/>
            <a:ext cx="4937759" cy="11595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现有攻击多聚焦于“消失 / 伪造 / 误分类”，缺乏对目标位置的精确控制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前作[25]提出了思路，但缺少可行的实现方法，停留在理论层面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035040" y="118872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035040" y="1188720"/>
            <a:ext cx="548640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35040" y="1188720"/>
            <a:ext cx="5486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研究目标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126479" y="1783080"/>
            <a:ext cx="5303520" cy="11595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954A5"/>
                </a:solidFill>
                <a:latin typeface="微软雅黑" panose="020B0503020204020204" charset="-122"/>
              </a:rPr>
              <a:t>ControlLoc：</a:t>
            </a: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补丁位置预选 + 精确 BBOX 伪造 + 新型损失优化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用显示器播放含 4–5 帧补丁的广告视频，兼顾动态与隐蔽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0080" y="3749039"/>
            <a:ext cx="54864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两类攻击目标</a:t>
            </a:r>
            <a:endParaRPr sz="18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40080" y="416052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Move-in 攻击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31519" y="4709159"/>
            <a:ext cx="4937759" cy="119786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让 AD 车辆误以为路径前方出现目标 → 不必要的紧急刹车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035040" y="41605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035040" y="4160520"/>
            <a:ext cx="548640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35040" y="4160520"/>
            <a:ext cx="54864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Move-out 攻击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126479" y="4709159"/>
            <a:ext cx="5303520" cy="119786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让系统以为路边障碍物“移走” → 忽略真实障碍物 → 碰撞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-7620" y="-8890"/>
            <a:ext cx="12192000" cy="2708275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66708" y="3058160"/>
            <a:ext cx="6458585" cy="2341245"/>
            <a:chOff x="4538" y="3754"/>
            <a:chExt cx="10171" cy="3687"/>
          </a:xfrm>
        </p:grpSpPr>
        <p:sp>
          <p:nvSpPr>
            <p:cNvPr id="12" name="文本框 11"/>
            <p:cNvSpPr txBox="1"/>
            <p:nvPr/>
          </p:nvSpPr>
          <p:spPr>
            <a:xfrm>
              <a:off x="4538" y="5477"/>
              <a:ext cx="10171" cy="12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zh-CN" altLang="en-US" sz="4400">
                  <a:solidFill>
                    <a:srgbClr val="1954A5"/>
                  </a:solidFill>
                  <a:latin typeface="华康俪金黑W8" panose="020B0809000000000000" charset="-122"/>
                  <a:ea typeface="华康俪金黑W8" panose="020B0809000000000000" charset="-122"/>
                </a:rPr>
                <a:t>背景知识与基本原理</a:t>
              </a:r>
              <a:endParaRPr lang="zh-CN" altLang="en-US" sz="4400">
                <a:solidFill>
                  <a:srgbClr val="1954A5"/>
                </a:solidFill>
                <a:latin typeface="华康俪金黑W8" panose="020B0809000000000000" charset="-122"/>
                <a:ea typeface="华康俪金黑W8" panose="020B0809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4877" y="6910"/>
              <a:ext cx="9493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16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</a:rPr>
                <a:t>Topic 02</a:t>
              </a:r>
              <a:endPara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思源宋体 CN" panose="02020400000000000000" charset="-122"/>
                <a:ea typeface="思源宋体 CN" panose="020204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95" y="3754"/>
              <a:ext cx="3811" cy="18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7200" b="1">
                  <a:solidFill>
                    <a:srgbClr val="000000"/>
                  </a:solidFill>
                  <a:latin typeface="Bodoni MT Black" panose="02070A03080606020203" charset="0"/>
                  <a:ea typeface="MiSans Bold" panose="00000800000000000000" charset="-122"/>
                  <a:cs typeface="Bodoni MT Black" panose="02070A03080606020203" charset="0"/>
                </a:rPr>
                <a:t>02</a:t>
              </a:r>
              <a:endParaRPr lang="en-US" altLang="zh-CN" sz="7200" b="1">
                <a:solidFill>
                  <a:srgbClr val="000000"/>
                </a:solidFill>
                <a:latin typeface="Bodoni MT Black" panose="02070A03080606020203" charset="0"/>
                <a:ea typeface="MiSans Bold" panose="00000800000000000000" charset="-122"/>
                <a:cs typeface="Bodoni MT Black" panose="02070A03080606020203" charset="0"/>
              </a:endParaRPr>
            </a:p>
          </p:txBody>
        </p:sp>
      </p:grpSp>
      <p:pic>
        <p:nvPicPr>
          <p:cNvPr id="2" name="图片 1" descr="D:/Desktop/mmexport1676437857862 - 副本.jpgmmexport1676437857862 - 副本"/>
          <p:cNvPicPr>
            <a:picLocks noChangeAspect="1"/>
          </p:cNvPicPr>
          <p:nvPr/>
        </p:nvPicPr>
        <p:blipFill>
          <a:blip r:embed="rId3"/>
          <a:srcRect t="4929" b="4929"/>
          <a:stretch>
            <a:fillRect/>
          </a:stretch>
        </p:blipFill>
        <p:spPr>
          <a:xfrm>
            <a:off x="-7620" y="-8890"/>
            <a:ext cx="12199620" cy="2421255"/>
          </a:xfrm>
          <a:prstGeom prst="rect">
            <a:avLst/>
          </a:prstGeom>
        </p:spPr>
      </p:pic>
      <p:sp>
        <p:nvSpPr>
          <p:cNvPr id="4" name="平行四边形 3"/>
          <p:cNvSpPr/>
          <p:nvPr>
            <p:custDataLst>
              <p:tags r:id="rId4"/>
            </p:custDataLst>
          </p:nvPr>
        </p:nvSpPr>
        <p:spPr>
          <a:xfrm>
            <a:off x="0" y="2546350"/>
            <a:ext cx="12191365" cy="4311650"/>
          </a:xfrm>
          <a:prstGeom prst="parallelogram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alpha val="7000"/>
                </a:schemeClr>
              </a:gs>
              <a:gs pos="0">
                <a:srgbClr val="A0C2F1">
                  <a:alpha val="9000"/>
                </a:srgbClr>
              </a:gs>
            </a:gsLst>
            <a:lin ang="7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2.1  背景知识：MOT 机制与漏洞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8872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关联机制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19" y="1783080"/>
            <a:ext cx="3383279" cy="22161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t 时刻检测框与 t−1 时刻 tracker 按 IOU 阈值 T_IOU 关联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关联成功：更新位置与速度；失败：tracker 被保留或新建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该阈值在不同 MOT 算法中基本一致 → 黑盒可用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389120" y="118872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89120" y="1188720"/>
            <a:ext cx="35661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89120" y="1188720"/>
            <a:ext cx="356616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H / R 参数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480559" y="1783080"/>
            <a:ext cx="3383279" cy="19392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H：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连续检测 H 帧才建立 tracker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R：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连续丢失 R 帧才删除 tracker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作用：抵御单帧误检与漏检，提升鲁棒性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8138160" y="118872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138160" y="1188720"/>
            <a:ext cx="338328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38160" y="1188720"/>
            <a:ext cx="33832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可被利用的漏洞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229600" y="1783080"/>
            <a:ext cx="3200400" cy="19392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攻击成功几帧后，tracker 仍被劫持 R 帧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即使检测恢复，原目标需 H 帧才重新被跟踪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MOT17 前 15 名有代码算法中，87% 共享该设计</a:t>
            </a:r>
            <a:endParaRPr sz="18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40080" y="4617720"/>
            <a:ext cx="10881360" cy="11887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1520" y="4617720"/>
            <a:ext cx="10698480" cy="11887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954A5"/>
                </a:solidFill>
                <a:latin typeface="微软雅黑" panose="020B0503020204020204" charset="-122"/>
              </a:rPr>
              <a:t>检测器背景：</a:t>
            </a: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anchor-based（YOLOv3/v5、Apollo ApoD）预设大量 anchor 再回归；anchor-free（YOLOX）直接预测框。二者均基于网格结构，这是 C-BBOX 过滤器的基础。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2.2  基本原理：跟踪器劫持攻击流程与威胁模型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ounded Rectangle 101"/>
          <p:cNvSpPr/>
          <p:nvPr/>
        </p:nvSpPr>
        <p:spPr>
          <a:xfrm>
            <a:off x="640080" y="1188720"/>
            <a:ext cx="3200400" cy="64008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1188720"/>
            <a:ext cx="3200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① 正常阶段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40080" y="1874519"/>
            <a:ext cx="32004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目标被正确检测并被 tracker 跟踪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5" name="Right Arrow 104"/>
          <p:cNvSpPr/>
          <p:nvPr/>
        </p:nvSpPr>
        <p:spPr>
          <a:xfrm>
            <a:off x="3886200" y="13258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480560" y="1188720"/>
            <a:ext cx="3200400" cy="64008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80560" y="1188720"/>
            <a:ext cx="3200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② 攻击 2~3 帧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480560" y="1874519"/>
            <a:ext cx="32004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擦除原 BBOX，伪造沿方向 v⃗ 偏移的 BBOX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9" name="Right Arrow 108"/>
          <p:cNvSpPr/>
          <p:nvPr/>
        </p:nvSpPr>
        <p:spPr>
          <a:xfrm>
            <a:off x="7726679" y="13258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321040" y="1188720"/>
            <a:ext cx="3200400" cy="64008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21040" y="1188720"/>
            <a:ext cx="3200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③ 劫持生效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321040" y="1874519"/>
            <a:ext cx="32004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伪造框与原 tracker 关联，tracker 被带走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795" y="2428875"/>
            <a:ext cx="9854565" cy="392874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2.2  基本原理：跟踪器劫持攻击流程与威胁模型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ounded Rectangle 101"/>
          <p:cNvSpPr/>
          <p:nvPr/>
        </p:nvSpPr>
        <p:spPr>
          <a:xfrm>
            <a:off x="640080" y="1188720"/>
            <a:ext cx="3200400" cy="64008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1188720"/>
            <a:ext cx="3200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① 正常阶段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40080" y="1874519"/>
            <a:ext cx="32004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目标被正确检测并被 tracker 跟踪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5" name="Right Arrow 104"/>
          <p:cNvSpPr/>
          <p:nvPr/>
        </p:nvSpPr>
        <p:spPr>
          <a:xfrm>
            <a:off x="3886200" y="13258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480560" y="1188720"/>
            <a:ext cx="3200400" cy="64008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80560" y="1188720"/>
            <a:ext cx="3200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② 攻击 2~3 帧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480560" y="1874519"/>
            <a:ext cx="32004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擦除原 BBOX，伪造沿方向 v⃗ 偏移的 BBOX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9" name="Right Arrow 108"/>
          <p:cNvSpPr/>
          <p:nvPr/>
        </p:nvSpPr>
        <p:spPr>
          <a:xfrm>
            <a:off x="7726679" y="132588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321040" y="1188720"/>
            <a:ext cx="3200400" cy="64008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21040" y="1188720"/>
            <a:ext cx="320040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③ 劫持生效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321040" y="1874519"/>
            <a:ext cx="32004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63245"/>
                </a:solidFill>
                <a:latin typeface="微软雅黑" panose="020B0503020204020204" charset="-122"/>
              </a:rPr>
              <a:t>伪造框与原 tracker 关联，tracker 被带走</a:t>
            </a:r>
            <a:endParaRPr sz="14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40080" y="2788920"/>
            <a:ext cx="10881360" cy="64008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" y="2788920"/>
            <a:ext cx="106984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954A5"/>
                </a:solidFill>
                <a:latin typeface="微软雅黑" panose="020B0503020204020204" charset="-122"/>
              </a:rPr>
              <a:t>关键：</a:t>
            </a:r>
            <a:r>
              <a:rPr sz="1500" b="0">
                <a:solidFill>
                  <a:srgbClr val="263245"/>
                </a:solidFill>
                <a:latin typeface="微软雅黑" panose="020B0503020204020204" charset="-122"/>
              </a:rPr>
              <a:t>伪造框与原框 IOU 仍高于 T_IOU，MOT 才认为是“同一物体在移动”，而非新目标</a:t>
            </a:r>
            <a:endParaRPr sz="15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40080" y="3611880"/>
            <a:ext cx="5303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080" y="3611880"/>
            <a:ext cx="53035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3611880"/>
            <a:ext cx="5303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威胁模型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31519" y="4206240"/>
            <a:ext cx="5120640" cy="12623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检测器：白盒（架构与参数已知）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MOT：只需知道关联判定的 IOU 阈值，无需知道具体算法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可预先采集目标道路视频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217920" y="3611880"/>
            <a:ext cx="5303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17920" y="3611880"/>
            <a:ext cx="53035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17920" y="3611880"/>
            <a:ext cx="5303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攻击载体：显示器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309359" y="4206240"/>
            <a:ext cx="5120640" cy="9131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静态打印补丁无法动态变化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显示器播放广告视频，仅 4–5 帧含补丁，外观接近普通车身/路边广告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-7620" y="-8890"/>
            <a:ext cx="12192000" cy="2708275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66708" y="3058160"/>
            <a:ext cx="6458585" cy="2341245"/>
            <a:chOff x="4538" y="3754"/>
            <a:chExt cx="10171" cy="3687"/>
          </a:xfrm>
        </p:grpSpPr>
        <p:sp>
          <p:nvSpPr>
            <p:cNvPr id="12" name="文本框 11"/>
            <p:cNvSpPr txBox="1"/>
            <p:nvPr/>
          </p:nvSpPr>
          <p:spPr>
            <a:xfrm>
              <a:off x="4538" y="5477"/>
              <a:ext cx="10171" cy="12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zh-CN" altLang="en-US" sz="4400">
                  <a:solidFill>
                    <a:srgbClr val="1954A5"/>
                  </a:solidFill>
                  <a:latin typeface="华康俪金黑W8" panose="020B0809000000000000" charset="-122"/>
                  <a:ea typeface="华康俪金黑W8" panose="020B0809000000000000" charset="-122"/>
                </a:rPr>
                <a:t>核心算法与实验方法</a:t>
              </a:r>
              <a:endParaRPr lang="zh-CN" altLang="en-US" sz="4400">
                <a:solidFill>
                  <a:srgbClr val="1954A5"/>
                </a:solidFill>
                <a:latin typeface="华康俪金黑W8" panose="020B0809000000000000" charset="-122"/>
                <a:ea typeface="华康俪金黑W8" panose="020B0809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4877" y="6910"/>
              <a:ext cx="9493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16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</a:rPr>
                <a:t>Topic 03</a:t>
              </a:r>
              <a:endPara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思源宋体 CN" panose="02020400000000000000" charset="-122"/>
                <a:ea typeface="思源宋体 CN" panose="020204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95" y="3754"/>
              <a:ext cx="3811" cy="18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7200" b="1">
                  <a:solidFill>
                    <a:srgbClr val="000000"/>
                  </a:solidFill>
                  <a:latin typeface="Bodoni MT Black" panose="02070A03080606020203" charset="0"/>
                  <a:ea typeface="MiSans Bold" panose="00000800000000000000" charset="-122"/>
                  <a:cs typeface="Bodoni MT Black" panose="02070A03080606020203" charset="0"/>
                </a:rPr>
                <a:t>03</a:t>
              </a:r>
              <a:endParaRPr lang="en-US" altLang="zh-CN" sz="7200" b="1">
                <a:solidFill>
                  <a:srgbClr val="000000"/>
                </a:solidFill>
                <a:latin typeface="Bodoni MT Black" panose="02070A03080606020203" charset="0"/>
                <a:ea typeface="MiSans Bold" panose="00000800000000000000" charset="-122"/>
                <a:cs typeface="Bodoni MT Black" panose="02070A03080606020203" charset="0"/>
              </a:endParaRPr>
            </a:p>
          </p:txBody>
        </p:sp>
      </p:grpSp>
      <p:pic>
        <p:nvPicPr>
          <p:cNvPr id="2" name="图片 1" descr="D:/Desktop/mmexport1676437857862 - 副本.jpgmmexport1676437857862 - 副本"/>
          <p:cNvPicPr>
            <a:picLocks noChangeAspect="1"/>
          </p:cNvPicPr>
          <p:nvPr/>
        </p:nvPicPr>
        <p:blipFill>
          <a:blip r:embed="rId3"/>
          <a:srcRect t="4929" b="4929"/>
          <a:stretch>
            <a:fillRect/>
          </a:stretch>
        </p:blipFill>
        <p:spPr>
          <a:xfrm>
            <a:off x="-7620" y="-8890"/>
            <a:ext cx="12199620" cy="2421255"/>
          </a:xfrm>
          <a:prstGeom prst="rect">
            <a:avLst/>
          </a:prstGeom>
        </p:spPr>
      </p:pic>
      <p:sp>
        <p:nvSpPr>
          <p:cNvPr id="4" name="平行四边形 3"/>
          <p:cNvSpPr/>
          <p:nvPr>
            <p:custDataLst>
              <p:tags r:id="rId4"/>
            </p:custDataLst>
          </p:nvPr>
        </p:nvSpPr>
        <p:spPr>
          <a:xfrm>
            <a:off x="635" y="2534920"/>
            <a:ext cx="12191365" cy="4311650"/>
          </a:xfrm>
          <a:prstGeom prst="parallelogram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alpha val="7000"/>
                </a:schemeClr>
              </a:gs>
              <a:gs pos="0">
                <a:srgbClr val="A0C2F1">
                  <a:alpha val="9000"/>
                </a:srgbClr>
              </a:gs>
            </a:gsLst>
            <a:lin ang="7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3.1  总体框架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ounded Rectangle 101"/>
          <p:cNvSpPr/>
          <p:nvPr/>
        </p:nvSpPr>
        <p:spPr>
          <a:xfrm>
            <a:off x="640080" y="1188720"/>
            <a:ext cx="2377440" cy="91440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1188720"/>
            <a:ext cx="23774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阶段一
补丁位置预选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4" name="Right Arrow 103"/>
          <p:cNvSpPr/>
          <p:nvPr/>
        </p:nvSpPr>
        <p:spPr>
          <a:xfrm>
            <a:off x="3035808" y="1463040"/>
            <a:ext cx="384048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474720" y="1188720"/>
            <a:ext cx="2377440" cy="914400"/>
          </a:xfrm>
          <a:prstGeom prst="roundRect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74720" y="1188720"/>
            <a:ext cx="23774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阶段二 ①
目标伪造框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7" name="Right Arrow 106"/>
          <p:cNvSpPr/>
          <p:nvPr/>
        </p:nvSpPr>
        <p:spPr>
          <a:xfrm>
            <a:off x="5870448" y="1463040"/>
            <a:ext cx="384048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309360" y="1188720"/>
            <a:ext cx="2377440" cy="914400"/>
          </a:xfrm>
          <a:prstGeom prst="roundRect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09360" y="1188720"/>
            <a:ext cx="23774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阶段二 ②
BBOX 过滤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0" name="Right Arrow 109"/>
          <p:cNvSpPr/>
          <p:nvPr/>
        </p:nvSpPr>
        <p:spPr>
          <a:xfrm>
            <a:off x="8705088" y="1463040"/>
            <a:ext cx="384048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144000" y="1188720"/>
            <a:ext cx="2377440" cy="914400"/>
          </a:xfrm>
          <a:prstGeom prst="roundRect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4000" y="1188720"/>
            <a:ext cx="23774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阶段二 ③
损失与优化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rcRect b="6763"/>
          <a:stretch>
            <a:fillRect/>
          </a:stretch>
        </p:blipFill>
        <p:spPr>
          <a:xfrm>
            <a:off x="1767840" y="2230755"/>
            <a:ext cx="8749665" cy="417639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3.1  阶段一：补丁位置预选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Rectangle 112"/>
          <p:cNvSpPr/>
          <p:nvPr/>
        </p:nvSpPr>
        <p:spPr>
          <a:xfrm>
            <a:off x="640080" y="1606550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0080" y="1606550"/>
            <a:ext cx="53035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1606550"/>
            <a:ext cx="5303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优化目标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31519" y="2200910"/>
            <a:ext cx="5120640" cy="16624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x′ = x⊙(1−M) + p⊙M，M 为掩码，p 为扰动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M = ½·tanh(γ·m) + ½，使取值趋近 0 / 1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滑窗平均得 M′，最小化 L_M′，使高值像素聚成一个 Δh×Δw 的矩形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6217920" y="1606550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17920" y="1606550"/>
            <a:ext cx="53035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17920" y="1606550"/>
            <a:ext cx="5303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设计要点与效果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309359" y="2200910"/>
            <a:ext cx="5120640" cy="110807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只允许放在车辆后部（物理可行）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仅约 20 次迭代，开销很小；位置近似即可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随机位置 20% → 预选 85%（平均 ASR）</a:t>
            </a:r>
            <a:endParaRPr sz="18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3.2  阶段二 ①②：目标伪造框与 C-BBOX 过滤器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>
            <p:custDataLst>
              <p:tags r:id="rId7"/>
            </p:custDataLst>
          </p:nvPr>
        </p:nvSpPr>
        <p:spPr>
          <a:xfrm>
            <a:off x="640080" y="118872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>
            <p:custDataLst>
              <p:tags r:id="rId8"/>
            </p:custDataLst>
          </p:nvPr>
        </p:nvSpPr>
        <p:spPr>
          <a:xfrm>
            <a:off x="640080" y="1188720"/>
            <a:ext cx="53035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>
            <p:custDataLst>
              <p:tags r:id="rId9"/>
            </p:custDataLst>
          </p:nvPr>
        </p:nvSpPr>
        <p:spPr>
          <a:xfrm>
            <a:off x="640080" y="1188720"/>
            <a:ext cx="5303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① 目标伪造框 B_t（算法 1）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>
            <p:custDataLst>
              <p:tags r:id="rId10"/>
            </p:custDataLst>
          </p:nvPr>
        </p:nvSpPr>
        <p:spPr>
          <a:xfrm>
            <a:off x="731519" y="1783080"/>
            <a:ext cx="5120640" cy="148780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沿方向 v⃗ 每次平移 k 步：B_t = B_o + v⃗·k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直到 IOU(B_t, B_o) ≤ T_IOU，取 k−1 步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太近：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劫持速度慢；</a:t>
            </a: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太远：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被当作新目标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不依赖具体 MOT 算法（tracking-agnostic）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>
            <p:custDataLst>
              <p:tags r:id="rId11"/>
            </p:custDataLst>
          </p:nvPr>
        </p:nvSpPr>
        <p:spPr>
          <a:xfrm>
            <a:off x="6217920" y="118872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>
            <p:custDataLst>
              <p:tags r:id="rId12"/>
            </p:custDataLst>
          </p:nvPr>
        </p:nvSpPr>
        <p:spPr>
          <a:xfrm>
            <a:off x="6217920" y="1188720"/>
            <a:ext cx="53035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>
            <p:custDataLst>
              <p:tags r:id="rId13"/>
            </p:custDataLst>
          </p:nvPr>
        </p:nvSpPr>
        <p:spPr>
          <a:xfrm>
            <a:off x="6217920" y="1188720"/>
            <a:ext cx="5303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② C-BBOX 过滤（算法 2）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>
            <p:custDataLst>
              <p:tags r:id="rId14"/>
            </p:custDataLst>
          </p:nvPr>
        </p:nvSpPr>
        <p:spPr>
          <a:xfrm>
            <a:off x="6309359" y="1783080"/>
            <a:ext cx="5120640" cy="2042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按 scale = 输入尺寸 / 特征图尺寸，定位 B_t 中心所在网格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anchor-based：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取该格内与 B_t IOU 最大的 anchor 作 B_f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954A5"/>
                </a:solidFill>
                <a:latin typeface="微软雅黑" panose="020B0503020204020204" charset="-122"/>
              </a:rPr>
              <a:t>anchor-free：</a:t>
            </a: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沿 v⃗ 加修正向量选格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263245"/>
                </a:solidFill>
                <a:latin typeface="微软雅黑" panose="020B0503020204020204" charset="-122"/>
              </a:rPr>
              <a:t>擦除集 B_e：原框所在格 / IOU 过滤</a:t>
            </a:r>
            <a:endParaRPr sz="18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954A5"/>
                </a:solidFill>
                <a:latin typeface="微软雅黑" panose="020B0503020204020204" charset="-122"/>
              </a:rPr>
              <a:t>B_f, B_e = F(O_bbox, B_t, B_o)</a:t>
            </a:r>
            <a:r>
              <a:rPr sz="1500" b="0">
                <a:solidFill>
                  <a:srgbClr val="263245"/>
                </a:solidFill>
                <a:latin typeface="微软雅黑" panose="020B0503020204020204" charset="-122"/>
              </a:rPr>
              <a:t>  ——  B_f：需伪造的框；B_e：需擦除的框</a:t>
            </a:r>
            <a:endParaRPr sz="15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3.3  阶段二 ③：损失设计与条件切换优化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887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0080" y="1188720"/>
            <a:ext cx="539496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1188720"/>
            <a:ext cx="539496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Score Loss  L_s = L_e + μ₁·L_f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19" y="1737360"/>
            <a:ext cx="52120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压低 B_e 置信度、抬高 B_f 置信度，确保 B_f 过 NMS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40080" y="27432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40080" y="2743200"/>
            <a:ext cx="539496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2743200"/>
            <a:ext cx="539496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Regression Loss  L_r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31519" y="3291840"/>
            <a:ext cx="52120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−log IOU(B_f,B_t) + β·‖中心距离‖²，对齐位置与形状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640080" y="429768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0080" y="4297680"/>
            <a:ext cx="539496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" y="4297680"/>
            <a:ext cx="539496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平滑与鲁棒性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31519" y="4846320"/>
            <a:ext cx="52120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TV Loss：补丁更平滑；EoT：颜色/视角变换，适配物理环境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309360" y="1188720"/>
            <a:ext cx="5212080" cy="4663440"/>
          </a:xfrm>
          <a:prstGeom prst="rect">
            <a:avLst/>
          </a:prstGeom>
          <a:solidFill>
            <a:srgbClr val="EAF1FB"/>
          </a:solidFill>
          <a:ln w="12700">
            <a:solidFill>
              <a:srgbClr val="437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309360" y="1234440"/>
            <a:ext cx="52120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54A5"/>
                </a:solidFill>
                <a:latin typeface="微软雅黑" panose="020B0503020204020204" charset="-122"/>
              </a:rPr>
              <a:t>传统拉格朗日松弛为何失败</a:t>
            </a:r>
            <a:endParaRPr sz="17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00800" y="1691640"/>
            <a:ext cx="5029200" cy="56451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L_r + η·L_s：B_f 初始置信度低 → 梯度弱；增大 η 后 L_r 又难优化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309360" y="2834640"/>
            <a:ext cx="521208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954A5"/>
                </a:solidFill>
                <a:latin typeface="微软雅黑" panose="020B0503020204020204" charset="-122"/>
              </a:rPr>
              <a:t>本文：按条件切换，不再加权求和</a:t>
            </a:r>
            <a:endParaRPr sz="16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6492240" y="3337560"/>
            <a:ext cx="2103120" cy="822960"/>
          </a:xfrm>
          <a:prstGeom prst="roundRect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92240" y="3337560"/>
            <a:ext cx="210312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B_f 未进入 NMS 结果？
优化 L_s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9235440" y="3337560"/>
            <a:ext cx="2103120" cy="822960"/>
          </a:xfrm>
          <a:prstGeom prst="round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35440" y="3337560"/>
            <a:ext cx="2103120" cy="8229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B_f 已进入？
优化 L_r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2" name="Right Arrow 121"/>
          <p:cNvSpPr/>
          <p:nvPr/>
        </p:nvSpPr>
        <p:spPr>
          <a:xfrm>
            <a:off x="8686800" y="3520440"/>
            <a:ext cx="457200" cy="365760"/>
          </a:xfrm>
          <a:prstGeom prst="rightArrow">
            <a:avLst/>
          </a:prstGeom>
          <a:solidFill>
            <a:srgbClr val="437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0" y="4297680"/>
            <a:ext cx="5029200" cy="56451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先让伪造框“冒出来”，再精修位置与形状；L_s 只需优化到 B_f 成为唯一框，避免浪费扰动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3.4  实验方法：数字空间 · 物理世界 · 系统级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8872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1250315"/>
            <a:ext cx="35661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数字空间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19" y="1783080"/>
            <a:ext cx="3383279" cy="307784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检测器：ApoD、YOLOv3、YOLOv5、YOLOX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MOT：ApoT、BoT-SORT、ByteTrack、StrongSORT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数据集：BDD、KITTI 各 20 个片段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补丁约占目标车辆 12%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指标：ASR、成功所需帧数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389120" y="118872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89120" y="1188720"/>
            <a:ext cx="35661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89120" y="1250315"/>
            <a:ext cx="35661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物理世界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480559" y="1783080"/>
            <a:ext cx="3383279" cy="26987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32 英寸显示器，1080P 广告视频插入补丁帧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4 角度 × 3 光照 × 6 背景 = 72 场景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每场景 5 段视频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感知系统：Apollo（ApoD + ApoT）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8138160" y="118872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138160" y="1188720"/>
            <a:ext cx="338328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38160" y="1250315"/>
            <a:ext cx="338328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系统级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229600" y="1783080"/>
            <a:ext cx="3200400" cy="214439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Apollo + LGSVL 仿真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将物理实验得到的劫持位移建模并注入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不同车速各运行 10 次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指标：碰撞 / 不必要急停率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-7620" y="-8890"/>
            <a:ext cx="12192000" cy="2708275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66708" y="3058160"/>
            <a:ext cx="6458585" cy="2341245"/>
            <a:chOff x="4538" y="3754"/>
            <a:chExt cx="10171" cy="3687"/>
          </a:xfrm>
        </p:grpSpPr>
        <p:sp>
          <p:nvSpPr>
            <p:cNvPr id="12" name="文本框 11"/>
            <p:cNvSpPr txBox="1"/>
            <p:nvPr/>
          </p:nvSpPr>
          <p:spPr>
            <a:xfrm>
              <a:off x="4538" y="5477"/>
              <a:ext cx="10171" cy="12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zh-CN" altLang="en-US" sz="4400">
                  <a:solidFill>
                    <a:srgbClr val="1954A5"/>
                  </a:solidFill>
                  <a:latin typeface="华康俪金黑W8" panose="020B0809000000000000" charset="-122"/>
                  <a:ea typeface="华康俪金黑W8" panose="020B0809000000000000" charset="-122"/>
                </a:rPr>
                <a:t>结果分析与总结展望</a:t>
              </a:r>
              <a:endParaRPr lang="zh-CN" altLang="en-US" sz="4400">
                <a:solidFill>
                  <a:srgbClr val="1954A5"/>
                </a:solidFill>
                <a:latin typeface="华康俪金黑W8" panose="020B0809000000000000" charset="-122"/>
                <a:ea typeface="华康俪金黑W8" panose="020B0809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4877" y="6910"/>
              <a:ext cx="9493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16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 CN" panose="02020400000000000000" charset="-122"/>
                  <a:ea typeface="思源宋体 CN" panose="02020400000000000000" charset="-122"/>
                </a:rPr>
                <a:t>Topic 04</a:t>
              </a:r>
              <a:endPara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思源宋体 CN" panose="02020400000000000000" charset="-122"/>
                <a:ea typeface="思源宋体 CN" panose="020204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95" y="3754"/>
              <a:ext cx="3811" cy="18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7200" b="1">
                  <a:solidFill>
                    <a:srgbClr val="000000"/>
                  </a:solidFill>
                  <a:latin typeface="Bodoni MT Black" panose="02070A03080606020203" charset="0"/>
                  <a:ea typeface="MiSans Bold" panose="00000800000000000000" charset="-122"/>
                  <a:cs typeface="Bodoni MT Black" panose="02070A03080606020203" charset="0"/>
                </a:rPr>
                <a:t>04</a:t>
              </a:r>
              <a:endParaRPr lang="en-US" altLang="zh-CN" sz="7200" b="1">
                <a:solidFill>
                  <a:srgbClr val="000000"/>
                </a:solidFill>
                <a:latin typeface="Bodoni MT Black" panose="02070A03080606020203" charset="0"/>
                <a:ea typeface="MiSans Bold" panose="00000800000000000000" charset="-122"/>
                <a:cs typeface="Bodoni MT Black" panose="02070A03080606020203" charset="0"/>
              </a:endParaRPr>
            </a:p>
          </p:txBody>
        </p:sp>
      </p:grpSp>
      <p:pic>
        <p:nvPicPr>
          <p:cNvPr id="2" name="图片 1" descr="D:/Desktop/mmexport1676437857862 - 副本.jpgmmexport1676437857862 - 副本"/>
          <p:cNvPicPr>
            <a:picLocks noChangeAspect="1"/>
          </p:cNvPicPr>
          <p:nvPr/>
        </p:nvPicPr>
        <p:blipFill>
          <a:blip r:embed="rId3"/>
          <a:srcRect t="4929" b="4929"/>
          <a:stretch>
            <a:fillRect/>
          </a:stretch>
        </p:blipFill>
        <p:spPr>
          <a:xfrm>
            <a:off x="-7620" y="-8890"/>
            <a:ext cx="12199620" cy="2421255"/>
          </a:xfrm>
          <a:prstGeom prst="rect">
            <a:avLst/>
          </a:prstGeom>
        </p:spPr>
      </p:pic>
      <p:sp>
        <p:nvSpPr>
          <p:cNvPr id="4" name="平行四边形 3"/>
          <p:cNvSpPr/>
          <p:nvPr>
            <p:custDataLst>
              <p:tags r:id="rId4"/>
            </p:custDataLst>
          </p:nvPr>
        </p:nvSpPr>
        <p:spPr>
          <a:xfrm>
            <a:off x="-7620" y="2546350"/>
            <a:ext cx="12191365" cy="4311650"/>
          </a:xfrm>
          <a:prstGeom prst="parallelogram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alpha val="7000"/>
                </a:schemeClr>
              </a:gs>
              <a:gs pos="0">
                <a:srgbClr val="A0C2F1">
                  <a:alpha val="9000"/>
                </a:srgbClr>
              </a:gs>
            </a:gsLst>
            <a:lin ang="7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4.1  结果分析：数字空间攻击有效性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5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6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7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2" name="Chart 101"/>
          <p:cNvGraphicFramePr>
            <a:graphicFrameLocks noGrp="1"/>
          </p:cNvGraphicFramePr>
          <p:nvPr/>
        </p:nvGraphicFramePr>
        <p:xfrm>
          <a:off x="640080" y="11887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3" name="Rectangle 102"/>
          <p:cNvSpPr/>
          <p:nvPr>
            <p:custDataLst>
              <p:tags r:id="rId8"/>
            </p:custDataLst>
          </p:nvPr>
        </p:nvSpPr>
        <p:spPr>
          <a:xfrm>
            <a:off x="7863840" y="1188720"/>
            <a:ext cx="3657600" cy="14173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>
            <p:custDataLst>
              <p:tags r:id="rId9"/>
            </p:custDataLst>
          </p:nvPr>
        </p:nvSpPr>
        <p:spPr>
          <a:xfrm>
            <a:off x="7863840" y="1261872"/>
            <a:ext cx="36576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954A5"/>
                </a:solidFill>
                <a:latin typeface="微软雅黑" panose="020B0503020204020204" charset="-122"/>
              </a:rPr>
              <a:t>98.1%</a:t>
            </a:r>
            <a:endParaRPr sz="34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>
            <p:custDataLst>
              <p:tags r:id="rId10"/>
            </p:custDataLst>
          </p:nvPr>
        </p:nvSpPr>
        <p:spPr>
          <a:xfrm>
            <a:off x="7863840" y="2011680"/>
            <a:ext cx="3657600" cy="31813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平均攻击成功率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>
            <p:custDataLst>
              <p:tags r:id="rId11"/>
            </p:custDataLst>
          </p:nvPr>
        </p:nvSpPr>
        <p:spPr>
          <a:xfrm>
            <a:off x="7863840" y="2743200"/>
            <a:ext cx="3657600" cy="14173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>
            <p:custDataLst>
              <p:tags r:id="rId12"/>
            </p:custDataLst>
          </p:nvPr>
        </p:nvSpPr>
        <p:spPr>
          <a:xfrm>
            <a:off x="7863840" y="2816352"/>
            <a:ext cx="36576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954A5"/>
                </a:solidFill>
                <a:latin typeface="微软雅黑" panose="020B0503020204020204" charset="-122"/>
              </a:rPr>
              <a:t>2.8 帧</a:t>
            </a:r>
            <a:endParaRPr sz="34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>
            <p:custDataLst>
              <p:tags r:id="rId13"/>
            </p:custDataLst>
          </p:nvPr>
        </p:nvSpPr>
        <p:spPr>
          <a:xfrm>
            <a:off x="7863840" y="3566160"/>
            <a:ext cx="3657600" cy="31813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63245"/>
                </a:solidFill>
                <a:latin typeface="微软雅黑" panose="020B0503020204020204" charset="-122"/>
              </a:rPr>
              <a:t>平均成功所需帧数</a:t>
            </a:r>
            <a:endParaRPr sz="16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863840" y="4297680"/>
            <a:ext cx="4066540" cy="123126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YOLOX（anchor-free）最难攻击；ApoT、StrongSORT 相对稳健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仅基于检测器生成补丁即可迁移到不同 MOT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4.2  结果分析：对比基线、消融与物理世界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5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6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7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2" name="Chart 101"/>
          <p:cNvGraphicFramePr>
            <a:graphicFrameLocks noGrp="1"/>
          </p:cNvGraphicFramePr>
          <p:nvPr/>
        </p:nvGraphicFramePr>
        <p:xfrm>
          <a:off x="640080" y="1188720"/>
          <a:ext cx="56692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3" name="Rectangle 102"/>
          <p:cNvSpPr/>
          <p:nvPr>
            <p:custDataLst>
              <p:tags r:id="rId8"/>
            </p:custDataLst>
          </p:nvPr>
        </p:nvSpPr>
        <p:spPr>
          <a:xfrm>
            <a:off x="6583680" y="118872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>
            <p:custDataLst>
              <p:tags r:id="rId9"/>
            </p:custDataLst>
          </p:nvPr>
        </p:nvSpPr>
        <p:spPr>
          <a:xfrm>
            <a:off x="6583680" y="1188720"/>
            <a:ext cx="493776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>
            <p:custDataLst>
              <p:tags r:id="rId10"/>
            </p:custDataLst>
          </p:nvPr>
        </p:nvSpPr>
        <p:spPr>
          <a:xfrm>
            <a:off x="6583680" y="1227455"/>
            <a:ext cx="49377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数字空间对比[25]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>
            <p:custDataLst>
              <p:tags r:id="rId11"/>
            </p:custDataLst>
          </p:nvPr>
        </p:nvSpPr>
        <p:spPr>
          <a:xfrm>
            <a:off x="6675120" y="1737360"/>
            <a:ext cx="4754880" cy="3492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1">
                <a:solidFill>
                  <a:srgbClr val="1954A5"/>
                </a:solidFill>
                <a:latin typeface="微软雅黑" panose="020B0503020204020204" charset="-122"/>
              </a:rPr>
              <a:t>99.4% vs 24.8%</a:t>
            </a: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（YOLOX：90% vs 8.3%）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7" name="Rectangle 106"/>
          <p:cNvSpPr/>
          <p:nvPr>
            <p:custDataLst>
              <p:tags r:id="rId12"/>
            </p:custDataLst>
          </p:nvPr>
        </p:nvSpPr>
        <p:spPr>
          <a:xfrm>
            <a:off x="6583680" y="269748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>
            <p:custDataLst>
              <p:tags r:id="rId13"/>
            </p:custDataLst>
          </p:nvPr>
        </p:nvSpPr>
        <p:spPr>
          <a:xfrm>
            <a:off x="6583680" y="2697480"/>
            <a:ext cx="493776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>
            <p:custDataLst>
              <p:tags r:id="rId14"/>
            </p:custDataLst>
          </p:nvPr>
        </p:nvSpPr>
        <p:spPr>
          <a:xfrm>
            <a:off x="6583680" y="2736215"/>
            <a:ext cx="49377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消融：位置预选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>
            <p:custDataLst>
              <p:tags r:id="rId15"/>
            </p:custDataLst>
          </p:nvPr>
        </p:nvSpPr>
        <p:spPr>
          <a:xfrm>
            <a:off x="6675120" y="3246120"/>
            <a:ext cx="4754880" cy="3492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1">
                <a:solidFill>
                  <a:srgbClr val="1954A5"/>
                </a:solidFill>
                <a:latin typeface="微软雅黑" panose="020B0503020204020204" charset="-122"/>
              </a:rPr>
              <a:t>85% vs 20%</a:t>
            </a: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（预选 vs 随机位置）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1" name="Rectangle 110"/>
          <p:cNvSpPr/>
          <p:nvPr>
            <p:custDataLst>
              <p:tags r:id="rId16"/>
            </p:custDataLst>
          </p:nvPr>
        </p:nvSpPr>
        <p:spPr>
          <a:xfrm>
            <a:off x="6583680" y="4206240"/>
            <a:ext cx="4937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>
            <p:custDataLst>
              <p:tags r:id="rId17"/>
            </p:custDataLst>
          </p:nvPr>
        </p:nvSpPr>
        <p:spPr>
          <a:xfrm>
            <a:off x="6583680" y="4206240"/>
            <a:ext cx="4937760" cy="45720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>
            <p:custDataLst>
              <p:tags r:id="rId18"/>
            </p:custDataLst>
          </p:nvPr>
        </p:nvSpPr>
        <p:spPr>
          <a:xfrm>
            <a:off x="6583680" y="4244975"/>
            <a:ext cx="49377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物理世界规律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>
            <p:custDataLst>
              <p:tags r:id="rId19"/>
            </p:custDataLst>
          </p:nvPr>
        </p:nvSpPr>
        <p:spPr>
          <a:xfrm>
            <a:off x="6675120" y="4754879"/>
            <a:ext cx="4754880" cy="7289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Move-in 87.0% &gt; Move-out 70.5%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0">
                <a:solidFill>
                  <a:srgbClr val="263245"/>
                </a:solidFill>
                <a:latin typeface="微软雅黑" panose="020B0503020204020204" charset="-122"/>
              </a:rPr>
              <a:t>阴天最佳：晴天亮度被压低，夜间易眩光</a:t>
            </a:r>
            <a:endParaRPr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4.3  结果分析：系统级影响与防御有效性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887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0080" y="1188720"/>
            <a:ext cx="53949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1250315"/>
            <a:ext cx="53949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系统级影响（Apollo + LGSVL）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19" y="1783080"/>
            <a:ext cx="5212080" cy="294449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平均有效率 77.5%：</a:t>
            </a: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move-in 82.9%，move-out 72.1%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摘要给出碰撞率 72.5%、不必要急停率 96.3%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良性场景下误触发 0%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低速 move-out、高速 move-in 时较弱：攻击效果过期或位移不足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309360" y="11887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09360" y="1188720"/>
            <a:ext cx="521208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250315"/>
            <a:ext cx="521208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现有防御基本失效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400800" y="1783080"/>
            <a:ext cx="5029200" cy="356044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一致性检测：</a:t>
            </a: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绕过 PercepGuard 98.8%、PhySense 89.16%；VOGUES 良性误报率 95%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输入变换：</a:t>
            </a: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仅中值模糊部分缓解，且损害 mAP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LiDAR 融合：</a:t>
            </a: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LiDAR 为主传感器时可纠正；Tesla、OpenPilot 以摄像头为主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建议：</a:t>
            </a: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加强未匹配 tracker 管理（分层、置信度）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4.4  总结与展望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640080" y="11887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0080" y="1188720"/>
            <a:ext cx="539496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1250315"/>
            <a:ext cx="539496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论文结论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19" y="1783080"/>
            <a:ext cx="5212080" cy="294449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首个物理世界可用、针对检测 + MOT 全流程的劫持攻击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位置预选、C-BBOX、条件切换优化三者协同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数字 98.1%、物理 79%，并可诱发碰撞与急停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现有防御难以防住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309360" y="11887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09360" y="1188720"/>
            <a:ext cx="521208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250315"/>
            <a:ext cx="521208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局限与展望（论文自述）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400800" y="1783080"/>
            <a:ext cx="5029200" cy="202120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未直接评估商用 AD 系统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主要研究一阶段检测器，两阶段待研究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可迁移至 Tesla 类“短期记忆”机制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防御：tracker 管理与误报权衡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-635"/>
            <a:ext cx="12192000" cy="936000"/>
          </a:xfrm>
          <a:prstGeom prst="rect">
            <a:avLst/>
          </a:prstGeom>
          <a:solidFill>
            <a:srgbClr val="1954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0855" y="175583"/>
            <a:ext cx="9385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lt1"/>
                </a:solidFill>
                <a:latin typeface="MiSans Bold" panose="00000800000000000000" charset="-122"/>
                <a:ea typeface="MiSans Bold" panose="00000800000000000000" charset="-122"/>
              </a:rPr>
              <a:t>4.5  自己的思考：优点 · 不足 · 疑惑</a:t>
            </a:r>
            <a:endParaRPr lang="zh-CN" altLang="en-US" sz="3200" b="1">
              <a:solidFill>
                <a:schemeClr val="lt1"/>
              </a:solidFill>
              <a:latin typeface="MiSans Bold" panose="00000800000000000000" charset="-122"/>
              <a:ea typeface="MiSans Bold" panose="000008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3">
            <a:biLevel thresh="50000"/>
            <a:lum bright="100000" contrast="6000"/>
          </a:blip>
          <a:stretch>
            <a:fillRect/>
          </a:stretch>
        </p:blipFill>
        <p:spPr>
          <a:xfrm>
            <a:off x="9767570" y="179705"/>
            <a:ext cx="2237740" cy="5797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258354" y="6176249"/>
            <a:ext cx="11754033" cy="681990"/>
            <a:chOff x="258354" y="6176249"/>
            <a:chExt cx="11754033" cy="681990"/>
          </a:xfrm>
        </p:grpSpPr>
        <p:sp>
          <p:nvSpPr>
            <p:cNvPr id="29" name="文本框 28"/>
            <p:cNvSpPr txBox="1"/>
            <p:nvPr userDrawn="1">
              <p:custDataLst>
                <p:tags r:id="rId4"/>
              </p:custDataLst>
            </p:nvPr>
          </p:nvSpPr>
          <p:spPr bwMode="auto">
            <a:xfrm>
              <a:off x="4324637" y="6176249"/>
              <a:ext cx="3542727" cy="68199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20000"/>
                </a:lnSpc>
                <a:defRPr/>
              </a:pP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饮水思源</a:t>
              </a:r>
              <a:r>
                <a:rPr lang="en-US" altLang="zh-CN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 </a:t>
              </a:r>
              <a:r>
                <a:rPr lang="zh-CN" altLang="en-US" sz="3200" dirty="0">
                  <a:solidFill>
                    <a:schemeClr val="bg1">
                      <a:lumMod val="75000"/>
                    </a:schemeClr>
                  </a:solidFill>
                  <a:latin typeface="指尖隶书体" panose="02010600010101010101" charset="-122"/>
                  <a:ea typeface="指尖隶书体" panose="02010600010101010101" charset="-122"/>
                  <a:cs typeface="指尖隶书体" panose="02010600010101010101" charset="-122"/>
                </a:rPr>
                <a:t>爱国荣校</a:t>
              </a:r>
              <a:endParaRPr lang="zh-CN" altLang="en-US" sz="3200" dirty="0">
                <a:solidFill>
                  <a:schemeClr val="bg1">
                    <a:lumMod val="75000"/>
                  </a:schemeClr>
                </a:solidFill>
                <a:latin typeface="指尖隶书体" panose="02010600010101010101" charset="-122"/>
                <a:ea typeface="指尖隶书体" panose="02010600010101010101" charset="-122"/>
                <a:cs typeface="指尖隶书体" panose="02010600010101010101" charset="-122"/>
              </a:endParaRPr>
            </a:p>
          </p:txBody>
        </p:sp>
        <p:cxnSp>
          <p:nvCxnSpPr>
            <p:cNvPr id="30" name="直接连接符 29"/>
            <p:cNvCxnSpPr/>
            <p:nvPr userDrawn="1">
              <p:custDataLst>
                <p:tags r:id="rId5"/>
              </p:custDataLst>
            </p:nvPr>
          </p:nvCxnSpPr>
          <p:spPr>
            <a:xfrm>
              <a:off x="258354" y="6517205"/>
              <a:ext cx="40658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 userDrawn="1">
              <p:custDataLst>
                <p:tags r:id="rId6"/>
              </p:custDataLst>
            </p:nvPr>
          </p:nvCxnSpPr>
          <p:spPr>
            <a:xfrm>
              <a:off x="7946572" y="6517153"/>
              <a:ext cx="4065815" cy="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>
            <p:custDataLst>
              <p:tags r:id="rId7"/>
            </p:custDataLst>
          </p:nvPr>
        </p:nvSpPr>
        <p:spPr>
          <a:xfrm>
            <a:off x="640080" y="1188720"/>
            <a:ext cx="3474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>
            <p:custDataLst>
              <p:tags r:id="rId8"/>
            </p:custDataLst>
          </p:nvPr>
        </p:nvSpPr>
        <p:spPr>
          <a:xfrm>
            <a:off x="640080" y="1188720"/>
            <a:ext cx="34747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>
            <p:custDataLst>
              <p:tags r:id="rId9"/>
            </p:custDataLst>
          </p:nvPr>
        </p:nvSpPr>
        <p:spPr>
          <a:xfrm>
            <a:off x="640080" y="1250315"/>
            <a:ext cx="347472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优点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>
            <p:custDataLst>
              <p:tags r:id="rId10"/>
            </p:custDataLst>
          </p:nvPr>
        </p:nvSpPr>
        <p:spPr>
          <a:xfrm>
            <a:off x="731519" y="1783080"/>
            <a:ext cx="3291839" cy="253428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条件切换优化思路简洁，直击梯度耦合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把攻击放大交给 MOT，仅需几帧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结果覆盖数字、物理、系统三层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06" name="Rectangle 105"/>
          <p:cNvSpPr/>
          <p:nvPr>
            <p:custDataLst>
              <p:tags r:id="rId11"/>
            </p:custDataLst>
          </p:nvPr>
        </p:nvSpPr>
        <p:spPr>
          <a:xfrm>
            <a:off x="4389120" y="1188720"/>
            <a:ext cx="3474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>
            <p:custDataLst>
              <p:tags r:id="rId12"/>
            </p:custDataLst>
          </p:nvPr>
        </p:nvSpPr>
        <p:spPr>
          <a:xfrm>
            <a:off x="4389120" y="1188720"/>
            <a:ext cx="34747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>
            <p:custDataLst>
              <p:tags r:id="rId13"/>
            </p:custDataLst>
          </p:nvPr>
        </p:nvSpPr>
        <p:spPr>
          <a:xfrm>
            <a:off x="4389120" y="1250315"/>
            <a:ext cx="347472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不足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>
            <p:custDataLst>
              <p:tags r:id="rId14"/>
            </p:custDataLst>
          </p:nvPr>
        </p:nvSpPr>
        <p:spPr>
          <a:xfrm>
            <a:off x="4480559" y="1783080"/>
            <a:ext cx="3291839" cy="253428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白盒假设，且需采集目标道路视频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物理实验在受控环境，仅测 Apollo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系统级为位移注入仿真，非端到端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  <p:sp>
        <p:nvSpPr>
          <p:cNvPr id="110" name="Rectangle 109"/>
          <p:cNvSpPr/>
          <p:nvPr>
            <p:custDataLst>
              <p:tags r:id="rId15"/>
            </p:custDataLst>
          </p:nvPr>
        </p:nvSpPr>
        <p:spPr>
          <a:xfrm>
            <a:off x="8138159" y="1188720"/>
            <a:ext cx="3474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>
            <p:custDataLst>
              <p:tags r:id="rId16"/>
            </p:custDataLst>
          </p:nvPr>
        </p:nvSpPr>
        <p:spPr>
          <a:xfrm>
            <a:off x="8138159" y="1188720"/>
            <a:ext cx="3474720" cy="502920"/>
          </a:xfrm>
          <a:prstGeom prst="rect">
            <a:avLst/>
          </a:prstGeom>
          <a:solidFill>
            <a:srgbClr val="EAF1FB"/>
          </a:solidFill>
          <a:ln w="12700">
            <a:solidFill>
              <a:srgbClr val="C6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>
            <p:custDataLst>
              <p:tags r:id="rId17"/>
            </p:custDataLst>
          </p:nvPr>
        </p:nvSpPr>
        <p:spPr>
          <a:xfrm>
            <a:off x="8138159" y="1250315"/>
            <a:ext cx="3474720" cy="37973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954A5"/>
                </a:solidFill>
                <a:latin typeface="微软雅黑" panose="020B0503020204020204" charset="-122"/>
              </a:rPr>
              <a:t>疑惑</a:t>
            </a:r>
            <a:endParaRPr sz="2000" b="1">
              <a:solidFill>
                <a:srgbClr val="1954A5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>
            <p:custDataLst>
              <p:tags r:id="rId18"/>
            </p:custDataLst>
          </p:nvPr>
        </p:nvSpPr>
        <p:spPr>
          <a:xfrm>
            <a:off x="8229599" y="1783080"/>
            <a:ext cx="3291839" cy="28422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系统级数字不一致：72.5%/96.3%、77.5%、84.4%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黑盒或跨检测器是否仍有效？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263245"/>
                </a:solidFill>
                <a:latin typeface="微软雅黑" panose="020B0503020204020204" charset="-122"/>
              </a:rPr>
              <a:t>自适应 H/R 能否有效防御？</a:t>
            </a:r>
            <a:endParaRPr sz="2000" b="0">
              <a:solidFill>
                <a:srgbClr val="263245"/>
              </a:solidFill>
              <a:latin typeface="微软雅黑" panose="020B0503020204020204" charset="-122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Desktop/北交2.jpg北交2"/>
          <p:cNvPicPr>
            <a:picLocks noChangeAspect="1"/>
          </p:cNvPicPr>
          <p:nvPr/>
        </p:nvPicPr>
        <p:blipFill>
          <a:blip r:embed="rId1"/>
          <a:srcRect l="23734" r="3556" b="14407"/>
          <a:stretch>
            <a:fillRect/>
          </a:stretch>
        </p:blipFill>
        <p:spPr>
          <a:xfrm>
            <a:off x="0" y="0"/>
            <a:ext cx="8775065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9525" y="-18415"/>
            <a:ext cx="12182475" cy="6876415"/>
          </a:xfrm>
          <a:prstGeom prst="rect">
            <a:avLst/>
          </a:prstGeom>
          <a:gradFill>
            <a:gsLst>
              <a:gs pos="30000">
                <a:srgbClr val="1954A5"/>
              </a:gs>
              <a:gs pos="30000">
                <a:srgbClr val="1954A5"/>
              </a:gs>
              <a:gs pos="100000">
                <a:schemeClr val="accent1">
                  <a:alpha val="0"/>
                </a:schemeClr>
              </a:gs>
            </a:gsLst>
            <a:lin ang="97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0880" y="1951990"/>
            <a:ext cx="10820400" cy="29343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 fontAlgn="ctr">
              <a:lnSpc>
                <a:spcPct val="140000"/>
              </a:lnSpc>
            </a:pPr>
            <a:r>
              <a:rPr lang="zh-CN" altLang="en-US" sz="66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  <a:sym typeface="+mn-ea"/>
              </a:rPr>
              <a:t>汇报完毕</a:t>
            </a:r>
            <a:endParaRPr lang="zh-CN" altLang="en-US" sz="6600">
              <a:solidFill>
                <a:schemeClr val="lt1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  <a:sym typeface="+mn-ea"/>
            </a:endParaRPr>
          </a:p>
          <a:p>
            <a:pPr algn="r" fontAlgn="ctr">
              <a:lnSpc>
                <a:spcPct val="140000"/>
              </a:lnSpc>
            </a:pPr>
            <a:r>
              <a:rPr lang="zh-CN" altLang="en-US" sz="66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  <a:sym typeface="+mn-ea"/>
              </a:rPr>
              <a:t>恳请各位老师批评指正</a:t>
            </a:r>
            <a:endParaRPr lang="zh-CN" altLang="en-US" sz="6600">
              <a:solidFill>
                <a:schemeClr val="lt1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8433435" y="5838825"/>
            <a:ext cx="307784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 fontAlgn="ctr">
              <a:lnSpc>
                <a:spcPct val="100000"/>
              </a:lnSpc>
            </a:pPr>
            <a:r>
              <a:rPr lang="zh-CN" altLang="en-US" sz="24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2026年10月</a:t>
            </a:r>
            <a:r>
              <a:rPr lang="en-US" altLang="zh-CN" sz="24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11</a:t>
            </a:r>
            <a:r>
              <a:rPr lang="zh-CN" altLang="en-US" sz="2400">
                <a:solidFill>
                  <a:schemeClr val="lt1"/>
                </a:solidFill>
                <a:latin typeface="华康俪金黑W8" panose="020B0809000000000000" charset="-122"/>
                <a:ea typeface="华康俪金黑W8" panose="020B0809000000000000" charset="-122"/>
                <a:cs typeface="MiSans Bold" panose="00000800000000000000" charset="-122"/>
              </a:rPr>
              <a:t>日</a:t>
            </a:r>
            <a:endParaRPr lang="zh-CN" altLang="en-US" sz="2400">
              <a:solidFill>
                <a:schemeClr val="lt1"/>
              </a:solidFill>
              <a:latin typeface="华康俪金黑W8" panose="020B0809000000000000" charset="-122"/>
              <a:ea typeface="华康俪金黑W8" panose="020B0809000000000000" charset="-122"/>
              <a:cs typeface="MiSans Bold" panose="000008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037195" y="4916488"/>
            <a:ext cx="3418840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457200" lvl="1" indent="457200" algn="r" fontAlgn="ctr">
              <a:lnSpc>
                <a:spcPct val="120000"/>
              </a:lnSpc>
            </a:pP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汇报人：</a:t>
            </a: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陈周涵</a:t>
            </a:r>
            <a:endParaRPr lang="zh-CN" altLang="en-US" sz="2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MiSans Bold" panose="00000800000000000000" charset="-122"/>
              <a:sym typeface="方正风雅楷宋简体 Medium" panose="02000600000000000000" charset="-122"/>
            </a:endParaRPr>
          </a:p>
          <a:p>
            <a:pPr algn="r" fontAlgn="ctr">
              <a:lnSpc>
                <a:spcPct val="120000"/>
              </a:lnSpc>
            </a:pP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指导老师：</a:t>
            </a:r>
            <a:r>
              <a:rPr lang="zh-CN" altLang="en-US" sz="20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MiSans Bold" panose="00000800000000000000" charset="-122"/>
                <a:sym typeface="方正风雅楷宋简体 Medium" panose="02000600000000000000" charset="-122"/>
              </a:rPr>
              <a:t>牛温佳</a:t>
            </a:r>
            <a:endParaRPr lang="zh-CN" altLang="en-US" sz="20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MiSans Bold" panose="00000800000000000000" charset="-122"/>
              <a:sym typeface="方正风雅楷宋简体 Medium" panose="020006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5"/>
            </p:custDataLst>
          </p:nvPr>
        </p:nvPicPr>
        <p:blipFill>
          <a:blip r:embed="rId6">
            <a:biLevel thresh="50000"/>
            <a:lum bright="100000" contrast="6000"/>
          </a:blip>
          <a:stretch>
            <a:fillRect/>
          </a:stretch>
        </p:blipFill>
        <p:spPr>
          <a:xfrm>
            <a:off x="8181340" y="875030"/>
            <a:ext cx="3274695" cy="891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半闭框 8"/>
          <p:cNvSpPr/>
          <p:nvPr/>
        </p:nvSpPr>
        <p:spPr>
          <a:xfrm rot="5400000">
            <a:off x="11163935" y="264160"/>
            <a:ext cx="653415" cy="719455"/>
          </a:xfrm>
          <a:prstGeom prst="halfFrame">
            <a:avLst>
              <a:gd name="adj1" fmla="val 2437"/>
              <a:gd name="adj2" fmla="val 1886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半闭框 9"/>
          <p:cNvSpPr/>
          <p:nvPr>
            <p:custDataLst>
              <p:tags r:id="rId7"/>
            </p:custDataLst>
          </p:nvPr>
        </p:nvSpPr>
        <p:spPr>
          <a:xfrm rot="16200000">
            <a:off x="349250" y="5912485"/>
            <a:ext cx="653415" cy="719455"/>
          </a:xfrm>
          <a:prstGeom prst="halfFrame">
            <a:avLst>
              <a:gd name="adj1" fmla="val 2437"/>
              <a:gd name="adj2" fmla="val 1886"/>
            </a:avLst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3173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diagram"/>
  <p:tag name="KSO_WM_TEMPLATE_INDEX" val="2023173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TAG_VERSION" val="3.0"/>
  <p:tag name="KSO_WM_BEAUTIFY_FLAG" val="#wm#"/>
  <p:tag name="KSO_WM_TEMPLATE_CATEGORY" val="diagram"/>
  <p:tag name="KSO_WM_TEMPLATE_INDEX" val="20231731"/>
  <p:tag name="KSO_WM_SPECIAL_SOURCE" val="bdnull"/>
</p:tagLst>
</file>

<file path=ppt/tags/tag1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.47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73"/>
  <p:tag name="KSO_WM_UNIT_FILL_FORE_SCHEMECOLOR_INDEX_2_TRANS" val="0.5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1"/>
  <p:tag name="KSO_WM_UNIT_FILL_GRADIENT_TYPE" val="0"/>
  <p:tag name="KSO_WM_UNIT_FILL_GRADIENT_ANGLE" val="180"/>
  <p:tag name="KSO_WM_UNIT_FILL_GRADIENT_DIRECTION" val="4"/>
  <p:tag name="KSO_WM_UNIT_FILL_TYPE" val="3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  <p:tag name="KSO_WM_DIAGRAM_VIRTUALLY_FRAME" val="{&quot;height&quot;:323.5,&quot;left&quot;:240.95,&quot;top&quot;:116.05,&quot;width&quot;:666.85}"/>
</p:tagLst>
</file>

<file path=ppt/tags/tag144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4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47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48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50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52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53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55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58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59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6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61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64.xml><?xml version="1.0" encoding="utf-8"?>
<p:tagLst xmlns:p="http://schemas.openxmlformats.org/presentationml/2006/main">
  <p:tag name="KSO_WM_DIAGRAM_VIRTUALLY_FRAME" val="{&quot;height&quot;:323.5,&quot;left&quot;:240.95,&quot;top&quot;:116.05,&quot;width&quot;:666.85}"/>
</p:tagLst>
</file>

<file path=ppt/tags/tag165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DIAGRAM_VIRTUALLY_FRAME" val="{&quot;height&quot;:323.5,&quot;left&quot;:240.95,&quot;top&quot;:116.05,&quot;width&quot;:666.85}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3.5,&quot;left&quot;:240.95,&quot;top&quot;:116.05,&quot;width&quot;:666.85}"/>
</p:tagLst>
</file>

<file path=ppt/tags/tag1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  <p:tag name="KSO_WM_DIAGRAM_VIRTUALLY_FRAME" val="{&quot;height&quot;:323.5,&quot;left&quot;:240.95,&quot;top&quot;:116.05,&quot;width&quot;:666.85}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7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7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8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0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1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35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36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37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38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39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40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41.xml><?xml version="1.0" encoding="utf-8"?>
<p:tagLst xmlns:p="http://schemas.openxmlformats.org/presentationml/2006/main">
  <p:tag name="KSO_WM_DIAGRAM_VIRTUALLY_FRAME" val="{&quot;height&quot;:309.6,&quot;left&quot;:50.4,&quot;top&quot;:93.6,&quot;width&quot;:856.8}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DIAGRAM_VIRTUALLY_FRAME" val="{&quot;height&quot;:234,&quot;left&quot;:619.2,&quot;top&quot;:93.6,&quot;width&quot;:288}"/>
</p:tagLst>
</file>

<file path=ppt/tags/tag265.xml><?xml version="1.0" encoding="utf-8"?>
<p:tagLst xmlns:p="http://schemas.openxmlformats.org/presentationml/2006/main">
  <p:tag name="KSO_WM_DIAGRAM_VIRTUALLY_FRAME" val="{&quot;height&quot;:234,&quot;left&quot;:619.2,&quot;top&quot;:93.6,&quot;width&quot;:288}"/>
</p:tagLst>
</file>

<file path=ppt/tags/tag266.xml><?xml version="1.0" encoding="utf-8"?>
<p:tagLst xmlns:p="http://schemas.openxmlformats.org/presentationml/2006/main">
  <p:tag name="KSO_WM_DIAGRAM_VIRTUALLY_FRAME" val="{&quot;height&quot;:234,&quot;left&quot;:619.2,&quot;top&quot;:93.6,&quot;width&quot;:288}"/>
</p:tagLst>
</file>

<file path=ppt/tags/tag267.xml><?xml version="1.0" encoding="utf-8"?>
<p:tagLst xmlns:p="http://schemas.openxmlformats.org/presentationml/2006/main">
  <p:tag name="KSO_WM_DIAGRAM_VIRTUALLY_FRAME" val="{&quot;height&quot;:234,&quot;left&quot;:619.2,&quot;top&quot;:93.6,&quot;width&quot;:288}"/>
</p:tagLst>
</file>

<file path=ppt/tags/tag268.xml><?xml version="1.0" encoding="utf-8"?>
<p:tagLst xmlns:p="http://schemas.openxmlformats.org/presentationml/2006/main">
  <p:tag name="KSO_WM_DIAGRAM_VIRTUALLY_FRAME" val="{&quot;height&quot;:234,&quot;left&quot;:619.2,&quot;top&quot;:93.6,&quot;width&quot;:288}"/>
</p:tagLst>
</file>

<file path=ppt/tags/tag269.xml><?xml version="1.0" encoding="utf-8"?>
<p:tagLst xmlns:p="http://schemas.openxmlformats.org/presentationml/2006/main">
  <p:tag name="KSO_WM_DIAGRAM_VIRTUALLY_FRAME" val="{&quot;height&quot;:234,&quot;left&quot;:619.2,&quot;top&quot;:93.6,&quot;width&quot;:288}"/>
</p:tagLst>
</file>

<file path=ppt/tags/tag2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7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77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78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79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0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1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2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3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4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5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6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7.xml><?xml version="1.0" encoding="utf-8"?>
<p:tagLst xmlns:p="http://schemas.openxmlformats.org/presentationml/2006/main">
  <p:tag name="KSO_WM_DIAGRAM_VIRTUALLY_FRAME" val="{&quot;height&quot;:360,&quot;left&quot;:518.4,&quot;top&quot;:93.6,&quot;width&quot;:388.8}"/>
</p:tagLst>
</file>

<file path=ppt/tags/tag2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8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3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07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08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09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0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1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2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3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4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5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6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7.xml><?xml version="1.0" encoding="utf-8"?>
<p:tagLst xmlns:p="http://schemas.openxmlformats.org/presentationml/2006/main">
  <p:tag name="KSO_WM_DIAGRAM_VIRTUALLY_FRAME" val="{&quot;height&quot;:367.2,&quot;left&quot;:50.4,&quot;top&quot;:93.6,&quot;width&quot;:863.9999212598425}"/>
</p:tagLst>
</file>

<file path=ppt/tags/tag3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3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.47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73"/>
  <p:tag name="KSO_WM_UNIT_FILL_FORE_SCHEMECOLOR_INDEX_2_TRANS" val="0.5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1"/>
  <p:tag name="KSO_WM_UNIT_FILL_GRADIENT_TYPE" val="0"/>
  <p:tag name="KSO_WM_UNIT_FILL_GRADIENT_ANGLE" val="180"/>
  <p:tag name="KSO_WM_UNIT_FILL_GRADIENT_DIRECTION" val="4"/>
  <p:tag name="KSO_WM_UNIT_FILL_TYPE" val="3"/>
</p:tagLst>
</file>

<file path=ppt/tags/tag3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325.xml><?xml version="1.0" encoding="utf-8"?>
<p:tagLst xmlns:p="http://schemas.openxmlformats.org/presentationml/2006/main">
  <p:tag name="COMMONDATA" val="eyJoZGlkIjoiZjBmMWRjOTBlZTBiMjUwMDgxY2UyYzE5MjBiMzgzMWIifQ=="/>
  <p:tag name="commondata" val="eyJoZGlkIjoiMDA1MDAxZDA5Yjc3ZDhmMGJjYTA1ZDYwNWNiODM2NmUifQ=="/>
  <p:tag name="resource_record_key" val="{&quot;10&quot;:[20192693],&quot;13&quot;:[4364974],&quot;65&quot;:[2023173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MiSans Bold"/>
        <a:cs typeface=""/>
      </a:majorFont>
      <a:minorFont>
        <a:latin typeface="Arial"/>
        <a:ea typeface="MiSans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自定义 3">
      <a:dk1>
        <a:srgbClr val="000000"/>
      </a:dk1>
      <a:lt1>
        <a:srgbClr val="FFFFFF"/>
      </a:lt1>
      <a:dk2>
        <a:srgbClr val="861B15"/>
      </a:dk2>
      <a:lt2>
        <a:srgbClr val="FFFFFF"/>
      </a:lt2>
      <a:accent1>
        <a:srgbClr val="861B11"/>
      </a:accent1>
      <a:accent2>
        <a:srgbClr val="B53C27"/>
      </a:accent2>
      <a:accent3>
        <a:srgbClr val="C8644E"/>
      </a:accent3>
      <a:accent4>
        <a:srgbClr val="DC9B82"/>
      </a:accent4>
      <a:accent5>
        <a:srgbClr val="E5B39F"/>
      </a:accent5>
      <a:accent6>
        <a:srgbClr val="EFCEBE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MiSans Bold"/>
        <a:cs typeface=""/>
      </a:majorFont>
      <a:minorFont>
        <a:latin typeface="Arial"/>
        <a:ea typeface="MiSans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7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376FFF"/>
      </a:accent1>
      <a:accent2>
        <a:srgbClr val="17D594"/>
      </a:accent2>
      <a:accent3>
        <a:srgbClr val="FFC000"/>
      </a:accent3>
      <a:accent4>
        <a:srgbClr val="FF7429"/>
      </a:accent4>
      <a:accent5>
        <a:srgbClr val="F84949"/>
      </a:accent5>
      <a:accent6>
        <a:srgbClr val="8830FE"/>
      </a:accent6>
      <a:hlink>
        <a:srgbClr val="304FFE"/>
      </a:hlink>
      <a:folHlink>
        <a:srgbClr val="492067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Bold"/>
        <a:ea typeface=""/>
        <a:cs typeface=""/>
        <a:font script="Jpan" typeface="ＭＳ Ｐゴシック"/>
        <a:font script="Hang" typeface="맑은 고딕"/>
        <a:font script="Hans" typeface="MiSans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Bold"/>
        <a:ea typeface=""/>
        <a:cs typeface=""/>
        <a:font script="Jpan" typeface="ＭＳ Ｐゴシック"/>
        <a:font script="Hang" typeface="맑은 고딕"/>
        <a:font script="Hans" typeface="MiSans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4437</Words>
  <Application>WPS 演示</Application>
  <PresentationFormat>宽屏</PresentationFormat>
  <Paragraphs>415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MiSans Bold</vt:lpstr>
      <vt:lpstr>Wingdings</vt:lpstr>
      <vt:lpstr>微软雅黑</vt:lpstr>
      <vt:lpstr>华康俪金黑W8</vt:lpstr>
      <vt:lpstr>黑体</vt:lpstr>
      <vt:lpstr>方正风雅楷宋简体 Medium</vt:lpstr>
      <vt:lpstr>Broadway</vt:lpstr>
      <vt:lpstr>汉仪雅酷黑 55W</vt:lpstr>
      <vt:lpstr>思源宋体 CN</vt:lpstr>
      <vt:lpstr>Bodoni MT Black</vt:lpstr>
      <vt:lpstr>Calibri Light</vt:lpstr>
      <vt:lpstr>微软雅黑 Light</vt:lpstr>
      <vt:lpstr>指尖隶书体</vt:lpstr>
      <vt:lpstr>Arial Unicode MS</vt:lpstr>
      <vt:lpstr>Office 主题​​</vt:lpstr>
      <vt:lpstr>3_Office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陈一叶</cp:lastModifiedBy>
  <cp:revision>138</cp:revision>
  <dcterms:created xsi:type="dcterms:W3CDTF">2022-07-18T07:50:00Z</dcterms:created>
  <dcterms:modified xsi:type="dcterms:W3CDTF">2026-10-02T14:24:20Z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6492B060BE23412D8B4AA5B0F350A4F6_13</vt:lpwstr>
  </property>
</Properties>
</file>